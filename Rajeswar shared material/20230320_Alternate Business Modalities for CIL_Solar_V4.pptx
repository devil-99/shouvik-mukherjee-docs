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theme/theme2.xml" ContentType="application/vnd.openxmlformats-officedocument.theme+xml"/>
  <Override PartName="/ppt/charts/colors4.xml" ContentType="application/vnd.ms-office.chartcolorstyl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tags/tag6.xml" ContentType="application/vnd.openxmlformats-officedocument.presentationml.tags+xml"/>
  <Override PartName="/ppt/tags/tag8.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ppt/tags/tag9.xml" ContentType="application/vnd.openxmlformats-officedocument.presentationml.tags+xml"/>
  <Override PartName="/ppt/tags/tag7.xml" ContentType="application/vnd.openxmlformats-officedocument.presentationml.tag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991" r:id="rId1"/>
  </p:sldMasterIdLst>
  <p:notesMasterIdLst>
    <p:notesMasterId r:id="rId48"/>
  </p:notesMasterIdLst>
  <p:sldIdLst>
    <p:sldId id="424" r:id="rId2"/>
    <p:sldId id="6317" r:id="rId3"/>
    <p:sldId id="6351" r:id="rId4"/>
    <p:sldId id="6361" r:id="rId5"/>
    <p:sldId id="6362" r:id="rId6"/>
    <p:sldId id="6292" r:id="rId7"/>
    <p:sldId id="3929" r:id="rId8"/>
    <p:sldId id="6318" r:id="rId9"/>
    <p:sldId id="6319" r:id="rId10"/>
    <p:sldId id="6320" r:id="rId11"/>
    <p:sldId id="6360" r:id="rId12"/>
    <p:sldId id="6321" r:id="rId13"/>
    <p:sldId id="6359" r:id="rId14"/>
    <p:sldId id="6330" r:id="rId15"/>
    <p:sldId id="6326" r:id="rId16"/>
    <p:sldId id="6327" r:id="rId17"/>
    <p:sldId id="3932" r:id="rId18"/>
    <p:sldId id="6325" r:id="rId19"/>
    <p:sldId id="6358" r:id="rId20"/>
    <p:sldId id="6352" r:id="rId21"/>
    <p:sldId id="6353" r:id="rId22"/>
    <p:sldId id="6331" r:id="rId23"/>
    <p:sldId id="6332" r:id="rId24"/>
    <p:sldId id="6356" r:id="rId25"/>
    <p:sldId id="6336" r:id="rId26"/>
    <p:sldId id="6334" r:id="rId27"/>
    <p:sldId id="6335" r:id="rId28"/>
    <p:sldId id="6337" r:id="rId29"/>
    <p:sldId id="6339" r:id="rId30"/>
    <p:sldId id="6363" r:id="rId31"/>
    <p:sldId id="6364" r:id="rId32"/>
    <p:sldId id="6340" r:id="rId33"/>
    <p:sldId id="6341" r:id="rId34"/>
    <p:sldId id="6347" r:id="rId35"/>
    <p:sldId id="6350" r:id="rId36"/>
    <p:sldId id="6348" r:id="rId37"/>
    <p:sldId id="6349" r:id="rId38"/>
    <p:sldId id="6338" r:id="rId39"/>
    <p:sldId id="6342" r:id="rId40"/>
    <p:sldId id="6346" r:id="rId41"/>
    <p:sldId id="6344" r:id="rId42"/>
    <p:sldId id="6354" r:id="rId43"/>
    <p:sldId id="6355" r:id="rId44"/>
    <p:sldId id="481" r:id="rId45"/>
    <p:sldId id="6322" r:id="rId46"/>
    <p:sldId id="633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lkarni, Rajeev" initials="KR" lastIdx="38" clrIdx="0">
    <p:extLst>
      <p:ext uri="{19B8F6BF-5375-455C-9EA6-DF929625EA0E}">
        <p15:presenceInfo xmlns:p15="http://schemas.microsoft.com/office/powerpoint/2012/main" userId="S-1-5-21-776561741-1482476501-682003330-326525" providerId="AD"/>
      </p:ext>
    </p:extLst>
  </p:cmAuthor>
  <p:cmAuthor id="2" name="Bandyopadhyay, Anirban P" initials="BAP" lastIdx="22" clrIdx="1">
    <p:extLst>
      <p:ext uri="{19B8F6BF-5375-455C-9EA6-DF929625EA0E}">
        <p15:presenceInfo xmlns:p15="http://schemas.microsoft.com/office/powerpoint/2012/main" userId="S-1-5-21-776561741-1482476501-682003330-717514" providerId="AD"/>
      </p:ext>
    </p:extLst>
  </p:cmAuthor>
  <p:cmAuthor id="3" name="Hariharan, P." initials="HP" lastIdx="63" clrIdx="2">
    <p:extLst>
      <p:ext uri="{19B8F6BF-5375-455C-9EA6-DF929625EA0E}">
        <p15:presenceInfo xmlns:p15="http://schemas.microsoft.com/office/powerpoint/2012/main" userId="S-1-5-21-776561741-1482476501-682003330-27913" providerId="AD"/>
      </p:ext>
    </p:extLst>
  </p:cmAuthor>
  <p:cmAuthor id="4" name="Patni, Surbhi" initials="PS" lastIdx="1" clrIdx="3">
    <p:extLst>
      <p:ext uri="{19B8F6BF-5375-455C-9EA6-DF929625EA0E}">
        <p15:presenceInfo xmlns:p15="http://schemas.microsoft.com/office/powerpoint/2012/main" userId="S-1-5-21-776561741-1482476501-682003330-780562" providerId="AD"/>
      </p:ext>
    </p:extLst>
  </p:cmAuthor>
  <p:cmAuthor id="5" name="Banerjee, Sayantan" initials="BS" lastIdx="1" clrIdx="4">
    <p:extLst>
      <p:ext uri="{19B8F6BF-5375-455C-9EA6-DF929625EA0E}">
        <p15:presenceInfo xmlns:p15="http://schemas.microsoft.com/office/powerpoint/2012/main" userId="S::bsayantan@deloitte.com::29b1bc15-6d12-4f6e-8f06-28f0a453772b" providerId="AD"/>
      </p:ext>
    </p:extLst>
  </p:cmAuthor>
  <p:cmAuthor id="6" name="Banerjee, Rajeswar" initials="BR" lastIdx="6" clrIdx="5">
    <p:extLst>
      <p:ext uri="{19B8F6BF-5375-455C-9EA6-DF929625EA0E}">
        <p15:presenceInfo xmlns:p15="http://schemas.microsoft.com/office/powerpoint/2012/main" userId="S::rajbanerjee@deloitte.com::b4ff5a26-7e17-4c5f-975b-d63f3f91df5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F4EF"/>
    <a:srgbClr val="E8F6CF"/>
    <a:srgbClr val="F3FAE6"/>
    <a:srgbClr val="257FBF"/>
    <a:srgbClr val="595959"/>
    <a:srgbClr val="86BC25"/>
    <a:srgbClr val="03502A"/>
    <a:srgbClr val="004F59"/>
    <a:srgbClr val="F9E1EC"/>
    <a:srgbClr val="007C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89" autoAdjust="0"/>
    <p:restoredTop sz="93792" autoAdjust="0"/>
  </p:normalViewPr>
  <p:slideViewPr>
    <p:cSldViewPr snapToGrid="0">
      <p:cViewPr>
        <p:scale>
          <a:sx n="53" d="100"/>
          <a:sy n="53" d="100"/>
        </p:scale>
        <p:origin x="1024"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2.6871464810527695E-2"/>
          <c:y val="3.4531340066979506E-2"/>
          <c:w val="0.94834443494811504"/>
          <c:h val="0.71690784921830752"/>
        </c:manualLayout>
      </c:layout>
      <c:barChart>
        <c:barDir val="col"/>
        <c:grouping val="clustered"/>
        <c:varyColors val="0"/>
        <c:ser>
          <c:idx val="0"/>
          <c:order val="0"/>
          <c:tx>
            <c:strRef>
              <c:f>Sheet1!$B$1</c:f>
              <c:strCache>
                <c:ptCount val="1"/>
                <c:pt idx="0">
                  <c:v>Avg ECR for FY 23 (Till mid January 2023)</c:v>
                </c:pt>
              </c:strCache>
            </c:strRef>
          </c:tx>
          <c:spPr>
            <a:solidFill>
              <a:schemeClr val="tx1">
                <a:lumMod val="75000"/>
                <a:lumOff val="25000"/>
              </a:schemeClr>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4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Suratgarh Thermal Power Station (SSTPS)</c:v>
                </c:pt>
                <c:pt idx="1">
                  <c:v>Kota Super Thermal Power Station (KSTPS)</c:v>
                </c:pt>
                <c:pt idx="2">
                  <c:v>Suratgarh Super Critical Thermal Power Station (SSCTPP)</c:v>
                </c:pt>
                <c:pt idx="3">
                  <c:v>Kalisindh Thermal Power Plant (KaSTPP)</c:v>
                </c:pt>
                <c:pt idx="4">
                  <c:v>Chhabra Thermal Power Plant (CTPP)</c:v>
                </c:pt>
                <c:pt idx="5">
                  <c:v>Chhabra Super Critical Thermal Power Projec (CSCTPP)</c:v>
                </c:pt>
              </c:strCache>
            </c:strRef>
          </c:cat>
          <c:val>
            <c:numRef>
              <c:f>Sheet1!$B$2:$B$7</c:f>
              <c:numCache>
                <c:formatCode>0.0</c:formatCode>
                <c:ptCount val="6"/>
                <c:pt idx="0">
                  <c:v>4.3747027027027032</c:v>
                </c:pt>
                <c:pt idx="1">
                  <c:v>3.3874054054054041</c:v>
                </c:pt>
                <c:pt idx="2" formatCode="0.00">
                  <c:v>3.6</c:v>
                </c:pt>
                <c:pt idx="3" formatCode="0.00">
                  <c:v>3.2</c:v>
                </c:pt>
                <c:pt idx="4">
                  <c:v>3.02045945945946</c:v>
                </c:pt>
                <c:pt idx="5" formatCode="0.00">
                  <c:v>2.8</c:v>
                </c:pt>
              </c:numCache>
            </c:numRef>
          </c:val>
          <c:extLst>
            <c:ext xmlns:c16="http://schemas.microsoft.com/office/drawing/2014/chart" uri="{C3380CC4-5D6E-409C-BE32-E72D297353CC}">
              <c16:uniqueId val="{00000000-C37C-4994-BC36-B5189A0C725E}"/>
            </c:ext>
          </c:extLst>
        </c:ser>
        <c:ser>
          <c:idx val="1"/>
          <c:order val="1"/>
          <c:tx>
            <c:strRef>
              <c:f>Sheet1!$C$1</c:f>
              <c:strCache>
                <c:ptCount val="1"/>
                <c:pt idx="0">
                  <c:v>Avg ECR for FY 22</c:v>
                </c:pt>
              </c:strCache>
            </c:strRef>
          </c:tx>
          <c:spPr>
            <a:solidFill>
              <a:srgbClr val="00B050"/>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Suratgarh Thermal Power Station (SSTPS)</c:v>
                </c:pt>
                <c:pt idx="1">
                  <c:v>Kota Super Thermal Power Station (KSTPS)</c:v>
                </c:pt>
                <c:pt idx="2">
                  <c:v>Suratgarh Super Critical Thermal Power Station (SSCTPP)</c:v>
                </c:pt>
                <c:pt idx="3">
                  <c:v>Kalisindh Thermal Power Plant (KaSTPP)</c:v>
                </c:pt>
                <c:pt idx="4">
                  <c:v>Chhabra Thermal Power Plant (CTPP)</c:v>
                </c:pt>
                <c:pt idx="5">
                  <c:v>Chhabra Super Critical Thermal Power Projec (CSCTPP)</c:v>
                </c:pt>
              </c:strCache>
            </c:strRef>
          </c:cat>
          <c:val>
            <c:numRef>
              <c:f>Sheet1!$C$2:$C$7</c:f>
              <c:numCache>
                <c:formatCode>0.0</c:formatCode>
                <c:ptCount val="6"/>
                <c:pt idx="0">
                  <c:v>3.9916808510638302</c:v>
                </c:pt>
                <c:pt idx="1">
                  <c:v>3.2947659574468089</c:v>
                </c:pt>
                <c:pt idx="2">
                  <c:v>3.2</c:v>
                </c:pt>
                <c:pt idx="3" formatCode="0.00">
                  <c:v>3</c:v>
                </c:pt>
                <c:pt idx="4">
                  <c:v>2.9</c:v>
                </c:pt>
                <c:pt idx="5">
                  <c:v>2.5</c:v>
                </c:pt>
              </c:numCache>
            </c:numRef>
          </c:val>
          <c:extLst>
            <c:ext xmlns:c16="http://schemas.microsoft.com/office/drawing/2014/chart" uri="{C3380CC4-5D6E-409C-BE32-E72D297353CC}">
              <c16:uniqueId val="{00000003-C37C-4994-BC36-B5189A0C725E}"/>
            </c:ext>
          </c:extLst>
        </c:ser>
        <c:dLbls>
          <c:showLegendKey val="0"/>
          <c:showVal val="0"/>
          <c:showCatName val="0"/>
          <c:showSerName val="0"/>
          <c:showPercent val="0"/>
          <c:showBubbleSize val="0"/>
        </c:dLbls>
        <c:gapWidth val="326"/>
        <c:axId val="1402070975"/>
        <c:axId val="1402069311"/>
      </c:barChart>
      <c:catAx>
        <c:axId val="1402070975"/>
        <c:scaling>
          <c:orientation val="minMax"/>
        </c:scaling>
        <c:delete val="0"/>
        <c:axPos val="b"/>
        <c:numFmt formatCode="General" sourceLinked="1"/>
        <c:majorTickMark val="none"/>
        <c:minorTickMark val="none"/>
        <c:tickLblPos val="nextTo"/>
        <c:spPr>
          <a:noFill/>
          <a:ln w="19050" cap="flat" cmpd="sng" algn="ctr">
            <a:solidFill>
              <a:schemeClr val="tx1">
                <a:lumMod val="15000"/>
                <a:lumOff val="85000"/>
              </a:schemeClr>
            </a:solidFill>
            <a:round/>
            <a:headEnd type="none" w="sm" len="sm"/>
            <a:tailEnd type="none" w="sm" len="sm"/>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402069311"/>
        <c:crosses val="autoZero"/>
        <c:auto val="1"/>
        <c:lblAlgn val="ctr"/>
        <c:lblOffset val="100"/>
        <c:noMultiLvlLbl val="0"/>
      </c:catAx>
      <c:valAx>
        <c:axId val="1402069311"/>
        <c:scaling>
          <c:orientation val="minMax"/>
          <c:max val="6"/>
        </c:scaling>
        <c:delete val="0"/>
        <c:axPos val="l"/>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mn-lt"/>
                <a:ea typeface="+mn-ea"/>
                <a:cs typeface="+mn-cs"/>
              </a:defRPr>
            </a:pPr>
            <a:endParaRPr lang="en-US"/>
          </a:p>
        </c:txPr>
        <c:crossAx val="14020709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US" b="1" dirty="0"/>
              <a:t>Final Scheduled Volume - Solar (MWh)</a:t>
            </a:r>
          </a:p>
        </c:rich>
      </c:tx>
      <c:layout>
        <c:manualLayout>
          <c:xMode val="edge"/>
          <c:yMode val="edge"/>
          <c:x val="0.23367307209472415"/>
          <c:y val="2.7343758410358764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Final Scheduled Volume - Solar (MWh)</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Sheet1!$A$2:$A$491</c:f>
              <c:strCache>
                <c:ptCount val="490"/>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pt idx="217">
                  <c:v>01-06-2022</c:v>
                </c:pt>
                <c:pt idx="218">
                  <c:v>02-06-2022</c:v>
                </c:pt>
                <c:pt idx="219">
                  <c:v>03-06-2022</c:v>
                </c:pt>
                <c:pt idx="220">
                  <c:v>04-06-2022</c:v>
                </c:pt>
                <c:pt idx="221">
                  <c:v>05-06-2022</c:v>
                </c:pt>
                <c:pt idx="222">
                  <c:v>06-06-2022</c:v>
                </c:pt>
                <c:pt idx="223">
                  <c:v>07-06-2022</c:v>
                </c:pt>
                <c:pt idx="224">
                  <c:v>08-06-2022</c:v>
                </c:pt>
                <c:pt idx="225">
                  <c:v>09-06-2022</c:v>
                </c:pt>
                <c:pt idx="226">
                  <c:v>10-06-2022</c:v>
                </c:pt>
                <c:pt idx="227">
                  <c:v>11-06-2022</c:v>
                </c:pt>
                <c:pt idx="228">
                  <c:v>12-06-2022</c:v>
                </c:pt>
                <c:pt idx="229">
                  <c:v>13-06-2022</c:v>
                </c:pt>
                <c:pt idx="230">
                  <c:v>14-06-2022</c:v>
                </c:pt>
                <c:pt idx="231">
                  <c:v>15-06-2022</c:v>
                </c:pt>
                <c:pt idx="232">
                  <c:v>16-06-2022</c:v>
                </c:pt>
                <c:pt idx="233">
                  <c:v>17-06-2022</c:v>
                </c:pt>
                <c:pt idx="234">
                  <c:v>18-06-2022</c:v>
                </c:pt>
                <c:pt idx="235">
                  <c:v>19-06-2022</c:v>
                </c:pt>
                <c:pt idx="236">
                  <c:v>20-06-2022</c:v>
                </c:pt>
                <c:pt idx="237">
                  <c:v>21-06-2022</c:v>
                </c:pt>
                <c:pt idx="238">
                  <c:v>22-06-2022</c:v>
                </c:pt>
                <c:pt idx="239">
                  <c:v>23-06-2022</c:v>
                </c:pt>
                <c:pt idx="240">
                  <c:v>24-06-2022</c:v>
                </c:pt>
                <c:pt idx="241">
                  <c:v>25-06-2022</c:v>
                </c:pt>
                <c:pt idx="242">
                  <c:v>26-06-2022</c:v>
                </c:pt>
                <c:pt idx="243">
                  <c:v>27-06-2022</c:v>
                </c:pt>
                <c:pt idx="244">
                  <c:v>28-06-2022</c:v>
                </c:pt>
                <c:pt idx="245">
                  <c:v>29-06-2022</c:v>
                </c:pt>
                <c:pt idx="246">
                  <c:v>30-06-2022</c:v>
                </c:pt>
                <c:pt idx="247">
                  <c:v>01-07-2022</c:v>
                </c:pt>
                <c:pt idx="248">
                  <c:v>02-07-2022</c:v>
                </c:pt>
                <c:pt idx="249">
                  <c:v>03-07-2022</c:v>
                </c:pt>
                <c:pt idx="250">
                  <c:v>04-07-2022</c:v>
                </c:pt>
                <c:pt idx="251">
                  <c:v>05-07-2022</c:v>
                </c:pt>
                <c:pt idx="252">
                  <c:v>06-07-2022</c:v>
                </c:pt>
                <c:pt idx="253">
                  <c:v>07-07-2022</c:v>
                </c:pt>
                <c:pt idx="254">
                  <c:v>08-07-2022</c:v>
                </c:pt>
                <c:pt idx="255">
                  <c:v>09-07-2022</c:v>
                </c:pt>
                <c:pt idx="256">
                  <c:v>10-07-2022</c:v>
                </c:pt>
                <c:pt idx="257">
                  <c:v>11-07-2022</c:v>
                </c:pt>
                <c:pt idx="258">
                  <c:v>12-07-2022</c:v>
                </c:pt>
                <c:pt idx="259">
                  <c:v>13-07-2022</c:v>
                </c:pt>
                <c:pt idx="260">
                  <c:v>14-07-2022</c:v>
                </c:pt>
                <c:pt idx="261">
                  <c:v>15-07-2022</c:v>
                </c:pt>
                <c:pt idx="262">
                  <c:v>16-07-2022</c:v>
                </c:pt>
                <c:pt idx="263">
                  <c:v>17-07-2022</c:v>
                </c:pt>
                <c:pt idx="264">
                  <c:v>18-07-2022</c:v>
                </c:pt>
                <c:pt idx="265">
                  <c:v>19-07-2022</c:v>
                </c:pt>
                <c:pt idx="266">
                  <c:v>20-07-2022</c:v>
                </c:pt>
                <c:pt idx="267">
                  <c:v>21-07-2022</c:v>
                </c:pt>
                <c:pt idx="268">
                  <c:v>22-07-2022</c:v>
                </c:pt>
                <c:pt idx="269">
                  <c:v>23-07-2022</c:v>
                </c:pt>
                <c:pt idx="270">
                  <c:v>24-07-2022</c:v>
                </c:pt>
                <c:pt idx="271">
                  <c:v>25-07-2022</c:v>
                </c:pt>
                <c:pt idx="272">
                  <c:v>26-07-2022</c:v>
                </c:pt>
                <c:pt idx="273">
                  <c:v>27-07-2022</c:v>
                </c:pt>
                <c:pt idx="274">
                  <c:v>28-07-2022</c:v>
                </c:pt>
                <c:pt idx="275">
                  <c:v>29-07-2022</c:v>
                </c:pt>
                <c:pt idx="276">
                  <c:v>30-07-2022</c:v>
                </c:pt>
                <c:pt idx="277">
                  <c:v>31-07-2022</c:v>
                </c:pt>
                <c:pt idx="278">
                  <c:v>01-08-2022</c:v>
                </c:pt>
                <c:pt idx="279">
                  <c:v>02-08-2022</c:v>
                </c:pt>
                <c:pt idx="280">
                  <c:v>03-08-2022</c:v>
                </c:pt>
                <c:pt idx="281">
                  <c:v>04-08-2022</c:v>
                </c:pt>
                <c:pt idx="282">
                  <c:v>05-08-2022</c:v>
                </c:pt>
                <c:pt idx="283">
                  <c:v>06-08-2022</c:v>
                </c:pt>
                <c:pt idx="284">
                  <c:v>07-08-2022</c:v>
                </c:pt>
                <c:pt idx="285">
                  <c:v>08-08-2022</c:v>
                </c:pt>
                <c:pt idx="286">
                  <c:v>09-08-2022</c:v>
                </c:pt>
                <c:pt idx="287">
                  <c:v>10-08-2022</c:v>
                </c:pt>
                <c:pt idx="288">
                  <c:v>11-08-2022</c:v>
                </c:pt>
                <c:pt idx="289">
                  <c:v>12-08-2022</c:v>
                </c:pt>
                <c:pt idx="290">
                  <c:v>13-08-2022</c:v>
                </c:pt>
                <c:pt idx="291">
                  <c:v>14-08-2022</c:v>
                </c:pt>
                <c:pt idx="292">
                  <c:v>15-08-2022</c:v>
                </c:pt>
                <c:pt idx="293">
                  <c:v>16-08-2022</c:v>
                </c:pt>
                <c:pt idx="294">
                  <c:v>17-08-2022</c:v>
                </c:pt>
                <c:pt idx="295">
                  <c:v>18-08-2022</c:v>
                </c:pt>
                <c:pt idx="296">
                  <c:v>19-08-2022</c:v>
                </c:pt>
                <c:pt idx="297">
                  <c:v>20-08-2022</c:v>
                </c:pt>
                <c:pt idx="298">
                  <c:v>21-08-2022</c:v>
                </c:pt>
                <c:pt idx="299">
                  <c:v>22-08-2022</c:v>
                </c:pt>
                <c:pt idx="300">
                  <c:v>23-08-2022</c:v>
                </c:pt>
                <c:pt idx="301">
                  <c:v>24-08-2022</c:v>
                </c:pt>
                <c:pt idx="302">
                  <c:v>25-08-2022</c:v>
                </c:pt>
                <c:pt idx="303">
                  <c:v>26-08-2022</c:v>
                </c:pt>
                <c:pt idx="304">
                  <c:v>27-08-2022</c:v>
                </c:pt>
                <c:pt idx="305">
                  <c:v>28-08-2022</c:v>
                </c:pt>
                <c:pt idx="306">
                  <c:v>29-08-2022</c:v>
                </c:pt>
                <c:pt idx="307">
                  <c:v>30-08-2022</c:v>
                </c:pt>
                <c:pt idx="308">
                  <c:v>31-08-2022</c:v>
                </c:pt>
                <c:pt idx="309">
                  <c:v>01-09-2022</c:v>
                </c:pt>
                <c:pt idx="310">
                  <c:v>02-09-2022</c:v>
                </c:pt>
                <c:pt idx="311">
                  <c:v>03-09-2022</c:v>
                </c:pt>
                <c:pt idx="312">
                  <c:v>04-09-2022</c:v>
                </c:pt>
                <c:pt idx="313">
                  <c:v>05-09-2022</c:v>
                </c:pt>
                <c:pt idx="314">
                  <c:v>06-09-2022</c:v>
                </c:pt>
                <c:pt idx="315">
                  <c:v>07-09-2022</c:v>
                </c:pt>
                <c:pt idx="316">
                  <c:v>08-09-2022</c:v>
                </c:pt>
                <c:pt idx="317">
                  <c:v>09-09-2022</c:v>
                </c:pt>
                <c:pt idx="318">
                  <c:v>10-09-2022</c:v>
                </c:pt>
                <c:pt idx="319">
                  <c:v>11-09-2022</c:v>
                </c:pt>
                <c:pt idx="320">
                  <c:v>12-09-2022</c:v>
                </c:pt>
                <c:pt idx="321">
                  <c:v>13-09-2022</c:v>
                </c:pt>
                <c:pt idx="322">
                  <c:v>14-09-2022</c:v>
                </c:pt>
                <c:pt idx="323">
                  <c:v>15-09-2022</c:v>
                </c:pt>
                <c:pt idx="324">
                  <c:v>16-09-2022</c:v>
                </c:pt>
                <c:pt idx="325">
                  <c:v>17-09-2022</c:v>
                </c:pt>
                <c:pt idx="326">
                  <c:v>18-09-2022</c:v>
                </c:pt>
                <c:pt idx="327">
                  <c:v>19-09-2022</c:v>
                </c:pt>
                <c:pt idx="328">
                  <c:v>20-09-2022</c:v>
                </c:pt>
                <c:pt idx="329">
                  <c:v>21-09-2022</c:v>
                </c:pt>
                <c:pt idx="330">
                  <c:v>22-09-2022</c:v>
                </c:pt>
                <c:pt idx="331">
                  <c:v>23-09-2022</c:v>
                </c:pt>
                <c:pt idx="332">
                  <c:v>24-09-2022</c:v>
                </c:pt>
                <c:pt idx="333">
                  <c:v>25-09-2022</c:v>
                </c:pt>
                <c:pt idx="334">
                  <c:v>26-09-2022</c:v>
                </c:pt>
                <c:pt idx="335">
                  <c:v>27-09-2022</c:v>
                </c:pt>
                <c:pt idx="336">
                  <c:v>28-09-2022</c:v>
                </c:pt>
                <c:pt idx="337">
                  <c:v>29-09-2022</c:v>
                </c:pt>
                <c:pt idx="338">
                  <c:v>30-09-2022</c:v>
                </c:pt>
                <c:pt idx="339">
                  <c:v>01-10-2022</c:v>
                </c:pt>
                <c:pt idx="340">
                  <c:v>02-10-2022</c:v>
                </c:pt>
                <c:pt idx="341">
                  <c:v>03-10-2022</c:v>
                </c:pt>
                <c:pt idx="342">
                  <c:v>04-10-2022</c:v>
                </c:pt>
                <c:pt idx="343">
                  <c:v>05-10-2022</c:v>
                </c:pt>
                <c:pt idx="344">
                  <c:v>06-10-2022</c:v>
                </c:pt>
                <c:pt idx="345">
                  <c:v>07-10-2022</c:v>
                </c:pt>
                <c:pt idx="346">
                  <c:v>08-10-2022</c:v>
                </c:pt>
                <c:pt idx="347">
                  <c:v>09-10-2022</c:v>
                </c:pt>
                <c:pt idx="348">
                  <c:v>10-10-2022</c:v>
                </c:pt>
                <c:pt idx="349">
                  <c:v>11-10-2022</c:v>
                </c:pt>
                <c:pt idx="350">
                  <c:v>12-10-2022</c:v>
                </c:pt>
                <c:pt idx="351">
                  <c:v>13-10-2022</c:v>
                </c:pt>
                <c:pt idx="352">
                  <c:v>14-10-2022</c:v>
                </c:pt>
                <c:pt idx="353">
                  <c:v>15-10-2022</c:v>
                </c:pt>
                <c:pt idx="354">
                  <c:v>16-10-2022</c:v>
                </c:pt>
                <c:pt idx="355">
                  <c:v>17-10-2022</c:v>
                </c:pt>
                <c:pt idx="356">
                  <c:v>18-10-2022</c:v>
                </c:pt>
                <c:pt idx="357">
                  <c:v>19-10-2022</c:v>
                </c:pt>
                <c:pt idx="358">
                  <c:v>20-10-2022</c:v>
                </c:pt>
                <c:pt idx="359">
                  <c:v>21-10-2022</c:v>
                </c:pt>
                <c:pt idx="360">
                  <c:v>22-10-2022</c:v>
                </c:pt>
                <c:pt idx="361">
                  <c:v>23-10-2022</c:v>
                </c:pt>
                <c:pt idx="362">
                  <c:v>24-10-2022</c:v>
                </c:pt>
                <c:pt idx="363">
                  <c:v>25-10-2022</c:v>
                </c:pt>
                <c:pt idx="364">
                  <c:v>26-10-2022</c:v>
                </c:pt>
                <c:pt idx="365">
                  <c:v>27-10-2022</c:v>
                </c:pt>
                <c:pt idx="366">
                  <c:v>28-10-2022</c:v>
                </c:pt>
                <c:pt idx="367">
                  <c:v>29-10-2022</c:v>
                </c:pt>
                <c:pt idx="368">
                  <c:v>30-10-2022</c:v>
                </c:pt>
                <c:pt idx="369">
                  <c:v>31-10-2022</c:v>
                </c:pt>
                <c:pt idx="370">
                  <c:v>01-11-2022</c:v>
                </c:pt>
                <c:pt idx="371">
                  <c:v>02-11-2022</c:v>
                </c:pt>
                <c:pt idx="372">
                  <c:v>03-11-2022</c:v>
                </c:pt>
                <c:pt idx="373">
                  <c:v>04-11-2022</c:v>
                </c:pt>
                <c:pt idx="374">
                  <c:v>05-11-2022</c:v>
                </c:pt>
                <c:pt idx="375">
                  <c:v>06-11-2022</c:v>
                </c:pt>
                <c:pt idx="376">
                  <c:v>07-11-2022</c:v>
                </c:pt>
                <c:pt idx="377">
                  <c:v>08-11-2022</c:v>
                </c:pt>
                <c:pt idx="378">
                  <c:v>09-11-2022</c:v>
                </c:pt>
                <c:pt idx="379">
                  <c:v>10-11-2022</c:v>
                </c:pt>
                <c:pt idx="380">
                  <c:v>11-11-2022</c:v>
                </c:pt>
                <c:pt idx="381">
                  <c:v>12-11-2022</c:v>
                </c:pt>
                <c:pt idx="382">
                  <c:v>13-11-2022</c:v>
                </c:pt>
                <c:pt idx="383">
                  <c:v>14-11-2022</c:v>
                </c:pt>
                <c:pt idx="384">
                  <c:v>15-11-2022</c:v>
                </c:pt>
                <c:pt idx="385">
                  <c:v>16-11-2022</c:v>
                </c:pt>
                <c:pt idx="386">
                  <c:v>17-11-2022</c:v>
                </c:pt>
                <c:pt idx="387">
                  <c:v>18-11-2022</c:v>
                </c:pt>
                <c:pt idx="388">
                  <c:v>19-11-2022</c:v>
                </c:pt>
                <c:pt idx="389">
                  <c:v>20-11-2022</c:v>
                </c:pt>
                <c:pt idx="390">
                  <c:v>21-11-2022</c:v>
                </c:pt>
                <c:pt idx="391">
                  <c:v>22-11-2022</c:v>
                </c:pt>
                <c:pt idx="392">
                  <c:v>23-11-2022</c:v>
                </c:pt>
                <c:pt idx="393">
                  <c:v>24-11-2022</c:v>
                </c:pt>
                <c:pt idx="394">
                  <c:v>25-11-2022</c:v>
                </c:pt>
                <c:pt idx="395">
                  <c:v>26-11-2022</c:v>
                </c:pt>
                <c:pt idx="396">
                  <c:v>27-11-2022</c:v>
                </c:pt>
                <c:pt idx="397">
                  <c:v>28-11-2022</c:v>
                </c:pt>
                <c:pt idx="398">
                  <c:v>29-11-2022</c:v>
                </c:pt>
                <c:pt idx="399">
                  <c:v>30-11-2022</c:v>
                </c:pt>
                <c:pt idx="400">
                  <c:v>01-12-2022</c:v>
                </c:pt>
                <c:pt idx="401">
                  <c:v>02-12-2022</c:v>
                </c:pt>
                <c:pt idx="402">
                  <c:v>03-12-2022</c:v>
                </c:pt>
                <c:pt idx="403">
                  <c:v>04-12-2022</c:v>
                </c:pt>
                <c:pt idx="404">
                  <c:v>05-12-2022</c:v>
                </c:pt>
                <c:pt idx="405">
                  <c:v>06-12-2022</c:v>
                </c:pt>
                <c:pt idx="406">
                  <c:v>07-12-2022</c:v>
                </c:pt>
                <c:pt idx="407">
                  <c:v>08-12-2022</c:v>
                </c:pt>
                <c:pt idx="408">
                  <c:v>09-12-2022</c:v>
                </c:pt>
                <c:pt idx="409">
                  <c:v>10-12-2022</c:v>
                </c:pt>
                <c:pt idx="410">
                  <c:v>11-12-2022</c:v>
                </c:pt>
                <c:pt idx="411">
                  <c:v>12-12-2022</c:v>
                </c:pt>
                <c:pt idx="412">
                  <c:v>13-12-2022</c:v>
                </c:pt>
                <c:pt idx="413">
                  <c:v>14-12-2022</c:v>
                </c:pt>
                <c:pt idx="414">
                  <c:v>15-12-2022</c:v>
                </c:pt>
                <c:pt idx="415">
                  <c:v>16-12-2022</c:v>
                </c:pt>
                <c:pt idx="416">
                  <c:v>17-12-2022</c:v>
                </c:pt>
                <c:pt idx="417">
                  <c:v>18-12-2022</c:v>
                </c:pt>
                <c:pt idx="418">
                  <c:v>19-12-2022</c:v>
                </c:pt>
                <c:pt idx="419">
                  <c:v>20-12-2022</c:v>
                </c:pt>
                <c:pt idx="420">
                  <c:v>21-12-2022</c:v>
                </c:pt>
                <c:pt idx="421">
                  <c:v>22-12-2022</c:v>
                </c:pt>
                <c:pt idx="422">
                  <c:v>23-12-2022</c:v>
                </c:pt>
                <c:pt idx="423">
                  <c:v>24-12-2022</c:v>
                </c:pt>
                <c:pt idx="424">
                  <c:v>25-12-2022</c:v>
                </c:pt>
                <c:pt idx="425">
                  <c:v>26-12-2022</c:v>
                </c:pt>
                <c:pt idx="426">
                  <c:v>27-12-2022</c:v>
                </c:pt>
                <c:pt idx="427">
                  <c:v>28-12-2022</c:v>
                </c:pt>
                <c:pt idx="428">
                  <c:v>29-12-2022</c:v>
                </c:pt>
                <c:pt idx="429">
                  <c:v>30-12-2022</c:v>
                </c:pt>
                <c:pt idx="430">
                  <c:v>31-12-2022</c:v>
                </c:pt>
                <c:pt idx="431">
                  <c:v>01-01-2023</c:v>
                </c:pt>
                <c:pt idx="432">
                  <c:v>02-01-2023</c:v>
                </c:pt>
                <c:pt idx="433">
                  <c:v>03-01-2023</c:v>
                </c:pt>
                <c:pt idx="434">
                  <c:v>04-01-2023</c:v>
                </c:pt>
                <c:pt idx="435">
                  <c:v>05-01-2023</c:v>
                </c:pt>
                <c:pt idx="436">
                  <c:v>06-01-2023</c:v>
                </c:pt>
                <c:pt idx="437">
                  <c:v>07-01-2023</c:v>
                </c:pt>
                <c:pt idx="438">
                  <c:v>08-01-2023</c:v>
                </c:pt>
                <c:pt idx="439">
                  <c:v>09-01-2023</c:v>
                </c:pt>
                <c:pt idx="440">
                  <c:v>10-01-2023</c:v>
                </c:pt>
                <c:pt idx="441">
                  <c:v>11-01-2023</c:v>
                </c:pt>
                <c:pt idx="442">
                  <c:v>12-01-2023</c:v>
                </c:pt>
                <c:pt idx="443">
                  <c:v>13-01-2023</c:v>
                </c:pt>
                <c:pt idx="444">
                  <c:v>14-01-2023</c:v>
                </c:pt>
                <c:pt idx="445">
                  <c:v>15-01-2023</c:v>
                </c:pt>
                <c:pt idx="446">
                  <c:v>16-01-2023</c:v>
                </c:pt>
                <c:pt idx="447">
                  <c:v>17-01-2023</c:v>
                </c:pt>
                <c:pt idx="448">
                  <c:v>18-01-2023</c:v>
                </c:pt>
                <c:pt idx="449">
                  <c:v>19-01-2023</c:v>
                </c:pt>
                <c:pt idx="450">
                  <c:v>20-01-2023</c:v>
                </c:pt>
                <c:pt idx="451">
                  <c:v>21-01-2023</c:v>
                </c:pt>
                <c:pt idx="452">
                  <c:v>22-01-2023</c:v>
                </c:pt>
                <c:pt idx="453">
                  <c:v>23-01-2023</c:v>
                </c:pt>
                <c:pt idx="454">
                  <c:v>24-01-2023</c:v>
                </c:pt>
                <c:pt idx="455">
                  <c:v>25-01-2023</c:v>
                </c:pt>
                <c:pt idx="456">
                  <c:v>26-01-2023</c:v>
                </c:pt>
                <c:pt idx="457">
                  <c:v>27-01-2023</c:v>
                </c:pt>
                <c:pt idx="458">
                  <c:v>28-01-2023</c:v>
                </c:pt>
                <c:pt idx="459">
                  <c:v>29-01-2023</c:v>
                </c:pt>
                <c:pt idx="460">
                  <c:v>30-01-2023</c:v>
                </c:pt>
                <c:pt idx="461">
                  <c:v>31-01-2023</c:v>
                </c:pt>
                <c:pt idx="462">
                  <c:v>01-02-2023</c:v>
                </c:pt>
                <c:pt idx="463">
                  <c:v>02-02-2023</c:v>
                </c:pt>
                <c:pt idx="464">
                  <c:v>03-02-2023</c:v>
                </c:pt>
                <c:pt idx="465">
                  <c:v>04-02-2023</c:v>
                </c:pt>
                <c:pt idx="466">
                  <c:v>05-02-2023</c:v>
                </c:pt>
                <c:pt idx="467">
                  <c:v>06-02-2023</c:v>
                </c:pt>
                <c:pt idx="468">
                  <c:v>07-02-2023</c:v>
                </c:pt>
                <c:pt idx="469">
                  <c:v>08-02-2023</c:v>
                </c:pt>
                <c:pt idx="470">
                  <c:v>09-02-2023</c:v>
                </c:pt>
                <c:pt idx="471">
                  <c:v>10-02-2023</c:v>
                </c:pt>
                <c:pt idx="472">
                  <c:v>11-02-2023</c:v>
                </c:pt>
                <c:pt idx="473">
                  <c:v>12-02-2023</c:v>
                </c:pt>
                <c:pt idx="474">
                  <c:v>13-02-2023</c:v>
                </c:pt>
                <c:pt idx="475">
                  <c:v>14-02-2023</c:v>
                </c:pt>
                <c:pt idx="476">
                  <c:v>15-02-2023</c:v>
                </c:pt>
                <c:pt idx="477">
                  <c:v>16-02-2023</c:v>
                </c:pt>
                <c:pt idx="478">
                  <c:v>17-02-2023</c:v>
                </c:pt>
                <c:pt idx="479">
                  <c:v>18-02-2023</c:v>
                </c:pt>
                <c:pt idx="480">
                  <c:v>19-02-2023</c:v>
                </c:pt>
                <c:pt idx="481">
                  <c:v>20-02-2023</c:v>
                </c:pt>
                <c:pt idx="482">
                  <c:v>21-02-2023</c:v>
                </c:pt>
                <c:pt idx="483">
                  <c:v>22-02-2023</c:v>
                </c:pt>
                <c:pt idx="484">
                  <c:v>23-02-2023</c:v>
                </c:pt>
                <c:pt idx="485">
                  <c:v>24-02-2023</c:v>
                </c:pt>
                <c:pt idx="486">
                  <c:v>25-02-2023</c:v>
                </c:pt>
                <c:pt idx="487">
                  <c:v>26-02-2023</c:v>
                </c:pt>
                <c:pt idx="488">
                  <c:v>27-02-2023</c:v>
                </c:pt>
                <c:pt idx="489">
                  <c:v>28-02-2023</c:v>
                </c:pt>
              </c:strCache>
            </c:strRef>
          </c:cat>
          <c:val>
            <c:numRef>
              <c:f>Sheet1!$B$2:$B$491</c:f>
              <c:numCache>
                <c:formatCode>General</c:formatCode>
                <c:ptCount val="490"/>
                <c:pt idx="0">
                  <c:v>3917.88</c:v>
                </c:pt>
                <c:pt idx="1">
                  <c:v>2842.93</c:v>
                </c:pt>
                <c:pt idx="2">
                  <c:v>3605.61</c:v>
                </c:pt>
                <c:pt idx="3">
                  <c:v>2385.86</c:v>
                </c:pt>
                <c:pt idx="4">
                  <c:v>4441.87</c:v>
                </c:pt>
                <c:pt idx="5">
                  <c:v>5155.25</c:v>
                </c:pt>
                <c:pt idx="6">
                  <c:v>5657.24</c:v>
                </c:pt>
                <c:pt idx="7">
                  <c:v>5474.91</c:v>
                </c:pt>
                <c:pt idx="8">
                  <c:v>2410.89</c:v>
                </c:pt>
                <c:pt idx="9">
                  <c:v>2285.5100000000002</c:v>
                </c:pt>
                <c:pt idx="10">
                  <c:v>2975.57</c:v>
                </c:pt>
                <c:pt idx="11">
                  <c:v>3913.04</c:v>
                </c:pt>
                <c:pt idx="12">
                  <c:v>5354.16</c:v>
                </c:pt>
                <c:pt idx="13">
                  <c:v>7157.42</c:v>
                </c:pt>
                <c:pt idx="14">
                  <c:v>5104.6400000000003</c:v>
                </c:pt>
                <c:pt idx="15">
                  <c:v>6088.92</c:v>
                </c:pt>
                <c:pt idx="16">
                  <c:v>3589.97</c:v>
                </c:pt>
                <c:pt idx="17">
                  <c:v>4005.69</c:v>
                </c:pt>
                <c:pt idx="18">
                  <c:v>5287.22</c:v>
                </c:pt>
                <c:pt idx="19">
                  <c:v>3103.47</c:v>
                </c:pt>
                <c:pt idx="20">
                  <c:v>2570.73</c:v>
                </c:pt>
                <c:pt idx="21">
                  <c:v>2381.56</c:v>
                </c:pt>
                <c:pt idx="22">
                  <c:v>2302.42</c:v>
                </c:pt>
                <c:pt idx="23">
                  <c:v>1058.96</c:v>
                </c:pt>
                <c:pt idx="24">
                  <c:v>1192.93</c:v>
                </c:pt>
                <c:pt idx="25">
                  <c:v>5113.5200000000004</c:v>
                </c:pt>
                <c:pt idx="26">
                  <c:v>4151.38</c:v>
                </c:pt>
                <c:pt idx="27">
                  <c:v>3702.21</c:v>
                </c:pt>
                <c:pt idx="28">
                  <c:v>4909.1499999999996</c:v>
                </c:pt>
                <c:pt idx="29">
                  <c:v>5123.6000000000004</c:v>
                </c:pt>
                <c:pt idx="30">
                  <c:v>5616.41</c:v>
                </c:pt>
                <c:pt idx="31">
                  <c:v>6513.67</c:v>
                </c:pt>
                <c:pt idx="32">
                  <c:v>6062.6</c:v>
                </c:pt>
                <c:pt idx="33">
                  <c:v>6467.38</c:v>
                </c:pt>
                <c:pt idx="34">
                  <c:v>4521.28</c:v>
                </c:pt>
                <c:pt idx="35">
                  <c:v>4366.87</c:v>
                </c:pt>
                <c:pt idx="36">
                  <c:v>4100.3900000000003</c:v>
                </c:pt>
                <c:pt idx="37">
                  <c:v>4745.95</c:v>
                </c:pt>
                <c:pt idx="38">
                  <c:v>5059.58</c:v>
                </c:pt>
                <c:pt idx="39">
                  <c:v>3877.89</c:v>
                </c:pt>
                <c:pt idx="40">
                  <c:v>3072.82</c:v>
                </c:pt>
                <c:pt idx="41">
                  <c:v>4782.5200000000004</c:v>
                </c:pt>
                <c:pt idx="42">
                  <c:v>5345.53</c:v>
                </c:pt>
                <c:pt idx="43">
                  <c:v>5547.76</c:v>
                </c:pt>
                <c:pt idx="44">
                  <c:v>4235.95</c:v>
                </c:pt>
                <c:pt idx="45">
                  <c:v>3201.52</c:v>
                </c:pt>
                <c:pt idx="46">
                  <c:v>5700.88</c:v>
                </c:pt>
                <c:pt idx="47">
                  <c:v>3942.25</c:v>
                </c:pt>
                <c:pt idx="48">
                  <c:v>2769.87</c:v>
                </c:pt>
                <c:pt idx="49">
                  <c:v>1860.22</c:v>
                </c:pt>
                <c:pt idx="50">
                  <c:v>2646.43</c:v>
                </c:pt>
                <c:pt idx="51">
                  <c:v>2864.62</c:v>
                </c:pt>
                <c:pt idx="52">
                  <c:v>2403.7399999999998</c:v>
                </c:pt>
                <c:pt idx="53">
                  <c:v>4301.8</c:v>
                </c:pt>
                <c:pt idx="54">
                  <c:v>3291.12</c:v>
                </c:pt>
                <c:pt idx="55">
                  <c:v>2698.59</c:v>
                </c:pt>
                <c:pt idx="56">
                  <c:v>2320.42</c:v>
                </c:pt>
                <c:pt idx="57">
                  <c:v>2172.35</c:v>
                </c:pt>
                <c:pt idx="58">
                  <c:v>2123.3200000000002</c:v>
                </c:pt>
                <c:pt idx="59">
                  <c:v>2637.14</c:v>
                </c:pt>
                <c:pt idx="60">
                  <c:v>3164.8</c:v>
                </c:pt>
                <c:pt idx="61">
                  <c:v>2662.83</c:v>
                </c:pt>
                <c:pt idx="62">
                  <c:v>1495.57</c:v>
                </c:pt>
                <c:pt idx="63">
                  <c:v>1785.42</c:v>
                </c:pt>
                <c:pt idx="64">
                  <c:v>2046.91</c:v>
                </c:pt>
                <c:pt idx="65">
                  <c:v>1447.51</c:v>
                </c:pt>
                <c:pt idx="66">
                  <c:v>2811.49</c:v>
                </c:pt>
                <c:pt idx="67">
                  <c:v>2816.09</c:v>
                </c:pt>
                <c:pt idx="68">
                  <c:v>3638.7</c:v>
                </c:pt>
                <c:pt idx="69">
                  <c:v>2274.7199999999998</c:v>
                </c:pt>
                <c:pt idx="70">
                  <c:v>1378.59</c:v>
                </c:pt>
                <c:pt idx="71">
                  <c:v>1011.53</c:v>
                </c:pt>
                <c:pt idx="72">
                  <c:v>922.48</c:v>
                </c:pt>
                <c:pt idx="73">
                  <c:v>922.8</c:v>
                </c:pt>
                <c:pt idx="74">
                  <c:v>1620.03</c:v>
                </c:pt>
                <c:pt idx="75">
                  <c:v>2125.87</c:v>
                </c:pt>
                <c:pt idx="76">
                  <c:v>1950.11</c:v>
                </c:pt>
                <c:pt idx="77">
                  <c:v>1904.23</c:v>
                </c:pt>
                <c:pt idx="78">
                  <c:v>1982.35</c:v>
                </c:pt>
                <c:pt idx="79">
                  <c:v>1135.8599999999999</c:v>
                </c:pt>
                <c:pt idx="80">
                  <c:v>1287.03</c:v>
                </c:pt>
                <c:pt idx="81">
                  <c:v>2063.2199999999998</c:v>
                </c:pt>
                <c:pt idx="82">
                  <c:v>2428.48</c:v>
                </c:pt>
                <c:pt idx="83">
                  <c:v>1902.99</c:v>
                </c:pt>
                <c:pt idx="84">
                  <c:v>2535.9699999999998</c:v>
                </c:pt>
                <c:pt idx="85">
                  <c:v>2617.81</c:v>
                </c:pt>
                <c:pt idx="86">
                  <c:v>835.48</c:v>
                </c:pt>
                <c:pt idx="87">
                  <c:v>326.13</c:v>
                </c:pt>
                <c:pt idx="88">
                  <c:v>1091.08</c:v>
                </c:pt>
                <c:pt idx="89">
                  <c:v>946.18</c:v>
                </c:pt>
                <c:pt idx="90">
                  <c:v>1487.03</c:v>
                </c:pt>
                <c:pt idx="91">
                  <c:v>1894.63</c:v>
                </c:pt>
                <c:pt idx="92">
                  <c:v>1621.4</c:v>
                </c:pt>
                <c:pt idx="93">
                  <c:v>2394.11</c:v>
                </c:pt>
                <c:pt idx="94">
                  <c:v>1791.79</c:v>
                </c:pt>
                <c:pt idx="95">
                  <c:v>3266.51</c:v>
                </c:pt>
                <c:pt idx="96">
                  <c:v>1644.72</c:v>
                </c:pt>
                <c:pt idx="97">
                  <c:v>1056.26</c:v>
                </c:pt>
                <c:pt idx="98">
                  <c:v>473.48</c:v>
                </c:pt>
                <c:pt idx="99">
                  <c:v>340.56</c:v>
                </c:pt>
                <c:pt idx="100">
                  <c:v>325.76</c:v>
                </c:pt>
                <c:pt idx="101">
                  <c:v>1331.96</c:v>
                </c:pt>
                <c:pt idx="102">
                  <c:v>3375.06</c:v>
                </c:pt>
                <c:pt idx="103">
                  <c:v>2625.13</c:v>
                </c:pt>
                <c:pt idx="104">
                  <c:v>322.51</c:v>
                </c:pt>
                <c:pt idx="105">
                  <c:v>1499.04</c:v>
                </c:pt>
                <c:pt idx="106">
                  <c:v>1155.3699999999999</c:v>
                </c:pt>
                <c:pt idx="107">
                  <c:v>2316.09</c:v>
                </c:pt>
                <c:pt idx="108">
                  <c:v>2080.83</c:v>
                </c:pt>
                <c:pt idx="109">
                  <c:v>2767.46</c:v>
                </c:pt>
                <c:pt idx="110">
                  <c:v>1952.56</c:v>
                </c:pt>
                <c:pt idx="111">
                  <c:v>2997.11</c:v>
                </c:pt>
                <c:pt idx="112">
                  <c:v>1874.47</c:v>
                </c:pt>
                <c:pt idx="113">
                  <c:v>2115.25</c:v>
                </c:pt>
                <c:pt idx="114">
                  <c:v>2439.63</c:v>
                </c:pt>
                <c:pt idx="115">
                  <c:v>1172.05</c:v>
                </c:pt>
                <c:pt idx="116">
                  <c:v>2700.3</c:v>
                </c:pt>
                <c:pt idx="117">
                  <c:v>1185.77</c:v>
                </c:pt>
                <c:pt idx="118">
                  <c:v>1982.15</c:v>
                </c:pt>
                <c:pt idx="119">
                  <c:v>1037.8399999999999</c:v>
                </c:pt>
                <c:pt idx="120">
                  <c:v>1372.79</c:v>
                </c:pt>
                <c:pt idx="121">
                  <c:v>766.13</c:v>
                </c:pt>
                <c:pt idx="122">
                  <c:v>613.66</c:v>
                </c:pt>
                <c:pt idx="123">
                  <c:v>3053.48</c:v>
                </c:pt>
                <c:pt idx="124">
                  <c:v>1156.53</c:v>
                </c:pt>
                <c:pt idx="125">
                  <c:v>2738.91</c:v>
                </c:pt>
                <c:pt idx="126">
                  <c:v>2762.63</c:v>
                </c:pt>
                <c:pt idx="127">
                  <c:v>2047.08</c:v>
                </c:pt>
                <c:pt idx="128">
                  <c:v>1850.75</c:v>
                </c:pt>
                <c:pt idx="129">
                  <c:v>2145.08</c:v>
                </c:pt>
                <c:pt idx="130">
                  <c:v>1422.12</c:v>
                </c:pt>
                <c:pt idx="131">
                  <c:v>882.44</c:v>
                </c:pt>
                <c:pt idx="132">
                  <c:v>2124.7399999999998</c:v>
                </c:pt>
                <c:pt idx="133">
                  <c:v>1168.3499999999999</c:v>
                </c:pt>
                <c:pt idx="134">
                  <c:v>640.49</c:v>
                </c:pt>
                <c:pt idx="135">
                  <c:v>505.7</c:v>
                </c:pt>
                <c:pt idx="136">
                  <c:v>3071.65</c:v>
                </c:pt>
                <c:pt idx="137">
                  <c:v>4770.46</c:v>
                </c:pt>
                <c:pt idx="138">
                  <c:v>1226.27</c:v>
                </c:pt>
                <c:pt idx="139">
                  <c:v>1563.59</c:v>
                </c:pt>
                <c:pt idx="140">
                  <c:v>1614.14</c:v>
                </c:pt>
                <c:pt idx="141">
                  <c:v>1271.52</c:v>
                </c:pt>
                <c:pt idx="142">
                  <c:v>3657.35</c:v>
                </c:pt>
                <c:pt idx="143">
                  <c:v>2335.98</c:v>
                </c:pt>
                <c:pt idx="144">
                  <c:v>6099.26</c:v>
                </c:pt>
                <c:pt idx="145">
                  <c:v>3666.66</c:v>
                </c:pt>
                <c:pt idx="146">
                  <c:v>1646.59</c:v>
                </c:pt>
                <c:pt idx="147">
                  <c:v>1799.56</c:v>
                </c:pt>
                <c:pt idx="148">
                  <c:v>510.39</c:v>
                </c:pt>
                <c:pt idx="149">
                  <c:v>469.6</c:v>
                </c:pt>
                <c:pt idx="150">
                  <c:v>2905.9</c:v>
                </c:pt>
                <c:pt idx="151">
                  <c:v>2841.05</c:v>
                </c:pt>
                <c:pt idx="152">
                  <c:v>3823.71</c:v>
                </c:pt>
                <c:pt idx="153">
                  <c:v>1249.98</c:v>
                </c:pt>
                <c:pt idx="154">
                  <c:v>3046.63</c:v>
                </c:pt>
                <c:pt idx="155">
                  <c:v>2009.75</c:v>
                </c:pt>
                <c:pt idx="156">
                  <c:v>3659.62</c:v>
                </c:pt>
                <c:pt idx="157">
                  <c:v>766.61</c:v>
                </c:pt>
                <c:pt idx="158">
                  <c:v>3580.79</c:v>
                </c:pt>
                <c:pt idx="159">
                  <c:v>4790.1099999999997</c:v>
                </c:pt>
                <c:pt idx="160">
                  <c:v>3540.63</c:v>
                </c:pt>
                <c:pt idx="161">
                  <c:v>4420.1099999999997</c:v>
                </c:pt>
                <c:pt idx="162">
                  <c:v>3515.59</c:v>
                </c:pt>
                <c:pt idx="163">
                  <c:v>3442.5</c:v>
                </c:pt>
                <c:pt idx="164">
                  <c:v>3460.53</c:v>
                </c:pt>
                <c:pt idx="165">
                  <c:v>2757.78</c:v>
                </c:pt>
                <c:pt idx="166">
                  <c:v>1839.79</c:v>
                </c:pt>
                <c:pt idx="167">
                  <c:v>2882.91</c:v>
                </c:pt>
                <c:pt idx="168">
                  <c:v>2166.13</c:v>
                </c:pt>
                <c:pt idx="169">
                  <c:v>3114.27</c:v>
                </c:pt>
                <c:pt idx="170">
                  <c:v>3429.09</c:v>
                </c:pt>
                <c:pt idx="171">
                  <c:v>2747.39</c:v>
                </c:pt>
                <c:pt idx="172">
                  <c:v>2672.64</c:v>
                </c:pt>
                <c:pt idx="173">
                  <c:v>3559.6</c:v>
                </c:pt>
                <c:pt idx="174">
                  <c:v>3973.94</c:v>
                </c:pt>
                <c:pt idx="175">
                  <c:v>4653.04</c:v>
                </c:pt>
                <c:pt idx="176">
                  <c:v>4268.5200000000004</c:v>
                </c:pt>
                <c:pt idx="177">
                  <c:v>3163.59</c:v>
                </c:pt>
                <c:pt idx="178">
                  <c:v>3751.43</c:v>
                </c:pt>
                <c:pt idx="179">
                  <c:v>4063.7</c:v>
                </c:pt>
                <c:pt idx="180">
                  <c:v>1959.78</c:v>
                </c:pt>
                <c:pt idx="181">
                  <c:v>1498.84</c:v>
                </c:pt>
                <c:pt idx="182">
                  <c:v>3176.41</c:v>
                </c:pt>
                <c:pt idx="183">
                  <c:v>894.13</c:v>
                </c:pt>
                <c:pt idx="184">
                  <c:v>982.75</c:v>
                </c:pt>
                <c:pt idx="185">
                  <c:v>399.33</c:v>
                </c:pt>
                <c:pt idx="186">
                  <c:v>2047.22</c:v>
                </c:pt>
                <c:pt idx="187">
                  <c:v>3140.59</c:v>
                </c:pt>
                <c:pt idx="188">
                  <c:v>1189.3800000000001</c:v>
                </c:pt>
                <c:pt idx="189">
                  <c:v>5770.89</c:v>
                </c:pt>
                <c:pt idx="190">
                  <c:v>7563.44</c:v>
                </c:pt>
                <c:pt idx="191">
                  <c:v>10813.46</c:v>
                </c:pt>
                <c:pt idx="192">
                  <c:v>4883.26</c:v>
                </c:pt>
                <c:pt idx="193">
                  <c:v>7214.1</c:v>
                </c:pt>
                <c:pt idx="194">
                  <c:v>7703.43</c:v>
                </c:pt>
                <c:pt idx="195">
                  <c:v>12582.15</c:v>
                </c:pt>
                <c:pt idx="196">
                  <c:v>16339.36</c:v>
                </c:pt>
                <c:pt idx="197">
                  <c:v>21250.63</c:v>
                </c:pt>
                <c:pt idx="198">
                  <c:v>18108.23</c:v>
                </c:pt>
                <c:pt idx="199">
                  <c:v>18957.98</c:v>
                </c:pt>
                <c:pt idx="200">
                  <c:v>12731.03</c:v>
                </c:pt>
                <c:pt idx="201">
                  <c:v>10413.06</c:v>
                </c:pt>
                <c:pt idx="202">
                  <c:v>7581.55</c:v>
                </c:pt>
                <c:pt idx="203">
                  <c:v>7502.29</c:v>
                </c:pt>
                <c:pt idx="204">
                  <c:v>8160.64</c:v>
                </c:pt>
                <c:pt idx="205">
                  <c:v>14161.11</c:v>
                </c:pt>
                <c:pt idx="206">
                  <c:v>16494.73</c:v>
                </c:pt>
                <c:pt idx="207">
                  <c:v>7690.96</c:v>
                </c:pt>
                <c:pt idx="208">
                  <c:v>10906.61</c:v>
                </c:pt>
                <c:pt idx="209">
                  <c:v>7874.61</c:v>
                </c:pt>
                <c:pt idx="210">
                  <c:v>6673.44</c:v>
                </c:pt>
                <c:pt idx="211">
                  <c:v>6148.39</c:v>
                </c:pt>
                <c:pt idx="212">
                  <c:v>2086.0500000000002</c:v>
                </c:pt>
                <c:pt idx="213">
                  <c:v>4545.24</c:v>
                </c:pt>
                <c:pt idx="214">
                  <c:v>6723.1</c:v>
                </c:pt>
                <c:pt idx="215">
                  <c:v>5402.56</c:v>
                </c:pt>
                <c:pt idx="216">
                  <c:v>3800.74</c:v>
                </c:pt>
                <c:pt idx="217">
                  <c:v>4696.66</c:v>
                </c:pt>
                <c:pt idx="218">
                  <c:v>5812.03</c:v>
                </c:pt>
                <c:pt idx="219">
                  <c:v>4657.6099999999997</c:v>
                </c:pt>
                <c:pt idx="220">
                  <c:v>5770.53</c:v>
                </c:pt>
                <c:pt idx="221">
                  <c:v>4662.62</c:v>
                </c:pt>
                <c:pt idx="222">
                  <c:v>4422.1099999999997</c:v>
                </c:pt>
                <c:pt idx="223">
                  <c:v>5885.81</c:v>
                </c:pt>
                <c:pt idx="224">
                  <c:v>8164.17</c:v>
                </c:pt>
                <c:pt idx="225">
                  <c:v>4969.3900000000003</c:v>
                </c:pt>
                <c:pt idx="226">
                  <c:v>9120.66</c:v>
                </c:pt>
                <c:pt idx="227">
                  <c:v>5559.19</c:v>
                </c:pt>
                <c:pt idx="228">
                  <c:v>8772.08</c:v>
                </c:pt>
                <c:pt idx="229">
                  <c:v>6935.86</c:v>
                </c:pt>
                <c:pt idx="230">
                  <c:v>6453.13</c:v>
                </c:pt>
                <c:pt idx="231">
                  <c:v>6481.85</c:v>
                </c:pt>
                <c:pt idx="232">
                  <c:v>6433.91</c:v>
                </c:pt>
                <c:pt idx="233">
                  <c:v>6951.44</c:v>
                </c:pt>
                <c:pt idx="234">
                  <c:v>6613.75</c:v>
                </c:pt>
                <c:pt idx="235">
                  <c:v>6604.01</c:v>
                </c:pt>
                <c:pt idx="236">
                  <c:v>8355.83</c:v>
                </c:pt>
                <c:pt idx="237">
                  <c:v>8536.2900000000009</c:v>
                </c:pt>
                <c:pt idx="238">
                  <c:v>8776.1</c:v>
                </c:pt>
                <c:pt idx="239">
                  <c:v>9873.11</c:v>
                </c:pt>
                <c:pt idx="240">
                  <c:v>9321.35</c:v>
                </c:pt>
                <c:pt idx="241">
                  <c:v>6610.95</c:v>
                </c:pt>
                <c:pt idx="242">
                  <c:v>9687.09</c:v>
                </c:pt>
                <c:pt idx="243">
                  <c:v>17078.169999999998</c:v>
                </c:pt>
                <c:pt idx="244">
                  <c:v>17271.580000000002</c:v>
                </c:pt>
                <c:pt idx="245">
                  <c:v>13528.56</c:v>
                </c:pt>
                <c:pt idx="246">
                  <c:v>12769.46</c:v>
                </c:pt>
                <c:pt idx="247">
                  <c:v>7143.53</c:v>
                </c:pt>
                <c:pt idx="248">
                  <c:v>5190.91</c:v>
                </c:pt>
                <c:pt idx="249">
                  <c:v>8625.89</c:v>
                </c:pt>
                <c:pt idx="250">
                  <c:v>10665.2</c:v>
                </c:pt>
                <c:pt idx="251">
                  <c:v>9255.93</c:v>
                </c:pt>
                <c:pt idx="252">
                  <c:v>14007.37</c:v>
                </c:pt>
                <c:pt idx="253">
                  <c:v>10740.02</c:v>
                </c:pt>
                <c:pt idx="254">
                  <c:v>11050.75</c:v>
                </c:pt>
                <c:pt idx="255">
                  <c:v>10737.58</c:v>
                </c:pt>
                <c:pt idx="256">
                  <c:v>9654.7999999999993</c:v>
                </c:pt>
                <c:pt idx="257">
                  <c:v>18114.63</c:v>
                </c:pt>
                <c:pt idx="258">
                  <c:v>17199.21</c:v>
                </c:pt>
                <c:pt idx="259">
                  <c:v>11757.22</c:v>
                </c:pt>
                <c:pt idx="260">
                  <c:v>11120.75</c:v>
                </c:pt>
                <c:pt idx="261">
                  <c:v>12566.28</c:v>
                </c:pt>
                <c:pt idx="262">
                  <c:v>10895.32</c:v>
                </c:pt>
                <c:pt idx="263">
                  <c:v>5125.62</c:v>
                </c:pt>
                <c:pt idx="264">
                  <c:v>4562.08</c:v>
                </c:pt>
                <c:pt idx="265">
                  <c:v>5409.43</c:v>
                </c:pt>
                <c:pt idx="266">
                  <c:v>5582.85</c:v>
                </c:pt>
                <c:pt idx="267">
                  <c:v>4925.37</c:v>
                </c:pt>
                <c:pt idx="268">
                  <c:v>5773.42</c:v>
                </c:pt>
                <c:pt idx="269">
                  <c:v>4718.1099999999997</c:v>
                </c:pt>
                <c:pt idx="270">
                  <c:v>5288.07</c:v>
                </c:pt>
                <c:pt idx="271">
                  <c:v>5014.3500000000004</c:v>
                </c:pt>
                <c:pt idx="272">
                  <c:v>6272.28</c:v>
                </c:pt>
                <c:pt idx="273">
                  <c:v>3899.17</c:v>
                </c:pt>
                <c:pt idx="274">
                  <c:v>3903.63</c:v>
                </c:pt>
                <c:pt idx="275">
                  <c:v>3688.33</c:v>
                </c:pt>
                <c:pt idx="276">
                  <c:v>4176.24</c:v>
                </c:pt>
                <c:pt idx="277">
                  <c:v>3933.15</c:v>
                </c:pt>
                <c:pt idx="278">
                  <c:v>3850.65</c:v>
                </c:pt>
                <c:pt idx="279">
                  <c:v>4021.81</c:v>
                </c:pt>
                <c:pt idx="280">
                  <c:v>3582.02</c:v>
                </c:pt>
                <c:pt idx="281">
                  <c:v>3999.3</c:v>
                </c:pt>
                <c:pt idx="282">
                  <c:v>2259.6799999999998</c:v>
                </c:pt>
                <c:pt idx="283">
                  <c:v>5343.92</c:v>
                </c:pt>
                <c:pt idx="284">
                  <c:v>7567.83</c:v>
                </c:pt>
                <c:pt idx="285">
                  <c:v>13460.95</c:v>
                </c:pt>
                <c:pt idx="286">
                  <c:v>14502.23</c:v>
                </c:pt>
                <c:pt idx="287">
                  <c:v>10369.84</c:v>
                </c:pt>
                <c:pt idx="288">
                  <c:v>10872.97</c:v>
                </c:pt>
                <c:pt idx="289">
                  <c:v>7940.7</c:v>
                </c:pt>
                <c:pt idx="290">
                  <c:v>7369.63</c:v>
                </c:pt>
                <c:pt idx="291">
                  <c:v>2932.83</c:v>
                </c:pt>
                <c:pt idx="292">
                  <c:v>4042.47</c:v>
                </c:pt>
                <c:pt idx="293">
                  <c:v>3434.08</c:v>
                </c:pt>
                <c:pt idx="294">
                  <c:v>3370.76</c:v>
                </c:pt>
                <c:pt idx="295">
                  <c:v>4154.21</c:v>
                </c:pt>
                <c:pt idx="296">
                  <c:v>2242.33</c:v>
                </c:pt>
                <c:pt idx="297">
                  <c:v>2142.63</c:v>
                </c:pt>
                <c:pt idx="298">
                  <c:v>3420.39</c:v>
                </c:pt>
                <c:pt idx="299">
                  <c:v>2962.1</c:v>
                </c:pt>
                <c:pt idx="300">
                  <c:v>2108.0100000000002</c:v>
                </c:pt>
                <c:pt idx="301">
                  <c:v>2466.5300000000002</c:v>
                </c:pt>
                <c:pt idx="302">
                  <c:v>2444.08</c:v>
                </c:pt>
                <c:pt idx="303">
                  <c:v>2943.56</c:v>
                </c:pt>
                <c:pt idx="304">
                  <c:v>2111.16</c:v>
                </c:pt>
                <c:pt idx="305">
                  <c:v>3500.2</c:v>
                </c:pt>
                <c:pt idx="306">
                  <c:v>2501.0100000000002</c:v>
                </c:pt>
                <c:pt idx="307">
                  <c:v>3922.54</c:v>
                </c:pt>
                <c:pt idx="308">
                  <c:v>5618</c:v>
                </c:pt>
                <c:pt idx="309">
                  <c:v>7036.68</c:v>
                </c:pt>
                <c:pt idx="310">
                  <c:v>4881.3599999999997</c:v>
                </c:pt>
                <c:pt idx="311">
                  <c:v>8521.01</c:v>
                </c:pt>
                <c:pt idx="312">
                  <c:v>4653.92</c:v>
                </c:pt>
                <c:pt idx="313">
                  <c:v>4951.95</c:v>
                </c:pt>
                <c:pt idx="314">
                  <c:v>4607.87</c:v>
                </c:pt>
                <c:pt idx="315">
                  <c:v>3701.9</c:v>
                </c:pt>
                <c:pt idx="316">
                  <c:v>10189.049999999999</c:v>
                </c:pt>
                <c:pt idx="317">
                  <c:v>10947.92</c:v>
                </c:pt>
                <c:pt idx="318">
                  <c:v>17863.580000000002</c:v>
                </c:pt>
                <c:pt idx="319">
                  <c:v>21760.55</c:v>
                </c:pt>
                <c:pt idx="320">
                  <c:v>21979.32</c:v>
                </c:pt>
                <c:pt idx="321">
                  <c:v>14739.01</c:v>
                </c:pt>
                <c:pt idx="322">
                  <c:v>10464.56</c:v>
                </c:pt>
                <c:pt idx="323">
                  <c:v>3004.94</c:v>
                </c:pt>
                <c:pt idx="324">
                  <c:v>3507.97</c:v>
                </c:pt>
                <c:pt idx="325">
                  <c:v>5430.1</c:v>
                </c:pt>
                <c:pt idx="326">
                  <c:v>2386.08</c:v>
                </c:pt>
                <c:pt idx="327">
                  <c:v>2845.94</c:v>
                </c:pt>
                <c:pt idx="328">
                  <c:v>3567.61</c:v>
                </c:pt>
                <c:pt idx="329">
                  <c:v>6437.66</c:v>
                </c:pt>
                <c:pt idx="330">
                  <c:v>5300.84</c:v>
                </c:pt>
                <c:pt idx="331">
                  <c:v>2744.17</c:v>
                </c:pt>
                <c:pt idx="332">
                  <c:v>2352.64</c:v>
                </c:pt>
                <c:pt idx="333">
                  <c:v>2362.17</c:v>
                </c:pt>
                <c:pt idx="334">
                  <c:v>2354.46</c:v>
                </c:pt>
                <c:pt idx="335">
                  <c:v>2404.1</c:v>
                </c:pt>
                <c:pt idx="336">
                  <c:v>2659.25</c:v>
                </c:pt>
                <c:pt idx="337">
                  <c:v>2181.52</c:v>
                </c:pt>
                <c:pt idx="338">
                  <c:v>3062.09</c:v>
                </c:pt>
                <c:pt idx="339">
                  <c:v>4496.51</c:v>
                </c:pt>
                <c:pt idx="340">
                  <c:v>4236.8500000000004</c:v>
                </c:pt>
                <c:pt idx="341">
                  <c:v>5737.84</c:v>
                </c:pt>
                <c:pt idx="342">
                  <c:v>7288.02</c:v>
                </c:pt>
                <c:pt idx="343">
                  <c:v>3377.65</c:v>
                </c:pt>
                <c:pt idx="344">
                  <c:v>6675.9</c:v>
                </c:pt>
                <c:pt idx="345">
                  <c:v>5472.17</c:v>
                </c:pt>
                <c:pt idx="346">
                  <c:v>3338.05</c:v>
                </c:pt>
                <c:pt idx="347">
                  <c:v>1197.2</c:v>
                </c:pt>
                <c:pt idx="348">
                  <c:v>3118.94</c:v>
                </c:pt>
                <c:pt idx="349">
                  <c:v>5110.83</c:v>
                </c:pt>
                <c:pt idx="350">
                  <c:v>5942.96</c:v>
                </c:pt>
                <c:pt idx="351">
                  <c:v>1793.33</c:v>
                </c:pt>
                <c:pt idx="352">
                  <c:v>1944.54</c:v>
                </c:pt>
                <c:pt idx="353">
                  <c:v>3701.58</c:v>
                </c:pt>
                <c:pt idx="354">
                  <c:v>2868.26</c:v>
                </c:pt>
                <c:pt idx="355">
                  <c:v>7228.46</c:v>
                </c:pt>
                <c:pt idx="356">
                  <c:v>4980.45</c:v>
                </c:pt>
                <c:pt idx="357">
                  <c:v>6638.38</c:v>
                </c:pt>
                <c:pt idx="358">
                  <c:v>6275.34</c:v>
                </c:pt>
                <c:pt idx="359">
                  <c:v>6684.21</c:v>
                </c:pt>
                <c:pt idx="360">
                  <c:v>6017.15</c:v>
                </c:pt>
                <c:pt idx="361">
                  <c:v>4957.1000000000004</c:v>
                </c:pt>
                <c:pt idx="362">
                  <c:v>3913.86</c:v>
                </c:pt>
                <c:pt idx="363">
                  <c:v>1976.6</c:v>
                </c:pt>
                <c:pt idx="364">
                  <c:v>6328.15</c:v>
                </c:pt>
                <c:pt idx="365">
                  <c:v>5620.65</c:v>
                </c:pt>
                <c:pt idx="366">
                  <c:v>6428.86</c:v>
                </c:pt>
                <c:pt idx="367">
                  <c:v>8125.12</c:v>
                </c:pt>
                <c:pt idx="368">
                  <c:v>2460.5100000000002</c:v>
                </c:pt>
                <c:pt idx="369">
                  <c:v>1469.48</c:v>
                </c:pt>
                <c:pt idx="370">
                  <c:v>3560.49</c:v>
                </c:pt>
                <c:pt idx="371">
                  <c:v>3355.4</c:v>
                </c:pt>
                <c:pt idx="372">
                  <c:v>1759.12</c:v>
                </c:pt>
                <c:pt idx="373">
                  <c:v>5004.04</c:v>
                </c:pt>
                <c:pt idx="374">
                  <c:v>2100.73</c:v>
                </c:pt>
                <c:pt idx="375">
                  <c:v>1572.71</c:v>
                </c:pt>
                <c:pt idx="376">
                  <c:v>3188.15</c:v>
                </c:pt>
                <c:pt idx="377">
                  <c:v>5162.6499999999996</c:v>
                </c:pt>
                <c:pt idx="378">
                  <c:v>2542.23</c:v>
                </c:pt>
                <c:pt idx="379">
                  <c:v>4003.62</c:v>
                </c:pt>
                <c:pt idx="380">
                  <c:v>1571.21</c:v>
                </c:pt>
                <c:pt idx="381">
                  <c:v>3847.9</c:v>
                </c:pt>
                <c:pt idx="382">
                  <c:v>1772.45</c:v>
                </c:pt>
                <c:pt idx="383">
                  <c:v>1546.68</c:v>
                </c:pt>
                <c:pt idx="384">
                  <c:v>1611.95</c:v>
                </c:pt>
                <c:pt idx="385">
                  <c:v>3160.46</c:v>
                </c:pt>
                <c:pt idx="386">
                  <c:v>3008.75</c:v>
                </c:pt>
                <c:pt idx="387">
                  <c:v>2874.49</c:v>
                </c:pt>
                <c:pt idx="388">
                  <c:v>1901.36</c:v>
                </c:pt>
                <c:pt idx="389">
                  <c:v>2045.06</c:v>
                </c:pt>
                <c:pt idx="390">
                  <c:v>1626.65</c:v>
                </c:pt>
                <c:pt idx="391">
                  <c:v>1546.64</c:v>
                </c:pt>
                <c:pt idx="392">
                  <c:v>1653.3</c:v>
                </c:pt>
                <c:pt idx="393">
                  <c:v>1590.85</c:v>
                </c:pt>
                <c:pt idx="394">
                  <c:v>2675.87</c:v>
                </c:pt>
                <c:pt idx="395">
                  <c:v>1815.36</c:v>
                </c:pt>
                <c:pt idx="396">
                  <c:v>2615.19</c:v>
                </c:pt>
                <c:pt idx="397">
                  <c:v>1605.77</c:v>
                </c:pt>
                <c:pt idx="398">
                  <c:v>1346.4</c:v>
                </c:pt>
                <c:pt idx="399">
                  <c:v>524.16</c:v>
                </c:pt>
                <c:pt idx="400">
                  <c:v>639.61</c:v>
                </c:pt>
                <c:pt idx="401">
                  <c:v>586.99</c:v>
                </c:pt>
                <c:pt idx="402">
                  <c:v>500.44</c:v>
                </c:pt>
                <c:pt idx="403">
                  <c:v>636.62</c:v>
                </c:pt>
                <c:pt idx="404">
                  <c:v>428.63</c:v>
                </c:pt>
                <c:pt idx="405">
                  <c:v>451.95</c:v>
                </c:pt>
                <c:pt idx="406">
                  <c:v>442.74</c:v>
                </c:pt>
                <c:pt idx="407">
                  <c:v>450.83</c:v>
                </c:pt>
                <c:pt idx="408">
                  <c:v>428.08</c:v>
                </c:pt>
                <c:pt idx="409">
                  <c:v>1619.46</c:v>
                </c:pt>
                <c:pt idx="410">
                  <c:v>1007.67</c:v>
                </c:pt>
                <c:pt idx="411">
                  <c:v>2941.95</c:v>
                </c:pt>
                <c:pt idx="412">
                  <c:v>3447.64</c:v>
                </c:pt>
                <c:pt idx="413">
                  <c:v>2090.7399999999998</c:v>
                </c:pt>
                <c:pt idx="414">
                  <c:v>1387.17</c:v>
                </c:pt>
                <c:pt idx="415">
                  <c:v>1084.49</c:v>
                </c:pt>
                <c:pt idx="416">
                  <c:v>442.79</c:v>
                </c:pt>
                <c:pt idx="417">
                  <c:v>2000.97</c:v>
                </c:pt>
                <c:pt idx="418">
                  <c:v>438.63</c:v>
                </c:pt>
                <c:pt idx="419">
                  <c:v>1531.99</c:v>
                </c:pt>
                <c:pt idx="420">
                  <c:v>532.1</c:v>
                </c:pt>
                <c:pt idx="421">
                  <c:v>512.74</c:v>
                </c:pt>
                <c:pt idx="422">
                  <c:v>502.01</c:v>
                </c:pt>
                <c:pt idx="423">
                  <c:v>450.19</c:v>
                </c:pt>
                <c:pt idx="424">
                  <c:v>917.7</c:v>
                </c:pt>
                <c:pt idx="425">
                  <c:v>436.94</c:v>
                </c:pt>
                <c:pt idx="426">
                  <c:v>516.21</c:v>
                </c:pt>
                <c:pt idx="427">
                  <c:v>447.26</c:v>
                </c:pt>
                <c:pt idx="428">
                  <c:v>627.66</c:v>
                </c:pt>
                <c:pt idx="429">
                  <c:v>588.02</c:v>
                </c:pt>
                <c:pt idx="430">
                  <c:v>833.45</c:v>
                </c:pt>
                <c:pt idx="431">
                  <c:v>1060.06</c:v>
                </c:pt>
                <c:pt idx="432">
                  <c:v>572.78</c:v>
                </c:pt>
                <c:pt idx="433">
                  <c:v>675.6</c:v>
                </c:pt>
                <c:pt idx="434">
                  <c:v>644.11</c:v>
                </c:pt>
                <c:pt idx="435">
                  <c:v>654.41999999999996</c:v>
                </c:pt>
                <c:pt idx="436">
                  <c:v>485.91</c:v>
                </c:pt>
                <c:pt idx="437">
                  <c:v>793.74</c:v>
                </c:pt>
                <c:pt idx="438">
                  <c:v>1057.8</c:v>
                </c:pt>
                <c:pt idx="439">
                  <c:v>1322.7</c:v>
                </c:pt>
                <c:pt idx="440">
                  <c:v>1397.25</c:v>
                </c:pt>
                <c:pt idx="441">
                  <c:v>1402.35</c:v>
                </c:pt>
                <c:pt idx="442">
                  <c:v>177.8</c:v>
                </c:pt>
                <c:pt idx="443">
                  <c:v>753.93</c:v>
                </c:pt>
                <c:pt idx="444">
                  <c:v>1046.93</c:v>
                </c:pt>
                <c:pt idx="445">
                  <c:v>1215.93</c:v>
                </c:pt>
                <c:pt idx="446">
                  <c:v>1320.33</c:v>
                </c:pt>
                <c:pt idx="447">
                  <c:v>1107.27</c:v>
                </c:pt>
                <c:pt idx="448">
                  <c:v>898.13</c:v>
                </c:pt>
                <c:pt idx="449">
                  <c:v>1088.75</c:v>
                </c:pt>
                <c:pt idx="450">
                  <c:v>749.38</c:v>
                </c:pt>
                <c:pt idx="451">
                  <c:v>1027.52</c:v>
                </c:pt>
                <c:pt idx="452">
                  <c:v>736.87</c:v>
                </c:pt>
                <c:pt idx="453">
                  <c:v>998.25</c:v>
                </c:pt>
                <c:pt idx="454">
                  <c:v>705.31</c:v>
                </c:pt>
                <c:pt idx="455">
                  <c:v>690.33</c:v>
                </c:pt>
                <c:pt idx="456">
                  <c:v>561.59</c:v>
                </c:pt>
                <c:pt idx="457">
                  <c:v>592.83000000000004</c:v>
                </c:pt>
                <c:pt idx="458">
                  <c:v>614.34</c:v>
                </c:pt>
                <c:pt idx="459">
                  <c:v>574.39</c:v>
                </c:pt>
                <c:pt idx="460">
                  <c:v>566.37</c:v>
                </c:pt>
                <c:pt idx="461">
                  <c:v>565.19000000000005</c:v>
                </c:pt>
                <c:pt idx="462">
                  <c:v>578.94000000000005</c:v>
                </c:pt>
                <c:pt idx="463">
                  <c:v>589.16</c:v>
                </c:pt>
                <c:pt idx="464">
                  <c:v>651.54</c:v>
                </c:pt>
                <c:pt idx="465">
                  <c:v>681.2</c:v>
                </c:pt>
                <c:pt idx="466">
                  <c:v>657.7</c:v>
                </c:pt>
                <c:pt idx="467">
                  <c:v>670.36</c:v>
                </c:pt>
                <c:pt idx="468">
                  <c:v>672.72</c:v>
                </c:pt>
                <c:pt idx="469">
                  <c:v>672.65</c:v>
                </c:pt>
                <c:pt idx="470">
                  <c:v>584.79</c:v>
                </c:pt>
                <c:pt idx="471">
                  <c:v>509.9</c:v>
                </c:pt>
                <c:pt idx="472">
                  <c:v>1044.32</c:v>
                </c:pt>
                <c:pt idx="473">
                  <c:v>1055.8</c:v>
                </c:pt>
                <c:pt idx="474">
                  <c:v>696.12</c:v>
                </c:pt>
                <c:pt idx="475">
                  <c:v>704.8</c:v>
                </c:pt>
                <c:pt idx="476">
                  <c:v>866.54</c:v>
                </c:pt>
                <c:pt idx="477">
                  <c:v>858.79</c:v>
                </c:pt>
                <c:pt idx="478">
                  <c:v>754.62</c:v>
                </c:pt>
                <c:pt idx="479">
                  <c:v>1000.49</c:v>
                </c:pt>
                <c:pt idx="480">
                  <c:v>1149.06</c:v>
                </c:pt>
                <c:pt idx="481">
                  <c:v>708.84</c:v>
                </c:pt>
                <c:pt idx="482">
                  <c:v>707.28</c:v>
                </c:pt>
                <c:pt idx="483">
                  <c:v>726.77</c:v>
                </c:pt>
                <c:pt idx="484">
                  <c:v>768.84</c:v>
                </c:pt>
                <c:pt idx="485">
                  <c:v>803.74</c:v>
                </c:pt>
                <c:pt idx="486">
                  <c:v>891.33</c:v>
                </c:pt>
                <c:pt idx="487">
                  <c:v>903.84</c:v>
                </c:pt>
                <c:pt idx="488">
                  <c:v>727.33</c:v>
                </c:pt>
                <c:pt idx="489">
                  <c:v>1912.58</c:v>
                </c:pt>
              </c:numCache>
            </c:numRef>
          </c:val>
          <c:smooth val="0"/>
          <c:extLst>
            <c:ext xmlns:c16="http://schemas.microsoft.com/office/drawing/2014/chart" uri="{C3380CC4-5D6E-409C-BE32-E72D297353CC}">
              <c16:uniqueId val="{00000000-3AE7-4582-9ED8-09592F2FC6C2}"/>
            </c:ext>
          </c:extLst>
        </c:ser>
        <c:dLbls>
          <c:showLegendKey val="0"/>
          <c:showVal val="0"/>
          <c:showCatName val="0"/>
          <c:showSerName val="0"/>
          <c:showPercent val="0"/>
          <c:showBubbleSize val="0"/>
        </c:dLbls>
        <c:marker val="1"/>
        <c:smooth val="0"/>
        <c:axId val="917228223"/>
        <c:axId val="917226975"/>
      </c:lineChart>
      <c:catAx>
        <c:axId val="917228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6975"/>
        <c:crosses val="autoZero"/>
        <c:auto val="1"/>
        <c:lblAlgn val="ctr"/>
        <c:lblOffset val="100"/>
        <c:noMultiLvlLbl val="0"/>
      </c:catAx>
      <c:valAx>
        <c:axId val="91722697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8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2">
          <a:lumMod val="60000"/>
          <a:lumOff val="40000"/>
        </a:schemeClr>
      </a:solidFill>
    </a:ln>
    <a:effectLst/>
  </c:spPr>
  <c:txPr>
    <a:bodyPr/>
    <a:lstStyle/>
    <a:p>
      <a:pPr>
        <a:defRPr sz="12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US" b="1" dirty="0"/>
              <a:t>Weighted MCP for both Solar</a:t>
            </a:r>
            <a:r>
              <a:rPr lang="en-US" b="1" baseline="0" dirty="0"/>
              <a:t> and Non-Solar</a:t>
            </a:r>
            <a:r>
              <a:rPr lang="en-US" b="1" dirty="0"/>
              <a:t> (Rs/kWh) </a:t>
            </a:r>
          </a:p>
        </c:rich>
      </c:tx>
      <c:layout>
        <c:manualLayout>
          <c:xMode val="edge"/>
          <c:yMode val="edge"/>
          <c:x val="0.12014232637802948"/>
          <c:y val="2.7540762654023946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Weighted MCP (Rs/kWh) </c:v>
                </c:pt>
              </c:strCache>
            </c:strRef>
          </c:tx>
          <c:spPr>
            <a:ln w="28575" cap="rnd">
              <a:solidFill>
                <a:srgbClr val="004F59"/>
              </a:solidFill>
              <a:round/>
            </a:ln>
            <a:effectLst/>
          </c:spPr>
          <c:marker>
            <c:symbol val="circle"/>
            <c:size val="5"/>
            <c:spPr>
              <a:solidFill>
                <a:srgbClr val="007680"/>
              </a:solidFill>
              <a:ln w="9525">
                <a:solidFill>
                  <a:srgbClr val="004F59"/>
                </a:solidFill>
              </a:ln>
              <a:effectLst/>
            </c:spPr>
          </c:marker>
          <c:cat>
            <c:strRef>
              <c:f>Sheet1!$A$2:$A$491</c:f>
              <c:strCache>
                <c:ptCount val="490"/>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pt idx="217">
                  <c:v>01-06-2022</c:v>
                </c:pt>
                <c:pt idx="218">
                  <c:v>02-06-2022</c:v>
                </c:pt>
                <c:pt idx="219">
                  <c:v>03-06-2022</c:v>
                </c:pt>
                <c:pt idx="220">
                  <c:v>04-06-2022</c:v>
                </c:pt>
                <c:pt idx="221">
                  <c:v>05-06-2022</c:v>
                </c:pt>
                <c:pt idx="222">
                  <c:v>06-06-2022</c:v>
                </c:pt>
                <c:pt idx="223">
                  <c:v>07-06-2022</c:v>
                </c:pt>
                <c:pt idx="224">
                  <c:v>08-06-2022</c:v>
                </c:pt>
                <c:pt idx="225">
                  <c:v>09-06-2022</c:v>
                </c:pt>
                <c:pt idx="226">
                  <c:v>10-06-2022</c:v>
                </c:pt>
                <c:pt idx="227">
                  <c:v>11-06-2022</c:v>
                </c:pt>
                <c:pt idx="228">
                  <c:v>12-06-2022</c:v>
                </c:pt>
                <c:pt idx="229">
                  <c:v>13-06-2022</c:v>
                </c:pt>
                <c:pt idx="230">
                  <c:v>14-06-2022</c:v>
                </c:pt>
                <c:pt idx="231">
                  <c:v>15-06-2022</c:v>
                </c:pt>
                <c:pt idx="232">
                  <c:v>16-06-2022</c:v>
                </c:pt>
                <c:pt idx="233">
                  <c:v>17-06-2022</c:v>
                </c:pt>
                <c:pt idx="234">
                  <c:v>18-06-2022</c:v>
                </c:pt>
                <c:pt idx="235">
                  <c:v>19-06-2022</c:v>
                </c:pt>
                <c:pt idx="236">
                  <c:v>20-06-2022</c:v>
                </c:pt>
                <c:pt idx="237">
                  <c:v>21-06-2022</c:v>
                </c:pt>
                <c:pt idx="238">
                  <c:v>22-06-2022</c:v>
                </c:pt>
                <c:pt idx="239">
                  <c:v>23-06-2022</c:v>
                </c:pt>
                <c:pt idx="240">
                  <c:v>24-06-2022</c:v>
                </c:pt>
                <c:pt idx="241">
                  <c:v>25-06-2022</c:v>
                </c:pt>
                <c:pt idx="242">
                  <c:v>26-06-2022</c:v>
                </c:pt>
                <c:pt idx="243">
                  <c:v>27-06-2022</c:v>
                </c:pt>
                <c:pt idx="244">
                  <c:v>28-06-2022</c:v>
                </c:pt>
                <c:pt idx="245">
                  <c:v>29-06-2022</c:v>
                </c:pt>
                <c:pt idx="246">
                  <c:v>30-06-2022</c:v>
                </c:pt>
                <c:pt idx="247">
                  <c:v>01-07-2022</c:v>
                </c:pt>
                <c:pt idx="248">
                  <c:v>02-07-2022</c:v>
                </c:pt>
                <c:pt idx="249">
                  <c:v>03-07-2022</c:v>
                </c:pt>
                <c:pt idx="250">
                  <c:v>04-07-2022</c:v>
                </c:pt>
                <c:pt idx="251">
                  <c:v>05-07-2022</c:v>
                </c:pt>
                <c:pt idx="252">
                  <c:v>06-07-2022</c:v>
                </c:pt>
                <c:pt idx="253">
                  <c:v>07-07-2022</c:v>
                </c:pt>
                <c:pt idx="254">
                  <c:v>08-07-2022</c:v>
                </c:pt>
                <c:pt idx="255">
                  <c:v>09-07-2022</c:v>
                </c:pt>
                <c:pt idx="256">
                  <c:v>10-07-2022</c:v>
                </c:pt>
                <c:pt idx="257">
                  <c:v>11-07-2022</c:v>
                </c:pt>
                <c:pt idx="258">
                  <c:v>12-07-2022</c:v>
                </c:pt>
                <c:pt idx="259">
                  <c:v>13-07-2022</c:v>
                </c:pt>
                <c:pt idx="260">
                  <c:v>14-07-2022</c:v>
                </c:pt>
                <c:pt idx="261">
                  <c:v>15-07-2022</c:v>
                </c:pt>
                <c:pt idx="262">
                  <c:v>16-07-2022</c:v>
                </c:pt>
                <c:pt idx="263">
                  <c:v>17-07-2022</c:v>
                </c:pt>
                <c:pt idx="264">
                  <c:v>18-07-2022</c:v>
                </c:pt>
                <c:pt idx="265">
                  <c:v>19-07-2022</c:v>
                </c:pt>
                <c:pt idx="266">
                  <c:v>20-07-2022</c:v>
                </c:pt>
                <c:pt idx="267">
                  <c:v>21-07-2022</c:v>
                </c:pt>
                <c:pt idx="268">
                  <c:v>22-07-2022</c:v>
                </c:pt>
                <c:pt idx="269">
                  <c:v>23-07-2022</c:v>
                </c:pt>
                <c:pt idx="270">
                  <c:v>24-07-2022</c:v>
                </c:pt>
                <c:pt idx="271">
                  <c:v>25-07-2022</c:v>
                </c:pt>
                <c:pt idx="272">
                  <c:v>26-07-2022</c:v>
                </c:pt>
                <c:pt idx="273">
                  <c:v>27-07-2022</c:v>
                </c:pt>
                <c:pt idx="274">
                  <c:v>28-07-2022</c:v>
                </c:pt>
                <c:pt idx="275">
                  <c:v>29-07-2022</c:v>
                </c:pt>
                <c:pt idx="276">
                  <c:v>30-07-2022</c:v>
                </c:pt>
                <c:pt idx="277">
                  <c:v>31-07-2022</c:v>
                </c:pt>
                <c:pt idx="278">
                  <c:v>01-08-2022</c:v>
                </c:pt>
                <c:pt idx="279">
                  <c:v>02-08-2022</c:v>
                </c:pt>
                <c:pt idx="280">
                  <c:v>03-08-2022</c:v>
                </c:pt>
                <c:pt idx="281">
                  <c:v>04-08-2022</c:v>
                </c:pt>
                <c:pt idx="282">
                  <c:v>05-08-2022</c:v>
                </c:pt>
                <c:pt idx="283">
                  <c:v>06-08-2022</c:v>
                </c:pt>
                <c:pt idx="284">
                  <c:v>07-08-2022</c:v>
                </c:pt>
                <c:pt idx="285">
                  <c:v>08-08-2022</c:v>
                </c:pt>
                <c:pt idx="286">
                  <c:v>09-08-2022</c:v>
                </c:pt>
                <c:pt idx="287">
                  <c:v>10-08-2022</c:v>
                </c:pt>
                <c:pt idx="288">
                  <c:v>11-08-2022</c:v>
                </c:pt>
                <c:pt idx="289">
                  <c:v>12-08-2022</c:v>
                </c:pt>
                <c:pt idx="290">
                  <c:v>13-08-2022</c:v>
                </c:pt>
                <c:pt idx="291">
                  <c:v>14-08-2022</c:v>
                </c:pt>
                <c:pt idx="292">
                  <c:v>15-08-2022</c:v>
                </c:pt>
                <c:pt idx="293">
                  <c:v>16-08-2022</c:v>
                </c:pt>
                <c:pt idx="294">
                  <c:v>17-08-2022</c:v>
                </c:pt>
                <c:pt idx="295">
                  <c:v>18-08-2022</c:v>
                </c:pt>
                <c:pt idx="296">
                  <c:v>19-08-2022</c:v>
                </c:pt>
                <c:pt idx="297">
                  <c:v>20-08-2022</c:v>
                </c:pt>
                <c:pt idx="298">
                  <c:v>21-08-2022</c:v>
                </c:pt>
                <c:pt idx="299">
                  <c:v>22-08-2022</c:v>
                </c:pt>
                <c:pt idx="300">
                  <c:v>23-08-2022</c:v>
                </c:pt>
                <c:pt idx="301">
                  <c:v>24-08-2022</c:v>
                </c:pt>
                <c:pt idx="302">
                  <c:v>25-08-2022</c:v>
                </c:pt>
                <c:pt idx="303">
                  <c:v>26-08-2022</c:v>
                </c:pt>
                <c:pt idx="304">
                  <c:v>27-08-2022</c:v>
                </c:pt>
                <c:pt idx="305">
                  <c:v>28-08-2022</c:v>
                </c:pt>
                <c:pt idx="306">
                  <c:v>29-08-2022</c:v>
                </c:pt>
                <c:pt idx="307">
                  <c:v>30-08-2022</c:v>
                </c:pt>
                <c:pt idx="308">
                  <c:v>31-08-2022</c:v>
                </c:pt>
                <c:pt idx="309">
                  <c:v>01-09-2022</c:v>
                </c:pt>
                <c:pt idx="310">
                  <c:v>02-09-2022</c:v>
                </c:pt>
                <c:pt idx="311">
                  <c:v>03-09-2022</c:v>
                </c:pt>
                <c:pt idx="312">
                  <c:v>04-09-2022</c:v>
                </c:pt>
                <c:pt idx="313">
                  <c:v>05-09-2022</c:v>
                </c:pt>
                <c:pt idx="314">
                  <c:v>06-09-2022</c:v>
                </c:pt>
                <c:pt idx="315">
                  <c:v>07-09-2022</c:v>
                </c:pt>
                <c:pt idx="316">
                  <c:v>08-09-2022</c:v>
                </c:pt>
                <c:pt idx="317">
                  <c:v>09-09-2022</c:v>
                </c:pt>
                <c:pt idx="318">
                  <c:v>10-09-2022</c:v>
                </c:pt>
                <c:pt idx="319">
                  <c:v>11-09-2022</c:v>
                </c:pt>
                <c:pt idx="320">
                  <c:v>12-09-2022</c:v>
                </c:pt>
                <c:pt idx="321">
                  <c:v>13-09-2022</c:v>
                </c:pt>
                <c:pt idx="322">
                  <c:v>14-09-2022</c:v>
                </c:pt>
                <c:pt idx="323">
                  <c:v>15-09-2022</c:v>
                </c:pt>
                <c:pt idx="324">
                  <c:v>16-09-2022</c:v>
                </c:pt>
                <c:pt idx="325">
                  <c:v>17-09-2022</c:v>
                </c:pt>
                <c:pt idx="326">
                  <c:v>18-09-2022</c:v>
                </c:pt>
                <c:pt idx="327">
                  <c:v>19-09-2022</c:v>
                </c:pt>
                <c:pt idx="328">
                  <c:v>20-09-2022</c:v>
                </c:pt>
                <c:pt idx="329">
                  <c:v>21-09-2022</c:v>
                </c:pt>
                <c:pt idx="330">
                  <c:v>22-09-2022</c:v>
                </c:pt>
                <c:pt idx="331">
                  <c:v>23-09-2022</c:v>
                </c:pt>
                <c:pt idx="332">
                  <c:v>24-09-2022</c:v>
                </c:pt>
                <c:pt idx="333">
                  <c:v>25-09-2022</c:v>
                </c:pt>
                <c:pt idx="334">
                  <c:v>26-09-2022</c:v>
                </c:pt>
                <c:pt idx="335">
                  <c:v>27-09-2022</c:v>
                </c:pt>
                <c:pt idx="336">
                  <c:v>28-09-2022</c:v>
                </c:pt>
                <c:pt idx="337">
                  <c:v>29-09-2022</c:v>
                </c:pt>
                <c:pt idx="338">
                  <c:v>30-09-2022</c:v>
                </c:pt>
                <c:pt idx="339">
                  <c:v>01-10-2022</c:v>
                </c:pt>
                <c:pt idx="340">
                  <c:v>02-10-2022</c:v>
                </c:pt>
                <c:pt idx="341">
                  <c:v>03-10-2022</c:v>
                </c:pt>
                <c:pt idx="342">
                  <c:v>04-10-2022</c:v>
                </c:pt>
                <c:pt idx="343">
                  <c:v>05-10-2022</c:v>
                </c:pt>
                <c:pt idx="344">
                  <c:v>06-10-2022</c:v>
                </c:pt>
                <c:pt idx="345">
                  <c:v>07-10-2022</c:v>
                </c:pt>
                <c:pt idx="346">
                  <c:v>08-10-2022</c:v>
                </c:pt>
                <c:pt idx="347">
                  <c:v>09-10-2022</c:v>
                </c:pt>
                <c:pt idx="348">
                  <c:v>10-10-2022</c:v>
                </c:pt>
                <c:pt idx="349">
                  <c:v>11-10-2022</c:v>
                </c:pt>
                <c:pt idx="350">
                  <c:v>12-10-2022</c:v>
                </c:pt>
                <c:pt idx="351">
                  <c:v>13-10-2022</c:v>
                </c:pt>
                <c:pt idx="352">
                  <c:v>14-10-2022</c:v>
                </c:pt>
                <c:pt idx="353">
                  <c:v>15-10-2022</c:v>
                </c:pt>
                <c:pt idx="354">
                  <c:v>16-10-2022</c:v>
                </c:pt>
                <c:pt idx="355">
                  <c:v>17-10-2022</c:v>
                </c:pt>
                <c:pt idx="356">
                  <c:v>18-10-2022</c:v>
                </c:pt>
                <c:pt idx="357">
                  <c:v>19-10-2022</c:v>
                </c:pt>
                <c:pt idx="358">
                  <c:v>20-10-2022</c:v>
                </c:pt>
                <c:pt idx="359">
                  <c:v>21-10-2022</c:v>
                </c:pt>
                <c:pt idx="360">
                  <c:v>22-10-2022</c:v>
                </c:pt>
                <c:pt idx="361">
                  <c:v>23-10-2022</c:v>
                </c:pt>
                <c:pt idx="362">
                  <c:v>24-10-2022</c:v>
                </c:pt>
                <c:pt idx="363">
                  <c:v>25-10-2022</c:v>
                </c:pt>
                <c:pt idx="364">
                  <c:v>26-10-2022</c:v>
                </c:pt>
                <c:pt idx="365">
                  <c:v>27-10-2022</c:v>
                </c:pt>
                <c:pt idx="366">
                  <c:v>28-10-2022</c:v>
                </c:pt>
                <c:pt idx="367">
                  <c:v>29-10-2022</c:v>
                </c:pt>
                <c:pt idx="368">
                  <c:v>30-10-2022</c:v>
                </c:pt>
                <c:pt idx="369">
                  <c:v>31-10-2022</c:v>
                </c:pt>
                <c:pt idx="370">
                  <c:v>01-11-2022</c:v>
                </c:pt>
                <c:pt idx="371">
                  <c:v>02-11-2022</c:v>
                </c:pt>
                <c:pt idx="372">
                  <c:v>03-11-2022</c:v>
                </c:pt>
                <c:pt idx="373">
                  <c:v>04-11-2022</c:v>
                </c:pt>
                <c:pt idx="374">
                  <c:v>05-11-2022</c:v>
                </c:pt>
                <c:pt idx="375">
                  <c:v>06-11-2022</c:v>
                </c:pt>
                <c:pt idx="376">
                  <c:v>07-11-2022</c:v>
                </c:pt>
                <c:pt idx="377">
                  <c:v>08-11-2022</c:v>
                </c:pt>
                <c:pt idx="378">
                  <c:v>09-11-2022</c:v>
                </c:pt>
                <c:pt idx="379">
                  <c:v>10-11-2022</c:v>
                </c:pt>
                <c:pt idx="380">
                  <c:v>11-11-2022</c:v>
                </c:pt>
                <c:pt idx="381">
                  <c:v>12-11-2022</c:v>
                </c:pt>
                <c:pt idx="382">
                  <c:v>13-11-2022</c:v>
                </c:pt>
                <c:pt idx="383">
                  <c:v>14-11-2022</c:v>
                </c:pt>
                <c:pt idx="384">
                  <c:v>15-11-2022</c:v>
                </c:pt>
                <c:pt idx="385">
                  <c:v>16-11-2022</c:v>
                </c:pt>
                <c:pt idx="386">
                  <c:v>17-11-2022</c:v>
                </c:pt>
                <c:pt idx="387">
                  <c:v>18-11-2022</c:v>
                </c:pt>
                <c:pt idx="388">
                  <c:v>19-11-2022</c:v>
                </c:pt>
                <c:pt idx="389">
                  <c:v>20-11-2022</c:v>
                </c:pt>
                <c:pt idx="390">
                  <c:v>21-11-2022</c:v>
                </c:pt>
                <c:pt idx="391">
                  <c:v>22-11-2022</c:v>
                </c:pt>
                <c:pt idx="392">
                  <c:v>23-11-2022</c:v>
                </c:pt>
                <c:pt idx="393">
                  <c:v>24-11-2022</c:v>
                </c:pt>
                <c:pt idx="394">
                  <c:v>25-11-2022</c:v>
                </c:pt>
                <c:pt idx="395">
                  <c:v>26-11-2022</c:v>
                </c:pt>
                <c:pt idx="396">
                  <c:v>27-11-2022</c:v>
                </c:pt>
                <c:pt idx="397">
                  <c:v>28-11-2022</c:v>
                </c:pt>
                <c:pt idx="398">
                  <c:v>29-11-2022</c:v>
                </c:pt>
                <c:pt idx="399">
                  <c:v>30-11-2022</c:v>
                </c:pt>
                <c:pt idx="400">
                  <c:v>01-12-2022</c:v>
                </c:pt>
                <c:pt idx="401">
                  <c:v>02-12-2022</c:v>
                </c:pt>
                <c:pt idx="402">
                  <c:v>03-12-2022</c:v>
                </c:pt>
                <c:pt idx="403">
                  <c:v>04-12-2022</c:v>
                </c:pt>
                <c:pt idx="404">
                  <c:v>05-12-2022</c:v>
                </c:pt>
                <c:pt idx="405">
                  <c:v>06-12-2022</c:v>
                </c:pt>
                <c:pt idx="406">
                  <c:v>07-12-2022</c:v>
                </c:pt>
                <c:pt idx="407">
                  <c:v>08-12-2022</c:v>
                </c:pt>
                <c:pt idx="408">
                  <c:v>09-12-2022</c:v>
                </c:pt>
                <c:pt idx="409">
                  <c:v>10-12-2022</c:v>
                </c:pt>
                <c:pt idx="410">
                  <c:v>11-12-2022</c:v>
                </c:pt>
                <c:pt idx="411">
                  <c:v>12-12-2022</c:v>
                </c:pt>
                <c:pt idx="412">
                  <c:v>13-12-2022</c:v>
                </c:pt>
                <c:pt idx="413">
                  <c:v>14-12-2022</c:v>
                </c:pt>
                <c:pt idx="414">
                  <c:v>15-12-2022</c:v>
                </c:pt>
                <c:pt idx="415">
                  <c:v>16-12-2022</c:v>
                </c:pt>
                <c:pt idx="416">
                  <c:v>17-12-2022</c:v>
                </c:pt>
                <c:pt idx="417">
                  <c:v>18-12-2022</c:v>
                </c:pt>
                <c:pt idx="418">
                  <c:v>19-12-2022</c:v>
                </c:pt>
                <c:pt idx="419">
                  <c:v>20-12-2022</c:v>
                </c:pt>
                <c:pt idx="420">
                  <c:v>21-12-2022</c:v>
                </c:pt>
                <c:pt idx="421">
                  <c:v>22-12-2022</c:v>
                </c:pt>
                <c:pt idx="422">
                  <c:v>23-12-2022</c:v>
                </c:pt>
                <c:pt idx="423">
                  <c:v>24-12-2022</c:v>
                </c:pt>
                <c:pt idx="424">
                  <c:v>25-12-2022</c:v>
                </c:pt>
                <c:pt idx="425">
                  <c:v>26-12-2022</c:v>
                </c:pt>
                <c:pt idx="426">
                  <c:v>27-12-2022</c:v>
                </c:pt>
                <c:pt idx="427">
                  <c:v>28-12-2022</c:v>
                </c:pt>
                <c:pt idx="428">
                  <c:v>29-12-2022</c:v>
                </c:pt>
                <c:pt idx="429">
                  <c:v>30-12-2022</c:v>
                </c:pt>
                <c:pt idx="430">
                  <c:v>31-12-2022</c:v>
                </c:pt>
                <c:pt idx="431">
                  <c:v>01-01-2023</c:v>
                </c:pt>
                <c:pt idx="432">
                  <c:v>02-01-2023</c:v>
                </c:pt>
                <c:pt idx="433">
                  <c:v>03-01-2023</c:v>
                </c:pt>
                <c:pt idx="434">
                  <c:v>04-01-2023</c:v>
                </c:pt>
                <c:pt idx="435">
                  <c:v>05-01-2023</c:v>
                </c:pt>
                <c:pt idx="436">
                  <c:v>06-01-2023</c:v>
                </c:pt>
                <c:pt idx="437">
                  <c:v>07-01-2023</c:v>
                </c:pt>
                <c:pt idx="438">
                  <c:v>08-01-2023</c:v>
                </c:pt>
                <c:pt idx="439">
                  <c:v>09-01-2023</c:v>
                </c:pt>
                <c:pt idx="440">
                  <c:v>10-01-2023</c:v>
                </c:pt>
                <c:pt idx="441">
                  <c:v>11-01-2023</c:v>
                </c:pt>
                <c:pt idx="442">
                  <c:v>12-01-2023</c:v>
                </c:pt>
                <c:pt idx="443">
                  <c:v>13-01-2023</c:v>
                </c:pt>
                <c:pt idx="444">
                  <c:v>14-01-2023</c:v>
                </c:pt>
                <c:pt idx="445">
                  <c:v>15-01-2023</c:v>
                </c:pt>
                <c:pt idx="446">
                  <c:v>16-01-2023</c:v>
                </c:pt>
                <c:pt idx="447">
                  <c:v>17-01-2023</c:v>
                </c:pt>
                <c:pt idx="448">
                  <c:v>18-01-2023</c:v>
                </c:pt>
                <c:pt idx="449">
                  <c:v>19-01-2023</c:v>
                </c:pt>
                <c:pt idx="450">
                  <c:v>20-01-2023</c:v>
                </c:pt>
                <c:pt idx="451">
                  <c:v>21-01-2023</c:v>
                </c:pt>
                <c:pt idx="452">
                  <c:v>22-01-2023</c:v>
                </c:pt>
                <c:pt idx="453">
                  <c:v>23-01-2023</c:v>
                </c:pt>
                <c:pt idx="454">
                  <c:v>24-01-2023</c:v>
                </c:pt>
                <c:pt idx="455">
                  <c:v>25-01-2023</c:v>
                </c:pt>
                <c:pt idx="456">
                  <c:v>26-01-2023</c:v>
                </c:pt>
                <c:pt idx="457">
                  <c:v>27-01-2023</c:v>
                </c:pt>
                <c:pt idx="458">
                  <c:v>28-01-2023</c:v>
                </c:pt>
                <c:pt idx="459">
                  <c:v>29-01-2023</c:v>
                </c:pt>
                <c:pt idx="460">
                  <c:v>30-01-2023</c:v>
                </c:pt>
                <c:pt idx="461">
                  <c:v>31-01-2023</c:v>
                </c:pt>
                <c:pt idx="462">
                  <c:v>01-02-2023</c:v>
                </c:pt>
                <c:pt idx="463">
                  <c:v>02-02-2023</c:v>
                </c:pt>
                <c:pt idx="464">
                  <c:v>03-02-2023</c:v>
                </c:pt>
                <c:pt idx="465">
                  <c:v>04-02-2023</c:v>
                </c:pt>
                <c:pt idx="466">
                  <c:v>05-02-2023</c:v>
                </c:pt>
                <c:pt idx="467">
                  <c:v>06-02-2023</c:v>
                </c:pt>
                <c:pt idx="468">
                  <c:v>07-02-2023</c:v>
                </c:pt>
                <c:pt idx="469">
                  <c:v>08-02-2023</c:v>
                </c:pt>
                <c:pt idx="470">
                  <c:v>09-02-2023</c:v>
                </c:pt>
                <c:pt idx="471">
                  <c:v>10-02-2023</c:v>
                </c:pt>
                <c:pt idx="472">
                  <c:v>11-02-2023</c:v>
                </c:pt>
                <c:pt idx="473">
                  <c:v>12-02-2023</c:v>
                </c:pt>
                <c:pt idx="474">
                  <c:v>13-02-2023</c:v>
                </c:pt>
                <c:pt idx="475">
                  <c:v>14-02-2023</c:v>
                </c:pt>
                <c:pt idx="476">
                  <c:v>15-02-2023</c:v>
                </c:pt>
                <c:pt idx="477">
                  <c:v>16-02-2023</c:v>
                </c:pt>
                <c:pt idx="478">
                  <c:v>17-02-2023</c:v>
                </c:pt>
                <c:pt idx="479">
                  <c:v>18-02-2023</c:v>
                </c:pt>
                <c:pt idx="480">
                  <c:v>19-02-2023</c:v>
                </c:pt>
                <c:pt idx="481">
                  <c:v>20-02-2023</c:v>
                </c:pt>
                <c:pt idx="482">
                  <c:v>21-02-2023</c:v>
                </c:pt>
                <c:pt idx="483">
                  <c:v>22-02-2023</c:v>
                </c:pt>
                <c:pt idx="484">
                  <c:v>23-02-2023</c:v>
                </c:pt>
                <c:pt idx="485">
                  <c:v>24-02-2023</c:v>
                </c:pt>
                <c:pt idx="486">
                  <c:v>25-02-2023</c:v>
                </c:pt>
                <c:pt idx="487">
                  <c:v>26-02-2023</c:v>
                </c:pt>
                <c:pt idx="488">
                  <c:v>27-02-2023</c:v>
                </c:pt>
                <c:pt idx="489">
                  <c:v>28-02-2023</c:v>
                </c:pt>
              </c:strCache>
            </c:strRef>
          </c:cat>
          <c:val>
            <c:numRef>
              <c:f>Sheet1!$B$2:$B$491</c:f>
              <c:numCache>
                <c:formatCode>0.00</c:formatCode>
                <c:ptCount val="490"/>
                <c:pt idx="0">
                  <c:v>4.3188900000000006</c:v>
                </c:pt>
                <c:pt idx="1">
                  <c:v>3.90821</c:v>
                </c:pt>
                <c:pt idx="2">
                  <c:v>3.7741100000000003</c:v>
                </c:pt>
                <c:pt idx="3">
                  <c:v>3.6970200000000002</c:v>
                </c:pt>
                <c:pt idx="4">
                  <c:v>3.6490999999999998</c:v>
                </c:pt>
                <c:pt idx="5">
                  <c:v>3.6803000000000003</c:v>
                </c:pt>
                <c:pt idx="6">
                  <c:v>3.6773800000000003</c:v>
                </c:pt>
                <c:pt idx="7">
                  <c:v>3.7022900000000001</c:v>
                </c:pt>
                <c:pt idx="8">
                  <c:v>3.6040399999999999</c:v>
                </c:pt>
                <c:pt idx="9">
                  <c:v>3.57857</c:v>
                </c:pt>
                <c:pt idx="10">
                  <c:v>3.2292899999999998</c:v>
                </c:pt>
                <c:pt idx="11">
                  <c:v>3.2779600000000002</c:v>
                </c:pt>
                <c:pt idx="12">
                  <c:v>3.5467199999999997</c:v>
                </c:pt>
                <c:pt idx="13">
                  <c:v>3.8056399999999999</c:v>
                </c:pt>
                <c:pt idx="14">
                  <c:v>3.7450999999999999</c:v>
                </c:pt>
                <c:pt idx="15">
                  <c:v>3.8392600000000003</c:v>
                </c:pt>
                <c:pt idx="16">
                  <c:v>4.0815400000000004</c:v>
                </c:pt>
                <c:pt idx="17">
                  <c:v>3.9182700000000001</c:v>
                </c:pt>
                <c:pt idx="18">
                  <c:v>3.3727399999999998</c:v>
                </c:pt>
                <c:pt idx="19">
                  <c:v>4.2614799999999997</c:v>
                </c:pt>
                <c:pt idx="20">
                  <c:v>4.3228999999999997</c:v>
                </c:pt>
                <c:pt idx="21">
                  <c:v>3.7709200000000003</c:v>
                </c:pt>
                <c:pt idx="22">
                  <c:v>4.2326699999999997</c:v>
                </c:pt>
                <c:pt idx="23">
                  <c:v>4.3927200000000006</c:v>
                </c:pt>
                <c:pt idx="24">
                  <c:v>4.4548500000000004</c:v>
                </c:pt>
                <c:pt idx="25">
                  <c:v>3.38761</c:v>
                </c:pt>
                <c:pt idx="26">
                  <c:v>3.8993800000000003</c:v>
                </c:pt>
                <c:pt idx="27">
                  <c:v>3.8595999999999999</c:v>
                </c:pt>
                <c:pt idx="28">
                  <c:v>3.7058899999999997</c:v>
                </c:pt>
                <c:pt idx="29">
                  <c:v>3.6741199999999998</c:v>
                </c:pt>
                <c:pt idx="30">
                  <c:v>3.6986699999999999</c:v>
                </c:pt>
                <c:pt idx="31">
                  <c:v>3.5340799999999999</c:v>
                </c:pt>
                <c:pt idx="32">
                  <c:v>3.3229799999999998</c:v>
                </c:pt>
                <c:pt idx="33">
                  <c:v>3.67062</c:v>
                </c:pt>
                <c:pt idx="34">
                  <c:v>3.8841999999999999</c:v>
                </c:pt>
                <c:pt idx="35">
                  <c:v>3.8273899999999998</c:v>
                </c:pt>
                <c:pt idx="36">
                  <c:v>3.7696700000000001</c:v>
                </c:pt>
                <c:pt idx="37">
                  <c:v>3.8902100000000002</c:v>
                </c:pt>
                <c:pt idx="38">
                  <c:v>3.8686100000000003</c:v>
                </c:pt>
                <c:pt idx="39">
                  <c:v>3.72668</c:v>
                </c:pt>
                <c:pt idx="40">
                  <c:v>4.2519300000000007</c:v>
                </c:pt>
                <c:pt idx="41">
                  <c:v>3.8697699999999999</c:v>
                </c:pt>
                <c:pt idx="42">
                  <c:v>3.8767900000000002</c:v>
                </c:pt>
                <c:pt idx="43">
                  <c:v>3.87636</c:v>
                </c:pt>
                <c:pt idx="44">
                  <c:v>4.1474599999999997</c:v>
                </c:pt>
                <c:pt idx="45">
                  <c:v>4.2412999999999998</c:v>
                </c:pt>
                <c:pt idx="46">
                  <c:v>3.6377700000000002</c:v>
                </c:pt>
                <c:pt idx="47">
                  <c:v>4.1918500000000005</c:v>
                </c:pt>
                <c:pt idx="48">
                  <c:v>4.29772</c:v>
                </c:pt>
                <c:pt idx="49">
                  <c:v>4.4283700000000001</c:v>
                </c:pt>
                <c:pt idx="50">
                  <c:v>4.3434399999999993</c:v>
                </c:pt>
                <c:pt idx="51">
                  <c:v>4.3016300000000003</c:v>
                </c:pt>
                <c:pt idx="52">
                  <c:v>4.4058900000000003</c:v>
                </c:pt>
                <c:pt idx="53">
                  <c:v>3.7980900000000002</c:v>
                </c:pt>
                <c:pt idx="54">
                  <c:v>4.1832900000000004</c:v>
                </c:pt>
                <c:pt idx="55">
                  <c:v>4.2051699999999999</c:v>
                </c:pt>
                <c:pt idx="56">
                  <c:v>4.39147</c:v>
                </c:pt>
                <c:pt idx="57">
                  <c:v>4.5253900000000007</c:v>
                </c:pt>
                <c:pt idx="58">
                  <c:v>4.4474200000000002</c:v>
                </c:pt>
                <c:pt idx="59">
                  <c:v>4.2281899999999997</c:v>
                </c:pt>
                <c:pt idx="60">
                  <c:v>4.0372700000000004</c:v>
                </c:pt>
                <c:pt idx="61">
                  <c:v>4.3446999999999996</c:v>
                </c:pt>
                <c:pt idx="62">
                  <c:v>4.4835000000000003</c:v>
                </c:pt>
                <c:pt idx="63">
                  <c:v>4.4616400000000001</c:v>
                </c:pt>
                <c:pt idx="64">
                  <c:v>4.3198299999999996</c:v>
                </c:pt>
                <c:pt idx="65">
                  <c:v>4.2677500000000004</c:v>
                </c:pt>
                <c:pt idx="66">
                  <c:v>4.1578599999999994</c:v>
                </c:pt>
                <c:pt idx="67">
                  <c:v>4.0795599999999999</c:v>
                </c:pt>
                <c:pt idx="68">
                  <c:v>4.36592</c:v>
                </c:pt>
                <c:pt idx="69">
                  <c:v>4.4089600000000004</c:v>
                </c:pt>
                <c:pt idx="70">
                  <c:v>4.4192099999999996</c:v>
                </c:pt>
                <c:pt idx="71">
                  <c:v>3.8183400000000001</c:v>
                </c:pt>
                <c:pt idx="72">
                  <c:v>4.1964600000000001</c:v>
                </c:pt>
                <c:pt idx="73">
                  <c:v>4.41479</c:v>
                </c:pt>
                <c:pt idx="74">
                  <c:v>4.19001</c:v>
                </c:pt>
                <c:pt idx="75">
                  <c:v>4.1133800000000003</c:v>
                </c:pt>
                <c:pt idx="76">
                  <c:v>4.6457100000000002</c:v>
                </c:pt>
                <c:pt idx="77">
                  <c:v>4.4465200000000005</c:v>
                </c:pt>
                <c:pt idx="78">
                  <c:v>4.6953199999999997</c:v>
                </c:pt>
                <c:pt idx="79">
                  <c:v>3.9988200000000003</c:v>
                </c:pt>
                <c:pt idx="80">
                  <c:v>4.02074</c:v>
                </c:pt>
                <c:pt idx="81">
                  <c:v>3.7436500000000001</c:v>
                </c:pt>
                <c:pt idx="82">
                  <c:v>4.0164799999999996</c:v>
                </c:pt>
                <c:pt idx="83">
                  <c:v>4.1190800000000003</c:v>
                </c:pt>
                <c:pt idx="84">
                  <c:v>4.60161</c:v>
                </c:pt>
                <c:pt idx="85">
                  <c:v>4.71868</c:v>
                </c:pt>
                <c:pt idx="86">
                  <c:v>4.5296899999999996</c:v>
                </c:pt>
                <c:pt idx="87">
                  <c:v>4.9952899999999998</c:v>
                </c:pt>
                <c:pt idx="88">
                  <c:v>3.5382600000000002</c:v>
                </c:pt>
                <c:pt idx="89">
                  <c:v>4.0899099999999997</c:v>
                </c:pt>
                <c:pt idx="90">
                  <c:v>4.3816300000000004</c:v>
                </c:pt>
                <c:pt idx="91">
                  <c:v>2.7879699999999996</c:v>
                </c:pt>
                <c:pt idx="92">
                  <c:v>4.0990200000000003</c:v>
                </c:pt>
                <c:pt idx="93">
                  <c:v>4.0815599999999996</c:v>
                </c:pt>
                <c:pt idx="94">
                  <c:v>4.2801</c:v>
                </c:pt>
                <c:pt idx="95">
                  <c:v>3.8226</c:v>
                </c:pt>
                <c:pt idx="96">
                  <c:v>4.2877799999999997</c:v>
                </c:pt>
                <c:pt idx="97">
                  <c:v>4.7892700000000001</c:v>
                </c:pt>
                <c:pt idx="98">
                  <c:v>4.9348000000000001</c:v>
                </c:pt>
                <c:pt idx="99">
                  <c:v>4.7588200000000001</c:v>
                </c:pt>
                <c:pt idx="100">
                  <c:v>5.5206599999999995</c:v>
                </c:pt>
                <c:pt idx="101">
                  <c:v>4.6409099999999999</c:v>
                </c:pt>
                <c:pt idx="102">
                  <c:v>3.61232</c:v>
                </c:pt>
                <c:pt idx="103">
                  <c:v>4.2121300000000002</c:v>
                </c:pt>
                <c:pt idx="104">
                  <c:v>4.9789399999999997</c:v>
                </c:pt>
                <c:pt idx="105">
                  <c:v>4.5127899999999999</c:v>
                </c:pt>
                <c:pt idx="106">
                  <c:v>4.6951999999999998</c:v>
                </c:pt>
                <c:pt idx="107">
                  <c:v>4.65036</c:v>
                </c:pt>
                <c:pt idx="108">
                  <c:v>4.32925</c:v>
                </c:pt>
                <c:pt idx="109">
                  <c:v>4.1364999999999998</c:v>
                </c:pt>
                <c:pt idx="110">
                  <c:v>5.0544700000000002</c:v>
                </c:pt>
                <c:pt idx="111">
                  <c:v>4.3499099999999995</c:v>
                </c:pt>
                <c:pt idx="112">
                  <c:v>4.3941499999999998</c:v>
                </c:pt>
                <c:pt idx="113">
                  <c:v>4.4106999999999994</c:v>
                </c:pt>
                <c:pt idx="114">
                  <c:v>5.17387</c:v>
                </c:pt>
                <c:pt idx="115">
                  <c:v>5.49472</c:v>
                </c:pt>
                <c:pt idx="116">
                  <c:v>4.1612099999999996</c:v>
                </c:pt>
                <c:pt idx="117">
                  <c:v>4.9345400000000001</c:v>
                </c:pt>
                <c:pt idx="118">
                  <c:v>5.0015900000000002</c:v>
                </c:pt>
                <c:pt idx="119">
                  <c:v>5.3826599999999996</c:v>
                </c:pt>
                <c:pt idx="120">
                  <c:v>5.5883799999999999</c:v>
                </c:pt>
                <c:pt idx="121">
                  <c:v>5.9397200000000003</c:v>
                </c:pt>
                <c:pt idx="122">
                  <c:v>6.5318500000000004</c:v>
                </c:pt>
                <c:pt idx="123">
                  <c:v>4.1312499999999996</c:v>
                </c:pt>
                <c:pt idx="124">
                  <c:v>5.3981700000000004</c:v>
                </c:pt>
                <c:pt idx="125">
                  <c:v>4.8009199999999996</c:v>
                </c:pt>
                <c:pt idx="126">
                  <c:v>3.9627399999999997</c:v>
                </c:pt>
                <c:pt idx="127">
                  <c:v>4.42354</c:v>
                </c:pt>
                <c:pt idx="128">
                  <c:v>4.5734399999999997</c:v>
                </c:pt>
                <c:pt idx="129">
                  <c:v>4.8367299999999993</c:v>
                </c:pt>
                <c:pt idx="130">
                  <c:v>4.4806999999999997</c:v>
                </c:pt>
                <c:pt idx="131">
                  <c:v>4.8564399999999992</c:v>
                </c:pt>
                <c:pt idx="132">
                  <c:v>5.0226600000000001</c:v>
                </c:pt>
                <c:pt idx="133">
                  <c:v>5.4703599999999994</c:v>
                </c:pt>
                <c:pt idx="134">
                  <c:v>7.0634300000000003</c:v>
                </c:pt>
                <c:pt idx="135">
                  <c:v>7.0371600000000001</c:v>
                </c:pt>
                <c:pt idx="136">
                  <c:v>5.9261699999999999</c:v>
                </c:pt>
                <c:pt idx="137">
                  <c:v>4.1944300000000005</c:v>
                </c:pt>
                <c:pt idx="138">
                  <c:v>6.3449399999999994</c:v>
                </c:pt>
                <c:pt idx="139">
                  <c:v>6.8547200000000004</c:v>
                </c:pt>
                <c:pt idx="140">
                  <c:v>6.6484700000000005</c:v>
                </c:pt>
                <c:pt idx="141">
                  <c:v>7.5499200000000002</c:v>
                </c:pt>
                <c:pt idx="142">
                  <c:v>5.3626400000000007</c:v>
                </c:pt>
                <c:pt idx="143">
                  <c:v>9.1921599999999994</c:v>
                </c:pt>
                <c:pt idx="144">
                  <c:v>4.4188499999999999</c:v>
                </c:pt>
                <c:pt idx="145">
                  <c:v>5.532</c:v>
                </c:pt>
                <c:pt idx="146">
                  <c:v>8.3377299999999988</c:v>
                </c:pt>
                <c:pt idx="147">
                  <c:v>10.209540000000001</c:v>
                </c:pt>
                <c:pt idx="148">
                  <c:v>11.878309999999999</c:v>
                </c:pt>
                <c:pt idx="149">
                  <c:v>15.896049999999999</c:v>
                </c:pt>
                <c:pt idx="150">
                  <c:v>16.462869999999999</c:v>
                </c:pt>
                <c:pt idx="151">
                  <c:v>10.1045</c:v>
                </c:pt>
                <c:pt idx="152">
                  <c:v>8.08338</c:v>
                </c:pt>
                <c:pt idx="153">
                  <c:v>12.3772</c:v>
                </c:pt>
                <c:pt idx="154">
                  <c:v>9.4736700000000003</c:v>
                </c:pt>
                <c:pt idx="155">
                  <c:v>11.8512</c:v>
                </c:pt>
                <c:pt idx="156">
                  <c:v>13.67309</c:v>
                </c:pt>
                <c:pt idx="157">
                  <c:v>6.5388100000000007</c:v>
                </c:pt>
                <c:pt idx="158">
                  <c:v>4.9368100000000004</c:v>
                </c:pt>
                <c:pt idx="159">
                  <c:v>4.39581</c:v>
                </c:pt>
                <c:pt idx="160">
                  <c:v>4.7115900000000002</c:v>
                </c:pt>
                <c:pt idx="161">
                  <c:v>5.3026499999999999</c:v>
                </c:pt>
                <c:pt idx="162">
                  <c:v>7.4385699999999995</c:v>
                </c:pt>
                <c:pt idx="163">
                  <c:v>8.3083600000000004</c:v>
                </c:pt>
                <c:pt idx="164">
                  <c:v>8.4865100000000009</c:v>
                </c:pt>
                <c:pt idx="165">
                  <c:v>7.6373199999999999</c:v>
                </c:pt>
                <c:pt idx="166">
                  <c:v>9.7713999999999999</c:v>
                </c:pt>
                <c:pt idx="167">
                  <c:v>9.2237200000000001</c:v>
                </c:pt>
                <c:pt idx="168">
                  <c:v>10.63505</c:v>
                </c:pt>
                <c:pt idx="169">
                  <c:v>9.8600899999999996</c:v>
                </c:pt>
                <c:pt idx="170">
                  <c:v>8.651860000000001</c:v>
                </c:pt>
                <c:pt idx="171">
                  <c:v>11.49061</c:v>
                </c:pt>
                <c:pt idx="172">
                  <c:v>8.4012199999999986</c:v>
                </c:pt>
                <c:pt idx="173">
                  <c:v>10.54086</c:v>
                </c:pt>
                <c:pt idx="174">
                  <c:v>9.7137799999999999</c:v>
                </c:pt>
                <c:pt idx="175">
                  <c:v>10.463629999999998</c:v>
                </c:pt>
                <c:pt idx="176">
                  <c:v>12</c:v>
                </c:pt>
                <c:pt idx="177">
                  <c:v>12</c:v>
                </c:pt>
                <c:pt idx="178">
                  <c:v>11.958959999999999</c:v>
                </c:pt>
                <c:pt idx="179">
                  <c:v>8.6959</c:v>
                </c:pt>
                <c:pt idx="180">
                  <c:v>12</c:v>
                </c:pt>
                <c:pt idx="181">
                  <c:v>12</c:v>
                </c:pt>
                <c:pt idx="182">
                  <c:v>12</c:v>
                </c:pt>
                <c:pt idx="183">
                  <c:v>12</c:v>
                </c:pt>
                <c:pt idx="184">
                  <c:v>12</c:v>
                </c:pt>
                <c:pt idx="185">
                  <c:v>12</c:v>
                </c:pt>
                <c:pt idx="186">
                  <c:v>12</c:v>
                </c:pt>
                <c:pt idx="187">
                  <c:v>12</c:v>
                </c:pt>
                <c:pt idx="188">
                  <c:v>12</c:v>
                </c:pt>
                <c:pt idx="189">
                  <c:v>12</c:v>
                </c:pt>
                <c:pt idx="190">
                  <c:v>12</c:v>
                </c:pt>
                <c:pt idx="191">
                  <c:v>11.99916</c:v>
                </c:pt>
                <c:pt idx="192">
                  <c:v>9.5848099999999992</c:v>
                </c:pt>
                <c:pt idx="193">
                  <c:v>7.1055600000000005</c:v>
                </c:pt>
                <c:pt idx="194">
                  <c:v>7.1175699999999997</c:v>
                </c:pt>
                <c:pt idx="195">
                  <c:v>5.1466000000000003</c:v>
                </c:pt>
                <c:pt idx="196">
                  <c:v>4.6133500000000005</c:v>
                </c:pt>
                <c:pt idx="197">
                  <c:v>4.1772200000000002</c:v>
                </c:pt>
                <c:pt idx="198">
                  <c:v>6.6471499999999999</c:v>
                </c:pt>
                <c:pt idx="199">
                  <c:v>5.8591800000000003</c:v>
                </c:pt>
                <c:pt idx="200">
                  <c:v>4.1961499999999994</c:v>
                </c:pt>
                <c:pt idx="201">
                  <c:v>4.51729</c:v>
                </c:pt>
                <c:pt idx="202">
                  <c:v>4.70669</c:v>
                </c:pt>
                <c:pt idx="203">
                  <c:v>5.1841099999999996</c:v>
                </c:pt>
                <c:pt idx="204">
                  <c:v>6.6845100000000004</c:v>
                </c:pt>
                <c:pt idx="205">
                  <c:v>4.7615299999999996</c:v>
                </c:pt>
                <c:pt idx="206">
                  <c:v>5.2616400000000008</c:v>
                </c:pt>
                <c:pt idx="207">
                  <c:v>3.9755799999999999</c:v>
                </c:pt>
                <c:pt idx="208">
                  <c:v>3.7576900000000002</c:v>
                </c:pt>
                <c:pt idx="209">
                  <c:v>3.6284099999999997</c:v>
                </c:pt>
                <c:pt idx="210">
                  <c:v>3.9414000000000002</c:v>
                </c:pt>
                <c:pt idx="211">
                  <c:v>4.5034399999999994</c:v>
                </c:pt>
                <c:pt idx="212">
                  <c:v>7.35867</c:v>
                </c:pt>
                <c:pt idx="213">
                  <c:v>5.9569700000000001</c:v>
                </c:pt>
                <c:pt idx="214">
                  <c:v>3.96902</c:v>
                </c:pt>
                <c:pt idx="215">
                  <c:v>5.2646300000000004</c:v>
                </c:pt>
                <c:pt idx="216">
                  <c:v>4.7457399999999996</c:v>
                </c:pt>
                <c:pt idx="217">
                  <c:v>5.0557400000000001</c:v>
                </c:pt>
                <c:pt idx="218">
                  <c:v>4.63096</c:v>
                </c:pt>
                <c:pt idx="219">
                  <c:v>5.3641699999999997</c:v>
                </c:pt>
                <c:pt idx="220">
                  <c:v>5.4355600000000006</c:v>
                </c:pt>
                <c:pt idx="221">
                  <c:v>7.49641</c:v>
                </c:pt>
                <c:pt idx="222">
                  <c:v>7.6840000000000002</c:v>
                </c:pt>
                <c:pt idx="223">
                  <c:v>6.2119600000000004</c:v>
                </c:pt>
                <c:pt idx="224">
                  <c:v>5.3586400000000003</c:v>
                </c:pt>
                <c:pt idx="225">
                  <c:v>6.5739399999999995</c:v>
                </c:pt>
                <c:pt idx="226">
                  <c:v>5.5331899999999994</c:v>
                </c:pt>
                <c:pt idx="227">
                  <c:v>6.5579399999999994</c:v>
                </c:pt>
                <c:pt idx="228">
                  <c:v>5.7292299999999994</c:v>
                </c:pt>
                <c:pt idx="229">
                  <c:v>6.6555299999999997</c:v>
                </c:pt>
                <c:pt idx="230">
                  <c:v>8.1164500000000004</c:v>
                </c:pt>
                <c:pt idx="231">
                  <c:v>12</c:v>
                </c:pt>
                <c:pt idx="232">
                  <c:v>12</c:v>
                </c:pt>
                <c:pt idx="233">
                  <c:v>6.7250800000000002</c:v>
                </c:pt>
                <c:pt idx="234">
                  <c:v>6.3406700000000003</c:v>
                </c:pt>
                <c:pt idx="235">
                  <c:v>4.6918500000000005</c:v>
                </c:pt>
                <c:pt idx="236">
                  <c:v>5.0613599999999996</c:v>
                </c:pt>
                <c:pt idx="237">
                  <c:v>4.6167899999999999</c:v>
                </c:pt>
                <c:pt idx="238">
                  <c:v>4.3369499999999999</c:v>
                </c:pt>
                <c:pt idx="239">
                  <c:v>4.50054</c:v>
                </c:pt>
                <c:pt idx="240">
                  <c:v>5.1288599999999995</c:v>
                </c:pt>
                <c:pt idx="241">
                  <c:v>6.7594899999999996</c:v>
                </c:pt>
                <c:pt idx="242">
                  <c:v>4.2605900000000005</c:v>
                </c:pt>
                <c:pt idx="243">
                  <c:v>4.9555400000000001</c:v>
                </c:pt>
                <c:pt idx="244">
                  <c:v>5.64175</c:v>
                </c:pt>
                <c:pt idx="245">
                  <c:v>5.95716</c:v>
                </c:pt>
                <c:pt idx="246">
                  <c:v>4.8824499999999995</c:v>
                </c:pt>
                <c:pt idx="247">
                  <c:v>4.2047400000000001</c:v>
                </c:pt>
                <c:pt idx="248">
                  <c:v>3.9783499999999998</c:v>
                </c:pt>
                <c:pt idx="249">
                  <c:v>3.8528800000000003</c:v>
                </c:pt>
                <c:pt idx="250">
                  <c:v>3.8658999999999999</c:v>
                </c:pt>
                <c:pt idx="251">
                  <c:v>4.07165</c:v>
                </c:pt>
                <c:pt idx="252">
                  <c:v>3.9289499999999999</c:v>
                </c:pt>
                <c:pt idx="253">
                  <c:v>4.3145800000000003</c:v>
                </c:pt>
                <c:pt idx="254">
                  <c:v>4.6399900000000001</c:v>
                </c:pt>
                <c:pt idx="255">
                  <c:v>4.7726199999999999</c:v>
                </c:pt>
                <c:pt idx="256">
                  <c:v>4.0982599999999998</c:v>
                </c:pt>
                <c:pt idx="257">
                  <c:v>3.7564600000000001</c:v>
                </c:pt>
                <c:pt idx="258">
                  <c:v>3.8462100000000001</c:v>
                </c:pt>
                <c:pt idx="259">
                  <c:v>4.2577499999999997</c:v>
                </c:pt>
                <c:pt idx="260">
                  <c:v>4.27834</c:v>
                </c:pt>
                <c:pt idx="261">
                  <c:v>4.4901899999999992</c:v>
                </c:pt>
                <c:pt idx="262">
                  <c:v>4.2745699999999998</c:v>
                </c:pt>
                <c:pt idx="263">
                  <c:v>4.9886400000000002</c:v>
                </c:pt>
                <c:pt idx="264">
                  <c:v>5.3854600000000001</c:v>
                </c:pt>
                <c:pt idx="265">
                  <c:v>5.6512600000000006</c:v>
                </c:pt>
                <c:pt idx="266">
                  <c:v>5.4576799999999999</c:v>
                </c:pt>
                <c:pt idx="267">
                  <c:v>7.2128999999999994</c:v>
                </c:pt>
                <c:pt idx="268">
                  <c:v>5.4067799999999995</c:v>
                </c:pt>
                <c:pt idx="269">
                  <c:v>4.9211099999999997</c:v>
                </c:pt>
                <c:pt idx="270">
                  <c:v>4.4408799999999999</c:v>
                </c:pt>
                <c:pt idx="271">
                  <c:v>4.8775699999999995</c:v>
                </c:pt>
                <c:pt idx="272">
                  <c:v>4.9639499999999996</c:v>
                </c:pt>
                <c:pt idx="273">
                  <c:v>6.1510600000000002</c:v>
                </c:pt>
                <c:pt idx="274">
                  <c:v>6.4341899999999992</c:v>
                </c:pt>
                <c:pt idx="275">
                  <c:v>7.6072600000000001</c:v>
                </c:pt>
                <c:pt idx="276">
                  <c:v>6.6598100000000002</c:v>
                </c:pt>
                <c:pt idx="277">
                  <c:v>5.8972299999999995</c:v>
                </c:pt>
                <c:pt idx="278">
                  <c:v>6.3347899999999999</c:v>
                </c:pt>
                <c:pt idx="279">
                  <c:v>5.4777299999999993</c:v>
                </c:pt>
                <c:pt idx="280">
                  <c:v>5.3096300000000003</c:v>
                </c:pt>
                <c:pt idx="281">
                  <c:v>5.5059899999999997</c:v>
                </c:pt>
                <c:pt idx="282">
                  <c:v>6.6564899999999998</c:v>
                </c:pt>
                <c:pt idx="283">
                  <c:v>5.6671300000000002</c:v>
                </c:pt>
                <c:pt idx="284">
                  <c:v>4.3474300000000001</c:v>
                </c:pt>
                <c:pt idx="285">
                  <c:v>4.4002299999999996</c:v>
                </c:pt>
                <c:pt idx="286">
                  <c:v>4.1318900000000003</c:v>
                </c:pt>
                <c:pt idx="287">
                  <c:v>4.3578700000000001</c:v>
                </c:pt>
                <c:pt idx="288">
                  <c:v>3.7655700000000003</c:v>
                </c:pt>
                <c:pt idx="289">
                  <c:v>3.8210500000000001</c:v>
                </c:pt>
                <c:pt idx="290">
                  <c:v>3.9317600000000001</c:v>
                </c:pt>
                <c:pt idx="291">
                  <c:v>4.0954299999999995</c:v>
                </c:pt>
                <c:pt idx="292">
                  <c:v>3.80185</c:v>
                </c:pt>
                <c:pt idx="293">
                  <c:v>4.3663100000000004</c:v>
                </c:pt>
                <c:pt idx="294">
                  <c:v>5.4260900000000003</c:v>
                </c:pt>
                <c:pt idx="295">
                  <c:v>5.4394999999999998</c:v>
                </c:pt>
                <c:pt idx="296">
                  <c:v>5.59619</c:v>
                </c:pt>
                <c:pt idx="297">
                  <c:v>5.7967700000000004</c:v>
                </c:pt>
                <c:pt idx="298">
                  <c:v>4.9974799999999995</c:v>
                </c:pt>
                <c:pt idx="299">
                  <c:v>5.7558999999999996</c:v>
                </c:pt>
                <c:pt idx="300">
                  <c:v>6.0118999999999998</c:v>
                </c:pt>
                <c:pt idx="301">
                  <c:v>5.8378900000000007</c:v>
                </c:pt>
                <c:pt idx="302">
                  <c:v>6.08629</c:v>
                </c:pt>
                <c:pt idx="303">
                  <c:v>6.5990600000000006</c:v>
                </c:pt>
                <c:pt idx="304">
                  <c:v>6.7695799999999995</c:v>
                </c:pt>
                <c:pt idx="305">
                  <c:v>8.1555600000000013</c:v>
                </c:pt>
                <c:pt idx="306">
                  <c:v>7.4577999999999998</c:v>
                </c:pt>
                <c:pt idx="307">
                  <c:v>7.4175800000000001</c:v>
                </c:pt>
                <c:pt idx="308">
                  <c:v>6.8932399999999996</c:v>
                </c:pt>
                <c:pt idx="309">
                  <c:v>6.7418199999999997</c:v>
                </c:pt>
                <c:pt idx="310">
                  <c:v>8.4337599999999995</c:v>
                </c:pt>
                <c:pt idx="311">
                  <c:v>7.6155200000000001</c:v>
                </c:pt>
                <c:pt idx="312">
                  <c:v>6.282</c:v>
                </c:pt>
                <c:pt idx="313">
                  <c:v>8.6520200000000003</c:v>
                </c:pt>
                <c:pt idx="314">
                  <c:v>6.75563</c:v>
                </c:pt>
                <c:pt idx="315">
                  <c:v>7.8575799999999996</c:v>
                </c:pt>
                <c:pt idx="316">
                  <c:v>5.4324899999999996</c:v>
                </c:pt>
                <c:pt idx="317">
                  <c:v>4.95967</c:v>
                </c:pt>
                <c:pt idx="318">
                  <c:v>4.9413299999999998</c:v>
                </c:pt>
                <c:pt idx="319">
                  <c:v>4.3308100000000005</c:v>
                </c:pt>
                <c:pt idx="320">
                  <c:v>4.7005400000000002</c:v>
                </c:pt>
                <c:pt idx="321">
                  <c:v>4.2281199999999997</c:v>
                </c:pt>
                <c:pt idx="322">
                  <c:v>4.6546799999999999</c:v>
                </c:pt>
                <c:pt idx="323">
                  <c:v>4.83216</c:v>
                </c:pt>
                <c:pt idx="324">
                  <c:v>4.6841599999999994</c:v>
                </c:pt>
                <c:pt idx="325">
                  <c:v>4.1935699999999994</c:v>
                </c:pt>
                <c:pt idx="326">
                  <c:v>4.6338999999999997</c:v>
                </c:pt>
                <c:pt idx="327">
                  <c:v>5.96563</c:v>
                </c:pt>
                <c:pt idx="328">
                  <c:v>5.0985100000000001</c:v>
                </c:pt>
                <c:pt idx="329">
                  <c:v>4.9181099999999995</c:v>
                </c:pt>
                <c:pt idx="330">
                  <c:v>4.5351699999999999</c:v>
                </c:pt>
                <c:pt idx="331">
                  <c:v>4.6848799999999997</c:v>
                </c:pt>
                <c:pt idx="332">
                  <c:v>4.4509399999999992</c:v>
                </c:pt>
                <c:pt idx="333">
                  <c:v>4.0204899999999997</c:v>
                </c:pt>
                <c:pt idx="334">
                  <c:v>5.9626800000000006</c:v>
                </c:pt>
                <c:pt idx="335">
                  <c:v>5.5895600000000005</c:v>
                </c:pt>
                <c:pt idx="336">
                  <c:v>7.1161199999999996</c:v>
                </c:pt>
                <c:pt idx="337">
                  <c:v>6.3389899999999999</c:v>
                </c:pt>
                <c:pt idx="338">
                  <c:v>5.3251800000000005</c:v>
                </c:pt>
                <c:pt idx="339">
                  <c:v>4.3764700000000003</c:v>
                </c:pt>
                <c:pt idx="340">
                  <c:v>4.0797699999999999</c:v>
                </c:pt>
                <c:pt idx="341">
                  <c:v>3.9081999999999999</c:v>
                </c:pt>
                <c:pt idx="342">
                  <c:v>4.0281000000000002</c:v>
                </c:pt>
                <c:pt idx="343">
                  <c:v>4.0436999999999994</c:v>
                </c:pt>
                <c:pt idx="344">
                  <c:v>4.31996</c:v>
                </c:pt>
                <c:pt idx="345">
                  <c:v>4.1747800000000002</c:v>
                </c:pt>
                <c:pt idx="346">
                  <c:v>4.4317799999999998</c:v>
                </c:pt>
                <c:pt idx="347">
                  <c:v>3.8425599999999998</c:v>
                </c:pt>
                <c:pt idx="348">
                  <c:v>4.2726300000000004</c:v>
                </c:pt>
                <c:pt idx="349">
                  <c:v>3.8081199999999997</c:v>
                </c:pt>
                <c:pt idx="350">
                  <c:v>3.8730599999999997</c:v>
                </c:pt>
                <c:pt idx="351">
                  <c:v>4.6325699999999994</c:v>
                </c:pt>
                <c:pt idx="352">
                  <c:v>4.6508500000000002</c:v>
                </c:pt>
                <c:pt idx="353">
                  <c:v>4.0159599999999998</c:v>
                </c:pt>
                <c:pt idx="354">
                  <c:v>3.5099299999999998</c:v>
                </c:pt>
                <c:pt idx="355">
                  <c:v>3.7593100000000002</c:v>
                </c:pt>
                <c:pt idx="356">
                  <c:v>4.0751100000000005</c:v>
                </c:pt>
                <c:pt idx="357">
                  <c:v>4.1932600000000004</c:v>
                </c:pt>
                <c:pt idx="358">
                  <c:v>4.0384899999999995</c:v>
                </c:pt>
                <c:pt idx="359">
                  <c:v>4.3671199999999999</c:v>
                </c:pt>
                <c:pt idx="360">
                  <c:v>3.6914699999999998</c:v>
                </c:pt>
                <c:pt idx="361">
                  <c:v>3.39663</c:v>
                </c:pt>
                <c:pt idx="362">
                  <c:v>4.0919299999999996</c:v>
                </c:pt>
                <c:pt idx="363">
                  <c:v>3.7415799999999999</c:v>
                </c:pt>
                <c:pt idx="364">
                  <c:v>3.47132</c:v>
                </c:pt>
                <c:pt idx="365">
                  <c:v>3.7897600000000002</c:v>
                </c:pt>
                <c:pt idx="366">
                  <c:v>4.1444700000000001</c:v>
                </c:pt>
                <c:pt idx="367">
                  <c:v>3.6614200000000001</c:v>
                </c:pt>
                <c:pt idx="368">
                  <c:v>3.6521599999999999</c:v>
                </c:pt>
                <c:pt idx="369">
                  <c:v>4.9722299999999997</c:v>
                </c:pt>
                <c:pt idx="370">
                  <c:v>4.6983800000000002</c:v>
                </c:pt>
                <c:pt idx="371">
                  <c:v>4.77102</c:v>
                </c:pt>
                <c:pt idx="372">
                  <c:v>4.6803500000000007</c:v>
                </c:pt>
                <c:pt idx="373">
                  <c:v>5.0442299999999998</c:v>
                </c:pt>
                <c:pt idx="374">
                  <c:v>4.49491</c:v>
                </c:pt>
                <c:pt idx="375">
                  <c:v>4.4874700000000001</c:v>
                </c:pt>
                <c:pt idx="376">
                  <c:v>6.0768500000000003</c:v>
                </c:pt>
                <c:pt idx="377">
                  <c:v>5.0919399999999992</c:v>
                </c:pt>
                <c:pt idx="378">
                  <c:v>5.3954399999999998</c:v>
                </c:pt>
                <c:pt idx="379">
                  <c:v>5.7064200000000005</c:v>
                </c:pt>
                <c:pt idx="380">
                  <c:v>4.7532500000000004</c:v>
                </c:pt>
                <c:pt idx="381">
                  <c:v>4.8666899999999993</c:v>
                </c:pt>
                <c:pt idx="382">
                  <c:v>4.0772500000000003</c:v>
                </c:pt>
                <c:pt idx="383">
                  <c:v>4.8660899999999998</c:v>
                </c:pt>
                <c:pt idx="384">
                  <c:v>5.2523100000000005</c:v>
                </c:pt>
                <c:pt idx="385">
                  <c:v>4.57742</c:v>
                </c:pt>
                <c:pt idx="386">
                  <c:v>4.9043900000000002</c:v>
                </c:pt>
                <c:pt idx="387">
                  <c:v>5.2203500000000007</c:v>
                </c:pt>
                <c:pt idx="388">
                  <c:v>4.7823400000000005</c:v>
                </c:pt>
                <c:pt idx="389">
                  <c:v>4.1876000000000007</c:v>
                </c:pt>
                <c:pt idx="390">
                  <c:v>5.5585000000000004</c:v>
                </c:pt>
                <c:pt idx="391">
                  <c:v>4.6549399999999999</c:v>
                </c:pt>
                <c:pt idx="392">
                  <c:v>5.8650500000000001</c:v>
                </c:pt>
                <c:pt idx="393">
                  <c:v>4.8329700000000004</c:v>
                </c:pt>
                <c:pt idx="394">
                  <c:v>5.1981999999999999</c:v>
                </c:pt>
                <c:pt idx="395">
                  <c:v>4.7327700000000004</c:v>
                </c:pt>
                <c:pt idx="396">
                  <c:v>4.2275600000000004</c:v>
                </c:pt>
                <c:pt idx="397">
                  <c:v>4.8965899999999998</c:v>
                </c:pt>
                <c:pt idx="398">
                  <c:v>4.4927900000000003</c:v>
                </c:pt>
                <c:pt idx="399">
                  <c:v>4.6694899999999997</c:v>
                </c:pt>
                <c:pt idx="400">
                  <c:v>4.9881800000000007</c:v>
                </c:pt>
                <c:pt idx="401">
                  <c:v>5.3564399999999992</c:v>
                </c:pt>
                <c:pt idx="402">
                  <c:v>5.1378300000000001</c:v>
                </c:pt>
                <c:pt idx="403">
                  <c:v>5.0485200000000008</c:v>
                </c:pt>
                <c:pt idx="404">
                  <c:v>5.2471199999999998</c:v>
                </c:pt>
                <c:pt idx="405">
                  <c:v>6.0356499999999995</c:v>
                </c:pt>
                <c:pt idx="406">
                  <c:v>4.9173999999999998</c:v>
                </c:pt>
                <c:pt idx="407">
                  <c:v>5.43485</c:v>
                </c:pt>
                <c:pt idx="408">
                  <c:v>5.3976099999999994</c:v>
                </c:pt>
                <c:pt idx="409">
                  <c:v>4.9469099999999999</c:v>
                </c:pt>
                <c:pt idx="410">
                  <c:v>4.0761500000000002</c:v>
                </c:pt>
                <c:pt idx="411">
                  <c:v>4.2611000000000008</c:v>
                </c:pt>
                <c:pt idx="412">
                  <c:v>4.2700399999999998</c:v>
                </c:pt>
                <c:pt idx="413">
                  <c:v>4.4264599999999996</c:v>
                </c:pt>
                <c:pt idx="414">
                  <c:v>4.6616599999999995</c:v>
                </c:pt>
                <c:pt idx="415">
                  <c:v>4.8458399999999999</c:v>
                </c:pt>
                <c:pt idx="416">
                  <c:v>5.0690200000000001</c:v>
                </c:pt>
                <c:pt idx="417">
                  <c:v>4.8723400000000003</c:v>
                </c:pt>
                <c:pt idx="418">
                  <c:v>5.4997499999999997</c:v>
                </c:pt>
                <c:pt idx="419">
                  <c:v>5.8194499999999998</c:v>
                </c:pt>
                <c:pt idx="420">
                  <c:v>5.6660000000000004</c:v>
                </c:pt>
                <c:pt idx="421">
                  <c:v>5.78756</c:v>
                </c:pt>
                <c:pt idx="422">
                  <c:v>5.8264100000000001</c:v>
                </c:pt>
                <c:pt idx="423">
                  <c:v>5.9597700000000007</c:v>
                </c:pt>
                <c:pt idx="424">
                  <c:v>4.5491299999999999</c:v>
                </c:pt>
                <c:pt idx="425">
                  <c:v>6.0440200000000006</c:v>
                </c:pt>
                <c:pt idx="426">
                  <c:v>6.6507700000000005</c:v>
                </c:pt>
                <c:pt idx="427">
                  <c:v>6.9383500000000007</c:v>
                </c:pt>
                <c:pt idx="428">
                  <c:v>5.2251700000000003</c:v>
                </c:pt>
                <c:pt idx="429">
                  <c:v>6.4748900000000003</c:v>
                </c:pt>
                <c:pt idx="430">
                  <c:v>5.5629900000000001</c:v>
                </c:pt>
                <c:pt idx="431">
                  <c:v>4.4922599999999999</c:v>
                </c:pt>
                <c:pt idx="432">
                  <c:v>6.5416499999999997</c:v>
                </c:pt>
                <c:pt idx="433">
                  <c:v>6.7039499999999999</c:v>
                </c:pt>
                <c:pt idx="434">
                  <c:v>5.4029300000000005</c:v>
                </c:pt>
                <c:pt idx="435">
                  <c:v>6.4371599999999995</c:v>
                </c:pt>
                <c:pt idx="436">
                  <c:v>8.2450200000000002</c:v>
                </c:pt>
                <c:pt idx="437">
                  <c:v>7.1636499999999996</c:v>
                </c:pt>
                <c:pt idx="438">
                  <c:v>7.0752499999999996</c:v>
                </c:pt>
                <c:pt idx="439">
                  <c:v>6.1497900000000003</c:v>
                </c:pt>
                <c:pt idx="440">
                  <c:v>7.2763800000000005</c:v>
                </c:pt>
                <c:pt idx="441">
                  <c:v>7.7641</c:v>
                </c:pt>
                <c:pt idx="442">
                  <c:v>9.2451799999999995</c:v>
                </c:pt>
                <c:pt idx="443">
                  <c:v>8.4007000000000005</c:v>
                </c:pt>
                <c:pt idx="444">
                  <c:v>7.7824200000000001</c:v>
                </c:pt>
                <c:pt idx="445">
                  <c:v>6.50915</c:v>
                </c:pt>
                <c:pt idx="446">
                  <c:v>7.4711699999999999</c:v>
                </c:pt>
                <c:pt idx="447">
                  <c:v>6.5891599999999997</c:v>
                </c:pt>
                <c:pt idx="448">
                  <c:v>6.2900400000000003</c:v>
                </c:pt>
                <c:pt idx="449">
                  <c:v>6.7338399999999998</c:v>
                </c:pt>
                <c:pt idx="450">
                  <c:v>6.8881099999999993</c:v>
                </c:pt>
                <c:pt idx="451">
                  <c:v>7.1386599999999998</c:v>
                </c:pt>
                <c:pt idx="452">
                  <c:v>6.4142799999999998</c:v>
                </c:pt>
                <c:pt idx="453">
                  <c:v>6.9101699999999999</c:v>
                </c:pt>
                <c:pt idx="454">
                  <c:v>6.8143400000000005</c:v>
                </c:pt>
                <c:pt idx="455">
                  <c:v>4.6380499999999998</c:v>
                </c:pt>
                <c:pt idx="456">
                  <c:v>4.1320500000000004</c:v>
                </c:pt>
                <c:pt idx="457">
                  <c:v>4.6658599999999995</c:v>
                </c:pt>
                <c:pt idx="458">
                  <c:v>4.9286799999999999</c:v>
                </c:pt>
                <c:pt idx="459">
                  <c:v>4.3329700000000004</c:v>
                </c:pt>
                <c:pt idx="460">
                  <c:v>5.2169999999999996</c:v>
                </c:pt>
                <c:pt idx="461">
                  <c:v>5.3068599999999995</c:v>
                </c:pt>
                <c:pt idx="462">
                  <c:v>4.8517000000000001</c:v>
                </c:pt>
                <c:pt idx="463">
                  <c:v>5.7968700000000002</c:v>
                </c:pt>
                <c:pt idx="464">
                  <c:v>5.4391099999999994</c:v>
                </c:pt>
                <c:pt idx="465">
                  <c:v>4.9932100000000004</c:v>
                </c:pt>
                <c:pt idx="466">
                  <c:v>5.7358799999999999</c:v>
                </c:pt>
                <c:pt idx="467">
                  <c:v>6.0050299999999996</c:v>
                </c:pt>
                <c:pt idx="468">
                  <c:v>5.8292200000000003</c:v>
                </c:pt>
                <c:pt idx="469">
                  <c:v>4.6549199999999997</c:v>
                </c:pt>
                <c:pt idx="470">
                  <c:v>4.8756400000000006</c:v>
                </c:pt>
                <c:pt idx="471">
                  <c:v>5.6766399999999999</c:v>
                </c:pt>
                <c:pt idx="472">
                  <c:v>5.5538500000000006</c:v>
                </c:pt>
                <c:pt idx="473">
                  <c:v>5.4195500000000001</c:v>
                </c:pt>
                <c:pt idx="474">
                  <c:v>5.9210000000000003</c:v>
                </c:pt>
                <c:pt idx="475">
                  <c:v>6.9350500000000004</c:v>
                </c:pt>
                <c:pt idx="476">
                  <c:v>7.2172900000000002</c:v>
                </c:pt>
                <c:pt idx="477">
                  <c:v>8.805909999999999</c:v>
                </c:pt>
                <c:pt idx="478">
                  <c:v>8.414909999999999</c:v>
                </c:pt>
                <c:pt idx="479">
                  <c:v>8.5683899999999991</c:v>
                </c:pt>
                <c:pt idx="480">
                  <c:v>7.6051599999999997</c:v>
                </c:pt>
                <c:pt idx="481">
                  <c:v>8.3224</c:v>
                </c:pt>
                <c:pt idx="482">
                  <c:v>8.1052700000000009</c:v>
                </c:pt>
                <c:pt idx="483">
                  <c:v>7.6062200000000004</c:v>
                </c:pt>
                <c:pt idx="484">
                  <c:v>7.19963</c:v>
                </c:pt>
                <c:pt idx="485">
                  <c:v>7.8313300000000003</c:v>
                </c:pt>
                <c:pt idx="486">
                  <c:v>7.6391899999999993</c:v>
                </c:pt>
                <c:pt idx="487">
                  <c:v>6.1815299999999995</c:v>
                </c:pt>
                <c:pt idx="488">
                  <c:v>8.6314400000000013</c:v>
                </c:pt>
                <c:pt idx="489">
                  <c:v>7.5371899999999998</c:v>
                </c:pt>
              </c:numCache>
            </c:numRef>
          </c:val>
          <c:smooth val="0"/>
          <c:extLst>
            <c:ext xmlns:c16="http://schemas.microsoft.com/office/drawing/2014/chart" uri="{C3380CC4-5D6E-409C-BE32-E72D297353CC}">
              <c16:uniqueId val="{00000000-F98D-4ACB-8CE9-207723C6EEC3}"/>
            </c:ext>
          </c:extLst>
        </c:ser>
        <c:dLbls>
          <c:showLegendKey val="0"/>
          <c:showVal val="0"/>
          <c:showCatName val="0"/>
          <c:showSerName val="0"/>
          <c:showPercent val="0"/>
          <c:showBubbleSize val="0"/>
        </c:dLbls>
        <c:marker val="1"/>
        <c:smooth val="0"/>
        <c:axId val="917228223"/>
        <c:axId val="917226975"/>
      </c:lineChart>
      <c:catAx>
        <c:axId val="917228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6975"/>
        <c:crosses val="autoZero"/>
        <c:auto val="1"/>
        <c:lblAlgn val="ctr"/>
        <c:lblOffset val="100"/>
        <c:noMultiLvlLbl val="0"/>
      </c:catAx>
      <c:valAx>
        <c:axId val="917226975"/>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8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004F59"/>
      </a:solidFill>
    </a:ln>
    <a:effectLst/>
  </c:spPr>
  <c:txPr>
    <a:bodyPr/>
    <a:lstStyle/>
    <a:p>
      <a:pPr>
        <a:defRPr sz="12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US" b="1" dirty="0"/>
              <a:t>Final Scheduled Volume – Non-Solar (MWh)</a:t>
            </a:r>
          </a:p>
        </c:rich>
      </c:tx>
      <c:layout>
        <c:manualLayout>
          <c:xMode val="edge"/>
          <c:yMode val="edge"/>
          <c:x val="0.23367307209472415"/>
          <c:y val="2.7343758410358764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Final Scheduled Volume - Non-Solar (MWh)</c:v>
                </c:pt>
              </c:strCache>
            </c:strRef>
          </c:tx>
          <c:spPr>
            <a:ln w="28575" cap="rnd">
              <a:solidFill>
                <a:schemeClr val="tx1">
                  <a:lumMod val="75000"/>
                  <a:lumOff val="25000"/>
                </a:schemeClr>
              </a:solidFill>
              <a:round/>
            </a:ln>
            <a:effectLst/>
          </c:spPr>
          <c:marker>
            <c:symbol val="circle"/>
            <c:size val="5"/>
            <c:spPr>
              <a:solidFill>
                <a:schemeClr val="tx1">
                  <a:lumMod val="50000"/>
                  <a:lumOff val="50000"/>
                </a:schemeClr>
              </a:solidFill>
              <a:ln w="9525">
                <a:solidFill>
                  <a:schemeClr val="tx1">
                    <a:lumMod val="75000"/>
                    <a:lumOff val="25000"/>
                  </a:schemeClr>
                </a:solidFill>
              </a:ln>
              <a:effectLst/>
            </c:spPr>
          </c:marker>
          <c:cat>
            <c:strRef>
              <c:f>Sheet1!$A$2:$A$491</c:f>
              <c:strCache>
                <c:ptCount val="490"/>
                <c:pt idx="0">
                  <c:v>27-10-2021</c:v>
                </c:pt>
                <c:pt idx="1">
                  <c:v>28-10-2021</c:v>
                </c:pt>
                <c:pt idx="2">
                  <c:v>29-10-2021</c:v>
                </c:pt>
                <c:pt idx="3">
                  <c:v>30-10-2021</c:v>
                </c:pt>
                <c:pt idx="4">
                  <c:v>31-10-2021</c:v>
                </c:pt>
                <c:pt idx="5">
                  <c:v>01-11-2021</c:v>
                </c:pt>
                <c:pt idx="6">
                  <c:v>02-11-2021</c:v>
                </c:pt>
                <c:pt idx="7">
                  <c:v>03-11-2021</c:v>
                </c:pt>
                <c:pt idx="8">
                  <c:v>04-11-2021</c:v>
                </c:pt>
                <c:pt idx="9">
                  <c:v>05-11-2021</c:v>
                </c:pt>
                <c:pt idx="10">
                  <c:v>06-11-2021</c:v>
                </c:pt>
                <c:pt idx="11">
                  <c:v>07-11-2021</c:v>
                </c:pt>
                <c:pt idx="12">
                  <c:v>08-11-2021</c:v>
                </c:pt>
                <c:pt idx="13">
                  <c:v>09-11-2021</c:v>
                </c:pt>
                <c:pt idx="14">
                  <c:v>10-11-2021</c:v>
                </c:pt>
                <c:pt idx="15">
                  <c:v>11-11-2021</c:v>
                </c:pt>
                <c:pt idx="16">
                  <c:v>12-11-2021</c:v>
                </c:pt>
                <c:pt idx="17">
                  <c:v>13-11-2021</c:v>
                </c:pt>
                <c:pt idx="18">
                  <c:v>14-11-2021</c:v>
                </c:pt>
                <c:pt idx="19">
                  <c:v>15-11-2021</c:v>
                </c:pt>
                <c:pt idx="20">
                  <c:v>16-11-2021</c:v>
                </c:pt>
                <c:pt idx="21">
                  <c:v>17-11-2021</c:v>
                </c:pt>
                <c:pt idx="22">
                  <c:v>18-11-2021</c:v>
                </c:pt>
                <c:pt idx="23">
                  <c:v>19-11-2021</c:v>
                </c:pt>
                <c:pt idx="24">
                  <c:v>20-11-2021</c:v>
                </c:pt>
                <c:pt idx="25">
                  <c:v>21-11-2021</c:v>
                </c:pt>
                <c:pt idx="26">
                  <c:v>22-11-2021</c:v>
                </c:pt>
                <c:pt idx="27">
                  <c:v>23-11-2021</c:v>
                </c:pt>
                <c:pt idx="28">
                  <c:v>24-11-2021</c:v>
                </c:pt>
                <c:pt idx="29">
                  <c:v>25-11-2021</c:v>
                </c:pt>
                <c:pt idx="30">
                  <c:v>26-11-2021</c:v>
                </c:pt>
                <c:pt idx="31">
                  <c:v>27-11-2021</c:v>
                </c:pt>
                <c:pt idx="32">
                  <c:v>28-11-2021</c:v>
                </c:pt>
                <c:pt idx="33">
                  <c:v>29-11-2021</c:v>
                </c:pt>
                <c:pt idx="34">
                  <c:v>30-11-2021</c:v>
                </c:pt>
                <c:pt idx="35">
                  <c:v>01-12-2021</c:v>
                </c:pt>
                <c:pt idx="36">
                  <c:v>02-12-2021</c:v>
                </c:pt>
                <c:pt idx="37">
                  <c:v>03-12-2021</c:v>
                </c:pt>
                <c:pt idx="38">
                  <c:v>04-12-2021</c:v>
                </c:pt>
                <c:pt idx="39">
                  <c:v>05-12-2021</c:v>
                </c:pt>
                <c:pt idx="40">
                  <c:v>06-12-2021</c:v>
                </c:pt>
                <c:pt idx="41">
                  <c:v>07-12-2021</c:v>
                </c:pt>
                <c:pt idx="42">
                  <c:v>08-12-2021</c:v>
                </c:pt>
                <c:pt idx="43">
                  <c:v>09-12-2021</c:v>
                </c:pt>
                <c:pt idx="44">
                  <c:v>10-12-2021</c:v>
                </c:pt>
                <c:pt idx="45">
                  <c:v>11-12-2021</c:v>
                </c:pt>
                <c:pt idx="46">
                  <c:v>12-12-2021</c:v>
                </c:pt>
                <c:pt idx="47">
                  <c:v>13-12-2021</c:v>
                </c:pt>
                <c:pt idx="48">
                  <c:v>14-12-2021</c:v>
                </c:pt>
                <c:pt idx="49">
                  <c:v>15-12-2021</c:v>
                </c:pt>
                <c:pt idx="50">
                  <c:v>16-12-2021</c:v>
                </c:pt>
                <c:pt idx="51">
                  <c:v>17-12-2021</c:v>
                </c:pt>
                <c:pt idx="52">
                  <c:v>18-12-2021</c:v>
                </c:pt>
                <c:pt idx="53">
                  <c:v>19-12-2021</c:v>
                </c:pt>
                <c:pt idx="54">
                  <c:v>20-12-2021</c:v>
                </c:pt>
                <c:pt idx="55">
                  <c:v>21-12-2021</c:v>
                </c:pt>
                <c:pt idx="56">
                  <c:v>22-12-2021</c:v>
                </c:pt>
                <c:pt idx="57">
                  <c:v>23-12-2021</c:v>
                </c:pt>
                <c:pt idx="58">
                  <c:v>24-12-2021</c:v>
                </c:pt>
                <c:pt idx="59">
                  <c:v>25-12-2021</c:v>
                </c:pt>
                <c:pt idx="60">
                  <c:v>26-12-2021</c:v>
                </c:pt>
                <c:pt idx="61">
                  <c:v>27-12-2021</c:v>
                </c:pt>
                <c:pt idx="62">
                  <c:v>28-12-2021</c:v>
                </c:pt>
                <c:pt idx="63">
                  <c:v>29-12-2021</c:v>
                </c:pt>
                <c:pt idx="64">
                  <c:v>30-12-2021</c:v>
                </c:pt>
                <c:pt idx="65">
                  <c:v>31-12-2021</c:v>
                </c:pt>
                <c:pt idx="66">
                  <c:v>01-01-2022</c:v>
                </c:pt>
                <c:pt idx="67">
                  <c:v>02-01-2022</c:v>
                </c:pt>
                <c:pt idx="68">
                  <c:v>03-01-2022</c:v>
                </c:pt>
                <c:pt idx="69">
                  <c:v>04-01-2022</c:v>
                </c:pt>
                <c:pt idx="70">
                  <c:v>05-01-2022</c:v>
                </c:pt>
                <c:pt idx="71">
                  <c:v>06-01-2022</c:v>
                </c:pt>
                <c:pt idx="72">
                  <c:v>07-01-2022</c:v>
                </c:pt>
                <c:pt idx="73">
                  <c:v>08-01-2022</c:v>
                </c:pt>
                <c:pt idx="74">
                  <c:v>09-01-2022</c:v>
                </c:pt>
                <c:pt idx="75">
                  <c:v>10-01-2022</c:v>
                </c:pt>
                <c:pt idx="76">
                  <c:v>11-01-2022</c:v>
                </c:pt>
                <c:pt idx="77">
                  <c:v>12-01-2022</c:v>
                </c:pt>
                <c:pt idx="78">
                  <c:v>13-01-2022</c:v>
                </c:pt>
                <c:pt idx="79">
                  <c:v>14-01-2022</c:v>
                </c:pt>
                <c:pt idx="80">
                  <c:v>15-01-2022</c:v>
                </c:pt>
                <c:pt idx="81">
                  <c:v>16-01-2022</c:v>
                </c:pt>
                <c:pt idx="82">
                  <c:v>17-01-2022</c:v>
                </c:pt>
                <c:pt idx="83">
                  <c:v>18-01-2022</c:v>
                </c:pt>
                <c:pt idx="84">
                  <c:v>19-01-2022</c:v>
                </c:pt>
                <c:pt idx="85">
                  <c:v>20-01-2022</c:v>
                </c:pt>
                <c:pt idx="86">
                  <c:v>21-01-2022</c:v>
                </c:pt>
                <c:pt idx="87">
                  <c:v>22-01-2022</c:v>
                </c:pt>
                <c:pt idx="88">
                  <c:v>23-01-2022</c:v>
                </c:pt>
                <c:pt idx="89">
                  <c:v>24-01-2022</c:v>
                </c:pt>
                <c:pt idx="90">
                  <c:v>25-01-2022</c:v>
                </c:pt>
                <c:pt idx="91">
                  <c:v>26-01-2022</c:v>
                </c:pt>
                <c:pt idx="92">
                  <c:v>27-01-2022</c:v>
                </c:pt>
                <c:pt idx="93">
                  <c:v>28-01-2022</c:v>
                </c:pt>
                <c:pt idx="94">
                  <c:v>29-01-2022</c:v>
                </c:pt>
                <c:pt idx="95">
                  <c:v>30-01-2022</c:v>
                </c:pt>
                <c:pt idx="96">
                  <c:v>31-01-2022</c:v>
                </c:pt>
                <c:pt idx="97">
                  <c:v>01-02-2022</c:v>
                </c:pt>
                <c:pt idx="98">
                  <c:v>02-02-2022</c:v>
                </c:pt>
                <c:pt idx="99">
                  <c:v>03-02-2022</c:v>
                </c:pt>
                <c:pt idx="100">
                  <c:v>04-02-2022</c:v>
                </c:pt>
                <c:pt idx="101">
                  <c:v>05-02-2022</c:v>
                </c:pt>
                <c:pt idx="102">
                  <c:v>06-02-2022</c:v>
                </c:pt>
                <c:pt idx="103">
                  <c:v>07-02-2022</c:v>
                </c:pt>
                <c:pt idx="104">
                  <c:v>08-02-2022</c:v>
                </c:pt>
                <c:pt idx="105">
                  <c:v>09-02-2022</c:v>
                </c:pt>
                <c:pt idx="106">
                  <c:v>10-02-2022</c:v>
                </c:pt>
                <c:pt idx="107">
                  <c:v>11-02-2022</c:v>
                </c:pt>
                <c:pt idx="108">
                  <c:v>12-02-2022</c:v>
                </c:pt>
                <c:pt idx="109">
                  <c:v>13-02-2022</c:v>
                </c:pt>
                <c:pt idx="110">
                  <c:v>14-02-2022</c:v>
                </c:pt>
                <c:pt idx="111">
                  <c:v>15-02-2022</c:v>
                </c:pt>
                <c:pt idx="112">
                  <c:v>16-02-2022</c:v>
                </c:pt>
                <c:pt idx="113">
                  <c:v>17-02-2022</c:v>
                </c:pt>
                <c:pt idx="114">
                  <c:v>18-02-2022</c:v>
                </c:pt>
                <c:pt idx="115">
                  <c:v>19-02-2022</c:v>
                </c:pt>
                <c:pt idx="116">
                  <c:v>20-02-2022</c:v>
                </c:pt>
                <c:pt idx="117">
                  <c:v>21-02-2022</c:v>
                </c:pt>
                <c:pt idx="118">
                  <c:v>22-02-2022</c:v>
                </c:pt>
                <c:pt idx="119">
                  <c:v>23-02-2022</c:v>
                </c:pt>
                <c:pt idx="120">
                  <c:v>24-02-2022</c:v>
                </c:pt>
                <c:pt idx="121">
                  <c:v>25-02-2022</c:v>
                </c:pt>
                <c:pt idx="122">
                  <c:v>26-02-2022</c:v>
                </c:pt>
                <c:pt idx="123">
                  <c:v>27-02-2022</c:v>
                </c:pt>
                <c:pt idx="124">
                  <c:v>28-02-2022</c:v>
                </c:pt>
                <c:pt idx="125">
                  <c:v>01-03-2022</c:v>
                </c:pt>
                <c:pt idx="126">
                  <c:v>02-03-2022</c:v>
                </c:pt>
                <c:pt idx="127">
                  <c:v>03-03-2022</c:v>
                </c:pt>
                <c:pt idx="128">
                  <c:v>04-03-2022</c:v>
                </c:pt>
                <c:pt idx="129">
                  <c:v>05-03-2022</c:v>
                </c:pt>
                <c:pt idx="130">
                  <c:v>06-03-2022</c:v>
                </c:pt>
                <c:pt idx="131">
                  <c:v>07-03-2022</c:v>
                </c:pt>
                <c:pt idx="132">
                  <c:v>08-03-2022</c:v>
                </c:pt>
                <c:pt idx="133">
                  <c:v>09-03-2022</c:v>
                </c:pt>
                <c:pt idx="134">
                  <c:v>10-03-2022</c:v>
                </c:pt>
                <c:pt idx="135">
                  <c:v>11-03-2022</c:v>
                </c:pt>
                <c:pt idx="136">
                  <c:v>12-03-2022</c:v>
                </c:pt>
                <c:pt idx="137">
                  <c:v>13-03-2022</c:v>
                </c:pt>
                <c:pt idx="138">
                  <c:v>14-03-2022</c:v>
                </c:pt>
                <c:pt idx="139">
                  <c:v>15-03-2022</c:v>
                </c:pt>
                <c:pt idx="140">
                  <c:v>16-03-2022</c:v>
                </c:pt>
                <c:pt idx="141">
                  <c:v>17-03-2022</c:v>
                </c:pt>
                <c:pt idx="142">
                  <c:v>18-03-2022</c:v>
                </c:pt>
                <c:pt idx="143">
                  <c:v>19-03-2022</c:v>
                </c:pt>
                <c:pt idx="144">
                  <c:v>20-03-2022</c:v>
                </c:pt>
                <c:pt idx="145">
                  <c:v>21-03-2022</c:v>
                </c:pt>
                <c:pt idx="146">
                  <c:v>22-03-2022</c:v>
                </c:pt>
                <c:pt idx="147">
                  <c:v>23-03-2022</c:v>
                </c:pt>
                <c:pt idx="148">
                  <c:v>24-03-2022</c:v>
                </c:pt>
                <c:pt idx="149">
                  <c:v>25-03-2022</c:v>
                </c:pt>
                <c:pt idx="150">
                  <c:v>26-03-2022</c:v>
                </c:pt>
                <c:pt idx="151">
                  <c:v>27-03-2022</c:v>
                </c:pt>
                <c:pt idx="152">
                  <c:v>28-03-2022</c:v>
                </c:pt>
                <c:pt idx="153">
                  <c:v>29-03-2022</c:v>
                </c:pt>
                <c:pt idx="154">
                  <c:v>30-03-2022</c:v>
                </c:pt>
                <c:pt idx="155">
                  <c:v>31-03-2022</c:v>
                </c:pt>
                <c:pt idx="156">
                  <c:v>01-04-2022</c:v>
                </c:pt>
                <c:pt idx="157">
                  <c:v>02-04-2022</c:v>
                </c:pt>
                <c:pt idx="158">
                  <c:v>03-04-2022</c:v>
                </c:pt>
                <c:pt idx="159">
                  <c:v>04-04-2022</c:v>
                </c:pt>
                <c:pt idx="160">
                  <c:v>05-04-2022</c:v>
                </c:pt>
                <c:pt idx="161">
                  <c:v>06-04-2022</c:v>
                </c:pt>
                <c:pt idx="162">
                  <c:v>07-04-2022</c:v>
                </c:pt>
                <c:pt idx="163">
                  <c:v>08-04-2022</c:v>
                </c:pt>
                <c:pt idx="164">
                  <c:v>09-04-2022</c:v>
                </c:pt>
                <c:pt idx="165">
                  <c:v>10-04-2022</c:v>
                </c:pt>
                <c:pt idx="166">
                  <c:v>11-04-2022</c:v>
                </c:pt>
                <c:pt idx="167">
                  <c:v>12-04-2022</c:v>
                </c:pt>
                <c:pt idx="168">
                  <c:v>13-04-2022</c:v>
                </c:pt>
                <c:pt idx="169">
                  <c:v>14-04-2022</c:v>
                </c:pt>
                <c:pt idx="170">
                  <c:v>15-04-2022</c:v>
                </c:pt>
                <c:pt idx="171">
                  <c:v>16-04-2022</c:v>
                </c:pt>
                <c:pt idx="172">
                  <c:v>17-04-2022</c:v>
                </c:pt>
                <c:pt idx="173">
                  <c:v>18-04-2022</c:v>
                </c:pt>
                <c:pt idx="174">
                  <c:v>19-04-2022</c:v>
                </c:pt>
                <c:pt idx="175">
                  <c:v>20-04-2022</c:v>
                </c:pt>
                <c:pt idx="176">
                  <c:v>21-04-2022</c:v>
                </c:pt>
                <c:pt idx="177">
                  <c:v>22-04-2022</c:v>
                </c:pt>
                <c:pt idx="178">
                  <c:v>23-04-2022</c:v>
                </c:pt>
                <c:pt idx="179">
                  <c:v>24-04-2022</c:v>
                </c:pt>
                <c:pt idx="180">
                  <c:v>25-04-2022</c:v>
                </c:pt>
                <c:pt idx="181">
                  <c:v>26-04-2022</c:v>
                </c:pt>
                <c:pt idx="182">
                  <c:v>27-04-2022</c:v>
                </c:pt>
                <c:pt idx="183">
                  <c:v>28-04-2022</c:v>
                </c:pt>
                <c:pt idx="184">
                  <c:v>29-04-2022</c:v>
                </c:pt>
                <c:pt idx="185">
                  <c:v>30-04-2022</c:v>
                </c:pt>
                <c:pt idx="186">
                  <c:v>01-05-2022</c:v>
                </c:pt>
                <c:pt idx="187">
                  <c:v>02-05-2022</c:v>
                </c:pt>
                <c:pt idx="188">
                  <c:v>03-05-2022</c:v>
                </c:pt>
                <c:pt idx="189">
                  <c:v>04-05-2022</c:v>
                </c:pt>
                <c:pt idx="190">
                  <c:v>05-05-2022</c:v>
                </c:pt>
                <c:pt idx="191">
                  <c:v>06-05-2022</c:v>
                </c:pt>
                <c:pt idx="192">
                  <c:v>07-05-2022</c:v>
                </c:pt>
                <c:pt idx="193">
                  <c:v>08-05-2022</c:v>
                </c:pt>
                <c:pt idx="194">
                  <c:v>09-05-2022</c:v>
                </c:pt>
                <c:pt idx="195">
                  <c:v>10-05-2022</c:v>
                </c:pt>
                <c:pt idx="196">
                  <c:v>11-05-2022</c:v>
                </c:pt>
                <c:pt idx="197">
                  <c:v>12-05-2022</c:v>
                </c:pt>
                <c:pt idx="198">
                  <c:v>13-05-2022</c:v>
                </c:pt>
                <c:pt idx="199">
                  <c:v>14-05-2022</c:v>
                </c:pt>
                <c:pt idx="200">
                  <c:v>15-05-2022</c:v>
                </c:pt>
                <c:pt idx="201">
                  <c:v>16-05-2022</c:v>
                </c:pt>
                <c:pt idx="202">
                  <c:v>17-05-2022</c:v>
                </c:pt>
                <c:pt idx="203">
                  <c:v>18-05-2022</c:v>
                </c:pt>
                <c:pt idx="204">
                  <c:v>19-05-2022</c:v>
                </c:pt>
                <c:pt idx="205">
                  <c:v>20-05-2022</c:v>
                </c:pt>
                <c:pt idx="206">
                  <c:v>21-05-2022</c:v>
                </c:pt>
                <c:pt idx="207">
                  <c:v>22-05-2022</c:v>
                </c:pt>
                <c:pt idx="208">
                  <c:v>23-05-2022</c:v>
                </c:pt>
                <c:pt idx="209">
                  <c:v>24-05-2022</c:v>
                </c:pt>
                <c:pt idx="210">
                  <c:v>25-05-2022</c:v>
                </c:pt>
                <c:pt idx="211">
                  <c:v>26-05-2022</c:v>
                </c:pt>
                <c:pt idx="212">
                  <c:v>27-05-2022</c:v>
                </c:pt>
                <c:pt idx="213">
                  <c:v>28-05-2022</c:v>
                </c:pt>
                <c:pt idx="214">
                  <c:v>29-05-2022</c:v>
                </c:pt>
                <c:pt idx="215">
                  <c:v>30-05-2022</c:v>
                </c:pt>
                <c:pt idx="216">
                  <c:v>31-05-2022</c:v>
                </c:pt>
                <c:pt idx="217">
                  <c:v>01-06-2022</c:v>
                </c:pt>
                <c:pt idx="218">
                  <c:v>02-06-2022</c:v>
                </c:pt>
                <c:pt idx="219">
                  <c:v>03-06-2022</c:v>
                </c:pt>
                <c:pt idx="220">
                  <c:v>04-06-2022</c:v>
                </c:pt>
                <c:pt idx="221">
                  <c:v>05-06-2022</c:v>
                </c:pt>
                <c:pt idx="222">
                  <c:v>06-06-2022</c:v>
                </c:pt>
                <c:pt idx="223">
                  <c:v>07-06-2022</c:v>
                </c:pt>
                <c:pt idx="224">
                  <c:v>08-06-2022</c:v>
                </c:pt>
                <c:pt idx="225">
                  <c:v>09-06-2022</c:v>
                </c:pt>
                <c:pt idx="226">
                  <c:v>10-06-2022</c:v>
                </c:pt>
                <c:pt idx="227">
                  <c:v>11-06-2022</c:v>
                </c:pt>
                <c:pt idx="228">
                  <c:v>12-06-2022</c:v>
                </c:pt>
                <c:pt idx="229">
                  <c:v>13-06-2022</c:v>
                </c:pt>
                <c:pt idx="230">
                  <c:v>14-06-2022</c:v>
                </c:pt>
                <c:pt idx="231">
                  <c:v>15-06-2022</c:v>
                </c:pt>
                <c:pt idx="232">
                  <c:v>16-06-2022</c:v>
                </c:pt>
                <c:pt idx="233">
                  <c:v>17-06-2022</c:v>
                </c:pt>
                <c:pt idx="234">
                  <c:v>18-06-2022</c:v>
                </c:pt>
                <c:pt idx="235">
                  <c:v>19-06-2022</c:v>
                </c:pt>
                <c:pt idx="236">
                  <c:v>20-06-2022</c:v>
                </c:pt>
                <c:pt idx="237">
                  <c:v>21-06-2022</c:v>
                </c:pt>
                <c:pt idx="238">
                  <c:v>22-06-2022</c:v>
                </c:pt>
                <c:pt idx="239">
                  <c:v>23-06-2022</c:v>
                </c:pt>
                <c:pt idx="240">
                  <c:v>24-06-2022</c:v>
                </c:pt>
                <c:pt idx="241">
                  <c:v>25-06-2022</c:v>
                </c:pt>
                <c:pt idx="242">
                  <c:v>26-06-2022</c:v>
                </c:pt>
                <c:pt idx="243">
                  <c:v>27-06-2022</c:v>
                </c:pt>
                <c:pt idx="244">
                  <c:v>28-06-2022</c:v>
                </c:pt>
                <c:pt idx="245">
                  <c:v>29-06-2022</c:v>
                </c:pt>
                <c:pt idx="246">
                  <c:v>30-06-2022</c:v>
                </c:pt>
                <c:pt idx="247">
                  <c:v>01-07-2022</c:v>
                </c:pt>
                <c:pt idx="248">
                  <c:v>02-07-2022</c:v>
                </c:pt>
                <c:pt idx="249">
                  <c:v>03-07-2022</c:v>
                </c:pt>
                <c:pt idx="250">
                  <c:v>04-07-2022</c:v>
                </c:pt>
                <c:pt idx="251">
                  <c:v>05-07-2022</c:v>
                </c:pt>
                <c:pt idx="252">
                  <c:v>06-07-2022</c:v>
                </c:pt>
                <c:pt idx="253">
                  <c:v>07-07-2022</c:v>
                </c:pt>
                <c:pt idx="254">
                  <c:v>08-07-2022</c:v>
                </c:pt>
                <c:pt idx="255">
                  <c:v>09-07-2022</c:v>
                </c:pt>
                <c:pt idx="256">
                  <c:v>10-07-2022</c:v>
                </c:pt>
                <c:pt idx="257">
                  <c:v>11-07-2022</c:v>
                </c:pt>
                <c:pt idx="258">
                  <c:v>12-07-2022</c:v>
                </c:pt>
                <c:pt idx="259">
                  <c:v>13-07-2022</c:v>
                </c:pt>
                <c:pt idx="260">
                  <c:v>14-07-2022</c:v>
                </c:pt>
                <c:pt idx="261">
                  <c:v>15-07-2022</c:v>
                </c:pt>
                <c:pt idx="262">
                  <c:v>16-07-2022</c:v>
                </c:pt>
                <c:pt idx="263">
                  <c:v>17-07-2022</c:v>
                </c:pt>
                <c:pt idx="264">
                  <c:v>18-07-2022</c:v>
                </c:pt>
                <c:pt idx="265">
                  <c:v>19-07-2022</c:v>
                </c:pt>
                <c:pt idx="266">
                  <c:v>20-07-2022</c:v>
                </c:pt>
                <c:pt idx="267">
                  <c:v>21-07-2022</c:v>
                </c:pt>
                <c:pt idx="268">
                  <c:v>22-07-2022</c:v>
                </c:pt>
                <c:pt idx="269">
                  <c:v>23-07-2022</c:v>
                </c:pt>
                <c:pt idx="270">
                  <c:v>24-07-2022</c:v>
                </c:pt>
                <c:pt idx="271">
                  <c:v>25-07-2022</c:v>
                </c:pt>
                <c:pt idx="272">
                  <c:v>26-07-2022</c:v>
                </c:pt>
                <c:pt idx="273">
                  <c:v>27-07-2022</c:v>
                </c:pt>
                <c:pt idx="274">
                  <c:v>28-07-2022</c:v>
                </c:pt>
                <c:pt idx="275">
                  <c:v>29-07-2022</c:v>
                </c:pt>
                <c:pt idx="276">
                  <c:v>30-07-2022</c:v>
                </c:pt>
                <c:pt idx="277">
                  <c:v>31-07-2022</c:v>
                </c:pt>
                <c:pt idx="278">
                  <c:v>01-08-2022</c:v>
                </c:pt>
                <c:pt idx="279">
                  <c:v>02-08-2022</c:v>
                </c:pt>
                <c:pt idx="280">
                  <c:v>03-08-2022</c:v>
                </c:pt>
                <c:pt idx="281">
                  <c:v>04-08-2022</c:v>
                </c:pt>
                <c:pt idx="282">
                  <c:v>05-08-2022</c:v>
                </c:pt>
                <c:pt idx="283">
                  <c:v>06-08-2022</c:v>
                </c:pt>
                <c:pt idx="284">
                  <c:v>07-08-2022</c:v>
                </c:pt>
                <c:pt idx="285">
                  <c:v>08-08-2022</c:v>
                </c:pt>
                <c:pt idx="286">
                  <c:v>09-08-2022</c:v>
                </c:pt>
                <c:pt idx="287">
                  <c:v>10-08-2022</c:v>
                </c:pt>
                <c:pt idx="288">
                  <c:v>11-08-2022</c:v>
                </c:pt>
                <c:pt idx="289">
                  <c:v>12-08-2022</c:v>
                </c:pt>
                <c:pt idx="290">
                  <c:v>13-08-2022</c:v>
                </c:pt>
                <c:pt idx="291">
                  <c:v>14-08-2022</c:v>
                </c:pt>
                <c:pt idx="292">
                  <c:v>15-08-2022</c:v>
                </c:pt>
                <c:pt idx="293">
                  <c:v>16-08-2022</c:v>
                </c:pt>
                <c:pt idx="294">
                  <c:v>17-08-2022</c:v>
                </c:pt>
                <c:pt idx="295">
                  <c:v>18-08-2022</c:v>
                </c:pt>
                <c:pt idx="296">
                  <c:v>19-08-2022</c:v>
                </c:pt>
                <c:pt idx="297">
                  <c:v>20-08-2022</c:v>
                </c:pt>
                <c:pt idx="298">
                  <c:v>21-08-2022</c:v>
                </c:pt>
                <c:pt idx="299">
                  <c:v>22-08-2022</c:v>
                </c:pt>
                <c:pt idx="300">
                  <c:v>23-08-2022</c:v>
                </c:pt>
                <c:pt idx="301">
                  <c:v>24-08-2022</c:v>
                </c:pt>
                <c:pt idx="302">
                  <c:v>25-08-2022</c:v>
                </c:pt>
                <c:pt idx="303">
                  <c:v>26-08-2022</c:v>
                </c:pt>
                <c:pt idx="304">
                  <c:v>27-08-2022</c:v>
                </c:pt>
                <c:pt idx="305">
                  <c:v>28-08-2022</c:v>
                </c:pt>
                <c:pt idx="306">
                  <c:v>29-08-2022</c:v>
                </c:pt>
                <c:pt idx="307">
                  <c:v>30-08-2022</c:v>
                </c:pt>
                <c:pt idx="308">
                  <c:v>31-08-2022</c:v>
                </c:pt>
                <c:pt idx="309">
                  <c:v>01-09-2022</c:v>
                </c:pt>
                <c:pt idx="310">
                  <c:v>02-09-2022</c:v>
                </c:pt>
                <c:pt idx="311">
                  <c:v>03-09-2022</c:v>
                </c:pt>
                <c:pt idx="312">
                  <c:v>04-09-2022</c:v>
                </c:pt>
                <c:pt idx="313">
                  <c:v>05-09-2022</c:v>
                </c:pt>
                <c:pt idx="314">
                  <c:v>06-09-2022</c:v>
                </c:pt>
                <c:pt idx="315">
                  <c:v>07-09-2022</c:v>
                </c:pt>
                <c:pt idx="316">
                  <c:v>08-09-2022</c:v>
                </c:pt>
                <c:pt idx="317">
                  <c:v>09-09-2022</c:v>
                </c:pt>
                <c:pt idx="318">
                  <c:v>10-09-2022</c:v>
                </c:pt>
                <c:pt idx="319">
                  <c:v>11-09-2022</c:v>
                </c:pt>
                <c:pt idx="320">
                  <c:v>12-09-2022</c:v>
                </c:pt>
                <c:pt idx="321">
                  <c:v>13-09-2022</c:v>
                </c:pt>
                <c:pt idx="322">
                  <c:v>14-09-2022</c:v>
                </c:pt>
                <c:pt idx="323">
                  <c:v>15-09-2022</c:v>
                </c:pt>
                <c:pt idx="324">
                  <c:v>16-09-2022</c:v>
                </c:pt>
                <c:pt idx="325">
                  <c:v>17-09-2022</c:v>
                </c:pt>
                <c:pt idx="326">
                  <c:v>18-09-2022</c:v>
                </c:pt>
                <c:pt idx="327">
                  <c:v>19-09-2022</c:v>
                </c:pt>
                <c:pt idx="328">
                  <c:v>20-09-2022</c:v>
                </c:pt>
                <c:pt idx="329">
                  <c:v>21-09-2022</c:v>
                </c:pt>
                <c:pt idx="330">
                  <c:v>22-09-2022</c:v>
                </c:pt>
                <c:pt idx="331">
                  <c:v>23-09-2022</c:v>
                </c:pt>
                <c:pt idx="332">
                  <c:v>24-09-2022</c:v>
                </c:pt>
                <c:pt idx="333">
                  <c:v>25-09-2022</c:v>
                </c:pt>
                <c:pt idx="334">
                  <c:v>26-09-2022</c:v>
                </c:pt>
                <c:pt idx="335">
                  <c:v>27-09-2022</c:v>
                </c:pt>
                <c:pt idx="336">
                  <c:v>28-09-2022</c:v>
                </c:pt>
                <c:pt idx="337">
                  <c:v>29-09-2022</c:v>
                </c:pt>
                <c:pt idx="338">
                  <c:v>30-09-2022</c:v>
                </c:pt>
                <c:pt idx="339">
                  <c:v>01-10-2022</c:v>
                </c:pt>
                <c:pt idx="340">
                  <c:v>02-10-2022</c:v>
                </c:pt>
                <c:pt idx="341">
                  <c:v>03-10-2022</c:v>
                </c:pt>
                <c:pt idx="342">
                  <c:v>04-10-2022</c:v>
                </c:pt>
                <c:pt idx="343">
                  <c:v>05-10-2022</c:v>
                </c:pt>
                <c:pt idx="344">
                  <c:v>06-10-2022</c:v>
                </c:pt>
                <c:pt idx="345">
                  <c:v>07-10-2022</c:v>
                </c:pt>
                <c:pt idx="346">
                  <c:v>08-10-2022</c:v>
                </c:pt>
                <c:pt idx="347">
                  <c:v>09-10-2022</c:v>
                </c:pt>
                <c:pt idx="348">
                  <c:v>10-10-2022</c:v>
                </c:pt>
                <c:pt idx="349">
                  <c:v>11-10-2022</c:v>
                </c:pt>
                <c:pt idx="350">
                  <c:v>12-10-2022</c:v>
                </c:pt>
                <c:pt idx="351">
                  <c:v>13-10-2022</c:v>
                </c:pt>
                <c:pt idx="352">
                  <c:v>14-10-2022</c:v>
                </c:pt>
                <c:pt idx="353">
                  <c:v>15-10-2022</c:v>
                </c:pt>
                <c:pt idx="354">
                  <c:v>16-10-2022</c:v>
                </c:pt>
                <c:pt idx="355">
                  <c:v>17-10-2022</c:v>
                </c:pt>
                <c:pt idx="356">
                  <c:v>18-10-2022</c:v>
                </c:pt>
                <c:pt idx="357">
                  <c:v>19-10-2022</c:v>
                </c:pt>
                <c:pt idx="358">
                  <c:v>20-10-2022</c:v>
                </c:pt>
                <c:pt idx="359">
                  <c:v>21-10-2022</c:v>
                </c:pt>
                <c:pt idx="360">
                  <c:v>22-10-2022</c:v>
                </c:pt>
                <c:pt idx="361">
                  <c:v>23-10-2022</c:v>
                </c:pt>
                <c:pt idx="362">
                  <c:v>24-10-2022</c:v>
                </c:pt>
                <c:pt idx="363">
                  <c:v>25-10-2022</c:v>
                </c:pt>
                <c:pt idx="364">
                  <c:v>26-10-2022</c:v>
                </c:pt>
                <c:pt idx="365">
                  <c:v>27-10-2022</c:v>
                </c:pt>
                <c:pt idx="366">
                  <c:v>28-10-2022</c:v>
                </c:pt>
                <c:pt idx="367">
                  <c:v>29-10-2022</c:v>
                </c:pt>
                <c:pt idx="368">
                  <c:v>30-10-2022</c:v>
                </c:pt>
                <c:pt idx="369">
                  <c:v>31-10-2022</c:v>
                </c:pt>
                <c:pt idx="370">
                  <c:v>01-11-2022</c:v>
                </c:pt>
                <c:pt idx="371">
                  <c:v>02-11-2022</c:v>
                </c:pt>
                <c:pt idx="372">
                  <c:v>03-11-2022</c:v>
                </c:pt>
                <c:pt idx="373">
                  <c:v>04-11-2022</c:v>
                </c:pt>
                <c:pt idx="374">
                  <c:v>05-11-2022</c:v>
                </c:pt>
                <c:pt idx="375">
                  <c:v>06-11-2022</c:v>
                </c:pt>
                <c:pt idx="376">
                  <c:v>07-11-2022</c:v>
                </c:pt>
                <c:pt idx="377">
                  <c:v>08-11-2022</c:v>
                </c:pt>
                <c:pt idx="378">
                  <c:v>09-11-2022</c:v>
                </c:pt>
                <c:pt idx="379">
                  <c:v>10-11-2022</c:v>
                </c:pt>
                <c:pt idx="380">
                  <c:v>11-11-2022</c:v>
                </c:pt>
                <c:pt idx="381">
                  <c:v>12-11-2022</c:v>
                </c:pt>
                <c:pt idx="382">
                  <c:v>13-11-2022</c:v>
                </c:pt>
                <c:pt idx="383">
                  <c:v>14-11-2022</c:v>
                </c:pt>
                <c:pt idx="384">
                  <c:v>15-11-2022</c:v>
                </c:pt>
                <c:pt idx="385">
                  <c:v>16-11-2022</c:v>
                </c:pt>
                <c:pt idx="386">
                  <c:v>17-11-2022</c:v>
                </c:pt>
                <c:pt idx="387">
                  <c:v>18-11-2022</c:v>
                </c:pt>
                <c:pt idx="388">
                  <c:v>19-11-2022</c:v>
                </c:pt>
                <c:pt idx="389">
                  <c:v>20-11-2022</c:v>
                </c:pt>
                <c:pt idx="390">
                  <c:v>21-11-2022</c:v>
                </c:pt>
                <c:pt idx="391">
                  <c:v>22-11-2022</c:v>
                </c:pt>
                <c:pt idx="392">
                  <c:v>23-11-2022</c:v>
                </c:pt>
                <c:pt idx="393">
                  <c:v>24-11-2022</c:v>
                </c:pt>
                <c:pt idx="394">
                  <c:v>25-11-2022</c:v>
                </c:pt>
                <c:pt idx="395">
                  <c:v>26-11-2022</c:v>
                </c:pt>
                <c:pt idx="396">
                  <c:v>27-11-2022</c:v>
                </c:pt>
                <c:pt idx="397">
                  <c:v>28-11-2022</c:v>
                </c:pt>
                <c:pt idx="398">
                  <c:v>29-11-2022</c:v>
                </c:pt>
                <c:pt idx="399">
                  <c:v>30-11-2022</c:v>
                </c:pt>
                <c:pt idx="400">
                  <c:v>01-12-2022</c:v>
                </c:pt>
                <c:pt idx="401">
                  <c:v>02-12-2022</c:v>
                </c:pt>
                <c:pt idx="402">
                  <c:v>03-12-2022</c:v>
                </c:pt>
                <c:pt idx="403">
                  <c:v>04-12-2022</c:v>
                </c:pt>
                <c:pt idx="404">
                  <c:v>05-12-2022</c:v>
                </c:pt>
                <c:pt idx="405">
                  <c:v>06-12-2022</c:v>
                </c:pt>
                <c:pt idx="406">
                  <c:v>07-12-2022</c:v>
                </c:pt>
                <c:pt idx="407">
                  <c:v>08-12-2022</c:v>
                </c:pt>
                <c:pt idx="408">
                  <c:v>09-12-2022</c:v>
                </c:pt>
                <c:pt idx="409">
                  <c:v>10-12-2022</c:v>
                </c:pt>
                <c:pt idx="410">
                  <c:v>11-12-2022</c:v>
                </c:pt>
                <c:pt idx="411">
                  <c:v>12-12-2022</c:v>
                </c:pt>
                <c:pt idx="412">
                  <c:v>13-12-2022</c:v>
                </c:pt>
                <c:pt idx="413">
                  <c:v>14-12-2022</c:v>
                </c:pt>
                <c:pt idx="414">
                  <c:v>15-12-2022</c:v>
                </c:pt>
                <c:pt idx="415">
                  <c:v>16-12-2022</c:v>
                </c:pt>
                <c:pt idx="416">
                  <c:v>17-12-2022</c:v>
                </c:pt>
                <c:pt idx="417">
                  <c:v>18-12-2022</c:v>
                </c:pt>
                <c:pt idx="418">
                  <c:v>19-12-2022</c:v>
                </c:pt>
                <c:pt idx="419">
                  <c:v>20-12-2022</c:v>
                </c:pt>
                <c:pt idx="420">
                  <c:v>21-12-2022</c:v>
                </c:pt>
                <c:pt idx="421">
                  <c:v>22-12-2022</c:v>
                </c:pt>
                <c:pt idx="422">
                  <c:v>23-12-2022</c:v>
                </c:pt>
                <c:pt idx="423">
                  <c:v>24-12-2022</c:v>
                </c:pt>
                <c:pt idx="424">
                  <c:v>25-12-2022</c:v>
                </c:pt>
                <c:pt idx="425">
                  <c:v>26-12-2022</c:v>
                </c:pt>
                <c:pt idx="426">
                  <c:v>27-12-2022</c:v>
                </c:pt>
                <c:pt idx="427">
                  <c:v>28-12-2022</c:v>
                </c:pt>
                <c:pt idx="428">
                  <c:v>29-12-2022</c:v>
                </c:pt>
                <c:pt idx="429">
                  <c:v>30-12-2022</c:v>
                </c:pt>
                <c:pt idx="430">
                  <c:v>31-12-2022</c:v>
                </c:pt>
                <c:pt idx="431">
                  <c:v>01-01-2023</c:v>
                </c:pt>
                <c:pt idx="432">
                  <c:v>02-01-2023</c:v>
                </c:pt>
                <c:pt idx="433">
                  <c:v>03-01-2023</c:v>
                </c:pt>
                <c:pt idx="434">
                  <c:v>04-01-2023</c:v>
                </c:pt>
                <c:pt idx="435">
                  <c:v>05-01-2023</c:v>
                </c:pt>
                <c:pt idx="436">
                  <c:v>06-01-2023</c:v>
                </c:pt>
                <c:pt idx="437">
                  <c:v>07-01-2023</c:v>
                </c:pt>
                <c:pt idx="438">
                  <c:v>08-01-2023</c:v>
                </c:pt>
                <c:pt idx="439">
                  <c:v>09-01-2023</c:v>
                </c:pt>
                <c:pt idx="440">
                  <c:v>10-01-2023</c:v>
                </c:pt>
                <c:pt idx="441">
                  <c:v>11-01-2023</c:v>
                </c:pt>
                <c:pt idx="442">
                  <c:v>12-01-2023</c:v>
                </c:pt>
                <c:pt idx="443">
                  <c:v>13-01-2023</c:v>
                </c:pt>
                <c:pt idx="444">
                  <c:v>14-01-2023</c:v>
                </c:pt>
                <c:pt idx="445">
                  <c:v>15-01-2023</c:v>
                </c:pt>
                <c:pt idx="446">
                  <c:v>16-01-2023</c:v>
                </c:pt>
                <c:pt idx="447">
                  <c:v>17-01-2023</c:v>
                </c:pt>
                <c:pt idx="448">
                  <c:v>18-01-2023</c:v>
                </c:pt>
                <c:pt idx="449">
                  <c:v>19-01-2023</c:v>
                </c:pt>
                <c:pt idx="450">
                  <c:v>20-01-2023</c:v>
                </c:pt>
                <c:pt idx="451">
                  <c:v>21-01-2023</c:v>
                </c:pt>
                <c:pt idx="452">
                  <c:v>22-01-2023</c:v>
                </c:pt>
                <c:pt idx="453">
                  <c:v>23-01-2023</c:v>
                </c:pt>
                <c:pt idx="454">
                  <c:v>24-01-2023</c:v>
                </c:pt>
                <c:pt idx="455">
                  <c:v>25-01-2023</c:v>
                </c:pt>
                <c:pt idx="456">
                  <c:v>26-01-2023</c:v>
                </c:pt>
                <c:pt idx="457">
                  <c:v>27-01-2023</c:v>
                </c:pt>
                <c:pt idx="458">
                  <c:v>28-01-2023</c:v>
                </c:pt>
                <c:pt idx="459">
                  <c:v>29-01-2023</c:v>
                </c:pt>
                <c:pt idx="460">
                  <c:v>30-01-2023</c:v>
                </c:pt>
                <c:pt idx="461">
                  <c:v>31-01-2023</c:v>
                </c:pt>
                <c:pt idx="462">
                  <c:v>01-02-2023</c:v>
                </c:pt>
                <c:pt idx="463">
                  <c:v>02-02-2023</c:v>
                </c:pt>
                <c:pt idx="464">
                  <c:v>03-02-2023</c:v>
                </c:pt>
                <c:pt idx="465">
                  <c:v>04-02-2023</c:v>
                </c:pt>
                <c:pt idx="466">
                  <c:v>05-02-2023</c:v>
                </c:pt>
                <c:pt idx="467">
                  <c:v>06-02-2023</c:v>
                </c:pt>
                <c:pt idx="468">
                  <c:v>07-02-2023</c:v>
                </c:pt>
                <c:pt idx="469">
                  <c:v>08-02-2023</c:v>
                </c:pt>
                <c:pt idx="470">
                  <c:v>09-02-2023</c:v>
                </c:pt>
                <c:pt idx="471">
                  <c:v>10-02-2023</c:v>
                </c:pt>
                <c:pt idx="472">
                  <c:v>11-02-2023</c:v>
                </c:pt>
                <c:pt idx="473">
                  <c:v>12-02-2023</c:v>
                </c:pt>
                <c:pt idx="474">
                  <c:v>13-02-2023</c:v>
                </c:pt>
                <c:pt idx="475">
                  <c:v>14-02-2023</c:v>
                </c:pt>
                <c:pt idx="476">
                  <c:v>15-02-2023</c:v>
                </c:pt>
                <c:pt idx="477">
                  <c:v>16-02-2023</c:v>
                </c:pt>
                <c:pt idx="478">
                  <c:v>17-02-2023</c:v>
                </c:pt>
                <c:pt idx="479">
                  <c:v>18-02-2023</c:v>
                </c:pt>
                <c:pt idx="480">
                  <c:v>19-02-2023</c:v>
                </c:pt>
                <c:pt idx="481">
                  <c:v>20-02-2023</c:v>
                </c:pt>
                <c:pt idx="482">
                  <c:v>21-02-2023</c:v>
                </c:pt>
                <c:pt idx="483">
                  <c:v>22-02-2023</c:v>
                </c:pt>
                <c:pt idx="484">
                  <c:v>23-02-2023</c:v>
                </c:pt>
                <c:pt idx="485">
                  <c:v>24-02-2023</c:v>
                </c:pt>
                <c:pt idx="486">
                  <c:v>25-02-2023</c:v>
                </c:pt>
                <c:pt idx="487">
                  <c:v>26-02-2023</c:v>
                </c:pt>
                <c:pt idx="488">
                  <c:v>27-02-2023</c:v>
                </c:pt>
                <c:pt idx="489">
                  <c:v>28-02-2023</c:v>
                </c:pt>
              </c:strCache>
            </c:strRef>
          </c:cat>
          <c:val>
            <c:numRef>
              <c:f>Sheet1!$B$2:$B$491</c:f>
              <c:numCache>
                <c:formatCode>General</c:formatCode>
                <c:ptCount val="490"/>
                <c:pt idx="0">
                  <c:v>27.8</c:v>
                </c:pt>
                <c:pt idx="1">
                  <c:v>435.12</c:v>
                </c:pt>
                <c:pt idx="2">
                  <c:v>1042.6300000000001</c:v>
                </c:pt>
                <c:pt idx="3">
                  <c:v>94.52</c:v>
                </c:pt>
                <c:pt idx="4">
                  <c:v>619.83000000000004</c:v>
                </c:pt>
                <c:pt idx="5">
                  <c:v>186.73</c:v>
                </c:pt>
                <c:pt idx="6">
                  <c:v>963.78</c:v>
                </c:pt>
                <c:pt idx="7">
                  <c:v>1033.19</c:v>
                </c:pt>
                <c:pt idx="8">
                  <c:v>426.59</c:v>
                </c:pt>
                <c:pt idx="9">
                  <c:v>422.91</c:v>
                </c:pt>
                <c:pt idx="10">
                  <c:v>350.99</c:v>
                </c:pt>
                <c:pt idx="11">
                  <c:v>567.15</c:v>
                </c:pt>
                <c:pt idx="12">
                  <c:v>259.45999999999998</c:v>
                </c:pt>
                <c:pt idx="13">
                  <c:v>184.91</c:v>
                </c:pt>
                <c:pt idx="14">
                  <c:v>254.24</c:v>
                </c:pt>
                <c:pt idx="15">
                  <c:v>202.45</c:v>
                </c:pt>
                <c:pt idx="16">
                  <c:v>305.19</c:v>
                </c:pt>
                <c:pt idx="17">
                  <c:v>554.78</c:v>
                </c:pt>
                <c:pt idx="18">
                  <c:v>1441.55</c:v>
                </c:pt>
                <c:pt idx="19">
                  <c:v>595.95000000000005</c:v>
                </c:pt>
                <c:pt idx="20">
                  <c:v>584.79</c:v>
                </c:pt>
                <c:pt idx="21">
                  <c:v>1028.08</c:v>
                </c:pt>
                <c:pt idx="22">
                  <c:v>1217.5899999999999</c:v>
                </c:pt>
                <c:pt idx="23">
                  <c:v>489.16</c:v>
                </c:pt>
                <c:pt idx="24">
                  <c:v>481.19</c:v>
                </c:pt>
                <c:pt idx="25">
                  <c:v>288.55</c:v>
                </c:pt>
                <c:pt idx="26">
                  <c:v>283.70999999999998</c:v>
                </c:pt>
                <c:pt idx="27">
                  <c:v>500.9</c:v>
                </c:pt>
                <c:pt idx="28">
                  <c:v>1340.3</c:v>
                </c:pt>
                <c:pt idx="29">
                  <c:v>1037.0899999999999</c:v>
                </c:pt>
                <c:pt idx="30">
                  <c:v>1058.3900000000001</c:v>
                </c:pt>
                <c:pt idx="31">
                  <c:v>1055.5899999999999</c:v>
                </c:pt>
                <c:pt idx="32">
                  <c:v>1202.97</c:v>
                </c:pt>
                <c:pt idx="33">
                  <c:v>909.79</c:v>
                </c:pt>
                <c:pt idx="34">
                  <c:v>987.4</c:v>
                </c:pt>
                <c:pt idx="35">
                  <c:v>1184.3</c:v>
                </c:pt>
                <c:pt idx="36">
                  <c:v>1273.98</c:v>
                </c:pt>
                <c:pt idx="37">
                  <c:v>1115.6500000000001</c:v>
                </c:pt>
                <c:pt idx="38">
                  <c:v>1477.89</c:v>
                </c:pt>
                <c:pt idx="39">
                  <c:v>1883.05</c:v>
                </c:pt>
                <c:pt idx="40">
                  <c:v>1848.79</c:v>
                </c:pt>
                <c:pt idx="41">
                  <c:v>1933.92</c:v>
                </c:pt>
                <c:pt idx="42">
                  <c:v>1969.91</c:v>
                </c:pt>
                <c:pt idx="43">
                  <c:v>1969.07</c:v>
                </c:pt>
                <c:pt idx="44">
                  <c:v>2060.5500000000002</c:v>
                </c:pt>
                <c:pt idx="45">
                  <c:v>2072.9699999999998</c:v>
                </c:pt>
                <c:pt idx="46">
                  <c:v>2045.64</c:v>
                </c:pt>
                <c:pt idx="47">
                  <c:v>2142.44</c:v>
                </c:pt>
                <c:pt idx="48">
                  <c:v>2061.21</c:v>
                </c:pt>
                <c:pt idx="49">
                  <c:v>2100.16</c:v>
                </c:pt>
                <c:pt idx="50">
                  <c:v>2118.2199999999998</c:v>
                </c:pt>
                <c:pt idx="51">
                  <c:v>2049.25</c:v>
                </c:pt>
                <c:pt idx="52">
                  <c:v>2168.75</c:v>
                </c:pt>
                <c:pt idx="53">
                  <c:v>1938.23</c:v>
                </c:pt>
                <c:pt idx="54">
                  <c:v>1561.44</c:v>
                </c:pt>
                <c:pt idx="55">
                  <c:v>1660.27</c:v>
                </c:pt>
                <c:pt idx="56">
                  <c:v>1545.14</c:v>
                </c:pt>
                <c:pt idx="57">
                  <c:v>1380.46</c:v>
                </c:pt>
                <c:pt idx="58">
                  <c:v>1435.86</c:v>
                </c:pt>
                <c:pt idx="59">
                  <c:v>1376.15</c:v>
                </c:pt>
                <c:pt idx="60">
                  <c:v>1824.7</c:v>
                </c:pt>
                <c:pt idx="61">
                  <c:v>1591.82</c:v>
                </c:pt>
                <c:pt idx="62">
                  <c:v>1858.82</c:v>
                </c:pt>
                <c:pt idx="63">
                  <c:v>1807.28</c:v>
                </c:pt>
                <c:pt idx="64">
                  <c:v>1535.55</c:v>
                </c:pt>
                <c:pt idx="65">
                  <c:v>1540.08</c:v>
                </c:pt>
                <c:pt idx="66">
                  <c:v>1378.24</c:v>
                </c:pt>
                <c:pt idx="67">
                  <c:v>1371.92</c:v>
                </c:pt>
                <c:pt idx="68">
                  <c:v>1502.49</c:v>
                </c:pt>
                <c:pt idx="69">
                  <c:v>2096.0100000000002</c:v>
                </c:pt>
                <c:pt idx="70">
                  <c:v>3222.47</c:v>
                </c:pt>
                <c:pt idx="71">
                  <c:v>5006.18</c:v>
                </c:pt>
                <c:pt idx="72">
                  <c:v>5230.6400000000003</c:v>
                </c:pt>
                <c:pt idx="73">
                  <c:v>5233.58</c:v>
                </c:pt>
                <c:pt idx="74">
                  <c:v>5453.83</c:v>
                </c:pt>
                <c:pt idx="75">
                  <c:v>5567.57</c:v>
                </c:pt>
                <c:pt idx="76">
                  <c:v>5892</c:v>
                </c:pt>
                <c:pt idx="77">
                  <c:v>5998.85</c:v>
                </c:pt>
                <c:pt idx="78">
                  <c:v>6560.97</c:v>
                </c:pt>
                <c:pt idx="79">
                  <c:v>6608.95</c:v>
                </c:pt>
                <c:pt idx="80">
                  <c:v>6338.64</c:v>
                </c:pt>
                <c:pt idx="81">
                  <c:v>5034.09</c:v>
                </c:pt>
                <c:pt idx="82">
                  <c:v>5273.76</c:v>
                </c:pt>
                <c:pt idx="83">
                  <c:v>5296.64</c:v>
                </c:pt>
                <c:pt idx="84">
                  <c:v>4941.7299999999996</c:v>
                </c:pt>
                <c:pt idx="85">
                  <c:v>4743.68</c:v>
                </c:pt>
                <c:pt idx="86">
                  <c:v>4240.17</c:v>
                </c:pt>
                <c:pt idx="87">
                  <c:v>4854.96</c:v>
                </c:pt>
                <c:pt idx="88">
                  <c:v>4904.84</c:v>
                </c:pt>
                <c:pt idx="89">
                  <c:v>4527.93</c:v>
                </c:pt>
                <c:pt idx="90">
                  <c:v>4425.79</c:v>
                </c:pt>
                <c:pt idx="91">
                  <c:v>4277.6000000000004</c:v>
                </c:pt>
                <c:pt idx="92">
                  <c:v>4349.63</c:v>
                </c:pt>
                <c:pt idx="93">
                  <c:v>4491.76</c:v>
                </c:pt>
                <c:pt idx="94">
                  <c:v>4117.1499999999996</c:v>
                </c:pt>
                <c:pt idx="95">
                  <c:v>3957.53</c:v>
                </c:pt>
                <c:pt idx="96">
                  <c:v>4819.18</c:v>
                </c:pt>
                <c:pt idx="97">
                  <c:v>4055.79</c:v>
                </c:pt>
                <c:pt idx="98">
                  <c:v>4604.66</c:v>
                </c:pt>
                <c:pt idx="99">
                  <c:v>4759.8</c:v>
                </c:pt>
                <c:pt idx="100">
                  <c:v>4352.68</c:v>
                </c:pt>
                <c:pt idx="101">
                  <c:v>4637.25</c:v>
                </c:pt>
                <c:pt idx="102">
                  <c:v>5462.88</c:v>
                </c:pt>
                <c:pt idx="103">
                  <c:v>5271.25</c:v>
                </c:pt>
                <c:pt idx="104">
                  <c:v>5134.88</c:v>
                </c:pt>
                <c:pt idx="105">
                  <c:v>6090.95</c:v>
                </c:pt>
                <c:pt idx="106">
                  <c:v>5567.48</c:v>
                </c:pt>
                <c:pt idx="107">
                  <c:v>4859.8</c:v>
                </c:pt>
                <c:pt idx="108">
                  <c:v>5103.63</c:v>
                </c:pt>
                <c:pt idx="109">
                  <c:v>3985.01</c:v>
                </c:pt>
                <c:pt idx="110">
                  <c:v>4255.8</c:v>
                </c:pt>
                <c:pt idx="111">
                  <c:v>5347.82</c:v>
                </c:pt>
                <c:pt idx="112">
                  <c:v>5996.59</c:v>
                </c:pt>
                <c:pt idx="113">
                  <c:v>5710.43</c:v>
                </c:pt>
                <c:pt idx="114">
                  <c:v>4212.12</c:v>
                </c:pt>
                <c:pt idx="115">
                  <c:v>4711.29</c:v>
                </c:pt>
                <c:pt idx="116">
                  <c:v>5309.8</c:v>
                </c:pt>
                <c:pt idx="117">
                  <c:v>6023.02</c:v>
                </c:pt>
                <c:pt idx="118">
                  <c:v>6059.1</c:v>
                </c:pt>
                <c:pt idx="119">
                  <c:v>5567.2</c:v>
                </c:pt>
                <c:pt idx="120">
                  <c:v>5591.58</c:v>
                </c:pt>
                <c:pt idx="121">
                  <c:v>5591.07</c:v>
                </c:pt>
                <c:pt idx="122">
                  <c:v>4619.26</c:v>
                </c:pt>
                <c:pt idx="123">
                  <c:v>6074.15</c:v>
                </c:pt>
                <c:pt idx="124">
                  <c:v>6160.42</c:v>
                </c:pt>
                <c:pt idx="125">
                  <c:v>5139.16</c:v>
                </c:pt>
                <c:pt idx="126">
                  <c:v>5945.12</c:v>
                </c:pt>
                <c:pt idx="127">
                  <c:v>5824.65</c:v>
                </c:pt>
                <c:pt idx="128">
                  <c:v>5927.22</c:v>
                </c:pt>
                <c:pt idx="129">
                  <c:v>5864.81</c:v>
                </c:pt>
                <c:pt idx="130">
                  <c:v>5811.55</c:v>
                </c:pt>
                <c:pt idx="131">
                  <c:v>6381.61</c:v>
                </c:pt>
                <c:pt idx="132">
                  <c:v>5895.18</c:v>
                </c:pt>
                <c:pt idx="133">
                  <c:v>4767.6899999999996</c:v>
                </c:pt>
                <c:pt idx="134">
                  <c:v>4116.2700000000004</c:v>
                </c:pt>
                <c:pt idx="135">
                  <c:v>5085.5200000000004</c:v>
                </c:pt>
                <c:pt idx="136">
                  <c:v>5240.87</c:v>
                </c:pt>
                <c:pt idx="137">
                  <c:v>4559.8999999999996</c:v>
                </c:pt>
                <c:pt idx="138">
                  <c:v>4385.71</c:v>
                </c:pt>
                <c:pt idx="139">
                  <c:v>3532.1</c:v>
                </c:pt>
                <c:pt idx="140">
                  <c:v>4951.3599999999997</c:v>
                </c:pt>
                <c:pt idx="141">
                  <c:v>3922.36</c:v>
                </c:pt>
                <c:pt idx="142">
                  <c:v>3018.03</c:v>
                </c:pt>
                <c:pt idx="143">
                  <c:v>3893.59</c:v>
                </c:pt>
                <c:pt idx="144">
                  <c:v>4588.33</c:v>
                </c:pt>
                <c:pt idx="145">
                  <c:v>4626.24</c:v>
                </c:pt>
                <c:pt idx="146">
                  <c:v>3222.06</c:v>
                </c:pt>
                <c:pt idx="147">
                  <c:v>3398.12</c:v>
                </c:pt>
                <c:pt idx="148">
                  <c:v>3724.93</c:v>
                </c:pt>
                <c:pt idx="149">
                  <c:v>3531.59</c:v>
                </c:pt>
                <c:pt idx="150">
                  <c:v>2710.54</c:v>
                </c:pt>
                <c:pt idx="151">
                  <c:v>4119.71</c:v>
                </c:pt>
                <c:pt idx="152">
                  <c:v>2642.25</c:v>
                </c:pt>
                <c:pt idx="153">
                  <c:v>3140.24</c:v>
                </c:pt>
                <c:pt idx="154">
                  <c:v>3679.63</c:v>
                </c:pt>
                <c:pt idx="155">
                  <c:v>3305.68</c:v>
                </c:pt>
                <c:pt idx="156">
                  <c:v>3502.04</c:v>
                </c:pt>
                <c:pt idx="157">
                  <c:v>5918.28</c:v>
                </c:pt>
                <c:pt idx="158">
                  <c:v>5028.7</c:v>
                </c:pt>
                <c:pt idx="159">
                  <c:v>5214.46</c:v>
                </c:pt>
                <c:pt idx="160">
                  <c:v>3550.49</c:v>
                </c:pt>
                <c:pt idx="161">
                  <c:v>3582.79</c:v>
                </c:pt>
                <c:pt idx="162">
                  <c:v>3392.66</c:v>
                </c:pt>
                <c:pt idx="163">
                  <c:v>3882.7</c:v>
                </c:pt>
                <c:pt idx="164">
                  <c:v>3796.91</c:v>
                </c:pt>
                <c:pt idx="165">
                  <c:v>5199.2</c:v>
                </c:pt>
                <c:pt idx="166">
                  <c:v>4629.12</c:v>
                </c:pt>
                <c:pt idx="167">
                  <c:v>4268.46</c:v>
                </c:pt>
                <c:pt idx="168">
                  <c:v>4036.68</c:v>
                </c:pt>
                <c:pt idx="169">
                  <c:v>4518.57</c:v>
                </c:pt>
                <c:pt idx="170">
                  <c:v>5006.8599999999997</c:v>
                </c:pt>
                <c:pt idx="171">
                  <c:v>5939.5</c:v>
                </c:pt>
                <c:pt idx="172">
                  <c:v>5594.88</c:v>
                </c:pt>
                <c:pt idx="173">
                  <c:v>6046.66</c:v>
                </c:pt>
                <c:pt idx="174">
                  <c:v>5541.74</c:v>
                </c:pt>
                <c:pt idx="175">
                  <c:v>4109.84</c:v>
                </c:pt>
                <c:pt idx="176">
                  <c:v>3313.74</c:v>
                </c:pt>
                <c:pt idx="177">
                  <c:v>3546.08</c:v>
                </c:pt>
                <c:pt idx="178">
                  <c:v>3920.93</c:v>
                </c:pt>
                <c:pt idx="179">
                  <c:v>3866.89</c:v>
                </c:pt>
                <c:pt idx="180">
                  <c:v>3278.02</c:v>
                </c:pt>
                <c:pt idx="181">
                  <c:v>3205.57</c:v>
                </c:pt>
                <c:pt idx="182">
                  <c:v>3358.27</c:v>
                </c:pt>
                <c:pt idx="183">
                  <c:v>2906.4</c:v>
                </c:pt>
                <c:pt idx="184">
                  <c:v>2994.4</c:v>
                </c:pt>
                <c:pt idx="185">
                  <c:v>2453.1999999999998</c:v>
                </c:pt>
                <c:pt idx="186">
                  <c:v>1915.8</c:v>
                </c:pt>
                <c:pt idx="187">
                  <c:v>2276.4</c:v>
                </c:pt>
                <c:pt idx="188">
                  <c:v>2505.19</c:v>
                </c:pt>
                <c:pt idx="189">
                  <c:v>3211.3</c:v>
                </c:pt>
                <c:pt idx="190">
                  <c:v>3026.9</c:v>
                </c:pt>
                <c:pt idx="191">
                  <c:v>7469.01</c:v>
                </c:pt>
                <c:pt idx="192">
                  <c:v>7091.16</c:v>
                </c:pt>
                <c:pt idx="193">
                  <c:v>8621.1299999999992</c:v>
                </c:pt>
                <c:pt idx="194">
                  <c:v>4954.37</c:v>
                </c:pt>
                <c:pt idx="195">
                  <c:v>15337.92</c:v>
                </c:pt>
                <c:pt idx="196">
                  <c:v>20180.439999999999</c:v>
                </c:pt>
                <c:pt idx="197">
                  <c:v>24500.53</c:v>
                </c:pt>
                <c:pt idx="198">
                  <c:v>20611.509999999998</c:v>
                </c:pt>
                <c:pt idx="199">
                  <c:v>17738.45</c:v>
                </c:pt>
                <c:pt idx="200">
                  <c:v>14583.82</c:v>
                </c:pt>
                <c:pt idx="201">
                  <c:v>5172.55</c:v>
                </c:pt>
                <c:pt idx="202">
                  <c:v>3729.74</c:v>
                </c:pt>
                <c:pt idx="203">
                  <c:v>5051.96</c:v>
                </c:pt>
                <c:pt idx="204">
                  <c:v>1475.59</c:v>
                </c:pt>
                <c:pt idx="205">
                  <c:v>4815.58</c:v>
                </c:pt>
                <c:pt idx="206">
                  <c:v>6759.5</c:v>
                </c:pt>
                <c:pt idx="207">
                  <c:v>5365.98</c:v>
                </c:pt>
                <c:pt idx="208">
                  <c:v>3869.5</c:v>
                </c:pt>
                <c:pt idx="209">
                  <c:v>2518.2800000000002</c:v>
                </c:pt>
                <c:pt idx="210">
                  <c:v>2419.9699999999998</c:v>
                </c:pt>
                <c:pt idx="211">
                  <c:v>2318.27</c:v>
                </c:pt>
                <c:pt idx="212">
                  <c:v>1482.05</c:v>
                </c:pt>
                <c:pt idx="213">
                  <c:v>3351.65</c:v>
                </c:pt>
                <c:pt idx="214">
                  <c:v>7512.1</c:v>
                </c:pt>
                <c:pt idx="215">
                  <c:v>4291.0600000000004</c:v>
                </c:pt>
                <c:pt idx="216">
                  <c:v>2554.71</c:v>
                </c:pt>
                <c:pt idx="217">
                  <c:v>819.75</c:v>
                </c:pt>
                <c:pt idx="218">
                  <c:v>2777.09</c:v>
                </c:pt>
                <c:pt idx="219">
                  <c:v>1889.53</c:v>
                </c:pt>
                <c:pt idx="220">
                  <c:v>3535.55</c:v>
                </c:pt>
                <c:pt idx="221">
                  <c:v>3399.39</c:v>
                </c:pt>
                <c:pt idx="222">
                  <c:v>3267.24</c:v>
                </c:pt>
                <c:pt idx="223">
                  <c:v>3857.12</c:v>
                </c:pt>
                <c:pt idx="224">
                  <c:v>4673.55</c:v>
                </c:pt>
                <c:pt idx="225">
                  <c:v>4187.05</c:v>
                </c:pt>
                <c:pt idx="226">
                  <c:v>3906.32</c:v>
                </c:pt>
                <c:pt idx="227">
                  <c:v>3417.71</c:v>
                </c:pt>
                <c:pt idx="228">
                  <c:v>2814.44</c:v>
                </c:pt>
                <c:pt idx="229">
                  <c:v>2521.87</c:v>
                </c:pt>
                <c:pt idx="230">
                  <c:v>2943.32</c:v>
                </c:pt>
                <c:pt idx="231">
                  <c:v>3335.65</c:v>
                </c:pt>
                <c:pt idx="232">
                  <c:v>4054.25</c:v>
                </c:pt>
                <c:pt idx="233">
                  <c:v>3691.64</c:v>
                </c:pt>
                <c:pt idx="234">
                  <c:v>4579.63</c:v>
                </c:pt>
                <c:pt idx="235">
                  <c:v>5606.24</c:v>
                </c:pt>
                <c:pt idx="236">
                  <c:v>5723.61</c:v>
                </c:pt>
                <c:pt idx="237">
                  <c:v>5834.69</c:v>
                </c:pt>
                <c:pt idx="238">
                  <c:v>5162.51</c:v>
                </c:pt>
                <c:pt idx="239">
                  <c:v>4010.6</c:v>
                </c:pt>
                <c:pt idx="240">
                  <c:v>2863.89</c:v>
                </c:pt>
                <c:pt idx="241">
                  <c:v>2662.17</c:v>
                </c:pt>
                <c:pt idx="242">
                  <c:v>4210.17</c:v>
                </c:pt>
                <c:pt idx="243">
                  <c:v>5339.81</c:v>
                </c:pt>
                <c:pt idx="244">
                  <c:v>4854.08</c:v>
                </c:pt>
                <c:pt idx="245">
                  <c:v>8741.86</c:v>
                </c:pt>
                <c:pt idx="246">
                  <c:v>6780.67</c:v>
                </c:pt>
                <c:pt idx="247">
                  <c:v>5363.47</c:v>
                </c:pt>
                <c:pt idx="248">
                  <c:v>5569.01</c:v>
                </c:pt>
                <c:pt idx="249">
                  <c:v>7144.37</c:v>
                </c:pt>
                <c:pt idx="250">
                  <c:v>9668.39</c:v>
                </c:pt>
                <c:pt idx="251">
                  <c:v>5908.08</c:v>
                </c:pt>
                <c:pt idx="252">
                  <c:v>3497.8</c:v>
                </c:pt>
                <c:pt idx="253">
                  <c:v>5011.24</c:v>
                </c:pt>
                <c:pt idx="254">
                  <c:v>5198.8900000000003</c:v>
                </c:pt>
                <c:pt idx="255">
                  <c:v>5849.42</c:v>
                </c:pt>
                <c:pt idx="256">
                  <c:v>10925.44</c:v>
                </c:pt>
                <c:pt idx="257">
                  <c:v>16621.240000000002</c:v>
                </c:pt>
                <c:pt idx="258">
                  <c:v>11073.36</c:v>
                </c:pt>
                <c:pt idx="259">
                  <c:v>10438.31</c:v>
                </c:pt>
                <c:pt idx="260">
                  <c:v>9670.2000000000007</c:v>
                </c:pt>
                <c:pt idx="261">
                  <c:v>8708.48</c:v>
                </c:pt>
                <c:pt idx="262">
                  <c:v>5314.77</c:v>
                </c:pt>
                <c:pt idx="263">
                  <c:v>4422.43</c:v>
                </c:pt>
                <c:pt idx="264">
                  <c:v>5303.05</c:v>
                </c:pt>
                <c:pt idx="265">
                  <c:v>4284.84</c:v>
                </c:pt>
                <c:pt idx="266">
                  <c:v>5011.97</c:v>
                </c:pt>
                <c:pt idx="267">
                  <c:v>5612.44</c:v>
                </c:pt>
                <c:pt idx="268">
                  <c:v>5596.39</c:v>
                </c:pt>
                <c:pt idx="269">
                  <c:v>3970.37</c:v>
                </c:pt>
                <c:pt idx="270">
                  <c:v>5462.03</c:v>
                </c:pt>
                <c:pt idx="271">
                  <c:v>4254.3100000000004</c:v>
                </c:pt>
                <c:pt idx="272">
                  <c:v>3162.66</c:v>
                </c:pt>
                <c:pt idx="273">
                  <c:v>2947.79</c:v>
                </c:pt>
                <c:pt idx="274">
                  <c:v>3685.39</c:v>
                </c:pt>
                <c:pt idx="275">
                  <c:v>4929.21</c:v>
                </c:pt>
                <c:pt idx="276">
                  <c:v>4964.6400000000003</c:v>
                </c:pt>
                <c:pt idx="277">
                  <c:v>5858.77</c:v>
                </c:pt>
                <c:pt idx="278">
                  <c:v>5881.73</c:v>
                </c:pt>
                <c:pt idx="279">
                  <c:v>5710.67</c:v>
                </c:pt>
                <c:pt idx="280">
                  <c:v>3041.61</c:v>
                </c:pt>
                <c:pt idx="281">
                  <c:v>2995.14</c:v>
                </c:pt>
                <c:pt idx="282">
                  <c:v>3863.82</c:v>
                </c:pt>
                <c:pt idx="283">
                  <c:v>2831.19</c:v>
                </c:pt>
                <c:pt idx="284">
                  <c:v>6990.74</c:v>
                </c:pt>
                <c:pt idx="285">
                  <c:v>4885.46</c:v>
                </c:pt>
                <c:pt idx="286">
                  <c:v>8420.09</c:v>
                </c:pt>
                <c:pt idx="287">
                  <c:v>6572.22</c:v>
                </c:pt>
                <c:pt idx="288">
                  <c:v>5521.3</c:v>
                </c:pt>
                <c:pt idx="289">
                  <c:v>7358.2</c:v>
                </c:pt>
                <c:pt idx="290">
                  <c:v>8017.71</c:v>
                </c:pt>
                <c:pt idx="291">
                  <c:v>5324.55</c:v>
                </c:pt>
                <c:pt idx="292">
                  <c:v>6311.86</c:v>
                </c:pt>
                <c:pt idx="293">
                  <c:v>6462.51</c:v>
                </c:pt>
                <c:pt idx="294">
                  <c:v>6560.31</c:v>
                </c:pt>
                <c:pt idx="295">
                  <c:v>4801.47</c:v>
                </c:pt>
                <c:pt idx="296">
                  <c:v>5217.37</c:v>
                </c:pt>
                <c:pt idx="297">
                  <c:v>5850.61</c:v>
                </c:pt>
                <c:pt idx="298">
                  <c:v>5347.47</c:v>
                </c:pt>
                <c:pt idx="299">
                  <c:v>5188.17</c:v>
                </c:pt>
                <c:pt idx="300">
                  <c:v>4965.7</c:v>
                </c:pt>
                <c:pt idx="301">
                  <c:v>5840.93</c:v>
                </c:pt>
                <c:pt idx="302">
                  <c:v>6044.45</c:v>
                </c:pt>
                <c:pt idx="303">
                  <c:v>4695.13</c:v>
                </c:pt>
                <c:pt idx="304">
                  <c:v>4844.93</c:v>
                </c:pt>
                <c:pt idx="305">
                  <c:v>4520.45</c:v>
                </c:pt>
                <c:pt idx="306">
                  <c:v>5482.31</c:v>
                </c:pt>
                <c:pt idx="307">
                  <c:v>4343.83</c:v>
                </c:pt>
                <c:pt idx="308">
                  <c:v>5155.83</c:v>
                </c:pt>
                <c:pt idx="309">
                  <c:v>3936.65</c:v>
                </c:pt>
                <c:pt idx="310">
                  <c:v>4245.63</c:v>
                </c:pt>
                <c:pt idx="311">
                  <c:v>4766.22</c:v>
                </c:pt>
                <c:pt idx="312">
                  <c:v>6707.7</c:v>
                </c:pt>
                <c:pt idx="313">
                  <c:v>5518.12</c:v>
                </c:pt>
                <c:pt idx="314">
                  <c:v>4098.53</c:v>
                </c:pt>
                <c:pt idx="315">
                  <c:v>3376.12</c:v>
                </c:pt>
                <c:pt idx="316">
                  <c:v>4844.8</c:v>
                </c:pt>
                <c:pt idx="317">
                  <c:v>5908.14</c:v>
                </c:pt>
                <c:pt idx="318">
                  <c:v>6068</c:v>
                </c:pt>
                <c:pt idx="319">
                  <c:v>8636.48</c:v>
                </c:pt>
                <c:pt idx="320">
                  <c:v>7431.86</c:v>
                </c:pt>
                <c:pt idx="321">
                  <c:v>5271.12</c:v>
                </c:pt>
                <c:pt idx="322">
                  <c:v>2779.54</c:v>
                </c:pt>
                <c:pt idx="323">
                  <c:v>3644.54</c:v>
                </c:pt>
                <c:pt idx="324">
                  <c:v>3886.24</c:v>
                </c:pt>
                <c:pt idx="325">
                  <c:v>3531.08</c:v>
                </c:pt>
                <c:pt idx="326">
                  <c:v>2626.26</c:v>
                </c:pt>
                <c:pt idx="327">
                  <c:v>3224.52</c:v>
                </c:pt>
                <c:pt idx="328">
                  <c:v>2725.44</c:v>
                </c:pt>
                <c:pt idx="329">
                  <c:v>3822.22</c:v>
                </c:pt>
                <c:pt idx="330">
                  <c:v>3667.45</c:v>
                </c:pt>
                <c:pt idx="331">
                  <c:v>3070.76</c:v>
                </c:pt>
                <c:pt idx="332">
                  <c:v>2966.67</c:v>
                </c:pt>
                <c:pt idx="333">
                  <c:v>3022.46</c:v>
                </c:pt>
                <c:pt idx="334">
                  <c:v>3689.44</c:v>
                </c:pt>
                <c:pt idx="335">
                  <c:v>2303.63</c:v>
                </c:pt>
                <c:pt idx="336">
                  <c:v>2744.8</c:v>
                </c:pt>
                <c:pt idx="337">
                  <c:v>3170.76</c:v>
                </c:pt>
                <c:pt idx="338">
                  <c:v>3810.38</c:v>
                </c:pt>
                <c:pt idx="339">
                  <c:v>5503.04</c:v>
                </c:pt>
                <c:pt idx="340">
                  <c:v>4188.01</c:v>
                </c:pt>
                <c:pt idx="341">
                  <c:v>4115.6899999999996</c:v>
                </c:pt>
                <c:pt idx="342">
                  <c:v>6594.14</c:v>
                </c:pt>
                <c:pt idx="343">
                  <c:v>3291.99</c:v>
                </c:pt>
                <c:pt idx="344">
                  <c:v>4720.67</c:v>
                </c:pt>
                <c:pt idx="345">
                  <c:v>4704.97</c:v>
                </c:pt>
                <c:pt idx="346">
                  <c:v>3634.98</c:v>
                </c:pt>
                <c:pt idx="347">
                  <c:v>6062.93</c:v>
                </c:pt>
                <c:pt idx="348">
                  <c:v>3453.11</c:v>
                </c:pt>
                <c:pt idx="349">
                  <c:v>2983.85</c:v>
                </c:pt>
                <c:pt idx="350">
                  <c:v>3190.57</c:v>
                </c:pt>
                <c:pt idx="351">
                  <c:v>4086.15</c:v>
                </c:pt>
                <c:pt idx="352">
                  <c:v>4841.8</c:v>
                </c:pt>
                <c:pt idx="353">
                  <c:v>5217.4399999999996</c:v>
                </c:pt>
                <c:pt idx="354">
                  <c:v>3927.03</c:v>
                </c:pt>
                <c:pt idx="355">
                  <c:v>4555.25</c:v>
                </c:pt>
                <c:pt idx="356">
                  <c:v>5614.28</c:v>
                </c:pt>
                <c:pt idx="357">
                  <c:v>4694.37</c:v>
                </c:pt>
                <c:pt idx="358">
                  <c:v>4170.01</c:v>
                </c:pt>
                <c:pt idx="359">
                  <c:v>4726.18</c:v>
                </c:pt>
                <c:pt idx="360">
                  <c:v>4929.2700000000004</c:v>
                </c:pt>
                <c:pt idx="361">
                  <c:v>4986.16</c:v>
                </c:pt>
                <c:pt idx="362">
                  <c:v>4658.2</c:v>
                </c:pt>
                <c:pt idx="363">
                  <c:v>5008.8500000000004</c:v>
                </c:pt>
                <c:pt idx="364">
                  <c:v>4500.59</c:v>
                </c:pt>
                <c:pt idx="365">
                  <c:v>4377.3999999999996</c:v>
                </c:pt>
                <c:pt idx="366">
                  <c:v>4800</c:v>
                </c:pt>
                <c:pt idx="367">
                  <c:v>5653.63</c:v>
                </c:pt>
                <c:pt idx="368">
                  <c:v>6012.27</c:v>
                </c:pt>
                <c:pt idx="369">
                  <c:v>8329.1299999999992</c:v>
                </c:pt>
                <c:pt idx="370">
                  <c:v>5942.76</c:v>
                </c:pt>
                <c:pt idx="371">
                  <c:v>6197.56</c:v>
                </c:pt>
                <c:pt idx="372">
                  <c:v>6558.41</c:v>
                </c:pt>
                <c:pt idx="373">
                  <c:v>5621.55</c:v>
                </c:pt>
                <c:pt idx="374">
                  <c:v>7089.34</c:v>
                </c:pt>
                <c:pt idx="375">
                  <c:v>5645.16</c:v>
                </c:pt>
                <c:pt idx="376">
                  <c:v>6017.41</c:v>
                </c:pt>
                <c:pt idx="377">
                  <c:v>6248.12</c:v>
                </c:pt>
                <c:pt idx="378">
                  <c:v>7425.03</c:v>
                </c:pt>
                <c:pt idx="379">
                  <c:v>6888.9</c:v>
                </c:pt>
                <c:pt idx="380">
                  <c:v>7834.46</c:v>
                </c:pt>
                <c:pt idx="381">
                  <c:v>6385.43</c:v>
                </c:pt>
                <c:pt idx="382">
                  <c:v>6663</c:v>
                </c:pt>
                <c:pt idx="383">
                  <c:v>7762.99</c:v>
                </c:pt>
                <c:pt idx="384">
                  <c:v>7947.25</c:v>
                </c:pt>
                <c:pt idx="385">
                  <c:v>7607.62</c:v>
                </c:pt>
                <c:pt idx="386">
                  <c:v>6557.06</c:v>
                </c:pt>
                <c:pt idx="387">
                  <c:v>6379.63</c:v>
                </c:pt>
                <c:pt idx="388">
                  <c:v>6622.39</c:v>
                </c:pt>
                <c:pt idx="389">
                  <c:v>6054.57</c:v>
                </c:pt>
                <c:pt idx="390">
                  <c:v>7648.08</c:v>
                </c:pt>
                <c:pt idx="391">
                  <c:v>7957.09</c:v>
                </c:pt>
                <c:pt idx="392">
                  <c:v>7258.73</c:v>
                </c:pt>
                <c:pt idx="393">
                  <c:v>8348.15</c:v>
                </c:pt>
                <c:pt idx="394">
                  <c:v>8314.2000000000007</c:v>
                </c:pt>
                <c:pt idx="395">
                  <c:v>8412.25</c:v>
                </c:pt>
                <c:pt idx="396">
                  <c:v>7798.18</c:v>
                </c:pt>
                <c:pt idx="397">
                  <c:v>9124.24</c:v>
                </c:pt>
                <c:pt idx="398">
                  <c:v>8701.89</c:v>
                </c:pt>
                <c:pt idx="399">
                  <c:v>8725.8700000000008</c:v>
                </c:pt>
                <c:pt idx="400">
                  <c:v>6106.97</c:v>
                </c:pt>
                <c:pt idx="401">
                  <c:v>5417.81</c:v>
                </c:pt>
                <c:pt idx="402">
                  <c:v>5561.61</c:v>
                </c:pt>
                <c:pt idx="403">
                  <c:v>5213.2299999999996</c:v>
                </c:pt>
                <c:pt idx="404">
                  <c:v>5417.92</c:v>
                </c:pt>
                <c:pt idx="405">
                  <c:v>5733.01</c:v>
                </c:pt>
                <c:pt idx="406">
                  <c:v>6051.07</c:v>
                </c:pt>
                <c:pt idx="407">
                  <c:v>5307.02</c:v>
                </c:pt>
                <c:pt idx="408">
                  <c:v>5401.18</c:v>
                </c:pt>
                <c:pt idx="409">
                  <c:v>7089.17</c:v>
                </c:pt>
                <c:pt idx="410">
                  <c:v>7988.23</c:v>
                </c:pt>
                <c:pt idx="411">
                  <c:v>8525.4599999999991</c:v>
                </c:pt>
                <c:pt idx="412">
                  <c:v>7445.87</c:v>
                </c:pt>
                <c:pt idx="413">
                  <c:v>7755.95</c:v>
                </c:pt>
                <c:pt idx="414">
                  <c:v>7572.28</c:v>
                </c:pt>
                <c:pt idx="415">
                  <c:v>6605.66</c:v>
                </c:pt>
                <c:pt idx="416">
                  <c:v>10270.799999999999</c:v>
                </c:pt>
                <c:pt idx="417">
                  <c:v>6210.66</c:v>
                </c:pt>
                <c:pt idx="418">
                  <c:v>7916.32</c:v>
                </c:pt>
                <c:pt idx="419">
                  <c:v>5896.02</c:v>
                </c:pt>
                <c:pt idx="420">
                  <c:v>7029.89</c:v>
                </c:pt>
                <c:pt idx="421">
                  <c:v>6224.81</c:v>
                </c:pt>
                <c:pt idx="422">
                  <c:v>5979.32</c:v>
                </c:pt>
                <c:pt idx="423">
                  <c:v>6643.76</c:v>
                </c:pt>
                <c:pt idx="424">
                  <c:v>8042.66</c:v>
                </c:pt>
                <c:pt idx="425">
                  <c:v>6880.36</c:v>
                </c:pt>
                <c:pt idx="426">
                  <c:v>6156.3</c:v>
                </c:pt>
                <c:pt idx="427">
                  <c:v>5471.46</c:v>
                </c:pt>
                <c:pt idx="428">
                  <c:v>9241.3799999999992</c:v>
                </c:pt>
                <c:pt idx="429">
                  <c:v>6401.21</c:v>
                </c:pt>
                <c:pt idx="430">
                  <c:v>7498.25</c:v>
                </c:pt>
                <c:pt idx="431">
                  <c:v>8626.2000000000007</c:v>
                </c:pt>
                <c:pt idx="432">
                  <c:v>7391.34</c:v>
                </c:pt>
                <c:pt idx="433">
                  <c:v>7261.68</c:v>
                </c:pt>
                <c:pt idx="434">
                  <c:v>9905.16</c:v>
                </c:pt>
                <c:pt idx="435">
                  <c:v>7924.73</c:v>
                </c:pt>
                <c:pt idx="436">
                  <c:v>5632.49</c:v>
                </c:pt>
                <c:pt idx="437">
                  <c:v>8779.99</c:v>
                </c:pt>
                <c:pt idx="438">
                  <c:v>7819.6</c:v>
                </c:pt>
                <c:pt idx="439">
                  <c:v>8710.41</c:v>
                </c:pt>
                <c:pt idx="440">
                  <c:v>8389.91</c:v>
                </c:pt>
                <c:pt idx="441">
                  <c:v>6592.3</c:v>
                </c:pt>
                <c:pt idx="442">
                  <c:v>4111.99</c:v>
                </c:pt>
                <c:pt idx="443">
                  <c:v>6799.48</c:v>
                </c:pt>
                <c:pt idx="444">
                  <c:v>7886.18</c:v>
                </c:pt>
                <c:pt idx="445">
                  <c:v>9492.84</c:v>
                </c:pt>
                <c:pt idx="446">
                  <c:v>7957.29</c:v>
                </c:pt>
                <c:pt idx="447">
                  <c:v>8275.3700000000008</c:v>
                </c:pt>
                <c:pt idx="448">
                  <c:v>9263.8799999999992</c:v>
                </c:pt>
                <c:pt idx="449">
                  <c:v>6792.21</c:v>
                </c:pt>
                <c:pt idx="450">
                  <c:v>7719.24</c:v>
                </c:pt>
                <c:pt idx="451">
                  <c:v>7703.08</c:v>
                </c:pt>
                <c:pt idx="452">
                  <c:v>8401.9</c:v>
                </c:pt>
                <c:pt idx="453">
                  <c:v>10124.92</c:v>
                </c:pt>
                <c:pt idx="454">
                  <c:v>10229.370000000001</c:v>
                </c:pt>
                <c:pt idx="455">
                  <c:v>11581.3</c:v>
                </c:pt>
                <c:pt idx="456">
                  <c:v>10120.73</c:v>
                </c:pt>
                <c:pt idx="457">
                  <c:v>10821.06</c:v>
                </c:pt>
                <c:pt idx="458">
                  <c:v>9709.19</c:v>
                </c:pt>
                <c:pt idx="459">
                  <c:v>8980.4</c:v>
                </c:pt>
                <c:pt idx="460">
                  <c:v>8192.18</c:v>
                </c:pt>
                <c:pt idx="461">
                  <c:v>7902.26</c:v>
                </c:pt>
                <c:pt idx="462">
                  <c:v>9771.19</c:v>
                </c:pt>
                <c:pt idx="463">
                  <c:v>7518.48</c:v>
                </c:pt>
                <c:pt idx="464">
                  <c:v>8247.02</c:v>
                </c:pt>
                <c:pt idx="465">
                  <c:v>8727.02</c:v>
                </c:pt>
                <c:pt idx="466">
                  <c:v>8745.41</c:v>
                </c:pt>
                <c:pt idx="467">
                  <c:v>10196.549999999999</c:v>
                </c:pt>
                <c:pt idx="468">
                  <c:v>10205.94</c:v>
                </c:pt>
                <c:pt idx="469">
                  <c:v>12808.46</c:v>
                </c:pt>
                <c:pt idx="470">
                  <c:v>10274.6</c:v>
                </c:pt>
                <c:pt idx="471">
                  <c:v>7619.85</c:v>
                </c:pt>
                <c:pt idx="472">
                  <c:v>7929.04</c:v>
                </c:pt>
                <c:pt idx="473">
                  <c:v>8903.9699999999993</c:v>
                </c:pt>
                <c:pt idx="474">
                  <c:v>7490.35</c:v>
                </c:pt>
                <c:pt idx="475">
                  <c:v>6193.3</c:v>
                </c:pt>
                <c:pt idx="476">
                  <c:v>7302.77</c:v>
                </c:pt>
                <c:pt idx="477">
                  <c:v>6646.44</c:v>
                </c:pt>
                <c:pt idx="478">
                  <c:v>7412.25</c:v>
                </c:pt>
                <c:pt idx="479">
                  <c:v>7127.98</c:v>
                </c:pt>
                <c:pt idx="480">
                  <c:v>7712.08</c:v>
                </c:pt>
                <c:pt idx="481">
                  <c:v>8124.6</c:v>
                </c:pt>
                <c:pt idx="482">
                  <c:v>8236.44</c:v>
                </c:pt>
                <c:pt idx="483">
                  <c:v>8954.51</c:v>
                </c:pt>
                <c:pt idx="484">
                  <c:v>9025.2800000000007</c:v>
                </c:pt>
                <c:pt idx="485">
                  <c:v>7372.91</c:v>
                </c:pt>
                <c:pt idx="486">
                  <c:v>6834.37</c:v>
                </c:pt>
                <c:pt idx="487">
                  <c:v>7794.38</c:v>
                </c:pt>
                <c:pt idx="488">
                  <c:v>5728.14</c:v>
                </c:pt>
                <c:pt idx="489">
                  <c:v>7550.94</c:v>
                </c:pt>
              </c:numCache>
            </c:numRef>
          </c:val>
          <c:smooth val="0"/>
          <c:extLst>
            <c:ext xmlns:c16="http://schemas.microsoft.com/office/drawing/2014/chart" uri="{C3380CC4-5D6E-409C-BE32-E72D297353CC}">
              <c16:uniqueId val="{00000000-3CA6-44CF-B836-ABD16E0961C9}"/>
            </c:ext>
          </c:extLst>
        </c:ser>
        <c:dLbls>
          <c:showLegendKey val="0"/>
          <c:showVal val="0"/>
          <c:showCatName val="0"/>
          <c:showSerName val="0"/>
          <c:showPercent val="0"/>
          <c:showBubbleSize val="0"/>
        </c:dLbls>
        <c:marker val="1"/>
        <c:smooth val="0"/>
        <c:axId val="917228223"/>
        <c:axId val="917226975"/>
      </c:lineChart>
      <c:catAx>
        <c:axId val="9172282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6975"/>
        <c:crosses val="autoZero"/>
        <c:auto val="1"/>
        <c:lblAlgn val="ctr"/>
        <c:lblOffset val="100"/>
        <c:noMultiLvlLbl val="0"/>
      </c:catAx>
      <c:valAx>
        <c:axId val="91722697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172282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2">
          <a:lumMod val="50000"/>
        </a:schemeClr>
      </a:solidFill>
    </a:ln>
    <a:effectLst/>
  </c:spPr>
  <c:txPr>
    <a:bodyPr/>
    <a:lstStyle/>
    <a:p>
      <a:pPr>
        <a:defRPr sz="12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9050" cap="flat" cmpd="sng" algn="ctr">
        <a:solidFill>
          <a:schemeClr val="tx1">
            <a:lumMod val="15000"/>
            <a:lumOff val="8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10800000" scaled="1"/>
        <a:tileRect/>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99000">
              <a:schemeClr val="tx1">
                <a:lumMod val="25000"/>
                <a:lumOff val="75000"/>
              </a:schemeClr>
            </a:gs>
            <a:gs pos="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15000"/>
                <a:lumOff val="85000"/>
              </a:schemeClr>
            </a:gs>
            <a:gs pos="0">
              <a:schemeClr val="tx1">
                <a:lumMod val="5000"/>
                <a:lumOff val="9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F8DC-B907-45F4-A6D9-B23ADD889BF6}" type="datetimeFigureOut">
              <a:rPr lang="en-IN" smtClean="0"/>
              <a:t>20-03-2023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B7263-A17B-4449-900E-FD8687FAD364}" type="slidenum">
              <a:rPr lang="en-IN" smtClean="0"/>
              <a:t>‹#›</a:t>
            </a:fld>
            <a:endParaRPr lang="en-IN"/>
          </a:p>
        </p:txBody>
      </p:sp>
    </p:spTree>
    <p:extLst>
      <p:ext uri="{BB962C8B-B14F-4D97-AF65-F5344CB8AC3E}">
        <p14:creationId xmlns:p14="http://schemas.microsoft.com/office/powerpoint/2010/main" val="367765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9B7263-A17B-4449-900E-FD8687FAD364}" type="slidenum">
              <a:rPr lang="en-IN" smtClean="0"/>
              <a:t>2</a:t>
            </a:fld>
            <a:endParaRPr lang="en-IN"/>
          </a:p>
        </p:txBody>
      </p:sp>
    </p:spTree>
    <p:extLst>
      <p:ext uri="{BB962C8B-B14F-4D97-AF65-F5344CB8AC3E}">
        <p14:creationId xmlns:p14="http://schemas.microsoft.com/office/powerpoint/2010/main" val="3134556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https://www.iexindia.com/membership.aspx?id=NYB7R4FBBJQ%3D&amp;mid=IT8b%2BZM5cBA%3D</a:t>
            </a:r>
          </a:p>
        </p:txBody>
      </p:sp>
      <p:sp>
        <p:nvSpPr>
          <p:cNvPr id="4" name="Slide Number Placeholder 3"/>
          <p:cNvSpPr>
            <a:spLocks noGrp="1"/>
          </p:cNvSpPr>
          <p:nvPr>
            <p:ph type="sldNum" sz="quarter" idx="5"/>
          </p:nvPr>
        </p:nvSpPr>
        <p:spPr/>
        <p:txBody>
          <a:bodyPr/>
          <a:lstStyle/>
          <a:p>
            <a:fld id="{089B7263-A17B-4449-900E-FD8687FAD364}" type="slidenum">
              <a:rPr lang="en-IN" smtClean="0"/>
              <a:t>25</a:t>
            </a:fld>
            <a:endParaRPr lang="en-IN"/>
          </a:p>
        </p:txBody>
      </p:sp>
    </p:spTree>
    <p:extLst>
      <p:ext uri="{BB962C8B-B14F-4D97-AF65-F5344CB8AC3E}">
        <p14:creationId xmlns:p14="http://schemas.microsoft.com/office/powerpoint/2010/main" val="3735989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https://www.livemint.com/news/india/vedanta-to-source-580-mw-green-energy-for-india-operations-11648742458441.html</a:t>
            </a:r>
          </a:p>
        </p:txBody>
      </p:sp>
      <p:sp>
        <p:nvSpPr>
          <p:cNvPr id="4" name="Slide Number Placeholder 3"/>
          <p:cNvSpPr>
            <a:spLocks noGrp="1"/>
          </p:cNvSpPr>
          <p:nvPr>
            <p:ph type="sldNum" sz="quarter" idx="5"/>
          </p:nvPr>
        </p:nvSpPr>
        <p:spPr/>
        <p:txBody>
          <a:bodyPr/>
          <a:lstStyle/>
          <a:p>
            <a:fld id="{089B7263-A17B-4449-900E-FD8687FAD364}" type="slidenum">
              <a:rPr lang="en-IN" smtClean="0"/>
              <a:t>30</a:t>
            </a:fld>
            <a:endParaRPr lang="en-IN"/>
          </a:p>
        </p:txBody>
      </p:sp>
    </p:spTree>
    <p:extLst>
      <p:ext uri="{BB962C8B-B14F-4D97-AF65-F5344CB8AC3E}">
        <p14:creationId xmlns:p14="http://schemas.microsoft.com/office/powerpoint/2010/main" val="1777061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https://www.livemint.com/news/india/vedanta-to-source-580-mw-green-energy-for-india-operations-11648742458441.html</a:t>
            </a:r>
          </a:p>
        </p:txBody>
      </p:sp>
      <p:sp>
        <p:nvSpPr>
          <p:cNvPr id="4" name="Slide Number Placeholder 3"/>
          <p:cNvSpPr>
            <a:spLocks noGrp="1"/>
          </p:cNvSpPr>
          <p:nvPr>
            <p:ph type="sldNum" sz="quarter" idx="5"/>
          </p:nvPr>
        </p:nvSpPr>
        <p:spPr/>
        <p:txBody>
          <a:bodyPr/>
          <a:lstStyle/>
          <a:p>
            <a:fld id="{089B7263-A17B-4449-900E-FD8687FAD364}" type="slidenum">
              <a:rPr lang="en-IN" smtClean="0"/>
              <a:t>31</a:t>
            </a:fld>
            <a:endParaRPr lang="en-IN"/>
          </a:p>
        </p:txBody>
      </p:sp>
    </p:spTree>
    <p:extLst>
      <p:ext uri="{BB962C8B-B14F-4D97-AF65-F5344CB8AC3E}">
        <p14:creationId xmlns:p14="http://schemas.microsoft.com/office/powerpoint/2010/main" val="1256251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https://cercind.gov.in/report_MM.html</a:t>
            </a:r>
          </a:p>
        </p:txBody>
      </p:sp>
      <p:sp>
        <p:nvSpPr>
          <p:cNvPr id="4" name="Slide Number Placeholder 3"/>
          <p:cNvSpPr>
            <a:spLocks noGrp="1"/>
          </p:cNvSpPr>
          <p:nvPr>
            <p:ph type="sldNum" sz="quarter" idx="5"/>
          </p:nvPr>
        </p:nvSpPr>
        <p:spPr/>
        <p:txBody>
          <a:bodyPr/>
          <a:lstStyle/>
          <a:p>
            <a:fld id="{089B7263-A17B-4449-900E-FD8687FAD364}" type="slidenum">
              <a:rPr lang="en-IN" smtClean="0"/>
              <a:t>32</a:t>
            </a:fld>
            <a:endParaRPr lang="en-IN"/>
          </a:p>
        </p:txBody>
      </p:sp>
    </p:spTree>
    <p:extLst>
      <p:ext uri="{BB962C8B-B14F-4D97-AF65-F5344CB8AC3E}">
        <p14:creationId xmlns:p14="http://schemas.microsoft.com/office/powerpoint/2010/main" val="3523529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28928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811107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028805719"/>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8"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799" b="1">
                <a:solidFill>
                  <a:schemeClr val="bg1"/>
                </a:solidFill>
              </a:defRPr>
            </a:lvl1pPr>
            <a:lvl2pPr marL="0" marR="0" indent="0" algn="l" defTabSz="914464"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94" indent="0" algn="ctr">
              <a:buNone/>
              <a:defRPr sz="1600"/>
            </a:lvl4pPr>
            <a:lvl5pPr marL="1828928" indent="0" algn="ctr">
              <a:buNone/>
              <a:defRPr sz="1600"/>
            </a:lvl5pPr>
            <a:lvl6pPr marL="2286160" indent="0" algn="ctr">
              <a:buNone/>
              <a:defRPr sz="1600"/>
            </a:lvl6pPr>
            <a:lvl7pPr marL="2743390" indent="0" algn="ctr">
              <a:buNone/>
              <a:defRPr sz="1600"/>
            </a:lvl7pPr>
            <a:lvl8pPr marL="3200623" indent="0" algn="ctr">
              <a:buNone/>
              <a:defRPr sz="1600"/>
            </a:lvl8pPr>
            <a:lvl9pPr marL="3657855" indent="0" algn="ctr">
              <a:buNone/>
              <a:defRPr sz="1600"/>
            </a:lvl9pPr>
          </a:lstStyle>
          <a:p>
            <a:r>
              <a:rPr lang="en-US" noProof="0" dirty="0"/>
              <a:t>Click to edit Master title style</a:t>
            </a:r>
          </a:p>
          <a:p>
            <a:pPr marL="0" marR="0" lvl="1" indent="0" algn="l" defTabSz="91446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8" cy="298450"/>
          </a:xfrm>
          <a:prstGeom prst="rect">
            <a:avLst/>
          </a:prstGeom>
        </p:spPr>
        <p:txBody>
          <a:bodyPr/>
          <a:lstStyle>
            <a:lvl1pPr>
              <a:spcAft>
                <a:spcPts val="0"/>
              </a:spcAft>
              <a:defRPr sz="100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41489616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4"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5"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901936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endParaRPr lang="en-US" dirty="0"/>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3046616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20/03/2023</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230710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
            </p:custDataLst>
            <p:extLst>
              <p:ext uri="{D42A27DB-BD31-4B8C-83A1-F6EECF244321}">
                <p14:modId xmlns:p14="http://schemas.microsoft.com/office/powerpoint/2010/main" val="216791463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54" name="think-cell Slide" r:id="rId10" imgW="270" imgH="270" progId="TCLayout.ActiveDocument.1">
                  <p:embed/>
                </p:oleObj>
              </mc:Choice>
              <mc:Fallback>
                <p:oleObj name="think-cell Slide" r:id="rId10" imgW="270" imgH="270" progId="TCLayout.ActiveDocument.1">
                  <p:embed/>
                  <p:pic>
                    <p:nvPicPr>
                      <p:cNvPr id="4" name="Object 3" hidden="1"/>
                      <p:cNvPicPr/>
                      <p:nvPr/>
                    </p:nvPicPr>
                    <p:blipFill>
                      <a:blip r:embed="rId11"/>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501649" y="666526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2023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63577" y="666221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3414128804"/>
      </p:ext>
    </p:extLst>
  </p:cSld>
  <p:clrMap bg1="lt1" tx1="dk1" bg2="lt2" tx2="dk2" accent1="accent1" accent2="accent2" accent3="accent3" accent4="accent4" accent5="accent5" accent6="accent6" hlink="hlink" folHlink="folHlink"/>
  <p:sldLayoutIdLst>
    <p:sldLayoutId id="2147485023" r:id="rId1"/>
    <p:sldLayoutId id="2147485024" r:id="rId2"/>
    <p:sldLayoutId id="2147485046" r:id="rId3"/>
    <p:sldLayoutId id="2147485047" r:id="rId4"/>
    <p:sldLayoutId id="2147485048" r:id="rId5"/>
    <p:sldLayoutId id="2147485049" r:id="rId6"/>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6.xml"/><Relationship Id="rId1" Type="http://schemas.openxmlformats.org/officeDocument/2006/relationships/slideLayout" Target="../slideLayouts/slideLayout1.xml"/><Relationship Id="rId4" Type="http://schemas.openxmlformats.org/officeDocument/2006/relationships/slide" Target="slide22.xml"/></Relationships>
</file>

<file path=ppt/slides/_rels/slide5.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9.xml"/><Relationship Id="rId1" Type="http://schemas.openxmlformats.org/officeDocument/2006/relationships/slideLayout" Target="../slideLayouts/slideLayout1.xml"/><Relationship Id="rId5" Type="http://schemas.openxmlformats.org/officeDocument/2006/relationships/slide" Target="slide38.xml"/><Relationship Id="rId4" Type="http://schemas.openxmlformats.org/officeDocument/2006/relationships/slide" Target="slide3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slide" Target="slide4.xml"/><Relationship Id="rId5" Type="http://schemas.openxmlformats.org/officeDocument/2006/relationships/image" Target="../media/image3.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4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45.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slide" Target="slide4.x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vmlDrawing" Target="../drawings/vmlDrawing4.vml"/><Relationship Id="rId5" Type="http://schemas.openxmlformats.org/officeDocument/2006/relationships/image" Target="../media/image3.emf"/><Relationship Id="rId4"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slide" Target="slide4.xml"/><Relationship Id="rId5" Type="http://schemas.openxmlformats.org/officeDocument/2006/relationships/image" Target="../media/image3.emf"/><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 Target="slide4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xml"/><Relationship Id="rId1" Type="http://schemas.openxmlformats.org/officeDocument/2006/relationships/vmlDrawing" Target="../drawings/vmlDrawing6.vml"/><Relationship Id="rId5" Type="http://schemas.openxmlformats.org/officeDocument/2006/relationships/image" Target="../media/image3.emf"/><Relationship Id="rId4" Type="http://schemas.openxmlformats.org/officeDocument/2006/relationships/oleObject" Target="../embeddings/oleObject6.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xml"/><Relationship Id="rId1" Type="http://schemas.openxmlformats.org/officeDocument/2006/relationships/vmlDrawing" Target="../drawings/vmlDrawing7.vml"/><Relationship Id="rId6" Type="http://schemas.openxmlformats.org/officeDocument/2006/relationships/slide" Target="slide5.xml"/><Relationship Id="rId5" Type="http://schemas.openxmlformats.org/officeDocument/2006/relationships/image" Target="../media/image3.emf"/><Relationship Id="rId4" Type="http://schemas.openxmlformats.org/officeDocument/2006/relationships/oleObject" Target="../embeddings/oleObject7.bin"/></Relationships>
</file>

<file path=ppt/slides/_rels/slide3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slide" Target="slide5.xml"/><Relationship Id="rId5" Type="http://schemas.openxmlformats.org/officeDocument/2006/relationships/image" Target="../media/image3.emf"/><Relationship Id="rId4" Type="http://schemas.openxmlformats.org/officeDocument/2006/relationships/oleObject" Target="../embeddings/oleObject7.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xml"/><Relationship Id="rId1" Type="http://schemas.openxmlformats.org/officeDocument/2006/relationships/vmlDrawing" Target="../drawings/vmlDrawing9.vml"/><Relationship Id="rId5" Type="http://schemas.openxmlformats.org/officeDocument/2006/relationships/image" Target="../media/image3.emf"/><Relationship Id="rId4" Type="http://schemas.openxmlformats.org/officeDocument/2006/relationships/oleObject" Target="../embeddings/oleObject7.bin"/></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1.xml"/><Relationship Id="rId1" Type="http://schemas.openxmlformats.org/officeDocument/2006/relationships/vmlDrawing" Target="../drawings/vmlDrawing10.vml"/><Relationship Id="rId4" Type="http://schemas.openxmlformats.org/officeDocument/2006/relationships/image" Target="../media/image14.e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chart" Target="../charts/chart1.xml"/><Relationship Id="rId1" Type="http://schemas.openxmlformats.org/officeDocument/2006/relationships/slideLayout" Target="../slideLayouts/slideLayout1.xml"/><Relationship Id="rId4" Type="http://schemas.openxmlformats.org/officeDocument/2006/relationships/slide" Target="slide7.xml"/></Relationships>
</file>

<file path=ppt/slides/_rels/slide4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6" Type="http://schemas.openxmlformats.org/officeDocument/2006/relationships/slide" Target="slide24.xml"/><Relationship Id="rId5" Type="http://schemas.openxmlformats.org/officeDocument/2006/relationships/slide" Target="slide44.xml"/><Relationship Id="rId4" Type="http://schemas.openxmlformats.org/officeDocument/2006/relationships/chart" Target="../charts/char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93064" y="2584224"/>
            <a:ext cx="6604422" cy="1941477"/>
          </a:xfrm>
        </p:spPr>
        <p:txBody>
          <a:bodyPr/>
          <a:lstStyle/>
          <a:p>
            <a:r>
              <a:rPr lang="en-US" sz="3200" dirty="0">
                <a:solidFill>
                  <a:schemeClr val="accent6">
                    <a:lumMod val="50000"/>
                  </a:schemeClr>
                </a:solidFill>
              </a:rPr>
              <a:t>Alternate Business Modalities for Diversification into Solar Business</a:t>
            </a:r>
          </a:p>
          <a:p>
            <a:endParaRPr lang="en-US" sz="2000" b="0" dirty="0">
              <a:solidFill>
                <a:schemeClr val="tx1"/>
              </a:solidFill>
            </a:endParaRPr>
          </a:p>
          <a:p>
            <a:r>
              <a:rPr lang="en-US" sz="2000" b="0" dirty="0">
                <a:solidFill>
                  <a:schemeClr val="tx1"/>
                </a:solidFill>
              </a:rPr>
              <a:t>Coal India Limited</a:t>
            </a:r>
            <a:endParaRPr lang="en-US" sz="3200" b="0" dirty="0">
              <a:solidFill>
                <a:schemeClr val="tx1"/>
              </a:solidFill>
            </a:endParaRPr>
          </a:p>
        </p:txBody>
      </p:sp>
      <p:sp>
        <p:nvSpPr>
          <p:cNvPr id="3" name="Text Placeholder 2"/>
          <p:cNvSpPr>
            <a:spLocks noGrp="1"/>
          </p:cNvSpPr>
          <p:nvPr>
            <p:ph type="body" sz="quarter" idx="10"/>
          </p:nvPr>
        </p:nvSpPr>
        <p:spPr>
          <a:xfrm>
            <a:off x="493064" y="6040365"/>
            <a:ext cx="3031417" cy="381699"/>
          </a:xfrm>
        </p:spPr>
        <p:txBody>
          <a:bodyPr>
            <a:normAutofit/>
          </a:bodyPr>
          <a:lstStyle/>
          <a:p>
            <a:r>
              <a:rPr lang="en-IN" sz="1600" b="1" dirty="0">
                <a:solidFill>
                  <a:srgbClr val="86BC25"/>
                </a:solidFill>
              </a:rPr>
              <a:t>Mar 2023</a:t>
            </a:r>
          </a:p>
        </p:txBody>
      </p:sp>
      <p:pic>
        <p:nvPicPr>
          <p:cNvPr id="7" name="Picture 6">
            <a:extLst>
              <a:ext uri="{FF2B5EF4-FFF2-40B4-BE49-F238E27FC236}">
                <a16:creationId xmlns:a16="http://schemas.microsoft.com/office/drawing/2014/main" id="{EFCC7EDA-EFCB-4614-B996-8C4AEE05CE19}"/>
              </a:ext>
            </a:extLst>
          </p:cNvPr>
          <p:cNvPicPr>
            <a:picLocks noChangeAspect="1"/>
          </p:cNvPicPr>
          <p:nvPr/>
        </p:nvPicPr>
        <p:blipFill rotWithShape="1">
          <a:blip r:embed="rId2"/>
          <a:srcRect l="25507" t="8781" r="24803" b="6790"/>
          <a:stretch/>
        </p:blipFill>
        <p:spPr>
          <a:xfrm>
            <a:off x="7314481" y="1390921"/>
            <a:ext cx="4123944" cy="4146176"/>
          </a:xfrm>
          <a:prstGeom prst="rect">
            <a:avLst/>
          </a:prstGeom>
        </p:spPr>
      </p:pic>
    </p:spTree>
    <p:extLst>
      <p:ext uri="{BB962C8B-B14F-4D97-AF65-F5344CB8AC3E}">
        <p14:creationId xmlns:p14="http://schemas.microsoft.com/office/powerpoint/2010/main" val="379477417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rrow: Right 26">
            <a:extLst>
              <a:ext uri="{FF2B5EF4-FFF2-40B4-BE49-F238E27FC236}">
                <a16:creationId xmlns:a16="http://schemas.microsoft.com/office/drawing/2014/main" id="{8F6EF682-C063-4BCB-93F5-C15E451B8DA3}"/>
              </a:ext>
            </a:extLst>
          </p:cNvPr>
          <p:cNvSpPr/>
          <p:nvPr/>
        </p:nvSpPr>
        <p:spPr bwMode="gray">
          <a:xfrm rot="5400000">
            <a:off x="1207721" y="2036800"/>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7" name="Rectangle: Rounded Corners 16">
            <a:extLst>
              <a:ext uri="{FF2B5EF4-FFF2-40B4-BE49-F238E27FC236}">
                <a16:creationId xmlns:a16="http://schemas.microsoft.com/office/drawing/2014/main" id="{BE5E3491-BCF2-44F9-8202-AD7E52421663}"/>
              </a:ext>
            </a:extLst>
          </p:cNvPr>
          <p:cNvSpPr/>
          <p:nvPr/>
        </p:nvSpPr>
        <p:spPr bwMode="gray">
          <a:xfrm>
            <a:off x="3654008" y="881434"/>
            <a:ext cx="4593771" cy="511365"/>
          </a:xfrm>
          <a:prstGeom prst="roundRect">
            <a:avLst/>
          </a:prstGeom>
          <a:solidFill>
            <a:srgbClr val="004F59"/>
          </a:solidFill>
          <a:ln w="19050" algn="ctr">
            <a:solidFill>
              <a:srgbClr val="00206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effectLst/>
                <a:ea typeface="Calibri" panose="020F0502020204030204" pitchFamily="34" charset="0"/>
              </a:rPr>
              <a:t>Alternate options for sale of solar power</a:t>
            </a:r>
            <a:endParaRPr lang="en-US" sz="1600" b="1" dirty="0">
              <a:solidFill>
                <a:schemeClr val="bg1"/>
              </a:solidFill>
            </a:endParaRPr>
          </a:p>
        </p:txBody>
      </p:sp>
      <p:sp>
        <p:nvSpPr>
          <p:cNvPr id="18" name="Rectangle: Rounded Corners 17">
            <a:extLst>
              <a:ext uri="{FF2B5EF4-FFF2-40B4-BE49-F238E27FC236}">
                <a16:creationId xmlns:a16="http://schemas.microsoft.com/office/drawing/2014/main" id="{30B7B587-F5CB-48CB-980C-229F7665A15B}"/>
              </a:ext>
            </a:extLst>
          </p:cNvPr>
          <p:cNvSpPr/>
          <p:nvPr/>
        </p:nvSpPr>
        <p:spPr bwMode="gray">
          <a:xfrm>
            <a:off x="2847517" y="4296994"/>
            <a:ext cx="1156424" cy="1147126"/>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400" b="1" dirty="0">
                <a:solidFill>
                  <a:schemeClr val="tx1"/>
                </a:solidFill>
              </a:rPr>
              <a:t>A. Sale to </a:t>
            </a:r>
            <a:r>
              <a:rPr lang="en-US" sz="1400" b="1" dirty="0"/>
              <a:t>Rajasthan DISCOMs</a:t>
            </a:r>
          </a:p>
        </p:txBody>
      </p:sp>
      <p:sp>
        <p:nvSpPr>
          <p:cNvPr id="29" name="Rectangle 28">
            <a:extLst>
              <a:ext uri="{FF2B5EF4-FFF2-40B4-BE49-F238E27FC236}">
                <a16:creationId xmlns:a16="http://schemas.microsoft.com/office/drawing/2014/main" id="{1658CBBF-9781-4BF0-9987-1A85ED159933}"/>
              </a:ext>
            </a:extLst>
          </p:cNvPr>
          <p:cNvSpPr/>
          <p:nvPr/>
        </p:nvSpPr>
        <p:spPr bwMode="gray">
          <a:xfrm rot="5400000">
            <a:off x="6060740" y="-2885665"/>
            <a:ext cx="140964" cy="9534964"/>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1" name="Arrow: Right 30">
            <a:extLst>
              <a:ext uri="{FF2B5EF4-FFF2-40B4-BE49-F238E27FC236}">
                <a16:creationId xmlns:a16="http://schemas.microsoft.com/office/drawing/2014/main" id="{1CC40100-5FED-4580-8A3B-758CA513FB77}"/>
              </a:ext>
            </a:extLst>
          </p:cNvPr>
          <p:cNvSpPr/>
          <p:nvPr/>
        </p:nvSpPr>
        <p:spPr bwMode="gray">
          <a:xfrm rot="5400000">
            <a:off x="5740043" y="1477636"/>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3" name="Title 3">
            <a:extLst>
              <a:ext uri="{FF2B5EF4-FFF2-40B4-BE49-F238E27FC236}">
                <a16:creationId xmlns:a16="http://schemas.microsoft.com/office/drawing/2014/main" id="{663C943F-7749-4A74-BCCC-65AFE516A0F9}"/>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Alternate Business Modalities for sale of Solar Power other than Section 63</a:t>
            </a:r>
            <a:endParaRPr lang="en-US" sz="2400" dirty="0">
              <a:effectLst/>
              <a:latin typeface="Calibri" panose="020F0502020204030204" pitchFamily="34" charset="0"/>
              <a:ea typeface="Calibri" panose="020F0502020204030204" pitchFamily="34" charset="0"/>
            </a:endParaRPr>
          </a:p>
        </p:txBody>
      </p:sp>
      <p:sp>
        <p:nvSpPr>
          <p:cNvPr id="2" name="Rectangle 1">
            <a:extLst>
              <a:ext uri="{FF2B5EF4-FFF2-40B4-BE49-F238E27FC236}">
                <a16:creationId xmlns:a16="http://schemas.microsoft.com/office/drawing/2014/main" id="{CBF09D58-14D5-4130-A201-9301F1D31EA1}"/>
              </a:ext>
            </a:extLst>
          </p:cNvPr>
          <p:cNvSpPr/>
          <p:nvPr/>
        </p:nvSpPr>
        <p:spPr bwMode="gray">
          <a:xfrm>
            <a:off x="557715" y="2368372"/>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1. Sale of Solar Power to RVUNL</a:t>
            </a:r>
          </a:p>
        </p:txBody>
      </p:sp>
      <p:sp>
        <p:nvSpPr>
          <p:cNvPr id="19" name="Arrow: Right 18">
            <a:extLst>
              <a:ext uri="{FF2B5EF4-FFF2-40B4-BE49-F238E27FC236}">
                <a16:creationId xmlns:a16="http://schemas.microsoft.com/office/drawing/2014/main" id="{17F8D869-4876-492A-84BD-010EDB9630F0}"/>
              </a:ext>
            </a:extLst>
          </p:cNvPr>
          <p:cNvSpPr/>
          <p:nvPr/>
        </p:nvSpPr>
        <p:spPr bwMode="gray">
          <a:xfrm rot="5400000">
            <a:off x="3639814" y="3579582"/>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 name="TextBox 3">
            <a:extLst>
              <a:ext uri="{FF2B5EF4-FFF2-40B4-BE49-F238E27FC236}">
                <a16:creationId xmlns:a16="http://schemas.microsoft.com/office/drawing/2014/main" id="{9CF20EBC-D4C3-4CC2-900C-657FAF290F8C}"/>
              </a:ext>
            </a:extLst>
          </p:cNvPr>
          <p:cNvSpPr txBox="1"/>
          <p:nvPr/>
        </p:nvSpPr>
        <p:spPr>
          <a:xfrm>
            <a:off x="9179613" y="6485811"/>
            <a:ext cx="1800999" cy="169277"/>
          </a:xfrm>
          <a:prstGeom prst="rect">
            <a:avLst/>
          </a:prstGeom>
          <a:noFill/>
        </p:spPr>
        <p:txBody>
          <a:bodyPr wrap="square" lIns="0" tIns="0" rIns="0" bIns="0" rtlCol="0">
            <a:spAutoFit/>
          </a:bodyPr>
          <a:lstStyle/>
          <a:p>
            <a:pPr>
              <a:spcBef>
                <a:spcPts val="600"/>
              </a:spcBef>
              <a:buSzPct val="100000"/>
            </a:pPr>
            <a:r>
              <a:rPr lang="en-US" sz="1100" i="1" dirty="0">
                <a:solidFill>
                  <a:srgbClr val="313131"/>
                </a:solidFill>
              </a:rPr>
              <a:t>* Commercial and Industrial</a:t>
            </a:r>
          </a:p>
        </p:txBody>
      </p:sp>
      <p:sp>
        <p:nvSpPr>
          <p:cNvPr id="25" name="Rectangle 24">
            <a:extLst>
              <a:ext uri="{FF2B5EF4-FFF2-40B4-BE49-F238E27FC236}">
                <a16:creationId xmlns:a16="http://schemas.microsoft.com/office/drawing/2014/main" id="{51122500-F32C-4A98-8716-171B1F940469}"/>
              </a:ext>
            </a:extLst>
          </p:cNvPr>
          <p:cNvSpPr/>
          <p:nvPr/>
        </p:nvSpPr>
        <p:spPr bwMode="gray">
          <a:xfrm rot="5400000">
            <a:off x="4103957" y="3192244"/>
            <a:ext cx="53889" cy="1534439"/>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8" name="Arrow: Right 27">
            <a:extLst>
              <a:ext uri="{FF2B5EF4-FFF2-40B4-BE49-F238E27FC236}">
                <a16:creationId xmlns:a16="http://schemas.microsoft.com/office/drawing/2014/main" id="{D74A9EEA-D6C8-4EF2-91E3-F24F88DBCF05}"/>
              </a:ext>
            </a:extLst>
          </p:cNvPr>
          <p:cNvSpPr/>
          <p:nvPr/>
        </p:nvSpPr>
        <p:spPr bwMode="gray">
          <a:xfrm rot="5400000">
            <a:off x="3257629" y="4015646"/>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0" name="Rectangle: Rounded Corners 29">
            <a:extLst>
              <a:ext uri="{FF2B5EF4-FFF2-40B4-BE49-F238E27FC236}">
                <a16:creationId xmlns:a16="http://schemas.microsoft.com/office/drawing/2014/main" id="{893996EF-220C-45B4-A56A-5D28EFC1398E}"/>
              </a:ext>
            </a:extLst>
          </p:cNvPr>
          <p:cNvSpPr/>
          <p:nvPr/>
        </p:nvSpPr>
        <p:spPr bwMode="gray">
          <a:xfrm>
            <a:off x="4257696" y="4296994"/>
            <a:ext cx="1156424" cy="1151626"/>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400" b="1" dirty="0"/>
              <a:t>B. Sale to Other DISCOMs u/s 62</a:t>
            </a:r>
          </a:p>
        </p:txBody>
      </p:sp>
      <p:sp>
        <p:nvSpPr>
          <p:cNvPr id="34" name="Arrow: Right 33">
            <a:extLst>
              <a:ext uri="{FF2B5EF4-FFF2-40B4-BE49-F238E27FC236}">
                <a16:creationId xmlns:a16="http://schemas.microsoft.com/office/drawing/2014/main" id="{926403A3-E4C8-4387-9379-0EF0D1DB0DE4}"/>
              </a:ext>
            </a:extLst>
          </p:cNvPr>
          <p:cNvSpPr/>
          <p:nvPr/>
        </p:nvSpPr>
        <p:spPr bwMode="gray">
          <a:xfrm rot="5400000">
            <a:off x="3069427" y="2019901"/>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0" name="Rectangle 39">
            <a:extLst>
              <a:ext uri="{FF2B5EF4-FFF2-40B4-BE49-F238E27FC236}">
                <a16:creationId xmlns:a16="http://schemas.microsoft.com/office/drawing/2014/main" id="{5B046BA9-A326-4E8D-8C63-B0793EC599E9}"/>
              </a:ext>
            </a:extLst>
          </p:cNvPr>
          <p:cNvSpPr/>
          <p:nvPr/>
        </p:nvSpPr>
        <p:spPr bwMode="gray">
          <a:xfrm>
            <a:off x="2454442" y="2357070"/>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2. Sale to DISCOMs u/s 62</a:t>
            </a:r>
          </a:p>
        </p:txBody>
      </p:sp>
      <p:sp>
        <p:nvSpPr>
          <p:cNvPr id="43" name="Arrow: Right 42">
            <a:extLst>
              <a:ext uri="{FF2B5EF4-FFF2-40B4-BE49-F238E27FC236}">
                <a16:creationId xmlns:a16="http://schemas.microsoft.com/office/drawing/2014/main" id="{7A19DE47-249E-4A76-A92A-E0202A695882}"/>
              </a:ext>
            </a:extLst>
          </p:cNvPr>
          <p:cNvSpPr/>
          <p:nvPr/>
        </p:nvSpPr>
        <p:spPr bwMode="gray">
          <a:xfrm rot="5400000">
            <a:off x="4967818" y="2007882"/>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4" name="Rectangle 43">
            <a:extLst>
              <a:ext uri="{FF2B5EF4-FFF2-40B4-BE49-F238E27FC236}">
                <a16:creationId xmlns:a16="http://schemas.microsoft.com/office/drawing/2014/main" id="{0CDC079D-A1FD-4FDB-8A88-6C4A9F44B7F7}"/>
              </a:ext>
            </a:extLst>
          </p:cNvPr>
          <p:cNvSpPr/>
          <p:nvPr/>
        </p:nvSpPr>
        <p:spPr bwMode="gray">
          <a:xfrm>
            <a:off x="4352833" y="2345051"/>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3. Sale through Power Exchange</a:t>
            </a:r>
          </a:p>
        </p:txBody>
      </p:sp>
      <p:sp>
        <p:nvSpPr>
          <p:cNvPr id="45" name="Arrow: Right 44">
            <a:extLst>
              <a:ext uri="{FF2B5EF4-FFF2-40B4-BE49-F238E27FC236}">
                <a16:creationId xmlns:a16="http://schemas.microsoft.com/office/drawing/2014/main" id="{30532959-212A-438D-A394-FC90DC431726}"/>
              </a:ext>
            </a:extLst>
          </p:cNvPr>
          <p:cNvSpPr/>
          <p:nvPr/>
        </p:nvSpPr>
        <p:spPr bwMode="gray">
          <a:xfrm rot="5400000">
            <a:off x="6894534" y="1988813"/>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6" name="Rectangle 45">
            <a:extLst>
              <a:ext uri="{FF2B5EF4-FFF2-40B4-BE49-F238E27FC236}">
                <a16:creationId xmlns:a16="http://schemas.microsoft.com/office/drawing/2014/main" id="{3D1DC243-E200-4138-ABC2-4BF704EC99C7}"/>
              </a:ext>
            </a:extLst>
          </p:cNvPr>
          <p:cNvSpPr/>
          <p:nvPr/>
        </p:nvSpPr>
        <p:spPr bwMode="gray">
          <a:xfrm>
            <a:off x="6279549" y="2325982"/>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4. Sale through other avenues</a:t>
            </a:r>
          </a:p>
        </p:txBody>
      </p:sp>
      <p:sp>
        <p:nvSpPr>
          <p:cNvPr id="47" name="Rectangle: Rounded Corners 46">
            <a:extLst>
              <a:ext uri="{FF2B5EF4-FFF2-40B4-BE49-F238E27FC236}">
                <a16:creationId xmlns:a16="http://schemas.microsoft.com/office/drawing/2014/main" id="{B1A0F0A7-7D98-488D-AAA0-0A4FBD9E0703}"/>
              </a:ext>
            </a:extLst>
          </p:cNvPr>
          <p:cNvSpPr/>
          <p:nvPr/>
        </p:nvSpPr>
        <p:spPr bwMode="gray">
          <a:xfrm>
            <a:off x="5733127" y="4281143"/>
            <a:ext cx="1278107" cy="116643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400" b="1" dirty="0">
                <a:solidFill>
                  <a:schemeClr val="dk1"/>
                </a:solidFill>
              </a:rPr>
              <a:t>A. Sale to Open Access (C&amp;I)* Consumers</a:t>
            </a:r>
          </a:p>
        </p:txBody>
      </p:sp>
      <p:sp>
        <p:nvSpPr>
          <p:cNvPr id="48" name="Arrow: Right 47">
            <a:extLst>
              <a:ext uri="{FF2B5EF4-FFF2-40B4-BE49-F238E27FC236}">
                <a16:creationId xmlns:a16="http://schemas.microsoft.com/office/drawing/2014/main" id="{BB398836-21F2-4876-AE3F-3F36E13C9E16}"/>
              </a:ext>
            </a:extLst>
          </p:cNvPr>
          <p:cNvSpPr/>
          <p:nvPr/>
        </p:nvSpPr>
        <p:spPr bwMode="gray">
          <a:xfrm rot="5400000">
            <a:off x="6912643" y="3562429"/>
            <a:ext cx="455734" cy="240564"/>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1" name="Rectangle: Rounded Corners 50">
            <a:extLst>
              <a:ext uri="{FF2B5EF4-FFF2-40B4-BE49-F238E27FC236}">
                <a16:creationId xmlns:a16="http://schemas.microsoft.com/office/drawing/2014/main" id="{8B8A3BBB-48B4-44C5-97FB-7E3D931B9B25}"/>
              </a:ext>
            </a:extLst>
          </p:cNvPr>
          <p:cNvSpPr/>
          <p:nvPr/>
        </p:nvSpPr>
        <p:spPr bwMode="gray">
          <a:xfrm>
            <a:off x="7528206" y="4245525"/>
            <a:ext cx="1278106" cy="1199512"/>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400" b="1" dirty="0">
                <a:solidFill>
                  <a:schemeClr val="dk1"/>
                </a:solidFill>
              </a:rPr>
              <a:t>B. Sale through Trading Licensees</a:t>
            </a:r>
          </a:p>
        </p:txBody>
      </p:sp>
      <p:sp>
        <p:nvSpPr>
          <p:cNvPr id="53" name="Arrow: Right 52">
            <a:extLst>
              <a:ext uri="{FF2B5EF4-FFF2-40B4-BE49-F238E27FC236}">
                <a16:creationId xmlns:a16="http://schemas.microsoft.com/office/drawing/2014/main" id="{9E4C31AA-A6FF-4C17-93CF-7A931A41E32A}"/>
              </a:ext>
            </a:extLst>
          </p:cNvPr>
          <p:cNvSpPr/>
          <p:nvPr/>
        </p:nvSpPr>
        <p:spPr bwMode="gray">
          <a:xfrm rot="5400000">
            <a:off x="8760166" y="1980355"/>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4" name="Rectangle 53">
            <a:extLst>
              <a:ext uri="{FF2B5EF4-FFF2-40B4-BE49-F238E27FC236}">
                <a16:creationId xmlns:a16="http://schemas.microsoft.com/office/drawing/2014/main" id="{9E27F0B6-4AFC-4E99-83CA-2FCDB9B22687}"/>
              </a:ext>
            </a:extLst>
          </p:cNvPr>
          <p:cNvSpPr/>
          <p:nvPr/>
        </p:nvSpPr>
        <p:spPr bwMode="gray">
          <a:xfrm>
            <a:off x="10080113" y="2323073"/>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6. Captive Consumption</a:t>
            </a:r>
          </a:p>
        </p:txBody>
      </p:sp>
      <p:sp>
        <p:nvSpPr>
          <p:cNvPr id="55" name="Arrow: Right 54">
            <a:extLst>
              <a:ext uri="{FF2B5EF4-FFF2-40B4-BE49-F238E27FC236}">
                <a16:creationId xmlns:a16="http://schemas.microsoft.com/office/drawing/2014/main" id="{1C9FA61C-325E-4EDB-98E5-64FB43C485B6}"/>
              </a:ext>
            </a:extLst>
          </p:cNvPr>
          <p:cNvSpPr/>
          <p:nvPr/>
        </p:nvSpPr>
        <p:spPr bwMode="gray">
          <a:xfrm rot="5400000">
            <a:off x="10629308" y="1988813"/>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6" name="Rectangle 55">
            <a:extLst>
              <a:ext uri="{FF2B5EF4-FFF2-40B4-BE49-F238E27FC236}">
                <a16:creationId xmlns:a16="http://schemas.microsoft.com/office/drawing/2014/main" id="{6A307538-D861-4B38-8DF3-63AFE27A3C76}"/>
              </a:ext>
            </a:extLst>
          </p:cNvPr>
          <p:cNvSpPr/>
          <p:nvPr/>
        </p:nvSpPr>
        <p:spPr bwMode="gray">
          <a:xfrm>
            <a:off x="8206265" y="2313963"/>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5. Sale under CPSU Scheme</a:t>
            </a:r>
          </a:p>
        </p:txBody>
      </p:sp>
      <p:sp>
        <p:nvSpPr>
          <p:cNvPr id="57" name="Rectangle 56">
            <a:extLst>
              <a:ext uri="{FF2B5EF4-FFF2-40B4-BE49-F238E27FC236}">
                <a16:creationId xmlns:a16="http://schemas.microsoft.com/office/drawing/2014/main" id="{E05EE369-DDC7-4FB9-BF1D-D19216BDD43B}"/>
              </a:ext>
            </a:extLst>
          </p:cNvPr>
          <p:cNvSpPr/>
          <p:nvPr/>
        </p:nvSpPr>
        <p:spPr bwMode="gray">
          <a:xfrm rot="5400000">
            <a:off x="7218879" y="3029935"/>
            <a:ext cx="105906" cy="1867188"/>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1" name="Arrow: Right 60">
            <a:extLst>
              <a:ext uri="{FF2B5EF4-FFF2-40B4-BE49-F238E27FC236}">
                <a16:creationId xmlns:a16="http://schemas.microsoft.com/office/drawing/2014/main" id="{0BF5687F-5A4A-4A29-9088-46E77DC72FD6}"/>
              </a:ext>
            </a:extLst>
          </p:cNvPr>
          <p:cNvSpPr/>
          <p:nvPr/>
        </p:nvSpPr>
        <p:spPr bwMode="gray">
          <a:xfrm rot="5400000">
            <a:off x="4692922" y="3985267"/>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2" name="Arrow: Right 61">
            <a:extLst>
              <a:ext uri="{FF2B5EF4-FFF2-40B4-BE49-F238E27FC236}">
                <a16:creationId xmlns:a16="http://schemas.microsoft.com/office/drawing/2014/main" id="{489A3803-0803-4FD7-B7EA-EE84C7A21B2F}"/>
              </a:ext>
            </a:extLst>
          </p:cNvPr>
          <p:cNvSpPr/>
          <p:nvPr/>
        </p:nvSpPr>
        <p:spPr bwMode="gray">
          <a:xfrm rot="5400000">
            <a:off x="6175021" y="3977893"/>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3" name="Arrow: Right 62">
            <a:extLst>
              <a:ext uri="{FF2B5EF4-FFF2-40B4-BE49-F238E27FC236}">
                <a16:creationId xmlns:a16="http://schemas.microsoft.com/office/drawing/2014/main" id="{6780BF0C-0E2C-4D3C-AF0D-C472C9CBAC03}"/>
              </a:ext>
            </a:extLst>
          </p:cNvPr>
          <p:cNvSpPr/>
          <p:nvPr/>
        </p:nvSpPr>
        <p:spPr bwMode="gray">
          <a:xfrm rot="5400000">
            <a:off x="7982457" y="3974086"/>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 name="Rectangle: Rounded Corners 2">
            <a:extLst>
              <a:ext uri="{FF2B5EF4-FFF2-40B4-BE49-F238E27FC236}">
                <a16:creationId xmlns:a16="http://schemas.microsoft.com/office/drawing/2014/main" id="{B398F111-A5C7-4188-A8CE-75D37FF89CBD}"/>
              </a:ext>
            </a:extLst>
          </p:cNvPr>
          <p:cNvSpPr/>
          <p:nvPr/>
        </p:nvSpPr>
        <p:spPr bwMode="gray">
          <a:xfrm>
            <a:off x="440690" y="2117431"/>
            <a:ext cx="9534964" cy="1585019"/>
          </a:xfrm>
          <a:prstGeom prst="roundRect">
            <a:avLst/>
          </a:prstGeom>
          <a:noFill/>
          <a:ln>
            <a:solidFill>
              <a:srgbClr val="FF0000"/>
            </a:solidFill>
            <a:prstDash val="lgDash"/>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5" name="Rectangle: Rounded Corners 34">
            <a:extLst>
              <a:ext uri="{FF2B5EF4-FFF2-40B4-BE49-F238E27FC236}">
                <a16:creationId xmlns:a16="http://schemas.microsoft.com/office/drawing/2014/main" id="{DB9D77AF-0601-4953-BAE0-F7E5A0011D39}"/>
              </a:ext>
            </a:extLst>
          </p:cNvPr>
          <p:cNvSpPr/>
          <p:nvPr/>
        </p:nvSpPr>
        <p:spPr bwMode="gray">
          <a:xfrm>
            <a:off x="196871" y="4319961"/>
            <a:ext cx="1156424" cy="1166439"/>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400" b="1" dirty="0">
                <a:solidFill>
                  <a:schemeClr val="tx1"/>
                </a:solidFill>
              </a:rPr>
              <a:t>A. Bundling with existing TPPs</a:t>
            </a:r>
            <a:endParaRPr lang="en-US" sz="1400" b="1" dirty="0"/>
          </a:p>
        </p:txBody>
      </p:sp>
      <p:sp>
        <p:nvSpPr>
          <p:cNvPr id="36" name="Arrow: Right 35">
            <a:extLst>
              <a:ext uri="{FF2B5EF4-FFF2-40B4-BE49-F238E27FC236}">
                <a16:creationId xmlns:a16="http://schemas.microsoft.com/office/drawing/2014/main" id="{2D90B4FC-BDD9-4A86-AC53-F7DDA7AEBFDB}"/>
              </a:ext>
            </a:extLst>
          </p:cNvPr>
          <p:cNvSpPr/>
          <p:nvPr/>
        </p:nvSpPr>
        <p:spPr bwMode="gray">
          <a:xfrm rot="5400000">
            <a:off x="1241081" y="3615145"/>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7" name="Rectangle 36">
            <a:extLst>
              <a:ext uri="{FF2B5EF4-FFF2-40B4-BE49-F238E27FC236}">
                <a16:creationId xmlns:a16="http://schemas.microsoft.com/office/drawing/2014/main" id="{47D54E53-5C9F-45D1-AAE1-00E681B28478}"/>
              </a:ext>
            </a:extLst>
          </p:cNvPr>
          <p:cNvSpPr/>
          <p:nvPr/>
        </p:nvSpPr>
        <p:spPr bwMode="gray">
          <a:xfrm rot="5400000">
            <a:off x="1379380" y="3306412"/>
            <a:ext cx="60998" cy="1359141"/>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8" name="Arrow: Right 37">
            <a:extLst>
              <a:ext uri="{FF2B5EF4-FFF2-40B4-BE49-F238E27FC236}">
                <a16:creationId xmlns:a16="http://schemas.microsoft.com/office/drawing/2014/main" id="{DFBF5CB3-95EB-40C5-8EA6-AD5535A11AEF}"/>
              </a:ext>
            </a:extLst>
          </p:cNvPr>
          <p:cNvSpPr/>
          <p:nvPr/>
        </p:nvSpPr>
        <p:spPr bwMode="gray">
          <a:xfrm rot="5400000">
            <a:off x="604077" y="4038611"/>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9" name="Rectangle: Rounded Corners 38">
            <a:extLst>
              <a:ext uri="{FF2B5EF4-FFF2-40B4-BE49-F238E27FC236}">
                <a16:creationId xmlns:a16="http://schemas.microsoft.com/office/drawing/2014/main" id="{4DE0B0B2-1220-4695-B4BE-AAFE1663AA64}"/>
              </a:ext>
            </a:extLst>
          </p:cNvPr>
          <p:cNvSpPr/>
          <p:nvPr/>
        </p:nvSpPr>
        <p:spPr bwMode="gray">
          <a:xfrm>
            <a:off x="1512091" y="4319961"/>
            <a:ext cx="1156424" cy="1128272"/>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400" b="1" dirty="0"/>
              <a:t>B. Bundling with upcoming TPPs</a:t>
            </a:r>
          </a:p>
        </p:txBody>
      </p:sp>
      <p:sp>
        <p:nvSpPr>
          <p:cNvPr id="41" name="Arrow: Right 40">
            <a:extLst>
              <a:ext uri="{FF2B5EF4-FFF2-40B4-BE49-F238E27FC236}">
                <a16:creationId xmlns:a16="http://schemas.microsoft.com/office/drawing/2014/main" id="{0C0AE48D-A08C-4124-8A99-2B0E4B756690}"/>
              </a:ext>
            </a:extLst>
          </p:cNvPr>
          <p:cNvSpPr/>
          <p:nvPr/>
        </p:nvSpPr>
        <p:spPr bwMode="gray">
          <a:xfrm rot="5400000">
            <a:off x="1860187" y="4008231"/>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Tree>
    <p:extLst>
      <p:ext uri="{BB962C8B-B14F-4D97-AF65-F5344CB8AC3E}">
        <p14:creationId xmlns:p14="http://schemas.microsoft.com/office/powerpoint/2010/main" val="2914151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
            <a:extLst>
              <a:ext uri="{FF2B5EF4-FFF2-40B4-BE49-F238E27FC236}">
                <a16:creationId xmlns:a16="http://schemas.microsoft.com/office/drawing/2014/main" id="{663C943F-7749-4A74-BCCC-65AFE516A0F9}"/>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Options for Location and Types of Role for CIL w.r.t Power Sale from Solar Project</a:t>
            </a:r>
            <a:endParaRPr lang="en-US" sz="2400" dirty="0">
              <a:effectLst/>
              <a:latin typeface="Calibri" panose="020F0502020204030204" pitchFamily="34" charset="0"/>
              <a:ea typeface="Calibri" panose="020F0502020204030204" pitchFamily="34" charset="0"/>
            </a:endParaRPr>
          </a:p>
        </p:txBody>
      </p:sp>
      <p:sp>
        <p:nvSpPr>
          <p:cNvPr id="35" name="TextBox 34">
            <a:extLst>
              <a:ext uri="{FF2B5EF4-FFF2-40B4-BE49-F238E27FC236}">
                <a16:creationId xmlns:a16="http://schemas.microsoft.com/office/drawing/2014/main" id="{734AFBDB-C8D0-4E57-815E-66DAF7FB44AA}"/>
              </a:ext>
            </a:extLst>
          </p:cNvPr>
          <p:cNvSpPr txBox="1"/>
          <p:nvPr/>
        </p:nvSpPr>
        <p:spPr>
          <a:xfrm>
            <a:off x="3765394" y="877035"/>
            <a:ext cx="4664927" cy="342210"/>
          </a:xfrm>
          <a:prstGeom prst="rect">
            <a:avLst/>
          </a:prstGeom>
          <a:solidFill>
            <a:schemeClr val="tx1">
              <a:lumMod val="65000"/>
              <a:lumOff val="35000"/>
            </a:schemeClr>
          </a:solidFill>
        </p:spPr>
        <p:txBody>
          <a:bodyPr wrap="square">
            <a:spAutoFit/>
          </a:bodyPr>
          <a:lstStyle/>
          <a:p>
            <a:pPr algn="ctr">
              <a:lnSpc>
                <a:spcPct val="106000"/>
              </a:lnSpc>
            </a:pPr>
            <a:r>
              <a:rPr lang="en-US" sz="1600" b="1" dirty="0">
                <a:solidFill>
                  <a:schemeClr val="bg1"/>
                </a:solidFill>
              </a:rPr>
              <a:t>Location Options</a:t>
            </a:r>
          </a:p>
        </p:txBody>
      </p:sp>
      <p:sp>
        <p:nvSpPr>
          <p:cNvPr id="36" name="Arrow: Right 35">
            <a:extLst>
              <a:ext uri="{FF2B5EF4-FFF2-40B4-BE49-F238E27FC236}">
                <a16:creationId xmlns:a16="http://schemas.microsoft.com/office/drawing/2014/main" id="{5F639A23-8C6E-4163-B3F6-2267B58C57B9}"/>
              </a:ext>
            </a:extLst>
          </p:cNvPr>
          <p:cNvSpPr/>
          <p:nvPr/>
        </p:nvSpPr>
        <p:spPr bwMode="gray">
          <a:xfrm rot="5400000">
            <a:off x="5930807" y="1260820"/>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7" name="Rectangle 36">
            <a:extLst>
              <a:ext uri="{FF2B5EF4-FFF2-40B4-BE49-F238E27FC236}">
                <a16:creationId xmlns:a16="http://schemas.microsoft.com/office/drawing/2014/main" id="{3CBBD221-58EB-4458-A60E-5D17066B7A54}"/>
              </a:ext>
            </a:extLst>
          </p:cNvPr>
          <p:cNvSpPr/>
          <p:nvPr/>
        </p:nvSpPr>
        <p:spPr bwMode="gray">
          <a:xfrm rot="5400000">
            <a:off x="6080679" y="-1298076"/>
            <a:ext cx="59437" cy="5708139"/>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8" name="Arrow: Right 37">
            <a:extLst>
              <a:ext uri="{FF2B5EF4-FFF2-40B4-BE49-F238E27FC236}">
                <a16:creationId xmlns:a16="http://schemas.microsoft.com/office/drawing/2014/main" id="{CB7FA662-02AF-42A1-AB29-B48E0C7F5F72}"/>
              </a:ext>
            </a:extLst>
          </p:cNvPr>
          <p:cNvSpPr/>
          <p:nvPr/>
        </p:nvSpPr>
        <p:spPr bwMode="gray">
          <a:xfrm rot="5400000">
            <a:off x="3143851" y="1588683"/>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9" name="Arrow: Right 38">
            <a:extLst>
              <a:ext uri="{FF2B5EF4-FFF2-40B4-BE49-F238E27FC236}">
                <a16:creationId xmlns:a16="http://schemas.microsoft.com/office/drawing/2014/main" id="{824F1BF9-9F55-4C29-BB71-5023BE637702}"/>
              </a:ext>
            </a:extLst>
          </p:cNvPr>
          <p:cNvSpPr/>
          <p:nvPr/>
        </p:nvSpPr>
        <p:spPr bwMode="gray">
          <a:xfrm rot="5400000">
            <a:off x="8761186" y="1575291"/>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1" name="Rectangle: Rounded Corners 40">
            <a:extLst>
              <a:ext uri="{FF2B5EF4-FFF2-40B4-BE49-F238E27FC236}">
                <a16:creationId xmlns:a16="http://schemas.microsoft.com/office/drawing/2014/main" id="{93B2DFF6-746E-4DF0-BE21-84A9A21C98FA}"/>
              </a:ext>
            </a:extLst>
          </p:cNvPr>
          <p:cNvSpPr/>
          <p:nvPr/>
        </p:nvSpPr>
        <p:spPr bwMode="gray">
          <a:xfrm>
            <a:off x="2399627" y="1879691"/>
            <a:ext cx="1822547" cy="526069"/>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Rajasthan Solar Park</a:t>
            </a:r>
          </a:p>
        </p:txBody>
      </p:sp>
      <p:sp>
        <p:nvSpPr>
          <p:cNvPr id="49" name="Arrow: Right 48">
            <a:extLst>
              <a:ext uri="{FF2B5EF4-FFF2-40B4-BE49-F238E27FC236}">
                <a16:creationId xmlns:a16="http://schemas.microsoft.com/office/drawing/2014/main" id="{8B51E209-8B8B-4C29-9ED9-0D818817E0DA}"/>
              </a:ext>
            </a:extLst>
          </p:cNvPr>
          <p:cNvSpPr/>
          <p:nvPr/>
        </p:nvSpPr>
        <p:spPr bwMode="gray">
          <a:xfrm rot="5400000">
            <a:off x="5928950" y="1565634"/>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0" name="Rectangle: Rounded Corners 49">
            <a:extLst>
              <a:ext uri="{FF2B5EF4-FFF2-40B4-BE49-F238E27FC236}">
                <a16:creationId xmlns:a16="http://schemas.microsoft.com/office/drawing/2014/main" id="{EE1DF289-70ED-461F-A9E8-E6F2E7B9EC82}"/>
              </a:ext>
            </a:extLst>
          </p:cNvPr>
          <p:cNvSpPr/>
          <p:nvPr/>
        </p:nvSpPr>
        <p:spPr bwMode="gray">
          <a:xfrm>
            <a:off x="5184726" y="1856642"/>
            <a:ext cx="1822547" cy="526069"/>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Own Land of CIL subsidiaries</a:t>
            </a:r>
          </a:p>
        </p:txBody>
      </p:sp>
      <p:sp>
        <p:nvSpPr>
          <p:cNvPr id="59" name="Rectangle: Rounded Corners 58">
            <a:extLst>
              <a:ext uri="{FF2B5EF4-FFF2-40B4-BE49-F238E27FC236}">
                <a16:creationId xmlns:a16="http://schemas.microsoft.com/office/drawing/2014/main" id="{7F0CE725-2F94-4C99-BF66-78CD2551288F}"/>
              </a:ext>
            </a:extLst>
          </p:cNvPr>
          <p:cNvSpPr/>
          <p:nvPr/>
        </p:nvSpPr>
        <p:spPr bwMode="gray">
          <a:xfrm>
            <a:off x="8053193" y="1879691"/>
            <a:ext cx="1822547" cy="526069"/>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Other acquired land in any state</a:t>
            </a:r>
          </a:p>
        </p:txBody>
      </p:sp>
      <p:cxnSp>
        <p:nvCxnSpPr>
          <p:cNvPr id="64" name="Straight Connector 63">
            <a:extLst>
              <a:ext uri="{FF2B5EF4-FFF2-40B4-BE49-F238E27FC236}">
                <a16:creationId xmlns:a16="http://schemas.microsoft.com/office/drawing/2014/main" id="{BBC945B2-96A6-45DB-ADCD-AC7A98A3EB47}"/>
              </a:ext>
            </a:extLst>
          </p:cNvPr>
          <p:cNvCxnSpPr>
            <a:cxnSpLocks/>
          </p:cNvCxnSpPr>
          <p:nvPr/>
        </p:nvCxnSpPr>
        <p:spPr>
          <a:xfrm>
            <a:off x="457206" y="2562964"/>
            <a:ext cx="11081653" cy="0"/>
          </a:xfrm>
          <a:prstGeom prst="line">
            <a:avLst/>
          </a:prstGeom>
          <a:ln w="9525" cap="flat" cmpd="sng" algn="ctr">
            <a:solidFill>
              <a:srgbClr val="009A4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5" name="TextBox 64">
            <a:extLst>
              <a:ext uri="{FF2B5EF4-FFF2-40B4-BE49-F238E27FC236}">
                <a16:creationId xmlns:a16="http://schemas.microsoft.com/office/drawing/2014/main" id="{1B85A4D3-AA7A-4F7A-B777-A92B4CB0C8E2}"/>
              </a:ext>
            </a:extLst>
          </p:cNvPr>
          <p:cNvSpPr txBox="1"/>
          <p:nvPr/>
        </p:nvSpPr>
        <p:spPr>
          <a:xfrm>
            <a:off x="3758094" y="3038904"/>
            <a:ext cx="4664927" cy="342210"/>
          </a:xfrm>
          <a:prstGeom prst="rect">
            <a:avLst/>
          </a:prstGeom>
          <a:solidFill>
            <a:srgbClr val="009A44"/>
          </a:solidFill>
        </p:spPr>
        <p:txBody>
          <a:bodyPr wrap="square">
            <a:spAutoFit/>
          </a:bodyPr>
          <a:lstStyle/>
          <a:p>
            <a:pPr algn="ctr">
              <a:lnSpc>
                <a:spcPct val="106000"/>
              </a:lnSpc>
            </a:pPr>
            <a:r>
              <a:rPr lang="en-US" sz="1600" b="1" dirty="0">
                <a:solidFill>
                  <a:schemeClr val="bg1"/>
                </a:solidFill>
              </a:rPr>
              <a:t>Types of Role for CIL</a:t>
            </a:r>
          </a:p>
        </p:txBody>
      </p:sp>
      <p:sp>
        <p:nvSpPr>
          <p:cNvPr id="66" name="Arrow: Right 65">
            <a:extLst>
              <a:ext uri="{FF2B5EF4-FFF2-40B4-BE49-F238E27FC236}">
                <a16:creationId xmlns:a16="http://schemas.microsoft.com/office/drawing/2014/main" id="{5720AF71-C433-47B0-8030-9DF165F35C03}"/>
              </a:ext>
            </a:extLst>
          </p:cNvPr>
          <p:cNvSpPr/>
          <p:nvPr/>
        </p:nvSpPr>
        <p:spPr bwMode="gray">
          <a:xfrm rot="5400000">
            <a:off x="5945279" y="3422690"/>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7" name="Rectangle 66">
            <a:extLst>
              <a:ext uri="{FF2B5EF4-FFF2-40B4-BE49-F238E27FC236}">
                <a16:creationId xmlns:a16="http://schemas.microsoft.com/office/drawing/2014/main" id="{A519F2EC-73F5-4499-94C2-AE6DC3AB6DEB}"/>
              </a:ext>
            </a:extLst>
          </p:cNvPr>
          <p:cNvSpPr/>
          <p:nvPr/>
        </p:nvSpPr>
        <p:spPr bwMode="gray">
          <a:xfrm rot="5400000">
            <a:off x="6095151" y="820251"/>
            <a:ext cx="59437" cy="5708139"/>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8" name="Arrow: Right 67">
            <a:extLst>
              <a:ext uri="{FF2B5EF4-FFF2-40B4-BE49-F238E27FC236}">
                <a16:creationId xmlns:a16="http://schemas.microsoft.com/office/drawing/2014/main" id="{94D337A7-B757-4EA3-9CC9-674F8625940E}"/>
              </a:ext>
            </a:extLst>
          </p:cNvPr>
          <p:cNvSpPr/>
          <p:nvPr/>
        </p:nvSpPr>
        <p:spPr bwMode="gray">
          <a:xfrm rot="5400000">
            <a:off x="3158323" y="3707009"/>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69" name="Arrow: Right 68">
            <a:extLst>
              <a:ext uri="{FF2B5EF4-FFF2-40B4-BE49-F238E27FC236}">
                <a16:creationId xmlns:a16="http://schemas.microsoft.com/office/drawing/2014/main" id="{ECD225FD-6840-4FCD-9BB5-DFD7E1B2F82A}"/>
              </a:ext>
            </a:extLst>
          </p:cNvPr>
          <p:cNvSpPr/>
          <p:nvPr/>
        </p:nvSpPr>
        <p:spPr bwMode="gray">
          <a:xfrm rot="5400000">
            <a:off x="8775658" y="3693618"/>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70" name="Rectangle: Rounded Corners 69">
            <a:extLst>
              <a:ext uri="{FF2B5EF4-FFF2-40B4-BE49-F238E27FC236}">
                <a16:creationId xmlns:a16="http://schemas.microsoft.com/office/drawing/2014/main" id="{13FFBF8B-FFDB-457D-8FDD-1DEA7FBA4DE3}"/>
              </a:ext>
            </a:extLst>
          </p:cNvPr>
          <p:cNvSpPr/>
          <p:nvPr/>
        </p:nvSpPr>
        <p:spPr bwMode="gray">
          <a:xfrm>
            <a:off x="1595068" y="4020053"/>
            <a:ext cx="3645093" cy="55399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Solar Power Developer (SPD)</a:t>
            </a:r>
          </a:p>
        </p:txBody>
      </p:sp>
      <p:sp>
        <p:nvSpPr>
          <p:cNvPr id="71" name="Rectangle: Rounded Corners 70">
            <a:extLst>
              <a:ext uri="{FF2B5EF4-FFF2-40B4-BE49-F238E27FC236}">
                <a16:creationId xmlns:a16="http://schemas.microsoft.com/office/drawing/2014/main" id="{98901654-2BB1-4581-9789-D1FA93C9BB95}"/>
              </a:ext>
            </a:extLst>
          </p:cNvPr>
          <p:cNvSpPr/>
          <p:nvPr/>
        </p:nvSpPr>
        <p:spPr bwMode="gray">
          <a:xfrm>
            <a:off x="7248634" y="3993260"/>
            <a:ext cx="3645093" cy="55399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Solar Power Park Developer (SPPD) + SPD</a:t>
            </a:r>
          </a:p>
        </p:txBody>
      </p:sp>
      <p:sp>
        <p:nvSpPr>
          <p:cNvPr id="72" name="TextBox 71">
            <a:extLst>
              <a:ext uri="{FF2B5EF4-FFF2-40B4-BE49-F238E27FC236}">
                <a16:creationId xmlns:a16="http://schemas.microsoft.com/office/drawing/2014/main" id="{CC56983D-2097-414A-895F-0CBA69EFC27F}"/>
              </a:ext>
            </a:extLst>
          </p:cNvPr>
          <p:cNvSpPr txBox="1"/>
          <p:nvPr/>
        </p:nvSpPr>
        <p:spPr>
          <a:xfrm>
            <a:off x="1894908" y="4637785"/>
            <a:ext cx="3474245" cy="1723549"/>
          </a:xfrm>
          <a:prstGeom prst="rect">
            <a:avLst/>
          </a:prstGeom>
          <a:noFill/>
        </p:spPr>
        <p:txBody>
          <a:bodyPr wrap="square" lIns="0" tIns="0" rIns="0" bIns="0" rtlCol="0">
            <a:spAutoFit/>
          </a:bodyPr>
          <a:lstStyle/>
          <a:p>
            <a:pPr>
              <a:buSzPct val="100000"/>
            </a:pPr>
            <a:r>
              <a:rPr lang="en-US" sz="1400" i="1" dirty="0">
                <a:solidFill>
                  <a:srgbClr val="313131"/>
                </a:solidFill>
              </a:rPr>
              <a:t>CIL would be majorly responsible for following:</a:t>
            </a:r>
          </a:p>
          <a:p>
            <a:pPr marL="742950" lvl="1" indent="-285750">
              <a:buSzPct val="100000"/>
              <a:buFont typeface="Arial" panose="020B0604020202020204" pitchFamily="34" charset="0"/>
              <a:buChar char="•"/>
            </a:pPr>
            <a:r>
              <a:rPr lang="en-US" sz="1400" i="1" dirty="0">
                <a:solidFill>
                  <a:srgbClr val="313131"/>
                </a:solidFill>
              </a:rPr>
              <a:t>Arrangement of land for non-solar park projects</a:t>
            </a:r>
          </a:p>
          <a:p>
            <a:pPr marL="742950" lvl="1" indent="-285750">
              <a:buSzPct val="100000"/>
              <a:buFont typeface="Arial" panose="020B0604020202020204" pitchFamily="34" charset="0"/>
              <a:buChar char="•"/>
            </a:pPr>
            <a:r>
              <a:rPr lang="en-US" sz="1400" i="1" dirty="0">
                <a:solidFill>
                  <a:srgbClr val="313131"/>
                </a:solidFill>
              </a:rPr>
              <a:t>Design and construction of solar power project</a:t>
            </a:r>
          </a:p>
          <a:p>
            <a:pPr marL="742950" lvl="1" indent="-285750">
              <a:buSzPct val="100000"/>
              <a:buFont typeface="Arial" panose="020B0604020202020204" pitchFamily="34" charset="0"/>
              <a:buChar char="•"/>
            </a:pPr>
            <a:r>
              <a:rPr lang="en-US" sz="1400" i="1" dirty="0">
                <a:solidFill>
                  <a:srgbClr val="313131"/>
                </a:solidFill>
              </a:rPr>
              <a:t>Securing connectivity and associated infrastructure till pooling substation</a:t>
            </a:r>
          </a:p>
          <a:p>
            <a:pPr marL="742950" lvl="1" indent="-285750">
              <a:buSzPct val="100000"/>
              <a:buFont typeface="Arial" panose="020B0604020202020204" pitchFamily="34" charset="0"/>
              <a:buChar char="•"/>
            </a:pPr>
            <a:r>
              <a:rPr lang="en-US" sz="1400" i="1" dirty="0">
                <a:solidFill>
                  <a:srgbClr val="313131"/>
                </a:solidFill>
              </a:rPr>
              <a:t>O&amp;M</a:t>
            </a:r>
          </a:p>
        </p:txBody>
      </p:sp>
      <p:sp>
        <p:nvSpPr>
          <p:cNvPr id="73" name="TextBox 72">
            <a:extLst>
              <a:ext uri="{FF2B5EF4-FFF2-40B4-BE49-F238E27FC236}">
                <a16:creationId xmlns:a16="http://schemas.microsoft.com/office/drawing/2014/main" id="{5238F11A-5C6C-4776-A251-B3515AAC8B9D}"/>
              </a:ext>
            </a:extLst>
          </p:cNvPr>
          <p:cNvSpPr txBox="1"/>
          <p:nvPr/>
        </p:nvSpPr>
        <p:spPr>
          <a:xfrm>
            <a:off x="7241816" y="4637785"/>
            <a:ext cx="3645094" cy="1508105"/>
          </a:xfrm>
          <a:prstGeom prst="rect">
            <a:avLst/>
          </a:prstGeom>
          <a:noFill/>
        </p:spPr>
        <p:txBody>
          <a:bodyPr wrap="square" lIns="0" tIns="0" rIns="0" bIns="0" rtlCol="0">
            <a:spAutoFit/>
          </a:bodyPr>
          <a:lstStyle/>
          <a:p>
            <a:pPr marL="285750" indent="-285750" algn="just">
              <a:buSzPct val="100000"/>
              <a:buFont typeface="Arial" panose="020B0604020202020204" pitchFamily="34" charset="0"/>
              <a:buChar char="•"/>
            </a:pPr>
            <a:r>
              <a:rPr lang="en-US" sz="1400" i="1" dirty="0">
                <a:solidFill>
                  <a:srgbClr val="313131"/>
                </a:solidFill>
              </a:rPr>
              <a:t>CIL may additionally don the role of an SPPD wherein responsibility of arrangement of land, construction of solar park infrastructure as well as availability of evacuation infrastructure inter alia would lie with the SPPD</a:t>
            </a:r>
          </a:p>
          <a:p>
            <a:pPr marL="285750" indent="-285750">
              <a:buSzPct val="100000"/>
              <a:buFont typeface="Arial" panose="020B0604020202020204" pitchFamily="34" charset="0"/>
              <a:buChar char="•"/>
            </a:pPr>
            <a:endParaRPr lang="en-US" sz="1400" i="1" dirty="0">
              <a:solidFill>
                <a:srgbClr val="313131"/>
              </a:solidFill>
            </a:endParaRPr>
          </a:p>
        </p:txBody>
      </p:sp>
    </p:spTree>
    <p:extLst>
      <p:ext uri="{BB962C8B-B14F-4D97-AF65-F5344CB8AC3E}">
        <p14:creationId xmlns:p14="http://schemas.microsoft.com/office/powerpoint/2010/main" val="339070853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800" b="1" dirty="0"/>
              <a:t>Way Forward for CIL w.r.t Sale of Solar Power through identified modalities (1/2)</a:t>
            </a:r>
            <a:endParaRPr lang="en-GB" sz="2800" b="1" dirty="0"/>
          </a:p>
        </p:txBody>
      </p:sp>
      <p:sp>
        <p:nvSpPr>
          <p:cNvPr id="8" name="TextBox 7">
            <a:extLst>
              <a:ext uri="{FF2B5EF4-FFF2-40B4-BE49-F238E27FC236}">
                <a16:creationId xmlns:a16="http://schemas.microsoft.com/office/drawing/2014/main" id="{124B2BB2-F1A7-4F94-8772-DB369A218673}"/>
              </a:ext>
            </a:extLst>
          </p:cNvPr>
          <p:cNvSpPr txBox="1"/>
          <p:nvPr/>
        </p:nvSpPr>
        <p:spPr>
          <a:xfrm>
            <a:off x="2540352" y="2553722"/>
            <a:ext cx="9241438" cy="2424678"/>
          </a:xfrm>
          <a:prstGeom prst="roundRect">
            <a:avLst/>
          </a:prstGeom>
          <a:noFill/>
          <a:ln>
            <a:solidFill>
              <a:srgbClr val="009A44"/>
            </a:solidFill>
          </a:ln>
        </p:spPr>
        <p:txBody>
          <a:bodyPr wrap="square" lIns="0" tIns="0" rIns="0" bIns="0" rtlCol="0" anchor="ctr" anchorCtr="0">
            <a:noAutofit/>
          </a:bodyPr>
          <a:lstStyle/>
          <a:p>
            <a:pPr marL="285750" indent="-285750" algn="just">
              <a:spcAft>
                <a:spcPts val="600"/>
              </a:spcAft>
              <a:buSzPct val="100000"/>
              <a:buFont typeface="Arial" panose="020B0604020202020204" pitchFamily="34" charset="0"/>
              <a:buChar char="•"/>
            </a:pPr>
            <a:r>
              <a:rPr lang="en-US" sz="1600" dirty="0"/>
              <a:t>Rajasthan Discom: Liaison with RVUNL, RUVNL and Rajasthan Regulator to assess possibility of replacing the 990 MW Gas PPAs</a:t>
            </a:r>
          </a:p>
          <a:p>
            <a:pPr marL="285750" indent="-285750" algn="just">
              <a:spcAft>
                <a:spcPts val="600"/>
              </a:spcAft>
              <a:buSzPct val="100000"/>
              <a:buFont typeface="Arial" panose="020B0604020202020204" pitchFamily="34" charset="0"/>
              <a:buChar char="•"/>
            </a:pPr>
            <a:r>
              <a:rPr lang="en-US" sz="1600" dirty="0"/>
              <a:t>Other State Discoms:</a:t>
            </a:r>
          </a:p>
          <a:p>
            <a:pPr marL="742950" lvl="1" indent="-285750" algn="just">
              <a:spcAft>
                <a:spcPts val="600"/>
              </a:spcAft>
              <a:buSzPct val="100000"/>
              <a:buFont typeface="Courier New" panose="02070309020205020404" pitchFamily="49" charset="0"/>
              <a:buChar char="o"/>
            </a:pPr>
            <a:r>
              <a:rPr lang="en-US" sz="1600" dirty="0"/>
              <a:t>Assess land availability with WCL and liaison with MSEDCL / MERC for sale of solar power u/s 62</a:t>
            </a:r>
          </a:p>
          <a:p>
            <a:pPr marL="742950" lvl="1" indent="-285750" algn="just">
              <a:spcAft>
                <a:spcPts val="600"/>
              </a:spcAft>
              <a:buSzPct val="100000"/>
              <a:buFont typeface="Courier New" panose="02070309020205020404" pitchFamily="49" charset="0"/>
              <a:buChar char="o"/>
            </a:pPr>
            <a:r>
              <a:rPr lang="en-US" sz="1600" dirty="0"/>
              <a:t>Shortlisting of States (basis RPO shortfall, presence of thermal-heavy power purchase portfolio, high power purchase cost), Study of relevant Regulatory Provisions at the States, Liaison between CIL &amp; State Discoms, Regulators, other relevant agencies</a:t>
            </a:r>
          </a:p>
          <a:p>
            <a:pPr marL="742950" lvl="1" indent="-285750" algn="just">
              <a:spcAft>
                <a:spcPts val="600"/>
              </a:spcAft>
              <a:buSzPct val="100000"/>
              <a:buFont typeface="Courier New" panose="02070309020205020404" pitchFamily="49" charset="0"/>
              <a:buChar char="o"/>
            </a:pPr>
            <a:r>
              <a:rPr lang="en-US" sz="1600" dirty="0"/>
              <a:t>Preparation of tariff filing along with suitable justifications for approval of tariff by State Regulator</a:t>
            </a:r>
          </a:p>
        </p:txBody>
      </p:sp>
      <p:sp>
        <p:nvSpPr>
          <p:cNvPr id="9" name="TextBox 8">
            <a:extLst>
              <a:ext uri="{FF2B5EF4-FFF2-40B4-BE49-F238E27FC236}">
                <a16:creationId xmlns:a16="http://schemas.microsoft.com/office/drawing/2014/main" id="{5D8F355B-19FA-407B-9857-3B74B35DEC47}"/>
              </a:ext>
            </a:extLst>
          </p:cNvPr>
          <p:cNvSpPr txBox="1"/>
          <p:nvPr/>
        </p:nvSpPr>
        <p:spPr>
          <a:xfrm>
            <a:off x="2540352" y="5068861"/>
            <a:ext cx="9241437" cy="1532334"/>
          </a:xfrm>
          <a:prstGeom prst="roundRect">
            <a:avLst/>
          </a:prstGeom>
          <a:noFill/>
          <a:ln>
            <a:solidFill>
              <a:srgbClr val="009A44"/>
            </a:solidFill>
          </a:ln>
        </p:spPr>
        <p:txBody>
          <a:bodyPr wrap="square" lIns="0" tIns="0" rIns="0" bIns="0" rtlCol="0">
            <a:spAutoFit/>
          </a:bodyPr>
          <a:lstStyle/>
          <a:p>
            <a:pPr marL="285750" indent="-285750" algn="just">
              <a:spcAft>
                <a:spcPts val="600"/>
              </a:spcAft>
              <a:buSzPct val="100000"/>
              <a:buFont typeface="Arial" panose="020B0604020202020204" pitchFamily="34" charset="0"/>
              <a:buChar char="•"/>
            </a:pPr>
            <a:r>
              <a:rPr lang="en-US" sz="1600" dirty="0"/>
              <a:t>Study of the various products available at power exchanges and assess suitability of sale of solar power by CIL</a:t>
            </a:r>
          </a:p>
          <a:p>
            <a:pPr marL="285750" indent="-285750" algn="just">
              <a:spcAft>
                <a:spcPts val="600"/>
              </a:spcAft>
              <a:buSzPct val="100000"/>
              <a:buFont typeface="Arial" panose="020B0604020202020204" pitchFamily="34" charset="0"/>
              <a:buChar char="•"/>
            </a:pPr>
            <a:r>
              <a:rPr lang="en-US" sz="1600" dirty="0"/>
              <a:t>Assessment of cost of delivery of solar power vis-à-vis selling price at exchanges to evaluate the profitability</a:t>
            </a:r>
          </a:p>
          <a:p>
            <a:pPr marL="285750" indent="-285750" algn="just">
              <a:spcAft>
                <a:spcPts val="600"/>
              </a:spcAft>
              <a:buSzPct val="100000"/>
              <a:buFont typeface="Arial" panose="020B0604020202020204" pitchFamily="34" charset="0"/>
              <a:buChar char="•"/>
            </a:pPr>
            <a:r>
              <a:rPr lang="en-US" sz="1600" dirty="0"/>
              <a:t>Study of the necessary procedures to be undertaken to sell solar power through exchange</a:t>
            </a:r>
          </a:p>
        </p:txBody>
      </p:sp>
      <p:sp>
        <p:nvSpPr>
          <p:cNvPr id="10" name="TextBox 9">
            <a:extLst>
              <a:ext uri="{FF2B5EF4-FFF2-40B4-BE49-F238E27FC236}">
                <a16:creationId xmlns:a16="http://schemas.microsoft.com/office/drawing/2014/main" id="{71A7B91D-AB2D-4A78-BC2B-FCE1B115E006}"/>
              </a:ext>
            </a:extLst>
          </p:cNvPr>
          <p:cNvSpPr txBox="1"/>
          <p:nvPr/>
        </p:nvSpPr>
        <p:spPr>
          <a:xfrm>
            <a:off x="439786" y="1133117"/>
            <a:ext cx="1900872" cy="1328909"/>
          </a:xfrm>
          <a:prstGeom prst="rect">
            <a:avLst/>
          </a:prstGeom>
          <a:solidFill>
            <a:srgbClr val="2C5234"/>
          </a:solidFill>
        </p:spPr>
        <p:txBody>
          <a:bodyPr wrap="square" lIns="36000" tIns="36000" rIns="36000" bIns="36000" rtlCol="0" anchor="ctr" anchorCtr="0">
            <a:noAutofit/>
          </a:bodyPr>
          <a:lstStyle/>
          <a:p>
            <a:pPr algn="ctr">
              <a:spcBef>
                <a:spcPts val="600"/>
              </a:spcBef>
              <a:buSzPct val="100000"/>
            </a:pPr>
            <a:r>
              <a:rPr lang="en-US" sz="1600" b="1" dirty="0">
                <a:solidFill>
                  <a:schemeClr val="bg1"/>
                </a:solidFill>
              </a:rPr>
              <a:t>Sale to RVUNL under Bundling Scheme</a:t>
            </a:r>
          </a:p>
        </p:txBody>
      </p:sp>
      <p:sp>
        <p:nvSpPr>
          <p:cNvPr id="11" name="TextBox 10">
            <a:extLst>
              <a:ext uri="{FF2B5EF4-FFF2-40B4-BE49-F238E27FC236}">
                <a16:creationId xmlns:a16="http://schemas.microsoft.com/office/drawing/2014/main" id="{07034924-4F2A-4E9B-90C4-35452FE20C78}"/>
              </a:ext>
            </a:extLst>
          </p:cNvPr>
          <p:cNvSpPr txBox="1"/>
          <p:nvPr/>
        </p:nvSpPr>
        <p:spPr>
          <a:xfrm>
            <a:off x="439786" y="2553722"/>
            <a:ext cx="1900872" cy="2424678"/>
          </a:xfrm>
          <a:prstGeom prst="rect">
            <a:avLst/>
          </a:prstGeom>
          <a:solidFill>
            <a:srgbClr val="2C5234"/>
          </a:solidFill>
        </p:spPr>
        <p:txBody>
          <a:bodyPr wrap="square" lIns="36000" tIns="36000" rIns="36000" bIns="36000" rtlCol="0" anchor="ctr" anchorCtr="0">
            <a:noAutofit/>
          </a:bodyPr>
          <a:lstStyle/>
          <a:p>
            <a:pPr algn="ctr">
              <a:spcBef>
                <a:spcPts val="600"/>
              </a:spcBef>
              <a:buSzPct val="100000"/>
            </a:pPr>
            <a:r>
              <a:rPr lang="en-US" sz="1600" b="1" dirty="0">
                <a:solidFill>
                  <a:schemeClr val="bg1"/>
                </a:solidFill>
              </a:rPr>
              <a:t>Sale to Discoms u/s 62</a:t>
            </a:r>
          </a:p>
        </p:txBody>
      </p:sp>
      <p:sp>
        <p:nvSpPr>
          <p:cNvPr id="12" name="TextBox 11">
            <a:extLst>
              <a:ext uri="{FF2B5EF4-FFF2-40B4-BE49-F238E27FC236}">
                <a16:creationId xmlns:a16="http://schemas.microsoft.com/office/drawing/2014/main" id="{43457097-F038-44CC-B0DF-692D09F99818}"/>
              </a:ext>
            </a:extLst>
          </p:cNvPr>
          <p:cNvSpPr txBox="1"/>
          <p:nvPr/>
        </p:nvSpPr>
        <p:spPr>
          <a:xfrm>
            <a:off x="439786" y="5070096"/>
            <a:ext cx="1900872" cy="1531099"/>
          </a:xfrm>
          <a:prstGeom prst="rect">
            <a:avLst/>
          </a:prstGeom>
          <a:solidFill>
            <a:srgbClr val="2C5234"/>
          </a:solidFill>
        </p:spPr>
        <p:txBody>
          <a:bodyPr wrap="square" lIns="36000" tIns="36000" rIns="36000" bIns="36000" rtlCol="0" anchor="ctr" anchorCtr="0">
            <a:noAutofit/>
          </a:bodyPr>
          <a:lstStyle/>
          <a:p>
            <a:pPr algn="ctr">
              <a:spcBef>
                <a:spcPts val="600"/>
              </a:spcBef>
              <a:buSzPct val="100000"/>
            </a:pPr>
            <a:r>
              <a:rPr lang="en-US" sz="1600" b="1" dirty="0">
                <a:solidFill>
                  <a:schemeClr val="bg1"/>
                </a:solidFill>
              </a:rPr>
              <a:t>Sale through Power Exchanges</a:t>
            </a:r>
          </a:p>
        </p:txBody>
      </p:sp>
      <p:sp>
        <p:nvSpPr>
          <p:cNvPr id="13" name="TextBox 12">
            <a:extLst>
              <a:ext uri="{FF2B5EF4-FFF2-40B4-BE49-F238E27FC236}">
                <a16:creationId xmlns:a16="http://schemas.microsoft.com/office/drawing/2014/main" id="{028EE6DD-5A35-4217-87CD-D729AE3F999A}"/>
              </a:ext>
            </a:extLst>
          </p:cNvPr>
          <p:cNvSpPr txBox="1"/>
          <p:nvPr/>
        </p:nvSpPr>
        <p:spPr>
          <a:xfrm>
            <a:off x="2540352" y="1133117"/>
            <a:ext cx="9241438" cy="1330143"/>
          </a:xfrm>
          <a:prstGeom prst="roundRect">
            <a:avLst/>
          </a:prstGeom>
          <a:noFill/>
          <a:ln>
            <a:solidFill>
              <a:srgbClr val="009A44"/>
            </a:solidFill>
          </a:ln>
        </p:spPr>
        <p:txBody>
          <a:bodyPr wrap="square" lIns="0" tIns="0" rIns="0" bIns="0" rtlCol="0" anchor="ctr" anchorCtr="0">
            <a:noAutofit/>
          </a:bodyPr>
          <a:lstStyle/>
          <a:p>
            <a:pPr marL="285750" indent="-285750" algn="just">
              <a:spcAft>
                <a:spcPts val="600"/>
              </a:spcAft>
              <a:buSzPct val="100000"/>
              <a:buFont typeface="Arial" panose="020B0604020202020204" pitchFamily="34" charset="0"/>
              <a:buChar char="•"/>
            </a:pPr>
            <a:r>
              <a:rPr lang="en-US" sz="1600" dirty="0">
                <a:solidFill>
                  <a:prstClr val="black"/>
                </a:solidFill>
              </a:rPr>
              <a:t>Exemption from </a:t>
            </a:r>
            <a:r>
              <a:rPr lang="en-US" sz="1600" dirty="0" err="1">
                <a:solidFill>
                  <a:prstClr val="black"/>
                </a:solidFill>
              </a:rPr>
              <a:t>MoP</a:t>
            </a:r>
            <a:r>
              <a:rPr lang="en-US" sz="1600" dirty="0">
                <a:solidFill>
                  <a:prstClr val="black"/>
                </a:solidFill>
              </a:rPr>
              <a:t> with respect to the requirement of power procurement through competitive basis in case of non co-located solar plant, or, allowing competitive EPC tendering to qualify as RE procurement on competitive basis </a:t>
            </a:r>
          </a:p>
          <a:p>
            <a:pPr marL="285750" indent="-285750" algn="just">
              <a:spcAft>
                <a:spcPts val="600"/>
              </a:spcAft>
              <a:buSzPct val="100000"/>
              <a:buFont typeface="Arial" panose="020B0604020202020204" pitchFamily="34" charset="0"/>
              <a:buChar char="•"/>
            </a:pPr>
            <a:r>
              <a:rPr lang="en-US" sz="1600" dirty="0"/>
              <a:t>Assessment of Solar tariff at RVUNL’s solar park and undertake suitable optimization measures so that the tariff remains below the ECR of RVUNL’s TPPs</a:t>
            </a:r>
          </a:p>
        </p:txBody>
      </p:sp>
      <p:sp>
        <p:nvSpPr>
          <p:cNvPr id="2" name="Isosceles Triangle 1">
            <a:hlinkClick r:id="rId2" action="ppaction://hlinksldjump"/>
            <a:extLst>
              <a:ext uri="{FF2B5EF4-FFF2-40B4-BE49-F238E27FC236}">
                <a16:creationId xmlns:a16="http://schemas.microsoft.com/office/drawing/2014/main" id="{A4EFDFB5-22B9-461D-A5C2-FD7DF0573F53}"/>
              </a:ext>
            </a:extLst>
          </p:cNvPr>
          <p:cNvSpPr/>
          <p:nvPr/>
        </p:nvSpPr>
        <p:spPr bwMode="gray">
          <a:xfrm rot="5400000">
            <a:off x="11796548" y="1615287"/>
            <a:ext cx="350520" cy="259385"/>
          </a:xfrm>
          <a:prstGeom prst="triangle">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 name="Isosceles Triangle 13">
            <a:hlinkClick r:id="rId3" action="ppaction://hlinksldjump"/>
            <a:extLst>
              <a:ext uri="{FF2B5EF4-FFF2-40B4-BE49-F238E27FC236}">
                <a16:creationId xmlns:a16="http://schemas.microsoft.com/office/drawing/2014/main" id="{340372C0-24A5-4D71-B7FA-08F23DAFFD0A}"/>
              </a:ext>
            </a:extLst>
          </p:cNvPr>
          <p:cNvSpPr/>
          <p:nvPr/>
        </p:nvSpPr>
        <p:spPr bwMode="gray">
          <a:xfrm rot="5400000">
            <a:off x="11796063" y="3636369"/>
            <a:ext cx="350520" cy="259385"/>
          </a:xfrm>
          <a:prstGeom prst="triangle">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 name="Isosceles Triangle 14">
            <a:hlinkClick r:id="rId4" action="ppaction://hlinksldjump"/>
            <a:extLst>
              <a:ext uri="{FF2B5EF4-FFF2-40B4-BE49-F238E27FC236}">
                <a16:creationId xmlns:a16="http://schemas.microsoft.com/office/drawing/2014/main" id="{690641C2-4AA7-4972-AD2D-821E2DDB3745}"/>
              </a:ext>
            </a:extLst>
          </p:cNvPr>
          <p:cNvSpPr/>
          <p:nvPr/>
        </p:nvSpPr>
        <p:spPr bwMode="gray">
          <a:xfrm rot="5400000">
            <a:off x="11796063" y="5705336"/>
            <a:ext cx="350520" cy="259385"/>
          </a:xfrm>
          <a:prstGeom prst="triangle">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301580325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800" b="1" dirty="0"/>
              <a:t>Way Forward for CIL w.r.t Sale of Solar Power through identified modalities (2/2)</a:t>
            </a:r>
            <a:endParaRPr lang="en-GB" sz="2800" b="1" dirty="0"/>
          </a:p>
        </p:txBody>
      </p:sp>
      <p:sp>
        <p:nvSpPr>
          <p:cNvPr id="8" name="TextBox 7">
            <a:extLst>
              <a:ext uri="{FF2B5EF4-FFF2-40B4-BE49-F238E27FC236}">
                <a16:creationId xmlns:a16="http://schemas.microsoft.com/office/drawing/2014/main" id="{124B2BB2-F1A7-4F94-8772-DB369A218673}"/>
              </a:ext>
            </a:extLst>
          </p:cNvPr>
          <p:cNvSpPr txBox="1"/>
          <p:nvPr/>
        </p:nvSpPr>
        <p:spPr>
          <a:xfrm>
            <a:off x="2560672" y="2338185"/>
            <a:ext cx="9241438" cy="731971"/>
          </a:xfrm>
          <a:prstGeom prst="roundRect">
            <a:avLst/>
          </a:prstGeom>
          <a:noFill/>
          <a:ln>
            <a:solidFill>
              <a:srgbClr val="009A44"/>
            </a:solidFill>
          </a:ln>
        </p:spPr>
        <p:txBody>
          <a:bodyPr wrap="square" lIns="0" tIns="0" rIns="0" bIns="0" rtlCol="0" anchor="ctr" anchorCtr="0">
            <a:noAutofit/>
          </a:bodyPr>
          <a:lstStyle/>
          <a:p>
            <a:pPr marL="285750" indent="-285750" algn="just">
              <a:spcAft>
                <a:spcPts val="600"/>
              </a:spcAft>
              <a:buSzPct val="100000"/>
              <a:buFont typeface="Arial" panose="020B0604020202020204" pitchFamily="34" charset="0"/>
              <a:buChar char="•"/>
            </a:pPr>
            <a:r>
              <a:rPr lang="en-US" sz="1600" dirty="0"/>
              <a:t>Deliberations with the leading power traders (such as PTC, NVVN) to understand the opportunity for power sale through the traders, preferably under long-term contract</a:t>
            </a:r>
          </a:p>
        </p:txBody>
      </p:sp>
      <p:sp>
        <p:nvSpPr>
          <p:cNvPr id="9" name="TextBox 8">
            <a:extLst>
              <a:ext uri="{FF2B5EF4-FFF2-40B4-BE49-F238E27FC236}">
                <a16:creationId xmlns:a16="http://schemas.microsoft.com/office/drawing/2014/main" id="{5D8F355B-19FA-407B-9857-3B74B35DEC47}"/>
              </a:ext>
            </a:extLst>
          </p:cNvPr>
          <p:cNvSpPr txBox="1"/>
          <p:nvPr/>
        </p:nvSpPr>
        <p:spPr>
          <a:xfrm>
            <a:off x="2560673" y="3286450"/>
            <a:ext cx="9241437" cy="1024182"/>
          </a:xfrm>
          <a:prstGeom prst="roundRect">
            <a:avLst/>
          </a:prstGeom>
          <a:noFill/>
          <a:ln>
            <a:solidFill>
              <a:srgbClr val="009A44"/>
            </a:solidFill>
          </a:ln>
        </p:spPr>
        <p:txBody>
          <a:bodyPr wrap="square" lIns="0" tIns="0" rIns="0" bIns="0" rtlCol="0">
            <a:spAutoFit/>
          </a:bodyPr>
          <a:lstStyle/>
          <a:p>
            <a:pPr marL="285750" indent="-285750">
              <a:spcAft>
                <a:spcPts val="600"/>
              </a:spcAft>
              <a:buFont typeface="Arial" panose="020B0604020202020204" pitchFamily="34" charset="0"/>
              <a:buChar char="•"/>
            </a:pPr>
            <a:r>
              <a:rPr lang="en-US" sz="1600" dirty="0"/>
              <a:t>Liaison of CIL with IREDA to understand future tender timelines</a:t>
            </a:r>
          </a:p>
          <a:p>
            <a:pPr marL="285750" indent="-285750">
              <a:spcAft>
                <a:spcPts val="600"/>
              </a:spcAft>
              <a:buFont typeface="Arial" panose="020B0604020202020204" pitchFamily="34" charset="0"/>
              <a:buChar char="•"/>
            </a:pPr>
            <a:r>
              <a:rPr lang="en-US" sz="1600" dirty="0"/>
              <a:t>Liaison between CIL and State DISCOMs to find probable buyers</a:t>
            </a:r>
          </a:p>
          <a:p>
            <a:pPr marL="285750" indent="-285750">
              <a:spcAft>
                <a:spcPts val="600"/>
              </a:spcAft>
              <a:buFont typeface="Arial" panose="020B0604020202020204" pitchFamily="34" charset="0"/>
              <a:buChar char="•"/>
            </a:pPr>
            <a:r>
              <a:rPr lang="en-US" sz="1600" dirty="0"/>
              <a:t>Exploring potential for use of power through captive consumption</a:t>
            </a:r>
          </a:p>
        </p:txBody>
      </p:sp>
      <p:sp>
        <p:nvSpPr>
          <p:cNvPr id="10" name="TextBox 9">
            <a:extLst>
              <a:ext uri="{FF2B5EF4-FFF2-40B4-BE49-F238E27FC236}">
                <a16:creationId xmlns:a16="http://schemas.microsoft.com/office/drawing/2014/main" id="{71A7B91D-AB2D-4A78-BC2B-FCE1B115E006}"/>
              </a:ext>
            </a:extLst>
          </p:cNvPr>
          <p:cNvSpPr txBox="1"/>
          <p:nvPr/>
        </p:nvSpPr>
        <p:spPr>
          <a:xfrm>
            <a:off x="460106" y="1406713"/>
            <a:ext cx="1900872" cy="731971"/>
          </a:xfrm>
          <a:prstGeom prst="rect">
            <a:avLst/>
          </a:prstGeom>
          <a:solidFill>
            <a:srgbClr val="2C5234"/>
          </a:solidFill>
        </p:spPr>
        <p:txBody>
          <a:bodyPr wrap="square" lIns="36000" tIns="36000" rIns="36000" bIns="36000" rtlCol="0" anchor="ctr" anchorCtr="0">
            <a:noAutofit/>
          </a:bodyPr>
          <a:lstStyle/>
          <a:p>
            <a:pPr algn="ctr">
              <a:spcBef>
                <a:spcPts val="600"/>
              </a:spcBef>
              <a:buSzPct val="100000"/>
            </a:pPr>
            <a:r>
              <a:rPr lang="en-US" sz="1600" b="1" dirty="0">
                <a:solidFill>
                  <a:schemeClr val="bg1"/>
                </a:solidFill>
              </a:rPr>
              <a:t>Sale to C&amp;I Consumers</a:t>
            </a:r>
          </a:p>
        </p:txBody>
      </p:sp>
      <p:sp>
        <p:nvSpPr>
          <p:cNvPr id="11" name="TextBox 10">
            <a:extLst>
              <a:ext uri="{FF2B5EF4-FFF2-40B4-BE49-F238E27FC236}">
                <a16:creationId xmlns:a16="http://schemas.microsoft.com/office/drawing/2014/main" id="{07034924-4F2A-4E9B-90C4-35452FE20C78}"/>
              </a:ext>
            </a:extLst>
          </p:cNvPr>
          <p:cNvSpPr txBox="1"/>
          <p:nvPr/>
        </p:nvSpPr>
        <p:spPr>
          <a:xfrm>
            <a:off x="460106" y="2338185"/>
            <a:ext cx="1900872" cy="731971"/>
          </a:xfrm>
          <a:prstGeom prst="rect">
            <a:avLst/>
          </a:prstGeom>
          <a:solidFill>
            <a:srgbClr val="2C5234"/>
          </a:solidFill>
        </p:spPr>
        <p:txBody>
          <a:bodyPr wrap="square" lIns="36000" tIns="36000" rIns="36000" bIns="36000" rtlCol="0" anchor="ctr" anchorCtr="0">
            <a:noAutofit/>
          </a:bodyPr>
          <a:lstStyle/>
          <a:p>
            <a:pPr algn="ctr">
              <a:spcBef>
                <a:spcPts val="600"/>
              </a:spcBef>
              <a:buSzPct val="100000"/>
            </a:pPr>
            <a:r>
              <a:rPr lang="en-US" sz="1600" b="1" dirty="0">
                <a:solidFill>
                  <a:schemeClr val="bg1"/>
                </a:solidFill>
              </a:rPr>
              <a:t>Sale through Trading Licensees</a:t>
            </a:r>
          </a:p>
        </p:txBody>
      </p:sp>
      <p:sp>
        <p:nvSpPr>
          <p:cNvPr id="12" name="TextBox 11">
            <a:extLst>
              <a:ext uri="{FF2B5EF4-FFF2-40B4-BE49-F238E27FC236}">
                <a16:creationId xmlns:a16="http://schemas.microsoft.com/office/drawing/2014/main" id="{43457097-F038-44CC-B0DF-692D09F99818}"/>
              </a:ext>
            </a:extLst>
          </p:cNvPr>
          <p:cNvSpPr txBox="1"/>
          <p:nvPr/>
        </p:nvSpPr>
        <p:spPr>
          <a:xfrm>
            <a:off x="460106" y="3286451"/>
            <a:ext cx="1900872" cy="1024181"/>
          </a:xfrm>
          <a:prstGeom prst="rect">
            <a:avLst/>
          </a:prstGeom>
          <a:solidFill>
            <a:srgbClr val="2C5234"/>
          </a:solidFill>
        </p:spPr>
        <p:txBody>
          <a:bodyPr wrap="square" lIns="36000" tIns="36000" rIns="36000" bIns="36000" rtlCol="0" anchor="ctr" anchorCtr="0">
            <a:noAutofit/>
          </a:bodyPr>
          <a:lstStyle/>
          <a:p>
            <a:pPr algn="ctr">
              <a:spcBef>
                <a:spcPts val="600"/>
              </a:spcBef>
              <a:buSzPct val="100000"/>
            </a:pPr>
            <a:r>
              <a:rPr lang="en-US" sz="1600" b="1" dirty="0">
                <a:solidFill>
                  <a:schemeClr val="bg1"/>
                </a:solidFill>
              </a:rPr>
              <a:t>Sale under CPSU Ph-II Scheme</a:t>
            </a:r>
          </a:p>
        </p:txBody>
      </p:sp>
      <p:sp>
        <p:nvSpPr>
          <p:cNvPr id="13" name="TextBox 12">
            <a:extLst>
              <a:ext uri="{FF2B5EF4-FFF2-40B4-BE49-F238E27FC236}">
                <a16:creationId xmlns:a16="http://schemas.microsoft.com/office/drawing/2014/main" id="{028EE6DD-5A35-4217-87CD-D729AE3F999A}"/>
              </a:ext>
            </a:extLst>
          </p:cNvPr>
          <p:cNvSpPr txBox="1"/>
          <p:nvPr/>
        </p:nvSpPr>
        <p:spPr>
          <a:xfrm>
            <a:off x="2560672" y="1406713"/>
            <a:ext cx="9241438" cy="731971"/>
          </a:xfrm>
          <a:prstGeom prst="roundRect">
            <a:avLst/>
          </a:prstGeom>
          <a:noFill/>
          <a:ln>
            <a:solidFill>
              <a:srgbClr val="009A44"/>
            </a:solidFill>
          </a:ln>
        </p:spPr>
        <p:txBody>
          <a:bodyPr wrap="square" lIns="0" tIns="0" rIns="0" bIns="0" rtlCol="0" anchor="ctr" anchorCtr="0">
            <a:noAutofit/>
          </a:bodyPr>
          <a:lstStyle/>
          <a:p>
            <a:pPr marL="285750" indent="-285750" algn="just">
              <a:spcAft>
                <a:spcPts val="600"/>
              </a:spcAft>
              <a:buSzPct val="100000"/>
              <a:buFont typeface="Arial" panose="020B0604020202020204" pitchFamily="34" charset="0"/>
              <a:buChar char="•"/>
            </a:pPr>
            <a:r>
              <a:rPr lang="en-US" sz="1600" dirty="0"/>
              <a:t>Exploration of C&amp;I consumers with high power demand in locations such as Rajasthan, states where CIL is present, or any other state as suitable</a:t>
            </a:r>
          </a:p>
        </p:txBody>
      </p:sp>
      <p:sp>
        <p:nvSpPr>
          <p:cNvPr id="14" name="TextBox 13">
            <a:extLst>
              <a:ext uri="{FF2B5EF4-FFF2-40B4-BE49-F238E27FC236}">
                <a16:creationId xmlns:a16="http://schemas.microsoft.com/office/drawing/2014/main" id="{5104866A-A2C0-47B1-840B-887D5995CC87}"/>
              </a:ext>
            </a:extLst>
          </p:cNvPr>
          <p:cNvSpPr txBox="1"/>
          <p:nvPr/>
        </p:nvSpPr>
        <p:spPr>
          <a:xfrm>
            <a:off x="2560673" y="4538306"/>
            <a:ext cx="9241437" cy="1532334"/>
          </a:xfrm>
          <a:prstGeom prst="roundRect">
            <a:avLst/>
          </a:prstGeom>
          <a:noFill/>
          <a:ln>
            <a:solidFill>
              <a:srgbClr val="009A44"/>
            </a:solidFill>
          </a:ln>
        </p:spPr>
        <p:txBody>
          <a:bodyPr wrap="square" lIns="0" tIns="0" rIns="0" bIns="0" rtlCol="0">
            <a:spAutoFit/>
          </a:bodyPr>
          <a:lstStyle/>
          <a:p>
            <a:pPr marL="285750" indent="-285750">
              <a:spcAft>
                <a:spcPts val="600"/>
              </a:spcAft>
              <a:buFont typeface="Arial" panose="020B0604020202020204" pitchFamily="34" charset="0"/>
              <a:buChar char="•"/>
            </a:pPr>
            <a:r>
              <a:rPr lang="en-US" sz="1600" dirty="0"/>
              <a:t>Assessment of current initiatives for captive solar projects at different subsidiaries and assessment of balance solar capacity, if any, required to further fulfil the captive requirement</a:t>
            </a:r>
          </a:p>
          <a:p>
            <a:pPr marL="285750" indent="-285750">
              <a:spcAft>
                <a:spcPts val="600"/>
              </a:spcAft>
              <a:buFont typeface="Arial" panose="020B0604020202020204" pitchFamily="34" charset="0"/>
              <a:buChar char="•"/>
            </a:pPr>
            <a:r>
              <a:rPr lang="en-US" sz="1600" dirty="0"/>
              <a:t>Location assessment – own land of CIL subsidiaries or any other available land (such as Rajasthan solar park)</a:t>
            </a:r>
          </a:p>
          <a:p>
            <a:pPr marL="285750" indent="-285750">
              <a:spcAft>
                <a:spcPts val="600"/>
              </a:spcAft>
              <a:buFont typeface="Arial" panose="020B0604020202020204" pitchFamily="34" charset="0"/>
              <a:buChar char="•"/>
            </a:pPr>
            <a:r>
              <a:rPr lang="en-US" sz="1600" dirty="0"/>
              <a:t>Liaison between CIL and State Discoms, Transco, Regulator, and other relevant agencies</a:t>
            </a:r>
          </a:p>
        </p:txBody>
      </p:sp>
      <p:sp>
        <p:nvSpPr>
          <p:cNvPr id="15" name="TextBox 14">
            <a:extLst>
              <a:ext uri="{FF2B5EF4-FFF2-40B4-BE49-F238E27FC236}">
                <a16:creationId xmlns:a16="http://schemas.microsoft.com/office/drawing/2014/main" id="{5828AF57-D479-4F18-B128-65910C5EC43E}"/>
              </a:ext>
            </a:extLst>
          </p:cNvPr>
          <p:cNvSpPr txBox="1"/>
          <p:nvPr/>
        </p:nvSpPr>
        <p:spPr>
          <a:xfrm>
            <a:off x="460106" y="4538307"/>
            <a:ext cx="1900872" cy="1532334"/>
          </a:xfrm>
          <a:prstGeom prst="rect">
            <a:avLst/>
          </a:prstGeom>
          <a:solidFill>
            <a:srgbClr val="2C5234"/>
          </a:solidFill>
        </p:spPr>
        <p:txBody>
          <a:bodyPr wrap="square" lIns="36000" tIns="36000" rIns="36000" bIns="36000" rtlCol="0" anchor="ctr" anchorCtr="0">
            <a:noAutofit/>
          </a:bodyPr>
          <a:lstStyle/>
          <a:p>
            <a:pPr algn="ctr">
              <a:spcBef>
                <a:spcPts val="600"/>
              </a:spcBef>
              <a:buSzPct val="100000"/>
            </a:pPr>
            <a:r>
              <a:rPr lang="en-US" sz="1600" b="1" dirty="0">
                <a:solidFill>
                  <a:schemeClr val="bg1"/>
                </a:solidFill>
              </a:rPr>
              <a:t>Captive Consumption</a:t>
            </a:r>
          </a:p>
        </p:txBody>
      </p:sp>
      <p:sp>
        <p:nvSpPr>
          <p:cNvPr id="16" name="Isosceles Triangle 15">
            <a:hlinkClick r:id="rId2" action="ppaction://hlinksldjump"/>
            <a:extLst>
              <a:ext uri="{FF2B5EF4-FFF2-40B4-BE49-F238E27FC236}">
                <a16:creationId xmlns:a16="http://schemas.microsoft.com/office/drawing/2014/main" id="{03948628-A53A-409A-851A-98CD6ED1F028}"/>
              </a:ext>
            </a:extLst>
          </p:cNvPr>
          <p:cNvSpPr/>
          <p:nvPr/>
        </p:nvSpPr>
        <p:spPr bwMode="gray">
          <a:xfrm rot="5400000">
            <a:off x="11806223" y="1643008"/>
            <a:ext cx="350520" cy="259385"/>
          </a:xfrm>
          <a:prstGeom prst="triangle">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 name="Isosceles Triangle 16">
            <a:hlinkClick r:id="rId3" action="ppaction://hlinksldjump"/>
            <a:extLst>
              <a:ext uri="{FF2B5EF4-FFF2-40B4-BE49-F238E27FC236}">
                <a16:creationId xmlns:a16="http://schemas.microsoft.com/office/drawing/2014/main" id="{6BFDDAB4-8258-4214-9E4E-2AA953D2879A}"/>
              </a:ext>
            </a:extLst>
          </p:cNvPr>
          <p:cNvSpPr/>
          <p:nvPr/>
        </p:nvSpPr>
        <p:spPr bwMode="gray">
          <a:xfrm rot="5400000">
            <a:off x="11806223" y="2574478"/>
            <a:ext cx="350520" cy="259385"/>
          </a:xfrm>
          <a:prstGeom prst="triangle">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 name="Isosceles Triangle 17">
            <a:hlinkClick r:id="rId4" action="ppaction://hlinksldjump"/>
            <a:extLst>
              <a:ext uri="{FF2B5EF4-FFF2-40B4-BE49-F238E27FC236}">
                <a16:creationId xmlns:a16="http://schemas.microsoft.com/office/drawing/2014/main" id="{46DFC81E-1FF8-4D86-9FDB-760F523BE37B}"/>
              </a:ext>
            </a:extLst>
          </p:cNvPr>
          <p:cNvSpPr/>
          <p:nvPr/>
        </p:nvSpPr>
        <p:spPr bwMode="gray">
          <a:xfrm rot="5400000">
            <a:off x="11806222" y="3657449"/>
            <a:ext cx="350520" cy="259385"/>
          </a:xfrm>
          <a:prstGeom prst="triangle">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 name="Isosceles Triangle 18">
            <a:hlinkClick r:id="rId5" action="ppaction://hlinksldjump"/>
            <a:extLst>
              <a:ext uri="{FF2B5EF4-FFF2-40B4-BE49-F238E27FC236}">
                <a16:creationId xmlns:a16="http://schemas.microsoft.com/office/drawing/2014/main" id="{A7846086-4D7E-4CE7-AB44-DA8A83FA4C43}"/>
              </a:ext>
            </a:extLst>
          </p:cNvPr>
          <p:cNvSpPr/>
          <p:nvPr/>
        </p:nvSpPr>
        <p:spPr bwMode="gray">
          <a:xfrm rot="5400000">
            <a:off x="11806222" y="5130870"/>
            <a:ext cx="350520" cy="259385"/>
          </a:xfrm>
          <a:prstGeom prst="triangle">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0" name="Isosceles Triangle 19">
            <a:hlinkClick r:id="rId2" action="ppaction://hlinksldjump"/>
            <a:extLst>
              <a:ext uri="{FF2B5EF4-FFF2-40B4-BE49-F238E27FC236}">
                <a16:creationId xmlns:a16="http://schemas.microsoft.com/office/drawing/2014/main" id="{24142AB3-3D32-4381-B9A7-4BFC5D33FCD8}"/>
              </a:ext>
            </a:extLst>
          </p:cNvPr>
          <p:cNvSpPr/>
          <p:nvPr/>
        </p:nvSpPr>
        <p:spPr bwMode="gray">
          <a:xfrm rot="5400000">
            <a:off x="11806223" y="1643009"/>
            <a:ext cx="350520" cy="259385"/>
          </a:xfrm>
          <a:prstGeom prst="triangle">
            <a:avLst/>
          </a:prstGeom>
          <a:solidFill>
            <a:schemeClr val="accent6"/>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56288665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7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580586" cy="692151"/>
          </a:xfrm>
        </p:spPr>
        <p:txBody>
          <a:bodyPr/>
          <a:lstStyle/>
          <a:p>
            <a:pPr marL="990600" indent="-990600"/>
            <a:r>
              <a:rPr lang="en-US" sz="2800" i="0" dirty="0"/>
              <a:t>1. Sale of Solar Power to RVUNL under Bundling Scheme</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Arrow: Left 6">
            <a:hlinkClick r:id="rId6" action="ppaction://hlinksldjump"/>
            <a:extLst>
              <a:ext uri="{FF2B5EF4-FFF2-40B4-BE49-F238E27FC236}">
                <a16:creationId xmlns:a16="http://schemas.microsoft.com/office/drawing/2014/main" id="{CE524F2E-6DA4-41A6-A6E1-937E09017DB6}"/>
              </a:ext>
            </a:extLst>
          </p:cNvPr>
          <p:cNvSpPr/>
          <p:nvPr/>
        </p:nvSpPr>
        <p:spPr bwMode="gray">
          <a:xfrm>
            <a:off x="10515600" y="6329680"/>
            <a:ext cx="335280" cy="375920"/>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539101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effectLst/>
                <a:latin typeface="Calibri" panose="020F0502020204030204" pitchFamily="34" charset="0"/>
                <a:ea typeface="Calibri" panose="020F0502020204030204" pitchFamily="34" charset="0"/>
              </a:rPr>
              <a:t>Sale to RVUNL </a:t>
            </a:r>
            <a:r>
              <a:rPr lang="en-US" sz="2400" b="1" dirty="0"/>
              <a:t>under </a:t>
            </a:r>
            <a:r>
              <a:rPr lang="en-US" sz="2400" b="1" dirty="0" err="1"/>
              <a:t>MoP’s</a:t>
            </a:r>
            <a:r>
              <a:rPr lang="en-US" sz="2400" b="1" dirty="0"/>
              <a:t> bundling mechanism</a:t>
            </a:r>
            <a:endParaRPr lang="en-GB" sz="2400" b="1" dirty="0"/>
          </a:p>
        </p:txBody>
      </p:sp>
      <p:sp>
        <p:nvSpPr>
          <p:cNvPr id="39" name="TextBox 38">
            <a:extLst>
              <a:ext uri="{FF2B5EF4-FFF2-40B4-BE49-F238E27FC236}">
                <a16:creationId xmlns:a16="http://schemas.microsoft.com/office/drawing/2014/main" id="{BEA2FCB7-D8FA-49D2-925D-C06A9EA1F4A4}"/>
              </a:ext>
            </a:extLst>
          </p:cNvPr>
          <p:cNvSpPr txBox="1"/>
          <p:nvPr/>
        </p:nvSpPr>
        <p:spPr>
          <a:xfrm>
            <a:off x="3765394" y="1834976"/>
            <a:ext cx="4664927" cy="603178"/>
          </a:xfrm>
          <a:prstGeom prst="rect">
            <a:avLst/>
          </a:prstGeom>
          <a:solidFill>
            <a:srgbClr val="86BC25"/>
          </a:solidFill>
        </p:spPr>
        <p:txBody>
          <a:bodyPr wrap="square">
            <a:spAutoFit/>
          </a:bodyPr>
          <a:lstStyle/>
          <a:p>
            <a:pPr algn="ctr">
              <a:lnSpc>
                <a:spcPct val="106000"/>
              </a:lnSpc>
            </a:pPr>
            <a:r>
              <a:rPr lang="en-US" sz="1600" b="1" dirty="0">
                <a:solidFill>
                  <a:schemeClr val="bg1"/>
                </a:solidFill>
              </a:rPr>
              <a:t>Options for Sale to RVUNL under </a:t>
            </a:r>
            <a:r>
              <a:rPr lang="en-US" sz="1600" b="1" dirty="0" err="1">
                <a:solidFill>
                  <a:schemeClr val="bg1"/>
                </a:solidFill>
              </a:rPr>
              <a:t>MoP’s</a:t>
            </a:r>
            <a:r>
              <a:rPr lang="en-US" sz="1600" b="1" dirty="0">
                <a:solidFill>
                  <a:schemeClr val="bg1"/>
                </a:solidFill>
              </a:rPr>
              <a:t> Bundling Mechanism </a:t>
            </a:r>
          </a:p>
        </p:txBody>
      </p:sp>
      <p:sp>
        <p:nvSpPr>
          <p:cNvPr id="40" name="Arrow: Right 39">
            <a:extLst>
              <a:ext uri="{FF2B5EF4-FFF2-40B4-BE49-F238E27FC236}">
                <a16:creationId xmlns:a16="http://schemas.microsoft.com/office/drawing/2014/main" id="{A507C1C7-45EF-4272-89C7-DA0DCFD97A42}"/>
              </a:ext>
            </a:extLst>
          </p:cNvPr>
          <p:cNvSpPr/>
          <p:nvPr/>
        </p:nvSpPr>
        <p:spPr bwMode="gray">
          <a:xfrm rot="5400000">
            <a:off x="5930807" y="2490907"/>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1" name="Rectangle 40">
            <a:extLst>
              <a:ext uri="{FF2B5EF4-FFF2-40B4-BE49-F238E27FC236}">
                <a16:creationId xmlns:a16="http://schemas.microsoft.com/office/drawing/2014/main" id="{4DBFF3A8-F544-4856-A755-366518F7EB38}"/>
              </a:ext>
            </a:extLst>
          </p:cNvPr>
          <p:cNvSpPr/>
          <p:nvPr/>
        </p:nvSpPr>
        <p:spPr bwMode="gray">
          <a:xfrm rot="5400000">
            <a:off x="6080679" y="-111532"/>
            <a:ext cx="59437" cy="5708139"/>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2" name="Arrow: Right 41">
            <a:extLst>
              <a:ext uri="{FF2B5EF4-FFF2-40B4-BE49-F238E27FC236}">
                <a16:creationId xmlns:a16="http://schemas.microsoft.com/office/drawing/2014/main" id="{F6492407-AF81-4334-9061-05A2DFA74FFB}"/>
              </a:ext>
            </a:extLst>
          </p:cNvPr>
          <p:cNvSpPr/>
          <p:nvPr/>
        </p:nvSpPr>
        <p:spPr bwMode="gray">
          <a:xfrm rot="5400000">
            <a:off x="3143851" y="2775226"/>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1" name="Arrow: Right 50">
            <a:extLst>
              <a:ext uri="{FF2B5EF4-FFF2-40B4-BE49-F238E27FC236}">
                <a16:creationId xmlns:a16="http://schemas.microsoft.com/office/drawing/2014/main" id="{85B2405A-3835-44E4-BD1E-C72FD1DADEBE}"/>
              </a:ext>
            </a:extLst>
          </p:cNvPr>
          <p:cNvSpPr/>
          <p:nvPr/>
        </p:nvSpPr>
        <p:spPr bwMode="gray">
          <a:xfrm rot="5400000">
            <a:off x="8761186" y="2761835"/>
            <a:ext cx="334101"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52" name="Rectangle: Rounded Corners 51">
            <a:extLst>
              <a:ext uri="{FF2B5EF4-FFF2-40B4-BE49-F238E27FC236}">
                <a16:creationId xmlns:a16="http://schemas.microsoft.com/office/drawing/2014/main" id="{E04CEF57-2A72-4301-ADB0-0B7601DD2D68}"/>
              </a:ext>
            </a:extLst>
          </p:cNvPr>
          <p:cNvSpPr/>
          <p:nvPr/>
        </p:nvSpPr>
        <p:spPr bwMode="gray">
          <a:xfrm>
            <a:off x="1580596" y="3088270"/>
            <a:ext cx="3645093" cy="55399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A. Bundling of solar power with existing TPPs of RVUNL</a:t>
            </a:r>
          </a:p>
        </p:txBody>
      </p:sp>
      <p:sp>
        <p:nvSpPr>
          <p:cNvPr id="67" name="Rectangle: Rounded Corners 66">
            <a:extLst>
              <a:ext uri="{FF2B5EF4-FFF2-40B4-BE49-F238E27FC236}">
                <a16:creationId xmlns:a16="http://schemas.microsoft.com/office/drawing/2014/main" id="{9CB48135-11BA-4BC6-A56B-F698EC0AFCBA}"/>
              </a:ext>
            </a:extLst>
          </p:cNvPr>
          <p:cNvSpPr/>
          <p:nvPr/>
        </p:nvSpPr>
        <p:spPr bwMode="gray">
          <a:xfrm>
            <a:off x="7234162" y="3061477"/>
            <a:ext cx="3645093" cy="553998"/>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B. Bundling of solar power with upcoming TPPs of RVUNL</a:t>
            </a:r>
          </a:p>
        </p:txBody>
      </p:sp>
      <p:sp>
        <p:nvSpPr>
          <p:cNvPr id="2" name="TextBox 1">
            <a:extLst>
              <a:ext uri="{FF2B5EF4-FFF2-40B4-BE49-F238E27FC236}">
                <a16:creationId xmlns:a16="http://schemas.microsoft.com/office/drawing/2014/main" id="{7A48B4AE-6A6E-42BA-9353-2A7068FCA95D}"/>
              </a:ext>
            </a:extLst>
          </p:cNvPr>
          <p:cNvSpPr txBox="1"/>
          <p:nvPr/>
        </p:nvSpPr>
        <p:spPr>
          <a:xfrm>
            <a:off x="1519205" y="3706002"/>
            <a:ext cx="3474245" cy="938719"/>
          </a:xfrm>
          <a:prstGeom prst="rect">
            <a:avLst/>
          </a:prstGeom>
          <a:noFill/>
        </p:spPr>
        <p:txBody>
          <a:bodyPr wrap="square" lIns="0" tIns="0" rIns="0" bIns="0" rtlCol="0">
            <a:spAutoFit/>
          </a:bodyPr>
          <a:lstStyle/>
          <a:p>
            <a:pPr marL="285750" indent="-285750">
              <a:spcBef>
                <a:spcPts val="600"/>
              </a:spcBef>
              <a:buSzPct val="100000"/>
              <a:buFont typeface="Arial" panose="020B0604020202020204" pitchFamily="34" charset="0"/>
              <a:buChar char="•"/>
            </a:pPr>
            <a:r>
              <a:rPr lang="en-US" sz="1400" i="1" dirty="0">
                <a:solidFill>
                  <a:srgbClr val="313131"/>
                </a:solidFill>
              </a:rPr>
              <a:t>RVUNL has floated TBCB tender for 810 MW solar park project</a:t>
            </a:r>
          </a:p>
          <a:p>
            <a:pPr marL="285750" indent="-285750">
              <a:spcBef>
                <a:spcPts val="600"/>
              </a:spcBef>
              <a:buSzPct val="100000"/>
              <a:buFont typeface="Arial" panose="020B0604020202020204" pitchFamily="34" charset="0"/>
              <a:buChar char="•"/>
            </a:pPr>
            <a:r>
              <a:rPr lang="en-US" sz="1400" i="1" dirty="0">
                <a:solidFill>
                  <a:srgbClr val="313131"/>
                </a:solidFill>
              </a:rPr>
              <a:t>Power procured would be bundled with existing TPPs of RVUNL</a:t>
            </a:r>
          </a:p>
        </p:txBody>
      </p:sp>
      <p:sp>
        <p:nvSpPr>
          <p:cNvPr id="68" name="TextBox 67">
            <a:extLst>
              <a:ext uri="{FF2B5EF4-FFF2-40B4-BE49-F238E27FC236}">
                <a16:creationId xmlns:a16="http://schemas.microsoft.com/office/drawing/2014/main" id="{8508269D-E00C-484A-9AEE-BF58BD4B3782}"/>
              </a:ext>
            </a:extLst>
          </p:cNvPr>
          <p:cNvSpPr txBox="1"/>
          <p:nvPr/>
        </p:nvSpPr>
        <p:spPr>
          <a:xfrm>
            <a:off x="7227343" y="3706002"/>
            <a:ext cx="3919627" cy="861774"/>
          </a:xfrm>
          <a:prstGeom prst="rect">
            <a:avLst/>
          </a:prstGeom>
          <a:noFill/>
        </p:spPr>
        <p:txBody>
          <a:bodyPr wrap="square" lIns="0" tIns="0" rIns="0" bIns="0" rtlCol="0">
            <a:spAutoFit/>
          </a:bodyPr>
          <a:lstStyle/>
          <a:p>
            <a:pPr marL="285750" indent="-285750">
              <a:buSzPct val="100000"/>
              <a:buFont typeface="Arial" panose="020B0604020202020204" pitchFamily="34" charset="0"/>
              <a:buChar char="•"/>
            </a:pPr>
            <a:r>
              <a:rPr lang="en-US" sz="1400" i="1" dirty="0">
                <a:solidFill>
                  <a:srgbClr val="313131"/>
                </a:solidFill>
              </a:rPr>
              <a:t>RVUNL has informed that it has around ~2,310 MW of untied/ unexecuted thermal PPA.</a:t>
            </a:r>
          </a:p>
          <a:p>
            <a:pPr marL="285750" indent="-285750">
              <a:buSzPct val="100000"/>
              <a:buFont typeface="Arial" panose="020B0604020202020204" pitchFamily="34" charset="0"/>
              <a:buChar char="•"/>
            </a:pPr>
            <a:r>
              <a:rPr lang="en-US" sz="1400" i="1" dirty="0">
                <a:solidFill>
                  <a:srgbClr val="313131"/>
                </a:solidFill>
              </a:rPr>
              <a:t>Opportunity for bundling in future with respect to above</a:t>
            </a:r>
          </a:p>
        </p:txBody>
      </p:sp>
      <p:sp>
        <p:nvSpPr>
          <p:cNvPr id="32" name="Rectangle 31">
            <a:extLst>
              <a:ext uri="{FF2B5EF4-FFF2-40B4-BE49-F238E27FC236}">
                <a16:creationId xmlns:a16="http://schemas.microsoft.com/office/drawing/2014/main" id="{A512CE0C-BE6F-4BDF-9778-DCB4EF098BC2}"/>
              </a:ext>
            </a:extLst>
          </p:cNvPr>
          <p:cNvSpPr/>
          <p:nvPr/>
        </p:nvSpPr>
        <p:spPr bwMode="gray">
          <a:xfrm>
            <a:off x="7444050" y="6506925"/>
            <a:ext cx="4123125" cy="432910"/>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nSpc>
                <a:spcPct val="106000"/>
              </a:lnSpc>
            </a:pPr>
            <a:r>
              <a:rPr lang="en-US" sz="1200" b="1" i="1" dirty="0">
                <a:ln w="0"/>
                <a:solidFill>
                  <a:schemeClr val="tx1"/>
                </a:solidFill>
              </a:rPr>
              <a:t>Current ECR of RVUNL Coal TPPs provided in </a:t>
            </a:r>
            <a:r>
              <a:rPr lang="en-US" sz="1200" b="1" i="1" dirty="0">
                <a:ln w="0"/>
                <a:solidFill>
                  <a:schemeClr val="tx1"/>
                </a:solidFill>
                <a:hlinkClick r:id="rId2" action="ppaction://hlinksldjump"/>
              </a:rPr>
              <a:t>Annexure 1</a:t>
            </a:r>
            <a:endParaRPr lang="en-US" sz="1200" b="1" i="1" dirty="0">
              <a:ln w="0"/>
              <a:solidFill>
                <a:schemeClr val="tx1"/>
              </a:solidFill>
            </a:endParaRPr>
          </a:p>
        </p:txBody>
      </p:sp>
      <p:sp>
        <p:nvSpPr>
          <p:cNvPr id="14" name="Arrow: Left 13">
            <a:hlinkClick r:id="rId3" action="ppaction://hlinksldjump"/>
            <a:extLst>
              <a:ext uri="{FF2B5EF4-FFF2-40B4-BE49-F238E27FC236}">
                <a16:creationId xmlns:a16="http://schemas.microsoft.com/office/drawing/2014/main" id="{AA3F1C51-5D92-44B3-B279-FEAA7FAD72DD}"/>
              </a:ext>
            </a:extLst>
          </p:cNvPr>
          <p:cNvSpPr/>
          <p:nvPr/>
        </p:nvSpPr>
        <p:spPr bwMode="gray">
          <a:xfrm>
            <a:off x="501650" y="6206650"/>
            <a:ext cx="335280" cy="375920"/>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85428420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Relevant Regulatory Provisions with respect to Bundling Scheme (1/2)</a:t>
            </a:r>
            <a:endParaRPr lang="en-GB" sz="2400" b="1" dirty="0">
              <a:latin typeface="Calibri" panose="020F0502020204030204" pitchFamily="34" charset="0"/>
            </a:endParaRPr>
          </a:p>
        </p:txBody>
      </p:sp>
      <p:sp>
        <p:nvSpPr>
          <p:cNvPr id="30" name="TextBox 29">
            <a:extLst>
              <a:ext uri="{FF2B5EF4-FFF2-40B4-BE49-F238E27FC236}">
                <a16:creationId xmlns:a16="http://schemas.microsoft.com/office/drawing/2014/main" id="{886E6A65-46AF-4FE8-A69B-EEFBD3F7DD65}"/>
              </a:ext>
            </a:extLst>
          </p:cNvPr>
          <p:cNvSpPr txBox="1"/>
          <p:nvPr/>
        </p:nvSpPr>
        <p:spPr>
          <a:xfrm>
            <a:off x="501650" y="713040"/>
            <a:ext cx="11188700"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MOP’s “Revised Scheme for Flexibility in Generation and Scheduling of Thermal / Hydro Power Stations through bundling with Renewable Energy and Storage Power, 2022” vide order F. No. 09/11/2021-RCM dated 12.04.2022:</a:t>
            </a:r>
          </a:p>
        </p:txBody>
      </p:sp>
      <p:sp>
        <p:nvSpPr>
          <p:cNvPr id="7" name="Rectangle 6">
            <a:extLst>
              <a:ext uri="{FF2B5EF4-FFF2-40B4-BE49-F238E27FC236}">
                <a16:creationId xmlns:a16="http://schemas.microsoft.com/office/drawing/2014/main" id="{45924463-02E1-4FC0-99D0-D93777F5D800}"/>
              </a:ext>
            </a:extLst>
          </p:cNvPr>
          <p:cNvSpPr/>
          <p:nvPr/>
        </p:nvSpPr>
        <p:spPr bwMode="gray">
          <a:xfrm>
            <a:off x="609600" y="1681434"/>
            <a:ext cx="10972800" cy="2065375"/>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Para 2.1. “All new and existing coal/lignite/gas based thermal generating stations or hydro power stations for the purpose of the scheme are hereinafter referred to as a </a:t>
            </a:r>
            <a:r>
              <a:rPr lang="en-US" sz="1600" b="1" dirty="0"/>
              <a:t>'Generating Station</a:t>
            </a:r>
            <a:r>
              <a:rPr lang="en-US" sz="1600" dirty="0"/>
              <a:t>’.”</a:t>
            </a:r>
          </a:p>
          <a:p>
            <a:pPr>
              <a:lnSpc>
                <a:spcPct val="106000"/>
              </a:lnSpc>
              <a:spcAft>
                <a:spcPts val="600"/>
              </a:spcAft>
            </a:pPr>
            <a:r>
              <a:rPr lang="en-US" sz="1600" dirty="0"/>
              <a:t>Para 2.2. “Any Generating Company having such Generating Station(s) </a:t>
            </a:r>
            <a:r>
              <a:rPr lang="en-US" sz="1600" b="1" dirty="0"/>
              <a:t>may establish or procure renewable energy</a:t>
            </a:r>
            <a:r>
              <a:rPr lang="en-US" sz="1600" dirty="0"/>
              <a:t> </a:t>
            </a:r>
            <a:r>
              <a:rPr lang="en-US" sz="1600" b="1" dirty="0"/>
              <a:t>from</a:t>
            </a:r>
            <a:r>
              <a:rPr lang="en-US" sz="1600" dirty="0"/>
              <a:t> a Renewable Energy </a:t>
            </a:r>
            <a:r>
              <a:rPr lang="en-US" sz="1600" b="1" dirty="0"/>
              <a:t>(RE) power plant</a:t>
            </a:r>
            <a:r>
              <a:rPr lang="en-US" sz="1600" dirty="0"/>
              <a:t> </a:t>
            </a:r>
            <a:r>
              <a:rPr lang="en-US" sz="1600" b="1" dirty="0"/>
              <a:t>which is either co-located within the premises or at new locations</a:t>
            </a:r>
            <a:r>
              <a:rPr lang="en-US" sz="1600" dirty="0"/>
              <a:t>.”</a:t>
            </a:r>
          </a:p>
          <a:p>
            <a:pPr>
              <a:lnSpc>
                <a:spcPct val="106000"/>
              </a:lnSpc>
              <a:spcAft>
                <a:spcPts val="600"/>
              </a:spcAft>
            </a:pPr>
            <a:r>
              <a:rPr lang="en-US" sz="1600" dirty="0"/>
              <a:t>Para 2.3. “The </a:t>
            </a:r>
            <a:r>
              <a:rPr lang="en-US" sz="1600" b="1" dirty="0"/>
              <a:t>generating companies shall be allowed to utilize such renewable energy </a:t>
            </a:r>
            <a:r>
              <a:rPr lang="en-US" sz="1600" dirty="0"/>
              <a:t>for supplying power against their existing commitments/PPAs i.e., replacement of Thermal/ Hydro power to procurers anywhere in India. The RE in the mix shall count </a:t>
            </a:r>
            <a:r>
              <a:rPr lang="en-US" sz="1600" b="1" dirty="0"/>
              <a:t>towards the RPO compliance of the Distribution Licensee</a:t>
            </a:r>
            <a:r>
              <a:rPr lang="en-US" sz="1600" dirty="0"/>
              <a:t>.”</a:t>
            </a:r>
          </a:p>
        </p:txBody>
      </p:sp>
      <p:sp>
        <p:nvSpPr>
          <p:cNvPr id="8" name="TextBox 7">
            <a:extLst>
              <a:ext uri="{FF2B5EF4-FFF2-40B4-BE49-F238E27FC236}">
                <a16:creationId xmlns:a16="http://schemas.microsoft.com/office/drawing/2014/main" id="{277A12A7-86A3-4DDB-A1E8-68688D1C043C}"/>
              </a:ext>
            </a:extLst>
          </p:cNvPr>
          <p:cNvSpPr txBox="1"/>
          <p:nvPr/>
        </p:nvSpPr>
        <p:spPr>
          <a:xfrm>
            <a:off x="609600" y="1329706"/>
            <a:ext cx="2590800" cy="342210"/>
          </a:xfrm>
          <a:prstGeom prst="rect">
            <a:avLst/>
          </a:prstGeom>
          <a:solidFill>
            <a:schemeClr val="tx1">
              <a:lumMod val="75000"/>
              <a:lumOff val="25000"/>
            </a:schemeClr>
          </a:solidFill>
        </p:spPr>
        <p:txBody>
          <a:bodyPr wrap="square">
            <a:spAutoFit/>
          </a:bodyPr>
          <a:lstStyle/>
          <a:p>
            <a:pPr>
              <a:lnSpc>
                <a:spcPct val="106000"/>
              </a:lnSpc>
            </a:pPr>
            <a:r>
              <a:rPr lang="en-US" sz="1600" b="1" dirty="0">
                <a:solidFill>
                  <a:schemeClr val="bg1"/>
                </a:solidFill>
              </a:rPr>
              <a:t>Clause 2: Applicability</a:t>
            </a:r>
          </a:p>
        </p:txBody>
      </p:sp>
      <p:sp>
        <p:nvSpPr>
          <p:cNvPr id="9" name="Rectangle 8">
            <a:extLst>
              <a:ext uri="{FF2B5EF4-FFF2-40B4-BE49-F238E27FC236}">
                <a16:creationId xmlns:a16="http://schemas.microsoft.com/office/drawing/2014/main" id="{6415D6A9-84B0-47DA-B1A4-B50C35F37071}"/>
              </a:ext>
            </a:extLst>
          </p:cNvPr>
          <p:cNvSpPr/>
          <p:nvPr/>
        </p:nvSpPr>
        <p:spPr bwMode="gray">
          <a:xfrm>
            <a:off x="609600" y="4342858"/>
            <a:ext cx="10972800" cy="2065375"/>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Para 3.1 “In case of RE power plant co-located within the premises of a Generating Station </a:t>
            </a:r>
            <a:r>
              <a:rPr lang="en-US" sz="1600" b="1" dirty="0"/>
              <a:t>under section 62</a:t>
            </a:r>
            <a:r>
              <a:rPr lang="en-US" sz="1600" dirty="0"/>
              <a:t>, </a:t>
            </a:r>
            <a:r>
              <a:rPr lang="en-US" sz="1600" b="1" dirty="0"/>
              <a:t>the Appropriate Commission shall determine the tariff</a:t>
            </a:r>
            <a:r>
              <a:rPr lang="en-US" sz="1600" dirty="0"/>
              <a:t> of RE supplied. Provided that </a:t>
            </a:r>
            <a:r>
              <a:rPr lang="en-US" sz="1600" b="1" dirty="0"/>
              <a:t>such RE power plant shall be established through a competitive EPC tendering</a:t>
            </a:r>
            <a:r>
              <a:rPr lang="en-US" sz="1600" dirty="0"/>
              <a:t>.”</a:t>
            </a:r>
          </a:p>
          <a:p>
            <a:pPr>
              <a:lnSpc>
                <a:spcPct val="106000"/>
              </a:lnSpc>
              <a:spcAft>
                <a:spcPts val="600"/>
              </a:spcAft>
            </a:pPr>
            <a:r>
              <a:rPr lang="en-US" sz="1600" dirty="0"/>
              <a:t>Para 3.2 “</a:t>
            </a:r>
            <a:r>
              <a:rPr lang="en-US" sz="1600" b="1" dirty="0"/>
              <a:t>In all other cases except para 3.1, RE shall be procured on a competitive bid basis</a:t>
            </a:r>
            <a:r>
              <a:rPr lang="en-US" sz="1600" dirty="0"/>
              <a:t>.”</a:t>
            </a:r>
          </a:p>
          <a:p>
            <a:pPr>
              <a:lnSpc>
                <a:spcPct val="106000"/>
              </a:lnSpc>
              <a:spcAft>
                <a:spcPts val="600"/>
              </a:spcAft>
            </a:pPr>
            <a:r>
              <a:rPr lang="en-US" sz="1600" dirty="0"/>
              <a:t>Para 3.3 “A Generating Company under section 62 or its subsidiary shall also be allowed to establish an RE power plant through tariff based competitive bidding process under section 63 provided the bids are called by a Central Government approved third party”</a:t>
            </a:r>
          </a:p>
        </p:txBody>
      </p:sp>
      <p:sp>
        <p:nvSpPr>
          <p:cNvPr id="10" name="TextBox 9">
            <a:extLst>
              <a:ext uri="{FF2B5EF4-FFF2-40B4-BE49-F238E27FC236}">
                <a16:creationId xmlns:a16="http://schemas.microsoft.com/office/drawing/2014/main" id="{17AB7BB4-A3E4-4901-8003-31851E16F168}"/>
              </a:ext>
            </a:extLst>
          </p:cNvPr>
          <p:cNvSpPr txBox="1"/>
          <p:nvPr/>
        </p:nvSpPr>
        <p:spPr>
          <a:xfrm>
            <a:off x="609600" y="3991130"/>
            <a:ext cx="4386146" cy="351728"/>
          </a:xfrm>
          <a:prstGeom prst="rect">
            <a:avLst/>
          </a:prstGeom>
          <a:solidFill>
            <a:srgbClr val="009A44"/>
          </a:solidFill>
        </p:spPr>
        <p:txBody>
          <a:bodyPr wrap="square">
            <a:spAutoFit/>
          </a:bodyPr>
          <a:lstStyle/>
          <a:p>
            <a:pPr>
              <a:lnSpc>
                <a:spcPct val="106000"/>
              </a:lnSpc>
            </a:pPr>
            <a:r>
              <a:rPr lang="en-US" sz="1600" b="1" dirty="0">
                <a:solidFill>
                  <a:schemeClr val="bg1"/>
                </a:solidFill>
              </a:rPr>
              <a:t>Clause 3: Tariff Determination of RE Power Plants</a:t>
            </a:r>
          </a:p>
        </p:txBody>
      </p:sp>
    </p:spTree>
    <p:extLst>
      <p:ext uri="{BB962C8B-B14F-4D97-AF65-F5344CB8AC3E}">
        <p14:creationId xmlns:p14="http://schemas.microsoft.com/office/powerpoint/2010/main" val="14626148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Relevant Regulatory Provisions with respect to Bundling Scheme (2/2)</a:t>
            </a:r>
            <a:endParaRPr lang="en-GB" sz="2400" b="1" dirty="0">
              <a:latin typeface="Calibri" panose="020F0502020204030204" pitchFamily="34" charset="0"/>
            </a:endParaRPr>
          </a:p>
        </p:txBody>
      </p:sp>
      <p:sp>
        <p:nvSpPr>
          <p:cNvPr id="7" name="Rectangle 6">
            <a:extLst>
              <a:ext uri="{FF2B5EF4-FFF2-40B4-BE49-F238E27FC236}">
                <a16:creationId xmlns:a16="http://schemas.microsoft.com/office/drawing/2014/main" id="{45924463-02E1-4FC0-99D0-D93777F5D800}"/>
              </a:ext>
            </a:extLst>
          </p:cNvPr>
          <p:cNvSpPr/>
          <p:nvPr/>
        </p:nvSpPr>
        <p:spPr bwMode="gray">
          <a:xfrm>
            <a:off x="609600" y="1313443"/>
            <a:ext cx="10972800" cy="626869"/>
          </a:xfrm>
          <a:prstGeom prst="rect">
            <a:avLst/>
          </a:prstGeom>
          <a:solidFill>
            <a:srgbClr val="F3FAE6"/>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Para 6.7. “The RE power (with or without energy storage system) shall be supplied to the beneficiaries at a tariff which </a:t>
            </a:r>
            <a:r>
              <a:rPr lang="en-US" sz="1600" b="1" dirty="0"/>
              <a:t>shall be less than the Energy Charge Rate (ECR) of the Generating Station which was originally scheduled</a:t>
            </a:r>
            <a:r>
              <a:rPr lang="en-US" sz="1600" dirty="0"/>
              <a:t>…”</a:t>
            </a:r>
          </a:p>
        </p:txBody>
      </p:sp>
      <p:sp>
        <p:nvSpPr>
          <p:cNvPr id="8" name="TextBox 7">
            <a:extLst>
              <a:ext uri="{FF2B5EF4-FFF2-40B4-BE49-F238E27FC236}">
                <a16:creationId xmlns:a16="http://schemas.microsoft.com/office/drawing/2014/main" id="{277A12A7-86A3-4DDB-A1E8-68688D1C043C}"/>
              </a:ext>
            </a:extLst>
          </p:cNvPr>
          <p:cNvSpPr txBox="1"/>
          <p:nvPr/>
        </p:nvSpPr>
        <p:spPr>
          <a:xfrm>
            <a:off x="609599" y="961715"/>
            <a:ext cx="4664927" cy="342210"/>
          </a:xfrm>
          <a:prstGeom prst="rect">
            <a:avLst/>
          </a:prstGeom>
          <a:solidFill>
            <a:srgbClr val="86BC25"/>
          </a:solidFill>
        </p:spPr>
        <p:txBody>
          <a:bodyPr wrap="square">
            <a:spAutoFit/>
          </a:bodyPr>
          <a:lstStyle/>
          <a:p>
            <a:pPr>
              <a:lnSpc>
                <a:spcPct val="106000"/>
              </a:lnSpc>
            </a:pPr>
            <a:r>
              <a:rPr lang="en-US" sz="1600" b="1" dirty="0">
                <a:solidFill>
                  <a:schemeClr val="bg1"/>
                </a:solidFill>
              </a:rPr>
              <a:t>Clause 6:  Scheduling and Commercial Mechanism</a:t>
            </a:r>
          </a:p>
        </p:txBody>
      </p:sp>
      <p:sp>
        <p:nvSpPr>
          <p:cNvPr id="9" name="Rectangle 8">
            <a:extLst>
              <a:ext uri="{FF2B5EF4-FFF2-40B4-BE49-F238E27FC236}">
                <a16:creationId xmlns:a16="http://schemas.microsoft.com/office/drawing/2014/main" id="{6415D6A9-84B0-47DA-B1A4-B50C35F37071}"/>
              </a:ext>
            </a:extLst>
          </p:cNvPr>
          <p:cNvSpPr/>
          <p:nvPr/>
        </p:nvSpPr>
        <p:spPr bwMode="gray">
          <a:xfrm>
            <a:off x="609600" y="4858413"/>
            <a:ext cx="10972800" cy="1752956"/>
          </a:xfrm>
          <a:prstGeom prst="rect">
            <a:avLst/>
          </a:prstGeom>
          <a:solidFill>
            <a:srgbClr val="DDEFE8"/>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“3. In fulfillment of the requirements of aforementioned clause, the </a:t>
            </a:r>
            <a:r>
              <a:rPr lang="en-US" sz="1600" b="1" dirty="0"/>
              <a:t>following companies/agencies shall be the third party Bid Process Coordinators for the said scheme: -</a:t>
            </a:r>
          </a:p>
          <a:p>
            <a:pPr marL="342900" indent="-342900">
              <a:lnSpc>
                <a:spcPct val="106000"/>
              </a:lnSpc>
              <a:spcAft>
                <a:spcPts val="600"/>
              </a:spcAft>
              <a:buFont typeface="+mj-lt"/>
              <a:buAutoNum type="alphaLcPeriod"/>
            </a:pPr>
            <a:r>
              <a:rPr lang="en-US" sz="1600" dirty="0"/>
              <a:t>NTPC Vidyut </a:t>
            </a:r>
            <a:r>
              <a:rPr lang="en-US" sz="1600" dirty="0" err="1"/>
              <a:t>Vyapar</a:t>
            </a:r>
            <a:r>
              <a:rPr lang="en-US" sz="1600" dirty="0"/>
              <a:t> Nigam Ltd.</a:t>
            </a:r>
          </a:p>
          <a:p>
            <a:pPr marL="342900" indent="-342900">
              <a:lnSpc>
                <a:spcPct val="106000"/>
              </a:lnSpc>
              <a:spcAft>
                <a:spcPts val="600"/>
              </a:spcAft>
              <a:buFont typeface="+mj-lt"/>
              <a:buAutoNum type="alphaLcPeriod"/>
            </a:pPr>
            <a:r>
              <a:rPr lang="en-US" sz="1600" dirty="0"/>
              <a:t>PFC Consulting Ltd.</a:t>
            </a:r>
          </a:p>
          <a:p>
            <a:pPr marL="342900" indent="-342900">
              <a:lnSpc>
                <a:spcPct val="106000"/>
              </a:lnSpc>
              <a:spcAft>
                <a:spcPts val="600"/>
              </a:spcAft>
              <a:buFont typeface="+mj-lt"/>
              <a:buAutoNum type="alphaLcPeriod"/>
            </a:pPr>
            <a:r>
              <a:rPr lang="en-US" sz="1600" dirty="0"/>
              <a:t>REC Power Development and Consultancy Ltd.”</a:t>
            </a:r>
          </a:p>
        </p:txBody>
      </p:sp>
      <p:sp>
        <p:nvSpPr>
          <p:cNvPr id="10" name="TextBox 9">
            <a:extLst>
              <a:ext uri="{FF2B5EF4-FFF2-40B4-BE49-F238E27FC236}">
                <a16:creationId xmlns:a16="http://schemas.microsoft.com/office/drawing/2014/main" id="{17AB7BB4-A3E4-4901-8003-31851E16F168}"/>
              </a:ext>
            </a:extLst>
          </p:cNvPr>
          <p:cNvSpPr txBox="1"/>
          <p:nvPr/>
        </p:nvSpPr>
        <p:spPr>
          <a:xfrm>
            <a:off x="609600" y="4506685"/>
            <a:ext cx="996177" cy="351728"/>
          </a:xfrm>
          <a:prstGeom prst="rect">
            <a:avLst/>
          </a:prstGeom>
          <a:solidFill>
            <a:srgbClr val="004F59"/>
          </a:solidFill>
        </p:spPr>
        <p:txBody>
          <a:bodyPr wrap="square">
            <a:spAutoFit/>
          </a:bodyPr>
          <a:lstStyle/>
          <a:p>
            <a:pPr>
              <a:lnSpc>
                <a:spcPct val="106000"/>
              </a:lnSpc>
            </a:pPr>
            <a:r>
              <a:rPr lang="en-US" sz="1600" b="1" dirty="0">
                <a:solidFill>
                  <a:schemeClr val="bg1"/>
                </a:solidFill>
              </a:rPr>
              <a:t>Clause 3: </a:t>
            </a:r>
          </a:p>
        </p:txBody>
      </p:sp>
      <p:sp>
        <p:nvSpPr>
          <p:cNvPr id="11" name="TextBox 10">
            <a:extLst>
              <a:ext uri="{FF2B5EF4-FFF2-40B4-BE49-F238E27FC236}">
                <a16:creationId xmlns:a16="http://schemas.microsoft.com/office/drawing/2014/main" id="{A9D871A8-8743-4308-9336-2366F7282447}"/>
              </a:ext>
            </a:extLst>
          </p:cNvPr>
          <p:cNvSpPr txBox="1"/>
          <p:nvPr/>
        </p:nvSpPr>
        <p:spPr>
          <a:xfrm>
            <a:off x="501651" y="3615724"/>
            <a:ext cx="11188700" cy="830997"/>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MOP’s Order F. No. 09/11/2021-RCM-Part (1)  dated 17</a:t>
            </a:r>
            <a:r>
              <a:rPr lang="en-US" sz="1600" baseline="30000" dirty="0">
                <a:effectLst/>
                <a:latin typeface="Calibri" panose="020F0502020204030204" pitchFamily="34" charset="0"/>
                <a:ea typeface="Calibri" panose="020F0502020204030204" pitchFamily="34" charset="0"/>
              </a:rPr>
              <a:t>th</a:t>
            </a:r>
            <a:r>
              <a:rPr lang="en-US" sz="1600" dirty="0">
                <a:effectLst/>
                <a:latin typeface="Calibri" panose="020F0502020204030204" pitchFamily="34" charset="0"/>
                <a:ea typeface="Calibri" panose="020F0502020204030204" pitchFamily="34" charset="0"/>
              </a:rPr>
              <a:t> Jun 2022 with regards to “Nomination of third-party Bid Process Coordinator for the Revised scheme for flexibility in Generation and Scheduling of Thermal/ Hydro Power Stations through bundling with Renewable Energy and Storage Power, 2022.” :</a:t>
            </a:r>
          </a:p>
        </p:txBody>
      </p:sp>
      <p:sp>
        <p:nvSpPr>
          <p:cNvPr id="12" name="Rectangle 11">
            <a:extLst>
              <a:ext uri="{FF2B5EF4-FFF2-40B4-BE49-F238E27FC236}">
                <a16:creationId xmlns:a16="http://schemas.microsoft.com/office/drawing/2014/main" id="{4C6F8529-287D-48E3-968F-EE8CBA55A72E}"/>
              </a:ext>
            </a:extLst>
          </p:cNvPr>
          <p:cNvSpPr/>
          <p:nvPr/>
        </p:nvSpPr>
        <p:spPr bwMode="gray">
          <a:xfrm>
            <a:off x="609600" y="2532627"/>
            <a:ext cx="10972800" cy="896373"/>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Para 9.1. “Requirement of Additional Agreements to PPA/ PSA: Distribution Licensee </a:t>
            </a:r>
            <a:r>
              <a:rPr lang="en-US" sz="1600" b="1" dirty="0"/>
              <a:t>will have the flexibility to procure RE power within the existing PPA to meet their RPO</a:t>
            </a:r>
            <a:r>
              <a:rPr lang="en-US" sz="1600" dirty="0"/>
              <a:t>. There </a:t>
            </a:r>
            <a:r>
              <a:rPr lang="en-US" sz="1600" b="1" dirty="0"/>
              <a:t>shall not be any requirement of signing additional agreement </a:t>
            </a:r>
            <a:r>
              <a:rPr lang="en-US" sz="1600" dirty="0"/>
              <a:t>in cases where the </a:t>
            </a:r>
            <a:r>
              <a:rPr lang="en-US" sz="1600" b="1" dirty="0"/>
              <a:t>landed tariff of RE </a:t>
            </a:r>
            <a:r>
              <a:rPr lang="en-US" sz="1600" dirty="0"/>
              <a:t>power (with or without energy storage system) </a:t>
            </a:r>
            <a:r>
              <a:rPr lang="en-US" sz="1600" b="1" dirty="0"/>
              <a:t>is less than the ECR </a:t>
            </a:r>
            <a:r>
              <a:rPr lang="en-US" sz="1600" dirty="0"/>
              <a:t>of the Generating Station”</a:t>
            </a:r>
          </a:p>
        </p:txBody>
      </p:sp>
      <p:sp>
        <p:nvSpPr>
          <p:cNvPr id="13" name="TextBox 12">
            <a:extLst>
              <a:ext uri="{FF2B5EF4-FFF2-40B4-BE49-F238E27FC236}">
                <a16:creationId xmlns:a16="http://schemas.microsoft.com/office/drawing/2014/main" id="{EB809717-023B-4D1E-8171-3004B67CF2D1}"/>
              </a:ext>
            </a:extLst>
          </p:cNvPr>
          <p:cNvSpPr txBox="1"/>
          <p:nvPr/>
        </p:nvSpPr>
        <p:spPr>
          <a:xfrm>
            <a:off x="609599" y="2180899"/>
            <a:ext cx="4664927" cy="342210"/>
          </a:xfrm>
          <a:prstGeom prst="rect">
            <a:avLst/>
          </a:prstGeom>
          <a:solidFill>
            <a:schemeClr val="accent3"/>
          </a:solidFill>
        </p:spPr>
        <p:txBody>
          <a:bodyPr wrap="square">
            <a:spAutoFit/>
          </a:bodyPr>
          <a:lstStyle/>
          <a:p>
            <a:pPr>
              <a:lnSpc>
                <a:spcPct val="106000"/>
              </a:lnSpc>
            </a:pPr>
            <a:r>
              <a:rPr lang="en-US" sz="1600" b="1" dirty="0">
                <a:solidFill>
                  <a:schemeClr val="bg1"/>
                </a:solidFill>
              </a:rPr>
              <a:t>Clause 9:  Additional mechanisms for RE bundling</a:t>
            </a:r>
          </a:p>
        </p:txBody>
      </p:sp>
    </p:spTree>
    <p:extLst>
      <p:ext uri="{BB962C8B-B14F-4D97-AF65-F5344CB8AC3E}">
        <p14:creationId xmlns:p14="http://schemas.microsoft.com/office/powerpoint/2010/main" val="85070315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Trajectory for replacement of Thermal Energy with Renewable Energy by 2025-26 as per </a:t>
            </a:r>
            <a:r>
              <a:rPr lang="en-US" sz="2400" b="1" dirty="0" err="1">
                <a:latin typeface="Calibri" panose="020F0502020204030204" pitchFamily="34" charset="0"/>
              </a:rPr>
              <a:t>MoP</a:t>
            </a:r>
            <a:r>
              <a:rPr lang="en-US" sz="2400" b="1" dirty="0">
                <a:latin typeface="Calibri" panose="020F0502020204030204" pitchFamily="34" charset="0"/>
              </a:rPr>
              <a:t> (1/2)</a:t>
            </a:r>
            <a:endParaRPr lang="en-GB" sz="2400" b="1" dirty="0">
              <a:latin typeface="Calibri" panose="020F0502020204030204" pitchFamily="34" charset="0"/>
            </a:endParaRPr>
          </a:p>
        </p:txBody>
      </p:sp>
      <p:sp>
        <p:nvSpPr>
          <p:cNvPr id="12" name="TextBox 11">
            <a:extLst>
              <a:ext uri="{FF2B5EF4-FFF2-40B4-BE49-F238E27FC236}">
                <a16:creationId xmlns:a16="http://schemas.microsoft.com/office/drawing/2014/main" id="{1FE66089-5FC3-41E2-B1E9-5CAEBB3D644B}"/>
              </a:ext>
            </a:extLst>
          </p:cNvPr>
          <p:cNvSpPr txBox="1"/>
          <p:nvPr/>
        </p:nvSpPr>
        <p:spPr>
          <a:xfrm>
            <a:off x="367836" y="966339"/>
            <a:ext cx="11188700"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MOP’s “Trajectory for replacement of Thermal Energy with about 58,000 MU (30,000 MW) of Renewable Energy by 2025-26” vide order F. No. 09/11/2021 -RCM dated 26.05.2022:</a:t>
            </a:r>
          </a:p>
        </p:txBody>
      </p:sp>
      <p:sp>
        <p:nvSpPr>
          <p:cNvPr id="13" name="TextBox 12">
            <a:extLst>
              <a:ext uri="{FF2B5EF4-FFF2-40B4-BE49-F238E27FC236}">
                <a16:creationId xmlns:a16="http://schemas.microsoft.com/office/drawing/2014/main" id="{E3A2801E-D525-4D19-9598-FCE84D391018}"/>
              </a:ext>
            </a:extLst>
          </p:cNvPr>
          <p:cNvSpPr txBox="1"/>
          <p:nvPr/>
        </p:nvSpPr>
        <p:spPr>
          <a:xfrm>
            <a:off x="501650" y="1768080"/>
            <a:ext cx="7359960" cy="342210"/>
          </a:xfrm>
          <a:prstGeom prst="rect">
            <a:avLst/>
          </a:prstGeom>
          <a:solidFill>
            <a:schemeClr val="tx1">
              <a:lumMod val="75000"/>
              <a:lumOff val="25000"/>
            </a:schemeClr>
          </a:solidFill>
        </p:spPr>
        <p:txBody>
          <a:bodyPr wrap="square">
            <a:spAutoFit/>
          </a:bodyPr>
          <a:lstStyle/>
          <a:p>
            <a:pPr>
              <a:lnSpc>
                <a:spcPct val="106000"/>
              </a:lnSpc>
            </a:pPr>
            <a:r>
              <a:rPr lang="en-US" sz="1600" b="1" dirty="0">
                <a:solidFill>
                  <a:schemeClr val="bg1"/>
                </a:solidFill>
              </a:rPr>
              <a:t>Table: Year-wise trajectory for replacement of Thermal power with Renewable Power</a:t>
            </a:r>
          </a:p>
        </p:txBody>
      </p:sp>
      <p:graphicFrame>
        <p:nvGraphicFramePr>
          <p:cNvPr id="3" name="Table 2">
            <a:extLst>
              <a:ext uri="{FF2B5EF4-FFF2-40B4-BE49-F238E27FC236}">
                <a16:creationId xmlns:a16="http://schemas.microsoft.com/office/drawing/2014/main" id="{25D5630D-7CF3-4C42-ACB2-C512106CF653}"/>
              </a:ext>
            </a:extLst>
          </p:cNvPr>
          <p:cNvGraphicFramePr>
            <a:graphicFrameLocks noGrp="1"/>
          </p:cNvGraphicFramePr>
          <p:nvPr>
            <p:extLst>
              <p:ext uri="{D42A27DB-BD31-4B8C-83A1-F6EECF244321}">
                <p14:modId xmlns:p14="http://schemas.microsoft.com/office/powerpoint/2010/main" val="3491863567"/>
              </p:ext>
            </p:extLst>
          </p:nvPr>
        </p:nvGraphicFramePr>
        <p:xfrm>
          <a:off x="501650" y="2131889"/>
          <a:ext cx="11054885" cy="1629519"/>
        </p:xfrm>
        <a:graphic>
          <a:graphicData uri="http://schemas.openxmlformats.org/drawingml/2006/table">
            <a:tbl>
              <a:tblPr firstRow="1" firstCol="1" bandRow="1"/>
              <a:tblGrid>
                <a:gridCol w="945440">
                  <a:extLst>
                    <a:ext uri="{9D8B030D-6E8A-4147-A177-3AD203B41FA5}">
                      <a16:colId xmlns:a16="http://schemas.microsoft.com/office/drawing/2014/main" val="1379610574"/>
                    </a:ext>
                  </a:extLst>
                </a:gridCol>
                <a:gridCol w="1414783">
                  <a:extLst>
                    <a:ext uri="{9D8B030D-6E8A-4147-A177-3AD203B41FA5}">
                      <a16:colId xmlns:a16="http://schemas.microsoft.com/office/drawing/2014/main" val="3629961125"/>
                    </a:ext>
                  </a:extLst>
                </a:gridCol>
                <a:gridCol w="1342747">
                  <a:extLst>
                    <a:ext uri="{9D8B030D-6E8A-4147-A177-3AD203B41FA5}">
                      <a16:colId xmlns:a16="http://schemas.microsoft.com/office/drawing/2014/main" val="1352132249"/>
                    </a:ext>
                  </a:extLst>
                </a:gridCol>
                <a:gridCol w="626916">
                  <a:extLst>
                    <a:ext uri="{9D8B030D-6E8A-4147-A177-3AD203B41FA5}">
                      <a16:colId xmlns:a16="http://schemas.microsoft.com/office/drawing/2014/main" val="2258902092"/>
                    </a:ext>
                  </a:extLst>
                </a:gridCol>
                <a:gridCol w="774360">
                  <a:extLst>
                    <a:ext uri="{9D8B030D-6E8A-4147-A177-3AD203B41FA5}">
                      <a16:colId xmlns:a16="http://schemas.microsoft.com/office/drawing/2014/main" val="376988564"/>
                    </a:ext>
                  </a:extLst>
                </a:gridCol>
                <a:gridCol w="745095">
                  <a:extLst>
                    <a:ext uri="{9D8B030D-6E8A-4147-A177-3AD203B41FA5}">
                      <a16:colId xmlns:a16="http://schemas.microsoft.com/office/drawing/2014/main" val="1679795974"/>
                    </a:ext>
                  </a:extLst>
                </a:gridCol>
                <a:gridCol w="907171">
                  <a:extLst>
                    <a:ext uri="{9D8B030D-6E8A-4147-A177-3AD203B41FA5}">
                      <a16:colId xmlns:a16="http://schemas.microsoft.com/office/drawing/2014/main" val="3347695819"/>
                    </a:ext>
                  </a:extLst>
                </a:gridCol>
                <a:gridCol w="916176">
                  <a:extLst>
                    <a:ext uri="{9D8B030D-6E8A-4147-A177-3AD203B41FA5}">
                      <a16:colId xmlns:a16="http://schemas.microsoft.com/office/drawing/2014/main" val="3620215580"/>
                    </a:ext>
                  </a:extLst>
                </a:gridCol>
                <a:gridCol w="916176">
                  <a:extLst>
                    <a:ext uri="{9D8B030D-6E8A-4147-A177-3AD203B41FA5}">
                      <a16:colId xmlns:a16="http://schemas.microsoft.com/office/drawing/2014/main" val="3667740628"/>
                    </a:ext>
                  </a:extLst>
                </a:gridCol>
                <a:gridCol w="795745">
                  <a:extLst>
                    <a:ext uri="{9D8B030D-6E8A-4147-A177-3AD203B41FA5}">
                      <a16:colId xmlns:a16="http://schemas.microsoft.com/office/drawing/2014/main" val="3642041948"/>
                    </a:ext>
                  </a:extLst>
                </a:gridCol>
                <a:gridCol w="835138">
                  <a:extLst>
                    <a:ext uri="{9D8B030D-6E8A-4147-A177-3AD203B41FA5}">
                      <a16:colId xmlns:a16="http://schemas.microsoft.com/office/drawing/2014/main" val="3591013450"/>
                    </a:ext>
                  </a:extLst>
                </a:gridCol>
                <a:gridCol w="835138">
                  <a:extLst>
                    <a:ext uri="{9D8B030D-6E8A-4147-A177-3AD203B41FA5}">
                      <a16:colId xmlns:a16="http://schemas.microsoft.com/office/drawing/2014/main" val="2792315429"/>
                    </a:ext>
                  </a:extLst>
                </a:gridCol>
              </a:tblGrid>
              <a:tr h="173591">
                <a:tc rowSpan="2">
                  <a:txBody>
                    <a:bodyPr/>
                    <a:lstStyle/>
                    <a:p>
                      <a:pPr marL="65405" marR="0" indent="0" algn="ctr">
                        <a:lnSpc>
                          <a:spcPct val="107000"/>
                        </a:lnSpc>
                        <a:spcBef>
                          <a:spcPts val="0"/>
                        </a:spcBef>
                        <a:spcAft>
                          <a:spcPts val="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Sector</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46A38"/>
                    </a:solidFill>
                  </a:tcPr>
                </a:tc>
                <a:tc rowSpan="2">
                  <a:txBody>
                    <a:bodyPr/>
                    <a:lstStyle/>
                    <a:p>
                      <a:pPr marL="0" marR="0" indent="0" algn="ctr">
                        <a:lnSpc>
                          <a:spcPct val="108000"/>
                        </a:lnSpc>
                        <a:spcBef>
                          <a:spcPts val="0"/>
                        </a:spcBef>
                        <a:spcAft>
                          <a:spcPts val="65"/>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Thermal Energy in</a:t>
                      </a:r>
                    </a:p>
                    <a:p>
                      <a:pPr marL="0" marR="0" indent="0" algn="ctr">
                        <a:lnSpc>
                          <a:spcPct val="107000"/>
                        </a:lnSpc>
                        <a:spcBef>
                          <a:spcPts val="0"/>
                        </a:spcBef>
                        <a:spcAft>
                          <a:spcPts val="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MU to be replaced</a:t>
                      </a:r>
                    </a:p>
                  </a:txBody>
                  <a:tcPr marL="0" marR="0" marT="349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46A38"/>
                    </a:solidFill>
                  </a:tcPr>
                </a:tc>
                <a:tc rowSpan="2">
                  <a:txBody>
                    <a:bodyPr/>
                    <a:lstStyle/>
                    <a:p>
                      <a:pPr marL="16510" marR="0" indent="0" algn="ctr">
                        <a:lnSpc>
                          <a:spcPct val="107000"/>
                        </a:lnSpc>
                        <a:spcBef>
                          <a:spcPts val="0"/>
                        </a:spcBef>
                        <a:spcAft>
                          <a:spcPts val="2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Equivalent Solar MW needed</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46A38"/>
                    </a:solidFill>
                  </a:tcPr>
                </a:tc>
                <a:tc gridSpan="3">
                  <a:txBody>
                    <a:bodyPr/>
                    <a:lstStyle/>
                    <a:p>
                      <a:pPr marL="0" marR="0" indent="0" algn="ctr">
                        <a:lnSpc>
                          <a:spcPct val="107000"/>
                        </a:lnSpc>
                        <a:spcBef>
                          <a:spcPts val="0"/>
                        </a:spcBef>
                        <a:spcAft>
                          <a:spcPts val="80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2023-24</a:t>
                      </a:r>
                    </a:p>
                  </a:txBody>
                  <a:tcPr marL="0" marR="0" marT="349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5000"/>
                        <a:lumOff val="35000"/>
                      </a:schemeClr>
                    </a:solidFill>
                  </a:tcPr>
                </a:tc>
                <a:tc hMerge="1">
                  <a:txBody>
                    <a:bodyPr/>
                    <a:lstStyle/>
                    <a:p>
                      <a:endParaRPr lang="en-US" dirty="0"/>
                    </a:p>
                  </a:txBody>
                  <a:tcPr>
                    <a:lnL w="12700" cmpd="sng">
                      <a:noFill/>
                      <a:prstDash val="solid"/>
                    </a:lnL>
                  </a:tcPr>
                </a:tc>
                <a:tc hMerge="1">
                  <a:txBody>
                    <a:bodyPr/>
                    <a:lstStyle/>
                    <a:p>
                      <a:endParaRPr lang="en-US"/>
                    </a:p>
                  </a:txBody>
                  <a:tcPr/>
                </a:tc>
                <a:tc gridSpan="3">
                  <a:txBody>
                    <a:bodyPr/>
                    <a:lstStyle/>
                    <a:p>
                      <a:pPr marL="0" marR="1905" indent="0" algn="ctr">
                        <a:lnSpc>
                          <a:spcPct val="107000"/>
                        </a:lnSpc>
                        <a:spcBef>
                          <a:spcPts val="0"/>
                        </a:spcBef>
                        <a:spcAft>
                          <a:spcPts val="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2024-25</a:t>
                      </a:r>
                    </a:p>
                  </a:txBody>
                  <a:tcPr marL="0" marR="0" marT="34925"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65000"/>
                        <a:lumOff val="35000"/>
                      </a:schemeClr>
                    </a:solidFill>
                  </a:tcPr>
                </a:tc>
                <a:tc hMerge="1">
                  <a:txBody>
                    <a:bodyPr/>
                    <a:lstStyle/>
                    <a:p>
                      <a:endParaRPr lang="en-US"/>
                    </a:p>
                  </a:txBody>
                  <a:tcPr/>
                </a:tc>
                <a:tc hMerge="1">
                  <a:txBody>
                    <a:bodyPr/>
                    <a:lstStyle/>
                    <a:p>
                      <a:endParaRPr lang="en-US"/>
                    </a:p>
                  </a:txBody>
                  <a:tcPr/>
                </a:tc>
                <a:tc gridSpan="3">
                  <a:txBody>
                    <a:bodyPr/>
                    <a:lstStyle/>
                    <a:p>
                      <a:pPr marL="5080" marR="0" indent="0" algn="ctr">
                        <a:lnSpc>
                          <a:spcPct val="107000"/>
                        </a:lnSpc>
                        <a:spcBef>
                          <a:spcPts val="0"/>
                        </a:spcBef>
                        <a:spcAft>
                          <a:spcPts val="0"/>
                        </a:spcAft>
                      </a:pPr>
                      <a:r>
                        <a:rPr lang="en-US" sz="1400" b="1" dirty="0">
                          <a:solidFill>
                            <a:schemeClr val="bg1"/>
                          </a:solidFill>
                          <a:effectLst/>
                          <a:latin typeface="+mj-lt"/>
                          <a:ea typeface="Times New Roman" panose="02020603050405020304" pitchFamily="18" charset="0"/>
                          <a:cs typeface="Times New Roman" panose="02020603050405020304" pitchFamily="18" charset="0"/>
                        </a:rPr>
                        <a:t>2025-26</a:t>
                      </a:r>
                    </a:p>
                  </a:txBody>
                  <a:tcPr marL="0" marR="0" marT="349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65000"/>
                        <a:lumOff val="3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65266346"/>
                  </a:ext>
                </a:extLst>
              </a:tr>
              <a:tr h="36396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(MU)</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(MW)</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(MU)</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(MW)</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(MU)</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indent="0" algn="ctr">
                        <a:lnSpc>
                          <a:spcPct val="107000"/>
                        </a:lnSpc>
                        <a:spcBef>
                          <a:spcPts val="0"/>
                        </a:spcBef>
                        <a:spcAft>
                          <a:spcPts val="80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(MW)</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802855566"/>
                  </a:ext>
                </a:extLst>
              </a:tr>
              <a:tr h="185708">
                <a:tc>
                  <a:txBody>
                    <a:bodyPr/>
                    <a:lstStyle/>
                    <a:p>
                      <a:pPr marL="1651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Central</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635"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33,260</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97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17,258</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033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20</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0165"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6,652 </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2545"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3,452</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826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35</a:t>
                      </a:r>
                    </a:p>
                  </a:txBody>
                  <a:tcPr marL="0" marR="0" marT="349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096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11,641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826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6,040</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953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45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14,967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7,766</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3715224"/>
                  </a:ext>
                </a:extLst>
              </a:tr>
              <a:tr h="185708">
                <a:tc>
                  <a:txBody>
                    <a:bodyPr/>
                    <a:lstStyle/>
                    <a:p>
                      <a:pPr marL="1651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State</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12,386</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27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6,427</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779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20</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699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2,477</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207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1,285</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826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35</a:t>
                      </a:r>
                    </a:p>
                  </a:txBody>
                  <a:tcPr marL="0" marR="0" marT="349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255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4,335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255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2,249</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636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45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270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5,574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096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2,892</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89431"/>
                  </a:ext>
                </a:extLst>
              </a:tr>
              <a:tr h="185708">
                <a:tc>
                  <a:txBody>
                    <a:bodyPr/>
                    <a:lstStyle/>
                    <a:p>
                      <a:pPr marL="1016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Private</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54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12,224</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0795"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6,343</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779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20</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699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2,445</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207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1,269</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509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35</a:t>
                      </a:r>
                    </a:p>
                  </a:txBody>
                  <a:tcPr marL="0" marR="0" marT="34925"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937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4,278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255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2,220</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6360"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45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2705" marR="0" indent="0" algn="ctr">
                        <a:lnSpc>
                          <a:spcPct val="107000"/>
                        </a:lnSpc>
                        <a:spcBef>
                          <a:spcPts val="0"/>
                        </a:spcBef>
                        <a:spcAft>
                          <a:spcPts val="0"/>
                        </a:spcAft>
                      </a:pPr>
                      <a:r>
                        <a:rPr lang="en-US" sz="1400">
                          <a:solidFill>
                            <a:schemeClr val="tx1"/>
                          </a:solidFill>
                          <a:effectLst/>
                          <a:latin typeface="+mj-lt"/>
                          <a:ea typeface="Times New Roman" panose="02020603050405020304" pitchFamily="18" charset="0"/>
                          <a:cs typeface="Times New Roman" panose="02020603050405020304" pitchFamily="18" charset="0"/>
                        </a:rPr>
                        <a:t>5,501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0960" marR="0" indent="0" algn="ctr">
                        <a:lnSpc>
                          <a:spcPct val="107000"/>
                        </a:lnSpc>
                        <a:spcBef>
                          <a:spcPts val="0"/>
                        </a:spcBef>
                        <a:spcAft>
                          <a:spcPts val="0"/>
                        </a:spcAft>
                      </a:pPr>
                      <a:r>
                        <a:rPr lang="en-US" sz="1400" dirty="0">
                          <a:solidFill>
                            <a:schemeClr val="tx1"/>
                          </a:solidFill>
                          <a:effectLst/>
                          <a:latin typeface="+mj-lt"/>
                          <a:ea typeface="Times New Roman" panose="02020603050405020304" pitchFamily="18" charset="0"/>
                          <a:cs typeface="Times New Roman" panose="02020603050405020304" pitchFamily="18" charset="0"/>
                        </a:rPr>
                        <a:t>2,854</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3083850"/>
                  </a:ext>
                </a:extLst>
              </a:tr>
              <a:tr h="185708">
                <a:tc>
                  <a:txBody>
                    <a:bodyPr/>
                    <a:lstStyle/>
                    <a:p>
                      <a:pPr marL="10160"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Total</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270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57,869</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0795"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30,028</a:t>
                      </a:r>
                    </a:p>
                  </a:txBody>
                  <a:tcPr marL="0" marR="0" marT="34925"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lnSpc>
                          <a:spcPct val="107000"/>
                        </a:lnSpc>
                        <a:spcBef>
                          <a:spcPts val="0"/>
                        </a:spcBef>
                        <a:spcAft>
                          <a:spcPts val="80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3815"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9,129</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6830"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4,737</a:t>
                      </a:r>
                    </a:p>
                  </a:txBody>
                  <a:tcPr marL="0" marR="0" marT="349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a:lnSpc>
                          <a:spcPct val="107000"/>
                        </a:lnSpc>
                        <a:spcBef>
                          <a:spcPts val="0"/>
                        </a:spcBef>
                        <a:spcAft>
                          <a:spcPts val="80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8895"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15,976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2550"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8,290</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lnSpc>
                          <a:spcPct val="107000"/>
                        </a:lnSpc>
                        <a:spcBef>
                          <a:spcPts val="0"/>
                        </a:spcBef>
                        <a:spcAft>
                          <a:spcPts val="80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 </a:t>
                      </a:r>
                    </a:p>
                  </a:txBody>
                  <a:tcPr marL="0" marR="0" marT="349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85"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20,541 </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0480" marR="0" indent="0" algn="ctr">
                        <a:lnSpc>
                          <a:spcPct val="107000"/>
                        </a:lnSpc>
                        <a:spcBef>
                          <a:spcPts val="0"/>
                        </a:spcBef>
                        <a:spcAft>
                          <a:spcPts val="0"/>
                        </a:spcAft>
                      </a:pPr>
                      <a:r>
                        <a:rPr lang="en-US" sz="1400" b="1" dirty="0">
                          <a:solidFill>
                            <a:schemeClr val="tx1"/>
                          </a:solidFill>
                          <a:effectLst/>
                          <a:latin typeface="+mj-lt"/>
                          <a:ea typeface="Times New Roman" panose="02020603050405020304" pitchFamily="18" charset="0"/>
                          <a:cs typeface="Times New Roman" panose="02020603050405020304" pitchFamily="18" charset="0"/>
                        </a:rPr>
                        <a:t>10,658</a:t>
                      </a:r>
                    </a:p>
                  </a:txBody>
                  <a:tcPr marL="0" marR="0" marT="349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4258518"/>
                  </a:ext>
                </a:extLst>
              </a:tr>
            </a:tbl>
          </a:graphicData>
        </a:graphic>
      </p:graphicFrame>
      <p:sp>
        <p:nvSpPr>
          <p:cNvPr id="15" name="TextBox 14">
            <a:extLst>
              <a:ext uri="{FF2B5EF4-FFF2-40B4-BE49-F238E27FC236}">
                <a16:creationId xmlns:a16="http://schemas.microsoft.com/office/drawing/2014/main" id="{D6D4F59E-C811-4280-BB55-16CAE9F43D28}"/>
              </a:ext>
            </a:extLst>
          </p:cNvPr>
          <p:cNvSpPr txBox="1"/>
          <p:nvPr/>
        </p:nvSpPr>
        <p:spPr>
          <a:xfrm>
            <a:off x="501649" y="3719029"/>
            <a:ext cx="11054884" cy="307777"/>
          </a:xfrm>
          <a:prstGeom prst="rect">
            <a:avLst/>
          </a:prstGeom>
          <a:noFill/>
        </p:spPr>
        <p:txBody>
          <a:bodyPr wrap="square">
            <a:spAutoFit/>
          </a:bodyPr>
          <a:lstStyle/>
          <a:p>
            <a:r>
              <a:rPr lang="en-US" sz="1400" i="1" dirty="0"/>
              <a:t>MW equivalent Solar Capacity needed for replacing the thermal generation in MU is calculated assuming CUF Of 22%</a:t>
            </a:r>
          </a:p>
        </p:txBody>
      </p:sp>
      <p:sp>
        <p:nvSpPr>
          <p:cNvPr id="16" name="TextBox 15">
            <a:extLst>
              <a:ext uri="{FF2B5EF4-FFF2-40B4-BE49-F238E27FC236}">
                <a16:creationId xmlns:a16="http://schemas.microsoft.com/office/drawing/2014/main" id="{B1C31A5C-070A-4629-AC51-E449F38F769A}"/>
              </a:ext>
            </a:extLst>
          </p:cNvPr>
          <p:cNvSpPr txBox="1"/>
          <p:nvPr/>
        </p:nvSpPr>
        <p:spPr>
          <a:xfrm>
            <a:off x="501649" y="4490429"/>
            <a:ext cx="11054883" cy="1569660"/>
          </a:xfrm>
          <a:prstGeom prst="rect">
            <a:avLst/>
          </a:prstGeom>
          <a:solidFill>
            <a:schemeClr val="accent1">
              <a:lumMod val="20000"/>
              <a:lumOff val="80000"/>
            </a:schemeClr>
          </a:solidFill>
        </p:spPr>
        <p:txBody>
          <a:bodyPr wrap="square">
            <a:spAutoFit/>
          </a:bodyPr>
          <a:lstStyle/>
          <a:p>
            <a:r>
              <a:rPr lang="en-US" sz="1600" dirty="0">
                <a:solidFill>
                  <a:srgbClr val="000000"/>
                </a:solidFill>
                <a:latin typeface="+mj-lt"/>
                <a:ea typeface="Times New Roman" panose="02020603050405020304" pitchFamily="18" charset="0"/>
              </a:rPr>
              <a:t>Para 4: “…</a:t>
            </a:r>
            <a:r>
              <a:rPr lang="en-US" sz="1600" dirty="0">
                <a:solidFill>
                  <a:srgbClr val="000000"/>
                </a:solidFill>
                <a:effectLst/>
                <a:latin typeface="+mj-lt"/>
                <a:ea typeface="Times New Roman" panose="02020603050405020304" pitchFamily="18" charset="0"/>
              </a:rPr>
              <a:t>all CPSUs, State and Private Generation Utilities are requested to take </a:t>
            </a:r>
            <a:r>
              <a:rPr lang="en-US" sz="1600" b="1" dirty="0">
                <a:solidFill>
                  <a:srgbClr val="000000"/>
                </a:solidFill>
                <a:effectLst/>
                <a:latin typeface="+mj-lt"/>
                <a:ea typeface="Times New Roman" panose="02020603050405020304" pitchFamily="18" charset="0"/>
              </a:rPr>
              <a:t>appropriate action to meet the target as per the year-wise trajectory</a:t>
            </a:r>
            <a:r>
              <a:rPr lang="en-US" sz="1600" dirty="0">
                <a:solidFill>
                  <a:srgbClr val="000000"/>
                </a:solidFill>
                <a:effectLst/>
                <a:latin typeface="+mj-lt"/>
                <a:ea typeface="Times New Roman" panose="02020603050405020304" pitchFamily="18" charset="0"/>
              </a:rPr>
              <a:t> given above i.e. </a:t>
            </a:r>
            <a:r>
              <a:rPr lang="en-US" sz="1600" b="1" dirty="0">
                <a:solidFill>
                  <a:srgbClr val="000000"/>
                </a:solidFill>
                <a:effectLst/>
                <a:latin typeface="+mj-lt"/>
                <a:ea typeface="Times New Roman" panose="02020603050405020304" pitchFamily="18" charset="0"/>
              </a:rPr>
              <a:t>20% in 2023-24, 35% in 2024-25 and 45% in 2025-26 </a:t>
            </a:r>
            <a:r>
              <a:rPr lang="en-US" sz="1600" dirty="0">
                <a:solidFill>
                  <a:srgbClr val="000000"/>
                </a:solidFill>
                <a:effectLst/>
                <a:latin typeface="+mj-lt"/>
                <a:ea typeface="Times New Roman" panose="02020603050405020304" pitchFamily="18" charset="0"/>
              </a:rPr>
              <a:t>of the total target.”</a:t>
            </a:r>
          </a:p>
          <a:p>
            <a:endParaRPr lang="en-US" sz="1600" dirty="0">
              <a:solidFill>
                <a:srgbClr val="000000"/>
              </a:solidFill>
              <a:latin typeface="+mj-lt"/>
            </a:endParaRPr>
          </a:p>
          <a:p>
            <a:r>
              <a:rPr lang="en-US" sz="1600" dirty="0">
                <a:solidFill>
                  <a:srgbClr val="000000"/>
                </a:solidFill>
                <a:latin typeface="+mj-lt"/>
              </a:rPr>
              <a:t>Para 6: “Even though the station-wise targets have been worked out, </a:t>
            </a:r>
            <a:r>
              <a:rPr lang="en-US" sz="1600" b="1" dirty="0">
                <a:solidFill>
                  <a:srgbClr val="000000"/>
                </a:solidFill>
                <a:latin typeface="+mj-lt"/>
              </a:rPr>
              <a:t>a thermal generating station can substitute larger amounts of thermal power with RE power over and above the targets fixed here-in</a:t>
            </a:r>
            <a:r>
              <a:rPr lang="en-US" sz="1600" dirty="0">
                <a:solidFill>
                  <a:srgbClr val="000000"/>
                </a:solidFill>
                <a:latin typeface="+mj-lt"/>
              </a:rPr>
              <a:t>. The targets fixed for the thermal generating stations are the lowest minimum that can be achieved, however, any higher capacity can be installed/ procured by them….”</a:t>
            </a:r>
            <a:endParaRPr lang="en-US" sz="1600" dirty="0">
              <a:latin typeface="+mj-lt"/>
            </a:endParaRPr>
          </a:p>
        </p:txBody>
      </p:sp>
      <p:sp>
        <p:nvSpPr>
          <p:cNvPr id="17" name="TextBox 16">
            <a:extLst>
              <a:ext uri="{FF2B5EF4-FFF2-40B4-BE49-F238E27FC236}">
                <a16:creationId xmlns:a16="http://schemas.microsoft.com/office/drawing/2014/main" id="{34F8DCBC-E96C-4BC3-BEA7-A8400B1DF583}"/>
              </a:ext>
            </a:extLst>
          </p:cNvPr>
          <p:cNvSpPr txBox="1"/>
          <p:nvPr/>
        </p:nvSpPr>
        <p:spPr>
          <a:xfrm>
            <a:off x="501649" y="4155428"/>
            <a:ext cx="3111346" cy="342210"/>
          </a:xfrm>
          <a:prstGeom prst="rect">
            <a:avLst/>
          </a:prstGeom>
          <a:solidFill>
            <a:schemeClr val="tx1">
              <a:lumMod val="65000"/>
              <a:lumOff val="35000"/>
            </a:schemeClr>
          </a:solidFill>
        </p:spPr>
        <p:txBody>
          <a:bodyPr wrap="square">
            <a:spAutoFit/>
          </a:bodyPr>
          <a:lstStyle/>
          <a:p>
            <a:pPr>
              <a:lnSpc>
                <a:spcPct val="106000"/>
              </a:lnSpc>
            </a:pPr>
            <a:r>
              <a:rPr lang="en-US" sz="1600" b="1" dirty="0">
                <a:solidFill>
                  <a:schemeClr val="bg1"/>
                </a:solidFill>
              </a:rPr>
              <a:t>Relevant regulatory provisions:</a:t>
            </a:r>
          </a:p>
        </p:txBody>
      </p:sp>
    </p:spTree>
    <p:extLst>
      <p:ext uri="{BB962C8B-B14F-4D97-AF65-F5344CB8AC3E}">
        <p14:creationId xmlns:p14="http://schemas.microsoft.com/office/powerpoint/2010/main" val="219176628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effectLst/>
                <a:latin typeface="Calibri" panose="020F0502020204030204" pitchFamily="34" charset="0"/>
                <a:ea typeface="Calibri" panose="020F0502020204030204" pitchFamily="34" charset="0"/>
              </a:rPr>
              <a:t>Sale to RVUNL </a:t>
            </a:r>
            <a:r>
              <a:rPr lang="en-US" sz="2400" b="1" dirty="0"/>
              <a:t>under </a:t>
            </a:r>
            <a:r>
              <a:rPr lang="en-US" sz="2400" b="1" dirty="0" err="1"/>
              <a:t>MoP’s</a:t>
            </a:r>
            <a:r>
              <a:rPr lang="en-US" sz="2400" b="1" dirty="0"/>
              <a:t> bundling mechanism – Challenges and Key Considerations for CIL</a:t>
            </a:r>
            <a:endParaRPr lang="en-GB" sz="2400" b="1" dirty="0"/>
          </a:p>
        </p:txBody>
      </p:sp>
      <p:sp>
        <p:nvSpPr>
          <p:cNvPr id="27" name="Rectangle 26">
            <a:extLst>
              <a:ext uri="{FF2B5EF4-FFF2-40B4-BE49-F238E27FC236}">
                <a16:creationId xmlns:a16="http://schemas.microsoft.com/office/drawing/2014/main" id="{9DCE1236-1DA3-4B00-A660-CFB043570232}"/>
              </a:ext>
            </a:extLst>
          </p:cNvPr>
          <p:cNvSpPr/>
          <p:nvPr/>
        </p:nvSpPr>
        <p:spPr bwMode="gray">
          <a:xfrm>
            <a:off x="2420930" y="1453517"/>
            <a:ext cx="9146245" cy="1318806"/>
          </a:xfrm>
          <a:prstGeom prst="rect">
            <a:avLst/>
          </a:prstGeom>
          <a:solidFill>
            <a:schemeClr val="bg1">
              <a:lumMod val="95000"/>
            </a:schemeClr>
          </a:solidFill>
          <a:ln w="19050" algn="ctr">
            <a:noFill/>
            <a:miter lim="800000"/>
            <a:headEnd/>
            <a:tailEnd/>
          </a:ln>
        </p:spPr>
        <p:txBody>
          <a:bodyPr wrap="square" lIns="40500" tIns="40500" rIns="27000" bIns="27000" rtlCol="0" anchor="ctr"/>
          <a:lstStyle/>
          <a:p>
            <a:pPr marL="174625" indent="-147638" algn="just">
              <a:lnSpc>
                <a:spcPct val="114000"/>
              </a:lnSpc>
              <a:spcAft>
                <a:spcPts val="600"/>
              </a:spcAft>
              <a:buFont typeface="Arial" panose="020B0604020202020204" pitchFamily="34" charset="0"/>
              <a:buChar char="•"/>
            </a:pPr>
            <a:r>
              <a:rPr lang="en-US" sz="1400" dirty="0">
                <a:solidFill>
                  <a:prstClr val="black"/>
                </a:solidFill>
              </a:rPr>
              <a:t>In case RE power plant is co-located with the TPP, then the RE project is to be developed through EPC tendering and the power tariff shall be determined by respective SERC</a:t>
            </a:r>
            <a:r>
              <a:rPr lang="en-US" sz="1400" b="1" dirty="0">
                <a:solidFill>
                  <a:prstClr val="black"/>
                </a:solidFill>
              </a:rPr>
              <a:t>; in case the RE project is not co-located, the RE procurement should be on competitive basis</a:t>
            </a:r>
          </a:p>
          <a:p>
            <a:pPr marL="174625" indent="-147638" algn="just">
              <a:lnSpc>
                <a:spcPct val="114000"/>
              </a:lnSpc>
              <a:spcAft>
                <a:spcPts val="600"/>
              </a:spcAft>
              <a:buFont typeface="Arial" panose="020B0604020202020204" pitchFamily="34" charset="0"/>
              <a:buChar char="•"/>
            </a:pPr>
            <a:r>
              <a:rPr lang="en-US" sz="1400" b="1" dirty="0">
                <a:solidFill>
                  <a:prstClr val="black"/>
                </a:solidFill>
              </a:rPr>
              <a:t>Considering the low PLF of the existing TPPs </a:t>
            </a:r>
            <a:r>
              <a:rPr lang="en-US" sz="1400" dirty="0">
                <a:solidFill>
                  <a:prstClr val="black"/>
                </a:solidFill>
              </a:rPr>
              <a:t>of  RVUNL with which bundling is envisaged</a:t>
            </a:r>
            <a:r>
              <a:rPr lang="en-US" sz="1400" b="1" dirty="0">
                <a:solidFill>
                  <a:prstClr val="black"/>
                </a:solidFill>
              </a:rPr>
              <a:t>,  potential opportunity for offtake of any additional solar power</a:t>
            </a:r>
            <a:r>
              <a:rPr lang="en-US" sz="1400" dirty="0">
                <a:solidFill>
                  <a:prstClr val="black"/>
                </a:solidFill>
              </a:rPr>
              <a:t> by RVUNL for bundling </a:t>
            </a:r>
            <a:r>
              <a:rPr lang="en-US" sz="1400" b="1" dirty="0">
                <a:solidFill>
                  <a:prstClr val="black"/>
                </a:solidFill>
              </a:rPr>
              <a:t>seems limited</a:t>
            </a:r>
          </a:p>
        </p:txBody>
      </p:sp>
      <p:sp>
        <p:nvSpPr>
          <p:cNvPr id="28" name="Rectangle 27">
            <a:extLst>
              <a:ext uri="{FF2B5EF4-FFF2-40B4-BE49-F238E27FC236}">
                <a16:creationId xmlns:a16="http://schemas.microsoft.com/office/drawing/2014/main" id="{CBA401FA-DD5D-4257-A26E-201F1CB8C4A2}"/>
              </a:ext>
            </a:extLst>
          </p:cNvPr>
          <p:cNvSpPr/>
          <p:nvPr/>
        </p:nvSpPr>
        <p:spPr bwMode="gray">
          <a:xfrm rot="5400000">
            <a:off x="1675981" y="2090063"/>
            <a:ext cx="1318808" cy="45719"/>
          </a:xfrm>
          <a:prstGeom prst="rect">
            <a:avLst/>
          </a:prstGeom>
          <a:solidFill>
            <a:srgbClr val="00ABAB"/>
          </a:solidFill>
          <a:ln w="19050" algn="ctr">
            <a:solidFill>
              <a:srgbClr val="00ABAB"/>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9" name="TextBox 28">
            <a:extLst>
              <a:ext uri="{FF2B5EF4-FFF2-40B4-BE49-F238E27FC236}">
                <a16:creationId xmlns:a16="http://schemas.microsoft.com/office/drawing/2014/main" id="{A36FBD77-6277-4410-B298-F6BE92EB97F5}"/>
              </a:ext>
            </a:extLst>
          </p:cNvPr>
          <p:cNvSpPr txBox="1"/>
          <p:nvPr/>
        </p:nvSpPr>
        <p:spPr>
          <a:xfrm>
            <a:off x="1002116" y="2135552"/>
            <a:ext cx="2319790" cy="246221"/>
          </a:xfrm>
          <a:prstGeom prst="rect">
            <a:avLst/>
          </a:prstGeom>
          <a:noFill/>
        </p:spPr>
        <p:txBody>
          <a:bodyPr wrap="square" lIns="0" tIns="0" rIns="0" bIns="0" rtlCol="0">
            <a:spAutoFit/>
          </a:bodyPr>
          <a:lstStyle/>
          <a:p>
            <a:pPr>
              <a:spcBef>
                <a:spcPts val="600"/>
              </a:spcBef>
              <a:buSzPct val="100000"/>
            </a:pPr>
            <a:r>
              <a:rPr lang="en-US" sz="1600" b="1" dirty="0">
                <a:solidFill>
                  <a:srgbClr val="00ABAB"/>
                </a:solidFill>
              </a:rPr>
              <a:t>Challenges</a:t>
            </a:r>
          </a:p>
        </p:txBody>
      </p:sp>
      <p:sp>
        <p:nvSpPr>
          <p:cNvPr id="36" name="Rectangle 35">
            <a:extLst>
              <a:ext uri="{FF2B5EF4-FFF2-40B4-BE49-F238E27FC236}">
                <a16:creationId xmlns:a16="http://schemas.microsoft.com/office/drawing/2014/main" id="{2851C518-FADF-401E-B510-15A488896A60}"/>
              </a:ext>
            </a:extLst>
          </p:cNvPr>
          <p:cNvSpPr/>
          <p:nvPr/>
        </p:nvSpPr>
        <p:spPr bwMode="gray">
          <a:xfrm>
            <a:off x="2420930" y="3007649"/>
            <a:ext cx="9146245" cy="1308247"/>
          </a:xfrm>
          <a:prstGeom prst="rect">
            <a:avLst/>
          </a:prstGeom>
          <a:solidFill>
            <a:schemeClr val="bg1">
              <a:lumMod val="95000"/>
            </a:schemeClr>
          </a:solidFill>
          <a:ln w="19050" algn="ctr">
            <a:noFill/>
            <a:miter lim="800000"/>
            <a:headEnd/>
            <a:tailEnd/>
          </a:ln>
        </p:spPr>
        <p:txBody>
          <a:bodyPr wrap="square" lIns="40500" tIns="40500" rIns="27000" bIns="27000" rtlCol="0" anchor="ctr"/>
          <a:lstStyle/>
          <a:p>
            <a:pPr marL="174625" indent="-147638">
              <a:lnSpc>
                <a:spcPct val="114000"/>
              </a:lnSpc>
              <a:spcAft>
                <a:spcPts val="600"/>
              </a:spcAft>
              <a:buFont typeface="Arial" panose="020B0604020202020204" pitchFamily="34" charset="0"/>
              <a:buChar char="•"/>
            </a:pPr>
            <a:r>
              <a:rPr lang="en-US" sz="1400" b="1" dirty="0">
                <a:solidFill>
                  <a:prstClr val="black"/>
                </a:solidFill>
              </a:rPr>
              <a:t>Since CIL’s proposed RE project in Rajasthan will “not” be co-located with RVUNL’s TPPs, therefore an exemption from the above provision will be necessary.</a:t>
            </a:r>
          </a:p>
          <a:p>
            <a:pPr marL="174625" indent="-147638">
              <a:lnSpc>
                <a:spcPct val="114000"/>
              </a:lnSpc>
              <a:spcAft>
                <a:spcPts val="600"/>
              </a:spcAft>
              <a:buFont typeface="Arial" panose="020B0604020202020204" pitchFamily="34" charset="0"/>
              <a:buChar char="•"/>
            </a:pPr>
            <a:r>
              <a:rPr lang="en-US" sz="1400" dirty="0">
                <a:solidFill>
                  <a:prstClr val="black"/>
                </a:solidFill>
              </a:rPr>
              <a:t>This bundling scheme would be beneficial for RVUNL if CIL’s solar tariff &lt; Energy Charge Rate (ECR) of RVUNL TPPs</a:t>
            </a:r>
          </a:p>
          <a:p>
            <a:pPr marL="174625" indent="-147638">
              <a:lnSpc>
                <a:spcPct val="114000"/>
              </a:lnSpc>
              <a:spcAft>
                <a:spcPts val="600"/>
              </a:spcAft>
              <a:buFont typeface="Arial" panose="020B0604020202020204" pitchFamily="34" charset="0"/>
              <a:buChar char="•"/>
            </a:pPr>
            <a:r>
              <a:rPr lang="en-US" sz="1400" b="1" dirty="0">
                <a:solidFill>
                  <a:prstClr val="black"/>
                </a:solidFill>
              </a:rPr>
              <a:t>Future</a:t>
            </a:r>
            <a:r>
              <a:rPr lang="en-US" sz="1400" dirty="0">
                <a:solidFill>
                  <a:prstClr val="black"/>
                </a:solidFill>
              </a:rPr>
              <a:t> </a:t>
            </a:r>
            <a:r>
              <a:rPr lang="en-US" sz="1400" b="1" dirty="0">
                <a:ln w="0"/>
                <a:solidFill>
                  <a:schemeClr val="tx1"/>
                </a:solidFill>
              </a:rPr>
              <a:t>thermal plants of RVUNL are still in planning stage </a:t>
            </a:r>
            <a:r>
              <a:rPr lang="en-US" sz="1400" dirty="0">
                <a:ln w="0"/>
                <a:solidFill>
                  <a:schemeClr val="tx1"/>
                </a:solidFill>
              </a:rPr>
              <a:t>with a likely </a:t>
            </a:r>
            <a:r>
              <a:rPr lang="en-US" sz="1400" b="1" dirty="0">
                <a:ln w="0"/>
                <a:solidFill>
                  <a:schemeClr val="tx1"/>
                </a:solidFill>
              </a:rPr>
              <a:t>gestation period of 4-5 years;</a:t>
            </a:r>
            <a:r>
              <a:rPr lang="en-US" sz="1400" dirty="0">
                <a:ln w="0"/>
                <a:solidFill>
                  <a:schemeClr val="tx1"/>
                </a:solidFill>
              </a:rPr>
              <a:t> thus, utilization of the proposed solar project through bundling mechanism may not be feasible</a:t>
            </a:r>
            <a:endParaRPr lang="en-US" sz="1400" dirty="0">
              <a:solidFill>
                <a:prstClr val="black"/>
              </a:solidFill>
            </a:endParaRPr>
          </a:p>
        </p:txBody>
      </p:sp>
      <p:sp>
        <p:nvSpPr>
          <p:cNvPr id="37" name="Rectangle 36">
            <a:extLst>
              <a:ext uri="{FF2B5EF4-FFF2-40B4-BE49-F238E27FC236}">
                <a16:creationId xmlns:a16="http://schemas.microsoft.com/office/drawing/2014/main" id="{D6C22D60-EFF5-4F45-92D6-FEA6AB4FBCC3}"/>
              </a:ext>
            </a:extLst>
          </p:cNvPr>
          <p:cNvSpPr/>
          <p:nvPr/>
        </p:nvSpPr>
        <p:spPr bwMode="gray">
          <a:xfrm rot="5400000" flipV="1">
            <a:off x="1689509" y="3644242"/>
            <a:ext cx="1289529" cy="45719"/>
          </a:xfrm>
          <a:prstGeom prst="rect">
            <a:avLst/>
          </a:prstGeom>
          <a:solidFill>
            <a:srgbClr val="66905C"/>
          </a:solidFill>
          <a:ln w="19050" algn="ctr">
            <a:solidFill>
              <a:srgbClr val="66905C"/>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38" name="TextBox 37">
            <a:extLst>
              <a:ext uri="{FF2B5EF4-FFF2-40B4-BE49-F238E27FC236}">
                <a16:creationId xmlns:a16="http://schemas.microsoft.com/office/drawing/2014/main" id="{B563972A-7C0A-4432-8796-03B6AE9984B0}"/>
              </a:ext>
            </a:extLst>
          </p:cNvPr>
          <p:cNvSpPr txBox="1"/>
          <p:nvPr/>
        </p:nvSpPr>
        <p:spPr>
          <a:xfrm>
            <a:off x="1018160" y="3391119"/>
            <a:ext cx="1360611" cy="738664"/>
          </a:xfrm>
          <a:prstGeom prst="rect">
            <a:avLst/>
          </a:prstGeom>
          <a:noFill/>
        </p:spPr>
        <p:txBody>
          <a:bodyPr wrap="square" lIns="0" tIns="0" rIns="0" bIns="0" rtlCol="0">
            <a:spAutoFit/>
          </a:bodyPr>
          <a:lstStyle/>
          <a:p>
            <a:pPr>
              <a:spcBef>
                <a:spcPts val="600"/>
              </a:spcBef>
              <a:buSzPct val="100000"/>
            </a:pPr>
            <a:r>
              <a:rPr lang="en-US" sz="1600" b="1" dirty="0">
                <a:solidFill>
                  <a:srgbClr val="66905C"/>
                </a:solidFill>
              </a:rPr>
              <a:t>Key Considerations for CIL</a:t>
            </a:r>
          </a:p>
        </p:txBody>
      </p:sp>
      <p:grpSp>
        <p:nvGrpSpPr>
          <p:cNvPr id="53" name="Group 52">
            <a:extLst>
              <a:ext uri="{FF2B5EF4-FFF2-40B4-BE49-F238E27FC236}">
                <a16:creationId xmlns:a16="http://schemas.microsoft.com/office/drawing/2014/main" id="{E93231C3-579C-4D52-8AE1-F78E84DF0986}"/>
              </a:ext>
            </a:extLst>
          </p:cNvPr>
          <p:cNvGrpSpPr/>
          <p:nvPr/>
        </p:nvGrpSpPr>
        <p:grpSpPr>
          <a:xfrm>
            <a:off x="224038" y="1951339"/>
            <a:ext cx="675511" cy="738664"/>
            <a:chOff x="4462296" y="3196855"/>
            <a:chExt cx="795503" cy="796056"/>
          </a:xfrm>
        </p:grpSpPr>
        <p:sp>
          <p:nvSpPr>
            <p:cNvPr id="54" name="Oval 103">
              <a:extLst>
                <a:ext uri="{FF2B5EF4-FFF2-40B4-BE49-F238E27FC236}">
                  <a16:creationId xmlns:a16="http://schemas.microsoft.com/office/drawing/2014/main" id="{1DC62C10-1D5C-4867-A368-18BECAF65B51}"/>
                </a:ext>
              </a:extLst>
            </p:cNvPr>
            <p:cNvSpPr>
              <a:spLocks noChangeArrowheads="1"/>
            </p:cNvSpPr>
            <p:nvPr/>
          </p:nvSpPr>
          <p:spPr bwMode="auto">
            <a:xfrm>
              <a:off x="4462296" y="3196855"/>
              <a:ext cx="795503" cy="796056"/>
            </a:xfrm>
            <a:prstGeom prst="ellipse">
              <a:avLst/>
            </a:prstGeom>
            <a:solidFill>
              <a:srgbClr val="00ABAB"/>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55" name="Freeform 195">
              <a:extLst>
                <a:ext uri="{FF2B5EF4-FFF2-40B4-BE49-F238E27FC236}">
                  <a16:creationId xmlns:a16="http://schemas.microsoft.com/office/drawing/2014/main" id="{3D4E97E8-E928-4610-A215-3745BAD79665}"/>
                </a:ext>
              </a:extLst>
            </p:cNvPr>
            <p:cNvSpPr>
              <a:spLocks noEditPoints="1"/>
            </p:cNvSpPr>
            <p:nvPr/>
          </p:nvSpPr>
          <p:spPr bwMode="auto">
            <a:xfrm>
              <a:off x="4637577" y="3347304"/>
              <a:ext cx="444940" cy="386298"/>
            </a:xfrm>
            <a:custGeom>
              <a:avLst/>
              <a:gdLst>
                <a:gd name="T0" fmla="*/ 224 w 234"/>
                <a:gd name="T1" fmla="*/ 171 h 203"/>
                <a:gd name="T2" fmla="*/ 136 w 234"/>
                <a:gd name="T3" fmla="*/ 18 h 203"/>
                <a:gd name="T4" fmla="*/ 99 w 234"/>
                <a:gd name="T5" fmla="*/ 18 h 203"/>
                <a:gd name="T6" fmla="*/ 10 w 234"/>
                <a:gd name="T7" fmla="*/ 171 h 203"/>
                <a:gd name="T8" fmla="*/ 29 w 234"/>
                <a:gd name="T9" fmla="*/ 203 h 203"/>
                <a:gd name="T10" fmla="*/ 206 w 234"/>
                <a:gd name="T11" fmla="*/ 203 h 203"/>
                <a:gd name="T12" fmla="*/ 224 w 234"/>
                <a:gd name="T13" fmla="*/ 171 h 203"/>
                <a:gd name="T14" fmla="*/ 128 w 234"/>
                <a:gd name="T15" fmla="*/ 174 h 203"/>
                <a:gd name="T16" fmla="*/ 106 w 234"/>
                <a:gd name="T17" fmla="*/ 174 h 203"/>
                <a:gd name="T18" fmla="*/ 106 w 234"/>
                <a:gd name="T19" fmla="*/ 153 h 203"/>
                <a:gd name="T20" fmla="*/ 128 w 234"/>
                <a:gd name="T21" fmla="*/ 153 h 203"/>
                <a:gd name="T22" fmla="*/ 128 w 234"/>
                <a:gd name="T23" fmla="*/ 174 h 203"/>
                <a:gd name="T24" fmla="*/ 126 w 234"/>
                <a:gd name="T25" fmla="*/ 141 h 203"/>
                <a:gd name="T26" fmla="*/ 108 w 234"/>
                <a:gd name="T27" fmla="*/ 141 h 203"/>
                <a:gd name="T28" fmla="*/ 104 w 234"/>
                <a:gd name="T29" fmla="*/ 61 h 203"/>
                <a:gd name="T30" fmla="*/ 130 w 234"/>
                <a:gd name="T31" fmla="*/ 61 h 203"/>
                <a:gd name="T32" fmla="*/ 126 w 234"/>
                <a:gd name="T33" fmla="*/ 141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4" h="203">
                  <a:moveTo>
                    <a:pt x="224" y="171"/>
                  </a:moveTo>
                  <a:cubicBezTo>
                    <a:pt x="136" y="18"/>
                    <a:pt x="136" y="18"/>
                    <a:pt x="136" y="18"/>
                  </a:cubicBezTo>
                  <a:cubicBezTo>
                    <a:pt x="126" y="0"/>
                    <a:pt x="109" y="0"/>
                    <a:pt x="99" y="18"/>
                  </a:cubicBezTo>
                  <a:cubicBezTo>
                    <a:pt x="10" y="171"/>
                    <a:pt x="10" y="171"/>
                    <a:pt x="10" y="171"/>
                  </a:cubicBezTo>
                  <a:cubicBezTo>
                    <a:pt x="0" y="189"/>
                    <a:pt x="8" y="203"/>
                    <a:pt x="29" y="203"/>
                  </a:cubicBezTo>
                  <a:cubicBezTo>
                    <a:pt x="206" y="203"/>
                    <a:pt x="206" y="203"/>
                    <a:pt x="206" y="203"/>
                  </a:cubicBezTo>
                  <a:cubicBezTo>
                    <a:pt x="226" y="203"/>
                    <a:pt x="234" y="189"/>
                    <a:pt x="224" y="171"/>
                  </a:cubicBezTo>
                  <a:close/>
                  <a:moveTo>
                    <a:pt x="128" y="174"/>
                  </a:moveTo>
                  <a:cubicBezTo>
                    <a:pt x="106" y="174"/>
                    <a:pt x="106" y="174"/>
                    <a:pt x="106" y="174"/>
                  </a:cubicBezTo>
                  <a:cubicBezTo>
                    <a:pt x="106" y="153"/>
                    <a:pt x="106" y="153"/>
                    <a:pt x="106" y="153"/>
                  </a:cubicBezTo>
                  <a:cubicBezTo>
                    <a:pt x="128" y="153"/>
                    <a:pt x="128" y="153"/>
                    <a:pt x="128" y="153"/>
                  </a:cubicBezTo>
                  <a:lnTo>
                    <a:pt x="128" y="174"/>
                  </a:lnTo>
                  <a:close/>
                  <a:moveTo>
                    <a:pt x="126" y="141"/>
                  </a:moveTo>
                  <a:cubicBezTo>
                    <a:pt x="108" y="141"/>
                    <a:pt x="108" y="141"/>
                    <a:pt x="108" y="141"/>
                  </a:cubicBezTo>
                  <a:cubicBezTo>
                    <a:pt x="104" y="61"/>
                    <a:pt x="104" y="61"/>
                    <a:pt x="104" y="61"/>
                  </a:cubicBezTo>
                  <a:cubicBezTo>
                    <a:pt x="130" y="61"/>
                    <a:pt x="130" y="61"/>
                    <a:pt x="130" y="61"/>
                  </a:cubicBezTo>
                  <a:lnTo>
                    <a:pt x="126" y="141"/>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nvGrpSpPr>
          <p:cNvPr id="56" name="Group 55">
            <a:extLst>
              <a:ext uri="{FF2B5EF4-FFF2-40B4-BE49-F238E27FC236}">
                <a16:creationId xmlns:a16="http://schemas.microsoft.com/office/drawing/2014/main" id="{F08142F1-3EFA-48AE-88F1-9FFF20AA6332}"/>
              </a:ext>
            </a:extLst>
          </p:cNvPr>
          <p:cNvGrpSpPr/>
          <p:nvPr/>
        </p:nvGrpSpPr>
        <p:grpSpPr>
          <a:xfrm>
            <a:off x="224038" y="3336070"/>
            <a:ext cx="675511" cy="738664"/>
            <a:chOff x="4462296" y="4296312"/>
            <a:chExt cx="795503" cy="796056"/>
          </a:xfrm>
        </p:grpSpPr>
        <p:sp>
          <p:nvSpPr>
            <p:cNvPr id="57" name="Oval 103">
              <a:extLst>
                <a:ext uri="{FF2B5EF4-FFF2-40B4-BE49-F238E27FC236}">
                  <a16:creationId xmlns:a16="http://schemas.microsoft.com/office/drawing/2014/main" id="{9D03A134-0799-4AD5-AAEE-4469B5FAE99D}"/>
                </a:ext>
              </a:extLst>
            </p:cNvPr>
            <p:cNvSpPr>
              <a:spLocks noChangeArrowheads="1"/>
            </p:cNvSpPr>
            <p:nvPr/>
          </p:nvSpPr>
          <p:spPr bwMode="auto">
            <a:xfrm>
              <a:off x="4462296" y="4296312"/>
              <a:ext cx="795503" cy="796056"/>
            </a:xfrm>
            <a:prstGeom prst="ellipse">
              <a:avLst/>
            </a:prstGeom>
            <a:solidFill>
              <a:srgbClr val="66905C"/>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nvGrpSpPr>
            <p:cNvPr id="58" name="Group 57">
              <a:extLst>
                <a:ext uri="{FF2B5EF4-FFF2-40B4-BE49-F238E27FC236}">
                  <a16:creationId xmlns:a16="http://schemas.microsoft.com/office/drawing/2014/main" id="{11069813-67BB-4DDD-AD5C-E6247705381E}"/>
                </a:ext>
              </a:extLst>
            </p:cNvPr>
            <p:cNvGrpSpPr/>
            <p:nvPr/>
          </p:nvGrpSpPr>
          <p:grpSpPr>
            <a:xfrm>
              <a:off x="4604235" y="4401828"/>
              <a:ext cx="531859" cy="541479"/>
              <a:chOff x="7616206" y="2022308"/>
              <a:chExt cx="1843088" cy="1876425"/>
            </a:xfrm>
            <a:solidFill>
              <a:sysClr val="window" lastClr="FFFFFF"/>
            </a:solidFill>
          </p:grpSpPr>
          <p:sp>
            <p:nvSpPr>
              <p:cNvPr id="59" name="Freeform 38">
                <a:extLst>
                  <a:ext uri="{FF2B5EF4-FFF2-40B4-BE49-F238E27FC236}">
                    <a16:creationId xmlns:a16="http://schemas.microsoft.com/office/drawing/2014/main" id="{A3217BD3-833F-4459-A934-D992C4D6F6D1}"/>
                  </a:ext>
                </a:extLst>
              </p:cNvPr>
              <p:cNvSpPr>
                <a:spLocks/>
              </p:cNvSpPr>
              <p:nvPr/>
            </p:nvSpPr>
            <p:spPr bwMode="auto">
              <a:xfrm>
                <a:off x="8260731" y="2836696"/>
                <a:ext cx="417513" cy="417513"/>
              </a:xfrm>
              <a:custGeom>
                <a:avLst/>
                <a:gdLst>
                  <a:gd name="T0" fmla="*/ 25 w 37"/>
                  <a:gd name="T1" fmla="*/ 1 h 37"/>
                  <a:gd name="T2" fmla="*/ 18 w 37"/>
                  <a:gd name="T3" fmla="*/ 0 h 37"/>
                  <a:gd name="T4" fmla="*/ 0 w 37"/>
                  <a:gd name="T5" fmla="*/ 18 h 37"/>
                  <a:gd name="T6" fmla="*/ 18 w 37"/>
                  <a:gd name="T7" fmla="*/ 37 h 37"/>
                  <a:gd name="T8" fmla="*/ 37 w 37"/>
                  <a:gd name="T9" fmla="*/ 18 h 37"/>
                  <a:gd name="T10" fmla="*/ 36 w 37"/>
                  <a:gd name="T11" fmla="*/ 13 h 37"/>
                  <a:gd name="T12" fmla="*/ 28 w 37"/>
                  <a:gd name="T13" fmla="*/ 22 h 37"/>
                  <a:gd name="T14" fmla="*/ 22 w 37"/>
                  <a:gd name="T15" fmla="*/ 24 h 37"/>
                  <a:gd name="T16" fmla="*/ 17 w 37"/>
                  <a:gd name="T17" fmla="*/ 22 h 37"/>
                  <a:gd name="T18" fmla="*/ 14 w 37"/>
                  <a:gd name="T19" fmla="*/ 16 h 37"/>
                  <a:gd name="T20" fmla="*/ 16 w 37"/>
                  <a:gd name="T21" fmla="*/ 11 h 37"/>
                  <a:gd name="T22" fmla="*/ 25 w 37"/>
                  <a:gd name="T23" fmla="*/ 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37">
                    <a:moveTo>
                      <a:pt x="25" y="1"/>
                    </a:moveTo>
                    <a:cubicBezTo>
                      <a:pt x="23" y="0"/>
                      <a:pt x="21" y="0"/>
                      <a:pt x="18" y="0"/>
                    </a:cubicBezTo>
                    <a:cubicBezTo>
                      <a:pt x="8" y="0"/>
                      <a:pt x="0" y="8"/>
                      <a:pt x="0" y="18"/>
                    </a:cubicBezTo>
                    <a:cubicBezTo>
                      <a:pt x="0" y="29"/>
                      <a:pt x="8" y="37"/>
                      <a:pt x="18" y="37"/>
                    </a:cubicBezTo>
                    <a:cubicBezTo>
                      <a:pt x="29" y="37"/>
                      <a:pt x="37" y="29"/>
                      <a:pt x="37" y="18"/>
                    </a:cubicBezTo>
                    <a:cubicBezTo>
                      <a:pt x="37" y="16"/>
                      <a:pt x="37" y="15"/>
                      <a:pt x="36" y="13"/>
                    </a:cubicBezTo>
                    <a:cubicBezTo>
                      <a:pt x="28" y="22"/>
                      <a:pt x="28" y="22"/>
                      <a:pt x="28" y="22"/>
                    </a:cubicBezTo>
                    <a:cubicBezTo>
                      <a:pt x="26" y="24"/>
                      <a:pt x="24" y="24"/>
                      <a:pt x="22" y="24"/>
                    </a:cubicBezTo>
                    <a:cubicBezTo>
                      <a:pt x="20" y="24"/>
                      <a:pt x="18" y="24"/>
                      <a:pt x="17" y="22"/>
                    </a:cubicBezTo>
                    <a:cubicBezTo>
                      <a:pt x="15" y="20"/>
                      <a:pt x="14" y="18"/>
                      <a:pt x="14" y="16"/>
                    </a:cubicBezTo>
                    <a:cubicBezTo>
                      <a:pt x="14" y="14"/>
                      <a:pt x="15" y="12"/>
                      <a:pt x="16" y="11"/>
                    </a:cubicBezTo>
                    <a:lnTo>
                      <a:pt x="2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0" name="Freeform 39">
                <a:extLst>
                  <a:ext uri="{FF2B5EF4-FFF2-40B4-BE49-F238E27FC236}">
                    <a16:creationId xmlns:a16="http://schemas.microsoft.com/office/drawing/2014/main" id="{F2B64225-A926-4FA8-B054-3BAFC7AA1FCC}"/>
                  </a:ext>
                </a:extLst>
              </p:cNvPr>
              <p:cNvSpPr>
                <a:spLocks/>
              </p:cNvSpPr>
              <p:nvPr/>
            </p:nvSpPr>
            <p:spPr bwMode="auto">
              <a:xfrm>
                <a:off x="7921006" y="2508083"/>
                <a:ext cx="1096963" cy="1096963"/>
              </a:xfrm>
              <a:custGeom>
                <a:avLst/>
                <a:gdLst>
                  <a:gd name="T0" fmla="*/ 82 w 97"/>
                  <a:gd name="T1" fmla="*/ 48 h 97"/>
                  <a:gd name="T2" fmla="*/ 48 w 97"/>
                  <a:gd name="T3" fmla="*/ 82 h 97"/>
                  <a:gd name="T4" fmla="*/ 15 w 97"/>
                  <a:gd name="T5" fmla="*/ 48 h 97"/>
                  <a:gd name="T6" fmla="*/ 48 w 97"/>
                  <a:gd name="T7" fmla="*/ 15 h 97"/>
                  <a:gd name="T8" fmla="*/ 65 w 97"/>
                  <a:gd name="T9" fmla="*/ 19 h 97"/>
                  <a:gd name="T10" fmla="*/ 76 w 97"/>
                  <a:gd name="T11" fmla="*/ 8 h 97"/>
                  <a:gd name="T12" fmla="*/ 48 w 97"/>
                  <a:gd name="T13" fmla="*/ 0 h 97"/>
                  <a:gd name="T14" fmla="*/ 0 w 97"/>
                  <a:gd name="T15" fmla="*/ 48 h 97"/>
                  <a:gd name="T16" fmla="*/ 48 w 97"/>
                  <a:gd name="T17" fmla="*/ 97 h 97"/>
                  <a:gd name="T18" fmla="*/ 97 w 97"/>
                  <a:gd name="T19" fmla="*/ 48 h 97"/>
                  <a:gd name="T20" fmla="*/ 92 w 97"/>
                  <a:gd name="T21" fmla="*/ 27 h 97"/>
                  <a:gd name="T22" fmla="*/ 80 w 97"/>
                  <a:gd name="T23" fmla="*/ 36 h 97"/>
                  <a:gd name="T24" fmla="*/ 82 w 97"/>
                  <a:gd name="T25"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97">
                    <a:moveTo>
                      <a:pt x="82" y="48"/>
                    </a:moveTo>
                    <a:cubicBezTo>
                      <a:pt x="82" y="67"/>
                      <a:pt x="67" y="82"/>
                      <a:pt x="48" y="82"/>
                    </a:cubicBezTo>
                    <a:cubicBezTo>
                      <a:pt x="30" y="82"/>
                      <a:pt x="15" y="67"/>
                      <a:pt x="15" y="48"/>
                    </a:cubicBezTo>
                    <a:cubicBezTo>
                      <a:pt x="15" y="30"/>
                      <a:pt x="30" y="15"/>
                      <a:pt x="48" y="15"/>
                    </a:cubicBezTo>
                    <a:cubicBezTo>
                      <a:pt x="55" y="15"/>
                      <a:pt x="60" y="16"/>
                      <a:pt x="65" y="19"/>
                    </a:cubicBezTo>
                    <a:cubicBezTo>
                      <a:pt x="76" y="8"/>
                      <a:pt x="76" y="8"/>
                      <a:pt x="76" y="8"/>
                    </a:cubicBezTo>
                    <a:cubicBezTo>
                      <a:pt x="68" y="3"/>
                      <a:pt x="59" y="0"/>
                      <a:pt x="48" y="0"/>
                    </a:cubicBezTo>
                    <a:cubicBezTo>
                      <a:pt x="21" y="0"/>
                      <a:pt x="0" y="21"/>
                      <a:pt x="0" y="48"/>
                    </a:cubicBezTo>
                    <a:cubicBezTo>
                      <a:pt x="0" y="75"/>
                      <a:pt x="21" y="97"/>
                      <a:pt x="48" y="97"/>
                    </a:cubicBezTo>
                    <a:cubicBezTo>
                      <a:pt x="75" y="97"/>
                      <a:pt x="97" y="75"/>
                      <a:pt x="97" y="48"/>
                    </a:cubicBezTo>
                    <a:cubicBezTo>
                      <a:pt x="97" y="41"/>
                      <a:pt x="95" y="34"/>
                      <a:pt x="92" y="27"/>
                    </a:cubicBezTo>
                    <a:cubicBezTo>
                      <a:pt x="80" y="36"/>
                      <a:pt x="80" y="36"/>
                      <a:pt x="80" y="36"/>
                    </a:cubicBezTo>
                    <a:cubicBezTo>
                      <a:pt x="81" y="40"/>
                      <a:pt x="82" y="44"/>
                      <a:pt x="8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1" name="Freeform 40">
                <a:extLst>
                  <a:ext uri="{FF2B5EF4-FFF2-40B4-BE49-F238E27FC236}">
                    <a16:creationId xmlns:a16="http://schemas.microsoft.com/office/drawing/2014/main" id="{8AC8C8D6-C460-43DE-ADCA-43C475454867}"/>
                  </a:ext>
                </a:extLst>
              </p:cNvPr>
              <p:cNvSpPr>
                <a:spLocks/>
              </p:cNvSpPr>
              <p:nvPr/>
            </p:nvSpPr>
            <p:spPr bwMode="auto">
              <a:xfrm>
                <a:off x="8463931" y="2192171"/>
                <a:ext cx="836613" cy="869950"/>
              </a:xfrm>
              <a:custGeom>
                <a:avLst/>
                <a:gdLst>
                  <a:gd name="T0" fmla="*/ 73 w 74"/>
                  <a:gd name="T1" fmla="*/ 1 h 77"/>
                  <a:gd name="T2" fmla="*/ 70 w 74"/>
                  <a:gd name="T3" fmla="*/ 0 h 77"/>
                  <a:gd name="T4" fmla="*/ 67 w 74"/>
                  <a:gd name="T5" fmla="*/ 1 h 77"/>
                  <a:gd name="T6" fmla="*/ 50 w 74"/>
                  <a:gd name="T7" fmla="*/ 20 h 77"/>
                  <a:gd name="T8" fmla="*/ 40 w 74"/>
                  <a:gd name="T9" fmla="*/ 30 h 77"/>
                  <a:gd name="T10" fmla="*/ 31 w 74"/>
                  <a:gd name="T11" fmla="*/ 39 h 77"/>
                  <a:gd name="T12" fmla="*/ 21 w 74"/>
                  <a:gd name="T13" fmla="*/ 50 h 77"/>
                  <a:gd name="T14" fmla="*/ 11 w 74"/>
                  <a:gd name="T15" fmla="*/ 60 h 77"/>
                  <a:gd name="T16" fmla="*/ 1 w 74"/>
                  <a:gd name="T17" fmla="*/ 71 h 77"/>
                  <a:gd name="T18" fmla="*/ 1 w 74"/>
                  <a:gd name="T19" fmla="*/ 76 h 77"/>
                  <a:gd name="T20" fmla="*/ 4 w 74"/>
                  <a:gd name="T21" fmla="*/ 77 h 77"/>
                  <a:gd name="T22" fmla="*/ 7 w 74"/>
                  <a:gd name="T23" fmla="*/ 76 h 77"/>
                  <a:gd name="T24" fmla="*/ 16 w 74"/>
                  <a:gd name="T25" fmla="*/ 66 h 77"/>
                  <a:gd name="T26" fmla="*/ 26 w 74"/>
                  <a:gd name="T27" fmla="*/ 55 h 77"/>
                  <a:gd name="T28" fmla="*/ 37 w 74"/>
                  <a:gd name="T29" fmla="*/ 44 h 77"/>
                  <a:gd name="T30" fmla="*/ 45 w 74"/>
                  <a:gd name="T31" fmla="*/ 36 h 77"/>
                  <a:gd name="T32" fmla="*/ 55 w 74"/>
                  <a:gd name="T33" fmla="*/ 25 h 77"/>
                  <a:gd name="T34" fmla="*/ 73 w 74"/>
                  <a:gd name="T35" fmla="*/ 6 h 77"/>
                  <a:gd name="T36" fmla="*/ 73 w 74"/>
                  <a:gd name="T37"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77">
                    <a:moveTo>
                      <a:pt x="73" y="1"/>
                    </a:moveTo>
                    <a:cubicBezTo>
                      <a:pt x="72" y="1"/>
                      <a:pt x="71" y="0"/>
                      <a:pt x="70" y="0"/>
                    </a:cubicBezTo>
                    <a:cubicBezTo>
                      <a:pt x="69" y="0"/>
                      <a:pt x="68" y="0"/>
                      <a:pt x="67" y="1"/>
                    </a:cubicBezTo>
                    <a:cubicBezTo>
                      <a:pt x="50" y="20"/>
                      <a:pt x="50" y="20"/>
                      <a:pt x="50" y="20"/>
                    </a:cubicBezTo>
                    <a:cubicBezTo>
                      <a:pt x="40" y="30"/>
                      <a:pt x="40" y="30"/>
                      <a:pt x="40" y="30"/>
                    </a:cubicBezTo>
                    <a:cubicBezTo>
                      <a:pt x="31" y="39"/>
                      <a:pt x="31" y="39"/>
                      <a:pt x="31" y="39"/>
                    </a:cubicBezTo>
                    <a:cubicBezTo>
                      <a:pt x="21" y="50"/>
                      <a:pt x="21" y="50"/>
                      <a:pt x="21" y="50"/>
                    </a:cubicBezTo>
                    <a:cubicBezTo>
                      <a:pt x="11" y="60"/>
                      <a:pt x="11" y="60"/>
                      <a:pt x="11" y="60"/>
                    </a:cubicBezTo>
                    <a:cubicBezTo>
                      <a:pt x="1" y="71"/>
                      <a:pt x="1" y="71"/>
                      <a:pt x="1" y="71"/>
                    </a:cubicBezTo>
                    <a:cubicBezTo>
                      <a:pt x="0" y="72"/>
                      <a:pt x="0" y="74"/>
                      <a:pt x="1" y="76"/>
                    </a:cubicBezTo>
                    <a:cubicBezTo>
                      <a:pt x="2" y="77"/>
                      <a:pt x="3" y="77"/>
                      <a:pt x="4" y="77"/>
                    </a:cubicBezTo>
                    <a:cubicBezTo>
                      <a:pt x="5" y="77"/>
                      <a:pt x="6" y="77"/>
                      <a:pt x="7" y="76"/>
                    </a:cubicBezTo>
                    <a:cubicBezTo>
                      <a:pt x="16" y="66"/>
                      <a:pt x="16" y="66"/>
                      <a:pt x="16" y="66"/>
                    </a:cubicBezTo>
                    <a:cubicBezTo>
                      <a:pt x="26" y="55"/>
                      <a:pt x="26" y="55"/>
                      <a:pt x="26" y="55"/>
                    </a:cubicBezTo>
                    <a:cubicBezTo>
                      <a:pt x="37" y="44"/>
                      <a:pt x="37" y="44"/>
                      <a:pt x="37" y="44"/>
                    </a:cubicBezTo>
                    <a:cubicBezTo>
                      <a:pt x="45" y="36"/>
                      <a:pt x="45" y="36"/>
                      <a:pt x="45" y="36"/>
                    </a:cubicBezTo>
                    <a:cubicBezTo>
                      <a:pt x="55" y="25"/>
                      <a:pt x="55" y="25"/>
                      <a:pt x="55" y="25"/>
                    </a:cubicBezTo>
                    <a:cubicBezTo>
                      <a:pt x="73" y="6"/>
                      <a:pt x="73" y="6"/>
                      <a:pt x="73" y="6"/>
                    </a:cubicBezTo>
                    <a:cubicBezTo>
                      <a:pt x="74" y="5"/>
                      <a:pt x="74" y="3"/>
                      <a:pt x="7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2" name="Freeform 41">
                <a:extLst>
                  <a:ext uri="{FF2B5EF4-FFF2-40B4-BE49-F238E27FC236}">
                    <a16:creationId xmlns:a16="http://schemas.microsoft.com/office/drawing/2014/main" id="{4A53CA2B-04AD-4DF2-ACB5-D57BB954A895}"/>
                  </a:ext>
                </a:extLst>
              </p:cNvPr>
              <p:cNvSpPr>
                <a:spLocks/>
              </p:cNvSpPr>
              <p:nvPr/>
            </p:nvSpPr>
            <p:spPr bwMode="auto">
              <a:xfrm>
                <a:off x="8836994" y="2022308"/>
                <a:ext cx="260350" cy="542925"/>
              </a:xfrm>
              <a:custGeom>
                <a:avLst/>
                <a:gdLst>
                  <a:gd name="T0" fmla="*/ 14 w 164"/>
                  <a:gd name="T1" fmla="*/ 221 h 342"/>
                  <a:gd name="T2" fmla="*/ 143 w 164"/>
                  <a:gd name="T3" fmla="*/ 0 h 342"/>
                  <a:gd name="T4" fmla="*/ 164 w 164"/>
                  <a:gd name="T5" fmla="*/ 164 h 342"/>
                  <a:gd name="T6" fmla="*/ 0 w 164"/>
                  <a:gd name="T7" fmla="*/ 342 h 342"/>
                  <a:gd name="T8" fmla="*/ 14 w 164"/>
                  <a:gd name="T9" fmla="*/ 221 h 342"/>
                </a:gdLst>
                <a:ahLst/>
                <a:cxnLst>
                  <a:cxn ang="0">
                    <a:pos x="T0" y="T1"/>
                  </a:cxn>
                  <a:cxn ang="0">
                    <a:pos x="T2" y="T3"/>
                  </a:cxn>
                  <a:cxn ang="0">
                    <a:pos x="T4" y="T5"/>
                  </a:cxn>
                  <a:cxn ang="0">
                    <a:pos x="T6" y="T7"/>
                  </a:cxn>
                  <a:cxn ang="0">
                    <a:pos x="T8" y="T9"/>
                  </a:cxn>
                </a:cxnLst>
                <a:rect l="0" t="0" r="r" b="b"/>
                <a:pathLst>
                  <a:path w="164" h="342">
                    <a:moveTo>
                      <a:pt x="14" y="221"/>
                    </a:moveTo>
                    <a:lnTo>
                      <a:pt x="143" y="0"/>
                    </a:lnTo>
                    <a:lnTo>
                      <a:pt x="164" y="164"/>
                    </a:lnTo>
                    <a:lnTo>
                      <a:pt x="0" y="342"/>
                    </a:lnTo>
                    <a:lnTo>
                      <a:pt x="14"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3" name="Freeform 42">
                <a:extLst>
                  <a:ext uri="{FF2B5EF4-FFF2-40B4-BE49-F238E27FC236}">
                    <a16:creationId xmlns:a16="http://schemas.microsoft.com/office/drawing/2014/main" id="{A3C50592-12BC-4344-BBFE-3398683945D3}"/>
                  </a:ext>
                </a:extLst>
              </p:cNvPr>
              <p:cNvSpPr>
                <a:spLocks/>
              </p:cNvSpPr>
              <p:nvPr/>
            </p:nvSpPr>
            <p:spPr bwMode="auto">
              <a:xfrm>
                <a:off x="8848106" y="2485858"/>
                <a:ext cx="22225" cy="44450"/>
              </a:xfrm>
              <a:custGeom>
                <a:avLst/>
                <a:gdLst>
                  <a:gd name="T0" fmla="*/ 2 w 2"/>
                  <a:gd name="T1" fmla="*/ 2 h 4"/>
                  <a:gd name="T2" fmla="*/ 0 w 2"/>
                  <a:gd name="T3" fmla="*/ 0 h 4"/>
                  <a:gd name="T4" fmla="*/ 0 w 2"/>
                  <a:gd name="T5" fmla="*/ 4 h 4"/>
                  <a:gd name="T6" fmla="*/ 2 w 2"/>
                  <a:gd name="T7" fmla="*/ 2 h 4"/>
                </a:gdLst>
                <a:ahLst/>
                <a:cxnLst>
                  <a:cxn ang="0">
                    <a:pos x="T0" y="T1"/>
                  </a:cxn>
                  <a:cxn ang="0">
                    <a:pos x="T2" y="T3"/>
                  </a:cxn>
                  <a:cxn ang="0">
                    <a:pos x="T4" y="T5"/>
                  </a:cxn>
                  <a:cxn ang="0">
                    <a:pos x="T6" y="T7"/>
                  </a:cxn>
                </a:cxnLst>
                <a:rect l="0" t="0" r="r" b="b"/>
                <a:pathLst>
                  <a:path w="2" h="4">
                    <a:moveTo>
                      <a:pt x="2" y="2"/>
                    </a:moveTo>
                    <a:cubicBezTo>
                      <a:pt x="2" y="1"/>
                      <a:pt x="1" y="1"/>
                      <a:pt x="0" y="0"/>
                    </a:cubicBezTo>
                    <a:cubicBezTo>
                      <a:pt x="0" y="4"/>
                      <a:pt x="0" y="4"/>
                      <a:pt x="0" y="4"/>
                    </a:cubicBezTo>
                    <a:lnTo>
                      <a:pt x="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4" name="Freeform 43">
                <a:extLst>
                  <a:ext uri="{FF2B5EF4-FFF2-40B4-BE49-F238E27FC236}">
                    <a16:creationId xmlns:a16="http://schemas.microsoft.com/office/drawing/2014/main" id="{8ACA362B-1B10-46BA-9B28-91027B79B5C8}"/>
                  </a:ext>
                </a:extLst>
              </p:cNvPr>
              <p:cNvSpPr>
                <a:spLocks/>
              </p:cNvSpPr>
              <p:nvPr/>
            </p:nvSpPr>
            <p:spPr bwMode="auto">
              <a:xfrm>
                <a:off x="8894144" y="2066758"/>
                <a:ext cx="180975" cy="317500"/>
              </a:xfrm>
              <a:custGeom>
                <a:avLst/>
                <a:gdLst>
                  <a:gd name="T0" fmla="*/ 16 w 16"/>
                  <a:gd name="T1" fmla="*/ 18 h 28"/>
                  <a:gd name="T2" fmla="*/ 14 w 16"/>
                  <a:gd name="T3" fmla="*/ 0 h 28"/>
                  <a:gd name="T4" fmla="*/ 0 w 16"/>
                  <a:gd name="T5" fmla="*/ 22 h 28"/>
                  <a:gd name="T6" fmla="*/ 8 w 16"/>
                  <a:gd name="T7" fmla="*/ 28 h 28"/>
                  <a:gd name="T8" fmla="*/ 16 w 16"/>
                  <a:gd name="T9" fmla="*/ 18 h 28"/>
                </a:gdLst>
                <a:ahLst/>
                <a:cxnLst>
                  <a:cxn ang="0">
                    <a:pos x="T0" y="T1"/>
                  </a:cxn>
                  <a:cxn ang="0">
                    <a:pos x="T2" y="T3"/>
                  </a:cxn>
                  <a:cxn ang="0">
                    <a:pos x="T4" y="T5"/>
                  </a:cxn>
                  <a:cxn ang="0">
                    <a:pos x="T6" y="T7"/>
                  </a:cxn>
                  <a:cxn ang="0">
                    <a:pos x="T8" y="T9"/>
                  </a:cxn>
                </a:cxnLst>
                <a:rect l="0" t="0" r="r" b="b"/>
                <a:pathLst>
                  <a:path w="16" h="28">
                    <a:moveTo>
                      <a:pt x="16" y="18"/>
                    </a:moveTo>
                    <a:cubicBezTo>
                      <a:pt x="14" y="0"/>
                      <a:pt x="14" y="0"/>
                      <a:pt x="14" y="0"/>
                    </a:cubicBezTo>
                    <a:cubicBezTo>
                      <a:pt x="0" y="22"/>
                      <a:pt x="0" y="22"/>
                      <a:pt x="0" y="22"/>
                    </a:cubicBezTo>
                    <a:cubicBezTo>
                      <a:pt x="3" y="24"/>
                      <a:pt x="5" y="26"/>
                      <a:pt x="8" y="28"/>
                    </a:cubicBezTo>
                    <a:lnTo>
                      <a:pt x="1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5" name="Freeform 44">
                <a:extLst>
                  <a:ext uri="{FF2B5EF4-FFF2-40B4-BE49-F238E27FC236}">
                    <a16:creationId xmlns:a16="http://schemas.microsoft.com/office/drawing/2014/main" id="{AC66EF81-5105-41FE-8C00-7D1D077C9331}"/>
                  </a:ext>
                </a:extLst>
              </p:cNvPr>
              <p:cNvSpPr>
                <a:spLocks/>
              </p:cNvSpPr>
              <p:nvPr/>
            </p:nvSpPr>
            <p:spPr bwMode="auto">
              <a:xfrm>
                <a:off x="7616206" y="2203283"/>
                <a:ext cx="1695450" cy="1695450"/>
              </a:xfrm>
              <a:custGeom>
                <a:avLst/>
                <a:gdLst>
                  <a:gd name="T0" fmla="*/ 141 w 150"/>
                  <a:gd name="T1" fmla="*/ 39 h 150"/>
                  <a:gd name="T2" fmla="*/ 129 w 150"/>
                  <a:gd name="T3" fmla="*/ 48 h 150"/>
                  <a:gd name="T4" fmla="*/ 136 w 150"/>
                  <a:gd name="T5" fmla="*/ 75 h 150"/>
                  <a:gd name="T6" fmla="*/ 75 w 150"/>
                  <a:gd name="T7" fmla="*/ 136 h 150"/>
                  <a:gd name="T8" fmla="*/ 15 w 150"/>
                  <a:gd name="T9" fmla="*/ 75 h 150"/>
                  <a:gd name="T10" fmla="*/ 75 w 150"/>
                  <a:gd name="T11" fmla="*/ 15 h 150"/>
                  <a:gd name="T12" fmla="*/ 107 w 150"/>
                  <a:gd name="T13" fmla="*/ 24 h 150"/>
                  <a:gd name="T14" fmla="*/ 108 w 150"/>
                  <a:gd name="T15" fmla="*/ 15 h 150"/>
                  <a:gd name="T16" fmla="*/ 108 w 150"/>
                  <a:gd name="T17" fmla="*/ 14 h 150"/>
                  <a:gd name="T18" fmla="*/ 108 w 150"/>
                  <a:gd name="T19" fmla="*/ 14 h 150"/>
                  <a:gd name="T20" fmla="*/ 111 w 150"/>
                  <a:gd name="T21" fmla="*/ 9 h 150"/>
                  <a:gd name="T22" fmla="*/ 75 w 150"/>
                  <a:gd name="T23" fmla="*/ 0 h 150"/>
                  <a:gd name="T24" fmla="*/ 0 w 150"/>
                  <a:gd name="T25" fmla="*/ 75 h 150"/>
                  <a:gd name="T26" fmla="*/ 75 w 150"/>
                  <a:gd name="T27" fmla="*/ 150 h 150"/>
                  <a:gd name="T28" fmla="*/ 150 w 150"/>
                  <a:gd name="T29" fmla="*/ 75 h 150"/>
                  <a:gd name="T30" fmla="*/ 141 w 150"/>
                  <a:gd name="T31" fmla="*/ 3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150">
                    <a:moveTo>
                      <a:pt x="141" y="39"/>
                    </a:moveTo>
                    <a:cubicBezTo>
                      <a:pt x="129" y="48"/>
                      <a:pt x="129" y="48"/>
                      <a:pt x="129" y="48"/>
                    </a:cubicBezTo>
                    <a:cubicBezTo>
                      <a:pt x="133" y="56"/>
                      <a:pt x="136" y="65"/>
                      <a:pt x="136" y="75"/>
                    </a:cubicBezTo>
                    <a:cubicBezTo>
                      <a:pt x="136" y="109"/>
                      <a:pt x="109" y="136"/>
                      <a:pt x="75" y="136"/>
                    </a:cubicBezTo>
                    <a:cubicBezTo>
                      <a:pt x="42" y="136"/>
                      <a:pt x="15" y="109"/>
                      <a:pt x="15" y="75"/>
                    </a:cubicBezTo>
                    <a:cubicBezTo>
                      <a:pt x="15" y="42"/>
                      <a:pt x="42" y="15"/>
                      <a:pt x="75" y="15"/>
                    </a:cubicBezTo>
                    <a:cubicBezTo>
                      <a:pt x="87" y="15"/>
                      <a:pt x="98" y="18"/>
                      <a:pt x="107" y="24"/>
                    </a:cubicBezTo>
                    <a:cubicBezTo>
                      <a:pt x="108" y="15"/>
                      <a:pt x="108" y="15"/>
                      <a:pt x="108" y="15"/>
                    </a:cubicBezTo>
                    <a:cubicBezTo>
                      <a:pt x="108" y="14"/>
                      <a:pt x="108" y="14"/>
                      <a:pt x="108" y="14"/>
                    </a:cubicBezTo>
                    <a:cubicBezTo>
                      <a:pt x="108" y="14"/>
                      <a:pt x="108" y="14"/>
                      <a:pt x="108" y="14"/>
                    </a:cubicBezTo>
                    <a:cubicBezTo>
                      <a:pt x="111" y="9"/>
                      <a:pt x="111" y="9"/>
                      <a:pt x="111" y="9"/>
                    </a:cubicBezTo>
                    <a:cubicBezTo>
                      <a:pt x="100" y="4"/>
                      <a:pt x="88" y="0"/>
                      <a:pt x="75" y="0"/>
                    </a:cubicBezTo>
                    <a:cubicBezTo>
                      <a:pt x="34" y="0"/>
                      <a:pt x="0" y="34"/>
                      <a:pt x="0" y="75"/>
                    </a:cubicBezTo>
                    <a:cubicBezTo>
                      <a:pt x="0" y="117"/>
                      <a:pt x="34" y="150"/>
                      <a:pt x="75" y="150"/>
                    </a:cubicBezTo>
                    <a:cubicBezTo>
                      <a:pt x="117" y="150"/>
                      <a:pt x="150" y="117"/>
                      <a:pt x="150" y="75"/>
                    </a:cubicBezTo>
                    <a:cubicBezTo>
                      <a:pt x="150" y="62"/>
                      <a:pt x="147" y="50"/>
                      <a:pt x="141"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66" name="Freeform 45">
                <a:extLst>
                  <a:ext uri="{FF2B5EF4-FFF2-40B4-BE49-F238E27FC236}">
                    <a16:creationId xmlns:a16="http://schemas.microsoft.com/office/drawing/2014/main" id="{397EA16B-1E0C-480B-95F5-5D220D695176}"/>
                  </a:ext>
                </a:extLst>
              </p:cNvPr>
              <p:cNvSpPr>
                <a:spLocks/>
              </p:cNvSpPr>
              <p:nvPr/>
            </p:nvSpPr>
            <p:spPr bwMode="auto">
              <a:xfrm>
                <a:off x="8927481" y="2417596"/>
                <a:ext cx="531813" cy="293688"/>
              </a:xfrm>
              <a:custGeom>
                <a:avLst/>
                <a:gdLst>
                  <a:gd name="T0" fmla="*/ 171 w 335"/>
                  <a:gd name="T1" fmla="*/ 0 h 185"/>
                  <a:gd name="T2" fmla="*/ 335 w 335"/>
                  <a:gd name="T3" fmla="*/ 29 h 185"/>
                  <a:gd name="T4" fmla="*/ 93 w 335"/>
                  <a:gd name="T5" fmla="*/ 185 h 185"/>
                  <a:gd name="T6" fmla="*/ 0 w 335"/>
                  <a:gd name="T7" fmla="*/ 171 h 185"/>
                  <a:gd name="T8" fmla="*/ 171 w 335"/>
                  <a:gd name="T9" fmla="*/ 0 h 185"/>
                </a:gdLst>
                <a:ahLst/>
                <a:cxnLst>
                  <a:cxn ang="0">
                    <a:pos x="T0" y="T1"/>
                  </a:cxn>
                  <a:cxn ang="0">
                    <a:pos x="T2" y="T3"/>
                  </a:cxn>
                  <a:cxn ang="0">
                    <a:pos x="T4" y="T5"/>
                  </a:cxn>
                  <a:cxn ang="0">
                    <a:pos x="T6" y="T7"/>
                  </a:cxn>
                  <a:cxn ang="0">
                    <a:pos x="T8" y="T9"/>
                  </a:cxn>
                </a:cxnLst>
                <a:rect l="0" t="0" r="r" b="b"/>
                <a:pathLst>
                  <a:path w="335" h="185">
                    <a:moveTo>
                      <a:pt x="171" y="0"/>
                    </a:moveTo>
                    <a:lnTo>
                      <a:pt x="335" y="29"/>
                    </a:lnTo>
                    <a:lnTo>
                      <a:pt x="93" y="185"/>
                    </a:lnTo>
                    <a:lnTo>
                      <a:pt x="0" y="171"/>
                    </a:lnTo>
                    <a:lnTo>
                      <a:pt x="17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grpSp>
      <p:sp>
        <p:nvSpPr>
          <p:cNvPr id="32" name="Rectangle 31">
            <a:extLst>
              <a:ext uri="{FF2B5EF4-FFF2-40B4-BE49-F238E27FC236}">
                <a16:creationId xmlns:a16="http://schemas.microsoft.com/office/drawing/2014/main" id="{A512CE0C-BE6F-4BDF-9778-DCB4EF098BC2}"/>
              </a:ext>
            </a:extLst>
          </p:cNvPr>
          <p:cNvSpPr/>
          <p:nvPr/>
        </p:nvSpPr>
        <p:spPr bwMode="gray">
          <a:xfrm>
            <a:off x="7444050" y="6506925"/>
            <a:ext cx="4123125" cy="432910"/>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nSpc>
                <a:spcPct val="106000"/>
              </a:lnSpc>
            </a:pPr>
            <a:r>
              <a:rPr lang="en-US" sz="1200" b="1" i="1" dirty="0">
                <a:ln w="0"/>
                <a:solidFill>
                  <a:schemeClr val="tx1"/>
                </a:solidFill>
              </a:rPr>
              <a:t>Current ECR of RVUNL Coal TPPs provided in </a:t>
            </a:r>
            <a:r>
              <a:rPr lang="en-US" sz="1200" b="1" i="1" dirty="0">
                <a:ln w="0"/>
                <a:solidFill>
                  <a:schemeClr val="tx1"/>
                </a:solidFill>
                <a:hlinkClick r:id="rId2" action="ppaction://hlinksldjump"/>
              </a:rPr>
              <a:t>Annexure 1</a:t>
            </a:r>
            <a:endParaRPr lang="en-US" sz="1200" b="1" i="1" dirty="0">
              <a:ln w="0"/>
              <a:solidFill>
                <a:schemeClr val="tx1"/>
              </a:solidFill>
            </a:endParaRPr>
          </a:p>
        </p:txBody>
      </p:sp>
      <p:sp>
        <p:nvSpPr>
          <p:cNvPr id="24" name="Rectangle 23">
            <a:extLst>
              <a:ext uri="{FF2B5EF4-FFF2-40B4-BE49-F238E27FC236}">
                <a16:creationId xmlns:a16="http://schemas.microsoft.com/office/drawing/2014/main" id="{736A6722-F05A-4E9A-B1E2-2895ED11407A}"/>
              </a:ext>
            </a:extLst>
          </p:cNvPr>
          <p:cNvSpPr/>
          <p:nvPr/>
        </p:nvSpPr>
        <p:spPr bwMode="gray">
          <a:xfrm>
            <a:off x="2420930" y="4515619"/>
            <a:ext cx="9146245" cy="1318806"/>
          </a:xfrm>
          <a:prstGeom prst="rect">
            <a:avLst/>
          </a:prstGeom>
          <a:solidFill>
            <a:schemeClr val="bg1">
              <a:lumMod val="95000"/>
            </a:schemeClr>
          </a:solidFill>
          <a:ln w="19050" algn="ctr">
            <a:noFill/>
            <a:miter lim="800000"/>
            <a:headEnd/>
            <a:tailEnd/>
          </a:ln>
        </p:spPr>
        <p:txBody>
          <a:bodyPr wrap="square" lIns="40500" tIns="40500" rIns="27000" bIns="27000" rtlCol="0" anchor="ctr"/>
          <a:lstStyle/>
          <a:p>
            <a:pPr marL="174625" indent="-147638" algn="just">
              <a:lnSpc>
                <a:spcPct val="114000"/>
              </a:lnSpc>
              <a:spcAft>
                <a:spcPts val="600"/>
              </a:spcAft>
              <a:buFont typeface="Arial" panose="020B0604020202020204" pitchFamily="34" charset="0"/>
              <a:buChar char="•"/>
            </a:pPr>
            <a:r>
              <a:rPr lang="en-US" sz="1400" dirty="0">
                <a:solidFill>
                  <a:prstClr val="black"/>
                </a:solidFill>
              </a:rPr>
              <a:t>Exemption from </a:t>
            </a:r>
            <a:r>
              <a:rPr lang="en-US" sz="1400" dirty="0" err="1">
                <a:solidFill>
                  <a:prstClr val="black"/>
                </a:solidFill>
              </a:rPr>
              <a:t>MoP</a:t>
            </a:r>
            <a:r>
              <a:rPr lang="en-US" sz="1400" dirty="0">
                <a:solidFill>
                  <a:prstClr val="black"/>
                </a:solidFill>
              </a:rPr>
              <a:t> with respect to the requirement of power procurement through competitive basis in case of non co-located solar plant, or, allowing competitive EPC tendering to qualify as </a:t>
            </a:r>
            <a:r>
              <a:rPr lang="en-US" sz="1400" b="1" dirty="0">
                <a:solidFill>
                  <a:prstClr val="black"/>
                </a:solidFill>
              </a:rPr>
              <a:t>RE procurement on competitive basis</a:t>
            </a:r>
          </a:p>
        </p:txBody>
      </p:sp>
      <p:sp>
        <p:nvSpPr>
          <p:cNvPr id="25" name="Rectangle 24">
            <a:extLst>
              <a:ext uri="{FF2B5EF4-FFF2-40B4-BE49-F238E27FC236}">
                <a16:creationId xmlns:a16="http://schemas.microsoft.com/office/drawing/2014/main" id="{2B49404F-28D5-4816-8DC5-A4820E4C0E95}"/>
              </a:ext>
            </a:extLst>
          </p:cNvPr>
          <p:cNvSpPr/>
          <p:nvPr/>
        </p:nvSpPr>
        <p:spPr bwMode="gray">
          <a:xfrm rot="5400000">
            <a:off x="1675981" y="5152165"/>
            <a:ext cx="1318808" cy="45719"/>
          </a:xfrm>
          <a:prstGeom prst="rect">
            <a:avLst/>
          </a:prstGeom>
          <a:solidFill>
            <a:srgbClr val="00ABAB"/>
          </a:solidFill>
          <a:ln w="19050" algn="ctr">
            <a:solidFill>
              <a:srgbClr val="00ABAB"/>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6" name="TextBox 25">
            <a:extLst>
              <a:ext uri="{FF2B5EF4-FFF2-40B4-BE49-F238E27FC236}">
                <a16:creationId xmlns:a16="http://schemas.microsoft.com/office/drawing/2014/main" id="{C21EA96B-B113-4D27-906A-28398AC7110A}"/>
              </a:ext>
            </a:extLst>
          </p:cNvPr>
          <p:cNvSpPr txBox="1"/>
          <p:nvPr/>
        </p:nvSpPr>
        <p:spPr>
          <a:xfrm>
            <a:off x="1002116" y="5065574"/>
            <a:ext cx="2319790" cy="246221"/>
          </a:xfrm>
          <a:prstGeom prst="rect">
            <a:avLst/>
          </a:prstGeom>
          <a:noFill/>
        </p:spPr>
        <p:txBody>
          <a:bodyPr wrap="square" lIns="0" tIns="0" rIns="0" bIns="0" rtlCol="0">
            <a:spAutoFit/>
          </a:bodyPr>
          <a:lstStyle/>
          <a:p>
            <a:pPr>
              <a:spcBef>
                <a:spcPts val="600"/>
              </a:spcBef>
              <a:buSzPct val="100000"/>
            </a:pPr>
            <a:r>
              <a:rPr lang="en-US" sz="1600" b="1" dirty="0">
                <a:solidFill>
                  <a:srgbClr val="00ABAB"/>
                </a:solidFill>
              </a:rPr>
              <a:t>Way Forward</a:t>
            </a:r>
          </a:p>
        </p:txBody>
      </p:sp>
      <p:sp>
        <p:nvSpPr>
          <p:cNvPr id="31" name="Oval 103">
            <a:extLst>
              <a:ext uri="{FF2B5EF4-FFF2-40B4-BE49-F238E27FC236}">
                <a16:creationId xmlns:a16="http://schemas.microsoft.com/office/drawing/2014/main" id="{D2E60E3B-772C-4FEE-AE3F-EEF5911D3B20}"/>
              </a:ext>
            </a:extLst>
          </p:cNvPr>
          <p:cNvSpPr>
            <a:spLocks noChangeArrowheads="1"/>
          </p:cNvSpPr>
          <p:nvPr/>
        </p:nvSpPr>
        <p:spPr bwMode="auto">
          <a:xfrm>
            <a:off x="224038" y="4861041"/>
            <a:ext cx="675511" cy="738664"/>
          </a:xfrm>
          <a:prstGeom prst="ellipse">
            <a:avLst/>
          </a:prstGeom>
          <a:solidFill>
            <a:srgbClr val="00ABAB"/>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pic>
        <p:nvPicPr>
          <p:cNvPr id="3" name="Graphic 2" descr="Fast Forward with solid fill">
            <a:extLst>
              <a:ext uri="{FF2B5EF4-FFF2-40B4-BE49-F238E27FC236}">
                <a16:creationId xmlns:a16="http://schemas.microsoft.com/office/drawing/2014/main" id="{EFFFA1F3-6E29-4AB0-B1AF-8ECE624F8E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0520" y="4948620"/>
            <a:ext cx="522865" cy="522865"/>
          </a:xfrm>
          <a:prstGeom prst="rect">
            <a:avLst/>
          </a:prstGeom>
        </p:spPr>
      </p:pic>
    </p:spTree>
    <p:extLst>
      <p:ext uri="{BB962C8B-B14F-4D97-AF65-F5344CB8AC3E}">
        <p14:creationId xmlns:p14="http://schemas.microsoft.com/office/powerpoint/2010/main" val="225810772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Additionally, MOP has recently notified norms for RGO for TPPs</a:t>
            </a:r>
            <a:br>
              <a:rPr lang="en-US" sz="2400" b="1" dirty="0">
                <a:latin typeface="Calibri" panose="020F0502020204030204" pitchFamily="34" charset="0"/>
              </a:rPr>
            </a:br>
            <a:r>
              <a:rPr lang="en-US" sz="2400" b="1" dirty="0">
                <a:solidFill>
                  <a:srgbClr val="86BC25"/>
                </a:solidFill>
                <a:latin typeface="Calibri" panose="020F0502020204030204" pitchFamily="34" charset="0"/>
              </a:rPr>
              <a:t>Regulatory provisions with respect to Renewable Generation Obligation (RGO) by TPPs</a:t>
            </a:r>
            <a:endParaRPr lang="en-GB" sz="2400" b="1" dirty="0">
              <a:solidFill>
                <a:srgbClr val="86BC25"/>
              </a:solidFill>
              <a:latin typeface="Calibri" panose="020F0502020204030204" pitchFamily="34" charset="0"/>
            </a:endParaRPr>
          </a:p>
        </p:txBody>
      </p:sp>
      <p:sp>
        <p:nvSpPr>
          <p:cNvPr id="9" name="TextBox 8">
            <a:extLst>
              <a:ext uri="{FF2B5EF4-FFF2-40B4-BE49-F238E27FC236}">
                <a16:creationId xmlns:a16="http://schemas.microsoft.com/office/drawing/2014/main" id="{7C2B8F8D-F767-4AA3-8766-C4E31ACFD7D4}"/>
              </a:ext>
            </a:extLst>
          </p:cNvPr>
          <p:cNvSpPr txBox="1"/>
          <p:nvPr/>
        </p:nvSpPr>
        <p:spPr>
          <a:xfrm>
            <a:off x="367836" y="1006431"/>
            <a:ext cx="11188700"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MOP Resolution on “Renewable Generation Obligation as per Revised Tariff Policy, 2016” vide order F. No. 09/02/2022-RCM. dated 27.02.2023:</a:t>
            </a:r>
          </a:p>
        </p:txBody>
      </p:sp>
      <p:sp>
        <p:nvSpPr>
          <p:cNvPr id="10" name="Rectangle 9">
            <a:extLst>
              <a:ext uri="{FF2B5EF4-FFF2-40B4-BE49-F238E27FC236}">
                <a16:creationId xmlns:a16="http://schemas.microsoft.com/office/drawing/2014/main" id="{E27398DA-B67E-4FC0-AC1F-E50E7A2B102A}"/>
              </a:ext>
            </a:extLst>
          </p:cNvPr>
          <p:cNvSpPr/>
          <p:nvPr/>
        </p:nvSpPr>
        <p:spPr bwMode="gray">
          <a:xfrm>
            <a:off x="501650" y="1979331"/>
            <a:ext cx="11054886" cy="1407453"/>
          </a:xfrm>
          <a:prstGeom prst="rect">
            <a:avLst/>
          </a:prstGeom>
          <a:solidFill>
            <a:schemeClr val="tx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“In pursuance of clause 6.4 (5) of the Tariff Policy 2016, it has been decided that any generating company establishing a coal/lignite-based </a:t>
            </a:r>
            <a:r>
              <a:rPr lang="en-US" sz="1600" b="1" dirty="0"/>
              <a:t>thermal generating station </a:t>
            </a:r>
            <a:r>
              <a:rPr lang="en-US" sz="1600" dirty="0"/>
              <a:t>and </a:t>
            </a:r>
            <a:r>
              <a:rPr lang="en-US" sz="1600" b="1" dirty="0"/>
              <a:t>having the Commercial Operation Date (COD) of the project on or after 1</a:t>
            </a:r>
            <a:r>
              <a:rPr lang="en-US" sz="1600" b="1" baseline="30000" dirty="0"/>
              <a:t>st</a:t>
            </a:r>
            <a:r>
              <a:rPr lang="en-US" sz="1600" b="1" dirty="0"/>
              <a:t> April 2023 </a:t>
            </a:r>
            <a:r>
              <a:rPr lang="en-US" sz="1600" dirty="0"/>
              <a:t>shall be required to establish renewable energy generating capacity (in MW) i.e. </a:t>
            </a:r>
            <a:r>
              <a:rPr lang="en-US" sz="1600" b="1" dirty="0"/>
              <a:t>Renewable Generation Obligation (RGO) of a minimum of forty percent (40%) of the capacity (in MW) of a coal/lignite-based thermal generating station or procure and supply renewable energy equivalent to such capacity</a:t>
            </a:r>
            <a:r>
              <a:rPr lang="en-US" sz="1600" dirty="0"/>
              <a:t>”</a:t>
            </a:r>
          </a:p>
        </p:txBody>
      </p:sp>
      <p:sp>
        <p:nvSpPr>
          <p:cNvPr id="11" name="TextBox 10">
            <a:extLst>
              <a:ext uri="{FF2B5EF4-FFF2-40B4-BE49-F238E27FC236}">
                <a16:creationId xmlns:a16="http://schemas.microsoft.com/office/drawing/2014/main" id="{D392D0B0-36D9-4127-90AC-FD47B755CA95}"/>
              </a:ext>
            </a:extLst>
          </p:cNvPr>
          <p:cNvSpPr txBox="1"/>
          <p:nvPr/>
        </p:nvSpPr>
        <p:spPr>
          <a:xfrm>
            <a:off x="501650" y="1647193"/>
            <a:ext cx="1014916" cy="342210"/>
          </a:xfrm>
          <a:prstGeom prst="rect">
            <a:avLst/>
          </a:prstGeom>
          <a:solidFill>
            <a:schemeClr val="tx1">
              <a:lumMod val="75000"/>
              <a:lumOff val="25000"/>
            </a:schemeClr>
          </a:solidFill>
        </p:spPr>
        <p:txBody>
          <a:bodyPr wrap="square">
            <a:spAutoFit/>
          </a:bodyPr>
          <a:lstStyle/>
          <a:p>
            <a:pPr>
              <a:lnSpc>
                <a:spcPct val="106000"/>
              </a:lnSpc>
            </a:pPr>
            <a:r>
              <a:rPr lang="en-US" sz="1600" b="1" dirty="0">
                <a:solidFill>
                  <a:schemeClr val="bg1"/>
                </a:solidFill>
              </a:rPr>
              <a:t>Clause 2:</a:t>
            </a:r>
          </a:p>
        </p:txBody>
      </p:sp>
      <p:sp>
        <p:nvSpPr>
          <p:cNvPr id="14" name="Rectangle 13">
            <a:extLst>
              <a:ext uri="{FF2B5EF4-FFF2-40B4-BE49-F238E27FC236}">
                <a16:creationId xmlns:a16="http://schemas.microsoft.com/office/drawing/2014/main" id="{3135C428-E521-46A8-9D67-BCE33E592D88}"/>
              </a:ext>
            </a:extLst>
          </p:cNvPr>
          <p:cNvSpPr/>
          <p:nvPr/>
        </p:nvSpPr>
        <p:spPr bwMode="gray">
          <a:xfrm>
            <a:off x="501650" y="3818188"/>
            <a:ext cx="11054886" cy="1143541"/>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600" dirty="0"/>
              <a:t>“A coal/lignite based thermal generating station with Commercial Operation Date </a:t>
            </a:r>
            <a:r>
              <a:rPr lang="en-US" sz="1600" b="1" dirty="0"/>
              <a:t>(COD) of the project between 1st April 2023 and 31st March 2025 shall be required to comply with RGO of 40% by 1</a:t>
            </a:r>
            <a:r>
              <a:rPr lang="en-US" sz="1600" b="1" baseline="30000" dirty="0"/>
              <a:t>st</a:t>
            </a:r>
            <a:r>
              <a:rPr lang="en-US" sz="1600" b="1" dirty="0"/>
              <a:t> April 2025</a:t>
            </a:r>
            <a:r>
              <a:rPr lang="en-US" sz="1600" dirty="0"/>
              <a:t>, and any other coal/lignite based thermal generating station with Commercial Operation Date </a:t>
            </a:r>
            <a:r>
              <a:rPr lang="en-US" sz="1600" b="1" dirty="0"/>
              <a:t>(COD) of the project after 1</a:t>
            </a:r>
            <a:r>
              <a:rPr lang="en-US" sz="1600" b="1" baseline="30000" dirty="0"/>
              <a:t>st</a:t>
            </a:r>
            <a:r>
              <a:rPr lang="en-US" sz="1600" b="1" dirty="0"/>
              <a:t> April 2025 shall be required to comply with RGO of 40% by the COD.</a:t>
            </a:r>
            <a:r>
              <a:rPr lang="en-US" sz="1600" dirty="0"/>
              <a:t> “</a:t>
            </a:r>
          </a:p>
        </p:txBody>
      </p:sp>
      <p:sp>
        <p:nvSpPr>
          <p:cNvPr id="18" name="TextBox 17">
            <a:extLst>
              <a:ext uri="{FF2B5EF4-FFF2-40B4-BE49-F238E27FC236}">
                <a16:creationId xmlns:a16="http://schemas.microsoft.com/office/drawing/2014/main" id="{62C8909D-2E40-4B16-9200-59183221172F}"/>
              </a:ext>
            </a:extLst>
          </p:cNvPr>
          <p:cNvSpPr txBox="1"/>
          <p:nvPr/>
        </p:nvSpPr>
        <p:spPr>
          <a:xfrm>
            <a:off x="501650" y="3445163"/>
            <a:ext cx="1014916" cy="342210"/>
          </a:xfrm>
          <a:prstGeom prst="rect">
            <a:avLst/>
          </a:prstGeom>
          <a:solidFill>
            <a:srgbClr val="009A44"/>
          </a:solidFill>
        </p:spPr>
        <p:txBody>
          <a:bodyPr wrap="square">
            <a:spAutoFit/>
          </a:bodyPr>
          <a:lstStyle/>
          <a:p>
            <a:pPr>
              <a:lnSpc>
                <a:spcPct val="106000"/>
              </a:lnSpc>
            </a:pPr>
            <a:r>
              <a:rPr lang="en-US" sz="1600" b="1" dirty="0">
                <a:solidFill>
                  <a:schemeClr val="bg1"/>
                </a:solidFill>
              </a:rPr>
              <a:t>Clause 3:</a:t>
            </a:r>
          </a:p>
        </p:txBody>
      </p:sp>
      <p:sp>
        <p:nvSpPr>
          <p:cNvPr id="19" name="Rectangle 18">
            <a:extLst>
              <a:ext uri="{FF2B5EF4-FFF2-40B4-BE49-F238E27FC236}">
                <a16:creationId xmlns:a16="http://schemas.microsoft.com/office/drawing/2014/main" id="{5025CDBE-8B3A-43A9-BA9F-DA8A99580005}"/>
              </a:ext>
            </a:extLst>
          </p:cNvPr>
          <p:cNvSpPr/>
          <p:nvPr/>
        </p:nvSpPr>
        <p:spPr bwMode="gray">
          <a:xfrm>
            <a:off x="501650" y="5088301"/>
            <a:ext cx="11054886" cy="1383685"/>
          </a:xfrm>
          <a:prstGeom prst="rect">
            <a:avLst/>
          </a:prstGeom>
          <a:noFill/>
          <a:ln w="19050" algn="ctr">
            <a:solidFill>
              <a:srgbClr val="009A44"/>
            </a:solidFill>
            <a:prstDash val="lgDash"/>
            <a:miter lim="800000"/>
            <a:headEnd/>
            <a:tailEnd/>
          </a:ln>
        </p:spPr>
        <p:txBody>
          <a:bodyPr wrap="square" lIns="88900" tIns="88900" rIns="88900" bIns="88900" rtlCol="0" anchor="ctr"/>
          <a:lstStyle/>
          <a:p>
            <a:pPr>
              <a:lnSpc>
                <a:spcPct val="106000"/>
              </a:lnSpc>
            </a:pPr>
            <a:r>
              <a:rPr lang="en-US" sz="1600" b="1" dirty="0"/>
              <a:t>With respect to above, following points have been kept open ended:</a:t>
            </a:r>
          </a:p>
          <a:p>
            <a:pPr marL="285750" indent="-285750">
              <a:lnSpc>
                <a:spcPct val="106000"/>
              </a:lnSpc>
              <a:buFont typeface="Arial" panose="020B0604020202020204" pitchFamily="34" charset="0"/>
              <a:buChar char="•"/>
            </a:pPr>
            <a:r>
              <a:rPr lang="en-US" sz="1600" dirty="0"/>
              <a:t>Requirement for co-location of solar and thermal power plants</a:t>
            </a:r>
          </a:p>
          <a:p>
            <a:pPr marL="285750" indent="-285750">
              <a:lnSpc>
                <a:spcPct val="106000"/>
              </a:lnSpc>
              <a:buFont typeface="Arial" panose="020B0604020202020204" pitchFamily="34" charset="0"/>
              <a:buChar char="•"/>
            </a:pPr>
            <a:r>
              <a:rPr lang="en-US" sz="1600" dirty="0" err="1"/>
              <a:t>Offtakers</a:t>
            </a:r>
            <a:r>
              <a:rPr lang="en-US" sz="1600" dirty="0"/>
              <a:t> for the solar power – whether within existing PPA of TPP or under new PPA / new beneficiaries</a:t>
            </a:r>
          </a:p>
          <a:p>
            <a:pPr>
              <a:lnSpc>
                <a:spcPct val="106000"/>
              </a:lnSpc>
            </a:pPr>
            <a:endParaRPr lang="en-US" sz="1600" dirty="0"/>
          </a:p>
          <a:p>
            <a:pPr algn="ctr">
              <a:lnSpc>
                <a:spcPct val="106000"/>
              </a:lnSpc>
            </a:pPr>
            <a:r>
              <a:rPr lang="en-US" b="1" dirty="0"/>
              <a:t>BUNDLING CAN BE ONE MECHANISM FOR FULFILLING RGO</a:t>
            </a:r>
          </a:p>
        </p:txBody>
      </p:sp>
    </p:spTree>
    <p:extLst>
      <p:ext uri="{BB962C8B-B14F-4D97-AF65-F5344CB8AC3E}">
        <p14:creationId xmlns:p14="http://schemas.microsoft.com/office/powerpoint/2010/main" val="19296178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36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580586" cy="692151"/>
          </a:xfrm>
        </p:spPr>
        <p:txBody>
          <a:bodyPr/>
          <a:lstStyle/>
          <a:p>
            <a:pPr marL="990600" indent="-990600"/>
            <a:r>
              <a:rPr lang="en-US" sz="2800" i="0" dirty="0"/>
              <a:t>2. Sale of Solar Power to Discoms u/s 62</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Arrow: Left 4">
            <a:hlinkClick r:id="rId6" action="ppaction://hlinksldjump"/>
            <a:extLst>
              <a:ext uri="{FF2B5EF4-FFF2-40B4-BE49-F238E27FC236}">
                <a16:creationId xmlns:a16="http://schemas.microsoft.com/office/drawing/2014/main" id="{F7BDFA1A-C62D-40EF-A69A-34E298C92865}"/>
              </a:ext>
            </a:extLst>
          </p:cNvPr>
          <p:cNvSpPr/>
          <p:nvPr/>
        </p:nvSpPr>
        <p:spPr bwMode="gray">
          <a:xfrm>
            <a:off x="10515600" y="6329680"/>
            <a:ext cx="335280" cy="375920"/>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2227638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latin typeface="Calibri" panose="020F0502020204030204" pitchFamily="34" charset="0"/>
                <a:ea typeface="Calibri" panose="020F0502020204030204" pitchFamily="34" charset="0"/>
              </a:rPr>
              <a:t>Way Forward for</a:t>
            </a:r>
            <a:r>
              <a:rPr lang="en-US" sz="2400" b="1" dirty="0">
                <a:effectLst/>
                <a:latin typeface="Calibri" panose="020F0502020204030204" pitchFamily="34" charset="0"/>
                <a:ea typeface="Calibri" panose="020F0502020204030204" pitchFamily="34" charset="0"/>
              </a:rPr>
              <a:t> Sale to DISCOM of Other states u/s 62</a:t>
            </a:r>
            <a:endParaRPr lang="en-US" sz="2400" dirty="0">
              <a:effectLst/>
              <a:latin typeface="Calibri" panose="020F0502020204030204" pitchFamily="34" charset="0"/>
              <a:ea typeface="Calibri" panose="020F0502020204030204" pitchFamily="34" charset="0"/>
            </a:endParaRPr>
          </a:p>
        </p:txBody>
      </p:sp>
      <p:sp>
        <p:nvSpPr>
          <p:cNvPr id="7" name="Rectangle 6">
            <a:extLst>
              <a:ext uri="{FF2B5EF4-FFF2-40B4-BE49-F238E27FC236}">
                <a16:creationId xmlns:a16="http://schemas.microsoft.com/office/drawing/2014/main" id="{8F3B5C07-D4FC-4DE8-AA15-6EE06EBC8900}"/>
              </a:ext>
            </a:extLst>
          </p:cNvPr>
          <p:cNvSpPr/>
          <p:nvPr/>
        </p:nvSpPr>
        <p:spPr bwMode="gray">
          <a:xfrm>
            <a:off x="501650" y="1081196"/>
            <a:ext cx="11006409" cy="1600674"/>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369887" indent="-342900">
              <a:lnSpc>
                <a:spcPct val="114000"/>
              </a:lnSpc>
              <a:spcAft>
                <a:spcPts val="600"/>
              </a:spcAft>
              <a:buFont typeface="+mj-lt"/>
              <a:buAutoNum type="arabicPeriod"/>
            </a:pPr>
            <a:r>
              <a:rPr lang="en-US" sz="1600" b="1" dirty="0">
                <a:solidFill>
                  <a:prstClr val="black"/>
                </a:solidFill>
              </a:rPr>
              <a:t>Scanning of States / DISCOMs basis</a:t>
            </a:r>
          </a:p>
          <a:p>
            <a:pPr marL="827087" lvl="1" indent="-342900">
              <a:lnSpc>
                <a:spcPct val="114000"/>
              </a:lnSpc>
              <a:spcAft>
                <a:spcPts val="600"/>
              </a:spcAft>
              <a:buFont typeface="+mj-lt"/>
              <a:buAutoNum type="alphaLcParenR"/>
            </a:pPr>
            <a:r>
              <a:rPr lang="en-US" sz="1600" dirty="0">
                <a:solidFill>
                  <a:prstClr val="black"/>
                </a:solidFill>
              </a:rPr>
              <a:t>RPO shortfall status, and </a:t>
            </a:r>
          </a:p>
          <a:p>
            <a:pPr marL="827087" lvl="1" indent="-342900">
              <a:lnSpc>
                <a:spcPct val="114000"/>
              </a:lnSpc>
              <a:spcAft>
                <a:spcPts val="600"/>
              </a:spcAft>
              <a:buFont typeface="+mj-lt"/>
              <a:buAutoNum type="alphaLcParenR"/>
            </a:pPr>
            <a:r>
              <a:rPr lang="en-US" sz="1600" dirty="0">
                <a:solidFill>
                  <a:prstClr val="black"/>
                </a:solidFill>
              </a:rPr>
              <a:t>thermal heavy power purchase portfolio of DISCOMs</a:t>
            </a:r>
          </a:p>
          <a:p>
            <a:pPr marL="827087" lvl="1" indent="-342900">
              <a:lnSpc>
                <a:spcPct val="114000"/>
              </a:lnSpc>
              <a:spcAft>
                <a:spcPts val="600"/>
              </a:spcAft>
              <a:buFont typeface="+mj-lt"/>
              <a:buAutoNum type="alphaLcParenR"/>
            </a:pPr>
            <a:r>
              <a:rPr lang="en-US" sz="1600" dirty="0">
                <a:solidFill>
                  <a:prstClr val="black"/>
                </a:solidFill>
              </a:rPr>
              <a:t>High power purchase cost</a:t>
            </a:r>
          </a:p>
        </p:txBody>
      </p:sp>
      <p:sp>
        <p:nvSpPr>
          <p:cNvPr id="21" name="Arrow: Right 20">
            <a:extLst>
              <a:ext uri="{FF2B5EF4-FFF2-40B4-BE49-F238E27FC236}">
                <a16:creationId xmlns:a16="http://schemas.microsoft.com/office/drawing/2014/main" id="{FA9D0355-6D1A-4CA4-9A4E-EF047B87A7E0}"/>
              </a:ext>
            </a:extLst>
          </p:cNvPr>
          <p:cNvSpPr/>
          <p:nvPr/>
        </p:nvSpPr>
        <p:spPr bwMode="gray">
          <a:xfrm rot="5400000">
            <a:off x="5547435" y="2729167"/>
            <a:ext cx="463289" cy="633840"/>
          </a:xfrm>
          <a:prstGeom prst="rightArrow">
            <a:avLst/>
          </a:prstGeom>
          <a:solidFill>
            <a:srgbClr val="004F59"/>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2" name="Rectangle 21">
            <a:extLst>
              <a:ext uri="{FF2B5EF4-FFF2-40B4-BE49-F238E27FC236}">
                <a16:creationId xmlns:a16="http://schemas.microsoft.com/office/drawing/2014/main" id="{BE04AC34-87C0-4C05-A133-D4DC6F7AB9C8}"/>
              </a:ext>
            </a:extLst>
          </p:cNvPr>
          <p:cNvSpPr/>
          <p:nvPr/>
        </p:nvSpPr>
        <p:spPr bwMode="gray">
          <a:xfrm>
            <a:off x="501650" y="3350770"/>
            <a:ext cx="11006409" cy="463290"/>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369887" indent="-342900">
              <a:lnSpc>
                <a:spcPct val="114000"/>
              </a:lnSpc>
              <a:spcAft>
                <a:spcPts val="600"/>
              </a:spcAft>
              <a:buFont typeface="+mj-lt"/>
              <a:buAutoNum type="arabicPeriod" startAt="2"/>
            </a:pPr>
            <a:r>
              <a:rPr lang="en-US" sz="1600" b="1" dirty="0">
                <a:solidFill>
                  <a:prstClr val="black"/>
                </a:solidFill>
              </a:rPr>
              <a:t>Study of regulatory provisions with respect to shortlisted States for respective states</a:t>
            </a:r>
          </a:p>
        </p:txBody>
      </p:sp>
      <p:sp>
        <p:nvSpPr>
          <p:cNvPr id="23" name="Arrow: Right 22">
            <a:extLst>
              <a:ext uri="{FF2B5EF4-FFF2-40B4-BE49-F238E27FC236}">
                <a16:creationId xmlns:a16="http://schemas.microsoft.com/office/drawing/2014/main" id="{78D10200-5F9E-41B2-84C3-5DCE7C41AB15}"/>
              </a:ext>
            </a:extLst>
          </p:cNvPr>
          <p:cNvSpPr/>
          <p:nvPr/>
        </p:nvSpPr>
        <p:spPr bwMode="gray">
          <a:xfrm rot="5400000">
            <a:off x="5547435" y="3929781"/>
            <a:ext cx="463289" cy="633840"/>
          </a:xfrm>
          <a:prstGeom prst="rightArrow">
            <a:avLst/>
          </a:prstGeom>
          <a:solidFill>
            <a:srgbClr val="004F59"/>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6" name="Rectangle 25">
            <a:extLst>
              <a:ext uri="{FF2B5EF4-FFF2-40B4-BE49-F238E27FC236}">
                <a16:creationId xmlns:a16="http://schemas.microsoft.com/office/drawing/2014/main" id="{5CD1D76A-A110-4B30-96CE-27FEEC164B11}"/>
              </a:ext>
            </a:extLst>
          </p:cNvPr>
          <p:cNvSpPr/>
          <p:nvPr/>
        </p:nvSpPr>
        <p:spPr bwMode="gray">
          <a:xfrm>
            <a:off x="501650" y="4595989"/>
            <a:ext cx="11006409" cy="463290"/>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369887" indent="-342900">
              <a:lnSpc>
                <a:spcPct val="114000"/>
              </a:lnSpc>
              <a:spcAft>
                <a:spcPts val="600"/>
              </a:spcAft>
              <a:buFont typeface="+mj-lt"/>
              <a:buAutoNum type="arabicPeriod" startAt="3"/>
            </a:pPr>
            <a:r>
              <a:rPr lang="en-US" sz="1600" b="1" dirty="0">
                <a:solidFill>
                  <a:prstClr val="black"/>
                </a:solidFill>
              </a:rPr>
              <a:t>Assessment of power purchase cost of target DISCOM to assess viability of RE power sale</a:t>
            </a:r>
          </a:p>
        </p:txBody>
      </p:sp>
      <p:sp>
        <p:nvSpPr>
          <p:cNvPr id="27" name="Arrow: Right 26">
            <a:extLst>
              <a:ext uri="{FF2B5EF4-FFF2-40B4-BE49-F238E27FC236}">
                <a16:creationId xmlns:a16="http://schemas.microsoft.com/office/drawing/2014/main" id="{3BE34676-190C-4EE6-9DA0-31194FC68592}"/>
              </a:ext>
            </a:extLst>
          </p:cNvPr>
          <p:cNvSpPr/>
          <p:nvPr/>
        </p:nvSpPr>
        <p:spPr bwMode="gray">
          <a:xfrm rot="5400000">
            <a:off x="5547435" y="5166719"/>
            <a:ext cx="463289" cy="633840"/>
          </a:xfrm>
          <a:prstGeom prst="rightArrow">
            <a:avLst/>
          </a:prstGeom>
          <a:solidFill>
            <a:srgbClr val="004F59"/>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8" name="Rectangle 27">
            <a:extLst>
              <a:ext uri="{FF2B5EF4-FFF2-40B4-BE49-F238E27FC236}">
                <a16:creationId xmlns:a16="http://schemas.microsoft.com/office/drawing/2014/main" id="{727467B2-88A4-4B66-9B8E-20E25D24EE7C}"/>
              </a:ext>
            </a:extLst>
          </p:cNvPr>
          <p:cNvSpPr/>
          <p:nvPr/>
        </p:nvSpPr>
        <p:spPr bwMode="gray">
          <a:xfrm>
            <a:off x="501650" y="5841207"/>
            <a:ext cx="11006409" cy="463290"/>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369887" indent="-342900">
              <a:lnSpc>
                <a:spcPct val="114000"/>
              </a:lnSpc>
              <a:spcAft>
                <a:spcPts val="600"/>
              </a:spcAft>
              <a:buFont typeface="+mj-lt"/>
              <a:buAutoNum type="arabicPeriod" startAt="4"/>
            </a:pPr>
            <a:r>
              <a:rPr lang="en-US" sz="1600" b="1" dirty="0">
                <a:solidFill>
                  <a:prstClr val="black"/>
                </a:solidFill>
              </a:rPr>
              <a:t>Liaising with DISCOMs, State Regulators and other concerned State Agencies</a:t>
            </a:r>
          </a:p>
        </p:txBody>
      </p:sp>
      <p:sp>
        <p:nvSpPr>
          <p:cNvPr id="10" name="Arrow: Left 9">
            <a:hlinkClick r:id="rId2" action="ppaction://hlinksldjump"/>
            <a:extLst>
              <a:ext uri="{FF2B5EF4-FFF2-40B4-BE49-F238E27FC236}">
                <a16:creationId xmlns:a16="http://schemas.microsoft.com/office/drawing/2014/main" id="{41FDF811-D04D-41DB-979C-FEB797385C65}"/>
              </a:ext>
            </a:extLst>
          </p:cNvPr>
          <p:cNvSpPr/>
          <p:nvPr/>
        </p:nvSpPr>
        <p:spPr bwMode="gray">
          <a:xfrm>
            <a:off x="10515600" y="6370320"/>
            <a:ext cx="335280" cy="375920"/>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4532881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Precedence Cases wherein Regulator has approved Solar Tariff u/s 62 (1/2)</a:t>
            </a:r>
            <a:endParaRPr lang="en-US" sz="2400" dirty="0">
              <a:effectLst/>
              <a:latin typeface="Calibri" panose="020F0502020204030204" pitchFamily="34" charset="0"/>
              <a:ea typeface="Calibri" panose="020F0502020204030204" pitchFamily="34" charset="0"/>
            </a:endParaRPr>
          </a:p>
        </p:txBody>
      </p:sp>
      <p:sp>
        <p:nvSpPr>
          <p:cNvPr id="24" name="Rectangle 23">
            <a:extLst>
              <a:ext uri="{FF2B5EF4-FFF2-40B4-BE49-F238E27FC236}">
                <a16:creationId xmlns:a16="http://schemas.microsoft.com/office/drawing/2014/main" id="{40517E83-A0D8-4386-A7C6-CC529F04BFC9}"/>
              </a:ext>
            </a:extLst>
          </p:cNvPr>
          <p:cNvSpPr/>
          <p:nvPr/>
        </p:nvSpPr>
        <p:spPr bwMode="gray">
          <a:xfrm>
            <a:off x="501650" y="1158972"/>
            <a:ext cx="10972800" cy="5035000"/>
          </a:xfrm>
          <a:prstGeom prst="rect">
            <a:avLst/>
          </a:prstGeom>
          <a:solidFill>
            <a:srgbClr val="E8F4EF"/>
          </a:solidFill>
          <a:ln w="19050" algn="ctr">
            <a:noFill/>
            <a:miter lim="800000"/>
            <a:headEnd/>
            <a:tailEnd/>
          </a:ln>
        </p:spPr>
        <p:txBody>
          <a:bodyPr wrap="square" lIns="88900" tIns="88900" rIns="88900" bIns="88900" rtlCol="0" anchor="ctr"/>
          <a:lstStyle/>
          <a:p>
            <a:pPr>
              <a:lnSpc>
                <a:spcPct val="106000"/>
              </a:lnSpc>
              <a:spcAft>
                <a:spcPts val="200"/>
              </a:spcAft>
            </a:pPr>
            <a:r>
              <a:rPr lang="en-US" sz="1600" b="1" u="sng" dirty="0"/>
              <a:t>In the Matter of:</a:t>
            </a:r>
            <a:r>
              <a:rPr lang="en-US" sz="1600" u="sng" dirty="0"/>
              <a:t> </a:t>
            </a:r>
            <a:r>
              <a:rPr lang="en-US" sz="1600" dirty="0"/>
              <a:t>Petition </a:t>
            </a:r>
            <a:r>
              <a:rPr lang="en-US" sz="1600" b="1" dirty="0"/>
              <a:t>for approval </a:t>
            </a:r>
            <a:r>
              <a:rPr lang="en-US" sz="1600" dirty="0"/>
              <a:t>of source and draft power purchase agreement (PPA) to be executed with M/s </a:t>
            </a:r>
            <a:r>
              <a:rPr lang="en-US" sz="1600" dirty="0" err="1"/>
              <a:t>Amplus</a:t>
            </a:r>
            <a:r>
              <a:rPr lang="en-US" sz="1600" dirty="0"/>
              <a:t> Sun Solutions Private Limited for purchase of </a:t>
            </a:r>
            <a:r>
              <a:rPr lang="en-US" sz="1600" b="1" dirty="0"/>
              <a:t>50 MW solar power </a:t>
            </a:r>
            <a:r>
              <a:rPr lang="en-US" sz="1600" dirty="0"/>
              <a:t>at a tariff determined by the Commission </a:t>
            </a:r>
            <a:r>
              <a:rPr lang="en-US" sz="1600" b="1" dirty="0"/>
              <a:t>under Section 62 </a:t>
            </a:r>
            <a:r>
              <a:rPr lang="en-US" sz="1600" dirty="0"/>
              <a:t>of the Electricity Act, 2003:</a:t>
            </a:r>
          </a:p>
          <a:p>
            <a:pPr>
              <a:lnSpc>
                <a:spcPct val="106000"/>
              </a:lnSpc>
              <a:spcAft>
                <a:spcPts val="200"/>
              </a:spcAft>
            </a:pPr>
            <a:r>
              <a:rPr lang="en-US" sz="1600" b="1" u="sng" dirty="0"/>
              <a:t>Petitioner:</a:t>
            </a:r>
            <a:r>
              <a:rPr lang="en-US" sz="1600" dirty="0"/>
              <a:t> Haryana Power Purchase Centre, Panchkula (HPPC) </a:t>
            </a:r>
          </a:p>
          <a:p>
            <a:pPr>
              <a:lnSpc>
                <a:spcPct val="106000"/>
              </a:lnSpc>
              <a:spcAft>
                <a:spcPts val="200"/>
              </a:spcAft>
            </a:pPr>
            <a:r>
              <a:rPr lang="en-US" sz="1600" b="1" u="sng" dirty="0"/>
              <a:t>Respondent:</a:t>
            </a:r>
            <a:r>
              <a:rPr lang="en-US" sz="1600" dirty="0"/>
              <a:t> M/s </a:t>
            </a:r>
            <a:r>
              <a:rPr lang="en-US" sz="1600" dirty="0" err="1"/>
              <a:t>Amplus</a:t>
            </a:r>
            <a:r>
              <a:rPr lang="en-US" sz="1600" dirty="0"/>
              <a:t> Sun Solutions Private Limited</a:t>
            </a:r>
          </a:p>
          <a:p>
            <a:pPr>
              <a:lnSpc>
                <a:spcPct val="106000"/>
              </a:lnSpc>
              <a:spcAft>
                <a:spcPts val="200"/>
              </a:spcAft>
            </a:pPr>
            <a:endParaRPr lang="en-US" sz="1600" b="1" u="sng" dirty="0"/>
          </a:p>
          <a:p>
            <a:pPr>
              <a:lnSpc>
                <a:spcPct val="106000"/>
              </a:lnSpc>
              <a:spcAft>
                <a:spcPts val="200"/>
              </a:spcAft>
            </a:pPr>
            <a:r>
              <a:rPr lang="en-US" sz="1600" b="1" u="sng" dirty="0"/>
              <a:t>Rationale given to justify HERC’s approval of tariff u/s 62</a:t>
            </a:r>
            <a:r>
              <a:rPr lang="en-US" sz="1600" u="sng" dirty="0"/>
              <a:t>:</a:t>
            </a:r>
            <a:r>
              <a:rPr lang="en-US" sz="1600" dirty="0"/>
              <a:t> </a:t>
            </a:r>
          </a:p>
          <a:p>
            <a:pPr marL="285750" indent="-285750">
              <a:lnSpc>
                <a:spcPct val="106000"/>
              </a:lnSpc>
              <a:spcAft>
                <a:spcPts val="200"/>
              </a:spcAft>
              <a:buFont typeface="Wingdings" panose="05000000000000000000" pitchFamily="2" charset="2"/>
              <a:buChar char="Ø"/>
            </a:pPr>
            <a:r>
              <a:rPr lang="en-US" sz="1600" dirty="0"/>
              <a:t>Project was in final stages of construction and connectivity of the project was already secured post registration with HAREDA</a:t>
            </a:r>
          </a:p>
          <a:p>
            <a:pPr marL="285750" indent="-285750">
              <a:lnSpc>
                <a:spcPct val="106000"/>
              </a:lnSpc>
              <a:spcAft>
                <a:spcPts val="200"/>
              </a:spcAft>
              <a:buFont typeface="Wingdings" panose="05000000000000000000" pitchFamily="2" charset="2"/>
              <a:buChar char="Ø"/>
            </a:pPr>
            <a:r>
              <a:rPr lang="en-US" sz="1600" dirty="0"/>
              <a:t>Opportunity to address significant RPO Backlog by Haryana</a:t>
            </a:r>
          </a:p>
          <a:p>
            <a:pPr marL="285750" indent="-285750">
              <a:lnSpc>
                <a:spcPct val="106000"/>
              </a:lnSpc>
              <a:spcAft>
                <a:spcPts val="200"/>
              </a:spcAft>
              <a:buFont typeface="Wingdings" panose="05000000000000000000" pitchFamily="2" charset="2"/>
              <a:buChar char="Ø"/>
            </a:pPr>
            <a:r>
              <a:rPr lang="en-US" sz="1600" dirty="0"/>
              <a:t>Benefit to Haryana </a:t>
            </a:r>
            <a:r>
              <a:rPr lang="en-US" sz="1600" dirty="0" err="1"/>
              <a:t>Discoms</a:t>
            </a:r>
            <a:r>
              <a:rPr lang="en-US" sz="1600" dirty="0"/>
              <a:t>, consumers at large and State economy:</a:t>
            </a:r>
          </a:p>
          <a:p>
            <a:pPr marL="742950" lvl="1" indent="-285750">
              <a:lnSpc>
                <a:spcPct val="106000"/>
              </a:lnSpc>
              <a:spcAft>
                <a:spcPts val="200"/>
              </a:spcAft>
              <a:buFont typeface="Wingdings" panose="05000000000000000000" pitchFamily="2" charset="2"/>
              <a:buChar char="q"/>
            </a:pPr>
            <a:r>
              <a:rPr lang="en-US" sz="1600" dirty="0"/>
              <a:t>In case this Project started selling power under the captive route, this would lead to loss of Cross Subsidy Surcharge and Additional Surcharge from the industrial consumers who will be the captive users of this Project</a:t>
            </a:r>
          </a:p>
          <a:p>
            <a:pPr marL="742950" lvl="1" indent="-285750">
              <a:lnSpc>
                <a:spcPct val="106000"/>
              </a:lnSpc>
              <a:spcAft>
                <a:spcPts val="200"/>
              </a:spcAft>
              <a:buFont typeface="Wingdings" panose="05000000000000000000" pitchFamily="2" charset="2"/>
              <a:buChar char="q"/>
            </a:pPr>
            <a:r>
              <a:rPr lang="en-US" sz="1600" dirty="0"/>
              <a:t>The said charges would have been be a direct loss to the </a:t>
            </a:r>
            <a:r>
              <a:rPr lang="en-US" sz="1600" dirty="0" err="1"/>
              <a:t>Discoms</a:t>
            </a:r>
            <a:r>
              <a:rPr lang="en-US" sz="1600" dirty="0"/>
              <a:t> which would ultimately would have to be borne by the end consumers by the way of distribution and retail supply tariff.</a:t>
            </a:r>
          </a:p>
          <a:p>
            <a:pPr marL="285750" indent="-285750">
              <a:lnSpc>
                <a:spcPct val="106000"/>
              </a:lnSpc>
              <a:spcAft>
                <a:spcPts val="200"/>
              </a:spcAft>
              <a:buFont typeface="Wingdings" panose="05000000000000000000" pitchFamily="2" charset="2"/>
              <a:buChar char="Ø"/>
            </a:pPr>
            <a:r>
              <a:rPr lang="en-US" sz="1600" dirty="0"/>
              <a:t>Project has been set up in Bhiwani, near the load </a:t>
            </a:r>
            <a:r>
              <a:rPr lang="en-US" sz="1600" dirty="0" err="1"/>
              <a:t>centre</a:t>
            </a:r>
            <a:r>
              <a:rPr lang="en-US" sz="1600" dirty="0"/>
              <a:t>, therefore, there shall be a reduction of power distribution losses</a:t>
            </a:r>
          </a:p>
          <a:p>
            <a:pPr marL="285750" indent="-285750">
              <a:lnSpc>
                <a:spcPct val="106000"/>
              </a:lnSpc>
              <a:spcAft>
                <a:spcPts val="200"/>
              </a:spcAft>
              <a:buFont typeface="Wingdings" panose="05000000000000000000" pitchFamily="2" charset="2"/>
              <a:buChar char="Ø"/>
            </a:pPr>
            <a:r>
              <a:rPr lang="en-US" sz="1600" dirty="0"/>
              <a:t>State would also be eligible to the State’s 50% share of Goods and Supply Tax of the total Project cost</a:t>
            </a:r>
          </a:p>
        </p:txBody>
      </p:sp>
      <p:sp>
        <p:nvSpPr>
          <p:cNvPr id="25" name="TextBox 24">
            <a:extLst>
              <a:ext uri="{FF2B5EF4-FFF2-40B4-BE49-F238E27FC236}">
                <a16:creationId xmlns:a16="http://schemas.microsoft.com/office/drawing/2014/main" id="{500D44AA-6494-45F3-AD71-BFA617297F89}"/>
              </a:ext>
            </a:extLst>
          </p:cNvPr>
          <p:cNvSpPr txBox="1"/>
          <p:nvPr/>
        </p:nvSpPr>
        <p:spPr>
          <a:xfrm>
            <a:off x="457045" y="816761"/>
            <a:ext cx="5910303" cy="342210"/>
          </a:xfrm>
          <a:prstGeom prst="rect">
            <a:avLst/>
          </a:prstGeom>
          <a:solidFill>
            <a:srgbClr val="007680"/>
          </a:solidFill>
        </p:spPr>
        <p:txBody>
          <a:bodyPr wrap="square">
            <a:spAutoFit/>
          </a:bodyPr>
          <a:lstStyle/>
          <a:p>
            <a:pPr>
              <a:lnSpc>
                <a:spcPct val="106000"/>
              </a:lnSpc>
            </a:pPr>
            <a:r>
              <a:rPr lang="en-US" sz="1600" b="1" dirty="0">
                <a:solidFill>
                  <a:schemeClr val="bg1"/>
                </a:solidFill>
              </a:rPr>
              <a:t>HERC Order dated 14 Sep 2020 for Case No. HERC/PRO – 45 of 2020</a:t>
            </a:r>
          </a:p>
        </p:txBody>
      </p:sp>
      <p:sp>
        <p:nvSpPr>
          <p:cNvPr id="2" name="Rectangle: Rounded Corners 1">
            <a:extLst>
              <a:ext uri="{FF2B5EF4-FFF2-40B4-BE49-F238E27FC236}">
                <a16:creationId xmlns:a16="http://schemas.microsoft.com/office/drawing/2014/main" id="{08A84C90-E0D9-4B54-8B84-A0AB7E5AD247}"/>
              </a:ext>
            </a:extLst>
          </p:cNvPr>
          <p:cNvSpPr/>
          <p:nvPr/>
        </p:nvSpPr>
        <p:spPr bwMode="gray">
          <a:xfrm>
            <a:off x="256632" y="3051781"/>
            <a:ext cx="11396547" cy="3080657"/>
          </a:xfrm>
          <a:prstGeom prst="roundRect">
            <a:avLst/>
          </a:prstGeom>
          <a:noFill/>
          <a:ln w="19050" algn="ctr">
            <a:solidFill>
              <a:srgbClr val="43B02A"/>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 name="Oval 2">
            <a:extLst>
              <a:ext uri="{FF2B5EF4-FFF2-40B4-BE49-F238E27FC236}">
                <a16:creationId xmlns:a16="http://schemas.microsoft.com/office/drawing/2014/main" id="{DEF778F6-CE7E-4547-B612-C0E4EDEBABD3}"/>
              </a:ext>
            </a:extLst>
          </p:cNvPr>
          <p:cNvSpPr/>
          <p:nvPr/>
        </p:nvSpPr>
        <p:spPr bwMode="gray">
          <a:xfrm>
            <a:off x="3791946" y="1655159"/>
            <a:ext cx="1873405" cy="501805"/>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22723017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Precedence Cases wherein Regulator has approved Solar Tariff u/s 62 (2/2)</a:t>
            </a:r>
            <a:endParaRPr lang="en-US" sz="2400" dirty="0">
              <a:effectLst/>
              <a:latin typeface="Calibri" panose="020F0502020204030204" pitchFamily="34" charset="0"/>
              <a:ea typeface="Calibri" panose="020F0502020204030204" pitchFamily="34" charset="0"/>
            </a:endParaRPr>
          </a:p>
        </p:txBody>
      </p:sp>
      <p:sp>
        <p:nvSpPr>
          <p:cNvPr id="24" name="Rectangle 23">
            <a:extLst>
              <a:ext uri="{FF2B5EF4-FFF2-40B4-BE49-F238E27FC236}">
                <a16:creationId xmlns:a16="http://schemas.microsoft.com/office/drawing/2014/main" id="{40517E83-A0D8-4386-A7C6-CC529F04BFC9}"/>
              </a:ext>
            </a:extLst>
          </p:cNvPr>
          <p:cNvSpPr/>
          <p:nvPr/>
        </p:nvSpPr>
        <p:spPr bwMode="gray">
          <a:xfrm>
            <a:off x="501650" y="1158972"/>
            <a:ext cx="10972800" cy="2364814"/>
          </a:xfrm>
          <a:prstGeom prst="rect">
            <a:avLst/>
          </a:prstGeom>
          <a:solidFill>
            <a:srgbClr val="E8F6CF"/>
          </a:solidFill>
          <a:ln w="19050" algn="ctr">
            <a:noFill/>
            <a:miter lim="800000"/>
            <a:headEnd/>
            <a:tailEnd/>
          </a:ln>
        </p:spPr>
        <p:txBody>
          <a:bodyPr wrap="square" lIns="88900" tIns="88900" rIns="88900" bIns="88900" rtlCol="0" anchor="ctr"/>
          <a:lstStyle/>
          <a:p>
            <a:pPr>
              <a:lnSpc>
                <a:spcPct val="106000"/>
              </a:lnSpc>
              <a:spcAft>
                <a:spcPts val="200"/>
              </a:spcAft>
            </a:pPr>
            <a:r>
              <a:rPr lang="en-US" sz="1600" b="1" u="sng" dirty="0"/>
              <a:t>In the Matter of:</a:t>
            </a:r>
            <a:r>
              <a:rPr lang="en-US" sz="1600" u="sng" dirty="0"/>
              <a:t> </a:t>
            </a:r>
            <a:r>
              <a:rPr lang="en-US" sz="1600" dirty="0"/>
              <a:t>Petition </a:t>
            </a:r>
            <a:r>
              <a:rPr lang="en-US" sz="1600" b="1" dirty="0"/>
              <a:t>for approval </a:t>
            </a:r>
            <a:r>
              <a:rPr lang="en-US" sz="1600" dirty="0"/>
              <a:t>of source and draft power purchase agreement (PPA) to be executed with M/s LR Energy Pvt. Ltd for purchase of </a:t>
            </a:r>
            <a:r>
              <a:rPr lang="en-US" sz="1600" b="1" dirty="0"/>
              <a:t>20 MW solar power </a:t>
            </a:r>
            <a:r>
              <a:rPr lang="en-US" sz="1600" dirty="0"/>
              <a:t>at a tariff determined by the Commission </a:t>
            </a:r>
            <a:r>
              <a:rPr lang="en-US" sz="1600" b="1" dirty="0"/>
              <a:t>under Section 62 </a:t>
            </a:r>
            <a:r>
              <a:rPr lang="en-US" sz="1600" dirty="0"/>
              <a:t>of the Electricity Act, 2003:</a:t>
            </a:r>
          </a:p>
          <a:p>
            <a:pPr>
              <a:lnSpc>
                <a:spcPct val="106000"/>
              </a:lnSpc>
              <a:spcAft>
                <a:spcPts val="200"/>
              </a:spcAft>
            </a:pPr>
            <a:r>
              <a:rPr lang="en-US" sz="1600" b="1" u="sng" dirty="0"/>
              <a:t>Petitioner:</a:t>
            </a:r>
            <a:r>
              <a:rPr lang="en-US" sz="1600" dirty="0"/>
              <a:t> Haryana Power Purchase Centre, Panchkula (HPPC) </a:t>
            </a:r>
          </a:p>
          <a:p>
            <a:pPr>
              <a:lnSpc>
                <a:spcPct val="106000"/>
              </a:lnSpc>
              <a:spcAft>
                <a:spcPts val="200"/>
              </a:spcAft>
            </a:pPr>
            <a:r>
              <a:rPr lang="en-US" sz="1600" b="1" u="sng" dirty="0"/>
              <a:t>Respondent:</a:t>
            </a:r>
            <a:r>
              <a:rPr lang="en-US" sz="1600" dirty="0"/>
              <a:t> M/s LR Energy Pvt. Ltd </a:t>
            </a:r>
          </a:p>
          <a:p>
            <a:pPr>
              <a:lnSpc>
                <a:spcPct val="106000"/>
              </a:lnSpc>
              <a:spcAft>
                <a:spcPts val="200"/>
              </a:spcAft>
            </a:pPr>
            <a:r>
              <a:rPr lang="en-US" sz="1600" b="1" u="sng" dirty="0"/>
              <a:t>Rationale given to justify HERC’s approval of tariff u/s 62</a:t>
            </a:r>
            <a:r>
              <a:rPr lang="en-US" sz="1600" u="sng" dirty="0"/>
              <a:t>:</a:t>
            </a:r>
            <a:r>
              <a:rPr lang="en-US" sz="1600" dirty="0"/>
              <a:t>  Same rationale to that of precedence case wherein HERC approved tariff for 50 MW </a:t>
            </a:r>
            <a:r>
              <a:rPr lang="en-US" sz="1600" dirty="0" err="1"/>
              <a:t>Amplus</a:t>
            </a:r>
            <a:r>
              <a:rPr lang="en-US" sz="1600" dirty="0"/>
              <a:t> project u/s 62 for purchase by HPPC </a:t>
            </a:r>
          </a:p>
        </p:txBody>
      </p:sp>
      <p:sp>
        <p:nvSpPr>
          <p:cNvPr id="25" name="TextBox 24">
            <a:extLst>
              <a:ext uri="{FF2B5EF4-FFF2-40B4-BE49-F238E27FC236}">
                <a16:creationId xmlns:a16="http://schemas.microsoft.com/office/drawing/2014/main" id="{500D44AA-6494-45F3-AD71-BFA617297F89}"/>
              </a:ext>
            </a:extLst>
          </p:cNvPr>
          <p:cNvSpPr txBox="1"/>
          <p:nvPr/>
        </p:nvSpPr>
        <p:spPr>
          <a:xfrm>
            <a:off x="457045" y="816761"/>
            <a:ext cx="5910303" cy="342210"/>
          </a:xfrm>
          <a:prstGeom prst="rect">
            <a:avLst/>
          </a:prstGeom>
          <a:solidFill>
            <a:srgbClr val="046A38"/>
          </a:solidFill>
        </p:spPr>
        <p:txBody>
          <a:bodyPr wrap="square">
            <a:spAutoFit/>
          </a:bodyPr>
          <a:lstStyle/>
          <a:p>
            <a:pPr>
              <a:lnSpc>
                <a:spcPct val="106000"/>
              </a:lnSpc>
            </a:pPr>
            <a:r>
              <a:rPr lang="en-US" sz="1600" b="1" dirty="0">
                <a:solidFill>
                  <a:schemeClr val="bg1"/>
                </a:solidFill>
              </a:rPr>
              <a:t>HERC Order dated 14 Oct 2020 for Case No. HERC/PRO – 49 of 2020</a:t>
            </a:r>
          </a:p>
        </p:txBody>
      </p:sp>
      <p:sp>
        <p:nvSpPr>
          <p:cNvPr id="5" name="Rectangle: Rounded Corners 4">
            <a:extLst>
              <a:ext uri="{FF2B5EF4-FFF2-40B4-BE49-F238E27FC236}">
                <a16:creationId xmlns:a16="http://schemas.microsoft.com/office/drawing/2014/main" id="{F765A7FB-C70F-4EA7-93BB-B8863DD3355C}"/>
              </a:ext>
            </a:extLst>
          </p:cNvPr>
          <p:cNvSpPr/>
          <p:nvPr/>
        </p:nvSpPr>
        <p:spPr bwMode="gray">
          <a:xfrm>
            <a:off x="211872" y="2770640"/>
            <a:ext cx="11396547" cy="546411"/>
          </a:xfrm>
          <a:prstGeom prst="roundRect">
            <a:avLst/>
          </a:prstGeom>
          <a:noFill/>
          <a:ln w="19050" algn="ctr">
            <a:solidFill>
              <a:srgbClr val="012169"/>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 name="Oval 5">
            <a:extLst>
              <a:ext uri="{FF2B5EF4-FFF2-40B4-BE49-F238E27FC236}">
                <a16:creationId xmlns:a16="http://schemas.microsoft.com/office/drawing/2014/main" id="{AD2184A7-2364-492B-904D-07ABEB988847}"/>
              </a:ext>
            </a:extLst>
          </p:cNvPr>
          <p:cNvSpPr/>
          <p:nvPr/>
        </p:nvSpPr>
        <p:spPr bwMode="gray">
          <a:xfrm>
            <a:off x="2430889" y="1621740"/>
            <a:ext cx="1873405" cy="407784"/>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62042666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Regulatory Provision for Sale of Solar Power to Rajasthan DISCOMs under Section 62 of EA 2003 (1/2)</a:t>
            </a:r>
            <a:endParaRPr lang="en-US" sz="2400" dirty="0">
              <a:effectLst/>
              <a:latin typeface="Calibri" panose="020F0502020204030204" pitchFamily="34" charset="0"/>
              <a:ea typeface="Calibri" panose="020F0502020204030204" pitchFamily="34" charset="0"/>
            </a:endParaRPr>
          </a:p>
        </p:txBody>
      </p:sp>
      <p:sp>
        <p:nvSpPr>
          <p:cNvPr id="10" name="TextBox 9">
            <a:extLst>
              <a:ext uri="{FF2B5EF4-FFF2-40B4-BE49-F238E27FC236}">
                <a16:creationId xmlns:a16="http://schemas.microsoft.com/office/drawing/2014/main" id="{F025D5B7-273E-4757-8279-45F5B51B2776}"/>
              </a:ext>
            </a:extLst>
          </p:cNvPr>
          <p:cNvSpPr txBox="1"/>
          <p:nvPr/>
        </p:nvSpPr>
        <p:spPr>
          <a:xfrm>
            <a:off x="316588" y="1081661"/>
            <a:ext cx="11548836" cy="730072"/>
          </a:xfrm>
          <a:prstGeom prst="rect">
            <a:avLst/>
          </a:prstGeom>
          <a:solidFill>
            <a:srgbClr val="EBFCCC"/>
          </a:solidFill>
          <a:ln>
            <a:solidFill>
              <a:schemeClr val="bg1"/>
            </a:solidFill>
          </a:ln>
        </p:spPr>
        <p:txBody>
          <a:bodyPr wrap="square" lIns="91440" tIns="91440" rIns="91440" bIns="91440" rtlCol="0">
            <a:spAutoFit/>
          </a:bodyPr>
          <a:lstStyle/>
          <a:p>
            <a:pPr algn="just">
              <a:lnSpc>
                <a:spcPct val="114000"/>
              </a:lnSpc>
              <a:spcAft>
                <a:spcPts val="1200"/>
              </a:spcAft>
              <a:buSzPct val="100000"/>
            </a:pPr>
            <a:r>
              <a:rPr lang="en-US" sz="1600" dirty="0"/>
              <a:t>Section 62 of Electricity Act 2003, provides for sale of power directly to DISCOMs without going into competitive bidding. The concerned Electricity Regulatory Commission (RERC in this case) will determine the tariff for such sale of power by Genco to DISCOM</a:t>
            </a:r>
            <a:endParaRPr lang="en-US" sz="1600" u="sng" dirty="0"/>
          </a:p>
        </p:txBody>
      </p:sp>
      <p:sp>
        <p:nvSpPr>
          <p:cNvPr id="11" name="TextBox 10">
            <a:extLst>
              <a:ext uri="{FF2B5EF4-FFF2-40B4-BE49-F238E27FC236}">
                <a16:creationId xmlns:a16="http://schemas.microsoft.com/office/drawing/2014/main" id="{47718AC1-159A-4326-A5EC-EE6BA572291E}"/>
              </a:ext>
            </a:extLst>
          </p:cNvPr>
          <p:cNvSpPr txBox="1"/>
          <p:nvPr/>
        </p:nvSpPr>
        <p:spPr>
          <a:xfrm>
            <a:off x="316587" y="1958495"/>
            <a:ext cx="11548835" cy="584775"/>
          </a:xfrm>
          <a:prstGeom prst="rect">
            <a:avLst/>
          </a:prstGeom>
          <a:noFill/>
        </p:spPr>
        <p:txBody>
          <a:bodyPr wrap="square">
            <a:spAutoFit/>
          </a:bodyPr>
          <a:lstStyle/>
          <a:p>
            <a:r>
              <a:rPr lang="en-US" sz="1600" b="1" dirty="0">
                <a:latin typeface="Calibri" panose="020F0502020204030204" pitchFamily="34" charset="0"/>
              </a:rPr>
              <a:t>Regulatory provisions: Clause on Project specific tariff from RERC (Terms and Conditions for Tariff determination from Renewable Energy Sources) Regulations, 2020</a:t>
            </a:r>
            <a:endParaRPr lang="en-US" sz="1600" dirty="0"/>
          </a:p>
        </p:txBody>
      </p:sp>
      <p:sp>
        <p:nvSpPr>
          <p:cNvPr id="12" name="TextBox 11">
            <a:extLst>
              <a:ext uri="{FF2B5EF4-FFF2-40B4-BE49-F238E27FC236}">
                <a16:creationId xmlns:a16="http://schemas.microsoft.com/office/drawing/2014/main" id="{C421C5B6-E9CC-4292-B014-6AFEA9769A44}"/>
              </a:ext>
            </a:extLst>
          </p:cNvPr>
          <p:cNvSpPr txBox="1"/>
          <p:nvPr/>
        </p:nvSpPr>
        <p:spPr>
          <a:xfrm>
            <a:off x="316587" y="2620137"/>
            <a:ext cx="11363772" cy="3785652"/>
          </a:xfrm>
          <a:prstGeom prst="rect">
            <a:avLst/>
          </a:prstGeom>
          <a:noFill/>
          <a:ln>
            <a:solidFill>
              <a:srgbClr val="43B02A"/>
            </a:solidFill>
          </a:ln>
        </p:spPr>
        <p:txBody>
          <a:bodyPr wrap="square">
            <a:spAutoFit/>
          </a:bodyPr>
          <a:lstStyle/>
          <a:p>
            <a:pPr marL="0" marR="0">
              <a:spcBef>
                <a:spcPts val="0"/>
              </a:spcBef>
              <a:spcAft>
                <a:spcPts val="0"/>
              </a:spcAft>
            </a:pPr>
            <a:r>
              <a:rPr lang="en-US" sz="1600" b="1" dirty="0">
                <a:effectLst/>
                <a:latin typeface="Calibri" panose="020F0502020204030204" pitchFamily="34" charset="0"/>
                <a:ea typeface="Calibri" panose="020F0502020204030204" pitchFamily="34" charset="0"/>
              </a:rPr>
              <a:t>Reg. 11 Petition and proceedings for determination of tariff:</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“11.1 In case of Renewable Energy projects for which generic tariff has to be determined as per these Regulations</a:t>
            </a:r>
            <a:r>
              <a:rPr lang="en-US" sz="1600" b="1" dirty="0">
                <a:effectLst/>
                <a:latin typeface="Calibri" panose="020F0502020204030204" pitchFamily="34" charset="0"/>
                <a:ea typeface="Calibri" panose="020F0502020204030204" pitchFamily="34" charset="0"/>
              </a:rPr>
              <a:t>, the Commission may determine such generic tariff</a:t>
            </a:r>
            <a:r>
              <a:rPr lang="en-US" sz="1600" dirty="0">
                <a:effectLst/>
                <a:latin typeface="Calibri" panose="020F0502020204030204" pitchFamily="34" charset="0"/>
                <a:ea typeface="Calibri" panose="020F0502020204030204" pitchFamily="34" charset="0"/>
              </a:rPr>
              <a:t> on Suo-motu basis at the beginning of each year of the Control Period:</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Provided that for first year of Control Period, i.e., from 1.4.2020 to 31.3.2021, the Generic Tariff Order shall be issued after notification of these Regulations.</a:t>
            </a:r>
          </a:p>
          <a:p>
            <a:pPr marL="0" marR="0">
              <a:spcBef>
                <a:spcPts val="0"/>
              </a:spcBef>
              <a:spcAft>
                <a:spcPts val="0"/>
              </a:spcAft>
            </a:pP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11.2 A petition for determination of project specific tariff shall be accompanied by such fee as specified in applicable Regulations and shall be accompanied by:</a:t>
            </a:r>
          </a:p>
          <a:p>
            <a:pPr marL="0" marR="0">
              <a:spcBef>
                <a:spcPts val="0"/>
              </a:spcBef>
              <a:spcAft>
                <a:spcPts val="0"/>
              </a:spcAft>
            </a:pP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a) Information in forms 1.1,1.2, 2.1,2.2 and 2.3 as the case may be, and as appended in these Regulations;</a:t>
            </a:r>
          </a:p>
          <a:p>
            <a:pPr marL="0" marR="0">
              <a:spcBef>
                <a:spcPts val="0"/>
              </a:spcBef>
              <a:spcAft>
                <a:spcPts val="0"/>
              </a:spcAft>
            </a:pP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b) Detailed project report outlining technical and operational details, site specific aspects, premise for capital cost and financing plan, details of installation, manufacturer’s/supplier’s guaranteed and other technical particulars, recommended O&amp;M practices and public safety requirements, etc.</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a:t>
            </a:r>
          </a:p>
        </p:txBody>
      </p:sp>
    </p:spTree>
    <p:extLst>
      <p:ext uri="{BB962C8B-B14F-4D97-AF65-F5344CB8AC3E}">
        <p14:creationId xmlns:p14="http://schemas.microsoft.com/office/powerpoint/2010/main" val="390864637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Regulatory Provision for Sale of Solar Power to Rajasthan DISCOMs under Section 62 of EA 2003 (2/2)</a:t>
            </a:r>
            <a:endParaRPr lang="en-US" sz="2400" dirty="0">
              <a:effectLst/>
              <a:latin typeface="Calibri" panose="020F0502020204030204" pitchFamily="34" charset="0"/>
              <a:ea typeface="Calibri" panose="020F0502020204030204" pitchFamily="34" charset="0"/>
            </a:endParaRPr>
          </a:p>
        </p:txBody>
      </p:sp>
      <p:sp>
        <p:nvSpPr>
          <p:cNvPr id="11" name="TextBox 10">
            <a:extLst>
              <a:ext uri="{FF2B5EF4-FFF2-40B4-BE49-F238E27FC236}">
                <a16:creationId xmlns:a16="http://schemas.microsoft.com/office/drawing/2014/main" id="{47718AC1-159A-4326-A5EC-EE6BA572291E}"/>
              </a:ext>
            </a:extLst>
          </p:cNvPr>
          <p:cNvSpPr txBox="1"/>
          <p:nvPr/>
        </p:nvSpPr>
        <p:spPr>
          <a:xfrm>
            <a:off x="316587" y="1342526"/>
            <a:ext cx="11456303" cy="584775"/>
          </a:xfrm>
          <a:prstGeom prst="rect">
            <a:avLst/>
          </a:prstGeom>
          <a:noFill/>
        </p:spPr>
        <p:txBody>
          <a:bodyPr wrap="square">
            <a:spAutoFit/>
          </a:bodyPr>
          <a:lstStyle/>
          <a:p>
            <a:r>
              <a:rPr lang="en-US" sz="1600" b="1" dirty="0">
                <a:latin typeface="Calibri" panose="020F0502020204030204" pitchFamily="34" charset="0"/>
              </a:rPr>
              <a:t>Regulatory provisions: Clause on Project specific tariff from RERC (Terms and Conditions for Tariff determination from Renewable Energy Sources) Regulations, 2020 (</a:t>
            </a:r>
            <a:r>
              <a:rPr lang="en-US" sz="1600" b="1" dirty="0" err="1">
                <a:latin typeface="Calibri" panose="020F0502020204030204" pitchFamily="34" charset="0"/>
              </a:rPr>
              <a:t>contd</a:t>
            </a:r>
            <a:r>
              <a:rPr lang="en-US" sz="1600" b="1" dirty="0">
                <a:latin typeface="Calibri" panose="020F0502020204030204" pitchFamily="34" charset="0"/>
              </a:rPr>
              <a:t>…)</a:t>
            </a:r>
            <a:endParaRPr lang="en-US" sz="1600" dirty="0"/>
          </a:p>
        </p:txBody>
      </p:sp>
      <p:sp>
        <p:nvSpPr>
          <p:cNvPr id="12" name="TextBox 11">
            <a:extLst>
              <a:ext uri="{FF2B5EF4-FFF2-40B4-BE49-F238E27FC236}">
                <a16:creationId xmlns:a16="http://schemas.microsoft.com/office/drawing/2014/main" id="{C421C5B6-E9CC-4292-B014-6AFEA9769A44}"/>
              </a:ext>
            </a:extLst>
          </p:cNvPr>
          <p:cNvSpPr txBox="1"/>
          <p:nvPr/>
        </p:nvSpPr>
        <p:spPr>
          <a:xfrm>
            <a:off x="326578" y="2052170"/>
            <a:ext cx="11363772" cy="2308324"/>
          </a:xfrm>
          <a:prstGeom prst="rect">
            <a:avLst/>
          </a:prstGeom>
          <a:noFill/>
          <a:ln>
            <a:solidFill>
              <a:srgbClr val="43B02A"/>
            </a:solidFill>
          </a:ln>
        </p:spPr>
        <p:txBody>
          <a:bodyPr wrap="square">
            <a:spAutoFit/>
          </a:bodyPr>
          <a:lstStyle/>
          <a:p>
            <a:pPr marL="0" marR="0">
              <a:spcBef>
                <a:spcPts val="0"/>
              </a:spcBef>
              <a:spcAft>
                <a:spcPts val="0"/>
              </a:spcAft>
            </a:pPr>
            <a:r>
              <a:rPr lang="en-US" sz="1600" dirty="0">
                <a:effectLst/>
                <a:latin typeface="Calibri" panose="020F0502020204030204" pitchFamily="34" charset="0"/>
                <a:ea typeface="Calibri" panose="020F0502020204030204" pitchFamily="34" charset="0"/>
              </a:rPr>
              <a:t>e) </a:t>
            </a:r>
            <a:r>
              <a:rPr lang="en-US" sz="1600" b="1" dirty="0">
                <a:effectLst/>
                <a:latin typeface="Calibri" panose="020F0502020204030204" pitchFamily="34" charset="0"/>
                <a:ea typeface="Calibri" panose="020F0502020204030204" pitchFamily="34" charset="0"/>
              </a:rPr>
              <a:t>Consent from Distribution Licensee or beneficiary for procurement </a:t>
            </a:r>
            <a:r>
              <a:rPr lang="en-US" sz="1600" dirty="0">
                <a:effectLst/>
                <a:latin typeface="Calibri" panose="020F0502020204030204" pitchFamily="34" charset="0"/>
                <a:ea typeface="Calibri" panose="020F0502020204030204" pitchFamily="34" charset="0"/>
              </a:rPr>
              <a:t>of power from Renewable Energy Project at tariff approved by the Commission, in the form of </a:t>
            </a:r>
            <a:r>
              <a:rPr lang="en-US" sz="1600" dirty="0" err="1">
                <a:effectLst/>
                <a:latin typeface="Calibri" panose="020F0502020204030204" pitchFamily="34" charset="0"/>
                <a:ea typeface="Calibri" panose="020F0502020204030204" pitchFamily="34" charset="0"/>
              </a:rPr>
              <a:t>Initialled</a:t>
            </a:r>
            <a:r>
              <a:rPr lang="en-US" sz="1600" dirty="0">
                <a:effectLst/>
                <a:latin typeface="Calibri" panose="020F0502020204030204" pitchFamily="34" charset="0"/>
                <a:ea typeface="Calibri" panose="020F0502020204030204" pitchFamily="34" charset="0"/>
              </a:rPr>
              <a:t> Power Purchase Agreement:</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Provided that the </a:t>
            </a:r>
            <a:r>
              <a:rPr lang="en-US" sz="1600" b="1" dirty="0">
                <a:effectLst/>
                <a:latin typeface="Calibri" panose="020F0502020204030204" pitchFamily="34" charset="0"/>
                <a:ea typeface="Calibri" panose="020F0502020204030204" pitchFamily="34" charset="0"/>
              </a:rPr>
              <a:t>consent</a:t>
            </a:r>
            <a:r>
              <a:rPr lang="en-US" sz="1600" dirty="0">
                <a:effectLst/>
                <a:latin typeface="Calibri" panose="020F0502020204030204" pitchFamily="34" charset="0"/>
                <a:ea typeface="Calibri" panose="020F0502020204030204" pitchFamily="34" charset="0"/>
              </a:rPr>
              <a:t> from Distribution Licensee </a:t>
            </a:r>
            <a:r>
              <a:rPr lang="en-US" sz="1600" b="1" dirty="0">
                <a:effectLst/>
                <a:latin typeface="Calibri" panose="020F0502020204030204" pitchFamily="34" charset="0"/>
                <a:ea typeface="Calibri" panose="020F0502020204030204" pitchFamily="34" charset="0"/>
              </a:rPr>
              <a:t>shall also include the following</a:t>
            </a:r>
            <a:r>
              <a:rPr lang="en-US" sz="1600" dirty="0">
                <a:effectLst/>
                <a:latin typeface="Calibri" panose="020F0502020204030204" pitchFamily="34" charset="0"/>
                <a:ea typeface="Calibri" panose="020F0502020204030204" pitchFamily="34" charset="0"/>
              </a:rPr>
              <a:t>:</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a:t>
            </a:r>
          </a:p>
          <a:p>
            <a:pPr marL="0" marR="0">
              <a:spcBef>
                <a:spcPts val="0"/>
              </a:spcBef>
              <a:spcAft>
                <a:spcPts val="0"/>
              </a:spcAft>
            </a:pPr>
            <a:r>
              <a:rPr lang="en-US" sz="1600" dirty="0">
                <a:effectLst/>
                <a:latin typeface="Calibri" panose="020F0502020204030204" pitchFamily="34" charset="0"/>
                <a:ea typeface="Calibri" panose="020F0502020204030204" pitchFamily="34" charset="0"/>
              </a:rPr>
              <a:t>f) </a:t>
            </a:r>
            <a:r>
              <a:rPr lang="en-US" sz="1600" b="1" dirty="0">
                <a:effectLst/>
                <a:latin typeface="Calibri" panose="020F0502020204030204" pitchFamily="34" charset="0"/>
                <a:ea typeface="Calibri" panose="020F0502020204030204" pitchFamily="34" charset="0"/>
              </a:rPr>
              <a:t>Following documents</a:t>
            </a:r>
            <a:r>
              <a:rPr lang="en-US" sz="1600" dirty="0">
                <a:effectLst/>
                <a:latin typeface="Calibri" panose="020F0502020204030204" pitchFamily="34" charset="0"/>
                <a:ea typeface="Calibri" panose="020F0502020204030204" pitchFamily="34" charset="0"/>
              </a:rPr>
              <a:t> in case of petition for determination of project specific tariff by renewable energy projects, where tariff from such renewable energy sources is generally determined through competitive bidding process in accordance with provisions of Section 63 of the Act:</a:t>
            </a:r>
          </a:p>
          <a:p>
            <a:pPr marL="0" marR="0">
              <a:spcBef>
                <a:spcPts val="0"/>
              </a:spcBef>
              <a:spcAft>
                <a:spcPts val="0"/>
              </a:spcAft>
            </a:pPr>
            <a:r>
              <a:rPr lang="en-US" sz="1600" b="1" dirty="0" err="1">
                <a:effectLst/>
                <a:latin typeface="Calibri" panose="020F0502020204030204" pitchFamily="34" charset="0"/>
                <a:ea typeface="Calibri" panose="020F0502020204030204" pitchFamily="34" charset="0"/>
              </a:rPr>
              <a:t>i</a:t>
            </a:r>
            <a:r>
              <a:rPr lang="en-US" sz="1600" b="1" dirty="0">
                <a:effectLst/>
                <a:latin typeface="Calibri" panose="020F0502020204030204" pitchFamily="34" charset="0"/>
                <a:ea typeface="Calibri" panose="020F0502020204030204" pitchFamily="34" charset="0"/>
              </a:rPr>
              <a:t>) Rationale for opting project specific tariff instead of competitive bidding</a:t>
            </a:r>
          </a:p>
          <a:p>
            <a:pPr marL="0" marR="0">
              <a:spcBef>
                <a:spcPts val="0"/>
              </a:spcBef>
              <a:spcAft>
                <a:spcPts val="0"/>
              </a:spcAft>
            </a:pPr>
            <a:r>
              <a:rPr lang="en-US" sz="1600" b="1" dirty="0">
                <a:effectLst/>
                <a:latin typeface="Calibri" panose="020F0502020204030204" pitchFamily="34" charset="0"/>
                <a:ea typeface="Calibri" panose="020F0502020204030204" pitchFamily="34" charset="0"/>
              </a:rPr>
              <a:t>ii) Competitiveness of the proposed tariff vis-à-vis tariff discovered through Competitive Bidding/tariff prevalent in the market</a:t>
            </a:r>
            <a:r>
              <a:rPr lang="en-US" sz="1600" dirty="0">
                <a:effectLst/>
                <a:latin typeface="Calibri" panose="020F0502020204030204" pitchFamily="34" charset="0"/>
                <a:ea typeface="Calibri" panose="020F0502020204030204" pitchFamily="34" charset="0"/>
              </a:rPr>
              <a:t>.”</a:t>
            </a:r>
          </a:p>
        </p:txBody>
      </p:sp>
      <p:sp>
        <p:nvSpPr>
          <p:cNvPr id="7" name="Rectangle 6">
            <a:extLst>
              <a:ext uri="{FF2B5EF4-FFF2-40B4-BE49-F238E27FC236}">
                <a16:creationId xmlns:a16="http://schemas.microsoft.com/office/drawing/2014/main" id="{84E32F0F-6BBF-4A74-AAC3-6DE9A7425923}"/>
              </a:ext>
            </a:extLst>
          </p:cNvPr>
          <p:cNvSpPr/>
          <p:nvPr/>
        </p:nvSpPr>
        <p:spPr bwMode="gray">
          <a:xfrm>
            <a:off x="2533950" y="4689466"/>
            <a:ext cx="9146245" cy="850132"/>
          </a:xfrm>
          <a:prstGeom prst="rect">
            <a:avLst/>
          </a:prstGeom>
          <a:solidFill>
            <a:schemeClr val="accent2">
              <a:lumMod val="20000"/>
              <a:lumOff val="80000"/>
            </a:schemeClr>
          </a:solidFill>
          <a:ln w="19050" algn="ctr">
            <a:noFill/>
            <a:miter lim="800000"/>
            <a:headEnd/>
            <a:tailEnd/>
          </a:ln>
        </p:spPr>
        <p:txBody>
          <a:bodyPr wrap="square" lIns="40500" tIns="40500" rIns="27000" bIns="27000" rtlCol="0" anchor="ctr"/>
          <a:lstStyle/>
          <a:p>
            <a:pPr marL="26987">
              <a:lnSpc>
                <a:spcPct val="114000"/>
              </a:lnSpc>
              <a:spcAft>
                <a:spcPts val="600"/>
              </a:spcAft>
            </a:pPr>
            <a:r>
              <a:rPr lang="en-US" sz="1600" dirty="0">
                <a:solidFill>
                  <a:prstClr val="black"/>
                </a:solidFill>
              </a:rPr>
              <a:t>For sale of power to DISCOM u/s 62, tariff needs to be comparable with prevalent tariffs discovered through competitive bidding</a:t>
            </a:r>
          </a:p>
        </p:txBody>
      </p:sp>
      <p:sp>
        <p:nvSpPr>
          <p:cNvPr id="8" name="Rectangle 7">
            <a:extLst>
              <a:ext uri="{FF2B5EF4-FFF2-40B4-BE49-F238E27FC236}">
                <a16:creationId xmlns:a16="http://schemas.microsoft.com/office/drawing/2014/main" id="{490FF0A9-E748-4683-8640-E3D9F453ECA6}"/>
              </a:ext>
            </a:extLst>
          </p:cNvPr>
          <p:cNvSpPr/>
          <p:nvPr/>
        </p:nvSpPr>
        <p:spPr bwMode="gray">
          <a:xfrm rot="5400000" flipV="1">
            <a:off x="2040391" y="5088197"/>
            <a:ext cx="835444" cy="67357"/>
          </a:xfrm>
          <a:prstGeom prst="rect">
            <a:avLst/>
          </a:prstGeom>
          <a:solidFill>
            <a:srgbClr val="66905C"/>
          </a:solidFill>
          <a:ln w="19050" algn="ctr">
            <a:solidFill>
              <a:srgbClr val="66905C"/>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9" name="TextBox 8">
            <a:extLst>
              <a:ext uri="{FF2B5EF4-FFF2-40B4-BE49-F238E27FC236}">
                <a16:creationId xmlns:a16="http://schemas.microsoft.com/office/drawing/2014/main" id="{7FC29E48-0145-4DC9-B8E3-D1256B3DAF43}"/>
              </a:ext>
            </a:extLst>
          </p:cNvPr>
          <p:cNvSpPr txBox="1"/>
          <p:nvPr/>
        </p:nvSpPr>
        <p:spPr>
          <a:xfrm>
            <a:off x="1110709" y="4786345"/>
            <a:ext cx="1360611" cy="738664"/>
          </a:xfrm>
          <a:prstGeom prst="rect">
            <a:avLst/>
          </a:prstGeom>
          <a:noFill/>
        </p:spPr>
        <p:txBody>
          <a:bodyPr wrap="square" lIns="0" tIns="0" rIns="0" bIns="0" rtlCol="0">
            <a:spAutoFit/>
          </a:bodyPr>
          <a:lstStyle/>
          <a:p>
            <a:pPr>
              <a:spcBef>
                <a:spcPts val="600"/>
              </a:spcBef>
              <a:buSzPct val="100000"/>
            </a:pPr>
            <a:r>
              <a:rPr lang="en-US" sz="1600" b="1" dirty="0">
                <a:solidFill>
                  <a:srgbClr val="66905C"/>
                </a:solidFill>
              </a:rPr>
              <a:t>Key Considerations for CIL</a:t>
            </a:r>
          </a:p>
        </p:txBody>
      </p:sp>
      <p:grpSp>
        <p:nvGrpSpPr>
          <p:cNvPr id="13" name="Group 12">
            <a:extLst>
              <a:ext uri="{FF2B5EF4-FFF2-40B4-BE49-F238E27FC236}">
                <a16:creationId xmlns:a16="http://schemas.microsoft.com/office/drawing/2014/main" id="{5DFFF338-6B01-4F0D-AAE3-81F2AAD8E27B}"/>
              </a:ext>
            </a:extLst>
          </p:cNvPr>
          <p:cNvGrpSpPr/>
          <p:nvPr/>
        </p:nvGrpSpPr>
        <p:grpSpPr>
          <a:xfrm>
            <a:off x="316587" y="4731296"/>
            <a:ext cx="675511" cy="738664"/>
            <a:chOff x="4462296" y="4296312"/>
            <a:chExt cx="795503" cy="796056"/>
          </a:xfrm>
        </p:grpSpPr>
        <p:sp>
          <p:nvSpPr>
            <p:cNvPr id="14" name="Oval 103">
              <a:extLst>
                <a:ext uri="{FF2B5EF4-FFF2-40B4-BE49-F238E27FC236}">
                  <a16:creationId xmlns:a16="http://schemas.microsoft.com/office/drawing/2014/main" id="{63350957-DB25-4443-B876-8998E38EB2B2}"/>
                </a:ext>
              </a:extLst>
            </p:cNvPr>
            <p:cNvSpPr>
              <a:spLocks noChangeArrowheads="1"/>
            </p:cNvSpPr>
            <p:nvPr/>
          </p:nvSpPr>
          <p:spPr bwMode="auto">
            <a:xfrm>
              <a:off x="4462296" y="4296312"/>
              <a:ext cx="795503" cy="796056"/>
            </a:xfrm>
            <a:prstGeom prst="ellipse">
              <a:avLst/>
            </a:prstGeom>
            <a:solidFill>
              <a:srgbClr val="66905C"/>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nvGrpSpPr>
            <p:cNvPr id="15" name="Group 14">
              <a:extLst>
                <a:ext uri="{FF2B5EF4-FFF2-40B4-BE49-F238E27FC236}">
                  <a16:creationId xmlns:a16="http://schemas.microsoft.com/office/drawing/2014/main" id="{FD2B78BC-B596-4A44-A5F4-00198446791B}"/>
                </a:ext>
              </a:extLst>
            </p:cNvPr>
            <p:cNvGrpSpPr/>
            <p:nvPr/>
          </p:nvGrpSpPr>
          <p:grpSpPr>
            <a:xfrm>
              <a:off x="4604235" y="4401828"/>
              <a:ext cx="531859" cy="541479"/>
              <a:chOff x="7616206" y="2022308"/>
              <a:chExt cx="1843088" cy="1876425"/>
            </a:xfrm>
            <a:solidFill>
              <a:sysClr val="window" lastClr="FFFFFF"/>
            </a:solidFill>
          </p:grpSpPr>
          <p:sp>
            <p:nvSpPr>
              <p:cNvPr id="16" name="Freeform 38">
                <a:extLst>
                  <a:ext uri="{FF2B5EF4-FFF2-40B4-BE49-F238E27FC236}">
                    <a16:creationId xmlns:a16="http://schemas.microsoft.com/office/drawing/2014/main" id="{5520A8E1-AFFC-47D0-B88F-4917DBEB140C}"/>
                  </a:ext>
                </a:extLst>
              </p:cNvPr>
              <p:cNvSpPr>
                <a:spLocks/>
              </p:cNvSpPr>
              <p:nvPr/>
            </p:nvSpPr>
            <p:spPr bwMode="auto">
              <a:xfrm>
                <a:off x="8260731" y="2836696"/>
                <a:ext cx="417513" cy="417513"/>
              </a:xfrm>
              <a:custGeom>
                <a:avLst/>
                <a:gdLst>
                  <a:gd name="T0" fmla="*/ 25 w 37"/>
                  <a:gd name="T1" fmla="*/ 1 h 37"/>
                  <a:gd name="T2" fmla="*/ 18 w 37"/>
                  <a:gd name="T3" fmla="*/ 0 h 37"/>
                  <a:gd name="T4" fmla="*/ 0 w 37"/>
                  <a:gd name="T5" fmla="*/ 18 h 37"/>
                  <a:gd name="T6" fmla="*/ 18 w 37"/>
                  <a:gd name="T7" fmla="*/ 37 h 37"/>
                  <a:gd name="T8" fmla="*/ 37 w 37"/>
                  <a:gd name="T9" fmla="*/ 18 h 37"/>
                  <a:gd name="T10" fmla="*/ 36 w 37"/>
                  <a:gd name="T11" fmla="*/ 13 h 37"/>
                  <a:gd name="T12" fmla="*/ 28 w 37"/>
                  <a:gd name="T13" fmla="*/ 22 h 37"/>
                  <a:gd name="T14" fmla="*/ 22 w 37"/>
                  <a:gd name="T15" fmla="*/ 24 h 37"/>
                  <a:gd name="T16" fmla="*/ 17 w 37"/>
                  <a:gd name="T17" fmla="*/ 22 h 37"/>
                  <a:gd name="T18" fmla="*/ 14 w 37"/>
                  <a:gd name="T19" fmla="*/ 16 h 37"/>
                  <a:gd name="T20" fmla="*/ 16 w 37"/>
                  <a:gd name="T21" fmla="*/ 11 h 37"/>
                  <a:gd name="T22" fmla="*/ 25 w 37"/>
                  <a:gd name="T23" fmla="*/ 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37">
                    <a:moveTo>
                      <a:pt x="25" y="1"/>
                    </a:moveTo>
                    <a:cubicBezTo>
                      <a:pt x="23" y="0"/>
                      <a:pt x="21" y="0"/>
                      <a:pt x="18" y="0"/>
                    </a:cubicBezTo>
                    <a:cubicBezTo>
                      <a:pt x="8" y="0"/>
                      <a:pt x="0" y="8"/>
                      <a:pt x="0" y="18"/>
                    </a:cubicBezTo>
                    <a:cubicBezTo>
                      <a:pt x="0" y="29"/>
                      <a:pt x="8" y="37"/>
                      <a:pt x="18" y="37"/>
                    </a:cubicBezTo>
                    <a:cubicBezTo>
                      <a:pt x="29" y="37"/>
                      <a:pt x="37" y="29"/>
                      <a:pt x="37" y="18"/>
                    </a:cubicBezTo>
                    <a:cubicBezTo>
                      <a:pt x="37" y="16"/>
                      <a:pt x="37" y="15"/>
                      <a:pt x="36" y="13"/>
                    </a:cubicBezTo>
                    <a:cubicBezTo>
                      <a:pt x="28" y="22"/>
                      <a:pt x="28" y="22"/>
                      <a:pt x="28" y="22"/>
                    </a:cubicBezTo>
                    <a:cubicBezTo>
                      <a:pt x="26" y="24"/>
                      <a:pt x="24" y="24"/>
                      <a:pt x="22" y="24"/>
                    </a:cubicBezTo>
                    <a:cubicBezTo>
                      <a:pt x="20" y="24"/>
                      <a:pt x="18" y="24"/>
                      <a:pt x="17" y="22"/>
                    </a:cubicBezTo>
                    <a:cubicBezTo>
                      <a:pt x="15" y="20"/>
                      <a:pt x="14" y="18"/>
                      <a:pt x="14" y="16"/>
                    </a:cubicBezTo>
                    <a:cubicBezTo>
                      <a:pt x="14" y="14"/>
                      <a:pt x="15" y="12"/>
                      <a:pt x="16" y="11"/>
                    </a:cubicBezTo>
                    <a:lnTo>
                      <a:pt x="2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17" name="Freeform 39">
                <a:extLst>
                  <a:ext uri="{FF2B5EF4-FFF2-40B4-BE49-F238E27FC236}">
                    <a16:creationId xmlns:a16="http://schemas.microsoft.com/office/drawing/2014/main" id="{0344572F-63D6-4B1A-825F-A4853DFE3D80}"/>
                  </a:ext>
                </a:extLst>
              </p:cNvPr>
              <p:cNvSpPr>
                <a:spLocks/>
              </p:cNvSpPr>
              <p:nvPr/>
            </p:nvSpPr>
            <p:spPr bwMode="auto">
              <a:xfrm>
                <a:off x="7921006" y="2508083"/>
                <a:ext cx="1096963" cy="1096963"/>
              </a:xfrm>
              <a:custGeom>
                <a:avLst/>
                <a:gdLst>
                  <a:gd name="T0" fmla="*/ 82 w 97"/>
                  <a:gd name="T1" fmla="*/ 48 h 97"/>
                  <a:gd name="T2" fmla="*/ 48 w 97"/>
                  <a:gd name="T3" fmla="*/ 82 h 97"/>
                  <a:gd name="T4" fmla="*/ 15 w 97"/>
                  <a:gd name="T5" fmla="*/ 48 h 97"/>
                  <a:gd name="T6" fmla="*/ 48 w 97"/>
                  <a:gd name="T7" fmla="*/ 15 h 97"/>
                  <a:gd name="T8" fmla="*/ 65 w 97"/>
                  <a:gd name="T9" fmla="*/ 19 h 97"/>
                  <a:gd name="T10" fmla="*/ 76 w 97"/>
                  <a:gd name="T11" fmla="*/ 8 h 97"/>
                  <a:gd name="T12" fmla="*/ 48 w 97"/>
                  <a:gd name="T13" fmla="*/ 0 h 97"/>
                  <a:gd name="T14" fmla="*/ 0 w 97"/>
                  <a:gd name="T15" fmla="*/ 48 h 97"/>
                  <a:gd name="T16" fmla="*/ 48 w 97"/>
                  <a:gd name="T17" fmla="*/ 97 h 97"/>
                  <a:gd name="T18" fmla="*/ 97 w 97"/>
                  <a:gd name="T19" fmla="*/ 48 h 97"/>
                  <a:gd name="T20" fmla="*/ 92 w 97"/>
                  <a:gd name="T21" fmla="*/ 27 h 97"/>
                  <a:gd name="T22" fmla="*/ 80 w 97"/>
                  <a:gd name="T23" fmla="*/ 36 h 97"/>
                  <a:gd name="T24" fmla="*/ 82 w 97"/>
                  <a:gd name="T25"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97">
                    <a:moveTo>
                      <a:pt x="82" y="48"/>
                    </a:moveTo>
                    <a:cubicBezTo>
                      <a:pt x="82" y="67"/>
                      <a:pt x="67" y="82"/>
                      <a:pt x="48" y="82"/>
                    </a:cubicBezTo>
                    <a:cubicBezTo>
                      <a:pt x="30" y="82"/>
                      <a:pt x="15" y="67"/>
                      <a:pt x="15" y="48"/>
                    </a:cubicBezTo>
                    <a:cubicBezTo>
                      <a:pt x="15" y="30"/>
                      <a:pt x="30" y="15"/>
                      <a:pt x="48" y="15"/>
                    </a:cubicBezTo>
                    <a:cubicBezTo>
                      <a:pt x="55" y="15"/>
                      <a:pt x="60" y="16"/>
                      <a:pt x="65" y="19"/>
                    </a:cubicBezTo>
                    <a:cubicBezTo>
                      <a:pt x="76" y="8"/>
                      <a:pt x="76" y="8"/>
                      <a:pt x="76" y="8"/>
                    </a:cubicBezTo>
                    <a:cubicBezTo>
                      <a:pt x="68" y="3"/>
                      <a:pt x="59" y="0"/>
                      <a:pt x="48" y="0"/>
                    </a:cubicBezTo>
                    <a:cubicBezTo>
                      <a:pt x="21" y="0"/>
                      <a:pt x="0" y="21"/>
                      <a:pt x="0" y="48"/>
                    </a:cubicBezTo>
                    <a:cubicBezTo>
                      <a:pt x="0" y="75"/>
                      <a:pt x="21" y="97"/>
                      <a:pt x="48" y="97"/>
                    </a:cubicBezTo>
                    <a:cubicBezTo>
                      <a:pt x="75" y="97"/>
                      <a:pt x="97" y="75"/>
                      <a:pt x="97" y="48"/>
                    </a:cubicBezTo>
                    <a:cubicBezTo>
                      <a:pt x="97" y="41"/>
                      <a:pt x="95" y="34"/>
                      <a:pt x="92" y="27"/>
                    </a:cubicBezTo>
                    <a:cubicBezTo>
                      <a:pt x="80" y="36"/>
                      <a:pt x="80" y="36"/>
                      <a:pt x="80" y="36"/>
                    </a:cubicBezTo>
                    <a:cubicBezTo>
                      <a:pt x="81" y="40"/>
                      <a:pt x="82" y="44"/>
                      <a:pt x="8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18" name="Freeform 40">
                <a:extLst>
                  <a:ext uri="{FF2B5EF4-FFF2-40B4-BE49-F238E27FC236}">
                    <a16:creationId xmlns:a16="http://schemas.microsoft.com/office/drawing/2014/main" id="{3138571C-5DEF-4533-849F-60E308149EE0}"/>
                  </a:ext>
                </a:extLst>
              </p:cNvPr>
              <p:cNvSpPr>
                <a:spLocks/>
              </p:cNvSpPr>
              <p:nvPr/>
            </p:nvSpPr>
            <p:spPr bwMode="auto">
              <a:xfrm>
                <a:off x="8463931" y="2192171"/>
                <a:ext cx="836613" cy="869950"/>
              </a:xfrm>
              <a:custGeom>
                <a:avLst/>
                <a:gdLst>
                  <a:gd name="T0" fmla="*/ 73 w 74"/>
                  <a:gd name="T1" fmla="*/ 1 h 77"/>
                  <a:gd name="T2" fmla="*/ 70 w 74"/>
                  <a:gd name="T3" fmla="*/ 0 h 77"/>
                  <a:gd name="T4" fmla="*/ 67 w 74"/>
                  <a:gd name="T5" fmla="*/ 1 h 77"/>
                  <a:gd name="T6" fmla="*/ 50 w 74"/>
                  <a:gd name="T7" fmla="*/ 20 h 77"/>
                  <a:gd name="T8" fmla="*/ 40 w 74"/>
                  <a:gd name="T9" fmla="*/ 30 h 77"/>
                  <a:gd name="T10" fmla="*/ 31 w 74"/>
                  <a:gd name="T11" fmla="*/ 39 h 77"/>
                  <a:gd name="T12" fmla="*/ 21 w 74"/>
                  <a:gd name="T13" fmla="*/ 50 h 77"/>
                  <a:gd name="T14" fmla="*/ 11 w 74"/>
                  <a:gd name="T15" fmla="*/ 60 h 77"/>
                  <a:gd name="T16" fmla="*/ 1 w 74"/>
                  <a:gd name="T17" fmla="*/ 71 h 77"/>
                  <a:gd name="T18" fmla="*/ 1 w 74"/>
                  <a:gd name="T19" fmla="*/ 76 h 77"/>
                  <a:gd name="T20" fmla="*/ 4 w 74"/>
                  <a:gd name="T21" fmla="*/ 77 h 77"/>
                  <a:gd name="T22" fmla="*/ 7 w 74"/>
                  <a:gd name="T23" fmla="*/ 76 h 77"/>
                  <a:gd name="T24" fmla="*/ 16 w 74"/>
                  <a:gd name="T25" fmla="*/ 66 h 77"/>
                  <a:gd name="T26" fmla="*/ 26 w 74"/>
                  <a:gd name="T27" fmla="*/ 55 h 77"/>
                  <a:gd name="T28" fmla="*/ 37 w 74"/>
                  <a:gd name="T29" fmla="*/ 44 h 77"/>
                  <a:gd name="T30" fmla="*/ 45 w 74"/>
                  <a:gd name="T31" fmla="*/ 36 h 77"/>
                  <a:gd name="T32" fmla="*/ 55 w 74"/>
                  <a:gd name="T33" fmla="*/ 25 h 77"/>
                  <a:gd name="T34" fmla="*/ 73 w 74"/>
                  <a:gd name="T35" fmla="*/ 6 h 77"/>
                  <a:gd name="T36" fmla="*/ 73 w 74"/>
                  <a:gd name="T37"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77">
                    <a:moveTo>
                      <a:pt x="73" y="1"/>
                    </a:moveTo>
                    <a:cubicBezTo>
                      <a:pt x="72" y="1"/>
                      <a:pt x="71" y="0"/>
                      <a:pt x="70" y="0"/>
                    </a:cubicBezTo>
                    <a:cubicBezTo>
                      <a:pt x="69" y="0"/>
                      <a:pt x="68" y="0"/>
                      <a:pt x="67" y="1"/>
                    </a:cubicBezTo>
                    <a:cubicBezTo>
                      <a:pt x="50" y="20"/>
                      <a:pt x="50" y="20"/>
                      <a:pt x="50" y="20"/>
                    </a:cubicBezTo>
                    <a:cubicBezTo>
                      <a:pt x="40" y="30"/>
                      <a:pt x="40" y="30"/>
                      <a:pt x="40" y="30"/>
                    </a:cubicBezTo>
                    <a:cubicBezTo>
                      <a:pt x="31" y="39"/>
                      <a:pt x="31" y="39"/>
                      <a:pt x="31" y="39"/>
                    </a:cubicBezTo>
                    <a:cubicBezTo>
                      <a:pt x="21" y="50"/>
                      <a:pt x="21" y="50"/>
                      <a:pt x="21" y="50"/>
                    </a:cubicBezTo>
                    <a:cubicBezTo>
                      <a:pt x="11" y="60"/>
                      <a:pt x="11" y="60"/>
                      <a:pt x="11" y="60"/>
                    </a:cubicBezTo>
                    <a:cubicBezTo>
                      <a:pt x="1" y="71"/>
                      <a:pt x="1" y="71"/>
                      <a:pt x="1" y="71"/>
                    </a:cubicBezTo>
                    <a:cubicBezTo>
                      <a:pt x="0" y="72"/>
                      <a:pt x="0" y="74"/>
                      <a:pt x="1" y="76"/>
                    </a:cubicBezTo>
                    <a:cubicBezTo>
                      <a:pt x="2" y="77"/>
                      <a:pt x="3" y="77"/>
                      <a:pt x="4" y="77"/>
                    </a:cubicBezTo>
                    <a:cubicBezTo>
                      <a:pt x="5" y="77"/>
                      <a:pt x="6" y="77"/>
                      <a:pt x="7" y="76"/>
                    </a:cubicBezTo>
                    <a:cubicBezTo>
                      <a:pt x="16" y="66"/>
                      <a:pt x="16" y="66"/>
                      <a:pt x="16" y="66"/>
                    </a:cubicBezTo>
                    <a:cubicBezTo>
                      <a:pt x="26" y="55"/>
                      <a:pt x="26" y="55"/>
                      <a:pt x="26" y="55"/>
                    </a:cubicBezTo>
                    <a:cubicBezTo>
                      <a:pt x="37" y="44"/>
                      <a:pt x="37" y="44"/>
                      <a:pt x="37" y="44"/>
                    </a:cubicBezTo>
                    <a:cubicBezTo>
                      <a:pt x="45" y="36"/>
                      <a:pt x="45" y="36"/>
                      <a:pt x="45" y="36"/>
                    </a:cubicBezTo>
                    <a:cubicBezTo>
                      <a:pt x="55" y="25"/>
                      <a:pt x="55" y="25"/>
                      <a:pt x="55" y="25"/>
                    </a:cubicBezTo>
                    <a:cubicBezTo>
                      <a:pt x="73" y="6"/>
                      <a:pt x="73" y="6"/>
                      <a:pt x="73" y="6"/>
                    </a:cubicBezTo>
                    <a:cubicBezTo>
                      <a:pt x="74" y="5"/>
                      <a:pt x="74" y="3"/>
                      <a:pt x="7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19" name="Freeform 41">
                <a:extLst>
                  <a:ext uri="{FF2B5EF4-FFF2-40B4-BE49-F238E27FC236}">
                    <a16:creationId xmlns:a16="http://schemas.microsoft.com/office/drawing/2014/main" id="{5D4C22FC-5440-405E-976F-30D5A2C53141}"/>
                  </a:ext>
                </a:extLst>
              </p:cNvPr>
              <p:cNvSpPr>
                <a:spLocks/>
              </p:cNvSpPr>
              <p:nvPr/>
            </p:nvSpPr>
            <p:spPr bwMode="auto">
              <a:xfrm>
                <a:off x="8836994" y="2022308"/>
                <a:ext cx="260350" cy="542925"/>
              </a:xfrm>
              <a:custGeom>
                <a:avLst/>
                <a:gdLst>
                  <a:gd name="T0" fmla="*/ 14 w 164"/>
                  <a:gd name="T1" fmla="*/ 221 h 342"/>
                  <a:gd name="T2" fmla="*/ 143 w 164"/>
                  <a:gd name="T3" fmla="*/ 0 h 342"/>
                  <a:gd name="T4" fmla="*/ 164 w 164"/>
                  <a:gd name="T5" fmla="*/ 164 h 342"/>
                  <a:gd name="T6" fmla="*/ 0 w 164"/>
                  <a:gd name="T7" fmla="*/ 342 h 342"/>
                  <a:gd name="T8" fmla="*/ 14 w 164"/>
                  <a:gd name="T9" fmla="*/ 221 h 342"/>
                </a:gdLst>
                <a:ahLst/>
                <a:cxnLst>
                  <a:cxn ang="0">
                    <a:pos x="T0" y="T1"/>
                  </a:cxn>
                  <a:cxn ang="0">
                    <a:pos x="T2" y="T3"/>
                  </a:cxn>
                  <a:cxn ang="0">
                    <a:pos x="T4" y="T5"/>
                  </a:cxn>
                  <a:cxn ang="0">
                    <a:pos x="T6" y="T7"/>
                  </a:cxn>
                  <a:cxn ang="0">
                    <a:pos x="T8" y="T9"/>
                  </a:cxn>
                </a:cxnLst>
                <a:rect l="0" t="0" r="r" b="b"/>
                <a:pathLst>
                  <a:path w="164" h="342">
                    <a:moveTo>
                      <a:pt x="14" y="221"/>
                    </a:moveTo>
                    <a:lnTo>
                      <a:pt x="143" y="0"/>
                    </a:lnTo>
                    <a:lnTo>
                      <a:pt x="164" y="164"/>
                    </a:lnTo>
                    <a:lnTo>
                      <a:pt x="0" y="342"/>
                    </a:lnTo>
                    <a:lnTo>
                      <a:pt x="14"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0" name="Freeform 42">
                <a:extLst>
                  <a:ext uri="{FF2B5EF4-FFF2-40B4-BE49-F238E27FC236}">
                    <a16:creationId xmlns:a16="http://schemas.microsoft.com/office/drawing/2014/main" id="{F4C5A3FF-590F-4F70-96FF-5614710179F9}"/>
                  </a:ext>
                </a:extLst>
              </p:cNvPr>
              <p:cNvSpPr>
                <a:spLocks/>
              </p:cNvSpPr>
              <p:nvPr/>
            </p:nvSpPr>
            <p:spPr bwMode="auto">
              <a:xfrm>
                <a:off x="8848106" y="2485858"/>
                <a:ext cx="22225" cy="44450"/>
              </a:xfrm>
              <a:custGeom>
                <a:avLst/>
                <a:gdLst>
                  <a:gd name="T0" fmla="*/ 2 w 2"/>
                  <a:gd name="T1" fmla="*/ 2 h 4"/>
                  <a:gd name="T2" fmla="*/ 0 w 2"/>
                  <a:gd name="T3" fmla="*/ 0 h 4"/>
                  <a:gd name="T4" fmla="*/ 0 w 2"/>
                  <a:gd name="T5" fmla="*/ 4 h 4"/>
                  <a:gd name="T6" fmla="*/ 2 w 2"/>
                  <a:gd name="T7" fmla="*/ 2 h 4"/>
                </a:gdLst>
                <a:ahLst/>
                <a:cxnLst>
                  <a:cxn ang="0">
                    <a:pos x="T0" y="T1"/>
                  </a:cxn>
                  <a:cxn ang="0">
                    <a:pos x="T2" y="T3"/>
                  </a:cxn>
                  <a:cxn ang="0">
                    <a:pos x="T4" y="T5"/>
                  </a:cxn>
                  <a:cxn ang="0">
                    <a:pos x="T6" y="T7"/>
                  </a:cxn>
                </a:cxnLst>
                <a:rect l="0" t="0" r="r" b="b"/>
                <a:pathLst>
                  <a:path w="2" h="4">
                    <a:moveTo>
                      <a:pt x="2" y="2"/>
                    </a:moveTo>
                    <a:cubicBezTo>
                      <a:pt x="2" y="1"/>
                      <a:pt x="1" y="1"/>
                      <a:pt x="0" y="0"/>
                    </a:cubicBezTo>
                    <a:cubicBezTo>
                      <a:pt x="0" y="4"/>
                      <a:pt x="0" y="4"/>
                      <a:pt x="0" y="4"/>
                    </a:cubicBezTo>
                    <a:lnTo>
                      <a:pt x="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1" name="Freeform 43">
                <a:extLst>
                  <a:ext uri="{FF2B5EF4-FFF2-40B4-BE49-F238E27FC236}">
                    <a16:creationId xmlns:a16="http://schemas.microsoft.com/office/drawing/2014/main" id="{A7E0D829-8E18-42C5-9DA0-AD974818F8ED}"/>
                  </a:ext>
                </a:extLst>
              </p:cNvPr>
              <p:cNvSpPr>
                <a:spLocks/>
              </p:cNvSpPr>
              <p:nvPr/>
            </p:nvSpPr>
            <p:spPr bwMode="auto">
              <a:xfrm>
                <a:off x="8894144" y="2066758"/>
                <a:ext cx="180975" cy="317500"/>
              </a:xfrm>
              <a:custGeom>
                <a:avLst/>
                <a:gdLst>
                  <a:gd name="T0" fmla="*/ 16 w 16"/>
                  <a:gd name="T1" fmla="*/ 18 h 28"/>
                  <a:gd name="T2" fmla="*/ 14 w 16"/>
                  <a:gd name="T3" fmla="*/ 0 h 28"/>
                  <a:gd name="T4" fmla="*/ 0 w 16"/>
                  <a:gd name="T5" fmla="*/ 22 h 28"/>
                  <a:gd name="T6" fmla="*/ 8 w 16"/>
                  <a:gd name="T7" fmla="*/ 28 h 28"/>
                  <a:gd name="T8" fmla="*/ 16 w 16"/>
                  <a:gd name="T9" fmla="*/ 18 h 28"/>
                </a:gdLst>
                <a:ahLst/>
                <a:cxnLst>
                  <a:cxn ang="0">
                    <a:pos x="T0" y="T1"/>
                  </a:cxn>
                  <a:cxn ang="0">
                    <a:pos x="T2" y="T3"/>
                  </a:cxn>
                  <a:cxn ang="0">
                    <a:pos x="T4" y="T5"/>
                  </a:cxn>
                  <a:cxn ang="0">
                    <a:pos x="T6" y="T7"/>
                  </a:cxn>
                  <a:cxn ang="0">
                    <a:pos x="T8" y="T9"/>
                  </a:cxn>
                </a:cxnLst>
                <a:rect l="0" t="0" r="r" b="b"/>
                <a:pathLst>
                  <a:path w="16" h="28">
                    <a:moveTo>
                      <a:pt x="16" y="18"/>
                    </a:moveTo>
                    <a:cubicBezTo>
                      <a:pt x="14" y="0"/>
                      <a:pt x="14" y="0"/>
                      <a:pt x="14" y="0"/>
                    </a:cubicBezTo>
                    <a:cubicBezTo>
                      <a:pt x="0" y="22"/>
                      <a:pt x="0" y="22"/>
                      <a:pt x="0" y="22"/>
                    </a:cubicBezTo>
                    <a:cubicBezTo>
                      <a:pt x="3" y="24"/>
                      <a:pt x="5" y="26"/>
                      <a:pt x="8" y="28"/>
                    </a:cubicBezTo>
                    <a:lnTo>
                      <a:pt x="1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2" name="Freeform 44">
                <a:extLst>
                  <a:ext uri="{FF2B5EF4-FFF2-40B4-BE49-F238E27FC236}">
                    <a16:creationId xmlns:a16="http://schemas.microsoft.com/office/drawing/2014/main" id="{E6CBE2C2-19ED-45FC-9B67-59851E8FA781}"/>
                  </a:ext>
                </a:extLst>
              </p:cNvPr>
              <p:cNvSpPr>
                <a:spLocks/>
              </p:cNvSpPr>
              <p:nvPr/>
            </p:nvSpPr>
            <p:spPr bwMode="auto">
              <a:xfrm>
                <a:off x="7616206" y="2203283"/>
                <a:ext cx="1695450" cy="1695450"/>
              </a:xfrm>
              <a:custGeom>
                <a:avLst/>
                <a:gdLst>
                  <a:gd name="T0" fmla="*/ 141 w 150"/>
                  <a:gd name="T1" fmla="*/ 39 h 150"/>
                  <a:gd name="T2" fmla="*/ 129 w 150"/>
                  <a:gd name="T3" fmla="*/ 48 h 150"/>
                  <a:gd name="T4" fmla="*/ 136 w 150"/>
                  <a:gd name="T5" fmla="*/ 75 h 150"/>
                  <a:gd name="T6" fmla="*/ 75 w 150"/>
                  <a:gd name="T7" fmla="*/ 136 h 150"/>
                  <a:gd name="T8" fmla="*/ 15 w 150"/>
                  <a:gd name="T9" fmla="*/ 75 h 150"/>
                  <a:gd name="T10" fmla="*/ 75 w 150"/>
                  <a:gd name="T11" fmla="*/ 15 h 150"/>
                  <a:gd name="T12" fmla="*/ 107 w 150"/>
                  <a:gd name="T13" fmla="*/ 24 h 150"/>
                  <a:gd name="T14" fmla="*/ 108 w 150"/>
                  <a:gd name="T15" fmla="*/ 15 h 150"/>
                  <a:gd name="T16" fmla="*/ 108 w 150"/>
                  <a:gd name="T17" fmla="*/ 14 h 150"/>
                  <a:gd name="T18" fmla="*/ 108 w 150"/>
                  <a:gd name="T19" fmla="*/ 14 h 150"/>
                  <a:gd name="T20" fmla="*/ 111 w 150"/>
                  <a:gd name="T21" fmla="*/ 9 h 150"/>
                  <a:gd name="T22" fmla="*/ 75 w 150"/>
                  <a:gd name="T23" fmla="*/ 0 h 150"/>
                  <a:gd name="T24" fmla="*/ 0 w 150"/>
                  <a:gd name="T25" fmla="*/ 75 h 150"/>
                  <a:gd name="T26" fmla="*/ 75 w 150"/>
                  <a:gd name="T27" fmla="*/ 150 h 150"/>
                  <a:gd name="T28" fmla="*/ 150 w 150"/>
                  <a:gd name="T29" fmla="*/ 75 h 150"/>
                  <a:gd name="T30" fmla="*/ 141 w 150"/>
                  <a:gd name="T31" fmla="*/ 3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150">
                    <a:moveTo>
                      <a:pt x="141" y="39"/>
                    </a:moveTo>
                    <a:cubicBezTo>
                      <a:pt x="129" y="48"/>
                      <a:pt x="129" y="48"/>
                      <a:pt x="129" y="48"/>
                    </a:cubicBezTo>
                    <a:cubicBezTo>
                      <a:pt x="133" y="56"/>
                      <a:pt x="136" y="65"/>
                      <a:pt x="136" y="75"/>
                    </a:cubicBezTo>
                    <a:cubicBezTo>
                      <a:pt x="136" y="109"/>
                      <a:pt x="109" y="136"/>
                      <a:pt x="75" y="136"/>
                    </a:cubicBezTo>
                    <a:cubicBezTo>
                      <a:pt x="42" y="136"/>
                      <a:pt x="15" y="109"/>
                      <a:pt x="15" y="75"/>
                    </a:cubicBezTo>
                    <a:cubicBezTo>
                      <a:pt x="15" y="42"/>
                      <a:pt x="42" y="15"/>
                      <a:pt x="75" y="15"/>
                    </a:cubicBezTo>
                    <a:cubicBezTo>
                      <a:pt x="87" y="15"/>
                      <a:pt x="98" y="18"/>
                      <a:pt x="107" y="24"/>
                    </a:cubicBezTo>
                    <a:cubicBezTo>
                      <a:pt x="108" y="15"/>
                      <a:pt x="108" y="15"/>
                      <a:pt x="108" y="15"/>
                    </a:cubicBezTo>
                    <a:cubicBezTo>
                      <a:pt x="108" y="14"/>
                      <a:pt x="108" y="14"/>
                      <a:pt x="108" y="14"/>
                    </a:cubicBezTo>
                    <a:cubicBezTo>
                      <a:pt x="108" y="14"/>
                      <a:pt x="108" y="14"/>
                      <a:pt x="108" y="14"/>
                    </a:cubicBezTo>
                    <a:cubicBezTo>
                      <a:pt x="111" y="9"/>
                      <a:pt x="111" y="9"/>
                      <a:pt x="111" y="9"/>
                    </a:cubicBezTo>
                    <a:cubicBezTo>
                      <a:pt x="100" y="4"/>
                      <a:pt x="88" y="0"/>
                      <a:pt x="75" y="0"/>
                    </a:cubicBezTo>
                    <a:cubicBezTo>
                      <a:pt x="34" y="0"/>
                      <a:pt x="0" y="34"/>
                      <a:pt x="0" y="75"/>
                    </a:cubicBezTo>
                    <a:cubicBezTo>
                      <a:pt x="0" y="117"/>
                      <a:pt x="34" y="150"/>
                      <a:pt x="75" y="150"/>
                    </a:cubicBezTo>
                    <a:cubicBezTo>
                      <a:pt x="117" y="150"/>
                      <a:pt x="150" y="117"/>
                      <a:pt x="150" y="75"/>
                    </a:cubicBezTo>
                    <a:cubicBezTo>
                      <a:pt x="150" y="62"/>
                      <a:pt x="147" y="50"/>
                      <a:pt x="141"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3" name="Freeform 45">
                <a:extLst>
                  <a:ext uri="{FF2B5EF4-FFF2-40B4-BE49-F238E27FC236}">
                    <a16:creationId xmlns:a16="http://schemas.microsoft.com/office/drawing/2014/main" id="{DA9BE8B6-AD0E-4165-A258-5DBF9C858377}"/>
                  </a:ext>
                </a:extLst>
              </p:cNvPr>
              <p:cNvSpPr>
                <a:spLocks/>
              </p:cNvSpPr>
              <p:nvPr/>
            </p:nvSpPr>
            <p:spPr bwMode="auto">
              <a:xfrm>
                <a:off x="8927481" y="2417596"/>
                <a:ext cx="531813" cy="293688"/>
              </a:xfrm>
              <a:custGeom>
                <a:avLst/>
                <a:gdLst>
                  <a:gd name="T0" fmla="*/ 171 w 335"/>
                  <a:gd name="T1" fmla="*/ 0 h 185"/>
                  <a:gd name="T2" fmla="*/ 335 w 335"/>
                  <a:gd name="T3" fmla="*/ 29 h 185"/>
                  <a:gd name="T4" fmla="*/ 93 w 335"/>
                  <a:gd name="T5" fmla="*/ 185 h 185"/>
                  <a:gd name="T6" fmla="*/ 0 w 335"/>
                  <a:gd name="T7" fmla="*/ 171 h 185"/>
                  <a:gd name="T8" fmla="*/ 171 w 335"/>
                  <a:gd name="T9" fmla="*/ 0 h 185"/>
                </a:gdLst>
                <a:ahLst/>
                <a:cxnLst>
                  <a:cxn ang="0">
                    <a:pos x="T0" y="T1"/>
                  </a:cxn>
                  <a:cxn ang="0">
                    <a:pos x="T2" y="T3"/>
                  </a:cxn>
                  <a:cxn ang="0">
                    <a:pos x="T4" y="T5"/>
                  </a:cxn>
                  <a:cxn ang="0">
                    <a:pos x="T6" y="T7"/>
                  </a:cxn>
                  <a:cxn ang="0">
                    <a:pos x="T8" y="T9"/>
                  </a:cxn>
                </a:cxnLst>
                <a:rect l="0" t="0" r="r" b="b"/>
                <a:pathLst>
                  <a:path w="335" h="185">
                    <a:moveTo>
                      <a:pt x="171" y="0"/>
                    </a:moveTo>
                    <a:lnTo>
                      <a:pt x="335" y="29"/>
                    </a:lnTo>
                    <a:lnTo>
                      <a:pt x="93" y="185"/>
                    </a:lnTo>
                    <a:lnTo>
                      <a:pt x="0" y="171"/>
                    </a:lnTo>
                    <a:lnTo>
                      <a:pt x="17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grpSp>
    </p:spTree>
    <p:extLst>
      <p:ext uri="{BB962C8B-B14F-4D97-AF65-F5344CB8AC3E}">
        <p14:creationId xmlns:p14="http://schemas.microsoft.com/office/powerpoint/2010/main" val="404173857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31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Solar Park – Key Provisions</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9613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
            <a:extLst>
              <a:ext uri="{FF2B5EF4-FFF2-40B4-BE49-F238E27FC236}">
                <a16:creationId xmlns:a16="http://schemas.microsoft.com/office/drawing/2014/main" id="{663C943F-7749-4A74-BCCC-65AFE516A0F9}"/>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Regulatory Provisions with respect to Solar Park Development (1/2)</a:t>
            </a:r>
            <a:endParaRPr lang="en-US" sz="2400" dirty="0">
              <a:effectLst/>
              <a:latin typeface="Calibri" panose="020F0502020204030204" pitchFamily="34" charset="0"/>
              <a:ea typeface="Calibri" panose="020F0502020204030204" pitchFamily="34" charset="0"/>
            </a:endParaRPr>
          </a:p>
        </p:txBody>
      </p:sp>
      <p:sp>
        <p:nvSpPr>
          <p:cNvPr id="22" name="TextBox 21">
            <a:extLst>
              <a:ext uri="{FF2B5EF4-FFF2-40B4-BE49-F238E27FC236}">
                <a16:creationId xmlns:a16="http://schemas.microsoft.com/office/drawing/2014/main" id="{1D63D5F8-EA5B-4BC0-802D-D4751DC07F4D}"/>
              </a:ext>
            </a:extLst>
          </p:cNvPr>
          <p:cNvSpPr txBox="1"/>
          <p:nvPr/>
        </p:nvSpPr>
        <p:spPr>
          <a:xfrm>
            <a:off x="501650" y="713040"/>
            <a:ext cx="11188700"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MNRE’s OM (F. No. 320/7/2019-NSM dated 15.06.2020) with respect to Modifications in Scheme for "Development of Solar Parks and Ultra Mega Solar Power Projects":</a:t>
            </a:r>
          </a:p>
        </p:txBody>
      </p:sp>
      <p:sp>
        <p:nvSpPr>
          <p:cNvPr id="23" name="Rectangle 22">
            <a:extLst>
              <a:ext uri="{FF2B5EF4-FFF2-40B4-BE49-F238E27FC236}">
                <a16:creationId xmlns:a16="http://schemas.microsoft.com/office/drawing/2014/main" id="{B59C56C7-EEA5-41FE-8212-34CAD4FA2828}"/>
              </a:ext>
            </a:extLst>
          </p:cNvPr>
          <p:cNvSpPr/>
          <p:nvPr/>
        </p:nvSpPr>
        <p:spPr bwMode="gray">
          <a:xfrm>
            <a:off x="598714" y="1674947"/>
            <a:ext cx="10972800" cy="584776"/>
          </a:xfrm>
          <a:prstGeom prst="rect">
            <a:avLst/>
          </a:prstGeom>
          <a:solidFill>
            <a:srgbClr val="E8F6CF"/>
          </a:solidFill>
          <a:ln w="19050" algn="ctr">
            <a:noFill/>
            <a:miter lim="800000"/>
            <a:headEnd/>
            <a:tailEnd/>
          </a:ln>
        </p:spPr>
        <p:txBody>
          <a:bodyPr wrap="square" lIns="88900" tIns="88900" rIns="88900" bIns="88900" rtlCol="0" anchor="ctr"/>
          <a:lstStyle/>
          <a:p>
            <a:pPr>
              <a:lnSpc>
                <a:spcPct val="106000"/>
              </a:lnSpc>
              <a:spcAft>
                <a:spcPts val="600"/>
              </a:spcAft>
            </a:pPr>
            <a:r>
              <a:rPr lang="en-US" sz="1500" b="1" dirty="0"/>
              <a:t>Clause 3.i. :</a:t>
            </a:r>
            <a:r>
              <a:rPr lang="en-US" sz="1500" dirty="0"/>
              <a:t> “Solar Power Park Developer (SPPD): The SPPD of the UMREPP may be any CPSU/State PSU/State Govt. </a:t>
            </a:r>
            <a:r>
              <a:rPr lang="en-US" sz="1500" dirty="0" err="1"/>
              <a:t>Organisation</a:t>
            </a:r>
            <a:r>
              <a:rPr lang="en-US" sz="1500" dirty="0"/>
              <a:t> or their subsidiaries. A Joint Venture Company (JVC) between two or more of the above entities may also act as the SPPD”</a:t>
            </a:r>
          </a:p>
        </p:txBody>
      </p:sp>
      <p:sp>
        <p:nvSpPr>
          <p:cNvPr id="24" name="TextBox 23">
            <a:extLst>
              <a:ext uri="{FF2B5EF4-FFF2-40B4-BE49-F238E27FC236}">
                <a16:creationId xmlns:a16="http://schemas.microsoft.com/office/drawing/2014/main" id="{4F1453B2-23A8-4AA5-8AD9-98488B9BFB35}"/>
              </a:ext>
            </a:extLst>
          </p:cNvPr>
          <p:cNvSpPr txBox="1"/>
          <p:nvPr/>
        </p:nvSpPr>
        <p:spPr>
          <a:xfrm>
            <a:off x="609599" y="1329706"/>
            <a:ext cx="4822371" cy="326628"/>
          </a:xfrm>
          <a:prstGeom prst="rect">
            <a:avLst/>
          </a:prstGeom>
          <a:solidFill>
            <a:srgbClr val="009A44"/>
          </a:solidFill>
        </p:spPr>
        <p:txBody>
          <a:bodyPr wrap="square">
            <a:spAutoFit/>
          </a:bodyPr>
          <a:lstStyle/>
          <a:p>
            <a:pPr>
              <a:lnSpc>
                <a:spcPct val="106000"/>
              </a:lnSpc>
            </a:pPr>
            <a:r>
              <a:rPr lang="en-US" sz="1500" b="1" dirty="0">
                <a:solidFill>
                  <a:schemeClr val="bg1"/>
                </a:solidFill>
              </a:rPr>
              <a:t>Types of Agencies that can become SPPDs:</a:t>
            </a:r>
          </a:p>
        </p:txBody>
      </p:sp>
      <p:sp>
        <p:nvSpPr>
          <p:cNvPr id="25" name="Rectangle 24">
            <a:extLst>
              <a:ext uri="{FF2B5EF4-FFF2-40B4-BE49-F238E27FC236}">
                <a16:creationId xmlns:a16="http://schemas.microsoft.com/office/drawing/2014/main" id="{0201EBB4-DFCD-49E1-A22B-137537E9B6A9}"/>
              </a:ext>
            </a:extLst>
          </p:cNvPr>
          <p:cNvSpPr/>
          <p:nvPr/>
        </p:nvSpPr>
        <p:spPr bwMode="gray">
          <a:xfrm>
            <a:off x="598714" y="2841193"/>
            <a:ext cx="10972800" cy="3753737"/>
          </a:xfrm>
          <a:prstGeom prst="rect">
            <a:avLst/>
          </a:prstGeom>
          <a:solidFill>
            <a:srgbClr val="E8F4EF"/>
          </a:solidFill>
          <a:ln w="19050" algn="ctr">
            <a:noFill/>
            <a:miter lim="800000"/>
            <a:headEnd/>
            <a:tailEnd/>
          </a:ln>
        </p:spPr>
        <p:txBody>
          <a:bodyPr wrap="square" lIns="88900" tIns="88900" rIns="88900" bIns="88900" rtlCol="0" anchor="ctr"/>
          <a:lstStyle/>
          <a:p>
            <a:pPr algn="just">
              <a:lnSpc>
                <a:spcPct val="106000"/>
              </a:lnSpc>
              <a:spcAft>
                <a:spcPts val="600"/>
              </a:spcAft>
            </a:pPr>
            <a:r>
              <a:rPr lang="en-US" sz="1500" b="1" dirty="0"/>
              <a:t>Clause 3.ii.a :</a:t>
            </a:r>
            <a:r>
              <a:rPr lang="en-US" sz="1500" dirty="0"/>
              <a:t> “</a:t>
            </a:r>
            <a:r>
              <a:rPr lang="en-US" sz="1500" b="1" dirty="0"/>
              <a:t>State Government to provide necessary assistance to the SPPDs in identification &amp; acquisition of land</a:t>
            </a:r>
            <a:r>
              <a:rPr lang="en-US" sz="1500" dirty="0"/>
              <a:t> for setting up of UMREPPs and also to facilitate all required statutory clearances. The State Government may designate any State Government Organization for the purpose”</a:t>
            </a:r>
          </a:p>
          <a:p>
            <a:pPr algn="just">
              <a:lnSpc>
                <a:spcPct val="106000"/>
              </a:lnSpc>
              <a:spcAft>
                <a:spcPts val="600"/>
              </a:spcAft>
            </a:pPr>
            <a:r>
              <a:rPr lang="en-US" sz="1500" b="1" dirty="0"/>
              <a:t>Clause 3.ii.b :</a:t>
            </a:r>
            <a:r>
              <a:rPr lang="en-US" sz="1500" dirty="0"/>
              <a:t> “The land for UMREPP to be allotted with a condition that the </a:t>
            </a:r>
            <a:r>
              <a:rPr lang="en-US" sz="1500" b="1" dirty="0"/>
              <a:t>development must be completed within two years </a:t>
            </a:r>
            <a:r>
              <a:rPr lang="en-US" sz="1500" dirty="0"/>
              <a:t>(with a provision of extension for one year under extreme cases) failing which the State Government may take back the allotted land in consultation with this Ministry”</a:t>
            </a:r>
          </a:p>
          <a:p>
            <a:pPr algn="just">
              <a:lnSpc>
                <a:spcPct val="106000"/>
              </a:lnSpc>
              <a:spcAft>
                <a:spcPts val="600"/>
              </a:spcAft>
            </a:pPr>
            <a:r>
              <a:rPr lang="en-US" sz="1500" b="1" dirty="0"/>
              <a:t>Clause 3.ii.c :</a:t>
            </a:r>
            <a:r>
              <a:rPr lang="en-US" sz="1500" dirty="0"/>
              <a:t> “A </a:t>
            </a:r>
            <a:r>
              <a:rPr lang="en-US" sz="1500" b="1" dirty="0"/>
              <a:t>Committee to be set up </a:t>
            </a:r>
            <a:r>
              <a:rPr lang="en-US" sz="1500" dirty="0"/>
              <a:t>under the Chairmanship of Principal Secretary/ Secretary (Power/Energy/Renewable Energy) of the concerned State Government, having CEO of the SPPD, head of State Nodal Agency (SNA) and three experts in the field of Renewable Energy and Power Systems as members of the committee. The </a:t>
            </a:r>
            <a:r>
              <a:rPr lang="en-US" sz="1500" b="1" dirty="0"/>
              <a:t>committee will facilitate setting up of the UMREPP, monitor the progress and also fix the onetime upfront charges and annual Operation &amp; Maintenance charges etc. </a:t>
            </a:r>
            <a:r>
              <a:rPr lang="en-US" sz="1500" dirty="0"/>
              <a:t>to be charged from the power developers. The UMREPPs are not to be taken as profit making activities </a:t>
            </a:r>
            <a:r>
              <a:rPr lang="en-US" sz="1500" b="1" dirty="0"/>
              <a:t>and maximum 16% return on equity may be allowed</a:t>
            </a:r>
            <a:r>
              <a:rPr lang="en-US" sz="1500" dirty="0"/>
              <a:t>”</a:t>
            </a:r>
          </a:p>
          <a:p>
            <a:pPr algn="just">
              <a:lnSpc>
                <a:spcPct val="106000"/>
              </a:lnSpc>
              <a:spcAft>
                <a:spcPts val="600"/>
              </a:spcAft>
            </a:pPr>
            <a:r>
              <a:rPr lang="en-US" sz="1500" b="1" dirty="0"/>
              <a:t>Clause 3.ii.d :</a:t>
            </a:r>
            <a:r>
              <a:rPr lang="en-US" sz="1500" dirty="0"/>
              <a:t> “For the above activities, the State Government or any organization designated by the </a:t>
            </a:r>
            <a:r>
              <a:rPr lang="en-US" sz="1500" b="1" dirty="0"/>
              <a:t>State Government would be paid a facilitation charge of Rs. 0.05/unit of power</a:t>
            </a:r>
            <a:r>
              <a:rPr lang="en-US" sz="1500" dirty="0"/>
              <a:t> being generated from the projects in the </a:t>
            </a:r>
            <a:r>
              <a:rPr lang="en-US" sz="1500" b="1" dirty="0"/>
              <a:t>UMREPPs for the entire PPA period of the project</a:t>
            </a:r>
            <a:r>
              <a:rPr lang="en-US" sz="1500" dirty="0"/>
              <a:t>. This facilitation charge may be paid to State Governments </a:t>
            </a:r>
            <a:r>
              <a:rPr lang="en-US" sz="1500" b="1" dirty="0"/>
              <a:t>only on the quantum of power that is exported outside the state from that UMREPP</a:t>
            </a:r>
            <a:r>
              <a:rPr lang="en-US" sz="1500" dirty="0"/>
              <a:t> and </a:t>
            </a:r>
            <a:r>
              <a:rPr lang="en-US" sz="1500" b="1" dirty="0"/>
              <a:t>only if no facilitation charge or similar charge is levied under the State Government policy</a:t>
            </a:r>
            <a:r>
              <a:rPr lang="en-US" sz="1500" dirty="0"/>
              <a:t>”</a:t>
            </a:r>
          </a:p>
        </p:txBody>
      </p:sp>
      <p:sp>
        <p:nvSpPr>
          <p:cNvPr id="26" name="TextBox 25">
            <a:extLst>
              <a:ext uri="{FF2B5EF4-FFF2-40B4-BE49-F238E27FC236}">
                <a16:creationId xmlns:a16="http://schemas.microsoft.com/office/drawing/2014/main" id="{B7873874-9256-4916-AF43-81BEB6EB9756}"/>
              </a:ext>
            </a:extLst>
          </p:cNvPr>
          <p:cNvSpPr txBox="1"/>
          <p:nvPr/>
        </p:nvSpPr>
        <p:spPr>
          <a:xfrm>
            <a:off x="609599" y="2477211"/>
            <a:ext cx="5943601" cy="326628"/>
          </a:xfrm>
          <a:prstGeom prst="rect">
            <a:avLst/>
          </a:prstGeom>
          <a:solidFill>
            <a:srgbClr val="004F59"/>
          </a:solidFill>
        </p:spPr>
        <p:txBody>
          <a:bodyPr wrap="square">
            <a:spAutoFit/>
          </a:bodyPr>
          <a:lstStyle/>
          <a:p>
            <a:pPr>
              <a:lnSpc>
                <a:spcPct val="106000"/>
              </a:lnSpc>
            </a:pPr>
            <a:r>
              <a:rPr lang="en-US" sz="1500" b="1" dirty="0">
                <a:solidFill>
                  <a:schemeClr val="bg1"/>
                </a:solidFill>
              </a:rPr>
              <a:t>Role of State Government:</a:t>
            </a:r>
          </a:p>
        </p:txBody>
      </p:sp>
    </p:spTree>
    <p:extLst>
      <p:ext uri="{BB962C8B-B14F-4D97-AF65-F5344CB8AC3E}">
        <p14:creationId xmlns:p14="http://schemas.microsoft.com/office/powerpoint/2010/main" val="88159999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
            <a:extLst>
              <a:ext uri="{FF2B5EF4-FFF2-40B4-BE49-F238E27FC236}">
                <a16:creationId xmlns:a16="http://schemas.microsoft.com/office/drawing/2014/main" id="{663C943F-7749-4A74-BCCC-65AFE516A0F9}"/>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rPr>
              <a:t>Regulatory Provisions with respect to Solar Park Development (2/2)</a:t>
            </a:r>
            <a:endParaRPr lang="en-US" sz="2400" dirty="0">
              <a:effectLst/>
              <a:latin typeface="Calibri" panose="020F0502020204030204" pitchFamily="34" charset="0"/>
              <a:ea typeface="Calibri" panose="020F0502020204030204" pitchFamily="34" charset="0"/>
            </a:endParaRPr>
          </a:p>
        </p:txBody>
      </p:sp>
      <p:sp>
        <p:nvSpPr>
          <p:cNvPr id="23" name="Rectangle 22">
            <a:extLst>
              <a:ext uri="{FF2B5EF4-FFF2-40B4-BE49-F238E27FC236}">
                <a16:creationId xmlns:a16="http://schemas.microsoft.com/office/drawing/2014/main" id="{B59C56C7-EEA5-41FE-8212-34CAD4FA2828}"/>
              </a:ext>
            </a:extLst>
          </p:cNvPr>
          <p:cNvSpPr/>
          <p:nvPr/>
        </p:nvSpPr>
        <p:spPr bwMode="gray">
          <a:xfrm>
            <a:off x="501650" y="1261290"/>
            <a:ext cx="10972800" cy="883196"/>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500" b="1" dirty="0"/>
              <a:t>Clause 3.iii.a :</a:t>
            </a:r>
            <a:r>
              <a:rPr lang="en-US" sz="1500" dirty="0"/>
              <a:t> “Central Financial Assistance (CFA): For development of internal infrastructure including cost of transmission to the CTU/STU point, the </a:t>
            </a:r>
            <a:r>
              <a:rPr lang="en-US" sz="1500" b="1" dirty="0"/>
              <a:t>CFA of Rs. 20 Lakh/MW or 30% of the cost of development of the UMREPPs, whichever is lower would be provided</a:t>
            </a:r>
            <a:r>
              <a:rPr lang="en-US" sz="1500" dirty="0"/>
              <a:t>. Any augmentation/strengthening and/or creation of external power evacuation infrastructure may be done by CTU.”</a:t>
            </a:r>
          </a:p>
        </p:txBody>
      </p:sp>
      <p:sp>
        <p:nvSpPr>
          <p:cNvPr id="24" name="TextBox 23">
            <a:extLst>
              <a:ext uri="{FF2B5EF4-FFF2-40B4-BE49-F238E27FC236}">
                <a16:creationId xmlns:a16="http://schemas.microsoft.com/office/drawing/2014/main" id="{4F1453B2-23A8-4AA5-8AD9-98488B9BFB35}"/>
              </a:ext>
            </a:extLst>
          </p:cNvPr>
          <p:cNvSpPr txBox="1"/>
          <p:nvPr/>
        </p:nvSpPr>
        <p:spPr>
          <a:xfrm>
            <a:off x="512535" y="916049"/>
            <a:ext cx="4822371" cy="326628"/>
          </a:xfrm>
          <a:prstGeom prst="rect">
            <a:avLst/>
          </a:prstGeom>
          <a:solidFill>
            <a:schemeClr val="tx1">
              <a:lumMod val="65000"/>
              <a:lumOff val="35000"/>
            </a:schemeClr>
          </a:solidFill>
        </p:spPr>
        <p:txBody>
          <a:bodyPr wrap="square">
            <a:spAutoFit/>
          </a:bodyPr>
          <a:lstStyle/>
          <a:p>
            <a:pPr>
              <a:lnSpc>
                <a:spcPct val="106000"/>
              </a:lnSpc>
            </a:pPr>
            <a:r>
              <a:rPr lang="en-US" sz="1500" b="1" dirty="0">
                <a:solidFill>
                  <a:schemeClr val="bg1"/>
                </a:solidFill>
              </a:rPr>
              <a:t>Compensation to the SPPD: </a:t>
            </a:r>
          </a:p>
        </p:txBody>
      </p:sp>
      <p:sp>
        <p:nvSpPr>
          <p:cNvPr id="8" name="Rectangle 7">
            <a:extLst>
              <a:ext uri="{FF2B5EF4-FFF2-40B4-BE49-F238E27FC236}">
                <a16:creationId xmlns:a16="http://schemas.microsoft.com/office/drawing/2014/main" id="{3CEE4F9E-0B0A-4784-8476-CB9B824FB319}"/>
              </a:ext>
            </a:extLst>
          </p:cNvPr>
          <p:cNvSpPr/>
          <p:nvPr/>
        </p:nvSpPr>
        <p:spPr bwMode="gray">
          <a:xfrm>
            <a:off x="501650" y="2905033"/>
            <a:ext cx="10972800" cy="1721395"/>
          </a:xfrm>
          <a:prstGeom prst="rect">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nSpc>
                <a:spcPct val="106000"/>
              </a:lnSpc>
              <a:spcAft>
                <a:spcPts val="600"/>
              </a:spcAft>
            </a:pPr>
            <a:r>
              <a:rPr lang="en-US" sz="1500" b="1" dirty="0"/>
              <a:t>Clause 3.iv.a :</a:t>
            </a:r>
            <a:r>
              <a:rPr lang="en-US" sz="1500" dirty="0"/>
              <a:t> “The power projects inside the UMREPPs may be developed </a:t>
            </a:r>
            <a:r>
              <a:rPr lang="en-US" sz="1500" b="1" dirty="0"/>
              <a:t>either under developer mode through Tariff Based Competitive Bidding (TBCB) process or under EPC mode (by the SPPD or any of its individual promoters) or any combination of both</a:t>
            </a:r>
            <a:r>
              <a:rPr lang="en-US" sz="1500" dirty="0"/>
              <a:t>. However, the </a:t>
            </a:r>
            <a:r>
              <a:rPr lang="en-US" sz="1500" b="1" dirty="0"/>
              <a:t>SPPD or any of its individual promoters cannot take part in tariff based competitive bidding process in an UMREPP developed by them</a:t>
            </a:r>
            <a:r>
              <a:rPr lang="en-US" sz="1500" dirty="0"/>
              <a:t>”</a:t>
            </a:r>
          </a:p>
          <a:p>
            <a:pPr>
              <a:lnSpc>
                <a:spcPct val="106000"/>
              </a:lnSpc>
              <a:spcAft>
                <a:spcPts val="600"/>
              </a:spcAft>
            </a:pPr>
            <a:endParaRPr lang="en-US" sz="1500" dirty="0"/>
          </a:p>
          <a:p>
            <a:pPr>
              <a:lnSpc>
                <a:spcPct val="106000"/>
              </a:lnSpc>
              <a:spcAft>
                <a:spcPts val="600"/>
              </a:spcAft>
            </a:pPr>
            <a:r>
              <a:rPr lang="en-US" sz="1500" b="1" dirty="0"/>
              <a:t>Clause 3.iv.c :</a:t>
            </a:r>
            <a:r>
              <a:rPr lang="en-US" sz="1500" dirty="0"/>
              <a:t> “The </a:t>
            </a:r>
            <a:r>
              <a:rPr lang="en-US" sz="1500" b="1" dirty="0"/>
              <a:t>CPSUs are free to set up RE projects in EPC mode, under Central Schemes like the CPSU Scheme</a:t>
            </a:r>
            <a:r>
              <a:rPr lang="en-US" sz="1500" dirty="0"/>
              <a:t>, in any of the UMREPPs”</a:t>
            </a:r>
          </a:p>
        </p:txBody>
      </p:sp>
      <p:sp>
        <p:nvSpPr>
          <p:cNvPr id="9" name="TextBox 8">
            <a:extLst>
              <a:ext uri="{FF2B5EF4-FFF2-40B4-BE49-F238E27FC236}">
                <a16:creationId xmlns:a16="http://schemas.microsoft.com/office/drawing/2014/main" id="{CE11EB99-7A4F-4F0C-B378-8F81E613D5D0}"/>
              </a:ext>
            </a:extLst>
          </p:cNvPr>
          <p:cNvSpPr txBox="1"/>
          <p:nvPr/>
        </p:nvSpPr>
        <p:spPr>
          <a:xfrm>
            <a:off x="512535" y="2559792"/>
            <a:ext cx="4822371" cy="326628"/>
          </a:xfrm>
          <a:prstGeom prst="rect">
            <a:avLst/>
          </a:prstGeom>
          <a:solidFill>
            <a:schemeClr val="accent4"/>
          </a:solidFill>
        </p:spPr>
        <p:txBody>
          <a:bodyPr wrap="square">
            <a:spAutoFit/>
          </a:bodyPr>
          <a:lstStyle/>
          <a:p>
            <a:pPr>
              <a:lnSpc>
                <a:spcPct val="106000"/>
              </a:lnSpc>
            </a:pPr>
            <a:r>
              <a:rPr lang="en-US" sz="1500" b="1" dirty="0">
                <a:solidFill>
                  <a:schemeClr val="bg1"/>
                </a:solidFill>
              </a:rPr>
              <a:t>Power Projects inside UMREPPs:</a:t>
            </a:r>
          </a:p>
        </p:txBody>
      </p:sp>
    </p:spTree>
    <p:extLst>
      <p:ext uri="{BB962C8B-B14F-4D97-AF65-F5344CB8AC3E}">
        <p14:creationId xmlns:p14="http://schemas.microsoft.com/office/powerpoint/2010/main" val="291151755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7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3. Sale through Power Exchange</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Arrow: Left 4">
            <a:hlinkClick r:id="rId6" action="ppaction://hlinksldjump"/>
            <a:extLst>
              <a:ext uri="{FF2B5EF4-FFF2-40B4-BE49-F238E27FC236}">
                <a16:creationId xmlns:a16="http://schemas.microsoft.com/office/drawing/2014/main" id="{AC73DD3B-A821-4201-9D2B-0F536358F20D}"/>
              </a:ext>
            </a:extLst>
          </p:cNvPr>
          <p:cNvSpPr/>
          <p:nvPr/>
        </p:nvSpPr>
        <p:spPr bwMode="gray">
          <a:xfrm>
            <a:off x="10515600" y="6329680"/>
            <a:ext cx="335280" cy="375920"/>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3934663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3. Sale through Power Exchange</a:t>
            </a:r>
            <a:endParaRPr lang="en-US" sz="2400" dirty="0">
              <a:effectLst/>
              <a:latin typeface="Calibri" panose="020F0502020204030204" pitchFamily="34" charset="0"/>
              <a:ea typeface="Calibri" panose="020F0502020204030204" pitchFamily="34" charset="0"/>
            </a:endParaRPr>
          </a:p>
        </p:txBody>
      </p:sp>
      <p:sp>
        <p:nvSpPr>
          <p:cNvPr id="2" name="Oval 1">
            <a:extLst>
              <a:ext uri="{FF2B5EF4-FFF2-40B4-BE49-F238E27FC236}">
                <a16:creationId xmlns:a16="http://schemas.microsoft.com/office/drawing/2014/main" id="{F8AC404C-7B14-4183-A3C8-763D9A261B2C}"/>
              </a:ext>
            </a:extLst>
          </p:cNvPr>
          <p:cNvSpPr/>
          <p:nvPr/>
        </p:nvSpPr>
        <p:spPr bwMode="gray">
          <a:xfrm>
            <a:off x="1917891" y="1283983"/>
            <a:ext cx="2096584" cy="1081668"/>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Solar Project Terminal</a:t>
            </a:r>
          </a:p>
        </p:txBody>
      </p:sp>
      <p:sp>
        <p:nvSpPr>
          <p:cNvPr id="3" name="Arrow: Right 2">
            <a:extLst>
              <a:ext uri="{FF2B5EF4-FFF2-40B4-BE49-F238E27FC236}">
                <a16:creationId xmlns:a16="http://schemas.microsoft.com/office/drawing/2014/main" id="{54685FA0-9963-4E06-8FAA-EFFE5C188650}"/>
              </a:ext>
            </a:extLst>
          </p:cNvPr>
          <p:cNvSpPr/>
          <p:nvPr/>
        </p:nvSpPr>
        <p:spPr bwMode="gray">
          <a:xfrm>
            <a:off x="4293257" y="1707729"/>
            <a:ext cx="546409" cy="200722"/>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2" name="Oval 11">
            <a:extLst>
              <a:ext uri="{FF2B5EF4-FFF2-40B4-BE49-F238E27FC236}">
                <a16:creationId xmlns:a16="http://schemas.microsoft.com/office/drawing/2014/main" id="{62210D3E-6B6C-4C58-909F-56B88B071E1A}"/>
              </a:ext>
            </a:extLst>
          </p:cNvPr>
          <p:cNvSpPr/>
          <p:nvPr/>
        </p:nvSpPr>
        <p:spPr bwMode="gray">
          <a:xfrm>
            <a:off x="5077406" y="1283983"/>
            <a:ext cx="2096584" cy="1081668"/>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STU Grid</a:t>
            </a:r>
          </a:p>
        </p:txBody>
      </p:sp>
      <p:sp>
        <p:nvSpPr>
          <p:cNvPr id="14" name="Arrow: Right 13">
            <a:extLst>
              <a:ext uri="{FF2B5EF4-FFF2-40B4-BE49-F238E27FC236}">
                <a16:creationId xmlns:a16="http://schemas.microsoft.com/office/drawing/2014/main" id="{32960622-CF10-4690-B395-7ADCAFFE5A6A}"/>
              </a:ext>
            </a:extLst>
          </p:cNvPr>
          <p:cNvSpPr/>
          <p:nvPr/>
        </p:nvSpPr>
        <p:spPr bwMode="gray">
          <a:xfrm>
            <a:off x="7478788" y="1707729"/>
            <a:ext cx="546409" cy="200722"/>
          </a:xfrm>
          <a:prstGeom prst="right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 name="Oval 14">
            <a:extLst>
              <a:ext uri="{FF2B5EF4-FFF2-40B4-BE49-F238E27FC236}">
                <a16:creationId xmlns:a16="http://schemas.microsoft.com/office/drawing/2014/main" id="{3B7E4E85-1DF8-43B0-96D8-24FD95402B86}"/>
              </a:ext>
            </a:extLst>
          </p:cNvPr>
          <p:cNvSpPr/>
          <p:nvPr/>
        </p:nvSpPr>
        <p:spPr bwMode="gray">
          <a:xfrm>
            <a:off x="8251786" y="1283983"/>
            <a:ext cx="2096584" cy="1081668"/>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CTU Grid</a:t>
            </a:r>
          </a:p>
        </p:txBody>
      </p:sp>
      <p:sp>
        <p:nvSpPr>
          <p:cNvPr id="17" name="Rectangle 16">
            <a:extLst>
              <a:ext uri="{FF2B5EF4-FFF2-40B4-BE49-F238E27FC236}">
                <a16:creationId xmlns:a16="http://schemas.microsoft.com/office/drawing/2014/main" id="{326389E7-6590-4C6D-BD62-C60C1DC2ADCC}"/>
              </a:ext>
            </a:extLst>
          </p:cNvPr>
          <p:cNvSpPr/>
          <p:nvPr/>
        </p:nvSpPr>
        <p:spPr bwMode="gray">
          <a:xfrm>
            <a:off x="6896297" y="704072"/>
            <a:ext cx="1732714" cy="458734"/>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dirty="0">
                <a:ln w="0"/>
                <a:solidFill>
                  <a:schemeClr val="tx1"/>
                </a:solidFill>
                <a:effectLst>
                  <a:outerShdw blurRad="38100" dist="19050" dir="2700000" algn="tl" rotWithShape="0">
                    <a:schemeClr val="dk1">
                      <a:alpha val="40000"/>
                    </a:schemeClr>
                  </a:outerShdw>
                </a:effectLst>
              </a:rPr>
              <a:t>Delivery Point</a:t>
            </a:r>
          </a:p>
        </p:txBody>
      </p:sp>
      <p:sp>
        <p:nvSpPr>
          <p:cNvPr id="5" name="Rectangle 4">
            <a:extLst>
              <a:ext uri="{FF2B5EF4-FFF2-40B4-BE49-F238E27FC236}">
                <a16:creationId xmlns:a16="http://schemas.microsoft.com/office/drawing/2014/main" id="{CCB43A83-668A-45DC-8D58-E376CAB8D56C}"/>
              </a:ext>
            </a:extLst>
          </p:cNvPr>
          <p:cNvSpPr/>
          <p:nvPr/>
        </p:nvSpPr>
        <p:spPr bwMode="gray">
          <a:xfrm>
            <a:off x="2121873" y="2616968"/>
            <a:ext cx="1825540" cy="1008998"/>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Generation Cost</a:t>
            </a:r>
          </a:p>
        </p:txBody>
      </p:sp>
      <p:sp>
        <p:nvSpPr>
          <p:cNvPr id="6" name="Plus Sign 5">
            <a:extLst>
              <a:ext uri="{FF2B5EF4-FFF2-40B4-BE49-F238E27FC236}">
                <a16:creationId xmlns:a16="http://schemas.microsoft.com/office/drawing/2014/main" id="{1DB320FE-F1AB-4F0A-90F5-B313DD01DF12}"/>
              </a:ext>
            </a:extLst>
          </p:cNvPr>
          <p:cNvSpPr/>
          <p:nvPr/>
        </p:nvSpPr>
        <p:spPr bwMode="gray">
          <a:xfrm>
            <a:off x="4308082" y="2867403"/>
            <a:ext cx="546409" cy="468353"/>
          </a:xfrm>
          <a:prstGeom prst="mathPlus">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0" name="Rectangle 19">
            <a:extLst>
              <a:ext uri="{FF2B5EF4-FFF2-40B4-BE49-F238E27FC236}">
                <a16:creationId xmlns:a16="http://schemas.microsoft.com/office/drawing/2014/main" id="{D53C24E8-BAA3-430D-8513-7643D84B346F}"/>
              </a:ext>
            </a:extLst>
          </p:cNvPr>
          <p:cNvSpPr/>
          <p:nvPr/>
        </p:nvSpPr>
        <p:spPr bwMode="gray">
          <a:xfrm>
            <a:off x="5077406" y="2616967"/>
            <a:ext cx="2096279" cy="1008998"/>
          </a:xfrm>
          <a:prstGeom prst="rect">
            <a:avLst/>
          </a:prstGeom>
          <a:solidFill>
            <a:srgbClr val="92D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STU Charges and Losses</a:t>
            </a:r>
          </a:p>
        </p:txBody>
      </p:sp>
      <p:sp>
        <p:nvSpPr>
          <p:cNvPr id="31" name="TextBox 30">
            <a:extLst>
              <a:ext uri="{FF2B5EF4-FFF2-40B4-BE49-F238E27FC236}">
                <a16:creationId xmlns:a16="http://schemas.microsoft.com/office/drawing/2014/main" id="{2C8B6C3C-5CA8-4BDE-AAE6-94CD7010A5F0}"/>
              </a:ext>
            </a:extLst>
          </p:cNvPr>
          <p:cNvSpPr txBox="1"/>
          <p:nvPr/>
        </p:nvSpPr>
        <p:spPr>
          <a:xfrm>
            <a:off x="431328" y="3931711"/>
            <a:ext cx="11430156" cy="584775"/>
          </a:xfrm>
          <a:prstGeom prst="rect">
            <a:avLst/>
          </a:prstGeom>
          <a:noFill/>
        </p:spPr>
        <p:txBody>
          <a:bodyPr wrap="square">
            <a:spAutoFit/>
          </a:bodyPr>
          <a:lstStyle/>
          <a:p>
            <a:pPr marL="0" marR="0" algn="just">
              <a:spcBef>
                <a:spcPts val="0"/>
              </a:spcBef>
              <a:spcAft>
                <a:spcPts val="0"/>
              </a:spcAft>
            </a:pPr>
            <a:r>
              <a:rPr lang="en-US" sz="1600" dirty="0">
                <a:effectLst/>
                <a:latin typeface="Calibri" panose="020F0502020204030204" pitchFamily="34" charset="0"/>
                <a:ea typeface="Calibri" panose="020F0502020204030204" pitchFamily="34" charset="0"/>
              </a:rPr>
              <a:t>As per CERC Order to Petition No. 17/SM/2022  on “</a:t>
            </a:r>
            <a:r>
              <a:rPr lang="en-US" sz="1600" dirty="0"/>
              <a:t>Directions by the Commission to the Power Exchanges registered under the Power Market Regulations, 2021 </a:t>
            </a:r>
            <a:r>
              <a:rPr lang="en-US" sz="1600" dirty="0">
                <a:effectLst/>
                <a:latin typeface="Calibri" panose="020F0502020204030204" pitchFamily="34" charset="0"/>
                <a:ea typeface="Calibri" panose="020F0502020204030204" pitchFamily="34" charset="0"/>
              </a:rPr>
              <a:t>” vide order dated 28.12.2022:</a:t>
            </a:r>
          </a:p>
        </p:txBody>
      </p:sp>
      <p:sp>
        <p:nvSpPr>
          <p:cNvPr id="32" name="Rectangle 31">
            <a:extLst>
              <a:ext uri="{FF2B5EF4-FFF2-40B4-BE49-F238E27FC236}">
                <a16:creationId xmlns:a16="http://schemas.microsoft.com/office/drawing/2014/main" id="{D0A5AEE9-0E9C-456E-BA74-09D36C7DD492}"/>
              </a:ext>
            </a:extLst>
          </p:cNvPr>
          <p:cNvSpPr/>
          <p:nvPr/>
        </p:nvSpPr>
        <p:spPr bwMode="gray">
          <a:xfrm>
            <a:off x="431328" y="4587898"/>
            <a:ext cx="11430156" cy="1777595"/>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marL="285750" indent="-285750" algn="just">
              <a:lnSpc>
                <a:spcPct val="106000"/>
              </a:lnSpc>
              <a:spcAft>
                <a:spcPts val="600"/>
              </a:spcAft>
              <a:buFont typeface="Wingdings" panose="05000000000000000000" pitchFamily="2" charset="2"/>
              <a:buChar char="Ø"/>
            </a:pPr>
            <a:r>
              <a:rPr lang="en-US" sz="1600" dirty="0">
                <a:solidFill>
                  <a:schemeClr val="bg1"/>
                </a:solidFill>
              </a:rPr>
              <a:t>As per CERC Order dated 06.05.2022 in Petition No. 05/SM/2022 (Suo Motu), Power Exchanges were directed, from the date of issue of the Order till 30th June 2022, </a:t>
            </a:r>
            <a:r>
              <a:rPr lang="en-US" sz="1600" b="1" dirty="0">
                <a:solidFill>
                  <a:schemeClr val="bg1"/>
                </a:solidFill>
              </a:rPr>
              <a:t>to redesign their software in such a way that members can quote their price in the range of Rs.0/kWh to Rs.12/kWh</a:t>
            </a:r>
            <a:r>
              <a:rPr lang="en-US" sz="1600" dirty="0">
                <a:solidFill>
                  <a:schemeClr val="bg1"/>
                </a:solidFill>
              </a:rPr>
              <a:t> in DAM (including GDAM), RTM, Intra-day, Day Ahead Contingency, and Term-Ahead (including GTAM).</a:t>
            </a:r>
          </a:p>
          <a:p>
            <a:pPr marL="285750" indent="-285750" algn="just">
              <a:lnSpc>
                <a:spcPct val="106000"/>
              </a:lnSpc>
              <a:spcAft>
                <a:spcPts val="600"/>
              </a:spcAft>
              <a:buFont typeface="Wingdings" panose="05000000000000000000" pitchFamily="2" charset="2"/>
              <a:buChar char="Ø"/>
            </a:pPr>
            <a:endParaRPr lang="en-US" sz="1600" dirty="0">
              <a:solidFill>
                <a:schemeClr val="bg1"/>
              </a:solidFill>
            </a:endParaRPr>
          </a:p>
          <a:p>
            <a:pPr marL="285750" indent="-285750" algn="just">
              <a:lnSpc>
                <a:spcPct val="106000"/>
              </a:lnSpc>
              <a:spcAft>
                <a:spcPts val="600"/>
              </a:spcAft>
              <a:buFont typeface="Wingdings" panose="05000000000000000000" pitchFamily="2" charset="2"/>
              <a:buChar char="Ø"/>
            </a:pPr>
            <a:r>
              <a:rPr lang="en-US" sz="1600" dirty="0">
                <a:solidFill>
                  <a:schemeClr val="bg1"/>
                </a:solidFill>
              </a:rPr>
              <a:t>CERC Order dated 28.12.2022 extended the validity of the above provision till next Order is issued by the Commission.</a:t>
            </a:r>
          </a:p>
        </p:txBody>
      </p:sp>
      <p:cxnSp>
        <p:nvCxnSpPr>
          <p:cNvPr id="9" name="Straight Connector 8">
            <a:extLst>
              <a:ext uri="{FF2B5EF4-FFF2-40B4-BE49-F238E27FC236}">
                <a16:creationId xmlns:a16="http://schemas.microsoft.com/office/drawing/2014/main" id="{95E83EEB-7C71-4263-ADE7-5519D188C284}"/>
              </a:ext>
            </a:extLst>
          </p:cNvPr>
          <p:cNvCxnSpPr/>
          <p:nvPr/>
        </p:nvCxnSpPr>
        <p:spPr>
          <a:xfrm>
            <a:off x="7762877" y="1332601"/>
            <a:ext cx="0" cy="2090315"/>
          </a:xfrm>
          <a:prstGeom prst="line">
            <a:avLst/>
          </a:prstGeom>
          <a:ln w="28575">
            <a:solidFill>
              <a:schemeClr val="tx2"/>
            </a:solidFill>
            <a:prstDash val="lgDashDot"/>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61A164F-A353-4E6B-9CDD-3F82B152B3C3}"/>
              </a:ext>
            </a:extLst>
          </p:cNvPr>
          <p:cNvSpPr/>
          <p:nvPr/>
        </p:nvSpPr>
        <p:spPr bwMode="gray">
          <a:xfrm>
            <a:off x="2013855" y="2528633"/>
            <a:ext cx="5300929" cy="1217289"/>
          </a:xfrm>
          <a:prstGeom prst="rect">
            <a:avLst/>
          </a:prstGeom>
          <a:noFill/>
          <a:ln w="19050" algn="ctr">
            <a:solidFill>
              <a:schemeClr val="accent2">
                <a:lumMod val="75000"/>
              </a:schemeClr>
            </a:solidFill>
            <a:prstDash val="lgDash"/>
            <a:miter lim="800000"/>
            <a:headEnd/>
            <a:tailEnd/>
          </a:ln>
        </p:spPr>
        <p:txBody>
          <a:bodyPr wrap="square" lIns="40500" tIns="40500" rIns="27000" bIns="27000" rtlCol="0" anchor="ctr"/>
          <a:lstStyle/>
          <a:p>
            <a:pPr marL="26987">
              <a:lnSpc>
                <a:spcPct val="114000"/>
              </a:lnSpc>
              <a:spcAft>
                <a:spcPts val="600"/>
              </a:spcAft>
            </a:pPr>
            <a:endParaRPr lang="en-US" sz="1600" dirty="0">
              <a:solidFill>
                <a:prstClr val="black"/>
              </a:solidFill>
            </a:endParaRPr>
          </a:p>
        </p:txBody>
      </p:sp>
      <p:sp>
        <p:nvSpPr>
          <p:cNvPr id="16" name="Arrow: Left 15">
            <a:hlinkClick r:id="rId2" action="ppaction://hlinksldjump"/>
            <a:extLst>
              <a:ext uri="{FF2B5EF4-FFF2-40B4-BE49-F238E27FC236}">
                <a16:creationId xmlns:a16="http://schemas.microsoft.com/office/drawing/2014/main" id="{1726E547-026B-4427-A281-D2BF394A26EF}"/>
              </a:ext>
            </a:extLst>
          </p:cNvPr>
          <p:cNvSpPr/>
          <p:nvPr/>
        </p:nvSpPr>
        <p:spPr bwMode="gray">
          <a:xfrm>
            <a:off x="10515600" y="6410960"/>
            <a:ext cx="335280" cy="375920"/>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45496661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Products in Power Exchange</a:t>
            </a:r>
            <a:endParaRPr lang="en-US" sz="2400" dirty="0">
              <a:effectLst/>
              <a:latin typeface="Calibri" panose="020F0502020204030204" pitchFamily="34" charset="0"/>
              <a:ea typeface="Calibri" panose="020F0502020204030204" pitchFamily="34" charset="0"/>
            </a:endParaRPr>
          </a:p>
        </p:txBody>
      </p:sp>
      <p:sp>
        <p:nvSpPr>
          <p:cNvPr id="18" name="Arrow: Right 17">
            <a:extLst>
              <a:ext uri="{FF2B5EF4-FFF2-40B4-BE49-F238E27FC236}">
                <a16:creationId xmlns:a16="http://schemas.microsoft.com/office/drawing/2014/main" id="{58FE6F5E-471B-46A3-9DD7-141E87E3227F}"/>
              </a:ext>
            </a:extLst>
          </p:cNvPr>
          <p:cNvSpPr/>
          <p:nvPr/>
        </p:nvSpPr>
        <p:spPr bwMode="gray">
          <a:xfrm rot="5400000">
            <a:off x="1207721" y="2036801"/>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1" name="Rectangle: Rounded Corners 20">
            <a:extLst>
              <a:ext uri="{FF2B5EF4-FFF2-40B4-BE49-F238E27FC236}">
                <a16:creationId xmlns:a16="http://schemas.microsoft.com/office/drawing/2014/main" id="{B0F058B3-9FE5-4AD9-A967-7804C0C94C17}"/>
              </a:ext>
            </a:extLst>
          </p:cNvPr>
          <p:cNvSpPr/>
          <p:nvPr/>
        </p:nvSpPr>
        <p:spPr bwMode="gray">
          <a:xfrm>
            <a:off x="3654008" y="881434"/>
            <a:ext cx="4593771" cy="511365"/>
          </a:xfrm>
          <a:prstGeom prst="roundRect">
            <a:avLst/>
          </a:prstGeom>
          <a:solidFill>
            <a:srgbClr val="004F59"/>
          </a:solidFill>
          <a:ln w="19050" algn="ctr">
            <a:solidFill>
              <a:srgbClr val="00206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effectLst/>
                <a:ea typeface="Calibri" panose="020F0502020204030204" pitchFamily="34" charset="0"/>
              </a:rPr>
              <a:t>Types of Power Exchange Products (IEX)</a:t>
            </a:r>
            <a:endParaRPr lang="en-US" sz="1600" b="1" dirty="0">
              <a:solidFill>
                <a:schemeClr val="bg1"/>
              </a:solidFill>
            </a:endParaRPr>
          </a:p>
        </p:txBody>
      </p:sp>
      <p:sp>
        <p:nvSpPr>
          <p:cNvPr id="22" name="Rectangle 21">
            <a:extLst>
              <a:ext uri="{FF2B5EF4-FFF2-40B4-BE49-F238E27FC236}">
                <a16:creationId xmlns:a16="http://schemas.microsoft.com/office/drawing/2014/main" id="{2A5DE717-91B3-433A-9AF1-1C09F1BCFF07}"/>
              </a:ext>
            </a:extLst>
          </p:cNvPr>
          <p:cNvSpPr/>
          <p:nvPr/>
        </p:nvSpPr>
        <p:spPr bwMode="gray">
          <a:xfrm rot="5400000">
            <a:off x="6060740" y="-2885665"/>
            <a:ext cx="140964" cy="9534964"/>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3" name="Arrow: Right 22">
            <a:extLst>
              <a:ext uri="{FF2B5EF4-FFF2-40B4-BE49-F238E27FC236}">
                <a16:creationId xmlns:a16="http://schemas.microsoft.com/office/drawing/2014/main" id="{46E26864-9673-4C36-9139-52F003332E75}"/>
              </a:ext>
            </a:extLst>
          </p:cNvPr>
          <p:cNvSpPr/>
          <p:nvPr/>
        </p:nvSpPr>
        <p:spPr bwMode="gray">
          <a:xfrm rot="5400000">
            <a:off x="5740043" y="1477636"/>
            <a:ext cx="421699" cy="287631"/>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4" name="Rectangle 23">
            <a:extLst>
              <a:ext uri="{FF2B5EF4-FFF2-40B4-BE49-F238E27FC236}">
                <a16:creationId xmlns:a16="http://schemas.microsoft.com/office/drawing/2014/main" id="{D000630B-2273-489F-ABD5-DD41E5315B34}"/>
              </a:ext>
            </a:extLst>
          </p:cNvPr>
          <p:cNvSpPr/>
          <p:nvPr/>
        </p:nvSpPr>
        <p:spPr bwMode="gray">
          <a:xfrm>
            <a:off x="557715" y="2368372"/>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Integrated Day-Ahead Market (DAM)</a:t>
            </a:r>
          </a:p>
        </p:txBody>
      </p:sp>
      <p:sp>
        <p:nvSpPr>
          <p:cNvPr id="26" name="Arrow: Right 25">
            <a:extLst>
              <a:ext uri="{FF2B5EF4-FFF2-40B4-BE49-F238E27FC236}">
                <a16:creationId xmlns:a16="http://schemas.microsoft.com/office/drawing/2014/main" id="{BFD00D3F-4842-4020-88A9-C4AF7B71B148}"/>
              </a:ext>
            </a:extLst>
          </p:cNvPr>
          <p:cNvSpPr/>
          <p:nvPr/>
        </p:nvSpPr>
        <p:spPr bwMode="gray">
          <a:xfrm rot="5400000">
            <a:off x="7607555" y="2014809"/>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7" name="Rectangle 26">
            <a:extLst>
              <a:ext uri="{FF2B5EF4-FFF2-40B4-BE49-F238E27FC236}">
                <a16:creationId xmlns:a16="http://schemas.microsoft.com/office/drawing/2014/main" id="{C9F811A0-2729-4746-8EC8-553C88808DF0}"/>
              </a:ext>
            </a:extLst>
          </p:cNvPr>
          <p:cNvSpPr/>
          <p:nvPr/>
        </p:nvSpPr>
        <p:spPr bwMode="gray">
          <a:xfrm>
            <a:off x="6992570" y="2351978"/>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Term Ahead Market (TAM) &amp; G-TAM</a:t>
            </a:r>
          </a:p>
        </p:txBody>
      </p:sp>
      <p:sp>
        <p:nvSpPr>
          <p:cNvPr id="28" name="Arrow: Right 27">
            <a:extLst>
              <a:ext uri="{FF2B5EF4-FFF2-40B4-BE49-F238E27FC236}">
                <a16:creationId xmlns:a16="http://schemas.microsoft.com/office/drawing/2014/main" id="{B62CA30B-3F8C-4C7A-84A5-7C60A4FB18E9}"/>
              </a:ext>
            </a:extLst>
          </p:cNvPr>
          <p:cNvSpPr/>
          <p:nvPr/>
        </p:nvSpPr>
        <p:spPr bwMode="gray">
          <a:xfrm rot="5400000">
            <a:off x="3706909" y="2015864"/>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9" name="Rectangle 28">
            <a:extLst>
              <a:ext uri="{FF2B5EF4-FFF2-40B4-BE49-F238E27FC236}">
                <a16:creationId xmlns:a16="http://schemas.microsoft.com/office/drawing/2014/main" id="{16C975E2-B872-4B04-B7AE-E0EC2242EB88}"/>
              </a:ext>
            </a:extLst>
          </p:cNvPr>
          <p:cNvSpPr/>
          <p:nvPr/>
        </p:nvSpPr>
        <p:spPr bwMode="gray">
          <a:xfrm>
            <a:off x="3091924" y="2353033"/>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Renewable Energy Certificates (REC)</a:t>
            </a:r>
          </a:p>
        </p:txBody>
      </p:sp>
      <p:sp>
        <p:nvSpPr>
          <p:cNvPr id="34" name="Arrow: Right 33">
            <a:extLst>
              <a:ext uri="{FF2B5EF4-FFF2-40B4-BE49-F238E27FC236}">
                <a16:creationId xmlns:a16="http://schemas.microsoft.com/office/drawing/2014/main" id="{C3FFC196-4E2C-485B-9273-438AF4E005BA}"/>
              </a:ext>
            </a:extLst>
          </p:cNvPr>
          <p:cNvSpPr/>
          <p:nvPr/>
        </p:nvSpPr>
        <p:spPr bwMode="gray">
          <a:xfrm rot="5400000">
            <a:off x="1207721" y="3602929"/>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36" name="Rectangle 35">
            <a:extLst>
              <a:ext uri="{FF2B5EF4-FFF2-40B4-BE49-F238E27FC236}">
                <a16:creationId xmlns:a16="http://schemas.microsoft.com/office/drawing/2014/main" id="{86581AF7-F766-4C3A-B0A7-F4DB20787366}"/>
              </a:ext>
            </a:extLst>
          </p:cNvPr>
          <p:cNvSpPr/>
          <p:nvPr/>
        </p:nvSpPr>
        <p:spPr bwMode="gray">
          <a:xfrm>
            <a:off x="10080113" y="2323073"/>
            <a:ext cx="1650302" cy="1131585"/>
          </a:xfrm>
          <a:prstGeom prst="rect">
            <a:avLst/>
          </a:prstGeom>
          <a:solidFill>
            <a:srgbClr val="009A44"/>
          </a:solid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bg1"/>
                </a:solidFill>
                <a:effectLst>
                  <a:outerShdw blurRad="38100" dist="19050" dir="2700000" algn="tl" rotWithShape="0">
                    <a:schemeClr val="dk1">
                      <a:alpha val="40000"/>
                    </a:schemeClr>
                  </a:outerShdw>
                </a:effectLst>
              </a:rPr>
              <a:t>Real Time Market (RTM)</a:t>
            </a:r>
          </a:p>
        </p:txBody>
      </p:sp>
      <p:sp>
        <p:nvSpPr>
          <p:cNvPr id="37" name="Arrow: Right 36">
            <a:extLst>
              <a:ext uri="{FF2B5EF4-FFF2-40B4-BE49-F238E27FC236}">
                <a16:creationId xmlns:a16="http://schemas.microsoft.com/office/drawing/2014/main" id="{253322D2-2D70-456C-A32B-A8D5496B043F}"/>
              </a:ext>
            </a:extLst>
          </p:cNvPr>
          <p:cNvSpPr/>
          <p:nvPr/>
        </p:nvSpPr>
        <p:spPr bwMode="gray">
          <a:xfrm rot="5400000">
            <a:off x="10629308" y="1988813"/>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19" name="Rectangle 18">
            <a:extLst>
              <a:ext uri="{FF2B5EF4-FFF2-40B4-BE49-F238E27FC236}">
                <a16:creationId xmlns:a16="http://schemas.microsoft.com/office/drawing/2014/main" id="{1626E002-5BF4-4B91-A77B-D242CB396716}"/>
              </a:ext>
            </a:extLst>
          </p:cNvPr>
          <p:cNvSpPr/>
          <p:nvPr/>
        </p:nvSpPr>
        <p:spPr bwMode="gray">
          <a:xfrm rot="5400000">
            <a:off x="1325114" y="3092565"/>
            <a:ext cx="59437" cy="1706367"/>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0" name="Arrow: Right 19">
            <a:extLst>
              <a:ext uri="{FF2B5EF4-FFF2-40B4-BE49-F238E27FC236}">
                <a16:creationId xmlns:a16="http://schemas.microsoft.com/office/drawing/2014/main" id="{BA0AF418-5139-4EA8-B533-5860886D2618}"/>
              </a:ext>
            </a:extLst>
          </p:cNvPr>
          <p:cNvSpPr/>
          <p:nvPr/>
        </p:nvSpPr>
        <p:spPr bwMode="gray">
          <a:xfrm rot="5400000">
            <a:off x="424460" y="3984093"/>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5" name="Arrow: Right 24">
            <a:extLst>
              <a:ext uri="{FF2B5EF4-FFF2-40B4-BE49-F238E27FC236}">
                <a16:creationId xmlns:a16="http://schemas.microsoft.com/office/drawing/2014/main" id="{4329F8B1-E2D2-4F6C-9F06-81B0EDF2640C}"/>
              </a:ext>
            </a:extLst>
          </p:cNvPr>
          <p:cNvSpPr/>
          <p:nvPr/>
        </p:nvSpPr>
        <p:spPr bwMode="gray">
          <a:xfrm rot="5400000">
            <a:off x="2048454" y="3964707"/>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 name="Rectangle 1">
            <a:extLst>
              <a:ext uri="{FF2B5EF4-FFF2-40B4-BE49-F238E27FC236}">
                <a16:creationId xmlns:a16="http://schemas.microsoft.com/office/drawing/2014/main" id="{F5663155-4339-4642-9688-F0FEBE9274DE}"/>
              </a:ext>
            </a:extLst>
          </p:cNvPr>
          <p:cNvSpPr/>
          <p:nvPr/>
        </p:nvSpPr>
        <p:spPr bwMode="gray">
          <a:xfrm>
            <a:off x="103413" y="4189889"/>
            <a:ext cx="1115787" cy="392997"/>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solidFill>
                  <a:schemeClr val="tx1"/>
                </a:solidFill>
              </a:rPr>
              <a:t>DAM</a:t>
            </a:r>
          </a:p>
        </p:txBody>
      </p:sp>
      <p:sp>
        <p:nvSpPr>
          <p:cNvPr id="31" name="Rectangle 30">
            <a:extLst>
              <a:ext uri="{FF2B5EF4-FFF2-40B4-BE49-F238E27FC236}">
                <a16:creationId xmlns:a16="http://schemas.microsoft.com/office/drawing/2014/main" id="{11FC51A9-41A8-4BF0-A51A-C8B3A247CBDD}"/>
              </a:ext>
            </a:extLst>
          </p:cNvPr>
          <p:cNvSpPr/>
          <p:nvPr/>
        </p:nvSpPr>
        <p:spPr bwMode="gray">
          <a:xfrm>
            <a:off x="1650122" y="4189889"/>
            <a:ext cx="1115787" cy="392997"/>
          </a:xfrm>
          <a:prstGeom prst="rect">
            <a:avLst/>
          </a:prstGeom>
          <a:solidFill>
            <a:schemeClr val="accent3">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b="1" dirty="0">
                <a:solidFill>
                  <a:schemeClr val="tx1"/>
                </a:solidFill>
                <a:hlinkClick r:id="rId2" action="ppaction://hlinksldjump"/>
              </a:rPr>
              <a:t>G-DAM</a:t>
            </a:r>
            <a:endParaRPr lang="en-US" sz="1400" b="1" dirty="0">
              <a:solidFill>
                <a:schemeClr val="tx1"/>
              </a:solidFill>
            </a:endParaRPr>
          </a:p>
        </p:txBody>
      </p:sp>
      <p:sp>
        <p:nvSpPr>
          <p:cNvPr id="32" name="Rectangle 31">
            <a:extLst>
              <a:ext uri="{FF2B5EF4-FFF2-40B4-BE49-F238E27FC236}">
                <a16:creationId xmlns:a16="http://schemas.microsoft.com/office/drawing/2014/main" id="{60444E84-D1DC-410C-91C9-487B8299E079}"/>
              </a:ext>
            </a:extLst>
          </p:cNvPr>
          <p:cNvSpPr/>
          <p:nvPr/>
        </p:nvSpPr>
        <p:spPr bwMode="gray">
          <a:xfrm>
            <a:off x="0" y="4582886"/>
            <a:ext cx="1559609"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Delivery for next day</a:t>
            </a:r>
          </a:p>
          <a:p>
            <a:pPr marL="53975" indent="-53975">
              <a:lnSpc>
                <a:spcPct val="106000"/>
              </a:lnSpc>
              <a:buFont typeface="Arial" panose="020B0604020202020204" pitchFamily="34" charset="0"/>
              <a:buChar char="•"/>
            </a:pPr>
            <a:r>
              <a:rPr lang="en-US" sz="1200" i="1" dirty="0">
                <a:ln w="0"/>
                <a:solidFill>
                  <a:schemeClr val="tx1"/>
                </a:solidFill>
              </a:rPr>
              <a:t>Closed price discovery, double-sided auction</a:t>
            </a:r>
          </a:p>
          <a:p>
            <a:pPr marL="53975" indent="-53975">
              <a:lnSpc>
                <a:spcPct val="106000"/>
              </a:lnSpc>
              <a:buFont typeface="Arial" panose="020B0604020202020204" pitchFamily="34" charset="0"/>
              <a:buChar char="•"/>
            </a:pPr>
            <a:r>
              <a:rPr lang="en-US" sz="1200" i="1" dirty="0">
                <a:ln w="0"/>
                <a:solidFill>
                  <a:schemeClr val="tx1"/>
                </a:solidFill>
              </a:rPr>
              <a:t>15 min contracts; daily trade</a:t>
            </a:r>
          </a:p>
        </p:txBody>
      </p:sp>
      <p:sp>
        <p:nvSpPr>
          <p:cNvPr id="39" name="Rectangle 38">
            <a:extLst>
              <a:ext uri="{FF2B5EF4-FFF2-40B4-BE49-F238E27FC236}">
                <a16:creationId xmlns:a16="http://schemas.microsoft.com/office/drawing/2014/main" id="{6D73DBDD-32F9-4AD4-A93E-80CB3EFB5673}"/>
              </a:ext>
            </a:extLst>
          </p:cNvPr>
          <p:cNvSpPr/>
          <p:nvPr/>
        </p:nvSpPr>
        <p:spPr bwMode="gray">
          <a:xfrm>
            <a:off x="1515674" y="4563500"/>
            <a:ext cx="1650302"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Same as DAM, but priority given for price and volume discovery</a:t>
            </a:r>
          </a:p>
          <a:p>
            <a:pPr marL="53975" indent="-53975">
              <a:lnSpc>
                <a:spcPct val="106000"/>
              </a:lnSpc>
              <a:buFont typeface="Arial" panose="020B0604020202020204" pitchFamily="34" charset="0"/>
              <a:buChar char="•"/>
            </a:pPr>
            <a:r>
              <a:rPr lang="en-US" sz="1200" i="1" dirty="0">
                <a:ln w="0"/>
                <a:solidFill>
                  <a:schemeClr val="tx1"/>
                </a:solidFill>
              </a:rPr>
              <a:t>Option to carry forward uncleared bids in GDAM to conventional DAM</a:t>
            </a:r>
          </a:p>
          <a:p>
            <a:pPr marL="53975" indent="-53975">
              <a:lnSpc>
                <a:spcPct val="106000"/>
              </a:lnSpc>
              <a:buFont typeface="Arial" panose="020B0604020202020204" pitchFamily="34" charset="0"/>
              <a:buChar char="•"/>
            </a:pPr>
            <a:r>
              <a:rPr lang="en-US" sz="1200" i="1" dirty="0">
                <a:ln w="0"/>
                <a:solidFill>
                  <a:schemeClr val="tx1"/>
                </a:solidFill>
              </a:rPr>
              <a:t>Single price for different RE solar, non solar..</a:t>
            </a:r>
          </a:p>
        </p:txBody>
      </p:sp>
      <p:sp>
        <p:nvSpPr>
          <p:cNvPr id="40" name="Rectangle 39">
            <a:extLst>
              <a:ext uri="{FF2B5EF4-FFF2-40B4-BE49-F238E27FC236}">
                <a16:creationId xmlns:a16="http://schemas.microsoft.com/office/drawing/2014/main" id="{7EB3B935-8F82-409F-B1DE-1F3EBAB48CDE}"/>
              </a:ext>
            </a:extLst>
          </p:cNvPr>
          <p:cNvSpPr/>
          <p:nvPr/>
        </p:nvSpPr>
        <p:spPr bwMode="gray">
          <a:xfrm>
            <a:off x="3082002" y="3409674"/>
            <a:ext cx="1706367"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b="1" i="1" dirty="0">
                <a:ln w="0"/>
                <a:solidFill>
                  <a:schemeClr val="tx1"/>
                </a:solidFill>
              </a:rPr>
              <a:t>Sellers:</a:t>
            </a:r>
            <a:r>
              <a:rPr lang="en-US" sz="1200" i="1" dirty="0">
                <a:ln w="0"/>
                <a:solidFill>
                  <a:schemeClr val="tx1"/>
                </a:solidFill>
              </a:rPr>
              <a:t> RE generators not under feed in tariffs</a:t>
            </a:r>
          </a:p>
          <a:p>
            <a:pPr marL="53975" indent="-53975">
              <a:lnSpc>
                <a:spcPct val="106000"/>
              </a:lnSpc>
              <a:buFont typeface="Arial" panose="020B0604020202020204" pitchFamily="34" charset="0"/>
              <a:buChar char="•"/>
            </a:pPr>
            <a:r>
              <a:rPr lang="en-US" sz="1200" b="1" i="1" dirty="0">
                <a:ln w="0"/>
                <a:solidFill>
                  <a:schemeClr val="tx1"/>
                </a:solidFill>
              </a:rPr>
              <a:t>Buyers:</a:t>
            </a:r>
            <a:r>
              <a:rPr lang="en-US" sz="1200" i="1" dirty="0">
                <a:ln w="0"/>
                <a:solidFill>
                  <a:schemeClr val="tx1"/>
                </a:solidFill>
              </a:rPr>
              <a:t> Obligated entities; 1MWh equivalent to 1 REC</a:t>
            </a:r>
          </a:p>
        </p:txBody>
      </p:sp>
      <p:sp>
        <p:nvSpPr>
          <p:cNvPr id="41" name="Arrow: Right 40">
            <a:extLst>
              <a:ext uri="{FF2B5EF4-FFF2-40B4-BE49-F238E27FC236}">
                <a16:creationId xmlns:a16="http://schemas.microsoft.com/office/drawing/2014/main" id="{7F79CA68-6163-4AA5-BB10-5BD5E388EB30}"/>
              </a:ext>
            </a:extLst>
          </p:cNvPr>
          <p:cNvSpPr/>
          <p:nvPr/>
        </p:nvSpPr>
        <p:spPr bwMode="gray">
          <a:xfrm rot="5400000">
            <a:off x="7540896" y="3581822"/>
            <a:ext cx="421699" cy="22860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2" name="Rectangle 41">
            <a:extLst>
              <a:ext uri="{FF2B5EF4-FFF2-40B4-BE49-F238E27FC236}">
                <a16:creationId xmlns:a16="http://schemas.microsoft.com/office/drawing/2014/main" id="{D287BF9B-7D3E-41D7-860D-D0D962D5ACA2}"/>
              </a:ext>
            </a:extLst>
          </p:cNvPr>
          <p:cNvSpPr/>
          <p:nvPr/>
        </p:nvSpPr>
        <p:spPr bwMode="gray">
          <a:xfrm rot="5400000">
            <a:off x="7041788" y="2142729"/>
            <a:ext cx="45719" cy="3577538"/>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3" name="Arrow: Right 42">
            <a:extLst>
              <a:ext uri="{FF2B5EF4-FFF2-40B4-BE49-F238E27FC236}">
                <a16:creationId xmlns:a16="http://schemas.microsoft.com/office/drawing/2014/main" id="{D7C8028A-2FBB-4409-97A5-44BBB7FA619C}"/>
              </a:ext>
            </a:extLst>
          </p:cNvPr>
          <p:cNvSpPr/>
          <p:nvPr/>
        </p:nvSpPr>
        <p:spPr bwMode="gray">
          <a:xfrm rot="5400000">
            <a:off x="5198692" y="3962983"/>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4" name="Arrow: Right 43">
            <a:extLst>
              <a:ext uri="{FF2B5EF4-FFF2-40B4-BE49-F238E27FC236}">
                <a16:creationId xmlns:a16="http://schemas.microsoft.com/office/drawing/2014/main" id="{8F576F17-E473-4624-9A45-4AF8F1D22D4F}"/>
              </a:ext>
            </a:extLst>
          </p:cNvPr>
          <p:cNvSpPr/>
          <p:nvPr/>
        </p:nvSpPr>
        <p:spPr bwMode="gray">
          <a:xfrm rot="5400000">
            <a:off x="8769523" y="3943599"/>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5" name="Rectangle 44">
            <a:extLst>
              <a:ext uri="{FF2B5EF4-FFF2-40B4-BE49-F238E27FC236}">
                <a16:creationId xmlns:a16="http://schemas.microsoft.com/office/drawing/2014/main" id="{0B53C3B2-B433-4457-8513-032A3E8DED7E}"/>
              </a:ext>
            </a:extLst>
          </p:cNvPr>
          <p:cNvSpPr/>
          <p:nvPr/>
        </p:nvSpPr>
        <p:spPr bwMode="gray">
          <a:xfrm>
            <a:off x="4774774" y="4171025"/>
            <a:ext cx="1419829" cy="876911"/>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solidFill>
                  <a:schemeClr val="tx1"/>
                </a:solidFill>
              </a:rPr>
              <a:t>Intraday Market &amp; Contingency Market Segment</a:t>
            </a:r>
          </a:p>
        </p:txBody>
      </p:sp>
      <p:sp>
        <p:nvSpPr>
          <p:cNvPr id="46" name="Rectangle 45">
            <a:extLst>
              <a:ext uri="{FF2B5EF4-FFF2-40B4-BE49-F238E27FC236}">
                <a16:creationId xmlns:a16="http://schemas.microsoft.com/office/drawing/2014/main" id="{2A826D11-DA86-4E7E-A540-9328BFF4A250}"/>
              </a:ext>
            </a:extLst>
          </p:cNvPr>
          <p:cNvSpPr/>
          <p:nvPr/>
        </p:nvSpPr>
        <p:spPr bwMode="gray">
          <a:xfrm>
            <a:off x="8314836" y="4178411"/>
            <a:ext cx="1419829" cy="876911"/>
          </a:xfrm>
          <a:prstGeom prst="rect">
            <a:avLst/>
          </a:prstGeom>
          <a:solidFill>
            <a:schemeClr val="accent3">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solidFill>
                  <a:schemeClr val="tx1"/>
                </a:solidFill>
              </a:rPr>
              <a:t>Green Term Ahead Contracts</a:t>
            </a:r>
          </a:p>
        </p:txBody>
      </p:sp>
      <p:sp>
        <p:nvSpPr>
          <p:cNvPr id="47" name="Arrow: Right 46">
            <a:extLst>
              <a:ext uri="{FF2B5EF4-FFF2-40B4-BE49-F238E27FC236}">
                <a16:creationId xmlns:a16="http://schemas.microsoft.com/office/drawing/2014/main" id="{31929BE8-4043-4465-9121-5E0079B85F4A}"/>
              </a:ext>
            </a:extLst>
          </p:cNvPr>
          <p:cNvSpPr/>
          <p:nvPr/>
        </p:nvSpPr>
        <p:spPr bwMode="gray">
          <a:xfrm rot="5400000">
            <a:off x="7078597" y="3953228"/>
            <a:ext cx="236751" cy="198842"/>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48" name="Rectangle 47">
            <a:extLst>
              <a:ext uri="{FF2B5EF4-FFF2-40B4-BE49-F238E27FC236}">
                <a16:creationId xmlns:a16="http://schemas.microsoft.com/office/drawing/2014/main" id="{73192636-1313-4E4A-B0B5-1B839897B3B7}"/>
              </a:ext>
            </a:extLst>
          </p:cNvPr>
          <p:cNvSpPr/>
          <p:nvPr/>
        </p:nvSpPr>
        <p:spPr bwMode="gray">
          <a:xfrm>
            <a:off x="6534884" y="4178410"/>
            <a:ext cx="1419829" cy="876912"/>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400" dirty="0">
                <a:solidFill>
                  <a:schemeClr val="tx1"/>
                </a:solidFill>
              </a:rPr>
              <a:t>Term Ahead Contracts</a:t>
            </a:r>
          </a:p>
        </p:txBody>
      </p:sp>
      <p:sp>
        <p:nvSpPr>
          <p:cNvPr id="49" name="Rectangle 48">
            <a:extLst>
              <a:ext uri="{FF2B5EF4-FFF2-40B4-BE49-F238E27FC236}">
                <a16:creationId xmlns:a16="http://schemas.microsoft.com/office/drawing/2014/main" id="{14472D9D-4198-4F21-9EDD-24DD8A67726C}"/>
              </a:ext>
            </a:extLst>
          </p:cNvPr>
          <p:cNvSpPr/>
          <p:nvPr/>
        </p:nvSpPr>
        <p:spPr bwMode="gray">
          <a:xfrm>
            <a:off x="4414340" y="5026608"/>
            <a:ext cx="2167333"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b="1" i="1" dirty="0">
                <a:ln w="0"/>
                <a:solidFill>
                  <a:schemeClr val="tx1"/>
                </a:solidFill>
              </a:rPr>
              <a:t>Intraday Market :</a:t>
            </a:r>
            <a:r>
              <a:rPr lang="en-US" sz="1200" i="1" dirty="0">
                <a:ln w="0"/>
                <a:solidFill>
                  <a:schemeClr val="tx1"/>
                </a:solidFill>
              </a:rPr>
              <a:t> hourly and or 15 minute contracts on same day on rolling basis</a:t>
            </a:r>
          </a:p>
          <a:p>
            <a:pPr marL="53975" indent="-53975">
              <a:lnSpc>
                <a:spcPct val="106000"/>
              </a:lnSpc>
              <a:buFont typeface="Arial" panose="020B0604020202020204" pitchFamily="34" charset="0"/>
              <a:buChar char="•"/>
            </a:pPr>
            <a:r>
              <a:rPr lang="en-US" sz="1200" b="1" i="1" dirty="0">
                <a:ln w="0"/>
                <a:solidFill>
                  <a:schemeClr val="tx1"/>
                </a:solidFill>
              </a:rPr>
              <a:t>Day Ahead Contingency:</a:t>
            </a:r>
            <a:r>
              <a:rPr lang="en-US" sz="1200" i="1" dirty="0">
                <a:ln w="0"/>
                <a:solidFill>
                  <a:schemeClr val="tx1"/>
                </a:solidFill>
              </a:rPr>
              <a:t> 24 hourly and or 15 minute contracts on day ahead basis for 00:00 hours to 24:00 hours of next day</a:t>
            </a:r>
          </a:p>
        </p:txBody>
      </p:sp>
      <p:sp>
        <p:nvSpPr>
          <p:cNvPr id="50" name="Rectangle 49">
            <a:extLst>
              <a:ext uri="{FF2B5EF4-FFF2-40B4-BE49-F238E27FC236}">
                <a16:creationId xmlns:a16="http://schemas.microsoft.com/office/drawing/2014/main" id="{13414A78-C3EA-4BDE-8576-CAB8068A6A7F}"/>
              </a:ext>
            </a:extLst>
          </p:cNvPr>
          <p:cNvSpPr/>
          <p:nvPr/>
        </p:nvSpPr>
        <p:spPr bwMode="gray">
          <a:xfrm>
            <a:off x="6538221" y="4997276"/>
            <a:ext cx="1559609"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Weekly Contracts (presently two weeks)</a:t>
            </a:r>
          </a:p>
          <a:p>
            <a:pPr marL="53975" indent="-53975">
              <a:lnSpc>
                <a:spcPct val="106000"/>
              </a:lnSpc>
              <a:buFont typeface="Arial" panose="020B0604020202020204" pitchFamily="34" charset="0"/>
              <a:buChar char="•"/>
            </a:pPr>
            <a:r>
              <a:rPr lang="en-US" sz="1200" i="1" dirty="0">
                <a:ln w="0"/>
                <a:solidFill>
                  <a:schemeClr val="tx1"/>
                </a:solidFill>
              </a:rPr>
              <a:t>Daily, Monthly</a:t>
            </a:r>
          </a:p>
          <a:p>
            <a:pPr marL="53975" indent="-53975">
              <a:lnSpc>
                <a:spcPct val="106000"/>
              </a:lnSpc>
              <a:buFont typeface="Arial" panose="020B0604020202020204" pitchFamily="34" charset="0"/>
              <a:buChar char="•"/>
            </a:pPr>
            <a:r>
              <a:rPr lang="en-US" sz="1200" i="1" dirty="0">
                <a:ln w="0"/>
                <a:solidFill>
                  <a:schemeClr val="tx1"/>
                </a:solidFill>
              </a:rPr>
              <a:t>Any day (s) single side Reverse Auction</a:t>
            </a:r>
          </a:p>
        </p:txBody>
      </p:sp>
      <p:sp>
        <p:nvSpPr>
          <p:cNvPr id="51" name="Rectangle 50">
            <a:extLst>
              <a:ext uri="{FF2B5EF4-FFF2-40B4-BE49-F238E27FC236}">
                <a16:creationId xmlns:a16="http://schemas.microsoft.com/office/drawing/2014/main" id="{481D64BD-0CED-449C-AC4C-6C1E6C82EFD7}"/>
              </a:ext>
            </a:extLst>
          </p:cNvPr>
          <p:cNvSpPr/>
          <p:nvPr/>
        </p:nvSpPr>
        <p:spPr bwMode="gray">
          <a:xfrm>
            <a:off x="8327111" y="5020960"/>
            <a:ext cx="1559609"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15 min quotation of MW and Rs/MWh ‘Continuous Trade’ basis</a:t>
            </a:r>
          </a:p>
          <a:p>
            <a:pPr marL="53975" indent="-53975">
              <a:lnSpc>
                <a:spcPct val="106000"/>
              </a:lnSpc>
              <a:buFont typeface="Arial" panose="020B0604020202020204" pitchFamily="34" charset="0"/>
              <a:buChar char="•"/>
            </a:pPr>
            <a:r>
              <a:rPr lang="en-US" sz="1200" i="1" dirty="0">
                <a:ln w="0"/>
                <a:solidFill>
                  <a:schemeClr val="tx1"/>
                </a:solidFill>
              </a:rPr>
              <a:t>Revision in schedule not allowed</a:t>
            </a:r>
          </a:p>
          <a:p>
            <a:pPr marL="53975" indent="-53975">
              <a:lnSpc>
                <a:spcPct val="106000"/>
              </a:lnSpc>
              <a:buFont typeface="Arial" panose="020B0604020202020204" pitchFamily="34" charset="0"/>
              <a:buChar char="•"/>
            </a:pPr>
            <a:r>
              <a:rPr lang="en-US" sz="1200" i="1" dirty="0">
                <a:ln w="0"/>
                <a:solidFill>
                  <a:schemeClr val="tx1"/>
                </a:solidFill>
              </a:rPr>
              <a:t>Solar, Non-Solar and Hydro</a:t>
            </a:r>
          </a:p>
        </p:txBody>
      </p:sp>
      <p:sp>
        <p:nvSpPr>
          <p:cNvPr id="52" name="Rectangle 51">
            <a:extLst>
              <a:ext uri="{FF2B5EF4-FFF2-40B4-BE49-F238E27FC236}">
                <a16:creationId xmlns:a16="http://schemas.microsoft.com/office/drawing/2014/main" id="{3A7F5244-28B0-42A3-9B18-FBDF8347CF9E}"/>
              </a:ext>
            </a:extLst>
          </p:cNvPr>
          <p:cNvSpPr/>
          <p:nvPr/>
        </p:nvSpPr>
        <p:spPr bwMode="gray">
          <a:xfrm>
            <a:off x="10032674" y="3399345"/>
            <a:ext cx="1821869" cy="1131585"/>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marL="53975" indent="-53975">
              <a:lnSpc>
                <a:spcPct val="106000"/>
              </a:lnSpc>
              <a:buFont typeface="Arial" panose="020B0604020202020204" pitchFamily="34" charset="0"/>
              <a:buChar char="•"/>
            </a:pPr>
            <a:r>
              <a:rPr lang="en-US" sz="1200" i="1" dirty="0">
                <a:ln w="0"/>
                <a:solidFill>
                  <a:schemeClr val="tx1"/>
                </a:solidFill>
              </a:rPr>
              <a:t>Half Hourly market (48 times per day)</a:t>
            </a:r>
          </a:p>
          <a:p>
            <a:pPr marL="53975" indent="-53975">
              <a:lnSpc>
                <a:spcPct val="106000"/>
              </a:lnSpc>
              <a:buFont typeface="Arial" panose="020B0604020202020204" pitchFamily="34" charset="0"/>
              <a:buChar char="•"/>
            </a:pPr>
            <a:r>
              <a:rPr lang="en-US" sz="1200" i="1" dirty="0">
                <a:ln w="0"/>
                <a:solidFill>
                  <a:schemeClr val="tx1"/>
                </a:solidFill>
              </a:rPr>
              <a:t>Delivery for 30 min in two time blocks of 15 min each</a:t>
            </a:r>
          </a:p>
          <a:p>
            <a:pPr marL="53975" indent="-53975">
              <a:lnSpc>
                <a:spcPct val="106000"/>
              </a:lnSpc>
              <a:buFont typeface="Arial" panose="020B0604020202020204" pitchFamily="34" charset="0"/>
              <a:buChar char="•"/>
            </a:pPr>
            <a:r>
              <a:rPr lang="en-US" sz="1200" i="1" dirty="0">
                <a:ln w="0"/>
                <a:solidFill>
                  <a:schemeClr val="tx1"/>
                </a:solidFill>
              </a:rPr>
              <a:t>Double sided closed auction with uniform price</a:t>
            </a:r>
          </a:p>
        </p:txBody>
      </p:sp>
      <p:sp>
        <p:nvSpPr>
          <p:cNvPr id="54" name="Rectangle 53">
            <a:extLst>
              <a:ext uri="{FF2B5EF4-FFF2-40B4-BE49-F238E27FC236}">
                <a16:creationId xmlns:a16="http://schemas.microsoft.com/office/drawing/2014/main" id="{CDD0E57B-0113-479E-843B-66C29A894356}"/>
              </a:ext>
            </a:extLst>
          </p:cNvPr>
          <p:cNvSpPr/>
          <p:nvPr/>
        </p:nvSpPr>
        <p:spPr bwMode="gray">
          <a:xfrm>
            <a:off x="9778235" y="6374653"/>
            <a:ext cx="1952180" cy="298290"/>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nSpc>
                <a:spcPct val="106000"/>
              </a:lnSpc>
            </a:pPr>
            <a:r>
              <a:rPr lang="en-US" sz="1200" i="1" dirty="0">
                <a:ln w="0"/>
                <a:solidFill>
                  <a:schemeClr val="tx1"/>
                </a:solidFill>
              </a:rPr>
              <a:t>*Metric </a:t>
            </a:r>
            <a:r>
              <a:rPr lang="en-US" sz="1200" i="1" dirty="0" err="1">
                <a:ln w="0"/>
                <a:solidFill>
                  <a:schemeClr val="tx1"/>
                </a:solidFill>
              </a:rPr>
              <a:t>Tonne</a:t>
            </a:r>
            <a:r>
              <a:rPr lang="en-US" sz="1200" i="1" dirty="0">
                <a:ln w="0"/>
                <a:solidFill>
                  <a:schemeClr val="tx1"/>
                </a:solidFill>
              </a:rPr>
              <a:t> Oil Equivalent</a:t>
            </a:r>
          </a:p>
        </p:txBody>
      </p:sp>
      <p:sp>
        <p:nvSpPr>
          <p:cNvPr id="55" name="Rectangle 54">
            <a:extLst>
              <a:ext uri="{FF2B5EF4-FFF2-40B4-BE49-F238E27FC236}">
                <a16:creationId xmlns:a16="http://schemas.microsoft.com/office/drawing/2014/main" id="{BD4BA44F-628D-4C94-AA5B-A322BA00E94C}"/>
              </a:ext>
            </a:extLst>
          </p:cNvPr>
          <p:cNvSpPr/>
          <p:nvPr/>
        </p:nvSpPr>
        <p:spPr bwMode="gray">
          <a:xfrm>
            <a:off x="10239820" y="580030"/>
            <a:ext cx="1952180" cy="298290"/>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t"/>
          <a:lstStyle/>
          <a:p>
            <a:pPr>
              <a:lnSpc>
                <a:spcPct val="106000"/>
              </a:lnSpc>
            </a:pPr>
            <a:r>
              <a:rPr lang="en-US" sz="1200" i="1" dirty="0">
                <a:ln w="0"/>
                <a:solidFill>
                  <a:schemeClr val="tx1"/>
                </a:solidFill>
              </a:rPr>
              <a:t>Source: IEX</a:t>
            </a:r>
          </a:p>
        </p:txBody>
      </p:sp>
    </p:spTree>
    <p:extLst>
      <p:ext uri="{BB962C8B-B14F-4D97-AF65-F5344CB8AC3E}">
        <p14:creationId xmlns:p14="http://schemas.microsoft.com/office/powerpoint/2010/main" val="259056138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Fees &amp; Deposit Structure of IEX</a:t>
            </a:r>
            <a:endParaRPr lang="en-US" sz="2400" dirty="0">
              <a:effectLst/>
              <a:latin typeface="Calibri" panose="020F0502020204030204" pitchFamily="34" charset="0"/>
              <a:ea typeface="Calibri" panose="020F0502020204030204" pitchFamily="34" charset="0"/>
            </a:endParaRPr>
          </a:p>
        </p:txBody>
      </p:sp>
      <p:graphicFrame>
        <p:nvGraphicFramePr>
          <p:cNvPr id="7" name="Table 8">
            <a:extLst>
              <a:ext uri="{FF2B5EF4-FFF2-40B4-BE49-F238E27FC236}">
                <a16:creationId xmlns:a16="http://schemas.microsoft.com/office/drawing/2014/main" id="{AC1052D0-3BDD-4F21-9828-93127C9CEB1D}"/>
              </a:ext>
            </a:extLst>
          </p:cNvPr>
          <p:cNvGraphicFramePr>
            <a:graphicFrameLocks noGrp="1"/>
          </p:cNvGraphicFramePr>
          <p:nvPr>
            <p:extLst>
              <p:ext uri="{D42A27DB-BD31-4B8C-83A1-F6EECF244321}">
                <p14:modId xmlns:p14="http://schemas.microsoft.com/office/powerpoint/2010/main" val="1990869516"/>
              </p:ext>
            </p:extLst>
          </p:nvPr>
        </p:nvGraphicFramePr>
        <p:xfrm>
          <a:off x="501650" y="1199434"/>
          <a:ext cx="10894896" cy="4048760"/>
        </p:xfrm>
        <a:graphic>
          <a:graphicData uri="http://schemas.openxmlformats.org/drawingml/2006/table">
            <a:tbl>
              <a:tblPr firstRow="1" bandRow="1">
                <a:tableStyleId>{85BE263C-DBD7-4A20-BB59-AAB30ACAA65A}</a:tableStyleId>
              </a:tblPr>
              <a:tblGrid>
                <a:gridCol w="664037">
                  <a:extLst>
                    <a:ext uri="{9D8B030D-6E8A-4147-A177-3AD203B41FA5}">
                      <a16:colId xmlns:a16="http://schemas.microsoft.com/office/drawing/2014/main" val="1273892273"/>
                    </a:ext>
                  </a:extLst>
                </a:gridCol>
                <a:gridCol w="3079657">
                  <a:extLst>
                    <a:ext uri="{9D8B030D-6E8A-4147-A177-3AD203B41FA5}">
                      <a16:colId xmlns:a16="http://schemas.microsoft.com/office/drawing/2014/main" val="1063808900"/>
                    </a:ext>
                  </a:extLst>
                </a:gridCol>
                <a:gridCol w="3079657">
                  <a:extLst>
                    <a:ext uri="{9D8B030D-6E8A-4147-A177-3AD203B41FA5}">
                      <a16:colId xmlns:a16="http://schemas.microsoft.com/office/drawing/2014/main" val="3895738636"/>
                    </a:ext>
                  </a:extLst>
                </a:gridCol>
                <a:gridCol w="4071545">
                  <a:extLst>
                    <a:ext uri="{9D8B030D-6E8A-4147-A177-3AD203B41FA5}">
                      <a16:colId xmlns:a16="http://schemas.microsoft.com/office/drawing/2014/main" val="493076913"/>
                    </a:ext>
                  </a:extLst>
                </a:gridCol>
              </a:tblGrid>
              <a:tr h="370840">
                <a:tc>
                  <a:txBody>
                    <a:bodyPr/>
                    <a:lstStyle/>
                    <a:p>
                      <a:pPr algn="ctr"/>
                      <a:r>
                        <a:rPr lang="en-US" sz="1800" dirty="0" err="1"/>
                        <a:t>Sl</a:t>
                      </a:r>
                      <a:r>
                        <a:rPr lang="en-US" sz="1800" dirty="0"/>
                        <a:t> No</a:t>
                      </a:r>
                    </a:p>
                  </a:txBody>
                  <a:tcPr anchor="ctr"/>
                </a:tc>
                <a:tc>
                  <a:txBody>
                    <a:bodyPr/>
                    <a:lstStyle/>
                    <a:p>
                      <a:pPr algn="ctr"/>
                      <a:r>
                        <a:rPr lang="en-US" sz="1800" dirty="0"/>
                        <a:t>Particulars</a:t>
                      </a:r>
                    </a:p>
                  </a:txBody>
                  <a:tcPr anchor="ctr"/>
                </a:tc>
                <a:tc>
                  <a:txBody>
                    <a:bodyPr/>
                    <a:lstStyle/>
                    <a:p>
                      <a:pPr algn="ctr"/>
                      <a:r>
                        <a:rPr lang="en-US" sz="1800" dirty="0"/>
                        <a:t>Unit</a:t>
                      </a:r>
                    </a:p>
                  </a:txBody>
                  <a:tcPr anchor="ctr"/>
                </a:tc>
                <a:tc>
                  <a:txBody>
                    <a:bodyPr/>
                    <a:lstStyle/>
                    <a:p>
                      <a:pPr algn="ctr"/>
                      <a:r>
                        <a:rPr lang="en-US" sz="1800" dirty="0"/>
                        <a:t>Fee for Electricity Segment</a:t>
                      </a:r>
                    </a:p>
                    <a:p>
                      <a:pPr algn="ctr"/>
                      <a:r>
                        <a:rPr lang="en-US" sz="1800" dirty="0"/>
                        <a:t>(exclusive of applicable taxes)</a:t>
                      </a:r>
                    </a:p>
                  </a:txBody>
                  <a:tcPr anchor="ctr"/>
                </a:tc>
                <a:extLst>
                  <a:ext uri="{0D108BD9-81ED-4DB2-BD59-A6C34878D82A}">
                    <a16:rowId xmlns:a16="http://schemas.microsoft.com/office/drawing/2014/main" val="2149671780"/>
                  </a:ext>
                </a:extLst>
              </a:tr>
              <a:tr h="370840">
                <a:tc>
                  <a:txBody>
                    <a:bodyPr/>
                    <a:lstStyle/>
                    <a:p>
                      <a:pPr algn="ctr"/>
                      <a:r>
                        <a:rPr lang="en-US" sz="1800" dirty="0"/>
                        <a:t>1</a:t>
                      </a:r>
                    </a:p>
                  </a:txBody>
                  <a:tcPr anchor="ctr"/>
                </a:tc>
                <a:tc>
                  <a:txBody>
                    <a:bodyPr/>
                    <a:lstStyle/>
                    <a:p>
                      <a:pPr algn="ctr"/>
                      <a:r>
                        <a:rPr lang="en-US" sz="1800" dirty="0"/>
                        <a:t>Admission Fee</a:t>
                      </a:r>
                    </a:p>
                  </a:txBody>
                  <a:tcPr anchor="ctr"/>
                </a:tc>
                <a:tc>
                  <a:txBody>
                    <a:bodyPr/>
                    <a:lstStyle/>
                    <a:p>
                      <a:pPr algn="ctr"/>
                      <a:r>
                        <a:rPr lang="en-US" sz="1800" dirty="0"/>
                        <a:t>INR Lakhs</a:t>
                      </a:r>
                    </a:p>
                  </a:txBody>
                  <a:tcPr anchor="ctr"/>
                </a:tc>
                <a:tc>
                  <a:txBody>
                    <a:bodyPr/>
                    <a:lstStyle/>
                    <a:p>
                      <a:pPr algn="ctr"/>
                      <a:r>
                        <a:rPr lang="en-US" sz="1800" dirty="0"/>
                        <a:t>35</a:t>
                      </a:r>
                    </a:p>
                  </a:txBody>
                  <a:tcPr anchor="ctr"/>
                </a:tc>
                <a:extLst>
                  <a:ext uri="{0D108BD9-81ED-4DB2-BD59-A6C34878D82A}">
                    <a16:rowId xmlns:a16="http://schemas.microsoft.com/office/drawing/2014/main" val="3592079977"/>
                  </a:ext>
                </a:extLst>
              </a:tr>
              <a:tr h="370840">
                <a:tc>
                  <a:txBody>
                    <a:bodyPr/>
                    <a:lstStyle/>
                    <a:p>
                      <a:pPr algn="ctr"/>
                      <a:r>
                        <a:rPr lang="en-US" sz="1800" dirty="0"/>
                        <a:t>2</a:t>
                      </a:r>
                    </a:p>
                  </a:txBody>
                  <a:tcPr anchor="ctr"/>
                </a:tc>
                <a:tc>
                  <a:txBody>
                    <a:bodyPr/>
                    <a:lstStyle/>
                    <a:p>
                      <a:pPr algn="ctr"/>
                      <a:r>
                        <a:rPr lang="en-US" sz="1800" dirty="0"/>
                        <a:t>Security Deposit</a:t>
                      </a:r>
                    </a:p>
                  </a:txBody>
                  <a:tcPr anchor="ctr"/>
                </a:tc>
                <a:tc>
                  <a:txBody>
                    <a:bodyPr/>
                    <a:lstStyle/>
                    <a:p>
                      <a:pPr algn="ctr"/>
                      <a:r>
                        <a:rPr kumimoji="0" lang="en-US" sz="1800" b="0" i="0" u="none" strike="noStrike" kern="1200" cap="none" spc="0" normalizeH="0" baseline="0" noProof="0" dirty="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25</a:t>
                      </a:r>
                    </a:p>
                  </a:txBody>
                  <a:tcPr anchor="ctr"/>
                </a:tc>
                <a:extLst>
                  <a:ext uri="{0D108BD9-81ED-4DB2-BD59-A6C34878D82A}">
                    <a16:rowId xmlns:a16="http://schemas.microsoft.com/office/drawing/2014/main" val="3723918497"/>
                  </a:ext>
                </a:extLst>
              </a:tr>
              <a:tr h="370840">
                <a:tc>
                  <a:txBody>
                    <a:bodyPr/>
                    <a:lstStyle/>
                    <a:p>
                      <a:pPr algn="ctr"/>
                      <a:r>
                        <a:rPr lang="en-US" sz="1800" dirty="0"/>
                        <a:t>3</a:t>
                      </a:r>
                    </a:p>
                  </a:txBody>
                  <a:tcPr anchor="ctr"/>
                </a:tc>
                <a:tc>
                  <a:txBody>
                    <a:bodyPr/>
                    <a:lstStyle/>
                    <a:p>
                      <a:pPr algn="ctr"/>
                      <a:r>
                        <a:rPr lang="en-US" sz="1800" dirty="0"/>
                        <a:t>Processing Fee</a:t>
                      </a:r>
                    </a:p>
                  </a:txBody>
                  <a:tcPr anchor="ctr"/>
                </a:tc>
                <a:tc>
                  <a:txBody>
                    <a:bodyPr/>
                    <a:lstStyle/>
                    <a:p>
                      <a:pPr algn="ctr"/>
                      <a:r>
                        <a:rPr kumimoji="0" lang="en-US" sz="1800" b="0" i="0" u="none" strike="noStrike" kern="1200" cap="none" spc="0" normalizeH="0" baseline="0" noProof="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0.1</a:t>
                      </a:r>
                    </a:p>
                  </a:txBody>
                  <a:tcPr anchor="ctr"/>
                </a:tc>
                <a:extLst>
                  <a:ext uri="{0D108BD9-81ED-4DB2-BD59-A6C34878D82A}">
                    <a16:rowId xmlns:a16="http://schemas.microsoft.com/office/drawing/2014/main" val="1284723736"/>
                  </a:ext>
                </a:extLst>
              </a:tr>
              <a:tr h="370840">
                <a:tc>
                  <a:txBody>
                    <a:bodyPr/>
                    <a:lstStyle/>
                    <a:p>
                      <a:pPr algn="ctr"/>
                      <a:r>
                        <a:rPr lang="en-US" sz="1800" dirty="0"/>
                        <a:t>4</a:t>
                      </a:r>
                    </a:p>
                  </a:txBody>
                  <a:tcPr anchor="ctr"/>
                </a:tc>
                <a:tc>
                  <a:txBody>
                    <a:bodyPr/>
                    <a:lstStyle/>
                    <a:p>
                      <a:pPr algn="ctr"/>
                      <a:r>
                        <a:rPr lang="en-US" sz="1800" dirty="0"/>
                        <a:t>Annual Subscription Fee</a:t>
                      </a:r>
                    </a:p>
                  </a:txBody>
                  <a:tcPr anchor="ctr"/>
                </a:tc>
                <a:tc>
                  <a:txBody>
                    <a:bodyPr/>
                    <a:lstStyle/>
                    <a:p>
                      <a:pPr algn="ctr"/>
                      <a:r>
                        <a:rPr kumimoji="0" lang="en-US" sz="1800" b="0" i="0" u="none" strike="noStrike" kern="1200" cap="none" spc="0" normalizeH="0" baseline="0" noProof="0" dirty="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5</a:t>
                      </a:r>
                    </a:p>
                  </a:txBody>
                  <a:tcPr anchor="ctr"/>
                </a:tc>
                <a:extLst>
                  <a:ext uri="{0D108BD9-81ED-4DB2-BD59-A6C34878D82A}">
                    <a16:rowId xmlns:a16="http://schemas.microsoft.com/office/drawing/2014/main" val="1802426934"/>
                  </a:ext>
                </a:extLst>
              </a:tr>
              <a:tr h="370840">
                <a:tc>
                  <a:txBody>
                    <a:bodyPr/>
                    <a:lstStyle/>
                    <a:p>
                      <a:pPr algn="ctr"/>
                      <a:r>
                        <a:rPr lang="en-US" sz="1800" dirty="0"/>
                        <a:t>5</a:t>
                      </a:r>
                    </a:p>
                  </a:txBody>
                  <a:tcPr anchor="ctr"/>
                </a:tc>
                <a:tc>
                  <a:txBody>
                    <a:bodyPr/>
                    <a:lstStyle/>
                    <a:p>
                      <a:pPr algn="ctr"/>
                      <a:r>
                        <a:rPr lang="en-US" sz="1800" dirty="0"/>
                        <a:t>IEX Transaction Fee</a:t>
                      </a:r>
                    </a:p>
                  </a:txBody>
                  <a:tcPr anchor="ctr"/>
                </a:tc>
                <a:tc>
                  <a:txBody>
                    <a:bodyPr/>
                    <a:lstStyle/>
                    <a:p>
                      <a:pPr algn="ctr"/>
                      <a:r>
                        <a:rPr kumimoji="0" lang="en-US" sz="1800" b="0" i="0" u="none" strike="noStrike" kern="1200" cap="none" spc="0" normalizeH="0" baseline="0" noProof="0" dirty="0">
                          <a:ln>
                            <a:noFill/>
                          </a:ln>
                          <a:solidFill>
                            <a:prstClr val="black"/>
                          </a:solidFill>
                          <a:effectLst/>
                          <a:uLnTx/>
                          <a:uFillTx/>
                          <a:latin typeface="Calibri"/>
                          <a:ea typeface="+mn-ea"/>
                          <a:cs typeface="+mn-cs"/>
                        </a:rPr>
                        <a:t>INR/MWh</a:t>
                      </a:r>
                      <a:endParaRPr lang="en-US" sz="1800" dirty="0"/>
                    </a:p>
                  </a:txBody>
                  <a:tcPr anchor="ctr"/>
                </a:tc>
                <a:tc>
                  <a:txBody>
                    <a:bodyPr/>
                    <a:lstStyle/>
                    <a:p>
                      <a:pPr algn="ctr"/>
                      <a:r>
                        <a:rPr lang="en-US" sz="1800" dirty="0"/>
                        <a:t>20</a:t>
                      </a:r>
                    </a:p>
                  </a:txBody>
                  <a:tcPr anchor="ctr"/>
                </a:tc>
                <a:extLst>
                  <a:ext uri="{0D108BD9-81ED-4DB2-BD59-A6C34878D82A}">
                    <a16:rowId xmlns:a16="http://schemas.microsoft.com/office/drawing/2014/main" val="2738212965"/>
                  </a:ext>
                </a:extLst>
              </a:tr>
              <a:tr h="370840">
                <a:tc>
                  <a:txBody>
                    <a:bodyPr/>
                    <a:lstStyle/>
                    <a:p>
                      <a:pPr algn="ctr"/>
                      <a:r>
                        <a:rPr lang="en-US" sz="1800" dirty="0"/>
                        <a:t>6</a:t>
                      </a:r>
                    </a:p>
                  </a:txBody>
                  <a:tcPr anchor="ctr"/>
                </a:tc>
                <a:tc>
                  <a:txBody>
                    <a:bodyPr/>
                    <a:lstStyle/>
                    <a:p>
                      <a:pPr algn="ctr"/>
                      <a:r>
                        <a:rPr lang="en-US" sz="1800" dirty="0"/>
                        <a:t>Annual Client /Portfolio</a:t>
                      </a:r>
                    </a:p>
                    <a:p>
                      <a:pPr algn="ctr"/>
                      <a:r>
                        <a:rPr lang="en-US" sz="1800" dirty="0"/>
                        <a:t>Subscription Fee</a:t>
                      </a:r>
                    </a:p>
                  </a:txBody>
                  <a:tcPr anchor="ctr"/>
                </a:tc>
                <a:tc>
                  <a:txBody>
                    <a:bodyPr/>
                    <a:lstStyle/>
                    <a:p>
                      <a:pPr algn="ctr"/>
                      <a:r>
                        <a:rPr kumimoji="0" lang="en-US" sz="1800" b="0" i="0" u="none" strike="noStrike" kern="1200" cap="none" spc="0" normalizeH="0" baseline="0" noProof="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1</a:t>
                      </a:r>
                    </a:p>
                  </a:txBody>
                  <a:tcPr anchor="ctr"/>
                </a:tc>
                <a:extLst>
                  <a:ext uri="{0D108BD9-81ED-4DB2-BD59-A6C34878D82A}">
                    <a16:rowId xmlns:a16="http://schemas.microsoft.com/office/drawing/2014/main" val="582569085"/>
                  </a:ext>
                </a:extLst>
              </a:tr>
              <a:tr h="370840">
                <a:tc>
                  <a:txBody>
                    <a:bodyPr/>
                    <a:lstStyle/>
                    <a:p>
                      <a:pPr algn="ctr"/>
                      <a:r>
                        <a:rPr lang="en-US" sz="1800" dirty="0"/>
                        <a:t>7</a:t>
                      </a:r>
                    </a:p>
                  </a:txBody>
                  <a:tcPr anchor="ctr"/>
                </a:tc>
                <a:tc>
                  <a:txBody>
                    <a:bodyPr/>
                    <a:lstStyle/>
                    <a:p>
                      <a:pPr algn="ctr"/>
                      <a:r>
                        <a:rPr lang="en-US" sz="1800" dirty="0"/>
                        <a:t>Minimum Net Worth</a:t>
                      </a:r>
                    </a:p>
                  </a:txBody>
                  <a:tcPr anchor="ctr"/>
                </a:tc>
                <a:tc>
                  <a:txBody>
                    <a:bodyPr/>
                    <a:lstStyle/>
                    <a:p>
                      <a:pPr algn="ctr"/>
                      <a:r>
                        <a:rPr kumimoji="0" lang="en-US" sz="1800" b="0" i="0" u="none" strike="noStrike" kern="1200" cap="none" spc="0" normalizeH="0" baseline="0" noProof="0" dirty="0">
                          <a:ln>
                            <a:noFill/>
                          </a:ln>
                          <a:solidFill>
                            <a:prstClr val="black"/>
                          </a:solidFill>
                          <a:effectLst/>
                          <a:uLnTx/>
                          <a:uFillTx/>
                          <a:latin typeface="Calibri"/>
                          <a:ea typeface="+mn-ea"/>
                          <a:cs typeface="+mn-cs"/>
                        </a:rPr>
                        <a:t>INR Lakhs</a:t>
                      </a:r>
                      <a:endParaRPr lang="en-US" sz="1800" dirty="0"/>
                    </a:p>
                  </a:txBody>
                  <a:tcPr anchor="ctr"/>
                </a:tc>
                <a:tc>
                  <a:txBody>
                    <a:bodyPr/>
                    <a:lstStyle/>
                    <a:p>
                      <a:pPr algn="ctr"/>
                      <a:r>
                        <a:rPr lang="en-US" sz="1800" dirty="0"/>
                        <a:t>150</a:t>
                      </a:r>
                    </a:p>
                    <a:p>
                      <a:pPr algn="ctr"/>
                      <a:r>
                        <a:rPr lang="en-US" sz="1800" dirty="0"/>
                        <a:t>(Only for Facilitator and Proprietary Member)</a:t>
                      </a:r>
                    </a:p>
                  </a:txBody>
                  <a:tcPr anchor="ctr"/>
                </a:tc>
                <a:extLst>
                  <a:ext uri="{0D108BD9-81ED-4DB2-BD59-A6C34878D82A}">
                    <a16:rowId xmlns:a16="http://schemas.microsoft.com/office/drawing/2014/main" val="2157560615"/>
                  </a:ext>
                </a:extLst>
              </a:tr>
            </a:tbl>
          </a:graphicData>
        </a:graphic>
      </p:graphicFrame>
      <p:sp>
        <p:nvSpPr>
          <p:cNvPr id="18" name="Rectangle 17">
            <a:extLst>
              <a:ext uri="{FF2B5EF4-FFF2-40B4-BE49-F238E27FC236}">
                <a16:creationId xmlns:a16="http://schemas.microsoft.com/office/drawing/2014/main" id="{D3137543-6D75-447E-96CB-1A061BA5CF39}"/>
              </a:ext>
            </a:extLst>
          </p:cNvPr>
          <p:cNvSpPr/>
          <p:nvPr/>
        </p:nvSpPr>
        <p:spPr bwMode="gray">
          <a:xfrm>
            <a:off x="478971" y="5998029"/>
            <a:ext cx="10917575" cy="336225"/>
          </a:xfrm>
          <a:prstGeom prst="rect">
            <a:avLst/>
          </a:prstGeom>
          <a:noFill/>
          <a:ln w="19050" algn="ctr">
            <a:noFill/>
            <a:miter lim="800000"/>
            <a:headEnd/>
            <a:tailEnd/>
          </a:ln>
        </p:spPr>
        <p:txBody>
          <a:bodyPr wrap="square" lIns="40500" tIns="40500" rIns="27000" bIns="27000" rtlCol="0" anchor="ctr"/>
          <a:lstStyle/>
          <a:p>
            <a:pPr marL="26987">
              <a:lnSpc>
                <a:spcPct val="114000"/>
              </a:lnSpc>
              <a:spcAft>
                <a:spcPts val="600"/>
              </a:spcAft>
            </a:pPr>
            <a:r>
              <a:rPr lang="en-US" sz="1600" dirty="0">
                <a:solidFill>
                  <a:prstClr val="black"/>
                </a:solidFill>
              </a:rPr>
              <a:t>Source: IEX Website</a:t>
            </a:r>
          </a:p>
        </p:txBody>
      </p:sp>
    </p:spTree>
    <p:extLst>
      <p:ext uri="{BB962C8B-B14F-4D97-AF65-F5344CB8AC3E}">
        <p14:creationId xmlns:p14="http://schemas.microsoft.com/office/powerpoint/2010/main" val="385757783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800" b="1" dirty="0"/>
              <a:t>Sale through Power Exchanges– Implications for CIL</a:t>
            </a:r>
            <a:endParaRPr lang="en-GB" sz="2800" b="1" dirty="0"/>
          </a:p>
        </p:txBody>
      </p:sp>
      <p:sp>
        <p:nvSpPr>
          <p:cNvPr id="8" name="TextBox 7">
            <a:extLst>
              <a:ext uri="{FF2B5EF4-FFF2-40B4-BE49-F238E27FC236}">
                <a16:creationId xmlns:a16="http://schemas.microsoft.com/office/drawing/2014/main" id="{124B2BB2-F1A7-4F94-8772-DB369A218673}"/>
              </a:ext>
            </a:extLst>
          </p:cNvPr>
          <p:cNvSpPr txBox="1"/>
          <p:nvPr/>
        </p:nvSpPr>
        <p:spPr>
          <a:xfrm>
            <a:off x="2448912" y="2613210"/>
            <a:ext cx="9241438" cy="700128"/>
          </a:xfrm>
          <a:prstGeom prst="roundRect">
            <a:avLst/>
          </a:prstGeom>
          <a:noFill/>
          <a:ln>
            <a:solidFill>
              <a:srgbClr val="009A44"/>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Selling tariff to Exchange needs to be “&gt;=“ cost of generation</a:t>
            </a:r>
          </a:p>
        </p:txBody>
      </p:sp>
      <p:sp>
        <p:nvSpPr>
          <p:cNvPr id="9" name="TextBox 8">
            <a:extLst>
              <a:ext uri="{FF2B5EF4-FFF2-40B4-BE49-F238E27FC236}">
                <a16:creationId xmlns:a16="http://schemas.microsoft.com/office/drawing/2014/main" id="{5D8F355B-19FA-407B-9857-3B74B35DEC47}"/>
              </a:ext>
            </a:extLst>
          </p:cNvPr>
          <p:cNvSpPr txBox="1"/>
          <p:nvPr/>
        </p:nvSpPr>
        <p:spPr>
          <a:xfrm>
            <a:off x="2448912" y="3564334"/>
            <a:ext cx="9241437" cy="1790561"/>
          </a:xfrm>
          <a:prstGeom prst="roundRect">
            <a:avLst/>
          </a:prstGeom>
          <a:noFill/>
          <a:ln>
            <a:solidFill>
              <a:srgbClr val="009A44"/>
            </a:solidFill>
          </a:ln>
        </p:spPr>
        <p:txBody>
          <a:bodyPr wrap="square" lIns="0" tIns="0" rIns="0" bIns="0" rtlCol="0">
            <a:spAutoFit/>
          </a:bodyPr>
          <a:lstStyle/>
          <a:p>
            <a:pPr marL="285750" indent="-285750" algn="just">
              <a:lnSpc>
                <a:spcPct val="114000"/>
              </a:lnSpc>
              <a:spcAft>
                <a:spcPts val="600"/>
              </a:spcAft>
              <a:buSzPct val="100000"/>
              <a:buFont typeface="Arial" panose="020B0604020202020204" pitchFamily="34" charset="0"/>
              <a:buChar char="•"/>
            </a:pPr>
            <a:r>
              <a:rPr lang="en-US" sz="1600" dirty="0"/>
              <a:t>The prices are highly volatile</a:t>
            </a:r>
          </a:p>
          <a:p>
            <a:pPr marL="285750" indent="-285750" algn="just">
              <a:lnSpc>
                <a:spcPct val="114000"/>
              </a:lnSpc>
              <a:spcAft>
                <a:spcPts val="600"/>
              </a:spcAft>
              <a:buSzPct val="100000"/>
              <a:buFont typeface="Arial" panose="020B0604020202020204" pitchFamily="34" charset="0"/>
              <a:buChar char="•"/>
            </a:pPr>
            <a:r>
              <a:rPr lang="en-US" sz="1600" dirty="0"/>
              <a:t>Lack of uniform price discovery across exchanges</a:t>
            </a:r>
          </a:p>
          <a:p>
            <a:pPr marL="285750" indent="-285750" algn="just">
              <a:lnSpc>
                <a:spcPct val="114000"/>
              </a:lnSpc>
              <a:spcAft>
                <a:spcPts val="600"/>
              </a:spcAft>
              <a:buSzPct val="100000"/>
              <a:buFont typeface="Arial" panose="020B0604020202020204" pitchFamily="34" charset="0"/>
              <a:buChar char="•"/>
            </a:pPr>
            <a:r>
              <a:rPr lang="en-US" sz="1600" dirty="0"/>
              <a:t>Majorly a short-term solution</a:t>
            </a:r>
          </a:p>
          <a:p>
            <a:pPr marL="285750" indent="-285750" algn="just">
              <a:lnSpc>
                <a:spcPct val="114000"/>
              </a:lnSpc>
              <a:spcAft>
                <a:spcPts val="600"/>
              </a:spcAft>
              <a:buSzPct val="100000"/>
              <a:buFont typeface="Arial" panose="020B0604020202020204" pitchFamily="34" charset="0"/>
              <a:buChar char="•"/>
            </a:pPr>
            <a:r>
              <a:rPr lang="en-US" sz="1600" dirty="0"/>
              <a:t>Since, long term open access consumers get first preference over short term consumers, thus network availability becomes a challenge</a:t>
            </a:r>
          </a:p>
        </p:txBody>
      </p:sp>
      <p:sp>
        <p:nvSpPr>
          <p:cNvPr id="10" name="TextBox 9">
            <a:extLst>
              <a:ext uri="{FF2B5EF4-FFF2-40B4-BE49-F238E27FC236}">
                <a16:creationId xmlns:a16="http://schemas.microsoft.com/office/drawing/2014/main" id="{71A7B91D-AB2D-4A78-BC2B-FCE1B115E006}"/>
              </a:ext>
            </a:extLst>
          </p:cNvPr>
          <p:cNvSpPr txBox="1"/>
          <p:nvPr/>
        </p:nvSpPr>
        <p:spPr>
          <a:xfrm>
            <a:off x="348346" y="1749137"/>
            <a:ext cx="1900872" cy="613076"/>
          </a:xfrm>
          <a:prstGeom prst="rect">
            <a:avLst/>
          </a:prstGeom>
          <a:solidFill>
            <a:srgbClr val="009A44"/>
          </a:solidFill>
        </p:spPr>
        <p:txBody>
          <a:bodyPr wrap="square" lIns="0" tIns="0" rIns="0" bIns="0" rtlCol="0" anchor="ctr" anchorCtr="0">
            <a:noAutofit/>
          </a:bodyPr>
          <a:lstStyle/>
          <a:p>
            <a:pPr algn="ctr">
              <a:spcBef>
                <a:spcPts val="600"/>
              </a:spcBef>
              <a:buSzPct val="100000"/>
            </a:pPr>
            <a:r>
              <a:rPr lang="en-US" sz="1600" b="1" dirty="0">
                <a:solidFill>
                  <a:schemeClr val="bg1"/>
                </a:solidFill>
              </a:rPr>
              <a:t>Opportunity for CIL</a:t>
            </a:r>
          </a:p>
        </p:txBody>
      </p:sp>
      <p:sp>
        <p:nvSpPr>
          <p:cNvPr id="11" name="TextBox 10">
            <a:extLst>
              <a:ext uri="{FF2B5EF4-FFF2-40B4-BE49-F238E27FC236}">
                <a16:creationId xmlns:a16="http://schemas.microsoft.com/office/drawing/2014/main" id="{07034924-4F2A-4E9B-90C4-35452FE20C78}"/>
              </a:ext>
            </a:extLst>
          </p:cNvPr>
          <p:cNvSpPr txBox="1"/>
          <p:nvPr/>
        </p:nvSpPr>
        <p:spPr>
          <a:xfrm>
            <a:off x="348346" y="2613210"/>
            <a:ext cx="1900872" cy="700129"/>
          </a:xfrm>
          <a:prstGeom prst="rect">
            <a:avLst/>
          </a:prstGeom>
          <a:solidFill>
            <a:srgbClr val="009A44"/>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Condition for commercial viability</a:t>
            </a:r>
          </a:p>
        </p:txBody>
      </p:sp>
      <p:sp>
        <p:nvSpPr>
          <p:cNvPr id="12" name="TextBox 11">
            <a:extLst>
              <a:ext uri="{FF2B5EF4-FFF2-40B4-BE49-F238E27FC236}">
                <a16:creationId xmlns:a16="http://schemas.microsoft.com/office/drawing/2014/main" id="{43457097-F038-44CC-B0DF-692D09F99818}"/>
              </a:ext>
            </a:extLst>
          </p:cNvPr>
          <p:cNvSpPr txBox="1"/>
          <p:nvPr/>
        </p:nvSpPr>
        <p:spPr>
          <a:xfrm>
            <a:off x="348345" y="3564332"/>
            <a:ext cx="1900872" cy="1790561"/>
          </a:xfrm>
          <a:prstGeom prst="rect">
            <a:avLst/>
          </a:prstGeom>
          <a:solidFill>
            <a:srgbClr val="009A44"/>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Challenges</a:t>
            </a:r>
          </a:p>
        </p:txBody>
      </p:sp>
      <p:sp>
        <p:nvSpPr>
          <p:cNvPr id="13" name="TextBox 12">
            <a:extLst>
              <a:ext uri="{FF2B5EF4-FFF2-40B4-BE49-F238E27FC236}">
                <a16:creationId xmlns:a16="http://schemas.microsoft.com/office/drawing/2014/main" id="{028EE6DD-5A35-4217-87CD-D729AE3F999A}"/>
              </a:ext>
            </a:extLst>
          </p:cNvPr>
          <p:cNvSpPr txBox="1"/>
          <p:nvPr/>
        </p:nvSpPr>
        <p:spPr>
          <a:xfrm>
            <a:off x="2448912" y="1707973"/>
            <a:ext cx="9241438" cy="613076"/>
          </a:xfrm>
          <a:prstGeom prst="roundRect">
            <a:avLst/>
          </a:prstGeom>
          <a:noFill/>
          <a:ln>
            <a:solidFill>
              <a:srgbClr val="009A44"/>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CIL can sell its surplus/ untied solar generation through energy exchanges</a:t>
            </a:r>
          </a:p>
        </p:txBody>
      </p:sp>
    </p:spTree>
    <p:extLst>
      <p:ext uri="{BB962C8B-B14F-4D97-AF65-F5344CB8AC3E}">
        <p14:creationId xmlns:p14="http://schemas.microsoft.com/office/powerpoint/2010/main" val="24311685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9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4. Sale through other avenues</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2386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4. Sale through other avenues - Options</a:t>
            </a:r>
            <a:endParaRPr lang="en-US" sz="2400" dirty="0">
              <a:effectLst/>
              <a:latin typeface="Calibri" panose="020F0502020204030204" pitchFamily="34" charset="0"/>
              <a:ea typeface="Calibri" panose="020F0502020204030204" pitchFamily="34" charset="0"/>
            </a:endParaRPr>
          </a:p>
        </p:txBody>
      </p:sp>
      <p:sp>
        <p:nvSpPr>
          <p:cNvPr id="19" name="Arrow: Right 18">
            <a:extLst>
              <a:ext uri="{FF2B5EF4-FFF2-40B4-BE49-F238E27FC236}">
                <a16:creationId xmlns:a16="http://schemas.microsoft.com/office/drawing/2014/main" id="{1DC80640-9DB1-4341-A45B-4D98319C9BF6}"/>
              </a:ext>
            </a:extLst>
          </p:cNvPr>
          <p:cNvSpPr/>
          <p:nvPr/>
        </p:nvSpPr>
        <p:spPr bwMode="gray">
          <a:xfrm rot="5400000">
            <a:off x="5574210" y="2967066"/>
            <a:ext cx="599863" cy="205353"/>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1" name="Rectangle 20">
            <a:extLst>
              <a:ext uri="{FF2B5EF4-FFF2-40B4-BE49-F238E27FC236}">
                <a16:creationId xmlns:a16="http://schemas.microsoft.com/office/drawing/2014/main" id="{683C4842-51F8-42EA-A628-DAF4933DD85A}"/>
              </a:ext>
            </a:extLst>
          </p:cNvPr>
          <p:cNvSpPr/>
          <p:nvPr/>
        </p:nvSpPr>
        <p:spPr bwMode="gray">
          <a:xfrm rot="5400000">
            <a:off x="5854573" y="292456"/>
            <a:ext cx="59326" cy="6213763"/>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2" name="Arrow: Right 21">
            <a:extLst>
              <a:ext uri="{FF2B5EF4-FFF2-40B4-BE49-F238E27FC236}">
                <a16:creationId xmlns:a16="http://schemas.microsoft.com/office/drawing/2014/main" id="{C3E585D4-5EC9-4801-A285-2A65F9904221}"/>
              </a:ext>
            </a:extLst>
          </p:cNvPr>
          <p:cNvSpPr/>
          <p:nvPr/>
        </p:nvSpPr>
        <p:spPr bwMode="gray">
          <a:xfrm rot="5400000">
            <a:off x="2565572" y="3532314"/>
            <a:ext cx="552961" cy="24885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4" name="Rectangle: Rounded Corners 23">
            <a:extLst>
              <a:ext uri="{FF2B5EF4-FFF2-40B4-BE49-F238E27FC236}">
                <a16:creationId xmlns:a16="http://schemas.microsoft.com/office/drawing/2014/main" id="{C0B9D181-47AA-49EA-81DB-7F2AB499D511}"/>
              </a:ext>
            </a:extLst>
          </p:cNvPr>
          <p:cNvSpPr/>
          <p:nvPr/>
        </p:nvSpPr>
        <p:spPr bwMode="gray">
          <a:xfrm>
            <a:off x="1325483" y="3970600"/>
            <a:ext cx="3279769" cy="1004174"/>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4.A Sale to Open Access (C&amp;I) Consumers</a:t>
            </a:r>
          </a:p>
        </p:txBody>
      </p:sp>
      <p:sp>
        <p:nvSpPr>
          <p:cNvPr id="7" name="Rectangle 6">
            <a:extLst>
              <a:ext uri="{FF2B5EF4-FFF2-40B4-BE49-F238E27FC236}">
                <a16:creationId xmlns:a16="http://schemas.microsoft.com/office/drawing/2014/main" id="{583A2AD3-674A-40A6-8BA5-EA420FE33B3C}"/>
              </a:ext>
            </a:extLst>
          </p:cNvPr>
          <p:cNvSpPr/>
          <p:nvPr/>
        </p:nvSpPr>
        <p:spPr bwMode="gray">
          <a:xfrm>
            <a:off x="4605252" y="1707758"/>
            <a:ext cx="2737342" cy="1041663"/>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pPr>
            <a:r>
              <a:rPr lang="en-US" sz="1600" b="1" dirty="0">
                <a:solidFill>
                  <a:schemeClr val="bg1"/>
                </a:solidFill>
              </a:rPr>
              <a:t>Options for Sale through Other Avenues</a:t>
            </a:r>
          </a:p>
        </p:txBody>
      </p:sp>
      <p:sp>
        <p:nvSpPr>
          <p:cNvPr id="28" name="Arrow: Right 27">
            <a:extLst>
              <a:ext uri="{FF2B5EF4-FFF2-40B4-BE49-F238E27FC236}">
                <a16:creationId xmlns:a16="http://schemas.microsoft.com/office/drawing/2014/main" id="{8F52E56D-79B8-4D3C-A04E-A66CB7D8BF85}"/>
              </a:ext>
            </a:extLst>
          </p:cNvPr>
          <p:cNvSpPr/>
          <p:nvPr/>
        </p:nvSpPr>
        <p:spPr bwMode="gray">
          <a:xfrm rot="5400000">
            <a:off x="8651049" y="3536911"/>
            <a:ext cx="552961" cy="24885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9" name="Rectangle: Rounded Corners 28">
            <a:extLst>
              <a:ext uri="{FF2B5EF4-FFF2-40B4-BE49-F238E27FC236}">
                <a16:creationId xmlns:a16="http://schemas.microsoft.com/office/drawing/2014/main" id="{340F1D37-9FB5-4BE5-9D00-E7379EB3883F}"/>
              </a:ext>
            </a:extLst>
          </p:cNvPr>
          <p:cNvSpPr/>
          <p:nvPr/>
        </p:nvSpPr>
        <p:spPr bwMode="gray">
          <a:xfrm>
            <a:off x="7410960" y="3975197"/>
            <a:ext cx="3279769" cy="1004174"/>
          </a:xfrm>
          <a:prstGeom prst="roundRect">
            <a:avLst/>
          </a:prstGeom>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1600" b="1" dirty="0"/>
              <a:t>4B. Sale through Trading Licensees</a:t>
            </a:r>
          </a:p>
        </p:txBody>
      </p:sp>
    </p:spTree>
    <p:extLst>
      <p:ext uri="{BB962C8B-B14F-4D97-AF65-F5344CB8AC3E}">
        <p14:creationId xmlns:p14="http://schemas.microsoft.com/office/powerpoint/2010/main" val="104445040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4.A. Sale to Open Access Consumers (Commercial and Industrial)</a:t>
            </a:r>
          </a:p>
        </p:txBody>
      </p:sp>
      <p:sp>
        <p:nvSpPr>
          <p:cNvPr id="7" name="TextBox 6">
            <a:extLst>
              <a:ext uri="{FF2B5EF4-FFF2-40B4-BE49-F238E27FC236}">
                <a16:creationId xmlns:a16="http://schemas.microsoft.com/office/drawing/2014/main" id="{6497482F-B62A-4C71-8433-3BD71427B731}"/>
              </a:ext>
            </a:extLst>
          </p:cNvPr>
          <p:cNvSpPr txBox="1"/>
          <p:nvPr/>
        </p:nvSpPr>
        <p:spPr>
          <a:xfrm>
            <a:off x="2448913" y="1393681"/>
            <a:ext cx="9241438" cy="999138"/>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CIL will need to explore opportunity w.r.t large industrial consumers in Rajasthan, or geographically familiar states with CIL presence</a:t>
            </a:r>
          </a:p>
          <a:p>
            <a:pPr marL="285750" indent="-285750" algn="just">
              <a:lnSpc>
                <a:spcPct val="114000"/>
              </a:lnSpc>
              <a:spcAft>
                <a:spcPts val="600"/>
              </a:spcAft>
              <a:buSzPct val="100000"/>
              <a:buFont typeface="Arial" panose="020B0604020202020204" pitchFamily="34" charset="0"/>
              <a:buChar char="•"/>
            </a:pPr>
            <a:r>
              <a:rPr lang="en-US" sz="1600" dirty="0"/>
              <a:t>Further, CIL may also explore industry rich states to secure potential OA consumers</a:t>
            </a:r>
          </a:p>
        </p:txBody>
      </p:sp>
      <p:sp>
        <p:nvSpPr>
          <p:cNvPr id="8" name="TextBox 7">
            <a:extLst>
              <a:ext uri="{FF2B5EF4-FFF2-40B4-BE49-F238E27FC236}">
                <a16:creationId xmlns:a16="http://schemas.microsoft.com/office/drawing/2014/main" id="{0D18CD0F-CDBB-43BF-AC2C-25B67B22143C}"/>
              </a:ext>
            </a:extLst>
          </p:cNvPr>
          <p:cNvSpPr txBox="1"/>
          <p:nvPr/>
        </p:nvSpPr>
        <p:spPr>
          <a:xfrm>
            <a:off x="2425652" y="2662867"/>
            <a:ext cx="9241438" cy="1841252"/>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Such arrangement will be attractive for open access consumers when landed price of solar power (incl. all applicable open access charges) is less than discom energy charge</a:t>
            </a:r>
          </a:p>
          <a:p>
            <a:pPr marL="285750" indent="-285750" algn="just">
              <a:lnSpc>
                <a:spcPct val="114000"/>
              </a:lnSpc>
              <a:spcAft>
                <a:spcPts val="600"/>
              </a:spcAft>
              <a:buSzPct val="100000"/>
              <a:buFont typeface="Arial" panose="020B0604020202020204" pitchFamily="34" charset="0"/>
              <a:buChar char="•"/>
            </a:pPr>
            <a:r>
              <a:rPr lang="en-US" sz="1600" dirty="0">
                <a:ln w="0"/>
                <a:solidFill>
                  <a:schemeClr val="tx1"/>
                </a:solidFill>
              </a:rPr>
              <a:t>The </a:t>
            </a:r>
            <a:r>
              <a:rPr lang="en-US" sz="1600" dirty="0" err="1">
                <a:ln w="0"/>
                <a:solidFill>
                  <a:schemeClr val="tx1"/>
                </a:solidFill>
              </a:rPr>
              <a:t>MoP</a:t>
            </a:r>
            <a:r>
              <a:rPr lang="en-US" sz="1600" dirty="0">
                <a:ln w="0"/>
                <a:solidFill>
                  <a:schemeClr val="tx1"/>
                </a:solidFill>
              </a:rPr>
              <a:t> Order no. 23/12/2016-R&amp;R dated 23.11.2021 and amendment of CERC </a:t>
            </a:r>
            <a:r>
              <a:rPr lang="en-US" sz="1600" dirty="0"/>
              <a:t>(Sharing of </a:t>
            </a:r>
            <a:r>
              <a:rPr lang="en-US" sz="1600" dirty="0" err="1"/>
              <a:t>InterState</a:t>
            </a:r>
            <a:r>
              <a:rPr lang="en-US" sz="1600" dirty="0"/>
              <a:t> Transmission Charges and Losses) Regulations, 2020</a:t>
            </a:r>
            <a:r>
              <a:rPr lang="en-US" sz="1600" dirty="0">
                <a:ln w="0"/>
                <a:solidFill>
                  <a:schemeClr val="tx1"/>
                </a:solidFill>
              </a:rPr>
              <a:t> dated 07.02.2023 </a:t>
            </a:r>
            <a:r>
              <a:rPr lang="en-US" sz="1600" b="1" dirty="0">
                <a:ln w="0"/>
                <a:solidFill>
                  <a:schemeClr val="tx1"/>
                </a:solidFill>
              </a:rPr>
              <a:t>provides for waiver of Inter State Transmission charges (ISTS) on solar energy generation projects for projects commissioned within 30.06.2025</a:t>
            </a:r>
            <a:endParaRPr lang="en-US" sz="1600" dirty="0"/>
          </a:p>
        </p:txBody>
      </p:sp>
      <p:sp>
        <p:nvSpPr>
          <p:cNvPr id="11" name="TextBox 10">
            <a:extLst>
              <a:ext uri="{FF2B5EF4-FFF2-40B4-BE49-F238E27FC236}">
                <a16:creationId xmlns:a16="http://schemas.microsoft.com/office/drawing/2014/main" id="{9B8ECF70-705A-4ED8-A924-F7CF009DF91E}"/>
              </a:ext>
            </a:extLst>
          </p:cNvPr>
          <p:cNvSpPr txBox="1"/>
          <p:nvPr/>
        </p:nvSpPr>
        <p:spPr>
          <a:xfrm>
            <a:off x="2425652" y="4806183"/>
            <a:ext cx="9241437" cy="999139"/>
          </a:xfrm>
          <a:prstGeom prst="roundRect">
            <a:avLst/>
          </a:prstGeom>
          <a:noFill/>
          <a:ln>
            <a:solidFill>
              <a:schemeClr val="accent6"/>
            </a:solidFill>
          </a:ln>
        </p:spPr>
        <p:txBody>
          <a:bodyPr wrap="square" lIns="0" tIns="0" rIns="0" bIns="0" rtlCol="0">
            <a:spAutoFit/>
          </a:bodyPr>
          <a:lstStyle/>
          <a:p>
            <a:pPr marL="285750" indent="-285750" algn="just">
              <a:lnSpc>
                <a:spcPct val="114000"/>
              </a:lnSpc>
              <a:spcAft>
                <a:spcPts val="600"/>
              </a:spcAft>
              <a:buSzPct val="100000"/>
              <a:buFont typeface="Arial" panose="020B0604020202020204" pitchFamily="34" charset="0"/>
              <a:buChar char="•"/>
            </a:pPr>
            <a:r>
              <a:rPr lang="en-US" sz="1600" dirty="0"/>
              <a:t>Since demand of individual consumers will not be substantial, several consumers will have to be contracted to sell sizable quantity of solar power</a:t>
            </a:r>
          </a:p>
          <a:p>
            <a:pPr marL="285750" indent="-285750" algn="just">
              <a:lnSpc>
                <a:spcPct val="114000"/>
              </a:lnSpc>
              <a:spcAft>
                <a:spcPts val="600"/>
              </a:spcAft>
              <a:buSzPct val="100000"/>
              <a:buFont typeface="Arial" panose="020B0604020202020204" pitchFamily="34" charset="0"/>
              <a:buChar char="•"/>
            </a:pPr>
            <a:r>
              <a:rPr lang="en-US" sz="1600" dirty="0"/>
              <a:t>Managing several contracts can be challenging and cumbersome for CIL</a:t>
            </a:r>
          </a:p>
        </p:txBody>
      </p:sp>
      <p:sp>
        <p:nvSpPr>
          <p:cNvPr id="12" name="TextBox 11">
            <a:extLst>
              <a:ext uri="{FF2B5EF4-FFF2-40B4-BE49-F238E27FC236}">
                <a16:creationId xmlns:a16="http://schemas.microsoft.com/office/drawing/2014/main" id="{A542D1CD-EC52-4B80-BD1A-87076F55ED7C}"/>
              </a:ext>
            </a:extLst>
          </p:cNvPr>
          <p:cNvSpPr txBox="1"/>
          <p:nvPr/>
        </p:nvSpPr>
        <p:spPr>
          <a:xfrm>
            <a:off x="524910" y="1393680"/>
            <a:ext cx="1724307" cy="999138"/>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Potential Target Segment</a:t>
            </a:r>
          </a:p>
        </p:txBody>
      </p:sp>
      <p:sp>
        <p:nvSpPr>
          <p:cNvPr id="13" name="TextBox 12">
            <a:extLst>
              <a:ext uri="{FF2B5EF4-FFF2-40B4-BE49-F238E27FC236}">
                <a16:creationId xmlns:a16="http://schemas.microsoft.com/office/drawing/2014/main" id="{35E14D97-34C2-46FB-8C30-90A76F2BD7CC}"/>
              </a:ext>
            </a:extLst>
          </p:cNvPr>
          <p:cNvSpPr txBox="1"/>
          <p:nvPr/>
        </p:nvSpPr>
        <p:spPr>
          <a:xfrm>
            <a:off x="501650" y="2662867"/>
            <a:ext cx="1724307" cy="1841251"/>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Commercial implication</a:t>
            </a:r>
          </a:p>
        </p:txBody>
      </p:sp>
      <p:sp>
        <p:nvSpPr>
          <p:cNvPr id="14" name="TextBox 13">
            <a:extLst>
              <a:ext uri="{FF2B5EF4-FFF2-40B4-BE49-F238E27FC236}">
                <a16:creationId xmlns:a16="http://schemas.microsoft.com/office/drawing/2014/main" id="{86862F53-038B-498C-9E6D-FDAC11A01117}"/>
              </a:ext>
            </a:extLst>
          </p:cNvPr>
          <p:cNvSpPr txBox="1"/>
          <p:nvPr/>
        </p:nvSpPr>
        <p:spPr>
          <a:xfrm>
            <a:off x="501650" y="4806183"/>
            <a:ext cx="1724307" cy="999139"/>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Challenges</a:t>
            </a:r>
          </a:p>
        </p:txBody>
      </p:sp>
      <p:sp>
        <p:nvSpPr>
          <p:cNvPr id="2" name="Arrow: Left 1">
            <a:hlinkClick r:id="rId2" action="ppaction://hlinksldjump"/>
            <a:extLst>
              <a:ext uri="{FF2B5EF4-FFF2-40B4-BE49-F238E27FC236}">
                <a16:creationId xmlns:a16="http://schemas.microsoft.com/office/drawing/2014/main" id="{E31624C6-B946-4D08-AAB5-9E7794300C83}"/>
              </a:ext>
            </a:extLst>
          </p:cNvPr>
          <p:cNvSpPr/>
          <p:nvPr/>
        </p:nvSpPr>
        <p:spPr bwMode="gray">
          <a:xfrm>
            <a:off x="10353040" y="6329680"/>
            <a:ext cx="497840" cy="368587"/>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91036722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41234FD-827D-4D71-B7D3-EE6DAA0778A0}"/>
              </a:ext>
            </a:extLst>
          </p:cNvPr>
          <p:cNvSpPr/>
          <p:nvPr/>
        </p:nvSpPr>
        <p:spPr bwMode="gray">
          <a:xfrm>
            <a:off x="5963920" y="761999"/>
            <a:ext cx="5801360" cy="5751973"/>
          </a:xfrm>
          <a:prstGeom prst="rect">
            <a:avLst/>
          </a:prstGeom>
          <a:solidFill>
            <a:schemeClr val="accent1">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Open Access – Vedanta to source 580 MW green power for its Operations</a:t>
            </a:r>
          </a:p>
        </p:txBody>
      </p:sp>
      <p:sp>
        <p:nvSpPr>
          <p:cNvPr id="2" name="Arrow: Left 1">
            <a:hlinkClick r:id="rId3" action="ppaction://hlinksldjump"/>
            <a:extLst>
              <a:ext uri="{FF2B5EF4-FFF2-40B4-BE49-F238E27FC236}">
                <a16:creationId xmlns:a16="http://schemas.microsoft.com/office/drawing/2014/main" id="{E31624C6-B946-4D08-AAB5-9E7794300C83}"/>
              </a:ext>
            </a:extLst>
          </p:cNvPr>
          <p:cNvSpPr/>
          <p:nvPr/>
        </p:nvSpPr>
        <p:spPr bwMode="gray">
          <a:xfrm>
            <a:off x="501650" y="6010738"/>
            <a:ext cx="497840" cy="368587"/>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4" name="Picture 3">
            <a:extLst>
              <a:ext uri="{FF2B5EF4-FFF2-40B4-BE49-F238E27FC236}">
                <a16:creationId xmlns:a16="http://schemas.microsoft.com/office/drawing/2014/main" id="{8B9BE64B-A2AA-4252-A0FA-DAC2EA7124E1}"/>
              </a:ext>
            </a:extLst>
          </p:cNvPr>
          <p:cNvPicPr>
            <a:picLocks noChangeAspect="1"/>
          </p:cNvPicPr>
          <p:nvPr/>
        </p:nvPicPr>
        <p:blipFill>
          <a:blip r:embed="rId4"/>
          <a:stretch>
            <a:fillRect/>
          </a:stretch>
        </p:blipFill>
        <p:spPr>
          <a:xfrm>
            <a:off x="207009" y="847262"/>
            <a:ext cx="5680157" cy="4669617"/>
          </a:xfrm>
          <a:prstGeom prst="rect">
            <a:avLst/>
          </a:prstGeom>
        </p:spPr>
      </p:pic>
      <p:pic>
        <p:nvPicPr>
          <p:cNvPr id="9" name="Picture 8">
            <a:extLst>
              <a:ext uri="{FF2B5EF4-FFF2-40B4-BE49-F238E27FC236}">
                <a16:creationId xmlns:a16="http://schemas.microsoft.com/office/drawing/2014/main" id="{02157273-4F87-45D8-AA1D-B9402B86E12D}"/>
              </a:ext>
            </a:extLst>
          </p:cNvPr>
          <p:cNvPicPr>
            <a:picLocks noChangeAspect="1"/>
          </p:cNvPicPr>
          <p:nvPr/>
        </p:nvPicPr>
        <p:blipFill>
          <a:blip r:embed="rId5"/>
          <a:stretch>
            <a:fillRect/>
          </a:stretch>
        </p:blipFill>
        <p:spPr>
          <a:xfrm>
            <a:off x="6187440" y="4770436"/>
            <a:ext cx="5316022" cy="1652097"/>
          </a:xfrm>
          <a:prstGeom prst="rect">
            <a:avLst/>
          </a:prstGeom>
        </p:spPr>
      </p:pic>
      <p:pic>
        <p:nvPicPr>
          <p:cNvPr id="15" name="Picture 14">
            <a:extLst>
              <a:ext uri="{FF2B5EF4-FFF2-40B4-BE49-F238E27FC236}">
                <a16:creationId xmlns:a16="http://schemas.microsoft.com/office/drawing/2014/main" id="{B59F10DA-6067-4942-AF70-96CE04F3B9FB}"/>
              </a:ext>
            </a:extLst>
          </p:cNvPr>
          <p:cNvPicPr>
            <a:picLocks noChangeAspect="1"/>
          </p:cNvPicPr>
          <p:nvPr/>
        </p:nvPicPr>
        <p:blipFill>
          <a:blip r:embed="rId6"/>
          <a:stretch>
            <a:fillRect/>
          </a:stretch>
        </p:blipFill>
        <p:spPr>
          <a:xfrm>
            <a:off x="6217920" y="847262"/>
            <a:ext cx="5232400" cy="2113586"/>
          </a:xfrm>
          <a:prstGeom prst="rect">
            <a:avLst/>
          </a:prstGeom>
        </p:spPr>
      </p:pic>
      <p:pic>
        <p:nvPicPr>
          <p:cNvPr id="17" name="Picture 16">
            <a:extLst>
              <a:ext uri="{FF2B5EF4-FFF2-40B4-BE49-F238E27FC236}">
                <a16:creationId xmlns:a16="http://schemas.microsoft.com/office/drawing/2014/main" id="{B846201D-93B9-4D1E-844B-5C6BFD4DEA6F}"/>
              </a:ext>
            </a:extLst>
          </p:cNvPr>
          <p:cNvPicPr>
            <a:picLocks noChangeAspect="1"/>
          </p:cNvPicPr>
          <p:nvPr/>
        </p:nvPicPr>
        <p:blipFill>
          <a:blip r:embed="rId7"/>
          <a:stretch>
            <a:fillRect/>
          </a:stretch>
        </p:blipFill>
        <p:spPr>
          <a:xfrm>
            <a:off x="6197600" y="3142468"/>
            <a:ext cx="5316022" cy="1535114"/>
          </a:xfrm>
          <a:prstGeom prst="rect">
            <a:avLst/>
          </a:prstGeom>
        </p:spPr>
      </p:pic>
    </p:spTree>
    <p:extLst>
      <p:ext uri="{BB962C8B-B14F-4D97-AF65-F5344CB8AC3E}">
        <p14:creationId xmlns:p14="http://schemas.microsoft.com/office/powerpoint/2010/main" val="385964183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41234FD-827D-4D71-B7D3-EE6DAA0778A0}"/>
              </a:ext>
            </a:extLst>
          </p:cNvPr>
          <p:cNvSpPr/>
          <p:nvPr/>
        </p:nvSpPr>
        <p:spPr bwMode="gray">
          <a:xfrm>
            <a:off x="5030152" y="761998"/>
            <a:ext cx="6735128" cy="5751973"/>
          </a:xfrm>
          <a:prstGeom prst="rect">
            <a:avLst/>
          </a:prstGeom>
          <a:solidFill>
            <a:schemeClr val="accent1">
              <a:lumMod val="40000"/>
              <a:lumOff val="6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Open Access – Microsoft to source 150 MW green power from </a:t>
            </a:r>
            <a:r>
              <a:rPr lang="en-US" sz="2400" b="1" dirty="0" err="1">
                <a:latin typeface="Calibri" panose="020F0502020204030204" pitchFamily="34" charset="0"/>
              </a:rPr>
              <a:t>ReNew</a:t>
            </a:r>
            <a:endParaRPr lang="en-US" sz="2400" b="1" dirty="0">
              <a:latin typeface="Calibri" panose="020F0502020204030204" pitchFamily="34" charset="0"/>
            </a:endParaRPr>
          </a:p>
        </p:txBody>
      </p:sp>
      <p:sp>
        <p:nvSpPr>
          <p:cNvPr id="2" name="Arrow: Left 1">
            <a:hlinkClick r:id="rId3" action="ppaction://hlinksldjump"/>
            <a:extLst>
              <a:ext uri="{FF2B5EF4-FFF2-40B4-BE49-F238E27FC236}">
                <a16:creationId xmlns:a16="http://schemas.microsoft.com/office/drawing/2014/main" id="{E31624C6-B946-4D08-AAB5-9E7794300C83}"/>
              </a:ext>
            </a:extLst>
          </p:cNvPr>
          <p:cNvSpPr/>
          <p:nvPr/>
        </p:nvSpPr>
        <p:spPr bwMode="gray">
          <a:xfrm>
            <a:off x="501650" y="6010738"/>
            <a:ext cx="497840" cy="368587"/>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5" name="Picture 4">
            <a:extLst>
              <a:ext uri="{FF2B5EF4-FFF2-40B4-BE49-F238E27FC236}">
                <a16:creationId xmlns:a16="http://schemas.microsoft.com/office/drawing/2014/main" id="{D21DF2F0-441B-400C-8312-1115EF1EA437}"/>
              </a:ext>
            </a:extLst>
          </p:cNvPr>
          <p:cNvPicPr>
            <a:picLocks noChangeAspect="1"/>
          </p:cNvPicPr>
          <p:nvPr/>
        </p:nvPicPr>
        <p:blipFill>
          <a:blip r:embed="rId4"/>
          <a:stretch>
            <a:fillRect/>
          </a:stretch>
        </p:blipFill>
        <p:spPr>
          <a:xfrm>
            <a:off x="108685" y="1909560"/>
            <a:ext cx="4921467" cy="3152180"/>
          </a:xfrm>
          <a:prstGeom prst="rect">
            <a:avLst/>
          </a:prstGeom>
        </p:spPr>
      </p:pic>
      <p:pic>
        <p:nvPicPr>
          <p:cNvPr id="8" name="Picture 7">
            <a:extLst>
              <a:ext uri="{FF2B5EF4-FFF2-40B4-BE49-F238E27FC236}">
                <a16:creationId xmlns:a16="http://schemas.microsoft.com/office/drawing/2014/main" id="{5E55885A-7377-4915-AF57-1A27C8F8F1E7}"/>
              </a:ext>
            </a:extLst>
          </p:cNvPr>
          <p:cNvPicPr>
            <a:picLocks noChangeAspect="1"/>
          </p:cNvPicPr>
          <p:nvPr/>
        </p:nvPicPr>
        <p:blipFill>
          <a:blip r:embed="rId5"/>
          <a:stretch>
            <a:fillRect/>
          </a:stretch>
        </p:blipFill>
        <p:spPr>
          <a:xfrm>
            <a:off x="5130800" y="1189898"/>
            <a:ext cx="6559550" cy="1431382"/>
          </a:xfrm>
          <a:prstGeom prst="rect">
            <a:avLst/>
          </a:prstGeom>
        </p:spPr>
      </p:pic>
      <p:pic>
        <p:nvPicPr>
          <p:cNvPr id="13" name="Picture 12">
            <a:extLst>
              <a:ext uri="{FF2B5EF4-FFF2-40B4-BE49-F238E27FC236}">
                <a16:creationId xmlns:a16="http://schemas.microsoft.com/office/drawing/2014/main" id="{A2F38710-7141-4217-8752-34D5A53D6F0A}"/>
              </a:ext>
            </a:extLst>
          </p:cNvPr>
          <p:cNvPicPr>
            <a:picLocks noChangeAspect="1"/>
          </p:cNvPicPr>
          <p:nvPr/>
        </p:nvPicPr>
        <p:blipFill>
          <a:blip r:embed="rId6"/>
          <a:stretch>
            <a:fillRect/>
          </a:stretch>
        </p:blipFill>
        <p:spPr>
          <a:xfrm>
            <a:off x="5126990" y="5073772"/>
            <a:ext cx="6559550" cy="936966"/>
          </a:xfrm>
          <a:prstGeom prst="rect">
            <a:avLst/>
          </a:prstGeom>
        </p:spPr>
      </p:pic>
      <p:pic>
        <p:nvPicPr>
          <p:cNvPr id="16" name="Picture 15">
            <a:extLst>
              <a:ext uri="{FF2B5EF4-FFF2-40B4-BE49-F238E27FC236}">
                <a16:creationId xmlns:a16="http://schemas.microsoft.com/office/drawing/2014/main" id="{F4098E19-1DD5-4A32-A3B3-C74A165E46D9}"/>
              </a:ext>
            </a:extLst>
          </p:cNvPr>
          <p:cNvPicPr>
            <a:picLocks noChangeAspect="1"/>
          </p:cNvPicPr>
          <p:nvPr/>
        </p:nvPicPr>
        <p:blipFill>
          <a:blip r:embed="rId7"/>
          <a:stretch>
            <a:fillRect/>
          </a:stretch>
        </p:blipFill>
        <p:spPr>
          <a:xfrm>
            <a:off x="5127104" y="2921211"/>
            <a:ext cx="6566971" cy="1752389"/>
          </a:xfrm>
          <a:prstGeom prst="rect">
            <a:avLst/>
          </a:prstGeom>
        </p:spPr>
      </p:pic>
    </p:spTree>
    <p:extLst>
      <p:ext uri="{BB962C8B-B14F-4D97-AF65-F5344CB8AC3E}">
        <p14:creationId xmlns:p14="http://schemas.microsoft.com/office/powerpoint/2010/main" val="330430370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400" b="1" dirty="0"/>
              <a:t>Concept of Power Trading</a:t>
            </a:r>
            <a:endParaRPr lang="en-GB" sz="2400" b="1" dirty="0"/>
          </a:p>
        </p:txBody>
      </p:sp>
      <p:sp>
        <p:nvSpPr>
          <p:cNvPr id="6" name="TextBox 5">
            <a:extLst>
              <a:ext uri="{FF2B5EF4-FFF2-40B4-BE49-F238E27FC236}">
                <a16:creationId xmlns:a16="http://schemas.microsoft.com/office/drawing/2014/main" id="{63179324-1D03-46EB-863C-DB721DD3C05D}"/>
              </a:ext>
            </a:extLst>
          </p:cNvPr>
          <p:cNvSpPr txBox="1"/>
          <p:nvPr/>
        </p:nvSpPr>
        <p:spPr>
          <a:xfrm>
            <a:off x="3221344" y="2233375"/>
            <a:ext cx="8463387" cy="701943"/>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dirty="0"/>
              <a:t>Discoms, Power Exchanges, Open Access Consumers</a:t>
            </a:r>
            <a:endParaRPr lang="en-US" sz="1400" i="1" dirty="0"/>
          </a:p>
        </p:txBody>
      </p:sp>
      <p:sp>
        <p:nvSpPr>
          <p:cNvPr id="8" name="TextBox 7">
            <a:extLst>
              <a:ext uri="{FF2B5EF4-FFF2-40B4-BE49-F238E27FC236}">
                <a16:creationId xmlns:a16="http://schemas.microsoft.com/office/drawing/2014/main" id="{124B2BB2-F1A7-4F94-8772-DB369A218673}"/>
              </a:ext>
            </a:extLst>
          </p:cNvPr>
          <p:cNvSpPr txBox="1"/>
          <p:nvPr/>
        </p:nvSpPr>
        <p:spPr>
          <a:xfrm>
            <a:off x="3212553" y="1115070"/>
            <a:ext cx="8463387" cy="1043270"/>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b="1" dirty="0"/>
              <a:t>Short-term Contract:</a:t>
            </a:r>
            <a:r>
              <a:rPr lang="en-US" sz="1400" dirty="0"/>
              <a:t> period of the contract is up to 1 year</a:t>
            </a:r>
          </a:p>
          <a:p>
            <a:pPr marL="285750" indent="-285750" algn="just">
              <a:lnSpc>
                <a:spcPct val="114000"/>
              </a:lnSpc>
              <a:buSzPct val="100000"/>
              <a:buFont typeface="Arial" panose="020B0604020202020204" pitchFamily="34" charset="0"/>
              <a:buChar char="•"/>
            </a:pPr>
            <a:r>
              <a:rPr lang="en-US" sz="1400" b="1" dirty="0"/>
              <a:t>Long-term Contract:</a:t>
            </a:r>
            <a:r>
              <a:rPr lang="en-US" sz="1400" dirty="0"/>
              <a:t> period of the contract is more than 1 year</a:t>
            </a:r>
          </a:p>
          <a:p>
            <a:pPr marL="268288" lvl="1" algn="just">
              <a:lnSpc>
                <a:spcPct val="114000"/>
              </a:lnSpc>
              <a:buSzPct val="100000"/>
            </a:pPr>
            <a:r>
              <a:rPr lang="en-US" sz="1400" i="1" dirty="0"/>
              <a:t>[as per CERC (Procedure, Terms and Conditions for grant of trading </a:t>
            </a:r>
            <a:r>
              <a:rPr lang="en-US" sz="1400" i="1" dirty="0" err="1"/>
              <a:t>licence</a:t>
            </a:r>
            <a:r>
              <a:rPr lang="en-US" sz="1400" i="1" dirty="0"/>
              <a:t> and other related matters) Regulations, 2020]</a:t>
            </a:r>
          </a:p>
        </p:txBody>
      </p:sp>
      <p:sp>
        <p:nvSpPr>
          <p:cNvPr id="9" name="TextBox 8">
            <a:extLst>
              <a:ext uri="{FF2B5EF4-FFF2-40B4-BE49-F238E27FC236}">
                <a16:creationId xmlns:a16="http://schemas.microsoft.com/office/drawing/2014/main" id="{5D8F355B-19FA-407B-9857-3B74B35DEC47}"/>
              </a:ext>
            </a:extLst>
          </p:cNvPr>
          <p:cNvSpPr txBox="1"/>
          <p:nvPr/>
        </p:nvSpPr>
        <p:spPr>
          <a:xfrm>
            <a:off x="3212553" y="3010703"/>
            <a:ext cx="8463386" cy="1156487"/>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b="1" dirty="0"/>
              <a:t>Short-term Contract:</a:t>
            </a:r>
            <a:r>
              <a:rPr lang="en-US" sz="1400" dirty="0"/>
              <a:t> 0 paise/kWh to 7 paise/kWh</a:t>
            </a:r>
          </a:p>
          <a:p>
            <a:pPr marL="285750" indent="-285750" algn="just">
              <a:lnSpc>
                <a:spcPct val="114000"/>
              </a:lnSpc>
              <a:buSzPct val="100000"/>
              <a:buFont typeface="Arial" panose="020B0604020202020204" pitchFamily="34" charset="0"/>
              <a:buChar char="•"/>
            </a:pPr>
            <a:r>
              <a:rPr lang="en-US" sz="1400" b="1" dirty="0"/>
              <a:t>Long-term Contract:</a:t>
            </a:r>
            <a:r>
              <a:rPr lang="en-US" sz="1400" dirty="0"/>
              <a:t> mutually decided between the Trading Licensee and the seller</a:t>
            </a:r>
          </a:p>
          <a:p>
            <a:pPr marL="268288" algn="just">
              <a:lnSpc>
                <a:spcPct val="114000"/>
              </a:lnSpc>
              <a:buSzPct val="100000"/>
            </a:pPr>
            <a:r>
              <a:rPr lang="en-US" sz="1400" i="1" dirty="0"/>
              <a:t>[as per CERC (Procedure, Terms and Conditions for grant of trading </a:t>
            </a:r>
            <a:r>
              <a:rPr lang="en-US" sz="1400" i="1" dirty="0" err="1"/>
              <a:t>licence</a:t>
            </a:r>
            <a:r>
              <a:rPr lang="en-US" sz="1400" i="1" dirty="0"/>
              <a:t> and other related matters) Regulations, 2020]</a:t>
            </a:r>
          </a:p>
        </p:txBody>
      </p:sp>
      <p:sp>
        <p:nvSpPr>
          <p:cNvPr id="10" name="TextBox 9">
            <a:extLst>
              <a:ext uri="{FF2B5EF4-FFF2-40B4-BE49-F238E27FC236}">
                <a16:creationId xmlns:a16="http://schemas.microsoft.com/office/drawing/2014/main" id="{71A7B91D-AB2D-4A78-BC2B-FCE1B115E006}"/>
              </a:ext>
            </a:extLst>
          </p:cNvPr>
          <p:cNvSpPr txBox="1"/>
          <p:nvPr/>
        </p:nvSpPr>
        <p:spPr>
          <a:xfrm>
            <a:off x="1066801" y="710948"/>
            <a:ext cx="1900874" cy="334787"/>
          </a:xfrm>
          <a:prstGeom prst="rect">
            <a:avLst/>
          </a:prstGeom>
          <a:solidFill>
            <a:srgbClr val="046A38"/>
          </a:solidFill>
        </p:spPr>
        <p:txBody>
          <a:bodyPr wrap="square" lIns="0" tIns="0" rIns="0" bIns="0" rtlCol="0" anchor="ctr" anchorCtr="0">
            <a:noAutofit/>
          </a:bodyPr>
          <a:lstStyle/>
          <a:p>
            <a:pPr algn="ctr">
              <a:buSzPct val="100000"/>
            </a:pPr>
            <a:r>
              <a:rPr lang="en-US" sz="1600" b="1" dirty="0">
                <a:solidFill>
                  <a:schemeClr val="bg1"/>
                </a:solidFill>
              </a:rPr>
              <a:t>Definition</a:t>
            </a:r>
          </a:p>
        </p:txBody>
      </p:sp>
      <p:sp>
        <p:nvSpPr>
          <p:cNvPr id="11" name="TextBox 10">
            <a:extLst>
              <a:ext uri="{FF2B5EF4-FFF2-40B4-BE49-F238E27FC236}">
                <a16:creationId xmlns:a16="http://schemas.microsoft.com/office/drawing/2014/main" id="{07034924-4F2A-4E9B-90C4-35452FE20C78}"/>
              </a:ext>
            </a:extLst>
          </p:cNvPr>
          <p:cNvSpPr txBox="1"/>
          <p:nvPr/>
        </p:nvSpPr>
        <p:spPr>
          <a:xfrm>
            <a:off x="1066801" y="1115071"/>
            <a:ext cx="1900874" cy="1043269"/>
          </a:xfrm>
          <a:prstGeom prst="rect">
            <a:avLst/>
          </a:prstGeom>
          <a:solidFill>
            <a:srgbClr val="0D8390"/>
          </a:solidFill>
        </p:spPr>
        <p:txBody>
          <a:bodyPr wrap="square" lIns="0" tIns="0" rIns="0" bIns="0" rtlCol="0" anchor="ctr" anchorCtr="0">
            <a:noAutofit/>
          </a:bodyPr>
          <a:lstStyle/>
          <a:p>
            <a:pPr algn="ctr">
              <a:buSzPct val="100000"/>
            </a:pPr>
            <a:r>
              <a:rPr lang="en-US" sz="1600" b="1" dirty="0">
                <a:solidFill>
                  <a:schemeClr val="bg1"/>
                </a:solidFill>
              </a:rPr>
              <a:t>Types of Contract</a:t>
            </a:r>
          </a:p>
        </p:txBody>
      </p:sp>
      <p:sp>
        <p:nvSpPr>
          <p:cNvPr id="12" name="TextBox 11">
            <a:extLst>
              <a:ext uri="{FF2B5EF4-FFF2-40B4-BE49-F238E27FC236}">
                <a16:creationId xmlns:a16="http://schemas.microsoft.com/office/drawing/2014/main" id="{43457097-F038-44CC-B0DF-692D09F99818}"/>
              </a:ext>
            </a:extLst>
          </p:cNvPr>
          <p:cNvSpPr txBox="1"/>
          <p:nvPr/>
        </p:nvSpPr>
        <p:spPr>
          <a:xfrm>
            <a:off x="1062405" y="3010016"/>
            <a:ext cx="1900874" cy="1156486"/>
          </a:xfrm>
          <a:prstGeom prst="rect">
            <a:avLst/>
          </a:prstGeom>
          <a:solidFill>
            <a:srgbClr val="43B02A"/>
          </a:solidFill>
        </p:spPr>
        <p:txBody>
          <a:bodyPr wrap="square" lIns="0" tIns="0" rIns="0" bIns="0" rtlCol="0" anchor="ctr" anchorCtr="0">
            <a:noAutofit/>
          </a:bodyPr>
          <a:lstStyle/>
          <a:p>
            <a:pPr algn="ctr">
              <a:buSzPct val="100000"/>
            </a:pPr>
            <a:r>
              <a:rPr lang="en-US" sz="1600" b="1" dirty="0">
                <a:solidFill>
                  <a:schemeClr val="bg1"/>
                </a:solidFill>
              </a:rPr>
              <a:t>Trading Margin</a:t>
            </a:r>
          </a:p>
        </p:txBody>
      </p:sp>
      <p:sp>
        <p:nvSpPr>
          <p:cNvPr id="13" name="Freeform 899">
            <a:extLst>
              <a:ext uri="{FF2B5EF4-FFF2-40B4-BE49-F238E27FC236}">
                <a16:creationId xmlns:a16="http://schemas.microsoft.com/office/drawing/2014/main" id="{C5D514B4-B0C3-4EBA-A1CA-0DB43CC401AE}"/>
              </a:ext>
            </a:extLst>
          </p:cNvPr>
          <p:cNvSpPr>
            <a:spLocks noChangeAspect="1" noEditPoints="1"/>
          </p:cNvSpPr>
          <p:nvPr/>
        </p:nvSpPr>
        <p:spPr bwMode="auto">
          <a:xfrm>
            <a:off x="509005" y="700435"/>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6" name="Freeform 899">
            <a:extLst>
              <a:ext uri="{FF2B5EF4-FFF2-40B4-BE49-F238E27FC236}">
                <a16:creationId xmlns:a16="http://schemas.microsoft.com/office/drawing/2014/main" id="{809C485E-237E-44F1-9987-A956335CD8E1}"/>
              </a:ext>
            </a:extLst>
          </p:cNvPr>
          <p:cNvSpPr>
            <a:spLocks noChangeAspect="1" noEditPoints="1"/>
          </p:cNvSpPr>
          <p:nvPr/>
        </p:nvSpPr>
        <p:spPr bwMode="auto">
          <a:xfrm>
            <a:off x="509005" y="1456705"/>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0D8390"/>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7" name="TextBox 66">
            <a:extLst>
              <a:ext uri="{FF2B5EF4-FFF2-40B4-BE49-F238E27FC236}">
                <a16:creationId xmlns:a16="http://schemas.microsoft.com/office/drawing/2014/main" id="{E548A1C6-7394-4C1F-887D-1ECFE14350EA}"/>
              </a:ext>
            </a:extLst>
          </p:cNvPr>
          <p:cNvSpPr txBox="1"/>
          <p:nvPr/>
        </p:nvSpPr>
        <p:spPr>
          <a:xfrm>
            <a:off x="1062406" y="2233375"/>
            <a:ext cx="1900874" cy="701943"/>
          </a:xfrm>
          <a:prstGeom prst="rect">
            <a:avLst/>
          </a:prstGeom>
          <a:solidFill>
            <a:srgbClr val="007CB0"/>
          </a:solidFill>
        </p:spPr>
        <p:txBody>
          <a:bodyPr wrap="square" lIns="0" tIns="0" rIns="0" bIns="0" rtlCol="0" anchor="ctr" anchorCtr="0">
            <a:noAutofit/>
          </a:bodyPr>
          <a:lstStyle/>
          <a:p>
            <a:pPr algn="ctr">
              <a:buSzPct val="100000"/>
            </a:pPr>
            <a:r>
              <a:rPr lang="en-US" sz="1600" b="1" dirty="0">
                <a:solidFill>
                  <a:schemeClr val="bg1"/>
                </a:solidFill>
              </a:rPr>
              <a:t>Potential buyers from trading licensees</a:t>
            </a:r>
          </a:p>
        </p:txBody>
      </p:sp>
      <p:sp>
        <p:nvSpPr>
          <p:cNvPr id="68" name="TextBox 67">
            <a:extLst>
              <a:ext uri="{FF2B5EF4-FFF2-40B4-BE49-F238E27FC236}">
                <a16:creationId xmlns:a16="http://schemas.microsoft.com/office/drawing/2014/main" id="{96074781-43EF-470C-9A40-BD7941CC1061}"/>
              </a:ext>
            </a:extLst>
          </p:cNvPr>
          <p:cNvSpPr txBox="1"/>
          <p:nvPr/>
        </p:nvSpPr>
        <p:spPr>
          <a:xfrm>
            <a:off x="3221345" y="710948"/>
            <a:ext cx="8463387" cy="334099"/>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buSzPct val="100000"/>
              <a:buFont typeface="Arial" panose="020B0604020202020204" pitchFamily="34" charset="0"/>
              <a:buChar char="•"/>
            </a:pPr>
            <a:r>
              <a:rPr lang="en-US" sz="1400" dirty="0"/>
              <a:t>Trading means purchase of electricity for resale thereof </a:t>
            </a:r>
            <a:r>
              <a:rPr lang="en-US" sz="1400" i="1" dirty="0"/>
              <a:t>(as per Electricity Act 2003)</a:t>
            </a:r>
          </a:p>
        </p:txBody>
      </p:sp>
      <p:sp>
        <p:nvSpPr>
          <p:cNvPr id="69" name="Freeform 899">
            <a:extLst>
              <a:ext uri="{FF2B5EF4-FFF2-40B4-BE49-F238E27FC236}">
                <a16:creationId xmlns:a16="http://schemas.microsoft.com/office/drawing/2014/main" id="{2FE93920-CF00-45B9-95A3-1849B1C20CCA}"/>
              </a:ext>
            </a:extLst>
          </p:cNvPr>
          <p:cNvSpPr>
            <a:spLocks noChangeAspect="1" noEditPoints="1"/>
          </p:cNvSpPr>
          <p:nvPr/>
        </p:nvSpPr>
        <p:spPr bwMode="auto">
          <a:xfrm>
            <a:off x="509005" y="2404346"/>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007CB0"/>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0" name="Freeform 899">
            <a:extLst>
              <a:ext uri="{FF2B5EF4-FFF2-40B4-BE49-F238E27FC236}">
                <a16:creationId xmlns:a16="http://schemas.microsoft.com/office/drawing/2014/main" id="{BD9D4158-6F9E-4295-8C07-B7967D41A53E}"/>
              </a:ext>
            </a:extLst>
          </p:cNvPr>
          <p:cNvSpPr>
            <a:spLocks noChangeAspect="1" noEditPoints="1"/>
          </p:cNvSpPr>
          <p:nvPr/>
        </p:nvSpPr>
        <p:spPr bwMode="auto">
          <a:xfrm>
            <a:off x="501650" y="3408397"/>
            <a:ext cx="360000" cy="360000"/>
          </a:xfrm>
          <a:custGeom>
            <a:avLst/>
            <a:gdLst>
              <a:gd name="T0" fmla="*/ 138 w 512"/>
              <a:gd name="T1" fmla="*/ 160 h 512"/>
              <a:gd name="T2" fmla="*/ 341 w 512"/>
              <a:gd name="T3" fmla="*/ 160 h 512"/>
              <a:gd name="T4" fmla="*/ 341 w 512"/>
              <a:gd name="T5" fmla="*/ 212 h 512"/>
              <a:gd name="T6" fmla="*/ 236 w 512"/>
              <a:gd name="T7" fmla="*/ 304 h 512"/>
              <a:gd name="T8" fmla="*/ 189 w 512"/>
              <a:gd name="T9" fmla="*/ 249 h 512"/>
              <a:gd name="T10" fmla="*/ 174 w 512"/>
              <a:gd name="T11" fmla="*/ 247 h 512"/>
              <a:gd name="T12" fmla="*/ 173 w 512"/>
              <a:gd name="T13" fmla="*/ 263 h 512"/>
              <a:gd name="T14" fmla="*/ 226 w 512"/>
              <a:gd name="T15" fmla="*/ 327 h 512"/>
              <a:gd name="T16" fmla="*/ 226 w 512"/>
              <a:gd name="T17" fmla="*/ 327 h 512"/>
              <a:gd name="T18" fmla="*/ 234 w 512"/>
              <a:gd name="T19" fmla="*/ 330 h 512"/>
              <a:gd name="T20" fmla="*/ 241 w 512"/>
              <a:gd name="T21" fmla="*/ 328 h 512"/>
              <a:gd name="T22" fmla="*/ 341 w 512"/>
              <a:gd name="T23" fmla="*/ 241 h 512"/>
              <a:gd name="T24" fmla="*/ 341 w 512"/>
              <a:gd name="T25" fmla="*/ 362 h 512"/>
              <a:gd name="T26" fmla="*/ 138 w 512"/>
              <a:gd name="T27" fmla="*/ 362 h 512"/>
              <a:gd name="T28" fmla="*/ 138 w 512"/>
              <a:gd name="T29" fmla="*/ 160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413 w 512"/>
              <a:gd name="T41" fmla="*/ 163 h 512"/>
              <a:gd name="T42" fmla="*/ 398 w 512"/>
              <a:gd name="T43" fmla="*/ 162 h 512"/>
              <a:gd name="T44" fmla="*/ 362 w 512"/>
              <a:gd name="T45" fmla="*/ 193 h 512"/>
              <a:gd name="T46" fmla="*/ 362 w 512"/>
              <a:gd name="T47" fmla="*/ 149 h 512"/>
              <a:gd name="T48" fmla="*/ 352 w 512"/>
              <a:gd name="T49" fmla="*/ 138 h 512"/>
              <a:gd name="T50" fmla="*/ 128 w 512"/>
              <a:gd name="T51" fmla="*/ 138 h 512"/>
              <a:gd name="T52" fmla="*/ 117 w 512"/>
              <a:gd name="T53" fmla="*/ 149 h 512"/>
              <a:gd name="T54" fmla="*/ 117 w 512"/>
              <a:gd name="T55" fmla="*/ 373 h 512"/>
              <a:gd name="T56" fmla="*/ 128 w 512"/>
              <a:gd name="T57" fmla="*/ 384 h 512"/>
              <a:gd name="T58" fmla="*/ 352 w 512"/>
              <a:gd name="T59" fmla="*/ 384 h 512"/>
              <a:gd name="T60" fmla="*/ 362 w 512"/>
              <a:gd name="T61" fmla="*/ 373 h 512"/>
              <a:gd name="T62" fmla="*/ 362 w 512"/>
              <a:gd name="T63" fmla="*/ 222 h 512"/>
              <a:gd name="T64" fmla="*/ 412 w 512"/>
              <a:gd name="T65" fmla="*/ 178 h 512"/>
              <a:gd name="T66" fmla="*/ 413 w 512"/>
              <a:gd name="T67" fmla="*/ 16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160"/>
                </a:moveTo>
                <a:cubicBezTo>
                  <a:pt x="341" y="160"/>
                  <a:pt x="341" y="160"/>
                  <a:pt x="341" y="160"/>
                </a:cubicBezTo>
                <a:cubicBezTo>
                  <a:pt x="341" y="212"/>
                  <a:pt x="341" y="212"/>
                  <a:pt x="341" y="212"/>
                </a:cubicBezTo>
                <a:cubicBezTo>
                  <a:pt x="236" y="304"/>
                  <a:pt x="236" y="304"/>
                  <a:pt x="236" y="304"/>
                </a:cubicBezTo>
                <a:cubicBezTo>
                  <a:pt x="189" y="249"/>
                  <a:pt x="189" y="249"/>
                  <a:pt x="189" y="249"/>
                </a:cubicBezTo>
                <a:cubicBezTo>
                  <a:pt x="185" y="244"/>
                  <a:pt x="179" y="244"/>
                  <a:pt x="174" y="247"/>
                </a:cubicBezTo>
                <a:cubicBezTo>
                  <a:pt x="170" y="251"/>
                  <a:pt x="169" y="258"/>
                  <a:pt x="173" y="263"/>
                </a:cubicBezTo>
                <a:cubicBezTo>
                  <a:pt x="226" y="327"/>
                  <a:pt x="226" y="327"/>
                  <a:pt x="226" y="327"/>
                </a:cubicBezTo>
                <a:cubicBezTo>
                  <a:pt x="226" y="327"/>
                  <a:pt x="226" y="327"/>
                  <a:pt x="226" y="327"/>
                </a:cubicBezTo>
                <a:cubicBezTo>
                  <a:pt x="228" y="329"/>
                  <a:pt x="231" y="330"/>
                  <a:pt x="234" y="330"/>
                </a:cubicBezTo>
                <a:cubicBezTo>
                  <a:pt x="237" y="330"/>
                  <a:pt x="239" y="329"/>
                  <a:pt x="241" y="328"/>
                </a:cubicBezTo>
                <a:cubicBezTo>
                  <a:pt x="341" y="241"/>
                  <a:pt x="341" y="241"/>
                  <a:pt x="341" y="241"/>
                </a:cubicBezTo>
                <a:cubicBezTo>
                  <a:pt x="341" y="362"/>
                  <a:pt x="341" y="362"/>
                  <a:pt x="341" y="362"/>
                </a:cubicBezTo>
                <a:cubicBezTo>
                  <a:pt x="138" y="362"/>
                  <a:pt x="138" y="362"/>
                  <a:pt x="138" y="362"/>
                </a:cubicBezTo>
                <a:lnTo>
                  <a:pt x="138"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3" y="163"/>
                </a:moveTo>
                <a:cubicBezTo>
                  <a:pt x="409" y="159"/>
                  <a:pt x="402" y="158"/>
                  <a:pt x="398" y="162"/>
                </a:cubicBezTo>
                <a:cubicBezTo>
                  <a:pt x="362" y="193"/>
                  <a:pt x="362" y="193"/>
                  <a:pt x="362" y="193"/>
                </a:cubicBezTo>
                <a:cubicBezTo>
                  <a:pt x="362" y="149"/>
                  <a:pt x="362" y="149"/>
                  <a:pt x="362" y="149"/>
                </a:cubicBezTo>
                <a:cubicBezTo>
                  <a:pt x="362" y="143"/>
                  <a:pt x="358" y="138"/>
                  <a:pt x="352" y="138"/>
                </a:cubicBezTo>
                <a:cubicBezTo>
                  <a:pt x="128" y="138"/>
                  <a:pt x="128" y="138"/>
                  <a:pt x="128" y="138"/>
                </a:cubicBezTo>
                <a:cubicBezTo>
                  <a:pt x="122" y="138"/>
                  <a:pt x="117" y="143"/>
                  <a:pt x="117" y="149"/>
                </a:cubicBezTo>
                <a:cubicBezTo>
                  <a:pt x="117" y="373"/>
                  <a:pt x="117" y="373"/>
                  <a:pt x="117" y="373"/>
                </a:cubicBezTo>
                <a:cubicBezTo>
                  <a:pt x="117" y="379"/>
                  <a:pt x="122" y="384"/>
                  <a:pt x="128" y="384"/>
                </a:cubicBezTo>
                <a:cubicBezTo>
                  <a:pt x="352" y="384"/>
                  <a:pt x="352" y="384"/>
                  <a:pt x="352" y="384"/>
                </a:cubicBezTo>
                <a:cubicBezTo>
                  <a:pt x="358" y="384"/>
                  <a:pt x="362" y="379"/>
                  <a:pt x="362" y="373"/>
                </a:cubicBezTo>
                <a:cubicBezTo>
                  <a:pt x="362" y="222"/>
                  <a:pt x="362" y="222"/>
                  <a:pt x="362" y="222"/>
                </a:cubicBezTo>
                <a:cubicBezTo>
                  <a:pt x="412" y="178"/>
                  <a:pt x="412" y="178"/>
                  <a:pt x="412" y="178"/>
                </a:cubicBezTo>
                <a:cubicBezTo>
                  <a:pt x="416" y="174"/>
                  <a:pt x="417" y="168"/>
                  <a:pt x="413" y="163"/>
                </a:cubicBez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dirty="0"/>
          </a:p>
        </p:txBody>
      </p:sp>
      <p:graphicFrame>
        <p:nvGraphicFramePr>
          <p:cNvPr id="71" name="Table 2">
            <a:extLst>
              <a:ext uri="{FF2B5EF4-FFF2-40B4-BE49-F238E27FC236}">
                <a16:creationId xmlns:a16="http://schemas.microsoft.com/office/drawing/2014/main" id="{EBBEB6EB-696F-4E32-A017-95B62528BD9B}"/>
              </a:ext>
            </a:extLst>
          </p:cNvPr>
          <p:cNvGraphicFramePr>
            <a:graphicFrameLocks noGrp="1"/>
          </p:cNvGraphicFramePr>
          <p:nvPr/>
        </p:nvGraphicFramePr>
        <p:xfrm>
          <a:off x="487242" y="4815631"/>
          <a:ext cx="11195997" cy="1745520"/>
        </p:xfrm>
        <a:graphic>
          <a:graphicData uri="http://schemas.openxmlformats.org/drawingml/2006/table">
            <a:tbl>
              <a:tblPr>
                <a:tableStyleId>{5C22544A-7EE6-4342-B048-85BDC9FD1C3A}</a:tableStyleId>
              </a:tblPr>
              <a:tblGrid>
                <a:gridCol w="3039729">
                  <a:extLst>
                    <a:ext uri="{9D8B030D-6E8A-4147-A177-3AD203B41FA5}">
                      <a16:colId xmlns:a16="http://schemas.microsoft.com/office/drawing/2014/main" val="1919582224"/>
                    </a:ext>
                  </a:extLst>
                </a:gridCol>
                <a:gridCol w="679689">
                  <a:extLst>
                    <a:ext uri="{9D8B030D-6E8A-4147-A177-3AD203B41FA5}">
                      <a16:colId xmlns:a16="http://schemas.microsoft.com/office/drawing/2014/main" val="608341654"/>
                    </a:ext>
                  </a:extLst>
                </a:gridCol>
                <a:gridCol w="679689">
                  <a:extLst>
                    <a:ext uri="{9D8B030D-6E8A-4147-A177-3AD203B41FA5}">
                      <a16:colId xmlns:a16="http://schemas.microsoft.com/office/drawing/2014/main" val="1152557752"/>
                    </a:ext>
                  </a:extLst>
                </a:gridCol>
                <a:gridCol w="679689">
                  <a:extLst>
                    <a:ext uri="{9D8B030D-6E8A-4147-A177-3AD203B41FA5}">
                      <a16:colId xmlns:a16="http://schemas.microsoft.com/office/drawing/2014/main" val="1126867401"/>
                    </a:ext>
                  </a:extLst>
                </a:gridCol>
                <a:gridCol w="679689">
                  <a:extLst>
                    <a:ext uri="{9D8B030D-6E8A-4147-A177-3AD203B41FA5}">
                      <a16:colId xmlns:a16="http://schemas.microsoft.com/office/drawing/2014/main" val="3532611404"/>
                    </a:ext>
                  </a:extLst>
                </a:gridCol>
                <a:gridCol w="679689">
                  <a:extLst>
                    <a:ext uri="{9D8B030D-6E8A-4147-A177-3AD203B41FA5}">
                      <a16:colId xmlns:a16="http://schemas.microsoft.com/office/drawing/2014/main" val="2587709950"/>
                    </a:ext>
                  </a:extLst>
                </a:gridCol>
                <a:gridCol w="679689">
                  <a:extLst>
                    <a:ext uri="{9D8B030D-6E8A-4147-A177-3AD203B41FA5}">
                      <a16:colId xmlns:a16="http://schemas.microsoft.com/office/drawing/2014/main" val="355188831"/>
                    </a:ext>
                  </a:extLst>
                </a:gridCol>
                <a:gridCol w="679689">
                  <a:extLst>
                    <a:ext uri="{9D8B030D-6E8A-4147-A177-3AD203B41FA5}">
                      <a16:colId xmlns:a16="http://schemas.microsoft.com/office/drawing/2014/main" val="2892167916"/>
                    </a:ext>
                  </a:extLst>
                </a:gridCol>
                <a:gridCol w="679689">
                  <a:extLst>
                    <a:ext uri="{9D8B030D-6E8A-4147-A177-3AD203B41FA5}">
                      <a16:colId xmlns:a16="http://schemas.microsoft.com/office/drawing/2014/main" val="3953254342"/>
                    </a:ext>
                  </a:extLst>
                </a:gridCol>
                <a:gridCol w="679689">
                  <a:extLst>
                    <a:ext uri="{9D8B030D-6E8A-4147-A177-3AD203B41FA5}">
                      <a16:colId xmlns:a16="http://schemas.microsoft.com/office/drawing/2014/main" val="2348754210"/>
                    </a:ext>
                  </a:extLst>
                </a:gridCol>
                <a:gridCol w="679689">
                  <a:extLst>
                    <a:ext uri="{9D8B030D-6E8A-4147-A177-3AD203B41FA5}">
                      <a16:colId xmlns:a16="http://schemas.microsoft.com/office/drawing/2014/main" val="221767015"/>
                    </a:ext>
                  </a:extLst>
                </a:gridCol>
                <a:gridCol w="679689">
                  <a:extLst>
                    <a:ext uri="{9D8B030D-6E8A-4147-A177-3AD203B41FA5}">
                      <a16:colId xmlns:a16="http://schemas.microsoft.com/office/drawing/2014/main" val="3149573517"/>
                    </a:ext>
                  </a:extLst>
                </a:gridCol>
                <a:gridCol w="679689">
                  <a:extLst>
                    <a:ext uri="{9D8B030D-6E8A-4147-A177-3AD203B41FA5}">
                      <a16:colId xmlns:a16="http://schemas.microsoft.com/office/drawing/2014/main" val="242020486"/>
                    </a:ext>
                  </a:extLst>
                </a:gridCol>
              </a:tblGrid>
              <a:tr h="136577">
                <a:tc rowSpan="2">
                  <a:txBody>
                    <a:bodyPr/>
                    <a:lstStyle/>
                    <a:p>
                      <a:r>
                        <a:rPr lang="en-US" sz="1400" b="1" dirty="0">
                          <a:solidFill>
                            <a:schemeClr val="bg1"/>
                          </a:solidFill>
                        </a:rPr>
                        <a:t>Names of Trading Licensees</a:t>
                      </a:r>
                    </a:p>
                  </a:txBody>
                  <a:tcPr marL="36000" marR="36000" marT="18000" marB="18000" anchor="ctr">
                    <a:solidFill>
                      <a:schemeClr val="accent5">
                        <a:lumMod val="75000"/>
                      </a:schemeClr>
                    </a:solidFill>
                  </a:tcPr>
                </a:tc>
                <a:tc gridSpan="12">
                  <a:txBody>
                    <a:bodyPr/>
                    <a:lstStyle/>
                    <a:p>
                      <a:pPr algn="ctr"/>
                      <a:r>
                        <a:rPr lang="en-US" sz="1400" b="1" dirty="0">
                          <a:solidFill>
                            <a:schemeClr val="bg1"/>
                          </a:solidFill>
                        </a:rPr>
                        <a:t>% Share in total Volume transacted by Trading Licensees</a:t>
                      </a:r>
                    </a:p>
                  </a:txBody>
                  <a:tcPr marL="36000" marR="36000" marT="18000" marB="18000" anchor="ctr">
                    <a:solidFill>
                      <a:schemeClr val="accent5">
                        <a:lumMod val="75000"/>
                      </a:schemeClr>
                    </a:solidFill>
                  </a:tcP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tc hMerge="1">
                  <a:txBody>
                    <a:bodyPr/>
                    <a:lstStyle/>
                    <a:p>
                      <a:pPr algn="ctr"/>
                      <a:endParaRPr lang="en-US" sz="1400" dirty="0"/>
                    </a:p>
                  </a:txBody>
                  <a:tcPr anchor="ctr"/>
                </a:tc>
                <a:extLst>
                  <a:ext uri="{0D108BD9-81ED-4DB2-BD59-A6C34878D82A}">
                    <a16:rowId xmlns:a16="http://schemas.microsoft.com/office/drawing/2014/main" val="752086667"/>
                  </a:ext>
                </a:extLst>
              </a:tr>
              <a:tr h="232181">
                <a:tc vMerge="1">
                  <a:txBody>
                    <a:bodyPr/>
                    <a:lstStyle/>
                    <a:p>
                      <a:r>
                        <a:rPr lang="en-US" sz="1400" dirty="0"/>
                        <a:t>Names of Trading Licensees</a:t>
                      </a:r>
                    </a:p>
                  </a:txBody>
                  <a:tcPr anchor="ctr"/>
                </a:tc>
                <a:tc>
                  <a:txBody>
                    <a:bodyPr/>
                    <a:lstStyle/>
                    <a:p>
                      <a:pPr algn="ctr"/>
                      <a:r>
                        <a:rPr lang="en-US" sz="1400" b="1" dirty="0">
                          <a:solidFill>
                            <a:schemeClr val="bg1"/>
                          </a:solidFill>
                        </a:rPr>
                        <a:t>Apr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May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Jun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Jul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Aug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Sep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Oct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Nov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Dec ‘21</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Jan ‘22</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Feb ‘22</a:t>
                      </a:r>
                    </a:p>
                  </a:txBody>
                  <a:tcPr marL="36000" marR="36000" marT="18000" marB="18000" anchor="ctr">
                    <a:solidFill>
                      <a:schemeClr val="accent5">
                        <a:lumMod val="75000"/>
                      </a:schemeClr>
                    </a:solidFill>
                  </a:tcPr>
                </a:tc>
                <a:tc>
                  <a:txBody>
                    <a:bodyPr/>
                    <a:lstStyle/>
                    <a:p>
                      <a:pPr algn="ctr"/>
                      <a:r>
                        <a:rPr lang="en-US" sz="1400" b="1" dirty="0">
                          <a:solidFill>
                            <a:schemeClr val="bg1"/>
                          </a:solidFill>
                        </a:rPr>
                        <a:t>Mar ‘22</a:t>
                      </a:r>
                    </a:p>
                  </a:txBody>
                  <a:tcPr marL="36000" marR="36000" marT="18000" marB="18000" anchor="ctr">
                    <a:solidFill>
                      <a:schemeClr val="accent5">
                        <a:lumMod val="75000"/>
                      </a:schemeClr>
                    </a:solidFill>
                  </a:tcPr>
                </a:tc>
                <a:extLst>
                  <a:ext uri="{0D108BD9-81ED-4DB2-BD59-A6C34878D82A}">
                    <a16:rowId xmlns:a16="http://schemas.microsoft.com/office/drawing/2014/main" val="4235935379"/>
                  </a:ext>
                </a:extLst>
              </a:tr>
              <a:tr h="136577">
                <a:tc>
                  <a:txBody>
                    <a:bodyPr/>
                    <a:lstStyle/>
                    <a:p>
                      <a:r>
                        <a:rPr lang="en-US" sz="1400" dirty="0"/>
                        <a:t>PTC India Ltd. </a:t>
                      </a:r>
                    </a:p>
                  </a:txBody>
                  <a:tcPr marL="36000" marR="36000" marT="18000" marB="18000" anchor="ctr"/>
                </a:tc>
                <a:tc>
                  <a:txBody>
                    <a:bodyPr/>
                    <a:lstStyle/>
                    <a:p>
                      <a:pPr algn="ctr"/>
                      <a:r>
                        <a:rPr lang="en-US" sz="1400" dirty="0"/>
                        <a:t>42%</a:t>
                      </a:r>
                    </a:p>
                  </a:txBody>
                  <a:tcPr marL="36000" marR="36000" marT="18000" marB="18000" anchor="ctr"/>
                </a:tc>
                <a:tc>
                  <a:txBody>
                    <a:bodyPr/>
                    <a:lstStyle/>
                    <a:p>
                      <a:pPr algn="ctr"/>
                      <a:r>
                        <a:rPr lang="en-US" sz="1400" dirty="0"/>
                        <a:t>48%</a:t>
                      </a:r>
                    </a:p>
                  </a:txBody>
                  <a:tcPr marL="36000" marR="36000" marT="18000" marB="18000" anchor="ctr"/>
                </a:tc>
                <a:tc>
                  <a:txBody>
                    <a:bodyPr/>
                    <a:lstStyle/>
                    <a:p>
                      <a:pPr algn="ctr"/>
                      <a:r>
                        <a:rPr lang="en-US" sz="1400" dirty="0"/>
                        <a:t>49%</a:t>
                      </a:r>
                    </a:p>
                  </a:txBody>
                  <a:tcPr marL="36000" marR="36000" marT="18000" marB="18000" anchor="ctr"/>
                </a:tc>
                <a:tc>
                  <a:txBody>
                    <a:bodyPr/>
                    <a:lstStyle/>
                    <a:p>
                      <a:pPr algn="ctr"/>
                      <a:r>
                        <a:rPr lang="en-US" sz="1400" dirty="0"/>
                        <a:t>45%</a:t>
                      </a:r>
                    </a:p>
                  </a:txBody>
                  <a:tcPr marL="36000" marR="36000" marT="18000" marB="18000" anchor="ctr"/>
                </a:tc>
                <a:tc>
                  <a:txBody>
                    <a:bodyPr/>
                    <a:lstStyle/>
                    <a:p>
                      <a:pPr algn="ctr"/>
                      <a:r>
                        <a:rPr lang="en-US" sz="1400" dirty="0"/>
                        <a:t>44%</a:t>
                      </a:r>
                    </a:p>
                  </a:txBody>
                  <a:tcPr marL="36000" marR="36000" marT="18000" marB="18000" anchor="ctr"/>
                </a:tc>
                <a:tc>
                  <a:txBody>
                    <a:bodyPr/>
                    <a:lstStyle/>
                    <a:p>
                      <a:pPr algn="ctr"/>
                      <a:r>
                        <a:rPr lang="en-US" sz="1400" dirty="0"/>
                        <a:t>47%</a:t>
                      </a:r>
                    </a:p>
                  </a:txBody>
                  <a:tcPr marL="36000" marR="36000" marT="18000" marB="18000" anchor="ctr"/>
                </a:tc>
                <a:tc>
                  <a:txBody>
                    <a:bodyPr/>
                    <a:lstStyle/>
                    <a:p>
                      <a:pPr algn="ctr"/>
                      <a:r>
                        <a:rPr lang="en-US" sz="1400" dirty="0"/>
                        <a:t>43%</a:t>
                      </a:r>
                    </a:p>
                  </a:txBody>
                  <a:tcPr marL="36000" marR="36000" marT="18000" marB="18000" anchor="ctr"/>
                </a:tc>
                <a:tc>
                  <a:txBody>
                    <a:bodyPr/>
                    <a:lstStyle/>
                    <a:p>
                      <a:pPr algn="ctr"/>
                      <a:r>
                        <a:rPr lang="en-US" sz="1400" dirty="0"/>
                        <a:t>44%</a:t>
                      </a:r>
                    </a:p>
                  </a:txBody>
                  <a:tcPr marL="36000" marR="36000" marT="18000" marB="18000" anchor="ctr"/>
                </a:tc>
                <a:tc>
                  <a:txBody>
                    <a:bodyPr/>
                    <a:lstStyle/>
                    <a:p>
                      <a:pPr algn="ctr"/>
                      <a:r>
                        <a:rPr lang="en-US" sz="1400" dirty="0"/>
                        <a:t>49%</a:t>
                      </a:r>
                    </a:p>
                  </a:txBody>
                  <a:tcPr marL="36000" marR="36000" marT="18000" marB="18000" anchor="ctr"/>
                </a:tc>
                <a:tc>
                  <a:txBody>
                    <a:bodyPr/>
                    <a:lstStyle/>
                    <a:p>
                      <a:pPr algn="ctr"/>
                      <a:r>
                        <a:rPr lang="en-US" sz="1400" dirty="0"/>
                        <a:t>48%</a:t>
                      </a:r>
                    </a:p>
                  </a:txBody>
                  <a:tcPr marL="36000" marR="36000" marT="18000" marB="18000" anchor="ctr"/>
                </a:tc>
                <a:tc>
                  <a:txBody>
                    <a:bodyPr/>
                    <a:lstStyle/>
                    <a:p>
                      <a:pPr algn="ctr"/>
                      <a:r>
                        <a:rPr lang="en-US" sz="1400" dirty="0"/>
                        <a:t>46%</a:t>
                      </a:r>
                    </a:p>
                  </a:txBody>
                  <a:tcPr marL="36000" marR="36000" marT="18000" marB="18000" anchor="ctr"/>
                </a:tc>
                <a:tc>
                  <a:txBody>
                    <a:bodyPr/>
                    <a:lstStyle/>
                    <a:p>
                      <a:pPr algn="ctr"/>
                      <a:r>
                        <a:rPr lang="en-US" sz="1400" dirty="0"/>
                        <a:t>33%</a:t>
                      </a:r>
                    </a:p>
                  </a:txBody>
                  <a:tcPr marL="36000" marR="36000" marT="18000" marB="18000" anchor="ctr"/>
                </a:tc>
                <a:extLst>
                  <a:ext uri="{0D108BD9-81ED-4DB2-BD59-A6C34878D82A}">
                    <a16:rowId xmlns:a16="http://schemas.microsoft.com/office/drawing/2014/main" val="1401819167"/>
                  </a:ext>
                </a:extLst>
              </a:tr>
              <a:tr h="136577">
                <a:tc>
                  <a:txBody>
                    <a:bodyPr/>
                    <a:lstStyle/>
                    <a:p>
                      <a:r>
                        <a:rPr lang="nn-NO" sz="1400" dirty="0"/>
                        <a:t>NTPC Vidyut Vyapar Nigam Ltd.</a:t>
                      </a:r>
                      <a:endParaRPr lang="en-US" sz="1400" dirty="0"/>
                    </a:p>
                  </a:txBody>
                  <a:tcPr marL="36000" marR="36000" marT="18000" marB="18000" anchor="ctr"/>
                </a:tc>
                <a:tc>
                  <a:txBody>
                    <a:bodyPr/>
                    <a:lstStyle/>
                    <a:p>
                      <a:pPr algn="ctr"/>
                      <a:r>
                        <a:rPr lang="en-US" sz="1400" dirty="0"/>
                        <a:t>12%</a:t>
                      </a:r>
                    </a:p>
                  </a:txBody>
                  <a:tcPr marL="36000" marR="36000" marT="18000" marB="18000" anchor="ctr"/>
                </a:tc>
                <a:tc>
                  <a:txBody>
                    <a:bodyPr/>
                    <a:lstStyle/>
                    <a:p>
                      <a:pPr algn="ctr"/>
                      <a:r>
                        <a:rPr lang="en-US" sz="1400" dirty="0"/>
                        <a:t>12%</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13%</a:t>
                      </a:r>
                    </a:p>
                  </a:txBody>
                  <a:tcPr marL="36000" marR="36000" marT="18000" marB="18000" anchor="ctr"/>
                </a:tc>
                <a:tc>
                  <a:txBody>
                    <a:bodyPr/>
                    <a:lstStyle/>
                    <a:p>
                      <a:pPr algn="ctr"/>
                      <a:r>
                        <a:rPr lang="en-US" sz="1400" dirty="0"/>
                        <a:t>13%</a:t>
                      </a:r>
                    </a:p>
                  </a:txBody>
                  <a:tcPr marL="36000" marR="36000" marT="18000" marB="18000" anchor="ctr"/>
                </a:tc>
                <a:tc>
                  <a:txBody>
                    <a:bodyPr/>
                    <a:lstStyle/>
                    <a:p>
                      <a:pPr algn="ctr"/>
                      <a:r>
                        <a:rPr lang="en-US" sz="1400" dirty="0"/>
                        <a:t>14%</a:t>
                      </a:r>
                    </a:p>
                  </a:txBody>
                  <a:tcPr marL="36000" marR="36000" marT="18000" marB="18000" anchor="ctr"/>
                </a:tc>
                <a:tc>
                  <a:txBody>
                    <a:bodyPr/>
                    <a:lstStyle/>
                    <a:p>
                      <a:pPr algn="ctr"/>
                      <a:r>
                        <a:rPr lang="en-US" sz="1400" dirty="0"/>
                        <a:t>11%</a:t>
                      </a:r>
                    </a:p>
                  </a:txBody>
                  <a:tcPr marL="36000" marR="36000" marT="18000" marB="18000" anchor="ctr"/>
                </a:tc>
                <a:tc>
                  <a:txBody>
                    <a:bodyPr/>
                    <a:lstStyle/>
                    <a:p>
                      <a:pPr algn="ctr"/>
                      <a:r>
                        <a:rPr lang="en-US" sz="1400" dirty="0"/>
                        <a:t>17%</a:t>
                      </a:r>
                    </a:p>
                  </a:txBody>
                  <a:tcPr marL="36000" marR="36000" marT="18000" marB="18000" anchor="ctr"/>
                </a:tc>
                <a:extLst>
                  <a:ext uri="{0D108BD9-81ED-4DB2-BD59-A6C34878D82A}">
                    <a16:rowId xmlns:a16="http://schemas.microsoft.com/office/drawing/2014/main" val="1207443310"/>
                  </a:ext>
                </a:extLst>
              </a:tr>
              <a:tr h="136577">
                <a:tc>
                  <a:txBody>
                    <a:bodyPr/>
                    <a:lstStyle/>
                    <a:p>
                      <a:r>
                        <a:rPr lang="en-US" sz="1400" dirty="0"/>
                        <a:t>Adani Enterprises Ltd</a:t>
                      </a:r>
                    </a:p>
                  </a:txBody>
                  <a:tcPr marL="36000" marR="36000" marT="18000" marB="18000" anchor="ctr"/>
                </a:tc>
                <a:tc>
                  <a:txBody>
                    <a:bodyPr/>
                    <a:lstStyle/>
                    <a:p>
                      <a:pPr algn="ctr"/>
                      <a:r>
                        <a:rPr lang="en-US" sz="1400" dirty="0"/>
                        <a:t>12%</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14%</a:t>
                      </a:r>
                    </a:p>
                  </a:txBody>
                  <a:tcPr marL="36000" marR="36000" marT="18000" marB="18000" anchor="ctr"/>
                </a:tc>
                <a:tc>
                  <a:txBody>
                    <a:bodyPr/>
                    <a:lstStyle/>
                    <a:p>
                      <a:pPr algn="ctr"/>
                      <a:r>
                        <a:rPr lang="en-US" sz="1400" dirty="0"/>
                        <a:t>9%</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5%</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12%</a:t>
                      </a:r>
                    </a:p>
                  </a:txBody>
                  <a:tcPr marL="36000" marR="36000" marT="18000" marB="18000" anchor="ctr"/>
                </a:tc>
                <a:extLst>
                  <a:ext uri="{0D108BD9-81ED-4DB2-BD59-A6C34878D82A}">
                    <a16:rowId xmlns:a16="http://schemas.microsoft.com/office/drawing/2014/main" val="1129990785"/>
                  </a:ext>
                </a:extLst>
              </a:tr>
              <a:tr h="136577">
                <a:tc>
                  <a:txBody>
                    <a:bodyPr/>
                    <a:lstStyle/>
                    <a:p>
                      <a:r>
                        <a:rPr lang="en-US" sz="1400" dirty="0"/>
                        <a:t>Tata Power Trading Company (P) Ltd.</a:t>
                      </a:r>
                    </a:p>
                  </a:txBody>
                  <a:tcPr marL="36000" marR="36000" marT="18000" marB="18000" anchor="ctr"/>
                </a:tc>
                <a:tc>
                  <a:txBody>
                    <a:bodyPr/>
                    <a:lstStyle/>
                    <a:p>
                      <a:pPr algn="ctr"/>
                      <a:r>
                        <a:rPr lang="en-US" sz="1400" dirty="0"/>
                        <a:t>11%</a:t>
                      </a:r>
                    </a:p>
                  </a:txBody>
                  <a:tcPr marL="36000" marR="36000" marT="18000" marB="18000" anchor="ctr"/>
                </a:tc>
                <a:tc>
                  <a:txBody>
                    <a:bodyPr/>
                    <a:lstStyle/>
                    <a:p>
                      <a:pPr algn="ctr"/>
                      <a:r>
                        <a:rPr lang="en-US" sz="1400" dirty="0"/>
                        <a:t>11%</a:t>
                      </a:r>
                    </a:p>
                  </a:txBody>
                  <a:tcPr marL="36000" marR="36000" marT="18000" marB="18000" anchor="ctr"/>
                </a:tc>
                <a:tc>
                  <a:txBody>
                    <a:bodyPr/>
                    <a:lstStyle/>
                    <a:p>
                      <a:pPr algn="ctr"/>
                      <a:r>
                        <a:rPr lang="en-US" sz="1400" dirty="0"/>
                        <a:t>15%</a:t>
                      </a:r>
                    </a:p>
                  </a:txBody>
                  <a:tcPr marL="36000" marR="36000" marT="18000" marB="18000" anchor="ctr"/>
                </a:tc>
                <a:tc>
                  <a:txBody>
                    <a:bodyPr/>
                    <a:lstStyle/>
                    <a:p>
                      <a:pPr algn="ctr"/>
                      <a:r>
                        <a:rPr lang="en-US" sz="1400" dirty="0"/>
                        <a:t>14%</a:t>
                      </a:r>
                    </a:p>
                  </a:txBody>
                  <a:tcPr marL="36000" marR="36000" marT="18000" marB="18000" anchor="ctr"/>
                </a:tc>
                <a:tc>
                  <a:txBody>
                    <a:bodyPr/>
                    <a:lstStyle/>
                    <a:p>
                      <a:pPr algn="ctr"/>
                      <a:r>
                        <a:rPr lang="en-US" sz="1400" dirty="0"/>
                        <a:t>15%</a:t>
                      </a:r>
                    </a:p>
                  </a:txBody>
                  <a:tcPr marL="36000" marR="36000" marT="18000" marB="18000" anchor="ctr"/>
                </a:tc>
                <a:tc>
                  <a:txBody>
                    <a:bodyPr/>
                    <a:lstStyle/>
                    <a:p>
                      <a:pPr algn="ctr"/>
                      <a:r>
                        <a:rPr lang="en-US" sz="1400" dirty="0"/>
                        <a:t>15%</a:t>
                      </a:r>
                    </a:p>
                  </a:txBody>
                  <a:tcPr marL="36000" marR="36000" marT="18000" marB="18000" anchor="ctr"/>
                </a:tc>
                <a:tc>
                  <a:txBody>
                    <a:bodyPr/>
                    <a:lstStyle/>
                    <a:p>
                      <a:pPr algn="ctr"/>
                      <a:r>
                        <a:rPr lang="en-US" sz="1400" dirty="0"/>
                        <a:t>9%</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11%</a:t>
                      </a:r>
                    </a:p>
                  </a:txBody>
                  <a:tcPr marL="36000" marR="36000" marT="18000" marB="18000" anchor="ctr"/>
                </a:tc>
                <a:extLst>
                  <a:ext uri="{0D108BD9-81ED-4DB2-BD59-A6C34878D82A}">
                    <a16:rowId xmlns:a16="http://schemas.microsoft.com/office/drawing/2014/main" val="2253707919"/>
                  </a:ext>
                </a:extLst>
              </a:tr>
              <a:tr h="136577">
                <a:tc>
                  <a:txBody>
                    <a:bodyPr/>
                    <a:lstStyle/>
                    <a:p>
                      <a:r>
                        <a:rPr lang="en-US" sz="1400" dirty="0" err="1"/>
                        <a:t>Manikaran</a:t>
                      </a:r>
                      <a:r>
                        <a:rPr lang="en-US" sz="1400" dirty="0"/>
                        <a:t> Power Ltd.</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9%</a:t>
                      </a:r>
                    </a:p>
                  </a:txBody>
                  <a:tcPr marL="36000" marR="36000" marT="18000" marB="18000" anchor="ctr"/>
                </a:tc>
                <a:tc>
                  <a:txBody>
                    <a:bodyPr/>
                    <a:lstStyle/>
                    <a:p>
                      <a:pPr algn="ctr"/>
                      <a:r>
                        <a:rPr lang="en-US" sz="1400" dirty="0"/>
                        <a:t>10%</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8%</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7%</a:t>
                      </a:r>
                    </a:p>
                  </a:txBody>
                  <a:tcPr marL="36000" marR="36000" marT="18000" marB="18000" anchor="ctr"/>
                </a:tc>
                <a:tc>
                  <a:txBody>
                    <a:bodyPr/>
                    <a:lstStyle/>
                    <a:p>
                      <a:pPr algn="ctr"/>
                      <a:r>
                        <a:rPr lang="en-US" sz="1400" dirty="0"/>
                        <a:t>6%</a:t>
                      </a:r>
                    </a:p>
                  </a:txBody>
                  <a:tcPr marL="36000" marR="36000" marT="18000" marB="18000" anchor="ctr"/>
                </a:tc>
                <a:tc>
                  <a:txBody>
                    <a:bodyPr/>
                    <a:lstStyle/>
                    <a:p>
                      <a:pPr algn="ctr"/>
                      <a:r>
                        <a:rPr lang="en-US" sz="1400" dirty="0"/>
                        <a:t>7%</a:t>
                      </a:r>
                    </a:p>
                  </a:txBody>
                  <a:tcPr marL="36000" marR="36000" marT="18000" marB="18000" anchor="ctr"/>
                </a:tc>
                <a:extLst>
                  <a:ext uri="{0D108BD9-81ED-4DB2-BD59-A6C34878D82A}">
                    <a16:rowId xmlns:a16="http://schemas.microsoft.com/office/drawing/2014/main" val="3363803666"/>
                  </a:ext>
                </a:extLst>
              </a:tr>
            </a:tbl>
          </a:graphicData>
        </a:graphic>
      </p:graphicFrame>
      <p:cxnSp>
        <p:nvCxnSpPr>
          <p:cNvPr id="72" name="Straight Connector 71">
            <a:extLst>
              <a:ext uri="{FF2B5EF4-FFF2-40B4-BE49-F238E27FC236}">
                <a16:creationId xmlns:a16="http://schemas.microsoft.com/office/drawing/2014/main" id="{4F95FEAC-B013-4C30-ACE0-AC5E38AC75CA}"/>
              </a:ext>
            </a:extLst>
          </p:cNvPr>
          <p:cNvCxnSpPr/>
          <p:nvPr/>
        </p:nvCxnSpPr>
        <p:spPr>
          <a:xfrm>
            <a:off x="501649" y="4534835"/>
            <a:ext cx="1118869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F229EE27-BDAA-479E-B686-E8E90CFE675E}"/>
              </a:ext>
            </a:extLst>
          </p:cNvPr>
          <p:cNvSpPr txBox="1"/>
          <p:nvPr/>
        </p:nvSpPr>
        <p:spPr>
          <a:xfrm>
            <a:off x="3723445" y="4419758"/>
            <a:ext cx="4745104" cy="246221"/>
          </a:xfrm>
          <a:prstGeom prst="rect">
            <a:avLst/>
          </a:prstGeom>
          <a:solidFill>
            <a:schemeClr val="accent6">
              <a:lumMod val="50000"/>
            </a:schemeClr>
          </a:solidFill>
        </p:spPr>
        <p:txBody>
          <a:bodyPr wrap="square" lIns="0" tIns="0" rIns="0" bIns="0" rtlCol="0">
            <a:spAutoFit/>
          </a:bodyPr>
          <a:lstStyle/>
          <a:p>
            <a:pPr algn="ctr">
              <a:spcBef>
                <a:spcPts val="600"/>
              </a:spcBef>
              <a:buSzPct val="100000"/>
            </a:pPr>
            <a:r>
              <a:rPr lang="en-US" sz="1600" b="1" dirty="0">
                <a:solidFill>
                  <a:schemeClr val="bg1"/>
                </a:solidFill>
              </a:rPr>
              <a:t>Leading Power Traders in India and their Market Share</a:t>
            </a:r>
          </a:p>
        </p:txBody>
      </p:sp>
      <p:sp>
        <p:nvSpPr>
          <p:cNvPr id="74" name="TextBox 73">
            <a:extLst>
              <a:ext uri="{FF2B5EF4-FFF2-40B4-BE49-F238E27FC236}">
                <a16:creationId xmlns:a16="http://schemas.microsoft.com/office/drawing/2014/main" id="{826D3534-B4C4-4F63-89BD-137CE72F30EB}"/>
              </a:ext>
            </a:extLst>
          </p:cNvPr>
          <p:cNvSpPr txBox="1"/>
          <p:nvPr/>
        </p:nvSpPr>
        <p:spPr>
          <a:xfrm>
            <a:off x="6051312" y="6618514"/>
            <a:ext cx="5281857" cy="184666"/>
          </a:xfrm>
          <a:prstGeom prst="rect">
            <a:avLst/>
          </a:prstGeom>
          <a:noFill/>
        </p:spPr>
        <p:txBody>
          <a:bodyPr wrap="square" lIns="0" tIns="0" rIns="0" bIns="0" rtlCol="0">
            <a:spAutoFit/>
          </a:bodyPr>
          <a:lstStyle/>
          <a:p>
            <a:pPr algn="r">
              <a:spcBef>
                <a:spcPts val="600"/>
              </a:spcBef>
              <a:buSzPct val="100000"/>
            </a:pPr>
            <a:r>
              <a:rPr lang="en-US" sz="1200" i="1" dirty="0">
                <a:solidFill>
                  <a:srgbClr val="313131"/>
                </a:solidFill>
              </a:rPr>
              <a:t>Source: CERC Monthly Reports on Short-term Transactions of Electricity in India</a:t>
            </a:r>
          </a:p>
        </p:txBody>
      </p:sp>
      <p:sp>
        <p:nvSpPr>
          <p:cNvPr id="19" name="Arrow: Left 18">
            <a:hlinkClick r:id="rId3" action="ppaction://hlinksldjump"/>
            <a:extLst>
              <a:ext uri="{FF2B5EF4-FFF2-40B4-BE49-F238E27FC236}">
                <a16:creationId xmlns:a16="http://schemas.microsoft.com/office/drawing/2014/main" id="{69062A09-BFC5-4A9A-8171-1FEE21892C8D}"/>
              </a:ext>
            </a:extLst>
          </p:cNvPr>
          <p:cNvSpPr/>
          <p:nvPr/>
        </p:nvSpPr>
        <p:spPr bwMode="gray">
          <a:xfrm>
            <a:off x="11165529" y="273367"/>
            <a:ext cx="335280" cy="375920"/>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46116720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1875F9E1-E2B6-41E7-9C9E-E2885ACA1900}"/>
              </a:ext>
            </a:extLst>
          </p:cNvPr>
          <p:cNvSpPr>
            <a:spLocks noGrp="1"/>
          </p:cNvSpPr>
          <p:nvPr>
            <p:ph type="title"/>
          </p:nvPr>
        </p:nvSpPr>
        <p:spPr>
          <a:xfrm>
            <a:off x="501650" y="134620"/>
            <a:ext cx="11188700" cy="334099"/>
          </a:xfrm>
          <a:noFill/>
        </p:spPr>
        <p:txBody>
          <a:bodyPr/>
          <a:lstStyle/>
          <a:p>
            <a:r>
              <a:rPr lang="en-US" sz="2400" b="1" dirty="0"/>
              <a:t>4.B. Sale to Power Traders – Implications for CIL</a:t>
            </a:r>
            <a:endParaRPr lang="en-GB" sz="2400" b="1" dirty="0"/>
          </a:p>
        </p:txBody>
      </p:sp>
      <p:sp>
        <p:nvSpPr>
          <p:cNvPr id="6" name="TextBox 5">
            <a:extLst>
              <a:ext uri="{FF2B5EF4-FFF2-40B4-BE49-F238E27FC236}">
                <a16:creationId xmlns:a16="http://schemas.microsoft.com/office/drawing/2014/main" id="{63179324-1D03-46EB-863C-DB721DD3C05D}"/>
              </a:ext>
            </a:extLst>
          </p:cNvPr>
          <p:cNvSpPr txBox="1"/>
          <p:nvPr/>
        </p:nvSpPr>
        <p:spPr>
          <a:xfrm>
            <a:off x="2448911" y="2168598"/>
            <a:ext cx="9241438" cy="688557"/>
          </a:xfrm>
          <a:prstGeom prst="roundRect">
            <a:avLst/>
          </a:prstGeom>
          <a:noFill/>
          <a:ln>
            <a:solidFill>
              <a:schemeClr val="accent6"/>
            </a:solidFill>
          </a:ln>
        </p:spPr>
        <p:txBody>
          <a:bodyPr wrap="square" lIns="0" tIns="0" rIns="0" bIns="0" rtlCol="0" anchor="ctr" anchorCtr="0">
            <a:spAutoFit/>
          </a:bodyPr>
          <a:lstStyle/>
          <a:p>
            <a:pPr marL="285750" indent="-285750" algn="just">
              <a:lnSpc>
                <a:spcPct val="114000"/>
              </a:lnSpc>
              <a:spcAft>
                <a:spcPts val="600"/>
              </a:spcAft>
              <a:buSzPct val="100000"/>
              <a:buFont typeface="Arial" panose="020B0604020202020204" pitchFamily="34" charset="0"/>
              <a:buChar char="•"/>
            </a:pPr>
            <a:r>
              <a:rPr lang="en-US" sz="1600" dirty="0"/>
              <a:t>CIL can sell its surplus/ untied solar energy generation through power traders.</a:t>
            </a:r>
          </a:p>
          <a:p>
            <a:pPr marL="285750" indent="-285750" algn="just">
              <a:lnSpc>
                <a:spcPct val="114000"/>
              </a:lnSpc>
              <a:spcAft>
                <a:spcPts val="600"/>
              </a:spcAft>
              <a:buSzPct val="100000"/>
              <a:buFont typeface="Arial" panose="020B0604020202020204" pitchFamily="34" charset="0"/>
              <a:buChar char="•"/>
            </a:pPr>
            <a:r>
              <a:rPr lang="en-US" sz="1600" dirty="0"/>
              <a:t>For this, long-term contracts will be more preferable for CIL due to tariff certainty.</a:t>
            </a:r>
          </a:p>
        </p:txBody>
      </p:sp>
      <p:sp>
        <p:nvSpPr>
          <p:cNvPr id="8" name="TextBox 7">
            <a:extLst>
              <a:ext uri="{FF2B5EF4-FFF2-40B4-BE49-F238E27FC236}">
                <a16:creationId xmlns:a16="http://schemas.microsoft.com/office/drawing/2014/main" id="{124B2BB2-F1A7-4F94-8772-DB369A218673}"/>
              </a:ext>
            </a:extLst>
          </p:cNvPr>
          <p:cNvSpPr txBox="1"/>
          <p:nvPr/>
        </p:nvSpPr>
        <p:spPr>
          <a:xfrm>
            <a:off x="2448910" y="3070410"/>
            <a:ext cx="9241438" cy="700128"/>
          </a:xfrm>
          <a:prstGeom prst="roundRect">
            <a:avLst/>
          </a:prstGeom>
          <a:noFill/>
          <a:ln>
            <a:solidFill>
              <a:schemeClr val="accent6"/>
            </a:solidFill>
          </a:ln>
        </p:spPr>
        <p:txBody>
          <a:bodyPr wrap="square" lIns="0" tIns="0" rIns="0" bIns="0" rtlCol="0" anchor="ctr" anchorCtr="0">
            <a:noAutofit/>
          </a:bodyPr>
          <a:lstStyle/>
          <a:p>
            <a:pPr marL="285750" indent="-285750" algn="just">
              <a:lnSpc>
                <a:spcPct val="114000"/>
              </a:lnSpc>
              <a:spcAft>
                <a:spcPts val="600"/>
              </a:spcAft>
              <a:buSzPct val="100000"/>
              <a:buFont typeface="Arial" panose="020B0604020202020204" pitchFamily="34" charset="0"/>
              <a:buChar char="•"/>
            </a:pPr>
            <a:r>
              <a:rPr lang="en-US" sz="1600" dirty="0"/>
              <a:t>Sale to power traders will be commercially viable for CIL only when the selling tariff is greater than the cost of generation</a:t>
            </a:r>
          </a:p>
        </p:txBody>
      </p:sp>
      <p:sp>
        <p:nvSpPr>
          <p:cNvPr id="9" name="TextBox 8">
            <a:extLst>
              <a:ext uri="{FF2B5EF4-FFF2-40B4-BE49-F238E27FC236}">
                <a16:creationId xmlns:a16="http://schemas.microsoft.com/office/drawing/2014/main" id="{5D8F355B-19FA-407B-9857-3B74B35DEC47}"/>
              </a:ext>
            </a:extLst>
          </p:cNvPr>
          <p:cNvSpPr txBox="1"/>
          <p:nvPr/>
        </p:nvSpPr>
        <p:spPr>
          <a:xfrm>
            <a:off x="2448910" y="4021534"/>
            <a:ext cx="9241437" cy="603428"/>
          </a:xfrm>
          <a:prstGeom prst="roundRect">
            <a:avLst/>
          </a:prstGeom>
          <a:noFill/>
          <a:ln>
            <a:solidFill>
              <a:schemeClr val="accent6"/>
            </a:solidFill>
          </a:ln>
        </p:spPr>
        <p:txBody>
          <a:bodyPr wrap="square" lIns="0" tIns="0" rIns="0" bIns="0" rtlCol="0">
            <a:spAutoFit/>
          </a:bodyPr>
          <a:lstStyle/>
          <a:p>
            <a:pPr marL="285750" indent="-285750" algn="just">
              <a:lnSpc>
                <a:spcPct val="114000"/>
              </a:lnSpc>
              <a:spcAft>
                <a:spcPts val="600"/>
              </a:spcAft>
              <a:buSzPct val="100000"/>
              <a:buFont typeface="Arial" panose="020B0604020202020204" pitchFamily="34" charset="0"/>
              <a:buChar char="•"/>
            </a:pPr>
            <a:r>
              <a:rPr lang="en-US" sz="1600" dirty="0"/>
              <a:t>Deliberations may be made with the leading power traders to understand the opportunity for power sale through the traders.</a:t>
            </a:r>
          </a:p>
        </p:txBody>
      </p:sp>
      <p:sp>
        <p:nvSpPr>
          <p:cNvPr id="10" name="TextBox 9">
            <a:extLst>
              <a:ext uri="{FF2B5EF4-FFF2-40B4-BE49-F238E27FC236}">
                <a16:creationId xmlns:a16="http://schemas.microsoft.com/office/drawing/2014/main" id="{71A7B91D-AB2D-4A78-BC2B-FCE1B115E006}"/>
              </a:ext>
            </a:extLst>
          </p:cNvPr>
          <p:cNvSpPr txBox="1"/>
          <p:nvPr/>
        </p:nvSpPr>
        <p:spPr>
          <a:xfrm>
            <a:off x="524908" y="2206337"/>
            <a:ext cx="1724307" cy="613076"/>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Opportunity for CIL</a:t>
            </a:r>
          </a:p>
        </p:txBody>
      </p:sp>
      <p:sp>
        <p:nvSpPr>
          <p:cNvPr id="11" name="TextBox 10">
            <a:extLst>
              <a:ext uri="{FF2B5EF4-FFF2-40B4-BE49-F238E27FC236}">
                <a16:creationId xmlns:a16="http://schemas.microsoft.com/office/drawing/2014/main" id="{07034924-4F2A-4E9B-90C4-35452FE20C78}"/>
              </a:ext>
            </a:extLst>
          </p:cNvPr>
          <p:cNvSpPr txBox="1"/>
          <p:nvPr/>
        </p:nvSpPr>
        <p:spPr>
          <a:xfrm>
            <a:off x="524908" y="3070410"/>
            <a:ext cx="1724307" cy="700129"/>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Condition for commercial viability</a:t>
            </a:r>
          </a:p>
        </p:txBody>
      </p:sp>
      <p:sp>
        <p:nvSpPr>
          <p:cNvPr id="12" name="TextBox 11">
            <a:extLst>
              <a:ext uri="{FF2B5EF4-FFF2-40B4-BE49-F238E27FC236}">
                <a16:creationId xmlns:a16="http://schemas.microsoft.com/office/drawing/2014/main" id="{43457097-F038-44CC-B0DF-692D09F99818}"/>
              </a:ext>
            </a:extLst>
          </p:cNvPr>
          <p:cNvSpPr txBox="1"/>
          <p:nvPr/>
        </p:nvSpPr>
        <p:spPr>
          <a:xfrm>
            <a:off x="524907" y="4021534"/>
            <a:ext cx="1724307" cy="603428"/>
          </a:xfrm>
          <a:prstGeom prst="rect">
            <a:avLst/>
          </a:prstGeom>
          <a:solidFill>
            <a:schemeClr val="accent6">
              <a:lumMod val="50000"/>
            </a:schemeClr>
          </a:solidFill>
        </p:spPr>
        <p:txBody>
          <a:bodyPr wrap="square" lIns="0" tIns="0" rIns="0" bIns="0" rtlCol="0" anchor="ctr" anchorCtr="0">
            <a:noAutofit/>
          </a:bodyPr>
          <a:lstStyle/>
          <a:p>
            <a:pPr algn="ctr">
              <a:spcBef>
                <a:spcPts val="600"/>
              </a:spcBef>
              <a:buSzPct val="100000"/>
            </a:pPr>
            <a:r>
              <a:rPr lang="en-US" sz="1600" b="1" dirty="0">
                <a:solidFill>
                  <a:schemeClr val="bg1"/>
                </a:solidFill>
              </a:rPr>
              <a:t>Way Forward</a:t>
            </a:r>
          </a:p>
        </p:txBody>
      </p:sp>
    </p:spTree>
    <p:extLst>
      <p:ext uri="{BB962C8B-B14F-4D97-AF65-F5344CB8AC3E}">
        <p14:creationId xmlns:p14="http://schemas.microsoft.com/office/powerpoint/2010/main" val="40463871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2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5. CPSU Scheme</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Arrow: Left 4">
            <a:hlinkClick r:id="rId6" action="ppaction://hlinksldjump"/>
            <a:extLst>
              <a:ext uri="{FF2B5EF4-FFF2-40B4-BE49-F238E27FC236}">
                <a16:creationId xmlns:a16="http://schemas.microsoft.com/office/drawing/2014/main" id="{10DE8318-B57B-43EF-8B62-C3C57B7E7048}"/>
              </a:ext>
            </a:extLst>
          </p:cNvPr>
          <p:cNvSpPr/>
          <p:nvPr/>
        </p:nvSpPr>
        <p:spPr bwMode="gray">
          <a:xfrm>
            <a:off x="10353040" y="6329680"/>
            <a:ext cx="497840" cy="368587"/>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72738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267443"/>
            <a:ext cx="11188700" cy="334099"/>
          </a:xfrm>
          <a:noFill/>
        </p:spPr>
        <p:txBody>
          <a:bodyPr/>
          <a:lstStyle/>
          <a:p>
            <a:r>
              <a:rPr lang="en-US" sz="2400" b="1" dirty="0"/>
              <a:t>CPSU Ph-II Scheme</a:t>
            </a:r>
            <a:endParaRPr lang="en-GB" sz="2400" b="1" dirty="0"/>
          </a:p>
        </p:txBody>
      </p:sp>
      <p:sp>
        <p:nvSpPr>
          <p:cNvPr id="10" name="Rectangle 9">
            <a:extLst>
              <a:ext uri="{FF2B5EF4-FFF2-40B4-BE49-F238E27FC236}">
                <a16:creationId xmlns:a16="http://schemas.microsoft.com/office/drawing/2014/main" id="{14C3D7BD-977E-471C-9C26-6EA751909BFD}"/>
              </a:ext>
            </a:extLst>
          </p:cNvPr>
          <p:cNvSpPr/>
          <p:nvPr/>
        </p:nvSpPr>
        <p:spPr>
          <a:xfrm>
            <a:off x="401820" y="649832"/>
            <a:ext cx="11288530" cy="107721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Government of India, through Ministry of New &amp; Renewable Energy (MNRE) has approved the implementation of CPSU Scheme Phase-II for setting up 12,000 MW grid-connected Solar Photovoltaic (PV) Power Projects by CPSUs/ State PSUs/ Government Organizations, with Viability Gap Funding (VGF) support, for self-use or use by Government/ Government entities, either directly or through Distribution Companies (DISCOMS).</a:t>
            </a:r>
            <a:endParaRPr kumimoji="0" lang="en-IN" sz="16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 name="Group 1">
            <a:extLst>
              <a:ext uri="{FF2B5EF4-FFF2-40B4-BE49-F238E27FC236}">
                <a16:creationId xmlns:a16="http://schemas.microsoft.com/office/drawing/2014/main" id="{F7EB8989-00D8-4271-9F44-AC2D5AC2F2B4}"/>
              </a:ext>
            </a:extLst>
          </p:cNvPr>
          <p:cNvGrpSpPr/>
          <p:nvPr/>
        </p:nvGrpSpPr>
        <p:grpSpPr>
          <a:xfrm>
            <a:off x="501650" y="1733995"/>
            <a:ext cx="11188700" cy="3893919"/>
            <a:chOff x="501650" y="1885239"/>
            <a:chExt cx="11188695" cy="4242429"/>
          </a:xfrm>
        </p:grpSpPr>
        <p:grpSp>
          <p:nvGrpSpPr>
            <p:cNvPr id="16" name="Group 15">
              <a:extLst>
                <a:ext uri="{FF2B5EF4-FFF2-40B4-BE49-F238E27FC236}">
                  <a16:creationId xmlns:a16="http://schemas.microsoft.com/office/drawing/2014/main" id="{B5C380B4-FD08-4C13-B773-B1F4970BB9E4}"/>
                </a:ext>
              </a:extLst>
            </p:cNvPr>
            <p:cNvGrpSpPr/>
            <p:nvPr/>
          </p:nvGrpSpPr>
          <p:grpSpPr>
            <a:xfrm>
              <a:off x="501650" y="1889994"/>
              <a:ext cx="2372179" cy="4237674"/>
              <a:chOff x="1009996" y="765175"/>
              <a:chExt cx="2857801" cy="4693878"/>
            </a:xfrm>
          </p:grpSpPr>
          <p:sp>
            <p:nvSpPr>
              <p:cNvPr id="17" name="Rounded Rectangle 19">
                <a:extLst>
                  <a:ext uri="{FF2B5EF4-FFF2-40B4-BE49-F238E27FC236}">
                    <a16:creationId xmlns:a16="http://schemas.microsoft.com/office/drawing/2014/main" id="{C1EA315B-6783-467E-8469-9174C06BDDEF}"/>
                  </a:ext>
                </a:extLst>
              </p:cNvPr>
              <p:cNvSpPr/>
              <p:nvPr/>
            </p:nvSpPr>
            <p:spPr bwMode="gray">
              <a:xfrm>
                <a:off x="1214847" y="878314"/>
                <a:ext cx="2440155" cy="4004814"/>
              </a:xfrm>
              <a:prstGeom prst="roundRect">
                <a:avLst>
                  <a:gd name="adj" fmla="val 4667"/>
                </a:avLst>
              </a:prstGeom>
              <a:solidFill>
                <a:schemeClr val="accent5"/>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8" name="Group 17">
                <a:extLst>
                  <a:ext uri="{FF2B5EF4-FFF2-40B4-BE49-F238E27FC236}">
                    <a16:creationId xmlns:a16="http://schemas.microsoft.com/office/drawing/2014/main" id="{FB0826E0-DAF4-4171-AB75-1AF66809EBCF}"/>
                  </a:ext>
                </a:extLst>
              </p:cNvPr>
              <p:cNvGrpSpPr/>
              <p:nvPr/>
            </p:nvGrpSpPr>
            <p:grpSpPr>
              <a:xfrm>
                <a:off x="1009996" y="765175"/>
                <a:ext cx="2857801" cy="4693878"/>
                <a:chOff x="1009996" y="765175"/>
                <a:chExt cx="2857801" cy="4693878"/>
              </a:xfrm>
            </p:grpSpPr>
            <p:sp>
              <p:nvSpPr>
                <p:cNvPr id="19" name="Rounded Rectangle 4">
                  <a:extLst>
                    <a:ext uri="{FF2B5EF4-FFF2-40B4-BE49-F238E27FC236}">
                      <a16:creationId xmlns:a16="http://schemas.microsoft.com/office/drawing/2014/main" id="{68EF60D6-FB2F-4212-9335-295E2924D54F}"/>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Oval 19">
                  <a:extLst>
                    <a:ext uri="{FF2B5EF4-FFF2-40B4-BE49-F238E27FC236}">
                      <a16:creationId xmlns:a16="http://schemas.microsoft.com/office/drawing/2014/main" id="{E2986849-9FB7-4E9A-AAAE-319B90D23651}"/>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Rectangle 20">
                  <a:extLst>
                    <a:ext uri="{FF2B5EF4-FFF2-40B4-BE49-F238E27FC236}">
                      <a16:creationId xmlns:a16="http://schemas.microsoft.com/office/drawing/2014/main" id="{59371BE7-9C53-4D90-81C4-65674E3B8058}"/>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Rectangle 21">
                  <a:extLst>
                    <a:ext uri="{FF2B5EF4-FFF2-40B4-BE49-F238E27FC236}">
                      <a16:creationId xmlns:a16="http://schemas.microsoft.com/office/drawing/2014/main" id="{CA874C24-1F47-4D45-B56D-6073F1B55842}"/>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Rectangle 22">
                  <a:extLst>
                    <a:ext uri="{FF2B5EF4-FFF2-40B4-BE49-F238E27FC236}">
                      <a16:creationId xmlns:a16="http://schemas.microsoft.com/office/drawing/2014/main" id="{64B068D3-9CFC-486E-81BE-05740B94E6C5}"/>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24" name="TextBox 23">
              <a:extLst>
                <a:ext uri="{FF2B5EF4-FFF2-40B4-BE49-F238E27FC236}">
                  <a16:creationId xmlns:a16="http://schemas.microsoft.com/office/drawing/2014/main" id="{DA672C81-C57B-4380-BC40-CA585F134B44}"/>
                </a:ext>
              </a:extLst>
            </p:cNvPr>
            <p:cNvSpPr txBox="1"/>
            <p:nvPr/>
          </p:nvSpPr>
          <p:spPr>
            <a:xfrm>
              <a:off x="774274" y="2065243"/>
              <a:ext cx="1856139" cy="84910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a:ea typeface="+mn-ea"/>
                  <a:cs typeface="+mn-cs"/>
                </a:rPr>
                <a:t>12000 MW Grid Connected Solar PV</a:t>
              </a:r>
              <a:endParaRPr kumimoji="0" lang="en-GB" sz="16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25" name="Group 24">
              <a:extLst>
                <a:ext uri="{FF2B5EF4-FFF2-40B4-BE49-F238E27FC236}">
                  <a16:creationId xmlns:a16="http://schemas.microsoft.com/office/drawing/2014/main" id="{008A41E5-037A-4C4F-8E62-8FA2068DC243}"/>
                </a:ext>
              </a:extLst>
            </p:cNvPr>
            <p:cNvGrpSpPr/>
            <p:nvPr/>
          </p:nvGrpSpPr>
          <p:grpSpPr>
            <a:xfrm>
              <a:off x="1215515" y="2993481"/>
              <a:ext cx="1011237" cy="1011237"/>
              <a:chOff x="5009507" y="3352896"/>
              <a:chExt cx="1194615" cy="1194615"/>
            </a:xfrm>
            <a:solidFill>
              <a:schemeClr val="bg1"/>
            </a:solidFill>
          </p:grpSpPr>
          <p:sp>
            <p:nvSpPr>
              <p:cNvPr id="26" name="Freeform 22">
                <a:extLst>
                  <a:ext uri="{FF2B5EF4-FFF2-40B4-BE49-F238E27FC236}">
                    <a16:creationId xmlns:a16="http://schemas.microsoft.com/office/drawing/2014/main" id="{449F6155-76C2-4EF3-90FF-13F72B524114}"/>
                  </a:ext>
                </a:extLst>
              </p:cNvPr>
              <p:cNvSpPr>
                <a:spLocks noEditPoints="1"/>
              </p:cNvSpPr>
              <p:nvPr/>
            </p:nvSpPr>
            <p:spPr bwMode="auto">
              <a:xfrm>
                <a:off x="5246176" y="3589565"/>
                <a:ext cx="721277" cy="721277"/>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96 w 192"/>
                  <a:gd name="T11" fmla="*/ 170 h 192"/>
                  <a:gd name="T12" fmla="*/ 21 w 192"/>
                  <a:gd name="T13" fmla="*/ 96 h 192"/>
                  <a:gd name="T14" fmla="*/ 96 w 192"/>
                  <a:gd name="T15" fmla="*/ 21 h 192"/>
                  <a:gd name="T16" fmla="*/ 170 w 192"/>
                  <a:gd name="T17" fmla="*/ 96 h 192"/>
                  <a:gd name="T18" fmla="*/ 96 w 192"/>
                  <a:gd name="T19" fmla="*/ 17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96" y="170"/>
                    </a:moveTo>
                    <a:cubicBezTo>
                      <a:pt x="54" y="170"/>
                      <a:pt x="21" y="137"/>
                      <a:pt x="21" y="96"/>
                    </a:cubicBezTo>
                    <a:cubicBezTo>
                      <a:pt x="21" y="54"/>
                      <a:pt x="54" y="21"/>
                      <a:pt x="96" y="21"/>
                    </a:cubicBezTo>
                    <a:cubicBezTo>
                      <a:pt x="137" y="21"/>
                      <a:pt x="170" y="54"/>
                      <a:pt x="170" y="96"/>
                    </a:cubicBezTo>
                    <a:cubicBezTo>
                      <a:pt x="170" y="137"/>
                      <a:pt x="137" y="170"/>
                      <a:pt x="96" y="1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Freeform 23">
                <a:extLst>
                  <a:ext uri="{FF2B5EF4-FFF2-40B4-BE49-F238E27FC236}">
                    <a16:creationId xmlns:a16="http://schemas.microsoft.com/office/drawing/2014/main" id="{CAB16CF5-FAAD-4676-86F4-95CB54348F6F}"/>
                  </a:ext>
                </a:extLst>
              </p:cNvPr>
              <p:cNvSpPr>
                <a:spLocks/>
              </p:cNvSpPr>
              <p:nvPr/>
            </p:nvSpPr>
            <p:spPr bwMode="auto">
              <a:xfrm>
                <a:off x="6046343" y="3910759"/>
                <a:ext cx="157779" cy="78890"/>
              </a:xfrm>
              <a:custGeom>
                <a:avLst/>
                <a:gdLst>
                  <a:gd name="T0" fmla="*/ 32 w 43"/>
                  <a:gd name="T1" fmla="*/ 0 h 21"/>
                  <a:gd name="T2" fmla="*/ 11 w 43"/>
                  <a:gd name="T3" fmla="*/ 0 h 21"/>
                  <a:gd name="T4" fmla="*/ 0 w 43"/>
                  <a:gd name="T5" fmla="*/ 11 h 21"/>
                  <a:gd name="T6" fmla="*/ 11 w 43"/>
                  <a:gd name="T7" fmla="*/ 21 h 21"/>
                  <a:gd name="T8" fmla="*/ 32 w 43"/>
                  <a:gd name="T9" fmla="*/ 21 h 21"/>
                  <a:gd name="T10" fmla="*/ 43 w 43"/>
                  <a:gd name="T11" fmla="*/ 11 h 21"/>
                  <a:gd name="T12" fmla="*/ 32 w 43"/>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3" h="21">
                    <a:moveTo>
                      <a:pt x="32" y="0"/>
                    </a:moveTo>
                    <a:cubicBezTo>
                      <a:pt x="11" y="0"/>
                      <a:pt x="11" y="0"/>
                      <a:pt x="11" y="0"/>
                    </a:cubicBezTo>
                    <a:cubicBezTo>
                      <a:pt x="5" y="0"/>
                      <a:pt x="0" y="5"/>
                      <a:pt x="0" y="11"/>
                    </a:cubicBezTo>
                    <a:cubicBezTo>
                      <a:pt x="0" y="17"/>
                      <a:pt x="5" y="21"/>
                      <a:pt x="11" y="21"/>
                    </a:cubicBezTo>
                    <a:cubicBezTo>
                      <a:pt x="32" y="21"/>
                      <a:pt x="32" y="21"/>
                      <a:pt x="32" y="21"/>
                    </a:cubicBezTo>
                    <a:cubicBezTo>
                      <a:pt x="38" y="21"/>
                      <a:pt x="43" y="17"/>
                      <a:pt x="43" y="11"/>
                    </a:cubicBezTo>
                    <a:cubicBezTo>
                      <a:pt x="43" y="5"/>
                      <a:pt x="38"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Freeform 24">
                <a:extLst>
                  <a:ext uri="{FF2B5EF4-FFF2-40B4-BE49-F238E27FC236}">
                    <a16:creationId xmlns:a16="http://schemas.microsoft.com/office/drawing/2014/main" id="{E21C426E-A4B3-47B9-A8F6-7DB8EB69454E}"/>
                  </a:ext>
                </a:extLst>
              </p:cNvPr>
              <p:cNvSpPr>
                <a:spLocks/>
              </p:cNvSpPr>
              <p:nvPr/>
            </p:nvSpPr>
            <p:spPr bwMode="auto">
              <a:xfrm>
                <a:off x="5009507" y="3910759"/>
                <a:ext cx="157779" cy="78890"/>
              </a:xfrm>
              <a:custGeom>
                <a:avLst/>
                <a:gdLst>
                  <a:gd name="T0" fmla="*/ 32 w 42"/>
                  <a:gd name="T1" fmla="*/ 0 h 21"/>
                  <a:gd name="T2" fmla="*/ 10 w 42"/>
                  <a:gd name="T3" fmla="*/ 0 h 21"/>
                  <a:gd name="T4" fmla="*/ 0 w 42"/>
                  <a:gd name="T5" fmla="*/ 11 h 21"/>
                  <a:gd name="T6" fmla="*/ 10 w 42"/>
                  <a:gd name="T7" fmla="*/ 21 h 21"/>
                  <a:gd name="T8" fmla="*/ 32 w 42"/>
                  <a:gd name="T9" fmla="*/ 21 h 21"/>
                  <a:gd name="T10" fmla="*/ 42 w 42"/>
                  <a:gd name="T11" fmla="*/ 11 h 21"/>
                  <a:gd name="T12" fmla="*/ 32 w 4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42" h="21">
                    <a:moveTo>
                      <a:pt x="32" y="0"/>
                    </a:moveTo>
                    <a:cubicBezTo>
                      <a:pt x="10" y="0"/>
                      <a:pt x="10" y="0"/>
                      <a:pt x="10" y="0"/>
                    </a:cubicBezTo>
                    <a:cubicBezTo>
                      <a:pt x="4" y="0"/>
                      <a:pt x="0" y="5"/>
                      <a:pt x="0" y="11"/>
                    </a:cubicBezTo>
                    <a:cubicBezTo>
                      <a:pt x="0" y="17"/>
                      <a:pt x="4" y="21"/>
                      <a:pt x="10" y="21"/>
                    </a:cubicBezTo>
                    <a:cubicBezTo>
                      <a:pt x="32" y="21"/>
                      <a:pt x="32" y="21"/>
                      <a:pt x="32" y="21"/>
                    </a:cubicBezTo>
                    <a:cubicBezTo>
                      <a:pt x="38" y="21"/>
                      <a:pt x="42" y="17"/>
                      <a:pt x="42" y="11"/>
                    </a:cubicBezTo>
                    <a:cubicBezTo>
                      <a:pt x="42" y="5"/>
                      <a:pt x="38"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Freeform 25">
                <a:extLst>
                  <a:ext uri="{FF2B5EF4-FFF2-40B4-BE49-F238E27FC236}">
                    <a16:creationId xmlns:a16="http://schemas.microsoft.com/office/drawing/2014/main" id="{1F99DBA0-8281-46A1-B8A0-7D4B7772B8A2}"/>
                  </a:ext>
                </a:extLst>
              </p:cNvPr>
              <p:cNvSpPr>
                <a:spLocks/>
              </p:cNvSpPr>
              <p:nvPr/>
            </p:nvSpPr>
            <p:spPr bwMode="auto">
              <a:xfrm>
                <a:off x="5567370" y="3352896"/>
                <a:ext cx="78890" cy="157779"/>
              </a:xfrm>
              <a:custGeom>
                <a:avLst/>
                <a:gdLst>
                  <a:gd name="T0" fmla="*/ 11 w 21"/>
                  <a:gd name="T1" fmla="*/ 42 h 42"/>
                  <a:gd name="T2" fmla="*/ 21 w 21"/>
                  <a:gd name="T3" fmla="*/ 32 h 42"/>
                  <a:gd name="T4" fmla="*/ 21 w 21"/>
                  <a:gd name="T5" fmla="*/ 10 h 42"/>
                  <a:gd name="T6" fmla="*/ 11 w 21"/>
                  <a:gd name="T7" fmla="*/ 0 h 42"/>
                  <a:gd name="T8" fmla="*/ 0 w 21"/>
                  <a:gd name="T9" fmla="*/ 10 h 42"/>
                  <a:gd name="T10" fmla="*/ 0 w 21"/>
                  <a:gd name="T11" fmla="*/ 32 h 42"/>
                  <a:gd name="T12" fmla="*/ 11 w 21"/>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1" h="42">
                    <a:moveTo>
                      <a:pt x="11" y="42"/>
                    </a:moveTo>
                    <a:cubicBezTo>
                      <a:pt x="17" y="42"/>
                      <a:pt x="21" y="38"/>
                      <a:pt x="21" y="32"/>
                    </a:cubicBezTo>
                    <a:cubicBezTo>
                      <a:pt x="21" y="10"/>
                      <a:pt x="21" y="10"/>
                      <a:pt x="21" y="10"/>
                    </a:cubicBezTo>
                    <a:cubicBezTo>
                      <a:pt x="21" y="4"/>
                      <a:pt x="17" y="0"/>
                      <a:pt x="11" y="0"/>
                    </a:cubicBezTo>
                    <a:cubicBezTo>
                      <a:pt x="5" y="0"/>
                      <a:pt x="0" y="4"/>
                      <a:pt x="0" y="10"/>
                    </a:cubicBezTo>
                    <a:cubicBezTo>
                      <a:pt x="0" y="32"/>
                      <a:pt x="0" y="32"/>
                      <a:pt x="0" y="32"/>
                    </a:cubicBezTo>
                    <a:cubicBezTo>
                      <a:pt x="0" y="38"/>
                      <a:pt x="5" y="42"/>
                      <a:pt x="11"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Freeform 26">
                <a:extLst>
                  <a:ext uri="{FF2B5EF4-FFF2-40B4-BE49-F238E27FC236}">
                    <a16:creationId xmlns:a16="http://schemas.microsoft.com/office/drawing/2014/main" id="{ECA6691D-C9D7-4A38-A75C-94BBBEAF776A}"/>
                  </a:ext>
                </a:extLst>
              </p:cNvPr>
              <p:cNvSpPr>
                <a:spLocks/>
              </p:cNvSpPr>
              <p:nvPr/>
            </p:nvSpPr>
            <p:spPr bwMode="auto">
              <a:xfrm>
                <a:off x="5567370" y="4389732"/>
                <a:ext cx="78890" cy="157779"/>
              </a:xfrm>
              <a:custGeom>
                <a:avLst/>
                <a:gdLst>
                  <a:gd name="T0" fmla="*/ 11 w 21"/>
                  <a:gd name="T1" fmla="*/ 0 h 43"/>
                  <a:gd name="T2" fmla="*/ 0 w 21"/>
                  <a:gd name="T3" fmla="*/ 11 h 43"/>
                  <a:gd name="T4" fmla="*/ 0 w 21"/>
                  <a:gd name="T5" fmla="*/ 32 h 43"/>
                  <a:gd name="T6" fmla="*/ 11 w 21"/>
                  <a:gd name="T7" fmla="*/ 43 h 43"/>
                  <a:gd name="T8" fmla="*/ 21 w 21"/>
                  <a:gd name="T9" fmla="*/ 32 h 43"/>
                  <a:gd name="T10" fmla="*/ 21 w 21"/>
                  <a:gd name="T11" fmla="*/ 11 h 43"/>
                  <a:gd name="T12" fmla="*/ 11 w 21"/>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21" h="43">
                    <a:moveTo>
                      <a:pt x="11" y="0"/>
                    </a:moveTo>
                    <a:cubicBezTo>
                      <a:pt x="5" y="0"/>
                      <a:pt x="0" y="5"/>
                      <a:pt x="0" y="11"/>
                    </a:cubicBezTo>
                    <a:cubicBezTo>
                      <a:pt x="0" y="32"/>
                      <a:pt x="0" y="32"/>
                      <a:pt x="0" y="32"/>
                    </a:cubicBezTo>
                    <a:cubicBezTo>
                      <a:pt x="0" y="38"/>
                      <a:pt x="5" y="43"/>
                      <a:pt x="11" y="43"/>
                    </a:cubicBezTo>
                    <a:cubicBezTo>
                      <a:pt x="17" y="43"/>
                      <a:pt x="21" y="38"/>
                      <a:pt x="21" y="32"/>
                    </a:cubicBezTo>
                    <a:cubicBezTo>
                      <a:pt x="21" y="11"/>
                      <a:pt x="21" y="11"/>
                      <a:pt x="21" y="11"/>
                    </a:cubicBezTo>
                    <a:cubicBezTo>
                      <a:pt x="21" y="5"/>
                      <a:pt x="17"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Freeform 27">
                <a:extLst>
                  <a:ext uri="{FF2B5EF4-FFF2-40B4-BE49-F238E27FC236}">
                    <a16:creationId xmlns:a16="http://schemas.microsoft.com/office/drawing/2014/main" id="{A1B3BDAF-AB1C-4079-AEE7-EB40532FCB46}"/>
                  </a:ext>
                </a:extLst>
              </p:cNvPr>
              <p:cNvSpPr>
                <a:spLocks/>
              </p:cNvSpPr>
              <p:nvPr/>
            </p:nvSpPr>
            <p:spPr bwMode="auto">
              <a:xfrm>
                <a:off x="5899833" y="3510675"/>
                <a:ext cx="146509" cy="140874"/>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5"/>
                      <a:pt x="39" y="9"/>
                      <a:pt x="35" y="5"/>
                    </a:cubicBezTo>
                    <a:cubicBezTo>
                      <a:pt x="31" y="0"/>
                      <a:pt x="24" y="0"/>
                      <a:pt x="2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Freeform 28">
                <a:extLst>
                  <a:ext uri="{FF2B5EF4-FFF2-40B4-BE49-F238E27FC236}">
                    <a16:creationId xmlns:a16="http://schemas.microsoft.com/office/drawing/2014/main" id="{546712F9-0DAB-43B7-88B6-9C4D82C28759}"/>
                  </a:ext>
                </a:extLst>
              </p:cNvPr>
              <p:cNvSpPr>
                <a:spLocks/>
              </p:cNvSpPr>
              <p:nvPr/>
            </p:nvSpPr>
            <p:spPr bwMode="auto">
              <a:xfrm>
                <a:off x="5167286" y="4243222"/>
                <a:ext cx="146509" cy="140874"/>
              </a:xfrm>
              <a:custGeom>
                <a:avLst/>
                <a:gdLst>
                  <a:gd name="T0" fmla="*/ 20 w 39"/>
                  <a:gd name="T1" fmla="*/ 5 h 38"/>
                  <a:gd name="T2" fmla="*/ 5 w 39"/>
                  <a:gd name="T3" fmla="*/ 20 h 38"/>
                  <a:gd name="T4" fmla="*/ 5 w 39"/>
                  <a:gd name="T5" fmla="*/ 35 h 38"/>
                  <a:gd name="T6" fmla="*/ 12 w 39"/>
                  <a:gd name="T7" fmla="*/ 38 h 38"/>
                  <a:gd name="T8" fmla="*/ 20 w 39"/>
                  <a:gd name="T9" fmla="*/ 35 h 38"/>
                  <a:gd name="T10" fmla="*/ 35 w 39"/>
                  <a:gd name="T11" fmla="*/ 20 h 38"/>
                  <a:gd name="T12" fmla="*/ 35 w 39"/>
                  <a:gd name="T13" fmla="*/ 5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5" y="20"/>
                      <a:pt x="5" y="20"/>
                      <a:pt x="5" y="20"/>
                    </a:cubicBezTo>
                    <a:cubicBezTo>
                      <a:pt x="0" y="24"/>
                      <a:pt x="0" y="31"/>
                      <a:pt x="5" y="35"/>
                    </a:cubicBezTo>
                    <a:cubicBezTo>
                      <a:pt x="7" y="37"/>
                      <a:pt x="9" y="38"/>
                      <a:pt x="12" y="38"/>
                    </a:cubicBezTo>
                    <a:cubicBezTo>
                      <a:pt x="15" y="38"/>
                      <a:pt x="18" y="37"/>
                      <a:pt x="20" y="35"/>
                    </a:cubicBezTo>
                    <a:cubicBezTo>
                      <a:pt x="35" y="20"/>
                      <a:pt x="35" y="20"/>
                      <a:pt x="35" y="20"/>
                    </a:cubicBezTo>
                    <a:cubicBezTo>
                      <a:pt x="39" y="16"/>
                      <a:pt x="39" y="9"/>
                      <a:pt x="35" y="5"/>
                    </a:cubicBezTo>
                    <a:cubicBezTo>
                      <a:pt x="31" y="0"/>
                      <a:pt x="24" y="0"/>
                      <a:pt x="2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Freeform 29">
                <a:extLst>
                  <a:ext uri="{FF2B5EF4-FFF2-40B4-BE49-F238E27FC236}">
                    <a16:creationId xmlns:a16="http://schemas.microsoft.com/office/drawing/2014/main" id="{E3213AF7-018D-4866-A406-F90E9F5EFB40}"/>
                  </a:ext>
                </a:extLst>
              </p:cNvPr>
              <p:cNvSpPr>
                <a:spLocks/>
              </p:cNvSpPr>
              <p:nvPr/>
            </p:nvSpPr>
            <p:spPr bwMode="auto">
              <a:xfrm>
                <a:off x="5167286" y="3510675"/>
                <a:ext cx="146509" cy="140874"/>
              </a:xfrm>
              <a:custGeom>
                <a:avLst/>
                <a:gdLst>
                  <a:gd name="T0" fmla="*/ 20 w 39"/>
                  <a:gd name="T1" fmla="*/ 35 h 38"/>
                  <a:gd name="T2" fmla="*/ 27 w 39"/>
                  <a:gd name="T3" fmla="*/ 38 h 38"/>
                  <a:gd name="T4" fmla="*/ 35 w 39"/>
                  <a:gd name="T5" fmla="*/ 35 h 38"/>
                  <a:gd name="T6" fmla="*/ 35 w 39"/>
                  <a:gd name="T7" fmla="*/ 20 h 38"/>
                  <a:gd name="T8" fmla="*/ 20 w 39"/>
                  <a:gd name="T9" fmla="*/ 5 h 38"/>
                  <a:gd name="T10" fmla="*/ 5 w 39"/>
                  <a:gd name="T11" fmla="*/ 5 h 38"/>
                  <a:gd name="T12" fmla="*/ 5 w 39"/>
                  <a:gd name="T13" fmla="*/ 20 h 38"/>
                  <a:gd name="T14" fmla="*/ 20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35"/>
                    </a:moveTo>
                    <a:cubicBezTo>
                      <a:pt x="22" y="37"/>
                      <a:pt x="24" y="38"/>
                      <a:pt x="27" y="38"/>
                    </a:cubicBezTo>
                    <a:cubicBezTo>
                      <a:pt x="30" y="38"/>
                      <a:pt x="33" y="37"/>
                      <a:pt x="35" y="35"/>
                    </a:cubicBezTo>
                    <a:cubicBezTo>
                      <a:pt x="39" y="31"/>
                      <a:pt x="39" y="24"/>
                      <a:pt x="35" y="20"/>
                    </a:cubicBezTo>
                    <a:cubicBezTo>
                      <a:pt x="20" y="5"/>
                      <a:pt x="20" y="5"/>
                      <a:pt x="20" y="5"/>
                    </a:cubicBezTo>
                    <a:cubicBezTo>
                      <a:pt x="15" y="0"/>
                      <a:pt x="9" y="0"/>
                      <a:pt x="5" y="5"/>
                    </a:cubicBezTo>
                    <a:cubicBezTo>
                      <a:pt x="0" y="9"/>
                      <a:pt x="0" y="15"/>
                      <a:pt x="5" y="20"/>
                    </a:cubicBezTo>
                    <a:lnTo>
                      <a:pt x="2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Freeform 30">
                <a:extLst>
                  <a:ext uri="{FF2B5EF4-FFF2-40B4-BE49-F238E27FC236}">
                    <a16:creationId xmlns:a16="http://schemas.microsoft.com/office/drawing/2014/main" id="{6042B854-3277-4EFB-AEED-35A704C8106A}"/>
                  </a:ext>
                </a:extLst>
              </p:cNvPr>
              <p:cNvSpPr>
                <a:spLocks/>
              </p:cNvSpPr>
              <p:nvPr/>
            </p:nvSpPr>
            <p:spPr bwMode="auto">
              <a:xfrm>
                <a:off x="5899833" y="4243222"/>
                <a:ext cx="146509" cy="140874"/>
              </a:xfrm>
              <a:custGeom>
                <a:avLst/>
                <a:gdLst>
                  <a:gd name="T0" fmla="*/ 20 w 39"/>
                  <a:gd name="T1" fmla="*/ 5 h 38"/>
                  <a:gd name="T2" fmla="*/ 5 w 39"/>
                  <a:gd name="T3" fmla="*/ 5 h 38"/>
                  <a:gd name="T4" fmla="*/ 5 w 39"/>
                  <a:gd name="T5" fmla="*/ 20 h 38"/>
                  <a:gd name="T6" fmla="*/ 20 w 39"/>
                  <a:gd name="T7" fmla="*/ 35 h 38"/>
                  <a:gd name="T8" fmla="*/ 27 w 39"/>
                  <a:gd name="T9" fmla="*/ 38 h 38"/>
                  <a:gd name="T10" fmla="*/ 35 w 39"/>
                  <a:gd name="T11" fmla="*/ 35 h 38"/>
                  <a:gd name="T12" fmla="*/ 35 w 39"/>
                  <a:gd name="T13" fmla="*/ 20 h 38"/>
                  <a:gd name="T14" fmla="*/ 20 w 39"/>
                  <a:gd name="T15" fmla="*/ 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0" y="5"/>
                    </a:moveTo>
                    <a:cubicBezTo>
                      <a:pt x="16" y="0"/>
                      <a:pt x="9" y="0"/>
                      <a:pt x="5" y="5"/>
                    </a:cubicBezTo>
                    <a:cubicBezTo>
                      <a:pt x="0" y="9"/>
                      <a:pt x="0" y="16"/>
                      <a:pt x="5" y="20"/>
                    </a:cubicBezTo>
                    <a:cubicBezTo>
                      <a:pt x="20" y="35"/>
                      <a:pt x="20" y="35"/>
                      <a:pt x="20" y="35"/>
                    </a:cubicBezTo>
                    <a:cubicBezTo>
                      <a:pt x="22" y="37"/>
                      <a:pt x="25" y="38"/>
                      <a:pt x="27" y="38"/>
                    </a:cubicBezTo>
                    <a:cubicBezTo>
                      <a:pt x="30" y="38"/>
                      <a:pt x="33" y="37"/>
                      <a:pt x="35" y="35"/>
                    </a:cubicBezTo>
                    <a:cubicBezTo>
                      <a:pt x="39" y="31"/>
                      <a:pt x="39" y="24"/>
                      <a:pt x="35" y="20"/>
                    </a:cubicBezTo>
                    <a:lnTo>
                      <a:pt x="2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5" name="TextBox 34">
              <a:extLst>
                <a:ext uri="{FF2B5EF4-FFF2-40B4-BE49-F238E27FC236}">
                  <a16:creationId xmlns:a16="http://schemas.microsoft.com/office/drawing/2014/main" id="{9A844BF2-BF42-428E-991C-E04F112359E9}"/>
                </a:ext>
              </a:extLst>
            </p:cNvPr>
            <p:cNvSpPr txBox="1"/>
            <p:nvPr/>
          </p:nvSpPr>
          <p:spPr>
            <a:xfrm>
              <a:off x="772883" y="4047717"/>
              <a:ext cx="1858919" cy="65146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1" u="none" strike="noStrike" kern="1200" cap="none" spc="0" normalizeH="0" baseline="0" noProof="0" dirty="0">
                  <a:ln>
                    <a:noFill/>
                  </a:ln>
                  <a:solidFill>
                    <a:prstClr val="white"/>
                  </a:solidFill>
                  <a:effectLst/>
                  <a:uLnTx/>
                  <a:uFillTx/>
                  <a:latin typeface="Calibri"/>
                  <a:ea typeface="+mn-ea"/>
                  <a:cs typeface="+mn-cs"/>
                </a:rPr>
                <a:t>“</a:t>
              </a:r>
              <a:r>
                <a:rPr kumimoji="0" lang="en-US" sz="1200" b="0" i="1" u="none" strike="noStrike" kern="1200" cap="none" spc="0" normalizeH="0" baseline="0" noProof="0" dirty="0">
                  <a:ln>
                    <a:noFill/>
                  </a:ln>
                  <a:solidFill>
                    <a:prstClr val="white"/>
                  </a:solidFill>
                  <a:effectLst/>
                  <a:uLnTx/>
                  <a:uFillTx/>
                  <a:latin typeface="Calibri"/>
                  <a:ea typeface="+mn-ea"/>
                  <a:cs typeface="+mn-cs"/>
                </a:rPr>
                <a:t>Indian Renewable Energy Development Agency Limited (IREDA) is the Implementation Agency which will allocate the VGF fund by bidding using bucket filling method”</a:t>
              </a:r>
              <a:endParaRPr kumimoji="0" lang="en-GB" sz="1200" b="0" i="1" u="none" strike="noStrike" kern="1200" cap="none" spc="0" normalizeH="0" baseline="0" noProof="0" dirty="0">
                <a:ln>
                  <a:noFill/>
                </a:ln>
                <a:solidFill>
                  <a:prstClr val="white"/>
                </a:solidFill>
                <a:effectLst/>
                <a:uLnTx/>
                <a:uFillTx/>
                <a:latin typeface="Calibri"/>
                <a:ea typeface="+mn-ea"/>
                <a:cs typeface="+mn-cs"/>
              </a:endParaRPr>
            </a:p>
          </p:txBody>
        </p:sp>
        <p:grpSp>
          <p:nvGrpSpPr>
            <p:cNvPr id="42" name="Group 41">
              <a:extLst>
                <a:ext uri="{FF2B5EF4-FFF2-40B4-BE49-F238E27FC236}">
                  <a16:creationId xmlns:a16="http://schemas.microsoft.com/office/drawing/2014/main" id="{69ECECDA-6381-479F-B965-9924B5DB6459}"/>
                </a:ext>
              </a:extLst>
            </p:cNvPr>
            <p:cNvGrpSpPr/>
            <p:nvPr/>
          </p:nvGrpSpPr>
          <p:grpSpPr>
            <a:xfrm>
              <a:off x="3440489" y="1885239"/>
              <a:ext cx="2372179" cy="4237674"/>
              <a:chOff x="1009996" y="765175"/>
              <a:chExt cx="2857801" cy="4693878"/>
            </a:xfrm>
          </p:grpSpPr>
          <p:sp>
            <p:nvSpPr>
              <p:cNvPr id="43" name="Rounded Rectangle 19">
                <a:extLst>
                  <a:ext uri="{FF2B5EF4-FFF2-40B4-BE49-F238E27FC236}">
                    <a16:creationId xmlns:a16="http://schemas.microsoft.com/office/drawing/2014/main" id="{AB23CDC6-8DA1-48B6-86D9-9D23ED4CA6F7}"/>
                  </a:ext>
                </a:extLst>
              </p:cNvPr>
              <p:cNvSpPr/>
              <p:nvPr/>
            </p:nvSpPr>
            <p:spPr bwMode="gray">
              <a:xfrm>
                <a:off x="1214847" y="878314"/>
                <a:ext cx="2440155" cy="4004814"/>
              </a:xfrm>
              <a:prstGeom prst="roundRect">
                <a:avLst>
                  <a:gd name="adj" fmla="val 4667"/>
                </a:avLst>
              </a:prstGeom>
              <a:solidFill>
                <a:srgbClr val="CFE4A8"/>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44" name="Group 43">
                <a:extLst>
                  <a:ext uri="{FF2B5EF4-FFF2-40B4-BE49-F238E27FC236}">
                    <a16:creationId xmlns:a16="http://schemas.microsoft.com/office/drawing/2014/main" id="{CE37F10F-C66C-4663-8DCD-934AD7E07C20}"/>
                  </a:ext>
                </a:extLst>
              </p:cNvPr>
              <p:cNvGrpSpPr/>
              <p:nvPr/>
            </p:nvGrpSpPr>
            <p:grpSpPr>
              <a:xfrm>
                <a:off x="1009996" y="765175"/>
                <a:ext cx="2857801" cy="4693878"/>
                <a:chOff x="1009996" y="765175"/>
                <a:chExt cx="2857801" cy="4693878"/>
              </a:xfrm>
            </p:grpSpPr>
            <p:sp>
              <p:nvSpPr>
                <p:cNvPr id="45" name="Rounded Rectangle 4">
                  <a:extLst>
                    <a:ext uri="{FF2B5EF4-FFF2-40B4-BE49-F238E27FC236}">
                      <a16:creationId xmlns:a16="http://schemas.microsoft.com/office/drawing/2014/main" id="{FEDA860C-D9DF-4176-B503-50E66FD2C8F9}"/>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6" name="Oval 45">
                  <a:extLst>
                    <a:ext uri="{FF2B5EF4-FFF2-40B4-BE49-F238E27FC236}">
                      <a16:creationId xmlns:a16="http://schemas.microsoft.com/office/drawing/2014/main" id="{0FC2A86A-92F3-4041-8054-6F0DB0FCD0D1}"/>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7" name="Rectangle 46">
                  <a:extLst>
                    <a:ext uri="{FF2B5EF4-FFF2-40B4-BE49-F238E27FC236}">
                      <a16:creationId xmlns:a16="http://schemas.microsoft.com/office/drawing/2014/main" id="{AE27F3B9-F5A9-4566-8A45-5FC749B343F1}"/>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B5467CA9-AC60-42B8-8792-E482B81DB137}"/>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9" name="Rectangle 48">
                  <a:extLst>
                    <a:ext uri="{FF2B5EF4-FFF2-40B4-BE49-F238E27FC236}">
                      <a16:creationId xmlns:a16="http://schemas.microsoft.com/office/drawing/2014/main" id="{4EF100C6-07D2-41C8-B67B-FA842CEE6826}"/>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0" name="Group 49">
              <a:extLst>
                <a:ext uri="{FF2B5EF4-FFF2-40B4-BE49-F238E27FC236}">
                  <a16:creationId xmlns:a16="http://schemas.microsoft.com/office/drawing/2014/main" id="{37474B0A-CD8E-408E-8840-F6FD5CDC15C6}"/>
                </a:ext>
              </a:extLst>
            </p:cNvPr>
            <p:cNvGrpSpPr/>
            <p:nvPr/>
          </p:nvGrpSpPr>
          <p:grpSpPr>
            <a:xfrm>
              <a:off x="6379328" y="1885239"/>
              <a:ext cx="2372179" cy="4237674"/>
              <a:chOff x="1009996" y="765175"/>
              <a:chExt cx="2857801" cy="4693878"/>
            </a:xfrm>
          </p:grpSpPr>
          <p:sp>
            <p:nvSpPr>
              <p:cNvPr id="51" name="Rounded Rectangle 19">
                <a:extLst>
                  <a:ext uri="{FF2B5EF4-FFF2-40B4-BE49-F238E27FC236}">
                    <a16:creationId xmlns:a16="http://schemas.microsoft.com/office/drawing/2014/main" id="{A9A6871D-49AF-4EB8-8456-A626AC613A0A}"/>
                  </a:ext>
                </a:extLst>
              </p:cNvPr>
              <p:cNvSpPr/>
              <p:nvPr/>
            </p:nvSpPr>
            <p:spPr bwMode="gray">
              <a:xfrm>
                <a:off x="1214847" y="878314"/>
                <a:ext cx="2440155" cy="4004814"/>
              </a:xfrm>
              <a:prstGeom prst="roundRect">
                <a:avLst>
                  <a:gd name="adj" fmla="val 4667"/>
                </a:avLst>
              </a:prstGeom>
              <a:solidFill>
                <a:schemeClr val="accent4">
                  <a:lumMod val="20000"/>
                  <a:lumOff val="80000"/>
                </a:schemeClr>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52" name="Group 51">
                <a:extLst>
                  <a:ext uri="{FF2B5EF4-FFF2-40B4-BE49-F238E27FC236}">
                    <a16:creationId xmlns:a16="http://schemas.microsoft.com/office/drawing/2014/main" id="{347D58D1-3F60-4C4C-B9CA-04AC28B593D8}"/>
                  </a:ext>
                </a:extLst>
              </p:cNvPr>
              <p:cNvGrpSpPr/>
              <p:nvPr/>
            </p:nvGrpSpPr>
            <p:grpSpPr>
              <a:xfrm>
                <a:off x="1009996" y="765175"/>
                <a:ext cx="2857801" cy="4693878"/>
                <a:chOff x="1009996" y="765175"/>
                <a:chExt cx="2857801" cy="4693878"/>
              </a:xfrm>
            </p:grpSpPr>
            <p:sp>
              <p:nvSpPr>
                <p:cNvPr id="53" name="Rounded Rectangle 4">
                  <a:extLst>
                    <a:ext uri="{FF2B5EF4-FFF2-40B4-BE49-F238E27FC236}">
                      <a16:creationId xmlns:a16="http://schemas.microsoft.com/office/drawing/2014/main" id="{33CD81F0-F569-4A6D-B720-7B014742C284}"/>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4" name="Oval 53">
                  <a:extLst>
                    <a:ext uri="{FF2B5EF4-FFF2-40B4-BE49-F238E27FC236}">
                      <a16:creationId xmlns:a16="http://schemas.microsoft.com/office/drawing/2014/main" id="{0CBD66D4-E4A1-4D07-B0CC-0FCBA18456E7}"/>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5" name="Rectangle 54">
                  <a:extLst>
                    <a:ext uri="{FF2B5EF4-FFF2-40B4-BE49-F238E27FC236}">
                      <a16:creationId xmlns:a16="http://schemas.microsoft.com/office/drawing/2014/main" id="{0A0482B9-9148-49F2-86F0-795CC7348091}"/>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6" name="Rectangle 55">
                  <a:extLst>
                    <a:ext uri="{FF2B5EF4-FFF2-40B4-BE49-F238E27FC236}">
                      <a16:creationId xmlns:a16="http://schemas.microsoft.com/office/drawing/2014/main" id="{D4BC7245-504A-4A9C-941E-0C51BBC1E2EC}"/>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7" name="Rectangle 56">
                  <a:extLst>
                    <a:ext uri="{FF2B5EF4-FFF2-40B4-BE49-F238E27FC236}">
                      <a16:creationId xmlns:a16="http://schemas.microsoft.com/office/drawing/2014/main" id="{E733A69B-892A-4C9F-9617-B869F6DF137A}"/>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58" name="Group 57">
              <a:extLst>
                <a:ext uri="{FF2B5EF4-FFF2-40B4-BE49-F238E27FC236}">
                  <a16:creationId xmlns:a16="http://schemas.microsoft.com/office/drawing/2014/main" id="{CFC9377C-89A8-47E5-8D6F-BF24CB5EB8D2}"/>
                </a:ext>
              </a:extLst>
            </p:cNvPr>
            <p:cNvGrpSpPr/>
            <p:nvPr/>
          </p:nvGrpSpPr>
          <p:grpSpPr>
            <a:xfrm>
              <a:off x="9318166" y="1885881"/>
              <a:ext cx="2372179" cy="4237674"/>
              <a:chOff x="1009996" y="765175"/>
              <a:chExt cx="2857801" cy="4693878"/>
            </a:xfrm>
          </p:grpSpPr>
          <p:sp>
            <p:nvSpPr>
              <p:cNvPr id="59" name="Rounded Rectangle 19">
                <a:extLst>
                  <a:ext uri="{FF2B5EF4-FFF2-40B4-BE49-F238E27FC236}">
                    <a16:creationId xmlns:a16="http://schemas.microsoft.com/office/drawing/2014/main" id="{CEBD3396-9886-41CC-A419-A374D1C063E8}"/>
                  </a:ext>
                </a:extLst>
              </p:cNvPr>
              <p:cNvSpPr/>
              <p:nvPr/>
            </p:nvSpPr>
            <p:spPr bwMode="gray">
              <a:xfrm>
                <a:off x="1214847" y="878314"/>
                <a:ext cx="2440155" cy="4004814"/>
              </a:xfrm>
              <a:prstGeom prst="roundRect">
                <a:avLst>
                  <a:gd name="adj" fmla="val 4667"/>
                </a:avLst>
              </a:prstGeom>
              <a:solidFill>
                <a:schemeClr val="accent6">
                  <a:lumMod val="20000"/>
                  <a:lumOff val="80000"/>
                </a:schemeClr>
              </a:solid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60" name="Group 59">
                <a:extLst>
                  <a:ext uri="{FF2B5EF4-FFF2-40B4-BE49-F238E27FC236}">
                    <a16:creationId xmlns:a16="http://schemas.microsoft.com/office/drawing/2014/main" id="{4D890308-08E9-4553-9567-4402153C0D93}"/>
                  </a:ext>
                </a:extLst>
              </p:cNvPr>
              <p:cNvGrpSpPr/>
              <p:nvPr/>
            </p:nvGrpSpPr>
            <p:grpSpPr>
              <a:xfrm>
                <a:off x="1009996" y="765175"/>
                <a:ext cx="2857801" cy="4693878"/>
                <a:chOff x="1009996" y="765175"/>
                <a:chExt cx="2857801" cy="4693878"/>
              </a:xfrm>
            </p:grpSpPr>
            <p:sp>
              <p:nvSpPr>
                <p:cNvPr id="61" name="Rounded Rectangle 4">
                  <a:extLst>
                    <a:ext uri="{FF2B5EF4-FFF2-40B4-BE49-F238E27FC236}">
                      <a16:creationId xmlns:a16="http://schemas.microsoft.com/office/drawing/2014/main" id="{B7AC9B30-206C-4D86-B08F-04C724055C22}"/>
                    </a:ext>
                  </a:extLst>
                </p:cNvPr>
                <p:cNvSpPr/>
                <p:nvPr/>
              </p:nvSpPr>
              <p:spPr bwMode="gray">
                <a:xfrm>
                  <a:off x="1089205" y="765175"/>
                  <a:ext cx="2697823" cy="4693878"/>
                </a:xfrm>
                <a:prstGeom prst="roundRect">
                  <a:avLst>
                    <a:gd name="adj" fmla="val 4667"/>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2" name="Oval 61">
                  <a:extLst>
                    <a:ext uri="{FF2B5EF4-FFF2-40B4-BE49-F238E27FC236}">
                      <a16:creationId xmlns:a16="http://schemas.microsoft.com/office/drawing/2014/main" id="{85E96A40-C16D-4CE8-9ED3-B17816FFE1F4}"/>
                    </a:ext>
                  </a:extLst>
                </p:cNvPr>
                <p:cNvSpPr/>
                <p:nvPr/>
              </p:nvSpPr>
              <p:spPr bwMode="gray">
                <a:xfrm>
                  <a:off x="2313483" y="4979919"/>
                  <a:ext cx="327923" cy="327923"/>
                </a:xfrm>
                <a:prstGeom prst="ellipse">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3" name="Rectangle 62">
                  <a:extLst>
                    <a:ext uri="{FF2B5EF4-FFF2-40B4-BE49-F238E27FC236}">
                      <a16:creationId xmlns:a16="http://schemas.microsoft.com/office/drawing/2014/main" id="{701544C9-DEA1-4020-B31F-09F142903A31}"/>
                    </a:ext>
                  </a:extLst>
                </p:cNvPr>
                <p:cNvSpPr/>
                <p:nvPr/>
              </p:nvSpPr>
              <p:spPr bwMode="gray">
                <a:xfrm>
                  <a:off x="1009996"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4" name="Rectangle 63">
                  <a:extLst>
                    <a:ext uri="{FF2B5EF4-FFF2-40B4-BE49-F238E27FC236}">
                      <a16:creationId xmlns:a16="http://schemas.microsoft.com/office/drawing/2014/main" id="{DC62C532-FD36-4756-A978-FBA002A3CEEF}"/>
                    </a:ext>
                  </a:extLst>
                </p:cNvPr>
                <p:cNvSpPr/>
                <p:nvPr/>
              </p:nvSpPr>
              <p:spPr bwMode="gray">
                <a:xfrm>
                  <a:off x="1009996" y="1501171"/>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65" name="Rectangle 64">
                  <a:extLst>
                    <a:ext uri="{FF2B5EF4-FFF2-40B4-BE49-F238E27FC236}">
                      <a16:creationId xmlns:a16="http://schemas.microsoft.com/office/drawing/2014/main" id="{28D1745D-E0C9-45E7-8139-F6C83ADAFD12}"/>
                    </a:ext>
                  </a:extLst>
                </p:cNvPr>
                <p:cNvSpPr/>
                <p:nvPr/>
              </p:nvSpPr>
              <p:spPr bwMode="gray">
                <a:xfrm>
                  <a:off x="3788003" y="1133173"/>
                  <a:ext cx="79794" cy="321617"/>
                </a:xfrm>
                <a:prstGeom prst="rect">
                  <a:avLst/>
                </a:prstGeom>
                <a:noFill/>
                <a:ln w="6350" algn="ctr">
                  <a:solidFill>
                    <a:schemeClr val="tx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66" name="TextBox 65">
              <a:extLst>
                <a:ext uri="{FF2B5EF4-FFF2-40B4-BE49-F238E27FC236}">
                  <a16:creationId xmlns:a16="http://schemas.microsoft.com/office/drawing/2014/main" id="{F1F8F937-DD51-4C89-A78D-77B8A48928C9}"/>
                </a:ext>
              </a:extLst>
            </p:cNvPr>
            <p:cNvSpPr txBox="1"/>
            <p:nvPr/>
          </p:nvSpPr>
          <p:spPr>
            <a:xfrm>
              <a:off x="3675958" y="2065243"/>
              <a:ext cx="1935482" cy="774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6890D"/>
                  </a:solidFill>
                  <a:effectLst/>
                  <a:uLnTx/>
                  <a:uFillTx/>
                  <a:latin typeface="Calibri"/>
                  <a:ea typeface="+mn-ea"/>
                  <a:cs typeface="+mn-cs"/>
                </a:rPr>
                <a:t>Only for Government Producers</a:t>
              </a:r>
              <a:endParaRPr kumimoji="0" lang="en-GB" sz="1600" b="0" i="0" u="none" strike="noStrike" kern="1200" cap="none" spc="0" normalizeH="0" baseline="0" noProof="0" dirty="0">
                <a:ln>
                  <a:noFill/>
                </a:ln>
                <a:solidFill>
                  <a:srgbClr val="26890D"/>
                </a:solidFill>
                <a:effectLst/>
                <a:uLnTx/>
                <a:uFillTx/>
                <a:latin typeface="Calibri"/>
                <a:ea typeface="+mn-ea"/>
                <a:cs typeface="+mn-cs"/>
              </a:endParaRPr>
            </a:p>
          </p:txBody>
        </p:sp>
        <p:sp>
          <p:nvSpPr>
            <p:cNvPr id="67" name="Freeform 81">
              <a:extLst>
                <a:ext uri="{FF2B5EF4-FFF2-40B4-BE49-F238E27FC236}">
                  <a16:creationId xmlns:a16="http://schemas.microsoft.com/office/drawing/2014/main" id="{2856DE4C-399D-427A-BD5E-D0DC85CE128F}"/>
                </a:ext>
              </a:extLst>
            </p:cNvPr>
            <p:cNvSpPr>
              <a:spLocks noEditPoints="1"/>
            </p:cNvSpPr>
            <p:nvPr/>
          </p:nvSpPr>
          <p:spPr bwMode="auto">
            <a:xfrm>
              <a:off x="4098484" y="2840062"/>
              <a:ext cx="1012900" cy="933743"/>
            </a:xfrm>
            <a:custGeom>
              <a:avLst/>
              <a:gdLst>
                <a:gd name="T0" fmla="*/ 297 w 320"/>
                <a:gd name="T1" fmla="*/ 181 h 277"/>
                <a:gd name="T2" fmla="*/ 192 w 320"/>
                <a:gd name="T3" fmla="*/ 32 h 277"/>
                <a:gd name="T4" fmla="*/ 170 w 320"/>
                <a:gd name="T5" fmla="*/ 21 h 277"/>
                <a:gd name="T6" fmla="*/ 160 w 320"/>
                <a:gd name="T7" fmla="*/ 0 h 277"/>
                <a:gd name="T8" fmla="*/ 149 w 320"/>
                <a:gd name="T9" fmla="*/ 21 h 277"/>
                <a:gd name="T10" fmla="*/ 128 w 320"/>
                <a:gd name="T11" fmla="*/ 32 h 277"/>
                <a:gd name="T12" fmla="*/ 23 w 320"/>
                <a:gd name="T13" fmla="*/ 181 h 277"/>
                <a:gd name="T14" fmla="*/ 0 w 320"/>
                <a:gd name="T15" fmla="*/ 192 h 277"/>
                <a:gd name="T16" fmla="*/ 10 w 320"/>
                <a:gd name="T17" fmla="*/ 277 h 277"/>
                <a:gd name="T18" fmla="*/ 21 w 320"/>
                <a:gd name="T19" fmla="*/ 202 h 277"/>
                <a:gd name="T20" fmla="*/ 298 w 320"/>
                <a:gd name="T21" fmla="*/ 266 h 277"/>
                <a:gd name="T22" fmla="*/ 320 w 320"/>
                <a:gd name="T23" fmla="*/ 266 h 277"/>
                <a:gd name="T24" fmla="*/ 309 w 320"/>
                <a:gd name="T25" fmla="*/ 181 h 277"/>
                <a:gd name="T26" fmla="*/ 170 w 320"/>
                <a:gd name="T27" fmla="*/ 42 h 277"/>
                <a:gd name="T28" fmla="*/ 160 w 320"/>
                <a:gd name="T29" fmla="*/ 64 h 277"/>
                <a:gd name="T30" fmla="*/ 149 w 320"/>
                <a:gd name="T31" fmla="*/ 42 h 277"/>
                <a:gd name="T32" fmla="*/ 140 w 320"/>
                <a:gd name="T33" fmla="*/ 87 h 277"/>
                <a:gd name="T34" fmla="*/ 160 w 320"/>
                <a:gd name="T35" fmla="*/ 85 h 277"/>
                <a:gd name="T36" fmla="*/ 179 w 320"/>
                <a:gd name="T37" fmla="*/ 87 h 277"/>
                <a:gd name="T38" fmla="*/ 44 w 320"/>
                <a:gd name="T39" fmla="*/ 181 h 277"/>
                <a:gd name="T40" fmla="*/ 106 w 320"/>
                <a:gd name="T41" fmla="*/ 266 h 277"/>
                <a:gd name="T42" fmla="*/ 85 w 320"/>
                <a:gd name="T43" fmla="*/ 266 h 277"/>
                <a:gd name="T44" fmla="*/ 96 w 320"/>
                <a:gd name="T45" fmla="*/ 224 h 277"/>
                <a:gd name="T46" fmla="*/ 64 w 320"/>
                <a:gd name="T47" fmla="*/ 234 h 277"/>
                <a:gd name="T48" fmla="*/ 53 w 320"/>
                <a:gd name="T49" fmla="*/ 277 h 277"/>
                <a:gd name="T50" fmla="*/ 42 w 320"/>
                <a:gd name="T51" fmla="*/ 234 h 277"/>
                <a:gd name="T52" fmla="*/ 64 w 320"/>
                <a:gd name="T53" fmla="*/ 234 h 277"/>
                <a:gd name="T54" fmla="*/ 192 w 320"/>
                <a:gd name="T55" fmla="*/ 266 h 277"/>
                <a:gd name="T56" fmla="*/ 170 w 320"/>
                <a:gd name="T57" fmla="*/ 266 h 277"/>
                <a:gd name="T58" fmla="*/ 181 w 320"/>
                <a:gd name="T59" fmla="*/ 224 h 277"/>
                <a:gd name="T60" fmla="*/ 149 w 320"/>
                <a:gd name="T61" fmla="*/ 234 h 277"/>
                <a:gd name="T62" fmla="*/ 138 w 320"/>
                <a:gd name="T63" fmla="*/ 277 h 277"/>
                <a:gd name="T64" fmla="*/ 128 w 320"/>
                <a:gd name="T65" fmla="*/ 234 h 277"/>
                <a:gd name="T66" fmla="*/ 149 w 320"/>
                <a:gd name="T67" fmla="*/ 234 h 277"/>
                <a:gd name="T68" fmla="*/ 277 w 320"/>
                <a:gd name="T69" fmla="*/ 266 h 277"/>
                <a:gd name="T70" fmla="*/ 256 w 320"/>
                <a:gd name="T71" fmla="*/ 266 h 277"/>
                <a:gd name="T72" fmla="*/ 266 w 320"/>
                <a:gd name="T73" fmla="*/ 224 h 277"/>
                <a:gd name="T74" fmla="*/ 234 w 320"/>
                <a:gd name="T75" fmla="*/ 234 h 277"/>
                <a:gd name="T76" fmla="*/ 224 w 320"/>
                <a:gd name="T77" fmla="*/ 277 h 277"/>
                <a:gd name="T78" fmla="*/ 213 w 320"/>
                <a:gd name="T79" fmla="*/ 234 h 277"/>
                <a:gd name="T80" fmla="*/ 234 w 320"/>
                <a:gd name="T81" fmla="*/ 23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77">
                  <a:moveTo>
                    <a:pt x="309" y="181"/>
                  </a:moveTo>
                  <a:cubicBezTo>
                    <a:pt x="297" y="181"/>
                    <a:pt x="297" y="181"/>
                    <a:pt x="297" y="181"/>
                  </a:cubicBezTo>
                  <a:cubicBezTo>
                    <a:pt x="288" y="125"/>
                    <a:pt x="246" y="81"/>
                    <a:pt x="192" y="68"/>
                  </a:cubicBezTo>
                  <a:cubicBezTo>
                    <a:pt x="192" y="32"/>
                    <a:pt x="192" y="32"/>
                    <a:pt x="192" y="32"/>
                  </a:cubicBezTo>
                  <a:cubicBezTo>
                    <a:pt x="192" y="26"/>
                    <a:pt x="187" y="21"/>
                    <a:pt x="181" y="21"/>
                  </a:cubicBezTo>
                  <a:cubicBezTo>
                    <a:pt x="170" y="21"/>
                    <a:pt x="170" y="21"/>
                    <a:pt x="170" y="21"/>
                  </a:cubicBezTo>
                  <a:cubicBezTo>
                    <a:pt x="170" y="10"/>
                    <a:pt x="170" y="10"/>
                    <a:pt x="170" y="10"/>
                  </a:cubicBezTo>
                  <a:cubicBezTo>
                    <a:pt x="170" y="4"/>
                    <a:pt x="166" y="0"/>
                    <a:pt x="160" y="0"/>
                  </a:cubicBezTo>
                  <a:cubicBezTo>
                    <a:pt x="154" y="0"/>
                    <a:pt x="149" y="4"/>
                    <a:pt x="149" y="10"/>
                  </a:cubicBezTo>
                  <a:cubicBezTo>
                    <a:pt x="149" y="21"/>
                    <a:pt x="149" y="21"/>
                    <a:pt x="149" y="21"/>
                  </a:cubicBezTo>
                  <a:cubicBezTo>
                    <a:pt x="138" y="21"/>
                    <a:pt x="138" y="21"/>
                    <a:pt x="138" y="21"/>
                  </a:cubicBezTo>
                  <a:cubicBezTo>
                    <a:pt x="132" y="21"/>
                    <a:pt x="128" y="26"/>
                    <a:pt x="128" y="32"/>
                  </a:cubicBezTo>
                  <a:cubicBezTo>
                    <a:pt x="128" y="68"/>
                    <a:pt x="128" y="68"/>
                    <a:pt x="128" y="68"/>
                  </a:cubicBezTo>
                  <a:cubicBezTo>
                    <a:pt x="73" y="81"/>
                    <a:pt x="31" y="125"/>
                    <a:pt x="23" y="181"/>
                  </a:cubicBezTo>
                  <a:cubicBezTo>
                    <a:pt x="10" y="181"/>
                    <a:pt x="10" y="181"/>
                    <a:pt x="10" y="181"/>
                  </a:cubicBezTo>
                  <a:cubicBezTo>
                    <a:pt x="4" y="181"/>
                    <a:pt x="0" y="186"/>
                    <a:pt x="0" y="192"/>
                  </a:cubicBezTo>
                  <a:cubicBezTo>
                    <a:pt x="0" y="266"/>
                    <a:pt x="0" y="266"/>
                    <a:pt x="0" y="266"/>
                  </a:cubicBezTo>
                  <a:cubicBezTo>
                    <a:pt x="0" y="272"/>
                    <a:pt x="4" y="277"/>
                    <a:pt x="10" y="277"/>
                  </a:cubicBezTo>
                  <a:cubicBezTo>
                    <a:pt x="16" y="277"/>
                    <a:pt x="21" y="272"/>
                    <a:pt x="21" y="266"/>
                  </a:cubicBezTo>
                  <a:cubicBezTo>
                    <a:pt x="21" y="202"/>
                    <a:pt x="21" y="202"/>
                    <a:pt x="21" y="202"/>
                  </a:cubicBezTo>
                  <a:cubicBezTo>
                    <a:pt x="298" y="202"/>
                    <a:pt x="298" y="202"/>
                    <a:pt x="298" y="202"/>
                  </a:cubicBezTo>
                  <a:cubicBezTo>
                    <a:pt x="298" y="266"/>
                    <a:pt x="298" y="266"/>
                    <a:pt x="298" y="266"/>
                  </a:cubicBezTo>
                  <a:cubicBezTo>
                    <a:pt x="298" y="272"/>
                    <a:pt x="303" y="277"/>
                    <a:pt x="309" y="277"/>
                  </a:cubicBezTo>
                  <a:cubicBezTo>
                    <a:pt x="315" y="277"/>
                    <a:pt x="320" y="272"/>
                    <a:pt x="320" y="266"/>
                  </a:cubicBezTo>
                  <a:cubicBezTo>
                    <a:pt x="320" y="192"/>
                    <a:pt x="320" y="192"/>
                    <a:pt x="320" y="192"/>
                  </a:cubicBezTo>
                  <a:cubicBezTo>
                    <a:pt x="320" y="186"/>
                    <a:pt x="315" y="181"/>
                    <a:pt x="309" y="181"/>
                  </a:cubicBezTo>
                  <a:close/>
                  <a:moveTo>
                    <a:pt x="149" y="42"/>
                  </a:moveTo>
                  <a:cubicBezTo>
                    <a:pt x="170" y="42"/>
                    <a:pt x="170" y="42"/>
                    <a:pt x="170" y="42"/>
                  </a:cubicBezTo>
                  <a:cubicBezTo>
                    <a:pt x="170" y="64"/>
                    <a:pt x="170" y="64"/>
                    <a:pt x="170" y="64"/>
                  </a:cubicBezTo>
                  <a:cubicBezTo>
                    <a:pt x="170" y="64"/>
                    <a:pt x="164" y="64"/>
                    <a:pt x="160" y="64"/>
                  </a:cubicBezTo>
                  <a:cubicBezTo>
                    <a:pt x="155" y="64"/>
                    <a:pt x="149" y="64"/>
                    <a:pt x="149" y="64"/>
                  </a:cubicBezTo>
                  <a:lnTo>
                    <a:pt x="149" y="42"/>
                  </a:lnTo>
                  <a:close/>
                  <a:moveTo>
                    <a:pt x="44" y="181"/>
                  </a:moveTo>
                  <a:cubicBezTo>
                    <a:pt x="53" y="133"/>
                    <a:pt x="91" y="95"/>
                    <a:pt x="140" y="87"/>
                  </a:cubicBezTo>
                  <a:cubicBezTo>
                    <a:pt x="147" y="86"/>
                    <a:pt x="147" y="86"/>
                    <a:pt x="147" y="86"/>
                  </a:cubicBezTo>
                  <a:cubicBezTo>
                    <a:pt x="152" y="85"/>
                    <a:pt x="155" y="85"/>
                    <a:pt x="160" y="85"/>
                  </a:cubicBezTo>
                  <a:cubicBezTo>
                    <a:pt x="164" y="85"/>
                    <a:pt x="167" y="85"/>
                    <a:pt x="172" y="86"/>
                  </a:cubicBezTo>
                  <a:cubicBezTo>
                    <a:pt x="179" y="87"/>
                    <a:pt x="179" y="87"/>
                    <a:pt x="179" y="87"/>
                  </a:cubicBezTo>
                  <a:cubicBezTo>
                    <a:pt x="228" y="95"/>
                    <a:pt x="266" y="133"/>
                    <a:pt x="275" y="181"/>
                  </a:cubicBezTo>
                  <a:lnTo>
                    <a:pt x="44" y="181"/>
                  </a:lnTo>
                  <a:close/>
                  <a:moveTo>
                    <a:pt x="106" y="234"/>
                  </a:moveTo>
                  <a:cubicBezTo>
                    <a:pt x="106" y="266"/>
                    <a:pt x="106" y="266"/>
                    <a:pt x="106" y="266"/>
                  </a:cubicBezTo>
                  <a:cubicBezTo>
                    <a:pt x="106" y="272"/>
                    <a:pt x="102" y="277"/>
                    <a:pt x="96" y="277"/>
                  </a:cubicBezTo>
                  <a:cubicBezTo>
                    <a:pt x="90" y="277"/>
                    <a:pt x="85" y="272"/>
                    <a:pt x="85" y="266"/>
                  </a:cubicBezTo>
                  <a:cubicBezTo>
                    <a:pt x="85" y="234"/>
                    <a:pt x="85" y="234"/>
                    <a:pt x="85" y="234"/>
                  </a:cubicBezTo>
                  <a:cubicBezTo>
                    <a:pt x="85" y="228"/>
                    <a:pt x="90" y="224"/>
                    <a:pt x="96" y="224"/>
                  </a:cubicBezTo>
                  <a:cubicBezTo>
                    <a:pt x="102" y="224"/>
                    <a:pt x="106" y="228"/>
                    <a:pt x="106" y="234"/>
                  </a:cubicBezTo>
                  <a:close/>
                  <a:moveTo>
                    <a:pt x="64" y="234"/>
                  </a:moveTo>
                  <a:cubicBezTo>
                    <a:pt x="64" y="266"/>
                    <a:pt x="64" y="266"/>
                    <a:pt x="64" y="266"/>
                  </a:cubicBezTo>
                  <a:cubicBezTo>
                    <a:pt x="64" y="272"/>
                    <a:pt x="59" y="277"/>
                    <a:pt x="53" y="277"/>
                  </a:cubicBezTo>
                  <a:cubicBezTo>
                    <a:pt x="47" y="277"/>
                    <a:pt x="42" y="272"/>
                    <a:pt x="42" y="266"/>
                  </a:cubicBezTo>
                  <a:cubicBezTo>
                    <a:pt x="42" y="234"/>
                    <a:pt x="42" y="234"/>
                    <a:pt x="42" y="234"/>
                  </a:cubicBezTo>
                  <a:cubicBezTo>
                    <a:pt x="42" y="228"/>
                    <a:pt x="47" y="224"/>
                    <a:pt x="53" y="224"/>
                  </a:cubicBezTo>
                  <a:cubicBezTo>
                    <a:pt x="59" y="224"/>
                    <a:pt x="64" y="228"/>
                    <a:pt x="64" y="234"/>
                  </a:cubicBezTo>
                  <a:close/>
                  <a:moveTo>
                    <a:pt x="192" y="234"/>
                  </a:moveTo>
                  <a:cubicBezTo>
                    <a:pt x="192" y="266"/>
                    <a:pt x="192" y="266"/>
                    <a:pt x="192" y="266"/>
                  </a:cubicBezTo>
                  <a:cubicBezTo>
                    <a:pt x="192" y="272"/>
                    <a:pt x="187" y="277"/>
                    <a:pt x="181" y="277"/>
                  </a:cubicBezTo>
                  <a:cubicBezTo>
                    <a:pt x="175" y="277"/>
                    <a:pt x="170" y="272"/>
                    <a:pt x="170" y="266"/>
                  </a:cubicBezTo>
                  <a:cubicBezTo>
                    <a:pt x="170" y="234"/>
                    <a:pt x="170" y="234"/>
                    <a:pt x="170" y="234"/>
                  </a:cubicBezTo>
                  <a:cubicBezTo>
                    <a:pt x="170" y="228"/>
                    <a:pt x="175" y="224"/>
                    <a:pt x="181" y="224"/>
                  </a:cubicBezTo>
                  <a:cubicBezTo>
                    <a:pt x="187" y="224"/>
                    <a:pt x="192" y="228"/>
                    <a:pt x="192" y="234"/>
                  </a:cubicBezTo>
                  <a:close/>
                  <a:moveTo>
                    <a:pt x="149" y="234"/>
                  </a:moveTo>
                  <a:cubicBezTo>
                    <a:pt x="149" y="266"/>
                    <a:pt x="149" y="266"/>
                    <a:pt x="149" y="266"/>
                  </a:cubicBezTo>
                  <a:cubicBezTo>
                    <a:pt x="149" y="272"/>
                    <a:pt x="144" y="277"/>
                    <a:pt x="138" y="277"/>
                  </a:cubicBezTo>
                  <a:cubicBezTo>
                    <a:pt x="132" y="277"/>
                    <a:pt x="128" y="272"/>
                    <a:pt x="128" y="266"/>
                  </a:cubicBezTo>
                  <a:cubicBezTo>
                    <a:pt x="128" y="234"/>
                    <a:pt x="128" y="234"/>
                    <a:pt x="128" y="234"/>
                  </a:cubicBezTo>
                  <a:cubicBezTo>
                    <a:pt x="128" y="228"/>
                    <a:pt x="132" y="224"/>
                    <a:pt x="138" y="224"/>
                  </a:cubicBezTo>
                  <a:cubicBezTo>
                    <a:pt x="144" y="224"/>
                    <a:pt x="149" y="228"/>
                    <a:pt x="149" y="234"/>
                  </a:cubicBezTo>
                  <a:close/>
                  <a:moveTo>
                    <a:pt x="277" y="234"/>
                  </a:moveTo>
                  <a:cubicBezTo>
                    <a:pt x="277" y="266"/>
                    <a:pt x="277" y="266"/>
                    <a:pt x="277" y="266"/>
                  </a:cubicBezTo>
                  <a:cubicBezTo>
                    <a:pt x="277" y="272"/>
                    <a:pt x="272" y="277"/>
                    <a:pt x="266" y="277"/>
                  </a:cubicBezTo>
                  <a:cubicBezTo>
                    <a:pt x="260" y="277"/>
                    <a:pt x="256" y="272"/>
                    <a:pt x="256" y="266"/>
                  </a:cubicBezTo>
                  <a:cubicBezTo>
                    <a:pt x="256" y="234"/>
                    <a:pt x="256" y="234"/>
                    <a:pt x="256" y="234"/>
                  </a:cubicBezTo>
                  <a:cubicBezTo>
                    <a:pt x="256" y="228"/>
                    <a:pt x="260" y="224"/>
                    <a:pt x="266" y="224"/>
                  </a:cubicBezTo>
                  <a:cubicBezTo>
                    <a:pt x="272" y="224"/>
                    <a:pt x="277" y="228"/>
                    <a:pt x="277" y="234"/>
                  </a:cubicBezTo>
                  <a:close/>
                  <a:moveTo>
                    <a:pt x="234" y="234"/>
                  </a:moveTo>
                  <a:cubicBezTo>
                    <a:pt x="234" y="266"/>
                    <a:pt x="234" y="266"/>
                    <a:pt x="234" y="266"/>
                  </a:cubicBezTo>
                  <a:cubicBezTo>
                    <a:pt x="234" y="272"/>
                    <a:pt x="230" y="277"/>
                    <a:pt x="224" y="277"/>
                  </a:cubicBezTo>
                  <a:cubicBezTo>
                    <a:pt x="218" y="277"/>
                    <a:pt x="213" y="272"/>
                    <a:pt x="213" y="266"/>
                  </a:cubicBezTo>
                  <a:cubicBezTo>
                    <a:pt x="213" y="234"/>
                    <a:pt x="213" y="234"/>
                    <a:pt x="213" y="234"/>
                  </a:cubicBezTo>
                  <a:cubicBezTo>
                    <a:pt x="213" y="228"/>
                    <a:pt x="218" y="224"/>
                    <a:pt x="224" y="224"/>
                  </a:cubicBezTo>
                  <a:cubicBezTo>
                    <a:pt x="230" y="224"/>
                    <a:pt x="234" y="228"/>
                    <a:pt x="234" y="234"/>
                  </a:cubicBez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8" name="TextBox 67">
              <a:extLst>
                <a:ext uri="{FF2B5EF4-FFF2-40B4-BE49-F238E27FC236}">
                  <a16:creationId xmlns:a16="http://schemas.microsoft.com/office/drawing/2014/main" id="{2CCFB7EB-58A2-42F2-8B96-53EA8F3E2033}"/>
                </a:ext>
              </a:extLst>
            </p:cNvPr>
            <p:cNvSpPr txBox="1"/>
            <p:nvPr/>
          </p:nvSpPr>
          <p:spPr>
            <a:xfrm>
              <a:off x="3700956" y="3858832"/>
              <a:ext cx="1935481" cy="151690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dirty="0">
                  <a:ln>
                    <a:noFill/>
                  </a:ln>
                  <a:solidFill>
                    <a:srgbClr val="26890D"/>
                  </a:solidFill>
                  <a:effectLst/>
                  <a:uLnTx/>
                  <a:uFillTx/>
                  <a:latin typeface="Calibri"/>
                  <a:ea typeface="+mn-ea"/>
                  <a:cs typeface="+mn-cs"/>
                </a:rPr>
                <a:t>“</a:t>
              </a:r>
              <a:r>
                <a:rPr kumimoji="0" lang="en-US" sz="1200" b="1" i="1" u="none" strike="noStrike" kern="1200" cap="none" spc="0" normalizeH="0" baseline="0" noProof="0" dirty="0">
                  <a:ln>
                    <a:noFill/>
                  </a:ln>
                  <a:solidFill>
                    <a:srgbClr val="26890D"/>
                  </a:solidFill>
                  <a:effectLst/>
                  <a:uLnTx/>
                  <a:uFillTx/>
                  <a:latin typeface="Calibri"/>
                  <a:ea typeface="+mn-ea"/>
                  <a:cs typeface="+mn-cs"/>
                </a:rPr>
                <a:t>a) </a:t>
              </a:r>
              <a:r>
                <a:rPr kumimoji="0" lang="en-US" sz="1200" b="0" i="1" u="none" strike="noStrike" kern="1200" cap="none" spc="0" normalizeH="0" baseline="0" noProof="0" dirty="0">
                  <a:ln>
                    <a:noFill/>
                  </a:ln>
                  <a:solidFill>
                    <a:srgbClr val="26890D"/>
                  </a:solidFill>
                  <a:effectLst/>
                  <a:uLnTx/>
                  <a:uFillTx/>
                  <a:latin typeface="Calibri"/>
                  <a:ea typeface="+mn-ea"/>
                  <a:cs typeface="+mn-cs"/>
                </a:rPr>
                <a:t>directly controlled by the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b) </a:t>
              </a:r>
              <a:r>
                <a:rPr kumimoji="0" lang="en-US" sz="1200" b="0" i="1" u="none" strike="noStrike" kern="1200" cap="none" spc="0" normalizeH="0" baseline="0" noProof="0" dirty="0">
                  <a:ln>
                    <a:noFill/>
                  </a:ln>
                  <a:solidFill>
                    <a:srgbClr val="26890D"/>
                  </a:solidFill>
                  <a:effectLst/>
                  <a:uLnTx/>
                  <a:uFillTx/>
                  <a:latin typeface="Calibri"/>
                  <a:ea typeface="+mn-ea"/>
                  <a:cs typeface="+mn-cs"/>
                </a:rPr>
                <a:t>is under the administrative control of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c) </a:t>
              </a:r>
              <a:r>
                <a:rPr kumimoji="0" lang="en-US" sz="1200" b="0" i="1" u="none" strike="noStrike" kern="1200" cap="none" spc="0" normalizeH="0" baseline="0" noProof="0" dirty="0">
                  <a:ln>
                    <a:noFill/>
                  </a:ln>
                  <a:solidFill>
                    <a:srgbClr val="26890D"/>
                  </a:solidFill>
                  <a:effectLst/>
                  <a:uLnTx/>
                  <a:uFillTx/>
                  <a:latin typeface="Calibri"/>
                  <a:ea typeface="+mn-ea"/>
                  <a:cs typeface="+mn-cs"/>
                </a:rPr>
                <a:t>a company in which Government is having more than 50% shareholding.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dirty="0">
                <a:ln>
                  <a:noFill/>
                </a:ln>
                <a:solidFill>
                  <a:srgbClr val="26890D"/>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1397DBC2-DBA1-49BC-912A-01A050B2156C}"/>
                </a:ext>
              </a:extLst>
            </p:cNvPr>
            <p:cNvSpPr txBox="1"/>
            <p:nvPr/>
          </p:nvSpPr>
          <p:spPr>
            <a:xfrm>
              <a:off x="6645984" y="2102386"/>
              <a:ext cx="1935482" cy="774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26890D">
                      <a:lumMod val="75000"/>
                    </a:srgbClr>
                  </a:solidFill>
                  <a:effectLst/>
                  <a:uLnTx/>
                  <a:uFillTx/>
                  <a:latin typeface="Calibri"/>
                  <a:ea typeface="+mn-ea"/>
                  <a:cs typeface="+mn-cs"/>
                </a:rPr>
                <a:t>For Self/ Govt. Entities’ Consumption</a:t>
              </a:r>
              <a:endParaRPr kumimoji="0" lang="en-GB" sz="1600" b="0" i="0" u="none" strike="noStrike" kern="1200" cap="none" spc="0" normalizeH="0" baseline="0" noProof="0" dirty="0">
                <a:ln>
                  <a:noFill/>
                </a:ln>
                <a:solidFill>
                  <a:srgbClr val="26890D">
                    <a:lumMod val="75000"/>
                  </a:srgbClr>
                </a:solidFill>
                <a:effectLst/>
                <a:uLnTx/>
                <a:uFillTx/>
                <a:latin typeface="Calibri"/>
                <a:ea typeface="+mn-ea"/>
                <a:cs typeface="+mn-cs"/>
              </a:endParaRPr>
            </a:p>
          </p:txBody>
        </p:sp>
        <p:sp>
          <p:nvSpPr>
            <p:cNvPr id="70" name="Freeform 209">
              <a:extLst>
                <a:ext uri="{FF2B5EF4-FFF2-40B4-BE49-F238E27FC236}">
                  <a16:creationId xmlns:a16="http://schemas.microsoft.com/office/drawing/2014/main" id="{86298271-20C7-42F4-8D85-AAE6B8831A3E}"/>
                </a:ext>
              </a:extLst>
            </p:cNvPr>
            <p:cNvSpPr>
              <a:spLocks/>
            </p:cNvSpPr>
            <p:nvPr/>
          </p:nvSpPr>
          <p:spPr bwMode="auto">
            <a:xfrm>
              <a:off x="7143215" y="2840062"/>
              <a:ext cx="843109" cy="1018769"/>
            </a:xfrm>
            <a:custGeom>
              <a:avLst/>
              <a:gdLst>
                <a:gd name="T0" fmla="*/ 254 w 258"/>
                <a:gd name="T1" fmla="*/ 62 h 321"/>
                <a:gd name="T2" fmla="*/ 246 w 258"/>
                <a:gd name="T3" fmla="*/ 65 h 321"/>
                <a:gd name="T4" fmla="*/ 238 w 258"/>
                <a:gd name="T5" fmla="*/ 62 h 321"/>
                <a:gd name="T6" fmla="*/ 214 w 258"/>
                <a:gd name="T7" fmla="*/ 37 h 321"/>
                <a:gd name="T8" fmla="*/ 214 w 258"/>
                <a:gd name="T9" fmla="*/ 107 h 321"/>
                <a:gd name="T10" fmla="*/ 153 w 258"/>
                <a:gd name="T11" fmla="*/ 207 h 321"/>
                <a:gd name="T12" fmla="*/ 148 w 258"/>
                <a:gd name="T13" fmla="*/ 211 h 321"/>
                <a:gd name="T14" fmla="*/ 139 w 258"/>
                <a:gd name="T15" fmla="*/ 225 h 321"/>
                <a:gd name="T16" fmla="*/ 139 w 258"/>
                <a:gd name="T17" fmla="*/ 225 h 321"/>
                <a:gd name="T18" fmla="*/ 139 w 258"/>
                <a:gd name="T19" fmla="*/ 310 h 321"/>
                <a:gd name="T20" fmla="*/ 129 w 258"/>
                <a:gd name="T21" fmla="*/ 321 h 321"/>
                <a:gd name="T22" fmla="*/ 118 w 258"/>
                <a:gd name="T23" fmla="*/ 310 h 321"/>
                <a:gd name="T24" fmla="*/ 118 w 258"/>
                <a:gd name="T25" fmla="*/ 225 h 321"/>
                <a:gd name="T26" fmla="*/ 118 w 258"/>
                <a:gd name="T27" fmla="*/ 224 h 321"/>
                <a:gd name="T28" fmla="*/ 109 w 258"/>
                <a:gd name="T29" fmla="*/ 211 h 321"/>
                <a:gd name="T30" fmla="*/ 104 w 258"/>
                <a:gd name="T31" fmla="*/ 207 h 321"/>
                <a:gd name="T32" fmla="*/ 43 w 258"/>
                <a:gd name="T33" fmla="*/ 107 h 321"/>
                <a:gd name="T34" fmla="*/ 43 w 258"/>
                <a:gd name="T35" fmla="*/ 37 h 321"/>
                <a:gd name="T36" fmla="*/ 19 w 258"/>
                <a:gd name="T37" fmla="*/ 62 h 321"/>
                <a:gd name="T38" fmla="*/ 11 w 258"/>
                <a:gd name="T39" fmla="*/ 65 h 321"/>
                <a:gd name="T40" fmla="*/ 4 w 258"/>
                <a:gd name="T41" fmla="*/ 62 h 321"/>
                <a:gd name="T42" fmla="*/ 4 w 258"/>
                <a:gd name="T43" fmla="*/ 46 h 321"/>
                <a:gd name="T44" fmla="*/ 46 w 258"/>
                <a:gd name="T45" fmla="*/ 4 h 321"/>
                <a:gd name="T46" fmla="*/ 50 w 258"/>
                <a:gd name="T47" fmla="*/ 1 h 321"/>
                <a:gd name="T48" fmla="*/ 58 w 258"/>
                <a:gd name="T49" fmla="*/ 1 h 321"/>
                <a:gd name="T50" fmla="*/ 62 w 258"/>
                <a:gd name="T51" fmla="*/ 4 h 321"/>
                <a:gd name="T52" fmla="*/ 104 w 258"/>
                <a:gd name="T53" fmla="*/ 46 h 321"/>
                <a:gd name="T54" fmla="*/ 104 w 258"/>
                <a:gd name="T55" fmla="*/ 62 h 321"/>
                <a:gd name="T56" fmla="*/ 97 w 258"/>
                <a:gd name="T57" fmla="*/ 65 h 321"/>
                <a:gd name="T58" fmla="*/ 89 w 258"/>
                <a:gd name="T59" fmla="*/ 62 h 321"/>
                <a:gd name="T60" fmla="*/ 65 w 258"/>
                <a:gd name="T61" fmla="*/ 37 h 321"/>
                <a:gd name="T62" fmla="*/ 65 w 258"/>
                <a:gd name="T63" fmla="*/ 107 h 321"/>
                <a:gd name="T64" fmla="*/ 118 w 258"/>
                <a:gd name="T65" fmla="*/ 191 h 321"/>
                <a:gd name="T66" fmla="*/ 124 w 258"/>
                <a:gd name="T67" fmla="*/ 195 h 321"/>
                <a:gd name="T68" fmla="*/ 129 w 258"/>
                <a:gd name="T69" fmla="*/ 200 h 321"/>
                <a:gd name="T70" fmla="*/ 134 w 258"/>
                <a:gd name="T71" fmla="*/ 195 h 321"/>
                <a:gd name="T72" fmla="*/ 139 w 258"/>
                <a:gd name="T73" fmla="*/ 191 h 321"/>
                <a:gd name="T74" fmla="*/ 193 w 258"/>
                <a:gd name="T75" fmla="*/ 107 h 321"/>
                <a:gd name="T76" fmla="*/ 193 w 258"/>
                <a:gd name="T77" fmla="*/ 37 h 321"/>
                <a:gd name="T78" fmla="*/ 168 w 258"/>
                <a:gd name="T79" fmla="*/ 62 h 321"/>
                <a:gd name="T80" fmla="*/ 161 w 258"/>
                <a:gd name="T81" fmla="*/ 65 h 321"/>
                <a:gd name="T82" fmla="*/ 153 w 258"/>
                <a:gd name="T83" fmla="*/ 62 h 321"/>
                <a:gd name="T84" fmla="*/ 153 w 258"/>
                <a:gd name="T85" fmla="*/ 46 h 321"/>
                <a:gd name="T86" fmla="*/ 196 w 258"/>
                <a:gd name="T87" fmla="*/ 4 h 321"/>
                <a:gd name="T88" fmla="*/ 199 w 258"/>
                <a:gd name="T89" fmla="*/ 1 h 321"/>
                <a:gd name="T90" fmla="*/ 207 w 258"/>
                <a:gd name="T91" fmla="*/ 1 h 321"/>
                <a:gd name="T92" fmla="*/ 211 w 258"/>
                <a:gd name="T93" fmla="*/ 4 h 321"/>
                <a:gd name="T94" fmla="*/ 254 w 258"/>
                <a:gd name="T95" fmla="*/ 46 h 321"/>
                <a:gd name="T96" fmla="*/ 254 w 258"/>
                <a:gd name="T97" fmla="*/ 62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58" h="321">
                  <a:moveTo>
                    <a:pt x="254" y="62"/>
                  </a:moveTo>
                  <a:cubicBezTo>
                    <a:pt x="251" y="64"/>
                    <a:pt x="249" y="65"/>
                    <a:pt x="246" y="65"/>
                  </a:cubicBezTo>
                  <a:cubicBezTo>
                    <a:pt x="243" y="65"/>
                    <a:pt x="241" y="64"/>
                    <a:pt x="238" y="62"/>
                  </a:cubicBezTo>
                  <a:cubicBezTo>
                    <a:pt x="214" y="37"/>
                    <a:pt x="214" y="37"/>
                    <a:pt x="214" y="37"/>
                  </a:cubicBezTo>
                  <a:cubicBezTo>
                    <a:pt x="214" y="107"/>
                    <a:pt x="214" y="107"/>
                    <a:pt x="214" y="107"/>
                  </a:cubicBezTo>
                  <a:cubicBezTo>
                    <a:pt x="214" y="153"/>
                    <a:pt x="176" y="187"/>
                    <a:pt x="153" y="207"/>
                  </a:cubicBezTo>
                  <a:cubicBezTo>
                    <a:pt x="148" y="211"/>
                    <a:pt x="148" y="211"/>
                    <a:pt x="148" y="211"/>
                  </a:cubicBezTo>
                  <a:cubicBezTo>
                    <a:pt x="139" y="219"/>
                    <a:pt x="139" y="223"/>
                    <a:pt x="139" y="225"/>
                  </a:cubicBezTo>
                  <a:cubicBezTo>
                    <a:pt x="139" y="225"/>
                    <a:pt x="139" y="225"/>
                    <a:pt x="139" y="225"/>
                  </a:cubicBezTo>
                  <a:cubicBezTo>
                    <a:pt x="139" y="310"/>
                    <a:pt x="139" y="310"/>
                    <a:pt x="139" y="310"/>
                  </a:cubicBezTo>
                  <a:cubicBezTo>
                    <a:pt x="139" y="316"/>
                    <a:pt x="135" y="321"/>
                    <a:pt x="129" y="321"/>
                  </a:cubicBezTo>
                  <a:cubicBezTo>
                    <a:pt x="123" y="321"/>
                    <a:pt x="118" y="316"/>
                    <a:pt x="118" y="310"/>
                  </a:cubicBezTo>
                  <a:cubicBezTo>
                    <a:pt x="118" y="225"/>
                    <a:pt x="118" y="225"/>
                    <a:pt x="118" y="225"/>
                  </a:cubicBezTo>
                  <a:cubicBezTo>
                    <a:pt x="118" y="224"/>
                    <a:pt x="118" y="224"/>
                    <a:pt x="118" y="224"/>
                  </a:cubicBezTo>
                  <a:cubicBezTo>
                    <a:pt x="118" y="223"/>
                    <a:pt x="118" y="219"/>
                    <a:pt x="109" y="211"/>
                  </a:cubicBezTo>
                  <a:cubicBezTo>
                    <a:pt x="104" y="207"/>
                    <a:pt x="104" y="207"/>
                    <a:pt x="104" y="207"/>
                  </a:cubicBezTo>
                  <a:cubicBezTo>
                    <a:pt x="81" y="187"/>
                    <a:pt x="43" y="153"/>
                    <a:pt x="43" y="107"/>
                  </a:cubicBezTo>
                  <a:cubicBezTo>
                    <a:pt x="43" y="37"/>
                    <a:pt x="43" y="37"/>
                    <a:pt x="43" y="37"/>
                  </a:cubicBezTo>
                  <a:cubicBezTo>
                    <a:pt x="19" y="62"/>
                    <a:pt x="19" y="62"/>
                    <a:pt x="19" y="62"/>
                  </a:cubicBezTo>
                  <a:cubicBezTo>
                    <a:pt x="17" y="64"/>
                    <a:pt x="14" y="65"/>
                    <a:pt x="11" y="65"/>
                  </a:cubicBezTo>
                  <a:cubicBezTo>
                    <a:pt x="9" y="65"/>
                    <a:pt x="6" y="64"/>
                    <a:pt x="4" y="62"/>
                  </a:cubicBezTo>
                  <a:cubicBezTo>
                    <a:pt x="0" y="57"/>
                    <a:pt x="0" y="51"/>
                    <a:pt x="4" y="46"/>
                  </a:cubicBezTo>
                  <a:cubicBezTo>
                    <a:pt x="46" y="4"/>
                    <a:pt x="46" y="4"/>
                    <a:pt x="46" y="4"/>
                  </a:cubicBezTo>
                  <a:cubicBezTo>
                    <a:pt x="47" y="3"/>
                    <a:pt x="49" y="2"/>
                    <a:pt x="50" y="1"/>
                  </a:cubicBezTo>
                  <a:cubicBezTo>
                    <a:pt x="53" y="0"/>
                    <a:pt x="55" y="0"/>
                    <a:pt x="58" y="1"/>
                  </a:cubicBezTo>
                  <a:cubicBezTo>
                    <a:pt x="59" y="2"/>
                    <a:pt x="61" y="3"/>
                    <a:pt x="62" y="4"/>
                  </a:cubicBezTo>
                  <a:cubicBezTo>
                    <a:pt x="104" y="46"/>
                    <a:pt x="104" y="46"/>
                    <a:pt x="104" y="46"/>
                  </a:cubicBezTo>
                  <a:cubicBezTo>
                    <a:pt x="108" y="51"/>
                    <a:pt x="108" y="57"/>
                    <a:pt x="104" y="62"/>
                  </a:cubicBezTo>
                  <a:cubicBezTo>
                    <a:pt x="102" y="64"/>
                    <a:pt x="99" y="65"/>
                    <a:pt x="97" y="65"/>
                  </a:cubicBezTo>
                  <a:cubicBezTo>
                    <a:pt x="94" y="65"/>
                    <a:pt x="91" y="64"/>
                    <a:pt x="89" y="62"/>
                  </a:cubicBezTo>
                  <a:cubicBezTo>
                    <a:pt x="65" y="37"/>
                    <a:pt x="65" y="37"/>
                    <a:pt x="65" y="37"/>
                  </a:cubicBezTo>
                  <a:cubicBezTo>
                    <a:pt x="65" y="107"/>
                    <a:pt x="65" y="107"/>
                    <a:pt x="65" y="107"/>
                  </a:cubicBezTo>
                  <a:cubicBezTo>
                    <a:pt x="65" y="143"/>
                    <a:pt x="97" y="172"/>
                    <a:pt x="118" y="191"/>
                  </a:cubicBezTo>
                  <a:cubicBezTo>
                    <a:pt x="124" y="195"/>
                    <a:pt x="124" y="195"/>
                    <a:pt x="124" y="195"/>
                  </a:cubicBezTo>
                  <a:cubicBezTo>
                    <a:pt x="125" y="197"/>
                    <a:pt x="127" y="199"/>
                    <a:pt x="129" y="200"/>
                  </a:cubicBezTo>
                  <a:cubicBezTo>
                    <a:pt x="130" y="199"/>
                    <a:pt x="132" y="197"/>
                    <a:pt x="134" y="195"/>
                  </a:cubicBezTo>
                  <a:cubicBezTo>
                    <a:pt x="139" y="191"/>
                    <a:pt x="139" y="191"/>
                    <a:pt x="139" y="191"/>
                  </a:cubicBezTo>
                  <a:cubicBezTo>
                    <a:pt x="160" y="172"/>
                    <a:pt x="193" y="143"/>
                    <a:pt x="193" y="107"/>
                  </a:cubicBezTo>
                  <a:cubicBezTo>
                    <a:pt x="193" y="37"/>
                    <a:pt x="193" y="37"/>
                    <a:pt x="193" y="37"/>
                  </a:cubicBezTo>
                  <a:cubicBezTo>
                    <a:pt x="168" y="62"/>
                    <a:pt x="168" y="62"/>
                    <a:pt x="168" y="62"/>
                  </a:cubicBezTo>
                  <a:cubicBezTo>
                    <a:pt x="166" y="64"/>
                    <a:pt x="163" y="65"/>
                    <a:pt x="161" y="65"/>
                  </a:cubicBezTo>
                  <a:cubicBezTo>
                    <a:pt x="158" y="65"/>
                    <a:pt x="155" y="64"/>
                    <a:pt x="153" y="62"/>
                  </a:cubicBezTo>
                  <a:cubicBezTo>
                    <a:pt x="149" y="57"/>
                    <a:pt x="149" y="51"/>
                    <a:pt x="153" y="46"/>
                  </a:cubicBezTo>
                  <a:cubicBezTo>
                    <a:pt x="196" y="4"/>
                    <a:pt x="196" y="4"/>
                    <a:pt x="196" y="4"/>
                  </a:cubicBezTo>
                  <a:cubicBezTo>
                    <a:pt x="197" y="3"/>
                    <a:pt x="198" y="2"/>
                    <a:pt x="199" y="1"/>
                  </a:cubicBezTo>
                  <a:cubicBezTo>
                    <a:pt x="202" y="0"/>
                    <a:pt x="205" y="0"/>
                    <a:pt x="207" y="1"/>
                  </a:cubicBezTo>
                  <a:cubicBezTo>
                    <a:pt x="209" y="2"/>
                    <a:pt x="210" y="3"/>
                    <a:pt x="211" y="4"/>
                  </a:cubicBezTo>
                  <a:cubicBezTo>
                    <a:pt x="254" y="46"/>
                    <a:pt x="254" y="46"/>
                    <a:pt x="254" y="46"/>
                  </a:cubicBezTo>
                  <a:cubicBezTo>
                    <a:pt x="258" y="51"/>
                    <a:pt x="258" y="57"/>
                    <a:pt x="254" y="62"/>
                  </a:cubicBezTo>
                  <a:close/>
                </a:path>
              </a:pathLst>
            </a:custGeom>
            <a:solidFill>
              <a:schemeClr val="accent3">
                <a:lumMod val="75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0">
              <a:extLst>
                <a:ext uri="{FF2B5EF4-FFF2-40B4-BE49-F238E27FC236}">
                  <a16:creationId xmlns:a16="http://schemas.microsoft.com/office/drawing/2014/main" id="{B8F1FD54-A6D3-4162-8DFD-E137082C6325}"/>
                </a:ext>
              </a:extLst>
            </p:cNvPr>
            <p:cNvSpPr txBox="1"/>
            <p:nvPr/>
          </p:nvSpPr>
          <p:spPr>
            <a:xfrm>
              <a:off x="6629674" y="3866388"/>
              <a:ext cx="1935481" cy="151690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dirty="0">
                  <a:ln>
                    <a:noFill/>
                  </a:ln>
                  <a:solidFill>
                    <a:srgbClr val="26890D"/>
                  </a:solidFill>
                  <a:effectLst/>
                  <a:uLnTx/>
                  <a:uFillTx/>
                  <a:latin typeface="Calibri"/>
                  <a:ea typeface="+mn-ea"/>
                  <a:cs typeface="+mn-cs"/>
                </a:rPr>
                <a:t>“</a:t>
              </a:r>
              <a:r>
                <a:rPr kumimoji="0" lang="en-US" sz="1200" b="1" i="1" u="none" strike="noStrike" kern="1200" cap="none" spc="0" normalizeH="0" baseline="0" noProof="0" dirty="0">
                  <a:ln>
                    <a:noFill/>
                  </a:ln>
                  <a:solidFill>
                    <a:srgbClr val="26890D"/>
                  </a:solidFill>
                  <a:effectLst/>
                  <a:uLnTx/>
                  <a:uFillTx/>
                  <a:latin typeface="Calibri"/>
                  <a:ea typeface="+mn-ea"/>
                  <a:cs typeface="+mn-cs"/>
                </a:rPr>
                <a:t>a) </a:t>
              </a:r>
              <a:r>
                <a:rPr kumimoji="0" lang="en-US" sz="1200" b="0" i="1" u="none" strike="noStrike" kern="1200" cap="none" spc="0" normalizeH="0" baseline="0" noProof="0" dirty="0">
                  <a:ln>
                    <a:noFill/>
                  </a:ln>
                  <a:solidFill>
                    <a:srgbClr val="26890D"/>
                  </a:solidFill>
                  <a:effectLst/>
                  <a:uLnTx/>
                  <a:uFillTx/>
                  <a:latin typeface="Calibri"/>
                  <a:ea typeface="+mn-ea"/>
                  <a:cs typeface="+mn-cs"/>
                </a:rPr>
                <a:t>directly controlled by the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b) </a:t>
              </a:r>
              <a:r>
                <a:rPr kumimoji="0" lang="en-US" sz="1200" b="0" i="1" u="none" strike="noStrike" kern="1200" cap="none" spc="0" normalizeH="0" baseline="0" noProof="0" dirty="0">
                  <a:ln>
                    <a:noFill/>
                  </a:ln>
                  <a:solidFill>
                    <a:srgbClr val="26890D"/>
                  </a:solidFill>
                  <a:effectLst/>
                  <a:uLnTx/>
                  <a:uFillTx/>
                  <a:latin typeface="Calibri"/>
                  <a:ea typeface="+mn-ea"/>
                  <a:cs typeface="+mn-cs"/>
                </a:rPr>
                <a:t>is under the administrative control of Central or State Government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mn-ea"/>
                  <a:cs typeface="+mn-cs"/>
                </a:rPr>
                <a:t>c) </a:t>
              </a:r>
              <a:r>
                <a:rPr kumimoji="0" lang="en-US" sz="1200" b="0" i="1" u="none" strike="noStrike" kern="1200" cap="none" spc="0" normalizeH="0" baseline="0" noProof="0" dirty="0">
                  <a:ln>
                    <a:noFill/>
                  </a:ln>
                  <a:solidFill>
                    <a:srgbClr val="26890D"/>
                  </a:solidFill>
                  <a:effectLst/>
                  <a:uLnTx/>
                  <a:uFillTx/>
                  <a:latin typeface="Calibri"/>
                  <a:ea typeface="+mn-ea"/>
                  <a:cs typeface="+mn-cs"/>
                </a:rPr>
                <a:t>a company in which Government is having more than 50% shareholding.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dirty="0">
                <a:ln>
                  <a:noFill/>
                </a:ln>
                <a:solidFill>
                  <a:srgbClr val="26890D"/>
                </a:solidFill>
                <a:effectLst/>
                <a:uLnTx/>
                <a:uFillTx/>
                <a:latin typeface="Calibri"/>
                <a:ea typeface="+mn-ea"/>
                <a:cs typeface="+mn-cs"/>
              </a:endParaRPr>
            </a:p>
          </p:txBody>
        </p:sp>
        <p:sp>
          <p:nvSpPr>
            <p:cNvPr id="72" name="TextBox 71">
              <a:extLst>
                <a:ext uri="{FF2B5EF4-FFF2-40B4-BE49-F238E27FC236}">
                  <a16:creationId xmlns:a16="http://schemas.microsoft.com/office/drawing/2014/main" id="{9E1B8A6B-5929-4822-839B-83E21199AFD2}"/>
                </a:ext>
              </a:extLst>
            </p:cNvPr>
            <p:cNvSpPr txBox="1"/>
            <p:nvPr/>
          </p:nvSpPr>
          <p:spPr>
            <a:xfrm>
              <a:off x="9588626" y="2105293"/>
              <a:ext cx="1935482" cy="7748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07CB0"/>
                  </a:solidFill>
                  <a:effectLst/>
                  <a:uLnTx/>
                  <a:uFillTx/>
                  <a:latin typeface="Calibri"/>
                  <a:ea typeface="+mn-ea"/>
                  <a:cs typeface="+mn-cs"/>
                </a:rPr>
                <a:t>Bidding by IREDA based on Viability Gap Funding (VGF)</a:t>
              </a:r>
              <a:endParaRPr kumimoji="0" lang="en-GB" sz="1600" b="0" i="0" u="none" strike="noStrike" kern="1200" cap="none" spc="0" normalizeH="0" baseline="0" noProof="0" dirty="0">
                <a:ln>
                  <a:noFill/>
                </a:ln>
                <a:solidFill>
                  <a:srgbClr val="007CB0"/>
                </a:solidFill>
                <a:effectLst/>
                <a:uLnTx/>
                <a:uFillTx/>
                <a:latin typeface="Calibri"/>
                <a:ea typeface="+mn-ea"/>
                <a:cs typeface="+mn-cs"/>
              </a:endParaRPr>
            </a:p>
          </p:txBody>
        </p:sp>
        <p:sp>
          <p:nvSpPr>
            <p:cNvPr id="73" name="TextBox 72">
              <a:extLst>
                <a:ext uri="{FF2B5EF4-FFF2-40B4-BE49-F238E27FC236}">
                  <a16:creationId xmlns:a16="http://schemas.microsoft.com/office/drawing/2014/main" id="{1D1D5D80-B1ED-47F1-91D7-389FE280B728}"/>
                </a:ext>
              </a:extLst>
            </p:cNvPr>
            <p:cNvSpPr txBox="1"/>
            <p:nvPr/>
          </p:nvSpPr>
          <p:spPr>
            <a:xfrm>
              <a:off x="9533217" y="3822861"/>
              <a:ext cx="1935481" cy="151690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1" u="none" strike="noStrike" kern="1200" cap="none" spc="0" normalizeH="0" baseline="0" noProof="0" dirty="0">
                  <a:ln>
                    <a:noFill/>
                  </a:ln>
                  <a:solidFill>
                    <a:srgbClr val="007CB0"/>
                  </a:solidFill>
                  <a:effectLst/>
                  <a:uLnTx/>
                  <a:uFillTx/>
                  <a:latin typeface="Calibri"/>
                  <a:ea typeface="+mn-ea"/>
                  <a:cs typeface="+mn-cs"/>
                </a:rPr>
                <a:t>“</a:t>
              </a:r>
              <a:r>
                <a:rPr kumimoji="0" lang="en-US" sz="1200" b="1" i="1" u="none" strike="noStrike" kern="1200" cap="none" spc="0" normalizeH="0" baseline="0" noProof="0" dirty="0">
                  <a:ln>
                    <a:noFill/>
                  </a:ln>
                  <a:solidFill>
                    <a:srgbClr val="007CB0"/>
                  </a:solidFill>
                  <a:effectLst/>
                  <a:uLnTx/>
                  <a:uFillTx/>
                  <a:latin typeface="Calibri"/>
                  <a:ea typeface="+mn-ea"/>
                  <a:cs typeface="+mn-cs"/>
                </a:rPr>
                <a:t>a) </a:t>
              </a:r>
              <a:r>
                <a:rPr kumimoji="0" lang="en-US" sz="1200" b="0" i="1" u="none" strike="noStrike" kern="1200" cap="none" spc="0" normalizeH="0" baseline="0" noProof="0" dirty="0">
                  <a:ln>
                    <a:noFill/>
                  </a:ln>
                  <a:solidFill>
                    <a:srgbClr val="007CB0"/>
                  </a:solidFill>
                  <a:effectLst/>
                  <a:uLnTx/>
                  <a:uFillTx/>
                  <a:latin typeface="Calibri"/>
                  <a:ea typeface="+mn-ea"/>
                  <a:cs typeface="+mn-cs"/>
                </a:rPr>
                <a:t>Maximum Rs. 0.55 Cr /MW, to be decided through bidding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07CB0"/>
                  </a:solidFill>
                  <a:effectLst/>
                  <a:uLnTx/>
                  <a:uFillTx/>
                  <a:latin typeface="Calibri"/>
                  <a:ea typeface="+mn-ea"/>
                  <a:cs typeface="+mn-cs"/>
                </a:rPr>
                <a:t>b) </a:t>
              </a:r>
              <a:r>
                <a:rPr kumimoji="0" lang="en-US" sz="1200" b="0" i="1" u="none" strike="noStrike" kern="1200" cap="none" spc="0" normalizeH="0" baseline="0" noProof="0" dirty="0">
                  <a:ln>
                    <a:noFill/>
                  </a:ln>
                  <a:solidFill>
                    <a:srgbClr val="007CB0"/>
                  </a:solidFill>
                  <a:effectLst/>
                  <a:uLnTx/>
                  <a:uFillTx/>
                  <a:latin typeface="Calibri"/>
                  <a:ea typeface="+mn-ea"/>
                  <a:cs typeface="+mn-cs"/>
                </a:rPr>
                <a:t>VGF will be released in two tranches as follows: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7CB0"/>
                  </a:solidFill>
                  <a:effectLst/>
                  <a:uLnTx/>
                  <a:uFillTx/>
                  <a:latin typeface="Calibri"/>
                  <a:ea typeface="+mn-ea"/>
                  <a:cs typeface="+mn-cs"/>
                </a:rPr>
                <a:t>i.50% on Award of contract to the EPC contractor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7CB0"/>
                  </a:solidFill>
                  <a:effectLst/>
                  <a:uLnTx/>
                  <a:uFillTx/>
                  <a:latin typeface="Calibri"/>
                  <a:ea typeface="+mn-ea"/>
                  <a:cs typeface="+mn-cs"/>
                </a:rPr>
                <a:t>ii. Balance 50% on successful commissioning of the full capacity of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dirty="0">
                <a:ln>
                  <a:noFill/>
                </a:ln>
                <a:solidFill>
                  <a:srgbClr val="26890D"/>
                </a:solidFill>
                <a:effectLst/>
                <a:uLnTx/>
                <a:uFillTx/>
                <a:latin typeface="Calibri"/>
                <a:ea typeface="+mn-ea"/>
                <a:cs typeface="+mn-cs"/>
              </a:endParaRPr>
            </a:p>
          </p:txBody>
        </p:sp>
        <p:sp>
          <p:nvSpPr>
            <p:cNvPr id="74" name="Freeform 915">
              <a:extLst>
                <a:ext uri="{FF2B5EF4-FFF2-40B4-BE49-F238E27FC236}">
                  <a16:creationId xmlns:a16="http://schemas.microsoft.com/office/drawing/2014/main" id="{C671E175-1C29-4936-898E-8D69516AB236}"/>
                </a:ext>
              </a:extLst>
            </p:cNvPr>
            <p:cNvSpPr>
              <a:spLocks noEditPoints="1"/>
            </p:cNvSpPr>
            <p:nvPr/>
          </p:nvSpPr>
          <p:spPr bwMode="auto">
            <a:xfrm>
              <a:off x="10154319" y="2980223"/>
              <a:ext cx="822166" cy="766915"/>
            </a:xfrm>
            <a:custGeom>
              <a:avLst/>
              <a:gdLst>
                <a:gd name="T0" fmla="*/ 224 w 256"/>
                <a:gd name="T1" fmla="*/ 240 h 312"/>
                <a:gd name="T2" fmla="*/ 199 w 256"/>
                <a:gd name="T3" fmla="*/ 32 h 312"/>
                <a:gd name="T4" fmla="*/ 188 w 256"/>
                <a:gd name="T5" fmla="*/ 6 h 312"/>
                <a:gd name="T6" fmla="*/ 67 w 256"/>
                <a:gd name="T7" fmla="*/ 6 h 312"/>
                <a:gd name="T8" fmla="*/ 56 w 256"/>
                <a:gd name="T9" fmla="*/ 32 h 312"/>
                <a:gd name="T10" fmla="*/ 32 w 256"/>
                <a:gd name="T11" fmla="*/ 240 h 312"/>
                <a:gd name="T12" fmla="*/ 12 w 256"/>
                <a:gd name="T13" fmla="*/ 307 h 312"/>
                <a:gd name="T14" fmla="*/ 234 w 256"/>
                <a:gd name="T15" fmla="*/ 312 h 312"/>
                <a:gd name="T16" fmla="*/ 244 w 256"/>
                <a:gd name="T17" fmla="*/ 297 h 312"/>
                <a:gd name="T18" fmla="*/ 132 w 256"/>
                <a:gd name="T19" fmla="*/ 34 h 312"/>
                <a:gd name="T20" fmla="*/ 177 w 256"/>
                <a:gd name="T21" fmla="*/ 24 h 312"/>
                <a:gd name="T22" fmla="*/ 109 w 256"/>
                <a:gd name="T23" fmla="*/ 56 h 312"/>
                <a:gd name="T24" fmla="*/ 123 w 256"/>
                <a:gd name="T25" fmla="*/ 34 h 312"/>
                <a:gd name="T26" fmla="*/ 53 w 256"/>
                <a:gd name="T27" fmla="*/ 238 h 312"/>
                <a:gd name="T28" fmla="*/ 108 w 256"/>
                <a:gd name="T29" fmla="*/ 78 h 312"/>
                <a:gd name="T30" fmla="*/ 203 w 256"/>
                <a:gd name="T31" fmla="*/ 233 h 312"/>
                <a:gd name="T32" fmla="*/ 218 w 256"/>
                <a:gd name="T33" fmla="*/ 291 h 312"/>
                <a:gd name="T34" fmla="*/ 163 w 256"/>
                <a:gd name="T35" fmla="*/ 203 h 312"/>
                <a:gd name="T36" fmla="*/ 157 w 256"/>
                <a:gd name="T37" fmla="*/ 234 h 312"/>
                <a:gd name="T38" fmla="*/ 133 w 256"/>
                <a:gd name="T39" fmla="*/ 259 h 312"/>
                <a:gd name="T40" fmla="*/ 122 w 256"/>
                <a:gd name="T41" fmla="*/ 244 h 312"/>
                <a:gd name="T42" fmla="*/ 89 w 256"/>
                <a:gd name="T43" fmla="*/ 217 h 312"/>
                <a:gd name="T44" fmla="*/ 122 w 256"/>
                <a:gd name="T45" fmla="*/ 226 h 312"/>
                <a:gd name="T46" fmla="*/ 133 w 256"/>
                <a:gd name="T47" fmla="*/ 225 h 312"/>
                <a:gd name="T48" fmla="*/ 140 w 256"/>
                <a:gd name="T49" fmla="*/ 211 h 312"/>
                <a:gd name="T50" fmla="*/ 122 w 256"/>
                <a:gd name="T51" fmla="*/ 202 h 312"/>
                <a:gd name="T52" fmla="*/ 95 w 256"/>
                <a:gd name="T53" fmla="*/ 187 h 312"/>
                <a:gd name="T54" fmla="*/ 98 w 256"/>
                <a:gd name="T55" fmla="*/ 151 h 312"/>
                <a:gd name="T56" fmla="*/ 122 w 256"/>
                <a:gd name="T57" fmla="*/ 131 h 312"/>
                <a:gd name="T58" fmla="*/ 133 w 256"/>
                <a:gd name="T59" fmla="*/ 142 h 312"/>
                <a:gd name="T60" fmla="*/ 157 w 256"/>
                <a:gd name="T61" fmla="*/ 167 h 312"/>
                <a:gd name="T62" fmla="*/ 128 w 256"/>
                <a:gd name="T63" fmla="*/ 161 h 312"/>
                <a:gd name="T64" fmla="*/ 112 w 256"/>
                <a:gd name="T65" fmla="*/ 170 h 312"/>
                <a:gd name="T66" fmla="*/ 122 w 256"/>
                <a:gd name="T67" fmla="*/ 180 h 312"/>
                <a:gd name="T68" fmla="*/ 154 w 256"/>
                <a:gd name="T69" fmla="*/ 19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6" h="312">
                  <a:moveTo>
                    <a:pt x="244" y="297"/>
                  </a:moveTo>
                  <a:cubicBezTo>
                    <a:pt x="237" y="281"/>
                    <a:pt x="225" y="253"/>
                    <a:pt x="224" y="240"/>
                  </a:cubicBezTo>
                  <a:cubicBezTo>
                    <a:pt x="230" y="224"/>
                    <a:pt x="256" y="145"/>
                    <a:pt x="167" y="66"/>
                  </a:cubicBezTo>
                  <a:cubicBezTo>
                    <a:pt x="199" y="32"/>
                    <a:pt x="199" y="32"/>
                    <a:pt x="199" y="32"/>
                  </a:cubicBezTo>
                  <a:cubicBezTo>
                    <a:pt x="202" y="29"/>
                    <a:pt x="203" y="25"/>
                    <a:pt x="202" y="22"/>
                  </a:cubicBezTo>
                  <a:cubicBezTo>
                    <a:pt x="202" y="20"/>
                    <a:pt x="199" y="11"/>
                    <a:pt x="188" y="6"/>
                  </a:cubicBezTo>
                  <a:cubicBezTo>
                    <a:pt x="174" y="0"/>
                    <a:pt x="154" y="2"/>
                    <a:pt x="128" y="13"/>
                  </a:cubicBezTo>
                  <a:cubicBezTo>
                    <a:pt x="101" y="2"/>
                    <a:pt x="81" y="0"/>
                    <a:pt x="67" y="6"/>
                  </a:cubicBezTo>
                  <a:cubicBezTo>
                    <a:pt x="57" y="11"/>
                    <a:pt x="54" y="20"/>
                    <a:pt x="53" y="22"/>
                  </a:cubicBezTo>
                  <a:cubicBezTo>
                    <a:pt x="52" y="25"/>
                    <a:pt x="53" y="29"/>
                    <a:pt x="56" y="32"/>
                  </a:cubicBezTo>
                  <a:cubicBezTo>
                    <a:pt x="89" y="66"/>
                    <a:pt x="89" y="66"/>
                    <a:pt x="89" y="66"/>
                  </a:cubicBezTo>
                  <a:cubicBezTo>
                    <a:pt x="0" y="145"/>
                    <a:pt x="25" y="224"/>
                    <a:pt x="32" y="240"/>
                  </a:cubicBezTo>
                  <a:cubicBezTo>
                    <a:pt x="30" y="253"/>
                    <a:pt x="19" y="281"/>
                    <a:pt x="11" y="297"/>
                  </a:cubicBezTo>
                  <a:cubicBezTo>
                    <a:pt x="10" y="300"/>
                    <a:pt x="10" y="304"/>
                    <a:pt x="12" y="307"/>
                  </a:cubicBezTo>
                  <a:cubicBezTo>
                    <a:pt x="14" y="310"/>
                    <a:pt x="17" y="312"/>
                    <a:pt x="21" y="312"/>
                  </a:cubicBezTo>
                  <a:cubicBezTo>
                    <a:pt x="234" y="312"/>
                    <a:pt x="234" y="312"/>
                    <a:pt x="234" y="312"/>
                  </a:cubicBezTo>
                  <a:cubicBezTo>
                    <a:pt x="238" y="312"/>
                    <a:pt x="241" y="310"/>
                    <a:pt x="243" y="307"/>
                  </a:cubicBezTo>
                  <a:cubicBezTo>
                    <a:pt x="245" y="304"/>
                    <a:pt x="246" y="300"/>
                    <a:pt x="244" y="297"/>
                  </a:cubicBezTo>
                  <a:close/>
                  <a:moveTo>
                    <a:pt x="123" y="34"/>
                  </a:moveTo>
                  <a:cubicBezTo>
                    <a:pt x="126" y="35"/>
                    <a:pt x="129" y="35"/>
                    <a:pt x="132" y="34"/>
                  </a:cubicBezTo>
                  <a:cubicBezTo>
                    <a:pt x="132" y="34"/>
                    <a:pt x="132" y="34"/>
                    <a:pt x="132" y="34"/>
                  </a:cubicBezTo>
                  <a:cubicBezTo>
                    <a:pt x="157" y="23"/>
                    <a:pt x="171" y="23"/>
                    <a:pt x="177" y="24"/>
                  </a:cubicBezTo>
                  <a:cubicBezTo>
                    <a:pt x="147" y="56"/>
                    <a:pt x="147" y="56"/>
                    <a:pt x="147" y="56"/>
                  </a:cubicBezTo>
                  <a:cubicBezTo>
                    <a:pt x="109" y="56"/>
                    <a:pt x="109" y="56"/>
                    <a:pt x="109" y="56"/>
                  </a:cubicBezTo>
                  <a:cubicBezTo>
                    <a:pt x="79" y="25"/>
                    <a:pt x="79" y="25"/>
                    <a:pt x="79" y="25"/>
                  </a:cubicBezTo>
                  <a:cubicBezTo>
                    <a:pt x="84" y="23"/>
                    <a:pt x="97" y="22"/>
                    <a:pt x="123" y="34"/>
                  </a:cubicBezTo>
                  <a:close/>
                  <a:moveTo>
                    <a:pt x="37" y="291"/>
                  </a:moveTo>
                  <a:cubicBezTo>
                    <a:pt x="44" y="275"/>
                    <a:pt x="53" y="252"/>
                    <a:pt x="53" y="238"/>
                  </a:cubicBezTo>
                  <a:cubicBezTo>
                    <a:pt x="53" y="236"/>
                    <a:pt x="53" y="234"/>
                    <a:pt x="52" y="233"/>
                  </a:cubicBezTo>
                  <a:cubicBezTo>
                    <a:pt x="50" y="230"/>
                    <a:pt x="15" y="155"/>
                    <a:pt x="108" y="78"/>
                  </a:cubicBezTo>
                  <a:cubicBezTo>
                    <a:pt x="147" y="78"/>
                    <a:pt x="147" y="78"/>
                    <a:pt x="147" y="78"/>
                  </a:cubicBezTo>
                  <a:cubicBezTo>
                    <a:pt x="240" y="155"/>
                    <a:pt x="205" y="230"/>
                    <a:pt x="203" y="233"/>
                  </a:cubicBezTo>
                  <a:cubicBezTo>
                    <a:pt x="203" y="234"/>
                    <a:pt x="202" y="236"/>
                    <a:pt x="202" y="238"/>
                  </a:cubicBezTo>
                  <a:cubicBezTo>
                    <a:pt x="202" y="252"/>
                    <a:pt x="211" y="275"/>
                    <a:pt x="218" y="291"/>
                  </a:cubicBezTo>
                  <a:lnTo>
                    <a:pt x="37" y="291"/>
                  </a:lnTo>
                  <a:close/>
                  <a:moveTo>
                    <a:pt x="163" y="203"/>
                  </a:moveTo>
                  <a:cubicBezTo>
                    <a:pt x="165" y="207"/>
                    <a:pt x="166" y="210"/>
                    <a:pt x="166" y="215"/>
                  </a:cubicBezTo>
                  <a:cubicBezTo>
                    <a:pt x="166" y="223"/>
                    <a:pt x="163" y="230"/>
                    <a:pt x="157" y="234"/>
                  </a:cubicBezTo>
                  <a:cubicBezTo>
                    <a:pt x="151" y="239"/>
                    <a:pt x="143" y="242"/>
                    <a:pt x="133" y="243"/>
                  </a:cubicBezTo>
                  <a:cubicBezTo>
                    <a:pt x="133" y="259"/>
                    <a:pt x="133" y="259"/>
                    <a:pt x="133" y="259"/>
                  </a:cubicBezTo>
                  <a:cubicBezTo>
                    <a:pt x="122" y="259"/>
                    <a:pt x="122" y="259"/>
                    <a:pt x="122" y="259"/>
                  </a:cubicBezTo>
                  <a:cubicBezTo>
                    <a:pt x="122" y="244"/>
                    <a:pt x="122" y="244"/>
                    <a:pt x="122" y="244"/>
                  </a:cubicBezTo>
                  <a:cubicBezTo>
                    <a:pt x="110" y="243"/>
                    <a:pt x="99" y="241"/>
                    <a:pt x="89" y="237"/>
                  </a:cubicBezTo>
                  <a:cubicBezTo>
                    <a:pt x="89" y="217"/>
                    <a:pt x="89" y="217"/>
                    <a:pt x="89" y="217"/>
                  </a:cubicBezTo>
                  <a:cubicBezTo>
                    <a:pt x="94" y="219"/>
                    <a:pt x="99" y="221"/>
                    <a:pt x="105" y="223"/>
                  </a:cubicBezTo>
                  <a:cubicBezTo>
                    <a:pt x="112" y="224"/>
                    <a:pt x="117" y="225"/>
                    <a:pt x="122" y="226"/>
                  </a:cubicBezTo>
                  <a:cubicBezTo>
                    <a:pt x="122" y="226"/>
                    <a:pt x="125" y="226"/>
                    <a:pt x="128" y="226"/>
                  </a:cubicBezTo>
                  <a:cubicBezTo>
                    <a:pt x="130" y="226"/>
                    <a:pt x="133" y="225"/>
                    <a:pt x="133" y="225"/>
                  </a:cubicBezTo>
                  <a:cubicBezTo>
                    <a:pt x="140" y="224"/>
                    <a:pt x="143" y="221"/>
                    <a:pt x="143" y="216"/>
                  </a:cubicBezTo>
                  <a:cubicBezTo>
                    <a:pt x="143" y="214"/>
                    <a:pt x="142" y="212"/>
                    <a:pt x="140" y="211"/>
                  </a:cubicBezTo>
                  <a:cubicBezTo>
                    <a:pt x="139" y="209"/>
                    <a:pt x="136" y="208"/>
                    <a:pt x="133" y="206"/>
                  </a:cubicBezTo>
                  <a:cubicBezTo>
                    <a:pt x="122" y="202"/>
                    <a:pt x="122" y="202"/>
                    <a:pt x="122" y="202"/>
                  </a:cubicBezTo>
                  <a:cubicBezTo>
                    <a:pt x="117" y="200"/>
                    <a:pt x="117" y="200"/>
                    <a:pt x="117" y="200"/>
                  </a:cubicBezTo>
                  <a:cubicBezTo>
                    <a:pt x="107" y="196"/>
                    <a:pt x="100" y="192"/>
                    <a:pt x="95" y="187"/>
                  </a:cubicBezTo>
                  <a:cubicBezTo>
                    <a:pt x="91" y="182"/>
                    <a:pt x="89" y="177"/>
                    <a:pt x="89" y="170"/>
                  </a:cubicBezTo>
                  <a:cubicBezTo>
                    <a:pt x="89" y="162"/>
                    <a:pt x="92" y="156"/>
                    <a:pt x="98" y="151"/>
                  </a:cubicBezTo>
                  <a:cubicBezTo>
                    <a:pt x="104" y="147"/>
                    <a:pt x="112" y="144"/>
                    <a:pt x="122" y="143"/>
                  </a:cubicBezTo>
                  <a:cubicBezTo>
                    <a:pt x="122" y="131"/>
                    <a:pt x="122" y="131"/>
                    <a:pt x="122" y="131"/>
                  </a:cubicBezTo>
                  <a:cubicBezTo>
                    <a:pt x="133" y="131"/>
                    <a:pt x="133" y="131"/>
                    <a:pt x="133" y="131"/>
                  </a:cubicBezTo>
                  <a:cubicBezTo>
                    <a:pt x="133" y="142"/>
                    <a:pt x="133" y="142"/>
                    <a:pt x="133" y="142"/>
                  </a:cubicBezTo>
                  <a:cubicBezTo>
                    <a:pt x="144" y="143"/>
                    <a:pt x="155" y="145"/>
                    <a:pt x="164" y="149"/>
                  </a:cubicBezTo>
                  <a:cubicBezTo>
                    <a:pt x="157" y="167"/>
                    <a:pt x="157" y="167"/>
                    <a:pt x="157" y="167"/>
                  </a:cubicBezTo>
                  <a:cubicBezTo>
                    <a:pt x="149" y="164"/>
                    <a:pt x="141" y="162"/>
                    <a:pt x="133" y="161"/>
                  </a:cubicBezTo>
                  <a:cubicBezTo>
                    <a:pt x="133" y="161"/>
                    <a:pt x="131" y="161"/>
                    <a:pt x="128" y="161"/>
                  </a:cubicBezTo>
                  <a:cubicBezTo>
                    <a:pt x="125" y="161"/>
                    <a:pt x="122" y="162"/>
                    <a:pt x="122" y="162"/>
                  </a:cubicBezTo>
                  <a:cubicBezTo>
                    <a:pt x="116" y="163"/>
                    <a:pt x="112" y="165"/>
                    <a:pt x="112" y="170"/>
                  </a:cubicBezTo>
                  <a:cubicBezTo>
                    <a:pt x="112" y="172"/>
                    <a:pt x="113" y="174"/>
                    <a:pt x="115" y="175"/>
                  </a:cubicBezTo>
                  <a:cubicBezTo>
                    <a:pt x="116" y="177"/>
                    <a:pt x="119" y="178"/>
                    <a:pt x="122" y="180"/>
                  </a:cubicBezTo>
                  <a:cubicBezTo>
                    <a:pt x="133" y="184"/>
                    <a:pt x="133" y="184"/>
                    <a:pt x="133" y="184"/>
                  </a:cubicBezTo>
                  <a:cubicBezTo>
                    <a:pt x="143" y="188"/>
                    <a:pt x="150" y="191"/>
                    <a:pt x="154" y="194"/>
                  </a:cubicBezTo>
                  <a:cubicBezTo>
                    <a:pt x="158" y="197"/>
                    <a:pt x="161" y="200"/>
                    <a:pt x="163" y="203"/>
                  </a:cubicBezTo>
                  <a:close/>
                </a:path>
              </a:pathLst>
            </a:custGeom>
            <a:solidFill>
              <a:schemeClr val="accent4"/>
            </a:solidFill>
            <a:ln>
              <a:solidFill>
                <a:schemeClr val="accent6"/>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75" name="Rectangle: Rounded Corners 74">
            <a:extLst>
              <a:ext uri="{FF2B5EF4-FFF2-40B4-BE49-F238E27FC236}">
                <a16:creationId xmlns:a16="http://schemas.microsoft.com/office/drawing/2014/main" id="{9A1AB317-ED66-45AC-92F9-3D2E590D9570}"/>
              </a:ext>
            </a:extLst>
          </p:cNvPr>
          <p:cNvSpPr/>
          <p:nvPr/>
        </p:nvSpPr>
        <p:spPr>
          <a:xfrm>
            <a:off x="568700" y="5732405"/>
            <a:ext cx="5398891" cy="518395"/>
          </a:xfrm>
          <a:prstGeom prst="roundRect">
            <a:avLst/>
          </a:prstGeom>
          <a:solidFill>
            <a:schemeClr val="accent3">
              <a:lumMod val="20000"/>
              <a:lumOff val="80000"/>
            </a:schemeClr>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0" cap="all" spc="200" normalizeH="0" baseline="0" noProof="0" dirty="0">
                <a:ln>
                  <a:noFill/>
                </a:ln>
                <a:solidFill>
                  <a:srgbClr val="000000"/>
                </a:solidFill>
                <a:effectLst/>
                <a:uLnTx/>
                <a:uFillTx/>
                <a:latin typeface="Calibri"/>
                <a:ea typeface="Open Sans" charset="0"/>
                <a:cs typeface="Open Sans" charset="0"/>
              </a:rPr>
              <a:t>Rs. 2.45/kWh</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a:ea typeface="Open Sans Light" panose="020B0306030504020204" pitchFamily="34" charset="0"/>
                <a:cs typeface="Open Sans Light" panose="020B0306030504020204" pitchFamily="34" charset="0"/>
              </a:rPr>
              <a:t>Capping for Tariff</a:t>
            </a:r>
          </a:p>
        </p:txBody>
      </p:sp>
      <p:sp>
        <p:nvSpPr>
          <p:cNvPr id="76" name="Rectangle: Rounded Corners 75">
            <a:extLst>
              <a:ext uri="{FF2B5EF4-FFF2-40B4-BE49-F238E27FC236}">
                <a16:creationId xmlns:a16="http://schemas.microsoft.com/office/drawing/2014/main" id="{A8C180F8-3951-4E73-85FC-B83E3F447FA4}"/>
              </a:ext>
            </a:extLst>
          </p:cNvPr>
          <p:cNvSpPr/>
          <p:nvPr/>
        </p:nvSpPr>
        <p:spPr>
          <a:xfrm>
            <a:off x="6300612" y="5729835"/>
            <a:ext cx="5398891" cy="518395"/>
          </a:xfrm>
          <a:prstGeom prst="roundRect">
            <a:avLst/>
          </a:prstGeom>
          <a:solidFill>
            <a:srgbClr val="DDEFE8"/>
          </a:solidFill>
          <a:ln w="76200">
            <a:solidFill>
              <a:srgbClr val="6FC2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0" cap="all" spc="200" normalizeH="0" baseline="0" noProof="0" dirty="0">
                <a:ln>
                  <a:noFill/>
                </a:ln>
                <a:solidFill>
                  <a:srgbClr val="000000"/>
                </a:solidFill>
                <a:effectLst/>
                <a:uLnTx/>
                <a:uFillTx/>
                <a:latin typeface="Calibri"/>
                <a:ea typeface="Open Sans" charset="0"/>
                <a:cs typeface="Open Sans" charset="0"/>
              </a:rPr>
              <a:t>30 months from LOA</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a:ea typeface="Open Sans Light" panose="020B0306030504020204" pitchFamily="34" charset="0"/>
                <a:cs typeface="Open Sans Light" panose="020B0306030504020204" pitchFamily="34" charset="0"/>
              </a:rPr>
              <a:t>Commissioning Timeline</a:t>
            </a:r>
          </a:p>
        </p:txBody>
      </p:sp>
      <p:sp>
        <p:nvSpPr>
          <p:cNvPr id="77" name="Arrow: Left 76">
            <a:hlinkClick r:id="rId2" action="ppaction://hlinksldjump"/>
            <a:extLst>
              <a:ext uri="{FF2B5EF4-FFF2-40B4-BE49-F238E27FC236}">
                <a16:creationId xmlns:a16="http://schemas.microsoft.com/office/drawing/2014/main" id="{358DB1DE-BFC8-4987-A1D2-36C736CF21EC}"/>
              </a:ext>
            </a:extLst>
          </p:cNvPr>
          <p:cNvSpPr/>
          <p:nvPr/>
        </p:nvSpPr>
        <p:spPr bwMode="gray">
          <a:xfrm>
            <a:off x="10353040" y="6370320"/>
            <a:ext cx="497840" cy="368587"/>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29924415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Results of tenders under CPSU Scheme (1/2)</a:t>
            </a:r>
            <a:endParaRPr lang="en-GB" sz="2400" b="1" dirty="0"/>
          </a:p>
        </p:txBody>
      </p:sp>
      <p:sp>
        <p:nvSpPr>
          <p:cNvPr id="9" name="TextBox 8">
            <a:extLst>
              <a:ext uri="{FF2B5EF4-FFF2-40B4-BE49-F238E27FC236}">
                <a16:creationId xmlns:a16="http://schemas.microsoft.com/office/drawing/2014/main" id="{8ECF2850-5022-408F-83E5-B4C35CBC0743}"/>
              </a:ext>
            </a:extLst>
          </p:cNvPr>
          <p:cNvSpPr txBox="1"/>
          <p:nvPr/>
        </p:nvSpPr>
        <p:spPr>
          <a:xfrm>
            <a:off x="501650" y="700360"/>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922.4 MW (out of 2 GW) TRANCHE I</a:t>
            </a:r>
            <a:endParaRPr lang="en-US" b="1" dirty="0">
              <a:solidFill>
                <a:srgbClr val="313131"/>
              </a:solidFill>
            </a:endParaRPr>
          </a:p>
        </p:txBody>
      </p:sp>
      <p:graphicFrame>
        <p:nvGraphicFramePr>
          <p:cNvPr id="10" name="Table 2">
            <a:extLst>
              <a:ext uri="{FF2B5EF4-FFF2-40B4-BE49-F238E27FC236}">
                <a16:creationId xmlns:a16="http://schemas.microsoft.com/office/drawing/2014/main" id="{6156FF21-0C1E-4D3C-BD09-9F84540A540D}"/>
              </a:ext>
            </a:extLst>
          </p:cNvPr>
          <p:cNvGraphicFramePr>
            <a:graphicFrameLocks noGrp="1"/>
          </p:cNvGraphicFramePr>
          <p:nvPr>
            <p:extLst>
              <p:ext uri="{D42A27DB-BD31-4B8C-83A1-F6EECF244321}">
                <p14:modId xmlns:p14="http://schemas.microsoft.com/office/powerpoint/2010/main" val="216953095"/>
              </p:ext>
            </p:extLst>
          </p:nvPr>
        </p:nvGraphicFramePr>
        <p:xfrm>
          <a:off x="501650" y="996134"/>
          <a:ext cx="11188700" cy="3169920"/>
        </p:xfrm>
        <a:graphic>
          <a:graphicData uri="http://schemas.openxmlformats.org/drawingml/2006/table">
            <a:tbl>
              <a:tblPr firstRow="1" bandRow="1">
                <a:tableStyleId>{5C22544A-7EE6-4342-B048-85BDC9FD1C3A}</a:tableStyleId>
              </a:tblPr>
              <a:tblGrid>
                <a:gridCol w="3351893">
                  <a:extLst>
                    <a:ext uri="{9D8B030D-6E8A-4147-A177-3AD203B41FA5}">
                      <a16:colId xmlns:a16="http://schemas.microsoft.com/office/drawing/2014/main" val="4160867982"/>
                    </a:ext>
                  </a:extLst>
                </a:gridCol>
                <a:gridCol w="2242457">
                  <a:extLst>
                    <a:ext uri="{9D8B030D-6E8A-4147-A177-3AD203B41FA5}">
                      <a16:colId xmlns:a16="http://schemas.microsoft.com/office/drawing/2014/main" val="1814405210"/>
                    </a:ext>
                  </a:extLst>
                </a:gridCol>
                <a:gridCol w="2797175">
                  <a:extLst>
                    <a:ext uri="{9D8B030D-6E8A-4147-A177-3AD203B41FA5}">
                      <a16:colId xmlns:a16="http://schemas.microsoft.com/office/drawing/2014/main" val="478897792"/>
                    </a:ext>
                  </a:extLst>
                </a:gridCol>
                <a:gridCol w="2797175">
                  <a:extLst>
                    <a:ext uri="{9D8B030D-6E8A-4147-A177-3AD203B41FA5}">
                      <a16:colId xmlns:a16="http://schemas.microsoft.com/office/drawing/2014/main" val="2124734645"/>
                    </a:ext>
                  </a:extLst>
                </a:gridCol>
              </a:tblGrid>
              <a:tr h="251723">
                <a:tc gridSpan="3">
                  <a:txBody>
                    <a:bodyPr/>
                    <a:lstStyle/>
                    <a:p>
                      <a:r>
                        <a:rPr lang="en-US" sz="1400" dirty="0">
                          <a:latin typeface="+mj-lt"/>
                        </a:rPr>
                        <a:t> e-RA date: 20</a:t>
                      </a:r>
                      <a:r>
                        <a:rPr lang="en-US" sz="1400" baseline="30000" dirty="0">
                          <a:latin typeface="+mj-lt"/>
                        </a:rPr>
                        <a:t>th</a:t>
                      </a:r>
                      <a:r>
                        <a:rPr lang="en-US" sz="1400" dirty="0">
                          <a:latin typeface="+mj-lt"/>
                        </a:rPr>
                        <a:t> Aug 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a:txBody>
                    <a:bodyPr/>
                    <a:lstStyle/>
                    <a:p>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259109"/>
                  </a:ext>
                </a:extLst>
              </a:tr>
              <a:tr h="251723">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VGF quoted (INR/MW)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Capped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51723">
                <a:tc>
                  <a:txBody>
                    <a:bodyPr/>
                    <a:lstStyle/>
                    <a:p>
                      <a:pPr algn="l" fontAlgn="ctr"/>
                      <a:r>
                        <a:rPr lang="en-US" sz="1400" u="none" strike="noStrike" dirty="0">
                          <a:effectLst/>
                        </a:rPr>
                        <a:t>NHDC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55,00,000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25</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algn="ctr"/>
                      <a:r>
                        <a:rPr lang="en-US" sz="1400" dirty="0">
                          <a:latin typeface="+mj-lt"/>
                        </a:rPr>
                        <a:t>Rs. 3.50/kWh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427930">
                <a:tc>
                  <a:txBody>
                    <a:bodyPr/>
                    <a:lstStyle/>
                    <a:p>
                      <a:pPr algn="l" fontAlgn="ctr"/>
                      <a:r>
                        <a:rPr lang="en-US" sz="1400" u="none" strike="noStrike" dirty="0">
                          <a:effectLst/>
                        </a:rPr>
                        <a:t>THE SINGARENI COLLIERIES COMPANY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60,00,000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90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427930">
                <a:tc>
                  <a:txBody>
                    <a:bodyPr/>
                    <a:lstStyle/>
                    <a:p>
                      <a:pPr algn="l" fontAlgn="ctr"/>
                      <a:r>
                        <a:rPr lang="en-US" sz="1400" u="none" strike="noStrike" dirty="0">
                          <a:effectLst/>
                        </a:rPr>
                        <a:t>ASSAM POWER DISTRIBUTION COMPANY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68,00,000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30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950328"/>
                  </a:ext>
                </a:extLst>
              </a:tr>
              <a:tr h="251723">
                <a:tc>
                  <a:txBody>
                    <a:bodyPr/>
                    <a:lstStyle/>
                    <a:p>
                      <a:pPr algn="l" fontAlgn="ctr"/>
                      <a:r>
                        <a:rPr lang="it-IT" sz="1400" u="none" strike="noStrike" dirty="0">
                          <a:effectLst/>
                        </a:rPr>
                        <a:t>DELHI METRO RAIL CORPORATION LIMITED</a:t>
                      </a:r>
                      <a:endParaRPr lang="it-IT"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69,75,000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3</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893973"/>
                  </a:ext>
                </a:extLst>
              </a:tr>
              <a:tr h="251723">
                <a:tc>
                  <a:txBody>
                    <a:bodyPr/>
                    <a:lstStyle/>
                    <a:p>
                      <a:pPr algn="l" fontAlgn="ctr"/>
                      <a:r>
                        <a:rPr lang="en-US" sz="1400" u="none" strike="noStrike" dirty="0">
                          <a:effectLst/>
                        </a:rPr>
                        <a:t>NALANDA UNIVERSITY</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69,95,555</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1177975"/>
                  </a:ext>
                </a:extLst>
              </a:tr>
              <a:tr h="251723">
                <a:tc>
                  <a:txBody>
                    <a:bodyPr/>
                    <a:lstStyle/>
                    <a:p>
                      <a:pPr algn="l" fontAlgn="ctr"/>
                      <a:r>
                        <a:rPr lang="en-US" sz="1400" u="none" strike="noStrike" dirty="0">
                          <a:effectLst/>
                        </a:rPr>
                        <a:t>NTPC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70,00,000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769</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231662"/>
                  </a:ext>
                </a:extLst>
              </a:tr>
              <a:tr h="251723">
                <a:tc gridSpan="2">
                  <a:txBody>
                    <a:bodyPr/>
                    <a:lstStyle/>
                    <a:p>
                      <a:pPr algn="ctr"/>
                      <a:r>
                        <a:rPr lang="en-US" sz="1400" b="1" dirty="0">
                          <a:latin typeface="+mj-lt"/>
                        </a:rPr>
                        <a:t>TOTAL CAPACITY AWARDED (MW)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7" name="TextBox 6">
            <a:extLst>
              <a:ext uri="{FF2B5EF4-FFF2-40B4-BE49-F238E27FC236}">
                <a16:creationId xmlns:a16="http://schemas.microsoft.com/office/drawing/2014/main" id="{B459CD94-CE10-46DF-A79D-A9583BE9168F}"/>
              </a:ext>
            </a:extLst>
          </p:cNvPr>
          <p:cNvSpPr txBox="1"/>
          <p:nvPr/>
        </p:nvSpPr>
        <p:spPr>
          <a:xfrm>
            <a:off x="501650" y="4289333"/>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SECI 1104.8 MW (out of 1.5 GW) TRANCHE II</a:t>
            </a:r>
            <a:endParaRPr lang="en-US" b="1" dirty="0">
              <a:solidFill>
                <a:srgbClr val="313131"/>
              </a:solidFill>
            </a:endParaRPr>
          </a:p>
        </p:txBody>
      </p:sp>
      <p:graphicFrame>
        <p:nvGraphicFramePr>
          <p:cNvPr id="8" name="Table 2">
            <a:extLst>
              <a:ext uri="{FF2B5EF4-FFF2-40B4-BE49-F238E27FC236}">
                <a16:creationId xmlns:a16="http://schemas.microsoft.com/office/drawing/2014/main" id="{50EFC88A-BE5F-4EAA-B175-A3486E5FAC18}"/>
              </a:ext>
            </a:extLst>
          </p:cNvPr>
          <p:cNvGraphicFramePr>
            <a:graphicFrameLocks noGrp="1"/>
          </p:cNvGraphicFramePr>
          <p:nvPr>
            <p:extLst>
              <p:ext uri="{D42A27DB-BD31-4B8C-83A1-F6EECF244321}">
                <p14:modId xmlns:p14="http://schemas.microsoft.com/office/powerpoint/2010/main" val="1077858785"/>
              </p:ext>
            </p:extLst>
          </p:nvPr>
        </p:nvGraphicFramePr>
        <p:xfrm>
          <a:off x="501650" y="4539643"/>
          <a:ext cx="11188700" cy="2042160"/>
        </p:xfrm>
        <a:graphic>
          <a:graphicData uri="http://schemas.openxmlformats.org/drawingml/2006/table">
            <a:tbl>
              <a:tblPr firstRow="1" bandRow="1">
                <a:tableStyleId>{5C22544A-7EE6-4342-B048-85BDC9FD1C3A}</a:tableStyleId>
              </a:tblPr>
              <a:tblGrid>
                <a:gridCol w="3373664">
                  <a:extLst>
                    <a:ext uri="{9D8B030D-6E8A-4147-A177-3AD203B41FA5}">
                      <a16:colId xmlns:a16="http://schemas.microsoft.com/office/drawing/2014/main" val="4160867982"/>
                    </a:ext>
                  </a:extLst>
                </a:gridCol>
                <a:gridCol w="2220686">
                  <a:extLst>
                    <a:ext uri="{9D8B030D-6E8A-4147-A177-3AD203B41FA5}">
                      <a16:colId xmlns:a16="http://schemas.microsoft.com/office/drawing/2014/main" val="1814405210"/>
                    </a:ext>
                  </a:extLst>
                </a:gridCol>
                <a:gridCol w="2797175">
                  <a:extLst>
                    <a:ext uri="{9D8B030D-6E8A-4147-A177-3AD203B41FA5}">
                      <a16:colId xmlns:a16="http://schemas.microsoft.com/office/drawing/2014/main" val="478897792"/>
                    </a:ext>
                  </a:extLst>
                </a:gridCol>
                <a:gridCol w="2797175">
                  <a:extLst>
                    <a:ext uri="{9D8B030D-6E8A-4147-A177-3AD203B41FA5}">
                      <a16:colId xmlns:a16="http://schemas.microsoft.com/office/drawing/2014/main" val="2124734645"/>
                    </a:ext>
                  </a:extLst>
                </a:gridCol>
              </a:tblGrid>
              <a:tr h="173802">
                <a:tc gridSpan="3">
                  <a:txBody>
                    <a:bodyPr/>
                    <a:lstStyle/>
                    <a:p>
                      <a:r>
                        <a:rPr lang="en-US" sz="1400" dirty="0">
                          <a:latin typeface="+mj-lt"/>
                        </a:rPr>
                        <a:t> e-RA date: 8</a:t>
                      </a:r>
                      <a:r>
                        <a:rPr lang="en-US" sz="1400" baseline="30000" dirty="0">
                          <a:latin typeface="+mj-lt"/>
                        </a:rPr>
                        <a:t>th</a:t>
                      </a:r>
                      <a:r>
                        <a:rPr lang="en-US" sz="1400" dirty="0">
                          <a:latin typeface="+mj-lt"/>
                        </a:rPr>
                        <a:t> Nov 2019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3B02A"/>
                    </a:solidFill>
                  </a:tcPr>
                </a:tc>
                <a:tc hMerge="1">
                  <a:txBody>
                    <a:bodyPr/>
                    <a:lstStyle/>
                    <a:p>
                      <a:endParaRPr lang="en-US" dirty="0"/>
                    </a:p>
                  </a:txBody>
                  <a:tcPr/>
                </a:tc>
                <a:tc hMerge="1">
                  <a:txBody>
                    <a:bodyPr/>
                    <a:lstStyle/>
                    <a:p>
                      <a:endParaRPr lang="en-US" dirty="0"/>
                    </a:p>
                  </a:txBody>
                  <a:tcPr/>
                </a:tc>
                <a:tc>
                  <a:txBody>
                    <a:bodyPr/>
                    <a:lstStyle/>
                    <a:p>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3B02A"/>
                    </a:solidFill>
                  </a:tcPr>
                </a:tc>
                <a:extLst>
                  <a:ext uri="{0D108BD9-81ED-4DB2-BD59-A6C34878D82A}">
                    <a16:rowId xmlns:a16="http://schemas.microsoft.com/office/drawing/2014/main" val="489259109"/>
                  </a:ext>
                </a:extLst>
              </a:tr>
              <a:tr h="173802">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VGF quoted (INR/MW)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Capped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295463">
                <a:tc>
                  <a:txBody>
                    <a:bodyPr/>
                    <a:lstStyle/>
                    <a:p>
                      <a:pPr algn="l" fontAlgn="ctr"/>
                      <a:r>
                        <a:rPr lang="en-US" sz="1400" u="none" strike="noStrike" dirty="0">
                          <a:effectLst/>
                        </a:rPr>
                        <a:t>THE SINGARENI COLLIERIES COMPANY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68,00,000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81</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r>
                        <a:rPr lang="en-US" sz="1400" dirty="0">
                          <a:latin typeface="+mj-lt"/>
                        </a:rPr>
                        <a:t>Rs. 3.50/kWh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173802">
                <a:tc>
                  <a:txBody>
                    <a:bodyPr/>
                    <a:lstStyle/>
                    <a:p>
                      <a:pPr algn="l" fontAlgn="ctr"/>
                      <a:r>
                        <a:rPr lang="en-US" sz="1400" u="none" strike="noStrike" dirty="0">
                          <a:effectLst/>
                        </a:rPr>
                        <a:t>Indore Municipal Corporation</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68,80,000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173802">
                <a:tc>
                  <a:txBody>
                    <a:bodyPr/>
                    <a:lstStyle/>
                    <a:p>
                      <a:pPr algn="l" fontAlgn="ctr"/>
                      <a:r>
                        <a:rPr lang="en-US" sz="1400" u="none" strike="noStrike" dirty="0">
                          <a:effectLst/>
                        </a:rPr>
                        <a:t>NTPC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70,00,000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923 (out of quoted 1104 MW)</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0961741"/>
                  </a:ext>
                </a:extLst>
              </a:tr>
              <a:tr h="173802">
                <a:tc gridSpan="2">
                  <a:txBody>
                    <a:bodyPr/>
                    <a:lstStyle/>
                    <a:p>
                      <a:pPr algn="ctr"/>
                      <a:r>
                        <a:rPr lang="en-US" sz="1400" b="1" dirty="0">
                          <a:latin typeface="+mj-lt"/>
                        </a:rPr>
                        <a:t>TOTAL CAPACITY AWARDED (MW)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1,104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Tree>
    <p:extLst>
      <p:ext uri="{BB962C8B-B14F-4D97-AF65-F5344CB8AC3E}">
        <p14:creationId xmlns:p14="http://schemas.microsoft.com/office/powerpoint/2010/main" val="292320636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Results of tenders under CPSU Scheme (2/2)</a:t>
            </a:r>
            <a:endParaRPr lang="en-GB" sz="2400" b="1" dirty="0"/>
          </a:p>
        </p:txBody>
      </p:sp>
      <p:sp>
        <p:nvSpPr>
          <p:cNvPr id="11" name="TextBox 10">
            <a:extLst>
              <a:ext uri="{FF2B5EF4-FFF2-40B4-BE49-F238E27FC236}">
                <a16:creationId xmlns:a16="http://schemas.microsoft.com/office/drawing/2014/main" id="{96EE7312-9714-4D2C-9CAA-5375DEB4ECA1}"/>
              </a:ext>
            </a:extLst>
          </p:cNvPr>
          <p:cNvSpPr txBox="1"/>
          <p:nvPr/>
        </p:nvSpPr>
        <p:spPr>
          <a:xfrm>
            <a:off x="507333" y="663941"/>
            <a:ext cx="11836398" cy="276999"/>
          </a:xfrm>
          <a:prstGeom prst="rect">
            <a:avLst/>
          </a:prstGeom>
          <a:noFill/>
        </p:spPr>
        <p:txBody>
          <a:bodyPr wrap="square" lIns="0" tIns="0" rIns="0" bIns="0" rtlCol="0">
            <a:spAutoFit/>
          </a:bodyPr>
          <a:lstStyle/>
          <a:p>
            <a:pPr>
              <a:spcBef>
                <a:spcPts val="600"/>
              </a:spcBef>
              <a:buSzPct val="100000"/>
            </a:pPr>
            <a:r>
              <a:rPr lang="it-IT" b="1" dirty="0">
                <a:solidFill>
                  <a:srgbClr val="313131"/>
                </a:solidFill>
              </a:rPr>
              <a:t>IREDA 5 GW TRANCHE III</a:t>
            </a:r>
            <a:endParaRPr lang="en-US" b="1" dirty="0">
              <a:solidFill>
                <a:srgbClr val="313131"/>
              </a:solidFill>
            </a:endParaRPr>
          </a:p>
        </p:txBody>
      </p:sp>
      <p:graphicFrame>
        <p:nvGraphicFramePr>
          <p:cNvPr id="12" name="Table 2">
            <a:extLst>
              <a:ext uri="{FF2B5EF4-FFF2-40B4-BE49-F238E27FC236}">
                <a16:creationId xmlns:a16="http://schemas.microsoft.com/office/drawing/2014/main" id="{5052E146-358F-49C1-8A71-49811A19502A}"/>
              </a:ext>
            </a:extLst>
          </p:cNvPr>
          <p:cNvGraphicFramePr>
            <a:graphicFrameLocks noGrp="1"/>
          </p:cNvGraphicFramePr>
          <p:nvPr>
            <p:extLst>
              <p:ext uri="{D42A27DB-BD31-4B8C-83A1-F6EECF244321}">
                <p14:modId xmlns:p14="http://schemas.microsoft.com/office/powerpoint/2010/main" val="761728007"/>
              </p:ext>
            </p:extLst>
          </p:nvPr>
        </p:nvGraphicFramePr>
        <p:xfrm>
          <a:off x="507333" y="914251"/>
          <a:ext cx="11188700" cy="2474824"/>
        </p:xfrm>
        <a:graphic>
          <a:graphicData uri="http://schemas.openxmlformats.org/drawingml/2006/table">
            <a:tbl>
              <a:tblPr firstRow="1" bandRow="1">
                <a:tableStyleId>{5C22544A-7EE6-4342-B048-85BDC9FD1C3A}</a:tableStyleId>
              </a:tblPr>
              <a:tblGrid>
                <a:gridCol w="3302667">
                  <a:extLst>
                    <a:ext uri="{9D8B030D-6E8A-4147-A177-3AD203B41FA5}">
                      <a16:colId xmlns:a16="http://schemas.microsoft.com/office/drawing/2014/main" val="4160867982"/>
                    </a:ext>
                  </a:extLst>
                </a:gridCol>
                <a:gridCol w="2291683">
                  <a:extLst>
                    <a:ext uri="{9D8B030D-6E8A-4147-A177-3AD203B41FA5}">
                      <a16:colId xmlns:a16="http://schemas.microsoft.com/office/drawing/2014/main" val="1814405210"/>
                    </a:ext>
                  </a:extLst>
                </a:gridCol>
                <a:gridCol w="2797175">
                  <a:extLst>
                    <a:ext uri="{9D8B030D-6E8A-4147-A177-3AD203B41FA5}">
                      <a16:colId xmlns:a16="http://schemas.microsoft.com/office/drawing/2014/main" val="478897792"/>
                    </a:ext>
                  </a:extLst>
                </a:gridCol>
                <a:gridCol w="2797175">
                  <a:extLst>
                    <a:ext uri="{9D8B030D-6E8A-4147-A177-3AD203B41FA5}">
                      <a16:colId xmlns:a16="http://schemas.microsoft.com/office/drawing/2014/main" val="2124734645"/>
                    </a:ext>
                  </a:extLst>
                </a:gridCol>
              </a:tblGrid>
              <a:tr h="0">
                <a:tc gridSpan="3">
                  <a:txBody>
                    <a:bodyPr/>
                    <a:lstStyle/>
                    <a:p>
                      <a:r>
                        <a:rPr lang="en-US" sz="1400" dirty="0">
                          <a:latin typeface="+mj-lt"/>
                        </a:rPr>
                        <a:t> e-RA date: 23</a:t>
                      </a:r>
                      <a:r>
                        <a:rPr lang="en-US" sz="1400" baseline="30000" dirty="0">
                          <a:latin typeface="+mj-lt"/>
                        </a:rPr>
                        <a:t>rd</a:t>
                      </a:r>
                      <a:r>
                        <a:rPr lang="en-US" sz="1400" dirty="0">
                          <a:latin typeface="+mj-lt"/>
                        </a:rPr>
                        <a:t> Sep 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hMerge="1">
                  <a:txBody>
                    <a:bodyPr/>
                    <a:lstStyle/>
                    <a:p>
                      <a:endParaRPr lang="en-US" dirty="0"/>
                    </a:p>
                  </a:txBody>
                  <a:tcPr/>
                </a:tc>
                <a:tc>
                  <a:txBody>
                    <a:bodyPr/>
                    <a:lstStyle/>
                    <a:p>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259109"/>
                  </a:ext>
                </a:extLst>
              </a:tr>
              <a:tr h="153264">
                <a:tc>
                  <a:txBody>
                    <a:bodyPr/>
                    <a:lstStyle/>
                    <a:p>
                      <a:pPr algn="ctr"/>
                      <a:r>
                        <a:rPr lang="en-US" sz="1400" b="1" dirty="0">
                          <a:latin typeface="+mj-lt"/>
                        </a:rPr>
                        <a:t>Bidder's Name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VGF quoted (INR/MW)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Awarded capacity (MW)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mj-lt"/>
                        </a:rPr>
                        <a:t>Capped Tariff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4984821"/>
                  </a:ext>
                </a:extLst>
              </a:tr>
              <a:tr h="341224">
                <a:tc>
                  <a:txBody>
                    <a:bodyPr/>
                    <a:lstStyle/>
                    <a:p>
                      <a:pPr algn="l" fontAlgn="ctr"/>
                      <a:r>
                        <a:rPr lang="en-US" sz="1400" u="none" strike="noStrike" dirty="0">
                          <a:effectLst/>
                        </a:rPr>
                        <a:t>SJVN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44,72,000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r>
                        <a:rPr lang="en-US" sz="1400" dirty="0">
                          <a:latin typeface="+mj-lt"/>
                        </a:rPr>
                        <a:t>Rs. 2.45/kWh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635486"/>
                  </a:ext>
                </a:extLst>
              </a:tr>
              <a:tr h="260549">
                <a:tc>
                  <a:txBody>
                    <a:bodyPr/>
                    <a:lstStyle/>
                    <a:p>
                      <a:pPr algn="l" fontAlgn="ctr"/>
                      <a:r>
                        <a:rPr lang="en-US" sz="1400" u="none" strike="noStrike" dirty="0">
                          <a:effectLst/>
                        </a:rPr>
                        <a:t>NLC India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44,74,990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510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8398403"/>
                  </a:ext>
                </a:extLst>
              </a:tr>
              <a:tr h="260549">
                <a:tc>
                  <a:txBody>
                    <a:bodyPr/>
                    <a:lstStyle/>
                    <a:p>
                      <a:pPr algn="l" fontAlgn="ctr"/>
                      <a:r>
                        <a:rPr lang="en-US" sz="1400" u="none" strike="noStrike" dirty="0">
                          <a:effectLst/>
                        </a:rPr>
                        <a:t>NHPC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44,90,000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0961741"/>
                  </a:ext>
                </a:extLst>
              </a:tr>
              <a:tr h="260549">
                <a:tc>
                  <a:txBody>
                    <a:bodyPr/>
                    <a:lstStyle/>
                    <a:p>
                      <a:pPr algn="l" fontAlgn="ctr"/>
                      <a:r>
                        <a:rPr lang="en-US" sz="1400" u="none" strike="noStrike" dirty="0">
                          <a:effectLst/>
                        </a:rPr>
                        <a:t>IRCON International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44,94,000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500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7799357"/>
                  </a:ext>
                </a:extLst>
              </a:tr>
              <a:tr h="260549">
                <a:tc>
                  <a:txBody>
                    <a:bodyPr/>
                    <a:lstStyle/>
                    <a:p>
                      <a:pPr algn="l" fontAlgn="ctr"/>
                      <a:r>
                        <a:rPr lang="en-US" sz="1400" u="none" strike="noStrike" dirty="0">
                          <a:effectLst/>
                        </a:rPr>
                        <a:t>NTPC Limited</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44,95,000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u="none" strike="noStrike" dirty="0">
                          <a:effectLst/>
                        </a:rPr>
                        <a:t>1,990</a:t>
                      </a:r>
                      <a:endParaRPr lang="en-US" sz="1400" b="0" i="0" u="none" strike="noStrike" dirty="0">
                        <a:solidFill>
                          <a:srgbClr val="000000"/>
                        </a:solidFill>
                        <a:effectLst/>
                        <a:latin typeface="Calibri" panose="020F050202020403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sz="1400"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4898130"/>
                  </a:ext>
                </a:extLst>
              </a:tr>
              <a:tr h="153264">
                <a:tc gridSpan="2">
                  <a:txBody>
                    <a:bodyPr/>
                    <a:lstStyle/>
                    <a:p>
                      <a:pPr algn="ctr"/>
                      <a:r>
                        <a:rPr lang="en-US" sz="1400" b="1" dirty="0">
                          <a:latin typeface="+mj-lt"/>
                        </a:rPr>
                        <a:t>TOTAL CAPACITY AWARDED (MW)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16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latin typeface="+mj-lt"/>
                        </a:rPr>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b="1"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082639"/>
                  </a:ext>
                </a:extLst>
              </a:tr>
            </a:tbl>
          </a:graphicData>
        </a:graphic>
      </p:graphicFrame>
      <p:sp>
        <p:nvSpPr>
          <p:cNvPr id="13" name="Rectangle 12">
            <a:extLst>
              <a:ext uri="{FF2B5EF4-FFF2-40B4-BE49-F238E27FC236}">
                <a16:creationId xmlns:a16="http://schemas.microsoft.com/office/drawing/2014/main" id="{6CC9035B-4736-45A9-A5C0-8CD941902311}"/>
              </a:ext>
            </a:extLst>
          </p:cNvPr>
          <p:cNvSpPr/>
          <p:nvPr/>
        </p:nvSpPr>
        <p:spPr bwMode="gray">
          <a:xfrm>
            <a:off x="501650" y="3927437"/>
            <a:ext cx="11188700" cy="1450106"/>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a:lnSpc>
                <a:spcPct val="106000"/>
              </a:lnSpc>
              <a:spcAft>
                <a:spcPts val="600"/>
              </a:spcAft>
              <a:buFont typeface="Wingdings 2" pitchFamily="18" charset="2"/>
              <a:buNone/>
            </a:pPr>
            <a:r>
              <a:rPr lang="en-US" sz="1600" b="1" dirty="0"/>
              <a:t>Way Forward for CIL</a:t>
            </a:r>
          </a:p>
          <a:p>
            <a:pPr marL="285750" indent="-285750">
              <a:lnSpc>
                <a:spcPct val="106000"/>
              </a:lnSpc>
              <a:spcAft>
                <a:spcPts val="600"/>
              </a:spcAft>
              <a:buFont typeface="Arial" panose="020B0604020202020204" pitchFamily="34" charset="0"/>
              <a:buChar char="•"/>
            </a:pPr>
            <a:r>
              <a:rPr lang="en-US" sz="1600" dirty="0"/>
              <a:t>Liaising with IREDA to understand future tender timelines</a:t>
            </a:r>
          </a:p>
          <a:p>
            <a:pPr marL="285750" indent="-285750">
              <a:lnSpc>
                <a:spcPct val="106000"/>
              </a:lnSpc>
              <a:spcAft>
                <a:spcPts val="600"/>
              </a:spcAft>
              <a:buFont typeface="Arial" panose="020B0604020202020204" pitchFamily="34" charset="0"/>
              <a:buChar char="•"/>
            </a:pPr>
            <a:r>
              <a:rPr lang="en-US" sz="1600" dirty="0"/>
              <a:t>Liaising with State DISCOMs to find probable buyers</a:t>
            </a:r>
          </a:p>
          <a:p>
            <a:pPr marL="285750" indent="-285750">
              <a:lnSpc>
                <a:spcPct val="106000"/>
              </a:lnSpc>
              <a:spcAft>
                <a:spcPts val="600"/>
              </a:spcAft>
              <a:buFont typeface="Arial" panose="020B0604020202020204" pitchFamily="34" charset="0"/>
              <a:buChar char="•"/>
            </a:pPr>
            <a:r>
              <a:rPr lang="en-US" sz="1600" dirty="0"/>
              <a:t>Exploring potential for use of power through captive consumption; subject to confirmation of future tenders</a:t>
            </a:r>
          </a:p>
        </p:txBody>
      </p:sp>
      <p:sp>
        <p:nvSpPr>
          <p:cNvPr id="7" name="Arrow: Left 6">
            <a:hlinkClick r:id="rId2" action="ppaction://hlinksldjump"/>
            <a:extLst>
              <a:ext uri="{FF2B5EF4-FFF2-40B4-BE49-F238E27FC236}">
                <a16:creationId xmlns:a16="http://schemas.microsoft.com/office/drawing/2014/main" id="{4142F76E-B473-42E2-9779-BEF502C6FB2F}"/>
              </a:ext>
            </a:extLst>
          </p:cNvPr>
          <p:cNvSpPr/>
          <p:nvPr/>
        </p:nvSpPr>
        <p:spPr bwMode="gray">
          <a:xfrm>
            <a:off x="10353040" y="6329680"/>
            <a:ext cx="497840" cy="368587"/>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401183521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4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219528" y="2736849"/>
            <a:ext cx="11252200" cy="692151"/>
          </a:xfrm>
        </p:spPr>
        <p:txBody>
          <a:bodyPr/>
          <a:lstStyle/>
          <a:p>
            <a:pPr marL="990600" indent="-990600"/>
            <a:r>
              <a:rPr lang="en-US" sz="2800" i="0" dirty="0"/>
              <a:t>6. Captive Consumption</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Arrow: Left 4">
            <a:hlinkClick r:id="rId6" action="ppaction://hlinksldjump"/>
            <a:extLst>
              <a:ext uri="{FF2B5EF4-FFF2-40B4-BE49-F238E27FC236}">
                <a16:creationId xmlns:a16="http://schemas.microsoft.com/office/drawing/2014/main" id="{E180EC55-9293-469D-B615-8FDD3E58C1FE}"/>
              </a:ext>
            </a:extLst>
          </p:cNvPr>
          <p:cNvSpPr/>
          <p:nvPr/>
        </p:nvSpPr>
        <p:spPr bwMode="gray">
          <a:xfrm>
            <a:off x="10353040" y="6329680"/>
            <a:ext cx="497840" cy="368587"/>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13111679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15F9B16-B1DA-4441-A639-59FE4C41C326}"/>
              </a:ext>
            </a:extLst>
          </p:cNvPr>
          <p:cNvSpPr>
            <a:spLocks noGrp="1"/>
          </p:cNvSpPr>
          <p:nvPr>
            <p:ph type="title"/>
          </p:nvPr>
        </p:nvSpPr>
        <p:spPr>
          <a:xfrm>
            <a:off x="501651" y="208644"/>
            <a:ext cx="11188700" cy="389865"/>
          </a:xfrm>
        </p:spPr>
        <p:txBody>
          <a:bodyPr/>
          <a:lstStyle/>
          <a:p>
            <a:r>
              <a:rPr lang="en-US" sz="2400" b="1" dirty="0"/>
              <a:t>Criteria for Captive Power Project (CPP) as per the Electricity Rules 2005 </a:t>
            </a:r>
            <a:br>
              <a:rPr lang="en-US" sz="2400" b="1" dirty="0"/>
            </a:br>
            <a:br>
              <a:rPr lang="en-US" sz="2400" b="1" dirty="0"/>
            </a:br>
            <a:endParaRPr lang="en-IN" sz="2400" b="1" dirty="0">
              <a:solidFill>
                <a:srgbClr val="86BC25"/>
              </a:solidFill>
            </a:endParaRPr>
          </a:p>
        </p:txBody>
      </p:sp>
      <p:grpSp>
        <p:nvGrpSpPr>
          <p:cNvPr id="98" name="Group 97">
            <a:extLst>
              <a:ext uri="{FF2B5EF4-FFF2-40B4-BE49-F238E27FC236}">
                <a16:creationId xmlns:a16="http://schemas.microsoft.com/office/drawing/2014/main" id="{648D6542-F5A6-4271-A321-4012662AA23B}"/>
              </a:ext>
            </a:extLst>
          </p:cNvPr>
          <p:cNvGrpSpPr/>
          <p:nvPr/>
        </p:nvGrpSpPr>
        <p:grpSpPr>
          <a:xfrm>
            <a:off x="575221" y="1150505"/>
            <a:ext cx="3441828" cy="449480"/>
            <a:chOff x="413228" y="1371600"/>
            <a:chExt cx="1947702" cy="476173"/>
          </a:xfrm>
        </p:grpSpPr>
        <p:sp>
          <p:nvSpPr>
            <p:cNvPr id="99" name="Right Triangle 49">
              <a:extLst>
                <a:ext uri="{FF2B5EF4-FFF2-40B4-BE49-F238E27FC236}">
                  <a16:creationId xmlns:a16="http://schemas.microsoft.com/office/drawing/2014/main" id="{29868CD8-0A6F-49B7-84C9-1CC24AF99002}"/>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07CB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0" name="Right Triangle 49">
              <a:extLst>
                <a:ext uri="{FF2B5EF4-FFF2-40B4-BE49-F238E27FC236}">
                  <a16:creationId xmlns:a16="http://schemas.microsoft.com/office/drawing/2014/main" id="{AD495C6B-75E6-4804-92F2-9B7BF9C4E44B}"/>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07CB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1" name="Round Same Side Corner Rectangle 43">
              <a:extLst>
                <a:ext uri="{FF2B5EF4-FFF2-40B4-BE49-F238E27FC236}">
                  <a16:creationId xmlns:a16="http://schemas.microsoft.com/office/drawing/2014/main" id="{061E7905-79A6-499A-8D5D-704DFF1259A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007CB0"/>
            </a:solidFill>
            <a:ln w="19050" algn="ctr">
              <a:noFill/>
              <a:miter lim="800000"/>
              <a:headEnd/>
              <a:tailEnd/>
            </a:ln>
          </p:spPr>
          <p:txBody>
            <a:bodyPr wrap="square" lIns="66675" tIns="66675" rIns="66675" bIns="81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Verdana"/>
                  <a:ea typeface="Verdana" panose="020B0604030504040204" pitchFamily="34" charset="0"/>
                  <a:cs typeface="Calibri" panose="020F0502020204030204" pitchFamily="34" charset="0"/>
                </a:rPr>
                <a:t>Ownership Criteria</a:t>
              </a:r>
            </a:p>
          </p:txBody>
        </p:sp>
      </p:grpSp>
      <p:grpSp>
        <p:nvGrpSpPr>
          <p:cNvPr id="102" name="Group 101">
            <a:extLst>
              <a:ext uri="{FF2B5EF4-FFF2-40B4-BE49-F238E27FC236}">
                <a16:creationId xmlns:a16="http://schemas.microsoft.com/office/drawing/2014/main" id="{DFD3E7B2-3428-4824-A54D-B24C483AB07C}"/>
              </a:ext>
            </a:extLst>
          </p:cNvPr>
          <p:cNvGrpSpPr/>
          <p:nvPr/>
        </p:nvGrpSpPr>
        <p:grpSpPr>
          <a:xfrm>
            <a:off x="575221" y="2953384"/>
            <a:ext cx="3441828" cy="3554454"/>
            <a:chOff x="582909" y="4047068"/>
            <a:chExt cx="2642778" cy="3211966"/>
          </a:xfrm>
        </p:grpSpPr>
        <p:sp>
          <p:nvSpPr>
            <p:cNvPr id="103" name="Rectangle 102">
              <a:extLst>
                <a:ext uri="{FF2B5EF4-FFF2-40B4-BE49-F238E27FC236}">
                  <a16:creationId xmlns:a16="http://schemas.microsoft.com/office/drawing/2014/main" id="{FF36E524-1298-445B-81CC-5F5266C44617}"/>
                </a:ext>
              </a:extLst>
            </p:cNvPr>
            <p:cNvSpPr/>
            <p:nvPr/>
          </p:nvSpPr>
          <p:spPr bwMode="gray">
            <a:xfrm>
              <a:off x="582909" y="4047068"/>
              <a:ext cx="2642778" cy="3124270"/>
            </a:xfrm>
            <a:prstGeom prst="rect">
              <a:avLst/>
            </a:prstGeom>
            <a:solidFill>
              <a:sysClr val="window" lastClr="FFFFFF">
                <a:lumMod val="95000"/>
              </a:sysClr>
            </a:solidFill>
            <a:ln w="19050" algn="ctr">
              <a:noFill/>
              <a:miter lim="800000"/>
              <a:headEnd/>
              <a:tailEnd/>
            </a:ln>
          </p:spPr>
          <p:txBody>
            <a:bodyPr wrap="square" lIns="40500" tIns="40500" rIns="27000" bIns="27000" rtlCol="0" anchor="t"/>
            <a:lstStyle/>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1" i="0" u="none" strike="noStrike" kern="0" cap="none" spc="0" normalizeH="0" baseline="0" noProof="0" dirty="0">
                  <a:ln>
                    <a:noFill/>
                  </a:ln>
                  <a:solidFill>
                    <a:prstClr val="black"/>
                  </a:solidFill>
                  <a:effectLst/>
                  <a:uLnTx/>
                  <a:uFillTx/>
                  <a:latin typeface="+mj-lt"/>
                  <a:ea typeface="+mn-ea"/>
                  <a:cs typeface="+mn-cs"/>
                </a:rPr>
                <a:t>Single Captive User- </a:t>
              </a:r>
              <a:r>
                <a:rPr kumimoji="0" lang="en-US" sz="1600" b="0" i="0" u="none" strike="noStrike" kern="0" cap="none" spc="0" normalizeH="0" baseline="0" noProof="0" dirty="0">
                  <a:ln>
                    <a:noFill/>
                  </a:ln>
                  <a:solidFill>
                    <a:prstClr val="black"/>
                  </a:solidFill>
                  <a:effectLst/>
                  <a:uLnTx/>
                  <a:uFillTx/>
                  <a:latin typeface="+mj-lt"/>
                  <a:ea typeface="+mn-ea"/>
                  <a:cs typeface="+mn-cs"/>
                </a:rPr>
                <a:t>Holding of Minimum </a:t>
              </a:r>
              <a:r>
                <a:rPr kumimoji="0" lang="en-US" sz="1600" b="1" i="0" u="none" strike="noStrike" kern="0" cap="none" spc="0" normalizeH="0" baseline="0" noProof="0" dirty="0">
                  <a:ln>
                    <a:noFill/>
                  </a:ln>
                  <a:solidFill>
                    <a:prstClr val="black"/>
                  </a:solidFill>
                  <a:effectLst/>
                  <a:uLnTx/>
                  <a:uFillTx/>
                  <a:latin typeface="+mj-lt"/>
                  <a:ea typeface="+mn-ea"/>
                  <a:cs typeface="+mn-cs"/>
                </a:rPr>
                <a:t>26%</a:t>
              </a:r>
              <a:r>
                <a:rPr kumimoji="0" lang="en-US" sz="1600" b="0" i="0" u="none" strike="noStrike" kern="0" cap="none" spc="0" normalizeH="0" baseline="0" noProof="0" dirty="0">
                  <a:ln>
                    <a:noFill/>
                  </a:ln>
                  <a:solidFill>
                    <a:prstClr val="black"/>
                  </a:solidFill>
                  <a:effectLst/>
                  <a:uLnTx/>
                  <a:uFillTx/>
                  <a:latin typeface="+mj-lt"/>
                  <a:ea typeface="+mn-ea"/>
                  <a:cs typeface="+mn-cs"/>
                </a:rPr>
                <a:t> Ownership of the CPP.</a:t>
              </a:r>
            </a:p>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1" i="0" u="none" strike="noStrike" kern="0" cap="none" spc="0" normalizeH="0" baseline="0" noProof="0" dirty="0">
                  <a:ln>
                    <a:noFill/>
                  </a:ln>
                  <a:solidFill>
                    <a:prstClr val="black"/>
                  </a:solidFill>
                  <a:effectLst/>
                  <a:uLnTx/>
                  <a:uFillTx/>
                  <a:latin typeface="+mj-lt"/>
                  <a:ea typeface="+mn-ea"/>
                  <a:cs typeface="+mn-cs"/>
                </a:rPr>
                <a:t>Group Captive User- </a:t>
              </a:r>
              <a:r>
                <a:rPr kumimoji="0" lang="en-US" sz="1600" b="0" i="0" u="none" strike="noStrike" kern="0" cap="none" spc="0" normalizeH="0" baseline="0" noProof="0" dirty="0">
                  <a:ln>
                    <a:noFill/>
                  </a:ln>
                  <a:solidFill>
                    <a:prstClr val="black"/>
                  </a:solidFill>
                  <a:effectLst/>
                  <a:uLnTx/>
                  <a:uFillTx/>
                  <a:latin typeface="+mj-lt"/>
                  <a:ea typeface="+mn-ea"/>
                  <a:cs typeface="+mn-cs"/>
                </a:rPr>
                <a:t>Collective holding of  minimum </a:t>
              </a:r>
              <a:r>
                <a:rPr kumimoji="0" lang="en-US" sz="1600" b="1" i="0" u="none" strike="noStrike" kern="0" cap="none" spc="0" normalizeH="0" baseline="0" noProof="0" dirty="0">
                  <a:ln>
                    <a:noFill/>
                  </a:ln>
                  <a:solidFill>
                    <a:prstClr val="black"/>
                  </a:solidFill>
                  <a:effectLst/>
                  <a:uLnTx/>
                  <a:uFillTx/>
                  <a:latin typeface="+mj-lt"/>
                  <a:ea typeface="+mn-ea"/>
                  <a:cs typeface="+mn-cs"/>
                </a:rPr>
                <a:t>26%</a:t>
              </a:r>
              <a:r>
                <a:rPr kumimoji="0" lang="en-US" sz="1600" b="0" i="0" u="none" strike="noStrike" kern="0" cap="none" spc="0" normalizeH="0" baseline="0" noProof="0" dirty="0">
                  <a:ln>
                    <a:noFill/>
                  </a:ln>
                  <a:solidFill>
                    <a:prstClr val="black"/>
                  </a:solidFill>
                  <a:effectLst/>
                  <a:uLnTx/>
                  <a:uFillTx/>
                  <a:latin typeface="+mj-lt"/>
                  <a:ea typeface="+mn-ea"/>
                  <a:cs typeface="+mn-cs"/>
                </a:rPr>
                <a:t> ownership of the CPP</a:t>
              </a:r>
            </a:p>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sz="1600" b="0" i="1" u="none" strike="noStrike" kern="0" cap="none" spc="0" normalizeH="0" baseline="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600" b="0" i="1" u="none" strike="noStrike" kern="0" cap="none" spc="0" normalizeH="0" baseline="0" noProof="0" dirty="0">
                  <a:ln>
                    <a:noFill/>
                  </a:ln>
                  <a:solidFill>
                    <a:prstClr val="black"/>
                  </a:solidFill>
                  <a:effectLst/>
                  <a:uLnTx/>
                  <a:uFillTx/>
                  <a:latin typeface="+mj-lt"/>
                  <a:ea typeface="+mn-ea"/>
                  <a:cs typeface="+mn-cs"/>
                </a:rPr>
                <a:t>(“</a:t>
              </a:r>
              <a:r>
                <a:rPr kumimoji="0" lang="en-US" sz="1600" b="1" i="1" u="none" strike="noStrike" kern="0" cap="none" spc="0" normalizeH="0" baseline="0" noProof="0" dirty="0">
                  <a:ln>
                    <a:noFill/>
                  </a:ln>
                  <a:solidFill>
                    <a:prstClr val="black"/>
                  </a:solidFill>
                  <a:effectLst/>
                  <a:uLnTx/>
                  <a:uFillTx/>
                  <a:latin typeface="+mj-lt"/>
                  <a:ea typeface="+mn-ea"/>
                  <a:cs typeface="+mn-cs"/>
                </a:rPr>
                <a:t>Ownership</a:t>
              </a:r>
              <a:r>
                <a:rPr kumimoji="0" lang="en-US" sz="1600" b="0" i="1" u="none" strike="noStrike" kern="0" cap="none" spc="0" normalizeH="0" baseline="0" noProof="0" dirty="0">
                  <a:ln>
                    <a:noFill/>
                  </a:ln>
                  <a:solidFill>
                    <a:prstClr val="black"/>
                  </a:solidFill>
                  <a:effectLst/>
                  <a:uLnTx/>
                  <a:uFillTx/>
                  <a:latin typeface="+mj-lt"/>
                  <a:ea typeface="+mn-ea"/>
                  <a:cs typeface="+mn-cs"/>
                </a:rPr>
                <a:t>” as per Electricity Rules 2005 means equity share capital with voting rights)</a:t>
              </a:r>
            </a:p>
          </p:txBody>
        </p:sp>
        <p:sp>
          <p:nvSpPr>
            <p:cNvPr id="104" name="Rectangle 103">
              <a:extLst>
                <a:ext uri="{FF2B5EF4-FFF2-40B4-BE49-F238E27FC236}">
                  <a16:creationId xmlns:a16="http://schemas.microsoft.com/office/drawing/2014/main" id="{875A85C2-DD85-4D2D-9BAB-86FD318B6471}"/>
                </a:ext>
              </a:extLst>
            </p:cNvPr>
            <p:cNvSpPr/>
            <p:nvPr/>
          </p:nvSpPr>
          <p:spPr bwMode="gray">
            <a:xfrm>
              <a:off x="756474" y="7171338"/>
              <a:ext cx="2295650" cy="87696"/>
            </a:xfrm>
            <a:prstGeom prst="rect">
              <a:avLst/>
            </a:prstGeom>
            <a:solidFill>
              <a:srgbClr val="007CB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05" name="Group 104">
            <a:extLst>
              <a:ext uri="{FF2B5EF4-FFF2-40B4-BE49-F238E27FC236}">
                <a16:creationId xmlns:a16="http://schemas.microsoft.com/office/drawing/2014/main" id="{D1192240-DB18-4602-BC96-F713F51F5EA2}"/>
              </a:ext>
            </a:extLst>
          </p:cNvPr>
          <p:cNvGrpSpPr/>
          <p:nvPr/>
        </p:nvGrpSpPr>
        <p:grpSpPr>
          <a:xfrm>
            <a:off x="1871529" y="1599985"/>
            <a:ext cx="859780" cy="1322575"/>
            <a:chOff x="757805" y="1635343"/>
            <a:chExt cx="1185062" cy="2012973"/>
          </a:xfrm>
        </p:grpSpPr>
        <p:sp>
          <p:nvSpPr>
            <p:cNvPr id="106" name="Freeform 36">
              <a:extLst>
                <a:ext uri="{FF2B5EF4-FFF2-40B4-BE49-F238E27FC236}">
                  <a16:creationId xmlns:a16="http://schemas.microsoft.com/office/drawing/2014/main" id="{68DB2047-3620-45A5-8E31-F5A368E64683}"/>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007CB0"/>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Calibri Light"/>
                <a:ea typeface="+mn-ea"/>
                <a:cs typeface="+mn-cs"/>
              </a:endParaRPr>
            </a:p>
          </p:txBody>
        </p:sp>
        <p:sp>
          <p:nvSpPr>
            <p:cNvPr id="107" name="Round Same Side Corner Rectangle 37">
              <a:extLst>
                <a:ext uri="{FF2B5EF4-FFF2-40B4-BE49-F238E27FC236}">
                  <a16:creationId xmlns:a16="http://schemas.microsoft.com/office/drawing/2014/main" id="{226606D2-0E15-4F08-959B-39AC659D24D8}"/>
                </a:ext>
              </a:extLst>
            </p:cNvPr>
            <p:cNvSpPr/>
            <p:nvPr/>
          </p:nvSpPr>
          <p:spPr bwMode="gray">
            <a:xfrm>
              <a:off x="1289779" y="3495046"/>
              <a:ext cx="116350" cy="108039"/>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8" name="Round Same Side Corner Rectangle 38">
              <a:extLst>
                <a:ext uri="{FF2B5EF4-FFF2-40B4-BE49-F238E27FC236}">
                  <a16:creationId xmlns:a16="http://schemas.microsoft.com/office/drawing/2014/main" id="{1A9107EB-116E-43C6-8BF0-1B951A4E8FBE}"/>
                </a:ext>
              </a:extLst>
            </p:cNvPr>
            <p:cNvSpPr/>
            <p:nvPr/>
          </p:nvSpPr>
          <p:spPr bwMode="gray">
            <a:xfrm flipV="1">
              <a:off x="1312850"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09" name="Round Same Side Corner Rectangle 39">
              <a:extLst>
                <a:ext uri="{FF2B5EF4-FFF2-40B4-BE49-F238E27FC236}">
                  <a16:creationId xmlns:a16="http://schemas.microsoft.com/office/drawing/2014/main" id="{E5978045-D442-4BBC-85F5-15BAD92B52C6}"/>
                </a:ext>
              </a:extLst>
            </p:cNvPr>
            <p:cNvSpPr/>
            <p:nvPr/>
          </p:nvSpPr>
          <p:spPr bwMode="gray">
            <a:xfrm flipV="1">
              <a:off x="1362714"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10" name="Oval 109">
              <a:extLst>
                <a:ext uri="{FF2B5EF4-FFF2-40B4-BE49-F238E27FC236}">
                  <a16:creationId xmlns:a16="http://schemas.microsoft.com/office/drawing/2014/main" id="{AAA32C12-EC01-4C5A-A527-B7D8D8AE00DB}"/>
                </a:ext>
              </a:extLst>
            </p:cNvPr>
            <p:cNvSpPr/>
            <p:nvPr/>
          </p:nvSpPr>
          <p:spPr bwMode="gray">
            <a:xfrm>
              <a:off x="1329954" y="3531065"/>
              <a:ext cx="36000" cy="36000"/>
            </a:xfrm>
            <a:prstGeom prst="ellipse">
              <a:avLst/>
            </a:prstGeom>
            <a:solidFill>
              <a:sysClr val="window" lastClr="FFFFFF"/>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11" name="Group 110">
            <a:extLst>
              <a:ext uri="{FF2B5EF4-FFF2-40B4-BE49-F238E27FC236}">
                <a16:creationId xmlns:a16="http://schemas.microsoft.com/office/drawing/2014/main" id="{C63C369F-B30A-43DD-BA9C-C30E916A68BD}"/>
              </a:ext>
            </a:extLst>
          </p:cNvPr>
          <p:cNvGrpSpPr/>
          <p:nvPr/>
        </p:nvGrpSpPr>
        <p:grpSpPr>
          <a:xfrm>
            <a:off x="4357895" y="1150505"/>
            <a:ext cx="3441828" cy="449480"/>
            <a:chOff x="413228" y="1371600"/>
            <a:chExt cx="1947702" cy="476173"/>
          </a:xfrm>
        </p:grpSpPr>
        <p:sp>
          <p:nvSpPr>
            <p:cNvPr id="112" name="Right Triangle 49">
              <a:extLst>
                <a:ext uri="{FF2B5EF4-FFF2-40B4-BE49-F238E27FC236}">
                  <a16:creationId xmlns:a16="http://schemas.microsoft.com/office/drawing/2014/main" id="{F41533BE-89DA-4E41-96E0-E4AF200A1CDA}"/>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13" name="Right Triangle 49">
              <a:extLst>
                <a:ext uri="{FF2B5EF4-FFF2-40B4-BE49-F238E27FC236}">
                  <a16:creationId xmlns:a16="http://schemas.microsoft.com/office/drawing/2014/main" id="{FC06442C-6DD5-414C-B6A7-89E29FC581F4}"/>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14" name="Round Same Side Corner Rectangle 43">
              <a:extLst>
                <a:ext uri="{FF2B5EF4-FFF2-40B4-BE49-F238E27FC236}">
                  <a16:creationId xmlns:a16="http://schemas.microsoft.com/office/drawing/2014/main" id="{43A258F9-4BBE-4BC4-A384-C7ACF3644F2B}"/>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86BC25"/>
            </a:solidFill>
            <a:ln w="19050" algn="ctr">
              <a:noFill/>
              <a:miter lim="800000"/>
              <a:headEnd/>
              <a:tailEnd/>
            </a:ln>
          </p:spPr>
          <p:txBody>
            <a:bodyPr wrap="square" lIns="66675" tIns="66675" rIns="66675" bIns="81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Verdana"/>
                  <a:ea typeface="Verdana" panose="020B0604030504040204" pitchFamily="34" charset="0"/>
                  <a:cs typeface="Calibri" panose="020F0502020204030204" pitchFamily="34" charset="0"/>
                </a:rPr>
                <a:t>Energy Consumption Criteria</a:t>
              </a:r>
            </a:p>
          </p:txBody>
        </p:sp>
      </p:grpSp>
      <p:grpSp>
        <p:nvGrpSpPr>
          <p:cNvPr id="115" name="Group 114">
            <a:extLst>
              <a:ext uri="{FF2B5EF4-FFF2-40B4-BE49-F238E27FC236}">
                <a16:creationId xmlns:a16="http://schemas.microsoft.com/office/drawing/2014/main" id="{04C096D6-9225-47B1-BFFD-8BEF50232340}"/>
              </a:ext>
            </a:extLst>
          </p:cNvPr>
          <p:cNvGrpSpPr/>
          <p:nvPr/>
        </p:nvGrpSpPr>
        <p:grpSpPr>
          <a:xfrm>
            <a:off x="4357895" y="2953384"/>
            <a:ext cx="3441828" cy="3554454"/>
            <a:chOff x="582909" y="4047068"/>
            <a:chExt cx="2642778" cy="3211966"/>
          </a:xfrm>
        </p:grpSpPr>
        <p:sp>
          <p:nvSpPr>
            <p:cNvPr id="116" name="Rectangle 115">
              <a:extLst>
                <a:ext uri="{FF2B5EF4-FFF2-40B4-BE49-F238E27FC236}">
                  <a16:creationId xmlns:a16="http://schemas.microsoft.com/office/drawing/2014/main" id="{9E41F92B-813E-43D6-B4EF-EBB54FF154B3}"/>
                </a:ext>
              </a:extLst>
            </p:cNvPr>
            <p:cNvSpPr/>
            <p:nvPr/>
          </p:nvSpPr>
          <p:spPr bwMode="gray">
            <a:xfrm>
              <a:off x="582909" y="4047068"/>
              <a:ext cx="2642778" cy="3124270"/>
            </a:xfrm>
            <a:prstGeom prst="rect">
              <a:avLst/>
            </a:prstGeom>
            <a:solidFill>
              <a:sysClr val="window" lastClr="FFFFFF">
                <a:lumMod val="95000"/>
              </a:sysClr>
            </a:solidFill>
            <a:ln w="19050" algn="ctr">
              <a:noFill/>
              <a:miter lim="800000"/>
              <a:headEnd/>
              <a:tailEnd/>
            </a:ln>
          </p:spPr>
          <p:txBody>
            <a:bodyPr wrap="square" lIns="40500" tIns="40500" rIns="27000" bIns="27000" rtlCol="0" anchor="t"/>
            <a:lstStyle/>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Single Captive User- Consumption of minimum </a:t>
              </a:r>
              <a:r>
                <a:rPr kumimoji="0" lang="en-US" sz="1600" b="1" i="0" u="none" strike="noStrike" kern="0" cap="none" spc="0" normalizeH="0" baseline="0" noProof="0" dirty="0">
                  <a:ln>
                    <a:noFill/>
                  </a:ln>
                  <a:solidFill>
                    <a:prstClr val="black"/>
                  </a:solidFill>
                  <a:effectLst/>
                  <a:uLnTx/>
                  <a:uFillTx/>
                  <a:latin typeface="+mj-lt"/>
                  <a:ea typeface="+mn-ea"/>
                  <a:cs typeface="+mn-cs"/>
                </a:rPr>
                <a:t>51% </a:t>
              </a:r>
              <a:r>
                <a:rPr kumimoji="0" lang="en-US" sz="1600" b="0" i="0" u="none" strike="noStrike" kern="0" cap="none" spc="0" normalizeH="0" baseline="0" noProof="0" dirty="0">
                  <a:ln>
                    <a:noFill/>
                  </a:ln>
                  <a:solidFill>
                    <a:prstClr val="black"/>
                  </a:solidFill>
                  <a:effectLst/>
                  <a:uLnTx/>
                  <a:uFillTx/>
                  <a:latin typeface="+mj-lt"/>
                  <a:ea typeface="+mn-ea"/>
                  <a:cs typeface="+mn-cs"/>
                </a:rPr>
                <a:t>of the annual electricity</a:t>
              </a:r>
              <a:r>
                <a:rPr kumimoji="0" lang="en-US" sz="1600" b="1" i="0" u="none" strike="noStrike" kern="0" cap="none" spc="0" normalizeH="0" baseline="0" noProof="0" dirty="0">
                  <a:ln>
                    <a:noFill/>
                  </a:ln>
                  <a:solidFill>
                    <a:prstClr val="black"/>
                  </a:solidFill>
                  <a:effectLst/>
                  <a:uLnTx/>
                  <a:uFillTx/>
                  <a:latin typeface="+mj-lt"/>
                  <a:ea typeface="+mn-ea"/>
                  <a:cs typeface="+mn-cs"/>
                </a:rPr>
                <a:t> </a:t>
              </a:r>
              <a:r>
                <a:rPr kumimoji="0" lang="en-US" sz="1600" b="0" i="0" u="none" strike="noStrike" kern="0" cap="none" spc="0" normalizeH="0" baseline="0" noProof="0" dirty="0">
                  <a:ln>
                    <a:noFill/>
                  </a:ln>
                  <a:solidFill>
                    <a:prstClr val="black"/>
                  </a:solidFill>
                  <a:effectLst/>
                  <a:uLnTx/>
                  <a:uFillTx/>
                  <a:latin typeface="+mj-lt"/>
                  <a:ea typeface="+mn-ea"/>
                  <a:cs typeface="+mn-cs"/>
                </a:rPr>
                <a:t>generated by the CPP.</a:t>
              </a:r>
              <a:endParaRPr kumimoji="0" lang="en-US" sz="1600" b="1" i="0" u="none" strike="noStrike" kern="0" cap="none" spc="0" normalizeH="0" baseline="0" noProof="0" dirty="0">
                <a:ln>
                  <a:noFill/>
                </a:ln>
                <a:solidFill>
                  <a:prstClr val="black"/>
                </a:solidFill>
                <a:effectLst/>
                <a:uLnTx/>
                <a:uFillTx/>
                <a:latin typeface="+mj-lt"/>
                <a:ea typeface="+mn-ea"/>
                <a:cs typeface="+mn-cs"/>
              </a:endParaRPr>
            </a:p>
            <a:p>
              <a:pPr marL="342900" marR="0" lvl="0" indent="-34290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Group Captive Users (Association of Persons)- </a:t>
              </a:r>
            </a:p>
            <a:p>
              <a:pPr marR="0" lvl="1" indent="-342900" algn="l" defTabSz="914400" rtl="0" eaLnBrk="1" fontAlgn="auto" latinLnBrk="0" hangingPunct="1">
                <a:lnSpc>
                  <a:spcPct val="106000"/>
                </a:lnSpc>
                <a:spcBef>
                  <a:spcPts val="0"/>
                </a:spcBef>
                <a:spcAft>
                  <a:spcPts val="0"/>
                </a:spcAft>
                <a:buClrTx/>
                <a:buSzTx/>
                <a:buFont typeface="Courier New" panose="02070309020205020404" pitchFamily="49" charset="0"/>
                <a:buChar char="o"/>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Collective consumption of minimum</a:t>
              </a:r>
              <a:r>
                <a:rPr kumimoji="0" lang="en-US" sz="1600" b="1" i="0" u="none" strike="noStrike" kern="0" cap="none" spc="0" normalizeH="0" baseline="0" noProof="0" dirty="0">
                  <a:ln>
                    <a:noFill/>
                  </a:ln>
                  <a:solidFill>
                    <a:prstClr val="black"/>
                  </a:solidFill>
                  <a:effectLst/>
                  <a:uLnTx/>
                  <a:uFillTx/>
                  <a:latin typeface="+mj-lt"/>
                  <a:ea typeface="+mn-ea"/>
                  <a:cs typeface="+mn-cs"/>
                </a:rPr>
                <a:t> 51% </a:t>
              </a:r>
              <a:r>
                <a:rPr kumimoji="0" lang="en-US" sz="1600" b="0" i="0" u="none" strike="noStrike" kern="0" cap="none" spc="0" normalizeH="0" baseline="0" noProof="0" dirty="0">
                  <a:ln>
                    <a:noFill/>
                  </a:ln>
                  <a:solidFill>
                    <a:prstClr val="black"/>
                  </a:solidFill>
                  <a:effectLst/>
                  <a:uLnTx/>
                  <a:uFillTx/>
                  <a:latin typeface="+mj-lt"/>
                  <a:ea typeface="+mn-ea"/>
                  <a:cs typeface="+mn-cs"/>
                </a:rPr>
                <a:t>of the annual electricity generated by the CPP.</a:t>
              </a:r>
            </a:p>
            <a:p>
              <a:pPr marR="0" lvl="1" indent="-342900" algn="l" defTabSz="914400" rtl="0" eaLnBrk="1" fontAlgn="auto" latinLnBrk="0" hangingPunct="1">
                <a:lnSpc>
                  <a:spcPct val="106000"/>
                </a:lnSpc>
                <a:spcBef>
                  <a:spcPts val="0"/>
                </a:spcBef>
                <a:spcAft>
                  <a:spcPts val="0"/>
                </a:spcAft>
                <a:buClrTx/>
                <a:buSzTx/>
                <a:buFont typeface="Courier New" panose="02070309020205020404" pitchFamily="49" charset="0"/>
                <a:buChar char="o"/>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Individual Group Captive User to annually consume electricity </a:t>
              </a:r>
              <a:r>
                <a:rPr kumimoji="0" lang="en-US" sz="1600" b="1" i="0" u="none" strike="noStrike" kern="0" cap="none" spc="0" normalizeH="0" baseline="0" noProof="0" dirty="0">
                  <a:ln>
                    <a:noFill/>
                  </a:ln>
                  <a:solidFill>
                    <a:prstClr val="black"/>
                  </a:solidFill>
                  <a:effectLst/>
                  <a:uLnTx/>
                  <a:uFillTx/>
                  <a:latin typeface="+mj-lt"/>
                  <a:ea typeface="+mn-ea"/>
                  <a:cs typeface="+mn-cs"/>
                </a:rPr>
                <a:t>in proportion to its  shareholding </a:t>
              </a:r>
              <a:r>
                <a:rPr kumimoji="0" lang="en-US" sz="1600" b="0" i="0" u="none" strike="noStrike" kern="0" cap="none" spc="0" normalizeH="0" baseline="0" noProof="0" dirty="0">
                  <a:ln>
                    <a:noFill/>
                  </a:ln>
                  <a:solidFill>
                    <a:prstClr val="black"/>
                  </a:solidFill>
                  <a:effectLst/>
                  <a:uLnTx/>
                  <a:uFillTx/>
                  <a:latin typeface="+mj-lt"/>
                  <a:ea typeface="+mn-ea"/>
                  <a:cs typeface="+mn-cs"/>
                </a:rPr>
                <a:t>with a permissible variation of </a:t>
              </a:r>
              <a:r>
                <a:rPr kumimoji="0" lang="en-US" sz="1600" b="1" i="0" u="none" strike="noStrike" kern="0" cap="none" spc="0" normalizeH="0" baseline="0" noProof="0" dirty="0">
                  <a:ln>
                    <a:noFill/>
                  </a:ln>
                  <a:solidFill>
                    <a:prstClr val="black"/>
                  </a:solidFill>
                  <a:effectLst/>
                  <a:uLnTx/>
                  <a:uFillTx/>
                  <a:latin typeface="+mj-lt"/>
                  <a:ea typeface="+mn-ea"/>
                  <a:cs typeface="+mn-cs"/>
                </a:rPr>
                <a:t>+/- 10%.</a:t>
              </a:r>
            </a:p>
          </p:txBody>
        </p:sp>
        <p:sp>
          <p:nvSpPr>
            <p:cNvPr id="117" name="Rectangle 116">
              <a:extLst>
                <a:ext uri="{FF2B5EF4-FFF2-40B4-BE49-F238E27FC236}">
                  <a16:creationId xmlns:a16="http://schemas.microsoft.com/office/drawing/2014/main" id="{6896661A-997A-4EF9-85B9-EB21D6EE5824}"/>
                </a:ext>
              </a:extLst>
            </p:cNvPr>
            <p:cNvSpPr/>
            <p:nvPr/>
          </p:nvSpPr>
          <p:spPr bwMode="gray">
            <a:xfrm>
              <a:off x="756474" y="7171338"/>
              <a:ext cx="2295650" cy="87696"/>
            </a:xfrm>
            <a:prstGeom prst="rect">
              <a:avLst/>
            </a:prstGeom>
            <a:solidFill>
              <a:srgbClr val="86BC25"/>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18" name="Group 117">
            <a:extLst>
              <a:ext uri="{FF2B5EF4-FFF2-40B4-BE49-F238E27FC236}">
                <a16:creationId xmlns:a16="http://schemas.microsoft.com/office/drawing/2014/main" id="{CF172FDE-EB05-4D90-A754-B15132CD7012}"/>
              </a:ext>
            </a:extLst>
          </p:cNvPr>
          <p:cNvGrpSpPr/>
          <p:nvPr/>
        </p:nvGrpSpPr>
        <p:grpSpPr>
          <a:xfrm>
            <a:off x="5726809" y="1599985"/>
            <a:ext cx="873037" cy="1322575"/>
            <a:chOff x="757805" y="1635343"/>
            <a:chExt cx="1185062" cy="2012973"/>
          </a:xfrm>
        </p:grpSpPr>
        <p:sp>
          <p:nvSpPr>
            <p:cNvPr id="119" name="Freeform 36">
              <a:extLst>
                <a:ext uri="{FF2B5EF4-FFF2-40B4-BE49-F238E27FC236}">
                  <a16:creationId xmlns:a16="http://schemas.microsoft.com/office/drawing/2014/main" id="{724A29E2-8A47-4F31-9236-E47ACD3BA472}"/>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86BC25"/>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Calibri Light"/>
                <a:ea typeface="+mn-ea"/>
                <a:cs typeface="+mn-cs"/>
              </a:endParaRPr>
            </a:p>
          </p:txBody>
        </p:sp>
        <p:sp>
          <p:nvSpPr>
            <p:cNvPr id="120" name="Round Same Side Corner Rectangle 37">
              <a:extLst>
                <a:ext uri="{FF2B5EF4-FFF2-40B4-BE49-F238E27FC236}">
                  <a16:creationId xmlns:a16="http://schemas.microsoft.com/office/drawing/2014/main" id="{6A9BBCDF-0A82-4E87-858F-4EED61B77558}"/>
                </a:ext>
              </a:extLst>
            </p:cNvPr>
            <p:cNvSpPr/>
            <p:nvPr/>
          </p:nvSpPr>
          <p:spPr bwMode="gray">
            <a:xfrm>
              <a:off x="1289779" y="3495046"/>
              <a:ext cx="116350" cy="108039"/>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1" name="Round Same Side Corner Rectangle 38">
              <a:extLst>
                <a:ext uri="{FF2B5EF4-FFF2-40B4-BE49-F238E27FC236}">
                  <a16:creationId xmlns:a16="http://schemas.microsoft.com/office/drawing/2014/main" id="{7A71E38C-DEF5-492B-91EF-F10981600333}"/>
                </a:ext>
              </a:extLst>
            </p:cNvPr>
            <p:cNvSpPr/>
            <p:nvPr/>
          </p:nvSpPr>
          <p:spPr bwMode="gray">
            <a:xfrm flipV="1">
              <a:off x="1312850"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2" name="Round Same Side Corner Rectangle 39">
              <a:extLst>
                <a:ext uri="{FF2B5EF4-FFF2-40B4-BE49-F238E27FC236}">
                  <a16:creationId xmlns:a16="http://schemas.microsoft.com/office/drawing/2014/main" id="{F13957A4-6B9C-47D5-AD2B-2BEE686BBBD1}"/>
                </a:ext>
              </a:extLst>
            </p:cNvPr>
            <p:cNvSpPr/>
            <p:nvPr/>
          </p:nvSpPr>
          <p:spPr bwMode="gray">
            <a:xfrm flipV="1">
              <a:off x="1362714"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3" name="Oval 122">
              <a:extLst>
                <a:ext uri="{FF2B5EF4-FFF2-40B4-BE49-F238E27FC236}">
                  <a16:creationId xmlns:a16="http://schemas.microsoft.com/office/drawing/2014/main" id="{A720272A-36BE-42F0-861A-0E8C10ED3A07}"/>
                </a:ext>
              </a:extLst>
            </p:cNvPr>
            <p:cNvSpPr/>
            <p:nvPr/>
          </p:nvSpPr>
          <p:spPr bwMode="gray">
            <a:xfrm>
              <a:off x="1329954" y="3531065"/>
              <a:ext cx="36000" cy="36000"/>
            </a:xfrm>
            <a:prstGeom prst="ellipse">
              <a:avLst/>
            </a:prstGeom>
            <a:solidFill>
              <a:sysClr val="window" lastClr="FFFFFF"/>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24" name="Group 123">
            <a:extLst>
              <a:ext uri="{FF2B5EF4-FFF2-40B4-BE49-F238E27FC236}">
                <a16:creationId xmlns:a16="http://schemas.microsoft.com/office/drawing/2014/main" id="{38F749C3-5E1E-4D5A-A95B-7E6796CBDB6C}"/>
              </a:ext>
            </a:extLst>
          </p:cNvPr>
          <p:cNvGrpSpPr/>
          <p:nvPr/>
        </p:nvGrpSpPr>
        <p:grpSpPr>
          <a:xfrm>
            <a:off x="8140570" y="1150505"/>
            <a:ext cx="3441828" cy="449480"/>
            <a:chOff x="413228" y="1371600"/>
            <a:chExt cx="1947702" cy="476173"/>
          </a:xfrm>
        </p:grpSpPr>
        <p:sp>
          <p:nvSpPr>
            <p:cNvPr id="125" name="Right Triangle 49">
              <a:extLst>
                <a:ext uri="{FF2B5EF4-FFF2-40B4-BE49-F238E27FC236}">
                  <a16:creationId xmlns:a16="http://schemas.microsoft.com/office/drawing/2014/main" id="{B8734AF8-05BF-4419-B312-EF81CA3A6888}"/>
                </a:ext>
              </a:extLst>
            </p:cNvPr>
            <p:cNvSpPr/>
            <p:nvPr/>
          </p:nvSpPr>
          <p:spPr bwMode="gray">
            <a:xfrm flipH="1" flipV="1">
              <a:off x="492373"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6" name="Right Triangle 49">
              <a:extLst>
                <a:ext uri="{FF2B5EF4-FFF2-40B4-BE49-F238E27FC236}">
                  <a16:creationId xmlns:a16="http://schemas.microsoft.com/office/drawing/2014/main" id="{95D44E78-734E-499E-9DC8-55C2177F2DE4}"/>
                </a:ext>
              </a:extLst>
            </p:cNvPr>
            <p:cNvSpPr/>
            <p:nvPr/>
          </p:nvSpPr>
          <p:spPr bwMode="gray">
            <a:xfrm flipV="1">
              <a:off x="1976664" y="1760934"/>
              <a:ext cx="294795" cy="86839"/>
            </a:xfrm>
            <a:custGeom>
              <a:avLst/>
              <a:gdLst>
                <a:gd name="connsiteX0" fmla="*/ 0 w 253605"/>
                <a:gd name="connsiteY0" fmla="*/ 102317 h 102317"/>
                <a:gd name="connsiteX1" fmla="*/ 0 w 253605"/>
                <a:gd name="connsiteY1" fmla="*/ 0 h 102317"/>
                <a:gd name="connsiteX2" fmla="*/ 253605 w 253605"/>
                <a:gd name="connsiteY2" fmla="*/ 102317 h 102317"/>
                <a:gd name="connsiteX3" fmla="*/ 0 w 253605"/>
                <a:gd name="connsiteY3" fmla="*/ 102317 h 102317"/>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42862 w 296467"/>
                <a:gd name="connsiteY0" fmla="*/ 92792 h 92792"/>
                <a:gd name="connsiteX1" fmla="*/ 0 w 296467"/>
                <a:gd name="connsiteY1" fmla="*/ 0 h 92792"/>
                <a:gd name="connsiteX2" fmla="*/ 296467 w 296467"/>
                <a:gd name="connsiteY2" fmla="*/ 92792 h 92792"/>
                <a:gd name="connsiteX3" fmla="*/ 42862 w 296467"/>
                <a:gd name="connsiteY3" fmla="*/ 92792 h 92792"/>
                <a:gd name="connsiteX0" fmla="*/ 52387 w 305992"/>
                <a:gd name="connsiteY0" fmla="*/ 86839 h 86839"/>
                <a:gd name="connsiteX1" fmla="*/ 0 w 305992"/>
                <a:gd name="connsiteY1" fmla="*/ 0 h 86839"/>
                <a:gd name="connsiteX2" fmla="*/ 305992 w 305992"/>
                <a:gd name="connsiteY2" fmla="*/ 86839 h 86839"/>
                <a:gd name="connsiteX3" fmla="*/ 52387 w 305992"/>
                <a:gd name="connsiteY3" fmla="*/ 86839 h 86839"/>
              </a:gdLst>
              <a:ahLst/>
              <a:cxnLst>
                <a:cxn ang="0">
                  <a:pos x="connsiteX0" y="connsiteY0"/>
                </a:cxn>
                <a:cxn ang="0">
                  <a:pos x="connsiteX1" y="connsiteY1"/>
                </a:cxn>
                <a:cxn ang="0">
                  <a:pos x="connsiteX2" y="connsiteY2"/>
                </a:cxn>
                <a:cxn ang="0">
                  <a:pos x="connsiteX3" y="connsiteY3"/>
                </a:cxn>
              </a:cxnLst>
              <a:rect l="l" t="t" r="r" b="b"/>
              <a:pathLst>
                <a:path w="305992" h="86839">
                  <a:moveTo>
                    <a:pt x="52387" y="86839"/>
                  </a:moveTo>
                  <a:lnTo>
                    <a:pt x="0" y="0"/>
                  </a:lnTo>
                  <a:lnTo>
                    <a:pt x="305992" y="86839"/>
                  </a:lnTo>
                  <a:lnTo>
                    <a:pt x="52387" y="86839"/>
                  </a:lnTo>
                  <a:close/>
                </a:path>
              </a:pathLst>
            </a:custGeom>
            <a:solidFill>
              <a:srgbClr val="0D8390">
                <a:lumMod val="50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27" name="Round Same Side Corner Rectangle 43">
              <a:extLst>
                <a:ext uri="{FF2B5EF4-FFF2-40B4-BE49-F238E27FC236}">
                  <a16:creationId xmlns:a16="http://schemas.microsoft.com/office/drawing/2014/main" id="{116E6784-1444-4DAC-A650-9B34753BCF70}"/>
                </a:ext>
              </a:extLst>
            </p:cNvPr>
            <p:cNvSpPr/>
            <p:nvPr/>
          </p:nvSpPr>
          <p:spPr bwMode="gray">
            <a:xfrm>
              <a:off x="413228" y="1371600"/>
              <a:ext cx="1947702" cy="389334"/>
            </a:xfrm>
            <a:custGeom>
              <a:avLst/>
              <a:gdLst>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105025 w 2105025"/>
                <a:gd name="connsiteY4" fmla="*/ 390526 h 390526"/>
                <a:gd name="connsiteX5" fmla="*/ 2006203 w 2105025"/>
                <a:gd name="connsiteY5" fmla="*/ 389334 h 390526"/>
                <a:gd name="connsiteX6" fmla="*/ 84534 w 2105025"/>
                <a:gd name="connsiteY6" fmla="*/ 389334 h 390526"/>
                <a:gd name="connsiteX7" fmla="*/ 0 w 2105025"/>
                <a:gd name="connsiteY7" fmla="*/ 390526 h 390526"/>
                <a:gd name="connsiteX8" fmla="*/ 0 w 2105025"/>
                <a:gd name="connsiteY8" fmla="*/ 390526 h 390526"/>
                <a:gd name="connsiteX9" fmla="*/ 0 w 2105025"/>
                <a:gd name="connsiteY9" fmla="*/ 61035 h 390526"/>
                <a:gd name="connsiteX10" fmla="*/ 61035 w 2105025"/>
                <a:gd name="connsiteY10" fmla="*/ 0 h 390526"/>
                <a:gd name="connsiteX0" fmla="*/ 61035 w 2105025"/>
                <a:gd name="connsiteY0" fmla="*/ 0 h 390526"/>
                <a:gd name="connsiteX1" fmla="*/ 2043990 w 2105025"/>
                <a:gd name="connsiteY1" fmla="*/ 0 h 390526"/>
                <a:gd name="connsiteX2" fmla="*/ 2105025 w 2105025"/>
                <a:gd name="connsiteY2" fmla="*/ 61035 h 390526"/>
                <a:gd name="connsiteX3" fmla="*/ 2105025 w 2105025"/>
                <a:gd name="connsiteY3" fmla="*/ 390526 h 390526"/>
                <a:gd name="connsiteX4" fmla="*/ 2006203 w 2105025"/>
                <a:gd name="connsiteY4" fmla="*/ 389334 h 390526"/>
                <a:gd name="connsiteX5" fmla="*/ 84534 w 2105025"/>
                <a:gd name="connsiteY5" fmla="*/ 389334 h 390526"/>
                <a:gd name="connsiteX6" fmla="*/ 0 w 2105025"/>
                <a:gd name="connsiteY6" fmla="*/ 390526 h 390526"/>
                <a:gd name="connsiteX7" fmla="*/ 0 w 2105025"/>
                <a:gd name="connsiteY7" fmla="*/ 390526 h 390526"/>
                <a:gd name="connsiteX8" fmla="*/ 0 w 2105025"/>
                <a:gd name="connsiteY8" fmla="*/ 61035 h 390526"/>
                <a:gd name="connsiteX9" fmla="*/ 61035 w 2105025"/>
                <a:gd name="connsiteY9"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390526 h 390526"/>
                <a:gd name="connsiteX7" fmla="*/ 0 w 2105025"/>
                <a:gd name="connsiteY7" fmla="*/ 61035 h 390526"/>
                <a:gd name="connsiteX8" fmla="*/ 61035 w 2105025"/>
                <a:gd name="connsiteY8" fmla="*/ 0 h 390526"/>
                <a:gd name="connsiteX0" fmla="*/ 61035 w 2105025"/>
                <a:gd name="connsiteY0" fmla="*/ 0 h 390526"/>
                <a:gd name="connsiteX1" fmla="*/ 2043990 w 2105025"/>
                <a:gd name="connsiteY1" fmla="*/ 0 h 390526"/>
                <a:gd name="connsiteX2" fmla="*/ 2105025 w 2105025"/>
                <a:gd name="connsiteY2" fmla="*/ 61035 h 390526"/>
                <a:gd name="connsiteX3" fmla="*/ 2006203 w 2105025"/>
                <a:gd name="connsiteY3" fmla="*/ 389334 h 390526"/>
                <a:gd name="connsiteX4" fmla="*/ 84534 w 2105025"/>
                <a:gd name="connsiteY4" fmla="*/ 389334 h 390526"/>
                <a:gd name="connsiteX5" fmla="*/ 0 w 2105025"/>
                <a:gd name="connsiteY5" fmla="*/ 390526 h 390526"/>
                <a:gd name="connsiteX6" fmla="*/ 0 w 2105025"/>
                <a:gd name="connsiteY6" fmla="*/ 61035 h 390526"/>
                <a:gd name="connsiteX7" fmla="*/ 61035 w 2105025"/>
                <a:gd name="connsiteY7" fmla="*/ 0 h 390526"/>
                <a:gd name="connsiteX0" fmla="*/ 61035 w 2105025"/>
                <a:gd name="connsiteY0" fmla="*/ 0 h 389334"/>
                <a:gd name="connsiteX1" fmla="*/ 2043990 w 2105025"/>
                <a:gd name="connsiteY1" fmla="*/ 0 h 389334"/>
                <a:gd name="connsiteX2" fmla="*/ 2105025 w 2105025"/>
                <a:gd name="connsiteY2" fmla="*/ 61035 h 389334"/>
                <a:gd name="connsiteX3" fmla="*/ 2006203 w 2105025"/>
                <a:gd name="connsiteY3" fmla="*/ 389334 h 389334"/>
                <a:gd name="connsiteX4" fmla="*/ 84534 w 2105025"/>
                <a:gd name="connsiteY4" fmla="*/ 389334 h 389334"/>
                <a:gd name="connsiteX5" fmla="*/ 0 w 2105025"/>
                <a:gd name="connsiteY5" fmla="*/ 61035 h 389334"/>
                <a:gd name="connsiteX6" fmla="*/ 61035 w 2105025"/>
                <a:gd name="connsiteY6" fmla="*/ 0 h 38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389334">
                  <a:moveTo>
                    <a:pt x="61035" y="0"/>
                  </a:moveTo>
                  <a:lnTo>
                    <a:pt x="2043990" y="0"/>
                  </a:lnTo>
                  <a:cubicBezTo>
                    <a:pt x="2077699" y="0"/>
                    <a:pt x="2105025" y="27326"/>
                    <a:pt x="2105025" y="61035"/>
                  </a:cubicBezTo>
                  <a:lnTo>
                    <a:pt x="2006203" y="389334"/>
                  </a:lnTo>
                  <a:lnTo>
                    <a:pt x="84534" y="389334"/>
                  </a:lnTo>
                  <a:lnTo>
                    <a:pt x="0" y="61035"/>
                  </a:lnTo>
                  <a:cubicBezTo>
                    <a:pt x="0" y="27326"/>
                    <a:pt x="27326" y="0"/>
                    <a:pt x="61035" y="0"/>
                  </a:cubicBezTo>
                  <a:close/>
                </a:path>
              </a:pathLst>
            </a:custGeom>
            <a:solidFill>
              <a:srgbClr val="43B02A">
                <a:lumMod val="75000"/>
              </a:srgbClr>
            </a:solidFill>
            <a:ln w="19050" algn="ctr">
              <a:noFill/>
              <a:miter lim="800000"/>
              <a:headEnd/>
              <a:tailEnd/>
            </a:ln>
          </p:spPr>
          <p:txBody>
            <a:bodyPr wrap="square" lIns="66675" tIns="66675" rIns="66675" bIns="81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Verdana"/>
                  <a:ea typeface="Verdana" panose="020B0604030504040204" pitchFamily="34" charset="0"/>
                  <a:cs typeface="Calibri" panose="020F0502020204030204" pitchFamily="34" charset="0"/>
                </a:rPr>
                <a:t>Special Provisions for SPV</a:t>
              </a:r>
            </a:p>
          </p:txBody>
        </p:sp>
      </p:grpSp>
      <p:grpSp>
        <p:nvGrpSpPr>
          <p:cNvPr id="128" name="Group 127">
            <a:extLst>
              <a:ext uri="{FF2B5EF4-FFF2-40B4-BE49-F238E27FC236}">
                <a16:creationId xmlns:a16="http://schemas.microsoft.com/office/drawing/2014/main" id="{788A0CA4-527A-4B56-AFA7-ABE22FD946E2}"/>
              </a:ext>
            </a:extLst>
          </p:cNvPr>
          <p:cNvGrpSpPr/>
          <p:nvPr/>
        </p:nvGrpSpPr>
        <p:grpSpPr>
          <a:xfrm>
            <a:off x="8140570" y="2953384"/>
            <a:ext cx="3441828" cy="3554454"/>
            <a:chOff x="582909" y="4047068"/>
            <a:chExt cx="2642778" cy="3211966"/>
          </a:xfrm>
          <a:solidFill>
            <a:sysClr val="window" lastClr="FFFFFF">
              <a:lumMod val="95000"/>
            </a:sysClr>
          </a:solidFill>
        </p:grpSpPr>
        <p:sp>
          <p:nvSpPr>
            <p:cNvPr id="129" name="Rectangle 128">
              <a:extLst>
                <a:ext uri="{FF2B5EF4-FFF2-40B4-BE49-F238E27FC236}">
                  <a16:creationId xmlns:a16="http://schemas.microsoft.com/office/drawing/2014/main" id="{D97A1E3A-27EB-40F7-B4CC-FADB1D0E8CE6}"/>
                </a:ext>
              </a:extLst>
            </p:cNvPr>
            <p:cNvSpPr/>
            <p:nvPr/>
          </p:nvSpPr>
          <p:spPr bwMode="gray">
            <a:xfrm>
              <a:off x="582909" y="4047068"/>
              <a:ext cx="2642778" cy="3124270"/>
            </a:xfrm>
            <a:prstGeom prst="rect">
              <a:avLst/>
            </a:prstGeom>
            <a:grpFill/>
            <a:ln w="19050" algn="ctr">
              <a:noFill/>
              <a:miter lim="800000"/>
              <a:headEnd/>
              <a:tailEnd/>
            </a:ln>
          </p:spPr>
          <p:txBody>
            <a:bodyPr wrap="square" lIns="40500" tIns="40500" rIns="27000" bIns="27000" rtlCol="0" anchor="t"/>
            <a:lstStyle/>
            <a:p>
              <a:pPr marL="171450" marR="0" lvl="0" indent="-171450" algn="just"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CPP can be formed as an SPV.</a:t>
              </a:r>
            </a:p>
            <a:p>
              <a:pPr marL="171450" marR="0" lvl="0" indent="-171450" algn="just"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prstClr val="black"/>
                  </a:solidFill>
                  <a:effectLst/>
                  <a:uLnTx/>
                  <a:uFillTx/>
                  <a:latin typeface="+mj-lt"/>
                  <a:ea typeface="+mn-ea"/>
                  <a:cs typeface="+mn-cs"/>
                </a:rPr>
                <a:t>For SPV, one or multiple unit(s) of a Power Plant can be  identified for captive use and not the entire Power Plant in order to satisfy the above two criteria.</a:t>
              </a:r>
            </a:p>
            <a:p>
              <a:pPr marL="171450" marR="0" lvl="0" indent="-171450" algn="just"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endParaRPr kumimoji="0" lang="en-US" sz="1600" b="0" i="1" u="none" strike="noStrike" kern="0" cap="none" spc="0" normalizeH="0" baseline="0" noProof="0" dirty="0">
                <a:ln>
                  <a:noFill/>
                </a:ln>
                <a:solidFill>
                  <a:prstClr val="black"/>
                </a:solidFill>
                <a:effectLst/>
                <a:uLnTx/>
                <a:uFillTx/>
                <a:latin typeface="+mj-lt"/>
                <a:ea typeface="+mn-ea"/>
                <a:cs typeface="+mn-cs"/>
              </a:endParaRPr>
            </a:p>
            <a:p>
              <a:pPr marL="0" marR="0" lvl="0" indent="0" algn="just" defTabSz="914400" rtl="0" eaLnBrk="1" fontAlgn="auto" latinLnBrk="0" hangingPunct="1">
                <a:lnSpc>
                  <a:spcPct val="106000"/>
                </a:lnSpc>
                <a:spcBef>
                  <a:spcPts val="0"/>
                </a:spcBef>
                <a:spcAft>
                  <a:spcPts val="0"/>
                </a:spcAft>
                <a:buClrTx/>
                <a:buSzTx/>
                <a:buFontTx/>
                <a:buNone/>
                <a:tabLst/>
                <a:defRPr/>
              </a:pPr>
              <a:r>
                <a:rPr kumimoji="0" lang="en-US" sz="1600" b="0" i="1" u="none" strike="noStrike" kern="0" cap="none" spc="0" normalizeH="0" baseline="0" noProof="0" dirty="0">
                  <a:ln>
                    <a:noFill/>
                  </a:ln>
                  <a:solidFill>
                    <a:prstClr val="black"/>
                  </a:solidFill>
                  <a:effectLst/>
                  <a:uLnTx/>
                  <a:uFillTx/>
                  <a:latin typeface="+mj-lt"/>
                  <a:ea typeface="+mn-ea"/>
                  <a:cs typeface="+mn-cs"/>
                </a:rPr>
                <a:t>(“</a:t>
              </a:r>
              <a:r>
                <a:rPr kumimoji="0" lang="en-US" sz="1600" b="1" i="1" u="none" strike="noStrike" kern="0" cap="none" spc="0" normalizeH="0" baseline="0" noProof="0" dirty="0">
                  <a:ln>
                    <a:noFill/>
                  </a:ln>
                  <a:solidFill>
                    <a:prstClr val="black"/>
                  </a:solidFill>
                  <a:effectLst/>
                  <a:uLnTx/>
                  <a:uFillTx/>
                  <a:latin typeface="+mj-lt"/>
                  <a:ea typeface="+mn-ea"/>
                  <a:cs typeface="+mn-cs"/>
                </a:rPr>
                <a:t>SPV</a:t>
              </a:r>
              <a:r>
                <a:rPr kumimoji="0" lang="en-US" sz="1600" b="0" i="1" u="none" strike="noStrike" kern="0" cap="none" spc="0" normalizeH="0" baseline="0" noProof="0" dirty="0">
                  <a:ln>
                    <a:noFill/>
                  </a:ln>
                  <a:solidFill>
                    <a:prstClr val="black"/>
                  </a:solidFill>
                  <a:effectLst/>
                  <a:uLnTx/>
                  <a:uFillTx/>
                  <a:latin typeface="+mj-lt"/>
                  <a:ea typeface="+mn-ea"/>
                  <a:cs typeface="+mn-cs"/>
                </a:rPr>
                <a:t>” as per Electricity Rules 2005 means a legal entity owning, operating and maintaining a generating station and with no other business or activity to be engaged in by the legal entity)</a:t>
              </a:r>
              <a:endParaRPr kumimoji="0" lang="en-IN" sz="1600" b="0" i="1" u="none" strike="noStrike" kern="0" cap="none" spc="0" normalizeH="0" baseline="0" noProof="0" dirty="0">
                <a:ln>
                  <a:noFill/>
                </a:ln>
                <a:solidFill>
                  <a:prstClr val="black"/>
                </a:solidFill>
                <a:effectLst/>
                <a:uLnTx/>
                <a:uFillTx/>
                <a:latin typeface="+mj-lt"/>
                <a:ea typeface="+mn-ea"/>
                <a:cs typeface="+mn-cs"/>
              </a:endParaRPr>
            </a:p>
          </p:txBody>
        </p:sp>
        <p:sp>
          <p:nvSpPr>
            <p:cNvPr id="130" name="Rectangle 129">
              <a:extLst>
                <a:ext uri="{FF2B5EF4-FFF2-40B4-BE49-F238E27FC236}">
                  <a16:creationId xmlns:a16="http://schemas.microsoft.com/office/drawing/2014/main" id="{43E834A1-4389-4442-96D1-FF6AFC338FDC}"/>
                </a:ext>
              </a:extLst>
            </p:cNvPr>
            <p:cNvSpPr/>
            <p:nvPr/>
          </p:nvSpPr>
          <p:spPr bwMode="gray">
            <a:xfrm>
              <a:off x="756474" y="7171338"/>
              <a:ext cx="2295650" cy="87696"/>
            </a:xfrm>
            <a:prstGeom prst="rect">
              <a:avLst/>
            </a:prstGeom>
            <a:solidFill>
              <a:srgbClr val="43B02A">
                <a:lumMod val="75000"/>
              </a:srgbClr>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31" name="Group 130">
            <a:extLst>
              <a:ext uri="{FF2B5EF4-FFF2-40B4-BE49-F238E27FC236}">
                <a16:creationId xmlns:a16="http://schemas.microsoft.com/office/drawing/2014/main" id="{8EF5F581-0E3E-48D1-81CC-89F5133714CA}"/>
              </a:ext>
            </a:extLst>
          </p:cNvPr>
          <p:cNvGrpSpPr/>
          <p:nvPr/>
        </p:nvGrpSpPr>
        <p:grpSpPr>
          <a:xfrm>
            <a:off x="9404761" y="1599985"/>
            <a:ext cx="913446" cy="1322575"/>
            <a:chOff x="757805" y="1635343"/>
            <a:chExt cx="1185062" cy="2012973"/>
          </a:xfrm>
        </p:grpSpPr>
        <p:sp>
          <p:nvSpPr>
            <p:cNvPr id="132" name="Freeform 36">
              <a:extLst>
                <a:ext uri="{FF2B5EF4-FFF2-40B4-BE49-F238E27FC236}">
                  <a16:creationId xmlns:a16="http://schemas.microsoft.com/office/drawing/2014/main" id="{83C1787A-0F1A-498B-9531-D8A7FA4CB9BB}"/>
                </a:ext>
              </a:extLst>
            </p:cNvPr>
            <p:cNvSpPr/>
            <p:nvPr/>
          </p:nvSpPr>
          <p:spPr bwMode="gray">
            <a:xfrm>
              <a:off x="757805" y="1635343"/>
              <a:ext cx="1185062" cy="1921248"/>
            </a:xfrm>
            <a:custGeom>
              <a:avLst/>
              <a:gdLst>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73050 w 1162050"/>
                <a:gd name="connsiteY26" fmla="*/ 87312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200 w 1162050"/>
                <a:gd name="connsiteY0" fmla="*/ 1890712 h 1890712"/>
                <a:gd name="connsiteX1" fmla="*/ 581025 w 1162050"/>
                <a:gd name="connsiteY1" fmla="*/ 1760537 h 1890712"/>
                <a:gd name="connsiteX2" fmla="*/ 508000 w 1162050"/>
                <a:gd name="connsiteY2" fmla="*/ 1716087 h 1890712"/>
                <a:gd name="connsiteX3" fmla="*/ 474662 w 1162050"/>
                <a:gd name="connsiteY3" fmla="*/ 1676400 h 1890712"/>
                <a:gd name="connsiteX4" fmla="*/ 504825 w 1162050"/>
                <a:gd name="connsiteY4" fmla="*/ 1636712 h 1890712"/>
                <a:gd name="connsiteX5" fmla="*/ 717550 w 1162050"/>
                <a:gd name="connsiteY5" fmla="*/ 1636712 h 1890712"/>
                <a:gd name="connsiteX6" fmla="*/ 746125 w 1162050"/>
                <a:gd name="connsiteY6" fmla="*/ 1589087 h 1890712"/>
                <a:gd name="connsiteX7" fmla="*/ 715962 w 1162050"/>
                <a:gd name="connsiteY7" fmla="*/ 1552575 h 1890712"/>
                <a:gd name="connsiteX8" fmla="*/ 398462 w 1162050"/>
                <a:gd name="connsiteY8" fmla="*/ 1552575 h 1890712"/>
                <a:gd name="connsiteX9" fmla="*/ 360362 w 1162050"/>
                <a:gd name="connsiteY9" fmla="*/ 1514475 h 1890712"/>
                <a:gd name="connsiteX10" fmla="*/ 382587 w 1162050"/>
                <a:gd name="connsiteY10" fmla="*/ 1466850 h 1890712"/>
                <a:gd name="connsiteX11" fmla="*/ 796925 w 1162050"/>
                <a:gd name="connsiteY11" fmla="*/ 1466850 h 1890712"/>
                <a:gd name="connsiteX12" fmla="*/ 830262 w 1162050"/>
                <a:gd name="connsiteY12" fmla="*/ 1419225 h 1890712"/>
                <a:gd name="connsiteX13" fmla="*/ 795337 w 1162050"/>
                <a:gd name="connsiteY13" fmla="*/ 1376362 h 1890712"/>
                <a:gd name="connsiteX14" fmla="*/ 385762 w 1162050"/>
                <a:gd name="connsiteY14" fmla="*/ 1376362 h 1890712"/>
                <a:gd name="connsiteX15" fmla="*/ 322262 w 1162050"/>
                <a:gd name="connsiteY15" fmla="*/ 1344612 h 1890712"/>
                <a:gd name="connsiteX16" fmla="*/ 279400 w 1162050"/>
                <a:gd name="connsiteY16" fmla="*/ 1293812 h 1890712"/>
                <a:gd name="connsiteX17" fmla="*/ 271462 w 1162050"/>
                <a:gd name="connsiteY17" fmla="*/ 1200150 h 1890712"/>
                <a:gd name="connsiteX18" fmla="*/ 260350 w 1162050"/>
                <a:gd name="connsiteY18" fmla="*/ 1120775 h 1890712"/>
                <a:gd name="connsiteX19" fmla="*/ 204787 w 1162050"/>
                <a:gd name="connsiteY19" fmla="*/ 1030287 h 1890712"/>
                <a:gd name="connsiteX20" fmla="*/ 130175 w 1162050"/>
                <a:gd name="connsiteY20" fmla="*/ 947737 h 1890712"/>
                <a:gd name="connsiteX21" fmla="*/ 57150 w 1162050"/>
                <a:gd name="connsiteY21" fmla="*/ 831850 h 1890712"/>
                <a:gd name="connsiteX22" fmla="*/ 20637 w 1162050"/>
                <a:gd name="connsiteY22" fmla="*/ 727075 h 1890712"/>
                <a:gd name="connsiteX23" fmla="*/ 0 w 1162050"/>
                <a:gd name="connsiteY23" fmla="*/ 593725 h 1890712"/>
                <a:gd name="connsiteX24" fmla="*/ 11112 w 1162050"/>
                <a:gd name="connsiteY24" fmla="*/ 468312 h 1890712"/>
                <a:gd name="connsiteX25" fmla="*/ 80962 w 1162050"/>
                <a:gd name="connsiteY25" fmla="*/ 277812 h 1890712"/>
                <a:gd name="connsiteX26" fmla="*/ 265112 w 1162050"/>
                <a:gd name="connsiteY26" fmla="*/ 85724 h 1890712"/>
                <a:gd name="connsiteX27" fmla="*/ 519112 w 1162050"/>
                <a:gd name="connsiteY27" fmla="*/ 0 h 1890712"/>
                <a:gd name="connsiteX28" fmla="*/ 704850 w 1162050"/>
                <a:gd name="connsiteY28" fmla="*/ 3175 h 1890712"/>
                <a:gd name="connsiteX29" fmla="*/ 942975 w 1162050"/>
                <a:gd name="connsiteY29" fmla="*/ 114300 h 1890712"/>
                <a:gd name="connsiteX30" fmla="*/ 1100137 w 1162050"/>
                <a:gd name="connsiteY30" fmla="*/ 303212 h 1890712"/>
                <a:gd name="connsiteX31" fmla="*/ 1162050 w 1162050"/>
                <a:gd name="connsiteY31" fmla="*/ 506412 h 1890712"/>
                <a:gd name="connsiteX32" fmla="*/ 1158875 w 1162050"/>
                <a:gd name="connsiteY32" fmla="*/ 676275 h 1890712"/>
                <a:gd name="connsiteX33" fmla="*/ 1090612 w 1162050"/>
                <a:gd name="connsiteY33" fmla="*/ 882650 h 1890712"/>
                <a:gd name="connsiteX34" fmla="*/ 957262 w 1162050"/>
                <a:gd name="connsiteY34" fmla="*/ 1050925 h 1890712"/>
                <a:gd name="connsiteX35" fmla="*/ 914400 w 1162050"/>
                <a:gd name="connsiteY35" fmla="*/ 1111250 h 1890712"/>
                <a:gd name="connsiteX36" fmla="*/ 904875 w 1162050"/>
                <a:gd name="connsiteY36" fmla="*/ 1168400 h 1890712"/>
                <a:gd name="connsiteX37" fmla="*/ 904875 w 1162050"/>
                <a:gd name="connsiteY37" fmla="*/ 1257300 h 1890712"/>
                <a:gd name="connsiteX38" fmla="*/ 868362 w 1162050"/>
                <a:gd name="connsiteY38" fmla="*/ 1293812 h 1890712"/>
                <a:gd name="connsiteX39" fmla="*/ 641350 w 1162050"/>
                <a:gd name="connsiteY39" fmla="*/ 1293812 h 1890712"/>
                <a:gd name="connsiteX40" fmla="*/ 590550 w 1162050"/>
                <a:gd name="connsiteY40" fmla="*/ 1271587 h 1890712"/>
                <a:gd name="connsiteX41" fmla="*/ 590550 w 1162050"/>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21005 w 1162418"/>
                <a:gd name="connsiteY22" fmla="*/ 727075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7518 w 1162418"/>
                <a:gd name="connsiteY21" fmla="*/ 831850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79768 w 1162418"/>
                <a:gd name="connsiteY16" fmla="*/ 129381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0712 h 1890712"/>
                <a:gd name="connsiteX1" fmla="*/ 581393 w 1162418"/>
                <a:gd name="connsiteY1" fmla="*/ 1760537 h 1890712"/>
                <a:gd name="connsiteX2" fmla="*/ 508368 w 1162418"/>
                <a:gd name="connsiteY2" fmla="*/ 1716087 h 1890712"/>
                <a:gd name="connsiteX3" fmla="*/ 475030 w 1162418"/>
                <a:gd name="connsiteY3" fmla="*/ 1676400 h 1890712"/>
                <a:gd name="connsiteX4" fmla="*/ 505193 w 1162418"/>
                <a:gd name="connsiteY4" fmla="*/ 1636712 h 1890712"/>
                <a:gd name="connsiteX5" fmla="*/ 717918 w 1162418"/>
                <a:gd name="connsiteY5" fmla="*/ 1636712 h 1890712"/>
                <a:gd name="connsiteX6" fmla="*/ 746493 w 1162418"/>
                <a:gd name="connsiteY6" fmla="*/ 1589087 h 1890712"/>
                <a:gd name="connsiteX7" fmla="*/ 716330 w 1162418"/>
                <a:gd name="connsiteY7" fmla="*/ 1552575 h 1890712"/>
                <a:gd name="connsiteX8" fmla="*/ 398830 w 1162418"/>
                <a:gd name="connsiteY8" fmla="*/ 1552575 h 1890712"/>
                <a:gd name="connsiteX9" fmla="*/ 360730 w 1162418"/>
                <a:gd name="connsiteY9" fmla="*/ 1514475 h 1890712"/>
                <a:gd name="connsiteX10" fmla="*/ 382955 w 1162418"/>
                <a:gd name="connsiteY10" fmla="*/ 1466850 h 1890712"/>
                <a:gd name="connsiteX11" fmla="*/ 797293 w 1162418"/>
                <a:gd name="connsiteY11" fmla="*/ 1466850 h 1890712"/>
                <a:gd name="connsiteX12" fmla="*/ 830630 w 1162418"/>
                <a:gd name="connsiteY12" fmla="*/ 1419225 h 1890712"/>
                <a:gd name="connsiteX13" fmla="*/ 795705 w 1162418"/>
                <a:gd name="connsiteY13" fmla="*/ 1376362 h 1890712"/>
                <a:gd name="connsiteX14" fmla="*/ 386130 w 1162418"/>
                <a:gd name="connsiteY14" fmla="*/ 1376362 h 1890712"/>
                <a:gd name="connsiteX15" fmla="*/ 322630 w 1162418"/>
                <a:gd name="connsiteY15" fmla="*/ 1344612 h 1890712"/>
                <a:gd name="connsiteX16" fmla="*/ 283340 w 1162418"/>
                <a:gd name="connsiteY16" fmla="*/ 1292622 h 1890712"/>
                <a:gd name="connsiteX17" fmla="*/ 271830 w 1162418"/>
                <a:gd name="connsiteY17" fmla="*/ 1200150 h 1890712"/>
                <a:gd name="connsiteX18" fmla="*/ 260718 w 1162418"/>
                <a:gd name="connsiteY18" fmla="*/ 1120775 h 1890712"/>
                <a:gd name="connsiteX19" fmla="*/ 205155 w 1162418"/>
                <a:gd name="connsiteY19" fmla="*/ 1030287 h 1890712"/>
                <a:gd name="connsiteX20" fmla="*/ 130543 w 1162418"/>
                <a:gd name="connsiteY20" fmla="*/ 947737 h 1890712"/>
                <a:gd name="connsiteX21" fmla="*/ 55137 w 1162418"/>
                <a:gd name="connsiteY21" fmla="*/ 837803 h 1890712"/>
                <a:gd name="connsiteX22" fmla="*/ 13861 w 1162418"/>
                <a:gd name="connsiteY22" fmla="*/ 728266 h 1890712"/>
                <a:gd name="connsiteX23" fmla="*/ 368 w 1162418"/>
                <a:gd name="connsiteY23" fmla="*/ 593725 h 1890712"/>
                <a:gd name="connsiteX24" fmla="*/ 11480 w 1162418"/>
                <a:gd name="connsiteY24" fmla="*/ 468312 h 1890712"/>
                <a:gd name="connsiteX25" fmla="*/ 81330 w 1162418"/>
                <a:gd name="connsiteY25" fmla="*/ 277812 h 1890712"/>
                <a:gd name="connsiteX26" fmla="*/ 265480 w 1162418"/>
                <a:gd name="connsiteY26" fmla="*/ 85724 h 1890712"/>
                <a:gd name="connsiteX27" fmla="*/ 519480 w 1162418"/>
                <a:gd name="connsiteY27" fmla="*/ 0 h 1890712"/>
                <a:gd name="connsiteX28" fmla="*/ 705218 w 1162418"/>
                <a:gd name="connsiteY28" fmla="*/ 3175 h 1890712"/>
                <a:gd name="connsiteX29" fmla="*/ 943343 w 1162418"/>
                <a:gd name="connsiteY29" fmla="*/ 114300 h 1890712"/>
                <a:gd name="connsiteX30" fmla="*/ 1100505 w 1162418"/>
                <a:gd name="connsiteY30" fmla="*/ 303212 h 1890712"/>
                <a:gd name="connsiteX31" fmla="*/ 1162418 w 1162418"/>
                <a:gd name="connsiteY31" fmla="*/ 506412 h 1890712"/>
                <a:gd name="connsiteX32" fmla="*/ 1159243 w 1162418"/>
                <a:gd name="connsiteY32" fmla="*/ 676275 h 1890712"/>
                <a:gd name="connsiteX33" fmla="*/ 1090980 w 1162418"/>
                <a:gd name="connsiteY33" fmla="*/ 882650 h 1890712"/>
                <a:gd name="connsiteX34" fmla="*/ 957630 w 1162418"/>
                <a:gd name="connsiteY34" fmla="*/ 1050925 h 1890712"/>
                <a:gd name="connsiteX35" fmla="*/ 914768 w 1162418"/>
                <a:gd name="connsiteY35" fmla="*/ 1111250 h 1890712"/>
                <a:gd name="connsiteX36" fmla="*/ 905243 w 1162418"/>
                <a:gd name="connsiteY36" fmla="*/ 1168400 h 1890712"/>
                <a:gd name="connsiteX37" fmla="*/ 905243 w 1162418"/>
                <a:gd name="connsiteY37" fmla="*/ 1257300 h 1890712"/>
                <a:gd name="connsiteX38" fmla="*/ 868730 w 1162418"/>
                <a:gd name="connsiteY38" fmla="*/ 1293812 h 1890712"/>
                <a:gd name="connsiteX39" fmla="*/ 641718 w 1162418"/>
                <a:gd name="connsiteY39" fmla="*/ 1293812 h 1890712"/>
                <a:gd name="connsiteX40" fmla="*/ 590918 w 1162418"/>
                <a:gd name="connsiteY40" fmla="*/ 1271587 h 1890712"/>
                <a:gd name="connsiteX41" fmla="*/ 590918 w 1162418"/>
                <a:gd name="connsiteY41" fmla="*/ 1204912 h 1890712"/>
                <a:gd name="connsiteX0" fmla="*/ 584568 w 1162418"/>
                <a:gd name="connsiteY0" fmla="*/ 1892938 h 1892938"/>
                <a:gd name="connsiteX1" fmla="*/ 581393 w 1162418"/>
                <a:gd name="connsiteY1" fmla="*/ 1762763 h 1892938"/>
                <a:gd name="connsiteX2" fmla="*/ 508368 w 1162418"/>
                <a:gd name="connsiteY2" fmla="*/ 1718313 h 1892938"/>
                <a:gd name="connsiteX3" fmla="*/ 475030 w 1162418"/>
                <a:gd name="connsiteY3" fmla="*/ 1678626 h 1892938"/>
                <a:gd name="connsiteX4" fmla="*/ 505193 w 1162418"/>
                <a:gd name="connsiteY4" fmla="*/ 1638938 h 1892938"/>
                <a:gd name="connsiteX5" fmla="*/ 717918 w 1162418"/>
                <a:gd name="connsiteY5" fmla="*/ 1638938 h 1892938"/>
                <a:gd name="connsiteX6" fmla="*/ 746493 w 1162418"/>
                <a:gd name="connsiteY6" fmla="*/ 1591313 h 1892938"/>
                <a:gd name="connsiteX7" fmla="*/ 716330 w 1162418"/>
                <a:gd name="connsiteY7" fmla="*/ 1554801 h 1892938"/>
                <a:gd name="connsiteX8" fmla="*/ 398830 w 1162418"/>
                <a:gd name="connsiteY8" fmla="*/ 1554801 h 1892938"/>
                <a:gd name="connsiteX9" fmla="*/ 360730 w 1162418"/>
                <a:gd name="connsiteY9" fmla="*/ 1516701 h 1892938"/>
                <a:gd name="connsiteX10" fmla="*/ 382955 w 1162418"/>
                <a:gd name="connsiteY10" fmla="*/ 1469076 h 1892938"/>
                <a:gd name="connsiteX11" fmla="*/ 797293 w 1162418"/>
                <a:gd name="connsiteY11" fmla="*/ 1469076 h 1892938"/>
                <a:gd name="connsiteX12" fmla="*/ 830630 w 1162418"/>
                <a:gd name="connsiteY12" fmla="*/ 1421451 h 1892938"/>
                <a:gd name="connsiteX13" fmla="*/ 795705 w 1162418"/>
                <a:gd name="connsiteY13" fmla="*/ 1378588 h 1892938"/>
                <a:gd name="connsiteX14" fmla="*/ 386130 w 1162418"/>
                <a:gd name="connsiteY14" fmla="*/ 1378588 h 1892938"/>
                <a:gd name="connsiteX15" fmla="*/ 322630 w 1162418"/>
                <a:gd name="connsiteY15" fmla="*/ 1346838 h 1892938"/>
                <a:gd name="connsiteX16" fmla="*/ 283340 w 1162418"/>
                <a:gd name="connsiteY16" fmla="*/ 1294848 h 1892938"/>
                <a:gd name="connsiteX17" fmla="*/ 271830 w 1162418"/>
                <a:gd name="connsiteY17" fmla="*/ 1202376 h 1892938"/>
                <a:gd name="connsiteX18" fmla="*/ 260718 w 1162418"/>
                <a:gd name="connsiteY18" fmla="*/ 1123001 h 1892938"/>
                <a:gd name="connsiteX19" fmla="*/ 205155 w 1162418"/>
                <a:gd name="connsiteY19" fmla="*/ 1032513 h 1892938"/>
                <a:gd name="connsiteX20" fmla="*/ 130543 w 1162418"/>
                <a:gd name="connsiteY20" fmla="*/ 949963 h 1892938"/>
                <a:gd name="connsiteX21" fmla="*/ 55137 w 1162418"/>
                <a:gd name="connsiteY21" fmla="*/ 840029 h 1892938"/>
                <a:gd name="connsiteX22" fmla="*/ 13861 w 1162418"/>
                <a:gd name="connsiteY22" fmla="*/ 730492 h 1892938"/>
                <a:gd name="connsiteX23" fmla="*/ 368 w 1162418"/>
                <a:gd name="connsiteY23" fmla="*/ 595951 h 1892938"/>
                <a:gd name="connsiteX24" fmla="*/ 11480 w 1162418"/>
                <a:gd name="connsiteY24" fmla="*/ 470538 h 1892938"/>
                <a:gd name="connsiteX25" fmla="*/ 81330 w 1162418"/>
                <a:gd name="connsiteY25" fmla="*/ 280038 h 1892938"/>
                <a:gd name="connsiteX26" fmla="*/ 265480 w 1162418"/>
                <a:gd name="connsiteY26" fmla="*/ 87950 h 1892938"/>
                <a:gd name="connsiteX27" fmla="*/ 519480 w 1162418"/>
                <a:gd name="connsiteY27" fmla="*/ 2226 h 1892938"/>
                <a:gd name="connsiteX28" fmla="*/ 705218 w 1162418"/>
                <a:gd name="connsiteY28" fmla="*/ 5401 h 1892938"/>
                <a:gd name="connsiteX29" fmla="*/ 943343 w 1162418"/>
                <a:gd name="connsiteY29" fmla="*/ 116526 h 1892938"/>
                <a:gd name="connsiteX30" fmla="*/ 1100505 w 1162418"/>
                <a:gd name="connsiteY30" fmla="*/ 305438 h 1892938"/>
                <a:gd name="connsiteX31" fmla="*/ 1162418 w 1162418"/>
                <a:gd name="connsiteY31" fmla="*/ 508638 h 1892938"/>
                <a:gd name="connsiteX32" fmla="*/ 1159243 w 1162418"/>
                <a:gd name="connsiteY32" fmla="*/ 678501 h 1892938"/>
                <a:gd name="connsiteX33" fmla="*/ 1090980 w 1162418"/>
                <a:gd name="connsiteY33" fmla="*/ 884876 h 1892938"/>
                <a:gd name="connsiteX34" fmla="*/ 957630 w 1162418"/>
                <a:gd name="connsiteY34" fmla="*/ 1053151 h 1892938"/>
                <a:gd name="connsiteX35" fmla="*/ 914768 w 1162418"/>
                <a:gd name="connsiteY35" fmla="*/ 1113476 h 1892938"/>
                <a:gd name="connsiteX36" fmla="*/ 905243 w 1162418"/>
                <a:gd name="connsiteY36" fmla="*/ 1170626 h 1892938"/>
                <a:gd name="connsiteX37" fmla="*/ 905243 w 1162418"/>
                <a:gd name="connsiteY37" fmla="*/ 1259526 h 1892938"/>
                <a:gd name="connsiteX38" fmla="*/ 868730 w 1162418"/>
                <a:gd name="connsiteY38" fmla="*/ 1296038 h 1892938"/>
                <a:gd name="connsiteX39" fmla="*/ 641718 w 1162418"/>
                <a:gd name="connsiteY39" fmla="*/ 1296038 h 1892938"/>
                <a:gd name="connsiteX40" fmla="*/ 590918 w 1162418"/>
                <a:gd name="connsiteY40" fmla="*/ 1273813 h 1892938"/>
                <a:gd name="connsiteX41" fmla="*/ 590918 w 1162418"/>
                <a:gd name="connsiteY41" fmla="*/ 1207138 h 1892938"/>
                <a:gd name="connsiteX0" fmla="*/ 584568 w 1162418"/>
                <a:gd name="connsiteY0" fmla="*/ 1895823 h 1895823"/>
                <a:gd name="connsiteX1" fmla="*/ 581393 w 1162418"/>
                <a:gd name="connsiteY1" fmla="*/ 1765648 h 1895823"/>
                <a:gd name="connsiteX2" fmla="*/ 508368 w 1162418"/>
                <a:gd name="connsiteY2" fmla="*/ 1721198 h 1895823"/>
                <a:gd name="connsiteX3" fmla="*/ 475030 w 1162418"/>
                <a:gd name="connsiteY3" fmla="*/ 1681511 h 1895823"/>
                <a:gd name="connsiteX4" fmla="*/ 505193 w 1162418"/>
                <a:gd name="connsiteY4" fmla="*/ 1641823 h 1895823"/>
                <a:gd name="connsiteX5" fmla="*/ 717918 w 1162418"/>
                <a:gd name="connsiteY5" fmla="*/ 1641823 h 1895823"/>
                <a:gd name="connsiteX6" fmla="*/ 746493 w 1162418"/>
                <a:gd name="connsiteY6" fmla="*/ 1594198 h 1895823"/>
                <a:gd name="connsiteX7" fmla="*/ 716330 w 1162418"/>
                <a:gd name="connsiteY7" fmla="*/ 1557686 h 1895823"/>
                <a:gd name="connsiteX8" fmla="*/ 398830 w 1162418"/>
                <a:gd name="connsiteY8" fmla="*/ 1557686 h 1895823"/>
                <a:gd name="connsiteX9" fmla="*/ 360730 w 1162418"/>
                <a:gd name="connsiteY9" fmla="*/ 1519586 h 1895823"/>
                <a:gd name="connsiteX10" fmla="*/ 382955 w 1162418"/>
                <a:gd name="connsiteY10" fmla="*/ 1471961 h 1895823"/>
                <a:gd name="connsiteX11" fmla="*/ 797293 w 1162418"/>
                <a:gd name="connsiteY11" fmla="*/ 1471961 h 1895823"/>
                <a:gd name="connsiteX12" fmla="*/ 830630 w 1162418"/>
                <a:gd name="connsiteY12" fmla="*/ 1424336 h 1895823"/>
                <a:gd name="connsiteX13" fmla="*/ 795705 w 1162418"/>
                <a:gd name="connsiteY13" fmla="*/ 1381473 h 1895823"/>
                <a:gd name="connsiteX14" fmla="*/ 386130 w 1162418"/>
                <a:gd name="connsiteY14" fmla="*/ 1381473 h 1895823"/>
                <a:gd name="connsiteX15" fmla="*/ 322630 w 1162418"/>
                <a:gd name="connsiteY15" fmla="*/ 1349723 h 1895823"/>
                <a:gd name="connsiteX16" fmla="*/ 283340 w 1162418"/>
                <a:gd name="connsiteY16" fmla="*/ 1297733 h 1895823"/>
                <a:gd name="connsiteX17" fmla="*/ 271830 w 1162418"/>
                <a:gd name="connsiteY17" fmla="*/ 1205261 h 1895823"/>
                <a:gd name="connsiteX18" fmla="*/ 260718 w 1162418"/>
                <a:gd name="connsiteY18" fmla="*/ 1125886 h 1895823"/>
                <a:gd name="connsiteX19" fmla="*/ 205155 w 1162418"/>
                <a:gd name="connsiteY19" fmla="*/ 1035398 h 1895823"/>
                <a:gd name="connsiteX20" fmla="*/ 130543 w 1162418"/>
                <a:gd name="connsiteY20" fmla="*/ 952848 h 1895823"/>
                <a:gd name="connsiteX21" fmla="*/ 55137 w 1162418"/>
                <a:gd name="connsiteY21" fmla="*/ 842914 h 1895823"/>
                <a:gd name="connsiteX22" fmla="*/ 13861 w 1162418"/>
                <a:gd name="connsiteY22" fmla="*/ 733377 h 1895823"/>
                <a:gd name="connsiteX23" fmla="*/ 368 w 1162418"/>
                <a:gd name="connsiteY23" fmla="*/ 598836 h 1895823"/>
                <a:gd name="connsiteX24" fmla="*/ 11480 w 1162418"/>
                <a:gd name="connsiteY24" fmla="*/ 473423 h 1895823"/>
                <a:gd name="connsiteX25" fmla="*/ 81330 w 1162418"/>
                <a:gd name="connsiteY25" fmla="*/ 282923 h 1895823"/>
                <a:gd name="connsiteX26" fmla="*/ 265480 w 1162418"/>
                <a:gd name="connsiteY26" fmla="*/ 90835 h 1895823"/>
                <a:gd name="connsiteX27" fmla="*/ 519480 w 1162418"/>
                <a:gd name="connsiteY27" fmla="*/ 5111 h 1895823"/>
                <a:gd name="connsiteX28" fmla="*/ 705218 w 1162418"/>
                <a:gd name="connsiteY28" fmla="*/ 8286 h 1895823"/>
                <a:gd name="connsiteX29" fmla="*/ 943343 w 1162418"/>
                <a:gd name="connsiteY29" fmla="*/ 119411 h 1895823"/>
                <a:gd name="connsiteX30" fmla="*/ 1100505 w 1162418"/>
                <a:gd name="connsiteY30" fmla="*/ 308323 h 1895823"/>
                <a:gd name="connsiteX31" fmla="*/ 1162418 w 1162418"/>
                <a:gd name="connsiteY31" fmla="*/ 511523 h 1895823"/>
                <a:gd name="connsiteX32" fmla="*/ 1159243 w 1162418"/>
                <a:gd name="connsiteY32" fmla="*/ 681386 h 1895823"/>
                <a:gd name="connsiteX33" fmla="*/ 1090980 w 1162418"/>
                <a:gd name="connsiteY33" fmla="*/ 887761 h 1895823"/>
                <a:gd name="connsiteX34" fmla="*/ 957630 w 1162418"/>
                <a:gd name="connsiteY34" fmla="*/ 1056036 h 1895823"/>
                <a:gd name="connsiteX35" fmla="*/ 914768 w 1162418"/>
                <a:gd name="connsiteY35" fmla="*/ 1116361 h 1895823"/>
                <a:gd name="connsiteX36" fmla="*/ 905243 w 1162418"/>
                <a:gd name="connsiteY36" fmla="*/ 1173511 h 1895823"/>
                <a:gd name="connsiteX37" fmla="*/ 905243 w 1162418"/>
                <a:gd name="connsiteY37" fmla="*/ 1262411 h 1895823"/>
                <a:gd name="connsiteX38" fmla="*/ 868730 w 1162418"/>
                <a:gd name="connsiteY38" fmla="*/ 1298923 h 1895823"/>
                <a:gd name="connsiteX39" fmla="*/ 641718 w 1162418"/>
                <a:gd name="connsiteY39" fmla="*/ 1298923 h 1895823"/>
                <a:gd name="connsiteX40" fmla="*/ 590918 w 1162418"/>
                <a:gd name="connsiteY40" fmla="*/ 1276698 h 1895823"/>
                <a:gd name="connsiteX41" fmla="*/ 590918 w 1162418"/>
                <a:gd name="connsiteY41" fmla="*/ 1210023 h 1895823"/>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7931 h 1897931"/>
                <a:gd name="connsiteX1" fmla="*/ 581393 w 1162418"/>
                <a:gd name="connsiteY1" fmla="*/ 1767756 h 1897931"/>
                <a:gd name="connsiteX2" fmla="*/ 508368 w 1162418"/>
                <a:gd name="connsiteY2" fmla="*/ 1723306 h 1897931"/>
                <a:gd name="connsiteX3" fmla="*/ 475030 w 1162418"/>
                <a:gd name="connsiteY3" fmla="*/ 1683619 h 1897931"/>
                <a:gd name="connsiteX4" fmla="*/ 505193 w 1162418"/>
                <a:gd name="connsiteY4" fmla="*/ 1643931 h 1897931"/>
                <a:gd name="connsiteX5" fmla="*/ 717918 w 1162418"/>
                <a:gd name="connsiteY5" fmla="*/ 1643931 h 1897931"/>
                <a:gd name="connsiteX6" fmla="*/ 746493 w 1162418"/>
                <a:gd name="connsiteY6" fmla="*/ 1596306 h 1897931"/>
                <a:gd name="connsiteX7" fmla="*/ 716330 w 1162418"/>
                <a:gd name="connsiteY7" fmla="*/ 1559794 h 1897931"/>
                <a:gd name="connsiteX8" fmla="*/ 398830 w 1162418"/>
                <a:gd name="connsiteY8" fmla="*/ 1559794 h 1897931"/>
                <a:gd name="connsiteX9" fmla="*/ 360730 w 1162418"/>
                <a:gd name="connsiteY9" fmla="*/ 1521694 h 1897931"/>
                <a:gd name="connsiteX10" fmla="*/ 382955 w 1162418"/>
                <a:gd name="connsiteY10" fmla="*/ 1474069 h 1897931"/>
                <a:gd name="connsiteX11" fmla="*/ 797293 w 1162418"/>
                <a:gd name="connsiteY11" fmla="*/ 1474069 h 1897931"/>
                <a:gd name="connsiteX12" fmla="*/ 830630 w 1162418"/>
                <a:gd name="connsiteY12" fmla="*/ 1426444 h 1897931"/>
                <a:gd name="connsiteX13" fmla="*/ 795705 w 1162418"/>
                <a:gd name="connsiteY13" fmla="*/ 1383581 h 1897931"/>
                <a:gd name="connsiteX14" fmla="*/ 386130 w 1162418"/>
                <a:gd name="connsiteY14" fmla="*/ 1383581 h 1897931"/>
                <a:gd name="connsiteX15" fmla="*/ 322630 w 1162418"/>
                <a:gd name="connsiteY15" fmla="*/ 1351831 h 1897931"/>
                <a:gd name="connsiteX16" fmla="*/ 283340 w 1162418"/>
                <a:gd name="connsiteY16" fmla="*/ 1299841 h 1897931"/>
                <a:gd name="connsiteX17" fmla="*/ 271830 w 1162418"/>
                <a:gd name="connsiteY17" fmla="*/ 1207369 h 1897931"/>
                <a:gd name="connsiteX18" fmla="*/ 260718 w 1162418"/>
                <a:gd name="connsiteY18" fmla="*/ 1127994 h 1897931"/>
                <a:gd name="connsiteX19" fmla="*/ 205155 w 1162418"/>
                <a:gd name="connsiteY19" fmla="*/ 1037506 h 1897931"/>
                <a:gd name="connsiteX20" fmla="*/ 130543 w 1162418"/>
                <a:gd name="connsiteY20" fmla="*/ 954956 h 1897931"/>
                <a:gd name="connsiteX21" fmla="*/ 55137 w 1162418"/>
                <a:gd name="connsiteY21" fmla="*/ 845022 h 1897931"/>
                <a:gd name="connsiteX22" fmla="*/ 13861 w 1162418"/>
                <a:gd name="connsiteY22" fmla="*/ 735485 h 1897931"/>
                <a:gd name="connsiteX23" fmla="*/ 368 w 1162418"/>
                <a:gd name="connsiteY23" fmla="*/ 600944 h 1897931"/>
                <a:gd name="connsiteX24" fmla="*/ 11480 w 1162418"/>
                <a:gd name="connsiteY24" fmla="*/ 475531 h 1897931"/>
                <a:gd name="connsiteX25" fmla="*/ 81330 w 1162418"/>
                <a:gd name="connsiteY25" fmla="*/ 285031 h 1897931"/>
                <a:gd name="connsiteX26" fmla="*/ 265480 w 1162418"/>
                <a:gd name="connsiteY26" fmla="*/ 92943 h 1897931"/>
                <a:gd name="connsiteX27" fmla="*/ 519480 w 1162418"/>
                <a:gd name="connsiteY27" fmla="*/ 3648 h 1897931"/>
                <a:gd name="connsiteX28" fmla="*/ 705218 w 1162418"/>
                <a:gd name="connsiteY28" fmla="*/ 10394 h 1897931"/>
                <a:gd name="connsiteX29" fmla="*/ 943343 w 1162418"/>
                <a:gd name="connsiteY29" fmla="*/ 121519 h 1897931"/>
                <a:gd name="connsiteX30" fmla="*/ 1100505 w 1162418"/>
                <a:gd name="connsiteY30" fmla="*/ 310431 h 1897931"/>
                <a:gd name="connsiteX31" fmla="*/ 1162418 w 1162418"/>
                <a:gd name="connsiteY31" fmla="*/ 513631 h 1897931"/>
                <a:gd name="connsiteX32" fmla="*/ 1159243 w 1162418"/>
                <a:gd name="connsiteY32" fmla="*/ 683494 h 1897931"/>
                <a:gd name="connsiteX33" fmla="*/ 1090980 w 1162418"/>
                <a:gd name="connsiteY33" fmla="*/ 889869 h 1897931"/>
                <a:gd name="connsiteX34" fmla="*/ 957630 w 1162418"/>
                <a:gd name="connsiteY34" fmla="*/ 1058144 h 1897931"/>
                <a:gd name="connsiteX35" fmla="*/ 914768 w 1162418"/>
                <a:gd name="connsiteY35" fmla="*/ 1118469 h 1897931"/>
                <a:gd name="connsiteX36" fmla="*/ 905243 w 1162418"/>
                <a:gd name="connsiteY36" fmla="*/ 1175619 h 1897931"/>
                <a:gd name="connsiteX37" fmla="*/ 905243 w 1162418"/>
                <a:gd name="connsiteY37" fmla="*/ 1264519 h 1897931"/>
                <a:gd name="connsiteX38" fmla="*/ 868730 w 1162418"/>
                <a:gd name="connsiteY38" fmla="*/ 1301031 h 1897931"/>
                <a:gd name="connsiteX39" fmla="*/ 641718 w 1162418"/>
                <a:gd name="connsiteY39" fmla="*/ 1301031 h 1897931"/>
                <a:gd name="connsiteX40" fmla="*/ 590918 w 1162418"/>
                <a:gd name="connsiteY40" fmla="*/ 1278806 h 1897931"/>
                <a:gd name="connsiteX41" fmla="*/ 590918 w 1162418"/>
                <a:gd name="connsiteY41" fmla="*/ 1212131 h 1897931"/>
                <a:gd name="connsiteX0" fmla="*/ 584568 w 1162418"/>
                <a:gd name="connsiteY0" fmla="*/ 1894283 h 1894283"/>
                <a:gd name="connsiteX1" fmla="*/ 581393 w 1162418"/>
                <a:gd name="connsiteY1" fmla="*/ 1764108 h 1894283"/>
                <a:gd name="connsiteX2" fmla="*/ 508368 w 1162418"/>
                <a:gd name="connsiteY2" fmla="*/ 1719658 h 1894283"/>
                <a:gd name="connsiteX3" fmla="*/ 475030 w 1162418"/>
                <a:gd name="connsiteY3" fmla="*/ 1679971 h 1894283"/>
                <a:gd name="connsiteX4" fmla="*/ 505193 w 1162418"/>
                <a:gd name="connsiteY4" fmla="*/ 1640283 h 1894283"/>
                <a:gd name="connsiteX5" fmla="*/ 717918 w 1162418"/>
                <a:gd name="connsiteY5" fmla="*/ 1640283 h 1894283"/>
                <a:gd name="connsiteX6" fmla="*/ 746493 w 1162418"/>
                <a:gd name="connsiteY6" fmla="*/ 1592658 h 1894283"/>
                <a:gd name="connsiteX7" fmla="*/ 716330 w 1162418"/>
                <a:gd name="connsiteY7" fmla="*/ 1556146 h 1894283"/>
                <a:gd name="connsiteX8" fmla="*/ 398830 w 1162418"/>
                <a:gd name="connsiteY8" fmla="*/ 1556146 h 1894283"/>
                <a:gd name="connsiteX9" fmla="*/ 360730 w 1162418"/>
                <a:gd name="connsiteY9" fmla="*/ 1518046 h 1894283"/>
                <a:gd name="connsiteX10" fmla="*/ 382955 w 1162418"/>
                <a:gd name="connsiteY10" fmla="*/ 1470421 h 1894283"/>
                <a:gd name="connsiteX11" fmla="*/ 797293 w 1162418"/>
                <a:gd name="connsiteY11" fmla="*/ 1470421 h 1894283"/>
                <a:gd name="connsiteX12" fmla="*/ 830630 w 1162418"/>
                <a:gd name="connsiteY12" fmla="*/ 1422796 h 1894283"/>
                <a:gd name="connsiteX13" fmla="*/ 795705 w 1162418"/>
                <a:gd name="connsiteY13" fmla="*/ 1379933 h 1894283"/>
                <a:gd name="connsiteX14" fmla="*/ 386130 w 1162418"/>
                <a:gd name="connsiteY14" fmla="*/ 1379933 h 1894283"/>
                <a:gd name="connsiteX15" fmla="*/ 322630 w 1162418"/>
                <a:gd name="connsiteY15" fmla="*/ 1348183 h 1894283"/>
                <a:gd name="connsiteX16" fmla="*/ 283340 w 1162418"/>
                <a:gd name="connsiteY16" fmla="*/ 1296193 h 1894283"/>
                <a:gd name="connsiteX17" fmla="*/ 271830 w 1162418"/>
                <a:gd name="connsiteY17" fmla="*/ 1203721 h 1894283"/>
                <a:gd name="connsiteX18" fmla="*/ 260718 w 1162418"/>
                <a:gd name="connsiteY18" fmla="*/ 1124346 h 1894283"/>
                <a:gd name="connsiteX19" fmla="*/ 205155 w 1162418"/>
                <a:gd name="connsiteY19" fmla="*/ 1033858 h 1894283"/>
                <a:gd name="connsiteX20" fmla="*/ 130543 w 1162418"/>
                <a:gd name="connsiteY20" fmla="*/ 951308 h 1894283"/>
                <a:gd name="connsiteX21" fmla="*/ 55137 w 1162418"/>
                <a:gd name="connsiteY21" fmla="*/ 841374 h 1894283"/>
                <a:gd name="connsiteX22" fmla="*/ 13861 w 1162418"/>
                <a:gd name="connsiteY22" fmla="*/ 731837 h 1894283"/>
                <a:gd name="connsiteX23" fmla="*/ 368 w 1162418"/>
                <a:gd name="connsiteY23" fmla="*/ 597296 h 1894283"/>
                <a:gd name="connsiteX24" fmla="*/ 11480 w 1162418"/>
                <a:gd name="connsiteY24" fmla="*/ 471883 h 1894283"/>
                <a:gd name="connsiteX25" fmla="*/ 81330 w 1162418"/>
                <a:gd name="connsiteY25" fmla="*/ 281383 h 1894283"/>
                <a:gd name="connsiteX26" fmla="*/ 265480 w 1162418"/>
                <a:gd name="connsiteY26" fmla="*/ 89295 h 1894283"/>
                <a:gd name="connsiteX27" fmla="*/ 519480 w 1162418"/>
                <a:gd name="connsiteY27" fmla="*/ 0 h 1894283"/>
                <a:gd name="connsiteX28" fmla="*/ 705218 w 1162418"/>
                <a:gd name="connsiteY28" fmla="*/ 6746 h 1894283"/>
                <a:gd name="connsiteX29" fmla="*/ 943343 w 1162418"/>
                <a:gd name="connsiteY29" fmla="*/ 117871 h 1894283"/>
                <a:gd name="connsiteX30" fmla="*/ 1100505 w 1162418"/>
                <a:gd name="connsiteY30" fmla="*/ 306783 h 1894283"/>
                <a:gd name="connsiteX31" fmla="*/ 1162418 w 1162418"/>
                <a:gd name="connsiteY31" fmla="*/ 509983 h 1894283"/>
                <a:gd name="connsiteX32" fmla="*/ 1159243 w 1162418"/>
                <a:gd name="connsiteY32" fmla="*/ 679846 h 1894283"/>
                <a:gd name="connsiteX33" fmla="*/ 1090980 w 1162418"/>
                <a:gd name="connsiteY33" fmla="*/ 886221 h 1894283"/>
                <a:gd name="connsiteX34" fmla="*/ 957630 w 1162418"/>
                <a:gd name="connsiteY34" fmla="*/ 1054496 h 1894283"/>
                <a:gd name="connsiteX35" fmla="*/ 914768 w 1162418"/>
                <a:gd name="connsiteY35" fmla="*/ 1114821 h 1894283"/>
                <a:gd name="connsiteX36" fmla="*/ 905243 w 1162418"/>
                <a:gd name="connsiteY36" fmla="*/ 1171971 h 1894283"/>
                <a:gd name="connsiteX37" fmla="*/ 905243 w 1162418"/>
                <a:gd name="connsiteY37" fmla="*/ 1260871 h 1894283"/>
                <a:gd name="connsiteX38" fmla="*/ 868730 w 1162418"/>
                <a:gd name="connsiteY38" fmla="*/ 1297383 h 1894283"/>
                <a:gd name="connsiteX39" fmla="*/ 641718 w 1162418"/>
                <a:gd name="connsiteY39" fmla="*/ 1297383 h 1894283"/>
                <a:gd name="connsiteX40" fmla="*/ 590918 w 1162418"/>
                <a:gd name="connsiteY40" fmla="*/ 1275158 h 1894283"/>
                <a:gd name="connsiteX41" fmla="*/ 590918 w 1162418"/>
                <a:gd name="connsiteY41" fmla="*/ 1208483 h 1894283"/>
                <a:gd name="connsiteX0" fmla="*/ 584568 w 1162418"/>
                <a:gd name="connsiteY0" fmla="*/ 1896145 h 1896145"/>
                <a:gd name="connsiteX1" fmla="*/ 581393 w 1162418"/>
                <a:gd name="connsiteY1" fmla="*/ 1765970 h 1896145"/>
                <a:gd name="connsiteX2" fmla="*/ 508368 w 1162418"/>
                <a:gd name="connsiteY2" fmla="*/ 1721520 h 1896145"/>
                <a:gd name="connsiteX3" fmla="*/ 475030 w 1162418"/>
                <a:gd name="connsiteY3" fmla="*/ 1681833 h 1896145"/>
                <a:gd name="connsiteX4" fmla="*/ 505193 w 1162418"/>
                <a:gd name="connsiteY4" fmla="*/ 1642145 h 1896145"/>
                <a:gd name="connsiteX5" fmla="*/ 717918 w 1162418"/>
                <a:gd name="connsiteY5" fmla="*/ 1642145 h 1896145"/>
                <a:gd name="connsiteX6" fmla="*/ 746493 w 1162418"/>
                <a:gd name="connsiteY6" fmla="*/ 1594520 h 1896145"/>
                <a:gd name="connsiteX7" fmla="*/ 716330 w 1162418"/>
                <a:gd name="connsiteY7" fmla="*/ 1558008 h 1896145"/>
                <a:gd name="connsiteX8" fmla="*/ 398830 w 1162418"/>
                <a:gd name="connsiteY8" fmla="*/ 1558008 h 1896145"/>
                <a:gd name="connsiteX9" fmla="*/ 360730 w 1162418"/>
                <a:gd name="connsiteY9" fmla="*/ 1519908 h 1896145"/>
                <a:gd name="connsiteX10" fmla="*/ 382955 w 1162418"/>
                <a:gd name="connsiteY10" fmla="*/ 1472283 h 1896145"/>
                <a:gd name="connsiteX11" fmla="*/ 797293 w 1162418"/>
                <a:gd name="connsiteY11" fmla="*/ 1472283 h 1896145"/>
                <a:gd name="connsiteX12" fmla="*/ 830630 w 1162418"/>
                <a:gd name="connsiteY12" fmla="*/ 1424658 h 1896145"/>
                <a:gd name="connsiteX13" fmla="*/ 795705 w 1162418"/>
                <a:gd name="connsiteY13" fmla="*/ 1381795 h 1896145"/>
                <a:gd name="connsiteX14" fmla="*/ 386130 w 1162418"/>
                <a:gd name="connsiteY14" fmla="*/ 1381795 h 1896145"/>
                <a:gd name="connsiteX15" fmla="*/ 322630 w 1162418"/>
                <a:gd name="connsiteY15" fmla="*/ 1350045 h 1896145"/>
                <a:gd name="connsiteX16" fmla="*/ 283340 w 1162418"/>
                <a:gd name="connsiteY16" fmla="*/ 1298055 h 1896145"/>
                <a:gd name="connsiteX17" fmla="*/ 271830 w 1162418"/>
                <a:gd name="connsiteY17" fmla="*/ 1205583 h 1896145"/>
                <a:gd name="connsiteX18" fmla="*/ 260718 w 1162418"/>
                <a:gd name="connsiteY18" fmla="*/ 1126208 h 1896145"/>
                <a:gd name="connsiteX19" fmla="*/ 205155 w 1162418"/>
                <a:gd name="connsiteY19" fmla="*/ 1035720 h 1896145"/>
                <a:gd name="connsiteX20" fmla="*/ 130543 w 1162418"/>
                <a:gd name="connsiteY20" fmla="*/ 953170 h 1896145"/>
                <a:gd name="connsiteX21" fmla="*/ 55137 w 1162418"/>
                <a:gd name="connsiteY21" fmla="*/ 843236 h 1896145"/>
                <a:gd name="connsiteX22" fmla="*/ 13861 w 1162418"/>
                <a:gd name="connsiteY22" fmla="*/ 733699 h 1896145"/>
                <a:gd name="connsiteX23" fmla="*/ 368 w 1162418"/>
                <a:gd name="connsiteY23" fmla="*/ 599158 h 1896145"/>
                <a:gd name="connsiteX24" fmla="*/ 11480 w 1162418"/>
                <a:gd name="connsiteY24" fmla="*/ 473745 h 1896145"/>
                <a:gd name="connsiteX25" fmla="*/ 81330 w 1162418"/>
                <a:gd name="connsiteY25" fmla="*/ 283245 h 1896145"/>
                <a:gd name="connsiteX26" fmla="*/ 265480 w 1162418"/>
                <a:gd name="connsiteY26" fmla="*/ 91157 h 1896145"/>
                <a:gd name="connsiteX27" fmla="*/ 519480 w 1162418"/>
                <a:gd name="connsiteY27" fmla="*/ 1862 h 1896145"/>
                <a:gd name="connsiteX28" fmla="*/ 705218 w 1162418"/>
                <a:gd name="connsiteY28" fmla="*/ 8608 h 1896145"/>
                <a:gd name="connsiteX29" fmla="*/ 943343 w 1162418"/>
                <a:gd name="connsiteY29" fmla="*/ 119733 h 1896145"/>
                <a:gd name="connsiteX30" fmla="*/ 1100505 w 1162418"/>
                <a:gd name="connsiteY30" fmla="*/ 308645 h 1896145"/>
                <a:gd name="connsiteX31" fmla="*/ 1162418 w 1162418"/>
                <a:gd name="connsiteY31" fmla="*/ 511845 h 1896145"/>
                <a:gd name="connsiteX32" fmla="*/ 1159243 w 1162418"/>
                <a:gd name="connsiteY32" fmla="*/ 681708 h 1896145"/>
                <a:gd name="connsiteX33" fmla="*/ 1090980 w 1162418"/>
                <a:gd name="connsiteY33" fmla="*/ 888083 h 1896145"/>
                <a:gd name="connsiteX34" fmla="*/ 957630 w 1162418"/>
                <a:gd name="connsiteY34" fmla="*/ 1056358 h 1896145"/>
                <a:gd name="connsiteX35" fmla="*/ 914768 w 1162418"/>
                <a:gd name="connsiteY35" fmla="*/ 1116683 h 1896145"/>
                <a:gd name="connsiteX36" fmla="*/ 905243 w 1162418"/>
                <a:gd name="connsiteY36" fmla="*/ 1173833 h 1896145"/>
                <a:gd name="connsiteX37" fmla="*/ 905243 w 1162418"/>
                <a:gd name="connsiteY37" fmla="*/ 1262733 h 1896145"/>
                <a:gd name="connsiteX38" fmla="*/ 868730 w 1162418"/>
                <a:gd name="connsiteY38" fmla="*/ 1299245 h 1896145"/>
                <a:gd name="connsiteX39" fmla="*/ 641718 w 1162418"/>
                <a:gd name="connsiteY39" fmla="*/ 1299245 h 1896145"/>
                <a:gd name="connsiteX40" fmla="*/ 590918 w 1162418"/>
                <a:gd name="connsiteY40" fmla="*/ 1277020 h 1896145"/>
                <a:gd name="connsiteX41" fmla="*/ 590918 w 1162418"/>
                <a:gd name="connsiteY41" fmla="*/ 1210345 h 1896145"/>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2418"/>
                <a:gd name="connsiteY0" fmla="*/ 1898273 h 1898273"/>
                <a:gd name="connsiteX1" fmla="*/ 581393 w 1162418"/>
                <a:gd name="connsiteY1" fmla="*/ 1768098 h 1898273"/>
                <a:gd name="connsiteX2" fmla="*/ 508368 w 1162418"/>
                <a:gd name="connsiteY2" fmla="*/ 1723648 h 1898273"/>
                <a:gd name="connsiteX3" fmla="*/ 475030 w 1162418"/>
                <a:gd name="connsiteY3" fmla="*/ 1683961 h 1898273"/>
                <a:gd name="connsiteX4" fmla="*/ 505193 w 1162418"/>
                <a:gd name="connsiteY4" fmla="*/ 1644273 h 1898273"/>
                <a:gd name="connsiteX5" fmla="*/ 717918 w 1162418"/>
                <a:gd name="connsiteY5" fmla="*/ 1644273 h 1898273"/>
                <a:gd name="connsiteX6" fmla="*/ 746493 w 1162418"/>
                <a:gd name="connsiteY6" fmla="*/ 1596648 h 1898273"/>
                <a:gd name="connsiteX7" fmla="*/ 716330 w 1162418"/>
                <a:gd name="connsiteY7" fmla="*/ 1560136 h 1898273"/>
                <a:gd name="connsiteX8" fmla="*/ 398830 w 1162418"/>
                <a:gd name="connsiteY8" fmla="*/ 1560136 h 1898273"/>
                <a:gd name="connsiteX9" fmla="*/ 360730 w 1162418"/>
                <a:gd name="connsiteY9" fmla="*/ 1522036 h 1898273"/>
                <a:gd name="connsiteX10" fmla="*/ 382955 w 1162418"/>
                <a:gd name="connsiteY10" fmla="*/ 1474411 h 1898273"/>
                <a:gd name="connsiteX11" fmla="*/ 797293 w 1162418"/>
                <a:gd name="connsiteY11" fmla="*/ 1474411 h 1898273"/>
                <a:gd name="connsiteX12" fmla="*/ 830630 w 1162418"/>
                <a:gd name="connsiteY12" fmla="*/ 1426786 h 1898273"/>
                <a:gd name="connsiteX13" fmla="*/ 795705 w 1162418"/>
                <a:gd name="connsiteY13" fmla="*/ 1383923 h 1898273"/>
                <a:gd name="connsiteX14" fmla="*/ 386130 w 1162418"/>
                <a:gd name="connsiteY14" fmla="*/ 1383923 h 1898273"/>
                <a:gd name="connsiteX15" fmla="*/ 322630 w 1162418"/>
                <a:gd name="connsiteY15" fmla="*/ 1352173 h 1898273"/>
                <a:gd name="connsiteX16" fmla="*/ 283340 w 1162418"/>
                <a:gd name="connsiteY16" fmla="*/ 1300183 h 1898273"/>
                <a:gd name="connsiteX17" fmla="*/ 271830 w 1162418"/>
                <a:gd name="connsiteY17" fmla="*/ 1207711 h 1898273"/>
                <a:gd name="connsiteX18" fmla="*/ 260718 w 1162418"/>
                <a:gd name="connsiteY18" fmla="*/ 1128336 h 1898273"/>
                <a:gd name="connsiteX19" fmla="*/ 205155 w 1162418"/>
                <a:gd name="connsiteY19" fmla="*/ 1037848 h 1898273"/>
                <a:gd name="connsiteX20" fmla="*/ 130543 w 1162418"/>
                <a:gd name="connsiteY20" fmla="*/ 955298 h 1898273"/>
                <a:gd name="connsiteX21" fmla="*/ 55137 w 1162418"/>
                <a:gd name="connsiteY21" fmla="*/ 845364 h 1898273"/>
                <a:gd name="connsiteX22" fmla="*/ 13861 w 1162418"/>
                <a:gd name="connsiteY22" fmla="*/ 735827 h 1898273"/>
                <a:gd name="connsiteX23" fmla="*/ 368 w 1162418"/>
                <a:gd name="connsiteY23" fmla="*/ 601286 h 1898273"/>
                <a:gd name="connsiteX24" fmla="*/ 11480 w 1162418"/>
                <a:gd name="connsiteY24" fmla="*/ 475873 h 1898273"/>
                <a:gd name="connsiteX25" fmla="*/ 81330 w 1162418"/>
                <a:gd name="connsiteY25" fmla="*/ 285373 h 1898273"/>
                <a:gd name="connsiteX26" fmla="*/ 265480 w 1162418"/>
                <a:gd name="connsiteY26" fmla="*/ 93285 h 1898273"/>
                <a:gd name="connsiteX27" fmla="*/ 519480 w 1162418"/>
                <a:gd name="connsiteY27" fmla="*/ 3990 h 1898273"/>
                <a:gd name="connsiteX28" fmla="*/ 705218 w 1162418"/>
                <a:gd name="connsiteY28" fmla="*/ 10736 h 1898273"/>
                <a:gd name="connsiteX29" fmla="*/ 943343 w 1162418"/>
                <a:gd name="connsiteY29" fmla="*/ 121861 h 1898273"/>
                <a:gd name="connsiteX30" fmla="*/ 1100505 w 1162418"/>
                <a:gd name="connsiteY30" fmla="*/ 310773 h 1898273"/>
                <a:gd name="connsiteX31" fmla="*/ 1162418 w 1162418"/>
                <a:gd name="connsiteY31" fmla="*/ 513973 h 1898273"/>
                <a:gd name="connsiteX32" fmla="*/ 1159243 w 1162418"/>
                <a:gd name="connsiteY32" fmla="*/ 683836 h 1898273"/>
                <a:gd name="connsiteX33" fmla="*/ 1090980 w 1162418"/>
                <a:gd name="connsiteY33" fmla="*/ 890211 h 1898273"/>
                <a:gd name="connsiteX34" fmla="*/ 957630 w 1162418"/>
                <a:gd name="connsiteY34" fmla="*/ 1058486 h 1898273"/>
                <a:gd name="connsiteX35" fmla="*/ 914768 w 1162418"/>
                <a:gd name="connsiteY35" fmla="*/ 1118811 h 1898273"/>
                <a:gd name="connsiteX36" fmla="*/ 905243 w 1162418"/>
                <a:gd name="connsiteY36" fmla="*/ 1175961 h 1898273"/>
                <a:gd name="connsiteX37" fmla="*/ 905243 w 1162418"/>
                <a:gd name="connsiteY37" fmla="*/ 1264861 h 1898273"/>
                <a:gd name="connsiteX38" fmla="*/ 868730 w 1162418"/>
                <a:gd name="connsiteY38" fmla="*/ 1301373 h 1898273"/>
                <a:gd name="connsiteX39" fmla="*/ 641718 w 1162418"/>
                <a:gd name="connsiteY39" fmla="*/ 1301373 h 1898273"/>
                <a:gd name="connsiteX40" fmla="*/ 590918 w 1162418"/>
                <a:gd name="connsiteY40" fmla="*/ 1279148 h 1898273"/>
                <a:gd name="connsiteX41" fmla="*/ 590918 w 1162418"/>
                <a:gd name="connsiteY41" fmla="*/ 1212473 h 1898273"/>
                <a:gd name="connsiteX0" fmla="*/ 584568 w 1166196"/>
                <a:gd name="connsiteY0" fmla="*/ 1898273 h 1898273"/>
                <a:gd name="connsiteX1" fmla="*/ 581393 w 1166196"/>
                <a:gd name="connsiteY1" fmla="*/ 1768098 h 1898273"/>
                <a:gd name="connsiteX2" fmla="*/ 508368 w 1166196"/>
                <a:gd name="connsiteY2" fmla="*/ 1723648 h 1898273"/>
                <a:gd name="connsiteX3" fmla="*/ 475030 w 1166196"/>
                <a:gd name="connsiteY3" fmla="*/ 1683961 h 1898273"/>
                <a:gd name="connsiteX4" fmla="*/ 505193 w 1166196"/>
                <a:gd name="connsiteY4" fmla="*/ 1644273 h 1898273"/>
                <a:gd name="connsiteX5" fmla="*/ 717918 w 1166196"/>
                <a:gd name="connsiteY5" fmla="*/ 1644273 h 1898273"/>
                <a:gd name="connsiteX6" fmla="*/ 746493 w 1166196"/>
                <a:gd name="connsiteY6" fmla="*/ 1596648 h 1898273"/>
                <a:gd name="connsiteX7" fmla="*/ 716330 w 1166196"/>
                <a:gd name="connsiteY7" fmla="*/ 1560136 h 1898273"/>
                <a:gd name="connsiteX8" fmla="*/ 398830 w 1166196"/>
                <a:gd name="connsiteY8" fmla="*/ 1560136 h 1898273"/>
                <a:gd name="connsiteX9" fmla="*/ 360730 w 1166196"/>
                <a:gd name="connsiteY9" fmla="*/ 1522036 h 1898273"/>
                <a:gd name="connsiteX10" fmla="*/ 382955 w 1166196"/>
                <a:gd name="connsiteY10" fmla="*/ 1474411 h 1898273"/>
                <a:gd name="connsiteX11" fmla="*/ 797293 w 1166196"/>
                <a:gd name="connsiteY11" fmla="*/ 1474411 h 1898273"/>
                <a:gd name="connsiteX12" fmla="*/ 830630 w 1166196"/>
                <a:gd name="connsiteY12" fmla="*/ 1426786 h 1898273"/>
                <a:gd name="connsiteX13" fmla="*/ 795705 w 1166196"/>
                <a:gd name="connsiteY13" fmla="*/ 1383923 h 1898273"/>
                <a:gd name="connsiteX14" fmla="*/ 386130 w 1166196"/>
                <a:gd name="connsiteY14" fmla="*/ 1383923 h 1898273"/>
                <a:gd name="connsiteX15" fmla="*/ 322630 w 1166196"/>
                <a:gd name="connsiteY15" fmla="*/ 1352173 h 1898273"/>
                <a:gd name="connsiteX16" fmla="*/ 283340 w 1166196"/>
                <a:gd name="connsiteY16" fmla="*/ 1300183 h 1898273"/>
                <a:gd name="connsiteX17" fmla="*/ 271830 w 1166196"/>
                <a:gd name="connsiteY17" fmla="*/ 1207711 h 1898273"/>
                <a:gd name="connsiteX18" fmla="*/ 260718 w 1166196"/>
                <a:gd name="connsiteY18" fmla="*/ 1128336 h 1898273"/>
                <a:gd name="connsiteX19" fmla="*/ 205155 w 1166196"/>
                <a:gd name="connsiteY19" fmla="*/ 1037848 h 1898273"/>
                <a:gd name="connsiteX20" fmla="*/ 130543 w 1166196"/>
                <a:gd name="connsiteY20" fmla="*/ 955298 h 1898273"/>
                <a:gd name="connsiteX21" fmla="*/ 55137 w 1166196"/>
                <a:gd name="connsiteY21" fmla="*/ 845364 h 1898273"/>
                <a:gd name="connsiteX22" fmla="*/ 13861 w 1166196"/>
                <a:gd name="connsiteY22" fmla="*/ 735827 h 1898273"/>
                <a:gd name="connsiteX23" fmla="*/ 368 w 1166196"/>
                <a:gd name="connsiteY23" fmla="*/ 601286 h 1898273"/>
                <a:gd name="connsiteX24" fmla="*/ 11480 w 1166196"/>
                <a:gd name="connsiteY24" fmla="*/ 475873 h 1898273"/>
                <a:gd name="connsiteX25" fmla="*/ 81330 w 1166196"/>
                <a:gd name="connsiteY25" fmla="*/ 285373 h 1898273"/>
                <a:gd name="connsiteX26" fmla="*/ 265480 w 1166196"/>
                <a:gd name="connsiteY26" fmla="*/ 93285 h 1898273"/>
                <a:gd name="connsiteX27" fmla="*/ 519480 w 1166196"/>
                <a:gd name="connsiteY27" fmla="*/ 3990 h 1898273"/>
                <a:gd name="connsiteX28" fmla="*/ 705218 w 1166196"/>
                <a:gd name="connsiteY28" fmla="*/ 10736 h 1898273"/>
                <a:gd name="connsiteX29" fmla="*/ 943343 w 1166196"/>
                <a:gd name="connsiteY29" fmla="*/ 121861 h 1898273"/>
                <a:gd name="connsiteX30" fmla="*/ 1100505 w 1166196"/>
                <a:gd name="connsiteY30" fmla="*/ 310773 h 1898273"/>
                <a:gd name="connsiteX31" fmla="*/ 1162418 w 1166196"/>
                <a:gd name="connsiteY31" fmla="*/ 513973 h 1898273"/>
                <a:gd name="connsiteX32" fmla="*/ 1159243 w 1166196"/>
                <a:gd name="connsiteY32" fmla="*/ 683836 h 1898273"/>
                <a:gd name="connsiteX33" fmla="*/ 1090980 w 1166196"/>
                <a:gd name="connsiteY33" fmla="*/ 890211 h 1898273"/>
                <a:gd name="connsiteX34" fmla="*/ 957630 w 1166196"/>
                <a:gd name="connsiteY34" fmla="*/ 1058486 h 1898273"/>
                <a:gd name="connsiteX35" fmla="*/ 914768 w 1166196"/>
                <a:gd name="connsiteY35" fmla="*/ 1118811 h 1898273"/>
                <a:gd name="connsiteX36" fmla="*/ 905243 w 1166196"/>
                <a:gd name="connsiteY36" fmla="*/ 1175961 h 1898273"/>
                <a:gd name="connsiteX37" fmla="*/ 905243 w 1166196"/>
                <a:gd name="connsiteY37" fmla="*/ 1264861 h 1898273"/>
                <a:gd name="connsiteX38" fmla="*/ 868730 w 1166196"/>
                <a:gd name="connsiteY38" fmla="*/ 1301373 h 1898273"/>
                <a:gd name="connsiteX39" fmla="*/ 641718 w 1166196"/>
                <a:gd name="connsiteY39" fmla="*/ 1301373 h 1898273"/>
                <a:gd name="connsiteX40" fmla="*/ 590918 w 1166196"/>
                <a:gd name="connsiteY40" fmla="*/ 1279148 h 1898273"/>
                <a:gd name="connsiteX41" fmla="*/ 590918 w 1166196"/>
                <a:gd name="connsiteY41" fmla="*/ 1212473 h 1898273"/>
                <a:gd name="connsiteX0" fmla="*/ 584568 w 1170207"/>
                <a:gd name="connsiteY0" fmla="*/ 1898273 h 1898273"/>
                <a:gd name="connsiteX1" fmla="*/ 581393 w 1170207"/>
                <a:gd name="connsiteY1" fmla="*/ 1768098 h 1898273"/>
                <a:gd name="connsiteX2" fmla="*/ 508368 w 1170207"/>
                <a:gd name="connsiteY2" fmla="*/ 1723648 h 1898273"/>
                <a:gd name="connsiteX3" fmla="*/ 475030 w 1170207"/>
                <a:gd name="connsiteY3" fmla="*/ 1683961 h 1898273"/>
                <a:gd name="connsiteX4" fmla="*/ 505193 w 1170207"/>
                <a:gd name="connsiteY4" fmla="*/ 1644273 h 1898273"/>
                <a:gd name="connsiteX5" fmla="*/ 717918 w 1170207"/>
                <a:gd name="connsiteY5" fmla="*/ 1644273 h 1898273"/>
                <a:gd name="connsiteX6" fmla="*/ 746493 w 1170207"/>
                <a:gd name="connsiteY6" fmla="*/ 1596648 h 1898273"/>
                <a:gd name="connsiteX7" fmla="*/ 716330 w 1170207"/>
                <a:gd name="connsiteY7" fmla="*/ 1560136 h 1898273"/>
                <a:gd name="connsiteX8" fmla="*/ 398830 w 1170207"/>
                <a:gd name="connsiteY8" fmla="*/ 1560136 h 1898273"/>
                <a:gd name="connsiteX9" fmla="*/ 360730 w 1170207"/>
                <a:gd name="connsiteY9" fmla="*/ 1522036 h 1898273"/>
                <a:gd name="connsiteX10" fmla="*/ 382955 w 1170207"/>
                <a:gd name="connsiteY10" fmla="*/ 1474411 h 1898273"/>
                <a:gd name="connsiteX11" fmla="*/ 797293 w 1170207"/>
                <a:gd name="connsiteY11" fmla="*/ 1474411 h 1898273"/>
                <a:gd name="connsiteX12" fmla="*/ 830630 w 1170207"/>
                <a:gd name="connsiteY12" fmla="*/ 1426786 h 1898273"/>
                <a:gd name="connsiteX13" fmla="*/ 795705 w 1170207"/>
                <a:gd name="connsiteY13" fmla="*/ 1383923 h 1898273"/>
                <a:gd name="connsiteX14" fmla="*/ 386130 w 1170207"/>
                <a:gd name="connsiteY14" fmla="*/ 1383923 h 1898273"/>
                <a:gd name="connsiteX15" fmla="*/ 322630 w 1170207"/>
                <a:gd name="connsiteY15" fmla="*/ 1352173 h 1898273"/>
                <a:gd name="connsiteX16" fmla="*/ 283340 w 1170207"/>
                <a:gd name="connsiteY16" fmla="*/ 1300183 h 1898273"/>
                <a:gd name="connsiteX17" fmla="*/ 271830 w 1170207"/>
                <a:gd name="connsiteY17" fmla="*/ 1207711 h 1898273"/>
                <a:gd name="connsiteX18" fmla="*/ 260718 w 1170207"/>
                <a:gd name="connsiteY18" fmla="*/ 1128336 h 1898273"/>
                <a:gd name="connsiteX19" fmla="*/ 205155 w 1170207"/>
                <a:gd name="connsiteY19" fmla="*/ 1037848 h 1898273"/>
                <a:gd name="connsiteX20" fmla="*/ 130543 w 1170207"/>
                <a:gd name="connsiteY20" fmla="*/ 955298 h 1898273"/>
                <a:gd name="connsiteX21" fmla="*/ 55137 w 1170207"/>
                <a:gd name="connsiteY21" fmla="*/ 845364 h 1898273"/>
                <a:gd name="connsiteX22" fmla="*/ 13861 w 1170207"/>
                <a:gd name="connsiteY22" fmla="*/ 735827 h 1898273"/>
                <a:gd name="connsiteX23" fmla="*/ 368 w 1170207"/>
                <a:gd name="connsiteY23" fmla="*/ 601286 h 1898273"/>
                <a:gd name="connsiteX24" fmla="*/ 11480 w 1170207"/>
                <a:gd name="connsiteY24" fmla="*/ 475873 h 1898273"/>
                <a:gd name="connsiteX25" fmla="*/ 81330 w 1170207"/>
                <a:gd name="connsiteY25" fmla="*/ 285373 h 1898273"/>
                <a:gd name="connsiteX26" fmla="*/ 265480 w 1170207"/>
                <a:gd name="connsiteY26" fmla="*/ 93285 h 1898273"/>
                <a:gd name="connsiteX27" fmla="*/ 519480 w 1170207"/>
                <a:gd name="connsiteY27" fmla="*/ 3990 h 1898273"/>
                <a:gd name="connsiteX28" fmla="*/ 705218 w 1170207"/>
                <a:gd name="connsiteY28" fmla="*/ 10736 h 1898273"/>
                <a:gd name="connsiteX29" fmla="*/ 943343 w 1170207"/>
                <a:gd name="connsiteY29" fmla="*/ 121861 h 1898273"/>
                <a:gd name="connsiteX30" fmla="*/ 1100505 w 1170207"/>
                <a:gd name="connsiteY30" fmla="*/ 310773 h 1898273"/>
                <a:gd name="connsiteX31" fmla="*/ 1162418 w 1170207"/>
                <a:gd name="connsiteY31" fmla="*/ 513973 h 1898273"/>
                <a:gd name="connsiteX32" fmla="*/ 1159243 w 1170207"/>
                <a:gd name="connsiteY32" fmla="*/ 683836 h 1898273"/>
                <a:gd name="connsiteX33" fmla="*/ 1090980 w 1170207"/>
                <a:gd name="connsiteY33" fmla="*/ 890211 h 1898273"/>
                <a:gd name="connsiteX34" fmla="*/ 957630 w 1170207"/>
                <a:gd name="connsiteY34" fmla="*/ 1058486 h 1898273"/>
                <a:gd name="connsiteX35" fmla="*/ 914768 w 1170207"/>
                <a:gd name="connsiteY35" fmla="*/ 1118811 h 1898273"/>
                <a:gd name="connsiteX36" fmla="*/ 905243 w 1170207"/>
                <a:gd name="connsiteY36" fmla="*/ 1175961 h 1898273"/>
                <a:gd name="connsiteX37" fmla="*/ 905243 w 1170207"/>
                <a:gd name="connsiteY37" fmla="*/ 1264861 h 1898273"/>
                <a:gd name="connsiteX38" fmla="*/ 868730 w 1170207"/>
                <a:gd name="connsiteY38" fmla="*/ 1301373 h 1898273"/>
                <a:gd name="connsiteX39" fmla="*/ 641718 w 1170207"/>
                <a:gd name="connsiteY39" fmla="*/ 1301373 h 1898273"/>
                <a:gd name="connsiteX40" fmla="*/ 590918 w 1170207"/>
                <a:gd name="connsiteY40" fmla="*/ 1279148 h 1898273"/>
                <a:gd name="connsiteX41" fmla="*/ 590918 w 1170207"/>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67505"/>
                <a:gd name="connsiteY0" fmla="*/ 1898273 h 1898273"/>
                <a:gd name="connsiteX1" fmla="*/ 581393 w 1167505"/>
                <a:gd name="connsiteY1" fmla="*/ 1768098 h 1898273"/>
                <a:gd name="connsiteX2" fmla="*/ 508368 w 1167505"/>
                <a:gd name="connsiteY2" fmla="*/ 1723648 h 1898273"/>
                <a:gd name="connsiteX3" fmla="*/ 475030 w 1167505"/>
                <a:gd name="connsiteY3" fmla="*/ 1683961 h 1898273"/>
                <a:gd name="connsiteX4" fmla="*/ 505193 w 1167505"/>
                <a:gd name="connsiteY4" fmla="*/ 1644273 h 1898273"/>
                <a:gd name="connsiteX5" fmla="*/ 717918 w 1167505"/>
                <a:gd name="connsiteY5" fmla="*/ 1644273 h 1898273"/>
                <a:gd name="connsiteX6" fmla="*/ 746493 w 1167505"/>
                <a:gd name="connsiteY6" fmla="*/ 1596648 h 1898273"/>
                <a:gd name="connsiteX7" fmla="*/ 716330 w 1167505"/>
                <a:gd name="connsiteY7" fmla="*/ 1560136 h 1898273"/>
                <a:gd name="connsiteX8" fmla="*/ 398830 w 1167505"/>
                <a:gd name="connsiteY8" fmla="*/ 1560136 h 1898273"/>
                <a:gd name="connsiteX9" fmla="*/ 360730 w 1167505"/>
                <a:gd name="connsiteY9" fmla="*/ 1522036 h 1898273"/>
                <a:gd name="connsiteX10" fmla="*/ 382955 w 1167505"/>
                <a:gd name="connsiteY10" fmla="*/ 1474411 h 1898273"/>
                <a:gd name="connsiteX11" fmla="*/ 797293 w 1167505"/>
                <a:gd name="connsiteY11" fmla="*/ 1474411 h 1898273"/>
                <a:gd name="connsiteX12" fmla="*/ 830630 w 1167505"/>
                <a:gd name="connsiteY12" fmla="*/ 1426786 h 1898273"/>
                <a:gd name="connsiteX13" fmla="*/ 795705 w 1167505"/>
                <a:gd name="connsiteY13" fmla="*/ 1383923 h 1898273"/>
                <a:gd name="connsiteX14" fmla="*/ 386130 w 1167505"/>
                <a:gd name="connsiteY14" fmla="*/ 1383923 h 1898273"/>
                <a:gd name="connsiteX15" fmla="*/ 322630 w 1167505"/>
                <a:gd name="connsiteY15" fmla="*/ 1352173 h 1898273"/>
                <a:gd name="connsiteX16" fmla="*/ 283340 w 1167505"/>
                <a:gd name="connsiteY16" fmla="*/ 1300183 h 1898273"/>
                <a:gd name="connsiteX17" fmla="*/ 271830 w 1167505"/>
                <a:gd name="connsiteY17" fmla="*/ 1207711 h 1898273"/>
                <a:gd name="connsiteX18" fmla="*/ 260718 w 1167505"/>
                <a:gd name="connsiteY18" fmla="*/ 1128336 h 1898273"/>
                <a:gd name="connsiteX19" fmla="*/ 205155 w 1167505"/>
                <a:gd name="connsiteY19" fmla="*/ 1037848 h 1898273"/>
                <a:gd name="connsiteX20" fmla="*/ 130543 w 1167505"/>
                <a:gd name="connsiteY20" fmla="*/ 955298 h 1898273"/>
                <a:gd name="connsiteX21" fmla="*/ 55137 w 1167505"/>
                <a:gd name="connsiteY21" fmla="*/ 845364 h 1898273"/>
                <a:gd name="connsiteX22" fmla="*/ 13861 w 1167505"/>
                <a:gd name="connsiteY22" fmla="*/ 735827 h 1898273"/>
                <a:gd name="connsiteX23" fmla="*/ 368 w 1167505"/>
                <a:gd name="connsiteY23" fmla="*/ 601286 h 1898273"/>
                <a:gd name="connsiteX24" fmla="*/ 11480 w 1167505"/>
                <a:gd name="connsiteY24" fmla="*/ 475873 h 1898273"/>
                <a:gd name="connsiteX25" fmla="*/ 81330 w 1167505"/>
                <a:gd name="connsiteY25" fmla="*/ 285373 h 1898273"/>
                <a:gd name="connsiteX26" fmla="*/ 265480 w 1167505"/>
                <a:gd name="connsiteY26" fmla="*/ 93285 h 1898273"/>
                <a:gd name="connsiteX27" fmla="*/ 519480 w 1167505"/>
                <a:gd name="connsiteY27" fmla="*/ 3990 h 1898273"/>
                <a:gd name="connsiteX28" fmla="*/ 705218 w 1167505"/>
                <a:gd name="connsiteY28" fmla="*/ 10736 h 1898273"/>
                <a:gd name="connsiteX29" fmla="*/ 943343 w 1167505"/>
                <a:gd name="connsiteY29" fmla="*/ 121861 h 1898273"/>
                <a:gd name="connsiteX30" fmla="*/ 1100505 w 1167505"/>
                <a:gd name="connsiteY30" fmla="*/ 310773 h 1898273"/>
                <a:gd name="connsiteX31" fmla="*/ 1162418 w 1167505"/>
                <a:gd name="connsiteY31" fmla="*/ 513973 h 1898273"/>
                <a:gd name="connsiteX32" fmla="*/ 1159243 w 1167505"/>
                <a:gd name="connsiteY32" fmla="*/ 683836 h 1898273"/>
                <a:gd name="connsiteX33" fmla="*/ 1090980 w 1167505"/>
                <a:gd name="connsiteY33" fmla="*/ 890211 h 1898273"/>
                <a:gd name="connsiteX34" fmla="*/ 957630 w 1167505"/>
                <a:gd name="connsiteY34" fmla="*/ 1058486 h 1898273"/>
                <a:gd name="connsiteX35" fmla="*/ 914768 w 1167505"/>
                <a:gd name="connsiteY35" fmla="*/ 1118811 h 1898273"/>
                <a:gd name="connsiteX36" fmla="*/ 905243 w 1167505"/>
                <a:gd name="connsiteY36" fmla="*/ 1175961 h 1898273"/>
                <a:gd name="connsiteX37" fmla="*/ 905243 w 1167505"/>
                <a:gd name="connsiteY37" fmla="*/ 1264861 h 1898273"/>
                <a:gd name="connsiteX38" fmla="*/ 868730 w 1167505"/>
                <a:gd name="connsiteY38" fmla="*/ 1301373 h 1898273"/>
                <a:gd name="connsiteX39" fmla="*/ 641718 w 1167505"/>
                <a:gd name="connsiteY39" fmla="*/ 1301373 h 1898273"/>
                <a:gd name="connsiteX40" fmla="*/ 590918 w 1167505"/>
                <a:gd name="connsiteY40" fmla="*/ 1279148 h 1898273"/>
                <a:gd name="connsiteX41" fmla="*/ 590918 w 1167505"/>
                <a:gd name="connsiteY41" fmla="*/ 1212473 h 1898273"/>
                <a:gd name="connsiteX0" fmla="*/ 584568 w 1170104"/>
                <a:gd name="connsiteY0" fmla="*/ 1898273 h 1898273"/>
                <a:gd name="connsiteX1" fmla="*/ 581393 w 1170104"/>
                <a:gd name="connsiteY1" fmla="*/ 1768098 h 1898273"/>
                <a:gd name="connsiteX2" fmla="*/ 508368 w 1170104"/>
                <a:gd name="connsiteY2" fmla="*/ 1723648 h 1898273"/>
                <a:gd name="connsiteX3" fmla="*/ 475030 w 1170104"/>
                <a:gd name="connsiteY3" fmla="*/ 1683961 h 1898273"/>
                <a:gd name="connsiteX4" fmla="*/ 505193 w 1170104"/>
                <a:gd name="connsiteY4" fmla="*/ 1644273 h 1898273"/>
                <a:gd name="connsiteX5" fmla="*/ 717918 w 1170104"/>
                <a:gd name="connsiteY5" fmla="*/ 1644273 h 1898273"/>
                <a:gd name="connsiteX6" fmla="*/ 746493 w 1170104"/>
                <a:gd name="connsiteY6" fmla="*/ 1596648 h 1898273"/>
                <a:gd name="connsiteX7" fmla="*/ 716330 w 1170104"/>
                <a:gd name="connsiteY7" fmla="*/ 1560136 h 1898273"/>
                <a:gd name="connsiteX8" fmla="*/ 398830 w 1170104"/>
                <a:gd name="connsiteY8" fmla="*/ 1560136 h 1898273"/>
                <a:gd name="connsiteX9" fmla="*/ 360730 w 1170104"/>
                <a:gd name="connsiteY9" fmla="*/ 1522036 h 1898273"/>
                <a:gd name="connsiteX10" fmla="*/ 382955 w 1170104"/>
                <a:gd name="connsiteY10" fmla="*/ 1474411 h 1898273"/>
                <a:gd name="connsiteX11" fmla="*/ 797293 w 1170104"/>
                <a:gd name="connsiteY11" fmla="*/ 1474411 h 1898273"/>
                <a:gd name="connsiteX12" fmla="*/ 830630 w 1170104"/>
                <a:gd name="connsiteY12" fmla="*/ 1426786 h 1898273"/>
                <a:gd name="connsiteX13" fmla="*/ 795705 w 1170104"/>
                <a:gd name="connsiteY13" fmla="*/ 1383923 h 1898273"/>
                <a:gd name="connsiteX14" fmla="*/ 386130 w 1170104"/>
                <a:gd name="connsiteY14" fmla="*/ 1383923 h 1898273"/>
                <a:gd name="connsiteX15" fmla="*/ 322630 w 1170104"/>
                <a:gd name="connsiteY15" fmla="*/ 1352173 h 1898273"/>
                <a:gd name="connsiteX16" fmla="*/ 283340 w 1170104"/>
                <a:gd name="connsiteY16" fmla="*/ 1300183 h 1898273"/>
                <a:gd name="connsiteX17" fmla="*/ 271830 w 1170104"/>
                <a:gd name="connsiteY17" fmla="*/ 1207711 h 1898273"/>
                <a:gd name="connsiteX18" fmla="*/ 260718 w 1170104"/>
                <a:gd name="connsiteY18" fmla="*/ 1128336 h 1898273"/>
                <a:gd name="connsiteX19" fmla="*/ 205155 w 1170104"/>
                <a:gd name="connsiteY19" fmla="*/ 1037848 h 1898273"/>
                <a:gd name="connsiteX20" fmla="*/ 130543 w 1170104"/>
                <a:gd name="connsiteY20" fmla="*/ 955298 h 1898273"/>
                <a:gd name="connsiteX21" fmla="*/ 55137 w 1170104"/>
                <a:gd name="connsiteY21" fmla="*/ 845364 h 1898273"/>
                <a:gd name="connsiteX22" fmla="*/ 13861 w 1170104"/>
                <a:gd name="connsiteY22" fmla="*/ 735827 h 1898273"/>
                <a:gd name="connsiteX23" fmla="*/ 368 w 1170104"/>
                <a:gd name="connsiteY23" fmla="*/ 601286 h 1898273"/>
                <a:gd name="connsiteX24" fmla="*/ 11480 w 1170104"/>
                <a:gd name="connsiteY24" fmla="*/ 475873 h 1898273"/>
                <a:gd name="connsiteX25" fmla="*/ 81330 w 1170104"/>
                <a:gd name="connsiteY25" fmla="*/ 285373 h 1898273"/>
                <a:gd name="connsiteX26" fmla="*/ 265480 w 1170104"/>
                <a:gd name="connsiteY26" fmla="*/ 93285 h 1898273"/>
                <a:gd name="connsiteX27" fmla="*/ 519480 w 1170104"/>
                <a:gd name="connsiteY27" fmla="*/ 3990 h 1898273"/>
                <a:gd name="connsiteX28" fmla="*/ 705218 w 1170104"/>
                <a:gd name="connsiteY28" fmla="*/ 10736 h 1898273"/>
                <a:gd name="connsiteX29" fmla="*/ 943343 w 1170104"/>
                <a:gd name="connsiteY29" fmla="*/ 121861 h 1898273"/>
                <a:gd name="connsiteX30" fmla="*/ 1100505 w 1170104"/>
                <a:gd name="connsiteY30" fmla="*/ 310773 h 1898273"/>
                <a:gd name="connsiteX31" fmla="*/ 1162418 w 1170104"/>
                <a:gd name="connsiteY31" fmla="*/ 513973 h 1898273"/>
                <a:gd name="connsiteX32" fmla="*/ 1165196 w 1170104"/>
                <a:gd name="connsiteY32" fmla="*/ 683836 h 1898273"/>
                <a:gd name="connsiteX33" fmla="*/ 1090980 w 1170104"/>
                <a:gd name="connsiteY33" fmla="*/ 890211 h 1898273"/>
                <a:gd name="connsiteX34" fmla="*/ 957630 w 1170104"/>
                <a:gd name="connsiteY34" fmla="*/ 1058486 h 1898273"/>
                <a:gd name="connsiteX35" fmla="*/ 914768 w 1170104"/>
                <a:gd name="connsiteY35" fmla="*/ 1118811 h 1898273"/>
                <a:gd name="connsiteX36" fmla="*/ 905243 w 1170104"/>
                <a:gd name="connsiteY36" fmla="*/ 1175961 h 1898273"/>
                <a:gd name="connsiteX37" fmla="*/ 905243 w 1170104"/>
                <a:gd name="connsiteY37" fmla="*/ 1264861 h 1898273"/>
                <a:gd name="connsiteX38" fmla="*/ 868730 w 1170104"/>
                <a:gd name="connsiteY38" fmla="*/ 1301373 h 1898273"/>
                <a:gd name="connsiteX39" fmla="*/ 641718 w 1170104"/>
                <a:gd name="connsiteY39" fmla="*/ 1301373 h 1898273"/>
                <a:gd name="connsiteX40" fmla="*/ 590918 w 1170104"/>
                <a:gd name="connsiteY40" fmla="*/ 1279148 h 1898273"/>
                <a:gd name="connsiteX41" fmla="*/ 590918 w 1170104"/>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90980 w 1167899"/>
                <a:gd name="connsiteY33" fmla="*/ 890211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7630 w 1167899"/>
                <a:gd name="connsiteY34" fmla="*/ 1058486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5243 w 1167899"/>
                <a:gd name="connsiteY37" fmla="*/ 1264861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902862 w 1167899"/>
                <a:gd name="connsiteY37" fmla="*/ 1261289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5243 w 1167899"/>
                <a:gd name="connsiteY36" fmla="*/ 1175961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2955 w 1167899"/>
                <a:gd name="connsiteY10" fmla="*/ 1474411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5030 w 1167899"/>
                <a:gd name="connsiteY3" fmla="*/ 1683961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8368 w 1167899"/>
                <a:gd name="connsiteY2" fmla="*/ 1723648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00033 w 1167899"/>
                <a:gd name="connsiteY2" fmla="*/ 1728411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6493 w 1167899"/>
                <a:gd name="connsiteY6" fmla="*/ 1596648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60718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9527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30630 w 1167899"/>
                <a:gd name="connsiteY12" fmla="*/ 1426786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0136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68730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2868 w 1167899"/>
                <a:gd name="connsiteY34" fmla="*/ 1056105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7899"/>
                <a:gd name="connsiteY0" fmla="*/ 1898273 h 1898273"/>
                <a:gd name="connsiteX1" fmla="*/ 581393 w 1167899"/>
                <a:gd name="connsiteY1" fmla="*/ 1768098 h 1898273"/>
                <a:gd name="connsiteX2" fmla="*/ 513130 w 1167899"/>
                <a:gd name="connsiteY2" fmla="*/ 1726030 h 1898273"/>
                <a:gd name="connsiteX3" fmla="*/ 470268 w 1167899"/>
                <a:gd name="connsiteY3" fmla="*/ 1680389 h 1898273"/>
                <a:gd name="connsiteX4" fmla="*/ 505193 w 1167899"/>
                <a:gd name="connsiteY4" fmla="*/ 1644273 h 1898273"/>
                <a:gd name="connsiteX5" fmla="*/ 717918 w 1167899"/>
                <a:gd name="connsiteY5" fmla="*/ 1644273 h 1898273"/>
                <a:gd name="connsiteX6" fmla="*/ 748874 w 1167899"/>
                <a:gd name="connsiteY6" fmla="*/ 1603792 h 1898273"/>
                <a:gd name="connsiteX7" fmla="*/ 716330 w 1167899"/>
                <a:gd name="connsiteY7" fmla="*/ 1561327 h 1898273"/>
                <a:gd name="connsiteX8" fmla="*/ 398830 w 1167899"/>
                <a:gd name="connsiteY8" fmla="*/ 1560136 h 1898273"/>
                <a:gd name="connsiteX9" fmla="*/ 360730 w 1167899"/>
                <a:gd name="connsiteY9" fmla="*/ 1522036 h 1898273"/>
                <a:gd name="connsiteX10" fmla="*/ 387717 w 1167899"/>
                <a:gd name="connsiteY10" fmla="*/ 1476793 h 1898273"/>
                <a:gd name="connsiteX11" fmla="*/ 797293 w 1167899"/>
                <a:gd name="connsiteY11" fmla="*/ 1474411 h 1898273"/>
                <a:gd name="connsiteX12" fmla="*/ 828249 w 1167899"/>
                <a:gd name="connsiteY12" fmla="*/ 1425595 h 1898273"/>
                <a:gd name="connsiteX13" fmla="*/ 795705 w 1167899"/>
                <a:gd name="connsiteY13" fmla="*/ 1383923 h 1898273"/>
                <a:gd name="connsiteX14" fmla="*/ 386130 w 1167899"/>
                <a:gd name="connsiteY14" fmla="*/ 1383923 h 1898273"/>
                <a:gd name="connsiteX15" fmla="*/ 322630 w 1167899"/>
                <a:gd name="connsiteY15" fmla="*/ 1352173 h 1898273"/>
                <a:gd name="connsiteX16" fmla="*/ 283340 w 1167899"/>
                <a:gd name="connsiteY16" fmla="*/ 1300183 h 1898273"/>
                <a:gd name="connsiteX17" fmla="*/ 271830 w 1167899"/>
                <a:gd name="connsiteY17" fmla="*/ 1207711 h 1898273"/>
                <a:gd name="connsiteX18" fmla="*/ 255955 w 1167899"/>
                <a:gd name="connsiteY18" fmla="*/ 1128336 h 1898273"/>
                <a:gd name="connsiteX19" fmla="*/ 205155 w 1167899"/>
                <a:gd name="connsiteY19" fmla="*/ 1037848 h 1898273"/>
                <a:gd name="connsiteX20" fmla="*/ 130543 w 1167899"/>
                <a:gd name="connsiteY20" fmla="*/ 955298 h 1898273"/>
                <a:gd name="connsiteX21" fmla="*/ 55137 w 1167899"/>
                <a:gd name="connsiteY21" fmla="*/ 845364 h 1898273"/>
                <a:gd name="connsiteX22" fmla="*/ 13861 w 1167899"/>
                <a:gd name="connsiteY22" fmla="*/ 735827 h 1898273"/>
                <a:gd name="connsiteX23" fmla="*/ 368 w 1167899"/>
                <a:gd name="connsiteY23" fmla="*/ 601286 h 1898273"/>
                <a:gd name="connsiteX24" fmla="*/ 11480 w 1167899"/>
                <a:gd name="connsiteY24" fmla="*/ 475873 h 1898273"/>
                <a:gd name="connsiteX25" fmla="*/ 81330 w 1167899"/>
                <a:gd name="connsiteY25" fmla="*/ 285373 h 1898273"/>
                <a:gd name="connsiteX26" fmla="*/ 265480 w 1167899"/>
                <a:gd name="connsiteY26" fmla="*/ 93285 h 1898273"/>
                <a:gd name="connsiteX27" fmla="*/ 519480 w 1167899"/>
                <a:gd name="connsiteY27" fmla="*/ 3990 h 1898273"/>
                <a:gd name="connsiteX28" fmla="*/ 705218 w 1167899"/>
                <a:gd name="connsiteY28" fmla="*/ 10736 h 1898273"/>
                <a:gd name="connsiteX29" fmla="*/ 943343 w 1167899"/>
                <a:gd name="connsiteY29" fmla="*/ 121861 h 1898273"/>
                <a:gd name="connsiteX30" fmla="*/ 1100505 w 1167899"/>
                <a:gd name="connsiteY30" fmla="*/ 310773 h 1898273"/>
                <a:gd name="connsiteX31" fmla="*/ 1162418 w 1167899"/>
                <a:gd name="connsiteY31" fmla="*/ 513973 h 1898273"/>
                <a:gd name="connsiteX32" fmla="*/ 1165196 w 1167899"/>
                <a:gd name="connsiteY32" fmla="*/ 683836 h 1898273"/>
                <a:gd name="connsiteX33" fmla="*/ 1085027 w 1167899"/>
                <a:gd name="connsiteY33" fmla="*/ 889020 h 1898273"/>
                <a:gd name="connsiteX34" fmla="*/ 950487 w 1167899"/>
                <a:gd name="connsiteY34" fmla="*/ 1054914 h 1898273"/>
                <a:gd name="connsiteX35" fmla="*/ 914768 w 1167899"/>
                <a:gd name="connsiteY35" fmla="*/ 1118811 h 1898273"/>
                <a:gd name="connsiteX36" fmla="*/ 900480 w 1167899"/>
                <a:gd name="connsiteY36" fmla="*/ 1177152 h 1898273"/>
                <a:gd name="connsiteX37" fmla="*/ 898100 w 1167899"/>
                <a:gd name="connsiteY37" fmla="*/ 1258908 h 1898273"/>
                <a:gd name="connsiteX38" fmla="*/ 858014 w 1167899"/>
                <a:gd name="connsiteY38" fmla="*/ 1301373 h 1898273"/>
                <a:gd name="connsiteX39" fmla="*/ 641718 w 1167899"/>
                <a:gd name="connsiteY39" fmla="*/ 1301373 h 1898273"/>
                <a:gd name="connsiteX40" fmla="*/ 590918 w 1167899"/>
                <a:gd name="connsiteY40" fmla="*/ 1279148 h 1898273"/>
                <a:gd name="connsiteX41" fmla="*/ 590918 w 1167899"/>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69166"/>
                <a:gd name="connsiteY0" fmla="*/ 1898273 h 1898273"/>
                <a:gd name="connsiteX1" fmla="*/ 581393 w 1169166"/>
                <a:gd name="connsiteY1" fmla="*/ 1768098 h 1898273"/>
                <a:gd name="connsiteX2" fmla="*/ 513130 w 1169166"/>
                <a:gd name="connsiteY2" fmla="*/ 1726030 h 1898273"/>
                <a:gd name="connsiteX3" fmla="*/ 470268 w 1169166"/>
                <a:gd name="connsiteY3" fmla="*/ 1680389 h 1898273"/>
                <a:gd name="connsiteX4" fmla="*/ 505193 w 1169166"/>
                <a:gd name="connsiteY4" fmla="*/ 1644273 h 1898273"/>
                <a:gd name="connsiteX5" fmla="*/ 717918 w 1169166"/>
                <a:gd name="connsiteY5" fmla="*/ 1644273 h 1898273"/>
                <a:gd name="connsiteX6" fmla="*/ 748874 w 1169166"/>
                <a:gd name="connsiteY6" fmla="*/ 1603792 h 1898273"/>
                <a:gd name="connsiteX7" fmla="*/ 716330 w 1169166"/>
                <a:gd name="connsiteY7" fmla="*/ 1561327 h 1898273"/>
                <a:gd name="connsiteX8" fmla="*/ 398830 w 1169166"/>
                <a:gd name="connsiteY8" fmla="*/ 1560136 h 1898273"/>
                <a:gd name="connsiteX9" fmla="*/ 360730 w 1169166"/>
                <a:gd name="connsiteY9" fmla="*/ 1522036 h 1898273"/>
                <a:gd name="connsiteX10" fmla="*/ 387717 w 1169166"/>
                <a:gd name="connsiteY10" fmla="*/ 1476793 h 1898273"/>
                <a:gd name="connsiteX11" fmla="*/ 797293 w 1169166"/>
                <a:gd name="connsiteY11" fmla="*/ 1474411 h 1898273"/>
                <a:gd name="connsiteX12" fmla="*/ 828249 w 1169166"/>
                <a:gd name="connsiteY12" fmla="*/ 1425595 h 1898273"/>
                <a:gd name="connsiteX13" fmla="*/ 795705 w 1169166"/>
                <a:gd name="connsiteY13" fmla="*/ 1383923 h 1898273"/>
                <a:gd name="connsiteX14" fmla="*/ 386130 w 1169166"/>
                <a:gd name="connsiteY14" fmla="*/ 1383923 h 1898273"/>
                <a:gd name="connsiteX15" fmla="*/ 322630 w 1169166"/>
                <a:gd name="connsiteY15" fmla="*/ 1352173 h 1898273"/>
                <a:gd name="connsiteX16" fmla="*/ 283340 w 1169166"/>
                <a:gd name="connsiteY16" fmla="*/ 1300183 h 1898273"/>
                <a:gd name="connsiteX17" fmla="*/ 271830 w 1169166"/>
                <a:gd name="connsiteY17" fmla="*/ 1207711 h 1898273"/>
                <a:gd name="connsiteX18" fmla="*/ 255955 w 1169166"/>
                <a:gd name="connsiteY18" fmla="*/ 1128336 h 1898273"/>
                <a:gd name="connsiteX19" fmla="*/ 205155 w 1169166"/>
                <a:gd name="connsiteY19" fmla="*/ 1037848 h 1898273"/>
                <a:gd name="connsiteX20" fmla="*/ 130543 w 1169166"/>
                <a:gd name="connsiteY20" fmla="*/ 955298 h 1898273"/>
                <a:gd name="connsiteX21" fmla="*/ 55137 w 1169166"/>
                <a:gd name="connsiteY21" fmla="*/ 845364 h 1898273"/>
                <a:gd name="connsiteX22" fmla="*/ 13861 w 1169166"/>
                <a:gd name="connsiteY22" fmla="*/ 735827 h 1898273"/>
                <a:gd name="connsiteX23" fmla="*/ 368 w 1169166"/>
                <a:gd name="connsiteY23" fmla="*/ 601286 h 1898273"/>
                <a:gd name="connsiteX24" fmla="*/ 11480 w 1169166"/>
                <a:gd name="connsiteY24" fmla="*/ 475873 h 1898273"/>
                <a:gd name="connsiteX25" fmla="*/ 81330 w 1169166"/>
                <a:gd name="connsiteY25" fmla="*/ 285373 h 1898273"/>
                <a:gd name="connsiteX26" fmla="*/ 265480 w 1169166"/>
                <a:gd name="connsiteY26" fmla="*/ 93285 h 1898273"/>
                <a:gd name="connsiteX27" fmla="*/ 519480 w 1169166"/>
                <a:gd name="connsiteY27" fmla="*/ 3990 h 1898273"/>
                <a:gd name="connsiteX28" fmla="*/ 705218 w 1169166"/>
                <a:gd name="connsiteY28" fmla="*/ 10736 h 1898273"/>
                <a:gd name="connsiteX29" fmla="*/ 943343 w 1169166"/>
                <a:gd name="connsiteY29" fmla="*/ 121861 h 1898273"/>
                <a:gd name="connsiteX30" fmla="*/ 1100505 w 1169166"/>
                <a:gd name="connsiteY30" fmla="*/ 310773 h 1898273"/>
                <a:gd name="connsiteX31" fmla="*/ 1162418 w 1169166"/>
                <a:gd name="connsiteY31" fmla="*/ 513973 h 1898273"/>
                <a:gd name="connsiteX32" fmla="*/ 1165196 w 1169166"/>
                <a:gd name="connsiteY32" fmla="*/ 683836 h 1898273"/>
                <a:gd name="connsiteX33" fmla="*/ 1085027 w 1169166"/>
                <a:gd name="connsiteY33" fmla="*/ 889020 h 1898273"/>
                <a:gd name="connsiteX34" fmla="*/ 950487 w 1169166"/>
                <a:gd name="connsiteY34" fmla="*/ 1054914 h 1898273"/>
                <a:gd name="connsiteX35" fmla="*/ 914768 w 1169166"/>
                <a:gd name="connsiteY35" fmla="*/ 1118811 h 1898273"/>
                <a:gd name="connsiteX36" fmla="*/ 900480 w 1169166"/>
                <a:gd name="connsiteY36" fmla="*/ 1177152 h 1898273"/>
                <a:gd name="connsiteX37" fmla="*/ 898100 w 1169166"/>
                <a:gd name="connsiteY37" fmla="*/ 1258908 h 1898273"/>
                <a:gd name="connsiteX38" fmla="*/ 858014 w 1169166"/>
                <a:gd name="connsiteY38" fmla="*/ 1301373 h 1898273"/>
                <a:gd name="connsiteX39" fmla="*/ 641718 w 1169166"/>
                <a:gd name="connsiteY39" fmla="*/ 1301373 h 1898273"/>
                <a:gd name="connsiteX40" fmla="*/ 590918 w 1169166"/>
                <a:gd name="connsiteY40" fmla="*/ 1279148 h 1898273"/>
                <a:gd name="connsiteX41" fmla="*/ 590918 w 1169166"/>
                <a:gd name="connsiteY41" fmla="*/ 1212473 h 1898273"/>
                <a:gd name="connsiteX0" fmla="*/ 584568 w 1170467"/>
                <a:gd name="connsiteY0" fmla="*/ 1898273 h 1898273"/>
                <a:gd name="connsiteX1" fmla="*/ 581393 w 1170467"/>
                <a:gd name="connsiteY1" fmla="*/ 1768098 h 1898273"/>
                <a:gd name="connsiteX2" fmla="*/ 513130 w 1170467"/>
                <a:gd name="connsiteY2" fmla="*/ 1726030 h 1898273"/>
                <a:gd name="connsiteX3" fmla="*/ 470268 w 1170467"/>
                <a:gd name="connsiteY3" fmla="*/ 1680389 h 1898273"/>
                <a:gd name="connsiteX4" fmla="*/ 505193 w 1170467"/>
                <a:gd name="connsiteY4" fmla="*/ 1644273 h 1898273"/>
                <a:gd name="connsiteX5" fmla="*/ 717918 w 1170467"/>
                <a:gd name="connsiteY5" fmla="*/ 1644273 h 1898273"/>
                <a:gd name="connsiteX6" fmla="*/ 748874 w 1170467"/>
                <a:gd name="connsiteY6" fmla="*/ 1603792 h 1898273"/>
                <a:gd name="connsiteX7" fmla="*/ 716330 w 1170467"/>
                <a:gd name="connsiteY7" fmla="*/ 1561327 h 1898273"/>
                <a:gd name="connsiteX8" fmla="*/ 398830 w 1170467"/>
                <a:gd name="connsiteY8" fmla="*/ 1560136 h 1898273"/>
                <a:gd name="connsiteX9" fmla="*/ 360730 w 1170467"/>
                <a:gd name="connsiteY9" fmla="*/ 1522036 h 1898273"/>
                <a:gd name="connsiteX10" fmla="*/ 387717 w 1170467"/>
                <a:gd name="connsiteY10" fmla="*/ 1476793 h 1898273"/>
                <a:gd name="connsiteX11" fmla="*/ 797293 w 1170467"/>
                <a:gd name="connsiteY11" fmla="*/ 1474411 h 1898273"/>
                <a:gd name="connsiteX12" fmla="*/ 828249 w 1170467"/>
                <a:gd name="connsiteY12" fmla="*/ 1425595 h 1898273"/>
                <a:gd name="connsiteX13" fmla="*/ 795705 w 1170467"/>
                <a:gd name="connsiteY13" fmla="*/ 1383923 h 1898273"/>
                <a:gd name="connsiteX14" fmla="*/ 386130 w 1170467"/>
                <a:gd name="connsiteY14" fmla="*/ 1383923 h 1898273"/>
                <a:gd name="connsiteX15" fmla="*/ 322630 w 1170467"/>
                <a:gd name="connsiteY15" fmla="*/ 1352173 h 1898273"/>
                <a:gd name="connsiteX16" fmla="*/ 283340 w 1170467"/>
                <a:gd name="connsiteY16" fmla="*/ 1300183 h 1898273"/>
                <a:gd name="connsiteX17" fmla="*/ 271830 w 1170467"/>
                <a:gd name="connsiteY17" fmla="*/ 1207711 h 1898273"/>
                <a:gd name="connsiteX18" fmla="*/ 255955 w 1170467"/>
                <a:gd name="connsiteY18" fmla="*/ 1128336 h 1898273"/>
                <a:gd name="connsiteX19" fmla="*/ 205155 w 1170467"/>
                <a:gd name="connsiteY19" fmla="*/ 1037848 h 1898273"/>
                <a:gd name="connsiteX20" fmla="*/ 130543 w 1170467"/>
                <a:gd name="connsiteY20" fmla="*/ 955298 h 1898273"/>
                <a:gd name="connsiteX21" fmla="*/ 55137 w 1170467"/>
                <a:gd name="connsiteY21" fmla="*/ 845364 h 1898273"/>
                <a:gd name="connsiteX22" fmla="*/ 13861 w 1170467"/>
                <a:gd name="connsiteY22" fmla="*/ 735827 h 1898273"/>
                <a:gd name="connsiteX23" fmla="*/ 368 w 1170467"/>
                <a:gd name="connsiteY23" fmla="*/ 601286 h 1898273"/>
                <a:gd name="connsiteX24" fmla="*/ 11480 w 1170467"/>
                <a:gd name="connsiteY24" fmla="*/ 475873 h 1898273"/>
                <a:gd name="connsiteX25" fmla="*/ 81330 w 1170467"/>
                <a:gd name="connsiteY25" fmla="*/ 285373 h 1898273"/>
                <a:gd name="connsiteX26" fmla="*/ 265480 w 1170467"/>
                <a:gd name="connsiteY26" fmla="*/ 93285 h 1898273"/>
                <a:gd name="connsiteX27" fmla="*/ 519480 w 1170467"/>
                <a:gd name="connsiteY27" fmla="*/ 3990 h 1898273"/>
                <a:gd name="connsiteX28" fmla="*/ 705218 w 1170467"/>
                <a:gd name="connsiteY28" fmla="*/ 10736 h 1898273"/>
                <a:gd name="connsiteX29" fmla="*/ 943343 w 1170467"/>
                <a:gd name="connsiteY29" fmla="*/ 121861 h 1898273"/>
                <a:gd name="connsiteX30" fmla="*/ 1100505 w 1170467"/>
                <a:gd name="connsiteY30" fmla="*/ 310773 h 1898273"/>
                <a:gd name="connsiteX31" fmla="*/ 1164799 w 1170467"/>
                <a:gd name="connsiteY31" fmla="*/ 512783 h 1898273"/>
                <a:gd name="connsiteX32" fmla="*/ 1165196 w 1170467"/>
                <a:gd name="connsiteY32" fmla="*/ 683836 h 1898273"/>
                <a:gd name="connsiteX33" fmla="*/ 1085027 w 1170467"/>
                <a:gd name="connsiteY33" fmla="*/ 889020 h 1898273"/>
                <a:gd name="connsiteX34" fmla="*/ 950487 w 1170467"/>
                <a:gd name="connsiteY34" fmla="*/ 1054914 h 1898273"/>
                <a:gd name="connsiteX35" fmla="*/ 914768 w 1170467"/>
                <a:gd name="connsiteY35" fmla="*/ 1118811 h 1898273"/>
                <a:gd name="connsiteX36" fmla="*/ 900480 w 1170467"/>
                <a:gd name="connsiteY36" fmla="*/ 1177152 h 1898273"/>
                <a:gd name="connsiteX37" fmla="*/ 898100 w 1170467"/>
                <a:gd name="connsiteY37" fmla="*/ 1258908 h 1898273"/>
                <a:gd name="connsiteX38" fmla="*/ 858014 w 1170467"/>
                <a:gd name="connsiteY38" fmla="*/ 1301373 h 1898273"/>
                <a:gd name="connsiteX39" fmla="*/ 641718 w 1170467"/>
                <a:gd name="connsiteY39" fmla="*/ 1301373 h 1898273"/>
                <a:gd name="connsiteX40" fmla="*/ 590918 w 1170467"/>
                <a:gd name="connsiteY40" fmla="*/ 1279148 h 1898273"/>
                <a:gd name="connsiteX41" fmla="*/ 590918 w 1170467"/>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88142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 name="connsiteX0" fmla="*/ 584993 w 1170892"/>
                <a:gd name="connsiteY0" fmla="*/ 1898273 h 1898273"/>
                <a:gd name="connsiteX1" fmla="*/ 581818 w 1170892"/>
                <a:gd name="connsiteY1" fmla="*/ 1768098 h 1898273"/>
                <a:gd name="connsiteX2" fmla="*/ 513555 w 1170892"/>
                <a:gd name="connsiteY2" fmla="*/ 1726030 h 1898273"/>
                <a:gd name="connsiteX3" fmla="*/ 470693 w 1170892"/>
                <a:gd name="connsiteY3" fmla="*/ 1680389 h 1898273"/>
                <a:gd name="connsiteX4" fmla="*/ 505618 w 1170892"/>
                <a:gd name="connsiteY4" fmla="*/ 1644273 h 1898273"/>
                <a:gd name="connsiteX5" fmla="*/ 718343 w 1170892"/>
                <a:gd name="connsiteY5" fmla="*/ 1644273 h 1898273"/>
                <a:gd name="connsiteX6" fmla="*/ 749299 w 1170892"/>
                <a:gd name="connsiteY6" fmla="*/ 1603792 h 1898273"/>
                <a:gd name="connsiteX7" fmla="*/ 716755 w 1170892"/>
                <a:gd name="connsiteY7" fmla="*/ 1561327 h 1898273"/>
                <a:gd name="connsiteX8" fmla="*/ 399255 w 1170892"/>
                <a:gd name="connsiteY8" fmla="*/ 1560136 h 1898273"/>
                <a:gd name="connsiteX9" fmla="*/ 361155 w 1170892"/>
                <a:gd name="connsiteY9" fmla="*/ 1522036 h 1898273"/>
                <a:gd name="connsiteX10" fmla="*/ 394095 w 1170892"/>
                <a:gd name="connsiteY10" fmla="*/ 1476793 h 1898273"/>
                <a:gd name="connsiteX11" fmla="*/ 797718 w 1170892"/>
                <a:gd name="connsiteY11" fmla="*/ 1474411 h 1898273"/>
                <a:gd name="connsiteX12" fmla="*/ 828674 w 1170892"/>
                <a:gd name="connsiteY12" fmla="*/ 1425595 h 1898273"/>
                <a:gd name="connsiteX13" fmla="*/ 796130 w 1170892"/>
                <a:gd name="connsiteY13" fmla="*/ 1383923 h 1898273"/>
                <a:gd name="connsiteX14" fmla="*/ 386555 w 1170892"/>
                <a:gd name="connsiteY14" fmla="*/ 1383923 h 1898273"/>
                <a:gd name="connsiteX15" fmla="*/ 323055 w 1170892"/>
                <a:gd name="connsiteY15" fmla="*/ 1352173 h 1898273"/>
                <a:gd name="connsiteX16" fmla="*/ 283765 w 1170892"/>
                <a:gd name="connsiteY16" fmla="*/ 1300183 h 1898273"/>
                <a:gd name="connsiteX17" fmla="*/ 272255 w 1170892"/>
                <a:gd name="connsiteY17" fmla="*/ 1207711 h 1898273"/>
                <a:gd name="connsiteX18" fmla="*/ 256380 w 1170892"/>
                <a:gd name="connsiteY18" fmla="*/ 1128336 h 1898273"/>
                <a:gd name="connsiteX19" fmla="*/ 205580 w 1170892"/>
                <a:gd name="connsiteY19" fmla="*/ 1037848 h 1898273"/>
                <a:gd name="connsiteX20" fmla="*/ 130968 w 1170892"/>
                <a:gd name="connsiteY20" fmla="*/ 955298 h 1898273"/>
                <a:gd name="connsiteX21" fmla="*/ 55562 w 1170892"/>
                <a:gd name="connsiteY21" fmla="*/ 845364 h 1898273"/>
                <a:gd name="connsiteX22" fmla="*/ 14286 w 1170892"/>
                <a:gd name="connsiteY22" fmla="*/ 735827 h 1898273"/>
                <a:gd name="connsiteX23" fmla="*/ 793 w 1170892"/>
                <a:gd name="connsiteY23" fmla="*/ 601286 h 1898273"/>
                <a:gd name="connsiteX24" fmla="*/ 9524 w 1170892"/>
                <a:gd name="connsiteY24" fmla="*/ 475873 h 1898273"/>
                <a:gd name="connsiteX25" fmla="*/ 81755 w 1170892"/>
                <a:gd name="connsiteY25" fmla="*/ 285373 h 1898273"/>
                <a:gd name="connsiteX26" fmla="*/ 265905 w 1170892"/>
                <a:gd name="connsiteY26" fmla="*/ 93285 h 1898273"/>
                <a:gd name="connsiteX27" fmla="*/ 519905 w 1170892"/>
                <a:gd name="connsiteY27" fmla="*/ 3990 h 1898273"/>
                <a:gd name="connsiteX28" fmla="*/ 705643 w 1170892"/>
                <a:gd name="connsiteY28" fmla="*/ 10736 h 1898273"/>
                <a:gd name="connsiteX29" fmla="*/ 943768 w 1170892"/>
                <a:gd name="connsiteY29" fmla="*/ 121861 h 1898273"/>
                <a:gd name="connsiteX30" fmla="*/ 1100930 w 1170892"/>
                <a:gd name="connsiteY30" fmla="*/ 310773 h 1898273"/>
                <a:gd name="connsiteX31" fmla="*/ 1165224 w 1170892"/>
                <a:gd name="connsiteY31" fmla="*/ 512783 h 1898273"/>
                <a:gd name="connsiteX32" fmla="*/ 1165621 w 1170892"/>
                <a:gd name="connsiteY32" fmla="*/ 683836 h 1898273"/>
                <a:gd name="connsiteX33" fmla="*/ 1085452 w 1170892"/>
                <a:gd name="connsiteY33" fmla="*/ 889020 h 1898273"/>
                <a:gd name="connsiteX34" fmla="*/ 950912 w 1170892"/>
                <a:gd name="connsiteY34" fmla="*/ 1054914 h 1898273"/>
                <a:gd name="connsiteX35" fmla="*/ 915193 w 1170892"/>
                <a:gd name="connsiteY35" fmla="*/ 1118811 h 1898273"/>
                <a:gd name="connsiteX36" fmla="*/ 900905 w 1170892"/>
                <a:gd name="connsiteY36" fmla="*/ 1177152 h 1898273"/>
                <a:gd name="connsiteX37" fmla="*/ 898525 w 1170892"/>
                <a:gd name="connsiteY37" fmla="*/ 1258908 h 1898273"/>
                <a:gd name="connsiteX38" fmla="*/ 858439 w 1170892"/>
                <a:gd name="connsiteY38" fmla="*/ 1301373 h 1898273"/>
                <a:gd name="connsiteX39" fmla="*/ 642143 w 1170892"/>
                <a:gd name="connsiteY39" fmla="*/ 1301373 h 1898273"/>
                <a:gd name="connsiteX40" fmla="*/ 591343 w 1170892"/>
                <a:gd name="connsiteY40" fmla="*/ 1279148 h 1898273"/>
                <a:gd name="connsiteX41" fmla="*/ 591343 w 1170892"/>
                <a:gd name="connsiteY41" fmla="*/ 1212473 h 189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70892" h="1898273">
                  <a:moveTo>
                    <a:pt x="584993" y="1898273"/>
                  </a:moveTo>
                  <a:cubicBezTo>
                    <a:pt x="583935" y="1854881"/>
                    <a:pt x="582876" y="1811490"/>
                    <a:pt x="581818" y="1768098"/>
                  </a:cubicBezTo>
                  <a:cubicBezTo>
                    <a:pt x="573352" y="1746931"/>
                    <a:pt x="562503" y="1729338"/>
                    <a:pt x="513555" y="1726030"/>
                  </a:cubicBezTo>
                  <a:cubicBezTo>
                    <a:pt x="487759" y="1721135"/>
                    <a:pt x="471487" y="1707906"/>
                    <a:pt x="470693" y="1680389"/>
                  </a:cubicBezTo>
                  <a:cubicBezTo>
                    <a:pt x="474793" y="1662398"/>
                    <a:pt x="478895" y="1650358"/>
                    <a:pt x="505618" y="1644273"/>
                  </a:cubicBezTo>
                  <a:lnTo>
                    <a:pt x="718343" y="1644273"/>
                  </a:lnTo>
                  <a:cubicBezTo>
                    <a:pt x="736202" y="1631970"/>
                    <a:pt x="744536" y="1626810"/>
                    <a:pt x="749299" y="1603792"/>
                  </a:cubicBezTo>
                  <a:cubicBezTo>
                    <a:pt x="745198" y="1586858"/>
                    <a:pt x="741097" y="1572308"/>
                    <a:pt x="716755" y="1561327"/>
                  </a:cubicBezTo>
                  <a:lnTo>
                    <a:pt x="399255" y="1560136"/>
                  </a:lnTo>
                  <a:cubicBezTo>
                    <a:pt x="375839" y="1555770"/>
                    <a:pt x="367902" y="1546642"/>
                    <a:pt x="361155" y="1522036"/>
                  </a:cubicBezTo>
                  <a:cubicBezTo>
                    <a:pt x="362610" y="1506161"/>
                    <a:pt x="365255" y="1491478"/>
                    <a:pt x="394095" y="1476793"/>
                  </a:cubicBezTo>
                  <a:lnTo>
                    <a:pt x="797718" y="1474411"/>
                  </a:lnTo>
                  <a:cubicBezTo>
                    <a:pt x="819546" y="1463299"/>
                    <a:pt x="827088" y="1449805"/>
                    <a:pt x="828674" y="1425595"/>
                  </a:cubicBezTo>
                  <a:cubicBezTo>
                    <a:pt x="824177" y="1402972"/>
                    <a:pt x="825632" y="1399402"/>
                    <a:pt x="796130" y="1383923"/>
                  </a:cubicBezTo>
                  <a:lnTo>
                    <a:pt x="386555" y="1383923"/>
                  </a:lnTo>
                  <a:cubicBezTo>
                    <a:pt x="360625" y="1374530"/>
                    <a:pt x="343031" y="1368709"/>
                    <a:pt x="323055" y="1352173"/>
                  </a:cubicBezTo>
                  <a:cubicBezTo>
                    <a:pt x="314721" y="1341193"/>
                    <a:pt x="295670" y="1327832"/>
                    <a:pt x="283765" y="1300183"/>
                  </a:cubicBezTo>
                  <a:cubicBezTo>
                    <a:pt x="275166" y="1267772"/>
                    <a:pt x="274901" y="1238932"/>
                    <a:pt x="272255" y="1207711"/>
                  </a:cubicBezTo>
                  <a:lnTo>
                    <a:pt x="256380" y="1128336"/>
                  </a:lnTo>
                  <a:cubicBezTo>
                    <a:pt x="240241" y="1093410"/>
                    <a:pt x="227673" y="1070392"/>
                    <a:pt x="205580" y="1037848"/>
                  </a:cubicBezTo>
                  <a:cubicBezTo>
                    <a:pt x="184281" y="1006760"/>
                    <a:pt x="162982" y="981625"/>
                    <a:pt x="130968" y="955298"/>
                  </a:cubicBezTo>
                  <a:cubicBezTo>
                    <a:pt x="101071" y="924606"/>
                    <a:pt x="77125" y="886771"/>
                    <a:pt x="55562" y="845364"/>
                  </a:cubicBezTo>
                  <a:cubicBezTo>
                    <a:pt x="23150" y="783054"/>
                    <a:pt x="26457" y="770752"/>
                    <a:pt x="14286" y="735827"/>
                  </a:cubicBezTo>
                  <a:cubicBezTo>
                    <a:pt x="6217" y="686615"/>
                    <a:pt x="1322" y="648911"/>
                    <a:pt x="793" y="601286"/>
                  </a:cubicBezTo>
                  <a:cubicBezTo>
                    <a:pt x="-265" y="557894"/>
                    <a:pt x="-2118" y="514502"/>
                    <a:pt x="9524" y="475873"/>
                  </a:cubicBezTo>
                  <a:cubicBezTo>
                    <a:pt x="20107" y="409198"/>
                    <a:pt x="44184" y="347286"/>
                    <a:pt x="81755" y="285373"/>
                  </a:cubicBezTo>
                  <a:cubicBezTo>
                    <a:pt x="130438" y="213406"/>
                    <a:pt x="185472" y="143027"/>
                    <a:pt x="265905" y="93285"/>
                  </a:cubicBezTo>
                  <a:cubicBezTo>
                    <a:pt x="333638" y="48306"/>
                    <a:pt x="420819" y="15632"/>
                    <a:pt x="519905" y="3990"/>
                  </a:cubicBezTo>
                  <a:cubicBezTo>
                    <a:pt x="584200" y="-2095"/>
                    <a:pt x="644921" y="-2228"/>
                    <a:pt x="705643" y="10736"/>
                  </a:cubicBezTo>
                  <a:cubicBezTo>
                    <a:pt x="805259" y="37062"/>
                    <a:pt x="872727" y="72912"/>
                    <a:pt x="943768" y="121861"/>
                  </a:cubicBezTo>
                  <a:cubicBezTo>
                    <a:pt x="1009252" y="178879"/>
                    <a:pt x="1058067" y="229942"/>
                    <a:pt x="1100930" y="310773"/>
                  </a:cubicBezTo>
                  <a:cubicBezTo>
                    <a:pt x="1137046" y="378506"/>
                    <a:pt x="1160063" y="439096"/>
                    <a:pt x="1165224" y="512783"/>
                  </a:cubicBezTo>
                  <a:cubicBezTo>
                    <a:pt x="1174881" y="568213"/>
                    <a:pt x="1170250" y="629597"/>
                    <a:pt x="1165621" y="683836"/>
                  </a:cubicBezTo>
                  <a:cubicBezTo>
                    <a:pt x="1151202" y="755009"/>
                    <a:pt x="1129637" y="822609"/>
                    <a:pt x="1085452" y="889020"/>
                  </a:cubicBezTo>
                  <a:cubicBezTo>
                    <a:pt x="1047749" y="946699"/>
                    <a:pt x="994569" y="992472"/>
                    <a:pt x="950912" y="1054914"/>
                  </a:cubicBezTo>
                  <a:cubicBezTo>
                    <a:pt x="937021" y="1078197"/>
                    <a:pt x="923130" y="1091956"/>
                    <a:pt x="915193" y="1118811"/>
                  </a:cubicBezTo>
                  <a:cubicBezTo>
                    <a:pt x="906065" y="1147386"/>
                    <a:pt x="904080" y="1158102"/>
                    <a:pt x="900905" y="1177152"/>
                  </a:cubicBezTo>
                  <a:cubicBezTo>
                    <a:pt x="898920" y="1217501"/>
                    <a:pt x="899319" y="1230465"/>
                    <a:pt x="898525" y="1258908"/>
                  </a:cubicBezTo>
                  <a:cubicBezTo>
                    <a:pt x="898260" y="1276635"/>
                    <a:pt x="886089" y="1291981"/>
                    <a:pt x="858439" y="1301373"/>
                  </a:cubicBezTo>
                  <a:lnTo>
                    <a:pt x="642143" y="1301373"/>
                  </a:lnTo>
                  <a:cubicBezTo>
                    <a:pt x="604968" y="1298728"/>
                    <a:pt x="601133" y="1297271"/>
                    <a:pt x="591343" y="1279148"/>
                  </a:cubicBezTo>
                  <a:lnTo>
                    <a:pt x="591343" y="1212473"/>
                  </a:lnTo>
                </a:path>
              </a:pathLst>
            </a:custGeom>
            <a:noFill/>
            <a:ln w="25400" algn="ctr">
              <a:solidFill>
                <a:srgbClr val="26890D"/>
              </a:solidFill>
              <a:miter lim="800000"/>
              <a:headEnd type="none" w="sm" len="sm"/>
              <a:tailEnd type="oval"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prstClr val="black"/>
                </a:solidFill>
                <a:effectLst/>
                <a:uLnTx/>
                <a:uFillTx/>
                <a:latin typeface="Calibri Light"/>
                <a:ea typeface="+mn-ea"/>
                <a:cs typeface="+mn-cs"/>
              </a:endParaRPr>
            </a:p>
          </p:txBody>
        </p:sp>
        <p:sp>
          <p:nvSpPr>
            <p:cNvPr id="133" name="Round Same Side Corner Rectangle 37">
              <a:extLst>
                <a:ext uri="{FF2B5EF4-FFF2-40B4-BE49-F238E27FC236}">
                  <a16:creationId xmlns:a16="http://schemas.microsoft.com/office/drawing/2014/main" id="{B5CDBD07-CAFD-4BFB-9DED-630073CB3EA9}"/>
                </a:ext>
              </a:extLst>
            </p:cNvPr>
            <p:cNvSpPr/>
            <p:nvPr/>
          </p:nvSpPr>
          <p:spPr bwMode="gray">
            <a:xfrm>
              <a:off x="1289779" y="3495046"/>
              <a:ext cx="116350" cy="108039"/>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34" name="Round Same Side Corner Rectangle 38">
              <a:extLst>
                <a:ext uri="{FF2B5EF4-FFF2-40B4-BE49-F238E27FC236}">
                  <a16:creationId xmlns:a16="http://schemas.microsoft.com/office/drawing/2014/main" id="{AEC94D2E-E1A7-4D10-BA81-003849D17C91}"/>
                </a:ext>
              </a:extLst>
            </p:cNvPr>
            <p:cNvSpPr/>
            <p:nvPr/>
          </p:nvSpPr>
          <p:spPr bwMode="gray">
            <a:xfrm flipV="1">
              <a:off x="1312850"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35" name="Round Same Side Corner Rectangle 39">
              <a:extLst>
                <a:ext uri="{FF2B5EF4-FFF2-40B4-BE49-F238E27FC236}">
                  <a16:creationId xmlns:a16="http://schemas.microsoft.com/office/drawing/2014/main" id="{778F7CB4-BB09-47A7-B414-E5BD0D753ED3}"/>
                </a:ext>
              </a:extLst>
            </p:cNvPr>
            <p:cNvSpPr/>
            <p:nvPr/>
          </p:nvSpPr>
          <p:spPr bwMode="gray">
            <a:xfrm flipV="1">
              <a:off x="1362714" y="3603085"/>
              <a:ext cx="21108" cy="45231"/>
            </a:xfrm>
            <a:prstGeom prst="round2SameRect">
              <a:avLst>
                <a:gd name="adj1" fmla="val 50000"/>
                <a:gd name="adj2" fmla="val 0"/>
              </a:avLst>
            </a:prstGeom>
            <a:solidFill>
              <a:srgbClr val="26890D"/>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36" name="Oval 135">
              <a:extLst>
                <a:ext uri="{FF2B5EF4-FFF2-40B4-BE49-F238E27FC236}">
                  <a16:creationId xmlns:a16="http://schemas.microsoft.com/office/drawing/2014/main" id="{A06532EA-C3F2-4A70-8D22-D8A31D9C4ADE}"/>
                </a:ext>
              </a:extLst>
            </p:cNvPr>
            <p:cNvSpPr/>
            <p:nvPr/>
          </p:nvSpPr>
          <p:spPr bwMode="gray">
            <a:xfrm>
              <a:off x="1329954" y="3531065"/>
              <a:ext cx="36000" cy="36000"/>
            </a:xfrm>
            <a:prstGeom prst="ellipse">
              <a:avLst/>
            </a:prstGeom>
            <a:solidFill>
              <a:sysClr val="window" lastClr="FFFFFF"/>
            </a:solidFill>
            <a:ln w="19050" algn="ctr">
              <a:no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0" i="0" u="none" strike="noStrike" kern="0" cap="none" spc="0" normalizeH="0" baseline="0" noProof="0" dirty="0">
                <a:ln>
                  <a:noFill/>
                </a:ln>
                <a:solidFill>
                  <a:prstClr val="white"/>
                </a:solidFill>
                <a:effectLst/>
                <a:uLnTx/>
                <a:uFillTx/>
                <a:latin typeface="Calibri Light"/>
                <a:ea typeface="+mn-ea"/>
                <a:cs typeface="+mn-cs"/>
              </a:endParaRPr>
            </a:p>
          </p:txBody>
        </p:sp>
      </p:grpSp>
      <p:grpSp>
        <p:nvGrpSpPr>
          <p:cNvPr id="137" name="Group 136"/>
          <p:cNvGrpSpPr/>
          <p:nvPr/>
        </p:nvGrpSpPr>
        <p:grpSpPr>
          <a:xfrm>
            <a:off x="5932490" y="1712936"/>
            <a:ext cx="543879" cy="528421"/>
            <a:chOff x="1758950" y="2390775"/>
            <a:chExt cx="476250" cy="400050"/>
          </a:xfrm>
          <a:solidFill>
            <a:srgbClr val="86BC25">
              <a:lumMod val="75000"/>
            </a:srgbClr>
          </a:solidFill>
        </p:grpSpPr>
        <p:sp>
          <p:nvSpPr>
            <p:cNvPr id="138" name="Freeform 5"/>
            <p:cNvSpPr>
              <a:spLocks noEditPoints="1"/>
            </p:cNvSpPr>
            <p:nvPr/>
          </p:nvSpPr>
          <p:spPr bwMode="auto">
            <a:xfrm>
              <a:off x="1758950" y="2390775"/>
              <a:ext cx="476250" cy="400050"/>
            </a:xfrm>
            <a:custGeom>
              <a:avLst/>
              <a:gdLst>
                <a:gd name="T0" fmla="*/ 16 w 81"/>
                <a:gd name="T1" fmla="*/ 10 h 68"/>
                <a:gd name="T2" fmla="*/ 10 w 81"/>
                <a:gd name="T3" fmla="*/ 4 h 68"/>
                <a:gd name="T4" fmla="*/ 9 w 81"/>
                <a:gd name="T5" fmla="*/ 6 h 68"/>
                <a:gd name="T6" fmla="*/ 11 w 81"/>
                <a:gd name="T7" fmla="*/ 6 h 68"/>
                <a:gd name="T8" fmla="*/ 10 w 81"/>
                <a:gd name="T9" fmla="*/ 19 h 68"/>
                <a:gd name="T10" fmla="*/ 13 w 81"/>
                <a:gd name="T11" fmla="*/ 20 h 68"/>
                <a:gd name="T12" fmla="*/ 10 w 81"/>
                <a:gd name="T13" fmla="*/ 23 h 68"/>
                <a:gd name="T14" fmla="*/ 10 w 81"/>
                <a:gd name="T15" fmla="*/ 42 h 68"/>
                <a:gd name="T16" fmla="*/ 12 w 81"/>
                <a:gd name="T17" fmla="*/ 43 h 68"/>
                <a:gd name="T18" fmla="*/ 10 w 81"/>
                <a:gd name="T19" fmla="*/ 45 h 68"/>
                <a:gd name="T20" fmla="*/ 9 w 81"/>
                <a:gd name="T21" fmla="*/ 62 h 68"/>
                <a:gd name="T22" fmla="*/ 26 w 81"/>
                <a:gd name="T23" fmla="*/ 62 h 68"/>
                <a:gd name="T24" fmla="*/ 29 w 81"/>
                <a:gd name="T25" fmla="*/ 59 h 68"/>
                <a:gd name="T26" fmla="*/ 30 w 81"/>
                <a:gd name="T27" fmla="*/ 62 h 68"/>
                <a:gd name="T28" fmla="*/ 52 w 81"/>
                <a:gd name="T29" fmla="*/ 61 h 68"/>
                <a:gd name="T30" fmla="*/ 54 w 81"/>
                <a:gd name="T31" fmla="*/ 59 h 68"/>
                <a:gd name="T32" fmla="*/ 56 w 81"/>
                <a:gd name="T33" fmla="*/ 62 h 68"/>
                <a:gd name="T34" fmla="*/ 75 w 81"/>
                <a:gd name="T35" fmla="*/ 62 h 68"/>
                <a:gd name="T36" fmla="*/ 70 w 81"/>
                <a:gd name="T37" fmla="*/ 60 h 68"/>
                <a:gd name="T38" fmla="*/ 68 w 81"/>
                <a:gd name="T39" fmla="*/ 61 h 68"/>
                <a:gd name="T40" fmla="*/ 68 w 81"/>
                <a:gd name="T41" fmla="*/ 57 h 68"/>
                <a:gd name="T42" fmla="*/ 81 w 81"/>
                <a:gd name="T43" fmla="*/ 64 h 68"/>
                <a:gd name="T44" fmla="*/ 70 w 81"/>
                <a:gd name="T45" fmla="*/ 68 h 68"/>
                <a:gd name="T46" fmla="*/ 74 w 81"/>
                <a:gd name="T47" fmla="*/ 64 h 68"/>
                <a:gd name="T48" fmla="*/ 55 w 81"/>
                <a:gd name="T49" fmla="*/ 63 h 68"/>
                <a:gd name="T50" fmla="*/ 54 w 81"/>
                <a:gd name="T51" fmla="*/ 66 h 68"/>
                <a:gd name="T52" fmla="*/ 52 w 81"/>
                <a:gd name="T53" fmla="*/ 63 h 68"/>
                <a:gd name="T54" fmla="*/ 28 w 81"/>
                <a:gd name="T55" fmla="*/ 66 h 68"/>
                <a:gd name="T56" fmla="*/ 27 w 81"/>
                <a:gd name="T57" fmla="*/ 63 h 68"/>
                <a:gd name="T58" fmla="*/ 9 w 81"/>
                <a:gd name="T59" fmla="*/ 64 h 68"/>
                <a:gd name="T60" fmla="*/ 9 w 81"/>
                <a:gd name="T61" fmla="*/ 68 h 68"/>
                <a:gd name="T62" fmla="*/ 7 w 81"/>
                <a:gd name="T63" fmla="*/ 64 h 68"/>
                <a:gd name="T64" fmla="*/ 3 w 81"/>
                <a:gd name="T65" fmla="*/ 63 h 68"/>
                <a:gd name="T66" fmla="*/ 7 w 81"/>
                <a:gd name="T67" fmla="*/ 62 h 68"/>
                <a:gd name="T68" fmla="*/ 7 w 81"/>
                <a:gd name="T69" fmla="*/ 46 h 68"/>
                <a:gd name="T70" fmla="*/ 5 w 81"/>
                <a:gd name="T71" fmla="*/ 44 h 68"/>
                <a:gd name="T72" fmla="*/ 8 w 81"/>
                <a:gd name="T73" fmla="*/ 42 h 68"/>
                <a:gd name="T74" fmla="*/ 8 w 81"/>
                <a:gd name="T75" fmla="*/ 23 h 68"/>
                <a:gd name="T76" fmla="*/ 5 w 81"/>
                <a:gd name="T77" fmla="*/ 21 h 68"/>
                <a:gd name="T78" fmla="*/ 8 w 81"/>
                <a:gd name="T79" fmla="*/ 20 h 68"/>
                <a:gd name="T80" fmla="*/ 7 w 81"/>
                <a:gd name="T81" fmla="*/ 5 h 68"/>
                <a:gd name="T82" fmla="*/ 0 w 81"/>
                <a:gd name="T83" fmla="*/ 14 h 68"/>
                <a:gd name="T84" fmla="*/ 8 w 81"/>
                <a:gd name="T85" fmla="*/ 0 h 68"/>
                <a:gd name="T86" fmla="*/ 9 w 81"/>
                <a:gd name="T87" fmla="*/ 0 h 68"/>
                <a:gd name="T88" fmla="*/ 13 w 81"/>
                <a:gd name="T89" fmla="*/ 5 h 68"/>
                <a:gd name="T90" fmla="*/ 16 w 81"/>
                <a:gd name="T91" fmla="*/ 10 h 68"/>
                <a:gd name="T92" fmla="*/ 9 w 81"/>
                <a:gd name="T93" fmla="*/ 20 h 68"/>
                <a:gd name="T94" fmla="*/ 9 w 81"/>
                <a:gd name="T95" fmla="*/ 8 h 68"/>
                <a:gd name="T96" fmla="*/ 9 w 81"/>
                <a:gd name="T97" fmla="*/ 20 h 68"/>
                <a:gd name="T98" fmla="*/ 9 w 81"/>
                <a:gd name="T99" fmla="*/ 23 h 68"/>
                <a:gd name="T100" fmla="*/ 9 w 81"/>
                <a:gd name="T101" fmla="*/ 36 h 68"/>
                <a:gd name="T102" fmla="*/ 9 w 81"/>
                <a:gd name="T103" fmla="*/ 23 h 68"/>
                <a:gd name="T104" fmla="*/ 9 w 81"/>
                <a:gd name="T105" fmla="*/ 23 h 68"/>
                <a:gd name="T106" fmla="*/ 9 w 81"/>
                <a:gd name="T107" fmla="*/ 23 h 68"/>
                <a:gd name="T108" fmla="*/ 8 w 81"/>
                <a:gd name="T109" fmla="*/ 39 h 68"/>
                <a:gd name="T110" fmla="*/ 8 w 81"/>
                <a:gd name="T111" fmla="*/ 3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1" h="68">
                  <a:moveTo>
                    <a:pt x="16" y="10"/>
                  </a:moveTo>
                  <a:cubicBezTo>
                    <a:pt x="13" y="9"/>
                    <a:pt x="12" y="5"/>
                    <a:pt x="10" y="4"/>
                  </a:cubicBezTo>
                  <a:cubicBezTo>
                    <a:pt x="9" y="4"/>
                    <a:pt x="9" y="5"/>
                    <a:pt x="9" y="6"/>
                  </a:cubicBezTo>
                  <a:cubicBezTo>
                    <a:pt x="10" y="7"/>
                    <a:pt x="10" y="6"/>
                    <a:pt x="11" y="6"/>
                  </a:cubicBezTo>
                  <a:cubicBezTo>
                    <a:pt x="12" y="11"/>
                    <a:pt x="10" y="15"/>
                    <a:pt x="10" y="19"/>
                  </a:cubicBezTo>
                  <a:cubicBezTo>
                    <a:pt x="11" y="20"/>
                    <a:pt x="12" y="19"/>
                    <a:pt x="13" y="20"/>
                  </a:cubicBezTo>
                  <a:cubicBezTo>
                    <a:pt x="13" y="22"/>
                    <a:pt x="11" y="21"/>
                    <a:pt x="10" y="23"/>
                  </a:cubicBezTo>
                  <a:cubicBezTo>
                    <a:pt x="10" y="29"/>
                    <a:pt x="10" y="35"/>
                    <a:pt x="10" y="42"/>
                  </a:cubicBezTo>
                  <a:cubicBezTo>
                    <a:pt x="10" y="43"/>
                    <a:pt x="11" y="42"/>
                    <a:pt x="12" y="43"/>
                  </a:cubicBezTo>
                  <a:cubicBezTo>
                    <a:pt x="12" y="45"/>
                    <a:pt x="11" y="45"/>
                    <a:pt x="10" y="45"/>
                  </a:cubicBezTo>
                  <a:cubicBezTo>
                    <a:pt x="9" y="50"/>
                    <a:pt x="9" y="57"/>
                    <a:pt x="9" y="62"/>
                  </a:cubicBezTo>
                  <a:cubicBezTo>
                    <a:pt x="14" y="63"/>
                    <a:pt x="21" y="62"/>
                    <a:pt x="26" y="62"/>
                  </a:cubicBezTo>
                  <a:cubicBezTo>
                    <a:pt x="26" y="60"/>
                    <a:pt x="28" y="60"/>
                    <a:pt x="29" y="59"/>
                  </a:cubicBezTo>
                  <a:cubicBezTo>
                    <a:pt x="30" y="59"/>
                    <a:pt x="30" y="60"/>
                    <a:pt x="30" y="62"/>
                  </a:cubicBezTo>
                  <a:cubicBezTo>
                    <a:pt x="37" y="61"/>
                    <a:pt x="45" y="61"/>
                    <a:pt x="52" y="61"/>
                  </a:cubicBezTo>
                  <a:cubicBezTo>
                    <a:pt x="53" y="61"/>
                    <a:pt x="52" y="59"/>
                    <a:pt x="54" y="59"/>
                  </a:cubicBezTo>
                  <a:cubicBezTo>
                    <a:pt x="55" y="59"/>
                    <a:pt x="55" y="61"/>
                    <a:pt x="56" y="62"/>
                  </a:cubicBezTo>
                  <a:cubicBezTo>
                    <a:pt x="63" y="61"/>
                    <a:pt x="69" y="63"/>
                    <a:pt x="75" y="62"/>
                  </a:cubicBezTo>
                  <a:cubicBezTo>
                    <a:pt x="74" y="61"/>
                    <a:pt x="71" y="61"/>
                    <a:pt x="70" y="60"/>
                  </a:cubicBezTo>
                  <a:cubicBezTo>
                    <a:pt x="69" y="59"/>
                    <a:pt x="69" y="61"/>
                    <a:pt x="68" y="61"/>
                  </a:cubicBezTo>
                  <a:cubicBezTo>
                    <a:pt x="68" y="59"/>
                    <a:pt x="67" y="58"/>
                    <a:pt x="68" y="57"/>
                  </a:cubicBezTo>
                  <a:cubicBezTo>
                    <a:pt x="72" y="59"/>
                    <a:pt x="79" y="59"/>
                    <a:pt x="81" y="64"/>
                  </a:cubicBezTo>
                  <a:cubicBezTo>
                    <a:pt x="76" y="64"/>
                    <a:pt x="74" y="68"/>
                    <a:pt x="70" y="68"/>
                  </a:cubicBezTo>
                  <a:cubicBezTo>
                    <a:pt x="70" y="66"/>
                    <a:pt x="73" y="66"/>
                    <a:pt x="74" y="64"/>
                  </a:cubicBezTo>
                  <a:cubicBezTo>
                    <a:pt x="67" y="64"/>
                    <a:pt x="61" y="63"/>
                    <a:pt x="55" y="63"/>
                  </a:cubicBezTo>
                  <a:cubicBezTo>
                    <a:pt x="54" y="64"/>
                    <a:pt x="54" y="65"/>
                    <a:pt x="54" y="66"/>
                  </a:cubicBezTo>
                  <a:cubicBezTo>
                    <a:pt x="53" y="66"/>
                    <a:pt x="53" y="64"/>
                    <a:pt x="52" y="63"/>
                  </a:cubicBezTo>
                  <a:cubicBezTo>
                    <a:pt x="44" y="63"/>
                    <a:pt x="32" y="60"/>
                    <a:pt x="28" y="66"/>
                  </a:cubicBezTo>
                  <a:cubicBezTo>
                    <a:pt x="27" y="65"/>
                    <a:pt x="27" y="64"/>
                    <a:pt x="27" y="63"/>
                  </a:cubicBezTo>
                  <a:cubicBezTo>
                    <a:pt x="21" y="64"/>
                    <a:pt x="15" y="64"/>
                    <a:pt x="9" y="64"/>
                  </a:cubicBezTo>
                  <a:cubicBezTo>
                    <a:pt x="8" y="65"/>
                    <a:pt x="10" y="67"/>
                    <a:pt x="9" y="68"/>
                  </a:cubicBezTo>
                  <a:cubicBezTo>
                    <a:pt x="6" y="68"/>
                    <a:pt x="8" y="65"/>
                    <a:pt x="7" y="64"/>
                  </a:cubicBezTo>
                  <a:cubicBezTo>
                    <a:pt x="6" y="63"/>
                    <a:pt x="4" y="64"/>
                    <a:pt x="3" y="63"/>
                  </a:cubicBezTo>
                  <a:cubicBezTo>
                    <a:pt x="3" y="61"/>
                    <a:pt x="6" y="62"/>
                    <a:pt x="7" y="62"/>
                  </a:cubicBezTo>
                  <a:cubicBezTo>
                    <a:pt x="8" y="57"/>
                    <a:pt x="8" y="50"/>
                    <a:pt x="7" y="46"/>
                  </a:cubicBezTo>
                  <a:cubicBezTo>
                    <a:pt x="7" y="45"/>
                    <a:pt x="5" y="45"/>
                    <a:pt x="5" y="44"/>
                  </a:cubicBezTo>
                  <a:cubicBezTo>
                    <a:pt x="6" y="43"/>
                    <a:pt x="7" y="43"/>
                    <a:pt x="8" y="42"/>
                  </a:cubicBezTo>
                  <a:cubicBezTo>
                    <a:pt x="8" y="36"/>
                    <a:pt x="8" y="29"/>
                    <a:pt x="8" y="23"/>
                  </a:cubicBezTo>
                  <a:cubicBezTo>
                    <a:pt x="7" y="22"/>
                    <a:pt x="5" y="22"/>
                    <a:pt x="5" y="21"/>
                  </a:cubicBezTo>
                  <a:cubicBezTo>
                    <a:pt x="5" y="20"/>
                    <a:pt x="6" y="20"/>
                    <a:pt x="8" y="20"/>
                  </a:cubicBezTo>
                  <a:cubicBezTo>
                    <a:pt x="8" y="15"/>
                    <a:pt x="7" y="10"/>
                    <a:pt x="7" y="5"/>
                  </a:cubicBezTo>
                  <a:cubicBezTo>
                    <a:pt x="3" y="6"/>
                    <a:pt x="4" y="13"/>
                    <a:pt x="0" y="14"/>
                  </a:cubicBezTo>
                  <a:cubicBezTo>
                    <a:pt x="2" y="9"/>
                    <a:pt x="5" y="4"/>
                    <a:pt x="8" y="0"/>
                  </a:cubicBezTo>
                  <a:cubicBezTo>
                    <a:pt x="8" y="0"/>
                    <a:pt x="8" y="0"/>
                    <a:pt x="9" y="0"/>
                  </a:cubicBezTo>
                  <a:cubicBezTo>
                    <a:pt x="10" y="1"/>
                    <a:pt x="11" y="3"/>
                    <a:pt x="13" y="5"/>
                  </a:cubicBezTo>
                  <a:cubicBezTo>
                    <a:pt x="14" y="7"/>
                    <a:pt x="17" y="8"/>
                    <a:pt x="16" y="10"/>
                  </a:cubicBezTo>
                  <a:close/>
                  <a:moveTo>
                    <a:pt x="9" y="20"/>
                  </a:moveTo>
                  <a:cubicBezTo>
                    <a:pt x="9" y="17"/>
                    <a:pt x="10" y="11"/>
                    <a:pt x="9" y="8"/>
                  </a:cubicBezTo>
                  <a:cubicBezTo>
                    <a:pt x="8" y="12"/>
                    <a:pt x="8" y="17"/>
                    <a:pt x="9" y="20"/>
                  </a:cubicBezTo>
                  <a:close/>
                  <a:moveTo>
                    <a:pt x="9" y="23"/>
                  </a:moveTo>
                  <a:cubicBezTo>
                    <a:pt x="9" y="29"/>
                    <a:pt x="8" y="34"/>
                    <a:pt x="9" y="36"/>
                  </a:cubicBezTo>
                  <a:cubicBezTo>
                    <a:pt x="8" y="34"/>
                    <a:pt x="10" y="26"/>
                    <a:pt x="9" y="23"/>
                  </a:cubicBezTo>
                  <a:cubicBezTo>
                    <a:pt x="9" y="23"/>
                    <a:pt x="9" y="22"/>
                    <a:pt x="9" y="23"/>
                  </a:cubicBezTo>
                  <a:cubicBezTo>
                    <a:pt x="9" y="23"/>
                    <a:pt x="9" y="23"/>
                    <a:pt x="9" y="23"/>
                  </a:cubicBezTo>
                  <a:close/>
                  <a:moveTo>
                    <a:pt x="8" y="39"/>
                  </a:moveTo>
                  <a:cubicBezTo>
                    <a:pt x="9" y="41"/>
                    <a:pt x="9" y="38"/>
                    <a:pt x="8"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39" name="Freeform 6"/>
            <p:cNvSpPr>
              <a:spLocks/>
            </p:cNvSpPr>
            <p:nvPr/>
          </p:nvSpPr>
          <p:spPr bwMode="auto">
            <a:xfrm>
              <a:off x="1835150" y="2408238"/>
              <a:ext cx="387350" cy="293688"/>
            </a:xfrm>
            <a:custGeom>
              <a:avLst/>
              <a:gdLst>
                <a:gd name="T0" fmla="*/ 65 w 66"/>
                <a:gd name="T1" fmla="*/ 1 h 50"/>
                <a:gd name="T2" fmla="*/ 60 w 66"/>
                <a:gd name="T3" fmla="*/ 5 h 50"/>
                <a:gd name="T4" fmla="*/ 49 w 66"/>
                <a:gd name="T5" fmla="*/ 14 h 50"/>
                <a:gd name="T6" fmla="*/ 38 w 66"/>
                <a:gd name="T7" fmla="*/ 27 h 50"/>
                <a:gd name="T8" fmla="*/ 25 w 66"/>
                <a:gd name="T9" fmla="*/ 20 h 50"/>
                <a:gd name="T10" fmla="*/ 19 w 66"/>
                <a:gd name="T11" fmla="*/ 26 h 50"/>
                <a:gd name="T12" fmla="*/ 1 w 66"/>
                <a:gd name="T13" fmla="*/ 50 h 50"/>
                <a:gd name="T14" fmla="*/ 2 w 66"/>
                <a:gd name="T15" fmla="*/ 45 h 50"/>
                <a:gd name="T16" fmla="*/ 18 w 66"/>
                <a:gd name="T17" fmla="*/ 25 h 50"/>
                <a:gd name="T18" fmla="*/ 25 w 66"/>
                <a:gd name="T19" fmla="*/ 18 h 50"/>
                <a:gd name="T20" fmla="*/ 33 w 66"/>
                <a:gd name="T21" fmla="*/ 22 h 50"/>
                <a:gd name="T22" fmla="*/ 37 w 66"/>
                <a:gd name="T23" fmla="*/ 24 h 50"/>
                <a:gd name="T24" fmla="*/ 44 w 66"/>
                <a:gd name="T25" fmla="*/ 18 h 50"/>
                <a:gd name="T26" fmla="*/ 50 w 66"/>
                <a:gd name="T27" fmla="*/ 12 h 50"/>
                <a:gd name="T28" fmla="*/ 54 w 66"/>
                <a:gd name="T29" fmla="*/ 10 h 50"/>
                <a:gd name="T30" fmla="*/ 56 w 66"/>
                <a:gd name="T31" fmla="*/ 7 h 50"/>
                <a:gd name="T32" fmla="*/ 64 w 66"/>
                <a:gd name="T33" fmla="*/ 0 h 50"/>
                <a:gd name="T34" fmla="*/ 65 w 66"/>
                <a:gd name="T35" fmla="*/ 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50">
                  <a:moveTo>
                    <a:pt x="65" y="1"/>
                  </a:moveTo>
                  <a:cubicBezTo>
                    <a:pt x="66" y="3"/>
                    <a:pt x="62" y="4"/>
                    <a:pt x="60" y="5"/>
                  </a:cubicBezTo>
                  <a:cubicBezTo>
                    <a:pt x="56" y="8"/>
                    <a:pt x="52" y="12"/>
                    <a:pt x="49" y="14"/>
                  </a:cubicBezTo>
                  <a:cubicBezTo>
                    <a:pt x="46" y="19"/>
                    <a:pt x="40" y="22"/>
                    <a:pt x="38" y="27"/>
                  </a:cubicBezTo>
                  <a:cubicBezTo>
                    <a:pt x="33" y="25"/>
                    <a:pt x="30" y="20"/>
                    <a:pt x="25" y="20"/>
                  </a:cubicBezTo>
                  <a:cubicBezTo>
                    <a:pt x="23" y="21"/>
                    <a:pt x="20" y="24"/>
                    <a:pt x="19" y="26"/>
                  </a:cubicBezTo>
                  <a:cubicBezTo>
                    <a:pt x="12" y="33"/>
                    <a:pt x="5" y="41"/>
                    <a:pt x="1" y="50"/>
                  </a:cubicBezTo>
                  <a:cubicBezTo>
                    <a:pt x="0" y="48"/>
                    <a:pt x="2" y="46"/>
                    <a:pt x="2" y="45"/>
                  </a:cubicBezTo>
                  <a:cubicBezTo>
                    <a:pt x="6" y="38"/>
                    <a:pt x="12" y="32"/>
                    <a:pt x="18" y="25"/>
                  </a:cubicBezTo>
                  <a:cubicBezTo>
                    <a:pt x="20" y="23"/>
                    <a:pt x="23" y="19"/>
                    <a:pt x="25" y="18"/>
                  </a:cubicBezTo>
                  <a:cubicBezTo>
                    <a:pt x="27" y="18"/>
                    <a:pt x="31" y="21"/>
                    <a:pt x="33" y="22"/>
                  </a:cubicBezTo>
                  <a:cubicBezTo>
                    <a:pt x="35" y="23"/>
                    <a:pt x="35" y="24"/>
                    <a:pt x="37" y="24"/>
                  </a:cubicBezTo>
                  <a:cubicBezTo>
                    <a:pt x="39" y="24"/>
                    <a:pt x="42" y="20"/>
                    <a:pt x="44" y="18"/>
                  </a:cubicBezTo>
                  <a:cubicBezTo>
                    <a:pt x="46" y="16"/>
                    <a:pt x="48" y="13"/>
                    <a:pt x="50" y="12"/>
                  </a:cubicBezTo>
                  <a:cubicBezTo>
                    <a:pt x="51" y="11"/>
                    <a:pt x="53" y="11"/>
                    <a:pt x="54" y="10"/>
                  </a:cubicBezTo>
                  <a:cubicBezTo>
                    <a:pt x="55" y="9"/>
                    <a:pt x="55" y="8"/>
                    <a:pt x="56" y="7"/>
                  </a:cubicBezTo>
                  <a:cubicBezTo>
                    <a:pt x="59" y="4"/>
                    <a:pt x="62" y="3"/>
                    <a:pt x="64" y="0"/>
                  </a:cubicBezTo>
                  <a:cubicBezTo>
                    <a:pt x="65" y="0"/>
                    <a:pt x="65" y="0"/>
                    <a:pt x="6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0" name="Freeform 7"/>
            <p:cNvSpPr>
              <a:spLocks/>
            </p:cNvSpPr>
            <p:nvPr/>
          </p:nvSpPr>
          <p:spPr bwMode="auto">
            <a:xfrm>
              <a:off x="2152650" y="2473325"/>
              <a:ext cx="11113" cy="28575"/>
            </a:xfrm>
            <a:custGeom>
              <a:avLst/>
              <a:gdLst>
                <a:gd name="T0" fmla="*/ 1 w 2"/>
                <a:gd name="T1" fmla="*/ 1 h 5"/>
                <a:gd name="T2" fmla="*/ 2 w 2"/>
                <a:gd name="T3" fmla="*/ 1 h 5"/>
                <a:gd name="T4" fmla="*/ 1 w 2"/>
                <a:gd name="T5" fmla="*/ 5 h 5"/>
                <a:gd name="T6" fmla="*/ 1 w 2"/>
                <a:gd name="T7" fmla="*/ 1 h 5"/>
              </a:gdLst>
              <a:ahLst/>
              <a:cxnLst>
                <a:cxn ang="0">
                  <a:pos x="T0" y="T1"/>
                </a:cxn>
                <a:cxn ang="0">
                  <a:pos x="T2" y="T3"/>
                </a:cxn>
                <a:cxn ang="0">
                  <a:pos x="T4" y="T5"/>
                </a:cxn>
                <a:cxn ang="0">
                  <a:pos x="T6" y="T7"/>
                </a:cxn>
              </a:cxnLst>
              <a:rect l="0" t="0" r="r" b="b"/>
              <a:pathLst>
                <a:path w="2" h="5">
                  <a:moveTo>
                    <a:pt x="1" y="1"/>
                  </a:moveTo>
                  <a:cubicBezTo>
                    <a:pt x="2" y="0"/>
                    <a:pt x="2" y="1"/>
                    <a:pt x="2" y="1"/>
                  </a:cubicBezTo>
                  <a:cubicBezTo>
                    <a:pt x="2" y="2"/>
                    <a:pt x="2" y="4"/>
                    <a:pt x="1" y="5"/>
                  </a:cubicBezTo>
                  <a:cubicBezTo>
                    <a:pt x="0" y="5"/>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1" name="Freeform 8"/>
            <p:cNvSpPr>
              <a:spLocks/>
            </p:cNvSpPr>
            <p:nvPr/>
          </p:nvSpPr>
          <p:spPr bwMode="auto">
            <a:xfrm>
              <a:off x="2152650" y="2525713"/>
              <a:ext cx="11113" cy="17463"/>
            </a:xfrm>
            <a:custGeom>
              <a:avLst/>
              <a:gdLst>
                <a:gd name="T0" fmla="*/ 0 w 2"/>
                <a:gd name="T1" fmla="*/ 0 h 3"/>
                <a:gd name="T2" fmla="*/ 1 w 2"/>
                <a:gd name="T3" fmla="*/ 0 h 3"/>
                <a:gd name="T4" fmla="*/ 1 w 2"/>
                <a:gd name="T5" fmla="*/ 3 h 3"/>
                <a:gd name="T6" fmla="*/ 0 w 2"/>
                <a:gd name="T7" fmla="*/ 0 h 3"/>
              </a:gdLst>
              <a:ahLst/>
              <a:cxnLst>
                <a:cxn ang="0">
                  <a:pos x="T0" y="T1"/>
                </a:cxn>
                <a:cxn ang="0">
                  <a:pos x="T2" y="T3"/>
                </a:cxn>
                <a:cxn ang="0">
                  <a:pos x="T4" y="T5"/>
                </a:cxn>
                <a:cxn ang="0">
                  <a:pos x="T6" y="T7"/>
                </a:cxn>
              </a:cxnLst>
              <a:rect l="0" t="0" r="r" b="b"/>
              <a:pathLst>
                <a:path w="2" h="3">
                  <a:moveTo>
                    <a:pt x="0" y="0"/>
                  </a:moveTo>
                  <a:cubicBezTo>
                    <a:pt x="1" y="0"/>
                    <a:pt x="1" y="0"/>
                    <a:pt x="1" y="0"/>
                  </a:cubicBezTo>
                  <a:cubicBezTo>
                    <a:pt x="2" y="1"/>
                    <a:pt x="2" y="3"/>
                    <a:pt x="1" y="3"/>
                  </a:cubicBezTo>
                  <a:cubicBezTo>
                    <a:pt x="0" y="3"/>
                    <a:pt x="1"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2" name="Freeform 9"/>
            <p:cNvSpPr>
              <a:spLocks/>
            </p:cNvSpPr>
            <p:nvPr/>
          </p:nvSpPr>
          <p:spPr bwMode="auto">
            <a:xfrm>
              <a:off x="1976438" y="2532063"/>
              <a:ext cx="11113" cy="23813"/>
            </a:xfrm>
            <a:custGeom>
              <a:avLst/>
              <a:gdLst>
                <a:gd name="T0" fmla="*/ 1 w 2"/>
                <a:gd name="T1" fmla="*/ 0 h 4"/>
                <a:gd name="T2" fmla="*/ 2 w 2"/>
                <a:gd name="T3" fmla="*/ 1 h 4"/>
                <a:gd name="T4" fmla="*/ 2 w 2"/>
                <a:gd name="T5" fmla="*/ 4 h 4"/>
                <a:gd name="T6" fmla="*/ 1 w 2"/>
                <a:gd name="T7" fmla="*/ 0 h 4"/>
              </a:gdLst>
              <a:ahLst/>
              <a:cxnLst>
                <a:cxn ang="0">
                  <a:pos x="T0" y="T1"/>
                </a:cxn>
                <a:cxn ang="0">
                  <a:pos x="T2" y="T3"/>
                </a:cxn>
                <a:cxn ang="0">
                  <a:pos x="T4" y="T5"/>
                </a:cxn>
                <a:cxn ang="0">
                  <a:pos x="T6" y="T7"/>
                </a:cxn>
              </a:cxnLst>
              <a:rect l="0" t="0" r="r" b="b"/>
              <a:pathLst>
                <a:path w="2" h="4">
                  <a:moveTo>
                    <a:pt x="1" y="0"/>
                  </a:moveTo>
                  <a:cubicBezTo>
                    <a:pt x="1" y="0"/>
                    <a:pt x="1" y="1"/>
                    <a:pt x="2" y="1"/>
                  </a:cubicBezTo>
                  <a:cubicBezTo>
                    <a:pt x="2" y="2"/>
                    <a:pt x="2" y="3"/>
                    <a:pt x="2" y="4"/>
                  </a:cubicBezTo>
                  <a:cubicBezTo>
                    <a:pt x="0" y="4"/>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3" name="Freeform 10"/>
            <p:cNvSpPr>
              <a:spLocks/>
            </p:cNvSpPr>
            <p:nvPr/>
          </p:nvSpPr>
          <p:spPr bwMode="auto">
            <a:xfrm>
              <a:off x="2152650" y="2566988"/>
              <a:ext cx="11113" cy="12700"/>
            </a:xfrm>
            <a:custGeom>
              <a:avLst/>
              <a:gdLst>
                <a:gd name="T0" fmla="*/ 1 w 2"/>
                <a:gd name="T1" fmla="*/ 0 h 2"/>
                <a:gd name="T2" fmla="*/ 2 w 2"/>
                <a:gd name="T3" fmla="*/ 0 h 2"/>
                <a:gd name="T4" fmla="*/ 1 w 2"/>
                <a:gd name="T5" fmla="*/ 2 h 2"/>
                <a:gd name="T6" fmla="*/ 1 w 2"/>
                <a:gd name="T7" fmla="*/ 0 h 2"/>
              </a:gdLst>
              <a:ahLst/>
              <a:cxnLst>
                <a:cxn ang="0">
                  <a:pos x="T0" y="T1"/>
                </a:cxn>
                <a:cxn ang="0">
                  <a:pos x="T2" y="T3"/>
                </a:cxn>
                <a:cxn ang="0">
                  <a:pos x="T4" y="T5"/>
                </a:cxn>
                <a:cxn ang="0">
                  <a:pos x="T6" y="T7"/>
                </a:cxn>
              </a:cxnLst>
              <a:rect l="0" t="0" r="r" b="b"/>
              <a:pathLst>
                <a:path w="2" h="2">
                  <a:moveTo>
                    <a:pt x="1" y="0"/>
                  </a:moveTo>
                  <a:cubicBezTo>
                    <a:pt x="1" y="0"/>
                    <a:pt x="1" y="0"/>
                    <a:pt x="2" y="0"/>
                  </a:cubicBezTo>
                  <a:cubicBezTo>
                    <a:pt x="2" y="1"/>
                    <a:pt x="2" y="2"/>
                    <a:pt x="1" y="2"/>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4" name="Freeform 11"/>
            <p:cNvSpPr>
              <a:spLocks/>
            </p:cNvSpPr>
            <p:nvPr/>
          </p:nvSpPr>
          <p:spPr bwMode="auto">
            <a:xfrm>
              <a:off x="2046288" y="2573338"/>
              <a:ext cx="11113" cy="17463"/>
            </a:xfrm>
            <a:custGeom>
              <a:avLst/>
              <a:gdLst>
                <a:gd name="T0" fmla="*/ 1 w 2"/>
                <a:gd name="T1" fmla="*/ 0 h 3"/>
                <a:gd name="T2" fmla="*/ 2 w 2"/>
                <a:gd name="T3" fmla="*/ 1 h 3"/>
                <a:gd name="T4" fmla="*/ 1 w 2"/>
                <a:gd name="T5" fmla="*/ 3 h 3"/>
                <a:gd name="T6" fmla="*/ 1 w 2"/>
                <a:gd name="T7" fmla="*/ 0 h 3"/>
              </a:gdLst>
              <a:ahLst/>
              <a:cxnLst>
                <a:cxn ang="0">
                  <a:pos x="T0" y="T1"/>
                </a:cxn>
                <a:cxn ang="0">
                  <a:pos x="T2" y="T3"/>
                </a:cxn>
                <a:cxn ang="0">
                  <a:pos x="T4" y="T5"/>
                </a:cxn>
                <a:cxn ang="0">
                  <a:pos x="T6" y="T7"/>
                </a:cxn>
              </a:cxnLst>
              <a:rect l="0" t="0" r="r" b="b"/>
              <a:pathLst>
                <a:path w="2" h="3">
                  <a:moveTo>
                    <a:pt x="1" y="0"/>
                  </a:moveTo>
                  <a:cubicBezTo>
                    <a:pt x="1" y="1"/>
                    <a:pt x="1" y="1"/>
                    <a:pt x="2" y="1"/>
                  </a:cubicBezTo>
                  <a:cubicBezTo>
                    <a:pt x="2" y="2"/>
                    <a:pt x="2" y="3"/>
                    <a:pt x="1" y="3"/>
                  </a:cubicBezTo>
                  <a:cubicBezTo>
                    <a:pt x="0" y="3"/>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5" name="Freeform 12"/>
            <p:cNvSpPr>
              <a:spLocks/>
            </p:cNvSpPr>
            <p:nvPr/>
          </p:nvSpPr>
          <p:spPr bwMode="auto">
            <a:xfrm>
              <a:off x="1976438" y="2584450"/>
              <a:ext cx="11113" cy="23813"/>
            </a:xfrm>
            <a:custGeom>
              <a:avLst/>
              <a:gdLst>
                <a:gd name="T0" fmla="*/ 0 w 2"/>
                <a:gd name="T1" fmla="*/ 0 h 4"/>
                <a:gd name="T2" fmla="*/ 2 w 2"/>
                <a:gd name="T3" fmla="*/ 0 h 4"/>
                <a:gd name="T4" fmla="*/ 1 w 2"/>
                <a:gd name="T5" fmla="*/ 4 h 4"/>
                <a:gd name="T6" fmla="*/ 0 w 2"/>
                <a:gd name="T7" fmla="*/ 0 h 4"/>
              </a:gdLst>
              <a:ahLst/>
              <a:cxnLst>
                <a:cxn ang="0">
                  <a:pos x="T0" y="T1"/>
                </a:cxn>
                <a:cxn ang="0">
                  <a:pos x="T2" y="T3"/>
                </a:cxn>
                <a:cxn ang="0">
                  <a:pos x="T4" y="T5"/>
                </a:cxn>
                <a:cxn ang="0">
                  <a:pos x="T6" y="T7"/>
                </a:cxn>
              </a:cxnLst>
              <a:rect l="0" t="0" r="r" b="b"/>
              <a:pathLst>
                <a:path w="2" h="4">
                  <a:moveTo>
                    <a:pt x="0" y="0"/>
                  </a:moveTo>
                  <a:cubicBezTo>
                    <a:pt x="1" y="0"/>
                    <a:pt x="1" y="0"/>
                    <a:pt x="2" y="0"/>
                  </a:cubicBezTo>
                  <a:cubicBezTo>
                    <a:pt x="2" y="2"/>
                    <a:pt x="2" y="3"/>
                    <a:pt x="1" y="4"/>
                  </a:cubicBezTo>
                  <a:cubicBezTo>
                    <a:pt x="0" y="4"/>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6" name="Freeform 13"/>
            <p:cNvSpPr>
              <a:spLocks/>
            </p:cNvSpPr>
            <p:nvPr/>
          </p:nvSpPr>
          <p:spPr bwMode="auto">
            <a:xfrm>
              <a:off x="2152650" y="2590800"/>
              <a:ext cx="11113" cy="17463"/>
            </a:xfrm>
            <a:custGeom>
              <a:avLst/>
              <a:gdLst>
                <a:gd name="T0" fmla="*/ 1 w 2"/>
                <a:gd name="T1" fmla="*/ 0 h 3"/>
                <a:gd name="T2" fmla="*/ 1 w 2"/>
                <a:gd name="T3" fmla="*/ 3 h 3"/>
                <a:gd name="T4" fmla="*/ 1 w 2"/>
                <a:gd name="T5" fmla="*/ 0 h 3"/>
              </a:gdLst>
              <a:ahLst/>
              <a:cxnLst>
                <a:cxn ang="0">
                  <a:pos x="T0" y="T1"/>
                </a:cxn>
                <a:cxn ang="0">
                  <a:pos x="T2" y="T3"/>
                </a:cxn>
                <a:cxn ang="0">
                  <a:pos x="T4" y="T5"/>
                </a:cxn>
              </a:cxnLst>
              <a:rect l="0" t="0" r="r" b="b"/>
              <a:pathLst>
                <a:path w="2" h="3">
                  <a:moveTo>
                    <a:pt x="1" y="0"/>
                  </a:moveTo>
                  <a:cubicBezTo>
                    <a:pt x="2" y="0"/>
                    <a:pt x="2" y="3"/>
                    <a:pt x="1" y="3"/>
                  </a:cubicBezTo>
                  <a:cubicBezTo>
                    <a:pt x="0" y="3"/>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7" name="Freeform 14"/>
            <p:cNvSpPr>
              <a:spLocks/>
            </p:cNvSpPr>
            <p:nvPr/>
          </p:nvSpPr>
          <p:spPr bwMode="auto">
            <a:xfrm>
              <a:off x="2046288" y="2614613"/>
              <a:ext cx="11113" cy="17463"/>
            </a:xfrm>
            <a:custGeom>
              <a:avLst/>
              <a:gdLst>
                <a:gd name="T0" fmla="*/ 1 w 2"/>
                <a:gd name="T1" fmla="*/ 0 h 3"/>
                <a:gd name="T2" fmla="*/ 2 w 2"/>
                <a:gd name="T3" fmla="*/ 3 h 3"/>
                <a:gd name="T4" fmla="*/ 1 w 2"/>
                <a:gd name="T5" fmla="*/ 3 h 3"/>
                <a:gd name="T6" fmla="*/ 1 w 2"/>
                <a:gd name="T7" fmla="*/ 0 h 3"/>
              </a:gdLst>
              <a:ahLst/>
              <a:cxnLst>
                <a:cxn ang="0">
                  <a:pos x="T0" y="T1"/>
                </a:cxn>
                <a:cxn ang="0">
                  <a:pos x="T2" y="T3"/>
                </a:cxn>
                <a:cxn ang="0">
                  <a:pos x="T4" y="T5"/>
                </a:cxn>
                <a:cxn ang="0">
                  <a:pos x="T6" y="T7"/>
                </a:cxn>
              </a:cxnLst>
              <a:rect l="0" t="0" r="r" b="b"/>
              <a:pathLst>
                <a:path w="2" h="3">
                  <a:moveTo>
                    <a:pt x="1" y="0"/>
                  </a:moveTo>
                  <a:cubicBezTo>
                    <a:pt x="2" y="0"/>
                    <a:pt x="2" y="2"/>
                    <a:pt x="2" y="3"/>
                  </a:cubicBezTo>
                  <a:cubicBezTo>
                    <a:pt x="1" y="3"/>
                    <a:pt x="1" y="3"/>
                    <a:pt x="1" y="3"/>
                  </a:cubicBezTo>
                  <a:cubicBezTo>
                    <a:pt x="0" y="3"/>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8" name="Freeform 15"/>
            <p:cNvSpPr>
              <a:spLocks/>
            </p:cNvSpPr>
            <p:nvPr/>
          </p:nvSpPr>
          <p:spPr bwMode="auto">
            <a:xfrm>
              <a:off x="2152650" y="2632075"/>
              <a:ext cx="11113" cy="23813"/>
            </a:xfrm>
            <a:custGeom>
              <a:avLst/>
              <a:gdLst>
                <a:gd name="T0" fmla="*/ 1 w 2"/>
                <a:gd name="T1" fmla="*/ 0 h 4"/>
                <a:gd name="T2" fmla="*/ 2 w 2"/>
                <a:gd name="T3" fmla="*/ 3 h 4"/>
                <a:gd name="T4" fmla="*/ 1 w 2"/>
                <a:gd name="T5" fmla="*/ 0 h 4"/>
              </a:gdLst>
              <a:ahLst/>
              <a:cxnLst>
                <a:cxn ang="0">
                  <a:pos x="T0" y="T1"/>
                </a:cxn>
                <a:cxn ang="0">
                  <a:pos x="T2" y="T3"/>
                </a:cxn>
                <a:cxn ang="0">
                  <a:pos x="T4" y="T5"/>
                </a:cxn>
              </a:cxnLst>
              <a:rect l="0" t="0" r="r" b="b"/>
              <a:pathLst>
                <a:path w="2" h="4">
                  <a:moveTo>
                    <a:pt x="1" y="0"/>
                  </a:moveTo>
                  <a:cubicBezTo>
                    <a:pt x="2" y="0"/>
                    <a:pt x="1" y="2"/>
                    <a:pt x="2" y="3"/>
                  </a:cubicBezTo>
                  <a:cubicBezTo>
                    <a:pt x="0" y="4"/>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49" name="Freeform 16"/>
            <p:cNvSpPr>
              <a:spLocks/>
            </p:cNvSpPr>
            <p:nvPr/>
          </p:nvSpPr>
          <p:spPr bwMode="auto">
            <a:xfrm>
              <a:off x="1976438" y="2632075"/>
              <a:ext cx="11113" cy="23813"/>
            </a:xfrm>
            <a:custGeom>
              <a:avLst/>
              <a:gdLst>
                <a:gd name="T0" fmla="*/ 1 w 2"/>
                <a:gd name="T1" fmla="*/ 1 h 4"/>
                <a:gd name="T2" fmla="*/ 0 w 2"/>
                <a:gd name="T3" fmla="*/ 3 h 4"/>
                <a:gd name="T4" fmla="*/ 1 w 2"/>
                <a:gd name="T5" fmla="*/ 1 h 4"/>
              </a:gdLst>
              <a:ahLst/>
              <a:cxnLst>
                <a:cxn ang="0">
                  <a:pos x="T0" y="T1"/>
                </a:cxn>
                <a:cxn ang="0">
                  <a:pos x="T2" y="T3"/>
                </a:cxn>
                <a:cxn ang="0">
                  <a:pos x="T4" y="T5"/>
                </a:cxn>
              </a:cxnLst>
              <a:rect l="0" t="0" r="r" b="b"/>
              <a:pathLst>
                <a:path w="2" h="4">
                  <a:moveTo>
                    <a:pt x="1" y="1"/>
                  </a:moveTo>
                  <a:cubicBezTo>
                    <a:pt x="2" y="0"/>
                    <a:pt x="2" y="4"/>
                    <a:pt x="0" y="3"/>
                  </a:cubicBezTo>
                  <a:cubicBezTo>
                    <a:pt x="0" y="2"/>
                    <a:pt x="0"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0" name="Freeform 17"/>
            <p:cNvSpPr>
              <a:spLocks/>
            </p:cNvSpPr>
            <p:nvPr/>
          </p:nvSpPr>
          <p:spPr bwMode="auto">
            <a:xfrm>
              <a:off x="2039938" y="2655888"/>
              <a:ext cx="17463" cy="17463"/>
            </a:xfrm>
            <a:custGeom>
              <a:avLst/>
              <a:gdLst>
                <a:gd name="T0" fmla="*/ 2 w 3"/>
                <a:gd name="T1" fmla="*/ 0 h 3"/>
                <a:gd name="T2" fmla="*/ 2 w 3"/>
                <a:gd name="T3" fmla="*/ 3 h 3"/>
                <a:gd name="T4" fmla="*/ 2 w 3"/>
                <a:gd name="T5" fmla="*/ 0 h 3"/>
              </a:gdLst>
              <a:ahLst/>
              <a:cxnLst>
                <a:cxn ang="0">
                  <a:pos x="T0" y="T1"/>
                </a:cxn>
                <a:cxn ang="0">
                  <a:pos x="T2" y="T3"/>
                </a:cxn>
                <a:cxn ang="0">
                  <a:pos x="T4" y="T5"/>
                </a:cxn>
              </a:cxnLst>
              <a:rect l="0" t="0" r="r" b="b"/>
              <a:pathLst>
                <a:path w="3" h="3">
                  <a:moveTo>
                    <a:pt x="2" y="0"/>
                  </a:moveTo>
                  <a:cubicBezTo>
                    <a:pt x="3" y="0"/>
                    <a:pt x="3" y="3"/>
                    <a:pt x="2" y="3"/>
                  </a:cubicBezTo>
                  <a:cubicBezTo>
                    <a:pt x="0" y="3"/>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1" name="Freeform 18"/>
            <p:cNvSpPr>
              <a:spLocks/>
            </p:cNvSpPr>
            <p:nvPr/>
          </p:nvSpPr>
          <p:spPr bwMode="auto">
            <a:xfrm>
              <a:off x="2157413" y="2667000"/>
              <a:ext cx="12700" cy="11113"/>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2" y="0"/>
                    <a:pt x="1" y="2"/>
                    <a:pt x="1" y="2"/>
                  </a:cubicBezTo>
                  <a:cubicBezTo>
                    <a:pt x="0" y="2"/>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2" name="Freeform 19"/>
            <p:cNvSpPr>
              <a:spLocks/>
            </p:cNvSpPr>
            <p:nvPr/>
          </p:nvSpPr>
          <p:spPr bwMode="auto">
            <a:xfrm>
              <a:off x="1976438" y="2684463"/>
              <a:ext cx="11113" cy="12700"/>
            </a:xfrm>
            <a:custGeom>
              <a:avLst/>
              <a:gdLst>
                <a:gd name="T0" fmla="*/ 1 w 2"/>
                <a:gd name="T1" fmla="*/ 0 h 2"/>
                <a:gd name="T2" fmla="*/ 2 w 2"/>
                <a:gd name="T3" fmla="*/ 2 h 2"/>
                <a:gd name="T4" fmla="*/ 1 w 2"/>
                <a:gd name="T5" fmla="*/ 0 h 2"/>
              </a:gdLst>
              <a:ahLst/>
              <a:cxnLst>
                <a:cxn ang="0">
                  <a:pos x="T0" y="T1"/>
                </a:cxn>
                <a:cxn ang="0">
                  <a:pos x="T2" y="T3"/>
                </a:cxn>
                <a:cxn ang="0">
                  <a:pos x="T4" y="T5"/>
                </a:cxn>
              </a:cxnLst>
              <a:rect l="0" t="0" r="r" b="b"/>
              <a:pathLst>
                <a:path w="2" h="2">
                  <a:moveTo>
                    <a:pt x="1" y="0"/>
                  </a:moveTo>
                  <a:cubicBezTo>
                    <a:pt x="2" y="0"/>
                    <a:pt x="2" y="2"/>
                    <a:pt x="2" y="2"/>
                  </a:cubicBezTo>
                  <a:cubicBezTo>
                    <a:pt x="1"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3" name="Freeform 20"/>
            <p:cNvSpPr>
              <a:spLocks/>
            </p:cNvSpPr>
            <p:nvPr/>
          </p:nvSpPr>
          <p:spPr bwMode="auto">
            <a:xfrm>
              <a:off x="2157413" y="2690813"/>
              <a:ext cx="6350" cy="23813"/>
            </a:xfrm>
            <a:custGeom>
              <a:avLst/>
              <a:gdLst>
                <a:gd name="T0" fmla="*/ 0 w 1"/>
                <a:gd name="T1" fmla="*/ 0 h 4"/>
                <a:gd name="T2" fmla="*/ 0 w 1"/>
                <a:gd name="T3" fmla="*/ 3 h 4"/>
                <a:gd name="T4" fmla="*/ 0 w 1"/>
                <a:gd name="T5" fmla="*/ 0 h 4"/>
              </a:gdLst>
              <a:ahLst/>
              <a:cxnLst>
                <a:cxn ang="0">
                  <a:pos x="T0" y="T1"/>
                </a:cxn>
                <a:cxn ang="0">
                  <a:pos x="T2" y="T3"/>
                </a:cxn>
                <a:cxn ang="0">
                  <a:pos x="T4" y="T5"/>
                </a:cxn>
              </a:cxnLst>
              <a:rect l="0" t="0" r="r" b="b"/>
              <a:pathLst>
                <a:path w="1" h="4">
                  <a:moveTo>
                    <a:pt x="0" y="0"/>
                  </a:moveTo>
                  <a:cubicBezTo>
                    <a:pt x="1" y="0"/>
                    <a:pt x="1" y="4"/>
                    <a:pt x="0" y="3"/>
                  </a:cubicBezTo>
                  <a:cubicBezTo>
                    <a:pt x="0" y="2"/>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4" name="Freeform 21"/>
            <p:cNvSpPr>
              <a:spLocks/>
            </p:cNvSpPr>
            <p:nvPr/>
          </p:nvSpPr>
          <p:spPr bwMode="auto">
            <a:xfrm>
              <a:off x="2046288" y="2701925"/>
              <a:ext cx="11113" cy="12700"/>
            </a:xfrm>
            <a:custGeom>
              <a:avLst/>
              <a:gdLst>
                <a:gd name="T0" fmla="*/ 0 w 2"/>
                <a:gd name="T1" fmla="*/ 0 h 2"/>
                <a:gd name="T2" fmla="*/ 1 w 2"/>
                <a:gd name="T3" fmla="*/ 0 h 2"/>
                <a:gd name="T4" fmla="*/ 1 w 2"/>
                <a:gd name="T5" fmla="*/ 2 h 2"/>
                <a:gd name="T6" fmla="*/ 0 w 2"/>
                <a:gd name="T7" fmla="*/ 0 h 2"/>
              </a:gdLst>
              <a:ahLst/>
              <a:cxnLst>
                <a:cxn ang="0">
                  <a:pos x="T0" y="T1"/>
                </a:cxn>
                <a:cxn ang="0">
                  <a:pos x="T2" y="T3"/>
                </a:cxn>
                <a:cxn ang="0">
                  <a:pos x="T4" y="T5"/>
                </a:cxn>
                <a:cxn ang="0">
                  <a:pos x="T6" y="T7"/>
                </a:cxn>
              </a:cxnLst>
              <a:rect l="0" t="0" r="r" b="b"/>
              <a:pathLst>
                <a:path w="2" h="2">
                  <a:moveTo>
                    <a:pt x="0" y="0"/>
                  </a:moveTo>
                  <a:cubicBezTo>
                    <a:pt x="1" y="0"/>
                    <a:pt x="1" y="0"/>
                    <a:pt x="1" y="0"/>
                  </a:cubicBezTo>
                  <a:cubicBezTo>
                    <a:pt x="2" y="1"/>
                    <a:pt x="1" y="1"/>
                    <a:pt x="1" y="2"/>
                  </a:cubicBezTo>
                  <a:cubicBezTo>
                    <a:pt x="0" y="2"/>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5" name="Freeform 22"/>
            <p:cNvSpPr>
              <a:spLocks/>
            </p:cNvSpPr>
            <p:nvPr/>
          </p:nvSpPr>
          <p:spPr bwMode="auto">
            <a:xfrm>
              <a:off x="1839913" y="2719388"/>
              <a:ext cx="0" cy="6350"/>
            </a:xfrm>
            <a:custGeom>
              <a:avLst/>
              <a:gdLst>
                <a:gd name="T0" fmla="*/ 0 h 1"/>
                <a:gd name="T1" fmla="*/ 1 h 1"/>
                <a:gd name="T2" fmla="*/ 0 h 1"/>
              </a:gdLst>
              <a:ahLst/>
              <a:cxnLst>
                <a:cxn ang="0">
                  <a:pos x="0" y="T0"/>
                </a:cxn>
                <a:cxn ang="0">
                  <a:pos x="0" y="T1"/>
                </a:cxn>
                <a:cxn ang="0">
                  <a:pos x="0" y="T2"/>
                </a:cxn>
              </a:cxnLst>
              <a:rect l="0" t="0" r="r" b="b"/>
              <a:pathLst>
                <a:path h="1">
                  <a:moveTo>
                    <a:pt x="0" y="0"/>
                  </a:moveTo>
                  <a:cubicBezTo>
                    <a:pt x="0" y="0"/>
                    <a:pt x="0" y="0"/>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6" name="Freeform 23"/>
            <p:cNvSpPr>
              <a:spLocks/>
            </p:cNvSpPr>
            <p:nvPr/>
          </p:nvSpPr>
          <p:spPr bwMode="auto">
            <a:xfrm>
              <a:off x="1976438" y="2719388"/>
              <a:ext cx="11113" cy="19050"/>
            </a:xfrm>
            <a:custGeom>
              <a:avLst/>
              <a:gdLst>
                <a:gd name="T0" fmla="*/ 1 w 2"/>
                <a:gd name="T1" fmla="*/ 0 h 3"/>
                <a:gd name="T2" fmla="*/ 2 w 2"/>
                <a:gd name="T3" fmla="*/ 3 h 3"/>
                <a:gd name="T4" fmla="*/ 1 w 2"/>
                <a:gd name="T5" fmla="*/ 0 h 3"/>
              </a:gdLst>
              <a:ahLst/>
              <a:cxnLst>
                <a:cxn ang="0">
                  <a:pos x="T0" y="T1"/>
                </a:cxn>
                <a:cxn ang="0">
                  <a:pos x="T2" y="T3"/>
                </a:cxn>
                <a:cxn ang="0">
                  <a:pos x="T4" y="T5"/>
                </a:cxn>
              </a:cxnLst>
              <a:rect l="0" t="0" r="r" b="b"/>
              <a:pathLst>
                <a:path w="2" h="3">
                  <a:moveTo>
                    <a:pt x="1" y="0"/>
                  </a:moveTo>
                  <a:cubicBezTo>
                    <a:pt x="2" y="0"/>
                    <a:pt x="2" y="2"/>
                    <a:pt x="2" y="3"/>
                  </a:cubicBezTo>
                  <a:cubicBezTo>
                    <a:pt x="0" y="3"/>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7" name="Freeform 24"/>
            <p:cNvSpPr>
              <a:spLocks/>
            </p:cNvSpPr>
            <p:nvPr/>
          </p:nvSpPr>
          <p:spPr bwMode="auto">
            <a:xfrm>
              <a:off x="2046288" y="2732088"/>
              <a:ext cx="11113" cy="17463"/>
            </a:xfrm>
            <a:custGeom>
              <a:avLst/>
              <a:gdLst>
                <a:gd name="T0" fmla="*/ 1 w 2"/>
                <a:gd name="T1" fmla="*/ 0 h 3"/>
                <a:gd name="T2" fmla="*/ 0 w 2"/>
                <a:gd name="T3" fmla="*/ 2 h 3"/>
                <a:gd name="T4" fmla="*/ 1 w 2"/>
                <a:gd name="T5" fmla="*/ 0 h 3"/>
              </a:gdLst>
              <a:ahLst/>
              <a:cxnLst>
                <a:cxn ang="0">
                  <a:pos x="T0" y="T1"/>
                </a:cxn>
                <a:cxn ang="0">
                  <a:pos x="T2" y="T3"/>
                </a:cxn>
                <a:cxn ang="0">
                  <a:pos x="T4" y="T5"/>
                </a:cxn>
              </a:cxnLst>
              <a:rect l="0" t="0" r="r" b="b"/>
              <a:pathLst>
                <a:path w="2" h="3">
                  <a:moveTo>
                    <a:pt x="1" y="0"/>
                  </a:moveTo>
                  <a:cubicBezTo>
                    <a:pt x="2" y="0"/>
                    <a:pt x="2" y="3"/>
                    <a:pt x="0" y="2"/>
                  </a:cubicBezTo>
                  <a:cubicBezTo>
                    <a:pt x="0" y="1"/>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58" name="Freeform 25"/>
            <p:cNvSpPr>
              <a:spLocks/>
            </p:cNvSpPr>
            <p:nvPr/>
          </p:nvSpPr>
          <p:spPr bwMode="auto">
            <a:xfrm>
              <a:off x="1835150" y="2738438"/>
              <a:ext cx="11113" cy="17463"/>
            </a:xfrm>
            <a:custGeom>
              <a:avLst/>
              <a:gdLst>
                <a:gd name="T0" fmla="*/ 1 w 2"/>
                <a:gd name="T1" fmla="*/ 0 h 3"/>
                <a:gd name="T2" fmla="*/ 0 w 2"/>
                <a:gd name="T3" fmla="*/ 3 h 3"/>
                <a:gd name="T4" fmla="*/ 1 w 2"/>
                <a:gd name="T5" fmla="*/ 0 h 3"/>
              </a:gdLst>
              <a:ahLst/>
              <a:cxnLst>
                <a:cxn ang="0">
                  <a:pos x="T0" y="T1"/>
                </a:cxn>
                <a:cxn ang="0">
                  <a:pos x="T2" y="T3"/>
                </a:cxn>
                <a:cxn ang="0">
                  <a:pos x="T4" y="T5"/>
                </a:cxn>
              </a:cxnLst>
              <a:rect l="0" t="0" r="r" b="b"/>
              <a:pathLst>
                <a:path w="2" h="3">
                  <a:moveTo>
                    <a:pt x="1" y="0"/>
                  </a:moveTo>
                  <a:cubicBezTo>
                    <a:pt x="2" y="0"/>
                    <a:pt x="2" y="3"/>
                    <a:pt x="0" y="3"/>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grpSp>
      <p:grpSp>
        <p:nvGrpSpPr>
          <p:cNvPr id="159" name="Group 158"/>
          <p:cNvGrpSpPr/>
          <p:nvPr/>
        </p:nvGrpSpPr>
        <p:grpSpPr>
          <a:xfrm>
            <a:off x="2119105" y="1724307"/>
            <a:ext cx="382588" cy="632694"/>
            <a:chOff x="1915338" y="1340959"/>
            <a:chExt cx="382588" cy="609600"/>
          </a:xfrm>
          <a:solidFill>
            <a:srgbClr val="86BC25">
              <a:lumMod val="75000"/>
            </a:srgbClr>
          </a:solidFill>
        </p:grpSpPr>
        <p:sp>
          <p:nvSpPr>
            <p:cNvPr id="160" name="Freeform 148"/>
            <p:cNvSpPr>
              <a:spLocks/>
            </p:cNvSpPr>
            <p:nvPr/>
          </p:nvSpPr>
          <p:spPr bwMode="auto">
            <a:xfrm>
              <a:off x="1915338" y="1340959"/>
              <a:ext cx="382588" cy="609600"/>
            </a:xfrm>
            <a:custGeom>
              <a:avLst/>
              <a:gdLst>
                <a:gd name="T0" fmla="*/ 31 w 54"/>
                <a:gd name="T1" fmla="*/ 86 h 86"/>
                <a:gd name="T2" fmla="*/ 29 w 54"/>
                <a:gd name="T3" fmla="*/ 69 h 86"/>
                <a:gd name="T4" fmla="*/ 28 w 54"/>
                <a:gd name="T5" fmla="*/ 56 h 86"/>
                <a:gd name="T6" fmla="*/ 25 w 54"/>
                <a:gd name="T7" fmla="*/ 50 h 86"/>
                <a:gd name="T8" fmla="*/ 23 w 54"/>
                <a:gd name="T9" fmla="*/ 57 h 86"/>
                <a:gd name="T10" fmla="*/ 20 w 54"/>
                <a:gd name="T11" fmla="*/ 80 h 86"/>
                <a:gd name="T12" fmla="*/ 16 w 54"/>
                <a:gd name="T13" fmla="*/ 85 h 86"/>
                <a:gd name="T14" fmla="*/ 17 w 54"/>
                <a:gd name="T15" fmla="*/ 70 h 86"/>
                <a:gd name="T16" fmla="*/ 17 w 54"/>
                <a:gd name="T17" fmla="*/ 36 h 86"/>
                <a:gd name="T18" fmla="*/ 17 w 54"/>
                <a:gd name="T19" fmla="*/ 29 h 86"/>
                <a:gd name="T20" fmla="*/ 12 w 54"/>
                <a:gd name="T21" fmla="*/ 22 h 86"/>
                <a:gd name="T22" fmla="*/ 6 w 54"/>
                <a:gd name="T23" fmla="*/ 15 h 86"/>
                <a:gd name="T24" fmla="*/ 2 w 54"/>
                <a:gd name="T25" fmla="*/ 7 h 86"/>
                <a:gd name="T26" fmla="*/ 1 w 54"/>
                <a:gd name="T27" fmla="*/ 2 h 86"/>
                <a:gd name="T28" fmla="*/ 6 w 54"/>
                <a:gd name="T29" fmla="*/ 5 h 86"/>
                <a:gd name="T30" fmla="*/ 10 w 54"/>
                <a:gd name="T31" fmla="*/ 10 h 86"/>
                <a:gd name="T32" fmla="*/ 20 w 54"/>
                <a:gd name="T33" fmla="*/ 20 h 86"/>
                <a:gd name="T34" fmla="*/ 33 w 54"/>
                <a:gd name="T35" fmla="*/ 21 h 86"/>
                <a:gd name="T36" fmla="*/ 40 w 54"/>
                <a:gd name="T37" fmla="*/ 15 h 86"/>
                <a:gd name="T38" fmla="*/ 44 w 54"/>
                <a:gd name="T39" fmla="*/ 7 h 86"/>
                <a:gd name="T40" fmla="*/ 50 w 54"/>
                <a:gd name="T41" fmla="*/ 0 h 86"/>
                <a:gd name="T42" fmla="*/ 53 w 54"/>
                <a:gd name="T43" fmla="*/ 7 h 86"/>
                <a:gd name="T44" fmla="*/ 45 w 54"/>
                <a:gd name="T45" fmla="*/ 20 h 86"/>
                <a:gd name="T46" fmla="*/ 35 w 54"/>
                <a:gd name="T47" fmla="*/ 45 h 86"/>
                <a:gd name="T48" fmla="*/ 36 w 54"/>
                <a:gd name="T49" fmla="*/ 70 h 86"/>
                <a:gd name="T50" fmla="*/ 31 w 54"/>
                <a:gd name="T51"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4" h="86">
                  <a:moveTo>
                    <a:pt x="31" y="86"/>
                  </a:moveTo>
                  <a:cubicBezTo>
                    <a:pt x="29" y="81"/>
                    <a:pt x="29" y="75"/>
                    <a:pt x="29" y="69"/>
                  </a:cubicBezTo>
                  <a:cubicBezTo>
                    <a:pt x="28" y="63"/>
                    <a:pt x="28" y="61"/>
                    <a:pt x="28" y="56"/>
                  </a:cubicBezTo>
                  <a:cubicBezTo>
                    <a:pt x="27" y="54"/>
                    <a:pt x="27" y="51"/>
                    <a:pt x="25" y="50"/>
                  </a:cubicBezTo>
                  <a:cubicBezTo>
                    <a:pt x="23" y="52"/>
                    <a:pt x="23" y="55"/>
                    <a:pt x="23" y="57"/>
                  </a:cubicBezTo>
                  <a:cubicBezTo>
                    <a:pt x="22" y="66"/>
                    <a:pt x="22" y="71"/>
                    <a:pt x="20" y="80"/>
                  </a:cubicBezTo>
                  <a:cubicBezTo>
                    <a:pt x="20" y="82"/>
                    <a:pt x="19" y="86"/>
                    <a:pt x="16" y="85"/>
                  </a:cubicBezTo>
                  <a:cubicBezTo>
                    <a:pt x="16" y="80"/>
                    <a:pt x="17" y="75"/>
                    <a:pt x="17" y="70"/>
                  </a:cubicBezTo>
                  <a:cubicBezTo>
                    <a:pt x="17" y="59"/>
                    <a:pt x="17" y="47"/>
                    <a:pt x="17" y="36"/>
                  </a:cubicBezTo>
                  <a:cubicBezTo>
                    <a:pt x="17" y="34"/>
                    <a:pt x="17" y="31"/>
                    <a:pt x="17" y="29"/>
                  </a:cubicBezTo>
                  <a:cubicBezTo>
                    <a:pt x="16" y="27"/>
                    <a:pt x="14" y="24"/>
                    <a:pt x="12" y="22"/>
                  </a:cubicBezTo>
                  <a:cubicBezTo>
                    <a:pt x="10" y="19"/>
                    <a:pt x="8" y="17"/>
                    <a:pt x="6" y="15"/>
                  </a:cubicBezTo>
                  <a:cubicBezTo>
                    <a:pt x="5" y="13"/>
                    <a:pt x="6" y="15"/>
                    <a:pt x="2" y="7"/>
                  </a:cubicBezTo>
                  <a:cubicBezTo>
                    <a:pt x="1" y="6"/>
                    <a:pt x="0" y="3"/>
                    <a:pt x="1" y="2"/>
                  </a:cubicBezTo>
                  <a:cubicBezTo>
                    <a:pt x="4" y="1"/>
                    <a:pt x="5" y="4"/>
                    <a:pt x="6" y="5"/>
                  </a:cubicBezTo>
                  <a:cubicBezTo>
                    <a:pt x="7" y="7"/>
                    <a:pt x="9" y="8"/>
                    <a:pt x="10" y="10"/>
                  </a:cubicBezTo>
                  <a:cubicBezTo>
                    <a:pt x="13" y="13"/>
                    <a:pt x="16" y="19"/>
                    <a:pt x="20" y="20"/>
                  </a:cubicBezTo>
                  <a:cubicBezTo>
                    <a:pt x="22" y="22"/>
                    <a:pt x="30" y="23"/>
                    <a:pt x="33" y="21"/>
                  </a:cubicBezTo>
                  <a:cubicBezTo>
                    <a:pt x="35" y="21"/>
                    <a:pt x="38" y="17"/>
                    <a:pt x="40" y="15"/>
                  </a:cubicBezTo>
                  <a:cubicBezTo>
                    <a:pt x="41" y="13"/>
                    <a:pt x="43" y="10"/>
                    <a:pt x="44" y="7"/>
                  </a:cubicBezTo>
                  <a:cubicBezTo>
                    <a:pt x="46" y="5"/>
                    <a:pt x="48" y="1"/>
                    <a:pt x="50" y="0"/>
                  </a:cubicBezTo>
                  <a:cubicBezTo>
                    <a:pt x="53" y="0"/>
                    <a:pt x="54" y="4"/>
                    <a:pt x="53" y="7"/>
                  </a:cubicBezTo>
                  <a:cubicBezTo>
                    <a:pt x="51" y="11"/>
                    <a:pt x="47" y="16"/>
                    <a:pt x="45" y="20"/>
                  </a:cubicBezTo>
                  <a:cubicBezTo>
                    <a:pt x="37" y="33"/>
                    <a:pt x="35" y="30"/>
                    <a:pt x="35" y="45"/>
                  </a:cubicBezTo>
                  <a:cubicBezTo>
                    <a:pt x="35" y="53"/>
                    <a:pt x="36" y="61"/>
                    <a:pt x="36" y="70"/>
                  </a:cubicBezTo>
                  <a:cubicBezTo>
                    <a:pt x="36" y="77"/>
                    <a:pt x="36" y="84"/>
                    <a:pt x="31" y="86"/>
                  </a:cubicBezTo>
                  <a:close/>
                </a:path>
              </a:pathLst>
            </a:custGeom>
            <a:solidFill>
              <a:srgbClr val="007CB0">
                <a:lumMod val="50000"/>
              </a:srgb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1" name="Freeform 149"/>
            <p:cNvSpPr>
              <a:spLocks/>
            </p:cNvSpPr>
            <p:nvPr/>
          </p:nvSpPr>
          <p:spPr bwMode="auto">
            <a:xfrm>
              <a:off x="2042339" y="1361597"/>
              <a:ext cx="112713" cy="106363"/>
            </a:xfrm>
            <a:custGeom>
              <a:avLst/>
              <a:gdLst>
                <a:gd name="T0" fmla="*/ 13 w 16"/>
                <a:gd name="T1" fmla="*/ 13 h 15"/>
                <a:gd name="T2" fmla="*/ 8 w 16"/>
                <a:gd name="T3" fmla="*/ 15 h 15"/>
                <a:gd name="T4" fmla="*/ 9 w 16"/>
                <a:gd name="T5" fmla="*/ 1 h 15"/>
                <a:gd name="T6" fmla="*/ 13 w 16"/>
                <a:gd name="T7" fmla="*/ 13 h 15"/>
              </a:gdLst>
              <a:ahLst/>
              <a:cxnLst>
                <a:cxn ang="0">
                  <a:pos x="T0" y="T1"/>
                </a:cxn>
                <a:cxn ang="0">
                  <a:pos x="T2" y="T3"/>
                </a:cxn>
                <a:cxn ang="0">
                  <a:pos x="T4" y="T5"/>
                </a:cxn>
                <a:cxn ang="0">
                  <a:pos x="T6" y="T7"/>
                </a:cxn>
              </a:cxnLst>
              <a:rect l="0" t="0" r="r" b="b"/>
              <a:pathLst>
                <a:path w="16" h="15">
                  <a:moveTo>
                    <a:pt x="13" y="13"/>
                  </a:moveTo>
                  <a:cubicBezTo>
                    <a:pt x="11" y="14"/>
                    <a:pt x="9" y="14"/>
                    <a:pt x="8" y="15"/>
                  </a:cubicBezTo>
                  <a:cubicBezTo>
                    <a:pt x="0" y="14"/>
                    <a:pt x="0" y="0"/>
                    <a:pt x="9" y="1"/>
                  </a:cubicBezTo>
                  <a:cubicBezTo>
                    <a:pt x="14" y="1"/>
                    <a:pt x="16" y="8"/>
                    <a:pt x="13" y="13"/>
                  </a:cubicBezTo>
                  <a:close/>
                </a:path>
              </a:pathLst>
            </a:custGeom>
            <a:solidFill>
              <a:srgbClr val="007CB0">
                <a:lumMod val="50000"/>
              </a:srgbClr>
            </a:solidFill>
            <a:ln>
              <a:noFill/>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grpSp>
      <p:grpSp>
        <p:nvGrpSpPr>
          <p:cNvPr id="162" name="Group 161"/>
          <p:cNvGrpSpPr/>
          <p:nvPr/>
        </p:nvGrpSpPr>
        <p:grpSpPr>
          <a:xfrm>
            <a:off x="9568961" y="1712936"/>
            <a:ext cx="604127" cy="533486"/>
            <a:chOff x="8350250" y="885825"/>
            <a:chExt cx="762000" cy="769938"/>
          </a:xfrm>
          <a:solidFill>
            <a:srgbClr val="43B02A">
              <a:lumMod val="75000"/>
            </a:srgbClr>
          </a:solidFill>
        </p:grpSpPr>
        <p:sp>
          <p:nvSpPr>
            <p:cNvPr id="163" name="Freeform 7"/>
            <p:cNvSpPr>
              <a:spLocks noEditPoints="1"/>
            </p:cNvSpPr>
            <p:nvPr/>
          </p:nvSpPr>
          <p:spPr bwMode="auto">
            <a:xfrm>
              <a:off x="8350250" y="885825"/>
              <a:ext cx="762000" cy="769938"/>
            </a:xfrm>
            <a:custGeom>
              <a:avLst/>
              <a:gdLst>
                <a:gd name="T0" fmla="*/ 102 w 108"/>
                <a:gd name="T1" fmla="*/ 19 h 109"/>
                <a:gd name="T2" fmla="*/ 98 w 108"/>
                <a:gd name="T3" fmla="*/ 36 h 109"/>
                <a:gd name="T4" fmla="*/ 106 w 108"/>
                <a:gd name="T5" fmla="*/ 37 h 109"/>
                <a:gd name="T6" fmla="*/ 104 w 108"/>
                <a:gd name="T7" fmla="*/ 69 h 109"/>
                <a:gd name="T8" fmla="*/ 99 w 108"/>
                <a:gd name="T9" fmla="*/ 99 h 109"/>
                <a:gd name="T10" fmla="*/ 29 w 108"/>
                <a:gd name="T11" fmla="*/ 106 h 109"/>
                <a:gd name="T12" fmla="*/ 8 w 108"/>
                <a:gd name="T13" fmla="*/ 107 h 109"/>
                <a:gd name="T14" fmla="*/ 3 w 108"/>
                <a:gd name="T15" fmla="*/ 73 h 109"/>
                <a:gd name="T16" fmla="*/ 3 w 108"/>
                <a:gd name="T17" fmla="*/ 39 h 109"/>
                <a:gd name="T18" fmla="*/ 30 w 108"/>
                <a:gd name="T19" fmla="*/ 35 h 109"/>
                <a:gd name="T20" fmla="*/ 35 w 108"/>
                <a:gd name="T21" fmla="*/ 18 h 109"/>
                <a:gd name="T22" fmla="*/ 38 w 108"/>
                <a:gd name="T23" fmla="*/ 2 h 109"/>
                <a:gd name="T24" fmla="*/ 47 w 108"/>
                <a:gd name="T25" fmla="*/ 4 h 109"/>
                <a:gd name="T26" fmla="*/ 51 w 108"/>
                <a:gd name="T27" fmla="*/ 1 h 109"/>
                <a:gd name="T28" fmla="*/ 102 w 108"/>
                <a:gd name="T29" fmla="*/ 19 h 109"/>
                <a:gd name="T30" fmla="*/ 51 w 108"/>
                <a:gd name="T31" fmla="*/ 5 h 109"/>
                <a:gd name="T32" fmla="*/ 38 w 108"/>
                <a:gd name="T33" fmla="*/ 49 h 109"/>
                <a:gd name="T34" fmla="*/ 51 w 108"/>
                <a:gd name="T35" fmla="*/ 48 h 109"/>
                <a:gd name="T36" fmla="*/ 57 w 108"/>
                <a:gd name="T37" fmla="*/ 41 h 109"/>
                <a:gd name="T38" fmla="*/ 94 w 108"/>
                <a:gd name="T39" fmla="*/ 37 h 109"/>
                <a:gd name="T40" fmla="*/ 98 w 108"/>
                <a:gd name="T41" fmla="*/ 21 h 109"/>
                <a:gd name="T42" fmla="*/ 51 w 108"/>
                <a:gd name="T43" fmla="*/ 5 h 109"/>
                <a:gd name="T44" fmla="*/ 41 w 108"/>
                <a:gd name="T45" fmla="*/ 7 h 109"/>
                <a:gd name="T46" fmla="*/ 32 w 108"/>
                <a:gd name="T47" fmla="*/ 49 h 109"/>
                <a:gd name="T48" fmla="*/ 36 w 108"/>
                <a:gd name="T49" fmla="*/ 40 h 109"/>
                <a:gd name="T50" fmla="*/ 46 w 108"/>
                <a:gd name="T51" fmla="*/ 8 h 109"/>
                <a:gd name="T52" fmla="*/ 41 w 108"/>
                <a:gd name="T53" fmla="*/ 7 h 109"/>
                <a:gd name="T54" fmla="*/ 16 w 108"/>
                <a:gd name="T55" fmla="*/ 40 h 109"/>
                <a:gd name="T56" fmla="*/ 14 w 108"/>
                <a:gd name="T57" fmla="*/ 40 h 109"/>
                <a:gd name="T58" fmla="*/ 12 w 108"/>
                <a:gd name="T59" fmla="*/ 40 h 109"/>
                <a:gd name="T60" fmla="*/ 13 w 108"/>
                <a:gd name="T61" fmla="*/ 64 h 109"/>
                <a:gd name="T62" fmla="*/ 16 w 108"/>
                <a:gd name="T63" fmla="*/ 40 h 109"/>
                <a:gd name="T64" fmla="*/ 20 w 108"/>
                <a:gd name="T65" fmla="*/ 51 h 109"/>
                <a:gd name="T66" fmla="*/ 22 w 108"/>
                <a:gd name="T67" fmla="*/ 40 h 109"/>
                <a:gd name="T68" fmla="*/ 19 w 108"/>
                <a:gd name="T69" fmla="*/ 40 h 109"/>
                <a:gd name="T70" fmla="*/ 20 w 108"/>
                <a:gd name="T71" fmla="*/ 51 h 109"/>
                <a:gd name="T72" fmla="*/ 27 w 108"/>
                <a:gd name="T73" fmla="*/ 50 h 109"/>
                <a:gd name="T74" fmla="*/ 30 w 108"/>
                <a:gd name="T75" fmla="*/ 40 h 109"/>
                <a:gd name="T76" fmla="*/ 26 w 108"/>
                <a:gd name="T77" fmla="*/ 40 h 109"/>
                <a:gd name="T78" fmla="*/ 27 w 108"/>
                <a:gd name="T79" fmla="*/ 50 h 109"/>
                <a:gd name="T80" fmla="*/ 103 w 108"/>
                <a:gd name="T81" fmla="*/ 42 h 109"/>
                <a:gd name="T82" fmla="*/ 102 w 108"/>
                <a:gd name="T83" fmla="*/ 41 h 109"/>
                <a:gd name="T84" fmla="*/ 59 w 108"/>
                <a:gd name="T85" fmla="*/ 46 h 109"/>
                <a:gd name="T86" fmla="*/ 38 w 108"/>
                <a:gd name="T87" fmla="*/ 54 h 109"/>
                <a:gd name="T88" fmla="*/ 20 w 108"/>
                <a:gd name="T89" fmla="*/ 55 h 109"/>
                <a:gd name="T90" fmla="*/ 12 w 108"/>
                <a:gd name="T91" fmla="*/ 104 h 109"/>
                <a:gd name="T92" fmla="*/ 97 w 108"/>
                <a:gd name="T93" fmla="*/ 97 h 109"/>
                <a:gd name="T94" fmla="*/ 103 w 108"/>
                <a:gd name="T95" fmla="*/ 42 h 109"/>
                <a:gd name="T96" fmla="*/ 7 w 108"/>
                <a:gd name="T97" fmla="*/ 43 h 109"/>
                <a:gd name="T98" fmla="*/ 9 w 108"/>
                <a:gd name="T99" fmla="*/ 89 h 109"/>
                <a:gd name="T100" fmla="*/ 8 w 108"/>
                <a:gd name="T101" fmla="*/ 41 h 109"/>
                <a:gd name="T102" fmla="*/ 7 w 108"/>
                <a:gd name="T103" fmla="*/ 4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8" h="109">
                  <a:moveTo>
                    <a:pt x="102" y="19"/>
                  </a:moveTo>
                  <a:cubicBezTo>
                    <a:pt x="102" y="26"/>
                    <a:pt x="98" y="29"/>
                    <a:pt x="98" y="36"/>
                  </a:cubicBezTo>
                  <a:cubicBezTo>
                    <a:pt x="99" y="37"/>
                    <a:pt x="104" y="35"/>
                    <a:pt x="106" y="37"/>
                  </a:cubicBezTo>
                  <a:cubicBezTo>
                    <a:pt x="108" y="47"/>
                    <a:pt x="105" y="58"/>
                    <a:pt x="104" y="69"/>
                  </a:cubicBezTo>
                  <a:cubicBezTo>
                    <a:pt x="103" y="80"/>
                    <a:pt x="103" y="91"/>
                    <a:pt x="99" y="99"/>
                  </a:cubicBezTo>
                  <a:cubicBezTo>
                    <a:pt x="78" y="103"/>
                    <a:pt x="52" y="103"/>
                    <a:pt x="29" y="106"/>
                  </a:cubicBezTo>
                  <a:cubicBezTo>
                    <a:pt x="22" y="107"/>
                    <a:pt x="15" y="109"/>
                    <a:pt x="8" y="107"/>
                  </a:cubicBezTo>
                  <a:cubicBezTo>
                    <a:pt x="4" y="98"/>
                    <a:pt x="4" y="86"/>
                    <a:pt x="3" y="73"/>
                  </a:cubicBezTo>
                  <a:cubicBezTo>
                    <a:pt x="3" y="61"/>
                    <a:pt x="0" y="49"/>
                    <a:pt x="3" y="39"/>
                  </a:cubicBezTo>
                  <a:cubicBezTo>
                    <a:pt x="9" y="34"/>
                    <a:pt x="20" y="35"/>
                    <a:pt x="30" y="35"/>
                  </a:cubicBezTo>
                  <a:cubicBezTo>
                    <a:pt x="33" y="30"/>
                    <a:pt x="34" y="24"/>
                    <a:pt x="35" y="18"/>
                  </a:cubicBezTo>
                  <a:cubicBezTo>
                    <a:pt x="36" y="12"/>
                    <a:pt x="38" y="7"/>
                    <a:pt x="38" y="2"/>
                  </a:cubicBezTo>
                  <a:cubicBezTo>
                    <a:pt x="41" y="1"/>
                    <a:pt x="44" y="3"/>
                    <a:pt x="47" y="4"/>
                  </a:cubicBezTo>
                  <a:cubicBezTo>
                    <a:pt x="48" y="3"/>
                    <a:pt x="50" y="0"/>
                    <a:pt x="51" y="1"/>
                  </a:cubicBezTo>
                  <a:cubicBezTo>
                    <a:pt x="68" y="8"/>
                    <a:pt x="86" y="12"/>
                    <a:pt x="102" y="19"/>
                  </a:cubicBezTo>
                  <a:close/>
                  <a:moveTo>
                    <a:pt x="51" y="5"/>
                  </a:moveTo>
                  <a:cubicBezTo>
                    <a:pt x="47" y="20"/>
                    <a:pt x="41" y="33"/>
                    <a:pt x="38" y="49"/>
                  </a:cubicBezTo>
                  <a:cubicBezTo>
                    <a:pt x="42" y="49"/>
                    <a:pt x="46" y="48"/>
                    <a:pt x="51" y="48"/>
                  </a:cubicBezTo>
                  <a:cubicBezTo>
                    <a:pt x="54" y="47"/>
                    <a:pt x="54" y="43"/>
                    <a:pt x="57" y="41"/>
                  </a:cubicBezTo>
                  <a:cubicBezTo>
                    <a:pt x="69" y="39"/>
                    <a:pt x="81" y="38"/>
                    <a:pt x="94" y="37"/>
                  </a:cubicBezTo>
                  <a:cubicBezTo>
                    <a:pt x="95" y="31"/>
                    <a:pt x="96" y="26"/>
                    <a:pt x="98" y="21"/>
                  </a:cubicBezTo>
                  <a:cubicBezTo>
                    <a:pt x="83" y="15"/>
                    <a:pt x="66" y="11"/>
                    <a:pt x="51" y="5"/>
                  </a:cubicBezTo>
                  <a:close/>
                  <a:moveTo>
                    <a:pt x="41" y="7"/>
                  </a:moveTo>
                  <a:cubicBezTo>
                    <a:pt x="38" y="21"/>
                    <a:pt x="33" y="33"/>
                    <a:pt x="32" y="49"/>
                  </a:cubicBezTo>
                  <a:cubicBezTo>
                    <a:pt x="35" y="47"/>
                    <a:pt x="35" y="43"/>
                    <a:pt x="36" y="40"/>
                  </a:cubicBezTo>
                  <a:cubicBezTo>
                    <a:pt x="39" y="29"/>
                    <a:pt x="43" y="19"/>
                    <a:pt x="46" y="8"/>
                  </a:cubicBezTo>
                  <a:cubicBezTo>
                    <a:pt x="44" y="8"/>
                    <a:pt x="43" y="7"/>
                    <a:pt x="41" y="7"/>
                  </a:cubicBezTo>
                  <a:close/>
                  <a:moveTo>
                    <a:pt x="16" y="40"/>
                  </a:moveTo>
                  <a:cubicBezTo>
                    <a:pt x="16" y="40"/>
                    <a:pt x="15" y="40"/>
                    <a:pt x="14" y="40"/>
                  </a:cubicBezTo>
                  <a:cubicBezTo>
                    <a:pt x="14" y="41"/>
                    <a:pt x="13" y="40"/>
                    <a:pt x="12" y="40"/>
                  </a:cubicBezTo>
                  <a:cubicBezTo>
                    <a:pt x="13" y="48"/>
                    <a:pt x="10" y="59"/>
                    <a:pt x="13" y="64"/>
                  </a:cubicBezTo>
                  <a:cubicBezTo>
                    <a:pt x="15" y="56"/>
                    <a:pt x="15" y="50"/>
                    <a:pt x="16" y="40"/>
                  </a:cubicBezTo>
                  <a:close/>
                  <a:moveTo>
                    <a:pt x="20" y="51"/>
                  </a:moveTo>
                  <a:cubicBezTo>
                    <a:pt x="24" y="51"/>
                    <a:pt x="21" y="43"/>
                    <a:pt x="22" y="40"/>
                  </a:cubicBezTo>
                  <a:cubicBezTo>
                    <a:pt x="21" y="40"/>
                    <a:pt x="20" y="40"/>
                    <a:pt x="19" y="40"/>
                  </a:cubicBezTo>
                  <a:cubicBezTo>
                    <a:pt x="20" y="43"/>
                    <a:pt x="17" y="50"/>
                    <a:pt x="20" y="51"/>
                  </a:cubicBezTo>
                  <a:close/>
                  <a:moveTo>
                    <a:pt x="27" y="50"/>
                  </a:moveTo>
                  <a:cubicBezTo>
                    <a:pt x="30" y="49"/>
                    <a:pt x="29" y="44"/>
                    <a:pt x="30" y="40"/>
                  </a:cubicBezTo>
                  <a:cubicBezTo>
                    <a:pt x="28" y="40"/>
                    <a:pt x="27" y="40"/>
                    <a:pt x="26" y="40"/>
                  </a:cubicBezTo>
                  <a:cubicBezTo>
                    <a:pt x="27" y="43"/>
                    <a:pt x="24" y="49"/>
                    <a:pt x="27" y="50"/>
                  </a:cubicBezTo>
                  <a:close/>
                  <a:moveTo>
                    <a:pt x="103" y="42"/>
                  </a:moveTo>
                  <a:cubicBezTo>
                    <a:pt x="103" y="41"/>
                    <a:pt x="103" y="41"/>
                    <a:pt x="102" y="41"/>
                  </a:cubicBezTo>
                  <a:cubicBezTo>
                    <a:pt x="89" y="41"/>
                    <a:pt x="73" y="44"/>
                    <a:pt x="59" y="46"/>
                  </a:cubicBezTo>
                  <a:cubicBezTo>
                    <a:pt x="58" y="54"/>
                    <a:pt x="48" y="53"/>
                    <a:pt x="38" y="54"/>
                  </a:cubicBezTo>
                  <a:cubicBezTo>
                    <a:pt x="32" y="54"/>
                    <a:pt x="25" y="55"/>
                    <a:pt x="20" y="55"/>
                  </a:cubicBezTo>
                  <a:cubicBezTo>
                    <a:pt x="15" y="69"/>
                    <a:pt x="14" y="87"/>
                    <a:pt x="12" y="104"/>
                  </a:cubicBezTo>
                  <a:cubicBezTo>
                    <a:pt x="39" y="100"/>
                    <a:pt x="68" y="98"/>
                    <a:pt x="97" y="97"/>
                  </a:cubicBezTo>
                  <a:cubicBezTo>
                    <a:pt x="100" y="79"/>
                    <a:pt x="101" y="58"/>
                    <a:pt x="103" y="42"/>
                  </a:cubicBezTo>
                  <a:close/>
                  <a:moveTo>
                    <a:pt x="7" y="43"/>
                  </a:moveTo>
                  <a:cubicBezTo>
                    <a:pt x="7" y="59"/>
                    <a:pt x="6" y="76"/>
                    <a:pt x="9" y="89"/>
                  </a:cubicBezTo>
                  <a:cubicBezTo>
                    <a:pt x="11" y="74"/>
                    <a:pt x="8" y="58"/>
                    <a:pt x="8" y="41"/>
                  </a:cubicBezTo>
                  <a:cubicBezTo>
                    <a:pt x="8" y="42"/>
                    <a:pt x="6" y="42"/>
                    <a:pt x="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4" name="Freeform 12"/>
            <p:cNvSpPr>
              <a:spLocks/>
            </p:cNvSpPr>
            <p:nvPr/>
          </p:nvSpPr>
          <p:spPr bwMode="auto">
            <a:xfrm>
              <a:off x="8716963" y="957263"/>
              <a:ext cx="282575" cy="119063"/>
            </a:xfrm>
            <a:custGeom>
              <a:avLst/>
              <a:gdLst>
                <a:gd name="T0" fmla="*/ 40 w 40"/>
                <a:gd name="T1" fmla="*/ 17 h 17"/>
                <a:gd name="T2" fmla="*/ 20 w 40"/>
                <a:gd name="T3" fmla="*/ 11 h 17"/>
                <a:gd name="T4" fmla="*/ 0 w 40"/>
                <a:gd name="T5" fmla="*/ 3 h 17"/>
                <a:gd name="T6" fmla="*/ 1 w 40"/>
                <a:gd name="T7" fmla="*/ 1 h 17"/>
                <a:gd name="T8" fmla="*/ 31 w 40"/>
                <a:gd name="T9" fmla="*/ 13 h 17"/>
                <a:gd name="T10" fmla="*/ 40 w 40"/>
                <a:gd name="T11" fmla="*/ 17 h 17"/>
              </a:gdLst>
              <a:ahLst/>
              <a:cxnLst>
                <a:cxn ang="0">
                  <a:pos x="T0" y="T1"/>
                </a:cxn>
                <a:cxn ang="0">
                  <a:pos x="T2" y="T3"/>
                </a:cxn>
                <a:cxn ang="0">
                  <a:pos x="T4" y="T5"/>
                </a:cxn>
                <a:cxn ang="0">
                  <a:pos x="T6" y="T7"/>
                </a:cxn>
                <a:cxn ang="0">
                  <a:pos x="T8" y="T9"/>
                </a:cxn>
                <a:cxn ang="0">
                  <a:pos x="T10" y="T11"/>
                </a:cxn>
              </a:cxnLst>
              <a:rect l="0" t="0" r="r" b="b"/>
              <a:pathLst>
                <a:path w="40" h="17">
                  <a:moveTo>
                    <a:pt x="40" y="17"/>
                  </a:moveTo>
                  <a:cubicBezTo>
                    <a:pt x="33" y="17"/>
                    <a:pt x="26" y="13"/>
                    <a:pt x="20" y="11"/>
                  </a:cubicBezTo>
                  <a:cubicBezTo>
                    <a:pt x="14" y="8"/>
                    <a:pt x="6" y="6"/>
                    <a:pt x="0" y="3"/>
                  </a:cubicBezTo>
                  <a:cubicBezTo>
                    <a:pt x="0" y="2"/>
                    <a:pt x="1" y="2"/>
                    <a:pt x="1" y="1"/>
                  </a:cubicBezTo>
                  <a:cubicBezTo>
                    <a:pt x="11" y="0"/>
                    <a:pt x="22" y="9"/>
                    <a:pt x="31" y="13"/>
                  </a:cubicBezTo>
                  <a:cubicBezTo>
                    <a:pt x="34" y="13"/>
                    <a:pt x="39" y="13"/>
                    <a:pt x="4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5" name="Freeform 13"/>
            <p:cNvSpPr>
              <a:spLocks/>
            </p:cNvSpPr>
            <p:nvPr/>
          </p:nvSpPr>
          <p:spPr bwMode="auto">
            <a:xfrm>
              <a:off x="8716963" y="1006475"/>
              <a:ext cx="254000" cy="112713"/>
            </a:xfrm>
            <a:custGeom>
              <a:avLst/>
              <a:gdLst>
                <a:gd name="T0" fmla="*/ 36 w 36"/>
                <a:gd name="T1" fmla="*/ 14 h 16"/>
                <a:gd name="T2" fmla="*/ 27 w 36"/>
                <a:gd name="T3" fmla="*/ 13 h 16"/>
                <a:gd name="T4" fmla="*/ 0 w 36"/>
                <a:gd name="T5" fmla="*/ 2 h 16"/>
                <a:gd name="T6" fmla="*/ 0 w 36"/>
                <a:gd name="T7" fmla="*/ 0 h 16"/>
                <a:gd name="T8" fmla="*/ 1 w 36"/>
                <a:gd name="T9" fmla="*/ 0 h 16"/>
                <a:gd name="T10" fmla="*/ 19 w 36"/>
                <a:gd name="T11" fmla="*/ 6 h 16"/>
                <a:gd name="T12" fmla="*/ 36 w 36"/>
                <a:gd name="T13" fmla="*/ 14 h 16"/>
              </a:gdLst>
              <a:ahLst/>
              <a:cxnLst>
                <a:cxn ang="0">
                  <a:pos x="T0" y="T1"/>
                </a:cxn>
                <a:cxn ang="0">
                  <a:pos x="T2" y="T3"/>
                </a:cxn>
                <a:cxn ang="0">
                  <a:pos x="T4" y="T5"/>
                </a:cxn>
                <a:cxn ang="0">
                  <a:pos x="T6" y="T7"/>
                </a:cxn>
                <a:cxn ang="0">
                  <a:pos x="T8" y="T9"/>
                </a:cxn>
                <a:cxn ang="0">
                  <a:pos x="T10" y="T11"/>
                </a:cxn>
                <a:cxn ang="0">
                  <a:pos x="T12" y="T13"/>
                </a:cxn>
              </a:cxnLst>
              <a:rect l="0" t="0" r="r" b="b"/>
              <a:pathLst>
                <a:path w="36" h="16">
                  <a:moveTo>
                    <a:pt x="36" y="14"/>
                  </a:moveTo>
                  <a:cubicBezTo>
                    <a:pt x="34" y="16"/>
                    <a:pt x="29" y="13"/>
                    <a:pt x="27" y="13"/>
                  </a:cubicBezTo>
                  <a:cubicBezTo>
                    <a:pt x="19" y="9"/>
                    <a:pt x="9" y="5"/>
                    <a:pt x="0" y="2"/>
                  </a:cubicBezTo>
                  <a:cubicBezTo>
                    <a:pt x="0" y="2"/>
                    <a:pt x="0" y="1"/>
                    <a:pt x="0" y="0"/>
                  </a:cubicBezTo>
                  <a:cubicBezTo>
                    <a:pt x="1" y="0"/>
                    <a:pt x="1" y="0"/>
                    <a:pt x="1" y="0"/>
                  </a:cubicBezTo>
                  <a:cubicBezTo>
                    <a:pt x="8" y="1"/>
                    <a:pt x="14" y="4"/>
                    <a:pt x="19" y="6"/>
                  </a:cubicBezTo>
                  <a:cubicBezTo>
                    <a:pt x="25" y="8"/>
                    <a:pt x="32" y="10"/>
                    <a:pt x="3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6" name="Freeform 16"/>
            <p:cNvSpPr>
              <a:spLocks/>
            </p:cNvSpPr>
            <p:nvPr/>
          </p:nvSpPr>
          <p:spPr bwMode="auto">
            <a:xfrm>
              <a:off x="8710613" y="1055688"/>
              <a:ext cx="196850" cy="77788"/>
            </a:xfrm>
            <a:custGeom>
              <a:avLst/>
              <a:gdLst>
                <a:gd name="T0" fmla="*/ 28 w 28"/>
                <a:gd name="T1" fmla="*/ 11 h 11"/>
                <a:gd name="T2" fmla="*/ 13 w 28"/>
                <a:gd name="T3" fmla="*/ 7 h 11"/>
                <a:gd name="T4" fmla="*/ 0 w 28"/>
                <a:gd name="T5" fmla="*/ 2 h 11"/>
                <a:gd name="T6" fmla="*/ 0 w 28"/>
                <a:gd name="T7" fmla="*/ 0 h 11"/>
                <a:gd name="T8" fmla="*/ 28 w 28"/>
                <a:gd name="T9" fmla="*/ 11 h 11"/>
              </a:gdLst>
              <a:ahLst/>
              <a:cxnLst>
                <a:cxn ang="0">
                  <a:pos x="T0" y="T1"/>
                </a:cxn>
                <a:cxn ang="0">
                  <a:pos x="T2" y="T3"/>
                </a:cxn>
                <a:cxn ang="0">
                  <a:pos x="T4" y="T5"/>
                </a:cxn>
                <a:cxn ang="0">
                  <a:pos x="T6" y="T7"/>
                </a:cxn>
                <a:cxn ang="0">
                  <a:pos x="T8" y="T9"/>
                </a:cxn>
              </a:cxnLst>
              <a:rect l="0" t="0" r="r" b="b"/>
              <a:pathLst>
                <a:path w="28" h="11">
                  <a:moveTo>
                    <a:pt x="28" y="11"/>
                  </a:moveTo>
                  <a:cubicBezTo>
                    <a:pt x="23" y="11"/>
                    <a:pt x="18" y="9"/>
                    <a:pt x="13" y="7"/>
                  </a:cubicBezTo>
                  <a:cubicBezTo>
                    <a:pt x="9" y="6"/>
                    <a:pt x="4" y="4"/>
                    <a:pt x="0" y="2"/>
                  </a:cubicBezTo>
                  <a:cubicBezTo>
                    <a:pt x="0" y="2"/>
                    <a:pt x="0" y="1"/>
                    <a:pt x="0" y="0"/>
                  </a:cubicBezTo>
                  <a:cubicBezTo>
                    <a:pt x="10" y="1"/>
                    <a:pt x="19" y="7"/>
                    <a:pt x="2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7" name="Freeform 17"/>
            <p:cNvSpPr>
              <a:spLocks/>
            </p:cNvSpPr>
            <p:nvPr/>
          </p:nvSpPr>
          <p:spPr bwMode="auto">
            <a:xfrm>
              <a:off x="8702675" y="1098550"/>
              <a:ext cx="120650" cy="63500"/>
            </a:xfrm>
            <a:custGeom>
              <a:avLst/>
              <a:gdLst>
                <a:gd name="T0" fmla="*/ 17 w 17"/>
                <a:gd name="T1" fmla="*/ 9 h 9"/>
                <a:gd name="T2" fmla="*/ 0 w 17"/>
                <a:gd name="T3" fmla="*/ 1 h 9"/>
                <a:gd name="T4" fmla="*/ 1 w 17"/>
                <a:gd name="T5" fmla="*/ 0 h 9"/>
                <a:gd name="T6" fmla="*/ 17 w 17"/>
                <a:gd name="T7" fmla="*/ 9 h 9"/>
              </a:gdLst>
              <a:ahLst/>
              <a:cxnLst>
                <a:cxn ang="0">
                  <a:pos x="T0" y="T1"/>
                </a:cxn>
                <a:cxn ang="0">
                  <a:pos x="T2" y="T3"/>
                </a:cxn>
                <a:cxn ang="0">
                  <a:pos x="T4" y="T5"/>
                </a:cxn>
                <a:cxn ang="0">
                  <a:pos x="T6" y="T7"/>
                </a:cxn>
              </a:cxnLst>
              <a:rect l="0" t="0" r="r" b="b"/>
              <a:pathLst>
                <a:path w="17" h="9">
                  <a:moveTo>
                    <a:pt x="17" y="9"/>
                  </a:moveTo>
                  <a:cubicBezTo>
                    <a:pt x="12" y="8"/>
                    <a:pt x="3" y="6"/>
                    <a:pt x="0" y="1"/>
                  </a:cubicBezTo>
                  <a:cubicBezTo>
                    <a:pt x="0" y="0"/>
                    <a:pt x="1" y="0"/>
                    <a:pt x="1" y="0"/>
                  </a:cubicBezTo>
                  <a:cubicBezTo>
                    <a:pt x="6" y="3"/>
                    <a:pt x="17" y="4"/>
                    <a:pt x="1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8" name="Freeform 19"/>
            <p:cNvSpPr>
              <a:spLocks/>
            </p:cNvSpPr>
            <p:nvPr/>
          </p:nvSpPr>
          <p:spPr bwMode="auto">
            <a:xfrm>
              <a:off x="8675688" y="1127125"/>
              <a:ext cx="63500" cy="49213"/>
            </a:xfrm>
            <a:custGeom>
              <a:avLst/>
              <a:gdLst>
                <a:gd name="T0" fmla="*/ 9 w 9"/>
                <a:gd name="T1" fmla="*/ 7 h 7"/>
                <a:gd name="T2" fmla="*/ 0 w 9"/>
                <a:gd name="T3" fmla="*/ 4 h 7"/>
                <a:gd name="T4" fmla="*/ 9 w 9"/>
                <a:gd name="T5" fmla="*/ 7 h 7"/>
              </a:gdLst>
              <a:ahLst/>
              <a:cxnLst>
                <a:cxn ang="0">
                  <a:pos x="T0" y="T1"/>
                </a:cxn>
                <a:cxn ang="0">
                  <a:pos x="T2" y="T3"/>
                </a:cxn>
                <a:cxn ang="0">
                  <a:pos x="T4" y="T5"/>
                </a:cxn>
              </a:cxnLst>
              <a:rect l="0" t="0" r="r" b="b"/>
              <a:pathLst>
                <a:path w="9" h="7">
                  <a:moveTo>
                    <a:pt x="9" y="7"/>
                  </a:moveTo>
                  <a:cubicBezTo>
                    <a:pt x="5" y="7"/>
                    <a:pt x="2" y="6"/>
                    <a:pt x="0" y="4"/>
                  </a:cubicBezTo>
                  <a:cubicBezTo>
                    <a:pt x="1" y="0"/>
                    <a:pt x="9" y="4"/>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sp>
          <p:nvSpPr>
            <p:cNvPr id="169" name="Freeform 22"/>
            <p:cNvSpPr>
              <a:spLocks/>
            </p:cNvSpPr>
            <p:nvPr/>
          </p:nvSpPr>
          <p:spPr bwMode="auto">
            <a:xfrm>
              <a:off x="8661400" y="1190625"/>
              <a:ext cx="41275" cy="20638"/>
            </a:xfrm>
            <a:custGeom>
              <a:avLst/>
              <a:gdLst>
                <a:gd name="T0" fmla="*/ 0 w 6"/>
                <a:gd name="T1" fmla="*/ 0 h 3"/>
                <a:gd name="T2" fmla="*/ 6 w 6"/>
                <a:gd name="T3" fmla="*/ 3 h 3"/>
                <a:gd name="T4" fmla="*/ 0 w 6"/>
                <a:gd name="T5" fmla="*/ 0 h 3"/>
              </a:gdLst>
              <a:ahLst/>
              <a:cxnLst>
                <a:cxn ang="0">
                  <a:pos x="T0" y="T1"/>
                </a:cxn>
                <a:cxn ang="0">
                  <a:pos x="T2" y="T3"/>
                </a:cxn>
                <a:cxn ang="0">
                  <a:pos x="T4" y="T5"/>
                </a:cxn>
              </a:cxnLst>
              <a:rect l="0" t="0" r="r" b="b"/>
              <a:pathLst>
                <a:path w="6" h="3">
                  <a:moveTo>
                    <a:pt x="0" y="0"/>
                  </a:moveTo>
                  <a:cubicBezTo>
                    <a:pt x="3" y="0"/>
                    <a:pt x="6" y="0"/>
                    <a:pt x="6" y="3"/>
                  </a:cubicBezTo>
                  <a:cubicBezTo>
                    <a:pt x="4" y="3"/>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100" b="1" i="0" u="none" strike="noStrike" kern="0" cap="none" spc="0" normalizeH="0" baseline="0" noProof="0">
                <a:ln>
                  <a:noFill/>
                </a:ln>
                <a:solidFill>
                  <a:srgbClr val="002776"/>
                </a:solidFill>
                <a:effectLst/>
                <a:uLnTx/>
                <a:uFillTx/>
                <a:latin typeface="Arial" pitchFamily="34" charset="0"/>
                <a:ea typeface="+mn-ea"/>
                <a:cs typeface="Arial" pitchFamily="34" charset="0"/>
              </a:endParaRPr>
            </a:p>
          </p:txBody>
        </p:sp>
      </p:grpSp>
      <p:sp>
        <p:nvSpPr>
          <p:cNvPr id="77" name="TextBox 76">
            <a:extLst>
              <a:ext uri="{FF2B5EF4-FFF2-40B4-BE49-F238E27FC236}">
                <a16:creationId xmlns:a16="http://schemas.microsoft.com/office/drawing/2014/main" id="{C68ECDE3-DAC1-434D-B920-6619F3BB7AAD}"/>
              </a:ext>
            </a:extLst>
          </p:cNvPr>
          <p:cNvSpPr txBox="1"/>
          <p:nvPr/>
        </p:nvSpPr>
        <p:spPr>
          <a:xfrm>
            <a:off x="501651" y="708302"/>
            <a:ext cx="6096000" cy="400110"/>
          </a:xfrm>
          <a:prstGeom prst="rect">
            <a:avLst/>
          </a:prstGeom>
          <a:noFill/>
        </p:spPr>
        <p:txBody>
          <a:bodyPr wrap="square">
            <a:spAutoFit/>
          </a:bodyPr>
          <a:lstStyle/>
          <a:p>
            <a:r>
              <a:rPr lang="en-US" sz="2000" b="1" dirty="0">
                <a:solidFill>
                  <a:srgbClr val="86BC25"/>
                </a:solidFill>
                <a:ea typeface="Verdana" panose="020B0604030504040204" pitchFamily="34" charset="0"/>
              </a:rPr>
              <a:t>Summary of the CPP criteria</a:t>
            </a:r>
            <a:endParaRPr lang="en-US" sz="2000" dirty="0"/>
          </a:p>
        </p:txBody>
      </p:sp>
    </p:spTree>
    <p:extLst>
      <p:ext uri="{BB962C8B-B14F-4D97-AF65-F5344CB8AC3E}">
        <p14:creationId xmlns:p14="http://schemas.microsoft.com/office/powerpoint/2010/main" val="355951734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FD70B5-DF51-40BA-933E-6C875AE1BC50}"/>
              </a:ext>
            </a:extLst>
          </p:cNvPr>
          <p:cNvSpPr>
            <a:spLocks noGrp="1"/>
          </p:cNvSpPr>
          <p:nvPr>
            <p:ph type="title"/>
          </p:nvPr>
        </p:nvSpPr>
        <p:spPr/>
        <p:txBody>
          <a:bodyPr/>
          <a:lstStyle/>
          <a:p>
            <a:pPr marL="0" marR="0">
              <a:spcBef>
                <a:spcPts val="0"/>
              </a:spcBef>
              <a:spcAft>
                <a:spcPts val="0"/>
              </a:spcAft>
            </a:pPr>
            <a:r>
              <a:rPr lang="en-US" sz="2400" b="1" dirty="0">
                <a:effectLst/>
                <a:latin typeface="Calibri" panose="020F0502020204030204" pitchFamily="34" charset="0"/>
                <a:ea typeface="Calibri" panose="020F0502020204030204" pitchFamily="34" charset="0"/>
              </a:rPr>
              <a:t>Types of Captive that can be implemented</a:t>
            </a:r>
            <a:endParaRPr lang="en-US" sz="2400" dirty="0">
              <a:effectLst/>
              <a:latin typeface="Calibri" panose="020F0502020204030204" pitchFamily="34" charset="0"/>
              <a:ea typeface="Calibri" panose="020F0502020204030204" pitchFamily="34" charset="0"/>
            </a:endParaRPr>
          </a:p>
        </p:txBody>
      </p:sp>
      <p:sp>
        <p:nvSpPr>
          <p:cNvPr id="19" name="Arrow: Right 18">
            <a:extLst>
              <a:ext uri="{FF2B5EF4-FFF2-40B4-BE49-F238E27FC236}">
                <a16:creationId xmlns:a16="http://schemas.microsoft.com/office/drawing/2014/main" id="{1DC80640-9DB1-4341-A45B-4D98319C9BF6}"/>
              </a:ext>
            </a:extLst>
          </p:cNvPr>
          <p:cNvSpPr/>
          <p:nvPr/>
        </p:nvSpPr>
        <p:spPr bwMode="gray">
          <a:xfrm rot="5400000">
            <a:off x="5672181" y="2425466"/>
            <a:ext cx="599863" cy="205353"/>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1" name="Rectangle 20">
            <a:extLst>
              <a:ext uri="{FF2B5EF4-FFF2-40B4-BE49-F238E27FC236}">
                <a16:creationId xmlns:a16="http://schemas.microsoft.com/office/drawing/2014/main" id="{683C4842-51F8-42EA-A628-DAF4933DD85A}"/>
              </a:ext>
            </a:extLst>
          </p:cNvPr>
          <p:cNvSpPr/>
          <p:nvPr/>
        </p:nvSpPr>
        <p:spPr bwMode="gray">
          <a:xfrm rot="5400000">
            <a:off x="5952544" y="-249144"/>
            <a:ext cx="59326" cy="6213763"/>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2" name="Arrow: Right 21">
            <a:extLst>
              <a:ext uri="{FF2B5EF4-FFF2-40B4-BE49-F238E27FC236}">
                <a16:creationId xmlns:a16="http://schemas.microsoft.com/office/drawing/2014/main" id="{C3E585D4-5EC9-4801-A285-2A65F9904221}"/>
              </a:ext>
            </a:extLst>
          </p:cNvPr>
          <p:cNvSpPr/>
          <p:nvPr/>
        </p:nvSpPr>
        <p:spPr bwMode="gray">
          <a:xfrm rot="5400000">
            <a:off x="2663543" y="2990714"/>
            <a:ext cx="552961" cy="24885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4" name="Rectangle: Rounded Corners 23">
            <a:extLst>
              <a:ext uri="{FF2B5EF4-FFF2-40B4-BE49-F238E27FC236}">
                <a16:creationId xmlns:a16="http://schemas.microsoft.com/office/drawing/2014/main" id="{C0B9D181-47AA-49EA-81DB-7F2AB499D511}"/>
              </a:ext>
            </a:extLst>
          </p:cNvPr>
          <p:cNvSpPr/>
          <p:nvPr/>
        </p:nvSpPr>
        <p:spPr bwMode="gray">
          <a:xfrm>
            <a:off x="1202900" y="3424402"/>
            <a:ext cx="3474245" cy="1306577"/>
          </a:xfrm>
          <a:prstGeom prst="roundRect">
            <a:avLst/>
          </a:prstGeom>
          <a:solidFill>
            <a:schemeClr val="accent1">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2000" b="1" dirty="0"/>
              <a:t>Intrastate</a:t>
            </a:r>
          </a:p>
        </p:txBody>
      </p:sp>
      <p:sp>
        <p:nvSpPr>
          <p:cNvPr id="7" name="Rectangle 6">
            <a:extLst>
              <a:ext uri="{FF2B5EF4-FFF2-40B4-BE49-F238E27FC236}">
                <a16:creationId xmlns:a16="http://schemas.microsoft.com/office/drawing/2014/main" id="{583A2AD3-674A-40A6-8BA5-EA420FE33B3C}"/>
              </a:ext>
            </a:extLst>
          </p:cNvPr>
          <p:cNvSpPr/>
          <p:nvPr/>
        </p:nvSpPr>
        <p:spPr bwMode="gray">
          <a:xfrm>
            <a:off x="4539343" y="1328057"/>
            <a:ext cx="2901222" cy="879764"/>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pPr>
            <a:r>
              <a:rPr lang="en-US" sz="2000" b="1" dirty="0">
                <a:solidFill>
                  <a:schemeClr val="bg1"/>
                </a:solidFill>
              </a:rPr>
              <a:t>Types of Captive</a:t>
            </a:r>
          </a:p>
        </p:txBody>
      </p:sp>
      <p:sp>
        <p:nvSpPr>
          <p:cNvPr id="28" name="Arrow: Right 27">
            <a:extLst>
              <a:ext uri="{FF2B5EF4-FFF2-40B4-BE49-F238E27FC236}">
                <a16:creationId xmlns:a16="http://schemas.microsoft.com/office/drawing/2014/main" id="{8F52E56D-79B8-4D3C-A04E-A66CB7D8BF85}"/>
              </a:ext>
            </a:extLst>
          </p:cNvPr>
          <p:cNvSpPr/>
          <p:nvPr/>
        </p:nvSpPr>
        <p:spPr bwMode="gray">
          <a:xfrm rot="5400000">
            <a:off x="8749020" y="2995311"/>
            <a:ext cx="552961" cy="248850"/>
          </a:xfrm>
          <a:prstGeom prst="rightArrow">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rgbClr val="002060"/>
              </a:solidFill>
            </a:endParaRPr>
          </a:p>
        </p:txBody>
      </p:sp>
      <p:sp>
        <p:nvSpPr>
          <p:cNvPr id="29" name="Rectangle: Rounded Corners 28">
            <a:extLst>
              <a:ext uri="{FF2B5EF4-FFF2-40B4-BE49-F238E27FC236}">
                <a16:creationId xmlns:a16="http://schemas.microsoft.com/office/drawing/2014/main" id="{340F1D37-9FB5-4BE5-9D00-E7379EB3883F}"/>
              </a:ext>
            </a:extLst>
          </p:cNvPr>
          <p:cNvSpPr/>
          <p:nvPr/>
        </p:nvSpPr>
        <p:spPr bwMode="gray">
          <a:xfrm>
            <a:off x="7340682" y="3424402"/>
            <a:ext cx="3474245" cy="1306577"/>
          </a:xfrm>
          <a:prstGeom prst="roundRect">
            <a:avLst/>
          </a:prstGeom>
          <a:solidFill>
            <a:schemeClr val="accent1">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algn="ctr">
              <a:lnSpc>
                <a:spcPct val="106000"/>
              </a:lnSpc>
            </a:pPr>
            <a:r>
              <a:rPr lang="en-US" sz="2000" b="1" dirty="0"/>
              <a:t>Interstate</a:t>
            </a:r>
          </a:p>
        </p:txBody>
      </p:sp>
      <p:sp>
        <p:nvSpPr>
          <p:cNvPr id="10" name="TextBox 9">
            <a:extLst>
              <a:ext uri="{FF2B5EF4-FFF2-40B4-BE49-F238E27FC236}">
                <a16:creationId xmlns:a16="http://schemas.microsoft.com/office/drawing/2014/main" id="{30DCE1A7-0479-4A46-ACEE-8BFAD6CDA3EB}"/>
              </a:ext>
            </a:extLst>
          </p:cNvPr>
          <p:cNvSpPr txBox="1"/>
          <p:nvPr/>
        </p:nvSpPr>
        <p:spPr>
          <a:xfrm>
            <a:off x="1202900" y="5235199"/>
            <a:ext cx="3474245" cy="246221"/>
          </a:xfrm>
          <a:prstGeom prst="rect">
            <a:avLst/>
          </a:prstGeom>
          <a:noFill/>
        </p:spPr>
        <p:txBody>
          <a:bodyPr wrap="square" lIns="0" tIns="0" rIns="0" bIns="0" rtlCol="0">
            <a:spAutoFit/>
          </a:bodyPr>
          <a:lstStyle/>
          <a:p>
            <a:pPr marL="285750" indent="-285750">
              <a:spcBef>
                <a:spcPts val="600"/>
              </a:spcBef>
              <a:buSzPct val="100000"/>
              <a:buFont typeface="Arial" panose="020B0604020202020204" pitchFamily="34" charset="0"/>
              <a:buChar char="•"/>
            </a:pPr>
            <a:r>
              <a:rPr lang="en-US" sz="1600" i="1" dirty="0">
                <a:solidFill>
                  <a:srgbClr val="313131"/>
                </a:solidFill>
              </a:rPr>
              <a:t>Only State Grid is involved</a:t>
            </a:r>
          </a:p>
        </p:txBody>
      </p:sp>
      <p:sp>
        <p:nvSpPr>
          <p:cNvPr id="11" name="TextBox 10">
            <a:extLst>
              <a:ext uri="{FF2B5EF4-FFF2-40B4-BE49-F238E27FC236}">
                <a16:creationId xmlns:a16="http://schemas.microsoft.com/office/drawing/2014/main" id="{F1721BFA-CA78-4661-B918-4B9BFFD8FF2C}"/>
              </a:ext>
            </a:extLst>
          </p:cNvPr>
          <p:cNvSpPr txBox="1"/>
          <p:nvPr/>
        </p:nvSpPr>
        <p:spPr>
          <a:xfrm>
            <a:off x="7438653" y="5112087"/>
            <a:ext cx="3474245" cy="492443"/>
          </a:xfrm>
          <a:prstGeom prst="rect">
            <a:avLst/>
          </a:prstGeom>
          <a:noFill/>
        </p:spPr>
        <p:txBody>
          <a:bodyPr wrap="square" lIns="0" tIns="0" rIns="0" bIns="0" rtlCol="0">
            <a:spAutoFit/>
          </a:bodyPr>
          <a:lstStyle/>
          <a:p>
            <a:pPr marL="285750" indent="-285750">
              <a:spcBef>
                <a:spcPts val="600"/>
              </a:spcBef>
              <a:buSzPct val="100000"/>
              <a:buFont typeface="Arial" panose="020B0604020202020204" pitchFamily="34" charset="0"/>
              <a:buChar char="•"/>
            </a:pPr>
            <a:r>
              <a:rPr lang="en-US" sz="1600" i="1" dirty="0">
                <a:solidFill>
                  <a:srgbClr val="313131"/>
                </a:solidFill>
              </a:rPr>
              <a:t>CTU Grid involved with possible involvement of State grid if applicable</a:t>
            </a:r>
          </a:p>
        </p:txBody>
      </p:sp>
    </p:spTree>
    <p:extLst>
      <p:ext uri="{BB962C8B-B14F-4D97-AF65-F5344CB8AC3E}">
        <p14:creationId xmlns:p14="http://schemas.microsoft.com/office/powerpoint/2010/main" val="284812100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56090146-0447-4D63-A3D9-5F1994A35845}"/>
              </a:ext>
            </a:extLst>
          </p:cNvPr>
          <p:cNvSpPr>
            <a:spLocks noGrp="1"/>
          </p:cNvSpPr>
          <p:nvPr>
            <p:ph type="title"/>
          </p:nvPr>
        </p:nvSpPr>
        <p:spPr>
          <a:xfrm>
            <a:off x="501650" y="263070"/>
            <a:ext cx="11188700" cy="334099"/>
          </a:xfrm>
        </p:spPr>
        <p:txBody>
          <a:bodyPr/>
          <a:lstStyle/>
          <a:p>
            <a:pPr marL="0" marR="0">
              <a:spcBef>
                <a:spcPts val="0"/>
              </a:spcBef>
              <a:spcAft>
                <a:spcPts val="0"/>
              </a:spcAft>
            </a:pPr>
            <a:r>
              <a:rPr lang="en-US" sz="2400" b="1" dirty="0">
                <a:latin typeface="Calibri" panose="020F0502020204030204" pitchFamily="34" charset="0"/>
                <a:ea typeface="Calibri" panose="020F0502020204030204" pitchFamily="34" charset="0"/>
              </a:rPr>
              <a:t>Key </a:t>
            </a:r>
            <a:r>
              <a:rPr lang="en-US" sz="2400" b="1" dirty="0">
                <a:effectLst/>
                <a:latin typeface="Calibri" panose="020F0502020204030204" pitchFamily="34" charset="0"/>
                <a:ea typeface="Calibri" panose="020F0502020204030204" pitchFamily="34" charset="0"/>
              </a:rPr>
              <a:t>Requisites for Financial Viability of the Captive Power Plant</a:t>
            </a:r>
            <a:endParaRPr lang="en-US" sz="2400" dirty="0">
              <a:effectLst/>
              <a:latin typeface="Calibri" panose="020F0502020204030204" pitchFamily="34" charset="0"/>
              <a:ea typeface="Calibri" panose="020F0502020204030204" pitchFamily="34" charset="0"/>
            </a:endParaRPr>
          </a:p>
        </p:txBody>
      </p:sp>
      <p:sp>
        <p:nvSpPr>
          <p:cNvPr id="8" name="Rectangle 7">
            <a:extLst>
              <a:ext uri="{FF2B5EF4-FFF2-40B4-BE49-F238E27FC236}">
                <a16:creationId xmlns:a16="http://schemas.microsoft.com/office/drawing/2014/main" id="{31774CC8-67B7-4E71-AB25-849F85B65D2B}"/>
              </a:ext>
            </a:extLst>
          </p:cNvPr>
          <p:cNvSpPr/>
          <p:nvPr/>
        </p:nvSpPr>
        <p:spPr bwMode="gray">
          <a:xfrm>
            <a:off x="501650" y="885959"/>
            <a:ext cx="11188700" cy="779556"/>
          </a:xfrm>
          <a:prstGeom prst="rect">
            <a:avLst/>
          </a:prstGeom>
          <a:solidFill>
            <a:schemeClr val="accent1">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just">
              <a:lnSpc>
                <a:spcPct val="106000"/>
              </a:lnSpc>
              <a:buFont typeface="Wingdings 2" pitchFamily="18" charset="2"/>
              <a:buNone/>
            </a:pPr>
            <a:r>
              <a:rPr lang="en-US" sz="1600" dirty="0">
                <a:ln w="0"/>
                <a:solidFill>
                  <a:schemeClr val="tx1"/>
                </a:solidFill>
              </a:rPr>
              <a:t>Landed Solar tariff at consumption points of CIL subsidiaries should be less than the  DISCOM Energy Charge Rate payable by the Consumer Subsidiaries</a:t>
            </a:r>
          </a:p>
        </p:txBody>
      </p:sp>
      <p:sp>
        <p:nvSpPr>
          <p:cNvPr id="9" name="Title 3">
            <a:extLst>
              <a:ext uri="{FF2B5EF4-FFF2-40B4-BE49-F238E27FC236}">
                <a16:creationId xmlns:a16="http://schemas.microsoft.com/office/drawing/2014/main" id="{7A20E150-353F-48BE-987E-AEDE747D9276}"/>
              </a:ext>
            </a:extLst>
          </p:cNvPr>
          <p:cNvSpPr txBox="1">
            <a:spLocks/>
          </p:cNvSpPr>
          <p:nvPr/>
        </p:nvSpPr>
        <p:spPr bwMode="gray">
          <a:xfrm>
            <a:off x="501650" y="1850144"/>
            <a:ext cx="11004553"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pPr>
              <a:spcBef>
                <a:spcPts val="0"/>
              </a:spcBef>
            </a:pPr>
            <a:r>
              <a:rPr lang="en-US" sz="1600" b="1" dirty="0">
                <a:latin typeface="Calibri" panose="020F0502020204030204" pitchFamily="34" charset="0"/>
                <a:ea typeface="Calibri" panose="020F0502020204030204" pitchFamily="34" charset="0"/>
              </a:rPr>
              <a:t>Stacking up of charges from Generation end to Consumption end to arrive at Landed Solar Tariff:</a:t>
            </a:r>
            <a:endParaRPr lang="en-US" sz="1600" dirty="0">
              <a:latin typeface="Calibri" panose="020F0502020204030204" pitchFamily="34" charset="0"/>
              <a:ea typeface="Calibri" panose="020F0502020204030204" pitchFamily="34" charset="0"/>
            </a:endParaRPr>
          </a:p>
        </p:txBody>
      </p:sp>
      <p:sp>
        <p:nvSpPr>
          <p:cNvPr id="2" name="Oval 1">
            <a:extLst>
              <a:ext uri="{FF2B5EF4-FFF2-40B4-BE49-F238E27FC236}">
                <a16:creationId xmlns:a16="http://schemas.microsoft.com/office/drawing/2014/main" id="{E3587E32-3291-4FDB-B0F4-1C4C82EDC301}"/>
              </a:ext>
            </a:extLst>
          </p:cNvPr>
          <p:cNvSpPr/>
          <p:nvPr/>
        </p:nvSpPr>
        <p:spPr bwMode="gray">
          <a:xfrm>
            <a:off x="587828" y="2264225"/>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Solar Generation Tariff in Solar Plant</a:t>
            </a:r>
          </a:p>
        </p:txBody>
      </p:sp>
      <p:sp>
        <p:nvSpPr>
          <p:cNvPr id="13" name="Oval 12">
            <a:extLst>
              <a:ext uri="{FF2B5EF4-FFF2-40B4-BE49-F238E27FC236}">
                <a16:creationId xmlns:a16="http://schemas.microsoft.com/office/drawing/2014/main" id="{8B7D938B-2D5F-49AF-A392-FD765071D02E}"/>
              </a:ext>
            </a:extLst>
          </p:cNvPr>
          <p:cNvSpPr/>
          <p:nvPr/>
        </p:nvSpPr>
        <p:spPr bwMode="gray">
          <a:xfrm>
            <a:off x="2667001" y="2264225"/>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ISTS Losses*</a:t>
            </a:r>
          </a:p>
        </p:txBody>
      </p:sp>
      <p:sp>
        <p:nvSpPr>
          <p:cNvPr id="14" name="Oval 13">
            <a:extLst>
              <a:ext uri="{FF2B5EF4-FFF2-40B4-BE49-F238E27FC236}">
                <a16:creationId xmlns:a16="http://schemas.microsoft.com/office/drawing/2014/main" id="{AEB8B617-1011-45A2-B193-CB05249DF69D}"/>
              </a:ext>
            </a:extLst>
          </p:cNvPr>
          <p:cNvSpPr/>
          <p:nvPr/>
        </p:nvSpPr>
        <p:spPr bwMode="gray">
          <a:xfrm>
            <a:off x="4789714" y="2264225"/>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STU Charges and Losses</a:t>
            </a:r>
          </a:p>
        </p:txBody>
      </p:sp>
      <p:sp>
        <p:nvSpPr>
          <p:cNvPr id="15" name="Oval 14">
            <a:extLst>
              <a:ext uri="{FF2B5EF4-FFF2-40B4-BE49-F238E27FC236}">
                <a16:creationId xmlns:a16="http://schemas.microsoft.com/office/drawing/2014/main" id="{61A17759-E4EB-4D29-8191-84C88C3178AC}"/>
              </a:ext>
            </a:extLst>
          </p:cNvPr>
          <p:cNvSpPr/>
          <p:nvPr/>
        </p:nvSpPr>
        <p:spPr bwMode="gray">
          <a:xfrm>
            <a:off x="6887023" y="2264225"/>
            <a:ext cx="1621971" cy="15239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ln w="0"/>
                <a:solidFill>
                  <a:schemeClr val="tx1"/>
                </a:solidFill>
              </a:rPr>
              <a:t>DISCOM Wheeling Charges and Losses</a:t>
            </a:r>
          </a:p>
        </p:txBody>
      </p:sp>
      <p:sp>
        <p:nvSpPr>
          <p:cNvPr id="3" name="Rectangle: Rounded Corners 2">
            <a:extLst>
              <a:ext uri="{FF2B5EF4-FFF2-40B4-BE49-F238E27FC236}">
                <a16:creationId xmlns:a16="http://schemas.microsoft.com/office/drawing/2014/main" id="{4434DFC9-E226-4FAD-B8C3-7539DFDAEE9D}"/>
              </a:ext>
            </a:extLst>
          </p:cNvPr>
          <p:cNvSpPr/>
          <p:nvPr/>
        </p:nvSpPr>
        <p:spPr bwMode="gray">
          <a:xfrm>
            <a:off x="9235188" y="2264225"/>
            <a:ext cx="2455162" cy="1437967"/>
          </a:xfrm>
          <a:prstGeom prst="round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Landed Solar Tariff at consumption-end</a:t>
            </a:r>
          </a:p>
        </p:txBody>
      </p:sp>
      <p:sp>
        <p:nvSpPr>
          <p:cNvPr id="4" name="Plus Sign 3">
            <a:extLst>
              <a:ext uri="{FF2B5EF4-FFF2-40B4-BE49-F238E27FC236}">
                <a16:creationId xmlns:a16="http://schemas.microsoft.com/office/drawing/2014/main" id="{03798D2B-9FC0-41E0-8807-A1190FBD6A9F}"/>
              </a:ext>
            </a:extLst>
          </p:cNvPr>
          <p:cNvSpPr/>
          <p:nvPr/>
        </p:nvSpPr>
        <p:spPr bwMode="gray">
          <a:xfrm>
            <a:off x="2250619" y="2754083"/>
            <a:ext cx="405493" cy="481787"/>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16" name="Plus Sign 15">
            <a:extLst>
              <a:ext uri="{FF2B5EF4-FFF2-40B4-BE49-F238E27FC236}">
                <a16:creationId xmlns:a16="http://schemas.microsoft.com/office/drawing/2014/main" id="{2996F920-5DE5-43D1-B07C-7CE1707DF38F}"/>
              </a:ext>
            </a:extLst>
          </p:cNvPr>
          <p:cNvSpPr/>
          <p:nvPr/>
        </p:nvSpPr>
        <p:spPr bwMode="gray">
          <a:xfrm>
            <a:off x="4329792" y="2756266"/>
            <a:ext cx="405493" cy="481787"/>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17" name="Plus Sign 16">
            <a:extLst>
              <a:ext uri="{FF2B5EF4-FFF2-40B4-BE49-F238E27FC236}">
                <a16:creationId xmlns:a16="http://schemas.microsoft.com/office/drawing/2014/main" id="{CEB8215E-B567-4071-8AAE-EAD9F0CB34D5}"/>
              </a:ext>
            </a:extLst>
          </p:cNvPr>
          <p:cNvSpPr/>
          <p:nvPr/>
        </p:nvSpPr>
        <p:spPr bwMode="gray">
          <a:xfrm>
            <a:off x="6441620" y="2745380"/>
            <a:ext cx="405493" cy="481787"/>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5" name="Equals 4">
            <a:extLst>
              <a:ext uri="{FF2B5EF4-FFF2-40B4-BE49-F238E27FC236}">
                <a16:creationId xmlns:a16="http://schemas.microsoft.com/office/drawing/2014/main" id="{F3E35A22-E14C-476F-B71A-5610B2293F02}"/>
              </a:ext>
            </a:extLst>
          </p:cNvPr>
          <p:cNvSpPr/>
          <p:nvPr/>
        </p:nvSpPr>
        <p:spPr bwMode="gray">
          <a:xfrm>
            <a:off x="8567525" y="2745381"/>
            <a:ext cx="532933" cy="377208"/>
          </a:xfrm>
          <a:prstGeom prst="mathEqual">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b="1" dirty="0">
              <a:solidFill>
                <a:schemeClr val="bg1"/>
              </a:solidFill>
            </a:endParaRPr>
          </a:p>
        </p:txBody>
      </p:sp>
      <p:sp>
        <p:nvSpPr>
          <p:cNvPr id="18" name="Rectangle 17">
            <a:extLst>
              <a:ext uri="{FF2B5EF4-FFF2-40B4-BE49-F238E27FC236}">
                <a16:creationId xmlns:a16="http://schemas.microsoft.com/office/drawing/2014/main" id="{2F274E00-B0C2-429B-85A1-8A6814121B35}"/>
              </a:ext>
            </a:extLst>
          </p:cNvPr>
          <p:cNvSpPr/>
          <p:nvPr/>
        </p:nvSpPr>
        <p:spPr bwMode="gray">
          <a:xfrm>
            <a:off x="587828" y="4308105"/>
            <a:ext cx="11102522" cy="934239"/>
          </a:xfrm>
          <a:prstGeom prst="rect">
            <a:avLst/>
          </a:prstGeom>
          <a:ln>
            <a:solidFill>
              <a:srgbClr val="004F59"/>
            </a:solid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285750" indent="-285750" algn="just">
              <a:lnSpc>
                <a:spcPct val="106000"/>
              </a:lnSpc>
              <a:spcAft>
                <a:spcPts val="600"/>
              </a:spcAft>
              <a:buFont typeface="Arial" panose="020B0604020202020204" pitchFamily="34" charset="0"/>
              <a:buChar char="•"/>
            </a:pPr>
            <a:r>
              <a:rPr lang="en-US" sz="1600" b="1" dirty="0">
                <a:ln w="0"/>
                <a:solidFill>
                  <a:schemeClr val="tx1"/>
                </a:solidFill>
              </a:rPr>
              <a:t>ISTS Waiver -</a:t>
            </a:r>
            <a:r>
              <a:rPr lang="en-US" sz="1600" dirty="0">
                <a:ln w="0"/>
                <a:solidFill>
                  <a:schemeClr val="tx1"/>
                </a:solidFill>
              </a:rPr>
              <a:t> The </a:t>
            </a:r>
            <a:r>
              <a:rPr lang="en-US" sz="1600" dirty="0" err="1">
                <a:ln w="0"/>
                <a:solidFill>
                  <a:schemeClr val="tx1"/>
                </a:solidFill>
              </a:rPr>
              <a:t>MoP</a:t>
            </a:r>
            <a:r>
              <a:rPr lang="en-US" sz="1600" dirty="0">
                <a:ln w="0"/>
                <a:solidFill>
                  <a:schemeClr val="tx1"/>
                </a:solidFill>
              </a:rPr>
              <a:t> Order no. 23/12/2016-R&amp;R dated 23.11.2021 and amendment of CERC </a:t>
            </a:r>
            <a:r>
              <a:rPr lang="en-US" sz="1600" dirty="0"/>
              <a:t>(Sharing of </a:t>
            </a:r>
            <a:r>
              <a:rPr lang="en-US" sz="1600" dirty="0" err="1"/>
              <a:t>InterState</a:t>
            </a:r>
            <a:r>
              <a:rPr lang="en-US" sz="1600" dirty="0"/>
              <a:t> Transmission Charges and Losses) Regulations, 2020</a:t>
            </a:r>
            <a:r>
              <a:rPr lang="en-US" sz="1600" dirty="0">
                <a:ln w="0"/>
                <a:solidFill>
                  <a:schemeClr val="tx1"/>
                </a:solidFill>
              </a:rPr>
              <a:t> dated 07.02.2023 </a:t>
            </a:r>
            <a:r>
              <a:rPr lang="en-US" sz="1600" b="1" dirty="0">
                <a:ln w="0"/>
                <a:solidFill>
                  <a:schemeClr val="tx1"/>
                </a:solidFill>
              </a:rPr>
              <a:t>provides for waiver of Inter State Transmission charges (ISTS) on solar energy generation projects (including captive projects) for projects commissioned within 30.06.2025</a:t>
            </a:r>
          </a:p>
        </p:txBody>
      </p:sp>
      <p:sp>
        <p:nvSpPr>
          <p:cNvPr id="19" name="Rectangle 18">
            <a:extLst>
              <a:ext uri="{FF2B5EF4-FFF2-40B4-BE49-F238E27FC236}">
                <a16:creationId xmlns:a16="http://schemas.microsoft.com/office/drawing/2014/main" id="{823E8C3A-7D0F-4657-995E-41A150BB95B7}"/>
              </a:ext>
            </a:extLst>
          </p:cNvPr>
          <p:cNvSpPr/>
          <p:nvPr/>
        </p:nvSpPr>
        <p:spPr bwMode="gray">
          <a:xfrm>
            <a:off x="587828" y="3974007"/>
            <a:ext cx="3526075" cy="334099"/>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Key Enabler: ISTS Waiver</a:t>
            </a:r>
          </a:p>
        </p:txBody>
      </p:sp>
      <p:sp>
        <p:nvSpPr>
          <p:cNvPr id="21" name="Rectangle 20">
            <a:extLst>
              <a:ext uri="{FF2B5EF4-FFF2-40B4-BE49-F238E27FC236}">
                <a16:creationId xmlns:a16="http://schemas.microsoft.com/office/drawing/2014/main" id="{B9D8A749-E753-479A-A9BB-BC1464F4838D}"/>
              </a:ext>
            </a:extLst>
          </p:cNvPr>
          <p:cNvSpPr/>
          <p:nvPr/>
        </p:nvSpPr>
        <p:spPr bwMode="gray">
          <a:xfrm>
            <a:off x="2544105" y="5416345"/>
            <a:ext cx="9146245" cy="973303"/>
          </a:xfrm>
          <a:prstGeom prst="rect">
            <a:avLst/>
          </a:prstGeom>
          <a:solidFill>
            <a:schemeClr val="accent2">
              <a:lumMod val="20000"/>
              <a:lumOff val="80000"/>
            </a:schemeClr>
          </a:solidFill>
          <a:ln w="19050" algn="ctr">
            <a:noFill/>
            <a:miter lim="800000"/>
            <a:headEnd/>
            <a:tailEnd/>
          </a:ln>
        </p:spPr>
        <p:txBody>
          <a:bodyPr wrap="square" lIns="40500" tIns="40500" rIns="27000" bIns="27000" rtlCol="0" anchor="ctr"/>
          <a:lstStyle/>
          <a:p>
            <a:pPr marL="174625" indent="-147638">
              <a:lnSpc>
                <a:spcPct val="114000"/>
              </a:lnSpc>
              <a:spcAft>
                <a:spcPts val="600"/>
              </a:spcAft>
              <a:buFont typeface="Arial" panose="020B0604020202020204" pitchFamily="34" charset="0"/>
              <a:buChar char="•"/>
            </a:pPr>
            <a:r>
              <a:rPr lang="en-US" sz="1600" dirty="0">
                <a:solidFill>
                  <a:prstClr val="black"/>
                </a:solidFill>
              </a:rPr>
              <a:t>Assessment of commercial viability required; landed solar tariff has to be less than DISCOM tariff</a:t>
            </a:r>
          </a:p>
          <a:p>
            <a:pPr marL="174625" indent="-147638">
              <a:lnSpc>
                <a:spcPct val="114000"/>
              </a:lnSpc>
              <a:spcAft>
                <a:spcPts val="600"/>
              </a:spcAft>
              <a:buFont typeface="Arial" panose="020B0604020202020204" pitchFamily="34" charset="0"/>
              <a:buChar char="•"/>
            </a:pPr>
            <a:r>
              <a:rPr lang="en-US" sz="1600" dirty="0">
                <a:solidFill>
                  <a:prstClr val="black"/>
                </a:solidFill>
              </a:rPr>
              <a:t>Since STU Grid would be utilized, liaising would be required to understand and expedite with regards to the State OA regulations and its associated clearances respectively</a:t>
            </a:r>
          </a:p>
        </p:txBody>
      </p:sp>
      <p:sp>
        <p:nvSpPr>
          <p:cNvPr id="22" name="Rectangle 21">
            <a:extLst>
              <a:ext uri="{FF2B5EF4-FFF2-40B4-BE49-F238E27FC236}">
                <a16:creationId xmlns:a16="http://schemas.microsoft.com/office/drawing/2014/main" id="{87C09087-7CF1-40C1-BB78-4102DE5E6C4C}"/>
              </a:ext>
            </a:extLst>
          </p:cNvPr>
          <p:cNvSpPr/>
          <p:nvPr/>
        </p:nvSpPr>
        <p:spPr bwMode="gray">
          <a:xfrm rot="5400000" flipV="1">
            <a:off x="1994405" y="5871221"/>
            <a:ext cx="947730" cy="67358"/>
          </a:xfrm>
          <a:prstGeom prst="rect">
            <a:avLst/>
          </a:prstGeom>
          <a:solidFill>
            <a:srgbClr val="66905C"/>
          </a:solidFill>
          <a:ln w="19050" algn="ctr">
            <a:solidFill>
              <a:srgbClr val="66905C"/>
            </a:solidFill>
            <a:miter lim="800000"/>
            <a:headEnd/>
            <a:tailEnd/>
          </a:ln>
        </p:spPr>
        <p:txBody>
          <a:bodyPr wrap="square" lIns="66675" tIns="66675" rIns="66675" bIns="6667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3" name="TextBox 22">
            <a:extLst>
              <a:ext uri="{FF2B5EF4-FFF2-40B4-BE49-F238E27FC236}">
                <a16:creationId xmlns:a16="http://schemas.microsoft.com/office/drawing/2014/main" id="{7417BE6F-9EBA-423E-B8BA-039F178FEC8E}"/>
              </a:ext>
            </a:extLst>
          </p:cNvPr>
          <p:cNvSpPr txBox="1"/>
          <p:nvPr/>
        </p:nvSpPr>
        <p:spPr>
          <a:xfrm>
            <a:off x="1046112" y="5403755"/>
            <a:ext cx="1381083" cy="984885"/>
          </a:xfrm>
          <a:prstGeom prst="rect">
            <a:avLst/>
          </a:prstGeom>
          <a:noFill/>
        </p:spPr>
        <p:txBody>
          <a:bodyPr wrap="square" lIns="0" tIns="0" rIns="0" bIns="0" rtlCol="0">
            <a:spAutoFit/>
          </a:bodyPr>
          <a:lstStyle/>
          <a:p>
            <a:pPr>
              <a:spcBef>
                <a:spcPts val="600"/>
              </a:spcBef>
              <a:buSzPct val="100000"/>
            </a:pPr>
            <a:r>
              <a:rPr lang="en-US" sz="1600" b="1" dirty="0">
                <a:solidFill>
                  <a:srgbClr val="66905C"/>
                </a:solidFill>
              </a:rPr>
              <a:t>Key Considerations and Way Forward for CIL</a:t>
            </a:r>
          </a:p>
        </p:txBody>
      </p:sp>
      <p:grpSp>
        <p:nvGrpSpPr>
          <p:cNvPr id="24" name="Group 23">
            <a:extLst>
              <a:ext uri="{FF2B5EF4-FFF2-40B4-BE49-F238E27FC236}">
                <a16:creationId xmlns:a16="http://schemas.microsoft.com/office/drawing/2014/main" id="{DC34045D-8FAC-4780-9D99-73E2C43FF52C}"/>
              </a:ext>
            </a:extLst>
          </p:cNvPr>
          <p:cNvGrpSpPr/>
          <p:nvPr/>
        </p:nvGrpSpPr>
        <p:grpSpPr>
          <a:xfrm>
            <a:off x="250072" y="5549013"/>
            <a:ext cx="675511" cy="738664"/>
            <a:chOff x="4462296" y="4296312"/>
            <a:chExt cx="795503" cy="796056"/>
          </a:xfrm>
        </p:grpSpPr>
        <p:sp>
          <p:nvSpPr>
            <p:cNvPr id="25" name="Oval 103">
              <a:extLst>
                <a:ext uri="{FF2B5EF4-FFF2-40B4-BE49-F238E27FC236}">
                  <a16:creationId xmlns:a16="http://schemas.microsoft.com/office/drawing/2014/main" id="{40189AEA-6142-42B8-AA06-4D7EF4B35821}"/>
                </a:ext>
              </a:extLst>
            </p:cNvPr>
            <p:cNvSpPr>
              <a:spLocks noChangeArrowheads="1"/>
            </p:cNvSpPr>
            <p:nvPr/>
          </p:nvSpPr>
          <p:spPr bwMode="auto">
            <a:xfrm>
              <a:off x="4462296" y="4296312"/>
              <a:ext cx="795503" cy="796056"/>
            </a:xfrm>
            <a:prstGeom prst="ellipse">
              <a:avLst/>
            </a:prstGeom>
            <a:solidFill>
              <a:srgbClr val="66905C"/>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nvGrpSpPr>
            <p:cNvPr id="26" name="Group 25">
              <a:extLst>
                <a:ext uri="{FF2B5EF4-FFF2-40B4-BE49-F238E27FC236}">
                  <a16:creationId xmlns:a16="http://schemas.microsoft.com/office/drawing/2014/main" id="{CF421D63-3872-410C-8943-9FE7618E27EA}"/>
                </a:ext>
              </a:extLst>
            </p:cNvPr>
            <p:cNvGrpSpPr/>
            <p:nvPr/>
          </p:nvGrpSpPr>
          <p:grpSpPr>
            <a:xfrm>
              <a:off x="4604235" y="4401828"/>
              <a:ext cx="531859" cy="541479"/>
              <a:chOff x="7616206" y="2022308"/>
              <a:chExt cx="1843088" cy="1876425"/>
            </a:xfrm>
            <a:solidFill>
              <a:sysClr val="window" lastClr="FFFFFF"/>
            </a:solidFill>
          </p:grpSpPr>
          <p:sp>
            <p:nvSpPr>
              <p:cNvPr id="27" name="Freeform 38">
                <a:extLst>
                  <a:ext uri="{FF2B5EF4-FFF2-40B4-BE49-F238E27FC236}">
                    <a16:creationId xmlns:a16="http://schemas.microsoft.com/office/drawing/2014/main" id="{71392FAD-72BF-4436-B67A-A5E74906DD3F}"/>
                  </a:ext>
                </a:extLst>
              </p:cNvPr>
              <p:cNvSpPr>
                <a:spLocks/>
              </p:cNvSpPr>
              <p:nvPr/>
            </p:nvSpPr>
            <p:spPr bwMode="auto">
              <a:xfrm>
                <a:off x="8260731" y="2836696"/>
                <a:ext cx="417513" cy="417513"/>
              </a:xfrm>
              <a:custGeom>
                <a:avLst/>
                <a:gdLst>
                  <a:gd name="T0" fmla="*/ 25 w 37"/>
                  <a:gd name="T1" fmla="*/ 1 h 37"/>
                  <a:gd name="T2" fmla="*/ 18 w 37"/>
                  <a:gd name="T3" fmla="*/ 0 h 37"/>
                  <a:gd name="T4" fmla="*/ 0 w 37"/>
                  <a:gd name="T5" fmla="*/ 18 h 37"/>
                  <a:gd name="T6" fmla="*/ 18 w 37"/>
                  <a:gd name="T7" fmla="*/ 37 h 37"/>
                  <a:gd name="T8" fmla="*/ 37 w 37"/>
                  <a:gd name="T9" fmla="*/ 18 h 37"/>
                  <a:gd name="T10" fmla="*/ 36 w 37"/>
                  <a:gd name="T11" fmla="*/ 13 h 37"/>
                  <a:gd name="T12" fmla="*/ 28 w 37"/>
                  <a:gd name="T13" fmla="*/ 22 h 37"/>
                  <a:gd name="T14" fmla="*/ 22 w 37"/>
                  <a:gd name="T15" fmla="*/ 24 h 37"/>
                  <a:gd name="T16" fmla="*/ 17 w 37"/>
                  <a:gd name="T17" fmla="*/ 22 h 37"/>
                  <a:gd name="T18" fmla="*/ 14 w 37"/>
                  <a:gd name="T19" fmla="*/ 16 h 37"/>
                  <a:gd name="T20" fmla="*/ 16 w 37"/>
                  <a:gd name="T21" fmla="*/ 11 h 37"/>
                  <a:gd name="T22" fmla="*/ 25 w 37"/>
                  <a:gd name="T23" fmla="*/ 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37">
                    <a:moveTo>
                      <a:pt x="25" y="1"/>
                    </a:moveTo>
                    <a:cubicBezTo>
                      <a:pt x="23" y="0"/>
                      <a:pt x="21" y="0"/>
                      <a:pt x="18" y="0"/>
                    </a:cubicBezTo>
                    <a:cubicBezTo>
                      <a:pt x="8" y="0"/>
                      <a:pt x="0" y="8"/>
                      <a:pt x="0" y="18"/>
                    </a:cubicBezTo>
                    <a:cubicBezTo>
                      <a:pt x="0" y="29"/>
                      <a:pt x="8" y="37"/>
                      <a:pt x="18" y="37"/>
                    </a:cubicBezTo>
                    <a:cubicBezTo>
                      <a:pt x="29" y="37"/>
                      <a:pt x="37" y="29"/>
                      <a:pt x="37" y="18"/>
                    </a:cubicBezTo>
                    <a:cubicBezTo>
                      <a:pt x="37" y="16"/>
                      <a:pt x="37" y="15"/>
                      <a:pt x="36" y="13"/>
                    </a:cubicBezTo>
                    <a:cubicBezTo>
                      <a:pt x="28" y="22"/>
                      <a:pt x="28" y="22"/>
                      <a:pt x="28" y="22"/>
                    </a:cubicBezTo>
                    <a:cubicBezTo>
                      <a:pt x="26" y="24"/>
                      <a:pt x="24" y="24"/>
                      <a:pt x="22" y="24"/>
                    </a:cubicBezTo>
                    <a:cubicBezTo>
                      <a:pt x="20" y="24"/>
                      <a:pt x="18" y="24"/>
                      <a:pt x="17" y="22"/>
                    </a:cubicBezTo>
                    <a:cubicBezTo>
                      <a:pt x="15" y="20"/>
                      <a:pt x="14" y="18"/>
                      <a:pt x="14" y="16"/>
                    </a:cubicBezTo>
                    <a:cubicBezTo>
                      <a:pt x="14" y="14"/>
                      <a:pt x="15" y="12"/>
                      <a:pt x="16" y="11"/>
                    </a:cubicBezTo>
                    <a:lnTo>
                      <a:pt x="2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8" name="Freeform 39">
                <a:extLst>
                  <a:ext uri="{FF2B5EF4-FFF2-40B4-BE49-F238E27FC236}">
                    <a16:creationId xmlns:a16="http://schemas.microsoft.com/office/drawing/2014/main" id="{0D58DC42-4D2F-43DE-9F1F-4ABBFC1F0336}"/>
                  </a:ext>
                </a:extLst>
              </p:cNvPr>
              <p:cNvSpPr>
                <a:spLocks/>
              </p:cNvSpPr>
              <p:nvPr/>
            </p:nvSpPr>
            <p:spPr bwMode="auto">
              <a:xfrm>
                <a:off x="7921006" y="2508083"/>
                <a:ext cx="1096963" cy="1096963"/>
              </a:xfrm>
              <a:custGeom>
                <a:avLst/>
                <a:gdLst>
                  <a:gd name="T0" fmla="*/ 82 w 97"/>
                  <a:gd name="T1" fmla="*/ 48 h 97"/>
                  <a:gd name="T2" fmla="*/ 48 w 97"/>
                  <a:gd name="T3" fmla="*/ 82 h 97"/>
                  <a:gd name="T4" fmla="*/ 15 w 97"/>
                  <a:gd name="T5" fmla="*/ 48 h 97"/>
                  <a:gd name="T6" fmla="*/ 48 w 97"/>
                  <a:gd name="T7" fmla="*/ 15 h 97"/>
                  <a:gd name="T8" fmla="*/ 65 w 97"/>
                  <a:gd name="T9" fmla="*/ 19 h 97"/>
                  <a:gd name="T10" fmla="*/ 76 w 97"/>
                  <a:gd name="T11" fmla="*/ 8 h 97"/>
                  <a:gd name="T12" fmla="*/ 48 w 97"/>
                  <a:gd name="T13" fmla="*/ 0 h 97"/>
                  <a:gd name="T14" fmla="*/ 0 w 97"/>
                  <a:gd name="T15" fmla="*/ 48 h 97"/>
                  <a:gd name="T16" fmla="*/ 48 w 97"/>
                  <a:gd name="T17" fmla="*/ 97 h 97"/>
                  <a:gd name="T18" fmla="*/ 97 w 97"/>
                  <a:gd name="T19" fmla="*/ 48 h 97"/>
                  <a:gd name="T20" fmla="*/ 92 w 97"/>
                  <a:gd name="T21" fmla="*/ 27 h 97"/>
                  <a:gd name="T22" fmla="*/ 80 w 97"/>
                  <a:gd name="T23" fmla="*/ 36 h 97"/>
                  <a:gd name="T24" fmla="*/ 82 w 97"/>
                  <a:gd name="T25" fmla="*/ 4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97">
                    <a:moveTo>
                      <a:pt x="82" y="48"/>
                    </a:moveTo>
                    <a:cubicBezTo>
                      <a:pt x="82" y="67"/>
                      <a:pt x="67" y="82"/>
                      <a:pt x="48" y="82"/>
                    </a:cubicBezTo>
                    <a:cubicBezTo>
                      <a:pt x="30" y="82"/>
                      <a:pt x="15" y="67"/>
                      <a:pt x="15" y="48"/>
                    </a:cubicBezTo>
                    <a:cubicBezTo>
                      <a:pt x="15" y="30"/>
                      <a:pt x="30" y="15"/>
                      <a:pt x="48" y="15"/>
                    </a:cubicBezTo>
                    <a:cubicBezTo>
                      <a:pt x="55" y="15"/>
                      <a:pt x="60" y="16"/>
                      <a:pt x="65" y="19"/>
                    </a:cubicBezTo>
                    <a:cubicBezTo>
                      <a:pt x="76" y="8"/>
                      <a:pt x="76" y="8"/>
                      <a:pt x="76" y="8"/>
                    </a:cubicBezTo>
                    <a:cubicBezTo>
                      <a:pt x="68" y="3"/>
                      <a:pt x="59" y="0"/>
                      <a:pt x="48" y="0"/>
                    </a:cubicBezTo>
                    <a:cubicBezTo>
                      <a:pt x="21" y="0"/>
                      <a:pt x="0" y="21"/>
                      <a:pt x="0" y="48"/>
                    </a:cubicBezTo>
                    <a:cubicBezTo>
                      <a:pt x="0" y="75"/>
                      <a:pt x="21" y="97"/>
                      <a:pt x="48" y="97"/>
                    </a:cubicBezTo>
                    <a:cubicBezTo>
                      <a:pt x="75" y="97"/>
                      <a:pt x="97" y="75"/>
                      <a:pt x="97" y="48"/>
                    </a:cubicBezTo>
                    <a:cubicBezTo>
                      <a:pt x="97" y="41"/>
                      <a:pt x="95" y="34"/>
                      <a:pt x="92" y="27"/>
                    </a:cubicBezTo>
                    <a:cubicBezTo>
                      <a:pt x="80" y="36"/>
                      <a:pt x="80" y="36"/>
                      <a:pt x="80" y="36"/>
                    </a:cubicBezTo>
                    <a:cubicBezTo>
                      <a:pt x="81" y="40"/>
                      <a:pt x="82" y="44"/>
                      <a:pt x="8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29" name="Freeform 40">
                <a:extLst>
                  <a:ext uri="{FF2B5EF4-FFF2-40B4-BE49-F238E27FC236}">
                    <a16:creationId xmlns:a16="http://schemas.microsoft.com/office/drawing/2014/main" id="{49E2ABDB-252C-4425-A852-98FEC079173B}"/>
                  </a:ext>
                </a:extLst>
              </p:cNvPr>
              <p:cNvSpPr>
                <a:spLocks/>
              </p:cNvSpPr>
              <p:nvPr/>
            </p:nvSpPr>
            <p:spPr bwMode="auto">
              <a:xfrm>
                <a:off x="8463931" y="2192171"/>
                <a:ext cx="836613" cy="869950"/>
              </a:xfrm>
              <a:custGeom>
                <a:avLst/>
                <a:gdLst>
                  <a:gd name="T0" fmla="*/ 73 w 74"/>
                  <a:gd name="T1" fmla="*/ 1 h 77"/>
                  <a:gd name="T2" fmla="*/ 70 w 74"/>
                  <a:gd name="T3" fmla="*/ 0 h 77"/>
                  <a:gd name="T4" fmla="*/ 67 w 74"/>
                  <a:gd name="T5" fmla="*/ 1 h 77"/>
                  <a:gd name="T6" fmla="*/ 50 w 74"/>
                  <a:gd name="T7" fmla="*/ 20 h 77"/>
                  <a:gd name="T8" fmla="*/ 40 w 74"/>
                  <a:gd name="T9" fmla="*/ 30 h 77"/>
                  <a:gd name="T10" fmla="*/ 31 w 74"/>
                  <a:gd name="T11" fmla="*/ 39 h 77"/>
                  <a:gd name="T12" fmla="*/ 21 w 74"/>
                  <a:gd name="T13" fmla="*/ 50 h 77"/>
                  <a:gd name="T14" fmla="*/ 11 w 74"/>
                  <a:gd name="T15" fmla="*/ 60 h 77"/>
                  <a:gd name="T16" fmla="*/ 1 w 74"/>
                  <a:gd name="T17" fmla="*/ 71 h 77"/>
                  <a:gd name="T18" fmla="*/ 1 w 74"/>
                  <a:gd name="T19" fmla="*/ 76 h 77"/>
                  <a:gd name="T20" fmla="*/ 4 w 74"/>
                  <a:gd name="T21" fmla="*/ 77 h 77"/>
                  <a:gd name="T22" fmla="*/ 7 w 74"/>
                  <a:gd name="T23" fmla="*/ 76 h 77"/>
                  <a:gd name="T24" fmla="*/ 16 w 74"/>
                  <a:gd name="T25" fmla="*/ 66 h 77"/>
                  <a:gd name="T26" fmla="*/ 26 w 74"/>
                  <a:gd name="T27" fmla="*/ 55 h 77"/>
                  <a:gd name="T28" fmla="*/ 37 w 74"/>
                  <a:gd name="T29" fmla="*/ 44 h 77"/>
                  <a:gd name="T30" fmla="*/ 45 w 74"/>
                  <a:gd name="T31" fmla="*/ 36 h 77"/>
                  <a:gd name="T32" fmla="*/ 55 w 74"/>
                  <a:gd name="T33" fmla="*/ 25 h 77"/>
                  <a:gd name="T34" fmla="*/ 73 w 74"/>
                  <a:gd name="T35" fmla="*/ 6 h 77"/>
                  <a:gd name="T36" fmla="*/ 73 w 74"/>
                  <a:gd name="T37" fmla="*/ 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4" h="77">
                    <a:moveTo>
                      <a:pt x="73" y="1"/>
                    </a:moveTo>
                    <a:cubicBezTo>
                      <a:pt x="72" y="1"/>
                      <a:pt x="71" y="0"/>
                      <a:pt x="70" y="0"/>
                    </a:cubicBezTo>
                    <a:cubicBezTo>
                      <a:pt x="69" y="0"/>
                      <a:pt x="68" y="0"/>
                      <a:pt x="67" y="1"/>
                    </a:cubicBezTo>
                    <a:cubicBezTo>
                      <a:pt x="50" y="20"/>
                      <a:pt x="50" y="20"/>
                      <a:pt x="50" y="20"/>
                    </a:cubicBezTo>
                    <a:cubicBezTo>
                      <a:pt x="40" y="30"/>
                      <a:pt x="40" y="30"/>
                      <a:pt x="40" y="30"/>
                    </a:cubicBezTo>
                    <a:cubicBezTo>
                      <a:pt x="31" y="39"/>
                      <a:pt x="31" y="39"/>
                      <a:pt x="31" y="39"/>
                    </a:cubicBezTo>
                    <a:cubicBezTo>
                      <a:pt x="21" y="50"/>
                      <a:pt x="21" y="50"/>
                      <a:pt x="21" y="50"/>
                    </a:cubicBezTo>
                    <a:cubicBezTo>
                      <a:pt x="11" y="60"/>
                      <a:pt x="11" y="60"/>
                      <a:pt x="11" y="60"/>
                    </a:cubicBezTo>
                    <a:cubicBezTo>
                      <a:pt x="1" y="71"/>
                      <a:pt x="1" y="71"/>
                      <a:pt x="1" y="71"/>
                    </a:cubicBezTo>
                    <a:cubicBezTo>
                      <a:pt x="0" y="72"/>
                      <a:pt x="0" y="74"/>
                      <a:pt x="1" y="76"/>
                    </a:cubicBezTo>
                    <a:cubicBezTo>
                      <a:pt x="2" y="77"/>
                      <a:pt x="3" y="77"/>
                      <a:pt x="4" y="77"/>
                    </a:cubicBezTo>
                    <a:cubicBezTo>
                      <a:pt x="5" y="77"/>
                      <a:pt x="6" y="77"/>
                      <a:pt x="7" y="76"/>
                    </a:cubicBezTo>
                    <a:cubicBezTo>
                      <a:pt x="16" y="66"/>
                      <a:pt x="16" y="66"/>
                      <a:pt x="16" y="66"/>
                    </a:cubicBezTo>
                    <a:cubicBezTo>
                      <a:pt x="26" y="55"/>
                      <a:pt x="26" y="55"/>
                      <a:pt x="26" y="55"/>
                    </a:cubicBezTo>
                    <a:cubicBezTo>
                      <a:pt x="37" y="44"/>
                      <a:pt x="37" y="44"/>
                      <a:pt x="37" y="44"/>
                    </a:cubicBezTo>
                    <a:cubicBezTo>
                      <a:pt x="45" y="36"/>
                      <a:pt x="45" y="36"/>
                      <a:pt x="45" y="36"/>
                    </a:cubicBezTo>
                    <a:cubicBezTo>
                      <a:pt x="55" y="25"/>
                      <a:pt x="55" y="25"/>
                      <a:pt x="55" y="25"/>
                    </a:cubicBezTo>
                    <a:cubicBezTo>
                      <a:pt x="73" y="6"/>
                      <a:pt x="73" y="6"/>
                      <a:pt x="73" y="6"/>
                    </a:cubicBezTo>
                    <a:cubicBezTo>
                      <a:pt x="74" y="5"/>
                      <a:pt x="74" y="3"/>
                      <a:pt x="7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0" name="Freeform 41">
                <a:extLst>
                  <a:ext uri="{FF2B5EF4-FFF2-40B4-BE49-F238E27FC236}">
                    <a16:creationId xmlns:a16="http://schemas.microsoft.com/office/drawing/2014/main" id="{2666798C-53F1-4F96-A9CD-609869535FFC}"/>
                  </a:ext>
                </a:extLst>
              </p:cNvPr>
              <p:cNvSpPr>
                <a:spLocks/>
              </p:cNvSpPr>
              <p:nvPr/>
            </p:nvSpPr>
            <p:spPr bwMode="auto">
              <a:xfrm>
                <a:off x="8836994" y="2022308"/>
                <a:ext cx="260350" cy="542925"/>
              </a:xfrm>
              <a:custGeom>
                <a:avLst/>
                <a:gdLst>
                  <a:gd name="T0" fmla="*/ 14 w 164"/>
                  <a:gd name="T1" fmla="*/ 221 h 342"/>
                  <a:gd name="T2" fmla="*/ 143 w 164"/>
                  <a:gd name="T3" fmla="*/ 0 h 342"/>
                  <a:gd name="T4" fmla="*/ 164 w 164"/>
                  <a:gd name="T5" fmla="*/ 164 h 342"/>
                  <a:gd name="T6" fmla="*/ 0 w 164"/>
                  <a:gd name="T7" fmla="*/ 342 h 342"/>
                  <a:gd name="T8" fmla="*/ 14 w 164"/>
                  <a:gd name="T9" fmla="*/ 221 h 342"/>
                </a:gdLst>
                <a:ahLst/>
                <a:cxnLst>
                  <a:cxn ang="0">
                    <a:pos x="T0" y="T1"/>
                  </a:cxn>
                  <a:cxn ang="0">
                    <a:pos x="T2" y="T3"/>
                  </a:cxn>
                  <a:cxn ang="0">
                    <a:pos x="T4" y="T5"/>
                  </a:cxn>
                  <a:cxn ang="0">
                    <a:pos x="T6" y="T7"/>
                  </a:cxn>
                  <a:cxn ang="0">
                    <a:pos x="T8" y="T9"/>
                  </a:cxn>
                </a:cxnLst>
                <a:rect l="0" t="0" r="r" b="b"/>
                <a:pathLst>
                  <a:path w="164" h="342">
                    <a:moveTo>
                      <a:pt x="14" y="221"/>
                    </a:moveTo>
                    <a:lnTo>
                      <a:pt x="143" y="0"/>
                    </a:lnTo>
                    <a:lnTo>
                      <a:pt x="164" y="164"/>
                    </a:lnTo>
                    <a:lnTo>
                      <a:pt x="0" y="342"/>
                    </a:lnTo>
                    <a:lnTo>
                      <a:pt x="14"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1" name="Freeform 42">
                <a:extLst>
                  <a:ext uri="{FF2B5EF4-FFF2-40B4-BE49-F238E27FC236}">
                    <a16:creationId xmlns:a16="http://schemas.microsoft.com/office/drawing/2014/main" id="{8D1AA028-5278-4321-AADB-67A29B4E2EC1}"/>
                  </a:ext>
                </a:extLst>
              </p:cNvPr>
              <p:cNvSpPr>
                <a:spLocks/>
              </p:cNvSpPr>
              <p:nvPr/>
            </p:nvSpPr>
            <p:spPr bwMode="auto">
              <a:xfrm>
                <a:off x="8848106" y="2485858"/>
                <a:ext cx="22225" cy="44450"/>
              </a:xfrm>
              <a:custGeom>
                <a:avLst/>
                <a:gdLst>
                  <a:gd name="T0" fmla="*/ 2 w 2"/>
                  <a:gd name="T1" fmla="*/ 2 h 4"/>
                  <a:gd name="T2" fmla="*/ 0 w 2"/>
                  <a:gd name="T3" fmla="*/ 0 h 4"/>
                  <a:gd name="T4" fmla="*/ 0 w 2"/>
                  <a:gd name="T5" fmla="*/ 4 h 4"/>
                  <a:gd name="T6" fmla="*/ 2 w 2"/>
                  <a:gd name="T7" fmla="*/ 2 h 4"/>
                </a:gdLst>
                <a:ahLst/>
                <a:cxnLst>
                  <a:cxn ang="0">
                    <a:pos x="T0" y="T1"/>
                  </a:cxn>
                  <a:cxn ang="0">
                    <a:pos x="T2" y="T3"/>
                  </a:cxn>
                  <a:cxn ang="0">
                    <a:pos x="T4" y="T5"/>
                  </a:cxn>
                  <a:cxn ang="0">
                    <a:pos x="T6" y="T7"/>
                  </a:cxn>
                </a:cxnLst>
                <a:rect l="0" t="0" r="r" b="b"/>
                <a:pathLst>
                  <a:path w="2" h="4">
                    <a:moveTo>
                      <a:pt x="2" y="2"/>
                    </a:moveTo>
                    <a:cubicBezTo>
                      <a:pt x="2" y="1"/>
                      <a:pt x="1" y="1"/>
                      <a:pt x="0" y="0"/>
                    </a:cubicBezTo>
                    <a:cubicBezTo>
                      <a:pt x="0" y="4"/>
                      <a:pt x="0" y="4"/>
                      <a:pt x="0" y="4"/>
                    </a:cubicBezTo>
                    <a:lnTo>
                      <a:pt x="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2" name="Freeform 43">
                <a:extLst>
                  <a:ext uri="{FF2B5EF4-FFF2-40B4-BE49-F238E27FC236}">
                    <a16:creationId xmlns:a16="http://schemas.microsoft.com/office/drawing/2014/main" id="{A4F172C6-B31E-4CE5-8B0B-6E294531050B}"/>
                  </a:ext>
                </a:extLst>
              </p:cNvPr>
              <p:cNvSpPr>
                <a:spLocks/>
              </p:cNvSpPr>
              <p:nvPr/>
            </p:nvSpPr>
            <p:spPr bwMode="auto">
              <a:xfrm>
                <a:off x="8894144" y="2066758"/>
                <a:ext cx="180975" cy="317500"/>
              </a:xfrm>
              <a:custGeom>
                <a:avLst/>
                <a:gdLst>
                  <a:gd name="T0" fmla="*/ 16 w 16"/>
                  <a:gd name="T1" fmla="*/ 18 h 28"/>
                  <a:gd name="T2" fmla="*/ 14 w 16"/>
                  <a:gd name="T3" fmla="*/ 0 h 28"/>
                  <a:gd name="T4" fmla="*/ 0 w 16"/>
                  <a:gd name="T5" fmla="*/ 22 h 28"/>
                  <a:gd name="T6" fmla="*/ 8 w 16"/>
                  <a:gd name="T7" fmla="*/ 28 h 28"/>
                  <a:gd name="T8" fmla="*/ 16 w 16"/>
                  <a:gd name="T9" fmla="*/ 18 h 28"/>
                </a:gdLst>
                <a:ahLst/>
                <a:cxnLst>
                  <a:cxn ang="0">
                    <a:pos x="T0" y="T1"/>
                  </a:cxn>
                  <a:cxn ang="0">
                    <a:pos x="T2" y="T3"/>
                  </a:cxn>
                  <a:cxn ang="0">
                    <a:pos x="T4" y="T5"/>
                  </a:cxn>
                  <a:cxn ang="0">
                    <a:pos x="T6" y="T7"/>
                  </a:cxn>
                  <a:cxn ang="0">
                    <a:pos x="T8" y="T9"/>
                  </a:cxn>
                </a:cxnLst>
                <a:rect l="0" t="0" r="r" b="b"/>
                <a:pathLst>
                  <a:path w="16" h="28">
                    <a:moveTo>
                      <a:pt x="16" y="18"/>
                    </a:moveTo>
                    <a:cubicBezTo>
                      <a:pt x="14" y="0"/>
                      <a:pt x="14" y="0"/>
                      <a:pt x="14" y="0"/>
                    </a:cubicBezTo>
                    <a:cubicBezTo>
                      <a:pt x="0" y="22"/>
                      <a:pt x="0" y="22"/>
                      <a:pt x="0" y="22"/>
                    </a:cubicBezTo>
                    <a:cubicBezTo>
                      <a:pt x="3" y="24"/>
                      <a:pt x="5" y="26"/>
                      <a:pt x="8" y="28"/>
                    </a:cubicBezTo>
                    <a:lnTo>
                      <a:pt x="1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3" name="Freeform 44">
                <a:extLst>
                  <a:ext uri="{FF2B5EF4-FFF2-40B4-BE49-F238E27FC236}">
                    <a16:creationId xmlns:a16="http://schemas.microsoft.com/office/drawing/2014/main" id="{8622D0DD-5871-4500-93BB-CD1B99AAB8CE}"/>
                  </a:ext>
                </a:extLst>
              </p:cNvPr>
              <p:cNvSpPr>
                <a:spLocks/>
              </p:cNvSpPr>
              <p:nvPr/>
            </p:nvSpPr>
            <p:spPr bwMode="auto">
              <a:xfrm>
                <a:off x="7616206" y="2203283"/>
                <a:ext cx="1695450" cy="1695450"/>
              </a:xfrm>
              <a:custGeom>
                <a:avLst/>
                <a:gdLst>
                  <a:gd name="T0" fmla="*/ 141 w 150"/>
                  <a:gd name="T1" fmla="*/ 39 h 150"/>
                  <a:gd name="T2" fmla="*/ 129 w 150"/>
                  <a:gd name="T3" fmla="*/ 48 h 150"/>
                  <a:gd name="T4" fmla="*/ 136 w 150"/>
                  <a:gd name="T5" fmla="*/ 75 h 150"/>
                  <a:gd name="T6" fmla="*/ 75 w 150"/>
                  <a:gd name="T7" fmla="*/ 136 h 150"/>
                  <a:gd name="T8" fmla="*/ 15 w 150"/>
                  <a:gd name="T9" fmla="*/ 75 h 150"/>
                  <a:gd name="T10" fmla="*/ 75 w 150"/>
                  <a:gd name="T11" fmla="*/ 15 h 150"/>
                  <a:gd name="T12" fmla="*/ 107 w 150"/>
                  <a:gd name="T13" fmla="*/ 24 h 150"/>
                  <a:gd name="T14" fmla="*/ 108 w 150"/>
                  <a:gd name="T15" fmla="*/ 15 h 150"/>
                  <a:gd name="T16" fmla="*/ 108 w 150"/>
                  <a:gd name="T17" fmla="*/ 14 h 150"/>
                  <a:gd name="T18" fmla="*/ 108 w 150"/>
                  <a:gd name="T19" fmla="*/ 14 h 150"/>
                  <a:gd name="T20" fmla="*/ 111 w 150"/>
                  <a:gd name="T21" fmla="*/ 9 h 150"/>
                  <a:gd name="T22" fmla="*/ 75 w 150"/>
                  <a:gd name="T23" fmla="*/ 0 h 150"/>
                  <a:gd name="T24" fmla="*/ 0 w 150"/>
                  <a:gd name="T25" fmla="*/ 75 h 150"/>
                  <a:gd name="T26" fmla="*/ 75 w 150"/>
                  <a:gd name="T27" fmla="*/ 150 h 150"/>
                  <a:gd name="T28" fmla="*/ 150 w 150"/>
                  <a:gd name="T29" fmla="*/ 75 h 150"/>
                  <a:gd name="T30" fmla="*/ 141 w 150"/>
                  <a:gd name="T31" fmla="*/ 39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150">
                    <a:moveTo>
                      <a:pt x="141" y="39"/>
                    </a:moveTo>
                    <a:cubicBezTo>
                      <a:pt x="129" y="48"/>
                      <a:pt x="129" y="48"/>
                      <a:pt x="129" y="48"/>
                    </a:cubicBezTo>
                    <a:cubicBezTo>
                      <a:pt x="133" y="56"/>
                      <a:pt x="136" y="65"/>
                      <a:pt x="136" y="75"/>
                    </a:cubicBezTo>
                    <a:cubicBezTo>
                      <a:pt x="136" y="109"/>
                      <a:pt x="109" y="136"/>
                      <a:pt x="75" y="136"/>
                    </a:cubicBezTo>
                    <a:cubicBezTo>
                      <a:pt x="42" y="136"/>
                      <a:pt x="15" y="109"/>
                      <a:pt x="15" y="75"/>
                    </a:cubicBezTo>
                    <a:cubicBezTo>
                      <a:pt x="15" y="42"/>
                      <a:pt x="42" y="15"/>
                      <a:pt x="75" y="15"/>
                    </a:cubicBezTo>
                    <a:cubicBezTo>
                      <a:pt x="87" y="15"/>
                      <a:pt x="98" y="18"/>
                      <a:pt x="107" y="24"/>
                    </a:cubicBezTo>
                    <a:cubicBezTo>
                      <a:pt x="108" y="15"/>
                      <a:pt x="108" y="15"/>
                      <a:pt x="108" y="15"/>
                    </a:cubicBezTo>
                    <a:cubicBezTo>
                      <a:pt x="108" y="14"/>
                      <a:pt x="108" y="14"/>
                      <a:pt x="108" y="14"/>
                    </a:cubicBezTo>
                    <a:cubicBezTo>
                      <a:pt x="108" y="14"/>
                      <a:pt x="108" y="14"/>
                      <a:pt x="108" y="14"/>
                    </a:cubicBezTo>
                    <a:cubicBezTo>
                      <a:pt x="111" y="9"/>
                      <a:pt x="111" y="9"/>
                      <a:pt x="111" y="9"/>
                    </a:cubicBezTo>
                    <a:cubicBezTo>
                      <a:pt x="100" y="4"/>
                      <a:pt x="88" y="0"/>
                      <a:pt x="75" y="0"/>
                    </a:cubicBezTo>
                    <a:cubicBezTo>
                      <a:pt x="34" y="0"/>
                      <a:pt x="0" y="34"/>
                      <a:pt x="0" y="75"/>
                    </a:cubicBezTo>
                    <a:cubicBezTo>
                      <a:pt x="0" y="117"/>
                      <a:pt x="34" y="150"/>
                      <a:pt x="75" y="150"/>
                    </a:cubicBezTo>
                    <a:cubicBezTo>
                      <a:pt x="117" y="150"/>
                      <a:pt x="150" y="117"/>
                      <a:pt x="150" y="75"/>
                    </a:cubicBezTo>
                    <a:cubicBezTo>
                      <a:pt x="150" y="62"/>
                      <a:pt x="147" y="50"/>
                      <a:pt x="141"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sp>
            <p:nvSpPr>
              <p:cNvPr id="34" name="Freeform 45">
                <a:extLst>
                  <a:ext uri="{FF2B5EF4-FFF2-40B4-BE49-F238E27FC236}">
                    <a16:creationId xmlns:a16="http://schemas.microsoft.com/office/drawing/2014/main" id="{9F48B0E5-EB40-4F71-9BD3-BB0263E5D70F}"/>
                  </a:ext>
                </a:extLst>
              </p:cNvPr>
              <p:cNvSpPr>
                <a:spLocks/>
              </p:cNvSpPr>
              <p:nvPr/>
            </p:nvSpPr>
            <p:spPr bwMode="auto">
              <a:xfrm>
                <a:off x="8927481" y="2417596"/>
                <a:ext cx="531813" cy="293688"/>
              </a:xfrm>
              <a:custGeom>
                <a:avLst/>
                <a:gdLst>
                  <a:gd name="T0" fmla="*/ 171 w 335"/>
                  <a:gd name="T1" fmla="*/ 0 h 185"/>
                  <a:gd name="T2" fmla="*/ 335 w 335"/>
                  <a:gd name="T3" fmla="*/ 29 h 185"/>
                  <a:gd name="T4" fmla="*/ 93 w 335"/>
                  <a:gd name="T5" fmla="*/ 185 h 185"/>
                  <a:gd name="T6" fmla="*/ 0 w 335"/>
                  <a:gd name="T7" fmla="*/ 171 h 185"/>
                  <a:gd name="T8" fmla="*/ 171 w 335"/>
                  <a:gd name="T9" fmla="*/ 0 h 185"/>
                </a:gdLst>
                <a:ahLst/>
                <a:cxnLst>
                  <a:cxn ang="0">
                    <a:pos x="T0" y="T1"/>
                  </a:cxn>
                  <a:cxn ang="0">
                    <a:pos x="T2" y="T3"/>
                  </a:cxn>
                  <a:cxn ang="0">
                    <a:pos x="T4" y="T5"/>
                  </a:cxn>
                  <a:cxn ang="0">
                    <a:pos x="T6" y="T7"/>
                  </a:cxn>
                  <a:cxn ang="0">
                    <a:pos x="T8" y="T9"/>
                  </a:cxn>
                </a:cxnLst>
                <a:rect l="0" t="0" r="r" b="b"/>
                <a:pathLst>
                  <a:path w="335" h="185">
                    <a:moveTo>
                      <a:pt x="171" y="0"/>
                    </a:moveTo>
                    <a:lnTo>
                      <a:pt x="335" y="29"/>
                    </a:lnTo>
                    <a:lnTo>
                      <a:pt x="93" y="185"/>
                    </a:lnTo>
                    <a:lnTo>
                      <a:pt x="0" y="171"/>
                    </a:lnTo>
                    <a:lnTo>
                      <a:pt x="17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endParaRPr>
              </a:p>
            </p:txBody>
          </p:sp>
        </p:grpSp>
      </p:grpSp>
      <p:sp>
        <p:nvSpPr>
          <p:cNvPr id="7" name="Speech Bubble: Rectangle 6">
            <a:extLst>
              <a:ext uri="{FF2B5EF4-FFF2-40B4-BE49-F238E27FC236}">
                <a16:creationId xmlns:a16="http://schemas.microsoft.com/office/drawing/2014/main" id="{1955671E-DFED-4E83-AEB8-51B9C91A933A}"/>
              </a:ext>
            </a:extLst>
          </p:cNvPr>
          <p:cNvSpPr/>
          <p:nvPr/>
        </p:nvSpPr>
        <p:spPr bwMode="gray">
          <a:xfrm>
            <a:off x="4356734" y="3973362"/>
            <a:ext cx="3134467" cy="201667"/>
          </a:xfrm>
          <a:prstGeom prst="wedgeRectCallout">
            <a:avLst>
              <a:gd name="adj1" fmla="val -55512"/>
              <a:gd name="adj2" fmla="val -279118"/>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050" b="1" dirty="0">
                <a:solidFill>
                  <a:schemeClr val="bg1"/>
                </a:solidFill>
              </a:rPr>
              <a:t>*Not applicable for intrastate captive open access</a:t>
            </a:r>
          </a:p>
        </p:txBody>
      </p:sp>
      <p:sp>
        <p:nvSpPr>
          <p:cNvPr id="35" name="Arrow: Left 34">
            <a:hlinkClick r:id="rId2" action="ppaction://hlinksldjump"/>
            <a:extLst>
              <a:ext uri="{FF2B5EF4-FFF2-40B4-BE49-F238E27FC236}">
                <a16:creationId xmlns:a16="http://schemas.microsoft.com/office/drawing/2014/main" id="{8A687D3B-BFCB-41BB-83E9-4FB5EC5C7CD5}"/>
              </a:ext>
            </a:extLst>
          </p:cNvPr>
          <p:cNvSpPr/>
          <p:nvPr/>
        </p:nvSpPr>
        <p:spPr bwMode="gray">
          <a:xfrm>
            <a:off x="10353040" y="6319520"/>
            <a:ext cx="497840" cy="368587"/>
          </a:xfrm>
          <a:prstGeom prst="leftArrow">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237237700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7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09764" y="2736849"/>
            <a:ext cx="11972472" cy="692151"/>
          </a:xfrm>
        </p:spPr>
        <p:txBody>
          <a:bodyPr/>
          <a:lstStyle/>
          <a:p>
            <a:pPr marL="990600" indent="-990600"/>
            <a:r>
              <a:rPr lang="en-US" sz="2800" i="0" dirty="0"/>
              <a:t>Status of solar power projects auctioned since March 2020</a:t>
            </a:r>
            <a:endParaRPr lang="en-US" i="0" dirty="0"/>
          </a:p>
        </p:txBody>
      </p:sp>
      <p:cxnSp>
        <p:nvCxnSpPr>
          <p:cNvPr id="8" name="Straight Connector 7">
            <a:extLst>
              <a:ext uri="{FF2B5EF4-FFF2-40B4-BE49-F238E27FC236}">
                <a16:creationId xmlns:a16="http://schemas.microsoft.com/office/drawing/2014/main" id="{784C1C03-CAB1-4AA6-8518-B87142FB9A78}"/>
              </a:ext>
            </a:extLst>
          </p:cNvPr>
          <p:cNvCxnSpPr>
            <a:cxnSpLocks/>
          </p:cNvCxnSpPr>
          <p:nvPr/>
        </p:nvCxnSpPr>
        <p:spPr>
          <a:xfrm>
            <a:off x="0" y="3429000"/>
            <a:ext cx="12192000" cy="0"/>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6910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134620"/>
            <a:ext cx="11188700" cy="334099"/>
          </a:xfrm>
          <a:noFill/>
        </p:spPr>
        <p:txBody>
          <a:bodyPr/>
          <a:lstStyle/>
          <a:p>
            <a:r>
              <a:rPr lang="en-US" sz="2400" b="1" dirty="0">
                <a:latin typeface="Calibri" panose="020F0502020204030204" pitchFamily="34" charset="0"/>
              </a:rPr>
              <a:t>Status of Solar Power Projects awarded through e-Reverse Auctions since March 2020 </a:t>
            </a:r>
            <a:endParaRPr lang="en-GB" sz="2400" b="1" dirty="0"/>
          </a:p>
        </p:txBody>
      </p:sp>
      <p:sp>
        <p:nvSpPr>
          <p:cNvPr id="8" name="Rectangle: Rounded Corners 7">
            <a:extLst>
              <a:ext uri="{FF2B5EF4-FFF2-40B4-BE49-F238E27FC236}">
                <a16:creationId xmlns:a16="http://schemas.microsoft.com/office/drawing/2014/main" id="{3F97288B-EE69-4E80-95DE-AA578B3FFD97}"/>
              </a:ext>
            </a:extLst>
          </p:cNvPr>
          <p:cNvSpPr/>
          <p:nvPr/>
        </p:nvSpPr>
        <p:spPr bwMode="gray">
          <a:xfrm>
            <a:off x="370114" y="644859"/>
            <a:ext cx="11320236" cy="3894484"/>
          </a:xfrm>
          <a:prstGeom prst="roundRect">
            <a:avLst/>
          </a:prstGeom>
          <a:solidFill>
            <a:schemeClr val="accent1">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square" lIns="88900" tIns="88900" rIns="88900" bIns="88900" rtlCol="0" anchor="ctr"/>
          <a:lstStyle/>
          <a:p>
            <a:pPr marL="285750" indent="-285750" algn="just">
              <a:lnSpc>
                <a:spcPct val="114000"/>
              </a:lnSpc>
              <a:spcAft>
                <a:spcPts val="600"/>
              </a:spcAft>
              <a:buSzPct val="100000"/>
              <a:buFont typeface="Arial" panose="020B0604020202020204" pitchFamily="34" charset="0"/>
              <a:buChar char="•"/>
            </a:pPr>
            <a:r>
              <a:rPr lang="en-US" sz="1700" b="1" dirty="0"/>
              <a:t> ~26.5 GW* </a:t>
            </a:r>
            <a:r>
              <a:rPr lang="en-US" sz="1700" dirty="0"/>
              <a:t>of solar capacity tendered through e-Reverse Auctions (e-RA) since March 2020;</a:t>
            </a:r>
          </a:p>
          <a:p>
            <a:pPr marL="285750" lvl="1" indent="-285750" algn="just">
              <a:lnSpc>
                <a:spcPct val="114000"/>
              </a:lnSpc>
              <a:spcAft>
                <a:spcPts val="600"/>
              </a:spcAft>
              <a:buSzPct val="100000"/>
              <a:buFont typeface="Wingdings" panose="05000000000000000000" pitchFamily="2" charset="2"/>
              <a:buChar char="q"/>
            </a:pPr>
            <a:r>
              <a:rPr lang="en-US" sz="1700" b="1" dirty="0"/>
              <a:t>In FY 21,</a:t>
            </a:r>
            <a:r>
              <a:rPr lang="en-US" sz="1700" dirty="0"/>
              <a:t> </a:t>
            </a:r>
            <a:r>
              <a:rPr lang="en-US" sz="1700" b="1" dirty="0"/>
              <a:t>~9.3 GW</a:t>
            </a:r>
            <a:r>
              <a:rPr lang="en-US" sz="1700" dirty="0"/>
              <a:t> capacity was tendered, out of which only</a:t>
            </a:r>
            <a:r>
              <a:rPr lang="en-US" sz="1700" b="1" dirty="0"/>
              <a:t> ~1.47 GW (~16%)</a:t>
            </a:r>
            <a:r>
              <a:rPr lang="en-US" sz="1700" dirty="0"/>
              <a:t> have been commissioned as on date</a:t>
            </a:r>
          </a:p>
          <a:p>
            <a:pPr marL="285750" lvl="1" indent="-285750" algn="just">
              <a:lnSpc>
                <a:spcPct val="114000"/>
              </a:lnSpc>
              <a:spcAft>
                <a:spcPts val="600"/>
              </a:spcAft>
              <a:buSzPct val="100000"/>
              <a:buFont typeface="Wingdings" panose="05000000000000000000" pitchFamily="2" charset="2"/>
              <a:buChar char="q"/>
            </a:pPr>
            <a:r>
              <a:rPr lang="en-US" sz="1700" dirty="0"/>
              <a:t>Capacity corresponding to projects with approximate delay in PPA signing over 60 days from envisaged date : </a:t>
            </a:r>
            <a:r>
              <a:rPr lang="en-US" sz="1700" b="1" dirty="0"/>
              <a:t>10.6 GW</a:t>
            </a:r>
          </a:p>
          <a:p>
            <a:pPr marL="285750" indent="-285750" algn="just">
              <a:lnSpc>
                <a:spcPct val="114000"/>
              </a:lnSpc>
              <a:spcAft>
                <a:spcPts val="600"/>
              </a:spcAft>
              <a:buSzPct val="100000"/>
            </a:pPr>
            <a:r>
              <a:rPr lang="en-US" sz="1700" i="1" dirty="0"/>
              <a:t>(Considering 4 months of timeline for SECI tenders and 2 months for Non-SECI tenders for signing of PPA)</a:t>
            </a:r>
            <a:endParaRPr lang="en-US" sz="1700" b="1" i="1" dirty="0"/>
          </a:p>
          <a:p>
            <a:pPr marL="285750" lvl="1" indent="-285750" algn="just">
              <a:lnSpc>
                <a:spcPct val="114000"/>
              </a:lnSpc>
              <a:spcAft>
                <a:spcPts val="600"/>
              </a:spcAft>
              <a:buSzPct val="100000"/>
              <a:buFont typeface="Wingdings" panose="05000000000000000000" pitchFamily="2" charset="2"/>
              <a:buChar char="q"/>
            </a:pPr>
            <a:r>
              <a:rPr lang="en-US" sz="1700" dirty="0"/>
              <a:t>Capacity of  projects not commissioned </a:t>
            </a:r>
            <a:r>
              <a:rPr lang="en-US" sz="1700" b="1" dirty="0"/>
              <a:t>for which timeline of over two years have already lapsed since e-RA</a:t>
            </a:r>
            <a:r>
              <a:rPr lang="en-US" sz="1700" dirty="0"/>
              <a:t>: </a:t>
            </a:r>
            <a:r>
              <a:rPr lang="en-US" sz="1700" b="1" dirty="0"/>
              <a:t>~7 GW</a:t>
            </a:r>
            <a:r>
              <a:rPr lang="en-US" sz="1700" dirty="0"/>
              <a:t> </a:t>
            </a:r>
          </a:p>
          <a:p>
            <a:pPr marL="285750" indent="-285750" algn="just">
              <a:lnSpc>
                <a:spcPct val="114000"/>
              </a:lnSpc>
              <a:spcAft>
                <a:spcPts val="600"/>
              </a:spcAft>
              <a:buSzPct val="100000"/>
            </a:pPr>
            <a:r>
              <a:rPr lang="en-US" sz="1700" i="1" dirty="0"/>
              <a:t>(considering ~24 months from e-RA date: standard timeline of 1 month from e-RA for receipt of Letter of Award, 1-3 months for PPA signing and 18 months for commissioning from PPA date)</a:t>
            </a:r>
          </a:p>
          <a:p>
            <a:pPr marL="285750" lvl="1" indent="-285750" algn="just">
              <a:lnSpc>
                <a:spcPct val="114000"/>
              </a:lnSpc>
              <a:spcAft>
                <a:spcPts val="600"/>
              </a:spcAft>
              <a:buSzPct val="100000"/>
              <a:buFont typeface="Wingdings" panose="05000000000000000000" pitchFamily="2" charset="2"/>
              <a:buChar char="q"/>
            </a:pPr>
            <a:r>
              <a:rPr lang="en-US" sz="1700" dirty="0"/>
              <a:t>Capacity of tenders scrapped, LOA cancelled, or PPA pending to be signed (as on Oct 2022) post e-RA completion since March 2020:    </a:t>
            </a:r>
            <a:r>
              <a:rPr lang="en-US" sz="1700" b="1" dirty="0"/>
              <a:t>~0.9 GW</a:t>
            </a:r>
            <a:r>
              <a:rPr lang="en-US" sz="1700" dirty="0"/>
              <a:t> </a:t>
            </a:r>
          </a:p>
        </p:txBody>
      </p:sp>
      <p:sp>
        <p:nvSpPr>
          <p:cNvPr id="2" name="Oval 1">
            <a:extLst>
              <a:ext uri="{FF2B5EF4-FFF2-40B4-BE49-F238E27FC236}">
                <a16:creationId xmlns:a16="http://schemas.microsoft.com/office/drawing/2014/main" id="{4AAEFF52-D6AB-46C7-A155-CAAEDB8620FA}"/>
              </a:ext>
            </a:extLst>
          </p:cNvPr>
          <p:cNvSpPr/>
          <p:nvPr/>
        </p:nvSpPr>
        <p:spPr bwMode="gray">
          <a:xfrm>
            <a:off x="10318203" y="1776607"/>
            <a:ext cx="1208315" cy="391886"/>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9" name="Oval 8">
            <a:extLst>
              <a:ext uri="{FF2B5EF4-FFF2-40B4-BE49-F238E27FC236}">
                <a16:creationId xmlns:a16="http://schemas.microsoft.com/office/drawing/2014/main" id="{86D4C8BA-D502-42F3-88D7-9EB57E864A57}"/>
              </a:ext>
            </a:extLst>
          </p:cNvPr>
          <p:cNvSpPr/>
          <p:nvPr/>
        </p:nvSpPr>
        <p:spPr bwMode="gray">
          <a:xfrm>
            <a:off x="6013360" y="1371751"/>
            <a:ext cx="1926952" cy="505141"/>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 name="Oval 9">
            <a:extLst>
              <a:ext uri="{FF2B5EF4-FFF2-40B4-BE49-F238E27FC236}">
                <a16:creationId xmlns:a16="http://schemas.microsoft.com/office/drawing/2014/main" id="{74C738D9-5B41-4212-B455-4F493D488AA1}"/>
              </a:ext>
            </a:extLst>
          </p:cNvPr>
          <p:cNvSpPr/>
          <p:nvPr/>
        </p:nvSpPr>
        <p:spPr bwMode="gray">
          <a:xfrm>
            <a:off x="2048328" y="3858748"/>
            <a:ext cx="1208315" cy="391886"/>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 name="Rectangle 13">
            <a:extLst>
              <a:ext uri="{FF2B5EF4-FFF2-40B4-BE49-F238E27FC236}">
                <a16:creationId xmlns:a16="http://schemas.microsoft.com/office/drawing/2014/main" id="{1A8D8760-DB12-4A54-AB86-0308829789FA}"/>
              </a:ext>
            </a:extLst>
          </p:cNvPr>
          <p:cNvSpPr/>
          <p:nvPr/>
        </p:nvSpPr>
        <p:spPr bwMode="gray">
          <a:xfrm>
            <a:off x="501650" y="4781759"/>
            <a:ext cx="11188700" cy="1193570"/>
          </a:xfrm>
          <a:prstGeom prst="rect">
            <a:avLst/>
          </a:prstGeom>
          <a:solidFill>
            <a:schemeClr val="bg1">
              <a:lumMod val="85000"/>
            </a:schemeClr>
          </a:solidFill>
          <a:ln w="19050" algn="ctr">
            <a:noFill/>
            <a:miter lim="800000"/>
            <a:headEnd/>
            <a:tailEnd/>
          </a:ln>
        </p:spPr>
        <p:txBody>
          <a:bodyPr wrap="square" lIns="88900" tIns="88900" rIns="88900" bIns="88900" rtlCol="0" anchor="ctr"/>
          <a:lstStyle/>
          <a:p>
            <a:pPr marL="285750" indent="-285750">
              <a:lnSpc>
                <a:spcPct val="106000"/>
              </a:lnSpc>
              <a:spcAft>
                <a:spcPts val="600"/>
              </a:spcAft>
              <a:buFont typeface="Wingdings" panose="05000000000000000000" pitchFamily="2" charset="2"/>
              <a:buChar char="q"/>
            </a:pPr>
            <a:r>
              <a:rPr lang="en-US" sz="1700" dirty="0"/>
              <a:t>The figures above are clearly indicative of the fact that the situation of projects under Tariff based Competitive Bidding (Sec 63) has been far from ideal.  </a:t>
            </a:r>
          </a:p>
          <a:p>
            <a:pPr marL="285750" indent="-285750">
              <a:lnSpc>
                <a:spcPct val="106000"/>
              </a:lnSpc>
              <a:spcAft>
                <a:spcPts val="600"/>
              </a:spcAft>
              <a:buFont typeface="Wingdings" panose="05000000000000000000" pitchFamily="2" charset="2"/>
              <a:buChar char="q"/>
            </a:pPr>
            <a:r>
              <a:rPr lang="en-US" sz="1700" dirty="0"/>
              <a:t>Recent pandemic and price fluctuations of major capex components, as well as inherent difficulty to sign PPAs with DISCOMs have majorly contributed to this current predicament</a:t>
            </a:r>
          </a:p>
        </p:txBody>
      </p:sp>
      <p:sp>
        <p:nvSpPr>
          <p:cNvPr id="4" name="TextBox 3">
            <a:extLst>
              <a:ext uri="{FF2B5EF4-FFF2-40B4-BE49-F238E27FC236}">
                <a16:creationId xmlns:a16="http://schemas.microsoft.com/office/drawing/2014/main" id="{78BB2FE4-E97A-4794-8F12-AD816D9E213E}"/>
              </a:ext>
            </a:extLst>
          </p:cNvPr>
          <p:cNvSpPr txBox="1"/>
          <p:nvPr/>
        </p:nvSpPr>
        <p:spPr>
          <a:xfrm>
            <a:off x="1382486" y="6278452"/>
            <a:ext cx="11188700" cy="246221"/>
          </a:xfrm>
          <a:prstGeom prst="rect">
            <a:avLst/>
          </a:prstGeom>
          <a:noFill/>
        </p:spPr>
        <p:txBody>
          <a:bodyPr wrap="square" lIns="0" tIns="0" rIns="0" bIns="0" rtlCol="0">
            <a:spAutoFit/>
          </a:bodyPr>
          <a:lstStyle/>
          <a:p>
            <a:pPr>
              <a:spcBef>
                <a:spcPts val="600"/>
              </a:spcBef>
              <a:buSzPct val="100000"/>
            </a:pPr>
            <a:r>
              <a:rPr lang="en-US" sz="1600" b="1" dirty="0">
                <a:solidFill>
                  <a:srgbClr val="313131"/>
                </a:solidFill>
              </a:rPr>
              <a:t>Supporting sheet: </a:t>
            </a:r>
          </a:p>
        </p:txBody>
      </p:sp>
      <p:sp>
        <p:nvSpPr>
          <p:cNvPr id="16" name="TextBox 15">
            <a:extLst>
              <a:ext uri="{FF2B5EF4-FFF2-40B4-BE49-F238E27FC236}">
                <a16:creationId xmlns:a16="http://schemas.microsoft.com/office/drawing/2014/main" id="{90F7CC97-13EA-4BE0-9D86-B6AC1E23CEE2}"/>
              </a:ext>
            </a:extLst>
          </p:cNvPr>
          <p:cNvSpPr txBox="1"/>
          <p:nvPr/>
        </p:nvSpPr>
        <p:spPr>
          <a:xfrm>
            <a:off x="701040" y="4553757"/>
            <a:ext cx="4106090" cy="169277"/>
          </a:xfrm>
          <a:prstGeom prst="rect">
            <a:avLst/>
          </a:prstGeom>
          <a:noFill/>
        </p:spPr>
        <p:txBody>
          <a:bodyPr wrap="square" lIns="0" tIns="0" rIns="0" bIns="0" rtlCol="0">
            <a:spAutoFit/>
          </a:bodyPr>
          <a:lstStyle/>
          <a:p>
            <a:pPr>
              <a:spcBef>
                <a:spcPts val="600"/>
              </a:spcBef>
              <a:buSzPct val="100000"/>
            </a:pPr>
            <a:r>
              <a:rPr lang="en-US" sz="1100" i="1" dirty="0">
                <a:solidFill>
                  <a:srgbClr val="313131"/>
                </a:solidFill>
              </a:rPr>
              <a:t>*Assumption: Solar capacity of 50% considered for Hybrid configurations</a:t>
            </a:r>
          </a:p>
        </p:txBody>
      </p:sp>
      <p:sp>
        <p:nvSpPr>
          <p:cNvPr id="15" name="Oval 14">
            <a:extLst>
              <a:ext uri="{FF2B5EF4-FFF2-40B4-BE49-F238E27FC236}">
                <a16:creationId xmlns:a16="http://schemas.microsoft.com/office/drawing/2014/main" id="{1B99F839-681D-4942-9139-81DE1B2DC453}"/>
              </a:ext>
            </a:extLst>
          </p:cNvPr>
          <p:cNvSpPr/>
          <p:nvPr/>
        </p:nvSpPr>
        <p:spPr bwMode="gray">
          <a:xfrm>
            <a:off x="10318203" y="2532442"/>
            <a:ext cx="1208315" cy="391886"/>
          </a:xfrm>
          <a:prstGeom prst="ellipse">
            <a:avLst/>
          </a:prstGeom>
          <a:noFill/>
          <a:ln>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11" name="Object 10">
            <a:extLst>
              <a:ext uri="{FF2B5EF4-FFF2-40B4-BE49-F238E27FC236}">
                <a16:creationId xmlns:a16="http://schemas.microsoft.com/office/drawing/2014/main" id="{BF4F4AE8-B7EA-414D-B8F8-7E2BACE0FF61}"/>
              </a:ext>
            </a:extLst>
          </p:cNvPr>
          <p:cNvGraphicFramePr>
            <a:graphicFrameLocks noChangeAspect="1"/>
          </p:cNvGraphicFramePr>
          <p:nvPr>
            <p:extLst>
              <p:ext uri="{D42A27DB-BD31-4B8C-83A1-F6EECF244321}">
                <p14:modId xmlns:p14="http://schemas.microsoft.com/office/powerpoint/2010/main" val="3142401954"/>
              </p:ext>
            </p:extLst>
          </p:nvPr>
        </p:nvGraphicFramePr>
        <p:xfrm>
          <a:off x="2901043" y="6213141"/>
          <a:ext cx="914400" cy="806450"/>
        </p:xfrm>
        <a:graphic>
          <a:graphicData uri="http://schemas.openxmlformats.org/presentationml/2006/ole">
            <mc:AlternateContent xmlns:mc="http://schemas.openxmlformats.org/markup-compatibility/2006">
              <mc:Choice xmlns:v="urn:schemas-microsoft-com:vml" Requires="v">
                <p:oleObj spid="_x0000_s11294" name="Worksheet" showAsIcon="1" r:id="rId3" imgW="914400" imgH="806335" progId="Excel.Sheet.12">
                  <p:embed/>
                </p:oleObj>
              </mc:Choice>
              <mc:Fallback>
                <p:oleObj name="Worksheet" showAsIcon="1" r:id="rId3" imgW="914400" imgH="806335" progId="Excel.Sheet.12">
                  <p:embed/>
                  <p:pic>
                    <p:nvPicPr>
                      <p:cNvPr id="11" name="Object 10">
                        <a:extLst>
                          <a:ext uri="{FF2B5EF4-FFF2-40B4-BE49-F238E27FC236}">
                            <a16:creationId xmlns:a16="http://schemas.microsoft.com/office/drawing/2014/main" id="{BF4F4AE8-B7EA-414D-B8F8-7E2BACE0FF61}"/>
                          </a:ext>
                        </a:extLst>
                      </p:cNvPr>
                      <p:cNvPicPr/>
                      <p:nvPr/>
                    </p:nvPicPr>
                    <p:blipFill>
                      <a:blip r:embed="rId4"/>
                      <a:stretch>
                        <a:fillRect/>
                      </a:stretch>
                    </p:blipFill>
                    <p:spPr>
                      <a:xfrm>
                        <a:off x="2901043" y="6213141"/>
                        <a:ext cx="914400" cy="806450"/>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51DAC5B3-7A4F-4124-9730-11498EA01D87}"/>
              </a:ext>
            </a:extLst>
          </p:cNvPr>
          <p:cNvSpPr/>
          <p:nvPr/>
        </p:nvSpPr>
        <p:spPr bwMode="gray">
          <a:xfrm>
            <a:off x="6683828" y="6477159"/>
            <a:ext cx="5006521" cy="246221"/>
          </a:xfrm>
          <a:prstGeom prst="rect">
            <a:avLst/>
          </a:prstGeom>
          <a:noFill/>
          <a:ln w="38100">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nSpc>
                <a:spcPct val="106000"/>
              </a:lnSpc>
            </a:pPr>
            <a:r>
              <a:rPr lang="en-US" sz="1200" b="1" i="1" dirty="0">
                <a:ln w="0"/>
                <a:solidFill>
                  <a:schemeClr val="tx1"/>
                </a:solidFill>
              </a:rPr>
              <a:t>Note:</a:t>
            </a:r>
            <a:r>
              <a:rPr lang="en-US" sz="1200" i="1" dirty="0">
                <a:ln w="0"/>
                <a:solidFill>
                  <a:schemeClr val="tx1"/>
                </a:solidFill>
              </a:rPr>
              <a:t> Above analysis is based on secondary research and market intelligence</a:t>
            </a:r>
          </a:p>
        </p:txBody>
      </p:sp>
    </p:spTree>
    <p:extLst>
      <p:ext uri="{BB962C8B-B14F-4D97-AF65-F5344CB8AC3E}">
        <p14:creationId xmlns:p14="http://schemas.microsoft.com/office/powerpoint/2010/main" val="3282532420"/>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437744" y="4102100"/>
            <a:ext cx="11177081" cy="2197100"/>
          </a:xfrm>
        </p:spPr>
        <p:txBody>
          <a:bodyPr anchor="b">
            <a:noAutofit/>
          </a:bodyPr>
          <a:lstStyle/>
          <a:p>
            <a:pPr>
              <a:spcAft>
                <a:spcPts val="600"/>
              </a:spcAft>
            </a:pPr>
            <a:r>
              <a:rPr lang="en-US" sz="1000"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spcAft>
                <a:spcPts val="600"/>
              </a:spcAft>
            </a:pPr>
            <a:r>
              <a:rPr lang="en-US" sz="1000" dirty="0"/>
              <a:t>This material has been prepared by Deloitte Touche Tohmatsu India LLP (“DTTI LLP”), a member of Deloitte Touche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spcAft>
                <a:spcPts val="600"/>
              </a:spcAft>
            </a:pPr>
            <a:r>
              <a:rPr lang="en-US" sz="1000" dirty="0"/>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spcAft>
                <a:spcPts val="600"/>
              </a:spcAft>
            </a:pPr>
            <a:r>
              <a:rPr lang="en-US" sz="1000" dirty="0"/>
              <a:t>©2022 Deloitte Touche Tohmatsu India LLP. Member of Deloitte Touche Tohmatsu Limited</a:t>
            </a:r>
          </a:p>
          <a:p>
            <a:pPr>
              <a:spcAft>
                <a:spcPts val="600"/>
              </a:spcAft>
            </a:pPr>
            <a:r>
              <a:rPr lang="en-US" sz="1000" dirty="0"/>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398245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2400" b="1" dirty="0">
                <a:latin typeface="Calibri" panose="020F0502020204030204" pitchFamily="34" charset="0"/>
              </a:rPr>
              <a:t>Annexure 1: ECR of RVUNL Coal TPPs for FY 22 and FY 23 (Till January 2023)</a:t>
            </a:r>
            <a:endParaRPr lang="en-GB" b="1" dirty="0"/>
          </a:p>
        </p:txBody>
      </p:sp>
      <p:graphicFrame>
        <p:nvGraphicFramePr>
          <p:cNvPr id="7" name="Chart 6">
            <a:extLst>
              <a:ext uri="{FF2B5EF4-FFF2-40B4-BE49-F238E27FC236}">
                <a16:creationId xmlns:a16="http://schemas.microsoft.com/office/drawing/2014/main" id="{F57B976B-B92E-42C6-98C2-D7438DE7A614}"/>
              </a:ext>
            </a:extLst>
          </p:cNvPr>
          <p:cNvGraphicFramePr/>
          <p:nvPr>
            <p:extLst>
              <p:ext uri="{D42A27DB-BD31-4B8C-83A1-F6EECF244321}">
                <p14:modId xmlns:p14="http://schemas.microsoft.com/office/powerpoint/2010/main" val="97020504"/>
              </p:ext>
            </p:extLst>
          </p:nvPr>
        </p:nvGraphicFramePr>
        <p:xfrm>
          <a:off x="323385" y="531067"/>
          <a:ext cx="11366965" cy="549059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9515BC8B-235B-410C-AB35-59D1FBE9C433}"/>
              </a:ext>
            </a:extLst>
          </p:cNvPr>
          <p:cNvSpPr txBox="1"/>
          <p:nvPr/>
        </p:nvSpPr>
        <p:spPr>
          <a:xfrm>
            <a:off x="9372600" y="1845325"/>
            <a:ext cx="3460750" cy="184666"/>
          </a:xfrm>
          <a:prstGeom prst="rect">
            <a:avLst/>
          </a:prstGeom>
          <a:noFill/>
        </p:spPr>
        <p:txBody>
          <a:bodyPr wrap="square" lIns="0" tIns="0" rIns="0" bIns="0" rtlCol="0">
            <a:spAutoFit/>
          </a:bodyPr>
          <a:lstStyle/>
          <a:p>
            <a:pPr>
              <a:spcBef>
                <a:spcPts val="600"/>
              </a:spcBef>
              <a:buSzPct val="100000"/>
            </a:pPr>
            <a:r>
              <a:rPr lang="en-US" sz="1200" i="1" dirty="0">
                <a:solidFill>
                  <a:srgbClr val="313131"/>
                </a:solidFill>
              </a:rPr>
              <a:t>ECR Figures in Rs/kWh</a:t>
            </a:r>
          </a:p>
        </p:txBody>
      </p:sp>
      <p:sp>
        <p:nvSpPr>
          <p:cNvPr id="10" name="TextBox 9">
            <a:extLst>
              <a:ext uri="{FF2B5EF4-FFF2-40B4-BE49-F238E27FC236}">
                <a16:creationId xmlns:a16="http://schemas.microsoft.com/office/drawing/2014/main" id="{02663BE9-3C55-414E-A392-57FA87843017}"/>
              </a:ext>
            </a:extLst>
          </p:cNvPr>
          <p:cNvSpPr txBox="1"/>
          <p:nvPr/>
        </p:nvSpPr>
        <p:spPr>
          <a:xfrm>
            <a:off x="2852963" y="6607629"/>
            <a:ext cx="4266293" cy="215444"/>
          </a:xfrm>
          <a:prstGeom prst="rect">
            <a:avLst/>
          </a:prstGeom>
          <a:noFill/>
        </p:spPr>
        <p:txBody>
          <a:bodyPr wrap="square" lIns="0" tIns="0" rIns="0" bIns="0" rtlCol="0">
            <a:spAutoFit/>
          </a:bodyPr>
          <a:lstStyle/>
          <a:p>
            <a:pPr>
              <a:spcBef>
                <a:spcPts val="600"/>
              </a:spcBef>
              <a:buSzPct val="100000"/>
            </a:pPr>
            <a:r>
              <a:rPr lang="en-US" sz="1400" i="1" dirty="0">
                <a:solidFill>
                  <a:srgbClr val="313131"/>
                </a:solidFill>
              </a:rPr>
              <a:t>Source: RVUNL website, National Power Portal</a:t>
            </a:r>
          </a:p>
        </p:txBody>
      </p:sp>
      <p:sp>
        <p:nvSpPr>
          <p:cNvPr id="9" name="Arrow: Right 8">
            <a:hlinkClick r:id="rId3" action="ppaction://hlinksldjump"/>
            <a:extLst>
              <a:ext uri="{FF2B5EF4-FFF2-40B4-BE49-F238E27FC236}">
                <a16:creationId xmlns:a16="http://schemas.microsoft.com/office/drawing/2014/main" id="{85FC3AE7-3D7E-45EE-8D07-1693DC0B4902}"/>
              </a:ext>
            </a:extLst>
          </p:cNvPr>
          <p:cNvSpPr/>
          <p:nvPr/>
        </p:nvSpPr>
        <p:spPr bwMode="gray">
          <a:xfrm flipH="1">
            <a:off x="8392728" y="6272466"/>
            <a:ext cx="2948372" cy="585534"/>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hlinkClick r:id="rId4" action="ppaction://hlinksldjump"/>
              </a:rPr>
              <a:t>BACK TO MAIN SLIDE</a:t>
            </a:r>
            <a:endParaRPr lang="en-US" sz="1200" b="1" dirty="0">
              <a:solidFill>
                <a:schemeClr val="bg1"/>
              </a:solidFill>
            </a:endParaRPr>
          </a:p>
        </p:txBody>
      </p:sp>
    </p:spTree>
    <p:extLst>
      <p:ext uri="{BB962C8B-B14F-4D97-AF65-F5344CB8AC3E}">
        <p14:creationId xmlns:p14="http://schemas.microsoft.com/office/powerpoint/2010/main" val="2382094762"/>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FCE369FF-EF35-489E-9484-DC17C0083E90}"/>
              </a:ext>
            </a:extLst>
          </p:cNvPr>
          <p:cNvSpPr>
            <a:spLocks noGrp="1"/>
          </p:cNvSpPr>
          <p:nvPr>
            <p:ph type="title"/>
          </p:nvPr>
        </p:nvSpPr>
        <p:spPr>
          <a:xfrm>
            <a:off x="501650" y="80191"/>
            <a:ext cx="11188700" cy="334099"/>
          </a:xfrm>
          <a:noFill/>
        </p:spPr>
        <p:txBody>
          <a:bodyPr/>
          <a:lstStyle/>
          <a:p>
            <a:r>
              <a:rPr lang="en-US" sz="2800" b="1" dirty="0"/>
              <a:t>Annexure 2: IEX GDAM Market Trends</a:t>
            </a:r>
            <a:endParaRPr lang="en-GB" sz="2800" b="1" dirty="0"/>
          </a:p>
        </p:txBody>
      </p:sp>
      <p:graphicFrame>
        <p:nvGraphicFramePr>
          <p:cNvPr id="9" name="Chart 8">
            <a:extLst>
              <a:ext uri="{FF2B5EF4-FFF2-40B4-BE49-F238E27FC236}">
                <a16:creationId xmlns:a16="http://schemas.microsoft.com/office/drawing/2014/main" id="{858301FB-E707-4854-8EFC-07A4B02054DD}"/>
              </a:ext>
            </a:extLst>
          </p:cNvPr>
          <p:cNvGraphicFramePr/>
          <p:nvPr/>
        </p:nvGraphicFramePr>
        <p:xfrm>
          <a:off x="501649" y="642258"/>
          <a:ext cx="5496380" cy="278674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 name="Chart 19">
            <a:extLst>
              <a:ext uri="{FF2B5EF4-FFF2-40B4-BE49-F238E27FC236}">
                <a16:creationId xmlns:a16="http://schemas.microsoft.com/office/drawing/2014/main" id="{545DCD47-6C45-4BE3-A991-BAA4F2306343}"/>
              </a:ext>
            </a:extLst>
          </p:cNvPr>
          <p:cNvGraphicFramePr/>
          <p:nvPr/>
        </p:nvGraphicFramePr>
        <p:xfrm>
          <a:off x="501649" y="3656968"/>
          <a:ext cx="5496381" cy="27867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Chart 20">
            <a:extLst>
              <a:ext uri="{FF2B5EF4-FFF2-40B4-BE49-F238E27FC236}">
                <a16:creationId xmlns:a16="http://schemas.microsoft.com/office/drawing/2014/main" id="{CB3BFE75-BAB8-4B36-9511-E292E90EB3E1}"/>
              </a:ext>
            </a:extLst>
          </p:cNvPr>
          <p:cNvGraphicFramePr/>
          <p:nvPr/>
        </p:nvGraphicFramePr>
        <p:xfrm>
          <a:off x="6279698" y="642258"/>
          <a:ext cx="5496380" cy="2786742"/>
        </p:xfrm>
        <a:graphic>
          <a:graphicData uri="http://schemas.openxmlformats.org/drawingml/2006/chart">
            <c:chart xmlns:c="http://schemas.openxmlformats.org/drawingml/2006/chart" xmlns:r="http://schemas.openxmlformats.org/officeDocument/2006/relationships" r:id="rId4"/>
          </a:graphicData>
        </a:graphic>
      </p:graphicFrame>
      <p:sp>
        <p:nvSpPr>
          <p:cNvPr id="10" name="Oval 9">
            <a:extLst>
              <a:ext uri="{FF2B5EF4-FFF2-40B4-BE49-F238E27FC236}">
                <a16:creationId xmlns:a16="http://schemas.microsoft.com/office/drawing/2014/main" id="{6E15C188-C85E-446A-BBE9-838B14777D1A}"/>
              </a:ext>
            </a:extLst>
          </p:cNvPr>
          <p:cNvSpPr/>
          <p:nvPr/>
        </p:nvSpPr>
        <p:spPr bwMode="gray">
          <a:xfrm>
            <a:off x="6405563" y="4005943"/>
            <a:ext cx="5370515" cy="2209799"/>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u="sng" dirty="0">
                <a:solidFill>
                  <a:srgbClr val="007680"/>
                </a:solidFill>
              </a:rPr>
              <a:t>Last 12 Months:</a:t>
            </a:r>
          </a:p>
          <a:p>
            <a:pPr algn="ctr">
              <a:lnSpc>
                <a:spcPct val="106000"/>
              </a:lnSpc>
              <a:buFont typeface="Wingdings 2" pitchFamily="18" charset="2"/>
              <a:buNone/>
            </a:pPr>
            <a:endParaRPr lang="en-US" sz="1600" u="sng" dirty="0">
              <a:solidFill>
                <a:srgbClr val="007680"/>
              </a:solidFill>
            </a:endParaRPr>
          </a:p>
          <a:p>
            <a:pPr algn="ctr">
              <a:lnSpc>
                <a:spcPct val="106000"/>
              </a:lnSpc>
              <a:buFont typeface="Wingdings 2" pitchFamily="18" charset="2"/>
              <a:buNone/>
            </a:pPr>
            <a:r>
              <a:rPr lang="en-US" sz="1600" b="1" dirty="0">
                <a:solidFill>
                  <a:schemeClr val="tx1"/>
                </a:solidFill>
              </a:rPr>
              <a:t>Total Scheduled Volume: 3,724 MU </a:t>
            </a:r>
          </a:p>
          <a:p>
            <a:pPr algn="ctr">
              <a:lnSpc>
                <a:spcPct val="106000"/>
              </a:lnSpc>
              <a:buFont typeface="Wingdings 2" pitchFamily="18" charset="2"/>
              <a:buNone/>
            </a:pPr>
            <a:r>
              <a:rPr lang="en-US" sz="1600" dirty="0">
                <a:solidFill>
                  <a:schemeClr val="tx1"/>
                </a:solidFill>
              </a:rPr>
              <a:t>(Solar: 1,571 MU; Non-Solar: 2,153 MU)</a:t>
            </a:r>
          </a:p>
          <a:p>
            <a:pPr algn="ctr">
              <a:lnSpc>
                <a:spcPct val="106000"/>
              </a:lnSpc>
              <a:buFont typeface="Wingdings 2" pitchFamily="18" charset="2"/>
              <a:buNone/>
            </a:pPr>
            <a:endParaRPr lang="en-US" sz="1600" dirty="0">
              <a:solidFill>
                <a:schemeClr val="tx1"/>
              </a:solidFill>
            </a:endParaRPr>
          </a:p>
          <a:p>
            <a:pPr algn="ctr">
              <a:lnSpc>
                <a:spcPct val="106000"/>
              </a:lnSpc>
              <a:buFont typeface="Wingdings 2" pitchFamily="18" charset="2"/>
              <a:buNone/>
            </a:pPr>
            <a:r>
              <a:rPr lang="en-US" sz="1600" b="1" dirty="0">
                <a:solidFill>
                  <a:schemeClr val="tx1"/>
                </a:solidFill>
              </a:rPr>
              <a:t>Weighted MCP for both Solar and Non-Solar : Rs. 5.71/ kWh</a:t>
            </a:r>
          </a:p>
        </p:txBody>
      </p:sp>
      <p:sp>
        <p:nvSpPr>
          <p:cNvPr id="7" name="Arrow: Right 6">
            <a:hlinkClick r:id="rId5" action="ppaction://hlinksldjump"/>
            <a:extLst>
              <a:ext uri="{FF2B5EF4-FFF2-40B4-BE49-F238E27FC236}">
                <a16:creationId xmlns:a16="http://schemas.microsoft.com/office/drawing/2014/main" id="{D5A6BBCF-6D5F-4E64-9E16-E210119350E7}"/>
              </a:ext>
            </a:extLst>
          </p:cNvPr>
          <p:cNvSpPr/>
          <p:nvPr/>
        </p:nvSpPr>
        <p:spPr bwMode="gray">
          <a:xfrm flipH="1">
            <a:off x="8392728" y="6272466"/>
            <a:ext cx="2948372" cy="585534"/>
          </a:xfrm>
          <a:prstGeom prst="rightArrow">
            <a:avLst/>
          </a:prstGeom>
          <a:solidFill>
            <a:schemeClr val="accent2">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hlinkClick r:id="rId6" action="ppaction://hlinksldjump"/>
              </a:rPr>
              <a:t>BACK TO MAIN SLIDE</a:t>
            </a:r>
            <a:endParaRPr lang="en-US" sz="1200" b="1" dirty="0">
              <a:solidFill>
                <a:schemeClr val="bg1"/>
              </a:solidFill>
            </a:endParaRPr>
          </a:p>
        </p:txBody>
      </p:sp>
    </p:spTree>
    <p:extLst>
      <p:ext uri="{BB962C8B-B14F-4D97-AF65-F5344CB8AC3E}">
        <p14:creationId xmlns:p14="http://schemas.microsoft.com/office/powerpoint/2010/main" val="269868067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8C3C3CFE-B604-413D-95F4-89315CEF0EDB}"/>
</file>

<file path=customXml/itemProps2.xml><?xml version="1.0" encoding="utf-8"?>
<ds:datastoreItem xmlns:ds="http://schemas.openxmlformats.org/officeDocument/2006/customXml" ds:itemID="{E5AEF61C-EAE6-4F72-BBF8-D4998044825E}"/>
</file>

<file path=customXml/itemProps3.xml><?xml version="1.0" encoding="utf-8"?>
<ds:datastoreItem xmlns:ds="http://schemas.openxmlformats.org/officeDocument/2006/customXml" ds:itemID="{BD8BE1FB-637A-4BB2-985B-6200C650D72E}"/>
</file>

<file path=docProps/app.xml><?xml version="1.0" encoding="utf-8"?>
<Properties xmlns="http://schemas.openxmlformats.org/officeDocument/2006/extended-properties" xmlns:vt="http://schemas.openxmlformats.org/officeDocument/2006/docPropsVTypes">
  <Template/>
  <TotalTime>15693</TotalTime>
  <Words>6789</Words>
  <Application>Microsoft Office PowerPoint</Application>
  <PresentationFormat>Widescreen</PresentationFormat>
  <Paragraphs>643</Paragraphs>
  <Slides>46</Slides>
  <Notes>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46</vt:i4>
      </vt:variant>
    </vt:vector>
  </HeadingPairs>
  <TitlesOfParts>
    <vt:vector size="56" baseType="lpstr">
      <vt:lpstr>Arial</vt:lpstr>
      <vt:lpstr>Calibri</vt:lpstr>
      <vt:lpstr>Calibri Light</vt:lpstr>
      <vt:lpstr>Courier New</vt:lpstr>
      <vt:lpstr>Verdana</vt:lpstr>
      <vt:lpstr>Wingdings</vt:lpstr>
      <vt:lpstr>Wingdings 2</vt:lpstr>
      <vt:lpstr>Theme1</vt:lpstr>
      <vt:lpstr>think-cell Slide</vt:lpstr>
      <vt:lpstr>Microsoft Excel Worksheet</vt:lpstr>
      <vt:lpstr>PowerPoint Presentation</vt:lpstr>
      <vt:lpstr>Alternate Business Modalities for sale of Solar Power other than Section 63</vt:lpstr>
      <vt:lpstr>Options for Location and Types of Role for CIL w.r.t Power Sale from Solar Project</vt:lpstr>
      <vt:lpstr>Way Forward for CIL w.r.t Sale of Solar Power through identified modalities (1/2)</vt:lpstr>
      <vt:lpstr>Way Forward for CIL w.r.t Sale of Solar Power through identified modalities (2/2)</vt:lpstr>
      <vt:lpstr>1. Sale of Solar Power to RVUNL under Bundling Scheme</vt:lpstr>
      <vt:lpstr>Sale to RVUNL under MoP’s bundling mechanism</vt:lpstr>
      <vt:lpstr>Relevant Regulatory Provisions with respect to Bundling Scheme (1/2)</vt:lpstr>
      <vt:lpstr>Relevant Regulatory Provisions with respect to Bundling Scheme (2/2)</vt:lpstr>
      <vt:lpstr>Trajectory for replacement of Thermal Energy with Renewable Energy by 2025-26 as per MoP (1/2)</vt:lpstr>
      <vt:lpstr>Sale to RVUNL under MoP’s bundling mechanism – Challenges and Key Considerations for CIL</vt:lpstr>
      <vt:lpstr>Additionally, MOP has recently notified norms for RGO for TPPs Regulatory provisions with respect to Renewable Generation Obligation (RGO) by TPPs</vt:lpstr>
      <vt:lpstr>2. Sale of Solar Power to Discoms u/s 62</vt:lpstr>
      <vt:lpstr>Way Forward for Sale to DISCOM of Other states u/s 62</vt:lpstr>
      <vt:lpstr>Precedence Cases wherein Regulator has approved Solar Tariff u/s 62 (1/2)</vt:lpstr>
      <vt:lpstr>Precedence Cases wherein Regulator has approved Solar Tariff u/s 62 (2/2)</vt:lpstr>
      <vt:lpstr>Regulatory Provision for Sale of Solar Power to Rajasthan DISCOMs under Section 62 of EA 2003 (1/2)</vt:lpstr>
      <vt:lpstr>Regulatory Provision for Sale of Solar Power to Rajasthan DISCOMs under Section 62 of EA 2003 (2/2)</vt:lpstr>
      <vt:lpstr>Solar Park – Key Provisions</vt:lpstr>
      <vt:lpstr>Regulatory Provisions with respect to Solar Park Development (1/2)</vt:lpstr>
      <vt:lpstr>Regulatory Provisions with respect to Solar Park Development (2/2)</vt:lpstr>
      <vt:lpstr>3. Sale through Power Exchange</vt:lpstr>
      <vt:lpstr>3. Sale through Power Exchange</vt:lpstr>
      <vt:lpstr>Products in Power Exchange</vt:lpstr>
      <vt:lpstr>Fees &amp; Deposit Structure of IEX</vt:lpstr>
      <vt:lpstr>Sale through Power Exchanges– Implications for CIL</vt:lpstr>
      <vt:lpstr>4. Sale through other avenues</vt:lpstr>
      <vt:lpstr>4. Sale through other avenues - Options</vt:lpstr>
      <vt:lpstr>4.A. Sale to Open Access Consumers (Commercial and Industrial)</vt:lpstr>
      <vt:lpstr>Open Access – Vedanta to source 580 MW green power for its Operations</vt:lpstr>
      <vt:lpstr>Open Access – Microsoft to source 150 MW green power from ReNew</vt:lpstr>
      <vt:lpstr>Concept of Power Trading</vt:lpstr>
      <vt:lpstr>4.B. Sale to Power Traders – Implications for CIL</vt:lpstr>
      <vt:lpstr>5. CPSU Scheme</vt:lpstr>
      <vt:lpstr>CPSU Ph-II Scheme</vt:lpstr>
      <vt:lpstr>Results of tenders under CPSU Scheme (1/2)</vt:lpstr>
      <vt:lpstr>Results of tenders under CPSU Scheme (2/2)</vt:lpstr>
      <vt:lpstr>6. Captive Consumption</vt:lpstr>
      <vt:lpstr>Criteria for Captive Power Project (CPP) as per the Electricity Rules 2005   </vt:lpstr>
      <vt:lpstr>Types of Captive that can be implemented</vt:lpstr>
      <vt:lpstr>Key Requisites for Financial Viability of the Captive Power Plant</vt:lpstr>
      <vt:lpstr>Status of solar power projects auctioned since March 2020</vt:lpstr>
      <vt:lpstr>Status of Solar Power Projects awarded through e-Reverse Auctions since March 2020 </vt:lpstr>
      <vt:lpstr>PowerPoint Presentation</vt:lpstr>
      <vt:lpstr>Annexure 1: ECR of RVUNL Coal TPPs for FY 22 and FY 23 (Till January 2023)</vt:lpstr>
      <vt:lpstr>Annexure 2: IEX GDAM Market Trends</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Kulkarni, Rajeev</dc:creator>
  <cp:lastModifiedBy>Banerjee, Rajeswar</cp:lastModifiedBy>
  <cp:revision>1232</cp:revision>
  <dcterms:created xsi:type="dcterms:W3CDTF">2020-08-21T09:31:26Z</dcterms:created>
  <dcterms:modified xsi:type="dcterms:W3CDTF">2023-03-20T08:11:20Z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2022-07-25T05:57:06Z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5f51cd9e-c0af-445e-b60f-aa0c78d958dc</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