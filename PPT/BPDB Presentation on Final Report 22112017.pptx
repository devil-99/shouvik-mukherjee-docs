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ags/tag2.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2.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3.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4.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5.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6.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7.xml" ContentType="application/vnd.openxmlformats-officedocument.themeOverride+xml"/>
  <Override PartName="/ppt/drawings/drawing2.xml" ContentType="application/vnd.openxmlformats-officedocument.drawingml.chartshape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8.xml" ContentType="application/vnd.openxmlformats-officedocument.themeOverride+xml"/>
  <Override PartName="/ppt/drawings/drawing3.xml" ContentType="application/vnd.openxmlformats-officedocument.drawingml.chartshape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9.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0.xml" ContentType="application/vnd.openxmlformats-officedocument.themeOverr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4.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12">
  <p:sldMasterIdLst>
    <p:sldMasterId id="2147483801" r:id="rId5"/>
    <p:sldMasterId id="2147483842" r:id="rId6"/>
  </p:sldMasterIdLst>
  <p:notesMasterIdLst>
    <p:notesMasterId r:id="rId222"/>
  </p:notesMasterIdLst>
  <p:handoutMasterIdLst>
    <p:handoutMasterId r:id="rId223"/>
  </p:handoutMasterIdLst>
  <p:sldIdLst>
    <p:sldId id="256" r:id="rId7"/>
    <p:sldId id="257" r:id="rId8"/>
    <p:sldId id="490" r:id="rId9"/>
    <p:sldId id="491" r:id="rId10"/>
    <p:sldId id="260" r:id="rId11"/>
    <p:sldId id="261" r:id="rId12"/>
    <p:sldId id="262" r:id="rId13"/>
    <p:sldId id="263" r:id="rId14"/>
    <p:sldId id="264" r:id="rId15"/>
    <p:sldId id="265" r:id="rId16"/>
    <p:sldId id="398" r:id="rId17"/>
    <p:sldId id="408" r:id="rId18"/>
    <p:sldId id="697" r:id="rId19"/>
    <p:sldId id="698" r:id="rId20"/>
    <p:sldId id="284" r:id="rId21"/>
    <p:sldId id="285" r:id="rId22"/>
    <p:sldId id="286" r:id="rId23"/>
    <p:sldId id="287" r:id="rId24"/>
    <p:sldId id="288" r:id="rId25"/>
    <p:sldId id="289" r:id="rId26"/>
    <p:sldId id="277" r:id="rId27"/>
    <p:sldId id="494" r:id="rId28"/>
    <p:sldId id="280" r:id="rId29"/>
    <p:sldId id="533" r:id="rId30"/>
    <p:sldId id="534" r:id="rId31"/>
    <p:sldId id="503" r:id="rId32"/>
    <p:sldId id="504" r:id="rId33"/>
    <p:sldId id="530" r:id="rId34"/>
    <p:sldId id="531" r:id="rId35"/>
    <p:sldId id="532" r:id="rId36"/>
    <p:sldId id="535" r:id="rId37"/>
    <p:sldId id="536" r:id="rId38"/>
    <p:sldId id="539" r:id="rId39"/>
    <p:sldId id="541" r:id="rId40"/>
    <p:sldId id="401" r:id="rId41"/>
    <p:sldId id="402" r:id="rId42"/>
    <p:sldId id="403" r:id="rId43"/>
    <p:sldId id="404" r:id="rId44"/>
    <p:sldId id="405" r:id="rId45"/>
    <p:sldId id="406" r:id="rId46"/>
    <p:sldId id="407" r:id="rId47"/>
    <p:sldId id="542" r:id="rId48"/>
    <p:sldId id="543" r:id="rId49"/>
    <p:sldId id="544" r:id="rId50"/>
    <p:sldId id="546" r:id="rId51"/>
    <p:sldId id="547" r:id="rId52"/>
    <p:sldId id="548" r:id="rId53"/>
    <p:sldId id="567" r:id="rId54"/>
    <p:sldId id="568" r:id="rId55"/>
    <p:sldId id="571" r:id="rId56"/>
    <p:sldId id="572" r:id="rId57"/>
    <p:sldId id="569" r:id="rId58"/>
    <p:sldId id="570" r:id="rId59"/>
    <p:sldId id="573" r:id="rId60"/>
    <p:sldId id="574" r:id="rId61"/>
    <p:sldId id="549" r:id="rId62"/>
    <p:sldId id="550" r:id="rId63"/>
    <p:sldId id="551" r:id="rId64"/>
    <p:sldId id="552" r:id="rId65"/>
    <p:sldId id="553" r:id="rId66"/>
    <p:sldId id="554" r:id="rId67"/>
    <p:sldId id="555" r:id="rId68"/>
    <p:sldId id="556" r:id="rId69"/>
    <p:sldId id="557" r:id="rId70"/>
    <p:sldId id="558" r:id="rId71"/>
    <p:sldId id="559" r:id="rId72"/>
    <p:sldId id="560" r:id="rId73"/>
    <p:sldId id="561" r:id="rId74"/>
    <p:sldId id="562" r:id="rId75"/>
    <p:sldId id="563" r:id="rId76"/>
    <p:sldId id="564" r:id="rId77"/>
    <p:sldId id="565" r:id="rId78"/>
    <p:sldId id="566" r:id="rId79"/>
    <p:sldId id="575" r:id="rId80"/>
    <p:sldId id="576" r:id="rId81"/>
    <p:sldId id="577" r:id="rId82"/>
    <p:sldId id="578" r:id="rId83"/>
    <p:sldId id="579" r:id="rId84"/>
    <p:sldId id="580" r:id="rId85"/>
    <p:sldId id="581" r:id="rId86"/>
    <p:sldId id="582" r:id="rId87"/>
    <p:sldId id="583" r:id="rId88"/>
    <p:sldId id="584" r:id="rId89"/>
    <p:sldId id="585" r:id="rId90"/>
    <p:sldId id="586" r:id="rId91"/>
    <p:sldId id="587" r:id="rId92"/>
    <p:sldId id="588" r:id="rId93"/>
    <p:sldId id="589" r:id="rId94"/>
    <p:sldId id="590" r:id="rId95"/>
    <p:sldId id="591" r:id="rId96"/>
    <p:sldId id="592" r:id="rId97"/>
    <p:sldId id="593" r:id="rId98"/>
    <p:sldId id="594" r:id="rId99"/>
    <p:sldId id="595" r:id="rId100"/>
    <p:sldId id="596" r:id="rId101"/>
    <p:sldId id="597" r:id="rId102"/>
    <p:sldId id="598" r:id="rId103"/>
    <p:sldId id="599" r:id="rId104"/>
    <p:sldId id="600" r:id="rId105"/>
    <p:sldId id="601" r:id="rId106"/>
    <p:sldId id="602" r:id="rId107"/>
    <p:sldId id="603" r:id="rId108"/>
    <p:sldId id="604" r:id="rId109"/>
    <p:sldId id="605" r:id="rId110"/>
    <p:sldId id="606" r:id="rId111"/>
    <p:sldId id="607" r:id="rId112"/>
    <p:sldId id="608" r:id="rId113"/>
    <p:sldId id="609" r:id="rId114"/>
    <p:sldId id="610" r:id="rId115"/>
    <p:sldId id="611" r:id="rId116"/>
    <p:sldId id="612" r:id="rId117"/>
    <p:sldId id="613" r:id="rId118"/>
    <p:sldId id="614" r:id="rId119"/>
    <p:sldId id="615" r:id="rId120"/>
    <p:sldId id="616" r:id="rId121"/>
    <p:sldId id="617" r:id="rId122"/>
    <p:sldId id="618" r:id="rId123"/>
    <p:sldId id="619" r:id="rId124"/>
    <p:sldId id="620" r:id="rId125"/>
    <p:sldId id="621" r:id="rId126"/>
    <p:sldId id="622" r:id="rId127"/>
    <p:sldId id="623" r:id="rId128"/>
    <p:sldId id="624" r:id="rId129"/>
    <p:sldId id="625" r:id="rId130"/>
    <p:sldId id="626" r:id="rId131"/>
    <p:sldId id="627" r:id="rId132"/>
    <p:sldId id="628" r:id="rId133"/>
    <p:sldId id="629" r:id="rId134"/>
    <p:sldId id="630" r:id="rId135"/>
    <p:sldId id="631" r:id="rId136"/>
    <p:sldId id="632" r:id="rId137"/>
    <p:sldId id="633" r:id="rId138"/>
    <p:sldId id="634" r:id="rId139"/>
    <p:sldId id="635" r:id="rId140"/>
    <p:sldId id="636" r:id="rId141"/>
    <p:sldId id="637" r:id="rId142"/>
    <p:sldId id="638" r:id="rId143"/>
    <p:sldId id="639" r:id="rId144"/>
    <p:sldId id="640" r:id="rId145"/>
    <p:sldId id="641" r:id="rId146"/>
    <p:sldId id="642" r:id="rId147"/>
    <p:sldId id="643" r:id="rId148"/>
    <p:sldId id="644" r:id="rId149"/>
    <p:sldId id="645" r:id="rId150"/>
    <p:sldId id="646" r:id="rId151"/>
    <p:sldId id="647" r:id="rId152"/>
    <p:sldId id="648" r:id="rId153"/>
    <p:sldId id="649" r:id="rId154"/>
    <p:sldId id="650" r:id="rId155"/>
    <p:sldId id="651" r:id="rId156"/>
    <p:sldId id="652" r:id="rId157"/>
    <p:sldId id="653" r:id="rId158"/>
    <p:sldId id="654" r:id="rId159"/>
    <p:sldId id="655" r:id="rId160"/>
    <p:sldId id="656" r:id="rId161"/>
    <p:sldId id="657" r:id="rId162"/>
    <p:sldId id="658" r:id="rId163"/>
    <p:sldId id="659" r:id="rId164"/>
    <p:sldId id="660" r:id="rId165"/>
    <p:sldId id="661" r:id="rId166"/>
    <p:sldId id="662" r:id="rId167"/>
    <p:sldId id="671" r:id="rId168"/>
    <p:sldId id="495" r:id="rId169"/>
    <p:sldId id="664" r:id="rId170"/>
    <p:sldId id="665" r:id="rId171"/>
    <p:sldId id="666" r:id="rId172"/>
    <p:sldId id="667" r:id="rId173"/>
    <p:sldId id="668" r:id="rId174"/>
    <p:sldId id="669" r:id="rId175"/>
    <p:sldId id="670" r:id="rId176"/>
    <p:sldId id="672" r:id="rId177"/>
    <p:sldId id="673" r:id="rId178"/>
    <p:sldId id="674" r:id="rId179"/>
    <p:sldId id="675" r:id="rId180"/>
    <p:sldId id="676" r:id="rId181"/>
    <p:sldId id="677" r:id="rId182"/>
    <p:sldId id="678" r:id="rId183"/>
    <p:sldId id="679" r:id="rId184"/>
    <p:sldId id="680" r:id="rId185"/>
    <p:sldId id="681" r:id="rId186"/>
    <p:sldId id="682" r:id="rId187"/>
    <p:sldId id="683" r:id="rId188"/>
    <p:sldId id="684" r:id="rId189"/>
    <p:sldId id="685" r:id="rId190"/>
    <p:sldId id="686" r:id="rId191"/>
    <p:sldId id="687" r:id="rId192"/>
    <p:sldId id="688" r:id="rId193"/>
    <p:sldId id="689" r:id="rId194"/>
    <p:sldId id="690" r:id="rId195"/>
    <p:sldId id="691" r:id="rId196"/>
    <p:sldId id="692" r:id="rId197"/>
    <p:sldId id="693" r:id="rId198"/>
    <p:sldId id="694" r:id="rId199"/>
    <p:sldId id="695" r:id="rId200"/>
    <p:sldId id="696" r:id="rId201"/>
    <p:sldId id="699" r:id="rId202"/>
    <p:sldId id="409" r:id="rId203"/>
    <p:sldId id="410" r:id="rId204"/>
    <p:sldId id="411" r:id="rId205"/>
    <p:sldId id="412" r:id="rId206"/>
    <p:sldId id="413" r:id="rId207"/>
    <p:sldId id="414" r:id="rId208"/>
    <p:sldId id="415" r:id="rId209"/>
    <p:sldId id="416" r:id="rId210"/>
    <p:sldId id="700" r:id="rId211"/>
    <p:sldId id="537" r:id="rId212"/>
    <p:sldId id="538" r:id="rId213"/>
    <p:sldId id="701" r:id="rId214"/>
    <p:sldId id="702" r:id="rId215"/>
    <p:sldId id="703" r:id="rId216"/>
    <p:sldId id="704" r:id="rId217"/>
    <p:sldId id="705" r:id="rId218"/>
    <p:sldId id="706" r:id="rId219"/>
    <p:sldId id="707" r:id="rId220"/>
    <p:sldId id="396" r:id="rId221"/>
  </p:sldIdLst>
  <p:sldSz cx="10688638" cy="7562850"/>
  <p:notesSz cx="6797675" cy="9872663"/>
  <p:custDataLst>
    <p:tags r:id="rId224"/>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382"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hatre, Shreyas (IN - Mumbai)" initials="MS(-M" lastIdx="7" clrIdx="0">
    <p:extLst>
      <p:ext uri="{19B8F6BF-5375-455C-9EA6-DF929625EA0E}">
        <p15:presenceInfo xmlns:p15="http://schemas.microsoft.com/office/powerpoint/2012/main" userId="S-1-5-21-776561741-1482476501-682003330-393219" providerId="AD"/>
      </p:ext>
    </p:extLst>
  </p:cmAuthor>
  <p:cmAuthor id="2" name="Bandyopadhyay, Anirban P (IN - Kolkata)" initials="BAP(-K" lastIdx="4" clrIdx="1">
    <p:extLst>
      <p:ext uri="{19B8F6BF-5375-455C-9EA6-DF929625EA0E}">
        <p15:presenceInfo xmlns:p15="http://schemas.microsoft.com/office/powerpoint/2012/main" userId="S-1-5-21-776561741-1482476501-682003330-717514" providerId="AD"/>
      </p:ext>
    </p:extLst>
  </p:cmAuthor>
  <p:cmAuthor id="3" name="Khiroria, Adit (IN - Kolkata)" initials="KA(-K" lastIdx="23" clrIdx="2">
    <p:extLst>
      <p:ext uri="{19B8F6BF-5375-455C-9EA6-DF929625EA0E}">
        <p15:presenceInfo xmlns:p15="http://schemas.microsoft.com/office/powerpoint/2012/main" userId="S-1-5-21-776561741-1482476501-682003330-970961" providerId="AD"/>
      </p:ext>
    </p:extLst>
  </p:cmAuthor>
  <p:cmAuthor id="4" name="Mani, Siddharth (IN - Kolkata)" initials="MS(-K" lastIdx="24" clrIdx="3">
    <p:extLst>
      <p:ext uri="{19B8F6BF-5375-455C-9EA6-DF929625EA0E}">
        <p15:presenceInfo xmlns:p15="http://schemas.microsoft.com/office/powerpoint/2012/main" userId="S-1-5-21-776561741-1482476501-682003330-605679" providerId="AD"/>
      </p:ext>
    </p:extLst>
  </p:cmAuthor>
  <p:cmAuthor id="5" name="Rungta, Ayush (IN - Mumbai)" initials="RA(-M" lastIdx="10" clrIdx="4">
    <p:extLst>
      <p:ext uri="{19B8F6BF-5375-455C-9EA6-DF929625EA0E}">
        <p15:presenceInfo xmlns:p15="http://schemas.microsoft.com/office/powerpoint/2012/main" userId="Rungta, Ayush (IN - Mumba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DCFF"/>
    <a:srgbClr val="00B0F0"/>
    <a:srgbClr val="7DB022"/>
    <a:srgbClr val="68931B"/>
    <a:srgbClr val="47CFFF"/>
    <a:srgbClr val="82CE98"/>
    <a:srgbClr val="25B7AB"/>
    <a:srgbClr val="28CBE4"/>
    <a:srgbClr val="15CFCB"/>
    <a:srgbClr val="046A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81149" autoAdjust="0"/>
  </p:normalViewPr>
  <p:slideViewPr>
    <p:cSldViewPr snapToGrid="0" showGuides="1">
      <p:cViewPr varScale="1">
        <p:scale>
          <a:sx n="44" d="100"/>
          <a:sy n="44" d="100"/>
        </p:scale>
        <p:origin x="54" y="534"/>
      </p:cViewPr>
      <p:guideLst>
        <p:guide/>
        <p:guide orient="horz" pos="2382"/>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57" d="100"/>
          <a:sy n="57" d="100"/>
        </p:scale>
        <p:origin x="1992" y="90"/>
      </p:cViewPr>
      <p:guideLst>
        <p:guide orient="horz" pos="3110"/>
        <p:guide pos="2142"/>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91" Type="http://schemas.openxmlformats.org/officeDocument/2006/relationships/slide" Target="slides/slide185.xml"/><Relationship Id="rId205" Type="http://schemas.openxmlformats.org/officeDocument/2006/relationships/slide" Target="slides/slide199.xml"/><Relationship Id="rId226" Type="http://schemas.openxmlformats.org/officeDocument/2006/relationships/presProps" Target="presProps.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1.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16" Type="http://schemas.openxmlformats.org/officeDocument/2006/relationships/slide" Target="slides/slide210.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slide" Target="slides/slide186.xml"/><Relationship Id="rId206" Type="http://schemas.openxmlformats.org/officeDocument/2006/relationships/slide" Target="slides/slide200.xml"/><Relationship Id="rId227" Type="http://schemas.openxmlformats.org/officeDocument/2006/relationships/viewProps" Target="viewProps.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217" Type="http://schemas.openxmlformats.org/officeDocument/2006/relationships/slide" Target="slides/slide211.xml"/><Relationship Id="rId6" Type="http://schemas.openxmlformats.org/officeDocument/2006/relationships/slideMaster" Target="slideMasters/slideMaster2.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172" Type="http://schemas.openxmlformats.org/officeDocument/2006/relationships/slide" Target="slides/slide166.xml"/><Relationship Id="rId193" Type="http://schemas.openxmlformats.org/officeDocument/2006/relationships/slide" Target="slides/slide187.xml"/><Relationship Id="rId207" Type="http://schemas.openxmlformats.org/officeDocument/2006/relationships/slide" Target="slides/slide201.xml"/><Relationship Id="rId228" Type="http://schemas.openxmlformats.org/officeDocument/2006/relationships/theme" Target="theme/theme1.xml"/><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7" Type="http://schemas.openxmlformats.org/officeDocument/2006/relationships/slide" Target="slides/slide1.xml"/><Relationship Id="rId162" Type="http://schemas.openxmlformats.org/officeDocument/2006/relationships/slide" Target="slides/slide156.xml"/><Relationship Id="rId183" Type="http://schemas.openxmlformats.org/officeDocument/2006/relationships/slide" Target="slides/slide177.xml"/><Relationship Id="rId218" Type="http://schemas.openxmlformats.org/officeDocument/2006/relationships/slide" Target="slides/slide212.xml"/><Relationship Id="rId24" Type="http://schemas.openxmlformats.org/officeDocument/2006/relationships/slide" Target="slides/slide18.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31" Type="http://schemas.openxmlformats.org/officeDocument/2006/relationships/slide" Target="slides/slide125.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slide" Target="slides/slide188.xml"/><Relationship Id="rId208" Type="http://schemas.openxmlformats.org/officeDocument/2006/relationships/slide" Target="slides/slide202.xml"/><Relationship Id="rId229" Type="http://schemas.openxmlformats.org/officeDocument/2006/relationships/tableStyles" Target="tableStyles.xml"/><Relationship Id="rId14" Type="http://schemas.openxmlformats.org/officeDocument/2006/relationships/slide" Target="slides/slide8.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8" Type="http://schemas.openxmlformats.org/officeDocument/2006/relationships/slide" Target="slides/slide2.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219" Type="http://schemas.openxmlformats.org/officeDocument/2006/relationships/slide" Target="slides/slide21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79" Type="http://schemas.openxmlformats.org/officeDocument/2006/relationships/slide" Target="slides/slide173.xml"/><Relationship Id="rId195" Type="http://schemas.openxmlformats.org/officeDocument/2006/relationships/slide" Target="slides/slide189.xml"/><Relationship Id="rId209" Type="http://schemas.openxmlformats.org/officeDocument/2006/relationships/slide" Target="slides/slide203.xml"/><Relationship Id="rId190" Type="http://schemas.openxmlformats.org/officeDocument/2006/relationships/slide" Target="slides/slide184.xml"/><Relationship Id="rId204" Type="http://schemas.openxmlformats.org/officeDocument/2006/relationships/slide" Target="slides/slide198.xml"/><Relationship Id="rId220" Type="http://schemas.openxmlformats.org/officeDocument/2006/relationships/slide" Target="slides/slide214.xml"/><Relationship Id="rId225" Type="http://schemas.openxmlformats.org/officeDocument/2006/relationships/commentAuthors" Target="commentAuthors.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slide" Target="slides/slide158.xml"/><Relationship Id="rId169" Type="http://schemas.openxmlformats.org/officeDocument/2006/relationships/slide" Target="slides/slide163.xml"/><Relationship Id="rId185" Type="http://schemas.openxmlformats.org/officeDocument/2006/relationships/slide" Target="slides/slide179.xml"/><Relationship Id="rId4" Type="http://schemas.openxmlformats.org/officeDocument/2006/relationships/customXml" Target="../customXml/item4.xml"/><Relationship Id="rId9" Type="http://schemas.openxmlformats.org/officeDocument/2006/relationships/slide" Target="slides/slide3.xml"/><Relationship Id="rId180" Type="http://schemas.openxmlformats.org/officeDocument/2006/relationships/slide" Target="slides/slide174.xml"/><Relationship Id="rId210" Type="http://schemas.openxmlformats.org/officeDocument/2006/relationships/slide" Target="slides/slide204.xml"/><Relationship Id="rId215" Type="http://schemas.openxmlformats.org/officeDocument/2006/relationships/slide" Target="slides/slide209.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196" Type="http://schemas.openxmlformats.org/officeDocument/2006/relationships/slide" Target="slides/slide190.xml"/><Relationship Id="rId200" Type="http://schemas.openxmlformats.org/officeDocument/2006/relationships/slide" Target="slides/slide194.xml"/><Relationship Id="rId16" Type="http://schemas.openxmlformats.org/officeDocument/2006/relationships/slide" Target="slides/slide10.xml"/><Relationship Id="rId221" Type="http://schemas.openxmlformats.org/officeDocument/2006/relationships/slide" Target="slides/slide215.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211" Type="http://schemas.openxmlformats.org/officeDocument/2006/relationships/slide" Target="slides/slide205.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201" Type="http://schemas.openxmlformats.org/officeDocument/2006/relationships/slide" Target="slides/slide195.xml"/><Relationship Id="rId222" Type="http://schemas.openxmlformats.org/officeDocument/2006/relationships/notesMaster" Target="notesMasters/notesMaster1.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1" Type="http://schemas.openxmlformats.org/officeDocument/2006/relationships/customXml" Target="../customXml/item1.xml"/><Relationship Id="rId212" Type="http://schemas.openxmlformats.org/officeDocument/2006/relationships/slide" Target="slides/slide206.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202" Type="http://schemas.openxmlformats.org/officeDocument/2006/relationships/slide" Target="slides/slide196.xml"/><Relationship Id="rId223" Type="http://schemas.openxmlformats.org/officeDocument/2006/relationships/handoutMaster" Target="handoutMasters/handoutMaster1.xml"/><Relationship Id="rId18" Type="http://schemas.openxmlformats.org/officeDocument/2006/relationships/slide" Target="slides/slide12.xml"/><Relationship Id="rId39" Type="http://schemas.openxmlformats.org/officeDocument/2006/relationships/slide" Target="slides/slide33.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71" Type="http://schemas.openxmlformats.org/officeDocument/2006/relationships/slide" Target="slides/slide65.xml"/><Relationship Id="rId92" Type="http://schemas.openxmlformats.org/officeDocument/2006/relationships/slide" Target="slides/slide86.xml"/><Relationship Id="rId213" Type="http://schemas.openxmlformats.org/officeDocument/2006/relationships/slide" Target="slides/slide207.xml"/><Relationship Id="rId2" Type="http://schemas.openxmlformats.org/officeDocument/2006/relationships/customXml" Target="../customXml/item2.xml"/><Relationship Id="rId29" Type="http://schemas.openxmlformats.org/officeDocument/2006/relationships/slide" Target="slides/slide23.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61" Type="http://schemas.openxmlformats.org/officeDocument/2006/relationships/slide" Target="slides/slide55.xml"/><Relationship Id="rId82" Type="http://schemas.openxmlformats.org/officeDocument/2006/relationships/slide" Target="slides/slide76.xml"/><Relationship Id="rId199" Type="http://schemas.openxmlformats.org/officeDocument/2006/relationships/slide" Target="slides/slide193.xml"/><Relationship Id="rId203" Type="http://schemas.openxmlformats.org/officeDocument/2006/relationships/slide" Target="slides/slide197.xml"/><Relationship Id="rId19" Type="http://schemas.openxmlformats.org/officeDocument/2006/relationships/slide" Target="slides/slide13.xml"/><Relationship Id="rId224" Type="http://schemas.openxmlformats.org/officeDocument/2006/relationships/tags" Target="tags/tag1.xml"/><Relationship Id="rId30" Type="http://schemas.openxmlformats.org/officeDocument/2006/relationships/slide" Target="slides/slide2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189" Type="http://schemas.openxmlformats.org/officeDocument/2006/relationships/slide" Target="slides/slide183.xml"/><Relationship Id="rId214" Type="http://schemas.openxmlformats.org/officeDocument/2006/relationships/slide" Target="slides/slide20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2.xml"/><Relationship Id="rId1" Type="http://schemas.microsoft.com/office/2011/relationships/chartStyle" Target="style12.xml"/><Relationship Id="rId5" Type="http://schemas.openxmlformats.org/officeDocument/2006/relationships/chartUserShapes" Target="../drawings/drawing2.xml"/><Relationship Id="rId4" Type="http://schemas.openxmlformats.org/officeDocument/2006/relationships/oleObject" Target="NULL" TargetMode="Externa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3.xml"/><Relationship Id="rId1" Type="http://schemas.microsoft.com/office/2011/relationships/chartStyle" Target="style13.xml"/><Relationship Id="rId5" Type="http://schemas.openxmlformats.org/officeDocument/2006/relationships/chartUserShapes" Target="../drawings/drawing3.xml"/><Relationship Id="rId4"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noFill/>
              <a:round/>
            </a:ln>
            <a:effectLst/>
          </c:spPr>
          <c:invertIfNegative val="0"/>
          <c:dPt>
            <c:idx val="1"/>
            <c:invertIfNegative val="0"/>
            <c:bubble3D val="0"/>
            <c:spPr>
              <a:noFill/>
              <a:ln w="9525" cap="flat" cmpd="sng" algn="ctr">
                <a:noFill/>
                <a:round/>
              </a:ln>
              <a:effectLst/>
            </c:spPr>
          </c:dPt>
          <c:dPt>
            <c:idx val="2"/>
            <c:invertIfNegative val="0"/>
            <c:bubble3D val="0"/>
            <c:spPr>
              <a:noFill/>
              <a:ln w="9525" cap="flat" cmpd="sng" algn="ctr">
                <a:noFill/>
                <a:round/>
              </a:ln>
              <a:effectLst/>
            </c:spPr>
          </c:dPt>
          <c:dPt>
            <c:idx val="3"/>
            <c:invertIfNegative val="0"/>
            <c:bubble3D val="0"/>
            <c:spPr>
              <a:noFill/>
              <a:ln w="9525" cap="flat" cmpd="sng" algn="ctr">
                <a:noFill/>
                <a:round/>
              </a:ln>
              <a:effectLst/>
            </c:spPr>
          </c:dPt>
          <c:dPt>
            <c:idx val="4"/>
            <c:invertIfNegative val="0"/>
            <c:bubble3D val="0"/>
            <c:spPr>
              <a:solidFill>
                <a:srgbClr val="00B0F0"/>
              </a:solidFill>
              <a:ln w="9525" cap="flat" cmpd="sng" algn="ctr">
                <a:noFill/>
                <a:round/>
              </a:ln>
              <a:effectLst/>
            </c:spPr>
          </c:dPt>
          <c:dPt>
            <c:idx val="5"/>
            <c:invertIfNegative val="0"/>
            <c:bubble3D val="0"/>
          </c:dPt>
          <c:dLbls>
            <c:dLbl>
              <c:idx val="4"/>
              <c:layout>
                <c:manualLayout>
                  <c:x val="-1.610287355955098E-16"/>
                  <c:y val="-0.36507936507936506"/>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Budgetary support from Government to BPDB</c:v>
                </c:pt>
                <c:pt idx="1">
                  <c:v>Gap between BPDB's bulk supply billing &amp; collection</c:v>
                </c:pt>
                <c:pt idx="2">
                  <c:v>Gap between costs of generation of liquid fuel power plants of BPDB and IPP/RPP/QRPP</c:v>
                </c:pt>
                <c:pt idx="3">
                  <c:v>Gap between BPDB's retail sales billing &amp; collection</c:v>
                </c:pt>
                <c:pt idx="4">
                  <c:v>Total</c:v>
                </c:pt>
              </c:strCache>
            </c:strRef>
          </c:cat>
          <c:val>
            <c:numRef>
              <c:f>Sheet1!$B$2:$B$6</c:f>
              <c:numCache>
                <c:formatCode>0.0</c:formatCode>
                <c:ptCount val="5"/>
                <c:pt idx="0">
                  <c:v>0</c:v>
                </c:pt>
                <c:pt idx="1">
                  <c:v>37.895497822000003</c:v>
                </c:pt>
                <c:pt idx="2">
                  <c:v>61.257497822000005</c:v>
                </c:pt>
                <c:pt idx="3">
                  <c:v>68.854128991450011</c:v>
                </c:pt>
                <c:pt idx="4">
                  <c:v>71.70212899145001</c:v>
                </c:pt>
              </c:numCache>
            </c:numRef>
          </c:val>
        </c:ser>
        <c:ser>
          <c:idx val="1"/>
          <c:order val="1"/>
          <c:tx>
            <c:strRef>
              <c:f>Sheet1!$C$1</c:f>
              <c:strCache>
                <c:ptCount val="1"/>
                <c:pt idx="0">
                  <c:v>Series 2</c:v>
                </c:pt>
              </c:strCache>
            </c:strRef>
          </c:tx>
          <c:spPr>
            <a:solidFill>
              <a:schemeClr val="accent4"/>
            </a:solidFill>
            <a:ln w="9525" cap="flat" cmpd="sng" algn="ctr">
              <a:noFill/>
              <a:round/>
            </a:ln>
            <a:effectLst/>
          </c:spPr>
          <c:invertIfNegative val="0"/>
          <c:dLbls>
            <c:dLbl>
              <c:idx val="0"/>
              <c:layout>
                <c:manualLayout>
                  <c:x val="-2.0128591949438725E-17"/>
                  <c:y val="-0.20634920634920634"/>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4.0257183898877449E-17"/>
                  <c:y val="-0.13492063492063491"/>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8.0514367797754899E-17"/>
                  <c:y val="-6.3492063492063475E-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2.5958629711388143E-3"/>
                  <c:y val="-3.9704004207046811E-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4"/>
              <c:delete val="1"/>
              <c:extLst>
                <c:ext xmlns:c15="http://schemas.microsoft.com/office/drawing/2012/chart" uri="{CE6537A1-D6FC-4f65-9D91-7224C49458BB}"/>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Budgetary support from Government to BPDB</c:v>
                </c:pt>
                <c:pt idx="1">
                  <c:v>Gap between BPDB's bulk supply billing &amp; collection</c:v>
                </c:pt>
                <c:pt idx="2">
                  <c:v>Gap between costs of generation of liquid fuel power plants of BPDB and IPP/RPP/QRPP</c:v>
                </c:pt>
                <c:pt idx="3">
                  <c:v>Gap between BPDB's retail sales billing &amp; collection</c:v>
                </c:pt>
                <c:pt idx="4">
                  <c:v>Total</c:v>
                </c:pt>
              </c:strCache>
            </c:strRef>
          </c:cat>
          <c:val>
            <c:numRef>
              <c:f>Sheet1!$C$2:$C$6</c:f>
              <c:numCache>
                <c:formatCode>0.0</c:formatCode>
                <c:ptCount val="5"/>
                <c:pt idx="0">
                  <c:v>37.895497822000003</c:v>
                </c:pt>
                <c:pt idx="1">
                  <c:v>23.361999999999998</c:v>
                </c:pt>
                <c:pt idx="2">
                  <c:v>7.5966311694500019</c:v>
                </c:pt>
                <c:pt idx="3">
                  <c:v>2.8479999999999999</c:v>
                </c:pt>
                <c:pt idx="4" formatCode="General">
                  <c:v>0</c:v>
                </c:pt>
              </c:numCache>
            </c:numRef>
          </c:val>
        </c:ser>
        <c:dLbls>
          <c:showLegendKey val="0"/>
          <c:showVal val="0"/>
          <c:showCatName val="0"/>
          <c:showSerName val="0"/>
          <c:showPercent val="0"/>
          <c:showBubbleSize val="0"/>
        </c:dLbls>
        <c:gapWidth val="150"/>
        <c:overlap val="100"/>
        <c:axId val="694690568"/>
        <c:axId val="694682336"/>
      </c:barChart>
      <c:catAx>
        <c:axId val="694690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crossAx val="694682336"/>
        <c:crosses val="autoZero"/>
        <c:auto val="1"/>
        <c:lblAlgn val="ctr"/>
        <c:lblOffset val="100"/>
        <c:noMultiLvlLbl val="0"/>
      </c:catAx>
      <c:valAx>
        <c:axId val="69468233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crossAx val="694690568"/>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1400">
          <a:solidFill>
            <a:schemeClr val="tx1">
              <a:lumMod val="95000"/>
              <a:lumOff val="5000"/>
            </a:schemeClr>
          </a:solidFill>
          <a:latin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Required BST without value enablers (Tk/KWh)</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Sheet1!$B$2:$B$5</c:f>
              <c:numCache>
                <c:formatCode>0.00</c:formatCode>
                <c:ptCount val="4"/>
                <c:pt idx="0">
                  <c:v>5.64</c:v>
                </c:pt>
                <c:pt idx="1">
                  <c:v>5.74</c:v>
                </c:pt>
                <c:pt idx="2">
                  <c:v>5.81</c:v>
                </c:pt>
                <c:pt idx="3">
                  <c:v>6.03</c:v>
                </c:pt>
              </c:numCache>
            </c:numRef>
          </c:val>
        </c:ser>
        <c:ser>
          <c:idx val="1"/>
          <c:order val="1"/>
          <c:tx>
            <c:strRef>
              <c:f>Sheet1!$C$1</c:f>
              <c:strCache>
                <c:ptCount val="1"/>
                <c:pt idx="0">
                  <c:v>Required BST with value enablers (Tk/KWh)</c:v>
                </c:pt>
              </c:strCache>
            </c:strRef>
          </c:tx>
          <c:spPr>
            <a:solidFill>
              <a:srgbClr val="00B0F0"/>
            </a:solidFill>
            <a:ln>
              <a:noFill/>
              <a:prstDash val="sysDash"/>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Sheet1!$C$2:$C$5</c:f>
              <c:numCache>
                <c:formatCode>0.00</c:formatCode>
                <c:ptCount val="4"/>
                <c:pt idx="0">
                  <c:v>5.16</c:v>
                </c:pt>
                <c:pt idx="1">
                  <c:v>5.27</c:v>
                </c:pt>
                <c:pt idx="2">
                  <c:v>5.31</c:v>
                </c:pt>
                <c:pt idx="3">
                  <c:v>5.57</c:v>
                </c:pt>
              </c:numCache>
            </c:numRef>
          </c:val>
        </c:ser>
        <c:dLbls>
          <c:showLegendKey val="0"/>
          <c:showVal val="0"/>
          <c:showCatName val="0"/>
          <c:showSerName val="0"/>
          <c:showPercent val="0"/>
          <c:showBubbleSize val="0"/>
        </c:dLbls>
        <c:gapWidth val="150"/>
        <c:axId val="694678416"/>
        <c:axId val="694681552"/>
      </c:barChart>
      <c:lineChart>
        <c:grouping val="standard"/>
        <c:varyColors val="0"/>
        <c:ser>
          <c:idx val="2"/>
          <c:order val="2"/>
          <c:tx>
            <c:strRef>
              <c:f>Sheet1!$D$1</c:f>
              <c:strCache>
                <c:ptCount val="1"/>
                <c:pt idx="0">
                  <c:v>Avg. BST as on 30 June 2017 (Tk/KWh)</c:v>
                </c:pt>
              </c:strCache>
            </c:strRef>
          </c:tx>
          <c:spPr>
            <a:ln w="28575" cap="rnd">
              <a:solidFill>
                <a:srgbClr val="FF0000"/>
              </a:solidFill>
              <a:prstDash val="sysDash"/>
              <a:round/>
            </a:ln>
            <a:effectLst/>
          </c:spPr>
          <c:marker>
            <c:symbol val="none"/>
          </c:marker>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Sheet1!$D$2:$D$5</c:f>
              <c:numCache>
                <c:formatCode>General</c:formatCode>
                <c:ptCount val="4"/>
                <c:pt idx="0">
                  <c:v>4.9000000000000004</c:v>
                </c:pt>
                <c:pt idx="1">
                  <c:v>4.9000000000000004</c:v>
                </c:pt>
                <c:pt idx="2">
                  <c:v>4.9000000000000004</c:v>
                </c:pt>
                <c:pt idx="3">
                  <c:v>4.9000000000000004</c:v>
                </c:pt>
              </c:numCache>
            </c:numRef>
          </c:val>
          <c:smooth val="0"/>
        </c:ser>
        <c:dLbls>
          <c:showLegendKey val="0"/>
          <c:showVal val="0"/>
          <c:showCatName val="0"/>
          <c:showSerName val="0"/>
          <c:showPercent val="0"/>
          <c:showBubbleSize val="0"/>
        </c:dLbls>
        <c:marker val="1"/>
        <c:smooth val="0"/>
        <c:axId val="694678416"/>
        <c:axId val="694681552"/>
      </c:lineChart>
      <c:catAx>
        <c:axId val="694678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94681552"/>
        <c:crosses val="autoZero"/>
        <c:auto val="1"/>
        <c:lblAlgn val="ctr"/>
        <c:lblOffset val="100"/>
        <c:noMultiLvlLbl val="0"/>
      </c:catAx>
      <c:valAx>
        <c:axId val="694681552"/>
        <c:scaling>
          <c:orientation val="minMax"/>
          <c:max val="6.2"/>
          <c:min val="4.7"/>
        </c:scaling>
        <c:delete val="1"/>
        <c:axPos val="l"/>
        <c:numFmt formatCode="0.00" sourceLinked="1"/>
        <c:majorTickMark val="none"/>
        <c:minorTickMark val="none"/>
        <c:tickLblPos val="nextTo"/>
        <c:crossAx val="694678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Option-II without value enablers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Sheet1!$B$2:$B$5</c:f>
              <c:numCache>
                <c:formatCode>0</c:formatCode>
                <c:ptCount val="4"/>
                <c:pt idx="0">
                  <c:v>32430</c:v>
                </c:pt>
                <c:pt idx="1">
                  <c:v>28812</c:v>
                </c:pt>
                <c:pt idx="2">
                  <c:v>22607</c:v>
                </c:pt>
                <c:pt idx="3">
                  <c:v>26305</c:v>
                </c:pt>
              </c:numCache>
            </c:numRef>
          </c:val>
        </c:ser>
        <c:ser>
          <c:idx val="1"/>
          <c:order val="1"/>
          <c:tx>
            <c:strRef>
              <c:f>Sheet1!$C$1</c:f>
              <c:strCache>
                <c:ptCount val="1"/>
                <c:pt idx="0">
                  <c:v>Option-II with value enablers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Sheet1!$C$2:$C$5</c:f>
              <c:numCache>
                <c:formatCode>0</c:formatCode>
                <c:ptCount val="4"/>
                <c:pt idx="0">
                  <c:v>16796.689866673583</c:v>
                </c:pt>
                <c:pt idx="1">
                  <c:v>15019.164368336518</c:v>
                </c:pt>
                <c:pt idx="2">
                  <c:v>13545.34687864743</c:v>
                </c:pt>
                <c:pt idx="3">
                  <c:v>12190.812190782688</c:v>
                </c:pt>
              </c:numCache>
            </c:numRef>
          </c:val>
        </c:ser>
        <c:dLbls>
          <c:dLblPos val="outEnd"/>
          <c:showLegendKey val="0"/>
          <c:showVal val="1"/>
          <c:showCatName val="0"/>
          <c:showSerName val="0"/>
          <c:showPercent val="0"/>
          <c:showBubbleSize val="0"/>
        </c:dLbls>
        <c:gapWidth val="150"/>
        <c:axId val="694686256"/>
        <c:axId val="694684688"/>
      </c:barChart>
      <c:catAx>
        <c:axId val="694686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94684688"/>
        <c:crosses val="autoZero"/>
        <c:auto val="1"/>
        <c:lblAlgn val="ctr"/>
        <c:lblOffset val="100"/>
        <c:noMultiLvlLbl val="0"/>
      </c:catAx>
      <c:valAx>
        <c:axId val="694684688"/>
        <c:scaling>
          <c:orientation val="minMax"/>
          <c:max val="35000"/>
          <c:min val="5000"/>
        </c:scaling>
        <c:delete val="1"/>
        <c:axPos val="l"/>
        <c:numFmt formatCode="0" sourceLinked="1"/>
        <c:majorTickMark val="out"/>
        <c:minorTickMark val="none"/>
        <c:tickLblPos val="nextTo"/>
        <c:crossAx val="694686256"/>
        <c:crosses val="autoZero"/>
        <c:crossBetween val="between"/>
        <c:majorUnit val="7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385544295752269"/>
          <c:y val="0.17357502187226592"/>
          <c:w val="0.7083728211103657"/>
          <c:h val="0.82274551618547687"/>
        </c:manualLayout>
      </c:layout>
      <c:pieChart>
        <c:varyColors val="1"/>
        <c:ser>
          <c:idx val="0"/>
          <c:order val="0"/>
          <c:tx>
            <c:strRef>
              <c:f>Sheet1!$B$1</c:f>
              <c:strCache>
                <c:ptCount val="1"/>
                <c:pt idx="0">
                  <c:v>Number of Employees</c:v>
                </c:pt>
              </c:strCache>
            </c:strRef>
          </c:tx>
          <c:dPt>
            <c:idx val="0"/>
            <c:bubble3D val="0"/>
            <c:spPr>
              <a:solidFill>
                <a:schemeClr val="accent1">
                  <a:shade val="58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482B-474B-B7FB-2C6E934EC1A9}"/>
              </c:ext>
            </c:extLst>
          </c:dPt>
          <c:dPt>
            <c:idx val="1"/>
            <c:bubble3D val="0"/>
            <c:spPr>
              <a:solidFill>
                <a:schemeClr val="accent1">
                  <a:shade val="86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3-482B-474B-B7FB-2C6E934EC1A9}"/>
              </c:ext>
            </c:extLst>
          </c:dPt>
          <c:dPt>
            <c:idx val="2"/>
            <c:bubble3D val="0"/>
            <c:spPr>
              <a:solidFill>
                <a:srgbClr val="00B0F0"/>
              </a:solidFill>
              <a:ln w="19050">
                <a:solidFill>
                  <a:schemeClr val="lt1"/>
                </a:solidFill>
              </a:ln>
              <a:effectLst/>
            </c:spPr>
            <c:extLst xmlns:c16r2="http://schemas.microsoft.com/office/drawing/2015/06/chart">
              <c:ext xmlns:c16="http://schemas.microsoft.com/office/drawing/2014/chart" uri="{C3380CC4-5D6E-409C-BE32-E72D297353CC}">
                <c16:uniqueId val="{00000005-482B-474B-B7FB-2C6E934EC1A9}"/>
              </c:ext>
            </c:extLst>
          </c:dPt>
          <c:dPt>
            <c:idx val="3"/>
            <c:bubble3D val="0"/>
            <c:spPr>
              <a:solidFill>
                <a:srgbClr val="A0DCFF"/>
              </a:solidFill>
              <a:ln w="19050">
                <a:solidFill>
                  <a:schemeClr val="lt1"/>
                </a:solidFill>
              </a:ln>
              <a:effectLst/>
            </c:spPr>
            <c:extLst xmlns:c16r2="http://schemas.microsoft.com/office/drawing/2015/06/chart">
              <c:ext xmlns:c16="http://schemas.microsoft.com/office/drawing/2014/chart" uri="{C3380CC4-5D6E-409C-BE32-E72D297353CC}">
                <c16:uniqueId val="{00000007-482B-474B-B7FB-2C6E934EC1A9}"/>
              </c:ext>
            </c:extLst>
          </c:dPt>
          <c:dLbls>
            <c:dLbl>
              <c:idx val="0"/>
              <c:layout>
                <c:manualLayout>
                  <c:x val="-0.11294281039982115"/>
                  <c:y val="1.736111111111111E-3"/>
                </c:manualLayout>
              </c:layout>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482B-474B-B7FB-2C6E934EC1A9}"/>
                </c:ext>
                <c:ext xmlns:c15="http://schemas.microsoft.com/office/drawing/2012/chart" uri="{CE6537A1-D6FC-4f65-9D91-7224C49458BB}">
                  <c15:layout>
                    <c:manualLayout>
                      <c:w val="0.30218236173393126"/>
                      <c:h val="0.24875"/>
                    </c:manualLayout>
                  </c15:layout>
                </c:ext>
              </c:extLst>
            </c:dLbl>
            <c:dLbl>
              <c:idx val="1"/>
              <c:layout>
                <c:manualLayout>
                  <c:x val="-3.6505773101232292E-2"/>
                  <c:y val="0.10308508311461068"/>
                </c:manualLayout>
              </c:layout>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3-482B-474B-B7FB-2C6E934EC1A9}"/>
                </c:ext>
                <c:ext xmlns:c15="http://schemas.microsoft.com/office/drawing/2012/chart" uri="{CE6537A1-D6FC-4f65-9D91-7224C49458BB}">
                  <c15:layout>
                    <c:manualLayout>
                      <c:w val="0.29022421524663677"/>
                      <c:h val="0.24875"/>
                    </c:manualLayout>
                  </c15:layout>
                </c:ext>
              </c:extLst>
            </c:dLbl>
            <c:dLbl>
              <c:idx val="2"/>
              <c:layout>
                <c:manualLayout>
                  <c:x val="-0.17339312406576982"/>
                  <c:y val="-0.14583333333333334"/>
                </c:manualLayout>
              </c:layout>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5-482B-474B-B7FB-2C6E934EC1A9}"/>
                </c:ext>
                <c:ext xmlns:c15="http://schemas.microsoft.com/office/drawing/2012/chart" uri="{CE6537A1-D6FC-4f65-9D91-7224C49458BB}">
                  <c15:layout>
                    <c:manualLayout>
                      <c:w val="0.43946188340807174"/>
                      <c:h val="0.24479166666666666"/>
                    </c:manualLayout>
                  </c15:layout>
                </c:ext>
              </c:extLst>
            </c:dLbl>
            <c:dLbl>
              <c:idx val="3"/>
              <c:layout>
                <c:manualLayout>
                  <c:x val="0.10762331838565023"/>
                  <c:y val="0.20953630796150483"/>
                </c:manualLayout>
              </c:layout>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7-482B-474B-B7FB-2C6E934EC1A9}"/>
                </c:ext>
                <c:ext xmlns:c15="http://schemas.microsoft.com/office/drawing/2012/chart" uri="{CE6537A1-D6FC-4f65-9D91-7224C49458BB}">
                  <c15:layout>
                    <c:manualLayout>
                      <c:w val="0.33931240657698059"/>
                      <c:h val="0.24479166666666666"/>
                    </c:manualLayout>
                  </c15:layout>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Sheet1!$A$2:$A$5</c:f>
              <c:strCache>
                <c:ptCount val="4"/>
                <c:pt idx="0">
                  <c:v>Class - I</c:v>
                </c:pt>
                <c:pt idx="1">
                  <c:v>Class - II</c:v>
                </c:pt>
                <c:pt idx="2">
                  <c:v>Class - III</c:v>
                </c:pt>
                <c:pt idx="3">
                  <c:v>Class - IV</c:v>
                </c:pt>
              </c:strCache>
            </c:strRef>
          </c:cat>
          <c:val>
            <c:numRef>
              <c:f>Sheet1!$B$2:$B$5</c:f>
              <c:numCache>
                <c:formatCode>General</c:formatCode>
                <c:ptCount val="4"/>
                <c:pt idx="0">
                  <c:v>1800</c:v>
                </c:pt>
                <c:pt idx="1">
                  <c:v>1280</c:v>
                </c:pt>
                <c:pt idx="2">
                  <c:v>11792</c:v>
                </c:pt>
                <c:pt idx="3">
                  <c:v>7189</c:v>
                </c:pt>
              </c:numCache>
            </c:numRef>
          </c:val>
          <c:extLst xmlns:c16r2="http://schemas.microsoft.com/office/drawing/2015/06/chart">
            <c:ext xmlns:c16="http://schemas.microsoft.com/office/drawing/2014/chart" uri="{C3380CC4-5D6E-409C-BE32-E72D297353CC}">
              <c16:uniqueId val="{00000008-482B-474B-B7FB-2C6E934EC1A9}"/>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924120007021962E-2"/>
          <c:y val="0.18206157965194109"/>
          <c:w val="0.90214983322843212"/>
          <c:h val="0.52880487267335863"/>
        </c:manualLayout>
      </c:layout>
      <c:barChart>
        <c:barDir val="col"/>
        <c:grouping val="percentStacked"/>
        <c:varyColors val="0"/>
        <c:ser>
          <c:idx val="0"/>
          <c:order val="0"/>
          <c:tx>
            <c:strRef>
              <c:f>Sheet1!$B$1</c:f>
              <c:strCache>
                <c:ptCount val="1"/>
                <c:pt idx="0">
                  <c:v>Class IV</c:v>
                </c:pt>
              </c:strCache>
            </c:strRef>
          </c:tx>
          <c:spPr>
            <a:solidFill>
              <a:srgbClr val="A0DCFF"/>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Sheet1!$B$2:$B$7</c:f>
              <c:numCache>
                <c:formatCode>0%</c:formatCode>
                <c:ptCount val="6"/>
                <c:pt idx="0">
                  <c:v>0.35532994923857869</c:v>
                </c:pt>
                <c:pt idx="1">
                  <c:v>8.2166199813258636E-2</c:v>
                </c:pt>
                <c:pt idx="2">
                  <c:v>0.35883280757097791</c:v>
                </c:pt>
                <c:pt idx="3">
                  <c:v>0.28550794415021669</c:v>
                </c:pt>
                <c:pt idx="4">
                  <c:v>0.37872941176470587</c:v>
                </c:pt>
                <c:pt idx="5">
                  <c:v>0.15094339622641509</c:v>
                </c:pt>
              </c:numCache>
            </c:numRef>
          </c:val>
          <c:extLst xmlns:c16r2="http://schemas.microsoft.com/office/drawing/2015/06/chart">
            <c:ext xmlns:c16="http://schemas.microsoft.com/office/drawing/2014/chart" uri="{C3380CC4-5D6E-409C-BE32-E72D297353CC}">
              <c16:uniqueId val="{00000000-693C-4B9C-B8B7-515F624A7FC9}"/>
            </c:ext>
          </c:extLst>
        </c:ser>
        <c:ser>
          <c:idx val="1"/>
          <c:order val="1"/>
          <c:tx>
            <c:strRef>
              <c:f>Sheet1!$C$1</c:f>
              <c:strCache>
                <c:ptCount val="1"/>
                <c:pt idx="0">
                  <c:v>Class III</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Sheet1!$C$2:$C$7</c:f>
              <c:numCache>
                <c:formatCode>0%</c:formatCode>
                <c:ptCount val="6"/>
                <c:pt idx="0">
                  <c:v>0.45516074450084604</c:v>
                </c:pt>
                <c:pt idx="1">
                  <c:v>0.64145658263305327</c:v>
                </c:pt>
                <c:pt idx="2">
                  <c:v>0.47634069400630913</c:v>
                </c:pt>
                <c:pt idx="3">
                  <c:v>0.55163697640828113</c:v>
                </c:pt>
                <c:pt idx="4">
                  <c:v>0.52159999999999995</c:v>
                </c:pt>
                <c:pt idx="5">
                  <c:v>0.32075471698113206</c:v>
                </c:pt>
              </c:numCache>
            </c:numRef>
          </c:val>
          <c:extLst xmlns:c16r2="http://schemas.microsoft.com/office/drawing/2015/06/chart">
            <c:ext xmlns:c16="http://schemas.microsoft.com/office/drawing/2014/chart" uri="{C3380CC4-5D6E-409C-BE32-E72D297353CC}">
              <c16:uniqueId val="{00000001-693C-4B9C-B8B7-515F624A7FC9}"/>
            </c:ext>
          </c:extLst>
        </c:ser>
        <c:ser>
          <c:idx val="2"/>
          <c:order val="2"/>
          <c:tx>
            <c:strRef>
              <c:f>Sheet1!$D$1</c:f>
              <c:strCache>
                <c:ptCount val="1"/>
                <c:pt idx="0">
                  <c:v>Class II</c:v>
                </c:pt>
              </c:strCache>
            </c:strRef>
          </c:tx>
          <c:spPr>
            <a:solidFill>
              <a:srgbClr val="7DB022"/>
            </a:solidFill>
            <a:ln>
              <a:noFill/>
            </a:ln>
            <a:effectLst/>
          </c:spPr>
          <c:invertIfNegative val="0"/>
          <c:dLbls>
            <c:dLbl>
              <c:idx val="4"/>
              <c:layout>
                <c:manualLayout>
                  <c:x val="-5.1788898662175438E-3"/>
                  <c:y val="2.385501560155583E-2"/>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Sheet1!$D$2:$D$7</c:f>
              <c:numCache>
                <c:formatCode>0%</c:formatCode>
                <c:ptCount val="6"/>
                <c:pt idx="0">
                  <c:v>3.553299492385787E-2</c:v>
                </c:pt>
                <c:pt idx="1">
                  <c:v>0.12138188608776844</c:v>
                </c:pt>
                <c:pt idx="2">
                  <c:v>3.0757097791798107E-2</c:v>
                </c:pt>
                <c:pt idx="3">
                  <c:v>6.259027443428021E-2</c:v>
                </c:pt>
                <c:pt idx="4">
                  <c:v>5.3364705882352939E-2</c:v>
                </c:pt>
                <c:pt idx="5">
                  <c:v>1.8867924528301886E-2</c:v>
                </c:pt>
              </c:numCache>
            </c:numRef>
          </c:val>
          <c:extLst xmlns:c16r2="http://schemas.microsoft.com/office/drawing/2015/06/chart">
            <c:ext xmlns:c16="http://schemas.microsoft.com/office/drawing/2014/chart" uri="{C3380CC4-5D6E-409C-BE32-E72D297353CC}">
              <c16:uniqueId val="{00000002-693C-4B9C-B8B7-515F624A7FC9}"/>
            </c:ext>
          </c:extLst>
        </c:ser>
        <c:ser>
          <c:idx val="3"/>
          <c:order val="3"/>
          <c:tx>
            <c:strRef>
              <c:f>Sheet1!$E$1</c:f>
              <c:strCache>
                <c:ptCount val="1"/>
                <c:pt idx="0">
                  <c:v>Class I</c:v>
                </c:pt>
              </c:strCache>
            </c:strRef>
          </c:tx>
          <c:spPr>
            <a:solidFill>
              <a:srgbClr val="68931B"/>
            </a:solidFill>
            <a:ln>
              <a:noFill/>
            </a:ln>
            <a:effectLst/>
          </c:spPr>
          <c:invertIfNegative val="0"/>
          <c:dLbls>
            <c:dLbl>
              <c:idx val="4"/>
              <c:layout>
                <c:manualLayout>
                  <c:x val="2.5894449331086296E-3"/>
                  <c:y val="-4.7710031203111744E-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93C-4B9C-B8B7-515F624A7FC9}"/>
                </c:ext>
                <c:ext xmlns:c15="http://schemas.microsoft.com/office/drawing/2012/chart" uri="{CE6537A1-D6FC-4f65-9D91-7224C49458BB}"/>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Sheet1!$E$2:$E$7</c:f>
              <c:numCache>
                <c:formatCode>0%</c:formatCode>
                <c:ptCount val="6"/>
                <c:pt idx="0">
                  <c:v>0.15397631133671744</c:v>
                </c:pt>
                <c:pt idx="1">
                  <c:v>0.15499533146591971</c:v>
                </c:pt>
                <c:pt idx="2">
                  <c:v>0.13406940063091483</c:v>
                </c:pt>
                <c:pt idx="3">
                  <c:v>0.10026480500722196</c:v>
                </c:pt>
                <c:pt idx="4">
                  <c:v>4.6305882352941176E-2</c:v>
                </c:pt>
                <c:pt idx="5">
                  <c:v>0.50943396226415094</c:v>
                </c:pt>
              </c:numCache>
            </c:numRef>
          </c:val>
          <c:extLst xmlns:c16r2="http://schemas.microsoft.com/office/drawing/2015/06/chart">
            <c:ext xmlns:c16="http://schemas.microsoft.com/office/drawing/2014/chart" uri="{C3380CC4-5D6E-409C-BE32-E72D297353CC}">
              <c16:uniqueId val="{00000004-693C-4B9C-B8B7-515F624A7FC9}"/>
            </c:ext>
          </c:extLst>
        </c:ser>
        <c:dLbls>
          <c:dLblPos val="ctr"/>
          <c:showLegendKey val="0"/>
          <c:showVal val="1"/>
          <c:showCatName val="0"/>
          <c:showSerName val="0"/>
          <c:showPercent val="0"/>
          <c:showBubbleSize val="0"/>
        </c:dLbls>
        <c:gapWidth val="150"/>
        <c:overlap val="100"/>
        <c:axId val="916102176"/>
        <c:axId val="916149608"/>
      </c:barChart>
      <c:catAx>
        <c:axId val="9161021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149608"/>
        <c:crosses val="autoZero"/>
        <c:auto val="1"/>
        <c:lblAlgn val="ctr"/>
        <c:lblOffset val="100"/>
        <c:noMultiLvlLbl val="0"/>
      </c:catAx>
      <c:valAx>
        <c:axId val="916149608"/>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102176"/>
        <c:crosses val="autoZero"/>
        <c:crossBetween val="between"/>
        <c:majorUnit val="0.2"/>
      </c:valAx>
      <c:spPr>
        <a:noFill/>
        <a:ln>
          <a:noFill/>
        </a:ln>
        <a:effectLst/>
      </c:spPr>
    </c:plotArea>
    <c:legend>
      <c:legendPos val="b"/>
      <c:layout>
        <c:manualLayout>
          <c:xMode val="edge"/>
          <c:yMode val="edge"/>
          <c:x val="0.2665455806604925"/>
          <c:y val="0.89399210594858847"/>
          <c:w val="0.46690866741167958"/>
          <c:h val="8.5651659954719392E-2"/>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solidFill>
      <a:schemeClr val="bg1"/>
    </a:solidFill>
    <a:ln w="9525" cap="flat" cmpd="sng" algn="ctr">
      <a:noFill/>
      <a:round/>
    </a:ln>
    <a:effectLst/>
  </c:spPr>
  <c:txPr>
    <a:bodyPr/>
    <a:lstStyle/>
    <a:p>
      <a:pPr>
        <a:defRPr sz="1200" b="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8331692913385811E-2"/>
          <c:y val="7.9279279279279274E-2"/>
          <c:w val="0.82436698016914556"/>
          <c:h val="0.58685677803788039"/>
        </c:manualLayout>
      </c:layout>
      <c:barChart>
        <c:barDir val="col"/>
        <c:grouping val="clustered"/>
        <c:varyColors val="0"/>
        <c:ser>
          <c:idx val="0"/>
          <c:order val="0"/>
          <c:tx>
            <c:strRef>
              <c:f>Sheet1!$B$1</c:f>
              <c:strCache>
                <c:ptCount val="1"/>
                <c:pt idx="0">
                  <c:v> Budgetary Support as Subsidy from Govt. (YoY)</c:v>
                </c:pt>
              </c:strCache>
            </c:strRef>
          </c:tx>
          <c:spPr>
            <a:solidFill>
              <a:schemeClr val="accent1"/>
            </a:solidFill>
            <a:ln>
              <a:noFill/>
            </a:ln>
            <a:effectLst/>
          </c:spPr>
          <c:invertIfNegative val="0"/>
          <c:dLbls>
            <c:dLbl>
              <c:idx val="0"/>
              <c:layout>
                <c:manualLayout>
                  <c:x val="-1.8518518518518517E-2"/>
                  <c:y val="7.2072072072072073E-3"/>
                </c:manualLayout>
              </c:layout>
              <c:dLblPos val="outEnd"/>
              <c:showLegendKey val="0"/>
              <c:showVal val="1"/>
              <c:showCatName val="0"/>
              <c:showSerName val="0"/>
              <c:showPercent val="0"/>
              <c:showBubbleSize val="0"/>
              <c:extLst>
                <c:ext xmlns:c15="http://schemas.microsoft.com/office/drawing/2012/chart" uri="{CE6537A1-D6FC-4f65-9D91-7224C49458BB}"/>
              </c:extLst>
            </c:dLbl>
            <c:numFmt formatCode="#,##0.00" sourceLinked="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FY12-13</c:v>
                </c:pt>
                <c:pt idx="1">
                  <c:v>FY13-14</c:v>
                </c:pt>
                <c:pt idx="2">
                  <c:v>FY14-15</c:v>
                </c:pt>
                <c:pt idx="3">
                  <c:v>FY15-16</c:v>
                </c:pt>
              </c:strCache>
            </c:strRef>
          </c:cat>
          <c:val>
            <c:numRef>
              <c:f>Sheet1!$B$2:$B$5</c:f>
              <c:numCache>
                <c:formatCode>_(* #,##0.00_);_(* \(#,##0.00\);_(* "-"??_);_(@_)</c:formatCode>
                <c:ptCount val="4"/>
                <c:pt idx="0">
                  <c:v>44062400000</c:v>
                </c:pt>
                <c:pt idx="1">
                  <c:v>59728846667</c:v>
                </c:pt>
                <c:pt idx="2">
                  <c:v>91852053333</c:v>
                </c:pt>
                <c:pt idx="3">
                  <c:v>27949000000</c:v>
                </c:pt>
              </c:numCache>
            </c:numRef>
          </c:val>
        </c:ser>
        <c:ser>
          <c:idx val="1"/>
          <c:order val="1"/>
          <c:tx>
            <c:strRef>
              <c:f>Sheet1!$C$1</c:f>
              <c:strCache>
                <c:ptCount val="1"/>
                <c:pt idx="0">
                  <c:v>Total Interest on Budgetary Support</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FY12-13</c:v>
                </c:pt>
                <c:pt idx="1">
                  <c:v>FY13-14</c:v>
                </c:pt>
                <c:pt idx="2">
                  <c:v>FY14-15</c:v>
                </c:pt>
                <c:pt idx="3">
                  <c:v>FY15-16</c:v>
                </c:pt>
              </c:strCache>
            </c:strRef>
          </c:cat>
          <c:val>
            <c:numRef>
              <c:f>Sheet1!$C$2:$C$5</c:f>
              <c:numCache>
                <c:formatCode>_(* #,##0.00_);_(* \(#,##0.00\);_(* "-"??_);_(@_)</c:formatCode>
                <c:ptCount val="4"/>
                <c:pt idx="0">
                  <c:v>4529192015</c:v>
                </c:pt>
                <c:pt idx="1">
                  <c:v>6177074342</c:v>
                </c:pt>
                <c:pt idx="2">
                  <c:v>7806621978</c:v>
                </c:pt>
                <c:pt idx="3">
                  <c:v>9946497822</c:v>
                </c:pt>
              </c:numCache>
            </c:numRef>
          </c:val>
        </c:ser>
        <c:dLbls>
          <c:dLblPos val="outEnd"/>
          <c:showLegendKey val="0"/>
          <c:showVal val="1"/>
          <c:showCatName val="0"/>
          <c:showSerName val="0"/>
          <c:showPercent val="0"/>
          <c:showBubbleSize val="0"/>
        </c:dLbls>
        <c:gapWidth val="219"/>
        <c:axId val="487119080"/>
        <c:axId val="487112024"/>
      </c:barChart>
      <c:catAx>
        <c:axId val="487119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12024"/>
        <c:crosses val="autoZero"/>
        <c:auto val="1"/>
        <c:lblAlgn val="ctr"/>
        <c:lblOffset val="100"/>
        <c:noMultiLvlLbl val="0"/>
      </c:catAx>
      <c:valAx>
        <c:axId val="487112024"/>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r>
                  <a:rPr lang="en-IN"/>
                  <a:t>Billion</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19080"/>
        <c:crosses val="autoZero"/>
        <c:crossBetween val="between"/>
        <c:dispUnits>
          <c:builtInUnit val="billions"/>
        </c:dispUnits>
      </c:valAx>
      <c:spPr>
        <a:noFill/>
        <a:ln>
          <a:noFill/>
        </a:ln>
        <a:effectLst/>
      </c:spPr>
    </c:plotArea>
    <c:legend>
      <c:legendPos val="b"/>
      <c:layout>
        <c:manualLayout>
          <c:xMode val="edge"/>
          <c:yMode val="edge"/>
          <c:x val="6.1807378244386124E-4"/>
          <c:y val="0.8477451940129106"/>
          <c:w val="0.99938192621755617"/>
          <c:h val="0.15225480598708943"/>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Net Profit with subsidy</c:v>
                </c:pt>
              </c:strCache>
            </c:strRef>
          </c:tx>
          <c:spPr>
            <a:solidFill>
              <a:srgbClr val="00B0F0"/>
            </a:solidFill>
            <a:ln>
              <a:noFill/>
            </a:ln>
            <a:effectLst/>
          </c:spPr>
          <c:invertIfNegative val="0"/>
          <c:dLbls>
            <c:numFmt formatCode="#,##0.00" sourceLinked="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Sheet1!$A$3:$A$6</c:f>
              <c:strCache>
                <c:ptCount val="4"/>
                <c:pt idx="0">
                  <c:v>FY12-13</c:v>
                </c:pt>
                <c:pt idx="1">
                  <c:v>FY13-14</c:v>
                </c:pt>
                <c:pt idx="2">
                  <c:v>FY14-15</c:v>
                </c:pt>
                <c:pt idx="3">
                  <c:v>FY15-16</c:v>
                </c:pt>
              </c:strCache>
            </c:strRef>
          </c:cat>
          <c:val>
            <c:numRef>
              <c:f>Sheet1!$B$3:$B$6</c:f>
              <c:numCache>
                <c:formatCode>_ * #,##0_ ;_ * \-#,##0_ ;_ * "-"??_ ;_ @_ </c:formatCode>
                <c:ptCount val="4"/>
                <c:pt idx="0">
                  <c:v>-1846786670</c:v>
                </c:pt>
                <c:pt idx="1">
                  <c:v>-2186534598</c:v>
                </c:pt>
                <c:pt idx="2">
                  <c:v>26828778640</c:v>
                </c:pt>
                <c:pt idx="3">
                  <c:v>-842005752</c:v>
                </c:pt>
              </c:numCache>
            </c:numRef>
          </c:val>
        </c:ser>
        <c:dLbls>
          <c:showLegendKey val="0"/>
          <c:showVal val="0"/>
          <c:showCatName val="0"/>
          <c:showSerName val="0"/>
          <c:showPercent val="0"/>
          <c:showBubbleSize val="0"/>
        </c:dLbls>
        <c:gapWidth val="219"/>
        <c:overlap val="-27"/>
        <c:axId val="487132800"/>
        <c:axId val="487127704"/>
      </c:barChart>
      <c:catAx>
        <c:axId val="487132800"/>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27704"/>
        <c:crosses val="autoZero"/>
        <c:auto val="1"/>
        <c:lblAlgn val="ctr"/>
        <c:lblOffset val="100"/>
        <c:noMultiLvlLbl val="0"/>
      </c:catAx>
      <c:valAx>
        <c:axId val="487127704"/>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32800"/>
        <c:crosses val="autoZero"/>
        <c:crossBetween val="between"/>
        <c:dispUnits>
          <c:builtInUnit val="billions"/>
          <c:dispUnitsLbl>
            <c:layout>
              <c:manualLayout>
                <c:xMode val="edge"/>
                <c:yMode val="edge"/>
                <c:x val="5.4852489728536583E-2"/>
                <c:y val="0.38081038686732205"/>
              </c:manualLayout>
            </c:layout>
            <c:tx>
              <c:rich>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r>
                    <a:rPr lang="en-US"/>
                    <a:t>Billion</a:t>
                  </a:r>
                </a:p>
              </c:rich>
            </c:tx>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Net Worth</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FY11-12</c:v>
                </c:pt>
                <c:pt idx="1">
                  <c:v>FY12-13</c:v>
                </c:pt>
                <c:pt idx="2">
                  <c:v>FY13-14</c:v>
                </c:pt>
                <c:pt idx="3">
                  <c:v>FY14-15</c:v>
                </c:pt>
                <c:pt idx="4">
                  <c:v>FY15-16</c:v>
                </c:pt>
              </c:strCache>
            </c:strRef>
          </c:cat>
          <c:val>
            <c:numRef>
              <c:f>Sheet1!$B$2:$B$6</c:f>
              <c:numCache>
                <c:formatCode>_ * #,##0_ ;_ * \-#,##0_ ;_ * "-"??_ ;_ @_ </c:formatCode>
                <c:ptCount val="5"/>
                <c:pt idx="0">
                  <c:v>177377518844</c:v>
                </c:pt>
                <c:pt idx="1">
                  <c:v>185643685986</c:v>
                </c:pt>
                <c:pt idx="2">
                  <c:v>196386491351</c:v>
                </c:pt>
                <c:pt idx="3">
                  <c:v>228415579262</c:v>
                </c:pt>
                <c:pt idx="4">
                  <c:v>244426301500</c:v>
                </c:pt>
              </c:numCache>
            </c:numRef>
          </c:val>
        </c:ser>
        <c:dLbls>
          <c:dLblPos val="outEnd"/>
          <c:showLegendKey val="0"/>
          <c:showVal val="1"/>
          <c:showCatName val="0"/>
          <c:showSerName val="0"/>
          <c:showPercent val="0"/>
          <c:showBubbleSize val="0"/>
        </c:dLbls>
        <c:gapWidth val="219"/>
        <c:overlap val="-27"/>
        <c:axId val="487128096"/>
        <c:axId val="487133192"/>
      </c:barChart>
      <c:catAx>
        <c:axId val="4871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33192"/>
        <c:crosses val="autoZero"/>
        <c:auto val="1"/>
        <c:lblAlgn val="ctr"/>
        <c:lblOffset val="100"/>
        <c:noMultiLvlLbl val="0"/>
      </c:catAx>
      <c:valAx>
        <c:axId val="487133192"/>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28096"/>
        <c:crosses val="autoZero"/>
        <c:crossBetween val="between"/>
        <c:dispUnits>
          <c:builtInUnit val="billions"/>
          <c:dispUnitsLbl>
            <c:layout>
              <c:manualLayout>
                <c:xMode val="edge"/>
                <c:yMode val="edge"/>
                <c:x val="5.1150895140664961E-2"/>
                <c:y val="0.39923751056541668"/>
              </c:manualLayout>
            </c:layout>
            <c:tx>
              <c:rich>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r>
                    <a:rPr lang="en-US"/>
                    <a:t>Billion</a:t>
                  </a:r>
                </a:p>
              </c:rich>
            </c:tx>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558580303090255"/>
          <c:y val="6.8249619482496207E-2"/>
          <c:w val="0.78913781505954983"/>
          <c:h val="0.58998358081952085"/>
        </c:manualLayout>
      </c:layout>
      <c:barChart>
        <c:barDir val="col"/>
        <c:grouping val="stacked"/>
        <c:varyColors val="0"/>
        <c:ser>
          <c:idx val="0"/>
          <c:order val="0"/>
          <c:tx>
            <c:strRef>
              <c:f>Sheet1!$B$1</c:f>
              <c:strCache>
                <c:ptCount val="1"/>
                <c:pt idx="0">
                  <c:v>Total Generation Cost</c:v>
                </c:pt>
              </c:strCache>
            </c:strRef>
          </c:tx>
          <c:spPr>
            <a:solidFill>
              <a:srgbClr val="002060"/>
            </a:solidFill>
            <a:ln>
              <a:noFill/>
            </a:ln>
            <a:effectLst/>
          </c:spPr>
          <c:invertIfNegative val="0"/>
          <c:cat>
            <c:strRef>
              <c:f>Sheet1!$A$2:$A$6</c:f>
              <c:strCache>
                <c:ptCount val="5"/>
                <c:pt idx="0">
                  <c:v>FY11-12</c:v>
                </c:pt>
                <c:pt idx="1">
                  <c:v>FY12-13</c:v>
                </c:pt>
                <c:pt idx="2">
                  <c:v>FY13-14</c:v>
                </c:pt>
                <c:pt idx="3">
                  <c:v>FY14-15</c:v>
                </c:pt>
                <c:pt idx="4">
                  <c:v>FY15-16</c:v>
                </c:pt>
              </c:strCache>
            </c:strRef>
          </c:cat>
          <c:val>
            <c:numRef>
              <c:f>Sheet1!$B$2:$B$6</c:f>
              <c:numCache>
                <c:formatCode>0.00</c:formatCode>
                <c:ptCount val="5"/>
                <c:pt idx="0">
                  <c:v>34753469336</c:v>
                </c:pt>
                <c:pt idx="1">
                  <c:v>45327755637</c:v>
                </c:pt>
                <c:pt idx="2">
                  <c:v>57750593503</c:v>
                </c:pt>
                <c:pt idx="3">
                  <c:v>51116440247</c:v>
                </c:pt>
                <c:pt idx="4">
                  <c:v>52159575296</c:v>
                </c:pt>
              </c:numCache>
            </c:numRef>
          </c:val>
        </c:ser>
        <c:ser>
          <c:idx val="1"/>
          <c:order val="1"/>
          <c:tx>
            <c:strRef>
              <c:f>Sheet1!$C$1</c:f>
              <c:strCache>
                <c:ptCount val="1"/>
                <c:pt idx="0">
                  <c:v>Total Power Purchase Cost</c:v>
                </c:pt>
              </c:strCache>
            </c:strRef>
          </c:tx>
          <c:spPr>
            <a:solidFill>
              <a:srgbClr val="92D050"/>
            </a:solidFill>
            <a:ln>
              <a:noFill/>
            </a:ln>
            <a:effectLst/>
          </c:spPr>
          <c:invertIfNegative val="0"/>
          <c:cat>
            <c:strRef>
              <c:f>Sheet1!$A$2:$A$6</c:f>
              <c:strCache>
                <c:ptCount val="5"/>
                <c:pt idx="0">
                  <c:v>FY11-12</c:v>
                </c:pt>
                <c:pt idx="1">
                  <c:v>FY12-13</c:v>
                </c:pt>
                <c:pt idx="2">
                  <c:v>FY13-14</c:v>
                </c:pt>
                <c:pt idx="3">
                  <c:v>FY14-15</c:v>
                </c:pt>
                <c:pt idx="4">
                  <c:v>FY15-16</c:v>
                </c:pt>
              </c:strCache>
            </c:strRef>
          </c:cat>
          <c:val>
            <c:numRef>
              <c:f>Sheet1!$C$2:$C$6</c:f>
              <c:numCache>
                <c:formatCode>0.00</c:formatCode>
                <c:ptCount val="5"/>
                <c:pt idx="0">
                  <c:v>133759115028</c:v>
                </c:pt>
                <c:pt idx="1">
                  <c:v>152880206903</c:v>
                </c:pt>
                <c:pt idx="2">
                  <c:v>177620634787</c:v>
                </c:pt>
                <c:pt idx="3">
                  <c:v>203296703275</c:v>
                </c:pt>
                <c:pt idx="4">
                  <c:v>202031074523</c:v>
                </c:pt>
              </c:numCache>
            </c:numRef>
          </c:val>
        </c:ser>
        <c:ser>
          <c:idx val="2"/>
          <c:order val="2"/>
          <c:tx>
            <c:strRef>
              <c:f>Sheet1!$D$1</c:f>
              <c:strCache>
                <c:ptCount val="1"/>
                <c:pt idx="0">
                  <c:v>Interest, Provision,Insurance and Others</c:v>
                </c:pt>
              </c:strCache>
            </c:strRef>
          </c:tx>
          <c:spPr>
            <a:solidFill>
              <a:schemeClr val="accent3"/>
            </a:solidFill>
            <a:ln>
              <a:noFill/>
            </a:ln>
            <a:effectLst/>
          </c:spPr>
          <c:invertIfNegative val="0"/>
          <c:cat>
            <c:strRef>
              <c:f>Sheet1!$A$2:$A$6</c:f>
              <c:strCache>
                <c:ptCount val="5"/>
                <c:pt idx="0">
                  <c:v>FY11-12</c:v>
                </c:pt>
                <c:pt idx="1">
                  <c:v>FY12-13</c:v>
                </c:pt>
                <c:pt idx="2">
                  <c:v>FY13-14</c:v>
                </c:pt>
                <c:pt idx="3">
                  <c:v>FY14-15</c:v>
                </c:pt>
                <c:pt idx="4">
                  <c:v>FY15-16</c:v>
                </c:pt>
              </c:strCache>
            </c:strRef>
          </c:cat>
          <c:val>
            <c:numRef>
              <c:f>Sheet1!$D$2:$D$6</c:f>
              <c:numCache>
                <c:formatCode>0.00</c:formatCode>
                <c:ptCount val="5"/>
                <c:pt idx="0">
                  <c:v>9866806333</c:v>
                </c:pt>
                <c:pt idx="1">
                  <c:v>12323365373</c:v>
                </c:pt>
                <c:pt idx="2">
                  <c:v>17023086646</c:v>
                </c:pt>
                <c:pt idx="3">
                  <c:v>19734465254</c:v>
                </c:pt>
                <c:pt idx="4">
                  <c:v>24500561877</c:v>
                </c:pt>
              </c:numCache>
            </c:numRef>
          </c:val>
        </c:ser>
        <c:dLbls>
          <c:showLegendKey val="0"/>
          <c:showVal val="0"/>
          <c:showCatName val="0"/>
          <c:showSerName val="0"/>
          <c:showPercent val="0"/>
          <c:showBubbleSize val="0"/>
        </c:dLbls>
        <c:gapWidth val="219"/>
        <c:overlap val="100"/>
        <c:axId val="970760440"/>
        <c:axId val="970762008"/>
      </c:barChart>
      <c:lineChart>
        <c:grouping val="standard"/>
        <c:varyColors val="0"/>
        <c:ser>
          <c:idx val="3"/>
          <c:order val="3"/>
          <c:tx>
            <c:strRef>
              <c:f>Sheet1!$E$1</c:f>
              <c:strCache>
                <c:ptCount val="1"/>
                <c:pt idx="0">
                  <c:v>Total Bulk Supply Revenue</c:v>
                </c:pt>
              </c:strCache>
            </c:strRef>
          </c:tx>
          <c:spPr>
            <a:ln w="28575" cap="rnd">
              <a:solidFill>
                <a:schemeClr val="accent4"/>
              </a:solidFill>
              <a:round/>
            </a:ln>
            <a:effectLst/>
          </c:spPr>
          <c:marker>
            <c:symbol val="none"/>
          </c:marker>
          <c:cat>
            <c:strRef>
              <c:f>Sheet1!$A$2:$A$6</c:f>
              <c:strCache>
                <c:ptCount val="5"/>
                <c:pt idx="0">
                  <c:v>FY11-12</c:v>
                </c:pt>
                <c:pt idx="1">
                  <c:v>FY12-13</c:v>
                </c:pt>
                <c:pt idx="2">
                  <c:v>FY13-14</c:v>
                </c:pt>
                <c:pt idx="3">
                  <c:v>FY14-15</c:v>
                </c:pt>
                <c:pt idx="4">
                  <c:v>FY15-16</c:v>
                </c:pt>
              </c:strCache>
            </c:strRef>
          </c:cat>
          <c:val>
            <c:numRef>
              <c:f>Sheet1!$E$2:$E$6</c:f>
              <c:numCache>
                <c:formatCode>0.00</c:formatCode>
                <c:ptCount val="5"/>
                <c:pt idx="0">
                  <c:v>108791411874</c:v>
                </c:pt>
                <c:pt idx="1">
                  <c:v>161304898365</c:v>
                </c:pt>
                <c:pt idx="2">
                  <c:v>185103654496</c:v>
                </c:pt>
                <c:pt idx="3">
                  <c:v>200262011128</c:v>
                </c:pt>
                <c:pt idx="4">
                  <c:v>235811585402</c:v>
                </c:pt>
              </c:numCache>
            </c:numRef>
          </c:val>
          <c:smooth val="0"/>
        </c:ser>
        <c:dLbls>
          <c:showLegendKey val="0"/>
          <c:showVal val="0"/>
          <c:showCatName val="0"/>
          <c:showSerName val="0"/>
          <c:showPercent val="0"/>
          <c:showBubbleSize val="0"/>
        </c:dLbls>
        <c:marker val="1"/>
        <c:smooth val="0"/>
        <c:axId val="970760440"/>
        <c:axId val="970762008"/>
      </c:lineChart>
      <c:catAx>
        <c:axId val="970760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70762008"/>
        <c:crosses val="autoZero"/>
        <c:auto val="1"/>
        <c:lblAlgn val="ctr"/>
        <c:lblOffset val="100"/>
        <c:noMultiLvlLbl val="0"/>
      </c:catAx>
      <c:valAx>
        <c:axId val="970762008"/>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70760440"/>
        <c:crosses val="autoZero"/>
        <c:crossBetween val="between"/>
        <c:dispUnits>
          <c:builtInUnit val="billions"/>
          <c:dispUnitsLbl>
            <c:layout>
              <c:manualLayout>
                <c:xMode val="edge"/>
                <c:yMode val="edge"/>
                <c:x val="0"/>
                <c:y val="0.3056925418569254"/>
              </c:manualLayout>
            </c:layout>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ispUnitsLbl>
        </c:dispUnits>
      </c:valAx>
      <c:spPr>
        <a:noFill/>
        <a:ln>
          <a:noFill/>
        </a:ln>
        <a:effectLst/>
      </c:spPr>
    </c:plotArea>
    <c:legend>
      <c:legendPos val="b"/>
      <c:layout>
        <c:manualLayout>
          <c:xMode val="edge"/>
          <c:yMode val="edge"/>
          <c:x val="0"/>
          <c:y val="0.76700607863756431"/>
          <c:w val="0.99567641356388237"/>
          <c:h val="0.19646413090871787"/>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175056839044437"/>
          <c:y val="8.1031307550644568E-2"/>
          <c:w val="0.80681734731345089"/>
          <c:h val="0.59869143428894589"/>
        </c:manualLayout>
      </c:layout>
      <c:barChart>
        <c:barDir val="col"/>
        <c:grouping val="stacked"/>
        <c:varyColors val="0"/>
        <c:ser>
          <c:idx val="0"/>
          <c:order val="0"/>
          <c:tx>
            <c:strRef>
              <c:f>Sheet1!$B$1</c:f>
              <c:strCache>
                <c:ptCount val="1"/>
                <c:pt idx="0">
                  <c:v>Total Cost (Generation &amp; Purchase) (BDT / kWh)</c:v>
                </c:pt>
              </c:strCache>
            </c:strRef>
          </c:tx>
          <c:spPr>
            <a:solidFill>
              <a:schemeClr val="accent1"/>
            </a:solidFill>
            <a:ln>
              <a:noFill/>
            </a:ln>
            <a:effectLst/>
          </c:spPr>
          <c:invertIfNegative val="0"/>
          <c:cat>
            <c:strRef>
              <c:f>Sheet1!$A$2:$A$11</c:f>
              <c:strCache>
                <c:ptCount val="9"/>
                <c:pt idx="0">
                  <c:v>FY11-12</c:v>
                </c:pt>
                <c:pt idx="2">
                  <c:v>FY12-13</c:v>
                </c:pt>
                <c:pt idx="4">
                  <c:v>FY13-14</c:v>
                </c:pt>
                <c:pt idx="6">
                  <c:v>FY14-15</c:v>
                </c:pt>
                <c:pt idx="8">
                  <c:v>FY15-16</c:v>
                </c:pt>
              </c:strCache>
            </c:strRef>
          </c:cat>
          <c:val>
            <c:numRef>
              <c:f>Sheet1!$B$2:$B$11</c:f>
              <c:numCache>
                <c:formatCode>General</c:formatCode>
                <c:ptCount val="10"/>
                <c:pt idx="0">
                  <c:v>5.0167804631637178</c:v>
                </c:pt>
                <c:pt idx="2">
                  <c:v>5.4329944979729943</c:v>
                </c:pt>
                <c:pt idx="4">
                  <c:v>5.8529442001297918</c:v>
                </c:pt>
                <c:pt idx="6">
                  <c:v>5.9307344908556319</c:v>
                </c:pt>
                <c:pt idx="8">
                  <c:v>5.0848945313783815</c:v>
                </c:pt>
              </c:numCache>
            </c:numRef>
          </c:val>
        </c:ser>
        <c:ser>
          <c:idx val="1"/>
          <c:order val="1"/>
          <c:tx>
            <c:strRef>
              <c:f>Sheet1!$C$1</c:f>
              <c:strCache>
                <c:ptCount val="1"/>
                <c:pt idx="0">
                  <c:v>Interest, Provision,Insurance and Others  (BDT / kWh)</c:v>
                </c:pt>
              </c:strCache>
            </c:strRef>
          </c:tx>
          <c:spPr>
            <a:solidFill>
              <a:schemeClr val="accent2"/>
            </a:solidFill>
            <a:ln>
              <a:noFill/>
            </a:ln>
            <a:effectLst/>
          </c:spPr>
          <c:invertIfNegative val="0"/>
          <c:cat>
            <c:strRef>
              <c:f>Sheet1!$A$2:$A$11</c:f>
              <c:strCache>
                <c:ptCount val="9"/>
                <c:pt idx="0">
                  <c:v>FY11-12</c:v>
                </c:pt>
                <c:pt idx="2">
                  <c:v>FY12-13</c:v>
                </c:pt>
                <c:pt idx="4">
                  <c:v>FY13-14</c:v>
                </c:pt>
                <c:pt idx="6">
                  <c:v>FY14-15</c:v>
                </c:pt>
                <c:pt idx="8">
                  <c:v>FY15-16</c:v>
                </c:pt>
              </c:strCache>
            </c:strRef>
          </c:cat>
          <c:val>
            <c:numRef>
              <c:f>Sheet1!$C$2:$C$11</c:f>
              <c:numCache>
                <c:formatCode>General</c:formatCode>
                <c:ptCount val="10"/>
                <c:pt idx="0">
                  <c:v>0.30412743374533796</c:v>
                </c:pt>
                <c:pt idx="2">
                  <c:v>0.34747963831946987</c:v>
                </c:pt>
                <c:pt idx="4">
                  <c:v>0.43363187828922228</c:v>
                </c:pt>
                <c:pt idx="6">
                  <c:v>0.46306556665180559</c:v>
                </c:pt>
                <c:pt idx="8">
                  <c:v>0.50108522092238472</c:v>
                </c:pt>
              </c:numCache>
            </c:numRef>
          </c:val>
        </c:ser>
        <c:dLbls>
          <c:showLegendKey val="0"/>
          <c:showVal val="0"/>
          <c:showCatName val="0"/>
          <c:showSerName val="0"/>
          <c:showPercent val="0"/>
          <c:showBubbleSize val="0"/>
        </c:dLbls>
        <c:gapWidth val="100"/>
        <c:overlap val="100"/>
        <c:axId val="487130448"/>
        <c:axId val="487128488"/>
      </c:barChart>
      <c:barChart>
        <c:barDir val="col"/>
        <c:grouping val="clustered"/>
        <c:varyColors val="0"/>
        <c:ser>
          <c:idx val="2"/>
          <c:order val="2"/>
          <c:tx>
            <c:strRef>
              <c:f>Sheet1!$D$1</c:f>
              <c:strCache>
                <c:ptCount val="1"/>
                <c:pt idx="0">
                  <c:v>Avg. Bulk Supply Revenue  (BDT / kWh)</c:v>
                </c:pt>
              </c:strCache>
            </c:strRef>
          </c:tx>
          <c:spPr>
            <a:solidFill>
              <a:schemeClr val="accent3"/>
            </a:solidFill>
            <a:ln>
              <a:noFill/>
            </a:ln>
            <a:effectLst/>
          </c:spPr>
          <c:invertIfNegative val="0"/>
          <c:cat>
            <c:strRef>
              <c:f>Sheet1!$A$2:$A$11</c:f>
              <c:strCache>
                <c:ptCount val="9"/>
                <c:pt idx="0">
                  <c:v>FY11-12</c:v>
                </c:pt>
                <c:pt idx="2">
                  <c:v>FY12-13</c:v>
                </c:pt>
                <c:pt idx="4">
                  <c:v>FY13-14</c:v>
                </c:pt>
                <c:pt idx="6">
                  <c:v>FY14-15</c:v>
                </c:pt>
                <c:pt idx="8">
                  <c:v>FY15-16</c:v>
                </c:pt>
              </c:strCache>
            </c:strRef>
          </c:cat>
          <c:val>
            <c:numRef>
              <c:f>Sheet1!$D$2:$D$11</c:f>
              <c:numCache>
                <c:formatCode>General</c:formatCode>
                <c:ptCount val="10"/>
                <c:pt idx="1">
                  <c:v>3.353309246185618</c:v>
                </c:pt>
                <c:pt idx="3">
                  <c:v>4.5482841777809107</c:v>
                </c:pt>
                <c:pt idx="5">
                  <c:v>4.7151757519932751</c:v>
                </c:pt>
                <c:pt idx="7">
                  <c:v>4.6991109446465025</c:v>
                </c:pt>
                <c:pt idx="9">
                  <c:v>4.822815940321096</c:v>
                </c:pt>
              </c:numCache>
            </c:numRef>
          </c:val>
        </c:ser>
        <c:dLbls>
          <c:showLegendKey val="0"/>
          <c:showVal val="0"/>
          <c:showCatName val="0"/>
          <c:showSerName val="0"/>
          <c:showPercent val="0"/>
          <c:showBubbleSize val="0"/>
        </c:dLbls>
        <c:gapWidth val="100"/>
        <c:axId val="487133976"/>
        <c:axId val="487124176"/>
      </c:barChart>
      <c:catAx>
        <c:axId val="487130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28488"/>
        <c:crosses val="autoZero"/>
        <c:auto val="1"/>
        <c:lblAlgn val="ctr"/>
        <c:lblOffset val="100"/>
        <c:noMultiLvlLbl val="0"/>
      </c:catAx>
      <c:valAx>
        <c:axId val="487128488"/>
        <c:scaling>
          <c:orientation val="minMax"/>
          <c:max val="7"/>
          <c:min val="0"/>
        </c:scaling>
        <c:delete val="0"/>
        <c:axPos val="l"/>
        <c:title>
          <c:tx>
            <c:rich>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r>
                  <a:rPr lang="en-IN"/>
                  <a:t>BDT</a:t>
                </a:r>
              </a:p>
            </c:rich>
          </c:tx>
          <c:overlay val="0"/>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30448"/>
        <c:crosses val="autoZero"/>
        <c:crossBetween val="between"/>
        <c:majorUnit val="1"/>
      </c:valAx>
      <c:valAx>
        <c:axId val="487124176"/>
        <c:scaling>
          <c:orientation val="minMax"/>
          <c:max val="7"/>
          <c:min val="0"/>
        </c:scaling>
        <c:delete val="1"/>
        <c:axPos val="r"/>
        <c:numFmt formatCode="General" sourceLinked="1"/>
        <c:majorTickMark val="out"/>
        <c:minorTickMark val="none"/>
        <c:tickLblPos val="nextTo"/>
        <c:crossAx val="487133976"/>
        <c:crosses val="max"/>
        <c:crossBetween val="between"/>
        <c:majorUnit val="1"/>
      </c:valAx>
      <c:catAx>
        <c:axId val="487133976"/>
        <c:scaling>
          <c:orientation val="minMax"/>
        </c:scaling>
        <c:delete val="1"/>
        <c:axPos val="b"/>
        <c:numFmt formatCode="General" sourceLinked="1"/>
        <c:majorTickMark val="out"/>
        <c:minorTickMark val="none"/>
        <c:tickLblPos val="nextTo"/>
        <c:crossAx val="487124176"/>
        <c:crosses val="autoZero"/>
        <c:auto val="1"/>
        <c:lblAlgn val="ctr"/>
        <c:lblOffset val="100"/>
        <c:noMultiLvlLbl val="0"/>
      </c:catAx>
      <c:spPr>
        <a:noFill/>
        <a:ln>
          <a:noFill/>
        </a:ln>
        <a:effectLst/>
      </c:spPr>
    </c:plotArea>
    <c:legend>
      <c:legendPos val="b"/>
      <c:layout>
        <c:manualLayout>
          <c:xMode val="edge"/>
          <c:yMode val="edge"/>
          <c:x val="2.4774660705100305E-2"/>
          <c:y val="0.78803381621496194"/>
          <c:w val="0.94040003165433461"/>
          <c:h val="0.21196635088582677"/>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BPDB Dist. Zones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Sheet1!$A$2:$A$6</c:f>
              <c:strCache>
                <c:ptCount val="5"/>
                <c:pt idx="0">
                  <c:v>FY11-12</c:v>
                </c:pt>
                <c:pt idx="1">
                  <c:v>FY12-13</c:v>
                </c:pt>
                <c:pt idx="2">
                  <c:v>FY13-14</c:v>
                </c:pt>
                <c:pt idx="3">
                  <c:v>FY14-15</c:v>
                </c:pt>
                <c:pt idx="4">
                  <c:v>FY15-16</c:v>
                </c:pt>
              </c:strCache>
            </c:strRef>
          </c:cat>
          <c:val>
            <c:numRef>
              <c:f>Sheet1!$B$2:$B$6</c:f>
              <c:numCache>
                <c:formatCode>0%</c:formatCode>
                <c:ptCount val="5"/>
                <c:pt idx="0">
                  <c:v>0.95039137974452637</c:v>
                </c:pt>
                <c:pt idx="1">
                  <c:v>0.94888769327937494</c:v>
                </c:pt>
                <c:pt idx="2">
                  <c:v>0.94538088840030943</c:v>
                </c:pt>
                <c:pt idx="3">
                  <c:v>0.96016054965471309</c:v>
                </c:pt>
                <c:pt idx="4">
                  <c:v>0.95895011458798773</c:v>
                </c:pt>
              </c:numCache>
            </c:numRef>
          </c:val>
          <c:smooth val="0"/>
        </c:ser>
        <c:ser>
          <c:idx val="1"/>
          <c:order val="1"/>
          <c:tx>
            <c:strRef>
              <c:f>Sheet1!$C$1</c:f>
              <c:strCache>
                <c:ptCount val="1"/>
                <c:pt idx="0">
                  <c:v>WZPDCL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Sheet1!$A$2:$A$6</c:f>
              <c:strCache>
                <c:ptCount val="5"/>
                <c:pt idx="0">
                  <c:v>FY11-12</c:v>
                </c:pt>
                <c:pt idx="1">
                  <c:v>FY12-13</c:v>
                </c:pt>
                <c:pt idx="2">
                  <c:v>FY13-14</c:v>
                </c:pt>
                <c:pt idx="3">
                  <c:v>FY14-15</c:v>
                </c:pt>
                <c:pt idx="4">
                  <c:v>FY15-16</c:v>
                </c:pt>
              </c:strCache>
            </c:strRef>
          </c:cat>
          <c:val>
            <c:numRef>
              <c:f>Sheet1!$C$2:$C$6</c:f>
              <c:numCache>
                <c:formatCode>0%</c:formatCode>
                <c:ptCount val="5"/>
                <c:pt idx="0">
                  <c:v>0.91693593502098603</c:v>
                </c:pt>
                <c:pt idx="1">
                  <c:v>0.95786785828279608</c:v>
                </c:pt>
                <c:pt idx="2">
                  <c:v>0.9776541580237601</c:v>
                </c:pt>
                <c:pt idx="3">
                  <c:v>0.98233339163897149</c:v>
                </c:pt>
                <c:pt idx="4">
                  <c:v>0.97966798659762411</c:v>
                </c:pt>
              </c:numCache>
            </c:numRef>
          </c:val>
          <c:smooth val="0"/>
        </c:ser>
        <c:ser>
          <c:idx val="2"/>
          <c:order val="2"/>
          <c:tx>
            <c:strRef>
              <c:f>Sheet1!$D$1</c:f>
              <c:strCache>
                <c:ptCount val="1"/>
                <c:pt idx="0">
                  <c:v>DPDC</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Sheet1!$A$2:$A$6</c:f>
              <c:strCache>
                <c:ptCount val="5"/>
                <c:pt idx="0">
                  <c:v>FY11-12</c:v>
                </c:pt>
                <c:pt idx="1">
                  <c:v>FY12-13</c:v>
                </c:pt>
                <c:pt idx="2">
                  <c:v>FY13-14</c:v>
                </c:pt>
                <c:pt idx="3">
                  <c:v>FY14-15</c:v>
                </c:pt>
                <c:pt idx="4">
                  <c:v>FY15-16</c:v>
                </c:pt>
              </c:strCache>
            </c:strRef>
          </c:cat>
          <c:val>
            <c:numRef>
              <c:f>Sheet1!$D$2:$D$6</c:f>
              <c:numCache>
                <c:formatCode>0%</c:formatCode>
                <c:ptCount val="5"/>
                <c:pt idx="0">
                  <c:v>0.86602265893054409</c:v>
                </c:pt>
                <c:pt idx="1">
                  <c:v>0.94652171364941684</c:v>
                </c:pt>
                <c:pt idx="2">
                  <c:v>0.86784779237945142</c:v>
                </c:pt>
                <c:pt idx="3">
                  <c:v>0.81789440404679103</c:v>
                </c:pt>
                <c:pt idx="4">
                  <c:v>0.64461427724616815</c:v>
                </c:pt>
              </c:numCache>
            </c:numRef>
          </c:val>
          <c:smooth val="0"/>
        </c:ser>
        <c:ser>
          <c:idx val="3"/>
          <c:order val="3"/>
          <c:tx>
            <c:strRef>
              <c:f>Sheet1!$E$1</c:f>
              <c:strCache>
                <c:ptCount val="1"/>
                <c:pt idx="0">
                  <c:v>DESCO</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Sheet1!$A$2:$A$6</c:f>
              <c:strCache>
                <c:ptCount val="5"/>
                <c:pt idx="0">
                  <c:v>FY11-12</c:v>
                </c:pt>
                <c:pt idx="1">
                  <c:v>FY12-13</c:v>
                </c:pt>
                <c:pt idx="2">
                  <c:v>FY13-14</c:v>
                </c:pt>
                <c:pt idx="3">
                  <c:v>FY14-15</c:v>
                </c:pt>
                <c:pt idx="4">
                  <c:v>FY15-16</c:v>
                </c:pt>
              </c:strCache>
            </c:strRef>
          </c:cat>
          <c:val>
            <c:numRef>
              <c:f>Sheet1!$E$2:$E$6</c:f>
              <c:numCache>
                <c:formatCode>0%</c:formatCode>
                <c:ptCount val="5"/>
                <c:pt idx="0">
                  <c:v>0.99747987039333441</c:v>
                </c:pt>
                <c:pt idx="1">
                  <c:v>0.95010235414534283</c:v>
                </c:pt>
                <c:pt idx="2">
                  <c:v>0.99799818016378528</c:v>
                </c:pt>
                <c:pt idx="3">
                  <c:v>0.99306358381502891</c:v>
                </c:pt>
                <c:pt idx="4">
                  <c:v>0.96844388216157595</c:v>
                </c:pt>
              </c:numCache>
            </c:numRef>
          </c:val>
          <c:smooth val="0"/>
        </c:ser>
        <c:ser>
          <c:idx val="4"/>
          <c:order val="4"/>
          <c:tx>
            <c:strRef>
              <c:f>Sheet1!$F$1</c:f>
              <c:strCache>
                <c:ptCount val="1"/>
                <c:pt idx="0">
                  <c:v>REB / PBSs</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Sheet1!$A$2:$A$6</c:f>
              <c:strCache>
                <c:ptCount val="5"/>
                <c:pt idx="0">
                  <c:v>FY11-12</c:v>
                </c:pt>
                <c:pt idx="1">
                  <c:v>FY12-13</c:v>
                </c:pt>
                <c:pt idx="2">
                  <c:v>FY13-14</c:v>
                </c:pt>
                <c:pt idx="3">
                  <c:v>FY14-15</c:v>
                </c:pt>
                <c:pt idx="4">
                  <c:v>FY15-16</c:v>
                </c:pt>
              </c:strCache>
            </c:strRef>
          </c:cat>
          <c:val>
            <c:numRef>
              <c:f>Sheet1!$F$2:$F$6</c:f>
              <c:numCache>
                <c:formatCode>0%</c:formatCode>
                <c:ptCount val="5"/>
                <c:pt idx="0">
                  <c:v>0.91371412543073804</c:v>
                </c:pt>
                <c:pt idx="1">
                  <c:v>0.91639394101972571</c:v>
                </c:pt>
                <c:pt idx="2">
                  <c:v>0.9475030637254902</c:v>
                </c:pt>
                <c:pt idx="3">
                  <c:v>0.97481559682729302</c:v>
                </c:pt>
                <c:pt idx="4">
                  <c:v>0.97071309703055486</c:v>
                </c:pt>
              </c:numCache>
            </c:numRef>
          </c:val>
          <c:smooth val="0"/>
        </c:ser>
        <c:dLbls>
          <c:showLegendKey val="0"/>
          <c:showVal val="0"/>
          <c:showCatName val="0"/>
          <c:showSerName val="0"/>
          <c:showPercent val="0"/>
          <c:showBubbleSize val="0"/>
        </c:dLbls>
        <c:marker val="1"/>
        <c:smooth val="0"/>
        <c:axId val="487132016"/>
        <c:axId val="487126136"/>
      </c:lineChart>
      <c:catAx>
        <c:axId val="487132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26136"/>
        <c:crosses val="autoZero"/>
        <c:auto val="1"/>
        <c:lblAlgn val="ctr"/>
        <c:lblOffset val="100"/>
        <c:noMultiLvlLbl val="0"/>
      </c:catAx>
      <c:valAx>
        <c:axId val="487126136"/>
        <c:scaling>
          <c:orientation val="minMax"/>
          <c:min val="0.60000000000000009"/>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487132016"/>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0456984543598717"/>
          <c:y val="4.3650793650793648E-2"/>
          <c:w val="0.83892096821230677"/>
          <c:h val="0.68802840821367917"/>
        </c:manualLayout>
      </c:layout>
      <c:bubbleChart>
        <c:varyColors val="0"/>
        <c:ser>
          <c:idx val="0"/>
          <c:order val="0"/>
          <c:tx>
            <c:v>BPDB</c:v>
          </c:tx>
          <c:spPr>
            <a:solidFill>
              <a:schemeClr val="accent1">
                <a:alpha val="75000"/>
              </a:schemeClr>
            </a:solidFill>
            <a:ln>
              <a:noFill/>
            </a:ln>
            <a:effectLst/>
          </c:spPr>
          <c:invertIfNegative val="0"/>
          <c:xVal>
            <c:numRef>
              <c:f>Sheet1!$A$3:$A$11</c:f>
              <c:numCache>
                <c:formatCode>0.00</c:formatCode>
                <c:ptCount val="9"/>
                <c:pt idx="0">
                  <c:v>17.576666666666664</c:v>
                </c:pt>
                <c:pt idx="1">
                  <c:v>18.646666666666665</c:v>
                </c:pt>
                <c:pt idx="2">
                  <c:v>18.453333333333333</c:v>
                </c:pt>
                <c:pt idx="3">
                  <c:v>18.093333333333334</c:v>
                </c:pt>
                <c:pt idx="4">
                  <c:v>17.653333333333332</c:v>
                </c:pt>
                <c:pt idx="5">
                  <c:v>18.330000000000002</c:v>
                </c:pt>
                <c:pt idx="6">
                  <c:v>19.566666666666666</c:v>
                </c:pt>
                <c:pt idx="7">
                  <c:v>20.099999999999998</c:v>
                </c:pt>
                <c:pt idx="8">
                  <c:v>18.193333333333332</c:v>
                </c:pt>
              </c:numCache>
            </c:numRef>
          </c:xVal>
          <c:yVal>
            <c:numRef>
              <c:f>Sheet1!$B$3:$B$11</c:f>
              <c:numCache>
                <c:formatCode>0</c:formatCode>
                <c:ptCount val="9"/>
                <c:pt idx="0">
                  <c:v>5</c:v>
                </c:pt>
                <c:pt idx="1">
                  <c:v>5</c:v>
                </c:pt>
                <c:pt idx="2">
                  <c:v>5</c:v>
                </c:pt>
                <c:pt idx="3">
                  <c:v>5</c:v>
                </c:pt>
                <c:pt idx="4">
                  <c:v>5</c:v>
                </c:pt>
                <c:pt idx="5">
                  <c:v>5</c:v>
                </c:pt>
                <c:pt idx="6">
                  <c:v>6</c:v>
                </c:pt>
                <c:pt idx="7">
                  <c:v>5</c:v>
                </c:pt>
                <c:pt idx="8">
                  <c:v>4</c:v>
                </c:pt>
              </c:numCache>
            </c:numRef>
          </c:yVal>
          <c:bubbleSize>
            <c:numRef>
              <c:f>Sheet1!$C$3:$C$11</c:f>
              <c:numCache>
                <c:formatCode>General</c:formatCode>
                <c:ptCount val="9"/>
                <c:pt idx="0">
                  <c:v>100</c:v>
                </c:pt>
                <c:pt idx="1">
                  <c:v>100</c:v>
                </c:pt>
                <c:pt idx="2">
                  <c:v>71</c:v>
                </c:pt>
                <c:pt idx="3">
                  <c:v>54</c:v>
                </c:pt>
                <c:pt idx="4">
                  <c:v>50</c:v>
                </c:pt>
                <c:pt idx="5">
                  <c:v>109</c:v>
                </c:pt>
                <c:pt idx="6" formatCode="_ * #,##0_ ;_ * \-#,##0_ ;_ * &quot;-&quot;??_ ;_ @_ ">
                  <c:v>52</c:v>
                </c:pt>
                <c:pt idx="7">
                  <c:v>52</c:v>
                </c:pt>
                <c:pt idx="8">
                  <c:v>50</c:v>
                </c:pt>
              </c:numCache>
            </c:numRef>
          </c:bubbleSize>
          <c:bubble3D val="0"/>
        </c:ser>
        <c:ser>
          <c:idx val="1"/>
          <c:order val="1"/>
          <c:tx>
            <c:strRef>
              <c:f>Sheet1!$D$1</c:f>
              <c:strCache>
                <c:ptCount val="1"/>
                <c:pt idx="0">
                  <c:v>IPP/Rental/Quick Rental</c:v>
                </c:pt>
              </c:strCache>
            </c:strRef>
          </c:tx>
          <c:spPr>
            <a:solidFill>
              <a:schemeClr val="accent2">
                <a:alpha val="75000"/>
              </a:schemeClr>
            </a:solidFill>
            <a:ln>
              <a:noFill/>
            </a:ln>
            <a:effectLst/>
          </c:spPr>
          <c:invertIfNegative val="0"/>
          <c:xVal>
            <c:numRef>
              <c:f>Sheet1!$D$3:$D$12</c:f>
              <c:numCache>
                <c:formatCode>0.00</c:formatCode>
                <c:ptCount val="10"/>
                <c:pt idx="0">
                  <c:v>11.306666666666667</c:v>
                </c:pt>
                <c:pt idx="1">
                  <c:v>12.03</c:v>
                </c:pt>
                <c:pt idx="2">
                  <c:v>17.193333333333332</c:v>
                </c:pt>
                <c:pt idx="3" formatCode="General">
                  <c:v>15.75</c:v>
                </c:pt>
                <c:pt idx="4" formatCode="General">
                  <c:v>9.02</c:v>
                </c:pt>
                <c:pt idx="5" formatCode="General">
                  <c:v>12.34</c:v>
                </c:pt>
                <c:pt idx="6" formatCode="General">
                  <c:v>5.49</c:v>
                </c:pt>
                <c:pt idx="7" formatCode="General">
                  <c:v>14.06</c:v>
                </c:pt>
                <c:pt idx="8" formatCode="General">
                  <c:v>16.12</c:v>
                </c:pt>
                <c:pt idx="9" formatCode="General">
                  <c:v>13.65</c:v>
                </c:pt>
              </c:numCache>
            </c:numRef>
          </c:xVal>
          <c:yVal>
            <c:numRef>
              <c:f>Sheet1!$E$3:$E$12</c:f>
              <c:numCache>
                <c:formatCode>General</c:formatCode>
                <c:ptCount val="10"/>
                <c:pt idx="0">
                  <c:v>3</c:v>
                </c:pt>
                <c:pt idx="1">
                  <c:v>3</c:v>
                </c:pt>
                <c:pt idx="2">
                  <c:v>5</c:v>
                </c:pt>
                <c:pt idx="3">
                  <c:v>2</c:v>
                </c:pt>
                <c:pt idx="4">
                  <c:v>2</c:v>
                </c:pt>
                <c:pt idx="5">
                  <c:v>2</c:v>
                </c:pt>
                <c:pt idx="6">
                  <c:v>1</c:v>
                </c:pt>
                <c:pt idx="7">
                  <c:v>6</c:v>
                </c:pt>
                <c:pt idx="8">
                  <c:v>3</c:v>
                </c:pt>
                <c:pt idx="9">
                  <c:v>6</c:v>
                </c:pt>
              </c:numCache>
            </c:numRef>
          </c:yVal>
          <c:bubbleSize>
            <c:numRef>
              <c:f>Sheet1!$F$3:$F$12</c:f>
              <c:numCache>
                <c:formatCode>General</c:formatCode>
                <c:ptCount val="10"/>
                <c:pt idx="0">
                  <c:v>50</c:v>
                </c:pt>
                <c:pt idx="1">
                  <c:v>102</c:v>
                </c:pt>
                <c:pt idx="2">
                  <c:v>52</c:v>
                </c:pt>
                <c:pt idx="3">
                  <c:v>52</c:v>
                </c:pt>
                <c:pt idx="4">
                  <c:v>108</c:v>
                </c:pt>
                <c:pt idx="5">
                  <c:v>51</c:v>
                </c:pt>
                <c:pt idx="6">
                  <c:v>110</c:v>
                </c:pt>
                <c:pt idx="7">
                  <c:v>100</c:v>
                </c:pt>
                <c:pt idx="8">
                  <c:v>51</c:v>
                </c:pt>
                <c:pt idx="9">
                  <c:v>100</c:v>
                </c:pt>
              </c:numCache>
            </c:numRef>
          </c:bubbleSize>
          <c:bubble3D val="0"/>
        </c:ser>
        <c:dLbls>
          <c:showLegendKey val="0"/>
          <c:showVal val="0"/>
          <c:showCatName val="0"/>
          <c:showSerName val="0"/>
          <c:showPercent val="0"/>
          <c:showBubbleSize val="0"/>
        </c:dLbls>
        <c:bubbleScale val="100"/>
        <c:showNegBubbles val="0"/>
        <c:axId val="970747896"/>
        <c:axId val="970759656"/>
      </c:bubbleChart>
      <c:valAx>
        <c:axId val="970747896"/>
        <c:scaling>
          <c:orientation val="minMax"/>
          <c:max val="22"/>
          <c:min val="4"/>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IN"/>
                  <a:t>Generation / Power Purchase Cost (tk / kWh)</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70759656"/>
        <c:crosses val="autoZero"/>
        <c:crossBetween val="midCat"/>
      </c:valAx>
      <c:valAx>
        <c:axId val="9707596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IN"/>
                  <a:t>Age (years)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70747896"/>
        <c:crosses val="autoZero"/>
        <c:crossBetween val="midCat"/>
      </c:valAx>
      <c:spPr>
        <a:noFill/>
        <a:ln>
          <a:noFill/>
        </a:ln>
        <a:effectLst/>
      </c:spPr>
    </c:plotArea>
    <c:legend>
      <c:legendPos val="b"/>
      <c:layout>
        <c:manualLayout>
          <c:xMode val="edge"/>
          <c:yMode val="edge"/>
          <c:x val="0.32959241159746877"/>
          <c:y val="0.90546152319195394"/>
          <c:w val="0.34081500211807969"/>
          <c:h val="9.4538476808046057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solidFill>
            <a:schemeClr val="tx1"/>
          </a:solidFill>
        </a:defRPr>
      </a:pPr>
      <a:endParaRPr lang="en-US"/>
    </a:p>
  </c:txPr>
  <c:externalData r:id="rId4">
    <c:autoUpdate val="0"/>
  </c:externalData>
  <c:userShapes r:id="rId5"/>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0456984543598717"/>
          <c:y val="4.3650793650793648E-2"/>
          <c:w val="0.83892096821230677"/>
          <c:h val="0.66001720373188644"/>
        </c:manualLayout>
      </c:layout>
      <c:bubbleChart>
        <c:varyColors val="0"/>
        <c:ser>
          <c:idx val="0"/>
          <c:order val="0"/>
          <c:tx>
            <c:v>BPDB</c:v>
          </c:tx>
          <c:spPr>
            <a:solidFill>
              <a:schemeClr val="accent1">
                <a:alpha val="75000"/>
              </a:schemeClr>
            </a:solidFill>
            <a:ln>
              <a:noFill/>
            </a:ln>
            <a:effectLst/>
          </c:spPr>
          <c:invertIfNegative val="0"/>
          <c:xVal>
            <c:numRef>
              <c:f>Sheet1!$A$3:$A$6</c:f>
              <c:numCache>
                <c:formatCode>0.00</c:formatCode>
                <c:ptCount val="4"/>
                <c:pt idx="0">
                  <c:v>34.543333333333329</c:v>
                </c:pt>
                <c:pt idx="1">
                  <c:v>37.796666666666667</c:v>
                </c:pt>
                <c:pt idx="2">
                  <c:v>35.673333333333325</c:v>
                </c:pt>
                <c:pt idx="3">
                  <c:v>36.193333333333335</c:v>
                </c:pt>
              </c:numCache>
            </c:numRef>
          </c:xVal>
          <c:yVal>
            <c:numRef>
              <c:f>Sheet1!$B$3:$B$6</c:f>
              <c:numCache>
                <c:formatCode>0</c:formatCode>
                <c:ptCount val="4"/>
                <c:pt idx="0">
                  <c:v>36.333333333333336</c:v>
                </c:pt>
                <c:pt idx="1">
                  <c:v>31.5</c:v>
                </c:pt>
                <c:pt idx="2">
                  <c:v>30</c:v>
                </c:pt>
                <c:pt idx="3">
                  <c:v>29</c:v>
                </c:pt>
              </c:numCache>
            </c:numRef>
          </c:yVal>
          <c:bubbleSize>
            <c:numRef>
              <c:f>Sheet1!$C$3:$C$6</c:f>
              <c:numCache>
                <c:formatCode>General</c:formatCode>
                <c:ptCount val="4"/>
                <c:pt idx="0">
                  <c:v>60</c:v>
                </c:pt>
                <c:pt idx="1">
                  <c:v>40</c:v>
                </c:pt>
                <c:pt idx="2">
                  <c:v>20</c:v>
                </c:pt>
                <c:pt idx="3">
                  <c:v>20</c:v>
                </c:pt>
              </c:numCache>
            </c:numRef>
          </c:bubbleSize>
          <c:bubble3D val="0"/>
        </c:ser>
        <c:ser>
          <c:idx val="1"/>
          <c:order val="1"/>
          <c:tx>
            <c:strRef>
              <c:f>Sheet1!$D$1</c:f>
              <c:strCache>
                <c:ptCount val="1"/>
                <c:pt idx="0">
                  <c:v>IPP/Rental/Quick Rental</c:v>
                </c:pt>
              </c:strCache>
            </c:strRef>
          </c:tx>
          <c:spPr>
            <a:solidFill>
              <a:schemeClr val="accent2">
                <a:alpha val="75000"/>
              </a:schemeClr>
            </a:solidFill>
            <a:ln>
              <a:noFill/>
            </a:ln>
            <a:effectLst/>
          </c:spPr>
          <c:invertIfNegative val="0"/>
          <c:xVal>
            <c:numRef>
              <c:f>Sheet1!$D$3:$D$6</c:f>
              <c:numCache>
                <c:formatCode>General</c:formatCode>
                <c:ptCount val="4"/>
                <c:pt idx="0">
                  <c:v>25.95</c:v>
                </c:pt>
                <c:pt idx="1">
                  <c:v>25.32</c:v>
                </c:pt>
                <c:pt idx="2">
                  <c:v>27.17</c:v>
                </c:pt>
                <c:pt idx="3">
                  <c:v>23.31</c:v>
                </c:pt>
              </c:numCache>
            </c:numRef>
          </c:xVal>
          <c:yVal>
            <c:numRef>
              <c:f>Sheet1!$E$3:$E$6</c:f>
              <c:numCache>
                <c:formatCode>General</c:formatCode>
                <c:ptCount val="4"/>
                <c:pt idx="0">
                  <c:v>7</c:v>
                </c:pt>
                <c:pt idx="1">
                  <c:v>6</c:v>
                </c:pt>
                <c:pt idx="2">
                  <c:v>6</c:v>
                </c:pt>
                <c:pt idx="3">
                  <c:v>7</c:v>
                </c:pt>
              </c:numCache>
            </c:numRef>
          </c:yVal>
          <c:bubbleSize>
            <c:numRef>
              <c:f>Sheet1!$F$3:$F$6</c:f>
              <c:numCache>
                <c:formatCode>General</c:formatCode>
                <c:ptCount val="4"/>
                <c:pt idx="0">
                  <c:v>55</c:v>
                </c:pt>
                <c:pt idx="1">
                  <c:v>50</c:v>
                </c:pt>
                <c:pt idx="2">
                  <c:v>100</c:v>
                </c:pt>
                <c:pt idx="3">
                  <c:v>50</c:v>
                </c:pt>
              </c:numCache>
            </c:numRef>
          </c:bubbleSize>
          <c:bubble3D val="0"/>
        </c:ser>
        <c:dLbls>
          <c:showLegendKey val="0"/>
          <c:showVal val="0"/>
          <c:showCatName val="0"/>
          <c:showSerName val="0"/>
          <c:showPercent val="0"/>
          <c:showBubbleSize val="0"/>
        </c:dLbls>
        <c:bubbleScale val="100"/>
        <c:showNegBubbles val="0"/>
        <c:axId val="487134368"/>
        <c:axId val="487134760"/>
      </c:bubbleChart>
      <c:valAx>
        <c:axId val="487134368"/>
        <c:scaling>
          <c:orientation val="minMax"/>
          <c:max val="40"/>
          <c:min val="2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IN"/>
                  <a:t>Generation / Power Purchase Cost (tk / kWh)</a:t>
                </a:r>
              </a:p>
            </c:rich>
          </c:tx>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487134760"/>
        <c:crosses val="autoZero"/>
        <c:crossBetween val="midCat"/>
      </c:valAx>
      <c:valAx>
        <c:axId val="4871347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IN"/>
                  <a:t>Age (years)</a:t>
                </a:r>
              </a:p>
            </c:rich>
          </c:tx>
          <c:overlay val="0"/>
          <c:spPr>
            <a:noFill/>
            <a:ln>
              <a:noFill/>
            </a:ln>
            <a:effectLst/>
          </c:spPr>
          <c:txPr>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487134368"/>
        <c:crosses val="autoZero"/>
        <c:crossBetween val="midCat"/>
      </c:valAx>
      <c:spPr>
        <a:noFill/>
        <a:ln>
          <a:noFill/>
        </a:ln>
        <a:effectLst/>
      </c:spPr>
    </c:plotArea>
    <c:legend>
      <c:legendPos val="b"/>
      <c:layout>
        <c:manualLayout>
          <c:xMode val="edge"/>
          <c:yMode val="edge"/>
          <c:x val="0.32959241159746877"/>
          <c:y val="0.90546152319195394"/>
          <c:w val="0.34081500211807969"/>
          <c:h val="9.4538476808046057E-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solidFill>
            <a:sysClr val="windowText" lastClr="000000"/>
          </a:solidFill>
        </a:defRPr>
      </a:pPr>
      <a:endParaRPr lang="en-US"/>
    </a:p>
  </c:txPr>
  <c:externalData r:id="rId4">
    <c:autoUpdate val="0"/>
  </c:externalData>
  <c:userShapes r:id="rId5"/>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BPDB</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FY11-12</c:v>
                </c:pt>
                <c:pt idx="1">
                  <c:v>FY12-13</c:v>
                </c:pt>
                <c:pt idx="2">
                  <c:v>FY13-14</c:v>
                </c:pt>
                <c:pt idx="3">
                  <c:v>FY14-15</c:v>
                </c:pt>
              </c:strCache>
            </c:strRef>
          </c:cat>
          <c:val>
            <c:numRef>
              <c:f>Sheet1!$B$2:$B$5</c:f>
              <c:numCache>
                <c:formatCode>0.00%</c:formatCode>
                <c:ptCount val="4"/>
                <c:pt idx="0">
                  <c:v>0.12145699726908266</c:v>
                </c:pt>
                <c:pt idx="1">
                  <c:v>0.1194766786421847</c:v>
                </c:pt>
                <c:pt idx="2">
                  <c:v>0.11889757215796615</c:v>
                </c:pt>
                <c:pt idx="3">
                  <c:v>0.1117346671180427</c:v>
                </c:pt>
              </c:numCache>
            </c:numRef>
          </c:val>
          <c:smooth val="0"/>
        </c:ser>
        <c:ser>
          <c:idx val="1"/>
          <c:order val="1"/>
          <c:tx>
            <c:strRef>
              <c:f>Sheet1!$C$1</c:f>
              <c:strCache>
                <c:ptCount val="1"/>
                <c:pt idx="0">
                  <c:v>DPDC</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Sheet1!$A$2:$A$5</c:f>
              <c:strCache>
                <c:ptCount val="4"/>
                <c:pt idx="0">
                  <c:v>FY11-12</c:v>
                </c:pt>
                <c:pt idx="1">
                  <c:v>FY12-13</c:v>
                </c:pt>
                <c:pt idx="2">
                  <c:v>FY13-14</c:v>
                </c:pt>
                <c:pt idx="3">
                  <c:v>FY14-15</c:v>
                </c:pt>
              </c:strCache>
            </c:strRef>
          </c:cat>
          <c:val>
            <c:numRef>
              <c:f>Sheet1!$C$2:$C$5</c:f>
              <c:numCache>
                <c:formatCode>0.00%</c:formatCode>
                <c:ptCount val="4"/>
                <c:pt idx="0">
                  <c:v>9.8699999999999996E-2</c:v>
                </c:pt>
                <c:pt idx="1">
                  <c:v>9.0700000000000003E-2</c:v>
                </c:pt>
                <c:pt idx="2">
                  <c:v>8.9700000000000002E-2</c:v>
                </c:pt>
                <c:pt idx="3">
                  <c:v>8.9099999999999999E-2</c:v>
                </c:pt>
              </c:numCache>
            </c:numRef>
          </c:val>
          <c:smooth val="0"/>
        </c:ser>
        <c:ser>
          <c:idx val="2"/>
          <c:order val="2"/>
          <c:tx>
            <c:strRef>
              <c:f>Sheet1!$D$1</c:f>
              <c:strCache>
                <c:ptCount val="1"/>
                <c:pt idx="0">
                  <c:v>DESCO</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FY11-12</c:v>
                </c:pt>
                <c:pt idx="1">
                  <c:v>FY12-13</c:v>
                </c:pt>
                <c:pt idx="2">
                  <c:v>FY13-14</c:v>
                </c:pt>
                <c:pt idx="3">
                  <c:v>FY14-15</c:v>
                </c:pt>
              </c:strCache>
            </c:strRef>
          </c:cat>
          <c:val>
            <c:numRef>
              <c:f>Sheet1!$D$2:$D$5</c:f>
              <c:numCache>
                <c:formatCode>0.00%</c:formatCode>
                <c:ptCount val="4"/>
                <c:pt idx="0">
                  <c:v>8.5400000000000004E-2</c:v>
                </c:pt>
                <c:pt idx="1">
                  <c:v>8.4400000000000003E-2</c:v>
                </c:pt>
                <c:pt idx="2">
                  <c:v>8.4099999999999994E-2</c:v>
                </c:pt>
                <c:pt idx="3">
                  <c:v>8.3699999999999997E-2</c:v>
                </c:pt>
              </c:numCache>
            </c:numRef>
          </c:val>
          <c:smooth val="0"/>
        </c:ser>
        <c:ser>
          <c:idx val="3"/>
          <c:order val="3"/>
          <c:tx>
            <c:strRef>
              <c:f>Sheet1!$E$1</c:f>
              <c:strCache>
                <c:ptCount val="1"/>
                <c:pt idx="0">
                  <c:v>WZPDCL</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Sheet1!$A$2:$A$5</c:f>
              <c:strCache>
                <c:ptCount val="4"/>
                <c:pt idx="0">
                  <c:v>FY11-12</c:v>
                </c:pt>
                <c:pt idx="1">
                  <c:v>FY12-13</c:v>
                </c:pt>
                <c:pt idx="2">
                  <c:v>FY13-14</c:v>
                </c:pt>
                <c:pt idx="3">
                  <c:v>FY14-15</c:v>
                </c:pt>
              </c:strCache>
            </c:strRef>
          </c:cat>
          <c:val>
            <c:numRef>
              <c:f>Sheet1!$E$2:$E$5</c:f>
              <c:numCache>
                <c:formatCode>0.00%</c:formatCode>
                <c:ptCount val="4"/>
                <c:pt idx="0">
                  <c:v>0.1158</c:v>
                </c:pt>
                <c:pt idx="1">
                  <c:v>0.1138</c:v>
                </c:pt>
                <c:pt idx="2">
                  <c:v>0.10979999999999999</c:v>
                </c:pt>
                <c:pt idx="3">
                  <c:v>0.10249999999999999</c:v>
                </c:pt>
              </c:numCache>
            </c:numRef>
          </c:val>
          <c:smooth val="0"/>
        </c:ser>
        <c:dLbls>
          <c:showLegendKey val="0"/>
          <c:showVal val="0"/>
          <c:showCatName val="0"/>
          <c:showSerName val="0"/>
          <c:showPercent val="0"/>
          <c:showBubbleSize val="0"/>
        </c:dLbls>
        <c:marker val="1"/>
        <c:smooth val="0"/>
        <c:axId val="694694880"/>
        <c:axId val="694695272"/>
      </c:lineChart>
      <c:catAx>
        <c:axId val="69469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695272"/>
        <c:crosses val="autoZero"/>
        <c:auto val="1"/>
        <c:lblAlgn val="ctr"/>
        <c:lblOffset val="100"/>
        <c:noMultiLvlLbl val="0"/>
      </c:catAx>
      <c:valAx>
        <c:axId val="694695272"/>
        <c:scaling>
          <c:orientation val="minMax"/>
          <c:min val="6.0000000000000012E-2"/>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694880"/>
        <c:crosses val="autoZero"/>
        <c:crossBetween val="between"/>
        <c:majorUnit val="4.0000000000000008E-2"/>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BPDB</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FY11-12</c:v>
                </c:pt>
                <c:pt idx="1">
                  <c:v>FY12-13</c:v>
                </c:pt>
                <c:pt idx="2">
                  <c:v>FY13-14</c:v>
                </c:pt>
                <c:pt idx="3">
                  <c:v>FY14-15</c:v>
                </c:pt>
              </c:strCache>
            </c:strRef>
          </c:cat>
          <c:val>
            <c:numRef>
              <c:f>Sheet1!$B$2:$B$5</c:f>
              <c:numCache>
                <c:formatCode>0.00%</c:formatCode>
                <c:ptCount val="4"/>
                <c:pt idx="0">
                  <c:v>0.83495887131875091</c:v>
                </c:pt>
                <c:pt idx="1">
                  <c:v>0.83553834080048128</c:v>
                </c:pt>
                <c:pt idx="2">
                  <c:v>0.83299435366861851</c:v>
                </c:pt>
                <c:pt idx="3">
                  <c:v>0.85289289911205846</c:v>
                </c:pt>
              </c:numCache>
            </c:numRef>
          </c:val>
          <c:smooth val="0"/>
        </c:ser>
        <c:ser>
          <c:idx val="1"/>
          <c:order val="1"/>
          <c:tx>
            <c:strRef>
              <c:f>Sheet1!$C$1</c:f>
              <c:strCache>
                <c:ptCount val="1"/>
                <c:pt idx="0">
                  <c:v>DPDC</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Sheet1!$A$2:$A$5</c:f>
              <c:strCache>
                <c:ptCount val="4"/>
                <c:pt idx="0">
                  <c:v>FY11-12</c:v>
                </c:pt>
                <c:pt idx="1">
                  <c:v>FY12-13</c:v>
                </c:pt>
                <c:pt idx="2">
                  <c:v>FY13-14</c:v>
                </c:pt>
                <c:pt idx="3">
                  <c:v>FY14-15</c:v>
                </c:pt>
              </c:strCache>
            </c:strRef>
          </c:cat>
          <c:val>
            <c:numRef>
              <c:f>Sheet1!$C$2:$C$5</c:f>
              <c:numCache>
                <c:formatCode>0.00%</c:formatCode>
                <c:ptCount val="4"/>
                <c:pt idx="0">
                  <c:v>0.89459999999999995</c:v>
                </c:pt>
                <c:pt idx="1">
                  <c:v>0.8881</c:v>
                </c:pt>
                <c:pt idx="2">
                  <c:v>0.8992</c:v>
                </c:pt>
                <c:pt idx="3">
                  <c:v>0.88690000000000002</c:v>
                </c:pt>
              </c:numCache>
            </c:numRef>
          </c:val>
          <c:smooth val="0"/>
        </c:ser>
        <c:ser>
          <c:idx val="2"/>
          <c:order val="2"/>
          <c:tx>
            <c:strRef>
              <c:f>Sheet1!$D$1</c:f>
              <c:strCache>
                <c:ptCount val="1"/>
                <c:pt idx="0">
                  <c:v>DESCO</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FY11-12</c:v>
                </c:pt>
                <c:pt idx="1">
                  <c:v>FY12-13</c:v>
                </c:pt>
                <c:pt idx="2">
                  <c:v>FY13-14</c:v>
                </c:pt>
                <c:pt idx="3">
                  <c:v>FY14-15</c:v>
                </c:pt>
              </c:strCache>
            </c:strRef>
          </c:cat>
          <c:val>
            <c:numRef>
              <c:f>Sheet1!$D$2:$D$5</c:f>
              <c:numCache>
                <c:formatCode>0.00%</c:formatCode>
                <c:ptCount val="4"/>
                <c:pt idx="0">
                  <c:v>0.90129999999999999</c:v>
                </c:pt>
                <c:pt idx="1">
                  <c:v>0.92400000000000004</c:v>
                </c:pt>
                <c:pt idx="2">
                  <c:v>0.92069999999999996</c:v>
                </c:pt>
                <c:pt idx="3">
                  <c:v>0.92989999999999995</c:v>
                </c:pt>
              </c:numCache>
            </c:numRef>
          </c:val>
          <c:smooth val="0"/>
        </c:ser>
        <c:ser>
          <c:idx val="3"/>
          <c:order val="3"/>
          <c:tx>
            <c:strRef>
              <c:f>Sheet1!$E$1</c:f>
              <c:strCache>
                <c:ptCount val="1"/>
                <c:pt idx="0">
                  <c:v>WZPDCL</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Sheet1!$A$2:$A$5</c:f>
              <c:strCache>
                <c:ptCount val="4"/>
                <c:pt idx="0">
                  <c:v>FY11-12</c:v>
                </c:pt>
                <c:pt idx="1">
                  <c:v>FY12-13</c:v>
                </c:pt>
                <c:pt idx="2">
                  <c:v>FY13-14</c:v>
                </c:pt>
                <c:pt idx="3">
                  <c:v>FY14-15</c:v>
                </c:pt>
              </c:strCache>
            </c:strRef>
          </c:cat>
          <c:val>
            <c:numRef>
              <c:f>Sheet1!$E$2:$E$5</c:f>
              <c:numCache>
                <c:formatCode>0.00%</c:formatCode>
                <c:ptCount val="4"/>
                <c:pt idx="0">
                  <c:v>0.84209999999999996</c:v>
                </c:pt>
                <c:pt idx="1">
                  <c:v>0.85460000000000003</c:v>
                </c:pt>
                <c:pt idx="2">
                  <c:v>0.85519999999999996</c:v>
                </c:pt>
                <c:pt idx="3">
                  <c:v>0.88500000000000001</c:v>
                </c:pt>
              </c:numCache>
            </c:numRef>
          </c:val>
          <c:smooth val="0"/>
        </c:ser>
        <c:dLbls>
          <c:showLegendKey val="0"/>
          <c:showVal val="0"/>
          <c:showCatName val="0"/>
          <c:showSerName val="0"/>
          <c:showPercent val="0"/>
          <c:showBubbleSize val="0"/>
        </c:dLbls>
        <c:marker val="1"/>
        <c:smooth val="0"/>
        <c:axId val="694690960"/>
        <c:axId val="694702720"/>
      </c:lineChart>
      <c:catAx>
        <c:axId val="694690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702720"/>
        <c:crosses val="autoZero"/>
        <c:auto val="1"/>
        <c:lblAlgn val="ctr"/>
        <c:lblOffset val="100"/>
        <c:noMultiLvlLbl val="0"/>
      </c:catAx>
      <c:valAx>
        <c:axId val="694702720"/>
        <c:scaling>
          <c:orientation val="minMax"/>
          <c:min val="0.8"/>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690960"/>
        <c:crosses val="autoZero"/>
        <c:crossBetween val="between"/>
        <c:majorUnit val="4.0000000000000008E-2"/>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Mymensingh</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Sheet1!$A$2:$A$6</c:f>
              <c:strCache>
                <c:ptCount val="5"/>
                <c:pt idx="0">
                  <c:v>FY11-12</c:v>
                </c:pt>
                <c:pt idx="1">
                  <c:v>FY12-13</c:v>
                </c:pt>
                <c:pt idx="2">
                  <c:v>FY13-14</c:v>
                </c:pt>
                <c:pt idx="3">
                  <c:v>FY14-15</c:v>
                </c:pt>
                <c:pt idx="4">
                  <c:v>FY15-16</c:v>
                </c:pt>
              </c:strCache>
            </c:strRef>
          </c:cat>
          <c:val>
            <c:numRef>
              <c:f>Sheet1!$B$2:$B$6</c:f>
              <c:numCache>
                <c:formatCode>0%</c:formatCode>
                <c:ptCount val="5"/>
                <c:pt idx="0">
                  <c:v>0.77784886065556791</c:v>
                </c:pt>
                <c:pt idx="1">
                  <c:v>0.76099180314940262</c:v>
                </c:pt>
                <c:pt idx="2">
                  <c:v>0.75763253450124979</c:v>
                </c:pt>
                <c:pt idx="3">
                  <c:v>0.8023435395808739</c:v>
                </c:pt>
                <c:pt idx="4">
                  <c:v>0.77352988900000452</c:v>
                </c:pt>
              </c:numCache>
            </c:numRef>
          </c:val>
          <c:smooth val="0"/>
        </c:ser>
        <c:ser>
          <c:idx val="1"/>
          <c:order val="1"/>
          <c:tx>
            <c:strRef>
              <c:f>Sheet1!$C$1</c:f>
              <c:strCache>
                <c:ptCount val="1"/>
                <c:pt idx="0">
                  <c:v>Chittagong</c:v>
                </c:pt>
              </c:strCache>
            </c:strRef>
          </c:tx>
          <c:spPr>
            <a:ln w="28575" cap="rnd">
              <a:solidFill>
                <a:schemeClr val="accent2">
                  <a:lumMod val="75000"/>
                </a:schemeClr>
              </a:solidFill>
              <a:round/>
            </a:ln>
            <a:effectLst/>
          </c:spPr>
          <c:marker>
            <c:symbol val="circle"/>
            <c:size val="5"/>
            <c:spPr>
              <a:solidFill>
                <a:schemeClr val="accent2">
                  <a:lumMod val="75000"/>
                </a:schemeClr>
              </a:solidFill>
              <a:ln w="9525">
                <a:solidFill>
                  <a:schemeClr val="accent2">
                    <a:lumMod val="50000"/>
                  </a:schemeClr>
                </a:solidFill>
              </a:ln>
              <a:effectLst/>
            </c:spPr>
          </c:marker>
          <c:cat>
            <c:strRef>
              <c:f>Sheet1!$A$2:$A$6</c:f>
              <c:strCache>
                <c:ptCount val="5"/>
                <c:pt idx="0">
                  <c:v>FY11-12</c:v>
                </c:pt>
                <c:pt idx="1">
                  <c:v>FY12-13</c:v>
                </c:pt>
                <c:pt idx="2">
                  <c:v>FY13-14</c:v>
                </c:pt>
                <c:pt idx="3">
                  <c:v>FY14-15</c:v>
                </c:pt>
                <c:pt idx="4">
                  <c:v>FY15-16</c:v>
                </c:pt>
              </c:strCache>
            </c:strRef>
          </c:cat>
          <c:val>
            <c:numRef>
              <c:f>Sheet1!$C$2:$C$6</c:f>
              <c:numCache>
                <c:formatCode>0%</c:formatCode>
                <c:ptCount val="5"/>
                <c:pt idx="0">
                  <c:v>0.87648366290105129</c:v>
                </c:pt>
                <c:pt idx="1">
                  <c:v>0.88087954550890868</c:v>
                </c:pt>
                <c:pt idx="2">
                  <c:v>0.87411531908771967</c:v>
                </c:pt>
                <c:pt idx="3">
                  <c:v>0.88415619154695946</c:v>
                </c:pt>
                <c:pt idx="4">
                  <c:v>0.88568884270736647</c:v>
                </c:pt>
              </c:numCache>
            </c:numRef>
          </c:val>
          <c:smooth val="0"/>
        </c:ser>
        <c:ser>
          <c:idx val="2"/>
          <c:order val="2"/>
          <c:tx>
            <c:strRef>
              <c:f>Sheet1!$D$1</c:f>
              <c:strCache>
                <c:ptCount val="1"/>
                <c:pt idx="0">
                  <c:v>Comilla</c:v>
                </c:pt>
              </c:strCache>
            </c:strRef>
          </c:tx>
          <c:spPr>
            <a:ln w="28575"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cat>
            <c:strRef>
              <c:f>Sheet1!$A$2:$A$6</c:f>
              <c:strCache>
                <c:ptCount val="5"/>
                <c:pt idx="0">
                  <c:v>FY11-12</c:v>
                </c:pt>
                <c:pt idx="1">
                  <c:v>FY12-13</c:v>
                </c:pt>
                <c:pt idx="2">
                  <c:v>FY13-14</c:v>
                </c:pt>
                <c:pt idx="3">
                  <c:v>FY14-15</c:v>
                </c:pt>
                <c:pt idx="4">
                  <c:v>FY15-16</c:v>
                </c:pt>
              </c:strCache>
            </c:strRef>
          </c:cat>
          <c:val>
            <c:numRef>
              <c:f>Sheet1!$D$2:$D$6</c:f>
              <c:numCache>
                <c:formatCode>0%</c:formatCode>
                <c:ptCount val="5"/>
                <c:pt idx="0">
                  <c:v>0.86642240857344976</c:v>
                </c:pt>
                <c:pt idx="1">
                  <c:v>0.86072062380852699</c:v>
                </c:pt>
                <c:pt idx="2">
                  <c:v>0.85981917958639342</c:v>
                </c:pt>
                <c:pt idx="3">
                  <c:v>0.87320142628756181</c:v>
                </c:pt>
                <c:pt idx="4">
                  <c:v>0.84768523166544907</c:v>
                </c:pt>
              </c:numCache>
            </c:numRef>
          </c:val>
          <c:smooth val="0"/>
        </c:ser>
        <c:ser>
          <c:idx val="3"/>
          <c:order val="3"/>
          <c:tx>
            <c:strRef>
              <c:f>Sheet1!$E$1</c:f>
              <c:strCache>
                <c:ptCount val="1"/>
                <c:pt idx="0">
                  <c:v>Sylhet</c:v>
                </c:pt>
              </c:strCache>
            </c:strRef>
          </c:tx>
          <c:spPr>
            <a:ln w="28575" cap="rnd">
              <a:solidFill>
                <a:schemeClr val="accent3">
                  <a:lumMod val="40000"/>
                  <a:lumOff val="60000"/>
                </a:schemeClr>
              </a:solidFill>
              <a:round/>
            </a:ln>
            <a:effectLst/>
          </c:spPr>
          <c:marker>
            <c:symbol val="circle"/>
            <c:size val="5"/>
            <c:spPr>
              <a:solidFill>
                <a:schemeClr val="accent3">
                  <a:lumMod val="60000"/>
                  <a:lumOff val="40000"/>
                </a:schemeClr>
              </a:solidFill>
              <a:ln w="9525">
                <a:solidFill>
                  <a:schemeClr val="accent4"/>
                </a:solidFill>
              </a:ln>
              <a:effectLst/>
            </c:spPr>
          </c:marker>
          <c:cat>
            <c:strRef>
              <c:f>Sheet1!$A$2:$A$6</c:f>
              <c:strCache>
                <c:ptCount val="5"/>
                <c:pt idx="0">
                  <c:v>FY11-12</c:v>
                </c:pt>
                <c:pt idx="1">
                  <c:v>FY12-13</c:v>
                </c:pt>
                <c:pt idx="2">
                  <c:v>FY13-14</c:v>
                </c:pt>
                <c:pt idx="3">
                  <c:v>FY14-15</c:v>
                </c:pt>
                <c:pt idx="4">
                  <c:v>FY15-16</c:v>
                </c:pt>
              </c:strCache>
            </c:strRef>
          </c:cat>
          <c:val>
            <c:numRef>
              <c:f>Sheet1!$E$2:$E$6</c:f>
              <c:numCache>
                <c:formatCode>0%</c:formatCode>
                <c:ptCount val="5"/>
                <c:pt idx="0">
                  <c:v>0.76034961242032728</c:v>
                </c:pt>
                <c:pt idx="1">
                  <c:v>0.77101848850003341</c:v>
                </c:pt>
                <c:pt idx="2">
                  <c:v>0.78294406018844853</c:v>
                </c:pt>
                <c:pt idx="3">
                  <c:v>0.80923973357208401</c:v>
                </c:pt>
                <c:pt idx="4">
                  <c:v>0.82293062861342359</c:v>
                </c:pt>
              </c:numCache>
            </c:numRef>
          </c:val>
          <c:smooth val="0"/>
        </c:ser>
        <c:ser>
          <c:idx val="4"/>
          <c:order val="4"/>
          <c:tx>
            <c:strRef>
              <c:f>Sheet1!$F$1</c:f>
              <c:strCache>
                <c:ptCount val="1"/>
                <c:pt idx="0">
                  <c:v>Rangpur</c:v>
                </c:pt>
              </c:strCache>
            </c:strRef>
          </c:tx>
          <c:spPr>
            <a:ln w="28575" cap="rnd">
              <a:solidFill>
                <a:schemeClr val="accent3">
                  <a:lumMod val="75000"/>
                </a:schemeClr>
              </a:solidFill>
              <a:round/>
            </a:ln>
            <a:effectLst/>
          </c:spPr>
          <c:marker>
            <c:symbol val="circle"/>
            <c:size val="5"/>
            <c:spPr>
              <a:solidFill>
                <a:schemeClr val="accent3">
                  <a:lumMod val="75000"/>
                </a:schemeClr>
              </a:solidFill>
              <a:ln w="9525">
                <a:solidFill>
                  <a:schemeClr val="accent5"/>
                </a:solidFill>
              </a:ln>
              <a:effectLst/>
            </c:spPr>
          </c:marker>
          <c:cat>
            <c:strRef>
              <c:f>Sheet1!$A$2:$A$6</c:f>
              <c:strCache>
                <c:ptCount val="5"/>
                <c:pt idx="0">
                  <c:v>FY11-12</c:v>
                </c:pt>
                <c:pt idx="1">
                  <c:v>FY12-13</c:v>
                </c:pt>
                <c:pt idx="2">
                  <c:v>FY13-14</c:v>
                </c:pt>
                <c:pt idx="3">
                  <c:v>FY14-15</c:v>
                </c:pt>
                <c:pt idx="4">
                  <c:v>FY15-16</c:v>
                </c:pt>
              </c:strCache>
            </c:strRef>
          </c:cat>
          <c:val>
            <c:numRef>
              <c:f>Sheet1!$F$2:$F$6</c:f>
              <c:numCache>
                <c:formatCode>0%</c:formatCode>
                <c:ptCount val="5"/>
                <c:pt idx="0">
                  <c:v>0.79715038575776875</c:v>
                </c:pt>
                <c:pt idx="1">
                  <c:v>0.79289805360337851</c:v>
                </c:pt>
                <c:pt idx="2">
                  <c:v>0.78228438600588812</c:v>
                </c:pt>
                <c:pt idx="3">
                  <c:v>0.81476775229573917</c:v>
                </c:pt>
                <c:pt idx="4">
                  <c:v>0.8028213854368409</c:v>
                </c:pt>
              </c:numCache>
            </c:numRef>
          </c:val>
          <c:smooth val="0"/>
        </c:ser>
        <c:ser>
          <c:idx val="5"/>
          <c:order val="5"/>
          <c:tx>
            <c:strRef>
              <c:f>Sheet1!$G$1</c:f>
              <c:strCache>
                <c:ptCount val="1"/>
                <c:pt idx="0">
                  <c:v>Rajshahi</c:v>
                </c:pt>
              </c:strCache>
            </c:strRef>
          </c:tx>
          <c:spPr>
            <a:ln w="28575" cap="rnd">
              <a:solidFill>
                <a:schemeClr val="accent4">
                  <a:lumMod val="60000"/>
                  <a:lumOff val="40000"/>
                </a:schemeClr>
              </a:solidFill>
              <a:round/>
            </a:ln>
            <a:effectLst/>
          </c:spPr>
          <c:marker>
            <c:symbol val="circle"/>
            <c:size val="5"/>
            <c:spPr>
              <a:solidFill>
                <a:schemeClr val="accent4">
                  <a:lumMod val="60000"/>
                  <a:lumOff val="40000"/>
                </a:schemeClr>
              </a:solidFill>
              <a:ln w="9525">
                <a:solidFill>
                  <a:schemeClr val="accent6"/>
                </a:solidFill>
              </a:ln>
              <a:effectLst/>
            </c:spPr>
          </c:marker>
          <c:cat>
            <c:strRef>
              <c:f>Sheet1!$A$2:$A$6</c:f>
              <c:strCache>
                <c:ptCount val="5"/>
                <c:pt idx="0">
                  <c:v>FY11-12</c:v>
                </c:pt>
                <c:pt idx="1">
                  <c:v>FY12-13</c:v>
                </c:pt>
                <c:pt idx="2">
                  <c:v>FY13-14</c:v>
                </c:pt>
                <c:pt idx="3">
                  <c:v>FY14-15</c:v>
                </c:pt>
                <c:pt idx="4">
                  <c:v>FY15-16</c:v>
                </c:pt>
              </c:strCache>
            </c:strRef>
          </c:cat>
          <c:val>
            <c:numRef>
              <c:f>Sheet1!$G$2:$G$6</c:f>
              <c:numCache>
                <c:formatCode>0%</c:formatCode>
                <c:ptCount val="5"/>
                <c:pt idx="0">
                  <c:v>0.8195340008960017</c:v>
                </c:pt>
                <c:pt idx="1">
                  <c:v>0.8297436013984314</c:v>
                </c:pt>
                <c:pt idx="2">
                  <c:v>0.83605082110222295</c:v>
                </c:pt>
                <c:pt idx="3">
                  <c:v>0.84760440012211524</c:v>
                </c:pt>
                <c:pt idx="4">
                  <c:v>0.86522935397558576</c:v>
                </c:pt>
              </c:numCache>
            </c:numRef>
          </c:val>
          <c:smooth val="0"/>
        </c:ser>
        <c:dLbls>
          <c:showLegendKey val="0"/>
          <c:showVal val="0"/>
          <c:showCatName val="0"/>
          <c:showSerName val="0"/>
          <c:showPercent val="0"/>
          <c:showBubbleSize val="0"/>
        </c:dLbls>
        <c:marker val="1"/>
        <c:smooth val="0"/>
        <c:axId val="694694488"/>
        <c:axId val="694699584"/>
      </c:lineChart>
      <c:catAx>
        <c:axId val="694694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699584"/>
        <c:crosses val="autoZero"/>
        <c:auto val="1"/>
        <c:lblAlgn val="ctr"/>
        <c:lblOffset val="100"/>
        <c:noMultiLvlLbl val="0"/>
      </c:catAx>
      <c:valAx>
        <c:axId val="694699584"/>
        <c:scaling>
          <c:orientation val="minMax"/>
          <c:min val="0.7500000000000001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694694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400">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345351982855445E-2"/>
          <c:y val="3.2816083170929579E-2"/>
          <c:w val="0.88504971891415352"/>
          <c:h val="0.58417146232020789"/>
        </c:manualLayout>
      </c:layout>
      <c:barChart>
        <c:barDir val="col"/>
        <c:grouping val="percentStacked"/>
        <c:varyColors val="0"/>
        <c:ser>
          <c:idx val="0"/>
          <c:order val="0"/>
          <c:tx>
            <c:strRef>
              <c:f>Sheet1!$B$1</c:f>
              <c:strCache>
                <c:ptCount val="1"/>
                <c:pt idx="0">
                  <c:v>Nuclear</c:v>
                </c:pt>
              </c:strCache>
            </c:strRef>
          </c:tx>
          <c:spPr>
            <a:solidFill>
              <a:schemeClr val="accent1"/>
            </a:solidFill>
            <a:ln>
              <a:noFill/>
            </a:ln>
            <a:effectLst/>
          </c:spPr>
          <c:invertIfNegative val="0"/>
          <c:cat>
            <c:strRef>
              <c:f>Sheet1!$A$2:$A$6</c:f>
              <c:strCache>
                <c:ptCount val="5"/>
                <c:pt idx="0">
                  <c:v>2015-16</c:v>
                </c:pt>
                <c:pt idx="2">
                  <c:v>2041
(No RE)</c:v>
                </c:pt>
                <c:pt idx="3">
                  <c:v>2041
(10% RE)</c:v>
                </c:pt>
                <c:pt idx="4">
                  <c:v>2041
(20% RE)</c:v>
                </c:pt>
              </c:strCache>
            </c:strRef>
          </c:cat>
          <c:val>
            <c:numRef>
              <c:f>Sheet1!$B$2:$B$6</c:f>
              <c:numCache>
                <c:formatCode>General</c:formatCode>
                <c:ptCount val="5"/>
                <c:pt idx="0" formatCode="0%">
                  <c:v>0</c:v>
                </c:pt>
                <c:pt idx="2" formatCode="0%">
                  <c:v>0.1</c:v>
                </c:pt>
                <c:pt idx="3" formatCode="0%">
                  <c:v>0.1</c:v>
                </c:pt>
                <c:pt idx="4" formatCode="0%">
                  <c:v>0.1</c:v>
                </c:pt>
              </c:numCache>
            </c:numRef>
          </c:val>
        </c:ser>
        <c:ser>
          <c:idx val="1"/>
          <c:order val="1"/>
          <c:tx>
            <c:strRef>
              <c:f>Sheet1!$C$1</c:f>
              <c:strCache>
                <c:ptCount val="1"/>
                <c:pt idx="0">
                  <c:v>Oil / Hydro / Others</c:v>
                </c:pt>
              </c:strCache>
            </c:strRef>
          </c:tx>
          <c:spPr>
            <a:solidFill>
              <a:srgbClr val="0097A9"/>
            </a:solidFill>
            <a:ln>
              <a:noFill/>
            </a:ln>
            <a:effectLst/>
          </c:spPr>
          <c:invertIfNegative val="0"/>
          <c:cat>
            <c:strRef>
              <c:f>Sheet1!$A$2:$A$6</c:f>
              <c:strCache>
                <c:ptCount val="5"/>
                <c:pt idx="0">
                  <c:v>2015-16</c:v>
                </c:pt>
                <c:pt idx="2">
                  <c:v>2041
(No RE)</c:v>
                </c:pt>
                <c:pt idx="3">
                  <c:v>2041
(10% RE)</c:v>
                </c:pt>
                <c:pt idx="4">
                  <c:v>2041
(20% RE)</c:v>
                </c:pt>
              </c:strCache>
            </c:strRef>
          </c:cat>
          <c:val>
            <c:numRef>
              <c:f>Sheet1!$C$2:$C$6</c:f>
              <c:numCache>
                <c:formatCode>General</c:formatCode>
                <c:ptCount val="5"/>
                <c:pt idx="0" formatCode="0%">
                  <c:v>0.31430000000000002</c:v>
                </c:pt>
                <c:pt idx="2" formatCode="0%">
                  <c:v>0.05</c:v>
                </c:pt>
                <c:pt idx="3" formatCode="0%">
                  <c:v>0.05</c:v>
                </c:pt>
                <c:pt idx="4" formatCode="0%">
                  <c:v>0.05</c:v>
                </c:pt>
              </c:numCache>
            </c:numRef>
          </c:val>
        </c:ser>
        <c:ser>
          <c:idx val="2"/>
          <c:order val="2"/>
          <c:tx>
            <c:strRef>
              <c:f>Sheet1!$D$1</c:f>
              <c:strCache>
                <c:ptCount val="1"/>
                <c:pt idx="0">
                  <c:v>Import</c:v>
                </c:pt>
              </c:strCache>
            </c:strRef>
          </c:tx>
          <c:spPr>
            <a:solidFill>
              <a:schemeClr val="accent3"/>
            </a:solidFill>
            <a:ln>
              <a:noFill/>
            </a:ln>
            <a:effectLst/>
          </c:spPr>
          <c:invertIfNegative val="0"/>
          <c:cat>
            <c:strRef>
              <c:f>Sheet1!$A$2:$A$6</c:f>
              <c:strCache>
                <c:ptCount val="5"/>
                <c:pt idx="0">
                  <c:v>2015-16</c:v>
                </c:pt>
                <c:pt idx="2">
                  <c:v>2041
(No RE)</c:v>
                </c:pt>
                <c:pt idx="3">
                  <c:v>2041
(10% RE)</c:v>
                </c:pt>
                <c:pt idx="4">
                  <c:v>2041
(20% RE)</c:v>
                </c:pt>
              </c:strCache>
            </c:strRef>
          </c:cat>
          <c:val>
            <c:numRef>
              <c:f>Sheet1!$D$2:$D$6</c:f>
              <c:numCache>
                <c:formatCode>General</c:formatCode>
                <c:ptCount val="5"/>
                <c:pt idx="0" formatCode="0%">
                  <c:v>4.8500000000000001E-2</c:v>
                </c:pt>
                <c:pt idx="2" formatCode="0%">
                  <c:v>0.15</c:v>
                </c:pt>
                <c:pt idx="3" formatCode="0%">
                  <c:v>0.15</c:v>
                </c:pt>
                <c:pt idx="4" formatCode="0%">
                  <c:v>0.15</c:v>
                </c:pt>
              </c:numCache>
            </c:numRef>
          </c:val>
        </c:ser>
        <c:ser>
          <c:idx val="3"/>
          <c:order val="3"/>
          <c:tx>
            <c:strRef>
              <c:f>Sheet1!$E$1</c:f>
              <c:strCache>
                <c:ptCount val="1"/>
                <c:pt idx="0">
                  <c:v>RE</c:v>
                </c:pt>
              </c:strCache>
            </c:strRef>
          </c:tx>
          <c:spPr>
            <a:solidFill>
              <a:srgbClr val="00B050"/>
            </a:solidFill>
            <a:ln>
              <a:noFill/>
            </a:ln>
            <a:effectLst/>
          </c:spPr>
          <c:invertIfNegative val="0"/>
          <c:cat>
            <c:strRef>
              <c:f>Sheet1!$A$2:$A$6</c:f>
              <c:strCache>
                <c:ptCount val="5"/>
                <c:pt idx="0">
                  <c:v>2015-16</c:v>
                </c:pt>
                <c:pt idx="2">
                  <c:v>2041
(No RE)</c:v>
                </c:pt>
                <c:pt idx="3">
                  <c:v>2041
(10% RE)</c:v>
                </c:pt>
                <c:pt idx="4">
                  <c:v>2041
(20% RE)</c:v>
                </c:pt>
              </c:strCache>
            </c:strRef>
          </c:cat>
          <c:val>
            <c:numRef>
              <c:f>Sheet1!$E$2:$E$6</c:f>
              <c:numCache>
                <c:formatCode>General</c:formatCode>
                <c:ptCount val="5"/>
                <c:pt idx="0" formatCode="0%">
                  <c:v>0</c:v>
                </c:pt>
                <c:pt idx="2" formatCode="0%">
                  <c:v>0</c:v>
                </c:pt>
                <c:pt idx="3" formatCode="0%">
                  <c:v>0.1</c:v>
                </c:pt>
                <c:pt idx="4" formatCode="0%">
                  <c:v>0.2</c:v>
                </c:pt>
              </c:numCache>
            </c:numRef>
          </c:val>
        </c:ser>
        <c:ser>
          <c:idx val="4"/>
          <c:order val="4"/>
          <c:tx>
            <c:strRef>
              <c:f>Sheet1!$F$1</c:f>
              <c:strCache>
                <c:ptCount val="1"/>
                <c:pt idx="0">
                  <c:v>Coal</c:v>
                </c:pt>
              </c:strCache>
            </c:strRef>
          </c:tx>
          <c:spPr>
            <a:solidFill>
              <a:srgbClr val="041E42"/>
            </a:solidFill>
            <a:ln>
              <a:noFill/>
            </a:ln>
            <a:effectLst/>
          </c:spPr>
          <c:invertIfNegative val="0"/>
          <c:cat>
            <c:strRef>
              <c:f>Sheet1!$A$2:$A$6</c:f>
              <c:strCache>
                <c:ptCount val="5"/>
                <c:pt idx="0">
                  <c:v>2015-16</c:v>
                </c:pt>
                <c:pt idx="2">
                  <c:v>2041
(No RE)</c:v>
                </c:pt>
                <c:pt idx="3">
                  <c:v>2041
(10% RE)</c:v>
                </c:pt>
                <c:pt idx="4">
                  <c:v>2041
(20% RE)</c:v>
                </c:pt>
              </c:strCache>
            </c:strRef>
          </c:cat>
          <c:val>
            <c:numRef>
              <c:f>Sheet1!$F$2:$F$6</c:f>
              <c:numCache>
                <c:formatCode>General</c:formatCode>
                <c:ptCount val="5"/>
                <c:pt idx="0" formatCode="0%">
                  <c:v>2.0199999999999999E-2</c:v>
                </c:pt>
                <c:pt idx="2" formatCode="0%">
                  <c:v>0.35</c:v>
                </c:pt>
                <c:pt idx="3" formatCode="0%">
                  <c:v>0.25</c:v>
                </c:pt>
                <c:pt idx="4" formatCode="0%">
                  <c:v>0.25</c:v>
                </c:pt>
              </c:numCache>
            </c:numRef>
          </c:val>
        </c:ser>
        <c:ser>
          <c:idx val="5"/>
          <c:order val="5"/>
          <c:tx>
            <c:strRef>
              <c:f>Sheet1!$G$1</c:f>
              <c:strCache>
                <c:ptCount val="1"/>
                <c:pt idx="0">
                  <c:v>Gas</c:v>
                </c:pt>
              </c:strCache>
            </c:strRef>
          </c:tx>
          <c:spPr>
            <a:solidFill>
              <a:srgbClr val="ED8B00"/>
            </a:solidFill>
            <a:ln>
              <a:noFill/>
            </a:ln>
            <a:effectLst/>
          </c:spPr>
          <c:invertIfNegative val="0"/>
          <c:cat>
            <c:strRef>
              <c:f>Sheet1!$A$2:$A$6</c:f>
              <c:strCache>
                <c:ptCount val="5"/>
                <c:pt idx="0">
                  <c:v>2015-16</c:v>
                </c:pt>
                <c:pt idx="2">
                  <c:v>2041
(No RE)</c:v>
                </c:pt>
                <c:pt idx="3">
                  <c:v>2041
(10% RE)</c:v>
                </c:pt>
                <c:pt idx="4">
                  <c:v>2041
(20% RE)</c:v>
                </c:pt>
              </c:strCache>
            </c:strRef>
          </c:cat>
          <c:val>
            <c:numRef>
              <c:f>Sheet1!$G$2:$G$6</c:f>
              <c:numCache>
                <c:formatCode>General</c:formatCode>
                <c:ptCount val="5"/>
                <c:pt idx="0" formatCode="0%">
                  <c:v>0.6169</c:v>
                </c:pt>
                <c:pt idx="2" formatCode="0%">
                  <c:v>0.35</c:v>
                </c:pt>
                <c:pt idx="3" formatCode="0%">
                  <c:v>0.35</c:v>
                </c:pt>
                <c:pt idx="4" formatCode="0%">
                  <c:v>0.25</c:v>
                </c:pt>
              </c:numCache>
            </c:numRef>
          </c:val>
        </c:ser>
        <c:dLbls>
          <c:showLegendKey val="0"/>
          <c:showVal val="0"/>
          <c:showCatName val="0"/>
          <c:showSerName val="0"/>
          <c:showPercent val="0"/>
          <c:showBubbleSize val="0"/>
        </c:dLbls>
        <c:gapWidth val="150"/>
        <c:overlap val="100"/>
        <c:axId val="487133584"/>
        <c:axId val="487131232"/>
      </c:barChart>
      <c:catAx>
        <c:axId val="487133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87131232"/>
        <c:crosses val="autoZero"/>
        <c:auto val="1"/>
        <c:lblAlgn val="ctr"/>
        <c:lblOffset val="100"/>
        <c:noMultiLvlLbl val="0"/>
      </c:catAx>
      <c:valAx>
        <c:axId val="4871312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87133584"/>
        <c:crosses val="autoZero"/>
        <c:crossBetween val="between"/>
      </c:valAx>
      <c:spPr>
        <a:noFill/>
        <a:ln>
          <a:noFill/>
        </a:ln>
        <a:effectLst/>
      </c:spPr>
    </c:plotArea>
    <c:legend>
      <c:legendPos val="b"/>
      <c:layout>
        <c:manualLayout>
          <c:xMode val="edge"/>
          <c:yMode val="edge"/>
          <c:x val="0"/>
          <c:y val="0.87780626760106906"/>
          <c:w val="0.99052480770312723"/>
          <c:h val="0.12067112740472913"/>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ysClr val="windowText" lastClr="000000"/>
                </a:solidFill>
                <a:latin typeface="+mj-lt"/>
                <a:ea typeface="+mn-ea"/>
                <a:cs typeface="+mn-cs"/>
              </a:defRPr>
            </a:pPr>
            <a:r>
              <a:rPr lang="en-IN" sz="1200" b="1" dirty="0" smtClean="0"/>
              <a:t>Holding Company Net Worth</a:t>
            </a:r>
            <a:r>
              <a:rPr lang="en-IN" sz="1200" b="1" baseline="0" dirty="0" smtClean="0"/>
              <a:t> – Pre and Post Conversion of  Loan to Reserve</a:t>
            </a:r>
            <a:endParaRPr lang="en-IN" sz="1200" b="1" dirty="0"/>
          </a:p>
        </c:rich>
      </c:tx>
      <c:overlay val="0"/>
      <c:spPr>
        <a:solidFill>
          <a:schemeClr val="bg1"/>
        </a:solidFill>
        <a:ln>
          <a:noFill/>
        </a:ln>
        <a:effectLst/>
      </c:spPr>
      <c:txPr>
        <a:bodyPr rot="0" spcFirstLastPara="1" vertOverflow="ellipsis" vert="horz" wrap="square" anchor="ctr" anchorCtr="1"/>
        <a:lstStyle/>
        <a:p>
          <a:pPr>
            <a:defRPr sz="1200" b="1" i="0" u="none" strike="noStrike" kern="1200" spc="0" baseline="0">
              <a:solidFill>
                <a:sysClr val="windowText" lastClr="000000"/>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Holding company net worth (Mn Taka) - without conversion of loan to reserve</c:v>
                </c:pt>
              </c:strCache>
            </c:strRef>
          </c:tx>
          <c:spPr>
            <a:solidFill>
              <a:schemeClr val="accent1"/>
            </a:solidFill>
            <a:ln>
              <a:noFill/>
            </a:ln>
            <a:effectLst/>
          </c:spPr>
          <c:invertIfNegative val="0"/>
          <c:cat>
            <c:strRef>
              <c:f>Sheet1!$A$2:$A$5</c:f>
              <c:strCache>
                <c:ptCount val="4"/>
                <c:pt idx="0">
                  <c:v>FY17-18</c:v>
                </c:pt>
                <c:pt idx="1">
                  <c:v>FY18-19</c:v>
                </c:pt>
                <c:pt idx="2">
                  <c:v>FY19-20</c:v>
                </c:pt>
                <c:pt idx="3">
                  <c:v>FY20-21</c:v>
                </c:pt>
              </c:strCache>
            </c:strRef>
          </c:cat>
          <c:val>
            <c:numRef>
              <c:f>Sheet1!$B$2:$B$5</c:f>
              <c:numCache>
                <c:formatCode>0</c:formatCode>
                <c:ptCount val="4"/>
                <c:pt idx="0">
                  <c:v>-130827.11019603351</c:v>
                </c:pt>
                <c:pt idx="1">
                  <c:v>-118849.56158840423</c:v>
                </c:pt>
                <c:pt idx="2">
                  <c:v>-101063.33555420217</c:v>
                </c:pt>
                <c:pt idx="3">
                  <c:v>-89132.246160718103</c:v>
                </c:pt>
              </c:numCache>
            </c:numRef>
          </c:val>
        </c:ser>
        <c:ser>
          <c:idx val="1"/>
          <c:order val="1"/>
          <c:tx>
            <c:strRef>
              <c:f>Sheet1!$C$1</c:f>
              <c:strCache>
                <c:ptCount val="1"/>
                <c:pt idx="0">
                  <c:v>Holding company net worth (Mn Taka) - after conversion of loan to reserve</c:v>
                </c:pt>
              </c:strCache>
            </c:strRef>
          </c:tx>
          <c:spPr>
            <a:solidFill>
              <a:schemeClr val="accent2"/>
            </a:solidFill>
            <a:ln>
              <a:noFill/>
            </a:ln>
            <a:effectLst/>
          </c:spPr>
          <c:invertIfNegative val="0"/>
          <c:cat>
            <c:strRef>
              <c:f>Sheet1!$A$2:$A$5</c:f>
              <c:strCache>
                <c:ptCount val="4"/>
                <c:pt idx="0">
                  <c:v>FY17-18</c:v>
                </c:pt>
                <c:pt idx="1">
                  <c:v>FY18-19</c:v>
                </c:pt>
                <c:pt idx="2">
                  <c:v>FY19-20</c:v>
                </c:pt>
                <c:pt idx="3">
                  <c:v>FY20-21</c:v>
                </c:pt>
              </c:strCache>
            </c:strRef>
          </c:cat>
          <c:val>
            <c:numRef>
              <c:f>Sheet1!$C$2:$C$5</c:f>
              <c:numCache>
                <c:formatCode>0</c:formatCode>
                <c:ptCount val="4"/>
                <c:pt idx="0">
                  <c:v>349406.97123729653</c:v>
                </c:pt>
                <c:pt idx="1">
                  <c:v>361384.51984492579</c:v>
                </c:pt>
                <c:pt idx="2">
                  <c:v>379170.74587912782</c:v>
                </c:pt>
                <c:pt idx="3">
                  <c:v>391101.83527261193</c:v>
                </c:pt>
              </c:numCache>
            </c:numRef>
          </c:val>
        </c:ser>
        <c:dLbls>
          <c:showLegendKey val="0"/>
          <c:showVal val="0"/>
          <c:showCatName val="0"/>
          <c:showSerName val="0"/>
          <c:showPercent val="0"/>
          <c:showBubbleSize val="0"/>
        </c:dLbls>
        <c:gapWidth val="219"/>
        <c:overlap val="-27"/>
        <c:axId val="694695664"/>
        <c:axId val="694696448"/>
      </c:barChart>
      <c:catAx>
        <c:axId val="69469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crossAx val="694696448"/>
        <c:crosses val="autoZero"/>
        <c:auto val="1"/>
        <c:lblAlgn val="ctr"/>
        <c:lblOffset val="100"/>
        <c:noMultiLvlLbl val="0"/>
      </c:catAx>
      <c:valAx>
        <c:axId val="694696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crossAx val="694695664"/>
        <c:crosses val="autoZero"/>
        <c:crossBetween val="between"/>
      </c:valAx>
      <c:spPr>
        <a:noFill/>
        <a:ln>
          <a:noFill/>
        </a:ln>
        <a:effectLst/>
      </c:spPr>
    </c:plotArea>
    <c:legend>
      <c:legendPos val="b"/>
      <c:layout>
        <c:manualLayout>
          <c:xMode val="edge"/>
          <c:yMode val="edge"/>
          <c:x val="1.3947343249930038E-2"/>
          <c:y val="0.75727917853400628"/>
          <c:w val="0.98605265675006981"/>
          <c:h val="0.20883107965067771"/>
        </c:manualLayout>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legend>
    <c:plotVisOnly val="1"/>
    <c:dispBlanksAs val="gap"/>
    <c:showDLblsOverMax val="0"/>
  </c:chart>
  <c:spPr>
    <a:noFill/>
    <a:ln>
      <a:noFill/>
    </a:ln>
    <a:effectLst/>
  </c:spPr>
  <c:txPr>
    <a:bodyPr/>
    <a:lstStyle/>
    <a:p>
      <a:pPr>
        <a:defRPr sz="1100">
          <a:solidFill>
            <a:sysClr val="windowText" lastClr="000000"/>
          </a:solidFill>
          <a:latin typeface="+mj-lt"/>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ysClr val="windowText" lastClr="000000"/>
                </a:solidFill>
                <a:latin typeface="+mj-lt"/>
                <a:ea typeface="+mn-ea"/>
                <a:cs typeface="+mn-cs"/>
              </a:defRPr>
            </a:pPr>
            <a:r>
              <a:rPr lang="en-IN" sz="1200" b="1" i="0" baseline="0" dirty="0" smtClean="0">
                <a:effectLst/>
              </a:rPr>
              <a:t>Holding Company Liabilities – Pre and Post Conversion of  Loan to Reserve</a:t>
            </a:r>
            <a:endParaRPr lang="en-IN" sz="1200" b="1" dirty="0">
              <a:effectLst/>
            </a:endParaRPr>
          </a:p>
        </c:rich>
      </c:tx>
      <c:overlay val="0"/>
      <c:spPr>
        <a:solidFill>
          <a:schemeClr val="bg1"/>
        </a:solidFill>
        <a:ln>
          <a:noFill/>
        </a:ln>
        <a:effectLst/>
      </c:spPr>
      <c:txPr>
        <a:bodyPr rot="0" spcFirstLastPara="1" vertOverflow="ellipsis" vert="horz" wrap="square" anchor="ctr" anchorCtr="1"/>
        <a:lstStyle/>
        <a:p>
          <a:pPr>
            <a:defRPr sz="1200" b="1" i="0" u="none" strike="noStrike" kern="1200" spc="0" baseline="0">
              <a:solidFill>
                <a:sysClr val="windowText" lastClr="000000"/>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Holding company liabilities (Mn Taka) - without conversion of loan to reserve</c:v>
                </c:pt>
              </c:strCache>
            </c:strRef>
          </c:tx>
          <c:spPr>
            <a:solidFill>
              <a:schemeClr val="accent1"/>
            </a:solidFill>
            <a:ln>
              <a:noFill/>
            </a:ln>
            <a:effectLst/>
          </c:spPr>
          <c:invertIfNegative val="0"/>
          <c:cat>
            <c:strRef>
              <c:f>Sheet1!$A$2:$A$5</c:f>
              <c:strCache>
                <c:ptCount val="4"/>
                <c:pt idx="0">
                  <c:v>FY17-18</c:v>
                </c:pt>
                <c:pt idx="1">
                  <c:v>FY18-19</c:v>
                </c:pt>
                <c:pt idx="2">
                  <c:v>FY19-20</c:v>
                </c:pt>
                <c:pt idx="3">
                  <c:v>FY20-21</c:v>
                </c:pt>
              </c:strCache>
            </c:strRef>
          </c:cat>
          <c:val>
            <c:numRef>
              <c:f>Sheet1!$B$2:$B$5</c:f>
              <c:numCache>
                <c:formatCode>0</c:formatCode>
                <c:ptCount val="4"/>
                <c:pt idx="0">
                  <c:v>1029275.3097939832</c:v>
                </c:pt>
                <c:pt idx="1">
                  <c:v>1168494.9303445346</c:v>
                </c:pt>
                <c:pt idx="2">
                  <c:v>1299385.2799228283</c:v>
                </c:pt>
                <c:pt idx="3">
                  <c:v>1399779.2534989724</c:v>
                </c:pt>
              </c:numCache>
            </c:numRef>
          </c:val>
        </c:ser>
        <c:ser>
          <c:idx val="1"/>
          <c:order val="1"/>
          <c:tx>
            <c:strRef>
              <c:f>Sheet1!$C$1</c:f>
              <c:strCache>
                <c:ptCount val="1"/>
                <c:pt idx="0">
                  <c:v>Holding company liabilities (Mn Taka) - after conversion of loan to reserve</c:v>
                </c:pt>
              </c:strCache>
            </c:strRef>
          </c:tx>
          <c:spPr>
            <a:solidFill>
              <a:schemeClr val="accent3"/>
            </a:solidFill>
            <a:ln>
              <a:noFill/>
            </a:ln>
            <a:effectLst/>
          </c:spPr>
          <c:invertIfNegative val="0"/>
          <c:cat>
            <c:strRef>
              <c:f>Sheet1!$A$2:$A$5</c:f>
              <c:strCache>
                <c:ptCount val="4"/>
                <c:pt idx="0">
                  <c:v>FY17-18</c:v>
                </c:pt>
                <c:pt idx="1">
                  <c:v>FY18-19</c:v>
                </c:pt>
                <c:pt idx="2">
                  <c:v>FY19-20</c:v>
                </c:pt>
                <c:pt idx="3">
                  <c:v>FY20-21</c:v>
                </c:pt>
              </c:strCache>
            </c:strRef>
          </c:cat>
          <c:val>
            <c:numRef>
              <c:f>Sheet1!$C$2:$C$5</c:f>
              <c:numCache>
                <c:formatCode>0</c:formatCode>
                <c:ptCount val="4"/>
                <c:pt idx="0">
                  <c:v>639581.51407998323</c:v>
                </c:pt>
                <c:pt idx="1">
                  <c:v>778801.13463053468</c:v>
                </c:pt>
                <c:pt idx="2">
                  <c:v>909691.48420882842</c:v>
                </c:pt>
                <c:pt idx="3">
                  <c:v>1010085.4577849724</c:v>
                </c:pt>
              </c:numCache>
            </c:numRef>
          </c:val>
        </c:ser>
        <c:dLbls>
          <c:showLegendKey val="0"/>
          <c:showVal val="0"/>
          <c:showCatName val="0"/>
          <c:showSerName val="0"/>
          <c:showPercent val="0"/>
          <c:showBubbleSize val="0"/>
        </c:dLbls>
        <c:gapWidth val="219"/>
        <c:overlap val="-27"/>
        <c:axId val="916185280"/>
        <c:axId val="916187240"/>
      </c:barChart>
      <c:catAx>
        <c:axId val="916185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crossAx val="916187240"/>
        <c:crosses val="autoZero"/>
        <c:auto val="1"/>
        <c:lblAlgn val="ctr"/>
        <c:lblOffset val="100"/>
        <c:noMultiLvlLbl val="0"/>
      </c:catAx>
      <c:valAx>
        <c:axId val="9161872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crossAx val="916185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j-lt"/>
              <a:ea typeface="+mn-ea"/>
              <a:cs typeface="+mn-cs"/>
            </a:defRPr>
          </a:pPr>
          <a:endParaRPr lang="en-US"/>
        </a:p>
      </c:txPr>
    </c:legend>
    <c:plotVisOnly val="1"/>
    <c:dispBlanksAs val="gap"/>
    <c:showDLblsOverMax val="0"/>
  </c:chart>
  <c:spPr>
    <a:noFill/>
    <a:ln>
      <a:noFill/>
    </a:ln>
    <a:effectLst/>
  </c:spPr>
  <c:txPr>
    <a:bodyPr/>
    <a:lstStyle/>
    <a:p>
      <a:pPr>
        <a:defRPr sz="1100">
          <a:solidFill>
            <a:sysClr val="windowText" lastClr="000000"/>
          </a:solidFill>
          <a:latin typeface="+mj-lt"/>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Distribution loss reduction</c:v>
                </c:pt>
              </c:strCache>
            </c:strRef>
          </c:tx>
          <c:spPr>
            <a:solidFill>
              <a:schemeClr val="accent1"/>
            </a:solidFill>
            <a:ln>
              <a:noFill/>
            </a:ln>
            <a:effectLst/>
          </c:spPr>
          <c:invertIfNegative val="0"/>
          <c:cat>
            <c:strRef>
              <c:f>Sheet1!$A$2:$A$5</c:f>
              <c:strCache>
                <c:ptCount val="4"/>
                <c:pt idx="0">
                  <c:v>FY 17-18</c:v>
                </c:pt>
                <c:pt idx="1">
                  <c:v>FY 18-19</c:v>
                </c:pt>
                <c:pt idx="2">
                  <c:v>FY 19-20</c:v>
                </c:pt>
                <c:pt idx="3">
                  <c:v>FY 20-21</c:v>
                </c:pt>
              </c:strCache>
            </c:strRef>
          </c:cat>
          <c:val>
            <c:numRef>
              <c:f>Sheet1!$B$2:$B$5</c:f>
              <c:numCache>
                <c:formatCode>0</c:formatCode>
                <c:ptCount val="4"/>
                <c:pt idx="0">
                  <c:v>261.60383913149423</c:v>
                </c:pt>
                <c:pt idx="1">
                  <c:v>582.80310927825485</c:v>
                </c:pt>
                <c:pt idx="2">
                  <c:v>984.65655118804148</c:v>
                </c:pt>
                <c:pt idx="3">
                  <c:v>1491.1452937318809</c:v>
                </c:pt>
              </c:numCache>
            </c:numRef>
          </c:val>
        </c:ser>
        <c:ser>
          <c:idx val="1"/>
          <c:order val="1"/>
          <c:tx>
            <c:strRef>
              <c:f>Sheet1!$C$1</c:f>
              <c:strCache>
                <c:ptCount val="1"/>
                <c:pt idx="0">
                  <c:v>Distribution Collection/Billing Ratio improvement</c:v>
                </c:pt>
              </c:strCache>
            </c:strRef>
          </c:tx>
          <c:spPr>
            <a:solidFill>
              <a:schemeClr val="accent2"/>
            </a:solidFill>
            <a:ln>
              <a:noFill/>
            </a:ln>
            <a:effectLst/>
          </c:spPr>
          <c:invertIfNegative val="0"/>
          <c:cat>
            <c:strRef>
              <c:f>Sheet1!$A$2:$A$5</c:f>
              <c:strCache>
                <c:ptCount val="4"/>
                <c:pt idx="0">
                  <c:v>FY 17-18</c:v>
                </c:pt>
                <c:pt idx="1">
                  <c:v>FY 18-19</c:v>
                </c:pt>
                <c:pt idx="2">
                  <c:v>FY 19-20</c:v>
                </c:pt>
                <c:pt idx="3">
                  <c:v>FY 20-21</c:v>
                </c:pt>
              </c:strCache>
            </c:strRef>
          </c:cat>
          <c:val>
            <c:numRef>
              <c:f>Sheet1!$C$2:$C$5</c:f>
              <c:numCache>
                <c:formatCode>0</c:formatCode>
                <c:ptCount val="4"/>
                <c:pt idx="0">
                  <c:v>866.61044026242132</c:v>
                </c:pt>
                <c:pt idx="1">
                  <c:v>1920.9853942348593</c:v>
                </c:pt>
                <c:pt idx="2">
                  <c:v>3230.9245876521832</c:v>
                </c:pt>
                <c:pt idx="3">
                  <c:v>4873.0287848027801</c:v>
                </c:pt>
              </c:numCache>
            </c:numRef>
          </c:val>
        </c:ser>
        <c:ser>
          <c:idx val="2"/>
          <c:order val="2"/>
          <c:tx>
            <c:strRef>
              <c:f>Sheet1!$D$1</c:f>
              <c:strCache>
                <c:ptCount val="1"/>
                <c:pt idx="0">
                  <c:v>Bulk-Sales Collection/Billing Ratio improvement</c:v>
                </c:pt>
              </c:strCache>
            </c:strRef>
          </c:tx>
          <c:spPr>
            <a:solidFill>
              <a:schemeClr val="accent3"/>
            </a:solidFill>
            <a:ln>
              <a:noFill/>
            </a:ln>
            <a:effectLst/>
          </c:spPr>
          <c:invertIfNegative val="0"/>
          <c:cat>
            <c:strRef>
              <c:f>Sheet1!$A$2:$A$5</c:f>
              <c:strCache>
                <c:ptCount val="4"/>
                <c:pt idx="0">
                  <c:v>FY 17-18</c:v>
                </c:pt>
                <c:pt idx="1">
                  <c:v>FY 18-19</c:v>
                </c:pt>
                <c:pt idx="2">
                  <c:v>FY 19-20</c:v>
                </c:pt>
                <c:pt idx="3">
                  <c:v>FY 20-21</c:v>
                </c:pt>
              </c:strCache>
            </c:strRef>
          </c:cat>
          <c:val>
            <c:numRef>
              <c:f>Sheet1!$D$2:$D$5</c:f>
              <c:numCache>
                <c:formatCode>0</c:formatCode>
                <c:ptCount val="4"/>
                <c:pt idx="0">
                  <c:v>7337.9052305022869</c:v>
                </c:pt>
                <c:pt idx="1">
                  <c:v>16421.425897551326</c:v>
                </c:pt>
                <c:pt idx="2">
                  <c:v>27866.781785880536</c:v>
                </c:pt>
                <c:pt idx="3">
                  <c:v>42382.992760813264</c:v>
                </c:pt>
              </c:numCache>
            </c:numRef>
          </c:val>
        </c:ser>
        <c:ser>
          <c:idx val="3"/>
          <c:order val="3"/>
          <c:tx>
            <c:strRef>
              <c:f>Sheet1!$E$1</c:f>
              <c:strCache>
                <c:ptCount val="1"/>
                <c:pt idx="0">
                  <c:v>Generation efficiency improvement</c:v>
                </c:pt>
              </c:strCache>
            </c:strRef>
          </c:tx>
          <c:spPr>
            <a:solidFill>
              <a:schemeClr val="accent4"/>
            </a:solidFill>
            <a:ln>
              <a:noFill/>
            </a:ln>
            <a:effectLst/>
          </c:spPr>
          <c:invertIfNegative val="0"/>
          <c:cat>
            <c:strRef>
              <c:f>Sheet1!$A$2:$A$5</c:f>
              <c:strCache>
                <c:ptCount val="4"/>
                <c:pt idx="0">
                  <c:v>FY 17-18</c:v>
                </c:pt>
                <c:pt idx="1">
                  <c:v>FY 18-19</c:v>
                </c:pt>
                <c:pt idx="2">
                  <c:v>FY 19-20</c:v>
                </c:pt>
                <c:pt idx="3">
                  <c:v>FY 20-21</c:v>
                </c:pt>
              </c:strCache>
            </c:strRef>
          </c:cat>
          <c:val>
            <c:numRef>
              <c:f>Sheet1!$E$2:$E$5</c:f>
              <c:numCache>
                <c:formatCode>0</c:formatCode>
                <c:ptCount val="4"/>
                <c:pt idx="0">
                  <c:v>2684.3573599816154</c:v>
                </c:pt>
                <c:pt idx="1">
                  <c:v>4688.9924920565982</c:v>
                </c:pt>
                <c:pt idx="2">
                  <c:v>6913.4688244956969</c:v>
                </c:pt>
                <c:pt idx="3">
                  <c:v>9782</c:v>
                </c:pt>
              </c:numCache>
            </c:numRef>
          </c:val>
        </c:ser>
        <c:dLbls>
          <c:showLegendKey val="0"/>
          <c:showVal val="0"/>
          <c:showCatName val="0"/>
          <c:showSerName val="0"/>
          <c:showPercent val="0"/>
          <c:showBubbleSize val="0"/>
        </c:dLbls>
        <c:gapWidth val="219"/>
        <c:overlap val="100"/>
        <c:axId val="916201352"/>
        <c:axId val="916201744"/>
      </c:barChart>
      <c:catAx>
        <c:axId val="9162013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201744"/>
        <c:crosses val="autoZero"/>
        <c:auto val="1"/>
        <c:lblAlgn val="ctr"/>
        <c:lblOffset val="100"/>
        <c:noMultiLvlLbl val="0"/>
      </c:catAx>
      <c:valAx>
        <c:axId val="916201744"/>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2013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Net Profit - without value enablers</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FY17-18</c:v>
                </c:pt>
                <c:pt idx="1">
                  <c:v>FY18-19</c:v>
                </c:pt>
                <c:pt idx="2">
                  <c:v>FY19-20</c:v>
                </c:pt>
                <c:pt idx="3">
                  <c:v>FY20-21</c:v>
                </c:pt>
              </c:strCache>
            </c:strRef>
          </c:cat>
          <c:val>
            <c:numRef>
              <c:f>Sheet1!$B$2:$B$5</c:f>
              <c:numCache>
                <c:formatCode>General</c:formatCode>
                <c:ptCount val="4"/>
                <c:pt idx="0">
                  <c:v>-32429855889.266701</c:v>
                </c:pt>
                <c:pt idx="1">
                  <c:v>-28812266484.046738</c:v>
                </c:pt>
                <c:pt idx="2">
                  <c:v>-22606624326.91407</c:v>
                </c:pt>
                <c:pt idx="3">
                  <c:v>-26304640100.345528</c:v>
                </c:pt>
              </c:numCache>
            </c:numRef>
          </c:val>
        </c:ser>
        <c:ser>
          <c:idx val="1"/>
          <c:order val="1"/>
          <c:tx>
            <c:strRef>
              <c:f>Sheet1!$C$1</c:f>
              <c:strCache>
                <c:ptCount val="1"/>
                <c:pt idx="0">
                  <c:v>Net Profit - with value enablers</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FY17-18</c:v>
                </c:pt>
                <c:pt idx="1">
                  <c:v>FY18-19</c:v>
                </c:pt>
                <c:pt idx="2">
                  <c:v>FY19-20</c:v>
                </c:pt>
                <c:pt idx="3">
                  <c:v>FY20-21</c:v>
                </c:pt>
              </c:strCache>
            </c:strRef>
          </c:cat>
          <c:val>
            <c:numRef>
              <c:f>Sheet1!$C$2:$C$5</c:f>
              <c:numCache>
                <c:formatCode>General</c:formatCode>
                <c:ptCount val="4"/>
                <c:pt idx="0">
                  <c:v>-1609906167.6400013</c:v>
                </c:pt>
                <c:pt idx="1">
                  <c:v>745186321.52432597</c:v>
                </c:pt>
                <c:pt idx="2">
                  <c:v>4972380409.996604</c:v>
                </c:pt>
                <c:pt idx="3">
                  <c:v>5957356861.0048809</c:v>
                </c:pt>
              </c:numCache>
            </c:numRef>
          </c:val>
        </c:ser>
        <c:dLbls>
          <c:dLblPos val="outEnd"/>
          <c:showLegendKey val="0"/>
          <c:showVal val="1"/>
          <c:showCatName val="0"/>
          <c:showSerName val="0"/>
          <c:showPercent val="0"/>
          <c:showBubbleSize val="0"/>
        </c:dLbls>
        <c:gapWidth val="219"/>
        <c:overlap val="-27"/>
        <c:axId val="916193120"/>
        <c:axId val="916195864"/>
      </c:barChart>
      <c:catAx>
        <c:axId val="916193120"/>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195864"/>
        <c:crosses val="autoZero"/>
        <c:auto val="1"/>
        <c:lblAlgn val="ctr"/>
        <c:lblOffset val="100"/>
        <c:noMultiLvlLbl val="0"/>
      </c:catAx>
      <c:valAx>
        <c:axId val="916195864"/>
        <c:scaling>
          <c:orientation val="minMax"/>
        </c:scaling>
        <c:delete val="1"/>
        <c:axPos val="l"/>
        <c:numFmt formatCode="General" sourceLinked="1"/>
        <c:majorTickMark val="out"/>
        <c:minorTickMark val="none"/>
        <c:tickLblPos val="nextTo"/>
        <c:crossAx val="916193120"/>
        <c:crosses val="autoZero"/>
        <c:crossBetween val="between"/>
        <c:dispUnits>
          <c:builtInUnit val="millions"/>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88612D-9786-4E1E-9080-CDD6B3CA1D35}"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DAD32B63-8F54-429E-BCD0-7A097C5CF506}">
      <dgm:prSet phldrT="[Text]" custT="1"/>
      <dgm:spPr>
        <a:xfrm>
          <a:off x="289179" y="177059"/>
          <a:ext cx="4048506" cy="295200"/>
        </a:xfrm>
      </dgm:spPr>
      <dgm:t>
        <a:bodyPr/>
        <a:lstStyle/>
        <a:p>
          <a:r>
            <a:rPr lang="en-US" sz="1400" smtClean="0">
              <a:latin typeface="+mj-lt"/>
              <a:ea typeface="+mn-ea"/>
              <a:cs typeface="+mn-cs"/>
            </a:rPr>
            <a:t>FRRP-support from the Government of Bangladesh</a:t>
          </a:r>
          <a:endParaRPr lang="en-US" sz="1400">
            <a:latin typeface="+mj-lt"/>
            <a:ea typeface="+mn-ea"/>
            <a:cs typeface="+mn-cs"/>
          </a:endParaRPr>
        </a:p>
      </dgm:t>
    </dgm:pt>
    <dgm:pt modelId="{3C6B63CD-D8C5-46FB-9795-167F6F64B838}" type="parTrans" cxnId="{26D353D4-C09F-416C-AB9B-67124F36CA17}">
      <dgm:prSet/>
      <dgm:spPr/>
      <dgm:t>
        <a:bodyPr/>
        <a:lstStyle/>
        <a:p>
          <a:endParaRPr lang="en-US" sz="2000">
            <a:solidFill>
              <a:sysClr val="windowText" lastClr="000000"/>
            </a:solidFill>
            <a:latin typeface="+mj-lt"/>
            <a:cs typeface="Calibri" panose="020F0502020204030204" pitchFamily="34" charset="0"/>
          </a:endParaRPr>
        </a:p>
      </dgm:t>
    </dgm:pt>
    <dgm:pt modelId="{8ABD913E-4E89-408F-BF4F-90BA9399F571}" type="sibTrans" cxnId="{26D353D4-C09F-416C-AB9B-67124F36CA17}">
      <dgm:prSet/>
      <dgm:spPr/>
      <dgm:t>
        <a:bodyPr/>
        <a:lstStyle/>
        <a:p>
          <a:endParaRPr lang="en-US" sz="2000">
            <a:solidFill>
              <a:sysClr val="windowText" lastClr="000000"/>
            </a:solidFill>
            <a:latin typeface="+mj-lt"/>
            <a:cs typeface="Calibri" panose="020F0502020204030204" pitchFamily="34" charset="0"/>
          </a:endParaRPr>
        </a:p>
      </dgm:t>
    </dgm:pt>
    <dgm:pt modelId="{47050036-DC00-48D5-AF51-95A43F600C86}">
      <dgm:prSet phldrT="[Text]" custT="1"/>
      <dgm:spPr>
        <a:xfrm>
          <a:off x="0" y="324659"/>
          <a:ext cx="5783580" cy="582750"/>
        </a:xfrm>
      </dgm:spPr>
      <dgm:t>
        <a:bodyPr/>
        <a:lstStyle/>
        <a:p>
          <a:r>
            <a:rPr lang="en-US" sz="1400" dirty="0" smtClean="0">
              <a:latin typeface="+mj-lt"/>
              <a:ea typeface="+mn-ea"/>
              <a:cs typeface="+mn-cs"/>
            </a:rPr>
            <a:t>Conversion of budgetary support loans and DSL to reserves</a:t>
          </a:r>
          <a:endParaRPr lang="en-US" sz="1400" dirty="0">
            <a:latin typeface="+mj-lt"/>
            <a:ea typeface="+mn-ea"/>
            <a:cs typeface="+mn-cs"/>
          </a:endParaRPr>
        </a:p>
      </dgm:t>
    </dgm:pt>
    <dgm:pt modelId="{DAAAF076-9A4B-4233-A4EB-94093EDD79D2}" type="parTrans" cxnId="{7532E4B9-9C8D-4D1C-8A89-8D7A50A550A6}">
      <dgm:prSet/>
      <dgm:spPr/>
      <dgm:t>
        <a:bodyPr/>
        <a:lstStyle/>
        <a:p>
          <a:endParaRPr lang="en-US" sz="2000">
            <a:solidFill>
              <a:sysClr val="windowText" lastClr="000000"/>
            </a:solidFill>
            <a:latin typeface="+mj-lt"/>
            <a:cs typeface="Calibri" panose="020F0502020204030204" pitchFamily="34" charset="0"/>
          </a:endParaRPr>
        </a:p>
      </dgm:t>
    </dgm:pt>
    <dgm:pt modelId="{79D7A383-37F2-4A94-8637-32050239C8BD}" type="sibTrans" cxnId="{7532E4B9-9C8D-4D1C-8A89-8D7A50A550A6}">
      <dgm:prSet/>
      <dgm:spPr/>
      <dgm:t>
        <a:bodyPr/>
        <a:lstStyle/>
        <a:p>
          <a:endParaRPr lang="en-US" sz="2000">
            <a:solidFill>
              <a:sysClr val="windowText" lastClr="000000"/>
            </a:solidFill>
            <a:latin typeface="+mj-lt"/>
            <a:cs typeface="Calibri" panose="020F0502020204030204" pitchFamily="34" charset="0"/>
          </a:endParaRPr>
        </a:p>
      </dgm:t>
    </dgm:pt>
    <dgm:pt modelId="{D5F9D874-F094-4F7D-B6C7-2A076B92758F}">
      <dgm:prSet phldrT="[Text]" custT="1"/>
      <dgm:spPr>
        <a:xfrm>
          <a:off x="289179" y="961409"/>
          <a:ext cx="4048506" cy="295200"/>
        </a:xfrm>
      </dgm:spPr>
      <dgm:t>
        <a:bodyPr/>
        <a:lstStyle/>
        <a:p>
          <a:r>
            <a:rPr lang="en-US" sz="1400" smtClean="0">
              <a:latin typeface="+mj-lt"/>
              <a:ea typeface="+mn-ea"/>
              <a:cs typeface="+mn-cs"/>
            </a:rPr>
            <a:t>Implementation of high-level strategic value enablers</a:t>
          </a:r>
          <a:endParaRPr lang="en-US" sz="1400">
            <a:latin typeface="+mj-lt"/>
            <a:ea typeface="+mn-ea"/>
            <a:cs typeface="+mn-cs"/>
          </a:endParaRPr>
        </a:p>
      </dgm:t>
    </dgm:pt>
    <dgm:pt modelId="{86C93F2B-6929-4231-A354-447D78A93223}" type="parTrans" cxnId="{767B7036-4B06-45D9-AD65-9F96D34571D7}">
      <dgm:prSet/>
      <dgm:spPr/>
      <dgm:t>
        <a:bodyPr/>
        <a:lstStyle/>
        <a:p>
          <a:endParaRPr lang="en-US" sz="2000">
            <a:solidFill>
              <a:sysClr val="windowText" lastClr="000000"/>
            </a:solidFill>
            <a:latin typeface="+mj-lt"/>
            <a:cs typeface="Calibri" panose="020F0502020204030204" pitchFamily="34" charset="0"/>
          </a:endParaRPr>
        </a:p>
      </dgm:t>
    </dgm:pt>
    <dgm:pt modelId="{9ABF69DE-5BD2-4BD0-BBBD-69B99E167CD5}" type="sibTrans" cxnId="{767B7036-4B06-45D9-AD65-9F96D34571D7}">
      <dgm:prSet/>
      <dgm:spPr/>
      <dgm:t>
        <a:bodyPr/>
        <a:lstStyle/>
        <a:p>
          <a:endParaRPr lang="en-US" sz="2000">
            <a:solidFill>
              <a:sysClr val="windowText" lastClr="000000"/>
            </a:solidFill>
            <a:latin typeface="+mj-lt"/>
            <a:cs typeface="Calibri" panose="020F0502020204030204" pitchFamily="34" charset="0"/>
          </a:endParaRPr>
        </a:p>
      </dgm:t>
    </dgm:pt>
    <dgm:pt modelId="{68B0F397-4467-4D42-BBF2-41AF516829BD}">
      <dgm:prSet phldrT="[Text]" custT="1"/>
      <dgm:spPr>
        <a:xfrm>
          <a:off x="0" y="4265310"/>
          <a:ext cx="5783580" cy="708750"/>
        </a:xfrm>
      </dgm:spPr>
      <dgm:t>
        <a:bodyPr/>
        <a:lstStyle/>
        <a:p>
          <a:r>
            <a:rPr lang="en-US" sz="1400" smtClean="0">
              <a:latin typeface="+mj-lt"/>
              <a:ea typeface="+mn-ea"/>
              <a:cs typeface="+mn-cs"/>
            </a:rPr>
            <a:t>Strengthening of existing business processes like Generation, Distribution, Commercial, Regulatory, Planning, HR, F&amp;A, Board Governance in line with the proposed functions of the holding company and statutory requirements</a:t>
          </a:r>
          <a:endParaRPr lang="en-US" sz="1400">
            <a:latin typeface="+mj-lt"/>
            <a:ea typeface="+mn-ea"/>
            <a:cs typeface="+mn-cs"/>
          </a:endParaRPr>
        </a:p>
      </dgm:t>
    </dgm:pt>
    <dgm:pt modelId="{09AA09D2-4256-487F-974C-84D04A3568D1}" type="parTrans" cxnId="{3EA6E3B7-86C7-4921-86C9-70C5F44482F7}">
      <dgm:prSet/>
      <dgm:spPr/>
      <dgm:t>
        <a:bodyPr/>
        <a:lstStyle/>
        <a:p>
          <a:endParaRPr lang="en-US" sz="2000">
            <a:solidFill>
              <a:sysClr val="windowText" lastClr="000000"/>
            </a:solidFill>
            <a:latin typeface="+mj-lt"/>
            <a:cs typeface="Calibri" panose="020F0502020204030204" pitchFamily="34" charset="0"/>
          </a:endParaRPr>
        </a:p>
      </dgm:t>
    </dgm:pt>
    <dgm:pt modelId="{178B29C9-3D88-4F85-938E-7356ABBD75C4}" type="sibTrans" cxnId="{3EA6E3B7-86C7-4921-86C9-70C5F44482F7}">
      <dgm:prSet/>
      <dgm:spPr/>
      <dgm:t>
        <a:bodyPr/>
        <a:lstStyle/>
        <a:p>
          <a:endParaRPr lang="en-US" sz="2000">
            <a:solidFill>
              <a:sysClr val="windowText" lastClr="000000"/>
            </a:solidFill>
            <a:latin typeface="+mj-lt"/>
            <a:cs typeface="Calibri" panose="020F0502020204030204" pitchFamily="34" charset="0"/>
          </a:endParaRPr>
        </a:p>
      </dgm:t>
    </dgm:pt>
    <dgm:pt modelId="{FB11879A-910E-4D68-9420-A3BE2D23A3F1}">
      <dgm:prSet phldrT="[Text]" custT="1"/>
      <dgm:spPr>
        <a:xfrm>
          <a:off x="0" y="1109009"/>
          <a:ext cx="5783580" cy="567000"/>
        </a:xfrm>
      </dgm:spPr>
      <dgm:t>
        <a:bodyPr/>
        <a:lstStyle/>
        <a:p>
          <a:r>
            <a:rPr lang="en-US" sz="1400" smtClean="0">
              <a:latin typeface="+mj-lt"/>
              <a:ea typeface="+mn-ea"/>
              <a:cs typeface="+mn-cs"/>
            </a:rPr>
            <a:t>Target-driven value enablers to reduce distribution loss, improve distribution and bulk supply collection/billing ratio, power plant efficiency improvement</a:t>
          </a:r>
          <a:endParaRPr lang="en-US" sz="1400">
            <a:latin typeface="+mj-lt"/>
            <a:ea typeface="+mn-ea"/>
            <a:cs typeface="+mn-cs"/>
          </a:endParaRPr>
        </a:p>
      </dgm:t>
    </dgm:pt>
    <dgm:pt modelId="{DB54B90F-CB20-4678-BDDA-C6DB8FB54B39}" type="parTrans" cxnId="{1D5AF2CD-F383-4C4A-8579-353510D75114}">
      <dgm:prSet/>
      <dgm:spPr/>
      <dgm:t>
        <a:bodyPr/>
        <a:lstStyle/>
        <a:p>
          <a:endParaRPr lang="en-US" sz="2000">
            <a:solidFill>
              <a:sysClr val="windowText" lastClr="000000"/>
            </a:solidFill>
            <a:latin typeface="+mj-lt"/>
            <a:cs typeface="Calibri" panose="020F0502020204030204" pitchFamily="34" charset="0"/>
          </a:endParaRPr>
        </a:p>
      </dgm:t>
    </dgm:pt>
    <dgm:pt modelId="{EDA73D05-DF61-4A95-964A-4D9EBFD57B58}" type="sibTrans" cxnId="{1D5AF2CD-F383-4C4A-8579-353510D75114}">
      <dgm:prSet/>
      <dgm:spPr/>
      <dgm:t>
        <a:bodyPr/>
        <a:lstStyle/>
        <a:p>
          <a:endParaRPr lang="en-US" sz="2000">
            <a:solidFill>
              <a:sysClr val="windowText" lastClr="000000"/>
            </a:solidFill>
            <a:latin typeface="+mj-lt"/>
            <a:cs typeface="Calibri" panose="020F0502020204030204" pitchFamily="34" charset="0"/>
          </a:endParaRPr>
        </a:p>
      </dgm:t>
    </dgm:pt>
    <dgm:pt modelId="{80E6384A-E374-4D34-9135-892773B53743}">
      <dgm:prSet phldrT="[Text]" custT="1"/>
      <dgm:spPr>
        <a:xfrm>
          <a:off x="289179" y="1730009"/>
          <a:ext cx="4048506" cy="295200"/>
        </a:xfrm>
      </dgm:spPr>
      <dgm:t>
        <a:bodyPr/>
        <a:lstStyle/>
        <a:p>
          <a:r>
            <a:rPr lang="en-US" sz="1400" smtClean="0">
              <a:latin typeface="+mj-lt"/>
              <a:ea typeface="+mn-ea"/>
              <a:cs typeface="+mn-cs"/>
            </a:rPr>
            <a:t>Operationalization of the holding company</a:t>
          </a:r>
          <a:endParaRPr lang="en-US" sz="1400">
            <a:latin typeface="+mj-lt"/>
            <a:ea typeface="+mn-ea"/>
            <a:cs typeface="+mn-cs"/>
          </a:endParaRPr>
        </a:p>
      </dgm:t>
    </dgm:pt>
    <dgm:pt modelId="{4CD3AB73-7DCA-4BDD-9F55-9495F797F36B}" type="parTrans" cxnId="{79846607-B31E-4E30-9B16-F5C817DF7431}">
      <dgm:prSet/>
      <dgm:spPr/>
      <dgm:t>
        <a:bodyPr/>
        <a:lstStyle/>
        <a:p>
          <a:endParaRPr lang="en-US" sz="2000">
            <a:solidFill>
              <a:sysClr val="windowText" lastClr="000000"/>
            </a:solidFill>
            <a:latin typeface="+mj-lt"/>
            <a:cs typeface="Calibri" panose="020F0502020204030204" pitchFamily="34" charset="0"/>
          </a:endParaRPr>
        </a:p>
      </dgm:t>
    </dgm:pt>
    <dgm:pt modelId="{0A782009-A2E0-4C1C-BA3C-90E44FDB11A7}" type="sibTrans" cxnId="{79846607-B31E-4E30-9B16-F5C817DF7431}">
      <dgm:prSet/>
      <dgm:spPr/>
      <dgm:t>
        <a:bodyPr/>
        <a:lstStyle/>
        <a:p>
          <a:endParaRPr lang="en-US" sz="2000">
            <a:solidFill>
              <a:sysClr val="windowText" lastClr="000000"/>
            </a:solidFill>
            <a:latin typeface="+mj-lt"/>
            <a:cs typeface="Calibri" panose="020F0502020204030204" pitchFamily="34" charset="0"/>
          </a:endParaRPr>
        </a:p>
      </dgm:t>
    </dgm:pt>
    <dgm:pt modelId="{0DA93ACC-433E-4ABF-A79D-005AC681A727}">
      <dgm:prSet phldrT="[Text]" custT="1"/>
      <dgm:spPr>
        <a:xfrm>
          <a:off x="0" y="1877609"/>
          <a:ext cx="5783580" cy="1071000"/>
        </a:xfrm>
      </dgm:spPr>
      <dgm:t>
        <a:bodyPr/>
        <a:lstStyle/>
        <a:p>
          <a:r>
            <a:rPr lang="en-US" sz="1400" smtClean="0">
              <a:latin typeface="+mj-lt"/>
              <a:ea typeface="+mn-ea"/>
              <a:cs typeface="+mn-cs"/>
            </a:rPr>
            <a:t>Finalization of industry structure</a:t>
          </a:r>
          <a:endParaRPr lang="en-US" sz="1400">
            <a:latin typeface="+mj-lt"/>
            <a:ea typeface="+mn-ea"/>
            <a:cs typeface="+mn-cs"/>
          </a:endParaRPr>
        </a:p>
      </dgm:t>
    </dgm:pt>
    <dgm:pt modelId="{EE668AF4-55A5-475C-8B72-2212658675FC}" type="parTrans" cxnId="{C4E28918-F45B-4C13-AEE6-A685551D6DDA}">
      <dgm:prSet/>
      <dgm:spPr/>
      <dgm:t>
        <a:bodyPr/>
        <a:lstStyle/>
        <a:p>
          <a:endParaRPr lang="en-US" sz="2000">
            <a:solidFill>
              <a:sysClr val="windowText" lastClr="000000"/>
            </a:solidFill>
            <a:latin typeface="+mj-lt"/>
            <a:cs typeface="Calibri" panose="020F0502020204030204" pitchFamily="34" charset="0"/>
          </a:endParaRPr>
        </a:p>
      </dgm:t>
    </dgm:pt>
    <dgm:pt modelId="{2F710626-F0BE-4B57-AF25-6CF090AF0A8D}" type="sibTrans" cxnId="{C4E28918-F45B-4C13-AEE6-A685551D6DDA}">
      <dgm:prSet/>
      <dgm:spPr/>
      <dgm:t>
        <a:bodyPr/>
        <a:lstStyle/>
        <a:p>
          <a:endParaRPr lang="en-US" sz="2000">
            <a:solidFill>
              <a:sysClr val="windowText" lastClr="000000"/>
            </a:solidFill>
            <a:latin typeface="+mj-lt"/>
            <a:cs typeface="Calibri" panose="020F0502020204030204" pitchFamily="34" charset="0"/>
          </a:endParaRPr>
        </a:p>
      </dgm:t>
    </dgm:pt>
    <dgm:pt modelId="{372B2960-BD13-48EE-AE92-ADDE03CC0CAB}">
      <dgm:prSet phldrT="[Text]" custT="1"/>
      <dgm:spPr>
        <a:xfrm>
          <a:off x="289179" y="3002610"/>
          <a:ext cx="4048506" cy="295200"/>
        </a:xfrm>
      </dgm:spPr>
      <dgm:t>
        <a:bodyPr/>
        <a:lstStyle/>
        <a:p>
          <a:r>
            <a:rPr lang="en-US" sz="1400" smtClean="0">
              <a:latin typeface="+mj-lt"/>
              <a:ea typeface="+mn-ea"/>
              <a:cs typeface="+mn-cs"/>
            </a:rPr>
            <a:t>Detailed manpower assessment of holding company</a:t>
          </a:r>
          <a:endParaRPr lang="en-US" sz="1400">
            <a:latin typeface="+mj-lt"/>
            <a:ea typeface="+mn-ea"/>
            <a:cs typeface="+mn-cs"/>
          </a:endParaRPr>
        </a:p>
      </dgm:t>
    </dgm:pt>
    <dgm:pt modelId="{A105B220-A73B-4281-83AA-14C9DA3929C5}" type="parTrans" cxnId="{ABD06349-BFDC-4059-8773-A8E33418E230}">
      <dgm:prSet/>
      <dgm:spPr/>
      <dgm:t>
        <a:bodyPr/>
        <a:lstStyle/>
        <a:p>
          <a:endParaRPr lang="en-US" sz="2000">
            <a:solidFill>
              <a:sysClr val="windowText" lastClr="000000"/>
            </a:solidFill>
            <a:latin typeface="+mj-lt"/>
            <a:cs typeface="Calibri" panose="020F0502020204030204" pitchFamily="34" charset="0"/>
          </a:endParaRPr>
        </a:p>
      </dgm:t>
    </dgm:pt>
    <dgm:pt modelId="{DE34E600-1DE8-4782-A63E-4AE9917D91AB}" type="sibTrans" cxnId="{ABD06349-BFDC-4059-8773-A8E33418E230}">
      <dgm:prSet/>
      <dgm:spPr/>
      <dgm:t>
        <a:bodyPr/>
        <a:lstStyle/>
        <a:p>
          <a:endParaRPr lang="en-US" sz="2000">
            <a:solidFill>
              <a:sysClr val="windowText" lastClr="000000"/>
            </a:solidFill>
            <a:latin typeface="+mj-lt"/>
            <a:cs typeface="Calibri" panose="020F0502020204030204" pitchFamily="34" charset="0"/>
          </a:endParaRPr>
        </a:p>
      </dgm:t>
    </dgm:pt>
    <dgm:pt modelId="{9E91818B-8013-4A12-AE35-6FBBBDCEAB47}">
      <dgm:prSet phldrT="[Text]" custT="1"/>
      <dgm:spPr>
        <a:xfrm>
          <a:off x="0" y="3150210"/>
          <a:ext cx="5783580" cy="913500"/>
        </a:xfrm>
      </dgm:spPr>
      <dgm:t>
        <a:bodyPr/>
        <a:lstStyle/>
        <a:p>
          <a:r>
            <a:rPr lang="en-US" sz="1400" smtClean="0">
              <a:latin typeface="+mj-lt"/>
              <a:ea typeface="+mn-ea"/>
              <a:cs typeface="+mn-cs"/>
            </a:rPr>
            <a:t>Preparation of BPR plan, To-Be organogram and functions of holding company</a:t>
          </a:r>
          <a:endParaRPr lang="en-US" sz="1400">
            <a:latin typeface="+mj-lt"/>
            <a:ea typeface="+mn-ea"/>
            <a:cs typeface="+mn-cs"/>
          </a:endParaRPr>
        </a:p>
      </dgm:t>
    </dgm:pt>
    <dgm:pt modelId="{BEED0678-E7F2-4D4C-9217-4B2A0A4A74C5}" type="parTrans" cxnId="{4B99B4C9-1F56-4382-9BF5-BCBFF8673C57}">
      <dgm:prSet/>
      <dgm:spPr/>
      <dgm:t>
        <a:bodyPr/>
        <a:lstStyle/>
        <a:p>
          <a:endParaRPr lang="en-US" sz="2000">
            <a:solidFill>
              <a:sysClr val="windowText" lastClr="000000"/>
            </a:solidFill>
            <a:latin typeface="+mj-lt"/>
            <a:cs typeface="Calibri" panose="020F0502020204030204" pitchFamily="34" charset="0"/>
          </a:endParaRPr>
        </a:p>
      </dgm:t>
    </dgm:pt>
    <dgm:pt modelId="{98593499-DEA5-4056-8B0D-AF80BC1A2B51}" type="sibTrans" cxnId="{4B99B4C9-1F56-4382-9BF5-BCBFF8673C57}">
      <dgm:prSet/>
      <dgm:spPr/>
      <dgm:t>
        <a:bodyPr/>
        <a:lstStyle/>
        <a:p>
          <a:endParaRPr lang="en-US" sz="2000">
            <a:solidFill>
              <a:sysClr val="windowText" lastClr="000000"/>
            </a:solidFill>
            <a:latin typeface="+mj-lt"/>
            <a:cs typeface="Calibri" panose="020F0502020204030204" pitchFamily="34" charset="0"/>
          </a:endParaRPr>
        </a:p>
      </dgm:t>
    </dgm:pt>
    <dgm:pt modelId="{869DBDB0-1814-4D88-8A52-DB7513C3C834}">
      <dgm:prSet phldrT="[Text]" custT="1"/>
      <dgm:spPr>
        <a:xfrm>
          <a:off x="289179" y="4117710"/>
          <a:ext cx="4048506" cy="295200"/>
        </a:xfrm>
      </dgm:spPr>
      <dgm:t>
        <a:bodyPr/>
        <a:lstStyle/>
        <a:p>
          <a:r>
            <a:rPr lang="en-US" sz="1400" smtClean="0">
              <a:latin typeface="+mj-lt"/>
              <a:ea typeface="+mn-ea"/>
              <a:cs typeface="+mn-cs"/>
            </a:rPr>
            <a:t>Business process reengineering</a:t>
          </a:r>
          <a:endParaRPr lang="en-US" sz="1400">
            <a:latin typeface="+mj-lt"/>
            <a:ea typeface="+mn-ea"/>
            <a:cs typeface="+mn-cs"/>
          </a:endParaRPr>
        </a:p>
      </dgm:t>
    </dgm:pt>
    <dgm:pt modelId="{0FEE54CB-D2A4-4BE0-AA43-E488858CF5F2}" type="parTrans" cxnId="{3C934F25-0B18-4431-8198-74D593F43DBB}">
      <dgm:prSet/>
      <dgm:spPr/>
      <dgm:t>
        <a:bodyPr/>
        <a:lstStyle/>
        <a:p>
          <a:endParaRPr lang="en-US" sz="2000">
            <a:solidFill>
              <a:sysClr val="windowText" lastClr="000000"/>
            </a:solidFill>
            <a:latin typeface="+mj-lt"/>
            <a:cs typeface="Calibri" panose="020F0502020204030204" pitchFamily="34" charset="0"/>
          </a:endParaRPr>
        </a:p>
      </dgm:t>
    </dgm:pt>
    <dgm:pt modelId="{3B806060-650D-4534-9E29-A5B3E2E583BE}" type="sibTrans" cxnId="{3C934F25-0B18-4431-8198-74D593F43DBB}">
      <dgm:prSet/>
      <dgm:spPr/>
      <dgm:t>
        <a:bodyPr/>
        <a:lstStyle/>
        <a:p>
          <a:endParaRPr lang="en-US" sz="2000">
            <a:solidFill>
              <a:sysClr val="windowText" lastClr="000000"/>
            </a:solidFill>
            <a:latin typeface="+mj-lt"/>
            <a:cs typeface="Calibri" panose="020F0502020204030204" pitchFamily="34" charset="0"/>
          </a:endParaRPr>
        </a:p>
      </dgm:t>
    </dgm:pt>
    <dgm:pt modelId="{12BDC68F-AA1B-4172-A716-CFCC4B4E4E77}">
      <dgm:prSet phldrT="[Text]" custT="1"/>
      <dgm:spPr>
        <a:xfrm>
          <a:off x="0" y="324659"/>
          <a:ext cx="5783580" cy="582750"/>
        </a:xfrm>
      </dgm:spPr>
      <dgm:t>
        <a:bodyPr/>
        <a:lstStyle/>
        <a:p>
          <a:r>
            <a:rPr lang="en-US" sz="1400" smtClean="0">
              <a:latin typeface="+mj-lt"/>
              <a:ea typeface="+mn-ea"/>
              <a:cs typeface="+mn-cs"/>
            </a:rPr>
            <a:t>Direct subsidy support to holding company instead of loans</a:t>
          </a:r>
          <a:endParaRPr lang="en-US" sz="1400">
            <a:latin typeface="+mj-lt"/>
            <a:ea typeface="+mn-ea"/>
            <a:cs typeface="+mn-cs"/>
          </a:endParaRPr>
        </a:p>
      </dgm:t>
    </dgm:pt>
    <dgm:pt modelId="{0F098927-5A66-4252-8946-DDD46E5A81DF}" type="parTrans" cxnId="{2FA25A11-3BCB-4A7B-9618-14429498A317}">
      <dgm:prSet/>
      <dgm:spPr/>
      <dgm:t>
        <a:bodyPr/>
        <a:lstStyle/>
        <a:p>
          <a:endParaRPr lang="en-US" sz="2000">
            <a:solidFill>
              <a:sysClr val="windowText" lastClr="000000"/>
            </a:solidFill>
            <a:latin typeface="+mj-lt"/>
            <a:cs typeface="Calibri" panose="020F0502020204030204" pitchFamily="34" charset="0"/>
          </a:endParaRPr>
        </a:p>
      </dgm:t>
    </dgm:pt>
    <dgm:pt modelId="{3B65A589-685F-4B36-9B92-890395792A47}" type="sibTrans" cxnId="{2FA25A11-3BCB-4A7B-9618-14429498A317}">
      <dgm:prSet/>
      <dgm:spPr/>
      <dgm:t>
        <a:bodyPr/>
        <a:lstStyle/>
        <a:p>
          <a:endParaRPr lang="en-US" sz="2000">
            <a:solidFill>
              <a:sysClr val="windowText" lastClr="000000"/>
            </a:solidFill>
            <a:latin typeface="+mj-lt"/>
            <a:cs typeface="Calibri" panose="020F0502020204030204" pitchFamily="34" charset="0"/>
          </a:endParaRPr>
        </a:p>
      </dgm:t>
    </dgm:pt>
    <dgm:pt modelId="{33D56874-8B2C-4926-81C0-58B0602A2D1C}">
      <dgm:prSet phldrT="[Text]" custT="1"/>
      <dgm:spPr>
        <a:xfrm>
          <a:off x="0" y="1877609"/>
          <a:ext cx="5783580" cy="1071000"/>
        </a:xfrm>
      </dgm:spPr>
      <dgm:t>
        <a:bodyPr/>
        <a:lstStyle/>
        <a:p>
          <a:r>
            <a:rPr lang="en-US" sz="1400" smtClean="0">
              <a:latin typeface="+mj-lt"/>
              <a:ea typeface="+mn-ea"/>
              <a:cs typeface="+mn-cs"/>
            </a:rPr>
            <a:t>Finalization and approval of AoA and MoA of holding company</a:t>
          </a:r>
          <a:endParaRPr lang="en-US" sz="1400">
            <a:latin typeface="+mj-lt"/>
            <a:ea typeface="+mn-ea"/>
            <a:cs typeface="+mn-cs"/>
          </a:endParaRPr>
        </a:p>
      </dgm:t>
    </dgm:pt>
    <dgm:pt modelId="{E07224BC-7D65-4BA4-8B5E-16B62264070E}" type="parTrans" cxnId="{6EAE5EF3-FA01-41D2-99C5-B0A4604237CE}">
      <dgm:prSet/>
      <dgm:spPr/>
      <dgm:t>
        <a:bodyPr/>
        <a:lstStyle/>
        <a:p>
          <a:endParaRPr lang="en-US" sz="2000">
            <a:solidFill>
              <a:sysClr val="windowText" lastClr="000000"/>
            </a:solidFill>
            <a:latin typeface="+mj-lt"/>
            <a:cs typeface="Calibri" panose="020F0502020204030204" pitchFamily="34" charset="0"/>
          </a:endParaRPr>
        </a:p>
      </dgm:t>
    </dgm:pt>
    <dgm:pt modelId="{3E7749A6-ACE7-4F27-9FD9-60F6FD819283}" type="sibTrans" cxnId="{6EAE5EF3-FA01-41D2-99C5-B0A4604237CE}">
      <dgm:prSet/>
      <dgm:spPr/>
      <dgm:t>
        <a:bodyPr/>
        <a:lstStyle/>
        <a:p>
          <a:endParaRPr lang="en-US" sz="2000">
            <a:solidFill>
              <a:sysClr val="windowText" lastClr="000000"/>
            </a:solidFill>
            <a:latin typeface="+mj-lt"/>
            <a:cs typeface="Calibri" panose="020F0502020204030204" pitchFamily="34" charset="0"/>
          </a:endParaRPr>
        </a:p>
      </dgm:t>
    </dgm:pt>
    <dgm:pt modelId="{A949233C-0D0C-4330-9E28-CA50DDE4CD17}">
      <dgm:prSet phldrT="[Text]" custT="1"/>
      <dgm:spPr>
        <a:xfrm>
          <a:off x="0" y="1877609"/>
          <a:ext cx="5783580" cy="1071000"/>
        </a:xfrm>
      </dgm:spPr>
      <dgm:t>
        <a:bodyPr/>
        <a:lstStyle/>
        <a:p>
          <a:r>
            <a:rPr lang="en-US" sz="1400" smtClean="0">
              <a:latin typeface="+mj-lt"/>
              <a:ea typeface="+mn-ea"/>
              <a:cs typeface="+mn-cs"/>
            </a:rPr>
            <a:t>Registration and incorporation of holding company</a:t>
          </a:r>
          <a:endParaRPr lang="en-US" sz="1400">
            <a:latin typeface="+mj-lt"/>
            <a:ea typeface="+mn-ea"/>
            <a:cs typeface="+mn-cs"/>
          </a:endParaRPr>
        </a:p>
      </dgm:t>
    </dgm:pt>
    <dgm:pt modelId="{E66BA405-F60D-4ADE-B9D0-FD02EB50C770}" type="parTrans" cxnId="{7E57A740-7FE9-49A8-AE35-47718462CCA3}">
      <dgm:prSet/>
      <dgm:spPr/>
      <dgm:t>
        <a:bodyPr/>
        <a:lstStyle/>
        <a:p>
          <a:endParaRPr lang="en-US" sz="2000">
            <a:solidFill>
              <a:sysClr val="windowText" lastClr="000000"/>
            </a:solidFill>
            <a:latin typeface="+mj-lt"/>
            <a:cs typeface="Calibri" panose="020F0502020204030204" pitchFamily="34" charset="0"/>
          </a:endParaRPr>
        </a:p>
      </dgm:t>
    </dgm:pt>
    <dgm:pt modelId="{6D474F72-F3D5-4946-A790-FE006D8F9A97}" type="sibTrans" cxnId="{7E57A740-7FE9-49A8-AE35-47718462CCA3}">
      <dgm:prSet/>
      <dgm:spPr/>
      <dgm:t>
        <a:bodyPr/>
        <a:lstStyle/>
        <a:p>
          <a:endParaRPr lang="en-US" sz="2000">
            <a:solidFill>
              <a:sysClr val="windowText" lastClr="000000"/>
            </a:solidFill>
            <a:latin typeface="+mj-lt"/>
            <a:cs typeface="Calibri" panose="020F0502020204030204" pitchFamily="34" charset="0"/>
          </a:endParaRPr>
        </a:p>
      </dgm:t>
    </dgm:pt>
    <dgm:pt modelId="{1A536065-82C9-48CB-BCB3-BD53908E2625}">
      <dgm:prSet phldrT="[Text]" custT="1"/>
      <dgm:spPr>
        <a:xfrm>
          <a:off x="0" y="1877609"/>
          <a:ext cx="5783580" cy="1071000"/>
        </a:xfrm>
      </dgm:spPr>
      <dgm:t>
        <a:bodyPr/>
        <a:lstStyle/>
        <a:p>
          <a:r>
            <a:rPr lang="en-US" sz="1400" smtClean="0">
              <a:latin typeface="+mj-lt"/>
              <a:ea typeface="+mn-ea"/>
              <a:cs typeface="+mn-cs"/>
            </a:rPr>
            <a:t>Board arrangement, management arrangement and commercial arrangement of holding company</a:t>
          </a:r>
          <a:endParaRPr lang="en-US" sz="1400">
            <a:latin typeface="+mj-lt"/>
            <a:ea typeface="+mn-ea"/>
            <a:cs typeface="+mn-cs"/>
          </a:endParaRPr>
        </a:p>
      </dgm:t>
    </dgm:pt>
    <dgm:pt modelId="{E8A0FBF0-7C5B-4E42-940C-C12A32CC6D25}" type="parTrans" cxnId="{94F94692-159B-415B-BBBD-91E0B62F08A0}">
      <dgm:prSet/>
      <dgm:spPr/>
      <dgm:t>
        <a:bodyPr/>
        <a:lstStyle/>
        <a:p>
          <a:endParaRPr lang="en-US" sz="2000">
            <a:solidFill>
              <a:sysClr val="windowText" lastClr="000000"/>
            </a:solidFill>
            <a:latin typeface="+mj-lt"/>
            <a:cs typeface="Calibri" panose="020F0502020204030204" pitchFamily="34" charset="0"/>
          </a:endParaRPr>
        </a:p>
      </dgm:t>
    </dgm:pt>
    <dgm:pt modelId="{6E147487-7F76-4511-86F9-CCAC6996B57C}" type="sibTrans" cxnId="{94F94692-159B-415B-BBBD-91E0B62F08A0}">
      <dgm:prSet/>
      <dgm:spPr/>
      <dgm:t>
        <a:bodyPr/>
        <a:lstStyle/>
        <a:p>
          <a:endParaRPr lang="en-US" sz="2000">
            <a:solidFill>
              <a:sysClr val="windowText" lastClr="000000"/>
            </a:solidFill>
            <a:latin typeface="+mj-lt"/>
            <a:cs typeface="Calibri" panose="020F0502020204030204" pitchFamily="34" charset="0"/>
          </a:endParaRPr>
        </a:p>
      </dgm:t>
    </dgm:pt>
    <dgm:pt modelId="{BD878A1D-A2EB-41E1-9F68-05E833CE4BC0}">
      <dgm:prSet phldrT="[Text]" custT="1"/>
      <dgm:spPr>
        <a:xfrm>
          <a:off x="0" y="3150210"/>
          <a:ext cx="5783580" cy="913500"/>
        </a:xfrm>
      </dgm:spPr>
      <dgm:t>
        <a:bodyPr/>
        <a:lstStyle/>
        <a:p>
          <a:r>
            <a:rPr lang="en-US" sz="1400" smtClean="0">
              <a:latin typeface="+mj-lt"/>
              <a:ea typeface="+mn-ea"/>
              <a:cs typeface="+mn-cs"/>
            </a:rPr>
            <a:t>Competency mapping with respect to existing manpower</a:t>
          </a:r>
          <a:endParaRPr lang="en-US" sz="1400">
            <a:latin typeface="+mj-lt"/>
            <a:ea typeface="+mn-ea"/>
            <a:cs typeface="+mn-cs"/>
          </a:endParaRPr>
        </a:p>
      </dgm:t>
    </dgm:pt>
    <dgm:pt modelId="{9CB256E9-638E-4D86-8347-767872C4C9BE}" type="parTrans" cxnId="{E1EFB522-92C1-4384-8CA7-BDBABCE7C820}">
      <dgm:prSet/>
      <dgm:spPr/>
      <dgm:t>
        <a:bodyPr/>
        <a:lstStyle/>
        <a:p>
          <a:endParaRPr lang="en-US" sz="2000">
            <a:solidFill>
              <a:sysClr val="windowText" lastClr="000000"/>
            </a:solidFill>
            <a:latin typeface="+mj-lt"/>
            <a:cs typeface="Calibri" panose="020F0502020204030204" pitchFamily="34" charset="0"/>
          </a:endParaRPr>
        </a:p>
      </dgm:t>
    </dgm:pt>
    <dgm:pt modelId="{2321CE03-6119-4CEE-8945-6863A2982A6C}" type="sibTrans" cxnId="{E1EFB522-92C1-4384-8CA7-BDBABCE7C820}">
      <dgm:prSet/>
      <dgm:spPr/>
      <dgm:t>
        <a:bodyPr/>
        <a:lstStyle/>
        <a:p>
          <a:endParaRPr lang="en-US" sz="2000">
            <a:solidFill>
              <a:sysClr val="windowText" lastClr="000000"/>
            </a:solidFill>
            <a:latin typeface="+mj-lt"/>
            <a:cs typeface="Calibri" panose="020F0502020204030204" pitchFamily="34" charset="0"/>
          </a:endParaRPr>
        </a:p>
      </dgm:t>
    </dgm:pt>
    <dgm:pt modelId="{82095ACE-9A21-445B-AAAD-623BB4B3DDCE}">
      <dgm:prSet phldrT="[Text]" custT="1"/>
      <dgm:spPr>
        <a:xfrm>
          <a:off x="0" y="3150210"/>
          <a:ext cx="5783580" cy="913500"/>
        </a:xfrm>
      </dgm:spPr>
      <dgm:t>
        <a:bodyPr/>
        <a:lstStyle/>
        <a:p>
          <a:r>
            <a:rPr lang="en-US" sz="1400" smtClean="0">
              <a:latin typeface="+mj-lt"/>
              <a:ea typeface="+mn-ea"/>
              <a:cs typeface="+mn-cs"/>
            </a:rPr>
            <a:t>Preparation of strategy for manpower re-skilling and new manpower recruitment</a:t>
          </a:r>
          <a:endParaRPr lang="en-US" sz="1400">
            <a:latin typeface="+mj-lt"/>
            <a:ea typeface="+mn-ea"/>
            <a:cs typeface="+mn-cs"/>
          </a:endParaRPr>
        </a:p>
      </dgm:t>
    </dgm:pt>
    <dgm:pt modelId="{8DF6D11D-72F0-4D81-A32D-949FF6077810}" type="parTrans" cxnId="{4EF33EC2-7394-400D-AAE5-A7A42C6E77A7}">
      <dgm:prSet/>
      <dgm:spPr/>
      <dgm:t>
        <a:bodyPr/>
        <a:lstStyle/>
        <a:p>
          <a:endParaRPr lang="en-US" sz="2000">
            <a:solidFill>
              <a:sysClr val="windowText" lastClr="000000"/>
            </a:solidFill>
            <a:latin typeface="+mj-lt"/>
            <a:cs typeface="Calibri" panose="020F0502020204030204" pitchFamily="34" charset="0"/>
          </a:endParaRPr>
        </a:p>
      </dgm:t>
    </dgm:pt>
    <dgm:pt modelId="{3ADBC2CF-5C41-47CE-ACD7-EA3623323A12}" type="sibTrans" cxnId="{4EF33EC2-7394-400D-AAE5-A7A42C6E77A7}">
      <dgm:prSet/>
      <dgm:spPr/>
      <dgm:t>
        <a:bodyPr/>
        <a:lstStyle/>
        <a:p>
          <a:endParaRPr lang="en-US" sz="2000">
            <a:solidFill>
              <a:sysClr val="windowText" lastClr="000000"/>
            </a:solidFill>
            <a:latin typeface="+mj-lt"/>
            <a:cs typeface="Calibri" panose="020F0502020204030204" pitchFamily="34" charset="0"/>
          </a:endParaRPr>
        </a:p>
      </dgm:t>
    </dgm:pt>
    <dgm:pt modelId="{48AB6B96-AEAE-446A-8C19-F2DEFCEE7D59}">
      <dgm:prSet phldrT="[Text]" custT="1"/>
      <dgm:spPr>
        <a:xfrm>
          <a:off x="0" y="3150210"/>
          <a:ext cx="5783580" cy="913500"/>
        </a:xfrm>
      </dgm:spPr>
      <dgm:t>
        <a:bodyPr/>
        <a:lstStyle/>
        <a:p>
          <a:r>
            <a:rPr lang="en-US" sz="1400" smtClean="0">
              <a:latin typeface="+mj-lt"/>
              <a:ea typeface="+mn-ea"/>
              <a:cs typeface="+mn-cs"/>
            </a:rPr>
            <a:t>Preparation of workflow automation and IT-enablement plan</a:t>
          </a:r>
          <a:endParaRPr lang="en-US" sz="1400">
            <a:latin typeface="+mj-lt"/>
            <a:ea typeface="+mn-ea"/>
            <a:cs typeface="+mn-cs"/>
          </a:endParaRPr>
        </a:p>
      </dgm:t>
    </dgm:pt>
    <dgm:pt modelId="{20948501-3F46-428D-8F3B-8B01CFDCCCFF}" type="parTrans" cxnId="{FAEEFE0F-90B0-4648-87DA-6DF467A43D16}">
      <dgm:prSet/>
      <dgm:spPr/>
      <dgm:t>
        <a:bodyPr/>
        <a:lstStyle/>
        <a:p>
          <a:endParaRPr lang="en-US" sz="2000">
            <a:solidFill>
              <a:sysClr val="windowText" lastClr="000000"/>
            </a:solidFill>
            <a:latin typeface="+mj-lt"/>
            <a:cs typeface="Calibri" panose="020F0502020204030204" pitchFamily="34" charset="0"/>
          </a:endParaRPr>
        </a:p>
      </dgm:t>
    </dgm:pt>
    <dgm:pt modelId="{7FBC144B-E4F8-444B-80CC-93A6E05A894F}" type="sibTrans" cxnId="{FAEEFE0F-90B0-4648-87DA-6DF467A43D16}">
      <dgm:prSet/>
      <dgm:spPr/>
      <dgm:t>
        <a:bodyPr/>
        <a:lstStyle/>
        <a:p>
          <a:endParaRPr lang="en-US" sz="2000">
            <a:solidFill>
              <a:sysClr val="windowText" lastClr="000000"/>
            </a:solidFill>
            <a:latin typeface="+mj-lt"/>
            <a:cs typeface="Calibri" panose="020F0502020204030204" pitchFamily="34" charset="0"/>
          </a:endParaRPr>
        </a:p>
      </dgm:t>
    </dgm:pt>
    <dgm:pt modelId="{C249F667-80AC-4A85-A181-48B6760C5E0D}" type="pres">
      <dgm:prSet presAssocID="{4588612D-9786-4E1E-9080-CDD6B3CA1D35}" presName="linear" presStyleCnt="0">
        <dgm:presLayoutVars>
          <dgm:dir/>
          <dgm:animLvl val="lvl"/>
          <dgm:resizeHandles val="exact"/>
        </dgm:presLayoutVars>
      </dgm:prSet>
      <dgm:spPr/>
      <dgm:t>
        <a:bodyPr/>
        <a:lstStyle/>
        <a:p>
          <a:endParaRPr lang="en-US"/>
        </a:p>
      </dgm:t>
    </dgm:pt>
    <dgm:pt modelId="{D0EC507D-572C-4BF5-B8BD-608A54475CF1}" type="pres">
      <dgm:prSet presAssocID="{DAD32B63-8F54-429E-BCD0-7A097C5CF506}" presName="parentLin" presStyleCnt="0"/>
      <dgm:spPr/>
      <dgm:t>
        <a:bodyPr/>
        <a:lstStyle/>
        <a:p>
          <a:endParaRPr lang="en-IN"/>
        </a:p>
      </dgm:t>
    </dgm:pt>
    <dgm:pt modelId="{9068615F-BE76-4188-B428-099E1CF7F4A5}" type="pres">
      <dgm:prSet presAssocID="{DAD32B63-8F54-429E-BCD0-7A097C5CF506}" presName="parentLeftMargin" presStyleLbl="node1" presStyleIdx="0" presStyleCnt="5"/>
      <dgm:spPr/>
      <dgm:t>
        <a:bodyPr/>
        <a:lstStyle/>
        <a:p>
          <a:endParaRPr lang="en-US"/>
        </a:p>
      </dgm:t>
    </dgm:pt>
    <dgm:pt modelId="{1CEDABA7-BCFC-41DB-BC4E-A693E059C8C9}" type="pres">
      <dgm:prSet presAssocID="{DAD32B63-8F54-429E-BCD0-7A097C5CF506}" presName="parentText" presStyleLbl="node1" presStyleIdx="0" presStyleCnt="5">
        <dgm:presLayoutVars>
          <dgm:chMax val="0"/>
          <dgm:bulletEnabled val="1"/>
        </dgm:presLayoutVars>
      </dgm:prSet>
      <dgm:spPr/>
      <dgm:t>
        <a:bodyPr/>
        <a:lstStyle/>
        <a:p>
          <a:endParaRPr lang="en-US"/>
        </a:p>
      </dgm:t>
    </dgm:pt>
    <dgm:pt modelId="{F5D971D7-DCCB-4224-A0B1-A34BDFEFDCF5}" type="pres">
      <dgm:prSet presAssocID="{DAD32B63-8F54-429E-BCD0-7A097C5CF506}" presName="negativeSpace" presStyleCnt="0"/>
      <dgm:spPr/>
      <dgm:t>
        <a:bodyPr/>
        <a:lstStyle/>
        <a:p>
          <a:endParaRPr lang="en-IN"/>
        </a:p>
      </dgm:t>
    </dgm:pt>
    <dgm:pt modelId="{16B3A770-4929-4455-8466-137E60437025}" type="pres">
      <dgm:prSet presAssocID="{DAD32B63-8F54-429E-BCD0-7A097C5CF506}" presName="childText" presStyleLbl="conFgAcc1" presStyleIdx="0" presStyleCnt="5">
        <dgm:presLayoutVars>
          <dgm:bulletEnabled val="1"/>
        </dgm:presLayoutVars>
      </dgm:prSet>
      <dgm:spPr/>
      <dgm:t>
        <a:bodyPr/>
        <a:lstStyle/>
        <a:p>
          <a:endParaRPr lang="en-US"/>
        </a:p>
      </dgm:t>
    </dgm:pt>
    <dgm:pt modelId="{A74BE861-D61B-4CE5-8028-E826ECD9EAA4}" type="pres">
      <dgm:prSet presAssocID="{8ABD913E-4E89-408F-BF4F-90BA9399F571}" presName="spaceBetweenRectangles" presStyleCnt="0"/>
      <dgm:spPr/>
      <dgm:t>
        <a:bodyPr/>
        <a:lstStyle/>
        <a:p>
          <a:endParaRPr lang="en-IN"/>
        </a:p>
      </dgm:t>
    </dgm:pt>
    <dgm:pt modelId="{6E0B34A4-7F86-4DB5-B152-6B6817754594}" type="pres">
      <dgm:prSet presAssocID="{D5F9D874-F094-4F7D-B6C7-2A076B92758F}" presName="parentLin" presStyleCnt="0"/>
      <dgm:spPr/>
      <dgm:t>
        <a:bodyPr/>
        <a:lstStyle/>
        <a:p>
          <a:endParaRPr lang="en-IN"/>
        </a:p>
      </dgm:t>
    </dgm:pt>
    <dgm:pt modelId="{59E8B80C-7A46-43DD-9B27-5FD96FE09DAB}" type="pres">
      <dgm:prSet presAssocID="{D5F9D874-F094-4F7D-B6C7-2A076B92758F}" presName="parentLeftMargin" presStyleLbl="node1" presStyleIdx="0" presStyleCnt="5"/>
      <dgm:spPr/>
      <dgm:t>
        <a:bodyPr/>
        <a:lstStyle/>
        <a:p>
          <a:endParaRPr lang="en-US"/>
        </a:p>
      </dgm:t>
    </dgm:pt>
    <dgm:pt modelId="{B292DCE2-7FA3-4E21-945A-375838D1BA6F}" type="pres">
      <dgm:prSet presAssocID="{D5F9D874-F094-4F7D-B6C7-2A076B92758F}" presName="parentText" presStyleLbl="node1" presStyleIdx="1" presStyleCnt="5">
        <dgm:presLayoutVars>
          <dgm:chMax val="0"/>
          <dgm:bulletEnabled val="1"/>
        </dgm:presLayoutVars>
      </dgm:prSet>
      <dgm:spPr/>
      <dgm:t>
        <a:bodyPr/>
        <a:lstStyle/>
        <a:p>
          <a:endParaRPr lang="en-US"/>
        </a:p>
      </dgm:t>
    </dgm:pt>
    <dgm:pt modelId="{A5830400-589F-4686-BD23-FACD6D20E8D3}" type="pres">
      <dgm:prSet presAssocID="{D5F9D874-F094-4F7D-B6C7-2A076B92758F}" presName="negativeSpace" presStyleCnt="0"/>
      <dgm:spPr/>
      <dgm:t>
        <a:bodyPr/>
        <a:lstStyle/>
        <a:p>
          <a:endParaRPr lang="en-IN"/>
        </a:p>
      </dgm:t>
    </dgm:pt>
    <dgm:pt modelId="{E9E99FFA-493A-4EAA-B4D8-09B355602FB0}" type="pres">
      <dgm:prSet presAssocID="{D5F9D874-F094-4F7D-B6C7-2A076B92758F}" presName="childText" presStyleLbl="conFgAcc1" presStyleIdx="1" presStyleCnt="5">
        <dgm:presLayoutVars>
          <dgm:bulletEnabled val="1"/>
        </dgm:presLayoutVars>
      </dgm:prSet>
      <dgm:spPr/>
      <dgm:t>
        <a:bodyPr/>
        <a:lstStyle/>
        <a:p>
          <a:endParaRPr lang="en-US"/>
        </a:p>
      </dgm:t>
    </dgm:pt>
    <dgm:pt modelId="{F337F067-CE3B-408B-AA33-9AA6CA1F186D}" type="pres">
      <dgm:prSet presAssocID="{9ABF69DE-5BD2-4BD0-BBBD-69B99E167CD5}" presName="spaceBetweenRectangles" presStyleCnt="0"/>
      <dgm:spPr/>
      <dgm:t>
        <a:bodyPr/>
        <a:lstStyle/>
        <a:p>
          <a:endParaRPr lang="en-IN"/>
        </a:p>
      </dgm:t>
    </dgm:pt>
    <dgm:pt modelId="{41C4EC79-DD73-4963-B5B5-6C5796D8CC88}" type="pres">
      <dgm:prSet presAssocID="{80E6384A-E374-4D34-9135-892773B53743}" presName="parentLin" presStyleCnt="0"/>
      <dgm:spPr/>
      <dgm:t>
        <a:bodyPr/>
        <a:lstStyle/>
        <a:p>
          <a:endParaRPr lang="en-IN"/>
        </a:p>
      </dgm:t>
    </dgm:pt>
    <dgm:pt modelId="{425B4C80-6E66-4DB6-BD26-154E67549EFD}" type="pres">
      <dgm:prSet presAssocID="{80E6384A-E374-4D34-9135-892773B53743}" presName="parentLeftMargin" presStyleLbl="node1" presStyleIdx="1" presStyleCnt="5"/>
      <dgm:spPr/>
      <dgm:t>
        <a:bodyPr/>
        <a:lstStyle/>
        <a:p>
          <a:endParaRPr lang="en-US"/>
        </a:p>
      </dgm:t>
    </dgm:pt>
    <dgm:pt modelId="{E3EFF9A9-9F3E-420B-BB82-1CA2AB03CC53}" type="pres">
      <dgm:prSet presAssocID="{80E6384A-E374-4D34-9135-892773B53743}" presName="parentText" presStyleLbl="node1" presStyleIdx="2" presStyleCnt="5">
        <dgm:presLayoutVars>
          <dgm:chMax val="0"/>
          <dgm:bulletEnabled val="1"/>
        </dgm:presLayoutVars>
      </dgm:prSet>
      <dgm:spPr/>
      <dgm:t>
        <a:bodyPr/>
        <a:lstStyle/>
        <a:p>
          <a:endParaRPr lang="en-US"/>
        </a:p>
      </dgm:t>
    </dgm:pt>
    <dgm:pt modelId="{55ADBF9D-0785-4E92-B569-964E301250EA}" type="pres">
      <dgm:prSet presAssocID="{80E6384A-E374-4D34-9135-892773B53743}" presName="negativeSpace" presStyleCnt="0"/>
      <dgm:spPr/>
      <dgm:t>
        <a:bodyPr/>
        <a:lstStyle/>
        <a:p>
          <a:endParaRPr lang="en-IN"/>
        </a:p>
      </dgm:t>
    </dgm:pt>
    <dgm:pt modelId="{6163065A-DEC5-4405-BC09-FD7F2AD717EC}" type="pres">
      <dgm:prSet presAssocID="{80E6384A-E374-4D34-9135-892773B53743}" presName="childText" presStyleLbl="conFgAcc1" presStyleIdx="2" presStyleCnt="5">
        <dgm:presLayoutVars>
          <dgm:bulletEnabled val="1"/>
        </dgm:presLayoutVars>
      </dgm:prSet>
      <dgm:spPr/>
      <dgm:t>
        <a:bodyPr/>
        <a:lstStyle/>
        <a:p>
          <a:endParaRPr lang="en-US"/>
        </a:p>
      </dgm:t>
    </dgm:pt>
    <dgm:pt modelId="{2308CB6E-C1F4-4DC1-B7C6-DB1AA5764B54}" type="pres">
      <dgm:prSet presAssocID="{0A782009-A2E0-4C1C-BA3C-90E44FDB11A7}" presName="spaceBetweenRectangles" presStyleCnt="0"/>
      <dgm:spPr/>
      <dgm:t>
        <a:bodyPr/>
        <a:lstStyle/>
        <a:p>
          <a:endParaRPr lang="en-IN"/>
        </a:p>
      </dgm:t>
    </dgm:pt>
    <dgm:pt modelId="{594E203B-BE46-44BC-85DB-79CCD7BB8E4D}" type="pres">
      <dgm:prSet presAssocID="{372B2960-BD13-48EE-AE92-ADDE03CC0CAB}" presName="parentLin" presStyleCnt="0"/>
      <dgm:spPr/>
      <dgm:t>
        <a:bodyPr/>
        <a:lstStyle/>
        <a:p>
          <a:endParaRPr lang="en-IN"/>
        </a:p>
      </dgm:t>
    </dgm:pt>
    <dgm:pt modelId="{1B81B5D5-6AF3-4825-8CE0-9C73F88A5F14}" type="pres">
      <dgm:prSet presAssocID="{372B2960-BD13-48EE-AE92-ADDE03CC0CAB}" presName="parentLeftMargin" presStyleLbl="node1" presStyleIdx="2" presStyleCnt="5"/>
      <dgm:spPr/>
      <dgm:t>
        <a:bodyPr/>
        <a:lstStyle/>
        <a:p>
          <a:endParaRPr lang="en-US"/>
        </a:p>
      </dgm:t>
    </dgm:pt>
    <dgm:pt modelId="{0EEC4FF0-F2DE-419A-B0D9-98B7C103C66F}" type="pres">
      <dgm:prSet presAssocID="{372B2960-BD13-48EE-AE92-ADDE03CC0CAB}" presName="parentText" presStyleLbl="node1" presStyleIdx="3" presStyleCnt="5">
        <dgm:presLayoutVars>
          <dgm:chMax val="0"/>
          <dgm:bulletEnabled val="1"/>
        </dgm:presLayoutVars>
      </dgm:prSet>
      <dgm:spPr/>
      <dgm:t>
        <a:bodyPr/>
        <a:lstStyle/>
        <a:p>
          <a:endParaRPr lang="en-US"/>
        </a:p>
      </dgm:t>
    </dgm:pt>
    <dgm:pt modelId="{BA89B6B5-993D-4969-A5B9-015CDB14EE66}" type="pres">
      <dgm:prSet presAssocID="{372B2960-BD13-48EE-AE92-ADDE03CC0CAB}" presName="negativeSpace" presStyleCnt="0"/>
      <dgm:spPr/>
      <dgm:t>
        <a:bodyPr/>
        <a:lstStyle/>
        <a:p>
          <a:endParaRPr lang="en-IN"/>
        </a:p>
      </dgm:t>
    </dgm:pt>
    <dgm:pt modelId="{AADF0C89-3D97-47F1-87C2-2833945D5659}" type="pres">
      <dgm:prSet presAssocID="{372B2960-BD13-48EE-AE92-ADDE03CC0CAB}" presName="childText" presStyleLbl="conFgAcc1" presStyleIdx="3" presStyleCnt="5">
        <dgm:presLayoutVars>
          <dgm:bulletEnabled val="1"/>
        </dgm:presLayoutVars>
      </dgm:prSet>
      <dgm:spPr/>
      <dgm:t>
        <a:bodyPr/>
        <a:lstStyle/>
        <a:p>
          <a:endParaRPr lang="en-US"/>
        </a:p>
      </dgm:t>
    </dgm:pt>
    <dgm:pt modelId="{31386CCB-FB5E-4C97-822D-B897A46F108F}" type="pres">
      <dgm:prSet presAssocID="{DE34E600-1DE8-4782-A63E-4AE9917D91AB}" presName="spaceBetweenRectangles" presStyleCnt="0"/>
      <dgm:spPr/>
      <dgm:t>
        <a:bodyPr/>
        <a:lstStyle/>
        <a:p>
          <a:endParaRPr lang="en-IN"/>
        </a:p>
      </dgm:t>
    </dgm:pt>
    <dgm:pt modelId="{BA217F3D-2D89-400A-86DE-F0739BCCE364}" type="pres">
      <dgm:prSet presAssocID="{869DBDB0-1814-4D88-8A52-DB7513C3C834}" presName="parentLin" presStyleCnt="0"/>
      <dgm:spPr/>
      <dgm:t>
        <a:bodyPr/>
        <a:lstStyle/>
        <a:p>
          <a:endParaRPr lang="en-IN"/>
        </a:p>
      </dgm:t>
    </dgm:pt>
    <dgm:pt modelId="{18D6CE53-FBC8-4E3B-B47C-092DDFA8FBB5}" type="pres">
      <dgm:prSet presAssocID="{869DBDB0-1814-4D88-8A52-DB7513C3C834}" presName="parentLeftMargin" presStyleLbl="node1" presStyleIdx="3" presStyleCnt="5"/>
      <dgm:spPr/>
      <dgm:t>
        <a:bodyPr/>
        <a:lstStyle/>
        <a:p>
          <a:endParaRPr lang="en-US"/>
        </a:p>
      </dgm:t>
    </dgm:pt>
    <dgm:pt modelId="{1B9DB7B9-C627-415E-BBEF-9E2B828219B2}" type="pres">
      <dgm:prSet presAssocID="{869DBDB0-1814-4D88-8A52-DB7513C3C834}" presName="parentText" presStyleLbl="node1" presStyleIdx="4" presStyleCnt="5">
        <dgm:presLayoutVars>
          <dgm:chMax val="0"/>
          <dgm:bulletEnabled val="1"/>
        </dgm:presLayoutVars>
      </dgm:prSet>
      <dgm:spPr/>
      <dgm:t>
        <a:bodyPr/>
        <a:lstStyle/>
        <a:p>
          <a:endParaRPr lang="en-US"/>
        </a:p>
      </dgm:t>
    </dgm:pt>
    <dgm:pt modelId="{CD181856-AEE5-48CA-9A6C-57513BC02DE3}" type="pres">
      <dgm:prSet presAssocID="{869DBDB0-1814-4D88-8A52-DB7513C3C834}" presName="negativeSpace" presStyleCnt="0"/>
      <dgm:spPr/>
      <dgm:t>
        <a:bodyPr/>
        <a:lstStyle/>
        <a:p>
          <a:endParaRPr lang="en-IN"/>
        </a:p>
      </dgm:t>
    </dgm:pt>
    <dgm:pt modelId="{E5FA9F0C-F95E-4258-B5E3-CF9AE2698A62}" type="pres">
      <dgm:prSet presAssocID="{869DBDB0-1814-4D88-8A52-DB7513C3C834}" presName="childText" presStyleLbl="conFgAcc1" presStyleIdx="4" presStyleCnt="5">
        <dgm:presLayoutVars>
          <dgm:bulletEnabled val="1"/>
        </dgm:presLayoutVars>
      </dgm:prSet>
      <dgm:spPr/>
      <dgm:t>
        <a:bodyPr/>
        <a:lstStyle/>
        <a:p>
          <a:endParaRPr lang="en-US"/>
        </a:p>
      </dgm:t>
    </dgm:pt>
  </dgm:ptLst>
  <dgm:cxnLst>
    <dgm:cxn modelId="{A46D44CB-BC7B-40E4-ACF2-36088ABA5810}" type="presOf" srcId="{D5F9D874-F094-4F7D-B6C7-2A076B92758F}" destId="{59E8B80C-7A46-43DD-9B27-5FD96FE09DAB}" srcOrd="0" destOrd="0" presId="urn:microsoft.com/office/officeart/2005/8/layout/list1"/>
    <dgm:cxn modelId="{79846607-B31E-4E30-9B16-F5C817DF7431}" srcId="{4588612D-9786-4E1E-9080-CDD6B3CA1D35}" destId="{80E6384A-E374-4D34-9135-892773B53743}" srcOrd="2" destOrd="0" parTransId="{4CD3AB73-7DCA-4BDD-9F55-9495F797F36B}" sibTransId="{0A782009-A2E0-4C1C-BA3C-90E44FDB11A7}"/>
    <dgm:cxn modelId="{E1EFB522-92C1-4384-8CA7-BDBABCE7C820}" srcId="{372B2960-BD13-48EE-AE92-ADDE03CC0CAB}" destId="{BD878A1D-A2EB-41E1-9F68-05E833CE4BC0}" srcOrd="2" destOrd="0" parTransId="{9CB256E9-638E-4D86-8347-767872C4C9BE}" sibTransId="{2321CE03-6119-4CEE-8945-6863A2982A6C}"/>
    <dgm:cxn modelId="{F77FE63B-10BB-4FA3-B08C-98319D657AA8}" type="presOf" srcId="{4588612D-9786-4E1E-9080-CDD6B3CA1D35}" destId="{C249F667-80AC-4A85-A181-48B6760C5E0D}" srcOrd="0" destOrd="0" presId="urn:microsoft.com/office/officeart/2005/8/layout/list1"/>
    <dgm:cxn modelId="{06CF4F74-D6E8-4988-8A7E-022A46E1DA29}" type="presOf" srcId="{D5F9D874-F094-4F7D-B6C7-2A076B92758F}" destId="{B292DCE2-7FA3-4E21-945A-375838D1BA6F}" srcOrd="1" destOrd="0" presId="urn:microsoft.com/office/officeart/2005/8/layout/list1"/>
    <dgm:cxn modelId="{EC17CD9E-79C8-4DDF-B934-F4A7EBAEA6F4}" type="presOf" srcId="{BD878A1D-A2EB-41E1-9F68-05E833CE4BC0}" destId="{AADF0C89-3D97-47F1-87C2-2833945D5659}" srcOrd="0" destOrd="2" presId="urn:microsoft.com/office/officeart/2005/8/layout/list1"/>
    <dgm:cxn modelId="{6C5913DE-F6BD-442E-9E1B-3F1A832A8071}" type="presOf" srcId="{869DBDB0-1814-4D88-8A52-DB7513C3C834}" destId="{1B9DB7B9-C627-415E-BBEF-9E2B828219B2}" srcOrd="1" destOrd="0" presId="urn:microsoft.com/office/officeart/2005/8/layout/list1"/>
    <dgm:cxn modelId="{E4682F9E-286F-4D1C-BBBE-2C8FEE68293C}" type="presOf" srcId="{372B2960-BD13-48EE-AE92-ADDE03CC0CAB}" destId="{1B81B5D5-6AF3-4825-8CE0-9C73F88A5F14}" srcOrd="0" destOrd="0" presId="urn:microsoft.com/office/officeart/2005/8/layout/list1"/>
    <dgm:cxn modelId="{7E57A740-7FE9-49A8-AE35-47718462CCA3}" srcId="{80E6384A-E374-4D34-9135-892773B53743}" destId="{A949233C-0D0C-4330-9E28-CA50DDE4CD17}" srcOrd="2" destOrd="0" parTransId="{E66BA405-F60D-4ADE-B9D0-FD02EB50C770}" sibTransId="{6D474F72-F3D5-4946-A790-FE006D8F9A97}"/>
    <dgm:cxn modelId="{255209B1-AE42-463B-A009-826E07F767CF}" type="presOf" srcId="{0DA93ACC-433E-4ABF-A79D-005AC681A727}" destId="{6163065A-DEC5-4405-BC09-FD7F2AD717EC}" srcOrd="0" destOrd="0" presId="urn:microsoft.com/office/officeart/2005/8/layout/list1"/>
    <dgm:cxn modelId="{FAEEFE0F-90B0-4648-87DA-6DF467A43D16}" srcId="{372B2960-BD13-48EE-AE92-ADDE03CC0CAB}" destId="{48AB6B96-AEAE-446A-8C19-F2DEFCEE7D59}" srcOrd="1" destOrd="0" parTransId="{20948501-3F46-428D-8F3B-8B01CFDCCCFF}" sibTransId="{7FBC144B-E4F8-444B-80CC-93A6E05A894F}"/>
    <dgm:cxn modelId="{4EF33EC2-7394-400D-AAE5-A7A42C6E77A7}" srcId="{372B2960-BD13-48EE-AE92-ADDE03CC0CAB}" destId="{82095ACE-9A21-445B-AAAD-623BB4B3DDCE}" srcOrd="3" destOrd="0" parTransId="{8DF6D11D-72F0-4D81-A32D-949FF6077810}" sibTransId="{3ADBC2CF-5C41-47CE-ACD7-EA3623323A12}"/>
    <dgm:cxn modelId="{DBA68886-5032-4513-B401-EB8019E30708}" type="presOf" srcId="{372B2960-BD13-48EE-AE92-ADDE03CC0CAB}" destId="{0EEC4FF0-F2DE-419A-B0D9-98B7C103C66F}" srcOrd="1" destOrd="0" presId="urn:microsoft.com/office/officeart/2005/8/layout/list1"/>
    <dgm:cxn modelId="{C4E28918-F45B-4C13-AEE6-A685551D6DDA}" srcId="{80E6384A-E374-4D34-9135-892773B53743}" destId="{0DA93ACC-433E-4ABF-A79D-005AC681A727}" srcOrd="0" destOrd="0" parTransId="{EE668AF4-55A5-475C-8B72-2212658675FC}" sibTransId="{2F710626-F0BE-4B57-AF25-6CF090AF0A8D}"/>
    <dgm:cxn modelId="{3C934F25-0B18-4431-8198-74D593F43DBB}" srcId="{4588612D-9786-4E1E-9080-CDD6B3CA1D35}" destId="{869DBDB0-1814-4D88-8A52-DB7513C3C834}" srcOrd="4" destOrd="0" parTransId="{0FEE54CB-D2A4-4BE0-AA43-E488858CF5F2}" sibTransId="{3B806060-650D-4534-9E29-A5B3E2E583BE}"/>
    <dgm:cxn modelId="{857E8880-C187-4E60-9130-5CF1B40AB8BA}" type="presOf" srcId="{47050036-DC00-48D5-AF51-95A43F600C86}" destId="{16B3A770-4929-4455-8466-137E60437025}" srcOrd="0" destOrd="0" presId="urn:microsoft.com/office/officeart/2005/8/layout/list1"/>
    <dgm:cxn modelId="{2FA25A11-3BCB-4A7B-9618-14429498A317}" srcId="{DAD32B63-8F54-429E-BCD0-7A097C5CF506}" destId="{12BDC68F-AA1B-4172-A716-CFCC4B4E4E77}" srcOrd="1" destOrd="0" parTransId="{0F098927-5A66-4252-8946-DDD46E5A81DF}" sibTransId="{3B65A589-685F-4B36-9B92-890395792A47}"/>
    <dgm:cxn modelId="{99A21BF9-1317-4E4D-87A9-8CBF30CBF07B}" type="presOf" srcId="{12BDC68F-AA1B-4172-A716-CFCC4B4E4E77}" destId="{16B3A770-4929-4455-8466-137E60437025}" srcOrd="0" destOrd="1" presId="urn:microsoft.com/office/officeart/2005/8/layout/list1"/>
    <dgm:cxn modelId="{1D5AF2CD-F383-4C4A-8579-353510D75114}" srcId="{D5F9D874-F094-4F7D-B6C7-2A076B92758F}" destId="{FB11879A-910E-4D68-9420-A3BE2D23A3F1}" srcOrd="0" destOrd="0" parTransId="{DB54B90F-CB20-4678-BDDA-C6DB8FB54B39}" sibTransId="{EDA73D05-DF61-4A95-964A-4D9EBFD57B58}"/>
    <dgm:cxn modelId="{3BD873EF-DA68-445D-8A80-24916E59392A}" type="presOf" srcId="{80E6384A-E374-4D34-9135-892773B53743}" destId="{425B4C80-6E66-4DB6-BD26-154E67549EFD}" srcOrd="0" destOrd="0" presId="urn:microsoft.com/office/officeart/2005/8/layout/list1"/>
    <dgm:cxn modelId="{D22CA072-8F10-4ED8-B771-4EE51BF9C0F0}" type="presOf" srcId="{DAD32B63-8F54-429E-BCD0-7A097C5CF506}" destId="{1CEDABA7-BCFC-41DB-BC4E-A693E059C8C9}" srcOrd="1" destOrd="0" presId="urn:microsoft.com/office/officeart/2005/8/layout/list1"/>
    <dgm:cxn modelId="{4B2849B3-7FC9-4931-8C48-3AAD0F6796C6}" type="presOf" srcId="{A949233C-0D0C-4330-9E28-CA50DDE4CD17}" destId="{6163065A-DEC5-4405-BC09-FD7F2AD717EC}" srcOrd="0" destOrd="2" presId="urn:microsoft.com/office/officeart/2005/8/layout/list1"/>
    <dgm:cxn modelId="{7532E4B9-9C8D-4D1C-8A89-8D7A50A550A6}" srcId="{DAD32B63-8F54-429E-BCD0-7A097C5CF506}" destId="{47050036-DC00-48D5-AF51-95A43F600C86}" srcOrd="0" destOrd="0" parTransId="{DAAAF076-9A4B-4233-A4EB-94093EDD79D2}" sibTransId="{79D7A383-37F2-4A94-8637-32050239C8BD}"/>
    <dgm:cxn modelId="{96135B70-F4F3-4BEE-BC1A-FBAD2368BE8D}" type="presOf" srcId="{DAD32B63-8F54-429E-BCD0-7A097C5CF506}" destId="{9068615F-BE76-4188-B428-099E1CF7F4A5}" srcOrd="0" destOrd="0" presId="urn:microsoft.com/office/officeart/2005/8/layout/list1"/>
    <dgm:cxn modelId="{D1CCD641-7198-4BC9-99AB-C8C0BFF3DAB1}" type="presOf" srcId="{82095ACE-9A21-445B-AAAD-623BB4B3DDCE}" destId="{AADF0C89-3D97-47F1-87C2-2833945D5659}" srcOrd="0" destOrd="3" presId="urn:microsoft.com/office/officeart/2005/8/layout/list1"/>
    <dgm:cxn modelId="{94F94692-159B-415B-BBBD-91E0B62F08A0}" srcId="{80E6384A-E374-4D34-9135-892773B53743}" destId="{1A536065-82C9-48CB-BCB3-BD53908E2625}" srcOrd="3" destOrd="0" parTransId="{E8A0FBF0-7C5B-4E42-940C-C12A32CC6D25}" sibTransId="{6E147487-7F76-4511-86F9-CCAC6996B57C}"/>
    <dgm:cxn modelId="{26D353D4-C09F-416C-AB9B-67124F36CA17}" srcId="{4588612D-9786-4E1E-9080-CDD6B3CA1D35}" destId="{DAD32B63-8F54-429E-BCD0-7A097C5CF506}" srcOrd="0" destOrd="0" parTransId="{3C6B63CD-D8C5-46FB-9795-167F6F64B838}" sibTransId="{8ABD913E-4E89-408F-BF4F-90BA9399F571}"/>
    <dgm:cxn modelId="{4B99B4C9-1F56-4382-9BF5-BCBFF8673C57}" srcId="{372B2960-BD13-48EE-AE92-ADDE03CC0CAB}" destId="{9E91818B-8013-4A12-AE35-6FBBBDCEAB47}" srcOrd="0" destOrd="0" parTransId="{BEED0678-E7F2-4D4C-9217-4B2A0A4A74C5}" sibTransId="{98593499-DEA5-4056-8B0D-AF80BC1A2B51}"/>
    <dgm:cxn modelId="{767B7036-4B06-45D9-AD65-9F96D34571D7}" srcId="{4588612D-9786-4E1E-9080-CDD6B3CA1D35}" destId="{D5F9D874-F094-4F7D-B6C7-2A076B92758F}" srcOrd="1" destOrd="0" parTransId="{86C93F2B-6929-4231-A354-447D78A93223}" sibTransId="{9ABF69DE-5BD2-4BD0-BBBD-69B99E167CD5}"/>
    <dgm:cxn modelId="{751AD0FF-D672-462A-ABA7-E2622D128F98}" type="presOf" srcId="{33D56874-8B2C-4926-81C0-58B0602A2D1C}" destId="{6163065A-DEC5-4405-BC09-FD7F2AD717EC}" srcOrd="0" destOrd="1" presId="urn:microsoft.com/office/officeart/2005/8/layout/list1"/>
    <dgm:cxn modelId="{4EBB99C1-A8CE-4358-9232-24D1FC7B9220}" type="presOf" srcId="{FB11879A-910E-4D68-9420-A3BE2D23A3F1}" destId="{E9E99FFA-493A-4EAA-B4D8-09B355602FB0}" srcOrd="0" destOrd="0" presId="urn:microsoft.com/office/officeart/2005/8/layout/list1"/>
    <dgm:cxn modelId="{C978EB40-7E00-4AF4-9F2D-2AC81927D4BD}" type="presOf" srcId="{1A536065-82C9-48CB-BCB3-BD53908E2625}" destId="{6163065A-DEC5-4405-BC09-FD7F2AD717EC}" srcOrd="0" destOrd="3" presId="urn:microsoft.com/office/officeart/2005/8/layout/list1"/>
    <dgm:cxn modelId="{9B20AD43-96BF-4EE6-9AD7-3C3E20AFD992}" type="presOf" srcId="{9E91818B-8013-4A12-AE35-6FBBBDCEAB47}" destId="{AADF0C89-3D97-47F1-87C2-2833945D5659}" srcOrd="0" destOrd="0" presId="urn:microsoft.com/office/officeart/2005/8/layout/list1"/>
    <dgm:cxn modelId="{B8E42D4B-80AB-4AAA-8C19-B5FF47BE8E08}" type="presOf" srcId="{48AB6B96-AEAE-446A-8C19-F2DEFCEE7D59}" destId="{AADF0C89-3D97-47F1-87C2-2833945D5659}" srcOrd="0" destOrd="1" presId="urn:microsoft.com/office/officeart/2005/8/layout/list1"/>
    <dgm:cxn modelId="{7EC268D2-AE70-4EF8-AEF7-FBF0F870AE81}" type="presOf" srcId="{869DBDB0-1814-4D88-8A52-DB7513C3C834}" destId="{18D6CE53-FBC8-4E3B-B47C-092DDFA8FBB5}" srcOrd="0" destOrd="0" presId="urn:microsoft.com/office/officeart/2005/8/layout/list1"/>
    <dgm:cxn modelId="{FFF3DDEF-9E0E-42F8-924D-01FBE62BFC09}" type="presOf" srcId="{68B0F397-4467-4D42-BBF2-41AF516829BD}" destId="{E5FA9F0C-F95E-4258-B5E3-CF9AE2698A62}" srcOrd="0" destOrd="0" presId="urn:microsoft.com/office/officeart/2005/8/layout/list1"/>
    <dgm:cxn modelId="{ABD06349-BFDC-4059-8773-A8E33418E230}" srcId="{4588612D-9786-4E1E-9080-CDD6B3CA1D35}" destId="{372B2960-BD13-48EE-AE92-ADDE03CC0CAB}" srcOrd="3" destOrd="0" parTransId="{A105B220-A73B-4281-83AA-14C9DA3929C5}" sibTransId="{DE34E600-1DE8-4782-A63E-4AE9917D91AB}"/>
    <dgm:cxn modelId="{6EAE5EF3-FA01-41D2-99C5-B0A4604237CE}" srcId="{80E6384A-E374-4D34-9135-892773B53743}" destId="{33D56874-8B2C-4926-81C0-58B0602A2D1C}" srcOrd="1" destOrd="0" parTransId="{E07224BC-7D65-4BA4-8B5E-16B62264070E}" sibTransId="{3E7749A6-ACE7-4F27-9FD9-60F6FD819283}"/>
    <dgm:cxn modelId="{B2FE82F7-D580-4343-9943-12C7CD52032A}" type="presOf" srcId="{80E6384A-E374-4D34-9135-892773B53743}" destId="{E3EFF9A9-9F3E-420B-BB82-1CA2AB03CC53}" srcOrd="1" destOrd="0" presId="urn:microsoft.com/office/officeart/2005/8/layout/list1"/>
    <dgm:cxn modelId="{3EA6E3B7-86C7-4921-86C9-70C5F44482F7}" srcId="{869DBDB0-1814-4D88-8A52-DB7513C3C834}" destId="{68B0F397-4467-4D42-BBF2-41AF516829BD}" srcOrd="0" destOrd="0" parTransId="{09AA09D2-4256-487F-974C-84D04A3568D1}" sibTransId="{178B29C9-3D88-4F85-938E-7356ABBD75C4}"/>
    <dgm:cxn modelId="{3EE330C8-9C7F-4899-88E1-AF0A710D8E4E}" type="presParOf" srcId="{C249F667-80AC-4A85-A181-48B6760C5E0D}" destId="{D0EC507D-572C-4BF5-B8BD-608A54475CF1}" srcOrd="0" destOrd="0" presId="urn:microsoft.com/office/officeart/2005/8/layout/list1"/>
    <dgm:cxn modelId="{72B8FE1C-198A-4692-849F-38B51AF4C6DF}" type="presParOf" srcId="{D0EC507D-572C-4BF5-B8BD-608A54475CF1}" destId="{9068615F-BE76-4188-B428-099E1CF7F4A5}" srcOrd="0" destOrd="0" presId="urn:microsoft.com/office/officeart/2005/8/layout/list1"/>
    <dgm:cxn modelId="{F5B736EB-952D-4088-9828-B1579441CA67}" type="presParOf" srcId="{D0EC507D-572C-4BF5-B8BD-608A54475CF1}" destId="{1CEDABA7-BCFC-41DB-BC4E-A693E059C8C9}" srcOrd="1" destOrd="0" presId="urn:microsoft.com/office/officeart/2005/8/layout/list1"/>
    <dgm:cxn modelId="{D7C558E4-775D-411D-9D00-CFAA6ECB949D}" type="presParOf" srcId="{C249F667-80AC-4A85-A181-48B6760C5E0D}" destId="{F5D971D7-DCCB-4224-A0B1-A34BDFEFDCF5}" srcOrd="1" destOrd="0" presId="urn:microsoft.com/office/officeart/2005/8/layout/list1"/>
    <dgm:cxn modelId="{683DF96E-29A0-4F78-89C3-3ED3F35ABE09}" type="presParOf" srcId="{C249F667-80AC-4A85-A181-48B6760C5E0D}" destId="{16B3A770-4929-4455-8466-137E60437025}" srcOrd="2" destOrd="0" presId="urn:microsoft.com/office/officeart/2005/8/layout/list1"/>
    <dgm:cxn modelId="{EC41BCDE-4B66-4542-B703-73525A5EF5F7}" type="presParOf" srcId="{C249F667-80AC-4A85-A181-48B6760C5E0D}" destId="{A74BE861-D61B-4CE5-8028-E826ECD9EAA4}" srcOrd="3" destOrd="0" presId="urn:microsoft.com/office/officeart/2005/8/layout/list1"/>
    <dgm:cxn modelId="{9AC58865-094B-4C4B-AA58-7A3DE6FB5085}" type="presParOf" srcId="{C249F667-80AC-4A85-A181-48B6760C5E0D}" destId="{6E0B34A4-7F86-4DB5-B152-6B6817754594}" srcOrd="4" destOrd="0" presId="urn:microsoft.com/office/officeart/2005/8/layout/list1"/>
    <dgm:cxn modelId="{16237C70-04D6-48DA-8C2C-3AE2A1E8C3A4}" type="presParOf" srcId="{6E0B34A4-7F86-4DB5-B152-6B6817754594}" destId="{59E8B80C-7A46-43DD-9B27-5FD96FE09DAB}" srcOrd="0" destOrd="0" presId="urn:microsoft.com/office/officeart/2005/8/layout/list1"/>
    <dgm:cxn modelId="{3782F631-93F2-407D-9F43-E2F41B7E3D6D}" type="presParOf" srcId="{6E0B34A4-7F86-4DB5-B152-6B6817754594}" destId="{B292DCE2-7FA3-4E21-945A-375838D1BA6F}" srcOrd="1" destOrd="0" presId="urn:microsoft.com/office/officeart/2005/8/layout/list1"/>
    <dgm:cxn modelId="{EB71F901-C5E5-41C0-8FCB-42421575FBA8}" type="presParOf" srcId="{C249F667-80AC-4A85-A181-48B6760C5E0D}" destId="{A5830400-589F-4686-BD23-FACD6D20E8D3}" srcOrd="5" destOrd="0" presId="urn:microsoft.com/office/officeart/2005/8/layout/list1"/>
    <dgm:cxn modelId="{F2D055EA-CB53-4FFF-BB33-6308978D07E6}" type="presParOf" srcId="{C249F667-80AC-4A85-A181-48B6760C5E0D}" destId="{E9E99FFA-493A-4EAA-B4D8-09B355602FB0}" srcOrd="6" destOrd="0" presId="urn:microsoft.com/office/officeart/2005/8/layout/list1"/>
    <dgm:cxn modelId="{9A0EB9B5-19E8-407D-A88F-9734A6C1F3C8}" type="presParOf" srcId="{C249F667-80AC-4A85-A181-48B6760C5E0D}" destId="{F337F067-CE3B-408B-AA33-9AA6CA1F186D}" srcOrd="7" destOrd="0" presId="urn:microsoft.com/office/officeart/2005/8/layout/list1"/>
    <dgm:cxn modelId="{EA063563-8219-461A-ACBC-376F80DAEDAB}" type="presParOf" srcId="{C249F667-80AC-4A85-A181-48B6760C5E0D}" destId="{41C4EC79-DD73-4963-B5B5-6C5796D8CC88}" srcOrd="8" destOrd="0" presId="urn:microsoft.com/office/officeart/2005/8/layout/list1"/>
    <dgm:cxn modelId="{3DBB772F-61FE-40B4-B214-20478C873352}" type="presParOf" srcId="{41C4EC79-DD73-4963-B5B5-6C5796D8CC88}" destId="{425B4C80-6E66-4DB6-BD26-154E67549EFD}" srcOrd="0" destOrd="0" presId="urn:microsoft.com/office/officeart/2005/8/layout/list1"/>
    <dgm:cxn modelId="{8913EEBB-B061-490E-994B-E546A50F8894}" type="presParOf" srcId="{41C4EC79-DD73-4963-B5B5-6C5796D8CC88}" destId="{E3EFF9A9-9F3E-420B-BB82-1CA2AB03CC53}" srcOrd="1" destOrd="0" presId="urn:microsoft.com/office/officeart/2005/8/layout/list1"/>
    <dgm:cxn modelId="{46A3B30F-4F3E-4D5D-AC8E-198D1E859715}" type="presParOf" srcId="{C249F667-80AC-4A85-A181-48B6760C5E0D}" destId="{55ADBF9D-0785-4E92-B569-964E301250EA}" srcOrd="9" destOrd="0" presId="urn:microsoft.com/office/officeart/2005/8/layout/list1"/>
    <dgm:cxn modelId="{FD398018-9EE6-4750-AB25-227E8AC3B315}" type="presParOf" srcId="{C249F667-80AC-4A85-A181-48B6760C5E0D}" destId="{6163065A-DEC5-4405-BC09-FD7F2AD717EC}" srcOrd="10" destOrd="0" presId="urn:microsoft.com/office/officeart/2005/8/layout/list1"/>
    <dgm:cxn modelId="{A2782CB7-313C-4B3C-9FD9-756B542AB6BE}" type="presParOf" srcId="{C249F667-80AC-4A85-A181-48B6760C5E0D}" destId="{2308CB6E-C1F4-4DC1-B7C6-DB1AA5764B54}" srcOrd="11" destOrd="0" presId="urn:microsoft.com/office/officeart/2005/8/layout/list1"/>
    <dgm:cxn modelId="{8D85317F-748D-4DAF-BC3B-3ED541F30CA2}" type="presParOf" srcId="{C249F667-80AC-4A85-A181-48B6760C5E0D}" destId="{594E203B-BE46-44BC-85DB-79CCD7BB8E4D}" srcOrd="12" destOrd="0" presId="urn:microsoft.com/office/officeart/2005/8/layout/list1"/>
    <dgm:cxn modelId="{A5AE4180-8596-4E15-B0E2-4B724B412C8E}" type="presParOf" srcId="{594E203B-BE46-44BC-85DB-79CCD7BB8E4D}" destId="{1B81B5D5-6AF3-4825-8CE0-9C73F88A5F14}" srcOrd="0" destOrd="0" presId="urn:microsoft.com/office/officeart/2005/8/layout/list1"/>
    <dgm:cxn modelId="{B310C9FF-63E5-4B01-9430-2394676EBAC6}" type="presParOf" srcId="{594E203B-BE46-44BC-85DB-79CCD7BB8E4D}" destId="{0EEC4FF0-F2DE-419A-B0D9-98B7C103C66F}" srcOrd="1" destOrd="0" presId="urn:microsoft.com/office/officeart/2005/8/layout/list1"/>
    <dgm:cxn modelId="{380D2E6B-F55B-45BD-8F21-98DB3DB6FC4B}" type="presParOf" srcId="{C249F667-80AC-4A85-A181-48B6760C5E0D}" destId="{BA89B6B5-993D-4969-A5B9-015CDB14EE66}" srcOrd="13" destOrd="0" presId="urn:microsoft.com/office/officeart/2005/8/layout/list1"/>
    <dgm:cxn modelId="{6DBBD5B0-11D4-4543-966B-06E3F106963F}" type="presParOf" srcId="{C249F667-80AC-4A85-A181-48B6760C5E0D}" destId="{AADF0C89-3D97-47F1-87C2-2833945D5659}" srcOrd="14" destOrd="0" presId="urn:microsoft.com/office/officeart/2005/8/layout/list1"/>
    <dgm:cxn modelId="{9C41F8D3-A4D8-41E6-9C10-1AEE2B9D20C3}" type="presParOf" srcId="{C249F667-80AC-4A85-A181-48B6760C5E0D}" destId="{31386CCB-FB5E-4C97-822D-B897A46F108F}" srcOrd="15" destOrd="0" presId="urn:microsoft.com/office/officeart/2005/8/layout/list1"/>
    <dgm:cxn modelId="{158092F9-9B43-4BDE-A0E1-D17417061AB4}" type="presParOf" srcId="{C249F667-80AC-4A85-A181-48B6760C5E0D}" destId="{BA217F3D-2D89-400A-86DE-F0739BCCE364}" srcOrd="16" destOrd="0" presId="urn:microsoft.com/office/officeart/2005/8/layout/list1"/>
    <dgm:cxn modelId="{2C233481-EF25-494C-96FF-D19FF371438E}" type="presParOf" srcId="{BA217F3D-2D89-400A-86DE-F0739BCCE364}" destId="{18D6CE53-FBC8-4E3B-B47C-092DDFA8FBB5}" srcOrd="0" destOrd="0" presId="urn:microsoft.com/office/officeart/2005/8/layout/list1"/>
    <dgm:cxn modelId="{992C9FEA-BD9B-48E2-8255-12A5F227D8DA}" type="presParOf" srcId="{BA217F3D-2D89-400A-86DE-F0739BCCE364}" destId="{1B9DB7B9-C627-415E-BBEF-9E2B828219B2}" srcOrd="1" destOrd="0" presId="urn:microsoft.com/office/officeart/2005/8/layout/list1"/>
    <dgm:cxn modelId="{AADAA8E4-6DEA-4131-BB77-61835F16C245}" type="presParOf" srcId="{C249F667-80AC-4A85-A181-48B6760C5E0D}" destId="{CD181856-AEE5-48CA-9A6C-57513BC02DE3}" srcOrd="17" destOrd="0" presId="urn:microsoft.com/office/officeart/2005/8/layout/list1"/>
    <dgm:cxn modelId="{EF706BA8-DA65-4B04-8070-B0F3F98F4EE8}" type="presParOf" srcId="{C249F667-80AC-4A85-A181-48B6760C5E0D}" destId="{E5FA9F0C-F95E-4258-B5E3-CF9AE2698A6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1A9400-9A5F-4E72-9E91-C40C877CA6CC}" type="doc">
      <dgm:prSet loTypeId="urn:microsoft.com/office/officeart/2005/8/layout/process2" loCatId="process" qsTypeId="urn:microsoft.com/office/officeart/2005/8/quickstyle/simple1" qsCatId="simple" csTypeId="urn:microsoft.com/office/officeart/2005/8/colors/accent2_2" csCatId="accent2" phldr="1"/>
      <dgm:spPr/>
    </dgm:pt>
    <dgm:pt modelId="{2462F222-51DE-47FC-8339-00D207E41AB9}">
      <dgm:prSet phldrT="[Text]" custT="1"/>
      <dgm:spPr/>
      <dgm:t>
        <a:bodyPr/>
        <a:lstStyle/>
        <a:p>
          <a:r>
            <a:rPr lang="en-US" sz="1400" dirty="0" smtClean="0"/>
            <a:t>Industry structure finalization</a:t>
          </a:r>
          <a:endParaRPr lang="en-US" sz="1400" dirty="0"/>
        </a:p>
      </dgm:t>
    </dgm:pt>
    <dgm:pt modelId="{1330837A-819C-481C-AA37-10113BE4D53F}" type="parTrans" cxnId="{402EBA49-25D9-4C78-A47E-8618976583DB}">
      <dgm:prSet/>
      <dgm:spPr/>
      <dgm:t>
        <a:bodyPr/>
        <a:lstStyle/>
        <a:p>
          <a:endParaRPr lang="en-US" sz="1400"/>
        </a:p>
      </dgm:t>
    </dgm:pt>
    <dgm:pt modelId="{3E124ED5-48D1-44B7-B89E-64451BD46D54}" type="sibTrans" cxnId="{402EBA49-25D9-4C78-A47E-8618976583DB}">
      <dgm:prSet custT="1"/>
      <dgm:spPr/>
      <dgm:t>
        <a:bodyPr/>
        <a:lstStyle/>
        <a:p>
          <a:endParaRPr lang="en-US" sz="1400"/>
        </a:p>
      </dgm:t>
    </dgm:pt>
    <dgm:pt modelId="{6A36997A-F180-480E-82F8-E4027652BEA2}">
      <dgm:prSet phldrT="[Text]" custT="1"/>
      <dgm:spPr/>
      <dgm:t>
        <a:bodyPr/>
        <a:lstStyle/>
        <a:p>
          <a:r>
            <a:rPr lang="en-US" sz="1400" dirty="0" smtClean="0"/>
            <a:t>Holding company formation</a:t>
          </a:r>
          <a:endParaRPr lang="en-US" sz="1400" dirty="0"/>
        </a:p>
      </dgm:t>
    </dgm:pt>
    <dgm:pt modelId="{246FE3F9-13C9-4D6F-9E84-C4BC9DA6DC07}" type="parTrans" cxnId="{4746EF0C-62DE-422E-8995-A0E2D1DEE838}">
      <dgm:prSet/>
      <dgm:spPr/>
      <dgm:t>
        <a:bodyPr/>
        <a:lstStyle/>
        <a:p>
          <a:endParaRPr lang="en-US" sz="1400"/>
        </a:p>
      </dgm:t>
    </dgm:pt>
    <dgm:pt modelId="{26CF553D-E81D-4F57-9A22-5FCBC1C6AC9C}" type="sibTrans" cxnId="{4746EF0C-62DE-422E-8995-A0E2D1DEE838}">
      <dgm:prSet custT="1"/>
      <dgm:spPr/>
      <dgm:t>
        <a:bodyPr/>
        <a:lstStyle/>
        <a:p>
          <a:endParaRPr lang="en-US" sz="1400"/>
        </a:p>
      </dgm:t>
    </dgm:pt>
    <dgm:pt modelId="{5B6CF267-50BE-4CCE-B49C-B587EB849E9C}">
      <dgm:prSet phldrT="[Text]" custT="1"/>
      <dgm:spPr/>
      <dgm:t>
        <a:bodyPr/>
        <a:lstStyle/>
        <a:p>
          <a:r>
            <a:rPr lang="en-US" sz="1400" dirty="0" smtClean="0"/>
            <a:t>Transfer scheme preparation</a:t>
          </a:r>
          <a:endParaRPr lang="en-US" sz="1400" dirty="0"/>
        </a:p>
      </dgm:t>
    </dgm:pt>
    <dgm:pt modelId="{75BB40F9-1DE6-4679-81BD-8734F3EAE504}" type="parTrans" cxnId="{496E1260-44B2-4ECC-AD81-6BC63BD408D9}">
      <dgm:prSet/>
      <dgm:spPr/>
      <dgm:t>
        <a:bodyPr/>
        <a:lstStyle/>
        <a:p>
          <a:endParaRPr lang="en-US" sz="1400"/>
        </a:p>
      </dgm:t>
    </dgm:pt>
    <dgm:pt modelId="{9D2FA81A-C8B8-4F22-85A3-43930E42E941}" type="sibTrans" cxnId="{496E1260-44B2-4ECC-AD81-6BC63BD408D9}">
      <dgm:prSet custT="1"/>
      <dgm:spPr/>
      <dgm:t>
        <a:bodyPr/>
        <a:lstStyle/>
        <a:p>
          <a:endParaRPr lang="en-US" sz="1400"/>
        </a:p>
      </dgm:t>
    </dgm:pt>
    <dgm:pt modelId="{C1843363-4464-46B2-B5AA-82FD1FB37302}">
      <dgm:prSet phldrT="[Text]" custT="1"/>
      <dgm:spPr/>
      <dgm:t>
        <a:bodyPr/>
        <a:lstStyle/>
        <a:p>
          <a:r>
            <a:rPr lang="en-US" sz="1400" dirty="0" smtClean="0"/>
            <a:t>Board arrangement of holding company</a:t>
          </a:r>
          <a:endParaRPr lang="en-US" sz="1400" dirty="0"/>
        </a:p>
      </dgm:t>
    </dgm:pt>
    <dgm:pt modelId="{5615DE45-D757-492D-90E3-F0A092972332}" type="parTrans" cxnId="{9B812433-1FFD-472E-8FFB-05D601DCA889}">
      <dgm:prSet/>
      <dgm:spPr/>
      <dgm:t>
        <a:bodyPr/>
        <a:lstStyle/>
        <a:p>
          <a:endParaRPr lang="en-US" sz="1400"/>
        </a:p>
      </dgm:t>
    </dgm:pt>
    <dgm:pt modelId="{C80A4504-AF50-4516-9F66-E5B1FB8DB1A8}" type="sibTrans" cxnId="{9B812433-1FFD-472E-8FFB-05D601DCA889}">
      <dgm:prSet custT="1"/>
      <dgm:spPr/>
      <dgm:t>
        <a:bodyPr/>
        <a:lstStyle/>
        <a:p>
          <a:endParaRPr lang="en-US" sz="1400"/>
        </a:p>
      </dgm:t>
    </dgm:pt>
    <dgm:pt modelId="{9CE0701D-8450-48F8-8BFF-995D2F24CCB0}">
      <dgm:prSet phldrT="[Text]" custT="1"/>
      <dgm:spPr/>
      <dgm:t>
        <a:bodyPr/>
        <a:lstStyle/>
        <a:p>
          <a:r>
            <a:rPr lang="en-US" sz="1400" dirty="0" smtClean="0"/>
            <a:t>Coordination arrangement for reform activities</a:t>
          </a:r>
          <a:endParaRPr lang="en-US" sz="1400" dirty="0"/>
        </a:p>
      </dgm:t>
    </dgm:pt>
    <dgm:pt modelId="{9F8A6767-83D2-4B0D-BDC6-F1CC688CC8F6}" type="parTrans" cxnId="{D86CAF51-850A-438D-A4EF-2475808BF2F3}">
      <dgm:prSet/>
      <dgm:spPr/>
      <dgm:t>
        <a:bodyPr/>
        <a:lstStyle/>
        <a:p>
          <a:endParaRPr lang="en-US" sz="1400"/>
        </a:p>
      </dgm:t>
    </dgm:pt>
    <dgm:pt modelId="{76EC83B7-2E2D-43E8-9EF3-241CD824E314}" type="sibTrans" cxnId="{D86CAF51-850A-438D-A4EF-2475808BF2F3}">
      <dgm:prSet custT="1"/>
      <dgm:spPr/>
      <dgm:t>
        <a:bodyPr/>
        <a:lstStyle/>
        <a:p>
          <a:endParaRPr lang="en-US" sz="1400"/>
        </a:p>
      </dgm:t>
    </dgm:pt>
    <dgm:pt modelId="{D324712F-E8A3-4AF8-8401-9FD19C766737}">
      <dgm:prSet phldrT="[Text]" custT="1"/>
      <dgm:spPr/>
      <dgm:t>
        <a:bodyPr/>
        <a:lstStyle/>
        <a:p>
          <a:r>
            <a:rPr lang="en-US" sz="1400" dirty="0" smtClean="0"/>
            <a:t>Commercial arrangement of holding company</a:t>
          </a:r>
          <a:endParaRPr lang="en-US" sz="1400" dirty="0"/>
        </a:p>
      </dgm:t>
    </dgm:pt>
    <dgm:pt modelId="{4A861939-85DF-45EE-BF5E-F4E44DB2B2EB}" type="parTrans" cxnId="{A255A321-0465-4C44-A439-4729A8F5DE1F}">
      <dgm:prSet/>
      <dgm:spPr/>
      <dgm:t>
        <a:bodyPr/>
        <a:lstStyle/>
        <a:p>
          <a:endParaRPr lang="en-US" sz="1400"/>
        </a:p>
      </dgm:t>
    </dgm:pt>
    <dgm:pt modelId="{9A094B47-835A-46E9-BBEA-8EBCEFE7BAAF}" type="sibTrans" cxnId="{A255A321-0465-4C44-A439-4729A8F5DE1F}">
      <dgm:prSet custT="1"/>
      <dgm:spPr/>
      <dgm:t>
        <a:bodyPr/>
        <a:lstStyle/>
        <a:p>
          <a:endParaRPr lang="en-US" sz="1400"/>
        </a:p>
      </dgm:t>
    </dgm:pt>
    <dgm:pt modelId="{C880A7B8-F6FE-4806-9A35-D551D3E63066}">
      <dgm:prSet phldrT="[Text]" custT="1"/>
      <dgm:spPr/>
      <dgm:t>
        <a:bodyPr/>
        <a:lstStyle/>
        <a:p>
          <a:r>
            <a:rPr lang="en-US" sz="1400" dirty="0" smtClean="0"/>
            <a:t>Business process optimization and capacity building</a:t>
          </a:r>
          <a:endParaRPr lang="en-US" sz="1400" dirty="0"/>
        </a:p>
      </dgm:t>
    </dgm:pt>
    <dgm:pt modelId="{2B524EB4-A1EB-4CCC-9A10-59CC15E7E754}" type="parTrans" cxnId="{63D7E71C-3598-49C1-A6BB-7BDF3F989752}">
      <dgm:prSet/>
      <dgm:spPr/>
      <dgm:t>
        <a:bodyPr/>
        <a:lstStyle/>
        <a:p>
          <a:endParaRPr lang="en-US" sz="1400"/>
        </a:p>
      </dgm:t>
    </dgm:pt>
    <dgm:pt modelId="{9355BB92-6D32-41FC-B931-40BA151C58EC}" type="sibTrans" cxnId="{63D7E71C-3598-49C1-A6BB-7BDF3F989752}">
      <dgm:prSet/>
      <dgm:spPr/>
      <dgm:t>
        <a:bodyPr/>
        <a:lstStyle/>
        <a:p>
          <a:endParaRPr lang="en-US" sz="1400"/>
        </a:p>
      </dgm:t>
    </dgm:pt>
    <dgm:pt modelId="{48A0995F-C022-4653-AAD7-72A010DE5643}" type="pres">
      <dgm:prSet presAssocID="{E41A9400-9A5F-4E72-9E91-C40C877CA6CC}" presName="linearFlow" presStyleCnt="0">
        <dgm:presLayoutVars>
          <dgm:resizeHandles val="exact"/>
        </dgm:presLayoutVars>
      </dgm:prSet>
      <dgm:spPr/>
    </dgm:pt>
    <dgm:pt modelId="{1F18D26E-4F8E-4874-A1A2-F33BB45EDC51}" type="pres">
      <dgm:prSet presAssocID="{2462F222-51DE-47FC-8339-00D207E41AB9}" presName="node" presStyleLbl="node1" presStyleIdx="0" presStyleCnt="7">
        <dgm:presLayoutVars>
          <dgm:bulletEnabled val="1"/>
        </dgm:presLayoutVars>
      </dgm:prSet>
      <dgm:spPr/>
      <dgm:t>
        <a:bodyPr/>
        <a:lstStyle/>
        <a:p>
          <a:endParaRPr lang="en-US"/>
        </a:p>
      </dgm:t>
    </dgm:pt>
    <dgm:pt modelId="{A56AC259-8D51-4774-89F6-E63587B731C0}" type="pres">
      <dgm:prSet presAssocID="{3E124ED5-48D1-44B7-B89E-64451BD46D54}" presName="sibTrans" presStyleLbl="sibTrans2D1" presStyleIdx="0" presStyleCnt="6"/>
      <dgm:spPr/>
      <dgm:t>
        <a:bodyPr/>
        <a:lstStyle/>
        <a:p>
          <a:endParaRPr lang="en-US"/>
        </a:p>
      </dgm:t>
    </dgm:pt>
    <dgm:pt modelId="{D6E0F046-0EEF-43E9-B7D0-291E23BB4843}" type="pres">
      <dgm:prSet presAssocID="{3E124ED5-48D1-44B7-B89E-64451BD46D54}" presName="connectorText" presStyleLbl="sibTrans2D1" presStyleIdx="0" presStyleCnt="6"/>
      <dgm:spPr/>
      <dgm:t>
        <a:bodyPr/>
        <a:lstStyle/>
        <a:p>
          <a:endParaRPr lang="en-US"/>
        </a:p>
      </dgm:t>
    </dgm:pt>
    <dgm:pt modelId="{C773A12A-A109-469A-8BCB-9DE959E1F137}" type="pres">
      <dgm:prSet presAssocID="{6A36997A-F180-480E-82F8-E4027652BEA2}" presName="node" presStyleLbl="node1" presStyleIdx="1" presStyleCnt="7">
        <dgm:presLayoutVars>
          <dgm:bulletEnabled val="1"/>
        </dgm:presLayoutVars>
      </dgm:prSet>
      <dgm:spPr/>
      <dgm:t>
        <a:bodyPr/>
        <a:lstStyle/>
        <a:p>
          <a:endParaRPr lang="en-US"/>
        </a:p>
      </dgm:t>
    </dgm:pt>
    <dgm:pt modelId="{4E15359A-F8E3-4B59-87A7-5D7794C3EAF0}" type="pres">
      <dgm:prSet presAssocID="{26CF553D-E81D-4F57-9A22-5FCBC1C6AC9C}" presName="sibTrans" presStyleLbl="sibTrans2D1" presStyleIdx="1" presStyleCnt="6"/>
      <dgm:spPr/>
      <dgm:t>
        <a:bodyPr/>
        <a:lstStyle/>
        <a:p>
          <a:endParaRPr lang="en-US"/>
        </a:p>
      </dgm:t>
    </dgm:pt>
    <dgm:pt modelId="{0C48B3AA-DE84-4DD2-8ACA-7A0F5FDA423F}" type="pres">
      <dgm:prSet presAssocID="{26CF553D-E81D-4F57-9A22-5FCBC1C6AC9C}" presName="connectorText" presStyleLbl="sibTrans2D1" presStyleIdx="1" presStyleCnt="6"/>
      <dgm:spPr/>
      <dgm:t>
        <a:bodyPr/>
        <a:lstStyle/>
        <a:p>
          <a:endParaRPr lang="en-US"/>
        </a:p>
      </dgm:t>
    </dgm:pt>
    <dgm:pt modelId="{321D0089-5FB8-4330-BEFE-E003B7AA3599}" type="pres">
      <dgm:prSet presAssocID="{5B6CF267-50BE-4CCE-B49C-B587EB849E9C}" presName="node" presStyleLbl="node1" presStyleIdx="2" presStyleCnt="7">
        <dgm:presLayoutVars>
          <dgm:bulletEnabled val="1"/>
        </dgm:presLayoutVars>
      </dgm:prSet>
      <dgm:spPr/>
      <dgm:t>
        <a:bodyPr/>
        <a:lstStyle/>
        <a:p>
          <a:endParaRPr lang="en-US"/>
        </a:p>
      </dgm:t>
    </dgm:pt>
    <dgm:pt modelId="{A9E95CF8-F0B0-4D4A-9581-1E41A80A7C4F}" type="pres">
      <dgm:prSet presAssocID="{9D2FA81A-C8B8-4F22-85A3-43930E42E941}" presName="sibTrans" presStyleLbl="sibTrans2D1" presStyleIdx="2" presStyleCnt="6"/>
      <dgm:spPr/>
      <dgm:t>
        <a:bodyPr/>
        <a:lstStyle/>
        <a:p>
          <a:endParaRPr lang="en-US"/>
        </a:p>
      </dgm:t>
    </dgm:pt>
    <dgm:pt modelId="{B237CECC-81B2-4805-A7F0-B139144CDF72}" type="pres">
      <dgm:prSet presAssocID="{9D2FA81A-C8B8-4F22-85A3-43930E42E941}" presName="connectorText" presStyleLbl="sibTrans2D1" presStyleIdx="2" presStyleCnt="6"/>
      <dgm:spPr/>
      <dgm:t>
        <a:bodyPr/>
        <a:lstStyle/>
        <a:p>
          <a:endParaRPr lang="en-US"/>
        </a:p>
      </dgm:t>
    </dgm:pt>
    <dgm:pt modelId="{438BFC95-E7DA-45D0-8E96-FBD89878DDBF}" type="pres">
      <dgm:prSet presAssocID="{C1843363-4464-46B2-B5AA-82FD1FB37302}" presName="node" presStyleLbl="node1" presStyleIdx="3" presStyleCnt="7">
        <dgm:presLayoutVars>
          <dgm:bulletEnabled val="1"/>
        </dgm:presLayoutVars>
      </dgm:prSet>
      <dgm:spPr/>
      <dgm:t>
        <a:bodyPr/>
        <a:lstStyle/>
        <a:p>
          <a:endParaRPr lang="en-US"/>
        </a:p>
      </dgm:t>
    </dgm:pt>
    <dgm:pt modelId="{5727E7EE-0012-4C2D-8515-AA168E627A0E}" type="pres">
      <dgm:prSet presAssocID="{C80A4504-AF50-4516-9F66-E5B1FB8DB1A8}" presName="sibTrans" presStyleLbl="sibTrans2D1" presStyleIdx="3" presStyleCnt="6"/>
      <dgm:spPr/>
      <dgm:t>
        <a:bodyPr/>
        <a:lstStyle/>
        <a:p>
          <a:endParaRPr lang="en-US"/>
        </a:p>
      </dgm:t>
    </dgm:pt>
    <dgm:pt modelId="{11C9E189-4157-4011-A774-360A14252555}" type="pres">
      <dgm:prSet presAssocID="{C80A4504-AF50-4516-9F66-E5B1FB8DB1A8}" presName="connectorText" presStyleLbl="sibTrans2D1" presStyleIdx="3" presStyleCnt="6"/>
      <dgm:spPr/>
      <dgm:t>
        <a:bodyPr/>
        <a:lstStyle/>
        <a:p>
          <a:endParaRPr lang="en-US"/>
        </a:p>
      </dgm:t>
    </dgm:pt>
    <dgm:pt modelId="{5641FE4E-B32E-4D91-A3D0-48C8E54951C6}" type="pres">
      <dgm:prSet presAssocID="{9CE0701D-8450-48F8-8BFF-995D2F24CCB0}" presName="node" presStyleLbl="node1" presStyleIdx="4" presStyleCnt="7">
        <dgm:presLayoutVars>
          <dgm:bulletEnabled val="1"/>
        </dgm:presLayoutVars>
      </dgm:prSet>
      <dgm:spPr/>
      <dgm:t>
        <a:bodyPr/>
        <a:lstStyle/>
        <a:p>
          <a:endParaRPr lang="en-US"/>
        </a:p>
      </dgm:t>
    </dgm:pt>
    <dgm:pt modelId="{CAFEFA20-6084-41D5-9105-3176DC227F94}" type="pres">
      <dgm:prSet presAssocID="{76EC83B7-2E2D-43E8-9EF3-241CD824E314}" presName="sibTrans" presStyleLbl="sibTrans2D1" presStyleIdx="4" presStyleCnt="6"/>
      <dgm:spPr/>
      <dgm:t>
        <a:bodyPr/>
        <a:lstStyle/>
        <a:p>
          <a:endParaRPr lang="en-US"/>
        </a:p>
      </dgm:t>
    </dgm:pt>
    <dgm:pt modelId="{EF607DBE-C13D-4178-9049-5F9E7E2246FF}" type="pres">
      <dgm:prSet presAssocID="{76EC83B7-2E2D-43E8-9EF3-241CD824E314}" presName="connectorText" presStyleLbl="sibTrans2D1" presStyleIdx="4" presStyleCnt="6"/>
      <dgm:spPr/>
      <dgm:t>
        <a:bodyPr/>
        <a:lstStyle/>
        <a:p>
          <a:endParaRPr lang="en-US"/>
        </a:p>
      </dgm:t>
    </dgm:pt>
    <dgm:pt modelId="{3ED9235C-8AD0-43F2-B8C6-4C9AE1BDDE7C}" type="pres">
      <dgm:prSet presAssocID="{D324712F-E8A3-4AF8-8401-9FD19C766737}" presName="node" presStyleLbl="node1" presStyleIdx="5" presStyleCnt="7">
        <dgm:presLayoutVars>
          <dgm:bulletEnabled val="1"/>
        </dgm:presLayoutVars>
      </dgm:prSet>
      <dgm:spPr/>
      <dgm:t>
        <a:bodyPr/>
        <a:lstStyle/>
        <a:p>
          <a:endParaRPr lang="en-US"/>
        </a:p>
      </dgm:t>
    </dgm:pt>
    <dgm:pt modelId="{D83B1AB3-D20F-4233-A989-DCAAA619A9C1}" type="pres">
      <dgm:prSet presAssocID="{9A094B47-835A-46E9-BBEA-8EBCEFE7BAAF}" presName="sibTrans" presStyleLbl="sibTrans2D1" presStyleIdx="5" presStyleCnt="6"/>
      <dgm:spPr/>
      <dgm:t>
        <a:bodyPr/>
        <a:lstStyle/>
        <a:p>
          <a:endParaRPr lang="en-US"/>
        </a:p>
      </dgm:t>
    </dgm:pt>
    <dgm:pt modelId="{AB8D4F91-D915-43B3-8240-2CD3D48D05F9}" type="pres">
      <dgm:prSet presAssocID="{9A094B47-835A-46E9-BBEA-8EBCEFE7BAAF}" presName="connectorText" presStyleLbl="sibTrans2D1" presStyleIdx="5" presStyleCnt="6"/>
      <dgm:spPr/>
      <dgm:t>
        <a:bodyPr/>
        <a:lstStyle/>
        <a:p>
          <a:endParaRPr lang="en-US"/>
        </a:p>
      </dgm:t>
    </dgm:pt>
    <dgm:pt modelId="{A729A8AA-915C-4E26-98F2-0F72DF7183F7}" type="pres">
      <dgm:prSet presAssocID="{C880A7B8-F6FE-4806-9A35-D551D3E63066}" presName="node" presStyleLbl="node1" presStyleIdx="6" presStyleCnt="7">
        <dgm:presLayoutVars>
          <dgm:bulletEnabled val="1"/>
        </dgm:presLayoutVars>
      </dgm:prSet>
      <dgm:spPr/>
      <dgm:t>
        <a:bodyPr/>
        <a:lstStyle/>
        <a:p>
          <a:endParaRPr lang="en-US"/>
        </a:p>
      </dgm:t>
    </dgm:pt>
  </dgm:ptLst>
  <dgm:cxnLst>
    <dgm:cxn modelId="{A0D6961D-A869-4006-B12C-BD783DD44FE7}" type="presOf" srcId="{9A094B47-835A-46E9-BBEA-8EBCEFE7BAAF}" destId="{D83B1AB3-D20F-4233-A989-DCAAA619A9C1}" srcOrd="0" destOrd="0" presId="urn:microsoft.com/office/officeart/2005/8/layout/process2"/>
    <dgm:cxn modelId="{6236B3EC-B952-48DC-A420-A3F1399F217F}" type="presOf" srcId="{26CF553D-E81D-4F57-9A22-5FCBC1C6AC9C}" destId="{4E15359A-F8E3-4B59-87A7-5D7794C3EAF0}" srcOrd="0" destOrd="0" presId="urn:microsoft.com/office/officeart/2005/8/layout/process2"/>
    <dgm:cxn modelId="{A255A321-0465-4C44-A439-4729A8F5DE1F}" srcId="{E41A9400-9A5F-4E72-9E91-C40C877CA6CC}" destId="{D324712F-E8A3-4AF8-8401-9FD19C766737}" srcOrd="5" destOrd="0" parTransId="{4A861939-85DF-45EE-BF5E-F4E44DB2B2EB}" sibTransId="{9A094B47-835A-46E9-BBEA-8EBCEFE7BAAF}"/>
    <dgm:cxn modelId="{D86CAF51-850A-438D-A4EF-2475808BF2F3}" srcId="{E41A9400-9A5F-4E72-9E91-C40C877CA6CC}" destId="{9CE0701D-8450-48F8-8BFF-995D2F24CCB0}" srcOrd="4" destOrd="0" parTransId="{9F8A6767-83D2-4B0D-BDC6-F1CC688CC8F6}" sibTransId="{76EC83B7-2E2D-43E8-9EF3-241CD824E314}"/>
    <dgm:cxn modelId="{5DFDA2F2-F047-482C-AD47-147DD7681B76}" type="presOf" srcId="{E41A9400-9A5F-4E72-9E91-C40C877CA6CC}" destId="{48A0995F-C022-4653-AAD7-72A010DE5643}" srcOrd="0" destOrd="0" presId="urn:microsoft.com/office/officeart/2005/8/layout/process2"/>
    <dgm:cxn modelId="{AA05533B-09DD-4AEF-8C3F-75570D9AE0AC}" type="presOf" srcId="{C80A4504-AF50-4516-9F66-E5B1FB8DB1A8}" destId="{11C9E189-4157-4011-A774-360A14252555}" srcOrd="1" destOrd="0" presId="urn:microsoft.com/office/officeart/2005/8/layout/process2"/>
    <dgm:cxn modelId="{570921C7-3281-4CA4-AA0C-AE53EFEFB903}" type="presOf" srcId="{9A094B47-835A-46E9-BBEA-8EBCEFE7BAAF}" destId="{AB8D4F91-D915-43B3-8240-2CD3D48D05F9}" srcOrd="1" destOrd="0" presId="urn:microsoft.com/office/officeart/2005/8/layout/process2"/>
    <dgm:cxn modelId="{B657D0D0-A14D-4268-AE29-5F32EF2D244F}" type="presOf" srcId="{9CE0701D-8450-48F8-8BFF-995D2F24CCB0}" destId="{5641FE4E-B32E-4D91-A3D0-48C8E54951C6}" srcOrd="0" destOrd="0" presId="urn:microsoft.com/office/officeart/2005/8/layout/process2"/>
    <dgm:cxn modelId="{63D7E71C-3598-49C1-A6BB-7BDF3F989752}" srcId="{E41A9400-9A5F-4E72-9E91-C40C877CA6CC}" destId="{C880A7B8-F6FE-4806-9A35-D551D3E63066}" srcOrd="6" destOrd="0" parTransId="{2B524EB4-A1EB-4CCC-9A10-59CC15E7E754}" sibTransId="{9355BB92-6D32-41FC-B931-40BA151C58EC}"/>
    <dgm:cxn modelId="{B1BBDB52-B7F2-428B-A8DB-2543F219E58F}" type="presOf" srcId="{9D2FA81A-C8B8-4F22-85A3-43930E42E941}" destId="{B237CECC-81B2-4805-A7F0-B139144CDF72}" srcOrd="1" destOrd="0" presId="urn:microsoft.com/office/officeart/2005/8/layout/process2"/>
    <dgm:cxn modelId="{966DFB0E-585A-4568-88FA-0B1DB1B5468C}" type="presOf" srcId="{3E124ED5-48D1-44B7-B89E-64451BD46D54}" destId="{A56AC259-8D51-4774-89F6-E63587B731C0}" srcOrd="0" destOrd="0" presId="urn:microsoft.com/office/officeart/2005/8/layout/process2"/>
    <dgm:cxn modelId="{EE2B429B-1C83-4685-A66F-285C3AE2E252}" type="presOf" srcId="{76EC83B7-2E2D-43E8-9EF3-241CD824E314}" destId="{CAFEFA20-6084-41D5-9105-3176DC227F94}" srcOrd="0" destOrd="0" presId="urn:microsoft.com/office/officeart/2005/8/layout/process2"/>
    <dgm:cxn modelId="{8FBBD844-5F29-46E9-9A33-92DA650A8224}" type="presOf" srcId="{76EC83B7-2E2D-43E8-9EF3-241CD824E314}" destId="{EF607DBE-C13D-4178-9049-5F9E7E2246FF}" srcOrd="1" destOrd="0" presId="urn:microsoft.com/office/officeart/2005/8/layout/process2"/>
    <dgm:cxn modelId="{58ED5EBD-6366-417B-8D0E-991A712C00B0}" type="presOf" srcId="{5B6CF267-50BE-4CCE-B49C-B587EB849E9C}" destId="{321D0089-5FB8-4330-BEFE-E003B7AA3599}" srcOrd="0" destOrd="0" presId="urn:microsoft.com/office/officeart/2005/8/layout/process2"/>
    <dgm:cxn modelId="{E44F3CB6-E4D6-4B23-88BD-DFD4DBCA11E2}" type="presOf" srcId="{C880A7B8-F6FE-4806-9A35-D551D3E63066}" destId="{A729A8AA-915C-4E26-98F2-0F72DF7183F7}" srcOrd="0" destOrd="0" presId="urn:microsoft.com/office/officeart/2005/8/layout/process2"/>
    <dgm:cxn modelId="{496E1260-44B2-4ECC-AD81-6BC63BD408D9}" srcId="{E41A9400-9A5F-4E72-9E91-C40C877CA6CC}" destId="{5B6CF267-50BE-4CCE-B49C-B587EB849E9C}" srcOrd="2" destOrd="0" parTransId="{75BB40F9-1DE6-4679-81BD-8734F3EAE504}" sibTransId="{9D2FA81A-C8B8-4F22-85A3-43930E42E941}"/>
    <dgm:cxn modelId="{8A8AD473-C034-4C89-BFF7-19786E8465DB}" type="presOf" srcId="{26CF553D-E81D-4F57-9A22-5FCBC1C6AC9C}" destId="{0C48B3AA-DE84-4DD2-8ACA-7A0F5FDA423F}" srcOrd="1" destOrd="0" presId="urn:microsoft.com/office/officeart/2005/8/layout/process2"/>
    <dgm:cxn modelId="{9B812433-1FFD-472E-8FFB-05D601DCA889}" srcId="{E41A9400-9A5F-4E72-9E91-C40C877CA6CC}" destId="{C1843363-4464-46B2-B5AA-82FD1FB37302}" srcOrd="3" destOrd="0" parTransId="{5615DE45-D757-492D-90E3-F0A092972332}" sibTransId="{C80A4504-AF50-4516-9F66-E5B1FB8DB1A8}"/>
    <dgm:cxn modelId="{CD41E038-A079-48BB-8056-95C35F7176B9}" type="presOf" srcId="{3E124ED5-48D1-44B7-B89E-64451BD46D54}" destId="{D6E0F046-0EEF-43E9-B7D0-291E23BB4843}" srcOrd="1" destOrd="0" presId="urn:microsoft.com/office/officeart/2005/8/layout/process2"/>
    <dgm:cxn modelId="{61A6D7EA-92F1-4252-B251-37F8C8C94CD5}" type="presOf" srcId="{C1843363-4464-46B2-B5AA-82FD1FB37302}" destId="{438BFC95-E7DA-45D0-8E96-FBD89878DDBF}" srcOrd="0" destOrd="0" presId="urn:microsoft.com/office/officeart/2005/8/layout/process2"/>
    <dgm:cxn modelId="{568B2AE3-FF3A-44D7-BB08-8C5B4CBF7E29}" type="presOf" srcId="{9D2FA81A-C8B8-4F22-85A3-43930E42E941}" destId="{A9E95CF8-F0B0-4D4A-9581-1E41A80A7C4F}" srcOrd="0" destOrd="0" presId="urn:microsoft.com/office/officeart/2005/8/layout/process2"/>
    <dgm:cxn modelId="{540931DC-3FE3-40CA-917A-67591E480094}" type="presOf" srcId="{C80A4504-AF50-4516-9F66-E5B1FB8DB1A8}" destId="{5727E7EE-0012-4C2D-8515-AA168E627A0E}" srcOrd="0" destOrd="0" presId="urn:microsoft.com/office/officeart/2005/8/layout/process2"/>
    <dgm:cxn modelId="{6BFF0F71-1552-4EBB-8083-67C3D95C5713}" type="presOf" srcId="{2462F222-51DE-47FC-8339-00D207E41AB9}" destId="{1F18D26E-4F8E-4874-A1A2-F33BB45EDC51}" srcOrd="0" destOrd="0" presId="urn:microsoft.com/office/officeart/2005/8/layout/process2"/>
    <dgm:cxn modelId="{4746EF0C-62DE-422E-8995-A0E2D1DEE838}" srcId="{E41A9400-9A5F-4E72-9E91-C40C877CA6CC}" destId="{6A36997A-F180-480E-82F8-E4027652BEA2}" srcOrd="1" destOrd="0" parTransId="{246FE3F9-13C9-4D6F-9E84-C4BC9DA6DC07}" sibTransId="{26CF553D-E81D-4F57-9A22-5FCBC1C6AC9C}"/>
    <dgm:cxn modelId="{402EBA49-25D9-4C78-A47E-8618976583DB}" srcId="{E41A9400-9A5F-4E72-9E91-C40C877CA6CC}" destId="{2462F222-51DE-47FC-8339-00D207E41AB9}" srcOrd="0" destOrd="0" parTransId="{1330837A-819C-481C-AA37-10113BE4D53F}" sibTransId="{3E124ED5-48D1-44B7-B89E-64451BD46D54}"/>
    <dgm:cxn modelId="{18AEB988-74D3-46B4-AFF5-07FDF0B275FD}" type="presOf" srcId="{6A36997A-F180-480E-82F8-E4027652BEA2}" destId="{C773A12A-A109-469A-8BCB-9DE959E1F137}" srcOrd="0" destOrd="0" presId="urn:microsoft.com/office/officeart/2005/8/layout/process2"/>
    <dgm:cxn modelId="{4A5EE8D7-92DE-4177-AB3D-C9B756542397}" type="presOf" srcId="{D324712F-E8A3-4AF8-8401-9FD19C766737}" destId="{3ED9235C-8AD0-43F2-B8C6-4C9AE1BDDE7C}" srcOrd="0" destOrd="0" presId="urn:microsoft.com/office/officeart/2005/8/layout/process2"/>
    <dgm:cxn modelId="{A948782E-FFF2-4516-8D85-B0FD8692368F}" type="presParOf" srcId="{48A0995F-C022-4653-AAD7-72A010DE5643}" destId="{1F18D26E-4F8E-4874-A1A2-F33BB45EDC51}" srcOrd="0" destOrd="0" presId="urn:microsoft.com/office/officeart/2005/8/layout/process2"/>
    <dgm:cxn modelId="{7BE845DF-3F15-405B-B05A-9E6071B24BB6}" type="presParOf" srcId="{48A0995F-C022-4653-AAD7-72A010DE5643}" destId="{A56AC259-8D51-4774-89F6-E63587B731C0}" srcOrd="1" destOrd="0" presId="urn:microsoft.com/office/officeart/2005/8/layout/process2"/>
    <dgm:cxn modelId="{84CD884F-D3DB-421C-B6A5-10938B2A6682}" type="presParOf" srcId="{A56AC259-8D51-4774-89F6-E63587B731C0}" destId="{D6E0F046-0EEF-43E9-B7D0-291E23BB4843}" srcOrd="0" destOrd="0" presId="urn:microsoft.com/office/officeart/2005/8/layout/process2"/>
    <dgm:cxn modelId="{CD87D108-2073-4D1E-95C8-3D991E8887FC}" type="presParOf" srcId="{48A0995F-C022-4653-AAD7-72A010DE5643}" destId="{C773A12A-A109-469A-8BCB-9DE959E1F137}" srcOrd="2" destOrd="0" presId="urn:microsoft.com/office/officeart/2005/8/layout/process2"/>
    <dgm:cxn modelId="{4B6FF6DF-3BB9-418C-94E7-D8D5D1997116}" type="presParOf" srcId="{48A0995F-C022-4653-AAD7-72A010DE5643}" destId="{4E15359A-F8E3-4B59-87A7-5D7794C3EAF0}" srcOrd="3" destOrd="0" presId="urn:microsoft.com/office/officeart/2005/8/layout/process2"/>
    <dgm:cxn modelId="{B68EB157-B5E4-4BFA-AB00-076CCFCF9D1C}" type="presParOf" srcId="{4E15359A-F8E3-4B59-87A7-5D7794C3EAF0}" destId="{0C48B3AA-DE84-4DD2-8ACA-7A0F5FDA423F}" srcOrd="0" destOrd="0" presId="urn:microsoft.com/office/officeart/2005/8/layout/process2"/>
    <dgm:cxn modelId="{D75E5D31-43EC-41F0-9476-DF74FDA87009}" type="presParOf" srcId="{48A0995F-C022-4653-AAD7-72A010DE5643}" destId="{321D0089-5FB8-4330-BEFE-E003B7AA3599}" srcOrd="4" destOrd="0" presId="urn:microsoft.com/office/officeart/2005/8/layout/process2"/>
    <dgm:cxn modelId="{833DB249-EEDA-4580-B1CD-87D940C95CE3}" type="presParOf" srcId="{48A0995F-C022-4653-AAD7-72A010DE5643}" destId="{A9E95CF8-F0B0-4D4A-9581-1E41A80A7C4F}" srcOrd="5" destOrd="0" presId="urn:microsoft.com/office/officeart/2005/8/layout/process2"/>
    <dgm:cxn modelId="{A07B01E7-CA96-4E9E-85B3-DC7E5C9FDB3B}" type="presParOf" srcId="{A9E95CF8-F0B0-4D4A-9581-1E41A80A7C4F}" destId="{B237CECC-81B2-4805-A7F0-B139144CDF72}" srcOrd="0" destOrd="0" presId="urn:microsoft.com/office/officeart/2005/8/layout/process2"/>
    <dgm:cxn modelId="{63E57C1E-D591-4B0F-A51E-55BE55C21CB3}" type="presParOf" srcId="{48A0995F-C022-4653-AAD7-72A010DE5643}" destId="{438BFC95-E7DA-45D0-8E96-FBD89878DDBF}" srcOrd="6" destOrd="0" presId="urn:microsoft.com/office/officeart/2005/8/layout/process2"/>
    <dgm:cxn modelId="{AC6C7FA9-5379-4C1C-A2F0-EA4C8AC83123}" type="presParOf" srcId="{48A0995F-C022-4653-AAD7-72A010DE5643}" destId="{5727E7EE-0012-4C2D-8515-AA168E627A0E}" srcOrd="7" destOrd="0" presId="urn:microsoft.com/office/officeart/2005/8/layout/process2"/>
    <dgm:cxn modelId="{55865921-A620-42EF-988C-1A1441553FB4}" type="presParOf" srcId="{5727E7EE-0012-4C2D-8515-AA168E627A0E}" destId="{11C9E189-4157-4011-A774-360A14252555}" srcOrd="0" destOrd="0" presId="urn:microsoft.com/office/officeart/2005/8/layout/process2"/>
    <dgm:cxn modelId="{98B4756D-B709-455D-8574-D3626BAAE6BA}" type="presParOf" srcId="{48A0995F-C022-4653-AAD7-72A010DE5643}" destId="{5641FE4E-B32E-4D91-A3D0-48C8E54951C6}" srcOrd="8" destOrd="0" presId="urn:microsoft.com/office/officeart/2005/8/layout/process2"/>
    <dgm:cxn modelId="{8978E47F-62E3-43EC-92A2-F97FB9A5261B}" type="presParOf" srcId="{48A0995F-C022-4653-AAD7-72A010DE5643}" destId="{CAFEFA20-6084-41D5-9105-3176DC227F94}" srcOrd="9" destOrd="0" presId="urn:microsoft.com/office/officeart/2005/8/layout/process2"/>
    <dgm:cxn modelId="{C01F5BAC-CB12-4745-9495-FADC980711F2}" type="presParOf" srcId="{CAFEFA20-6084-41D5-9105-3176DC227F94}" destId="{EF607DBE-C13D-4178-9049-5F9E7E2246FF}" srcOrd="0" destOrd="0" presId="urn:microsoft.com/office/officeart/2005/8/layout/process2"/>
    <dgm:cxn modelId="{6F36F394-481B-4876-9501-4C38BC282FD0}" type="presParOf" srcId="{48A0995F-C022-4653-AAD7-72A010DE5643}" destId="{3ED9235C-8AD0-43F2-B8C6-4C9AE1BDDE7C}" srcOrd="10" destOrd="0" presId="urn:microsoft.com/office/officeart/2005/8/layout/process2"/>
    <dgm:cxn modelId="{157ABBCB-CEE5-444D-9590-E2DBF5546542}" type="presParOf" srcId="{48A0995F-C022-4653-AAD7-72A010DE5643}" destId="{D83B1AB3-D20F-4233-A989-DCAAA619A9C1}" srcOrd="11" destOrd="0" presId="urn:microsoft.com/office/officeart/2005/8/layout/process2"/>
    <dgm:cxn modelId="{9B4B03AE-ED29-48C0-ADC9-CF8EFB5CA2FE}" type="presParOf" srcId="{D83B1AB3-D20F-4233-A989-DCAAA619A9C1}" destId="{AB8D4F91-D915-43B3-8240-2CD3D48D05F9}" srcOrd="0" destOrd="0" presId="urn:microsoft.com/office/officeart/2005/8/layout/process2"/>
    <dgm:cxn modelId="{E02222A7-7A62-4152-914D-630B67E5AA35}" type="presParOf" srcId="{48A0995F-C022-4653-AAD7-72A010DE5643}" destId="{A729A8AA-915C-4E26-98F2-0F72DF7183F7}" srcOrd="12"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AF2A24-1859-4F47-9708-93FA5684084C}" type="doc">
      <dgm:prSet loTypeId="urn:microsoft.com/office/officeart/2005/8/layout/default" loCatId="list" qsTypeId="urn:microsoft.com/office/officeart/2005/8/quickstyle/simple1" qsCatId="simple" csTypeId="urn:microsoft.com/office/officeart/2005/8/colors/accent3_2" csCatId="accent3" phldr="1"/>
      <dgm:spPr/>
      <dgm:t>
        <a:bodyPr/>
        <a:lstStyle/>
        <a:p>
          <a:endParaRPr lang="en-US"/>
        </a:p>
      </dgm:t>
    </dgm:pt>
    <dgm:pt modelId="{AB1A42D3-236E-4732-9C71-1CABD9B95E46}">
      <dgm:prSet phldrT="[Text]" custT="1"/>
      <dgm:spPr/>
      <dgm:t>
        <a:bodyPr/>
        <a:lstStyle/>
        <a:p>
          <a:r>
            <a:rPr lang="en-US" sz="1300" smtClean="0">
              <a:solidFill>
                <a:schemeClr val="tx1"/>
              </a:solidFill>
            </a:rPr>
            <a:t>Board governance strengthening</a:t>
          </a:r>
          <a:endParaRPr lang="en-US" sz="1300">
            <a:solidFill>
              <a:schemeClr val="tx1"/>
            </a:solidFill>
          </a:endParaRPr>
        </a:p>
      </dgm:t>
    </dgm:pt>
    <dgm:pt modelId="{5ABEEBF7-D845-48FE-9E29-CDDFB07EF089}" type="parTrans" cxnId="{C120204B-E77E-40A9-9954-E78CAF199916}">
      <dgm:prSet/>
      <dgm:spPr/>
      <dgm:t>
        <a:bodyPr/>
        <a:lstStyle/>
        <a:p>
          <a:endParaRPr lang="en-US" sz="1300">
            <a:solidFill>
              <a:schemeClr val="tx1"/>
            </a:solidFill>
          </a:endParaRPr>
        </a:p>
      </dgm:t>
    </dgm:pt>
    <dgm:pt modelId="{D15C42E6-113F-464E-BD7D-BA9884C5DC13}" type="sibTrans" cxnId="{C120204B-E77E-40A9-9954-E78CAF199916}">
      <dgm:prSet/>
      <dgm:spPr/>
      <dgm:t>
        <a:bodyPr/>
        <a:lstStyle/>
        <a:p>
          <a:endParaRPr lang="en-US" sz="1300">
            <a:solidFill>
              <a:schemeClr val="tx1"/>
            </a:solidFill>
          </a:endParaRPr>
        </a:p>
      </dgm:t>
    </dgm:pt>
    <dgm:pt modelId="{C732E65B-1846-43D0-8822-F99A8C362789}">
      <dgm:prSet phldrT="[Text]" custT="1"/>
      <dgm:spPr/>
      <dgm:t>
        <a:bodyPr/>
        <a:lstStyle/>
        <a:p>
          <a:r>
            <a:rPr lang="en-US" sz="1300" smtClean="0">
              <a:solidFill>
                <a:schemeClr val="tx1"/>
              </a:solidFill>
            </a:rPr>
            <a:t>Human Resources management</a:t>
          </a:r>
          <a:endParaRPr lang="en-US" sz="1300">
            <a:solidFill>
              <a:schemeClr val="tx1"/>
            </a:solidFill>
          </a:endParaRPr>
        </a:p>
      </dgm:t>
    </dgm:pt>
    <dgm:pt modelId="{8A774A13-B69C-4C1D-A065-69FBFC26433B}" type="parTrans" cxnId="{3AB8A224-4AE9-48D7-8904-DD17741981F2}">
      <dgm:prSet/>
      <dgm:spPr/>
      <dgm:t>
        <a:bodyPr/>
        <a:lstStyle/>
        <a:p>
          <a:endParaRPr lang="en-US" sz="1300">
            <a:solidFill>
              <a:schemeClr val="tx1"/>
            </a:solidFill>
          </a:endParaRPr>
        </a:p>
      </dgm:t>
    </dgm:pt>
    <dgm:pt modelId="{A68D22DE-E201-40E6-9A9E-6C42E56D1BA9}" type="sibTrans" cxnId="{3AB8A224-4AE9-48D7-8904-DD17741981F2}">
      <dgm:prSet/>
      <dgm:spPr/>
      <dgm:t>
        <a:bodyPr/>
        <a:lstStyle/>
        <a:p>
          <a:endParaRPr lang="en-US" sz="1300">
            <a:solidFill>
              <a:schemeClr val="tx1"/>
            </a:solidFill>
          </a:endParaRPr>
        </a:p>
      </dgm:t>
    </dgm:pt>
    <dgm:pt modelId="{6662520A-4424-4980-BEEF-2A28F3D21CDE}">
      <dgm:prSet phldrT="[Text]" custT="1"/>
      <dgm:spPr/>
      <dgm:t>
        <a:bodyPr/>
        <a:lstStyle/>
        <a:p>
          <a:r>
            <a:rPr lang="en-US" sz="1300" smtClean="0">
              <a:solidFill>
                <a:schemeClr val="tx1"/>
              </a:solidFill>
            </a:rPr>
            <a:t>Financial management</a:t>
          </a:r>
          <a:endParaRPr lang="en-US" sz="1300">
            <a:solidFill>
              <a:schemeClr val="tx1"/>
            </a:solidFill>
          </a:endParaRPr>
        </a:p>
      </dgm:t>
    </dgm:pt>
    <dgm:pt modelId="{7C8B8108-13FE-4C2A-926A-9912AF742150}" type="parTrans" cxnId="{9544B147-E754-4D54-A0CA-6ED3CEC280DD}">
      <dgm:prSet/>
      <dgm:spPr/>
      <dgm:t>
        <a:bodyPr/>
        <a:lstStyle/>
        <a:p>
          <a:endParaRPr lang="en-US" sz="1300">
            <a:solidFill>
              <a:schemeClr val="tx1"/>
            </a:solidFill>
          </a:endParaRPr>
        </a:p>
      </dgm:t>
    </dgm:pt>
    <dgm:pt modelId="{D33A818B-2576-4787-8F8B-4849A44F6F31}" type="sibTrans" cxnId="{9544B147-E754-4D54-A0CA-6ED3CEC280DD}">
      <dgm:prSet/>
      <dgm:spPr/>
      <dgm:t>
        <a:bodyPr/>
        <a:lstStyle/>
        <a:p>
          <a:endParaRPr lang="en-US" sz="1300">
            <a:solidFill>
              <a:schemeClr val="tx1"/>
            </a:solidFill>
          </a:endParaRPr>
        </a:p>
      </dgm:t>
    </dgm:pt>
    <dgm:pt modelId="{276C79EE-648E-4B77-9A7B-8537CCD9530D}">
      <dgm:prSet phldrT="[Text]" custT="1"/>
      <dgm:spPr/>
      <dgm:t>
        <a:bodyPr/>
        <a:lstStyle/>
        <a:p>
          <a:r>
            <a:rPr lang="en-US" sz="1300" dirty="0" smtClean="0">
              <a:solidFill>
                <a:schemeClr val="tx1"/>
              </a:solidFill>
            </a:rPr>
            <a:t>Procurement and inventory management</a:t>
          </a:r>
          <a:endParaRPr lang="en-US" sz="1300" dirty="0">
            <a:solidFill>
              <a:schemeClr val="tx1"/>
            </a:solidFill>
          </a:endParaRPr>
        </a:p>
      </dgm:t>
    </dgm:pt>
    <dgm:pt modelId="{ADCB46B2-5862-4674-BA51-57AD2957D1B1}" type="parTrans" cxnId="{BC92A149-AB63-442C-9147-8AA30F7C5C2D}">
      <dgm:prSet/>
      <dgm:spPr/>
      <dgm:t>
        <a:bodyPr/>
        <a:lstStyle/>
        <a:p>
          <a:endParaRPr lang="en-US" sz="1300">
            <a:solidFill>
              <a:schemeClr val="tx1"/>
            </a:solidFill>
          </a:endParaRPr>
        </a:p>
      </dgm:t>
    </dgm:pt>
    <dgm:pt modelId="{BD73AA4A-B839-40F7-908A-71B0645B5AD9}" type="sibTrans" cxnId="{BC92A149-AB63-442C-9147-8AA30F7C5C2D}">
      <dgm:prSet/>
      <dgm:spPr/>
      <dgm:t>
        <a:bodyPr/>
        <a:lstStyle/>
        <a:p>
          <a:endParaRPr lang="en-US" sz="1300">
            <a:solidFill>
              <a:schemeClr val="tx1"/>
            </a:solidFill>
          </a:endParaRPr>
        </a:p>
      </dgm:t>
    </dgm:pt>
    <dgm:pt modelId="{4DE6C107-0D98-4407-8F42-8FAFBE1C9ADE}">
      <dgm:prSet phldrT="[Text]" custT="1"/>
      <dgm:spPr/>
      <dgm:t>
        <a:bodyPr/>
        <a:lstStyle/>
        <a:p>
          <a:r>
            <a:rPr lang="en-US" sz="1300" smtClean="0">
              <a:solidFill>
                <a:schemeClr val="tx1"/>
              </a:solidFill>
            </a:rPr>
            <a:t>Regulatory and commercial affairs, single buyer activities</a:t>
          </a:r>
          <a:endParaRPr lang="en-US" sz="1300">
            <a:solidFill>
              <a:schemeClr val="tx1"/>
            </a:solidFill>
          </a:endParaRPr>
        </a:p>
      </dgm:t>
    </dgm:pt>
    <dgm:pt modelId="{5EBD799A-8893-4016-8AD1-3A5DD12615FC}" type="parTrans" cxnId="{03BB9317-3095-4D27-B394-9DAD3DAAAEB4}">
      <dgm:prSet/>
      <dgm:spPr/>
      <dgm:t>
        <a:bodyPr/>
        <a:lstStyle/>
        <a:p>
          <a:endParaRPr lang="en-US" sz="1300">
            <a:solidFill>
              <a:schemeClr val="tx1"/>
            </a:solidFill>
          </a:endParaRPr>
        </a:p>
      </dgm:t>
    </dgm:pt>
    <dgm:pt modelId="{AEE8A802-B9AA-491A-91CD-D791A0F9E5C2}" type="sibTrans" cxnId="{03BB9317-3095-4D27-B394-9DAD3DAAAEB4}">
      <dgm:prSet/>
      <dgm:spPr/>
      <dgm:t>
        <a:bodyPr/>
        <a:lstStyle/>
        <a:p>
          <a:endParaRPr lang="en-US" sz="1300">
            <a:solidFill>
              <a:schemeClr val="tx1"/>
            </a:solidFill>
          </a:endParaRPr>
        </a:p>
      </dgm:t>
    </dgm:pt>
    <dgm:pt modelId="{773BC39F-6CC3-420B-9EB4-0A9CC5C278B0}">
      <dgm:prSet phldrT="[Text]" custT="1"/>
      <dgm:spPr/>
      <dgm:t>
        <a:bodyPr/>
        <a:lstStyle/>
        <a:p>
          <a:r>
            <a:rPr lang="en-US" sz="1300" smtClean="0">
              <a:solidFill>
                <a:schemeClr val="tx1"/>
              </a:solidFill>
            </a:rPr>
            <a:t>ICT strategy and implementation</a:t>
          </a:r>
          <a:endParaRPr lang="en-US" sz="1300">
            <a:solidFill>
              <a:schemeClr val="tx1"/>
            </a:solidFill>
          </a:endParaRPr>
        </a:p>
      </dgm:t>
    </dgm:pt>
    <dgm:pt modelId="{56ACA1B1-7A34-4930-A0EF-C4CEB4684173}" type="parTrans" cxnId="{68D5279E-CB4B-42B2-9BEF-C9E655AA3A28}">
      <dgm:prSet/>
      <dgm:spPr/>
      <dgm:t>
        <a:bodyPr/>
        <a:lstStyle/>
        <a:p>
          <a:endParaRPr lang="en-US" sz="1300">
            <a:solidFill>
              <a:schemeClr val="tx1"/>
            </a:solidFill>
          </a:endParaRPr>
        </a:p>
      </dgm:t>
    </dgm:pt>
    <dgm:pt modelId="{F33509CD-B30D-4EA3-8F71-51A3CA69965B}" type="sibTrans" cxnId="{68D5279E-CB4B-42B2-9BEF-C9E655AA3A28}">
      <dgm:prSet/>
      <dgm:spPr/>
      <dgm:t>
        <a:bodyPr/>
        <a:lstStyle/>
        <a:p>
          <a:endParaRPr lang="en-US" sz="1300">
            <a:solidFill>
              <a:schemeClr val="tx1"/>
            </a:solidFill>
          </a:endParaRPr>
        </a:p>
      </dgm:t>
    </dgm:pt>
    <dgm:pt modelId="{CC61E34A-36EA-4A37-8FB6-5D33D3E97B36}">
      <dgm:prSet phldrT="[Text]" custT="1"/>
      <dgm:spPr/>
      <dgm:t>
        <a:bodyPr/>
        <a:lstStyle/>
        <a:p>
          <a:r>
            <a:rPr lang="en-US" sz="1300" dirty="0" smtClean="0">
              <a:solidFill>
                <a:schemeClr val="tx1"/>
              </a:solidFill>
            </a:rPr>
            <a:t>Generation strengthening and Power plant asset management (O&amp;M Service Company)</a:t>
          </a:r>
          <a:endParaRPr lang="en-US" sz="1300" dirty="0">
            <a:solidFill>
              <a:schemeClr val="tx1"/>
            </a:solidFill>
          </a:endParaRPr>
        </a:p>
      </dgm:t>
    </dgm:pt>
    <dgm:pt modelId="{C8DC4B55-DDC8-4AD6-96B0-5934E06C0E96}" type="parTrans" cxnId="{ECE45EA9-AEA7-40D5-9EC2-79FFEF9EE48D}">
      <dgm:prSet/>
      <dgm:spPr/>
      <dgm:t>
        <a:bodyPr/>
        <a:lstStyle/>
        <a:p>
          <a:endParaRPr lang="en-US" sz="1300">
            <a:solidFill>
              <a:schemeClr val="tx1"/>
            </a:solidFill>
          </a:endParaRPr>
        </a:p>
      </dgm:t>
    </dgm:pt>
    <dgm:pt modelId="{C182EFD8-302F-4785-8B5F-3AEC35180F42}" type="sibTrans" cxnId="{ECE45EA9-AEA7-40D5-9EC2-79FFEF9EE48D}">
      <dgm:prSet/>
      <dgm:spPr/>
      <dgm:t>
        <a:bodyPr/>
        <a:lstStyle/>
        <a:p>
          <a:endParaRPr lang="en-US" sz="1300">
            <a:solidFill>
              <a:schemeClr val="tx1"/>
            </a:solidFill>
          </a:endParaRPr>
        </a:p>
      </dgm:t>
    </dgm:pt>
    <dgm:pt modelId="{15549452-D982-4085-B1CC-6DC9893CB1D8}">
      <dgm:prSet phldrT="[Text]" custT="1"/>
      <dgm:spPr/>
      <dgm:t>
        <a:bodyPr/>
        <a:lstStyle/>
        <a:p>
          <a:r>
            <a:rPr lang="en-US" sz="1300" smtClean="0">
              <a:solidFill>
                <a:schemeClr val="tx1"/>
              </a:solidFill>
            </a:rPr>
            <a:t>Performance monitoring, review and management</a:t>
          </a:r>
          <a:endParaRPr lang="en-US" sz="1300">
            <a:solidFill>
              <a:schemeClr val="tx1"/>
            </a:solidFill>
          </a:endParaRPr>
        </a:p>
      </dgm:t>
    </dgm:pt>
    <dgm:pt modelId="{1D5AEDB9-9A81-4AA9-85ED-ABF81C7FA53A}" type="parTrans" cxnId="{23AAF5F2-1DC9-4E17-9F4E-CF55A26F3A73}">
      <dgm:prSet/>
      <dgm:spPr/>
      <dgm:t>
        <a:bodyPr/>
        <a:lstStyle/>
        <a:p>
          <a:endParaRPr lang="en-US" sz="1300">
            <a:solidFill>
              <a:schemeClr val="tx1"/>
            </a:solidFill>
          </a:endParaRPr>
        </a:p>
      </dgm:t>
    </dgm:pt>
    <dgm:pt modelId="{00888160-2E4C-4391-8E0A-BA1EB0371636}" type="sibTrans" cxnId="{23AAF5F2-1DC9-4E17-9F4E-CF55A26F3A73}">
      <dgm:prSet/>
      <dgm:spPr/>
      <dgm:t>
        <a:bodyPr/>
        <a:lstStyle/>
        <a:p>
          <a:endParaRPr lang="en-US" sz="1300">
            <a:solidFill>
              <a:schemeClr val="tx1"/>
            </a:solidFill>
          </a:endParaRPr>
        </a:p>
      </dgm:t>
    </dgm:pt>
    <dgm:pt modelId="{9708FFE9-4EA9-4F62-8B65-09EA5244DA2D}">
      <dgm:prSet phldrT="[Text]" custT="1"/>
      <dgm:spPr/>
      <dgm:t>
        <a:bodyPr/>
        <a:lstStyle/>
        <a:p>
          <a:r>
            <a:rPr lang="en-US" sz="1300" smtClean="0">
              <a:solidFill>
                <a:schemeClr val="tx1"/>
              </a:solidFill>
            </a:rPr>
            <a:t>Risk management</a:t>
          </a:r>
          <a:endParaRPr lang="en-US" sz="1300">
            <a:solidFill>
              <a:schemeClr val="tx1"/>
            </a:solidFill>
          </a:endParaRPr>
        </a:p>
      </dgm:t>
    </dgm:pt>
    <dgm:pt modelId="{B78DAC13-9C8E-4160-8A79-0345EB39973C}" type="parTrans" cxnId="{9207961B-435B-4471-9FE2-F31C4DC53AC8}">
      <dgm:prSet/>
      <dgm:spPr/>
      <dgm:t>
        <a:bodyPr/>
        <a:lstStyle/>
        <a:p>
          <a:endParaRPr lang="en-US" sz="1300">
            <a:solidFill>
              <a:schemeClr val="tx1"/>
            </a:solidFill>
          </a:endParaRPr>
        </a:p>
      </dgm:t>
    </dgm:pt>
    <dgm:pt modelId="{31A8831B-C64E-44E3-9FC8-7B97CD6ACBCE}" type="sibTrans" cxnId="{9207961B-435B-4471-9FE2-F31C4DC53AC8}">
      <dgm:prSet/>
      <dgm:spPr/>
      <dgm:t>
        <a:bodyPr/>
        <a:lstStyle/>
        <a:p>
          <a:endParaRPr lang="en-US" sz="1300">
            <a:solidFill>
              <a:schemeClr val="tx1"/>
            </a:solidFill>
          </a:endParaRPr>
        </a:p>
      </dgm:t>
    </dgm:pt>
    <dgm:pt modelId="{59D50389-ABD6-4180-9E42-D220EF7B70F0}">
      <dgm:prSet phldrT="[Text]" custT="1"/>
      <dgm:spPr/>
      <dgm:t>
        <a:bodyPr/>
        <a:lstStyle/>
        <a:p>
          <a:r>
            <a:rPr lang="en-US" sz="1300" smtClean="0">
              <a:solidFill>
                <a:schemeClr val="tx1"/>
              </a:solidFill>
            </a:rPr>
            <a:t>Communication strategy</a:t>
          </a:r>
          <a:endParaRPr lang="en-US" sz="1300">
            <a:solidFill>
              <a:schemeClr val="tx1"/>
            </a:solidFill>
          </a:endParaRPr>
        </a:p>
      </dgm:t>
    </dgm:pt>
    <dgm:pt modelId="{16254677-6F54-4F8B-98D5-81A297B48A0E}" type="parTrans" cxnId="{279A418F-F8F6-4553-B003-1193B4BF2A42}">
      <dgm:prSet/>
      <dgm:spPr/>
      <dgm:t>
        <a:bodyPr/>
        <a:lstStyle/>
        <a:p>
          <a:endParaRPr lang="en-US" sz="1300">
            <a:solidFill>
              <a:schemeClr val="tx1"/>
            </a:solidFill>
          </a:endParaRPr>
        </a:p>
      </dgm:t>
    </dgm:pt>
    <dgm:pt modelId="{6A539DFC-EB7F-478A-9726-86287BFBD18F}" type="sibTrans" cxnId="{279A418F-F8F6-4553-B003-1193B4BF2A42}">
      <dgm:prSet/>
      <dgm:spPr/>
      <dgm:t>
        <a:bodyPr/>
        <a:lstStyle/>
        <a:p>
          <a:endParaRPr lang="en-US" sz="1300">
            <a:solidFill>
              <a:schemeClr val="tx1"/>
            </a:solidFill>
          </a:endParaRPr>
        </a:p>
      </dgm:t>
    </dgm:pt>
    <dgm:pt modelId="{64413531-4C72-4D47-A7D3-6BFC48DAC977}">
      <dgm:prSet phldrT="[Text]" custT="1"/>
      <dgm:spPr/>
      <dgm:t>
        <a:bodyPr/>
        <a:lstStyle/>
        <a:p>
          <a:r>
            <a:rPr lang="en-US" sz="1300" dirty="0" smtClean="0">
              <a:solidFill>
                <a:schemeClr val="tx1"/>
              </a:solidFill>
            </a:rPr>
            <a:t>Corporate planning &amp; strategy, System planning, Project planning and management</a:t>
          </a:r>
          <a:endParaRPr lang="en-US" sz="1300" dirty="0">
            <a:solidFill>
              <a:schemeClr val="tx1"/>
            </a:solidFill>
          </a:endParaRPr>
        </a:p>
      </dgm:t>
    </dgm:pt>
    <dgm:pt modelId="{59198870-29BC-440B-9D93-EA93C60B7581}" type="parTrans" cxnId="{E42C8850-1EC8-49E9-A514-2D948170E887}">
      <dgm:prSet/>
      <dgm:spPr/>
      <dgm:t>
        <a:bodyPr/>
        <a:lstStyle/>
        <a:p>
          <a:endParaRPr lang="en-US" sz="1300">
            <a:solidFill>
              <a:schemeClr val="tx1"/>
            </a:solidFill>
          </a:endParaRPr>
        </a:p>
      </dgm:t>
    </dgm:pt>
    <dgm:pt modelId="{DD232A09-2ED7-4890-8314-B935F29E1843}" type="sibTrans" cxnId="{E42C8850-1EC8-49E9-A514-2D948170E887}">
      <dgm:prSet/>
      <dgm:spPr/>
      <dgm:t>
        <a:bodyPr/>
        <a:lstStyle/>
        <a:p>
          <a:endParaRPr lang="en-US" sz="1300">
            <a:solidFill>
              <a:schemeClr val="tx1"/>
            </a:solidFill>
          </a:endParaRPr>
        </a:p>
      </dgm:t>
    </dgm:pt>
    <dgm:pt modelId="{C38990F9-E07C-47B8-BB6F-FC5AA0C1B80A}">
      <dgm:prSet phldrT="[Text]" custT="1"/>
      <dgm:spPr/>
      <dgm:t>
        <a:bodyPr/>
        <a:lstStyle/>
        <a:p>
          <a:r>
            <a:rPr lang="en-US" sz="1300" dirty="0" smtClean="0">
              <a:solidFill>
                <a:schemeClr val="tx1"/>
              </a:solidFill>
            </a:rPr>
            <a:t>Distribution strengthening</a:t>
          </a:r>
          <a:endParaRPr lang="en-US" sz="1300" dirty="0">
            <a:solidFill>
              <a:schemeClr val="tx1"/>
            </a:solidFill>
          </a:endParaRPr>
        </a:p>
      </dgm:t>
    </dgm:pt>
    <dgm:pt modelId="{D22A119A-3413-4FAA-BBAA-D9A37CE62A41}" type="parTrans" cxnId="{1CE24BCF-8E26-474D-90B0-826D852DB163}">
      <dgm:prSet/>
      <dgm:spPr/>
      <dgm:t>
        <a:bodyPr/>
        <a:lstStyle/>
        <a:p>
          <a:endParaRPr lang="en-US"/>
        </a:p>
      </dgm:t>
    </dgm:pt>
    <dgm:pt modelId="{216E04C4-F513-4361-9505-433412AD65DC}" type="sibTrans" cxnId="{1CE24BCF-8E26-474D-90B0-826D852DB163}">
      <dgm:prSet/>
      <dgm:spPr/>
      <dgm:t>
        <a:bodyPr/>
        <a:lstStyle/>
        <a:p>
          <a:endParaRPr lang="en-US"/>
        </a:p>
      </dgm:t>
    </dgm:pt>
    <dgm:pt modelId="{63847764-AE21-4987-842D-E75317703830}" type="pres">
      <dgm:prSet presAssocID="{CCAF2A24-1859-4F47-9708-93FA5684084C}" presName="diagram" presStyleCnt="0">
        <dgm:presLayoutVars>
          <dgm:dir/>
          <dgm:resizeHandles val="exact"/>
        </dgm:presLayoutVars>
      </dgm:prSet>
      <dgm:spPr/>
      <dgm:t>
        <a:bodyPr/>
        <a:lstStyle/>
        <a:p>
          <a:endParaRPr lang="en-US"/>
        </a:p>
      </dgm:t>
    </dgm:pt>
    <dgm:pt modelId="{23BA1B08-5E0D-4A9B-9DF2-A351D1BB6F79}" type="pres">
      <dgm:prSet presAssocID="{AB1A42D3-236E-4732-9C71-1CABD9B95E46}" presName="node" presStyleLbl="node1" presStyleIdx="0" presStyleCnt="12">
        <dgm:presLayoutVars>
          <dgm:bulletEnabled val="1"/>
        </dgm:presLayoutVars>
      </dgm:prSet>
      <dgm:spPr/>
      <dgm:t>
        <a:bodyPr/>
        <a:lstStyle/>
        <a:p>
          <a:endParaRPr lang="en-US"/>
        </a:p>
      </dgm:t>
    </dgm:pt>
    <dgm:pt modelId="{0A612F82-4C33-44AD-AC44-92E529B1FD68}" type="pres">
      <dgm:prSet presAssocID="{D15C42E6-113F-464E-BD7D-BA9884C5DC13}" presName="sibTrans" presStyleCnt="0"/>
      <dgm:spPr/>
      <dgm:t>
        <a:bodyPr/>
        <a:lstStyle/>
        <a:p>
          <a:endParaRPr lang="en-US"/>
        </a:p>
      </dgm:t>
    </dgm:pt>
    <dgm:pt modelId="{7F969569-AD5E-4D2E-B106-A28C8BB98309}" type="pres">
      <dgm:prSet presAssocID="{C732E65B-1846-43D0-8822-F99A8C362789}" presName="node" presStyleLbl="node1" presStyleIdx="1" presStyleCnt="12">
        <dgm:presLayoutVars>
          <dgm:bulletEnabled val="1"/>
        </dgm:presLayoutVars>
      </dgm:prSet>
      <dgm:spPr/>
      <dgm:t>
        <a:bodyPr/>
        <a:lstStyle/>
        <a:p>
          <a:endParaRPr lang="en-US"/>
        </a:p>
      </dgm:t>
    </dgm:pt>
    <dgm:pt modelId="{5CE6EF33-4CE4-4C0D-ACB4-6F3A50FC1777}" type="pres">
      <dgm:prSet presAssocID="{A68D22DE-E201-40E6-9A9E-6C42E56D1BA9}" presName="sibTrans" presStyleCnt="0"/>
      <dgm:spPr/>
      <dgm:t>
        <a:bodyPr/>
        <a:lstStyle/>
        <a:p>
          <a:endParaRPr lang="en-US"/>
        </a:p>
      </dgm:t>
    </dgm:pt>
    <dgm:pt modelId="{462AFA1F-7BB1-463A-8D73-864833296565}" type="pres">
      <dgm:prSet presAssocID="{6662520A-4424-4980-BEEF-2A28F3D21CDE}" presName="node" presStyleLbl="node1" presStyleIdx="2" presStyleCnt="12">
        <dgm:presLayoutVars>
          <dgm:bulletEnabled val="1"/>
        </dgm:presLayoutVars>
      </dgm:prSet>
      <dgm:spPr/>
      <dgm:t>
        <a:bodyPr/>
        <a:lstStyle/>
        <a:p>
          <a:endParaRPr lang="en-US"/>
        </a:p>
      </dgm:t>
    </dgm:pt>
    <dgm:pt modelId="{588515A9-6BCA-4447-899C-DDAEF2389218}" type="pres">
      <dgm:prSet presAssocID="{D33A818B-2576-4787-8F8B-4849A44F6F31}" presName="sibTrans" presStyleCnt="0"/>
      <dgm:spPr/>
      <dgm:t>
        <a:bodyPr/>
        <a:lstStyle/>
        <a:p>
          <a:endParaRPr lang="en-US"/>
        </a:p>
      </dgm:t>
    </dgm:pt>
    <dgm:pt modelId="{BEB89499-165E-4178-B139-2BA4BDCEA5BB}" type="pres">
      <dgm:prSet presAssocID="{64413531-4C72-4D47-A7D3-6BFC48DAC977}" presName="node" presStyleLbl="node1" presStyleIdx="3" presStyleCnt="12">
        <dgm:presLayoutVars>
          <dgm:bulletEnabled val="1"/>
        </dgm:presLayoutVars>
      </dgm:prSet>
      <dgm:spPr/>
      <dgm:t>
        <a:bodyPr/>
        <a:lstStyle/>
        <a:p>
          <a:endParaRPr lang="en-US"/>
        </a:p>
      </dgm:t>
    </dgm:pt>
    <dgm:pt modelId="{EF25C2CE-B9A0-45E0-9B7D-9F30F2A6919F}" type="pres">
      <dgm:prSet presAssocID="{DD232A09-2ED7-4890-8314-B935F29E1843}" presName="sibTrans" presStyleCnt="0"/>
      <dgm:spPr/>
      <dgm:t>
        <a:bodyPr/>
        <a:lstStyle/>
        <a:p>
          <a:endParaRPr lang="en-US"/>
        </a:p>
      </dgm:t>
    </dgm:pt>
    <dgm:pt modelId="{3DA23E8E-C207-480E-996B-433732568463}" type="pres">
      <dgm:prSet presAssocID="{276C79EE-648E-4B77-9A7B-8537CCD9530D}" presName="node" presStyleLbl="node1" presStyleIdx="4" presStyleCnt="12">
        <dgm:presLayoutVars>
          <dgm:bulletEnabled val="1"/>
        </dgm:presLayoutVars>
      </dgm:prSet>
      <dgm:spPr/>
      <dgm:t>
        <a:bodyPr/>
        <a:lstStyle/>
        <a:p>
          <a:endParaRPr lang="en-US"/>
        </a:p>
      </dgm:t>
    </dgm:pt>
    <dgm:pt modelId="{6EAE1C4F-87B9-4FEA-BA42-77BAAD691E20}" type="pres">
      <dgm:prSet presAssocID="{BD73AA4A-B839-40F7-908A-71B0645B5AD9}" presName="sibTrans" presStyleCnt="0"/>
      <dgm:spPr/>
      <dgm:t>
        <a:bodyPr/>
        <a:lstStyle/>
        <a:p>
          <a:endParaRPr lang="en-US"/>
        </a:p>
      </dgm:t>
    </dgm:pt>
    <dgm:pt modelId="{957026A7-FB1D-4472-A6A4-4B3424FC3664}" type="pres">
      <dgm:prSet presAssocID="{4DE6C107-0D98-4407-8F42-8FAFBE1C9ADE}" presName="node" presStyleLbl="node1" presStyleIdx="5" presStyleCnt="12">
        <dgm:presLayoutVars>
          <dgm:bulletEnabled val="1"/>
        </dgm:presLayoutVars>
      </dgm:prSet>
      <dgm:spPr/>
      <dgm:t>
        <a:bodyPr/>
        <a:lstStyle/>
        <a:p>
          <a:endParaRPr lang="en-US"/>
        </a:p>
      </dgm:t>
    </dgm:pt>
    <dgm:pt modelId="{6DEDEA90-9D7A-4CEE-8F4F-483C9093E4DE}" type="pres">
      <dgm:prSet presAssocID="{AEE8A802-B9AA-491A-91CD-D791A0F9E5C2}" presName="sibTrans" presStyleCnt="0"/>
      <dgm:spPr/>
      <dgm:t>
        <a:bodyPr/>
        <a:lstStyle/>
        <a:p>
          <a:endParaRPr lang="en-US"/>
        </a:p>
      </dgm:t>
    </dgm:pt>
    <dgm:pt modelId="{D2E1B05A-444D-4687-983F-1BBA60B822A9}" type="pres">
      <dgm:prSet presAssocID="{773BC39F-6CC3-420B-9EB4-0A9CC5C278B0}" presName="node" presStyleLbl="node1" presStyleIdx="6" presStyleCnt="12">
        <dgm:presLayoutVars>
          <dgm:bulletEnabled val="1"/>
        </dgm:presLayoutVars>
      </dgm:prSet>
      <dgm:spPr/>
      <dgm:t>
        <a:bodyPr/>
        <a:lstStyle/>
        <a:p>
          <a:endParaRPr lang="en-US"/>
        </a:p>
      </dgm:t>
    </dgm:pt>
    <dgm:pt modelId="{0F374B88-E944-4E0D-BC12-FBBF63EAE671}" type="pres">
      <dgm:prSet presAssocID="{F33509CD-B30D-4EA3-8F71-51A3CA69965B}" presName="sibTrans" presStyleCnt="0"/>
      <dgm:spPr/>
      <dgm:t>
        <a:bodyPr/>
        <a:lstStyle/>
        <a:p>
          <a:endParaRPr lang="en-US"/>
        </a:p>
      </dgm:t>
    </dgm:pt>
    <dgm:pt modelId="{DAECE9FB-03EC-42A8-B156-374BA5FA8B5C}" type="pres">
      <dgm:prSet presAssocID="{CC61E34A-36EA-4A37-8FB6-5D33D3E97B36}" presName="node" presStyleLbl="node1" presStyleIdx="7" presStyleCnt="12">
        <dgm:presLayoutVars>
          <dgm:bulletEnabled val="1"/>
        </dgm:presLayoutVars>
      </dgm:prSet>
      <dgm:spPr/>
      <dgm:t>
        <a:bodyPr/>
        <a:lstStyle/>
        <a:p>
          <a:endParaRPr lang="en-US"/>
        </a:p>
      </dgm:t>
    </dgm:pt>
    <dgm:pt modelId="{03ABA1BC-00BC-4423-9CCB-0CA6B289D23D}" type="pres">
      <dgm:prSet presAssocID="{C182EFD8-302F-4785-8B5F-3AEC35180F42}" presName="sibTrans" presStyleCnt="0"/>
      <dgm:spPr/>
      <dgm:t>
        <a:bodyPr/>
        <a:lstStyle/>
        <a:p>
          <a:endParaRPr lang="en-US"/>
        </a:p>
      </dgm:t>
    </dgm:pt>
    <dgm:pt modelId="{624F4F8B-B7F1-44FB-B442-29256FFD58EE}" type="pres">
      <dgm:prSet presAssocID="{C38990F9-E07C-47B8-BB6F-FC5AA0C1B80A}" presName="node" presStyleLbl="node1" presStyleIdx="8" presStyleCnt="12">
        <dgm:presLayoutVars>
          <dgm:bulletEnabled val="1"/>
        </dgm:presLayoutVars>
      </dgm:prSet>
      <dgm:spPr/>
      <dgm:t>
        <a:bodyPr/>
        <a:lstStyle/>
        <a:p>
          <a:endParaRPr lang="en-US"/>
        </a:p>
      </dgm:t>
    </dgm:pt>
    <dgm:pt modelId="{9077F333-EB27-4DF6-89DC-D97C5C90F345}" type="pres">
      <dgm:prSet presAssocID="{216E04C4-F513-4361-9505-433412AD65DC}" presName="sibTrans" presStyleCnt="0"/>
      <dgm:spPr/>
    </dgm:pt>
    <dgm:pt modelId="{DA5117DF-7D77-4F35-8832-1849EBDF0B73}" type="pres">
      <dgm:prSet presAssocID="{15549452-D982-4085-B1CC-6DC9893CB1D8}" presName="node" presStyleLbl="node1" presStyleIdx="9" presStyleCnt="12">
        <dgm:presLayoutVars>
          <dgm:bulletEnabled val="1"/>
        </dgm:presLayoutVars>
      </dgm:prSet>
      <dgm:spPr/>
      <dgm:t>
        <a:bodyPr/>
        <a:lstStyle/>
        <a:p>
          <a:endParaRPr lang="en-US"/>
        </a:p>
      </dgm:t>
    </dgm:pt>
    <dgm:pt modelId="{5CEAEF12-28C4-4372-8E1B-6D06077C8509}" type="pres">
      <dgm:prSet presAssocID="{00888160-2E4C-4391-8E0A-BA1EB0371636}" presName="sibTrans" presStyleCnt="0"/>
      <dgm:spPr/>
      <dgm:t>
        <a:bodyPr/>
        <a:lstStyle/>
        <a:p>
          <a:endParaRPr lang="en-US"/>
        </a:p>
      </dgm:t>
    </dgm:pt>
    <dgm:pt modelId="{1791DDD2-6636-439A-A6C4-D6763B23BDFE}" type="pres">
      <dgm:prSet presAssocID="{9708FFE9-4EA9-4F62-8B65-09EA5244DA2D}" presName="node" presStyleLbl="node1" presStyleIdx="10" presStyleCnt="12">
        <dgm:presLayoutVars>
          <dgm:bulletEnabled val="1"/>
        </dgm:presLayoutVars>
      </dgm:prSet>
      <dgm:spPr/>
      <dgm:t>
        <a:bodyPr/>
        <a:lstStyle/>
        <a:p>
          <a:endParaRPr lang="en-US"/>
        </a:p>
      </dgm:t>
    </dgm:pt>
    <dgm:pt modelId="{9A4A824F-BE71-458A-A3D5-30387A81FD16}" type="pres">
      <dgm:prSet presAssocID="{31A8831B-C64E-44E3-9FC8-7B97CD6ACBCE}" presName="sibTrans" presStyleCnt="0"/>
      <dgm:spPr/>
      <dgm:t>
        <a:bodyPr/>
        <a:lstStyle/>
        <a:p>
          <a:endParaRPr lang="en-US"/>
        </a:p>
      </dgm:t>
    </dgm:pt>
    <dgm:pt modelId="{5D492A6D-1FFA-4715-84F5-0EB247D7EBE5}" type="pres">
      <dgm:prSet presAssocID="{59D50389-ABD6-4180-9E42-D220EF7B70F0}" presName="node" presStyleLbl="node1" presStyleIdx="11" presStyleCnt="12">
        <dgm:presLayoutVars>
          <dgm:bulletEnabled val="1"/>
        </dgm:presLayoutVars>
      </dgm:prSet>
      <dgm:spPr/>
      <dgm:t>
        <a:bodyPr/>
        <a:lstStyle/>
        <a:p>
          <a:endParaRPr lang="en-US"/>
        </a:p>
      </dgm:t>
    </dgm:pt>
  </dgm:ptLst>
  <dgm:cxnLst>
    <dgm:cxn modelId="{A914B188-2D37-465C-8DCB-80F3408B946F}" type="presOf" srcId="{9708FFE9-4EA9-4F62-8B65-09EA5244DA2D}" destId="{1791DDD2-6636-439A-A6C4-D6763B23BDFE}" srcOrd="0" destOrd="0" presId="urn:microsoft.com/office/officeart/2005/8/layout/default"/>
    <dgm:cxn modelId="{BC92A149-AB63-442C-9147-8AA30F7C5C2D}" srcId="{CCAF2A24-1859-4F47-9708-93FA5684084C}" destId="{276C79EE-648E-4B77-9A7B-8537CCD9530D}" srcOrd="4" destOrd="0" parTransId="{ADCB46B2-5862-4674-BA51-57AD2957D1B1}" sibTransId="{BD73AA4A-B839-40F7-908A-71B0645B5AD9}"/>
    <dgm:cxn modelId="{FFA21E8D-AB19-440A-BFA7-93C8C850A70C}" type="presOf" srcId="{C732E65B-1846-43D0-8822-F99A8C362789}" destId="{7F969569-AD5E-4D2E-B106-A28C8BB98309}" srcOrd="0" destOrd="0" presId="urn:microsoft.com/office/officeart/2005/8/layout/default"/>
    <dgm:cxn modelId="{30428F82-894D-4439-A7D1-AD2816D56BC8}" type="presOf" srcId="{6662520A-4424-4980-BEEF-2A28F3D21CDE}" destId="{462AFA1F-7BB1-463A-8D73-864833296565}" srcOrd="0" destOrd="0" presId="urn:microsoft.com/office/officeart/2005/8/layout/default"/>
    <dgm:cxn modelId="{C120204B-E77E-40A9-9954-E78CAF199916}" srcId="{CCAF2A24-1859-4F47-9708-93FA5684084C}" destId="{AB1A42D3-236E-4732-9C71-1CABD9B95E46}" srcOrd="0" destOrd="0" parTransId="{5ABEEBF7-D845-48FE-9E29-CDDFB07EF089}" sibTransId="{D15C42E6-113F-464E-BD7D-BA9884C5DC13}"/>
    <dgm:cxn modelId="{30CD4968-91C8-4321-A0FC-4660AA1BA08F}" type="presOf" srcId="{276C79EE-648E-4B77-9A7B-8537CCD9530D}" destId="{3DA23E8E-C207-480E-996B-433732568463}" srcOrd="0" destOrd="0" presId="urn:microsoft.com/office/officeart/2005/8/layout/default"/>
    <dgm:cxn modelId="{AA9712F2-D8AB-4259-9A43-C6F7AFFA180D}" type="presOf" srcId="{4DE6C107-0D98-4407-8F42-8FAFBE1C9ADE}" destId="{957026A7-FB1D-4472-A6A4-4B3424FC3664}" srcOrd="0" destOrd="0" presId="urn:microsoft.com/office/officeart/2005/8/layout/default"/>
    <dgm:cxn modelId="{23AAF5F2-1DC9-4E17-9F4E-CF55A26F3A73}" srcId="{CCAF2A24-1859-4F47-9708-93FA5684084C}" destId="{15549452-D982-4085-B1CC-6DC9893CB1D8}" srcOrd="9" destOrd="0" parTransId="{1D5AEDB9-9A81-4AA9-85ED-ABF81C7FA53A}" sibTransId="{00888160-2E4C-4391-8E0A-BA1EB0371636}"/>
    <dgm:cxn modelId="{E42C8850-1EC8-49E9-A514-2D948170E887}" srcId="{CCAF2A24-1859-4F47-9708-93FA5684084C}" destId="{64413531-4C72-4D47-A7D3-6BFC48DAC977}" srcOrd="3" destOrd="0" parTransId="{59198870-29BC-440B-9D93-EA93C60B7581}" sibTransId="{DD232A09-2ED7-4890-8314-B935F29E1843}"/>
    <dgm:cxn modelId="{F5C54829-9DDA-4175-8CA8-B4A9D28E5DF1}" type="presOf" srcId="{CCAF2A24-1859-4F47-9708-93FA5684084C}" destId="{63847764-AE21-4987-842D-E75317703830}" srcOrd="0" destOrd="0" presId="urn:microsoft.com/office/officeart/2005/8/layout/default"/>
    <dgm:cxn modelId="{9D5EBAC7-AC32-4AA4-88A4-2426036485E1}" type="presOf" srcId="{CC61E34A-36EA-4A37-8FB6-5D33D3E97B36}" destId="{DAECE9FB-03EC-42A8-B156-374BA5FA8B5C}" srcOrd="0" destOrd="0" presId="urn:microsoft.com/office/officeart/2005/8/layout/default"/>
    <dgm:cxn modelId="{8B719979-8AE6-4914-A836-77129682E864}" type="presOf" srcId="{AB1A42D3-236E-4732-9C71-1CABD9B95E46}" destId="{23BA1B08-5E0D-4A9B-9DF2-A351D1BB6F79}" srcOrd="0" destOrd="0" presId="urn:microsoft.com/office/officeart/2005/8/layout/default"/>
    <dgm:cxn modelId="{92004D39-E1EA-430F-9C86-6E73005AFB88}" type="presOf" srcId="{59D50389-ABD6-4180-9E42-D220EF7B70F0}" destId="{5D492A6D-1FFA-4715-84F5-0EB247D7EBE5}" srcOrd="0" destOrd="0" presId="urn:microsoft.com/office/officeart/2005/8/layout/default"/>
    <dgm:cxn modelId="{03BB9317-3095-4D27-B394-9DAD3DAAAEB4}" srcId="{CCAF2A24-1859-4F47-9708-93FA5684084C}" destId="{4DE6C107-0D98-4407-8F42-8FAFBE1C9ADE}" srcOrd="5" destOrd="0" parTransId="{5EBD799A-8893-4016-8AD1-3A5DD12615FC}" sibTransId="{AEE8A802-B9AA-491A-91CD-D791A0F9E5C2}"/>
    <dgm:cxn modelId="{ECE45EA9-AEA7-40D5-9EC2-79FFEF9EE48D}" srcId="{CCAF2A24-1859-4F47-9708-93FA5684084C}" destId="{CC61E34A-36EA-4A37-8FB6-5D33D3E97B36}" srcOrd="7" destOrd="0" parTransId="{C8DC4B55-DDC8-4AD6-96B0-5934E06C0E96}" sibTransId="{C182EFD8-302F-4785-8B5F-3AEC35180F42}"/>
    <dgm:cxn modelId="{279A418F-F8F6-4553-B003-1193B4BF2A42}" srcId="{CCAF2A24-1859-4F47-9708-93FA5684084C}" destId="{59D50389-ABD6-4180-9E42-D220EF7B70F0}" srcOrd="11" destOrd="0" parTransId="{16254677-6F54-4F8B-98D5-81A297B48A0E}" sibTransId="{6A539DFC-EB7F-478A-9726-86287BFBD18F}"/>
    <dgm:cxn modelId="{1CE24BCF-8E26-474D-90B0-826D852DB163}" srcId="{CCAF2A24-1859-4F47-9708-93FA5684084C}" destId="{C38990F9-E07C-47B8-BB6F-FC5AA0C1B80A}" srcOrd="8" destOrd="0" parTransId="{D22A119A-3413-4FAA-BBAA-D9A37CE62A41}" sibTransId="{216E04C4-F513-4361-9505-433412AD65DC}"/>
    <dgm:cxn modelId="{0E50D5D1-F3D2-4F47-918F-43355B5E97DE}" type="presOf" srcId="{773BC39F-6CC3-420B-9EB4-0A9CC5C278B0}" destId="{D2E1B05A-444D-4687-983F-1BBA60B822A9}" srcOrd="0" destOrd="0" presId="urn:microsoft.com/office/officeart/2005/8/layout/default"/>
    <dgm:cxn modelId="{3AB8A224-4AE9-48D7-8904-DD17741981F2}" srcId="{CCAF2A24-1859-4F47-9708-93FA5684084C}" destId="{C732E65B-1846-43D0-8822-F99A8C362789}" srcOrd="1" destOrd="0" parTransId="{8A774A13-B69C-4C1D-A065-69FBFC26433B}" sibTransId="{A68D22DE-E201-40E6-9A9E-6C42E56D1BA9}"/>
    <dgm:cxn modelId="{9544B147-E754-4D54-A0CA-6ED3CEC280DD}" srcId="{CCAF2A24-1859-4F47-9708-93FA5684084C}" destId="{6662520A-4424-4980-BEEF-2A28F3D21CDE}" srcOrd="2" destOrd="0" parTransId="{7C8B8108-13FE-4C2A-926A-9912AF742150}" sibTransId="{D33A818B-2576-4787-8F8B-4849A44F6F31}"/>
    <dgm:cxn modelId="{9207961B-435B-4471-9FE2-F31C4DC53AC8}" srcId="{CCAF2A24-1859-4F47-9708-93FA5684084C}" destId="{9708FFE9-4EA9-4F62-8B65-09EA5244DA2D}" srcOrd="10" destOrd="0" parTransId="{B78DAC13-9C8E-4160-8A79-0345EB39973C}" sibTransId="{31A8831B-C64E-44E3-9FC8-7B97CD6ACBCE}"/>
    <dgm:cxn modelId="{68D5279E-CB4B-42B2-9BEF-C9E655AA3A28}" srcId="{CCAF2A24-1859-4F47-9708-93FA5684084C}" destId="{773BC39F-6CC3-420B-9EB4-0A9CC5C278B0}" srcOrd="6" destOrd="0" parTransId="{56ACA1B1-7A34-4930-A0EF-C4CEB4684173}" sibTransId="{F33509CD-B30D-4EA3-8F71-51A3CA69965B}"/>
    <dgm:cxn modelId="{77A1E9C0-A2C2-4836-AED7-B806193E04E0}" type="presOf" srcId="{15549452-D982-4085-B1CC-6DC9893CB1D8}" destId="{DA5117DF-7D77-4F35-8832-1849EBDF0B73}" srcOrd="0" destOrd="0" presId="urn:microsoft.com/office/officeart/2005/8/layout/default"/>
    <dgm:cxn modelId="{0DC0129F-1DFD-4933-9DAE-5B67CEEEE5EB}" type="presOf" srcId="{64413531-4C72-4D47-A7D3-6BFC48DAC977}" destId="{BEB89499-165E-4178-B139-2BA4BDCEA5BB}" srcOrd="0" destOrd="0" presId="urn:microsoft.com/office/officeart/2005/8/layout/default"/>
    <dgm:cxn modelId="{773F49CA-7D1D-4713-A690-6B09B1712B35}" type="presOf" srcId="{C38990F9-E07C-47B8-BB6F-FC5AA0C1B80A}" destId="{624F4F8B-B7F1-44FB-B442-29256FFD58EE}" srcOrd="0" destOrd="0" presId="urn:microsoft.com/office/officeart/2005/8/layout/default"/>
    <dgm:cxn modelId="{A8B39946-4BF7-47B2-8971-D61DD89FB53E}" type="presParOf" srcId="{63847764-AE21-4987-842D-E75317703830}" destId="{23BA1B08-5E0D-4A9B-9DF2-A351D1BB6F79}" srcOrd="0" destOrd="0" presId="urn:microsoft.com/office/officeart/2005/8/layout/default"/>
    <dgm:cxn modelId="{8B4F3B8D-E241-4E0C-8493-25669E4E4A87}" type="presParOf" srcId="{63847764-AE21-4987-842D-E75317703830}" destId="{0A612F82-4C33-44AD-AC44-92E529B1FD68}" srcOrd="1" destOrd="0" presId="urn:microsoft.com/office/officeart/2005/8/layout/default"/>
    <dgm:cxn modelId="{7A0DA9FE-9A1C-4766-AC97-206B32B6E204}" type="presParOf" srcId="{63847764-AE21-4987-842D-E75317703830}" destId="{7F969569-AD5E-4D2E-B106-A28C8BB98309}" srcOrd="2" destOrd="0" presId="urn:microsoft.com/office/officeart/2005/8/layout/default"/>
    <dgm:cxn modelId="{07D8E8A2-1750-4672-9FC5-59D05808AF44}" type="presParOf" srcId="{63847764-AE21-4987-842D-E75317703830}" destId="{5CE6EF33-4CE4-4C0D-ACB4-6F3A50FC1777}" srcOrd="3" destOrd="0" presId="urn:microsoft.com/office/officeart/2005/8/layout/default"/>
    <dgm:cxn modelId="{588F9993-EC1E-466C-8258-FB5D66F7722E}" type="presParOf" srcId="{63847764-AE21-4987-842D-E75317703830}" destId="{462AFA1F-7BB1-463A-8D73-864833296565}" srcOrd="4" destOrd="0" presId="urn:microsoft.com/office/officeart/2005/8/layout/default"/>
    <dgm:cxn modelId="{E54FEB44-E172-41F9-A802-C5865C3AF9DC}" type="presParOf" srcId="{63847764-AE21-4987-842D-E75317703830}" destId="{588515A9-6BCA-4447-899C-DDAEF2389218}" srcOrd="5" destOrd="0" presId="urn:microsoft.com/office/officeart/2005/8/layout/default"/>
    <dgm:cxn modelId="{C72BC332-94F7-465B-9947-F8CC9CBDC93F}" type="presParOf" srcId="{63847764-AE21-4987-842D-E75317703830}" destId="{BEB89499-165E-4178-B139-2BA4BDCEA5BB}" srcOrd="6" destOrd="0" presId="urn:microsoft.com/office/officeart/2005/8/layout/default"/>
    <dgm:cxn modelId="{53016DDE-B48F-49C9-BA62-B17DCC789842}" type="presParOf" srcId="{63847764-AE21-4987-842D-E75317703830}" destId="{EF25C2CE-B9A0-45E0-9B7D-9F30F2A6919F}" srcOrd="7" destOrd="0" presId="urn:microsoft.com/office/officeart/2005/8/layout/default"/>
    <dgm:cxn modelId="{CB89E17F-F111-43F8-A7F6-40EB23CA9BDD}" type="presParOf" srcId="{63847764-AE21-4987-842D-E75317703830}" destId="{3DA23E8E-C207-480E-996B-433732568463}" srcOrd="8" destOrd="0" presId="urn:microsoft.com/office/officeart/2005/8/layout/default"/>
    <dgm:cxn modelId="{90E7FAD8-A18B-4D37-B74D-0DB5FA56266C}" type="presParOf" srcId="{63847764-AE21-4987-842D-E75317703830}" destId="{6EAE1C4F-87B9-4FEA-BA42-77BAAD691E20}" srcOrd="9" destOrd="0" presId="urn:microsoft.com/office/officeart/2005/8/layout/default"/>
    <dgm:cxn modelId="{1D70716B-6333-400B-ADDB-D162383C7F13}" type="presParOf" srcId="{63847764-AE21-4987-842D-E75317703830}" destId="{957026A7-FB1D-4472-A6A4-4B3424FC3664}" srcOrd="10" destOrd="0" presId="urn:microsoft.com/office/officeart/2005/8/layout/default"/>
    <dgm:cxn modelId="{64622AF5-1ABB-470F-A313-BC5D7661ABAC}" type="presParOf" srcId="{63847764-AE21-4987-842D-E75317703830}" destId="{6DEDEA90-9D7A-4CEE-8F4F-483C9093E4DE}" srcOrd="11" destOrd="0" presId="urn:microsoft.com/office/officeart/2005/8/layout/default"/>
    <dgm:cxn modelId="{B0C0B5C4-49D1-4B36-A282-CC38FFE1B63B}" type="presParOf" srcId="{63847764-AE21-4987-842D-E75317703830}" destId="{D2E1B05A-444D-4687-983F-1BBA60B822A9}" srcOrd="12" destOrd="0" presId="urn:microsoft.com/office/officeart/2005/8/layout/default"/>
    <dgm:cxn modelId="{12AFB060-CDA4-4B4F-9BCD-8DB2F0E546D9}" type="presParOf" srcId="{63847764-AE21-4987-842D-E75317703830}" destId="{0F374B88-E944-4E0D-BC12-FBBF63EAE671}" srcOrd="13" destOrd="0" presId="urn:microsoft.com/office/officeart/2005/8/layout/default"/>
    <dgm:cxn modelId="{3D58D254-B92A-4441-B01A-E7CE3BB8AF2D}" type="presParOf" srcId="{63847764-AE21-4987-842D-E75317703830}" destId="{DAECE9FB-03EC-42A8-B156-374BA5FA8B5C}" srcOrd="14" destOrd="0" presId="urn:microsoft.com/office/officeart/2005/8/layout/default"/>
    <dgm:cxn modelId="{C59244D5-053F-4B5E-8A12-3F298109ECB4}" type="presParOf" srcId="{63847764-AE21-4987-842D-E75317703830}" destId="{03ABA1BC-00BC-4423-9CCB-0CA6B289D23D}" srcOrd="15" destOrd="0" presId="urn:microsoft.com/office/officeart/2005/8/layout/default"/>
    <dgm:cxn modelId="{2C9A540B-61B1-45F2-863B-3244FA13769B}" type="presParOf" srcId="{63847764-AE21-4987-842D-E75317703830}" destId="{624F4F8B-B7F1-44FB-B442-29256FFD58EE}" srcOrd="16" destOrd="0" presId="urn:microsoft.com/office/officeart/2005/8/layout/default"/>
    <dgm:cxn modelId="{EC8A4CC3-694E-402D-94D8-16650659FE81}" type="presParOf" srcId="{63847764-AE21-4987-842D-E75317703830}" destId="{9077F333-EB27-4DF6-89DC-D97C5C90F345}" srcOrd="17" destOrd="0" presId="urn:microsoft.com/office/officeart/2005/8/layout/default"/>
    <dgm:cxn modelId="{66A7B77A-CAB6-420B-AD91-C36A707682D1}" type="presParOf" srcId="{63847764-AE21-4987-842D-E75317703830}" destId="{DA5117DF-7D77-4F35-8832-1849EBDF0B73}" srcOrd="18" destOrd="0" presId="urn:microsoft.com/office/officeart/2005/8/layout/default"/>
    <dgm:cxn modelId="{62B22044-D2BE-41CF-9100-DA4DAEFCB00A}" type="presParOf" srcId="{63847764-AE21-4987-842D-E75317703830}" destId="{5CEAEF12-28C4-4372-8E1B-6D06077C8509}" srcOrd="19" destOrd="0" presId="urn:microsoft.com/office/officeart/2005/8/layout/default"/>
    <dgm:cxn modelId="{CEC3C6FB-8B51-42DC-9EC8-760E25977FFD}" type="presParOf" srcId="{63847764-AE21-4987-842D-E75317703830}" destId="{1791DDD2-6636-439A-A6C4-D6763B23BDFE}" srcOrd="20" destOrd="0" presId="urn:microsoft.com/office/officeart/2005/8/layout/default"/>
    <dgm:cxn modelId="{23A92453-79F2-439E-A15F-32C3B8E17E00}" type="presParOf" srcId="{63847764-AE21-4987-842D-E75317703830}" destId="{9A4A824F-BE71-458A-A3D5-30387A81FD16}" srcOrd="21" destOrd="0" presId="urn:microsoft.com/office/officeart/2005/8/layout/default"/>
    <dgm:cxn modelId="{9D986EBF-4D67-4E9A-B507-5B13C7B75C51}" type="presParOf" srcId="{63847764-AE21-4987-842D-E75317703830}" destId="{5D492A6D-1FFA-4715-84F5-0EB247D7EBE5}" srcOrd="22"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2D7A42-7653-45D0-B55A-124150229BE4}"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282C4352-C37B-454E-A344-D5BB94028240}">
      <dgm:prSet phldrT="[Text]"/>
      <dgm:spPr/>
      <dgm:t>
        <a:bodyPr/>
        <a:lstStyle/>
        <a:p>
          <a:r>
            <a:rPr lang="en-US" dirty="0" smtClean="0"/>
            <a:t>Vision Statement</a:t>
          </a:r>
          <a:endParaRPr lang="en-IN" dirty="0"/>
        </a:p>
      </dgm:t>
    </dgm:pt>
    <dgm:pt modelId="{6DEAE777-20EB-4B07-A35F-C7384E8FC655}" type="parTrans" cxnId="{0A62CC03-0D62-4663-BE99-38905E0F6DE5}">
      <dgm:prSet/>
      <dgm:spPr/>
      <dgm:t>
        <a:bodyPr/>
        <a:lstStyle/>
        <a:p>
          <a:endParaRPr lang="en-IN"/>
        </a:p>
      </dgm:t>
    </dgm:pt>
    <dgm:pt modelId="{FB9A67D4-A845-4961-B3BB-A69A94B3D793}" type="sibTrans" cxnId="{0A62CC03-0D62-4663-BE99-38905E0F6DE5}">
      <dgm:prSet/>
      <dgm:spPr/>
      <dgm:t>
        <a:bodyPr/>
        <a:lstStyle/>
        <a:p>
          <a:endParaRPr lang="en-IN"/>
        </a:p>
      </dgm:t>
    </dgm:pt>
    <dgm:pt modelId="{ADE5C26E-3F11-4FE7-AAF9-061A5225C2A4}">
      <dgm:prSet phldrT="[Text]"/>
      <dgm:spPr/>
      <dgm:t>
        <a:bodyPr/>
        <a:lstStyle/>
        <a:p>
          <a:r>
            <a:rPr lang="en-US" dirty="0" smtClean="0"/>
            <a:t>Corporatization &amp; Commercialization of Emerging Power Sector Entities</a:t>
          </a:r>
          <a:endParaRPr lang="en-IN" dirty="0"/>
        </a:p>
      </dgm:t>
    </dgm:pt>
    <dgm:pt modelId="{A10156EA-450A-4BF4-AF4E-3FDF44B4F6C0}" type="parTrans" cxnId="{B4D97867-F513-42DC-9D53-BA6AB1609615}">
      <dgm:prSet/>
      <dgm:spPr/>
      <dgm:t>
        <a:bodyPr/>
        <a:lstStyle/>
        <a:p>
          <a:endParaRPr lang="en-IN"/>
        </a:p>
      </dgm:t>
    </dgm:pt>
    <dgm:pt modelId="{35DFF4BD-94DB-40F8-83EF-218BF2532D0E}" type="sibTrans" cxnId="{B4D97867-F513-42DC-9D53-BA6AB1609615}">
      <dgm:prSet/>
      <dgm:spPr/>
      <dgm:t>
        <a:bodyPr/>
        <a:lstStyle/>
        <a:p>
          <a:endParaRPr lang="en-IN"/>
        </a:p>
      </dgm:t>
    </dgm:pt>
    <dgm:pt modelId="{FD2D9394-2AE3-493F-8875-F62B09335DCE}">
      <dgm:prSet phldrT="[Text]"/>
      <dgm:spPr/>
      <dgm:t>
        <a:bodyPr/>
        <a:lstStyle/>
        <a:p>
          <a:r>
            <a:rPr lang="en-US" dirty="0" smtClean="0"/>
            <a:t>Employee Concerns to be appropriately addressed</a:t>
          </a:r>
          <a:endParaRPr lang="en-IN" dirty="0"/>
        </a:p>
      </dgm:t>
    </dgm:pt>
    <dgm:pt modelId="{A49D9CAB-2BF3-4F3C-99B6-79691F449C83}" type="parTrans" cxnId="{095F2ED3-42D2-41C3-B4BE-44411DA00992}">
      <dgm:prSet/>
      <dgm:spPr/>
      <dgm:t>
        <a:bodyPr/>
        <a:lstStyle/>
        <a:p>
          <a:endParaRPr lang="en-IN"/>
        </a:p>
      </dgm:t>
    </dgm:pt>
    <dgm:pt modelId="{61DC603E-55F8-4A72-A44B-4AAEEA553EAC}" type="sibTrans" cxnId="{095F2ED3-42D2-41C3-B4BE-44411DA00992}">
      <dgm:prSet/>
      <dgm:spPr/>
      <dgm:t>
        <a:bodyPr/>
        <a:lstStyle/>
        <a:p>
          <a:endParaRPr lang="en-IN"/>
        </a:p>
      </dgm:t>
    </dgm:pt>
    <dgm:pt modelId="{B3A96F6A-81BA-4EB0-9896-69BB75BAB446}">
      <dgm:prSet phldrT="[Text]"/>
      <dgm:spPr/>
      <dgm:t>
        <a:bodyPr/>
        <a:lstStyle/>
        <a:p>
          <a:r>
            <a:rPr lang="en-US" dirty="0" smtClean="0"/>
            <a:t>National Energy Policy, 2004</a:t>
          </a:r>
          <a:endParaRPr lang="en-IN" dirty="0"/>
        </a:p>
      </dgm:t>
    </dgm:pt>
    <dgm:pt modelId="{7CCF40AC-E281-45A2-BAF0-E47B8CA46D80}" type="parTrans" cxnId="{11012BB9-EA34-4334-890A-3DAB9C717C45}">
      <dgm:prSet/>
      <dgm:spPr/>
      <dgm:t>
        <a:bodyPr/>
        <a:lstStyle/>
        <a:p>
          <a:endParaRPr lang="en-IN"/>
        </a:p>
      </dgm:t>
    </dgm:pt>
    <dgm:pt modelId="{8170BA05-DD5F-4EB2-8D72-16A339FB1B1C}" type="sibTrans" cxnId="{11012BB9-EA34-4334-890A-3DAB9C717C45}">
      <dgm:prSet/>
      <dgm:spPr/>
      <dgm:t>
        <a:bodyPr/>
        <a:lstStyle/>
        <a:p>
          <a:endParaRPr lang="en-IN"/>
        </a:p>
      </dgm:t>
    </dgm:pt>
    <dgm:pt modelId="{AC2937D3-3394-4FDB-A858-E8AB8DCD1392}">
      <dgm:prSet phldrT="[Text]"/>
      <dgm:spPr/>
      <dgm:t>
        <a:bodyPr/>
        <a:lstStyle/>
        <a:p>
          <a:r>
            <a:rPr lang="en-US" dirty="0" smtClean="0"/>
            <a:t>Government to appoint Board of Directors of the proposed entities</a:t>
          </a:r>
          <a:endParaRPr lang="en-IN" dirty="0"/>
        </a:p>
      </dgm:t>
    </dgm:pt>
    <dgm:pt modelId="{C4FFE200-BC58-495E-9AA4-DCBF262E5F72}" type="parTrans" cxnId="{B7F1D0A4-1A62-4F5D-ACE8-AF2CC080D3AC}">
      <dgm:prSet/>
      <dgm:spPr/>
      <dgm:t>
        <a:bodyPr/>
        <a:lstStyle/>
        <a:p>
          <a:endParaRPr lang="en-IN"/>
        </a:p>
      </dgm:t>
    </dgm:pt>
    <dgm:pt modelId="{0D21A093-5B09-4B65-974A-E4D75337038C}" type="sibTrans" cxnId="{B7F1D0A4-1A62-4F5D-ACE8-AF2CC080D3AC}">
      <dgm:prSet/>
      <dgm:spPr/>
      <dgm:t>
        <a:bodyPr/>
        <a:lstStyle/>
        <a:p>
          <a:endParaRPr lang="en-IN"/>
        </a:p>
      </dgm:t>
    </dgm:pt>
    <dgm:pt modelId="{ED3026DD-1488-4884-A748-B2C20456E28C}">
      <dgm:prSet phldrT="[Text]"/>
      <dgm:spPr/>
      <dgm:t>
        <a:bodyPr/>
        <a:lstStyle/>
        <a:p>
          <a:r>
            <a:rPr lang="en-US" dirty="0" smtClean="0"/>
            <a:t>Bangladesh Corporate Governance Code, 2004</a:t>
          </a:r>
          <a:endParaRPr lang="en-IN" dirty="0"/>
        </a:p>
      </dgm:t>
    </dgm:pt>
    <dgm:pt modelId="{1CF5BBB8-CE1C-4B7E-BDE5-9F662600B31B}" type="parTrans" cxnId="{A89BF05C-DDA2-406C-A31C-E2FCE93D036A}">
      <dgm:prSet/>
      <dgm:spPr/>
      <dgm:t>
        <a:bodyPr/>
        <a:lstStyle/>
        <a:p>
          <a:endParaRPr lang="en-IN"/>
        </a:p>
      </dgm:t>
    </dgm:pt>
    <dgm:pt modelId="{734821FB-908D-479A-A55B-EFEE7DE6CB4B}" type="sibTrans" cxnId="{A89BF05C-DDA2-406C-A31C-E2FCE93D036A}">
      <dgm:prSet/>
      <dgm:spPr/>
      <dgm:t>
        <a:bodyPr/>
        <a:lstStyle/>
        <a:p>
          <a:endParaRPr lang="en-IN"/>
        </a:p>
      </dgm:t>
    </dgm:pt>
    <dgm:pt modelId="{B3DE4192-5016-4356-94CD-C39C5DCF6D53}">
      <dgm:prSet phldrT="[Text]"/>
      <dgm:spPr/>
      <dgm:t>
        <a:bodyPr/>
        <a:lstStyle/>
        <a:p>
          <a:r>
            <a:rPr lang="en-US" dirty="0" smtClean="0"/>
            <a:t>Board membership to be within 7-15 members</a:t>
          </a:r>
          <a:endParaRPr lang="en-IN" dirty="0"/>
        </a:p>
      </dgm:t>
    </dgm:pt>
    <dgm:pt modelId="{8F1EB9B6-4E32-4F9E-8C28-101C7F8D1518}" type="parTrans" cxnId="{7640A636-CDE1-4A7E-AF35-8EB3F98EB3D1}">
      <dgm:prSet/>
      <dgm:spPr/>
      <dgm:t>
        <a:bodyPr/>
        <a:lstStyle/>
        <a:p>
          <a:endParaRPr lang="en-IN"/>
        </a:p>
      </dgm:t>
    </dgm:pt>
    <dgm:pt modelId="{46144587-4C17-4962-9C20-866BF8275592}" type="sibTrans" cxnId="{7640A636-CDE1-4A7E-AF35-8EB3F98EB3D1}">
      <dgm:prSet/>
      <dgm:spPr/>
      <dgm:t>
        <a:bodyPr/>
        <a:lstStyle/>
        <a:p>
          <a:endParaRPr lang="en-IN"/>
        </a:p>
      </dgm:t>
    </dgm:pt>
    <dgm:pt modelId="{77A1A68E-034A-4D8D-9F19-CC4DABD4FB10}">
      <dgm:prSet phldrT="[Text]"/>
      <dgm:spPr/>
      <dgm:t>
        <a:bodyPr/>
        <a:lstStyle/>
        <a:p>
          <a:r>
            <a:rPr lang="en-US" dirty="0" smtClean="0"/>
            <a:t>Audit &amp; Remuneration Committee to be formed</a:t>
          </a:r>
          <a:endParaRPr lang="en-IN" dirty="0"/>
        </a:p>
      </dgm:t>
    </dgm:pt>
    <dgm:pt modelId="{90014583-3270-4C56-89EF-D48A6BC43AC4}" type="parTrans" cxnId="{D818B603-7375-4FC8-8850-ABC895E713F6}">
      <dgm:prSet/>
      <dgm:spPr/>
      <dgm:t>
        <a:bodyPr/>
        <a:lstStyle/>
        <a:p>
          <a:endParaRPr lang="en-IN"/>
        </a:p>
      </dgm:t>
    </dgm:pt>
    <dgm:pt modelId="{B6FCE347-16A1-495C-8C84-E139282520EC}" type="sibTrans" cxnId="{D818B603-7375-4FC8-8850-ABC895E713F6}">
      <dgm:prSet/>
      <dgm:spPr/>
      <dgm:t>
        <a:bodyPr/>
        <a:lstStyle/>
        <a:p>
          <a:endParaRPr lang="en-IN"/>
        </a:p>
      </dgm:t>
    </dgm:pt>
    <dgm:pt modelId="{DCB1B54F-D8D0-4FCA-8178-1EF8898DF54B}">
      <dgm:prSet phldrT="[Text]"/>
      <dgm:spPr/>
      <dgm:t>
        <a:bodyPr/>
        <a:lstStyle/>
        <a:p>
          <a:r>
            <a:rPr lang="en-US" dirty="0" smtClean="0"/>
            <a:t>Companies Act, 1994</a:t>
          </a:r>
          <a:endParaRPr lang="en-IN" dirty="0"/>
        </a:p>
      </dgm:t>
    </dgm:pt>
    <dgm:pt modelId="{6C2FE96F-17AF-4BF2-8061-A473C4C15704}" type="parTrans" cxnId="{BE536012-BA55-4E78-B376-2868C15081D2}">
      <dgm:prSet/>
      <dgm:spPr/>
      <dgm:t>
        <a:bodyPr/>
        <a:lstStyle/>
        <a:p>
          <a:endParaRPr lang="en-IN"/>
        </a:p>
      </dgm:t>
    </dgm:pt>
    <dgm:pt modelId="{BC3F367E-76E4-4A75-A84F-DD544677DCA8}" type="sibTrans" cxnId="{BE536012-BA55-4E78-B376-2868C15081D2}">
      <dgm:prSet/>
      <dgm:spPr/>
      <dgm:t>
        <a:bodyPr/>
        <a:lstStyle/>
        <a:p>
          <a:endParaRPr lang="en-IN"/>
        </a:p>
      </dgm:t>
    </dgm:pt>
    <dgm:pt modelId="{3E7F00A7-426B-4FE5-928D-809F35D59BDD}">
      <dgm:prSet phldrT="[Text]"/>
      <dgm:spPr/>
      <dgm:t>
        <a:bodyPr/>
        <a:lstStyle/>
        <a:p>
          <a:r>
            <a:rPr lang="en-US" dirty="0" smtClean="0"/>
            <a:t>Majority of Board of Directors to be from various interest group outside Government</a:t>
          </a:r>
          <a:endParaRPr lang="en-IN" dirty="0"/>
        </a:p>
      </dgm:t>
    </dgm:pt>
    <dgm:pt modelId="{10B38585-B7B0-47DA-B1FD-FD15795CD827}" type="parTrans" cxnId="{22E5FACA-62C3-4746-ABAF-F79D048D6CA5}">
      <dgm:prSet/>
      <dgm:spPr/>
      <dgm:t>
        <a:bodyPr/>
        <a:lstStyle/>
        <a:p>
          <a:endParaRPr lang="en-IN"/>
        </a:p>
      </dgm:t>
    </dgm:pt>
    <dgm:pt modelId="{94B33C12-49E4-4C73-82D6-860D92C37FB8}" type="sibTrans" cxnId="{22E5FACA-62C3-4746-ABAF-F79D048D6CA5}">
      <dgm:prSet/>
      <dgm:spPr/>
      <dgm:t>
        <a:bodyPr/>
        <a:lstStyle/>
        <a:p>
          <a:endParaRPr lang="en-IN"/>
        </a:p>
      </dgm:t>
    </dgm:pt>
    <dgm:pt modelId="{70E4ECC0-A939-4E4E-83BB-345279DFF406}">
      <dgm:prSet phldrT="[Text]"/>
      <dgm:spPr/>
      <dgm:t>
        <a:bodyPr/>
        <a:lstStyle/>
        <a:p>
          <a:r>
            <a:rPr lang="en-US" dirty="0" smtClean="0"/>
            <a:t>Government control via nominated directors</a:t>
          </a:r>
          <a:endParaRPr lang="en-IN" dirty="0"/>
        </a:p>
      </dgm:t>
    </dgm:pt>
    <dgm:pt modelId="{658E6D17-6AD7-4CED-84E0-2FAD6C4C646B}" type="parTrans" cxnId="{2C74626B-9267-4B81-88F5-AB3D390F92DB}">
      <dgm:prSet/>
      <dgm:spPr/>
      <dgm:t>
        <a:bodyPr/>
        <a:lstStyle/>
        <a:p>
          <a:endParaRPr lang="en-IN"/>
        </a:p>
      </dgm:t>
    </dgm:pt>
    <dgm:pt modelId="{A4F2F674-763C-4812-A2F8-3CFD928BE8C3}" type="sibTrans" cxnId="{2C74626B-9267-4B81-88F5-AB3D390F92DB}">
      <dgm:prSet/>
      <dgm:spPr/>
      <dgm:t>
        <a:bodyPr/>
        <a:lstStyle/>
        <a:p>
          <a:endParaRPr lang="en-IN"/>
        </a:p>
      </dgm:t>
    </dgm:pt>
    <dgm:pt modelId="{DC800B87-9575-4DD3-8C80-B48355721911}">
      <dgm:prSet phldrT="[Text]"/>
      <dgm:spPr/>
      <dgm:t>
        <a:bodyPr/>
        <a:lstStyle/>
        <a:p>
          <a:r>
            <a:rPr lang="en-US" dirty="0" smtClean="0"/>
            <a:t>Employee interests to be protected by Government</a:t>
          </a:r>
          <a:endParaRPr lang="en-IN" dirty="0"/>
        </a:p>
      </dgm:t>
    </dgm:pt>
    <dgm:pt modelId="{230C188D-7067-4784-8F03-30504D37BC3C}" type="parTrans" cxnId="{196A7536-0C63-4FE1-86D7-969FDE08E377}">
      <dgm:prSet/>
      <dgm:spPr/>
      <dgm:t>
        <a:bodyPr/>
        <a:lstStyle/>
        <a:p>
          <a:endParaRPr lang="en-IN"/>
        </a:p>
      </dgm:t>
    </dgm:pt>
    <dgm:pt modelId="{61A151F8-5995-487E-9E41-83F55FFA79B9}" type="sibTrans" cxnId="{196A7536-0C63-4FE1-86D7-969FDE08E377}">
      <dgm:prSet/>
      <dgm:spPr/>
      <dgm:t>
        <a:bodyPr/>
        <a:lstStyle/>
        <a:p>
          <a:endParaRPr lang="en-IN"/>
        </a:p>
      </dgm:t>
    </dgm:pt>
    <dgm:pt modelId="{43C2034E-F83A-416C-A570-75271510F3F3}">
      <dgm:prSet phldrT="[Text]"/>
      <dgm:spPr/>
      <dgm:t>
        <a:bodyPr/>
        <a:lstStyle/>
        <a:p>
          <a:r>
            <a:rPr lang="en-US" dirty="0" smtClean="0"/>
            <a:t>Majority of Board to be non-executive &amp; independent directors</a:t>
          </a:r>
          <a:endParaRPr lang="en-IN" dirty="0"/>
        </a:p>
      </dgm:t>
    </dgm:pt>
    <dgm:pt modelId="{9867C27F-EB59-4B2C-A09B-67BC0EAF335A}" type="parTrans" cxnId="{BE040DC5-398A-4C8D-9CDC-40B2B6C2EFA5}">
      <dgm:prSet/>
      <dgm:spPr/>
      <dgm:t>
        <a:bodyPr/>
        <a:lstStyle/>
        <a:p>
          <a:endParaRPr lang="en-IN"/>
        </a:p>
      </dgm:t>
    </dgm:pt>
    <dgm:pt modelId="{A4C48922-76C4-48F8-AE40-C0E4619DCE67}" type="sibTrans" cxnId="{BE040DC5-398A-4C8D-9CDC-40B2B6C2EFA5}">
      <dgm:prSet/>
      <dgm:spPr/>
      <dgm:t>
        <a:bodyPr/>
        <a:lstStyle/>
        <a:p>
          <a:endParaRPr lang="en-IN"/>
        </a:p>
      </dgm:t>
    </dgm:pt>
    <dgm:pt modelId="{B4BD4E9E-9596-4FAC-88CD-48E56B315CEA}">
      <dgm:prSet/>
      <dgm:spPr/>
      <dgm:t>
        <a:bodyPr/>
        <a:lstStyle/>
        <a:p>
          <a:r>
            <a:rPr lang="en-US" dirty="0" smtClean="0"/>
            <a:t>Public companies to have at least 3 directors</a:t>
          </a:r>
          <a:endParaRPr lang="en-IN" dirty="0"/>
        </a:p>
      </dgm:t>
    </dgm:pt>
    <dgm:pt modelId="{43470BF5-FAFB-4308-ADB8-50D7503D23C2}" type="parTrans" cxnId="{6276A461-20BD-40D3-B96B-3A7365AFEE9D}">
      <dgm:prSet/>
      <dgm:spPr/>
      <dgm:t>
        <a:bodyPr/>
        <a:lstStyle/>
        <a:p>
          <a:endParaRPr lang="en-IN"/>
        </a:p>
      </dgm:t>
    </dgm:pt>
    <dgm:pt modelId="{ABD89AF0-B5E2-4D6A-9ADF-5B88BEDA9542}" type="sibTrans" cxnId="{6276A461-20BD-40D3-B96B-3A7365AFEE9D}">
      <dgm:prSet/>
      <dgm:spPr/>
      <dgm:t>
        <a:bodyPr/>
        <a:lstStyle/>
        <a:p>
          <a:endParaRPr lang="en-IN"/>
        </a:p>
      </dgm:t>
    </dgm:pt>
    <dgm:pt modelId="{38754699-0429-443B-ACE3-E55FEA52317E}">
      <dgm:prSet phldrT="[Text]"/>
      <dgm:spPr/>
      <dgm:t>
        <a:bodyPr/>
        <a:lstStyle/>
        <a:p>
          <a:r>
            <a:rPr lang="en-US" dirty="0" smtClean="0"/>
            <a:t>Reliable &amp; quality supply of electricity at reasonable prices to be available for all citizens</a:t>
          </a:r>
          <a:endParaRPr lang="en-IN" dirty="0"/>
        </a:p>
      </dgm:t>
    </dgm:pt>
    <dgm:pt modelId="{6121898C-95C2-4A67-A46E-A784F128E91F}" type="parTrans" cxnId="{E591F594-772D-4DEF-ABE9-393F4E7B174F}">
      <dgm:prSet/>
      <dgm:spPr/>
      <dgm:t>
        <a:bodyPr/>
        <a:lstStyle/>
        <a:p>
          <a:endParaRPr lang="en-IN"/>
        </a:p>
      </dgm:t>
    </dgm:pt>
    <dgm:pt modelId="{9B910200-557C-48C8-87BC-FE7B7AD18D72}" type="sibTrans" cxnId="{E591F594-772D-4DEF-ABE9-393F4E7B174F}">
      <dgm:prSet/>
      <dgm:spPr/>
      <dgm:t>
        <a:bodyPr/>
        <a:lstStyle/>
        <a:p>
          <a:endParaRPr lang="en-IN"/>
        </a:p>
      </dgm:t>
    </dgm:pt>
    <dgm:pt modelId="{2A2342E0-C880-4372-9CA5-4DEE46194617}">
      <dgm:prSet phldrT="[Text]"/>
      <dgm:spPr/>
      <dgm:t>
        <a:bodyPr/>
        <a:lstStyle/>
        <a:p>
          <a:r>
            <a:rPr lang="en-US" dirty="0" smtClean="0"/>
            <a:t>Separation of position of Chairman of Board &amp; CEO</a:t>
          </a:r>
          <a:endParaRPr lang="en-IN" dirty="0"/>
        </a:p>
      </dgm:t>
    </dgm:pt>
    <dgm:pt modelId="{E1E6EB53-1065-4718-ADEA-BA1F15EEE7B4}" type="parTrans" cxnId="{585C5FF2-4DB9-4E8B-935E-7526DC3FA5D0}">
      <dgm:prSet/>
      <dgm:spPr/>
      <dgm:t>
        <a:bodyPr/>
        <a:lstStyle/>
        <a:p>
          <a:endParaRPr lang="en-IN"/>
        </a:p>
      </dgm:t>
    </dgm:pt>
    <dgm:pt modelId="{6723903C-B287-472A-9D58-F7E90D44B9BD}" type="sibTrans" cxnId="{585C5FF2-4DB9-4E8B-935E-7526DC3FA5D0}">
      <dgm:prSet/>
      <dgm:spPr/>
      <dgm:t>
        <a:bodyPr/>
        <a:lstStyle/>
        <a:p>
          <a:endParaRPr lang="en-IN"/>
        </a:p>
      </dgm:t>
    </dgm:pt>
    <dgm:pt modelId="{D2B38F9B-CA2F-4F1C-8D82-359703960064}" type="pres">
      <dgm:prSet presAssocID="{AE2D7A42-7653-45D0-B55A-124150229BE4}" presName="linear" presStyleCnt="0">
        <dgm:presLayoutVars>
          <dgm:dir/>
          <dgm:animLvl val="lvl"/>
          <dgm:resizeHandles val="exact"/>
        </dgm:presLayoutVars>
      </dgm:prSet>
      <dgm:spPr/>
      <dgm:t>
        <a:bodyPr/>
        <a:lstStyle/>
        <a:p>
          <a:endParaRPr lang="en-IN"/>
        </a:p>
      </dgm:t>
    </dgm:pt>
    <dgm:pt modelId="{F7E66B93-FC76-48D1-85AA-643DA60ADD1A}" type="pres">
      <dgm:prSet presAssocID="{282C4352-C37B-454E-A344-D5BB94028240}" presName="parentLin" presStyleCnt="0"/>
      <dgm:spPr/>
    </dgm:pt>
    <dgm:pt modelId="{9E53F703-532F-4F98-B7C0-C72B870703C5}" type="pres">
      <dgm:prSet presAssocID="{282C4352-C37B-454E-A344-D5BB94028240}" presName="parentLeftMargin" presStyleLbl="node1" presStyleIdx="0" presStyleCnt="4"/>
      <dgm:spPr/>
      <dgm:t>
        <a:bodyPr/>
        <a:lstStyle/>
        <a:p>
          <a:endParaRPr lang="en-IN"/>
        </a:p>
      </dgm:t>
    </dgm:pt>
    <dgm:pt modelId="{5CB66158-9B7B-4874-89CD-FC5D64F6E42F}" type="pres">
      <dgm:prSet presAssocID="{282C4352-C37B-454E-A344-D5BB94028240}" presName="parentText" presStyleLbl="node1" presStyleIdx="0" presStyleCnt="4">
        <dgm:presLayoutVars>
          <dgm:chMax val="0"/>
          <dgm:bulletEnabled val="1"/>
        </dgm:presLayoutVars>
      </dgm:prSet>
      <dgm:spPr/>
      <dgm:t>
        <a:bodyPr/>
        <a:lstStyle/>
        <a:p>
          <a:endParaRPr lang="en-IN"/>
        </a:p>
      </dgm:t>
    </dgm:pt>
    <dgm:pt modelId="{B1F79029-A02B-48D7-BCDC-90223AA9380B}" type="pres">
      <dgm:prSet presAssocID="{282C4352-C37B-454E-A344-D5BB94028240}" presName="negativeSpace" presStyleCnt="0"/>
      <dgm:spPr/>
    </dgm:pt>
    <dgm:pt modelId="{5CE740FB-B9FD-4392-8D68-575486CA4764}" type="pres">
      <dgm:prSet presAssocID="{282C4352-C37B-454E-A344-D5BB94028240}" presName="childText" presStyleLbl="conFgAcc1" presStyleIdx="0" presStyleCnt="4">
        <dgm:presLayoutVars>
          <dgm:bulletEnabled val="1"/>
        </dgm:presLayoutVars>
      </dgm:prSet>
      <dgm:spPr/>
      <dgm:t>
        <a:bodyPr/>
        <a:lstStyle/>
        <a:p>
          <a:endParaRPr lang="en-IN"/>
        </a:p>
      </dgm:t>
    </dgm:pt>
    <dgm:pt modelId="{367D5B40-2031-40A0-B2B5-0C260A741445}" type="pres">
      <dgm:prSet presAssocID="{FB9A67D4-A845-4961-B3BB-A69A94B3D793}" presName="spaceBetweenRectangles" presStyleCnt="0"/>
      <dgm:spPr/>
    </dgm:pt>
    <dgm:pt modelId="{656ADFED-5039-41A8-962C-3F6DE096BAB9}" type="pres">
      <dgm:prSet presAssocID="{B3A96F6A-81BA-4EB0-9896-69BB75BAB446}" presName="parentLin" presStyleCnt="0"/>
      <dgm:spPr/>
    </dgm:pt>
    <dgm:pt modelId="{23CC5B55-2FB3-4FB9-9D52-55AEB07D68A0}" type="pres">
      <dgm:prSet presAssocID="{B3A96F6A-81BA-4EB0-9896-69BB75BAB446}" presName="parentLeftMargin" presStyleLbl="node1" presStyleIdx="0" presStyleCnt="4"/>
      <dgm:spPr/>
      <dgm:t>
        <a:bodyPr/>
        <a:lstStyle/>
        <a:p>
          <a:endParaRPr lang="en-IN"/>
        </a:p>
      </dgm:t>
    </dgm:pt>
    <dgm:pt modelId="{F0A0F546-2B57-4E0C-B72A-25B72696A0B7}" type="pres">
      <dgm:prSet presAssocID="{B3A96F6A-81BA-4EB0-9896-69BB75BAB446}" presName="parentText" presStyleLbl="node1" presStyleIdx="1" presStyleCnt="4">
        <dgm:presLayoutVars>
          <dgm:chMax val="0"/>
          <dgm:bulletEnabled val="1"/>
        </dgm:presLayoutVars>
      </dgm:prSet>
      <dgm:spPr/>
      <dgm:t>
        <a:bodyPr/>
        <a:lstStyle/>
        <a:p>
          <a:endParaRPr lang="en-IN"/>
        </a:p>
      </dgm:t>
    </dgm:pt>
    <dgm:pt modelId="{772CF175-BB91-40E8-8277-178E52EECA45}" type="pres">
      <dgm:prSet presAssocID="{B3A96F6A-81BA-4EB0-9896-69BB75BAB446}" presName="negativeSpace" presStyleCnt="0"/>
      <dgm:spPr/>
    </dgm:pt>
    <dgm:pt modelId="{B98C7537-2F45-4DEA-89EA-6E366B8F8523}" type="pres">
      <dgm:prSet presAssocID="{B3A96F6A-81BA-4EB0-9896-69BB75BAB446}" presName="childText" presStyleLbl="conFgAcc1" presStyleIdx="1" presStyleCnt="4">
        <dgm:presLayoutVars>
          <dgm:bulletEnabled val="1"/>
        </dgm:presLayoutVars>
      </dgm:prSet>
      <dgm:spPr/>
      <dgm:t>
        <a:bodyPr/>
        <a:lstStyle/>
        <a:p>
          <a:endParaRPr lang="en-IN"/>
        </a:p>
      </dgm:t>
    </dgm:pt>
    <dgm:pt modelId="{7838FD7B-2E49-461A-9BDF-37EE6B855CED}" type="pres">
      <dgm:prSet presAssocID="{8170BA05-DD5F-4EB2-8D72-16A339FB1B1C}" presName="spaceBetweenRectangles" presStyleCnt="0"/>
      <dgm:spPr/>
    </dgm:pt>
    <dgm:pt modelId="{30CFDAB4-58F1-4D83-AA96-353D0DF28FB8}" type="pres">
      <dgm:prSet presAssocID="{ED3026DD-1488-4884-A748-B2C20456E28C}" presName="parentLin" presStyleCnt="0"/>
      <dgm:spPr/>
    </dgm:pt>
    <dgm:pt modelId="{AC594D52-E690-4D18-B926-C06D03B180C7}" type="pres">
      <dgm:prSet presAssocID="{ED3026DD-1488-4884-A748-B2C20456E28C}" presName="parentLeftMargin" presStyleLbl="node1" presStyleIdx="1" presStyleCnt="4"/>
      <dgm:spPr/>
      <dgm:t>
        <a:bodyPr/>
        <a:lstStyle/>
        <a:p>
          <a:endParaRPr lang="en-IN"/>
        </a:p>
      </dgm:t>
    </dgm:pt>
    <dgm:pt modelId="{F5155AD6-9B73-4185-85B0-D0837799816B}" type="pres">
      <dgm:prSet presAssocID="{ED3026DD-1488-4884-A748-B2C20456E28C}" presName="parentText" presStyleLbl="node1" presStyleIdx="2" presStyleCnt="4">
        <dgm:presLayoutVars>
          <dgm:chMax val="0"/>
          <dgm:bulletEnabled val="1"/>
        </dgm:presLayoutVars>
      </dgm:prSet>
      <dgm:spPr/>
      <dgm:t>
        <a:bodyPr/>
        <a:lstStyle/>
        <a:p>
          <a:endParaRPr lang="en-IN"/>
        </a:p>
      </dgm:t>
    </dgm:pt>
    <dgm:pt modelId="{1F36F611-07CF-4317-8894-A29EB94CEFE4}" type="pres">
      <dgm:prSet presAssocID="{ED3026DD-1488-4884-A748-B2C20456E28C}" presName="negativeSpace" presStyleCnt="0"/>
      <dgm:spPr/>
    </dgm:pt>
    <dgm:pt modelId="{35D3722B-D294-4981-9C02-6163460AC938}" type="pres">
      <dgm:prSet presAssocID="{ED3026DD-1488-4884-A748-B2C20456E28C}" presName="childText" presStyleLbl="conFgAcc1" presStyleIdx="2" presStyleCnt="4">
        <dgm:presLayoutVars>
          <dgm:bulletEnabled val="1"/>
        </dgm:presLayoutVars>
      </dgm:prSet>
      <dgm:spPr/>
      <dgm:t>
        <a:bodyPr/>
        <a:lstStyle/>
        <a:p>
          <a:endParaRPr lang="en-IN"/>
        </a:p>
      </dgm:t>
    </dgm:pt>
    <dgm:pt modelId="{C7D598F8-88D2-4963-9193-70CF4E672B70}" type="pres">
      <dgm:prSet presAssocID="{734821FB-908D-479A-A55B-EFEE7DE6CB4B}" presName="spaceBetweenRectangles" presStyleCnt="0"/>
      <dgm:spPr/>
    </dgm:pt>
    <dgm:pt modelId="{8EFA20A0-D6FD-4E44-AEB3-242994CAC4DE}" type="pres">
      <dgm:prSet presAssocID="{DCB1B54F-D8D0-4FCA-8178-1EF8898DF54B}" presName="parentLin" presStyleCnt="0"/>
      <dgm:spPr/>
    </dgm:pt>
    <dgm:pt modelId="{E372E807-B63F-47EF-9183-30C32803F40D}" type="pres">
      <dgm:prSet presAssocID="{DCB1B54F-D8D0-4FCA-8178-1EF8898DF54B}" presName="parentLeftMargin" presStyleLbl="node1" presStyleIdx="2" presStyleCnt="4"/>
      <dgm:spPr/>
      <dgm:t>
        <a:bodyPr/>
        <a:lstStyle/>
        <a:p>
          <a:endParaRPr lang="en-IN"/>
        </a:p>
      </dgm:t>
    </dgm:pt>
    <dgm:pt modelId="{49FE4FEC-94CC-4B78-A666-7F492502B063}" type="pres">
      <dgm:prSet presAssocID="{DCB1B54F-D8D0-4FCA-8178-1EF8898DF54B}" presName="parentText" presStyleLbl="node1" presStyleIdx="3" presStyleCnt="4">
        <dgm:presLayoutVars>
          <dgm:chMax val="0"/>
          <dgm:bulletEnabled val="1"/>
        </dgm:presLayoutVars>
      </dgm:prSet>
      <dgm:spPr/>
      <dgm:t>
        <a:bodyPr/>
        <a:lstStyle/>
        <a:p>
          <a:endParaRPr lang="en-IN"/>
        </a:p>
      </dgm:t>
    </dgm:pt>
    <dgm:pt modelId="{C1DA8738-CF33-479D-B88C-12F0EE5A6250}" type="pres">
      <dgm:prSet presAssocID="{DCB1B54F-D8D0-4FCA-8178-1EF8898DF54B}" presName="negativeSpace" presStyleCnt="0"/>
      <dgm:spPr/>
    </dgm:pt>
    <dgm:pt modelId="{6F81EBC9-3F07-44BD-92AE-2858C7A198AD}" type="pres">
      <dgm:prSet presAssocID="{DCB1B54F-D8D0-4FCA-8178-1EF8898DF54B}" presName="childText" presStyleLbl="conFgAcc1" presStyleIdx="3" presStyleCnt="4">
        <dgm:presLayoutVars>
          <dgm:bulletEnabled val="1"/>
        </dgm:presLayoutVars>
      </dgm:prSet>
      <dgm:spPr/>
      <dgm:t>
        <a:bodyPr/>
        <a:lstStyle/>
        <a:p>
          <a:endParaRPr lang="en-IN"/>
        </a:p>
      </dgm:t>
    </dgm:pt>
  </dgm:ptLst>
  <dgm:cxnLst>
    <dgm:cxn modelId="{BE040DC5-398A-4C8D-9CDC-40B2B6C2EFA5}" srcId="{ED3026DD-1488-4884-A748-B2C20456E28C}" destId="{43C2034E-F83A-416C-A570-75271510F3F3}" srcOrd="1" destOrd="0" parTransId="{9867C27F-EB59-4B2C-A09B-67BC0EAF335A}" sibTransId="{A4C48922-76C4-48F8-AE40-C0E4619DCE67}"/>
    <dgm:cxn modelId="{BE536012-BA55-4E78-B376-2868C15081D2}" srcId="{AE2D7A42-7653-45D0-B55A-124150229BE4}" destId="{DCB1B54F-D8D0-4FCA-8178-1EF8898DF54B}" srcOrd="3" destOrd="0" parTransId="{6C2FE96F-17AF-4BF2-8061-A473C4C15704}" sibTransId="{BC3F367E-76E4-4A75-A84F-DD544677DCA8}"/>
    <dgm:cxn modelId="{83206075-EE7D-4B33-B9BB-0C459C5BD304}" type="presOf" srcId="{ED3026DD-1488-4884-A748-B2C20456E28C}" destId="{F5155AD6-9B73-4185-85B0-D0837799816B}" srcOrd="1" destOrd="0" presId="urn:microsoft.com/office/officeart/2005/8/layout/list1"/>
    <dgm:cxn modelId="{095F2ED3-42D2-41C3-B4BE-44411DA00992}" srcId="{282C4352-C37B-454E-A344-D5BB94028240}" destId="{FD2D9394-2AE3-493F-8875-F62B09335DCE}" srcOrd="2" destOrd="0" parTransId="{A49D9CAB-2BF3-4F3C-99B6-79691F449C83}" sibTransId="{61DC603E-55F8-4A72-A44B-4AAEEA553EAC}"/>
    <dgm:cxn modelId="{01FC00C5-48A2-4C86-B1BB-6CF635AE08CA}" type="presOf" srcId="{43C2034E-F83A-416C-A570-75271510F3F3}" destId="{35D3722B-D294-4981-9C02-6163460AC938}" srcOrd="0" destOrd="1" presId="urn:microsoft.com/office/officeart/2005/8/layout/list1"/>
    <dgm:cxn modelId="{CC5C828F-F20D-4F24-950F-7D43F92D944D}" type="presOf" srcId="{77A1A68E-034A-4D8D-9F19-CC4DABD4FB10}" destId="{35D3722B-D294-4981-9C02-6163460AC938}" srcOrd="0" destOrd="2" presId="urn:microsoft.com/office/officeart/2005/8/layout/list1"/>
    <dgm:cxn modelId="{107AD593-A33D-4903-8977-4117CB3D4336}" type="presOf" srcId="{AC2937D3-3394-4FDB-A858-E8AB8DCD1392}" destId="{B98C7537-2F45-4DEA-89EA-6E366B8F8523}" srcOrd="0" destOrd="0" presId="urn:microsoft.com/office/officeart/2005/8/layout/list1"/>
    <dgm:cxn modelId="{B4D97867-F513-42DC-9D53-BA6AB1609615}" srcId="{282C4352-C37B-454E-A344-D5BB94028240}" destId="{ADE5C26E-3F11-4FE7-AAF9-061A5225C2A4}" srcOrd="1" destOrd="0" parTransId="{A10156EA-450A-4BF4-AF4E-3FDF44B4F6C0}" sibTransId="{35DFF4BD-94DB-40F8-83EF-218BF2532D0E}"/>
    <dgm:cxn modelId="{E17FBDC1-FD97-4223-8C4D-E42EAE2FC5FD}" type="presOf" srcId="{FD2D9394-2AE3-493F-8875-F62B09335DCE}" destId="{5CE740FB-B9FD-4392-8D68-575486CA4764}" srcOrd="0" destOrd="2" presId="urn:microsoft.com/office/officeart/2005/8/layout/list1"/>
    <dgm:cxn modelId="{78AE3088-E99A-4053-9D46-6BBDF186F9D4}" type="presOf" srcId="{DCB1B54F-D8D0-4FCA-8178-1EF8898DF54B}" destId="{E372E807-B63F-47EF-9183-30C32803F40D}" srcOrd="0" destOrd="0" presId="urn:microsoft.com/office/officeart/2005/8/layout/list1"/>
    <dgm:cxn modelId="{4CA65B54-D76A-4ED6-9CF0-6314BB69A59A}" type="presOf" srcId="{3E7F00A7-426B-4FE5-928D-809F35D59BDD}" destId="{B98C7537-2F45-4DEA-89EA-6E366B8F8523}" srcOrd="0" destOrd="1" presId="urn:microsoft.com/office/officeart/2005/8/layout/list1"/>
    <dgm:cxn modelId="{EF02308E-8031-42B8-81C6-82554E104129}" type="presOf" srcId="{ADE5C26E-3F11-4FE7-AAF9-061A5225C2A4}" destId="{5CE740FB-B9FD-4392-8D68-575486CA4764}" srcOrd="0" destOrd="1" presId="urn:microsoft.com/office/officeart/2005/8/layout/list1"/>
    <dgm:cxn modelId="{5ED6AC63-BCCE-46D7-BEF4-8DAD152BEFBF}" type="presOf" srcId="{70E4ECC0-A939-4E4E-83BB-345279DFF406}" destId="{B98C7537-2F45-4DEA-89EA-6E366B8F8523}" srcOrd="0" destOrd="2" presId="urn:microsoft.com/office/officeart/2005/8/layout/list1"/>
    <dgm:cxn modelId="{7640A636-CDE1-4A7E-AF35-8EB3F98EB3D1}" srcId="{ED3026DD-1488-4884-A748-B2C20456E28C}" destId="{B3DE4192-5016-4356-94CD-C39C5DCF6D53}" srcOrd="0" destOrd="0" parTransId="{8F1EB9B6-4E32-4F9E-8C28-101C7F8D1518}" sibTransId="{46144587-4C17-4962-9C20-866BF8275592}"/>
    <dgm:cxn modelId="{0E8EAEB8-5FBF-4E6C-971E-B0737B8221E8}" type="presOf" srcId="{ED3026DD-1488-4884-A748-B2C20456E28C}" destId="{AC594D52-E690-4D18-B926-C06D03B180C7}" srcOrd="0" destOrd="0" presId="urn:microsoft.com/office/officeart/2005/8/layout/list1"/>
    <dgm:cxn modelId="{A89BF05C-DDA2-406C-A31C-E2FCE93D036A}" srcId="{AE2D7A42-7653-45D0-B55A-124150229BE4}" destId="{ED3026DD-1488-4884-A748-B2C20456E28C}" srcOrd="2" destOrd="0" parTransId="{1CF5BBB8-CE1C-4B7E-BDE5-9F662600B31B}" sibTransId="{734821FB-908D-479A-A55B-EFEE7DE6CB4B}"/>
    <dgm:cxn modelId="{196A7536-0C63-4FE1-86D7-969FDE08E377}" srcId="{B3A96F6A-81BA-4EB0-9896-69BB75BAB446}" destId="{DC800B87-9575-4DD3-8C80-B48355721911}" srcOrd="4" destOrd="0" parTransId="{230C188D-7067-4784-8F03-30504D37BC3C}" sibTransId="{61A151F8-5995-487E-9E41-83F55FFA79B9}"/>
    <dgm:cxn modelId="{11012BB9-EA34-4334-890A-3DAB9C717C45}" srcId="{AE2D7A42-7653-45D0-B55A-124150229BE4}" destId="{B3A96F6A-81BA-4EB0-9896-69BB75BAB446}" srcOrd="1" destOrd="0" parTransId="{7CCF40AC-E281-45A2-BAF0-E47B8CA46D80}" sibTransId="{8170BA05-DD5F-4EB2-8D72-16A339FB1B1C}"/>
    <dgm:cxn modelId="{4C67A863-FBA2-4553-AFDE-B2F5FA030F7B}" type="presOf" srcId="{282C4352-C37B-454E-A344-D5BB94028240}" destId="{5CB66158-9B7B-4874-89CD-FC5D64F6E42F}" srcOrd="1" destOrd="0" presId="urn:microsoft.com/office/officeart/2005/8/layout/list1"/>
    <dgm:cxn modelId="{129F9C79-19A8-4B54-87AC-E502C161E325}" type="presOf" srcId="{B4BD4E9E-9596-4FAC-88CD-48E56B315CEA}" destId="{6F81EBC9-3F07-44BD-92AE-2858C7A198AD}" srcOrd="0" destOrd="0" presId="urn:microsoft.com/office/officeart/2005/8/layout/list1"/>
    <dgm:cxn modelId="{10D5A83B-1964-4E3F-B113-5F1016815470}" type="presOf" srcId="{DC800B87-9575-4DD3-8C80-B48355721911}" destId="{B98C7537-2F45-4DEA-89EA-6E366B8F8523}" srcOrd="0" destOrd="4" presId="urn:microsoft.com/office/officeart/2005/8/layout/list1"/>
    <dgm:cxn modelId="{E591F594-772D-4DEF-ABE9-393F4E7B174F}" srcId="{282C4352-C37B-454E-A344-D5BB94028240}" destId="{38754699-0429-443B-ACE3-E55FEA52317E}" srcOrd="0" destOrd="0" parTransId="{6121898C-95C2-4A67-A46E-A784F128E91F}" sibTransId="{9B910200-557C-48C8-87BC-FE7B7AD18D72}"/>
    <dgm:cxn modelId="{22E5FACA-62C3-4746-ABAF-F79D048D6CA5}" srcId="{B3A96F6A-81BA-4EB0-9896-69BB75BAB446}" destId="{3E7F00A7-426B-4FE5-928D-809F35D59BDD}" srcOrd="1" destOrd="0" parTransId="{10B38585-B7B0-47DA-B1FD-FD15795CD827}" sibTransId="{94B33C12-49E4-4C73-82D6-860D92C37FB8}"/>
    <dgm:cxn modelId="{2C74626B-9267-4B81-88F5-AB3D390F92DB}" srcId="{B3A96F6A-81BA-4EB0-9896-69BB75BAB446}" destId="{70E4ECC0-A939-4E4E-83BB-345279DFF406}" srcOrd="2" destOrd="0" parTransId="{658E6D17-6AD7-4CED-84E0-2FAD6C4C646B}" sibTransId="{A4F2F674-763C-4812-A2F8-3CFD928BE8C3}"/>
    <dgm:cxn modelId="{585C5FF2-4DB9-4E8B-935E-7526DC3FA5D0}" srcId="{B3A96F6A-81BA-4EB0-9896-69BB75BAB446}" destId="{2A2342E0-C880-4372-9CA5-4DEE46194617}" srcOrd="3" destOrd="0" parTransId="{E1E6EB53-1065-4718-ADEA-BA1F15EEE7B4}" sibTransId="{6723903C-B287-472A-9D58-F7E90D44B9BD}"/>
    <dgm:cxn modelId="{6276A461-20BD-40D3-B96B-3A7365AFEE9D}" srcId="{DCB1B54F-D8D0-4FCA-8178-1EF8898DF54B}" destId="{B4BD4E9E-9596-4FAC-88CD-48E56B315CEA}" srcOrd="0" destOrd="0" parTransId="{43470BF5-FAFB-4308-ADB8-50D7503D23C2}" sibTransId="{ABD89AF0-B5E2-4D6A-9ADF-5B88BEDA9542}"/>
    <dgm:cxn modelId="{D818B603-7375-4FC8-8850-ABC895E713F6}" srcId="{ED3026DD-1488-4884-A748-B2C20456E28C}" destId="{77A1A68E-034A-4D8D-9F19-CC4DABD4FB10}" srcOrd="2" destOrd="0" parTransId="{90014583-3270-4C56-89EF-D48A6BC43AC4}" sibTransId="{B6FCE347-16A1-495C-8C84-E139282520EC}"/>
    <dgm:cxn modelId="{7D0E7D1A-EBBE-48A1-B577-7E81581BA360}" type="presOf" srcId="{2A2342E0-C880-4372-9CA5-4DEE46194617}" destId="{B98C7537-2F45-4DEA-89EA-6E366B8F8523}" srcOrd="0" destOrd="3" presId="urn:microsoft.com/office/officeart/2005/8/layout/list1"/>
    <dgm:cxn modelId="{68EC01A2-048B-4D20-B277-323347E8004A}" type="presOf" srcId="{B3DE4192-5016-4356-94CD-C39C5DCF6D53}" destId="{35D3722B-D294-4981-9C02-6163460AC938}" srcOrd="0" destOrd="0" presId="urn:microsoft.com/office/officeart/2005/8/layout/list1"/>
    <dgm:cxn modelId="{44AE4E7A-C96D-4072-BE24-49507DDD1C24}" type="presOf" srcId="{38754699-0429-443B-ACE3-E55FEA52317E}" destId="{5CE740FB-B9FD-4392-8D68-575486CA4764}" srcOrd="0" destOrd="0" presId="urn:microsoft.com/office/officeart/2005/8/layout/list1"/>
    <dgm:cxn modelId="{5EE6BF78-2E5A-4B2F-8396-C347362FC8BE}" type="presOf" srcId="{B3A96F6A-81BA-4EB0-9896-69BB75BAB446}" destId="{F0A0F546-2B57-4E0C-B72A-25B72696A0B7}" srcOrd="1" destOrd="0" presId="urn:microsoft.com/office/officeart/2005/8/layout/list1"/>
    <dgm:cxn modelId="{0A62CC03-0D62-4663-BE99-38905E0F6DE5}" srcId="{AE2D7A42-7653-45D0-B55A-124150229BE4}" destId="{282C4352-C37B-454E-A344-D5BB94028240}" srcOrd="0" destOrd="0" parTransId="{6DEAE777-20EB-4B07-A35F-C7384E8FC655}" sibTransId="{FB9A67D4-A845-4961-B3BB-A69A94B3D793}"/>
    <dgm:cxn modelId="{04C79EFD-FB5F-4BF9-85DC-E5238EE58711}" type="presOf" srcId="{AE2D7A42-7653-45D0-B55A-124150229BE4}" destId="{D2B38F9B-CA2F-4F1C-8D82-359703960064}" srcOrd="0" destOrd="0" presId="urn:microsoft.com/office/officeart/2005/8/layout/list1"/>
    <dgm:cxn modelId="{783BE915-761C-42F5-A05B-93992C6E579E}" type="presOf" srcId="{B3A96F6A-81BA-4EB0-9896-69BB75BAB446}" destId="{23CC5B55-2FB3-4FB9-9D52-55AEB07D68A0}" srcOrd="0" destOrd="0" presId="urn:microsoft.com/office/officeart/2005/8/layout/list1"/>
    <dgm:cxn modelId="{56BE932D-864D-43BF-A41E-0F3446C31E45}" type="presOf" srcId="{DCB1B54F-D8D0-4FCA-8178-1EF8898DF54B}" destId="{49FE4FEC-94CC-4B78-A666-7F492502B063}" srcOrd="1" destOrd="0" presId="urn:microsoft.com/office/officeart/2005/8/layout/list1"/>
    <dgm:cxn modelId="{B7F1D0A4-1A62-4F5D-ACE8-AF2CC080D3AC}" srcId="{B3A96F6A-81BA-4EB0-9896-69BB75BAB446}" destId="{AC2937D3-3394-4FDB-A858-E8AB8DCD1392}" srcOrd="0" destOrd="0" parTransId="{C4FFE200-BC58-495E-9AA4-DCBF262E5F72}" sibTransId="{0D21A093-5B09-4B65-974A-E4D75337038C}"/>
    <dgm:cxn modelId="{E18AF236-1A3D-4E1B-AF9B-AD0A0F191856}" type="presOf" srcId="{282C4352-C37B-454E-A344-D5BB94028240}" destId="{9E53F703-532F-4F98-B7C0-C72B870703C5}" srcOrd="0" destOrd="0" presId="urn:microsoft.com/office/officeart/2005/8/layout/list1"/>
    <dgm:cxn modelId="{A4018CE1-8A60-4AEE-9F5B-5D3D361C075C}" type="presParOf" srcId="{D2B38F9B-CA2F-4F1C-8D82-359703960064}" destId="{F7E66B93-FC76-48D1-85AA-643DA60ADD1A}" srcOrd="0" destOrd="0" presId="urn:microsoft.com/office/officeart/2005/8/layout/list1"/>
    <dgm:cxn modelId="{7A532C6B-426C-4E96-BB76-F2F5DC7FDF85}" type="presParOf" srcId="{F7E66B93-FC76-48D1-85AA-643DA60ADD1A}" destId="{9E53F703-532F-4F98-B7C0-C72B870703C5}" srcOrd="0" destOrd="0" presId="urn:microsoft.com/office/officeart/2005/8/layout/list1"/>
    <dgm:cxn modelId="{9C011E92-9810-484E-AEB3-5DB02A0C179B}" type="presParOf" srcId="{F7E66B93-FC76-48D1-85AA-643DA60ADD1A}" destId="{5CB66158-9B7B-4874-89CD-FC5D64F6E42F}" srcOrd="1" destOrd="0" presId="urn:microsoft.com/office/officeart/2005/8/layout/list1"/>
    <dgm:cxn modelId="{9EF7B1D3-B768-4C24-BEA4-B54B1AA95187}" type="presParOf" srcId="{D2B38F9B-CA2F-4F1C-8D82-359703960064}" destId="{B1F79029-A02B-48D7-BCDC-90223AA9380B}" srcOrd="1" destOrd="0" presId="urn:microsoft.com/office/officeart/2005/8/layout/list1"/>
    <dgm:cxn modelId="{8FCB5F80-EA35-4DDA-858F-67B0B31EB7E8}" type="presParOf" srcId="{D2B38F9B-CA2F-4F1C-8D82-359703960064}" destId="{5CE740FB-B9FD-4392-8D68-575486CA4764}" srcOrd="2" destOrd="0" presId="urn:microsoft.com/office/officeart/2005/8/layout/list1"/>
    <dgm:cxn modelId="{B7E4194A-FE53-43C7-9673-D82135A1AD91}" type="presParOf" srcId="{D2B38F9B-CA2F-4F1C-8D82-359703960064}" destId="{367D5B40-2031-40A0-B2B5-0C260A741445}" srcOrd="3" destOrd="0" presId="urn:microsoft.com/office/officeart/2005/8/layout/list1"/>
    <dgm:cxn modelId="{F8528BF2-000D-4628-B755-E108027D5024}" type="presParOf" srcId="{D2B38F9B-CA2F-4F1C-8D82-359703960064}" destId="{656ADFED-5039-41A8-962C-3F6DE096BAB9}" srcOrd="4" destOrd="0" presId="urn:microsoft.com/office/officeart/2005/8/layout/list1"/>
    <dgm:cxn modelId="{946061F2-B347-42F4-9F92-45407D47373C}" type="presParOf" srcId="{656ADFED-5039-41A8-962C-3F6DE096BAB9}" destId="{23CC5B55-2FB3-4FB9-9D52-55AEB07D68A0}" srcOrd="0" destOrd="0" presId="urn:microsoft.com/office/officeart/2005/8/layout/list1"/>
    <dgm:cxn modelId="{8072AAA2-F27F-430D-96EE-8A62931E41DC}" type="presParOf" srcId="{656ADFED-5039-41A8-962C-3F6DE096BAB9}" destId="{F0A0F546-2B57-4E0C-B72A-25B72696A0B7}" srcOrd="1" destOrd="0" presId="urn:microsoft.com/office/officeart/2005/8/layout/list1"/>
    <dgm:cxn modelId="{FD33B769-CF71-4DD0-9F99-316F0404F297}" type="presParOf" srcId="{D2B38F9B-CA2F-4F1C-8D82-359703960064}" destId="{772CF175-BB91-40E8-8277-178E52EECA45}" srcOrd="5" destOrd="0" presId="urn:microsoft.com/office/officeart/2005/8/layout/list1"/>
    <dgm:cxn modelId="{E8D025E5-A50F-4512-A7E4-3633EA777831}" type="presParOf" srcId="{D2B38F9B-CA2F-4F1C-8D82-359703960064}" destId="{B98C7537-2F45-4DEA-89EA-6E366B8F8523}" srcOrd="6" destOrd="0" presId="urn:microsoft.com/office/officeart/2005/8/layout/list1"/>
    <dgm:cxn modelId="{D1BC0F73-81E2-4FE8-974C-42BC548D4B2D}" type="presParOf" srcId="{D2B38F9B-CA2F-4F1C-8D82-359703960064}" destId="{7838FD7B-2E49-461A-9BDF-37EE6B855CED}" srcOrd="7" destOrd="0" presId="urn:microsoft.com/office/officeart/2005/8/layout/list1"/>
    <dgm:cxn modelId="{124F008F-A1B9-4AD6-9F0A-3956AAEA17EE}" type="presParOf" srcId="{D2B38F9B-CA2F-4F1C-8D82-359703960064}" destId="{30CFDAB4-58F1-4D83-AA96-353D0DF28FB8}" srcOrd="8" destOrd="0" presId="urn:microsoft.com/office/officeart/2005/8/layout/list1"/>
    <dgm:cxn modelId="{0797BA79-CC32-4ACB-8A97-1AC1445B4ECA}" type="presParOf" srcId="{30CFDAB4-58F1-4D83-AA96-353D0DF28FB8}" destId="{AC594D52-E690-4D18-B926-C06D03B180C7}" srcOrd="0" destOrd="0" presId="urn:microsoft.com/office/officeart/2005/8/layout/list1"/>
    <dgm:cxn modelId="{C4FC5F1C-F619-4BE0-8FA3-C42FBDE95D96}" type="presParOf" srcId="{30CFDAB4-58F1-4D83-AA96-353D0DF28FB8}" destId="{F5155AD6-9B73-4185-85B0-D0837799816B}" srcOrd="1" destOrd="0" presId="urn:microsoft.com/office/officeart/2005/8/layout/list1"/>
    <dgm:cxn modelId="{FFFF7DDE-2920-4FA4-96F7-82F73A257E63}" type="presParOf" srcId="{D2B38F9B-CA2F-4F1C-8D82-359703960064}" destId="{1F36F611-07CF-4317-8894-A29EB94CEFE4}" srcOrd="9" destOrd="0" presId="urn:microsoft.com/office/officeart/2005/8/layout/list1"/>
    <dgm:cxn modelId="{ED3FF7B7-D274-4DF5-B82C-0D47E97264A1}" type="presParOf" srcId="{D2B38F9B-CA2F-4F1C-8D82-359703960064}" destId="{35D3722B-D294-4981-9C02-6163460AC938}" srcOrd="10" destOrd="0" presId="urn:microsoft.com/office/officeart/2005/8/layout/list1"/>
    <dgm:cxn modelId="{0E6F2536-5110-458A-B6A4-C7469456720E}" type="presParOf" srcId="{D2B38F9B-CA2F-4F1C-8D82-359703960064}" destId="{C7D598F8-88D2-4963-9193-70CF4E672B70}" srcOrd="11" destOrd="0" presId="urn:microsoft.com/office/officeart/2005/8/layout/list1"/>
    <dgm:cxn modelId="{323963AC-DC92-40A2-9458-891827850DDA}" type="presParOf" srcId="{D2B38F9B-CA2F-4F1C-8D82-359703960064}" destId="{8EFA20A0-D6FD-4E44-AEB3-242994CAC4DE}" srcOrd="12" destOrd="0" presId="urn:microsoft.com/office/officeart/2005/8/layout/list1"/>
    <dgm:cxn modelId="{3B14D3B1-A9CF-4C2D-8136-490224900AF1}" type="presParOf" srcId="{8EFA20A0-D6FD-4E44-AEB3-242994CAC4DE}" destId="{E372E807-B63F-47EF-9183-30C32803F40D}" srcOrd="0" destOrd="0" presId="urn:microsoft.com/office/officeart/2005/8/layout/list1"/>
    <dgm:cxn modelId="{49C151CE-C7CE-4C43-B310-F60B72F5A17A}" type="presParOf" srcId="{8EFA20A0-D6FD-4E44-AEB3-242994CAC4DE}" destId="{49FE4FEC-94CC-4B78-A666-7F492502B063}" srcOrd="1" destOrd="0" presId="urn:microsoft.com/office/officeart/2005/8/layout/list1"/>
    <dgm:cxn modelId="{CC1BAD85-9E60-482A-9C4C-D8E4D1C04359}" type="presParOf" srcId="{D2B38F9B-CA2F-4F1C-8D82-359703960064}" destId="{C1DA8738-CF33-479D-B88C-12F0EE5A6250}" srcOrd="13" destOrd="0" presId="urn:microsoft.com/office/officeart/2005/8/layout/list1"/>
    <dgm:cxn modelId="{36FF54B1-8686-4B91-BC23-B6FAEC6A0F5E}" type="presParOf" srcId="{D2B38F9B-CA2F-4F1C-8D82-359703960064}" destId="{6F81EBC9-3F07-44BD-92AE-2858C7A198AD}"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6741DE-1FA8-4FE5-974E-C4B07A463BA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B1F04F21-B380-4B6C-B414-71007EE399E0}">
      <dgm:prSet phldrT="[Text]"/>
      <dgm:spPr/>
      <dgm:t>
        <a:bodyPr/>
        <a:lstStyle/>
        <a:p>
          <a:r>
            <a:rPr lang="en-US" b="1" dirty="0" smtClean="0"/>
            <a:t>Increase in Cross Border Trade</a:t>
          </a:r>
          <a:endParaRPr lang="en-IN" b="1" dirty="0"/>
        </a:p>
      </dgm:t>
    </dgm:pt>
    <dgm:pt modelId="{211B8C42-1DF5-4F21-B5C2-41B4496C7B56}" type="parTrans" cxnId="{1BFC0FE7-EFE7-4008-BEB5-CEEC9BC6FBF2}">
      <dgm:prSet/>
      <dgm:spPr/>
      <dgm:t>
        <a:bodyPr/>
        <a:lstStyle/>
        <a:p>
          <a:endParaRPr lang="en-IN"/>
        </a:p>
      </dgm:t>
    </dgm:pt>
    <dgm:pt modelId="{F7C343F2-862E-4C77-8052-F793ACB7D9C4}" type="sibTrans" cxnId="{1BFC0FE7-EFE7-4008-BEB5-CEEC9BC6FBF2}">
      <dgm:prSet/>
      <dgm:spPr/>
      <dgm:t>
        <a:bodyPr/>
        <a:lstStyle/>
        <a:p>
          <a:endParaRPr lang="en-IN"/>
        </a:p>
      </dgm:t>
    </dgm:pt>
    <dgm:pt modelId="{ADD5AD1C-CBB9-4E1E-8820-77EF60272869}">
      <dgm:prSet phldrT="[Text]"/>
      <dgm:spPr/>
      <dgm:t>
        <a:bodyPr/>
        <a:lstStyle/>
        <a:p>
          <a:r>
            <a:rPr lang="en-US" b="1" dirty="0" smtClean="0"/>
            <a:t>Bangladesh potential off-shore investment</a:t>
          </a:r>
          <a:endParaRPr lang="en-IN" b="1" dirty="0"/>
        </a:p>
      </dgm:t>
    </dgm:pt>
    <dgm:pt modelId="{3E41FA53-3218-4F36-9F92-A711C8032CBE}" type="parTrans" cxnId="{E7F49CCB-2948-484B-B30A-BFEDF6DDC0AA}">
      <dgm:prSet/>
      <dgm:spPr/>
      <dgm:t>
        <a:bodyPr/>
        <a:lstStyle/>
        <a:p>
          <a:endParaRPr lang="en-IN"/>
        </a:p>
      </dgm:t>
    </dgm:pt>
    <dgm:pt modelId="{6FA2530B-802B-4B35-8D0C-54B5291A5276}" type="sibTrans" cxnId="{E7F49CCB-2948-484B-B30A-BFEDF6DDC0AA}">
      <dgm:prSet/>
      <dgm:spPr/>
      <dgm:t>
        <a:bodyPr/>
        <a:lstStyle/>
        <a:p>
          <a:endParaRPr lang="en-IN"/>
        </a:p>
      </dgm:t>
    </dgm:pt>
    <dgm:pt modelId="{9A4F520C-E111-40FA-8C1E-CB6885CCBA76}">
      <dgm:prSet phldrT="[Text]"/>
      <dgm:spPr/>
      <dgm:t>
        <a:bodyPr/>
        <a:lstStyle/>
        <a:p>
          <a:pPr>
            <a:lnSpc>
              <a:spcPct val="100000"/>
            </a:lnSpc>
            <a:spcAft>
              <a:spcPts val="600"/>
            </a:spcAft>
          </a:pPr>
          <a:r>
            <a:rPr lang="en-US" dirty="0" smtClean="0"/>
            <a:t>Bangladesh, India and Bhutan considering cooperation for development of 1125 MW </a:t>
          </a:r>
          <a:r>
            <a:rPr lang="en-US" dirty="0" err="1" smtClean="0"/>
            <a:t>Dorjilung</a:t>
          </a:r>
          <a:r>
            <a:rPr lang="en-US" dirty="0" smtClean="0"/>
            <a:t> hydropower project</a:t>
          </a:r>
          <a:endParaRPr lang="en-IN" dirty="0"/>
        </a:p>
      </dgm:t>
    </dgm:pt>
    <dgm:pt modelId="{691B614A-DCFD-41CA-A184-6398EFD2CF9F}" type="parTrans" cxnId="{CF8B52D3-3064-49B4-A470-6945F611E18D}">
      <dgm:prSet/>
      <dgm:spPr/>
      <dgm:t>
        <a:bodyPr/>
        <a:lstStyle/>
        <a:p>
          <a:endParaRPr lang="en-IN"/>
        </a:p>
      </dgm:t>
    </dgm:pt>
    <dgm:pt modelId="{BEA2D512-3A39-4005-B925-BF93881A32D4}" type="sibTrans" cxnId="{CF8B52D3-3064-49B4-A470-6945F611E18D}">
      <dgm:prSet/>
      <dgm:spPr/>
      <dgm:t>
        <a:bodyPr/>
        <a:lstStyle/>
        <a:p>
          <a:endParaRPr lang="en-IN"/>
        </a:p>
      </dgm:t>
    </dgm:pt>
    <dgm:pt modelId="{BA152961-FC33-43BF-B40C-A582D0CA4C03}">
      <dgm:prSet phldrT="[Text]"/>
      <dgm:spPr/>
      <dgm:t>
        <a:bodyPr/>
        <a:lstStyle/>
        <a:p>
          <a:pPr>
            <a:lnSpc>
              <a:spcPct val="100000"/>
            </a:lnSpc>
            <a:spcAft>
              <a:spcPts val="600"/>
            </a:spcAft>
          </a:pPr>
          <a:r>
            <a:rPr lang="en-US" dirty="0" smtClean="0"/>
            <a:t>Potential Investment of USD 1 </a:t>
          </a:r>
          <a:r>
            <a:rPr lang="en-US" dirty="0" err="1" smtClean="0"/>
            <a:t>Bn</a:t>
          </a:r>
          <a:r>
            <a:rPr lang="en-US" dirty="0" smtClean="0"/>
            <a:t> by Bangladesh</a:t>
          </a:r>
          <a:endParaRPr lang="en-IN" dirty="0"/>
        </a:p>
      </dgm:t>
    </dgm:pt>
    <dgm:pt modelId="{8830690F-E72F-4678-974B-1C0D81FED01D}" type="parTrans" cxnId="{A9B5AFC7-7943-40B1-B382-5BF005526077}">
      <dgm:prSet/>
      <dgm:spPr/>
      <dgm:t>
        <a:bodyPr/>
        <a:lstStyle/>
        <a:p>
          <a:endParaRPr lang="en-IN"/>
        </a:p>
      </dgm:t>
    </dgm:pt>
    <dgm:pt modelId="{057E4404-3523-4A39-872A-2005A328DBD2}" type="sibTrans" cxnId="{A9B5AFC7-7943-40B1-B382-5BF005526077}">
      <dgm:prSet/>
      <dgm:spPr/>
      <dgm:t>
        <a:bodyPr/>
        <a:lstStyle/>
        <a:p>
          <a:endParaRPr lang="en-IN"/>
        </a:p>
      </dgm:t>
    </dgm:pt>
    <dgm:pt modelId="{C3E6A91D-4D45-4DEB-9E60-D4DF7C1CD8DE}">
      <dgm:prSet phldrT="[Text]"/>
      <dgm:spPr/>
      <dgm:t>
        <a:bodyPr/>
        <a:lstStyle/>
        <a:p>
          <a:r>
            <a:rPr lang="en-US" b="1" dirty="0" smtClean="0"/>
            <a:t>Imported coal-based generation capacity addition</a:t>
          </a:r>
          <a:endParaRPr lang="en-IN" b="1" dirty="0"/>
        </a:p>
      </dgm:t>
    </dgm:pt>
    <dgm:pt modelId="{3D48D6A4-DC2C-4299-9E92-20F7262D357D}" type="parTrans" cxnId="{1606D52F-8A8E-4494-AF4A-622E4BBEACBC}">
      <dgm:prSet/>
      <dgm:spPr/>
      <dgm:t>
        <a:bodyPr/>
        <a:lstStyle/>
        <a:p>
          <a:endParaRPr lang="en-IN"/>
        </a:p>
      </dgm:t>
    </dgm:pt>
    <dgm:pt modelId="{4BAB215C-2A02-48F5-83C2-92B09E36B91A}" type="sibTrans" cxnId="{1606D52F-8A8E-4494-AF4A-622E4BBEACBC}">
      <dgm:prSet/>
      <dgm:spPr/>
      <dgm:t>
        <a:bodyPr/>
        <a:lstStyle/>
        <a:p>
          <a:endParaRPr lang="en-IN"/>
        </a:p>
      </dgm:t>
    </dgm:pt>
    <dgm:pt modelId="{71B1FE7B-C1CD-439B-8157-DBFE4981BA60}">
      <dgm:prSet phldrT="[Text]"/>
      <dgm:spPr/>
      <dgm:t>
        <a:bodyPr/>
        <a:lstStyle/>
        <a:p>
          <a:pPr>
            <a:lnSpc>
              <a:spcPct val="100000"/>
            </a:lnSpc>
            <a:spcAft>
              <a:spcPts val="600"/>
            </a:spcAft>
          </a:pPr>
          <a:r>
            <a:rPr lang="en-US" dirty="0" smtClean="0"/>
            <a:t>Government of Bangladesh aims to setup 6500 MW capacity from imported coal based power plant by 2021</a:t>
          </a:r>
          <a:endParaRPr lang="en-IN" dirty="0"/>
        </a:p>
      </dgm:t>
    </dgm:pt>
    <dgm:pt modelId="{C8A326B6-548A-467B-A9D5-AC74876496A5}" type="parTrans" cxnId="{B1627252-49B4-41C8-ABB6-F1C68063935C}">
      <dgm:prSet/>
      <dgm:spPr/>
      <dgm:t>
        <a:bodyPr/>
        <a:lstStyle/>
        <a:p>
          <a:endParaRPr lang="en-IN"/>
        </a:p>
      </dgm:t>
    </dgm:pt>
    <dgm:pt modelId="{3016EEAF-38AE-4E82-947D-C216B7F22816}" type="sibTrans" cxnId="{B1627252-49B4-41C8-ABB6-F1C68063935C}">
      <dgm:prSet/>
      <dgm:spPr/>
      <dgm:t>
        <a:bodyPr/>
        <a:lstStyle/>
        <a:p>
          <a:endParaRPr lang="en-IN"/>
        </a:p>
      </dgm:t>
    </dgm:pt>
    <dgm:pt modelId="{FFFEE7A3-321B-476A-8818-8F79F8C39F02}">
      <dgm:prSet phldrT="[Text]"/>
      <dgm:spPr/>
      <dgm:t>
        <a:bodyPr/>
        <a:lstStyle/>
        <a:p>
          <a:pPr>
            <a:lnSpc>
              <a:spcPct val="100000"/>
            </a:lnSpc>
            <a:spcAft>
              <a:spcPts val="600"/>
            </a:spcAft>
          </a:pPr>
          <a:r>
            <a:rPr lang="en-US" dirty="0" smtClean="0"/>
            <a:t>PSMP envisages import of up to 9000 MW by 2041</a:t>
          </a:r>
          <a:endParaRPr lang="en-IN" dirty="0"/>
        </a:p>
      </dgm:t>
    </dgm:pt>
    <dgm:pt modelId="{81A0BA39-697E-4025-8464-7D145B566F4F}" type="parTrans" cxnId="{944B48AF-6F07-47F1-B013-B867CFAFBCBF}">
      <dgm:prSet/>
      <dgm:spPr/>
      <dgm:t>
        <a:bodyPr/>
        <a:lstStyle/>
        <a:p>
          <a:endParaRPr lang="en-IN"/>
        </a:p>
      </dgm:t>
    </dgm:pt>
    <dgm:pt modelId="{3A2BEF39-055F-4E30-A385-8108A81CB43F}" type="sibTrans" cxnId="{944B48AF-6F07-47F1-B013-B867CFAFBCBF}">
      <dgm:prSet/>
      <dgm:spPr/>
      <dgm:t>
        <a:bodyPr/>
        <a:lstStyle/>
        <a:p>
          <a:endParaRPr lang="en-IN"/>
        </a:p>
      </dgm:t>
    </dgm:pt>
    <dgm:pt modelId="{F6148879-DE6B-4596-B76B-9686FCEF4295}">
      <dgm:prSet phldrT="[Text]"/>
      <dgm:spPr/>
      <dgm:t>
        <a:bodyPr/>
        <a:lstStyle/>
        <a:p>
          <a:pPr>
            <a:lnSpc>
              <a:spcPct val="100000"/>
            </a:lnSpc>
            <a:spcAft>
              <a:spcPts val="600"/>
            </a:spcAft>
          </a:pPr>
          <a:r>
            <a:rPr lang="en-US" dirty="0" smtClean="0"/>
            <a:t>Shortage of natural gas and electricity supply shortage are key drivers of cross border trade</a:t>
          </a:r>
          <a:endParaRPr lang="en-IN" dirty="0"/>
        </a:p>
      </dgm:t>
    </dgm:pt>
    <dgm:pt modelId="{FD4DF1A3-083B-473C-BA02-3A9ED60D5D89}" type="parTrans" cxnId="{016FEA7B-451A-4E05-8BC8-9076636D7DC4}">
      <dgm:prSet/>
      <dgm:spPr/>
      <dgm:t>
        <a:bodyPr/>
        <a:lstStyle/>
        <a:p>
          <a:endParaRPr lang="en-IN"/>
        </a:p>
      </dgm:t>
    </dgm:pt>
    <dgm:pt modelId="{F7E8447F-AB2F-4648-ADAC-C19424CE8FF0}" type="sibTrans" cxnId="{016FEA7B-451A-4E05-8BC8-9076636D7DC4}">
      <dgm:prSet/>
      <dgm:spPr/>
      <dgm:t>
        <a:bodyPr/>
        <a:lstStyle/>
        <a:p>
          <a:endParaRPr lang="en-IN"/>
        </a:p>
      </dgm:t>
    </dgm:pt>
    <dgm:pt modelId="{ECDA44F3-43F7-4E17-B945-97B0D18D2743}">
      <dgm:prSet phldrT="[Text]"/>
      <dgm:spPr/>
      <dgm:t>
        <a:bodyPr/>
        <a:lstStyle/>
        <a:p>
          <a:pPr>
            <a:lnSpc>
              <a:spcPct val="100000"/>
            </a:lnSpc>
            <a:spcAft>
              <a:spcPts val="600"/>
            </a:spcAft>
          </a:pPr>
          <a:endParaRPr lang="en-IN" dirty="0"/>
        </a:p>
      </dgm:t>
    </dgm:pt>
    <dgm:pt modelId="{1917622B-7791-4383-8199-FBD30444FEB5}" type="parTrans" cxnId="{BBFD34EF-D091-448C-9CCF-040B3881BC47}">
      <dgm:prSet/>
      <dgm:spPr/>
      <dgm:t>
        <a:bodyPr/>
        <a:lstStyle/>
        <a:p>
          <a:endParaRPr lang="en-IN"/>
        </a:p>
      </dgm:t>
    </dgm:pt>
    <dgm:pt modelId="{B92CFC9C-540E-4255-B485-7DA9170402D5}" type="sibTrans" cxnId="{BBFD34EF-D091-448C-9CCF-040B3881BC47}">
      <dgm:prSet/>
      <dgm:spPr/>
      <dgm:t>
        <a:bodyPr/>
        <a:lstStyle/>
        <a:p>
          <a:endParaRPr lang="en-IN"/>
        </a:p>
      </dgm:t>
    </dgm:pt>
    <dgm:pt modelId="{01C9C4AC-C7CD-44E8-81AB-B5FC08D6A451}">
      <dgm:prSet phldrT="[Text]"/>
      <dgm:spPr/>
      <dgm:t>
        <a:bodyPr/>
        <a:lstStyle/>
        <a:p>
          <a:pPr>
            <a:lnSpc>
              <a:spcPct val="100000"/>
            </a:lnSpc>
            <a:spcAft>
              <a:spcPts val="600"/>
            </a:spcAft>
          </a:pPr>
          <a:r>
            <a:rPr lang="en-US" dirty="0" smtClean="0"/>
            <a:t>PSMP envisages import of 60 </a:t>
          </a:r>
          <a:r>
            <a:rPr lang="en-US" dirty="0" err="1" smtClean="0"/>
            <a:t>Mn</a:t>
          </a:r>
          <a:r>
            <a:rPr lang="en-US" dirty="0" smtClean="0"/>
            <a:t> ton coal by 2041</a:t>
          </a:r>
          <a:endParaRPr lang="en-IN" dirty="0"/>
        </a:p>
      </dgm:t>
    </dgm:pt>
    <dgm:pt modelId="{5936ECC9-3CB5-47C7-A59B-EFB9DD42E570}" type="parTrans" cxnId="{5AE2ED91-55CC-4CC4-8336-527F668A8B35}">
      <dgm:prSet/>
      <dgm:spPr/>
      <dgm:t>
        <a:bodyPr/>
        <a:lstStyle/>
        <a:p>
          <a:endParaRPr lang="en-IN"/>
        </a:p>
      </dgm:t>
    </dgm:pt>
    <dgm:pt modelId="{227DFA3B-E9D7-4396-9A72-3C082298BF24}" type="sibTrans" cxnId="{5AE2ED91-55CC-4CC4-8336-527F668A8B35}">
      <dgm:prSet/>
      <dgm:spPr/>
      <dgm:t>
        <a:bodyPr/>
        <a:lstStyle/>
        <a:p>
          <a:endParaRPr lang="en-IN"/>
        </a:p>
      </dgm:t>
    </dgm:pt>
    <dgm:pt modelId="{A011D122-7D38-47A2-9C72-CF997AD209DE}" type="pres">
      <dgm:prSet presAssocID="{E36741DE-1FA8-4FE5-974E-C4B07A463BAD}" presName="Name0" presStyleCnt="0">
        <dgm:presLayoutVars>
          <dgm:dir/>
          <dgm:animLvl val="lvl"/>
          <dgm:resizeHandles val="exact"/>
        </dgm:presLayoutVars>
      </dgm:prSet>
      <dgm:spPr/>
      <dgm:t>
        <a:bodyPr/>
        <a:lstStyle/>
        <a:p>
          <a:endParaRPr lang="en-IN"/>
        </a:p>
      </dgm:t>
    </dgm:pt>
    <dgm:pt modelId="{ED4CDA53-F2BC-4F87-BBCC-3D412E8B4C64}" type="pres">
      <dgm:prSet presAssocID="{B1F04F21-B380-4B6C-B414-71007EE399E0}" presName="composite" presStyleCnt="0"/>
      <dgm:spPr/>
    </dgm:pt>
    <dgm:pt modelId="{352D544C-B893-4AE8-95A5-DB0D6BABCB9A}" type="pres">
      <dgm:prSet presAssocID="{B1F04F21-B380-4B6C-B414-71007EE399E0}" presName="parTx" presStyleLbl="alignNode1" presStyleIdx="0" presStyleCnt="3">
        <dgm:presLayoutVars>
          <dgm:chMax val="0"/>
          <dgm:chPref val="0"/>
          <dgm:bulletEnabled val="1"/>
        </dgm:presLayoutVars>
      </dgm:prSet>
      <dgm:spPr/>
      <dgm:t>
        <a:bodyPr/>
        <a:lstStyle/>
        <a:p>
          <a:endParaRPr lang="en-IN"/>
        </a:p>
      </dgm:t>
    </dgm:pt>
    <dgm:pt modelId="{FA7310DC-76E6-4BA2-A8C4-FDBCCA0A76F9}" type="pres">
      <dgm:prSet presAssocID="{B1F04F21-B380-4B6C-B414-71007EE399E0}" presName="desTx" presStyleLbl="alignAccFollowNode1" presStyleIdx="0" presStyleCnt="3">
        <dgm:presLayoutVars>
          <dgm:bulletEnabled val="1"/>
        </dgm:presLayoutVars>
      </dgm:prSet>
      <dgm:spPr/>
      <dgm:t>
        <a:bodyPr/>
        <a:lstStyle/>
        <a:p>
          <a:endParaRPr lang="en-IN"/>
        </a:p>
      </dgm:t>
    </dgm:pt>
    <dgm:pt modelId="{542C166D-B5DC-42F2-8A0F-3E808296CD33}" type="pres">
      <dgm:prSet presAssocID="{F7C343F2-862E-4C77-8052-F793ACB7D9C4}" presName="space" presStyleCnt="0"/>
      <dgm:spPr/>
    </dgm:pt>
    <dgm:pt modelId="{27030C59-FC94-41E2-858C-3E0D5FDD13C7}" type="pres">
      <dgm:prSet presAssocID="{ADD5AD1C-CBB9-4E1E-8820-77EF60272869}" presName="composite" presStyleCnt="0"/>
      <dgm:spPr/>
    </dgm:pt>
    <dgm:pt modelId="{BC6F5C75-3DB9-47B7-9EA3-205E5C35D278}" type="pres">
      <dgm:prSet presAssocID="{ADD5AD1C-CBB9-4E1E-8820-77EF60272869}" presName="parTx" presStyleLbl="alignNode1" presStyleIdx="1" presStyleCnt="3">
        <dgm:presLayoutVars>
          <dgm:chMax val="0"/>
          <dgm:chPref val="0"/>
          <dgm:bulletEnabled val="1"/>
        </dgm:presLayoutVars>
      </dgm:prSet>
      <dgm:spPr/>
      <dgm:t>
        <a:bodyPr/>
        <a:lstStyle/>
        <a:p>
          <a:endParaRPr lang="en-IN"/>
        </a:p>
      </dgm:t>
    </dgm:pt>
    <dgm:pt modelId="{6B77D28B-E55B-4D1A-B8E8-838081A1666C}" type="pres">
      <dgm:prSet presAssocID="{ADD5AD1C-CBB9-4E1E-8820-77EF60272869}" presName="desTx" presStyleLbl="alignAccFollowNode1" presStyleIdx="1" presStyleCnt="3">
        <dgm:presLayoutVars>
          <dgm:bulletEnabled val="1"/>
        </dgm:presLayoutVars>
      </dgm:prSet>
      <dgm:spPr/>
      <dgm:t>
        <a:bodyPr/>
        <a:lstStyle/>
        <a:p>
          <a:endParaRPr lang="en-IN"/>
        </a:p>
      </dgm:t>
    </dgm:pt>
    <dgm:pt modelId="{0AC963E7-4B50-4519-88A9-169A06399073}" type="pres">
      <dgm:prSet presAssocID="{6FA2530B-802B-4B35-8D0C-54B5291A5276}" presName="space" presStyleCnt="0"/>
      <dgm:spPr/>
    </dgm:pt>
    <dgm:pt modelId="{FBC9D46F-8465-473E-A9F9-F99F2BA84C44}" type="pres">
      <dgm:prSet presAssocID="{C3E6A91D-4D45-4DEB-9E60-D4DF7C1CD8DE}" presName="composite" presStyleCnt="0"/>
      <dgm:spPr/>
    </dgm:pt>
    <dgm:pt modelId="{EACEE3B3-3E14-421C-BFD3-93EFD95864A0}" type="pres">
      <dgm:prSet presAssocID="{C3E6A91D-4D45-4DEB-9E60-D4DF7C1CD8DE}" presName="parTx" presStyleLbl="alignNode1" presStyleIdx="2" presStyleCnt="3">
        <dgm:presLayoutVars>
          <dgm:chMax val="0"/>
          <dgm:chPref val="0"/>
          <dgm:bulletEnabled val="1"/>
        </dgm:presLayoutVars>
      </dgm:prSet>
      <dgm:spPr/>
      <dgm:t>
        <a:bodyPr/>
        <a:lstStyle/>
        <a:p>
          <a:endParaRPr lang="en-IN"/>
        </a:p>
      </dgm:t>
    </dgm:pt>
    <dgm:pt modelId="{0F93186C-4BDE-49C3-B651-0F78FA2D9D01}" type="pres">
      <dgm:prSet presAssocID="{C3E6A91D-4D45-4DEB-9E60-D4DF7C1CD8DE}" presName="desTx" presStyleLbl="alignAccFollowNode1" presStyleIdx="2" presStyleCnt="3">
        <dgm:presLayoutVars>
          <dgm:bulletEnabled val="1"/>
        </dgm:presLayoutVars>
      </dgm:prSet>
      <dgm:spPr/>
      <dgm:t>
        <a:bodyPr/>
        <a:lstStyle/>
        <a:p>
          <a:endParaRPr lang="en-IN"/>
        </a:p>
      </dgm:t>
    </dgm:pt>
  </dgm:ptLst>
  <dgm:cxnLst>
    <dgm:cxn modelId="{944B48AF-6F07-47F1-B013-B867CFAFBCBF}" srcId="{B1F04F21-B380-4B6C-B414-71007EE399E0}" destId="{FFFEE7A3-321B-476A-8818-8F79F8C39F02}" srcOrd="1" destOrd="0" parTransId="{81A0BA39-697E-4025-8464-7D145B566F4F}" sibTransId="{3A2BEF39-055F-4E30-A385-8108A81CB43F}"/>
    <dgm:cxn modelId="{11836918-AFC7-4E7A-8114-8434AB2087F1}" type="presOf" srcId="{BA152961-FC33-43BF-B40C-A582D0CA4C03}" destId="{6B77D28B-E55B-4D1A-B8E8-838081A1666C}" srcOrd="0" destOrd="2" presId="urn:microsoft.com/office/officeart/2005/8/layout/hList1"/>
    <dgm:cxn modelId="{07BC77AA-68EF-461C-997F-5C32A0EFC70B}" type="presOf" srcId="{ADD5AD1C-CBB9-4E1E-8820-77EF60272869}" destId="{BC6F5C75-3DB9-47B7-9EA3-205E5C35D278}" srcOrd="0" destOrd="0" presId="urn:microsoft.com/office/officeart/2005/8/layout/hList1"/>
    <dgm:cxn modelId="{431DD582-4D2B-4571-8348-216B3488DAA5}" type="presOf" srcId="{E36741DE-1FA8-4FE5-974E-C4B07A463BAD}" destId="{A011D122-7D38-47A2-9C72-CF997AD209DE}" srcOrd="0" destOrd="0" presId="urn:microsoft.com/office/officeart/2005/8/layout/hList1"/>
    <dgm:cxn modelId="{A9B5AFC7-7943-40B1-B382-5BF005526077}" srcId="{ADD5AD1C-CBB9-4E1E-8820-77EF60272869}" destId="{BA152961-FC33-43BF-B40C-A582D0CA4C03}" srcOrd="2" destOrd="0" parTransId="{8830690F-E72F-4678-974B-1C0D81FED01D}" sibTransId="{057E4404-3523-4A39-872A-2005A328DBD2}"/>
    <dgm:cxn modelId="{0B883203-CCF3-4993-9C20-DE444700D15A}" type="presOf" srcId="{9A4F520C-E111-40FA-8C1E-CB6885CCBA76}" destId="{6B77D28B-E55B-4D1A-B8E8-838081A1666C}" srcOrd="0" destOrd="0" presId="urn:microsoft.com/office/officeart/2005/8/layout/hList1"/>
    <dgm:cxn modelId="{10A9F08E-DBDA-4737-832B-7878117BDBCB}" type="presOf" srcId="{01C9C4AC-C7CD-44E8-81AB-B5FC08D6A451}" destId="{0F93186C-4BDE-49C3-B651-0F78FA2D9D01}" srcOrd="0" destOrd="1" presId="urn:microsoft.com/office/officeart/2005/8/layout/hList1"/>
    <dgm:cxn modelId="{99A83776-82FC-4D25-9E9B-017911B0F2FC}" type="presOf" srcId="{C3E6A91D-4D45-4DEB-9E60-D4DF7C1CD8DE}" destId="{EACEE3B3-3E14-421C-BFD3-93EFD95864A0}" srcOrd="0" destOrd="0" presId="urn:microsoft.com/office/officeart/2005/8/layout/hList1"/>
    <dgm:cxn modelId="{BBFD34EF-D091-448C-9CCF-040B3881BC47}" srcId="{ADD5AD1C-CBB9-4E1E-8820-77EF60272869}" destId="{ECDA44F3-43F7-4E17-B945-97B0D18D2743}" srcOrd="1" destOrd="0" parTransId="{1917622B-7791-4383-8199-FBD30444FEB5}" sibTransId="{B92CFC9C-540E-4255-B485-7DA9170402D5}"/>
    <dgm:cxn modelId="{CF8B52D3-3064-49B4-A470-6945F611E18D}" srcId="{ADD5AD1C-CBB9-4E1E-8820-77EF60272869}" destId="{9A4F520C-E111-40FA-8C1E-CB6885CCBA76}" srcOrd="0" destOrd="0" parTransId="{691B614A-DCFD-41CA-A184-6398EFD2CF9F}" sibTransId="{BEA2D512-3A39-4005-B925-BF93881A32D4}"/>
    <dgm:cxn modelId="{1606D52F-8A8E-4494-AF4A-622E4BBEACBC}" srcId="{E36741DE-1FA8-4FE5-974E-C4B07A463BAD}" destId="{C3E6A91D-4D45-4DEB-9E60-D4DF7C1CD8DE}" srcOrd="2" destOrd="0" parTransId="{3D48D6A4-DC2C-4299-9E92-20F7262D357D}" sibTransId="{4BAB215C-2A02-48F5-83C2-92B09E36B91A}"/>
    <dgm:cxn modelId="{B1627252-49B4-41C8-ABB6-F1C68063935C}" srcId="{C3E6A91D-4D45-4DEB-9E60-D4DF7C1CD8DE}" destId="{71B1FE7B-C1CD-439B-8157-DBFE4981BA60}" srcOrd="0" destOrd="0" parTransId="{C8A326B6-548A-467B-A9D5-AC74876496A5}" sibTransId="{3016EEAF-38AE-4E82-947D-C216B7F22816}"/>
    <dgm:cxn modelId="{6263D43A-5511-4533-8360-FE48E9CB72CD}" type="presOf" srcId="{71B1FE7B-C1CD-439B-8157-DBFE4981BA60}" destId="{0F93186C-4BDE-49C3-B651-0F78FA2D9D01}" srcOrd="0" destOrd="0" presId="urn:microsoft.com/office/officeart/2005/8/layout/hList1"/>
    <dgm:cxn modelId="{016FEA7B-451A-4E05-8BC8-9076636D7DC4}" srcId="{B1F04F21-B380-4B6C-B414-71007EE399E0}" destId="{F6148879-DE6B-4596-B76B-9686FCEF4295}" srcOrd="0" destOrd="0" parTransId="{FD4DF1A3-083B-473C-BA02-3A9ED60D5D89}" sibTransId="{F7E8447F-AB2F-4648-ADAC-C19424CE8FF0}"/>
    <dgm:cxn modelId="{AB3BA192-CFD3-4CD7-B041-79047D4A770F}" type="presOf" srcId="{B1F04F21-B380-4B6C-B414-71007EE399E0}" destId="{352D544C-B893-4AE8-95A5-DB0D6BABCB9A}" srcOrd="0" destOrd="0" presId="urn:microsoft.com/office/officeart/2005/8/layout/hList1"/>
    <dgm:cxn modelId="{1BFC0FE7-EFE7-4008-BEB5-CEEC9BC6FBF2}" srcId="{E36741DE-1FA8-4FE5-974E-C4B07A463BAD}" destId="{B1F04F21-B380-4B6C-B414-71007EE399E0}" srcOrd="0" destOrd="0" parTransId="{211B8C42-1DF5-4F21-B5C2-41B4496C7B56}" sibTransId="{F7C343F2-862E-4C77-8052-F793ACB7D9C4}"/>
    <dgm:cxn modelId="{7613DF1A-9DA8-47B7-9C4A-21DD89AFACBA}" type="presOf" srcId="{ECDA44F3-43F7-4E17-B945-97B0D18D2743}" destId="{6B77D28B-E55B-4D1A-B8E8-838081A1666C}" srcOrd="0" destOrd="1" presId="urn:microsoft.com/office/officeart/2005/8/layout/hList1"/>
    <dgm:cxn modelId="{68938748-7807-4DAF-883A-5E1D3E8DA1D2}" type="presOf" srcId="{F6148879-DE6B-4596-B76B-9686FCEF4295}" destId="{FA7310DC-76E6-4BA2-A8C4-FDBCCA0A76F9}" srcOrd="0" destOrd="0" presId="urn:microsoft.com/office/officeart/2005/8/layout/hList1"/>
    <dgm:cxn modelId="{2804F9A7-A57F-4FD5-9B70-19FCC9533DC6}" type="presOf" srcId="{FFFEE7A3-321B-476A-8818-8F79F8C39F02}" destId="{FA7310DC-76E6-4BA2-A8C4-FDBCCA0A76F9}" srcOrd="0" destOrd="1" presId="urn:microsoft.com/office/officeart/2005/8/layout/hList1"/>
    <dgm:cxn modelId="{E7F49CCB-2948-484B-B30A-BFEDF6DDC0AA}" srcId="{E36741DE-1FA8-4FE5-974E-C4B07A463BAD}" destId="{ADD5AD1C-CBB9-4E1E-8820-77EF60272869}" srcOrd="1" destOrd="0" parTransId="{3E41FA53-3218-4F36-9F92-A711C8032CBE}" sibTransId="{6FA2530B-802B-4B35-8D0C-54B5291A5276}"/>
    <dgm:cxn modelId="{5AE2ED91-55CC-4CC4-8336-527F668A8B35}" srcId="{C3E6A91D-4D45-4DEB-9E60-D4DF7C1CD8DE}" destId="{01C9C4AC-C7CD-44E8-81AB-B5FC08D6A451}" srcOrd="1" destOrd="0" parTransId="{5936ECC9-3CB5-47C7-A59B-EFB9DD42E570}" sibTransId="{227DFA3B-E9D7-4396-9A72-3C082298BF24}"/>
    <dgm:cxn modelId="{6933367F-6A8C-49B9-97D3-A4DE9935AA8E}" type="presParOf" srcId="{A011D122-7D38-47A2-9C72-CF997AD209DE}" destId="{ED4CDA53-F2BC-4F87-BBCC-3D412E8B4C64}" srcOrd="0" destOrd="0" presId="urn:microsoft.com/office/officeart/2005/8/layout/hList1"/>
    <dgm:cxn modelId="{2AB8B82F-FB3E-4EA3-B305-73F34E94BE85}" type="presParOf" srcId="{ED4CDA53-F2BC-4F87-BBCC-3D412E8B4C64}" destId="{352D544C-B893-4AE8-95A5-DB0D6BABCB9A}" srcOrd="0" destOrd="0" presId="urn:microsoft.com/office/officeart/2005/8/layout/hList1"/>
    <dgm:cxn modelId="{F13A1C88-8C34-44ED-8900-075FB122BCE6}" type="presParOf" srcId="{ED4CDA53-F2BC-4F87-BBCC-3D412E8B4C64}" destId="{FA7310DC-76E6-4BA2-A8C4-FDBCCA0A76F9}" srcOrd="1" destOrd="0" presId="urn:microsoft.com/office/officeart/2005/8/layout/hList1"/>
    <dgm:cxn modelId="{B62613B9-4851-43C8-928B-77417375CF06}" type="presParOf" srcId="{A011D122-7D38-47A2-9C72-CF997AD209DE}" destId="{542C166D-B5DC-42F2-8A0F-3E808296CD33}" srcOrd="1" destOrd="0" presId="urn:microsoft.com/office/officeart/2005/8/layout/hList1"/>
    <dgm:cxn modelId="{2AA03E6F-CFD0-4D7B-8D5C-A4DC393B8958}" type="presParOf" srcId="{A011D122-7D38-47A2-9C72-CF997AD209DE}" destId="{27030C59-FC94-41E2-858C-3E0D5FDD13C7}" srcOrd="2" destOrd="0" presId="urn:microsoft.com/office/officeart/2005/8/layout/hList1"/>
    <dgm:cxn modelId="{67221769-0F2D-48D7-8442-B34CDBBCC32B}" type="presParOf" srcId="{27030C59-FC94-41E2-858C-3E0D5FDD13C7}" destId="{BC6F5C75-3DB9-47B7-9EA3-205E5C35D278}" srcOrd="0" destOrd="0" presId="urn:microsoft.com/office/officeart/2005/8/layout/hList1"/>
    <dgm:cxn modelId="{E5B75C99-16B4-42F5-9586-DBDB83785589}" type="presParOf" srcId="{27030C59-FC94-41E2-858C-3E0D5FDD13C7}" destId="{6B77D28B-E55B-4D1A-B8E8-838081A1666C}" srcOrd="1" destOrd="0" presId="urn:microsoft.com/office/officeart/2005/8/layout/hList1"/>
    <dgm:cxn modelId="{FE5A8249-65CD-487C-BB98-A1D6E9210C6E}" type="presParOf" srcId="{A011D122-7D38-47A2-9C72-CF997AD209DE}" destId="{0AC963E7-4B50-4519-88A9-169A06399073}" srcOrd="3" destOrd="0" presId="urn:microsoft.com/office/officeart/2005/8/layout/hList1"/>
    <dgm:cxn modelId="{7763F9A8-965D-461B-A28B-4345092B8A69}" type="presParOf" srcId="{A011D122-7D38-47A2-9C72-CF997AD209DE}" destId="{FBC9D46F-8465-473E-A9F9-F99F2BA84C44}" srcOrd="4" destOrd="0" presId="urn:microsoft.com/office/officeart/2005/8/layout/hList1"/>
    <dgm:cxn modelId="{4A064032-3613-4ACF-AAB4-037A21786FEB}" type="presParOf" srcId="{FBC9D46F-8465-473E-A9F9-F99F2BA84C44}" destId="{EACEE3B3-3E14-421C-BFD3-93EFD95864A0}" srcOrd="0" destOrd="0" presId="urn:microsoft.com/office/officeart/2005/8/layout/hList1"/>
    <dgm:cxn modelId="{23DF505B-D846-4AED-B2C5-F6AA908732A5}" type="presParOf" srcId="{FBC9D46F-8465-473E-A9F9-F99F2BA84C44}" destId="{0F93186C-4BDE-49C3-B651-0F78FA2D9D0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693CF6B-FBCD-49AA-AC60-CEC97567EAF7}"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IN"/>
        </a:p>
      </dgm:t>
    </dgm:pt>
    <dgm:pt modelId="{4F8CF7BF-E9FB-4A4A-953A-BE63DD2921AC}">
      <dgm:prSet phldrT="[Text]"/>
      <dgm:spPr/>
      <dgm:t>
        <a:bodyPr/>
        <a:lstStyle/>
        <a:p>
          <a:r>
            <a:rPr lang="en-US" dirty="0" smtClean="0"/>
            <a:t>Full Coverage Service</a:t>
          </a:r>
          <a:endParaRPr lang="en-IN" dirty="0"/>
        </a:p>
      </dgm:t>
    </dgm:pt>
    <dgm:pt modelId="{9F73920F-BB0E-4371-84D6-B9826DC6B6A2}" type="parTrans" cxnId="{D1CE98D9-D867-4839-964E-F49679F198E3}">
      <dgm:prSet/>
      <dgm:spPr/>
      <dgm:t>
        <a:bodyPr/>
        <a:lstStyle/>
        <a:p>
          <a:endParaRPr lang="en-IN"/>
        </a:p>
      </dgm:t>
    </dgm:pt>
    <dgm:pt modelId="{DC08AC95-2B53-40C3-B902-7FFE419BF5D6}" type="sibTrans" cxnId="{D1CE98D9-D867-4839-964E-F49679F198E3}">
      <dgm:prSet/>
      <dgm:spPr/>
      <dgm:t>
        <a:bodyPr/>
        <a:lstStyle/>
        <a:p>
          <a:endParaRPr lang="en-IN"/>
        </a:p>
      </dgm:t>
    </dgm:pt>
    <dgm:pt modelId="{D4A2FC78-0AF2-44EF-87D7-44276150E032}">
      <dgm:prSet phldrT="[Text]"/>
      <dgm:spPr/>
      <dgm:t>
        <a:bodyPr/>
        <a:lstStyle/>
        <a:p>
          <a:pPr marL="144000" indent="-144000">
            <a:lnSpc>
              <a:spcPct val="100000"/>
            </a:lnSpc>
            <a:spcBef>
              <a:spcPts val="600"/>
            </a:spcBef>
            <a:spcAft>
              <a:spcPts val="0"/>
            </a:spcAft>
          </a:pPr>
          <a:r>
            <a:rPr lang="en-US" dirty="0" smtClean="0"/>
            <a:t>100% coverage of labor, parts, and materials as well as emergency service</a:t>
          </a:r>
          <a:endParaRPr lang="en-IN" dirty="0"/>
        </a:p>
      </dgm:t>
    </dgm:pt>
    <dgm:pt modelId="{75B6B8F8-9DAC-453C-8B43-20592FAB6225}" type="parTrans" cxnId="{7C771EC9-7106-44DA-9098-42D688F1557B}">
      <dgm:prSet/>
      <dgm:spPr/>
      <dgm:t>
        <a:bodyPr/>
        <a:lstStyle/>
        <a:p>
          <a:endParaRPr lang="en-IN"/>
        </a:p>
      </dgm:t>
    </dgm:pt>
    <dgm:pt modelId="{B577CA08-BE8D-493B-AF1F-E0889D59894B}" type="sibTrans" cxnId="{7C771EC9-7106-44DA-9098-42D688F1557B}">
      <dgm:prSet/>
      <dgm:spPr/>
      <dgm:t>
        <a:bodyPr/>
        <a:lstStyle/>
        <a:p>
          <a:endParaRPr lang="en-IN"/>
        </a:p>
      </dgm:t>
    </dgm:pt>
    <dgm:pt modelId="{0C9F0E9C-699A-4D4D-AC1C-0BBE4D8F7180}">
      <dgm:prSet phldrT="[Text]"/>
      <dgm:spPr/>
      <dgm:t>
        <a:bodyPr/>
        <a:lstStyle/>
        <a:p>
          <a:r>
            <a:rPr lang="en-US" dirty="0" smtClean="0"/>
            <a:t>Full Labor Service</a:t>
          </a:r>
          <a:endParaRPr lang="en-IN" dirty="0"/>
        </a:p>
      </dgm:t>
    </dgm:pt>
    <dgm:pt modelId="{1C3433B6-A820-438E-92FB-5AE7E4F1349B}" type="parTrans" cxnId="{D52DCC6A-2598-4187-8AC0-4DACD0B6651A}">
      <dgm:prSet/>
      <dgm:spPr/>
      <dgm:t>
        <a:bodyPr/>
        <a:lstStyle/>
        <a:p>
          <a:endParaRPr lang="en-IN"/>
        </a:p>
      </dgm:t>
    </dgm:pt>
    <dgm:pt modelId="{7B2537BC-E590-4843-87F6-D720B341616D}" type="sibTrans" cxnId="{D52DCC6A-2598-4187-8AC0-4DACD0B6651A}">
      <dgm:prSet/>
      <dgm:spPr/>
      <dgm:t>
        <a:bodyPr/>
        <a:lstStyle/>
        <a:p>
          <a:endParaRPr lang="en-IN"/>
        </a:p>
      </dgm:t>
    </dgm:pt>
    <dgm:pt modelId="{84668263-2F67-4F09-B7FB-290151F2B033}">
      <dgm:prSet phldrT="[Text]"/>
      <dgm:spPr/>
      <dgm:t>
        <a:bodyPr/>
        <a:lstStyle/>
        <a:p>
          <a:pPr marL="144000" indent="-144000">
            <a:lnSpc>
              <a:spcPct val="100000"/>
            </a:lnSpc>
            <a:spcBef>
              <a:spcPts val="600"/>
            </a:spcBef>
            <a:spcAft>
              <a:spcPts val="0"/>
            </a:spcAft>
          </a:pPr>
          <a:r>
            <a:rPr lang="en-IN" dirty="0" smtClean="0"/>
            <a:t>Covers 100% of the labour to repair, replace, and maintain most electrical and mechanical equipment</a:t>
          </a:r>
          <a:endParaRPr lang="en-IN" dirty="0"/>
        </a:p>
      </dgm:t>
    </dgm:pt>
    <dgm:pt modelId="{9605FEEC-24BC-4F53-AECD-D60B91E6315E}" type="parTrans" cxnId="{ED687084-BFE2-475B-B9FF-71EDAA117ACB}">
      <dgm:prSet/>
      <dgm:spPr/>
      <dgm:t>
        <a:bodyPr/>
        <a:lstStyle/>
        <a:p>
          <a:endParaRPr lang="en-IN"/>
        </a:p>
      </dgm:t>
    </dgm:pt>
    <dgm:pt modelId="{97AEB82B-F8CF-4CFC-A545-FF9FB7281C46}" type="sibTrans" cxnId="{ED687084-BFE2-475B-B9FF-71EDAA117ACB}">
      <dgm:prSet/>
      <dgm:spPr/>
      <dgm:t>
        <a:bodyPr/>
        <a:lstStyle/>
        <a:p>
          <a:endParaRPr lang="en-IN"/>
        </a:p>
      </dgm:t>
    </dgm:pt>
    <dgm:pt modelId="{D4A98293-BC30-4FB1-AF8D-5C18C5596D14}">
      <dgm:prSet phldrT="[Text]"/>
      <dgm:spPr/>
      <dgm:t>
        <a:bodyPr/>
        <a:lstStyle/>
        <a:p>
          <a:r>
            <a:rPr lang="en-US" dirty="0" smtClean="0"/>
            <a:t>Preventive Maintenance Service</a:t>
          </a:r>
          <a:endParaRPr lang="en-IN" dirty="0"/>
        </a:p>
      </dgm:t>
    </dgm:pt>
    <dgm:pt modelId="{E742BDCC-2870-4386-8702-D7A7A44F548F}" type="parTrans" cxnId="{5E32FDD1-6361-48D0-811B-C0AD9842C760}">
      <dgm:prSet/>
      <dgm:spPr/>
      <dgm:t>
        <a:bodyPr/>
        <a:lstStyle/>
        <a:p>
          <a:endParaRPr lang="en-IN"/>
        </a:p>
      </dgm:t>
    </dgm:pt>
    <dgm:pt modelId="{807EF832-E989-4425-94C2-56207C8E819D}" type="sibTrans" cxnId="{5E32FDD1-6361-48D0-811B-C0AD9842C760}">
      <dgm:prSet/>
      <dgm:spPr/>
      <dgm:t>
        <a:bodyPr/>
        <a:lstStyle/>
        <a:p>
          <a:endParaRPr lang="en-IN"/>
        </a:p>
      </dgm:t>
    </dgm:pt>
    <dgm:pt modelId="{A4B06492-FD20-4A43-A7C1-4C320B7B9F56}">
      <dgm:prSet phldrT="[Text]"/>
      <dgm:spPr/>
      <dgm:t>
        <a:bodyPr/>
        <a:lstStyle/>
        <a:p>
          <a:pPr marL="144000" indent="-144000">
            <a:lnSpc>
              <a:spcPct val="100000"/>
            </a:lnSpc>
            <a:spcBef>
              <a:spcPts val="600"/>
            </a:spcBef>
            <a:spcAft>
              <a:spcPts val="0"/>
            </a:spcAft>
          </a:pPr>
          <a:r>
            <a:rPr lang="en-IN" dirty="0" smtClean="0"/>
            <a:t>Includes a number of scheduled and rigorous activities such as changing belts and filters, cleaning motor coils, testing control functions and calibration</a:t>
          </a:r>
          <a:endParaRPr lang="en-IN" dirty="0"/>
        </a:p>
      </dgm:t>
    </dgm:pt>
    <dgm:pt modelId="{8F0BA06E-768E-4D83-A82D-9CC8B43A8E62}" type="parTrans" cxnId="{08C667F2-25F4-4AAE-8FCC-9570AEADBBAD}">
      <dgm:prSet/>
      <dgm:spPr/>
      <dgm:t>
        <a:bodyPr/>
        <a:lstStyle/>
        <a:p>
          <a:endParaRPr lang="en-IN"/>
        </a:p>
      </dgm:t>
    </dgm:pt>
    <dgm:pt modelId="{3D75F300-ACC5-4B86-8279-5B84378C95C4}" type="sibTrans" cxnId="{08C667F2-25F4-4AAE-8FCC-9570AEADBBAD}">
      <dgm:prSet/>
      <dgm:spPr/>
      <dgm:t>
        <a:bodyPr/>
        <a:lstStyle/>
        <a:p>
          <a:endParaRPr lang="en-IN"/>
        </a:p>
      </dgm:t>
    </dgm:pt>
    <dgm:pt modelId="{780559D6-9669-41BD-B4FC-C2118E8E546B}">
      <dgm:prSet phldrT="[Text]"/>
      <dgm:spPr/>
      <dgm:t>
        <a:bodyPr/>
        <a:lstStyle/>
        <a:p>
          <a:r>
            <a:rPr lang="en-US" dirty="0" smtClean="0"/>
            <a:t>Inspection Service</a:t>
          </a:r>
          <a:endParaRPr lang="en-IN" dirty="0"/>
        </a:p>
      </dgm:t>
    </dgm:pt>
    <dgm:pt modelId="{F31E1E41-9C14-41CC-911E-7133D1713BA3}" type="parTrans" cxnId="{470EA832-5538-4D73-A1CD-160D57F85BA7}">
      <dgm:prSet/>
      <dgm:spPr/>
      <dgm:t>
        <a:bodyPr/>
        <a:lstStyle/>
        <a:p>
          <a:endParaRPr lang="en-IN"/>
        </a:p>
      </dgm:t>
    </dgm:pt>
    <dgm:pt modelId="{D5B6B3BE-3392-43AB-B11D-0C882C0A23F4}" type="sibTrans" cxnId="{470EA832-5538-4D73-A1CD-160D57F85BA7}">
      <dgm:prSet/>
      <dgm:spPr/>
      <dgm:t>
        <a:bodyPr/>
        <a:lstStyle/>
        <a:p>
          <a:endParaRPr lang="en-IN"/>
        </a:p>
      </dgm:t>
    </dgm:pt>
    <dgm:pt modelId="{C8D485A9-F112-4641-A3E8-8E742805773C}">
      <dgm:prSet/>
      <dgm:spPr/>
      <dgm:t>
        <a:bodyPr/>
        <a:lstStyle/>
        <a:p>
          <a:pPr marL="144000" indent="-144000">
            <a:lnSpc>
              <a:spcPct val="100000"/>
            </a:lnSpc>
            <a:spcBef>
              <a:spcPts val="600"/>
            </a:spcBef>
            <a:spcAft>
              <a:spcPts val="0"/>
            </a:spcAft>
          </a:pPr>
          <a:r>
            <a:rPr lang="en-IN" dirty="0" smtClean="0"/>
            <a:t>An inspection contract, also known in the industry as a “fly-by” contract, is purchased by the owner for a fixed annual fee and includes a fixed number of periodic inspections</a:t>
          </a:r>
          <a:endParaRPr lang="en-IN" dirty="0"/>
        </a:p>
      </dgm:t>
    </dgm:pt>
    <dgm:pt modelId="{5F89CB75-0891-47B8-9EE5-431ADC7A5211}" type="parTrans" cxnId="{022312E7-07CD-4F35-B7F1-7C6DEDFE8BC3}">
      <dgm:prSet/>
      <dgm:spPr/>
      <dgm:t>
        <a:bodyPr/>
        <a:lstStyle/>
        <a:p>
          <a:endParaRPr lang="en-IN"/>
        </a:p>
      </dgm:t>
    </dgm:pt>
    <dgm:pt modelId="{A190FE70-DB2E-47C6-9422-32B2018DA7CA}" type="sibTrans" cxnId="{022312E7-07CD-4F35-B7F1-7C6DEDFE8BC3}">
      <dgm:prSet/>
      <dgm:spPr/>
      <dgm:t>
        <a:bodyPr/>
        <a:lstStyle/>
        <a:p>
          <a:endParaRPr lang="en-IN"/>
        </a:p>
      </dgm:t>
    </dgm:pt>
    <dgm:pt modelId="{3F339A32-ED72-49B1-B8E0-EC81ECBB7001}" type="pres">
      <dgm:prSet presAssocID="{4693CF6B-FBCD-49AA-AC60-CEC97567EAF7}" presName="Name0" presStyleCnt="0">
        <dgm:presLayoutVars>
          <dgm:dir/>
          <dgm:animLvl val="lvl"/>
          <dgm:resizeHandles val="exact"/>
        </dgm:presLayoutVars>
      </dgm:prSet>
      <dgm:spPr/>
      <dgm:t>
        <a:bodyPr/>
        <a:lstStyle/>
        <a:p>
          <a:endParaRPr lang="en-IN"/>
        </a:p>
      </dgm:t>
    </dgm:pt>
    <dgm:pt modelId="{33C08622-4274-4E68-97B3-CC4C267E1B5C}" type="pres">
      <dgm:prSet presAssocID="{4F8CF7BF-E9FB-4A4A-953A-BE63DD2921AC}" presName="composite" presStyleCnt="0"/>
      <dgm:spPr/>
    </dgm:pt>
    <dgm:pt modelId="{5C7FE2CA-A478-4F70-BBBF-682A0AFD1240}" type="pres">
      <dgm:prSet presAssocID="{4F8CF7BF-E9FB-4A4A-953A-BE63DD2921AC}" presName="parTx" presStyleLbl="alignNode1" presStyleIdx="0" presStyleCnt="4">
        <dgm:presLayoutVars>
          <dgm:chMax val="0"/>
          <dgm:chPref val="0"/>
          <dgm:bulletEnabled val="1"/>
        </dgm:presLayoutVars>
      </dgm:prSet>
      <dgm:spPr/>
      <dgm:t>
        <a:bodyPr/>
        <a:lstStyle/>
        <a:p>
          <a:endParaRPr lang="en-IN"/>
        </a:p>
      </dgm:t>
    </dgm:pt>
    <dgm:pt modelId="{D21DC645-4302-4712-ABA2-2A81832D8F68}" type="pres">
      <dgm:prSet presAssocID="{4F8CF7BF-E9FB-4A4A-953A-BE63DD2921AC}" presName="desTx" presStyleLbl="alignAccFollowNode1" presStyleIdx="0" presStyleCnt="4">
        <dgm:presLayoutVars>
          <dgm:bulletEnabled val="1"/>
        </dgm:presLayoutVars>
      </dgm:prSet>
      <dgm:spPr/>
      <dgm:t>
        <a:bodyPr/>
        <a:lstStyle/>
        <a:p>
          <a:endParaRPr lang="en-IN"/>
        </a:p>
      </dgm:t>
    </dgm:pt>
    <dgm:pt modelId="{3D6A427B-4126-4952-A7CC-CE28EC31A6E8}" type="pres">
      <dgm:prSet presAssocID="{DC08AC95-2B53-40C3-B902-7FFE419BF5D6}" presName="space" presStyleCnt="0"/>
      <dgm:spPr/>
    </dgm:pt>
    <dgm:pt modelId="{7C8EEBA6-D7BF-4E1F-A4B0-B970C5BF5016}" type="pres">
      <dgm:prSet presAssocID="{0C9F0E9C-699A-4D4D-AC1C-0BBE4D8F7180}" presName="composite" presStyleCnt="0"/>
      <dgm:spPr/>
    </dgm:pt>
    <dgm:pt modelId="{5316035A-4300-4EBC-BD66-949DF83A8293}" type="pres">
      <dgm:prSet presAssocID="{0C9F0E9C-699A-4D4D-AC1C-0BBE4D8F7180}" presName="parTx" presStyleLbl="alignNode1" presStyleIdx="1" presStyleCnt="4">
        <dgm:presLayoutVars>
          <dgm:chMax val="0"/>
          <dgm:chPref val="0"/>
          <dgm:bulletEnabled val="1"/>
        </dgm:presLayoutVars>
      </dgm:prSet>
      <dgm:spPr/>
      <dgm:t>
        <a:bodyPr/>
        <a:lstStyle/>
        <a:p>
          <a:endParaRPr lang="en-IN"/>
        </a:p>
      </dgm:t>
    </dgm:pt>
    <dgm:pt modelId="{AF5577F6-5B0D-4F67-A660-9EB5947DF103}" type="pres">
      <dgm:prSet presAssocID="{0C9F0E9C-699A-4D4D-AC1C-0BBE4D8F7180}" presName="desTx" presStyleLbl="alignAccFollowNode1" presStyleIdx="1" presStyleCnt="4">
        <dgm:presLayoutVars>
          <dgm:bulletEnabled val="1"/>
        </dgm:presLayoutVars>
      </dgm:prSet>
      <dgm:spPr/>
      <dgm:t>
        <a:bodyPr/>
        <a:lstStyle/>
        <a:p>
          <a:endParaRPr lang="en-IN"/>
        </a:p>
      </dgm:t>
    </dgm:pt>
    <dgm:pt modelId="{6345EFBB-8684-48DE-8297-2F61196E83B5}" type="pres">
      <dgm:prSet presAssocID="{7B2537BC-E590-4843-87F6-D720B341616D}" presName="space" presStyleCnt="0"/>
      <dgm:spPr/>
    </dgm:pt>
    <dgm:pt modelId="{0AFAD35F-4727-45C1-80FC-27D7301932CC}" type="pres">
      <dgm:prSet presAssocID="{D4A98293-BC30-4FB1-AF8D-5C18C5596D14}" presName="composite" presStyleCnt="0"/>
      <dgm:spPr/>
    </dgm:pt>
    <dgm:pt modelId="{07CA64DF-88BA-40DF-8EBC-7AD32E3883C9}" type="pres">
      <dgm:prSet presAssocID="{D4A98293-BC30-4FB1-AF8D-5C18C5596D14}" presName="parTx" presStyleLbl="alignNode1" presStyleIdx="2" presStyleCnt="4">
        <dgm:presLayoutVars>
          <dgm:chMax val="0"/>
          <dgm:chPref val="0"/>
          <dgm:bulletEnabled val="1"/>
        </dgm:presLayoutVars>
      </dgm:prSet>
      <dgm:spPr/>
      <dgm:t>
        <a:bodyPr/>
        <a:lstStyle/>
        <a:p>
          <a:endParaRPr lang="en-IN"/>
        </a:p>
      </dgm:t>
    </dgm:pt>
    <dgm:pt modelId="{18C6FB18-81F6-41C0-BC62-BDF5E96D933F}" type="pres">
      <dgm:prSet presAssocID="{D4A98293-BC30-4FB1-AF8D-5C18C5596D14}" presName="desTx" presStyleLbl="alignAccFollowNode1" presStyleIdx="2" presStyleCnt="4">
        <dgm:presLayoutVars>
          <dgm:bulletEnabled val="1"/>
        </dgm:presLayoutVars>
      </dgm:prSet>
      <dgm:spPr/>
      <dgm:t>
        <a:bodyPr/>
        <a:lstStyle/>
        <a:p>
          <a:endParaRPr lang="en-IN"/>
        </a:p>
      </dgm:t>
    </dgm:pt>
    <dgm:pt modelId="{2A270969-3021-4FED-B48A-51EA1122F8DB}" type="pres">
      <dgm:prSet presAssocID="{807EF832-E989-4425-94C2-56207C8E819D}" presName="space" presStyleCnt="0"/>
      <dgm:spPr/>
    </dgm:pt>
    <dgm:pt modelId="{9BC43761-0E73-4C06-80CA-73E6DC0C570E}" type="pres">
      <dgm:prSet presAssocID="{780559D6-9669-41BD-B4FC-C2118E8E546B}" presName="composite" presStyleCnt="0"/>
      <dgm:spPr/>
    </dgm:pt>
    <dgm:pt modelId="{7B9D1304-0F00-4DD0-B7B6-744B14324608}" type="pres">
      <dgm:prSet presAssocID="{780559D6-9669-41BD-B4FC-C2118E8E546B}" presName="parTx" presStyleLbl="alignNode1" presStyleIdx="3" presStyleCnt="4">
        <dgm:presLayoutVars>
          <dgm:chMax val="0"/>
          <dgm:chPref val="0"/>
          <dgm:bulletEnabled val="1"/>
        </dgm:presLayoutVars>
      </dgm:prSet>
      <dgm:spPr/>
      <dgm:t>
        <a:bodyPr/>
        <a:lstStyle/>
        <a:p>
          <a:endParaRPr lang="en-IN"/>
        </a:p>
      </dgm:t>
    </dgm:pt>
    <dgm:pt modelId="{CCEC90B0-2EAA-4CBA-95A3-7ED19A71EA96}" type="pres">
      <dgm:prSet presAssocID="{780559D6-9669-41BD-B4FC-C2118E8E546B}" presName="desTx" presStyleLbl="alignAccFollowNode1" presStyleIdx="3" presStyleCnt="4">
        <dgm:presLayoutVars>
          <dgm:bulletEnabled val="1"/>
        </dgm:presLayoutVars>
      </dgm:prSet>
      <dgm:spPr/>
      <dgm:t>
        <a:bodyPr/>
        <a:lstStyle/>
        <a:p>
          <a:endParaRPr lang="en-IN"/>
        </a:p>
      </dgm:t>
    </dgm:pt>
  </dgm:ptLst>
  <dgm:cxnLst>
    <dgm:cxn modelId="{6E96324F-91D1-4BCE-A087-01E4C13FE404}" type="presOf" srcId="{C8D485A9-F112-4641-A3E8-8E742805773C}" destId="{CCEC90B0-2EAA-4CBA-95A3-7ED19A71EA96}" srcOrd="0" destOrd="0" presId="urn:microsoft.com/office/officeart/2005/8/layout/hList1"/>
    <dgm:cxn modelId="{05F7B6C1-B7FF-4B3B-AC9D-EB529726F257}" type="presOf" srcId="{4693CF6B-FBCD-49AA-AC60-CEC97567EAF7}" destId="{3F339A32-ED72-49B1-B8E0-EC81ECBB7001}" srcOrd="0" destOrd="0" presId="urn:microsoft.com/office/officeart/2005/8/layout/hList1"/>
    <dgm:cxn modelId="{D1CE98D9-D867-4839-964E-F49679F198E3}" srcId="{4693CF6B-FBCD-49AA-AC60-CEC97567EAF7}" destId="{4F8CF7BF-E9FB-4A4A-953A-BE63DD2921AC}" srcOrd="0" destOrd="0" parTransId="{9F73920F-BB0E-4371-84D6-B9826DC6B6A2}" sibTransId="{DC08AC95-2B53-40C3-B902-7FFE419BF5D6}"/>
    <dgm:cxn modelId="{21D9B6F4-98AA-406F-AB06-568EC9EA3D57}" type="presOf" srcId="{D4A98293-BC30-4FB1-AF8D-5C18C5596D14}" destId="{07CA64DF-88BA-40DF-8EBC-7AD32E3883C9}" srcOrd="0" destOrd="0" presId="urn:microsoft.com/office/officeart/2005/8/layout/hList1"/>
    <dgm:cxn modelId="{5E32FDD1-6361-48D0-811B-C0AD9842C760}" srcId="{4693CF6B-FBCD-49AA-AC60-CEC97567EAF7}" destId="{D4A98293-BC30-4FB1-AF8D-5C18C5596D14}" srcOrd="2" destOrd="0" parTransId="{E742BDCC-2870-4386-8702-D7A7A44F548F}" sibTransId="{807EF832-E989-4425-94C2-56207C8E819D}"/>
    <dgm:cxn modelId="{27DC1D67-C73B-4CCE-BBD7-72A9E92CED1B}" type="presOf" srcId="{4F8CF7BF-E9FB-4A4A-953A-BE63DD2921AC}" destId="{5C7FE2CA-A478-4F70-BBBF-682A0AFD1240}" srcOrd="0" destOrd="0" presId="urn:microsoft.com/office/officeart/2005/8/layout/hList1"/>
    <dgm:cxn modelId="{7C771EC9-7106-44DA-9098-42D688F1557B}" srcId="{4F8CF7BF-E9FB-4A4A-953A-BE63DD2921AC}" destId="{D4A2FC78-0AF2-44EF-87D7-44276150E032}" srcOrd="0" destOrd="0" parTransId="{75B6B8F8-9DAC-453C-8B43-20592FAB6225}" sibTransId="{B577CA08-BE8D-493B-AF1F-E0889D59894B}"/>
    <dgm:cxn modelId="{CDBBC332-3BA7-423C-AA69-8EF789F8EF6B}" type="presOf" srcId="{84668263-2F67-4F09-B7FB-290151F2B033}" destId="{AF5577F6-5B0D-4F67-A660-9EB5947DF103}" srcOrd="0" destOrd="0" presId="urn:microsoft.com/office/officeart/2005/8/layout/hList1"/>
    <dgm:cxn modelId="{022312E7-07CD-4F35-B7F1-7C6DEDFE8BC3}" srcId="{780559D6-9669-41BD-B4FC-C2118E8E546B}" destId="{C8D485A9-F112-4641-A3E8-8E742805773C}" srcOrd="0" destOrd="0" parTransId="{5F89CB75-0891-47B8-9EE5-431ADC7A5211}" sibTransId="{A190FE70-DB2E-47C6-9422-32B2018DA7CA}"/>
    <dgm:cxn modelId="{ED687084-BFE2-475B-B9FF-71EDAA117ACB}" srcId="{0C9F0E9C-699A-4D4D-AC1C-0BBE4D8F7180}" destId="{84668263-2F67-4F09-B7FB-290151F2B033}" srcOrd="0" destOrd="0" parTransId="{9605FEEC-24BC-4F53-AECD-D60B91E6315E}" sibTransId="{97AEB82B-F8CF-4CFC-A545-FF9FB7281C46}"/>
    <dgm:cxn modelId="{470EA832-5538-4D73-A1CD-160D57F85BA7}" srcId="{4693CF6B-FBCD-49AA-AC60-CEC97567EAF7}" destId="{780559D6-9669-41BD-B4FC-C2118E8E546B}" srcOrd="3" destOrd="0" parTransId="{F31E1E41-9C14-41CC-911E-7133D1713BA3}" sibTransId="{D5B6B3BE-3392-43AB-B11D-0C882C0A23F4}"/>
    <dgm:cxn modelId="{08A3AD7A-6F77-4D2E-AB79-65BC67260332}" type="presOf" srcId="{D4A2FC78-0AF2-44EF-87D7-44276150E032}" destId="{D21DC645-4302-4712-ABA2-2A81832D8F68}" srcOrd="0" destOrd="0" presId="urn:microsoft.com/office/officeart/2005/8/layout/hList1"/>
    <dgm:cxn modelId="{D17BF361-633C-42A8-BFA7-8FD01A9DFCD1}" type="presOf" srcId="{780559D6-9669-41BD-B4FC-C2118E8E546B}" destId="{7B9D1304-0F00-4DD0-B7B6-744B14324608}" srcOrd="0" destOrd="0" presId="urn:microsoft.com/office/officeart/2005/8/layout/hList1"/>
    <dgm:cxn modelId="{D52DCC6A-2598-4187-8AC0-4DACD0B6651A}" srcId="{4693CF6B-FBCD-49AA-AC60-CEC97567EAF7}" destId="{0C9F0E9C-699A-4D4D-AC1C-0BBE4D8F7180}" srcOrd="1" destOrd="0" parTransId="{1C3433B6-A820-438E-92FB-5AE7E4F1349B}" sibTransId="{7B2537BC-E590-4843-87F6-D720B341616D}"/>
    <dgm:cxn modelId="{65E391B2-BAF7-4211-9A30-9A8AA2FEA3A0}" type="presOf" srcId="{A4B06492-FD20-4A43-A7C1-4C320B7B9F56}" destId="{18C6FB18-81F6-41C0-BC62-BDF5E96D933F}" srcOrd="0" destOrd="0" presId="urn:microsoft.com/office/officeart/2005/8/layout/hList1"/>
    <dgm:cxn modelId="{18B5D9BF-7EB9-4B29-BB45-0DD9C3C747D5}" type="presOf" srcId="{0C9F0E9C-699A-4D4D-AC1C-0BBE4D8F7180}" destId="{5316035A-4300-4EBC-BD66-949DF83A8293}" srcOrd="0" destOrd="0" presId="urn:microsoft.com/office/officeart/2005/8/layout/hList1"/>
    <dgm:cxn modelId="{08C667F2-25F4-4AAE-8FCC-9570AEADBBAD}" srcId="{D4A98293-BC30-4FB1-AF8D-5C18C5596D14}" destId="{A4B06492-FD20-4A43-A7C1-4C320B7B9F56}" srcOrd="0" destOrd="0" parTransId="{8F0BA06E-768E-4D83-A82D-9CC8B43A8E62}" sibTransId="{3D75F300-ACC5-4B86-8279-5B84378C95C4}"/>
    <dgm:cxn modelId="{E82328F7-C7F6-470A-8C6E-7DCB783C7B4A}" type="presParOf" srcId="{3F339A32-ED72-49B1-B8E0-EC81ECBB7001}" destId="{33C08622-4274-4E68-97B3-CC4C267E1B5C}" srcOrd="0" destOrd="0" presId="urn:microsoft.com/office/officeart/2005/8/layout/hList1"/>
    <dgm:cxn modelId="{33930A6E-74BD-4D9D-ABD7-344CCE941041}" type="presParOf" srcId="{33C08622-4274-4E68-97B3-CC4C267E1B5C}" destId="{5C7FE2CA-A478-4F70-BBBF-682A0AFD1240}" srcOrd="0" destOrd="0" presId="urn:microsoft.com/office/officeart/2005/8/layout/hList1"/>
    <dgm:cxn modelId="{C2A2B941-BB5A-4C3A-B43E-85D1A26FC162}" type="presParOf" srcId="{33C08622-4274-4E68-97B3-CC4C267E1B5C}" destId="{D21DC645-4302-4712-ABA2-2A81832D8F68}" srcOrd="1" destOrd="0" presId="urn:microsoft.com/office/officeart/2005/8/layout/hList1"/>
    <dgm:cxn modelId="{7CD3FDA1-33B7-42E4-87A9-E66077BB5586}" type="presParOf" srcId="{3F339A32-ED72-49B1-B8E0-EC81ECBB7001}" destId="{3D6A427B-4126-4952-A7CC-CE28EC31A6E8}" srcOrd="1" destOrd="0" presId="urn:microsoft.com/office/officeart/2005/8/layout/hList1"/>
    <dgm:cxn modelId="{4B33BFBA-C888-4267-A9E2-E23E8372F1A4}" type="presParOf" srcId="{3F339A32-ED72-49B1-B8E0-EC81ECBB7001}" destId="{7C8EEBA6-D7BF-4E1F-A4B0-B970C5BF5016}" srcOrd="2" destOrd="0" presId="urn:microsoft.com/office/officeart/2005/8/layout/hList1"/>
    <dgm:cxn modelId="{7190F13D-E394-4F54-A65E-D7464B53873A}" type="presParOf" srcId="{7C8EEBA6-D7BF-4E1F-A4B0-B970C5BF5016}" destId="{5316035A-4300-4EBC-BD66-949DF83A8293}" srcOrd="0" destOrd="0" presId="urn:microsoft.com/office/officeart/2005/8/layout/hList1"/>
    <dgm:cxn modelId="{89A3CD8C-54E3-49BA-BC52-32F387EAEDEB}" type="presParOf" srcId="{7C8EEBA6-D7BF-4E1F-A4B0-B970C5BF5016}" destId="{AF5577F6-5B0D-4F67-A660-9EB5947DF103}" srcOrd="1" destOrd="0" presId="urn:microsoft.com/office/officeart/2005/8/layout/hList1"/>
    <dgm:cxn modelId="{9F001A98-AEBB-4282-8D35-6A0806FAE3E0}" type="presParOf" srcId="{3F339A32-ED72-49B1-B8E0-EC81ECBB7001}" destId="{6345EFBB-8684-48DE-8297-2F61196E83B5}" srcOrd="3" destOrd="0" presId="urn:microsoft.com/office/officeart/2005/8/layout/hList1"/>
    <dgm:cxn modelId="{BFB5CA8A-6BE1-4D74-8095-C743AEDF688B}" type="presParOf" srcId="{3F339A32-ED72-49B1-B8E0-EC81ECBB7001}" destId="{0AFAD35F-4727-45C1-80FC-27D7301932CC}" srcOrd="4" destOrd="0" presId="urn:microsoft.com/office/officeart/2005/8/layout/hList1"/>
    <dgm:cxn modelId="{C2BFB84B-A1A1-4DF1-A234-B9B16AB20B4B}" type="presParOf" srcId="{0AFAD35F-4727-45C1-80FC-27D7301932CC}" destId="{07CA64DF-88BA-40DF-8EBC-7AD32E3883C9}" srcOrd="0" destOrd="0" presId="urn:microsoft.com/office/officeart/2005/8/layout/hList1"/>
    <dgm:cxn modelId="{BDD09F07-961C-46FA-9C56-2F7E71C0E6A9}" type="presParOf" srcId="{0AFAD35F-4727-45C1-80FC-27D7301932CC}" destId="{18C6FB18-81F6-41C0-BC62-BDF5E96D933F}" srcOrd="1" destOrd="0" presId="urn:microsoft.com/office/officeart/2005/8/layout/hList1"/>
    <dgm:cxn modelId="{CAE1329B-4304-4CFE-BFAC-E4B222D1B2D6}" type="presParOf" srcId="{3F339A32-ED72-49B1-B8E0-EC81ECBB7001}" destId="{2A270969-3021-4FED-B48A-51EA1122F8DB}" srcOrd="5" destOrd="0" presId="urn:microsoft.com/office/officeart/2005/8/layout/hList1"/>
    <dgm:cxn modelId="{248B4E41-5188-46A6-B26B-CDEE6098AEE0}" type="presParOf" srcId="{3F339A32-ED72-49B1-B8E0-EC81ECBB7001}" destId="{9BC43761-0E73-4C06-80CA-73E6DC0C570E}" srcOrd="6" destOrd="0" presId="urn:microsoft.com/office/officeart/2005/8/layout/hList1"/>
    <dgm:cxn modelId="{D07296D4-1802-437D-B0DB-564885E93235}" type="presParOf" srcId="{9BC43761-0E73-4C06-80CA-73E6DC0C570E}" destId="{7B9D1304-0F00-4DD0-B7B6-744B14324608}" srcOrd="0" destOrd="0" presId="urn:microsoft.com/office/officeart/2005/8/layout/hList1"/>
    <dgm:cxn modelId="{4F682425-1228-4F58-9B3F-F812FC7A51C2}" type="presParOf" srcId="{9BC43761-0E73-4C06-80CA-73E6DC0C570E}" destId="{CCEC90B0-2EAA-4CBA-95A3-7ED19A71EA9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FDAC1E6-B08E-4A0E-9BCC-389C3411769F}" type="doc">
      <dgm:prSet loTypeId="urn:microsoft.com/office/officeart/2005/8/layout/lProcess2" loCatId="list" qsTypeId="urn:microsoft.com/office/officeart/2005/8/quickstyle/simple1" qsCatId="simple" csTypeId="urn:microsoft.com/office/officeart/2005/8/colors/colorful2" csCatId="colorful" phldr="1"/>
      <dgm:spPr/>
      <dgm:t>
        <a:bodyPr/>
        <a:lstStyle/>
        <a:p>
          <a:endParaRPr lang="en-IN"/>
        </a:p>
      </dgm:t>
    </dgm:pt>
    <dgm:pt modelId="{6D81AB62-4D2C-4CDA-A2BC-23CC36429306}">
      <dgm:prSet phldrT="[Text]" custT="1"/>
      <dgm:spPr>
        <a:solidFill>
          <a:schemeClr val="bg1"/>
        </a:solidFill>
      </dgm:spPr>
      <dgm:t>
        <a:bodyPr/>
        <a:lstStyle/>
        <a:p>
          <a:r>
            <a:rPr lang="en-US" sz="1400" b="1" dirty="0" smtClean="0"/>
            <a:t>Plant Operations</a:t>
          </a:r>
          <a:endParaRPr lang="en-IN" sz="1400" b="1" dirty="0"/>
        </a:p>
      </dgm:t>
    </dgm:pt>
    <dgm:pt modelId="{45A5B1E3-A8D8-4E45-AF73-26B83B1D9B93}" type="parTrans" cxnId="{A680FCC4-C267-45C7-B67F-EDC42B56EF15}">
      <dgm:prSet/>
      <dgm:spPr/>
      <dgm:t>
        <a:bodyPr/>
        <a:lstStyle/>
        <a:p>
          <a:endParaRPr lang="en-IN" sz="1400"/>
        </a:p>
      </dgm:t>
    </dgm:pt>
    <dgm:pt modelId="{17C1894F-264A-4649-91AF-AC7F53B5A1AA}" type="sibTrans" cxnId="{A680FCC4-C267-45C7-B67F-EDC42B56EF15}">
      <dgm:prSet/>
      <dgm:spPr/>
      <dgm:t>
        <a:bodyPr/>
        <a:lstStyle/>
        <a:p>
          <a:endParaRPr lang="en-IN" sz="1400"/>
        </a:p>
      </dgm:t>
    </dgm:pt>
    <dgm:pt modelId="{BE196974-16D2-4E9B-B6F1-B196CFA27DD5}">
      <dgm:prSet phldrT="[Text]" custT="1"/>
      <dgm:spPr/>
      <dgm:t>
        <a:bodyPr/>
        <a:lstStyle/>
        <a:p>
          <a:r>
            <a:rPr lang="en-US" sz="1200" dirty="0" smtClean="0"/>
            <a:t>Documentation of SOPs</a:t>
          </a:r>
        </a:p>
      </dgm:t>
    </dgm:pt>
    <dgm:pt modelId="{01E0BF87-855F-4439-BE1D-4D7216825E70}" type="parTrans" cxnId="{007BE546-021F-4877-AF3A-2C448FC63A7D}">
      <dgm:prSet/>
      <dgm:spPr/>
      <dgm:t>
        <a:bodyPr/>
        <a:lstStyle/>
        <a:p>
          <a:endParaRPr lang="en-IN" sz="1400"/>
        </a:p>
      </dgm:t>
    </dgm:pt>
    <dgm:pt modelId="{CCB3851F-1103-4847-8A8D-2C7BF546F04B}" type="sibTrans" cxnId="{007BE546-021F-4877-AF3A-2C448FC63A7D}">
      <dgm:prSet/>
      <dgm:spPr/>
      <dgm:t>
        <a:bodyPr/>
        <a:lstStyle/>
        <a:p>
          <a:endParaRPr lang="en-IN" sz="1400"/>
        </a:p>
      </dgm:t>
    </dgm:pt>
    <dgm:pt modelId="{BA7DD8FE-1616-495A-8A8D-29279B41029B}">
      <dgm:prSet phldrT="[Text]" custT="1"/>
      <dgm:spPr/>
      <dgm:t>
        <a:bodyPr/>
        <a:lstStyle/>
        <a:p>
          <a:r>
            <a:rPr lang="en-US" sz="1200" dirty="0" smtClean="0"/>
            <a:t>Preparation of Technical Handbook</a:t>
          </a:r>
          <a:endParaRPr lang="en-IN" sz="1200" dirty="0"/>
        </a:p>
      </dgm:t>
    </dgm:pt>
    <dgm:pt modelId="{B847948D-EA3C-4B35-A3E4-723243AB3E85}" type="parTrans" cxnId="{CC1C523F-6F33-468A-8F06-D3DCD7BF8B4F}">
      <dgm:prSet/>
      <dgm:spPr/>
      <dgm:t>
        <a:bodyPr/>
        <a:lstStyle/>
        <a:p>
          <a:endParaRPr lang="en-IN" sz="1400"/>
        </a:p>
      </dgm:t>
    </dgm:pt>
    <dgm:pt modelId="{BFE1B42A-E693-4F6A-9621-F6A260A67E01}" type="sibTrans" cxnId="{CC1C523F-6F33-468A-8F06-D3DCD7BF8B4F}">
      <dgm:prSet/>
      <dgm:spPr/>
      <dgm:t>
        <a:bodyPr/>
        <a:lstStyle/>
        <a:p>
          <a:endParaRPr lang="en-IN" sz="1400"/>
        </a:p>
      </dgm:t>
    </dgm:pt>
    <dgm:pt modelId="{100113C5-699C-4029-AAE9-A2A1E2A55193}">
      <dgm:prSet phldrT="[Text]" custT="1"/>
      <dgm:spPr/>
      <dgm:t>
        <a:bodyPr/>
        <a:lstStyle/>
        <a:p>
          <a:r>
            <a:rPr lang="en-US" sz="1200" dirty="0" smtClean="0"/>
            <a:t>Adopting culture of continuous improvement</a:t>
          </a:r>
          <a:endParaRPr lang="en-IN" sz="1200" dirty="0"/>
        </a:p>
      </dgm:t>
    </dgm:pt>
    <dgm:pt modelId="{B3521357-071A-4B7D-974B-171FA08D1F37}" type="parTrans" cxnId="{8641074F-4B51-421B-85D3-A335ABAFEF95}">
      <dgm:prSet/>
      <dgm:spPr/>
      <dgm:t>
        <a:bodyPr/>
        <a:lstStyle/>
        <a:p>
          <a:endParaRPr lang="en-IN" sz="1400"/>
        </a:p>
      </dgm:t>
    </dgm:pt>
    <dgm:pt modelId="{C4BE6F43-BD69-426F-8F45-BF194D700BBC}" type="sibTrans" cxnId="{8641074F-4B51-421B-85D3-A335ABAFEF95}">
      <dgm:prSet/>
      <dgm:spPr/>
      <dgm:t>
        <a:bodyPr/>
        <a:lstStyle/>
        <a:p>
          <a:endParaRPr lang="en-IN" sz="1400"/>
        </a:p>
      </dgm:t>
    </dgm:pt>
    <dgm:pt modelId="{F381D97C-8A96-4BF0-BA74-44317C4FD728}">
      <dgm:prSet phldrT="[Text]" custT="1"/>
      <dgm:spPr/>
      <dgm:t>
        <a:bodyPr/>
        <a:lstStyle/>
        <a:p>
          <a:r>
            <a:rPr lang="en-US" sz="1200" dirty="0" smtClean="0"/>
            <a:t>Scheduling of changeover, critical equipment trial run</a:t>
          </a:r>
          <a:endParaRPr lang="en-IN" sz="1200" dirty="0"/>
        </a:p>
      </dgm:t>
    </dgm:pt>
    <dgm:pt modelId="{0947E0A2-43E8-4677-BBE5-4506CC2BF78E}" type="parTrans" cxnId="{AF57DA04-A999-4509-9044-62B7C3C718AD}">
      <dgm:prSet/>
      <dgm:spPr/>
      <dgm:t>
        <a:bodyPr/>
        <a:lstStyle/>
        <a:p>
          <a:endParaRPr lang="en-IN" sz="1400"/>
        </a:p>
      </dgm:t>
    </dgm:pt>
    <dgm:pt modelId="{594C1ABA-150A-409B-BC40-E71F768E4D57}" type="sibTrans" cxnId="{AF57DA04-A999-4509-9044-62B7C3C718AD}">
      <dgm:prSet/>
      <dgm:spPr/>
      <dgm:t>
        <a:bodyPr/>
        <a:lstStyle/>
        <a:p>
          <a:endParaRPr lang="en-IN" sz="1400"/>
        </a:p>
      </dgm:t>
    </dgm:pt>
    <dgm:pt modelId="{FC1FC566-0F9D-4F56-A529-819D93243CDA}">
      <dgm:prSet phldrT="[Text]" custT="1"/>
      <dgm:spPr>
        <a:solidFill>
          <a:schemeClr val="bg1"/>
        </a:solidFill>
      </dgm:spPr>
      <dgm:t>
        <a:bodyPr/>
        <a:lstStyle/>
        <a:p>
          <a:r>
            <a:rPr lang="en-US" sz="1400" b="1" dirty="0" smtClean="0"/>
            <a:t>Plant Maintenance</a:t>
          </a:r>
          <a:endParaRPr lang="en-IN" sz="1400" b="1" dirty="0"/>
        </a:p>
      </dgm:t>
    </dgm:pt>
    <dgm:pt modelId="{4E8EF973-C0CA-43C7-8607-2A9B664BAC0A}" type="parTrans" cxnId="{2D8468CA-5B92-46BB-BF24-655C21BF53A8}">
      <dgm:prSet/>
      <dgm:spPr/>
      <dgm:t>
        <a:bodyPr/>
        <a:lstStyle/>
        <a:p>
          <a:endParaRPr lang="en-IN" sz="1400"/>
        </a:p>
      </dgm:t>
    </dgm:pt>
    <dgm:pt modelId="{E9B64AAA-011D-45E7-A165-CA31D6D43DC1}" type="sibTrans" cxnId="{2D8468CA-5B92-46BB-BF24-655C21BF53A8}">
      <dgm:prSet/>
      <dgm:spPr/>
      <dgm:t>
        <a:bodyPr/>
        <a:lstStyle/>
        <a:p>
          <a:endParaRPr lang="en-IN" sz="1400"/>
        </a:p>
      </dgm:t>
    </dgm:pt>
    <dgm:pt modelId="{DADC9DA2-AF35-47A6-818B-BB6D101AB847}">
      <dgm:prSet phldrT="[Text]" custT="1"/>
      <dgm:spPr/>
      <dgm:t>
        <a:bodyPr/>
        <a:lstStyle/>
        <a:p>
          <a:r>
            <a:rPr lang="en-US" sz="1200" dirty="0" smtClean="0"/>
            <a:t>Maintenance practices (preventive, proactive, predictive and breakdown)</a:t>
          </a:r>
          <a:endParaRPr lang="en-IN" sz="1200" dirty="0"/>
        </a:p>
      </dgm:t>
    </dgm:pt>
    <dgm:pt modelId="{56E7FC2C-F795-4396-984B-BA6C3D884610}" type="parTrans" cxnId="{E26B0A87-9722-4EEB-9327-4C1E0123D140}">
      <dgm:prSet/>
      <dgm:spPr/>
      <dgm:t>
        <a:bodyPr/>
        <a:lstStyle/>
        <a:p>
          <a:endParaRPr lang="en-IN" sz="1400"/>
        </a:p>
      </dgm:t>
    </dgm:pt>
    <dgm:pt modelId="{EF96B856-DA57-4543-AFBC-335FB58D8718}" type="sibTrans" cxnId="{E26B0A87-9722-4EEB-9327-4C1E0123D140}">
      <dgm:prSet/>
      <dgm:spPr/>
      <dgm:t>
        <a:bodyPr/>
        <a:lstStyle/>
        <a:p>
          <a:endParaRPr lang="en-IN" sz="1400"/>
        </a:p>
      </dgm:t>
    </dgm:pt>
    <dgm:pt modelId="{45D2BB27-D270-4A62-A84A-02FC21949525}">
      <dgm:prSet phldrT="[Text]" custT="1"/>
      <dgm:spPr/>
      <dgm:t>
        <a:bodyPr/>
        <a:lstStyle/>
        <a:p>
          <a:r>
            <a:rPr lang="en-US" sz="1200" dirty="0" smtClean="0"/>
            <a:t>Maintenance Planning &amp; Management Cycle</a:t>
          </a:r>
          <a:endParaRPr lang="en-IN" sz="1200" dirty="0"/>
        </a:p>
      </dgm:t>
    </dgm:pt>
    <dgm:pt modelId="{92F7C9F8-6AEB-4EC7-A219-F20A88F1A29A}" type="parTrans" cxnId="{58807D49-C5A0-4356-997B-EA421F33F70F}">
      <dgm:prSet/>
      <dgm:spPr/>
      <dgm:t>
        <a:bodyPr/>
        <a:lstStyle/>
        <a:p>
          <a:endParaRPr lang="en-IN" sz="1400"/>
        </a:p>
      </dgm:t>
    </dgm:pt>
    <dgm:pt modelId="{1957A305-4513-4487-A942-BC857A46D2CE}" type="sibTrans" cxnId="{58807D49-C5A0-4356-997B-EA421F33F70F}">
      <dgm:prSet/>
      <dgm:spPr/>
      <dgm:t>
        <a:bodyPr/>
        <a:lstStyle/>
        <a:p>
          <a:endParaRPr lang="en-IN" sz="1400"/>
        </a:p>
      </dgm:t>
    </dgm:pt>
    <dgm:pt modelId="{2D4A422F-6D5A-4CB0-9E91-A76E6435A63C}">
      <dgm:prSet phldrT="[Text]" custT="1"/>
      <dgm:spPr>
        <a:solidFill>
          <a:schemeClr val="bg1"/>
        </a:solidFill>
      </dgm:spPr>
      <dgm:t>
        <a:bodyPr/>
        <a:lstStyle/>
        <a:p>
          <a:r>
            <a:rPr lang="en-US" sz="1400" b="1" dirty="0" smtClean="0"/>
            <a:t>Performance Diagnostics &amp; Asset Management</a:t>
          </a:r>
          <a:endParaRPr lang="en-IN" sz="1400" b="1" dirty="0"/>
        </a:p>
      </dgm:t>
    </dgm:pt>
    <dgm:pt modelId="{C9F6DEF5-6E1C-43CC-B338-0CAD09E5B988}" type="parTrans" cxnId="{D13D0747-AE85-4A9C-98B5-34408B6BEADE}">
      <dgm:prSet/>
      <dgm:spPr/>
      <dgm:t>
        <a:bodyPr/>
        <a:lstStyle/>
        <a:p>
          <a:endParaRPr lang="en-IN" sz="1400"/>
        </a:p>
      </dgm:t>
    </dgm:pt>
    <dgm:pt modelId="{9D55CBE1-DCCA-457A-A13E-39458A783567}" type="sibTrans" cxnId="{D13D0747-AE85-4A9C-98B5-34408B6BEADE}">
      <dgm:prSet/>
      <dgm:spPr/>
      <dgm:t>
        <a:bodyPr/>
        <a:lstStyle/>
        <a:p>
          <a:endParaRPr lang="en-IN" sz="1400"/>
        </a:p>
      </dgm:t>
    </dgm:pt>
    <dgm:pt modelId="{12226059-75EB-480C-B2B1-D087929B0209}">
      <dgm:prSet phldrT="[Text]" custT="1"/>
      <dgm:spPr/>
      <dgm:t>
        <a:bodyPr/>
        <a:lstStyle/>
        <a:p>
          <a:r>
            <a:rPr lang="en-US" sz="1200" dirty="0" smtClean="0"/>
            <a:t>Analysis of periodic plant performance data</a:t>
          </a:r>
          <a:endParaRPr lang="en-IN" sz="1200" dirty="0"/>
        </a:p>
      </dgm:t>
    </dgm:pt>
    <dgm:pt modelId="{AF1CF742-2D6A-408C-914F-AC2DC40123F5}" type="sibTrans" cxnId="{29FCF01D-C5BD-42BD-8A4C-A9483FB19D9A}">
      <dgm:prSet/>
      <dgm:spPr/>
      <dgm:t>
        <a:bodyPr/>
        <a:lstStyle/>
        <a:p>
          <a:endParaRPr lang="en-IN" sz="1400"/>
        </a:p>
      </dgm:t>
    </dgm:pt>
    <dgm:pt modelId="{71941FEB-E119-475B-920B-0FDA1B8B4D14}" type="parTrans" cxnId="{29FCF01D-C5BD-42BD-8A4C-A9483FB19D9A}">
      <dgm:prSet/>
      <dgm:spPr/>
      <dgm:t>
        <a:bodyPr/>
        <a:lstStyle/>
        <a:p>
          <a:endParaRPr lang="en-IN" sz="1400"/>
        </a:p>
      </dgm:t>
    </dgm:pt>
    <dgm:pt modelId="{040220EF-285F-4A3F-ADD3-66D8AC1B799E}">
      <dgm:prSet phldrT="[Text]" custT="1"/>
      <dgm:spPr/>
      <dgm:t>
        <a:bodyPr/>
        <a:lstStyle/>
        <a:p>
          <a:r>
            <a:rPr lang="en-US" sz="1200" dirty="0" smtClean="0"/>
            <a:t>Identification of performance gaps and scope for improvement</a:t>
          </a:r>
          <a:endParaRPr lang="en-IN" sz="1200" dirty="0"/>
        </a:p>
      </dgm:t>
    </dgm:pt>
    <dgm:pt modelId="{F7F3EB86-A568-45A4-96F7-3B72CF5FCAFB}" type="parTrans" cxnId="{1D2E6189-A493-4680-B47E-AF9D0A1DAA02}">
      <dgm:prSet/>
      <dgm:spPr/>
      <dgm:t>
        <a:bodyPr/>
        <a:lstStyle/>
        <a:p>
          <a:endParaRPr lang="en-IN" sz="1400"/>
        </a:p>
      </dgm:t>
    </dgm:pt>
    <dgm:pt modelId="{F6D189D5-4A6A-4F5F-8871-1B47869E49FA}" type="sibTrans" cxnId="{1D2E6189-A493-4680-B47E-AF9D0A1DAA02}">
      <dgm:prSet/>
      <dgm:spPr/>
      <dgm:t>
        <a:bodyPr/>
        <a:lstStyle/>
        <a:p>
          <a:endParaRPr lang="en-IN" sz="1400"/>
        </a:p>
      </dgm:t>
    </dgm:pt>
    <dgm:pt modelId="{BFAFD427-4164-485D-A1DF-D3DCECF64D25}">
      <dgm:prSet phldrT="[Text]" custT="1"/>
      <dgm:spPr>
        <a:solidFill>
          <a:schemeClr val="bg1"/>
        </a:solidFill>
      </dgm:spPr>
      <dgm:t>
        <a:bodyPr/>
        <a:lstStyle/>
        <a:p>
          <a:r>
            <a:rPr lang="en-US" sz="1400" b="1" dirty="0" smtClean="0"/>
            <a:t>Capacity Building &amp; Knowledge Management</a:t>
          </a:r>
          <a:endParaRPr lang="en-IN" sz="1400" b="1" dirty="0"/>
        </a:p>
      </dgm:t>
    </dgm:pt>
    <dgm:pt modelId="{84E9E43B-3CC7-4D27-8B98-5E316C697D62}" type="parTrans" cxnId="{C3FAF2F9-01FC-4649-A70D-A187C5C6DFD5}">
      <dgm:prSet/>
      <dgm:spPr/>
      <dgm:t>
        <a:bodyPr/>
        <a:lstStyle/>
        <a:p>
          <a:endParaRPr lang="en-IN" sz="1400"/>
        </a:p>
      </dgm:t>
    </dgm:pt>
    <dgm:pt modelId="{BF1D100E-60B3-46C8-87FF-CC6580C3D952}" type="sibTrans" cxnId="{C3FAF2F9-01FC-4649-A70D-A187C5C6DFD5}">
      <dgm:prSet/>
      <dgm:spPr/>
      <dgm:t>
        <a:bodyPr/>
        <a:lstStyle/>
        <a:p>
          <a:endParaRPr lang="en-IN" sz="1400"/>
        </a:p>
      </dgm:t>
    </dgm:pt>
    <dgm:pt modelId="{3CB8DEEC-C5A5-409B-9227-8BAE16943FD8}">
      <dgm:prSet phldrT="[Text]" custT="1"/>
      <dgm:spPr/>
      <dgm:t>
        <a:bodyPr/>
        <a:lstStyle/>
        <a:p>
          <a:r>
            <a:rPr lang="en-US" sz="1200" dirty="0" smtClean="0"/>
            <a:t>Capture, </a:t>
          </a:r>
        </a:p>
        <a:p>
          <a:r>
            <a:rPr lang="en-US" sz="1200" dirty="0" smtClean="0"/>
            <a:t>analyze and </a:t>
          </a:r>
        </a:p>
        <a:p>
          <a:r>
            <a:rPr lang="en-US" sz="1200" dirty="0" smtClean="0"/>
            <a:t>refer </a:t>
          </a:r>
        </a:p>
        <a:p>
          <a:r>
            <a:rPr lang="en-US" sz="1200" dirty="0" smtClean="0"/>
            <a:t>experiences from different situations of plant system problems</a:t>
          </a:r>
        </a:p>
      </dgm:t>
    </dgm:pt>
    <dgm:pt modelId="{AB582D46-75D1-4105-B046-14A5ED11B642}" type="parTrans" cxnId="{64C3E709-3CC9-4839-8D1E-E37365F8872D}">
      <dgm:prSet/>
      <dgm:spPr/>
      <dgm:t>
        <a:bodyPr/>
        <a:lstStyle/>
        <a:p>
          <a:endParaRPr lang="en-IN" sz="1400"/>
        </a:p>
      </dgm:t>
    </dgm:pt>
    <dgm:pt modelId="{1751238D-169D-4C8D-BECC-CFEFFD8F3122}" type="sibTrans" cxnId="{64C3E709-3CC9-4839-8D1E-E37365F8872D}">
      <dgm:prSet/>
      <dgm:spPr/>
      <dgm:t>
        <a:bodyPr/>
        <a:lstStyle/>
        <a:p>
          <a:endParaRPr lang="en-IN" sz="1400"/>
        </a:p>
      </dgm:t>
    </dgm:pt>
    <dgm:pt modelId="{CB5D8193-1845-419A-A610-FF6D5B311154}">
      <dgm:prSet phldrT="[Text]" custT="1"/>
      <dgm:spPr>
        <a:solidFill>
          <a:schemeClr val="bg1"/>
        </a:solidFill>
      </dgm:spPr>
      <dgm:t>
        <a:bodyPr/>
        <a:lstStyle/>
        <a:p>
          <a:r>
            <a:rPr lang="en-US" sz="1400" b="1" dirty="0" smtClean="0"/>
            <a:t>MIS / ICT Enablement</a:t>
          </a:r>
          <a:endParaRPr lang="en-IN" sz="1400" b="1" dirty="0"/>
        </a:p>
      </dgm:t>
    </dgm:pt>
    <dgm:pt modelId="{73203BBD-2B8C-47B7-B2F4-DC2FA5189266}" type="parTrans" cxnId="{33CD9613-FC57-4ADA-B5F8-56C9EED2016F}">
      <dgm:prSet/>
      <dgm:spPr/>
      <dgm:t>
        <a:bodyPr/>
        <a:lstStyle/>
        <a:p>
          <a:endParaRPr lang="en-IN"/>
        </a:p>
      </dgm:t>
    </dgm:pt>
    <dgm:pt modelId="{61F88A0E-494B-442C-9DE9-22771B35B48B}" type="sibTrans" cxnId="{33CD9613-FC57-4ADA-B5F8-56C9EED2016F}">
      <dgm:prSet/>
      <dgm:spPr/>
      <dgm:t>
        <a:bodyPr/>
        <a:lstStyle/>
        <a:p>
          <a:endParaRPr lang="en-IN"/>
        </a:p>
      </dgm:t>
    </dgm:pt>
    <dgm:pt modelId="{4B4361F2-2471-4920-95AF-5413F4B7974A}">
      <dgm:prSet phldrT="[Text]" custT="1"/>
      <dgm:spPr/>
      <dgm:t>
        <a:bodyPr/>
        <a:lstStyle/>
        <a:p>
          <a:r>
            <a:rPr lang="en-US" sz="1200" dirty="0" smtClean="0"/>
            <a:t>Use of Specialized Applications, ERP, Data &amp; Warehousing Business Intelligence analysis</a:t>
          </a:r>
          <a:endParaRPr lang="en-IN" sz="1200" dirty="0"/>
        </a:p>
      </dgm:t>
    </dgm:pt>
    <dgm:pt modelId="{82F551DC-FE3D-4C22-B2BC-3670B41041EF}" type="parTrans" cxnId="{50B11BC1-824D-4FD3-AE9A-3084AEDAB777}">
      <dgm:prSet/>
      <dgm:spPr/>
      <dgm:t>
        <a:bodyPr/>
        <a:lstStyle/>
        <a:p>
          <a:endParaRPr lang="en-IN"/>
        </a:p>
      </dgm:t>
    </dgm:pt>
    <dgm:pt modelId="{F9CD9806-F4AE-488F-8C1D-622E660062E0}" type="sibTrans" cxnId="{50B11BC1-824D-4FD3-AE9A-3084AEDAB777}">
      <dgm:prSet/>
      <dgm:spPr/>
      <dgm:t>
        <a:bodyPr/>
        <a:lstStyle/>
        <a:p>
          <a:endParaRPr lang="en-IN"/>
        </a:p>
      </dgm:t>
    </dgm:pt>
    <dgm:pt modelId="{6EC392B6-ABBE-4955-BBCF-E3080166BF20}">
      <dgm:prSet phldrT="[Text]" custT="1"/>
      <dgm:spPr/>
      <dgm:t>
        <a:bodyPr/>
        <a:lstStyle/>
        <a:p>
          <a:r>
            <a:rPr lang="en-US" sz="1200" dirty="0" smtClean="0"/>
            <a:t>Monitoring of plant operations, maintenance, safety and environment data</a:t>
          </a:r>
          <a:endParaRPr lang="en-IN" sz="1200" dirty="0"/>
        </a:p>
      </dgm:t>
    </dgm:pt>
    <dgm:pt modelId="{ABF9F157-68FC-4C22-8313-E50FA0E9DEFE}" type="parTrans" cxnId="{76BF516D-A047-4E40-A337-B5AA57708C06}">
      <dgm:prSet/>
      <dgm:spPr/>
      <dgm:t>
        <a:bodyPr/>
        <a:lstStyle/>
        <a:p>
          <a:endParaRPr lang="en-IN"/>
        </a:p>
      </dgm:t>
    </dgm:pt>
    <dgm:pt modelId="{658754C2-D762-444B-99B0-90A73F4F16E3}" type="sibTrans" cxnId="{76BF516D-A047-4E40-A337-B5AA57708C06}">
      <dgm:prSet/>
      <dgm:spPr/>
      <dgm:t>
        <a:bodyPr/>
        <a:lstStyle/>
        <a:p>
          <a:endParaRPr lang="en-IN"/>
        </a:p>
      </dgm:t>
    </dgm:pt>
    <dgm:pt modelId="{386BE103-94C3-48B3-98DD-1E4D4CA36248}">
      <dgm:prSet phldrT="[Text]" custT="1"/>
      <dgm:spPr/>
      <dgm:t>
        <a:bodyPr/>
        <a:lstStyle/>
        <a:p>
          <a:r>
            <a:rPr lang="en-US" sz="1200" dirty="0" smtClean="0"/>
            <a:t>Make analysis available to all plant personnel for capacity building</a:t>
          </a:r>
        </a:p>
      </dgm:t>
    </dgm:pt>
    <dgm:pt modelId="{D009F2C6-8CF0-4E4E-930F-D769CD3A4D81}" type="parTrans" cxnId="{6266DDD9-7D36-48C6-B606-12A9FBD15AB5}">
      <dgm:prSet/>
      <dgm:spPr/>
      <dgm:t>
        <a:bodyPr/>
        <a:lstStyle/>
        <a:p>
          <a:endParaRPr lang="en-IN"/>
        </a:p>
      </dgm:t>
    </dgm:pt>
    <dgm:pt modelId="{821CE950-91C9-4CEC-922B-17BF04C3D594}" type="sibTrans" cxnId="{6266DDD9-7D36-48C6-B606-12A9FBD15AB5}">
      <dgm:prSet/>
      <dgm:spPr/>
      <dgm:t>
        <a:bodyPr/>
        <a:lstStyle/>
        <a:p>
          <a:endParaRPr lang="en-IN"/>
        </a:p>
      </dgm:t>
    </dgm:pt>
    <dgm:pt modelId="{C39F5E36-A006-4685-A24C-7DDBCC0F7604}" type="pres">
      <dgm:prSet presAssocID="{9FDAC1E6-B08E-4A0E-9BCC-389C3411769F}" presName="theList" presStyleCnt="0">
        <dgm:presLayoutVars>
          <dgm:dir/>
          <dgm:animLvl val="lvl"/>
          <dgm:resizeHandles val="exact"/>
        </dgm:presLayoutVars>
      </dgm:prSet>
      <dgm:spPr/>
      <dgm:t>
        <a:bodyPr/>
        <a:lstStyle/>
        <a:p>
          <a:endParaRPr lang="en-IN"/>
        </a:p>
      </dgm:t>
    </dgm:pt>
    <dgm:pt modelId="{F1E97CD3-4771-4274-8FDF-B92D2850F617}" type="pres">
      <dgm:prSet presAssocID="{6D81AB62-4D2C-4CDA-A2BC-23CC36429306}" presName="compNode" presStyleCnt="0"/>
      <dgm:spPr/>
    </dgm:pt>
    <dgm:pt modelId="{08D0C7EC-53E9-4783-92AA-680A41DB02DD}" type="pres">
      <dgm:prSet presAssocID="{6D81AB62-4D2C-4CDA-A2BC-23CC36429306}" presName="aNode" presStyleLbl="bgShp" presStyleIdx="0" presStyleCnt="5"/>
      <dgm:spPr/>
      <dgm:t>
        <a:bodyPr/>
        <a:lstStyle/>
        <a:p>
          <a:endParaRPr lang="en-IN"/>
        </a:p>
      </dgm:t>
    </dgm:pt>
    <dgm:pt modelId="{BEA3649D-5B3F-4397-9FF6-6D6BDFDF0536}" type="pres">
      <dgm:prSet presAssocID="{6D81AB62-4D2C-4CDA-A2BC-23CC36429306}" presName="textNode" presStyleLbl="bgShp" presStyleIdx="0" presStyleCnt="5"/>
      <dgm:spPr/>
      <dgm:t>
        <a:bodyPr/>
        <a:lstStyle/>
        <a:p>
          <a:endParaRPr lang="en-IN"/>
        </a:p>
      </dgm:t>
    </dgm:pt>
    <dgm:pt modelId="{852848BB-7BB2-456A-90C2-52B6ED68BBAE}" type="pres">
      <dgm:prSet presAssocID="{6D81AB62-4D2C-4CDA-A2BC-23CC36429306}" presName="compChildNode" presStyleCnt="0"/>
      <dgm:spPr/>
    </dgm:pt>
    <dgm:pt modelId="{43564048-ED7C-4383-AA7D-AEC1EB6FDCE6}" type="pres">
      <dgm:prSet presAssocID="{6D81AB62-4D2C-4CDA-A2BC-23CC36429306}" presName="theInnerList" presStyleCnt="0"/>
      <dgm:spPr/>
    </dgm:pt>
    <dgm:pt modelId="{9DA36739-3F5D-4CD4-83F4-34952470E7F8}" type="pres">
      <dgm:prSet presAssocID="{BE196974-16D2-4E9B-B6F1-B196CFA27DD5}" presName="childNode" presStyleLbl="node1" presStyleIdx="0" presStyleCnt="12">
        <dgm:presLayoutVars>
          <dgm:bulletEnabled val="1"/>
        </dgm:presLayoutVars>
      </dgm:prSet>
      <dgm:spPr/>
      <dgm:t>
        <a:bodyPr/>
        <a:lstStyle/>
        <a:p>
          <a:endParaRPr lang="en-IN"/>
        </a:p>
      </dgm:t>
    </dgm:pt>
    <dgm:pt modelId="{AF5A864D-2EFF-4B55-B83F-AF11B628DFE8}" type="pres">
      <dgm:prSet presAssocID="{BE196974-16D2-4E9B-B6F1-B196CFA27DD5}" presName="aSpace2" presStyleCnt="0"/>
      <dgm:spPr/>
    </dgm:pt>
    <dgm:pt modelId="{82C086CA-7C41-4090-BFD3-C70AD936E4ED}" type="pres">
      <dgm:prSet presAssocID="{BA7DD8FE-1616-495A-8A8D-29279B41029B}" presName="childNode" presStyleLbl="node1" presStyleIdx="1" presStyleCnt="12">
        <dgm:presLayoutVars>
          <dgm:bulletEnabled val="1"/>
        </dgm:presLayoutVars>
      </dgm:prSet>
      <dgm:spPr/>
      <dgm:t>
        <a:bodyPr/>
        <a:lstStyle/>
        <a:p>
          <a:endParaRPr lang="en-IN"/>
        </a:p>
      </dgm:t>
    </dgm:pt>
    <dgm:pt modelId="{085B6FAE-7D34-407E-A0D3-0C2034ED7295}" type="pres">
      <dgm:prSet presAssocID="{BA7DD8FE-1616-495A-8A8D-29279B41029B}" presName="aSpace2" presStyleCnt="0"/>
      <dgm:spPr/>
    </dgm:pt>
    <dgm:pt modelId="{D0522F0C-7CEC-4EC1-BD58-B7ECA618406B}" type="pres">
      <dgm:prSet presAssocID="{100113C5-699C-4029-AAE9-A2A1E2A55193}" presName="childNode" presStyleLbl="node1" presStyleIdx="2" presStyleCnt="12">
        <dgm:presLayoutVars>
          <dgm:bulletEnabled val="1"/>
        </dgm:presLayoutVars>
      </dgm:prSet>
      <dgm:spPr/>
      <dgm:t>
        <a:bodyPr/>
        <a:lstStyle/>
        <a:p>
          <a:endParaRPr lang="en-IN"/>
        </a:p>
      </dgm:t>
    </dgm:pt>
    <dgm:pt modelId="{115410EB-6F8A-402E-A731-15D9A84CD9A0}" type="pres">
      <dgm:prSet presAssocID="{100113C5-699C-4029-AAE9-A2A1E2A55193}" presName="aSpace2" presStyleCnt="0"/>
      <dgm:spPr/>
    </dgm:pt>
    <dgm:pt modelId="{1750533D-AAE0-4267-9371-F79A1583372B}" type="pres">
      <dgm:prSet presAssocID="{F381D97C-8A96-4BF0-BA74-44317C4FD728}" presName="childNode" presStyleLbl="node1" presStyleIdx="3" presStyleCnt="12">
        <dgm:presLayoutVars>
          <dgm:bulletEnabled val="1"/>
        </dgm:presLayoutVars>
      </dgm:prSet>
      <dgm:spPr/>
      <dgm:t>
        <a:bodyPr/>
        <a:lstStyle/>
        <a:p>
          <a:endParaRPr lang="en-IN"/>
        </a:p>
      </dgm:t>
    </dgm:pt>
    <dgm:pt modelId="{97E6C5A5-1D37-4DA7-B121-166591C8372A}" type="pres">
      <dgm:prSet presAssocID="{6D81AB62-4D2C-4CDA-A2BC-23CC36429306}" presName="aSpace" presStyleCnt="0"/>
      <dgm:spPr/>
    </dgm:pt>
    <dgm:pt modelId="{5FF68968-0414-4DEF-8A3A-BBC1002E0F8F}" type="pres">
      <dgm:prSet presAssocID="{FC1FC566-0F9D-4F56-A529-819D93243CDA}" presName="compNode" presStyleCnt="0"/>
      <dgm:spPr/>
    </dgm:pt>
    <dgm:pt modelId="{8FCAA1EF-8018-4B79-AC61-E90EA872F501}" type="pres">
      <dgm:prSet presAssocID="{FC1FC566-0F9D-4F56-A529-819D93243CDA}" presName="aNode" presStyleLbl="bgShp" presStyleIdx="1" presStyleCnt="5"/>
      <dgm:spPr/>
      <dgm:t>
        <a:bodyPr/>
        <a:lstStyle/>
        <a:p>
          <a:endParaRPr lang="en-IN"/>
        </a:p>
      </dgm:t>
    </dgm:pt>
    <dgm:pt modelId="{94A15F69-20F4-4421-B3AC-49F1B9A4ED49}" type="pres">
      <dgm:prSet presAssocID="{FC1FC566-0F9D-4F56-A529-819D93243CDA}" presName="textNode" presStyleLbl="bgShp" presStyleIdx="1" presStyleCnt="5"/>
      <dgm:spPr/>
      <dgm:t>
        <a:bodyPr/>
        <a:lstStyle/>
        <a:p>
          <a:endParaRPr lang="en-IN"/>
        </a:p>
      </dgm:t>
    </dgm:pt>
    <dgm:pt modelId="{74ACCB74-4739-4F78-821F-4F5C34C71DB5}" type="pres">
      <dgm:prSet presAssocID="{FC1FC566-0F9D-4F56-A529-819D93243CDA}" presName="compChildNode" presStyleCnt="0"/>
      <dgm:spPr/>
    </dgm:pt>
    <dgm:pt modelId="{7022660D-90FF-4B33-BDF1-29506A139B59}" type="pres">
      <dgm:prSet presAssocID="{FC1FC566-0F9D-4F56-A529-819D93243CDA}" presName="theInnerList" presStyleCnt="0"/>
      <dgm:spPr/>
    </dgm:pt>
    <dgm:pt modelId="{B4DB46E1-CC72-4909-84C3-76F31BEB687F}" type="pres">
      <dgm:prSet presAssocID="{DADC9DA2-AF35-47A6-818B-BB6D101AB847}" presName="childNode" presStyleLbl="node1" presStyleIdx="4" presStyleCnt="12">
        <dgm:presLayoutVars>
          <dgm:bulletEnabled val="1"/>
        </dgm:presLayoutVars>
      </dgm:prSet>
      <dgm:spPr/>
      <dgm:t>
        <a:bodyPr/>
        <a:lstStyle/>
        <a:p>
          <a:endParaRPr lang="en-IN"/>
        </a:p>
      </dgm:t>
    </dgm:pt>
    <dgm:pt modelId="{CCA14BB6-D645-406E-8D64-AFEBF6783EFC}" type="pres">
      <dgm:prSet presAssocID="{DADC9DA2-AF35-47A6-818B-BB6D101AB847}" presName="aSpace2" presStyleCnt="0"/>
      <dgm:spPr/>
    </dgm:pt>
    <dgm:pt modelId="{44BE2865-D2BA-4C68-9CFE-5142C804DA51}" type="pres">
      <dgm:prSet presAssocID="{45D2BB27-D270-4A62-A84A-02FC21949525}" presName="childNode" presStyleLbl="node1" presStyleIdx="5" presStyleCnt="12">
        <dgm:presLayoutVars>
          <dgm:bulletEnabled val="1"/>
        </dgm:presLayoutVars>
      </dgm:prSet>
      <dgm:spPr/>
      <dgm:t>
        <a:bodyPr/>
        <a:lstStyle/>
        <a:p>
          <a:endParaRPr lang="en-IN"/>
        </a:p>
      </dgm:t>
    </dgm:pt>
    <dgm:pt modelId="{78DB077F-A7DE-4F73-9179-FAC7A4540DB0}" type="pres">
      <dgm:prSet presAssocID="{FC1FC566-0F9D-4F56-A529-819D93243CDA}" presName="aSpace" presStyleCnt="0"/>
      <dgm:spPr/>
    </dgm:pt>
    <dgm:pt modelId="{5FB19BE0-7141-4869-BAEF-57C747D9029A}" type="pres">
      <dgm:prSet presAssocID="{CB5D8193-1845-419A-A610-FF6D5B311154}" presName="compNode" presStyleCnt="0"/>
      <dgm:spPr/>
    </dgm:pt>
    <dgm:pt modelId="{CC89FD04-E559-4F22-95DE-E8BDE1F04FBC}" type="pres">
      <dgm:prSet presAssocID="{CB5D8193-1845-419A-A610-FF6D5B311154}" presName="aNode" presStyleLbl="bgShp" presStyleIdx="2" presStyleCnt="5"/>
      <dgm:spPr/>
      <dgm:t>
        <a:bodyPr/>
        <a:lstStyle/>
        <a:p>
          <a:endParaRPr lang="en-IN"/>
        </a:p>
      </dgm:t>
    </dgm:pt>
    <dgm:pt modelId="{F34FF748-5DF1-43AD-A5CF-F0E812825483}" type="pres">
      <dgm:prSet presAssocID="{CB5D8193-1845-419A-A610-FF6D5B311154}" presName="textNode" presStyleLbl="bgShp" presStyleIdx="2" presStyleCnt="5"/>
      <dgm:spPr/>
      <dgm:t>
        <a:bodyPr/>
        <a:lstStyle/>
        <a:p>
          <a:endParaRPr lang="en-IN"/>
        </a:p>
      </dgm:t>
    </dgm:pt>
    <dgm:pt modelId="{DC283C62-5AA2-4A28-BF72-9C8F47EADBB9}" type="pres">
      <dgm:prSet presAssocID="{CB5D8193-1845-419A-A610-FF6D5B311154}" presName="compChildNode" presStyleCnt="0"/>
      <dgm:spPr/>
    </dgm:pt>
    <dgm:pt modelId="{DEBA332A-9F64-41A5-8B36-499D48962AE5}" type="pres">
      <dgm:prSet presAssocID="{CB5D8193-1845-419A-A610-FF6D5B311154}" presName="theInnerList" presStyleCnt="0"/>
      <dgm:spPr/>
    </dgm:pt>
    <dgm:pt modelId="{AB43E140-E519-426D-9EC4-0B0693A07378}" type="pres">
      <dgm:prSet presAssocID="{4B4361F2-2471-4920-95AF-5413F4B7974A}" presName="childNode" presStyleLbl="node1" presStyleIdx="6" presStyleCnt="12">
        <dgm:presLayoutVars>
          <dgm:bulletEnabled val="1"/>
        </dgm:presLayoutVars>
      </dgm:prSet>
      <dgm:spPr/>
      <dgm:t>
        <a:bodyPr/>
        <a:lstStyle/>
        <a:p>
          <a:endParaRPr lang="en-IN"/>
        </a:p>
      </dgm:t>
    </dgm:pt>
    <dgm:pt modelId="{0D47DB8E-2C92-436F-BA04-F4EB11BC0120}" type="pres">
      <dgm:prSet presAssocID="{4B4361F2-2471-4920-95AF-5413F4B7974A}" presName="aSpace2" presStyleCnt="0"/>
      <dgm:spPr/>
    </dgm:pt>
    <dgm:pt modelId="{1F3FA9C1-E99B-406F-8DCF-95495B959764}" type="pres">
      <dgm:prSet presAssocID="{6EC392B6-ABBE-4955-BBCF-E3080166BF20}" presName="childNode" presStyleLbl="node1" presStyleIdx="7" presStyleCnt="12">
        <dgm:presLayoutVars>
          <dgm:bulletEnabled val="1"/>
        </dgm:presLayoutVars>
      </dgm:prSet>
      <dgm:spPr/>
      <dgm:t>
        <a:bodyPr/>
        <a:lstStyle/>
        <a:p>
          <a:endParaRPr lang="en-IN"/>
        </a:p>
      </dgm:t>
    </dgm:pt>
    <dgm:pt modelId="{43312337-5007-4AEB-8958-DB730BBAE1FA}" type="pres">
      <dgm:prSet presAssocID="{CB5D8193-1845-419A-A610-FF6D5B311154}" presName="aSpace" presStyleCnt="0"/>
      <dgm:spPr/>
    </dgm:pt>
    <dgm:pt modelId="{E43C9F2A-806B-42E6-B101-FF04D625F7D5}" type="pres">
      <dgm:prSet presAssocID="{2D4A422F-6D5A-4CB0-9E91-A76E6435A63C}" presName="compNode" presStyleCnt="0"/>
      <dgm:spPr/>
    </dgm:pt>
    <dgm:pt modelId="{53228BE3-15B6-44D3-807A-5F77C0F84FC2}" type="pres">
      <dgm:prSet presAssocID="{2D4A422F-6D5A-4CB0-9E91-A76E6435A63C}" presName="aNode" presStyleLbl="bgShp" presStyleIdx="3" presStyleCnt="5"/>
      <dgm:spPr/>
      <dgm:t>
        <a:bodyPr/>
        <a:lstStyle/>
        <a:p>
          <a:endParaRPr lang="en-IN"/>
        </a:p>
      </dgm:t>
    </dgm:pt>
    <dgm:pt modelId="{BBA6DDC2-7CC0-4BD5-B703-92C753D48CE3}" type="pres">
      <dgm:prSet presAssocID="{2D4A422F-6D5A-4CB0-9E91-A76E6435A63C}" presName="textNode" presStyleLbl="bgShp" presStyleIdx="3" presStyleCnt="5"/>
      <dgm:spPr/>
      <dgm:t>
        <a:bodyPr/>
        <a:lstStyle/>
        <a:p>
          <a:endParaRPr lang="en-IN"/>
        </a:p>
      </dgm:t>
    </dgm:pt>
    <dgm:pt modelId="{88AF1256-0DA2-42B5-9432-6BAE81084C83}" type="pres">
      <dgm:prSet presAssocID="{2D4A422F-6D5A-4CB0-9E91-A76E6435A63C}" presName="compChildNode" presStyleCnt="0"/>
      <dgm:spPr/>
    </dgm:pt>
    <dgm:pt modelId="{7D3E29FA-5260-4A46-B119-8CCFE245888F}" type="pres">
      <dgm:prSet presAssocID="{2D4A422F-6D5A-4CB0-9E91-A76E6435A63C}" presName="theInnerList" presStyleCnt="0"/>
      <dgm:spPr/>
    </dgm:pt>
    <dgm:pt modelId="{2C5DEB48-DC61-4FAB-861F-5EA2EADA37EF}" type="pres">
      <dgm:prSet presAssocID="{12226059-75EB-480C-B2B1-D087929B0209}" presName="childNode" presStyleLbl="node1" presStyleIdx="8" presStyleCnt="12">
        <dgm:presLayoutVars>
          <dgm:bulletEnabled val="1"/>
        </dgm:presLayoutVars>
      </dgm:prSet>
      <dgm:spPr/>
      <dgm:t>
        <a:bodyPr/>
        <a:lstStyle/>
        <a:p>
          <a:endParaRPr lang="en-IN"/>
        </a:p>
      </dgm:t>
    </dgm:pt>
    <dgm:pt modelId="{F11847C8-FC47-4A6C-AF9F-D72CD0C2CC93}" type="pres">
      <dgm:prSet presAssocID="{12226059-75EB-480C-B2B1-D087929B0209}" presName="aSpace2" presStyleCnt="0"/>
      <dgm:spPr/>
    </dgm:pt>
    <dgm:pt modelId="{8008D13D-E13A-4CA8-A437-A40C638D575C}" type="pres">
      <dgm:prSet presAssocID="{040220EF-285F-4A3F-ADD3-66D8AC1B799E}" presName="childNode" presStyleLbl="node1" presStyleIdx="9" presStyleCnt="12">
        <dgm:presLayoutVars>
          <dgm:bulletEnabled val="1"/>
        </dgm:presLayoutVars>
      </dgm:prSet>
      <dgm:spPr/>
      <dgm:t>
        <a:bodyPr/>
        <a:lstStyle/>
        <a:p>
          <a:endParaRPr lang="en-IN"/>
        </a:p>
      </dgm:t>
    </dgm:pt>
    <dgm:pt modelId="{D4B8E151-E13E-441E-BCA1-FBCA22B6EC14}" type="pres">
      <dgm:prSet presAssocID="{2D4A422F-6D5A-4CB0-9E91-A76E6435A63C}" presName="aSpace" presStyleCnt="0"/>
      <dgm:spPr/>
    </dgm:pt>
    <dgm:pt modelId="{0E3CAA66-2165-4349-8033-004894714832}" type="pres">
      <dgm:prSet presAssocID="{BFAFD427-4164-485D-A1DF-D3DCECF64D25}" presName="compNode" presStyleCnt="0"/>
      <dgm:spPr/>
    </dgm:pt>
    <dgm:pt modelId="{3D7DA868-0B8F-4F7A-92A1-89F47B3A8B3A}" type="pres">
      <dgm:prSet presAssocID="{BFAFD427-4164-485D-A1DF-D3DCECF64D25}" presName="aNode" presStyleLbl="bgShp" presStyleIdx="4" presStyleCnt="5"/>
      <dgm:spPr/>
      <dgm:t>
        <a:bodyPr/>
        <a:lstStyle/>
        <a:p>
          <a:endParaRPr lang="en-IN"/>
        </a:p>
      </dgm:t>
    </dgm:pt>
    <dgm:pt modelId="{1EE6BDF1-599D-48AD-BBDD-B6C00065540F}" type="pres">
      <dgm:prSet presAssocID="{BFAFD427-4164-485D-A1DF-D3DCECF64D25}" presName="textNode" presStyleLbl="bgShp" presStyleIdx="4" presStyleCnt="5"/>
      <dgm:spPr/>
      <dgm:t>
        <a:bodyPr/>
        <a:lstStyle/>
        <a:p>
          <a:endParaRPr lang="en-IN"/>
        </a:p>
      </dgm:t>
    </dgm:pt>
    <dgm:pt modelId="{1924A6AD-D31B-4460-B3F9-A28A7CAA71EC}" type="pres">
      <dgm:prSet presAssocID="{BFAFD427-4164-485D-A1DF-D3DCECF64D25}" presName="compChildNode" presStyleCnt="0"/>
      <dgm:spPr/>
    </dgm:pt>
    <dgm:pt modelId="{9A189502-DD2D-4817-9EB4-2994FEF115B2}" type="pres">
      <dgm:prSet presAssocID="{BFAFD427-4164-485D-A1DF-D3DCECF64D25}" presName="theInnerList" presStyleCnt="0"/>
      <dgm:spPr/>
    </dgm:pt>
    <dgm:pt modelId="{4B1DF71B-89BD-4FB6-B806-9F9C0F229597}" type="pres">
      <dgm:prSet presAssocID="{3CB8DEEC-C5A5-409B-9227-8BAE16943FD8}" presName="childNode" presStyleLbl="node1" presStyleIdx="10" presStyleCnt="12">
        <dgm:presLayoutVars>
          <dgm:bulletEnabled val="1"/>
        </dgm:presLayoutVars>
      </dgm:prSet>
      <dgm:spPr/>
      <dgm:t>
        <a:bodyPr/>
        <a:lstStyle/>
        <a:p>
          <a:endParaRPr lang="en-IN"/>
        </a:p>
      </dgm:t>
    </dgm:pt>
    <dgm:pt modelId="{89D56971-72FD-45C6-83D2-CF81B6B452BC}" type="pres">
      <dgm:prSet presAssocID="{3CB8DEEC-C5A5-409B-9227-8BAE16943FD8}" presName="aSpace2" presStyleCnt="0"/>
      <dgm:spPr/>
    </dgm:pt>
    <dgm:pt modelId="{CECE4DD2-37D0-45FA-A996-4918C387E965}" type="pres">
      <dgm:prSet presAssocID="{386BE103-94C3-48B3-98DD-1E4D4CA36248}" presName="childNode" presStyleLbl="node1" presStyleIdx="11" presStyleCnt="12">
        <dgm:presLayoutVars>
          <dgm:bulletEnabled val="1"/>
        </dgm:presLayoutVars>
      </dgm:prSet>
      <dgm:spPr/>
      <dgm:t>
        <a:bodyPr/>
        <a:lstStyle/>
        <a:p>
          <a:endParaRPr lang="en-IN"/>
        </a:p>
      </dgm:t>
    </dgm:pt>
  </dgm:ptLst>
  <dgm:cxnLst>
    <dgm:cxn modelId="{D13D0747-AE85-4A9C-98B5-34408B6BEADE}" srcId="{9FDAC1E6-B08E-4A0E-9BCC-389C3411769F}" destId="{2D4A422F-6D5A-4CB0-9E91-A76E6435A63C}" srcOrd="3" destOrd="0" parTransId="{C9F6DEF5-6E1C-43CC-B338-0CAD09E5B988}" sibTransId="{9D55CBE1-DCCA-457A-A13E-39458A783567}"/>
    <dgm:cxn modelId="{C3FAF2F9-01FC-4649-A70D-A187C5C6DFD5}" srcId="{9FDAC1E6-B08E-4A0E-9BCC-389C3411769F}" destId="{BFAFD427-4164-485D-A1DF-D3DCECF64D25}" srcOrd="4" destOrd="0" parTransId="{84E9E43B-3CC7-4D27-8B98-5E316C697D62}" sibTransId="{BF1D100E-60B3-46C8-87FF-CC6580C3D952}"/>
    <dgm:cxn modelId="{44C4CB0B-7FE7-4D0F-A1EA-2E382D4283C2}" type="presOf" srcId="{6EC392B6-ABBE-4955-BBCF-E3080166BF20}" destId="{1F3FA9C1-E99B-406F-8DCF-95495B959764}" srcOrd="0" destOrd="0" presId="urn:microsoft.com/office/officeart/2005/8/layout/lProcess2"/>
    <dgm:cxn modelId="{D1026383-2004-4080-A479-B8976E44331C}" type="presOf" srcId="{BFAFD427-4164-485D-A1DF-D3DCECF64D25}" destId="{3D7DA868-0B8F-4F7A-92A1-89F47B3A8B3A}" srcOrd="0" destOrd="0" presId="urn:microsoft.com/office/officeart/2005/8/layout/lProcess2"/>
    <dgm:cxn modelId="{BB2AF0A2-9685-4D4D-BC3F-E54B99AA5C84}" type="presOf" srcId="{2D4A422F-6D5A-4CB0-9E91-A76E6435A63C}" destId="{53228BE3-15B6-44D3-807A-5F77C0F84FC2}" srcOrd="0" destOrd="0" presId="urn:microsoft.com/office/officeart/2005/8/layout/lProcess2"/>
    <dgm:cxn modelId="{399E9CAD-6E34-4DC8-9FAE-2A97BA147E50}" type="presOf" srcId="{CB5D8193-1845-419A-A610-FF6D5B311154}" destId="{CC89FD04-E559-4F22-95DE-E8BDE1F04FBC}" srcOrd="0" destOrd="0" presId="urn:microsoft.com/office/officeart/2005/8/layout/lProcess2"/>
    <dgm:cxn modelId="{253DD0AC-D537-42F8-9AEB-119B5F983B72}" type="presOf" srcId="{2D4A422F-6D5A-4CB0-9E91-A76E6435A63C}" destId="{BBA6DDC2-7CC0-4BD5-B703-92C753D48CE3}" srcOrd="1" destOrd="0" presId="urn:microsoft.com/office/officeart/2005/8/layout/lProcess2"/>
    <dgm:cxn modelId="{E26B0A87-9722-4EEB-9327-4C1E0123D140}" srcId="{FC1FC566-0F9D-4F56-A529-819D93243CDA}" destId="{DADC9DA2-AF35-47A6-818B-BB6D101AB847}" srcOrd="0" destOrd="0" parTransId="{56E7FC2C-F795-4396-984B-BA6C3D884610}" sibTransId="{EF96B856-DA57-4543-AFBC-335FB58D8718}"/>
    <dgm:cxn modelId="{6F31E7D5-100D-4342-90D9-618F3B8323B4}" type="presOf" srcId="{45D2BB27-D270-4A62-A84A-02FC21949525}" destId="{44BE2865-D2BA-4C68-9CFE-5142C804DA51}" srcOrd="0" destOrd="0" presId="urn:microsoft.com/office/officeart/2005/8/layout/lProcess2"/>
    <dgm:cxn modelId="{D2D74152-36AE-48D1-A263-E8EE2F8D9C0D}" type="presOf" srcId="{BFAFD427-4164-485D-A1DF-D3DCECF64D25}" destId="{1EE6BDF1-599D-48AD-BBDD-B6C00065540F}" srcOrd="1" destOrd="0" presId="urn:microsoft.com/office/officeart/2005/8/layout/lProcess2"/>
    <dgm:cxn modelId="{58807D49-C5A0-4356-997B-EA421F33F70F}" srcId="{FC1FC566-0F9D-4F56-A529-819D93243CDA}" destId="{45D2BB27-D270-4A62-A84A-02FC21949525}" srcOrd="1" destOrd="0" parTransId="{92F7C9F8-6AEB-4EC7-A219-F20A88F1A29A}" sibTransId="{1957A305-4513-4487-A942-BC857A46D2CE}"/>
    <dgm:cxn modelId="{76BF516D-A047-4E40-A337-B5AA57708C06}" srcId="{CB5D8193-1845-419A-A610-FF6D5B311154}" destId="{6EC392B6-ABBE-4955-BBCF-E3080166BF20}" srcOrd="1" destOrd="0" parTransId="{ABF9F157-68FC-4C22-8313-E50FA0E9DEFE}" sibTransId="{658754C2-D762-444B-99B0-90A73F4F16E3}"/>
    <dgm:cxn modelId="{F13849EB-A01D-4B44-840D-EE9A248AD8E6}" type="presOf" srcId="{BA7DD8FE-1616-495A-8A8D-29279B41029B}" destId="{82C086CA-7C41-4090-BFD3-C70AD936E4ED}" srcOrd="0" destOrd="0" presId="urn:microsoft.com/office/officeart/2005/8/layout/lProcess2"/>
    <dgm:cxn modelId="{8641074F-4B51-421B-85D3-A335ABAFEF95}" srcId="{6D81AB62-4D2C-4CDA-A2BC-23CC36429306}" destId="{100113C5-699C-4029-AAE9-A2A1E2A55193}" srcOrd="2" destOrd="0" parTransId="{B3521357-071A-4B7D-974B-171FA08D1F37}" sibTransId="{C4BE6F43-BD69-426F-8F45-BF194D700BBC}"/>
    <dgm:cxn modelId="{FBD79280-9BE9-43F9-B25E-803AC16E14C9}" type="presOf" srcId="{3CB8DEEC-C5A5-409B-9227-8BAE16943FD8}" destId="{4B1DF71B-89BD-4FB6-B806-9F9C0F229597}" srcOrd="0" destOrd="0" presId="urn:microsoft.com/office/officeart/2005/8/layout/lProcess2"/>
    <dgm:cxn modelId="{A680FCC4-C267-45C7-B67F-EDC42B56EF15}" srcId="{9FDAC1E6-B08E-4A0E-9BCC-389C3411769F}" destId="{6D81AB62-4D2C-4CDA-A2BC-23CC36429306}" srcOrd="0" destOrd="0" parTransId="{45A5B1E3-A8D8-4E45-AF73-26B83B1D9B93}" sibTransId="{17C1894F-264A-4649-91AF-AC7F53B5A1AA}"/>
    <dgm:cxn modelId="{CC1C523F-6F33-468A-8F06-D3DCD7BF8B4F}" srcId="{6D81AB62-4D2C-4CDA-A2BC-23CC36429306}" destId="{BA7DD8FE-1616-495A-8A8D-29279B41029B}" srcOrd="1" destOrd="0" parTransId="{B847948D-EA3C-4B35-A3E4-723243AB3E85}" sibTransId="{BFE1B42A-E693-4F6A-9621-F6A260A67E01}"/>
    <dgm:cxn modelId="{6196F814-0933-4C3D-B89D-31F4A9BC02CF}" type="presOf" srcId="{DADC9DA2-AF35-47A6-818B-BB6D101AB847}" destId="{B4DB46E1-CC72-4909-84C3-76F31BEB687F}" srcOrd="0" destOrd="0" presId="urn:microsoft.com/office/officeart/2005/8/layout/lProcess2"/>
    <dgm:cxn modelId="{50B11BC1-824D-4FD3-AE9A-3084AEDAB777}" srcId="{CB5D8193-1845-419A-A610-FF6D5B311154}" destId="{4B4361F2-2471-4920-95AF-5413F4B7974A}" srcOrd="0" destOrd="0" parTransId="{82F551DC-FE3D-4C22-B2BC-3670B41041EF}" sibTransId="{F9CD9806-F4AE-488F-8C1D-622E660062E0}"/>
    <dgm:cxn modelId="{007BE546-021F-4877-AF3A-2C448FC63A7D}" srcId="{6D81AB62-4D2C-4CDA-A2BC-23CC36429306}" destId="{BE196974-16D2-4E9B-B6F1-B196CFA27DD5}" srcOrd="0" destOrd="0" parTransId="{01E0BF87-855F-4439-BE1D-4D7216825E70}" sibTransId="{CCB3851F-1103-4847-8A8D-2C7BF546F04B}"/>
    <dgm:cxn modelId="{2D8468CA-5B92-46BB-BF24-655C21BF53A8}" srcId="{9FDAC1E6-B08E-4A0E-9BCC-389C3411769F}" destId="{FC1FC566-0F9D-4F56-A529-819D93243CDA}" srcOrd="1" destOrd="0" parTransId="{4E8EF973-C0CA-43C7-8607-2A9B664BAC0A}" sibTransId="{E9B64AAA-011D-45E7-A165-CA31D6D43DC1}"/>
    <dgm:cxn modelId="{F9239820-34A7-4875-8970-0F5CAD390FFA}" type="presOf" srcId="{BE196974-16D2-4E9B-B6F1-B196CFA27DD5}" destId="{9DA36739-3F5D-4CD4-83F4-34952470E7F8}" srcOrd="0" destOrd="0" presId="urn:microsoft.com/office/officeart/2005/8/layout/lProcess2"/>
    <dgm:cxn modelId="{8B67E8EC-59B7-41CF-82AE-24BBD1D2C09B}" type="presOf" srcId="{6D81AB62-4D2C-4CDA-A2BC-23CC36429306}" destId="{08D0C7EC-53E9-4783-92AA-680A41DB02DD}" srcOrd="0" destOrd="0" presId="urn:microsoft.com/office/officeart/2005/8/layout/lProcess2"/>
    <dgm:cxn modelId="{EAFC21C9-2D0D-434C-8946-60A170FEC36C}" type="presOf" srcId="{FC1FC566-0F9D-4F56-A529-819D93243CDA}" destId="{8FCAA1EF-8018-4B79-AC61-E90EA872F501}" srcOrd="0" destOrd="0" presId="urn:microsoft.com/office/officeart/2005/8/layout/lProcess2"/>
    <dgm:cxn modelId="{86494635-BDC6-4973-A65C-72057370C808}" type="presOf" srcId="{9FDAC1E6-B08E-4A0E-9BCC-389C3411769F}" destId="{C39F5E36-A006-4685-A24C-7DDBCC0F7604}" srcOrd="0" destOrd="0" presId="urn:microsoft.com/office/officeart/2005/8/layout/lProcess2"/>
    <dgm:cxn modelId="{07B2A458-8B2B-4DDB-A25F-ABA6471304C5}" type="presOf" srcId="{6D81AB62-4D2C-4CDA-A2BC-23CC36429306}" destId="{BEA3649D-5B3F-4397-9FF6-6D6BDFDF0536}" srcOrd="1" destOrd="0" presId="urn:microsoft.com/office/officeart/2005/8/layout/lProcess2"/>
    <dgm:cxn modelId="{1D2E6189-A493-4680-B47E-AF9D0A1DAA02}" srcId="{2D4A422F-6D5A-4CB0-9E91-A76E6435A63C}" destId="{040220EF-285F-4A3F-ADD3-66D8AC1B799E}" srcOrd="1" destOrd="0" parTransId="{F7F3EB86-A568-45A4-96F7-3B72CF5FCAFB}" sibTransId="{F6D189D5-4A6A-4F5F-8871-1B47869E49FA}"/>
    <dgm:cxn modelId="{6266DDD9-7D36-48C6-B606-12A9FBD15AB5}" srcId="{BFAFD427-4164-485D-A1DF-D3DCECF64D25}" destId="{386BE103-94C3-48B3-98DD-1E4D4CA36248}" srcOrd="1" destOrd="0" parTransId="{D009F2C6-8CF0-4E4E-930F-D769CD3A4D81}" sibTransId="{821CE950-91C9-4CEC-922B-17BF04C3D594}"/>
    <dgm:cxn modelId="{64C3E709-3CC9-4839-8D1E-E37365F8872D}" srcId="{BFAFD427-4164-485D-A1DF-D3DCECF64D25}" destId="{3CB8DEEC-C5A5-409B-9227-8BAE16943FD8}" srcOrd="0" destOrd="0" parTransId="{AB582D46-75D1-4105-B046-14A5ED11B642}" sibTransId="{1751238D-169D-4C8D-BECC-CFEFFD8F3122}"/>
    <dgm:cxn modelId="{33CD9613-FC57-4ADA-B5F8-56C9EED2016F}" srcId="{9FDAC1E6-B08E-4A0E-9BCC-389C3411769F}" destId="{CB5D8193-1845-419A-A610-FF6D5B311154}" srcOrd="2" destOrd="0" parTransId="{73203BBD-2B8C-47B7-B2F4-DC2FA5189266}" sibTransId="{61F88A0E-494B-442C-9DE9-22771B35B48B}"/>
    <dgm:cxn modelId="{65621EB9-3A6C-4EED-8565-996847D6F994}" type="presOf" srcId="{FC1FC566-0F9D-4F56-A529-819D93243CDA}" destId="{94A15F69-20F4-4421-B3AC-49F1B9A4ED49}" srcOrd="1" destOrd="0" presId="urn:microsoft.com/office/officeart/2005/8/layout/lProcess2"/>
    <dgm:cxn modelId="{C8DD9BEC-0199-436B-B705-66DB829C7B27}" type="presOf" srcId="{100113C5-699C-4029-AAE9-A2A1E2A55193}" destId="{D0522F0C-7CEC-4EC1-BD58-B7ECA618406B}" srcOrd="0" destOrd="0" presId="urn:microsoft.com/office/officeart/2005/8/layout/lProcess2"/>
    <dgm:cxn modelId="{1F78C01D-8587-47E6-B8E5-94DB4A0E2320}" type="presOf" srcId="{12226059-75EB-480C-B2B1-D087929B0209}" destId="{2C5DEB48-DC61-4FAB-861F-5EA2EADA37EF}" srcOrd="0" destOrd="0" presId="urn:microsoft.com/office/officeart/2005/8/layout/lProcess2"/>
    <dgm:cxn modelId="{A45BEC2E-B398-48AB-924C-65F680179302}" type="presOf" srcId="{F381D97C-8A96-4BF0-BA74-44317C4FD728}" destId="{1750533D-AAE0-4267-9371-F79A1583372B}" srcOrd="0" destOrd="0" presId="urn:microsoft.com/office/officeart/2005/8/layout/lProcess2"/>
    <dgm:cxn modelId="{E49A8060-089A-4ADC-9C50-F23D766F7E1E}" type="presOf" srcId="{4B4361F2-2471-4920-95AF-5413F4B7974A}" destId="{AB43E140-E519-426D-9EC4-0B0693A07378}" srcOrd="0" destOrd="0" presId="urn:microsoft.com/office/officeart/2005/8/layout/lProcess2"/>
    <dgm:cxn modelId="{B589E637-EFB7-40D5-925D-DCFE4D8C2266}" type="presOf" srcId="{CB5D8193-1845-419A-A610-FF6D5B311154}" destId="{F34FF748-5DF1-43AD-A5CF-F0E812825483}" srcOrd="1" destOrd="0" presId="urn:microsoft.com/office/officeart/2005/8/layout/lProcess2"/>
    <dgm:cxn modelId="{29FCF01D-C5BD-42BD-8A4C-A9483FB19D9A}" srcId="{2D4A422F-6D5A-4CB0-9E91-A76E6435A63C}" destId="{12226059-75EB-480C-B2B1-D087929B0209}" srcOrd="0" destOrd="0" parTransId="{71941FEB-E119-475B-920B-0FDA1B8B4D14}" sibTransId="{AF1CF742-2D6A-408C-914F-AC2DC40123F5}"/>
    <dgm:cxn modelId="{2E72D850-E103-4B8D-8993-86C78E6DE1A1}" type="presOf" srcId="{386BE103-94C3-48B3-98DD-1E4D4CA36248}" destId="{CECE4DD2-37D0-45FA-A996-4918C387E965}" srcOrd="0" destOrd="0" presId="urn:microsoft.com/office/officeart/2005/8/layout/lProcess2"/>
    <dgm:cxn modelId="{AF57DA04-A999-4509-9044-62B7C3C718AD}" srcId="{6D81AB62-4D2C-4CDA-A2BC-23CC36429306}" destId="{F381D97C-8A96-4BF0-BA74-44317C4FD728}" srcOrd="3" destOrd="0" parTransId="{0947E0A2-43E8-4677-BBE5-4506CC2BF78E}" sibTransId="{594C1ABA-150A-409B-BC40-E71F768E4D57}"/>
    <dgm:cxn modelId="{1F893698-28DF-44D2-9D8B-C6B3D9F96EB3}" type="presOf" srcId="{040220EF-285F-4A3F-ADD3-66D8AC1B799E}" destId="{8008D13D-E13A-4CA8-A437-A40C638D575C}" srcOrd="0" destOrd="0" presId="urn:microsoft.com/office/officeart/2005/8/layout/lProcess2"/>
    <dgm:cxn modelId="{A3930F66-04E8-4DD0-B8C2-CC8D704412C0}" type="presParOf" srcId="{C39F5E36-A006-4685-A24C-7DDBCC0F7604}" destId="{F1E97CD3-4771-4274-8FDF-B92D2850F617}" srcOrd="0" destOrd="0" presId="urn:microsoft.com/office/officeart/2005/8/layout/lProcess2"/>
    <dgm:cxn modelId="{79DF84A2-E35B-4BC3-99B1-0F114F85FC30}" type="presParOf" srcId="{F1E97CD3-4771-4274-8FDF-B92D2850F617}" destId="{08D0C7EC-53E9-4783-92AA-680A41DB02DD}" srcOrd="0" destOrd="0" presId="urn:microsoft.com/office/officeart/2005/8/layout/lProcess2"/>
    <dgm:cxn modelId="{6CE32809-AEEF-4E61-BBC9-714A158F8F5B}" type="presParOf" srcId="{F1E97CD3-4771-4274-8FDF-B92D2850F617}" destId="{BEA3649D-5B3F-4397-9FF6-6D6BDFDF0536}" srcOrd="1" destOrd="0" presId="urn:microsoft.com/office/officeart/2005/8/layout/lProcess2"/>
    <dgm:cxn modelId="{408E66ED-CD51-4FD6-B1CE-10D9A3707124}" type="presParOf" srcId="{F1E97CD3-4771-4274-8FDF-B92D2850F617}" destId="{852848BB-7BB2-456A-90C2-52B6ED68BBAE}" srcOrd="2" destOrd="0" presId="urn:microsoft.com/office/officeart/2005/8/layout/lProcess2"/>
    <dgm:cxn modelId="{515DF78D-E945-42F6-8AE8-A9BE008547D4}" type="presParOf" srcId="{852848BB-7BB2-456A-90C2-52B6ED68BBAE}" destId="{43564048-ED7C-4383-AA7D-AEC1EB6FDCE6}" srcOrd="0" destOrd="0" presId="urn:microsoft.com/office/officeart/2005/8/layout/lProcess2"/>
    <dgm:cxn modelId="{4A2FE098-DA6F-4381-A330-65F82521FDF2}" type="presParOf" srcId="{43564048-ED7C-4383-AA7D-AEC1EB6FDCE6}" destId="{9DA36739-3F5D-4CD4-83F4-34952470E7F8}" srcOrd="0" destOrd="0" presId="urn:microsoft.com/office/officeart/2005/8/layout/lProcess2"/>
    <dgm:cxn modelId="{6B97845C-79F5-4120-9087-E27AE3BB82AB}" type="presParOf" srcId="{43564048-ED7C-4383-AA7D-AEC1EB6FDCE6}" destId="{AF5A864D-2EFF-4B55-B83F-AF11B628DFE8}" srcOrd="1" destOrd="0" presId="urn:microsoft.com/office/officeart/2005/8/layout/lProcess2"/>
    <dgm:cxn modelId="{1E435ECA-B93D-4E13-9799-97D637902EC1}" type="presParOf" srcId="{43564048-ED7C-4383-AA7D-AEC1EB6FDCE6}" destId="{82C086CA-7C41-4090-BFD3-C70AD936E4ED}" srcOrd="2" destOrd="0" presId="urn:microsoft.com/office/officeart/2005/8/layout/lProcess2"/>
    <dgm:cxn modelId="{DE398E48-0BAC-4546-BC31-6121A9AA5533}" type="presParOf" srcId="{43564048-ED7C-4383-AA7D-AEC1EB6FDCE6}" destId="{085B6FAE-7D34-407E-A0D3-0C2034ED7295}" srcOrd="3" destOrd="0" presId="urn:microsoft.com/office/officeart/2005/8/layout/lProcess2"/>
    <dgm:cxn modelId="{C66D40C5-E3F1-43A6-A4B1-85231E69E53E}" type="presParOf" srcId="{43564048-ED7C-4383-AA7D-AEC1EB6FDCE6}" destId="{D0522F0C-7CEC-4EC1-BD58-B7ECA618406B}" srcOrd="4" destOrd="0" presId="urn:microsoft.com/office/officeart/2005/8/layout/lProcess2"/>
    <dgm:cxn modelId="{82585428-CB24-453D-A4D7-AA2F02B5F59F}" type="presParOf" srcId="{43564048-ED7C-4383-AA7D-AEC1EB6FDCE6}" destId="{115410EB-6F8A-402E-A731-15D9A84CD9A0}" srcOrd="5" destOrd="0" presId="urn:microsoft.com/office/officeart/2005/8/layout/lProcess2"/>
    <dgm:cxn modelId="{E676D918-F969-415C-A31F-08049DA17E49}" type="presParOf" srcId="{43564048-ED7C-4383-AA7D-AEC1EB6FDCE6}" destId="{1750533D-AAE0-4267-9371-F79A1583372B}" srcOrd="6" destOrd="0" presId="urn:microsoft.com/office/officeart/2005/8/layout/lProcess2"/>
    <dgm:cxn modelId="{710C595E-B713-4959-BB4D-F431DE76A389}" type="presParOf" srcId="{C39F5E36-A006-4685-A24C-7DDBCC0F7604}" destId="{97E6C5A5-1D37-4DA7-B121-166591C8372A}" srcOrd="1" destOrd="0" presId="urn:microsoft.com/office/officeart/2005/8/layout/lProcess2"/>
    <dgm:cxn modelId="{E0BAB12D-E845-444F-B75F-CFAF55F52669}" type="presParOf" srcId="{C39F5E36-A006-4685-A24C-7DDBCC0F7604}" destId="{5FF68968-0414-4DEF-8A3A-BBC1002E0F8F}" srcOrd="2" destOrd="0" presId="urn:microsoft.com/office/officeart/2005/8/layout/lProcess2"/>
    <dgm:cxn modelId="{CF36347E-E24C-4E84-B7C6-02CB51BF69AF}" type="presParOf" srcId="{5FF68968-0414-4DEF-8A3A-BBC1002E0F8F}" destId="{8FCAA1EF-8018-4B79-AC61-E90EA872F501}" srcOrd="0" destOrd="0" presId="urn:microsoft.com/office/officeart/2005/8/layout/lProcess2"/>
    <dgm:cxn modelId="{4FB296B4-6C26-4DAE-8A69-4575C9FF158E}" type="presParOf" srcId="{5FF68968-0414-4DEF-8A3A-BBC1002E0F8F}" destId="{94A15F69-20F4-4421-B3AC-49F1B9A4ED49}" srcOrd="1" destOrd="0" presId="urn:microsoft.com/office/officeart/2005/8/layout/lProcess2"/>
    <dgm:cxn modelId="{959C02AC-B4BD-42D4-AD4E-1A685BB5AC8B}" type="presParOf" srcId="{5FF68968-0414-4DEF-8A3A-BBC1002E0F8F}" destId="{74ACCB74-4739-4F78-821F-4F5C34C71DB5}" srcOrd="2" destOrd="0" presId="urn:microsoft.com/office/officeart/2005/8/layout/lProcess2"/>
    <dgm:cxn modelId="{55CE8876-A23D-4532-8094-5A731CE11FD2}" type="presParOf" srcId="{74ACCB74-4739-4F78-821F-4F5C34C71DB5}" destId="{7022660D-90FF-4B33-BDF1-29506A139B59}" srcOrd="0" destOrd="0" presId="urn:microsoft.com/office/officeart/2005/8/layout/lProcess2"/>
    <dgm:cxn modelId="{2BBFB223-2417-4FA9-875B-4D760CD69C19}" type="presParOf" srcId="{7022660D-90FF-4B33-BDF1-29506A139B59}" destId="{B4DB46E1-CC72-4909-84C3-76F31BEB687F}" srcOrd="0" destOrd="0" presId="urn:microsoft.com/office/officeart/2005/8/layout/lProcess2"/>
    <dgm:cxn modelId="{1C7FF0A2-D85F-4A33-8C67-0BAD0F422258}" type="presParOf" srcId="{7022660D-90FF-4B33-BDF1-29506A139B59}" destId="{CCA14BB6-D645-406E-8D64-AFEBF6783EFC}" srcOrd="1" destOrd="0" presId="urn:microsoft.com/office/officeart/2005/8/layout/lProcess2"/>
    <dgm:cxn modelId="{C3A0379C-2475-4F21-A44F-5E9F5CB5D8FB}" type="presParOf" srcId="{7022660D-90FF-4B33-BDF1-29506A139B59}" destId="{44BE2865-D2BA-4C68-9CFE-5142C804DA51}" srcOrd="2" destOrd="0" presId="urn:microsoft.com/office/officeart/2005/8/layout/lProcess2"/>
    <dgm:cxn modelId="{75A4F5B7-F300-4B61-9F43-9AB460B0AE38}" type="presParOf" srcId="{C39F5E36-A006-4685-A24C-7DDBCC0F7604}" destId="{78DB077F-A7DE-4F73-9179-FAC7A4540DB0}" srcOrd="3" destOrd="0" presId="urn:microsoft.com/office/officeart/2005/8/layout/lProcess2"/>
    <dgm:cxn modelId="{61C8A0B0-EC0E-40AF-9B60-36A30B5DB608}" type="presParOf" srcId="{C39F5E36-A006-4685-A24C-7DDBCC0F7604}" destId="{5FB19BE0-7141-4869-BAEF-57C747D9029A}" srcOrd="4" destOrd="0" presId="urn:microsoft.com/office/officeart/2005/8/layout/lProcess2"/>
    <dgm:cxn modelId="{49AB5692-68E1-4A14-8021-F27EFF715085}" type="presParOf" srcId="{5FB19BE0-7141-4869-BAEF-57C747D9029A}" destId="{CC89FD04-E559-4F22-95DE-E8BDE1F04FBC}" srcOrd="0" destOrd="0" presId="urn:microsoft.com/office/officeart/2005/8/layout/lProcess2"/>
    <dgm:cxn modelId="{F93244E9-B73C-415F-A6A7-8AFCE4BA5057}" type="presParOf" srcId="{5FB19BE0-7141-4869-BAEF-57C747D9029A}" destId="{F34FF748-5DF1-43AD-A5CF-F0E812825483}" srcOrd="1" destOrd="0" presId="urn:microsoft.com/office/officeart/2005/8/layout/lProcess2"/>
    <dgm:cxn modelId="{C20B7D4A-5D4A-4AB3-A086-F3721455F02D}" type="presParOf" srcId="{5FB19BE0-7141-4869-BAEF-57C747D9029A}" destId="{DC283C62-5AA2-4A28-BF72-9C8F47EADBB9}" srcOrd="2" destOrd="0" presId="urn:microsoft.com/office/officeart/2005/8/layout/lProcess2"/>
    <dgm:cxn modelId="{3EF0A757-4897-4995-9B2F-21E28BB88C05}" type="presParOf" srcId="{DC283C62-5AA2-4A28-BF72-9C8F47EADBB9}" destId="{DEBA332A-9F64-41A5-8B36-499D48962AE5}" srcOrd="0" destOrd="0" presId="urn:microsoft.com/office/officeart/2005/8/layout/lProcess2"/>
    <dgm:cxn modelId="{DFB688E1-20C6-4F89-BA12-5E54201823EE}" type="presParOf" srcId="{DEBA332A-9F64-41A5-8B36-499D48962AE5}" destId="{AB43E140-E519-426D-9EC4-0B0693A07378}" srcOrd="0" destOrd="0" presId="urn:microsoft.com/office/officeart/2005/8/layout/lProcess2"/>
    <dgm:cxn modelId="{A3547251-FAF9-415C-9BC8-67CB02548788}" type="presParOf" srcId="{DEBA332A-9F64-41A5-8B36-499D48962AE5}" destId="{0D47DB8E-2C92-436F-BA04-F4EB11BC0120}" srcOrd="1" destOrd="0" presId="urn:microsoft.com/office/officeart/2005/8/layout/lProcess2"/>
    <dgm:cxn modelId="{F148BB15-5B08-4397-8A85-803974A8C3D9}" type="presParOf" srcId="{DEBA332A-9F64-41A5-8B36-499D48962AE5}" destId="{1F3FA9C1-E99B-406F-8DCF-95495B959764}" srcOrd="2" destOrd="0" presId="urn:microsoft.com/office/officeart/2005/8/layout/lProcess2"/>
    <dgm:cxn modelId="{5CBC9A8E-A104-4990-AF00-FBF717ECECA5}" type="presParOf" srcId="{C39F5E36-A006-4685-A24C-7DDBCC0F7604}" destId="{43312337-5007-4AEB-8958-DB730BBAE1FA}" srcOrd="5" destOrd="0" presId="urn:microsoft.com/office/officeart/2005/8/layout/lProcess2"/>
    <dgm:cxn modelId="{DCD8060B-2197-4134-BC5D-607B590B754A}" type="presParOf" srcId="{C39F5E36-A006-4685-A24C-7DDBCC0F7604}" destId="{E43C9F2A-806B-42E6-B101-FF04D625F7D5}" srcOrd="6" destOrd="0" presId="urn:microsoft.com/office/officeart/2005/8/layout/lProcess2"/>
    <dgm:cxn modelId="{47E8C566-3A74-4A63-8460-5F81D192FEB8}" type="presParOf" srcId="{E43C9F2A-806B-42E6-B101-FF04D625F7D5}" destId="{53228BE3-15B6-44D3-807A-5F77C0F84FC2}" srcOrd="0" destOrd="0" presId="urn:microsoft.com/office/officeart/2005/8/layout/lProcess2"/>
    <dgm:cxn modelId="{7BC30C96-44D0-494C-8A71-FEB5DBEBF5B0}" type="presParOf" srcId="{E43C9F2A-806B-42E6-B101-FF04D625F7D5}" destId="{BBA6DDC2-7CC0-4BD5-B703-92C753D48CE3}" srcOrd="1" destOrd="0" presId="urn:microsoft.com/office/officeart/2005/8/layout/lProcess2"/>
    <dgm:cxn modelId="{D4DF2920-A54F-4F5B-B8CA-77BBAEEB9404}" type="presParOf" srcId="{E43C9F2A-806B-42E6-B101-FF04D625F7D5}" destId="{88AF1256-0DA2-42B5-9432-6BAE81084C83}" srcOrd="2" destOrd="0" presId="urn:microsoft.com/office/officeart/2005/8/layout/lProcess2"/>
    <dgm:cxn modelId="{C54186D4-0ED4-4FD2-B07B-3D741FBC13F2}" type="presParOf" srcId="{88AF1256-0DA2-42B5-9432-6BAE81084C83}" destId="{7D3E29FA-5260-4A46-B119-8CCFE245888F}" srcOrd="0" destOrd="0" presId="urn:microsoft.com/office/officeart/2005/8/layout/lProcess2"/>
    <dgm:cxn modelId="{779BF7AA-0EBE-4D36-8E3F-370439622B03}" type="presParOf" srcId="{7D3E29FA-5260-4A46-B119-8CCFE245888F}" destId="{2C5DEB48-DC61-4FAB-861F-5EA2EADA37EF}" srcOrd="0" destOrd="0" presId="urn:microsoft.com/office/officeart/2005/8/layout/lProcess2"/>
    <dgm:cxn modelId="{7679A056-602E-4383-8DA8-AEAEC2FC4EE0}" type="presParOf" srcId="{7D3E29FA-5260-4A46-B119-8CCFE245888F}" destId="{F11847C8-FC47-4A6C-AF9F-D72CD0C2CC93}" srcOrd="1" destOrd="0" presId="urn:microsoft.com/office/officeart/2005/8/layout/lProcess2"/>
    <dgm:cxn modelId="{CC05C3A6-FA96-4FFD-8D2A-ECB32EEDBF1C}" type="presParOf" srcId="{7D3E29FA-5260-4A46-B119-8CCFE245888F}" destId="{8008D13D-E13A-4CA8-A437-A40C638D575C}" srcOrd="2" destOrd="0" presId="urn:microsoft.com/office/officeart/2005/8/layout/lProcess2"/>
    <dgm:cxn modelId="{DA01C9FE-1B9F-4226-8491-8BF3CC2BA909}" type="presParOf" srcId="{C39F5E36-A006-4685-A24C-7DDBCC0F7604}" destId="{D4B8E151-E13E-441E-BCA1-FBCA22B6EC14}" srcOrd="7" destOrd="0" presId="urn:microsoft.com/office/officeart/2005/8/layout/lProcess2"/>
    <dgm:cxn modelId="{859CEC70-A629-4027-BFDA-B47241259F15}" type="presParOf" srcId="{C39F5E36-A006-4685-A24C-7DDBCC0F7604}" destId="{0E3CAA66-2165-4349-8033-004894714832}" srcOrd="8" destOrd="0" presId="urn:microsoft.com/office/officeart/2005/8/layout/lProcess2"/>
    <dgm:cxn modelId="{9FC9DE51-D8F9-4C10-A1D8-F69AD51432AB}" type="presParOf" srcId="{0E3CAA66-2165-4349-8033-004894714832}" destId="{3D7DA868-0B8F-4F7A-92A1-89F47B3A8B3A}" srcOrd="0" destOrd="0" presId="urn:microsoft.com/office/officeart/2005/8/layout/lProcess2"/>
    <dgm:cxn modelId="{CCA4114B-1C52-4BF3-B3F1-17338EC30560}" type="presParOf" srcId="{0E3CAA66-2165-4349-8033-004894714832}" destId="{1EE6BDF1-599D-48AD-BBDD-B6C00065540F}" srcOrd="1" destOrd="0" presId="urn:microsoft.com/office/officeart/2005/8/layout/lProcess2"/>
    <dgm:cxn modelId="{172A5269-8DD9-4199-84D2-E442F8F66629}" type="presParOf" srcId="{0E3CAA66-2165-4349-8033-004894714832}" destId="{1924A6AD-D31B-4460-B3F9-A28A7CAA71EC}" srcOrd="2" destOrd="0" presId="urn:microsoft.com/office/officeart/2005/8/layout/lProcess2"/>
    <dgm:cxn modelId="{B087454C-96E5-4860-BBC2-7FA5A3B189F7}" type="presParOf" srcId="{1924A6AD-D31B-4460-B3F9-A28A7CAA71EC}" destId="{9A189502-DD2D-4817-9EB4-2994FEF115B2}" srcOrd="0" destOrd="0" presId="urn:microsoft.com/office/officeart/2005/8/layout/lProcess2"/>
    <dgm:cxn modelId="{2F1C630E-178D-46A0-86AE-D4C8EA3E6B3F}" type="presParOf" srcId="{9A189502-DD2D-4817-9EB4-2994FEF115B2}" destId="{4B1DF71B-89BD-4FB6-B806-9F9C0F229597}" srcOrd="0" destOrd="0" presId="urn:microsoft.com/office/officeart/2005/8/layout/lProcess2"/>
    <dgm:cxn modelId="{7BD6AE7B-F6DB-457B-AF81-06BD421E400C}" type="presParOf" srcId="{9A189502-DD2D-4817-9EB4-2994FEF115B2}" destId="{89D56971-72FD-45C6-83D2-CF81B6B452BC}" srcOrd="1" destOrd="0" presId="urn:microsoft.com/office/officeart/2005/8/layout/lProcess2"/>
    <dgm:cxn modelId="{A5009FE0-1B7A-4BCF-BFA3-87F498C3A1FA}" type="presParOf" srcId="{9A189502-DD2D-4817-9EB4-2994FEF115B2}" destId="{CECE4DD2-37D0-45FA-A996-4918C387E965}"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A4C166-7B85-4580-9491-036937549200}"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861BA072-2245-4E03-987B-EF9ECFCA3157}">
      <dgm:prSet phldrT="[Text]"/>
      <dgm:spPr/>
      <dgm:t>
        <a:bodyPr/>
        <a:lstStyle/>
        <a:p>
          <a:r>
            <a:rPr lang="en-US" dirty="0" smtClean="0"/>
            <a:t>SCADA-enabled Distribution Management System</a:t>
          </a:r>
          <a:endParaRPr lang="en-IN" dirty="0"/>
        </a:p>
      </dgm:t>
    </dgm:pt>
    <dgm:pt modelId="{32AD56FD-550A-48A0-94FF-CDE9D3EA2E39}" type="parTrans" cxnId="{70EE0889-4215-4B15-9831-3A72892FCAA8}">
      <dgm:prSet/>
      <dgm:spPr/>
      <dgm:t>
        <a:bodyPr/>
        <a:lstStyle/>
        <a:p>
          <a:endParaRPr lang="en-IN"/>
        </a:p>
      </dgm:t>
    </dgm:pt>
    <dgm:pt modelId="{10A0F51A-A06B-48E7-B289-2A7C4329C465}" type="sibTrans" cxnId="{70EE0889-4215-4B15-9831-3A72892FCAA8}">
      <dgm:prSet/>
      <dgm:spPr/>
      <dgm:t>
        <a:bodyPr/>
        <a:lstStyle/>
        <a:p>
          <a:endParaRPr lang="en-IN"/>
        </a:p>
      </dgm:t>
    </dgm:pt>
    <dgm:pt modelId="{3E542A1E-3E4E-470F-ADFC-428AB934EC40}">
      <dgm:prSet phldrT="[Text]"/>
      <dgm:spPr/>
      <dgm:t>
        <a:bodyPr/>
        <a:lstStyle/>
        <a:p>
          <a:r>
            <a:rPr lang="en-US" dirty="0" smtClean="0"/>
            <a:t>Real Time Monitoring and Control</a:t>
          </a:r>
          <a:endParaRPr lang="en-IN" dirty="0"/>
        </a:p>
      </dgm:t>
    </dgm:pt>
    <dgm:pt modelId="{80C1BF6C-EE0E-4451-A3AE-7C20B892FD9D}" type="parTrans" cxnId="{1A1C9F4B-54F7-4AD2-AEE3-3C024A296116}">
      <dgm:prSet/>
      <dgm:spPr/>
      <dgm:t>
        <a:bodyPr/>
        <a:lstStyle/>
        <a:p>
          <a:endParaRPr lang="en-IN"/>
        </a:p>
      </dgm:t>
    </dgm:pt>
    <dgm:pt modelId="{801C575F-3E8D-4915-8F0D-309578116971}" type="sibTrans" cxnId="{1A1C9F4B-54F7-4AD2-AEE3-3C024A296116}">
      <dgm:prSet/>
      <dgm:spPr/>
      <dgm:t>
        <a:bodyPr/>
        <a:lstStyle/>
        <a:p>
          <a:endParaRPr lang="en-IN"/>
        </a:p>
      </dgm:t>
    </dgm:pt>
    <dgm:pt modelId="{EC98D70A-2CBF-4602-B455-0ABEF5C671F5}">
      <dgm:prSet phldrT="[Text]"/>
      <dgm:spPr/>
      <dgm:t>
        <a:bodyPr/>
        <a:lstStyle/>
        <a:p>
          <a:r>
            <a:rPr lang="en-US" dirty="0" smtClean="0"/>
            <a:t>Outage Management</a:t>
          </a:r>
          <a:endParaRPr lang="en-IN" dirty="0"/>
        </a:p>
      </dgm:t>
    </dgm:pt>
    <dgm:pt modelId="{A734B124-0079-4A98-84FC-E86ACAD75242}" type="parTrans" cxnId="{9D7A861C-95F3-4C8E-9D51-8141F3E33795}">
      <dgm:prSet/>
      <dgm:spPr/>
      <dgm:t>
        <a:bodyPr/>
        <a:lstStyle/>
        <a:p>
          <a:endParaRPr lang="en-IN"/>
        </a:p>
      </dgm:t>
    </dgm:pt>
    <dgm:pt modelId="{D8B330E4-A62B-4CF7-BCB8-5D125A705273}" type="sibTrans" cxnId="{9D7A861C-95F3-4C8E-9D51-8141F3E33795}">
      <dgm:prSet/>
      <dgm:spPr/>
      <dgm:t>
        <a:bodyPr/>
        <a:lstStyle/>
        <a:p>
          <a:endParaRPr lang="en-IN"/>
        </a:p>
      </dgm:t>
    </dgm:pt>
    <dgm:pt modelId="{0362C674-A3B1-4996-BF09-68B888513552}">
      <dgm:prSet phldrT="[Text]"/>
      <dgm:spPr/>
      <dgm:t>
        <a:bodyPr/>
        <a:lstStyle/>
        <a:p>
          <a:r>
            <a:rPr lang="en-US" dirty="0" smtClean="0"/>
            <a:t>Advanced Network Application</a:t>
          </a:r>
          <a:endParaRPr lang="en-IN" dirty="0"/>
        </a:p>
      </dgm:t>
    </dgm:pt>
    <dgm:pt modelId="{B98D4D24-C9DB-4529-80A3-0F6BC2B9D5A5}" type="parTrans" cxnId="{21BD0338-0654-4E5A-92C8-B74CAC6F38CE}">
      <dgm:prSet/>
      <dgm:spPr/>
      <dgm:t>
        <a:bodyPr/>
        <a:lstStyle/>
        <a:p>
          <a:endParaRPr lang="en-IN"/>
        </a:p>
      </dgm:t>
    </dgm:pt>
    <dgm:pt modelId="{7E17B064-7347-47D1-BD08-BB66EEEF803B}" type="sibTrans" cxnId="{21BD0338-0654-4E5A-92C8-B74CAC6F38CE}">
      <dgm:prSet/>
      <dgm:spPr/>
      <dgm:t>
        <a:bodyPr/>
        <a:lstStyle/>
        <a:p>
          <a:endParaRPr lang="en-IN"/>
        </a:p>
      </dgm:t>
    </dgm:pt>
    <dgm:pt modelId="{040278B4-D825-4ED4-808D-9F3867A06534}">
      <dgm:prSet phldrT="[Text]"/>
      <dgm:spPr/>
      <dgm:t>
        <a:bodyPr/>
        <a:lstStyle/>
        <a:p>
          <a:r>
            <a:rPr lang="en-US" dirty="0" smtClean="0"/>
            <a:t>Crew &amp; Resource Management</a:t>
          </a:r>
          <a:endParaRPr lang="en-IN" dirty="0"/>
        </a:p>
      </dgm:t>
    </dgm:pt>
    <dgm:pt modelId="{AA35E930-E5CE-4813-BA5A-A1CDD26F4A53}" type="parTrans" cxnId="{F7BEDB77-B90C-45C7-A137-0C6914DC6F95}">
      <dgm:prSet/>
      <dgm:spPr/>
      <dgm:t>
        <a:bodyPr/>
        <a:lstStyle/>
        <a:p>
          <a:endParaRPr lang="en-IN"/>
        </a:p>
      </dgm:t>
    </dgm:pt>
    <dgm:pt modelId="{F6326346-F5A8-4E54-932A-11E883500A70}" type="sibTrans" cxnId="{F7BEDB77-B90C-45C7-A137-0C6914DC6F95}">
      <dgm:prSet/>
      <dgm:spPr/>
      <dgm:t>
        <a:bodyPr/>
        <a:lstStyle/>
        <a:p>
          <a:endParaRPr lang="en-IN"/>
        </a:p>
      </dgm:t>
    </dgm:pt>
    <dgm:pt modelId="{6727FF7F-DB09-4FDD-8445-8E681B107D29}">
      <dgm:prSet phldrT="[Text]"/>
      <dgm:spPr/>
      <dgm:t>
        <a:bodyPr/>
        <a:lstStyle/>
        <a:p>
          <a:r>
            <a:rPr lang="en-US" dirty="0" smtClean="0"/>
            <a:t>Energy Management</a:t>
          </a:r>
          <a:endParaRPr lang="en-IN" dirty="0"/>
        </a:p>
      </dgm:t>
    </dgm:pt>
    <dgm:pt modelId="{BFBE318F-B23D-40A5-B4DE-69A7766C679E}" type="parTrans" cxnId="{7264383B-C396-46EA-B88C-0E7DEA23EAAE}">
      <dgm:prSet/>
      <dgm:spPr/>
      <dgm:t>
        <a:bodyPr/>
        <a:lstStyle/>
        <a:p>
          <a:endParaRPr lang="en-IN"/>
        </a:p>
      </dgm:t>
    </dgm:pt>
    <dgm:pt modelId="{D0BE7BB7-BE33-4ADC-8C76-2DC383B318BE}" type="sibTrans" cxnId="{7264383B-C396-46EA-B88C-0E7DEA23EAAE}">
      <dgm:prSet/>
      <dgm:spPr/>
      <dgm:t>
        <a:bodyPr/>
        <a:lstStyle/>
        <a:p>
          <a:endParaRPr lang="en-IN"/>
        </a:p>
      </dgm:t>
    </dgm:pt>
    <dgm:pt modelId="{AE6F48B0-3AEB-44E5-B1FA-8A0B9955636B}">
      <dgm:prSet phldrT="[Text]"/>
      <dgm:spPr/>
      <dgm:t>
        <a:bodyPr/>
        <a:lstStyle/>
        <a:p>
          <a:r>
            <a:rPr lang="en-US" dirty="0" smtClean="0"/>
            <a:t>Multi-level Energy Audit (Utility, Transmission, Feeder &amp; Distribution Transformer levels)</a:t>
          </a:r>
          <a:endParaRPr lang="en-IN" dirty="0"/>
        </a:p>
      </dgm:t>
    </dgm:pt>
    <dgm:pt modelId="{365CF1F4-43D4-486A-93BB-3E0F475CD698}" type="parTrans" cxnId="{5118280F-9B10-4844-92EC-4085F765A680}">
      <dgm:prSet/>
      <dgm:spPr/>
      <dgm:t>
        <a:bodyPr/>
        <a:lstStyle/>
        <a:p>
          <a:endParaRPr lang="en-IN"/>
        </a:p>
      </dgm:t>
    </dgm:pt>
    <dgm:pt modelId="{00159D0E-E039-4AF2-9B3E-F08320D82647}" type="sibTrans" cxnId="{5118280F-9B10-4844-92EC-4085F765A680}">
      <dgm:prSet/>
      <dgm:spPr/>
      <dgm:t>
        <a:bodyPr/>
        <a:lstStyle/>
        <a:p>
          <a:endParaRPr lang="en-IN"/>
        </a:p>
      </dgm:t>
    </dgm:pt>
    <dgm:pt modelId="{1D9C8155-DD9E-423E-B243-700EACCEC00A}">
      <dgm:prSet phldrT="[Text]"/>
      <dgm:spPr/>
      <dgm:t>
        <a:bodyPr/>
        <a:lstStyle/>
        <a:p>
          <a:r>
            <a:rPr lang="en-US" dirty="0" smtClean="0"/>
            <a:t>Demand Side Management</a:t>
          </a:r>
          <a:endParaRPr lang="en-IN" dirty="0"/>
        </a:p>
      </dgm:t>
    </dgm:pt>
    <dgm:pt modelId="{712E91D4-4E8B-4270-975E-2708C42D9787}" type="parTrans" cxnId="{79AC2866-D88B-4F79-A142-3AE5CDF6E4A5}">
      <dgm:prSet/>
      <dgm:spPr/>
      <dgm:t>
        <a:bodyPr/>
        <a:lstStyle/>
        <a:p>
          <a:endParaRPr lang="en-IN"/>
        </a:p>
      </dgm:t>
    </dgm:pt>
    <dgm:pt modelId="{81FCC608-ED06-4E4F-80D5-E88A4608949C}" type="sibTrans" cxnId="{79AC2866-D88B-4F79-A142-3AE5CDF6E4A5}">
      <dgm:prSet/>
      <dgm:spPr/>
      <dgm:t>
        <a:bodyPr/>
        <a:lstStyle/>
        <a:p>
          <a:endParaRPr lang="en-IN"/>
        </a:p>
      </dgm:t>
    </dgm:pt>
    <dgm:pt modelId="{43EB3306-1AE8-4485-A18B-B3AEED2924B2}">
      <dgm:prSet phldrT="[Text]"/>
      <dgm:spPr/>
      <dgm:t>
        <a:bodyPr/>
        <a:lstStyle/>
        <a:p>
          <a:r>
            <a:rPr lang="en-US" dirty="0" smtClean="0"/>
            <a:t>Customer Relationship Management</a:t>
          </a:r>
          <a:endParaRPr lang="en-IN" dirty="0"/>
        </a:p>
      </dgm:t>
    </dgm:pt>
    <dgm:pt modelId="{974DBD28-CA11-483A-8327-2F202ECC9F88}" type="parTrans" cxnId="{33D59CA3-6F91-4BF0-ADA0-E6451F241AE2}">
      <dgm:prSet/>
      <dgm:spPr/>
      <dgm:t>
        <a:bodyPr/>
        <a:lstStyle/>
        <a:p>
          <a:endParaRPr lang="en-IN"/>
        </a:p>
      </dgm:t>
    </dgm:pt>
    <dgm:pt modelId="{2FCD141B-A8C3-4240-8C71-22B1AB09CEF5}" type="sibTrans" cxnId="{33D59CA3-6F91-4BF0-ADA0-E6451F241AE2}">
      <dgm:prSet/>
      <dgm:spPr/>
      <dgm:t>
        <a:bodyPr/>
        <a:lstStyle/>
        <a:p>
          <a:endParaRPr lang="en-IN"/>
        </a:p>
      </dgm:t>
    </dgm:pt>
    <dgm:pt modelId="{E778D9F8-ABCF-4122-A674-D55DFFBD2E72}">
      <dgm:prSet phldrT="[Text]"/>
      <dgm:spPr/>
      <dgm:t>
        <a:bodyPr/>
        <a:lstStyle/>
        <a:p>
          <a:r>
            <a:rPr lang="en-US" dirty="0" smtClean="0"/>
            <a:t>Quality &amp; Reliability of Supply</a:t>
          </a:r>
          <a:endParaRPr lang="en-IN" dirty="0"/>
        </a:p>
      </dgm:t>
    </dgm:pt>
    <dgm:pt modelId="{31BA0DB8-5264-45FD-8A41-7BE2941E74D7}" type="parTrans" cxnId="{FC696149-A001-4675-A21C-C82595C9CD28}">
      <dgm:prSet/>
      <dgm:spPr/>
      <dgm:t>
        <a:bodyPr/>
        <a:lstStyle/>
        <a:p>
          <a:endParaRPr lang="en-IN"/>
        </a:p>
      </dgm:t>
    </dgm:pt>
    <dgm:pt modelId="{6F174EB9-B528-4C56-9E1A-3C65DEEB5479}" type="sibTrans" cxnId="{FC696149-A001-4675-A21C-C82595C9CD28}">
      <dgm:prSet/>
      <dgm:spPr/>
      <dgm:t>
        <a:bodyPr/>
        <a:lstStyle/>
        <a:p>
          <a:endParaRPr lang="en-IN"/>
        </a:p>
      </dgm:t>
    </dgm:pt>
    <dgm:pt modelId="{55F7E3BD-21AE-470C-86D0-5958B584ABA3}">
      <dgm:prSet phldrT="[Text]"/>
      <dgm:spPr/>
      <dgm:t>
        <a:bodyPr/>
        <a:lstStyle/>
        <a:p>
          <a:r>
            <a:rPr lang="en-US" dirty="0" smtClean="0"/>
            <a:t>Accuracy of Bills &amp; Ease of Payment</a:t>
          </a:r>
          <a:endParaRPr lang="en-IN" dirty="0"/>
        </a:p>
      </dgm:t>
    </dgm:pt>
    <dgm:pt modelId="{85A80F40-5F51-40AC-806B-A8C817D74C06}" type="parTrans" cxnId="{3A6E8C2F-599E-4E14-9850-238FF373266D}">
      <dgm:prSet/>
      <dgm:spPr/>
      <dgm:t>
        <a:bodyPr/>
        <a:lstStyle/>
        <a:p>
          <a:endParaRPr lang="en-IN"/>
        </a:p>
      </dgm:t>
    </dgm:pt>
    <dgm:pt modelId="{1A334B61-9CA5-425B-9F1B-55C8F4B9E10B}" type="sibTrans" cxnId="{3A6E8C2F-599E-4E14-9850-238FF373266D}">
      <dgm:prSet/>
      <dgm:spPr/>
      <dgm:t>
        <a:bodyPr/>
        <a:lstStyle/>
        <a:p>
          <a:endParaRPr lang="en-IN"/>
        </a:p>
      </dgm:t>
    </dgm:pt>
    <dgm:pt modelId="{BF51CB54-DBDA-4FDA-A983-EB048CE90461}">
      <dgm:prSet phldrT="[Text]"/>
      <dgm:spPr/>
      <dgm:t>
        <a:bodyPr/>
        <a:lstStyle/>
        <a:p>
          <a:r>
            <a:rPr lang="en-US" dirty="0" smtClean="0"/>
            <a:t>Complaint handling</a:t>
          </a:r>
          <a:endParaRPr lang="en-IN" dirty="0"/>
        </a:p>
      </dgm:t>
    </dgm:pt>
    <dgm:pt modelId="{A1A4A514-8320-4607-B60B-FE3231145257}" type="parTrans" cxnId="{ACABF344-8BDE-43E0-97AD-D0E257B4E8D4}">
      <dgm:prSet/>
      <dgm:spPr/>
      <dgm:t>
        <a:bodyPr/>
        <a:lstStyle/>
        <a:p>
          <a:endParaRPr lang="en-IN"/>
        </a:p>
      </dgm:t>
    </dgm:pt>
    <dgm:pt modelId="{055339DE-9B99-4CCF-9259-1F363040A2B7}" type="sibTrans" cxnId="{ACABF344-8BDE-43E0-97AD-D0E257B4E8D4}">
      <dgm:prSet/>
      <dgm:spPr/>
      <dgm:t>
        <a:bodyPr/>
        <a:lstStyle/>
        <a:p>
          <a:endParaRPr lang="en-IN"/>
        </a:p>
      </dgm:t>
    </dgm:pt>
    <dgm:pt modelId="{21B8968C-8823-447E-84E0-86D15E0EAD66}">
      <dgm:prSet phldrT="[Text]"/>
      <dgm:spPr/>
      <dgm:t>
        <a:bodyPr/>
        <a:lstStyle/>
        <a:p>
          <a:r>
            <a:rPr lang="en-US" dirty="0" smtClean="0"/>
            <a:t>Shift towards Smart Grids</a:t>
          </a:r>
          <a:endParaRPr lang="en-IN" dirty="0"/>
        </a:p>
      </dgm:t>
    </dgm:pt>
    <dgm:pt modelId="{5907D192-FD1C-4345-80A9-C4B2D9700DDB}" type="parTrans" cxnId="{C0A20452-0F7F-46EB-A4CF-2D5174F454B5}">
      <dgm:prSet/>
      <dgm:spPr/>
      <dgm:t>
        <a:bodyPr/>
        <a:lstStyle/>
        <a:p>
          <a:endParaRPr lang="en-IN"/>
        </a:p>
      </dgm:t>
    </dgm:pt>
    <dgm:pt modelId="{D2363F6A-072B-4A05-947E-157E1F0EA3EC}" type="sibTrans" cxnId="{C0A20452-0F7F-46EB-A4CF-2D5174F454B5}">
      <dgm:prSet/>
      <dgm:spPr/>
      <dgm:t>
        <a:bodyPr/>
        <a:lstStyle/>
        <a:p>
          <a:endParaRPr lang="en-IN"/>
        </a:p>
      </dgm:t>
    </dgm:pt>
    <dgm:pt modelId="{CC3D7184-DD21-4CB9-8676-84A2F603D6F4}">
      <dgm:prSet phldrT="[Text]"/>
      <dgm:spPr/>
      <dgm:t>
        <a:bodyPr/>
        <a:lstStyle/>
        <a:p>
          <a:r>
            <a:rPr lang="en-US" dirty="0" smtClean="0"/>
            <a:t>Advance metering infrastructure</a:t>
          </a:r>
          <a:endParaRPr lang="en-IN" dirty="0"/>
        </a:p>
      </dgm:t>
    </dgm:pt>
    <dgm:pt modelId="{9DE9310D-CF07-4606-88B2-DFB5D9407B0F}" type="parTrans" cxnId="{D550F2B5-66AD-4AAA-9E96-BEED9764DC64}">
      <dgm:prSet/>
      <dgm:spPr/>
      <dgm:t>
        <a:bodyPr/>
        <a:lstStyle/>
        <a:p>
          <a:endParaRPr lang="en-IN"/>
        </a:p>
      </dgm:t>
    </dgm:pt>
    <dgm:pt modelId="{B2C22414-D789-455D-B792-6AFDF7C514F4}" type="sibTrans" cxnId="{D550F2B5-66AD-4AAA-9E96-BEED9764DC64}">
      <dgm:prSet/>
      <dgm:spPr/>
      <dgm:t>
        <a:bodyPr/>
        <a:lstStyle/>
        <a:p>
          <a:endParaRPr lang="en-IN"/>
        </a:p>
      </dgm:t>
    </dgm:pt>
    <dgm:pt modelId="{1DB34952-61DA-46CE-955B-CD5EBED6A822}">
      <dgm:prSet phldrT="[Text]"/>
      <dgm:spPr/>
      <dgm:t>
        <a:bodyPr/>
        <a:lstStyle/>
        <a:p>
          <a:r>
            <a:rPr lang="en-US" dirty="0" smtClean="0"/>
            <a:t>Outage management systems</a:t>
          </a:r>
          <a:endParaRPr lang="en-IN" dirty="0"/>
        </a:p>
      </dgm:t>
    </dgm:pt>
    <dgm:pt modelId="{05785AE8-5E2C-4298-9634-32F9E388FE0E}" type="parTrans" cxnId="{DADEF368-68E2-4A13-9891-70B663A6C51B}">
      <dgm:prSet/>
      <dgm:spPr/>
      <dgm:t>
        <a:bodyPr/>
        <a:lstStyle/>
        <a:p>
          <a:endParaRPr lang="en-IN"/>
        </a:p>
      </dgm:t>
    </dgm:pt>
    <dgm:pt modelId="{622E3EF1-71A7-4501-97DC-1C8C037264CF}" type="sibTrans" cxnId="{DADEF368-68E2-4A13-9891-70B663A6C51B}">
      <dgm:prSet/>
      <dgm:spPr/>
      <dgm:t>
        <a:bodyPr/>
        <a:lstStyle/>
        <a:p>
          <a:endParaRPr lang="en-IN"/>
        </a:p>
      </dgm:t>
    </dgm:pt>
    <dgm:pt modelId="{C01BF8E2-698A-488B-B846-860531383074}">
      <dgm:prSet phldrT="[Text]"/>
      <dgm:spPr/>
      <dgm:t>
        <a:bodyPr/>
        <a:lstStyle/>
        <a:p>
          <a:r>
            <a:rPr lang="en-US" dirty="0" smtClean="0"/>
            <a:t>Peak Load Management / Demand Response / DSM</a:t>
          </a:r>
          <a:endParaRPr lang="en-IN" dirty="0"/>
        </a:p>
      </dgm:t>
    </dgm:pt>
    <dgm:pt modelId="{D552AE19-E4B5-4034-8489-F8DDD1C5617F}" type="parTrans" cxnId="{5D5CC2CF-80C5-4B06-8F63-AAD6DFADE696}">
      <dgm:prSet/>
      <dgm:spPr/>
      <dgm:t>
        <a:bodyPr/>
        <a:lstStyle/>
        <a:p>
          <a:endParaRPr lang="en-IN"/>
        </a:p>
      </dgm:t>
    </dgm:pt>
    <dgm:pt modelId="{B62DD56C-C006-494B-A25F-30D0CEAAD722}" type="sibTrans" cxnId="{5D5CC2CF-80C5-4B06-8F63-AAD6DFADE696}">
      <dgm:prSet/>
      <dgm:spPr/>
      <dgm:t>
        <a:bodyPr/>
        <a:lstStyle/>
        <a:p>
          <a:endParaRPr lang="en-IN"/>
        </a:p>
      </dgm:t>
    </dgm:pt>
    <dgm:pt modelId="{F0472156-DF33-4A83-ABC2-C74AD6333B64}">
      <dgm:prSet phldrT="[Text]"/>
      <dgm:spPr/>
      <dgm:t>
        <a:bodyPr/>
        <a:lstStyle/>
        <a:p>
          <a:r>
            <a:rPr lang="en-US" dirty="0" smtClean="0"/>
            <a:t>Power Quality Management</a:t>
          </a:r>
          <a:endParaRPr lang="en-IN" dirty="0"/>
        </a:p>
      </dgm:t>
    </dgm:pt>
    <dgm:pt modelId="{F3250184-60BF-4BE4-8BB4-EAED6A71B799}" type="parTrans" cxnId="{850CDEBA-0C0A-475E-8C5A-0A3FD8E74C26}">
      <dgm:prSet/>
      <dgm:spPr/>
      <dgm:t>
        <a:bodyPr/>
        <a:lstStyle/>
        <a:p>
          <a:endParaRPr lang="en-IN"/>
        </a:p>
      </dgm:t>
    </dgm:pt>
    <dgm:pt modelId="{59C7A60E-9BB8-40D9-A7DB-00951216BC74}" type="sibTrans" cxnId="{850CDEBA-0C0A-475E-8C5A-0A3FD8E74C26}">
      <dgm:prSet/>
      <dgm:spPr/>
      <dgm:t>
        <a:bodyPr/>
        <a:lstStyle/>
        <a:p>
          <a:endParaRPr lang="en-IN"/>
        </a:p>
      </dgm:t>
    </dgm:pt>
    <dgm:pt modelId="{39DCB2AE-8B53-4F84-AF65-10C83F830B30}">
      <dgm:prSet phldrT="[Text]"/>
      <dgm:spPr/>
      <dgm:t>
        <a:bodyPr/>
        <a:lstStyle/>
        <a:p>
          <a:r>
            <a:rPr lang="en-US" dirty="0" smtClean="0"/>
            <a:t>Smart Energy Storage, etc.</a:t>
          </a:r>
          <a:endParaRPr lang="en-IN" dirty="0"/>
        </a:p>
      </dgm:t>
    </dgm:pt>
    <dgm:pt modelId="{3FC67C37-3F0A-43CE-92A6-9082E7038405}" type="parTrans" cxnId="{469D715F-048A-4241-8C16-BC0EA0760B4C}">
      <dgm:prSet/>
      <dgm:spPr/>
      <dgm:t>
        <a:bodyPr/>
        <a:lstStyle/>
        <a:p>
          <a:endParaRPr lang="en-IN"/>
        </a:p>
      </dgm:t>
    </dgm:pt>
    <dgm:pt modelId="{97BFCF3B-1C02-4002-B8DE-DC61CAF1BFD0}" type="sibTrans" cxnId="{469D715F-048A-4241-8C16-BC0EA0760B4C}">
      <dgm:prSet/>
      <dgm:spPr/>
      <dgm:t>
        <a:bodyPr/>
        <a:lstStyle/>
        <a:p>
          <a:endParaRPr lang="en-IN"/>
        </a:p>
      </dgm:t>
    </dgm:pt>
    <dgm:pt modelId="{7181852D-2AB5-408C-8D2A-581174373045}" type="pres">
      <dgm:prSet presAssocID="{A6A4C166-7B85-4580-9491-036937549200}" presName="linear" presStyleCnt="0">
        <dgm:presLayoutVars>
          <dgm:dir/>
          <dgm:animLvl val="lvl"/>
          <dgm:resizeHandles val="exact"/>
        </dgm:presLayoutVars>
      </dgm:prSet>
      <dgm:spPr/>
      <dgm:t>
        <a:bodyPr/>
        <a:lstStyle/>
        <a:p>
          <a:endParaRPr lang="en-IN"/>
        </a:p>
      </dgm:t>
    </dgm:pt>
    <dgm:pt modelId="{56141E63-0C07-4215-99E3-E797550D6D2D}" type="pres">
      <dgm:prSet presAssocID="{861BA072-2245-4E03-987B-EF9ECFCA3157}" presName="parentLin" presStyleCnt="0"/>
      <dgm:spPr/>
    </dgm:pt>
    <dgm:pt modelId="{2994DF2E-94F5-45E2-8B4D-FB462A614B0C}" type="pres">
      <dgm:prSet presAssocID="{861BA072-2245-4E03-987B-EF9ECFCA3157}" presName="parentLeftMargin" presStyleLbl="node1" presStyleIdx="0" presStyleCnt="4"/>
      <dgm:spPr/>
      <dgm:t>
        <a:bodyPr/>
        <a:lstStyle/>
        <a:p>
          <a:endParaRPr lang="en-IN"/>
        </a:p>
      </dgm:t>
    </dgm:pt>
    <dgm:pt modelId="{128BD970-27CE-47BE-A5B5-52638D3095A9}" type="pres">
      <dgm:prSet presAssocID="{861BA072-2245-4E03-987B-EF9ECFCA3157}" presName="parentText" presStyleLbl="node1" presStyleIdx="0" presStyleCnt="4">
        <dgm:presLayoutVars>
          <dgm:chMax val="0"/>
          <dgm:bulletEnabled val="1"/>
        </dgm:presLayoutVars>
      </dgm:prSet>
      <dgm:spPr/>
      <dgm:t>
        <a:bodyPr/>
        <a:lstStyle/>
        <a:p>
          <a:endParaRPr lang="en-IN"/>
        </a:p>
      </dgm:t>
    </dgm:pt>
    <dgm:pt modelId="{6D73D2E9-F187-4C01-86F0-B882D2645B5B}" type="pres">
      <dgm:prSet presAssocID="{861BA072-2245-4E03-987B-EF9ECFCA3157}" presName="negativeSpace" presStyleCnt="0"/>
      <dgm:spPr/>
    </dgm:pt>
    <dgm:pt modelId="{CD381B92-D283-4E90-97CE-000897ED0C64}" type="pres">
      <dgm:prSet presAssocID="{861BA072-2245-4E03-987B-EF9ECFCA3157}" presName="childText" presStyleLbl="conFgAcc1" presStyleIdx="0" presStyleCnt="4">
        <dgm:presLayoutVars>
          <dgm:bulletEnabled val="1"/>
        </dgm:presLayoutVars>
      </dgm:prSet>
      <dgm:spPr/>
      <dgm:t>
        <a:bodyPr/>
        <a:lstStyle/>
        <a:p>
          <a:endParaRPr lang="en-IN"/>
        </a:p>
      </dgm:t>
    </dgm:pt>
    <dgm:pt modelId="{36AE4341-B2BD-4D96-A0A3-400F3854BA20}" type="pres">
      <dgm:prSet presAssocID="{10A0F51A-A06B-48E7-B289-2A7C4329C465}" presName="spaceBetweenRectangles" presStyleCnt="0"/>
      <dgm:spPr/>
    </dgm:pt>
    <dgm:pt modelId="{49C785E4-A4D2-437A-96D7-1709092A1397}" type="pres">
      <dgm:prSet presAssocID="{6727FF7F-DB09-4FDD-8445-8E681B107D29}" presName="parentLin" presStyleCnt="0"/>
      <dgm:spPr/>
    </dgm:pt>
    <dgm:pt modelId="{A716C357-816F-4744-A3CD-19348A107BB1}" type="pres">
      <dgm:prSet presAssocID="{6727FF7F-DB09-4FDD-8445-8E681B107D29}" presName="parentLeftMargin" presStyleLbl="node1" presStyleIdx="0" presStyleCnt="4"/>
      <dgm:spPr/>
      <dgm:t>
        <a:bodyPr/>
        <a:lstStyle/>
        <a:p>
          <a:endParaRPr lang="en-IN"/>
        </a:p>
      </dgm:t>
    </dgm:pt>
    <dgm:pt modelId="{61CED04A-BCC5-4DEC-AFFC-957DD6882A7B}" type="pres">
      <dgm:prSet presAssocID="{6727FF7F-DB09-4FDD-8445-8E681B107D29}" presName="parentText" presStyleLbl="node1" presStyleIdx="1" presStyleCnt="4">
        <dgm:presLayoutVars>
          <dgm:chMax val="0"/>
          <dgm:bulletEnabled val="1"/>
        </dgm:presLayoutVars>
      </dgm:prSet>
      <dgm:spPr/>
      <dgm:t>
        <a:bodyPr/>
        <a:lstStyle/>
        <a:p>
          <a:endParaRPr lang="en-IN"/>
        </a:p>
      </dgm:t>
    </dgm:pt>
    <dgm:pt modelId="{6C56257D-257E-4575-8145-A869B9F6B919}" type="pres">
      <dgm:prSet presAssocID="{6727FF7F-DB09-4FDD-8445-8E681B107D29}" presName="negativeSpace" presStyleCnt="0"/>
      <dgm:spPr/>
    </dgm:pt>
    <dgm:pt modelId="{78FB4996-BE3E-4DEB-97B1-12F4167B3A6B}" type="pres">
      <dgm:prSet presAssocID="{6727FF7F-DB09-4FDD-8445-8E681B107D29}" presName="childText" presStyleLbl="conFgAcc1" presStyleIdx="1" presStyleCnt="4">
        <dgm:presLayoutVars>
          <dgm:bulletEnabled val="1"/>
        </dgm:presLayoutVars>
      </dgm:prSet>
      <dgm:spPr/>
      <dgm:t>
        <a:bodyPr/>
        <a:lstStyle/>
        <a:p>
          <a:endParaRPr lang="en-IN"/>
        </a:p>
      </dgm:t>
    </dgm:pt>
    <dgm:pt modelId="{4C5DD655-D082-4A19-9B4C-D496760A6E41}" type="pres">
      <dgm:prSet presAssocID="{D0BE7BB7-BE33-4ADC-8C76-2DC383B318BE}" presName="spaceBetweenRectangles" presStyleCnt="0"/>
      <dgm:spPr/>
    </dgm:pt>
    <dgm:pt modelId="{3158064F-BE8D-407D-849B-7CA8F2CA6A72}" type="pres">
      <dgm:prSet presAssocID="{43EB3306-1AE8-4485-A18B-B3AEED2924B2}" presName="parentLin" presStyleCnt="0"/>
      <dgm:spPr/>
    </dgm:pt>
    <dgm:pt modelId="{9CD50D58-95C2-41D7-98F7-D117A3228D50}" type="pres">
      <dgm:prSet presAssocID="{43EB3306-1AE8-4485-A18B-B3AEED2924B2}" presName="parentLeftMargin" presStyleLbl="node1" presStyleIdx="1" presStyleCnt="4"/>
      <dgm:spPr/>
      <dgm:t>
        <a:bodyPr/>
        <a:lstStyle/>
        <a:p>
          <a:endParaRPr lang="en-IN"/>
        </a:p>
      </dgm:t>
    </dgm:pt>
    <dgm:pt modelId="{D1ECF8C7-030D-48FA-8845-D298A367ED54}" type="pres">
      <dgm:prSet presAssocID="{43EB3306-1AE8-4485-A18B-B3AEED2924B2}" presName="parentText" presStyleLbl="node1" presStyleIdx="2" presStyleCnt="4">
        <dgm:presLayoutVars>
          <dgm:chMax val="0"/>
          <dgm:bulletEnabled val="1"/>
        </dgm:presLayoutVars>
      </dgm:prSet>
      <dgm:spPr/>
      <dgm:t>
        <a:bodyPr/>
        <a:lstStyle/>
        <a:p>
          <a:endParaRPr lang="en-IN"/>
        </a:p>
      </dgm:t>
    </dgm:pt>
    <dgm:pt modelId="{CA8766A2-985D-4E54-A96A-1FCEC72F98F9}" type="pres">
      <dgm:prSet presAssocID="{43EB3306-1AE8-4485-A18B-B3AEED2924B2}" presName="negativeSpace" presStyleCnt="0"/>
      <dgm:spPr/>
    </dgm:pt>
    <dgm:pt modelId="{BE489804-5090-4FCA-A883-C0B69A627860}" type="pres">
      <dgm:prSet presAssocID="{43EB3306-1AE8-4485-A18B-B3AEED2924B2}" presName="childText" presStyleLbl="conFgAcc1" presStyleIdx="2" presStyleCnt="4">
        <dgm:presLayoutVars>
          <dgm:bulletEnabled val="1"/>
        </dgm:presLayoutVars>
      </dgm:prSet>
      <dgm:spPr/>
      <dgm:t>
        <a:bodyPr/>
        <a:lstStyle/>
        <a:p>
          <a:endParaRPr lang="en-IN"/>
        </a:p>
      </dgm:t>
    </dgm:pt>
    <dgm:pt modelId="{5F254564-9AC6-46AA-A85B-F240E077621E}" type="pres">
      <dgm:prSet presAssocID="{2FCD141B-A8C3-4240-8C71-22B1AB09CEF5}" presName="spaceBetweenRectangles" presStyleCnt="0"/>
      <dgm:spPr/>
    </dgm:pt>
    <dgm:pt modelId="{95AAF275-A83A-4B93-A67F-1D0C77A222CC}" type="pres">
      <dgm:prSet presAssocID="{21B8968C-8823-447E-84E0-86D15E0EAD66}" presName="parentLin" presStyleCnt="0"/>
      <dgm:spPr/>
    </dgm:pt>
    <dgm:pt modelId="{D0597C5F-1093-4595-952D-5CB8551A3C27}" type="pres">
      <dgm:prSet presAssocID="{21B8968C-8823-447E-84E0-86D15E0EAD66}" presName="parentLeftMargin" presStyleLbl="node1" presStyleIdx="2" presStyleCnt="4"/>
      <dgm:spPr/>
      <dgm:t>
        <a:bodyPr/>
        <a:lstStyle/>
        <a:p>
          <a:endParaRPr lang="en-IN"/>
        </a:p>
      </dgm:t>
    </dgm:pt>
    <dgm:pt modelId="{97642577-3E77-4FAE-99E5-079C7604D4BB}" type="pres">
      <dgm:prSet presAssocID="{21B8968C-8823-447E-84E0-86D15E0EAD66}" presName="parentText" presStyleLbl="node1" presStyleIdx="3" presStyleCnt="4">
        <dgm:presLayoutVars>
          <dgm:chMax val="0"/>
          <dgm:bulletEnabled val="1"/>
        </dgm:presLayoutVars>
      </dgm:prSet>
      <dgm:spPr/>
      <dgm:t>
        <a:bodyPr/>
        <a:lstStyle/>
        <a:p>
          <a:endParaRPr lang="en-IN"/>
        </a:p>
      </dgm:t>
    </dgm:pt>
    <dgm:pt modelId="{C115AA90-8F03-4C19-ADE0-93F3F66F295C}" type="pres">
      <dgm:prSet presAssocID="{21B8968C-8823-447E-84E0-86D15E0EAD66}" presName="negativeSpace" presStyleCnt="0"/>
      <dgm:spPr/>
    </dgm:pt>
    <dgm:pt modelId="{13A8A19E-67E0-4114-9008-3C277D93966C}" type="pres">
      <dgm:prSet presAssocID="{21B8968C-8823-447E-84E0-86D15E0EAD66}" presName="childText" presStyleLbl="conFgAcc1" presStyleIdx="3" presStyleCnt="4">
        <dgm:presLayoutVars>
          <dgm:bulletEnabled val="1"/>
        </dgm:presLayoutVars>
      </dgm:prSet>
      <dgm:spPr/>
      <dgm:t>
        <a:bodyPr/>
        <a:lstStyle/>
        <a:p>
          <a:endParaRPr lang="en-IN"/>
        </a:p>
      </dgm:t>
    </dgm:pt>
  </dgm:ptLst>
  <dgm:cxnLst>
    <dgm:cxn modelId="{79AC2866-D88B-4F79-A142-3AE5CDF6E4A5}" srcId="{6727FF7F-DB09-4FDD-8445-8E681B107D29}" destId="{1D9C8155-DD9E-423E-B243-700EACCEC00A}" srcOrd="1" destOrd="0" parTransId="{712E91D4-4E8B-4270-975E-2708C42D9787}" sibTransId="{81FCC608-ED06-4E4F-80D5-E88A4608949C}"/>
    <dgm:cxn modelId="{7264383B-C396-46EA-B88C-0E7DEA23EAAE}" srcId="{A6A4C166-7B85-4580-9491-036937549200}" destId="{6727FF7F-DB09-4FDD-8445-8E681B107D29}" srcOrd="1" destOrd="0" parTransId="{BFBE318F-B23D-40A5-B4DE-69A7766C679E}" sibTransId="{D0BE7BB7-BE33-4ADC-8C76-2DC383B318BE}"/>
    <dgm:cxn modelId="{C0A20452-0F7F-46EB-A4CF-2D5174F454B5}" srcId="{A6A4C166-7B85-4580-9491-036937549200}" destId="{21B8968C-8823-447E-84E0-86D15E0EAD66}" srcOrd="3" destOrd="0" parTransId="{5907D192-FD1C-4345-80A9-C4B2D9700DDB}" sibTransId="{D2363F6A-072B-4A05-947E-157E1F0EA3EC}"/>
    <dgm:cxn modelId="{5D5CC2CF-80C5-4B06-8F63-AAD6DFADE696}" srcId="{21B8968C-8823-447E-84E0-86D15E0EAD66}" destId="{C01BF8E2-698A-488B-B846-860531383074}" srcOrd="2" destOrd="0" parTransId="{D552AE19-E4B5-4034-8489-F8DDD1C5617F}" sibTransId="{B62DD56C-C006-494B-A25F-30D0CEAAD722}"/>
    <dgm:cxn modelId="{3FB1C984-4133-448E-B904-2A2CF1AB5AEB}" type="presOf" srcId="{BF51CB54-DBDA-4FDA-A983-EB048CE90461}" destId="{BE489804-5090-4FCA-A883-C0B69A627860}" srcOrd="0" destOrd="2" presId="urn:microsoft.com/office/officeart/2005/8/layout/list1"/>
    <dgm:cxn modelId="{21BD0338-0654-4E5A-92C8-B74CAC6F38CE}" srcId="{861BA072-2245-4E03-987B-EF9ECFCA3157}" destId="{0362C674-A3B1-4996-BF09-68B888513552}" srcOrd="2" destOrd="0" parTransId="{B98D4D24-C9DB-4529-80A3-0F6BC2B9D5A5}" sibTransId="{7E17B064-7347-47D1-BD08-BB66EEEF803B}"/>
    <dgm:cxn modelId="{70EE0889-4215-4B15-9831-3A72892FCAA8}" srcId="{A6A4C166-7B85-4580-9491-036937549200}" destId="{861BA072-2245-4E03-987B-EF9ECFCA3157}" srcOrd="0" destOrd="0" parTransId="{32AD56FD-550A-48A0-94FF-CDE9D3EA2E39}" sibTransId="{10A0F51A-A06B-48E7-B289-2A7C4329C465}"/>
    <dgm:cxn modelId="{D550F2B5-66AD-4AAA-9E96-BEED9764DC64}" srcId="{21B8968C-8823-447E-84E0-86D15E0EAD66}" destId="{CC3D7184-DD21-4CB9-8676-84A2F603D6F4}" srcOrd="0" destOrd="0" parTransId="{9DE9310D-CF07-4606-88B2-DFB5D9407B0F}" sibTransId="{B2C22414-D789-455D-B792-6AFDF7C514F4}"/>
    <dgm:cxn modelId="{33D59CA3-6F91-4BF0-ADA0-E6451F241AE2}" srcId="{A6A4C166-7B85-4580-9491-036937549200}" destId="{43EB3306-1AE8-4485-A18B-B3AEED2924B2}" srcOrd="2" destOrd="0" parTransId="{974DBD28-CA11-483A-8327-2F202ECC9F88}" sibTransId="{2FCD141B-A8C3-4240-8C71-22B1AB09CEF5}"/>
    <dgm:cxn modelId="{2387773B-9F37-4C92-B8FA-E4CA28803D0A}" type="presOf" srcId="{0362C674-A3B1-4996-BF09-68B888513552}" destId="{CD381B92-D283-4E90-97CE-000897ED0C64}" srcOrd="0" destOrd="2" presId="urn:microsoft.com/office/officeart/2005/8/layout/list1"/>
    <dgm:cxn modelId="{F6252D31-126B-4B17-9FA3-CD5C4F5AA0F8}" type="presOf" srcId="{6727FF7F-DB09-4FDD-8445-8E681B107D29}" destId="{A716C357-816F-4744-A3CD-19348A107BB1}" srcOrd="0" destOrd="0" presId="urn:microsoft.com/office/officeart/2005/8/layout/list1"/>
    <dgm:cxn modelId="{180368E3-80BD-41F9-8495-2E88BF644337}" type="presOf" srcId="{21B8968C-8823-447E-84E0-86D15E0EAD66}" destId="{97642577-3E77-4FAE-99E5-079C7604D4BB}" srcOrd="1" destOrd="0" presId="urn:microsoft.com/office/officeart/2005/8/layout/list1"/>
    <dgm:cxn modelId="{124F7616-CD03-4E62-B9C9-BD8DA61B287F}" type="presOf" srcId="{1D9C8155-DD9E-423E-B243-700EACCEC00A}" destId="{78FB4996-BE3E-4DEB-97B1-12F4167B3A6B}" srcOrd="0" destOrd="1" presId="urn:microsoft.com/office/officeart/2005/8/layout/list1"/>
    <dgm:cxn modelId="{469D715F-048A-4241-8C16-BC0EA0760B4C}" srcId="{21B8968C-8823-447E-84E0-86D15E0EAD66}" destId="{39DCB2AE-8B53-4F84-AF65-10C83F830B30}" srcOrd="4" destOrd="0" parTransId="{3FC67C37-3F0A-43CE-92A6-9082E7038405}" sibTransId="{97BFCF3B-1C02-4002-B8DE-DC61CAF1BFD0}"/>
    <dgm:cxn modelId="{850CDEBA-0C0A-475E-8C5A-0A3FD8E74C26}" srcId="{21B8968C-8823-447E-84E0-86D15E0EAD66}" destId="{F0472156-DF33-4A83-ABC2-C74AD6333B64}" srcOrd="3" destOrd="0" parTransId="{F3250184-60BF-4BE4-8BB4-EAED6A71B799}" sibTransId="{59C7A60E-9BB8-40D9-A7DB-00951216BC74}"/>
    <dgm:cxn modelId="{FC696149-A001-4675-A21C-C82595C9CD28}" srcId="{43EB3306-1AE8-4485-A18B-B3AEED2924B2}" destId="{E778D9F8-ABCF-4122-A674-D55DFFBD2E72}" srcOrd="0" destOrd="0" parTransId="{31BA0DB8-5264-45FD-8A41-7BE2941E74D7}" sibTransId="{6F174EB9-B528-4C56-9E1A-3C65DEEB5479}"/>
    <dgm:cxn modelId="{1A1C9F4B-54F7-4AD2-AEE3-3C024A296116}" srcId="{861BA072-2245-4E03-987B-EF9ECFCA3157}" destId="{3E542A1E-3E4E-470F-ADFC-428AB934EC40}" srcOrd="0" destOrd="0" parTransId="{80C1BF6C-EE0E-4451-A3AE-7C20B892FD9D}" sibTransId="{801C575F-3E8D-4915-8F0D-309578116971}"/>
    <dgm:cxn modelId="{525CEF80-475A-4670-890C-1E3FA633AA0C}" type="presOf" srcId="{E778D9F8-ABCF-4122-A674-D55DFFBD2E72}" destId="{BE489804-5090-4FCA-A883-C0B69A627860}" srcOrd="0" destOrd="0" presId="urn:microsoft.com/office/officeart/2005/8/layout/list1"/>
    <dgm:cxn modelId="{8785795A-06E3-4E81-AFA0-2537F9B09523}" type="presOf" srcId="{6727FF7F-DB09-4FDD-8445-8E681B107D29}" destId="{61CED04A-BCC5-4DEC-AFFC-957DD6882A7B}" srcOrd="1" destOrd="0" presId="urn:microsoft.com/office/officeart/2005/8/layout/list1"/>
    <dgm:cxn modelId="{0B5DE274-063E-4E5B-B5B1-3CAADB0E081C}" type="presOf" srcId="{C01BF8E2-698A-488B-B846-860531383074}" destId="{13A8A19E-67E0-4114-9008-3C277D93966C}" srcOrd="0" destOrd="2" presId="urn:microsoft.com/office/officeart/2005/8/layout/list1"/>
    <dgm:cxn modelId="{32E4CDB6-DA28-4BA9-867E-F8221E752B64}" type="presOf" srcId="{55F7E3BD-21AE-470C-86D0-5958B584ABA3}" destId="{BE489804-5090-4FCA-A883-C0B69A627860}" srcOrd="0" destOrd="1" presId="urn:microsoft.com/office/officeart/2005/8/layout/list1"/>
    <dgm:cxn modelId="{30D4BFC0-6840-4D17-8773-60F03E595064}" type="presOf" srcId="{F0472156-DF33-4A83-ABC2-C74AD6333B64}" destId="{13A8A19E-67E0-4114-9008-3C277D93966C}" srcOrd="0" destOrd="3" presId="urn:microsoft.com/office/officeart/2005/8/layout/list1"/>
    <dgm:cxn modelId="{BCB213FC-2ECF-4E12-B449-F87F21295EFE}" type="presOf" srcId="{AE6F48B0-3AEB-44E5-B1FA-8A0B9955636B}" destId="{78FB4996-BE3E-4DEB-97B1-12F4167B3A6B}" srcOrd="0" destOrd="0" presId="urn:microsoft.com/office/officeart/2005/8/layout/list1"/>
    <dgm:cxn modelId="{7EF37AC8-E84E-452C-9028-694B4884BF97}" type="presOf" srcId="{861BA072-2245-4E03-987B-EF9ECFCA3157}" destId="{128BD970-27CE-47BE-A5B5-52638D3095A9}" srcOrd="1" destOrd="0" presId="urn:microsoft.com/office/officeart/2005/8/layout/list1"/>
    <dgm:cxn modelId="{DA352DAD-E9AB-4942-A75C-BA9E7C886654}" type="presOf" srcId="{43EB3306-1AE8-4485-A18B-B3AEED2924B2}" destId="{9CD50D58-95C2-41D7-98F7-D117A3228D50}" srcOrd="0" destOrd="0" presId="urn:microsoft.com/office/officeart/2005/8/layout/list1"/>
    <dgm:cxn modelId="{3A6E8C2F-599E-4E14-9850-238FF373266D}" srcId="{43EB3306-1AE8-4485-A18B-B3AEED2924B2}" destId="{55F7E3BD-21AE-470C-86D0-5958B584ABA3}" srcOrd="1" destOrd="0" parTransId="{85A80F40-5F51-40AC-806B-A8C817D74C06}" sibTransId="{1A334B61-9CA5-425B-9F1B-55C8F4B9E10B}"/>
    <dgm:cxn modelId="{9D7A861C-95F3-4C8E-9D51-8141F3E33795}" srcId="{861BA072-2245-4E03-987B-EF9ECFCA3157}" destId="{EC98D70A-2CBF-4602-B455-0ABEF5C671F5}" srcOrd="1" destOrd="0" parTransId="{A734B124-0079-4A98-84FC-E86ACAD75242}" sibTransId="{D8B330E4-A62B-4CF7-BCB8-5D125A705273}"/>
    <dgm:cxn modelId="{685496F2-B4B3-449B-BB36-9B4D43AA44F8}" type="presOf" srcId="{A6A4C166-7B85-4580-9491-036937549200}" destId="{7181852D-2AB5-408C-8D2A-581174373045}" srcOrd="0" destOrd="0" presId="urn:microsoft.com/office/officeart/2005/8/layout/list1"/>
    <dgm:cxn modelId="{CF6D26BB-D146-4317-BB6B-951A3B8E0119}" type="presOf" srcId="{3E542A1E-3E4E-470F-ADFC-428AB934EC40}" destId="{CD381B92-D283-4E90-97CE-000897ED0C64}" srcOrd="0" destOrd="0" presId="urn:microsoft.com/office/officeart/2005/8/layout/list1"/>
    <dgm:cxn modelId="{EC57D200-E580-48EF-A540-4CF6EBD98562}" type="presOf" srcId="{CC3D7184-DD21-4CB9-8676-84A2F603D6F4}" destId="{13A8A19E-67E0-4114-9008-3C277D93966C}" srcOrd="0" destOrd="0" presId="urn:microsoft.com/office/officeart/2005/8/layout/list1"/>
    <dgm:cxn modelId="{B726700A-975B-45B2-AA0E-517D0D06CA1C}" type="presOf" srcId="{1DB34952-61DA-46CE-955B-CD5EBED6A822}" destId="{13A8A19E-67E0-4114-9008-3C277D93966C}" srcOrd="0" destOrd="1" presId="urn:microsoft.com/office/officeart/2005/8/layout/list1"/>
    <dgm:cxn modelId="{FC3C9ED4-CEFB-439F-973D-62BA47261931}" type="presOf" srcId="{43EB3306-1AE8-4485-A18B-B3AEED2924B2}" destId="{D1ECF8C7-030D-48FA-8845-D298A367ED54}" srcOrd="1" destOrd="0" presId="urn:microsoft.com/office/officeart/2005/8/layout/list1"/>
    <dgm:cxn modelId="{5118280F-9B10-4844-92EC-4085F765A680}" srcId="{6727FF7F-DB09-4FDD-8445-8E681B107D29}" destId="{AE6F48B0-3AEB-44E5-B1FA-8A0B9955636B}" srcOrd="0" destOrd="0" parTransId="{365CF1F4-43D4-486A-93BB-3E0F475CD698}" sibTransId="{00159D0E-E039-4AF2-9B3E-F08320D82647}"/>
    <dgm:cxn modelId="{1E1D905F-BD7F-4D17-9FCA-1FDB9EC683CA}" type="presOf" srcId="{21B8968C-8823-447E-84E0-86D15E0EAD66}" destId="{D0597C5F-1093-4595-952D-5CB8551A3C27}" srcOrd="0" destOrd="0" presId="urn:microsoft.com/office/officeart/2005/8/layout/list1"/>
    <dgm:cxn modelId="{ACABF344-8BDE-43E0-97AD-D0E257B4E8D4}" srcId="{43EB3306-1AE8-4485-A18B-B3AEED2924B2}" destId="{BF51CB54-DBDA-4FDA-A983-EB048CE90461}" srcOrd="2" destOrd="0" parTransId="{A1A4A514-8320-4607-B60B-FE3231145257}" sibTransId="{055339DE-9B99-4CCF-9259-1F363040A2B7}"/>
    <dgm:cxn modelId="{8F7B94EC-18C4-4A40-980D-879C5E49784A}" type="presOf" srcId="{861BA072-2245-4E03-987B-EF9ECFCA3157}" destId="{2994DF2E-94F5-45E2-8B4D-FB462A614B0C}" srcOrd="0" destOrd="0" presId="urn:microsoft.com/office/officeart/2005/8/layout/list1"/>
    <dgm:cxn modelId="{DADEF368-68E2-4A13-9891-70B663A6C51B}" srcId="{21B8968C-8823-447E-84E0-86D15E0EAD66}" destId="{1DB34952-61DA-46CE-955B-CD5EBED6A822}" srcOrd="1" destOrd="0" parTransId="{05785AE8-5E2C-4298-9634-32F9E388FE0E}" sibTransId="{622E3EF1-71A7-4501-97DC-1C8C037264CF}"/>
    <dgm:cxn modelId="{222FAA24-F464-4DC4-A2D5-7BD94ED961B6}" type="presOf" srcId="{EC98D70A-2CBF-4602-B455-0ABEF5C671F5}" destId="{CD381B92-D283-4E90-97CE-000897ED0C64}" srcOrd="0" destOrd="1" presId="urn:microsoft.com/office/officeart/2005/8/layout/list1"/>
    <dgm:cxn modelId="{C46E01A0-1DDF-45AE-A254-5EE9BEE6DDE0}" type="presOf" srcId="{39DCB2AE-8B53-4F84-AF65-10C83F830B30}" destId="{13A8A19E-67E0-4114-9008-3C277D93966C}" srcOrd="0" destOrd="4" presId="urn:microsoft.com/office/officeart/2005/8/layout/list1"/>
    <dgm:cxn modelId="{B03468A1-4EF5-41D9-84D6-3C03B5CA176F}" type="presOf" srcId="{040278B4-D825-4ED4-808D-9F3867A06534}" destId="{CD381B92-D283-4E90-97CE-000897ED0C64}" srcOrd="0" destOrd="3" presId="urn:microsoft.com/office/officeart/2005/8/layout/list1"/>
    <dgm:cxn modelId="{F7BEDB77-B90C-45C7-A137-0C6914DC6F95}" srcId="{861BA072-2245-4E03-987B-EF9ECFCA3157}" destId="{040278B4-D825-4ED4-808D-9F3867A06534}" srcOrd="3" destOrd="0" parTransId="{AA35E930-E5CE-4813-BA5A-A1CDD26F4A53}" sibTransId="{F6326346-F5A8-4E54-932A-11E883500A70}"/>
    <dgm:cxn modelId="{F91A916B-5DDB-4E67-8928-5F2D0362E191}" type="presParOf" srcId="{7181852D-2AB5-408C-8D2A-581174373045}" destId="{56141E63-0C07-4215-99E3-E797550D6D2D}" srcOrd="0" destOrd="0" presId="urn:microsoft.com/office/officeart/2005/8/layout/list1"/>
    <dgm:cxn modelId="{4949D350-9337-42C8-91EA-B61CC997145B}" type="presParOf" srcId="{56141E63-0C07-4215-99E3-E797550D6D2D}" destId="{2994DF2E-94F5-45E2-8B4D-FB462A614B0C}" srcOrd="0" destOrd="0" presId="urn:microsoft.com/office/officeart/2005/8/layout/list1"/>
    <dgm:cxn modelId="{05B9F929-1F5B-4EFA-A28B-46F7FDA3DF04}" type="presParOf" srcId="{56141E63-0C07-4215-99E3-E797550D6D2D}" destId="{128BD970-27CE-47BE-A5B5-52638D3095A9}" srcOrd="1" destOrd="0" presId="urn:microsoft.com/office/officeart/2005/8/layout/list1"/>
    <dgm:cxn modelId="{5D190E67-7E25-4C7A-9796-6F83C8A8872A}" type="presParOf" srcId="{7181852D-2AB5-408C-8D2A-581174373045}" destId="{6D73D2E9-F187-4C01-86F0-B882D2645B5B}" srcOrd="1" destOrd="0" presId="urn:microsoft.com/office/officeart/2005/8/layout/list1"/>
    <dgm:cxn modelId="{9B4D138B-E945-4C99-A99D-1C36323753C6}" type="presParOf" srcId="{7181852D-2AB5-408C-8D2A-581174373045}" destId="{CD381B92-D283-4E90-97CE-000897ED0C64}" srcOrd="2" destOrd="0" presId="urn:microsoft.com/office/officeart/2005/8/layout/list1"/>
    <dgm:cxn modelId="{F810E00C-20E2-4A5E-9920-8005D0132B4B}" type="presParOf" srcId="{7181852D-2AB5-408C-8D2A-581174373045}" destId="{36AE4341-B2BD-4D96-A0A3-400F3854BA20}" srcOrd="3" destOrd="0" presId="urn:microsoft.com/office/officeart/2005/8/layout/list1"/>
    <dgm:cxn modelId="{EB0118DB-3A52-4675-ACBD-7F9FF9861EB3}" type="presParOf" srcId="{7181852D-2AB5-408C-8D2A-581174373045}" destId="{49C785E4-A4D2-437A-96D7-1709092A1397}" srcOrd="4" destOrd="0" presId="urn:microsoft.com/office/officeart/2005/8/layout/list1"/>
    <dgm:cxn modelId="{1F6BE3A5-1A6E-4676-9554-0C06F8196C3A}" type="presParOf" srcId="{49C785E4-A4D2-437A-96D7-1709092A1397}" destId="{A716C357-816F-4744-A3CD-19348A107BB1}" srcOrd="0" destOrd="0" presId="urn:microsoft.com/office/officeart/2005/8/layout/list1"/>
    <dgm:cxn modelId="{D704A112-2988-4935-A9A1-CEFE2838561D}" type="presParOf" srcId="{49C785E4-A4D2-437A-96D7-1709092A1397}" destId="{61CED04A-BCC5-4DEC-AFFC-957DD6882A7B}" srcOrd="1" destOrd="0" presId="urn:microsoft.com/office/officeart/2005/8/layout/list1"/>
    <dgm:cxn modelId="{1DB62235-63F1-49B8-87C0-5CDB48335BB3}" type="presParOf" srcId="{7181852D-2AB5-408C-8D2A-581174373045}" destId="{6C56257D-257E-4575-8145-A869B9F6B919}" srcOrd="5" destOrd="0" presId="urn:microsoft.com/office/officeart/2005/8/layout/list1"/>
    <dgm:cxn modelId="{FF2AB3E9-C3C1-4453-B052-383C1737F2C5}" type="presParOf" srcId="{7181852D-2AB5-408C-8D2A-581174373045}" destId="{78FB4996-BE3E-4DEB-97B1-12F4167B3A6B}" srcOrd="6" destOrd="0" presId="urn:microsoft.com/office/officeart/2005/8/layout/list1"/>
    <dgm:cxn modelId="{8B4E538E-632F-49B8-86AC-F55292BEAD7B}" type="presParOf" srcId="{7181852D-2AB5-408C-8D2A-581174373045}" destId="{4C5DD655-D082-4A19-9B4C-D496760A6E41}" srcOrd="7" destOrd="0" presId="urn:microsoft.com/office/officeart/2005/8/layout/list1"/>
    <dgm:cxn modelId="{47D9F22F-8099-4F1B-8C2D-7E876CE2C74A}" type="presParOf" srcId="{7181852D-2AB5-408C-8D2A-581174373045}" destId="{3158064F-BE8D-407D-849B-7CA8F2CA6A72}" srcOrd="8" destOrd="0" presId="urn:microsoft.com/office/officeart/2005/8/layout/list1"/>
    <dgm:cxn modelId="{7EFAB2AF-7B5A-4F85-B404-00095F1EEA1B}" type="presParOf" srcId="{3158064F-BE8D-407D-849B-7CA8F2CA6A72}" destId="{9CD50D58-95C2-41D7-98F7-D117A3228D50}" srcOrd="0" destOrd="0" presId="urn:microsoft.com/office/officeart/2005/8/layout/list1"/>
    <dgm:cxn modelId="{7AA09392-A2C6-4215-BDBF-7BD93EC22BA7}" type="presParOf" srcId="{3158064F-BE8D-407D-849B-7CA8F2CA6A72}" destId="{D1ECF8C7-030D-48FA-8845-D298A367ED54}" srcOrd="1" destOrd="0" presId="urn:microsoft.com/office/officeart/2005/8/layout/list1"/>
    <dgm:cxn modelId="{20B09775-0167-4868-BC29-98A80981A261}" type="presParOf" srcId="{7181852D-2AB5-408C-8D2A-581174373045}" destId="{CA8766A2-985D-4E54-A96A-1FCEC72F98F9}" srcOrd="9" destOrd="0" presId="urn:microsoft.com/office/officeart/2005/8/layout/list1"/>
    <dgm:cxn modelId="{DC3A975A-D483-4FFF-B115-54DD9F7BED1C}" type="presParOf" srcId="{7181852D-2AB5-408C-8D2A-581174373045}" destId="{BE489804-5090-4FCA-A883-C0B69A627860}" srcOrd="10" destOrd="0" presId="urn:microsoft.com/office/officeart/2005/8/layout/list1"/>
    <dgm:cxn modelId="{B02347BC-E00C-44BA-AD34-597D95561753}" type="presParOf" srcId="{7181852D-2AB5-408C-8D2A-581174373045}" destId="{5F254564-9AC6-46AA-A85B-F240E077621E}" srcOrd="11" destOrd="0" presId="urn:microsoft.com/office/officeart/2005/8/layout/list1"/>
    <dgm:cxn modelId="{F20EAD57-F266-49EE-8B09-42A71064C1A3}" type="presParOf" srcId="{7181852D-2AB5-408C-8D2A-581174373045}" destId="{95AAF275-A83A-4B93-A67F-1D0C77A222CC}" srcOrd="12" destOrd="0" presId="urn:microsoft.com/office/officeart/2005/8/layout/list1"/>
    <dgm:cxn modelId="{5A68B5F1-1EBA-4AA1-9DE2-A7D384374DB3}" type="presParOf" srcId="{95AAF275-A83A-4B93-A67F-1D0C77A222CC}" destId="{D0597C5F-1093-4595-952D-5CB8551A3C27}" srcOrd="0" destOrd="0" presId="urn:microsoft.com/office/officeart/2005/8/layout/list1"/>
    <dgm:cxn modelId="{8F63609B-9777-469B-835A-F5983EAC96CC}" type="presParOf" srcId="{95AAF275-A83A-4B93-A67F-1D0C77A222CC}" destId="{97642577-3E77-4FAE-99E5-079C7604D4BB}" srcOrd="1" destOrd="0" presId="urn:microsoft.com/office/officeart/2005/8/layout/list1"/>
    <dgm:cxn modelId="{A60DFD93-5996-4F55-9AA9-ABE0178D4C0F}" type="presParOf" srcId="{7181852D-2AB5-408C-8D2A-581174373045}" destId="{C115AA90-8F03-4C19-ADE0-93F3F66F295C}" srcOrd="13" destOrd="0" presId="urn:microsoft.com/office/officeart/2005/8/layout/list1"/>
    <dgm:cxn modelId="{63F53E15-24FC-424D-9822-3A293FF09BA0}" type="presParOf" srcId="{7181852D-2AB5-408C-8D2A-581174373045}" destId="{13A8A19E-67E0-4114-9008-3C277D93966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78A981-15D2-4A36-B83C-BF0FB09B1A0A}" type="doc">
      <dgm:prSet loTypeId="urn:microsoft.com/office/officeart/2005/8/layout/chevron1" loCatId="process" qsTypeId="urn:microsoft.com/office/officeart/2005/8/quickstyle/simple1" qsCatId="simple" csTypeId="urn:microsoft.com/office/officeart/2005/8/colors/colorful1" csCatId="colorful" phldr="1"/>
      <dgm:spPr/>
    </dgm:pt>
    <dgm:pt modelId="{26822E7B-1839-4AC9-85EE-2D244026AC14}">
      <dgm:prSet phldrT="[Text]" custT="1"/>
      <dgm:spPr>
        <a:xfrm>
          <a:off x="2677" y="0"/>
          <a:ext cx="1558593" cy="579120"/>
        </a:xfrm>
        <a:solidFill>
          <a:srgbClr val="00A1DE">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r>
            <a:rPr lang="en-US" sz="1050" b="1" dirty="0" smtClean="0">
              <a:solidFill>
                <a:srgbClr val="FFFFFF"/>
              </a:solidFill>
              <a:latin typeface="Verdana" panose="020B0604030504040204" pitchFamily="34" charset="0"/>
              <a:ea typeface="Verdana" panose="020B0604030504040204" pitchFamily="34" charset="0"/>
              <a:cs typeface="Verdana" panose="020B0604030504040204" pitchFamily="34" charset="0"/>
            </a:rPr>
            <a:t>Power Plant, Distribution Zones, Project Offices, RAO, Subsidiary Entities</a:t>
          </a:r>
          <a:endParaRPr lang="en-IN" sz="1050" b="1" dirty="0">
            <a:solidFill>
              <a:srgbClr val="FFFFFF"/>
            </a:solidFill>
            <a:latin typeface="Verdana" panose="020B0604030504040204" pitchFamily="34" charset="0"/>
            <a:ea typeface="Verdana" panose="020B0604030504040204" pitchFamily="34" charset="0"/>
            <a:cs typeface="Verdana" panose="020B0604030504040204" pitchFamily="34" charset="0"/>
          </a:endParaRPr>
        </a:p>
      </dgm:t>
    </dgm:pt>
    <dgm:pt modelId="{39E485B3-F4C4-4AC1-80C7-1370CA4D4677}" type="parTrans" cxnId="{FC920A0D-E269-4BB3-AF73-2813037983C0}">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DA24320A-D91C-4079-895C-79EAC1224E39}" type="sibTrans" cxnId="{FC920A0D-E269-4BB3-AF73-2813037983C0}">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0871CE9B-2CEB-4C35-8810-482BF34071E5}">
      <dgm:prSet phldrT="[Text]" custT="1"/>
      <dgm:spPr>
        <a:xfrm>
          <a:off x="1405411" y="0"/>
          <a:ext cx="1558593" cy="579120"/>
        </a:xfrm>
        <a:solidFill>
          <a:srgbClr val="72C7E7">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r>
            <a:rPr lang="en-US" sz="1050" b="1" dirty="0" smtClean="0">
              <a:solidFill>
                <a:srgbClr val="FFFFFF"/>
              </a:solidFill>
              <a:latin typeface="Verdana" panose="020B0604030504040204" pitchFamily="34" charset="0"/>
              <a:ea typeface="Verdana" panose="020B0604030504040204" pitchFamily="34" charset="0"/>
              <a:cs typeface="Verdana" panose="020B0604030504040204" pitchFamily="34" charset="0"/>
            </a:rPr>
            <a:t>Concerned Departments at the Head office</a:t>
          </a:r>
          <a:endParaRPr lang="en-IN" sz="1050" b="1" dirty="0">
            <a:solidFill>
              <a:srgbClr val="FFFFFF"/>
            </a:solidFill>
            <a:latin typeface="Verdana" panose="020B0604030504040204" pitchFamily="34" charset="0"/>
            <a:ea typeface="Verdana" panose="020B0604030504040204" pitchFamily="34" charset="0"/>
            <a:cs typeface="Verdana" panose="020B0604030504040204" pitchFamily="34" charset="0"/>
          </a:endParaRPr>
        </a:p>
      </dgm:t>
    </dgm:pt>
    <dgm:pt modelId="{529B4445-569A-48DA-A1D8-803574F4F790}" type="parTrans" cxnId="{0C485584-0F22-4E98-A89C-4C2DC26D8093}">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C52F8DDC-63A3-4C2B-B335-90BFD8C06F7E}" type="sibTrans" cxnId="{0C485584-0F22-4E98-A89C-4C2DC26D8093}">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2D366C7B-2040-4E88-81BF-C05E4A70F632}">
      <dgm:prSet phldrT="[Text]" custT="1"/>
      <dgm:spPr>
        <a:xfrm>
          <a:off x="2808145" y="0"/>
          <a:ext cx="1558593" cy="579120"/>
        </a:xfrm>
        <a:solidFill>
          <a:srgbClr val="3C8A2E">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r>
            <a:rPr lang="en-US" sz="1050" b="1" dirty="0" smtClean="0">
              <a:solidFill>
                <a:srgbClr val="FFFFFF"/>
              </a:solidFill>
              <a:latin typeface="Verdana" panose="020B0604030504040204" pitchFamily="34" charset="0"/>
              <a:ea typeface="Verdana" panose="020B0604030504040204" pitchFamily="34" charset="0"/>
              <a:cs typeface="Verdana" panose="020B0604030504040204" pitchFamily="34" charset="0"/>
            </a:rPr>
            <a:t>Corporate MIS Department </a:t>
          </a:r>
          <a:endParaRPr lang="en-IN" sz="1050" b="1" dirty="0">
            <a:solidFill>
              <a:srgbClr val="FFFFFF"/>
            </a:solidFill>
            <a:latin typeface="Verdana" panose="020B0604030504040204" pitchFamily="34" charset="0"/>
            <a:ea typeface="Verdana" panose="020B0604030504040204" pitchFamily="34" charset="0"/>
            <a:cs typeface="Verdana" panose="020B0604030504040204" pitchFamily="34" charset="0"/>
          </a:endParaRPr>
        </a:p>
      </dgm:t>
    </dgm:pt>
    <dgm:pt modelId="{7BA89CE5-6D29-4EFB-B483-88C9293845FB}" type="parTrans" cxnId="{DF0C9440-41A3-46DD-B8AA-6E4A856A6F24}">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6546B6CB-4ECB-498F-9A8F-C60B831E4656}" type="sibTrans" cxnId="{DF0C9440-41A3-46DD-B8AA-6E4A856A6F24}">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FF865DA9-CE85-4319-829B-41C3E7065B4E}">
      <dgm:prSet phldrT="[Text]" custT="1"/>
      <dgm:spPr>
        <a:xfrm>
          <a:off x="4210879" y="0"/>
          <a:ext cx="1558593" cy="579120"/>
        </a:xfrm>
        <a:solidFill>
          <a:srgbClr val="C9DD03">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r>
            <a:rPr lang="en-US" sz="1050" b="1" dirty="0" smtClean="0">
              <a:solidFill>
                <a:srgbClr val="FFFFFF"/>
              </a:solidFill>
              <a:latin typeface="Verdana" panose="020B0604030504040204" pitchFamily="34" charset="0"/>
              <a:ea typeface="Verdana" panose="020B0604030504040204" pitchFamily="34" charset="0"/>
              <a:cs typeface="Verdana" panose="020B0604030504040204" pitchFamily="34" charset="0"/>
            </a:rPr>
            <a:t>Chairman, Holding Company</a:t>
          </a:r>
          <a:endParaRPr lang="en-IN" sz="1050" b="1" dirty="0">
            <a:solidFill>
              <a:srgbClr val="FFFFFF"/>
            </a:solidFill>
            <a:latin typeface="Verdana" panose="020B0604030504040204" pitchFamily="34" charset="0"/>
            <a:ea typeface="Verdana" panose="020B0604030504040204" pitchFamily="34" charset="0"/>
            <a:cs typeface="Verdana" panose="020B0604030504040204" pitchFamily="34" charset="0"/>
          </a:endParaRPr>
        </a:p>
      </dgm:t>
    </dgm:pt>
    <dgm:pt modelId="{BA00D1CE-8848-42B3-A125-B5A6E262DE5C}" type="parTrans" cxnId="{A35916AB-A0FA-4FA0-A201-F8C74C563E81}">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6CDB49BC-F3EB-4EED-9DC8-B42DED34CB08}" type="sibTrans" cxnId="{A35916AB-A0FA-4FA0-A201-F8C74C563E81}">
      <dgm:prSet/>
      <dgm:spPr/>
      <dgm:t>
        <a:bodyPr/>
        <a:lstStyle/>
        <a:p>
          <a:endParaRPr lang="en-IN" sz="3600" b="1">
            <a:latin typeface="Verdana" panose="020B0604030504040204" pitchFamily="34" charset="0"/>
            <a:ea typeface="Verdana" panose="020B0604030504040204" pitchFamily="34" charset="0"/>
            <a:cs typeface="Verdana" panose="020B0604030504040204" pitchFamily="34" charset="0"/>
          </a:endParaRPr>
        </a:p>
      </dgm:t>
    </dgm:pt>
    <dgm:pt modelId="{A191B972-729F-4BED-9677-D91A23CCE5D6}" type="pres">
      <dgm:prSet presAssocID="{4878A981-15D2-4A36-B83C-BF0FB09B1A0A}" presName="Name0" presStyleCnt="0">
        <dgm:presLayoutVars>
          <dgm:dir/>
          <dgm:animLvl val="lvl"/>
          <dgm:resizeHandles val="exact"/>
        </dgm:presLayoutVars>
      </dgm:prSet>
      <dgm:spPr/>
    </dgm:pt>
    <dgm:pt modelId="{40D4C9EB-6CD9-4853-B3D8-0DFDF6DDF0A7}" type="pres">
      <dgm:prSet presAssocID="{26822E7B-1839-4AC9-85EE-2D244026AC14}" presName="parTxOnly" presStyleLbl="node1" presStyleIdx="0" presStyleCnt="4">
        <dgm:presLayoutVars>
          <dgm:chMax val="0"/>
          <dgm:chPref val="0"/>
          <dgm:bulletEnabled val="1"/>
        </dgm:presLayoutVars>
      </dgm:prSet>
      <dgm:spPr>
        <a:prstGeom prst="chevron">
          <a:avLst/>
        </a:prstGeom>
      </dgm:spPr>
      <dgm:t>
        <a:bodyPr/>
        <a:lstStyle/>
        <a:p>
          <a:endParaRPr lang="en-IN"/>
        </a:p>
      </dgm:t>
    </dgm:pt>
    <dgm:pt modelId="{F8296C0E-E269-4393-B998-D0ED4DCB5864}" type="pres">
      <dgm:prSet presAssocID="{DA24320A-D91C-4079-895C-79EAC1224E39}" presName="parTxOnlySpace" presStyleCnt="0"/>
      <dgm:spPr/>
    </dgm:pt>
    <dgm:pt modelId="{FBE16E78-648F-4B85-A10F-BE008F484DD4}" type="pres">
      <dgm:prSet presAssocID="{0871CE9B-2CEB-4C35-8810-482BF34071E5}" presName="parTxOnly" presStyleLbl="node1" presStyleIdx="1" presStyleCnt="4">
        <dgm:presLayoutVars>
          <dgm:chMax val="0"/>
          <dgm:chPref val="0"/>
          <dgm:bulletEnabled val="1"/>
        </dgm:presLayoutVars>
      </dgm:prSet>
      <dgm:spPr>
        <a:prstGeom prst="chevron">
          <a:avLst/>
        </a:prstGeom>
      </dgm:spPr>
      <dgm:t>
        <a:bodyPr/>
        <a:lstStyle/>
        <a:p>
          <a:endParaRPr lang="en-IN"/>
        </a:p>
      </dgm:t>
    </dgm:pt>
    <dgm:pt modelId="{98CAD031-5507-4C62-ABCE-9BFB58E6CAB1}" type="pres">
      <dgm:prSet presAssocID="{C52F8DDC-63A3-4C2B-B335-90BFD8C06F7E}" presName="parTxOnlySpace" presStyleCnt="0"/>
      <dgm:spPr/>
    </dgm:pt>
    <dgm:pt modelId="{188019EC-1B0B-417F-80E8-9F82D84D1534}" type="pres">
      <dgm:prSet presAssocID="{2D366C7B-2040-4E88-81BF-C05E4A70F632}" presName="parTxOnly" presStyleLbl="node1" presStyleIdx="2" presStyleCnt="4">
        <dgm:presLayoutVars>
          <dgm:chMax val="0"/>
          <dgm:chPref val="0"/>
          <dgm:bulletEnabled val="1"/>
        </dgm:presLayoutVars>
      </dgm:prSet>
      <dgm:spPr>
        <a:prstGeom prst="chevron">
          <a:avLst/>
        </a:prstGeom>
      </dgm:spPr>
      <dgm:t>
        <a:bodyPr/>
        <a:lstStyle/>
        <a:p>
          <a:endParaRPr lang="en-IN"/>
        </a:p>
      </dgm:t>
    </dgm:pt>
    <dgm:pt modelId="{2DE86C8A-1A15-4B15-9606-878E154FCE17}" type="pres">
      <dgm:prSet presAssocID="{6546B6CB-4ECB-498F-9A8F-C60B831E4656}" presName="parTxOnlySpace" presStyleCnt="0"/>
      <dgm:spPr/>
    </dgm:pt>
    <dgm:pt modelId="{0CA10D79-8371-499E-ACA1-A8D6B8B2E7BC}" type="pres">
      <dgm:prSet presAssocID="{FF865DA9-CE85-4319-829B-41C3E7065B4E}" presName="parTxOnly" presStyleLbl="node1" presStyleIdx="3" presStyleCnt="4">
        <dgm:presLayoutVars>
          <dgm:chMax val="0"/>
          <dgm:chPref val="0"/>
          <dgm:bulletEnabled val="1"/>
        </dgm:presLayoutVars>
      </dgm:prSet>
      <dgm:spPr>
        <a:prstGeom prst="chevron">
          <a:avLst/>
        </a:prstGeom>
      </dgm:spPr>
      <dgm:t>
        <a:bodyPr/>
        <a:lstStyle/>
        <a:p>
          <a:endParaRPr lang="en-IN"/>
        </a:p>
      </dgm:t>
    </dgm:pt>
  </dgm:ptLst>
  <dgm:cxnLst>
    <dgm:cxn modelId="{61992FBA-2812-4F07-9DD2-BF0F36A75DE8}" type="presOf" srcId="{FF865DA9-CE85-4319-829B-41C3E7065B4E}" destId="{0CA10D79-8371-499E-ACA1-A8D6B8B2E7BC}" srcOrd="0" destOrd="0" presId="urn:microsoft.com/office/officeart/2005/8/layout/chevron1"/>
    <dgm:cxn modelId="{0C485584-0F22-4E98-A89C-4C2DC26D8093}" srcId="{4878A981-15D2-4A36-B83C-BF0FB09B1A0A}" destId="{0871CE9B-2CEB-4C35-8810-482BF34071E5}" srcOrd="1" destOrd="0" parTransId="{529B4445-569A-48DA-A1D8-803574F4F790}" sibTransId="{C52F8DDC-63A3-4C2B-B335-90BFD8C06F7E}"/>
    <dgm:cxn modelId="{A35916AB-A0FA-4FA0-A201-F8C74C563E81}" srcId="{4878A981-15D2-4A36-B83C-BF0FB09B1A0A}" destId="{FF865DA9-CE85-4319-829B-41C3E7065B4E}" srcOrd="3" destOrd="0" parTransId="{BA00D1CE-8848-42B3-A125-B5A6E262DE5C}" sibTransId="{6CDB49BC-F3EB-4EED-9DC8-B42DED34CB08}"/>
    <dgm:cxn modelId="{FC920A0D-E269-4BB3-AF73-2813037983C0}" srcId="{4878A981-15D2-4A36-B83C-BF0FB09B1A0A}" destId="{26822E7B-1839-4AC9-85EE-2D244026AC14}" srcOrd="0" destOrd="0" parTransId="{39E485B3-F4C4-4AC1-80C7-1370CA4D4677}" sibTransId="{DA24320A-D91C-4079-895C-79EAC1224E39}"/>
    <dgm:cxn modelId="{AD3A1385-1532-4906-B0C2-4E1F8BBA1E55}" type="presOf" srcId="{26822E7B-1839-4AC9-85EE-2D244026AC14}" destId="{40D4C9EB-6CD9-4853-B3D8-0DFDF6DDF0A7}" srcOrd="0" destOrd="0" presId="urn:microsoft.com/office/officeart/2005/8/layout/chevron1"/>
    <dgm:cxn modelId="{29A9AA74-F656-4941-ADBC-79613084217C}" type="presOf" srcId="{2D366C7B-2040-4E88-81BF-C05E4A70F632}" destId="{188019EC-1B0B-417F-80E8-9F82D84D1534}" srcOrd="0" destOrd="0" presId="urn:microsoft.com/office/officeart/2005/8/layout/chevron1"/>
    <dgm:cxn modelId="{A56318C5-4DAA-4A17-9074-C87DE42DB4BE}" type="presOf" srcId="{0871CE9B-2CEB-4C35-8810-482BF34071E5}" destId="{FBE16E78-648F-4B85-A10F-BE008F484DD4}" srcOrd="0" destOrd="0" presId="urn:microsoft.com/office/officeart/2005/8/layout/chevron1"/>
    <dgm:cxn modelId="{DF0C9440-41A3-46DD-B8AA-6E4A856A6F24}" srcId="{4878A981-15D2-4A36-B83C-BF0FB09B1A0A}" destId="{2D366C7B-2040-4E88-81BF-C05E4A70F632}" srcOrd="2" destOrd="0" parTransId="{7BA89CE5-6D29-4EFB-B483-88C9293845FB}" sibTransId="{6546B6CB-4ECB-498F-9A8F-C60B831E4656}"/>
    <dgm:cxn modelId="{B4AB01F7-57EA-44C4-A8A0-810A533BB759}" type="presOf" srcId="{4878A981-15D2-4A36-B83C-BF0FB09B1A0A}" destId="{A191B972-729F-4BED-9677-D91A23CCE5D6}" srcOrd="0" destOrd="0" presId="urn:microsoft.com/office/officeart/2005/8/layout/chevron1"/>
    <dgm:cxn modelId="{2A11D28F-561F-4E76-999F-20AE340FAF07}" type="presParOf" srcId="{A191B972-729F-4BED-9677-D91A23CCE5D6}" destId="{40D4C9EB-6CD9-4853-B3D8-0DFDF6DDF0A7}" srcOrd="0" destOrd="0" presId="urn:microsoft.com/office/officeart/2005/8/layout/chevron1"/>
    <dgm:cxn modelId="{A7724EAF-1B52-4BF6-BBB9-2DBD5A469F80}" type="presParOf" srcId="{A191B972-729F-4BED-9677-D91A23CCE5D6}" destId="{F8296C0E-E269-4393-B998-D0ED4DCB5864}" srcOrd="1" destOrd="0" presId="urn:microsoft.com/office/officeart/2005/8/layout/chevron1"/>
    <dgm:cxn modelId="{91F95ED5-6732-48FB-8DD0-D3E3971E958D}" type="presParOf" srcId="{A191B972-729F-4BED-9677-D91A23CCE5D6}" destId="{FBE16E78-648F-4B85-A10F-BE008F484DD4}" srcOrd="2" destOrd="0" presId="urn:microsoft.com/office/officeart/2005/8/layout/chevron1"/>
    <dgm:cxn modelId="{A7A8834B-8A5A-4259-A299-963E8ABEE7C6}" type="presParOf" srcId="{A191B972-729F-4BED-9677-D91A23CCE5D6}" destId="{98CAD031-5507-4C62-ABCE-9BFB58E6CAB1}" srcOrd="3" destOrd="0" presId="urn:microsoft.com/office/officeart/2005/8/layout/chevron1"/>
    <dgm:cxn modelId="{C8A9BC2D-D9C9-42F9-A5D2-62C767B97E82}" type="presParOf" srcId="{A191B972-729F-4BED-9677-D91A23CCE5D6}" destId="{188019EC-1B0B-417F-80E8-9F82D84D1534}" srcOrd="4" destOrd="0" presId="urn:microsoft.com/office/officeart/2005/8/layout/chevron1"/>
    <dgm:cxn modelId="{9653B58A-7FEF-4B59-833B-8A09944D4A45}" type="presParOf" srcId="{A191B972-729F-4BED-9677-D91A23CCE5D6}" destId="{2DE86C8A-1A15-4B15-9606-878E154FCE17}" srcOrd="5" destOrd="0" presId="urn:microsoft.com/office/officeart/2005/8/layout/chevron1"/>
    <dgm:cxn modelId="{0BA98476-93F8-44DD-8D52-F8757EC76655}" type="presParOf" srcId="{A191B972-729F-4BED-9677-D91A23CCE5D6}" destId="{0CA10D79-8371-499E-ACA1-A8D6B8B2E7BC}"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Finalization of industry structure and Amendment of legal framework</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BF4626AB-9CB3-4EC9-82AA-0AF37D21F7A8}">
      <dgm:prSet phldrT="[Text]"/>
      <dgm:spPr/>
      <dgm:t>
        <a:bodyPr/>
        <a:lstStyle/>
        <a:p>
          <a:r>
            <a:rPr lang="en-US"/>
            <a:t>Approval of the Govt. of Bangladesh and BERC on the industry structure</a:t>
          </a:r>
        </a:p>
      </dgm:t>
    </dgm:pt>
    <dgm:pt modelId="{90DBE59A-FB90-4404-AFA0-13CA3F79D5EF}" type="parTrans" cxnId="{E92C78EC-FFC9-4E45-BAF4-DBF1044E5552}">
      <dgm:prSet/>
      <dgm:spPr/>
      <dgm:t>
        <a:bodyPr/>
        <a:lstStyle/>
        <a:p>
          <a:endParaRPr lang="en-US"/>
        </a:p>
      </dgm:t>
    </dgm:pt>
    <dgm:pt modelId="{278D66F6-69FF-4B29-B9E2-013619C1E045}" type="sibTrans" cxnId="{E92C78EC-FFC9-4E45-BAF4-DBF1044E5552}">
      <dgm:prSet/>
      <dgm:spPr/>
      <dgm:t>
        <a:bodyPr/>
        <a:lstStyle/>
        <a:p>
          <a:endParaRPr lang="en-US"/>
        </a:p>
      </dgm:t>
    </dgm:pt>
    <dgm:pt modelId="{5074504D-B054-44B7-AF1D-0C421DB29C8C}">
      <dgm:prSet phldrT="[Text]"/>
      <dgm:spPr/>
      <dgm:t>
        <a:bodyPr/>
        <a:lstStyle/>
        <a:p>
          <a:r>
            <a:rPr lang="en-US" dirty="0"/>
            <a:t>Formation of holding company</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FF562A3D-0790-46FE-A9DF-1B423F95E76F}">
      <dgm:prSet phldrT="[Text]"/>
      <dgm:spPr/>
      <dgm:t>
        <a:bodyPr/>
        <a:lstStyle/>
        <a:p>
          <a:r>
            <a:rPr lang="en-US"/>
            <a:t>Finalization of MoA and AoA</a:t>
          </a:r>
        </a:p>
      </dgm:t>
    </dgm:pt>
    <dgm:pt modelId="{A0D65B69-5380-4AF8-893D-A151F73F7D3E}" type="parTrans" cxnId="{DF9099EB-9CCD-490E-8FD6-FA9599863B2A}">
      <dgm:prSet/>
      <dgm:spPr/>
      <dgm:t>
        <a:bodyPr/>
        <a:lstStyle/>
        <a:p>
          <a:endParaRPr lang="en-US"/>
        </a:p>
      </dgm:t>
    </dgm:pt>
    <dgm:pt modelId="{FD4B70E3-BC58-436B-8774-53FB1C615077}" type="sibTrans" cxnId="{DF9099EB-9CCD-490E-8FD6-FA9599863B2A}">
      <dgm:prSet/>
      <dgm:spPr/>
      <dgm:t>
        <a:bodyPr/>
        <a:lstStyle/>
        <a:p>
          <a:endParaRPr lang="en-US"/>
        </a:p>
      </dgm:t>
    </dgm:pt>
    <dgm:pt modelId="{8A322586-3EAE-46BF-A0A2-B543FC172547}">
      <dgm:prSet phldrT="[Text]"/>
      <dgm:spPr/>
      <dgm:t>
        <a:bodyPr/>
        <a:lstStyle/>
        <a:p>
          <a:r>
            <a:rPr lang="en-US"/>
            <a:t>Preparation of transfer scheme</a:t>
          </a:r>
        </a:p>
      </dgm:t>
    </dgm:pt>
    <dgm:pt modelId="{B778E20A-7A2A-41B5-9D29-0D0BE2AA1541}" type="parTrans" cxnId="{4310C910-09CD-497B-8433-158C2EF562C9}">
      <dgm:prSet/>
      <dgm:spPr/>
      <dgm:t>
        <a:bodyPr/>
        <a:lstStyle/>
        <a:p>
          <a:endParaRPr lang="en-US"/>
        </a:p>
      </dgm:t>
    </dgm:pt>
    <dgm:pt modelId="{C8CF6BBD-5340-437F-A4A8-2E47EFBD8A2E}" type="sibTrans" cxnId="{4310C910-09CD-497B-8433-158C2EF562C9}">
      <dgm:prSet/>
      <dgm:spPr/>
      <dgm:t>
        <a:bodyPr/>
        <a:lstStyle/>
        <a:p>
          <a:endParaRPr lang="en-US"/>
        </a:p>
      </dgm:t>
    </dgm:pt>
    <dgm:pt modelId="{FF327D8F-51CA-44D7-939A-090B36C17F4D}">
      <dgm:prSet phldrT="[Text]"/>
      <dgm:spPr/>
      <dgm:t>
        <a:bodyPr/>
        <a:lstStyle/>
        <a:p>
          <a:r>
            <a:rPr lang="en-US"/>
            <a:t>GOB approval of the FRRP</a:t>
          </a:r>
        </a:p>
      </dgm:t>
    </dgm:pt>
    <dgm:pt modelId="{3331B1EB-6C9B-47B6-8270-B80845BF7D8D}" type="parTrans" cxnId="{C2B17D78-0FDC-4050-87A9-CDB9B07A2096}">
      <dgm:prSet/>
      <dgm:spPr/>
      <dgm:t>
        <a:bodyPr/>
        <a:lstStyle/>
        <a:p>
          <a:endParaRPr lang="en-US"/>
        </a:p>
      </dgm:t>
    </dgm:pt>
    <dgm:pt modelId="{DDE73F1C-4B20-4FF2-8616-A49C3B408829}" type="sibTrans" cxnId="{C2B17D78-0FDC-4050-87A9-CDB9B07A2096}">
      <dgm:prSet/>
      <dgm:spPr/>
      <dgm:t>
        <a:bodyPr/>
        <a:lstStyle/>
        <a:p>
          <a:endParaRPr lang="en-US"/>
        </a:p>
      </dgm:t>
    </dgm:pt>
    <dgm:pt modelId="{094DAE0D-FC61-4111-AD70-962DAC710462}">
      <dgm:prSet phldrT="[Text]"/>
      <dgm:spPr/>
      <dgm:t>
        <a:bodyPr/>
        <a:lstStyle/>
        <a:p>
          <a:r>
            <a:rPr lang="en-US"/>
            <a:t>Registration of company under the Companies Act</a:t>
          </a:r>
        </a:p>
      </dgm:t>
    </dgm:pt>
    <dgm:pt modelId="{81F39051-25EA-4870-9C0D-6B058AF76F81}" type="parTrans" cxnId="{57F66002-70C7-4539-AF7C-33E4E63967F0}">
      <dgm:prSet/>
      <dgm:spPr/>
      <dgm:t>
        <a:bodyPr/>
        <a:lstStyle/>
        <a:p>
          <a:endParaRPr lang="en-US"/>
        </a:p>
      </dgm:t>
    </dgm:pt>
    <dgm:pt modelId="{9897AE09-9097-45D4-81BD-85925F470CB9}" type="sibTrans" cxnId="{57F66002-70C7-4539-AF7C-33E4E63967F0}">
      <dgm:prSet/>
      <dgm:spPr/>
      <dgm:t>
        <a:bodyPr/>
        <a:lstStyle/>
        <a:p>
          <a:endParaRPr lang="en-US"/>
        </a:p>
      </dgm:t>
    </dgm:pt>
    <dgm:pt modelId="{7F204F42-DD22-4AE7-82E4-397095235C3F}">
      <dgm:prSet phldrT="[Text]"/>
      <dgm:spPr/>
      <dgm:t>
        <a:bodyPr/>
        <a:lstStyle/>
        <a:p>
          <a:r>
            <a:rPr lang="en-US"/>
            <a:t>Preparation of opening balance sheet</a:t>
          </a:r>
        </a:p>
      </dgm:t>
    </dgm:pt>
    <dgm:pt modelId="{73DB1696-A0B2-47EA-87FB-D24D9EDFD744}" type="parTrans" cxnId="{1DC9F58B-0BAF-4080-8824-55D0BEB86F62}">
      <dgm:prSet/>
      <dgm:spPr/>
      <dgm:t>
        <a:bodyPr/>
        <a:lstStyle/>
        <a:p>
          <a:endParaRPr lang="en-US"/>
        </a:p>
      </dgm:t>
    </dgm:pt>
    <dgm:pt modelId="{6172C205-C015-4067-9B77-3E1AFB804E24}" type="sibTrans" cxnId="{1DC9F58B-0BAF-4080-8824-55D0BEB86F62}">
      <dgm:prSet/>
      <dgm:spPr/>
      <dgm:t>
        <a:bodyPr/>
        <a:lstStyle/>
        <a:p>
          <a:endParaRPr lang="en-US"/>
        </a:p>
      </dgm:t>
    </dgm:pt>
    <dgm:pt modelId="{F1AAF075-EC77-4E27-881F-C57243E1DB69}">
      <dgm:prSet phldrT="[Text]"/>
      <dgm:spPr/>
      <dgm:t>
        <a:bodyPr/>
        <a:lstStyle/>
        <a:p>
          <a:r>
            <a:rPr lang="en-US"/>
            <a:t>Preparation of provisional transfer scheme</a:t>
          </a:r>
        </a:p>
      </dgm:t>
    </dgm:pt>
    <dgm:pt modelId="{6244C0F4-A7D2-4323-9FFB-3DB8CB5DC904}" type="parTrans" cxnId="{DD2C4E84-48DE-4C61-A639-B605D65046B4}">
      <dgm:prSet/>
      <dgm:spPr/>
      <dgm:t>
        <a:bodyPr/>
        <a:lstStyle/>
        <a:p>
          <a:endParaRPr lang="en-US"/>
        </a:p>
      </dgm:t>
    </dgm:pt>
    <dgm:pt modelId="{C2DE0930-F2B6-42EC-9CEC-2E20761833BF}" type="sibTrans" cxnId="{DD2C4E84-48DE-4C61-A639-B605D65046B4}">
      <dgm:prSet/>
      <dgm:spPr/>
      <dgm:t>
        <a:bodyPr/>
        <a:lstStyle/>
        <a:p>
          <a:endParaRPr lang="en-US"/>
        </a:p>
      </dgm:t>
    </dgm:pt>
    <dgm:pt modelId="{2CB4022D-25B8-4D84-9D57-291B301E40E2}">
      <dgm:prSet phldrT="[Text]"/>
      <dgm:spPr/>
      <dgm:t>
        <a:bodyPr/>
        <a:lstStyle/>
        <a:p>
          <a:r>
            <a:rPr lang="en-US"/>
            <a:t>Finalization of transfer scheme</a:t>
          </a:r>
        </a:p>
      </dgm:t>
    </dgm:pt>
    <dgm:pt modelId="{872376BE-30E8-4763-82C8-76AC16F68F7C}" type="parTrans" cxnId="{7338E0C9-F2E8-4E06-877C-3CCF7180CDCC}">
      <dgm:prSet/>
      <dgm:spPr/>
      <dgm:t>
        <a:bodyPr/>
        <a:lstStyle/>
        <a:p>
          <a:endParaRPr lang="en-US"/>
        </a:p>
      </dgm:t>
    </dgm:pt>
    <dgm:pt modelId="{D72C0507-7710-41AF-BF45-2C64E7F9E65E}" type="sibTrans" cxnId="{7338E0C9-F2E8-4E06-877C-3CCF7180CDCC}">
      <dgm:prSet/>
      <dgm:spPr/>
      <dgm:t>
        <a:bodyPr/>
        <a:lstStyle/>
        <a:p>
          <a:endParaRPr lang="en-US"/>
        </a:p>
      </dgm:t>
    </dgm:pt>
    <dgm:pt modelId="{61729176-B5BA-4BDB-9583-93A34EF247B4}">
      <dgm:prSet phldrT="[Text]"/>
      <dgm:spPr/>
      <dgm:t>
        <a:bodyPr/>
        <a:lstStyle/>
        <a:p>
          <a:r>
            <a:rPr lang="en-US" dirty="0"/>
            <a:t>Procurement of Certificate of Commencement of Business</a:t>
          </a:r>
        </a:p>
      </dgm:t>
    </dgm:pt>
    <dgm:pt modelId="{605BA3E0-D6D3-4380-9DFD-4EC95A802425}" type="parTrans" cxnId="{6F8C2635-8C7A-4C87-B40A-2B361647061C}">
      <dgm:prSet/>
      <dgm:spPr/>
      <dgm:t>
        <a:bodyPr/>
        <a:lstStyle/>
        <a:p>
          <a:endParaRPr lang="en-US"/>
        </a:p>
      </dgm:t>
    </dgm:pt>
    <dgm:pt modelId="{B1D5AEB3-F3B3-4D74-8651-C75DF01DACDA}" type="sibTrans" cxnId="{6F8C2635-8C7A-4C87-B40A-2B361647061C}">
      <dgm:prSet/>
      <dgm:spPr/>
      <dgm:t>
        <a:bodyPr/>
        <a:lstStyle/>
        <a:p>
          <a:endParaRPr lang="en-US"/>
        </a:p>
      </dgm:t>
    </dgm:pt>
    <dgm:pt modelId="{E69ACDC2-C996-4D5C-8482-F62CA528104E}">
      <dgm:prSet phldrT="[Text]"/>
      <dgm:spPr/>
      <dgm:t>
        <a:bodyPr/>
        <a:lstStyle/>
        <a:p>
          <a:r>
            <a:rPr lang="en-US" dirty="0"/>
            <a:t>Finalization of common seal</a:t>
          </a:r>
        </a:p>
      </dgm:t>
    </dgm:pt>
    <dgm:pt modelId="{AA39C291-15D6-45A5-A32F-D63E534794B6}" type="parTrans" cxnId="{C91DB3B2-C840-47E8-8046-556665E1C9A3}">
      <dgm:prSet/>
      <dgm:spPr/>
      <dgm:t>
        <a:bodyPr/>
        <a:lstStyle/>
        <a:p>
          <a:endParaRPr lang="en-US"/>
        </a:p>
      </dgm:t>
    </dgm:pt>
    <dgm:pt modelId="{03D1C5B2-D3B3-4724-B65E-FEE8811051FB}" type="sibTrans" cxnId="{C91DB3B2-C840-47E8-8046-556665E1C9A3}">
      <dgm:prSet/>
      <dgm:spPr/>
      <dgm:t>
        <a:bodyPr/>
        <a:lstStyle/>
        <a:p>
          <a:endParaRPr lang="en-US"/>
        </a:p>
      </dgm:t>
    </dgm:pt>
    <dgm:pt modelId="{F3FF4E99-FA90-4229-B7AE-BD1782764766}">
      <dgm:prSet phldrT="[Text]"/>
      <dgm:spPr/>
      <dgm:t>
        <a:bodyPr/>
        <a:lstStyle/>
        <a:p>
          <a:r>
            <a:rPr lang="en-US"/>
            <a:t>Decision on the transfer of the terminal liabilities (if required under the prevailing legal framework)</a:t>
          </a:r>
        </a:p>
      </dgm:t>
    </dgm:pt>
    <dgm:pt modelId="{C6CEED83-CD12-4397-ACF7-FF8255AF6FC0}" type="parTrans" cxnId="{34C55238-AD53-47F1-9D52-230AADBC9FAD}">
      <dgm:prSet/>
      <dgm:spPr/>
      <dgm:t>
        <a:bodyPr/>
        <a:lstStyle/>
        <a:p>
          <a:endParaRPr lang="en-US"/>
        </a:p>
      </dgm:t>
    </dgm:pt>
    <dgm:pt modelId="{5CD7CBC5-8564-4E3B-BAD5-F710E5E812E1}" type="sibTrans" cxnId="{34C55238-AD53-47F1-9D52-230AADBC9FAD}">
      <dgm:prSet/>
      <dgm:spPr/>
      <dgm:t>
        <a:bodyPr/>
        <a:lstStyle/>
        <a:p>
          <a:endParaRPr lang="en-US"/>
        </a:p>
      </dgm:t>
    </dgm:pt>
    <dgm:pt modelId="{1481EC13-C855-4647-9533-F51BBC835616}">
      <dgm:prSet phldrT="[Text]"/>
      <dgm:spPr/>
      <dgm:t>
        <a:bodyPr/>
        <a:lstStyle/>
        <a:p>
          <a:r>
            <a:rPr lang="en-US"/>
            <a:t>Amendment of PO59 or formulation of Bangladesh Power Sector Reform Act</a:t>
          </a:r>
        </a:p>
      </dgm:t>
    </dgm:pt>
    <dgm:pt modelId="{05DF1037-EA96-4DA4-A1E5-C67C8D679106}" type="parTrans" cxnId="{AD71B76C-F108-4010-9C6F-0EBF5AC1533E}">
      <dgm:prSet/>
      <dgm:spPr/>
      <dgm:t>
        <a:bodyPr/>
        <a:lstStyle/>
        <a:p>
          <a:endParaRPr lang="en-US"/>
        </a:p>
      </dgm:t>
    </dgm:pt>
    <dgm:pt modelId="{C64B09CF-5336-47E8-9A85-A5FC35C9D840}" type="sibTrans" cxnId="{AD71B76C-F108-4010-9C6F-0EBF5AC1533E}">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83C7BD17-838E-4699-83E3-5B3822925BEB}" type="pres">
      <dgm:prSet presAssocID="{8A322586-3EAE-46BF-A0A2-B543FC172547}" presName="composite" presStyleCnt="0"/>
      <dgm:spPr/>
    </dgm:pt>
    <dgm:pt modelId="{6B9023C6-72FD-4035-AA4C-2587D11CC782}" type="pres">
      <dgm:prSet presAssocID="{8A322586-3EAE-46BF-A0A2-B543FC172547}" presName="parTx" presStyleLbl="node1" presStyleIdx="1" presStyleCnt="3">
        <dgm:presLayoutVars>
          <dgm:chMax val="0"/>
          <dgm:chPref val="0"/>
          <dgm:bulletEnabled val="1"/>
        </dgm:presLayoutVars>
      </dgm:prSet>
      <dgm:spPr/>
      <dgm:t>
        <a:bodyPr/>
        <a:lstStyle/>
        <a:p>
          <a:endParaRPr lang="en-US"/>
        </a:p>
      </dgm:t>
    </dgm:pt>
    <dgm:pt modelId="{6D0727A4-F90B-4FFC-BFFD-513C5448BB49}" type="pres">
      <dgm:prSet presAssocID="{8A322586-3EAE-46BF-A0A2-B543FC172547}" presName="parSh" presStyleLbl="node1" presStyleIdx="2" presStyleCnt="3"/>
      <dgm:spPr/>
      <dgm:t>
        <a:bodyPr/>
        <a:lstStyle/>
        <a:p>
          <a:endParaRPr lang="en-US"/>
        </a:p>
      </dgm:t>
    </dgm:pt>
    <dgm:pt modelId="{9C734644-8D7B-452D-99C4-DBC3818A5A71}" type="pres">
      <dgm:prSet presAssocID="{8A322586-3EAE-46BF-A0A2-B543FC172547}" presName="desTx" presStyleLbl="fgAcc1" presStyleIdx="2" presStyleCnt="3">
        <dgm:presLayoutVars>
          <dgm:bulletEnabled val="1"/>
        </dgm:presLayoutVars>
      </dgm:prSet>
      <dgm:spPr/>
      <dgm:t>
        <a:bodyPr/>
        <a:lstStyle/>
        <a:p>
          <a:endParaRPr lang="en-US"/>
        </a:p>
      </dgm:t>
    </dgm:pt>
  </dgm:ptLst>
  <dgm:cxnLst>
    <dgm:cxn modelId="{288D6556-D78D-42E2-834B-00062A324825}" srcId="{72C595F7-F9FE-4C3C-B546-D393C43DA1D5}" destId="{5074504D-B054-44B7-AF1D-0C421DB29C8C}" srcOrd="1" destOrd="0" parTransId="{38550204-A29D-4D29-89AB-206E975EF185}" sibTransId="{836E2BBF-AE6F-44B9-AD26-342382726746}"/>
    <dgm:cxn modelId="{03B3A360-A1CF-43D4-B94B-D94654553541}" type="presOf" srcId="{BF4626AB-9CB3-4EC9-82AA-0AF37D21F7A8}" destId="{7E8F3D55-80E5-4F13-9459-E39284D0328D}" srcOrd="0" destOrd="0" presId="urn:microsoft.com/office/officeart/2005/8/layout/process3"/>
    <dgm:cxn modelId="{FAE2F80E-3525-4710-A385-5F2DBB8CC8C5}" type="presOf" srcId="{03454651-1876-463C-891F-DBFB67BE2D7D}" destId="{3A83BC6F-B725-4345-B234-B50F8B6B5DAE}" srcOrd="1" destOrd="0" presId="urn:microsoft.com/office/officeart/2005/8/layout/process3"/>
    <dgm:cxn modelId="{E92C78EC-FFC9-4E45-BAF4-DBF1044E5552}" srcId="{03454651-1876-463C-891F-DBFB67BE2D7D}" destId="{BF4626AB-9CB3-4EC9-82AA-0AF37D21F7A8}" srcOrd="0" destOrd="0" parTransId="{90DBE59A-FB90-4404-AFA0-13CA3F79D5EF}" sibTransId="{278D66F6-69FF-4B29-B9E2-013619C1E045}"/>
    <dgm:cxn modelId="{53D0AE11-7D67-429C-995E-333A514E8B1B}" type="presOf" srcId="{836E2BBF-AE6F-44B9-AD26-342382726746}" destId="{DE71027A-1108-4DB8-8E4D-B5CBC710D5C6}" srcOrd="1" destOrd="0" presId="urn:microsoft.com/office/officeart/2005/8/layout/process3"/>
    <dgm:cxn modelId="{DF9099EB-9CCD-490E-8FD6-FA9599863B2A}" srcId="{5074504D-B054-44B7-AF1D-0C421DB29C8C}" destId="{FF562A3D-0790-46FE-A9DF-1B423F95E76F}" srcOrd="0" destOrd="0" parTransId="{A0D65B69-5380-4AF8-893D-A151F73F7D3E}" sibTransId="{FD4B70E3-BC58-436B-8774-53FB1C615077}"/>
    <dgm:cxn modelId="{34C55238-AD53-47F1-9D52-230AADBC9FAD}" srcId="{8A322586-3EAE-46BF-A0A2-B543FC172547}" destId="{F3FF4E99-FA90-4229-B7AE-BD1782764766}" srcOrd="1" destOrd="0" parTransId="{C6CEED83-CD12-4397-ACF7-FF8255AF6FC0}" sibTransId="{5CD7CBC5-8564-4E3B-BAD5-F710E5E812E1}"/>
    <dgm:cxn modelId="{E7C69D4F-1974-486C-9CA9-6325BD4F54A5}" type="presOf" srcId="{E69ACDC2-C996-4D5C-8482-F62CA528104E}" destId="{DCC3FCEA-0BC8-4D98-BFDA-E2DB9800EC74}" srcOrd="0" destOrd="3" presId="urn:microsoft.com/office/officeart/2005/8/layout/process3"/>
    <dgm:cxn modelId="{042EBE02-E637-479A-8ECD-6A070C23741B}" type="presOf" srcId="{2CB4022D-25B8-4D84-9D57-291B301E40E2}" destId="{9C734644-8D7B-452D-99C4-DBC3818A5A71}" srcOrd="0" destOrd="4" presId="urn:microsoft.com/office/officeart/2005/8/layout/process3"/>
    <dgm:cxn modelId="{944A628A-129E-4469-8637-6849EC98A056}" type="presOf" srcId="{1481EC13-C855-4647-9533-F51BBC835616}" destId="{7E8F3D55-80E5-4F13-9459-E39284D0328D}" srcOrd="0" destOrd="1" presId="urn:microsoft.com/office/officeart/2005/8/layout/process3"/>
    <dgm:cxn modelId="{C91DB3B2-C840-47E8-8046-556665E1C9A3}" srcId="{5074504D-B054-44B7-AF1D-0C421DB29C8C}" destId="{E69ACDC2-C996-4D5C-8482-F62CA528104E}" srcOrd="3" destOrd="0" parTransId="{AA39C291-15D6-45A5-A32F-D63E534794B6}" sibTransId="{03D1C5B2-D3B3-4724-B65E-FEE8811051FB}"/>
    <dgm:cxn modelId="{D877E2D4-7514-43B1-8B47-EF2EE0944634}" type="presOf" srcId="{03454651-1876-463C-891F-DBFB67BE2D7D}" destId="{3D847FC2-380F-49AF-936C-1553F8F26F3C}" srcOrd="0" destOrd="0" presId="urn:microsoft.com/office/officeart/2005/8/layout/process3"/>
    <dgm:cxn modelId="{C2B17D78-0FDC-4050-87A9-CDB9B07A2096}" srcId="{8A322586-3EAE-46BF-A0A2-B543FC172547}" destId="{FF327D8F-51CA-44D7-939A-090B36C17F4D}" srcOrd="0" destOrd="0" parTransId="{3331B1EB-6C9B-47B6-8270-B80845BF7D8D}" sibTransId="{DDE73F1C-4B20-4FF2-8616-A49C3B408829}"/>
    <dgm:cxn modelId="{6F8C2635-8C7A-4C87-B40A-2B361647061C}" srcId="{5074504D-B054-44B7-AF1D-0C421DB29C8C}" destId="{61729176-B5BA-4BDB-9583-93A34EF247B4}" srcOrd="2" destOrd="0" parTransId="{605BA3E0-D6D3-4380-9DFD-4EC95A802425}" sibTransId="{B1D5AEB3-F3B3-4D74-8651-C75DF01DACDA}"/>
    <dgm:cxn modelId="{4310C910-09CD-497B-8433-158C2EF562C9}" srcId="{72C595F7-F9FE-4C3C-B546-D393C43DA1D5}" destId="{8A322586-3EAE-46BF-A0A2-B543FC172547}" srcOrd="2" destOrd="0" parTransId="{B778E20A-7A2A-41B5-9D29-0D0BE2AA1541}" sibTransId="{C8CF6BBD-5340-437F-A4A8-2E47EFBD8A2E}"/>
    <dgm:cxn modelId="{AEBFA6BB-69A9-483B-BD22-FA19EB74E925}" type="presOf" srcId="{094DAE0D-FC61-4111-AD70-962DAC710462}" destId="{DCC3FCEA-0BC8-4D98-BFDA-E2DB9800EC74}" srcOrd="0" destOrd="1" presId="urn:microsoft.com/office/officeart/2005/8/layout/process3"/>
    <dgm:cxn modelId="{B8022AFC-00B9-48DB-BDB1-7773F34A0932}" type="presOf" srcId="{836E2BBF-AE6F-44B9-AD26-342382726746}" destId="{63F08940-AC90-4DF0-A1DA-5F6759C06E77}" srcOrd="0" destOrd="0" presId="urn:microsoft.com/office/officeart/2005/8/layout/process3"/>
    <dgm:cxn modelId="{C4D873F8-B9B6-4DF5-8BDB-07CBFC14B604}" type="presOf" srcId="{F3FF4E99-FA90-4229-B7AE-BD1782764766}" destId="{9C734644-8D7B-452D-99C4-DBC3818A5A71}" srcOrd="0" destOrd="1" presId="urn:microsoft.com/office/officeart/2005/8/layout/process3"/>
    <dgm:cxn modelId="{B28961F5-FD1D-460D-9715-F3D16E207A49}" type="presOf" srcId="{5074504D-B054-44B7-AF1D-0C421DB29C8C}" destId="{C399DA07-F433-446A-A511-7651E2D31800}" srcOrd="1" destOrd="0" presId="urn:microsoft.com/office/officeart/2005/8/layout/process3"/>
    <dgm:cxn modelId="{CF51BE3A-A772-4239-A3F1-E9A937CB71F1}" type="presOf" srcId="{32EC2ED1-5A41-47F2-A0A5-89A6987013DA}" destId="{4B650DD2-5F02-4AE9-9DDB-38B6153A658F}" srcOrd="1" destOrd="0" presId="urn:microsoft.com/office/officeart/2005/8/layout/process3"/>
    <dgm:cxn modelId="{A4D67337-0F4C-4809-A969-1C0F58845F01}" type="presOf" srcId="{8A322586-3EAE-46BF-A0A2-B543FC172547}" destId="{6D0727A4-F90B-4FFC-BFFD-513C5448BB49}" srcOrd="1" destOrd="0" presId="urn:microsoft.com/office/officeart/2005/8/layout/process3"/>
    <dgm:cxn modelId="{AD71B76C-F108-4010-9C6F-0EBF5AC1533E}" srcId="{03454651-1876-463C-891F-DBFB67BE2D7D}" destId="{1481EC13-C855-4647-9533-F51BBC835616}" srcOrd="1" destOrd="0" parTransId="{05DF1037-EA96-4DA4-A1E5-C67C8D679106}" sibTransId="{C64B09CF-5336-47E8-9A85-A5FC35C9D840}"/>
    <dgm:cxn modelId="{1F332CA7-14CA-4A0D-B837-A7722011A8CE}" type="presOf" srcId="{61729176-B5BA-4BDB-9583-93A34EF247B4}" destId="{DCC3FCEA-0BC8-4D98-BFDA-E2DB9800EC74}" srcOrd="0" destOrd="2" presId="urn:microsoft.com/office/officeart/2005/8/layout/process3"/>
    <dgm:cxn modelId="{DD2C4E84-48DE-4C61-A639-B605D65046B4}" srcId="{8A322586-3EAE-46BF-A0A2-B543FC172547}" destId="{F1AAF075-EC77-4E27-881F-C57243E1DB69}" srcOrd="3" destOrd="0" parTransId="{6244C0F4-A7D2-4323-9FFB-3DB8CB5DC904}" sibTransId="{C2DE0930-F2B6-42EC-9CEC-2E20761833BF}"/>
    <dgm:cxn modelId="{1DC9F58B-0BAF-4080-8824-55D0BEB86F62}" srcId="{8A322586-3EAE-46BF-A0A2-B543FC172547}" destId="{7F204F42-DD22-4AE7-82E4-397095235C3F}" srcOrd="2" destOrd="0" parTransId="{73DB1696-A0B2-47EA-87FB-D24D9EDFD744}" sibTransId="{6172C205-C015-4067-9B77-3E1AFB804E24}"/>
    <dgm:cxn modelId="{672E9CD6-7EFB-4807-8513-12966E3A5261}" type="presOf" srcId="{72C595F7-F9FE-4C3C-B546-D393C43DA1D5}" destId="{5FAEC180-6FA0-4E38-9D1E-990ABDB6814F}" srcOrd="0" destOrd="0" presId="urn:microsoft.com/office/officeart/2005/8/layout/process3"/>
    <dgm:cxn modelId="{45A83EFF-AC24-4A70-A19F-3D86278F6EA4}" type="presOf" srcId="{5074504D-B054-44B7-AF1D-0C421DB29C8C}" destId="{BF9E2F76-6B5D-43DB-A7F2-4A21C009BF40}" srcOrd="0" destOrd="0" presId="urn:microsoft.com/office/officeart/2005/8/layout/process3"/>
    <dgm:cxn modelId="{57F66002-70C7-4539-AF7C-33E4E63967F0}" srcId="{5074504D-B054-44B7-AF1D-0C421DB29C8C}" destId="{094DAE0D-FC61-4111-AD70-962DAC710462}" srcOrd="1" destOrd="0" parTransId="{81F39051-25EA-4870-9C0D-6B058AF76F81}" sibTransId="{9897AE09-9097-45D4-81BD-85925F470CB9}"/>
    <dgm:cxn modelId="{0173AC81-C7A2-496B-8E0E-E97ABD61DC92}" type="presOf" srcId="{8A322586-3EAE-46BF-A0A2-B543FC172547}" destId="{6B9023C6-72FD-4035-AA4C-2587D11CC782}" srcOrd="0" destOrd="0" presId="urn:microsoft.com/office/officeart/2005/8/layout/process3"/>
    <dgm:cxn modelId="{F30A18E3-1BC5-4AF8-823C-B6A65C83A37E}" type="presOf" srcId="{7F204F42-DD22-4AE7-82E4-397095235C3F}" destId="{9C734644-8D7B-452D-99C4-DBC3818A5A71}" srcOrd="0" destOrd="2"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809EAAFA-8505-486C-909D-C7DDC2E39F0C}" type="presOf" srcId="{F1AAF075-EC77-4E27-881F-C57243E1DB69}" destId="{9C734644-8D7B-452D-99C4-DBC3818A5A71}" srcOrd="0" destOrd="3" presId="urn:microsoft.com/office/officeart/2005/8/layout/process3"/>
    <dgm:cxn modelId="{D186AD72-6336-4606-89C2-8AA160EB528D}" type="presOf" srcId="{32EC2ED1-5A41-47F2-A0A5-89A6987013DA}" destId="{2185D18F-377B-4641-B87A-82A7FD17C65D}" srcOrd="0" destOrd="0" presId="urn:microsoft.com/office/officeart/2005/8/layout/process3"/>
    <dgm:cxn modelId="{7338E0C9-F2E8-4E06-877C-3CCF7180CDCC}" srcId="{8A322586-3EAE-46BF-A0A2-B543FC172547}" destId="{2CB4022D-25B8-4D84-9D57-291B301E40E2}" srcOrd="4" destOrd="0" parTransId="{872376BE-30E8-4763-82C8-76AC16F68F7C}" sibTransId="{D72C0507-7710-41AF-BF45-2C64E7F9E65E}"/>
    <dgm:cxn modelId="{6054150B-F472-45E0-BFC1-C0C9F17D15E6}" type="presOf" srcId="{FF562A3D-0790-46FE-A9DF-1B423F95E76F}" destId="{DCC3FCEA-0BC8-4D98-BFDA-E2DB9800EC74}" srcOrd="0" destOrd="0" presId="urn:microsoft.com/office/officeart/2005/8/layout/process3"/>
    <dgm:cxn modelId="{B9743CF9-A064-436B-8778-C64968A38A6F}" type="presOf" srcId="{FF327D8F-51CA-44D7-939A-090B36C17F4D}" destId="{9C734644-8D7B-452D-99C4-DBC3818A5A71}" srcOrd="0" destOrd="0" presId="urn:microsoft.com/office/officeart/2005/8/layout/process3"/>
    <dgm:cxn modelId="{3CC31635-3339-4F5C-8EF6-55E05458D51B}" type="presParOf" srcId="{5FAEC180-6FA0-4E38-9D1E-990ABDB6814F}" destId="{1ED04EDF-BDDC-4FBE-ADFE-4ECCA1ABCE5C}" srcOrd="0" destOrd="0" presId="urn:microsoft.com/office/officeart/2005/8/layout/process3"/>
    <dgm:cxn modelId="{80A86383-132A-46D8-94E4-5A30A2CFE77F}" type="presParOf" srcId="{1ED04EDF-BDDC-4FBE-ADFE-4ECCA1ABCE5C}" destId="{3D847FC2-380F-49AF-936C-1553F8F26F3C}" srcOrd="0" destOrd="0" presId="urn:microsoft.com/office/officeart/2005/8/layout/process3"/>
    <dgm:cxn modelId="{63321FFF-D4A7-4EEC-B74C-9B986FB96135}" type="presParOf" srcId="{1ED04EDF-BDDC-4FBE-ADFE-4ECCA1ABCE5C}" destId="{3A83BC6F-B725-4345-B234-B50F8B6B5DAE}" srcOrd="1" destOrd="0" presId="urn:microsoft.com/office/officeart/2005/8/layout/process3"/>
    <dgm:cxn modelId="{5301C8EB-2121-4BE8-A1BB-9917C5B22261}" type="presParOf" srcId="{1ED04EDF-BDDC-4FBE-ADFE-4ECCA1ABCE5C}" destId="{7E8F3D55-80E5-4F13-9459-E39284D0328D}" srcOrd="2" destOrd="0" presId="urn:microsoft.com/office/officeart/2005/8/layout/process3"/>
    <dgm:cxn modelId="{2301D75D-A9B8-403A-9D33-79FE2C4EFCC7}" type="presParOf" srcId="{5FAEC180-6FA0-4E38-9D1E-990ABDB6814F}" destId="{2185D18F-377B-4641-B87A-82A7FD17C65D}" srcOrd="1" destOrd="0" presId="urn:microsoft.com/office/officeart/2005/8/layout/process3"/>
    <dgm:cxn modelId="{651D681B-A09F-4260-B4A4-E1ABF013D27C}" type="presParOf" srcId="{2185D18F-377B-4641-B87A-82A7FD17C65D}" destId="{4B650DD2-5F02-4AE9-9DDB-38B6153A658F}" srcOrd="0" destOrd="0" presId="urn:microsoft.com/office/officeart/2005/8/layout/process3"/>
    <dgm:cxn modelId="{498112FE-6C78-42B3-880C-C0B768D3BC9D}" type="presParOf" srcId="{5FAEC180-6FA0-4E38-9D1E-990ABDB6814F}" destId="{E5D422DD-3565-4886-BD6F-B54C46D7F5BD}" srcOrd="2" destOrd="0" presId="urn:microsoft.com/office/officeart/2005/8/layout/process3"/>
    <dgm:cxn modelId="{F6EDC7A1-529B-4456-8E27-AF95551B6833}" type="presParOf" srcId="{E5D422DD-3565-4886-BD6F-B54C46D7F5BD}" destId="{BF9E2F76-6B5D-43DB-A7F2-4A21C009BF40}" srcOrd="0" destOrd="0" presId="urn:microsoft.com/office/officeart/2005/8/layout/process3"/>
    <dgm:cxn modelId="{C51F64CF-7091-42CD-8E27-B39CFE721618}" type="presParOf" srcId="{E5D422DD-3565-4886-BD6F-B54C46D7F5BD}" destId="{C399DA07-F433-446A-A511-7651E2D31800}" srcOrd="1" destOrd="0" presId="urn:microsoft.com/office/officeart/2005/8/layout/process3"/>
    <dgm:cxn modelId="{222534C3-E200-437D-A663-D640E7EA8C53}" type="presParOf" srcId="{E5D422DD-3565-4886-BD6F-B54C46D7F5BD}" destId="{DCC3FCEA-0BC8-4D98-BFDA-E2DB9800EC74}" srcOrd="2" destOrd="0" presId="urn:microsoft.com/office/officeart/2005/8/layout/process3"/>
    <dgm:cxn modelId="{3C9FA75A-10D5-4E56-873E-403A6F432270}" type="presParOf" srcId="{5FAEC180-6FA0-4E38-9D1E-990ABDB6814F}" destId="{63F08940-AC90-4DF0-A1DA-5F6759C06E77}" srcOrd="3" destOrd="0" presId="urn:microsoft.com/office/officeart/2005/8/layout/process3"/>
    <dgm:cxn modelId="{89133724-51DD-4486-9F3F-D932635A1E0D}" type="presParOf" srcId="{63F08940-AC90-4DF0-A1DA-5F6759C06E77}" destId="{DE71027A-1108-4DB8-8E4D-B5CBC710D5C6}" srcOrd="0" destOrd="0" presId="urn:microsoft.com/office/officeart/2005/8/layout/process3"/>
    <dgm:cxn modelId="{E2528E04-BF92-49A6-918C-CFD69A7A4DAA}" type="presParOf" srcId="{5FAEC180-6FA0-4E38-9D1E-990ABDB6814F}" destId="{83C7BD17-838E-4699-83E3-5B3822925BEB}" srcOrd="4" destOrd="0" presId="urn:microsoft.com/office/officeart/2005/8/layout/process3"/>
    <dgm:cxn modelId="{427FB9D2-F01B-4DAB-8F47-F9A3A9214E2D}" type="presParOf" srcId="{83C7BD17-838E-4699-83E3-5B3822925BEB}" destId="{6B9023C6-72FD-4035-AA4C-2587D11CC782}" srcOrd="0" destOrd="0" presId="urn:microsoft.com/office/officeart/2005/8/layout/process3"/>
    <dgm:cxn modelId="{02853613-5B3C-4C12-AA2A-C62FE3173712}" type="presParOf" srcId="{83C7BD17-838E-4699-83E3-5B3822925BEB}" destId="{6D0727A4-F90B-4FFC-BFFD-513C5448BB49}" srcOrd="1" destOrd="0" presId="urn:microsoft.com/office/officeart/2005/8/layout/process3"/>
    <dgm:cxn modelId="{41582E16-F954-4CF9-B147-6D14E27DF700}" type="presParOf" srcId="{83C7BD17-838E-4699-83E3-5B3822925BEB}" destId="{9C734644-8D7B-452D-99C4-DBC3818A5A71}"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Appointment of Board of Directors</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BF4626AB-9CB3-4EC9-82AA-0AF37D21F7A8}">
      <dgm:prSet phldrT="[Text]"/>
      <dgm:spPr/>
      <dgm:t>
        <a:bodyPr/>
        <a:lstStyle/>
        <a:p>
          <a:r>
            <a:rPr lang="en-US" dirty="0"/>
            <a:t>Finalization of selection process</a:t>
          </a:r>
        </a:p>
      </dgm:t>
    </dgm:pt>
    <dgm:pt modelId="{90DBE59A-FB90-4404-AFA0-13CA3F79D5EF}" type="parTrans" cxnId="{E92C78EC-FFC9-4E45-BAF4-DBF1044E5552}">
      <dgm:prSet/>
      <dgm:spPr/>
      <dgm:t>
        <a:bodyPr/>
        <a:lstStyle/>
        <a:p>
          <a:endParaRPr lang="en-US"/>
        </a:p>
      </dgm:t>
    </dgm:pt>
    <dgm:pt modelId="{278D66F6-69FF-4B29-B9E2-013619C1E045}" type="sibTrans" cxnId="{E92C78EC-FFC9-4E45-BAF4-DBF1044E5552}">
      <dgm:prSet/>
      <dgm:spPr/>
      <dgm:t>
        <a:bodyPr/>
        <a:lstStyle/>
        <a:p>
          <a:endParaRPr lang="en-US"/>
        </a:p>
      </dgm:t>
    </dgm:pt>
    <dgm:pt modelId="{5074504D-B054-44B7-AF1D-0C421DB29C8C}">
      <dgm:prSet phldrT="[Text]"/>
      <dgm:spPr/>
      <dgm:t>
        <a:bodyPr/>
        <a:lstStyle/>
        <a:p>
          <a:r>
            <a:rPr lang="en-US" dirty="0"/>
            <a:t>Appointment of Company Secretary</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FF562A3D-0790-46FE-A9DF-1B423F95E76F}">
      <dgm:prSet phldrT="[Text]"/>
      <dgm:spPr/>
      <dgm:t>
        <a:bodyPr/>
        <a:lstStyle/>
        <a:p>
          <a:r>
            <a:rPr lang="en-US"/>
            <a:t>Advertisement and shortlisting</a:t>
          </a:r>
        </a:p>
      </dgm:t>
    </dgm:pt>
    <dgm:pt modelId="{A0D65B69-5380-4AF8-893D-A151F73F7D3E}" type="parTrans" cxnId="{DF9099EB-9CCD-490E-8FD6-FA9599863B2A}">
      <dgm:prSet/>
      <dgm:spPr/>
      <dgm:t>
        <a:bodyPr/>
        <a:lstStyle/>
        <a:p>
          <a:endParaRPr lang="en-US"/>
        </a:p>
      </dgm:t>
    </dgm:pt>
    <dgm:pt modelId="{FD4B70E3-BC58-436B-8774-53FB1C615077}" type="sibTrans" cxnId="{DF9099EB-9CCD-490E-8FD6-FA9599863B2A}">
      <dgm:prSet/>
      <dgm:spPr/>
      <dgm:t>
        <a:bodyPr/>
        <a:lstStyle/>
        <a:p>
          <a:endParaRPr lang="en-US"/>
        </a:p>
      </dgm:t>
    </dgm:pt>
    <dgm:pt modelId="{8A322586-3EAE-46BF-A0A2-B543FC172547}">
      <dgm:prSet phldrT="[Text]"/>
      <dgm:spPr/>
      <dgm:t>
        <a:bodyPr/>
        <a:lstStyle/>
        <a:p>
          <a:r>
            <a:rPr lang="en-US"/>
            <a:t>Formation of Board Committees</a:t>
          </a:r>
        </a:p>
      </dgm:t>
    </dgm:pt>
    <dgm:pt modelId="{B778E20A-7A2A-41B5-9D29-0D0BE2AA1541}" type="parTrans" cxnId="{4310C910-09CD-497B-8433-158C2EF562C9}">
      <dgm:prSet/>
      <dgm:spPr/>
      <dgm:t>
        <a:bodyPr/>
        <a:lstStyle/>
        <a:p>
          <a:endParaRPr lang="en-US"/>
        </a:p>
      </dgm:t>
    </dgm:pt>
    <dgm:pt modelId="{C8CF6BBD-5340-437F-A4A8-2E47EFBD8A2E}" type="sibTrans" cxnId="{4310C910-09CD-497B-8433-158C2EF562C9}">
      <dgm:prSet/>
      <dgm:spPr/>
      <dgm:t>
        <a:bodyPr/>
        <a:lstStyle/>
        <a:p>
          <a:endParaRPr lang="en-US"/>
        </a:p>
      </dgm:t>
    </dgm:pt>
    <dgm:pt modelId="{FF327D8F-51CA-44D7-939A-090B36C17F4D}">
      <dgm:prSet phldrT="[Text]"/>
      <dgm:spPr/>
      <dgm:t>
        <a:bodyPr/>
        <a:lstStyle/>
        <a:p>
          <a:r>
            <a:rPr lang="en-US"/>
            <a:t>Finalization of roles and activities of each committee</a:t>
          </a:r>
        </a:p>
      </dgm:t>
    </dgm:pt>
    <dgm:pt modelId="{3331B1EB-6C9B-47B6-8270-B80845BF7D8D}" type="parTrans" cxnId="{C2B17D78-0FDC-4050-87A9-CDB9B07A2096}">
      <dgm:prSet/>
      <dgm:spPr/>
      <dgm:t>
        <a:bodyPr/>
        <a:lstStyle/>
        <a:p>
          <a:endParaRPr lang="en-US"/>
        </a:p>
      </dgm:t>
    </dgm:pt>
    <dgm:pt modelId="{DDE73F1C-4B20-4FF2-8616-A49C3B408829}" type="sibTrans" cxnId="{C2B17D78-0FDC-4050-87A9-CDB9B07A2096}">
      <dgm:prSet/>
      <dgm:spPr/>
      <dgm:t>
        <a:bodyPr/>
        <a:lstStyle/>
        <a:p>
          <a:endParaRPr lang="en-US"/>
        </a:p>
      </dgm:t>
    </dgm:pt>
    <dgm:pt modelId="{449D0AE8-534B-4BE0-806E-6CF6B01D91CF}">
      <dgm:prSet phldrT="[Text]"/>
      <dgm:spPr/>
      <dgm:t>
        <a:bodyPr/>
        <a:lstStyle/>
        <a:p>
          <a:r>
            <a:rPr lang="en-US" dirty="0"/>
            <a:t>Constitution of selection committee</a:t>
          </a:r>
        </a:p>
      </dgm:t>
    </dgm:pt>
    <dgm:pt modelId="{9342232A-3F7C-4F47-BA22-2CB4367FF5C8}" type="parTrans" cxnId="{B5C4901F-D160-4450-A261-129ED3D18230}">
      <dgm:prSet/>
      <dgm:spPr/>
      <dgm:t>
        <a:bodyPr/>
        <a:lstStyle/>
        <a:p>
          <a:endParaRPr lang="en-US"/>
        </a:p>
      </dgm:t>
    </dgm:pt>
    <dgm:pt modelId="{A00C229C-E0E2-43AE-8F6B-EEA40D27A2A6}" type="sibTrans" cxnId="{B5C4901F-D160-4450-A261-129ED3D18230}">
      <dgm:prSet/>
      <dgm:spPr/>
      <dgm:t>
        <a:bodyPr/>
        <a:lstStyle/>
        <a:p>
          <a:endParaRPr lang="en-US"/>
        </a:p>
      </dgm:t>
    </dgm:pt>
    <dgm:pt modelId="{B9200B7D-D2D1-48FD-810B-7F2DD6661394}">
      <dgm:prSet phldrT="[Text]"/>
      <dgm:spPr/>
      <dgm:t>
        <a:bodyPr/>
        <a:lstStyle/>
        <a:p>
          <a:r>
            <a:rPr lang="en-US"/>
            <a:t>Selection and appointment of independent, nominee and functional directors</a:t>
          </a:r>
        </a:p>
      </dgm:t>
    </dgm:pt>
    <dgm:pt modelId="{44C1E3A7-591A-4B1A-8580-DA6152A925FB}" type="parTrans" cxnId="{218C1915-D541-4882-B62E-E0D2BBE3E93D}">
      <dgm:prSet/>
      <dgm:spPr/>
      <dgm:t>
        <a:bodyPr/>
        <a:lstStyle/>
        <a:p>
          <a:endParaRPr lang="en-US"/>
        </a:p>
      </dgm:t>
    </dgm:pt>
    <dgm:pt modelId="{C4DD0A89-97CD-446B-9240-C7843098EEC0}" type="sibTrans" cxnId="{218C1915-D541-4882-B62E-E0D2BBE3E93D}">
      <dgm:prSet/>
      <dgm:spPr/>
      <dgm:t>
        <a:bodyPr/>
        <a:lstStyle/>
        <a:p>
          <a:endParaRPr lang="en-US"/>
        </a:p>
      </dgm:t>
    </dgm:pt>
    <dgm:pt modelId="{A9D60779-E6B9-4AF0-9AD8-6CE08068A7B5}">
      <dgm:prSet phldrT="[Text]"/>
      <dgm:spPr/>
      <dgm:t>
        <a:bodyPr/>
        <a:lstStyle/>
        <a:p>
          <a:r>
            <a:rPr lang="en-US"/>
            <a:t>Interview process</a:t>
          </a:r>
        </a:p>
      </dgm:t>
    </dgm:pt>
    <dgm:pt modelId="{2DE2B02F-B404-41E0-931F-362F36F4EC3E}" type="parTrans" cxnId="{D85142DE-1BBF-48F2-8A48-5D017A5ADB8C}">
      <dgm:prSet/>
      <dgm:spPr/>
      <dgm:t>
        <a:bodyPr/>
        <a:lstStyle/>
        <a:p>
          <a:endParaRPr lang="en-US"/>
        </a:p>
      </dgm:t>
    </dgm:pt>
    <dgm:pt modelId="{3BE90218-F5BB-4558-A58B-F0256A19ACC2}" type="sibTrans" cxnId="{D85142DE-1BBF-48F2-8A48-5D017A5ADB8C}">
      <dgm:prSet/>
      <dgm:spPr/>
      <dgm:t>
        <a:bodyPr/>
        <a:lstStyle/>
        <a:p>
          <a:endParaRPr lang="en-US"/>
        </a:p>
      </dgm:t>
    </dgm:pt>
    <dgm:pt modelId="{B4FB0A44-1469-4EB7-BE1C-224FF86B37CF}">
      <dgm:prSet phldrT="[Text]"/>
      <dgm:spPr/>
      <dgm:t>
        <a:bodyPr/>
        <a:lstStyle/>
        <a:p>
          <a:r>
            <a:rPr lang="en-US" dirty="0"/>
            <a:t>Selection and </a:t>
          </a:r>
          <a:r>
            <a:rPr lang="en-US" dirty="0" smtClean="0"/>
            <a:t>appointment </a:t>
          </a:r>
          <a:r>
            <a:rPr lang="en-US" dirty="0"/>
            <a:t>of Company Secretary</a:t>
          </a:r>
        </a:p>
      </dgm:t>
    </dgm:pt>
    <dgm:pt modelId="{283BCE9D-A182-499E-A33C-D16184B2FDA2}" type="parTrans" cxnId="{68A4D0C5-7E11-493C-A91D-564C34F9C782}">
      <dgm:prSet/>
      <dgm:spPr/>
      <dgm:t>
        <a:bodyPr/>
        <a:lstStyle/>
        <a:p>
          <a:endParaRPr lang="en-US"/>
        </a:p>
      </dgm:t>
    </dgm:pt>
    <dgm:pt modelId="{80AFD529-369B-4E3F-83F1-4EAE82199E43}" type="sibTrans" cxnId="{68A4D0C5-7E11-493C-A91D-564C34F9C782}">
      <dgm:prSet/>
      <dgm:spPr/>
      <dgm:t>
        <a:bodyPr/>
        <a:lstStyle/>
        <a:p>
          <a:endParaRPr lang="en-US"/>
        </a:p>
      </dgm:t>
    </dgm:pt>
    <dgm:pt modelId="{D018F8D5-EDAE-48BE-95A0-7E41194B8828}">
      <dgm:prSet phldrT="[Text]"/>
      <dgm:spPr/>
      <dgm:t>
        <a:bodyPr/>
        <a:lstStyle/>
        <a:p>
          <a:r>
            <a:rPr lang="en-US" dirty="0"/>
            <a:t>Detailing of responsibilities of convening and presiding meetings etc.</a:t>
          </a:r>
        </a:p>
      </dgm:t>
    </dgm:pt>
    <dgm:pt modelId="{6AA7C5F0-4578-4E6C-983E-FE8720FA35A6}" type="parTrans" cxnId="{FAC1C025-4743-4942-A5C1-4498AE0E091E}">
      <dgm:prSet/>
      <dgm:spPr/>
      <dgm:t>
        <a:bodyPr/>
        <a:lstStyle/>
        <a:p>
          <a:endParaRPr lang="en-US"/>
        </a:p>
      </dgm:t>
    </dgm:pt>
    <dgm:pt modelId="{1242E4F1-4F35-4B92-AFE3-CAF61063A571}" type="sibTrans" cxnId="{FAC1C025-4743-4942-A5C1-4498AE0E091E}">
      <dgm:prSet/>
      <dgm:spPr/>
      <dgm:t>
        <a:bodyPr/>
        <a:lstStyle/>
        <a:p>
          <a:endParaRPr lang="en-US"/>
        </a:p>
      </dgm:t>
    </dgm:pt>
    <dgm:pt modelId="{E7A40209-662E-4403-B2C9-6F26842775E1}">
      <dgm:prSet phldrT="[Text]"/>
      <dgm:spPr/>
      <dgm:t>
        <a:bodyPr/>
        <a:lstStyle/>
        <a:p>
          <a:r>
            <a:rPr lang="en-US"/>
            <a:t>Selection and nomination of committee members</a:t>
          </a:r>
        </a:p>
      </dgm:t>
    </dgm:pt>
    <dgm:pt modelId="{781F71E6-BFD6-4BDA-A6F2-99E0E9354204}" type="parTrans" cxnId="{90AD4C75-7A9B-4CD9-AC19-29FD98EBCEFD}">
      <dgm:prSet/>
      <dgm:spPr/>
      <dgm:t>
        <a:bodyPr/>
        <a:lstStyle/>
        <a:p>
          <a:endParaRPr lang="en-US"/>
        </a:p>
      </dgm:t>
    </dgm:pt>
    <dgm:pt modelId="{FCF7E4AB-396C-4835-9A90-265F873C4C9C}" type="sibTrans" cxnId="{90AD4C75-7A9B-4CD9-AC19-29FD98EBCEFD}">
      <dgm:prSet/>
      <dgm:spPr/>
      <dgm:t>
        <a:bodyPr/>
        <a:lstStyle/>
        <a:p>
          <a:endParaRPr lang="en-US"/>
        </a:p>
      </dgm:t>
    </dgm:pt>
    <dgm:pt modelId="{33E9AA50-E7F3-4AD1-8239-EA87C6A09B5C}">
      <dgm:prSet phldrT="[Text]"/>
      <dgm:spPr/>
      <dgm:t>
        <a:bodyPr/>
        <a:lstStyle/>
        <a:p>
          <a:r>
            <a:rPr lang="en-US"/>
            <a:t>Finalization of Board structure</a:t>
          </a:r>
        </a:p>
      </dgm:t>
    </dgm:pt>
    <dgm:pt modelId="{CF0160BF-F9C4-4926-B535-C1E0C58BABDA}" type="parTrans" cxnId="{BB78F76E-6C08-4B05-82E8-A6CF8E7CBCC4}">
      <dgm:prSet/>
      <dgm:spPr/>
      <dgm:t>
        <a:bodyPr/>
        <a:lstStyle/>
        <a:p>
          <a:endParaRPr lang="en-US"/>
        </a:p>
      </dgm:t>
    </dgm:pt>
    <dgm:pt modelId="{87E7DDDB-1958-4F2E-979B-222803C15C5F}" type="sibTrans" cxnId="{BB78F76E-6C08-4B05-82E8-A6CF8E7CBCC4}">
      <dgm:prSet/>
      <dgm:spPr/>
      <dgm:t>
        <a:bodyPr/>
        <a:lstStyle/>
        <a:p>
          <a:endParaRPr lang="en-US"/>
        </a:p>
      </dgm:t>
    </dgm:pt>
    <dgm:pt modelId="{9C4037FA-43D9-4DD6-B6B7-7D085591C2C0}">
      <dgm:prSet phldrT="[Text]"/>
      <dgm:spPr/>
      <dgm:t>
        <a:bodyPr/>
        <a:lstStyle/>
        <a:p>
          <a:r>
            <a:rPr lang="en-US" dirty="0"/>
            <a:t>Formulation of roles of Board of Directors</a:t>
          </a:r>
        </a:p>
      </dgm:t>
    </dgm:pt>
    <dgm:pt modelId="{F1E1DDC7-C420-4F1B-8395-1E59DCDC6CF8}" type="parTrans" cxnId="{D016EB4A-0336-4AD6-84A0-DB622C57D477}">
      <dgm:prSet/>
      <dgm:spPr/>
      <dgm:t>
        <a:bodyPr/>
        <a:lstStyle/>
        <a:p>
          <a:endParaRPr lang="en-US"/>
        </a:p>
      </dgm:t>
    </dgm:pt>
    <dgm:pt modelId="{F8DC50AB-217B-44DE-81E8-63D633AFD582}" type="sibTrans" cxnId="{D016EB4A-0336-4AD6-84A0-DB622C57D477}">
      <dgm:prSet/>
      <dgm:spPr/>
      <dgm:t>
        <a:bodyPr/>
        <a:lstStyle/>
        <a:p>
          <a:endParaRPr lang="en-US"/>
        </a:p>
      </dgm:t>
    </dgm:pt>
    <dgm:pt modelId="{574B8C10-E934-4AAA-B2D2-8237BA4C6980}">
      <dgm:prSet phldrT="[Text]"/>
      <dgm:spPr/>
      <dgm:t>
        <a:bodyPr/>
        <a:lstStyle/>
        <a:p>
          <a:r>
            <a:rPr lang="en-US"/>
            <a:t>Appointment of committee members</a:t>
          </a:r>
        </a:p>
      </dgm:t>
    </dgm:pt>
    <dgm:pt modelId="{15FA32BD-7337-454D-B96D-B81401A8F711}" type="parTrans" cxnId="{962850A0-8B4C-4747-89C6-F3E29F8936DD}">
      <dgm:prSet/>
      <dgm:spPr/>
      <dgm:t>
        <a:bodyPr/>
        <a:lstStyle/>
        <a:p>
          <a:endParaRPr lang="en-US"/>
        </a:p>
      </dgm:t>
    </dgm:pt>
    <dgm:pt modelId="{04A9CC4B-4280-435F-806B-D20DA844DC17}" type="sibTrans" cxnId="{962850A0-8B4C-4747-89C6-F3E29F8936DD}">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83C7BD17-838E-4699-83E3-5B3822925BEB}" type="pres">
      <dgm:prSet presAssocID="{8A322586-3EAE-46BF-A0A2-B543FC172547}" presName="composite" presStyleCnt="0"/>
      <dgm:spPr/>
    </dgm:pt>
    <dgm:pt modelId="{6B9023C6-72FD-4035-AA4C-2587D11CC782}" type="pres">
      <dgm:prSet presAssocID="{8A322586-3EAE-46BF-A0A2-B543FC172547}" presName="parTx" presStyleLbl="node1" presStyleIdx="1" presStyleCnt="3">
        <dgm:presLayoutVars>
          <dgm:chMax val="0"/>
          <dgm:chPref val="0"/>
          <dgm:bulletEnabled val="1"/>
        </dgm:presLayoutVars>
      </dgm:prSet>
      <dgm:spPr/>
      <dgm:t>
        <a:bodyPr/>
        <a:lstStyle/>
        <a:p>
          <a:endParaRPr lang="en-US"/>
        </a:p>
      </dgm:t>
    </dgm:pt>
    <dgm:pt modelId="{6D0727A4-F90B-4FFC-BFFD-513C5448BB49}" type="pres">
      <dgm:prSet presAssocID="{8A322586-3EAE-46BF-A0A2-B543FC172547}" presName="parSh" presStyleLbl="node1" presStyleIdx="2" presStyleCnt="3"/>
      <dgm:spPr/>
      <dgm:t>
        <a:bodyPr/>
        <a:lstStyle/>
        <a:p>
          <a:endParaRPr lang="en-US"/>
        </a:p>
      </dgm:t>
    </dgm:pt>
    <dgm:pt modelId="{9C734644-8D7B-452D-99C4-DBC3818A5A71}" type="pres">
      <dgm:prSet presAssocID="{8A322586-3EAE-46BF-A0A2-B543FC172547}" presName="desTx" presStyleLbl="fgAcc1" presStyleIdx="2" presStyleCnt="3">
        <dgm:presLayoutVars>
          <dgm:bulletEnabled val="1"/>
        </dgm:presLayoutVars>
      </dgm:prSet>
      <dgm:spPr/>
      <dgm:t>
        <a:bodyPr/>
        <a:lstStyle/>
        <a:p>
          <a:endParaRPr lang="en-US"/>
        </a:p>
      </dgm:t>
    </dgm:pt>
  </dgm:ptLst>
  <dgm:cxnLst>
    <dgm:cxn modelId="{288D6556-D78D-42E2-834B-00062A324825}" srcId="{72C595F7-F9FE-4C3C-B546-D393C43DA1D5}" destId="{5074504D-B054-44B7-AF1D-0C421DB29C8C}" srcOrd="1" destOrd="0" parTransId="{38550204-A29D-4D29-89AB-206E975EF185}" sibTransId="{836E2BBF-AE6F-44B9-AD26-342382726746}"/>
    <dgm:cxn modelId="{497AD5E6-0C52-497F-B489-8A97985A214F}" type="presOf" srcId="{32EC2ED1-5A41-47F2-A0A5-89A6987013DA}" destId="{2185D18F-377B-4641-B87A-82A7FD17C65D}" srcOrd="0" destOrd="0" presId="urn:microsoft.com/office/officeart/2005/8/layout/process3"/>
    <dgm:cxn modelId="{C21ACDEC-29D4-4555-9574-A1C955B38310}" type="presOf" srcId="{5074504D-B054-44B7-AF1D-0C421DB29C8C}" destId="{BF9E2F76-6B5D-43DB-A7F2-4A21C009BF40}" srcOrd="0" destOrd="0" presId="urn:microsoft.com/office/officeart/2005/8/layout/process3"/>
    <dgm:cxn modelId="{785D96E9-EDB2-45D4-AD26-9F0B025733CF}" type="presOf" srcId="{8A322586-3EAE-46BF-A0A2-B543FC172547}" destId="{6B9023C6-72FD-4035-AA4C-2587D11CC782}" srcOrd="0" destOrd="0" presId="urn:microsoft.com/office/officeart/2005/8/layout/process3"/>
    <dgm:cxn modelId="{28602BEE-8C35-43AC-BBA7-17CFC8222367}" type="presOf" srcId="{B9200B7D-D2D1-48FD-810B-7F2DD6661394}" destId="{7E8F3D55-80E5-4F13-9459-E39284D0328D}" srcOrd="0" destOrd="4" presId="urn:microsoft.com/office/officeart/2005/8/layout/process3"/>
    <dgm:cxn modelId="{FF5C9197-EF02-4241-A514-E7EDDC56F43A}" type="presOf" srcId="{574B8C10-E934-4AAA-B2D2-8237BA4C6980}" destId="{9C734644-8D7B-452D-99C4-DBC3818A5A71}" srcOrd="0" destOrd="3" presId="urn:microsoft.com/office/officeart/2005/8/layout/process3"/>
    <dgm:cxn modelId="{FAC1C025-4743-4942-A5C1-4498AE0E091E}" srcId="{8A322586-3EAE-46BF-A0A2-B543FC172547}" destId="{D018F8D5-EDAE-48BE-95A0-7E41194B8828}" srcOrd="1" destOrd="0" parTransId="{6AA7C5F0-4578-4E6C-983E-FE8720FA35A6}" sibTransId="{1242E4F1-4F35-4B92-AFE3-CAF61063A571}"/>
    <dgm:cxn modelId="{E92C78EC-FFC9-4E45-BAF4-DBF1044E5552}" srcId="{03454651-1876-463C-891F-DBFB67BE2D7D}" destId="{BF4626AB-9CB3-4EC9-82AA-0AF37D21F7A8}" srcOrd="2" destOrd="0" parTransId="{90DBE59A-FB90-4404-AFA0-13CA3F79D5EF}" sibTransId="{278D66F6-69FF-4B29-B9E2-013619C1E045}"/>
    <dgm:cxn modelId="{D016EB4A-0336-4AD6-84A0-DB622C57D477}" srcId="{03454651-1876-463C-891F-DBFB67BE2D7D}" destId="{9C4037FA-43D9-4DD6-B6B7-7D085591C2C0}" srcOrd="1" destOrd="0" parTransId="{F1E1DDC7-C420-4F1B-8395-1E59DCDC6CF8}" sibTransId="{F8DC50AB-217B-44DE-81E8-63D633AFD582}"/>
    <dgm:cxn modelId="{DF9099EB-9CCD-490E-8FD6-FA9599863B2A}" srcId="{5074504D-B054-44B7-AF1D-0C421DB29C8C}" destId="{FF562A3D-0790-46FE-A9DF-1B423F95E76F}" srcOrd="0" destOrd="0" parTransId="{A0D65B69-5380-4AF8-893D-A151F73F7D3E}" sibTransId="{FD4B70E3-BC58-436B-8774-53FB1C615077}"/>
    <dgm:cxn modelId="{05FB6D6F-C8B0-4900-9A04-B3224D7B8EE0}" type="presOf" srcId="{B4FB0A44-1469-4EB7-BE1C-224FF86B37CF}" destId="{DCC3FCEA-0BC8-4D98-BFDA-E2DB9800EC74}" srcOrd="0" destOrd="2" presId="urn:microsoft.com/office/officeart/2005/8/layout/process3"/>
    <dgm:cxn modelId="{218C1915-D541-4882-B62E-E0D2BBE3E93D}" srcId="{03454651-1876-463C-891F-DBFB67BE2D7D}" destId="{B9200B7D-D2D1-48FD-810B-7F2DD6661394}" srcOrd="4" destOrd="0" parTransId="{44C1E3A7-591A-4B1A-8580-DA6152A925FB}" sibTransId="{C4DD0A89-97CD-446B-9240-C7843098EEC0}"/>
    <dgm:cxn modelId="{4D2A5E7B-D8B5-4E26-8CBA-D6B10685ECAF}" type="presOf" srcId="{BF4626AB-9CB3-4EC9-82AA-0AF37D21F7A8}" destId="{7E8F3D55-80E5-4F13-9459-E39284D0328D}" srcOrd="0" destOrd="2" presId="urn:microsoft.com/office/officeart/2005/8/layout/process3"/>
    <dgm:cxn modelId="{24C5F62D-EF03-4800-8567-247FC309DC40}" type="presOf" srcId="{32EC2ED1-5A41-47F2-A0A5-89A6987013DA}" destId="{4B650DD2-5F02-4AE9-9DDB-38B6153A658F}" srcOrd="1" destOrd="0" presId="urn:microsoft.com/office/officeart/2005/8/layout/process3"/>
    <dgm:cxn modelId="{965404CA-6A90-4E3B-9CB2-36EC653F605C}" type="presOf" srcId="{72C595F7-F9FE-4C3C-B546-D393C43DA1D5}" destId="{5FAEC180-6FA0-4E38-9D1E-990ABDB6814F}" srcOrd="0" destOrd="0" presId="urn:microsoft.com/office/officeart/2005/8/layout/process3"/>
    <dgm:cxn modelId="{C2B17D78-0FDC-4050-87A9-CDB9B07A2096}" srcId="{8A322586-3EAE-46BF-A0A2-B543FC172547}" destId="{FF327D8F-51CA-44D7-939A-090B36C17F4D}" srcOrd="0" destOrd="0" parTransId="{3331B1EB-6C9B-47B6-8270-B80845BF7D8D}" sibTransId="{DDE73F1C-4B20-4FF2-8616-A49C3B408829}"/>
    <dgm:cxn modelId="{4310C910-09CD-497B-8433-158C2EF562C9}" srcId="{72C595F7-F9FE-4C3C-B546-D393C43DA1D5}" destId="{8A322586-3EAE-46BF-A0A2-B543FC172547}" srcOrd="2" destOrd="0" parTransId="{B778E20A-7A2A-41B5-9D29-0D0BE2AA1541}" sibTransId="{C8CF6BBD-5340-437F-A4A8-2E47EFBD8A2E}"/>
    <dgm:cxn modelId="{45680D34-4021-4C5C-8753-F781FAB848E2}" type="presOf" srcId="{A9D60779-E6B9-4AF0-9AD8-6CE08068A7B5}" destId="{DCC3FCEA-0BC8-4D98-BFDA-E2DB9800EC74}" srcOrd="0" destOrd="1" presId="urn:microsoft.com/office/officeart/2005/8/layout/process3"/>
    <dgm:cxn modelId="{E9B84876-983F-4DE1-9D63-79F1CDDF6DFE}" type="presOf" srcId="{FF562A3D-0790-46FE-A9DF-1B423F95E76F}" destId="{DCC3FCEA-0BC8-4D98-BFDA-E2DB9800EC74}" srcOrd="0" destOrd="0" presId="urn:microsoft.com/office/officeart/2005/8/layout/process3"/>
    <dgm:cxn modelId="{6EF22894-522B-4F4F-B0D2-4CCAA92345D4}" type="presOf" srcId="{03454651-1876-463C-891F-DBFB67BE2D7D}" destId="{3D847FC2-380F-49AF-936C-1553F8F26F3C}" srcOrd="0" destOrd="0" presId="urn:microsoft.com/office/officeart/2005/8/layout/process3"/>
    <dgm:cxn modelId="{AF34074A-58D4-44F9-8CD3-840DAE7C54A1}" type="presOf" srcId="{33E9AA50-E7F3-4AD1-8239-EA87C6A09B5C}" destId="{7E8F3D55-80E5-4F13-9459-E39284D0328D}" srcOrd="0" destOrd="0" presId="urn:microsoft.com/office/officeart/2005/8/layout/process3"/>
    <dgm:cxn modelId="{770440A6-E751-4248-890F-ECCFAF9AAA4B}" type="presOf" srcId="{D018F8D5-EDAE-48BE-95A0-7E41194B8828}" destId="{9C734644-8D7B-452D-99C4-DBC3818A5A71}" srcOrd="0" destOrd="1" presId="urn:microsoft.com/office/officeart/2005/8/layout/process3"/>
    <dgm:cxn modelId="{95B389A3-7EAB-4E06-935A-7E9863938F6F}" type="presOf" srcId="{8A322586-3EAE-46BF-A0A2-B543FC172547}" destId="{6D0727A4-F90B-4FFC-BFFD-513C5448BB49}" srcOrd="1" destOrd="0" presId="urn:microsoft.com/office/officeart/2005/8/layout/process3"/>
    <dgm:cxn modelId="{79F1F7D2-38E9-4715-8718-88FB6177BA14}" type="presOf" srcId="{E7A40209-662E-4403-B2C9-6F26842775E1}" destId="{9C734644-8D7B-452D-99C4-DBC3818A5A71}" srcOrd="0" destOrd="2" presId="urn:microsoft.com/office/officeart/2005/8/layout/process3"/>
    <dgm:cxn modelId="{90AD4C75-7A9B-4CD9-AC19-29FD98EBCEFD}" srcId="{8A322586-3EAE-46BF-A0A2-B543FC172547}" destId="{E7A40209-662E-4403-B2C9-6F26842775E1}" srcOrd="2" destOrd="0" parTransId="{781F71E6-BFD6-4BDA-A6F2-99E0E9354204}" sibTransId="{FCF7E4AB-396C-4835-9A90-265F873C4C9C}"/>
    <dgm:cxn modelId="{68A4D0C5-7E11-493C-A91D-564C34F9C782}" srcId="{5074504D-B054-44B7-AF1D-0C421DB29C8C}" destId="{B4FB0A44-1469-4EB7-BE1C-224FF86B37CF}" srcOrd="2" destOrd="0" parTransId="{283BCE9D-A182-499E-A33C-D16184B2FDA2}" sibTransId="{80AFD529-369B-4E3F-83F1-4EAE82199E43}"/>
    <dgm:cxn modelId="{F12E6DC9-F7E6-4A68-9BC2-0934FB2E096D}" type="presOf" srcId="{FF327D8F-51CA-44D7-939A-090B36C17F4D}" destId="{9C734644-8D7B-452D-99C4-DBC3818A5A71}" srcOrd="0" destOrd="0" presId="urn:microsoft.com/office/officeart/2005/8/layout/process3"/>
    <dgm:cxn modelId="{6A61B48C-E078-458F-BE83-59EE3CB78624}" type="presOf" srcId="{03454651-1876-463C-891F-DBFB67BE2D7D}" destId="{3A83BC6F-B725-4345-B234-B50F8B6B5DAE}" srcOrd="1" destOrd="0"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78CF9D42-D295-43DD-B4C4-43DD60E30CF1}" type="presOf" srcId="{836E2BBF-AE6F-44B9-AD26-342382726746}" destId="{DE71027A-1108-4DB8-8E4D-B5CBC710D5C6}" srcOrd="1" destOrd="0" presId="urn:microsoft.com/office/officeart/2005/8/layout/process3"/>
    <dgm:cxn modelId="{B5C4901F-D160-4450-A261-129ED3D18230}" srcId="{03454651-1876-463C-891F-DBFB67BE2D7D}" destId="{449D0AE8-534B-4BE0-806E-6CF6B01D91CF}" srcOrd="3" destOrd="0" parTransId="{9342232A-3F7C-4F47-BA22-2CB4367FF5C8}" sibTransId="{A00C229C-E0E2-43AE-8F6B-EEA40D27A2A6}"/>
    <dgm:cxn modelId="{76CA38D4-CA5A-4638-BB8C-4D4D0B1FBD33}" type="presOf" srcId="{836E2BBF-AE6F-44B9-AD26-342382726746}" destId="{63F08940-AC90-4DF0-A1DA-5F6759C06E77}" srcOrd="0" destOrd="0" presId="urn:microsoft.com/office/officeart/2005/8/layout/process3"/>
    <dgm:cxn modelId="{BD9758C6-FED3-4A5F-901D-F1062D308CD5}" type="presOf" srcId="{9C4037FA-43D9-4DD6-B6B7-7D085591C2C0}" destId="{7E8F3D55-80E5-4F13-9459-E39284D0328D}" srcOrd="0" destOrd="1" presId="urn:microsoft.com/office/officeart/2005/8/layout/process3"/>
    <dgm:cxn modelId="{0E0856D7-F40B-4900-BE35-CBF7251AA10D}" type="presOf" srcId="{449D0AE8-534B-4BE0-806E-6CF6B01D91CF}" destId="{7E8F3D55-80E5-4F13-9459-E39284D0328D}" srcOrd="0" destOrd="3" presId="urn:microsoft.com/office/officeart/2005/8/layout/process3"/>
    <dgm:cxn modelId="{5ABE5278-1BB2-45DA-9225-1BF0228AA916}" type="presOf" srcId="{5074504D-B054-44B7-AF1D-0C421DB29C8C}" destId="{C399DA07-F433-446A-A511-7651E2D31800}" srcOrd="1" destOrd="0" presId="urn:microsoft.com/office/officeart/2005/8/layout/process3"/>
    <dgm:cxn modelId="{962850A0-8B4C-4747-89C6-F3E29F8936DD}" srcId="{8A322586-3EAE-46BF-A0A2-B543FC172547}" destId="{574B8C10-E934-4AAA-B2D2-8237BA4C6980}" srcOrd="3" destOrd="0" parTransId="{15FA32BD-7337-454D-B96D-B81401A8F711}" sibTransId="{04A9CC4B-4280-435F-806B-D20DA844DC17}"/>
    <dgm:cxn modelId="{BB78F76E-6C08-4B05-82E8-A6CF8E7CBCC4}" srcId="{03454651-1876-463C-891F-DBFB67BE2D7D}" destId="{33E9AA50-E7F3-4AD1-8239-EA87C6A09B5C}" srcOrd="0" destOrd="0" parTransId="{CF0160BF-F9C4-4926-B535-C1E0C58BABDA}" sibTransId="{87E7DDDB-1958-4F2E-979B-222803C15C5F}"/>
    <dgm:cxn modelId="{D85142DE-1BBF-48F2-8A48-5D017A5ADB8C}" srcId="{5074504D-B054-44B7-AF1D-0C421DB29C8C}" destId="{A9D60779-E6B9-4AF0-9AD8-6CE08068A7B5}" srcOrd="1" destOrd="0" parTransId="{2DE2B02F-B404-41E0-931F-362F36F4EC3E}" sibTransId="{3BE90218-F5BB-4558-A58B-F0256A19ACC2}"/>
    <dgm:cxn modelId="{D37B42CB-53FE-4061-80CC-B28A52FDD5E9}" type="presParOf" srcId="{5FAEC180-6FA0-4E38-9D1E-990ABDB6814F}" destId="{1ED04EDF-BDDC-4FBE-ADFE-4ECCA1ABCE5C}" srcOrd="0" destOrd="0" presId="urn:microsoft.com/office/officeart/2005/8/layout/process3"/>
    <dgm:cxn modelId="{22227EE7-BBE8-4D53-9FD9-CB34E305DB3A}" type="presParOf" srcId="{1ED04EDF-BDDC-4FBE-ADFE-4ECCA1ABCE5C}" destId="{3D847FC2-380F-49AF-936C-1553F8F26F3C}" srcOrd="0" destOrd="0" presId="urn:microsoft.com/office/officeart/2005/8/layout/process3"/>
    <dgm:cxn modelId="{070DC86A-3E56-4103-A795-6BE2DC0A2C69}" type="presParOf" srcId="{1ED04EDF-BDDC-4FBE-ADFE-4ECCA1ABCE5C}" destId="{3A83BC6F-B725-4345-B234-B50F8B6B5DAE}" srcOrd="1" destOrd="0" presId="urn:microsoft.com/office/officeart/2005/8/layout/process3"/>
    <dgm:cxn modelId="{DC46EC98-43B8-44E7-9779-C5DD0E2EC33B}" type="presParOf" srcId="{1ED04EDF-BDDC-4FBE-ADFE-4ECCA1ABCE5C}" destId="{7E8F3D55-80E5-4F13-9459-E39284D0328D}" srcOrd="2" destOrd="0" presId="urn:microsoft.com/office/officeart/2005/8/layout/process3"/>
    <dgm:cxn modelId="{B92AE90F-D7B9-4480-BC8F-320C534DE236}" type="presParOf" srcId="{5FAEC180-6FA0-4E38-9D1E-990ABDB6814F}" destId="{2185D18F-377B-4641-B87A-82A7FD17C65D}" srcOrd="1" destOrd="0" presId="urn:microsoft.com/office/officeart/2005/8/layout/process3"/>
    <dgm:cxn modelId="{6CCF6A93-32F0-45A0-A8DF-FA7DC9D9EEB0}" type="presParOf" srcId="{2185D18F-377B-4641-B87A-82A7FD17C65D}" destId="{4B650DD2-5F02-4AE9-9DDB-38B6153A658F}" srcOrd="0" destOrd="0" presId="urn:microsoft.com/office/officeart/2005/8/layout/process3"/>
    <dgm:cxn modelId="{791CB471-B1C7-4982-95D6-37568360A80C}" type="presParOf" srcId="{5FAEC180-6FA0-4E38-9D1E-990ABDB6814F}" destId="{E5D422DD-3565-4886-BD6F-B54C46D7F5BD}" srcOrd="2" destOrd="0" presId="urn:microsoft.com/office/officeart/2005/8/layout/process3"/>
    <dgm:cxn modelId="{DB56883A-1675-4C6D-9892-A152A95CE224}" type="presParOf" srcId="{E5D422DD-3565-4886-BD6F-B54C46D7F5BD}" destId="{BF9E2F76-6B5D-43DB-A7F2-4A21C009BF40}" srcOrd="0" destOrd="0" presId="urn:microsoft.com/office/officeart/2005/8/layout/process3"/>
    <dgm:cxn modelId="{C9624746-D60F-40FB-A574-5194B3D0756C}" type="presParOf" srcId="{E5D422DD-3565-4886-BD6F-B54C46D7F5BD}" destId="{C399DA07-F433-446A-A511-7651E2D31800}" srcOrd="1" destOrd="0" presId="urn:microsoft.com/office/officeart/2005/8/layout/process3"/>
    <dgm:cxn modelId="{E67E47C5-F402-433C-A16C-C871F4C8FEA7}" type="presParOf" srcId="{E5D422DD-3565-4886-BD6F-B54C46D7F5BD}" destId="{DCC3FCEA-0BC8-4D98-BFDA-E2DB9800EC74}" srcOrd="2" destOrd="0" presId="urn:microsoft.com/office/officeart/2005/8/layout/process3"/>
    <dgm:cxn modelId="{7BB744CB-BCEC-412E-8AA7-2C47AF426D49}" type="presParOf" srcId="{5FAEC180-6FA0-4E38-9D1E-990ABDB6814F}" destId="{63F08940-AC90-4DF0-A1DA-5F6759C06E77}" srcOrd="3" destOrd="0" presId="urn:microsoft.com/office/officeart/2005/8/layout/process3"/>
    <dgm:cxn modelId="{F7D46FB5-C66A-4B12-B269-007DB6E5EE24}" type="presParOf" srcId="{63F08940-AC90-4DF0-A1DA-5F6759C06E77}" destId="{DE71027A-1108-4DB8-8E4D-B5CBC710D5C6}" srcOrd="0" destOrd="0" presId="urn:microsoft.com/office/officeart/2005/8/layout/process3"/>
    <dgm:cxn modelId="{27A3BDB5-E831-4848-911E-12A8AB31C32D}" type="presParOf" srcId="{5FAEC180-6FA0-4E38-9D1E-990ABDB6814F}" destId="{83C7BD17-838E-4699-83E3-5B3822925BEB}" srcOrd="4" destOrd="0" presId="urn:microsoft.com/office/officeart/2005/8/layout/process3"/>
    <dgm:cxn modelId="{0B0F32DC-5344-4873-972F-57D962F88455}" type="presParOf" srcId="{83C7BD17-838E-4699-83E3-5B3822925BEB}" destId="{6B9023C6-72FD-4035-AA4C-2587D11CC782}" srcOrd="0" destOrd="0" presId="urn:microsoft.com/office/officeart/2005/8/layout/process3"/>
    <dgm:cxn modelId="{D3C449E5-2678-451F-AF3F-84F7B099B840}" type="presParOf" srcId="{83C7BD17-838E-4699-83E3-5B3822925BEB}" destId="{6D0727A4-F90B-4FFC-BFFD-513C5448BB49}" srcOrd="1" destOrd="0" presId="urn:microsoft.com/office/officeart/2005/8/layout/process3"/>
    <dgm:cxn modelId="{A6D1D2C3-AF06-44B2-92B5-919D60CD556F}" type="presParOf" srcId="{83C7BD17-838E-4699-83E3-5B3822925BEB}" destId="{9C734644-8D7B-452D-99C4-DBC3818A5A71}"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Formation of work groups for reform implementation</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BF4626AB-9CB3-4EC9-82AA-0AF37D21F7A8}">
      <dgm:prSet phldrT="[Text]"/>
      <dgm:spPr/>
      <dgm:t>
        <a:bodyPr/>
        <a:lstStyle/>
        <a:p>
          <a:r>
            <a:rPr lang="en-US"/>
            <a:t>Identification of probable reform implementation issues</a:t>
          </a:r>
        </a:p>
      </dgm:t>
    </dgm:pt>
    <dgm:pt modelId="{90DBE59A-FB90-4404-AFA0-13CA3F79D5EF}" type="parTrans" cxnId="{E92C78EC-FFC9-4E45-BAF4-DBF1044E5552}">
      <dgm:prSet/>
      <dgm:spPr/>
      <dgm:t>
        <a:bodyPr/>
        <a:lstStyle/>
        <a:p>
          <a:endParaRPr lang="en-US"/>
        </a:p>
      </dgm:t>
    </dgm:pt>
    <dgm:pt modelId="{278D66F6-69FF-4B29-B9E2-013619C1E045}" type="sibTrans" cxnId="{E92C78EC-FFC9-4E45-BAF4-DBF1044E5552}">
      <dgm:prSet/>
      <dgm:spPr/>
      <dgm:t>
        <a:bodyPr/>
        <a:lstStyle/>
        <a:p>
          <a:endParaRPr lang="en-US"/>
        </a:p>
      </dgm:t>
    </dgm:pt>
    <dgm:pt modelId="{5074504D-B054-44B7-AF1D-0C421DB29C8C}">
      <dgm:prSet phldrT="[Text]"/>
      <dgm:spPr/>
      <dgm:t>
        <a:bodyPr/>
        <a:lstStyle/>
        <a:p>
          <a:r>
            <a:rPr lang="en-US"/>
            <a:t>Coordination arrangements between holding company, subsidiaries, other utilities, govt.</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FF562A3D-0790-46FE-A9DF-1B423F95E76F}">
      <dgm:prSet phldrT="[Text]"/>
      <dgm:spPr/>
      <dgm:t>
        <a:bodyPr/>
        <a:lstStyle/>
        <a:p>
          <a:r>
            <a:rPr lang="en-US"/>
            <a:t>Formation of inter-utilities and utility-government coordination committees</a:t>
          </a:r>
        </a:p>
      </dgm:t>
    </dgm:pt>
    <dgm:pt modelId="{A0D65B69-5380-4AF8-893D-A151F73F7D3E}" type="parTrans" cxnId="{DF9099EB-9CCD-490E-8FD6-FA9599863B2A}">
      <dgm:prSet/>
      <dgm:spPr/>
      <dgm:t>
        <a:bodyPr/>
        <a:lstStyle/>
        <a:p>
          <a:endParaRPr lang="en-US"/>
        </a:p>
      </dgm:t>
    </dgm:pt>
    <dgm:pt modelId="{FD4B70E3-BC58-436B-8774-53FB1C615077}" type="sibTrans" cxnId="{DF9099EB-9CCD-490E-8FD6-FA9599863B2A}">
      <dgm:prSet/>
      <dgm:spPr/>
      <dgm:t>
        <a:bodyPr/>
        <a:lstStyle/>
        <a:p>
          <a:endParaRPr lang="en-US"/>
        </a:p>
      </dgm:t>
    </dgm:pt>
    <dgm:pt modelId="{BB9308EC-8C94-46AC-A571-D3C5E6E887C7}">
      <dgm:prSet phldrT="[Text]"/>
      <dgm:spPr/>
      <dgm:t>
        <a:bodyPr/>
        <a:lstStyle/>
        <a:p>
          <a:r>
            <a:rPr lang="en-US"/>
            <a:t>Formation of work groups for addressing specific issues</a:t>
          </a:r>
        </a:p>
      </dgm:t>
    </dgm:pt>
    <dgm:pt modelId="{18241C89-5954-4038-A3AE-4241F2FBCD69}" type="parTrans" cxnId="{65ADA9FE-86EF-4DB3-A45A-BE410F5974E2}">
      <dgm:prSet/>
      <dgm:spPr/>
      <dgm:t>
        <a:bodyPr/>
        <a:lstStyle/>
        <a:p>
          <a:endParaRPr lang="en-US"/>
        </a:p>
      </dgm:t>
    </dgm:pt>
    <dgm:pt modelId="{7D9F63A1-0D3D-4CA6-9BFF-4E5FA5286F3B}" type="sibTrans" cxnId="{65ADA9FE-86EF-4DB3-A45A-BE410F5974E2}">
      <dgm:prSet/>
      <dgm:spPr/>
      <dgm:t>
        <a:bodyPr/>
        <a:lstStyle/>
        <a:p>
          <a:endParaRPr lang="en-US"/>
        </a:p>
      </dgm:t>
    </dgm:pt>
    <dgm:pt modelId="{C78BCB33-97BF-4FD1-AFD1-B8F3C219CF38}">
      <dgm:prSet phldrT="[Text]"/>
      <dgm:spPr/>
      <dgm:t>
        <a:bodyPr/>
        <a:lstStyle/>
        <a:p>
          <a:r>
            <a:rPr lang="en-US"/>
            <a:t>Setting out roles of work group members</a:t>
          </a:r>
        </a:p>
      </dgm:t>
    </dgm:pt>
    <dgm:pt modelId="{FEB63C90-48C6-4405-A7D6-19726F1EF6AE}" type="parTrans" cxnId="{8639A4F2-DBFA-40A9-9B7C-F43EB2B8B292}">
      <dgm:prSet/>
      <dgm:spPr/>
      <dgm:t>
        <a:bodyPr/>
        <a:lstStyle/>
        <a:p>
          <a:endParaRPr lang="en-US"/>
        </a:p>
      </dgm:t>
    </dgm:pt>
    <dgm:pt modelId="{C0F710FC-70C7-4D37-84E2-2ACB0CA8358F}" type="sibTrans" cxnId="{8639A4F2-DBFA-40A9-9B7C-F43EB2B8B292}">
      <dgm:prSet/>
      <dgm:spPr/>
      <dgm:t>
        <a:bodyPr/>
        <a:lstStyle/>
        <a:p>
          <a:endParaRPr lang="en-US"/>
        </a:p>
      </dgm:t>
    </dgm:pt>
    <dgm:pt modelId="{4F42F67C-B60D-4F3E-89E1-0D34CC1E1727}">
      <dgm:prSet phldrT="[Text]"/>
      <dgm:spPr/>
      <dgm:t>
        <a:bodyPr/>
        <a:lstStyle/>
        <a:p>
          <a:r>
            <a:rPr lang="en-US" dirty="0"/>
            <a:t>Establishment of monitoring framework for reform implementation and capacity building</a:t>
          </a:r>
        </a:p>
      </dgm:t>
    </dgm:pt>
    <dgm:pt modelId="{55D3586D-8FBB-4A0C-82D3-3F1BB65BD27F}" type="parTrans" cxnId="{6B536EC8-3E48-4B0A-BC59-7AC6055E0ABE}">
      <dgm:prSet/>
      <dgm:spPr/>
      <dgm:t>
        <a:bodyPr/>
        <a:lstStyle/>
        <a:p>
          <a:endParaRPr lang="en-US"/>
        </a:p>
      </dgm:t>
    </dgm:pt>
    <dgm:pt modelId="{74C0BEB9-13D4-4DE1-B883-EF5BB2830D98}" type="sibTrans" cxnId="{6B536EC8-3E48-4B0A-BC59-7AC6055E0ABE}">
      <dgm:prSet/>
      <dgm:spPr/>
      <dgm:t>
        <a:bodyPr/>
        <a:lstStyle/>
        <a:p>
          <a:endParaRPr lang="en-US"/>
        </a:p>
      </dgm:t>
    </dgm:pt>
    <dgm:pt modelId="{DAEB51CB-AA4C-4BBB-AE53-F42C7846DDF6}">
      <dgm:prSet phldrT="[Text]"/>
      <dgm:spPr/>
      <dgm:t>
        <a:bodyPr/>
        <a:lstStyle/>
        <a:p>
          <a:r>
            <a:rPr lang="en-US"/>
            <a:t>Finalization of performance metrices for reform</a:t>
          </a:r>
        </a:p>
      </dgm:t>
    </dgm:pt>
    <dgm:pt modelId="{36353FF4-D18E-47F5-B632-FC2381CF778B}" type="parTrans" cxnId="{A2B838FB-2A6B-48DB-9836-EA639477D8F9}">
      <dgm:prSet/>
      <dgm:spPr/>
      <dgm:t>
        <a:bodyPr/>
        <a:lstStyle/>
        <a:p>
          <a:endParaRPr lang="en-US"/>
        </a:p>
      </dgm:t>
    </dgm:pt>
    <dgm:pt modelId="{96F51A53-9929-46CF-8C11-7173EC4C9A58}" type="sibTrans" cxnId="{A2B838FB-2A6B-48DB-9836-EA639477D8F9}">
      <dgm:prSet/>
      <dgm:spPr/>
      <dgm:t>
        <a:bodyPr/>
        <a:lstStyle/>
        <a:p>
          <a:endParaRPr lang="en-US"/>
        </a:p>
      </dgm:t>
    </dgm:pt>
    <dgm:pt modelId="{66368F4F-6FB6-4767-BF6D-E804E3B59869}">
      <dgm:prSet phldrT="[Text]"/>
      <dgm:spPr/>
      <dgm:t>
        <a:bodyPr/>
        <a:lstStyle/>
        <a:p>
          <a:r>
            <a:rPr lang="en-US"/>
            <a:t>Establishment of reform process and progress monitoring</a:t>
          </a:r>
        </a:p>
      </dgm:t>
    </dgm:pt>
    <dgm:pt modelId="{0E88260E-9A46-4129-BDB2-9A7DB18D4E91}" type="parTrans" cxnId="{62916B76-8A9D-446F-8935-3DB5B91A7741}">
      <dgm:prSet/>
      <dgm:spPr/>
      <dgm:t>
        <a:bodyPr/>
        <a:lstStyle/>
        <a:p>
          <a:endParaRPr lang="en-US"/>
        </a:p>
      </dgm:t>
    </dgm:pt>
    <dgm:pt modelId="{39864F71-7E30-4923-AA56-71AA23A033A3}" type="sibTrans" cxnId="{62916B76-8A9D-446F-8935-3DB5B91A7741}">
      <dgm:prSet/>
      <dgm:spPr/>
      <dgm:t>
        <a:bodyPr/>
        <a:lstStyle/>
        <a:p>
          <a:endParaRPr lang="en-US"/>
        </a:p>
      </dgm:t>
    </dgm:pt>
    <dgm:pt modelId="{922A03E6-FA92-4A4F-A9F3-532A9A3306A7}">
      <dgm:prSet phldrT="[Text]"/>
      <dgm:spPr/>
      <dgm:t>
        <a:bodyPr/>
        <a:lstStyle/>
        <a:p>
          <a:r>
            <a:rPr lang="en-US"/>
            <a:t>Setting out of processes for performance review and analysis</a:t>
          </a:r>
        </a:p>
      </dgm:t>
    </dgm:pt>
    <dgm:pt modelId="{10E53991-81B3-4D2B-826E-A0DE2FE93D95}" type="parTrans" cxnId="{0B8ECD9E-FD16-42A8-8891-EFE28E42C94F}">
      <dgm:prSet/>
      <dgm:spPr/>
      <dgm:t>
        <a:bodyPr/>
        <a:lstStyle/>
        <a:p>
          <a:endParaRPr lang="en-US"/>
        </a:p>
      </dgm:t>
    </dgm:pt>
    <dgm:pt modelId="{64B8D2E5-449E-4F95-8F66-3A6EA9EBDDF1}" type="sibTrans" cxnId="{0B8ECD9E-FD16-42A8-8891-EFE28E42C94F}">
      <dgm:prSet/>
      <dgm:spPr/>
      <dgm:t>
        <a:bodyPr/>
        <a:lstStyle/>
        <a:p>
          <a:endParaRPr lang="en-US"/>
        </a:p>
      </dgm:t>
    </dgm:pt>
    <dgm:pt modelId="{065066BC-8EDB-4246-914B-E330D194B8F4}">
      <dgm:prSet phldrT="[Text]"/>
      <dgm:spPr/>
      <dgm:t>
        <a:bodyPr/>
        <a:lstStyle/>
        <a:p>
          <a:r>
            <a:rPr lang="en-US" dirty="0"/>
            <a:t>Setting out roles and responsibilities of committees</a:t>
          </a:r>
        </a:p>
      </dgm:t>
    </dgm:pt>
    <dgm:pt modelId="{F3211A88-9704-4C6F-9EA6-A0F2C510672C}" type="parTrans" cxnId="{2899CFA1-1AAD-4373-B23B-B316AC610212}">
      <dgm:prSet/>
      <dgm:spPr/>
      <dgm:t>
        <a:bodyPr/>
        <a:lstStyle/>
        <a:p>
          <a:endParaRPr lang="en-US"/>
        </a:p>
      </dgm:t>
    </dgm:pt>
    <dgm:pt modelId="{876C679F-0C4D-4A5F-82C4-F4561BA9B5DC}" type="sibTrans" cxnId="{2899CFA1-1AAD-4373-B23B-B316AC610212}">
      <dgm:prSet/>
      <dgm:spPr/>
      <dgm:t>
        <a:bodyPr/>
        <a:lstStyle/>
        <a:p>
          <a:endParaRPr lang="en-US"/>
        </a:p>
      </dgm:t>
    </dgm:pt>
    <dgm:pt modelId="{ED8FDAFD-2942-4FC1-B20A-579740B7B1CE}">
      <dgm:prSet phldrT="[Text]"/>
      <dgm:spPr/>
      <dgm:t>
        <a:bodyPr/>
        <a:lstStyle/>
        <a:p>
          <a:r>
            <a:rPr lang="en-US"/>
            <a:t>Preparation of coordination mechanism for each committee</a:t>
          </a:r>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47F12D08-0868-4267-B11D-628510BD1BAD}">
      <dgm:prSet phldrT="[Text]"/>
      <dgm:spPr/>
      <dgm:t>
        <a:bodyPr/>
        <a:lstStyle/>
        <a:p>
          <a:r>
            <a:rPr lang="en-US"/>
            <a:t>Capacity building of the work group members on reform progress monitoring and review</a:t>
          </a:r>
        </a:p>
      </dgm:t>
    </dgm:pt>
    <dgm:pt modelId="{C57A48B8-35DC-4433-941A-37BBF4CC8C07}" type="parTrans" cxnId="{D238C422-D9EF-4E8E-A27B-ADFA95E124EC}">
      <dgm:prSet/>
      <dgm:spPr/>
      <dgm:t>
        <a:bodyPr/>
        <a:lstStyle/>
        <a:p>
          <a:endParaRPr lang="en-US"/>
        </a:p>
      </dgm:t>
    </dgm:pt>
    <dgm:pt modelId="{4D33AA4D-7723-493A-AD03-D4FC2D121A47}" type="sibTrans" cxnId="{D238C422-D9EF-4E8E-A27B-ADFA95E124EC}">
      <dgm:prSet/>
      <dgm:spPr/>
      <dgm:t>
        <a:bodyPr/>
        <a:lstStyle/>
        <a:p>
          <a:endParaRPr lang="en-US"/>
        </a:p>
      </dgm:t>
    </dgm:pt>
    <dgm:pt modelId="{07B71CB9-4B49-43B2-80EA-5056C78D3170}">
      <dgm:prSet phldrT="[Text]"/>
      <dgm:spPr/>
      <dgm:t>
        <a:bodyPr/>
        <a:lstStyle/>
        <a:p>
          <a:r>
            <a:rPr lang="en-US"/>
            <a:t>Preparation of framework for selection / nomination of work group members</a:t>
          </a:r>
        </a:p>
      </dgm:t>
    </dgm:pt>
    <dgm:pt modelId="{7829329A-8D83-4A63-B9FD-C295399C9E76}" type="parTrans" cxnId="{DE40495B-CC53-4F08-A972-009B5184B523}">
      <dgm:prSet/>
      <dgm:spPr/>
      <dgm:t>
        <a:bodyPr/>
        <a:lstStyle/>
        <a:p>
          <a:endParaRPr lang="en-US"/>
        </a:p>
      </dgm:t>
    </dgm:pt>
    <dgm:pt modelId="{6696EE26-6C43-4DCE-8F75-7D49584ED617}" type="sibTrans" cxnId="{DE40495B-CC53-4F08-A972-009B5184B523}">
      <dgm:prSet/>
      <dgm:spPr/>
      <dgm:t>
        <a:bodyPr/>
        <a:lstStyle/>
        <a:p>
          <a:endParaRPr lang="en-US"/>
        </a:p>
      </dgm:t>
    </dgm:pt>
    <dgm:pt modelId="{86E8292D-055F-4D1B-B3CF-D9C8A1797366}">
      <dgm:prSet phldrT="[Text]"/>
      <dgm:spPr/>
      <dgm:t>
        <a:bodyPr/>
        <a:lstStyle/>
        <a:p>
          <a:r>
            <a:rPr lang="en-US"/>
            <a:t>Preparation of framework for selection / nomination of committee members</a:t>
          </a:r>
        </a:p>
      </dgm:t>
    </dgm:pt>
    <dgm:pt modelId="{99B5C15A-A971-426C-BA46-163348400285}" type="parTrans" cxnId="{17C0CBD9-B8CF-48B5-A7D9-577D57767531}">
      <dgm:prSet/>
      <dgm:spPr/>
      <dgm:t>
        <a:bodyPr/>
        <a:lstStyle/>
        <a:p>
          <a:endParaRPr lang="en-US"/>
        </a:p>
      </dgm:t>
    </dgm:pt>
    <dgm:pt modelId="{34CEAF8F-0FEE-4642-9EC1-C8828E700B72}" type="sibTrans" cxnId="{17C0CBD9-B8CF-48B5-A7D9-577D57767531}">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BCD02D81-ECA2-42A2-8D2B-D2E6BEFAAAB7}" type="pres">
      <dgm:prSet presAssocID="{4F42F67C-B60D-4F3E-89E1-0D34CC1E1727}" presName="composite" presStyleCnt="0"/>
      <dgm:spPr/>
    </dgm:pt>
    <dgm:pt modelId="{31B28512-56A3-4B3B-B913-EAB922DC1DE2}" type="pres">
      <dgm:prSet presAssocID="{4F42F67C-B60D-4F3E-89E1-0D34CC1E1727}" presName="parTx" presStyleLbl="node1" presStyleIdx="0" presStyleCnt="3">
        <dgm:presLayoutVars>
          <dgm:chMax val="0"/>
          <dgm:chPref val="0"/>
          <dgm:bulletEnabled val="1"/>
        </dgm:presLayoutVars>
      </dgm:prSet>
      <dgm:spPr/>
      <dgm:t>
        <a:bodyPr/>
        <a:lstStyle/>
        <a:p>
          <a:endParaRPr lang="en-US"/>
        </a:p>
      </dgm:t>
    </dgm:pt>
    <dgm:pt modelId="{F8B8FE14-F447-4037-A33B-4BEC5D6B5ABC}" type="pres">
      <dgm:prSet presAssocID="{4F42F67C-B60D-4F3E-89E1-0D34CC1E1727}" presName="parSh" presStyleLbl="node1" presStyleIdx="1" presStyleCnt="3"/>
      <dgm:spPr/>
      <dgm:t>
        <a:bodyPr/>
        <a:lstStyle/>
        <a:p>
          <a:endParaRPr lang="en-US"/>
        </a:p>
      </dgm:t>
    </dgm:pt>
    <dgm:pt modelId="{0A9461B2-A9AF-4222-BDED-209BE156D35C}" type="pres">
      <dgm:prSet presAssocID="{4F42F67C-B60D-4F3E-89E1-0D34CC1E1727}" presName="desTx" presStyleLbl="fgAcc1" presStyleIdx="1" presStyleCnt="3">
        <dgm:presLayoutVars>
          <dgm:bulletEnabled val="1"/>
        </dgm:presLayoutVars>
      </dgm:prSet>
      <dgm:spPr/>
      <dgm:t>
        <a:bodyPr/>
        <a:lstStyle/>
        <a:p>
          <a:endParaRPr lang="en-US"/>
        </a:p>
      </dgm:t>
    </dgm:pt>
    <dgm:pt modelId="{A93231B8-5CB3-4218-9A37-CA9E35B45470}" type="pres">
      <dgm:prSet presAssocID="{74C0BEB9-13D4-4DE1-B883-EF5BB2830D98}" presName="sibTrans" presStyleLbl="sibTrans2D1" presStyleIdx="1" presStyleCnt="2"/>
      <dgm:spPr/>
      <dgm:t>
        <a:bodyPr/>
        <a:lstStyle/>
        <a:p>
          <a:endParaRPr lang="en-US"/>
        </a:p>
      </dgm:t>
    </dgm:pt>
    <dgm:pt modelId="{E490260D-C430-4B1F-A65A-FD96299DBA22}" type="pres">
      <dgm:prSet presAssocID="{74C0BEB9-13D4-4DE1-B883-EF5BB2830D98}" presName="connTx" presStyleLbl="sibTrans2D1" presStyleIdx="1"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1"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2" presStyleCnt="3"/>
      <dgm:spPr/>
      <dgm:t>
        <a:bodyPr/>
        <a:lstStyle/>
        <a:p>
          <a:endParaRPr lang="en-US"/>
        </a:p>
      </dgm:t>
    </dgm:pt>
    <dgm:pt modelId="{DCC3FCEA-0BC8-4D98-BFDA-E2DB9800EC74}" type="pres">
      <dgm:prSet presAssocID="{5074504D-B054-44B7-AF1D-0C421DB29C8C}" presName="desTx" presStyleLbl="fgAcc1" presStyleIdx="2" presStyleCnt="3">
        <dgm:presLayoutVars>
          <dgm:bulletEnabled val="1"/>
        </dgm:presLayoutVars>
      </dgm:prSet>
      <dgm:spPr/>
      <dgm:t>
        <a:bodyPr/>
        <a:lstStyle/>
        <a:p>
          <a:endParaRPr lang="en-US"/>
        </a:p>
      </dgm:t>
    </dgm:pt>
  </dgm:ptLst>
  <dgm:cxnLst>
    <dgm:cxn modelId="{E24A845D-6140-4D78-9213-C50476C8B25F}" type="presOf" srcId="{74C0BEB9-13D4-4DE1-B883-EF5BB2830D98}" destId="{E490260D-C430-4B1F-A65A-FD96299DBA22}" srcOrd="1" destOrd="0" presId="urn:microsoft.com/office/officeart/2005/8/layout/process3"/>
    <dgm:cxn modelId="{288D6556-D78D-42E2-834B-00062A324825}" srcId="{72C595F7-F9FE-4C3C-B546-D393C43DA1D5}" destId="{5074504D-B054-44B7-AF1D-0C421DB29C8C}" srcOrd="2" destOrd="0" parTransId="{38550204-A29D-4D29-89AB-206E975EF185}" sibTransId="{836E2BBF-AE6F-44B9-AD26-342382726746}"/>
    <dgm:cxn modelId="{0A4E9442-B78F-4723-97CE-A6EC596236E7}" type="presOf" srcId="{922A03E6-FA92-4A4F-A9F3-532A9A3306A7}" destId="{0A9461B2-A9AF-4222-BDED-209BE156D35C}" srcOrd="0" destOrd="2" presId="urn:microsoft.com/office/officeart/2005/8/layout/process3"/>
    <dgm:cxn modelId="{2C9422EA-E132-432F-A37B-B81775BFA95D}" type="presOf" srcId="{86E8292D-055F-4D1B-B3CF-D9C8A1797366}" destId="{DCC3FCEA-0BC8-4D98-BFDA-E2DB9800EC74}" srcOrd="0" destOrd="2" presId="urn:microsoft.com/office/officeart/2005/8/layout/process3"/>
    <dgm:cxn modelId="{D238C422-D9EF-4E8E-A27B-ADFA95E124EC}" srcId="{4F42F67C-B60D-4F3E-89E1-0D34CC1E1727}" destId="{47F12D08-0868-4267-B11D-628510BD1BAD}" srcOrd="3" destOrd="0" parTransId="{C57A48B8-35DC-4433-941A-37BBF4CC8C07}" sibTransId="{4D33AA4D-7723-493A-AD03-D4FC2D121A47}"/>
    <dgm:cxn modelId="{8780445B-D15E-47C2-A1D0-E5FAD1F1EB74}" type="presOf" srcId="{5074504D-B054-44B7-AF1D-0C421DB29C8C}" destId="{C399DA07-F433-446A-A511-7651E2D31800}" srcOrd="1" destOrd="0" presId="urn:microsoft.com/office/officeart/2005/8/layout/process3"/>
    <dgm:cxn modelId="{E92C78EC-FFC9-4E45-BAF4-DBF1044E5552}" srcId="{03454651-1876-463C-891F-DBFB67BE2D7D}" destId="{BF4626AB-9CB3-4EC9-82AA-0AF37D21F7A8}" srcOrd="0" destOrd="0" parTransId="{90DBE59A-FB90-4404-AFA0-13CA3F79D5EF}" sibTransId="{278D66F6-69FF-4B29-B9E2-013619C1E045}"/>
    <dgm:cxn modelId="{9BFA09B7-A4D6-489A-9CA9-7CC91BFB8C22}" type="presOf" srcId="{BB9308EC-8C94-46AC-A571-D3C5E6E887C7}" destId="{7E8F3D55-80E5-4F13-9459-E39284D0328D}" srcOrd="0" destOrd="1" presId="urn:microsoft.com/office/officeart/2005/8/layout/process3"/>
    <dgm:cxn modelId="{DF9099EB-9CCD-490E-8FD6-FA9599863B2A}" srcId="{5074504D-B054-44B7-AF1D-0C421DB29C8C}" destId="{FF562A3D-0790-46FE-A9DF-1B423F95E76F}" srcOrd="0" destOrd="0" parTransId="{A0D65B69-5380-4AF8-893D-A151F73F7D3E}" sibTransId="{FD4B70E3-BC58-436B-8774-53FB1C615077}"/>
    <dgm:cxn modelId="{866DAA9C-BFEF-4AF0-8987-F409FD7936A7}" type="presOf" srcId="{32EC2ED1-5A41-47F2-A0A5-89A6987013DA}" destId="{2185D18F-377B-4641-B87A-82A7FD17C65D}" srcOrd="0" destOrd="0" presId="urn:microsoft.com/office/officeart/2005/8/layout/process3"/>
    <dgm:cxn modelId="{691B6748-1ED7-40B1-8E06-F1B2E68F89CA}" type="presOf" srcId="{5074504D-B054-44B7-AF1D-0C421DB29C8C}" destId="{BF9E2F76-6B5D-43DB-A7F2-4A21C009BF40}" srcOrd="0" destOrd="0" presId="urn:microsoft.com/office/officeart/2005/8/layout/process3"/>
    <dgm:cxn modelId="{6B536EC8-3E48-4B0A-BC59-7AC6055E0ABE}" srcId="{72C595F7-F9FE-4C3C-B546-D393C43DA1D5}" destId="{4F42F67C-B60D-4F3E-89E1-0D34CC1E1727}" srcOrd="1" destOrd="0" parTransId="{55D3586D-8FBB-4A0C-82D3-3F1BB65BD27F}" sibTransId="{74C0BEB9-13D4-4DE1-B883-EF5BB2830D98}"/>
    <dgm:cxn modelId="{0B8ECD9E-FD16-42A8-8891-EFE28E42C94F}" srcId="{4F42F67C-B60D-4F3E-89E1-0D34CC1E1727}" destId="{922A03E6-FA92-4A4F-A9F3-532A9A3306A7}" srcOrd="2" destOrd="0" parTransId="{10E53991-81B3-4D2B-826E-A0DE2FE93D95}" sibTransId="{64B8D2E5-449E-4F95-8F66-3A6EA9EBDDF1}"/>
    <dgm:cxn modelId="{05A81E49-1410-4187-9FD9-95F2D26F3910}" type="presOf" srcId="{DAEB51CB-AA4C-4BBB-AE53-F42C7846DDF6}" destId="{0A9461B2-A9AF-4222-BDED-209BE156D35C}" srcOrd="0" destOrd="0" presId="urn:microsoft.com/office/officeart/2005/8/layout/process3"/>
    <dgm:cxn modelId="{1E3F9238-1A1C-41B1-86E8-B87EAFC9DA49}" type="presOf" srcId="{74C0BEB9-13D4-4DE1-B883-EF5BB2830D98}" destId="{A93231B8-5CB3-4218-9A37-CA9E35B45470}" srcOrd="0" destOrd="0" presId="urn:microsoft.com/office/officeart/2005/8/layout/process3"/>
    <dgm:cxn modelId="{B8CE82BE-4998-42A6-B42B-64B0CF1F158C}" type="presOf" srcId="{BF4626AB-9CB3-4EC9-82AA-0AF37D21F7A8}" destId="{7E8F3D55-80E5-4F13-9459-E39284D0328D}" srcOrd="0" destOrd="0" presId="urn:microsoft.com/office/officeart/2005/8/layout/process3"/>
    <dgm:cxn modelId="{D8E79F41-9229-440D-BAB9-C3AB37A4655B}" type="presOf" srcId="{72C595F7-F9FE-4C3C-B546-D393C43DA1D5}" destId="{5FAEC180-6FA0-4E38-9D1E-990ABDB6814F}" srcOrd="0" destOrd="0" presId="urn:microsoft.com/office/officeart/2005/8/layout/process3"/>
    <dgm:cxn modelId="{9C1759E4-9BA8-4B2D-88B1-CBB8F60299EF}" srcId="{5074504D-B054-44B7-AF1D-0C421DB29C8C}" destId="{ED8FDAFD-2942-4FC1-B20A-579740B7B1CE}" srcOrd="3" destOrd="0" parTransId="{1A26A442-51E5-4AD6-B06A-7CEC8DC3C7BD}" sibTransId="{7D460E7C-417F-4474-9CEA-2FABDE3004EB}"/>
    <dgm:cxn modelId="{B7DEC20B-0661-4F8E-B439-500420DBB6E9}" type="presOf" srcId="{FF562A3D-0790-46FE-A9DF-1B423F95E76F}" destId="{DCC3FCEA-0BC8-4D98-BFDA-E2DB9800EC74}" srcOrd="0" destOrd="0" presId="urn:microsoft.com/office/officeart/2005/8/layout/process3"/>
    <dgm:cxn modelId="{DE40495B-CC53-4F08-A972-009B5184B523}" srcId="{03454651-1876-463C-891F-DBFB67BE2D7D}" destId="{07B71CB9-4B49-43B2-80EA-5056C78D3170}" srcOrd="2" destOrd="0" parTransId="{7829329A-8D83-4A63-B9FD-C295399C9E76}" sibTransId="{6696EE26-6C43-4DCE-8F75-7D49584ED617}"/>
    <dgm:cxn modelId="{9D5E4642-E61B-4513-8C33-45358F1B76F0}" type="presOf" srcId="{C78BCB33-97BF-4FD1-AFD1-B8F3C219CF38}" destId="{7E8F3D55-80E5-4F13-9459-E39284D0328D}" srcOrd="0" destOrd="3" presId="urn:microsoft.com/office/officeart/2005/8/layout/process3"/>
    <dgm:cxn modelId="{A2B838FB-2A6B-48DB-9836-EA639477D8F9}" srcId="{4F42F67C-B60D-4F3E-89E1-0D34CC1E1727}" destId="{DAEB51CB-AA4C-4BBB-AE53-F42C7846DDF6}" srcOrd="0" destOrd="0" parTransId="{36353FF4-D18E-47F5-B632-FC2381CF778B}" sibTransId="{96F51A53-9929-46CF-8C11-7173EC4C9A58}"/>
    <dgm:cxn modelId="{EE47C91F-D064-419E-8FDA-79F027EB9CA5}" type="presOf" srcId="{065066BC-8EDB-4246-914B-E330D194B8F4}" destId="{DCC3FCEA-0BC8-4D98-BFDA-E2DB9800EC74}" srcOrd="0" destOrd="1" presId="urn:microsoft.com/office/officeart/2005/8/layout/process3"/>
    <dgm:cxn modelId="{388CF37E-AB7A-4462-9051-E3BFA918BD2A}" type="presOf" srcId="{03454651-1876-463C-891F-DBFB67BE2D7D}" destId="{3D847FC2-380F-49AF-936C-1553F8F26F3C}" srcOrd="0" destOrd="0" presId="urn:microsoft.com/office/officeart/2005/8/layout/process3"/>
    <dgm:cxn modelId="{8639A4F2-DBFA-40A9-9B7C-F43EB2B8B292}" srcId="{03454651-1876-463C-891F-DBFB67BE2D7D}" destId="{C78BCB33-97BF-4FD1-AFD1-B8F3C219CF38}" srcOrd="3" destOrd="0" parTransId="{FEB63C90-48C6-4405-A7D6-19726F1EF6AE}" sibTransId="{C0F710FC-70C7-4D37-84E2-2ACB0CA8358F}"/>
    <dgm:cxn modelId="{62916B76-8A9D-446F-8935-3DB5B91A7741}" srcId="{4F42F67C-B60D-4F3E-89E1-0D34CC1E1727}" destId="{66368F4F-6FB6-4767-BF6D-E804E3B59869}" srcOrd="1" destOrd="0" parTransId="{0E88260E-9A46-4129-BDB2-9A7DB18D4E91}" sibTransId="{39864F71-7E30-4923-AA56-71AA23A033A3}"/>
    <dgm:cxn modelId="{453CEB6A-F61A-4C89-9592-9EB5104FC954}" srcId="{72C595F7-F9FE-4C3C-B546-D393C43DA1D5}" destId="{03454651-1876-463C-891F-DBFB67BE2D7D}" srcOrd="0" destOrd="0" parTransId="{34ADBB6D-89A4-4913-83ED-5D871B73AD66}" sibTransId="{32EC2ED1-5A41-47F2-A0A5-89A6987013DA}"/>
    <dgm:cxn modelId="{851AD4FF-A050-49B8-8D43-01E5428D19C4}" type="presOf" srcId="{66368F4F-6FB6-4767-BF6D-E804E3B59869}" destId="{0A9461B2-A9AF-4222-BDED-209BE156D35C}" srcOrd="0" destOrd="1" presId="urn:microsoft.com/office/officeart/2005/8/layout/process3"/>
    <dgm:cxn modelId="{B5BB1559-31E1-434A-B0C9-1DDE512EA88A}" type="presOf" srcId="{ED8FDAFD-2942-4FC1-B20A-579740B7B1CE}" destId="{DCC3FCEA-0BC8-4D98-BFDA-E2DB9800EC74}" srcOrd="0" destOrd="3" presId="urn:microsoft.com/office/officeart/2005/8/layout/process3"/>
    <dgm:cxn modelId="{65ADA9FE-86EF-4DB3-A45A-BE410F5974E2}" srcId="{03454651-1876-463C-891F-DBFB67BE2D7D}" destId="{BB9308EC-8C94-46AC-A571-D3C5E6E887C7}" srcOrd="1" destOrd="0" parTransId="{18241C89-5954-4038-A3AE-4241F2FBCD69}" sibTransId="{7D9F63A1-0D3D-4CA6-9BFF-4E5FA5286F3B}"/>
    <dgm:cxn modelId="{A42EB981-B0FB-4840-9C02-418622B9ED18}" type="presOf" srcId="{07B71CB9-4B49-43B2-80EA-5056C78D3170}" destId="{7E8F3D55-80E5-4F13-9459-E39284D0328D}" srcOrd="0" destOrd="2" presId="urn:microsoft.com/office/officeart/2005/8/layout/process3"/>
    <dgm:cxn modelId="{2899CFA1-1AAD-4373-B23B-B316AC610212}" srcId="{5074504D-B054-44B7-AF1D-0C421DB29C8C}" destId="{065066BC-8EDB-4246-914B-E330D194B8F4}" srcOrd="1" destOrd="0" parTransId="{F3211A88-9704-4C6F-9EA6-A0F2C510672C}" sibTransId="{876C679F-0C4D-4A5F-82C4-F4561BA9B5DC}"/>
    <dgm:cxn modelId="{6FA6CC2B-F14A-4795-9123-4EE788D1768D}" type="presOf" srcId="{32EC2ED1-5A41-47F2-A0A5-89A6987013DA}" destId="{4B650DD2-5F02-4AE9-9DDB-38B6153A658F}" srcOrd="1" destOrd="0" presId="urn:microsoft.com/office/officeart/2005/8/layout/process3"/>
    <dgm:cxn modelId="{07BBC119-1875-4F59-B726-BA05BC2F0094}" type="presOf" srcId="{47F12D08-0868-4267-B11D-628510BD1BAD}" destId="{0A9461B2-A9AF-4222-BDED-209BE156D35C}" srcOrd="0" destOrd="3" presId="urn:microsoft.com/office/officeart/2005/8/layout/process3"/>
    <dgm:cxn modelId="{17C0CBD9-B8CF-48B5-A7D9-577D57767531}" srcId="{5074504D-B054-44B7-AF1D-0C421DB29C8C}" destId="{86E8292D-055F-4D1B-B3CF-D9C8A1797366}" srcOrd="2" destOrd="0" parTransId="{99B5C15A-A971-426C-BA46-163348400285}" sibTransId="{34CEAF8F-0FEE-4642-9EC1-C8828E700B72}"/>
    <dgm:cxn modelId="{FC3C188C-D19A-4B6E-9299-157CD84FCB31}" type="presOf" srcId="{4F42F67C-B60D-4F3E-89E1-0D34CC1E1727}" destId="{31B28512-56A3-4B3B-B913-EAB922DC1DE2}" srcOrd="0" destOrd="0" presId="urn:microsoft.com/office/officeart/2005/8/layout/process3"/>
    <dgm:cxn modelId="{0A327272-BB06-467F-B2E8-CC07FD872589}" type="presOf" srcId="{4F42F67C-B60D-4F3E-89E1-0D34CC1E1727}" destId="{F8B8FE14-F447-4037-A33B-4BEC5D6B5ABC}" srcOrd="1" destOrd="0" presId="urn:microsoft.com/office/officeart/2005/8/layout/process3"/>
    <dgm:cxn modelId="{71F51E98-321A-4286-A95E-17A25A69B603}" type="presOf" srcId="{03454651-1876-463C-891F-DBFB67BE2D7D}" destId="{3A83BC6F-B725-4345-B234-B50F8B6B5DAE}" srcOrd="1" destOrd="0" presId="urn:microsoft.com/office/officeart/2005/8/layout/process3"/>
    <dgm:cxn modelId="{960170E8-CD90-48B8-905F-CD61F6D77B41}" type="presParOf" srcId="{5FAEC180-6FA0-4E38-9D1E-990ABDB6814F}" destId="{1ED04EDF-BDDC-4FBE-ADFE-4ECCA1ABCE5C}" srcOrd="0" destOrd="0" presId="urn:microsoft.com/office/officeart/2005/8/layout/process3"/>
    <dgm:cxn modelId="{BB8E14B2-D971-461F-B0AE-640E15F143C4}" type="presParOf" srcId="{1ED04EDF-BDDC-4FBE-ADFE-4ECCA1ABCE5C}" destId="{3D847FC2-380F-49AF-936C-1553F8F26F3C}" srcOrd="0" destOrd="0" presId="urn:microsoft.com/office/officeart/2005/8/layout/process3"/>
    <dgm:cxn modelId="{3E177328-BBEF-4487-AAB7-EBFD4222A0BF}" type="presParOf" srcId="{1ED04EDF-BDDC-4FBE-ADFE-4ECCA1ABCE5C}" destId="{3A83BC6F-B725-4345-B234-B50F8B6B5DAE}" srcOrd="1" destOrd="0" presId="urn:microsoft.com/office/officeart/2005/8/layout/process3"/>
    <dgm:cxn modelId="{FDC3B8FF-0382-4F85-B901-85146701E88A}" type="presParOf" srcId="{1ED04EDF-BDDC-4FBE-ADFE-4ECCA1ABCE5C}" destId="{7E8F3D55-80E5-4F13-9459-E39284D0328D}" srcOrd="2" destOrd="0" presId="urn:microsoft.com/office/officeart/2005/8/layout/process3"/>
    <dgm:cxn modelId="{9C5EB79B-7C47-49FA-967B-63AAD567D9FE}" type="presParOf" srcId="{5FAEC180-6FA0-4E38-9D1E-990ABDB6814F}" destId="{2185D18F-377B-4641-B87A-82A7FD17C65D}" srcOrd="1" destOrd="0" presId="urn:microsoft.com/office/officeart/2005/8/layout/process3"/>
    <dgm:cxn modelId="{7B3518B5-F2E3-4C6C-B4FF-C0AA8A81D2F6}" type="presParOf" srcId="{2185D18F-377B-4641-B87A-82A7FD17C65D}" destId="{4B650DD2-5F02-4AE9-9DDB-38B6153A658F}" srcOrd="0" destOrd="0" presId="urn:microsoft.com/office/officeart/2005/8/layout/process3"/>
    <dgm:cxn modelId="{2330C872-D69F-49A7-9140-A3F093740F36}" type="presParOf" srcId="{5FAEC180-6FA0-4E38-9D1E-990ABDB6814F}" destId="{BCD02D81-ECA2-42A2-8D2B-D2E6BEFAAAB7}" srcOrd="2" destOrd="0" presId="urn:microsoft.com/office/officeart/2005/8/layout/process3"/>
    <dgm:cxn modelId="{72B4E01C-4BC3-4DE6-9DEA-81D87E603334}" type="presParOf" srcId="{BCD02D81-ECA2-42A2-8D2B-D2E6BEFAAAB7}" destId="{31B28512-56A3-4B3B-B913-EAB922DC1DE2}" srcOrd="0" destOrd="0" presId="urn:microsoft.com/office/officeart/2005/8/layout/process3"/>
    <dgm:cxn modelId="{93870D1D-F695-4DCA-8586-D236B748AA98}" type="presParOf" srcId="{BCD02D81-ECA2-42A2-8D2B-D2E6BEFAAAB7}" destId="{F8B8FE14-F447-4037-A33B-4BEC5D6B5ABC}" srcOrd="1" destOrd="0" presId="urn:microsoft.com/office/officeart/2005/8/layout/process3"/>
    <dgm:cxn modelId="{BB33B513-DEF2-4D2F-B6FA-42C90EFA09C0}" type="presParOf" srcId="{BCD02D81-ECA2-42A2-8D2B-D2E6BEFAAAB7}" destId="{0A9461B2-A9AF-4222-BDED-209BE156D35C}" srcOrd="2" destOrd="0" presId="urn:microsoft.com/office/officeart/2005/8/layout/process3"/>
    <dgm:cxn modelId="{BBB8A0EB-11DB-4E4A-9A29-1973B13EB9C4}" type="presParOf" srcId="{5FAEC180-6FA0-4E38-9D1E-990ABDB6814F}" destId="{A93231B8-5CB3-4218-9A37-CA9E35B45470}" srcOrd="3" destOrd="0" presId="urn:microsoft.com/office/officeart/2005/8/layout/process3"/>
    <dgm:cxn modelId="{262704E3-7AEE-4B73-9A5A-18DA15E03317}" type="presParOf" srcId="{A93231B8-5CB3-4218-9A37-CA9E35B45470}" destId="{E490260D-C430-4B1F-A65A-FD96299DBA22}" srcOrd="0" destOrd="0" presId="urn:microsoft.com/office/officeart/2005/8/layout/process3"/>
    <dgm:cxn modelId="{651E3F1D-105A-4EDC-9A0E-32FC30481311}" type="presParOf" srcId="{5FAEC180-6FA0-4E38-9D1E-990ABDB6814F}" destId="{E5D422DD-3565-4886-BD6F-B54C46D7F5BD}" srcOrd="4" destOrd="0" presId="urn:microsoft.com/office/officeart/2005/8/layout/process3"/>
    <dgm:cxn modelId="{65C713EF-DB7F-43BA-BBB1-14AE2EF9CC26}" type="presParOf" srcId="{E5D422DD-3565-4886-BD6F-B54C46D7F5BD}" destId="{BF9E2F76-6B5D-43DB-A7F2-4A21C009BF40}" srcOrd="0" destOrd="0" presId="urn:microsoft.com/office/officeart/2005/8/layout/process3"/>
    <dgm:cxn modelId="{B7DD1D1C-D00A-472B-99CB-68F6F11D2709}" type="presParOf" srcId="{E5D422DD-3565-4886-BD6F-B54C46D7F5BD}" destId="{C399DA07-F433-446A-A511-7651E2D31800}" srcOrd="1" destOrd="0" presId="urn:microsoft.com/office/officeart/2005/8/layout/process3"/>
    <dgm:cxn modelId="{284F106E-8F86-4440-9A55-0F293ABE2FB4}" type="presParOf" srcId="{E5D422DD-3565-4886-BD6F-B54C46D7F5BD}" destId="{DCC3FCEA-0BC8-4D98-BFDA-E2DB9800EC74}"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Assignment of PPAs and other contracts from BPDB to holding company</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BF4626AB-9CB3-4EC9-82AA-0AF37D21F7A8}">
      <dgm:prSet phldrT="[Text]"/>
      <dgm:spPr/>
      <dgm:t>
        <a:bodyPr/>
        <a:lstStyle/>
        <a:p>
          <a:r>
            <a:rPr lang="en-US"/>
            <a:t>Negotiation of the terms and conditions of PPAs with IPPs and other gencos</a:t>
          </a:r>
        </a:p>
      </dgm:t>
    </dgm:pt>
    <dgm:pt modelId="{90DBE59A-FB90-4404-AFA0-13CA3F79D5EF}" type="parTrans" cxnId="{E92C78EC-FFC9-4E45-BAF4-DBF1044E5552}">
      <dgm:prSet/>
      <dgm:spPr/>
      <dgm:t>
        <a:bodyPr/>
        <a:lstStyle/>
        <a:p>
          <a:endParaRPr lang="en-US"/>
        </a:p>
      </dgm:t>
    </dgm:pt>
    <dgm:pt modelId="{278D66F6-69FF-4B29-B9E2-013619C1E045}" type="sibTrans" cxnId="{E92C78EC-FFC9-4E45-BAF4-DBF1044E5552}">
      <dgm:prSet/>
      <dgm:spPr/>
      <dgm:t>
        <a:bodyPr/>
        <a:lstStyle/>
        <a:p>
          <a:endParaRPr lang="en-US"/>
        </a:p>
      </dgm:t>
    </dgm:pt>
    <dgm:pt modelId="{4F42F67C-B60D-4F3E-89E1-0D34CC1E1727}">
      <dgm:prSet phldrT="[Text]"/>
      <dgm:spPr/>
      <dgm:t>
        <a:bodyPr/>
        <a:lstStyle/>
        <a:p>
          <a:r>
            <a:rPr lang="en-US"/>
            <a:t>Licensing of the holding company</a:t>
          </a:r>
        </a:p>
      </dgm:t>
    </dgm:pt>
    <dgm:pt modelId="{55D3586D-8FBB-4A0C-82D3-3F1BB65BD27F}" type="parTrans" cxnId="{6B536EC8-3E48-4B0A-BC59-7AC6055E0ABE}">
      <dgm:prSet/>
      <dgm:spPr/>
      <dgm:t>
        <a:bodyPr/>
        <a:lstStyle/>
        <a:p>
          <a:endParaRPr lang="en-US"/>
        </a:p>
      </dgm:t>
    </dgm:pt>
    <dgm:pt modelId="{74C0BEB9-13D4-4DE1-B883-EF5BB2830D98}" type="sibTrans" cxnId="{6B536EC8-3E48-4B0A-BC59-7AC6055E0ABE}">
      <dgm:prSet/>
      <dgm:spPr/>
      <dgm:t>
        <a:bodyPr/>
        <a:lstStyle/>
        <a:p>
          <a:endParaRPr lang="en-US"/>
        </a:p>
      </dgm:t>
    </dgm:pt>
    <dgm:pt modelId="{DAEB51CB-AA4C-4BBB-AE53-F42C7846DDF6}">
      <dgm:prSet phldrT="[Text]"/>
      <dgm:spPr/>
      <dgm:t>
        <a:bodyPr/>
        <a:lstStyle/>
        <a:p>
          <a:r>
            <a:rPr lang="en-US"/>
            <a:t>Application of holding company before BERC for license as per requirement under the prevailing regulatory framework</a:t>
          </a:r>
        </a:p>
      </dgm:t>
    </dgm:pt>
    <dgm:pt modelId="{36353FF4-D18E-47F5-B632-FC2381CF778B}" type="parTrans" cxnId="{A2B838FB-2A6B-48DB-9836-EA639477D8F9}">
      <dgm:prSet/>
      <dgm:spPr/>
      <dgm:t>
        <a:bodyPr/>
        <a:lstStyle/>
        <a:p>
          <a:endParaRPr lang="en-US"/>
        </a:p>
      </dgm:t>
    </dgm:pt>
    <dgm:pt modelId="{96F51A53-9929-46CF-8C11-7173EC4C9A58}" type="sibTrans" cxnId="{A2B838FB-2A6B-48DB-9836-EA639477D8F9}">
      <dgm:prSet/>
      <dgm:spPr/>
      <dgm:t>
        <a:bodyPr/>
        <a:lstStyle/>
        <a:p>
          <a:endParaRPr lang="en-US"/>
        </a:p>
      </dgm:t>
    </dgm:pt>
    <dgm:pt modelId="{A70669BC-662D-4817-A750-1E511EC66069}">
      <dgm:prSet phldrT="[Text]"/>
      <dgm:spPr/>
      <dgm:t>
        <a:bodyPr/>
        <a:lstStyle/>
        <a:p>
          <a:r>
            <a:rPr lang="en-US"/>
            <a:t>Taking requisite approval from GOB and regulators for the terms and conditions of PPA and other contracts</a:t>
          </a:r>
        </a:p>
      </dgm:t>
    </dgm:pt>
    <dgm:pt modelId="{7FA4746A-5923-492B-8BEB-4D959824C673}" type="parTrans" cxnId="{A15077F0-44EB-4264-81CF-4305549A6051}">
      <dgm:prSet/>
      <dgm:spPr/>
      <dgm:t>
        <a:bodyPr/>
        <a:lstStyle/>
        <a:p>
          <a:endParaRPr lang="en-US"/>
        </a:p>
      </dgm:t>
    </dgm:pt>
    <dgm:pt modelId="{BF099152-DB43-47FE-A7B2-0AF2D1EA98C6}" type="sibTrans" cxnId="{A15077F0-44EB-4264-81CF-4305549A6051}">
      <dgm:prSet/>
      <dgm:spPr/>
      <dgm:t>
        <a:bodyPr/>
        <a:lstStyle/>
        <a:p>
          <a:endParaRPr lang="en-US"/>
        </a:p>
      </dgm:t>
    </dgm:pt>
    <dgm:pt modelId="{61137E02-33A9-48A0-ACC2-3964E458EC10}">
      <dgm:prSet phldrT="[Text]"/>
      <dgm:spPr/>
      <dgm:t>
        <a:bodyPr/>
        <a:lstStyle/>
        <a:p>
          <a:r>
            <a:rPr lang="en-US"/>
            <a:t>Assignment of PPAs and other contracts from BPDB to new holding company</a:t>
          </a:r>
        </a:p>
      </dgm:t>
    </dgm:pt>
    <dgm:pt modelId="{9AF6DAFE-502C-452D-ACD5-195E96AE933C}" type="parTrans" cxnId="{A7098926-E38D-4606-93D4-21B134FBDD3E}">
      <dgm:prSet/>
      <dgm:spPr/>
      <dgm:t>
        <a:bodyPr/>
        <a:lstStyle/>
        <a:p>
          <a:endParaRPr lang="en-US"/>
        </a:p>
      </dgm:t>
    </dgm:pt>
    <dgm:pt modelId="{89DF6B6D-7F61-495F-B255-22924AB5EE95}" type="sibTrans" cxnId="{A7098926-E38D-4606-93D4-21B134FBDD3E}">
      <dgm:prSet/>
      <dgm:spPr/>
      <dgm:t>
        <a:bodyPr/>
        <a:lstStyle/>
        <a:p>
          <a:endParaRPr lang="en-US"/>
        </a:p>
      </dgm:t>
    </dgm:pt>
    <dgm:pt modelId="{25429EFC-3D60-4CF8-8B0C-077F585AF546}">
      <dgm:prSet phldrT="[Text]"/>
      <dgm:spPr/>
      <dgm:t>
        <a:bodyPr/>
        <a:lstStyle/>
        <a:p>
          <a:r>
            <a:rPr lang="en-US"/>
            <a:t>Scrutiny / verification of appliation by BERC</a:t>
          </a:r>
        </a:p>
      </dgm:t>
    </dgm:pt>
    <dgm:pt modelId="{44676CBD-B1FB-4603-811C-2F49893C1331}" type="parTrans" cxnId="{AE0DFFC8-2395-48EE-9537-22884C4FF89F}">
      <dgm:prSet/>
      <dgm:spPr/>
      <dgm:t>
        <a:bodyPr/>
        <a:lstStyle/>
        <a:p>
          <a:endParaRPr lang="en-US"/>
        </a:p>
      </dgm:t>
    </dgm:pt>
    <dgm:pt modelId="{03C95FB9-68B9-4D11-882E-F12764B6DC22}" type="sibTrans" cxnId="{AE0DFFC8-2395-48EE-9537-22884C4FF89F}">
      <dgm:prSet/>
      <dgm:spPr/>
      <dgm:t>
        <a:bodyPr/>
        <a:lstStyle/>
        <a:p>
          <a:endParaRPr lang="en-US"/>
        </a:p>
      </dgm:t>
    </dgm:pt>
    <dgm:pt modelId="{DDF74874-8CF6-47EA-A229-B1FEE2749C11}">
      <dgm:prSet phldrT="[Text]"/>
      <dgm:spPr/>
      <dgm:t>
        <a:bodyPr/>
        <a:lstStyle/>
        <a:p>
          <a:r>
            <a:rPr lang="en-US"/>
            <a:t>Grant of license to holding company by BERC</a:t>
          </a:r>
        </a:p>
      </dgm:t>
    </dgm:pt>
    <dgm:pt modelId="{DF7A62ED-9EA4-4E0A-8E90-C0CFDC758541}" type="parTrans" cxnId="{513BA075-CBE6-4F3F-9667-0558AFC4F474}">
      <dgm:prSet/>
      <dgm:spPr/>
      <dgm:t>
        <a:bodyPr/>
        <a:lstStyle/>
        <a:p>
          <a:endParaRPr lang="en-US"/>
        </a:p>
      </dgm:t>
    </dgm:pt>
    <dgm:pt modelId="{2D33E426-303B-4F0E-AB5F-EFF4A7B4C6F9}" type="sibTrans" cxnId="{513BA075-CBE6-4F3F-9667-0558AFC4F474}">
      <dgm:prSet/>
      <dgm:spPr/>
      <dgm:t>
        <a:bodyPr/>
        <a:lstStyle/>
        <a:p>
          <a:endParaRPr lang="en-US"/>
        </a:p>
      </dgm:t>
    </dgm:pt>
    <dgm:pt modelId="{3DCFC64E-1ED1-4D48-875B-562E290BF1DE}">
      <dgm:prSet phldrT="[Text]"/>
      <dgm:spPr/>
      <dgm:t>
        <a:bodyPr/>
        <a:lstStyle/>
        <a:p>
          <a:r>
            <a:rPr lang="en-US" dirty="0"/>
            <a:t>Negotiations of contractual terms and conditions with respective parties</a:t>
          </a:r>
        </a:p>
      </dgm:t>
    </dgm:pt>
    <dgm:pt modelId="{153AEA33-9DDC-4314-93FC-76EE8AF7A34C}" type="parTrans" cxnId="{8A6D460F-3595-4D2B-9AE6-C124B822FDEB}">
      <dgm:prSet/>
      <dgm:spPr/>
      <dgm:t>
        <a:bodyPr/>
        <a:lstStyle/>
        <a:p>
          <a:endParaRPr lang="en-US"/>
        </a:p>
      </dgm:t>
    </dgm:pt>
    <dgm:pt modelId="{E6CC52C6-1B78-4023-9423-2F354582017D}" type="sibTrans" cxnId="{8A6D460F-3595-4D2B-9AE6-C124B822FDEB}">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2">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2"/>
      <dgm:spPr/>
      <dgm:t>
        <a:bodyPr/>
        <a:lstStyle/>
        <a:p>
          <a:endParaRPr lang="en-US"/>
        </a:p>
      </dgm:t>
    </dgm:pt>
    <dgm:pt modelId="{7E8F3D55-80E5-4F13-9459-E39284D0328D}" type="pres">
      <dgm:prSet presAssocID="{03454651-1876-463C-891F-DBFB67BE2D7D}" presName="desTx" presStyleLbl="fgAcc1" presStyleIdx="0" presStyleCnt="2">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1"/>
      <dgm:spPr/>
      <dgm:t>
        <a:bodyPr/>
        <a:lstStyle/>
        <a:p>
          <a:endParaRPr lang="en-US"/>
        </a:p>
      </dgm:t>
    </dgm:pt>
    <dgm:pt modelId="{4B650DD2-5F02-4AE9-9DDB-38B6153A658F}" type="pres">
      <dgm:prSet presAssocID="{32EC2ED1-5A41-47F2-A0A5-89A6987013DA}" presName="connTx" presStyleLbl="sibTrans2D1" presStyleIdx="0" presStyleCnt="1"/>
      <dgm:spPr/>
      <dgm:t>
        <a:bodyPr/>
        <a:lstStyle/>
        <a:p>
          <a:endParaRPr lang="en-US"/>
        </a:p>
      </dgm:t>
    </dgm:pt>
    <dgm:pt modelId="{BCD02D81-ECA2-42A2-8D2B-D2E6BEFAAAB7}" type="pres">
      <dgm:prSet presAssocID="{4F42F67C-B60D-4F3E-89E1-0D34CC1E1727}" presName="composite" presStyleCnt="0"/>
      <dgm:spPr/>
    </dgm:pt>
    <dgm:pt modelId="{31B28512-56A3-4B3B-B913-EAB922DC1DE2}" type="pres">
      <dgm:prSet presAssocID="{4F42F67C-B60D-4F3E-89E1-0D34CC1E1727}" presName="parTx" presStyleLbl="node1" presStyleIdx="0" presStyleCnt="2">
        <dgm:presLayoutVars>
          <dgm:chMax val="0"/>
          <dgm:chPref val="0"/>
          <dgm:bulletEnabled val="1"/>
        </dgm:presLayoutVars>
      </dgm:prSet>
      <dgm:spPr/>
      <dgm:t>
        <a:bodyPr/>
        <a:lstStyle/>
        <a:p>
          <a:endParaRPr lang="en-US"/>
        </a:p>
      </dgm:t>
    </dgm:pt>
    <dgm:pt modelId="{F8B8FE14-F447-4037-A33B-4BEC5D6B5ABC}" type="pres">
      <dgm:prSet presAssocID="{4F42F67C-B60D-4F3E-89E1-0D34CC1E1727}" presName="parSh" presStyleLbl="node1" presStyleIdx="1" presStyleCnt="2"/>
      <dgm:spPr/>
      <dgm:t>
        <a:bodyPr/>
        <a:lstStyle/>
        <a:p>
          <a:endParaRPr lang="en-US"/>
        </a:p>
      </dgm:t>
    </dgm:pt>
    <dgm:pt modelId="{0A9461B2-A9AF-4222-BDED-209BE156D35C}" type="pres">
      <dgm:prSet presAssocID="{4F42F67C-B60D-4F3E-89E1-0D34CC1E1727}" presName="desTx" presStyleLbl="fgAcc1" presStyleIdx="1" presStyleCnt="2">
        <dgm:presLayoutVars>
          <dgm:bulletEnabled val="1"/>
        </dgm:presLayoutVars>
      </dgm:prSet>
      <dgm:spPr/>
      <dgm:t>
        <a:bodyPr/>
        <a:lstStyle/>
        <a:p>
          <a:endParaRPr lang="en-US"/>
        </a:p>
      </dgm:t>
    </dgm:pt>
  </dgm:ptLst>
  <dgm:cxnLst>
    <dgm:cxn modelId="{FE7B8457-481E-43C2-B62B-7DF79187F93B}" type="presOf" srcId="{03454651-1876-463C-891F-DBFB67BE2D7D}" destId="{3D847FC2-380F-49AF-936C-1553F8F26F3C}" srcOrd="0" destOrd="0" presId="urn:microsoft.com/office/officeart/2005/8/layout/process3"/>
    <dgm:cxn modelId="{7938E65E-474B-4858-9CE3-C87FEF504063}" type="presOf" srcId="{DAEB51CB-AA4C-4BBB-AE53-F42C7846DDF6}" destId="{0A9461B2-A9AF-4222-BDED-209BE156D35C}" srcOrd="0" destOrd="0" presId="urn:microsoft.com/office/officeart/2005/8/layout/process3"/>
    <dgm:cxn modelId="{A2B838FB-2A6B-48DB-9836-EA639477D8F9}" srcId="{4F42F67C-B60D-4F3E-89E1-0D34CC1E1727}" destId="{DAEB51CB-AA4C-4BBB-AE53-F42C7846DDF6}" srcOrd="0" destOrd="0" parTransId="{36353FF4-D18E-47F5-B632-FC2381CF778B}" sibTransId="{96F51A53-9929-46CF-8C11-7173EC4C9A58}"/>
    <dgm:cxn modelId="{574F08EA-D2C0-49FF-96D5-C889B733AA9F}" type="presOf" srcId="{4F42F67C-B60D-4F3E-89E1-0D34CC1E1727}" destId="{F8B8FE14-F447-4037-A33B-4BEC5D6B5ABC}" srcOrd="1" destOrd="0"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A7098926-E38D-4606-93D4-21B134FBDD3E}" srcId="{03454651-1876-463C-891F-DBFB67BE2D7D}" destId="{61137E02-33A9-48A0-ACC2-3964E458EC10}" srcOrd="3" destOrd="0" parTransId="{9AF6DAFE-502C-452D-ACD5-195E96AE933C}" sibTransId="{89DF6B6D-7F61-495F-B255-22924AB5EE95}"/>
    <dgm:cxn modelId="{6B536EC8-3E48-4B0A-BC59-7AC6055E0ABE}" srcId="{72C595F7-F9FE-4C3C-B546-D393C43DA1D5}" destId="{4F42F67C-B60D-4F3E-89E1-0D34CC1E1727}" srcOrd="1" destOrd="0" parTransId="{55D3586D-8FBB-4A0C-82D3-3F1BB65BD27F}" sibTransId="{74C0BEB9-13D4-4DE1-B883-EF5BB2830D98}"/>
    <dgm:cxn modelId="{1F9CC5A4-B988-4AA9-9FCA-164BB2F4DDBA}" type="presOf" srcId="{32EC2ED1-5A41-47F2-A0A5-89A6987013DA}" destId="{4B650DD2-5F02-4AE9-9DDB-38B6153A658F}" srcOrd="1" destOrd="0" presId="urn:microsoft.com/office/officeart/2005/8/layout/process3"/>
    <dgm:cxn modelId="{C23E39E9-F1B5-451A-8627-FDA2389050C1}" type="presOf" srcId="{25429EFC-3D60-4CF8-8B0C-077F585AF546}" destId="{0A9461B2-A9AF-4222-BDED-209BE156D35C}" srcOrd="0" destOrd="1" presId="urn:microsoft.com/office/officeart/2005/8/layout/process3"/>
    <dgm:cxn modelId="{86DB1833-B7EA-4C9C-85AF-E410BACF4CC4}" type="presOf" srcId="{32EC2ED1-5A41-47F2-A0A5-89A6987013DA}" destId="{2185D18F-377B-4641-B87A-82A7FD17C65D}" srcOrd="0" destOrd="0" presId="urn:microsoft.com/office/officeart/2005/8/layout/process3"/>
    <dgm:cxn modelId="{A15077F0-44EB-4264-81CF-4305549A6051}" srcId="{03454651-1876-463C-891F-DBFB67BE2D7D}" destId="{A70669BC-662D-4817-A750-1E511EC66069}" srcOrd="2" destOrd="0" parTransId="{7FA4746A-5923-492B-8BEB-4D959824C673}" sibTransId="{BF099152-DB43-47FE-A7B2-0AF2D1EA98C6}"/>
    <dgm:cxn modelId="{8A6D460F-3595-4D2B-9AE6-C124B822FDEB}" srcId="{03454651-1876-463C-891F-DBFB67BE2D7D}" destId="{3DCFC64E-1ED1-4D48-875B-562E290BF1DE}" srcOrd="1" destOrd="0" parTransId="{153AEA33-9DDC-4314-93FC-76EE8AF7A34C}" sibTransId="{E6CC52C6-1B78-4023-9423-2F354582017D}"/>
    <dgm:cxn modelId="{A41C36D7-292A-40AB-AE2E-C8E095DAB19D}" type="presOf" srcId="{DDF74874-8CF6-47EA-A229-B1FEE2749C11}" destId="{0A9461B2-A9AF-4222-BDED-209BE156D35C}" srcOrd="0" destOrd="2" presId="urn:microsoft.com/office/officeart/2005/8/layout/process3"/>
    <dgm:cxn modelId="{AE0DFFC8-2395-48EE-9537-22884C4FF89F}" srcId="{4F42F67C-B60D-4F3E-89E1-0D34CC1E1727}" destId="{25429EFC-3D60-4CF8-8B0C-077F585AF546}" srcOrd="1" destOrd="0" parTransId="{44676CBD-B1FB-4603-811C-2F49893C1331}" sibTransId="{03C95FB9-68B9-4D11-882E-F12764B6DC22}"/>
    <dgm:cxn modelId="{E92C78EC-FFC9-4E45-BAF4-DBF1044E5552}" srcId="{03454651-1876-463C-891F-DBFB67BE2D7D}" destId="{BF4626AB-9CB3-4EC9-82AA-0AF37D21F7A8}" srcOrd="0" destOrd="0" parTransId="{90DBE59A-FB90-4404-AFA0-13CA3F79D5EF}" sibTransId="{278D66F6-69FF-4B29-B9E2-013619C1E045}"/>
    <dgm:cxn modelId="{513BA075-CBE6-4F3F-9667-0558AFC4F474}" srcId="{4F42F67C-B60D-4F3E-89E1-0D34CC1E1727}" destId="{DDF74874-8CF6-47EA-A229-B1FEE2749C11}" srcOrd="2" destOrd="0" parTransId="{DF7A62ED-9EA4-4E0A-8E90-C0CFDC758541}" sibTransId="{2D33E426-303B-4F0E-AB5F-EFF4A7B4C6F9}"/>
    <dgm:cxn modelId="{AFACFC2A-4521-4117-AD99-566D43324FB2}" type="presOf" srcId="{03454651-1876-463C-891F-DBFB67BE2D7D}" destId="{3A83BC6F-B725-4345-B234-B50F8B6B5DAE}" srcOrd="1" destOrd="0" presId="urn:microsoft.com/office/officeart/2005/8/layout/process3"/>
    <dgm:cxn modelId="{B26D3532-C1E2-4F1A-B47A-5189768BA692}" type="presOf" srcId="{A70669BC-662D-4817-A750-1E511EC66069}" destId="{7E8F3D55-80E5-4F13-9459-E39284D0328D}" srcOrd="0" destOrd="2" presId="urn:microsoft.com/office/officeart/2005/8/layout/process3"/>
    <dgm:cxn modelId="{0EB192CA-7840-493B-91D2-E42E2F33B16D}" type="presOf" srcId="{3DCFC64E-1ED1-4D48-875B-562E290BF1DE}" destId="{7E8F3D55-80E5-4F13-9459-E39284D0328D}" srcOrd="0" destOrd="1" presId="urn:microsoft.com/office/officeart/2005/8/layout/process3"/>
    <dgm:cxn modelId="{B5A92ED4-415A-40B1-AA57-FFB0C20B5EA3}" type="presOf" srcId="{4F42F67C-B60D-4F3E-89E1-0D34CC1E1727}" destId="{31B28512-56A3-4B3B-B913-EAB922DC1DE2}" srcOrd="0" destOrd="0" presId="urn:microsoft.com/office/officeart/2005/8/layout/process3"/>
    <dgm:cxn modelId="{F7D61424-EE96-4BBC-9130-101602219E92}" type="presOf" srcId="{BF4626AB-9CB3-4EC9-82AA-0AF37D21F7A8}" destId="{7E8F3D55-80E5-4F13-9459-E39284D0328D}" srcOrd="0" destOrd="0" presId="urn:microsoft.com/office/officeart/2005/8/layout/process3"/>
    <dgm:cxn modelId="{66B54CEE-04A7-4F72-89E3-272072604648}" type="presOf" srcId="{61137E02-33A9-48A0-ACC2-3964E458EC10}" destId="{7E8F3D55-80E5-4F13-9459-E39284D0328D}" srcOrd="0" destOrd="3" presId="urn:microsoft.com/office/officeart/2005/8/layout/process3"/>
    <dgm:cxn modelId="{E502DB6E-5A26-4085-B322-4FA1FEBBB768}" type="presOf" srcId="{72C595F7-F9FE-4C3C-B546-D393C43DA1D5}" destId="{5FAEC180-6FA0-4E38-9D1E-990ABDB6814F}" srcOrd="0" destOrd="0" presId="urn:microsoft.com/office/officeart/2005/8/layout/process3"/>
    <dgm:cxn modelId="{FC73C0AA-CC37-4F02-959E-002FA8D08274}" type="presParOf" srcId="{5FAEC180-6FA0-4E38-9D1E-990ABDB6814F}" destId="{1ED04EDF-BDDC-4FBE-ADFE-4ECCA1ABCE5C}" srcOrd="0" destOrd="0" presId="urn:microsoft.com/office/officeart/2005/8/layout/process3"/>
    <dgm:cxn modelId="{7B42A965-7769-4270-8426-94D2FAAABDA1}" type="presParOf" srcId="{1ED04EDF-BDDC-4FBE-ADFE-4ECCA1ABCE5C}" destId="{3D847FC2-380F-49AF-936C-1553F8F26F3C}" srcOrd="0" destOrd="0" presId="urn:microsoft.com/office/officeart/2005/8/layout/process3"/>
    <dgm:cxn modelId="{8814968E-546F-4B9B-8C7D-AAC1100F31FC}" type="presParOf" srcId="{1ED04EDF-BDDC-4FBE-ADFE-4ECCA1ABCE5C}" destId="{3A83BC6F-B725-4345-B234-B50F8B6B5DAE}" srcOrd="1" destOrd="0" presId="urn:microsoft.com/office/officeart/2005/8/layout/process3"/>
    <dgm:cxn modelId="{4B4BA537-AB75-44E2-8B15-3CDB76510C05}" type="presParOf" srcId="{1ED04EDF-BDDC-4FBE-ADFE-4ECCA1ABCE5C}" destId="{7E8F3D55-80E5-4F13-9459-E39284D0328D}" srcOrd="2" destOrd="0" presId="urn:microsoft.com/office/officeart/2005/8/layout/process3"/>
    <dgm:cxn modelId="{AE7FCACB-9F0C-4FF2-91E2-EAEA5A00BBA4}" type="presParOf" srcId="{5FAEC180-6FA0-4E38-9D1E-990ABDB6814F}" destId="{2185D18F-377B-4641-B87A-82A7FD17C65D}" srcOrd="1" destOrd="0" presId="urn:microsoft.com/office/officeart/2005/8/layout/process3"/>
    <dgm:cxn modelId="{21769029-1F09-4B60-9F51-6AC4732BBF92}" type="presParOf" srcId="{2185D18F-377B-4641-B87A-82A7FD17C65D}" destId="{4B650DD2-5F02-4AE9-9DDB-38B6153A658F}" srcOrd="0" destOrd="0" presId="urn:microsoft.com/office/officeart/2005/8/layout/process3"/>
    <dgm:cxn modelId="{3653DBC9-323B-4E8C-A6DD-04C4241F5A9C}" type="presParOf" srcId="{5FAEC180-6FA0-4E38-9D1E-990ABDB6814F}" destId="{BCD02D81-ECA2-42A2-8D2B-D2E6BEFAAAB7}" srcOrd="2" destOrd="0" presId="urn:microsoft.com/office/officeart/2005/8/layout/process3"/>
    <dgm:cxn modelId="{B7366A57-B327-4920-8B6D-9AD9033AB65A}" type="presParOf" srcId="{BCD02D81-ECA2-42A2-8D2B-D2E6BEFAAAB7}" destId="{31B28512-56A3-4B3B-B913-EAB922DC1DE2}" srcOrd="0" destOrd="0" presId="urn:microsoft.com/office/officeart/2005/8/layout/process3"/>
    <dgm:cxn modelId="{03039B28-966C-473B-A5B1-23820C22455B}" type="presParOf" srcId="{BCD02D81-ECA2-42A2-8D2B-D2E6BEFAAAB7}" destId="{F8B8FE14-F447-4037-A33B-4BEC5D6B5ABC}" srcOrd="1" destOrd="0" presId="urn:microsoft.com/office/officeart/2005/8/layout/process3"/>
    <dgm:cxn modelId="{27F0961C-549B-41C2-A888-FF16B760168C}" type="presParOf" srcId="{BCD02D81-ECA2-42A2-8D2B-D2E6BEFAAAB7}" destId="{0A9461B2-A9AF-4222-BDED-209BE156D35C}"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CAF2A24-1859-4F47-9708-93FA5684084C}" type="doc">
      <dgm:prSet loTypeId="urn:microsoft.com/office/officeart/2005/8/layout/default" loCatId="list" qsTypeId="urn:microsoft.com/office/officeart/2005/8/quickstyle/simple1" qsCatId="simple" csTypeId="urn:microsoft.com/office/officeart/2005/8/colors/accent3_1" csCatId="accent3" phldr="1"/>
      <dgm:spPr/>
      <dgm:t>
        <a:bodyPr/>
        <a:lstStyle/>
        <a:p>
          <a:endParaRPr lang="en-US"/>
        </a:p>
      </dgm:t>
    </dgm:pt>
    <dgm:pt modelId="{AB1A42D3-236E-4732-9C71-1CABD9B95E46}">
      <dgm:prSet phldrT="[Text]" custT="1"/>
      <dgm:spPr/>
      <dgm:t>
        <a:bodyPr/>
        <a:lstStyle/>
        <a:p>
          <a:r>
            <a:rPr lang="en-US" sz="1200" smtClean="0"/>
            <a:t>Board governance strengthening</a:t>
          </a:r>
          <a:endParaRPr lang="en-US" sz="1200"/>
        </a:p>
      </dgm:t>
    </dgm:pt>
    <dgm:pt modelId="{5ABEEBF7-D845-48FE-9E29-CDDFB07EF089}" type="parTrans" cxnId="{C120204B-E77E-40A9-9954-E78CAF199916}">
      <dgm:prSet/>
      <dgm:spPr/>
      <dgm:t>
        <a:bodyPr/>
        <a:lstStyle/>
        <a:p>
          <a:endParaRPr lang="en-US" sz="1200">
            <a:solidFill>
              <a:schemeClr val="tx1"/>
            </a:solidFill>
          </a:endParaRPr>
        </a:p>
      </dgm:t>
    </dgm:pt>
    <dgm:pt modelId="{D15C42E6-113F-464E-BD7D-BA9884C5DC13}" type="sibTrans" cxnId="{C120204B-E77E-40A9-9954-E78CAF199916}">
      <dgm:prSet/>
      <dgm:spPr/>
      <dgm:t>
        <a:bodyPr/>
        <a:lstStyle/>
        <a:p>
          <a:endParaRPr lang="en-US" sz="1200">
            <a:solidFill>
              <a:schemeClr val="tx1"/>
            </a:solidFill>
          </a:endParaRPr>
        </a:p>
      </dgm:t>
    </dgm:pt>
    <dgm:pt modelId="{C732E65B-1846-43D0-8822-F99A8C362789}">
      <dgm:prSet phldrT="[Text]" custT="1"/>
      <dgm:spPr/>
      <dgm:t>
        <a:bodyPr/>
        <a:lstStyle/>
        <a:p>
          <a:r>
            <a:rPr lang="en-US" sz="1200" smtClean="0"/>
            <a:t>Human Resources management</a:t>
          </a:r>
          <a:endParaRPr lang="en-US" sz="1200"/>
        </a:p>
      </dgm:t>
    </dgm:pt>
    <dgm:pt modelId="{8A774A13-B69C-4C1D-A065-69FBFC26433B}" type="parTrans" cxnId="{3AB8A224-4AE9-48D7-8904-DD17741981F2}">
      <dgm:prSet/>
      <dgm:spPr/>
      <dgm:t>
        <a:bodyPr/>
        <a:lstStyle/>
        <a:p>
          <a:endParaRPr lang="en-US" sz="1200">
            <a:solidFill>
              <a:schemeClr val="tx1"/>
            </a:solidFill>
          </a:endParaRPr>
        </a:p>
      </dgm:t>
    </dgm:pt>
    <dgm:pt modelId="{A68D22DE-E201-40E6-9A9E-6C42E56D1BA9}" type="sibTrans" cxnId="{3AB8A224-4AE9-48D7-8904-DD17741981F2}">
      <dgm:prSet/>
      <dgm:spPr/>
      <dgm:t>
        <a:bodyPr/>
        <a:lstStyle/>
        <a:p>
          <a:endParaRPr lang="en-US" sz="1200">
            <a:solidFill>
              <a:schemeClr val="tx1"/>
            </a:solidFill>
          </a:endParaRPr>
        </a:p>
      </dgm:t>
    </dgm:pt>
    <dgm:pt modelId="{6662520A-4424-4980-BEEF-2A28F3D21CDE}">
      <dgm:prSet phldrT="[Text]" custT="1"/>
      <dgm:spPr/>
      <dgm:t>
        <a:bodyPr/>
        <a:lstStyle/>
        <a:p>
          <a:r>
            <a:rPr lang="en-US" sz="1200" smtClean="0"/>
            <a:t>Financial management</a:t>
          </a:r>
          <a:endParaRPr lang="en-US" sz="1200"/>
        </a:p>
      </dgm:t>
    </dgm:pt>
    <dgm:pt modelId="{7C8B8108-13FE-4C2A-926A-9912AF742150}" type="parTrans" cxnId="{9544B147-E754-4D54-A0CA-6ED3CEC280DD}">
      <dgm:prSet/>
      <dgm:spPr/>
      <dgm:t>
        <a:bodyPr/>
        <a:lstStyle/>
        <a:p>
          <a:endParaRPr lang="en-US" sz="1200">
            <a:solidFill>
              <a:schemeClr val="tx1"/>
            </a:solidFill>
          </a:endParaRPr>
        </a:p>
      </dgm:t>
    </dgm:pt>
    <dgm:pt modelId="{D33A818B-2576-4787-8F8B-4849A44F6F31}" type="sibTrans" cxnId="{9544B147-E754-4D54-A0CA-6ED3CEC280DD}">
      <dgm:prSet/>
      <dgm:spPr/>
      <dgm:t>
        <a:bodyPr/>
        <a:lstStyle/>
        <a:p>
          <a:endParaRPr lang="en-US" sz="1200">
            <a:solidFill>
              <a:schemeClr val="tx1"/>
            </a:solidFill>
          </a:endParaRPr>
        </a:p>
      </dgm:t>
    </dgm:pt>
    <dgm:pt modelId="{276C79EE-648E-4B77-9A7B-8537CCD9530D}">
      <dgm:prSet phldrT="[Text]" custT="1"/>
      <dgm:spPr/>
      <dgm:t>
        <a:bodyPr/>
        <a:lstStyle/>
        <a:p>
          <a:r>
            <a:rPr lang="en-US" sz="1200" smtClean="0"/>
            <a:t>Procurement and inventory management</a:t>
          </a:r>
          <a:endParaRPr lang="en-US" sz="1200" dirty="0"/>
        </a:p>
      </dgm:t>
    </dgm:pt>
    <dgm:pt modelId="{ADCB46B2-5862-4674-BA51-57AD2957D1B1}" type="parTrans" cxnId="{BC92A149-AB63-442C-9147-8AA30F7C5C2D}">
      <dgm:prSet/>
      <dgm:spPr/>
      <dgm:t>
        <a:bodyPr/>
        <a:lstStyle/>
        <a:p>
          <a:endParaRPr lang="en-US" sz="1200">
            <a:solidFill>
              <a:schemeClr val="tx1"/>
            </a:solidFill>
          </a:endParaRPr>
        </a:p>
      </dgm:t>
    </dgm:pt>
    <dgm:pt modelId="{BD73AA4A-B839-40F7-908A-71B0645B5AD9}" type="sibTrans" cxnId="{BC92A149-AB63-442C-9147-8AA30F7C5C2D}">
      <dgm:prSet/>
      <dgm:spPr/>
      <dgm:t>
        <a:bodyPr/>
        <a:lstStyle/>
        <a:p>
          <a:endParaRPr lang="en-US" sz="1200">
            <a:solidFill>
              <a:schemeClr val="tx1"/>
            </a:solidFill>
          </a:endParaRPr>
        </a:p>
      </dgm:t>
    </dgm:pt>
    <dgm:pt modelId="{4DE6C107-0D98-4407-8F42-8FAFBE1C9ADE}">
      <dgm:prSet phldrT="[Text]" custT="1"/>
      <dgm:spPr/>
      <dgm:t>
        <a:bodyPr/>
        <a:lstStyle/>
        <a:p>
          <a:r>
            <a:rPr lang="en-US" sz="1200" smtClean="0"/>
            <a:t>Regulatory and commercial affairs, single buyer activities</a:t>
          </a:r>
          <a:endParaRPr lang="en-US" sz="1200"/>
        </a:p>
      </dgm:t>
    </dgm:pt>
    <dgm:pt modelId="{5EBD799A-8893-4016-8AD1-3A5DD12615FC}" type="parTrans" cxnId="{03BB9317-3095-4D27-B394-9DAD3DAAAEB4}">
      <dgm:prSet/>
      <dgm:spPr/>
      <dgm:t>
        <a:bodyPr/>
        <a:lstStyle/>
        <a:p>
          <a:endParaRPr lang="en-US" sz="1200">
            <a:solidFill>
              <a:schemeClr val="tx1"/>
            </a:solidFill>
          </a:endParaRPr>
        </a:p>
      </dgm:t>
    </dgm:pt>
    <dgm:pt modelId="{AEE8A802-B9AA-491A-91CD-D791A0F9E5C2}" type="sibTrans" cxnId="{03BB9317-3095-4D27-B394-9DAD3DAAAEB4}">
      <dgm:prSet/>
      <dgm:spPr/>
      <dgm:t>
        <a:bodyPr/>
        <a:lstStyle/>
        <a:p>
          <a:endParaRPr lang="en-US" sz="1200">
            <a:solidFill>
              <a:schemeClr val="tx1"/>
            </a:solidFill>
          </a:endParaRPr>
        </a:p>
      </dgm:t>
    </dgm:pt>
    <dgm:pt modelId="{773BC39F-6CC3-420B-9EB4-0A9CC5C278B0}">
      <dgm:prSet phldrT="[Text]" custT="1"/>
      <dgm:spPr/>
      <dgm:t>
        <a:bodyPr/>
        <a:lstStyle/>
        <a:p>
          <a:r>
            <a:rPr lang="en-US" sz="1200" smtClean="0"/>
            <a:t>ICT strategy and implementation</a:t>
          </a:r>
          <a:endParaRPr lang="en-US" sz="1200"/>
        </a:p>
      </dgm:t>
    </dgm:pt>
    <dgm:pt modelId="{56ACA1B1-7A34-4930-A0EF-C4CEB4684173}" type="parTrans" cxnId="{68D5279E-CB4B-42B2-9BEF-C9E655AA3A28}">
      <dgm:prSet/>
      <dgm:spPr/>
      <dgm:t>
        <a:bodyPr/>
        <a:lstStyle/>
        <a:p>
          <a:endParaRPr lang="en-US" sz="1200">
            <a:solidFill>
              <a:schemeClr val="tx1"/>
            </a:solidFill>
          </a:endParaRPr>
        </a:p>
      </dgm:t>
    </dgm:pt>
    <dgm:pt modelId="{F33509CD-B30D-4EA3-8F71-51A3CA69965B}" type="sibTrans" cxnId="{68D5279E-CB4B-42B2-9BEF-C9E655AA3A28}">
      <dgm:prSet/>
      <dgm:spPr/>
      <dgm:t>
        <a:bodyPr/>
        <a:lstStyle/>
        <a:p>
          <a:endParaRPr lang="en-US" sz="1200">
            <a:solidFill>
              <a:schemeClr val="tx1"/>
            </a:solidFill>
          </a:endParaRPr>
        </a:p>
      </dgm:t>
    </dgm:pt>
    <dgm:pt modelId="{CC61E34A-36EA-4A37-8FB6-5D33D3E97B36}">
      <dgm:prSet phldrT="[Text]" custT="1"/>
      <dgm:spPr/>
      <dgm:t>
        <a:bodyPr/>
        <a:lstStyle/>
        <a:p>
          <a:r>
            <a:rPr lang="en-US" sz="1200" smtClean="0"/>
            <a:t>Generation strengthening and Power plant asset management (O&amp;M Service Company)</a:t>
          </a:r>
          <a:endParaRPr lang="en-US" sz="1200" dirty="0"/>
        </a:p>
      </dgm:t>
    </dgm:pt>
    <dgm:pt modelId="{C8DC4B55-DDC8-4AD6-96B0-5934E06C0E96}" type="parTrans" cxnId="{ECE45EA9-AEA7-40D5-9EC2-79FFEF9EE48D}">
      <dgm:prSet/>
      <dgm:spPr/>
      <dgm:t>
        <a:bodyPr/>
        <a:lstStyle/>
        <a:p>
          <a:endParaRPr lang="en-US" sz="1200">
            <a:solidFill>
              <a:schemeClr val="tx1"/>
            </a:solidFill>
          </a:endParaRPr>
        </a:p>
      </dgm:t>
    </dgm:pt>
    <dgm:pt modelId="{C182EFD8-302F-4785-8B5F-3AEC35180F42}" type="sibTrans" cxnId="{ECE45EA9-AEA7-40D5-9EC2-79FFEF9EE48D}">
      <dgm:prSet/>
      <dgm:spPr/>
      <dgm:t>
        <a:bodyPr/>
        <a:lstStyle/>
        <a:p>
          <a:endParaRPr lang="en-US" sz="1200">
            <a:solidFill>
              <a:schemeClr val="tx1"/>
            </a:solidFill>
          </a:endParaRPr>
        </a:p>
      </dgm:t>
    </dgm:pt>
    <dgm:pt modelId="{15549452-D982-4085-B1CC-6DC9893CB1D8}">
      <dgm:prSet phldrT="[Text]" custT="1"/>
      <dgm:spPr/>
      <dgm:t>
        <a:bodyPr/>
        <a:lstStyle/>
        <a:p>
          <a:r>
            <a:rPr lang="en-US" sz="1200" smtClean="0"/>
            <a:t>Performance monitoring, review and management</a:t>
          </a:r>
          <a:endParaRPr lang="en-US" sz="1200"/>
        </a:p>
      </dgm:t>
    </dgm:pt>
    <dgm:pt modelId="{1D5AEDB9-9A81-4AA9-85ED-ABF81C7FA53A}" type="parTrans" cxnId="{23AAF5F2-1DC9-4E17-9F4E-CF55A26F3A73}">
      <dgm:prSet/>
      <dgm:spPr/>
      <dgm:t>
        <a:bodyPr/>
        <a:lstStyle/>
        <a:p>
          <a:endParaRPr lang="en-US" sz="1200">
            <a:solidFill>
              <a:schemeClr val="tx1"/>
            </a:solidFill>
          </a:endParaRPr>
        </a:p>
      </dgm:t>
    </dgm:pt>
    <dgm:pt modelId="{00888160-2E4C-4391-8E0A-BA1EB0371636}" type="sibTrans" cxnId="{23AAF5F2-1DC9-4E17-9F4E-CF55A26F3A73}">
      <dgm:prSet/>
      <dgm:spPr/>
      <dgm:t>
        <a:bodyPr/>
        <a:lstStyle/>
        <a:p>
          <a:endParaRPr lang="en-US" sz="1200">
            <a:solidFill>
              <a:schemeClr val="tx1"/>
            </a:solidFill>
          </a:endParaRPr>
        </a:p>
      </dgm:t>
    </dgm:pt>
    <dgm:pt modelId="{9708FFE9-4EA9-4F62-8B65-09EA5244DA2D}">
      <dgm:prSet phldrT="[Text]" custT="1"/>
      <dgm:spPr/>
      <dgm:t>
        <a:bodyPr/>
        <a:lstStyle/>
        <a:p>
          <a:r>
            <a:rPr lang="en-US" sz="1200" smtClean="0"/>
            <a:t>Risk management</a:t>
          </a:r>
          <a:endParaRPr lang="en-US" sz="1200"/>
        </a:p>
      </dgm:t>
    </dgm:pt>
    <dgm:pt modelId="{B78DAC13-9C8E-4160-8A79-0345EB39973C}" type="parTrans" cxnId="{9207961B-435B-4471-9FE2-F31C4DC53AC8}">
      <dgm:prSet/>
      <dgm:spPr/>
      <dgm:t>
        <a:bodyPr/>
        <a:lstStyle/>
        <a:p>
          <a:endParaRPr lang="en-US" sz="1200">
            <a:solidFill>
              <a:schemeClr val="tx1"/>
            </a:solidFill>
          </a:endParaRPr>
        </a:p>
      </dgm:t>
    </dgm:pt>
    <dgm:pt modelId="{31A8831B-C64E-44E3-9FC8-7B97CD6ACBCE}" type="sibTrans" cxnId="{9207961B-435B-4471-9FE2-F31C4DC53AC8}">
      <dgm:prSet/>
      <dgm:spPr/>
      <dgm:t>
        <a:bodyPr/>
        <a:lstStyle/>
        <a:p>
          <a:endParaRPr lang="en-US" sz="1200">
            <a:solidFill>
              <a:schemeClr val="tx1"/>
            </a:solidFill>
          </a:endParaRPr>
        </a:p>
      </dgm:t>
    </dgm:pt>
    <dgm:pt modelId="{59D50389-ABD6-4180-9E42-D220EF7B70F0}">
      <dgm:prSet phldrT="[Text]" custT="1"/>
      <dgm:spPr/>
      <dgm:t>
        <a:bodyPr/>
        <a:lstStyle/>
        <a:p>
          <a:r>
            <a:rPr lang="en-US" sz="1200" smtClean="0"/>
            <a:t>Communication strategy</a:t>
          </a:r>
          <a:endParaRPr lang="en-US" sz="1200"/>
        </a:p>
      </dgm:t>
    </dgm:pt>
    <dgm:pt modelId="{16254677-6F54-4F8B-98D5-81A297B48A0E}" type="parTrans" cxnId="{279A418F-F8F6-4553-B003-1193B4BF2A42}">
      <dgm:prSet/>
      <dgm:spPr/>
      <dgm:t>
        <a:bodyPr/>
        <a:lstStyle/>
        <a:p>
          <a:endParaRPr lang="en-US" sz="1200">
            <a:solidFill>
              <a:schemeClr val="tx1"/>
            </a:solidFill>
          </a:endParaRPr>
        </a:p>
      </dgm:t>
    </dgm:pt>
    <dgm:pt modelId="{6A539DFC-EB7F-478A-9726-86287BFBD18F}" type="sibTrans" cxnId="{279A418F-F8F6-4553-B003-1193B4BF2A42}">
      <dgm:prSet/>
      <dgm:spPr/>
      <dgm:t>
        <a:bodyPr/>
        <a:lstStyle/>
        <a:p>
          <a:endParaRPr lang="en-US" sz="1200">
            <a:solidFill>
              <a:schemeClr val="tx1"/>
            </a:solidFill>
          </a:endParaRPr>
        </a:p>
      </dgm:t>
    </dgm:pt>
    <dgm:pt modelId="{64413531-4C72-4D47-A7D3-6BFC48DAC977}">
      <dgm:prSet phldrT="[Text]" custT="1"/>
      <dgm:spPr/>
      <dgm:t>
        <a:bodyPr/>
        <a:lstStyle/>
        <a:p>
          <a:r>
            <a:rPr lang="en-US" sz="1200" smtClean="0"/>
            <a:t>Corporate planning &amp; strategy, System planning, Project planning and management</a:t>
          </a:r>
          <a:endParaRPr lang="en-US" sz="1200" dirty="0"/>
        </a:p>
      </dgm:t>
    </dgm:pt>
    <dgm:pt modelId="{59198870-29BC-440B-9D93-EA93C60B7581}" type="parTrans" cxnId="{E42C8850-1EC8-49E9-A514-2D948170E887}">
      <dgm:prSet/>
      <dgm:spPr/>
      <dgm:t>
        <a:bodyPr/>
        <a:lstStyle/>
        <a:p>
          <a:endParaRPr lang="en-US" sz="1200">
            <a:solidFill>
              <a:schemeClr val="tx1"/>
            </a:solidFill>
          </a:endParaRPr>
        </a:p>
      </dgm:t>
    </dgm:pt>
    <dgm:pt modelId="{DD232A09-2ED7-4890-8314-B935F29E1843}" type="sibTrans" cxnId="{E42C8850-1EC8-49E9-A514-2D948170E887}">
      <dgm:prSet/>
      <dgm:spPr/>
      <dgm:t>
        <a:bodyPr/>
        <a:lstStyle/>
        <a:p>
          <a:endParaRPr lang="en-US" sz="1200">
            <a:solidFill>
              <a:schemeClr val="tx1"/>
            </a:solidFill>
          </a:endParaRPr>
        </a:p>
      </dgm:t>
    </dgm:pt>
    <dgm:pt modelId="{C38990F9-E07C-47B8-BB6F-FC5AA0C1B80A}">
      <dgm:prSet phldrT="[Text]" custT="1"/>
      <dgm:spPr/>
      <dgm:t>
        <a:bodyPr/>
        <a:lstStyle/>
        <a:p>
          <a:r>
            <a:rPr lang="en-US" sz="1200" smtClean="0"/>
            <a:t>Distribution strengthening</a:t>
          </a:r>
          <a:endParaRPr lang="en-US" sz="1200" dirty="0"/>
        </a:p>
      </dgm:t>
    </dgm:pt>
    <dgm:pt modelId="{D22A119A-3413-4FAA-BBAA-D9A37CE62A41}" type="parTrans" cxnId="{1CE24BCF-8E26-474D-90B0-826D852DB163}">
      <dgm:prSet/>
      <dgm:spPr/>
      <dgm:t>
        <a:bodyPr/>
        <a:lstStyle/>
        <a:p>
          <a:endParaRPr lang="en-US" sz="1600"/>
        </a:p>
      </dgm:t>
    </dgm:pt>
    <dgm:pt modelId="{216E04C4-F513-4361-9505-433412AD65DC}" type="sibTrans" cxnId="{1CE24BCF-8E26-474D-90B0-826D852DB163}">
      <dgm:prSet/>
      <dgm:spPr/>
      <dgm:t>
        <a:bodyPr/>
        <a:lstStyle/>
        <a:p>
          <a:endParaRPr lang="en-US" sz="1600"/>
        </a:p>
      </dgm:t>
    </dgm:pt>
    <dgm:pt modelId="{63847764-AE21-4987-842D-E75317703830}" type="pres">
      <dgm:prSet presAssocID="{CCAF2A24-1859-4F47-9708-93FA5684084C}" presName="diagram" presStyleCnt="0">
        <dgm:presLayoutVars>
          <dgm:dir/>
          <dgm:resizeHandles val="exact"/>
        </dgm:presLayoutVars>
      </dgm:prSet>
      <dgm:spPr/>
      <dgm:t>
        <a:bodyPr/>
        <a:lstStyle/>
        <a:p>
          <a:endParaRPr lang="en-US"/>
        </a:p>
      </dgm:t>
    </dgm:pt>
    <dgm:pt modelId="{23BA1B08-5E0D-4A9B-9DF2-A351D1BB6F79}" type="pres">
      <dgm:prSet presAssocID="{AB1A42D3-236E-4732-9C71-1CABD9B95E46}" presName="node" presStyleLbl="node1" presStyleIdx="0" presStyleCnt="12">
        <dgm:presLayoutVars>
          <dgm:bulletEnabled val="1"/>
        </dgm:presLayoutVars>
      </dgm:prSet>
      <dgm:spPr/>
      <dgm:t>
        <a:bodyPr/>
        <a:lstStyle/>
        <a:p>
          <a:endParaRPr lang="en-US"/>
        </a:p>
      </dgm:t>
    </dgm:pt>
    <dgm:pt modelId="{0A612F82-4C33-44AD-AC44-92E529B1FD68}" type="pres">
      <dgm:prSet presAssocID="{D15C42E6-113F-464E-BD7D-BA9884C5DC13}" presName="sibTrans" presStyleCnt="0"/>
      <dgm:spPr/>
      <dgm:t>
        <a:bodyPr/>
        <a:lstStyle/>
        <a:p>
          <a:endParaRPr lang="en-US"/>
        </a:p>
      </dgm:t>
    </dgm:pt>
    <dgm:pt modelId="{7F969569-AD5E-4D2E-B106-A28C8BB98309}" type="pres">
      <dgm:prSet presAssocID="{C732E65B-1846-43D0-8822-F99A8C362789}" presName="node" presStyleLbl="node1" presStyleIdx="1" presStyleCnt="12">
        <dgm:presLayoutVars>
          <dgm:bulletEnabled val="1"/>
        </dgm:presLayoutVars>
      </dgm:prSet>
      <dgm:spPr/>
      <dgm:t>
        <a:bodyPr/>
        <a:lstStyle/>
        <a:p>
          <a:endParaRPr lang="en-US"/>
        </a:p>
      </dgm:t>
    </dgm:pt>
    <dgm:pt modelId="{5CE6EF33-4CE4-4C0D-ACB4-6F3A50FC1777}" type="pres">
      <dgm:prSet presAssocID="{A68D22DE-E201-40E6-9A9E-6C42E56D1BA9}" presName="sibTrans" presStyleCnt="0"/>
      <dgm:spPr/>
      <dgm:t>
        <a:bodyPr/>
        <a:lstStyle/>
        <a:p>
          <a:endParaRPr lang="en-US"/>
        </a:p>
      </dgm:t>
    </dgm:pt>
    <dgm:pt modelId="{462AFA1F-7BB1-463A-8D73-864833296565}" type="pres">
      <dgm:prSet presAssocID="{6662520A-4424-4980-BEEF-2A28F3D21CDE}" presName="node" presStyleLbl="node1" presStyleIdx="2" presStyleCnt="12">
        <dgm:presLayoutVars>
          <dgm:bulletEnabled val="1"/>
        </dgm:presLayoutVars>
      </dgm:prSet>
      <dgm:spPr/>
      <dgm:t>
        <a:bodyPr/>
        <a:lstStyle/>
        <a:p>
          <a:endParaRPr lang="en-US"/>
        </a:p>
      </dgm:t>
    </dgm:pt>
    <dgm:pt modelId="{588515A9-6BCA-4447-899C-DDAEF2389218}" type="pres">
      <dgm:prSet presAssocID="{D33A818B-2576-4787-8F8B-4849A44F6F31}" presName="sibTrans" presStyleCnt="0"/>
      <dgm:spPr/>
      <dgm:t>
        <a:bodyPr/>
        <a:lstStyle/>
        <a:p>
          <a:endParaRPr lang="en-US"/>
        </a:p>
      </dgm:t>
    </dgm:pt>
    <dgm:pt modelId="{BEB89499-165E-4178-B139-2BA4BDCEA5BB}" type="pres">
      <dgm:prSet presAssocID="{64413531-4C72-4D47-A7D3-6BFC48DAC977}" presName="node" presStyleLbl="node1" presStyleIdx="3" presStyleCnt="12">
        <dgm:presLayoutVars>
          <dgm:bulletEnabled val="1"/>
        </dgm:presLayoutVars>
      </dgm:prSet>
      <dgm:spPr/>
      <dgm:t>
        <a:bodyPr/>
        <a:lstStyle/>
        <a:p>
          <a:endParaRPr lang="en-US"/>
        </a:p>
      </dgm:t>
    </dgm:pt>
    <dgm:pt modelId="{EF25C2CE-B9A0-45E0-9B7D-9F30F2A6919F}" type="pres">
      <dgm:prSet presAssocID="{DD232A09-2ED7-4890-8314-B935F29E1843}" presName="sibTrans" presStyleCnt="0"/>
      <dgm:spPr/>
      <dgm:t>
        <a:bodyPr/>
        <a:lstStyle/>
        <a:p>
          <a:endParaRPr lang="en-US"/>
        </a:p>
      </dgm:t>
    </dgm:pt>
    <dgm:pt modelId="{3DA23E8E-C207-480E-996B-433732568463}" type="pres">
      <dgm:prSet presAssocID="{276C79EE-648E-4B77-9A7B-8537CCD9530D}" presName="node" presStyleLbl="node1" presStyleIdx="4" presStyleCnt="12">
        <dgm:presLayoutVars>
          <dgm:bulletEnabled val="1"/>
        </dgm:presLayoutVars>
      </dgm:prSet>
      <dgm:spPr/>
      <dgm:t>
        <a:bodyPr/>
        <a:lstStyle/>
        <a:p>
          <a:endParaRPr lang="en-US"/>
        </a:p>
      </dgm:t>
    </dgm:pt>
    <dgm:pt modelId="{6EAE1C4F-87B9-4FEA-BA42-77BAAD691E20}" type="pres">
      <dgm:prSet presAssocID="{BD73AA4A-B839-40F7-908A-71B0645B5AD9}" presName="sibTrans" presStyleCnt="0"/>
      <dgm:spPr/>
      <dgm:t>
        <a:bodyPr/>
        <a:lstStyle/>
        <a:p>
          <a:endParaRPr lang="en-US"/>
        </a:p>
      </dgm:t>
    </dgm:pt>
    <dgm:pt modelId="{957026A7-FB1D-4472-A6A4-4B3424FC3664}" type="pres">
      <dgm:prSet presAssocID="{4DE6C107-0D98-4407-8F42-8FAFBE1C9ADE}" presName="node" presStyleLbl="node1" presStyleIdx="5" presStyleCnt="12">
        <dgm:presLayoutVars>
          <dgm:bulletEnabled val="1"/>
        </dgm:presLayoutVars>
      </dgm:prSet>
      <dgm:spPr/>
      <dgm:t>
        <a:bodyPr/>
        <a:lstStyle/>
        <a:p>
          <a:endParaRPr lang="en-US"/>
        </a:p>
      </dgm:t>
    </dgm:pt>
    <dgm:pt modelId="{6DEDEA90-9D7A-4CEE-8F4F-483C9093E4DE}" type="pres">
      <dgm:prSet presAssocID="{AEE8A802-B9AA-491A-91CD-D791A0F9E5C2}" presName="sibTrans" presStyleCnt="0"/>
      <dgm:spPr/>
      <dgm:t>
        <a:bodyPr/>
        <a:lstStyle/>
        <a:p>
          <a:endParaRPr lang="en-US"/>
        </a:p>
      </dgm:t>
    </dgm:pt>
    <dgm:pt modelId="{D2E1B05A-444D-4687-983F-1BBA60B822A9}" type="pres">
      <dgm:prSet presAssocID="{773BC39F-6CC3-420B-9EB4-0A9CC5C278B0}" presName="node" presStyleLbl="node1" presStyleIdx="6" presStyleCnt="12">
        <dgm:presLayoutVars>
          <dgm:bulletEnabled val="1"/>
        </dgm:presLayoutVars>
      </dgm:prSet>
      <dgm:spPr/>
      <dgm:t>
        <a:bodyPr/>
        <a:lstStyle/>
        <a:p>
          <a:endParaRPr lang="en-US"/>
        </a:p>
      </dgm:t>
    </dgm:pt>
    <dgm:pt modelId="{0F374B88-E944-4E0D-BC12-FBBF63EAE671}" type="pres">
      <dgm:prSet presAssocID="{F33509CD-B30D-4EA3-8F71-51A3CA69965B}" presName="sibTrans" presStyleCnt="0"/>
      <dgm:spPr/>
      <dgm:t>
        <a:bodyPr/>
        <a:lstStyle/>
        <a:p>
          <a:endParaRPr lang="en-US"/>
        </a:p>
      </dgm:t>
    </dgm:pt>
    <dgm:pt modelId="{DAECE9FB-03EC-42A8-B156-374BA5FA8B5C}" type="pres">
      <dgm:prSet presAssocID="{CC61E34A-36EA-4A37-8FB6-5D33D3E97B36}" presName="node" presStyleLbl="node1" presStyleIdx="7" presStyleCnt="12">
        <dgm:presLayoutVars>
          <dgm:bulletEnabled val="1"/>
        </dgm:presLayoutVars>
      </dgm:prSet>
      <dgm:spPr/>
      <dgm:t>
        <a:bodyPr/>
        <a:lstStyle/>
        <a:p>
          <a:endParaRPr lang="en-US"/>
        </a:p>
      </dgm:t>
    </dgm:pt>
    <dgm:pt modelId="{03ABA1BC-00BC-4423-9CCB-0CA6B289D23D}" type="pres">
      <dgm:prSet presAssocID="{C182EFD8-302F-4785-8B5F-3AEC35180F42}" presName="sibTrans" presStyleCnt="0"/>
      <dgm:spPr/>
      <dgm:t>
        <a:bodyPr/>
        <a:lstStyle/>
        <a:p>
          <a:endParaRPr lang="en-US"/>
        </a:p>
      </dgm:t>
    </dgm:pt>
    <dgm:pt modelId="{624F4F8B-B7F1-44FB-B442-29256FFD58EE}" type="pres">
      <dgm:prSet presAssocID="{C38990F9-E07C-47B8-BB6F-FC5AA0C1B80A}" presName="node" presStyleLbl="node1" presStyleIdx="8" presStyleCnt="12">
        <dgm:presLayoutVars>
          <dgm:bulletEnabled val="1"/>
        </dgm:presLayoutVars>
      </dgm:prSet>
      <dgm:spPr/>
      <dgm:t>
        <a:bodyPr/>
        <a:lstStyle/>
        <a:p>
          <a:endParaRPr lang="en-US"/>
        </a:p>
      </dgm:t>
    </dgm:pt>
    <dgm:pt modelId="{9077F333-EB27-4DF6-89DC-D97C5C90F345}" type="pres">
      <dgm:prSet presAssocID="{216E04C4-F513-4361-9505-433412AD65DC}" presName="sibTrans" presStyleCnt="0"/>
      <dgm:spPr/>
      <dgm:t>
        <a:bodyPr/>
        <a:lstStyle/>
        <a:p>
          <a:endParaRPr lang="en-US"/>
        </a:p>
      </dgm:t>
    </dgm:pt>
    <dgm:pt modelId="{DA5117DF-7D77-4F35-8832-1849EBDF0B73}" type="pres">
      <dgm:prSet presAssocID="{15549452-D982-4085-B1CC-6DC9893CB1D8}" presName="node" presStyleLbl="node1" presStyleIdx="9" presStyleCnt="12">
        <dgm:presLayoutVars>
          <dgm:bulletEnabled val="1"/>
        </dgm:presLayoutVars>
      </dgm:prSet>
      <dgm:spPr/>
      <dgm:t>
        <a:bodyPr/>
        <a:lstStyle/>
        <a:p>
          <a:endParaRPr lang="en-US"/>
        </a:p>
      </dgm:t>
    </dgm:pt>
    <dgm:pt modelId="{5CEAEF12-28C4-4372-8E1B-6D06077C8509}" type="pres">
      <dgm:prSet presAssocID="{00888160-2E4C-4391-8E0A-BA1EB0371636}" presName="sibTrans" presStyleCnt="0"/>
      <dgm:spPr/>
      <dgm:t>
        <a:bodyPr/>
        <a:lstStyle/>
        <a:p>
          <a:endParaRPr lang="en-US"/>
        </a:p>
      </dgm:t>
    </dgm:pt>
    <dgm:pt modelId="{1791DDD2-6636-439A-A6C4-D6763B23BDFE}" type="pres">
      <dgm:prSet presAssocID="{9708FFE9-4EA9-4F62-8B65-09EA5244DA2D}" presName="node" presStyleLbl="node1" presStyleIdx="10" presStyleCnt="12">
        <dgm:presLayoutVars>
          <dgm:bulletEnabled val="1"/>
        </dgm:presLayoutVars>
      </dgm:prSet>
      <dgm:spPr/>
      <dgm:t>
        <a:bodyPr/>
        <a:lstStyle/>
        <a:p>
          <a:endParaRPr lang="en-US"/>
        </a:p>
      </dgm:t>
    </dgm:pt>
    <dgm:pt modelId="{9A4A824F-BE71-458A-A3D5-30387A81FD16}" type="pres">
      <dgm:prSet presAssocID="{31A8831B-C64E-44E3-9FC8-7B97CD6ACBCE}" presName="sibTrans" presStyleCnt="0"/>
      <dgm:spPr/>
      <dgm:t>
        <a:bodyPr/>
        <a:lstStyle/>
        <a:p>
          <a:endParaRPr lang="en-US"/>
        </a:p>
      </dgm:t>
    </dgm:pt>
    <dgm:pt modelId="{5D492A6D-1FFA-4715-84F5-0EB247D7EBE5}" type="pres">
      <dgm:prSet presAssocID="{59D50389-ABD6-4180-9E42-D220EF7B70F0}" presName="node" presStyleLbl="node1" presStyleIdx="11" presStyleCnt="12">
        <dgm:presLayoutVars>
          <dgm:bulletEnabled val="1"/>
        </dgm:presLayoutVars>
      </dgm:prSet>
      <dgm:spPr/>
      <dgm:t>
        <a:bodyPr/>
        <a:lstStyle/>
        <a:p>
          <a:endParaRPr lang="en-US"/>
        </a:p>
      </dgm:t>
    </dgm:pt>
  </dgm:ptLst>
  <dgm:cxnLst>
    <dgm:cxn modelId="{B5C5EE87-7CAF-442D-93B2-E5E872AF4E89}" type="presOf" srcId="{CCAF2A24-1859-4F47-9708-93FA5684084C}" destId="{63847764-AE21-4987-842D-E75317703830}" srcOrd="0" destOrd="0" presId="urn:microsoft.com/office/officeart/2005/8/layout/default"/>
    <dgm:cxn modelId="{BC92A149-AB63-442C-9147-8AA30F7C5C2D}" srcId="{CCAF2A24-1859-4F47-9708-93FA5684084C}" destId="{276C79EE-648E-4B77-9A7B-8537CCD9530D}" srcOrd="4" destOrd="0" parTransId="{ADCB46B2-5862-4674-BA51-57AD2957D1B1}" sibTransId="{BD73AA4A-B839-40F7-908A-71B0645B5AD9}"/>
    <dgm:cxn modelId="{27CA4746-F8A8-4122-9690-7A2DEDCE1209}" type="presOf" srcId="{64413531-4C72-4D47-A7D3-6BFC48DAC977}" destId="{BEB89499-165E-4178-B139-2BA4BDCEA5BB}" srcOrd="0" destOrd="0" presId="urn:microsoft.com/office/officeart/2005/8/layout/default"/>
    <dgm:cxn modelId="{4BAAE205-6B90-4E34-AB17-828D5624C594}" type="presOf" srcId="{CC61E34A-36EA-4A37-8FB6-5D33D3E97B36}" destId="{DAECE9FB-03EC-42A8-B156-374BA5FA8B5C}" srcOrd="0" destOrd="0" presId="urn:microsoft.com/office/officeart/2005/8/layout/default"/>
    <dgm:cxn modelId="{CB0A1491-7AF1-407F-BDA5-9A9587B40F39}" type="presOf" srcId="{C38990F9-E07C-47B8-BB6F-FC5AA0C1B80A}" destId="{624F4F8B-B7F1-44FB-B442-29256FFD58EE}" srcOrd="0" destOrd="0" presId="urn:microsoft.com/office/officeart/2005/8/layout/default"/>
    <dgm:cxn modelId="{2CB8B431-60BD-47EE-BB5C-5DF3A10DC644}" type="presOf" srcId="{15549452-D982-4085-B1CC-6DC9893CB1D8}" destId="{DA5117DF-7D77-4F35-8832-1849EBDF0B73}" srcOrd="0" destOrd="0" presId="urn:microsoft.com/office/officeart/2005/8/layout/default"/>
    <dgm:cxn modelId="{C120204B-E77E-40A9-9954-E78CAF199916}" srcId="{CCAF2A24-1859-4F47-9708-93FA5684084C}" destId="{AB1A42D3-236E-4732-9C71-1CABD9B95E46}" srcOrd="0" destOrd="0" parTransId="{5ABEEBF7-D845-48FE-9E29-CDDFB07EF089}" sibTransId="{D15C42E6-113F-464E-BD7D-BA9884C5DC13}"/>
    <dgm:cxn modelId="{3C5294F0-1076-46F6-A91B-A7DB5794DD34}" type="presOf" srcId="{4DE6C107-0D98-4407-8F42-8FAFBE1C9ADE}" destId="{957026A7-FB1D-4472-A6A4-4B3424FC3664}" srcOrd="0" destOrd="0" presId="urn:microsoft.com/office/officeart/2005/8/layout/default"/>
    <dgm:cxn modelId="{23AAF5F2-1DC9-4E17-9F4E-CF55A26F3A73}" srcId="{CCAF2A24-1859-4F47-9708-93FA5684084C}" destId="{15549452-D982-4085-B1CC-6DC9893CB1D8}" srcOrd="9" destOrd="0" parTransId="{1D5AEDB9-9A81-4AA9-85ED-ABF81C7FA53A}" sibTransId="{00888160-2E4C-4391-8E0A-BA1EB0371636}"/>
    <dgm:cxn modelId="{E42C8850-1EC8-49E9-A514-2D948170E887}" srcId="{CCAF2A24-1859-4F47-9708-93FA5684084C}" destId="{64413531-4C72-4D47-A7D3-6BFC48DAC977}" srcOrd="3" destOrd="0" parTransId="{59198870-29BC-440B-9D93-EA93C60B7581}" sibTransId="{DD232A09-2ED7-4890-8314-B935F29E1843}"/>
    <dgm:cxn modelId="{279C448F-E7F7-4AC0-9588-E8557D6C427E}" type="presOf" srcId="{276C79EE-648E-4B77-9A7B-8537CCD9530D}" destId="{3DA23E8E-C207-480E-996B-433732568463}" srcOrd="0" destOrd="0" presId="urn:microsoft.com/office/officeart/2005/8/layout/default"/>
    <dgm:cxn modelId="{DFA933B0-C3CC-4745-949E-E4238E0631D3}" type="presOf" srcId="{59D50389-ABD6-4180-9E42-D220EF7B70F0}" destId="{5D492A6D-1FFA-4715-84F5-0EB247D7EBE5}" srcOrd="0" destOrd="0" presId="urn:microsoft.com/office/officeart/2005/8/layout/default"/>
    <dgm:cxn modelId="{03BB9317-3095-4D27-B394-9DAD3DAAAEB4}" srcId="{CCAF2A24-1859-4F47-9708-93FA5684084C}" destId="{4DE6C107-0D98-4407-8F42-8FAFBE1C9ADE}" srcOrd="5" destOrd="0" parTransId="{5EBD799A-8893-4016-8AD1-3A5DD12615FC}" sibTransId="{AEE8A802-B9AA-491A-91CD-D791A0F9E5C2}"/>
    <dgm:cxn modelId="{2325F200-8BC3-4333-BBF3-D5C67A8E7A0E}" type="presOf" srcId="{6662520A-4424-4980-BEEF-2A28F3D21CDE}" destId="{462AFA1F-7BB1-463A-8D73-864833296565}" srcOrd="0" destOrd="0" presId="urn:microsoft.com/office/officeart/2005/8/layout/default"/>
    <dgm:cxn modelId="{1F577040-4969-4758-B43E-DC20A239FA30}" type="presOf" srcId="{AB1A42D3-236E-4732-9C71-1CABD9B95E46}" destId="{23BA1B08-5E0D-4A9B-9DF2-A351D1BB6F79}" srcOrd="0" destOrd="0" presId="urn:microsoft.com/office/officeart/2005/8/layout/default"/>
    <dgm:cxn modelId="{ECE45EA9-AEA7-40D5-9EC2-79FFEF9EE48D}" srcId="{CCAF2A24-1859-4F47-9708-93FA5684084C}" destId="{CC61E34A-36EA-4A37-8FB6-5D33D3E97B36}" srcOrd="7" destOrd="0" parTransId="{C8DC4B55-DDC8-4AD6-96B0-5934E06C0E96}" sibTransId="{C182EFD8-302F-4785-8B5F-3AEC35180F42}"/>
    <dgm:cxn modelId="{279A418F-F8F6-4553-B003-1193B4BF2A42}" srcId="{CCAF2A24-1859-4F47-9708-93FA5684084C}" destId="{59D50389-ABD6-4180-9E42-D220EF7B70F0}" srcOrd="11" destOrd="0" parTransId="{16254677-6F54-4F8B-98D5-81A297B48A0E}" sibTransId="{6A539DFC-EB7F-478A-9726-86287BFBD18F}"/>
    <dgm:cxn modelId="{9921BEA3-8FB5-42FF-BC60-95141B0290EC}" type="presOf" srcId="{773BC39F-6CC3-420B-9EB4-0A9CC5C278B0}" destId="{D2E1B05A-444D-4687-983F-1BBA60B822A9}" srcOrd="0" destOrd="0" presId="urn:microsoft.com/office/officeart/2005/8/layout/default"/>
    <dgm:cxn modelId="{1CE24BCF-8E26-474D-90B0-826D852DB163}" srcId="{CCAF2A24-1859-4F47-9708-93FA5684084C}" destId="{C38990F9-E07C-47B8-BB6F-FC5AA0C1B80A}" srcOrd="8" destOrd="0" parTransId="{D22A119A-3413-4FAA-BBAA-D9A37CE62A41}" sibTransId="{216E04C4-F513-4361-9505-433412AD65DC}"/>
    <dgm:cxn modelId="{3AB8A224-4AE9-48D7-8904-DD17741981F2}" srcId="{CCAF2A24-1859-4F47-9708-93FA5684084C}" destId="{C732E65B-1846-43D0-8822-F99A8C362789}" srcOrd="1" destOrd="0" parTransId="{8A774A13-B69C-4C1D-A065-69FBFC26433B}" sibTransId="{A68D22DE-E201-40E6-9A9E-6C42E56D1BA9}"/>
    <dgm:cxn modelId="{9544B147-E754-4D54-A0CA-6ED3CEC280DD}" srcId="{CCAF2A24-1859-4F47-9708-93FA5684084C}" destId="{6662520A-4424-4980-BEEF-2A28F3D21CDE}" srcOrd="2" destOrd="0" parTransId="{7C8B8108-13FE-4C2A-926A-9912AF742150}" sibTransId="{D33A818B-2576-4787-8F8B-4849A44F6F31}"/>
    <dgm:cxn modelId="{9207961B-435B-4471-9FE2-F31C4DC53AC8}" srcId="{CCAF2A24-1859-4F47-9708-93FA5684084C}" destId="{9708FFE9-4EA9-4F62-8B65-09EA5244DA2D}" srcOrd="10" destOrd="0" parTransId="{B78DAC13-9C8E-4160-8A79-0345EB39973C}" sibTransId="{31A8831B-C64E-44E3-9FC8-7B97CD6ACBCE}"/>
    <dgm:cxn modelId="{68D5279E-CB4B-42B2-9BEF-C9E655AA3A28}" srcId="{CCAF2A24-1859-4F47-9708-93FA5684084C}" destId="{773BC39F-6CC3-420B-9EB4-0A9CC5C278B0}" srcOrd="6" destOrd="0" parTransId="{56ACA1B1-7A34-4930-A0EF-C4CEB4684173}" sibTransId="{F33509CD-B30D-4EA3-8F71-51A3CA69965B}"/>
    <dgm:cxn modelId="{0B3A4CA8-FCFA-46D4-85B1-77B2A31A6630}" type="presOf" srcId="{9708FFE9-4EA9-4F62-8B65-09EA5244DA2D}" destId="{1791DDD2-6636-439A-A6C4-D6763B23BDFE}" srcOrd="0" destOrd="0" presId="urn:microsoft.com/office/officeart/2005/8/layout/default"/>
    <dgm:cxn modelId="{575F567A-7557-4EC6-8E46-19AFEFFC34F7}" type="presOf" srcId="{C732E65B-1846-43D0-8822-F99A8C362789}" destId="{7F969569-AD5E-4D2E-B106-A28C8BB98309}" srcOrd="0" destOrd="0" presId="urn:microsoft.com/office/officeart/2005/8/layout/default"/>
    <dgm:cxn modelId="{B58A270F-D3E0-4192-A127-2A2B83743E68}" type="presParOf" srcId="{63847764-AE21-4987-842D-E75317703830}" destId="{23BA1B08-5E0D-4A9B-9DF2-A351D1BB6F79}" srcOrd="0" destOrd="0" presId="urn:microsoft.com/office/officeart/2005/8/layout/default"/>
    <dgm:cxn modelId="{C1CE3D98-C86E-4F9A-9C0C-3F7620551D67}" type="presParOf" srcId="{63847764-AE21-4987-842D-E75317703830}" destId="{0A612F82-4C33-44AD-AC44-92E529B1FD68}" srcOrd="1" destOrd="0" presId="urn:microsoft.com/office/officeart/2005/8/layout/default"/>
    <dgm:cxn modelId="{86B8345E-AC95-481E-B617-3686974CF362}" type="presParOf" srcId="{63847764-AE21-4987-842D-E75317703830}" destId="{7F969569-AD5E-4D2E-B106-A28C8BB98309}" srcOrd="2" destOrd="0" presId="urn:microsoft.com/office/officeart/2005/8/layout/default"/>
    <dgm:cxn modelId="{14BC4CDB-6CB3-4E3C-9C50-21EAA8F429DC}" type="presParOf" srcId="{63847764-AE21-4987-842D-E75317703830}" destId="{5CE6EF33-4CE4-4C0D-ACB4-6F3A50FC1777}" srcOrd="3" destOrd="0" presId="urn:microsoft.com/office/officeart/2005/8/layout/default"/>
    <dgm:cxn modelId="{FDEC55AF-3087-47FC-B892-C5A2D91B5215}" type="presParOf" srcId="{63847764-AE21-4987-842D-E75317703830}" destId="{462AFA1F-7BB1-463A-8D73-864833296565}" srcOrd="4" destOrd="0" presId="urn:microsoft.com/office/officeart/2005/8/layout/default"/>
    <dgm:cxn modelId="{827EE550-7950-48CF-822E-EF183B294FC3}" type="presParOf" srcId="{63847764-AE21-4987-842D-E75317703830}" destId="{588515A9-6BCA-4447-899C-DDAEF2389218}" srcOrd="5" destOrd="0" presId="urn:microsoft.com/office/officeart/2005/8/layout/default"/>
    <dgm:cxn modelId="{89DFF555-1591-4095-8DFD-D0F8074A60C0}" type="presParOf" srcId="{63847764-AE21-4987-842D-E75317703830}" destId="{BEB89499-165E-4178-B139-2BA4BDCEA5BB}" srcOrd="6" destOrd="0" presId="urn:microsoft.com/office/officeart/2005/8/layout/default"/>
    <dgm:cxn modelId="{6939E6F0-C89F-43E3-9876-D7B8425714C9}" type="presParOf" srcId="{63847764-AE21-4987-842D-E75317703830}" destId="{EF25C2CE-B9A0-45E0-9B7D-9F30F2A6919F}" srcOrd="7" destOrd="0" presId="urn:microsoft.com/office/officeart/2005/8/layout/default"/>
    <dgm:cxn modelId="{24D413CF-AC41-4F98-A359-017D9A6765AC}" type="presParOf" srcId="{63847764-AE21-4987-842D-E75317703830}" destId="{3DA23E8E-C207-480E-996B-433732568463}" srcOrd="8" destOrd="0" presId="urn:microsoft.com/office/officeart/2005/8/layout/default"/>
    <dgm:cxn modelId="{99287435-1F3D-4A8E-9F82-18BB37D7DB7C}" type="presParOf" srcId="{63847764-AE21-4987-842D-E75317703830}" destId="{6EAE1C4F-87B9-4FEA-BA42-77BAAD691E20}" srcOrd="9" destOrd="0" presId="urn:microsoft.com/office/officeart/2005/8/layout/default"/>
    <dgm:cxn modelId="{8C0752C8-DD8B-4FCB-B86A-8444B6FE635F}" type="presParOf" srcId="{63847764-AE21-4987-842D-E75317703830}" destId="{957026A7-FB1D-4472-A6A4-4B3424FC3664}" srcOrd="10" destOrd="0" presId="urn:microsoft.com/office/officeart/2005/8/layout/default"/>
    <dgm:cxn modelId="{27799AAA-247B-41DE-9262-2F7BF3CF89A4}" type="presParOf" srcId="{63847764-AE21-4987-842D-E75317703830}" destId="{6DEDEA90-9D7A-4CEE-8F4F-483C9093E4DE}" srcOrd="11" destOrd="0" presId="urn:microsoft.com/office/officeart/2005/8/layout/default"/>
    <dgm:cxn modelId="{8640A8F7-721E-466B-B2A3-D74C132EA413}" type="presParOf" srcId="{63847764-AE21-4987-842D-E75317703830}" destId="{D2E1B05A-444D-4687-983F-1BBA60B822A9}" srcOrd="12" destOrd="0" presId="urn:microsoft.com/office/officeart/2005/8/layout/default"/>
    <dgm:cxn modelId="{5DFB75DC-8DD7-4AE3-BB07-C916177ACAE0}" type="presParOf" srcId="{63847764-AE21-4987-842D-E75317703830}" destId="{0F374B88-E944-4E0D-BC12-FBBF63EAE671}" srcOrd="13" destOrd="0" presId="urn:microsoft.com/office/officeart/2005/8/layout/default"/>
    <dgm:cxn modelId="{3DD90F23-F47A-4452-8644-2D12D274C872}" type="presParOf" srcId="{63847764-AE21-4987-842D-E75317703830}" destId="{DAECE9FB-03EC-42A8-B156-374BA5FA8B5C}" srcOrd="14" destOrd="0" presId="urn:microsoft.com/office/officeart/2005/8/layout/default"/>
    <dgm:cxn modelId="{BC72AC2C-D8D7-4C9F-A435-82A1BCA68DE7}" type="presParOf" srcId="{63847764-AE21-4987-842D-E75317703830}" destId="{03ABA1BC-00BC-4423-9CCB-0CA6B289D23D}" srcOrd="15" destOrd="0" presId="urn:microsoft.com/office/officeart/2005/8/layout/default"/>
    <dgm:cxn modelId="{78D09C73-BF63-4735-97D5-A4482494EEFB}" type="presParOf" srcId="{63847764-AE21-4987-842D-E75317703830}" destId="{624F4F8B-B7F1-44FB-B442-29256FFD58EE}" srcOrd="16" destOrd="0" presId="urn:microsoft.com/office/officeart/2005/8/layout/default"/>
    <dgm:cxn modelId="{07FA1232-097B-4BFF-9414-6160DE962E59}" type="presParOf" srcId="{63847764-AE21-4987-842D-E75317703830}" destId="{9077F333-EB27-4DF6-89DC-D97C5C90F345}" srcOrd="17" destOrd="0" presId="urn:microsoft.com/office/officeart/2005/8/layout/default"/>
    <dgm:cxn modelId="{6404CDDC-E8EE-40E8-857C-C7BF992CA0D4}" type="presParOf" srcId="{63847764-AE21-4987-842D-E75317703830}" destId="{DA5117DF-7D77-4F35-8832-1849EBDF0B73}" srcOrd="18" destOrd="0" presId="urn:microsoft.com/office/officeart/2005/8/layout/default"/>
    <dgm:cxn modelId="{7A0BDBF6-6AB4-44A6-B32E-AF910F2BCD13}" type="presParOf" srcId="{63847764-AE21-4987-842D-E75317703830}" destId="{5CEAEF12-28C4-4372-8E1B-6D06077C8509}" srcOrd="19" destOrd="0" presId="urn:microsoft.com/office/officeart/2005/8/layout/default"/>
    <dgm:cxn modelId="{9821BC56-F008-4095-9751-B5FE9215A111}" type="presParOf" srcId="{63847764-AE21-4987-842D-E75317703830}" destId="{1791DDD2-6636-439A-A6C4-D6763B23BDFE}" srcOrd="20" destOrd="0" presId="urn:microsoft.com/office/officeart/2005/8/layout/default"/>
    <dgm:cxn modelId="{4A005774-ABCD-4661-9CCB-18753B0CB886}" type="presParOf" srcId="{63847764-AE21-4987-842D-E75317703830}" destId="{9A4A824F-BE71-458A-A3D5-30387A81FD16}" srcOrd="21" destOrd="0" presId="urn:microsoft.com/office/officeart/2005/8/layout/default"/>
    <dgm:cxn modelId="{506D3D61-A618-4092-9B66-A8882DCF1B60}" type="presParOf" srcId="{63847764-AE21-4987-842D-E75317703830}" destId="{5D492A6D-1FFA-4715-84F5-0EB247D7EBE5}"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5074504D-B054-44B7-AF1D-0C421DB29C8C}">
      <dgm:prSet phldrT="[Text]"/>
      <dgm:spPr/>
      <dgm:t>
        <a:bodyPr/>
        <a:lstStyle/>
        <a:p>
          <a:r>
            <a:rPr lang="en-US"/>
            <a:t>Improving Board functioning autonomy</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ED8FDAFD-2942-4FC1-B20A-579740B7B1CE}">
      <dgm:prSet phldrT="[Text]"/>
      <dgm:spPr/>
      <dgm:t>
        <a:bodyPr/>
        <a:lstStyle/>
        <a:p>
          <a:r>
            <a:rPr lang="en-IN"/>
            <a:t>Agree on Key Business Targets with GOB</a:t>
          </a:r>
          <a:endParaRPr lang="en-US"/>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D74EC7CB-5B0D-423D-B603-3A5C45AD956D}">
      <dgm:prSet/>
      <dgm:spPr/>
      <dgm:t>
        <a:bodyPr/>
        <a:lstStyle/>
        <a:p>
          <a:r>
            <a:rPr lang="en-IN"/>
            <a:t>Execute KPI agreement with GOB</a:t>
          </a:r>
        </a:p>
      </dgm:t>
    </dgm:pt>
    <dgm:pt modelId="{68571EA8-5167-40FF-8FE1-8713DDC5693C}" type="parTrans" cxnId="{46A9C29C-2DD4-455B-B7B3-7630C0C756C2}">
      <dgm:prSet/>
      <dgm:spPr/>
      <dgm:t>
        <a:bodyPr/>
        <a:lstStyle/>
        <a:p>
          <a:endParaRPr lang="en-US"/>
        </a:p>
      </dgm:t>
    </dgm:pt>
    <dgm:pt modelId="{3BCE471D-853F-44B8-A8A3-BC46A9AFCCB8}" type="sibTrans" cxnId="{46A9C29C-2DD4-455B-B7B3-7630C0C756C2}">
      <dgm:prSet/>
      <dgm:spPr/>
      <dgm:t>
        <a:bodyPr/>
        <a:lstStyle/>
        <a:p>
          <a:endParaRPr lang="en-US"/>
        </a:p>
      </dgm:t>
    </dgm:pt>
    <dgm:pt modelId="{01D8423C-B62B-4DB7-BEF2-5344661D9C90}">
      <dgm:prSet/>
      <dgm:spPr/>
      <dgm:t>
        <a:bodyPr/>
        <a:lstStyle/>
        <a:p>
          <a:r>
            <a:rPr lang="en-IN"/>
            <a:t>Formulate Annual Board Performance Review Mechanism </a:t>
          </a:r>
        </a:p>
      </dgm:t>
    </dgm:pt>
    <dgm:pt modelId="{5AB0A615-FC9A-4860-B4B7-9A131055E503}" type="parTrans" cxnId="{2A8BF2F2-33D4-4B56-AE44-82C4FF408787}">
      <dgm:prSet/>
      <dgm:spPr/>
      <dgm:t>
        <a:bodyPr/>
        <a:lstStyle/>
        <a:p>
          <a:endParaRPr lang="en-US"/>
        </a:p>
      </dgm:t>
    </dgm:pt>
    <dgm:pt modelId="{339FBD81-FB5F-4243-A193-F403F9A95FDC}" type="sibTrans" cxnId="{2A8BF2F2-33D4-4B56-AE44-82C4FF408787}">
      <dgm:prSet/>
      <dgm:spPr/>
      <dgm:t>
        <a:bodyPr/>
        <a:lstStyle/>
        <a:p>
          <a:endParaRPr lang="en-US"/>
        </a:p>
      </dgm:t>
    </dgm:pt>
    <dgm:pt modelId="{EA745E48-A54C-4715-B50C-447E4CD93CBD}">
      <dgm:prSet/>
      <dgm:spPr/>
      <dgm:t>
        <a:bodyPr/>
        <a:lstStyle/>
        <a:p>
          <a:r>
            <a:rPr lang="en-IN" dirty="0"/>
            <a:t>Establish a phased plan for introducing autonomy in Board Functioning</a:t>
          </a:r>
        </a:p>
      </dgm:t>
    </dgm:pt>
    <dgm:pt modelId="{5577F9F6-A06B-4DC9-A8E7-C43CDBE797D2}" type="parTrans" cxnId="{9343F455-0A78-499A-BA0D-E963FEB72291}">
      <dgm:prSet/>
      <dgm:spPr/>
      <dgm:t>
        <a:bodyPr/>
        <a:lstStyle/>
        <a:p>
          <a:endParaRPr lang="en-US"/>
        </a:p>
      </dgm:t>
    </dgm:pt>
    <dgm:pt modelId="{B5D95582-2A2A-44B6-9BD6-5A778802234C}" type="sibTrans" cxnId="{9343F455-0A78-499A-BA0D-E963FEB72291}">
      <dgm:prSet/>
      <dgm:spPr/>
      <dgm:t>
        <a:bodyPr/>
        <a:lstStyle/>
        <a:p>
          <a:endParaRPr lang="en-US"/>
        </a:p>
      </dgm:t>
    </dgm:pt>
    <dgm:pt modelId="{79FEE828-AFFE-4C16-829E-5B8E5C4EFAC8}">
      <dgm:prSet/>
      <dgm:spPr/>
      <dgm:t>
        <a:bodyPr/>
        <a:lstStyle/>
        <a:p>
          <a:r>
            <a:rPr lang="en-IN" dirty="0"/>
            <a:t>Link above Plan to achievement of KPI targets</a:t>
          </a:r>
        </a:p>
      </dgm:t>
    </dgm:pt>
    <dgm:pt modelId="{AC4E3062-8877-4BC2-888B-919D1EFD4992}" type="parTrans" cxnId="{FA4DD58B-17B8-499F-B201-39BEE8C96EEE}">
      <dgm:prSet/>
      <dgm:spPr/>
      <dgm:t>
        <a:bodyPr/>
        <a:lstStyle/>
        <a:p>
          <a:endParaRPr lang="en-US"/>
        </a:p>
      </dgm:t>
    </dgm:pt>
    <dgm:pt modelId="{B22F0313-488B-4AF7-881A-02773FBB395A}" type="sibTrans" cxnId="{FA4DD58B-17B8-499F-B201-39BEE8C96EEE}">
      <dgm:prSet/>
      <dgm:spPr/>
      <dgm:t>
        <a:bodyPr/>
        <a:lstStyle/>
        <a:p>
          <a:endParaRPr lang="en-US"/>
        </a:p>
      </dgm:t>
    </dgm:pt>
    <dgm:pt modelId="{8D1B62FA-7093-4D97-AFE2-20E9415476FB}">
      <dgm:prSet/>
      <dgm:spPr/>
      <dgm:t>
        <a:bodyPr/>
        <a:lstStyle/>
        <a:p>
          <a:r>
            <a:rPr lang="en-IN"/>
            <a:t>Obtain approval of GOB on above mechanism</a:t>
          </a:r>
        </a:p>
      </dgm:t>
    </dgm:pt>
    <dgm:pt modelId="{B3DD2947-A67D-4A31-9263-1DEC034FDA84}" type="parTrans" cxnId="{E7204AB4-E824-4445-8621-EF7485982223}">
      <dgm:prSet/>
      <dgm:spPr/>
      <dgm:t>
        <a:bodyPr/>
        <a:lstStyle/>
        <a:p>
          <a:endParaRPr lang="en-US"/>
        </a:p>
      </dgm:t>
    </dgm:pt>
    <dgm:pt modelId="{15CE8E38-2D38-4B54-8608-7E5484BAD92B}" type="sibTrans" cxnId="{E7204AB4-E824-4445-8621-EF7485982223}">
      <dgm:prSet/>
      <dgm:spPr/>
      <dgm:t>
        <a:bodyPr/>
        <a:lstStyle/>
        <a:p>
          <a:endParaRPr lang="en-US"/>
        </a:p>
      </dgm:t>
    </dgm:pt>
    <dgm:pt modelId="{4AEE3CA0-DFA3-4BAB-98A9-C8F8BFBBA71B}">
      <dgm:prSet/>
      <dgm:spPr/>
      <dgm:t>
        <a:bodyPr/>
        <a:lstStyle/>
        <a:p>
          <a:r>
            <a:rPr lang="en-IN"/>
            <a:t>Formulations of board charter</a:t>
          </a:r>
        </a:p>
      </dgm:t>
    </dgm:pt>
    <dgm:pt modelId="{ABA12DC9-45E2-4BF5-ADAC-AFAC263B513B}" type="parTrans" cxnId="{B751E5C0-4CAD-4619-BA11-7767782F4ED5}">
      <dgm:prSet/>
      <dgm:spPr/>
      <dgm:t>
        <a:bodyPr/>
        <a:lstStyle/>
        <a:p>
          <a:endParaRPr lang="en-US"/>
        </a:p>
      </dgm:t>
    </dgm:pt>
    <dgm:pt modelId="{30A510F3-F3BC-4B03-B46A-D0760A61E439}" type="sibTrans" cxnId="{B751E5C0-4CAD-4619-BA11-7767782F4ED5}">
      <dgm:prSet/>
      <dgm:spPr/>
      <dgm:t>
        <a:bodyPr/>
        <a:lstStyle/>
        <a:p>
          <a:endParaRPr lang="en-US"/>
        </a:p>
      </dgm:t>
    </dgm:pt>
    <dgm:pt modelId="{4DFCCB48-4AEC-4EEB-AA2F-CC4CBF797E2C}">
      <dgm:prSet/>
      <dgm:spPr/>
      <dgm:t>
        <a:bodyPr/>
        <a:lstStyle/>
        <a:p>
          <a:r>
            <a:rPr lang="en-IN"/>
            <a:t>Formulating Board performance review mechanism</a:t>
          </a:r>
        </a:p>
      </dgm:t>
    </dgm:pt>
    <dgm:pt modelId="{C6C8FDDC-9AA7-4432-A3CE-C7372F1F8997}" type="parTrans" cxnId="{BB5F8925-093C-4F6E-B0CB-6C74A4F1460D}">
      <dgm:prSet/>
      <dgm:spPr/>
      <dgm:t>
        <a:bodyPr/>
        <a:lstStyle/>
        <a:p>
          <a:endParaRPr lang="en-US"/>
        </a:p>
      </dgm:t>
    </dgm:pt>
    <dgm:pt modelId="{F9A953CC-554A-403A-9917-F525B2CCB7F0}" type="sibTrans" cxnId="{BB5F8925-093C-4F6E-B0CB-6C74A4F1460D}">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2">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0" presStyleCnt="2"/>
      <dgm:spPr/>
      <dgm:t>
        <a:bodyPr/>
        <a:lstStyle/>
        <a:p>
          <a:endParaRPr lang="en-US"/>
        </a:p>
      </dgm:t>
    </dgm:pt>
    <dgm:pt modelId="{DCC3FCEA-0BC8-4D98-BFDA-E2DB9800EC74}" type="pres">
      <dgm:prSet presAssocID="{5074504D-B054-44B7-AF1D-0C421DB29C8C}" presName="desTx" presStyleLbl="fgAcc1" presStyleIdx="0" presStyleCnt="2">
        <dgm:presLayoutVars>
          <dgm:bulletEnabled val="1"/>
        </dgm:presLayoutVars>
      </dgm:prSet>
      <dgm:spPr/>
      <dgm:t>
        <a:bodyPr/>
        <a:lstStyle/>
        <a:p>
          <a:endParaRPr lang="en-US"/>
        </a:p>
      </dgm:t>
    </dgm:pt>
    <dgm:pt modelId="{7290FD40-2F27-43EF-AB17-DD7DDD8F591B}" type="pres">
      <dgm:prSet presAssocID="{836E2BBF-AE6F-44B9-AD26-342382726746}" presName="sibTrans" presStyleLbl="sibTrans2D1" presStyleIdx="0" presStyleCnt="1"/>
      <dgm:spPr/>
      <dgm:t>
        <a:bodyPr/>
        <a:lstStyle/>
        <a:p>
          <a:endParaRPr lang="en-US"/>
        </a:p>
      </dgm:t>
    </dgm:pt>
    <dgm:pt modelId="{0C43D20D-95E7-42B7-A42F-DB7AEEA22461}" type="pres">
      <dgm:prSet presAssocID="{836E2BBF-AE6F-44B9-AD26-342382726746}" presName="connTx" presStyleLbl="sibTrans2D1" presStyleIdx="0" presStyleCnt="1"/>
      <dgm:spPr/>
      <dgm:t>
        <a:bodyPr/>
        <a:lstStyle/>
        <a:p>
          <a:endParaRPr lang="en-US"/>
        </a:p>
      </dgm:t>
    </dgm:pt>
    <dgm:pt modelId="{5ADE2951-8572-499B-B5D8-959B43D26925}" type="pres">
      <dgm:prSet presAssocID="{4DFCCB48-4AEC-4EEB-AA2F-CC4CBF797E2C}" presName="composite" presStyleCnt="0"/>
      <dgm:spPr/>
    </dgm:pt>
    <dgm:pt modelId="{0E1540D1-6E9B-4C45-ACD2-975E820E8391}" type="pres">
      <dgm:prSet presAssocID="{4DFCCB48-4AEC-4EEB-AA2F-CC4CBF797E2C}" presName="parTx" presStyleLbl="node1" presStyleIdx="0" presStyleCnt="2">
        <dgm:presLayoutVars>
          <dgm:chMax val="0"/>
          <dgm:chPref val="0"/>
          <dgm:bulletEnabled val="1"/>
        </dgm:presLayoutVars>
      </dgm:prSet>
      <dgm:spPr/>
      <dgm:t>
        <a:bodyPr/>
        <a:lstStyle/>
        <a:p>
          <a:endParaRPr lang="en-US"/>
        </a:p>
      </dgm:t>
    </dgm:pt>
    <dgm:pt modelId="{9814744E-69F8-462D-9D78-9A85A721546A}" type="pres">
      <dgm:prSet presAssocID="{4DFCCB48-4AEC-4EEB-AA2F-CC4CBF797E2C}" presName="parSh" presStyleLbl="node1" presStyleIdx="1" presStyleCnt="2"/>
      <dgm:spPr/>
      <dgm:t>
        <a:bodyPr/>
        <a:lstStyle/>
        <a:p>
          <a:endParaRPr lang="en-US"/>
        </a:p>
      </dgm:t>
    </dgm:pt>
    <dgm:pt modelId="{678ADA4A-96AC-440F-A9AC-B88BB34FE819}" type="pres">
      <dgm:prSet presAssocID="{4DFCCB48-4AEC-4EEB-AA2F-CC4CBF797E2C}" presName="desTx" presStyleLbl="fgAcc1" presStyleIdx="1" presStyleCnt="2">
        <dgm:presLayoutVars>
          <dgm:bulletEnabled val="1"/>
        </dgm:presLayoutVars>
      </dgm:prSet>
      <dgm:spPr/>
      <dgm:t>
        <a:bodyPr/>
        <a:lstStyle/>
        <a:p>
          <a:endParaRPr lang="en-US"/>
        </a:p>
      </dgm:t>
    </dgm:pt>
  </dgm:ptLst>
  <dgm:cxnLst>
    <dgm:cxn modelId="{CBC524DC-D4BA-4C7E-89AF-6B2E8D524BD1}" type="presOf" srcId="{836E2BBF-AE6F-44B9-AD26-342382726746}" destId="{0C43D20D-95E7-42B7-A42F-DB7AEEA22461}" srcOrd="1" destOrd="0" presId="urn:microsoft.com/office/officeart/2005/8/layout/process3"/>
    <dgm:cxn modelId="{26FD500E-B652-42D2-AF90-2A320A119D4A}" type="presOf" srcId="{5074504D-B054-44B7-AF1D-0C421DB29C8C}" destId="{BF9E2F76-6B5D-43DB-A7F2-4A21C009BF40}" srcOrd="0" destOrd="0" presId="urn:microsoft.com/office/officeart/2005/8/layout/process3"/>
    <dgm:cxn modelId="{CC7FFDD6-763A-4169-B4EA-A103A4D459FD}" type="presOf" srcId="{4DFCCB48-4AEC-4EEB-AA2F-CC4CBF797E2C}" destId="{0E1540D1-6E9B-4C45-ACD2-975E820E8391}" srcOrd="0" destOrd="0" presId="urn:microsoft.com/office/officeart/2005/8/layout/process3"/>
    <dgm:cxn modelId="{AB4B5F3C-6D2E-40DE-B14D-8E66EE4B0AAD}" type="presOf" srcId="{01D8423C-B62B-4DB7-BEF2-5344661D9C90}" destId="{678ADA4A-96AC-440F-A9AC-B88BB34FE819}" srcOrd="0" destOrd="0" presId="urn:microsoft.com/office/officeart/2005/8/layout/process3"/>
    <dgm:cxn modelId="{7C63219A-5EF3-449E-8A96-0070DD9D2A00}" type="presOf" srcId="{D74EC7CB-5B0D-423D-B603-3A5C45AD956D}" destId="{DCC3FCEA-0BC8-4D98-BFDA-E2DB9800EC74}" srcOrd="0" destOrd="1" presId="urn:microsoft.com/office/officeart/2005/8/layout/process3"/>
    <dgm:cxn modelId="{0989BD2A-56CF-44BD-A0E3-09F86A09E405}" type="presOf" srcId="{4AEE3CA0-DFA3-4BAB-98A9-C8F8BFBBA71B}" destId="{DCC3FCEA-0BC8-4D98-BFDA-E2DB9800EC74}" srcOrd="0" destOrd="2" presId="urn:microsoft.com/office/officeart/2005/8/layout/process3"/>
    <dgm:cxn modelId="{9C1759E4-9BA8-4B2D-88B1-CBB8F60299EF}" srcId="{5074504D-B054-44B7-AF1D-0C421DB29C8C}" destId="{ED8FDAFD-2942-4FC1-B20A-579740B7B1CE}" srcOrd="0" destOrd="0" parTransId="{1A26A442-51E5-4AD6-B06A-7CEC8DC3C7BD}" sibTransId="{7D460E7C-417F-4474-9CEA-2FABDE3004EB}"/>
    <dgm:cxn modelId="{B751E5C0-4CAD-4619-BA11-7767782F4ED5}" srcId="{5074504D-B054-44B7-AF1D-0C421DB29C8C}" destId="{4AEE3CA0-DFA3-4BAB-98A9-C8F8BFBBA71B}" srcOrd="2" destOrd="0" parTransId="{ABA12DC9-45E2-4BF5-ADAC-AFAC263B513B}" sibTransId="{30A510F3-F3BC-4B03-B46A-D0760A61E439}"/>
    <dgm:cxn modelId="{46A9C29C-2DD4-455B-B7B3-7630C0C756C2}" srcId="{5074504D-B054-44B7-AF1D-0C421DB29C8C}" destId="{D74EC7CB-5B0D-423D-B603-3A5C45AD956D}" srcOrd="1" destOrd="0" parTransId="{68571EA8-5167-40FF-8FE1-8713DDC5693C}" sibTransId="{3BCE471D-853F-44B8-A8A3-BC46A9AFCCB8}"/>
    <dgm:cxn modelId="{B11C2BF5-398A-44E0-8D2C-3F7E0D87CF95}" type="presOf" srcId="{8D1B62FA-7093-4D97-AFE2-20E9415476FB}" destId="{678ADA4A-96AC-440F-A9AC-B88BB34FE819}" srcOrd="0" destOrd="3" presId="urn:microsoft.com/office/officeart/2005/8/layout/process3"/>
    <dgm:cxn modelId="{2A1AEACB-7F18-4511-84CD-CB857565F6B4}" type="presOf" srcId="{4DFCCB48-4AEC-4EEB-AA2F-CC4CBF797E2C}" destId="{9814744E-69F8-462D-9D78-9A85A721546A}" srcOrd="1" destOrd="0" presId="urn:microsoft.com/office/officeart/2005/8/layout/process3"/>
    <dgm:cxn modelId="{CFEEAE52-D329-4F14-8FFB-F5807F3D2BE7}" type="presOf" srcId="{ED8FDAFD-2942-4FC1-B20A-579740B7B1CE}" destId="{DCC3FCEA-0BC8-4D98-BFDA-E2DB9800EC74}" srcOrd="0" destOrd="0" presId="urn:microsoft.com/office/officeart/2005/8/layout/process3"/>
    <dgm:cxn modelId="{677C7771-FE0B-4A85-A9EE-742D7C164FB0}" type="presOf" srcId="{79FEE828-AFFE-4C16-829E-5B8E5C4EFAC8}" destId="{678ADA4A-96AC-440F-A9AC-B88BB34FE819}" srcOrd="0" destOrd="2" presId="urn:microsoft.com/office/officeart/2005/8/layout/process3"/>
    <dgm:cxn modelId="{2A8BF2F2-33D4-4B56-AE44-82C4FF408787}" srcId="{4DFCCB48-4AEC-4EEB-AA2F-CC4CBF797E2C}" destId="{01D8423C-B62B-4DB7-BEF2-5344661D9C90}" srcOrd="0" destOrd="0" parTransId="{5AB0A615-FC9A-4860-B4B7-9A131055E503}" sibTransId="{339FBD81-FB5F-4243-A193-F403F9A95FDC}"/>
    <dgm:cxn modelId="{9343F455-0A78-499A-BA0D-E963FEB72291}" srcId="{4DFCCB48-4AEC-4EEB-AA2F-CC4CBF797E2C}" destId="{EA745E48-A54C-4715-B50C-447E4CD93CBD}" srcOrd="1" destOrd="0" parTransId="{5577F9F6-A06B-4DC9-A8E7-C43CDBE797D2}" sibTransId="{B5D95582-2A2A-44B6-9BD6-5A778802234C}"/>
    <dgm:cxn modelId="{BB5F8925-093C-4F6E-B0CB-6C74A4F1460D}" srcId="{72C595F7-F9FE-4C3C-B546-D393C43DA1D5}" destId="{4DFCCB48-4AEC-4EEB-AA2F-CC4CBF797E2C}" srcOrd="1" destOrd="0" parTransId="{C6C8FDDC-9AA7-4432-A3CE-C7372F1F8997}" sibTransId="{F9A953CC-554A-403A-9917-F525B2CCB7F0}"/>
    <dgm:cxn modelId="{3E123454-225D-436E-A8DF-22FEDA26DB59}" type="presOf" srcId="{5074504D-B054-44B7-AF1D-0C421DB29C8C}" destId="{C399DA07-F433-446A-A511-7651E2D31800}" srcOrd="1" destOrd="0" presId="urn:microsoft.com/office/officeart/2005/8/layout/process3"/>
    <dgm:cxn modelId="{E7204AB4-E824-4445-8621-EF7485982223}" srcId="{4DFCCB48-4AEC-4EEB-AA2F-CC4CBF797E2C}" destId="{8D1B62FA-7093-4D97-AFE2-20E9415476FB}" srcOrd="3" destOrd="0" parTransId="{B3DD2947-A67D-4A31-9263-1DEC034FDA84}" sibTransId="{15CE8E38-2D38-4B54-8608-7E5484BAD92B}"/>
    <dgm:cxn modelId="{CDE9D535-6F33-478A-B9B5-99B135EE4860}" type="presOf" srcId="{EA745E48-A54C-4715-B50C-447E4CD93CBD}" destId="{678ADA4A-96AC-440F-A9AC-B88BB34FE819}" srcOrd="0" destOrd="1" presId="urn:microsoft.com/office/officeart/2005/8/layout/process3"/>
    <dgm:cxn modelId="{0714A9B4-38AF-42FF-901E-F772FD84821F}" type="presOf" srcId="{836E2BBF-AE6F-44B9-AD26-342382726746}" destId="{7290FD40-2F27-43EF-AB17-DD7DDD8F591B}" srcOrd="0" destOrd="0" presId="urn:microsoft.com/office/officeart/2005/8/layout/process3"/>
    <dgm:cxn modelId="{22CF172D-CB96-4AF0-81D8-40FC67C649B3}" type="presOf" srcId="{72C595F7-F9FE-4C3C-B546-D393C43DA1D5}" destId="{5FAEC180-6FA0-4E38-9D1E-990ABDB6814F}" srcOrd="0" destOrd="0" presId="urn:microsoft.com/office/officeart/2005/8/layout/process3"/>
    <dgm:cxn modelId="{288D6556-D78D-42E2-834B-00062A324825}" srcId="{72C595F7-F9FE-4C3C-B546-D393C43DA1D5}" destId="{5074504D-B054-44B7-AF1D-0C421DB29C8C}" srcOrd="0" destOrd="0" parTransId="{38550204-A29D-4D29-89AB-206E975EF185}" sibTransId="{836E2BBF-AE6F-44B9-AD26-342382726746}"/>
    <dgm:cxn modelId="{FA4DD58B-17B8-499F-B201-39BEE8C96EEE}" srcId="{4DFCCB48-4AEC-4EEB-AA2F-CC4CBF797E2C}" destId="{79FEE828-AFFE-4C16-829E-5B8E5C4EFAC8}" srcOrd="2" destOrd="0" parTransId="{AC4E3062-8877-4BC2-888B-919D1EFD4992}" sibTransId="{B22F0313-488B-4AF7-881A-02773FBB395A}"/>
    <dgm:cxn modelId="{285D28A1-8D25-4DAB-8BD6-31B9F1198170}" type="presParOf" srcId="{5FAEC180-6FA0-4E38-9D1E-990ABDB6814F}" destId="{E5D422DD-3565-4886-BD6F-B54C46D7F5BD}" srcOrd="0" destOrd="0" presId="urn:microsoft.com/office/officeart/2005/8/layout/process3"/>
    <dgm:cxn modelId="{B4071B02-2CAE-4DC8-B3B9-29D7319EC20A}" type="presParOf" srcId="{E5D422DD-3565-4886-BD6F-B54C46D7F5BD}" destId="{BF9E2F76-6B5D-43DB-A7F2-4A21C009BF40}" srcOrd="0" destOrd="0" presId="urn:microsoft.com/office/officeart/2005/8/layout/process3"/>
    <dgm:cxn modelId="{190DD5FC-26B0-4970-B14E-88E5B4E9E4D4}" type="presParOf" srcId="{E5D422DD-3565-4886-BD6F-B54C46D7F5BD}" destId="{C399DA07-F433-446A-A511-7651E2D31800}" srcOrd="1" destOrd="0" presId="urn:microsoft.com/office/officeart/2005/8/layout/process3"/>
    <dgm:cxn modelId="{C2D2E022-BDFD-4B62-8D67-0628B48E3907}" type="presParOf" srcId="{E5D422DD-3565-4886-BD6F-B54C46D7F5BD}" destId="{DCC3FCEA-0BC8-4D98-BFDA-E2DB9800EC74}" srcOrd="2" destOrd="0" presId="urn:microsoft.com/office/officeart/2005/8/layout/process3"/>
    <dgm:cxn modelId="{F965AA80-27AC-4E36-8A09-97AAD6F29729}" type="presParOf" srcId="{5FAEC180-6FA0-4E38-9D1E-990ABDB6814F}" destId="{7290FD40-2F27-43EF-AB17-DD7DDD8F591B}" srcOrd="1" destOrd="0" presId="urn:microsoft.com/office/officeart/2005/8/layout/process3"/>
    <dgm:cxn modelId="{4085718B-B9AF-4C3E-9604-25619F434FAA}" type="presParOf" srcId="{7290FD40-2F27-43EF-AB17-DD7DDD8F591B}" destId="{0C43D20D-95E7-42B7-A42F-DB7AEEA22461}" srcOrd="0" destOrd="0" presId="urn:microsoft.com/office/officeart/2005/8/layout/process3"/>
    <dgm:cxn modelId="{41133B83-7C10-4181-91BB-4A629C7C0BC6}" type="presParOf" srcId="{5FAEC180-6FA0-4E38-9D1E-990ABDB6814F}" destId="{5ADE2951-8572-499B-B5D8-959B43D26925}" srcOrd="2" destOrd="0" presId="urn:microsoft.com/office/officeart/2005/8/layout/process3"/>
    <dgm:cxn modelId="{26BCA25F-16F1-4837-B14F-2D4A6B187675}" type="presParOf" srcId="{5ADE2951-8572-499B-B5D8-959B43D26925}" destId="{0E1540D1-6E9B-4C45-ACD2-975E820E8391}" srcOrd="0" destOrd="0" presId="urn:microsoft.com/office/officeart/2005/8/layout/process3"/>
    <dgm:cxn modelId="{0D38D7BD-69E2-4CE5-BBF0-7ECD84CEF319}" type="presParOf" srcId="{5ADE2951-8572-499B-B5D8-959B43D26925}" destId="{9814744E-69F8-462D-9D78-9A85A721546A}" srcOrd="1" destOrd="0" presId="urn:microsoft.com/office/officeart/2005/8/layout/process3"/>
    <dgm:cxn modelId="{F2F0FFE0-A158-4262-997E-102CF0F0F286}" type="presParOf" srcId="{5ADE2951-8572-499B-B5D8-959B43D26925}" destId="{678ADA4A-96AC-440F-A9AC-B88BB34FE819}"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custT="1"/>
      <dgm:spPr/>
      <dgm:t>
        <a:bodyPr/>
        <a:lstStyle/>
        <a:p>
          <a:r>
            <a:rPr lang="en-US" sz="1000"/>
            <a:t>HR aspects and governance-related issues</a:t>
          </a:r>
        </a:p>
      </dgm:t>
    </dgm:pt>
    <dgm:pt modelId="{34ADBB6D-89A4-4913-83ED-5D871B73AD66}" type="parTrans" cxnId="{453CEB6A-F61A-4C89-9592-9EB5104FC954}">
      <dgm:prSet/>
      <dgm:spPr/>
      <dgm:t>
        <a:bodyPr/>
        <a:lstStyle/>
        <a:p>
          <a:endParaRPr lang="en-US" sz="3200"/>
        </a:p>
      </dgm:t>
    </dgm:pt>
    <dgm:pt modelId="{32EC2ED1-5A41-47F2-A0A5-89A6987013DA}" type="sibTrans" cxnId="{453CEB6A-F61A-4C89-9592-9EB5104FC954}">
      <dgm:prSet custT="1"/>
      <dgm:spPr/>
      <dgm:t>
        <a:bodyPr/>
        <a:lstStyle/>
        <a:p>
          <a:endParaRPr lang="en-US" sz="900"/>
        </a:p>
      </dgm:t>
    </dgm:pt>
    <dgm:pt modelId="{5074504D-B054-44B7-AF1D-0C421DB29C8C}">
      <dgm:prSet phldrT="[Text]" custT="1"/>
      <dgm:spPr/>
      <dgm:t>
        <a:bodyPr/>
        <a:lstStyle/>
        <a:p>
          <a:r>
            <a:rPr lang="en-US" sz="1000"/>
            <a:t>HR Management Strategy</a:t>
          </a:r>
        </a:p>
      </dgm:t>
    </dgm:pt>
    <dgm:pt modelId="{38550204-A29D-4D29-89AB-206E975EF185}" type="parTrans" cxnId="{288D6556-D78D-42E2-834B-00062A324825}">
      <dgm:prSet/>
      <dgm:spPr/>
      <dgm:t>
        <a:bodyPr/>
        <a:lstStyle/>
        <a:p>
          <a:endParaRPr lang="en-US" sz="3200"/>
        </a:p>
      </dgm:t>
    </dgm:pt>
    <dgm:pt modelId="{836E2BBF-AE6F-44B9-AD26-342382726746}" type="sibTrans" cxnId="{288D6556-D78D-42E2-834B-00062A324825}">
      <dgm:prSet custT="1"/>
      <dgm:spPr/>
      <dgm:t>
        <a:bodyPr/>
        <a:lstStyle/>
        <a:p>
          <a:endParaRPr lang="en-US" sz="900"/>
        </a:p>
      </dgm:t>
    </dgm:pt>
    <dgm:pt modelId="{FF562A3D-0790-46FE-A9DF-1B423F95E76F}">
      <dgm:prSet phldrT="[Text]" custT="1"/>
      <dgm:spPr/>
      <dgm:t>
        <a:bodyPr/>
        <a:lstStyle/>
        <a:p>
          <a:r>
            <a:rPr lang="en-IN" sz="1000"/>
            <a:t>Finalize job descriptions of new positions</a:t>
          </a:r>
          <a:endParaRPr lang="en-US" sz="1000"/>
        </a:p>
      </dgm:t>
    </dgm:pt>
    <dgm:pt modelId="{A0D65B69-5380-4AF8-893D-A151F73F7D3E}" type="parTrans" cxnId="{DF9099EB-9CCD-490E-8FD6-FA9599863B2A}">
      <dgm:prSet/>
      <dgm:spPr/>
      <dgm:t>
        <a:bodyPr/>
        <a:lstStyle/>
        <a:p>
          <a:endParaRPr lang="en-US" sz="3200"/>
        </a:p>
      </dgm:t>
    </dgm:pt>
    <dgm:pt modelId="{FD4B70E3-BC58-436B-8774-53FB1C615077}" type="sibTrans" cxnId="{DF9099EB-9CCD-490E-8FD6-FA9599863B2A}">
      <dgm:prSet/>
      <dgm:spPr/>
      <dgm:t>
        <a:bodyPr/>
        <a:lstStyle/>
        <a:p>
          <a:endParaRPr lang="en-US" sz="3200"/>
        </a:p>
      </dgm:t>
    </dgm:pt>
    <dgm:pt modelId="{8A322586-3EAE-46BF-A0A2-B543FC172547}">
      <dgm:prSet phldrT="[Text]" custT="1"/>
      <dgm:spPr/>
      <dgm:t>
        <a:bodyPr/>
        <a:lstStyle/>
        <a:p>
          <a:r>
            <a:rPr lang="en-US" sz="1000"/>
            <a:t>Performance management system and succession plan</a:t>
          </a:r>
        </a:p>
      </dgm:t>
    </dgm:pt>
    <dgm:pt modelId="{B778E20A-7A2A-41B5-9D29-0D0BE2AA1541}" type="parTrans" cxnId="{4310C910-09CD-497B-8433-158C2EF562C9}">
      <dgm:prSet/>
      <dgm:spPr/>
      <dgm:t>
        <a:bodyPr/>
        <a:lstStyle/>
        <a:p>
          <a:endParaRPr lang="en-US" sz="3200"/>
        </a:p>
      </dgm:t>
    </dgm:pt>
    <dgm:pt modelId="{C8CF6BBD-5340-437F-A4A8-2E47EFBD8A2E}" type="sibTrans" cxnId="{4310C910-09CD-497B-8433-158C2EF562C9}">
      <dgm:prSet custT="1"/>
      <dgm:spPr/>
      <dgm:t>
        <a:bodyPr/>
        <a:lstStyle/>
        <a:p>
          <a:endParaRPr lang="en-US" sz="900"/>
        </a:p>
      </dgm:t>
    </dgm:pt>
    <dgm:pt modelId="{FF327D8F-51CA-44D7-939A-090B36C17F4D}">
      <dgm:prSet phldrT="[Text]" custT="1"/>
      <dgm:spPr/>
      <dgm:t>
        <a:bodyPr/>
        <a:lstStyle/>
        <a:p>
          <a:r>
            <a:rPr lang="en-IN" sz="1000"/>
            <a:t>Prepare Job descriptions for individual positions </a:t>
          </a:r>
          <a:endParaRPr lang="en-US" sz="1000"/>
        </a:p>
      </dgm:t>
    </dgm:pt>
    <dgm:pt modelId="{3331B1EB-6C9B-47B6-8270-B80845BF7D8D}" type="parTrans" cxnId="{C2B17D78-0FDC-4050-87A9-CDB9B07A2096}">
      <dgm:prSet/>
      <dgm:spPr/>
      <dgm:t>
        <a:bodyPr/>
        <a:lstStyle/>
        <a:p>
          <a:endParaRPr lang="en-US" sz="3200"/>
        </a:p>
      </dgm:t>
    </dgm:pt>
    <dgm:pt modelId="{DDE73F1C-4B20-4FF2-8616-A49C3B408829}" type="sibTrans" cxnId="{C2B17D78-0FDC-4050-87A9-CDB9B07A2096}">
      <dgm:prSet/>
      <dgm:spPr/>
      <dgm:t>
        <a:bodyPr/>
        <a:lstStyle/>
        <a:p>
          <a:endParaRPr lang="en-US" sz="3200"/>
        </a:p>
      </dgm:t>
    </dgm:pt>
    <dgm:pt modelId="{B9200B7D-D2D1-48FD-810B-7F2DD6661394}">
      <dgm:prSet phldrT="[Text]" custT="1"/>
      <dgm:spPr/>
      <dgm:t>
        <a:bodyPr/>
        <a:lstStyle/>
        <a:p>
          <a:r>
            <a:rPr lang="en-IN" sz="1000"/>
            <a:t>Review and strengthen existing HR Policy and Manual</a:t>
          </a:r>
          <a:endParaRPr lang="en-US" sz="1000"/>
        </a:p>
      </dgm:t>
    </dgm:pt>
    <dgm:pt modelId="{44C1E3A7-591A-4B1A-8580-DA6152A925FB}" type="parTrans" cxnId="{218C1915-D541-4882-B62E-E0D2BBE3E93D}">
      <dgm:prSet/>
      <dgm:spPr/>
      <dgm:t>
        <a:bodyPr/>
        <a:lstStyle/>
        <a:p>
          <a:endParaRPr lang="en-US" sz="3200"/>
        </a:p>
      </dgm:t>
    </dgm:pt>
    <dgm:pt modelId="{C4DD0A89-97CD-446B-9240-C7843098EEC0}" type="sibTrans" cxnId="{218C1915-D541-4882-B62E-E0D2BBE3E93D}">
      <dgm:prSet/>
      <dgm:spPr/>
      <dgm:t>
        <a:bodyPr/>
        <a:lstStyle/>
        <a:p>
          <a:endParaRPr lang="en-US" sz="3200"/>
        </a:p>
      </dgm:t>
    </dgm:pt>
    <dgm:pt modelId="{9B4DA9F6-852F-4DD0-B7B1-F2A8054DDEFE}">
      <dgm:prSet phldrT="[Text]" custT="1"/>
      <dgm:spPr/>
      <dgm:t>
        <a:bodyPr/>
        <a:lstStyle/>
        <a:p>
          <a:r>
            <a:rPr lang="en-US" sz="1000"/>
            <a:t>Training and development</a:t>
          </a:r>
        </a:p>
      </dgm:t>
    </dgm:pt>
    <dgm:pt modelId="{690F9323-5B48-43D5-85DF-86BAE12E8EDD}" type="parTrans" cxnId="{A07B83D0-F43B-4F12-BB69-66DB1B1963FD}">
      <dgm:prSet/>
      <dgm:spPr/>
      <dgm:t>
        <a:bodyPr/>
        <a:lstStyle/>
        <a:p>
          <a:endParaRPr lang="en-US" sz="3200"/>
        </a:p>
      </dgm:t>
    </dgm:pt>
    <dgm:pt modelId="{D15606CE-EF18-4264-B4C9-E58EA92B5957}" type="sibTrans" cxnId="{A07B83D0-F43B-4F12-BB69-66DB1B1963FD}">
      <dgm:prSet/>
      <dgm:spPr/>
      <dgm:t>
        <a:bodyPr/>
        <a:lstStyle/>
        <a:p>
          <a:endParaRPr lang="en-US" sz="3200"/>
        </a:p>
      </dgm:t>
    </dgm:pt>
    <dgm:pt modelId="{12E465FF-78DF-4E6A-8A3A-F35A3D6A8352}">
      <dgm:prSet phldrT="[Text]" custT="1"/>
      <dgm:spPr/>
      <dgm:t>
        <a:bodyPr/>
        <a:lstStyle/>
        <a:p>
          <a:r>
            <a:rPr lang="en-US" sz="1000"/>
            <a:t>Conduct training needs assessment</a:t>
          </a:r>
        </a:p>
      </dgm:t>
    </dgm:pt>
    <dgm:pt modelId="{76606C81-69ED-4FAA-B340-6059420AE218}" type="parTrans" cxnId="{1688F5FA-BEF8-452C-8A1E-BDB632C86202}">
      <dgm:prSet/>
      <dgm:spPr/>
      <dgm:t>
        <a:bodyPr/>
        <a:lstStyle/>
        <a:p>
          <a:endParaRPr lang="en-US" sz="3200"/>
        </a:p>
      </dgm:t>
    </dgm:pt>
    <dgm:pt modelId="{00D533E6-59DE-4BD5-9871-FE9153696692}" type="sibTrans" cxnId="{1688F5FA-BEF8-452C-8A1E-BDB632C86202}">
      <dgm:prSet/>
      <dgm:spPr/>
      <dgm:t>
        <a:bodyPr/>
        <a:lstStyle/>
        <a:p>
          <a:endParaRPr lang="en-US" sz="3200"/>
        </a:p>
      </dgm:t>
    </dgm:pt>
    <dgm:pt modelId="{5F9B5FEE-DCA5-4194-A921-2BEA8434A887}">
      <dgm:prSet phldrT="[Text]" custT="1"/>
      <dgm:spPr/>
      <dgm:t>
        <a:bodyPr/>
        <a:lstStyle/>
        <a:p>
          <a:endParaRPr lang="en-US" sz="1000"/>
        </a:p>
      </dgm:t>
    </dgm:pt>
    <dgm:pt modelId="{FE069F8E-0BBC-4198-81C0-B1EDE512FCDD}" type="parTrans" cxnId="{B70E3F3A-FD4F-4BF6-BA03-C191D686C585}">
      <dgm:prSet/>
      <dgm:spPr/>
      <dgm:t>
        <a:bodyPr/>
        <a:lstStyle/>
        <a:p>
          <a:endParaRPr lang="en-US" sz="3200"/>
        </a:p>
      </dgm:t>
    </dgm:pt>
    <dgm:pt modelId="{832CC4D3-732B-43C8-8C55-1BD1E6F8608A}" type="sibTrans" cxnId="{B70E3F3A-FD4F-4BF6-BA03-C191D686C585}">
      <dgm:prSet/>
      <dgm:spPr/>
      <dgm:t>
        <a:bodyPr/>
        <a:lstStyle/>
        <a:p>
          <a:endParaRPr lang="en-US" sz="3200"/>
        </a:p>
      </dgm:t>
    </dgm:pt>
    <dgm:pt modelId="{BF08B515-1F43-4C12-9C3D-0D4285D142E5}">
      <dgm:prSet phldrT="[Text]" custT="1"/>
      <dgm:spPr/>
      <dgm:t>
        <a:bodyPr/>
        <a:lstStyle/>
        <a:p>
          <a:r>
            <a:rPr lang="en-US" sz="1000"/>
            <a:t>Determine training scope, strategy and training plan</a:t>
          </a:r>
        </a:p>
      </dgm:t>
    </dgm:pt>
    <dgm:pt modelId="{D73816F9-4DB0-47F6-9DC2-6BC66930B4D6}" type="parTrans" cxnId="{ED79CDDE-B7E4-44B5-9179-598469453F64}">
      <dgm:prSet/>
      <dgm:spPr/>
      <dgm:t>
        <a:bodyPr/>
        <a:lstStyle/>
        <a:p>
          <a:endParaRPr lang="en-US" sz="3200"/>
        </a:p>
      </dgm:t>
    </dgm:pt>
    <dgm:pt modelId="{EFC4969A-AA81-4676-B754-57DB3AE490F9}" type="sibTrans" cxnId="{ED79CDDE-B7E4-44B5-9179-598469453F64}">
      <dgm:prSet/>
      <dgm:spPr/>
      <dgm:t>
        <a:bodyPr/>
        <a:lstStyle/>
        <a:p>
          <a:endParaRPr lang="en-US" sz="3200"/>
        </a:p>
      </dgm:t>
    </dgm:pt>
    <dgm:pt modelId="{0BCFB000-38BA-44F5-A532-DB1944E77793}">
      <dgm:prSet custT="1"/>
      <dgm:spPr/>
      <dgm:t>
        <a:bodyPr/>
        <a:lstStyle/>
        <a:p>
          <a:r>
            <a:rPr lang="en-IN" sz="1000"/>
            <a:t>Formulate procedure for group HR administration</a:t>
          </a:r>
        </a:p>
      </dgm:t>
    </dgm:pt>
    <dgm:pt modelId="{B6233528-3491-4E51-92AA-27064E0E9172}" type="parTrans" cxnId="{1E31A4A7-2CBA-4BD7-B509-312EE4A80597}">
      <dgm:prSet/>
      <dgm:spPr/>
      <dgm:t>
        <a:bodyPr/>
        <a:lstStyle/>
        <a:p>
          <a:endParaRPr lang="en-US" sz="3200"/>
        </a:p>
      </dgm:t>
    </dgm:pt>
    <dgm:pt modelId="{46D43DEF-1C39-4238-ADEC-CED50D6113DC}" type="sibTrans" cxnId="{1E31A4A7-2CBA-4BD7-B509-312EE4A80597}">
      <dgm:prSet/>
      <dgm:spPr/>
      <dgm:t>
        <a:bodyPr/>
        <a:lstStyle/>
        <a:p>
          <a:endParaRPr lang="en-US" sz="3200"/>
        </a:p>
      </dgm:t>
    </dgm:pt>
    <dgm:pt modelId="{CF7E0367-796E-483A-BD83-117A149A2B95}">
      <dgm:prSet custT="1"/>
      <dgm:spPr/>
      <dgm:t>
        <a:bodyPr/>
        <a:lstStyle/>
        <a:p>
          <a:r>
            <a:rPr lang="en-IN" sz="1000"/>
            <a:t>Identification of recruitment requirement</a:t>
          </a:r>
        </a:p>
      </dgm:t>
    </dgm:pt>
    <dgm:pt modelId="{A45C2265-D8CD-4C93-8FE0-9747D77134AB}" type="parTrans" cxnId="{F81F8497-D080-4416-96F8-01B4D48DF00F}">
      <dgm:prSet/>
      <dgm:spPr/>
      <dgm:t>
        <a:bodyPr/>
        <a:lstStyle/>
        <a:p>
          <a:endParaRPr lang="en-US" sz="3200"/>
        </a:p>
      </dgm:t>
    </dgm:pt>
    <dgm:pt modelId="{E5F92A12-0C7E-4850-A2E4-6833D84DE73B}" type="sibTrans" cxnId="{F81F8497-D080-4416-96F8-01B4D48DF00F}">
      <dgm:prSet/>
      <dgm:spPr/>
      <dgm:t>
        <a:bodyPr/>
        <a:lstStyle/>
        <a:p>
          <a:endParaRPr lang="en-US" sz="3200"/>
        </a:p>
      </dgm:t>
    </dgm:pt>
    <dgm:pt modelId="{2E95B4B7-6BD6-4E99-9B06-CFC5863E3DBD}">
      <dgm:prSet custT="1"/>
      <dgm:spPr/>
      <dgm:t>
        <a:bodyPr/>
        <a:lstStyle/>
        <a:p>
          <a:r>
            <a:rPr lang="en-IN" sz="1000"/>
            <a:t>Develop recruiting methods that attract desirable talent</a:t>
          </a:r>
        </a:p>
      </dgm:t>
    </dgm:pt>
    <dgm:pt modelId="{D36CDC2B-A40A-42C5-8599-4C844EAA3479}" type="parTrans" cxnId="{30988F88-D4DF-4F01-879F-5F137747C7C7}">
      <dgm:prSet/>
      <dgm:spPr/>
      <dgm:t>
        <a:bodyPr/>
        <a:lstStyle/>
        <a:p>
          <a:endParaRPr lang="en-US" sz="3200"/>
        </a:p>
      </dgm:t>
    </dgm:pt>
    <dgm:pt modelId="{5C40C03D-A063-4D98-8344-72DBE19ECFF4}" type="sibTrans" cxnId="{30988F88-D4DF-4F01-879F-5F137747C7C7}">
      <dgm:prSet/>
      <dgm:spPr/>
      <dgm:t>
        <a:bodyPr/>
        <a:lstStyle/>
        <a:p>
          <a:endParaRPr lang="en-US" sz="3200"/>
        </a:p>
      </dgm:t>
    </dgm:pt>
    <dgm:pt modelId="{634EF41F-0620-447B-A3A4-4491FF40E63A}">
      <dgm:prSet custT="1"/>
      <dgm:spPr/>
      <dgm:t>
        <a:bodyPr/>
        <a:lstStyle/>
        <a:p>
          <a:r>
            <a:rPr lang="en-IN" sz="1000"/>
            <a:t>Set up a compensation review committee</a:t>
          </a:r>
        </a:p>
      </dgm:t>
    </dgm:pt>
    <dgm:pt modelId="{D01B5BDA-973C-41AF-98D7-2FE927394542}" type="parTrans" cxnId="{7B185CD7-55D4-4FA2-ABBF-4F68464DF20D}">
      <dgm:prSet/>
      <dgm:spPr/>
      <dgm:t>
        <a:bodyPr/>
        <a:lstStyle/>
        <a:p>
          <a:endParaRPr lang="en-US" sz="3200"/>
        </a:p>
      </dgm:t>
    </dgm:pt>
    <dgm:pt modelId="{43582E18-4831-4A81-A967-2FC40D5CB099}" type="sibTrans" cxnId="{7B185CD7-55D4-4FA2-ABBF-4F68464DF20D}">
      <dgm:prSet/>
      <dgm:spPr/>
      <dgm:t>
        <a:bodyPr/>
        <a:lstStyle/>
        <a:p>
          <a:endParaRPr lang="en-US" sz="3200"/>
        </a:p>
      </dgm:t>
    </dgm:pt>
    <dgm:pt modelId="{F907C759-E21F-499B-AD2E-DDA36AF4DA48}">
      <dgm:prSet custT="1"/>
      <dgm:spPr/>
      <dgm:t>
        <a:bodyPr/>
        <a:lstStyle/>
        <a:p>
          <a:r>
            <a:rPr lang="en-US" sz="1000"/>
            <a:t>Salary and compensation benchmarking and finalization of pay structure</a:t>
          </a:r>
          <a:endParaRPr lang="en-IN" sz="1000"/>
        </a:p>
      </dgm:t>
    </dgm:pt>
    <dgm:pt modelId="{D8B16375-DC78-41A0-B4BB-A3E78D92B0B9}" type="parTrans" cxnId="{18ECA223-75F0-49FA-B4BB-7A41BEE74D6F}">
      <dgm:prSet/>
      <dgm:spPr/>
      <dgm:t>
        <a:bodyPr/>
        <a:lstStyle/>
        <a:p>
          <a:endParaRPr lang="en-US" sz="3200"/>
        </a:p>
      </dgm:t>
    </dgm:pt>
    <dgm:pt modelId="{6C82B960-30D5-4544-A78E-8A7B4FDF69DE}" type="sibTrans" cxnId="{18ECA223-75F0-49FA-B4BB-7A41BEE74D6F}">
      <dgm:prSet/>
      <dgm:spPr/>
      <dgm:t>
        <a:bodyPr/>
        <a:lstStyle/>
        <a:p>
          <a:endParaRPr lang="en-US" sz="3200"/>
        </a:p>
      </dgm:t>
    </dgm:pt>
    <dgm:pt modelId="{A031018A-2A7F-4150-8F43-5812E3BD9DF1}">
      <dgm:prSet custT="1"/>
      <dgm:spPr/>
      <dgm:t>
        <a:bodyPr/>
        <a:lstStyle/>
        <a:p>
          <a:r>
            <a:rPr lang="en-IN" sz="1000"/>
            <a:t>Define KPIs for Individual Positions for measuring the performances </a:t>
          </a:r>
        </a:p>
      </dgm:t>
    </dgm:pt>
    <dgm:pt modelId="{455B86D0-D7FF-41EE-ACFF-E98D0577C3FC}" type="parTrans" cxnId="{1A51849A-DFB2-453F-84B7-7C316755ED54}">
      <dgm:prSet/>
      <dgm:spPr/>
      <dgm:t>
        <a:bodyPr/>
        <a:lstStyle/>
        <a:p>
          <a:endParaRPr lang="en-US" sz="3200"/>
        </a:p>
      </dgm:t>
    </dgm:pt>
    <dgm:pt modelId="{6C8D6A69-494E-413F-AD3F-EB36BA155CE2}" type="sibTrans" cxnId="{1A51849A-DFB2-453F-84B7-7C316755ED54}">
      <dgm:prSet/>
      <dgm:spPr/>
      <dgm:t>
        <a:bodyPr/>
        <a:lstStyle/>
        <a:p>
          <a:endParaRPr lang="en-US" sz="3200"/>
        </a:p>
      </dgm:t>
    </dgm:pt>
    <dgm:pt modelId="{169E32AE-BCE9-4996-8B0C-968895DEB490}">
      <dgm:prSet custT="1"/>
      <dgm:spPr/>
      <dgm:t>
        <a:bodyPr/>
        <a:lstStyle/>
        <a:p>
          <a:r>
            <a:rPr lang="en-IN" sz="1000"/>
            <a:t>Setting individual targets for appraisal</a:t>
          </a:r>
        </a:p>
      </dgm:t>
    </dgm:pt>
    <dgm:pt modelId="{CDE05715-CCCD-49E9-A54E-21E98C7F02F7}" type="parTrans" cxnId="{3E2AB9E8-A63C-427B-B6BD-D4845673F719}">
      <dgm:prSet/>
      <dgm:spPr/>
      <dgm:t>
        <a:bodyPr/>
        <a:lstStyle/>
        <a:p>
          <a:endParaRPr lang="en-US" sz="3200"/>
        </a:p>
      </dgm:t>
    </dgm:pt>
    <dgm:pt modelId="{CB5FA6B3-615A-4F73-B083-21A4CE5620FF}" type="sibTrans" cxnId="{3E2AB9E8-A63C-427B-B6BD-D4845673F719}">
      <dgm:prSet/>
      <dgm:spPr/>
      <dgm:t>
        <a:bodyPr/>
        <a:lstStyle/>
        <a:p>
          <a:endParaRPr lang="en-US" sz="3200"/>
        </a:p>
      </dgm:t>
    </dgm:pt>
    <dgm:pt modelId="{2CD71067-0FBA-41E0-8B10-CFFDE83285C9}">
      <dgm:prSet custT="1"/>
      <dgm:spPr/>
      <dgm:t>
        <a:bodyPr/>
        <a:lstStyle/>
        <a:p>
          <a:r>
            <a:rPr lang="en-IN" sz="1000"/>
            <a:t>Evolve strategy to link outcome of PA to Training, Development and Compensation</a:t>
          </a:r>
        </a:p>
      </dgm:t>
    </dgm:pt>
    <dgm:pt modelId="{A49C2C97-307C-4C4F-B32E-C20331A7F811}" type="parTrans" cxnId="{73CB2FEA-B0BB-4452-9C6C-DB5F3D684CE8}">
      <dgm:prSet/>
      <dgm:spPr/>
      <dgm:t>
        <a:bodyPr/>
        <a:lstStyle/>
        <a:p>
          <a:endParaRPr lang="en-US" sz="3200"/>
        </a:p>
      </dgm:t>
    </dgm:pt>
    <dgm:pt modelId="{7B5C12A4-2B61-4712-8BBD-C04510BBA5D5}" type="sibTrans" cxnId="{73CB2FEA-B0BB-4452-9C6C-DB5F3D684CE8}">
      <dgm:prSet/>
      <dgm:spPr/>
      <dgm:t>
        <a:bodyPr/>
        <a:lstStyle/>
        <a:p>
          <a:endParaRPr lang="en-US" sz="3200"/>
        </a:p>
      </dgm:t>
    </dgm:pt>
    <dgm:pt modelId="{BB18F528-BC86-4325-8A60-72B92F331757}">
      <dgm:prSet custT="1"/>
      <dgm:spPr/>
      <dgm:t>
        <a:bodyPr/>
        <a:lstStyle/>
        <a:p>
          <a:r>
            <a:rPr lang="en-IN" sz="1000"/>
            <a:t>Prepare a strategy foor implementation of an IT based Performance Appraisal System that will be an integral part of the HRIS system</a:t>
          </a:r>
        </a:p>
      </dgm:t>
    </dgm:pt>
    <dgm:pt modelId="{1E003A30-0DD1-4EE0-9025-6452D62A02B6}" type="parTrans" cxnId="{A9B74518-85FF-4FDA-821D-37876ADE11E8}">
      <dgm:prSet/>
      <dgm:spPr/>
      <dgm:t>
        <a:bodyPr/>
        <a:lstStyle/>
        <a:p>
          <a:endParaRPr lang="en-US" sz="3200"/>
        </a:p>
      </dgm:t>
    </dgm:pt>
    <dgm:pt modelId="{6B9F609A-3108-41A9-876D-400BB105517E}" type="sibTrans" cxnId="{A9B74518-85FF-4FDA-821D-37876ADE11E8}">
      <dgm:prSet/>
      <dgm:spPr/>
      <dgm:t>
        <a:bodyPr/>
        <a:lstStyle/>
        <a:p>
          <a:endParaRPr lang="en-US" sz="3200"/>
        </a:p>
      </dgm:t>
    </dgm:pt>
    <dgm:pt modelId="{05DF8B6F-6D5F-41C0-A04C-00732DB5CA9B}">
      <dgm:prSet custT="1"/>
      <dgm:spPr/>
      <dgm:t>
        <a:bodyPr/>
        <a:lstStyle/>
        <a:p>
          <a:r>
            <a:rPr lang="en-IN" sz="1000"/>
            <a:t>Formulate sucession planning strategy for top positiions</a:t>
          </a:r>
        </a:p>
      </dgm:t>
    </dgm:pt>
    <dgm:pt modelId="{48357C15-C928-4144-BBB1-DAE8B3388A33}" type="parTrans" cxnId="{9B48E7DC-8ED7-4BBB-B568-58CFC74D2E77}">
      <dgm:prSet/>
      <dgm:spPr/>
      <dgm:t>
        <a:bodyPr/>
        <a:lstStyle/>
        <a:p>
          <a:endParaRPr lang="en-US" sz="3200"/>
        </a:p>
      </dgm:t>
    </dgm:pt>
    <dgm:pt modelId="{71CEE774-3C99-4AE8-B219-8236883561AD}" type="sibTrans" cxnId="{9B48E7DC-8ED7-4BBB-B568-58CFC74D2E77}">
      <dgm:prSet/>
      <dgm:spPr/>
      <dgm:t>
        <a:bodyPr/>
        <a:lstStyle/>
        <a:p>
          <a:endParaRPr lang="en-US" sz="3200"/>
        </a:p>
      </dgm:t>
    </dgm:pt>
    <dgm:pt modelId="{3B9139E0-CDD8-4623-BA46-CD32124FE5EB}">
      <dgm:prSet phldrT="[Text]" custT="1"/>
      <dgm:spPr/>
      <dgm:t>
        <a:bodyPr/>
        <a:lstStyle/>
        <a:p>
          <a:r>
            <a:rPr lang="en-US" sz="1000"/>
            <a:t>Develop training course materials</a:t>
          </a:r>
        </a:p>
      </dgm:t>
    </dgm:pt>
    <dgm:pt modelId="{92AA7CFD-B157-4B7D-8118-1A113C0241D7}" type="parTrans" cxnId="{0A481E98-95A9-4CC2-833C-77057F3984BC}">
      <dgm:prSet/>
      <dgm:spPr/>
      <dgm:t>
        <a:bodyPr/>
        <a:lstStyle/>
        <a:p>
          <a:endParaRPr lang="en-US" sz="3200"/>
        </a:p>
      </dgm:t>
    </dgm:pt>
    <dgm:pt modelId="{BBF56CB6-E5E4-4B59-AEB2-18ABFBC50960}" type="sibTrans" cxnId="{0A481E98-95A9-4CC2-833C-77057F3984BC}">
      <dgm:prSet/>
      <dgm:spPr/>
      <dgm:t>
        <a:bodyPr/>
        <a:lstStyle/>
        <a:p>
          <a:endParaRPr lang="en-US" sz="3200"/>
        </a:p>
      </dgm:t>
    </dgm:pt>
    <dgm:pt modelId="{F9A957D7-D9FB-471F-8E7A-FCD1DC100F6F}">
      <dgm:prSet phldrT="[Text]" custT="1"/>
      <dgm:spPr/>
      <dgm:t>
        <a:bodyPr/>
        <a:lstStyle/>
        <a:p>
          <a:r>
            <a:rPr lang="en-US" sz="1000"/>
            <a:t>Develop and conduct instructor training</a:t>
          </a:r>
        </a:p>
      </dgm:t>
    </dgm:pt>
    <dgm:pt modelId="{2A0C8F8C-4608-49C0-B3A5-EFC6F7C451BC}" type="parTrans" cxnId="{1C6462B5-29CD-4118-8C6A-E35301950686}">
      <dgm:prSet/>
      <dgm:spPr/>
      <dgm:t>
        <a:bodyPr/>
        <a:lstStyle/>
        <a:p>
          <a:endParaRPr lang="en-US" sz="3200"/>
        </a:p>
      </dgm:t>
    </dgm:pt>
    <dgm:pt modelId="{AFCA653B-E798-4765-83DD-9964DD62281F}" type="sibTrans" cxnId="{1C6462B5-29CD-4118-8C6A-E35301950686}">
      <dgm:prSet/>
      <dgm:spPr/>
      <dgm:t>
        <a:bodyPr/>
        <a:lstStyle/>
        <a:p>
          <a:endParaRPr lang="en-US" sz="3200"/>
        </a:p>
      </dgm:t>
    </dgm:pt>
    <dgm:pt modelId="{8493421F-ED0B-44FD-B78D-D83558A11B69}">
      <dgm:prSet phldrT="[Text]" custT="1"/>
      <dgm:spPr/>
      <dgm:t>
        <a:bodyPr/>
        <a:lstStyle/>
        <a:p>
          <a:r>
            <a:rPr lang="en-US" sz="1000" dirty="0"/>
            <a:t>Conduct pilot training sessions</a:t>
          </a:r>
        </a:p>
      </dgm:t>
    </dgm:pt>
    <dgm:pt modelId="{DE2238B6-FD70-4FE0-804D-5DC597111CB7}" type="parTrans" cxnId="{6ECF2839-10C4-4053-A09C-A43033B02466}">
      <dgm:prSet/>
      <dgm:spPr/>
      <dgm:t>
        <a:bodyPr/>
        <a:lstStyle/>
        <a:p>
          <a:endParaRPr lang="en-US" sz="3200"/>
        </a:p>
      </dgm:t>
    </dgm:pt>
    <dgm:pt modelId="{D1028DED-7FB6-47FD-ADB8-94020B08D557}" type="sibTrans" cxnId="{6ECF2839-10C4-4053-A09C-A43033B02466}">
      <dgm:prSet/>
      <dgm:spPr/>
      <dgm:t>
        <a:bodyPr/>
        <a:lstStyle/>
        <a:p>
          <a:endParaRPr lang="en-US" sz="3200"/>
        </a:p>
      </dgm:t>
    </dgm:pt>
    <dgm:pt modelId="{70597768-7F0D-4E81-8D99-BC0535B5CFDD}">
      <dgm:prSet phldrT="[Text]" custT="1"/>
      <dgm:spPr/>
      <dgm:t>
        <a:bodyPr/>
        <a:lstStyle/>
        <a:p>
          <a:r>
            <a:rPr lang="en-US" sz="1000"/>
            <a:t>Establish ongoing training course maintenance and measurement</a:t>
          </a:r>
        </a:p>
      </dgm:t>
    </dgm:pt>
    <dgm:pt modelId="{4A660CEA-F20D-4A6C-B029-D2296BD1041F}" type="parTrans" cxnId="{3074DC89-8012-43BF-B633-2002F08A2C16}">
      <dgm:prSet/>
      <dgm:spPr/>
      <dgm:t>
        <a:bodyPr/>
        <a:lstStyle/>
        <a:p>
          <a:endParaRPr lang="en-US" sz="3200"/>
        </a:p>
      </dgm:t>
    </dgm:pt>
    <dgm:pt modelId="{A90B2D98-1204-4B33-B7A2-0704DFA56631}" type="sibTrans" cxnId="{3074DC89-8012-43BF-B633-2002F08A2C16}">
      <dgm:prSet/>
      <dgm:spPr/>
      <dgm:t>
        <a:bodyPr/>
        <a:lstStyle/>
        <a:p>
          <a:endParaRPr lang="en-US" sz="3200"/>
        </a:p>
      </dgm:t>
    </dgm:pt>
    <dgm:pt modelId="{0F8AC0FC-C531-4E62-9211-392F7BC8ACC7}">
      <dgm:prSet custT="1"/>
      <dgm:spPr/>
      <dgm:t>
        <a:bodyPr/>
        <a:lstStyle/>
        <a:p>
          <a:r>
            <a:rPr lang="en-IN" sz="1000"/>
            <a:t>Design reward systems to recognize and motivate high-performing employees</a:t>
          </a:r>
        </a:p>
      </dgm:t>
    </dgm:pt>
    <dgm:pt modelId="{758CD558-183B-4B74-B5BE-6E68E94A3F68}" type="sibTrans" cxnId="{1F2ED24C-485E-40A8-9D59-AAFC97C9546B}">
      <dgm:prSet/>
      <dgm:spPr/>
      <dgm:t>
        <a:bodyPr/>
        <a:lstStyle/>
        <a:p>
          <a:endParaRPr lang="en-US" sz="3200"/>
        </a:p>
      </dgm:t>
    </dgm:pt>
    <dgm:pt modelId="{BAE6AD87-C6C6-498F-B1EE-71EACD23C277}" type="parTrans" cxnId="{1F2ED24C-485E-40A8-9D59-AAFC97C9546B}">
      <dgm:prSet/>
      <dgm:spPr/>
      <dgm:t>
        <a:bodyPr/>
        <a:lstStyle/>
        <a:p>
          <a:endParaRPr lang="en-US" sz="3200"/>
        </a:p>
      </dgm:t>
    </dgm:pt>
    <dgm:pt modelId="{DEA8846D-68A6-452E-9BAB-6E2900EB6456}">
      <dgm:prSet phldrT="[Text]" custT="1"/>
      <dgm:spPr/>
      <dgm:t>
        <a:bodyPr/>
        <a:lstStyle/>
        <a:p>
          <a:r>
            <a:rPr lang="en-US" sz="1000"/>
            <a:t>Assess and strengthen existing training framework</a:t>
          </a:r>
        </a:p>
      </dgm:t>
    </dgm:pt>
    <dgm:pt modelId="{6AECB799-49D6-4EB8-A1CC-2EF74B1806A7}" type="parTrans" cxnId="{73DE580A-6BC1-458D-B906-0B1B2ABCF303}">
      <dgm:prSet/>
      <dgm:spPr/>
      <dgm:t>
        <a:bodyPr/>
        <a:lstStyle/>
        <a:p>
          <a:endParaRPr lang="en-US" sz="3200"/>
        </a:p>
      </dgm:t>
    </dgm:pt>
    <dgm:pt modelId="{1B271E65-3C50-463C-8F4E-DE2B6CC74327}" type="sibTrans" cxnId="{73DE580A-6BC1-458D-B906-0B1B2ABCF303}">
      <dgm:prSet/>
      <dgm:spPr/>
      <dgm:t>
        <a:bodyPr/>
        <a:lstStyle/>
        <a:p>
          <a:endParaRPr lang="en-US" sz="3200"/>
        </a:p>
      </dgm:t>
    </dgm:pt>
    <dgm:pt modelId="{13EC386E-EED3-479F-9E28-882A699845EC}">
      <dgm:prSet custT="1"/>
      <dgm:spPr/>
      <dgm:t>
        <a:bodyPr/>
        <a:lstStyle/>
        <a:p>
          <a:r>
            <a:rPr lang="en-IN" sz="1000"/>
            <a:t>Formulate procedure and strategy to upgrade/ update Personnel Information System and prepare strategy for implementation of an IT-based HRIS Module including updating of employee database, employment history, payroll &amp; leave information, training information, etc.</a:t>
          </a:r>
        </a:p>
      </dgm:t>
    </dgm:pt>
    <dgm:pt modelId="{96C769EC-12E3-4366-809A-DA15C8E338E6}" type="parTrans" cxnId="{49EDC79D-8E64-4F12-9197-FD5D94FBE91F}">
      <dgm:prSet/>
      <dgm:spPr/>
      <dgm:t>
        <a:bodyPr/>
        <a:lstStyle/>
        <a:p>
          <a:endParaRPr lang="en-US" sz="2800"/>
        </a:p>
      </dgm:t>
    </dgm:pt>
    <dgm:pt modelId="{9A0D3F03-F7CC-425C-84F7-DEFDF5112F8E}" type="sibTrans" cxnId="{49EDC79D-8E64-4F12-9197-FD5D94FBE91F}">
      <dgm:prSet/>
      <dgm:spPr/>
      <dgm:t>
        <a:bodyPr/>
        <a:lstStyle/>
        <a:p>
          <a:endParaRPr lang="en-US" sz="2800"/>
        </a:p>
      </dgm:t>
    </dgm:pt>
    <dgm:pt modelId="{0D356869-26A3-4F10-8EBC-E5EF101F3FC4}">
      <dgm:prSet phldrT="[Text]" custT="1"/>
      <dgm:spPr/>
      <dgm:t>
        <a:bodyPr/>
        <a:lstStyle/>
        <a:p>
          <a:r>
            <a:rPr lang="en-US" sz="1000"/>
            <a:t>Formulation of new HR policies as required</a:t>
          </a:r>
        </a:p>
      </dgm:t>
    </dgm:pt>
    <dgm:pt modelId="{D660DCEC-97BF-4799-821A-1FD9C6799684}" type="parTrans" cxnId="{3770591E-50BF-483F-B523-100C0C2E71CC}">
      <dgm:prSet/>
      <dgm:spPr/>
      <dgm:t>
        <a:bodyPr/>
        <a:lstStyle/>
        <a:p>
          <a:endParaRPr lang="en-US" sz="2800"/>
        </a:p>
      </dgm:t>
    </dgm:pt>
    <dgm:pt modelId="{5722F715-9A7F-4CED-B48D-96A00F3F2BB7}" type="sibTrans" cxnId="{3770591E-50BF-483F-B523-100C0C2E71CC}">
      <dgm:prSet/>
      <dgm:spPr/>
      <dgm:t>
        <a:bodyPr/>
        <a:lstStyle/>
        <a:p>
          <a:endParaRPr lang="en-US" sz="2800"/>
        </a:p>
      </dgm:t>
    </dgm:pt>
    <dgm:pt modelId="{30D3A534-17E9-473D-8B9D-6D3B96F893EF}">
      <dgm:prSet phldrT="[Text]" custT="1"/>
      <dgm:spPr/>
      <dgm:t>
        <a:bodyPr/>
        <a:lstStyle/>
        <a:p>
          <a:r>
            <a:rPr lang="en-US" sz="1000"/>
            <a:t>Review and strengthen job descriptions for existing positions</a:t>
          </a:r>
        </a:p>
      </dgm:t>
    </dgm:pt>
    <dgm:pt modelId="{34DF0045-1951-4544-B885-0AEF60113457}" type="parTrans" cxnId="{6587CBEB-5FB7-4844-8B33-E84429BC6390}">
      <dgm:prSet/>
      <dgm:spPr/>
      <dgm:t>
        <a:bodyPr/>
        <a:lstStyle/>
        <a:p>
          <a:endParaRPr lang="en-US" sz="2800"/>
        </a:p>
      </dgm:t>
    </dgm:pt>
    <dgm:pt modelId="{4A3AD18E-4D59-4A1B-8867-5AC40AFA07BC}" type="sibTrans" cxnId="{6587CBEB-5FB7-4844-8B33-E84429BC6390}">
      <dgm:prSet/>
      <dgm:spPr/>
      <dgm:t>
        <a:bodyPr/>
        <a:lstStyle/>
        <a:p>
          <a:endParaRPr lang="en-US" sz="2800"/>
        </a:p>
      </dgm:t>
    </dgm:pt>
    <dgm:pt modelId="{ECD1C665-B44C-4F3D-AF77-DD0106F48897}">
      <dgm:prSet phldrT="[Text]" custT="1"/>
      <dgm:spPr/>
      <dgm:t>
        <a:bodyPr/>
        <a:lstStyle/>
        <a:p>
          <a:r>
            <a:rPr lang="en-US" sz="1000"/>
            <a:t>Finalization and approval of organogram, manpower strength and manpower positions</a:t>
          </a:r>
        </a:p>
      </dgm:t>
    </dgm:pt>
    <dgm:pt modelId="{DE73AAA3-036E-417C-BD39-AC42272577B3}" type="parTrans" cxnId="{52CB1B02-3DFB-47BA-AE43-0867603420AF}">
      <dgm:prSet/>
      <dgm:spPr/>
      <dgm:t>
        <a:bodyPr/>
        <a:lstStyle/>
        <a:p>
          <a:endParaRPr lang="en-US" sz="2800"/>
        </a:p>
      </dgm:t>
    </dgm:pt>
    <dgm:pt modelId="{7FFB0E01-74EC-49C3-A72A-F60617DFE5D8}" type="sibTrans" cxnId="{52CB1B02-3DFB-47BA-AE43-0867603420AF}">
      <dgm:prSet/>
      <dgm:spPr/>
      <dgm:t>
        <a:bodyPr/>
        <a:lstStyle/>
        <a:p>
          <a:endParaRPr lang="en-US" sz="2800"/>
        </a:p>
      </dgm:t>
    </dgm:pt>
    <dgm:pt modelId="{F0786E6A-A05E-4023-B8C6-827B2F526045}">
      <dgm:prSet phldrT="[Text]" custT="1"/>
      <dgm:spPr/>
      <dgm:t>
        <a:bodyPr/>
        <a:lstStyle/>
        <a:p>
          <a:r>
            <a:rPr lang="en-US" sz="1000"/>
            <a:t>Preparation of HR Plan</a:t>
          </a:r>
        </a:p>
      </dgm:t>
    </dgm:pt>
    <dgm:pt modelId="{09674AC2-64AB-4894-9426-DBE3E9258033}" type="parTrans" cxnId="{05D35C4F-4F30-473D-AF0A-D5FCD1FFFBD8}">
      <dgm:prSet/>
      <dgm:spPr/>
      <dgm:t>
        <a:bodyPr/>
        <a:lstStyle/>
        <a:p>
          <a:endParaRPr lang="en-US" sz="2800"/>
        </a:p>
      </dgm:t>
    </dgm:pt>
    <dgm:pt modelId="{C00401BC-4425-496C-97FA-0F07F29B02A2}" type="sibTrans" cxnId="{05D35C4F-4F30-473D-AF0A-D5FCD1FFFBD8}">
      <dgm:prSet/>
      <dgm:spPr/>
      <dgm:t>
        <a:bodyPr/>
        <a:lstStyle/>
        <a:p>
          <a:endParaRPr lang="en-US" sz="2800"/>
        </a:p>
      </dgm:t>
    </dgm:pt>
    <dgm:pt modelId="{DCAC603F-E6DA-45D2-85BC-F9879FDA5B87}">
      <dgm:prSet custT="1"/>
      <dgm:spPr/>
      <dgm:t>
        <a:bodyPr/>
        <a:lstStyle/>
        <a:p>
          <a:r>
            <a:rPr lang="en-IN" sz="1000"/>
            <a:t>Review and finalize performance-linked compensation package</a:t>
          </a:r>
        </a:p>
      </dgm:t>
    </dgm:pt>
    <dgm:pt modelId="{01517F76-CD6A-4445-8E30-C9D1348023C6}" type="parTrans" cxnId="{BE24AC05-701C-471D-BD22-0301AE2FA6C9}">
      <dgm:prSet/>
      <dgm:spPr/>
      <dgm:t>
        <a:bodyPr/>
        <a:lstStyle/>
        <a:p>
          <a:endParaRPr lang="en-US" sz="2800"/>
        </a:p>
      </dgm:t>
    </dgm:pt>
    <dgm:pt modelId="{FE4633C5-85AA-4FCD-BBAA-01861A115157}" type="sibTrans" cxnId="{BE24AC05-701C-471D-BD22-0301AE2FA6C9}">
      <dgm:prSet/>
      <dgm:spPr/>
      <dgm:t>
        <a:bodyPr/>
        <a:lstStyle/>
        <a:p>
          <a:endParaRPr lang="en-US" sz="2800"/>
        </a:p>
      </dgm:t>
    </dgm:pt>
    <dgm:pt modelId="{DE033E8D-100B-435B-8106-93C8141C2137}">
      <dgm:prSet custT="1"/>
      <dgm:spPr/>
      <dgm:t>
        <a:bodyPr/>
        <a:lstStyle/>
        <a:p>
          <a:r>
            <a:rPr lang="en-IN" sz="1000"/>
            <a:t>Mapping of the KPI targets to organizational targets</a:t>
          </a:r>
        </a:p>
      </dgm:t>
    </dgm:pt>
    <dgm:pt modelId="{47097811-05AF-4C3D-9126-CA3D9FB85A9B}" type="parTrans" cxnId="{7536AF64-1650-495B-A045-1A3E047BC328}">
      <dgm:prSet/>
      <dgm:spPr/>
      <dgm:t>
        <a:bodyPr/>
        <a:lstStyle/>
        <a:p>
          <a:endParaRPr lang="en-US" sz="2800"/>
        </a:p>
      </dgm:t>
    </dgm:pt>
    <dgm:pt modelId="{DA9490C2-9C31-4A3E-922C-66FE05758AD4}" type="sibTrans" cxnId="{7536AF64-1650-495B-A045-1A3E047BC328}">
      <dgm:prSet/>
      <dgm:spPr/>
      <dgm:t>
        <a:bodyPr/>
        <a:lstStyle/>
        <a:p>
          <a:endParaRPr lang="en-US" sz="2800"/>
        </a:p>
      </dgm:t>
    </dgm:pt>
    <dgm:pt modelId="{344A401B-A674-4488-A855-62C7CA573614}">
      <dgm:prSet phldrT="[Text]" custT="1"/>
      <dgm:spPr/>
      <dgm:t>
        <a:bodyPr/>
        <a:lstStyle/>
        <a:p>
          <a:r>
            <a:rPr lang="en-US" sz="1000" dirty="0"/>
            <a:t>Prepare strategy for integrating training database in the proposed IT-based HRIS module</a:t>
          </a:r>
        </a:p>
      </dgm:t>
    </dgm:pt>
    <dgm:pt modelId="{7B935DB7-80BA-4C44-937C-B7025396AA5D}" type="parTrans" cxnId="{3249A5F5-E320-4B0A-A3B6-F014246B5A5D}">
      <dgm:prSet/>
      <dgm:spPr/>
      <dgm:t>
        <a:bodyPr/>
        <a:lstStyle/>
        <a:p>
          <a:endParaRPr lang="en-US" sz="2800"/>
        </a:p>
      </dgm:t>
    </dgm:pt>
    <dgm:pt modelId="{6F44DA19-9100-490E-91D6-21215956826B}" type="sibTrans" cxnId="{3249A5F5-E320-4B0A-A3B6-F014246B5A5D}">
      <dgm:prSet/>
      <dgm:spPr/>
      <dgm:t>
        <a:bodyPr/>
        <a:lstStyle/>
        <a:p>
          <a:endParaRPr lang="en-US" sz="2800"/>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4">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4" custScaleY="100239"/>
      <dgm:spPr/>
      <dgm:t>
        <a:bodyPr/>
        <a:lstStyle/>
        <a:p>
          <a:endParaRPr lang="en-US"/>
        </a:p>
      </dgm:t>
    </dgm:pt>
    <dgm:pt modelId="{7E8F3D55-80E5-4F13-9459-E39284D0328D}" type="pres">
      <dgm:prSet presAssocID="{03454651-1876-463C-891F-DBFB67BE2D7D}" presName="desTx" presStyleLbl="fgAcc1" presStyleIdx="0" presStyleCnt="4">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3"/>
      <dgm:spPr/>
      <dgm:t>
        <a:bodyPr/>
        <a:lstStyle/>
        <a:p>
          <a:endParaRPr lang="en-US"/>
        </a:p>
      </dgm:t>
    </dgm:pt>
    <dgm:pt modelId="{4B650DD2-5F02-4AE9-9DDB-38B6153A658F}" type="pres">
      <dgm:prSet presAssocID="{32EC2ED1-5A41-47F2-A0A5-89A6987013DA}" presName="connTx" presStyleLbl="sibTrans2D1" presStyleIdx="0" presStyleCnt="3"/>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4">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4" custScaleY="100239"/>
      <dgm:spPr/>
      <dgm:t>
        <a:bodyPr/>
        <a:lstStyle/>
        <a:p>
          <a:endParaRPr lang="en-US"/>
        </a:p>
      </dgm:t>
    </dgm:pt>
    <dgm:pt modelId="{DCC3FCEA-0BC8-4D98-BFDA-E2DB9800EC74}" type="pres">
      <dgm:prSet presAssocID="{5074504D-B054-44B7-AF1D-0C421DB29C8C}" presName="desTx" presStyleLbl="fgAcc1" presStyleIdx="1" presStyleCnt="4">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3"/>
      <dgm:spPr/>
      <dgm:t>
        <a:bodyPr/>
        <a:lstStyle/>
        <a:p>
          <a:endParaRPr lang="en-US"/>
        </a:p>
      </dgm:t>
    </dgm:pt>
    <dgm:pt modelId="{DE71027A-1108-4DB8-8E4D-B5CBC710D5C6}" type="pres">
      <dgm:prSet presAssocID="{836E2BBF-AE6F-44B9-AD26-342382726746}" presName="connTx" presStyleLbl="sibTrans2D1" presStyleIdx="1" presStyleCnt="3"/>
      <dgm:spPr/>
      <dgm:t>
        <a:bodyPr/>
        <a:lstStyle/>
        <a:p>
          <a:endParaRPr lang="en-US"/>
        </a:p>
      </dgm:t>
    </dgm:pt>
    <dgm:pt modelId="{83C7BD17-838E-4699-83E3-5B3822925BEB}" type="pres">
      <dgm:prSet presAssocID="{8A322586-3EAE-46BF-A0A2-B543FC172547}" presName="composite" presStyleCnt="0"/>
      <dgm:spPr/>
    </dgm:pt>
    <dgm:pt modelId="{6B9023C6-72FD-4035-AA4C-2587D11CC782}" type="pres">
      <dgm:prSet presAssocID="{8A322586-3EAE-46BF-A0A2-B543FC172547}" presName="parTx" presStyleLbl="node1" presStyleIdx="1" presStyleCnt="4">
        <dgm:presLayoutVars>
          <dgm:chMax val="0"/>
          <dgm:chPref val="0"/>
          <dgm:bulletEnabled val="1"/>
        </dgm:presLayoutVars>
      </dgm:prSet>
      <dgm:spPr/>
      <dgm:t>
        <a:bodyPr/>
        <a:lstStyle/>
        <a:p>
          <a:endParaRPr lang="en-US"/>
        </a:p>
      </dgm:t>
    </dgm:pt>
    <dgm:pt modelId="{6D0727A4-F90B-4FFC-BFFD-513C5448BB49}" type="pres">
      <dgm:prSet presAssocID="{8A322586-3EAE-46BF-A0A2-B543FC172547}" presName="parSh" presStyleLbl="node1" presStyleIdx="2" presStyleCnt="4" custScaleY="100239"/>
      <dgm:spPr/>
      <dgm:t>
        <a:bodyPr/>
        <a:lstStyle/>
        <a:p>
          <a:endParaRPr lang="en-US"/>
        </a:p>
      </dgm:t>
    </dgm:pt>
    <dgm:pt modelId="{9C734644-8D7B-452D-99C4-DBC3818A5A71}" type="pres">
      <dgm:prSet presAssocID="{8A322586-3EAE-46BF-A0A2-B543FC172547}" presName="desTx" presStyleLbl="fgAcc1" presStyleIdx="2" presStyleCnt="4">
        <dgm:presLayoutVars>
          <dgm:bulletEnabled val="1"/>
        </dgm:presLayoutVars>
      </dgm:prSet>
      <dgm:spPr/>
      <dgm:t>
        <a:bodyPr/>
        <a:lstStyle/>
        <a:p>
          <a:endParaRPr lang="en-US"/>
        </a:p>
      </dgm:t>
    </dgm:pt>
    <dgm:pt modelId="{704A812C-3706-4AA8-A39A-B3C9FB24CCED}" type="pres">
      <dgm:prSet presAssocID="{C8CF6BBD-5340-437F-A4A8-2E47EFBD8A2E}" presName="sibTrans" presStyleLbl="sibTrans2D1" presStyleIdx="2" presStyleCnt="3"/>
      <dgm:spPr/>
      <dgm:t>
        <a:bodyPr/>
        <a:lstStyle/>
        <a:p>
          <a:endParaRPr lang="en-US"/>
        </a:p>
      </dgm:t>
    </dgm:pt>
    <dgm:pt modelId="{6094B7C5-1A34-4651-ADA1-D8A122F8A626}" type="pres">
      <dgm:prSet presAssocID="{C8CF6BBD-5340-437F-A4A8-2E47EFBD8A2E}" presName="connTx" presStyleLbl="sibTrans2D1" presStyleIdx="2" presStyleCnt="3"/>
      <dgm:spPr/>
      <dgm:t>
        <a:bodyPr/>
        <a:lstStyle/>
        <a:p>
          <a:endParaRPr lang="en-US"/>
        </a:p>
      </dgm:t>
    </dgm:pt>
    <dgm:pt modelId="{335C799A-4A7A-40AE-B239-65B410B1F1B0}" type="pres">
      <dgm:prSet presAssocID="{9B4DA9F6-852F-4DD0-B7B1-F2A8054DDEFE}" presName="composite" presStyleCnt="0"/>
      <dgm:spPr/>
    </dgm:pt>
    <dgm:pt modelId="{B0981AE7-0B49-4327-8620-F3FF7BAF336B}" type="pres">
      <dgm:prSet presAssocID="{9B4DA9F6-852F-4DD0-B7B1-F2A8054DDEFE}" presName="parTx" presStyleLbl="node1" presStyleIdx="2" presStyleCnt="4">
        <dgm:presLayoutVars>
          <dgm:chMax val="0"/>
          <dgm:chPref val="0"/>
          <dgm:bulletEnabled val="1"/>
        </dgm:presLayoutVars>
      </dgm:prSet>
      <dgm:spPr/>
      <dgm:t>
        <a:bodyPr/>
        <a:lstStyle/>
        <a:p>
          <a:endParaRPr lang="en-US"/>
        </a:p>
      </dgm:t>
    </dgm:pt>
    <dgm:pt modelId="{D1CE7F53-AD10-41B7-879A-08B86174BF89}" type="pres">
      <dgm:prSet presAssocID="{9B4DA9F6-852F-4DD0-B7B1-F2A8054DDEFE}" presName="parSh" presStyleLbl="node1" presStyleIdx="3" presStyleCnt="4" custScaleY="100239"/>
      <dgm:spPr/>
      <dgm:t>
        <a:bodyPr/>
        <a:lstStyle/>
        <a:p>
          <a:endParaRPr lang="en-US"/>
        </a:p>
      </dgm:t>
    </dgm:pt>
    <dgm:pt modelId="{BFDF687B-071F-4701-A759-B79B9851E4CA}" type="pres">
      <dgm:prSet presAssocID="{9B4DA9F6-852F-4DD0-B7B1-F2A8054DDEFE}" presName="desTx" presStyleLbl="fgAcc1" presStyleIdx="3" presStyleCnt="4">
        <dgm:presLayoutVars>
          <dgm:bulletEnabled val="1"/>
        </dgm:presLayoutVars>
      </dgm:prSet>
      <dgm:spPr/>
      <dgm:t>
        <a:bodyPr/>
        <a:lstStyle/>
        <a:p>
          <a:endParaRPr lang="en-US"/>
        </a:p>
      </dgm:t>
    </dgm:pt>
  </dgm:ptLst>
  <dgm:cxnLst>
    <dgm:cxn modelId="{9569E647-5C1A-4613-BC12-E98B4B5879A6}" type="presOf" srcId="{DE033E8D-100B-435B-8106-93C8141C2137}" destId="{9C734644-8D7B-452D-99C4-DBC3818A5A71}" srcOrd="0" destOrd="3" presId="urn:microsoft.com/office/officeart/2005/8/layout/process3"/>
    <dgm:cxn modelId="{BAAC7F73-A646-482D-A611-4EB36DAE3036}" type="presOf" srcId="{32EC2ED1-5A41-47F2-A0A5-89A6987013DA}" destId="{4B650DD2-5F02-4AE9-9DDB-38B6153A658F}" srcOrd="1" destOrd="0" presId="urn:microsoft.com/office/officeart/2005/8/layout/process3"/>
    <dgm:cxn modelId="{1A51849A-DFB2-453F-84B7-7C316755ED54}" srcId="{8A322586-3EAE-46BF-A0A2-B543FC172547}" destId="{A031018A-2A7F-4150-8F43-5812E3BD9DF1}" srcOrd="1" destOrd="0" parTransId="{455B86D0-D7FF-41EE-ACFF-E98D0577C3FC}" sibTransId="{6C8D6A69-494E-413F-AD3F-EB36BA155CE2}"/>
    <dgm:cxn modelId="{AC122878-3468-4D1B-B7D4-25573C67C527}" type="presOf" srcId="{8493421F-ED0B-44FD-B78D-D83558A11B69}" destId="{BFDF687B-071F-4701-A759-B79B9851E4CA}" srcOrd="0" destOrd="5" presId="urn:microsoft.com/office/officeart/2005/8/layout/process3"/>
    <dgm:cxn modelId="{3770591E-50BF-483F-B523-100C0C2E71CC}" srcId="{03454651-1876-463C-891F-DBFB67BE2D7D}" destId="{0D356869-26A3-4F10-8EBC-E5EF101F3FC4}" srcOrd="1" destOrd="0" parTransId="{D660DCEC-97BF-4799-821A-1FD9C6799684}" sibTransId="{5722F715-9A7F-4CED-B48D-96A00F3F2BB7}"/>
    <dgm:cxn modelId="{49EDC79D-8E64-4F12-9197-FD5D94FBE91F}" srcId="{03454651-1876-463C-891F-DBFB67BE2D7D}" destId="{13EC386E-EED3-479F-9E28-882A699845EC}" srcOrd="3" destOrd="0" parTransId="{96C769EC-12E3-4366-809A-DA15C8E338E6}" sibTransId="{9A0D3F03-F7CC-425C-84F7-DEFDF5112F8E}"/>
    <dgm:cxn modelId="{F81F8497-D080-4416-96F8-01B4D48DF00F}" srcId="{5074504D-B054-44B7-AF1D-0C421DB29C8C}" destId="{CF7E0367-796E-483A-BD83-117A149A2B95}" srcOrd="4" destOrd="0" parTransId="{A45C2265-D8CD-4C93-8FE0-9747D77134AB}" sibTransId="{E5F92A12-0C7E-4850-A2E4-6833D84DE73B}"/>
    <dgm:cxn modelId="{30988F88-D4DF-4F01-879F-5F137747C7C7}" srcId="{5074504D-B054-44B7-AF1D-0C421DB29C8C}" destId="{2E95B4B7-6BD6-4E99-9B06-CFC5863E3DBD}" srcOrd="5" destOrd="0" parTransId="{D36CDC2B-A40A-42C5-8599-4C844EAA3479}" sibTransId="{5C40C03D-A063-4D98-8344-72DBE19ECFF4}"/>
    <dgm:cxn modelId="{3CB298F4-22E6-4908-ABDF-42EFB0037D18}" type="presOf" srcId="{03454651-1876-463C-891F-DBFB67BE2D7D}" destId="{3D847FC2-380F-49AF-936C-1553F8F26F3C}" srcOrd="0" destOrd="0" presId="urn:microsoft.com/office/officeart/2005/8/layout/process3"/>
    <dgm:cxn modelId="{8E8E18A1-A3AE-4C85-AF1B-17841FB46C00}" type="presOf" srcId="{C8CF6BBD-5340-437F-A4A8-2E47EFBD8A2E}" destId="{704A812C-3706-4AA8-A39A-B3C9FB24CCED}" srcOrd="0" destOrd="0" presId="urn:microsoft.com/office/officeart/2005/8/layout/process3"/>
    <dgm:cxn modelId="{AAAD76CD-6FBD-4FAA-B8C4-525E8149B196}" type="presOf" srcId="{DCAC603F-E6DA-45D2-85BC-F9879FDA5B87}" destId="{DCC3FCEA-0BC8-4D98-BFDA-E2DB9800EC74}" srcOrd="0" destOrd="8" presId="urn:microsoft.com/office/officeart/2005/8/layout/process3"/>
    <dgm:cxn modelId="{73DE580A-6BC1-458D-B906-0B1B2ABCF303}" srcId="{9B4DA9F6-852F-4DD0-B7B1-F2A8054DDEFE}" destId="{DEA8846D-68A6-452E-9BAB-6E2900EB6456}" srcOrd="0" destOrd="0" parTransId="{6AECB799-49D6-4EB8-A1CC-2EF74B1806A7}" sibTransId="{1B271E65-3C50-463C-8F4E-DE2B6CC74327}"/>
    <dgm:cxn modelId="{C24AAE3A-B963-4B3F-9196-54A85CD99140}" type="presOf" srcId="{C8CF6BBD-5340-437F-A4A8-2E47EFBD8A2E}" destId="{6094B7C5-1A34-4651-ADA1-D8A122F8A626}" srcOrd="1" destOrd="0" presId="urn:microsoft.com/office/officeart/2005/8/layout/process3"/>
    <dgm:cxn modelId="{3074DC89-8012-43BF-B633-2002F08A2C16}" srcId="{9B4DA9F6-852F-4DD0-B7B1-F2A8054DDEFE}" destId="{70597768-7F0D-4E81-8D99-BC0535B5CFDD}" srcOrd="6" destOrd="0" parTransId="{4A660CEA-F20D-4A6C-B029-D2296BD1041F}" sibTransId="{A90B2D98-1204-4B33-B7A2-0704DFA56631}"/>
    <dgm:cxn modelId="{EBCD45FE-FDDC-4799-B591-A163D057E643}" type="presOf" srcId="{A031018A-2A7F-4150-8F43-5812E3BD9DF1}" destId="{9C734644-8D7B-452D-99C4-DBC3818A5A71}" srcOrd="0" destOrd="1" presId="urn:microsoft.com/office/officeart/2005/8/layout/process3"/>
    <dgm:cxn modelId="{B75B888C-F5C5-4724-913C-580273519F68}" type="presOf" srcId="{634EF41F-0620-447B-A3A4-4491FF40E63A}" destId="{DCC3FCEA-0BC8-4D98-BFDA-E2DB9800EC74}" srcOrd="0" destOrd="6" presId="urn:microsoft.com/office/officeart/2005/8/layout/process3"/>
    <dgm:cxn modelId="{5A61259E-79D9-4E31-8E09-B9C5CE446E2B}" type="presOf" srcId="{BB18F528-BC86-4325-8A60-72B92F331757}" destId="{9C734644-8D7B-452D-99C4-DBC3818A5A71}" srcOrd="0" destOrd="5" presId="urn:microsoft.com/office/officeart/2005/8/layout/process3"/>
    <dgm:cxn modelId="{ED79CDDE-B7E4-44B5-9179-598469453F64}" srcId="{9B4DA9F6-852F-4DD0-B7B1-F2A8054DDEFE}" destId="{BF08B515-1F43-4C12-9C3D-0D4285D142E5}" srcOrd="2" destOrd="0" parTransId="{D73816F9-4DB0-47F6-9DC2-6BC66930B4D6}" sibTransId="{EFC4969A-AA81-4676-B754-57DB3AE490F9}"/>
    <dgm:cxn modelId="{05D35C4F-4F30-473D-AF0A-D5FCD1FFFBD8}" srcId="{5074504D-B054-44B7-AF1D-0C421DB29C8C}" destId="{F0786E6A-A05E-4023-B8C6-827B2F526045}" srcOrd="3" destOrd="0" parTransId="{09674AC2-64AB-4894-9426-DBE3E9258033}" sibTransId="{C00401BC-4425-496C-97FA-0F07F29B02A2}"/>
    <dgm:cxn modelId="{1F2ED24C-485E-40A8-9D59-AAFC97C9546B}" srcId="{5074504D-B054-44B7-AF1D-0C421DB29C8C}" destId="{0F8AC0FC-C531-4E62-9211-392F7BC8ACC7}" srcOrd="9" destOrd="0" parTransId="{BAE6AD87-C6C6-498F-B1EE-71EACD23C277}" sibTransId="{758CD558-183B-4B74-B5BE-6E68E94A3F68}"/>
    <dgm:cxn modelId="{4310C910-09CD-497B-8433-158C2EF562C9}" srcId="{72C595F7-F9FE-4C3C-B546-D393C43DA1D5}" destId="{8A322586-3EAE-46BF-A0A2-B543FC172547}" srcOrd="2" destOrd="0" parTransId="{B778E20A-7A2A-41B5-9D29-0D0BE2AA1541}" sibTransId="{C8CF6BBD-5340-437F-A4A8-2E47EFBD8A2E}"/>
    <dgm:cxn modelId="{38E9185C-27F5-4A7F-B2A2-7E200578C61D}" type="presOf" srcId="{F0786E6A-A05E-4023-B8C6-827B2F526045}" destId="{DCC3FCEA-0BC8-4D98-BFDA-E2DB9800EC74}" srcOrd="0" destOrd="3" presId="urn:microsoft.com/office/officeart/2005/8/layout/process3"/>
    <dgm:cxn modelId="{996255A4-3252-4778-9C4E-588D20E02AFE}" type="presOf" srcId="{9B4DA9F6-852F-4DD0-B7B1-F2A8054DDEFE}" destId="{D1CE7F53-AD10-41B7-879A-08B86174BF89}" srcOrd="1" destOrd="0" presId="urn:microsoft.com/office/officeart/2005/8/layout/process3"/>
    <dgm:cxn modelId="{218C1915-D541-4882-B62E-E0D2BBE3E93D}" srcId="{03454651-1876-463C-891F-DBFB67BE2D7D}" destId="{B9200B7D-D2D1-48FD-810B-7F2DD6661394}" srcOrd="0" destOrd="0" parTransId="{44C1E3A7-591A-4B1A-8580-DA6152A925FB}" sibTransId="{C4DD0A89-97CD-446B-9240-C7843098EEC0}"/>
    <dgm:cxn modelId="{288D6556-D78D-42E2-834B-00062A324825}" srcId="{72C595F7-F9FE-4C3C-B546-D393C43DA1D5}" destId="{5074504D-B054-44B7-AF1D-0C421DB29C8C}" srcOrd="1" destOrd="0" parTransId="{38550204-A29D-4D29-89AB-206E975EF185}" sibTransId="{836E2BBF-AE6F-44B9-AD26-342382726746}"/>
    <dgm:cxn modelId="{3AFB62B0-EE37-49C2-B7D9-F10A36042B26}" type="presOf" srcId="{DEA8846D-68A6-452E-9BAB-6E2900EB6456}" destId="{BFDF687B-071F-4701-A759-B79B9851E4CA}" srcOrd="0" destOrd="0" presId="urn:microsoft.com/office/officeart/2005/8/layout/process3"/>
    <dgm:cxn modelId="{20AD21ED-25B7-40AF-AC40-044CE114E116}" type="presOf" srcId="{ECD1C665-B44C-4F3D-AF77-DD0106F48897}" destId="{DCC3FCEA-0BC8-4D98-BFDA-E2DB9800EC74}" srcOrd="0" destOrd="0" presId="urn:microsoft.com/office/officeart/2005/8/layout/process3"/>
    <dgm:cxn modelId="{25CAD800-8861-4DF4-8897-8A7E9CE1D6D1}" type="presOf" srcId="{5074504D-B054-44B7-AF1D-0C421DB29C8C}" destId="{BF9E2F76-6B5D-43DB-A7F2-4A21C009BF40}" srcOrd="0" destOrd="0" presId="urn:microsoft.com/office/officeart/2005/8/layout/process3"/>
    <dgm:cxn modelId="{DB910119-5683-4AD7-9077-752DCDBE2768}" type="presOf" srcId="{5F9B5FEE-DCA5-4194-A921-2BEA8434A887}" destId="{BFDF687B-071F-4701-A759-B79B9851E4CA}" srcOrd="0" destOrd="8" presId="urn:microsoft.com/office/officeart/2005/8/layout/process3"/>
    <dgm:cxn modelId="{BE24AC05-701C-471D-BD22-0301AE2FA6C9}" srcId="{5074504D-B054-44B7-AF1D-0C421DB29C8C}" destId="{DCAC603F-E6DA-45D2-85BC-F9879FDA5B87}" srcOrd="8" destOrd="0" parTransId="{01517F76-CD6A-4445-8E30-C9D1348023C6}" sibTransId="{FE4633C5-85AA-4FCD-BBAA-01861A115157}"/>
    <dgm:cxn modelId="{18ECA223-75F0-49FA-B4BB-7A41BEE74D6F}" srcId="{5074504D-B054-44B7-AF1D-0C421DB29C8C}" destId="{F907C759-E21F-499B-AD2E-DDA36AF4DA48}" srcOrd="7" destOrd="0" parTransId="{D8B16375-DC78-41A0-B4BB-A3E78D92B0B9}" sibTransId="{6C82B960-30D5-4544-A78E-8A7B4FDF69DE}"/>
    <dgm:cxn modelId="{1688F5FA-BEF8-452C-8A1E-BDB632C86202}" srcId="{9B4DA9F6-852F-4DD0-B7B1-F2A8054DDEFE}" destId="{12E465FF-78DF-4E6A-8A3A-F35A3D6A8352}" srcOrd="1" destOrd="0" parTransId="{76606C81-69ED-4FAA-B340-6059420AE218}" sibTransId="{00D533E6-59DE-4BD5-9871-FE9153696692}"/>
    <dgm:cxn modelId="{6638964F-1082-4EAD-9DBC-F5B04C4142E7}" type="presOf" srcId="{FF562A3D-0790-46FE-A9DF-1B423F95E76F}" destId="{DCC3FCEA-0BC8-4D98-BFDA-E2DB9800EC74}" srcOrd="0" destOrd="2" presId="urn:microsoft.com/office/officeart/2005/8/layout/process3"/>
    <dgm:cxn modelId="{16D05338-3219-4F57-9283-7C515D3F018D}" type="presOf" srcId="{8A322586-3EAE-46BF-A0A2-B543FC172547}" destId="{6B9023C6-72FD-4035-AA4C-2587D11CC782}" srcOrd="0" destOrd="0" presId="urn:microsoft.com/office/officeart/2005/8/layout/process3"/>
    <dgm:cxn modelId="{88751E87-9433-4282-982E-778A20F41ABC}" type="presOf" srcId="{03454651-1876-463C-891F-DBFB67BE2D7D}" destId="{3A83BC6F-B725-4345-B234-B50F8B6B5DAE}" srcOrd="1" destOrd="0" presId="urn:microsoft.com/office/officeart/2005/8/layout/process3"/>
    <dgm:cxn modelId="{6E973560-5FE8-470F-9623-83DB35B6FC71}" type="presOf" srcId="{836E2BBF-AE6F-44B9-AD26-342382726746}" destId="{63F08940-AC90-4DF0-A1DA-5F6759C06E77}" srcOrd="0" destOrd="0" presId="urn:microsoft.com/office/officeart/2005/8/layout/process3"/>
    <dgm:cxn modelId="{B8E98DDB-C8A5-4FCB-8F0E-A6FBCF862799}" type="presOf" srcId="{836E2BBF-AE6F-44B9-AD26-342382726746}" destId="{DE71027A-1108-4DB8-8E4D-B5CBC710D5C6}" srcOrd="1" destOrd="0" presId="urn:microsoft.com/office/officeart/2005/8/layout/process3"/>
    <dgm:cxn modelId="{0346B67C-CE09-4DBB-BD12-287EFC1EFC95}" type="presOf" srcId="{CF7E0367-796E-483A-BD83-117A149A2B95}" destId="{DCC3FCEA-0BC8-4D98-BFDA-E2DB9800EC74}" srcOrd="0" destOrd="4" presId="urn:microsoft.com/office/officeart/2005/8/layout/process3"/>
    <dgm:cxn modelId="{8E4DC174-E42B-4AD2-B91C-649816CCC6E0}" type="presOf" srcId="{B9200B7D-D2D1-48FD-810B-7F2DD6661394}" destId="{7E8F3D55-80E5-4F13-9459-E39284D0328D}" srcOrd="0" destOrd="0" presId="urn:microsoft.com/office/officeart/2005/8/layout/process3"/>
    <dgm:cxn modelId="{65747B93-EDC0-4DF3-921A-D86CD0496C60}" type="presOf" srcId="{12E465FF-78DF-4E6A-8A3A-F35A3D6A8352}" destId="{BFDF687B-071F-4701-A759-B79B9851E4CA}" srcOrd="0" destOrd="1" presId="urn:microsoft.com/office/officeart/2005/8/layout/process3"/>
    <dgm:cxn modelId="{1E31A4A7-2CBA-4BD7-B509-312EE4A80597}" srcId="{03454651-1876-463C-891F-DBFB67BE2D7D}" destId="{0BCFB000-38BA-44F5-A532-DB1944E77793}" srcOrd="2" destOrd="0" parTransId="{B6233528-3491-4E51-92AA-27064E0E9172}" sibTransId="{46D43DEF-1C39-4238-ADEC-CED50D6113DC}"/>
    <dgm:cxn modelId="{52CB1B02-3DFB-47BA-AE43-0867603420AF}" srcId="{5074504D-B054-44B7-AF1D-0C421DB29C8C}" destId="{ECD1C665-B44C-4F3D-AF77-DD0106F48897}" srcOrd="0" destOrd="0" parTransId="{DE73AAA3-036E-417C-BD39-AC42272577B3}" sibTransId="{7FFB0E01-74EC-49C3-A72A-F60617DFE5D8}"/>
    <dgm:cxn modelId="{6BDA0409-2068-4FA9-B2C6-1CA1F1C183B0}" type="presOf" srcId="{F9A957D7-D9FB-471F-8E7A-FCD1DC100F6F}" destId="{BFDF687B-071F-4701-A759-B79B9851E4CA}" srcOrd="0" destOrd="4" presId="urn:microsoft.com/office/officeart/2005/8/layout/process3"/>
    <dgm:cxn modelId="{02D2755E-0B69-4B24-902F-5B95456967D2}" type="presOf" srcId="{8A322586-3EAE-46BF-A0A2-B543FC172547}" destId="{6D0727A4-F90B-4FFC-BFFD-513C5448BB49}" srcOrd="1" destOrd="0" presId="urn:microsoft.com/office/officeart/2005/8/layout/process3"/>
    <dgm:cxn modelId="{10C8946E-C84C-420C-8F28-51D0D03CBF92}" type="presOf" srcId="{FF327D8F-51CA-44D7-939A-090B36C17F4D}" destId="{9C734644-8D7B-452D-99C4-DBC3818A5A71}" srcOrd="0" destOrd="0" presId="urn:microsoft.com/office/officeart/2005/8/layout/process3"/>
    <dgm:cxn modelId="{06D79F7B-52C9-41D1-A700-FD15ED624B71}" type="presOf" srcId="{BF08B515-1F43-4C12-9C3D-0D4285D142E5}" destId="{BFDF687B-071F-4701-A759-B79B9851E4CA}" srcOrd="0" destOrd="2" presId="urn:microsoft.com/office/officeart/2005/8/layout/process3"/>
    <dgm:cxn modelId="{C8CA6097-9F5A-4D16-A920-BA3D6CED11FF}" type="presOf" srcId="{32EC2ED1-5A41-47F2-A0A5-89A6987013DA}" destId="{2185D18F-377B-4641-B87A-82A7FD17C65D}" srcOrd="0" destOrd="0" presId="urn:microsoft.com/office/officeart/2005/8/layout/process3"/>
    <dgm:cxn modelId="{91D56EF4-7A47-4712-AA9A-092489879FE8}" type="presOf" srcId="{0D356869-26A3-4F10-8EBC-E5EF101F3FC4}" destId="{7E8F3D55-80E5-4F13-9459-E39284D0328D}" srcOrd="0" destOrd="1" presId="urn:microsoft.com/office/officeart/2005/8/layout/process3"/>
    <dgm:cxn modelId="{A9B74518-85FF-4FDA-821D-37876ADE11E8}" srcId="{8A322586-3EAE-46BF-A0A2-B543FC172547}" destId="{BB18F528-BC86-4325-8A60-72B92F331757}" srcOrd="5" destOrd="0" parTransId="{1E003A30-0DD1-4EE0-9025-6452D62A02B6}" sibTransId="{6B9F609A-3108-41A9-876D-400BB105517E}"/>
    <dgm:cxn modelId="{9B48E7DC-8ED7-4BBB-B568-58CFC74D2E77}" srcId="{8A322586-3EAE-46BF-A0A2-B543FC172547}" destId="{05DF8B6F-6D5F-41C0-A04C-00732DB5CA9B}" srcOrd="6" destOrd="0" parTransId="{48357C15-C928-4144-BBB1-DAE8B3388A33}" sibTransId="{71CEE774-3C99-4AE8-B219-8236883561AD}"/>
    <dgm:cxn modelId="{1C6462B5-29CD-4118-8C6A-E35301950686}" srcId="{9B4DA9F6-852F-4DD0-B7B1-F2A8054DDEFE}" destId="{F9A957D7-D9FB-471F-8E7A-FCD1DC100F6F}" srcOrd="4" destOrd="0" parTransId="{2A0C8F8C-4608-49C0-B3A5-EFC6F7C451BC}" sibTransId="{AFCA653B-E798-4765-83DD-9964DD62281F}"/>
    <dgm:cxn modelId="{35D7CA5A-6C03-4354-B517-6CE5E4F07AEA}" type="presOf" srcId="{0F8AC0FC-C531-4E62-9211-392F7BC8ACC7}" destId="{DCC3FCEA-0BC8-4D98-BFDA-E2DB9800EC74}" srcOrd="0" destOrd="9" presId="urn:microsoft.com/office/officeart/2005/8/layout/process3"/>
    <dgm:cxn modelId="{A07B83D0-F43B-4F12-BB69-66DB1B1963FD}" srcId="{72C595F7-F9FE-4C3C-B546-D393C43DA1D5}" destId="{9B4DA9F6-852F-4DD0-B7B1-F2A8054DDEFE}" srcOrd="3" destOrd="0" parTransId="{690F9323-5B48-43D5-85DF-86BAE12E8EDD}" sibTransId="{D15606CE-EF18-4264-B4C9-E58EA92B5957}"/>
    <dgm:cxn modelId="{B281EDEF-A335-430E-A032-E33FDE1EC29B}" type="presOf" srcId="{72C595F7-F9FE-4C3C-B546-D393C43DA1D5}" destId="{5FAEC180-6FA0-4E38-9D1E-990ABDB6814F}" srcOrd="0" destOrd="0" presId="urn:microsoft.com/office/officeart/2005/8/layout/process3"/>
    <dgm:cxn modelId="{20602645-2C1F-43AB-872B-FDCCAB2AD719}" type="presOf" srcId="{70597768-7F0D-4E81-8D99-BC0535B5CFDD}" destId="{BFDF687B-071F-4701-A759-B79B9851E4CA}" srcOrd="0" destOrd="6" presId="urn:microsoft.com/office/officeart/2005/8/layout/process3"/>
    <dgm:cxn modelId="{5F1CBEA0-0E57-40AE-AA59-38B9182B99D9}" type="presOf" srcId="{30D3A534-17E9-473D-8B9D-6D3B96F893EF}" destId="{DCC3FCEA-0BC8-4D98-BFDA-E2DB9800EC74}" srcOrd="0" destOrd="1" presId="urn:microsoft.com/office/officeart/2005/8/layout/process3"/>
    <dgm:cxn modelId="{8D568E6E-1613-468F-BD6E-CD7412A89D0D}" type="presOf" srcId="{9B4DA9F6-852F-4DD0-B7B1-F2A8054DDEFE}" destId="{B0981AE7-0B49-4327-8620-F3FF7BAF336B}" srcOrd="0" destOrd="0" presId="urn:microsoft.com/office/officeart/2005/8/layout/process3"/>
    <dgm:cxn modelId="{0A481E98-95A9-4CC2-833C-77057F3984BC}" srcId="{9B4DA9F6-852F-4DD0-B7B1-F2A8054DDEFE}" destId="{3B9139E0-CDD8-4623-BA46-CD32124FE5EB}" srcOrd="3" destOrd="0" parTransId="{92AA7CFD-B157-4B7D-8118-1A113C0241D7}" sibTransId="{BBF56CB6-E5E4-4B59-AEB2-18ABFBC50960}"/>
    <dgm:cxn modelId="{45EA09D8-6EA2-41CC-8536-4F747B52E049}" type="presOf" srcId="{2E95B4B7-6BD6-4E99-9B06-CFC5863E3DBD}" destId="{DCC3FCEA-0BC8-4D98-BFDA-E2DB9800EC74}" srcOrd="0" destOrd="5" presId="urn:microsoft.com/office/officeart/2005/8/layout/process3"/>
    <dgm:cxn modelId="{90F53B21-BF7B-476B-8B11-CD5AD0A32E7F}" type="presOf" srcId="{169E32AE-BCE9-4996-8B0C-968895DEB490}" destId="{9C734644-8D7B-452D-99C4-DBC3818A5A71}" srcOrd="0" destOrd="2" presId="urn:microsoft.com/office/officeart/2005/8/layout/process3"/>
    <dgm:cxn modelId="{CFC5EA54-F555-4F20-9355-7C421927887B}" type="presOf" srcId="{05DF8B6F-6D5F-41C0-A04C-00732DB5CA9B}" destId="{9C734644-8D7B-452D-99C4-DBC3818A5A71}" srcOrd="0" destOrd="6" presId="urn:microsoft.com/office/officeart/2005/8/layout/process3"/>
    <dgm:cxn modelId="{7B185CD7-55D4-4FA2-ABBF-4F68464DF20D}" srcId="{5074504D-B054-44B7-AF1D-0C421DB29C8C}" destId="{634EF41F-0620-447B-A3A4-4491FF40E63A}" srcOrd="6" destOrd="0" parTransId="{D01B5BDA-973C-41AF-98D7-2FE927394542}" sibTransId="{43582E18-4831-4A81-A967-2FC40D5CB099}"/>
    <dgm:cxn modelId="{7536AF64-1650-495B-A045-1A3E047BC328}" srcId="{8A322586-3EAE-46BF-A0A2-B543FC172547}" destId="{DE033E8D-100B-435B-8106-93C8141C2137}" srcOrd="3" destOrd="0" parTransId="{47097811-05AF-4C3D-9126-CA3D9FB85A9B}" sibTransId="{DA9490C2-9C31-4A3E-922C-66FE05758AD4}"/>
    <dgm:cxn modelId="{1EE369A1-EEA2-45FC-85BD-6129290AE189}" type="presOf" srcId="{0BCFB000-38BA-44F5-A532-DB1944E77793}" destId="{7E8F3D55-80E5-4F13-9459-E39284D0328D}" srcOrd="0" destOrd="2" presId="urn:microsoft.com/office/officeart/2005/8/layout/process3"/>
    <dgm:cxn modelId="{6781639C-1D1E-4547-990C-2BF041EF98EC}" type="presOf" srcId="{3B9139E0-CDD8-4623-BA46-CD32124FE5EB}" destId="{BFDF687B-071F-4701-A759-B79B9851E4CA}" srcOrd="0" destOrd="3" presId="urn:microsoft.com/office/officeart/2005/8/layout/process3"/>
    <dgm:cxn modelId="{73CB2FEA-B0BB-4452-9C6C-DB5F3D684CE8}" srcId="{8A322586-3EAE-46BF-A0A2-B543FC172547}" destId="{2CD71067-0FBA-41E0-8B10-CFFDE83285C9}" srcOrd="4" destOrd="0" parTransId="{A49C2C97-307C-4C4F-B32E-C20331A7F811}" sibTransId="{7B5C12A4-2B61-4712-8BBD-C04510BBA5D5}"/>
    <dgm:cxn modelId="{3249A5F5-E320-4B0A-A3B6-F014246B5A5D}" srcId="{9B4DA9F6-852F-4DD0-B7B1-F2A8054DDEFE}" destId="{344A401B-A674-4488-A855-62C7CA573614}" srcOrd="7" destOrd="0" parTransId="{7B935DB7-80BA-4C44-937C-B7025396AA5D}" sibTransId="{6F44DA19-9100-490E-91D6-21215956826B}"/>
    <dgm:cxn modelId="{C2B17D78-0FDC-4050-87A9-CDB9B07A2096}" srcId="{8A322586-3EAE-46BF-A0A2-B543FC172547}" destId="{FF327D8F-51CA-44D7-939A-090B36C17F4D}" srcOrd="0" destOrd="0" parTransId="{3331B1EB-6C9B-47B6-8270-B80845BF7D8D}" sibTransId="{DDE73F1C-4B20-4FF2-8616-A49C3B408829}"/>
    <dgm:cxn modelId="{453CEB6A-F61A-4C89-9592-9EB5104FC954}" srcId="{72C595F7-F9FE-4C3C-B546-D393C43DA1D5}" destId="{03454651-1876-463C-891F-DBFB67BE2D7D}" srcOrd="0" destOrd="0" parTransId="{34ADBB6D-89A4-4913-83ED-5D871B73AD66}" sibTransId="{32EC2ED1-5A41-47F2-A0A5-89A6987013DA}"/>
    <dgm:cxn modelId="{B70E3F3A-FD4F-4BF6-BA03-C191D686C585}" srcId="{9B4DA9F6-852F-4DD0-B7B1-F2A8054DDEFE}" destId="{5F9B5FEE-DCA5-4194-A921-2BEA8434A887}" srcOrd="8" destOrd="0" parTransId="{FE069F8E-0BBC-4198-81C0-B1EDE512FCDD}" sibTransId="{832CC4D3-732B-43C8-8C55-1BD1E6F8608A}"/>
    <dgm:cxn modelId="{02E49F4E-743D-483B-9E98-3D7345B72FB5}" type="presOf" srcId="{13EC386E-EED3-479F-9E28-882A699845EC}" destId="{7E8F3D55-80E5-4F13-9459-E39284D0328D}" srcOrd="0" destOrd="3" presId="urn:microsoft.com/office/officeart/2005/8/layout/process3"/>
    <dgm:cxn modelId="{6ECF2839-10C4-4053-A09C-A43033B02466}" srcId="{9B4DA9F6-852F-4DD0-B7B1-F2A8054DDEFE}" destId="{8493421F-ED0B-44FD-B78D-D83558A11B69}" srcOrd="5" destOrd="0" parTransId="{DE2238B6-FD70-4FE0-804D-5DC597111CB7}" sibTransId="{D1028DED-7FB6-47FD-ADB8-94020B08D557}"/>
    <dgm:cxn modelId="{36400710-D7E7-4429-BE57-676E2ACF402E}" type="presOf" srcId="{344A401B-A674-4488-A855-62C7CA573614}" destId="{BFDF687B-071F-4701-A759-B79B9851E4CA}" srcOrd="0" destOrd="7" presId="urn:microsoft.com/office/officeart/2005/8/layout/process3"/>
    <dgm:cxn modelId="{F377DD6F-FB17-4FAB-9892-E37050519D00}" type="presOf" srcId="{2CD71067-0FBA-41E0-8B10-CFFDE83285C9}" destId="{9C734644-8D7B-452D-99C4-DBC3818A5A71}" srcOrd="0" destOrd="4" presId="urn:microsoft.com/office/officeart/2005/8/layout/process3"/>
    <dgm:cxn modelId="{8E934715-37E0-4A88-8104-93C3898336DC}" type="presOf" srcId="{5074504D-B054-44B7-AF1D-0C421DB29C8C}" destId="{C399DA07-F433-446A-A511-7651E2D31800}" srcOrd="1" destOrd="0" presId="urn:microsoft.com/office/officeart/2005/8/layout/process3"/>
    <dgm:cxn modelId="{3E2AB9E8-A63C-427B-B6BD-D4845673F719}" srcId="{8A322586-3EAE-46BF-A0A2-B543FC172547}" destId="{169E32AE-BCE9-4996-8B0C-968895DEB490}" srcOrd="2" destOrd="0" parTransId="{CDE05715-CCCD-49E9-A54E-21E98C7F02F7}" sibTransId="{CB5FA6B3-615A-4F73-B083-21A4CE5620FF}"/>
    <dgm:cxn modelId="{6587CBEB-5FB7-4844-8B33-E84429BC6390}" srcId="{5074504D-B054-44B7-AF1D-0C421DB29C8C}" destId="{30D3A534-17E9-473D-8B9D-6D3B96F893EF}" srcOrd="1" destOrd="0" parTransId="{34DF0045-1951-4544-B885-0AEF60113457}" sibTransId="{4A3AD18E-4D59-4A1B-8867-5AC40AFA07BC}"/>
    <dgm:cxn modelId="{E2E9A28D-17C6-4128-8C03-65C990CAFAA3}" type="presOf" srcId="{F907C759-E21F-499B-AD2E-DDA36AF4DA48}" destId="{DCC3FCEA-0BC8-4D98-BFDA-E2DB9800EC74}" srcOrd="0" destOrd="7" presId="urn:microsoft.com/office/officeart/2005/8/layout/process3"/>
    <dgm:cxn modelId="{DF9099EB-9CCD-490E-8FD6-FA9599863B2A}" srcId="{5074504D-B054-44B7-AF1D-0C421DB29C8C}" destId="{FF562A3D-0790-46FE-A9DF-1B423F95E76F}" srcOrd="2" destOrd="0" parTransId="{A0D65B69-5380-4AF8-893D-A151F73F7D3E}" sibTransId="{FD4B70E3-BC58-436B-8774-53FB1C615077}"/>
    <dgm:cxn modelId="{0ECD0B5B-27DE-4083-96CD-C536F02C5261}" type="presParOf" srcId="{5FAEC180-6FA0-4E38-9D1E-990ABDB6814F}" destId="{1ED04EDF-BDDC-4FBE-ADFE-4ECCA1ABCE5C}" srcOrd="0" destOrd="0" presId="urn:microsoft.com/office/officeart/2005/8/layout/process3"/>
    <dgm:cxn modelId="{587032A7-BF52-4A82-9411-CA6A484EA96B}" type="presParOf" srcId="{1ED04EDF-BDDC-4FBE-ADFE-4ECCA1ABCE5C}" destId="{3D847FC2-380F-49AF-936C-1553F8F26F3C}" srcOrd="0" destOrd="0" presId="urn:microsoft.com/office/officeart/2005/8/layout/process3"/>
    <dgm:cxn modelId="{D82390D1-A30F-4ED6-AA7F-31300B43273C}" type="presParOf" srcId="{1ED04EDF-BDDC-4FBE-ADFE-4ECCA1ABCE5C}" destId="{3A83BC6F-B725-4345-B234-B50F8B6B5DAE}" srcOrd="1" destOrd="0" presId="urn:microsoft.com/office/officeart/2005/8/layout/process3"/>
    <dgm:cxn modelId="{20DBFA2E-C647-4755-A540-50EB4BD27E17}" type="presParOf" srcId="{1ED04EDF-BDDC-4FBE-ADFE-4ECCA1ABCE5C}" destId="{7E8F3D55-80E5-4F13-9459-E39284D0328D}" srcOrd="2" destOrd="0" presId="urn:microsoft.com/office/officeart/2005/8/layout/process3"/>
    <dgm:cxn modelId="{0D842671-B1CC-42A1-8CAD-30B01F99CEB3}" type="presParOf" srcId="{5FAEC180-6FA0-4E38-9D1E-990ABDB6814F}" destId="{2185D18F-377B-4641-B87A-82A7FD17C65D}" srcOrd="1" destOrd="0" presId="urn:microsoft.com/office/officeart/2005/8/layout/process3"/>
    <dgm:cxn modelId="{04A16338-2658-427A-933A-18E032096BD3}" type="presParOf" srcId="{2185D18F-377B-4641-B87A-82A7FD17C65D}" destId="{4B650DD2-5F02-4AE9-9DDB-38B6153A658F}" srcOrd="0" destOrd="0" presId="urn:microsoft.com/office/officeart/2005/8/layout/process3"/>
    <dgm:cxn modelId="{04930F2A-C069-4EC5-8757-A9E0A7B621C0}" type="presParOf" srcId="{5FAEC180-6FA0-4E38-9D1E-990ABDB6814F}" destId="{E5D422DD-3565-4886-BD6F-B54C46D7F5BD}" srcOrd="2" destOrd="0" presId="urn:microsoft.com/office/officeart/2005/8/layout/process3"/>
    <dgm:cxn modelId="{A5EFB78B-F005-401E-8450-947BD65E5BAB}" type="presParOf" srcId="{E5D422DD-3565-4886-BD6F-B54C46D7F5BD}" destId="{BF9E2F76-6B5D-43DB-A7F2-4A21C009BF40}" srcOrd="0" destOrd="0" presId="urn:microsoft.com/office/officeart/2005/8/layout/process3"/>
    <dgm:cxn modelId="{6454A4E8-5831-494F-A926-87FEA01E6A4A}" type="presParOf" srcId="{E5D422DD-3565-4886-BD6F-B54C46D7F5BD}" destId="{C399DA07-F433-446A-A511-7651E2D31800}" srcOrd="1" destOrd="0" presId="urn:microsoft.com/office/officeart/2005/8/layout/process3"/>
    <dgm:cxn modelId="{3CF92DC8-1CEC-45D2-84F8-19E982C635BB}" type="presParOf" srcId="{E5D422DD-3565-4886-BD6F-B54C46D7F5BD}" destId="{DCC3FCEA-0BC8-4D98-BFDA-E2DB9800EC74}" srcOrd="2" destOrd="0" presId="urn:microsoft.com/office/officeart/2005/8/layout/process3"/>
    <dgm:cxn modelId="{0BA92471-5CF8-4B15-BBA8-E94FC39CAA62}" type="presParOf" srcId="{5FAEC180-6FA0-4E38-9D1E-990ABDB6814F}" destId="{63F08940-AC90-4DF0-A1DA-5F6759C06E77}" srcOrd="3" destOrd="0" presId="urn:microsoft.com/office/officeart/2005/8/layout/process3"/>
    <dgm:cxn modelId="{4CD0A586-3122-4C8A-AD4F-78A38FF20A27}" type="presParOf" srcId="{63F08940-AC90-4DF0-A1DA-5F6759C06E77}" destId="{DE71027A-1108-4DB8-8E4D-B5CBC710D5C6}" srcOrd="0" destOrd="0" presId="urn:microsoft.com/office/officeart/2005/8/layout/process3"/>
    <dgm:cxn modelId="{284686F7-2C69-4041-B93E-649288889C00}" type="presParOf" srcId="{5FAEC180-6FA0-4E38-9D1E-990ABDB6814F}" destId="{83C7BD17-838E-4699-83E3-5B3822925BEB}" srcOrd="4" destOrd="0" presId="urn:microsoft.com/office/officeart/2005/8/layout/process3"/>
    <dgm:cxn modelId="{CEACE888-88B7-487F-BC9D-253BC6357C71}" type="presParOf" srcId="{83C7BD17-838E-4699-83E3-5B3822925BEB}" destId="{6B9023C6-72FD-4035-AA4C-2587D11CC782}" srcOrd="0" destOrd="0" presId="urn:microsoft.com/office/officeart/2005/8/layout/process3"/>
    <dgm:cxn modelId="{9474EE56-B172-4E81-843F-F6AF330EC56D}" type="presParOf" srcId="{83C7BD17-838E-4699-83E3-5B3822925BEB}" destId="{6D0727A4-F90B-4FFC-BFFD-513C5448BB49}" srcOrd="1" destOrd="0" presId="urn:microsoft.com/office/officeart/2005/8/layout/process3"/>
    <dgm:cxn modelId="{BDA42EFA-6425-46E1-ADB2-876BCBC4A75F}" type="presParOf" srcId="{83C7BD17-838E-4699-83E3-5B3822925BEB}" destId="{9C734644-8D7B-452D-99C4-DBC3818A5A71}" srcOrd="2" destOrd="0" presId="urn:microsoft.com/office/officeart/2005/8/layout/process3"/>
    <dgm:cxn modelId="{F746E042-3827-47E7-AC7C-BCB3FDD6DA45}" type="presParOf" srcId="{5FAEC180-6FA0-4E38-9D1E-990ABDB6814F}" destId="{704A812C-3706-4AA8-A39A-B3C9FB24CCED}" srcOrd="5" destOrd="0" presId="urn:microsoft.com/office/officeart/2005/8/layout/process3"/>
    <dgm:cxn modelId="{F640108C-3202-4736-8099-D852F51A0014}" type="presParOf" srcId="{704A812C-3706-4AA8-A39A-B3C9FB24CCED}" destId="{6094B7C5-1A34-4651-ADA1-D8A122F8A626}" srcOrd="0" destOrd="0" presId="urn:microsoft.com/office/officeart/2005/8/layout/process3"/>
    <dgm:cxn modelId="{14672040-1022-4368-900C-2125F7DF49D5}" type="presParOf" srcId="{5FAEC180-6FA0-4E38-9D1E-990ABDB6814F}" destId="{335C799A-4A7A-40AE-B239-65B410B1F1B0}" srcOrd="6" destOrd="0" presId="urn:microsoft.com/office/officeart/2005/8/layout/process3"/>
    <dgm:cxn modelId="{5414C869-FE0A-49F5-AAA7-B4E5370D4DBF}" type="presParOf" srcId="{335C799A-4A7A-40AE-B239-65B410B1F1B0}" destId="{B0981AE7-0B49-4327-8620-F3FF7BAF336B}" srcOrd="0" destOrd="0" presId="urn:microsoft.com/office/officeart/2005/8/layout/process3"/>
    <dgm:cxn modelId="{8172B006-71B4-440E-9B59-03FE3C3D3C6A}" type="presParOf" srcId="{335C799A-4A7A-40AE-B239-65B410B1F1B0}" destId="{D1CE7F53-AD10-41B7-879A-08B86174BF89}" srcOrd="1" destOrd="0" presId="urn:microsoft.com/office/officeart/2005/8/layout/process3"/>
    <dgm:cxn modelId="{7E57CE70-9CCD-4A91-B25D-48283426E6F2}" type="presParOf" srcId="{335C799A-4A7A-40AE-B239-65B410B1F1B0}" destId="{BFDF687B-071F-4701-A759-B79B9851E4CA}"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custT="1"/>
      <dgm:spPr/>
      <dgm:t>
        <a:bodyPr/>
        <a:lstStyle/>
        <a:p>
          <a:r>
            <a:rPr lang="en-US" sz="950"/>
            <a:t>Financial management capacity and internal control enhancement</a:t>
          </a:r>
        </a:p>
      </dgm:t>
    </dgm:pt>
    <dgm:pt modelId="{34ADBB6D-89A4-4913-83ED-5D871B73AD66}" type="parTrans" cxnId="{453CEB6A-F61A-4C89-9592-9EB5104FC954}">
      <dgm:prSet/>
      <dgm:spPr/>
      <dgm:t>
        <a:bodyPr/>
        <a:lstStyle/>
        <a:p>
          <a:endParaRPr lang="en-US" sz="950"/>
        </a:p>
      </dgm:t>
    </dgm:pt>
    <dgm:pt modelId="{32EC2ED1-5A41-47F2-A0A5-89A6987013DA}" type="sibTrans" cxnId="{453CEB6A-F61A-4C89-9592-9EB5104FC954}">
      <dgm:prSet custT="1"/>
      <dgm:spPr/>
      <dgm:t>
        <a:bodyPr/>
        <a:lstStyle/>
        <a:p>
          <a:endParaRPr lang="en-US" sz="950"/>
        </a:p>
      </dgm:t>
    </dgm:pt>
    <dgm:pt modelId="{5074504D-B054-44B7-AF1D-0C421DB29C8C}">
      <dgm:prSet phldrT="[Text]" custT="1"/>
      <dgm:spPr/>
      <dgm:t>
        <a:bodyPr/>
        <a:lstStyle/>
        <a:p>
          <a:r>
            <a:rPr lang="en-US" sz="950"/>
            <a:t>Integrated accounting system and financial reporting alignment</a:t>
          </a:r>
        </a:p>
      </dgm:t>
    </dgm:pt>
    <dgm:pt modelId="{38550204-A29D-4D29-89AB-206E975EF185}" type="parTrans" cxnId="{288D6556-D78D-42E2-834B-00062A324825}">
      <dgm:prSet/>
      <dgm:spPr/>
      <dgm:t>
        <a:bodyPr/>
        <a:lstStyle/>
        <a:p>
          <a:endParaRPr lang="en-US" sz="950"/>
        </a:p>
      </dgm:t>
    </dgm:pt>
    <dgm:pt modelId="{836E2BBF-AE6F-44B9-AD26-342382726746}" type="sibTrans" cxnId="{288D6556-D78D-42E2-834B-00062A324825}">
      <dgm:prSet/>
      <dgm:spPr/>
      <dgm:t>
        <a:bodyPr/>
        <a:lstStyle/>
        <a:p>
          <a:endParaRPr lang="en-US" sz="950"/>
        </a:p>
      </dgm:t>
    </dgm:pt>
    <dgm:pt modelId="{4F42F67C-B60D-4F3E-89E1-0D34CC1E1727}">
      <dgm:prSet phldrT="[Text]" custT="1"/>
      <dgm:spPr/>
      <dgm:t>
        <a:bodyPr/>
        <a:lstStyle/>
        <a:p>
          <a:r>
            <a:rPr lang="en-US" sz="950"/>
            <a:t>Fixed asset accounting, Inventory accounting, Funds &amp; treasury management</a:t>
          </a:r>
        </a:p>
      </dgm:t>
    </dgm:pt>
    <dgm:pt modelId="{55D3586D-8FBB-4A0C-82D3-3F1BB65BD27F}" type="parTrans" cxnId="{6B536EC8-3E48-4B0A-BC59-7AC6055E0ABE}">
      <dgm:prSet/>
      <dgm:spPr/>
      <dgm:t>
        <a:bodyPr/>
        <a:lstStyle/>
        <a:p>
          <a:endParaRPr lang="en-US" sz="950"/>
        </a:p>
      </dgm:t>
    </dgm:pt>
    <dgm:pt modelId="{74C0BEB9-13D4-4DE1-B883-EF5BB2830D98}" type="sibTrans" cxnId="{6B536EC8-3E48-4B0A-BC59-7AC6055E0ABE}">
      <dgm:prSet custT="1"/>
      <dgm:spPr/>
      <dgm:t>
        <a:bodyPr/>
        <a:lstStyle/>
        <a:p>
          <a:endParaRPr lang="en-US" sz="950"/>
        </a:p>
      </dgm:t>
    </dgm:pt>
    <dgm:pt modelId="{922A03E6-FA92-4A4F-A9F3-532A9A3306A7}">
      <dgm:prSet phldrT="[Text]" custT="1"/>
      <dgm:spPr/>
      <dgm:t>
        <a:bodyPr/>
        <a:lstStyle/>
        <a:p>
          <a:r>
            <a:rPr lang="en-US" sz="950"/>
            <a:t>Assess and strengthening of fixed asset accounting practices</a:t>
          </a:r>
        </a:p>
      </dgm:t>
    </dgm:pt>
    <dgm:pt modelId="{10E53991-81B3-4D2B-826E-A0DE2FE93D95}" type="parTrans" cxnId="{0B8ECD9E-FD16-42A8-8891-EFE28E42C94F}">
      <dgm:prSet/>
      <dgm:spPr/>
      <dgm:t>
        <a:bodyPr/>
        <a:lstStyle/>
        <a:p>
          <a:endParaRPr lang="en-US" sz="950"/>
        </a:p>
      </dgm:t>
    </dgm:pt>
    <dgm:pt modelId="{64B8D2E5-449E-4F95-8F66-3A6EA9EBDDF1}" type="sibTrans" cxnId="{0B8ECD9E-FD16-42A8-8891-EFE28E42C94F}">
      <dgm:prSet/>
      <dgm:spPr/>
      <dgm:t>
        <a:bodyPr/>
        <a:lstStyle/>
        <a:p>
          <a:endParaRPr lang="en-US" sz="950"/>
        </a:p>
      </dgm:t>
    </dgm:pt>
    <dgm:pt modelId="{58833F2B-CC68-4D46-8385-9558C9DF82F9}">
      <dgm:prSet custT="1"/>
      <dgm:spPr/>
      <dgm:t>
        <a:bodyPr/>
        <a:lstStyle/>
        <a:p>
          <a:r>
            <a:rPr lang="en-IN" sz="950"/>
            <a:t>Review and strengthening of Budgeting, Costing and Cost Control manuals</a:t>
          </a:r>
        </a:p>
      </dgm:t>
    </dgm:pt>
    <dgm:pt modelId="{1B185601-FB72-44DA-B5F3-D9C992CFD2B0}" type="parTrans" cxnId="{57829278-A812-4E62-9681-9A42F0A9BD32}">
      <dgm:prSet/>
      <dgm:spPr/>
      <dgm:t>
        <a:bodyPr/>
        <a:lstStyle/>
        <a:p>
          <a:endParaRPr lang="en-US" sz="950"/>
        </a:p>
      </dgm:t>
    </dgm:pt>
    <dgm:pt modelId="{1F96796F-0F66-4BD5-BDAE-7B353BC1C282}" type="sibTrans" cxnId="{57829278-A812-4E62-9681-9A42F0A9BD32}">
      <dgm:prSet/>
      <dgm:spPr/>
      <dgm:t>
        <a:bodyPr/>
        <a:lstStyle/>
        <a:p>
          <a:endParaRPr lang="en-US" sz="950"/>
        </a:p>
      </dgm:t>
    </dgm:pt>
    <dgm:pt modelId="{DA270671-32E0-4619-8D05-E2D1A5353786}">
      <dgm:prSet custT="1"/>
      <dgm:spPr/>
      <dgm:t>
        <a:bodyPr/>
        <a:lstStyle/>
        <a:p>
          <a:r>
            <a:rPr lang="en-IN" sz="950"/>
            <a:t>Develop Manuals &amp; Guidelines for compliance of internal control requirements</a:t>
          </a:r>
        </a:p>
      </dgm:t>
    </dgm:pt>
    <dgm:pt modelId="{A578DF6E-F97B-4BA7-A08C-E2171BB90E2F}" type="parTrans" cxnId="{40712BBD-03DA-41B9-9B9E-D57C90FA81EE}">
      <dgm:prSet/>
      <dgm:spPr/>
      <dgm:t>
        <a:bodyPr/>
        <a:lstStyle/>
        <a:p>
          <a:endParaRPr lang="en-US" sz="950"/>
        </a:p>
      </dgm:t>
    </dgm:pt>
    <dgm:pt modelId="{63193EE6-EAF9-4B6C-BCF9-AA5B61922482}" type="sibTrans" cxnId="{40712BBD-03DA-41B9-9B9E-D57C90FA81EE}">
      <dgm:prSet/>
      <dgm:spPr/>
      <dgm:t>
        <a:bodyPr/>
        <a:lstStyle/>
        <a:p>
          <a:endParaRPr lang="en-US" sz="950"/>
        </a:p>
      </dgm:t>
    </dgm:pt>
    <dgm:pt modelId="{AA01CFC3-2A0B-4941-92F2-F1F2480A86CA}">
      <dgm:prSet custT="1"/>
      <dgm:spPr/>
      <dgm:t>
        <a:bodyPr/>
        <a:lstStyle/>
        <a:p>
          <a:r>
            <a:rPr lang="en-IN" sz="950"/>
            <a:t>Initiate Shadow Implementation across departments</a:t>
          </a:r>
        </a:p>
      </dgm:t>
    </dgm:pt>
    <dgm:pt modelId="{0F146B53-925C-4175-9183-D304D608BA25}" type="parTrans" cxnId="{34E539CF-F593-4694-9581-63F70239F7EB}">
      <dgm:prSet/>
      <dgm:spPr/>
      <dgm:t>
        <a:bodyPr/>
        <a:lstStyle/>
        <a:p>
          <a:endParaRPr lang="en-US" sz="950"/>
        </a:p>
      </dgm:t>
    </dgm:pt>
    <dgm:pt modelId="{5F341583-58B5-4CF5-8777-FD69F5FC7F84}" type="sibTrans" cxnId="{34E539CF-F593-4694-9581-63F70239F7EB}">
      <dgm:prSet/>
      <dgm:spPr/>
      <dgm:t>
        <a:bodyPr/>
        <a:lstStyle/>
        <a:p>
          <a:endParaRPr lang="en-US" sz="950"/>
        </a:p>
      </dgm:t>
    </dgm:pt>
    <dgm:pt modelId="{9CD6B5E2-9A6C-466B-8DC9-E4C8233BC54C}">
      <dgm:prSet custT="1"/>
      <dgm:spPr/>
      <dgm:t>
        <a:bodyPr/>
        <a:lstStyle/>
        <a:p>
          <a:endParaRPr lang="en-IN" sz="950"/>
        </a:p>
      </dgm:t>
    </dgm:pt>
    <dgm:pt modelId="{4F04BB99-A7A5-4B84-9B41-ED6DA8296333}" type="parTrans" cxnId="{EFA2B9BD-4F03-4C96-A067-B772630D63A7}">
      <dgm:prSet/>
      <dgm:spPr/>
      <dgm:t>
        <a:bodyPr/>
        <a:lstStyle/>
        <a:p>
          <a:endParaRPr lang="en-US" sz="950"/>
        </a:p>
      </dgm:t>
    </dgm:pt>
    <dgm:pt modelId="{65657B86-72C4-467E-A294-9B908B0E2A80}" type="sibTrans" cxnId="{EFA2B9BD-4F03-4C96-A067-B772630D63A7}">
      <dgm:prSet/>
      <dgm:spPr/>
      <dgm:t>
        <a:bodyPr/>
        <a:lstStyle/>
        <a:p>
          <a:endParaRPr lang="en-US" sz="950"/>
        </a:p>
      </dgm:t>
    </dgm:pt>
    <dgm:pt modelId="{7F1065E5-5A55-4D62-8C51-1E704A1B3F62}">
      <dgm:prSet phldrT="[Text]" custT="1"/>
      <dgm:spPr/>
      <dgm:t>
        <a:bodyPr/>
        <a:lstStyle/>
        <a:p>
          <a:r>
            <a:rPr lang="en-US" sz="950"/>
            <a:t>Assess and strengthen existing financial management framework in order to ensure</a:t>
          </a:r>
          <a:r>
            <a:rPr lang="en-IN" sz="950"/>
            <a:t> compliance to the Accounting standards</a:t>
          </a:r>
          <a:endParaRPr lang="en-US" sz="950"/>
        </a:p>
      </dgm:t>
    </dgm:pt>
    <dgm:pt modelId="{5D0CC9DF-3C75-45D4-B154-1DA50F6D110A}" type="parTrans" cxnId="{6E6CD698-8399-4878-9590-D181BD5CDDE8}">
      <dgm:prSet/>
      <dgm:spPr/>
      <dgm:t>
        <a:bodyPr/>
        <a:lstStyle/>
        <a:p>
          <a:endParaRPr lang="en-US" sz="950"/>
        </a:p>
      </dgm:t>
    </dgm:pt>
    <dgm:pt modelId="{B6CC33B7-7CF0-45BA-A823-62C9D3AEAA33}" type="sibTrans" cxnId="{6E6CD698-8399-4878-9590-D181BD5CDDE8}">
      <dgm:prSet/>
      <dgm:spPr/>
      <dgm:t>
        <a:bodyPr/>
        <a:lstStyle/>
        <a:p>
          <a:endParaRPr lang="en-US" sz="950"/>
        </a:p>
      </dgm:t>
    </dgm:pt>
    <dgm:pt modelId="{41EA9C9E-182D-4046-AD0F-34E125D930DB}">
      <dgm:prSet custT="1"/>
      <dgm:spPr/>
      <dgm:t>
        <a:bodyPr/>
        <a:lstStyle/>
        <a:p>
          <a:r>
            <a:rPr lang="en-IN" sz="950"/>
            <a:t>Capacity building on accounting and financial management practices and group acounting</a:t>
          </a:r>
        </a:p>
      </dgm:t>
    </dgm:pt>
    <dgm:pt modelId="{3DCAE9D9-753A-49C7-A163-44AC4F679EA0}" type="parTrans" cxnId="{0FDCC431-8D6C-4B44-BC5E-1E423C985B4C}">
      <dgm:prSet/>
      <dgm:spPr/>
      <dgm:t>
        <a:bodyPr/>
        <a:lstStyle/>
        <a:p>
          <a:endParaRPr lang="en-US" sz="950"/>
        </a:p>
      </dgm:t>
    </dgm:pt>
    <dgm:pt modelId="{37F82B78-0417-4924-B79C-3C1DE6B403D2}" type="sibTrans" cxnId="{0FDCC431-8D6C-4B44-BC5E-1E423C985B4C}">
      <dgm:prSet/>
      <dgm:spPr/>
      <dgm:t>
        <a:bodyPr/>
        <a:lstStyle/>
        <a:p>
          <a:endParaRPr lang="en-US" sz="950"/>
        </a:p>
      </dgm:t>
    </dgm:pt>
    <dgm:pt modelId="{5838A784-E4DE-4E5D-9727-2623F5726339}">
      <dgm:prSet phldrT="[Text]" custT="1"/>
      <dgm:spPr/>
      <dgm:t>
        <a:bodyPr/>
        <a:lstStyle/>
        <a:p>
          <a:r>
            <a:rPr lang="en-US" sz="950"/>
            <a:t>Assessment and strengthening of Chart of Accounts</a:t>
          </a:r>
        </a:p>
      </dgm:t>
    </dgm:pt>
    <dgm:pt modelId="{4F5D1A43-3E12-4A5B-AD24-BD25AD54D1F1}" type="parTrans" cxnId="{96920034-A0CB-48B5-8094-7C4908677198}">
      <dgm:prSet/>
      <dgm:spPr/>
      <dgm:t>
        <a:bodyPr/>
        <a:lstStyle/>
        <a:p>
          <a:endParaRPr lang="en-US" sz="950"/>
        </a:p>
      </dgm:t>
    </dgm:pt>
    <dgm:pt modelId="{94FE0D3A-ACE3-4C6B-8AB2-1D2921D9901D}" type="sibTrans" cxnId="{96920034-A0CB-48B5-8094-7C4908677198}">
      <dgm:prSet/>
      <dgm:spPr/>
      <dgm:t>
        <a:bodyPr/>
        <a:lstStyle/>
        <a:p>
          <a:endParaRPr lang="en-US" sz="950"/>
        </a:p>
      </dgm:t>
    </dgm:pt>
    <dgm:pt modelId="{74353D8A-FA0E-469A-BB7B-8DAB397017BE}">
      <dgm:prSet custT="1"/>
      <dgm:spPr/>
      <dgm:t>
        <a:bodyPr/>
        <a:lstStyle/>
        <a:p>
          <a:r>
            <a:rPr lang="en-IN" sz="950"/>
            <a:t>Development of procedures and manuals for periodic closing of accounts</a:t>
          </a:r>
        </a:p>
      </dgm:t>
    </dgm:pt>
    <dgm:pt modelId="{983FB929-BD6C-482A-8DA4-D57D7433261E}" type="parTrans" cxnId="{60E0F63E-9E13-4C9C-879C-093E6FF2CD8B}">
      <dgm:prSet/>
      <dgm:spPr/>
      <dgm:t>
        <a:bodyPr/>
        <a:lstStyle/>
        <a:p>
          <a:endParaRPr lang="en-US" sz="950"/>
        </a:p>
      </dgm:t>
    </dgm:pt>
    <dgm:pt modelId="{F7DEB086-7920-434F-976F-0385C7E2A8CE}" type="sibTrans" cxnId="{60E0F63E-9E13-4C9C-879C-093E6FF2CD8B}">
      <dgm:prSet/>
      <dgm:spPr/>
      <dgm:t>
        <a:bodyPr/>
        <a:lstStyle/>
        <a:p>
          <a:endParaRPr lang="en-US" sz="950"/>
        </a:p>
      </dgm:t>
    </dgm:pt>
    <dgm:pt modelId="{FB9A96BC-7AE1-470A-8DDD-FE512A24354D}">
      <dgm:prSet phldrT="[Text]" custT="1"/>
      <dgm:spPr/>
      <dgm:t>
        <a:bodyPr/>
        <a:lstStyle/>
        <a:p>
          <a:r>
            <a:rPr lang="en-IN" sz="950"/>
            <a:t>Integrating accounting with Commercial, Payroll, Material Management systems</a:t>
          </a:r>
          <a:endParaRPr lang="en-US" sz="950"/>
        </a:p>
      </dgm:t>
    </dgm:pt>
    <dgm:pt modelId="{9D27F856-9BAF-4B5B-B24F-FB7F47B73445}" type="parTrans" cxnId="{E6D30EBE-9242-42ED-8BAF-9ACF0FD01606}">
      <dgm:prSet/>
      <dgm:spPr/>
      <dgm:t>
        <a:bodyPr/>
        <a:lstStyle/>
        <a:p>
          <a:endParaRPr lang="en-US" sz="950"/>
        </a:p>
      </dgm:t>
    </dgm:pt>
    <dgm:pt modelId="{51AE14B8-6560-4644-8C8D-D25FBEEFB1B1}" type="sibTrans" cxnId="{E6D30EBE-9242-42ED-8BAF-9ACF0FD01606}">
      <dgm:prSet/>
      <dgm:spPr/>
      <dgm:t>
        <a:bodyPr/>
        <a:lstStyle/>
        <a:p>
          <a:endParaRPr lang="en-US" sz="950"/>
        </a:p>
      </dgm:t>
    </dgm:pt>
    <dgm:pt modelId="{24A3372E-ED0B-4CDC-ADA6-55B26F389F3D}">
      <dgm:prSet phldrT="[Text]" custT="1"/>
      <dgm:spPr/>
      <dgm:t>
        <a:bodyPr/>
        <a:lstStyle/>
        <a:p>
          <a:r>
            <a:rPr lang="en-US" sz="950"/>
            <a:t>Assess and strengthening of inventory accounting practices</a:t>
          </a:r>
        </a:p>
      </dgm:t>
    </dgm:pt>
    <dgm:pt modelId="{C7146D09-9407-4DB7-83BD-58158E4F917E}" type="parTrans" cxnId="{A13F8826-FAC1-4F8B-B5D9-AA93AE36E946}">
      <dgm:prSet/>
      <dgm:spPr/>
      <dgm:t>
        <a:bodyPr/>
        <a:lstStyle/>
        <a:p>
          <a:endParaRPr lang="en-US" sz="950"/>
        </a:p>
      </dgm:t>
    </dgm:pt>
    <dgm:pt modelId="{2AEE7AE6-5CE0-425C-824A-8B8965509B4D}" type="sibTrans" cxnId="{A13F8826-FAC1-4F8B-B5D9-AA93AE36E946}">
      <dgm:prSet/>
      <dgm:spPr/>
      <dgm:t>
        <a:bodyPr/>
        <a:lstStyle/>
        <a:p>
          <a:endParaRPr lang="en-US" sz="950"/>
        </a:p>
      </dgm:t>
    </dgm:pt>
    <dgm:pt modelId="{420CF7EE-0FFC-44AC-ABB6-3D78F17D961D}">
      <dgm:prSet phldrT="[Text]" custT="1"/>
      <dgm:spPr/>
      <dgm:t>
        <a:bodyPr/>
        <a:lstStyle/>
        <a:p>
          <a:r>
            <a:rPr lang="en-US" sz="950"/>
            <a:t>Development of fixed asset accounting and inventory accounting manuals</a:t>
          </a:r>
        </a:p>
      </dgm:t>
    </dgm:pt>
    <dgm:pt modelId="{D8FB8371-5109-4086-B61E-6EA552A299CD}" type="parTrans" cxnId="{400A3F87-78D4-46F8-A405-E31D49A0FE1D}">
      <dgm:prSet/>
      <dgm:spPr/>
      <dgm:t>
        <a:bodyPr/>
        <a:lstStyle/>
        <a:p>
          <a:endParaRPr lang="en-US" sz="950"/>
        </a:p>
      </dgm:t>
    </dgm:pt>
    <dgm:pt modelId="{C9AB5B73-FE7F-4E37-84B3-D747D4523A18}" type="sibTrans" cxnId="{400A3F87-78D4-46F8-A405-E31D49A0FE1D}">
      <dgm:prSet/>
      <dgm:spPr/>
      <dgm:t>
        <a:bodyPr/>
        <a:lstStyle/>
        <a:p>
          <a:endParaRPr lang="en-US" sz="950"/>
        </a:p>
      </dgm:t>
    </dgm:pt>
    <dgm:pt modelId="{06035460-F029-4F6D-A005-85CF5F5392EC}">
      <dgm:prSet phldrT="[Text]" custT="1"/>
      <dgm:spPr/>
      <dgm:t>
        <a:bodyPr/>
        <a:lstStyle/>
        <a:p>
          <a:r>
            <a:rPr lang="en-US" sz="950"/>
            <a:t>Assess and strengthening of funds and treasury management processes, and formulation of manuals</a:t>
          </a:r>
        </a:p>
      </dgm:t>
    </dgm:pt>
    <dgm:pt modelId="{40443339-F018-4CDE-819E-D2E3017B7B22}" type="parTrans" cxnId="{F0DCBC76-033A-45B7-A3AB-FD15041BDCE4}">
      <dgm:prSet/>
      <dgm:spPr/>
      <dgm:t>
        <a:bodyPr/>
        <a:lstStyle/>
        <a:p>
          <a:endParaRPr lang="en-US" sz="950"/>
        </a:p>
      </dgm:t>
    </dgm:pt>
    <dgm:pt modelId="{53F959B4-A313-4D5F-B699-AF929AD1E412}" type="sibTrans" cxnId="{F0DCBC76-033A-45B7-A3AB-FD15041BDCE4}">
      <dgm:prSet/>
      <dgm:spPr/>
      <dgm:t>
        <a:bodyPr/>
        <a:lstStyle/>
        <a:p>
          <a:endParaRPr lang="en-US" sz="950"/>
        </a:p>
      </dgm:t>
    </dgm:pt>
    <dgm:pt modelId="{419D107D-9621-4E55-BD9D-492C88765D42}">
      <dgm:prSet phldrT="[Text]" custT="1"/>
      <dgm:spPr/>
      <dgm:t>
        <a:bodyPr/>
        <a:lstStyle/>
        <a:p>
          <a:r>
            <a:rPr lang="en-IN" sz="950"/>
            <a:t>Assess and strengthening of Cash &amp; working capital management, Debt Portfolio Management, Fund Mobilisation Capacity, and development of manuals</a:t>
          </a:r>
          <a:endParaRPr lang="en-US" sz="950"/>
        </a:p>
      </dgm:t>
    </dgm:pt>
    <dgm:pt modelId="{25871D9F-25B5-4834-B0C3-E64E6438A693}" type="parTrans" cxnId="{C40E5C5F-1F83-4EE3-9541-CF51407D97F4}">
      <dgm:prSet/>
      <dgm:spPr/>
      <dgm:t>
        <a:bodyPr/>
        <a:lstStyle/>
        <a:p>
          <a:endParaRPr lang="en-US" sz="950"/>
        </a:p>
      </dgm:t>
    </dgm:pt>
    <dgm:pt modelId="{9B796124-F2B9-498A-91B3-555207B5B9A7}" type="sibTrans" cxnId="{C40E5C5F-1F83-4EE3-9541-CF51407D97F4}">
      <dgm:prSet/>
      <dgm:spPr/>
      <dgm:t>
        <a:bodyPr/>
        <a:lstStyle/>
        <a:p>
          <a:endParaRPr lang="en-US" sz="950"/>
        </a:p>
      </dgm:t>
    </dgm:pt>
    <dgm:pt modelId="{4DBBA05D-3B90-4E05-8FC4-1E275A6D770B}">
      <dgm:prSet phldrT="[Text]" custT="1"/>
      <dgm:spPr/>
      <dgm:t>
        <a:bodyPr/>
        <a:lstStyle/>
        <a:p>
          <a:r>
            <a:rPr lang="en-US" sz="950"/>
            <a:t>Capacity building on the above aspects</a:t>
          </a:r>
        </a:p>
      </dgm:t>
    </dgm:pt>
    <dgm:pt modelId="{D09370CE-6E3D-4CE3-BBFD-F45CD43A9085}" type="parTrans" cxnId="{5D66E5B9-53D6-4D33-9269-B9FD202BDA9A}">
      <dgm:prSet/>
      <dgm:spPr/>
      <dgm:t>
        <a:bodyPr/>
        <a:lstStyle/>
        <a:p>
          <a:endParaRPr lang="en-US" sz="950"/>
        </a:p>
      </dgm:t>
    </dgm:pt>
    <dgm:pt modelId="{4807975D-158D-4B2E-81A6-524B03CCAE34}" type="sibTrans" cxnId="{5D66E5B9-53D6-4D33-9269-B9FD202BDA9A}">
      <dgm:prSet/>
      <dgm:spPr/>
      <dgm:t>
        <a:bodyPr/>
        <a:lstStyle/>
        <a:p>
          <a:endParaRPr lang="en-US" sz="950"/>
        </a:p>
      </dgm:t>
    </dgm:pt>
    <dgm:pt modelId="{9ED3A4C5-5759-4FEB-A7EA-6F5E1202E8F9}">
      <dgm:prSet custT="1"/>
      <dgm:spPr/>
      <dgm:t>
        <a:bodyPr/>
        <a:lstStyle/>
        <a:p>
          <a:r>
            <a:rPr lang="en-IN" sz="950"/>
            <a:t>Linking accounting systems with MIS</a:t>
          </a:r>
        </a:p>
      </dgm:t>
    </dgm:pt>
    <dgm:pt modelId="{F3BA674B-8024-4706-A98F-2533031134EB}" type="parTrans" cxnId="{4EBBA9EF-1E18-4C3D-85EE-3159F43AC8FB}">
      <dgm:prSet/>
      <dgm:spPr/>
      <dgm:t>
        <a:bodyPr/>
        <a:lstStyle/>
        <a:p>
          <a:endParaRPr lang="en-US" sz="950"/>
        </a:p>
      </dgm:t>
    </dgm:pt>
    <dgm:pt modelId="{C27F7347-B78F-4C7E-B7C5-322B68FC0D4F}" type="sibTrans" cxnId="{4EBBA9EF-1E18-4C3D-85EE-3159F43AC8FB}">
      <dgm:prSet/>
      <dgm:spPr/>
      <dgm:t>
        <a:bodyPr/>
        <a:lstStyle/>
        <a:p>
          <a:endParaRPr lang="en-US" sz="950"/>
        </a:p>
      </dgm:t>
    </dgm:pt>
    <dgm:pt modelId="{376B0C40-8C3F-4A1F-81E9-17106A7E1C1F}">
      <dgm:prSet custT="1"/>
      <dgm:spPr/>
      <dgm:t>
        <a:bodyPr/>
        <a:lstStyle/>
        <a:p>
          <a:r>
            <a:rPr lang="en-IN" sz="950"/>
            <a:t>Initiate Shadow Implementation across departments</a:t>
          </a:r>
        </a:p>
      </dgm:t>
    </dgm:pt>
    <dgm:pt modelId="{D961D627-41CC-4417-8FB4-7F3904224008}" type="parTrans" cxnId="{E0B6F50A-66CA-41F3-8144-29CBA4D380CC}">
      <dgm:prSet/>
      <dgm:spPr/>
      <dgm:t>
        <a:bodyPr/>
        <a:lstStyle/>
        <a:p>
          <a:endParaRPr lang="en-US" sz="950"/>
        </a:p>
      </dgm:t>
    </dgm:pt>
    <dgm:pt modelId="{892B7B47-A040-4E6B-BF6A-A9AB4EEE12B1}" type="sibTrans" cxnId="{E0B6F50A-66CA-41F3-8144-29CBA4D380CC}">
      <dgm:prSet/>
      <dgm:spPr/>
      <dgm:t>
        <a:bodyPr/>
        <a:lstStyle/>
        <a:p>
          <a:endParaRPr lang="en-US" sz="950"/>
        </a:p>
      </dgm:t>
    </dgm:pt>
    <dgm:pt modelId="{ED18A4B0-4A9A-4A1F-8D5F-C3701F11554B}">
      <dgm:prSet custT="1"/>
      <dgm:spPr/>
      <dgm:t>
        <a:bodyPr/>
        <a:lstStyle/>
        <a:p>
          <a:r>
            <a:rPr lang="en-IN" sz="950"/>
            <a:t>Evaluate Quality by measuring external audit satisfaction with reporting</a:t>
          </a:r>
        </a:p>
      </dgm:t>
    </dgm:pt>
    <dgm:pt modelId="{F0D4D782-16E0-4C59-8FB5-1515A4C28B9E}" type="parTrans" cxnId="{D9DD8C82-FECB-41A7-A655-E6B282B3662C}">
      <dgm:prSet/>
      <dgm:spPr/>
      <dgm:t>
        <a:bodyPr/>
        <a:lstStyle/>
        <a:p>
          <a:endParaRPr lang="en-US" sz="950"/>
        </a:p>
      </dgm:t>
    </dgm:pt>
    <dgm:pt modelId="{24203B3F-E098-4CA8-AD41-3C1B0EABB6AF}" type="sibTrans" cxnId="{D9DD8C82-FECB-41A7-A655-E6B282B3662C}">
      <dgm:prSet/>
      <dgm:spPr/>
      <dgm:t>
        <a:bodyPr/>
        <a:lstStyle/>
        <a:p>
          <a:endParaRPr lang="en-US" sz="950"/>
        </a:p>
      </dgm:t>
    </dgm:pt>
    <dgm:pt modelId="{38E6B7AB-7A69-4788-900F-1F156811F5AD}">
      <dgm:prSet custT="1"/>
      <dgm:spPr/>
      <dgm:t>
        <a:bodyPr/>
        <a:lstStyle/>
        <a:p>
          <a:r>
            <a:rPr lang="en-IN" sz="950"/>
            <a:t>Development of manual for group accounting</a:t>
          </a:r>
        </a:p>
      </dgm:t>
    </dgm:pt>
    <dgm:pt modelId="{FEDA926C-D57C-4861-9738-71C3DD3F3A9E}" type="parTrans" cxnId="{75020EFB-85CF-4B01-9D8A-093DDB52CF78}">
      <dgm:prSet/>
      <dgm:spPr/>
      <dgm:t>
        <a:bodyPr/>
        <a:lstStyle/>
        <a:p>
          <a:endParaRPr lang="en-US" sz="950"/>
        </a:p>
      </dgm:t>
    </dgm:pt>
    <dgm:pt modelId="{56881BE4-1148-4D84-AA03-0A5FDC7D1661}" type="sibTrans" cxnId="{75020EFB-85CF-4B01-9D8A-093DDB52CF78}">
      <dgm:prSet/>
      <dgm:spPr/>
      <dgm:t>
        <a:bodyPr/>
        <a:lstStyle/>
        <a:p>
          <a:endParaRPr lang="en-US" sz="950"/>
        </a:p>
      </dgm:t>
    </dgm:pt>
    <dgm:pt modelId="{D0816C1D-3B69-4719-A347-E32850D4BAA1}">
      <dgm:prSet phldrT="[Text]" custT="1"/>
      <dgm:spPr/>
      <dgm:t>
        <a:bodyPr/>
        <a:lstStyle/>
        <a:p>
          <a:r>
            <a:rPr lang="en-US" sz="950"/>
            <a:t>Implementation of enhanced accounting and financial management practices</a:t>
          </a:r>
        </a:p>
      </dgm:t>
    </dgm:pt>
    <dgm:pt modelId="{2C443362-CCB7-418C-A436-1D6C4DBCB110}" type="parTrans" cxnId="{5D4F7B96-8568-4319-89CF-12CAAFD40422}">
      <dgm:prSet/>
      <dgm:spPr/>
      <dgm:t>
        <a:bodyPr/>
        <a:lstStyle/>
        <a:p>
          <a:endParaRPr lang="en-US" sz="950"/>
        </a:p>
      </dgm:t>
    </dgm:pt>
    <dgm:pt modelId="{B68E6AD8-8E33-4952-B3BF-FD8BADF679A2}" type="sibTrans" cxnId="{5D4F7B96-8568-4319-89CF-12CAAFD40422}">
      <dgm:prSet/>
      <dgm:spPr/>
      <dgm:t>
        <a:bodyPr/>
        <a:lstStyle/>
        <a:p>
          <a:endParaRPr lang="en-US" sz="950"/>
        </a:p>
      </dgm:t>
    </dgm:pt>
    <dgm:pt modelId="{502690B2-B9E3-4A5F-BAB2-B118C043760D}">
      <dgm:prSet phldrT="[Text]" custT="1"/>
      <dgm:spPr/>
      <dgm:t>
        <a:bodyPr/>
        <a:lstStyle/>
        <a:p>
          <a:r>
            <a:rPr lang="en-US" sz="950"/>
            <a:t>Implementation of enhanced fixed asset accounting, inventory accounting, fund and treasury management practices</a:t>
          </a:r>
        </a:p>
      </dgm:t>
    </dgm:pt>
    <dgm:pt modelId="{B7F8F000-2E05-4182-AF64-7A8A390D7FF5}" type="parTrans" cxnId="{9550269C-4F61-458A-BA08-2264ECFCC96B}">
      <dgm:prSet/>
      <dgm:spPr/>
      <dgm:t>
        <a:bodyPr/>
        <a:lstStyle/>
        <a:p>
          <a:endParaRPr lang="en-US" sz="950"/>
        </a:p>
      </dgm:t>
    </dgm:pt>
    <dgm:pt modelId="{B25C892A-E252-43C1-A075-DADD657F35DB}" type="sibTrans" cxnId="{9550269C-4F61-458A-BA08-2264ECFCC96B}">
      <dgm:prSet/>
      <dgm:spPr/>
      <dgm:t>
        <a:bodyPr/>
        <a:lstStyle/>
        <a:p>
          <a:endParaRPr lang="en-US" sz="950"/>
        </a:p>
      </dgm:t>
    </dgm:pt>
    <dgm:pt modelId="{59DF1162-B735-4E21-8C7C-CBA1C3709351}">
      <dgm:prSet phldrT="[Text]" custT="1"/>
      <dgm:spPr/>
      <dgm:t>
        <a:bodyPr/>
        <a:lstStyle/>
        <a:p>
          <a:r>
            <a:rPr lang="en-IN" sz="950"/>
            <a:t>Implementation of group accounting system</a:t>
          </a:r>
          <a:endParaRPr lang="en-US" sz="950"/>
        </a:p>
      </dgm:t>
    </dgm:pt>
    <dgm:pt modelId="{97C55915-05A7-42F5-9FAF-CE14F91B9B31}" type="parTrans" cxnId="{127930AE-136D-49DA-9533-626A5F90755E}">
      <dgm:prSet/>
      <dgm:spPr/>
      <dgm:t>
        <a:bodyPr/>
        <a:lstStyle/>
        <a:p>
          <a:endParaRPr lang="en-US" sz="950"/>
        </a:p>
      </dgm:t>
    </dgm:pt>
    <dgm:pt modelId="{7D12F078-D8D5-4054-B783-164E2AB391FD}" type="sibTrans" cxnId="{127930AE-136D-49DA-9533-626A5F90755E}">
      <dgm:prSet/>
      <dgm:spPr/>
      <dgm:t>
        <a:bodyPr/>
        <a:lstStyle/>
        <a:p>
          <a:endParaRPr lang="en-US" sz="950"/>
        </a:p>
      </dgm:t>
    </dgm:pt>
    <dgm:pt modelId="{8DC6898A-8A06-4C94-9283-CE04689089BA}">
      <dgm:prSet phldrT="[Text]" custT="1"/>
      <dgm:spPr/>
      <dgm:t>
        <a:bodyPr/>
        <a:lstStyle/>
        <a:p>
          <a:r>
            <a:rPr lang="en-IN" sz="950"/>
            <a:t>Assess and strengthen Financial Reporting Guidelines aligning with business needs</a:t>
          </a:r>
          <a:endParaRPr lang="en-US" sz="950"/>
        </a:p>
      </dgm:t>
    </dgm:pt>
    <dgm:pt modelId="{C7D35F06-1E6F-404E-8FCD-FE90B0C6ACAF}" type="parTrans" cxnId="{98047E2E-931D-4148-AEC1-BD6BF5A3803C}">
      <dgm:prSet/>
      <dgm:spPr/>
      <dgm:t>
        <a:bodyPr/>
        <a:lstStyle/>
        <a:p>
          <a:endParaRPr lang="en-US" sz="950"/>
        </a:p>
      </dgm:t>
    </dgm:pt>
    <dgm:pt modelId="{EF67975F-77CE-436E-AE3F-314C9F01C996}" type="sibTrans" cxnId="{98047E2E-931D-4148-AEC1-BD6BF5A3803C}">
      <dgm:prSet/>
      <dgm:spPr/>
      <dgm:t>
        <a:bodyPr/>
        <a:lstStyle/>
        <a:p>
          <a:endParaRPr lang="en-US" sz="950"/>
        </a:p>
      </dgm:t>
    </dgm:pt>
    <dgm:pt modelId="{383BF00F-3704-4BC8-88D3-4A25CE88A5A2}">
      <dgm:prSet phldrT="[Text]" custT="1"/>
      <dgm:spPr/>
      <dgm:t>
        <a:bodyPr/>
        <a:lstStyle/>
        <a:p>
          <a:r>
            <a:rPr lang="en-IN" sz="950"/>
            <a:t>Development &amp; Implementation of Computerised Accounting System (ERP) - this includes as-is process and system assessment, business process blue-print, preparation of strategy for ERP implementation, bid management for selection of an ERP implementating agent and a program management agent, implementation and go-live of ERP module, capacity building</a:t>
          </a:r>
          <a:endParaRPr lang="en-US" sz="950"/>
        </a:p>
      </dgm:t>
    </dgm:pt>
    <dgm:pt modelId="{31D99343-6AA5-4B87-9463-ED5646B167EE}" type="parTrans" cxnId="{E88AD475-9CEA-4DE1-8CB3-7E5CF4C740CC}">
      <dgm:prSet/>
      <dgm:spPr/>
      <dgm:t>
        <a:bodyPr/>
        <a:lstStyle/>
        <a:p>
          <a:endParaRPr lang="en-US" sz="950"/>
        </a:p>
      </dgm:t>
    </dgm:pt>
    <dgm:pt modelId="{5D7A262C-5E91-4DC8-97E3-5C1790F59152}" type="sibTrans" cxnId="{E88AD475-9CEA-4DE1-8CB3-7E5CF4C740CC}">
      <dgm:prSet/>
      <dgm:spPr/>
      <dgm:t>
        <a:bodyPr/>
        <a:lstStyle/>
        <a:p>
          <a:endParaRPr lang="en-US" sz="950"/>
        </a:p>
      </dgm:t>
    </dgm:pt>
    <dgm:pt modelId="{05ADA582-24FE-458D-B728-C8A056C567B5}">
      <dgm:prSet custT="1"/>
      <dgm:spPr/>
      <dgm:t>
        <a:bodyPr/>
        <a:lstStyle/>
        <a:p>
          <a:r>
            <a:rPr lang="en-IN" sz="950"/>
            <a:t>Capacity building on the above aspects</a:t>
          </a:r>
        </a:p>
      </dgm:t>
    </dgm:pt>
    <dgm:pt modelId="{A418B926-B9CC-4B44-9132-7F20A5086817}" type="parTrans" cxnId="{A37EBCCC-77E3-4FB3-AE43-88FBB25D129C}">
      <dgm:prSet/>
      <dgm:spPr/>
      <dgm:t>
        <a:bodyPr/>
        <a:lstStyle/>
        <a:p>
          <a:endParaRPr lang="en-US" sz="950"/>
        </a:p>
      </dgm:t>
    </dgm:pt>
    <dgm:pt modelId="{036F3A99-334C-4CAE-83D0-10EE7A5CB763}" type="sibTrans" cxnId="{A37EBCCC-77E3-4FB3-AE43-88FBB25D129C}">
      <dgm:prSet/>
      <dgm:spPr/>
      <dgm:t>
        <a:bodyPr/>
        <a:lstStyle/>
        <a:p>
          <a:endParaRPr lang="en-US" sz="950"/>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custScaleY="100000"/>
      <dgm:spPr/>
      <dgm:t>
        <a:bodyPr/>
        <a:lstStyle/>
        <a:p>
          <a:endParaRPr lang="en-US"/>
        </a:p>
      </dgm:t>
    </dgm:pt>
    <dgm:pt modelId="{7E8F3D55-80E5-4F13-9459-E39284D0328D}" type="pres">
      <dgm:prSet presAssocID="{03454651-1876-463C-891F-DBFB67BE2D7D}" presName="desTx" presStyleLbl="fgAcc1" presStyleIdx="0" presStyleCnt="3" custLinFactNeighborY="-572">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BCD02D81-ECA2-42A2-8D2B-D2E6BEFAAAB7}" type="pres">
      <dgm:prSet presAssocID="{4F42F67C-B60D-4F3E-89E1-0D34CC1E1727}" presName="composite" presStyleCnt="0"/>
      <dgm:spPr/>
    </dgm:pt>
    <dgm:pt modelId="{31B28512-56A3-4B3B-B913-EAB922DC1DE2}" type="pres">
      <dgm:prSet presAssocID="{4F42F67C-B60D-4F3E-89E1-0D34CC1E1727}" presName="parTx" presStyleLbl="node1" presStyleIdx="0" presStyleCnt="3">
        <dgm:presLayoutVars>
          <dgm:chMax val="0"/>
          <dgm:chPref val="0"/>
          <dgm:bulletEnabled val="1"/>
        </dgm:presLayoutVars>
      </dgm:prSet>
      <dgm:spPr/>
      <dgm:t>
        <a:bodyPr/>
        <a:lstStyle/>
        <a:p>
          <a:endParaRPr lang="en-US"/>
        </a:p>
      </dgm:t>
    </dgm:pt>
    <dgm:pt modelId="{F8B8FE14-F447-4037-A33B-4BEC5D6B5ABC}" type="pres">
      <dgm:prSet presAssocID="{4F42F67C-B60D-4F3E-89E1-0D34CC1E1727}" presName="parSh" presStyleLbl="node1" presStyleIdx="1" presStyleCnt="3" custScaleY="100000"/>
      <dgm:spPr/>
      <dgm:t>
        <a:bodyPr/>
        <a:lstStyle/>
        <a:p>
          <a:endParaRPr lang="en-US"/>
        </a:p>
      </dgm:t>
    </dgm:pt>
    <dgm:pt modelId="{0A9461B2-A9AF-4222-BDED-209BE156D35C}" type="pres">
      <dgm:prSet presAssocID="{4F42F67C-B60D-4F3E-89E1-0D34CC1E1727}" presName="desTx" presStyleLbl="fgAcc1" presStyleIdx="1" presStyleCnt="3" custLinFactNeighborY="-572">
        <dgm:presLayoutVars>
          <dgm:bulletEnabled val="1"/>
        </dgm:presLayoutVars>
      </dgm:prSet>
      <dgm:spPr/>
      <dgm:t>
        <a:bodyPr/>
        <a:lstStyle/>
        <a:p>
          <a:endParaRPr lang="en-US"/>
        </a:p>
      </dgm:t>
    </dgm:pt>
    <dgm:pt modelId="{A93231B8-5CB3-4218-9A37-CA9E35B45470}" type="pres">
      <dgm:prSet presAssocID="{74C0BEB9-13D4-4DE1-B883-EF5BB2830D98}" presName="sibTrans" presStyleLbl="sibTrans2D1" presStyleIdx="1" presStyleCnt="2"/>
      <dgm:spPr/>
      <dgm:t>
        <a:bodyPr/>
        <a:lstStyle/>
        <a:p>
          <a:endParaRPr lang="en-US"/>
        </a:p>
      </dgm:t>
    </dgm:pt>
    <dgm:pt modelId="{E490260D-C430-4B1F-A65A-FD96299DBA22}" type="pres">
      <dgm:prSet presAssocID="{74C0BEB9-13D4-4DE1-B883-EF5BB2830D98}" presName="connTx" presStyleLbl="sibTrans2D1" presStyleIdx="1"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1"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2" presStyleCnt="3" custScaleY="100000"/>
      <dgm:spPr/>
      <dgm:t>
        <a:bodyPr/>
        <a:lstStyle/>
        <a:p>
          <a:endParaRPr lang="en-US"/>
        </a:p>
      </dgm:t>
    </dgm:pt>
    <dgm:pt modelId="{DCC3FCEA-0BC8-4D98-BFDA-E2DB9800EC74}" type="pres">
      <dgm:prSet presAssocID="{5074504D-B054-44B7-AF1D-0C421DB29C8C}" presName="desTx" presStyleLbl="fgAcc1" presStyleIdx="2" presStyleCnt="3" custLinFactNeighborY="-572">
        <dgm:presLayoutVars>
          <dgm:bulletEnabled val="1"/>
        </dgm:presLayoutVars>
      </dgm:prSet>
      <dgm:spPr/>
      <dgm:t>
        <a:bodyPr/>
        <a:lstStyle/>
        <a:p>
          <a:endParaRPr lang="en-US"/>
        </a:p>
      </dgm:t>
    </dgm:pt>
  </dgm:ptLst>
  <dgm:cxnLst>
    <dgm:cxn modelId="{D810F22C-BD0D-4360-85E7-845666E565F5}" type="presOf" srcId="{74C0BEB9-13D4-4DE1-B883-EF5BB2830D98}" destId="{E490260D-C430-4B1F-A65A-FD96299DBA22}" srcOrd="1" destOrd="0" presId="urn:microsoft.com/office/officeart/2005/8/layout/process3"/>
    <dgm:cxn modelId="{330767F1-7395-41F4-A1AD-6DA9015BAE1A}" type="presOf" srcId="{376B0C40-8C3F-4A1F-81E9-17106A7E1C1F}" destId="{DCC3FCEA-0BC8-4D98-BFDA-E2DB9800EC74}" srcOrd="0" destOrd="7" presId="urn:microsoft.com/office/officeart/2005/8/layout/process3"/>
    <dgm:cxn modelId="{2B0FEDE2-409A-4599-A2CA-983BF12BE010}" type="presOf" srcId="{58833F2B-CC68-4D46-8385-9558C9DF82F9}" destId="{7E8F3D55-80E5-4F13-9459-E39284D0328D}" srcOrd="0" destOrd="2" presId="urn:microsoft.com/office/officeart/2005/8/layout/process3"/>
    <dgm:cxn modelId="{B6FF998B-3345-403F-B323-3C90BCCA22EB}" type="presOf" srcId="{419D107D-9621-4E55-BD9D-492C88765D42}" destId="{0A9461B2-A9AF-4222-BDED-209BE156D35C}" srcOrd="0" destOrd="4" presId="urn:microsoft.com/office/officeart/2005/8/layout/process3"/>
    <dgm:cxn modelId="{96920034-A0CB-48B5-8094-7C4908677198}" srcId="{03454651-1876-463C-891F-DBFB67BE2D7D}" destId="{5838A784-E4DE-4E5D-9727-2623F5726339}" srcOrd="1" destOrd="0" parTransId="{4F5D1A43-3E12-4A5B-AD24-BD25AD54D1F1}" sibTransId="{94FE0D3A-ACE3-4C6B-8AB2-1D2921D9901D}"/>
    <dgm:cxn modelId="{6E6CD698-8399-4878-9590-D181BD5CDDE8}" srcId="{03454651-1876-463C-891F-DBFB67BE2D7D}" destId="{7F1065E5-5A55-4D62-8C51-1E704A1B3F62}" srcOrd="0" destOrd="0" parTransId="{5D0CC9DF-3C75-45D4-B154-1DA50F6D110A}" sibTransId="{B6CC33B7-7CF0-45BA-A823-62C9D3AEAA33}"/>
    <dgm:cxn modelId="{13E7028A-043B-4F55-8025-F058D8604B5D}" type="presOf" srcId="{5838A784-E4DE-4E5D-9727-2623F5726339}" destId="{7E8F3D55-80E5-4F13-9459-E39284D0328D}" srcOrd="0" destOrd="1" presId="urn:microsoft.com/office/officeart/2005/8/layout/process3"/>
    <dgm:cxn modelId="{69FE3ABF-758D-4AEE-ACA0-99F848F7AFB4}" type="presOf" srcId="{38E6B7AB-7A69-4788-900F-1F156811F5AD}" destId="{7E8F3D55-80E5-4F13-9459-E39284D0328D}" srcOrd="0" destOrd="4" presId="urn:microsoft.com/office/officeart/2005/8/layout/process3"/>
    <dgm:cxn modelId="{400A3F87-78D4-46F8-A405-E31D49A0FE1D}" srcId="{4F42F67C-B60D-4F3E-89E1-0D34CC1E1727}" destId="{420CF7EE-0FFC-44AC-ABB6-3D78F17D961D}" srcOrd="2" destOrd="0" parTransId="{D8FB8371-5109-4086-B61E-6EA552A299CD}" sibTransId="{C9AB5B73-FE7F-4E37-84B3-D747D4523A18}"/>
    <dgm:cxn modelId="{6D1BF935-9359-45C4-BAD5-8D5936C38190}" type="presOf" srcId="{03454651-1876-463C-891F-DBFB67BE2D7D}" destId="{3A83BC6F-B725-4345-B234-B50F8B6B5DAE}" srcOrd="1" destOrd="0" presId="urn:microsoft.com/office/officeart/2005/8/layout/process3"/>
    <dgm:cxn modelId="{2CABE5E3-1EFE-442D-B049-AF5A2DCBB018}" type="presOf" srcId="{06035460-F029-4F6D-A005-85CF5F5392EC}" destId="{0A9461B2-A9AF-4222-BDED-209BE156D35C}" srcOrd="0" destOrd="3" presId="urn:microsoft.com/office/officeart/2005/8/layout/process3"/>
    <dgm:cxn modelId="{030764F8-57E9-4C50-B013-F1E6084FD588}" type="presOf" srcId="{32EC2ED1-5A41-47F2-A0A5-89A6987013DA}" destId="{4B650DD2-5F02-4AE9-9DDB-38B6153A658F}" srcOrd="1" destOrd="0" presId="urn:microsoft.com/office/officeart/2005/8/layout/process3"/>
    <dgm:cxn modelId="{DFB2FCE1-8D1E-4B82-859A-487125260B8C}" type="presOf" srcId="{383BF00F-3704-4BC8-88D3-4A25CE88A5A2}" destId="{DCC3FCEA-0BC8-4D98-BFDA-E2DB9800EC74}" srcOrd="0" destOrd="4" presId="urn:microsoft.com/office/officeart/2005/8/layout/process3"/>
    <dgm:cxn modelId="{D9F65071-F690-492E-ADBD-675B537CDC98}" type="presOf" srcId="{32EC2ED1-5A41-47F2-A0A5-89A6987013DA}" destId="{2185D18F-377B-4641-B87A-82A7FD17C65D}" srcOrd="0" destOrd="0" presId="urn:microsoft.com/office/officeart/2005/8/layout/process3"/>
    <dgm:cxn modelId="{9A8A1904-0F14-46C9-A8C3-72FE413E07F2}" type="presOf" srcId="{4F42F67C-B60D-4F3E-89E1-0D34CC1E1727}" destId="{31B28512-56A3-4B3B-B913-EAB922DC1DE2}" srcOrd="0" destOrd="0" presId="urn:microsoft.com/office/officeart/2005/8/layout/process3"/>
    <dgm:cxn modelId="{E19FA9E4-29E2-4B71-955E-ECC145EE99DC}" type="presOf" srcId="{AA01CFC3-2A0B-4941-92F2-F1F2480A86CA}" destId="{7E8F3D55-80E5-4F13-9459-E39284D0328D}" srcOrd="0" destOrd="7" presId="urn:microsoft.com/office/officeart/2005/8/layout/process3"/>
    <dgm:cxn modelId="{2F3CBA55-363F-41E6-97F4-05A4A8559F3B}" type="presOf" srcId="{05ADA582-24FE-458D-B728-C8A056C567B5}" destId="{DCC3FCEA-0BC8-4D98-BFDA-E2DB9800EC74}" srcOrd="0" destOrd="9" presId="urn:microsoft.com/office/officeart/2005/8/layout/process3"/>
    <dgm:cxn modelId="{E2EA711F-A69C-4D4A-8F36-AE84BC48B8FD}" type="presOf" srcId="{922A03E6-FA92-4A4F-A9F3-532A9A3306A7}" destId="{0A9461B2-A9AF-4222-BDED-209BE156D35C}" srcOrd="0" destOrd="0" presId="urn:microsoft.com/office/officeart/2005/8/layout/process3"/>
    <dgm:cxn modelId="{5D4F7B96-8568-4319-89CF-12CAAFD40422}" srcId="{5074504D-B054-44B7-AF1D-0C421DB29C8C}" destId="{D0816C1D-3B69-4719-A347-E32850D4BAA1}" srcOrd="0" destOrd="0" parTransId="{2C443362-CCB7-418C-A436-1D6C4DBCB110}" sibTransId="{B68E6AD8-8E33-4952-B3BF-FD8BADF679A2}"/>
    <dgm:cxn modelId="{98047E2E-931D-4148-AEC1-BD6BF5A3803C}" srcId="{5074504D-B054-44B7-AF1D-0C421DB29C8C}" destId="{8DC6898A-8A06-4C94-9283-CE04689089BA}" srcOrd="3" destOrd="0" parTransId="{C7D35F06-1E6F-404E-8FCD-FE90B0C6ACAF}" sibTransId="{EF67975F-77CE-436E-AE3F-314C9F01C996}"/>
    <dgm:cxn modelId="{E203C46E-0CF0-4F75-8EED-14933A1774F8}" type="presOf" srcId="{9ED3A4C5-5759-4FEB-A7EA-6F5E1202E8F9}" destId="{DCC3FCEA-0BC8-4D98-BFDA-E2DB9800EC74}" srcOrd="0" destOrd="6" presId="urn:microsoft.com/office/officeart/2005/8/layout/process3"/>
    <dgm:cxn modelId="{255FA012-8ED1-4B60-B62C-FFD534E1AB95}" type="presOf" srcId="{03454651-1876-463C-891F-DBFB67BE2D7D}" destId="{3D847FC2-380F-49AF-936C-1553F8F26F3C}" srcOrd="0" destOrd="0" presId="urn:microsoft.com/office/officeart/2005/8/layout/process3"/>
    <dgm:cxn modelId="{6B536EC8-3E48-4B0A-BC59-7AC6055E0ABE}" srcId="{72C595F7-F9FE-4C3C-B546-D393C43DA1D5}" destId="{4F42F67C-B60D-4F3E-89E1-0D34CC1E1727}" srcOrd="1" destOrd="0" parTransId="{55D3586D-8FBB-4A0C-82D3-3F1BB65BD27F}" sibTransId="{74C0BEB9-13D4-4DE1-B883-EF5BB2830D98}"/>
    <dgm:cxn modelId="{57829278-A812-4E62-9681-9A42F0A9BD32}" srcId="{03454651-1876-463C-891F-DBFB67BE2D7D}" destId="{58833F2B-CC68-4D46-8385-9558C9DF82F9}" srcOrd="2" destOrd="0" parTransId="{1B185601-FB72-44DA-B5F3-D9C992CFD2B0}" sibTransId="{1F96796F-0F66-4BD5-BDAE-7B353BC1C282}"/>
    <dgm:cxn modelId="{5A0E108B-43D8-4669-82A1-800EBAAB8BDB}" type="presOf" srcId="{ED18A4B0-4A9A-4A1F-8D5F-C3701F11554B}" destId="{DCC3FCEA-0BC8-4D98-BFDA-E2DB9800EC74}" srcOrd="0" destOrd="8" presId="urn:microsoft.com/office/officeart/2005/8/layout/process3"/>
    <dgm:cxn modelId="{E6D30EBE-9242-42ED-8BAF-9ACF0FD01606}" srcId="{5074504D-B054-44B7-AF1D-0C421DB29C8C}" destId="{FB9A96BC-7AE1-470A-8DDD-FE512A24354D}" srcOrd="5" destOrd="0" parTransId="{9D27F856-9BAF-4B5B-B24F-FB7F47B73445}" sibTransId="{51AE14B8-6560-4644-8C8D-D25FBEEFB1B1}"/>
    <dgm:cxn modelId="{EFA2B9BD-4F03-4C96-A067-B772630D63A7}" srcId="{03454651-1876-463C-891F-DBFB67BE2D7D}" destId="{9CD6B5E2-9A6C-466B-8DC9-E4C8233BC54C}" srcOrd="8" destOrd="0" parTransId="{4F04BB99-A7A5-4B84-9B41-ED6DA8296333}" sibTransId="{65657B86-72C4-467E-A294-9B908B0E2A80}"/>
    <dgm:cxn modelId="{C40E5C5F-1F83-4EE3-9541-CF51407D97F4}" srcId="{4F42F67C-B60D-4F3E-89E1-0D34CC1E1727}" destId="{419D107D-9621-4E55-BD9D-492C88765D42}" srcOrd="4" destOrd="0" parTransId="{25871D9F-25B5-4834-B0C3-E64E6438A693}" sibTransId="{9B796124-F2B9-498A-91B3-555207B5B9A7}"/>
    <dgm:cxn modelId="{A10CEC4F-677A-45A8-883B-04A9DA1A5906}" type="presOf" srcId="{502690B2-B9E3-4A5F-BAB2-B118C043760D}" destId="{DCC3FCEA-0BC8-4D98-BFDA-E2DB9800EC74}" srcOrd="0" destOrd="1" presId="urn:microsoft.com/office/officeart/2005/8/layout/process3"/>
    <dgm:cxn modelId="{288D6556-D78D-42E2-834B-00062A324825}" srcId="{72C595F7-F9FE-4C3C-B546-D393C43DA1D5}" destId="{5074504D-B054-44B7-AF1D-0C421DB29C8C}" srcOrd="2" destOrd="0" parTransId="{38550204-A29D-4D29-89AB-206E975EF185}" sibTransId="{836E2BBF-AE6F-44B9-AD26-342382726746}"/>
    <dgm:cxn modelId="{5D66E5B9-53D6-4D33-9269-B9FD202BDA9A}" srcId="{4F42F67C-B60D-4F3E-89E1-0D34CC1E1727}" destId="{4DBBA05D-3B90-4E05-8FC4-1E275A6D770B}" srcOrd="5" destOrd="0" parTransId="{D09370CE-6E3D-4CE3-BBFD-F45CD43A9085}" sibTransId="{4807975D-158D-4B2E-81A6-524B03CCAE34}"/>
    <dgm:cxn modelId="{B20B14DF-EE0A-4989-83C3-18A220D26238}" type="presOf" srcId="{4DBBA05D-3B90-4E05-8FC4-1E275A6D770B}" destId="{0A9461B2-A9AF-4222-BDED-209BE156D35C}" srcOrd="0" destOrd="5" presId="urn:microsoft.com/office/officeart/2005/8/layout/process3"/>
    <dgm:cxn modelId="{0FDCC431-8D6C-4B44-BC5E-1E423C985B4C}" srcId="{03454651-1876-463C-891F-DBFB67BE2D7D}" destId="{41EA9C9E-182D-4046-AD0F-34E125D930DB}" srcOrd="6" destOrd="0" parTransId="{3DCAE9D9-753A-49C7-A163-44AC4F679EA0}" sibTransId="{37F82B78-0417-4924-B79C-3C1DE6B403D2}"/>
    <dgm:cxn modelId="{60E0F63E-9E13-4C9C-879C-093E6FF2CD8B}" srcId="{03454651-1876-463C-891F-DBFB67BE2D7D}" destId="{74353D8A-FA0E-469A-BB7B-8DAB397017BE}" srcOrd="3" destOrd="0" parTransId="{983FB929-BD6C-482A-8DA4-D57D7433261E}" sibTransId="{F7DEB086-7920-434F-976F-0385C7E2A8CE}"/>
    <dgm:cxn modelId="{0B8ECD9E-FD16-42A8-8891-EFE28E42C94F}" srcId="{4F42F67C-B60D-4F3E-89E1-0D34CC1E1727}" destId="{922A03E6-FA92-4A4F-A9F3-532A9A3306A7}" srcOrd="0" destOrd="0" parTransId="{10E53991-81B3-4D2B-826E-A0DE2FE93D95}" sibTransId="{64B8D2E5-449E-4F95-8F66-3A6EA9EBDDF1}"/>
    <dgm:cxn modelId="{F0DCBC76-033A-45B7-A3AB-FD15041BDCE4}" srcId="{4F42F67C-B60D-4F3E-89E1-0D34CC1E1727}" destId="{06035460-F029-4F6D-A005-85CF5F5392EC}" srcOrd="3" destOrd="0" parTransId="{40443339-F018-4CDE-819E-D2E3017B7B22}" sibTransId="{53F959B4-A313-4D5F-B699-AF929AD1E412}"/>
    <dgm:cxn modelId="{9550269C-4F61-458A-BA08-2264ECFCC96B}" srcId="{5074504D-B054-44B7-AF1D-0C421DB29C8C}" destId="{502690B2-B9E3-4A5F-BAB2-B118C043760D}" srcOrd="1" destOrd="0" parTransId="{B7F8F000-2E05-4182-AF64-7A8A390D7FF5}" sibTransId="{B25C892A-E252-43C1-A075-DADD657F35DB}"/>
    <dgm:cxn modelId="{4EBBA9EF-1E18-4C3D-85EE-3159F43AC8FB}" srcId="{5074504D-B054-44B7-AF1D-0C421DB29C8C}" destId="{9ED3A4C5-5759-4FEB-A7EA-6F5E1202E8F9}" srcOrd="6" destOrd="0" parTransId="{F3BA674B-8024-4706-A98F-2533031134EB}" sibTransId="{C27F7347-B78F-4C7E-B7C5-322B68FC0D4F}"/>
    <dgm:cxn modelId="{7344CBA2-45A7-42A2-87E7-23DB9E58E2CF}" type="presOf" srcId="{4F42F67C-B60D-4F3E-89E1-0D34CC1E1727}" destId="{F8B8FE14-F447-4037-A33B-4BEC5D6B5ABC}" srcOrd="1" destOrd="0" presId="urn:microsoft.com/office/officeart/2005/8/layout/process3"/>
    <dgm:cxn modelId="{A13F8826-FAC1-4F8B-B5D9-AA93AE36E946}" srcId="{4F42F67C-B60D-4F3E-89E1-0D34CC1E1727}" destId="{24A3372E-ED0B-4CDC-ADA6-55B26F389F3D}" srcOrd="1" destOrd="0" parTransId="{C7146D09-9407-4DB7-83BD-58158E4F917E}" sibTransId="{2AEE7AE6-5CE0-425C-824A-8B8965509B4D}"/>
    <dgm:cxn modelId="{883EFC41-EDFE-4C80-AA2F-E93A06DF4157}" type="presOf" srcId="{74353D8A-FA0E-469A-BB7B-8DAB397017BE}" destId="{7E8F3D55-80E5-4F13-9459-E39284D0328D}" srcOrd="0" destOrd="3" presId="urn:microsoft.com/office/officeart/2005/8/layout/process3"/>
    <dgm:cxn modelId="{41E99438-C61E-4C5C-A675-18C975DF5941}" type="presOf" srcId="{7F1065E5-5A55-4D62-8C51-1E704A1B3F62}" destId="{7E8F3D55-80E5-4F13-9459-E39284D0328D}" srcOrd="0" destOrd="0" presId="urn:microsoft.com/office/officeart/2005/8/layout/process3"/>
    <dgm:cxn modelId="{833C9F7C-7E5E-4B19-82BB-2E4FC65EC7A8}" type="presOf" srcId="{DA270671-32E0-4619-8D05-E2D1A5353786}" destId="{7E8F3D55-80E5-4F13-9459-E39284D0328D}" srcOrd="0" destOrd="5" presId="urn:microsoft.com/office/officeart/2005/8/layout/process3"/>
    <dgm:cxn modelId="{CDA8EA57-872A-4D6B-B94F-7E3E8C9E26FE}" type="presOf" srcId="{41EA9C9E-182D-4046-AD0F-34E125D930DB}" destId="{7E8F3D55-80E5-4F13-9459-E39284D0328D}" srcOrd="0" destOrd="6" presId="urn:microsoft.com/office/officeart/2005/8/layout/process3"/>
    <dgm:cxn modelId="{2822544D-DB64-4D16-9B58-5F5B8A5B786F}" type="presOf" srcId="{5074504D-B054-44B7-AF1D-0C421DB29C8C}" destId="{BF9E2F76-6B5D-43DB-A7F2-4A21C009BF40}" srcOrd="0" destOrd="0" presId="urn:microsoft.com/office/officeart/2005/8/layout/process3"/>
    <dgm:cxn modelId="{127930AE-136D-49DA-9533-626A5F90755E}" srcId="{5074504D-B054-44B7-AF1D-0C421DB29C8C}" destId="{59DF1162-B735-4E21-8C7C-CBA1C3709351}" srcOrd="2" destOrd="0" parTransId="{97C55915-05A7-42F5-9FAF-CE14F91B9B31}" sibTransId="{7D12F078-D8D5-4054-B783-164E2AB391FD}"/>
    <dgm:cxn modelId="{D411AD91-D1F9-4331-8294-CBF260B63DCD}" type="presOf" srcId="{FB9A96BC-7AE1-470A-8DDD-FE512A24354D}" destId="{DCC3FCEA-0BC8-4D98-BFDA-E2DB9800EC74}" srcOrd="0" destOrd="5" presId="urn:microsoft.com/office/officeart/2005/8/layout/process3"/>
    <dgm:cxn modelId="{1AD71085-CFE4-4223-96CE-91FFD487ABCD}" type="presOf" srcId="{420CF7EE-0FFC-44AC-ABB6-3D78F17D961D}" destId="{0A9461B2-A9AF-4222-BDED-209BE156D35C}" srcOrd="0" destOrd="2" presId="urn:microsoft.com/office/officeart/2005/8/layout/process3"/>
    <dgm:cxn modelId="{899615F1-3E15-4119-AC22-21265FDC12BB}" type="presOf" srcId="{D0816C1D-3B69-4719-A347-E32850D4BAA1}" destId="{DCC3FCEA-0BC8-4D98-BFDA-E2DB9800EC74}" srcOrd="0" destOrd="0" presId="urn:microsoft.com/office/officeart/2005/8/layout/process3"/>
    <dgm:cxn modelId="{BC56453C-31A4-4D73-B895-375E2FACAA9C}" type="presOf" srcId="{24A3372E-ED0B-4CDC-ADA6-55B26F389F3D}" destId="{0A9461B2-A9AF-4222-BDED-209BE156D35C}" srcOrd="0" destOrd="1"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E88AD475-9CEA-4DE1-8CB3-7E5CF4C740CC}" srcId="{5074504D-B054-44B7-AF1D-0C421DB29C8C}" destId="{383BF00F-3704-4BC8-88D3-4A25CE88A5A2}" srcOrd="4" destOrd="0" parTransId="{31D99343-6AA5-4B87-9463-ED5646B167EE}" sibTransId="{5D7A262C-5E91-4DC8-97E3-5C1790F59152}"/>
    <dgm:cxn modelId="{D9DD8C82-FECB-41A7-A655-E6B282B3662C}" srcId="{5074504D-B054-44B7-AF1D-0C421DB29C8C}" destId="{ED18A4B0-4A9A-4A1F-8D5F-C3701F11554B}" srcOrd="8" destOrd="0" parTransId="{F0D4D782-16E0-4C59-8FB5-1515A4C28B9E}" sibTransId="{24203B3F-E098-4CA8-AD41-3C1B0EABB6AF}"/>
    <dgm:cxn modelId="{E0B6F50A-66CA-41F3-8144-29CBA4D380CC}" srcId="{5074504D-B054-44B7-AF1D-0C421DB29C8C}" destId="{376B0C40-8C3F-4A1F-81E9-17106A7E1C1F}" srcOrd="7" destOrd="0" parTransId="{D961D627-41CC-4417-8FB4-7F3904224008}" sibTransId="{892B7B47-A040-4E6B-BF6A-A9AB4EEE12B1}"/>
    <dgm:cxn modelId="{9A52D004-7B87-4D54-8150-745746493B5D}" type="presOf" srcId="{74C0BEB9-13D4-4DE1-B883-EF5BB2830D98}" destId="{A93231B8-5CB3-4218-9A37-CA9E35B45470}" srcOrd="0" destOrd="0" presId="urn:microsoft.com/office/officeart/2005/8/layout/process3"/>
    <dgm:cxn modelId="{40712BBD-03DA-41B9-9B9E-D57C90FA81EE}" srcId="{03454651-1876-463C-891F-DBFB67BE2D7D}" destId="{DA270671-32E0-4619-8D05-E2D1A5353786}" srcOrd="5" destOrd="0" parTransId="{A578DF6E-F97B-4BA7-A08C-E2171BB90E2F}" sibTransId="{63193EE6-EAF9-4B6C-BCF9-AA5B61922482}"/>
    <dgm:cxn modelId="{5DB77981-EEAB-4101-976E-95C973CCDE6D}" type="presOf" srcId="{9CD6B5E2-9A6C-466B-8DC9-E4C8233BC54C}" destId="{7E8F3D55-80E5-4F13-9459-E39284D0328D}" srcOrd="0" destOrd="8" presId="urn:microsoft.com/office/officeart/2005/8/layout/process3"/>
    <dgm:cxn modelId="{A1FD9FFC-7652-407E-AE05-E5254E12B921}" type="presOf" srcId="{59DF1162-B735-4E21-8C7C-CBA1C3709351}" destId="{DCC3FCEA-0BC8-4D98-BFDA-E2DB9800EC74}" srcOrd="0" destOrd="2" presId="urn:microsoft.com/office/officeart/2005/8/layout/process3"/>
    <dgm:cxn modelId="{6A453E32-D104-41CF-B476-3166A91CC836}" type="presOf" srcId="{72C595F7-F9FE-4C3C-B546-D393C43DA1D5}" destId="{5FAEC180-6FA0-4E38-9D1E-990ABDB6814F}" srcOrd="0" destOrd="0" presId="urn:microsoft.com/office/officeart/2005/8/layout/process3"/>
    <dgm:cxn modelId="{75020EFB-85CF-4B01-9D8A-093DDB52CF78}" srcId="{03454651-1876-463C-891F-DBFB67BE2D7D}" destId="{38E6B7AB-7A69-4788-900F-1F156811F5AD}" srcOrd="4" destOrd="0" parTransId="{FEDA926C-D57C-4861-9738-71C3DD3F3A9E}" sibTransId="{56881BE4-1148-4D84-AA03-0A5FDC7D1661}"/>
    <dgm:cxn modelId="{26DCB87C-7ED6-488A-85D0-85AABBD0D8F3}" type="presOf" srcId="{8DC6898A-8A06-4C94-9283-CE04689089BA}" destId="{DCC3FCEA-0BC8-4D98-BFDA-E2DB9800EC74}" srcOrd="0" destOrd="3" presId="urn:microsoft.com/office/officeart/2005/8/layout/process3"/>
    <dgm:cxn modelId="{A37EBCCC-77E3-4FB3-AE43-88FBB25D129C}" srcId="{5074504D-B054-44B7-AF1D-0C421DB29C8C}" destId="{05ADA582-24FE-458D-B728-C8A056C567B5}" srcOrd="9" destOrd="0" parTransId="{A418B926-B9CC-4B44-9132-7F20A5086817}" sibTransId="{036F3A99-334C-4CAE-83D0-10EE7A5CB763}"/>
    <dgm:cxn modelId="{F80728C9-36CC-40C9-A2E2-E01E8046F66D}" type="presOf" srcId="{5074504D-B054-44B7-AF1D-0C421DB29C8C}" destId="{C399DA07-F433-446A-A511-7651E2D31800}" srcOrd="1" destOrd="0" presId="urn:microsoft.com/office/officeart/2005/8/layout/process3"/>
    <dgm:cxn modelId="{34E539CF-F593-4694-9581-63F70239F7EB}" srcId="{03454651-1876-463C-891F-DBFB67BE2D7D}" destId="{AA01CFC3-2A0B-4941-92F2-F1F2480A86CA}" srcOrd="7" destOrd="0" parTransId="{0F146B53-925C-4175-9183-D304D608BA25}" sibTransId="{5F341583-58B5-4CF5-8777-FD69F5FC7F84}"/>
    <dgm:cxn modelId="{D10E603C-F4CC-4538-B430-F1A159CEEA4A}" type="presParOf" srcId="{5FAEC180-6FA0-4E38-9D1E-990ABDB6814F}" destId="{1ED04EDF-BDDC-4FBE-ADFE-4ECCA1ABCE5C}" srcOrd="0" destOrd="0" presId="urn:microsoft.com/office/officeart/2005/8/layout/process3"/>
    <dgm:cxn modelId="{B428CBBF-193F-4313-B539-8367DD40B2F2}" type="presParOf" srcId="{1ED04EDF-BDDC-4FBE-ADFE-4ECCA1ABCE5C}" destId="{3D847FC2-380F-49AF-936C-1553F8F26F3C}" srcOrd="0" destOrd="0" presId="urn:microsoft.com/office/officeart/2005/8/layout/process3"/>
    <dgm:cxn modelId="{60A02B0B-A5FC-4F64-A111-F356AE71B6C4}" type="presParOf" srcId="{1ED04EDF-BDDC-4FBE-ADFE-4ECCA1ABCE5C}" destId="{3A83BC6F-B725-4345-B234-B50F8B6B5DAE}" srcOrd="1" destOrd="0" presId="urn:microsoft.com/office/officeart/2005/8/layout/process3"/>
    <dgm:cxn modelId="{2625ECE6-24CA-44E0-958C-ED7D54BEF2E0}" type="presParOf" srcId="{1ED04EDF-BDDC-4FBE-ADFE-4ECCA1ABCE5C}" destId="{7E8F3D55-80E5-4F13-9459-E39284D0328D}" srcOrd="2" destOrd="0" presId="urn:microsoft.com/office/officeart/2005/8/layout/process3"/>
    <dgm:cxn modelId="{75F70BDD-B786-48BB-B55E-50C374BDA08D}" type="presParOf" srcId="{5FAEC180-6FA0-4E38-9D1E-990ABDB6814F}" destId="{2185D18F-377B-4641-B87A-82A7FD17C65D}" srcOrd="1" destOrd="0" presId="urn:microsoft.com/office/officeart/2005/8/layout/process3"/>
    <dgm:cxn modelId="{F83B2738-4345-40B6-82E1-8D2C3884602C}" type="presParOf" srcId="{2185D18F-377B-4641-B87A-82A7FD17C65D}" destId="{4B650DD2-5F02-4AE9-9DDB-38B6153A658F}" srcOrd="0" destOrd="0" presId="urn:microsoft.com/office/officeart/2005/8/layout/process3"/>
    <dgm:cxn modelId="{352EE8DF-6899-419D-B3E1-4733561DBE03}" type="presParOf" srcId="{5FAEC180-6FA0-4E38-9D1E-990ABDB6814F}" destId="{BCD02D81-ECA2-42A2-8D2B-D2E6BEFAAAB7}" srcOrd="2" destOrd="0" presId="urn:microsoft.com/office/officeart/2005/8/layout/process3"/>
    <dgm:cxn modelId="{55D2A4BE-D566-4C42-B259-9F059F7C1B24}" type="presParOf" srcId="{BCD02D81-ECA2-42A2-8D2B-D2E6BEFAAAB7}" destId="{31B28512-56A3-4B3B-B913-EAB922DC1DE2}" srcOrd="0" destOrd="0" presId="urn:microsoft.com/office/officeart/2005/8/layout/process3"/>
    <dgm:cxn modelId="{832F1715-9726-4161-B43A-D903B76AAB90}" type="presParOf" srcId="{BCD02D81-ECA2-42A2-8D2B-D2E6BEFAAAB7}" destId="{F8B8FE14-F447-4037-A33B-4BEC5D6B5ABC}" srcOrd="1" destOrd="0" presId="urn:microsoft.com/office/officeart/2005/8/layout/process3"/>
    <dgm:cxn modelId="{970B2506-E5FC-404C-B862-62C817594EBB}" type="presParOf" srcId="{BCD02D81-ECA2-42A2-8D2B-D2E6BEFAAAB7}" destId="{0A9461B2-A9AF-4222-BDED-209BE156D35C}" srcOrd="2" destOrd="0" presId="urn:microsoft.com/office/officeart/2005/8/layout/process3"/>
    <dgm:cxn modelId="{B224F62E-DBBE-479C-9F5B-FA65E1C15EC4}" type="presParOf" srcId="{5FAEC180-6FA0-4E38-9D1E-990ABDB6814F}" destId="{A93231B8-5CB3-4218-9A37-CA9E35B45470}" srcOrd="3" destOrd="0" presId="urn:microsoft.com/office/officeart/2005/8/layout/process3"/>
    <dgm:cxn modelId="{52E25E01-E600-48F5-BB4F-F09D1655D05B}" type="presParOf" srcId="{A93231B8-5CB3-4218-9A37-CA9E35B45470}" destId="{E490260D-C430-4B1F-A65A-FD96299DBA22}" srcOrd="0" destOrd="0" presId="urn:microsoft.com/office/officeart/2005/8/layout/process3"/>
    <dgm:cxn modelId="{311568C8-FF52-48D9-A7DB-91DC2DADFD91}" type="presParOf" srcId="{5FAEC180-6FA0-4E38-9D1E-990ABDB6814F}" destId="{E5D422DD-3565-4886-BD6F-B54C46D7F5BD}" srcOrd="4" destOrd="0" presId="urn:microsoft.com/office/officeart/2005/8/layout/process3"/>
    <dgm:cxn modelId="{FEDE25E1-9CBB-4473-B027-59E2B92C55C9}" type="presParOf" srcId="{E5D422DD-3565-4886-BD6F-B54C46D7F5BD}" destId="{BF9E2F76-6B5D-43DB-A7F2-4A21C009BF40}" srcOrd="0" destOrd="0" presId="urn:microsoft.com/office/officeart/2005/8/layout/process3"/>
    <dgm:cxn modelId="{A2D3B0F7-8583-4E5D-A6F5-810AC9E582F5}" type="presParOf" srcId="{E5D422DD-3565-4886-BD6F-B54C46D7F5BD}" destId="{C399DA07-F433-446A-A511-7651E2D31800}" srcOrd="1" destOrd="0" presId="urn:microsoft.com/office/officeart/2005/8/layout/process3"/>
    <dgm:cxn modelId="{6EC7053D-9F06-4E65-9063-BC339F03CA14}" type="presParOf" srcId="{E5D422DD-3565-4886-BD6F-B54C46D7F5BD}" destId="{DCC3FCEA-0BC8-4D98-BFDA-E2DB9800EC74}"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Corporate planning and strategy</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5074504D-B054-44B7-AF1D-0C421DB29C8C}">
      <dgm:prSet phldrT="[Text]"/>
      <dgm:spPr/>
      <dgm:t>
        <a:bodyPr/>
        <a:lstStyle/>
        <a:p>
          <a:r>
            <a:rPr lang="en-US"/>
            <a:t>System planning</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ED8FDAFD-2942-4FC1-B20A-579740B7B1CE}">
      <dgm:prSet phldrT="[Text]"/>
      <dgm:spPr/>
      <dgm:t>
        <a:bodyPr/>
        <a:lstStyle/>
        <a:p>
          <a:r>
            <a:rPr lang="en-IN"/>
            <a:t>Assess and strengthen existing standard system planning procedures</a:t>
          </a:r>
          <a:endParaRPr lang="en-US"/>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CC2759FE-609D-41DB-95F8-C5AB467EF140}">
      <dgm:prSet phldrT="[Text]"/>
      <dgm:spPr/>
      <dgm:t>
        <a:bodyPr/>
        <a:lstStyle/>
        <a:p>
          <a:r>
            <a:rPr lang="en-US"/>
            <a:t>Preparation of comprehensive corporate plan involving all subsidiaries</a:t>
          </a:r>
        </a:p>
      </dgm:t>
    </dgm:pt>
    <dgm:pt modelId="{E081EBC6-2E55-4654-8CC2-74BD232D10F7}" type="parTrans" cxnId="{DE86E282-725A-40EE-A6F7-2E7D85BA16A3}">
      <dgm:prSet/>
      <dgm:spPr/>
      <dgm:t>
        <a:bodyPr/>
        <a:lstStyle/>
        <a:p>
          <a:endParaRPr lang="en-US"/>
        </a:p>
      </dgm:t>
    </dgm:pt>
    <dgm:pt modelId="{A6F3AB02-763B-4BAF-8B05-FB20B4527A12}" type="sibTrans" cxnId="{DE86E282-725A-40EE-A6F7-2E7D85BA16A3}">
      <dgm:prSet/>
      <dgm:spPr/>
      <dgm:t>
        <a:bodyPr/>
        <a:lstStyle/>
        <a:p>
          <a:endParaRPr lang="en-US"/>
        </a:p>
      </dgm:t>
    </dgm:pt>
    <dgm:pt modelId="{2785CB81-DF90-441E-B930-5FDBD68948DE}">
      <dgm:prSet phldrT="[Text]"/>
      <dgm:spPr/>
      <dgm:t>
        <a:bodyPr/>
        <a:lstStyle/>
        <a:p>
          <a:r>
            <a:rPr lang="en-US"/>
            <a:t>Periodic review and update of corporate plan</a:t>
          </a:r>
        </a:p>
      </dgm:t>
    </dgm:pt>
    <dgm:pt modelId="{16DD3372-4348-4918-9784-AD1915273F19}" type="parTrans" cxnId="{90D0CC4F-BC7D-405E-BAA6-7363C896B84D}">
      <dgm:prSet/>
      <dgm:spPr/>
      <dgm:t>
        <a:bodyPr/>
        <a:lstStyle/>
        <a:p>
          <a:endParaRPr lang="en-US"/>
        </a:p>
      </dgm:t>
    </dgm:pt>
    <dgm:pt modelId="{C07BCEFE-123E-4FEF-9D39-70A8E304FDCE}" type="sibTrans" cxnId="{90D0CC4F-BC7D-405E-BAA6-7363C896B84D}">
      <dgm:prSet/>
      <dgm:spPr/>
      <dgm:t>
        <a:bodyPr/>
        <a:lstStyle/>
        <a:p>
          <a:endParaRPr lang="en-US"/>
        </a:p>
      </dgm:t>
    </dgm:pt>
    <dgm:pt modelId="{55E3494E-4C00-4E41-AD11-4B6463D4BABF}">
      <dgm:prSet phldrT="[Text]"/>
      <dgm:spPr/>
      <dgm:t>
        <a:bodyPr/>
        <a:lstStyle/>
        <a:p>
          <a:r>
            <a:rPr lang="en-US" dirty="0"/>
            <a:t>Capacity building on best practices of system planning</a:t>
          </a:r>
        </a:p>
      </dgm:t>
    </dgm:pt>
    <dgm:pt modelId="{73EFA0F0-64C8-42CA-A726-7E138790550B}" type="parTrans" cxnId="{B78F746D-07CC-4DCF-9D21-4C8686E9BF2E}">
      <dgm:prSet/>
      <dgm:spPr/>
      <dgm:t>
        <a:bodyPr/>
        <a:lstStyle/>
        <a:p>
          <a:endParaRPr lang="en-US"/>
        </a:p>
      </dgm:t>
    </dgm:pt>
    <dgm:pt modelId="{D957ACED-20B9-4D71-A829-536B592A4D7F}" type="sibTrans" cxnId="{B78F746D-07CC-4DCF-9D21-4C8686E9BF2E}">
      <dgm:prSet/>
      <dgm:spPr/>
      <dgm:t>
        <a:bodyPr/>
        <a:lstStyle/>
        <a:p>
          <a:endParaRPr lang="en-US"/>
        </a:p>
      </dgm:t>
    </dgm:pt>
    <dgm:pt modelId="{7B463CCD-E544-483D-8087-B4C056411499}">
      <dgm:prSet phldrT="[Text]"/>
      <dgm:spPr/>
      <dgm:t>
        <a:bodyPr/>
        <a:lstStyle/>
        <a:p>
          <a:r>
            <a:rPr lang="en-US"/>
            <a:t>Preparation of framework / guiding procedure for coordination with transmission and distribution function for integrated planning and periodic review</a:t>
          </a:r>
        </a:p>
      </dgm:t>
    </dgm:pt>
    <dgm:pt modelId="{DE933332-B6C4-4DB8-8B86-5F65F184D23B}" type="parTrans" cxnId="{CE946CCA-7E7E-4D27-8FA4-75A97239A894}">
      <dgm:prSet/>
      <dgm:spPr/>
      <dgm:t>
        <a:bodyPr/>
        <a:lstStyle/>
        <a:p>
          <a:endParaRPr lang="en-US"/>
        </a:p>
      </dgm:t>
    </dgm:pt>
    <dgm:pt modelId="{D15EDE5D-6F25-487C-A1D7-6F99F39CB0DB}" type="sibTrans" cxnId="{CE946CCA-7E7E-4D27-8FA4-75A97239A894}">
      <dgm:prSet/>
      <dgm:spPr/>
      <dgm:t>
        <a:bodyPr/>
        <a:lstStyle/>
        <a:p>
          <a:endParaRPr lang="en-US"/>
        </a:p>
      </dgm:t>
    </dgm:pt>
    <dgm:pt modelId="{1B02E80C-07E5-429B-A454-FD23B58A4830}">
      <dgm:prSet phldrT="[Text]"/>
      <dgm:spPr/>
      <dgm:t>
        <a:bodyPr/>
        <a:lstStyle/>
        <a:p>
          <a:r>
            <a:rPr lang="en-US"/>
            <a:t>Integrated planning with transmission &amp; distribution coordination</a:t>
          </a:r>
        </a:p>
      </dgm:t>
    </dgm:pt>
    <dgm:pt modelId="{7C4AFD55-17F3-400C-9CC3-EDFED5FA8B97}" type="parTrans" cxnId="{860F1446-2E23-4FF8-8E26-A259BF0D527F}">
      <dgm:prSet/>
      <dgm:spPr/>
      <dgm:t>
        <a:bodyPr/>
        <a:lstStyle/>
        <a:p>
          <a:endParaRPr lang="en-US"/>
        </a:p>
      </dgm:t>
    </dgm:pt>
    <dgm:pt modelId="{88E415A2-73FD-4233-BAEE-3E2C57506F34}" type="sibTrans" cxnId="{860F1446-2E23-4FF8-8E26-A259BF0D527F}">
      <dgm:prSet/>
      <dgm:spPr/>
      <dgm:t>
        <a:bodyPr/>
        <a:lstStyle/>
        <a:p>
          <a:endParaRPr lang="en-US"/>
        </a:p>
      </dgm:t>
    </dgm:pt>
    <dgm:pt modelId="{19706005-2425-42C0-9C48-E07D75C87090}">
      <dgm:prSet phldrT="[Text]"/>
      <dgm:spPr/>
      <dgm:t>
        <a:bodyPr/>
        <a:lstStyle/>
        <a:p>
          <a:r>
            <a:rPr lang="en-US"/>
            <a:t>Capacity building for integrated planning</a:t>
          </a:r>
        </a:p>
      </dgm:t>
    </dgm:pt>
    <dgm:pt modelId="{EB6A5B09-DBFD-4B9B-AC4B-C8658A7A26BF}" type="parTrans" cxnId="{33AB9FF2-7825-41A3-87B3-DF26F604838A}">
      <dgm:prSet/>
      <dgm:spPr/>
      <dgm:t>
        <a:bodyPr/>
        <a:lstStyle/>
        <a:p>
          <a:endParaRPr lang="en-US"/>
        </a:p>
      </dgm:t>
    </dgm:pt>
    <dgm:pt modelId="{F422C06F-CC87-4B17-B715-DA684F5EEA34}" type="sibTrans" cxnId="{33AB9FF2-7825-41A3-87B3-DF26F604838A}">
      <dgm:prSet/>
      <dgm:spPr/>
      <dgm:t>
        <a:bodyPr/>
        <a:lstStyle/>
        <a:p>
          <a:endParaRPr lang="en-US"/>
        </a:p>
      </dgm:t>
    </dgm:pt>
    <dgm:pt modelId="{0481A25F-53CC-40F4-B5EB-D3ACD18A892D}">
      <dgm:prSet phldrT="[Text]"/>
      <dgm:spPr/>
      <dgm:t>
        <a:bodyPr/>
        <a:lstStyle/>
        <a:p>
          <a:r>
            <a:rPr lang="en-US"/>
            <a:t>Formulation of strategy for implementation of IT-based specilaized application for system planning</a:t>
          </a:r>
        </a:p>
      </dgm:t>
    </dgm:pt>
    <dgm:pt modelId="{CDA8B14C-7128-49A0-8892-2E0BC4AAC2F0}" type="parTrans" cxnId="{289DABC9-DC13-430C-80E2-DA0BC53404FA}">
      <dgm:prSet/>
      <dgm:spPr/>
      <dgm:t>
        <a:bodyPr/>
        <a:lstStyle/>
        <a:p>
          <a:endParaRPr lang="en-US"/>
        </a:p>
      </dgm:t>
    </dgm:pt>
    <dgm:pt modelId="{0F07D112-E057-4305-BC35-F4460781B7CB}" type="sibTrans" cxnId="{289DABC9-DC13-430C-80E2-DA0BC53404FA}">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F90F3140-465D-4BED-B178-B54C23A096DA}" type="pres">
      <dgm:prSet presAssocID="{836E2BBF-AE6F-44B9-AD26-342382726746}" presName="sibTrans" presStyleLbl="sibTrans2D1" presStyleIdx="1" presStyleCnt="2"/>
      <dgm:spPr/>
      <dgm:t>
        <a:bodyPr/>
        <a:lstStyle/>
        <a:p>
          <a:endParaRPr lang="en-US"/>
        </a:p>
      </dgm:t>
    </dgm:pt>
    <dgm:pt modelId="{B9B2D01F-6464-41A5-A614-42E97D68B6FE}" type="pres">
      <dgm:prSet presAssocID="{836E2BBF-AE6F-44B9-AD26-342382726746}" presName="connTx" presStyleLbl="sibTrans2D1" presStyleIdx="1" presStyleCnt="2"/>
      <dgm:spPr/>
      <dgm:t>
        <a:bodyPr/>
        <a:lstStyle/>
        <a:p>
          <a:endParaRPr lang="en-US"/>
        </a:p>
      </dgm:t>
    </dgm:pt>
    <dgm:pt modelId="{CED8C046-A2E8-4376-A83F-4CF6F5911A45}" type="pres">
      <dgm:prSet presAssocID="{1B02E80C-07E5-429B-A454-FD23B58A4830}" presName="composite" presStyleCnt="0"/>
      <dgm:spPr/>
    </dgm:pt>
    <dgm:pt modelId="{37E8AFBE-CD1B-4EB9-84AD-9C4B30AD43D3}" type="pres">
      <dgm:prSet presAssocID="{1B02E80C-07E5-429B-A454-FD23B58A4830}" presName="parTx" presStyleLbl="node1" presStyleIdx="1" presStyleCnt="3">
        <dgm:presLayoutVars>
          <dgm:chMax val="0"/>
          <dgm:chPref val="0"/>
          <dgm:bulletEnabled val="1"/>
        </dgm:presLayoutVars>
      </dgm:prSet>
      <dgm:spPr/>
      <dgm:t>
        <a:bodyPr/>
        <a:lstStyle/>
        <a:p>
          <a:endParaRPr lang="en-US"/>
        </a:p>
      </dgm:t>
    </dgm:pt>
    <dgm:pt modelId="{71E3A552-41A1-405E-BA02-80509A8D4326}" type="pres">
      <dgm:prSet presAssocID="{1B02E80C-07E5-429B-A454-FD23B58A4830}" presName="parSh" presStyleLbl="node1" presStyleIdx="2" presStyleCnt="3"/>
      <dgm:spPr/>
      <dgm:t>
        <a:bodyPr/>
        <a:lstStyle/>
        <a:p>
          <a:endParaRPr lang="en-US"/>
        </a:p>
      </dgm:t>
    </dgm:pt>
    <dgm:pt modelId="{608AFB04-E3A4-4C30-9DF0-A667F802FB1E}" type="pres">
      <dgm:prSet presAssocID="{1B02E80C-07E5-429B-A454-FD23B58A4830}" presName="desTx" presStyleLbl="fgAcc1" presStyleIdx="2" presStyleCnt="3">
        <dgm:presLayoutVars>
          <dgm:bulletEnabled val="1"/>
        </dgm:presLayoutVars>
      </dgm:prSet>
      <dgm:spPr/>
      <dgm:t>
        <a:bodyPr/>
        <a:lstStyle/>
        <a:p>
          <a:endParaRPr lang="en-US"/>
        </a:p>
      </dgm:t>
    </dgm:pt>
  </dgm:ptLst>
  <dgm:cxnLst>
    <dgm:cxn modelId="{36785797-F046-4901-B5CE-C6F4E9297090}" type="presOf" srcId="{32EC2ED1-5A41-47F2-A0A5-89A6987013DA}" destId="{4B650DD2-5F02-4AE9-9DDB-38B6153A658F}" srcOrd="1" destOrd="0" presId="urn:microsoft.com/office/officeart/2005/8/layout/process3"/>
    <dgm:cxn modelId="{288D6556-D78D-42E2-834B-00062A324825}" srcId="{72C595F7-F9FE-4C3C-B546-D393C43DA1D5}" destId="{5074504D-B054-44B7-AF1D-0C421DB29C8C}" srcOrd="1" destOrd="0" parTransId="{38550204-A29D-4D29-89AB-206E975EF185}" sibTransId="{836E2BBF-AE6F-44B9-AD26-342382726746}"/>
    <dgm:cxn modelId="{BB03ABB7-800A-4143-88CA-FDF6C1E67ECF}" type="presOf" srcId="{03454651-1876-463C-891F-DBFB67BE2D7D}" destId="{3A83BC6F-B725-4345-B234-B50F8B6B5DAE}" srcOrd="1" destOrd="0" presId="urn:microsoft.com/office/officeart/2005/8/layout/process3"/>
    <dgm:cxn modelId="{104D7AC9-C2A8-4B4F-B4A5-C5F9C3EA5596}" type="presOf" srcId="{5074504D-B054-44B7-AF1D-0C421DB29C8C}" destId="{BF9E2F76-6B5D-43DB-A7F2-4A21C009BF40}" srcOrd="0" destOrd="0" presId="urn:microsoft.com/office/officeart/2005/8/layout/process3"/>
    <dgm:cxn modelId="{90D0CC4F-BC7D-405E-BAA6-7363C896B84D}" srcId="{03454651-1876-463C-891F-DBFB67BE2D7D}" destId="{2785CB81-DF90-441E-B930-5FDBD68948DE}" srcOrd="1" destOrd="0" parTransId="{16DD3372-4348-4918-9784-AD1915273F19}" sibTransId="{C07BCEFE-123E-4FEF-9D39-70A8E304FDCE}"/>
    <dgm:cxn modelId="{0FF700F5-4D9F-4076-AFA4-6B9247191ECE}" type="presOf" srcId="{55E3494E-4C00-4E41-AD11-4B6463D4BABF}" destId="{DCC3FCEA-0BC8-4D98-BFDA-E2DB9800EC74}" srcOrd="0" destOrd="1" presId="urn:microsoft.com/office/officeart/2005/8/layout/process3"/>
    <dgm:cxn modelId="{9C649A58-F6C5-4E31-884C-0B2152E279D4}" type="presOf" srcId="{19706005-2425-42C0-9C48-E07D75C87090}" destId="{608AFB04-E3A4-4C30-9DF0-A667F802FB1E}" srcOrd="0" destOrd="1" presId="urn:microsoft.com/office/officeart/2005/8/layout/process3"/>
    <dgm:cxn modelId="{860F1446-2E23-4FF8-8E26-A259BF0D527F}" srcId="{72C595F7-F9FE-4C3C-B546-D393C43DA1D5}" destId="{1B02E80C-07E5-429B-A454-FD23B58A4830}" srcOrd="2" destOrd="0" parTransId="{7C4AFD55-17F3-400C-9CC3-EDFED5FA8B97}" sibTransId="{88E415A2-73FD-4233-BAEE-3E2C57506F34}"/>
    <dgm:cxn modelId="{00F1E0AC-39C1-4199-9D63-54136C3775EB}" type="presOf" srcId="{0481A25F-53CC-40F4-B5EB-D3ACD18A892D}" destId="{DCC3FCEA-0BC8-4D98-BFDA-E2DB9800EC74}" srcOrd="0" destOrd="2" presId="urn:microsoft.com/office/officeart/2005/8/layout/process3"/>
    <dgm:cxn modelId="{637C373C-11DC-487F-A344-B081CBAAA4FE}" type="presOf" srcId="{32EC2ED1-5A41-47F2-A0A5-89A6987013DA}" destId="{2185D18F-377B-4641-B87A-82A7FD17C65D}" srcOrd="0" destOrd="0" presId="urn:microsoft.com/office/officeart/2005/8/layout/process3"/>
    <dgm:cxn modelId="{B78F746D-07CC-4DCF-9D21-4C8686E9BF2E}" srcId="{5074504D-B054-44B7-AF1D-0C421DB29C8C}" destId="{55E3494E-4C00-4E41-AD11-4B6463D4BABF}" srcOrd="1" destOrd="0" parTransId="{73EFA0F0-64C8-42CA-A726-7E138790550B}" sibTransId="{D957ACED-20B9-4D71-A829-536B592A4D7F}"/>
    <dgm:cxn modelId="{A6FE66E5-EAED-442F-8416-926CE85AD799}" type="presOf" srcId="{7B463CCD-E544-483D-8087-B4C056411499}" destId="{608AFB04-E3A4-4C30-9DF0-A667F802FB1E}" srcOrd="0" destOrd="0" presId="urn:microsoft.com/office/officeart/2005/8/layout/process3"/>
    <dgm:cxn modelId="{D5C7525E-1251-4DB7-BD3B-24255648D898}" type="presOf" srcId="{72C595F7-F9FE-4C3C-B546-D393C43DA1D5}" destId="{5FAEC180-6FA0-4E38-9D1E-990ABDB6814F}" srcOrd="0" destOrd="0" presId="urn:microsoft.com/office/officeart/2005/8/layout/process3"/>
    <dgm:cxn modelId="{9C1759E4-9BA8-4B2D-88B1-CBB8F60299EF}" srcId="{5074504D-B054-44B7-AF1D-0C421DB29C8C}" destId="{ED8FDAFD-2942-4FC1-B20A-579740B7B1CE}" srcOrd="0" destOrd="0" parTransId="{1A26A442-51E5-4AD6-B06A-7CEC8DC3C7BD}" sibTransId="{7D460E7C-417F-4474-9CEA-2FABDE3004EB}"/>
    <dgm:cxn modelId="{DBEFC36A-8464-417B-B291-983A196808B3}" type="presOf" srcId="{836E2BBF-AE6F-44B9-AD26-342382726746}" destId="{F90F3140-465D-4BED-B178-B54C23A096DA}" srcOrd="0" destOrd="0" presId="urn:microsoft.com/office/officeart/2005/8/layout/process3"/>
    <dgm:cxn modelId="{33AB9FF2-7825-41A3-87B3-DF26F604838A}" srcId="{1B02E80C-07E5-429B-A454-FD23B58A4830}" destId="{19706005-2425-42C0-9C48-E07D75C87090}" srcOrd="1" destOrd="0" parTransId="{EB6A5B09-DBFD-4B9B-AC4B-C8658A7A26BF}" sibTransId="{F422C06F-CC87-4B17-B715-DA684F5EEA34}"/>
    <dgm:cxn modelId="{54DECBC0-F601-4596-A661-38C1DFF938ED}" type="presOf" srcId="{ED8FDAFD-2942-4FC1-B20A-579740B7B1CE}" destId="{DCC3FCEA-0BC8-4D98-BFDA-E2DB9800EC74}" srcOrd="0" destOrd="0" presId="urn:microsoft.com/office/officeart/2005/8/layout/process3"/>
    <dgm:cxn modelId="{79A21367-7FC5-43CD-9796-B49DA890B0E2}" type="presOf" srcId="{2785CB81-DF90-441E-B930-5FDBD68948DE}" destId="{7E8F3D55-80E5-4F13-9459-E39284D0328D}" srcOrd="0" destOrd="1" presId="urn:microsoft.com/office/officeart/2005/8/layout/process3"/>
    <dgm:cxn modelId="{8F8531B6-8A5E-4325-90DD-5F5370C4C1AA}" type="presOf" srcId="{03454651-1876-463C-891F-DBFB67BE2D7D}" destId="{3D847FC2-380F-49AF-936C-1553F8F26F3C}" srcOrd="0" destOrd="0" presId="urn:microsoft.com/office/officeart/2005/8/layout/process3"/>
    <dgm:cxn modelId="{289DABC9-DC13-430C-80E2-DA0BC53404FA}" srcId="{5074504D-B054-44B7-AF1D-0C421DB29C8C}" destId="{0481A25F-53CC-40F4-B5EB-D3ACD18A892D}" srcOrd="2" destOrd="0" parTransId="{CDA8B14C-7128-49A0-8892-2E0BC4AAC2F0}" sibTransId="{0F07D112-E057-4305-BC35-F4460781B7CB}"/>
    <dgm:cxn modelId="{453CEB6A-F61A-4C89-9592-9EB5104FC954}" srcId="{72C595F7-F9FE-4C3C-B546-D393C43DA1D5}" destId="{03454651-1876-463C-891F-DBFB67BE2D7D}" srcOrd="0" destOrd="0" parTransId="{34ADBB6D-89A4-4913-83ED-5D871B73AD66}" sibTransId="{32EC2ED1-5A41-47F2-A0A5-89A6987013DA}"/>
    <dgm:cxn modelId="{DE86E282-725A-40EE-A6F7-2E7D85BA16A3}" srcId="{03454651-1876-463C-891F-DBFB67BE2D7D}" destId="{CC2759FE-609D-41DB-95F8-C5AB467EF140}" srcOrd="0" destOrd="0" parTransId="{E081EBC6-2E55-4654-8CC2-74BD232D10F7}" sibTransId="{A6F3AB02-763B-4BAF-8B05-FB20B4527A12}"/>
    <dgm:cxn modelId="{848CEDB0-5C0C-42B8-BC0B-BA9D4ECFBB0B}" type="presOf" srcId="{1B02E80C-07E5-429B-A454-FD23B58A4830}" destId="{37E8AFBE-CD1B-4EB9-84AD-9C4B30AD43D3}" srcOrd="0" destOrd="0" presId="urn:microsoft.com/office/officeart/2005/8/layout/process3"/>
    <dgm:cxn modelId="{C0832546-9004-4DA3-B65B-B0D5010488B3}" type="presOf" srcId="{836E2BBF-AE6F-44B9-AD26-342382726746}" destId="{B9B2D01F-6464-41A5-A614-42E97D68B6FE}" srcOrd="1" destOrd="0" presId="urn:microsoft.com/office/officeart/2005/8/layout/process3"/>
    <dgm:cxn modelId="{CE946CCA-7E7E-4D27-8FA4-75A97239A894}" srcId="{1B02E80C-07E5-429B-A454-FD23B58A4830}" destId="{7B463CCD-E544-483D-8087-B4C056411499}" srcOrd="0" destOrd="0" parTransId="{DE933332-B6C4-4DB8-8B86-5F65F184D23B}" sibTransId="{D15EDE5D-6F25-487C-A1D7-6F99F39CB0DB}"/>
    <dgm:cxn modelId="{B184F55A-81D9-4A44-B1CE-1EC04C437186}" type="presOf" srcId="{1B02E80C-07E5-429B-A454-FD23B58A4830}" destId="{71E3A552-41A1-405E-BA02-80509A8D4326}" srcOrd="1" destOrd="0" presId="urn:microsoft.com/office/officeart/2005/8/layout/process3"/>
    <dgm:cxn modelId="{65828CD7-0F9D-439D-BA6E-FE39AC83B71C}" type="presOf" srcId="{5074504D-B054-44B7-AF1D-0C421DB29C8C}" destId="{C399DA07-F433-446A-A511-7651E2D31800}" srcOrd="1" destOrd="0" presId="urn:microsoft.com/office/officeart/2005/8/layout/process3"/>
    <dgm:cxn modelId="{3BFE8CE8-7405-4C93-BE67-0410FF70A4DD}" type="presOf" srcId="{CC2759FE-609D-41DB-95F8-C5AB467EF140}" destId="{7E8F3D55-80E5-4F13-9459-E39284D0328D}" srcOrd="0" destOrd="0" presId="urn:microsoft.com/office/officeart/2005/8/layout/process3"/>
    <dgm:cxn modelId="{89B0C324-47BB-4335-8AA3-4E8EEEC3270E}" type="presParOf" srcId="{5FAEC180-6FA0-4E38-9D1E-990ABDB6814F}" destId="{1ED04EDF-BDDC-4FBE-ADFE-4ECCA1ABCE5C}" srcOrd="0" destOrd="0" presId="urn:microsoft.com/office/officeart/2005/8/layout/process3"/>
    <dgm:cxn modelId="{85C756DC-BD01-4FBC-BEF0-6E63AC7784C8}" type="presParOf" srcId="{1ED04EDF-BDDC-4FBE-ADFE-4ECCA1ABCE5C}" destId="{3D847FC2-380F-49AF-936C-1553F8F26F3C}" srcOrd="0" destOrd="0" presId="urn:microsoft.com/office/officeart/2005/8/layout/process3"/>
    <dgm:cxn modelId="{647B31D7-20E0-421E-ABEC-07EFA6C233B9}" type="presParOf" srcId="{1ED04EDF-BDDC-4FBE-ADFE-4ECCA1ABCE5C}" destId="{3A83BC6F-B725-4345-B234-B50F8B6B5DAE}" srcOrd="1" destOrd="0" presId="urn:microsoft.com/office/officeart/2005/8/layout/process3"/>
    <dgm:cxn modelId="{E4EC5C59-2ACB-4774-8D7A-0077CE71A2FA}" type="presParOf" srcId="{1ED04EDF-BDDC-4FBE-ADFE-4ECCA1ABCE5C}" destId="{7E8F3D55-80E5-4F13-9459-E39284D0328D}" srcOrd="2" destOrd="0" presId="urn:microsoft.com/office/officeart/2005/8/layout/process3"/>
    <dgm:cxn modelId="{6FF6DDEE-B2E2-4ED4-8B29-B85AC133AE39}" type="presParOf" srcId="{5FAEC180-6FA0-4E38-9D1E-990ABDB6814F}" destId="{2185D18F-377B-4641-B87A-82A7FD17C65D}" srcOrd="1" destOrd="0" presId="urn:microsoft.com/office/officeart/2005/8/layout/process3"/>
    <dgm:cxn modelId="{67DE14DA-D4E3-4FB2-A695-79BC2F03E6C1}" type="presParOf" srcId="{2185D18F-377B-4641-B87A-82A7FD17C65D}" destId="{4B650DD2-5F02-4AE9-9DDB-38B6153A658F}" srcOrd="0" destOrd="0" presId="urn:microsoft.com/office/officeart/2005/8/layout/process3"/>
    <dgm:cxn modelId="{3562EFB7-1925-45FE-9397-F2856E14F130}" type="presParOf" srcId="{5FAEC180-6FA0-4E38-9D1E-990ABDB6814F}" destId="{E5D422DD-3565-4886-BD6F-B54C46D7F5BD}" srcOrd="2" destOrd="0" presId="urn:microsoft.com/office/officeart/2005/8/layout/process3"/>
    <dgm:cxn modelId="{2C35EAD2-913A-4ACA-AEF9-736BD9B73CD9}" type="presParOf" srcId="{E5D422DD-3565-4886-BD6F-B54C46D7F5BD}" destId="{BF9E2F76-6B5D-43DB-A7F2-4A21C009BF40}" srcOrd="0" destOrd="0" presId="urn:microsoft.com/office/officeart/2005/8/layout/process3"/>
    <dgm:cxn modelId="{74F23D74-BC2F-435B-9011-D0441D755D47}" type="presParOf" srcId="{E5D422DD-3565-4886-BD6F-B54C46D7F5BD}" destId="{C399DA07-F433-446A-A511-7651E2D31800}" srcOrd="1" destOrd="0" presId="urn:microsoft.com/office/officeart/2005/8/layout/process3"/>
    <dgm:cxn modelId="{05FA720E-3A33-4F7D-BCEB-8C83304EB82B}" type="presParOf" srcId="{E5D422DD-3565-4886-BD6F-B54C46D7F5BD}" destId="{DCC3FCEA-0BC8-4D98-BFDA-E2DB9800EC74}" srcOrd="2" destOrd="0" presId="urn:microsoft.com/office/officeart/2005/8/layout/process3"/>
    <dgm:cxn modelId="{1ACF7CC8-A35E-4F32-89DB-36019570B533}" type="presParOf" srcId="{5FAEC180-6FA0-4E38-9D1E-990ABDB6814F}" destId="{F90F3140-465D-4BED-B178-B54C23A096DA}" srcOrd="3" destOrd="0" presId="urn:microsoft.com/office/officeart/2005/8/layout/process3"/>
    <dgm:cxn modelId="{F233C0C5-AEBC-41F3-932B-83787367A11B}" type="presParOf" srcId="{F90F3140-465D-4BED-B178-B54C23A096DA}" destId="{B9B2D01F-6464-41A5-A614-42E97D68B6FE}" srcOrd="0" destOrd="0" presId="urn:microsoft.com/office/officeart/2005/8/layout/process3"/>
    <dgm:cxn modelId="{547C9674-F526-48AD-BA95-C8E80E2E5499}" type="presParOf" srcId="{5FAEC180-6FA0-4E38-9D1E-990ABDB6814F}" destId="{CED8C046-A2E8-4376-A83F-4CF6F5911A45}" srcOrd="4" destOrd="0" presId="urn:microsoft.com/office/officeart/2005/8/layout/process3"/>
    <dgm:cxn modelId="{97E4A79A-6B2D-4C0D-9625-6F3037A5E8C8}" type="presParOf" srcId="{CED8C046-A2E8-4376-A83F-4CF6F5911A45}" destId="{37E8AFBE-CD1B-4EB9-84AD-9C4B30AD43D3}" srcOrd="0" destOrd="0" presId="urn:microsoft.com/office/officeart/2005/8/layout/process3"/>
    <dgm:cxn modelId="{10B9A511-77F3-4C6C-AC1C-39E86F939B45}" type="presParOf" srcId="{CED8C046-A2E8-4376-A83F-4CF6F5911A45}" destId="{71E3A552-41A1-405E-BA02-80509A8D4326}" srcOrd="1" destOrd="0" presId="urn:microsoft.com/office/officeart/2005/8/layout/process3"/>
    <dgm:cxn modelId="{409B4ACF-07A1-4E84-9E85-568589CE823C}" type="presParOf" srcId="{CED8C046-A2E8-4376-A83F-4CF6F5911A45}" destId="{608AFB04-E3A4-4C30-9DF0-A667F802FB1E}"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Project conception</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5074504D-B054-44B7-AF1D-0C421DB29C8C}">
      <dgm:prSet phldrT="[Text]"/>
      <dgm:spPr/>
      <dgm:t>
        <a:bodyPr/>
        <a:lstStyle/>
        <a:p>
          <a:r>
            <a:rPr lang="en-US"/>
            <a:t>Project planning</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ED8FDAFD-2942-4FC1-B20A-579740B7B1CE}">
      <dgm:prSet phldrT="[Text]"/>
      <dgm:spPr/>
      <dgm:t>
        <a:bodyPr/>
        <a:lstStyle/>
        <a:p>
          <a:r>
            <a:rPr lang="en-IN" dirty="0"/>
            <a:t>Assess and strengthen existing standard project planning procedures</a:t>
          </a:r>
          <a:endParaRPr lang="en-US" dirty="0"/>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1932108E-0449-4724-A6C8-759EC49EC232}">
      <dgm:prSet/>
      <dgm:spPr/>
      <dgm:t>
        <a:bodyPr/>
        <a:lstStyle/>
        <a:p>
          <a:r>
            <a:rPr lang="en-IN"/>
            <a:t>Strengthen existing frameworks for evaluation of identified project schemes based on cost ~ benefit analysis and strategic importance for business</a:t>
          </a:r>
        </a:p>
      </dgm:t>
    </dgm:pt>
    <dgm:pt modelId="{34976234-F6E8-435D-B162-B8EBDE56CC21}" type="parTrans" cxnId="{1C0D8D7C-A763-44B9-88BE-92E0A28B227F}">
      <dgm:prSet/>
      <dgm:spPr/>
      <dgm:t>
        <a:bodyPr/>
        <a:lstStyle/>
        <a:p>
          <a:endParaRPr lang="en-US"/>
        </a:p>
      </dgm:t>
    </dgm:pt>
    <dgm:pt modelId="{7438A663-1468-4BB9-AA48-39F30C08407D}" type="sibTrans" cxnId="{1C0D8D7C-A763-44B9-88BE-92E0A28B227F}">
      <dgm:prSet/>
      <dgm:spPr/>
      <dgm:t>
        <a:bodyPr/>
        <a:lstStyle/>
        <a:p>
          <a:endParaRPr lang="en-US"/>
        </a:p>
      </dgm:t>
    </dgm:pt>
    <dgm:pt modelId="{883982F4-2398-4395-BFC2-FC447BD58C45}">
      <dgm:prSet/>
      <dgm:spPr/>
      <dgm:t>
        <a:bodyPr/>
        <a:lstStyle/>
        <a:p>
          <a:r>
            <a:rPr lang="en-IN"/>
            <a:t>Create a database for the identified and evaluated project schemes for future reference </a:t>
          </a:r>
        </a:p>
      </dgm:t>
    </dgm:pt>
    <dgm:pt modelId="{0F0201ED-E25D-4667-ABC5-938C329B7AD5}" type="parTrans" cxnId="{B66AA63B-0D1E-4982-8D1E-964AE12E07F6}">
      <dgm:prSet/>
      <dgm:spPr/>
      <dgm:t>
        <a:bodyPr/>
        <a:lstStyle/>
        <a:p>
          <a:endParaRPr lang="en-US"/>
        </a:p>
      </dgm:t>
    </dgm:pt>
    <dgm:pt modelId="{EE93DAD6-C5B5-4174-8CE7-71AE26C031E5}" type="sibTrans" cxnId="{B66AA63B-0D1E-4982-8D1E-964AE12E07F6}">
      <dgm:prSet/>
      <dgm:spPr/>
      <dgm:t>
        <a:bodyPr/>
        <a:lstStyle/>
        <a:p>
          <a:endParaRPr lang="en-US"/>
        </a:p>
      </dgm:t>
    </dgm:pt>
    <dgm:pt modelId="{B5133A7E-059C-44E7-8902-A1BEE913092B}">
      <dgm:prSet/>
      <dgm:spPr/>
      <dgm:t>
        <a:bodyPr/>
        <a:lstStyle/>
        <a:p>
          <a:r>
            <a:rPr lang="en-IN"/>
            <a:t>Create framework to collect baseline information </a:t>
          </a:r>
        </a:p>
      </dgm:t>
    </dgm:pt>
    <dgm:pt modelId="{6E8C6033-0CAC-4137-A852-392F1B8CBBD2}" type="parTrans" cxnId="{692BE144-EE33-4640-AF29-F855E0811CFE}">
      <dgm:prSet/>
      <dgm:spPr/>
      <dgm:t>
        <a:bodyPr/>
        <a:lstStyle/>
        <a:p>
          <a:endParaRPr lang="en-US"/>
        </a:p>
      </dgm:t>
    </dgm:pt>
    <dgm:pt modelId="{02500619-7554-4E0A-850F-0BDBB7E68E27}" type="sibTrans" cxnId="{692BE144-EE33-4640-AF29-F855E0811CFE}">
      <dgm:prSet/>
      <dgm:spPr/>
      <dgm:t>
        <a:bodyPr/>
        <a:lstStyle/>
        <a:p>
          <a:endParaRPr lang="en-US"/>
        </a:p>
      </dgm:t>
    </dgm:pt>
    <dgm:pt modelId="{BC8DE859-9A4D-49C8-A4C2-BEDA4E738B81}">
      <dgm:prSet phldrT="[Text]"/>
      <dgm:spPr/>
      <dgm:t>
        <a:bodyPr/>
        <a:lstStyle/>
        <a:p>
          <a:r>
            <a:rPr lang="en-IN"/>
            <a:t>Assess and strengthen existing project monitoring procedures &amp; institutional framework</a:t>
          </a:r>
          <a:endParaRPr lang="en-US"/>
        </a:p>
      </dgm:t>
    </dgm:pt>
    <dgm:pt modelId="{3BCC64F5-25D9-42CB-B767-5A1E127F210F}" type="parTrans" cxnId="{A75D34A7-B570-4D4A-999A-91FE21AF7170}">
      <dgm:prSet/>
      <dgm:spPr/>
      <dgm:t>
        <a:bodyPr/>
        <a:lstStyle/>
        <a:p>
          <a:endParaRPr lang="en-US"/>
        </a:p>
      </dgm:t>
    </dgm:pt>
    <dgm:pt modelId="{19A2AF29-6FA3-4EEF-B485-FB8298E74D2E}" type="sibTrans" cxnId="{A75D34A7-B570-4D4A-999A-91FE21AF7170}">
      <dgm:prSet/>
      <dgm:spPr/>
      <dgm:t>
        <a:bodyPr/>
        <a:lstStyle/>
        <a:p>
          <a:endParaRPr lang="en-US"/>
        </a:p>
      </dgm:t>
    </dgm:pt>
    <dgm:pt modelId="{960596DD-7C7A-47B8-98AF-52DD4BEF9344}">
      <dgm:prSet phldrT="[Text]"/>
      <dgm:spPr/>
      <dgm:t>
        <a:bodyPr/>
        <a:lstStyle/>
        <a:p>
          <a:r>
            <a:rPr lang="en-US"/>
            <a:t>Project monitoring</a:t>
          </a:r>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FBF519CE-E444-4D63-B9CF-BFD60A91883D}">
      <dgm:prSet/>
      <dgm:spPr/>
      <dgm:t>
        <a:bodyPr/>
        <a:lstStyle/>
        <a:p>
          <a:r>
            <a:rPr lang="en-IN"/>
            <a:t>Strengthen existing institutional framework for project planning</a:t>
          </a:r>
        </a:p>
      </dgm:t>
    </dgm:pt>
    <dgm:pt modelId="{B21DF3CA-74B4-4560-A3C0-393589484062}" type="parTrans" cxnId="{E60CE2F2-B3C8-4A77-8F10-2B8B2B508621}">
      <dgm:prSet/>
      <dgm:spPr/>
      <dgm:t>
        <a:bodyPr/>
        <a:lstStyle/>
        <a:p>
          <a:endParaRPr lang="en-US"/>
        </a:p>
      </dgm:t>
    </dgm:pt>
    <dgm:pt modelId="{87577504-2C7F-4556-BBD6-05E60157719F}" type="sibTrans" cxnId="{E60CE2F2-B3C8-4A77-8F10-2B8B2B508621}">
      <dgm:prSet/>
      <dgm:spPr/>
      <dgm:t>
        <a:bodyPr/>
        <a:lstStyle/>
        <a:p>
          <a:endParaRPr lang="en-US"/>
        </a:p>
      </dgm:t>
    </dgm:pt>
    <dgm:pt modelId="{5E0BE204-B877-4470-ACD5-3D3C109DECF9}">
      <dgm:prSet/>
      <dgm:spPr/>
      <dgm:t>
        <a:bodyPr/>
        <a:lstStyle/>
        <a:p>
          <a:r>
            <a:rPr lang="en-IN"/>
            <a:t>Capacity building on standard project planning software </a:t>
          </a:r>
        </a:p>
      </dgm:t>
    </dgm:pt>
    <dgm:pt modelId="{6CF8E18A-A80E-482A-85CF-C9E885051CC8}" type="parTrans" cxnId="{1D25AD40-60C5-4ED0-AA99-E6245EE32626}">
      <dgm:prSet/>
      <dgm:spPr/>
      <dgm:t>
        <a:bodyPr/>
        <a:lstStyle/>
        <a:p>
          <a:endParaRPr lang="en-US"/>
        </a:p>
      </dgm:t>
    </dgm:pt>
    <dgm:pt modelId="{188EA845-6FC5-4ED2-98AB-9B927A7F8EB4}" type="sibTrans" cxnId="{1D25AD40-60C5-4ED0-AA99-E6245EE32626}">
      <dgm:prSet/>
      <dgm:spPr/>
      <dgm:t>
        <a:bodyPr/>
        <a:lstStyle/>
        <a:p>
          <a:endParaRPr lang="en-US"/>
        </a:p>
      </dgm:t>
    </dgm:pt>
    <dgm:pt modelId="{9692D2A1-7C17-4F1B-9BA3-A8425E2F9BBE}">
      <dgm:prSet/>
      <dgm:spPr/>
      <dgm:t>
        <a:bodyPr/>
        <a:lstStyle/>
        <a:p>
          <a:r>
            <a:rPr lang="en-IN"/>
            <a:t>Capacity building on standard project monitoring software </a:t>
          </a:r>
        </a:p>
      </dgm:t>
    </dgm:pt>
    <dgm:pt modelId="{5AB44C9A-C63A-493C-B301-D02AB1B7C0A2}" type="parTrans" cxnId="{857D635D-7577-4D78-BDF8-C0D9E2C95BA7}">
      <dgm:prSet/>
      <dgm:spPr/>
      <dgm:t>
        <a:bodyPr/>
        <a:lstStyle/>
        <a:p>
          <a:endParaRPr lang="en-US"/>
        </a:p>
      </dgm:t>
    </dgm:pt>
    <dgm:pt modelId="{3CEF1148-58BB-4B2C-B06A-507B08D9186A}" type="sibTrans" cxnId="{857D635D-7577-4D78-BDF8-C0D9E2C95BA7}">
      <dgm:prSet/>
      <dgm:spPr/>
      <dgm:t>
        <a:bodyPr/>
        <a:lstStyle/>
        <a:p>
          <a:endParaRPr lang="en-US"/>
        </a:p>
      </dgm:t>
    </dgm:pt>
    <dgm:pt modelId="{9E2E1DC6-4FFD-4E8F-B066-B89B491A08D9}">
      <dgm:prSet/>
      <dgm:spPr/>
      <dgm:t>
        <a:bodyPr/>
        <a:lstStyle/>
        <a:p>
          <a:r>
            <a:rPr lang="en-IN"/>
            <a:t>Assess and strengthen existing procedures for post implementation monitoring of projected benefits</a:t>
          </a:r>
        </a:p>
      </dgm:t>
    </dgm:pt>
    <dgm:pt modelId="{963941BD-2726-4734-B193-F3F3D241E000}" type="parTrans" cxnId="{412DD18C-BDFC-4682-B8D3-F6969FAC9478}">
      <dgm:prSet/>
      <dgm:spPr/>
      <dgm:t>
        <a:bodyPr/>
        <a:lstStyle/>
        <a:p>
          <a:endParaRPr lang="en-US"/>
        </a:p>
      </dgm:t>
    </dgm:pt>
    <dgm:pt modelId="{246FACE4-4E4D-49A1-BED9-3C162E6D4279}" type="sibTrans" cxnId="{412DD18C-BDFC-4682-B8D3-F6969FAC9478}">
      <dgm:prSet/>
      <dgm:spPr/>
      <dgm:t>
        <a:bodyPr/>
        <a:lstStyle/>
        <a:p>
          <a:endParaRPr lang="en-US"/>
        </a:p>
      </dgm:t>
    </dgm:pt>
    <dgm:pt modelId="{6877D099-0FFE-4E07-941D-028B19085C6D}">
      <dgm:prSet/>
      <dgm:spPr/>
      <dgm:t>
        <a:bodyPr/>
        <a:lstStyle/>
        <a:p>
          <a:r>
            <a:rPr lang="en-IN"/>
            <a:t>Create / strengthen database of the entire history of project implementation for future reference</a:t>
          </a:r>
        </a:p>
      </dgm:t>
    </dgm:pt>
    <dgm:pt modelId="{E32E0E81-4ED4-48B9-A9EA-A81F2E888C6E}" type="parTrans" cxnId="{4E430AC2-65F1-4FE9-8BD0-A5CBD595FA4E}">
      <dgm:prSet/>
      <dgm:spPr/>
      <dgm:t>
        <a:bodyPr/>
        <a:lstStyle/>
        <a:p>
          <a:endParaRPr lang="en-US"/>
        </a:p>
      </dgm:t>
    </dgm:pt>
    <dgm:pt modelId="{5638B101-D4A9-4D03-86A2-AD8969CB89EB}" type="sibTrans" cxnId="{4E430AC2-65F1-4FE9-8BD0-A5CBD595FA4E}">
      <dgm:prSet/>
      <dgm:spPr/>
      <dgm:t>
        <a:bodyPr/>
        <a:lstStyle/>
        <a:p>
          <a:endParaRPr lang="en-US"/>
        </a:p>
      </dgm:t>
    </dgm:pt>
    <dgm:pt modelId="{CC2759FE-609D-41DB-95F8-C5AB467EF140}">
      <dgm:prSet phldrT="[Text]"/>
      <dgm:spPr/>
      <dgm:t>
        <a:bodyPr/>
        <a:lstStyle/>
        <a:p>
          <a:r>
            <a:rPr lang="en-US"/>
            <a:t>Assess and strengthen existing i</a:t>
          </a:r>
          <a:r>
            <a:rPr lang="en-IN"/>
            <a:t>nstitutional framework for identifying and prioritising projects</a:t>
          </a:r>
          <a:endParaRPr lang="en-US"/>
        </a:p>
      </dgm:t>
    </dgm:pt>
    <dgm:pt modelId="{E081EBC6-2E55-4654-8CC2-74BD232D10F7}" type="parTrans" cxnId="{DE86E282-725A-40EE-A6F7-2E7D85BA16A3}">
      <dgm:prSet/>
      <dgm:spPr/>
      <dgm:t>
        <a:bodyPr/>
        <a:lstStyle/>
        <a:p>
          <a:endParaRPr lang="en-US"/>
        </a:p>
      </dgm:t>
    </dgm:pt>
    <dgm:pt modelId="{A6F3AB02-763B-4BAF-8B05-FB20B4527A12}" type="sibTrans" cxnId="{DE86E282-725A-40EE-A6F7-2E7D85BA16A3}">
      <dgm:prSet/>
      <dgm:spPr/>
      <dgm:t>
        <a:bodyPr/>
        <a:lstStyle/>
        <a:p>
          <a:endParaRPr lang="en-US"/>
        </a:p>
      </dgm:t>
    </dgm:pt>
    <dgm:pt modelId="{85677115-F1C8-4F1F-B94F-AE02548DC523}">
      <dgm:prSet/>
      <dgm:spPr/>
      <dgm:t>
        <a:bodyPr/>
        <a:lstStyle/>
        <a:p>
          <a:r>
            <a:rPr lang="en-IN"/>
            <a:t>Preparation of strategy for implementation of ERP-based project management solution</a:t>
          </a:r>
        </a:p>
      </dgm:t>
    </dgm:pt>
    <dgm:pt modelId="{880F1E5F-E8ED-44A9-B621-8286EB81E9D9}" type="parTrans" cxnId="{2D38FFBD-9F8B-4AFC-894F-7040EFCB8C3C}">
      <dgm:prSet/>
      <dgm:spPr/>
      <dgm:t>
        <a:bodyPr/>
        <a:lstStyle/>
        <a:p>
          <a:endParaRPr lang="en-US"/>
        </a:p>
      </dgm:t>
    </dgm:pt>
    <dgm:pt modelId="{51469E5E-9319-4AF6-994F-5C44112F0B25}" type="sibTrans" cxnId="{2D38FFBD-9F8B-4AFC-894F-7040EFCB8C3C}">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3">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3"/>
      <dgm:spPr/>
      <dgm:t>
        <a:bodyPr/>
        <a:lstStyle/>
        <a:p>
          <a:endParaRPr lang="en-US"/>
        </a:p>
      </dgm:t>
    </dgm:pt>
    <dgm:pt modelId="{78DF5B2A-5010-4ED2-94FF-7B0692DAFAB8}" type="pres">
      <dgm:prSet presAssocID="{960596DD-7C7A-47B8-98AF-52DD4BEF9344}" presName="desTx" presStyleLbl="fgAcc1" presStyleIdx="2" presStyleCnt="3">
        <dgm:presLayoutVars>
          <dgm:bulletEnabled val="1"/>
        </dgm:presLayoutVars>
      </dgm:prSet>
      <dgm:spPr/>
      <dgm:t>
        <a:bodyPr/>
        <a:lstStyle/>
        <a:p>
          <a:endParaRPr lang="en-US"/>
        </a:p>
      </dgm:t>
    </dgm:pt>
  </dgm:ptLst>
  <dgm:cxnLst>
    <dgm:cxn modelId="{60DCD705-91F3-407E-A3A0-842386CFE286}" type="presOf" srcId="{5E0BE204-B877-4470-ACD5-3D3C109DECF9}" destId="{DCC3FCEA-0BC8-4D98-BFDA-E2DB9800EC74}" srcOrd="0" destOrd="2" presId="urn:microsoft.com/office/officeart/2005/8/layout/process3"/>
    <dgm:cxn modelId="{288D6556-D78D-42E2-834B-00062A324825}" srcId="{72C595F7-F9FE-4C3C-B546-D393C43DA1D5}" destId="{5074504D-B054-44B7-AF1D-0C421DB29C8C}" srcOrd="1" destOrd="0" parTransId="{38550204-A29D-4D29-89AB-206E975EF185}" sibTransId="{836E2BBF-AE6F-44B9-AD26-342382726746}"/>
    <dgm:cxn modelId="{07FB2A5C-C329-42CC-8985-BA070FF5AF0A}" type="presOf" srcId="{836E2BBF-AE6F-44B9-AD26-342382726746}" destId="{DE71027A-1108-4DB8-8E4D-B5CBC710D5C6}" srcOrd="1" destOrd="0" presId="urn:microsoft.com/office/officeart/2005/8/layout/process3"/>
    <dgm:cxn modelId="{C60A4A94-34AF-4CD1-8627-6C770A701C05}" type="presOf" srcId="{FBF519CE-E444-4D63-B9CF-BFD60A91883D}" destId="{DCC3FCEA-0BC8-4D98-BFDA-E2DB9800EC74}" srcOrd="0" destOrd="1" presId="urn:microsoft.com/office/officeart/2005/8/layout/process3"/>
    <dgm:cxn modelId="{F8717EF3-259D-4DED-979B-274C8867B516}" type="presOf" srcId="{32EC2ED1-5A41-47F2-A0A5-89A6987013DA}" destId="{4B650DD2-5F02-4AE9-9DDB-38B6153A658F}" srcOrd="1" destOrd="0" presId="urn:microsoft.com/office/officeart/2005/8/layout/process3"/>
    <dgm:cxn modelId="{A75D34A7-B570-4D4A-999A-91FE21AF7170}" srcId="{960596DD-7C7A-47B8-98AF-52DD4BEF9344}" destId="{BC8DE859-9A4D-49C8-A4C2-BEDA4E738B81}" srcOrd="0" destOrd="0" parTransId="{3BCC64F5-25D9-42CB-B767-5A1E127F210F}" sibTransId="{19A2AF29-6FA3-4EEF-B485-FB8298E74D2E}"/>
    <dgm:cxn modelId="{857D635D-7577-4D78-BDF8-C0D9E2C95BA7}" srcId="{960596DD-7C7A-47B8-98AF-52DD4BEF9344}" destId="{9692D2A1-7C17-4F1B-9BA3-A8425E2F9BBE}" srcOrd="1" destOrd="0" parTransId="{5AB44C9A-C63A-493C-B301-D02AB1B7C0A2}" sibTransId="{3CEF1148-58BB-4B2C-B06A-507B08D9186A}"/>
    <dgm:cxn modelId="{31D50244-21A8-45D7-B4E1-948B565D2C0D}" type="presOf" srcId="{5074504D-B054-44B7-AF1D-0C421DB29C8C}" destId="{BF9E2F76-6B5D-43DB-A7F2-4A21C009BF40}" srcOrd="0" destOrd="0" presId="urn:microsoft.com/office/officeart/2005/8/layout/process3"/>
    <dgm:cxn modelId="{2D38FFBD-9F8B-4AFC-894F-7040EFCB8C3C}" srcId="{960596DD-7C7A-47B8-98AF-52DD4BEF9344}" destId="{85677115-F1C8-4F1F-B94F-AE02548DC523}" srcOrd="4" destOrd="0" parTransId="{880F1E5F-E8ED-44A9-B621-8286EB81E9D9}" sibTransId="{51469E5E-9319-4AF6-994F-5C44112F0B25}"/>
    <dgm:cxn modelId="{E301D728-6DB0-40BE-BFB6-696563BA5345}" type="presOf" srcId="{CC2759FE-609D-41DB-95F8-C5AB467EF140}" destId="{7E8F3D55-80E5-4F13-9459-E39284D0328D}" srcOrd="0" destOrd="0" presId="urn:microsoft.com/office/officeart/2005/8/layout/process3"/>
    <dgm:cxn modelId="{6D22EF05-0E2D-4171-9513-470F2FB7BB3C}" type="presOf" srcId="{72C595F7-F9FE-4C3C-B546-D393C43DA1D5}" destId="{5FAEC180-6FA0-4E38-9D1E-990ABDB6814F}" srcOrd="0" destOrd="0" presId="urn:microsoft.com/office/officeart/2005/8/layout/process3"/>
    <dgm:cxn modelId="{D21A8596-A463-4545-9C18-9DB300B1DF41}" type="presOf" srcId="{ED8FDAFD-2942-4FC1-B20A-579740B7B1CE}" destId="{DCC3FCEA-0BC8-4D98-BFDA-E2DB9800EC74}" srcOrd="0" destOrd="0" presId="urn:microsoft.com/office/officeart/2005/8/layout/process3"/>
    <dgm:cxn modelId="{4E430AC2-65F1-4FE9-8BD0-A5CBD595FA4E}" srcId="{960596DD-7C7A-47B8-98AF-52DD4BEF9344}" destId="{6877D099-0FFE-4E07-941D-028B19085C6D}" srcOrd="3" destOrd="0" parTransId="{E32E0E81-4ED4-48B9-A9EA-A81F2E888C6E}" sibTransId="{5638B101-D4A9-4D03-86A2-AD8969CB89EB}"/>
    <dgm:cxn modelId="{40BF2955-2952-4C69-8263-1590B711F0FD}" type="presOf" srcId="{1932108E-0449-4724-A6C8-759EC49EC232}" destId="{7E8F3D55-80E5-4F13-9459-E39284D0328D}" srcOrd="0" destOrd="1" presId="urn:microsoft.com/office/officeart/2005/8/layout/process3"/>
    <dgm:cxn modelId="{C1A1DA40-8E50-42B2-9AB8-B6DFCCB51444}" type="presOf" srcId="{960596DD-7C7A-47B8-98AF-52DD4BEF9344}" destId="{53B85F9C-7627-4AF9-921B-BEED13451667}" srcOrd="1" destOrd="0" presId="urn:microsoft.com/office/officeart/2005/8/layout/process3"/>
    <dgm:cxn modelId="{946AF766-AE6C-4D6A-8413-EDEB66C3F459}" type="presOf" srcId="{B5133A7E-059C-44E7-8902-A1BEE913092B}" destId="{7E8F3D55-80E5-4F13-9459-E39284D0328D}" srcOrd="0" destOrd="3" presId="urn:microsoft.com/office/officeart/2005/8/layout/process3"/>
    <dgm:cxn modelId="{B01485A0-3DE1-4F4F-BD50-692D2EAB0A5C}" type="presOf" srcId="{BC8DE859-9A4D-49C8-A4C2-BEDA4E738B81}" destId="{78DF5B2A-5010-4ED2-94FF-7B0692DAFAB8}" srcOrd="0" destOrd="0" presId="urn:microsoft.com/office/officeart/2005/8/layout/process3"/>
    <dgm:cxn modelId="{9C1759E4-9BA8-4B2D-88B1-CBB8F60299EF}" srcId="{5074504D-B054-44B7-AF1D-0C421DB29C8C}" destId="{ED8FDAFD-2942-4FC1-B20A-579740B7B1CE}" srcOrd="0" destOrd="0" parTransId="{1A26A442-51E5-4AD6-B06A-7CEC8DC3C7BD}" sibTransId="{7D460E7C-417F-4474-9CEA-2FABDE3004EB}"/>
    <dgm:cxn modelId="{B66AA63B-0D1E-4982-8D1E-964AE12E07F6}" srcId="{03454651-1876-463C-891F-DBFB67BE2D7D}" destId="{883982F4-2398-4395-BFC2-FC447BD58C45}" srcOrd="2" destOrd="0" parTransId="{0F0201ED-E25D-4667-ABC5-938C329B7AD5}" sibTransId="{EE93DAD6-C5B5-4174-8CE7-71AE26C031E5}"/>
    <dgm:cxn modelId="{412DD18C-BDFC-4682-B8D3-F6969FAC9478}" srcId="{960596DD-7C7A-47B8-98AF-52DD4BEF9344}" destId="{9E2E1DC6-4FFD-4E8F-B066-B89B491A08D9}" srcOrd="2" destOrd="0" parTransId="{963941BD-2726-4734-B193-F3F3D241E000}" sibTransId="{246FACE4-4E4D-49A1-BED9-3C162E6D4279}"/>
    <dgm:cxn modelId="{E2324D55-5ED5-4572-94C3-B46EEBF53524}" type="presOf" srcId="{9692D2A1-7C17-4F1B-9BA3-A8425E2F9BBE}" destId="{78DF5B2A-5010-4ED2-94FF-7B0692DAFAB8}" srcOrd="0" destOrd="1" presId="urn:microsoft.com/office/officeart/2005/8/layout/process3"/>
    <dgm:cxn modelId="{1C0D8D7C-A763-44B9-88BE-92E0A28B227F}" srcId="{03454651-1876-463C-891F-DBFB67BE2D7D}" destId="{1932108E-0449-4724-A6C8-759EC49EC232}" srcOrd="1" destOrd="0" parTransId="{34976234-F6E8-435D-B162-B8EBDE56CC21}" sibTransId="{7438A663-1468-4BB9-AA48-39F30C08407D}"/>
    <dgm:cxn modelId="{DAC76D06-9553-45C8-8B8F-8E0678DBEA6F}" type="presOf" srcId="{9E2E1DC6-4FFD-4E8F-B066-B89B491A08D9}" destId="{78DF5B2A-5010-4ED2-94FF-7B0692DAFAB8}" srcOrd="0" destOrd="2" presId="urn:microsoft.com/office/officeart/2005/8/layout/process3"/>
    <dgm:cxn modelId="{3162693E-DAFE-4A4A-9309-D47DBDC759C4}" type="presOf" srcId="{960596DD-7C7A-47B8-98AF-52DD4BEF9344}" destId="{E1297A9F-D2A1-42E6-AAC5-5241A7119404}" srcOrd="0" destOrd="0" presId="urn:microsoft.com/office/officeart/2005/8/layout/process3"/>
    <dgm:cxn modelId="{B7B32860-20FD-410F-82F9-E684E03210F0}" type="presOf" srcId="{32EC2ED1-5A41-47F2-A0A5-89A6987013DA}" destId="{2185D18F-377B-4641-B87A-82A7FD17C65D}" srcOrd="0" destOrd="0" presId="urn:microsoft.com/office/officeart/2005/8/layout/process3"/>
    <dgm:cxn modelId="{E60CE2F2-B3C8-4A77-8F10-2B8B2B508621}" srcId="{5074504D-B054-44B7-AF1D-0C421DB29C8C}" destId="{FBF519CE-E444-4D63-B9CF-BFD60A91883D}" srcOrd="1" destOrd="0" parTransId="{B21DF3CA-74B4-4560-A3C0-393589484062}" sibTransId="{87577504-2C7F-4556-BBD6-05E60157719F}"/>
    <dgm:cxn modelId="{F211BE9E-8E82-4996-9F56-B078B8A38237}" type="presOf" srcId="{85677115-F1C8-4F1F-B94F-AE02548DC523}" destId="{78DF5B2A-5010-4ED2-94FF-7B0692DAFAB8}" srcOrd="0" destOrd="4"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DE86E282-725A-40EE-A6F7-2E7D85BA16A3}" srcId="{03454651-1876-463C-891F-DBFB67BE2D7D}" destId="{CC2759FE-609D-41DB-95F8-C5AB467EF140}" srcOrd="0" destOrd="0" parTransId="{E081EBC6-2E55-4654-8CC2-74BD232D10F7}" sibTransId="{A6F3AB02-763B-4BAF-8B05-FB20B4527A12}"/>
    <dgm:cxn modelId="{C2490599-7CFF-4778-83BD-89725FF54B1C}" type="presOf" srcId="{5074504D-B054-44B7-AF1D-0C421DB29C8C}" destId="{C399DA07-F433-446A-A511-7651E2D31800}" srcOrd="1" destOrd="0" presId="urn:microsoft.com/office/officeart/2005/8/layout/process3"/>
    <dgm:cxn modelId="{FFDDA0E3-7D14-42C0-9A86-7132C4CA4C0E}" type="presOf" srcId="{883982F4-2398-4395-BFC2-FC447BD58C45}" destId="{7E8F3D55-80E5-4F13-9459-E39284D0328D}" srcOrd="0" destOrd="2" presId="urn:microsoft.com/office/officeart/2005/8/layout/process3"/>
    <dgm:cxn modelId="{20CA0F03-B491-4BF5-B917-C219B6F54A35}" type="presOf" srcId="{03454651-1876-463C-891F-DBFB67BE2D7D}" destId="{3D847FC2-380F-49AF-936C-1553F8F26F3C}" srcOrd="0" destOrd="0" presId="urn:microsoft.com/office/officeart/2005/8/layout/process3"/>
    <dgm:cxn modelId="{692BE144-EE33-4640-AF29-F855E0811CFE}" srcId="{03454651-1876-463C-891F-DBFB67BE2D7D}" destId="{B5133A7E-059C-44E7-8902-A1BEE913092B}" srcOrd="3" destOrd="0" parTransId="{6E8C6033-0CAC-4137-A852-392F1B8CBBD2}" sibTransId="{02500619-7554-4E0A-850F-0BDBB7E68E27}"/>
    <dgm:cxn modelId="{46E2D35D-3FF4-4E3F-B78F-AE7022D2B580}" type="presOf" srcId="{836E2BBF-AE6F-44B9-AD26-342382726746}" destId="{63F08940-AC90-4DF0-A1DA-5F6759C06E77}" srcOrd="0" destOrd="0" presId="urn:microsoft.com/office/officeart/2005/8/layout/process3"/>
    <dgm:cxn modelId="{F610F53A-5920-4F42-BF4C-A952482DE747}" type="presOf" srcId="{6877D099-0FFE-4E07-941D-028B19085C6D}" destId="{78DF5B2A-5010-4ED2-94FF-7B0692DAFAB8}" srcOrd="0" destOrd="3" presId="urn:microsoft.com/office/officeart/2005/8/layout/process3"/>
    <dgm:cxn modelId="{41CFE70C-0C19-483C-8A83-1D7BA5FF5852}" srcId="{72C595F7-F9FE-4C3C-B546-D393C43DA1D5}" destId="{960596DD-7C7A-47B8-98AF-52DD4BEF9344}" srcOrd="2" destOrd="0" parTransId="{7170E545-06EB-4CA3-9A7C-2936BD4CF34C}" sibTransId="{3449E61D-4836-4734-B25E-4CB3DD612893}"/>
    <dgm:cxn modelId="{1D25AD40-60C5-4ED0-AA99-E6245EE32626}" srcId="{5074504D-B054-44B7-AF1D-0C421DB29C8C}" destId="{5E0BE204-B877-4470-ACD5-3D3C109DECF9}" srcOrd="2" destOrd="0" parTransId="{6CF8E18A-A80E-482A-85CF-C9E885051CC8}" sibTransId="{188EA845-6FC5-4ED2-98AB-9B927A7F8EB4}"/>
    <dgm:cxn modelId="{986B9F44-0F30-437F-899A-BA272E99EA7D}" type="presOf" srcId="{03454651-1876-463C-891F-DBFB67BE2D7D}" destId="{3A83BC6F-B725-4345-B234-B50F8B6B5DAE}" srcOrd="1" destOrd="0" presId="urn:microsoft.com/office/officeart/2005/8/layout/process3"/>
    <dgm:cxn modelId="{3BC235B1-8C6C-4F45-B91B-F336643BC5C5}" type="presParOf" srcId="{5FAEC180-6FA0-4E38-9D1E-990ABDB6814F}" destId="{1ED04EDF-BDDC-4FBE-ADFE-4ECCA1ABCE5C}" srcOrd="0" destOrd="0" presId="urn:microsoft.com/office/officeart/2005/8/layout/process3"/>
    <dgm:cxn modelId="{EEB35C59-CE6D-413E-A1F4-151CBF2690E4}" type="presParOf" srcId="{1ED04EDF-BDDC-4FBE-ADFE-4ECCA1ABCE5C}" destId="{3D847FC2-380F-49AF-936C-1553F8F26F3C}" srcOrd="0" destOrd="0" presId="urn:microsoft.com/office/officeart/2005/8/layout/process3"/>
    <dgm:cxn modelId="{25E145FD-D5A3-46F1-A855-ADF8151E4C76}" type="presParOf" srcId="{1ED04EDF-BDDC-4FBE-ADFE-4ECCA1ABCE5C}" destId="{3A83BC6F-B725-4345-B234-B50F8B6B5DAE}" srcOrd="1" destOrd="0" presId="urn:microsoft.com/office/officeart/2005/8/layout/process3"/>
    <dgm:cxn modelId="{2B5F0632-B264-4588-929B-3FE0734489F4}" type="presParOf" srcId="{1ED04EDF-BDDC-4FBE-ADFE-4ECCA1ABCE5C}" destId="{7E8F3D55-80E5-4F13-9459-E39284D0328D}" srcOrd="2" destOrd="0" presId="urn:microsoft.com/office/officeart/2005/8/layout/process3"/>
    <dgm:cxn modelId="{337E00C7-A94D-40C7-A051-9E80ECAD1909}" type="presParOf" srcId="{5FAEC180-6FA0-4E38-9D1E-990ABDB6814F}" destId="{2185D18F-377B-4641-B87A-82A7FD17C65D}" srcOrd="1" destOrd="0" presId="urn:microsoft.com/office/officeart/2005/8/layout/process3"/>
    <dgm:cxn modelId="{5B3E9119-BF1B-4D5E-9ED5-EAC746181B6A}" type="presParOf" srcId="{2185D18F-377B-4641-B87A-82A7FD17C65D}" destId="{4B650DD2-5F02-4AE9-9DDB-38B6153A658F}" srcOrd="0" destOrd="0" presId="urn:microsoft.com/office/officeart/2005/8/layout/process3"/>
    <dgm:cxn modelId="{AA6A9CB3-8484-474F-8339-0CBC9F87D627}" type="presParOf" srcId="{5FAEC180-6FA0-4E38-9D1E-990ABDB6814F}" destId="{E5D422DD-3565-4886-BD6F-B54C46D7F5BD}" srcOrd="2" destOrd="0" presId="urn:microsoft.com/office/officeart/2005/8/layout/process3"/>
    <dgm:cxn modelId="{A70470D0-097E-49C4-9F0C-91E7A128028D}" type="presParOf" srcId="{E5D422DD-3565-4886-BD6F-B54C46D7F5BD}" destId="{BF9E2F76-6B5D-43DB-A7F2-4A21C009BF40}" srcOrd="0" destOrd="0" presId="urn:microsoft.com/office/officeart/2005/8/layout/process3"/>
    <dgm:cxn modelId="{5022E888-B7C4-46D7-B933-E245D76CBAB6}" type="presParOf" srcId="{E5D422DD-3565-4886-BD6F-B54C46D7F5BD}" destId="{C399DA07-F433-446A-A511-7651E2D31800}" srcOrd="1" destOrd="0" presId="urn:microsoft.com/office/officeart/2005/8/layout/process3"/>
    <dgm:cxn modelId="{EAF135F8-C912-4B8E-A23D-39D5C656D364}" type="presParOf" srcId="{E5D422DD-3565-4886-BD6F-B54C46D7F5BD}" destId="{DCC3FCEA-0BC8-4D98-BFDA-E2DB9800EC74}" srcOrd="2" destOrd="0" presId="urn:microsoft.com/office/officeart/2005/8/layout/process3"/>
    <dgm:cxn modelId="{2FCC4282-D8BD-4F44-89F8-464EB114E242}" type="presParOf" srcId="{5FAEC180-6FA0-4E38-9D1E-990ABDB6814F}" destId="{63F08940-AC90-4DF0-A1DA-5F6759C06E77}" srcOrd="3" destOrd="0" presId="urn:microsoft.com/office/officeart/2005/8/layout/process3"/>
    <dgm:cxn modelId="{240A21E1-B8C5-4FD5-8888-5735A2C66BA7}" type="presParOf" srcId="{63F08940-AC90-4DF0-A1DA-5F6759C06E77}" destId="{DE71027A-1108-4DB8-8E4D-B5CBC710D5C6}" srcOrd="0" destOrd="0" presId="urn:microsoft.com/office/officeart/2005/8/layout/process3"/>
    <dgm:cxn modelId="{628CB73F-C361-4C82-A746-7C0BED2744B0}" type="presParOf" srcId="{5FAEC180-6FA0-4E38-9D1E-990ABDB6814F}" destId="{AB38EC2E-43FE-44BB-80CD-6BBCBABF7F5F}" srcOrd="4" destOrd="0" presId="urn:microsoft.com/office/officeart/2005/8/layout/process3"/>
    <dgm:cxn modelId="{5CDC696B-21E0-4B4A-8FD2-D41A61F8EF22}" type="presParOf" srcId="{AB38EC2E-43FE-44BB-80CD-6BBCBABF7F5F}" destId="{E1297A9F-D2A1-42E6-AAC5-5241A7119404}" srcOrd="0" destOrd="0" presId="urn:microsoft.com/office/officeart/2005/8/layout/process3"/>
    <dgm:cxn modelId="{A7F54B6D-64AC-422F-B957-AD17E8639D21}" type="presParOf" srcId="{AB38EC2E-43FE-44BB-80CD-6BBCBABF7F5F}" destId="{53B85F9C-7627-4AF9-921B-BEED13451667}" srcOrd="1" destOrd="0" presId="urn:microsoft.com/office/officeart/2005/8/layout/process3"/>
    <dgm:cxn modelId="{16DA05CD-9A3B-4154-9FA9-299BA0718DA6}"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Procurement process</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BF4626AB-9CB3-4EC9-82AA-0AF37D21F7A8}">
      <dgm:prSet phldrT="[Text]"/>
      <dgm:spPr/>
      <dgm:t>
        <a:bodyPr/>
        <a:lstStyle/>
        <a:p>
          <a:r>
            <a:rPr lang="en-IN"/>
            <a:t>Assessment and strengthening of material requirement identification process</a:t>
          </a:r>
          <a:endParaRPr lang="en-US"/>
        </a:p>
      </dgm:t>
    </dgm:pt>
    <dgm:pt modelId="{90DBE59A-FB90-4404-AFA0-13CA3F79D5EF}" type="parTrans" cxnId="{E92C78EC-FFC9-4E45-BAF4-DBF1044E5552}">
      <dgm:prSet/>
      <dgm:spPr/>
      <dgm:t>
        <a:bodyPr/>
        <a:lstStyle/>
        <a:p>
          <a:endParaRPr lang="en-US"/>
        </a:p>
      </dgm:t>
    </dgm:pt>
    <dgm:pt modelId="{278D66F6-69FF-4B29-B9E2-013619C1E045}" type="sibTrans" cxnId="{E92C78EC-FFC9-4E45-BAF4-DBF1044E5552}">
      <dgm:prSet/>
      <dgm:spPr/>
      <dgm:t>
        <a:bodyPr/>
        <a:lstStyle/>
        <a:p>
          <a:endParaRPr lang="en-US"/>
        </a:p>
      </dgm:t>
    </dgm:pt>
    <dgm:pt modelId="{5074504D-B054-44B7-AF1D-0C421DB29C8C}">
      <dgm:prSet phldrT="[Text]"/>
      <dgm:spPr/>
      <dgm:t>
        <a:bodyPr/>
        <a:lstStyle/>
        <a:p>
          <a:r>
            <a:rPr lang="en-US"/>
            <a:t>Material management</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ED8FDAFD-2942-4FC1-B20A-579740B7B1CE}">
      <dgm:prSet phldrT="[Text]"/>
      <dgm:spPr/>
      <dgm:t>
        <a:bodyPr/>
        <a:lstStyle/>
        <a:p>
          <a:r>
            <a:rPr lang="en-IN" dirty="0"/>
            <a:t>Assess and strengthen exiting procedures (requisition, issue, recording, records maintenance, valuation, reconciliation, </a:t>
          </a:r>
          <a:r>
            <a:rPr lang="en-IN" dirty="0" smtClean="0"/>
            <a:t>etc.)</a:t>
          </a:r>
          <a:endParaRPr lang="en-US" dirty="0"/>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BC8DE859-9A4D-49C8-A4C2-BEDA4E738B81}">
      <dgm:prSet phldrT="[Text]"/>
      <dgm:spPr/>
      <dgm:t>
        <a:bodyPr/>
        <a:lstStyle/>
        <a:p>
          <a:r>
            <a:rPr lang="en-IN"/>
            <a:t>Capacity Building to assess contract performance (slippages, price variations, disputes) and contract management</a:t>
          </a:r>
          <a:endParaRPr lang="en-US"/>
        </a:p>
      </dgm:t>
    </dgm:pt>
    <dgm:pt modelId="{3BCC64F5-25D9-42CB-B767-5A1E127F210F}" type="parTrans" cxnId="{A75D34A7-B570-4D4A-999A-91FE21AF7170}">
      <dgm:prSet/>
      <dgm:spPr/>
      <dgm:t>
        <a:bodyPr/>
        <a:lstStyle/>
        <a:p>
          <a:endParaRPr lang="en-US"/>
        </a:p>
      </dgm:t>
    </dgm:pt>
    <dgm:pt modelId="{19A2AF29-6FA3-4EEF-B485-FB8298E74D2E}" type="sibTrans" cxnId="{A75D34A7-B570-4D4A-999A-91FE21AF7170}">
      <dgm:prSet/>
      <dgm:spPr/>
      <dgm:t>
        <a:bodyPr/>
        <a:lstStyle/>
        <a:p>
          <a:endParaRPr lang="en-US"/>
        </a:p>
      </dgm:t>
    </dgm:pt>
    <dgm:pt modelId="{960596DD-7C7A-47B8-98AF-52DD4BEF9344}">
      <dgm:prSet phldrT="[Text]"/>
      <dgm:spPr/>
      <dgm:t>
        <a:bodyPr/>
        <a:lstStyle/>
        <a:p>
          <a:r>
            <a:rPr lang="en-US"/>
            <a:t>Contract management</a:t>
          </a:r>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2665FA88-3B5F-4B77-837D-AD1784B9A8FF}">
      <dgm:prSet/>
      <dgm:spPr/>
      <dgm:t>
        <a:bodyPr/>
        <a:lstStyle/>
        <a:p>
          <a:r>
            <a:rPr lang="en-IN"/>
            <a:t>Review and strengthening of tendering process</a:t>
          </a:r>
        </a:p>
      </dgm:t>
    </dgm:pt>
    <dgm:pt modelId="{C6BF68FA-2EC6-4E85-BDA0-3744D31EE7DB}" type="parTrans" cxnId="{7389C20D-B1E1-41BC-94E3-FF9F0C0E04B1}">
      <dgm:prSet/>
      <dgm:spPr/>
      <dgm:t>
        <a:bodyPr/>
        <a:lstStyle/>
        <a:p>
          <a:endParaRPr lang="en-US"/>
        </a:p>
      </dgm:t>
    </dgm:pt>
    <dgm:pt modelId="{2EC30938-BF4E-461D-890F-305E01DF9861}" type="sibTrans" cxnId="{7389C20D-B1E1-41BC-94E3-FF9F0C0E04B1}">
      <dgm:prSet/>
      <dgm:spPr/>
      <dgm:t>
        <a:bodyPr/>
        <a:lstStyle/>
        <a:p>
          <a:endParaRPr lang="en-US"/>
        </a:p>
      </dgm:t>
    </dgm:pt>
    <dgm:pt modelId="{D1FD9A5A-7904-4C8B-BA37-E330C4E7E907}">
      <dgm:prSet/>
      <dgm:spPr/>
      <dgm:t>
        <a:bodyPr/>
        <a:lstStyle/>
        <a:p>
          <a:r>
            <a:rPr lang="en-IN"/>
            <a:t>Verification and Contract Management Capacity Building</a:t>
          </a:r>
        </a:p>
      </dgm:t>
    </dgm:pt>
    <dgm:pt modelId="{F914493E-ED89-4CEB-8842-D4845DA127FF}" type="parTrans" cxnId="{0C51EB75-617E-4E27-9B1C-6085A4CF6048}">
      <dgm:prSet/>
      <dgm:spPr/>
      <dgm:t>
        <a:bodyPr/>
        <a:lstStyle/>
        <a:p>
          <a:endParaRPr lang="en-US"/>
        </a:p>
      </dgm:t>
    </dgm:pt>
    <dgm:pt modelId="{AB39517C-F28B-4D7D-90E8-DB7B0F9B0AFF}" type="sibTrans" cxnId="{0C51EB75-617E-4E27-9B1C-6085A4CF6048}">
      <dgm:prSet/>
      <dgm:spPr/>
      <dgm:t>
        <a:bodyPr/>
        <a:lstStyle/>
        <a:p>
          <a:endParaRPr lang="en-US"/>
        </a:p>
      </dgm:t>
    </dgm:pt>
    <dgm:pt modelId="{C3EFC3A2-B817-4851-8D46-2AE3B77F53FD}">
      <dgm:prSet/>
      <dgm:spPr/>
      <dgm:t>
        <a:bodyPr/>
        <a:lstStyle/>
        <a:p>
          <a:r>
            <a:rPr lang="en-IN"/>
            <a:t>Preparation of strategy for implementation of IT-based inventory management system (ERP module) (tracking of and control over materials, integrating with accounting system, etc) </a:t>
          </a:r>
        </a:p>
      </dgm:t>
    </dgm:pt>
    <dgm:pt modelId="{64A725B3-4E61-46E5-B274-C0135D3A398E}" type="parTrans" cxnId="{E54A8A69-4D82-4D5F-BB6C-34D469927CCB}">
      <dgm:prSet/>
      <dgm:spPr/>
      <dgm:t>
        <a:bodyPr/>
        <a:lstStyle/>
        <a:p>
          <a:endParaRPr lang="en-US"/>
        </a:p>
      </dgm:t>
    </dgm:pt>
    <dgm:pt modelId="{8FE27B0A-0F04-4179-9DFB-DBCBA87824D1}" type="sibTrans" cxnId="{E54A8A69-4D82-4D5F-BB6C-34D469927CCB}">
      <dgm:prSet/>
      <dgm:spPr/>
      <dgm:t>
        <a:bodyPr/>
        <a:lstStyle/>
        <a:p>
          <a:endParaRPr lang="en-US"/>
        </a:p>
      </dgm:t>
    </dgm:pt>
    <dgm:pt modelId="{D2391822-CA1A-4D23-96FD-BA33668D5A35}">
      <dgm:prSet/>
      <dgm:spPr/>
      <dgm:t>
        <a:bodyPr/>
        <a:lstStyle/>
        <a:p>
          <a:r>
            <a:rPr lang="en-IN"/>
            <a:t>Strengthening of asset database</a:t>
          </a:r>
        </a:p>
      </dgm:t>
    </dgm:pt>
    <dgm:pt modelId="{57E9B0A2-B07D-49E6-B972-30871DD9A5B2}" type="parTrans" cxnId="{E48C5956-3B4E-444C-93D9-AB3CACCD309E}">
      <dgm:prSet/>
      <dgm:spPr/>
      <dgm:t>
        <a:bodyPr/>
        <a:lstStyle/>
        <a:p>
          <a:endParaRPr lang="en-US"/>
        </a:p>
      </dgm:t>
    </dgm:pt>
    <dgm:pt modelId="{E4E69FE9-2F70-413D-A2CD-180736226514}" type="sibTrans" cxnId="{E48C5956-3B4E-444C-93D9-AB3CACCD309E}">
      <dgm:prSet/>
      <dgm:spPr/>
      <dgm:t>
        <a:bodyPr/>
        <a:lstStyle/>
        <a:p>
          <a:endParaRPr lang="en-US"/>
        </a:p>
      </dgm:t>
    </dgm:pt>
    <dgm:pt modelId="{DA35A40C-4BAA-4E9F-A313-FFE72FAFEF41}">
      <dgm:prSet/>
      <dgm:spPr/>
      <dgm:t>
        <a:bodyPr/>
        <a:lstStyle/>
        <a:p>
          <a:r>
            <a:rPr lang="en-IN"/>
            <a:t>Assessment and strengthening of approval &amp; indenting process including controls</a:t>
          </a:r>
        </a:p>
      </dgm:t>
    </dgm:pt>
    <dgm:pt modelId="{6CF964B0-55BB-4CD3-8162-90D995A50C1B}" type="parTrans" cxnId="{6E0196D1-AE13-4DBF-B5C2-7E65E2B20D7B}">
      <dgm:prSet/>
      <dgm:spPr/>
      <dgm:t>
        <a:bodyPr/>
        <a:lstStyle/>
        <a:p>
          <a:endParaRPr lang="en-US"/>
        </a:p>
      </dgm:t>
    </dgm:pt>
    <dgm:pt modelId="{A3BB1349-20A0-4CF0-B880-211282B8C507}" type="sibTrans" cxnId="{6E0196D1-AE13-4DBF-B5C2-7E65E2B20D7B}">
      <dgm:prSet/>
      <dgm:spPr/>
      <dgm:t>
        <a:bodyPr/>
        <a:lstStyle/>
        <a:p>
          <a:endParaRPr lang="en-US"/>
        </a:p>
      </dgm:t>
    </dgm:pt>
    <dgm:pt modelId="{8AB1705B-825B-4FA9-B3F7-6234B57D8B5B}">
      <dgm:prSet phldrT="[Text]"/>
      <dgm:spPr/>
      <dgm:t>
        <a:bodyPr/>
        <a:lstStyle/>
        <a:p>
          <a:r>
            <a:rPr lang="en-US"/>
            <a:t>Assess and strengthen existing procurement process</a:t>
          </a:r>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08BAA5E6-4780-4BAE-965F-1F595A783B78}">
      <dgm:prSet/>
      <dgm:spPr/>
      <dgm:t>
        <a:bodyPr/>
        <a:lstStyle/>
        <a:p>
          <a:r>
            <a:rPr lang="en-IN"/>
            <a:t>Capacity building on ERP implementation</a:t>
          </a:r>
        </a:p>
      </dgm:t>
    </dgm:pt>
    <dgm:pt modelId="{1E8487A6-173B-4AF5-B0ED-6EF54265747A}" type="parTrans" cxnId="{75750800-CDCF-4562-B42B-F5A9E8E607D8}">
      <dgm:prSet/>
      <dgm:spPr/>
      <dgm:t>
        <a:bodyPr/>
        <a:lstStyle/>
        <a:p>
          <a:endParaRPr lang="en-US"/>
        </a:p>
      </dgm:t>
    </dgm:pt>
    <dgm:pt modelId="{14F98983-DBD7-475E-88F3-27CEDA7B85BA}" type="sibTrans" cxnId="{75750800-CDCF-4562-B42B-F5A9E8E607D8}">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3">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3"/>
      <dgm:spPr/>
      <dgm:t>
        <a:bodyPr/>
        <a:lstStyle/>
        <a:p>
          <a:endParaRPr lang="en-US"/>
        </a:p>
      </dgm:t>
    </dgm:pt>
    <dgm:pt modelId="{78DF5B2A-5010-4ED2-94FF-7B0692DAFAB8}" type="pres">
      <dgm:prSet presAssocID="{960596DD-7C7A-47B8-98AF-52DD4BEF9344}" presName="desTx" presStyleLbl="fgAcc1" presStyleIdx="2" presStyleCnt="3">
        <dgm:presLayoutVars>
          <dgm:bulletEnabled val="1"/>
        </dgm:presLayoutVars>
      </dgm:prSet>
      <dgm:spPr/>
      <dgm:t>
        <a:bodyPr/>
        <a:lstStyle/>
        <a:p>
          <a:endParaRPr lang="en-US"/>
        </a:p>
      </dgm:t>
    </dgm:pt>
  </dgm:ptLst>
  <dgm:cxnLst>
    <dgm:cxn modelId="{288D6556-D78D-42E2-834B-00062A324825}" srcId="{72C595F7-F9FE-4C3C-B546-D393C43DA1D5}" destId="{5074504D-B054-44B7-AF1D-0C421DB29C8C}" srcOrd="1" destOrd="0" parTransId="{38550204-A29D-4D29-89AB-206E975EF185}" sibTransId="{836E2BBF-AE6F-44B9-AD26-342382726746}"/>
    <dgm:cxn modelId="{A789F63F-AA59-4468-AC5E-69BCA67D1355}" type="presOf" srcId="{ED8FDAFD-2942-4FC1-B20A-579740B7B1CE}" destId="{DCC3FCEA-0BC8-4D98-BFDA-E2DB9800EC74}" srcOrd="0" destOrd="0" presId="urn:microsoft.com/office/officeart/2005/8/layout/process3"/>
    <dgm:cxn modelId="{B1993D54-1660-42FD-BD44-EA5ED2720719}" srcId="{03454651-1876-463C-891F-DBFB67BE2D7D}" destId="{8AB1705B-825B-4FA9-B3F7-6234B57D8B5B}" srcOrd="0" destOrd="0" parTransId="{B0921289-A644-45F1-8E03-58A989394A5C}" sibTransId="{59EC8C30-26FF-4A0A-AC62-94A2D4AE1DA6}"/>
    <dgm:cxn modelId="{AEA97E2A-6FD7-4688-B2E0-D95D88891541}" type="presOf" srcId="{D1FD9A5A-7904-4C8B-BA37-E330C4E7E907}" destId="{7E8F3D55-80E5-4F13-9459-E39284D0328D}" srcOrd="0" destOrd="3" presId="urn:microsoft.com/office/officeart/2005/8/layout/process3"/>
    <dgm:cxn modelId="{A75D34A7-B570-4D4A-999A-91FE21AF7170}" srcId="{960596DD-7C7A-47B8-98AF-52DD4BEF9344}" destId="{BC8DE859-9A4D-49C8-A4C2-BEDA4E738B81}" srcOrd="0" destOrd="0" parTransId="{3BCC64F5-25D9-42CB-B767-5A1E127F210F}" sibTransId="{19A2AF29-6FA3-4EEF-B485-FB8298E74D2E}"/>
    <dgm:cxn modelId="{54194609-C9E1-45D0-992F-8B10A5DE1019}" type="presOf" srcId="{960596DD-7C7A-47B8-98AF-52DD4BEF9344}" destId="{E1297A9F-D2A1-42E6-AAC5-5241A7119404}" srcOrd="0" destOrd="0" presId="urn:microsoft.com/office/officeart/2005/8/layout/process3"/>
    <dgm:cxn modelId="{E92C78EC-FFC9-4E45-BAF4-DBF1044E5552}" srcId="{03454651-1876-463C-891F-DBFB67BE2D7D}" destId="{BF4626AB-9CB3-4EC9-82AA-0AF37D21F7A8}" srcOrd="1" destOrd="0" parTransId="{90DBE59A-FB90-4404-AFA0-13CA3F79D5EF}" sibTransId="{278D66F6-69FF-4B29-B9E2-013619C1E045}"/>
    <dgm:cxn modelId="{C886D934-A50F-4E01-9B5E-C3BDD882F200}" type="presOf" srcId="{5074504D-B054-44B7-AF1D-0C421DB29C8C}" destId="{C399DA07-F433-446A-A511-7651E2D31800}" srcOrd="1" destOrd="0" presId="urn:microsoft.com/office/officeart/2005/8/layout/process3"/>
    <dgm:cxn modelId="{71AB7273-5C48-4CA0-B11A-653D70C319CA}" type="presOf" srcId="{8AB1705B-825B-4FA9-B3F7-6234B57D8B5B}" destId="{7E8F3D55-80E5-4F13-9459-E39284D0328D}" srcOrd="0" destOrd="0" presId="urn:microsoft.com/office/officeart/2005/8/layout/process3"/>
    <dgm:cxn modelId="{0C51EB75-617E-4E27-9B1C-6085A4CF6048}" srcId="{03454651-1876-463C-891F-DBFB67BE2D7D}" destId="{D1FD9A5A-7904-4C8B-BA37-E330C4E7E907}" srcOrd="3" destOrd="0" parTransId="{F914493E-ED89-4CEB-8842-D4845DA127FF}" sibTransId="{AB39517C-F28B-4D7D-90E8-DB7B0F9B0AFF}"/>
    <dgm:cxn modelId="{E54A8A69-4D82-4D5F-BB6C-34D469927CCB}" srcId="{5074504D-B054-44B7-AF1D-0C421DB29C8C}" destId="{C3EFC3A2-B817-4851-8D46-2AE3B77F53FD}" srcOrd="1" destOrd="0" parTransId="{64A725B3-4E61-46E5-B274-C0135D3A398E}" sibTransId="{8FE27B0A-0F04-4179-9DFB-DBCBA87824D1}"/>
    <dgm:cxn modelId="{A9CC2B6E-32F7-4E71-9AD2-68CF9C889BFF}" type="presOf" srcId="{03454651-1876-463C-891F-DBFB67BE2D7D}" destId="{3A83BC6F-B725-4345-B234-B50F8B6B5DAE}" srcOrd="1" destOrd="0" presId="urn:microsoft.com/office/officeart/2005/8/layout/process3"/>
    <dgm:cxn modelId="{E48C5956-3B4E-444C-93D9-AB3CACCD309E}" srcId="{5074504D-B054-44B7-AF1D-0C421DB29C8C}" destId="{D2391822-CA1A-4D23-96FD-BA33668D5A35}" srcOrd="2" destOrd="0" parTransId="{57E9B0A2-B07D-49E6-B972-30871DD9A5B2}" sibTransId="{E4E69FE9-2F70-413D-A2CD-180736226514}"/>
    <dgm:cxn modelId="{75750800-CDCF-4562-B42B-F5A9E8E607D8}" srcId="{5074504D-B054-44B7-AF1D-0C421DB29C8C}" destId="{08BAA5E6-4780-4BAE-965F-1F595A783B78}" srcOrd="3" destOrd="0" parTransId="{1E8487A6-173B-4AF5-B0ED-6EF54265747A}" sibTransId="{14F98983-DBD7-475E-88F3-27CEDA7B85BA}"/>
    <dgm:cxn modelId="{7389C20D-B1E1-41BC-94E3-FF9F0C0E04B1}" srcId="{03454651-1876-463C-891F-DBFB67BE2D7D}" destId="{2665FA88-3B5F-4B77-837D-AD1784B9A8FF}" srcOrd="2" destOrd="0" parTransId="{C6BF68FA-2EC6-4E85-BDA0-3744D31EE7DB}" sibTransId="{2EC30938-BF4E-461D-890F-305E01DF9861}"/>
    <dgm:cxn modelId="{F35315BE-ABD6-46C1-A367-0680604221FA}" type="presOf" srcId="{D2391822-CA1A-4D23-96FD-BA33668D5A35}" destId="{DCC3FCEA-0BC8-4D98-BFDA-E2DB9800EC74}" srcOrd="0" destOrd="2" presId="urn:microsoft.com/office/officeart/2005/8/layout/process3"/>
    <dgm:cxn modelId="{3E289467-D078-45F0-9A37-AB25BB75D092}" type="presOf" srcId="{32EC2ED1-5A41-47F2-A0A5-89A6987013DA}" destId="{2185D18F-377B-4641-B87A-82A7FD17C65D}" srcOrd="0" destOrd="0" presId="urn:microsoft.com/office/officeart/2005/8/layout/process3"/>
    <dgm:cxn modelId="{3054318F-7653-4CDD-A3F7-22FE1A96FB35}" type="presOf" srcId="{5074504D-B054-44B7-AF1D-0C421DB29C8C}" destId="{BF9E2F76-6B5D-43DB-A7F2-4A21C009BF40}" srcOrd="0" destOrd="0" presId="urn:microsoft.com/office/officeart/2005/8/layout/process3"/>
    <dgm:cxn modelId="{3C6CDFCA-A8E6-43B3-AEDD-A8485A48B2A5}" type="presOf" srcId="{72C595F7-F9FE-4C3C-B546-D393C43DA1D5}" destId="{5FAEC180-6FA0-4E38-9D1E-990ABDB6814F}" srcOrd="0" destOrd="0" presId="urn:microsoft.com/office/officeart/2005/8/layout/process3"/>
    <dgm:cxn modelId="{5BA0B60D-B9AE-41B4-896C-23A52FF9A114}" type="presOf" srcId="{BC8DE859-9A4D-49C8-A4C2-BEDA4E738B81}" destId="{78DF5B2A-5010-4ED2-94FF-7B0692DAFAB8}" srcOrd="0" destOrd="0" presId="urn:microsoft.com/office/officeart/2005/8/layout/process3"/>
    <dgm:cxn modelId="{04F007CB-C82D-418B-9428-1B9CC7981B8D}" type="presOf" srcId="{2665FA88-3B5F-4B77-837D-AD1784B9A8FF}" destId="{7E8F3D55-80E5-4F13-9459-E39284D0328D}" srcOrd="0" destOrd="2" presId="urn:microsoft.com/office/officeart/2005/8/layout/process3"/>
    <dgm:cxn modelId="{9C1759E4-9BA8-4B2D-88B1-CBB8F60299EF}" srcId="{5074504D-B054-44B7-AF1D-0C421DB29C8C}" destId="{ED8FDAFD-2942-4FC1-B20A-579740B7B1CE}" srcOrd="0" destOrd="0" parTransId="{1A26A442-51E5-4AD6-B06A-7CEC8DC3C7BD}" sibTransId="{7D460E7C-417F-4474-9CEA-2FABDE3004EB}"/>
    <dgm:cxn modelId="{056C4317-1344-425D-9090-D52A1A46E6B6}" type="presOf" srcId="{32EC2ED1-5A41-47F2-A0A5-89A6987013DA}" destId="{4B650DD2-5F02-4AE9-9DDB-38B6153A658F}" srcOrd="1" destOrd="0" presId="urn:microsoft.com/office/officeart/2005/8/layout/process3"/>
    <dgm:cxn modelId="{FC37C596-EDEF-4731-AA7C-B017B01EC9FE}" type="presOf" srcId="{DA35A40C-4BAA-4E9F-A313-FFE72FAFEF41}" destId="{78DF5B2A-5010-4ED2-94FF-7B0692DAFAB8}" srcOrd="0" destOrd="1" presId="urn:microsoft.com/office/officeart/2005/8/layout/process3"/>
    <dgm:cxn modelId="{6E0196D1-AE13-4DBF-B5C2-7E65E2B20D7B}" srcId="{960596DD-7C7A-47B8-98AF-52DD4BEF9344}" destId="{DA35A40C-4BAA-4E9F-A313-FFE72FAFEF41}" srcOrd="1" destOrd="0" parTransId="{6CF964B0-55BB-4CD3-8162-90D995A50C1B}" sibTransId="{A3BB1349-20A0-4CF0-B880-211282B8C507}"/>
    <dgm:cxn modelId="{9685F8A7-D77D-440A-A91C-BCA263AC77C5}" type="presOf" srcId="{08BAA5E6-4780-4BAE-965F-1F595A783B78}" destId="{DCC3FCEA-0BC8-4D98-BFDA-E2DB9800EC74}" srcOrd="0" destOrd="3"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809E5782-DAEA-4FC8-B7A1-FABF4789EEFD}" type="presOf" srcId="{C3EFC3A2-B817-4851-8D46-2AE3B77F53FD}" destId="{DCC3FCEA-0BC8-4D98-BFDA-E2DB9800EC74}" srcOrd="0" destOrd="1" presId="urn:microsoft.com/office/officeart/2005/8/layout/process3"/>
    <dgm:cxn modelId="{75150984-E984-4820-95CD-424E1717B8F8}" type="presOf" srcId="{836E2BBF-AE6F-44B9-AD26-342382726746}" destId="{63F08940-AC90-4DF0-A1DA-5F6759C06E77}" srcOrd="0" destOrd="0" presId="urn:microsoft.com/office/officeart/2005/8/layout/process3"/>
    <dgm:cxn modelId="{EE1461C5-B983-425F-A975-6DCECB698D0C}" type="presOf" srcId="{03454651-1876-463C-891F-DBFB67BE2D7D}" destId="{3D847FC2-380F-49AF-936C-1553F8F26F3C}" srcOrd="0" destOrd="0" presId="urn:microsoft.com/office/officeart/2005/8/layout/process3"/>
    <dgm:cxn modelId="{FAD1D9AC-068E-487E-AFDC-6A5867C9CEB9}" type="presOf" srcId="{960596DD-7C7A-47B8-98AF-52DD4BEF9344}" destId="{53B85F9C-7627-4AF9-921B-BEED13451667}" srcOrd="1" destOrd="0" presId="urn:microsoft.com/office/officeart/2005/8/layout/process3"/>
    <dgm:cxn modelId="{41CFE70C-0C19-483C-8A83-1D7BA5FF5852}" srcId="{72C595F7-F9FE-4C3C-B546-D393C43DA1D5}" destId="{960596DD-7C7A-47B8-98AF-52DD4BEF9344}" srcOrd="2" destOrd="0" parTransId="{7170E545-06EB-4CA3-9A7C-2936BD4CF34C}" sibTransId="{3449E61D-4836-4734-B25E-4CB3DD612893}"/>
    <dgm:cxn modelId="{C495E3D9-0387-4684-ABDB-10B1FD56F5FB}" type="presOf" srcId="{836E2BBF-AE6F-44B9-AD26-342382726746}" destId="{DE71027A-1108-4DB8-8E4D-B5CBC710D5C6}" srcOrd="1" destOrd="0" presId="urn:microsoft.com/office/officeart/2005/8/layout/process3"/>
    <dgm:cxn modelId="{3993CB13-0A19-47EB-B0BE-164A135A9E1A}" type="presOf" srcId="{BF4626AB-9CB3-4EC9-82AA-0AF37D21F7A8}" destId="{7E8F3D55-80E5-4F13-9459-E39284D0328D}" srcOrd="0" destOrd="1" presId="urn:microsoft.com/office/officeart/2005/8/layout/process3"/>
    <dgm:cxn modelId="{778F8172-C1A6-43BF-94AA-55CF318C9728}" type="presParOf" srcId="{5FAEC180-6FA0-4E38-9D1E-990ABDB6814F}" destId="{1ED04EDF-BDDC-4FBE-ADFE-4ECCA1ABCE5C}" srcOrd="0" destOrd="0" presId="urn:microsoft.com/office/officeart/2005/8/layout/process3"/>
    <dgm:cxn modelId="{F2FF7C3A-3A16-42EF-BD4A-A5E31F0E8A7B}" type="presParOf" srcId="{1ED04EDF-BDDC-4FBE-ADFE-4ECCA1ABCE5C}" destId="{3D847FC2-380F-49AF-936C-1553F8F26F3C}" srcOrd="0" destOrd="0" presId="urn:microsoft.com/office/officeart/2005/8/layout/process3"/>
    <dgm:cxn modelId="{9D5005C2-9887-4D72-9F87-AE36A728A9A4}" type="presParOf" srcId="{1ED04EDF-BDDC-4FBE-ADFE-4ECCA1ABCE5C}" destId="{3A83BC6F-B725-4345-B234-B50F8B6B5DAE}" srcOrd="1" destOrd="0" presId="urn:microsoft.com/office/officeart/2005/8/layout/process3"/>
    <dgm:cxn modelId="{7FEDE2A6-592F-41D8-9E64-7FD8847837E0}" type="presParOf" srcId="{1ED04EDF-BDDC-4FBE-ADFE-4ECCA1ABCE5C}" destId="{7E8F3D55-80E5-4F13-9459-E39284D0328D}" srcOrd="2" destOrd="0" presId="urn:microsoft.com/office/officeart/2005/8/layout/process3"/>
    <dgm:cxn modelId="{964BA36D-DFB5-413E-B086-CE1010B558BC}" type="presParOf" srcId="{5FAEC180-6FA0-4E38-9D1E-990ABDB6814F}" destId="{2185D18F-377B-4641-B87A-82A7FD17C65D}" srcOrd="1" destOrd="0" presId="urn:microsoft.com/office/officeart/2005/8/layout/process3"/>
    <dgm:cxn modelId="{0AC3F245-C242-43B8-B107-35B65CCF0CE2}" type="presParOf" srcId="{2185D18F-377B-4641-B87A-82A7FD17C65D}" destId="{4B650DD2-5F02-4AE9-9DDB-38B6153A658F}" srcOrd="0" destOrd="0" presId="urn:microsoft.com/office/officeart/2005/8/layout/process3"/>
    <dgm:cxn modelId="{12E4471B-E2B4-444C-AEF1-61A4580EEF2D}" type="presParOf" srcId="{5FAEC180-6FA0-4E38-9D1E-990ABDB6814F}" destId="{E5D422DD-3565-4886-BD6F-B54C46D7F5BD}" srcOrd="2" destOrd="0" presId="urn:microsoft.com/office/officeart/2005/8/layout/process3"/>
    <dgm:cxn modelId="{F3A55B0B-6A1B-4638-A64F-85882EF9220B}" type="presParOf" srcId="{E5D422DD-3565-4886-BD6F-B54C46D7F5BD}" destId="{BF9E2F76-6B5D-43DB-A7F2-4A21C009BF40}" srcOrd="0" destOrd="0" presId="urn:microsoft.com/office/officeart/2005/8/layout/process3"/>
    <dgm:cxn modelId="{C0354083-D904-4099-A007-E93715566A41}" type="presParOf" srcId="{E5D422DD-3565-4886-BD6F-B54C46D7F5BD}" destId="{C399DA07-F433-446A-A511-7651E2D31800}" srcOrd="1" destOrd="0" presId="urn:microsoft.com/office/officeart/2005/8/layout/process3"/>
    <dgm:cxn modelId="{68DB95DD-ECD9-46D7-9BEB-46886D4C70E0}" type="presParOf" srcId="{E5D422DD-3565-4886-BD6F-B54C46D7F5BD}" destId="{DCC3FCEA-0BC8-4D98-BFDA-E2DB9800EC74}" srcOrd="2" destOrd="0" presId="urn:microsoft.com/office/officeart/2005/8/layout/process3"/>
    <dgm:cxn modelId="{2CF0C7DD-84F7-46C9-9CD7-6CCA096382C3}" type="presParOf" srcId="{5FAEC180-6FA0-4E38-9D1E-990ABDB6814F}" destId="{63F08940-AC90-4DF0-A1DA-5F6759C06E77}" srcOrd="3" destOrd="0" presId="urn:microsoft.com/office/officeart/2005/8/layout/process3"/>
    <dgm:cxn modelId="{FD131C09-A6AC-449B-A124-DEB643BAA517}" type="presParOf" srcId="{63F08940-AC90-4DF0-A1DA-5F6759C06E77}" destId="{DE71027A-1108-4DB8-8E4D-B5CBC710D5C6}" srcOrd="0" destOrd="0" presId="urn:microsoft.com/office/officeart/2005/8/layout/process3"/>
    <dgm:cxn modelId="{17BD5E02-246E-4B9E-A97B-C9E61DCDDE86}" type="presParOf" srcId="{5FAEC180-6FA0-4E38-9D1E-990ABDB6814F}" destId="{AB38EC2E-43FE-44BB-80CD-6BBCBABF7F5F}" srcOrd="4" destOrd="0" presId="urn:microsoft.com/office/officeart/2005/8/layout/process3"/>
    <dgm:cxn modelId="{DFFD367F-5CB4-4A0F-83D3-BF13F19885F6}" type="presParOf" srcId="{AB38EC2E-43FE-44BB-80CD-6BBCBABF7F5F}" destId="{E1297A9F-D2A1-42E6-AAC5-5241A7119404}" srcOrd="0" destOrd="0" presId="urn:microsoft.com/office/officeart/2005/8/layout/process3"/>
    <dgm:cxn modelId="{89A9B644-128B-476A-9E21-4C188751DCDE}" type="presParOf" srcId="{AB38EC2E-43FE-44BB-80CD-6BBCBABF7F5F}" destId="{53B85F9C-7627-4AF9-921B-BEED13451667}" srcOrd="1" destOrd="0" presId="urn:microsoft.com/office/officeart/2005/8/layout/process3"/>
    <dgm:cxn modelId="{666CCE90-1E1E-4713-9C5D-1B2145840B55}"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Strengthening of Commercial &amp; Regulatory Affairs Unit</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5074504D-B054-44B7-AF1D-0C421DB29C8C}">
      <dgm:prSet phldrT="[Text]"/>
      <dgm:spPr/>
      <dgm:t>
        <a:bodyPr/>
        <a:lstStyle/>
        <a:p>
          <a:r>
            <a:rPr lang="en-US"/>
            <a:t>Implementation of tools for MIS and tariff filing</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ED8FDAFD-2942-4FC1-B20A-579740B7B1CE}">
      <dgm:prSet phldrT="[Text]"/>
      <dgm:spPr/>
      <dgm:t>
        <a:bodyPr/>
        <a:lstStyle/>
        <a:p>
          <a:r>
            <a:rPr lang="en-IN"/>
            <a:t>Implementation of Regulatory Information Management System (RIMS) for MIS and tariff filing</a:t>
          </a:r>
          <a:endParaRPr lang="en-US"/>
        </a:p>
      </dgm:t>
    </dgm:pt>
    <dgm:pt modelId="{1A26A442-51E5-4AD6-B06A-7CEC8DC3C7BD}" type="parTrans" cxnId="{9C1759E4-9BA8-4B2D-88B1-CBB8F60299EF}">
      <dgm:prSet/>
      <dgm:spPr/>
      <dgm:t>
        <a:bodyPr/>
        <a:lstStyle/>
        <a:p>
          <a:endParaRPr lang="en-US"/>
        </a:p>
      </dgm:t>
    </dgm:pt>
    <dgm:pt modelId="{7D460E7C-417F-4474-9CEA-2FABDE3004EB}" type="sibTrans" cxnId="{9C1759E4-9BA8-4B2D-88B1-CBB8F60299EF}">
      <dgm:prSet/>
      <dgm:spPr/>
      <dgm:t>
        <a:bodyPr/>
        <a:lstStyle/>
        <a:p>
          <a:endParaRPr lang="en-US"/>
        </a:p>
      </dgm:t>
    </dgm:pt>
    <dgm:pt modelId="{BC8DE859-9A4D-49C8-A4C2-BEDA4E738B81}">
      <dgm:prSet phldrT="[Text]"/>
      <dgm:spPr/>
      <dgm:t>
        <a:bodyPr/>
        <a:lstStyle/>
        <a:p>
          <a:r>
            <a:rPr lang="en-US"/>
            <a:t>Preparation of guidelines for implementation of high-value consumer management system including customer service, grievance redressal mechanism, incentive-based scheme / discount schemes</a:t>
          </a:r>
        </a:p>
      </dgm:t>
    </dgm:pt>
    <dgm:pt modelId="{3BCC64F5-25D9-42CB-B767-5A1E127F210F}" type="parTrans" cxnId="{A75D34A7-B570-4D4A-999A-91FE21AF7170}">
      <dgm:prSet/>
      <dgm:spPr/>
      <dgm:t>
        <a:bodyPr/>
        <a:lstStyle/>
        <a:p>
          <a:endParaRPr lang="en-US"/>
        </a:p>
      </dgm:t>
    </dgm:pt>
    <dgm:pt modelId="{19A2AF29-6FA3-4EEF-B485-FB8298E74D2E}" type="sibTrans" cxnId="{A75D34A7-B570-4D4A-999A-91FE21AF7170}">
      <dgm:prSet/>
      <dgm:spPr/>
      <dgm:t>
        <a:bodyPr/>
        <a:lstStyle/>
        <a:p>
          <a:endParaRPr lang="en-US"/>
        </a:p>
      </dgm:t>
    </dgm:pt>
    <dgm:pt modelId="{960596DD-7C7A-47B8-98AF-52DD4BEF9344}">
      <dgm:prSet phldrT="[Text]"/>
      <dgm:spPr/>
      <dgm:t>
        <a:bodyPr/>
        <a:lstStyle/>
        <a:p>
          <a:r>
            <a:rPr lang="en-US"/>
            <a:t>High-value Consumer Management System</a:t>
          </a:r>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8AB1705B-825B-4FA9-B3F7-6234B57D8B5B}">
      <dgm:prSet phldrT="[Text]"/>
      <dgm:spPr/>
      <dgm:t>
        <a:bodyPr/>
        <a:lstStyle/>
        <a:p>
          <a:r>
            <a:rPr lang="en-US"/>
            <a:t>Strengthening and/or preparation of standardized guidelines for subsidy management, centralized fuel management, energy auditing, PPA management, System Operator interface management, cross-borer trade, collection / receivables management</a:t>
          </a:r>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8A35B518-5078-4402-ADA2-3C11CBB94566}">
      <dgm:prSet phldrT="[Text]"/>
      <dgm:spPr/>
      <dgm:t>
        <a:bodyPr/>
        <a:lstStyle/>
        <a:p>
          <a:r>
            <a:rPr lang="en-US" dirty="0"/>
            <a:t>Establishment of framework for performance monitoring and review</a:t>
          </a:r>
        </a:p>
      </dgm:t>
    </dgm:pt>
    <dgm:pt modelId="{E807DA9A-D923-4E46-B5F4-EF738A5ED0BE}" type="parTrans" cxnId="{DC7AC2BD-07AF-47ED-84EB-DEF4E7583F38}">
      <dgm:prSet/>
      <dgm:spPr/>
      <dgm:t>
        <a:bodyPr/>
        <a:lstStyle/>
        <a:p>
          <a:endParaRPr lang="en-US"/>
        </a:p>
      </dgm:t>
    </dgm:pt>
    <dgm:pt modelId="{CEC910FE-0644-4D8C-85BA-CE684C56F3C5}" type="sibTrans" cxnId="{DC7AC2BD-07AF-47ED-84EB-DEF4E7583F38}">
      <dgm:prSet/>
      <dgm:spPr/>
      <dgm:t>
        <a:bodyPr/>
        <a:lstStyle/>
        <a:p>
          <a:endParaRPr lang="en-US"/>
        </a:p>
      </dgm:t>
    </dgm:pt>
    <dgm:pt modelId="{3A2D8FAD-1489-46F7-A245-CA50D2CF5834}">
      <dgm:prSet/>
      <dgm:spPr/>
      <dgm:t>
        <a:bodyPr/>
        <a:lstStyle/>
        <a:p>
          <a:r>
            <a:rPr lang="en-US"/>
            <a:t>Capacity building on above matters</a:t>
          </a:r>
        </a:p>
      </dgm:t>
    </dgm:pt>
    <dgm:pt modelId="{B968D2E6-015E-472B-B963-68F6D05E13B7}" type="parTrans" cxnId="{1DC1956A-930D-45AD-916E-DDBD15B8FA10}">
      <dgm:prSet/>
      <dgm:spPr/>
      <dgm:t>
        <a:bodyPr/>
        <a:lstStyle/>
        <a:p>
          <a:endParaRPr lang="en-US"/>
        </a:p>
      </dgm:t>
    </dgm:pt>
    <dgm:pt modelId="{F9011C52-F83D-4D10-B873-796CAC0B5F2D}" type="sibTrans" cxnId="{1DC1956A-930D-45AD-916E-DDBD15B8FA10}">
      <dgm:prSet/>
      <dgm:spPr/>
      <dgm:t>
        <a:bodyPr/>
        <a:lstStyle/>
        <a:p>
          <a:endParaRPr lang="en-US"/>
        </a:p>
      </dgm:t>
    </dgm:pt>
    <dgm:pt modelId="{41FB0194-5CA5-4B03-9138-042F307E67EB}">
      <dgm:prSet phldrT="[Text]"/>
      <dgm:spPr/>
      <dgm:t>
        <a:bodyPr/>
        <a:lstStyle/>
        <a:p>
          <a:r>
            <a:rPr lang="en-US"/>
            <a:t>Capacity building on the above matters</a:t>
          </a:r>
        </a:p>
      </dgm:t>
    </dgm:pt>
    <dgm:pt modelId="{A274891C-E490-45A7-8D54-036565425CF9}" type="parTrans" cxnId="{00FC6B94-DF8D-4556-B0BA-3D23F3BD4868}">
      <dgm:prSet/>
      <dgm:spPr/>
      <dgm:t>
        <a:bodyPr/>
        <a:lstStyle/>
        <a:p>
          <a:endParaRPr lang="en-US"/>
        </a:p>
      </dgm:t>
    </dgm:pt>
    <dgm:pt modelId="{CE6C5A26-89CB-4823-8016-512458BE686F}" type="sibTrans" cxnId="{00FC6B94-DF8D-4556-B0BA-3D23F3BD4868}">
      <dgm:prSet/>
      <dgm:spPr/>
      <dgm:t>
        <a:bodyPr/>
        <a:lstStyle/>
        <a:p>
          <a:endParaRPr lang="en-US"/>
        </a:p>
      </dgm:t>
    </dgm:pt>
    <dgm:pt modelId="{5D5D4DAA-1E9D-4952-872E-699575ADBD23}">
      <dgm:prSet phldrT="[Text]"/>
      <dgm:spPr/>
      <dgm:t>
        <a:bodyPr/>
        <a:lstStyle/>
        <a:p>
          <a:r>
            <a:rPr lang="en-US"/>
            <a:t>Capacity building on the above aspects</a:t>
          </a:r>
        </a:p>
      </dgm:t>
    </dgm:pt>
    <dgm:pt modelId="{ED27A521-4CE4-4B99-8080-A23F1D3CA7AD}" type="parTrans" cxnId="{0AB35665-CBE8-4308-B045-0BA867774619}">
      <dgm:prSet/>
      <dgm:spPr/>
      <dgm:t>
        <a:bodyPr/>
        <a:lstStyle/>
        <a:p>
          <a:endParaRPr lang="en-US"/>
        </a:p>
      </dgm:t>
    </dgm:pt>
    <dgm:pt modelId="{A9918CA4-566F-4D77-B848-B6CD16E38C41}" type="sibTrans" cxnId="{0AB35665-CBE8-4308-B045-0BA867774619}">
      <dgm:prSet/>
      <dgm:spPr/>
      <dgm:t>
        <a:bodyPr/>
        <a:lstStyle/>
        <a:p>
          <a:endParaRPr lang="en-US"/>
        </a:p>
      </dgm:t>
    </dgm:pt>
    <dgm:pt modelId="{E78B23F4-3E95-42D7-BA5D-404422670735}">
      <dgm:prSet phldrT="[Text]"/>
      <dgm:spPr/>
      <dgm:t>
        <a:bodyPr/>
        <a:lstStyle/>
        <a:p>
          <a:r>
            <a:rPr lang="en-US"/>
            <a:t>Implementation of the mechanism</a:t>
          </a:r>
        </a:p>
      </dgm:t>
    </dgm:pt>
    <dgm:pt modelId="{3BAF8C6E-5757-45EF-BB9C-7A7B3AF69446}" type="parTrans" cxnId="{89B5AFC9-2C8A-4AC2-A1D6-8835F74A4D24}">
      <dgm:prSet/>
      <dgm:spPr/>
      <dgm:t>
        <a:bodyPr/>
        <a:lstStyle/>
        <a:p>
          <a:endParaRPr lang="en-US"/>
        </a:p>
      </dgm:t>
    </dgm:pt>
    <dgm:pt modelId="{1D70502B-F5F2-4E9E-BC49-FD7BEECD541A}" type="sibTrans" cxnId="{89B5AFC9-2C8A-4AC2-A1D6-8835F74A4D24}">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3">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3"/>
      <dgm:spPr/>
      <dgm:t>
        <a:bodyPr/>
        <a:lstStyle/>
        <a:p>
          <a:endParaRPr lang="en-US"/>
        </a:p>
      </dgm:t>
    </dgm:pt>
    <dgm:pt modelId="{78DF5B2A-5010-4ED2-94FF-7B0692DAFAB8}" type="pres">
      <dgm:prSet presAssocID="{960596DD-7C7A-47B8-98AF-52DD4BEF9344}" presName="desTx" presStyleLbl="fgAcc1" presStyleIdx="2" presStyleCnt="3">
        <dgm:presLayoutVars>
          <dgm:bulletEnabled val="1"/>
        </dgm:presLayoutVars>
      </dgm:prSet>
      <dgm:spPr/>
      <dgm:t>
        <a:bodyPr/>
        <a:lstStyle/>
        <a:p>
          <a:endParaRPr lang="en-US"/>
        </a:p>
      </dgm:t>
    </dgm:pt>
  </dgm:ptLst>
  <dgm:cxnLst>
    <dgm:cxn modelId="{288D6556-D78D-42E2-834B-00062A324825}" srcId="{72C595F7-F9FE-4C3C-B546-D393C43DA1D5}" destId="{5074504D-B054-44B7-AF1D-0C421DB29C8C}" srcOrd="1" destOrd="0" parTransId="{38550204-A29D-4D29-89AB-206E975EF185}" sibTransId="{836E2BBF-AE6F-44B9-AD26-342382726746}"/>
    <dgm:cxn modelId="{3DA164C8-0D5D-48F9-8245-0517232438CF}" type="presOf" srcId="{5074504D-B054-44B7-AF1D-0C421DB29C8C}" destId="{BF9E2F76-6B5D-43DB-A7F2-4A21C009BF40}" srcOrd="0" destOrd="0" presId="urn:microsoft.com/office/officeart/2005/8/layout/process3"/>
    <dgm:cxn modelId="{DC7AC2BD-07AF-47ED-84EB-DEF4E7583F38}" srcId="{5074504D-B054-44B7-AF1D-0C421DB29C8C}" destId="{8A35B518-5078-4402-ADA2-3C11CBB94566}" srcOrd="1" destOrd="0" parTransId="{E807DA9A-D923-4E46-B5F4-EF738A5ED0BE}" sibTransId="{CEC910FE-0644-4D8C-85BA-CE684C56F3C5}"/>
    <dgm:cxn modelId="{1E6222C9-1F7A-46A0-A1AE-417E842B6CD1}" type="presOf" srcId="{836E2BBF-AE6F-44B9-AD26-342382726746}" destId="{63F08940-AC90-4DF0-A1DA-5F6759C06E77}" srcOrd="0" destOrd="0" presId="urn:microsoft.com/office/officeart/2005/8/layout/process3"/>
    <dgm:cxn modelId="{B1993D54-1660-42FD-BD44-EA5ED2720719}" srcId="{03454651-1876-463C-891F-DBFB67BE2D7D}" destId="{8AB1705B-825B-4FA9-B3F7-6234B57D8B5B}" srcOrd="0" destOrd="0" parTransId="{B0921289-A644-45F1-8E03-58A989394A5C}" sibTransId="{59EC8C30-26FF-4A0A-AC62-94A2D4AE1DA6}"/>
    <dgm:cxn modelId="{A75D34A7-B570-4D4A-999A-91FE21AF7170}" srcId="{960596DD-7C7A-47B8-98AF-52DD4BEF9344}" destId="{BC8DE859-9A4D-49C8-A4C2-BEDA4E738B81}" srcOrd="0" destOrd="0" parTransId="{3BCC64F5-25D9-42CB-B767-5A1E127F210F}" sibTransId="{19A2AF29-6FA3-4EEF-B485-FB8298E74D2E}"/>
    <dgm:cxn modelId="{0AB35665-CBE8-4308-B045-0BA867774619}" srcId="{960596DD-7C7A-47B8-98AF-52DD4BEF9344}" destId="{5D5D4DAA-1E9D-4952-872E-699575ADBD23}" srcOrd="1" destOrd="0" parTransId="{ED27A521-4CE4-4B99-8080-A23F1D3CA7AD}" sibTransId="{A9918CA4-566F-4D77-B848-B6CD16E38C41}"/>
    <dgm:cxn modelId="{E77B393D-2176-4B7F-A9D7-AF0C68D3E253}" type="presOf" srcId="{8AB1705B-825B-4FA9-B3F7-6234B57D8B5B}" destId="{7E8F3D55-80E5-4F13-9459-E39284D0328D}" srcOrd="0" destOrd="0" presId="urn:microsoft.com/office/officeart/2005/8/layout/process3"/>
    <dgm:cxn modelId="{89DE4E3B-5393-47DD-9D8A-1AC21B14EB4F}" type="presOf" srcId="{03454651-1876-463C-891F-DBFB67BE2D7D}" destId="{3A83BC6F-B725-4345-B234-B50F8B6B5DAE}" srcOrd="1" destOrd="0" presId="urn:microsoft.com/office/officeart/2005/8/layout/process3"/>
    <dgm:cxn modelId="{89B5AFC9-2C8A-4AC2-A1D6-8835F74A4D24}" srcId="{960596DD-7C7A-47B8-98AF-52DD4BEF9344}" destId="{E78B23F4-3E95-42D7-BA5D-404422670735}" srcOrd="2" destOrd="0" parTransId="{3BAF8C6E-5757-45EF-BB9C-7A7B3AF69446}" sibTransId="{1D70502B-F5F2-4E9E-BC49-FD7BEECD541A}"/>
    <dgm:cxn modelId="{3F126AD2-5D6B-4608-B43F-A7F81CFEA41C}" type="presOf" srcId="{3A2D8FAD-1489-46F7-A245-CA50D2CF5834}" destId="{7E8F3D55-80E5-4F13-9459-E39284D0328D}" srcOrd="0" destOrd="1" presId="urn:microsoft.com/office/officeart/2005/8/layout/process3"/>
    <dgm:cxn modelId="{E76E0166-991E-4A9E-BD4B-6C06B1812B88}" type="presOf" srcId="{5D5D4DAA-1E9D-4952-872E-699575ADBD23}" destId="{78DF5B2A-5010-4ED2-94FF-7B0692DAFAB8}" srcOrd="0" destOrd="1" presId="urn:microsoft.com/office/officeart/2005/8/layout/process3"/>
    <dgm:cxn modelId="{7BC139E7-5264-4C4E-8BF7-E397E26586FA}" type="presOf" srcId="{960596DD-7C7A-47B8-98AF-52DD4BEF9344}" destId="{53B85F9C-7627-4AF9-921B-BEED13451667}" srcOrd="1" destOrd="0" presId="urn:microsoft.com/office/officeart/2005/8/layout/process3"/>
    <dgm:cxn modelId="{899120D8-704C-4AF3-8EBB-FEAEF5A2AEA4}" type="presOf" srcId="{03454651-1876-463C-891F-DBFB67BE2D7D}" destId="{3D847FC2-380F-49AF-936C-1553F8F26F3C}" srcOrd="0" destOrd="0" presId="urn:microsoft.com/office/officeart/2005/8/layout/process3"/>
    <dgm:cxn modelId="{4D4C4529-A18F-410B-AEBE-C9581A019114}" type="presOf" srcId="{32EC2ED1-5A41-47F2-A0A5-89A6987013DA}" destId="{2185D18F-377B-4641-B87A-82A7FD17C65D}" srcOrd="0" destOrd="0" presId="urn:microsoft.com/office/officeart/2005/8/layout/process3"/>
    <dgm:cxn modelId="{69644B4C-A38F-407A-B005-D71332735460}" type="presOf" srcId="{8A35B518-5078-4402-ADA2-3C11CBB94566}" destId="{DCC3FCEA-0BC8-4D98-BFDA-E2DB9800EC74}" srcOrd="0" destOrd="1" presId="urn:microsoft.com/office/officeart/2005/8/layout/process3"/>
    <dgm:cxn modelId="{9C1759E4-9BA8-4B2D-88B1-CBB8F60299EF}" srcId="{5074504D-B054-44B7-AF1D-0C421DB29C8C}" destId="{ED8FDAFD-2942-4FC1-B20A-579740B7B1CE}" srcOrd="0" destOrd="0" parTransId="{1A26A442-51E5-4AD6-B06A-7CEC8DC3C7BD}" sibTransId="{7D460E7C-417F-4474-9CEA-2FABDE3004EB}"/>
    <dgm:cxn modelId="{00FC6B94-DF8D-4556-B0BA-3D23F3BD4868}" srcId="{5074504D-B054-44B7-AF1D-0C421DB29C8C}" destId="{41FB0194-5CA5-4B03-9138-042F307E67EB}" srcOrd="2" destOrd="0" parTransId="{A274891C-E490-45A7-8D54-036565425CF9}" sibTransId="{CE6C5A26-89CB-4823-8016-512458BE686F}"/>
    <dgm:cxn modelId="{FA3A59D4-953E-41BF-B690-3EDBA1E40455}" type="presOf" srcId="{41FB0194-5CA5-4B03-9138-042F307E67EB}" destId="{DCC3FCEA-0BC8-4D98-BFDA-E2DB9800EC74}" srcOrd="0" destOrd="2" presId="urn:microsoft.com/office/officeart/2005/8/layout/process3"/>
    <dgm:cxn modelId="{1DC1956A-930D-45AD-916E-DDBD15B8FA10}" srcId="{03454651-1876-463C-891F-DBFB67BE2D7D}" destId="{3A2D8FAD-1489-46F7-A245-CA50D2CF5834}" srcOrd="1" destOrd="0" parTransId="{B968D2E6-015E-472B-B963-68F6D05E13B7}" sibTransId="{F9011C52-F83D-4D10-B873-796CAC0B5F2D}"/>
    <dgm:cxn modelId="{453CEB6A-F61A-4C89-9592-9EB5104FC954}" srcId="{72C595F7-F9FE-4C3C-B546-D393C43DA1D5}" destId="{03454651-1876-463C-891F-DBFB67BE2D7D}" srcOrd="0" destOrd="0" parTransId="{34ADBB6D-89A4-4913-83ED-5D871B73AD66}" sibTransId="{32EC2ED1-5A41-47F2-A0A5-89A6987013DA}"/>
    <dgm:cxn modelId="{6DAB4FBA-0930-4C2A-9F7D-D2D2C9E89364}" type="presOf" srcId="{72C595F7-F9FE-4C3C-B546-D393C43DA1D5}" destId="{5FAEC180-6FA0-4E38-9D1E-990ABDB6814F}" srcOrd="0" destOrd="0" presId="urn:microsoft.com/office/officeart/2005/8/layout/process3"/>
    <dgm:cxn modelId="{5F61EC4E-17BC-478E-9680-F1CA1C9A890F}" type="presOf" srcId="{BC8DE859-9A4D-49C8-A4C2-BEDA4E738B81}" destId="{78DF5B2A-5010-4ED2-94FF-7B0692DAFAB8}" srcOrd="0" destOrd="0" presId="urn:microsoft.com/office/officeart/2005/8/layout/process3"/>
    <dgm:cxn modelId="{470B2423-3D9F-49F4-B42D-20EF95C3650F}" type="presOf" srcId="{E78B23F4-3E95-42D7-BA5D-404422670735}" destId="{78DF5B2A-5010-4ED2-94FF-7B0692DAFAB8}" srcOrd="0" destOrd="2" presId="urn:microsoft.com/office/officeart/2005/8/layout/process3"/>
    <dgm:cxn modelId="{B5158640-5273-412C-8640-965AF20309AE}" type="presOf" srcId="{836E2BBF-AE6F-44B9-AD26-342382726746}" destId="{DE71027A-1108-4DB8-8E4D-B5CBC710D5C6}" srcOrd="1" destOrd="0" presId="urn:microsoft.com/office/officeart/2005/8/layout/process3"/>
    <dgm:cxn modelId="{1E46CC80-45C6-45FE-B878-1AF82206837E}" type="presOf" srcId="{ED8FDAFD-2942-4FC1-B20A-579740B7B1CE}" destId="{DCC3FCEA-0BC8-4D98-BFDA-E2DB9800EC74}" srcOrd="0" destOrd="0" presId="urn:microsoft.com/office/officeart/2005/8/layout/process3"/>
    <dgm:cxn modelId="{B00A6711-438B-472A-9CF3-FB0A76D88C2A}" type="presOf" srcId="{32EC2ED1-5A41-47F2-A0A5-89A6987013DA}" destId="{4B650DD2-5F02-4AE9-9DDB-38B6153A658F}" srcOrd="1" destOrd="0" presId="urn:microsoft.com/office/officeart/2005/8/layout/process3"/>
    <dgm:cxn modelId="{7D4203DF-B17C-4BBE-B087-C1122A4DC0FE}" type="presOf" srcId="{960596DD-7C7A-47B8-98AF-52DD4BEF9344}" destId="{E1297A9F-D2A1-42E6-AAC5-5241A7119404}" srcOrd="0" destOrd="0" presId="urn:microsoft.com/office/officeart/2005/8/layout/process3"/>
    <dgm:cxn modelId="{41CFE70C-0C19-483C-8A83-1D7BA5FF5852}" srcId="{72C595F7-F9FE-4C3C-B546-D393C43DA1D5}" destId="{960596DD-7C7A-47B8-98AF-52DD4BEF9344}" srcOrd="2" destOrd="0" parTransId="{7170E545-06EB-4CA3-9A7C-2936BD4CF34C}" sibTransId="{3449E61D-4836-4734-B25E-4CB3DD612893}"/>
    <dgm:cxn modelId="{360EF778-4FF9-46D2-9A89-83564840A016}" type="presOf" srcId="{5074504D-B054-44B7-AF1D-0C421DB29C8C}" destId="{C399DA07-F433-446A-A511-7651E2D31800}" srcOrd="1" destOrd="0" presId="urn:microsoft.com/office/officeart/2005/8/layout/process3"/>
    <dgm:cxn modelId="{D494E456-F7B1-4046-B720-4E61EE6A68C6}" type="presParOf" srcId="{5FAEC180-6FA0-4E38-9D1E-990ABDB6814F}" destId="{1ED04EDF-BDDC-4FBE-ADFE-4ECCA1ABCE5C}" srcOrd="0" destOrd="0" presId="urn:microsoft.com/office/officeart/2005/8/layout/process3"/>
    <dgm:cxn modelId="{04571D19-9926-4342-94E4-CB458255CD6E}" type="presParOf" srcId="{1ED04EDF-BDDC-4FBE-ADFE-4ECCA1ABCE5C}" destId="{3D847FC2-380F-49AF-936C-1553F8F26F3C}" srcOrd="0" destOrd="0" presId="urn:microsoft.com/office/officeart/2005/8/layout/process3"/>
    <dgm:cxn modelId="{368C1752-1BD6-479D-BC3D-5EC085D654BC}" type="presParOf" srcId="{1ED04EDF-BDDC-4FBE-ADFE-4ECCA1ABCE5C}" destId="{3A83BC6F-B725-4345-B234-B50F8B6B5DAE}" srcOrd="1" destOrd="0" presId="urn:microsoft.com/office/officeart/2005/8/layout/process3"/>
    <dgm:cxn modelId="{BB52A6A1-D837-4382-960E-13A053E570EA}" type="presParOf" srcId="{1ED04EDF-BDDC-4FBE-ADFE-4ECCA1ABCE5C}" destId="{7E8F3D55-80E5-4F13-9459-E39284D0328D}" srcOrd="2" destOrd="0" presId="urn:microsoft.com/office/officeart/2005/8/layout/process3"/>
    <dgm:cxn modelId="{F2290A0E-2648-4E06-8A25-332255A11758}" type="presParOf" srcId="{5FAEC180-6FA0-4E38-9D1E-990ABDB6814F}" destId="{2185D18F-377B-4641-B87A-82A7FD17C65D}" srcOrd="1" destOrd="0" presId="urn:microsoft.com/office/officeart/2005/8/layout/process3"/>
    <dgm:cxn modelId="{7DF1033E-ECA0-4353-8E88-4A04C5F6D43B}" type="presParOf" srcId="{2185D18F-377B-4641-B87A-82A7FD17C65D}" destId="{4B650DD2-5F02-4AE9-9DDB-38B6153A658F}" srcOrd="0" destOrd="0" presId="urn:microsoft.com/office/officeart/2005/8/layout/process3"/>
    <dgm:cxn modelId="{F00367C4-7A84-468D-8603-1D8A1C42A781}" type="presParOf" srcId="{5FAEC180-6FA0-4E38-9D1E-990ABDB6814F}" destId="{E5D422DD-3565-4886-BD6F-B54C46D7F5BD}" srcOrd="2" destOrd="0" presId="urn:microsoft.com/office/officeart/2005/8/layout/process3"/>
    <dgm:cxn modelId="{AB534F44-32E2-415C-9673-F73C2D6BF0D8}" type="presParOf" srcId="{E5D422DD-3565-4886-BD6F-B54C46D7F5BD}" destId="{BF9E2F76-6B5D-43DB-A7F2-4A21C009BF40}" srcOrd="0" destOrd="0" presId="urn:microsoft.com/office/officeart/2005/8/layout/process3"/>
    <dgm:cxn modelId="{5B4AA1C4-70AB-4C42-B9F8-35ADA945A569}" type="presParOf" srcId="{E5D422DD-3565-4886-BD6F-B54C46D7F5BD}" destId="{C399DA07-F433-446A-A511-7651E2D31800}" srcOrd="1" destOrd="0" presId="urn:microsoft.com/office/officeart/2005/8/layout/process3"/>
    <dgm:cxn modelId="{9127A6E5-A983-4DBA-A841-302674747B87}" type="presParOf" srcId="{E5D422DD-3565-4886-BD6F-B54C46D7F5BD}" destId="{DCC3FCEA-0BC8-4D98-BFDA-E2DB9800EC74}" srcOrd="2" destOrd="0" presId="urn:microsoft.com/office/officeart/2005/8/layout/process3"/>
    <dgm:cxn modelId="{B185667A-9B03-41B8-AAD3-EE3A66FF62FE}" type="presParOf" srcId="{5FAEC180-6FA0-4E38-9D1E-990ABDB6814F}" destId="{63F08940-AC90-4DF0-A1DA-5F6759C06E77}" srcOrd="3" destOrd="0" presId="urn:microsoft.com/office/officeart/2005/8/layout/process3"/>
    <dgm:cxn modelId="{E86FE9D5-5BCE-4EE1-9875-EB49F964627B}" type="presParOf" srcId="{63F08940-AC90-4DF0-A1DA-5F6759C06E77}" destId="{DE71027A-1108-4DB8-8E4D-B5CBC710D5C6}" srcOrd="0" destOrd="0" presId="urn:microsoft.com/office/officeart/2005/8/layout/process3"/>
    <dgm:cxn modelId="{35635AD7-904D-4524-861A-3F161603E1BE}" type="presParOf" srcId="{5FAEC180-6FA0-4E38-9D1E-990ABDB6814F}" destId="{AB38EC2E-43FE-44BB-80CD-6BBCBABF7F5F}" srcOrd="4" destOrd="0" presId="urn:microsoft.com/office/officeart/2005/8/layout/process3"/>
    <dgm:cxn modelId="{EBB7C9AA-63F7-4534-B9E1-EF523CE8B8D5}" type="presParOf" srcId="{AB38EC2E-43FE-44BB-80CD-6BBCBABF7F5F}" destId="{E1297A9F-D2A1-42E6-AAC5-5241A7119404}" srcOrd="0" destOrd="0" presId="urn:microsoft.com/office/officeart/2005/8/layout/process3"/>
    <dgm:cxn modelId="{283C44E3-E5C1-4D3B-9596-8C5531F1001D}" type="presParOf" srcId="{AB38EC2E-43FE-44BB-80CD-6BBCBABF7F5F}" destId="{53B85F9C-7627-4AF9-921B-BEED13451667}" srcOrd="1" destOrd="0" presId="urn:microsoft.com/office/officeart/2005/8/layout/process3"/>
    <dgm:cxn modelId="{2EC16608-3A48-4F8D-A0C5-667950CE016A}"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As-Is ICT assessment</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5074504D-B054-44B7-AF1D-0C421DB29C8C}">
      <dgm:prSet phldrT="[Text]"/>
      <dgm:spPr/>
      <dgm:t>
        <a:bodyPr/>
        <a:lstStyle/>
        <a:p>
          <a:r>
            <a:rPr lang="en-US"/>
            <a:t>To-Be ICT framework and ICT / ERP strategy</a:t>
          </a:r>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960596DD-7C7A-47B8-98AF-52DD4BEF9344}">
      <dgm:prSet phldrT="[Text]"/>
      <dgm:spPr/>
      <dgm:t>
        <a:bodyPr/>
        <a:lstStyle/>
        <a:p>
          <a:r>
            <a:rPr lang="en-US"/>
            <a:t>ICT implementation strategy and feasibility study</a:t>
          </a:r>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8AB1705B-825B-4FA9-B3F7-6234B57D8B5B}">
      <dgm:prSet phldrT="[Text]"/>
      <dgm:spPr/>
      <dgm:t>
        <a:bodyPr/>
        <a:lstStyle/>
        <a:p>
          <a:r>
            <a:rPr lang="en-US"/>
            <a:t>Assessment of existing ICT infrastructure - software and hardware</a:t>
          </a:r>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7836C9D6-2700-4CD3-B645-0407619AFA3E}">
      <dgm:prSet phldrT="[Text]"/>
      <dgm:spPr/>
      <dgm:t>
        <a:bodyPr/>
        <a:lstStyle/>
        <a:p>
          <a:r>
            <a:rPr lang="en-US"/>
            <a:t>Assessment of people ICT skills</a:t>
          </a:r>
        </a:p>
      </dgm:t>
    </dgm:pt>
    <dgm:pt modelId="{E7EAC962-BF2B-4B65-B2C6-ED79D4605D10}" type="parTrans" cxnId="{31D8EF4E-CC11-483C-AD9F-05AC82AE9A18}">
      <dgm:prSet/>
      <dgm:spPr/>
      <dgm:t>
        <a:bodyPr/>
        <a:lstStyle/>
        <a:p>
          <a:endParaRPr lang="en-US"/>
        </a:p>
      </dgm:t>
    </dgm:pt>
    <dgm:pt modelId="{C9EB19A3-AF5C-424B-81E3-2FCCB505DC9F}" type="sibTrans" cxnId="{31D8EF4E-CC11-483C-AD9F-05AC82AE9A18}">
      <dgm:prSet/>
      <dgm:spPr/>
      <dgm:t>
        <a:bodyPr/>
        <a:lstStyle/>
        <a:p>
          <a:endParaRPr lang="en-US"/>
        </a:p>
      </dgm:t>
    </dgm:pt>
    <dgm:pt modelId="{B0505CC8-121B-4ADC-A11F-078D998DF575}">
      <dgm:prSet phldrT="[Text]"/>
      <dgm:spPr/>
      <dgm:t>
        <a:bodyPr/>
        <a:lstStyle/>
        <a:p>
          <a:r>
            <a:rPr lang="en-US"/>
            <a:t>Assessment of ICT penetration in business processes</a:t>
          </a:r>
        </a:p>
      </dgm:t>
    </dgm:pt>
    <dgm:pt modelId="{6FBDFC90-3A65-45E0-B902-4FA53DB1E5EE}" type="parTrans" cxnId="{144E1A4E-E1ED-42FD-955F-5C4905D172E3}">
      <dgm:prSet/>
      <dgm:spPr/>
      <dgm:t>
        <a:bodyPr/>
        <a:lstStyle/>
        <a:p>
          <a:endParaRPr lang="en-US"/>
        </a:p>
      </dgm:t>
    </dgm:pt>
    <dgm:pt modelId="{2FF66FCD-871D-4033-80D5-63EBD07FA29F}" type="sibTrans" cxnId="{144E1A4E-E1ED-42FD-955F-5C4905D172E3}">
      <dgm:prSet/>
      <dgm:spPr/>
      <dgm:t>
        <a:bodyPr/>
        <a:lstStyle/>
        <a:p>
          <a:endParaRPr lang="en-US"/>
        </a:p>
      </dgm:t>
    </dgm:pt>
    <dgm:pt modelId="{8A35B518-5078-4402-ADA2-3C11CBB94566}">
      <dgm:prSet phldrT="[Text]"/>
      <dgm:spPr/>
      <dgm:t>
        <a:bodyPr/>
        <a:lstStyle/>
        <a:p>
          <a:r>
            <a:rPr lang="en-US"/>
            <a:t>Preparation of To-Be business architecture, business process blue-print, information system architecture, application architecture and infrastructural architecture</a:t>
          </a:r>
        </a:p>
      </dgm:t>
    </dgm:pt>
    <dgm:pt modelId="{CEC910FE-0644-4D8C-85BA-CE684C56F3C5}" type="sibTrans" cxnId="{DC7AC2BD-07AF-47ED-84EB-DEF4E7583F38}">
      <dgm:prSet/>
      <dgm:spPr/>
      <dgm:t>
        <a:bodyPr/>
        <a:lstStyle/>
        <a:p>
          <a:endParaRPr lang="en-US"/>
        </a:p>
      </dgm:t>
    </dgm:pt>
    <dgm:pt modelId="{E807DA9A-D923-4E46-B5F4-EF738A5ED0BE}" type="parTrans" cxnId="{DC7AC2BD-07AF-47ED-84EB-DEF4E7583F38}">
      <dgm:prSet/>
      <dgm:spPr/>
      <dgm:t>
        <a:bodyPr/>
        <a:lstStyle/>
        <a:p>
          <a:endParaRPr lang="en-US"/>
        </a:p>
      </dgm:t>
    </dgm:pt>
    <dgm:pt modelId="{CB89569D-465F-400C-82F3-808E20145B10}">
      <dgm:prSet phldrT="[Text]"/>
      <dgm:spPr/>
      <dgm:t>
        <a:bodyPr/>
        <a:lstStyle/>
        <a:p>
          <a:r>
            <a:rPr lang="en-US"/>
            <a:t>Preparation ICT strategy, implementation plan, ICT organization and change management plan</a:t>
          </a:r>
        </a:p>
      </dgm:t>
    </dgm:pt>
    <dgm:pt modelId="{183D4714-598C-486F-9BF8-40B45F6451B9}" type="parTrans" cxnId="{A73FE126-3283-4EFC-904B-17FEF2A95A93}">
      <dgm:prSet/>
      <dgm:spPr/>
      <dgm:t>
        <a:bodyPr/>
        <a:lstStyle/>
        <a:p>
          <a:endParaRPr lang="en-US"/>
        </a:p>
      </dgm:t>
    </dgm:pt>
    <dgm:pt modelId="{26E30BC5-A2A1-4A67-8477-CED7D53148D4}" type="sibTrans" cxnId="{A73FE126-3283-4EFC-904B-17FEF2A95A93}">
      <dgm:prSet/>
      <dgm:spPr/>
      <dgm:t>
        <a:bodyPr/>
        <a:lstStyle/>
        <a:p>
          <a:endParaRPr lang="en-US"/>
        </a:p>
      </dgm:t>
    </dgm:pt>
    <dgm:pt modelId="{87A4BE03-B0AD-438C-9540-01A7D05EC887}">
      <dgm:prSet phldrT="[Text]"/>
      <dgm:spPr/>
      <dgm:t>
        <a:bodyPr/>
        <a:lstStyle/>
        <a:p>
          <a:r>
            <a:rPr lang="en-US"/>
            <a:t>Preparation of strategy for ERP implementation for finance and accounts, material management, maintenance management, project management</a:t>
          </a:r>
        </a:p>
      </dgm:t>
    </dgm:pt>
    <dgm:pt modelId="{45094377-E8AC-4D4D-8DF0-6D365073C2E3}" type="parTrans" cxnId="{4EB38B0E-ADD4-49A9-99BF-A33EC4287F15}">
      <dgm:prSet/>
      <dgm:spPr/>
      <dgm:t>
        <a:bodyPr/>
        <a:lstStyle/>
        <a:p>
          <a:endParaRPr lang="en-US"/>
        </a:p>
      </dgm:t>
    </dgm:pt>
    <dgm:pt modelId="{F73C11D0-5690-459C-BE70-566847C5B0E4}" type="sibTrans" cxnId="{4EB38B0E-ADD4-49A9-99BF-A33EC4287F15}">
      <dgm:prSet/>
      <dgm:spPr/>
      <dgm:t>
        <a:bodyPr/>
        <a:lstStyle/>
        <a:p>
          <a:endParaRPr lang="en-US"/>
        </a:p>
      </dgm:t>
    </dgm:pt>
    <dgm:pt modelId="{60034DBA-77A0-4C1F-9666-7B743E39528A}">
      <dgm:prSet phldrT="[Text]"/>
      <dgm:spPr/>
      <dgm:t>
        <a:bodyPr/>
        <a:lstStyle/>
        <a:p>
          <a:r>
            <a:rPr lang="en-US"/>
            <a:t>Strategy for IT-based specialized application and DW/BI solution for grid management and system operation, commercial, planning, regulatory and MIS, HR management</a:t>
          </a:r>
        </a:p>
      </dgm:t>
    </dgm:pt>
    <dgm:pt modelId="{7FAF8563-2F8B-4E06-8C2F-379CBEE5633D}" type="parTrans" cxnId="{E49A3C3C-3220-4055-AEC4-2FB78ECF3834}">
      <dgm:prSet/>
      <dgm:spPr/>
      <dgm:t>
        <a:bodyPr/>
        <a:lstStyle/>
        <a:p>
          <a:endParaRPr lang="en-US"/>
        </a:p>
      </dgm:t>
    </dgm:pt>
    <dgm:pt modelId="{CD0D37F2-D107-43C9-AEDE-893C3696B450}" type="sibTrans" cxnId="{E49A3C3C-3220-4055-AEC4-2FB78ECF3834}">
      <dgm:prSet/>
      <dgm:spPr/>
      <dgm:t>
        <a:bodyPr/>
        <a:lstStyle/>
        <a:p>
          <a:endParaRPr lang="en-US"/>
        </a:p>
      </dgm:t>
    </dgm:pt>
    <dgm:pt modelId="{E4BA7210-249E-4888-938B-BC1118D9CA42}">
      <dgm:prSet phldrT="[Text]"/>
      <dgm:spPr/>
      <dgm:t>
        <a:bodyPr/>
        <a:lstStyle/>
        <a:p>
          <a:r>
            <a:rPr lang="en-US"/>
            <a:t>Establishment of ICT organization</a:t>
          </a:r>
        </a:p>
      </dgm:t>
    </dgm:pt>
    <dgm:pt modelId="{E5140982-3EFA-405B-925B-38406417B49B}" type="parTrans" cxnId="{0D925723-0C2F-4282-9D77-12BDFA84C675}">
      <dgm:prSet/>
      <dgm:spPr/>
      <dgm:t>
        <a:bodyPr/>
        <a:lstStyle/>
        <a:p>
          <a:endParaRPr lang="en-US"/>
        </a:p>
      </dgm:t>
    </dgm:pt>
    <dgm:pt modelId="{BC8B7F9D-5294-46BE-BD51-7C1C8EF184EA}" type="sibTrans" cxnId="{0D925723-0C2F-4282-9D77-12BDFA84C675}">
      <dgm:prSet/>
      <dgm:spPr/>
      <dgm:t>
        <a:bodyPr/>
        <a:lstStyle/>
        <a:p>
          <a:endParaRPr lang="en-US"/>
        </a:p>
      </dgm:t>
    </dgm:pt>
    <dgm:pt modelId="{080AFD4A-9B8D-496C-867C-534FFEA6879F}">
      <dgm:prSet phldrT="[Text]"/>
      <dgm:spPr/>
      <dgm:t>
        <a:bodyPr/>
        <a:lstStyle/>
        <a:p>
          <a:r>
            <a:rPr lang="en-US"/>
            <a:t>Feasibility study for implementation of GIS and SCADA</a:t>
          </a:r>
        </a:p>
      </dgm:t>
    </dgm:pt>
    <dgm:pt modelId="{DCDE1892-F2C3-4024-85B0-4CC079EDB91F}" type="parTrans" cxnId="{F9FD161D-FE35-4599-B7B9-8B8F166B8AD1}">
      <dgm:prSet/>
      <dgm:spPr/>
      <dgm:t>
        <a:bodyPr/>
        <a:lstStyle/>
        <a:p>
          <a:endParaRPr lang="en-US"/>
        </a:p>
      </dgm:t>
    </dgm:pt>
    <dgm:pt modelId="{2C7EE132-2CD9-4D84-B6A0-C9FD7162FB0E}" type="sibTrans" cxnId="{F9FD161D-FE35-4599-B7B9-8B8F166B8AD1}">
      <dgm:prSet/>
      <dgm:spPr/>
      <dgm:t>
        <a:bodyPr/>
        <a:lstStyle/>
        <a:p>
          <a:endParaRPr lang="en-US"/>
        </a:p>
      </dgm:t>
    </dgm:pt>
    <dgm:pt modelId="{49F30624-17F8-4952-A167-61CA5F7F8D85}">
      <dgm:prSet phldrT="[Text]"/>
      <dgm:spPr/>
      <dgm:t>
        <a:bodyPr/>
        <a:lstStyle/>
        <a:p>
          <a:r>
            <a:rPr lang="en-US"/>
            <a:t>Feasibility study for substation automation</a:t>
          </a:r>
        </a:p>
      </dgm:t>
    </dgm:pt>
    <dgm:pt modelId="{EEFF68DB-319C-4CA2-A022-50E5D2D44DFD}" type="parTrans" cxnId="{B202C75A-AA26-4985-BAD8-6F8639A89A1B}">
      <dgm:prSet/>
      <dgm:spPr/>
      <dgm:t>
        <a:bodyPr/>
        <a:lstStyle/>
        <a:p>
          <a:endParaRPr lang="en-US"/>
        </a:p>
      </dgm:t>
    </dgm:pt>
    <dgm:pt modelId="{6F63BA6F-0B43-4D1A-9ADB-1997D0138B49}" type="sibTrans" cxnId="{B202C75A-AA26-4985-BAD8-6F8639A89A1B}">
      <dgm:prSet/>
      <dgm:spPr/>
      <dgm:t>
        <a:bodyPr/>
        <a:lstStyle/>
        <a:p>
          <a:endParaRPr lang="en-US"/>
        </a:p>
      </dgm:t>
    </dgm:pt>
    <dgm:pt modelId="{F56B2188-20A1-44C9-AD44-74D6C9C0475E}">
      <dgm:prSet phldrT="[Text]"/>
      <dgm:spPr/>
      <dgm:t>
        <a:bodyPr/>
        <a:lstStyle/>
        <a:p>
          <a:r>
            <a:rPr lang="en-US"/>
            <a:t>Viability assessment for smart grid implementation and RE integration</a:t>
          </a:r>
        </a:p>
      </dgm:t>
    </dgm:pt>
    <dgm:pt modelId="{CDC4ADD4-C76C-4973-843E-07F6396AA2CA}" type="parTrans" cxnId="{6B93232F-4F94-4003-9DB8-EFB083F3843F}">
      <dgm:prSet/>
      <dgm:spPr/>
      <dgm:t>
        <a:bodyPr/>
        <a:lstStyle/>
        <a:p>
          <a:endParaRPr lang="en-US"/>
        </a:p>
      </dgm:t>
    </dgm:pt>
    <dgm:pt modelId="{1FFB163C-BECE-4132-88A4-0DF1988AD0E8}" type="sibTrans" cxnId="{6B93232F-4F94-4003-9DB8-EFB083F3843F}">
      <dgm:prSet/>
      <dgm:spPr/>
      <dgm:t>
        <a:bodyPr/>
        <a:lstStyle/>
        <a:p>
          <a:endParaRPr lang="en-US"/>
        </a:p>
      </dgm:t>
    </dgm:pt>
    <dgm:pt modelId="{1D31A5F4-3CA7-4EA3-B1EF-28F52F7385C6}">
      <dgm:prSet phldrT="[Text]"/>
      <dgm:spPr/>
      <dgm:t>
        <a:bodyPr/>
        <a:lstStyle/>
        <a:p>
          <a:r>
            <a:rPr lang="en-US"/>
            <a:t>Implementation of ERP-based financial management solution</a:t>
          </a:r>
        </a:p>
      </dgm:t>
    </dgm:pt>
    <dgm:pt modelId="{067F7C02-FAF8-4D66-B043-C7DABBBED3BF}" type="parTrans" cxnId="{027786AD-3861-40BA-B2FD-4FF9B3AAF139}">
      <dgm:prSet/>
      <dgm:spPr/>
      <dgm:t>
        <a:bodyPr/>
        <a:lstStyle/>
        <a:p>
          <a:endParaRPr lang="en-US"/>
        </a:p>
      </dgm:t>
    </dgm:pt>
    <dgm:pt modelId="{B7BCE0B1-D129-4AB4-9B9C-AF44E8F11D70}" type="sibTrans" cxnId="{027786AD-3861-40BA-B2FD-4FF9B3AAF139}">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3">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3"/>
      <dgm:spPr/>
      <dgm:t>
        <a:bodyPr/>
        <a:lstStyle/>
        <a:p>
          <a:endParaRPr lang="en-US"/>
        </a:p>
      </dgm:t>
    </dgm:pt>
    <dgm:pt modelId="{DCC3FCEA-0BC8-4D98-BFDA-E2DB9800EC74}" type="pres">
      <dgm:prSet presAssocID="{5074504D-B054-44B7-AF1D-0C421DB29C8C}" presName="desTx" presStyleLbl="fgAcc1" presStyleIdx="1" presStyleCnt="3">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2"/>
      <dgm:spPr/>
      <dgm:t>
        <a:bodyPr/>
        <a:lstStyle/>
        <a:p>
          <a:endParaRPr lang="en-US"/>
        </a:p>
      </dgm:t>
    </dgm:pt>
    <dgm:pt modelId="{DE71027A-1108-4DB8-8E4D-B5CBC710D5C6}" type="pres">
      <dgm:prSet presAssocID="{836E2BBF-AE6F-44B9-AD26-342382726746}" presName="connTx" presStyleLbl="sibTrans2D1" presStyleIdx="1" presStyleCnt="2"/>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3">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3"/>
      <dgm:spPr/>
      <dgm:t>
        <a:bodyPr/>
        <a:lstStyle/>
        <a:p>
          <a:endParaRPr lang="en-US"/>
        </a:p>
      </dgm:t>
    </dgm:pt>
    <dgm:pt modelId="{78DF5B2A-5010-4ED2-94FF-7B0692DAFAB8}" type="pres">
      <dgm:prSet presAssocID="{960596DD-7C7A-47B8-98AF-52DD4BEF9344}" presName="desTx" presStyleLbl="fgAcc1" presStyleIdx="2" presStyleCnt="3">
        <dgm:presLayoutVars>
          <dgm:bulletEnabled val="1"/>
        </dgm:presLayoutVars>
      </dgm:prSet>
      <dgm:spPr/>
      <dgm:t>
        <a:bodyPr/>
        <a:lstStyle/>
        <a:p>
          <a:endParaRPr lang="en-US"/>
        </a:p>
      </dgm:t>
    </dgm:pt>
  </dgm:ptLst>
  <dgm:cxnLst>
    <dgm:cxn modelId="{31D8EF4E-CC11-483C-AD9F-05AC82AE9A18}" srcId="{03454651-1876-463C-891F-DBFB67BE2D7D}" destId="{7836C9D6-2700-4CD3-B645-0407619AFA3E}" srcOrd="1" destOrd="0" parTransId="{E7EAC962-BF2B-4B65-B2C6-ED79D4605D10}" sibTransId="{C9EB19A3-AF5C-424B-81E3-2FCCB505DC9F}"/>
    <dgm:cxn modelId="{288D6556-D78D-42E2-834B-00062A324825}" srcId="{72C595F7-F9FE-4C3C-B546-D393C43DA1D5}" destId="{5074504D-B054-44B7-AF1D-0C421DB29C8C}" srcOrd="1" destOrd="0" parTransId="{38550204-A29D-4D29-89AB-206E975EF185}" sibTransId="{836E2BBF-AE6F-44B9-AD26-342382726746}"/>
    <dgm:cxn modelId="{3267E2D2-791D-4119-A6B2-DE15E0A1F932}" type="presOf" srcId="{5074504D-B054-44B7-AF1D-0C421DB29C8C}" destId="{C399DA07-F433-446A-A511-7651E2D31800}" srcOrd="1" destOrd="0" presId="urn:microsoft.com/office/officeart/2005/8/layout/process3"/>
    <dgm:cxn modelId="{DC7AC2BD-07AF-47ED-84EB-DEF4E7583F38}" srcId="{5074504D-B054-44B7-AF1D-0C421DB29C8C}" destId="{8A35B518-5078-4402-ADA2-3C11CBB94566}" srcOrd="0" destOrd="0" parTransId="{E807DA9A-D923-4E46-B5F4-EF738A5ED0BE}" sibTransId="{CEC910FE-0644-4D8C-85BA-CE684C56F3C5}"/>
    <dgm:cxn modelId="{134F9B5F-AF33-4234-B0BE-F3E6846DD98C}" type="presOf" srcId="{B0505CC8-121B-4ADC-A11F-078D998DF575}" destId="{7E8F3D55-80E5-4F13-9459-E39284D0328D}" srcOrd="0" destOrd="2" presId="urn:microsoft.com/office/officeart/2005/8/layout/process3"/>
    <dgm:cxn modelId="{B1993D54-1660-42FD-BD44-EA5ED2720719}" srcId="{03454651-1876-463C-891F-DBFB67BE2D7D}" destId="{8AB1705B-825B-4FA9-B3F7-6234B57D8B5B}" srcOrd="0" destOrd="0" parTransId="{B0921289-A644-45F1-8E03-58A989394A5C}" sibTransId="{59EC8C30-26FF-4A0A-AC62-94A2D4AE1DA6}"/>
    <dgm:cxn modelId="{5A0AF920-0851-4B88-93FC-92DA5EC72068}" type="presOf" srcId="{72C595F7-F9FE-4C3C-B546-D393C43DA1D5}" destId="{5FAEC180-6FA0-4E38-9D1E-990ABDB6814F}" srcOrd="0" destOrd="0" presId="urn:microsoft.com/office/officeart/2005/8/layout/process3"/>
    <dgm:cxn modelId="{053B1EB0-D118-4111-AF7A-A3D1E51B7D99}" type="presOf" srcId="{960596DD-7C7A-47B8-98AF-52DD4BEF9344}" destId="{53B85F9C-7627-4AF9-921B-BEED13451667}" srcOrd="1" destOrd="0" presId="urn:microsoft.com/office/officeart/2005/8/layout/process3"/>
    <dgm:cxn modelId="{0CDAB0BB-0DA1-40C6-99F0-DCC5E1DCD5E9}" type="presOf" srcId="{836E2BBF-AE6F-44B9-AD26-342382726746}" destId="{DE71027A-1108-4DB8-8E4D-B5CBC710D5C6}" srcOrd="1" destOrd="0" presId="urn:microsoft.com/office/officeart/2005/8/layout/process3"/>
    <dgm:cxn modelId="{027786AD-3861-40BA-B2FD-4FF9B3AAF139}" srcId="{960596DD-7C7A-47B8-98AF-52DD4BEF9344}" destId="{1D31A5F4-3CA7-4EA3-B1EF-28F52F7385C6}" srcOrd="2" destOrd="0" parTransId="{067F7C02-FAF8-4D66-B043-C7DABBBED3BF}" sibTransId="{B7BCE0B1-D129-4AB4-9B9C-AF44E8F11D70}"/>
    <dgm:cxn modelId="{63333DE9-FB17-4B7D-8A9B-EA373EBA56B0}" type="presOf" srcId="{960596DD-7C7A-47B8-98AF-52DD4BEF9344}" destId="{E1297A9F-D2A1-42E6-AAC5-5241A7119404}" srcOrd="0" destOrd="0" presId="urn:microsoft.com/office/officeart/2005/8/layout/process3"/>
    <dgm:cxn modelId="{BDC7539C-4272-410E-9535-1A7F9BFA238E}" type="presOf" srcId="{87A4BE03-B0AD-438C-9540-01A7D05EC887}" destId="{78DF5B2A-5010-4ED2-94FF-7B0692DAFAB8}" srcOrd="0" destOrd="1" presId="urn:microsoft.com/office/officeart/2005/8/layout/process3"/>
    <dgm:cxn modelId="{B202C75A-AA26-4985-BAD8-6F8639A89A1B}" srcId="{960596DD-7C7A-47B8-98AF-52DD4BEF9344}" destId="{49F30624-17F8-4952-A167-61CA5F7F8D85}" srcOrd="5" destOrd="0" parTransId="{EEFF68DB-319C-4CA2-A022-50E5D2D44DFD}" sibTransId="{6F63BA6F-0B43-4D1A-9ADB-1997D0138B49}"/>
    <dgm:cxn modelId="{F2DB7C5F-71B3-40FB-B760-AB36B61DB0AE}" type="presOf" srcId="{5074504D-B054-44B7-AF1D-0C421DB29C8C}" destId="{BF9E2F76-6B5D-43DB-A7F2-4A21C009BF40}" srcOrd="0" destOrd="0" presId="urn:microsoft.com/office/officeart/2005/8/layout/process3"/>
    <dgm:cxn modelId="{144E1A4E-E1ED-42FD-955F-5C4905D172E3}" srcId="{03454651-1876-463C-891F-DBFB67BE2D7D}" destId="{B0505CC8-121B-4ADC-A11F-078D998DF575}" srcOrd="2" destOrd="0" parTransId="{6FBDFC90-3A65-45E0-B902-4FA53DB1E5EE}" sibTransId="{2FF66FCD-871D-4033-80D5-63EBD07FA29F}"/>
    <dgm:cxn modelId="{6B93232F-4F94-4003-9DB8-EFB083F3843F}" srcId="{960596DD-7C7A-47B8-98AF-52DD4BEF9344}" destId="{F56B2188-20A1-44C9-AD44-74D6C9C0475E}" srcOrd="6" destOrd="0" parTransId="{CDC4ADD4-C76C-4973-843E-07F6396AA2CA}" sibTransId="{1FFB163C-BECE-4132-88A4-0DF1988AD0E8}"/>
    <dgm:cxn modelId="{4EB38B0E-ADD4-49A9-99BF-A33EC4287F15}" srcId="{960596DD-7C7A-47B8-98AF-52DD4BEF9344}" destId="{87A4BE03-B0AD-438C-9540-01A7D05EC887}" srcOrd="1" destOrd="0" parTransId="{45094377-E8AC-4D4D-8DF0-6D365073C2E3}" sibTransId="{F73C11D0-5690-459C-BE70-566847C5B0E4}"/>
    <dgm:cxn modelId="{9F03E39A-5395-4A28-8C80-7268FB3ABF7A}" type="presOf" srcId="{7836C9D6-2700-4CD3-B645-0407619AFA3E}" destId="{7E8F3D55-80E5-4F13-9459-E39284D0328D}" srcOrd="0" destOrd="1" presId="urn:microsoft.com/office/officeart/2005/8/layout/process3"/>
    <dgm:cxn modelId="{5FA78C9D-9298-4D5C-B913-5AC19244B51A}" type="presOf" srcId="{1D31A5F4-3CA7-4EA3-B1EF-28F52F7385C6}" destId="{78DF5B2A-5010-4ED2-94FF-7B0692DAFAB8}" srcOrd="0" destOrd="2" presId="urn:microsoft.com/office/officeart/2005/8/layout/process3"/>
    <dgm:cxn modelId="{38B05D0C-2E6F-4383-8562-1544ADB894B1}" type="presOf" srcId="{8AB1705B-825B-4FA9-B3F7-6234B57D8B5B}" destId="{7E8F3D55-80E5-4F13-9459-E39284D0328D}" srcOrd="0" destOrd="0"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B93D9F7C-84FE-48C4-A0A2-F1D31A609820}" type="presOf" srcId="{8A35B518-5078-4402-ADA2-3C11CBB94566}" destId="{DCC3FCEA-0BC8-4D98-BFDA-E2DB9800EC74}" srcOrd="0" destOrd="0" presId="urn:microsoft.com/office/officeart/2005/8/layout/process3"/>
    <dgm:cxn modelId="{71820A89-8B14-453B-B99B-50EA98E188F6}" type="presOf" srcId="{F56B2188-20A1-44C9-AD44-74D6C9C0475E}" destId="{78DF5B2A-5010-4ED2-94FF-7B0692DAFAB8}" srcOrd="0" destOrd="6" presId="urn:microsoft.com/office/officeart/2005/8/layout/process3"/>
    <dgm:cxn modelId="{F9FD161D-FE35-4599-B7B9-8B8F166B8AD1}" srcId="{960596DD-7C7A-47B8-98AF-52DD4BEF9344}" destId="{080AFD4A-9B8D-496C-867C-534FFEA6879F}" srcOrd="4" destOrd="0" parTransId="{DCDE1892-F2C3-4024-85B0-4CC079EDB91F}" sibTransId="{2C7EE132-2CD9-4D84-B6A0-C9FD7162FB0E}"/>
    <dgm:cxn modelId="{449E4848-DF67-4377-95C1-4D5F6E89992C}" type="presOf" srcId="{836E2BBF-AE6F-44B9-AD26-342382726746}" destId="{63F08940-AC90-4DF0-A1DA-5F6759C06E77}" srcOrd="0" destOrd="0" presId="urn:microsoft.com/office/officeart/2005/8/layout/process3"/>
    <dgm:cxn modelId="{43905E96-0D2C-482E-8D84-739E93BC764F}" type="presOf" srcId="{CB89569D-465F-400C-82F3-808E20145B10}" destId="{DCC3FCEA-0BC8-4D98-BFDA-E2DB9800EC74}" srcOrd="0" destOrd="1" presId="urn:microsoft.com/office/officeart/2005/8/layout/process3"/>
    <dgm:cxn modelId="{A73FE126-3283-4EFC-904B-17FEF2A95A93}" srcId="{5074504D-B054-44B7-AF1D-0C421DB29C8C}" destId="{CB89569D-465F-400C-82F3-808E20145B10}" srcOrd="1" destOrd="0" parTransId="{183D4714-598C-486F-9BF8-40B45F6451B9}" sibTransId="{26E30BC5-A2A1-4A67-8477-CED7D53148D4}"/>
    <dgm:cxn modelId="{6D10A24B-53A6-4B52-9915-BA3C92A9F9F6}" type="presOf" srcId="{32EC2ED1-5A41-47F2-A0A5-89A6987013DA}" destId="{4B650DD2-5F02-4AE9-9DDB-38B6153A658F}" srcOrd="1" destOrd="0" presId="urn:microsoft.com/office/officeart/2005/8/layout/process3"/>
    <dgm:cxn modelId="{407B5D95-7506-46E9-9D5D-E3883E29475C}" type="presOf" srcId="{03454651-1876-463C-891F-DBFB67BE2D7D}" destId="{3D847FC2-380F-49AF-936C-1553F8F26F3C}" srcOrd="0" destOrd="0" presId="urn:microsoft.com/office/officeart/2005/8/layout/process3"/>
    <dgm:cxn modelId="{41CFE70C-0C19-483C-8A83-1D7BA5FF5852}" srcId="{72C595F7-F9FE-4C3C-B546-D393C43DA1D5}" destId="{960596DD-7C7A-47B8-98AF-52DD4BEF9344}" srcOrd="2" destOrd="0" parTransId="{7170E545-06EB-4CA3-9A7C-2936BD4CF34C}" sibTransId="{3449E61D-4836-4734-B25E-4CB3DD612893}"/>
    <dgm:cxn modelId="{B4ECF5FA-AE0B-4650-860D-575C2E1C4F70}" type="presOf" srcId="{60034DBA-77A0-4C1F-9666-7B743E39528A}" destId="{78DF5B2A-5010-4ED2-94FF-7B0692DAFAB8}" srcOrd="0" destOrd="3" presId="urn:microsoft.com/office/officeart/2005/8/layout/process3"/>
    <dgm:cxn modelId="{9CCB2141-08E5-4707-A903-4D42A66EC8CB}" type="presOf" srcId="{E4BA7210-249E-4888-938B-BC1118D9CA42}" destId="{78DF5B2A-5010-4ED2-94FF-7B0692DAFAB8}" srcOrd="0" destOrd="0" presId="urn:microsoft.com/office/officeart/2005/8/layout/process3"/>
    <dgm:cxn modelId="{826C4AEE-43CE-4BE8-AA8F-BE2704904590}" type="presOf" srcId="{32EC2ED1-5A41-47F2-A0A5-89A6987013DA}" destId="{2185D18F-377B-4641-B87A-82A7FD17C65D}" srcOrd="0" destOrd="0" presId="urn:microsoft.com/office/officeart/2005/8/layout/process3"/>
    <dgm:cxn modelId="{E49A3C3C-3220-4055-AEC4-2FB78ECF3834}" srcId="{960596DD-7C7A-47B8-98AF-52DD4BEF9344}" destId="{60034DBA-77A0-4C1F-9666-7B743E39528A}" srcOrd="3" destOrd="0" parTransId="{7FAF8563-2F8B-4E06-8C2F-379CBEE5633D}" sibTransId="{CD0D37F2-D107-43C9-AEDE-893C3696B450}"/>
    <dgm:cxn modelId="{F48125C6-DA8C-43A5-95F4-E260659992FF}" type="presOf" srcId="{49F30624-17F8-4952-A167-61CA5F7F8D85}" destId="{78DF5B2A-5010-4ED2-94FF-7B0692DAFAB8}" srcOrd="0" destOrd="5" presId="urn:microsoft.com/office/officeart/2005/8/layout/process3"/>
    <dgm:cxn modelId="{0D925723-0C2F-4282-9D77-12BDFA84C675}" srcId="{960596DD-7C7A-47B8-98AF-52DD4BEF9344}" destId="{E4BA7210-249E-4888-938B-BC1118D9CA42}" srcOrd="0" destOrd="0" parTransId="{E5140982-3EFA-405B-925B-38406417B49B}" sibTransId="{BC8B7F9D-5294-46BE-BD51-7C1C8EF184EA}"/>
    <dgm:cxn modelId="{734B893F-CC8B-4246-80BD-C44150636280}" type="presOf" srcId="{03454651-1876-463C-891F-DBFB67BE2D7D}" destId="{3A83BC6F-B725-4345-B234-B50F8B6B5DAE}" srcOrd="1" destOrd="0" presId="urn:microsoft.com/office/officeart/2005/8/layout/process3"/>
    <dgm:cxn modelId="{6840378F-4BAE-4359-8AA1-675914EBF7D9}" type="presOf" srcId="{080AFD4A-9B8D-496C-867C-534FFEA6879F}" destId="{78DF5B2A-5010-4ED2-94FF-7B0692DAFAB8}" srcOrd="0" destOrd="4" presId="urn:microsoft.com/office/officeart/2005/8/layout/process3"/>
    <dgm:cxn modelId="{72E478C4-0033-41B6-92DF-76AC03F156AD}" type="presParOf" srcId="{5FAEC180-6FA0-4E38-9D1E-990ABDB6814F}" destId="{1ED04EDF-BDDC-4FBE-ADFE-4ECCA1ABCE5C}" srcOrd="0" destOrd="0" presId="urn:microsoft.com/office/officeart/2005/8/layout/process3"/>
    <dgm:cxn modelId="{0167198F-42FC-4EF3-8EC6-8457857F0430}" type="presParOf" srcId="{1ED04EDF-BDDC-4FBE-ADFE-4ECCA1ABCE5C}" destId="{3D847FC2-380F-49AF-936C-1553F8F26F3C}" srcOrd="0" destOrd="0" presId="urn:microsoft.com/office/officeart/2005/8/layout/process3"/>
    <dgm:cxn modelId="{272C4F66-261B-4A2B-B3A1-5AD99DBB2E58}" type="presParOf" srcId="{1ED04EDF-BDDC-4FBE-ADFE-4ECCA1ABCE5C}" destId="{3A83BC6F-B725-4345-B234-B50F8B6B5DAE}" srcOrd="1" destOrd="0" presId="urn:microsoft.com/office/officeart/2005/8/layout/process3"/>
    <dgm:cxn modelId="{C4E2D7FA-00C5-4136-940A-709AF42040EA}" type="presParOf" srcId="{1ED04EDF-BDDC-4FBE-ADFE-4ECCA1ABCE5C}" destId="{7E8F3D55-80E5-4F13-9459-E39284D0328D}" srcOrd="2" destOrd="0" presId="urn:microsoft.com/office/officeart/2005/8/layout/process3"/>
    <dgm:cxn modelId="{B7B46FCC-0A58-46CB-A2DC-37CEF0441AE0}" type="presParOf" srcId="{5FAEC180-6FA0-4E38-9D1E-990ABDB6814F}" destId="{2185D18F-377B-4641-B87A-82A7FD17C65D}" srcOrd="1" destOrd="0" presId="urn:microsoft.com/office/officeart/2005/8/layout/process3"/>
    <dgm:cxn modelId="{1912E912-54E1-4474-AA24-57A70B0EBC38}" type="presParOf" srcId="{2185D18F-377B-4641-B87A-82A7FD17C65D}" destId="{4B650DD2-5F02-4AE9-9DDB-38B6153A658F}" srcOrd="0" destOrd="0" presId="urn:microsoft.com/office/officeart/2005/8/layout/process3"/>
    <dgm:cxn modelId="{02AF6421-224C-4624-A5F3-2A9B8D03291A}" type="presParOf" srcId="{5FAEC180-6FA0-4E38-9D1E-990ABDB6814F}" destId="{E5D422DD-3565-4886-BD6F-B54C46D7F5BD}" srcOrd="2" destOrd="0" presId="urn:microsoft.com/office/officeart/2005/8/layout/process3"/>
    <dgm:cxn modelId="{EDCC6EE4-45BD-4998-A9A8-1413CB8D47BE}" type="presParOf" srcId="{E5D422DD-3565-4886-BD6F-B54C46D7F5BD}" destId="{BF9E2F76-6B5D-43DB-A7F2-4A21C009BF40}" srcOrd="0" destOrd="0" presId="urn:microsoft.com/office/officeart/2005/8/layout/process3"/>
    <dgm:cxn modelId="{90065323-04DE-44D4-9DB2-3232F1A66B0B}" type="presParOf" srcId="{E5D422DD-3565-4886-BD6F-B54C46D7F5BD}" destId="{C399DA07-F433-446A-A511-7651E2D31800}" srcOrd="1" destOrd="0" presId="urn:microsoft.com/office/officeart/2005/8/layout/process3"/>
    <dgm:cxn modelId="{679232FA-6A5C-403B-B1F1-36ABAD7B575F}" type="presParOf" srcId="{E5D422DD-3565-4886-BD6F-B54C46D7F5BD}" destId="{DCC3FCEA-0BC8-4D98-BFDA-E2DB9800EC74}" srcOrd="2" destOrd="0" presId="urn:microsoft.com/office/officeart/2005/8/layout/process3"/>
    <dgm:cxn modelId="{7A2F89F0-E47B-4E36-B4FF-260BEA58A423}" type="presParOf" srcId="{5FAEC180-6FA0-4E38-9D1E-990ABDB6814F}" destId="{63F08940-AC90-4DF0-A1DA-5F6759C06E77}" srcOrd="3" destOrd="0" presId="urn:microsoft.com/office/officeart/2005/8/layout/process3"/>
    <dgm:cxn modelId="{BF62843A-1E5F-4827-94B6-F29BE443627D}" type="presParOf" srcId="{63F08940-AC90-4DF0-A1DA-5F6759C06E77}" destId="{DE71027A-1108-4DB8-8E4D-B5CBC710D5C6}" srcOrd="0" destOrd="0" presId="urn:microsoft.com/office/officeart/2005/8/layout/process3"/>
    <dgm:cxn modelId="{996C9D9E-3BDC-431B-904A-0EDA1FE46E1E}" type="presParOf" srcId="{5FAEC180-6FA0-4E38-9D1E-990ABDB6814F}" destId="{AB38EC2E-43FE-44BB-80CD-6BBCBABF7F5F}" srcOrd="4" destOrd="0" presId="urn:microsoft.com/office/officeart/2005/8/layout/process3"/>
    <dgm:cxn modelId="{0AAD3FBF-208F-4CCA-BD56-65CD0B235160}" type="presParOf" srcId="{AB38EC2E-43FE-44BB-80CD-6BBCBABF7F5F}" destId="{E1297A9F-D2A1-42E6-AAC5-5241A7119404}" srcOrd="0" destOrd="0" presId="urn:microsoft.com/office/officeart/2005/8/layout/process3"/>
    <dgm:cxn modelId="{3702272A-4F35-40B5-8678-CDACF2A0C0B7}" type="presParOf" srcId="{AB38EC2E-43FE-44BB-80CD-6BBCBABF7F5F}" destId="{53B85F9C-7627-4AF9-921B-BEED13451667}" srcOrd="1" destOrd="0" presId="urn:microsoft.com/office/officeart/2005/8/layout/process3"/>
    <dgm:cxn modelId="{6266AC5D-5AB3-4402-BFD8-39BCE48CCB1F}"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custT="1"/>
      <dgm:spPr/>
      <dgm:t>
        <a:bodyPr/>
        <a:lstStyle/>
        <a:p>
          <a:r>
            <a:rPr lang="en-US" sz="1200"/>
            <a:t>As-Is assessment and target setting</a:t>
          </a:r>
        </a:p>
      </dgm:t>
    </dgm:pt>
    <dgm:pt modelId="{34ADBB6D-89A4-4913-83ED-5D871B73AD66}" type="parTrans" cxnId="{453CEB6A-F61A-4C89-9592-9EB5104FC954}">
      <dgm:prSet/>
      <dgm:spPr/>
      <dgm:t>
        <a:bodyPr/>
        <a:lstStyle/>
        <a:p>
          <a:endParaRPr lang="en-US" sz="1200"/>
        </a:p>
      </dgm:t>
    </dgm:pt>
    <dgm:pt modelId="{32EC2ED1-5A41-47F2-A0A5-89A6987013DA}" type="sibTrans" cxnId="{453CEB6A-F61A-4C89-9592-9EB5104FC954}">
      <dgm:prSet custT="1"/>
      <dgm:spPr/>
      <dgm:t>
        <a:bodyPr/>
        <a:lstStyle/>
        <a:p>
          <a:endParaRPr lang="en-US" sz="1200"/>
        </a:p>
      </dgm:t>
    </dgm:pt>
    <dgm:pt modelId="{960596DD-7C7A-47B8-98AF-52DD4BEF9344}">
      <dgm:prSet phldrT="[Text]" custT="1"/>
      <dgm:spPr/>
      <dgm:t>
        <a:bodyPr/>
        <a:lstStyle/>
        <a:p>
          <a:r>
            <a:rPr lang="en-US" sz="1200"/>
            <a:t>Implementation and capacity building</a:t>
          </a:r>
        </a:p>
      </dgm:t>
    </dgm:pt>
    <dgm:pt modelId="{7170E545-06EB-4CA3-9A7C-2936BD4CF34C}" type="parTrans" cxnId="{41CFE70C-0C19-483C-8A83-1D7BA5FF5852}">
      <dgm:prSet/>
      <dgm:spPr/>
      <dgm:t>
        <a:bodyPr/>
        <a:lstStyle/>
        <a:p>
          <a:endParaRPr lang="en-US" sz="1200"/>
        </a:p>
      </dgm:t>
    </dgm:pt>
    <dgm:pt modelId="{3449E61D-4836-4734-B25E-4CB3DD612893}" type="sibTrans" cxnId="{41CFE70C-0C19-483C-8A83-1D7BA5FF5852}">
      <dgm:prSet custT="1"/>
      <dgm:spPr/>
      <dgm:t>
        <a:bodyPr/>
        <a:lstStyle/>
        <a:p>
          <a:endParaRPr lang="en-US" sz="1200"/>
        </a:p>
      </dgm:t>
    </dgm:pt>
    <dgm:pt modelId="{8AB1705B-825B-4FA9-B3F7-6234B57D8B5B}">
      <dgm:prSet phldrT="[Text]" custT="1"/>
      <dgm:spPr/>
      <dgm:t>
        <a:bodyPr/>
        <a:lstStyle/>
        <a:p>
          <a:r>
            <a:rPr lang="en-US" sz="1200"/>
            <a:t>Assessment of existing asset management practices</a:t>
          </a:r>
        </a:p>
      </dgm:t>
    </dgm:pt>
    <dgm:pt modelId="{B0921289-A644-45F1-8E03-58A989394A5C}" type="parTrans" cxnId="{B1993D54-1660-42FD-BD44-EA5ED2720719}">
      <dgm:prSet/>
      <dgm:spPr/>
      <dgm:t>
        <a:bodyPr/>
        <a:lstStyle/>
        <a:p>
          <a:endParaRPr lang="en-US" sz="1200"/>
        </a:p>
      </dgm:t>
    </dgm:pt>
    <dgm:pt modelId="{59EC8C30-26FF-4A0A-AC62-94A2D4AE1DA6}" type="sibTrans" cxnId="{B1993D54-1660-42FD-BD44-EA5ED2720719}">
      <dgm:prSet/>
      <dgm:spPr/>
      <dgm:t>
        <a:bodyPr/>
        <a:lstStyle/>
        <a:p>
          <a:endParaRPr lang="en-US" sz="1200"/>
        </a:p>
      </dgm:t>
    </dgm:pt>
    <dgm:pt modelId="{8A35B518-5078-4402-ADA2-3C11CBB94566}">
      <dgm:prSet phldrT="[Text]" custT="1"/>
      <dgm:spPr/>
      <dgm:t>
        <a:bodyPr/>
        <a:lstStyle/>
        <a:p>
          <a:r>
            <a:rPr lang="en-US" sz="1200"/>
            <a:t>Strategy for power plant asset management including maintenance planning and management, equipment diagnostic, asset performance monitoring and review</a:t>
          </a:r>
        </a:p>
      </dgm:t>
    </dgm:pt>
    <dgm:pt modelId="{CEC910FE-0644-4D8C-85BA-CE684C56F3C5}" type="sibTrans" cxnId="{DC7AC2BD-07AF-47ED-84EB-DEF4E7583F38}">
      <dgm:prSet/>
      <dgm:spPr/>
      <dgm:t>
        <a:bodyPr/>
        <a:lstStyle/>
        <a:p>
          <a:endParaRPr lang="en-US" sz="1200"/>
        </a:p>
      </dgm:t>
    </dgm:pt>
    <dgm:pt modelId="{E807DA9A-D923-4E46-B5F4-EF738A5ED0BE}" type="parTrans" cxnId="{DC7AC2BD-07AF-47ED-84EB-DEF4E7583F38}">
      <dgm:prSet/>
      <dgm:spPr/>
      <dgm:t>
        <a:bodyPr/>
        <a:lstStyle/>
        <a:p>
          <a:endParaRPr lang="en-US" sz="1200"/>
        </a:p>
      </dgm:t>
    </dgm:pt>
    <dgm:pt modelId="{E4BA7210-249E-4888-938B-BC1118D9CA42}">
      <dgm:prSet phldrT="[Text]" custT="1"/>
      <dgm:spPr/>
      <dgm:t>
        <a:bodyPr/>
        <a:lstStyle/>
        <a:p>
          <a:r>
            <a:rPr lang="en-US" sz="1200"/>
            <a:t>Implementation of a monitoring framework for asset performance review</a:t>
          </a:r>
        </a:p>
      </dgm:t>
    </dgm:pt>
    <dgm:pt modelId="{E5140982-3EFA-405B-925B-38406417B49B}" type="parTrans" cxnId="{0D925723-0C2F-4282-9D77-12BDFA84C675}">
      <dgm:prSet/>
      <dgm:spPr/>
      <dgm:t>
        <a:bodyPr/>
        <a:lstStyle/>
        <a:p>
          <a:endParaRPr lang="en-US" sz="1200"/>
        </a:p>
      </dgm:t>
    </dgm:pt>
    <dgm:pt modelId="{BC8B7F9D-5294-46BE-BD51-7C1C8EF184EA}" type="sibTrans" cxnId="{0D925723-0C2F-4282-9D77-12BDFA84C675}">
      <dgm:prSet/>
      <dgm:spPr/>
      <dgm:t>
        <a:bodyPr/>
        <a:lstStyle/>
        <a:p>
          <a:endParaRPr lang="en-US" sz="1200"/>
        </a:p>
      </dgm:t>
    </dgm:pt>
    <dgm:pt modelId="{6C0BE2DE-BC83-4F4A-9D12-E45D048076E2}">
      <dgm:prSet phldrT="[Text]" custT="1"/>
      <dgm:spPr/>
      <dgm:t>
        <a:bodyPr/>
        <a:lstStyle/>
        <a:p>
          <a:r>
            <a:rPr lang="en-US" sz="1200"/>
            <a:t>Asset management strategy</a:t>
          </a:r>
        </a:p>
      </dgm:t>
    </dgm:pt>
    <dgm:pt modelId="{A5833DF2-92A7-4890-AA83-CD2387BF90CB}" type="parTrans" cxnId="{A01C66BB-8BAA-4C6E-8572-4CB23CF11AAE}">
      <dgm:prSet/>
      <dgm:spPr/>
      <dgm:t>
        <a:bodyPr/>
        <a:lstStyle/>
        <a:p>
          <a:endParaRPr lang="en-US" sz="1200"/>
        </a:p>
      </dgm:t>
    </dgm:pt>
    <dgm:pt modelId="{24B283C1-CA6A-4228-8D59-CC19D0AF15AA}" type="sibTrans" cxnId="{A01C66BB-8BAA-4C6E-8572-4CB23CF11AAE}">
      <dgm:prSet custT="1"/>
      <dgm:spPr/>
      <dgm:t>
        <a:bodyPr/>
        <a:lstStyle/>
        <a:p>
          <a:endParaRPr lang="en-US" sz="1200"/>
        </a:p>
      </dgm:t>
    </dgm:pt>
    <dgm:pt modelId="{349D76FB-8630-4C5C-82F6-79005C81FC12}">
      <dgm:prSet phldrT="[Text]" custT="1"/>
      <dgm:spPr/>
      <dgm:t>
        <a:bodyPr/>
        <a:lstStyle/>
        <a:p>
          <a:r>
            <a:rPr lang="en-US" sz="1200"/>
            <a:t>Assessment of existing performance of power plant assets</a:t>
          </a:r>
        </a:p>
      </dgm:t>
    </dgm:pt>
    <dgm:pt modelId="{DB3B645C-68B8-4689-ADDA-FA279E025454}" type="parTrans" cxnId="{248B47E1-5D09-4366-B19B-065216E5AF2F}">
      <dgm:prSet/>
      <dgm:spPr/>
      <dgm:t>
        <a:bodyPr/>
        <a:lstStyle/>
        <a:p>
          <a:endParaRPr lang="en-US" sz="1200"/>
        </a:p>
      </dgm:t>
    </dgm:pt>
    <dgm:pt modelId="{E83A2764-C58C-43B8-B82A-BDE40A96979D}" type="sibTrans" cxnId="{248B47E1-5D09-4366-B19B-065216E5AF2F}">
      <dgm:prSet/>
      <dgm:spPr/>
      <dgm:t>
        <a:bodyPr/>
        <a:lstStyle/>
        <a:p>
          <a:endParaRPr lang="en-US" sz="1200"/>
        </a:p>
      </dgm:t>
    </dgm:pt>
    <dgm:pt modelId="{DD3BE678-5CB8-4255-9906-CDEC563CFBC3}">
      <dgm:prSet phldrT="[Text]" custT="1"/>
      <dgm:spPr/>
      <dgm:t>
        <a:bodyPr/>
        <a:lstStyle/>
        <a:p>
          <a:r>
            <a:rPr lang="en-US" sz="1200"/>
            <a:t>Setting of performance targets and action plan</a:t>
          </a:r>
        </a:p>
      </dgm:t>
    </dgm:pt>
    <dgm:pt modelId="{776D3E75-8023-461F-AF55-B06901530A67}" type="parTrans" cxnId="{F7D9CD58-8412-49DC-B12A-6CBE869F8C51}">
      <dgm:prSet/>
      <dgm:spPr/>
      <dgm:t>
        <a:bodyPr/>
        <a:lstStyle/>
        <a:p>
          <a:endParaRPr lang="en-US" sz="1200"/>
        </a:p>
      </dgm:t>
    </dgm:pt>
    <dgm:pt modelId="{8FFC9242-028F-4EC6-8F6F-2C259EBA348A}" type="sibTrans" cxnId="{F7D9CD58-8412-49DC-B12A-6CBE869F8C51}">
      <dgm:prSet/>
      <dgm:spPr/>
      <dgm:t>
        <a:bodyPr/>
        <a:lstStyle/>
        <a:p>
          <a:endParaRPr lang="en-US" sz="1200"/>
        </a:p>
      </dgm:t>
    </dgm:pt>
    <dgm:pt modelId="{46A764A9-C71C-45A1-98C1-5BA95F93F184}">
      <dgm:prSet phldrT="[Text]" custT="1"/>
      <dgm:spPr/>
      <dgm:t>
        <a:bodyPr/>
        <a:lstStyle/>
        <a:p>
          <a:r>
            <a:rPr lang="en-US" sz="1200"/>
            <a:t>Identification of gaps and scopes for asset performance improvement</a:t>
          </a:r>
        </a:p>
      </dgm:t>
    </dgm:pt>
    <dgm:pt modelId="{95ED32BE-CFA5-4EC0-9BBC-7D018B8B8739}" type="parTrans" cxnId="{FB8DC6EF-BF2C-4FEB-8241-5BCE5387317E}">
      <dgm:prSet/>
      <dgm:spPr/>
      <dgm:t>
        <a:bodyPr/>
        <a:lstStyle/>
        <a:p>
          <a:endParaRPr lang="en-US" sz="1200"/>
        </a:p>
      </dgm:t>
    </dgm:pt>
    <dgm:pt modelId="{25F98BE8-4587-4B47-BC21-03F6BA1ABB15}" type="sibTrans" cxnId="{FB8DC6EF-BF2C-4FEB-8241-5BCE5387317E}">
      <dgm:prSet/>
      <dgm:spPr/>
      <dgm:t>
        <a:bodyPr/>
        <a:lstStyle/>
        <a:p>
          <a:endParaRPr lang="en-US" sz="1200"/>
        </a:p>
      </dgm:t>
    </dgm:pt>
    <dgm:pt modelId="{7F92643C-A476-4993-AC73-CEB3E63CBDF8}">
      <dgm:prSet phldrT="[Text]" custT="1"/>
      <dgm:spPr/>
      <dgm:t>
        <a:bodyPr/>
        <a:lstStyle/>
        <a:p>
          <a:r>
            <a:rPr lang="en-US" sz="1200"/>
            <a:t>Estimates of costs and benefits</a:t>
          </a:r>
        </a:p>
      </dgm:t>
    </dgm:pt>
    <dgm:pt modelId="{4A06A814-697B-4267-9516-A2994AF47281}" type="parTrans" cxnId="{0A26CA9A-AD2F-4EAD-A83A-0C628BF56FE5}">
      <dgm:prSet/>
      <dgm:spPr/>
      <dgm:t>
        <a:bodyPr/>
        <a:lstStyle/>
        <a:p>
          <a:endParaRPr lang="en-US" sz="1200"/>
        </a:p>
      </dgm:t>
    </dgm:pt>
    <dgm:pt modelId="{3B60F5C8-30AC-4201-AE6E-ED4CD2BCCA38}" type="sibTrans" cxnId="{0A26CA9A-AD2F-4EAD-A83A-0C628BF56FE5}">
      <dgm:prSet/>
      <dgm:spPr/>
      <dgm:t>
        <a:bodyPr/>
        <a:lstStyle/>
        <a:p>
          <a:endParaRPr lang="en-US" sz="1200"/>
        </a:p>
      </dgm:t>
    </dgm:pt>
    <dgm:pt modelId="{0BBE8715-886C-4E2B-B09D-4EADA3AF424E}">
      <dgm:prSet phldrT="[Text]" custT="1"/>
      <dgm:spPr/>
      <dgm:t>
        <a:bodyPr/>
        <a:lstStyle/>
        <a:p>
          <a:r>
            <a:rPr lang="en-US" sz="1200"/>
            <a:t>Capacity building on asset management</a:t>
          </a:r>
        </a:p>
      </dgm:t>
    </dgm:pt>
    <dgm:pt modelId="{0800E47F-CB40-4FB6-AC40-EB37A025E67A}" type="parTrans" cxnId="{F1CB2A47-B672-465B-B095-E8630BA2F6A6}">
      <dgm:prSet/>
      <dgm:spPr/>
      <dgm:t>
        <a:bodyPr/>
        <a:lstStyle/>
        <a:p>
          <a:endParaRPr lang="en-US" sz="1200"/>
        </a:p>
      </dgm:t>
    </dgm:pt>
    <dgm:pt modelId="{2E791BF6-46A9-48CE-BC60-199E1CCFEE57}" type="sibTrans" cxnId="{F1CB2A47-B672-465B-B095-E8630BA2F6A6}">
      <dgm:prSet/>
      <dgm:spPr/>
      <dgm:t>
        <a:bodyPr/>
        <a:lstStyle/>
        <a:p>
          <a:endParaRPr lang="en-US" sz="1200"/>
        </a:p>
      </dgm:t>
    </dgm:pt>
    <dgm:pt modelId="{130CF8FA-C360-48EB-BD38-665736590258}">
      <dgm:prSet phldrT="[Text]" custT="1"/>
      <dgm:spPr/>
      <dgm:t>
        <a:bodyPr/>
        <a:lstStyle/>
        <a:p>
          <a:r>
            <a:rPr lang="en-US" sz="1200"/>
            <a:t>Implementation of asset management initiatives</a:t>
          </a:r>
        </a:p>
      </dgm:t>
    </dgm:pt>
    <dgm:pt modelId="{30953F9E-F90A-45DA-8D88-77B9176E32F2}" type="parTrans" cxnId="{5CE7BDF1-23BF-434C-BC96-CE797010FFA6}">
      <dgm:prSet/>
      <dgm:spPr/>
      <dgm:t>
        <a:bodyPr/>
        <a:lstStyle/>
        <a:p>
          <a:endParaRPr lang="en-US" sz="1200"/>
        </a:p>
      </dgm:t>
    </dgm:pt>
    <dgm:pt modelId="{F7104422-BEBD-4D34-8EBF-71C72989023D}" type="sibTrans" cxnId="{5CE7BDF1-23BF-434C-BC96-CE797010FFA6}">
      <dgm:prSet/>
      <dgm:spPr/>
      <dgm:t>
        <a:bodyPr/>
        <a:lstStyle/>
        <a:p>
          <a:endParaRPr lang="en-US" sz="1200"/>
        </a:p>
      </dgm:t>
    </dgm:pt>
    <dgm:pt modelId="{FEC61104-F4A6-496F-9577-957089679219}">
      <dgm:prSet phldrT="[Text]" custT="1"/>
      <dgm:spPr/>
      <dgm:t>
        <a:bodyPr/>
        <a:lstStyle/>
        <a:p>
          <a:r>
            <a:rPr lang="en-US" sz="1200"/>
            <a:t>Formulation of strategy for implementation of an IT-based Data Warehousing and Business Intelligence Solution for performance diagnostic</a:t>
          </a:r>
        </a:p>
      </dgm:t>
    </dgm:pt>
    <dgm:pt modelId="{F343FD82-3B34-4E14-B7A5-B9566BDE4B6F}" type="parTrans" cxnId="{8A7033B3-8614-48A0-A5C9-F4AADDAFE05E}">
      <dgm:prSet/>
      <dgm:spPr/>
      <dgm:t>
        <a:bodyPr/>
        <a:lstStyle/>
        <a:p>
          <a:endParaRPr lang="en-US" sz="1200"/>
        </a:p>
      </dgm:t>
    </dgm:pt>
    <dgm:pt modelId="{07817711-AC1E-415F-A604-4DB390FBFC33}" type="sibTrans" cxnId="{8A7033B3-8614-48A0-A5C9-F4AADDAFE05E}">
      <dgm:prSet/>
      <dgm:spPr/>
      <dgm:t>
        <a:bodyPr/>
        <a:lstStyle/>
        <a:p>
          <a:endParaRPr lang="en-US" sz="1200"/>
        </a:p>
      </dgm:t>
    </dgm:pt>
    <dgm:pt modelId="{BA3B67E2-4734-4C4E-A294-D013FFB0C9B3}">
      <dgm:prSet phldrT="[Text]" custT="1"/>
      <dgm:spPr/>
      <dgm:t>
        <a:bodyPr/>
        <a:lstStyle/>
        <a:p>
          <a:r>
            <a:rPr lang="en-US" sz="1200"/>
            <a:t>Assessment for establishment of O&amp;M Service Company</a:t>
          </a:r>
        </a:p>
      </dgm:t>
    </dgm:pt>
    <dgm:pt modelId="{F5A238F3-C48B-4C40-B346-A63E51A7BDB9}" type="parTrans" cxnId="{634ABC0E-1F34-4E69-B014-729C9D159304}">
      <dgm:prSet/>
      <dgm:spPr/>
      <dgm:t>
        <a:bodyPr/>
        <a:lstStyle/>
        <a:p>
          <a:endParaRPr lang="en-US" sz="1200"/>
        </a:p>
      </dgm:t>
    </dgm:pt>
    <dgm:pt modelId="{2A5B7F1B-FF4D-4F36-A60E-29DFFBD60267}" type="sibTrans" cxnId="{634ABC0E-1F34-4E69-B014-729C9D159304}">
      <dgm:prSet custT="1"/>
      <dgm:spPr/>
      <dgm:t>
        <a:bodyPr/>
        <a:lstStyle/>
        <a:p>
          <a:endParaRPr lang="en-US" sz="1200"/>
        </a:p>
      </dgm:t>
    </dgm:pt>
    <dgm:pt modelId="{AA2AC0DE-D82A-4A4A-9373-D5CE4043D988}">
      <dgm:prSet phldrT="[Text]" custT="1"/>
      <dgm:spPr/>
      <dgm:t>
        <a:bodyPr/>
        <a:lstStyle/>
        <a:p>
          <a:r>
            <a:rPr lang="en-US" sz="1200"/>
            <a:t>Viability assessment for establishment of an O&amp;M Service Company</a:t>
          </a:r>
        </a:p>
      </dgm:t>
    </dgm:pt>
    <dgm:pt modelId="{21F78DFC-9EEA-40CD-BD8F-8960A79FA769}" type="parTrans" cxnId="{E74DC89B-D3BA-4969-AB04-9A5E8ECCB17A}">
      <dgm:prSet/>
      <dgm:spPr/>
      <dgm:t>
        <a:bodyPr/>
        <a:lstStyle/>
        <a:p>
          <a:endParaRPr lang="en-US" sz="1200"/>
        </a:p>
      </dgm:t>
    </dgm:pt>
    <dgm:pt modelId="{84B5D17D-EA9A-4EA2-8A52-EBB760DA89C6}" type="sibTrans" cxnId="{E74DC89B-D3BA-4969-AB04-9A5E8ECCB17A}">
      <dgm:prSet/>
      <dgm:spPr/>
      <dgm:t>
        <a:bodyPr/>
        <a:lstStyle/>
        <a:p>
          <a:endParaRPr lang="en-US" sz="1200"/>
        </a:p>
      </dgm:t>
    </dgm:pt>
    <dgm:pt modelId="{CABBD4D6-8EF8-4D01-AD51-C48818023ECF}">
      <dgm:prSet phldrT="[Text]" custT="1"/>
      <dgm:spPr/>
      <dgm:t>
        <a:bodyPr/>
        <a:lstStyle/>
        <a:p>
          <a:r>
            <a:rPr lang="en-US" sz="1200"/>
            <a:t>Formulation of strategy and time-bound action plan for establishment of the O&amp;M Service Company</a:t>
          </a:r>
        </a:p>
      </dgm:t>
    </dgm:pt>
    <dgm:pt modelId="{52B6FC89-2ED8-4E0F-95C6-5E8BEBC57DF5}" type="parTrans" cxnId="{5CBA35EE-42EC-447E-BF97-6974746B00E4}">
      <dgm:prSet/>
      <dgm:spPr/>
      <dgm:t>
        <a:bodyPr/>
        <a:lstStyle/>
        <a:p>
          <a:endParaRPr lang="en-US" sz="1200"/>
        </a:p>
      </dgm:t>
    </dgm:pt>
    <dgm:pt modelId="{56DDB5C0-91DD-4782-90C4-2B005A3D9A4C}" type="sibTrans" cxnId="{5CBA35EE-42EC-447E-BF97-6974746B00E4}">
      <dgm:prSet/>
      <dgm:spPr/>
      <dgm:t>
        <a:bodyPr/>
        <a:lstStyle/>
        <a:p>
          <a:endParaRPr lang="en-US" sz="1200"/>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B8A019EF-0685-46AE-8B88-FD2F0A46B3CE}" type="pres">
      <dgm:prSet presAssocID="{BA3B67E2-4734-4C4E-A294-D013FFB0C9B3}" presName="composite" presStyleCnt="0"/>
      <dgm:spPr/>
    </dgm:pt>
    <dgm:pt modelId="{4FEE3739-1EAB-470C-B5FB-EEAF3FC1D07A}" type="pres">
      <dgm:prSet presAssocID="{BA3B67E2-4734-4C4E-A294-D013FFB0C9B3}" presName="parTx" presStyleLbl="node1" presStyleIdx="0" presStyleCnt="4">
        <dgm:presLayoutVars>
          <dgm:chMax val="0"/>
          <dgm:chPref val="0"/>
          <dgm:bulletEnabled val="1"/>
        </dgm:presLayoutVars>
      </dgm:prSet>
      <dgm:spPr/>
      <dgm:t>
        <a:bodyPr/>
        <a:lstStyle/>
        <a:p>
          <a:endParaRPr lang="en-US"/>
        </a:p>
      </dgm:t>
    </dgm:pt>
    <dgm:pt modelId="{53408DB8-18EF-4CB6-9A13-F0AC7079EDFD}" type="pres">
      <dgm:prSet presAssocID="{BA3B67E2-4734-4C4E-A294-D013FFB0C9B3}" presName="parSh" presStyleLbl="node1" presStyleIdx="0" presStyleCnt="4" custLinFactNeighborY="-15183"/>
      <dgm:spPr/>
      <dgm:t>
        <a:bodyPr/>
        <a:lstStyle/>
        <a:p>
          <a:endParaRPr lang="en-US"/>
        </a:p>
      </dgm:t>
    </dgm:pt>
    <dgm:pt modelId="{FD5781D2-493C-4FF5-89C8-0F8A6C420FEA}" type="pres">
      <dgm:prSet presAssocID="{BA3B67E2-4734-4C4E-A294-D013FFB0C9B3}" presName="desTx" presStyleLbl="fgAcc1" presStyleIdx="0" presStyleCnt="4" custLinFactNeighborY="3567">
        <dgm:presLayoutVars>
          <dgm:bulletEnabled val="1"/>
        </dgm:presLayoutVars>
      </dgm:prSet>
      <dgm:spPr/>
      <dgm:t>
        <a:bodyPr/>
        <a:lstStyle/>
        <a:p>
          <a:endParaRPr lang="en-US"/>
        </a:p>
      </dgm:t>
    </dgm:pt>
    <dgm:pt modelId="{FE4DA780-883F-40C8-8BEB-3D581B44E673}" type="pres">
      <dgm:prSet presAssocID="{2A5B7F1B-FF4D-4F36-A60E-29DFFBD60267}" presName="sibTrans" presStyleLbl="sibTrans2D1" presStyleIdx="0" presStyleCnt="3"/>
      <dgm:spPr/>
      <dgm:t>
        <a:bodyPr/>
        <a:lstStyle/>
        <a:p>
          <a:endParaRPr lang="en-US"/>
        </a:p>
      </dgm:t>
    </dgm:pt>
    <dgm:pt modelId="{43214CDF-C53F-4DB7-8EEC-2C762DA3831D}" type="pres">
      <dgm:prSet presAssocID="{2A5B7F1B-FF4D-4F36-A60E-29DFFBD60267}" presName="connTx" presStyleLbl="sibTrans2D1" presStyleIdx="0" presStyleCnt="3"/>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4">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1" presStyleCnt="4" custLinFactNeighborY="-15183"/>
      <dgm:spPr/>
      <dgm:t>
        <a:bodyPr/>
        <a:lstStyle/>
        <a:p>
          <a:endParaRPr lang="en-US"/>
        </a:p>
      </dgm:t>
    </dgm:pt>
    <dgm:pt modelId="{7E8F3D55-80E5-4F13-9459-E39284D0328D}" type="pres">
      <dgm:prSet presAssocID="{03454651-1876-463C-891F-DBFB67BE2D7D}" presName="desTx" presStyleLbl="fgAcc1" presStyleIdx="1" presStyleCnt="4" custLinFactNeighborY="3567">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1" presStyleCnt="3"/>
      <dgm:spPr/>
      <dgm:t>
        <a:bodyPr/>
        <a:lstStyle/>
        <a:p>
          <a:endParaRPr lang="en-US"/>
        </a:p>
      </dgm:t>
    </dgm:pt>
    <dgm:pt modelId="{4B650DD2-5F02-4AE9-9DDB-38B6153A658F}" type="pres">
      <dgm:prSet presAssocID="{32EC2ED1-5A41-47F2-A0A5-89A6987013DA}" presName="connTx" presStyleLbl="sibTrans2D1" presStyleIdx="1" presStyleCnt="3"/>
      <dgm:spPr/>
      <dgm:t>
        <a:bodyPr/>
        <a:lstStyle/>
        <a:p>
          <a:endParaRPr lang="en-US"/>
        </a:p>
      </dgm:t>
    </dgm:pt>
    <dgm:pt modelId="{0C36FA4B-E12B-4FE2-AAC5-001C8FE1DC1A}" type="pres">
      <dgm:prSet presAssocID="{6C0BE2DE-BC83-4F4A-9D12-E45D048076E2}" presName="composite" presStyleCnt="0"/>
      <dgm:spPr/>
    </dgm:pt>
    <dgm:pt modelId="{8B431DFB-EE38-4C08-8FA5-EEEC07E00A49}" type="pres">
      <dgm:prSet presAssocID="{6C0BE2DE-BC83-4F4A-9D12-E45D048076E2}" presName="parTx" presStyleLbl="node1" presStyleIdx="1" presStyleCnt="4">
        <dgm:presLayoutVars>
          <dgm:chMax val="0"/>
          <dgm:chPref val="0"/>
          <dgm:bulletEnabled val="1"/>
        </dgm:presLayoutVars>
      </dgm:prSet>
      <dgm:spPr/>
      <dgm:t>
        <a:bodyPr/>
        <a:lstStyle/>
        <a:p>
          <a:endParaRPr lang="en-US"/>
        </a:p>
      </dgm:t>
    </dgm:pt>
    <dgm:pt modelId="{D58D2809-7C66-41EF-BFD6-851C992003A2}" type="pres">
      <dgm:prSet presAssocID="{6C0BE2DE-BC83-4F4A-9D12-E45D048076E2}" presName="parSh" presStyleLbl="node1" presStyleIdx="2" presStyleCnt="4" custLinFactNeighborY="-15183"/>
      <dgm:spPr/>
      <dgm:t>
        <a:bodyPr/>
        <a:lstStyle/>
        <a:p>
          <a:endParaRPr lang="en-US"/>
        </a:p>
      </dgm:t>
    </dgm:pt>
    <dgm:pt modelId="{DB4907A4-462F-40A6-9FEF-3CF7633D4A62}" type="pres">
      <dgm:prSet presAssocID="{6C0BE2DE-BC83-4F4A-9D12-E45D048076E2}" presName="desTx" presStyleLbl="fgAcc1" presStyleIdx="2" presStyleCnt="4" custLinFactNeighborY="3567">
        <dgm:presLayoutVars>
          <dgm:bulletEnabled val="1"/>
        </dgm:presLayoutVars>
      </dgm:prSet>
      <dgm:spPr/>
      <dgm:t>
        <a:bodyPr/>
        <a:lstStyle/>
        <a:p>
          <a:endParaRPr lang="en-US"/>
        </a:p>
      </dgm:t>
    </dgm:pt>
    <dgm:pt modelId="{E664CA79-E4DB-4D38-81C8-AD7F40A8D901}" type="pres">
      <dgm:prSet presAssocID="{24B283C1-CA6A-4228-8D59-CC19D0AF15AA}" presName="sibTrans" presStyleLbl="sibTrans2D1" presStyleIdx="2" presStyleCnt="3"/>
      <dgm:spPr/>
      <dgm:t>
        <a:bodyPr/>
        <a:lstStyle/>
        <a:p>
          <a:endParaRPr lang="en-US"/>
        </a:p>
      </dgm:t>
    </dgm:pt>
    <dgm:pt modelId="{053B319F-E32F-4301-B0ED-AAEB3BDA4CA4}" type="pres">
      <dgm:prSet presAssocID="{24B283C1-CA6A-4228-8D59-CC19D0AF15AA}" presName="connTx" presStyleLbl="sibTrans2D1" presStyleIdx="2" presStyleCnt="3"/>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2" presStyleCnt="4">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3" presStyleCnt="4" custLinFactNeighborY="-15183"/>
      <dgm:spPr/>
      <dgm:t>
        <a:bodyPr/>
        <a:lstStyle/>
        <a:p>
          <a:endParaRPr lang="en-US"/>
        </a:p>
      </dgm:t>
    </dgm:pt>
    <dgm:pt modelId="{78DF5B2A-5010-4ED2-94FF-7B0692DAFAB8}" type="pres">
      <dgm:prSet presAssocID="{960596DD-7C7A-47B8-98AF-52DD4BEF9344}" presName="desTx" presStyleLbl="fgAcc1" presStyleIdx="3" presStyleCnt="4" custLinFactNeighborY="3567">
        <dgm:presLayoutVars>
          <dgm:bulletEnabled val="1"/>
        </dgm:presLayoutVars>
      </dgm:prSet>
      <dgm:spPr/>
      <dgm:t>
        <a:bodyPr/>
        <a:lstStyle/>
        <a:p>
          <a:endParaRPr lang="en-US"/>
        </a:p>
      </dgm:t>
    </dgm:pt>
  </dgm:ptLst>
  <dgm:cxnLst>
    <dgm:cxn modelId="{634ABC0E-1F34-4E69-B014-729C9D159304}" srcId="{72C595F7-F9FE-4C3C-B546-D393C43DA1D5}" destId="{BA3B67E2-4734-4C4E-A294-D013FFB0C9B3}" srcOrd="0" destOrd="0" parTransId="{F5A238F3-C48B-4C40-B346-A63E51A7BDB9}" sibTransId="{2A5B7F1B-FF4D-4F36-A60E-29DFFBD60267}"/>
    <dgm:cxn modelId="{6EC0C62B-449E-4A4D-9140-2D8F611B48E9}" type="presOf" srcId="{03454651-1876-463C-891F-DBFB67BE2D7D}" destId="{3A83BC6F-B725-4345-B234-B50F8B6B5DAE}" srcOrd="1" destOrd="0" presId="urn:microsoft.com/office/officeart/2005/8/layout/process3"/>
    <dgm:cxn modelId="{BB3C7ED6-C123-4DED-B318-470E6751D9A2}" type="presOf" srcId="{960596DD-7C7A-47B8-98AF-52DD4BEF9344}" destId="{E1297A9F-D2A1-42E6-AAC5-5241A7119404}" srcOrd="0" destOrd="0" presId="urn:microsoft.com/office/officeart/2005/8/layout/process3"/>
    <dgm:cxn modelId="{3FCF1E56-335E-4B06-813D-58FABB75D867}" type="presOf" srcId="{24B283C1-CA6A-4228-8D59-CC19D0AF15AA}" destId="{053B319F-E32F-4301-B0ED-AAEB3BDA4CA4}" srcOrd="1" destOrd="0" presId="urn:microsoft.com/office/officeart/2005/8/layout/process3"/>
    <dgm:cxn modelId="{25C9E86A-E752-498D-B699-D97FFB1656FE}" type="presOf" srcId="{0BBE8715-886C-4E2B-B09D-4EADA3AF424E}" destId="{78DF5B2A-5010-4ED2-94FF-7B0692DAFAB8}" srcOrd="0" destOrd="2" presId="urn:microsoft.com/office/officeart/2005/8/layout/process3"/>
    <dgm:cxn modelId="{BB9BD184-A057-411E-957F-9CCFDCA2ACF4}" type="presOf" srcId="{960596DD-7C7A-47B8-98AF-52DD4BEF9344}" destId="{53B85F9C-7627-4AF9-921B-BEED13451667}" srcOrd="1" destOrd="0" presId="urn:microsoft.com/office/officeart/2005/8/layout/process3"/>
    <dgm:cxn modelId="{41CFE70C-0C19-483C-8A83-1D7BA5FF5852}" srcId="{72C595F7-F9FE-4C3C-B546-D393C43DA1D5}" destId="{960596DD-7C7A-47B8-98AF-52DD4BEF9344}" srcOrd="3" destOrd="0" parTransId="{7170E545-06EB-4CA3-9A7C-2936BD4CF34C}" sibTransId="{3449E61D-4836-4734-B25E-4CB3DD612893}"/>
    <dgm:cxn modelId="{D4785DEB-4A73-4126-B541-141D96566389}" type="presOf" srcId="{CABBD4D6-8EF8-4D01-AD51-C48818023ECF}" destId="{FD5781D2-493C-4FF5-89C8-0F8A6C420FEA}" srcOrd="0" destOrd="1" presId="urn:microsoft.com/office/officeart/2005/8/layout/process3"/>
    <dgm:cxn modelId="{82DB5CB8-7EA1-4B20-994D-E7B475AC54B1}" type="presOf" srcId="{DD3BE678-5CB8-4255-9906-CDEC563CFBC3}" destId="{DB4907A4-462F-40A6-9FEF-3CF7633D4A62}" srcOrd="0" destOrd="1" presId="urn:microsoft.com/office/officeart/2005/8/layout/process3"/>
    <dgm:cxn modelId="{0D925723-0C2F-4282-9D77-12BDFA84C675}" srcId="{960596DD-7C7A-47B8-98AF-52DD4BEF9344}" destId="{E4BA7210-249E-4888-938B-BC1118D9CA42}" srcOrd="0" destOrd="0" parTransId="{E5140982-3EFA-405B-925B-38406417B49B}" sibTransId="{BC8B7F9D-5294-46BE-BD51-7C1C8EF184EA}"/>
    <dgm:cxn modelId="{F7D9CD58-8412-49DC-B12A-6CBE869F8C51}" srcId="{6C0BE2DE-BC83-4F4A-9D12-E45D048076E2}" destId="{DD3BE678-5CB8-4255-9906-CDEC563CFBC3}" srcOrd="1" destOrd="0" parTransId="{776D3E75-8023-461F-AF55-B06901530A67}" sibTransId="{8FFC9242-028F-4EC6-8F6F-2C259EBA348A}"/>
    <dgm:cxn modelId="{FAD970A0-A544-4159-AC83-8D3D80E1B351}" type="presOf" srcId="{FEC61104-F4A6-496F-9577-957089679219}" destId="{78DF5B2A-5010-4ED2-94FF-7B0692DAFAB8}" srcOrd="0" destOrd="3" presId="urn:microsoft.com/office/officeart/2005/8/layout/process3"/>
    <dgm:cxn modelId="{090095A1-A2B9-47FA-BDC4-278F73390CF3}" type="presOf" srcId="{BA3B67E2-4734-4C4E-A294-D013FFB0C9B3}" destId="{53408DB8-18EF-4CB6-9A13-F0AC7079EDFD}" srcOrd="1" destOrd="0" presId="urn:microsoft.com/office/officeart/2005/8/layout/process3"/>
    <dgm:cxn modelId="{F03E9181-458D-444B-8BC7-579A63DC0C3F}" type="presOf" srcId="{AA2AC0DE-D82A-4A4A-9373-D5CE4043D988}" destId="{FD5781D2-493C-4FF5-89C8-0F8A6C420FEA}" srcOrd="0" destOrd="0" presId="urn:microsoft.com/office/officeart/2005/8/layout/process3"/>
    <dgm:cxn modelId="{E89E997F-B70A-4042-8441-4167291B8BA4}" type="presOf" srcId="{349D76FB-8630-4C5C-82F6-79005C81FC12}" destId="{7E8F3D55-80E5-4F13-9459-E39284D0328D}" srcOrd="0" destOrd="1" presId="urn:microsoft.com/office/officeart/2005/8/layout/process3"/>
    <dgm:cxn modelId="{21C15403-36A8-4B71-B8F7-4CEB913D4EF1}" type="presOf" srcId="{8AB1705B-825B-4FA9-B3F7-6234B57D8B5B}" destId="{7E8F3D55-80E5-4F13-9459-E39284D0328D}" srcOrd="0" destOrd="0" presId="urn:microsoft.com/office/officeart/2005/8/layout/process3"/>
    <dgm:cxn modelId="{783FAE94-0881-4707-A8C7-2875303340B6}" type="presOf" srcId="{6C0BE2DE-BC83-4F4A-9D12-E45D048076E2}" destId="{D58D2809-7C66-41EF-BFD6-851C992003A2}" srcOrd="1" destOrd="0" presId="urn:microsoft.com/office/officeart/2005/8/layout/process3"/>
    <dgm:cxn modelId="{10CFB8A1-FDF8-4A01-A014-6A74AA584F23}" type="presOf" srcId="{BA3B67E2-4734-4C4E-A294-D013FFB0C9B3}" destId="{4FEE3739-1EAB-470C-B5FB-EEAF3FC1D07A}" srcOrd="0" destOrd="0" presId="urn:microsoft.com/office/officeart/2005/8/layout/process3"/>
    <dgm:cxn modelId="{A2888309-6AF6-4138-8F73-A410E3EC75FA}" type="presOf" srcId="{2A5B7F1B-FF4D-4F36-A60E-29DFFBD60267}" destId="{FE4DA780-883F-40C8-8BEB-3D581B44E673}" srcOrd="0" destOrd="0" presId="urn:microsoft.com/office/officeart/2005/8/layout/process3"/>
    <dgm:cxn modelId="{0FCCCF05-9A47-4494-A79F-9C358727A1D6}" type="presOf" srcId="{8A35B518-5078-4402-ADA2-3C11CBB94566}" destId="{DB4907A4-462F-40A6-9FEF-3CF7633D4A62}" srcOrd="0" destOrd="0" presId="urn:microsoft.com/office/officeart/2005/8/layout/process3"/>
    <dgm:cxn modelId="{0A26CA9A-AD2F-4EAD-A83A-0C628BF56FE5}" srcId="{6C0BE2DE-BC83-4F4A-9D12-E45D048076E2}" destId="{7F92643C-A476-4993-AC73-CEB3E63CBDF8}" srcOrd="2" destOrd="0" parTransId="{4A06A814-697B-4267-9516-A2994AF47281}" sibTransId="{3B60F5C8-30AC-4201-AE6E-ED4CD2BCCA38}"/>
    <dgm:cxn modelId="{5CBA35EE-42EC-447E-BF97-6974746B00E4}" srcId="{BA3B67E2-4734-4C4E-A294-D013FFB0C9B3}" destId="{CABBD4D6-8EF8-4D01-AD51-C48818023ECF}" srcOrd="1" destOrd="0" parTransId="{52B6FC89-2ED8-4E0F-95C6-5E8BEBC57DF5}" sibTransId="{56DDB5C0-91DD-4782-90C4-2B005A3D9A4C}"/>
    <dgm:cxn modelId="{BE5A4A06-CB8B-4BA2-B012-3D22ED3B1A5F}" type="presOf" srcId="{46A764A9-C71C-45A1-98C1-5BA95F93F184}" destId="{7E8F3D55-80E5-4F13-9459-E39284D0328D}" srcOrd="0" destOrd="2" presId="urn:microsoft.com/office/officeart/2005/8/layout/process3"/>
    <dgm:cxn modelId="{FB8DC6EF-BF2C-4FEB-8241-5BCE5387317E}" srcId="{03454651-1876-463C-891F-DBFB67BE2D7D}" destId="{46A764A9-C71C-45A1-98C1-5BA95F93F184}" srcOrd="2" destOrd="0" parTransId="{95ED32BE-CFA5-4EC0-9BBC-7D018B8B8739}" sibTransId="{25F98BE8-4587-4B47-BC21-03F6BA1ABB15}"/>
    <dgm:cxn modelId="{A01C66BB-8BAA-4C6E-8572-4CB23CF11AAE}" srcId="{72C595F7-F9FE-4C3C-B546-D393C43DA1D5}" destId="{6C0BE2DE-BC83-4F4A-9D12-E45D048076E2}" srcOrd="2" destOrd="0" parTransId="{A5833DF2-92A7-4890-AA83-CD2387BF90CB}" sibTransId="{24B283C1-CA6A-4228-8D59-CC19D0AF15AA}"/>
    <dgm:cxn modelId="{B1993D54-1660-42FD-BD44-EA5ED2720719}" srcId="{03454651-1876-463C-891F-DBFB67BE2D7D}" destId="{8AB1705B-825B-4FA9-B3F7-6234B57D8B5B}" srcOrd="0" destOrd="0" parTransId="{B0921289-A644-45F1-8E03-58A989394A5C}" sibTransId="{59EC8C30-26FF-4A0A-AC62-94A2D4AE1DA6}"/>
    <dgm:cxn modelId="{99D56465-B6F7-4992-A16D-8E3900BD655A}" type="presOf" srcId="{32EC2ED1-5A41-47F2-A0A5-89A6987013DA}" destId="{4B650DD2-5F02-4AE9-9DDB-38B6153A658F}" srcOrd="1" destOrd="0" presId="urn:microsoft.com/office/officeart/2005/8/layout/process3"/>
    <dgm:cxn modelId="{DC7AC2BD-07AF-47ED-84EB-DEF4E7583F38}" srcId="{6C0BE2DE-BC83-4F4A-9D12-E45D048076E2}" destId="{8A35B518-5078-4402-ADA2-3C11CBB94566}" srcOrd="0" destOrd="0" parTransId="{E807DA9A-D923-4E46-B5F4-EF738A5ED0BE}" sibTransId="{CEC910FE-0644-4D8C-85BA-CE684C56F3C5}"/>
    <dgm:cxn modelId="{F0A5846E-C598-4E66-951F-D7CDF7069D5B}" type="presOf" srcId="{72C595F7-F9FE-4C3C-B546-D393C43DA1D5}" destId="{5FAEC180-6FA0-4E38-9D1E-990ABDB6814F}" srcOrd="0" destOrd="0" presId="urn:microsoft.com/office/officeart/2005/8/layout/process3"/>
    <dgm:cxn modelId="{5225F109-990F-42F5-8CB1-22564D6827E6}" type="presOf" srcId="{130CF8FA-C360-48EB-BD38-665736590258}" destId="{78DF5B2A-5010-4ED2-94FF-7B0692DAFAB8}" srcOrd="0" destOrd="1" presId="urn:microsoft.com/office/officeart/2005/8/layout/process3"/>
    <dgm:cxn modelId="{60A163AB-D7DB-4328-85A6-63F94457CBAE}" type="presOf" srcId="{6C0BE2DE-BC83-4F4A-9D12-E45D048076E2}" destId="{8B431DFB-EE38-4C08-8FA5-EEEC07E00A49}" srcOrd="0" destOrd="0" presId="urn:microsoft.com/office/officeart/2005/8/layout/process3"/>
    <dgm:cxn modelId="{248B47E1-5D09-4366-B19B-065216E5AF2F}" srcId="{03454651-1876-463C-891F-DBFB67BE2D7D}" destId="{349D76FB-8630-4C5C-82F6-79005C81FC12}" srcOrd="1" destOrd="0" parTransId="{DB3B645C-68B8-4689-ADDA-FA279E025454}" sibTransId="{E83A2764-C58C-43B8-B82A-BDE40A96979D}"/>
    <dgm:cxn modelId="{03B064EA-C15D-4E80-B799-A995EBC332A7}" type="presOf" srcId="{03454651-1876-463C-891F-DBFB67BE2D7D}" destId="{3D847FC2-380F-49AF-936C-1553F8F26F3C}" srcOrd="0" destOrd="0" presId="urn:microsoft.com/office/officeart/2005/8/layout/process3"/>
    <dgm:cxn modelId="{5CE7BDF1-23BF-434C-BC96-CE797010FFA6}" srcId="{960596DD-7C7A-47B8-98AF-52DD4BEF9344}" destId="{130CF8FA-C360-48EB-BD38-665736590258}" srcOrd="1" destOrd="0" parTransId="{30953F9E-F90A-45DA-8D88-77B9176E32F2}" sibTransId="{F7104422-BEBD-4D34-8EBF-71C72989023D}"/>
    <dgm:cxn modelId="{453CEB6A-F61A-4C89-9592-9EB5104FC954}" srcId="{72C595F7-F9FE-4C3C-B546-D393C43DA1D5}" destId="{03454651-1876-463C-891F-DBFB67BE2D7D}" srcOrd="1" destOrd="0" parTransId="{34ADBB6D-89A4-4913-83ED-5D871B73AD66}" sibTransId="{32EC2ED1-5A41-47F2-A0A5-89A6987013DA}"/>
    <dgm:cxn modelId="{BABA4B8F-9304-49E9-B349-A8C7559DB18C}" type="presOf" srcId="{7F92643C-A476-4993-AC73-CEB3E63CBDF8}" destId="{DB4907A4-462F-40A6-9FEF-3CF7633D4A62}" srcOrd="0" destOrd="2" presId="urn:microsoft.com/office/officeart/2005/8/layout/process3"/>
    <dgm:cxn modelId="{C51FDBC0-FD38-490C-8EA4-81F8785F0E04}" type="presOf" srcId="{2A5B7F1B-FF4D-4F36-A60E-29DFFBD60267}" destId="{43214CDF-C53F-4DB7-8EEC-2C762DA3831D}" srcOrd="1" destOrd="0" presId="urn:microsoft.com/office/officeart/2005/8/layout/process3"/>
    <dgm:cxn modelId="{513AA701-6EEE-408F-8622-C86020C5810B}" type="presOf" srcId="{32EC2ED1-5A41-47F2-A0A5-89A6987013DA}" destId="{2185D18F-377B-4641-B87A-82A7FD17C65D}" srcOrd="0" destOrd="0" presId="urn:microsoft.com/office/officeart/2005/8/layout/process3"/>
    <dgm:cxn modelId="{8A7033B3-8614-48A0-A5C9-F4AADDAFE05E}" srcId="{960596DD-7C7A-47B8-98AF-52DD4BEF9344}" destId="{FEC61104-F4A6-496F-9577-957089679219}" srcOrd="3" destOrd="0" parTransId="{F343FD82-3B34-4E14-B7A5-B9566BDE4B6F}" sibTransId="{07817711-AC1E-415F-A604-4DB390FBFC33}"/>
    <dgm:cxn modelId="{E1E06721-60DB-46E2-96B8-A8EA6293F569}" type="presOf" srcId="{E4BA7210-249E-4888-938B-BC1118D9CA42}" destId="{78DF5B2A-5010-4ED2-94FF-7B0692DAFAB8}" srcOrd="0" destOrd="0" presId="urn:microsoft.com/office/officeart/2005/8/layout/process3"/>
    <dgm:cxn modelId="{F1CB2A47-B672-465B-B095-E8630BA2F6A6}" srcId="{960596DD-7C7A-47B8-98AF-52DD4BEF9344}" destId="{0BBE8715-886C-4E2B-B09D-4EADA3AF424E}" srcOrd="2" destOrd="0" parTransId="{0800E47F-CB40-4FB6-AC40-EB37A025E67A}" sibTransId="{2E791BF6-46A9-48CE-BC60-199E1CCFEE57}"/>
    <dgm:cxn modelId="{E74DC89B-D3BA-4969-AB04-9A5E8ECCB17A}" srcId="{BA3B67E2-4734-4C4E-A294-D013FFB0C9B3}" destId="{AA2AC0DE-D82A-4A4A-9373-D5CE4043D988}" srcOrd="0" destOrd="0" parTransId="{21F78DFC-9EEA-40CD-BD8F-8960A79FA769}" sibTransId="{84B5D17D-EA9A-4EA2-8A52-EBB760DA89C6}"/>
    <dgm:cxn modelId="{D04831A2-B89A-489A-9C35-D88CB680ED62}" type="presOf" srcId="{24B283C1-CA6A-4228-8D59-CC19D0AF15AA}" destId="{E664CA79-E4DB-4D38-81C8-AD7F40A8D901}" srcOrd="0" destOrd="0" presId="urn:microsoft.com/office/officeart/2005/8/layout/process3"/>
    <dgm:cxn modelId="{8CE07F56-E2F9-49F0-98DB-E9FB2AA38CD3}" type="presParOf" srcId="{5FAEC180-6FA0-4E38-9D1E-990ABDB6814F}" destId="{B8A019EF-0685-46AE-8B88-FD2F0A46B3CE}" srcOrd="0" destOrd="0" presId="urn:microsoft.com/office/officeart/2005/8/layout/process3"/>
    <dgm:cxn modelId="{995B3C78-63AF-4B9B-93DA-1A2557DE473F}" type="presParOf" srcId="{B8A019EF-0685-46AE-8B88-FD2F0A46B3CE}" destId="{4FEE3739-1EAB-470C-B5FB-EEAF3FC1D07A}" srcOrd="0" destOrd="0" presId="urn:microsoft.com/office/officeart/2005/8/layout/process3"/>
    <dgm:cxn modelId="{A244C89B-CCCE-43C0-88E6-EA8134231C1C}" type="presParOf" srcId="{B8A019EF-0685-46AE-8B88-FD2F0A46B3CE}" destId="{53408DB8-18EF-4CB6-9A13-F0AC7079EDFD}" srcOrd="1" destOrd="0" presId="urn:microsoft.com/office/officeart/2005/8/layout/process3"/>
    <dgm:cxn modelId="{EF66DFCF-3A7B-48AF-B4F2-D04275A2ECDF}" type="presParOf" srcId="{B8A019EF-0685-46AE-8B88-FD2F0A46B3CE}" destId="{FD5781D2-493C-4FF5-89C8-0F8A6C420FEA}" srcOrd="2" destOrd="0" presId="urn:microsoft.com/office/officeart/2005/8/layout/process3"/>
    <dgm:cxn modelId="{541A549D-79E3-4452-80C5-D77216C21A7D}" type="presParOf" srcId="{5FAEC180-6FA0-4E38-9D1E-990ABDB6814F}" destId="{FE4DA780-883F-40C8-8BEB-3D581B44E673}" srcOrd="1" destOrd="0" presId="urn:microsoft.com/office/officeart/2005/8/layout/process3"/>
    <dgm:cxn modelId="{19791593-5C81-490F-9167-733753725B07}" type="presParOf" srcId="{FE4DA780-883F-40C8-8BEB-3D581B44E673}" destId="{43214CDF-C53F-4DB7-8EEC-2C762DA3831D}" srcOrd="0" destOrd="0" presId="urn:microsoft.com/office/officeart/2005/8/layout/process3"/>
    <dgm:cxn modelId="{9624E5BA-5AD3-48CB-B21D-1384BD8B5601}" type="presParOf" srcId="{5FAEC180-6FA0-4E38-9D1E-990ABDB6814F}" destId="{1ED04EDF-BDDC-4FBE-ADFE-4ECCA1ABCE5C}" srcOrd="2" destOrd="0" presId="urn:microsoft.com/office/officeart/2005/8/layout/process3"/>
    <dgm:cxn modelId="{650F9035-474E-4E8D-AD31-06C85702B515}" type="presParOf" srcId="{1ED04EDF-BDDC-4FBE-ADFE-4ECCA1ABCE5C}" destId="{3D847FC2-380F-49AF-936C-1553F8F26F3C}" srcOrd="0" destOrd="0" presId="urn:microsoft.com/office/officeart/2005/8/layout/process3"/>
    <dgm:cxn modelId="{B5667A01-3ED0-49EB-8449-3A290C7E0CC3}" type="presParOf" srcId="{1ED04EDF-BDDC-4FBE-ADFE-4ECCA1ABCE5C}" destId="{3A83BC6F-B725-4345-B234-B50F8B6B5DAE}" srcOrd="1" destOrd="0" presId="urn:microsoft.com/office/officeart/2005/8/layout/process3"/>
    <dgm:cxn modelId="{4DDFF6B4-18E5-4982-8C15-D163AF4E1A11}" type="presParOf" srcId="{1ED04EDF-BDDC-4FBE-ADFE-4ECCA1ABCE5C}" destId="{7E8F3D55-80E5-4F13-9459-E39284D0328D}" srcOrd="2" destOrd="0" presId="urn:microsoft.com/office/officeart/2005/8/layout/process3"/>
    <dgm:cxn modelId="{DF6E1725-F09D-44A4-B310-345048FCB7A1}" type="presParOf" srcId="{5FAEC180-6FA0-4E38-9D1E-990ABDB6814F}" destId="{2185D18F-377B-4641-B87A-82A7FD17C65D}" srcOrd="3" destOrd="0" presId="urn:microsoft.com/office/officeart/2005/8/layout/process3"/>
    <dgm:cxn modelId="{756C8F82-D9A5-401E-8EB1-6616D085193C}" type="presParOf" srcId="{2185D18F-377B-4641-B87A-82A7FD17C65D}" destId="{4B650DD2-5F02-4AE9-9DDB-38B6153A658F}" srcOrd="0" destOrd="0" presId="urn:microsoft.com/office/officeart/2005/8/layout/process3"/>
    <dgm:cxn modelId="{C9A59EC4-77AB-4A79-8B18-49B292A9D05D}" type="presParOf" srcId="{5FAEC180-6FA0-4E38-9D1E-990ABDB6814F}" destId="{0C36FA4B-E12B-4FE2-AAC5-001C8FE1DC1A}" srcOrd="4" destOrd="0" presId="urn:microsoft.com/office/officeart/2005/8/layout/process3"/>
    <dgm:cxn modelId="{4CC843D0-6B23-4418-B2D2-21391F3AD712}" type="presParOf" srcId="{0C36FA4B-E12B-4FE2-AAC5-001C8FE1DC1A}" destId="{8B431DFB-EE38-4C08-8FA5-EEEC07E00A49}" srcOrd="0" destOrd="0" presId="urn:microsoft.com/office/officeart/2005/8/layout/process3"/>
    <dgm:cxn modelId="{EB4D8ACC-990A-4C8C-85EF-FB1D095C65D3}" type="presParOf" srcId="{0C36FA4B-E12B-4FE2-AAC5-001C8FE1DC1A}" destId="{D58D2809-7C66-41EF-BFD6-851C992003A2}" srcOrd="1" destOrd="0" presId="urn:microsoft.com/office/officeart/2005/8/layout/process3"/>
    <dgm:cxn modelId="{F4EE169A-98F9-44D2-9687-24AD3203B5DF}" type="presParOf" srcId="{0C36FA4B-E12B-4FE2-AAC5-001C8FE1DC1A}" destId="{DB4907A4-462F-40A6-9FEF-3CF7633D4A62}" srcOrd="2" destOrd="0" presId="urn:microsoft.com/office/officeart/2005/8/layout/process3"/>
    <dgm:cxn modelId="{AF6EB287-3ADB-4263-8DDA-DE6ADB0A0003}" type="presParOf" srcId="{5FAEC180-6FA0-4E38-9D1E-990ABDB6814F}" destId="{E664CA79-E4DB-4D38-81C8-AD7F40A8D901}" srcOrd="5" destOrd="0" presId="urn:microsoft.com/office/officeart/2005/8/layout/process3"/>
    <dgm:cxn modelId="{B95934AE-3587-4C7B-8837-76231A2A8004}" type="presParOf" srcId="{E664CA79-E4DB-4D38-81C8-AD7F40A8D901}" destId="{053B319F-E32F-4301-B0ED-AAEB3BDA4CA4}" srcOrd="0" destOrd="0" presId="urn:microsoft.com/office/officeart/2005/8/layout/process3"/>
    <dgm:cxn modelId="{8BC93F5E-EF22-4B8B-8566-16194AAA2DF4}" type="presParOf" srcId="{5FAEC180-6FA0-4E38-9D1E-990ABDB6814F}" destId="{AB38EC2E-43FE-44BB-80CD-6BBCBABF7F5F}" srcOrd="6" destOrd="0" presId="urn:microsoft.com/office/officeart/2005/8/layout/process3"/>
    <dgm:cxn modelId="{45E80F94-2802-4571-BA38-E1043DF88ABE}" type="presParOf" srcId="{AB38EC2E-43FE-44BB-80CD-6BBCBABF7F5F}" destId="{E1297A9F-D2A1-42E6-AAC5-5241A7119404}" srcOrd="0" destOrd="0" presId="urn:microsoft.com/office/officeart/2005/8/layout/process3"/>
    <dgm:cxn modelId="{61A2C0FA-A2DD-4CF1-B3DB-C338B571D22A}" type="presParOf" srcId="{AB38EC2E-43FE-44BB-80CD-6BBCBABF7F5F}" destId="{53B85F9C-7627-4AF9-921B-BEED13451667}" srcOrd="1" destOrd="0" presId="urn:microsoft.com/office/officeart/2005/8/layout/process3"/>
    <dgm:cxn modelId="{DB2E791D-6C62-4175-85FF-69CD5C213DC0}"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dirty="0" smtClean="0"/>
            <a:t>Commercial management</a:t>
          </a:r>
          <a:endParaRPr lang="en-US" dirty="0"/>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5074504D-B054-44B7-AF1D-0C421DB29C8C}">
      <dgm:prSet phldrT="[Text]"/>
      <dgm:spPr/>
      <dgm:t>
        <a:bodyPr/>
        <a:lstStyle/>
        <a:p>
          <a:r>
            <a:rPr lang="en-US" dirty="0" smtClean="0"/>
            <a:t>Network management</a:t>
          </a:r>
          <a:endParaRPr lang="en-US" dirty="0"/>
        </a:p>
      </dgm:t>
    </dgm:pt>
    <dgm:pt modelId="{38550204-A29D-4D29-89AB-206E975EF185}" type="parTrans" cxnId="{288D6556-D78D-42E2-834B-00062A324825}">
      <dgm:prSet/>
      <dgm:spPr/>
      <dgm:t>
        <a:bodyPr/>
        <a:lstStyle/>
        <a:p>
          <a:endParaRPr lang="en-US"/>
        </a:p>
      </dgm:t>
    </dgm:pt>
    <dgm:pt modelId="{836E2BBF-AE6F-44B9-AD26-342382726746}" type="sibTrans" cxnId="{288D6556-D78D-42E2-834B-00062A324825}">
      <dgm:prSet/>
      <dgm:spPr/>
      <dgm:t>
        <a:bodyPr/>
        <a:lstStyle/>
        <a:p>
          <a:endParaRPr lang="en-US"/>
        </a:p>
      </dgm:t>
    </dgm:pt>
    <dgm:pt modelId="{960596DD-7C7A-47B8-98AF-52DD4BEF9344}">
      <dgm:prSet phldrT="[Text]"/>
      <dgm:spPr/>
      <dgm:t>
        <a:bodyPr/>
        <a:lstStyle/>
        <a:p>
          <a:r>
            <a:rPr lang="en-US" dirty="0" smtClean="0"/>
            <a:t>Energy management</a:t>
          </a:r>
          <a:endParaRPr lang="en-US" dirty="0"/>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3A2D8FAD-1489-46F7-A245-CA50D2CF5834}">
      <dgm:prSet/>
      <dgm:spPr/>
      <dgm:t>
        <a:bodyPr/>
        <a:lstStyle/>
        <a:p>
          <a:r>
            <a:rPr lang="en-US" dirty="0" smtClean="0"/>
            <a:t>Feasibility study and implementation of steps for commercial loss reduction</a:t>
          </a:r>
          <a:endParaRPr lang="en-US" dirty="0"/>
        </a:p>
      </dgm:t>
    </dgm:pt>
    <dgm:pt modelId="{B968D2E6-015E-472B-B963-68F6D05E13B7}" type="parTrans" cxnId="{1DC1956A-930D-45AD-916E-DDBD15B8FA10}">
      <dgm:prSet/>
      <dgm:spPr/>
      <dgm:t>
        <a:bodyPr/>
        <a:lstStyle/>
        <a:p>
          <a:endParaRPr lang="en-US"/>
        </a:p>
      </dgm:t>
    </dgm:pt>
    <dgm:pt modelId="{F9011C52-F83D-4D10-B873-796CAC0B5F2D}" type="sibTrans" cxnId="{1DC1956A-930D-45AD-916E-DDBD15B8FA10}">
      <dgm:prSet/>
      <dgm:spPr/>
      <dgm:t>
        <a:bodyPr/>
        <a:lstStyle/>
        <a:p>
          <a:endParaRPr lang="en-US"/>
        </a:p>
      </dgm:t>
    </dgm:pt>
    <dgm:pt modelId="{41FB0194-5CA5-4B03-9138-042F307E67EB}">
      <dgm:prSet phldrT="[Text]"/>
      <dgm:spPr/>
      <dgm:t>
        <a:bodyPr/>
        <a:lstStyle/>
        <a:p>
          <a:r>
            <a:rPr lang="en-US" dirty="0" smtClean="0"/>
            <a:t>Feasibility study for implementation of SCADA and GIS-enabled Distribution Management System (DMS)</a:t>
          </a:r>
          <a:endParaRPr lang="en-US" dirty="0"/>
        </a:p>
      </dgm:t>
    </dgm:pt>
    <dgm:pt modelId="{A274891C-E490-45A7-8D54-036565425CF9}" type="parTrans" cxnId="{00FC6B94-DF8D-4556-B0BA-3D23F3BD4868}">
      <dgm:prSet/>
      <dgm:spPr/>
      <dgm:t>
        <a:bodyPr/>
        <a:lstStyle/>
        <a:p>
          <a:endParaRPr lang="en-US"/>
        </a:p>
      </dgm:t>
    </dgm:pt>
    <dgm:pt modelId="{CE6C5A26-89CB-4823-8016-512458BE686F}" type="sibTrans" cxnId="{00FC6B94-DF8D-4556-B0BA-3D23F3BD4868}">
      <dgm:prSet/>
      <dgm:spPr/>
      <dgm:t>
        <a:bodyPr/>
        <a:lstStyle/>
        <a:p>
          <a:endParaRPr lang="en-US"/>
        </a:p>
      </dgm:t>
    </dgm:pt>
    <dgm:pt modelId="{E78B23F4-3E95-42D7-BA5D-404422670735}">
      <dgm:prSet phldrT="[Text]"/>
      <dgm:spPr/>
      <dgm:t>
        <a:bodyPr/>
        <a:lstStyle/>
        <a:p>
          <a:r>
            <a:rPr lang="en-US" dirty="0" smtClean="0"/>
            <a:t>Feasibility study for implementation of smart grid covering AMI / smart meters, Outage Management System, Phasor Management Unit / WAMS, Self-Healing Grid, Distributed Generation / Distributed Energy Resource Management System, Smart Energy Storage</a:t>
          </a:r>
          <a:endParaRPr lang="en-US" dirty="0"/>
        </a:p>
      </dgm:t>
    </dgm:pt>
    <dgm:pt modelId="{3BAF8C6E-5757-45EF-BB9C-7A7B3AF69446}" type="parTrans" cxnId="{89B5AFC9-2C8A-4AC2-A1D6-8835F74A4D24}">
      <dgm:prSet/>
      <dgm:spPr/>
      <dgm:t>
        <a:bodyPr/>
        <a:lstStyle/>
        <a:p>
          <a:endParaRPr lang="en-US"/>
        </a:p>
      </dgm:t>
    </dgm:pt>
    <dgm:pt modelId="{1D70502B-F5F2-4E9E-BC49-FD7BEECD541A}" type="sibTrans" cxnId="{89B5AFC9-2C8A-4AC2-A1D6-8835F74A4D24}">
      <dgm:prSet/>
      <dgm:spPr/>
      <dgm:t>
        <a:bodyPr/>
        <a:lstStyle/>
        <a:p>
          <a:endParaRPr lang="en-US"/>
        </a:p>
      </dgm:t>
    </dgm:pt>
    <dgm:pt modelId="{0AC29B83-F720-4D64-8417-875D872F0E1B}">
      <dgm:prSet phldrT="[Text]"/>
      <dgm:spPr/>
      <dgm:t>
        <a:bodyPr/>
        <a:lstStyle/>
        <a:p>
          <a:r>
            <a:rPr lang="en-US" dirty="0" smtClean="0"/>
            <a:t>Implementation of Energy Audit initiatives including:</a:t>
          </a:r>
          <a:endParaRPr lang="en-US" dirty="0"/>
        </a:p>
      </dgm:t>
    </dgm:pt>
    <dgm:pt modelId="{0983C0E8-8E16-43A4-B61C-A8BD730222B5}" type="parTrans" cxnId="{C7719B2B-CA94-4C83-ABAB-77D3DC46B1BE}">
      <dgm:prSet/>
      <dgm:spPr/>
      <dgm:t>
        <a:bodyPr/>
        <a:lstStyle/>
        <a:p>
          <a:endParaRPr lang="en-US"/>
        </a:p>
      </dgm:t>
    </dgm:pt>
    <dgm:pt modelId="{203A2879-E802-4F50-A532-F38299284CD3}" type="sibTrans" cxnId="{C7719B2B-CA94-4C83-ABAB-77D3DC46B1BE}">
      <dgm:prSet/>
      <dgm:spPr/>
      <dgm:t>
        <a:bodyPr/>
        <a:lstStyle/>
        <a:p>
          <a:endParaRPr lang="en-US"/>
        </a:p>
      </dgm:t>
    </dgm:pt>
    <dgm:pt modelId="{5BB9F1C2-C668-425E-B57B-F49B96358E2C}">
      <dgm:prSet phldrT="[Text]"/>
      <dgm:spPr/>
      <dgm:t>
        <a:bodyPr/>
        <a:lstStyle/>
        <a:p>
          <a:r>
            <a:rPr lang="en-US" dirty="0" smtClean="0"/>
            <a:t>Customer relationship management</a:t>
          </a:r>
          <a:endParaRPr lang="en-US" dirty="0"/>
        </a:p>
      </dgm:t>
    </dgm:pt>
    <dgm:pt modelId="{B5D19EB7-6512-48E8-B439-E9CB72149E0C}" type="parTrans" cxnId="{3CAC6815-F319-423A-A4BC-9E94ED894AF7}">
      <dgm:prSet/>
      <dgm:spPr/>
      <dgm:t>
        <a:bodyPr/>
        <a:lstStyle/>
        <a:p>
          <a:endParaRPr lang="en-US"/>
        </a:p>
      </dgm:t>
    </dgm:pt>
    <dgm:pt modelId="{485473B0-EC53-4977-B6C3-C005BAB876D7}" type="sibTrans" cxnId="{3CAC6815-F319-423A-A4BC-9E94ED894AF7}">
      <dgm:prSet/>
      <dgm:spPr/>
      <dgm:t>
        <a:bodyPr/>
        <a:lstStyle/>
        <a:p>
          <a:endParaRPr lang="en-US"/>
        </a:p>
      </dgm:t>
    </dgm:pt>
    <dgm:pt modelId="{CCB22B6F-AE32-42A5-825C-50B6014CC98F}">
      <dgm:prSet phldrT="[Text]"/>
      <dgm:spPr/>
      <dgm:t>
        <a:bodyPr/>
        <a:lstStyle/>
        <a:p>
          <a:r>
            <a:rPr lang="en-US" dirty="0" smtClean="0"/>
            <a:t>Preparation of strategy for implementation of ICT-based Customer Relationship Management solution</a:t>
          </a:r>
          <a:endParaRPr lang="en-US" dirty="0"/>
        </a:p>
      </dgm:t>
    </dgm:pt>
    <dgm:pt modelId="{FF99647B-F974-4717-A0D7-25F946AAD5D6}" type="parTrans" cxnId="{B4D82462-1CD7-44C5-BF87-DD17E72F7ECE}">
      <dgm:prSet/>
      <dgm:spPr/>
      <dgm:t>
        <a:bodyPr/>
        <a:lstStyle/>
        <a:p>
          <a:endParaRPr lang="en-US"/>
        </a:p>
      </dgm:t>
    </dgm:pt>
    <dgm:pt modelId="{95FCC516-01BA-4CA6-AE3B-623F902C7225}" type="sibTrans" cxnId="{B4D82462-1CD7-44C5-BF87-DD17E72F7ECE}">
      <dgm:prSet/>
      <dgm:spPr/>
      <dgm:t>
        <a:bodyPr/>
        <a:lstStyle/>
        <a:p>
          <a:endParaRPr lang="en-US"/>
        </a:p>
      </dgm:t>
    </dgm:pt>
    <dgm:pt modelId="{3FFDA604-F8D1-45DF-A947-03F29E7D786D}">
      <dgm:prSet phldrT="[Text]"/>
      <dgm:spPr/>
      <dgm:t>
        <a:bodyPr/>
        <a:lstStyle/>
        <a:p>
          <a:r>
            <a:rPr lang="en-US" dirty="0" smtClean="0"/>
            <a:t>Shift toward smart grid</a:t>
          </a:r>
          <a:endParaRPr lang="en-US" dirty="0"/>
        </a:p>
      </dgm:t>
    </dgm:pt>
    <dgm:pt modelId="{3F11B895-2F8A-4676-B905-D1915DC36453}" type="parTrans" cxnId="{9345A028-DBCC-4B64-9803-6270D589E11F}">
      <dgm:prSet/>
      <dgm:spPr/>
      <dgm:t>
        <a:bodyPr/>
        <a:lstStyle/>
        <a:p>
          <a:endParaRPr lang="en-US"/>
        </a:p>
      </dgm:t>
    </dgm:pt>
    <dgm:pt modelId="{4A4217BD-8889-4D86-BF8C-032B00A223DF}" type="sibTrans" cxnId="{9345A028-DBCC-4B64-9803-6270D589E11F}">
      <dgm:prSet/>
      <dgm:spPr/>
      <dgm:t>
        <a:bodyPr/>
        <a:lstStyle/>
        <a:p>
          <a:endParaRPr lang="en-US"/>
        </a:p>
      </dgm:t>
    </dgm:pt>
    <dgm:pt modelId="{CF09B30E-C73B-43E2-A0B9-9C3C3CAEFA6A}">
      <dgm:prSet/>
      <dgm:spPr/>
      <dgm:t>
        <a:bodyPr/>
        <a:lstStyle/>
        <a:p>
          <a:r>
            <a:rPr lang="en-US" dirty="0" smtClean="0"/>
            <a:t>Implementation of HVDS and underground cables</a:t>
          </a:r>
          <a:endParaRPr lang="en-US" dirty="0"/>
        </a:p>
      </dgm:t>
    </dgm:pt>
    <dgm:pt modelId="{DAAF5DA7-0B3D-42CD-8DB4-61DC1B035D78}" type="parTrans" cxnId="{A6FFC661-FAE2-4DE8-B05C-7E30718B89BF}">
      <dgm:prSet/>
      <dgm:spPr/>
      <dgm:t>
        <a:bodyPr/>
        <a:lstStyle/>
        <a:p>
          <a:endParaRPr lang="en-US"/>
        </a:p>
      </dgm:t>
    </dgm:pt>
    <dgm:pt modelId="{78A08EDE-9F16-46DB-AA53-7E973FC484CA}" type="sibTrans" cxnId="{A6FFC661-FAE2-4DE8-B05C-7E30718B89BF}">
      <dgm:prSet/>
      <dgm:spPr/>
      <dgm:t>
        <a:bodyPr/>
        <a:lstStyle/>
        <a:p>
          <a:endParaRPr lang="en-US"/>
        </a:p>
      </dgm:t>
    </dgm:pt>
    <dgm:pt modelId="{B2A0A6F9-F344-457B-9B88-9EAF9054E8F5}">
      <dgm:prSet/>
      <dgm:spPr/>
      <dgm:t>
        <a:bodyPr/>
        <a:lstStyle/>
        <a:p>
          <a:r>
            <a:rPr lang="en-US" smtClean="0"/>
            <a:t>Replacement</a:t>
          </a:r>
          <a:r>
            <a:rPr lang="en-US" baseline="0" smtClean="0"/>
            <a:t> of defective meters</a:t>
          </a:r>
          <a:endParaRPr lang="en-US" baseline="0" dirty="0" smtClean="0"/>
        </a:p>
      </dgm:t>
    </dgm:pt>
    <dgm:pt modelId="{AF157C90-E9F7-4793-8C33-8BB19564BEDE}" type="parTrans" cxnId="{67DDA76F-5E86-4402-8077-DB224AD4174E}">
      <dgm:prSet/>
      <dgm:spPr/>
      <dgm:t>
        <a:bodyPr/>
        <a:lstStyle/>
        <a:p>
          <a:endParaRPr lang="en-US"/>
        </a:p>
      </dgm:t>
    </dgm:pt>
    <dgm:pt modelId="{CFD36AF6-15BA-4C13-B9F2-0DE750AFA9E0}" type="sibTrans" cxnId="{67DDA76F-5E86-4402-8077-DB224AD4174E}">
      <dgm:prSet/>
      <dgm:spPr/>
      <dgm:t>
        <a:bodyPr/>
        <a:lstStyle/>
        <a:p>
          <a:endParaRPr lang="en-US"/>
        </a:p>
      </dgm:t>
    </dgm:pt>
    <dgm:pt modelId="{76A5493E-9D8F-4696-84EB-4B6A186F9722}">
      <dgm:prSet/>
      <dgm:spPr/>
      <dgm:t>
        <a:bodyPr/>
        <a:lstStyle/>
        <a:p>
          <a:r>
            <a:rPr lang="en-US" baseline="0" smtClean="0"/>
            <a:t>Installation of prepaid meters</a:t>
          </a:r>
          <a:endParaRPr lang="en-US" baseline="0" dirty="0" smtClean="0"/>
        </a:p>
      </dgm:t>
    </dgm:pt>
    <dgm:pt modelId="{DCFAC211-0D95-4830-A786-1BD7D818D1D0}" type="parTrans" cxnId="{C49026E6-B4FF-44D3-91F8-71356DF8E170}">
      <dgm:prSet/>
      <dgm:spPr/>
      <dgm:t>
        <a:bodyPr/>
        <a:lstStyle/>
        <a:p>
          <a:endParaRPr lang="en-US"/>
        </a:p>
      </dgm:t>
    </dgm:pt>
    <dgm:pt modelId="{1E678558-F01F-4BDF-B55B-26181C11152A}" type="sibTrans" cxnId="{C49026E6-B4FF-44D3-91F8-71356DF8E170}">
      <dgm:prSet/>
      <dgm:spPr/>
      <dgm:t>
        <a:bodyPr/>
        <a:lstStyle/>
        <a:p>
          <a:endParaRPr lang="en-US"/>
        </a:p>
      </dgm:t>
    </dgm:pt>
    <dgm:pt modelId="{77DE481D-EBC8-4045-806F-6A9D638A3EF6}">
      <dgm:prSet/>
      <dgm:spPr/>
      <dgm:t>
        <a:bodyPr/>
        <a:lstStyle/>
        <a:p>
          <a:r>
            <a:rPr lang="en-US" smtClean="0"/>
            <a:t>Incorporation of penal</a:t>
          </a:r>
          <a:r>
            <a:rPr lang="en-US" baseline="0" smtClean="0"/>
            <a:t> measures for electricity theft</a:t>
          </a:r>
          <a:endParaRPr lang="en-US" baseline="0" dirty="0" smtClean="0"/>
        </a:p>
      </dgm:t>
    </dgm:pt>
    <dgm:pt modelId="{AD49CE16-D1C3-4CE3-8C20-80DDE3840DA6}" type="parTrans" cxnId="{F4E2865E-F4CF-4161-AD24-81773BADD19C}">
      <dgm:prSet/>
      <dgm:spPr/>
      <dgm:t>
        <a:bodyPr/>
        <a:lstStyle/>
        <a:p>
          <a:endParaRPr lang="en-US"/>
        </a:p>
      </dgm:t>
    </dgm:pt>
    <dgm:pt modelId="{E5676A59-FB9D-455A-8A28-24F029C97B13}" type="sibTrans" cxnId="{F4E2865E-F4CF-4161-AD24-81773BADD19C}">
      <dgm:prSet/>
      <dgm:spPr/>
      <dgm:t>
        <a:bodyPr/>
        <a:lstStyle/>
        <a:p>
          <a:endParaRPr lang="en-US"/>
        </a:p>
      </dgm:t>
    </dgm:pt>
    <dgm:pt modelId="{58A6171B-945E-4CBC-8873-7070EADCBC15}">
      <dgm:prSet/>
      <dgm:spPr/>
      <dgm:t>
        <a:bodyPr/>
        <a:lstStyle/>
        <a:p>
          <a:r>
            <a:rPr lang="en-US" smtClean="0"/>
            <a:t>Installation of tamper-proof meters</a:t>
          </a:r>
          <a:endParaRPr lang="en-US" dirty="0" smtClean="0"/>
        </a:p>
      </dgm:t>
    </dgm:pt>
    <dgm:pt modelId="{CC5343CB-AA58-4898-857D-F7E3D4580143}" type="parTrans" cxnId="{EADA8D2C-3F6D-4FF3-94A9-FD0FAC1D1677}">
      <dgm:prSet/>
      <dgm:spPr/>
      <dgm:t>
        <a:bodyPr/>
        <a:lstStyle/>
        <a:p>
          <a:endParaRPr lang="en-US"/>
        </a:p>
      </dgm:t>
    </dgm:pt>
    <dgm:pt modelId="{705684B9-5E42-4804-B3AF-9E7C7011153C}" type="sibTrans" cxnId="{EADA8D2C-3F6D-4FF3-94A9-FD0FAC1D1677}">
      <dgm:prSet/>
      <dgm:spPr/>
      <dgm:t>
        <a:bodyPr/>
        <a:lstStyle/>
        <a:p>
          <a:endParaRPr lang="en-US"/>
        </a:p>
      </dgm:t>
    </dgm:pt>
    <dgm:pt modelId="{816D7D95-4F3A-4A23-A713-43BACEC7B439}">
      <dgm:prSet/>
      <dgm:spPr/>
      <dgm:t>
        <a:bodyPr/>
        <a:lstStyle/>
        <a:p>
          <a:r>
            <a:rPr lang="en-US" smtClean="0"/>
            <a:t>Mitigation of errors in meter reading</a:t>
          </a:r>
          <a:r>
            <a:rPr lang="en-US" baseline="0" smtClean="0"/>
            <a:t> and billing</a:t>
          </a:r>
          <a:endParaRPr lang="en-US" baseline="0" dirty="0" smtClean="0"/>
        </a:p>
      </dgm:t>
    </dgm:pt>
    <dgm:pt modelId="{68775878-A4B1-4BA8-B078-A4E91F7C5B70}" type="parTrans" cxnId="{1F8A8332-ACED-401A-B087-D29BBDCA1467}">
      <dgm:prSet/>
      <dgm:spPr/>
      <dgm:t>
        <a:bodyPr/>
        <a:lstStyle/>
        <a:p>
          <a:endParaRPr lang="en-US"/>
        </a:p>
      </dgm:t>
    </dgm:pt>
    <dgm:pt modelId="{46BD7719-636D-4CCE-A62A-1D6F2F19882D}" type="sibTrans" cxnId="{1F8A8332-ACED-401A-B087-D29BBDCA1467}">
      <dgm:prSet/>
      <dgm:spPr/>
      <dgm:t>
        <a:bodyPr/>
        <a:lstStyle/>
        <a:p>
          <a:endParaRPr lang="en-US"/>
        </a:p>
      </dgm:t>
    </dgm:pt>
    <dgm:pt modelId="{88C441C5-0497-403D-AAAB-38145353427C}">
      <dgm:prSet/>
      <dgm:spPr/>
      <dgm:t>
        <a:bodyPr/>
        <a:lstStyle/>
        <a:p>
          <a:r>
            <a:rPr lang="en-US" baseline="0" smtClean="0"/>
            <a:t>Collection management</a:t>
          </a:r>
          <a:endParaRPr lang="en-IN"/>
        </a:p>
      </dgm:t>
    </dgm:pt>
    <dgm:pt modelId="{FA202C58-6AF1-4356-958F-81B830C1E56F}" type="parTrans" cxnId="{50154381-2E7A-413E-B300-1E69629D56E8}">
      <dgm:prSet/>
      <dgm:spPr/>
      <dgm:t>
        <a:bodyPr/>
        <a:lstStyle/>
        <a:p>
          <a:endParaRPr lang="en-US"/>
        </a:p>
      </dgm:t>
    </dgm:pt>
    <dgm:pt modelId="{2EB2BC46-696A-452B-B0DE-114A50A0B073}" type="sibTrans" cxnId="{50154381-2E7A-413E-B300-1E69629D56E8}">
      <dgm:prSet/>
      <dgm:spPr/>
      <dgm:t>
        <a:bodyPr/>
        <a:lstStyle/>
        <a:p>
          <a:endParaRPr lang="en-US"/>
        </a:p>
      </dgm:t>
    </dgm:pt>
    <dgm:pt modelId="{E136D05C-3047-45C7-990D-9ECBA2DBB124}">
      <dgm:prSet phldrT="[Text]"/>
      <dgm:spPr/>
      <dgm:t>
        <a:bodyPr/>
        <a:lstStyle/>
        <a:p>
          <a:r>
            <a:rPr lang="en-US" dirty="0" smtClean="0"/>
            <a:t>Pilot project for SCADA and GIS implementation</a:t>
          </a:r>
          <a:endParaRPr lang="en-US" dirty="0"/>
        </a:p>
      </dgm:t>
    </dgm:pt>
    <dgm:pt modelId="{7ADBC3DC-AFE7-47B2-9F9D-E3A19EC3CAA6}" type="parTrans" cxnId="{299E5FA0-7C95-4B02-84E3-DD3F4C6CC784}">
      <dgm:prSet/>
      <dgm:spPr/>
      <dgm:t>
        <a:bodyPr/>
        <a:lstStyle/>
        <a:p>
          <a:endParaRPr lang="en-US"/>
        </a:p>
      </dgm:t>
    </dgm:pt>
    <dgm:pt modelId="{911D82F4-E74B-4D14-92DF-FE2F584D3C85}" type="sibTrans" cxnId="{299E5FA0-7C95-4B02-84E3-DD3F4C6CC784}">
      <dgm:prSet/>
      <dgm:spPr/>
      <dgm:t>
        <a:bodyPr/>
        <a:lstStyle/>
        <a:p>
          <a:endParaRPr lang="en-US"/>
        </a:p>
      </dgm:t>
    </dgm:pt>
    <dgm:pt modelId="{2D4163F6-6E85-470C-ACFE-8DCD9D1DE3AA}">
      <dgm:prSet phldrT="[Text]"/>
      <dgm:spPr/>
      <dgm:t>
        <a:bodyPr/>
        <a:lstStyle/>
        <a:p>
          <a:r>
            <a:rPr lang="en-US" dirty="0" smtClean="0"/>
            <a:t>Full-scale roll-out of SCADA and GIS</a:t>
          </a:r>
          <a:endParaRPr lang="en-US" dirty="0"/>
        </a:p>
      </dgm:t>
    </dgm:pt>
    <dgm:pt modelId="{2915217A-811B-429A-AFB8-4FBB27A6C0B9}" type="parTrans" cxnId="{9F1D023B-689F-4E4D-A597-684A5BAC255B}">
      <dgm:prSet/>
      <dgm:spPr/>
      <dgm:t>
        <a:bodyPr/>
        <a:lstStyle/>
        <a:p>
          <a:endParaRPr lang="en-US"/>
        </a:p>
      </dgm:t>
    </dgm:pt>
    <dgm:pt modelId="{E7380957-ABD2-49C5-9CF3-5904EC964969}" type="sibTrans" cxnId="{9F1D023B-689F-4E4D-A597-684A5BAC255B}">
      <dgm:prSet/>
      <dgm:spPr/>
      <dgm:t>
        <a:bodyPr/>
        <a:lstStyle/>
        <a:p>
          <a:endParaRPr lang="en-US"/>
        </a:p>
      </dgm:t>
    </dgm:pt>
    <dgm:pt modelId="{D37A3F07-ACD5-4827-8F6A-249270EFA904}">
      <dgm:prSet phldrT="[Text]"/>
      <dgm:spPr/>
      <dgm:t>
        <a:bodyPr/>
        <a:lstStyle/>
        <a:p>
          <a:r>
            <a:rPr lang="en-US" dirty="0" smtClean="0"/>
            <a:t>Implementation of Demand Side Management measures including:</a:t>
          </a:r>
          <a:endParaRPr lang="en-US" dirty="0"/>
        </a:p>
      </dgm:t>
    </dgm:pt>
    <dgm:pt modelId="{AE6A07DA-F6C3-4E70-B599-95848FC24031}" type="parTrans" cxnId="{80E01234-176F-4961-A97C-228E4B206958}">
      <dgm:prSet/>
      <dgm:spPr/>
      <dgm:t>
        <a:bodyPr/>
        <a:lstStyle/>
        <a:p>
          <a:endParaRPr lang="en-US"/>
        </a:p>
      </dgm:t>
    </dgm:pt>
    <dgm:pt modelId="{0E141550-1184-4C64-9302-F138440CD68C}" type="sibTrans" cxnId="{80E01234-176F-4961-A97C-228E4B206958}">
      <dgm:prSet/>
      <dgm:spPr/>
      <dgm:t>
        <a:bodyPr/>
        <a:lstStyle/>
        <a:p>
          <a:endParaRPr lang="en-US"/>
        </a:p>
      </dgm:t>
    </dgm:pt>
    <dgm:pt modelId="{8EE53399-8D8D-4252-80E3-12D89D91EE24}">
      <dgm:prSet phldrT="[Text]"/>
      <dgm:spPr/>
      <dgm:t>
        <a:bodyPr/>
        <a:lstStyle/>
        <a:p>
          <a:r>
            <a:rPr lang="en-US" dirty="0" smtClean="0"/>
            <a:t>Utility-level energy audit</a:t>
          </a:r>
          <a:endParaRPr lang="en-US" dirty="0"/>
        </a:p>
      </dgm:t>
    </dgm:pt>
    <dgm:pt modelId="{4296F808-DA56-42EC-9555-150D3C30E7CB}" type="parTrans" cxnId="{2491D706-E624-40A7-9CCD-38EB10A58AB5}">
      <dgm:prSet/>
      <dgm:spPr/>
      <dgm:t>
        <a:bodyPr/>
        <a:lstStyle/>
        <a:p>
          <a:endParaRPr lang="en-US"/>
        </a:p>
      </dgm:t>
    </dgm:pt>
    <dgm:pt modelId="{B6737234-D1D9-4933-A1EE-9B82C9B90B8B}" type="sibTrans" cxnId="{2491D706-E624-40A7-9CCD-38EB10A58AB5}">
      <dgm:prSet/>
      <dgm:spPr/>
      <dgm:t>
        <a:bodyPr/>
        <a:lstStyle/>
        <a:p>
          <a:endParaRPr lang="en-US"/>
        </a:p>
      </dgm:t>
    </dgm:pt>
    <dgm:pt modelId="{322F1B24-24E3-4DB5-965A-DF63A2B6CF8B}">
      <dgm:prSet phldrT="[Text]"/>
      <dgm:spPr/>
      <dgm:t>
        <a:bodyPr/>
        <a:lstStyle/>
        <a:p>
          <a:r>
            <a:rPr lang="en-US" b="0" dirty="0" smtClean="0"/>
            <a:t>Sub-transmission level energy audit and Division/sub-division level energy measurement</a:t>
          </a:r>
          <a:endParaRPr lang="en-US" b="0" dirty="0"/>
        </a:p>
      </dgm:t>
    </dgm:pt>
    <dgm:pt modelId="{3CFFFEC4-0BD5-4265-8E93-518E99E980FE}" type="parTrans" cxnId="{57BF5734-EBA9-4B6A-A164-5091FDA0EB6A}">
      <dgm:prSet/>
      <dgm:spPr/>
      <dgm:t>
        <a:bodyPr/>
        <a:lstStyle/>
        <a:p>
          <a:endParaRPr lang="en-US"/>
        </a:p>
      </dgm:t>
    </dgm:pt>
    <dgm:pt modelId="{EA27803A-6AFE-4356-B5C9-7860076A9D90}" type="sibTrans" cxnId="{57BF5734-EBA9-4B6A-A164-5091FDA0EB6A}">
      <dgm:prSet/>
      <dgm:spPr/>
      <dgm:t>
        <a:bodyPr/>
        <a:lstStyle/>
        <a:p>
          <a:endParaRPr lang="en-US"/>
        </a:p>
      </dgm:t>
    </dgm:pt>
    <dgm:pt modelId="{606AFEC6-9D95-4CC4-AFA1-F962280EDBAA}">
      <dgm:prSet phldrT="[Text]"/>
      <dgm:spPr/>
      <dgm:t>
        <a:bodyPr/>
        <a:lstStyle/>
        <a:p>
          <a:r>
            <a:rPr lang="en-US" b="0" dirty="0" smtClean="0"/>
            <a:t>Feeder-level energy audit</a:t>
          </a:r>
          <a:endParaRPr lang="en-US" b="0" dirty="0"/>
        </a:p>
      </dgm:t>
    </dgm:pt>
    <dgm:pt modelId="{58854BD6-8BE6-46DD-8595-0E3EF91DFD11}" type="parTrans" cxnId="{3B07F1C5-19F2-4F48-AAE7-7DD476957DA5}">
      <dgm:prSet/>
      <dgm:spPr/>
      <dgm:t>
        <a:bodyPr/>
        <a:lstStyle/>
        <a:p>
          <a:endParaRPr lang="en-US"/>
        </a:p>
      </dgm:t>
    </dgm:pt>
    <dgm:pt modelId="{E4C8340E-8C00-4A1E-B67E-E319347586A3}" type="sibTrans" cxnId="{3B07F1C5-19F2-4F48-AAE7-7DD476957DA5}">
      <dgm:prSet/>
      <dgm:spPr/>
      <dgm:t>
        <a:bodyPr/>
        <a:lstStyle/>
        <a:p>
          <a:endParaRPr lang="en-US"/>
        </a:p>
      </dgm:t>
    </dgm:pt>
    <dgm:pt modelId="{AF952411-B811-4722-A4C5-CC4A4D8170AF}">
      <dgm:prSet phldrT="[Text]"/>
      <dgm:spPr/>
      <dgm:t>
        <a:bodyPr/>
        <a:lstStyle/>
        <a:p>
          <a:r>
            <a:rPr lang="en-US" b="0" dirty="0" smtClean="0"/>
            <a:t>Distribution Transformer-level energy audit</a:t>
          </a:r>
          <a:endParaRPr lang="en-US" b="0" dirty="0"/>
        </a:p>
      </dgm:t>
    </dgm:pt>
    <dgm:pt modelId="{0EE3039C-9861-4DB0-AB65-B634FD8D1F6C}" type="parTrans" cxnId="{4EE94776-FA2C-4872-A0C5-ABC6E58C03DC}">
      <dgm:prSet/>
      <dgm:spPr/>
      <dgm:t>
        <a:bodyPr/>
        <a:lstStyle/>
        <a:p>
          <a:endParaRPr lang="en-US"/>
        </a:p>
      </dgm:t>
    </dgm:pt>
    <dgm:pt modelId="{6307992A-7EDF-47FC-8126-BB07F62B49FA}" type="sibTrans" cxnId="{4EE94776-FA2C-4872-A0C5-ABC6E58C03DC}">
      <dgm:prSet/>
      <dgm:spPr/>
      <dgm:t>
        <a:bodyPr/>
        <a:lstStyle/>
        <a:p>
          <a:endParaRPr lang="en-US"/>
        </a:p>
      </dgm:t>
    </dgm:pt>
    <dgm:pt modelId="{B0509DC3-6B54-445E-B0CA-EDACCA3BAA2C}">
      <dgm:prSet phldrT="[Text]"/>
      <dgm:spPr/>
      <dgm:t>
        <a:bodyPr/>
        <a:lstStyle/>
        <a:p>
          <a:r>
            <a:rPr lang="en-US" dirty="0" smtClean="0"/>
            <a:t>Energy reduction programs</a:t>
          </a:r>
          <a:endParaRPr lang="en-US" dirty="0"/>
        </a:p>
      </dgm:t>
    </dgm:pt>
    <dgm:pt modelId="{EFCDE5CB-7BEE-4949-ADAA-197B2FA1E781}" type="parTrans" cxnId="{86F96062-A4EA-48B2-BCFF-0DF75295FCD8}">
      <dgm:prSet/>
      <dgm:spPr/>
      <dgm:t>
        <a:bodyPr/>
        <a:lstStyle/>
        <a:p>
          <a:endParaRPr lang="en-US"/>
        </a:p>
      </dgm:t>
    </dgm:pt>
    <dgm:pt modelId="{3F06C31C-40CF-4E38-950D-EDC0C70F23A5}" type="sibTrans" cxnId="{86F96062-A4EA-48B2-BCFF-0DF75295FCD8}">
      <dgm:prSet/>
      <dgm:spPr/>
      <dgm:t>
        <a:bodyPr/>
        <a:lstStyle/>
        <a:p>
          <a:endParaRPr lang="en-US"/>
        </a:p>
      </dgm:t>
    </dgm:pt>
    <dgm:pt modelId="{1E3E8ABC-C0C3-4422-8224-EEDEC54127EA}">
      <dgm:prSet phldrT="[Text]"/>
      <dgm:spPr/>
      <dgm:t>
        <a:bodyPr/>
        <a:lstStyle/>
        <a:p>
          <a:r>
            <a:rPr lang="en-US" dirty="0" smtClean="0"/>
            <a:t>Load management programs</a:t>
          </a:r>
          <a:endParaRPr lang="en-US" dirty="0"/>
        </a:p>
      </dgm:t>
    </dgm:pt>
    <dgm:pt modelId="{EA63E70E-62CE-4B52-B21D-DF0A1DACC4ED}" type="parTrans" cxnId="{C2E0708C-B52A-4C47-8B38-5D4B63261090}">
      <dgm:prSet/>
      <dgm:spPr/>
      <dgm:t>
        <a:bodyPr/>
        <a:lstStyle/>
        <a:p>
          <a:endParaRPr lang="en-US"/>
        </a:p>
      </dgm:t>
    </dgm:pt>
    <dgm:pt modelId="{9C851384-5828-4E84-8F01-B2938D88A713}" type="sibTrans" cxnId="{C2E0708C-B52A-4C47-8B38-5D4B63261090}">
      <dgm:prSet/>
      <dgm:spPr/>
      <dgm:t>
        <a:bodyPr/>
        <a:lstStyle/>
        <a:p>
          <a:endParaRPr lang="en-US"/>
        </a:p>
      </dgm:t>
    </dgm:pt>
    <dgm:pt modelId="{C6787D2F-176F-405F-8839-30E0C5D55793}">
      <dgm:prSet phldrT="[Text]"/>
      <dgm:spPr/>
      <dgm:t>
        <a:bodyPr/>
        <a:lstStyle/>
        <a:p>
          <a:r>
            <a:rPr lang="en-US" dirty="0" smtClean="0"/>
            <a:t>Load growth and conservation programs</a:t>
          </a:r>
          <a:endParaRPr lang="en-US" dirty="0"/>
        </a:p>
      </dgm:t>
    </dgm:pt>
    <dgm:pt modelId="{9B01C693-CD93-45FB-B500-7F21EA41569C}" type="parTrans" cxnId="{0518BF74-7E38-4FE8-99FB-62C2BE1929C9}">
      <dgm:prSet/>
      <dgm:spPr/>
      <dgm:t>
        <a:bodyPr/>
        <a:lstStyle/>
        <a:p>
          <a:endParaRPr lang="en-US"/>
        </a:p>
      </dgm:t>
    </dgm:pt>
    <dgm:pt modelId="{E3CB2FC1-929E-40C4-894E-A861BAB9C368}" type="sibTrans" cxnId="{0518BF74-7E38-4FE8-99FB-62C2BE1929C9}">
      <dgm:prSet/>
      <dgm:spPr/>
      <dgm:t>
        <a:bodyPr/>
        <a:lstStyle/>
        <a:p>
          <a:endParaRPr lang="en-US"/>
        </a:p>
      </dgm:t>
    </dgm:pt>
    <dgm:pt modelId="{113299F6-3615-425B-AE93-DF4355177F03}">
      <dgm:prSet phldrT="[Text]"/>
      <dgm:spPr/>
      <dgm:t>
        <a:bodyPr/>
        <a:lstStyle/>
        <a:p>
          <a:r>
            <a:rPr lang="en-US" dirty="0" smtClean="0"/>
            <a:t>Implementation of Customer Relationship Management initiatives including:</a:t>
          </a:r>
          <a:endParaRPr lang="en-US" dirty="0"/>
        </a:p>
      </dgm:t>
    </dgm:pt>
    <dgm:pt modelId="{A471435F-A3C9-4AAB-86AF-68AE72ED9CCE}" type="parTrans" cxnId="{5B211AA5-82E9-4F35-BE2F-8687CCCE444C}">
      <dgm:prSet/>
      <dgm:spPr/>
      <dgm:t>
        <a:bodyPr/>
        <a:lstStyle/>
        <a:p>
          <a:endParaRPr lang="en-US"/>
        </a:p>
      </dgm:t>
    </dgm:pt>
    <dgm:pt modelId="{CEB504EF-6484-41AF-BA2E-98082D4DBDDD}" type="sibTrans" cxnId="{5B211AA5-82E9-4F35-BE2F-8687CCCE444C}">
      <dgm:prSet/>
      <dgm:spPr/>
      <dgm:t>
        <a:bodyPr/>
        <a:lstStyle/>
        <a:p>
          <a:endParaRPr lang="en-US"/>
        </a:p>
      </dgm:t>
    </dgm:pt>
    <dgm:pt modelId="{0CE5EF7C-CA89-420D-A3A0-8E514ED34A18}">
      <dgm:prSet phldrT="[Text]"/>
      <dgm:spPr/>
      <dgm:t>
        <a:bodyPr/>
        <a:lstStyle/>
        <a:p>
          <a:r>
            <a:rPr lang="en-US" dirty="0" smtClean="0"/>
            <a:t>Quality and reliability of supply</a:t>
          </a:r>
          <a:endParaRPr lang="en-US" dirty="0"/>
        </a:p>
      </dgm:t>
    </dgm:pt>
    <dgm:pt modelId="{5AFC0104-8238-49D2-8DD5-A957636AA9CA}" type="parTrans" cxnId="{EA15A472-ECDF-4123-BF36-214BA491EA8F}">
      <dgm:prSet/>
      <dgm:spPr/>
      <dgm:t>
        <a:bodyPr/>
        <a:lstStyle/>
        <a:p>
          <a:endParaRPr lang="en-US"/>
        </a:p>
      </dgm:t>
    </dgm:pt>
    <dgm:pt modelId="{D3D21A5E-2AD1-4B28-9D03-5463A22F134F}" type="sibTrans" cxnId="{EA15A472-ECDF-4123-BF36-214BA491EA8F}">
      <dgm:prSet/>
      <dgm:spPr/>
      <dgm:t>
        <a:bodyPr/>
        <a:lstStyle/>
        <a:p>
          <a:endParaRPr lang="en-US"/>
        </a:p>
      </dgm:t>
    </dgm:pt>
    <dgm:pt modelId="{8F85FA50-6CDE-4D24-995F-1B736566B04A}">
      <dgm:prSet phldrT="[Text]"/>
      <dgm:spPr/>
      <dgm:t>
        <a:bodyPr/>
        <a:lstStyle/>
        <a:p>
          <a:r>
            <a:rPr lang="en-US" dirty="0" smtClean="0"/>
            <a:t>Accuracy of bills</a:t>
          </a:r>
          <a:endParaRPr lang="en-US" dirty="0"/>
        </a:p>
      </dgm:t>
    </dgm:pt>
    <dgm:pt modelId="{3040A2C4-DC70-4ABD-BBC5-2969C475FE64}" type="parTrans" cxnId="{0F1BC131-A3AC-4945-A288-99FEDC0F5C88}">
      <dgm:prSet/>
      <dgm:spPr/>
      <dgm:t>
        <a:bodyPr/>
        <a:lstStyle/>
        <a:p>
          <a:endParaRPr lang="en-US"/>
        </a:p>
      </dgm:t>
    </dgm:pt>
    <dgm:pt modelId="{5FFBB1EE-94B0-466C-905B-EF154E6CE15E}" type="sibTrans" cxnId="{0F1BC131-A3AC-4945-A288-99FEDC0F5C88}">
      <dgm:prSet/>
      <dgm:spPr/>
      <dgm:t>
        <a:bodyPr/>
        <a:lstStyle/>
        <a:p>
          <a:endParaRPr lang="en-US"/>
        </a:p>
      </dgm:t>
    </dgm:pt>
    <dgm:pt modelId="{F6648B47-7135-4B43-9F1A-E6D5298D1FDE}">
      <dgm:prSet phldrT="[Text]"/>
      <dgm:spPr/>
      <dgm:t>
        <a:bodyPr/>
        <a:lstStyle/>
        <a:p>
          <a:r>
            <a:rPr lang="en-US" dirty="0" smtClean="0"/>
            <a:t>Ease of payment</a:t>
          </a:r>
          <a:endParaRPr lang="en-US" dirty="0"/>
        </a:p>
      </dgm:t>
    </dgm:pt>
    <dgm:pt modelId="{FD831357-B84E-4FA0-B458-19F9361BEDAF}" type="parTrans" cxnId="{88DA97F9-6F47-4769-9BBB-0A5E69D9E061}">
      <dgm:prSet/>
      <dgm:spPr/>
      <dgm:t>
        <a:bodyPr/>
        <a:lstStyle/>
        <a:p>
          <a:endParaRPr lang="en-US"/>
        </a:p>
      </dgm:t>
    </dgm:pt>
    <dgm:pt modelId="{E9E3FA59-C7CA-4A5F-9AB1-B25B48323097}" type="sibTrans" cxnId="{88DA97F9-6F47-4769-9BBB-0A5E69D9E061}">
      <dgm:prSet/>
      <dgm:spPr/>
      <dgm:t>
        <a:bodyPr/>
        <a:lstStyle/>
        <a:p>
          <a:endParaRPr lang="en-US"/>
        </a:p>
      </dgm:t>
    </dgm:pt>
    <dgm:pt modelId="{58A442EC-BCEB-43C6-A9EB-F8D97FDB368A}">
      <dgm:prSet phldrT="[Text]"/>
      <dgm:spPr/>
      <dgm:t>
        <a:bodyPr/>
        <a:lstStyle/>
        <a:p>
          <a:r>
            <a:rPr lang="en-US" dirty="0" smtClean="0"/>
            <a:t>Complaint handling</a:t>
          </a:r>
          <a:endParaRPr lang="en-US" dirty="0"/>
        </a:p>
      </dgm:t>
    </dgm:pt>
    <dgm:pt modelId="{40214E67-1ADC-4A8C-B9A2-58A146C5DEAA}" type="parTrans" cxnId="{65863C86-D0F3-4C94-9960-597F009458A4}">
      <dgm:prSet/>
      <dgm:spPr/>
      <dgm:t>
        <a:bodyPr/>
        <a:lstStyle/>
        <a:p>
          <a:endParaRPr lang="en-US"/>
        </a:p>
      </dgm:t>
    </dgm:pt>
    <dgm:pt modelId="{BFFB294B-C455-4F40-BB48-10693D0E5EC2}" type="sibTrans" cxnId="{65863C86-D0F3-4C94-9960-597F009458A4}">
      <dgm:prSet/>
      <dgm:spPr/>
      <dgm:t>
        <a:bodyPr/>
        <a:lstStyle/>
        <a:p>
          <a:endParaRPr lang="en-US"/>
        </a:p>
      </dgm:t>
    </dgm:pt>
    <dgm:pt modelId="{81E59007-8D77-4488-A9B1-D0FA2BC120DA}">
      <dgm:prSet phldrT="[Text]"/>
      <dgm:spPr/>
      <dgm:t>
        <a:bodyPr/>
        <a:lstStyle/>
        <a:p>
          <a:r>
            <a:rPr lang="en-US" dirty="0" smtClean="0"/>
            <a:t>Implementation of pilot projects for smart grid</a:t>
          </a:r>
          <a:endParaRPr lang="en-US" dirty="0"/>
        </a:p>
      </dgm:t>
    </dgm:pt>
    <dgm:pt modelId="{16F0B363-333F-4084-A20F-8621EF114884}" type="parTrans" cxnId="{D2779311-CC44-4B71-A22D-3653A3997861}">
      <dgm:prSet/>
      <dgm:spPr/>
      <dgm:t>
        <a:bodyPr/>
        <a:lstStyle/>
        <a:p>
          <a:endParaRPr lang="en-US"/>
        </a:p>
      </dgm:t>
    </dgm:pt>
    <dgm:pt modelId="{34E3AB8C-AA26-4CC9-84CD-3712E68CEA12}" type="sibTrans" cxnId="{D2779311-CC44-4B71-A22D-3653A3997861}">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5">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5"/>
      <dgm:spPr/>
      <dgm:t>
        <a:bodyPr/>
        <a:lstStyle/>
        <a:p>
          <a:endParaRPr lang="en-US"/>
        </a:p>
      </dgm:t>
    </dgm:pt>
    <dgm:pt modelId="{7E8F3D55-80E5-4F13-9459-E39284D0328D}" type="pres">
      <dgm:prSet presAssocID="{03454651-1876-463C-891F-DBFB67BE2D7D}" presName="desTx" presStyleLbl="fgAcc1" presStyleIdx="0" presStyleCnt="5">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4"/>
      <dgm:spPr/>
      <dgm:t>
        <a:bodyPr/>
        <a:lstStyle/>
        <a:p>
          <a:endParaRPr lang="en-US"/>
        </a:p>
      </dgm:t>
    </dgm:pt>
    <dgm:pt modelId="{4B650DD2-5F02-4AE9-9DDB-38B6153A658F}" type="pres">
      <dgm:prSet presAssocID="{32EC2ED1-5A41-47F2-A0A5-89A6987013DA}" presName="connTx" presStyleLbl="sibTrans2D1" presStyleIdx="0" presStyleCnt="4"/>
      <dgm:spPr/>
      <dgm:t>
        <a:bodyPr/>
        <a:lstStyle/>
        <a:p>
          <a:endParaRPr lang="en-US"/>
        </a:p>
      </dgm:t>
    </dgm:pt>
    <dgm:pt modelId="{E5D422DD-3565-4886-BD6F-B54C46D7F5BD}" type="pres">
      <dgm:prSet presAssocID="{5074504D-B054-44B7-AF1D-0C421DB29C8C}" presName="composite" presStyleCnt="0"/>
      <dgm:spPr/>
    </dgm:pt>
    <dgm:pt modelId="{BF9E2F76-6B5D-43DB-A7F2-4A21C009BF40}" type="pres">
      <dgm:prSet presAssocID="{5074504D-B054-44B7-AF1D-0C421DB29C8C}" presName="parTx" presStyleLbl="node1" presStyleIdx="0" presStyleCnt="5">
        <dgm:presLayoutVars>
          <dgm:chMax val="0"/>
          <dgm:chPref val="0"/>
          <dgm:bulletEnabled val="1"/>
        </dgm:presLayoutVars>
      </dgm:prSet>
      <dgm:spPr/>
      <dgm:t>
        <a:bodyPr/>
        <a:lstStyle/>
        <a:p>
          <a:endParaRPr lang="en-US"/>
        </a:p>
      </dgm:t>
    </dgm:pt>
    <dgm:pt modelId="{C399DA07-F433-446A-A511-7651E2D31800}" type="pres">
      <dgm:prSet presAssocID="{5074504D-B054-44B7-AF1D-0C421DB29C8C}" presName="parSh" presStyleLbl="node1" presStyleIdx="1" presStyleCnt="5"/>
      <dgm:spPr/>
      <dgm:t>
        <a:bodyPr/>
        <a:lstStyle/>
        <a:p>
          <a:endParaRPr lang="en-US"/>
        </a:p>
      </dgm:t>
    </dgm:pt>
    <dgm:pt modelId="{DCC3FCEA-0BC8-4D98-BFDA-E2DB9800EC74}" type="pres">
      <dgm:prSet presAssocID="{5074504D-B054-44B7-AF1D-0C421DB29C8C}" presName="desTx" presStyleLbl="fgAcc1" presStyleIdx="1" presStyleCnt="5">
        <dgm:presLayoutVars>
          <dgm:bulletEnabled val="1"/>
        </dgm:presLayoutVars>
      </dgm:prSet>
      <dgm:spPr/>
      <dgm:t>
        <a:bodyPr/>
        <a:lstStyle/>
        <a:p>
          <a:endParaRPr lang="en-US"/>
        </a:p>
      </dgm:t>
    </dgm:pt>
    <dgm:pt modelId="{63F08940-AC90-4DF0-A1DA-5F6759C06E77}" type="pres">
      <dgm:prSet presAssocID="{836E2BBF-AE6F-44B9-AD26-342382726746}" presName="sibTrans" presStyleLbl="sibTrans2D1" presStyleIdx="1" presStyleCnt="4"/>
      <dgm:spPr/>
      <dgm:t>
        <a:bodyPr/>
        <a:lstStyle/>
        <a:p>
          <a:endParaRPr lang="en-US"/>
        </a:p>
      </dgm:t>
    </dgm:pt>
    <dgm:pt modelId="{DE71027A-1108-4DB8-8E4D-B5CBC710D5C6}" type="pres">
      <dgm:prSet presAssocID="{836E2BBF-AE6F-44B9-AD26-342382726746}" presName="connTx" presStyleLbl="sibTrans2D1" presStyleIdx="1" presStyleCnt="4"/>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5">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5"/>
      <dgm:spPr/>
      <dgm:t>
        <a:bodyPr/>
        <a:lstStyle/>
        <a:p>
          <a:endParaRPr lang="en-US"/>
        </a:p>
      </dgm:t>
    </dgm:pt>
    <dgm:pt modelId="{78DF5B2A-5010-4ED2-94FF-7B0692DAFAB8}" type="pres">
      <dgm:prSet presAssocID="{960596DD-7C7A-47B8-98AF-52DD4BEF9344}" presName="desTx" presStyleLbl="fgAcc1" presStyleIdx="2" presStyleCnt="5">
        <dgm:presLayoutVars>
          <dgm:bulletEnabled val="1"/>
        </dgm:presLayoutVars>
      </dgm:prSet>
      <dgm:spPr/>
      <dgm:t>
        <a:bodyPr/>
        <a:lstStyle/>
        <a:p>
          <a:endParaRPr lang="en-US"/>
        </a:p>
      </dgm:t>
    </dgm:pt>
    <dgm:pt modelId="{B473E9EE-9A81-4777-9826-D433A1C495C1}" type="pres">
      <dgm:prSet presAssocID="{3449E61D-4836-4734-B25E-4CB3DD612893}" presName="sibTrans" presStyleLbl="sibTrans2D1" presStyleIdx="2" presStyleCnt="4"/>
      <dgm:spPr/>
      <dgm:t>
        <a:bodyPr/>
        <a:lstStyle/>
        <a:p>
          <a:endParaRPr lang="en-US"/>
        </a:p>
      </dgm:t>
    </dgm:pt>
    <dgm:pt modelId="{2DA0B795-6D7F-48AC-8FA5-A2C581757EFC}" type="pres">
      <dgm:prSet presAssocID="{3449E61D-4836-4734-B25E-4CB3DD612893}" presName="connTx" presStyleLbl="sibTrans2D1" presStyleIdx="2" presStyleCnt="4"/>
      <dgm:spPr/>
      <dgm:t>
        <a:bodyPr/>
        <a:lstStyle/>
        <a:p>
          <a:endParaRPr lang="en-US"/>
        </a:p>
      </dgm:t>
    </dgm:pt>
    <dgm:pt modelId="{1C6F04B5-1667-44E4-BC01-213559772173}" type="pres">
      <dgm:prSet presAssocID="{5BB9F1C2-C668-425E-B57B-F49B96358E2C}" presName="composite" presStyleCnt="0"/>
      <dgm:spPr/>
    </dgm:pt>
    <dgm:pt modelId="{2EEF02EA-3A65-4F53-9CFE-E34194656B01}" type="pres">
      <dgm:prSet presAssocID="{5BB9F1C2-C668-425E-B57B-F49B96358E2C}" presName="parTx" presStyleLbl="node1" presStyleIdx="2" presStyleCnt="5">
        <dgm:presLayoutVars>
          <dgm:chMax val="0"/>
          <dgm:chPref val="0"/>
          <dgm:bulletEnabled val="1"/>
        </dgm:presLayoutVars>
      </dgm:prSet>
      <dgm:spPr/>
      <dgm:t>
        <a:bodyPr/>
        <a:lstStyle/>
        <a:p>
          <a:endParaRPr lang="en-US"/>
        </a:p>
      </dgm:t>
    </dgm:pt>
    <dgm:pt modelId="{92E9ABB4-E4E7-477A-8E68-5C77B3705F61}" type="pres">
      <dgm:prSet presAssocID="{5BB9F1C2-C668-425E-B57B-F49B96358E2C}" presName="parSh" presStyleLbl="node1" presStyleIdx="3" presStyleCnt="5"/>
      <dgm:spPr/>
      <dgm:t>
        <a:bodyPr/>
        <a:lstStyle/>
        <a:p>
          <a:endParaRPr lang="en-US"/>
        </a:p>
      </dgm:t>
    </dgm:pt>
    <dgm:pt modelId="{FEB118B1-D921-414F-AFF5-6B5336957C50}" type="pres">
      <dgm:prSet presAssocID="{5BB9F1C2-C668-425E-B57B-F49B96358E2C}" presName="desTx" presStyleLbl="fgAcc1" presStyleIdx="3" presStyleCnt="5">
        <dgm:presLayoutVars>
          <dgm:bulletEnabled val="1"/>
        </dgm:presLayoutVars>
      </dgm:prSet>
      <dgm:spPr/>
      <dgm:t>
        <a:bodyPr/>
        <a:lstStyle/>
        <a:p>
          <a:endParaRPr lang="en-US"/>
        </a:p>
      </dgm:t>
    </dgm:pt>
    <dgm:pt modelId="{82ECB512-BE23-412A-9204-E3C974779791}" type="pres">
      <dgm:prSet presAssocID="{485473B0-EC53-4977-B6C3-C005BAB876D7}" presName="sibTrans" presStyleLbl="sibTrans2D1" presStyleIdx="3" presStyleCnt="4"/>
      <dgm:spPr/>
      <dgm:t>
        <a:bodyPr/>
        <a:lstStyle/>
        <a:p>
          <a:endParaRPr lang="en-IN"/>
        </a:p>
      </dgm:t>
    </dgm:pt>
    <dgm:pt modelId="{CA85E95B-3D75-4981-82CC-FEE0F628D1A2}" type="pres">
      <dgm:prSet presAssocID="{485473B0-EC53-4977-B6C3-C005BAB876D7}" presName="connTx" presStyleLbl="sibTrans2D1" presStyleIdx="3" presStyleCnt="4"/>
      <dgm:spPr/>
      <dgm:t>
        <a:bodyPr/>
        <a:lstStyle/>
        <a:p>
          <a:endParaRPr lang="en-IN"/>
        </a:p>
      </dgm:t>
    </dgm:pt>
    <dgm:pt modelId="{068290A5-1CBA-4890-B251-C16C42769694}" type="pres">
      <dgm:prSet presAssocID="{3FFDA604-F8D1-45DF-A947-03F29E7D786D}" presName="composite" presStyleCnt="0"/>
      <dgm:spPr/>
    </dgm:pt>
    <dgm:pt modelId="{88802074-9EFC-417A-B557-437449D254FD}" type="pres">
      <dgm:prSet presAssocID="{3FFDA604-F8D1-45DF-A947-03F29E7D786D}" presName="parTx" presStyleLbl="node1" presStyleIdx="3" presStyleCnt="5">
        <dgm:presLayoutVars>
          <dgm:chMax val="0"/>
          <dgm:chPref val="0"/>
          <dgm:bulletEnabled val="1"/>
        </dgm:presLayoutVars>
      </dgm:prSet>
      <dgm:spPr/>
      <dgm:t>
        <a:bodyPr/>
        <a:lstStyle/>
        <a:p>
          <a:endParaRPr lang="en-US"/>
        </a:p>
      </dgm:t>
    </dgm:pt>
    <dgm:pt modelId="{E1652840-44B8-4C47-B63E-DF9C4DFFB131}" type="pres">
      <dgm:prSet presAssocID="{3FFDA604-F8D1-45DF-A947-03F29E7D786D}" presName="parSh" presStyleLbl="node1" presStyleIdx="4" presStyleCnt="5"/>
      <dgm:spPr/>
      <dgm:t>
        <a:bodyPr/>
        <a:lstStyle/>
        <a:p>
          <a:endParaRPr lang="en-US"/>
        </a:p>
      </dgm:t>
    </dgm:pt>
    <dgm:pt modelId="{62E2F7D5-715E-4F2E-BF4E-37FD07D1A04A}" type="pres">
      <dgm:prSet presAssocID="{3FFDA604-F8D1-45DF-A947-03F29E7D786D}" presName="desTx" presStyleLbl="fgAcc1" presStyleIdx="4" presStyleCnt="5">
        <dgm:presLayoutVars>
          <dgm:bulletEnabled val="1"/>
        </dgm:presLayoutVars>
      </dgm:prSet>
      <dgm:spPr/>
      <dgm:t>
        <a:bodyPr/>
        <a:lstStyle/>
        <a:p>
          <a:endParaRPr lang="en-US"/>
        </a:p>
      </dgm:t>
    </dgm:pt>
  </dgm:ptLst>
  <dgm:cxnLst>
    <dgm:cxn modelId="{EA924144-0B52-4CA2-9E03-38CED72C99E7}" type="presOf" srcId="{E78B23F4-3E95-42D7-BA5D-404422670735}" destId="{62E2F7D5-715E-4F2E-BF4E-37FD07D1A04A}" srcOrd="0" destOrd="0" presId="urn:microsoft.com/office/officeart/2005/8/layout/process3"/>
    <dgm:cxn modelId="{BA1DB479-C825-4638-B98A-8AE745C9C590}" type="presOf" srcId="{5074504D-B054-44B7-AF1D-0C421DB29C8C}" destId="{BF9E2F76-6B5D-43DB-A7F2-4A21C009BF40}" srcOrd="0" destOrd="0" presId="urn:microsoft.com/office/officeart/2005/8/layout/process3"/>
    <dgm:cxn modelId="{3B07F1C5-19F2-4F48-AAE7-7DD476957DA5}" srcId="{0AC29B83-F720-4D64-8417-875D872F0E1B}" destId="{606AFEC6-9D95-4CC4-AFA1-F962280EDBAA}" srcOrd="2" destOrd="0" parTransId="{58854BD6-8BE6-46DD-8595-0E3EF91DFD11}" sibTransId="{E4C8340E-8C00-4A1E-B67E-E319347586A3}"/>
    <dgm:cxn modelId="{67DDA76F-5E86-4402-8077-DB224AD4174E}" srcId="{3A2D8FAD-1489-46F7-A245-CA50D2CF5834}" destId="{B2A0A6F9-F344-457B-9B88-9EAF9054E8F5}" srcOrd="1" destOrd="0" parTransId="{AF157C90-E9F7-4793-8C33-8BB19564BEDE}" sibTransId="{CFD36AF6-15BA-4C13-B9F2-0DE750AFA9E0}"/>
    <dgm:cxn modelId="{796A213E-CDD3-442A-80BC-4DA9DDD3B70B}" type="presOf" srcId="{1E3E8ABC-C0C3-4422-8224-EEDEC54127EA}" destId="{78DF5B2A-5010-4ED2-94FF-7B0692DAFAB8}" srcOrd="0" destOrd="7" presId="urn:microsoft.com/office/officeart/2005/8/layout/process3"/>
    <dgm:cxn modelId="{EC9C7540-4E78-4E87-B52D-C808893D456F}" type="presOf" srcId="{77DE481D-EBC8-4045-806F-6A9D638A3EF6}" destId="{7E8F3D55-80E5-4F13-9459-E39284D0328D}" srcOrd="0" destOrd="4" presId="urn:microsoft.com/office/officeart/2005/8/layout/process3"/>
    <dgm:cxn modelId="{9BD3E125-353B-49E5-A7DF-31A005DB22EF}" type="presOf" srcId="{41FB0194-5CA5-4B03-9138-042F307E67EB}" destId="{DCC3FCEA-0BC8-4D98-BFDA-E2DB9800EC74}" srcOrd="0" destOrd="0" presId="urn:microsoft.com/office/officeart/2005/8/layout/process3"/>
    <dgm:cxn modelId="{02987F90-6C26-4109-B518-4F8CE51B174A}" type="presOf" srcId="{D37A3F07-ACD5-4827-8F6A-249270EFA904}" destId="{78DF5B2A-5010-4ED2-94FF-7B0692DAFAB8}" srcOrd="0" destOrd="5" presId="urn:microsoft.com/office/officeart/2005/8/layout/process3"/>
    <dgm:cxn modelId="{86F96062-A4EA-48B2-BCFF-0DF75295FCD8}" srcId="{D37A3F07-ACD5-4827-8F6A-249270EFA904}" destId="{B0509DC3-6B54-445E-B0CA-EDACCA3BAA2C}" srcOrd="0" destOrd="0" parTransId="{EFCDE5CB-7BEE-4949-ADAA-197B2FA1E781}" sibTransId="{3F06C31C-40CF-4E38-950D-EDC0C70F23A5}"/>
    <dgm:cxn modelId="{F4E2865E-F4CF-4161-AD24-81773BADD19C}" srcId="{3A2D8FAD-1489-46F7-A245-CA50D2CF5834}" destId="{77DE481D-EBC8-4045-806F-6A9D638A3EF6}" srcOrd="3" destOrd="0" parTransId="{AD49CE16-D1C3-4CE3-8C20-80DDE3840DA6}" sibTransId="{E5676A59-FB9D-455A-8A28-24F029C97B13}"/>
    <dgm:cxn modelId="{CEA131DA-CD77-4E89-95B4-01BD82E63584}" type="presOf" srcId="{F6648B47-7135-4B43-9F1A-E6D5298D1FDE}" destId="{FEB118B1-D921-414F-AFF5-6B5336957C50}" srcOrd="0" destOrd="3" presId="urn:microsoft.com/office/officeart/2005/8/layout/process3"/>
    <dgm:cxn modelId="{C27FEE19-CC0B-4C31-BD78-B3D1E2613760}" type="presOf" srcId="{C6787D2F-176F-405F-8839-30E0C5D55793}" destId="{78DF5B2A-5010-4ED2-94FF-7B0692DAFAB8}" srcOrd="0" destOrd="8" presId="urn:microsoft.com/office/officeart/2005/8/layout/process3"/>
    <dgm:cxn modelId="{C6E61D57-84E1-401A-A8C8-E936532297B4}" type="presOf" srcId="{03454651-1876-463C-891F-DBFB67BE2D7D}" destId="{3D847FC2-380F-49AF-936C-1553F8F26F3C}" srcOrd="0" destOrd="0" presId="urn:microsoft.com/office/officeart/2005/8/layout/process3"/>
    <dgm:cxn modelId="{591DA81B-2252-429B-817E-F8CDFBCF35F3}" type="presOf" srcId="{0CE5EF7C-CA89-420D-A3A0-8E514ED34A18}" destId="{FEB118B1-D921-414F-AFF5-6B5336957C50}" srcOrd="0" destOrd="1" presId="urn:microsoft.com/office/officeart/2005/8/layout/process3"/>
    <dgm:cxn modelId="{5B211AA5-82E9-4F35-BE2F-8687CCCE444C}" srcId="{5BB9F1C2-C668-425E-B57B-F49B96358E2C}" destId="{113299F6-3615-425B-AE93-DF4355177F03}" srcOrd="0" destOrd="0" parTransId="{A471435F-A3C9-4AAB-86AF-68AE72ED9CCE}" sibTransId="{CEB504EF-6484-41AF-BA2E-98082D4DBDDD}"/>
    <dgm:cxn modelId="{BAF47168-3C0F-46D9-A031-B9A619BF4C70}" type="presOf" srcId="{113299F6-3615-425B-AE93-DF4355177F03}" destId="{FEB118B1-D921-414F-AFF5-6B5336957C50}" srcOrd="0" destOrd="0" presId="urn:microsoft.com/office/officeart/2005/8/layout/process3"/>
    <dgm:cxn modelId="{3CAC6815-F319-423A-A4BC-9E94ED894AF7}" srcId="{72C595F7-F9FE-4C3C-B546-D393C43DA1D5}" destId="{5BB9F1C2-C668-425E-B57B-F49B96358E2C}" srcOrd="3" destOrd="0" parTransId="{B5D19EB7-6512-48E8-B439-E9CB72149E0C}" sibTransId="{485473B0-EC53-4977-B6C3-C005BAB876D7}"/>
    <dgm:cxn modelId="{1DC1956A-930D-45AD-916E-DDBD15B8FA10}" srcId="{03454651-1876-463C-891F-DBFB67BE2D7D}" destId="{3A2D8FAD-1489-46F7-A245-CA50D2CF5834}" srcOrd="0" destOrd="0" parTransId="{B968D2E6-015E-472B-B963-68F6D05E13B7}" sibTransId="{F9011C52-F83D-4D10-B873-796CAC0B5F2D}"/>
    <dgm:cxn modelId="{C4D22B8D-3F78-4DE6-A94A-489F27EB5E25}" type="presOf" srcId="{5BB9F1C2-C668-425E-B57B-F49B96358E2C}" destId="{2EEF02EA-3A65-4F53-9CFE-E34194656B01}" srcOrd="0" destOrd="0" presId="urn:microsoft.com/office/officeart/2005/8/layout/process3"/>
    <dgm:cxn modelId="{B731249A-AA0B-47F6-9EC7-0750BD448953}" type="presOf" srcId="{485473B0-EC53-4977-B6C3-C005BAB876D7}" destId="{82ECB512-BE23-412A-9204-E3C974779791}" srcOrd="0" destOrd="0" presId="urn:microsoft.com/office/officeart/2005/8/layout/process3"/>
    <dgm:cxn modelId="{D1706E58-796E-4752-A5A9-4D072E5582FB}" type="presOf" srcId="{0AC29B83-F720-4D64-8417-875D872F0E1B}" destId="{78DF5B2A-5010-4ED2-94FF-7B0692DAFAB8}" srcOrd="0" destOrd="0" presId="urn:microsoft.com/office/officeart/2005/8/layout/process3"/>
    <dgm:cxn modelId="{299E5FA0-7C95-4B02-84E3-DD3F4C6CC784}" srcId="{5074504D-B054-44B7-AF1D-0C421DB29C8C}" destId="{E136D05C-3047-45C7-990D-9ECBA2DBB124}" srcOrd="1" destOrd="0" parTransId="{7ADBC3DC-AFE7-47B2-9F9D-E3A19EC3CAA6}" sibTransId="{911D82F4-E74B-4D14-92DF-FE2F584D3C85}"/>
    <dgm:cxn modelId="{9F1D023B-689F-4E4D-A597-684A5BAC255B}" srcId="{5074504D-B054-44B7-AF1D-0C421DB29C8C}" destId="{2D4163F6-6E85-470C-ACFE-8DCD9D1DE3AA}" srcOrd="2" destOrd="0" parTransId="{2915217A-811B-429A-AFB8-4FBB27A6C0B9}" sibTransId="{E7380957-ABD2-49C5-9CF3-5904EC964969}"/>
    <dgm:cxn modelId="{288D6556-D78D-42E2-834B-00062A324825}" srcId="{72C595F7-F9FE-4C3C-B546-D393C43DA1D5}" destId="{5074504D-B054-44B7-AF1D-0C421DB29C8C}" srcOrd="1" destOrd="0" parTransId="{38550204-A29D-4D29-89AB-206E975EF185}" sibTransId="{836E2BBF-AE6F-44B9-AD26-342382726746}"/>
    <dgm:cxn modelId="{5C86E5CB-B061-4EE4-B03E-F0BECC50E149}" type="presOf" srcId="{2D4163F6-6E85-470C-ACFE-8DCD9D1DE3AA}" destId="{DCC3FCEA-0BC8-4D98-BFDA-E2DB9800EC74}" srcOrd="0" destOrd="2" presId="urn:microsoft.com/office/officeart/2005/8/layout/process3"/>
    <dgm:cxn modelId="{17CA2A44-8E6E-47ED-8739-75326F96EC36}" type="presOf" srcId="{960596DD-7C7A-47B8-98AF-52DD4BEF9344}" destId="{53B85F9C-7627-4AF9-921B-BEED13451667}" srcOrd="1" destOrd="0" presId="urn:microsoft.com/office/officeart/2005/8/layout/process3"/>
    <dgm:cxn modelId="{C7719B2B-CA94-4C83-ABAB-77D3DC46B1BE}" srcId="{960596DD-7C7A-47B8-98AF-52DD4BEF9344}" destId="{0AC29B83-F720-4D64-8417-875D872F0E1B}" srcOrd="0" destOrd="0" parTransId="{0983C0E8-8E16-43A4-B61C-A8BD730222B5}" sibTransId="{203A2879-E802-4F50-A532-F38299284CD3}"/>
    <dgm:cxn modelId="{E98E7A58-1491-4C40-972F-3318F3F83CCE}" type="presOf" srcId="{3A2D8FAD-1489-46F7-A245-CA50D2CF5834}" destId="{7E8F3D55-80E5-4F13-9459-E39284D0328D}" srcOrd="0" destOrd="0" presId="urn:microsoft.com/office/officeart/2005/8/layout/process3"/>
    <dgm:cxn modelId="{AD085FEE-D1B9-4D99-B02A-ABCE211DF7CB}" type="presOf" srcId="{76A5493E-9D8F-4696-84EB-4B6A186F9722}" destId="{7E8F3D55-80E5-4F13-9459-E39284D0328D}" srcOrd="0" destOrd="3" presId="urn:microsoft.com/office/officeart/2005/8/layout/process3"/>
    <dgm:cxn modelId="{ADF121F5-E17D-4B92-9763-D45F8C937396}" type="presOf" srcId="{836E2BBF-AE6F-44B9-AD26-342382726746}" destId="{DE71027A-1108-4DB8-8E4D-B5CBC710D5C6}" srcOrd="1" destOrd="0" presId="urn:microsoft.com/office/officeart/2005/8/layout/process3"/>
    <dgm:cxn modelId="{9924E619-464E-4782-9888-931507D3F656}" type="presOf" srcId="{58A6171B-945E-4CBC-8873-7070EADCBC15}" destId="{7E8F3D55-80E5-4F13-9459-E39284D0328D}" srcOrd="0" destOrd="5" presId="urn:microsoft.com/office/officeart/2005/8/layout/process3"/>
    <dgm:cxn modelId="{57BF5734-EBA9-4B6A-A164-5091FDA0EB6A}" srcId="{0AC29B83-F720-4D64-8417-875D872F0E1B}" destId="{322F1B24-24E3-4DB5-965A-DF63A2B6CF8B}" srcOrd="1" destOrd="0" parTransId="{3CFFFEC4-0BD5-4265-8E93-518E99E980FE}" sibTransId="{EA27803A-6AFE-4356-B5C9-7860076A9D90}"/>
    <dgm:cxn modelId="{1F8A8332-ACED-401A-B087-D29BBDCA1467}" srcId="{3A2D8FAD-1489-46F7-A245-CA50D2CF5834}" destId="{816D7D95-4F3A-4A23-A713-43BACEC7B439}" srcOrd="5" destOrd="0" parTransId="{68775878-A4B1-4BA8-B078-A4E91F7C5B70}" sibTransId="{46BD7719-636D-4CCE-A62A-1D6F2F19882D}"/>
    <dgm:cxn modelId="{D999CC6D-D2D2-4527-BE57-07EDA428A59D}" type="presOf" srcId="{CF09B30E-C73B-43E2-A0B9-9C3C3CAEFA6A}" destId="{7E8F3D55-80E5-4F13-9459-E39284D0328D}" srcOrd="0" destOrd="1" presId="urn:microsoft.com/office/officeart/2005/8/layout/process3"/>
    <dgm:cxn modelId="{DC740BC0-7C72-4413-9518-9C242A5AD82E}" type="presOf" srcId="{CCB22B6F-AE32-42A5-825C-50B6014CC98F}" destId="{FEB118B1-D921-414F-AFF5-6B5336957C50}" srcOrd="0" destOrd="5" presId="urn:microsoft.com/office/officeart/2005/8/layout/process3"/>
    <dgm:cxn modelId="{C49026E6-B4FF-44D3-91F8-71356DF8E170}" srcId="{3A2D8FAD-1489-46F7-A245-CA50D2CF5834}" destId="{76A5493E-9D8F-4696-84EB-4B6A186F9722}" srcOrd="2" destOrd="0" parTransId="{DCFAC211-0D95-4830-A786-1BD7D818D1D0}" sibTransId="{1E678558-F01F-4BDF-B55B-26181C11152A}"/>
    <dgm:cxn modelId="{737136DD-032E-4C99-80FA-6CBCB1DDBF62}" type="presOf" srcId="{5BB9F1C2-C668-425E-B57B-F49B96358E2C}" destId="{92E9ABB4-E4E7-477A-8E68-5C77B3705F61}" srcOrd="1" destOrd="0" presId="urn:microsoft.com/office/officeart/2005/8/layout/process3"/>
    <dgm:cxn modelId="{830A7AC6-4341-4CFC-BED9-A3B536906607}" type="presOf" srcId="{3449E61D-4836-4734-B25E-4CB3DD612893}" destId="{2DA0B795-6D7F-48AC-8FA5-A2C581757EFC}" srcOrd="1" destOrd="0" presId="urn:microsoft.com/office/officeart/2005/8/layout/process3"/>
    <dgm:cxn modelId="{EA15A472-ECDF-4123-BF36-214BA491EA8F}" srcId="{113299F6-3615-425B-AE93-DF4355177F03}" destId="{0CE5EF7C-CA89-420D-A3A0-8E514ED34A18}" srcOrd="0" destOrd="0" parTransId="{5AFC0104-8238-49D2-8DD5-A957636AA9CA}" sibTransId="{D3D21A5E-2AD1-4B28-9D03-5463A22F134F}"/>
    <dgm:cxn modelId="{2491D706-E624-40A7-9CCD-38EB10A58AB5}" srcId="{0AC29B83-F720-4D64-8417-875D872F0E1B}" destId="{8EE53399-8D8D-4252-80E3-12D89D91EE24}" srcOrd="0" destOrd="0" parTransId="{4296F808-DA56-42EC-9555-150D3C30E7CB}" sibTransId="{B6737234-D1D9-4933-A1EE-9B82C9B90B8B}"/>
    <dgm:cxn modelId="{A6FFC661-FAE2-4DE8-B05C-7E30718B89BF}" srcId="{3A2D8FAD-1489-46F7-A245-CA50D2CF5834}" destId="{CF09B30E-C73B-43E2-A0B9-9C3C3CAEFA6A}" srcOrd="0" destOrd="0" parTransId="{DAAF5DA7-0B3D-42CD-8DB4-61DC1B035D78}" sibTransId="{78A08EDE-9F16-46DB-AA53-7E973FC484CA}"/>
    <dgm:cxn modelId="{E9EC3681-70C8-46D8-BF36-8844BD018DE8}" type="presOf" srcId="{03454651-1876-463C-891F-DBFB67BE2D7D}" destId="{3A83BC6F-B725-4345-B234-B50F8B6B5DAE}" srcOrd="1" destOrd="0" presId="urn:microsoft.com/office/officeart/2005/8/layout/process3"/>
    <dgm:cxn modelId="{C2E0708C-B52A-4C47-8B38-5D4B63261090}" srcId="{D37A3F07-ACD5-4827-8F6A-249270EFA904}" destId="{1E3E8ABC-C0C3-4422-8224-EEDEC54127EA}" srcOrd="1" destOrd="0" parTransId="{EA63E70E-62CE-4B52-B21D-DF0A1DACC4ED}" sibTransId="{9C851384-5828-4E84-8F01-B2938D88A713}"/>
    <dgm:cxn modelId="{14C92C4D-E59D-421B-BB4B-43B571CCE058}" type="presOf" srcId="{836E2BBF-AE6F-44B9-AD26-342382726746}" destId="{63F08940-AC90-4DF0-A1DA-5F6759C06E77}" srcOrd="0" destOrd="0" presId="urn:microsoft.com/office/officeart/2005/8/layout/process3"/>
    <dgm:cxn modelId="{99290285-F50E-45ED-B922-4BB0293C682A}" type="presOf" srcId="{E136D05C-3047-45C7-990D-9ECBA2DBB124}" destId="{DCC3FCEA-0BC8-4D98-BFDA-E2DB9800EC74}" srcOrd="0" destOrd="1" presId="urn:microsoft.com/office/officeart/2005/8/layout/process3"/>
    <dgm:cxn modelId="{00CAA195-DCEC-418E-848C-CDF391D26874}" type="presOf" srcId="{8F85FA50-6CDE-4D24-995F-1B736566B04A}" destId="{FEB118B1-D921-414F-AFF5-6B5336957C50}" srcOrd="0" destOrd="2" presId="urn:microsoft.com/office/officeart/2005/8/layout/process3"/>
    <dgm:cxn modelId="{8FCC1709-D2B8-46A7-A7CA-DA6B14C23A6C}" type="presOf" srcId="{816D7D95-4F3A-4A23-A713-43BACEC7B439}" destId="{7E8F3D55-80E5-4F13-9459-E39284D0328D}" srcOrd="0" destOrd="6" presId="urn:microsoft.com/office/officeart/2005/8/layout/process3"/>
    <dgm:cxn modelId="{C47B0336-9710-4AA9-8B52-649B5E9B632E}" type="presOf" srcId="{3FFDA604-F8D1-45DF-A947-03F29E7D786D}" destId="{E1652840-44B8-4C47-B63E-DF9C4DFFB131}" srcOrd="1" destOrd="0" presId="urn:microsoft.com/office/officeart/2005/8/layout/process3"/>
    <dgm:cxn modelId="{EADA8D2C-3F6D-4FF3-94A9-FD0FAC1D1677}" srcId="{3A2D8FAD-1489-46F7-A245-CA50D2CF5834}" destId="{58A6171B-945E-4CBC-8873-7070EADCBC15}" srcOrd="4" destOrd="0" parTransId="{CC5343CB-AA58-4898-857D-F7E3D4580143}" sibTransId="{705684B9-5E42-4804-B3AF-9E7C7011153C}"/>
    <dgm:cxn modelId="{E673A5E9-E54C-4BE7-B55D-81CE092CC0DB}" type="presOf" srcId="{8EE53399-8D8D-4252-80E3-12D89D91EE24}" destId="{78DF5B2A-5010-4ED2-94FF-7B0692DAFAB8}" srcOrd="0" destOrd="1" presId="urn:microsoft.com/office/officeart/2005/8/layout/process3"/>
    <dgm:cxn modelId="{88DA97F9-6F47-4769-9BBB-0A5E69D9E061}" srcId="{113299F6-3615-425B-AE93-DF4355177F03}" destId="{F6648B47-7135-4B43-9F1A-E6D5298D1FDE}" srcOrd="2" destOrd="0" parTransId="{FD831357-B84E-4FA0-B458-19F9361BEDAF}" sibTransId="{E9E3FA59-C7CA-4A5F-9AB1-B25B48323097}"/>
    <dgm:cxn modelId="{593E6BFE-5A69-4C31-A11D-88943A49FE74}" type="presOf" srcId="{88C441C5-0497-403D-AAAB-38145353427C}" destId="{7E8F3D55-80E5-4F13-9459-E39284D0328D}" srcOrd="0" destOrd="7" presId="urn:microsoft.com/office/officeart/2005/8/layout/process3"/>
    <dgm:cxn modelId="{4CBDA608-D764-45D4-94D5-9F66F01110D8}" type="presOf" srcId="{58A442EC-BCEB-43C6-A9EB-F8D97FDB368A}" destId="{FEB118B1-D921-414F-AFF5-6B5336957C50}" srcOrd="0" destOrd="4" presId="urn:microsoft.com/office/officeart/2005/8/layout/process3"/>
    <dgm:cxn modelId="{AECDC33A-BD98-4184-82BC-E6622E9ADB7E}" type="presOf" srcId="{B0509DC3-6B54-445E-B0CA-EDACCA3BAA2C}" destId="{78DF5B2A-5010-4ED2-94FF-7B0692DAFAB8}" srcOrd="0" destOrd="6" presId="urn:microsoft.com/office/officeart/2005/8/layout/process3"/>
    <dgm:cxn modelId="{57D930DA-14BA-47DF-B595-CDFD3C6E0E7E}" type="presOf" srcId="{322F1B24-24E3-4DB5-965A-DF63A2B6CF8B}" destId="{78DF5B2A-5010-4ED2-94FF-7B0692DAFAB8}" srcOrd="0" destOrd="2" presId="urn:microsoft.com/office/officeart/2005/8/layout/process3"/>
    <dgm:cxn modelId="{46AE7147-AC32-4036-8056-16AE84184C16}" type="presOf" srcId="{32EC2ED1-5A41-47F2-A0A5-89A6987013DA}" destId="{2185D18F-377B-4641-B87A-82A7FD17C65D}" srcOrd="0" destOrd="0" presId="urn:microsoft.com/office/officeart/2005/8/layout/process3"/>
    <dgm:cxn modelId="{4EE94776-FA2C-4872-A0C5-ABC6E58C03DC}" srcId="{0AC29B83-F720-4D64-8417-875D872F0E1B}" destId="{AF952411-B811-4722-A4C5-CC4A4D8170AF}" srcOrd="3" destOrd="0" parTransId="{0EE3039C-9861-4DB0-AB65-B634FD8D1F6C}" sibTransId="{6307992A-7EDF-47FC-8126-BB07F62B49FA}"/>
    <dgm:cxn modelId="{8B572A9E-7F7F-42C4-BABC-73F92176384C}" type="presOf" srcId="{3449E61D-4836-4734-B25E-4CB3DD612893}" destId="{B473E9EE-9A81-4777-9826-D433A1C495C1}" srcOrd="0" destOrd="0" presId="urn:microsoft.com/office/officeart/2005/8/layout/process3"/>
    <dgm:cxn modelId="{00FC6B94-DF8D-4556-B0BA-3D23F3BD4868}" srcId="{5074504D-B054-44B7-AF1D-0C421DB29C8C}" destId="{41FB0194-5CA5-4B03-9138-042F307E67EB}" srcOrd="0" destOrd="0" parTransId="{A274891C-E490-45A7-8D54-036565425CF9}" sibTransId="{CE6C5A26-89CB-4823-8016-512458BE686F}"/>
    <dgm:cxn modelId="{0F1BC131-A3AC-4945-A288-99FEDC0F5C88}" srcId="{113299F6-3615-425B-AE93-DF4355177F03}" destId="{8F85FA50-6CDE-4D24-995F-1B736566B04A}" srcOrd="1" destOrd="0" parTransId="{3040A2C4-DC70-4ABD-BBC5-2969C475FE64}" sibTransId="{5FFBB1EE-94B0-466C-905B-EF154E6CE15E}"/>
    <dgm:cxn modelId="{7B524302-70C1-43C4-A1AE-D1D6F025D268}" type="presOf" srcId="{485473B0-EC53-4977-B6C3-C005BAB876D7}" destId="{CA85E95B-3D75-4981-82CC-FEE0F628D1A2}" srcOrd="1" destOrd="0" presId="urn:microsoft.com/office/officeart/2005/8/layout/process3"/>
    <dgm:cxn modelId="{6D4AAE27-114D-41B7-9B6F-D6E565CB8AD9}" type="presOf" srcId="{B2A0A6F9-F344-457B-9B88-9EAF9054E8F5}" destId="{7E8F3D55-80E5-4F13-9459-E39284D0328D}" srcOrd="0" destOrd="2" presId="urn:microsoft.com/office/officeart/2005/8/layout/process3"/>
    <dgm:cxn modelId="{80E01234-176F-4961-A97C-228E4B206958}" srcId="{960596DD-7C7A-47B8-98AF-52DD4BEF9344}" destId="{D37A3F07-ACD5-4827-8F6A-249270EFA904}" srcOrd="1" destOrd="0" parTransId="{AE6A07DA-F6C3-4E70-B599-95848FC24031}" sibTransId="{0E141550-1184-4C64-9302-F138440CD68C}"/>
    <dgm:cxn modelId="{41CFE70C-0C19-483C-8A83-1D7BA5FF5852}" srcId="{72C595F7-F9FE-4C3C-B546-D393C43DA1D5}" destId="{960596DD-7C7A-47B8-98AF-52DD4BEF9344}" srcOrd="2" destOrd="0" parTransId="{7170E545-06EB-4CA3-9A7C-2936BD4CF34C}" sibTransId="{3449E61D-4836-4734-B25E-4CB3DD612893}"/>
    <dgm:cxn modelId="{65863C86-D0F3-4C94-9960-597F009458A4}" srcId="{113299F6-3615-425B-AE93-DF4355177F03}" destId="{58A442EC-BCEB-43C6-A9EB-F8D97FDB368A}" srcOrd="3" destOrd="0" parTransId="{40214E67-1ADC-4A8C-B9A2-58A146C5DEAA}" sibTransId="{BFFB294B-C455-4F40-BB48-10693D0E5EC2}"/>
    <dgm:cxn modelId="{0518BF74-7E38-4FE8-99FB-62C2BE1929C9}" srcId="{D37A3F07-ACD5-4827-8F6A-249270EFA904}" destId="{C6787D2F-176F-405F-8839-30E0C5D55793}" srcOrd="2" destOrd="0" parTransId="{9B01C693-CD93-45FB-B500-7F21EA41569C}" sibTransId="{E3CB2FC1-929E-40C4-894E-A861BAB9C368}"/>
    <dgm:cxn modelId="{453CEB6A-F61A-4C89-9592-9EB5104FC954}" srcId="{72C595F7-F9FE-4C3C-B546-D393C43DA1D5}" destId="{03454651-1876-463C-891F-DBFB67BE2D7D}" srcOrd="0" destOrd="0" parTransId="{34ADBB6D-89A4-4913-83ED-5D871B73AD66}" sibTransId="{32EC2ED1-5A41-47F2-A0A5-89A6987013DA}"/>
    <dgm:cxn modelId="{B4D82462-1CD7-44C5-BF87-DD17E72F7ECE}" srcId="{5BB9F1C2-C668-425E-B57B-F49B96358E2C}" destId="{CCB22B6F-AE32-42A5-825C-50B6014CC98F}" srcOrd="1" destOrd="0" parTransId="{FF99647B-F974-4717-A0D7-25F946AAD5D6}" sibTransId="{95FCC516-01BA-4CA6-AE3B-623F902C7225}"/>
    <dgm:cxn modelId="{9345A028-DBCC-4B64-9803-6270D589E11F}" srcId="{72C595F7-F9FE-4C3C-B546-D393C43DA1D5}" destId="{3FFDA604-F8D1-45DF-A947-03F29E7D786D}" srcOrd="4" destOrd="0" parTransId="{3F11B895-2F8A-4676-B905-D1915DC36453}" sibTransId="{4A4217BD-8889-4D86-BF8C-032B00A223DF}"/>
    <dgm:cxn modelId="{6F6FD880-2BA6-4730-8B79-3B8DDE2644A2}" type="presOf" srcId="{AF952411-B811-4722-A4C5-CC4A4D8170AF}" destId="{78DF5B2A-5010-4ED2-94FF-7B0692DAFAB8}" srcOrd="0" destOrd="4" presId="urn:microsoft.com/office/officeart/2005/8/layout/process3"/>
    <dgm:cxn modelId="{2F84CEE9-8A02-4A55-B9AA-4AF6E64CBB16}" type="presOf" srcId="{5074504D-B054-44B7-AF1D-0C421DB29C8C}" destId="{C399DA07-F433-446A-A511-7651E2D31800}" srcOrd="1" destOrd="0" presId="urn:microsoft.com/office/officeart/2005/8/layout/process3"/>
    <dgm:cxn modelId="{7D1E2DD4-3680-4E84-B2B8-39826D7A50BB}" type="presOf" srcId="{72C595F7-F9FE-4C3C-B546-D393C43DA1D5}" destId="{5FAEC180-6FA0-4E38-9D1E-990ABDB6814F}" srcOrd="0" destOrd="0" presId="urn:microsoft.com/office/officeart/2005/8/layout/process3"/>
    <dgm:cxn modelId="{61BCD4AB-58BE-49DD-B4F2-B7752FE58DAA}" type="presOf" srcId="{3FFDA604-F8D1-45DF-A947-03F29E7D786D}" destId="{88802074-9EFC-417A-B557-437449D254FD}" srcOrd="0" destOrd="0" presId="urn:microsoft.com/office/officeart/2005/8/layout/process3"/>
    <dgm:cxn modelId="{89B5AFC9-2C8A-4AC2-A1D6-8835F74A4D24}" srcId="{3FFDA604-F8D1-45DF-A947-03F29E7D786D}" destId="{E78B23F4-3E95-42D7-BA5D-404422670735}" srcOrd="0" destOrd="0" parTransId="{3BAF8C6E-5757-45EF-BB9C-7A7B3AF69446}" sibTransId="{1D70502B-F5F2-4E9E-BC49-FD7BEECD541A}"/>
    <dgm:cxn modelId="{D2779311-CC44-4B71-A22D-3653A3997861}" srcId="{3FFDA604-F8D1-45DF-A947-03F29E7D786D}" destId="{81E59007-8D77-4488-A9B1-D0FA2BC120DA}" srcOrd="1" destOrd="0" parTransId="{16F0B363-333F-4084-A20F-8621EF114884}" sibTransId="{34E3AB8C-AA26-4CC9-84CD-3712E68CEA12}"/>
    <dgm:cxn modelId="{8C620E24-9949-444C-839F-CF8DE52D1087}" type="presOf" srcId="{32EC2ED1-5A41-47F2-A0A5-89A6987013DA}" destId="{4B650DD2-5F02-4AE9-9DDB-38B6153A658F}" srcOrd="1" destOrd="0" presId="urn:microsoft.com/office/officeart/2005/8/layout/process3"/>
    <dgm:cxn modelId="{A2E037DE-6CF3-4B51-817F-CB12B10C6AE6}" type="presOf" srcId="{960596DD-7C7A-47B8-98AF-52DD4BEF9344}" destId="{E1297A9F-D2A1-42E6-AAC5-5241A7119404}" srcOrd="0" destOrd="0" presId="urn:microsoft.com/office/officeart/2005/8/layout/process3"/>
    <dgm:cxn modelId="{8DE51361-A9B6-4B85-A915-58C9E1D6C1E1}" type="presOf" srcId="{606AFEC6-9D95-4CC4-AFA1-F962280EDBAA}" destId="{78DF5B2A-5010-4ED2-94FF-7B0692DAFAB8}" srcOrd="0" destOrd="3" presId="urn:microsoft.com/office/officeart/2005/8/layout/process3"/>
    <dgm:cxn modelId="{50154381-2E7A-413E-B300-1E69629D56E8}" srcId="{3A2D8FAD-1489-46F7-A245-CA50D2CF5834}" destId="{88C441C5-0497-403D-AAAB-38145353427C}" srcOrd="6" destOrd="0" parTransId="{FA202C58-6AF1-4356-958F-81B830C1E56F}" sibTransId="{2EB2BC46-696A-452B-B0DE-114A50A0B073}"/>
    <dgm:cxn modelId="{7A0D2BBC-E518-42A7-A156-FE79BE458221}" type="presOf" srcId="{81E59007-8D77-4488-A9B1-D0FA2BC120DA}" destId="{62E2F7D5-715E-4F2E-BF4E-37FD07D1A04A}" srcOrd="0" destOrd="1" presId="urn:microsoft.com/office/officeart/2005/8/layout/process3"/>
    <dgm:cxn modelId="{7E1AD8E8-8ABA-4172-8C21-1E8ABF7EB725}" type="presParOf" srcId="{5FAEC180-6FA0-4E38-9D1E-990ABDB6814F}" destId="{1ED04EDF-BDDC-4FBE-ADFE-4ECCA1ABCE5C}" srcOrd="0" destOrd="0" presId="urn:microsoft.com/office/officeart/2005/8/layout/process3"/>
    <dgm:cxn modelId="{C93F31D9-E6D3-4702-A652-E74871E20672}" type="presParOf" srcId="{1ED04EDF-BDDC-4FBE-ADFE-4ECCA1ABCE5C}" destId="{3D847FC2-380F-49AF-936C-1553F8F26F3C}" srcOrd="0" destOrd="0" presId="urn:microsoft.com/office/officeart/2005/8/layout/process3"/>
    <dgm:cxn modelId="{E0321823-854B-4821-B331-EC72BE268BAF}" type="presParOf" srcId="{1ED04EDF-BDDC-4FBE-ADFE-4ECCA1ABCE5C}" destId="{3A83BC6F-B725-4345-B234-B50F8B6B5DAE}" srcOrd="1" destOrd="0" presId="urn:microsoft.com/office/officeart/2005/8/layout/process3"/>
    <dgm:cxn modelId="{DAD34374-92AB-458E-9CBB-0305D3DEF07B}" type="presParOf" srcId="{1ED04EDF-BDDC-4FBE-ADFE-4ECCA1ABCE5C}" destId="{7E8F3D55-80E5-4F13-9459-E39284D0328D}" srcOrd="2" destOrd="0" presId="urn:microsoft.com/office/officeart/2005/8/layout/process3"/>
    <dgm:cxn modelId="{D20C4025-9739-442F-9929-5F4139F7C7FB}" type="presParOf" srcId="{5FAEC180-6FA0-4E38-9D1E-990ABDB6814F}" destId="{2185D18F-377B-4641-B87A-82A7FD17C65D}" srcOrd="1" destOrd="0" presId="urn:microsoft.com/office/officeart/2005/8/layout/process3"/>
    <dgm:cxn modelId="{B920364B-810B-4A19-BEE2-2C22B715979E}" type="presParOf" srcId="{2185D18F-377B-4641-B87A-82A7FD17C65D}" destId="{4B650DD2-5F02-4AE9-9DDB-38B6153A658F}" srcOrd="0" destOrd="0" presId="urn:microsoft.com/office/officeart/2005/8/layout/process3"/>
    <dgm:cxn modelId="{53C81FB5-5695-4A75-B831-A70F5264E789}" type="presParOf" srcId="{5FAEC180-6FA0-4E38-9D1E-990ABDB6814F}" destId="{E5D422DD-3565-4886-BD6F-B54C46D7F5BD}" srcOrd="2" destOrd="0" presId="urn:microsoft.com/office/officeart/2005/8/layout/process3"/>
    <dgm:cxn modelId="{D0CF8F91-5AEE-4C28-8D97-2C12CD3C8973}" type="presParOf" srcId="{E5D422DD-3565-4886-BD6F-B54C46D7F5BD}" destId="{BF9E2F76-6B5D-43DB-A7F2-4A21C009BF40}" srcOrd="0" destOrd="0" presId="urn:microsoft.com/office/officeart/2005/8/layout/process3"/>
    <dgm:cxn modelId="{8EC52DE6-5E18-41F8-9505-4BBF78FE7C0B}" type="presParOf" srcId="{E5D422DD-3565-4886-BD6F-B54C46D7F5BD}" destId="{C399DA07-F433-446A-A511-7651E2D31800}" srcOrd="1" destOrd="0" presId="urn:microsoft.com/office/officeart/2005/8/layout/process3"/>
    <dgm:cxn modelId="{3442DC4E-5108-4A10-AB8B-07FC9A2CC8CF}" type="presParOf" srcId="{E5D422DD-3565-4886-BD6F-B54C46D7F5BD}" destId="{DCC3FCEA-0BC8-4D98-BFDA-E2DB9800EC74}" srcOrd="2" destOrd="0" presId="urn:microsoft.com/office/officeart/2005/8/layout/process3"/>
    <dgm:cxn modelId="{877A6D56-5927-4B34-9321-B77B6F2B21B4}" type="presParOf" srcId="{5FAEC180-6FA0-4E38-9D1E-990ABDB6814F}" destId="{63F08940-AC90-4DF0-A1DA-5F6759C06E77}" srcOrd="3" destOrd="0" presId="urn:microsoft.com/office/officeart/2005/8/layout/process3"/>
    <dgm:cxn modelId="{6FA45F62-03B0-42C8-B209-A376087D24B5}" type="presParOf" srcId="{63F08940-AC90-4DF0-A1DA-5F6759C06E77}" destId="{DE71027A-1108-4DB8-8E4D-B5CBC710D5C6}" srcOrd="0" destOrd="0" presId="urn:microsoft.com/office/officeart/2005/8/layout/process3"/>
    <dgm:cxn modelId="{D88719EA-E7CB-4690-B3C7-3B9097DFEA39}" type="presParOf" srcId="{5FAEC180-6FA0-4E38-9D1E-990ABDB6814F}" destId="{AB38EC2E-43FE-44BB-80CD-6BBCBABF7F5F}" srcOrd="4" destOrd="0" presId="urn:microsoft.com/office/officeart/2005/8/layout/process3"/>
    <dgm:cxn modelId="{3783742F-2B9B-4AC4-AC3F-28F844D939A3}" type="presParOf" srcId="{AB38EC2E-43FE-44BB-80CD-6BBCBABF7F5F}" destId="{E1297A9F-D2A1-42E6-AAC5-5241A7119404}" srcOrd="0" destOrd="0" presId="urn:microsoft.com/office/officeart/2005/8/layout/process3"/>
    <dgm:cxn modelId="{14F3A0FA-81DB-473A-B54E-98BEEB569BCD}" type="presParOf" srcId="{AB38EC2E-43FE-44BB-80CD-6BBCBABF7F5F}" destId="{53B85F9C-7627-4AF9-921B-BEED13451667}" srcOrd="1" destOrd="0" presId="urn:microsoft.com/office/officeart/2005/8/layout/process3"/>
    <dgm:cxn modelId="{18A9625B-7B4B-4D85-982A-1C29D204BA5C}" type="presParOf" srcId="{AB38EC2E-43FE-44BB-80CD-6BBCBABF7F5F}" destId="{78DF5B2A-5010-4ED2-94FF-7B0692DAFAB8}" srcOrd="2" destOrd="0" presId="urn:microsoft.com/office/officeart/2005/8/layout/process3"/>
    <dgm:cxn modelId="{D21E4FA2-9C00-4044-BDBE-01601D937202}" type="presParOf" srcId="{5FAEC180-6FA0-4E38-9D1E-990ABDB6814F}" destId="{B473E9EE-9A81-4777-9826-D433A1C495C1}" srcOrd="5" destOrd="0" presId="urn:microsoft.com/office/officeart/2005/8/layout/process3"/>
    <dgm:cxn modelId="{F1578A71-3F81-4E1B-A2FE-5BB8945AFE7F}" type="presParOf" srcId="{B473E9EE-9A81-4777-9826-D433A1C495C1}" destId="{2DA0B795-6D7F-48AC-8FA5-A2C581757EFC}" srcOrd="0" destOrd="0" presId="urn:microsoft.com/office/officeart/2005/8/layout/process3"/>
    <dgm:cxn modelId="{B1D31C9A-9DA2-43BD-A8F4-AB5191C9E9EB}" type="presParOf" srcId="{5FAEC180-6FA0-4E38-9D1E-990ABDB6814F}" destId="{1C6F04B5-1667-44E4-BC01-213559772173}" srcOrd="6" destOrd="0" presId="urn:microsoft.com/office/officeart/2005/8/layout/process3"/>
    <dgm:cxn modelId="{2702BB9B-1F06-4616-9CC0-F4D3B8AA4ABD}" type="presParOf" srcId="{1C6F04B5-1667-44E4-BC01-213559772173}" destId="{2EEF02EA-3A65-4F53-9CFE-E34194656B01}" srcOrd="0" destOrd="0" presId="urn:microsoft.com/office/officeart/2005/8/layout/process3"/>
    <dgm:cxn modelId="{3B1D055A-2197-48FE-8E2E-4C5BE76CB2A8}" type="presParOf" srcId="{1C6F04B5-1667-44E4-BC01-213559772173}" destId="{92E9ABB4-E4E7-477A-8E68-5C77B3705F61}" srcOrd="1" destOrd="0" presId="urn:microsoft.com/office/officeart/2005/8/layout/process3"/>
    <dgm:cxn modelId="{C5367AF4-34B8-4613-B37B-A1F55469EEA8}" type="presParOf" srcId="{1C6F04B5-1667-44E4-BC01-213559772173}" destId="{FEB118B1-D921-414F-AFF5-6B5336957C50}" srcOrd="2" destOrd="0" presId="urn:microsoft.com/office/officeart/2005/8/layout/process3"/>
    <dgm:cxn modelId="{FEEEF787-EE85-4948-8C06-DBF1DAC43A82}" type="presParOf" srcId="{5FAEC180-6FA0-4E38-9D1E-990ABDB6814F}" destId="{82ECB512-BE23-412A-9204-E3C974779791}" srcOrd="7" destOrd="0" presId="urn:microsoft.com/office/officeart/2005/8/layout/process3"/>
    <dgm:cxn modelId="{0BA24B35-2D5E-4AAC-935E-4793EFBF33AC}" type="presParOf" srcId="{82ECB512-BE23-412A-9204-E3C974779791}" destId="{CA85E95B-3D75-4981-82CC-FEE0F628D1A2}" srcOrd="0" destOrd="0" presId="urn:microsoft.com/office/officeart/2005/8/layout/process3"/>
    <dgm:cxn modelId="{C92254F5-1275-42D0-87C2-D3BC08D453D3}" type="presParOf" srcId="{5FAEC180-6FA0-4E38-9D1E-990ABDB6814F}" destId="{068290A5-1CBA-4890-B251-C16C42769694}" srcOrd="8" destOrd="0" presId="urn:microsoft.com/office/officeart/2005/8/layout/process3"/>
    <dgm:cxn modelId="{EB80E55D-FF65-460C-AF6F-EC267020EA94}" type="presParOf" srcId="{068290A5-1CBA-4890-B251-C16C42769694}" destId="{88802074-9EFC-417A-B557-437449D254FD}" srcOrd="0" destOrd="0" presId="urn:microsoft.com/office/officeart/2005/8/layout/process3"/>
    <dgm:cxn modelId="{FD889184-03C7-4BBC-8160-427169F51BC3}" type="presParOf" srcId="{068290A5-1CBA-4890-B251-C16C42769694}" destId="{E1652840-44B8-4C47-B63E-DF9C4DFFB131}" srcOrd="1" destOrd="0" presId="urn:microsoft.com/office/officeart/2005/8/layout/process3"/>
    <dgm:cxn modelId="{98A09334-E270-44C5-9757-F71C82730C25}" type="presParOf" srcId="{068290A5-1CBA-4890-B251-C16C42769694}" destId="{62E2F7D5-715E-4F2E-BF4E-37FD07D1A04A}"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Set up performance monitoring unit / dept.</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960596DD-7C7A-47B8-98AF-52DD4BEF9344}">
      <dgm:prSet phldrT="[Text]"/>
      <dgm:spPr/>
      <dgm:t>
        <a:bodyPr/>
        <a:lstStyle/>
        <a:p>
          <a:r>
            <a:rPr lang="en-US"/>
            <a:t>Frame review and recommendation process</a:t>
          </a:r>
        </a:p>
      </dgm:t>
    </dgm:pt>
    <dgm:pt modelId="{7170E545-06EB-4CA3-9A7C-2936BD4CF34C}" type="parTrans" cxnId="{41CFE70C-0C19-483C-8A83-1D7BA5FF5852}">
      <dgm:prSet/>
      <dgm:spPr/>
      <dgm:t>
        <a:bodyPr/>
        <a:lstStyle/>
        <a:p>
          <a:endParaRPr lang="en-US"/>
        </a:p>
      </dgm:t>
    </dgm:pt>
    <dgm:pt modelId="{3449E61D-4836-4734-B25E-4CB3DD612893}" type="sibTrans" cxnId="{41CFE70C-0C19-483C-8A83-1D7BA5FF5852}">
      <dgm:prSet/>
      <dgm:spPr/>
      <dgm:t>
        <a:bodyPr/>
        <a:lstStyle/>
        <a:p>
          <a:endParaRPr lang="en-US"/>
        </a:p>
      </dgm:t>
    </dgm:pt>
    <dgm:pt modelId="{8AB1705B-825B-4FA9-B3F7-6234B57D8B5B}">
      <dgm:prSet phldrT="[Text]"/>
      <dgm:spPr/>
      <dgm:t>
        <a:bodyPr/>
        <a:lstStyle/>
        <a:p>
          <a:r>
            <a:rPr lang="en-IN"/>
            <a:t>Designing structure of Monitoring Unit / Dept.</a:t>
          </a:r>
          <a:endParaRPr lang="en-US"/>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E4BA7210-249E-4888-938B-BC1118D9CA42}">
      <dgm:prSet phldrT="[Text]"/>
      <dgm:spPr/>
      <dgm:t>
        <a:bodyPr/>
        <a:lstStyle/>
        <a:p>
          <a:r>
            <a:rPr lang="en-IN"/>
            <a:t>Establish review roles</a:t>
          </a:r>
          <a:endParaRPr lang="en-US"/>
        </a:p>
      </dgm:t>
    </dgm:pt>
    <dgm:pt modelId="{E5140982-3EFA-405B-925B-38406417B49B}" type="parTrans" cxnId="{0D925723-0C2F-4282-9D77-12BDFA84C675}">
      <dgm:prSet/>
      <dgm:spPr/>
      <dgm:t>
        <a:bodyPr/>
        <a:lstStyle/>
        <a:p>
          <a:endParaRPr lang="en-US"/>
        </a:p>
      </dgm:t>
    </dgm:pt>
    <dgm:pt modelId="{BC8B7F9D-5294-46BE-BD51-7C1C8EF184EA}" type="sibTrans" cxnId="{0D925723-0C2F-4282-9D77-12BDFA84C675}">
      <dgm:prSet/>
      <dgm:spPr/>
      <dgm:t>
        <a:bodyPr/>
        <a:lstStyle/>
        <a:p>
          <a:endParaRPr lang="en-US"/>
        </a:p>
      </dgm:t>
    </dgm:pt>
    <dgm:pt modelId="{6C0BE2DE-BC83-4F4A-9D12-E45D048076E2}">
      <dgm:prSet phldrT="[Text]"/>
      <dgm:spPr/>
      <dgm:t>
        <a:bodyPr/>
        <a:lstStyle/>
        <a:p>
          <a:r>
            <a:rPr lang="en-US"/>
            <a:t>Design performance monitoring guidelines</a:t>
          </a:r>
        </a:p>
      </dgm:t>
    </dgm:pt>
    <dgm:pt modelId="{A5833DF2-92A7-4890-AA83-CD2387BF90CB}" type="parTrans" cxnId="{A01C66BB-8BAA-4C6E-8572-4CB23CF11AAE}">
      <dgm:prSet/>
      <dgm:spPr/>
      <dgm:t>
        <a:bodyPr/>
        <a:lstStyle/>
        <a:p>
          <a:endParaRPr lang="en-US"/>
        </a:p>
      </dgm:t>
    </dgm:pt>
    <dgm:pt modelId="{24B283C1-CA6A-4228-8D59-CC19D0AF15AA}" type="sibTrans" cxnId="{A01C66BB-8BAA-4C6E-8572-4CB23CF11AAE}">
      <dgm:prSet/>
      <dgm:spPr/>
      <dgm:t>
        <a:bodyPr/>
        <a:lstStyle/>
        <a:p>
          <a:endParaRPr lang="en-US"/>
        </a:p>
      </dgm:t>
    </dgm:pt>
    <dgm:pt modelId="{DD3BE678-5CB8-4255-9906-CDEC563CFBC3}">
      <dgm:prSet phldrT="[Text]"/>
      <dgm:spPr/>
      <dgm:t>
        <a:bodyPr/>
        <a:lstStyle/>
        <a:p>
          <a:r>
            <a:rPr lang="en-US"/>
            <a:t>Identification of performance metrics / KPIs for the holding company</a:t>
          </a:r>
        </a:p>
      </dgm:t>
    </dgm:pt>
    <dgm:pt modelId="{776D3E75-8023-461F-AF55-B06901530A67}" type="parTrans" cxnId="{F7D9CD58-8412-49DC-B12A-6CBE869F8C51}">
      <dgm:prSet/>
      <dgm:spPr/>
      <dgm:t>
        <a:bodyPr/>
        <a:lstStyle/>
        <a:p>
          <a:endParaRPr lang="en-US"/>
        </a:p>
      </dgm:t>
    </dgm:pt>
    <dgm:pt modelId="{8FFC9242-028F-4EC6-8F6F-2C259EBA348A}" type="sibTrans" cxnId="{F7D9CD58-8412-49DC-B12A-6CBE869F8C51}">
      <dgm:prSet/>
      <dgm:spPr/>
      <dgm:t>
        <a:bodyPr/>
        <a:lstStyle/>
        <a:p>
          <a:endParaRPr lang="en-US"/>
        </a:p>
      </dgm:t>
    </dgm:pt>
    <dgm:pt modelId="{7F92643C-A476-4993-AC73-CEB3E63CBDF8}">
      <dgm:prSet phldrT="[Text]"/>
      <dgm:spPr/>
      <dgm:t>
        <a:bodyPr/>
        <a:lstStyle/>
        <a:p>
          <a:r>
            <a:rPr lang="en-US" dirty="0"/>
            <a:t>Establishment of MIS framework including structures for reporting, review, feedback and improvement</a:t>
          </a:r>
        </a:p>
      </dgm:t>
    </dgm:pt>
    <dgm:pt modelId="{4A06A814-697B-4267-9516-A2994AF47281}" type="parTrans" cxnId="{0A26CA9A-AD2F-4EAD-A83A-0C628BF56FE5}">
      <dgm:prSet/>
      <dgm:spPr/>
      <dgm:t>
        <a:bodyPr/>
        <a:lstStyle/>
        <a:p>
          <a:endParaRPr lang="en-US"/>
        </a:p>
      </dgm:t>
    </dgm:pt>
    <dgm:pt modelId="{3B60F5C8-30AC-4201-AE6E-ED4CD2BCCA38}" type="sibTrans" cxnId="{0A26CA9A-AD2F-4EAD-A83A-0C628BF56FE5}">
      <dgm:prSet/>
      <dgm:spPr/>
      <dgm:t>
        <a:bodyPr/>
        <a:lstStyle/>
        <a:p>
          <a:endParaRPr lang="en-US"/>
        </a:p>
      </dgm:t>
    </dgm:pt>
    <dgm:pt modelId="{365284B8-44BE-487B-A236-9AF356412B9A}">
      <dgm:prSet/>
      <dgm:spPr/>
      <dgm:t>
        <a:bodyPr/>
        <a:lstStyle/>
        <a:p>
          <a:r>
            <a:rPr lang="en-IN"/>
            <a:t>Roles &amp; Responsibility Identification</a:t>
          </a:r>
        </a:p>
      </dgm:t>
    </dgm:pt>
    <dgm:pt modelId="{4F9F44DD-4BFD-4552-8201-97986A62FD7C}" type="parTrans" cxnId="{7612A490-87C8-46AA-A114-738B6E02DC36}">
      <dgm:prSet/>
      <dgm:spPr/>
      <dgm:t>
        <a:bodyPr/>
        <a:lstStyle/>
        <a:p>
          <a:endParaRPr lang="en-US"/>
        </a:p>
      </dgm:t>
    </dgm:pt>
    <dgm:pt modelId="{875036D5-9427-479C-8FD0-E84CEF963332}" type="sibTrans" cxnId="{7612A490-87C8-46AA-A114-738B6E02DC36}">
      <dgm:prSet/>
      <dgm:spPr/>
      <dgm:t>
        <a:bodyPr/>
        <a:lstStyle/>
        <a:p>
          <a:endParaRPr lang="en-US"/>
        </a:p>
      </dgm:t>
    </dgm:pt>
    <dgm:pt modelId="{889D19F1-F4FC-4D20-9F11-2E793563429D}">
      <dgm:prSet phldrT="[Text]"/>
      <dgm:spPr/>
      <dgm:t>
        <a:bodyPr/>
        <a:lstStyle/>
        <a:p>
          <a:r>
            <a:rPr lang="en-US"/>
            <a:t>Measurement of baseline performance and performance targets</a:t>
          </a:r>
        </a:p>
      </dgm:t>
    </dgm:pt>
    <dgm:pt modelId="{D571880B-9DB7-4797-B565-5EF78621661D}" type="parTrans" cxnId="{5218B251-E476-4DF3-BC4E-5C6EBFA5EC5B}">
      <dgm:prSet/>
      <dgm:spPr/>
      <dgm:t>
        <a:bodyPr/>
        <a:lstStyle/>
        <a:p>
          <a:endParaRPr lang="en-US"/>
        </a:p>
      </dgm:t>
    </dgm:pt>
    <dgm:pt modelId="{DD6BC6A2-A72B-4634-90CE-9B85929C565A}" type="sibTrans" cxnId="{5218B251-E476-4DF3-BC4E-5C6EBFA5EC5B}">
      <dgm:prSet/>
      <dgm:spPr/>
      <dgm:t>
        <a:bodyPr/>
        <a:lstStyle/>
        <a:p>
          <a:endParaRPr lang="en-US"/>
        </a:p>
      </dgm:t>
    </dgm:pt>
    <dgm:pt modelId="{BD7C90F8-288E-4DA5-8C5B-6EEAD42F3236}">
      <dgm:prSet phldrT="[Text]"/>
      <dgm:spPr/>
      <dgm:t>
        <a:bodyPr/>
        <a:lstStyle/>
        <a:p>
          <a:r>
            <a:rPr lang="en-US"/>
            <a:t>Assessment of existing MIS framework and KPI taregts</a:t>
          </a:r>
        </a:p>
      </dgm:t>
    </dgm:pt>
    <dgm:pt modelId="{A4B2C129-61D9-4E38-A56D-01F59B465A81}" type="parTrans" cxnId="{B6B0BC23-B9DE-4463-930C-D43075754136}">
      <dgm:prSet/>
      <dgm:spPr/>
      <dgm:t>
        <a:bodyPr/>
        <a:lstStyle/>
        <a:p>
          <a:endParaRPr lang="en-US"/>
        </a:p>
      </dgm:t>
    </dgm:pt>
    <dgm:pt modelId="{D175300F-AFC9-4BB0-8A3C-AD4A0D7754E0}" type="sibTrans" cxnId="{B6B0BC23-B9DE-4463-930C-D43075754136}">
      <dgm:prSet/>
      <dgm:spPr/>
      <dgm:t>
        <a:bodyPr/>
        <a:lstStyle/>
        <a:p>
          <a:endParaRPr lang="en-US"/>
        </a:p>
      </dgm:t>
    </dgm:pt>
    <dgm:pt modelId="{7851345C-727A-498C-A129-3A04D86E217F}">
      <dgm:prSet phldrT="[Text]"/>
      <dgm:spPr/>
      <dgm:t>
        <a:bodyPr/>
        <a:lstStyle/>
        <a:p>
          <a:r>
            <a:rPr lang="en-US"/>
            <a:t>Formulation of strategy for setting up Data Warehousling and Business Intelligence-based IT tools for MIS</a:t>
          </a:r>
        </a:p>
      </dgm:t>
    </dgm:pt>
    <dgm:pt modelId="{302F443E-7CEF-49B7-83E2-DF03F52F8591}" type="parTrans" cxnId="{0FF71BDB-1F88-49FA-87DD-5071667A0400}">
      <dgm:prSet/>
      <dgm:spPr/>
      <dgm:t>
        <a:bodyPr/>
        <a:lstStyle/>
        <a:p>
          <a:endParaRPr lang="en-US"/>
        </a:p>
      </dgm:t>
    </dgm:pt>
    <dgm:pt modelId="{2B32F2A0-DB15-47F7-8AC5-D1B7C11C3BC7}" type="sibTrans" cxnId="{0FF71BDB-1F88-49FA-87DD-5071667A0400}">
      <dgm:prSet/>
      <dgm:spPr/>
      <dgm:t>
        <a:bodyPr/>
        <a:lstStyle/>
        <a:p>
          <a:endParaRPr lang="en-US"/>
        </a:p>
      </dgm:t>
    </dgm:pt>
    <dgm:pt modelId="{967CF186-82FA-49DF-A09B-EE5E82736813}">
      <dgm:prSet/>
      <dgm:spPr/>
      <dgm:t>
        <a:bodyPr/>
        <a:lstStyle/>
        <a:p>
          <a:r>
            <a:rPr lang="en-IN"/>
            <a:t>Implement mechanism of target resetting on rolling basis</a:t>
          </a:r>
        </a:p>
      </dgm:t>
    </dgm:pt>
    <dgm:pt modelId="{0EC8D6C8-D628-4F78-A77F-5923F28D17D3}" type="parTrans" cxnId="{24D39063-4CD6-4704-86F9-A2A8D931A351}">
      <dgm:prSet/>
      <dgm:spPr/>
      <dgm:t>
        <a:bodyPr/>
        <a:lstStyle/>
        <a:p>
          <a:endParaRPr lang="en-US"/>
        </a:p>
      </dgm:t>
    </dgm:pt>
    <dgm:pt modelId="{D68E7047-B5F9-42C9-9818-9DE76ABAC355}" type="sibTrans" cxnId="{24D39063-4CD6-4704-86F9-A2A8D931A351}">
      <dgm:prSet/>
      <dgm:spPr/>
      <dgm:t>
        <a:bodyPr/>
        <a:lstStyle/>
        <a:p>
          <a:endParaRPr lang="en-US"/>
        </a:p>
      </dgm:t>
    </dgm:pt>
    <dgm:pt modelId="{0A41BBB3-4568-4FF9-B433-E07884476AFB}">
      <dgm:prSet/>
      <dgm:spPr/>
      <dgm:t>
        <a:bodyPr/>
        <a:lstStyle/>
        <a:p>
          <a:r>
            <a:rPr lang="en-IN"/>
            <a:t>Set up Stakeholder Consultation Forum</a:t>
          </a:r>
        </a:p>
      </dgm:t>
    </dgm:pt>
    <dgm:pt modelId="{BA6FA79C-8AEF-4A00-8F59-ADA484745088}" type="parTrans" cxnId="{024697D9-16CD-4BB1-B93D-0EA89F0981F2}">
      <dgm:prSet/>
      <dgm:spPr/>
      <dgm:t>
        <a:bodyPr/>
        <a:lstStyle/>
        <a:p>
          <a:endParaRPr lang="en-US"/>
        </a:p>
      </dgm:t>
    </dgm:pt>
    <dgm:pt modelId="{E606CBD7-04CE-41B6-A830-916BEE6CB7FA}" type="sibTrans" cxnId="{024697D9-16CD-4BB1-B93D-0EA89F0981F2}">
      <dgm:prSet/>
      <dgm:spPr/>
      <dgm:t>
        <a:bodyPr/>
        <a:lstStyle/>
        <a:p>
          <a:endParaRPr lang="en-US"/>
        </a:p>
      </dgm:t>
    </dgm:pt>
    <dgm:pt modelId="{B0EB505C-3617-4E0B-8AD9-84B40D7EBDE2}">
      <dgm:prSet/>
      <dgm:spPr/>
      <dgm:t>
        <a:bodyPr/>
        <a:lstStyle/>
        <a:p>
          <a:r>
            <a:rPr lang="en-IN"/>
            <a:t>Set up Strategic Recommendations mechanism for Utility &amp; Govt.</a:t>
          </a:r>
        </a:p>
      </dgm:t>
    </dgm:pt>
    <dgm:pt modelId="{3A490713-BB0A-4FA3-A2B7-4E44DE6F9A67}" type="parTrans" cxnId="{64CA5F21-2CDF-4F4D-BC75-DBFC06B7866E}">
      <dgm:prSet/>
      <dgm:spPr/>
      <dgm:t>
        <a:bodyPr/>
        <a:lstStyle/>
        <a:p>
          <a:endParaRPr lang="en-US"/>
        </a:p>
      </dgm:t>
    </dgm:pt>
    <dgm:pt modelId="{94798C9C-E923-46DA-96B5-B796CDA4D1F2}" type="sibTrans" cxnId="{64CA5F21-2CDF-4F4D-BC75-DBFC06B7866E}">
      <dgm:prSet/>
      <dgm:spPr/>
      <dgm:t>
        <a:bodyPr/>
        <a:lstStyle/>
        <a:p>
          <a:endParaRPr lang="en-US"/>
        </a:p>
      </dgm:t>
    </dgm:pt>
    <dgm:pt modelId="{03A67F9B-EC72-478A-9658-B5E172E70161}">
      <dgm:prSet/>
      <dgm:spPr/>
      <dgm:t>
        <a:bodyPr/>
        <a:lstStyle/>
        <a:p>
          <a:r>
            <a:rPr lang="en-IN"/>
            <a:t>Operationalization of the unit / dept.</a:t>
          </a:r>
        </a:p>
      </dgm:t>
    </dgm:pt>
    <dgm:pt modelId="{B53F301D-E364-4DCC-B89D-38971331406B}" type="parTrans" cxnId="{BB624B78-DAB0-4E85-ADEC-93B566CD94DE}">
      <dgm:prSet/>
      <dgm:spPr/>
      <dgm:t>
        <a:bodyPr/>
        <a:lstStyle/>
        <a:p>
          <a:endParaRPr lang="en-US"/>
        </a:p>
      </dgm:t>
    </dgm:pt>
    <dgm:pt modelId="{4B211B2D-A85B-4B34-A460-49D7E1776843}" type="sibTrans" cxnId="{BB624B78-DAB0-4E85-ADEC-93B566CD94DE}">
      <dgm:prSet/>
      <dgm:spPr/>
      <dgm:t>
        <a:bodyPr/>
        <a:lstStyle/>
        <a:p>
          <a:endParaRPr lang="en-US"/>
        </a:p>
      </dgm:t>
    </dgm:pt>
    <dgm:pt modelId="{BDB67B99-45C8-4715-9038-9621682F04C9}">
      <dgm:prSet phldrT="[Text]"/>
      <dgm:spPr/>
      <dgm:t>
        <a:bodyPr/>
        <a:lstStyle/>
        <a:p>
          <a:r>
            <a:rPr lang="en-US"/>
            <a:t>Formulation of procedures / framework for performance review and recommendation</a:t>
          </a:r>
        </a:p>
      </dgm:t>
    </dgm:pt>
    <dgm:pt modelId="{7A9A7C2A-0D2C-428D-B195-BFD9FDB7091B}" type="parTrans" cxnId="{0431B34F-685D-448A-903C-ABF0C9067642}">
      <dgm:prSet/>
      <dgm:spPr/>
      <dgm:t>
        <a:bodyPr/>
        <a:lstStyle/>
        <a:p>
          <a:endParaRPr lang="en-US"/>
        </a:p>
      </dgm:t>
    </dgm:pt>
    <dgm:pt modelId="{B5E089F4-BD5D-422F-9A3B-9D91DAF753ED}" type="sibTrans" cxnId="{0431B34F-685D-448A-903C-ABF0C9067642}">
      <dgm:prSet/>
      <dgm:spPr/>
      <dgm:t>
        <a:bodyPr/>
        <a:lstStyle/>
        <a:p>
          <a:endParaRPr lang="en-US"/>
        </a:p>
      </dgm:t>
    </dgm:pt>
    <dgm:pt modelId="{3677AB29-7DC0-4D74-9F07-C7786335979B}">
      <dgm:prSet/>
      <dgm:spPr/>
      <dgm:t>
        <a:bodyPr/>
        <a:lstStyle/>
        <a:p>
          <a:r>
            <a:rPr lang="en-IN"/>
            <a:t>Capacity building on target setting, performance monitoring, review and feedback</a:t>
          </a:r>
        </a:p>
      </dgm:t>
    </dgm:pt>
    <dgm:pt modelId="{9D1C023B-A1A5-4213-9D4D-801D4C66783C}" type="parTrans" cxnId="{F2D7F636-275B-4E8C-85B7-1A64B8A32A6C}">
      <dgm:prSet/>
      <dgm:spPr/>
      <dgm:t>
        <a:bodyPr/>
        <a:lstStyle/>
        <a:p>
          <a:endParaRPr lang="en-US"/>
        </a:p>
      </dgm:t>
    </dgm:pt>
    <dgm:pt modelId="{39A63569-3C8D-4C09-ACAE-7852AC3CAF64}" type="sibTrans" cxnId="{F2D7F636-275B-4E8C-85B7-1A64B8A32A6C}">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3">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3"/>
      <dgm:spPr/>
      <dgm:t>
        <a:bodyPr/>
        <a:lstStyle/>
        <a:p>
          <a:endParaRPr lang="en-US"/>
        </a:p>
      </dgm:t>
    </dgm:pt>
    <dgm:pt modelId="{7E8F3D55-80E5-4F13-9459-E39284D0328D}" type="pres">
      <dgm:prSet presAssocID="{03454651-1876-463C-891F-DBFB67BE2D7D}" presName="desTx" presStyleLbl="fgAcc1" presStyleIdx="0" presStyleCnt="3">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2"/>
      <dgm:spPr/>
      <dgm:t>
        <a:bodyPr/>
        <a:lstStyle/>
        <a:p>
          <a:endParaRPr lang="en-US"/>
        </a:p>
      </dgm:t>
    </dgm:pt>
    <dgm:pt modelId="{4B650DD2-5F02-4AE9-9DDB-38B6153A658F}" type="pres">
      <dgm:prSet presAssocID="{32EC2ED1-5A41-47F2-A0A5-89A6987013DA}" presName="connTx" presStyleLbl="sibTrans2D1" presStyleIdx="0" presStyleCnt="2"/>
      <dgm:spPr/>
      <dgm:t>
        <a:bodyPr/>
        <a:lstStyle/>
        <a:p>
          <a:endParaRPr lang="en-US"/>
        </a:p>
      </dgm:t>
    </dgm:pt>
    <dgm:pt modelId="{0C36FA4B-E12B-4FE2-AAC5-001C8FE1DC1A}" type="pres">
      <dgm:prSet presAssocID="{6C0BE2DE-BC83-4F4A-9D12-E45D048076E2}" presName="composite" presStyleCnt="0"/>
      <dgm:spPr/>
    </dgm:pt>
    <dgm:pt modelId="{8B431DFB-EE38-4C08-8FA5-EEEC07E00A49}" type="pres">
      <dgm:prSet presAssocID="{6C0BE2DE-BC83-4F4A-9D12-E45D048076E2}" presName="parTx" presStyleLbl="node1" presStyleIdx="0" presStyleCnt="3">
        <dgm:presLayoutVars>
          <dgm:chMax val="0"/>
          <dgm:chPref val="0"/>
          <dgm:bulletEnabled val="1"/>
        </dgm:presLayoutVars>
      </dgm:prSet>
      <dgm:spPr/>
      <dgm:t>
        <a:bodyPr/>
        <a:lstStyle/>
        <a:p>
          <a:endParaRPr lang="en-US"/>
        </a:p>
      </dgm:t>
    </dgm:pt>
    <dgm:pt modelId="{D58D2809-7C66-41EF-BFD6-851C992003A2}" type="pres">
      <dgm:prSet presAssocID="{6C0BE2DE-BC83-4F4A-9D12-E45D048076E2}" presName="parSh" presStyleLbl="node1" presStyleIdx="1" presStyleCnt="3"/>
      <dgm:spPr/>
      <dgm:t>
        <a:bodyPr/>
        <a:lstStyle/>
        <a:p>
          <a:endParaRPr lang="en-US"/>
        </a:p>
      </dgm:t>
    </dgm:pt>
    <dgm:pt modelId="{DB4907A4-462F-40A6-9FEF-3CF7633D4A62}" type="pres">
      <dgm:prSet presAssocID="{6C0BE2DE-BC83-4F4A-9D12-E45D048076E2}" presName="desTx" presStyleLbl="fgAcc1" presStyleIdx="1" presStyleCnt="3">
        <dgm:presLayoutVars>
          <dgm:bulletEnabled val="1"/>
        </dgm:presLayoutVars>
      </dgm:prSet>
      <dgm:spPr/>
      <dgm:t>
        <a:bodyPr/>
        <a:lstStyle/>
        <a:p>
          <a:endParaRPr lang="en-US"/>
        </a:p>
      </dgm:t>
    </dgm:pt>
    <dgm:pt modelId="{E664CA79-E4DB-4D38-81C8-AD7F40A8D901}" type="pres">
      <dgm:prSet presAssocID="{24B283C1-CA6A-4228-8D59-CC19D0AF15AA}" presName="sibTrans" presStyleLbl="sibTrans2D1" presStyleIdx="1" presStyleCnt="2"/>
      <dgm:spPr/>
      <dgm:t>
        <a:bodyPr/>
        <a:lstStyle/>
        <a:p>
          <a:endParaRPr lang="en-US"/>
        </a:p>
      </dgm:t>
    </dgm:pt>
    <dgm:pt modelId="{053B319F-E32F-4301-B0ED-AAEB3BDA4CA4}" type="pres">
      <dgm:prSet presAssocID="{24B283C1-CA6A-4228-8D59-CC19D0AF15AA}" presName="connTx" presStyleLbl="sibTrans2D1" presStyleIdx="1" presStyleCnt="2"/>
      <dgm:spPr/>
      <dgm:t>
        <a:bodyPr/>
        <a:lstStyle/>
        <a:p>
          <a:endParaRPr lang="en-US"/>
        </a:p>
      </dgm:t>
    </dgm:pt>
    <dgm:pt modelId="{AB38EC2E-43FE-44BB-80CD-6BBCBABF7F5F}" type="pres">
      <dgm:prSet presAssocID="{960596DD-7C7A-47B8-98AF-52DD4BEF9344}" presName="composite" presStyleCnt="0"/>
      <dgm:spPr/>
    </dgm:pt>
    <dgm:pt modelId="{E1297A9F-D2A1-42E6-AAC5-5241A7119404}" type="pres">
      <dgm:prSet presAssocID="{960596DD-7C7A-47B8-98AF-52DD4BEF9344}" presName="parTx" presStyleLbl="node1" presStyleIdx="1" presStyleCnt="3">
        <dgm:presLayoutVars>
          <dgm:chMax val="0"/>
          <dgm:chPref val="0"/>
          <dgm:bulletEnabled val="1"/>
        </dgm:presLayoutVars>
      </dgm:prSet>
      <dgm:spPr/>
      <dgm:t>
        <a:bodyPr/>
        <a:lstStyle/>
        <a:p>
          <a:endParaRPr lang="en-US"/>
        </a:p>
      </dgm:t>
    </dgm:pt>
    <dgm:pt modelId="{53B85F9C-7627-4AF9-921B-BEED13451667}" type="pres">
      <dgm:prSet presAssocID="{960596DD-7C7A-47B8-98AF-52DD4BEF9344}" presName="parSh" presStyleLbl="node1" presStyleIdx="2" presStyleCnt="3"/>
      <dgm:spPr/>
      <dgm:t>
        <a:bodyPr/>
        <a:lstStyle/>
        <a:p>
          <a:endParaRPr lang="en-US"/>
        </a:p>
      </dgm:t>
    </dgm:pt>
    <dgm:pt modelId="{78DF5B2A-5010-4ED2-94FF-7B0692DAFAB8}" type="pres">
      <dgm:prSet presAssocID="{960596DD-7C7A-47B8-98AF-52DD4BEF9344}" presName="desTx" presStyleLbl="fgAcc1" presStyleIdx="2" presStyleCnt="3">
        <dgm:presLayoutVars>
          <dgm:bulletEnabled val="1"/>
        </dgm:presLayoutVars>
      </dgm:prSet>
      <dgm:spPr/>
      <dgm:t>
        <a:bodyPr/>
        <a:lstStyle/>
        <a:p>
          <a:endParaRPr lang="en-US"/>
        </a:p>
      </dgm:t>
    </dgm:pt>
  </dgm:ptLst>
  <dgm:cxnLst>
    <dgm:cxn modelId="{BB624B78-DAB0-4E85-ADEC-93B566CD94DE}" srcId="{03454651-1876-463C-891F-DBFB67BE2D7D}" destId="{03A67F9B-EC72-478A-9658-B5E172E70161}" srcOrd="2" destOrd="0" parTransId="{B53F301D-E364-4DCC-B89D-38971331406B}" sibTransId="{4B211B2D-A85B-4B34-A460-49D7E1776843}"/>
    <dgm:cxn modelId="{3B521C1E-977B-4539-B946-A212D5BFDE21}" type="presOf" srcId="{967CF186-82FA-49DF-A09B-EE5E82736813}" destId="{78DF5B2A-5010-4ED2-94FF-7B0692DAFAB8}" srcOrd="0" destOrd="2" presId="urn:microsoft.com/office/officeart/2005/8/layout/process3"/>
    <dgm:cxn modelId="{9EA39085-D3A8-403D-9E15-437C67CB9178}" type="presOf" srcId="{24B283C1-CA6A-4228-8D59-CC19D0AF15AA}" destId="{E664CA79-E4DB-4D38-81C8-AD7F40A8D901}" srcOrd="0" destOrd="0" presId="urn:microsoft.com/office/officeart/2005/8/layout/process3"/>
    <dgm:cxn modelId="{EF4BEB5E-C33C-47EF-A313-C4907F5D7AFF}" type="presOf" srcId="{03454651-1876-463C-891F-DBFB67BE2D7D}" destId="{3A83BC6F-B725-4345-B234-B50F8B6B5DAE}" srcOrd="1" destOrd="0" presId="urn:microsoft.com/office/officeart/2005/8/layout/process3"/>
    <dgm:cxn modelId="{C9DDA192-6C84-421B-A371-DA41229CC12F}" type="presOf" srcId="{DD3BE678-5CB8-4255-9906-CDEC563CFBC3}" destId="{DB4907A4-462F-40A6-9FEF-3CF7633D4A62}" srcOrd="0" destOrd="1" presId="urn:microsoft.com/office/officeart/2005/8/layout/process3"/>
    <dgm:cxn modelId="{C05AAD77-529A-40EE-A2BA-DFE70E04D7F5}" type="presOf" srcId="{365284B8-44BE-487B-A236-9AF356412B9A}" destId="{7E8F3D55-80E5-4F13-9459-E39284D0328D}" srcOrd="0" destOrd="1" presId="urn:microsoft.com/office/officeart/2005/8/layout/process3"/>
    <dgm:cxn modelId="{024697D9-16CD-4BB1-B93D-0EA89F0981F2}" srcId="{960596DD-7C7A-47B8-98AF-52DD4BEF9344}" destId="{0A41BBB3-4568-4FF9-B433-E07884476AFB}" srcOrd="3" destOrd="0" parTransId="{BA6FA79C-8AEF-4A00-8F59-ADA484745088}" sibTransId="{E606CBD7-04CE-41B6-A830-916BEE6CB7FA}"/>
    <dgm:cxn modelId="{1F74EE35-18FD-494D-8A5E-0C002855FC5B}" type="presOf" srcId="{960596DD-7C7A-47B8-98AF-52DD4BEF9344}" destId="{E1297A9F-D2A1-42E6-AAC5-5241A7119404}" srcOrd="0" destOrd="0" presId="urn:microsoft.com/office/officeart/2005/8/layout/process3"/>
    <dgm:cxn modelId="{0FF71BDB-1F88-49FA-87DD-5071667A0400}" srcId="{6C0BE2DE-BC83-4F4A-9D12-E45D048076E2}" destId="{7851345C-727A-498C-A129-3A04D86E217F}" srcOrd="4" destOrd="0" parTransId="{302F443E-7CEF-49B7-83E2-DF03F52F8591}" sibTransId="{2B32F2A0-DB15-47F7-8AC5-D1B7C11C3BC7}"/>
    <dgm:cxn modelId="{C702E275-300B-4599-A560-5F0149EAAB97}" type="presOf" srcId="{8AB1705B-825B-4FA9-B3F7-6234B57D8B5B}" destId="{7E8F3D55-80E5-4F13-9459-E39284D0328D}" srcOrd="0" destOrd="0" presId="urn:microsoft.com/office/officeart/2005/8/layout/process3"/>
    <dgm:cxn modelId="{B1993D54-1660-42FD-BD44-EA5ED2720719}" srcId="{03454651-1876-463C-891F-DBFB67BE2D7D}" destId="{8AB1705B-825B-4FA9-B3F7-6234B57D8B5B}" srcOrd="0" destOrd="0" parTransId="{B0921289-A644-45F1-8E03-58A989394A5C}" sibTransId="{59EC8C30-26FF-4A0A-AC62-94A2D4AE1DA6}"/>
    <dgm:cxn modelId="{64CA5F21-2CDF-4F4D-BC75-DBFC06B7866E}" srcId="{960596DD-7C7A-47B8-98AF-52DD4BEF9344}" destId="{B0EB505C-3617-4E0B-8AD9-84B40D7EBDE2}" srcOrd="4" destOrd="0" parTransId="{3A490713-BB0A-4FA3-A2B7-4E44DE6F9A67}" sibTransId="{94798C9C-E923-46DA-96B5-B796CDA4D1F2}"/>
    <dgm:cxn modelId="{0A26CA9A-AD2F-4EAD-A83A-0C628BF56FE5}" srcId="{6C0BE2DE-BC83-4F4A-9D12-E45D048076E2}" destId="{7F92643C-A476-4993-AC73-CEB3E63CBDF8}" srcOrd="3" destOrd="0" parTransId="{4A06A814-697B-4267-9516-A2994AF47281}" sibTransId="{3B60F5C8-30AC-4201-AE6E-ED4CD2BCCA38}"/>
    <dgm:cxn modelId="{A01C66BB-8BAA-4C6E-8572-4CB23CF11AAE}" srcId="{72C595F7-F9FE-4C3C-B546-D393C43DA1D5}" destId="{6C0BE2DE-BC83-4F4A-9D12-E45D048076E2}" srcOrd="1" destOrd="0" parTransId="{A5833DF2-92A7-4890-AA83-CD2387BF90CB}" sibTransId="{24B283C1-CA6A-4228-8D59-CC19D0AF15AA}"/>
    <dgm:cxn modelId="{3C9D111A-8E79-46D6-A989-CF11809E0792}" type="presOf" srcId="{BD7C90F8-288E-4DA5-8C5B-6EEAD42F3236}" destId="{DB4907A4-462F-40A6-9FEF-3CF7633D4A62}" srcOrd="0" destOrd="0" presId="urn:microsoft.com/office/officeart/2005/8/layout/process3"/>
    <dgm:cxn modelId="{F7D9CD58-8412-49DC-B12A-6CBE869F8C51}" srcId="{6C0BE2DE-BC83-4F4A-9D12-E45D048076E2}" destId="{DD3BE678-5CB8-4255-9906-CDEC563CFBC3}" srcOrd="1" destOrd="0" parTransId="{776D3E75-8023-461F-AF55-B06901530A67}" sibTransId="{8FFC9242-028F-4EC6-8F6F-2C259EBA348A}"/>
    <dgm:cxn modelId="{6A26A4C9-C5A4-4B99-B4CF-6FD333EB2590}" type="presOf" srcId="{7F92643C-A476-4993-AC73-CEB3E63CBDF8}" destId="{DB4907A4-462F-40A6-9FEF-3CF7633D4A62}" srcOrd="0" destOrd="3" presId="urn:microsoft.com/office/officeart/2005/8/layout/process3"/>
    <dgm:cxn modelId="{45D99FB5-6EC0-498D-8764-3AC55651E793}" type="presOf" srcId="{0A41BBB3-4568-4FF9-B433-E07884476AFB}" destId="{78DF5B2A-5010-4ED2-94FF-7B0692DAFAB8}" srcOrd="0" destOrd="3" presId="urn:microsoft.com/office/officeart/2005/8/layout/process3"/>
    <dgm:cxn modelId="{A8196F88-61D2-4FD9-97D5-8B09C60BCD2C}" type="presOf" srcId="{32EC2ED1-5A41-47F2-A0A5-89A6987013DA}" destId="{2185D18F-377B-4641-B87A-82A7FD17C65D}" srcOrd="0" destOrd="0" presId="urn:microsoft.com/office/officeart/2005/8/layout/process3"/>
    <dgm:cxn modelId="{346FF307-7D3E-4052-AFBD-AEA2D699E215}" type="presOf" srcId="{6C0BE2DE-BC83-4F4A-9D12-E45D048076E2}" destId="{D58D2809-7C66-41EF-BFD6-851C992003A2}" srcOrd="1" destOrd="0" presId="urn:microsoft.com/office/officeart/2005/8/layout/process3"/>
    <dgm:cxn modelId="{460B4E6F-05AC-4848-A941-3CE4D252D1BE}" type="presOf" srcId="{E4BA7210-249E-4888-938B-BC1118D9CA42}" destId="{78DF5B2A-5010-4ED2-94FF-7B0692DAFAB8}" srcOrd="0" destOrd="1" presId="urn:microsoft.com/office/officeart/2005/8/layout/process3"/>
    <dgm:cxn modelId="{EDFA6550-70D4-4528-89AE-6D53E566C3FE}" type="presOf" srcId="{32EC2ED1-5A41-47F2-A0A5-89A6987013DA}" destId="{4B650DD2-5F02-4AE9-9DDB-38B6153A658F}" srcOrd="1" destOrd="0" presId="urn:microsoft.com/office/officeart/2005/8/layout/process3"/>
    <dgm:cxn modelId="{B6B0BC23-B9DE-4463-930C-D43075754136}" srcId="{6C0BE2DE-BC83-4F4A-9D12-E45D048076E2}" destId="{BD7C90F8-288E-4DA5-8C5B-6EEAD42F3236}" srcOrd="0" destOrd="0" parTransId="{A4B2C129-61D9-4E38-A56D-01F59B465A81}" sibTransId="{D175300F-AFC9-4BB0-8A3C-AD4A0D7754E0}"/>
    <dgm:cxn modelId="{31754609-AA87-471A-BAC9-F4F8F3D4DF43}" type="presOf" srcId="{BDB67B99-45C8-4715-9038-9621682F04C9}" destId="{78DF5B2A-5010-4ED2-94FF-7B0692DAFAB8}" srcOrd="0" destOrd="0" presId="urn:microsoft.com/office/officeart/2005/8/layout/process3"/>
    <dgm:cxn modelId="{7612A490-87C8-46AA-A114-738B6E02DC36}" srcId="{03454651-1876-463C-891F-DBFB67BE2D7D}" destId="{365284B8-44BE-487B-A236-9AF356412B9A}" srcOrd="1" destOrd="0" parTransId="{4F9F44DD-4BFD-4552-8201-97986A62FD7C}" sibTransId="{875036D5-9427-479C-8FD0-E84CEF963332}"/>
    <dgm:cxn modelId="{F2D7F636-275B-4E8C-85B7-1A64B8A32A6C}" srcId="{03454651-1876-463C-891F-DBFB67BE2D7D}" destId="{3677AB29-7DC0-4D74-9F07-C7786335979B}" srcOrd="3" destOrd="0" parTransId="{9D1C023B-A1A5-4213-9D4D-801D4C66783C}" sibTransId="{39A63569-3C8D-4C09-ACAE-7852AC3CAF64}"/>
    <dgm:cxn modelId="{49869D99-3DB1-4B38-BE38-E1F7A88E89B3}" type="presOf" srcId="{6C0BE2DE-BC83-4F4A-9D12-E45D048076E2}" destId="{8B431DFB-EE38-4C08-8FA5-EEEC07E00A49}" srcOrd="0" destOrd="0" presId="urn:microsoft.com/office/officeart/2005/8/layout/process3"/>
    <dgm:cxn modelId="{65B5F7CB-5535-4C23-9DB9-C8C7FE177B46}" type="presOf" srcId="{03A67F9B-EC72-478A-9658-B5E172E70161}" destId="{7E8F3D55-80E5-4F13-9459-E39284D0328D}" srcOrd="0" destOrd="2" presId="urn:microsoft.com/office/officeart/2005/8/layout/process3"/>
    <dgm:cxn modelId="{D5E86B90-0232-42FF-9B69-3D5FE25E6D56}" type="presOf" srcId="{889D19F1-F4FC-4D20-9F11-2E793563429D}" destId="{DB4907A4-462F-40A6-9FEF-3CF7633D4A62}" srcOrd="0" destOrd="2" presId="urn:microsoft.com/office/officeart/2005/8/layout/process3"/>
    <dgm:cxn modelId="{0BF76AD7-69FF-44CF-A8F2-D2B9FF1C32B8}" type="presOf" srcId="{3677AB29-7DC0-4D74-9F07-C7786335979B}" destId="{7E8F3D55-80E5-4F13-9459-E39284D0328D}" srcOrd="0" destOrd="3" presId="urn:microsoft.com/office/officeart/2005/8/layout/process3"/>
    <dgm:cxn modelId="{858ED89E-A845-409E-84C0-635C57D6B680}" type="presOf" srcId="{03454651-1876-463C-891F-DBFB67BE2D7D}" destId="{3D847FC2-380F-49AF-936C-1553F8F26F3C}" srcOrd="0" destOrd="0" presId="urn:microsoft.com/office/officeart/2005/8/layout/process3"/>
    <dgm:cxn modelId="{BE3F10DE-A553-421C-98FD-C3783D65F597}" type="presOf" srcId="{B0EB505C-3617-4E0B-8AD9-84B40D7EBDE2}" destId="{78DF5B2A-5010-4ED2-94FF-7B0692DAFAB8}" srcOrd="0" destOrd="4"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C92EE65B-CE45-4667-AE12-7F2B00DA6E2B}" type="presOf" srcId="{960596DD-7C7A-47B8-98AF-52DD4BEF9344}" destId="{53B85F9C-7627-4AF9-921B-BEED13451667}" srcOrd="1" destOrd="0" presId="urn:microsoft.com/office/officeart/2005/8/layout/process3"/>
    <dgm:cxn modelId="{2C005AF0-E564-48D8-9DC4-D7B48810DEDA}" type="presOf" srcId="{72C595F7-F9FE-4C3C-B546-D393C43DA1D5}" destId="{5FAEC180-6FA0-4E38-9D1E-990ABDB6814F}" srcOrd="0" destOrd="0" presId="urn:microsoft.com/office/officeart/2005/8/layout/process3"/>
    <dgm:cxn modelId="{E0680FF0-B67C-474C-92EE-EF12EB28CABA}" type="presOf" srcId="{24B283C1-CA6A-4228-8D59-CC19D0AF15AA}" destId="{053B319F-E32F-4301-B0ED-AAEB3BDA4CA4}" srcOrd="1" destOrd="0" presId="urn:microsoft.com/office/officeart/2005/8/layout/process3"/>
    <dgm:cxn modelId="{02D28082-C7A2-46CE-824A-70DBB9E22A12}" type="presOf" srcId="{7851345C-727A-498C-A129-3A04D86E217F}" destId="{DB4907A4-462F-40A6-9FEF-3CF7633D4A62}" srcOrd="0" destOrd="4" presId="urn:microsoft.com/office/officeart/2005/8/layout/process3"/>
    <dgm:cxn modelId="{0431B34F-685D-448A-903C-ABF0C9067642}" srcId="{960596DD-7C7A-47B8-98AF-52DD4BEF9344}" destId="{BDB67B99-45C8-4715-9038-9621682F04C9}" srcOrd="0" destOrd="0" parTransId="{7A9A7C2A-0D2C-428D-B195-BFD9FDB7091B}" sibTransId="{B5E089F4-BD5D-422F-9A3B-9D91DAF753ED}"/>
    <dgm:cxn modelId="{41CFE70C-0C19-483C-8A83-1D7BA5FF5852}" srcId="{72C595F7-F9FE-4C3C-B546-D393C43DA1D5}" destId="{960596DD-7C7A-47B8-98AF-52DD4BEF9344}" srcOrd="2" destOrd="0" parTransId="{7170E545-06EB-4CA3-9A7C-2936BD4CF34C}" sibTransId="{3449E61D-4836-4734-B25E-4CB3DD612893}"/>
    <dgm:cxn modelId="{24D39063-4CD6-4704-86F9-A2A8D931A351}" srcId="{960596DD-7C7A-47B8-98AF-52DD4BEF9344}" destId="{967CF186-82FA-49DF-A09B-EE5E82736813}" srcOrd="2" destOrd="0" parTransId="{0EC8D6C8-D628-4F78-A77F-5923F28D17D3}" sibTransId="{D68E7047-B5F9-42C9-9818-9DE76ABAC355}"/>
    <dgm:cxn modelId="{5218B251-E476-4DF3-BC4E-5C6EBFA5EC5B}" srcId="{6C0BE2DE-BC83-4F4A-9D12-E45D048076E2}" destId="{889D19F1-F4FC-4D20-9F11-2E793563429D}" srcOrd="2" destOrd="0" parTransId="{D571880B-9DB7-4797-B565-5EF78621661D}" sibTransId="{DD6BC6A2-A72B-4634-90CE-9B85929C565A}"/>
    <dgm:cxn modelId="{0D925723-0C2F-4282-9D77-12BDFA84C675}" srcId="{960596DD-7C7A-47B8-98AF-52DD4BEF9344}" destId="{E4BA7210-249E-4888-938B-BC1118D9CA42}" srcOrd="1" destOrd="0" parTransId="{E5140982-3EFA-405B-925B-38406417B49B}" sibTransId="{BC8B7F9D-5294-46BE-BD51-7C1C8EF184EA}"/>
    <dgm:cxn modelId="{0E51E9C9-4E5A-48EF-B404-D1F21B67D1D9}" type="presParOf" srcId="{5FAEC180-6FA0-4E38-9D1E-990ABDB6814F}" destId="{1ED04EDF-BDDC-4FBE-ADFE-4ECCA1ABCE5C}" srcOrd="0" destOrd="0" presId="urn:microsoft.com/office/officeart/2005/8/layout/process3"/>
    <dgm:cxn modelId="{CF6E5D9B-FE2E-472F-8027-35F2B3888ADE}" type="presParOf" srcId="{1ED04EDF-BDDC-4FBE-ADFE-4ECCA1ABCE5C}" destId="{3D847FC2-380F-49AF-936C-1553F8F26F3C}" srcOrd="0" destOrd="0" presId="urn:microsoft.com/office/officeart/2005/8/layout/process3"/>
    <dgm:cxn modelId="{80495A9F-6AF5-4506-99F6-86C03D659742}" type="presParOf" srcId="{1ED04EDF-BDDC-4FBE-ADFE-4ECCA1ABCE5C}" destId="{3A83BC6F-B725-4345-B234-B50F8B6B5DAE}" srcOrd="1" destOrd="0" presId="urn:microsoft.com/office/officeart/2005/8/layout/process3"/>
    <dgm:cxn modelId="{2F02DFFE-9EAA-429C-AA3D-170256088099}" type="presParOf" srcId="{1ED04EDF-BDDC-4FBE-ADFE-4ECCA1ABCE5C}" destId="{7E8F3D55-80E5-4F13-9459-E39284D0328D}" srcOrd="2" destOrd="0" presId="urn:microsoft.com/office/officeart/2005/8/layout/process3"/>
    <dgm:cxn modelId="{19820F0E-E7C6-4AFD-8A3F-08187CCEB4AB}" type="presParOf" srcId="{5FAEC180-6FA0-4E38-9D1E-990ABDB6814F}" destId="{2185D18F-377B-4641-B87A-82A7FD17C65D}" srcOrd="1" destOrd="0" presId="urn:microsoft.com/office/officeart/2005/8/layout/process3"/>
    <dgm:cxn modelId="{0173417C-D92C-49BF-A3AA-9A0846FA2402}" type="presParOf" srcId="{2185D18F-377B-4641-B87A-82A7FD17C65D}" destId="{4B650DD2-5F02-4AE9-9DDB-38B6153A658F}" srcOrd="0" destOrd="0" presId="urn:microsoft.com/office/officeart/2005/8/layout/process3"/>
    <dgm:cxn modelId="{B5296DE5-5CE0-4DAD-B0E4-8F8BAD0A13B7}" type="presParOf" srcId="{5FAEC180-6FA0-4E38-9D1E-990ABDB6814F}" destId="{0C36FA4B-E12B-4FE2-AAC5-001C8FE1DC1A}" srcOrd="2" destOrd="0" presId="urn:microsoft.com/office/officeart/2005/8/layout/process3"/>
    <dgm:cxn modelId="{BA2A5DAA-19C6-4F2E-8C08-0032742DF346}" type="presParOf" srcId="{0C36FA4B-E12B-4FE2-AAC5-001C8FE1DC1A}" destId="{8B431DFB-EE38-4C08-8FA5-EEEC07E00A49}" srcOrd="0" destOrd="0" presId="urn:microsoft.com/office/officeart/2005/8/layout/process3"/>
    <dgm:cxn modelId="{71D4132C-91A5-490D-A6C5-57F1AEC17393}" type="presParOf" srcId="{0C36FA4B-E12B-4FE2-AAC5-001C8FE1DC1A}" destId="{D58D2809-7C66-41EF-BFD6-851C992003A2}" srcOrd="1" destOrd="0" presId="urn:microsoft.com/office/officeart/2005/8/layout/process3"/>
    <dgm:cxn modelId="{5AB362C6-0C10-4117-957C-EBE055F558DB}" type="presParOf" srcId="{0C36FA4B-E12B-4FE2-AAC5-001C8FE1DC1A}" destId="{DB4907A4-462F-40A6-9FEF-3CF7633D4A62}" srcOrd="2" destOrd="0" presId="urn:microsoft.com/office/officeart/2005/8/layout/process3"/>
    <dgm:cxn modelId="{1B24FDA0-6619-4236-95D1-CB67752FFB86}" type="presParOf" srcId="{5FAEC180-6FA0-4E38-9D1E-990ABDB6814F}" destId="{E664CA79-E4DB-4D38-81C8-AD7F40A8D901}" srcOrd="3" destOrd="0" presId="urn:microsoft.com/office/officeart/2005/8/layout/process3"/>
    <dgm:cxn modelId="{EA7FB58B-0984-446D-9F6E-7CA8522EA050}" type="presParOf" srcId="{E664CA79-E4DB-4D38-81C8-AD7F40A8D901}" destId="{053B319F-E32F-4301-B0ED-AAEB3BDA4CA4}" srcOrd="0" destOrd="0" presId="urn:microsoft.com/office/officeart/2005/8/layout/process3"/>
    <dgm:cxn modelId="{8FE41BB2-7736-4846-A160-E2AAE7B367EB}" type="presParOf" srcId="{5FAEC180-6FA0-4E38-9D1E-990ABDB6814F}" destId="{AB38EC2E-43FE-44BB-80CD-6BBCBABF7F5F}" srcOrd="4" destOrd="0" presId="urn:microsoft.com/office/officeart/2005/8/layout/process3"/>
    <dgm:cxn modelId="{384258BB-7605-4867-AFE0-3ADC54A2E4F9}" type="presParOf" srcId="{AB38EC2E-43FE-44BB-80CD-6BBCBABF7F5F}" destId="{E1297A9F-D2A1-42E6-AAC5-5241A7119404}" srcOrd="0" destOrd="0" presId="urn:microsoft.com/office/officeart/2005/8/layout/process3"/>
    <dgm:cxn modelId="{5D6976E4-D89B-4587-892A-3222793ED695}" type="presParOf" srcId="{AB38EC2E-43FE-44BB-80CD-6BBCBABF7F5F}" destId="{53B85F9C-7627-4AF9-921B-BEED13451667}" srcOrd="1" destOrd="0" presId="urn:microsoft.com/office/officeart/2005/8/layout/process3"/>
    <dgm:cxn modelId="{6C0CF00F-6842-4536-84FD-27005D65B9BF}" type="presParOf" srcId="{AB38EC2E-43FE-44BB-80CD-6BBCBABF7F5F}" destId="{78DF5B2A-5010-4ED2-94FF-7B0692DAFAB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Risk management strategy and action plan</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8AB1705B-825B-4FA9-B3F7-6234B57D8B5B}">
      <dgm:prSet phldrT="[Text]"/>
      <dgm:spPr/>
      <dgm:t>
        <a:bodyPr/>
        <a:lstStyle/>
        <a:p>
          <a:r>
            <a:rPr lang="en-US"/>
            <a:t>Establishment of strategy for risk identification and impact assessment</a:t>
          </a:r>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6C0BE2DE-BC83-4F4A-9D12-E45D048076E2}">
      <dgm:prSet phldrT="[Text]"/>
      <dgm:spPr/>
      <dgm:t>
        <a:bodyPr/>
        <a:lstStyle/>
        <a:p>
          <a:r>
            <a:rPr lang="en-US"/>
            <a:t>Risk management and capacity building</a:t>
          </a:r>
        </a:p>
      </dgm:t>
    </dgm:pt>
    <dgm:pt modelId="{A5833DF2-92A7-4890-AA83-CD2387BF90CB}" type="parTrans" cxnId="{A01C66BB-8BAA-4C6E-8572-4CB23CF11AAE}">
      <dgm:prSet/>
      <dgm:spPr/>
      <dgm:t>
        <a:bodyPr/>
        <a:lstStyle/>
        <a:p>
          <a:endParaRPr lang="en-US"/>
        </a:p>
      </dgm:t>
    </dgm:pt>
    <dgm:pt modelId="{24B283C1-CA6A-4228-8D59-CC19D0AF15AA}" type="sibTrans" cxnId="{A01C66BB-8BAA-4C6E-8572-4CB23CF11AAE}">
      <dgm:prSet/>
      <dgm:spPr/>
      <dgm:t>
        <a:bodyPr/>
        <a:lstStyle/>
        <a:p>
          <a:endParaRPr lang="en-US"/>
        </a:p>
      </dgm:t>
    </dgm:pt>
    <dgm:pt modelId="{BD7C90F8-288E-4DA5-8C5B-6EEAD42F3236}">
      <dgm:prSet phldrT="[Text]"/>
      <dgm:spPr/>
      <dgm:t>
        <a:bodyPr/>
        <a:lstStyle/>
        <a:p>
          <a:r>
            <a:rPr lang="en-US"/>
            <a:t>Implementation of risk management initiatives</a:t>
          </a:r>
        </a:p>
      </dgm:t>
    </dgm:pt>
    <dgm:pt modelId="{A4B2C129-61D9-4E38-A56D-01F59B465A81}" type="parTrans" cxnId="{B6B0BC23-B9DE-4463-930C-D43075754136}">
      <dgm:prSet/>
      <dgm:spPr/>
      <dgm:t>
        <a:bodyPr/>
        <a:lstStyle/>
        <a:p>
          <a:endParaRPr lang="en-US"/>
        </a:p>
      </dgm:t>
    </dgm:pt>
    <dgm:pt modelId="{D175300F-AFC9-4BB0-8A3C-AD4A0D7754E0}" type="sibTrans" cxnId="{B6B0BC23-B9DE-4463-930C-D43075754136}">
      <dgm:prSet/>
      <dgm:spPr/>
      <dgm:t>
        <a:bodyPr/>
        <a:lstStyle/>
        <a:p>
          <a:endParaRPr lang="en-US"/>
        </a:p>
      </dgm:t>
    </dgm:pt>
    <dgm:pt modelId="{D62FDD2E-D0AB-430C-B841-DF041B031BAB}">
      <dgm:prSet phldrT="[Text]"/>
      <dgm:spPr/>
      <dgm:t>
        <a:bodyPr/>
        <a:lstStyle/>
        <a:p>
          <a:r>
            <a:rPr lang="en-US"/>
            <a:t>Formulation of guidelines for ranking and prioritization of risks based on assessed impacts</a:t>
          </a:r>
        </a:p>
      </dgm:t>
    </dgm:pt>
    <dgm:pt modelId="{DABD3D0E-46D4-421C-B3CA-FBAEDE97D7D5}" type="parTrans" cxnId="{F1BC7051-17DC-418D-82F4-2C6F49C8C0E2}">
      <dgm:prSet/>
      <dgm:spPr/>
      <dgm:t>
        <a:bodyPr/>
        <a:lstStyle/>
        <a:p>
          <a:endParaRPr lang="en-US"/>
        </a:p>
      </dgm:t>
    </dgm:pt>
    <dgm:pt modelId="{EC6481DD-FFCF-488B-8785-C647B6DA7E9F}" type="sibTrans" cxnId="{F1BC7051-17DC-418D-82F4-2C6F49C8C0E2}">
      <dgm:prSet/>
      <dgm:spPr/>
      <dgm:t>
        <a:bodyPr/>
        <a:lstStyle/>
        <a:p>
          <a:endParaRPr lang="en-US"/>
        </a:p>
      </dgm:t>
    </dgm:pt>
    <dgm:pt modelId="{80382247-1C20-4082-A73A-862286CBCCA7}">
      <dgm:prSet phldrT="[Text]"/>
      <dgm:spPr/>
      <dgm:t>
        <a:bodyPr/>
        <a:lstStyle/>
        <a:p>
          <a:r>
            <a:rPr lang="en-US"/>
            <a:t>Risk mitigation action plan based on ranking</a:t>
          </a:r>
        </a:p>
      </dgm:t>
    </dgm:pt>
    <dgm:pt modelId="{0CEED9DA-2EB7-42D9-9B2F-15FD6C7B863A}" type="parTrans" cxnId="{B7D96814-6439-4B44-868F-EA8E0FF3F658}">
      <dgm:prSet/>
      <dgm:spPr/>
      <dgm:t>
        <a:bodyPr/>
        <a:lstStyle/>
        <a:p>
          <a:endParaRPr lang="en-US"/>
        </a:p>
      </dgm:t>
    </dgm:pt>
    <dgm:pt modelId="{7DCF6148-222C-40D0-A294-FBEE196E3A53}" type="sibTrans" cxnId="{B7D96814-6439-4B44-868F-EA8E0FF3F658}">
      <dgm:prSet/>
      <dgm:spPr/>
      <dgm:t>
        <a:bodyPr/>
        <a:lstStyle/>
        <a:p>
          <a:endParaRPr lang="en-US"/>
        </a:p>
      </dgm:t>
    </dgm:pt>
    <dgm:pt modelId="{80580664-724A-4320-A9E6-F5C05389BB38}">
      <dgm:prSet phldrT="[Text]"/>
      <dgm:spPr/>
      <dgm:t>
        <a:bodyPr/>
        <a:lstStyle/>
        <a:p>
          <a:r>
            <a:rPr lang="en-US" dirty="0"/>
            <a:t>Framework for monitoring and reviewing the implementation of the action plan</a:t>
          </a:r>
        </a:p>
      </dgm:t>
    </dgm:pt>
    <dgm:pt modelId="{E85F5895-43EA-460D-9545-6CF8C15E9232}" type="parTrans" cxnId="{C54AC916-8D9F-4EF2-A73E-3AE46F3EA943}">
      <dgm:prSet/>
      <dgm:spPr/>
      <dgm:t>
        <a:bodyPr/>
        <a:lstStyle/>
        <a:p>
          <a:endParaRPr lang="en-US"/>
        </a:p>
      </dgm:t>
    </dgm:pt>
    <dgm:pt modelId="{3EB9FA01-55C2-4F6B-B06F-82CA9C445910}" type="sibTrans" cxnId="{C54AC916-8D9F-4EF2-A73E-3AE46F3EA943}">
      <dgm:prSet/>
      <dgm:spPr/>
      <dgm:t>
        <a:bodyPr/>
        <a:lstStyle/>
        <a:p>
          <a:endParaRPr lang="en-US"/>
        </a:p>
      </dgm:t>
    </dgm:pt>
    <dgm:pt modelId="{200A1BEC-34DB-431C-AE64-391B70F0F262}">
      <dgm:prSet phldrT="[Text]"/>
      <dgm:spPr/>
      <dgm:t>
        <a:bodyPr/>
        <a:lstStyle/>
        <a:p>
          <a:r>
            <a:rPr lang="en-US"/>
            <a:t>Stakeholder consultation and dissemination of information on risk mitigation steps</a:t>
          </a:r>
        </a:p>
      </dgm:t>
    </dgm:pt>
    <dgm:pt modelId="{730947E5-B1D8-487B-920D-967BF267021E}" type="parTrans" cxnId="{C798B0AE-A097-4775-B3C4-9144B5BDB299}">
      <dgm:prSet/>
      <dgm:spPr/>
      <dgm:t>
        <a:bodyPr/>
        <a:lstStyle/>
        <a:p>
          <a:endParaRPr lang="en-US"/>
        </a:p>
      </dgm:t>
    </dgm:pt>
    <dgm:pt modelId="{92856EF0-1414-409A-ABDF-53EA02B44A6B}" type="sibTrans" cxnId="{C798B0AE-A097-4775-B3C4-9144B5BDB299}">
      <dgm:prSet/>
      <dgm:spPr/>
      <dgm:t>
        <a:bodyPr/>
        <a:lstStyle/>
        <a:p>
          <a:endParaRPr lang="en-US"/>
        </a:p>
      </dgm:t>
    </dgm:pt>
    <dgm:pt modelId="{D3A8BDFF-2C54-4329-BBDA-3DA91705BD59}">
      <dgm:prSet phldrT="[Text]"/>
      <dgm:spPr/>
      <dgm:t>
        <a:bodyPr/>
        <a:lstStyle/>
        <a:p>
          <a:r>
            <a:rPr lang="en-US"/>
            <a:t>Capacity building on risk management</a:t>
          </a:r>
        </a:p>
      </dgm:t>
    </dgm:pt>
    <dgm:pt modelId="{67913921-A2C8-450C-98EB-F2F434946493}" type="parTrans" cxnId="{F6150107-E5C3-4A55-B7D1-21E475BA3E64}">
      <dgm:prSet/>
      <dgm:spPr/>
      <dgm:t>
        <a:bodyPr/>
        <a:lstStyle/>
        <a:p>
          <a:endParaRPr lang="en-US"/>
        </a:p>
      </dgm:t>
    </dgm:pt>
    <dgm:pt modelId="{8A1AD1CB-A90D-44DA-916B-6542DA63B971}" type="sibTrans" cxnId="{F6150107-E5C3-4A55-B7D1-21E475BA3E64}">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2">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2"/>
      <dgm:spPr/>
      <dgm:t>
        <a:bodyPr/>
        <a:lstStyle/>
        <a:p>
          <a:endParaRPr lang="en-US"/>
        </a:p>
      </dgm:t>
    </dgm:pt>
    <dgm:pt modelId="{7E8F3D55-80E5-4F13-9459-E39284D0328D}" type="pres">
      <dgm:prSet presAssocID="{03454651-1876-463C-891F-DBFB67BE2D7D}" presName="desTx" presStyleLbl="fgAcc1" presStyleIdx="0" presStyleCnt="2">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1"/>
      <dgm:spPr/>
      <dgm:t>
        <a:bodyPr/>
        <a:lstStyle/>
        <a:p>
          <a:endParaRPr lang="en-US"/>
        </a:p>
      </dgm:t>
    </dgm:pt>
    <dgm:pt modelId="{4B650DD2-5F02-4AE9-9DDB-38B6153A658F}" type="pres">
      <dgm:prSet presAssocID="{32EC2ED1-5A41-47F2-A0A5-89A6987013DA}" presName="connTx" presStyleLbl="sibTrans2D1" presStyleIdx="0" presStyleCnt="1"/>
      <dgm:spPr/>
      <dgm:t>
        <a:bodyPr/>
        <a:lstStyle/>
        <a:p>
          <a:endParaRPr lang="en-US"/>
        </a:p>
      </dgm:t>
    </dgm:pt>
    <dgm:pt modelId="{0C36FA4B-E12B-4FE2-AAC5-001C8FE1DC1A}" type="pres">
      <dgm:prSet presAssocID="{6C0BE2DE-BC83-4F4A-9D12-E45D048076E2}" presName="composite" presStyleCnt="0"/>
      <dgm:spPr/>
    </dgm:pt>
    <dgm:pt modelId="{8B431DFB-EE38-4C08-8FA5-EEEC07E00A49}" type="pres">
      <dgm:prSet presAssocID="{6C0BE2DE-BC83-4F4A-9D12-E45D048076E2}" presName="parTx" presStyleLbl="node1" presStyleIdx="0" presStyleCnt="2">
        <dgm:presLayoutVars>
          <dgm:chMax val="0"/>
          <dgm:chPref val="0"/>
          <dgm:bulletEnabled val="1"/>
        </dgm:presLayoutVars>
      </dgm:prSet>
      <dgm:spPr/>
      <dgm:t>
        <a:bodyPr/>
        <a:lstStyle/>
        <a:p>
          <a:endParaRPr lang="en-US"/>
        </a:p>
      </dgm:t>
    </dgm:pt>
    <dgm:pt modelId="{D58D2809-7C66-41EF-BFD6-851C992003A2}" type="pres">
      <dgm:prSet presAssocID="{6C0BE2DE-BC83-4F4A-9D12-E45D048076E2}" presName="parSh" presStyleLbl="node1" presStyleIdx="1" presStyleCnt="2"/>
      <dgm:spPr/>
      <dgm:t>
        <a:bodyPr/>
        <a:lstStyle/>
        <a:p>
          <a:endParaRPr lang="en-US"/>
        </a:p>
      </dgm:t>
    </dgm:pt>
    <dgm:pt modelId="{DB4907A4-462F-40A6-9FEF-3CF7633D4A62}" type="pres">
      <dgm:prSet presAssocID="{6C0BE2DE-BC83-4F4A-9D12-E45D048076E2}" presName="desTx" presStyleLbl="fgAcc1" presStyleIdx="1" presStyleCnt="2">
        <dgm:presLayoutVars>
          <dgm:bulletEnabled val="1"/>
        </dgm:presLayoutVars>
      </dgm:prSet>
      <dgm:spPr/>
      <dgm:t>
        <a:bodyPr/>
        <a:lstStyle/>
        <a:p>
          <a:endParaRPr lang="en-US"/>
        </a:p>
      </dgm:t>
    </dgm:pt>
  </dgm:ptLst>
  <dgm:cxnLst>
    <dgm:cxn modelId="{30584B35-0285-4D89-B9E9-2ADDF88AB9E7}" type="presOf" srcId="{80382247-1C20-4082-A73A-862286CBCCA7}" destId="{7E8F3D55-80E5-4F13-9459-E39284D0328D}" srcOrd="0" destOrd="2" presId="urn:microsoft.com/office/officeart/2005/8/layout/process3"/>
    <dgm:cxn modelId="{09BCDCF0-1073-496C-96D7-7E996F8AD8E1}" type="presOf" srcId="{32EC2ED1-5A41-47F2-A0A5-89A6987013DA}" destId="{4B650DD2-5F02-4AE9-9DDB-38B6153A658F}" srcOrd="1" destOrd="0" presId="urn:microsoft.com/office/officeart/2005/8/layout/process3"/>
    <dgm:cxn modelId="{B2F95863-97BC-4344-979F-F35C1B0334BF}" type="presOf" srcId="{8AB1705B-825B-4FA9-B3F7-6234B57D8B5B}" destId="{7E8F3D55-80E5-4F13-9459-E39284D0328D}" srcOrd="0" destOrd="0" presId="urn:microsoft.com/office/officeart/2005/8/layout/process3"/>
    <dgm:cxn modelId="{BE282979-4F3F-416F-8E0B-0CEBE5BE7C91}" type="presOf" srcId="{D3A8BDFF-2C54-4329-BBDA-3DA91705BD59}" destId="{7E8F3D55-80E5-4F13-9459-E39284D0328D}" srcOrd="0" destOrd="4" presId="urn:microsoft.com/office/officeart/2005/8/layout/process3"/>
    <dgm:cxn modelId="{76AEBBF7-2661-4891-9DB1-D8CA51B177DC}" type="presOf" srcId="{03454651-1876-463C-891F-DBFB67BE2D7D}" destId="{3A83BC6F-B725-4345-B234-B50F8B6B5DAE}" srcOrd="1" destOrd="0" presId="urn:microsoft.com/office/officeart/2005/8/layout/process3"/>
    <dgm:cxn modelId="{453CEB6A-F61A-4C89-9592-9EB5104FC954}" srcId="{72C595F7-F9FE-4C3C-B546-D393C43DA1D5}" destId="{03454651-1876-463C-891F-DBFB67BE2D7D}" srcOrd="0" destOrd="0" parTransId="{34ADBB6D-89A4-4913-83ED-5D871B73AD66}" sibTransId="{32EC2ED1-5A41-47F2-A0A5-89A6987013DA}"/>
    <dgm:cxn modelId="{F6150107-E5C3-4A55-B7D1-21E475BA3E64}" srcId="{03454651-1876-463C-891F-DBFB67BE2D7D}" destId="{D3A8BDFF-2C54-4329-BBDA-3DA91705BD59}" srcOrd="4" destOrd="0" parTransId="{67913921-A2C8-450C-98EB-F2F434946493}" sibTransId="{8A1AD1CB-A90D-44DA-916B-6542DA63B971}"/>
    <dgm:cxn modelId="{9E7B0469-14D6-4D52-87B2-5B9B1A206C16}" type="presOf" srcId="{6C0BE2DE-BC83-4F4A-9D12-E45D048076E2}" destId="{D58D2809-7C66-41EF-BFD6-851C992003A2}" srcOrd="1" destOrd="0" presId="urn:microsoft.com/office/officeart/2005/8/layout/process3"/>
    <dgm:cxn modelId="{940A4AE6-5176-4206-81F0-A6A72F067651}" type="presOf" srcId="{6C0BE2DE-BC83-4F4A-9D12-E45D048076E2}" destId="{8B431DFB-EE38-4C08-8FA5-EEEC07E00A49}" srcOrd="0" destOrd="0" presId="urn:microsoft.com/office/officeart/2005/8/layout/process3"/>
    <dgm:cxn modelId="{F1BC7051-17DC-418D-82F4-2C6F49C8C0E2}" srcId="{03454651-1876-463C-891F-DBFB67BE2D7D}" destId="{D62FDD2E-D0AB-430C-B841-DF041B031BAB}" srcOrd="1" destOrd="0" parTransId="{DABD3D0E-46D4-421C-B3CA-FBAEDE97D7D5}" sibTransId="{EC6481DD-FFCF-488B-8785-C647B6DA7E9F}"/>
    <dgm:cxn modelId="{6FF71021-8CBF-4E0A-9649-7C14F1914F6B}" type="presOf" srcId="{D62FDD2E-D0AB-430C-B841-DF041B031BAB}" destId="{7E8F3D55-80E5-4F13-9459-E39284D0328D}" srcOrd="0" destOrd="1" presId="urn:microsoft.com/office/officeart/2005/8/layout/process3"/>
    <dgm:cxn modelId="{C54AC916-8D9F-4EF2-A73E-3AE46F3EA943}" srcId="{03454651-1876-463C-891F-DBFB67BE2D7D}" destId="{80580664-724A-4320-A9E6-F5C05389BB38}" srcOrd="3" destOrd="0" parTransId="{E85F5895-43EA-460D-9545-6CF8C15E9232}" sibTransId="{3EB9FA01-55C2-4F6B-B06F-82CA9C445910}"/>
    <dgm:cxn modelId="{B1993D54-1660-42FD-BD44-EA5ED2720719}" srcId="{03454651-1876-463C-891F-DBFB67BE2D7D}" destId="{8AB1705B-825B-4FA9-B3F7-6234B57D8B5B}" srcOrd="0" destOrd="0" parTransId="{B0921289-A644-45F1-8E03-58A989394A5C}" sibTransId="{59EC8C30-26FF-4A0A-AC62-94A2D4AE1DA6}"/>
    <dgm:cxn modelId="{A01C66BB-8BAA-4C6E-8572-4CB23CF11AAE}" srcId="{72C595F7-F9FE-4C3C-B546-D393C43DA1D5}" destId="{6C0BE2DE-BC83-4F4A-9D12-E45D048076E2}" srcOrd="1" destOrd="0" parTransId="{A5833DF2-92A7-4890-AA83-CD2387BF90CB}" sibTransId="{24B283C1-CA6A-4228-8D59-CC19D0AF15AA}"/>
    <dgm:cxn modelId="{B6B0BC23-B9DE-4463-930C-D43075754136}" srcId="{6C0BE2DE-BC83-4F4A-9D12-E45D048076E2}" destId="{BD7C90F8-288E-4DA5-8C5B-6EEAD42F3236}" srcOrd="0" destOrd="0" parTransId="{A4B2C129-61D9-4E38-A56D-01F59B465A81}" sibTransId="{D175300F-AFC9-4BB0-8A3C-AD4A0D7754E0}"/>
    <dgm:cxn modelId="{0CCE824C-114E-481E-96A6-6AF6E8C2D7A2}" type="presOf" srcId="{BD7C90F8-288E-4DA5-8C5B-6EEAD42F3236}" destId="{DB4907A4-462F-40A6-9FEF-3CF7633D4A62}" srcOrd="0" destOrd="0" presId="urn:microsoft.com/office/officeart/2005/8/layout/process3"/>
    <dgm:cxn modelId="{27ABDD8F-D629-4CCB-80EB-DE60044A0987}" type="presOf" srcId="{72C595F7-F9FE-4C3C-B546-D393C43DA1D5}" destId="{5FAEC180-6FA0-4E38-9D1E-990ABDB6814F}" srcOrd="0" destOrd="0" presId="urn:microsoft.com/office/officeart/2005/8/layout/process3"/>
    <dgm:cxn modelId="{4A54EAF0-8A45-44A5-9FCB-93CB275A0626}" type="presOf" srcId="{32EC2ED1-5A41-47F2-A0A5-89A6987013DA}" destId="{2185D18F-377B-4641-B87A-82A7FD17C65D}" srcOrd="0" destOrd="0" presId="urn:microsoft.com/office/officeart/2005/8/layout/process3"/>
    <dgm:cxn modelId="{B7D96814-6439-4B44-868F-EA8E0FF3F658}" srcId="{03454651-1876-463C-891F-DBFB67BE2D7D}" destId="{80382247-1C20-4082-A73A-862286CBCCA7}" srcOrd="2" destOrd="0" parTransId="{0CEED9DA-2EB7-42D9-9B2F-15FD6C7B863A}" sibTransId="{7DCF6148-222C-40D0-A294-FBEE196E3A53}"/>
    <dgm:cxn modelId="{93F81504-DFAE-410F-8B89-EE3889A6F112}" type="presOf" srcId="{03454651-1876-463C-891F-DBFB67BE2D7D}" destId="{3D847FC2-380F-49AF-936C-1553F8F26F3C}" srcOrd="0" destOrd="0" presId="urn:microsoft.com/office/officeart/2005/8/layout/process3"/>
    <dgm:cxn modelId="{9064BD88-097C-4C54-A623-38A12B8FEEE7}" type="presOf" srcId="{80580664-724A-4320-A9E6-F5C05389BB38}" destId="{7E8F3D55-80E5-4F13-9459-E39284D0328D}" srcOrd="0" destOrd="3" presId="urn:microsoft.com/office/officeart/2005/8/layout/process3"/>
    <dgm:cxn modelId="{C798B0AE-A097-4775-B3C4-9144B5BDB299}" srcId="{6C0BE2DE-BC83-4F4A-9D12-E45D048076E2}" destId="{200A1BEC-34DB-431C-AE64-391B70F0F262}" srcOrd="1" destOrd="0" parTransId="{730947E5-B1D8-487B-920D-967BF267021E}" sibTransId="{92856EF0-1414-409A-ABDF-53EA02B44A6B}"/>
    <dgm:cxn modelId="{B02307A3-0037-43BB-9B94-9107721598A5}" type="presOf" srcId="{200A1BEC-34DB-431C-AE64-391B70F0F262}" destId="{DB4907A4-462F-40A6-9FEF-3CF7633D4A62}" srcOrd="0" destOrd="1" presId="urn:microsoft.com/office/officeart/2005/8/layout/process3"/>
    <dgm:cxn modelId="{A064EDAA-A08B-4C7D-83AF-45B38BFFC8CC}" type="presParOf" srcId="{5FAEC180-6FA0-4E38-9D1E-990ABDB6814F}" destId="{1ED04EDF-BDDC-4FBE-ADFE-4ECCA1ABCE5C}" srcOrd="0" destOrd="0" presId="urn:microsoft.com/office/officeart/2005/8/layout/process3"/>
    <dgm:cxn modelId="{EA7A7B80-E623-46FA-BF4B-C99B8D9D8F93}" type="presParOf" srcId="{1ED04EDF-BDDC-4FBE-ADFE-4ECCA1ABCE5C}" destId="{3D847FC2-380F-49AF-936C-1553F8F26F3C}" srcOrd="0" destOrd="0" presId="urn:microsoft.com/office/officeart/2005/8/layout/process3"/>
    <dgm:cxn modelId="{18530B06-B36A-46EF-81B5-1EF30A39A022}" type="presParOf" srcId="{1ED04EDF-BDDC-4FBE-ADFE-4ECCA1ABCE5C}" destId="{3A83BC6F-B725-4345-B234-B50F8B6B5DAE}" srcOrd="1" destOrd="0" presId="urn:microsoft.com/office/officeart/2005/8/layout/process3"/>
    <dgm:cxn modelId="{E03C664D-FD1E-4005-B8BB-8C599A613E7E}" type="presParOf" srcId="{1ED04EDF-BDDC-4FBE-ADFE-4ECCA1ABCE5C}" destId="{7E8F3D55-80E5-4F13-9459-E39284D0328D}" srcOrd="2" destOrd="0" presId="urn:microsoft.com/office/officeart/2005/8/layout/process3"/>
    <dgm:cxn modelId="{5985E87D-CC1E-40B3-8AA5-E761DE1BE4AB}" type="presParOf" srcId="{5FAEC180-6FA0-4E38-9D1E-990ABDB6814F}" destId="{2185D18F-377B-4641-B87A-82A7FD17C65D}" srcOrd="1" destOrd="0" presId="urn:microsoft.com/office/officeart/2005/8/layout/process3"/>
    <dgm:cxn modelId="{96FCA92D-E7D7-4B76-B4B9-9A4BF044C56D}" type="presParOf" srcId="{2185D18F-377B-4641-B87A-82A7FD17C65D}" destId="{4B650DD2-5F02-4AE9-9DDB-38B6153A658F}" srcOrd="0" destOrd="0" presId="urn:microsoft.com/office/officeart/2005/8/layout/process3"/>
    <dgm:cxn modelId="{67D9F411-3C40-4970-8CF8-F7393D1F8C58}" type="presParOf" srcId="{5FAEC180-6FA0-4E38-9D1E-990ABDB6814F}" destId="{0C36FA4B-E12B-4FE2-AAC5-001C8FE1DC1A}" srcOrd="2" destOrd="0" presId="urn:microsoft.com/office/officeart/2005/8/layout/process3"/>
    <dgm:cxn modelId="{837EAAC2-F12D-4931-BF8C-C853DA481A6C}" type="presParOf" srcId="{0C36FA4B-E12B-4FE2-AAC5-001C8FE1DC1A}" destId="{8B431DFB-EE38-4C08-8FA5-EEEC07E00A49}" srcOrd="0" destOrd="0" presId="urn:microsoft.com/office/officeart/2005/8/layout/process3"/>
    <dgm:cxn modelId="{9DF27C96-3EFE-48BE-AFAB-CF917E54FB5A}" type="presParOf" srcId="{0C36FA4B-E12B-4FE2-AAC5-001C8FE1DC1A}" destId="{D58D2809-7C66-41EF-BFD6-851C992003A2}" srcOrd="1" destOrd="0" presId="urn:microsoft.com/office/officeart/2005/8/layout/process3"/>
    <dgm:cxn modelId="{000A6A22-EC3B-46D7-9AD7-C9B331EB5A5E}" type="presParOf" srcId="{0C36FA4B-E12B-4FE2-AAC5-001C8FE1DC1A}" destId="{DB4907A4-462F-40A6-9FEF-3CF7633D4A62}"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72C595F7-F9FE-4C3C-B546-D393C43DA1D5}" type="doc">
      <dgm:prSet loTypeId="urn:microsoft.com/office/officeart/2005/8/layout/process3" loCatId="process" qsTypeId="urn:microsoft.com/office/officeart/2005/8/quickstyle/simple1" qsCatId="simple" csTypeId="urn:microsoft.com/office/officeart/2005/8/colors/accent0_2" csCatId="mainScheme" phldr="1"/>
      <dgm:spPr/>
      <dgm:t>
        <a:bodyPr/>
        <a:lstStyle/>
        <a:p>
          <a:endParaRPr lang="en-US"/>
        </a:p>
      </dgm:t>
    </dgm:pt>
    <dgm:pt modelId="{03454651-1876-463C-891F-DBFB67BE2D7D}">
      <dgm:prSet phldrT="[Text]"/>
      <dgm:spPr/>
      <dgm:t>
        <a:bodyPr/>
        <a:lstStyle/>
        <a:p>
          <a:r>
            <a:rPr lang="en-US"/>
            <a:t>Design of communication strategy</a:t>
          </a:r>
        </a:p>
      </dgm:t>
    </dgm:pt>
    <dgm:pt modelId="{34ADBB6D-89A4-4913-83ED-5D871B73AD66}" type="parTrans" cxnId="{453CEB6A-F61A-4C89-9592-9EB5104FC954}">
      <dgm:prSet/>
      <dgm:spPr/>
      <dgm:t>
        <a:bodyPr/>
        <a:lstStyle/>
        <a:p>
          <a:endParaRPr lang="en-US"/>
        </a:p>
      </dgm:t>
    </dgm:pt>
    <dgm:pt modelId="{32EC2ED1-5A41-47F2-A0A5-89A6987013DA}" type="sibTrans" cxnId="{453CEB6A-F61A-4C89-9592-9EB5104FC954}">
      <dgm:prSet/>
      <dgm:spPr/>
      <dgm:t>
        <a:bodyPr/>
        <a:lstStyle/>
        <a:p>
          <a:endParaRPr lang="en-US"/>
        </a:p>
      </dgm:t>
    </dgm:pt>
    <dgm:pt modelId="{8AB1705B-825B-4FA9-B3F7-6234B57D8B5B}">
      <dgm:prSet phldrT="[Text]"/>
      <dgm:spPr/>
      <dgm:t>
        <a:bodyPr/>
        <a:lstStyle/>
        <a:p>
          <a:r>
            <a:rPr lang="en-IN"/>
            <a:t>Establish Goals and Objectives </a:t>
          </a:r>
          <a:endParaRPr lang="en-US"/>
        </a:p>
      </dgm:t>
    </dgm:pt>
    <dgm:pt modelId="{B0921289-A644-45F1-8E03-58A989394A5C}" type="parTrans" cxnId="{B1993D54-1660-42FD-BD44-EA5ED2720719}">
      <dgm:prSet/>
      <dgm:spPr/>
      <dgm:t>
        <a:bodyPr/>
        <a:lstStyle/>
        <a:p>
          <a:endParaRPr lang="en-US"/>
        </a:p>
      </dgm:t>
    </dgm:pt>
    <dgm:pt modelId="{59EC8C30-26FF-4A0A-AC62-94A2D4AE1DA6}" type="sibTrans" cxnId="{B1993D54-1660-42FD-BD44-EA5ED2720719}">
      <dgm:prSet/>
      <dgm:spPr/>
      <dgm:t>
        <a:bodyPr/>
        <a:lstStyle/>
        <a:p>
          <a:endParaRPr lang="en-US"/>
        </a:p>
      </dgm:t>
    </dgm:pt>
    <dgm:pt modelId="{6C0BE2DE-BC83-4F4A-9D12-E45D048076E2}">
      <dgm:prSet phldrT="[Text]"/>
      <dgm:spPr/>
      <dgm:t>
        <a:bodyPr/>
        <a:lstStyle/>
        <a:p>
          <a:r>
            <a:rPr lang="en-US"/>
            <a:t>Strategy on finalizing content and form of communication</a:t>
          </a:r>
        </a:p>
      </dgm:t>
    </dgm:pt>
    <dgm:pt modelId="{A5833DF2-92A7-4890-AA83-CD2387BF90CB}" type="parTrans" cxnId="{A01C66BB-8BAA-4C6E-8572-4CB23CF11AAE}">
      <dgm:prSet/>
      <dgm:spPr/>
      <dgm:t>
        <a:bodyPr/>
        <a:lstStyle/>
        <a:p>
          <a:endParaRPr lang="en-US"/>
        </a:p>
      </dgm:t>
    </dgm:pt>
    <dgm:pt modelId="{24B283C1-CA6A-4228-8D59-CC19D0AF15AA}" type="sibTrans" cxnId="{A01C66BB-8BAA-4C6E-8572-4CB23CF11AAE}">
      <dgm:prSet/>
      <dgm:spPr/>
      <dgm:t>
        <a:bodyPr/>
        <a:lstStyle/>
        <a:p>
          <a:endParaRPr lang="en-US"/>
        </a:p>
      </dgm:t>
    </dgm:pt>
    <dgm:pt modelId="{BD7C90F8-288E-4DA5-8C5B-6EEAD42F3236}">
      <dgm:prSet phldrT="[Text]"/>
      <dgm:spPr/>
      <dgm:t>
        <a:bodyPr/>
        <a:lstStyle/>
        <a:p>
          <a:r>
            <a:rPr lang="en-IN"/>
            <a:t>Design Content and identify key messages</a:t>
          </a:r>
          <a:endParaRPr lang="en-US"/>
        </a:p>
      </dgm:t>
    </dgm:pt>
    <dgm:pt modelId="{A4B2C129-61D9-4E38-A56D-01F59B465A81}" type="parTrans" cxnId="{B6B0BC23-B9DE-4463-930C-D43075754136}">
      <dgm:prSet/>
      <dgm:spPr/>
      <dgm:t>
        <a:bodyPr/>
        <a:lstStyle/>
        <a:p>
          <a:endParaRPr lang="en-US"/>
        </a:p>
      </dgm:t>
    </dgm:pt>
    <dgm:pt modelId="{D175300F-AFC9-4BB0-8A3C-AD4A0D7754E0}" type="sibTrans" cxnId="{B6B0BC23-B9DE-4463-930C-D43075754136}">
      <dgm:prSet/>
      <dgm:spPr/>
      <dgm:t>
        <a:bodyPr/>
        <a:lstStyle/>
        <a:p>
          <a:endParaRPr lang="en-US"/>
        </a:p>
      </dgm:t>
    </dgm:pt>
    <dgm:pt modelId="{0EFCF420-EE4E-491F-8910-AC8774BE8923}">
      <dgm:prSet/>
      <dgm:spPr/>
      <dgm:t>
        <a:bodyPr/>
        <a:lstStyle/>
        <a:p>
          <a:r>
            <a:rPr lang="en-IN"/>
            <a:t>Map/Define target audience /groups</a:t>
          </a:r>
        </a:p>
      </dgm:t>
    </dgm:pt>
    <dgm:pt modelId="{CA834226-BBAF-4B94-817C-013EAE6D3476}" type="parTrans" cxnId="{5C242FA0-054C-490A-896D-BE9FB6B9217E}">
      <dgm:prSet/>
      <dgm:spPr/>
      <dgm:t>
        <a:bodyPr/>
        <a:lstStyle/>
        <a:p>
          <a:endParaRPr lang="en-US"/>
        </a:p>
      </dgm:t>
    </dgm:pt>
    <dgm:pt modelId="{1C1AE04F-5FFD-48E5-84FD-213DDBD969DE}" type="sibTrans" cxnId="{5C242FA0-054C-490A-896D-BE9FB6B9217E}">
      <dgm:prSet/>
      <dgm:spPr/>
      <dgm:t>
        <a:bodyPr/>
        <a:lstStyle/>
        <a:p>
          <a:endParaRPr lang="en-US"/>
        </a:p>
      </dgm:t>
    </dgm:pt>
    <dgm:pt modelId="{F54D960D-3E8F-4023-AB3D-3DEDCDEA013F}">
      <dgm:prSet/>
      <dgm:spPr/>
      <dgm:t>
        <a:bodyPr/>
        <a:lstStyle/>
        <a:p>
          <a:r>
            <a:rPr lang="en-IN"/>
            <a:t>Finalize Choice of Media/communications channel</a:t>
          </a:r>
        </a:p>
      </dgm:t>
    </dgm:pt>
    <dgm:pt modelId="{557FC2B1-9CFC-4139-AE96-DF7B84F81520}" type="parTrans" cxnId="{4C8956A5-DAFC-4CDF-BBBE-0F44C8EDD419}">
      <dgm:prSet/>
      <dgm:spPr/>
      <dgm:t>
        <a:bodyPr/>
        <a:lstStyle/>
        <a:p>
          <a:endParaRPr lang="en-US"/>
        </a:p>
      </dgm:t>
    </dgm:pt>
    <dgm:pt modelId="{968F27DA-5EDF-4A81-88C3-E08017E4736B}" type="sibTrans" cxnId="{4C8956A5-DAFC-4CDF-BBBE-0F44C8EDD419}">
      <dgm:prSet/>
      <dgm:spPr/>
      <dgm:t>
        <a:bodyPr/>
        <a:lstStyle/>
        <a:p>
          <a:endParaRPr lang="en-US"/>
        </a:p>
      </dgm:t>
    </dgm:pt>
    <dgm:pt modelId="{E381732B-C96F-4DB5-B262-E4D4DBFFCA93}">
      <dgm:prSet/>
      <dgm:spPr/>
      <dgm:t>
        <a:bodyPr/>
        <a:lstStyle/>
        <a:p>
          <a:r>
            <a:rPr lang="en-IN"/>
            <a:t>Implement media roll out</a:t>
          </a:r>
        </a:p>
      </dgm:t>
    </dgm:pt>
    <dgm:pt modelId="{61A15529-EB12-44CA-9721-C659434A4B21}" type="parTrans" cxnId="{7B0DFA85-4E66-4ED6-83A1-5F43384748CA}">
      <dgm:prSet/>
      <dgm:spPr/>
      <dgm:t>
        <a:bodyPr/>
        <a:lstStyle/>
        <a:p>
          <a:endParaRPr lang="en-US"/>
        </a:p>
      </dgm:t>
    </dgm:pt>
    <dgm:pt modelId="{EC133ACA-3BAE-4266-865A-0C6276B61CCD}" type="sibTrans" cxnId="{7B0DFA85-4E66-4ED6-83A1-5F43384748CA}">
      <dgm:prSet/>
      <dgm:spPr/>
      <dgm:t>
        <a:bodyPr/>
        <a:lstStyle/>
        <a:p>
          <a:endParaRPr lang="en-US"/>
        </a:p>
      </dgm:t>
    </dgm:pt>
    <dgm:pt modelId="{CE2535A5-2CFE-4028-92FB-42A447CA00BD}">
      <dgm:prSet/>
      <dgm:spPr/>
      <dgm:t>
        <a:bodyPr/>
        <a:lstStyle/>
        <a:p>
          <a:r>
            <a:rPr lang="en-IN"/>
            <a:t>Manage and Monitor media roll out</a:t>
          </a:r>
        </a:p>
      </dgm:t>
    </dgm:pt>
    <dgm:pt modelId="{B56F3D1D-8C11-4013-813F-DB153D6D72D0}" type="parTrans" cxnId="{D8B0821E-D48B-4819-AE2B-D947D14AC108}">
      <dgm:prSet/>
      <dgm:spPr/>
      <dgm:t>
        <a:bodyPr/>
        <a:lstStyle/>
        <a:p>
          <a:endParaRPr lang="en-US"/>
        </a:p>
      </dgm:t>
    </dgm:pt>
    <dgm:pt modelId="{8D6CB115-0759-49F5-9880-5537B693CE7B}" type="sibTrans" cxnId="{D8B0821E-D48B-4819-AE2B-D947D14AC108}">
      <dgm:prSet/>
      <dgm:spPr/>
      <dgm:t>
        <a:bodyPr/>
        <a:lstStyle/>
        <a:p>
          <a:endParaRPr lang="en-US"/>
        </a:p>
      </dgm:t>
    </dgm:pt>
    <dgm:pt modelId="{5816BB4E-E41E-4DE7-BAFA-87A0BD7151DD}">
      <dgm:prSet/>
      <dgm:spPr/>
      <dgm:t>
        <a:bodyPr/>
        <a:lstStyle/>
        <a:p>
          <a:r>
            <a:rPr lang="en-IN"/>
            <a:t>Capacity building on communication strategy and implementation</a:t>
          </a:r>
        </a:p>
      </dgm:t>
    </dgm:pt>
    <dgm:pt modelId="{F779E293-D967-4639-A079-F701D9C33620}" type="parTrans" cxnId="{CA94889E-E9A9-4C4E-A95F-BFFC58242C16}">
      <dgm:prSet/>
      <dgm:spPr/>
      <dgm:t>
        <a:bodyPr/>
        <a:lstStyle/>
        <a:p>
          <a:endParaRPr lang="en-US"/>
        </a:p>
      </dgm:t>
    </dgm:pt>
    <dgm:pt modelId="{63DF5A00-C8CC-4A57-A523-C23A9313A472}" type="sibTrans" cxnId="{CA94889E-E9A9-4C4E-A95F-BFFC58242C16}">
      <dgm:prSet/>
      <dgm:spPr/>
      <dgm:t>
        <a:bodyPr/>
        <a:lstStyle/>
        <a:p>
          <a:endParaRPr lang="en-US"/>
        </a:p>
      </dgm:t>
    </dgm:pt>
    <dgm:pt modelId="{AD560553-6FEC-47DE-933B-C265E4AAA2B0}">
      <dgm:prSet/>
      <dgm:spPr/>
      <dgm:t>
        <a:bodyPr/>
        <a:lstStyle/>
        <a:p>
          <a:r>
            <a:rPr lang="en-IN" dirty="0"/>
            <a:t>Formulation of communication strategy and action plan</a:t>
          </a:r>
        </a:p>
      </dgm:t>
    </dgm:pt>
    <dgm:pt modelId="{9F13647C-D1E0-4A1E-B886-7960D9E03B60}" type="parTrans" cxnId="{6141486E-DEF8-4A6C-AFCF-BC5652D21F50}">
      <dgm:prSet/>
      <dgm:spPr/>
      <dgm:t>
        <a:bodyPr/>
        <a:lstStyle/>
        <a:p>
          <a:endParaRPr lang="en-US"/>
        </a:p>
      </dgm:t>
    </dgm:pt>
    <dgm:pt modelId="{AFE5888D-C33C-4049-A15C-A24398DDE794}" type="sibTrans" cxnId="{6141486E-DEF8-4A6C-AFCF-BC5652D21F50}">
      <dgm:prSet/>
      <dgm:spPr/>
      <dgm:t>
        <a:bodyPr/>
        <a:lstStyle/>
        <a:p>
          <a:endParaRPr lang="en-US"/>
        </a:p>
      </dgm:t>
    </dgm:pt>
    <dgm:pt modelId="{5FAEC180-6FA0-4E38-9D1E-990ABDB6814F}" type="pres">
      <dgm:prSet presAssocID="{72C595F7-F9FE-4C3C-B546-D393C43DA1D5}" presName="linearFlow" presStyleCnt="0">
        <dgm:presLayoutVars>
          <dgm:dir/>
          <dgm:animLvl val="lvl"/>
          <dgm:resizeHandles val="exact"/>
        </dgm:presLayoutVars>
      </dgm:prSet>
      <dgm:spPr/>
      <dgm:t>
        <a:bodyPr/>
        <a:lstStyle/>
        <a:p>
          <a:endParaRPr lang="en-US"/>
        </a:p>
      </dgm:t>
    </dgm:pt>
    <dgm:pt modelId="{1ED04EDF-BDDC-4FBE-ADFE-4ECCA1ABCE5C}" type="pres">
      <dgm:prSet presAssocID="{03454651-1876-463C-891F-DBFB67BE2D7D}" presName="composite" presStyleCnt="0"/>
      <dgm:spPr/>
    </dgm:pt>
    <dgm:pt modelId="{3D847FC2-380F-49AF-936C-1553F8F26F3C}" type="pres">
      <dgm:prSet presAssocID="{03454651-1876-463C-891F-DBFB67BE2D7D}" presName="parTx" presStyleLbl="node1" presStyleIdx="0" presStyleCnt="2">
        <dgm:presLayoutVars>
          <dgm:chMax val="0"/>
          <dgm:chPref val="0"/>
          <dgm:bulletEnabled val="1"/>
        </dgm:presLayoutVars>
      </dgm:prSet>
      <dgm:spPr/>
      <dgm:t>
        <a:bodyPr/>
        <a:lstStyle/>
        <a:p>
          <a:endParaRPr lang="en-US"/>
        </a:p>
      </dgm:t>
    </dgm:pt>
    <dgm:pt modelId="{3A83BC6F-B725-4345-B234-B50F8B6B5DAE}" type="pres">
      <dgm:prSet presAssocID="{03454651-1876-463C-891F-DBFB67BE2D7D}" presName="parSh" presStyleLbl="node1" presStyleIdx="0" presStyleCnt="2"/>
      <dgm:spPr/>
      <dgm:t>
        <a:bodyPr/>
        <a:lstStyle/>
        <a:p>
          <a:endParaRPr lang="en-US"/>
        </a:p>
      </dgm:t>
    </dgm:pt>
    <dgm:pt modelId="{7E8F3D55-80E5-4F13-9459-E39284D0328D}" type="pres">
      <dgm:prSet presAssocID="{03454651-1876-463C-891F-DBFB67BE2D7D}" presName="desTx" presStyleLbl="fgAcc1" presStyleIdx="0" presStyleCnt="2">
        <dgm:presLayoutVars>
          <dgm:bulletEnabled val="1"/>
        </dgm:presLayoutVars>
      </dgm:prSet>
      <dgm:spPr/>
      <dgm:t>
        <a:bodyPr/>
        <a:lstStyle/>
        <a:p>
          <a:endParaRPr lang="en-US"/>
        </a:p>
      </dgm:t>
    </dgm:pt>
    <dgm:pt modelId="{2185D18F-377B-4641-B87A-82A7FD17C65D}" type="pres">
      <dgm:prSet presAssocID="{32EC2ED1-5A41-47F2-A0A5-89A6987013DA}" presName="sibTrans" presStyleLbl="sibTrans2D1" presStyleIdx="0" presStyleCnt="1"/>
      <dgm:spPr/>
      <dgm:t>
        <a:bodyPr/>
        <a:lstStyle/>
        <a:p>
          <a:endParaRPr lang="en-US"/>
        </a:p>
      </dgm:t>
    </dgm:pt>
    <dgm:pt modelId="{4B650DD2-5F02-4AE9-9DDB-38B6153A658F}" type="pres">
      <dgm:prSet presAssocID="{32EC2ED1-5A41-47F2-A0A5-89A6987013DA}" presName="connTx" presStyleLbl="sibTrans2D1" presStyleIdx="0" presStyleCnt="1"/>
      <dgm:spPr/>
      <dgm:t>
        <a:bodyPr/>
        <a:lstStyle/>
        <a:p>
          <a:endParaRPr lang="en-US"/>
        </a:p>
      </dgm:t>
    </dgm:pt>
    <dgm:pt modelId="{0C36FA4B-E12B-4FE2-AAC5-001C8FE1DC1A}" type="pres">
      <dgm:prSet presAssocID="{6C0BE2DE-BC83-4F4A-9D12-E45D048076E2}" presName="composite" presStyleCnt="0"/>
      <dgm:spPr/>
    </dgm:pt>
    <dgm:pt modelId="{8B431DFB-EE38-4C08-8FA5-EEEC07E00A49}" type="pres">
      <dgm:prSet presAssocID="{6C0BE2DE-BC83-4F4A-9D12-E45D048076E2}" presName="parTx" presStyleLbl="node1" presStyleIdx="0" presStyleCnt="2">
        <dgm:presLayoutVars>
          <dgm:chMax val="0"/>
          <dgm:chPref val="0"/>
          <dgm:bulletEnabled val="1"/>
        </dgm:presLayoutVars>
      </dgm:prSet>
      <dgm:spPr/>
      <dgm:t>
        <a:bodyPr/>
        <a:lstStyle/>
        <a:p>
          <a:endParaRPr lang="en-US"/>
        </a:p>
      </dgm:t>
    </dgm:pt>
    <dgm:pt modelId="{D58D2809-7C66-41EF-BFD6-851C992003A2}" type="pres">
      <dgm:prSet presAssocID="{6C0BE2DE-BC83-4F4A-9D12-E45D048076E2}" presName="parSh" presStyleLbl="node1" presStyleIdx="1" presStyleCnt="2"/>
      <dgm:spPr/>
      <dgm:t>
        <a:bodyPr/>
        <a:lstStyle/>
        <a:p>
          <a:endParaRPr lang="en-US"/>
        </a:p>
      </dgm:t>
    </dgm:pt>
    <dgm:pt modelId="{DB4907A4-462F-40A6-9FEF-3CF7633D4A62}" type="pres">
      <dgm:prSet presAssocID="{6C0BE2DE-BC83-4F4A-9D12-E45D048076E2}" presName="desTx" presStyleLbl="fgAcc1" presStyleIdx="1" presStyleCnt="2">
        <dgm:presLayoutVars>
          <dgm:bulletEnabled val="1"/>
        </dgm:presLayoutVars>
      </dgm:prSet>
      <dgm:spPr/>
      <dgm:t>
        <a:bodyPr/>
        <a:lstStyle/>
        <a:p>
          <a:endParaRPr lang="en-US"/>
        </a:p>
      </dgm:t>
    </dgm:pt>
  </dgm:ptLst>
  <dgm:cxnLst>
    <dgm:cxn modelId="{D65555FD-7C8F-4147-AD09-FA7E73BAC865}" type="presOf" srcId="{32EC2ED1-5A41-47F2-A0A5-89A6987013DA}" destId="{4B650DD2-5F02-4AE9-9DDB-38B6153A658F}" srcOrd="1" destOrd="0" presId="urn:microsoft.com/office/officeart/2005/8/layout/process3"/>
    <dgm:cxn modelId="{D140C404-B74A-4AA8-B92C-06D4722A5A2C}" type="presOf" srcId="{72C595F7-F9FE-4C3C-B546-D393C43DA1D5}" destId="{5FAEC180-6FA0-4E38-9D1E-990ABDB6814F}" srcOrd="0" destOrd="0" presId="urn:microsoft.com/office/officeart/2005/8/layout/process3"/>
    <dgm:cxn modelId="{FE0EF594-0B92-48C8-B188-38EC5D932EDE}" type="presOf" srcId="{AD560553-6FEC-47DE-933B-C265E4AAA2B0}" destId="{DB4907A4-462F-40A6-9FEF-3CF7633D4A62}" srcOrd="0" destOrd="2" presId="urn:microsoft.com/office/officeart/2005/8/layout/process3"/>
    <dgm:cxn modelId="{6141486E-DEF8-4A6C-AFCF-BC5652D21F50}" srcId="{6C0BE2DE-BC83-4F4A-9D12-E45D048076E2}" destId="{AD560553-6FEC-47DE-933B-C265E4AAA2B0}" srcOrd="2" destOrd="0" parTransId="{9F13647C-D1E0-4A1E-B886-7960D9E03B60}" sibTransId="{AFE5888D-C33C-4049-A15C-A24398DDE794}"/>
    <dgm:cxn modelId="{453CEB6A-F61A-4C89-9592-9EB5104FC954}" srcId="{72C595F7-F9FE-4C3C-B546-D393C43DA1D5}" destId="{03454651-1876-463C-891F-DBFB67BE2D7D}" srcOrd="0" destOrd="0" parTransId="{34ADBB6D-89A4-4913-83ED-5D871B73AD66}" sibTransId="{32EC2ED1-5A41-47F2-A0A5-89A6987013DA}"/>
    <dgm:cxn modelId="{E9273EAA-34EB-450B-8F61-666498D342D4}" type="presOf" srcId="{03454651-1876-463C-891F-DBFB67BE2D7D}" destId="{3A83BC6F-B725-4345-B234-B50F8B6B5DAE}" srcOrd="1" destOrd="0" presId="urn:microsoft.com/office/officeart/2005/8/layout/process3"/>
    <dgm:cxn modelId="{75DBCB35-6725-4B78-AA41-F003FD1439E1}" type="presOf" srcId="{6C0BE2DE-BC83-4F4A-9D12-E45D048076E2}" destId="{D58D2809-7C66-41EF-BFD6-851C992003A2}" srcOrd="1" destOrd="0" presId="urn:microsoft.com/office/officeart/2005/8/layout/process3"/>
    <dgm:cxn modelId="{B1993D54-1660-42FD-BD44-EA5ED2720719}" srcId="{03454651-1876-463C-891F-DBFB67BE2D7D}" destId="{8AB1705B-825B-4FA9-B3F7-6234B57D8B5B}" srcOrd="0" destOrd="0" parTransId="{B0921289-A644-45F1-8E03-58A989394A5C}" sibTransId="{59EC8C30-26FF-4A0A-AC62-94A2D4AE1DA6}"/>
    <dgm:cxn modelId="{A01C66BB-8BAA-4C6E-8572-4CB23CF11AAE}" srcId="{72C595F7-F9FE-4C3C-B546-D393C43DA1D5}" destId="{6C0BE2DE-BC83-4F4A-9D12-E45D048076E2}" srcOrd="1" destOrd="0" parTransId="{A5833DF2-92A7-4890-AA83-CD2387BF90CB}" sibTransId="{24B283C1-CA6A-4228-8D59-CC19D0AF15AA}"/>
    <dgm:cxn modelId="{4C8956A5-DAFC-4CDF-BBBE-0F44C8EDD419}" srcId="{6C0BE2DE-BC83-4F4A-9D12-E45D048076E2}" destId="{F54D960D-3E8F-4023-AB3D-3DEDCDEA013F}" srcOrd="1" destOrd="0" parTransId="{557FC2B1-9CFC-4139-AE96-DF7B84F81520}" sibTransId="{968F27DA-5EDF-4A81-88C3-E08017E4736B}"/>
    <dgm:cxn modelId="{76228947-5483-491A-9FB2-BE8C840ECC8E}" type="presOf" srcId="{F54D960D-3E8F-4023-AB3D-3DEDCDEA013F}" destId="{DB4907A4-462F-40A6-9FEF-3CF7633D4A62}" srcOrd="0" destOrd="1" presId="urn:microsoft.com/office/officeart/2005/8/layout/process3"/>
    <dgm:cxn modelId="{3FC46C2D-DC87-4D6D-82BC-4BE62DE2FB65}" type="presOf" srcId="{BD7C90F8-288E-4DA5-8C5B-6EEAD42F3236}" destId="{DB4907A4-462F-40A6-9FEF-3CF7633D4A62}" srcOrd="0" destOrd="0" presId="urn:microsoft.com/office/officeart/2005/8/layout/process3"/>
    <dgm:cxn modelId="{CA94889E-E9A9-4C4E-A95F-BFFC58242C16}" srcId="{6C0BE2DE-BC83-4F4A-9D12-E45D048076E2}" destId="{5816BB4E-E41E-4DE7-BAFA-87A0BD7151DD}" srcOrd="3" destOrd="0" parTransId="{F779E293-D967-4639-A079-F701D9C33620}" sibTransId="{63DF5A00-C8CC-4A57-A523-C23A9313A472}"/>
    <dgm:cxn modelId="{B6B0BC23-B9DE-4463-930C-D43075754136}" srcId="{6C0BE2DE-BC83-4F4A-9D12-E45D048076E2}" destId="{BD7C90F8-288E-4DA5-8C5B-6EEAD42F3236}" srcOrd="0" destOrd="0" parTransId="{A4B2C129-61D9-4E38-A56D-01F59B465A81}" sibTransId="{D175300F-AFC9-4BB0-8A3C-AD4A0D7754E0}"/>
    <dgm:cxn modelId="{F25B83E4-B382-4F3A-ADC0-565F04521E8D}" type="presOf" srcId="{8AB1705B-825B-4FA9-B3F7-6234B57D8B5B}" destId="{7E8F3D55-80E5-4F13-9459-E39284D0328D}" srcOrd="0" destOrd="0" presId="urn:microsoft.com/office/officeart/2005/8/layout/process3"/>
    <dgm:cxn modelId="{F93F8EA1-25D6-4992-8B96-495612D3F9B7}" type="presOf" srcId="{5816BB4E-E41E-4DE7-BAFA-87A0BD7151DD}" destId="{DB4907A4-462F-40A6-9FEF-3CF7633D4A62}" srcOrd="0" destOrd="3" presId="urn:microsoft.com/office/officeart/2005/8/layout/process3"/>
    <dgm:cxn modelId="{059B36CA-4A19-47B8-BEEE-500D1AE88BC1}" type="presOf" srcId="{32EC2ED1-5A41-47F2-A0A5-89A6987013DA}" destId="{2185D18F-377B-4641-B87A-82A7FD17C65D}" srcOrd="0" destOrd="0" presId="urn:microsoft.com/office/officeart/2005/8/layout/process3"/>
    <dgm:cxn modelId="{9D53E2A1-7A04-4878-87B9-925BE53E0A9C}" type="presOf" srcId="{03454651-1876-463C-891F-DBFB67BE2D7D}" destId="{3D847FC2-380F-49AF-936C-1553F8F26F3C}" srcOrd="0" destOrd="0" presId="urn:microsoft.com/office/officeart/2005/8/layout/process3"/>
    <dgm:cxn modelId="{5C242FA0-054C-490A-896D-BE9FB6B9217E}" srcId="{03454651-1876-463C-891F-DBFB67BE2D7D}" destId="{0EFCF420-EE4E-491F-8910-AC8774BE8923}" srcOrd="1" destOrd="0" parTransId="{CA834226-BBAF-4B94-817C-013EAE6D3476}" sibTransId="{1C1AE04F-5FFD-48E5-84FD-213DDBD969DE}"/>
    <dgm:cxn modelId="{7B0DFA85-4E66-4ED6-83A1-5F43384748CA}" srcId="{6C0BE2DE-BC83-4F4A-9D12-E45D048076E2}" destId="{E381732B-C96F-4DB5-B262-E4D4DBFFCA93}" srcOrd="4" destOrd="0" parTransId="{61A15529-EB12-44CA-9721-C659434A4B21}" sibTransId="{EC133ACA-3BAE-4266-865A-0C6276B61CCD}"/>
    <dgm:cxn modelId="{D8B0821E-D48B-4819-AE2B-D947D14AC108}" srcId="{6C0BE2DE-BC83-4F4A-9D12-E45D048076E2}" destId="{CE2535A5-2CFE-4028-92FB-42A447CA00BD}" srcOrd="5" destOrd="0" parTransId="{B56F3D1D-8C11-4013-813F-DB153D6D72D0}" sibTransId="{8D6CB115-0759-49F5-9880-5537B693CE7B}"/>
    <dgm:cxn modelId="{4F8B296C-6964-4F9A-8F55-A4B426A3F135}" type="presOf" srcId="{6C0BE2DE-BC83-4F4A-9D12-E45D048076E2}" destId="{8B431DFB-EE38-4C08-8FA5-EEEC07E00A49}" srcOrd="0" destOrd="0" presId="urn:microsoft.com/office/officeart/2005/8/layout/process3"/>
    <dgm:cxn modelId="{70087D20-D8CD-4DD4-8547-DAE5780BA190}" type="presOf" srcId="{0EFCF420-EE4E-491F-8910-AC8774BE8923}" destId="{7E8F3D55-80E5-4F13-9459-E39284D0328D}" srcOrd="0" destOrd="1" presId="urn:microsoft.com/office/officeart/2005/8/layout/process3"/>
    <dgm:cxn modelId="{A61D7CFB-45EC-4164-897A-09609EEDBD18}" type="presOf" srcId="{CE2535A5-2CFE-4028-92FB-42A447CA00BD}" destId="{DB4907A4-462F-40A6-9FEF-3CF7633D4A62}" srcOrd="0" destOrd="5" presId="urn:microsoft.com/office/officeart/2005/8/layout/process3"/>
    <dgm:cxn modelId="{23D046E5-F96E-48A1-93CB-0A4E41B4F9D3}" type="presOf" srcId="{E381732B-C96F-4DB5-B262-E4D4DBFFCA93}" destId="{DB4907A4-462F-40A6-9FEF-3CF7633D4A62}" srcOrd="0" destOrd="4" presId="urn:microsoft.com/office/officeart/2005/8/layout/process3"/>
    <dgm:cxn modelId="{EA2288D7-E8A3-44A1-9F6F-CD4A50DE0886}" type="presParOf" srcId="{5FAEC180-6FA0-4E38-9D1E-990ABDB6814F}" destId="{1ED04EDF-BDDC-4FBE-ADFE-4ECCA1ABCE5C}" srcOrd="0" destOrd="0" presId="urn:microsoft.com/office/officeart/2005/8/layout/process3"/>
    <dgm:cxn modelId="{A2E24368-7910-425B-B6E8-0D5F2B5AF6EE}" type="presParOf" srcId="{1ED04EDF-BDDC-4FBE-ADFE-4ECCA1ABCE5C}" destId="{3D847FC2-380F-49AF-936C-1553F8F26F3C}" srcOrd="0" destOrd="0" presId="urn:microsoft.com/office/officeart/2005/8/layout/process3"/>
    <dgm:cxn modelId="{EB4A76B3-B101-4F3C-882A-ADA681364276}" type="presParOf" srcId="{1ED04EDF-BDDC-4FBE-ADFE-4ECCA1ABCE5C}" destId="{3A83BC6F-B725-4345-B234-B50F8B6B5DAE}" srcOrd="1" destOrd="0" presId="urn:microsoft.com/office/officeart/2005/8/layout/process3"/>
    <dgm:cxn modelId="{50C1C721-BF94-4A58-A187-A236C09DA247}" type="presParOf" srcId="{1ED04EDF-BDDC-4FBE-ADFE-4ECCA1ABCE5C}" destId="{7E8F3D55-80E5-4F13-9459-E39284D0328D}" srcOrd="2" destOrd="0" presId="urn:microsoft.com/office/officeart/2005/8/layout/process3"/>
    <dgm:cxn modelId="{70DA99F4-9645-4C5E-99CF-D348254A8F4C}" type="presParOf" srcId="{5FAEC180-6FA0-4E38-9D1E-990ABDB6814F}" destId="{2185D18F-377B-4641-B87A-82A7FD17C65D}" srcOrd="1" destOrd="0" presId="urn:microsoft.com/office/officeart/2005/8/layout/process3"/>
    <dgm:cxn modelId="{E6A12076-9BF7-4261-A261-38FAED9451D3}" type="presParOf" srcId="{2185D18F-377B-4641-B87A-82A7FD17C65D}" destId="{4B650DD2-5F02-4AE9-9DDB-38B6153A658F}" srcOrd="0" destOrd="0" presId="urn:microsoft.com/office/officeart/2005/8/layout/process3"/>
    <dgm:cxn modelId="{13B169FF-B057-4AA0-9B48-F6BC69778522}" type="presParOf" srcId="{5FAEC180-6FA0-4E38-9D1E-990ABDB6814F}" destId="{0C36FA4B-E12B-4FE2-AAC5-001C8FE1DC1A}" srcOrd="2" destOrd="0" presId="urn:microsoft.com/office/officeart/2005/8/layout/process3"/>
    <dgm:cxn modelId="{9BDE3955-5D3F-4C7D-BE00-8002025E5A37}" type="presParOf" srcId="{0C36FA4B-E12B-4FE2-AAC5-001C8FE1DC1A}" destId="{8B431DFB-EE38-4C08-8FA5-EEEC07E00A49}" srcOrd="0" destOrd="0" presId="urn:microsoft.com/office/officeart/2005/8/layout/process3"/>
    <dgm:cxn modelId="{2B756F9A-C905-4D54-88FA-FEC583294CA5}" type="presParOf" srcId="{0C36FA4B-E12B-4FE2-AAC5-001C8FE1DC1A}" destId="{D58D2809-7C66-41EF-BFD6-851C992003A2}" srcOrd="1" destOrd="0" presId="urn:microsoft.com/office/officeart/2005/8/layout/process3"/>
    <dgm:cxn modelId="{9DFCAF73-B264-42EE-87DF-5C320527D7E5}" type="presParOf" srcId="{0C36FA4B-E12B-4FE2-AAC5-001C8FE1DC1A}" destId="{DB4907A4-462F-40A6-9FEF-3CF7633D4A62}"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drawing1.xml><?xml version="1.0" encoding="utf-8"?>
<c:userShapes xmlns:c="http://schemas.openxmlformats.org/drawingml/2006/chart">
  <cdr:relSizeAnchor xmlns:cdr="http://schemas.openxmlformats.org/drawingml/2006/chartDrawing">
    <cdr:from>
      <cdr:x>0.10821</cdr:x>
      <cdr:y>0.07401</cdr:y>
    </cdr:from>
    <cdr:to>
      <cdr:x>0.18597</cdr:x>
      <cdr:y>0.15835</cdr:y>
    </cdr:to>
    <cdr:sp macro="" textlink="">
      <cdr:nvSpPr>
        <cdr:cNvPr id="2" name="Text Box 2"/>
        <cdr:cNvSpPr txBox="1">
          <a:spLocks xmlns:a="http://schemas.openxmlformats.org/drawingml/2006/main" noChangeArrowheads="1"/>
        </cdr:cNvSpPr>
      </cdr:nvSpPr>
      <cdr:spPr bwMode="auto">
        <a:xfrm xmlns:a="http://schemas.openxmlformats.org/drawingml/2006/main">
          <a:off x="631825" y="175532"/>
          <a:ext cx="45402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591</a:t>
          </a:r>
        </a:p>
      </cdr:txBody>
    </cdr:sp>
  </cdr:relSizeAnchor>
  <cdr:relSizeAnchor xmlns:cdr="http://schemas.openxmlformats.org/drawingml/2006/chartDrawing">
    <cdr:from>
      <cdr:x>0.24905</cdr:x>
      <cdr:y>0.07551</cdr:y>
    </cdr:from>
    <cdr:to>
      <cdr:x>0.34095</cdr:x>
      <cdr:y>0.1545</cdr:y>
    </cdr:to>
    <cdr:sp macro="" textlink="">
      <cdr:nvSpPr>
        <cdr:cNvPr id="3" name="Text Box 2"/>
        <cdr:cNvSpPr txBox="1">
          <a:spLocks xmlns:a="http://schemas.openxmlformats.org/drawingml/2006/main" noChangeArrowheads="1"/>
        </cdr:cNvSpPr>
      </cdr:nvSpPr>
      <cdr:spPr bwMode="auto">
        <a:xfrm xmlns:a="http://schemas.openxmlformats.org/drawingml/2006/main">
          <a:off x="1454150" y="179095"/>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1071</a:t>
          </a:r>
        </a:p>
      </cdr:txBody>
    </cdr:sp>
  </cdr:relSizeAnchor>
  <cdr:relSizeAnchor xmlns:cdr="http://schemas.openxmlformats.org/drawingml/2006/chartDrawing">
    <cdr:from>
      <cdr:x>0.40131</cdr:x>
      <cdr:y>0.07669</cdr:y>
    </cdr:from>
    <cdr:to>
      <cdr:x>0.4932</cdr:x>
      <cdr:y>0.15567</cdr:y>
    </cdr:to>
    <cdr:sp macro="" textlink="">
      <cdr:nvSpPr>
        <cdr:cNvPr id="4" name="Text Box 1"/>
        <cdr:cNvSpPr txBox="1">
          <a:spLocks xmlns:a="http://schemas.openxmlformats.org/drawingml/2006/main" noChangeArrowheads="1"/>
        </cdr:cNvSpPr>
      </cdr:nvSpPr>
      <cdr:spPr bwMode="auto">
        <a:xfrm xmlns:a="http://schemas.openxmlformats.org/drawingml/2006/main">
          <a:off x="2343150" y="181882"/>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1268</a:t>
          </a:r>
        </a:p>
      </cdr:txBody>
    </cdr:sp>
  </cdr:relSizeAnchor>
  <cdr:relSizeAnchor xmlns:cdr="http://schemas.openxmlformats.org/drawingml/2006/chartDrawing">
    <cdr:from>
      <cdr:x>0.5487</cdr:x>
      <cdr:y>0.07641</cdr:y>
    </cdr:from>
    <cdr:to>
      <cdr:x>0.6406</cdr:x>
      <cdr:y>0.1554</cdr:y>
    </cdr:to>
    <cdr:sp macro="" textlink="">
      <cdr:nvSpPr>
        <cdr:cNvPr id="5" name="Text Box 1"/>
        <cdr:cNvSpPr txBox="1">
          <a:spLocks xmlns:a="http://schemas.openxmlformats.org/drawingml/2006/main" noChangeArrowheads="1"/>
        </cdr:cNvSpPr>
      </cdr:nvSpPr>
      <cdr:spPr bwMode="auto">
        <a:xfrm xmlns:a="http://schemas.openxmlformats.org/drawingml/2006/main">
          <a:off x="3203769" y="181234"/>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8308</a:t>
          </a:r>
        </a:p>
      </cdr:txBody>
    </cdr:sp>
  </cdr:relSizeAnchor>
  <cdr:relSizeAnchor xmlns:cdr="http://schemas.openxmlformats.org/drawingml/2006/chartDrawing">
    <cdr:from>
      <cdr:x>0.70013</cdr:x>
      <cdr:y>0.06355</cdr:y>
    </cdr:from>
    <cdr:to>
      <cdr:x>0.79692</cdr:x>
      <cdr:y>0.15458</cdr:y>
    </cdr:to>
    <cdr:sp macro="" textlink="">
      <cdr:nvSpPr>
        <cdr:cNvPr id="6" name="Text Box 1"/>
        <cdr:cNvSpPr txBox="1">
          <a:spLocks xmlns:a="http://schemas.openxmlformats.org/drawingml/2006/main" noChangeArrowheads="1"/>
        </cdr:cNvSpPr>
      </cdr:nvSpPr>
      <cdr:spPr bwMode="auto">
        <a:xfrm xmlns:a="http://schemas.openxmlformats.org/drawingml/2006/main">
          <a:off x="4087910" y="150715"/>
          <a:ext cx="565150" cy="215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10625</a:t>
          </a:r>
        </a:p>
      </cdr:txBody>
    </cdr:sp>
  </cdr:relSizeAnchor>
  <cdr:relSizeAnchor xmlns:cdr="http://schemas.openxmlformats.org/drawingml/2006/chartDrawing">
    <cdr:from>
      <cdr:x>0.84648</cdr:x>
      <cdr:y>0.06489</cdr:y>
    </cdr:from>
    <cdr:to>
      <cdr:x>0.94327</cdr:x>
      <cdr:y>0.15592</cdr:y>
    </cdr:to>
    <cdr:sp macro="" textlink="">
      <cdr:nvSpPr>
        <cdr:cNvPr id="7" name="Text Box 1"/>
        <cdr:cNvSpPr txBox="1">
          <a:spLocks xmlns:a="http://schemas.openxmlformats.org/drawingml/2006/main" noChangeArrowheads="1"/>
        </cdr:cNvSpPr>
      </cdr:nvSpPr>
      <cdr:spPr bwMode="auto">
        <a:xfrm xmlns:a="http://schemas.openxmlformats.org/drawingml/2006/main">
          <a:off x="4942438" y="153890"/>
          <a:ext cx="565150" cy="215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53</a:t>
          </a:r>
        </a:p>
      </cdr:txBody>
    </cdr:sp>
  </cdr:relSizeAnchor>
</c:userShapes>
</file>

<file path=ppt/drawings/drawing2.xml><?xml version="1.0" encoding="utf-8"?>
<c:userShapes xmlns:c="http://schemas.openxmlformats.org/drawingml/2006/chart">
  <cdr:relSizeAnchor xmlns:cdr="http://schemas.openxmlformats.org/drawingml/2006/chartDrawing">
    <cdr:from>
      <cdr:x>0.82126</cdr:x>
      <cdr:y>0.38616</cdr:y>
    </cdr:from>
    <cdr:to>
      <cdr:x>0.99763</cdr:x>
      <cdr:y>0.59625</cdr:y>
    </cdr:to>
    <cdr:sp macro="" textlink="">
      <cdr:nvSpPr>
        <cdr:cNvPr id="2" name="Rounded Rectangle 1"/>
        <cdr:cNvSpPr/>
      </cdr:nvSpPr>
      <cdr:spPr>
        <a:xfrm xmlns:a="http://schemas.openxmlformats.org/drawingml/2006/main">
          <a:off x="8055908" y="1329055"/>
          <a:ext cx="1730042" cy="723067"/>
        </a:xfrm>
        <a:prstGeom xmlns:a="http://schemas.openxmlformats.org/drawingml/2006/main" prst="roundRect">
          <a:avLst/>
        </a:prstGeom>
        <a:solidFill xmlns:a="http://schemas.openxmlformats.org/drawingml/2006/main">
          <a:schemeClr val="accent2">
            <a:lumMod val="20000"/>
            <a:lumOff val="80000"/>
          </a:schemeClr>
        </a:solidFill>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lstStyle xmlns:a="http://schemas.openxmlformats.org/drawingml/2006/main"/>
        <a:p xmlns:a="http://schemas.openxmlformats.org/drawingml/2006/main">
          <a:r>
            <a:rPr lang="en-US" sz="1400" dirty="0">
              <a:solidFill>
                <a:sysClr val="windowText" lastClr="000000"/>
              </a:solidFill>
            </a:rPr>
            <a:t>Weighted average </a:t>
          </a:r>
          <a:r>
            <a:rPr lang="en-US" sz="1400" baseline="0" dirty="0">
              <a:solidFill>
                <a:sysClr val="windowText" lastClr="000000"/>
              </a:solidFill>
            </a:rPr>
            <a:t>generation cost for BPDB - </a:t>
          </a:r>
          <a:r>
            <a:rPr lang="en-US" sz="1400" baseline="0" dirty="0" err="1">
              <a:solidFill>
                <a:sysClr val="windowText" lastClr="000000"/>
              </a:solidFill>
            </a:rPr>
            <a:t>Tk</a:t>
          </a:r>
          <a:r>
            <a:rPr lang="en-US" sz="1400" baseline="0" dirty="0">
              <a:solidFill>
                <a:sysClr val="windowText" lastClr="000000"/>
              </a:solidFill>
            </a:rPr>
            <a:t> 18.42/KWh</a:t>
          </a:r>
          <a:endParaRPr lang="en-US" sz="1400" dirty="0">
            <a:solidFill>
              <a:sysClr val="windowText" lastClr="000000"/>
            </a:solidFill>
          </a:endParaRPr>
        </a:p>
      </cdr:txBody>
    </cdr:sp>
  </cdr:relSizeAnchor>
  <cdr:relSizeAnchor xmlns:cdr="http://schemas.openxmlformats.org/drawingml/2006/chartDrawing">
    <cdr:from>
      <cdr:x>0.24437</cdr:x>
      <cdr:y>0.0887</cdr:y>
    </cdr:from>
    <cdr:to>
      <cdr:x>0.47695</cdr:x>
      <cdr:y>0.32679</cdr:y>
    </cdr:to>
    <cdr:sp macro="" textlink="">
      <cdr:nvSpPr>
        <cdr:cNvPr id="3" name="Rounded Rectangle 2"/>
        <cdr:cNvSpPr/>
      </cdr:nvSpPr>
      <cdr:spPr>
        <a:xfrm xmlns:a="http://schemas.openxmlformats.org/drawingml/2006/main">
          <a:off x="2397093" y="305293"/>
          <a:ext cx="2281400" cy="819434"/>
        </a:xfrm>
        <a:prstGeom xmlns:a="http://schemas.openxmlformats.org/drawingml/2006/main" prst="roundRect">
          <a:avLst/>
        </a:prstGeom>
        <a:solidFill xmlns:a="http://schemas.openxmlformats.org/drawingml/2006/main">
          <a:schemeClr val="accent2">
            <a:lumMod val="20000"/>
            <a:lumOff val="80000"/>
          </a:schemeClr>
        </a:solidFill>
        <a:ln xmlns:a="http://schemas.openxmlformats.org/drawingml/2006/main">
          <a:solidFill>
            <a:srgbClr val="92D05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a:lstStyle xmlns:a="http://schemas.openxmlformats.org/drawingml/2006/main"/>
        <a:p xmlns:a="http://schemas.openxmlformats.org/drawingml/2006/main">
          <a:r>
            <a:rPr lang="en-IN" sz="1400" dirty="0">
              <a:solidFill>
                <a:sysClr val="windowText" lastClr="000000"/>
              </a:solidFill>
            </a:rPr>
            <a:t>Weighted Average generation cost for IPP/Rental/Quick</a:t>
          </a:r>
          <a:r>
            <a:rPr lang="en-IN" sz="1400" baseline="0" dirty="0">
              <a:solidFill>
                <a:sysClr val="windowText" lastClr="000000"/>
              </a:solidFill>
            </a:rPr>
            <a:t> Rental - </a:t>
          </a:r>
          <a:r>
            <a:rPr lang="en-IN" sz="1400" baseline="0" dirty="0" err="1">
              <a:solidFill>
                <a:sysClr val="windowText" lastClr="000000"/>
              </a:solidFill>
            </a:rPr>
            <a:t>Tk</a:t>
          </a:r>
          <a:r>
            <a:rPr lang="en-IN" sz="1400" baseline="0" dirty="0">
              <a:solidFill>
                <a:sysClr val="windowText" lastClr="000000"/>
              </a:solidFill>
            </a:rPr>
            <a:t> 12.56/KWh</a:t>
          </a:r>
          <a:endParaRPr lang="en-IN" sz="1400" dirty="0">
            <a:solidFill>
              <a:sysClr val="windowText" lastClr="000000"/>
            </a:solidFill>
          </a:endParaRPr>
        </a:p>
      </cdr:txBody>
    </cdr:sp>
  </cdr:relSizeAnchor>
  <cdr:relSizeAnchor xmlns:cdr="http://schemas.openxmlformats.org/drawingml/2006/chartDrawing">
    <cdr:from>
      <cdr:x>0.77948</cdr:x>
      <cdr:y>0.04428</cdr:y>
    </cdr:from>
    <cdr:to>
      <cdr:x>0.77948</cdr:x>
      <cdr:y>0.72804</cdr:y>
    </cdr:to>
    <cdr:cxnSp macro="">
      <cdr:nvCxnSpPr>
        <cdr:cNvPr id="4" name="Straight Connector 3"/>
        <cdr:cNvCxnSpPr/>
      </cdr:nvCxnSpPr>
      <cdr:spPr>
        <a:xfrm xmlns:a="http://schemas.openxmlformats.org/drawingml/2006/main">
          <a:off x="7646035" y="152400"/>
          <a:ext cx="0" cy="2353310"/>
        </a:xfrm>
        <a:prstGeom xmlns:a="http://schemas.openxmlformats.org/drawingml/2006/main" prst="line">
          <a:avLst/>
        </a:prstGeom>
        <a:noFill xmlns:a="http://schemas.openxmlformats.org/drawingml/2006/main"/>
        <a:ln xmlns:a="http://schemas.openxmlformats.org/drawingml/2006/main" w="25400" cap="flat" cmpd="sng" algn="ctr">
          <a:solidFill>
            <a:srgbClr val="002776"/>
          </a:solidFill>
          <a:prstDash val="dash"/>
          <a:miter lim="800000"/>
        </a:ln>
        <a:effectLst xmlns:a="http://schemas.openxmlformats.org/drawingml/2006/main"/>
      </cdr:spPr>
    </cdr:cxnSp>
  </cdr:relSizeAnchor>
</c:userShapes>
</file>

<file path=ppt/drawings/drawing3.xml><?xml version="1.0" encoding="utf-8"?>
<c:userShapes xmlns:c="http://schemas.openxmlformats.org/drawingml/2006/chart">
  <cdr:relSizeAnchor xmlns:cdr="http://schemas.openxmlformats.org/drawingml/2006/chartDrawing">
    <cdr:from>
      <cdr:x>0.75929</cdr:x>
      <cdr:y>0.03361</cdr:y>
    </cdr:from>
    <cdr:to>
      <cdr:x>0.75929</cdr:x>
      <cdr:y>0.71849</cdr:y>
    </cdr:to>
    <cdr:cxnSp macro="">
      <cdr:nvCxnSpPr>
        <cdr:cNvPr id="2" name="Straight Connector 1"/>
        <cdr:cNvCxnSpPr/>
      </cdr:nvCxnSpPr>
      <cdr:spPr>
        <a:xfrm xmlns:a="http://schemas.openxmlformats.org/drawingml/2006/main">
          <a:off x="4346575" y="76200"/>
          <a:ext cx="0" cy="1552575"/>
        </a:xfrm>
        <a:prstGeom xmlns:a="http://schemas.openxmlformats.org/drawingml/2006/main" prst="line">
          <a:avLst/>
        </a:prstGeom>
        <a:ln xmlns:a="http://schemas.openxmlformats.org/drawingml/2006/main" w="25400" cmpd="sng">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0.75763</cdr:x>
      <cdr:y>0.5</cdr:y>
    </cdr:from>
    <cdr:to>
      <cdr:x>0.77926</cdr:x>
      <cdr:y>0.5</cdr:y>
    </cdr:to>
    <cdr:cxnSp macro="">
      <cdr:nvCxnSpPr>
        <cdr:cNvPr id="3" name="Straight Arrow Connector 2"/>
        <cdr:cNvCxnSpPr/>
      </cdr:nvCxnSpPr>
      <cdr:spPr>
        <a:xfrm xmlns:a="http://schemas.openxmlformats.org/drawingml/2006/main" flipH="1">
          <a:off x="4337050" y="1133475"/>
          <a:ext cx="123825" cy="0"/>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0.78092</cdr:x>
      <cdr:y>0.38796</cdr:y>
    </cdr:from>
    <cdr:to>
      <cdr:x>0.97252</cdr:x>
      <cdr:y>0.64746</cdr:y>
    </cdr:to>
    <cdr:sp macro="" textlink="">
      <cdr:nvSpPr>
        <cdr:cNvPr id="4" name="Rounded Rectangle 3"/>
        <cdr:cNvSpPr/>
      </cdr:nvSpPr>
      <cdr:spPr>
        <a:xfrm xmlns:a="http://schemas.openxmlformats.org/drawingml/2006/main">
          <a:off x="7642047" y="1126341"/>
          <a:ext cx="1874964" cy="753380"/>
        </a:xfrm>
        <a:prstGeom xmlns:a="http://schemas.openxmlformats.org/drawingml/2006/main" prst="roundRect">
          <a:avLst/>
        </a:prstGeom>
        <a:solidFill xmlns:a="http://schemas.openxmlformats.org/drawingml/2006/main">
          <a:schemeClr val="accent2">
            <a:lumMod val="20000"/>
            <a:lumOff val="80000"/>
          </a:schemeClr>
        </a:solidFill>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a:lstStyle xmlns:a="http://schemas.openxmlformats.org/drawingml/2006/main"/>
        <a:p xmlns:a="http://schemas.openxmlformats.org/drawingml/2006/main">
          <a:r>
            <a:rPr lang="en-IN" sz="1400">
              <a:solidFill>
                <a:sysClr val="windowText" lastClr="000000"/>
              </a:solidFill>
              <a:latin typeface="Calibri" panose="020F0502020204030204" pitchFamily="34" charset="0"/>
            </a:rPr>
            <a:t>Weighted Average generation cost of BPDB</a:t>
          </a:r>
          <a:r>
            <a:rPr lang="en-IN" sz="1400" baseline="0">
              <a:solidFill>
                <a:sysClr val="windowText" lastClr="000000"/>
              </a:solidFill>
              <a:latin typeface="Calibri" panose="020F0502020204030204" pitchFamily="34" charset="0"/>
            </a:rPr>
            <a:t> - Tk 35.84/KWh</a:t>
          </a:r>
          <a:endParaRPr lang="en-IN" sz="1400">
            <a:solidFill>
              <a:sysClr val="windowText" lastClr="000000"/>
            </a:solidFill>
            <a:latin typeface="Calibri" panose="020F0502020204030204" pitchFamily="34" charset="0"/>
          </a:endParaRPr>
        </a:p>
      </cdr:txBody>
    </cdr:sp>
  </cdr:relSizeAnchor>
  <cdr:relSizeAnchor xmlns:cdr="http://schemas.openxmlformats.org/drawingml/2006/chartDrawing">
    <cdr:from>
      <cdr:x>0.34664</cdr:x>
      <cdr:y>0.03782</cdr:y>
    </cdr:from>
    <cdr:to>
      <cdr:x>0.34664</cdr:x>
      <cdr:y>0.72269</cdr:y>
    </cdr:to>
    <cdr:cxnSp macro="">
      <cdr:nvCxnSpPr>
        <cdr:cNvPr id="5" name="Straight Connector 4"/>
        <cdr:cNvCxnSpPr/>
      </cdr:nvCxnSpPr>
      <cdr:spPr>
        <a:xfrm xmlns:a="http://schemas.openxmlformats.org/drawingml/2006/main">
          <a:off x="1984375" y="85725"/>
          <a:ext cx="0" cy="1552575"/>
        </a:xfrm>
        <a:prstGeom xmlns:a="http://schemas.openxmlformats.org/drawingml/2006/main" prst="line">
          <a:avLst/>
        </a:prstGeom>
        <a:ln xmlns:a="http://schemas.openxmlformats.org/drawingml/2006/main" w="25400" cmpd="sng">
          <a:solidFill>
            <a:srgbClr val="92D050"/>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0.30338</cdr:x>
      <cdr:y>0.33193</cdr:y>
    </cdr:from>
    <cdr:to>
      <cdr:x>0.34498</cdr:x>
      <cdr:y>0.33193</cdr:y>
    </cdr:to>
    <cdr:cxnSp macro="">
      <cdr:nvCxnSpPr>
        <cdr:cNvPr id="6" name="Straight Arrow Connector 5"/>
        <cdr:cNvCxnSpPr/>
      </cdr:nvCxnSpPr>
      <cdr:spPr>
        <a:xfrm xmlns:a="http://schemas.openxmlformats.org/drawingml/2006/main" rot="10800000" flipH="1" flipV="1">
          <a:off x="1736725" y="752475"/>
          <a:ext cx="238125" cy="0"/>
        </a:xfrm>
        <a:prstGeom xmlns:a="http://schemas.openxmlformats.org/drawingml/2006/main" prst="straightConnector1">
          <a:avLst/>
        </a:prstGeom>
        <a:ln xmlns:a="http://schemas.openxmlformats.org/drawingml/2006/main">
          <a:solidFill>
            <a:srgbClr val="92D05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2945862" cy="493097"/>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50294" y="4"/>
            <a:ext cx="2945862" cy="493097"/>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11/22/2017</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5" y="9378037"/>
            <a:ext cx="2945862" cy="493097"/>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50294" y="9378037"/>
            <a:ext cx="2945862" cy="493097"/>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945659" cy="493633"/>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50446" y="2"/>
            <a:ext cx="2945659" cy="493633"/>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11/22/2017</a:t>
            </a:fld>
            <a:endParaRPr lang="en-US" dirty="0"/>
          </a:p>
        </p:txBody>
      </p:sp>
      <p:sp>
        <p:nvSpPr>
          <p:cNvPr id="4" name="Slide Image Placeholder 3"/>
          <p:cNvSpPr>
            <a:spLocks noGrp="1" noRot="1" noChangeAspect="1"/>
          </p:cNvSpPr>
          <p:nvPr>
            <p:ph type="sldImg" idx="2"/>
          </p:nvPr>
        </p:nvSpPr>
        <p:spPr>
          <a:xfrm>
            <a:off x="782638" y="739775"/>
            <a:ext cx="5232400" cy="3702050"/>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679768" y="4689516"/>
            <a:ext cx="5438140" cy="4442698"/>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2" y="9377318"/>
            <a:ext cx="2945659" cy="493633"/>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50446" y="9377318"/>
            <a:ext cx="2945659" cy="493633"/>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2638" y="739775"/>
            <a:ext cx="52324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4074371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3513743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967289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2101720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918397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911550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3453347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3411187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689964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2793877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3849462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1569604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3093939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59078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65</a:t>
            </a:fld>
            <a:endParaRPr lang="en-US" dirty="0">
              <a:solidFill>
                <a:prstClr val="black"/>
              </a:solidFill>
            </a:endParaRPr>
          </a:p>
        </p:txBody>
      </p:sp>
    </p:spTree>
    <p:extLst>
      <p:ext uri="{BB962C8B-B14F-4D97-AF65-F5344CB8AC3E}">
        <p14:creationId xmlns:p14="http://schemas.microsoft.com/office/powerpoint/2010/main" val="1850195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417148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67</a:t>
            </a:fld>
            <a:endParaRPr lang="en-US" dirty="0">
              <a:solidFill>
                <a:prstClr val="black"/>
              </a:solidFill>
            </a:endParaRPr>
          </a:p>
        </p:txBody>
      </p:sp>
    </p:spTree>
    <p:extLst>
      <p:ext uri="{BB962C8B-B14F-4D97-AF65-F5344CB8AC3E}">
        <p14:creationId xmlns:p14="http://schemas.microsoft.com/office/powerpoint/2010/main" val="3702476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68</a:t>
            </a:fld>
            <a:endParaRPr lang="en-US" dirty="0">
              <a:solidFill>
                <a:prstClr val="black"/>
              </a:solidFill>
            </a:endParaRPr>
          </a:p>
        </p:txBody>
      </p:sp>
    </p:spTree>
    <p:extLst>
      <p:ext uri="{BB962C8B-B14F-4D97-AF65-F5344CB8AC3E}">
        <p14:creationId xmlns:p14="http://schemas.microsoft.com/office/powerpoint/2010/main" val="3687307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69</a:t>
            </a:fld>
            <a:endParaRPr lang="en-US" dirty="0">
              <a:solidFill>
                <a:prstClr val="black"/>
              </a:solidFill>
            </a:endParaRPr>
          </a:p>
        </p:txBody>
      </p:sp>
    </p:spTree>
    <p:extLst>
      <p:ext uri="{BB962C8B-B14F-4D97-AF65-F5344CB8AC3E}">
        <p14:creationId xmlns:p14="http://schemas.microsoft.com/office/powerpoint/2010/main" val="2186551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70</a:t>
            </a:fld>
            <a:endParaRPr lang="en-US" dirty="0">
              <a:solidFill>
                <a:prstClr val="black"/>
              </a:solidFill>
            </a:endParaRPr>
          </a:p>
        </p:txBody>
      </p:sp>
    </p:spTree>
    <p:extLst>
      <p:ext uri="{BB962C8B-B14F-4D97-AF65-F5344CB8AC3E}">
        <p14:creationId xmlns:p14="http://schemas.microsoft.com/office/powerpoint/2010/main" val="3357403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71</a:t>
            </a:fld>
            <a:endParaRPr lang="en-US" dirty="0">
              <a:solidFill>
                <a:prstClr val="black"/>
              </a:solidFill>
            </a:endParaRPr>
          </a:p>
        </p:txBody>
      </p:sp>
    </p:spTree>
    <p:extLst>
      <p:ext uri="{BB962C8B-B14F-4D97-AF65-F5344CB8AC3E}">
        <p14:creationId xmlns:p14="http://schemas.microsoft.com/office/powerpoint/2010/main" val="3498783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72</a:t>
            </a:fld>
            <a:endParaRPr lang="en-US" dirty="0">
              <a:solidFill>
                <a:prstClr val="black"/>
              </a:solidFill>
            </a:endParaRPr>
          </a:p>
        </p:txBody>
      </p:sp>
    </p:spTree>
    <p:extLst>
      <p:ext uri="{BB962C8B-B14F-4D97-AF65-F5344CB8AC3E}">
        <p14:creationId xmlns:p14="http://schemas.microsoft.com/office/powerpoint/2010/main" val="4142652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73</a:t>
            </a:fld>
            <a:endParaRPr lang="en-US" dirty="0">
              <a:solidFill>
                <a:prstClr val="black"/>
              </a:solidFill>
            </a:endParaRPr>
          </a:p>
        </p:txBody>
      </p:sp>
    </p:spTree>
    <p:extLst>
      <p:ext uri="{BB962C8B-B14F-4D97-AF65-F5344CB8AC3E}">
        <p14:creationId xmlns:p14="http://schemas.microsoft.com/office/powerpoint/2010/main" val="992355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160</a:t>
            </a:fld>
            <a:endParaRPr lang="en-US" dirty="0">
              <a:solidFill>
                <a:prstClr val="black"/>
              </a:solidFill>
            </a:endParaRPr>
          </a:p>
        </p:txBody>
      </p:sp>
    </p:spTree>
    <p:extLst>
      <p:ext uri="{BB962C8B-B14F-4D97-AF65-F5344CB8AC3E}">
        <p14:creationId xmlns:p14="http://schemas.microsoft.com/office/powerpoint/2010/main" val="3480324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solidFill>
                  <a:prstClr val="black"/>
                </a:solidFill>
              </a:rPr>
              <a:pPr/>
              <a:t>215</a:t>
            </a:fld>
            <a:endParaRPr lang="en-GB" dirty="0">
              <a:solidFill>
                <a:prstClr val="black"/>
              </a:solidFill>
            </a:endParaRPr>
          </a:p>
        </p:txBody>
      </p:sp>
    </p:spTree>
    <p:extLst>
      <p:ext uri="{BB962C8B-B14F-4D97-AF65-F5344CB8AC3E}">
        <p14:creationId xmlns:p14="http://schemas.microsoft.com/office/powerpoint/2010/main" val="858206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deloitte.com/about" TargetMode="External"/><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255975527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289402741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377051653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118836457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5" name="TextBox 4"/>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1132286380"/>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328516292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01124301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8362208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461462604"/>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Tree>
    <p:extLst>
      <p:ext uri="{BB962C8B-B14F-4D97-AF65-F5344CB8AC3E}">
        <p14:creationId xmlns:p14="http://schemas.microsoft.com/office/powerpoint/2010/main" val="313899404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94255190"/>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3950576278"/>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121449923"/>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76677950"/>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Tree>
    <p:extLst>
      <p:ext uri="{BB962C8B-B14F-4D97-AF65-F5344CB8AC3E}">
        <p14:creationId xmlns:p14="http://schemas.microsoft.com/office/powerpoint/2010/main" val="339035028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010194217"/>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smtClean="0"/>
              <a:t>Click icon to add picture</a:t>
            </a:r>
            <a:endParaRPr lang="en-US" noProof="0" dirty="0"/>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69816014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smtClean="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3174461303"/>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437105" y="1261256"/>
            <a:ext cx="9788639" cy="5198396"/>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751361209"/>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164883271"/>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smtClean="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295662615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smtClean="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smtClean="0"/>
              <a:t>Click icon to add chart</a:t>
            </a:r>
            <a:endParaRPr lang="en-US" noProof="0" dirty="0"/>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smtClean="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smtClean="0"/>
              <a:t>Click icon to add chart</a:t>
            </a:r>
            <a:endParaRPr lang="en-US" noProof="0" dirty="0"/>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smtClean="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2884292148"/>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551169370"/>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497548863"/>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2575829694"/>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smtClean="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smtClean="0"/>
              <a:t>Click icon to add chart</a:t>
            </a:r>
            <a:endParaRPr lang="en-US" noProof="0" dirty="0"/>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smtClean="0"/>
              <a:t>Click to edit Master text styles</a:t>
            </a:r>
          </a:p>
        </p:txBody>
      </p:sp>
    </p:spTree>
    <p:extLst>
      <p:ext uri="{BB962C8B-B14F-4D97-AF65-F5344CB8AC3E}">
        <p14:creationId xmlns:p14="http://schemas.microsoft.com/office/powerpoint/2010/main" val="1404716319"/>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59675092"/>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55769178"/>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smtClean="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smtClean="0"/>
              <a:t>Click icon to add picture</a:t>
            </a:r>
            <a:endParaRPr lang="en-US" noProof="0" dirty="0"/>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smtClean="0"/>
              <a:t>Click icon to add picture</a:t>
            </a:r>
            <a:endParaRPr lang="en-US" noProof="0" dirty="0"/>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smtClean="0"/>
              <a:t>Click icon to add picture</a:t>
            </a:r>
            <a:endParaRPr lang="en-US" noProof="0" dirty="0"/>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smtClean="0"/>
              <a:t>Click icon to add picture</a:t>
            </a:r>
            <a:endParaRPr lang="en-US" noProof="0" dirty="0"/>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57904862"/>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smtClean="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smtClean="0"/>
              <a:t>Click icon to add picture</a:t>
            </a:r>
            <a:endParaRPr lang="en-US" noProof="0" dirty="0"/>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smtClean="0"/>
              <a:t>Click icon to add picture</a:t>
            </a:r>
            <a:endParaRPr lang="en-US" noProof="0" dirty="0"/>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smtClean="0"/>
              <a:t>Click icon to add picture</a:t>
            </a:r>
            <a:endParaRPr lang="en-US" noProof="0" dirty="0"/>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smtClean="0"/>
              <a:t>Click icon to add picture</a:t>
            </a:r>
            <a:endParaRPr lang="en-US" noProof="0" dirty="0"/>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smtClean="0"/>
              <a:t>Click to edit Master text styles</a:t>
            </a:r>
          </a:p>
          <a:p>
            <a:pPr lvl="1"/>
            <a:r>
              <a:rPr lang="en-US" noProof="0" dirty="0" smtClean="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9176688"/>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smtClean="0"/>
              <a:t>Click icon to add picture</a:t>
            </a:r>
            <a:endParaRPr lang="en-US" noProof="0" dirty="0"/>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smtClean="0"/>
              <a:t>Click icon to add picture</a:t>
            </a:r>
            <a:endParaRPr lang="en-US" noProof="0" dirty="0"/>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smtClean="0"/>
              <a:t>Click icon to add picture</a:t>
            </a:r>
            <a:endParaRPr lang="en-US" noProof="0" dirty="0"/>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9873346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136232508"/>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68425919"/>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789001899"/>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5" name="Rectangle 4"/>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6" name="Rectangle 5"/>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00160545"/>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50714678"/>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smtClean="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smtClean="0">
                <a:solidFill>
                  <a:prstClr val="white"/>
                </a:solidFill>
              </a:rPr>
              <a:t>© 2017 Deloitte Touche Tohmatsu India LLP</a:t>
            </a:r>
            <a:endParaRPr lang="fr-FR" sz="717" dirty="0">
              <a:solidFill>
                <a:prstClr val="white"/>
              </a:solidFill>
            </a:endParaRP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911138596"/>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208014197"/>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3077750923"/>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90801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78307946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5" name="TextBox 4"/>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smtClean="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smtClean="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smtClean="0"/>
              <a:t>Click icon to add picture</a:t>
            </a:r>
            <a:endParaRPr lang="en-US" noProof="0" dirty="0"/>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smtClean="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437105" y="1261256"/>
            <a:ext cx="9788639" cy="5198396"/>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smtClean="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smtClean="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smtClean="0"/>
              <a:t>Click icon to add chart</a:t>
            </a:r>
            <a:endParaRPr lang="en-US" noProof="0" dirty="0"/>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smtClean="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smtClean="0"/>
              <a:t>Click icon to add chart</a:t>
            </a:r>
            <a:endParaRPr lang="en-US" noProof="0" dirty="0"/>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smtClean="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smtClean="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smtClean="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smtClean="0"/>
              <a:t>Click icon to add chart</a:t>
            </a:r>
            <a:endParaRPr lang="en-US" noProof="0" dirty="0"/>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smtClean="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smtClean="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smtClean="0"/>
              <a:t>Click icon to add picture</a:t>
            </a:r>
            <a:endParaRPr lang="en-US" noProof="0" dirty="0"/>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smtClean="0"/>
              <a:t>Click icon to add picture</a:t>
            </a:r>
            <a:endParaRPr lang="en-US" noProof="0" dirty="0"/>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smtClean="0"/>
              <a:t>Click icon to add picture</a:t>
            </a:r>
            <a:endParaRPr lang="en-US" noProof="0" dirty="0"/>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smtClean="0"/>
              <a:t>Click icon to add picture</a:t>
            </a:r>
            <a:endParaRPr lang="en-US" noProof="0" dirty="0"/>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smtClean="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smtClean="0"/>
              <a:t>Click icon to add picture</a:t>
            </a:r>
            <a:endParaRPr lang="en-US" noProof="0" dirty="0"/>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smtClean="0"/>
              <a:t>Click icon to add picture</a:t>
            </a:r>
            <a:endParaRPr lang="en-US" noProof="0" dirty="0"/>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smtClean="0"/>
              <a:t>Click icon to add picture</a:t>
            </a:r>
            <a:endParaRPr lang="en-US" noProof="0" dirty="0"/>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smtClean="0"/>
              <a:t>Click icon to add picture</a:t>
            </a:r>
            <a:endParaRPr lang="en-US" noProof="0" dirty="0"/>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smtClean="0"/>
              <a:t>Click to edit Master text styles</a:t>
            </a:r>
          </a:p>
          <a:p>
            <a:pPr lvl="1"/>
            <a:r>
              <a:rPr lang="en-US" noProof="0" dirty="0" smtClean="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smtClean="0"/>
              <a:t>Click icon to add picture</a:t>
            </a:r>
            <a:endParaRPr lang="en-US" noProof="0" dirty="0"/>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smtClean="0"/>
              <a:t>Click icon to add picture</a:t>
            </a:r>
            <a:endParaRPr lang="en-US" noProof="0" dirty="0"/>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smtClean="0"/>
              <a:t>Click icon to add picture</a:t>
            </a:r>
            <a:endParaRPr lang="en-US" noProof="0" dirty="0"/>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Rectangle 3"/>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smtClean="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smtClean="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smtClean="0">
                <a:solidFill>
                  <a:schemeClr val="bg1"/>
                </a:solidFill>
              </a:rPr>
              <a:t>© 2017 Deloitte Touche Tohmatsu India LLP</a:t>
            </a:r>
            <a:endParaRPr lang="fr-FR" sz="717" noProof="0" dirty="0">
              <a:solidFill>
                <a:schemeClr val="bg1"/>
              </a:solidFill>
            </a:endParaRP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550"/>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lvl1pPr>
              <a:defRPr sz="1488"/>
            </a:lvl1pPr>
            <a:lvl2pPr>
              <a:defRPr sz="1488"/>
            </a:lvl2pPr>
            <a:lvl3pPr>
              <a:defRPr sz="1488"/>
            </a:lvl3pPr>
            <a:lvl4pPr>
              <a:defRPr sz="1488"/>
            </a:lvl4pPr>
            <a:lvl5pPr>
              <a:defRPr sz="1488"/>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1117933896"/>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2061" y="4644850"/>
            <a:ext cx="7454990" cy="2392803"/>
          </a:xfrm>
        </p:spPr>
        <p:txBody>
          <a:bodyPr anchor="b" anchorCtr="0"/>
          <a:lstStyle>
            <a:lvl1pPr>
              <a:lnSpc>
                <a:spcPct val="100000"/>
              </a:lnSpc>
              <a:spcAft>
                <a:spcPts val="662"/>
              </a:spcAft>
              <a:defRPr sz="993"/>
            </a:lvl1pPr>
          </a:lstStyle>
          <a:p>
            <a:pPr lvl="0"/>
            <a:r>
              <a:rPr lang="en-US" smtClean="0"/>
              <a:t>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2062" y="446419"/>
            <a:ext cx="1956778" cy="345339"/>
          </a:xfrm>
          <a:prstGeom prst="rect">
            <a:avLst/>
          </a:prstGeom>
        </p:spPr>
      </p:pic>
      <p:sp>
        <p:nvSpPr>
          <p:cNvPr id="3" name="Picture Placeholder 2"/>
          <p:cNvSpPr>
            <a:spLocks noGrp="1"/>
          </p:cNvSpPr>
          <p:nvPr>
            <p:ph type="pic" sz="quarter" idx="14" hasCustomPrompt="1"/>
          </p:nvPr>
        </p:nvSpPr>
        <p:spPr>
          <a:xfrm>
            <a:off x="8215354" y="5002095"/>
            <a:ext cx="1764654" cy="1545541"/>
          </a:xfrm>
        </p:spPr>
        <p:txBody>
          <a:bodyPr anchor="ctr" anchorCtr="0"/>
          <a:lstStyle>
            <a:lvl1pPr algn="ctr">
              <a:defRPr sz="993"/>
            </a:lvl1pPr>
          </a:lstStyle>
          <a:p>
            <a:r>
              <a:rPr lang="en-GB" sz="993" dirty="0" smtClean="0"/>
              <a:t>Insert sponsorship mark here</a:t>
            </a:r>
            <a:endParaRPr lang="en-GB" dirty="0"/>
          </a:p>
        </p:txBody>
      </p:sp>
      <p:sp>
        <p:nvSpPr>
          <p:cNvPr id="8" name="Text Placeholder 7"/>
          <p:cNvSpPr>
            <a:spLocks noGrp="1"/>
          </p:cNvSpPr>
          <p:nvPr>
            <p:ph type="body" sz="quarter" idx="15"/>
          </p:nvPr>
        </p:nvSpPr>
        <p:spPr>
          <a:xfrm>
            <a:off x="8215356" y="6636547"/>
            <a:ext cx="1764653" cy="401105"/>
          </a:xfrm>
        </p:spPr>
        <p:txBody>
          <a:bodyPr anchor="b" anchorCtr="0"/>
          <a:lstStyle>
            <a:lvl1pPr>
              <a:lnSpc>
                <a:spcPct val="100000"/>
              </a:lnSpc>
              <a:defRPr sz="1048"/>
            </a:lvl1pPr>
          </a:lstStyle>
          <a:p>
            <a:pPr lvl="0"/>
            <a:r>
              <a:rPr lang="en-US" smtClean="0"/>
              <a:t>Edit Master text styles</a:t>
            </a:r>
          </a:p>
        </p:txBody>
      </p:sp>
    </p:spTree>
    <p:extLst>
      <p:ext uri="{BB962C8B-B14F-4D97-AF65-F5344CB8AC3E}">
        <p14:creationId xmlns:p14="http://schemas.microsoft.com/office/powerpoint/2010/main" val="1648831498"/>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0813" y="2977501"/>
            <a:ext cx="9847013" cy="526085"/>
          </a:xfrm>
        </p:spPr>
        <p:txBody>
          <a:bodyPr lIns="0" tIns="0" rIns="0" bIns="0" anchor="t" anchorCtr="0">
            <a:spAutoFit/>
          </a:bodyPr>
          <a:lstStyle>
            <a:lvl1pPr algn="l">
              <a:defRPr sz="3294" b="0">
                <a:solidFill>
                  <a:schemeClr val="accent1"/>
                </a:solidFill>
                <a:latin typeface="+mj-lt"/>
              </a:defRPr>
            </a:lvl1pPr>
          </a:lstStyle>
          <a:p>
            <a:r>
              <a:rPr lang="en-US" smtClean="0"/>
              <a:t>Click to edit Master title style</a:t>
            </a:r>
            <a:endParaRPr lang="en-GB" dirty="0"/>
          </a:p>
        </p:txBody>
      </p:sp>
      <p:sp>
        <p:nvSpPr>
          <p:cNvPr id="3" name="Subtitle 2"/>
          <p:cNvSpPr>
            <a:spLocks noGrp="1"/>
          </p:cNvSpPr>
          <p:nvPr>
            <p:ph type="subTitle" idx="1"/>
          </p:nvPr>
        </p:nvSpPr>
        <p:spPr>
          <a:xfrm>
            <a:off x="420812" y="5955001"/>
            <a:ext cx="6312188" cy="339410"/>
          </a:xfrm>
        </p:spPr>
        <p:txBody>
          <a:bodyPr lIns="0" tIns="0" rIns="0" bIns="0">
            <a:spAutoFit/>
          </a:bodyPr>
          <a:lstStyle>
            <a:lvl1pPr marL="0" indent="0" algn="l">
              <a:buNone/>
              <a:defRPr sz="2125">
                <a:solidFill>
                  <a:schemeClr val="accent1"/>
                </a:solidFill>
              </a:defRPr>
            </a:lvl1pPr>
            <a:lvl2pPr marL="541352" indent="0" algn="ctr">
              <a:buNone/>
              <a:defRPr>
                <a:solidFill>
                  <a:schemeClr val="tx1">
                    <a:tint val="75000"/>
                  </a:schemeClr>
                </a:solidFill>
              </a:defRPr>
            </a:lvl2pPr>
            <a:lvl3pPr marL="1082704" indent="0" algn="ctr">
              <a:buNone/>
              <a:defRPr>
                <a:solidFill>
                  <a:schemeClr val="tx1">
                    <a:tint val="75000"/>
                  </a:schemeClr>
                </a:solidFill>
              </a:defRPr>
            </a:lvl3pPr>
            <a:lvl4pPr marL="1624057" indent="0" algn="ctr">
              <a:buNone/>
              <a:defRPr>
                <a:solidFill>
                  <a:schemeClr val="tx1">
                    <a:tint val="75000"/>
                  </a:schemeClr>
                </a:solidFill>
              </a:defRPr>
            </a:lvl4pPr>
            <a:lvl5pPr marL="2165410" indent="0" algn="ctr">
              <a:buNone/>
              <a:defRPr>
                <a:solidFill>
                  <a:schemeClr val="tx1">
                    <a:tint val="75000"/>
                  </a:schemeClr>
                </a:solidFill>
              </a:defRPr>
            </a:lvl5pPr>
            <a:lvl6pPr marL="2706762" indent="0" algn="ctr">
              <a:buNone/>
              <a:defRPr>
                <a:solidFill>
                  <a:schemeClr val="tx1">
                    <a:tint val="75000"/>
                  </a:schemeClr>
                </a:solidFill>
              </a:defRPr>
            </a:lvl6pPr>
            <a:lvl7pPr marL="3248114" indent="0" algn="ctr">
              <a:buNone/>
              <a:defRPr>
                <a:solidFill>
                  <a:schemeClr val="tx1">
                    <a:tint val="75000"/>
                  </a:schemeClr>
                </a:solidFill>
              </a:defRPr>
            </a:lvl7pPr>
            <a:lvl8pPr marL="3789467" indent="0" algn="ctr">
              <a:buNone/>
              <a:defRPr>
                <a:solidFill>
                  <a:schemeClr val="tx1">
                    <a:tint val="75000"/>
                  </a:schemeClr>
                </a:solidFill>
              </a:defRPr>
            </a:lvl8pPr>
            <a:lvl9pPr marL="4330819" indent="0" algn="ctr">
              <a:buNone/>
              <a:defRPr>
                <a:solidFill>
                  <a:schemeClr val="tx1">
                    <a:tint val="75000"/>
                  </a:schemeClr>
                </a:solidFill>
              </a:defRPr>
            </a:lvl9pPr>
          </a:lstStyle>
          <a:p>
            <a:r>
              <a:rPr lang="en-US" smtClean="0"/>
              <a:t>Click to edit Master subtitle style</a:t>
            </a:r>
            <a:endParaRPr lang="en-GB" dirty="0"/>
          </a:p>
        </p:txBody>
      </p:sp>
      <p:pic>
        <p:nvPicPr>
          <p:cNvPr id="7" name="Picture 4" descr="DEL_COL"/>
          <p:cNvPicPr preferRelativeResize="0">
            <a:picLocks noChangeAspect="1" noChangeArrowheads="1"/>
          </p:cNvPicPr>
          <p:nvPr userDrawn="1"/>
        </p:nvPicPr>
        <p:blipFill>
          <a:blip r:embed="rId2" cstate="print"/>
          <a:stretch>
            <a:fillRect/>
          </a:stretch>
        </p:blipFill>
        <p:spPr bwMode="auto">
          <a:xfrm>
            <a:off x="419382" y="395650"/>
            <a:ext cx="2009738" cy="417122"/>
          </a:xfrm>
          <a:prstGeom prst="rect">
            <a:avLst/>
          </a:prstGeom>
          <a:noFill/>
          <a:ln>
            <a:noFill/>
          </a:ln>
        </p:spPr>
      </p:pic>
    </p:spTree>
    <p:extLst>
      <p:ext uri="{BB962C8B-B14F-4D97-AF65-F5344CB8AC3E}">
        <p14:creationId xmlns:p14="http://schemas.microsoft.com/office/powerpoint/2010/main" val="3219925634"/>
      </p:ext>
    </p:extLst>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976" b="0">
                <a:latin typeface="+mj-lt"/>
              </a:defRPr>
            </a:lvl1pPr>
          </a:lstStyle>
          <a:p>
            <a:r>
              <a:rPr lang="en-US" dirty="0" smtClean="0"/>
              <a:t>Click to edit Master title style</a:t>
            </a:r>
            <a:endParaRPr lang="en-GB" dirty="0"/>
          </a:p>
        </p:txBody>
      </p:sp>
    </p:spTree>
    <p:extLst>
      <p:ext uri="{BB962C8B-B14F-4D97-AF65-F5344CB8AC3E}">
        <p14:creationId xmlns:p14="http://schemas.microsoft.com/office/powerpoint/2010/main" val="4226700801"/>
      </p:ext>
    </p:extLst>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550"/>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lvl1pPr>
              <a:defRPr sz="1488"/>
            </a:lvl1pPr>
            <a:lvl2pPr>
              <a:defRPr sz="1488"/>
            </a:lvl2pPr>
            <a:lvl3pPr>
              <a:defRPr sz="1488"/>
            </a:lvl3pPr>
            <a:lvl4pPr>
              <a:defRPr sz="1488"/>
            </a:lvl4pPr>
            <a:lvl5pPr>
              <a:defRPr sz="1488"/>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287020614"/>
      </p:ext>
    </p:extLst>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430514" y="3475957"/>
            <a:ext cx="8922044" cy="678818"/>
          </a:xfrm>
        </p:spPr>
        <p:txBody>
          <a:bodyPr vert="horz" wrap="square" lIns="0" tIns="0" rIns="0" bIns="0" rtlCol="0" anchor="t" anchorCtr="0">
            <a:spAutoFit/>
          </a:bodyPr>
          <a:lstStyle>
            <a:lvl1pPr algn="l" defTabSz="1082704" rtl="0" eaLnBrk="1" latinLnBrk="0" hangingPunct="1">
              <a:lnSpc>
                <a:spcPct val="100000"/>
              </a:lnSpc>
              <a:spcBef>
                <a:spcPct val="0"/>
              </a:spcBef>
              <a:buNone/>
              <a:defRPr lang="en-GB" sz="4251" b="0" kern="1200" dirty="0" smtClean="0">
                <a:solidFill>
                  <a:schemeClr val="tx2"/>
                </a:solidFill>
                <a:latin typeface="+mj-lt"/>
                <a:ea typeface="+mj-ea"/>
                <a:cs typeface="+mj-cs"/>
              </a:defRPr>
            </a:lvl1pPr>
          </a:lstStyle>
          <a:p>
            <a:r>
              <a:rPr lang="en-US" dirty="0" smtClean="0"/>
              <a:t>Click to edit Master title style</a:t>
            </a:r>
            <a:endParaRPr lang="en-GB" dirty="0"/>
          </a:p>
        </p:txBody>
      </p:sp>
    </p:spTree>
    <p:extLst>
      <p:ext uri="{BB962C8B-B14F-4D97-AF65-F5344CB8AC3E}">
        <p14:creationId xmlns:p14="http://schemas.microsoft.com/office/powerpoint/2010/main" val="247798092"/>
      </p:ext>
    </p:extLst>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3"/>
          <p:cNvSpPr>
            <a:spLocks noChangeArrowheads="1"/>
          </p:cNvSpPr>
          <p:nvPr userDrawn="1"/>
        </p:nvSpPr>
        <p:spPr bwMode="auto">
          <a:xfrm>
            <a:off x="430177" y="5847291"/>
            <a:ext cx="9853588" cy="1323824"/>
          </a:xfrm>
          <a:prstGeom prst="rect">
            <a:avLst/>
          </a:prstGeom>
          <a:noFill/>
          <a:ln w="9525">
            <a:noFill/>
            <a:miter lim="800000"/>
            <a:headEnd/>
            <a:tailEnd/>
          </a:ln>
        </p:spPr>
        <p:txBody>
          <a:bodyPr wrap="square" lIns="0" tIns="0" rIns="0" bIns="0">
            <a:spAutoFit/>
          </a:bodyPr>
          <a:lstStyle/>
          <a:p>
            <a:pPr algn="just" defTabSz="1082704"/>
            <a:r>
              <a:rPr lang="en-US" sz="956" dirty="0" smtClean="0">
                <a:solidFill>
                  <a:srgbClr val="000000"/>
                </a:solidFill>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a:t>
            </a:r>
            <a:r>
              <a:rPr lang="en-US" sz="956" dirty="0" smtClean="0">
                <a:solidFill>
                  <a:srgbClr val="000000"/>
                </a:solidFill>
                <a:hlinkClick r:id="rId2"/>
              </a:rPr>
              <a:t>www.deloitte.com/about</a:t>
            </a:r>
            <a:r>
              <a:rPr lang="en-US" sz="956" dirty="0" smtClean="0">
                <a:solidFill>
                  <a:srgbClr val="000000"/>
                </a:solidFill>
              </a:rPr>
              <a:t> for a more detailed description of DTTL and its member firms.</a:t>
            </a:r>
          </a:p>
          <a:p>
            <a:pPr algn="just" defTabSz="1082704"/>
            <a:endParaRPr lang="en-US" sz="956" dirty="0" smtClean="0">
              <a:solidFill>
                <a:srgbClr val="000000"/>
              </a:solidFill>
            </a:endParaRPr>
          </a:p>
          <a:p>
            <a:pPr algn="just" defTabSz="1082704"/>
            <a:r>
              <a:rPr lang="en-US" sz="956" dirty="0" smtClean="0">
                <a:solidFill>
                  <a:srgbClr val="000000"/>
                </a:solidFill>
              </a:rPr>
              <a:t>This material has been prepared by Deloitte Touche Tohmatsu India Private Limited (“DTTIPL”), a member of Deloitte Touche Tohmatsu Limited,  on a specific request from you and contains confidential and proprietary information. The information contained in this material is intended solely for you thereby, any disclosure, copy or further distribution of this material or the contents thereof is strictly prohibited. No entity in the Deloitte Network shall be responsible for any loss whatsoever sustained by any person who relies on this material. </a:t>
            </a:r>
          </a:p>
          <a:p>
            <a:pPr algn="just" defTabSz="1082704"/>
            <a:endParaRPr lang="en-US" sz="956" dirty="0" smtClean="0">
              <a:solidFill>
                <a:srgbClr val="000000"/>
              </a:solidFill>
            </a:endParaRPr>
          </a:p>
          <a:p>
            <a:pPr algn="just" defTabSz="1082704"/>
            <a:r>
              <a:rPr lang="en-US" sz="956" dirty="0" smtClean="0">
                <a:solidFill>
                  <a:srgbClr val="000000"/>
                </a:solidFill>
              </a:rPr>
              <a:t>©2015 Deloitte Touche Tohmatsu India Private Limited. Member of Deloitte Touche Tohmatsu Limited</a:t>
            </a:r>
          </a:p>
        </p:txBody>
      </p:sp>
      <p:pic>
        <p:nvPicPr>
          <p:cNvPr id="3" name="Picture 4" descr="DEL_COL"/>
          <p:cNvPicPr preferRelativeResize="0">
            <a:picLocks noChangeAspect="1" noChangeArrowheads="1"/>
          </p:cNvPicPr>
          <p:nvPr userDrawn="1"/>
        </p:nvPicPr>
        <p:blipFill>
          <a:blip r:embed="rId3" cstate="print"/>
          <a:stretch>
            <a:fillRect/>
          </a:stretch>
        </p:blipFill>
        <p:spPr bwMode="auto">
          <a:xfrm>
            <a:off x="419380" y="3109172"/>
            <a:ext cx="3629231" cy="753249"/>
          </a:xfrm>
          <a:prstGeom prst="rect">
            <a:avLst/>
          </a:prstGeom>
          <a:noFill/>
          <a:ln>
            <a:noFill/>
          </a:ln>
        </p:spPr>
      </p:pic>
    </p:spTree>
    <p:extLst>
      <p:ext uri="{BB962C8B-B14F-4D97-AF65-F5344CB8AC3E}">
        <p14:creationId xmlns:p14="http://schemas.microsoft.com/office/powerpoint/2010/main" val="2311180449"/>
      </p:ext>
    </p:extLst>
  </p:cSld>
  <p:clrMapOvr>
    <a:masterClrMapping/>
  </p:clrMapOvr>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3" y="326073"/>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88484" indent="-288484">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0" b="0">
                <a:solidFill>
                  <a:srgbClr val="8C8C8C"/>
                </a:solidFill>
              </a:defRPr>
            </a:lvl1pPr>
          </a:lstStyle>
          <a:p>
            <a:pPr defTabSz="1082704"/>
            <a:endParaRPr lang="en-US"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0"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95194279"/>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dirty="0" smtClean="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Tree>
    <p:extLst>
      <p:ext uri="{BB962C8B-B14F-4D97-AF65-F5344CB8AC3E}">
        <p14:creationId xmlns:p14="http://schemas.microsoft.com/office/powerpoint/2010/main" val="99522213"/>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vmlDrawing" Target="../drawings/vmlDrawing1.v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5.xml"/><Relationship Id="rId7" Type="http://schemas.openxmlformats.org/officeDocument/2006/relationships/slideLayout" Target="../slideLayouts/slideLayout89.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5"/>
            </p:custDataLst>
            <p:extLst/>
          </p:nvPr>
        </p:nvGraphicFramePr>
        <p:xfrm>
          <a:off x="1857" y="1752"/>
          <a:ext cx="1855" cy="1750"/>
        </p:xfrm>
        <a:graphic>
          <a:graphicData uri="http://schemas.openxmlformats.org/presentationml/2006/ole">
            <mc:AlternateContent xmlns:mc="http://schemas.openxmlformats.org/markup-compatibility/2006">
              <mc:Choice xmlns:v="urn:schemas-microsoft-com:vml" Requires="v">
                <p:oleObj spid="_x0000_s10319" name="think-cell Slide" r:id="rId86" imgW="270" imgH="270" progId="TCLayout.ActiveDocument.1">
                  <p:embed/>
                </p:oleObj>
              </mc:Choice>
              <mc:Fallback>
                <p:oleObj name="think-cell Slide" r:id="rId86" imgW="270" imgH="270" progId="TCLayout.ActiveDocument.1">
                  <p:embed/>
                  <p:pic>
                    <p:nvPicPr>
                      <p:cNvPr id="0" name=""/>
                      <p:cNvPicPr/>
                      <p:nvPr/>
                    </p:nvPicPr>
                    <p:blipFill>
                      <a:blip r:embed="rId87"/>
                      <a:stretch>
                        <a:fillRect/>
                      </a:stretch>
                    </p:blipFill>
                    <p:spPr>
                      <a:xfrm>
                        <a:off x="1857" y="1752"/>
                        <a:ext cx="1855" cy="1750"/>
                      </a:xfrm>
                      <a:prstGeom prst="rect">
                        <a:avLst/>
                      </a:prstGeom>
                    </p:spPr>
                  </p:pic>
                </p:oleObj>
              </mc:Fallback>
            </mc:AlternateContent>
          </a:graphicData>
        </a:graphic>
      </p:graphicFrame>
      <p:sp>
        <p:nvSpPr>
          <p:cNvPr id="2" name="Title Placeholder 1"/>
          <p:cNvSpPr>
            <a:spLocks noGrp="1"/>
          </p:cNvSpPr>
          <p:nvPr>
            <p:ph type="title"/>
          </p:nvPr>
        </p:nvSpPr>
        <p:spPr bwMode="gray">
          <a:xfrm>
            <a:off x="439794" y="350133"/>
            <a:ext cx="9809052" cy="763288"/>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
        <p:nvSpPr>
          <p:cNvPr id="18" name="TextBox 17"/>
          <p:cNvSpPr txBox="1"/>
          <p:nvPr userDrawn="1"/>
        </p:nvSpPr>
        <p:spPr>
          <a:xfrm>
            <a:off x="248067" y="7340905"/>
            <a:ext cx="4694837" cy="221945"/>
          </a:xfrm>
          <a:prstGeom prst="rect">
            <a:avLst/>
          </a:prstGeom>
          <a:noFill/>
        </p:spPr>
        <p:txBody>
          <a:bodyPr wrap="square" lIns="0" tIns="0" rIns="0" bIns="0" rtlCol="0">
            <a:noAutofit/>
          </a:bodyPr>
          <a:lstStyle/>
          <a:p>
            <a:pPr>
              <a:spcBef>
                <a:spcPts val="662"/>
              </a:spcBef>
              <a:buSzPct val="100000"/>
              <a:buFont typeface="Arial"/>
              <a:buNone/>
            </a:pPr>
            <a:r>
              <a:rPr lang="fr-FR" sz="700" dirty="0" smtClean="0">
                <a:solidFill>
                  <a:prstClr val="black"/>
                </a:solidFill>
              </a:rPr>
              <a:t>© 2017 Deloitte Touche Tohmatsu India LLP</a:t>
            </a:r>
            <a:endParaRPr lang="fr-FR" sz="700" dirty="0">
              <a:solidFill>
                <a:prstClr val="black"/>
              </a:solidFill>
            </a:endParaRPr>
          </a:p>
        </p:txBody>
      </p:sp>
      <p:sp>
        <p:nvSpPr>
          <p:cNvPr id="19" name="Text Placeholder 18"/>
          <p:cNvSpPr>
            <a:spLocks noGrp="1"/>
          </p:cNvSpPr>
          <p:nvPr>
            <p:ph type="body" idx="1"/>
          </p:nvPr>
        </p:nvSpPr>
        <p:spPr>
          <a:xfrm>
            <a:off x="439793" y="1836444"/>
            <a:ext cx="9809052" cy="5201209"/>
          </a:xfrm>
          <a:prstGeom prst="rect">
            <a:avLst/>
          </a:prstGeom>
        </p:spPr>
        <p:txBody>
          <a:bodyPr vert="horz"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3" name="TextBox 2"/>
          <p:cNvSpPr txBox="1"/>
          <p:nvPr userDrawn="1"/>
        </p:nvSpPr>
        <p:spPr>
          <a:xfrm>
            <a:off x="10185318" y="7341569"/>
            <a:ext cx="269999" cy="110308"/>
          </a:xfrm>
          <a:prstGeom prst="rect">
            <a:avLst/>
          </a:prstGeom>
          <a:noFill/>
        </p:spPr>
        <p:txBody>
          <a:bodyPr wrap="square" lIns="0" tIns="0" rIns="0" bIns="0" rtlCol="0">
            <a:noAutofit/>
          </a:bodyPr>
          <a:lstStyle/>
          <a:p>
            <a:pPr algn="r">
              <a:spcBef>
                <a:spcPts val="662"/>
              </a:spcBef>
              <a:buSzPct val="100000"/>
              <a:buFont typeface="Arial"/>
              <a:buNone/>
            </a:pPr>
            <a:fld id="{C58DF478-B544-4ED8-9ED4-6A2648E2D233}" type="slidenum">
              <a:rPr lang="en-US" sz="700" smtClean="0">
                <a:solidFill>
                  <a:prstClr val="black"/>
                </a:solidFill>
              </a:rPr>
              <a:pPr algn="r">
                <a:spcBef>
                  <a:spcPts val="662"/>
                </a:spcBef>
                <a:buSzPct val="100000"/>
                <a:buFont typeface="Arial"/>
                <a:buNone/>
              </a:pPr>
              <a:t>‹#›</a:t>
            </a:fld>
            <a:endParaRPr lang="en-US" sz="700" dirty="0">
              <a:solidFill>
                <a:prstClr val="black"/>
              </a:solidFill>
            </a:endParaRPr>
          </a:p>
        </p:txBody>
      </p:sp>
    </p:spTree>
    <p:extLst>
      <p:ext uri="{BB962C8B-B14F-4D97-AF65-F5344CB8AC3E}">
        <p14:creationId xmlns:p14="http://schemas.microsoft.com/office/powerpoint/2010/main" val="413317841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833" r:id="rId32"/>
    <p:sldLayoutId id="2147483834" r:id="rId33"/>
    <p:sldLayoutId id="2147483835" r:id="rId34"/>
    <p:sldLayoutId id="2147483836" r:id="rId35"/>
    <p:sldLayoutId id="2147483837" r:id="rId36"/>
    <p:sldLayoutId id="2147483838" r:id="rId37"/>
    <p:sldLayoutId id="2147483839" r:id="rId38"/>
    <p:sldLayoutId id="2147483840" r:id="rId39"/>
    <p:sldLayoutId id="2147483841" r:id="rId40"/>
    <p:sldLayoutId id="2147483701" r:id="rId41"/>
    <p:sldLayoutId id="2147483702" r:id="rId42"/>
    <p:sldLayoutId id="2147483756" r:id="rId43"/>
    <p:sldLayoutId id="2147483755" r:id="rId44"/>
    <p:sldLayoutId id="2147483703" r:id="rId45"/>
    <p:sldLayoutId id="2147483704" r:id="rId46"/>
    <p:sldLayoutId id="2147483705" r:id="rId47"/>
    <p:sldLayoutId id="2147483706" r:id="rId48"/>
    <p:sldLayoutId id="2147483707" r:id="rId49"/>
    <p:sldLayoutId id="2147483713" r:id="rId50"/>
    <p:sldLayoutId id="2147483708" r:id="rId51"/>
    <p:sldLayoutId id="2147483710" r:id="rId52"/>
    <p:sldLayoutId id="2147483754" r:id="rId53"/>
    <p:sldLayoutId id="2147483711" r:id="rId54"/>
    <p:sldLayoutId id="2147483753" r:id="rId55"/>
    <p:sldLayoutId id="2147483679" r:id="rId56"/>
    <p:sldLayoutId id="2147483712" r:id="rId57"/>
    <p:sldLayoutId id="2147483678" r:id="rId58"/>
    <p:sldLayoutId id="2147483681" r:id="rId59"/>
    <p:sldLayoutId id="2147483735" r:id="rId60"/>
    <p:sldLayoutId id="2147483699" r:id="rId61"/>
    <p:sldLayoutId id="2147483714" r:id="rId62"/>
    <p:sldLayoutId id="2147483697" r:id="rId63"/>
    <p:sldLayoutId id="2147483715" r:id="rId64"/>
    <p:sldLayoutId id="2147483716" r:id="rId65"/>
    <p:sldLayoutId id="2147483717" r:id="rId66"/>
    <p:sldLayoutId id="2147483718" r:id="rId67"/>
    <p:sldLayoutId id="2147483728" r:id="rId68"/>
    <p:sldLayoutId id="2147483720" r:id="rId69"/>
    <p:sldLayoutId id="2147483721" r:id="rId70"/>
    <p:sldLayoutId id="2147483722" r:id="rId71"/>
    <p:sldLayoutId id="2147483695" r:id="rId72"/>
    <p:sldLayoutId id="2147483751" r:id="rId73"/>
    <p:sldLayoutId id="2147483724" r:id="rId74"/>
    <p:sldLayoutId id="2147483725" r:id="rId75"/>
    <p:sldLayoutId id="2147483726" r:id="rId76"/>
    <p:sldLayoutId id="2147483727" r:id="rId77"/>
    <p:sldLayoutId id="2147483698" r:id="rId78"/>
    <p:sldLayoutId id="2147483752" r:id="rId79"/>
    <p:sldLayoutId id="2147483696" r:id="rId80"/>
    <p:sldLayoutId id="2147483850" r:id="rId81"/>
    <p:sldLayoutId id="2147483851" r:id="rId82"/>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2000" kern="1200">
          <a:solidFill>
            <a:schemeClr val="tx1"/>
          </a:solidFill>
          <a:latin typeface="+mj-lt"/>
          <a:ea typeface="+mj-ea"/>
          <a:cs typeface="+mj-cs"/>
        </a:defRPr>
      </a:lvl1pPr>
    </p:titleStyle>
    <p:bodyStyle>
      <a:lvl1pPr marL="0" indent="0" algn="l" defTabSz="1008400" rtl="0" eaLnBrk="1" latinLnBrk="0" hangingPunct="1">
        <a:spcBef>
          <a:spcPts val="0"/>
        </a:spcBef>
        <a:spcAft>
          <a:spcPts val="110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000"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443">
          <p15:clr>
            <a:srgbClr val="F26B43"/>
          </p15:clr>
        </p15:guide>
        <p15:guide id="2" pos="277">
          <p15:clr>
            <a:srgbClr val="F26B43"/>
          </p15:clr>
        </p15:guide>
        <p15:guide id="3" pos="6464">
          <p15:clr>
            <a:srgbClr val="F26B43"/>
          </p15:clr>
        </p15:guide>
        <p15:guide id="4" orient="horz" pos="219">
          <p15:clr>
            <a:srgbClr val="F26B43"/>
          </p15:clr>
        </p15:guide>
        <p15:guide id="5" orient="horz" pos="11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0813" y="397000"/>
            <a:ext cx="9847013" cy="694750"/>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20813" y="1290250"/>
            <a:ext cx="9847013" cy="5756500"/>
          </a:xfrm>
          <a:prstGeom prst="rect">
            <a:avLst/>
          </a:prstGeom>
        </p:spPr>
        <p:txBody>
          <a:bodyPr vert="horz" lIns="0" tIns="0" rIns="0" bIns="0" rtlCol="0" anchor="t" anchorCtr="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TextBox 4"/>
          <p:cNvSpPr txBox="1"/>
          <p:nvPr userDrawn="1"/>
        </p:nvSpPr>
        <p:spPr>
          <a:xfrm>
            <a:off x="248067" y="7340905"/>
            <a:ext cx="4694837" cy="221945"/>
          </a:xfrm>
          <a:prstGeom prst="rect">
            <a:avLst/>
          </a:prstGeom>
          <a:noFill/>
        </p:spPr>
        <p:txBody>
          <a:bodyPr wrap="square" lIns="0" tIns="0" rIns="0" bIns="0" rtlCol="0">
            <a:noAutofit/>
          </a:bodyPr>
          <a:lstStyle/>
          <a:p>
            <a:pPr>
              <a:spcBef>
                <a:spcPts val="662"/>
              </a:spcBef>
              <a:buSzPct val="100000"/>
              <a:buFont typeface="Arial"/>
              <a:buNone/>
            </a:pPr>
            <a:r>
              <a:rPr lang="fr-FR" sz="700" dirty="0" smtClean="0">
                <a:solidFill>
                  <a:prstClr val="black"/>
                </a:solidFill>
              </a:rPr>
              <a:t>© 2017 Deloitte Touche Tohmatsu India LLP</a:t>
            </a:r>
            <a:endParaRPr lang="fr-FR" sz="700" dirty="0">
              <a:solidFill>
                <a:prstClr val="black"/>
              </a:solidFill>
            </a:endParaRPr>
          </a:p>
        </p:txBody>
      </p:sp>
      <p:sp>
        <p:nvSpPr>
          <p:cNvPr id="7" name="TextBox 6"/>
          <p:cNvSpPr txBox="1"/>
          <p:nvPr userDrawn="1"/>
        </p:nvSpPr>
        <p:spPr>
          <a:xfrm>
            <a:off x="10185318" y="7341569"/>
            <a:ext cx="269999" cy="110308"/>
          </a:xfrm>
          <a:prstGeom prst="rect">
            <a:avLst/>
          </a:prstGeom>
          <a:noFill/>
        </p:spPr>
        <p:txBody>
          <a:bodyPr wrap="square" lIns="0" tIns="0" rIns="0" bIns="0" rtlCol="0">
            <a:noAutofit/>
          </a:bodyPr>
          <a:lstStyle/>
          <a:p>
            <a:pPr algn="r">
              <a:spcBef>
                <a:spcPts val="662"/>
              </a:spcBef>
              <a:buSzPct val="100000"/>
              <a:buFont typeface="Arial"/>
              <a:buNone/>
            </a:pPr>
            <a:fld id="{C58DF478-B544-4ED8-9ED4-6A2648E2D233}" type="slidenum">
              <a:rPr lang="en-US" sz="700" smtClean="0">
                <a:solidFill>
                  <a:prstClr val="black"/>
                </a:solidFill>
              </a:rPr>
              <a:pPr algn="r">
                <a:spcBef>
                  <a:spcPts val="662"/>
                </a:spcBef>
                <a:buSzPct val="100000"/>
                <a:buFont typeface="Arial"/>
                <a:buNone/>
              </a:pPr>
              <a:t>‹#›</a:t>
            </a:fld>
            <a:endParaRPr lang="en-US" sz="700" dirty="0">
              <a:solidFill>
                <a:prstClr val="black"/>
              </a:solidFill>
            </a:endParaRPr>
          </a:p>
        </p:txBody>
      </p:sp>
    </p:spTree>
    <p:extLst>
      <p:ext uri="{BB962C8B-B14F-4D97-AF65-F5344CB8AC3E}">
        <p14:creationId xmlns:p14="http://schemas.microsoft.com/office/powerpoint/2010/main" val="408607718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Lst>
  <p:timing>
    <p:tnLst>
      <p:par>
        <p:cTn id="1" dur="indefinite" restart="never" nodeType="tmRoot"/>
      </p:par>
    </p:tnLst>
  </p:timing>
  <p:hf hdr="0" ftr="0" dt="0"/>
  <p:txStyles>
    <p:titleStyle>
      <a:lvl1pPr algn="l" defTabSz="1082704" rtl="0" eaLnBrk="1" latinLnBrk="0" hangingPunct="1">
        <a:spcBef>
          <a:spcPct val="0"/>
        </a:spcBef>
        <a:buNone/>
        <a:defRPr sz="2869" b="1" kern="1200">
          <a:solidFill>
            <a:schemeClr val="accent1"/>
          </a:solidFill>
          <a:latin typeface="+mn-lt"/>
          <a:ea typeface="+mj-ea"/>
          <a:cs typeface="+mj-cs"/>
        </a:defRPr>
      </a:lvl1pPr>
    </p:titleStyle>
    <p:bodyStyle>
      <a:lvl1pPr marL="0" indent="0" algn="l" defTabSz="1082704" rtl="0" eaLnBrk="1" latinLnBrk="0" hangingPunct="1">
        <a:spcBef>
          <a:spcPts val="0"/>
        </a:spcBef>
        <a:spcAft>
          <a:spcPts val="355"/>
        </a:spcAft>
        <a:buFont typeface="Arial" pitchFamily="34" charset="0"/>
        <a:buNone/>
        <a:defRPr lang="en-US" sz="1488" kern="1200" dirty="0" smtClean="0">
          <a:solidFill>
            <a:schemeClr val="accent1"/>
          </a:solidFill>
          <a:latin typeface="+mn-lt"/>
          <a:ea typeface="+mj-ea"/>
          <a:cs typeface="+mj-cs"/>
        </a:defRPr>
      </a:lvl1pPr>
      <a:lvl2pPr marL="216166" indent="-2161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2pPr>
      <a:lvl3pPr marL="422932" indent="-2067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3pPr>
      <a:lvl4pPr marL="639096" indent="-2161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4pPr>
      <a:lvl5pPr marL="843984" indent="-204887" algn="l" defTabSz="1082704" rtl="0" eaLnBrk="1" latinLnBrk="0" hangingPunct="1">
        <a:spcBef>
          <a:spcPts val="0"/>
        </a:spcBef>
        <a:spcAft>
          <a:spcPts val="355"/>
        </a:spcAft>
        <a:buFont typeface="Arial" pitchFamily="34" charset="0"/>
        <a:buChar char="‒"/>
        <a:defRPr lang="en-GB" sz="1488" kern="1200" baseline="0" dirty="0" smtClean="0">
          <a:solidFill>
            <a:schemeClr val="accent1"/>
          </a:solidFill>
          <a:latin typeface="+mn-lt"/>
          <a:ea typeface="+mj-ea"/>
          <a:cs typeface="+mj-cs"/>
        </a:defRPr>
      </a:lvl5pPr>
      <a:lvl6pPr marL="1060148" indent="-216166" algn="l" defTabSz="1082704" rtl="0" eaLnBrk="1" latinLnBrk="0" hangingPunct="1">
        <a:spcBef>
          <a:spcPts val="0"/>
        </a:spcBef>
        <a:spcAft>
          <a:spcPts val="355"/>
        </a:spcAft>
        <a:buFont typeface="Arial" pitchFamily="34" charset="0"/>
        <a:buChar char="•"/>
        <a:defRPr sz="1913" kern="1200" baseline="0">
          <a:solidFill>
            <a:schemeClr val="accent1"/>
          </a:solidFill>
          <a:latin typeface="+mn-lt"/>
          <a:ea typeface="+mn-ea"/>
          <a:cs typeface="+mn-cs"/>
        </a:defRPr>
      </a:lvl6pPr>
      <a:lvl7pPr marL="1278193" indent="-218045"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7pPr>
      <a:lvl8pPr marL="1483081" indent="-204887"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8pPr>
      <a:lvl9pPr marL="1699245" indent="-216166"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9pPr>
    </p:bodyStyle>
    <p:otherStyle>
      <a:defPPr>
        <a:defRPr lang="en-US"/>
      </a:defPPr>
      <a:lvl1pPr marL="0" algn="l" defTabSz="1082704" rtl="0" eaLnBrk="1" latinLnBrk="0" hangingPunct="1">
        <a:defRPr sz="2125" kern="1200">
          <a:solidFill>
            <a:schemeClr val="tx1"/>
          </a:solidFill>
          <a:latin typeface="+mn-lt"/>
          <a:ea typeface="+mn-ea"/>
          <a:cs typeface="+mn-cs"/>
        </a:defRPr>
      </a:lvl1pPr>
      <a:lvl2pPr marL="541352" algn="l" defTabSz="1082704" rtl="0" eaLnBrk="1" latinLnBrk="0" hangingPunct="1">
        <a:defRPr sz="2125" kern="1200">
          <a:solidFill>
            <a:schemeClr val="tx1"/>
          </a:solidFill>
          <a:latin typeface="+mn-lt"/>
          <a:ea typeface="+mn-ea"/>
          <a:cs typeface="+mn-cs"/>
        </a:defRPr>
      </a:lvl2pPr>
      <a:lvl3pPr marL="1082704" algn="l" defTabSz="1082704" rtl="0" eaLnBrk="1" latinLnBrk="0" hangingPunct="1">
        <a:defRPr sz="2125" kern="1200">
          <a:solidFill>
            <a:schemeClr val="tx1"/>
          </a:solidFill>
          <a:latin typeface="+mn-lt"/>
          <a:ea typeface="+mn-ea"/>
          <a:cs typeface="+mn-cs"/>
        </a:defRPr>
      </a:lvl3pPr>
      <a:lvl4pPr marL="1624057" algn="l" defTabSz="1082704" rtl="0" eaLnBrk="1" latinLnBrk="0" hangingPunct="1">
        <a:defRPr sz="2125" kern="1200">
          <a:solidFill>
            <a:schemeClr val="tx1"/>
          </a:solidFill>
          <a:latin typeface="+mn-lt"/>
          <a:ea typeface="+mn-ea"/>
          <a:cs typeface="+mn-cs"/>
        </a:defRPr>
      </a:lvl4pPr>
      <a:lvl5pPr marL="2165410" algn="l" defTabSz="1082704" rtl="0" eaLnBrk="1" latinLnBrk="0" hangingPunct="1">
        <a:defRPr sz="2125" kern="1200">
          <a:solidFill>
            <a:schemeClr val="tx1"/>
          </a:solidFill>
          <a:latin typeface="+mn-lt"/>
          <a:ea typeface="+mn-ea"/>
          <a:cs typeface="+mn-cs"/>
        </a:defRPr>
      </a:lvl5pPr>
      <a:lvl6pPr marL="2706762" algn="l" defTabSz="1082704" rtl="0" eaLnBrk="1" latinLnBrk="0" hangingPunct="1">
        <a:defRPr sz="2125" kern="1200">
          <a:solidFill>
            <a:schemeClr val="tx1"/>
          </a:solidFill>
          <a:latin typeface="+mn-lt"/>
          <a:ea typeface="+mn-ea"/>
          <a:cs typeface="+mn-cs"/>
        </a:defRPr>
      </a:lvl6pPr>
      <a:lvl7pPr marL="3248114" algn="l" defTabSz="1082704" rtl="0" eaLnBrk="1" latinLnBrk="0" hangingPunct="1">
        <a:defRPr sz="2125" kern="1200">
          <a:solidFill>
            <a:schemeClr val="tx1"/>
          </a:solidFill>
          <a:latin typeface="+mn-lt"/>
          <a:ea typeface="+mn-ea"/>
          <a:cs typeface="+mn-cs"/>
        </a:defRPr>
      </a:lvl7pPr>
      <a:lvl8pPr marL="3789467" algn="l" defTabSz="1082704" rtl="0" eaLnBrk="1" latinLnBrk="0" hangingPunct="1">
        <a:defRPr sz="2125" kern="1200">
          <a:solidFill>
            <a:schemeClr val="tx1"/>
          </a:solidFill>
          <a:latin typeface="+mn-lt"/>
          <a:ea typeface="+mn-ea"/>
          <a:cs typeface="+mn-cs"/>
        </a:defRPr>
      </a:lvl8pPr>
      <a:lvl9pPr marL="4330819" algn="l" defTabSz="1082704" rtl="0" eaLnBrk="1" latinLnBrk="0" hangingPunct="1">
        <a:defRPr sz="2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3" Type="http://schemas.openxmlformats.org/officeDocument/2006/relationships/slide" Target="slide56.xml"/><Relationship Id="rId7" Type="http://schemas.openxmlformats.org/officeDocument/2006/relationships/slide" Target="slide44.xml"/><Relationship Id="rId2" Type="http://schemas.openxmlformats.org/officeDocument/2006/relationships/slide" Target="slide45.xml"/><Relationship Id="rId1" Type="http://schemas.openxmlformats.org/officeDocument/2006/relationships/slideLayout" Target="../slideLayouts/slideLayout19.xml"/><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49.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2" Type="http://schemas.openxmlformats.org/officeDocument/2006/relationships/slide" Target="slide197.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slide" Target="slide197.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slide" Target="slide153.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slide" Target="slide154.xml"/><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slide" Target="slide155.xml"/><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slide" Target="slide156.xml"/><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3" Type="http://schemas.openxmlformats.org/officeDocument/2006/relationships/slide" Target="slide163.xml"/><Relationship Id="rId2" Type="http://schemas.openxmlformats.org/officeDocument/2006/relationships/slide" Target="slide158.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slide" Target="slide190.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slide" Target="slide172.xml"/><Relationship Id="rId2" Type="http://schemas.openxmlformats.org/officeDocument/2006/relationships/diagramData" Target="../diagrams/data2.xml"/><Relationship Id="rId1" Type="http://schemas.openxmlformats.org/officeDocument/2006/relationships/slideLayout" Target="../slideLayouts/slideLayout8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8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2.xml.rels><?xml version="1.0" encoding="UTF-8" standalone="yes"?>
<Relationships xmlns="http://schemas.openxmlformats.org/package/2006/relationships"><Relationship Id="rId2" Type="http://schemas.openxmlformats.org/officeDocument/2006/relationships/slide" Target="slide206.xml"/><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9.xml"/><Relationship Id="rId5" Type="http://schemas.openxmlformats.org/officeDocument/2006/relationships/slide" Target="slide6.xml"/><Relationship Id="rId4" Type="http://schemas.openxmlformats.org/officeDocument/2006/relationships/chart" Target="../charts/chart8.xml"/></Relationships>
</file>

<file path=ppt/slides/_rels/slide4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19.xml"/><Relationship Id="rId4" Type="http://schemas.openxmlformats.org/officeDocument/2006/relationships/slide" Target="slide6.xml"/></Relationships>
</file>

<file path=ppt/slides/_rels/slide4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chart" Target="../charts/chart11.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chart" Target="../charts/chart12.xml"/><Relationship Id="rId1" Type="http://schemas.openxmlformats.org/officeDocument/2006/relationships/slideLayout" Target="../slideLayouts/slideLayout19.xml"/><Relationship Id="rId4" Type="http://schemas.openxmlformats.org/officeDocument/2006/relationships/slide" Target="slide6.xml"/></Relationships>
</file>

<file path=ppt/slides/_rels/slide50.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slide" Target="slide51.xml"/><Relationship Id="rId1" Type="http://schemas.openxmlformats.org/officeDocument/2006/relationships/slideLayout" Target="../slideLayouts/slideLayout19.xml"/><Relationship Id="rId4" Type="http://schemas.openxmlformats.org/officeDocument/2006/relationships/slide" Target="slide6.xml"/></Relationships>
</file>

<file path=ppt/slides/_rels/slide5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0.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9.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19.xml"/><Relationship Id="rId4" Type="http://schemas.openxmlformats.org/officeDocument/2006/relationships/slide" Target="slide6.xml"/></Relationships>
</file>

<file path=ppt/slides/_rels/slide5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chart" Target="../charts/chart16.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8" Type="http://schemas.openxmlformats.org/officeDocument/2006/relationships/slide" Target="slide206.xml"/><Relationship Id="rId3" Type="http://schemas.openxmlformats.org/officeDocument/2006/relationships/slide" Target="slide59.xml"/><Relationship Id="rId7" Type="http://schemas.openxmlformats.org/officeDocument/2006/relationships/slide" Target="slide204.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slide" Target="slide202.xml"/><Relationship Id="rId5" Type="http://schemas.openxmlformats.org/officeDocument/2006/relationships/slide" Target="slide200.xml"/><Relationship Id="rId4" Type="http://schemas.openxmlformats.org/officeDocument/2006/relationships/slide" Target="slide197.xml"/><Relationship Id="rId9" Type="http://schemas.openxmlformats.org/officeDocument/2006/relationships/slide" Target="slide6.xml"/></Relationships>
</file>

<file path=ppt/slides/_rels/slide57.xml.rels><?xml version="1.0" encoding="UTF-8" standalone="yes"?>
<Relationships xmlns="http://schemas.openxmlformats.org/package/2006/relationships"><Relationship Id="rId8" Type="http://schemas.openxmlformats.org/officeDocument/2006/relationships/slide" Target="slide206.xml"/><Relationship Id="rId3" Type="http://schemas.openxmlformats.org/officeDocument/2006/relationships/slide" Target="slide195.xml"/><Relationship Id="rId7" Type="http://schemas.openxmlformats.org/officeDocument/2006/relationships/slide" Target="slide204.xml"/><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slide" Target="slide202.xml"/><Relationship Id="rId5" Type="http://schemas.openxmlformats.org/officeDocument/2006/relationships/slide" Target="slide200.xml"/><Relationship Id="rId4" Type="http://schemas.openxmlformats.org/officeDocument/2006/relationships/slide" Target="slide197.xml"/><Relationship Id="rId9" Type="http://schemas.openxmlformats.org/officeDocument/2006/relationships/slide" Target="slide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9.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8" Type="http://schemas.openxmlformats.org/officeDocument/2006/relationships/slide" Target="slide70.xml"/><Relationship Id="rId3" Type="http://schemas.openxmlformats.org/officeDocument/2006/relationships/slide" Target="slide59.xml"/><Relationship Id="rId7" Type="http://schemas.openxmlformats.org/officeDocument/2006/relationships/slide" Target="slide68.xml"/><Relationship Id="rId2" Type="http://schemas.openxmlformats.org/officeDocument/2006/relationships/notesSlide" Target="../notesSlides/notesSlide22.xml"/><Relationship Id="rId1" Type="http://schemas.openxmlformats.org/officeDocument/2006/relationships/slideLayout" Target="../slideLayouts/slideLayout19.xml"/><Relationship Id="rId6" Type="http://schemas.openxmlformats.org/officeDocument/2006/relationships/slide" Target="slide66.xml"/><Relationship Id="rId5" Type="http://schemas.openxmlformats.org/officeDocument/2006/relationships/slide" Target="slide64.xml"/><Relationship Id="rId4" Type="http://schemas.openxmlformats.org/officeDocument/2006/relationships/slide" Target="slide61.xml"/><Relationship Id="rId9" Type="http://schemas.openxmlformats.org/officeDocument/2006/relationships/slide" Target="slide6.xml"/></Relationships>
</file>

<file path=ppt/slides/_rels/slide73.xml.rels><?xml version="1.0" encoding="UTF-8" standalone="yes"?>
<Relationships xmlns="http://schemas.openxmlformats.org/package/2006/relationships"><Relationship Id="rId8" Type="http://schemas.openxmlformats.org/officeDocument/2006/relationships/slide" Target="slide70.xml"/><Relationship Id="rId3" Type="http://schemas.openxmlformats.org/officeDocument/2006/relationships/slide" Target="slide59.xml"/><Relationship Id="rId7" Type="http://schemas.openxmlformats.org/officeDocument/2006/relationships/slide" Target="slide68.xml"/><Relationship Id="rId2" Type="http://schemas.openxmlformats.org/officeDocument/2006/relationships/notesSlide" Target="../notesSlides/notesSlide23.xml"/><Relationship Id="rId1" Type="http://schemas.openxmlformats.org/officeDocument/2006/relationships/slideLayout" Target="../slideLayouts/slideLayout19.xml"/><Relationship Id="rId6" Type="http://schemas.openxmlformats.org/officeDocument/2006/relationships/slide" Target="slide66.xml"/><Relationship Id="rId5" Type="http://schemas.openxmlformats.org/officeDocument/2006/relationships/slide" Target="slide64.xml"/><Relationship Id="rId4" Type="http://schemas.openxmlformats.org/officeDocument/2006/relationships/slide" Target="slide61.xml"/><Relationship Id="rId9" Type="http://schemas.openxmlformats.org/officeDocument/2006/relationships/slide" Target="slide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7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78.xml"/><Relationship Id="rId1" Type="http://schemas.openxmlformats.org/officeDocument/2006/relationships/slideLayout" Target="../slideLayouts/slideLayout81.xml"/></Relationships>
</file>

<file path=ppt/slides/_rels/slide76.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diagramLayout" Target="../diagrams/layout5.xml"/><Relationship Id="rId7" Type="http://schemas.openxmlformats.org/officeDocument/2006/relationships/chart" Target="../charts/chart17.xml"/><Relationship Id="rId2" Type="http://schemas.openxmlformats.org/officeDocument/2006/relationships/diagramData" Target="../diagrams/data5.xml"/><Relationship Id="rId1" Type="http://schemas.openxmlformats.org/officeDocument/2006/relationships/slideLayout" Target="../slideLayouts/slideLayout1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81.xml"/></Relationships>
</file>

<file path=ppt/slides/_rels/slide78.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84.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85.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86.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87.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88.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89.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0.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1.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2.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3.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4.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5.xml.rels><?xml version="1.0" encoding="UTF-8" standalone="yes"?>
<Relationships xmlns="http://schemas.openxmlformats.org/package/2006/relationships"><Relationship Id="rId2" Type="http://schemas.openxmlformats.org/officeDocument/2006/relationships/slide" Target="slide198.xml"/><Relationship Id="rId1" Type="http://schemas.openxmlformats.org/officeDocument/2006/relationships/slideLayout" Target="../slideLayouts/slideLayout81.xml"/></Relationships>
</file>

<file path=ppt/slides/_rels/slide96.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97.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98.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99.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0.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1.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2.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3.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4.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5.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6.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7.xml.rels><?xml version="1.0" encoding="UTF-8" standalone="yes"?>
<Relationships xmlns="http://schemas.openxmlformats.org/package/2006/relationships"><Relationship Id="rId2" Type="http://schemas.openxmlformats.org/officeDocument/2006/relationships/slide" Target="slide199.xml"/><Relationship Id="rId1" Type="http://schemas.openxmlformats.org/officeDocument/2006/relationships/slideLayout" Target="../slideLayouts/slideLayout81.xml"/></Relationships>
</file>

<file path=ppt/slides/_rels/slide108.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09.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10.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11.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12.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13.xml.rels><?xml version="1.0" encoding="UTF-8" standalone="yes"?>
<Relationships xmlns="http://schemas.openxmlformats.org/package/2006/relationships"><Relationship Id="rId2" Type="http://schemas.openxmlformats.org/officeDocument/2006/relationships/slide" Target="slide200.xml"/><Relationship Id="rId1" Type="http://schemas.openxmlformats.org/officeDocument/2006/relationships/slideLayout" Target="../slideLayouts/slideLayout81.xml"/></Relationships>
</file>

<file path=ppt/slides/_rels/slide114.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15.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16.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17.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18.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19.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20.xml.rels><?xml version="1.0" encoding="UTF-8" standalone="yes"?>
<Relationships xmlns="http://schemas.openxmlformats.org/package/2006/relationships"><Relationship Id="rId2" Type="http://schemas.openxmlformats.org/officeDocument/2006/relationships/slide" Target="slide201.xml"/><Relationship Id="rId1" Type="http://schemas.openxmlformats.org/officeDocument/2006/relationships/slideLayout" Target="../slideLayouts/slideLayout81.xml"/></Relationships>
</file>

<file path=ppt/slides/_rels/slide121.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2.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3.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4.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5.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6.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7.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8.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29.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0.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1.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2.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3.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4.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5.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6.xml.rels><?xml version="1.0" encoding="UTF-8" standalone="yes"?>
<Relationships xmlns="http://schemas.openxmlformats.org/package/2006/relationships"><Relationship Id="rId2" Type="http://schemas.openxmlformats.org/officeDocument/2006/relationships/slide" Target="slide202.xml"/><Relationship Id="rId1" Type="http://schemas.openxmlformats.org/officeDocument/2006/relationships/slideLayout" Target="../slideLayouts/slideLayout81.xml"/></Relationships>
</file>

<file path=ppt/slides/_rels/slide137.xml.rels><?xml version="1.0" encoding="UTF-8" standalone="yes"?>
<Relationships xmlns="http://schemas.openxmlformats.org/package/2006/relationships"><Relationship Id="rId2" Type="http://schemas.openxmlformats.org/officeDocument/2006/relationships/slide" Target="slide203.xml"/><Relationship Id="rId1" Type="http://schemas.openxmlformats.org/officeDocument/2006/relationships/slideLayout" Target="../slideLayouts/slideLayout81.xml"/></Relationships>
</file>

<file path=ppt/slides/_rels/slide138.xml.rels><?xml version="1.0" encoding="UTF-8" standalone="yes"?>
<Relationships xmlns="http://schemas.openxmlformats.org/package/2006/relationships"><Relationship Id="rId2" Type="http://schemas.openxmlformats.org/officeDocument/2006/relationships/slide" Target="slide203.xml"/><Relationship Id="rId1" Type="http://schemas.openxmlformats.org/officeDocument/2006/relationships/slideLayout" Target="../slideLayouts/slideLayout81.xml"/></Relationships>
</file>

<file path=ppt/slides/_rels/slide139.xml.rels><?xml version="1.0" encoding="UTF-8" standalone="yes"?>
<Relationships xmlns="http://schemas.openxmlformats.org/package/2006/relationships"><Relationship Id="rId2" Type="http://schemas.openxmlformats.org/officeDocument/2006/relationships/slide" Target="slide203.xml"/><Relationship Id="rId1" Type="http://schemas.openxmlformats.org/officeDocument/2006/relationships/slideLayout" Target="../slideLayouts/slideLayout81.xml"/></Relationships>
</file>

<file path=ppt/slides/_rels/slide140.xml.rels><?xml version="1.0" encoding="UTF-8" standalone="yes"?>
<Relationships xmlns="http://schemas.openxmlformats.org/package/2006/relationships"><Relationship Id="rId2" Type="http://schemas.openxmlformats.org/officeDocument/2006/relationships/slide" Target="slide203.xml"/><Relationship Id="rId1" Type="http://schemas.openxmlformats.org/officeDocument/2006/relationships/slideLayout" Target="../slideLayouts/slideLayout81.xml"/></Relationships>
</file>

<file path=ppt/slides/_rels/slide141.xml.rels><?xml version="1.0" encoding="UTF-8" standalone="yes"?>
<Relationships xmlns="http://schemas.openxmlformats.org/package/2006/relationships"><Relationship Id="rId2" Type="http://schemas.openxmlformats.org/officeDocument/2006/relationships/slide" Target="slide203.xml"/><Relationship Id="rId1" Type="http://schemas.openxmlformats.org/officeDocument/2006/relationships/slideLayout" Target="../slideLayouts/slideLayout81.xml"/></Relationships>
</file>

<file path=ppt/slides/_rels/slide142.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3.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4.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5.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6.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7.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8.xml.rels><?xml version="1.0" encoding="UTF-8" standalone="yes"?>
<Relationships xmlns="http://schemas.openxmlformats.org/package/2006/relationships"><Relationship Id="rId2" Type="http://schemas.openxmlformats.org/officeDocument/2006/relationships/slide" Target="slide204.xml"/><Relationship Id="rId1" Type="http://schemas.openxmlformats.org/officeDocument/2006/relationships/slideLayout" Target="../slideLayouts/slideLayout81.xml"/></Relationships>
</file>

<file path=ppt/slides/_rels/slide149.xml.rels><?xml version="1.0" encoding="UTF-8" standalone="yes"?>
<Relationships xmlns="http://schemas.openxmlformats.org/package/2006/relationships"><Relationship Id="rId2" Type="http://schemas.openxmlformats.org/officeDocument/2006/relationships/slide" Target="slide197.xml"/><Relationship Id="rId1" Type="http://schemas.openxmlformats.org/officeDocument/2006/relationships/slideLayout" Target="../slideLayouts/slideLayout81.xml"/></Relationships>
</file>

<file path=ppt/slides/_rels/slide150.xml.rels><?xml version="1.0" encoding="UTF-8" standalone="yes"?>
<Relationships xmlns="http://schemas.openxmlformats.org/package/2006/relationships"><Relationship Id="rId2" Type="http://schemas.openxmlformats.org/officeDocument/2006/relationships/slide" Target="slide197.xml"/><Relationship Id="rId1" Type="http://schemas.openxmlformats.org/officeDocument/2006/relationships/slideLayout" Target="../slideLayouts/slideLayout81.xml"/></Relationships>
</file>

<file path=ppt/slides/_rels/slide151.xml.rels><?xml version="1.0" encoding="UTF-8" standalone="yes"?>
<Relationships xmlns="http://schemas.openxmlformats.org/package/2006/relationships"><Relationship Id="rId2" Type="http://schemas.openxmlformats.org/officeDocument/2006/relationships/slide" Target="slide197.xml"/><Relationship Id="rId1" Type="http://schemas.openxmlformats.org/officeDocument/2006/relationships/slideLayout" Target="../slideLayouts/slideLayout8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53.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19.xml"/></Relationships>
</file>

<file path=ppt/slides/_rels/slide154.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19.xml"/></Relationships>
</file>

<file path=ppt/slides/_rels/slide155.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19.xml"/></Relationships>
</file>

<file path=ppt/slides/_rels/slide156.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1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5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19.xml"/><Relationship Id="rId4" Type="http://schemas.openxmlformats.org/officeDocument/2006/relationships/slide" Target="slide22.xml"/></Relationships>
</file>

<file path=ppt/slides/_rels/slide159.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19.xml"/></Relationships>
</file>

<file path=ppt/slides/_rels/slide160.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4.xml"/><Relationship Id="rId1" Type="http://schemas.openxmlformats.org/officeDocument/2006/relationships/slideLayout" Target="../slideLayouts/slideLayout19.xml"/><Relationship Id="rId4" Type="http://schemas.openxmlformats.org/officeDocument/2006/relationships/slide" Target="slide22.xml"/></Relationships>
</file>

<file path=ppt/slides/_rels/slide16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chart" Target="../charts/chart21.xml"/><Relationship Id="rId1" Type="http://schemas.openxmlformats.org/officeDocument/2006/relationships/slideLayout" Target="../slideLayouts/slideLayout1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6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164.xml"/><Relationship Id="rId1" Type="http://schemas.openxmlformats.org/officeDocument/2006/relationships/slideLayout" Target="../slideLayouts/slideLayout81.xm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slide" Target="slide22.xml"/><Relationship Id="rId2" Type="http://schemas.openxmlformats.org/officeDocument/2006/relationships/diagramData" Target="../diagrams/data6.xml"/><Relationship Id="rId1" Type="http://schemas.openxmlformats.org/officeDocument/2006/relationships/slideLayout" Target="../slideLayouts/slideLayout8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slide" Target="slide22.xml"/><Relationship Id="rId2" Type="http://schemas.openxmlformats.org/officeDocument/2006/relationships/diagramData" Target="../diagrams/data7.xml"/><Relationship Id="rId1" Type="http://schemas.openxmlformats.org/officeDocument/2006/relationships/slideLayout" Target="../slideLayouts/slideLayout8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slide" Target="slide22.xml"/><Relationship Id="rId2" Type="http://schemas.openxmlformats.org/officeDocument/2006/relationships/diagramData" Target="../diagrams/data8.xml"/><Relationship Id="rId1" Type="http://schemas.openxmlformats.org/officeDocument/2006/relationships/slideLayout" Target="../slideLayouts/slideLayout8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7.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81.xml"/></Relationships>
</file>

<file path=ppt/slides/_rels/slide168.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81.xml"/></Relationships>
</file>

<file path=ppt/slides/_rels/slide169.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81.xml"/></Relationships>
</file>

<file path=ppt/slides/_rels/slide170.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slide" Target="slide22.xml"/><Relationship Id="rId2" Type="http://schemas.openxmlformats.org/officeDocument/2006/relationships/diagramData" Target="../diagrams/data9.xml"/><Relationship Id="rId1" Type="http://schemas.openxmlformats.org/officeDocument/2006/relationships/slideLayout" Target="../slideLayouts/slideLayout8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slide" Target="slide27.xml"/><Relationship Id="rId2" Type="http://schemas.openxmlformats.org/officeDocument/2006/relationships/diagramData" Target="../diagrams/data10.xml"/><Relationship Id="rId1" Type="http://schemas.openxmlformats.org/officeDocument/2006/relationships/slideLayout" Target="../slideLayouts/slideLayout8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3.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slide" Target="slide27.xml"/><Relationship Id="rId2" Type="http://schemas.openxmlformats.org/officeDocument/2006/relationships/diagramData" Target="../diagrams/data11.xml"/><Relationship Id="rId1" Type="http://schemas.openxmlformats.org/officeDocument/2006/relationships/slideLayout" Target="../slideLayouts/slideLayout8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4.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slide" Target="slide27.xml"/><Relationship Id="rId2" Type="http://schemas.openxmlformats.org/officeDocument/2006/relationships/diagramData" Target="../diagrams/data12.xml"/><Relationship Id="rId1" Type="http://schemas.openxmlformats.org/officeDocument/2006/relationships/slideLayout" Target="../slideLayouts/slideLayout8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5.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slide" Target="slide27.xml"/><Relationship Id="rId2" Type="http://schemas.openxmlformats.org/officeDocument/2006/relationships/diagramData" Target="../diagrams/data13.xml"/><Relationship Id="rId1" Type="http://schemas.openxmlformats.org/officeDocument/2006/relationships/slideLayout" Target="../slideLayouts/slideLayout81.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6.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slide" Target="slide27.xml"/><Relationship Id="rId2" Type="http://schemas.openxmlformats.org/officeDocument/2006/relationships/diagramData" Target="../diagrams/data14.xml"/><Relationship Id="rId1" Type="http://schemas.openxmlformats.org/officeDocument/2006/relationships/slideLayout" Target="../slideLayouts/slideLayout81.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7.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slide" Target="slide27.xml"/><Relationship Id="rId2" Type="http://schemas.openxmlformats.org/officeDocument/2006/relationships/diagramData" Target="../diagrams/data15.xml"/><Relationship Id="rId1" Type="http://schemas.openxmlformats.org/officeDocument/2006/relationships/slideLayout" Target="../slideLayouts/slideLayout8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8.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slide" Target="slide27.xml"/><Relationship Id="rId2" Type="http://schemas.openxmlformats.org/officeDocument/2006/relationships/diagramData" Target="../diagrams/data16.xml"/><Relationship Id="rId1" Type="http://schemas.openxmlformats.org/officeDocument/2006/relationships/slideLayout" Target="../slideLayouts/slideLayout81.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9.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slide" Target="slide27.xml"/><Relationship Id="rId2" Type="http://schemas.openxmlformats.org/officeDocument/2006/relationships/diagramData" Target="../diagrams/data17.xml"/><Relationship Id="rId1" Type="http://schemas.openxmlformats.org/officeDocument/2006/relationships/slideLayout" Target="../slideLayouts/slideLayout81.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0.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slide" Target="slide27.xml"/><Relationship Id="rId2" Type="http://schemas.openxmlformats.org/officeDocument/2006/relationships/diagramData" Target="../diagrams/data18.xml"/><Relationship Id="rId1" Type="http://schemas.openxmlformats.org/officeDocument/2006/relationships/slideLayout" Target="../slideLayouts/slideLayout81.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81.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slide" Target="slide27.xml"/><Relationship Id="rId2" Type="http://schemas.openxmlformats.org/officeDocument/2006/relationships/diagramData" Target="../diagrams/data19.xml"/><Relationship Id="rId1" Type="http://schemas.openxmlformats.org/officeDocument/2006/relationships/slideLayout" Target="../slideLayouts/slideLayout81.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82.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slide" Target="slide27.xml"/><Relationship Id="rId2" Type="http://schemas.openxmlformats.org/officeDocument/2006/relationships/diagramData" Target="../diagrams/data20.xml"/><Relationship Id="rId1" Type="http://schemas.openxmlformats.org/officeDocument/2006/relationships/slideLayout" Target="../slideLayouts/slideLayout81.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83.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slide" Target="slide27.xml"/><Relationship Id="rId2" Type="http://schemas.openxmlformats.org/officeDocument/2006/relationships/diagramData" Target="../diagrams/data21.xml"/><Relationship Id="rId1" Type="http://schemas.openxmlformats.org/officeDocument/2006/relationships/slideLayout" Target="../slideLayouts/slideLayout81.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slide" Target="slide27.xml"/><Relationship Id="rId2" Type="http://schemas.openxmlformats.org/officeDocument/2006/relationships/diagramData" Target="../diagrams/data22.xml"/><Relationship Id="rId1" Type="http://schemas.openxmlformats.org/officeDocument/2006/relationships/slideLayout" Target="../slideLayouts/slideLayout81.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185.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slide" Target="slide27.xml"/><Relationship Id="rId2" Type="http://schemas.openxmlformats.org/officeDocument/2006/relationships/diagramData" Target="../diagrams/data23.xml"/><Relationship Id="rId1" Type="http://schemas.openxmlformats.org/officeDocument/2006/relationships/slideLayout" Target="../slideLayouts/slideLayout81.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slide" Target="slide27.xml"/><Relationship Id="rId2" Type="http://schemas.openxmlformats.org/officeDocument/2006/relationships/diagramData" Target="../diagrams/data24.xml"/><Relationship Id="rId1" Type="http://schemas.openxmlformats.org/officeDocument/2006/relationships/slideLayout" Target="../slideLayouts/slideLayout81.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187.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slide" Target="slide27.xml"/><Relationship Id="rId2" Type="http://schemas.openxmlformats.org/officeDocument/2006/relationships/diagramData" Target="../diagrams/data25.xml"/><Relationship Id="rId1" Type="http://schemas.openxmlformats.org/officeDocument/2006/relationships/slideLayout" Target="../slideLayouts/slideLayout81.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88.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slide" Target="slide27.xml"/><Relationship Id="rId2" Type="http://schemas.openxmlformats.org/officeDocument/2006/relationships/diagramData" Target="../diagrams/data26.xml"/><Relationship Id="rId1" Type="http://schemas.openxmlformats.org/officeDocument/2006/relationships/slideLayout" Target="../slideLayouts/slideLayout81.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89.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slide" Target="slide27.xml"/><Relationship Id="rId2" Type="http://schemas.openxmlformats.org/officeDocument/2006/relationships/diagramData" Target="../diagrams/data27.xml"/><Relationship Id="rId1" Type="http://schemas.openxmlformats.org/officeDocument/2006/relationships/slideLayout" Target="../slideLayouts/slideLayout81.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190.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1.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2.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3.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4.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5.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8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9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49.xml"/><Relationship Id="rId1" Type="http://schemas.openxmlformats.org/officeDocument/2006/relationships/slideLayout" Target="../slideLayouts/slideLayout81.xml"/></Relationships>
</file>

<file path=ppt/slides/_rels/slide198.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84.xml"/><Relationship Id="rId1" Type="http://schemas.openxmlformats.org/officeDocument/2006/relationships/slideLayout" Target="../slideLayouts/slideLayout81.xml"/></Relationships>
</file>

<file path=ppt/slides/_rels/slide19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96.xml"/><Relationship Id="rId1" Type="http://schemas.openxmlformats.org/officeDocument/2006/relationships/slideLayout" Target="../slideLayouts/slideLayout19.xml"/></Relationships>
</file>

<file path=ppt/slides/_rels/slide20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08.xml"/><Relationship Id="rId1" Type="http://schemas.openxmlformats.org/officeDocument/2006/relationships/slideLayout" Target="../slideLayouts/slideLayout19.xml"/></Relationships>
</file>

<file path=ppt/slides/_rels/slide20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14.xml"/><Relationship Id="rId1" Type="http://schemas.openxmlformats.org/officeDocument/2006/relationships/slideLayout" Target="../slideLayouts/slideLayout19.xml"/></Relationships>
</file>

<file path=ppt/slides/_rels/slide20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1.xml"/><Relationship Id="rId1" Type="http://schemas.openxmlformats.org/officeDocument/2006/relationships/slideLayout" Target="../slideLayouts/slideLayout19.xml"/></Relationships>
</file>

<file path=ppt/slides/_rels/slide20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37.xml"/><Relationship Id="rId1" Type="http://schemas.openxmlformats.org/officeDocument/2006/relationships/slideLayout" Target="../slideLayouts/slideLayout19.xml"/></Relationships>
</file>

<file path=ppt/slides/_rels/slide20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42.xml"/><Relationship Id="rId1" Type="http://schemas.openxmlformats.org/officeDocument/2006/relationships/slideLayout" Target="../slideLayouts/slideLayout19.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06.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07.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08.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09.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0.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1.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2.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3.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4.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8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39794" y="6210242"/>
            <a:ext cx="7385770" cy="557614"/>
          </a:xfrm>
        </p:spPr>
        <p:txBody>
          <a:bodyPr/>
          <a:lstStyle/>
          <a:p>
            <a:r>
              <a:rPr lang="en-US" dirty="0" smtClean="0"/>
              <a:t>The Reform of BPDB as a Holding Company in line with Desired Goal</a:t>
            </a:r>
            <a:endParaRPr lang="en-IN" dirty="0"/>
          </a:p>
        </p:txBody>
      </p:sp>
      <p:sp>
        <p:nvSpPr>
          <p:cNvPr id="5" name="Text Placeholder 4"/>
          <p:cNvSpPr>
            <a:spLocks noGrp="1"/>
          </p:cNvSpPr>
          <p:nvPr>
            <p:ph type="body" sz="quarter" idx="10"/>
          </p:nvPr>
        </p:nvSpPr>
        <p:spPr/>
        <p:txBody>
          <a:bodyPr/>
          <a:lstStyle/>
          <a:p>
            <a:r>
              <a:rPr lang="en-US" sz="1100" noProof="0" dirty="0" smtClean="0">
                <a:latin typeface="Arial" panose="020B0604020202020204" pitchFamily="34" charset="0"/>
                <a:cs typeface="Arial" panose="020B0604020202020204" pitchFamily="34" charset="0"/>
              </a:rPr>
              <a:t>November 2017</a:t>
            </a:r>
            <a:endParaRPr lang="en-US" sz="1100" noProof="0" dirty="0">
              <a:latin typeface="Arial" panose="020B0604020202020204" pitchFamily="34" charset="0"/>
              <a:cs typeface="Arial" panose="020B0604020202020204" pitchFamily="34" charset="0"/>
            </a:endParaRP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bwMode="auto">
          <a:xfrm>
            <a:off x="2533210" y="1004342"/>
            <a:ext cx="5622218" cy="4348397"/>
          </a:xfrm>
          <a:prstGeom prst="rect">
            <a:avLst/>
          </a:prstGeom>
          <a:noFill/>
          <a:ln>
            <a:noFill/>
          </a:ln>
        </p:spPr>
      </p:pic>
      <p:sp>
        <p:nvSpPr>
          <p:cNvPr id="6" name="Subtitle 1"/>
          <p:cNvSpPr txBox="1">
            <a:spLocks/>
          </p:cNvSpPr>
          <p:nvPr/>
        </p:nvSpPr>
        <p:spPr bwMode="gray">
          <a:xfrm>
            <a:off x="439792" y="5622534"/>
            <a:ext cx="2968425" cy="369499"/>
          </a:xfrm>
          <a:prstGeom prst="rect">
            <a:avLst/>
          </a:prstGeom>
        </p:spPr>
        <p:txBody>
          <a:bodyPr vert="horz" lIns="0" tIns="0" rIns="0" bIns="0" rtlCol="0" anchor="b" anchorCtr="0">
            <a:noAutofit/>
          </a:bodyPr>
          <a:lstStyle>
            <a:lvl1pPr marL="0" indent="0" algn="l" defTabSz="1008400" rtl="0" eaLnBrk="1" latinLnBrk="0" hangingPunct="1">
              <a:lnSpc>
                <a:spcPct val="100000"/>
              </a:lnSpc>
              <a:spcBef>
                <a:spcPts val="0"/>
              </a:spcBef>
              <a:spcAft>
                <a:spcPts val="0"/>
              </a:spcAft>
              <a:buSzPct val="100000"/>
              <a:buFont typeface="Arial" panose="020B0604020202020204" pitchFamily="34" charset="0"/>
              <a:buNone/>
              <a:defRPr sz="1985" b="1"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764" b="0" kern="1200">
                <a:solidFill>
                  <a:schemeClr val="tx1"/>
                </a:solidFill>
                <a:latin typeface="+mn-lt"/>
                <a:ea typeface="+mn-ea"/>
                <a:cs typeface="+mn-cs"/>
              </a:defRPr>
            </a:lvl2pPr>
            <a:lvl3pPr marL="1008400" indent="0" algn="ctr" defTabSz="1008400" rtl="0" eaLnBrk="1" latinLnBrk="0" hangingPunct="1">
              <a:spcBef>
                <a:spcPts val="0"/>
              </a:spcBef>
              <a:spcAft>
                <a:spcPts val="1103"/>
              </a:spcAft>
              <a:buClrTx/>
              <a:buSzPct val="100000"/>
              <a:buFont typeface="Arial" panose="020B0604020202020204" pitchFamily="34" charset="0"/>
              <a:buNone/>
              <a:defRPr lang="en-US" sz="1985" kern="1200">
                <a:solidFill>
                  <a:schemeClr val="tx1"/>
                </a:solidFill>
                <a:latin typeface="+mn-lt"/>
                <a:ea typeface="+mn-ea"/>
                <a:cs typeface="+mn-cs"/>
              </a:defRPr>
            </a:lvl3pPr>
            <a:lvl4pPr marL="1512600" indent="0" algn="ctr" defTabSz="1008400" rtl="0" eaLnBrk="1" latinLnBrk="0" hangingPunct="1">
              <a:spcBef>
                <a:spcPts val="0"/>
              </a:spcBef>
              <a:spcAft>
                <a:spcPts val="1103"/>
              </a:spcAft>
              <a:buClrTx/>
              <a:buSzPct val="100000"/>
              <a:buFont typeface="Verdana" panose="020B0604030504040204" pitchFamily="34" charset="0"/>
              <a:buNone/>
              <a:defRPr lang="en-US" sz="1764" kern="1200" baseline="0">
                <a:solidFill>
                  <a:schemeClr val="tx1"/>
                </a:solidFill>
                <a:latin typeface="+mn-lt"/>
                <a:ea typeface="+mn-ea"/>
                <a:cs typeface="+mn-cs"/>
              </a:defRPr>
            </a:lvl4pPr>
            <a:lvl5pPr marL="2016801" indent="0" algn="ctr" defTabSz="880600" rtl="0" eaLnBrk="1" latinLnBrk="0" hangingPunct="1">
              <a:spcBef>
                <a:spcPts val="0"/>
              </a:spcBef>
              <a:spcAft>
                <a:spcPts val="1103"/>
              </a:spcAft>
              <a:buClrTx/>
              <a:buSzPct val="100000"/>
              <a:buFont typeface="Verdana" panose="020B0604030504040204" pitchFamily="34" charset="0"/>
              <a:buNone/>
              <a:tabLst/>
              <a:defRPr lang="en-US" sz="1764" kern="1200" baseline="0">
                <a:solidFill>
                  <a:schemeClr val="tx1"/>
                </a:solidFill>
                <a:latin typeface="+mn-lt"/>
                <a:ea typeface="+mn-ea"/>
                <a:cs typeface="+mn-cs"/>
              </a:defRPr>
            </a:lvl5pPr>
            <a:lvl6pPr marL="25210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6pPr>
            <a:lvl7pPr marL="3025201" indent="0" algn="ctr" defTabSz="1008400" rtl="0" eaLnBrk="1" latinLnBrk="0" hangingPunct="1">
              <a:spcBef>
                <a:spcPts val="0"/>
              </a:spcBef>
              <a:spcAft>
                <a:spcPts val="1103"/>
              </a:spcAft>
              <a:buFont typeface="Verdana" panose="020B0604030504040204" pitchFamily="34" charset="0"/>
              <a:buNone/>
              <a:defRPr sz="1764" kern="1200">
                <a:solidFill>
                  <a:schemeClr val="tx1"/>
                </a:solidFill>
                <a:latin typeface="+mn-lt"/>
                <a:ea typeface="+mn-ea"/>
                <a:cs typeface="+mn-cs"/>
              </a:defRPr>
            </a:lvl7pPr>
            <a:lvl8pPr marL="35294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8pPr>
            <a:lvl9pPr marL="40336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9pPr>
          </a:lstStyle>
          <a:p>
            <a:r>
              <a:rPr lang="en-US" sz="1400" dirty="0" smtClean="0">
                <a:solidFill>
                  <a:srgbClr val="00B0F0"/>
                </a:solidFill>
              </a:rPr>
              <a:t>Presentation on Final Report</a:t>
            </a:r>
            <a:endParaRPr lang="en-IN" sz="1400" dirty="0">
              <a:solidFill>
                <a:srgbClr val="00B0F0"/>
              </a:solidFill>
            </a:endParaRPr>
          </a:p>
        </p:txBody>
      </p:sp>
    </p:spTree>
    <p:extLst>
      <p:ext uri="{BB962C8B-B14F-4D97-AF65-F5344CB8AC3E}">
        <p14:creationId xmlns:p14="http://schemas.microsoft.com/office/powerpoint/2010/main" val="683421481"/>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5"/>
          <p:cNvSpPr>
            <a:spLocks noGrp="1"/>
          </p:cNvSpPr>
          <p:nvPr>
            <p:ph type="title"/>
          </p:nvPr>
        </p:nvSpPr>
        <p:spPr>
          <a:xfrm>
            <a:off x="488396" y="422374"/>
            <a:ext cx="9737348" cy="354317"/>
          </a:xfrm>
        </p:spPr>
        <p:txBody>
          <a:bodyPr/>
          <a:lstStyle/>
          <a:p>
            <a:r>
              <a:rPr lang="en-US" sz="20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Table of contents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209485885"/>
              </p:ext>
            </p:extLst>
          </p:nvPr>
        </p:nvGraphicFramePr>
        <p:xfrm>
          <a:off x="439793" y="1373363"/>
          <a:ext cx="9785951" cy="5724121"/>
        </p:xfrm>
        <a:graphic>
          <a:graphicData uri="http://schemas.openxmlformats.org/drawingml/2006/table">
            <a:tbl>
              <a:tblPr firstRow="1" bandRow="1">
                <a:tableStyleId>{5C22544A-7EE6-4342-B048-85BDC9FD1C3A}</a:tableStyleId>
              </a:tblPr>
              <a:tblGrid>
                <a:gridCol w="1330446"/>
                <a:gridCol w="8455505"/>
              </a:tblGrid>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S. No</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Topic</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Our Scope of Work</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Key Challenges faced by</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BPDB</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Drivers for Reform</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IV.</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Proposed</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Reform Model for BPDB</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V.</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Proposed</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High Level Functional / Departmental Organogram of Holding Company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VI.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Proposed Touchpoints</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of Holding Company with Subsidiaries</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VII.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Key Drivers of Sustainability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VIII.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Immediate Steps &amp; Priority</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Areas</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IX.</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High</a:t>
                      </a:r>
                      <a:r>
                        <a:rPr lang="en-US" sz="14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Level Implementation Plan</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X.</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Manpower Assessment &amp; Guidelines for Holding Company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XI.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Recommendation on Compensation Benchmarking</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40317">
                <a:tc>
                  <a:txBody>
                    <a:bodyPr/>
                    <a:lstStyle/>
                    <a:p>
                      <a:pPr algn="l"/>
                      <a:r>
                        <a:rPr lang="en-US" sz="14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XII.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algn="l" defTabSz="1082704" rtl="0" eaLnBrk="1" latinLnBrk="0" hangingPunct="1"/>
                      <a:r>
                        <a:rPr lang="en-IN" sz="14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Proposed Board Governance Model of Holding Company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23340890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Our Scope of Work</a:t>
            </a:r>
            <a:endParaRPr lang="en-US" sz="5400" dirty="0">
              <a:solidFill>
                <a:prstClr val="white"/>
              </a:solidFill>
            </a:endParaRPr>
          </a:p>
        </p:txBody>
      </p:sp>
    </p:spTree>
    <p:extLst>
      <p:ext uri="{BB962C8B-B14F-4D97-AF65-F5344CB8AC3E}">
        <p14:creationId xmlns:p14="http://schemas.microsoft.com/office/powerpoint/2010/main" val="14357474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r>
              <a:rPr lang="en-US" sz="2000" b="1" dirty="0" smtClean="0"/>
              <a:t>Scope of work</a:t>
            </a:r>
            <a:endParaRPr lang="en-IN" sz="2000" b="1" dirty="0"/>
          </a:p>
        </p:txBody>
      </p:sp>
      <p:sp>
        <p:nvSpPr>
          <p:cNvPr id="5" name="Content Placeholder 3"/>
          <p:cNvSpPr>
            <a:spLocks noGrp="1"/>
          </p:cNvSpPr>
          <p:nvPr>
            <p:ph idx="1"/>
          </p:nvPr>
        </p:nvSpPr>
        <p:spPr>
          <a:xfrm>
            <a:off x="439793" y="899411"/>
            <a:ext cx="9912521" cy="5891134"/>
          </a:xfrm>
          <a:ln>
            <a:solidFill>
              <a:schemeClr val="tx1"/>
            </a:solidFill>
          </a:ln>
        </p:spPr>
        <p:txBody>
          <a:bodyPr lIns="72000" tIns="72000" rIns="72000" bIns="72000"/>
          <a:lstStyle/>
          <a:p>
            <a:pPr algn="just">
              <a:lnSpc>
                <a:spcPct val="150000"/>
              </a:lnSpc>
              <a:spcAft>
                <a:spcPts val="600"/>
              </a:spcAft>
            </a:pPr>
            <a:r>
              <a:rPr lang="en-US" sz="1400" dirty="0" smtClean="0"/>
              <a:t>Formulation of Strategy for reform of BPDB and establishment of Holding Company and development of high level Implementation plan for the same. Detailed activities will involve:</a:t>
            </a:r>
          </a:p>
          <a:p>
            <a:pPr marL="228600" indent="-228600" algn="just">
              <a:lnSpc>
                <a:spcPct val="150000"/>
              </a:lnSpc>
              <a:spcAft>
                <a:spcPts val="600"/>
              </a:spcAft>
              <a:buFont typeface="+mj-lt"/>
              <a:buAutoNum type="alphaLcParenR"/>
            </a:pPr>
            <a:r>
              <a:rPr lang="en-US" sz="1400" dirty="0" smtClean="0"/>
              <a:t>As-is assessment of BPDB covering Institutional, financial, legal, MIS and IT aspects</a:t>
            </a:r>
          </a:p>
          <a:p>
            <a:pPr marL="228600" indent="-228600" algn="just">
              <a:lnSpc>
                <a:spcPct val="150000"/>
              </a:lnSpc>
              <a:spcAft>
                <a:spcPts val="600"/>
              </a:spcAft>
              <a:buFont typeface="+mj-lt"/>
              <a:buAutoNum type="alphaLcParenR"/>
            </a:pPr>
            <a:r>
              <a:rPr lang="en-US" sz="1400" dirty="0" smtClean="0"/>
              <a:t>Recommendation of strategy for formulation of holding company and the corresponding implementation plan covering the following:</a:t>
            </a:r>
            <a:endParaRPr lang="en-IN" sz="1400" dirty="0" smtClean="0"/>
          </a:p>
          <a:p>
            <a:pPr marL="480284" lvl="2" indent="-285750" algn="just">
              <a:lnSpc>
                <a:spcPct val="150000"/>
              </a:lnSpc>
              <a:spcAft>
                <a:spcPts val="600"/>
              </a:spcAft>
              <a:buFont typeface="+mj-lt"/>
              <a:buAutoNum type="romanLcPeriod"/>
            </a:pPr>
            <a:r>
              <a:rPr lang="en-US" sz="1400" dirty="0" smtClean="0"/>
              <a:t>Recommend on the proposed structural model for reform of BPDB as a holding company</a:t>
            </a:r>
            <a:endParaRPr lang="en-IN" sz="1400" dirty="0" smtClean="0"/>
          </a:p>
          <a:p>
            <a:pPr marL="480284" lvl="2" indent="-285750" algn="just">
              <a:lnSpc>
                <a:spcPct val="150000"/>
              </a:lnSpc>
              <a:spcAft>
                <a:spcPts val="600"/>
              </a:spcAft>
              <a:buFont typeface="+mj-lt"/>
              <a:buAutoNum type="romanLcPeriod"/>
            </a:pPr>
            <a:r>
              <a:rPr lang="en-IN" sz="1400" dirty="0" smtClean="0"/>
              <a:t>Determine </a:t>
            </a:r>
            <a:r>
              <a:rPr lang="en-IN" sz="1400" dirty="0"/>
              <a:t>the functions </a:t>
            </a:r>
            <a:r>
              <a:rPr lang="en-IN" sz="1400" dirty="0" smtClean="0"/>
              <a:t>of </a:t>
            </a:r>
            <a:r>
              <a:rPr lang="en-IN" sz="1400" dirty="0"/>
              <a:t>the proposed Holding company </a:t>
            </a:r>
            <a:endParaRPr lang="en-IN" sz="1400" dirty="0" smtClean="0"/>
          </a:p>
          <a:p>
            <a:pPr marL="480284" lvl="2" indent="-285750" algn="just">
              <a:lnSpc>
                <a:spcPct val="150000"/>
              </a:lnSpc>
              <a:spcAft>
                <a:spcPts val="600"/>
              </a:spcAft>
              <a:buFont typeface="+mj-lt"/>
              <a:buAutoNum type="romanLcPeriod"/>
            </a:pPr>
            <a:r>
              <a:rPr lang="en-IN" sz="1400" dirty="0" smtClean="0"/>
              <a:t>Recommend on high level legal considerations for creation of the proposed Holding company</a:t>
            </a:r>
          </a:p>
          <a:p>
            <a:pPr marL="480284" lvl="2" indent="-285750" algn="just">
              <a:lnSpc>
                <a:spcPct val="150000"/>
              </a:lnSpc>
              <a:spcAft>
                <a:spcPts val="600"/>
              </a:spcAft>
              <a:buFont typeface="+mj-lt"/>
              <a:buAutoNum type="romanLcPeriod"/>
            </a:pPr>
            <a:r>
              <a:rPr lang="en-IN" sz="1400" dirty="0" smtClean="0"/>
              <a:t>Suggest </a:t>
            </a:r>
            <a:r>
              <a:rPr lang="en-IN" sz="1400" dirty="0"/>
              <a:t>a </a:t>
            </a:r>
            <a:r>
              <a:rPr lang="en-IN" sz="1400" dirty="0" smtClean="0"/>
              <a:t>high level functional organogram </a:t>
            </a:r>
            <a:r>
              <a:rPr lang="en-IN" sz="1400" dirty="0"/>
              <a:t>of the proposed Holding company </a:t>
            </a:r>
            <a:endParaRPr lang="en-IN" sz="1400" dirty="0" smtClean="0"/>
          </a:p>
          <a:p>
            <a:pPr marL="480284" lvl="2" indent="-285750" algn="just">
              <a:lnSpc>
                <a:spcPct val="150000"/>
              </a:lnSpc>
              <a:spcAft>
                <a:spcPts val="600"/>
              </a:spcAft>
              <a:buFont typeface="+mj-lt"/>
              <a:buAutoNum type="romanLcPeriod"/>
            </a:pPr>
            <a:r>
              <a:rPr lang="en-US" sz="1400" dirty="0" smtClean="0"/>
              <a:t>Recommend on the high level Board Governance Framework</a:t>
            </a:r>
            <a:endParaRPr lang="en-IN" sz="1400" dirty="0" smtClean="0"/>
          </a:p>
          <a:p>
            <a:pPr marL="480284" lvl="2" indent="-285750" algn="just">
              <a:lnSpc>
                <a:spcPct val="150000"/>
              </a:lnSpc>
              <a:spcAft>
                <a:spcPts val="600"/>
              </a:spcAft>
              <a:buFont typeface="+mj-lt"/>
              <a:buAutoNum type="romanLcPeriod"/>
            </a:pPr>
            <a:r>
              <a:rPr lang="en-IN" sz="1400" dirty="0" smtClean="0"/>
              <a:t>Determine high level relationship of the Holding Company with the subsidiaries </a:t>
            </a:r>
          </a:p>
          <a:p>
            <a:pPr marL="480284" lvl="2" indent="-285750" algn="just">
              <a:lnSpc>
                <a:spcPct val="150000"/>
              </a:lnSpc>
              <a:spcAft>
                <a:spcPts val="600"/>
              </a:spcAft>
              <a:buFont typeface="+mj-lt"/>
              <a:buAutoNum type="romanLcPeriod"/>
            </a:pPr>
            <a:r>
              <a:rPr lang="en-IN" sz="1400" dirty="0" smtClean="0"/>
              <a:t>Suggest </a:t>
            </a:r>
            <a:r>
              <a:rPr lang="en-IN" sz="1400" dirty="0"/>
              <a:t>MIS and communication system of Holding company with the subsidiary </a:t>
            </a:r>
            <a:r>
              <a:rPr lang="en-IN" sz="1400" dirty="0" smtClean="0"/>
              <a:t>companies</a:t>
            </a:r>
          </a:p>
          <a:p>
            <a:pPr marL="480284" lvl="2" indent="-285750" algn="just">
              <a:lnSpc>
                <a:spcPct val="150000"/>
              </a:lnSpc>
              <a:spcAft>
                <a:spcPts val="600"/>
              </a:spcAft>
              <a:buFont typeface="+mj-lt"/>
              <a:buAutoNum type="romanLcPeriod"/>
            </a:pPr>
            <a:r>
              <a:rPr lang="en-US" sz="1400" dirty="0" smtClean="0"/>
              <a:t>High level recommendation on manpower arrangement and compensation benchmarking of holding company</a:t>
            </a:r>
          </a:p>
          <a:p>
            <a:pPr marL="480284" lvl="2" indent="-285750" algn="just">
              <a:lnSpc>
                <a:spcPct val="150000"/>
              </a:lnSpc>
              <a:spcAft>
                <a:spcPts val="600"/>
              </a:spcAft>
              <a:buFont typeface="+mj-lt"/>
              <a:buAutoNum type="romanLcPeriod"/>
            </a:pPr>
            <a:r>
              <a:rPr lang="en-US" sz="1400" dirty="0" smtClean="0"/>
              <a:t>Formulation of high level time bound implementation plan for reform of BPDB as holding company</a:t>
            </a:r>
            <a:endParaRPr lang="en-IN" sz="1400" dirty="0" smtClean="0"/>
          </a:p>
        </p:txBody>
      </p:sp>
    </p:spTree>
    <p:extLst>
      <p:ext uri="{BB962C8B-B14F-4D97-AF65-F5344CB8AC3E}">
        <p14:creationId xmlns:p14="http://schemas.microsoft.com/office/powerpoint/2010/main" val="1322968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Key Challenges faced by BPDB</a:t>
            </a:r>
            <a:endParaRPr lang="en-US" sz="5400" dirty="0">
              <a:solidFill>
                <a:prstClr val="white"/>
              </a:solidFill>
            </a:endParaRPr>
          </a:p>
        </p:txBody>
      </p:sp>
    </p:spTree>
    <p:extLst>
      <p:ext uri="{BB962C8B-B14F-4D97-AF65-F5344CB8AC3E}">
        <p14:creationId xmlns:p14="http://schemas.microsoft.com/office/powerpoint/2010/main" val="8150726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537796" y="1880919"/>
            <a:ext cx="2563900" cy="347174"/>
          </a:xfrm>
          <a:prstGeom prst="rect">
            <a:avLst/>
          </a:prstGeom>
          <a:solidFill>
            <a:schemeClr val="bg1"/>
          </a:solidFill>
          <a:ln>
            <a:noFill/>
          </a:ln>
        </p:spPr>
        <p:txBody>
          <a:bodyPr wrap="square" lIns="36000" tIns="0" rIns="36000" bIns="0" rtlCol="0" anchor="ctr">
            <a:noAutofit/>
          </a:bodyPr>
          <a:lstStyle/>
          <a:p>
            <a:pPr algn="ctr">
              <a:spcBef>
                <a:spcPts val="600"/>
              </a:spcBef>
              <a:buSzPct val="100000"/>
            </a:pPr>
            <a:r>
              <a:rPr lang="en-US" sz="1200" b="1" i="1" dirty="0" smtClean="0">
                <a:solidFill>
                  <a:srgbClr val="313131"/>
                </a:solidFill>
              </a:rPr>
              <a:t>Budgetary Support Loans</a:t>
            </a:r>
          </a:p>
        </p:txBody>
      </p:sp>
      <p:sp>
        <p:nvSpPr>
          <p:cNvPr id="5" name="Rounded Rectangle 4"/>
          <p:cNvSpPr/>
          <p:nvPr/>
        </p:nvSpPr>
        <p:spPr bwMode="gray">
          <a:xfrm>
            <a:off x="307650" y="1949091"/>
            <a:ext cx="3118105" cy="2763753"/>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smtClean="0">
              <a:solidFill>
                <a:prstClr val="black"/>
              </a:solidFill>
            </a:endParaRPr>
          </a:p>
        </p:txBody>
      </p:sp>
      <p:sp>
        <p:nvSpPr>
          <p:cNvPr id="35" name="TextBox 34"/>
          <p:cNvSpPr txBox="1"/>
          <p:nvPr/>
        </p:nvSpPr>
        <p:spPr>
          <a:xfrm>
            <a:off x="4351273" y="1880920"/>
            <a:ext cx="2118925" cy="347174"/>
          </a:xfrm>
          <a:prstGeom prst="rect">
            <a:avLst/>
          </a:prstGeom>
          <a:solidFill>
            <a:schemeClr val="bg1"/>
          </a:solidFill>
          <a:ln>
            <a:noFill/>
          </a:ln>
        </p:spPr>
        <p:txBody>
          <a:bodyPr wrap="square" lIns="36000" tIns="0" rIns="36000" bIns="0" rtlCol="0" anchor="ctr">
            <a:noAutofit/>
          </a:bodyPr>
          <a:lstStyle/>
          <a:p>
            <a:pPr algn="ctr">
              <a:spcBef>
                <a:spcPts val="600"/>
              </a:spcBef>
              <a:buSzPct val="100000"/>
            </a:pPr>
            <a:r>
              <a:rPr lang="en-US" sz="1200" b="1" i="1" dirty="0" smtClean="0">
                <a:solidFill>
                  <a:srgbClr val="313131"/>
                </a:solidFill>
              </a:rPr>
              <a:t>Bulk Supply Losses</a:t>
            </a:r>
          </a:p>
        </p:txBody>
      </p:sp>
      <p:sp>
        <p:nvSpPr>
          <p:cNvPr id="32" name="Rounded Rectangle 31"/>
          <p:cNvSpPr/>
          <p:nvPr/>
        </p:nvSpPr>
        <p:spPr bwMode="gray">
          <a:xfrm>
            <a:off x="3804727" y="1949091"/>
            <a:ext cx="3118105" cy="2763753"/>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smtClean="0">
              <a:solidFill>
                <a:prstClr val="white"/>
              </a:solidFill>
            </a:endParaRPr>
          </a:p>
        </p:txBody>
      </p:sp>
      <p:sp>
        <p:nvSpPr>
          <p:cNvPr id="3" name="Title 2"/>
          <p:cNvSpPr>
            <a:spLocks noGrp="1"/>
          </p:cNvSpPr>
          <p:nvPr>
            <p:ph type="title"/>
          </p:nvPr>
        </p:nvSpPr>
        <p:spPr/>
        <p:txBody>
          <a:bodyPr/>
          <a:lstStyle/>
          <a:p>
            <a:pPr algn="just"/>
            <a:r>
              <a:rPr lang="en-US" b="1" dirty="0" smtClean="0"/>
              <a:t>Govt. Loans, lower bulk supply collection ratio and non-integrated sector planning has affected the performance of </a:t>
            </a:r>
            <a:r>
              <a:rPr lang="en-US" b="1" dirty="0" err="1" smtClean="0"/>
              <a:t>BPDB</a:t>
            </a:r>
            <a:endParaRPr lang="en-IN" b="1" dirty="0"/>
          </a:p>
        </p:txBody>
      </p:sp>
      <p:sp>
        <p:nvSpPr>
          <p:cNvPr id="6" name="Oval 5"/>
          <p:cNvSpPr/>
          <p:nvPr/>
        </p:nvSpPr>
        <p:spPr bwMode="gray">
          <a:xfrm>
            <a:off x="1622495" y="1593967"/>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1</a:t>
            </a:r>
          </a:p>
        </p:txBody>
      </p:sp>
      <p:sp>
        <p:nvSpPr>
          <p:cNvPr id="31" name="Oval 30"/>
          <p:cNvSpPr/>
          <p:nvPr/>
        </p:nvSpPr>
        <p:spPr bwMode="gray">
          <a:xfrm>
            <a:off x="5161356" y="1603261"/>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2</a:t>
            </a:r>
          </a:p>
        </p:txBody>
      </p:sp>
      <p:sp>
        <p:nvSpPr>
          <p:cNvPr id="36" name="TextBox 35"/>
          <p:cNvSpPr txBox="1"/>
          <p:nvPr/>
        </p:nvSpPr>
        <p:spPr>
          <a:xfrm>
            <a:off x="7625862" y="1880920"/>
            <a:ext cx="2563900" cy="347174"/>
          </a:xfrm>
          <a:prstGeom prst="rect">
            <a:avLst/>
          </a:prstGeom>
          <a:solidFill>
            <a:schemeClr val="bg1"/>
          </a:solidFill>
          <a:ln>
            <a:noFill/>
          </a:ln>
        </p:spPr>
        <p:txBody>
          <a:bodyPr wrap="square" lIns="36000" tIns="0" rIns="36000" bIns="0" rtlCol="0" anchor="ctr">
            <a:noAutofit/>
          </a:bodyPr>
          <a:lstStyle/>
          <a:p>
            <a:pPr algn="ctr">
              <a:spcBef>
                <a:spcPts val="600"/>
              </a:spcBef>
              <a:buSzPct val="100000"/>
            </a:pPr>
            <a:r>
              <a:rPr lang="en-US" sz="1200" b="1" i="1" dirty="0" smtClean="0">
                <a:solidFill>
                  <a:srgbClr val="313131"/>
                </a:solidFill>
              </a:rPr>
              <a:t>Lack of Integrated Planning</a:t>
            </a:r>
          </a:p>
        </p:txBody>
      </p:sp>
      <p:sp>
        <p:nvSpPr>
          <p:cNvPr id="37" name="Oval 36"/>
          <p:cNvSpPr/>
          <p:nvPr/>
        </p:nvSpPr>
        <p:spPr bwMode="gray">
          <a:xfrm>
            <a:off x="8658433" y="1603261"/>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3</a:t>
            </a:r>
          </a:p>
        </p:txBody>
      </p:sp>
      <p:sp>
        <p:nvSpPr>
          <p:cNvPr id="38" name="Rounded Rectangle 37"/>
          <p:cNvSpPr/>
          <p:nvPr/>
        </p:nvSpPr>
        <p:spPr bwMode="gray">
          <a:xfrm>
            <a:off x="7301804" y="1949091"/>
            <a:ext cx="3118105" cy="2763753"/>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smtClean="0">
              <a:solidFill>
                <a:prstClr val="white"/>
              </a:solidFill>
            </a:endParaRPr>
          </a:p>
        </p:txBody>
      </p:sp>
      <p:sp>
        <p:nvSpPr>
          <p:cNvPr id="39" name="TextBox 38"/>
          <p:cNvSpPr txBox="1"/>
          <p:nvPr/>
        </p:nvSpPr>
        <p:spPr>
          <a:xfrm>
            <a:off x="298151" y="6717932"/>
            <a:ext cx="10112258" cy="489058"/>
          </a:xfrm>
          <a:prstGeom prst="rect">
            <a:avLst/>
          </a:prstGeom>
          <a:solidFill>
            <a:schemeClr val="accent1"/>
          </a:solidFill>
          <a:ln>
            <a:solidFill>
              <a:srgbClr val="92D050"/>
            </a:solidFill>
          </a:ln>
        </p:spPr>
        <p:txBody>
          <a:bodyPr wrap="square" lIns="36000" tIns="0" rIns="36000" bIns="0" rtlCol="0" anchor="ctr">
            <a:noAutofit/>
          </a:bodyPr>
          <a:lstStyle/>
          <a:p>
            <a:pPr algn="ctr">
              <a:spcBef>
                <a:spcPts val="600"/>
              </a:spcBef>
              <a:buSzPct val="100000"/>
            </a:pPr>
            <a:r>
              <a:rPr lang="en-US" sz="1400" b="1" dirty="0" smtClean="0">
                <a:solidFill>
                  <a:srgbClr val="313131"/>
                </a:solidFill>
              </a:rPr>
              <a:t>The mentioned concern areas pose potential threat to the sector performance and require potential revisit of BPDB’s institutional model </a:t>
            </a:r>
            <a:endParaRPr lang="en-IN" sz="1400" b="1" dirty="0" smtClean="0">
              <a:solidFill>
                <a:srgbClr val="313131"/>
              </a:solidFill>
            </a:endParaRPr>
          </a:p>
        </p:txBody>
      </p:sp>
      <p:sp>
        <p:nvSpPr>
          <p:cNvPr id="12" name="TextBox 11"/>
          <p:cNvSpPr txBox="1"/>
          <p:nvPr/>
        </p:nvSpPr>
        <p:spPr>
          <a:xfrm>
            <a:off x="400353" y="2387660"/>
            <a:ext cx="2838786" cy="2092881"/>
          </a:xfrm>
          <a:prstGeom prst="rect">
            <a:avLst/>
          </a:prstGeom>
          <a:noFill/>
        </p:spPr>
        <p:txBody>
          <a:bodyPr wrap="square" lIns="0" tIns="0" rIns="0" bIns="0" rtlCol="0">
            <a:spAutoFit/>
          </a:bodyPr>
          <a:lstStyle/>
          <a:p>
            <a:pPr marL="171450" indent="-171450" algn="just">
              <a:spcBef>
                <a:spcPts val="600"/>
              </a:spcBef>
              <a:buSzPct val="100000"/>
              <a:buFont typeface="Arial" panose="020B0604020202020204" pitchFamily="34" charset="0"/>
              <a:buChar char="•"/>
            </a:pPr>
            <a:r>
              <a:rPr lang="en-US" sz="1400" dirty="0" smtClean="0">
                <a:solidFill>
                  <a:srgbClr val="313131"/>
                </a:solidFill>
              </a:rPr>
              <a:t>Govt. provides budgetary support in the form of loans instead of subsidy</a:t>
            </a:r>
          </a:p>
          <a:p>
            <a:pPr marL="171450" indent="-171450" algn="just">
              <a:spcBef>
                <a:spcPts val="600"/>
              </a:spcBef>
              <a:buSzPct val="100000"/>
              <a:buFont typeface="Arial" panose="020B0604020202020204" pitchFamily="34" charset="0"/>
              <a:buChar char="•"/>
            </a:pPr>
            <a:r>
              <a:rPr lang="en-US" sz="1400" dirty="0" smtClean="0">
                <a:solidFill>
                  <a:srgbClr val="313131"/>
                </a:solidFill>
              </a:rPr>
              <a:t>The interest on budgetary loans is 3% p.a. </a:t>
            </a:r>
          </a:p>
          <a:p>
            <a:pPr marL="171450" indent="-171450" algn="just">
              <a:spcBef>
                <a:spcPts val="600"/>
              </a:spcBef>
              <a:buSzPct val="100000"/>
              <a:buFont typeface="Arial" panose="020B0604020202020204" pitchFamily="34" charset="0"/>
              <a:buChar char="•"/>
            </a:pPr>
            <a:r>
              <a:rPr lang="en-US" sz="1400" dirty="0" err="1">
                <a:solidFill>
                  <a:srgbClr val="313131"/>
                </a:solidFill>
              </a:rPr>
              <a:t>BPDB’s</a:t>
            </a:r>
            <a:r>
              <a:rPr lang="en-US" sz="1400" dirty="0">
                <a:solidFill>
                  <a:srgbClr val="313131"/>
                </a:solidFill>
              </a:rPr>
              <a:t> net worth would have been positive if it had received </a:t>
            </a:r>
            <a:r>
              <a:rPr lang="en-US" sz="1400" dirty="0" smtClean="0">
                <a:solidFill>
                  <a:srgbClr val="313131"/>
                </a:solidFill>
              </a:rPr>
              <a:t>Govt. </a:t>
            </a:r>
            <a:r>
              <a:rPr lang="en-US" sz="1400" dirty="0">
                <a:solidFill>
                  <a:srgbClr val="313131"/>
                </a:solidFill>
              </a:rPr>
              <a:t>support in the form of </a:t>
            </a:r>
            <a:r>
              <a:rPr lang="en-US" sz="1400" dirty="0" smtClean="0">
                <a:solidFill>
                  <a:srgbClr val="313131"/>
                </a:solidFill>
              </a:rPr>
              <a:t>subsidy</a:t>
            </a:r>
          </a:p>
        </p:txBody>
      </p:sp>
      <p:sp>
        <p:nvSpPr>
          <p:cNvPr id="40" name="TextBox 39"/>
          <p:cNvSpPr txBox="1"/>
          <p:nvPr/>
        </p:nvSpPr>
        <p:spPr>
          <a:xfrm>
            <a:off x="3922875" y="2376469"/>
            <a:ext cx="2838786" cy="1877437"/>
          </a:xfrm>
          <a:prstGeom prst="rect">
            <a:avLst/>
          </a:prstGeom>
          <a:noFill/>
        </p:spPr>
        <p:txBody>
          <a:bodyPr wrap="square" lIns="0" tIns="0" rIns="0" bIns="0" rtlCol="0">
            <a:spAutoFit/>
          </a:bodyPr>
          <a:lstStyle/>
          <a:p>
            <a:pPr marL="171450" indent="-171450" algn="just">
              <a:spcBef>
                <a:spcPts val="600"/>
              </a:spcBef>
              <a:buSzPct val="100000"/>
              <a:buFont typeface="Arial" panose="020B0604020202020204" pitchFamily="34" charset="0"/>
              <a:buChar char="•"/>
            </a:pPr>
            <a:r>
              <a:rPr lang="en-US" sz="1400" dirty="0" smtClean="0">
                <a:solidFill>
                  <a:srgbClr val="313131"/>
                </a:solidFill>
              </a:rPr>
              <a:t>Avg. bulk supply tariff is 4.9 </a:t>
            </a:r>
            <a:r>
              <a:rPr lang="en-US" sz="1400" dirty="0" err="1" smtClean="0">
                <a:solidFill>
                  <a:srgbClr val="313131"/>
                </a:solidFill>
              </a:rPr>
              <a:t>Tk</a:t>
            </a:r>
            <a:r>
              <a:rPr lang="en-US" sz="1400" dirty="0" smtClean="0">
                <a:solidFill>
                  <a:srgbClr val="313131"/>
                </a:solidFill>
              </a:rPr>
              <a:t>/unit whereas cost of supply is 5.55 </a:t>
            </a:r>
            <a:r>
              <a:rPr lang="en-US" sz="1400" dirty="0" err="1" smtClean="0">
                <a:solidFill>
                  <a:srgbClr val="313131"/>
                </a:solidFill>
              </a:rPr>
              <a:t>Tk</a:t>
            </a:r>
            <a:r>
              <a:rPr lang="en-US" sz="1400" dirty="0" smtClean="0">
                <a:solidFill>
                  <a:srgbClr val="313131"/>
                </a:solidFill>
              </a:rPr>
              <a:t>/unit</a:t>
            </a:r>
          </a:p>
          <a:p>
            <a:pPr marL="171450" indent="-171450" algn="just">
              <a:spcBef>
                <a:spcPts val="600"/>
              </a:spcBef>
              <a:buSzPct val="100000"/>
              <a:buFont typeface="Arial" panose="020B0604020202020204" pitchFamily="34" charset="0"/>
              <a:buChar char="•"/>
            </a:pPr>
            <a:r>
              <a:rPr lang="en-US" sz="1400" dirty="0" smtClean="0">
                <a:solidFill>
                  <a:srgbClr val="313131"/>
                </a:solidFill>
              </a:rPr>
              <a:t>Disparity of tariff structure at generation and bulk supply level</a:t>
            </a:r>
          </a:p>
          <a:p>
            <a:pPr marL="171450" indent="-171450" algn="just">
              <a:spcBef>
                <a:spcPts val="600"/>
              </a:spcBef>
              <a:buSzPct val="100000"/>
              <a:buFont typeface="Arial" panose="020B0604020202020204" pitchFamily="34" charset="0"/>
              <a:buChar char="•"/>
            </a:pPr>
            <a:r>
              <a:rPr lang="en-US" sz="1400" dirty="0" smtClean="0">
                <a:solidFill>
                  <a:srgbClr val="313131"/>
                </a:solidFill>
              </a:rPr>
              <a:t>Bulk Supply Collection Efficiency is 90%</a:t>
            </a:r>
          </a:p>
        </p:txBody>
      </p:sp>
      <p:sp>
        <p:nvSpPr>
          <p:cNvPr id="45" name="TextBox 44"/>
          <p:cNvSpPr txBox="1"/>
          <p:nvPr/>
        </p:nvSpPr>
        <p:spPr>
          <a:xfrm>
            <a:off x="7350976" y="2347617"/>
            <a:ext cx="2838786" cy="2092881"/>
          </a:xfrm>
          <a:prstGeom prst="rect">
            <a:avLst/>
          </a:prstGeom>
          <a:noFill/>
        </p:spPr>
        <p:txBody>
          <a:bodyPr wrap="square" lIns="0" tIns="0" rIns="0" bIns="0" rtlCol="0">
            <a:spAutoFit/>
          </a:bodyPr>
          <a:lstStyle/>
          <a:p>
            <a:pPr marL="171450" indent="-171450" algn="just">
              <a:spcBef>
                <a:spcPts val="600"/>
              </a:spcBef>
              <a:buSzPct val="100000"/>
              <a:buFont typeface="Arial" panose="020B0604020202020204" pitchFamily="34" charset="0"/>
              <a:buChar char="•"/>
            </a:pPr>
            <a:r>
              <a:rPr lang="en-IN" sz="1400" dirty="0">
                <a:solidFill>
                  <a:srgbClr val="313131"/>
                </a:solidFill>
              </a:rPr>
              <a:t>Different entities undertake their own planning and project development activities</a:t>
            </a:r>
          </a:p>
          <a:p>
            <a:pPr marL="171450" indent="-171450" algn="just">
              <a:spcBef>
                <a:spcPts val="600"/>
              </a:spcBef>
              <a:buSzPct val="100000"/>
              <a:buFont typeface="Arial" panose="020B0604020202020204" pitchFamily="34" charset="0"/>
              <a:buChar char="•"/>
            </a:pPr>
            <a:r>
              <a:rPr lang="en-US" sz="1400" dirty="0">
                <a:solidFill>
                  <a:srgbClr val="313131"/>
                </a:solidFill>
              </a:rPr>
              <a:t>This leads to risk of limited synergy across the </a:t>
            </a:r>
            <a:r>
              <a:rPr lang="en-US" sz="1400" dirty="0" smtClean="0">
                <a:solidFill>
                  <a:srgbClr val="313131"/>
                </a:solidFill>
              </a:rPr>
              <a:t>sector</a:t>
            </a:r>
          </a:p>
          <a:p>
            <a:pPr marL="171450" indent="-171450" algn="just">
              <a:spcBef>
                <a:spcPts val="600"/>
              </a:spcBef>
              <a:buSzPct val="100000"/>
              <a:buFont typeface="Arial" panose="020B0604020202020204" pitchFamily="34" charset="0"/>
              <a:buChar char="•"/>
            </a:pPr>
            <a:r>
              <a:rPr lang="en-US" sz="1400" dirty="0">
                <a:solidFill>
                  <a:srgbClr val="313131"/>
                </a:solidFill>
              </a:rPr>
              <a:t>This ultimately results in </a:t>
            </a:r>
            <a:r>
              <a:rPr lang="en-US" sz="1400" dirty="0" smtClean="0">
                <a:solidFill>
                  <a:srgbClr val="313131"/>
                </a:solidFill>
              </a:rPr>
              <a:t>risk of optimal </a:t>
            </a:r>
            <a:r>
              <a:rPr lang="en-US" sz="1400" dirty="0">
                <a:solidFill>
                  <a:srgbClr val="313131"/>
                </a:solidFill>
              </a:rPr>
              <a:t>utilization </a:t>
            </a:r>
            <a:r>
              <a:rPr lang="en-US" sz="1400" dirty="0" smtClean="0">
                <a:solidFill>
                  <a:srgbClr val="313131"/>
                </a:solidFill>
              </a:rPr>
              <a:t>and integrated </a:t>
            </a:r>
            <a:r>
              <a:rPr lang="en-US" sz="1400" dirty="0">
                <a:solidFill>
                  <a:srgbClr val="313131"/>
                </a:solidFill>
              </a:rPr>
              <a:t>planning approach</a:t>
            </a:r>
            <a:endParaRPr lang="en-US" sz="1400" dirty="0" smtClean="0">
              <a:solidFill>
                <a:srgbClr val="313131"/>
              </a:solidFill>
            </a:endParaRPr>
          </a:p>
        </p:txBody>
      </p:sp>
      <p:cxnSp>
        <p:nvCxnSpPr>
          <p:cNvPr id="19" name="Straight Connector 18"/>
          <p:cNvCxnSpPr/>
          <p:nvPr/>
        </p:nvCxnSpPr>
        <p:spPr>
          <a:xfrm>
            <a:off x="633957" y="4909269"/>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913375" y="4801547"/>
            <a:ext cx="2750465"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Other Challenges</a:t>
            </a:r>
            <a:endParaRPr lang="en-US" sz="1400" b="1" dirty="0">
              <a:solidFill>
                <a:prstClr val="black"/>
              </a:solidFill>
            </a:endParaRPr>
          </a:p>
        </p:txBody>
      </p:sp>
      <p:cxnSp>
        <p:nvCxnSpPr>
          <p:cNvPr id="21" name="Straight Connector 20"/>
          <p:cNvCxnSpPr/>
          <p:nvPr/>
        </p:nvCxnSpPr>
        <p:spPr>
          <a:xfrm>
            <a:off x="547549" y="1379388"/>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826967" y="1271666"/>
            <a:ext cx="2750465"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Core Challenge Areas</a:t>
            </a:r>
            <a:endParaRPr lang="en-US" sz="1400" b="1" dirty="0">
              <a:solidFill>
                <a:prstClr val="black"/>
              </a:solidFill>
            </a:endParaRPr>
          </a:p>
        </p:txBody>
      </p:sp>
      <p:sp>
        <p:nvSpPr>
          <p:cNvPr id="25" name="Rounded Rectangle 24"/>
          <p:cNvSpPr/>
          <p:nvPr/>
        </p:nvSpPr>
        <p:spPr bwMode="gray">
          <a:xfrm>
            <a:off x="307650" y="5330467"/>
            <a:ext cx="3118105" cy="1191039"/>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marL="171450" indent="-171450" algn="just">
              <a:lnSpc>
                <a:spcPct val="106000"/>
              </a:lnSpc>
              <a:spcBef>
                <a:spcPts val="600"/>
              </a:spcBef>
              <a:buSzPct val="100000"/>
              <a:buFont typeface="Arial" panose="020B0604020202020204" pitchFamily="34" charset="0"/>
              <a:buChar char="•"/>
            </a:pPr>
            <a:r>
              <a:rPr lang="en-US" sz="1400" dirty="0">
                <a:solidFill>
                  <a:srgbClr val="313131"/>
                </a:solidFill>
              </a:rPr>
              <a:t>Higher </a:t>
            </a:r>
            <a:r>
              <a:rPr lang="en-US" sz="1400" dirty="0" smtClean="0">
                <a:solidFill>
                  <a:srgbClr val="313131"/>
                </a:solidFill>
              </a:rPr>
              <a:t>generation cost </a:t>
            </a:r>
            <a:r>
              <a:rPr lang="en-US" sz="1400" dirty="0">
                <a:solidFill>
                  <a:srgbClr val="313131"/>
                </a:solidFill>
              </a:rPr>
              <a:t>from </a:t>
            </a:r>
            <a:r>
              <a:rPr lang="en-US" sz="1400" dirty="0" err="1">
                <a:solidFill>
                  <a:srgbClr val="313131"/>
                </a:solidFill>
              </a:rPr>
              <a:t>BPDB’s</a:t>
            </a:r>
            <a:r>
              <a:rPr lang="en-US" sz="1400" dirty="0">
                <a:solidFill>
                  <a:srgbClr val="313131"/>
                </a:solidFill>
              </a:rPr>
              <a:t> </a:t>
            </a:r>
            <a:r>
              <a:rPr lang="en-US" sz="1400" dirty="0" err="1">
                <a:solidFill>
                  <a:srgbClr val="313131"/>
                </a:solidFill>
              </a:rPr>
              <a:t>HFO</a:t>
            </a:r>
            <a:r>
              <a:rPr lang="en-US" sz="1400" dirty="0">
                <a:solidFill>
                  <a:srgbClr val="313131"/>
                </a:solidFill>
              </a:rPr>
              <a:t> </a:t>
            </a:r>
            <a:r>
              <a:rPr lang="en-US" sz="1400" dirty="0" smtClean="0">
                <a:solidFill>
                  <a:srgbClr val="313131"/>
                </a:solidFill>
              </a:rPr>
              <a:t>&amp; </a:t>
            </a:r>
            <a:r>
              <a:rPr lang="en-US" sz="1400" dirty="0">
                <a:solidFill>
                  <a:srgbClr val="313131"/>
                </a:solidFill>
              </a:rPr>
              <a:t>diesel </a:t>
            </a:r>
            <a:r>
              <a:rPr lang="en-US" sz="1400" dirty="0" smtClean="0">
                <a:solidFill>
                  <a:srgbClr val="313131"/>
                </a:solidFill>
              </a:rPr>
              <a:t>power plants </a:t>
            </a:r>
            <a:r>
              <a:rPr lang="en-US" sz="1400" dirty="0">
                <a:solidFill>
                  <a:srgbClr val="313131"/>
                </a:solidFill>
              </a:rPr>
              <a:t>compared to </a:t>
            </a:r>
            <a:r>
              <a:rPr lang="en-US" sz="1400" dirty="0" err="1" smtClean="0">
                <a:solidFill>
                  <a:srgbClr val="313131"/>
                </a:solidFill>
              </a:rPr>
              <a:t>IPPs</a:t>
            </a:r>
            <a:r>
              <a:rPr lang="en-US" sz="1400" dirty="0" smtClean="0">
                <a:solidFill>
                  <a:srgbClr val="313131"/>
                </a:solidFill>
              </a:rPr>
              <a:t>/Rental/</a:t>
            </a:r>
            <a:r>
              <a:rPr lang="en-US" sz="1400" dirty="0" err="1" smtClean="0">
                <a:solidFill>
                  <a:srgbClr val="313131"/>
                </a:solidFill>
              </a:rPr>
              <a:t>QRs</a:t>
            </a:r>
            <a:endParaRPr lang="en-US" sz="1400" dirty="0">
              <a:solidFill>
                <a:srgbClr val="313131"/>
              </a:solidFill>
            </a:endParaRPr>
          </a:p>
        </p:txBody>
      </p:sp>
      <p:sp>
        <p:nvSpPr>
          <p:cNvPr id="26" name="Rounded Rectangle 25"/>
          <p:cNvSpPr/>
          <p:nvPr/>
        </p:nvSpPr>
        <p:spPr bwMode="gray">
          <a:xfrm>
            <a:off x="3804726" y="5380971"/>
            <a:ext cx="3118105" cy="1191039"/>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marL="171450" indent="-171450" algn="just">
              <a:spcBef>
                <a:spcPts val="600"/>
              </a:spcBef>
              <a:buSzPct val="100000"/>
              <a:buFont typeface="Arial" panose="020B0604020202020204" pitchFamily="34" charset="0"/>
              <a:buChar char="•"/>
            </a:pPr>
            <a:r>
              <a:rPr lang="en-US" sz="1400" dirty="0">
                <a:solidFill>
                  <a:srgbClr val="313131"/>
                </a:solidFill>
              </a:rPr>
              <a:t>Overall retail sales receivable days of around 4.5 – 5 months over the past 3 years</a:t>
            </a:r>
            <a:endParaRPr lang="en-IN" sz="1400" dirty="0">
              <a:solidFill>
                <a:srgbClr val="313131"/>
              </a:solidFill>
            </a:endParaRPr>
          </a:p>
        </p:txBody>
      </p:sp>
      <p:sp>
        <p:nvSpPr>
          <p:cNvPr id="27" name="Rounded Rectangle 26"/>
          <p:cNvSpPr/>
          <p:nvPr/>
        </p:nvSpPr>
        <p:spPr bwMode="gray">
          <a:xfrm>
            <a:off x="7301804" y="5354597"/>
            <a:ext cx="3118105" cy="1191039"/>
          </a:xfrm>
          <a:prstGeom prst="roundRect">
            <a:avLst/>
          </a:prstGeom>
          <a:solidFill>
            <a:schemeClr val="accent3">
              <a:alpha val="8000"/>
            </a:schemeClr>
          </a:solidFill>
          <a:ln w="19050" algn="ctr">
            <a:noFill/>
            <a:miter lim="800000"/>
            <a:headEnd/>
            <a:tailEnd/>
          </a:ln>
        </p:spPr>
        <p:txBody>
          <a:bodyPr wrap="square" lIns="88900" tIns="88900" rIns="88900" bIns="88900" rtlCol="0" anchor="ctr"/>
          <a:lstStyle/>
          <a:p>
            <a:pPr marL="171450" indent="-171450" algn="just">
              <a:spcBef>
                <a:spcPts val="600"/>
              </a:spcBef>
              <a:buSzPct val="100000"/>
              <a:buFont typeface="Arial" panose="020B0604020202020204" pitchFamily="34" charset="0"/>
              <a:buChar char="•"/>
            </a:pPr>
            <a:r>
              <a:rPr lang="en-US" sz="1400" dirty="0" smtClean="0">
                <a:solidFill>
                  <a:srgbClr val="313131"/>
                </a:solidFill>
              </a:rPr>
              <a:t>Marginally higher </a:t>
            </a:r>
            <a:r>
              <a:rPr lang="en-US" sz="1400" dirty="0">
                <a:solidFill>
                  <a:srgbClr val="313131"/>
                </a:solidFill>
              </a:rPr>
              <a:t>distribution loss of </a:t>
            </a:r>
            <a:r>
              <a:rPr lang="en-US" sz="1400" dirty="0" smtClean="0">
                <a:solidFill>
                  <a:srgbClr val="313131"/>
                </a:solidFill>
              </a:rPr>
              <a:t>BPDB (11%) </a:t>
            </a:r>
            <a:r>
              <a:rPr lang="en-US" sz="1400" dirty="0">
                <a:solidFill>
                  <a:srgbClr val="313131"/>
                </a:solidFill>
              </a:rPr>
              <a:t>compared to </a:t>
            </a:r>
            <a:r>
              <a:rPr lang="en-US" sz="1400" dirty="0" smtClean="0">
                <a:solidFill>
                  <a:srgbClr val="313131"/>
                </a:solidFill>
              </a:rPr>
              <a:t>DPDC (9%), DESCO (8%) </a:t>
            </a:r>
            <a:r>
              <a:rPr lang="en-US" sz="1400" dirty="0">
                <a:solidFill>
                  <a:srgbClr val="313131"/>
                </a:solidFill>
              </a:rPr>
              <a:t>and </a:t>
            </a:r>
            <a:r>
              <a:rPr lang="en-US" sz="1400" dirty="0" smtClean="0">
                <a:solidFill>
                  <a:srgbClr val="313131"/>
                </a:solidFill>
              </a:rPr>
              <a:t>WZPDCL (10%)</a:t>
            </a:r>
            <a:endParaRPr lang="en-IN" sz="1400" dirty="0">
              <a:solidFill>
                <a:srgbClr val="313131"/>
              </a:solidFill>
            </a:endParaRPr>
          </a:p>
        </p:txBody>
      </p:sp>
      <p:sp>
        <p:nvSpPr>
          <p:cNvPr id="28" name="Oval 27"/>
          <p:cNvSpPr/>
          <p:nvPr/>
        </p:nvSpPr>
        <p:spPr bwMode="gray">
          <a:xfrm>
            <a:off x="1622495" y="5013425"/>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4</a:t>
            </a:r>
          </a:p>
        </p:txBody>
      </p:sp>
      <p:sp>
        <p:nvSpPr>
          <p:cNvPr id="29" name="Oval 28"/>
          <p:cNvSpPr/>
          <p:nvPr/>
        </p:nvSpPr>
        <p:spPr bwMode="gray">
          <a:xfrm>
            <a:off x="5161356" y="5022719"/>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5</a:t>
            </a:r>
          </a:p>
        </p:txBody>
      </p:sp>
      <p:sp>
        <p:nvSpPr>
          <p:cNvPr id="33" name="Oval 32"/>
          <p:cNvSpPr/>
          <p:nvPr/>
        </p:nvSpPr>
        <p:spPr bwMode="gray">
          <a:xfrm>
            <a:off x="8658433" y="5022719"/>
            <a:ext cx="394502" cy="34583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6</a:t>
            </a:r>
          </a:p>
        </p:txBody>
      </p:sp>
      <p:sp>
        <p:nvSpPr>
          <p:cNvPr id="2" name="Pentagon 1">
            <a:hlinkClick r:id="rId2" action="ppaction://hlinksldjump"/>
          </p:cNvPr>
          <p:cNvSpPr/>
          <p:nvPr/>
        </p:nvSpPr>
        <p:spPr bwMode="gray">
          <a:xfrm>
            <a:off x="6290440" y="4450331"/>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0" name="Pentagon 29">
            <a:hlinkClick r:id="rId3" action="ppaction://hlinksldjump"/>
          </p:cNvPr>
          <p:cNvSpPr/>
          <p:nvPr/>
        </p:nvSpPr>
        <p:spPr bwMode="gray">
          <a:xfrm>
            <a:off x="9894666" y="444837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4" name="Pentagon 33">
            <a:hlinkClick r:id="rId4" action="ppaction://hlinksldjump"/>
          </p:cNvPr>
          <p:cNvSpPr/>
          <p:nvPr/>
        </p:nvSpPr>
        <p:spPr bwMode="gray">
          <a:xfrm>
            <a:off x="2914996" y="6404178"/>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2" name="Pentagon 41">
            <a:hlinkClick r:id="rId5" action="ppaction://hlinksldjump"/>
          </p:cNvPr>
          <p:cNvSpPr/>
          <p:nvPr/>
        </p:nvSpPr>
        <p:spPr bwMode="gray">
          <a:xfrm>
            <a:off x="6290440" y="6392113"/>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3" name="Pentagon 42">
            <a:hlinkClick r:id="rId6" action="ppaction://hlinksldjump"/>
          </p:cNvPr>
          <p:cNvSpPr/>
          <p:nvPr/>
        </p:nvSpPr>
        <p:spPr bwMode="gray">
          <a:xfrm>
            <a:off x="9894667" y="6404178"/>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4" name="Pentagon 43">
            <a:hlinkClick r:id="rId7" action="ppaction://hlinksldjump"/>
          </p:cNvPr>
          <p:cNvSpPr/>
          <p:nvPr/>
        </p:nvSpPr>
        <p:spPr bwMode="gray">
          <a:xfrm>
            <a:off x="2934561" y="4441796"/>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659667530"/>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Connector 27"/>
          <p:cNvCxnSpPr/>
          <p:nvPr/>
        </p:nvCxnSpPr>
        <p:spPr>
          <a:xfrm>
            <a:off x="447794" y="1273514"/>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426832" y="1155175"/>
            <a:ext cx="7847395" cy="430887"/>
          </a:xfrm>
          <a:prstGeom prst="rect">
            <a:avLst/>
          </a:prstGeom>
          <a:solidFill>
            <a:schemeClr val="bg1"/>
          </a:solidFill>
        </p:spPr>
        <p:txBody>
          <a:bodyPr wrap="square" lIns="0" tIns="0" rIns="0" bIns="0" rtlCol="0">
            <a:spAutoFit/>
          </a:bodyPr>
          <a:lstStyle/>
          <a:p>
            <a:pPr algn="ctr">
              <a:buSzPct val="100000"/>
            </a:pPr>
            <a:r>
              <a:rPr lang="en-US" sz="1400" b="1" dirty="0">
                <a:solidFill>
                  <a:prstClr val="black"/>
                </a:solidFill>
              </a:rPr>
              <a:t>Financial implications of identified strategic concerns and challenges on </a:t>
            </a:r>
            <a:r>
              <a:rPr lang="en-US" sz="1400" b="1" dirty="0" smtClean="0">
                <a:solidFill>
                  <a:prstClr val="black"/>
                </a:solidFill>
              </a:rPr>
              <a:t>BPDB</a:t>
            </a:r>
          </a:p>
          <a:p>
            <a:pPr algn="ctr">
              <a:buSzPct val="100000"/>
            </a:pPr>
            <a:r>
              <a:rPr lang="en-US" sz="1400" b="1" dirty="0" smtClean="0">
                <a:solidFill>
                  <a:prstClr val="black"/>
                </a:solidFill>
              </a:rPr>
              <a:t>(in Bn. Taka)</a:t>
            </a:r>
            <a:endParaRPr lang="en-US" sz="1400" b="1" dirty="0">
              <a:solidFill>
                <a:prstClr val="black"/>
              </a:solidFill>
            </a:endParaRPr>
          </a:p>
        </p:txBody>
      </p:sp>
      <p:graphicFrame>
        <p:nvGraphicFramePr>
          <p:cNvPr id="7" name="Chart 6"/>
          <p:cNvGraphicFramePr/>
          <p:nvPr>
            <p:extLst/>
          </p:nvPr>
        </p:nvGraphicFramePr>
        <p:xfrm>
          <a:off x="362607" y="1641996"/>
          <a:ext cx="9784800" cy="5448147"/>
        </p:xfrm>
        <a:graphic>
          <a:graphicData uri="http://schemas.openxmlformats.org/drawingml/2006/chart">
            <c:chart xmlns:c="http://schemas.openxmlformats.org/drawingml/2006/chart" xmlns:r="http://schemas.openxmlformats.org/officeDocument/2006/relationships" r:id="rId3"/>
          </a:graphicData>
        </a:graphic>
      </p:graphicFrame>
      <p:cxnSp>
        <p:nvCxnSpPr>
          <p:cNvPr id="11" name="Straight Connector 10"/>
          <p:cNvCxnSpPr/>
          <p:nvPr/>
        </p:nvCxnSpPr>
        <p:spPr>
          <a:xfrm>
            <a:off x="1397670" y="1686966"/>
            <a:ext cx="0" cy="27729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10367" y="1708482"/>
            <a:ext cx="0" cy="27729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995502" y="1708482"/>
            <a:ext cx="0" cy="27729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397670" y="1825612"/>
            <a:ext cx="3108229"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505899" y="1825612"/>
            <a:ext cx="1861850"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367749" y="1828230"/>
            <a:ext cx="1627753"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 Box 25"/>
          <p:cNvSpPr txBox="1"/>
          <p:nvPr/>
        </p:nvSpPr>
        <p:spPr>
          <a:xfrm>
            <a:off x="2096462" y="1700355"/>
            <a:ext cx="1029182" cy="285419"/>
          </a:xfrm>
          <a:prstGeom prst="rect">
            <a:avLst/>
          </a:prstGeom>
          <a:solidFill>
            <a:schemeClr val="bg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600" dirty="0">
                <a:solidFill>
                  <a:srgbClr val="000000"/>
                </a:solidFill>
                <a:latin typeface="Calibri" panose="020F0502020204030204" pitchFamily="34" charset="0"/>
                <a:ea typeface="Times" panose="02020603050405020304" pitchFamily="18" charset="0"/>
                <a:cs typeface="Arial" panose="020B0604020202020204" pitchFamily="34" charset="0"/>
              </a:rPr>
              <a:t>Bulk supply</a:t>
            </a:r>
            <a:endParaRPr lang="en-IN" sz="1600" dirty="0">
              <a:solidFill>
                <a:prstClr val="black"/>
              </a:solidFill>
              <a:latin typeface="Calibri" panose="020F0502020204030204" pitchFamily="34" charset="0"/>
              <a:ea typeface="Times" panose="02020603050405020304" pitchFamily="18" charset="0"/>
              <a:cs typeface="Arial" panose="020B0604020202020204" pitchFamily="34" charset="0"/>
            </a:endParaRPr>
          </a:p>
        </p:txBody>
      </p:sp>
      <p:sp>
        <p:nvSpPr>
          <p:cNvPr id="19" name="Text Box 27"/>
          <p:cNvSpPr txBox="1"/>
          <p:nvPr/>
        </p:nvSpPr>
        <p:spPr>
          <a:xfrm>
            <a:off x="4921907" y="1695918"/>
            <a:ext cx="1029833" cy="259388"/>
          </a:xfrm>
          <a:prstGeom prst="rect">
            <a:avLst/>
          </a:prstGeom>
          <a:solidFill>
            <a:schemeClr val="bg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600" dirty="0">
                <a:solidFill>
                  <a:srgbClr val="000000"/>
                </a:solidFill>
                <a:latin typeface="Calibri" panose="020F0502020204030204" pitchFamily="34" charset="0"/>
                <a:ea typeface="Times" panose="02020603050405020304" pitchFamily="18" charset="0"/>
                <a:cs typeface="Arial" panose="020B0604020202020204" pitchFamily="34" charset="0"/>
              </a:rPr>
              <a:t>Generation</a:t>
            </a:r>
            <a:endParaRPr lang="en-IN" sz="1600" dirty="0">
              <a:solidFill>
                <a:prstClr val="black"/>
              </a:solidFill>
              <a:latin typeface="Calibri" panose="020F0502020204030204" pitchFamily="34" charset="0"/>
              <a:ea typeface="Times" panose="02020603050405020304" pitchFamily="18" charset="0"/>
              <a:cs typeface="Arial" panose="020B0604020202020204" pitchFamily="34" charset="0"/>
            </a:endParaRPr>
          </a:p>
        </p:txBody>
      </p:sp>
      <p:sp>
        <p:nvSpPr>
          <p:cNvPr id="20" name="Text Box 28"/>
          <p:cNvSpPr txBox="1"/>
          <p:nvPr/>
        </p:nvSpPr>
        <p:spPr>
          <a:xfrm>
            <a:off x="6586971" y="1693086"/>
            <a:ext cx="1132100" cy="285419"/>
          </a:xfrm>
          <a:prstGeom prst="rect">
            <a:avLst/>
          </a:prstGeom>
          <a:solidFill>
            <a:schemeClr val="bg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600" dirty="0">
                <a:solidFill>
                  <a:srgbClr val="000000"/>
                </a:solidFill>
                <a:latin typeface="Calibri" panose="020F0502020204030204" pitchFamily="34" charset="0"/>
                <a:ea typeface="Times" panose="02020603050405020304" pitchFamily="18" charset="0"/>
                <a:cs typeface="Arial" panose="020B0604020202020204" pitchFamily="34" charset="0"/>
              </a:rPr>
              <a:t>Distribution</a:t>
            </a:r>
            <a:endParaRPr lang="en-IN" sz="1600" dirty="0">
              <a:solidFill>
                <a:prstClr val="black"/>
              </a:solidFill>
              <a:latin typeface="Calibri" panose="020F0502020204030204" pitchFamily="34" charset="0"/>
              <a:ea typeface="Times" panose="02020603050405020304" pitchFamily="18" charset="0"/>
              <a:cs typeface="Arial" panose="020B0604020202020204" pitchFamily="34" charset="0"/>
            </a:endParaRPr>
          </a:p>
        </p:txBody>
      </p:sp>
      <p:sp>
        <p:nvSpPr>
          <p:cNvPr id="27" name="Rounded Rectangle 26"/>
          <p:cNvSpPr/>
          <p:nvPr/>
        </p:nvSpPr>
        <p:spPr bwMode="gray">
          <a:xfrm>
            <a:off x="1174101" y="2193906"/>
            <a:ext cx="3084321" cy="3915423"/>
          </a:xfrm>
          <a:prstGeom prst="roundRect">
            <a:avLst/>
          </a:prstGeom>
          <a:solidFill>
            <a:schemeClr val="accent3">
              <a:alpha val="26000"/>
            </a:schemeClr>
          </a:solidFill>
          <a:ln w="19050"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smtClean="0">
              <a:solidFill>
                <a:prstClr val="white"/>
              </a:solidFill>
            </a:endParaRPr>
          </a:p>
        </p:txBody>
      </p:sp>
      <p:sp>
        <p:nvSpPr>
          <p:cNvPr id="30" name="TextBox 29"/>
          <p:cNvSpPr txBox="1"/>
          <p:nvPr/>
        </p:nvSpPr>
        <p:spPr>
          <a:xfrm>
            <a:off x="2929871" y="7248576"/>
            <a:ext cx="5762101" cy="215444"/>
          </a:xfrm>
          <a:prstGeom prst="rect">
            <a:avLst/>
          </a:prstGeom>
          <a:noFill/>
        </p:spPr>
        <p:txBody>
          <a:bodyPr wrap="square" lIns="0" tIns="0" rIns="0" bIns="0" rtlCol="0">
            <a:spAutoFit/>
          </a:bodyPr>
          <a:lstStyle/>
          <a:p>
            <a:pPr algn="r">
              <a:spcBef>
                <a:spcPts val="600"/>
              </a:spcBef>
              <a:buSzPct val="100000"/>
            </a:pPr>
            <a:r>
              <a:rPr lang="en-US" sz="1400" i="1" dirty="0" smtClean="0">
                <a:solidFill>
                  <a:srgbClr val="313131"/>
                </a:solidFill>
              </a:rPr>
              <a:t>(assessment is made based on financial figures of FY 2015-16)</a:t>
            </a:r>
            <a:endParaRPr lang="en-IN" sz="1400" i="1" dirty="0" smtClean="0">
              <a:solidFill>
                <a:srgbClr val="313131"/>
              </a:solidFill>
            </a:endParaRPr>
          </a:p>
        </p:txBody>
      </p:sp>
      <p:sp>
        <p:nvSpPr>
          <p:cNvPr id="32" name="Title 2"/>
          <p:cNvSpPr>
            <a:spLocks noGrp="1"/>
          </p:cNvSpPr>
          <p:nvPr>
            <p:ph type="title"/>
          </p:nvPr>
        </p:nvSpPr>
        <p:spPr>
          <a:xfrm>
            <a:off x="439793" y="350131"/>
            <a:ext cx="9785951" cy="368439"/>
          </a:xfrm>
        </p:spPr>
        <p:txBody>
          <a:bodyPr/>
          <a:lstStyle/>
          <a:p>
            <a:pPr algn="just">
              <a:spcBef>
                <a:spcPts val="600"/>
              </a:spcBef>
              <a:buSzPct val="100000"/>
            </a:pPr>
            <a:r>
              <a:rPr lang="en-US" b="1" dirty="0" smtClean="0">
                <a:solidFill>
                  <a:srgbClr val="313131"/>
                </a:solidFill>
              </a:rPr>
              <a:t>The Bulk Supply business contributes to ~85% of the total financial impact attributed to various strategic concerns</a:t>
            </a:r>
            <a:endParaRPr lang="en-IN" b="1" dirty="0">
              <a:solidFill>
                <a:srgbClr val="313131"/>
              </a:solidFill>
            </a:endParaRPr>
          </a:p>
        </p:txBody>
      </p:sp>
      <p:cxnSp>
        <p:nvCxnSpPr>
          <p:cNvPr id="23" name="Straight Connector 22"/>
          <p:cNvCxnSpPr/>
          <p:nvPr/>
        </p:nvCxnSpPr>
        <p:spPr>
          <a:xfrm>
            <a:off x="6367749" y="1693086"/>
            <a:ext cx="0" cy="27729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334756"/>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Drivers for Reform</a:t>
            </a:r>
            <a:endParaRPr lang="en-US" sz="5400" dirty="0">
              <a:solidFill>
                <a:prstClr val="white"/>
              </a:solidFill>
            </a:endParaRPr>
          </a:p>
        </p:txBody>
      </p:sp>
    </p:spTree>
    <p:extLst>
      <p:ext uri="{BB962C8B-B14F-4D97-AF65-F5344CB8AC3E}">
        <p14:creationId xmlns:p14="http://schemas.microsoft.com/office/powerpoint/2010/main" val="2426024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435360" y="1324303"/>
            <a:ext cx="97903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Left Arrow 17"/>
          <p:cNvSpPr/>
          <p:nvPr/>
        </p:nvSpPr>
        <p:spPr>
          <a:xfrm rot="8700000" flipH="1">
            <a:off x="7683923" y="3189914"/>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9" name="Left Arrow 8"/>
          <p:cNvSpPr/>
          <p:nvPr/>
        </p:nvSpPr>
        <p:spPr>
          <a:xfrm rot="16200000">
            <a:off x="5722309" y="3018928"/>
            <a:ext cx="450655"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3" name="Left Arrow 12"/>
          <p:cNvSpPr/>
          <p:nvPr/>
        </p:nvSpPr>
        <p:spPr>
          <a:xfrm rot="12900000">
            <a:off x="3782331" y="3182895"/>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6" name="Group 5"/>
          <p:cNvGrpSpPr/>
          <p:nvPr/>
        </p:nvGrpSpPr>
        <p:grpSpPr>
          <a:xfrm>
            <a:off x="5010284" y="1942981"/>
            <a:ext cx="1874704" cy="1107972"/>
            <a:chOff x="4200492" y="514"/>
            <a:chExt cx="1384965" cy="1107972"/>
          </a:xfrm>
        </p:grpSpPr>
        <p:sp>
          <p:nvSpPr>
            <p:cNvPr id="7" name="Rounded Rectangle 6"/>
            <p:cNvSpPr/>
            <p:nvPr/>
          </p:nvSpPr>
          <p:spPr>
            <a:xfrm>
              <a:off x="4200492" y="514"/>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ounded Rectangle 4"/>
            <p:cNvSpPr/>
            <p:nvPr/>
          </p:nvSpPr>
          <p:spPr>
            <a:xfrm>
              <a:off x="4232943" y="32965"/>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smtClean="0">
                  <a:solidFill>
                    <a:prstClr val="white"/>
                  </a:solidFill>
                </a:rPr>
                <a:t>Bangladesh’s Potential Offshore Investments</a:t>
              </a:r>
              <a:endParaRPr lang="en-IN" sz="1400" dirty="0">
                <a:solidFill>
                  <a:prstClr val="white"/>
                </a:solidFill>
              </a:endParaRPr>
            </a:p>
          </p:txBody>
        </p:sp>
      </p:grpSp>
      <p:grpSp>
        <p:nvGrpSpPr>
          <p:cNvPr id="10" name="Group 9"/>
          <p:cNvGrpSpPr/>
          <p:nvPr/>
        </p:nvGrpSpPr>
        <p:grpSpPr>
          <a:xfrm>
            <a:off x="2033767" y="2243744"/>
            <a:ext cx="1874704" cy="1107972"/>
            <a:chOff x="2634770" y="815577"/>
            <a:chExt cx="1384965" cy="1107972"/>
          </a:xfrm>
        </p:grpSpPr>
        <p:sp>
          <p:nvSpPr>
            <p:cNvPr id="11" name="Rounded Rectangle 10"/>
            <p:cNvSpPr/>
            <p:nvPr/>
          </p:nvSpPr>
          <p:spPr>
            <a:xfrm>
              <a:off x="2634770" y="815577"/>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ounded Rectangle 4"/>
            <p:cNvSpPr/>
            <p:nvPr/>
          </p:nvSpPr>
          <p:spPr>
            <a:xfrm>
              <a:off x="2667221" y="848028"/>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smtClean="0">
                  <a:solidFill>
                    <a:prstClr val="white"/>
                  </a:solidFill>
                </a:rPr>
                <a:t>Increase in Cross Border Trade</a:t>
              </a:r>
              <a:endParaRPr lang="en-IN" sz="1400" dirty="0">
                <a:solidFill>
                  <a:prstClr val="white"/>
                </a:solidFill>
              </a:endParaRPr>
            </a:p>
          </p:txBody>
        </p:sp>
      </p:grpSp>
      <p:grpSp>
        <p:nvGrpSpPr>
          <p:cNvPr id="14" name="Group 13"/>
          <p:cNvGrpSpPr/>
          <p:nvPr/>
        </p:nvGrpSpPr>
        <p:grpSpPr>
          <a:xfrm>
            <a:off x="7986802" y="2243744"/>
            <a:ext cx="1874704" cy="1107972"/>
            <a:chOff x="5766214" y="815577"/>
            <a:chExt cx="1384965" cy="1107972"/>
          </a:xfrm>
        </p:grpSpPr>
        <p:sp>
          <p:nvSpPr>
            <p:cNvPr id="15" name="Rounded Rectangle 14"/>
            <p:cNvSpPr/>
            <p:nvPr/>
          </p:nvSpPr>
          <p:spPr>
            <a:xfrm>
              <a:off x="5766214" y="815577"/>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p:cNvSpPr/>
            <p:nvPr/>
          </p:nvSpPr>
          <p:spPr>
            <a:xfrm>
              <a:off x="5798665" y="848028"/>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smtClean="0">
                  <a:solidFill>
                    <a:prstClr val="white"/>
                  </a:solidFill>
                </a:rPr>
                <a:t>Imported Coal, LNG &amp; Renewable based Capacity Addition</a:t>
              </a:r>
              <a:endParaRPr lang="en-IN" sz="1400" dirty="0">
                <a:solidFill>
                  <a:prstClr val="white"/>
                </a:solidFill>
              </a:endParaRPr>
            </a:p>
          </p:txBody>
        </p:sp>
      </p:grpSp>
      <p:grpSp>
        <p:nvGrpSpPr>
          <p:cNvPr id="19" name="Group 18"/>
          <p:cNvGrpSpPr/>
          <p:nvPr/>
        </p:nvGrpSpPr>
        <p:grpSpPr>
          <a:xfrm>
            <a:off x="1951077" y="3791191"/>
            <a:ext cx="8056179" cy="1107972"/>
            <a:chOff x="4200492" y="514"/>
            <a:chExt cx="1384965" cy="1107972"/>
          </a:xfrm>
          <a:solidFill>
            <a:srgbClr val="00B0F0"/>
          </a:solidFill>
        </p:grpSpPr>
        <p:sp>
          <p:nvSpPr>
            <p:cNvPr id="20" name="Rounded Rectangle 19"/>
            <p:cNvSpPr/>
            <p:nvPr/>
          </p:nvSpPr>
          <p:spPr>
            <a:xfrm>
              <a:off x="4200492" y="514"/>
              <a:ext cx="1384965" cy="1107972"/>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ounded Rectangle 4"/>
            <p:cNvSpPr/>
            <p:nvPr/>
          </p:nvSpPr>
          <p:spPr>
            <a:xfrm>
              <a:off x="4232943" y="32965"/>
              <a:ext cx="1320063" cy="104307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marL="171450" indent="-171450">
                <a:lnSpc>
                  <a:spcPct val="106000"/>
                </a:lnSpc>
                <a:buFont typeface="Arial" panose="020B0604020202020204" pitchFamily="34" charset="0"/>
                <a:buChar char="•"/>
              </a:pPr>
              <a:r>
                <a:rPr lang="en-US" sz="1400" b="1" dirty="0">
                  <a:solidFill>
                    <a:prstClr val="white"/>
                  </a:solidFill>
                </a:rPr>
                <a:t>Financial Sustainability of Single Buyer due to shift in power supply </a:t>
              </a:r>
              <a:r>
                <a:rPr lang="en-US" sz="1400" b="1" dirty="0" smtClean="0">
                  <a:solidFill>
                    <a:prstClr val="white"/>
                  </a:solidFill>
                </a:rPr>
                <a:t>– mix</a:t>
              </a:r>
            </a:p>
            <a:p>
              <a:pPr marL="171450" indent="-171450">
                <a:lnSpc>
                  <a:spcPct val="106000"/>
                </a:lnSpc>
                <a:buFont typeface="Arial" panose="020B0604020202020204" pitchFamily="34" charset="0"/>
                <a:buChar char="•"/>
              </a:pPr>
              <a:r>
                <a:rPr lang="en-IN" sz="1400" b="1" dirty="0">
                  <a:solidFill>
                    <a:prstClr val="white"/>
                  </a:solidFill>
                </a:rPr>
                <a:t>Need for </a:t>
              </a:r>
              <a:r>
                <a:rPr lang="en-IN" sz="1400" b="1" dirty="0" smtClean="0">
                  <a:solidFill>
                    <a:prstClr val="white"/>
                  </a:solidFill>
                </a:rPr>
                <a:t>integrated planning </a:t>
              </a:r>
              <a:r>
                <a:rPr lang="en-IN" sz="1400" b="1" dirty="0">
                  <a:solidFill>
                    <a:prstClr val="white"/>
                  </a:solidFill>
                </a:rPr>
                <a:t>and nodal management to ensure coordinated </a:t>
              </a:r>
              <a:r>
                <a:rPr lang="en-IN" sz="1400" b="1" dirty="0" smtClean="0">
                  <a:solidFill>
                    <a:prstClr val="white"/>
                  </a:solidFill>
                </a:rPr>
                <a:t>development</a:t>
              </a:r>
              <a:endParaRPr lang="en-IN" sz="1400" b="1" dirty="0">
                <a:solidFill>
                  <a:prstClr val="white"/>
                </a:solidFill>
              </a:endParaRPr>
            </a:p>
          </p:txBody>
        </p:sp>
      </p:grpSp>
      <p:sp>
        <p:nvSpPr>
          <p:cNvPr id="24" name="Oval 23"/>
          <p:cNvSpPr/>
          <p:nvPr/>
        </p:nvSpPr>
        <p:spPr bwMode="gray">
          <a:xfrm>
            <a:off x="2494231" y="5447619"/>
            <a:ext cx="2866058" cy="1072705"/>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Bangladesh Vision Statement</a:t>
            </a:r>
            <a:endParaRPr lang="en-IN" sz="1400" b="1" dirty="0" smtClean="0">
              <a:solidFill>
                <a:prstClr val="white"/>
              </a:solidFill>
            </a:endParaRPr>
          </a:p>
        </p:txBody>
      </p:sp>
      <p:sp>
        <p:nvSpPr>
          <p:cNvPr id="25" name="Oval 24"/>
          <p:cNvSpPr/>
          <p:nvPr/>
        </p:nvSpPr>
        <p:spPr bwMode="gray">
          <a:xfrm>
            <a:off x="6333387" y="5447618"/>
            <a:ext cx="2866058" cy="1072705"/>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National Energy Policy 2004</a:t>
            </a:r>
            <a:endParaRPr lang="en-IN" sz="1400" b="1" dirty="0" smtClean="0">
              <a:solidFill>
                <a:prstClr val="white"/>
              </a:solidFill>
            </a:endParaRPr>
          </a:p>
        </p:txBody>
      </p:sp>
      <p:sp>
        <p:nvSpPr>
          <p:cNvPr id="29" name="Left Arrow 28"/>
          <p:cNvSpPr/>
          <p:nvPr/>
        </p:nvSpPr>
        <p:spPr>
          <a:xfrm rot="8700000" flipV="1">
            <a:off x="5046342" y="5132427"/>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0" name="Left Arrow 29"/>
          <p:cNvSpPr/>
          <p:nvPr/>
        </p:nvSpPr>
        <p:spPr>
          <a:xfrm rot="12900000" flipH="1" flipV="1">
            <a:off x="6190391" y="5130894"/>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2" name="Title 2"/>
          <p:cNvSpPr>
            <a:spLocks noGrp="1"/>
          </p:cNvSpPr>
          <p:nvPr>
            <p:ph type="title"/>
          </p:nvPr>
        </p:nvSpPr>
        <p:spPr>
          <a:xfrm>
            <a:off x="439793" y="350131"/>
            <a:ext cx="9785951" cy="368439"/>
          </a:xfrm>
        </p:spPr>
        <p:txBody>
          <a:bodyPr/>
          <a:lstStyle/>
          <a:p>
            <a:pPr algn="just">
              <a:spcBef>
                <a:spcPts val="600"/>
              </a:spcBef>
              <a:buSzPct val="100000"/>
            </a:pPr>
            <a:r>
              <a:rPr lang="en-US" sz="2000" b="1" dirty="0" smtClean="0">
                <a:solidFill>
                  <a:srgbClr val="313131"/>
                </a:solidFill>
              </a:rPr>
              <a:t>The sector </a:t>
            </a:r>
            <a:r>
              <a:rPr lang="en-US" sz="2000" b="1" dirty="0">
                <a:solidFill>
                  <a:srgbClr val="313131"/>
                </a:solidFill>
              </a:rPr>
              <a:t>trends </a:t>
            </a:r>
            <a:r>
              <a:rPr lang="en-US" sz="2000" b="1" dirty="0" smtClean="0">
                <a:solidFill>
                  <a:srgbClr val="313131"/>
                </a:solidFill>
              </a:rPr>
              <a:t>aided by the policies require </a:t>
            </a:r>
            <a:r>
              <a:rPr lang="en-US" sz="2000" b="1" dirty="0">
                <a:solidFill>
                  <a:srgbClr val="313131"/>
                </a:solidFill>
              </a:rPr>
              <a:t>financial sustainability and integrated planning &amp; nodal </a:t>
            </a:r>
            <a:r>
              <a:rPr lang="en-US" sz="2000" b="1" dirty="0" smtClean="0">
                <a:solidFill>
                  <a:srgbClr val="313131"/>
                </a:solidFill>
              </a:rPr>
              <a:t>management</a:t>
            </a:r>
            <a:endParaRPr lang="en-IN" sz="2000" b="1" dirty="0">
              <a:solidFill>
                <a:srgbClr val="313131"/>
              </a:solidFill>
            </a:endParaRPr>
          </a:p>
        </p:txBody>
      </p:sp>
      <p:sp>
        <p:nvSpPr>
          <p:cNvPr id="34" name="Pentagon 33"/>
          <p:cNvSpPr/>
          <p:nvPr/>
        </p:nvSpPr>
        <p:spPr bwMode="gray">
          <a:xfrm>
            <a:off x="441439" y="2207757"/>
            <a:ext cx="1210088" cy="1208256"/>
          </a:xfrm>
          <a:prstGeom prst="homePlate">
            <a:avLst/>
          </a:prstGeom>
          <a:solidFill>
            <a:srgbClr val="86BC25"/>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smtClean="0">
                <a:solidFill>
                  <a:prstClr val="white"/>
                </a:solidFill>
              </a:rPr>
              <a:t>Key Emerging Trends</a:t>
            </a:r>
            <a:endParaRPr lang="en-IN" sz="1200" b="1" dirty="0" smtClean="0">
              <a:solidFill>
                <a:prstClr val="white"/>
              </a:solidFill>
            </a:endParaRPr>
          </a:p>
        </p:txBody>
      </p:sp>
      <p:sp>
        <p:nvSpPr>
          <p:cNvPr id="35" name="Pentagon 34"/>
          <p:cNvSpPr/>
          <p:nvPr/>
        </p:nvSpPr>
        <p:spPr bwMode="gray">
          <a:xfrm>
            <a:off x="435360" y="3791191"/>
            <a:ext cx="1210088" cy="1075521"/>
          </a:xfrm>
          <a:prstGeom prst="homePlate">
            <a:avLst/>
          </a:prstGeom>
          <a:solidFill>
            <a:schemeClr val="accent3"/>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smtClean="0">
                <a:solidFill>
                  <a:prstClr val="white"/>
                </a:solidFill>
              </a:rPr>
              <a:t>Drivers for Reforms</a:t>
            </a:r>
            <a:endParaRPr lang="en-IN" sz="1200" b="1" dirty="0" smtClean="0">
              <a:solidFill>
                <a:prstClr val="white"/>
              </a:solidFill>
            </a:endParaRPr>
          </a:p>
        </p:txBody>
      </p:sp>
      <p:sp>
        <p:nvSpPr>
          <p:cNvPr id="36" name="Pentagon 35"/>
          <p:cNvSpPr/>
          <p:nvPr/>
        </p:nvSpPr>
        <p:spPr bwMode="gray">
          <a:xfrm>
            <a:off x="435360" y="5374625"/>
            <a:ext cx="1210088" cy="1208256"/>
          </a:xfrm>
          <a:prstGeom prst="homePlate">
            <a:avLst/>
          </a:prstGeom>
          <a:solidFill>
            <a:srgbClr val="86BC25"/>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smtClean="0">
                <a:solidFill>
                  <a:prstClr val="white"/>
                </a:solidFill>
              </a:rPr>
              <a:t>Sector Policies</a:t>
            </a:r>
            <a:endParaRPr lang="en-IN" sz="1200" b="1" dirty="0" smtClean="0">
              <a:solidFill>
                <a:prstClr val="white"/>
              </a:solidFill>
            </a:endParaRPr>
          </a:p>
        </p:txBody>
      </p:sp>
      <p:sp>
        <p:nvSpPr>
          <p:cNvPr id="37" name="TextBox 36"/>
          <p:cNvSpPr txBox="1"/>
          <p:nvPr/>
        </p:nvSpPr>
        <p:spPr>
          <a:xfrm>
            <a:off x="435360" y="6765228"/>
            <a:ext cx="9790384" cy="489058"/>
          </a:xfrm>
          <a:prstGeom prst="rect">
            <a:avLst/>
          </a:prstGeom>
          <a:solidFill>
            <a:schemeClr val="accent1"/>
          </a:solidFill>
          <a:ln>
            <a:solidFill>
              <a:srgbClr val="92D050"/>
            </a:solidFill>
          </a:ln>
        </p:spPr>
        <p:txBody>
          <a:bodyPr wrap="square" lIns="36000" tIns="0" rIns="36000" bIns="0" rtlCol="0" anchor="ctr">
            <a:noAutofit/>
          </a:bodyPr>
          <a:lstStyle/>
          <a:p>
            <a:pPr algn="ctr">
              <a:spcBef>
                <a:spcPts val="600"/>
              </a:spcBef>
              <a:buSzPct val="100000"/>
            </a:pPr>
            <a:r>
              <a:rPr lang="en-US" sz="1400" b="1" dirty="0" smtClean="0">
                <a:solidFill>
                  <a:srgbClr val="313131"/>
                </a:solidFill>
              </a:rPr>
              <a:t>The reform drivers act as the guiding principles for the structural options for reforms</a:t>
            </a:r>
            <a:endParaRPr lang="en-IN" sz="1400" b="1" dirty="0" smtClean="0">
              <a:solidFill>
                <a:srgbClr val="313131"/>
              </a:solidFill>
            </a:endParaRPr>
          </a:p>
        </p:txBody>
      </p:sp>
      <p:sp>
        <p:nvSpPr>
          <p:cNvPr id="40" name="Rectangle 39"/>
          <p:cNvSpPr/>
          <p:nvPr/>
        </p:nvSpPr>
        <p:spPr bwMode="gray">
          <a:xfrm>
            <a:off x="3695347" y="1116265"/>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black"/>
                </a:solidFill>
              </a:rPr>
              <a:t>Drivers for Reforms</a:t>
            </a:r>
            <a:endParaRPr lang="en-IN" sz="1600" b="1" dirty="0" smtClean="0">
              <a:solidFill>
                <a:prstClr val="black"/>
              </a:solidFill>
            </a:endParaRPr>
          </a:p>
        </p:txBody>
      </p:sp>
      <p:sp>
        <p:nvSpPr>
          <p:cNvPr id="41" name="Pentagon 40">
            <a:hlinkClick r:id="rId2" action="ppaction://hlinksldjump"/>
          </p:cNvPr>
          <p:cNvSpPr/>
          <p:nvPr/>
        </p:nvSpPr>
        <p:spPr bwMode="gray">
          <a:xfrm>
            <a:off x="9848008" y="7322830"/>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6581173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Proposed Reform Model for BPDB</a:t>
            </a:r>
            <a:endParaRPr lang="en-US" sz="5400" dirty="0">
              <a:solidFill>
                <a:prstClr val="white"/>
              </a:solidFill>
            </a:endParaRPr>
          </a:p>
        </p:txBody>
      </p:sp>
    </p:spTree>
    <p:extLst>
      <p:ext uri="{BB962C8B-B14F-4D97-AF65-F5344CB8AC3E}">
        <p14:creationId xmlns:p14="http://schemas.microsoft.com/office/powerpoint/2010/main" val="42394139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725" y="266631"/>
            <a:ext cx="10248844" cy="368439"/>
          </a:xfrm>
        </p:spPr>
        <p:txBody>
          <a:bodyPr/>
          <a:lstStyle/>
          <a:p>
            <a:r>
              <a:rPr lang="en-US" b="1" dirty="0" smtClean="0"/>
              <a:t>Selected Structural option for establishing BPDB as a Holding Company</a:t>
            </a:r>
            <a:endParaRPr lang="en-IN" b="1" dirty="0">
              <a:solidFill>
                <a:schemeClr val="accent1">
                  <a:lumMod val="75000"/>
                </a:schemeClr>
              </a:solidFill>
            </a:endParaRPr>
          </a:p>
        </p:txBody>
      </p:sp>
      <p:sp>
        <p:nvSpPr>
          <p:cNvPr id="11" name="Rounded Rectangle 10"/>
          <p:cNvSpPr/>
          <p:nvPr/>
        </p:nvSpPr>
        <p:spPr bwMode="gray">
          <a:xfrm>
            <a:off x="439793" y="5464023"/>
            <a:ext cx="9796708" cy="1869809"/>
          </a:xfrm>
          <a:prstGeom prst="round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smtClean="0">
              <a:solidFill>
                <a:prstClr val="white"/>
              </a:solidFill>
            </a:endParaRPr>
          </a:p>
        </p:txBody>
      </p:sp>
      <p:cxnSp>
        <p:nvCxnSpPr>
          <p:cNvPr id="12" name="Straight Connector 11"/>
          <p:cNvCxnSpPr/>
          <p:nvPr/>
        </p:nvCxnSpPr>
        <p:spPr>
          <a:xfrm>
            <a:off x="494537" y="5319183"/>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766117" y="5219440"/>
            <a:ext cx="3328062" cy="184666"/>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smtClean="0">
                <a:solidFill>
                  <a:prstClr val="black"/>
                </a:solidFill>
              </a:rPr>
              <a:t>Functions of Holding Company</a:t>
            </a:r>
            <a:endParaRPr lang="en-US" sz="1200" b="1" dirty="0">
              <a:solidFill>
                <a:prstClr val="black"/>
              </a:solidFill>
            </a:endParaRPr>
          </a:p>
        </p:txBody>
      </p:sp>
      <p:sp>
        <p:nvSpPr>
          <p:cNvPr id="14" name="Rounded Rectangle 13"/>
          <p:cNvSpPr/>
          <p:nvPr/>
        </p:nvSpPr>
        <p:spPr bwMode="gray">
          <a:xfrm>
            <a:off x="584196" y="5419951"/>
            <a:ext cx="4759331" cy="1997715"/>
          </a:xfrm>
          <a:prstGeom prst="roundRect">
            <a:avLst/>
          </a:prstGeom>
          <a:noFill/>
          <a:ln w="19050" algn="ctr">
            <a:noFill/>
            <a:miter lim="800000"/>
            <a:headEnd/>
            <a:tailEnd/>
          </a:ln>
        </p:spPr>
        <p:txBody>
          <a:bodyPr wrap="square" lIns="88900" tIns="88900" rIns="88900" bIns="88900" rtlCol="0" anchor="ctr"/>
          <a:lstStyle/>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Power generation including power plant </a:t>
            </a:r>
            <a:r>
              <a:rPr lang="en-US" sz="1100" dirty="0" smtClean="0">
                <a:solidFill>
                  <a:prstClr val="black"/>
                </a:solidFill>
                <a:ea typeface="Times" panose="02020603050405020304" pitchFamily="18" charset="0"/>
                <a:cs typeface="Arial" panose="020B0604020202020204" pitchFamily="34" charset="0"/>
              </a:rPr>
              <a:t>O&amp;M</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Single buyer, including cross-border power </a:t>
            </a:r>
            <a:r>
              <a:rPr lang="en-US" sz="1100" dirty="0" smtClean="0">
                <a:solidFill>
                  <a:prstClr val="black"/>
                </a:solidFill>
                <a:ea typeface="Times" panose="02020603050405020304" pitchFamily="18" charset="0"/>
                <a:cs typeface="Arial" panose="020B0604020202020204" pitchFamily="34" charset="0"/>
              </a:rPr>
              <a:t>trade</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smtClean="0">
                <a:solidFill>
                  <a:prstClr val="black"/>
                </a:solidFill>
                <a:ea typeface="Times" panose="02020603050405020304" pitchFamily="18" charset="0"/>
                <a:cs typeface="Arial" panose="020B0604020202020204" pitchFamily="34" charset="0"/>
              </a:rPr>
              <a:t>Economic merit order dispatch and System Operator (NLDC)  coordination</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PPA </a:t>
            </a:r>
            <a:r>
              <a:rPr lang="en-US" sz="1100" dirty="0" smtClean="0">
                <a:solidFill>
                  <a:prstClr val="black"/>
                </a:solidFill>
                <a:ea typeface="Times" panose="02020603050405020304" pitchFamily="18" charset="0"/>
                <a:cs typeface="Arial" panose="020B0604020202020204" pitchFamily="34" charset="0"/>
              </a:rPr>
              <a:t>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System planning and transmission planning </a:t>
            </a:r>
            <a:r>
              <a:rPr lang="en-US" sz="1100" dirty="0" smtClean="0">
                <a:solidFill>
                  <a:prstClr val="black"/>
                </a:solidFill>
                <a:ea typeface="Times" panose="02020603050405020304" pitchFamily="18" charset="0"/>
                <a:cs typeface="Arial" panose="020B0604020202020204" pitchFamily="34" charset="0"/>
              </a:rPr>
              <a:t>coordination</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Generation projects </a:t>
            </a:r>
            <a:r>
              <a:rPr lang="en-US" sz="1100" dirty="0" smtClean="0">
                <a:solidFill>
                  <a:prstClr val="black"/>
                </a:solidFill>
                <a:ea typeface="Times" panose="02020603050405020304" pitchFamily="18" charset="0"/>
                <a:cs typeface="Arial" panose="020B0604020202020204" pitchFamily="34" charset="0"/>
              </a:rPr>
              <a:t>development</a:t>
            </a: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Regulatory </a:t>
            </a:r>
            <a:r>
              <a:rPr lang="en-US" sz="1100" dirty="0" smtClean="0">
                <a:solidFill>
                  <a:prstClr val="black"/>
                </a:solidFill>
                <a:ea typeface="Times" panose="02020603050405020304" pitchFamily="18" charset="0"/>
                <a:cs typeface="Arial" panose="020B0604020202020204" pitchFamily="34" charset="0"/>
              </a:rPr>
              <a:t>Affairs</a:t>
            </a:r>
            <a:endParaRPr lang="en-IN" sz="1100" dirty="0">
              <a:solidFill>
                <a:prstClr val="black"/>
              </a:solidFill>
              <a:ea typeface="Times" panose="02020603050405020304" pitchFamily="18" charset="0"/>
              <a:cs typeface="Arial" panose="020B0604020202020204" pitchFamily="34" charset="0"/>
            </a:endParaRPr>
          </a:p>
        </p:txBody>
      </p:sp>
      <p:sp>
        <p:nvSpPr>
          <p:cNvPr id="15" name="Rounded Rectangle 14"/>
          <p:cNvSpPr/>
          <p:nvPr/>
        </p:nvSpPr>
        <p:spPr bwMode="gray">
          <a:xfrm>
            <a:off x="5343526" y="5265278"/>
            <a:ext cx="4892975" cy="2247651"/>
          </a:xfrm>
          <a:prstGeom prst="roundRect">
            <a:avLst/>
          </a:prstGeom>
          <a:noFill/>
          <a:ln w="19050" algn="ctr">
            <a:noFill/>
            <a:miter lim="800000"/>
            <a:headEnd/>
            <a:tailEnd/>
          </a:ln>
        </p:spPr>
        <p:txBody>
          <a:bodyPr wrap="square" lIns="88900" tIns="88900" rIns="88900" bIns="88900" rtlCol="0" anchor="ctr"/>
          <a:lstStyle/>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Financial management and human resource </a:t>
            </a:r>
            <a:r>
              <a:rPr lang="en-US" sz="1100" dirty="0" smtClean="0">
                <a:solidFill>
                  <a:prstClr val="black"/>
                </a:solidFill>
                <a:ea typeface="Times" panose="02020603050405020304" pitchFamily="18" charset="0"/>
                <a:cs typeface="Arial" panose="020B0604020202020204" pitchFamily="34" charset="0"/>
              </a:rPr>
              <a:t>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High Value/High Impact procurement, Fuel procurement and </a:t>
            </a:r>
            <a:r>
              <a:rPr lang="en-US" sz="1100" dirty="0" smtClean="0">
                <a:solidFill>
                  <a:prstClr val="black"/>
                </a:solidFill>
                <a:ea typeface="Times" panose="02020603050405020304" pitchFamily="18" charset="0"/>
                <a:cs typeface="Arial" panose="020B0604020202020204" pitchFamily="34" charset="0"/>
              </a:rPr>
              <a:t>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smtClean="0">
                <a:solidFill>
                  <a:prstClr val="black"/>
                </a:solidFill>
                <a:ea typeface="Times" panose="02020603050405020304" pitchFamily="18" charset="0"/>
                <a:cs typeface="Arial" panose="020B0604020202020204" pitchFamily="34" charset="0"/>
              </a:rPr>
              <a:t>Overall </a:t>
            </a:r>
            <a:r>
              <a:rPr lang="en-US" sz="1100" dirty="0">
                <a:solidFill>
                  <a:prstClr val="black"/>
                </a:solidFill>
                <a:ea typeface="Times" panose="02020603050405020304" pitchFamily="18" charset="0"/>
                <a:cs typeface="Arial" panose="020B0604020202020204" pitchFamily="34" charset="0"/>
              </a:rPr>
              <a:t>management and co-ordination among the </a:t>
            </a:r>
            <a:r>
              <a:rPr lang="en-US" sz="1100" dirty="0" smtClean="0">
                <a:solidFill>
                  <a:prstClr val="black"/>
                </a:solidFill>
                <a:ea typeface="Times" panose="02020603050405020304" pitchFamily="18" charset="0"/>
                <a:cs typeface="Arial" panose="020B0604020202020204" pitchFamily="34" charset="0"/>
              </a:rPr>
              <a:t>subsidiaries</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O&amp;M Services &amp; Asset Management </a:t>
            </a:r>
            <a:r>
              <a:rPr lang="en-US" sz="1100" dirty="0" smtClean="0">
                <a:solidFill>
                  <a:prstClr val="black"/>
                </a:solidFill>
                <a:ea typeface="Times" panose="02020603050405020304" pitchFamily="18" charset="0"/>
                <a:cs typeface="Arial" panose="020B0604020202020204" pitchFamily="34" charset="0"/>
              </a:rPr>
              <a:t>Unit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Strategic investment unit for management of the JVs like RPCL, BIFPCL and other future entities in JV or partnership </a:t>
            </a:r>
            <a:r>
              <a:rPr lang="en-US" sz="1100" dirty="0" smtClean="0">
                <a:solidFill>
                  <a:prstClr val="black"/>
                </a:solidFill>
                <a:ea typeface="Times" panose="02020603050405020304" pitchFamily="18" charset="0"/>
                <a:cs typeface="Arial" panose="020B0604020202020204" pitchFamily="34" charset="0"/>
              </a:rPr>
              <a:t>mode</a:t>
            </a:r>
            <a:endParaRPr lang="en-IN" sz="1100" dirty="0">
              <a:solidFill>
                <a:prstClr val="black"/>
              </a:solidFill>
              <a:ea typeface="Times" panose="02020603050405020304" pitchFamily="18" charset="0"/>
              <a:cs typeface="Arial" panose="020B0604020202020204" pitchFamily="34" charset="0"/>
            </a:endParaRPr>
          </a:p>
        </p:txBody>
      </p:sp>
      <p:sp>
        <p:nvSpPr>
          <p:cNvPr id="17" name="Rectangle 16"/>
          <p:cNvSpPr/>
          <p:nvPr/>
        </p:nvSpPr>
        <p:spPr bwMode="gray">
          <a:xfrm>
            <a:off x="2737028" y="1070408"/>
            <a:ext cx="1621941" cy="752217"/>
          </a:xfrm>
          <a:prstGeom prst="rect">
            <a:avLst/>
          </a:prstGeom>
          <a:solidFill>
            <a:srgbClr val="009A44"/>
          </a:solidFill>
          <a:ln w="19050" algn="ctr">
            <a:noFill/>
            <a:miter lim="800000"/>
            <a:headEnd/>
            <a:tailEnd/>
          </a:ln>
        </p:spPr>
        <p:txBody>
          <a:bodyPr wrap="square" lIns="76053" tIns="76053" rIns="76053" bIns="76053" rtlCol="0" anchor="ctr"/>
          <a:lstStyle/>
          <a:p>
            <a:pPr algn="ctr" defTabSz="914400">
              <a:lnSpc>
                <a:spcPct val="106000"/>
              </a:lnSpc>
              <a:buFont typeface="Wingdings 2" pitchFamily="18" charset="2"/>
              <a:buNone/>
            </a:pPr>
            <a:r>
              <a:rPr lang="en-US" sz="1200" b="1" dirty="0" smtClean="0">
                <a:solidFill>
                  <a:prstClr val="white"/>
                </a:solidFill>
                <a:ea typeface="Verdana" panose="020B0604030504040204" pitchFamily="34" charset="0"/>
                <a:cs typeface="Verdana" panose="020B0604030504040204" pitchFamily="34" charset="0"/>
              </a:rPr>
              <a:t>Holding </a:t>
            </a:r>
            <a:r>
              <a:rPr lang="en-US" sz="1200" b="1" dirty="0">
                <a:solidFill>
                  <a:prstClr val="white"/>
                </a:solidFill>
                <a:ea typeface="Verdana" panose="020B0604030504040204" pitchFamily="34" charset="0"/>
                <a:cs typeface="Verdana" panose="020B0604030504040204" pitchFamily="34" charset="0"/>
              </a:rPr>
              <a:t>Company</a:t>
            </a:r>
            <a:endParaRPr lang="en-IN" sz="1200" b="1" dirty="0">
              <a:solidFill>
                <a:prstClr val="white"/>
              </a:solidFill>
              <a:ea typeface="Verdana" panose="020B0604030504040204" pitchFamily="34" charset="0"/>
              <a:cs typeface="Verdana" panose="020B0604030504040204" pitchFamily="34" charset="0"/>
            </a:endParaRPr>
          </a:p>
        </p:txBody>
      </p:sp>
      <p:sp>
        <p:nvSpPr>
          <p:cNvPr id="18" name="TextBox 17"/>
          <p:cNvSpPr txBox="1"/>
          <p:nvPr/>
        </p:nvSpPr>
        <p:spPr>
          <a:xfrm>
            <a:off x="5565183" y="831952"/>
            <a:ext cx="3020345" cy="1247137"/>
          </a:xfrm>
          <a:prstGeom prst="rect">
            <a:avLst/>
          </a:prstGeom>
          <a:noFill/>
          <a:ln>
            <a:solidFill>
              <a:sysClr val="windowText" lastClr="000000"/>
            </a:solidFill>
          </a:ln>
        </p:spPr>
        <p:txBody>
          <a:bodyPr wrap="square" lIns="30798" tIns="30798" rIns="30798" bIns="30798" rtlCol="0">
            <a:spAutoFit/>
          </a:bodyPr>
          <a:lstStyle/>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Single Buyer function</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Generation SBU / SBUs</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System Operation </a:t>
            </a:r>
            <a:r>
              <a:rPr lang="en-US" sz="1100" b="1" kern="0" dirty="0" smtClean="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smtClean="0">
                <a:solidFill>
                  <a:srgbClr val="313131"/>
                </a:solidFill>
                <a:ea typeface="Verdana" panose="020B0604030504040204" pitchFamily="34" charset="0"/>
                <a:cs typeface="Verdana" panose="020B0604030504040204" pitchFamily="34" charset="0"/>
              </a:rPr>
              <a:t>Other support services (refer box below)</a:t>
            </a:r>
            <a:endParaRPr lang="en-IN" sz="1100" kern="0" dirty="0" smtClean="0">
              <a:solidFill>
                <a:srgbClr val="313131"/>
              </a:solidFill>
              <a:ea typeface="Verdana" panose="020B0604030504040204" pitchFamily="34" charset="0"/>
              <a:cs typeface="Verdana" panose="020B0604030504040204" pitchFamily="34" charset="0"/>
            </a:endParaRPr>
          </a:p>
        </p:txBody>
      </p:sp>
      <p:sp>
        <p:nvSpPr>
          <p:cNvPr id="19" name="Rectangle 18"/>
          <p:cNvSpPr/>
          <p:nvPr/>
        </p:nvSpPr>
        <p:spPr bwMode="gray">
          <a:xfrm>
            <a:off x="5887964" y="2898616"/>
            <a:ext cx="2304000" cy="531530"/>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Newly Created Distribution </a:t>
            </a:r>
            <a:r>
              <a:rPr lang="en-US" sz="1100" b="1" dirty="0" smtClean="0">
                <a:solidFill>
                  <a:prstClr val="black"/>
                </a:solidFill>
                <a:ea typeface="Verdana" panose="020B0604030504040204" pitchFamily="34" charset="0"/>
                <a:cs typeface="Verdana" panose="020B0604030504040204" pitchFamily="34" charset="0"/>
              </a:rPr>
              <a:t>Company/Companies, if any in future</a:t>
            </a:r>
            <a:endParaRPr lang="en-IN" sz="1100" b="1" dirty="0">
              <a:solidFill>
                <a:prstClr val="black"/>
              </a:solidFill>
              <a:ea typeface="Verdana" panose="020B0604030504040204" pitchFamily="34" charset="0"/>
              <a:cs typeface="Verdana" panose="020B0604030504040204" pitchFamily="34" charset="0"/>
            </a:endParaRPr>
          </a:p>
        </p:txBody>
      </p:sp>
      <p:cxnSp>
        <p:nvCxnSpPr>
          <p:cNvPr id="20" name="Elbow Connector 19"/>
          <p:cNvCxnSpPr>
            <a:endCxn id="19" idx="1"/>
          </p:cNvCxnSpPr>
          <p:nvPr/>
        </p:nvCxnSpPr>
        <p:spPr>
          <a:xfrm rot="16200000" flipH="1">
            <a:off x="5303982" y="2580399"/>
            <a:ext cx="946280" cy="221684"/>
          </a:xfrm>
          <a:prstGeom prst="bentConnector2">
            <a:avLst/>
          </a:prstGeom>
          <a:noFill/>
          <a:ln w="6350" cap="flat" cmpd="sng" algn="ctr">
            <a:solidFill>
              <a:srgbClr val="44546A"/>
            </a:solidFill>
            <a:prstDash val="solid"/>
            <a:miter lim="800000"/>
            <a:tailEnd type="triangle"/>
          </a:ln>
          <a:effectLst/>
        </p:spPr>
      </p:cxnSp>
      <p:sp>
        <p:nvSpPr>
          <p:cNvPr id="21" name="Rectangle 20"/>
          <p:cNvSpPr/>
          <p:nvPr/>
        </p:nvSpPr>
        <p:spPr bwMode="gray">
          <a:xfrm>
            <a:off x="710464" y="2378935"/>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EGCB</a:t>
            </a:r>
            <a:endParaRPr lang="en-IN" sz="1100" b="1" dirty="0">
              <a:solidFill>
                <a:prstClr val="black"/>
              </a:solidFill>
              <a:ea typeface="Verdana" panose="020B0604030504040204" pitchFamily="34" charset="0"/>
              <a:cs typeface="Verdana" panose="020B0604030504040204" pitchFamily="34" charset="0"/>
            </a:endParaRPr>
          </a:p>
        </p:txBody>
      </p:sp>
      <p:sp>
        <p:nvSpPr>
          <p:cNvPr id="22" name="Rectangle 21"/>
          <p:cNvSpPr/>
          <p:nvPr/>
        </p:nvSpPr>
        <p:spPr bwMode="gray">
          <a:xfrm>
            <a:off x="704260" y="3598502"/>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NWPGCL</a:t>
            </a:r>
            <a:endParaRPr lang="en-IN" sz="1100" b="1" dirty="0">
              <a:solidFill>
                <a:prstClr val="black"/>
              </a:solidFill>
              <a:ea typeface="Verdana" panose="020B0604030504040204" pitchFamily="34" charset="0"/>
              <a:cs typeface="Verdana" panose="020B0604030504040204" pitchFamily="34" charset="0"/>
            </a:endParaRPr>
          </a:p>
        </p:txBody>
      </p:sp>
      <p:sp>
        <p:nvSpPr>
          <p:cNvPr id="23" name="Rectangle 22"/>
          <p:cNvSpPr/>
          <p:nvPr/>
        </p:nvSpPr>
        <p:spPr bwMode="gray">
          <a:xfrm>
            <a:off x="704260" y="2986317"/>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APSCL</a:t>
            </a:r>
            <a:endParaRPr lang="en-IN" sz="1100" b="1" dirty="0">
              <a:solidFill>
                <a:prstClr val="black"/>
              </a:solidFill>
              <a:ea typeface="Verdana" panose="020B0604030504040204" pitchFamily="34" charset="0"/>
              <a:cs typeface="Verdana" panose="020B0604030504040204" pitchFamily="34" charset="0"/>
            </a:endParaRPr>
          </a:p>
        </p:txBody>
      </p:sp>
      <p:cxnSp>
        <p:nvCxnSpPr>
          <p:cNvPr id="24" name="Elbow Connector 23"/>
          <p:cNvCxnSpPr>
            <a:endCxn id="23" idx="1"/>
          </p:cNvCxnSpPr>
          <p:nvPr/>
        </p:nvCxnSpPr>
        <p:spPr>
          <a:xfrm rot="16200000" flipH="1">
            <a:off x="71066" y="2531187"/>
            <a:ext cx="1019726" cy="246662"/>
          </a:xfrm>
          <a:prstGeom prst="bentConnector2">
            <a:avLst/>
          </a:prstGeom>
          <a:noFill/>
          <a:ln w="6350" cap="flat" cmpd="sng" algn="ctr">
            <a:solidFill>
              <a:srgbClr val="44546A"/>
            </a:solidFill>
            <a:prstDash val="solid"/>
            <a:miter lim="800000"/>
            <a:tailEnd type="triangle"/>
          </a:ln>
          <a:effectLst/>
        </p:spPr>
      </p:cxnSp>
      <p:cxnSp>
        <p:nvCxnSpPr>
          <p:cNvPr id="25" name="Elbow Connector 24"/>
          <p:cNvCxnSpPr>
            <a:endCxn id="22" idx="1"/>
          </p:cNvCxnSpPr>
          <p:nvPr/>
        </p:nvCxnSpPr>
        <p:spPr>
          <a:xfrm rot="16200000" flipH="1">
            <a:off x="-235026" y="2837280"/>
            <a:ext cx="1631912" cy="246660"/>
          </a:xfrm>
          <a:prstGeom prst="bentConnector2">
            <a:avLst/>
          </a:prstGeom>
          <a:noFill/>
          <a:ln w="6350" cap="flat" cmpd="sng" algn="ctr">
            <a:solidFill>
              <a:srgbClr val="44546A"/>
            </a:solidFill>
            <a:prstDash val="solid"/>
            <a:miter lim="800000"/>
            <a:tailEnd type="triangle"/>
          </a:ln>
          <a:effectLst/>
        </p:spPr>
      </p:cxnSp>
      <p:cxnSp>
        <p:nvCxnSpPr>
          <p:cNvPr id="26" name="Elbow Connector 25"/>
          <p:cNvCxnSpPr>
            <a:endCxn id="21" idx="1"/>
          </p:cNvCxnSpPr>
          <p:nvPr/>
        </p:nvCxnSpPr>
        <p:spPr>
          <a:xfrm rot="16200000" flipH="1">
            <a:off x="377859" y="2224394"/>
            <a:ext cx="412344" cy="252866"/>
          </a:xfrm>
          <a:prstGeom prst="bentConnector2">
            <a:avLst/>
          </a:prstGeom>
          <a:noFill/>
          <a:ln w="6350" cap="flat" cmpd="sng" algn="ctr">
            <a:solidFill>
              <a:srgbClr val="44546A"/>
            </a:solidFill>
            <a:prstDash val="solid"/>
            <a:miter lim="800000"/>
            <a:tailEnd type="triangle"/>
          </a:ln>
          <a:effectLst/>
        </p:spPr>
      </p:cxnSp>
      <p:cxnSp>
        <p:nvCxnSpPr>
          <p:cNvPr id="27" name="Elbow Connector 26"/>
          <p:cNvCxnSpPr>
            <a:endCxn id="31" idx="1"/>
          </p:cNvCxnSpPr>
          <p:nvPr/>
        </p:nvCxnSpPr>
        <p:spPr>
          <a:xfrm rot="16200000" flipH="1">
            <a:off x="2844346" y="2223429"/>
            <a:ext cx="413430" cy="253710"/>
          </a:xfrm>
          <a:prstGeom prst="bentConnector2">
            <a:avLst/>
          </a:prstGeom>
          <a:noFill/>
          <a:ln w="6350" cap="flat" cmpd="sng" algn="ctr">
            <a:solidFill>
              <a:srgbClr val="44546A"/>
            </a:solidFill>
            <a:prstDash val="solid"/>
            <a:miter lim="800000"/>
            <a:tailEnd type="triangle"/>
          </a:ln>
          <a:effectLst/>
        </p:spPr>
      </p:cxnSp>
      <p:cxnSp>
        <p:nvCxnSpPr>
          <p:cNvPr id="28" name="Elbow Connector 27"/>
          <p:cNvCxnSpPr>
            <a:endCxn id="32" idx="1"/>
          </p:cNvCxnSpPr>
          <p:nvPr/>
        </p:nvCxnSpPr>
        <p:spPr>
          <a:xfrm rot="16200000" flipH="1">
            <a:off x="5570409" y="2239443"/>
            <a:ext cx="413430" cy="221682"/>
          </a:xfrm>
          <a:prstGeom prst="bentConnector2">
            <a:avLst/>
          </a:prstGeom>
          <a:noFill/>
          <a:ln w="6350" cap="flat" cmpd="sng" algn="ctr">
            <a:solidFill>
              <a:srgbClr val="44546A"/>
            </a:solidFill>
            <a:prstDash val="solid"/>
            <a:miter lim="800000"/>
            <a:tailEnd type="triangle"/>
          </a:ln>
          <a:effectLst/>
        </p:spPr>
      </p:cxnSp>
      <p:cxnSp>
        <p:nvCxnSpPr>
          <p:cNvPr id="29" name="Straight Connector 28"/>
          <p:cNvCxnSpPr>
            <a:stCxn id="17" idx="3"/>
            <a:endCxn id="18" idx="1"/>
          </p:cNvCxnSpPr>
          <p:nvPr/>
        </p:nvCxnSpPr>
        <p:spPr>
          <a:xfrm>
            <a:off x="4358969" y="1446517"/>
            <a:ext cx="1206214" cy="9004"/>
          </a:xfrm>
          <a:prstGeom prst="line">
            <a:avLst/>
          </a:prstGeom>
          <a:noFill/>
          <a:ln w="34925" cap="flat" cmpd="sng" algn="ctr">
            <a:solidFill>
              <a:srgbClr val="44546A"/>
            </a:solidFill>
            <a:prstDash val="sysDash"/>
            <a:miter lim="800000"/>
          </a:ln>
          <a:effectLst/>
        </p:spPr>
      </p:cxnSp>
      <p:sp>
        <p:nvSpPr>
          <p:cNvPr id="31" name="Rectangle 30"/>
          <p:cNvSpPr/>
          <p:nvPr/>
        </p:nvSpPr>
        <p:spPr bwMode="gray">
          <a:xfrm>
            <a:off x="3177916" y="2378935"/>
            <a:ext cx="2027427" cy="356127"/>
          </a:xfrm>
          <a:prstGeom prst="rect">
            <a:avLst/>
          </a:prstGeom>
          <a:solidFill>
            <a:srgbClr val="70AD47">
              <a:lumMod val="60000"/>
              <a:lumOff val="40000"/>
            </a:srgbClr>
          </a:solidFill>
          <a:ln w="19050" algn="ctr">
            <a:noFill/>
            <a:miter lim="800000"/>
            <a:headEnd/>
            <a:tailEnd/>
          </a:ln>
        </p:spPr>
        <p:txBody>
          <a:bodyPr wrap="square" lIns="76053" tIns="76053" rIns="76053" bIns="76053" rtlCol="0" anchor="ctr"/>
          <a:lstStyle/>
          <a:p>
            <a:pPr algn="ctr" defTabSz="914400">
              <a:defRPr/>
            </a:pPr>
            <a:r>
              <a:rPr lang="en-US" sz="1100" b="1" kern="0" dirty="0" smtClean="0">
                <a:solidFill>
                  <a:prstClr val="black"/>
                </a:solidFill>
                <a:ea typeface="Verdana" panose="020B0604030504040204" pitchFamily="34" charset="0"/>
                <a:cs typeface="Verdana" panose="020B0604030504040204" pitchFamily="34" charset="0"/>
              </a:rPr>
              <a:t>PGCB</a:t>
            </a:r>
            <a:endParaRPr lang="en-IN" sz="1100" b="1" kern="0" dirty="0" smtClean="0">
              <a:solidFill>
                <a:prstClr val="black"/>
              </a:solidFill>
              <a:ea typeface="Verdana" panose="020B0604030504040204" pitchFamily="34" charset="0"/>
              <a:cs typeface="Verdana" panose="020B0604030504040204" pitchFamily="34" charset="0"/>
            </a:endParaRPr>
          </a:p>
        </p:txBody>
      </p:sp>
      <p:sp>
        <p:nvSpPr>
          <p:cNvPr id="32" name="Rectangle 31"/>
          <p:cNvSpPr/>
          <p:nvPr/>
        </p:nvSpPr>
        <p:spPr bwMode="gray">
          <a:xfrm>
            <a:off x="5887965" y="2378935"/>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WZPDCL</a:t>
            </a:r>
            <a:endParaRPr lang="en-IN" sz="1100" b="1" dirty="0">
              <a:solidFill>
                <a:prstClr val="black"/>
              </a:solidFill>
              <a:ea typeface="Verdana" panose="020B0604030504040204" pitchFamily="34" charset="0"/>
              <a:cs typeface="Verdana" panose="020B0604030504040204" pitchFamily="34" charset="0"/>
            </a:endParaRPr>
          </a:p>
        </p:txBody>
      </p:sp>
      <p:sp>
        <p:nvSpPr>
          <p:cNvPr id="33" name="Rectangle 32"/>
          <p:cNvSpPr/>
          <p:nvPr/>
        </p:nvSpPr>
        <p:spPr bwMode="gray">
          <a:xfrm>
            <a:off x="5887964" y="4151627"/>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smtClean="0">
                <a:solidFill>
                  <a:prstClr val="black"/>
                </a:solidFill>
                <a:ea typeface="Verdana" panose="020B0604030504040204" pitchFamily="34" charset="0"/>
                <a:cs typeface="Verdana" panose="020B0604030504040204" pitchFamily="34" charset="0"/>
              </a:rPr>
              <a:t>DPDC</a:t>
            </a:r>
            <a:endParaRPr lang="en-IN" sz="1100" b="1" dirty="0">
              <a:solidFill>
                <a:prstClr val="black"/>
              </a:solidFill>
              <a:ea typeface="Verdana" panose="020B0604030504040204" pitchFamily="34" charset="0"/>
              <a:cs typeface="Verdana" panose="020B0604030504040204" pitchFamily="34" charset="0"/>
            </a:endParaRPr>
          </a:p>
        </p:txBody>
      </p:sp>
      <p:sp>
        <p:nvSpPr>
          <p:cNvPr id="34" name="Rectangle 33"/>
          <p:cNvSpPr/>
          <p:nvPr/>
        </p:nvSpPr>
        <p:spPr bwMode="gray">
          <a:xfrm>
            <a:off x="5887964" y="4730054"/>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DESCO</a:t>
            </a:r>
            <a:endParaRPr lang="en-IN" sz="1100" b="1" dirty="0">
              <a:solidFill>
                <a:prstClr val="black"/>
              </a:solidFill>
              <a:ea typeface="Verdana" panose="020B0604030504040204" pitchFamily="34" charset="0"/>
              <a:cs typeface="Verdana" panose="020B0604030504040204" pitchFamily="34" charset="0"/>
            </a:endParaRPr>
          </a:p>
        </p:txBody>
      </p:sp>
      <p:cxnSp>
        <p:nvCxnSpPr>
          <p:cNvPr id="35" name="Elbow Connector 34"/>
          <p:cNvCxnSpPr>
            <a:endCxn id="33" idx="1"/>
          </p:cNvCxnSpPr>
          <p:nvPr/>
        </p:nvCxnSpPr>
        <p:spPr>
          <a:xfrm rot="16200000" flipH="1">
            <a:off x="5511823" y="3953550"/>
            <a:ext cx="539712" cy="212570"/>
          </a:xfrm>
          <a:prstGeom prst="bentConnector2">
            <a:avLst/>
          </a:prstGeom>
          <a:noFill/>
          <a:ln w="6350" cap="flat" cmpd="sng" algn="ctr">
            <a:solidFill>
              <a:srgbClr val="44546A"/>
            </a:solidFill>
            <a:prstDash val="dash"/>
            <a:miter lim="800000"/>
            <a:tailEnd type="triangle"/>
          </a:ln>
          <a:effectLst/>
        </p:spPr>
      </p:cxnSp>
      <p:cxnSp>
        <p:nvCxnSpPr>
          <p:cNvPr id="36" name="Elbow Connector 35"/>
          <p:cNvCxnSpPr>
            <a:endCxn id="34" idx="1"/>
          </p:cNvCxnSpPr>
          <p:nvPr/>
        </p:nvCxnSpPr>
        <p:spPr>
          <a:xfrm rot="16200000" flipH="1">
            <a:off x="5507881" y="4528035"/>
            <a:ext cx="547596" cy="212570"/>
          </a:xfrm>
          <a:prstGeom prst="bentConnector2">
            <a:avLst/>
          </a:prstGeom>
          <a:noFill/>
          <a:ln w="6350" cap="flat" cmpd="sng" algn="ctr">
            <a:solidFill>
              <a:srgbClr val="44546A"/>
            </a:solidFill>
            <a:prstDash val="dash"/>
            <a:miter lim="800000"/>
            <a:tailEnd type="triangle"/>
          </a:ln>
          <a:effectLst/>
        </p:spPr>
      </p:cxnSp>
      <p:cxnSp>
        <p:nvCxnSpPr>
          <p:cNvPr id="37" name="Straight Connector 36"/>
          <p:cNvCxnSpPr/>
          <p:nvPr/>
        </p:nvCxnSpPr>
        <p:spPr>
          <a:xfrm>
            <a:off x="457598" y="2148349"/>
            <a:ext cx="5208683" cy="0"/>
          </a:xfrm>
          <a:prstGeom prst="line">
            <a:avLst/>
          </a:prstGeom>
          <a:noFill/>
          <a:ln w="6350" cap="flat" cmpd="sng" algn="ctr">
            <a:solidFill>
              <a:sysClr val="windowText" lastClr="000000"/>
            </a:solidFill>
            <a:prstDash val="solid"/>
            <a:miter lim="800000"/>
          </a:ln>
          <a:effectLst/>
        </p:spPr>
      </p:cxnSp>
      <p:cxnSp>
        <p:nvCxnSpPr>
          <p:cNvPr id="38" name="Straight Connector 37"/>
          <p:cNvCxnSpPr>
            <a:stCxn id="17" idx="2"/>
          </p:cNvCxnSpPr>
          <p:nvPr/>
        </p:nvCxnSpPr>
        <p:spPr>
          <a:xfrm>
            <a:off x="3547999" y="1822625"/>
            <a:ext cx="0" cy="324798"/>
          </a:xfrm>
          <a:prstGeom prst="line">
            <a:avLst/>
          </a:prstGeom>
          <a:noFill/>
          <a:ln w="6350" cap="flat" cmpd="sng" algn="ctr">
            <a:solidFill>
              <a:sysClr val="windowText" lastClr="000000"/>
            </a:solidFill>
            <a:prstDash val="solid"/>
            <a:miter lim="800000"/>
          </a:ln>
          <a:effectLst/>
        </p:spPr>
      </p:cxnSp>
      <p:sp>
        <p:nvSpPr>
          <p:cNvPr id="39" name="Rectangle 38"/>
          <p:cNvSpPr/>
          <p:nvPr/>
        </p:nvSpPr>
        <p:spPr bwMode="gray">
          <a:xfrm>
            <a:off x="8154397" y="4083905"/>
            <a:ext cx="1800000" cy="516435"/>
          </a:xfrm>
          <a:prstGeom prst="rect">
            <a:avLst/>
          </a:prstGeom>
          <a:noFill/>
          <a:ln w="19050" algn="ctr">
            <a:noFill/>
            <a:miter lim="800000"/>
            <a:headEnd/>
            <a:tailEnd/>
          </a:ln>
        </p:spPr>
        <p:txBody>
          <a:bodyPr wrap="square" lIns="76053" tIns="76053" rIns="76053" bIns="76053" rtlCol="0" anchor="ctr"/>
          <a:lstStyle/>
          <a:p>
            <a:pPr defTabSz="914400"/>
            <a:r>
              <a:rPr lang="en-US" sz="1200" dirty="0" smtClean="0">
                <a:solidFill>
                  <a:prstClr val="black"/>
                </a:solidFill>
                <a:ea typeface="Verdana" panose="020B0604030504040204" pitchFamily="34" charset="0"/>
                <a:cs typeface="Verdana" panose="020B0604030504040204" pitchFamily="34" charset="0"/>
              </a:rPr>
              <a:t>(</a:t>
            </a:r>
            <a:r>
              <a:rPr lang="en-US" sz="1200" dirty="0">
                <a:solidFill>
                  <a:prstClr val="black"/>
                </a:solidFill>
                <a:ea typeface="Verdana" panose="020B0604030504040204" pitchFamily="34" charset="0"/>
                <a:cs typeface="Verdana" panose="020B0604030504040204" pitchFamily="34" charset="0"/>
              </a:rPr>
              <a:t>under ownership of Govt. of Bangladesh</a:t>
            </a:r>
            <a:r>
              <a:rPr lang="en-US" sz="1200" dirty="0" smtClean="0">
                <a:solidFill>
                  <a:prstClr val="black"/>
                </a:solidFill>
                <a:ea typeface="Verdana" panose="020B0604030504040204" pitchFamily="34" charset="0"/>
                <a:cs typeface="Verdana" panose="020B0604030504040204" pitchFamily="34" charset="0"/>
              </a:rPr>
              <a:t>)</a:t>
            </a:r>
            <a:endParaRPr lang="en-IN" sz="1200" dirty="0">
              <a:solidFill>
                <a:prstClr val="black"/>
              </a:solidFill>
              <a:ea typeface="Verdana" panose="020B0604030504040204" pitchFamily="34" charset="0"/>
              <a:cs typeface="Verdana" panose="020B0604030504040204" pitchFamily="34" charset="0"/>
            </a:endParaRPr>
          </a:p>
        </p:txBody>
      </p:sp>
      <p:sp>
        <p:nvSpPr>
          <p:cNvPr id="40" name="Rectangle 39"/>
          <p:cNvSpPr/>
          <p:nvPr/>
        </p:nvSpPr>
        <p:spPr bwMode="gray">
          <a:xfrm>
            <a:off x="8154397" y="4659823"/>
            <a:ext cx="1800000" cy="516435"/>
          </a:xfrm>
          <a:prstGeom prst="rect">
            <a:avLst/>
          </a:prstGeom>
          <a:noFill/>
          <a:ln w="19050" algn="ctr">
            <a:noFill/>
            <a:miter lim="800000"/>
            <a:headEnd/>
            <a:tailEnd/>
          </a:ln>
        </p:spPr>
        <p:txBody>
          <a:bodyPr wrap="square" lIns="76053" tIns="76053" rIns="76053" bIns="76053" rtlCol="0" anchor="ctr"/>
          <a:lstStyle/>
          <a:p>
            <a:pPr defTabSz="914400"/>
            <a:r>
              <a:rPr lang="en-US" sz="1200" dirty="0" smtClean="0">
                <a:solidFill>
                  <a:prstClr val="black"/>
                </a:solidFill>
                <a:ea typeface="Verdana" panose="020B0604030504040204" pitchFamily="34" charset="0"/>
                <a:cs typeface="Verdana" panose="020B0604030504040204" pitchFamily="34" charset="0"/>
              </a:rPr>
              <a:t>(</a:t>
            </a:r>
            <a:r>
              <a:rPr lang="en-US" sz="1200" dirty="0">
                <a:solidFill>
                  <a:prstClr val="black"/>
                </a:solidFill>
                <a:ea typeface="Verdana" panose="020B0604030504040204" pitchFamily="34" charset="0"/>
                <a:cs typeface="Verdana" panose="020B0604030504040204" pitchFamily="34" charset="0"/>
              </a:rPr>
              <a:t>under ownership of Govt. of Bangladesh</a:t>
            </a:r>
            <a:r>
              <a:rPr lang="en-US" sz="1200" dirty="0" smtClean="0">
                <a:solidFill>
                  <a:prstClr val="black"/>
                </a:solidFill>
                <a:ea typeface="Verdana" panose="020B0604030504040204" pitchFamily="34" charset="0"/>
                <a:cs typeface="Verdana" panose="020B0604030504040204" pitchFamily="34" charset="0"/>
              </a:rPr>
              <a:t>)</a:t>
            </a:r>
            <a:endParaRPr lang="en-IN" sz="1200" dirty="0">
              <a:solidFill>
                <a:prstClr val="black"/>
              </a:solidFill>
              <a:ea typeface="Verdana" panose="020B0604030504040204" pitchFamily="34" charset="0"/>
              <a:cs typeface="Verdana" panose="020B0604030504040204" pitchFamily="34" charset="0"/>
            </a:endParaRPr>
          </a:p>
        </p:txBody>
      </p:sp>
      <p:sp>
        <p:nvSpPr>
          <p:cNvPr id="41" name="Rectangle 40"/>
          <p:cNvSpPr/>
          <p:nvPr/>
        </p:nvSpPr>
        <p:spPr bwMode="gray">
          <a:xfrm>
            <a:off x="5887964" y="3566547"/>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smtClean="0">
                <a:solidFill>
                  <a:prstClr val="black"/>
                </a:solidFill>
                <a:ea typeface="Verdana" panose="020B0604030504040204" pitchFamily="34" charset="0"/>
                <a:cs typeface="Verdana" panose="020B0604030504040204" pitchFamily="34" charset="0"/>
              </a:rPr>
              <a:t>NESCO</a:t>
            </a:r>
            <a:endParaRPr lang="en-IN" sz="1100" b="1" dirty="0">
              <a:solidFill>
                <a:prstClr val="black"/>
              </a:solidFill>
              <a:ea typeface="Verdana" panose="020B0604030504040204" pitchFamily="34" charset="0"/>
              <a:cs typeface="Verdana" panose="020B0604030504040204" pitchFamily="34" charset="0"/>
            </a:endParaRPr>
          </a:p>
        </p:txBody>
      </p:sp>
      <p:sp>
        <p:nvSpPr>
          <p:cNvPr id="42" name="Rectangle 41"/>
          <p:cNvSpPr/>
          <p:nvPr/>
        </p:nvSpPr>
        <p:spPr bwMode="gray">
          <a:xfrm>
            <a:off x="3177915" y="2986376"/>
            <a:ext cx="2027427" cy="748800"/>
          </a:xfrm>
          <a:prstGeom prst="rect">
            <a:avLst/>
          </a:prstGeom>
          <a:solidFill>
            <a:srgbClr val="70AD47">
              <a:lumMod val="60000"/>
              <a:lumOff val="40000"/>
            </a:srgbClr>
          </a:solidFill>
          <a:ln w="19050" algn="ctr">
            <a:noFill/>
            <a:miter lim="800000"/>
            <a:headEnd/>
            <a:tailEnd/>
          </a:ln>
        </p:spPr>
        <p:txBody>
          <a:bodyPr wrap="square" lIns="76053" tIns="76053" rIns="76053" bIns="76053" rtlCol="0" anchor="ctr"/>
          <a:lstStyle/>
          <a:p>
            <a:pPr algn="ctr" defTabSz="914400">
              <a:defRPr/>
            </a:pPr>
            <a:r>
              <a:rPr lang="en-US" sz="1100" b="1" kern="0" dirty="0" smtClean="0">
                <a:solidFill>
                  <a:prstClr val="black"/>
                </a:solidFill>
                <a:ea typeface="Verdana" panose="020B0604030504040204" pitchFamily="34" charset="0"/>
                <a:cs typeface="Verdana" panose="020B0604030504040204" pitchFamily="34" charset="0"/>
              </a:rPr>
              <a:t>Newly Created Transmission Company / Companies, if any in future</a:t>
            </a:r>
            <a:endParaRPr lang="en-IN" sz="1100" b="1" kern="0" dirty="0" smtClean="0">
              <a:solidFill>
                <a:prstClr val="black"/>
              </a:solidFill>
              <a:ea typeface="Verdana" panose="020B0604030504040204" pitchFamily="34" charset="0"/>
              <a:cs typeface="Verdana" panose="020B0604030504040204" pitchFamily="34" charset="0"/>
            </a:endParaRPr>
          </a:p>
        </p:txBody>
      </p:sp>
      <p:cxnSp>
        <p:nvCxnSpPr>
          <p:cNvPr id="43" name="Elbow Connector 42"/>
          <p:cNvCxnSpPr>
            <a:endCxn id="42" idx="1"/>
          </p:cNvCxnSpPr>
          <p:nvPr/>
        </p:nvCxnSpPr>
        <p:spPr>
          <a:xfrm rot="16200000" flipH="1">
            <a:off x="2456949" y="2639810"/>
            <a:ext cx="1188224" cy="253708"/>
          </a:xfrm>
          <a:prstGeom prst="bentConnector2">
            <a:avLst/>
          </a:prstGeom>
          <a:noFill/>
          <a:ln w="6350" cap="flat" cmpd="sng" algn="ctr">
            <a:solidFill>
              <a:srgbClr val="44546A"/>
            </a:solidFill>
            <a:prstDash val="solid"/>
            <a:miter lim="800000"/>
            <a:tailEnd type="triangle"/>
          </a:ln>
          <a:effectLst/>
        </p:spPr>
      </p:cxnSp>
      <p:cxnSp>
        <p:nvCxnSpPr>
          <p:cNvPr id="44" name="Elbow Connector 43"/>
          <p:cNvCxnSpPr>
            <a:endCxn id="41" idx="1"/>
          </p:cNvCxnSpPr>
          <p:nvPr/>
        </p:nvCxnSpPr>
        <p:spPr>
          <a:xfrm rot="16200000" flipH="1">
            <a:off x="5037780" y="2894427"/>
            <a:ext cx="1478686" cy="221682"/>
          </a:xfrm>
          <a:prstGeom prst="bentConnector2">
            <a:avLst/>
          </a:prstGeom>
          <a:noFill/>
          <a:ln w="6350" cap="flat" cmpd="sng" algn="ctr">
            <a:solidFill>
              <a:srgbClr val="44546A"/>
            </a:solidFill>
            <a:prstDash val="solid"/>
            <a:miter lim="800000"/>
            <a:tailEnd type="triangle"/>
          </a:ln>
          <a:effectLst/>
        </p:spPr>
      </p:cxnSp>
      <p:sp>
        <p:nvSpPr>
          <p:cNvPr id="45" name="Rectangle 44"/>
          <p:cNvSpPr/>
          <p:nvPr/>
        </p:nvSpPr>
        <p:spPr bwMode="gray">
          <a:xfrm>
            <a:off x="704259" y="4212836"/>
            <a:ext cx="2027427" cy="748122"/>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defRPr/>
            </a:pPr>
            <a:r>
              <a:rPr lang="en-US" sz="1100" b="1" kern="0" dirty="0">
                <a:solidFill>
                  <a:prstClr val="black"/>
                </a:solidFill>
                <a:ea typeface="Verdana" panose="020B0604030504040204" pitchFamily="34" charset="0"/>
                <a:cs typeface="Verdana" panose="020B0604030504040204" pitchFamily="34" charset="0"/>
              </a:rPr>
              <a:t>Newly Created </a:t>
            </a:r>
            <a:r>
              <a:rPr lang="en-US" sz="1100" b="1" kern="0" dirty="0" smtClean="0">
                <a:solidFill>
                  <a:prstClr val="black"/>
                </a:solidFill>
                <a:ea typeface="Verdana" panose="020B0604030504040204" pitchFamily="34" charset="0"/>
                <a:cs typeface="Verdana" panose="020B0604030504040204" pitchFamily="34" charset="0"/>
              </a:rPr>
              <a:t>Generation Company/ Companies if </a:t>
            </a:r>
            <a:r>
              <a:rPr lang="en-US" sz="1100" b="1" kern="0" dirty="0">
                <a:solidFill>
                  <a:prstClr val="black"/>
                </a:solidFill>
                <a:ea typeface="Verdana" panose="020B0604030504040204" pitchFamily="34" charset="0"/>
                <a:cs typeface="Verdana" panose="020B0604030504040204" pitchFamily="34" charset="0"/>
              </a:rPr>
              <a:t>any in future</a:t>
            </a:r>
            <a:endParaRPr lang="en-IN" sz="1100" b="1" kern="0" dirty="0">
              <a:solidFill>
                <a:prstClr val="black"/>
              </a:solidFill>
              <a:ea typeface="Verdana" panose="020B0604030504040204" pitchFamily="34" charset="0"/>
              <a:cs typeface="Verdana" panose="020B0604030504040204" pitchFamily="34" charset="0"/>
            </a:endParaRPr>
          </a:p>
        </p:txBody>
      </p:sp>
      <p:cxnSp>
        <p:nvCxnSpPr>
          <p:cNvPr id="46" name="Elbow Connector 45"/>
          <p:cNvCxnSpPr>
            <a:endCxn id="45" idx="1"/>
          </p:cNvCxnSpPr>
          <p:nvPr/>
        </p:nvCxnSpPr>
        <p:spPr>
          <a:xfrm rot="16200000" flipH="1">
            <a:off x="-631115" y="3251523"/>
            <a:ext cx="2424088" cy="246659"/>
          </a:xfrm>
          <a:prstGeom prst="bentConnector2">
            <a:avLst/>
          </a:prstGeom>
          <a:noFill/>
          <a:ln w="6350" cap="flat" cmpd="sng" algn="ctr">
            <a:solidFill>
              <a:srgbClr val="44546A"/>
            </a:solidFill>
            <a:prstDash val="solid"/>
            <a:miter lim="800000"/>
            <a:tailEnd type="triangle"/>
          </a:ln>
          <a:effectLst/>
        </p:spPr>
      </p:cxnSp>
    </p:spTree>
    <p:extLst>
      <p:ext uri="{BB962C8B-B14F-4D97-AF65-F5344CB8AC3E}">
        <p14:creationId xmlns:p14="http://schemas.microsoft.com/office/powerpoint/2010/main" val="1999623351"/>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Proposed High Level Functional / Departmental Organogram of Holding Company</a:t>
            </a:r>
            <a:endParaRPr lang="en-US" sz="5400" dirty="0">
              <a:solidFill>
                <a:prstClr val="white"/>
              </a:solidFill>
            </a:endParaRPr>
          </a:p>
        </p:txBody>
      </p:sp>
    </p:spTree>
    <p:extLst>
      <p:ext uri="{BB962C8B-B14F-4D97-AF65-F5344CB8AC3E}">
        <p14:creationId xmlns:p14="http://schemas.microsoft.com/office/powerpoint/2010/main" val="30017186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6511" y="274451"/>
            <a:ext cx="9785951" cy="368439"/>
          </a:xfrm>
        </p:spPr>
        <p:txBody>
          <a:bodyPr/>
          <a:lstStyle/>
          <a:p>
            <a:pPr algn="just"/>
            <a:r>
              <a:rPr lang="en-US" b="1" dirty="0" smtClean="0"/>
              <a:t>Proposed functions of the holding company (1/2)</a:t>
            </a:r>
            <a:endParaRPr lang="en-IN" b="1" dirty="0"/>
          </a:p>
        </p:txBody>
      </p:sp>
      <p:sp>
        <p:nvSpPr>
          <p:cNvPr id="235" name="TextBox 234"/>
          <p:cNvSpPr txBox="1"/>
          <p:nvPr/>
        </p:nvSpPr>
        <p:spPr>
          <a:xfrm>
            <a:off x="436511" y="1336974"/>
            <a:ext cx="2412000" cy="489673"/>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a:solidFill>
                  <a:prstClr val="white"/>
                </a:solidFill>
              </a:rPr>
              <a:t>Generation</a:t>
            </a:r>
            <a:endParaRPr lang="en-IN" sz="1088" b="1" dirty="0">
              <a:solidFill>
                <a:prstClr val="white"/>
              </a:solidFill>
            </a:endParaRPr>
          </a:p>
        </p:txBody>
      </p:sp>
      <p:sp>
        <p:nvSpPr>
          <p:cNvPr id="236" name="TextBox 235"/>
          <p:cNvSpPr txBox="1"/>
          <p:nvPr/>
        </p:nvSpPr>
        <p:spPr>
          <a:xfrm>
            <a:off x="3299456" y="1349816"/>
            <a:ext cx="2412000" cy="489673"/>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Commercial, Regulatory &amp; Bulk Supply</a:t>
            </a:r>
            <a:endParaRPr lang="en-IN" sz="1088" b="1" dirty="0">
              <a:solidFill>
                <a:prstClr val="white"/>
              </a:solidFill>
            </a:endParaRPr>
          </a:p>
        </p:txBody>
      </p:sp>
      <p:sp>
        <p:nvSpPr>
          <p:cNvPr id="237" name="TextBox 236"/>
          <p:cNvSpPr txBox="1"/>
          <p:nvPr/>
        </p:nvSpPr>
        <p:spPr>
          <a:xfrm>
            <a:off x="6162401" y="1336974"/>
            <a:ext cx="4060061" cy="489673"/>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a:solidFill>
                  <a:prstClr val="white"/>
                </a:solidFill>
              </a:rPr>
              <a:t>Planning &amp; Development</a:t>
            </a:r>
            <a:endParaRPr lang="en-IN" sz="1088" b="1" dirty="0">
              <a:solidFill>
                <a:prstClr val="white"/>
              </a:solidFill>
            </a:endParaRPr>
          </a:p>
        </p:txBody>
      </p:sp>
      <p:sp>
        <p:nvSpPr>
          <p:cNvPr id="238" name="TextBox 237"/>
          <p:cNvSpPr txBox="1"/>
          <p:nvPr/>
        </p:nvSpPr>
        <p:spPr>
          <a:xfrm>
            <a:off x="441689" y="1946859"/>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Power plant O&amp;M</a:t>
            </a:r>
            <a:endParaRPr lang="en-IN" sz="1088" dirty="0">
              <a:solidFill>
                <a:srgbClr val="313131"/>
              </a:solidFill>
            </a:endParaRPr>
          </a:p>
        </p:txBody>
      </p:sp>
      <p:sp>
        <p:nvSpPr>
          <p:cNvPr id="239" name="TextBox 238"/>
          <p:cNvSpPr txBox="1"/>
          <p:nvPr/>
        </p:nvSpPr>
        <p:spPr>
          <a:xfrm>
            <a:off x="439101" y="2438531"/>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a:t>
            </a:r>
          </a:p>
          <a:p>
            <a:pPr algn="ctr" defTabSz="945677">
              <a:buSzPct val="100000"/>
            </a:pPr>
            <a:r>
              <a:rPr lang="en-US" sz="1088" dirty="0">
                <a:solidFill>
                  <a:srgbClr val="313131"/>
                </a:solidFill>
              </a:rPr>
              <a:t>Water Chemistry</a:t>
            </a:r>
            <a:endParaRPr lang="en-IN" sz="1088" dirty="0">
              <a:solidFill>
                <a:srgbClr val="313131"/>
              </a:solidFill>
            </a:endParaRPr>
          </a:p>
        </p:txBody>
      </p:sp>
      <p:sp>
        <p:nvSpPr>
          <p:cNvPr id="240" name="TextBox 239"/>
          <p:cNvSpPr txBox="1"/>
          <p:nvPr/>
        </p:nvSpPr>
        <p:spPr>
          <a:xfrm>
            <a:off x="439619" y="2930203"/>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a:t>
            </a:r>
            <a:r>
              <a:rPr lang="en-US" sz="1088" dirty="0" err="1">
                <a:solidFill>
                  <a:srgbClr val="313131"/>
                </a:solidFill>
              </a:rPr>
              <a:t>Maint</a:t>
            </a:r>
            <a:r>
              <a:rPr lang="en-US" sz="1088" dirty="0">
                <a:solidFill>
                  <a:srgbClr val="313131"/>
                </a:solidFill>
              </a:rPr>
              <a:t>. planning</a:t>
            </a:r>
            <a:endParaRPr lang="en-IN" sz="1088" dirty="0">
              <a:solidFill>
                <a:srgbClr val="313131"/>
              </a:solidFill>
            </a:endParaRPr>
          </a:p>
        </p:txBody>
      </p:sp>
      <p:sp>
        <p:nvSpPr>
          <p:cNvPr id="241" name="TextBox 240"/>
          <p:cNvSpPr txBox="1"/>
          <p:nvPr/>
        </p:nvSpPr>
        <p:spPr>
          <a:xfrm>
            <a:off x="440137" y="3913547"/>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stores, inventory management</a:t>
            </a:r>
            <a:endParaRPr lang="en-IN" sz="1088" dirty="0">
              <a:solidFill>
                <a:srgbClr val="313131"/>
              </a:solidFill>
            </a:endParaRPr>
          </a:p>
        </p:txBody>
      </p:sp>
      <p:sp>
        <p:nvSpPr>
          <p:cNvPr id="242" name="TextBox 241"/>
          <p:cNvSpPr txBox="1"/>
          <p:nvPr/>
        </p:nvSpPr>
        <p:spPr>
          <a:xfrm>
            <a:off x="440655" y="3421875"/>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procurement</a:t>
            </a:r>
            <a:endParaRPr lang="en-IN" sz="1088" dirty="0">
              <a:solidFill>
                <a:srgbClr val="313131"/>
              </a:solidFill>
            </a:endParaRPr>
          </a:p>
        </p:txBody>
      </p:sp>
      <p:sp>
        <p:nvSpPr>
          <p:cNvPr id="243" name="TextBox 242"/>
          <p:cNvSpPr txBox="1"/>
          <p:nvPr/>
        </p:nvSpPr>
        <p:spPr>
          <a:xfrm>
            <a:off x="441173" y="4405219"/>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Accounts</a:t>
            </a:r>
            <a:endParaRPr lang="en-IN" sz="1088" dirty="0">
              <a:solidFill>
                <a:srgbClr val="313131"/>
              </a:solidFill>
            </a:endParaRPr>
          </a:p>
        </p:txBody>
      </p:sp>
      <p:sp>
        <p:nvSpPr>
          <p:cNvPr id="244" name="TextBox 243"/>
          <p:cNvSpPr txBox="1"/>
          <p:nvPr/>
        </p:nvSpPr>
        <p:spPr>
          <a:xfrm>
            <a:off x="3299456" y="1951377"/>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Regulatory filing and Management</a:t>
            </a:r>
            <a:endParaRPr lang="en-IN" sz="1088" dirty="0"/>
          </a:p>
        </p:txBody>
      </p:sp>
      <p:sp>
        <p:nvSpPr>
          <p:cNvPr id="245" name="TextBox 244"/>
          <p:cNvSpPr txBox="1"/>
          <p:nvPr/>
        </p:nvSpPr>
        <p:spPr>
          <a:xfrm>
            <a:off x="3310080" y="3424299"/>
            <a:ext cx="2412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Centralized fuel management</a:t>
            </a:r>
            <a:endParaRPr lang="en-IN" sz="1088" dirty="0"/>
          </a:p>
        </p:txBody>
      </p:sp>
      <p:sp>
        <p:nvSpPr>
          <p:cNvPr id="246" name="TextBox 245"/>
          <p:cNvSpPr txBox="1"/>
          <p:nvPr/>
        </p:nvSpPr>
        <p:spPr>
          <a:xfrm>
            <a:off x="3312736" y="2442351"/>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Subsidy management</a:t>
            </a:r>
            <a:endParaRPr lang="en-IN" sz="1088" dirty="0"/>
          </a:p>
        </p:txBody>
      </p:sp>
      <p:sp>
        <p:nvSpPr>
          <p:cNvPr id="247" name="TextBox 246"/>
          <p:cNvSpPr txBox="1"/>
          <p:nvPr/>
        </p:nvSpPr>
        <p:spPr>
          <a:xfrm>
            <a:off x="6174331" y="3408541"/>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RE </a:t>
            </a:r>
            <a:r>
              <a:rPr lang="en-US" sz="1088" dirty="0" err="1"/>
              <a:t>proj</a:t>
            </a:r>
            <a:r>
              <a:rPr lang="en-US" sz="1088" dirty="0"/>
              <a:t>. </a:t>
            </a:r>
            <a:r>
              <a:rPr lang="en-US" sz="1088" dirty="0" err="1"/>
              <a:t>coord</a:t>
            </a:r>
            <a:r>
              <a:rPr lang="en-US" sz="1088" dirty="0"/>
              <a:t>. &amp; monitoring</a:t>
            </a:r>
            <a:endParaRPr lang="en-IN" sz="1088" dirty="0"/>
          </a:p>
        </p:txBody>
      </p:sp>
      <p:sp>
        <p:nvSpPr>
          <p:cNvPr id="248" name="TextBox 247"/>
          <p:cNvSpPr txBox="1"/>
          <p:nvPr/>
        </p:nvSpPr>
        <p:spPr>
          <a:xfrm>
            <a:off x="6167173" y="3895690"/>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Contract mgmt.</a:t>
            </a:r>
            <a:endParaRPr lang="en-IN" sz="1088" dirty="0">
              <a:solidFill>
                <a:srgbClr val="313131"/>
              </a:solidFill>
            </a:endParaRPr>
          </a:p>
        </p:txBody>
      </p:sp>
      <p:sp>
        <p:nvSpPr>
          <p:cNvPr id="249" name="TextBox 248"/>
          <p:cNvSpPr txBox="1"/>
          <p:nvPr/>
        </p:nvSpPr>
        <p:spPr>
          <a:xfrm>
            <a:off x="6183877" y="5357137"/>
            <a:ext cx="1908000" cy="396000"/>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BD &amp; Liaising</a:t>
            </a:r>
            <a:endParaRPr lang="en-IN" sz="1088" dirty="0">
              <a:solidFill>
                <a:srgbClr val="313131"/>
              </a:solidFill>
            </a:endParaRPr>
          </a:p>
        </p:txBody>
      </p:sp>
      <p:sp>
        <p:nvSpPr>
          <p:cNvPr id="250" name="TextBox 249"/>
          <p:cNvSpPr txBox="1"/>
          <p:nvPr/>
        </p:nvSpPr>
        <p:spPr>
          <a:xfrm>
            <a:off x="6176717" y="1947094"/>
            <a:ext cx="1908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Corporate planning, strategy</a:t>
            </a:r>
            <a:endParaRPr lang="en-IN" sz="1088" dirty="0"/>
          </a:p>
        </p:txBody>
      </p:sp>
      <p:sp>
        <p:nvSpPr>
          <p:cNvPr id="251" name="TextBox 250"/>
          <p:cNvSpPr txBox="1"/>
          <p:nvPr/>
        </p:nvSpPr>
        <p:spPr>
          <a:xfrm>
            <a:off x="6169559" y="2434243"/>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System </a:t>
            </a:r>
            <a:r>
              <a:rPr lang="en-US" sz="1088" dirty="0" smtClean="0">
                <a:solidFill>
                  <a:srgbClr val="313131"/>
                </a:solidFill>
              </a:rPr>
              <a:t>Planning</a:t>
            </a:r>
            <a:endParaRPr lang="en-IN" sz="1088" dirty="0">
              <a:solidFill>
                <a:srgbClr val="313131"/>
              </a:solidFill>
            </a:endParaRPr>
          </a:p>
        </p:txBody>
      </p:sp>
      <p:sp>
        <p:nvSpPr>
          <p:cNvPr id="252" name="TextBox 251"/>
          <p:cNvSpPr txBox="1"/>
          <p:nvPr/>
        </p:nvSpPr>
        <p:spPr>
          <a:xfrm>
            <a:off x="8285788" y="2924605"/>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smtClean="0"/>
              <a:t>Design &amp; Inspection</a:t>
            </a:r>
            <a:endParaRPr lang="en-IN" sz="1088" dirty="0"/>
          </a:p>
        </p:txBody>
      </p:sp>
      <p:sp>
        <p:nvSpPr>
          <p:cNvPr id="253" name="TextBox 252"/>
          <p:cNvSpPr txBox="1"/>
          <p:nvPr/>
        </p:nvSpPr>
        <p:spPr>
          <a:xfrm>
            <a:off x="3318048" y="2933325"/>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Bulk sale meter reading, billing &amp; collection</a:t>
            </a:r>
            <a:endParaRPr lang="en-IN" sz="1088" dirty="0"/>
          </a:p>
        </p:txBody>
      </p:sp>
      <p:sp>
        <p:nvSpPr>
          <p:cNvPr id="254" name="TextBox 253"/>
          <p:cNvSpPr txBox="1"/>
          <p:nvPr/>
        </p:nvSpPr>
        <p:spPr>
          <a:xfrm>
            <a:off x="3307424" y="4406247"/>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a:t>Energy audit</a:t>
            </a:r>
            <a:endParaRPr lang="en-IN" dirty="0"/>
          </a:p>
        </p:txBody>
      </p:sp>
      <p:sp>
        <p:nvSpPr>
          <p:cNvPr id="255" name="TextBox 254"/>
          <p:cNvSpPr txBox="1"/>
          <p:nvPr/>
        </p:nvSpPr>
        <p:spPr>
          <a:xfrm>
            <a:off x="436511" y="5388563"/>
            <a:ext cx="2412000" cy="396000"/>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Power plant O&amp;M services &amp; asset management</a:t>
            </a:r>
            <a:endParaRPr lang="en-IN" sz="1088" dirty="0">
              <a:solidFill>
                <a:srgbClr val="313131"/>
              </a:solidFill>
            </a:endParaRPr>
          </a:p>
        </p:txBody>
      </p:sp>
      <p:sp>
        <p:nvSpPr>
          <p:cNvPr id="256" name="TextBox 255"/>
          <p:cNvSpPr txBox="1"/>
          <p:nvPr/>
        </p:nvSpPr>
        <p:spPr>
          <a:xfrm>
            <a:off x="437029" y="4896891"/>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Health, Safety, Environment</a:t>
            </a:r>
            <a:endParaRPr lang="en-IN" sz="1088" dirty="0">
              <a:solidFill>
                <a:srgbClr val="313131"/>
              </a:solidFill>
            </a:endParaRPr>
          </a:p>
        </p:txBody>
      </p:sp>
      <p:sp>
        <p:nvSpPr>
          <p:cNvPr id="257" name="TextBox 256"/>
          <p:cNvSpPr txBox="1"/>
          <p:nvPr/>
        </p:nvSpPr>
        <p:spPr>
          <a:xfrm>
            <a:off x="437547" y="5880235"/>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Perf. monitoring, MIS</a:t>
            </a:r>
            <a:endParaRPr lang="en-IN" sz="1088" dirty="0">
              <a:solidFill>
                <a:srgbClr val="313131"/>
              </a:solidFill>
            </a:endParaRPr>
          </a:p>
        </p:txBody>
      </p:sp>
      <p:sp>
        <p:nvSpPr>
          <p:cNvPr id="258" name="TextBox 257"/>
          <p:cNvSpPr txBox="1"/>
          <p:nvPr/>
        </p:nvSpPr>
        <p:spPr>
          <a:xfrm>
            <a:off x="438065" y="6371907"/>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SBU / Plant-level HR &amp; Admin</a:t>
            </a:r>
            <a:endParaRPr lang="en-IN" sz="1088" dirty="0">
              <a:solidFill>
                <a:srgbClr val="313131"/>
              </a:solidFill>
            </a:endParaRPr>
          </a:p>
        </p:txBody>
      </p:sp>
      <p:sp>
        <p:nvSpPr>
          <p:cNvPr id="259" name="TextBox 258"/>
          <p:cNvSpPr txBox="1"/>
          <p:nvPr/>
        </p:nvSpPr>
        <p:spPr>
          <a:xfrm>
            <a:off x="436511" y="6863577"/>
            <a:ext cx="2412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Power plant const., rehab., conv. projects</a:t>
            </a:r>
            <a:endParaRPr lang="en-IN" sz="1088" dirty="0">
              <a:solidFill>
                <a:srgbClr val="313131"/>
              </a:solidFill>
            </a:endParaRPr>
          </a:p>
        </p:txBody>
      </p:sp>
      <p:sp>
        <p:nvSpPr>
          <p:cNvPr id="260" name="TextBox 259"/>
          <p:cNvSpPr txBox="1"/>
          <p:nvPr/>
        </p:nvSpPr>
        <p:spPr>
          <a:xfrm>
            <a:off x="6171945" y="2921392"/>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Project </a:t>
            </a:r>
            <a:r>
              <a:rPr lang="en-US" sz="1088" dirty="0" smtClean="0">
                <a:solidFill>
                  <a:srgbClr val="313131"/>
                </a:solidFill>
              </a:rPr>
              <a:t>Planning</a:t>
            </a:r>
            <a:endParaRPr lang="en-IN" sz="1088" dirty="0">
              <a:solidFill>
                <a:srgbClr val="313131"/>
              </a:solidFill>
            </a:endParaRPr>
          </a:p>
        </p:txBody>
      </p:sp>
      <p:sp>
        <p:nvSpPr>
          <p:cNvPr id="261" name="TextBox 260"/>
          <p:cNvSpPr txBox="1"/>
          <p:nvPr/>
        </p:nvSpPr>
        <p:spPr>
          <a:xfrm>
            <a:off x="6181489" y="5844286"/>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err="1"/>
              <a:t>Proj</a:t>
            </a:r>
            <a:r>
              <a:rPr lang="en-US" dirty="0"/>
              <a:t>. </a:t>
            </a:r>
            <a:r>
              <a:rPr lang="en-US" dirty="0" err="1"/>
              <a:t>coord</a:t>
            </a:r>
            <a:r>
              <a:rPr lang="en-US" dirty="0"/>
              <a:t>. &amp; monitoring</a:t>
            </a:r>
            <a:endParaRPr lang="en-IN" dirty="0"/>
          </a:p>
        </p:txBody>
      </p:sp>
      <p:sp>
        <p:nvSpPr>
          <p:cNvPr id="262" name="TextBox 261"/>
          <p:cNvSpPr txBox="1"/>
          <p:nvPr/>
        </p:nvSpPr>
        <p:spPr>
          <a:xfrm>
            <a:off x="8285788" y="3897833"/>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Electrical </a:t>
            </a:r>
            <a:r>
              <a:rPr lang="en-US" sz="1088" dirty="0" smtClean="0"/>
              <a:t>Equipment</a:t>
            </a:r>
            <a:endParaRPr lang="en-IN" sz="1088" dirty="0"/>
          </a:p>
        </p:txBody>
      </p:sp>
      <p:sp>
        <p:nvSpPr>
          <p:cNvPr id="263" name="TextBox 262"/>
          <p:cNvSpPr txBox="1"/>
          <p:nvPr/>
        </p:nvSpPr>
        <p:spPr>
          <a:xfrm>
            <a:off x="6183877" y="6331435"/>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Civil Works</a:t>
            </a:r>
            <a:endParaRPr lang="en-IN" sz="1088" dirty="0"/>
          </a:p>
        </p:txBody>
      </p:sp>
      <p:sp>
        <p:nvSpPr>
          <p:cNvPr id="264" name="TextBox 263"/>
          <p:cNvSpPr txBox="1"/>
          <p:nvPr/>
        </p:nvSpPr>
        <p:spPr>
          <a:xfrm>
            <a:off x="8285788" y="3411219"/>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Central Equipment Repair Shop - </a:t>
            </a:r>
            <a:r>
              <a:rPr lang="en-US" sz="1088" dirty="0" err="1">
                <a:solidFill>
                  <a:srgbClr val="313131"/>
                </a:solidFill>
              </a:rPr>
              <a:t>Tongi</a:t>
            </a:r>
            <a:endParaRPr lang="en-IN" sz="1088" dirty="0">
              <a:solidFill>
                <a:srgbClr val="313131"/>
              </a:solidFill>
            </a:endParaRPr>
          </a:p>
        </p:txBody>
      </p:sp>
      <p:sp>
        <p:nvSpPr>
          <p:cNvPr id="265" name="TextBox 264"/>
          <p:cNvSpPr txBox="1"/>
          <p:nvPr/>
        </p:nvSpPr>
        <p:spPr>
          <a:xfrm>
            <a:off x="8285788" y="4871061"/>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a:t>Clearance &amp; Movement</a:t>
            </a:r>
            <a:endParaRPr lang="en-IN" sz="1088" dirty="0"/>
          </a:p>
        </p:txBody>
      </p:sp>
      <p:sp>
        <p:nvSpPr>
          <p:cNvPr id="266" name="TextBox 265"/>
          <p:cNvSpPr txBox="1"/>
          <p:nvPr/>
        </p:nvSpPr>
        <p:spPr>
          <a:xfrm>
            <a:off x="3320702" y="3915273"/>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smtClean="0"/>
              <a:t>Computer Center  / ICT</a:t>
            </a:r>
            <a:endParaRPr lang="en-IN" dirty="0"/>
          </a:p>
        </p:txBody>
      </p:sp>
      <p:sp>
        <p:nvSpPr>
          <p:cNvPr id="267" name="TextBox 266"/>
          <p:cNvSpPr txBox="1"/>
          <p:nvPr/>
        </p:nvSpPr>
        <p:spPr>
          <a:xfrm>
            <a:off x="3304768" y="4897221"/>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smtClean="0"/>
              <a:t>PPA Management</a:t>
            </a:r>
            <a:endParaRPr lang="en-IN" dirty="0"/>
          </a:p>
        </p:txBody>
      </p:sp>
      <p:sp>
        <p:nvSpPr>
          <p:cNvPr id="268" name="TextBox 267"/>
          <p:cNvSpPr txBox="1"/>
          <p:nvPr/>
        </p:nvSpPr>
        <p:spPr>
          <a:xfrm>
            <a:off x="3302112" y="5388195"/>
            <a:ext cx="2412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smtClean="0"/>
              <a:t>Cross – Border Power Trade</a:t>
            </a:r>
            <a:endParaRPr lang="en-IN" dirty="0"/>
          </a:p>
        </p:txBody>
      </p:sp>
      <p:sp>
        <p:nvSpPr>
          <p:cNvPr id="269" name="TextBox 268"/>
          <p:cNvSpPr txBox="1"/>
          <p:nvPr/>
        </p:nvSpPr>
        <p:spPr>
          <a:xfrm>
            <a:off x="3315392" y="5879169"/>
            <a:ext cx="2412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smtClean="0"/>
              <a:t>Sys. Op. Monitoring &amp; Power Purchase Portfolio Mgmt.</a:t>
            </a:r>
            <a:endParaRPr lang="en-IN" dirty="0"/>
          </a:p>
        </p:txBody>
      </p:sp>
      <p:sp>
        <p:nvSpPr>
          <p:cNvPr id="270" name="TextBox 269"/>
          <p:cNvSpPr txBox="1"/>
          <p:nvPr/>
        </p:nvSpPr>
        <p:spPr>
          <a:xfrm>
            <a:off x="8285788" y="5844286"/>
            <a:ext cx="1908000" cy="396000"/>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Risk management</a:t>
            </a:r>
            <a:endParaRPr lang="en-IN" sz="1088" dirty="0">
              <a:solidFill>
                <a:srgbClr val="313131"/>
              </a:solidFill>
            </a:endParaRPr>
          </a:p>
        </p:txBody>
      </p:sp>
      <p:sp>
        <p:nvSpPr>
          <p:cNvPr id="271" name="TextBox 270"/>
          <p:cNvSpPr txBox="1"/>
          <p:nvPr/>
        </p:nvSpPr>
        <p:spPr>
          <a:xfrm>
            <a:off x="6164787" y="4382839"/>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Program</a:t>
            </a:r>
            <a:endParaRPr lang="en-IN" sz="1088" dirty="0">
              <a:solidFill>
                <a:srgbClr val="313131"/>
              </a:solidFill>
            </a:endParaRPr>
          </a:p>
        </p:txBody>
      </p:sp>
      <p:sp>
        <p:nvSpPr>
          <p:cNvPr id="272" name="TextBox 271"/>
          <p:cNvSpPr txBox="1"/>
          <p:nvPr/>
        </p:nvSpPr>
        <p:spPr>
          <a:xfrm>
            <a:off x="6179103" y="4869988"/>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Solar Project, </a:t>
            </a:r>
            <a:r>
              <a:rPr lang="en-US" sz="1088" dirty="0" err="1">
                <a:solidFill>
                  <a:srgbClr val="313131"/>
                </a:solidFill>
              </a:rPr>
              <a:t>K</a:t>
            </a:r>
            <a:r>
              <a:rPr lang="en-US" sz="1088" dirty="0" err="1" smtClean="0">
                <a:solidFill>
                  <a:srgbClr val="313131"/>
                </a:solidFill>
              </a:rPr>
              <a:t>aptai</a:t>
            </a:r>
            <a:endParaRPr lang="en-IN" sz="1088" dirty="0">
              <a:solidFill>
                <a:srgbClr val="313131"/>
              </a:solidFill>
            </a:endParaRPr>
          </a:p>
        </p:txBody>
      </p:sp>
      <p:sp>
        <p:nvSpPr>
          <p:cNvPr id="273" name="TextBox 272"/>
          <p:cNvSpPr txBox="1"/>
          <p:nvPr/>
        </p:nvSpPr>
        <p:spPr>
          <a:xfrm>
            <a:off x="8285788" y="2437991"/>
            <a:ext cx="1908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Quality Assurance / ISO / TQM / Compliance</a:t>
            </a:r>
            <a:endParaRPr lang="en-IN" sz="1088" dirty="0">
              <a:solidFill>
                <a:srgbClr val="313131"/>
              </a:solidFill>
            </a:endParaRPr>
          </a:p>
        </p:txBody>
      </p:sp>
      <p:sp>
        <p:nvSpPr>
          <p:cNvPr id="274" name="TextBox 273"/>
          <p:cNvSpPr txBox="1"/>
          <p:nvPr/>
        </p:nvSpPr>
        <p:spPr>
          <a:xfrm>
            <a:off x="8285788" y="4384447"/>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smtClean="0"/>
              <a:t>System Protection &amp; Testing Commissioning</a:t>
            </a:r>
            <a:endParaRPr lang="en-IN" sz="1088" dirty="0"/>
          </a:p>
        </p:txBody>
      </p:sp>
      <p:sp>
        <p:nvSpPr>
          <p:cNvPr id="275" name="TextBox 274"/>
          <p:cNvSpPr txBox="1"/>
          <p:nvPr/>
        </p:nvSpPr>
        <p:spPr>
          <a:xfrm>
            <a:off x="8285788" y="1951377"/>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smtClean="0"/>
              <a:t>Khulna 330 MW Project</a:t>
            </a:r>
            <a:endParaRPr lang="en-IN" sz="1088" dirty="0"/>
          </a:p>
        </p:txBody>
      </p:sp>
      <p:sp>
        <p:nvSpPr>
          <p:cNvPr id="276" name="TextBox 275"/>
          <p:cNvSpPr txBox="1"/>
          <p:nvPr/>
        </p:nvSpPr>
        <p:spPr>
          <a:xfrm>
            <a:off x="8285788" y="5357675"/>
            <a:ext cx="1908000" cy="396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pPr defTabSz="945677"/>
            <a:r>
              <a:rPr lang="en-US" sz="1088" dirty="0" err="1" smtClean="0"/>
              <a:t>Ghorashal</a:t>
            </a:r>
            <a:r>
              <a:rPr lang="en-US" sz="1088" dirty="0" smtClean="0"/>
              <a:t> Re-powering Project</a:t>
            </a:r>
            <a:endParaRPr lang="en-IN" sz="1088" dirty="0"/>
          </a:p>
        </p:txBody>
      </p:sp>
      <p:sp>
        <p:nvSpPr>
          <p:cNvPr id="287" name="TextBox 286"/>
          <p:cNvSpPr txBox="1"/>
          <p:nvPr/>
        </p:nvSpPr>
        <p:spPr>
          <a:xfrm>
            <a:off x="5103765" y="7061577"/>
            <a:ext cx="2412000" cy="432000"/>
          </a:xfrm>
          <a:prstGeom prst="rect">
            <a:avLst/>
          </a:prstGeom>
          <a:solidFill>
            <a:srgbClr val="F1FB6D"/>
          </a:solidFill>
          <a:ln>
            <a:solidFill>
              <a:schemeClr val="tx1"/>
            </a:solidFill>
          </a:ln>
        </p:spPr>
        <p:txBody>
          <a:bodyPr wrap="square" lIns="0" tIns="0" rIns="0" bIns="0" rtlCol="0" anchor="ctr">
            <a:noAutofit/>
          </a:bodyPr>
          <a:lstStyle/>
          <a:p>
            <a:pPr algn="ctr">
              <a:buSzPct val="100000"/>
            </a:pPr>
            <a:r>
              <a:rPr lang="en-US" sz="1100" dirty="0" smtClean="0">
                <a:solidFill>
                  <a:srgbClr val="313131"/>
                </a:solidFill>
              </a:rPr>
              <a:t>New Function Formation</a:t>
            </a:r>
            <a:endParaRPr lang="en-IN" sz="1100" dirty="0">
              <a:solidFill>
                <a:srgbClr val="313131"/>
              </a:solidFill>
            </a:endParaRPr>
          </a:p>
        </p:txBody>
      </p:sp>
      <p:sp>
        <p:nvSpPr>
          <p:cNvPr id="288" name="TextBox 287"/>
          <p:cNvSpPr txBox="1"/>
          <p:nvPr/>
        </p:nvSpPr>
        <p:spPr>
          <a:xfrm>
            <a:off x="7781788" y="7063704"/>
            <a:ext cx="2412000" cy="433223"/>
          </a:xfrm>
          <a:prstGeom prst="rect">
            <a:avLst/>
          </a:prstGeom>
          <a:solidFill>
            <a:srgbClr val="E0F0FA"/>
          </a:solidFill>
          <a:ln>
            <a:solidFill>
              <a:schemeClr val="tx1"/>
            </a:solidFill>
          </a:ln>
        </p:spPr>
        <p:txBody>
          <a:bodyPr wrap="square" lIns="0" tIns="0" rIns="0" bIns="0" rtlCol="0" anchor="ctr">
            <a:noAutofit/>
          </a:bodyPr>
          <a:lstStyle/>
          <a:p>
            <a:pPr algn="ctr">
              <a:buSzPct val="100000"/>
            </a:pPr>
            <a:r>
              <a:rPr lang="en-US" sz="1100" dirty="0" smtClean="0">
                <a:solidFill>
                  <a:srgbClr val="313131"/>
                </a:solidFill>
              </a:rPr>
              <a:t>Existing Functions / Re-strengthening Functions</a:t>
            </a:r>
            <a:endParaRPr lang="en-IN" sz="1100" dirty="0">
              <a:solidFill>
                <a:srgbClr val="313131"/>
              </a:solidFill>
            </a:endParaRPr>
          </a:p>
        </p:txBody>
      </p:sp>
      <p:sp>
        <p:nvSpPr>
          <p:cNvPr id="290" name="TextBox 289"/>
          <p:cNvSpPr txBox="1"/>
          <p:nvPr/>
        </p:nvSpPr>
        <p:spPr>
          <a:xfrm>
            <a:off x="436511" y="845166"/>
            <a:ext cx="9785951" cy="491808"/>
          </a:xfrm>
          <a:prstGeom prst="rect">
            <a:avLst/>
          </a:prstGeom>
          <a:solidFill>
            <a:srgbClr val="041E42"/>
          </a:solidFill>
          <a:ln>
            <a:solidFill>
              <a:schemeClr val="tx1"/>
            </a:solidFill>
          </a:ln>
        </p:spPr>
        <p:txBody>
          <a:bodyPr wrap="square" lIns="0" tIns="0" rIns="0" bIns="0" rtlCol="0" anchor="ctr">
            <a:noAutofit/>
          </a:bodyPr>
          <a:lstStyle/>
          <a:p>
            <a:pPr algn="ctr" defTabSz="945677">
              <a:buSzPct val="100000"/>
            </a:pPr>
            <a:r>
              <a:rPr lang="en-US" sz="1088" b="1" dirty="0">
                <a:solidFill>
                  <a:prstClr val="white"/>
                </a:solidFill>
              </a:rPr>
              <a:t>Functions of holding company</a:t>
            </a:r>
            <a:endParaRPr lang="en-IN" sz="1088" b="1" dirty="0">
              <a:solidFill>
                <a:prstClr val="white"/>
              </a:solidFill>
            </a:endParaRPr>
          </a:p>
        </p:txBody>
      </p:sp>
      <p:sp>
        <p:nvSpPr>
          <p:cNvPr id="291" name="Pentagon 290">
            <a:hlinkClick r:id="rId2" action="ppaction://hlinksldjump"/>
          </p:cNvPr>
          <p:cNvSpPr/>
          <p:nvPr/>
        </p:nvSpPr>
        <p:spPr bwMode="gray">
          <a:xfrm>
            <a:off x="10222462" y="666796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8480376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50331" y="1337742"/>
            <a:ext cx="1800000" cy="489600"/>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Finance</a:t>
            </a:r>
            <a:endParaRPr lang="en-IN" sz="1088" b="1" dirty="0">
              <a:solidFill>
                <a:prstClr val="white"/>
              </a:solidFill>
            </a:endParaRPr>
          </a:p>
        </p:txBody>
      </p:sp>
      <p:sp>
        <p:nvSpPr>
          <p:cNvPr id="9" name="TextBox 8"/>
          <p:cNvSpPr txBox="1"/>
          <p:nvPr/>
        </p:nvSpPr>
        <p:spPr>
          <a:xfrm>
            <a:off x="2443363" y="1337742"/>
            <a:ext cx="1800000" cy="489600"/>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Administration</a:t>
            </a:r>
            <a:endParaRPr lang="en-IN" sz="1088" b="1" dirty="0">
              <a:solidFill>
                <a:prstClr val="white"/>
              </a:solidFill>
            </a:endParaRPr>
          </a:p>
        </p:txBody>
      </p:sp>
      <p:sp>
        <p:nvSpPr>
          <p:cNvPr id="10" name="TextBox 9"/>
          <p:cNvSpPr txBox="1"/>
          <p:nvPr/>
        </p:nvSpPr>
        <p:spPr>
          <a:xfrm>
            <a:off x="4436397" y="1336974"/>
            <a:ext cx="1800000" cy="489600"/>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Company Affairs</a:t>
            </a:r>
            <a:endParaRPr lang="en-IN" sz="1088" b="1" dirty="0">
              <a:solidFill>
                <a:prstClr val="white"/>
              </a:solidFill>
            </a:endParaRPr>
          </a:p>
        </p:txBody>
      </p:sp>
      <p:sp>
        <p:nvSpPr>
          <p:cNvPr id="11" name="TextBox 10"/>
          <p:cNvSpPr txBox="1"/>
          <p:nvPr/>
        </p:nvSpPr>
        <p:spPr>
          <a:xfrm>
            <a:off x="2443364" y="2718656"/>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Labor &amp; Welfare</a:t>
            </a:r>
            <a:endParaRPr lang="en-IN" sz="1088" dirty="0">
              <a:solidFill>
                <a:srgbClr val="313131"/>
              </a:solidFill>
            </a:endParaRPr>
          </a:p>
        </p:txBody>
      </p:sp>
      <p:sp>
        <p:nvSpPr>
          <p:cNvPr id="12" name="TextBox 11"/>
          <p:cNvSpPr txBox="1"/>
          <p:nvPr/>
        </p:nvSpPr>
        <p:spPr>
          <a:xfrm>
            <a:off x="2443364" y="1868861"/>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Training &amp; Development</a:t>
            </a:r>
            <a:endParaRPr lang="en-IN" sz="1088" dirty="0">
              <a:solidFill>
                <a:srgbClr val="313131"/>
              </a:solidFill>
            </a:endParaRPr>
          </a:p>
        </p:txBody>
      </p:sp>
      <p:sp>
        <p:nvSpPr>
          <p:cNvPr id="13" name="TextBox 12"/>
          <p:cNvSpPr txBox="1"/>
          <p:nvPr/>
        </p:nvSpPr>
        <p:spPr>
          <a:xfrm>
            <a:off x="444370" y="1868861"/>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Holding Company Accounts</a:t>
            </a:r>
            <a:endParaRPr lang="en-IN" sz="1088" dirty="0">
              <a:solidFill>
                <a:srgbClr val="313131"/>
              </a:solidFill>
            </a:endParaRPr>
          </a:p>
        </p:txBody>
      </p:sp>
      <p:sp>
        <p:nvSpPr>
          <p:cNvPr id="14" name="TextBox 13"/>
          <p:cNvSpPr txBox="1"/>
          <p:nvPr/>
        </p:nvSpPr>
        <p:spPr>
          <a:xfrm>
            <a:off x="441750" y="2294497"/>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Pension &amp; PF Management</a:t>
            </a:r>
            <a:endParaRPr lang="en-IN" sz="1088" dirty="0">
              <a:solidFill>
                <a:srgbClr val="313131"/>
              </a:solidFill>
            </a:endParaRPr>
          </a:p>
        </p:txBody>
      </p:sp>
      <p:sp>
        <p:nvSpPr>
          <p:cNvPr id="15" name="TextBox 14"/>
          <p:cNvSpPr txBox="1"/>
          <p:nvPr/>
        </p:nvSpPr>
        <p:spPr>
          <a:xfrm>
            <a:off x="445680" y="2720133"/>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Payroll Management</a:t>
            </a:r>
            <a:endParaRPr lang="en-IN" sz="1088" dirty="0">
              <a:solidFill>
                <a:srgbClr val="313131"/>
              </a:solidFill>
            </a:endParaRPr>
          </a:p>
        </p:txBody>
      </p:sp>
      <p:sp>
        <p:nvSpPr>
          <p:cNvPr id="16" name="TextBox 15"/>
          <p:cNvSpPr txBox="1"/>
          <p:nvPr/>
        </p:nvSpPr>
        <p:spPr>
          <a:xfrm>
            <a:off x="450331" y="6125218"/>
            <a:ext cx="1800000" cy="553476"/>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Group acc., consolidation, MIS Reporting</a:t>
            </a:r>
            <a:endParaRPr lang="en-IN" sz="1088" dirty="0">
              <a:solidFill>
                <a:srgbClr val="313131"/>
              </a:solidFill>
            </a:endParaRPr>
          </a:p>
        </p:txBody>
      </p:sp>
      <p:sp>
        <p:nvSpPr>
          <p:cNvPr id="17" name="TextBox 16"/>
          <p:cNvSpPr txBox="1"/>
          <p:nvPr/>
        </p:nvSpPr>
        <p:spPr>
          <a:xfrm>
            <a:off x="450331" y="6708327"/>
            <a:ext cx="1800000" cy="563817"/>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Strategic investment management &amp; investment planning</a:t>
            </a:r>
            <a:endParaRPr lang="en-IN" sz="1088" dirty="0">
              <a:solidFill>
                <a:srgbClr val="313131"/>
              </a:solidFill>
            </a:endParaRPr>
          </a:p>
        </p:txBody>
      </p:sp>
      <p:sp>
        <p:nvSpPr>
          <p:cNvPr id="18" name="TextBox 17"/>
          <p:cNvSpPr txBox="1"/>
          <p:nvPr/>
        </p:nvSpPr>
        <p:spPr>
          <a:xfrm>
            <a:off x="2443364" y="3997041"/>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Medical</a:t>
            </a:r>
            <a:endParaRPr lang="en-IN" sz="1088" dirty="0">
              <a:solidFill>
                <a:srgbClr val="313131"/>
              </a:solidFill>
            </a:endParaRPr>
          </a:p>
        </p:txBody>
      </p:sp>
      <p:sp>
        <p:nvSpPr>
          <p:cNvPr id="19" name="TextBox 18"/>
          <p:cNvSpPr txBox="1"/>
          <p:nvPr/>
        </p:nvSpPr>
        <p:spPr>
          <a:xfrm>
            <a:off x="2443364" y="527394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Safety &amp; Environment</a:t>
            </a:r>
            <a:endParaRPr lang="en-IN" sz="1088" dirty="0">
              <a:solidFill>
                <a:srgbClr val="313131"/>
              </a:solidFill>
            </a:endParaRPr>
          </a:p>
        </p:txBody>
      </p:sp>
      <p:sp>
        <p:nvSpPr>
          <p:cNvPr id="20" name="TextBox 19"/>
          <p:cNvSpPr txBox="1"/>
          <p:nvPr/>
        </p:nvSpPr>
        <p:spPr>
          <a:xfrm>
            <a:off x="2443364" y="3571405"/>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Personnel</a:t>
            </a:r>
            <a:endParaRPr lang="en-IN" sz="1088" dirty="0">
              <a:solidFill>
                <a:srgbClr val="313131"/>
              </a:solidFill>
            </a:endParaRPr>
          </a:p>
        </p:txBody>
      </p:sp>
      <p:sp>
        <p:nvSpPr>
          <p:cNvPr id="21" name="TextBox 20"/>
          <p:cNvSpPr txBox="1"/>
          <p:nvPr/>
        </p:nvSpPr>
        <p:spPr>
          <a:xfrm>
            <a:off x="2443364" y="5699585"/>
            <a:ext cx="1800000" cy="396000"/>
          </a:xfrm>
          <a:prstGeom prst="rect">
            <a:avLst/>
          </a:prstGeom>
          <a:solidFill>
            <a:srgbClr val="F1FB6D"/>
          </a:solidFill>
          <a:ln>
            <a:solidFill>
              <a:schemeClr val="tx1"/>
            </a:solidFill>
          </a:ln>
        </p:spPr>
        <p:txBody>
          <a:bodyPr wrap="square" lIns="0" tIns="0" rIns="0" bIns="0" rtlCol="0" anchor="ctr">
            <a:noAutofit/>
          </a:bodyPr>
          <a:lstStyle/>
          <a:p>
            <a:pPr algn="ctr" defTabSz="945677">
              <a:buSzPct val="100000"/>
            </a:pPr>
            <a:r>
              <a:rPr lang="en-US" sz="1088" dirty="0">
                <a:solidFill>
                  <a:srgbClr val="313131"/>
                </a:solidFill>
              </a:rPr>
              <a:t>Group HR administration</a:t>
            </a:r>
            <a:endParaRPr lang="en-IN" sz="1088" dirty="0">
              <a:solidFill>
                <a:srgbClr val="313131"/>
              </a:solidFill>
            </a:endParaRPr>
          </a:p>
        </p:txBody>
      </p:sp>
      <p:sp>
        <p:nvSpPr>
          <p:cNvPr id="22" name="TextBox 21"/>
          <p:cNvSpPr txBox="1"/>
          <p:nvPr/>
        </p:nvSpPr>
        <p:spPr>
          <a:xfrm>
            <a:off x="443060" y="314576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Budgets &amp; Resource</a:t>
            </a:r>
            <a:endParaRPr lang="en-IN" sz="1088" dirty="0">
              <a:solidFill>
                <a:srgbClr val="313131"/>
              </a:solidFill>
            </a:endParaRPr>
          </a:p>
        </p:txBody>
      </p:sp>
      <p:sp>
        <p:nvSpPr>
          <p:cNvPr id="23" name="TextBox 22"/>
          <p:cNvSpPr txBox="1"/>
          <p:nvPr/>
        </p:nvSpPr>
        <p:spPr>
          <a:xfrm>
            <a:off x="450331" y="3571405"/>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Holding Company Finance</a:t>
            </a:r>
            <a:endParaRPr lang="en-IN" sz="1088" dirty="0">
              <a:solidFill>
                <a:srgbClr val="313131"/>
              </a:solidFill>
            </a:endParaRPr>
          </a:p>
        </p:txBody>
      </p:sp>
      <p:sp>
        <p:nvSpPr>
          <p:cNvPr id="24" name="TextBox 23"/>
          <p:cNvSpPr txBox="1"/>
          <p:nvPr/>
        </p:nvSpPr>
        <p:spPr>
          <a:xfrm>
            <a:off x="450331" y="3997041"/>
            <a:ext cx="1800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a:t>Group Finance</a:t>
            </a:r>
            <a:endParaRPr lang="en-IN" dirty="0"/>
          </a:p>
        </p:txBody>
      </p:sp>
      <p:sp>
        <p:nvSpPr>
          <p:cNvPr id="25" name="TextBox 24"/>
          <p:cNvSpPr txBox="1"/>
          <p:nvPr/>
        </p:nvSpPr>
        <p:spPr>
          <a:xfrm>
            <a:off x="2443364" y="2294497"/>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Enquiry &amp; Discipline</a:t>
            </a:r>
            <a:endParaRPr lang="en-IN" sz="1088" dirty="0">
              <a:solidFill>
                <a:srgbClr val="313131"/>
              </a:solidFill>
            </a:endParaRPr>
          </a:p>
        </p:txBody>
      </p:sp>
      <p:sp>
        <p:nvSpPr>
          <p:cNvPr id="26" name="TextBox 25"/>
          <p:cNvSpPr txBox="1"/>
          <p:nvPr/>
        </p:nvSpPr>
        <p:spPr>
          <a:xfrm>
            <a:off x="2443364" y="314576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Estate &amp; Transport</a:t>
            </a:r>
            <a:endParaRPr lang="en-IN" sz="1088" dirty="0">
              <a:solidFill>
                <a:srgbClr val="313131"/>
              </a:solidFill>
            </a:endParaRPr>
          </a:p>
        </p:txBody>
      </p:sp>
      <p:sp>
        <p:nvSpPr>
          <p:cNvPr id="27" name="TextBox 26"/>
          <p:cNvSpPr txBox="1"/>
          <p:nvPr/>
        </p:nvSpPr>
        <p:spPr>
          <a:xfrm>
            <a:off x="2443364" y="4422677"/>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Organization &amp; Method</a:t>
            </a:r>
            <a:endParaRPr lang="en-IN" sz="1088" dirty="0">
              <a:solidFill>
                <a:srgbClr val="313131"/>
              </a:solidFill>
            </a:endParaRPr>
          </a:p>
        </p:txBody>
      </p:sp>
      <p:sp>
        <p:nvSpPr>
          <p:cNvPr id="28" name="TextBox 27"/>
          <p:cNvSpPr txBox="1"/>
          <p:nvPr/>
        </p:nvSpPr>
        <p:spPr>
          <a:xfrm>
            <a:off x="2443364" y="4848313"/>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Security &amp; Investigation</a:t>
            </a:r>
            <a:endParaRPr lang="en-IN" sz="1088" dirty="0">
              <a:solidFill>
                <a:srgbClr val="313131"/>
              </a:solidFill>
            </a:endParaRPr>
          </a:p>
        </p:txBody>
      </p:sp>
      <p:sp>
        <p:nvSpPr>
          <p:cNvPr id="29" name="TextBox 28"/>
          <p:cNvSpPr txBox="1"/>
          <p:nvPr/>
        </p:nvSpPr>
        <p:spPr>
          <a:xfrm>
            <a:off x="450331" y="4422677"/>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Stores</a:t>
            </a:r>
            <a:endParaRPr lang="en-IN" sz="1088" dirty="0">
              <a:solidFill>
                <a:srgbClr val="313131"/>
              </a:solidFill>
            </a:endParaRPr>
          </a:p>
        </p:txBody>
      </p:sp>
      <p:sp>
        <p:nvSpPr>
          <p:cNvPr id="30" name="TextBox 29"/>
          <p:cNvSpPr txBox="1"/>
          <p:nvPr/>
        </p:nvSpPr>
        <p:spPr>
          <a:xfrm>
            <a:off x="450331" y="4848313"/>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Audit</a:t>
            </a:r>
            <a:endParaRPr lang="en-IN" sz="1088" dirty="0">
              <a:solidFill>
                <a:srgbClr val="313131"/>
              </a:solidFill>
            </a:endParaRPr>
          </a:p>
        </p:txBody>
      </p:sp>
      <p:sp>
        <p:nvSpPr>
          <p:cNvPr id="31" name="TextBox 30"/>
          <p:cNvSpPr txBox="1"/>
          <p:nvPr/>
        </p:nvSpPr>
        <p:spPr>
          <a:xfrm>
            <a:off x="450331" y="527394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Purchase</a:t>
            </a:r>
            <a:endParaRPr lang="en-IN" sz="1088" dirty="0">
              <a:solidFill>
                <a:srgbClr val="313131"/>
              </a:solidFill>
            </a:endParaRPr>
          </a:p>
        </p:txBody>
      </p:sp>
      <p:sp>
        <p:nvSpPr>
          <p:cNvPr id="32" name="TextBox 31"/>
          <p:cNvSpPr txBox="1"/>
          <p:nvPr/>
        </p:nvSpPr>
        <p:spPr>
          <a:xfrm>
            <a:off x="450331" y="5699585"/>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IVVR Project</a:t>
            </a:r>
            <a:endParaRPr lang="en-IN" sz="1088" dirty="0">
              <a:solidFill>
                <a:srgbClr val="313131"/>
              </a:solidFill>
            </a:endParaRPr>
          </a:p>
        </p:txBody>
      </p:sp>
      <p:sp>
        <p:nvSpPr>
          <p:cNvPr id="33" name="TextBox 32"/>
          <p:cNvSpPr txBox="1"/>
          <p:nvPr/>
        </p:nvSpPr>
        <p:spPr>
          <a:xfrm>
            <a:off x="6429429" y="1302487"/>
            <a:ext cx="1800000" cy="489600"/>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Distribution</a:t>
            </a:r>
            <a:endParaRPr lang="en-IN" sz="1088" b="1" dirty="0">
              <a:solidFill>
                <a:prstClr val="white"/>
              </a:solidFill>
            </a:endParaRPr>
          </a:p>
        </p:txBody>
      </p:sp>
      <p:sp>
        <p:nvSpPr>
          <p:cNvPr id="34" name="TextBox 33"/>
          <p:cNvSpPr txBox="1"/>
          <p:nvPr/>
        </p:nvSpPr>
        <p:spPr>
          <a:xfrm>
            <a:off x="6436913" y="1841514"/>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O&amp;M Circles</a:t>
            </a:r>
            <a:endParaRPr lang="en-IN" sz="1088" dirty="0">
              <a:solidFill>
                <a:srgbClr val="313131"/>
              </a:solidFill>
            </a:endParaRPr>
          </a:p>
        </p:txBody>
      </p:sp>
      <p:sp>
        <p:nvSpPr>
          <p:cNvPr id="35" name="TextBox 34"/>
          <p:cNvSpPr txBox="1"/>
          <p:nvPr/>
        </p:nvSpPr>
        <p:spPr>
          <a:xfrm>
            <a:off x="6437004" y="2271350"/>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Computer Center (IT)</a:t>
            </a:r>
            <a:endParaRPr lang="en-IN" sz="1088" dirty="0">
              <a:solidFill>
                <a:srgbClr val="313131"/>
              </a:solidFill>
            </a:endParaRPr>
          </a:p>
        </p:txBody>
      </p:sp>
      <p:sp>
        <p:nvSpPr>
          <p:cNvPr id="36" name="TextBox 35"/>
          <p:cNvSpPr txBox="1"/>
          <p:nvPr/>
        </p:nvSpPr>
        <p:spPr>
          <a:xfrm>
            <a:off x="6436458" y="2701186"/>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Commercial Operation</a:t>
            </a:r>
            <a:endParaRPr lang="en-IN" sz="1088" dirty="0">
              <a:solidFill>
                <a:srgbClr val="313131"/>
              </a:solidFill>
            </a:endParaRPr>
          </a:p>
        </p:txBody>
      </p:sp>
      <p:sp>
        <p:nvSpPr>
          <p:cNvPr id="37" name="TextBox 36"/>
          <p:cNvSpPr txBox="1"/>
          <p:nvPr/>
        </p:nvSpPr>
        <p:spPr>
          <a:xfrm>
            <a:off x="6436549" y="3131022"/>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Distribution Projects</a:t>
            </a:r>
            <a:endParaRPr lang="en-IN" sz="1088" dirty="0">
              <a:solidFill>
                <a:srgbClr val="313131"/>
              </a:solidFill>
            </a:endParaRPr>
          </a:p>
        </p:txBody>
      </p:sp>
      <p:sp>
        <p:nvSpPr>
          <p:cNvPr id="38" name="TextBox 37"/>
          <p:cNvSpPr txBox="1"/>
          <p:nvPr/>
        </p:nvSpPr>
        <p:spPr>
          <a:xfrm>
            <a:off x="6436640" y="3560858"/>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RAO/RAOs</a:t>
            </a:r>
            <a:endParaRPr lang="en-IN" sz="1088" dirty="0">
              <a:solidFill>
                <a:srgbClr val="313131"/>
              </a:solidFill>
            </a:endParaRPr>
          </a:p>
        </p:txBody>
      </p:sp>
      <p:sp>
        <p:nvSpPr>
          <p:cNvPr id="39" name="TextBox 38"/>
          <p:cNvSpPr txBox="1"/>
          <p:nvPr/>
        </p:nvSpPr>
        <p:spPr>
          <a:xfrm>
            <a:off x="6436731" y="3990694"/>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Power Dist. System Imp. </a:t>
            </a:r>
            <a:r>
              <a:rPr lang="en-US" sz="1088" dirty="0" err="1" smtClean="0">
                <a:solidFill>
                  <a:srgbClr val="313131"/>
                </a:solidFill>
              </a:rPr>
              <a:t>Proj</a:t>
            </a:r>
            <a:r>
              <a:rPr lang="en-US" sz="1088" dirty="0" smtClean="0">
                <a:solidFill>
                  <a:srgbClr val="313131"/>
                </a:solidFill>
              </a:rPr>
              <a:t>.</a:t>
            </a:r>
            <a:endParaRPr lang="en-IN" sz="1088" dirty="0">
              <a:solidFill>
                <a:srgbClr val="313131"/>
              </a:solidFill>
            </a:endParaRPr>
          </a:p>
        </p:txBody>
      </p:sp>
      <p:sp>
        <p:nvSpPr>
          <p:cNvPr id="40" name="TextBox 39"/>
          <p:cNvSpPr txBox="1"/>
          <p:nvPr/>
        </p:nvSpPr>
        <p:spPr>
          <a:xfrm>
            <a:off x="6436458" y="4420532"/>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Corporate, Commercial &amp; Regulatory</a:t>
            </a:r>
            <a:endParaRPr lang="en-IN" sz="1088" dirty="0">
              <a:solidFill>
                <a:srgbClr val="313131"/>
              </a:solidFill>
            </a:endParaRPr>
          </a:p>
        </p:txBody>
      </p:sp>
      <p:sp>
        <p:nvSpPr>
          <p:cNvPr id="41" name="TextBox 40"/>
          <p:cNvSpPr txBox="1"/>
          <p:nvPr/>
        </p:nvSpPr>
        <p:spPr>
          <a:xfrm>
            <a:off x="4436397" y="1863952"/>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Coal Power Generation</a:t>
            </a:r>
            <a:endParaRPr lang="en-IN" sz="1088" dirty="0">
              <a:solidFill>
                <a:srgbClr val="313131"/>
              </a:solidFill>
            </a:endParaRPr>
          </a:p>
        </p:txBody>
      </p:sp>
      <p:sp>
        <p:nvSpPr>
          <p:cNvPr id="42" name="TextBox 41"/>
          <p:cNvSpPr txBox="1"/>
          <p:nvPr/>
        </p:nvSpPr>
        <p:spPr>
          <a:xfrm>
            <a:off x="4439034" y="2289541"/>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SBU Coordination</a:t>
            </a:r>
            <a:endParaRPr lang="en-IN" sz="1088" dirty="0">
              <a:solidFill>
                <a:srgbClr val="313131"/>
              </a:solidFill>
            </a:endParaRPr>
          </a:p>
        </p:txBody>
      </p:sp>
      <p:sp>
        <p:nvSpPr>
          <p:cNvPr id="43" name="TextBox 42"/>
          <p:cNvSpPr txBox="1"/>
          <p:nvPr/>
        </p:nvSpPr>
        <p:spPr>
          <a:xfrm>
            <a:off x="4439911" y="2715130"/>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1300 MW Coal Power Project</a:t>
            </a:r>
            <a:endParaRPr lang="en-IN" sz="1088" dirty="0">
              <a:solidFill>
                <a:srgbClr val="313131"/>
              </a:solidFill>
            </a:endParaRPr>
          </a:p>
        </p:txBody>
      </p:sp>
      <p:sp>
        <p:nvSpPr>
          <p:cNvPr id="44" name="TextBox 43"/>
          <p:cNvSpPr txBox="1"/>
          <p:nvPr/>
        </p:nvSpPr>
        <p:spPr>
          <a:xfrm>
            <a:off x="4438155" y="314071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Private Generation</a:t>
            </a:r>
            <a:endParaRPr lang="en-IN" sz="1088" dirty="0">
              <a:solidFill>
                <a:srgbClr val="313131"/>
              </a:solidFill>
            </a:endParaRPr>
          </a:p>
        </p:txBody>
      </p:sp>
      <p:sp>
        <p:nvSpPr>
          <p:cNvPr id="45" name="TextBox 44"/>
          <p:cNvSpPr txBox="1"/>
          <p:nvPr/>
        </p:nvSpPr>
        <p:spPr>
          <a:xfrm>
            <a:off x="4437276" y="3566309"/>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IPP Cell 1,2,3</a:t>
            </a:r>
            <a:endParaRPr lang="en-IN" sz="1088" dirty="0">
              <a:solidFill>
                <a:srgbClr val="313131"/>
              </a:solidFill>
            </a:endParaRPr>
          </a:p>
        </p:txBody>
      </p:sp>
      <p:sp>
        <p:nvSpPr>
          <p:cNvPr id="50" name="Title 2"/>
          <p:cNvSpPr>
            <a:spLocks noGrp="1"/>
          </p:cNvSpPr>
          <p:nvPr>
            <p:ph type="title"/>
          </p:nvPr>
        </p:nvSpPr>
        <p:spPr>
          <a:xfrm>
            <a:off x="436511" y="274451"/>
            <a:ext cx="9785951" cy="368439"/>
          </a:xfrm>
        </p:spPr>
        <p:txBody>
          <a:bodyPr/>
          <a:lstStyle/>
          <a:p>
            <a:pPr algn="just"/>
            <a:r>
              <a:rPr lang="en-US" b="1" dirty="0" smtClean="0"/>
              <a:t>Proposed functions of the holding company (2/2)</a:t>
            </a:r>
            <a:endParaRPr lang="en-IN" b="1" dirty="0"/>
          </a:p>
        </p:txBody>
      </p:sp>
      <p:sp>
        <p:nvSpPr>
          <p:cNvPr id="52" name="TextBox 51"/>
          <p:cNvSpPr txBox="1"/>
          <p:nvPr/>
        </p:nvSpPr>
        <p:spPr>
          <a:xfrm>
            <a:off x="5103765" y="7061577"/>
            <a:ext cx="2412000" cy="432000"/>
          </a:xfrm>
          <a:prstGeom prst="rect">
            <a:avLst/>
          </a:prstGeom>
          <a:solidFill>
            <a:srgbClr val="F1FB6D"/>
          </a:solidFill>
          <a:ln>
            <a:solidFill>
              <a:schemeClr val="tx1"/>
            </a:solidFill>
          </a:ln>
        </p:spPr>
        <p:txBody>
          <a:bodyPr wrap="square" lIns="0" tIns="0" rIns="0" bIns="0" rtlCol="0" anchor="ctr">
            <a:noAutofit/>
          </a:bodyPr>
          <a:lstStyle/>
          <a:p>
            <a:pPr algn="ctr">
              <a:buSzPct val="100000"/>
            </a:pPr>
            <a:r>
              <a:rPr lang="en-US" sz="1100" dirty="0" smtClean="0">
                <a:solidFill>
                  <a:srgbClr val="313131"/>
                </a:solidFill>
              </a:rPr>
              <a:t>New Function Formation</a:t>
            </a:r>
            <a:endParaRPr lang="en-IN" sz="1100" dirty="0">
              <a:solidFill>
                <a:srgbClr val="313131"/>
              </a:solidFill>
            </a:endParaRPr>
          </a:p>
        </p:txBody>
      </p:sp>
      <p:sp>
        <p:nvSpPr>
          <p:cNvPr id="53" name="TextBox 52"/>
          <p:cNvSpPr txBox="1"/>
          <p:nvPr/>
        </p:nvSpPr>
        <p:spPr>
          <a:xfrm>
            <a:off x="7781788" y="7063704"/>
            <a:ext cx="2412000" cy="433223"/>
          </a:xfrm>
          <a:prstGeom prst="rect">
            <a:avLst/>
          </a:prstGeom>
          <a:solidFill>
            <a:srgbClr val="E0F0FA"/>
          </a:solidFill>
          <a:ln>
            <a:solidFill>
              <a:schemeClr val="tx1"/>
            </a:solidFill>
          </a:ln>
        </p:spPr>
        <p:txBody>
          <a:bodyPr wrap="square" lIns="0" tIns="0" rIns="0" bIns="0" rtlCol="0" anchor="ctr">
            <a:noAutofit/>
          </a:bodyPr>
          <a:lstStyle/>
          <a:p>
            <a:pPr algn="ctr">
              <a:buSzPct val="100000"/>
            </a:pPr>
            <a:r>
              <a:rPr lang="en-US" sz="1100" dirty="0" smtClean="0">
                <a:solidFill>
                  <a:srgbClr val="313131"/>
                </a:solidFill>
              </a:rPr>
              <a:t>Existing Functions / Re-strengthening Functions</a:t>
            </a:r>
            <a:endParaRPr lang="en-IN" sz="1100" dirty="0">
              <a:solidFill>
                <a:srgbClr val="313131"/>
              </a:solidFill>
            </a:endParaRPr>
          </a:p>
        </p:txBody>
      </p:sp>
      <p:sp>
        <p:nvSpPr>
          <p:cNvPr id="54" name="TextBox 53"/>
          <p:cNvSpPr txBox="1"/>
          <p:nvPr/>
        </p:nvSpPr>
        <p:spPr>
          <a:xfrm>
            <a:off x="8422462" y="1306482"/>
            <a:ext cx="1800000" cy="489600"/>
          </a:xfrm>
          <a:prstGeom prst="rect">
            <a:avLst/>
          </a:prstGeom>
          <a:solidFill>
            <a:srgbClr val="00B0F0"/>
          </a:solidFill>
          <a:ln>
            <a:solidFill>
              <a:schemeClr val="tx1"/>
            </a:solidFill>
          </a:ln>
        </p:spPr>
        <p:txBody>
          <a:bodyPr wrap="square" lIns="0" tIns="0" rIns="0" bIns="0" rtlCol="0" anchor="ctr">
            <a:noAutofit/>
          </a:bodyPr>
          <a:lstStyle/>
          <a:p>
            <a:pPr algn="ctr" defTabSz="945677">
              <a:buSzPct val="100000"/>
            </a:pPr>
            <a:r>
              <a:rPr lang="en-US" sz="1088" b="1" dirty="0" smtClean="0">
                <a:solidFill>
                  <a:prstClr val="white"/>
                </a:solidFill>
              </a:rPr>
              <a:t>Others</a:t>
            </a:r>
            <a:endParaRPr lang="en-IN" sz="1088" b="1" dirty="0">
              <a:solidFill>
                <a:prstClr val="white"/>
              </a:solidFill>
            </a:endParaRPr>
          </a:p>
        </p:txBody>
      </p:sp>
      <p:sp>
        <p:nvSpPr>
          <p:cNvPr id="55" name="TextBox 54"/>
          <p:cNvSpPr txBox="1"/>
          <p:nvPr/>
        </p:nvSpPr>
        <p:spPr>
          <a:xfrm>
            <a:off x="8422371" y="1862992"/>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Legal Affairs</a:t>
            </a:r>
            <a:endParaRPr lang="en-IN" sz="1088" dirty="0">
              <a:solidFill>
                <a:srgbClr val="313131"/>
              </a:solidFill>
            </a:endParaRPr>
          </a:p>
        </p:txBody>
      </p:sp>
      <p:sp>
        <p:nvSpPr>
          <p:cNvPr id="56" name="TextBox 55"/>
          <p:cNvSpPr txBox="1"/>
          <p:nvPr/>
        </p:nvSpPr>
        <p:spPr>
          <a:xfrm>
            <a:off x="8422462" y="2292828"/>
            <a:ext cx="1800000" cy="396000"/>
          </a:xfrm>
          <a:prstGeom prst="rect">
            <a:avLst/>
          </a:prstGeom>
          <a:solidFill>
            <a:srgbClr val="ECFBFE"/>
          </a:solidFill>
          <a:ln>
            <a:solidFill>
              <a:schemeClr val="tx1"/>
            </a:solidFill>
          </a:ln>
        </p:spPr>
        <p:txBody>
          <a:bodyPr wrap="square" lIns="0" tIns="0" rIns="0" bIns="0" rtlCol="0" anchor="ctr">
            <a:noAutofit/>
          </a:bodyPr>
          <a:lstStyle/>
          <a:p>
            <a:pPr algn="ctr" defTabSz="945677">
              <a:buSzPct val="100000"/>
            </a:pPr>
            <a:r>
              <a:rPr lang="en-US" sz="1088" dirty="0" smtClean="0">
                <a:solidFill>
                  <a:srgbClr val="313131"/>
                </a:solidFill>
              </a:rPr>
              <a:t>Corporate Comm. &amp; Public Relations</a:t>
            </a:r>
            <a:endParaRPr lang="en-IN" sz="1088" dirty="0">
              <a:solidFill>
                <a:srgbClr val="313131"/>
              </a:solidFill>
            </a:endParaRPr>
          </a:p>
        </p:txBody>
      </p:sp>
      <p:sp>
        <p:nvSpPr>
          <p:cNvPr id="57" name="TextBox 56"/>
          <p:cNvSpPr txBox="1"/>
          <p:nvPr/>
        </p:nvSpPr>
        <p:spPr>
          <a:xfrm>
            <a:off x="8421916" y="2722664"/>
            <a:ext cx="1800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a:t>Performance Monitoring, review &amp; MIS</a:t>
            </a:r>
            <a:endParaRPr lang="en-IN" dirty="0"/>
          </a:p>
        </p:txBody>
      </p:sp>
      <p:sp>
        <p:nvSpPr>
          <p:cNvPr id="58" name="TextBox 57"/>
          <p:cNvSpPr txBox="1"/>
          <p:nvPr/>
        </p:nvSpPr>
        <p:spPr>
          <a:xfrm>
            <a:off x="8422007" y="3152500"/>
            <a:ext cx="1800000" cy="396000"/>
          </a:xfrm>
          <a:prstGeom prst="rect">
            <a:avLst/>
          </a:prstGeom>
          <a:solidFill>
            <a:srgbClr val="F1FB6D"/>
          </a:solidFill>
          <a:ln>
            <a:solidFill>
              <a:schemeClr val="tx1"/>
            </a:solidFill>
          </a:ln>
        </p:spPr>
        <p:txBody>
          <a:bodyPr wrap="square" lIns="0" tIns="0" rIns="0" bIns="0" rtlCol="0" anchor="ctr">
            <a:noAutofit/>
          </a:bodyPr>
          <a:lstStyle>
            <a:defPPr>
              <a:defRPr lang="en-US"/>
            </a:defPPr>
            <a:lvl1pPr algn="ctr" defTabSz="945677">
              <a:buSzPct val="100000"/>
              <a:defRPr sz="1088">
                <a:solidFill>
                  <a:srgbClr val="313131"/>
                </a:solidFill>
              </a:defRPr>
            </a:lvl1pPr>
          </a:lstStyle>
          <a:p>
            <a:r>
              <a:rPr lang="en-US" dirty="0"/>
              <a:t>Company Secretarial Services</a:t>
            </a:r>
            <a:endParaRPr lang="en-IN" dirty="0"/>
          </a:p>
        </p:txBody>
      </p:sp>
      <p:sp>
        <p:nvSpPr>
          <p:cNvPr id="51" name="TextBox 50"/>
          <p:cNvSpPr txBox="1"/>
          <p:nvPr/>
        </p:nvSpPr>
        <p:spPr>
          <a:xfrm>
            <a:off x="436511" y="845166"/>
            <a:ext cx="9785951" cy="491808"/>
          </a:xfrm>
          <a:prstGeom prst="rect">
            <a:avLst/>
          </a:prstGeom>
          <a:solidFill>
            <a:srgbClr val="041E42"/>
          </a:solidFill>
          <a:ln>
            <a:solidFill>
              <a:schemeClr val="tx1"/>
            </a:solidFill>
          </a:ln>
        </p:spPr>
        <p:txBody>
          <a:bodyPr wrap="square" lIns="0" tIns="0" rIns="0" bIns="0" rtlCol="0" anchor="ctr">
            <a:noAutofit/>
          </a:bodyPr>
          <a:lstStyle/>
          <a:p>
            <a:pPr algn="ctr" defTabSz="945677">
              <a:buSzPct val="100000"/>
            </a:pPr>
            <a:r>
              <a:rPr lang="en-US" sz="1088" b="1" dirty="0">
                <a:solidFill>
                  <a:prstClr val="white"/>
                </a:solidFill>
              </a:rPr>
              <a:t>Functions of holding company</a:t>
            </a:r>
            <a:endParaRPr lang="en-IN" sz="1088" b="1" dirty="0">
              <a:solidFill>
                <a:prstClr val="white"/>
              </a:solidFill>
            </a:endParaRPr>
          </a:p>
        </p:txBody>
      </p:sp>
      <p:sp>
        <p:nvSpPr>
          <p:cNvPr id="59" name="Pentagon 58">
            <a:hlinkClick r:id="rId2" action="ppaction://hlinksldjump"/>
          </p:cNvPr>
          <p:cNvSpPr/>
          <p:nvPr/>
        </p:nvSpPr>
        <p:spPr bwMode="gray">
          <a:xfrm>
            <a:off x="10222462" y="666796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3100150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Proposed Touchpoints of Holding Company with Subsidiaries</a:t>
            </a:r>
            <a:endParaRPr lang="en-US" sz="5400" dirty="0">
              <a:solidFill>
                <a:prstClr val="white"/>
              </a:solidFill>
            </a:endParaRPr>
          </a:p>
        </p:txBody>
      </p:sp>
    </p:spTree>
    <p:extLst>
      <p:ext uri="{BB962C8B-B14F-4D97-AF65-F5344CB8AC3E}">
        <p14:creationId xmlns:p14="http://schemas.microsoft.com/office/powerpoint/2010/main" val="39763961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650123"/>
          </a:xfrm>
        </p:spPr>
        <p:txBody>
          <a:bodyPr/>
          <a:lstStyle/>
          <a:p>
            <a:pPr algn="just"/>
            <a:r>
              <a:rPr lang="en-US" b="1" dirty="0" smtClean="0"/>
              <a:t>Preliminary proposed touchpoints of Holding Company and Subsidiaries</a:t>
            </a:r>
            <a:endParaRPr lang="en-IN" b="1" dirty="0"/>
          </a:p>
        </p:txBody>
      </p:sp>
      <p:sp>
        <p:nvSpPr>
          <p:cNvPr id="6" name="TextBox 5"/>
          <p:cNvSpPr txBox="1"/>
          <p:nvPr/>
        </p:nvSpPr>
        <p:spPr>
          <a:xfrm>
            <a:off x="439792"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Planning &amp; </a:t>
            </a:r>
            <a:r>
              <a:rPr lang="en-US" sz="1200" b="1" dirty="0" smtClean="0">
                <a:solidFill>
                  <a:prstClr val="white"/>
                </a:solidFill>
              </a:rPr>
              <a:t>Project Management</a:t>
            </a:r>
            <a:endParaRPr lang="en-IN" sz="1200" b="1" dirty="0" smtClean="0">
              <a:solidFill>
                <a:prstClr val="white"/>
              </a:solidFill>
            </a:endParaRPr>
          </a:p>
        </p:txBody>
      </p:sp>
      <p:sp>
        <p:nvSpPr>
          <p:cNvPr id="7" name="TextBox 6"/>
          <p:cNvSpPr txBox="1"/>
          <p:nvPr/>
        </p:nvSpPr>
        <p:spPr>
          <a:xfrm>
            <a:off x="2499174"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Finance &amp; Accounts</a:t>
            </a:r>
            <a:endParaRPr lang="en-IN" sz="1200" b="1" dirty="0" smtClean="0">
              <a:solidFill>
                <a:prstClr val="white"/>
              </a:solidFill>
            </a:endParaRPr>
          </a:p>
        </p:txBody>
      </p:sp>
      <p:sp>
        <p:nvSpPr>
          <p:cNvPr id="8" name="TextBox 7"/>
          <p:cNvSpPr txBox="1"/>
          <p:nvPr/>
        </p:nvSpPr>
        <p:spPr>
          <a:xfrm>
            <a:off x="4558556"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Monitoring &amp; Accountability</a:t>
            </a:r>
            <a:endParaRPr lang="en-IN" sz="1200" b="1" dirty="0" smtClean="0">
              <a:solidFill>
                <a:prstClr val="white"/>
              </a:solidFill>
            </a:endParaRPr>
          </a:p>
        </p:txBody>
      </p:sp>
      <p:sp>
        <p:nvSpPr>
          <p:cNvPr id="9" name="TextBox 8"/>
          <p:cNvSpPr txBox="1"/>
          <p:nvPr/>
        </p:nvSpPr>
        <p:spPr>
          <a:xfrm>
            <a:off x="6617938"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Human Capital</a:t>
            </a:r>
            <a:endParaRPr lang="en-IN" sz="1200" b="1" dirty="0">
              <a:solidFill>
                <a:prstClr val="white"/>
              </a:solidFill>
            </a:endParaRPr>
          </a:p>
        </p:txBody>
      </p:sp>
      <p:sp>
        <p:nvSpPr>
          <p:cNvPr id="10" name="TextBox 9"/>
          <p:cNvSpPr txBox="1"/>
          <p:nvPr/>
        </p:nvSpPr>
        <p:spPr>
          <a:xfrm>
            <a:off x="8677320" y="1717451"/>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Other Specialized Areas</a:t>
            </a:r>
            <a:endParaRPr lang="en-IN" sz="1200" b="1" dirty="0" smtClean="0">
              <a:solidFill>
                <a:prstClr val="white"/>
              </a:solidFill>
            </a:endParaRPr>
          </a:p>
        </p:txBody>
      </p:sp>
      <p:sp>
        <p:nvSpPr>
          <p:cNvPr id="27" name="TextBox 26"/>
          <p:cNvSpPr txBox="1"/>
          <p:nvPr/>
        </p:nvSpPr>
        <p:spPr>
          <a:xfrm>
            <a:off x="443123" y="4196924"/>
            <a:ext cx="1800000" cy="720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r>
              <a:rPr lang="en-US" dirty="0"/>
              <a:t>RE </a:t>
            </a:r>
            <a:r>
              <a:rPr lang="en-US" dirty="0" err="1"/>
              <a:t>proj</a:t>
            </a:r>
            <a:r>
              <a:rPr lang="en-US" dirty="0"/>
              <a:t>. </a:t>
            </a:r>
            <a:r>
              <a:rPr lang="en-US" dirty="0" err="1"/>
              <a:t>coord</a:t>
            </a:r>
            <a:r>
              <a:rPr lang="en-US" dirty="0"/>
              <a:t>. &amp; monitoring</a:t>
            </a:r>
            <a:endParaRPr lang="en-IN" dirty="0"/>
          </a:p>
        </p:txBody>
      </p:sp>
      <p:sp>
        <p:nvSpPr>
          <p:cNvPr id="36" name="TextBox 35"/>
          <p:cNvSpPr txBox="1"/>
          <p:nvPr/>
        </p:nvSpPr>
        <p:spPr>
          <a:xfrm>
            <a:off x="439792" y="508245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BD </a:t>
            </a:r>
            <a:r>
              <a:rPr lang="en-US" sz="1200" dirty="0">
                <a:solidFill>
                  <a:srgbClr val="313131"/>
                </a:solidFill>
              </a:rPr>
              <a:t>&amp; </a:t>
            </a:r>
            <a:r>
              <a:rPr lang="en-US" sz="1200" dirty="0" smtClean="0">
                <a:solidFill>
                  <a:srgbClr val="313131"/>
                </a:solidFill>
              </a:rPr>
              <a:t>Liaising</a:t>
            </a:r>
            <a:endParaRPr lang="en-IN" sz="1200" dirty="0">
              <a:solidFill>
                <a:srgbClr val="313131"/>
              </a:solidFill>
            </a:endParaRPr>
          </a:p>
        </p:txBody>
      </p:sp>
      <p:sp>
        <p:nvSpPr>
          <p:cNvPr id="37" name="TextBox 36"/>
          <p:cNvSpPr txBox="1"/>
          <p:nvPr/>
        </p:nvSpPr>
        <p:spPr>
          <a:xfrm>
            <a:off x="439792" y="242586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r>
              <a:rPr lang="en-US" dirty="0"/>
              <a:t>Corporate planning, strategy</a:t>
            </a:r>
            <a:endParaRPr lang="en-IN" dirty="0"/>
          </a:p>
        </p:txBody>
      </p:sp>
      <p:sp>
        <p:nvSpPr>
          <p:cNvPr id="38" name="TextBox 37"/>
          <p:cNvSpPr txBox="1"/>
          <p:nvPr/>
        </p:nvSpPr>
        <p:spPr>
          <a:xfrm>
            <a:off x="4558556" y="242586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Risk </a:t>
            </a:r>
            <a:r>
              <a:rPr lang="en-US" sz="1200" dirty="0" smtClean="0">
                <a:solidFill>
                  <a:srgbClr val="313131"/>
                </a:solidFill>
              </a:rPr>
              <a:t>management</a:t>
            </a:r>
            <a:endParaRPr lang="en-IN" sz="1200" dirty="0">
              <a:solidFill>
                <a:srgbClr val="313131"/>
              </a:solidFill>
            </a:endParaRPr>
          </a:p>
        </p:txBody>
      </p:sp>
      <p:sp>
        <p:nvSpPr>
          <p:cNvPr id="39" name="TextBox 38"/>
          <p:cNvSpPr txBox="1"/>
          <p:nvPr/>
        </p:nvSpPr>
        <p:spPr>
          <a:xfrm>
            <a:off x="440902" y="331139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System Planning, </a:t>
            </a:r>
            <a:r>
              <a:rPr lang="en-US" sz="1200" dirty="0" smtClean="0">
                <a:solidFill>
                  <a:srgbClr val="313131"/>
                </a:solidFill>
              </a:rPr>
              <a:t>R&amp;D</a:t>
            </a:r>
            <a:endParaRPr lang="en-IN" sz="1200" dirty="0">
              <a:solidFill>
                <a:srgbClr val="313131"/>
              </a:solidFill>
            </a:endParaRPr>
          </a:p>
        </p:txBody>
      </p:sp>
      <p:sp>
        <p:nvSpPr>
          <p:cNvPr id="42" name="TextBox 41"/>
          <p:cNvSpPr txBox="1"/>
          <p:nvPr/>
        </p:nvSpPr>
        <p:spPr>
          <a:xfrm>
            <a:off x="2499174" y="2425960"/>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Finance (including Group Financing)</a:t>
            </a:r>
            <a:endParaRPr lang="en-IN" sz="1200" dirty="0" smtClean="0">
              <a:solidFill>
                <a:srgbClr val="313131"/>
              </a:solidFill>
            </a:endParaRPr>
          </a:p>
        </p:txBody>
      </p:sp>
      <p:sp>
        <p:nvSpPr>
          <p:cNvPr id="45" name="TextBox 44"/>
          <p:cNvSpPr txBox="1"/>
          <p:nvPr/>
        </p:nvSpPr>
        <p:spPr>
          <a:xfrm>
            <a:off x="2499174" y="3311442"/>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Group acc., consolidation, MIS Reporting</a:t>
            </a:r>
            <a:endParaRPr lang="en-IN" sz="1200" dirty="0" smtClean="0">
              <a:solidFill>
                <a:srgbClr val="313131"/>
              </a:solidFill>
            </a:endParaRPr>
          </a:p>
        </p:txBody>
      </p:sp>
      <p:sp>
        <p:nvSpPr>
          <p:cNvPr id="46" name="TextBox 45"/>
          <p:cNvSpPr txBox="1"/>
          <p:nvPr/>
        </p:nvSpPr>
        <p:spPr>
          <a:xfrm>
            <a:off x="2499174" y="419692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Strategic </a:t>
            </a:r>
            <a:r>
              <a:rPr lang="en-US" sz="1200" dirty="0">
                <a:solidFill>
                  <a:srgbClr val="313131"/>
                </a:solidFill>
              </a:rPr>
              <a:t>i</a:t>
            </a:r>
            <a:r>
              <a:rPr lang="en-US" sz="1200" dirty="0" smtClean="0">
                <a:solidFill>
                  <a:srgbClr val="313131"/>
                </a:solidFill>
              </a:rPr>
              <a:t>nvestment management &amp; investment planning</a:t>
            </a:r>
            <a:endParaRPr lang="en-IN" sz="1200" dirty="0" smtClean="0">
              <a:solidFill>
                <a:srgbClr val="313131"/>
              </a:solidFill>
            </a:endParaRPr>
          </a:p>
        </p:txBody>
      </p:sp>
      <p:sp>
        <p:nvSpPr>
          <p:cNvPr id="48" name="TextBox 47"/>
          <p:cNvSpPr txBox="1"/>
          <p:nvPr/>
        </p:nvSpPr>
        <p:spPr>
          <a:xfrm>
            <a:off x="6617938" y="242586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Manpower Planning</a:t>
            </a:r>
            <a:endParaRPr lang="en-IN" sz="1200" dirty="0">
              <a:solidFill>
                <a:srgbClr val="313131"/>
              </a:solidFill>
            </a:endParaRPr>
          </a:p>
        </p:txBody>
      </p:sp>
      <p:sp>
        <p:nvSpPr>
          <p:cNvPr id="53" name="TextBox 52"/>
          <p:cNvSpPr txBox="1"/>
          <p:nvPr/>
        </p:nvSpPr>
        <p:spPr>
          <a:xfrm>
            <a:off x="8677318" y="2411280"/>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Power plant O&amp;M services &amp; asset management</a:t>
            </a:r>
            <a:endParaRPr lang="en-IN" sz="1200" dirty="0">
              <a:solidFill>
                <a:srgbClr val="313131"/>
              </a:solidFill>
            </a:endParaRPr>
          </a:p>
        </p:txBody>
      </p:sp>
      <p:sp>
        <p:nvSpPr>
          <p:cNvPr id="54" name="TextBox 53"/>
          <p:cNvSpPr txBox="1"/>
          <p:nvPr/>
        </p:nvSpPr>
        <p:spPr>
          <a:xfrm>
            <a:off x="4555225" y="331139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Performance monitoring &amp; review, MIS</a:t>
            </a:r>
            <a:endParaRPr lang="en-IN" sz="1200" dirty="0" smtClean="0">
              <a:solidFill>
                <a:srgbClr val="313131"/>
              </a:solidFill>
            </a:endParaRPr>
          </a:p>
        </p:txBody>
      </p:sp>
      <p:sp>
        <p:nvSpPr>
          <p:cNvPr id="56" name="TextBox 55"/>
          <p:cNvSpPr txBox="1"/>
          <p:nvPr/>
        </p:nvSpPr>
        <p:spPr>
          <a:xfrm>
            <a:off x="439792" y="1167531"/>
            <a:ext cx="10037526" cy="372870"/>
          </a:xfrm>
          <a:prstGeom prst="rect">
            <a:avLst/>
          </a:prstGeom>
          <a:solidFill>
            <a:srgbClr val="041E42"/>
          </a:solidFill>
          <a:ln>
            <a:solidFill>
              <a:schemeClr val="tx1"/>
            </a:solidFill>
          </a:ln>
        </p:spPr>
        <p:txBody>
          <a:bodyPr wrap="square" lIns="0" tIns="0" rIns="0" bIns="0" rtlCol="0" anchor="ctr">
            <a:noAutofit/>
          </a:bodyPr>
          <a:lstStyle/>
          <a:p>
            <a:pPr algn="ctr">
              <a:buSzPct val="100000"/>
            </a:pPr>
            <a:r>
              <a:rPr lang="en-US" sz="1200" b="1" dirty="0" smtClean="0">
                <a:solidFill>
                  <a:prstClr val="white"/>
                </a:solidFill>
              </a:rPr>
              <a:t>Key Relationship Areas</a:t>
            </a:r>
            <a:endParaRPr lang="en-IN" sz="1200" b="1" dirty="0" smtClean="0">
              <a:solidFill>
                <a:prstClr val="white"/>
              </a:solidFill>
            </a:endParaRPr>
          </a:p>
        </p:txBody>
      </p:sp>
      <p:sp>
        <p:nvSpPr>
          <p:cNvPr id="60" name="TextBox 59"/>
          <p:cNvSpPr txBox="1"/>
          <p:nvPr/>
        </p:nvSpPr>
        <p:spPr>
          <a:xfrm>
            <a:off x="8065318" y="6542515"/>
            <a:ext cx="2412000" cy="432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New Function Formation</a:t>
            </a:r>
            <a:endParaRPr lang="en-IN" sz="1200" dirty="0">
              <a:solidFill>
                <a:srgbClr val="313131"/>
              </a:solidFill>
            </a:endParaRPr>
          </a:p>
        </p:txBody>
      </p:sp>
      <p:sp>
        <p:nvSpPr>
          <p:cNvPr id="61" name="TextBox 60"/>
          <p:cNvSpPr txBox="1"/>
          <p:nvPr/>
        </p:nvSpPr>
        <p:spPr>
          <a:xfrm>
            <a:off x="8062036" y="6049152"/>
            <a:ext cx="2412000" cy="433223"/>
          </a:xfrm>
          <a:prstGeom prst="rect">
            <a:avLst/>
          </a:prstGeom>
          <a:solidFill>
            <a:srgbClr val="E0F0FA"/>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Existing Functions / Re-strengthening Functions</a:t>
            </a:r>
            <a:endParaRPr lang="en-IN" sz="1200" dirty="0">
              <a:solidFill>
                <a:srgbClr val="313131"/>
              </a:solidFill>
            </a:endParaRPr>
          </a:p>
        </p:txBody>
      </p:sp>
      <p:sp>
        <p:nvSpPr>
          <p:cNvPr id="78" name="Pentagon 77">
            <a:hlinkClick r:id="rId2" action="ppaction://hlinksldjump"/>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8" name="TextBox 27"/>
          <p:cNvSpPr txBox="1"/>
          <p:nvPr/>
        </p:nvSpPr>
        <p:spPr>
          <a:xfrm>
            <a:off x="4555225" y="4196857"/>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Project Monitoring</a:t>
            </a:r>
            <a:endParaRPr lang="en-IN" sz="1200" dirty="0" smtClean="0">
              <a:solidFill>
                <a:srgbClr val="313131"/>
              </a:solidFill>
            </a:endParaRPr>
          </a:p>
        </p:txBody>
      </p:sp>
      <p:sp>
        <p:nvSpPr>
          <p:cNvPr id="2" name="TextBox 1"/>
          <p:cNvSpPr txBox="1"/>
          <p:nvPr/>
        </p:nvSpPr>
        <p:spPr>
          <a:xfrm>
            <a:off x="439792" y="6154043"/>
            <a:ext cx="7010319" cy="699404"/>
          </a:xfrm>
          <a:prstGeom prst="rect">
            <a:avLst/>
          </a:prstGeom>
          <a:solidFill>
            <a:schemeClr val="accent1">
              <a:lumMod val="20000"/>
              <a:lumOff val="80000"/>
            </a:schemeClr>
          </a:solidFill>
          <a:ln>
            <a:solidFill>
              <a:schemeClr val="tx1"/>
            </a:solidFill>
          </a:ln>
        </p:spPr>
        <p:txBody>
          <a:bodyPr wrap="square" lIns="72000" tIns="72000" rIns="72000" bIns="72000" rtlCol="0">
            <a:spAutoFit/>
          </a:bodyPr>
          <a:lstStyle/>
          <a:p>
            <a:pPr>
              <a:spcBef>
                <a:spcPts val="600"/>
              </a:spcBef>
              <a:buSzPct val="100000"/>
            </a:pPr>
            <a:r>
              <a:rPr lang="en-US" sz="1200" dirty="0" smtClean="0">
                <a:solidFill>
                  <a:srgbClr val="313131"/>
                </a:solidFill>
              </a:rPr>
              <a:t>Note: The above touchpoints would require Structured Service Level Agreements, Standard Operating Procedures and detailed Accountability Mechanism for effective communication and operations</a:t>
            </a:r>
          </a:p>
        </p:txBody>
      </p:sp>
      <p:sp>
        <p:nvSpPr>
          <p:cNvPr id="25" name="TextBox 24"/>
          <p:cNvSpPr txBox="1"/>
          <p:nvPr/>
        </p:nvSpPr>
        <p:spPr>
          <a:xfrm>
            <a:off x="6617938" y="331139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smtClean="0">
                <a:solidFill>
                  <a:srgbClr val="313131"/>
                </a:solidFill>
              </a:rPr>
              <a:t>Training &amp; Development</a:t>
            </a:r>
            <a:endParaRPr lang="en-IN" sz="1200" dirty="0">
              <a:solidFill>
                <a:srgbClr val="313131"/>
              </a:solidFill>
            </a:endParaRPr>
          </a:p>
        </p:txBody>
      </p:sp>
    </p:spTree>
    <p:extLst>
      <p:ext uri="{BB962C8B-B14F-4D97-AF65-F5344CB8AC3E}">
        <p14:creationId xmlns:p14="http://schemas.microsoft.com/office/powerpoint/2010/main" val="3718092270"/>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2"/>
          <p:cNvSpPr>
            <a:spLocks noGrp="1"/>
          </p:cNvSpPr>
          <p:nvPr>
            <p:ph type="title"/>
          </p:nvPr>
        </p:nvSpPr>
        <p:spPr>
          <a:xfrm>
            <a:off x="439793" y="350131"/>
            <a:ext cx="9785951" cy="650123"/>
          </a:xfrm>
        </p:spPr>
        <p:txBody>
          <a:bodyPr/>
          <a:lstStyle/>
          <a:p>
            <a:pPr algn="just"/>
            <a:r>
              <a:rPr lang="en-US" b="1" dirty="0" smtClean="0"/>
              <a:t>Proposed High Level Relationship for Planning &amp; Development</a:t>
            </a:r>
            <a:endParaRPr lang="en-IN" b="1" dirty="0"/>
          </a:p>
        </p:txBody>
      </p:sp>
      <p:sp>
        <p:nvSpPr>
          <p:cNvPr id="146" name="Rectangle 145"/>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smtClean="0">
                <a:solidFill>
                  <a:prstClr val="white"/>
                </a:solidFill>
              </a:rPr>
              <a:t>BPDB Holding Company</a:t>
            </a:r>
            <a:endParaRPr lang="en-IN" sz="1600" b="1" dirty="0" smtClean="0">
              <a:solidFill>
                <a:prstClr val="white"/>
              </a:solidFill>
            </a:endParaRPr>
          </a:p>
        </p:txBody>
      </p:sp>
      <p:sp>
        <p:nvSpPr>
          <p:cNvPr id="147" name="Rectangle 146"/>
          <p:cNvSpPr/>
          <p:nvPr/>
        </p:nvSpPr>
        <p:spPr bwMode="gray">
          <a:xfrm>
            <a:off x="573143" y="5772745"/>
            <a:ext cx="2971800"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Generation Companies</a:t>
            </a:r>
            <a:endParaRPr lang="en-IN" sz="1200" b="1" dirty="0" smtClean="0">
              <a:solidFill>
                <a:prstClr val="white"/>
              </a:solidFill>
            </a:endParaRPr>
          </a:p>
        </p:txBody>
      </p:sp>
      <p:sp>
        <p:nvSpPr>
          <p:cNvPr id="148" name="Rectangle 147"/>
          <p:cNvSpPr/>
          <p:nvPr/>
        </p:nvSpPr>
        <p:spPr bwMode="gray">
          <a:xfrm>
            <a:off x="3916418" y="5772745"/>
            <a:ext cx="29718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Distribution Companies</a:t>
            </a:r>
            <a:endParaRPr lang="en-IN" sz="1200" b="1" dirty="0" smtClean="0">
              <a:solidFill>
                <a:prstClr val="white"/>
              </a:solidFill>
            </a:endParaRPr>
          </a:p>
        </p:txBody>
      </p:sp>
      <p:sp>
        <p:nvSpPr>
          <p:cNvPr id="149" name="Rectangle 148"/>
          <p:cNvSpPr/>
          <p:nvPr/>
        </p:nvSpPr>
        <p:spPr bwMode="gray">
          <a:xfrm>
            <a:off x="7259693" y="5772745"/>
            <a:ext cx="29718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Transmission Company</a:t>
            </a:r>
            <a:endParaRPr lang="en-IN" sz="1200" b="1" dirty="0" smtClean="0">
              <a:solidFill>
                <a:prstClr val="white"/>
              </a:solidFill>
            </a:endParaRPr>
          </a:p>
        </p:txBody>
      </p:sp>
      <p:cxnSp>
        <p:nvCxnSpPr>
          <p:cNvPr id="150" name="Elbow Connector 149"/>
          <p:cNvCxnSpPr>
            <a:stCxn id="147" idx="1"/>
          </p:cNvCxnSpPr>
          <p:nvPr/>
        </p:nvCxnSpPr>
        <p:spPr>
          <a:xfrm rot="10800000" flipH="1">
            <a:off x="573142" y="3011984"/>
            <a:ext cx="3341077" cy="3088240"/>
          </a:xfrm>
          <a:prstGeom prst="bentConnector3">
            <a:avLst>
              <a:gd name="adj1" fmla="val -684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153" name="TextBox 81"/>
          <p:cNvSpPr txBox="1"/>
          <p:nvPr/>
        </p:nvSpPr>
        <p:spPr>
          <a:xfrm>
            <a:off x="451387" y="279970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GENCO Strategic Plan</a:t>
            </a:r>
            <a:endParaRPr lang="en-IN" sz="1100" b="1" dirty="0" smtClean="0">
              <a:solidFill>
                <a:srgbClr val="313131"/>
              </a:solidFill>
            </a:endParaRPr>
          </a:p>
        </p:txBody>
      </p:sp>
      <p:sp>
        <p:nvSpPr>
          <p:cNvPr id="154" name="Rectangle 153"/>
          <p:cNvSpPr/>
          <p:nvPr/>
        </p:nvSpPr>
        <p:spPr bwMode="gray">
          <a:xfrm>
            <a:off x="7023761" y="1182632"/>
            <a:ext cx="3420842" cy="1611375"/>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smtClean="0">
                <a:solidFill>
                  <a:prstClr val="black"/>
                </a:solidFill>
              </a:rPr>
              <a:t>Integration of all Strategic / Business /  Transmission Plans in line with PSMP</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Assess Overall Demand-Supply, Load Forecasts and Fuel Availability</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Conduct R&amp;D in RE integration, power system efficiency and overall cost optimization</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Assist subsidiaries in project execution as specialized service</a:t>
            </a:r>
            <a:endParaRPr lang="en-IN" sz="1050" dirty="0" smtClean="0">
              <a:solidFill>
                <a:prstClr val="black"/>
              </a:solidFill>
            </a:endParaRPr>
          </a:p>
        </p:txBody>
      </p:sp>
      <p:cxnSp>
        <p:nvCxnSpPr>
          <p:cNvPr id="155" name="Elbow Connector 154"/>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156" name="TextBox 84"/>
          <p:cNvSpPr txBox="1"/>
          <p:nvPr/>
        </p:nvSpPr>
        <p:spPr>
          <a:xfrm>
            <a:off x="2108486" y="3597537"/>
            <a:ext cx="220650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Approved Plan as per Integrated Master Plan</a:t>
            </a:r>
            <a:endParaRPr lang="en-IN" sz="1100" b="1" dirty="0" smtClean="0">
              <a:solidFill>
                <a:srgbClr val="313131"/>
              </a:solidFill>
            </a:endParaRPr>
          </a:p>
        </p:txBody>
      </p:sp>
      <p:sp>
        <p:nvSpPr>
          <p:cNvPr id="157" name="TextBox 87"/>
          <p:cNvSpPr txBox="1"/>
          <p:nvPr/>
        </p:nvSpPr>
        <p:spPr>
          <a:xfrm>
            <a:off x="5687470" y="4389241"/>
            <a:ext cx="2158131" cy="1323439"/>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Prepare and submit:</a:t>
            </a:r>
          </a:p>
          <a:p>
            <a:pPr marL="171450" indent="-171450">
              <a:spcBef>
                <a:spcPts val="600"/>
              </a:spcBef>
              <a:buSzPct val="100000"/>
              <a:buFont typeface="Arial" panose="020B0604020202020204" pitchFamily="34" charset="0"/>
              <a:buChar char="•"/>
            </a:pPr>
            <a:r>
              <a:rPr lang="en-US" sz="1100" b="1" dirty="0" smtClean="0">
                <a:solidFill>
                  <a:srgbClr val="313131"/>
                </a:solidFill>
              </a:rPr>
              <a:t>Annual Business Plan</a:t>
            </a:r>
          </a:p>
          <a:p>
            <a:pPr marL="171450" indent="-171450">
              <a:spcBef>
                <a:spcPts val="600"/>
              </a:spcBef>
              <a:buSzPct val="100000"/>
              <a:buFont typeface="Arial" panose="020B0604020202020204" pitchFamily="34" charset="0"/>
              <a:buChar char="•"/>
            </a:pPr>
            <a:r>
              <a:rPr lang="en-US" sz="1100" b="1" dirty="0" smtClean="0">
                <a:solidFill>
                  <a:srgbClr val="313131"/>
                </a:solidFill>
              </a:rPr>
              <a:t>Demand – Supply Forecasts</a:t>
            </a:r>
          </a:p>
          <a:p>
            <a:pPr marL="171450" indent="-171450">
              <a:spcBef>
                <a:spcPts val="600"/>
              </a:spcBef>
              <a:buSzPct val="100000"/>
              <a:buFont typeface="Arial" panose="020B0604020202020204" pitchFamily="34" charset="0"/>
              <a:buChar char="•"/>
            </a:pPr>
            <a:r>
              <a:rPr lang="en-US" sz="1100" b="1" dirty="0" smtClean="0">
                <a:solidFill>
                  <a:srgbClr val="313131"/>
                </a:solidFill>
              </a:rPr>
              <a:t>Load Curve Forecasts</a:t>
            </a:r>
          </a:p>
          <a:p>
            <a:pPr marL="171450" indent="-171450">
              <a:spcBef>
                <a:spcPts val="600"/>
              </a:spcBef>
              <a:buSzPct val="100000"/>
              <a:buFont typeface="Arial" panose="020B0604020202020204" pitchFamily="34" charset="0"/>
              <a:buChar char="•"/>
            </a:pPr>
            <a:r>
              <a:rPr lang="en-US" sz="1100" b="1" dirty="0" smtClean="0">
                <a:solidFill>
                  <a:srgbClr val="313131"/>
                </a:solidFill>
              </a:rPr>
              <a:t>Solar Project Plans</a:t>
            </a:r>
            <a:endParaRPr lang="en-IN" sz="1100" b="1" dirty="0" smtClean="0">
              <a:solidFill>
                <a:srgbClr val="313131"/>
              </a:solidFill>
            </a:endParaRPr>
          </a:p>
        </p:txBody>
      </p:sp>
      <p:sp>
        <p:nvSpPr>
          <p:cNvPr id="159" name="TextBox 90"/>
          <p:cNvSpPr txBox="1"/>
          <p:nvPr/>
        </p:nvSpPr>
        <p:spPr>
          <a:xfrm>
            <a:off x="451387" y="3058840"/>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RE Expansion Plan</a:t>
            </a:r>
            <a:endParaRPr lang="en-IN" sz="1100" b="1" dirty="0" smtClean="0">
              <a:solidFill>
                <a:srgbClr val="313131"/>
              </a:solidFill>
            </a:endParaRPr>
          </a:p>
        </p:txBody>
      </p:sp>
      <p:sp>
        <p:nvSpPr>
          <p:cNvPr id="160" name="TextBox 91"/>
          <p:cNvSpPr txBox="1"/>
          <p:nvPr/>
        </p:nvSpPr>
        <p:spPr>
          <a:xfrm>
            <a:off x="6952201" y="3075578"/>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Trans. Plan (incl. Sys Op. &amp; Forecast)</a:t>
            </a:r>
            <a:endParaRPr lang="en-IN" sz="1100" b="1" dirty="0" smtClean="0">
              <a:solidFill>
                <a:srgbClr val="313131"/>
              </a:solidFill>
            </a:endParaRPr>
          </a:p>
        </p:txBody>
      </p:sp>
      <p:cxnSp>
        <p:nvCxnSpPr>
          <p:cNvPr id="163" name="Straight Arrow Connector 162"/>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sp>
        <p:nvSpPr>
          <p:cNvPr id="164" name="TextBox 95"/>
          <p:cNvSpPr txBox="1"/>
          <p:nvPr/>
        </p:nvSpPr>
        <p:spPr>
          <a:xfrm>
            <a:off x="3544943" y="4754037"/>
            <a:ext cx="1765181"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Approved Distribution Plan as per Integrated Master Plan</a:t>
            </a:r>
            <a:endParaRPr lang="en-IN" sz="1100" b="1" dirty="0" smtClean="0">
              <a:solidFill>
                <a:srgbClr val="313131"/>
              </a:solidFill>
            </a:endParaRPr>
          </a:p>
        </p:txBody>
      </p:sp>
      <p:cxnSp>
        <p:nvCxnSpPr>
          <p:cNvPr id="165" name="Elbow Connector 164"/>
          <p:cNvCxnSpPr/>
          <p:nvPr/>
        </p:nvCxnSpPr>
        <p:spPr>
          <a:xfrm rot="16200000" flipH="1">
            <a:off x="677744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97"/>
          <p:cNvSpPr txBox="1"/>
          <p:nvPr/>
        </p:nvSpPr>
        <p:spPr>
          <a:xfrm>
            <a:off x="6957524" y="3597537"/>
            <a:ext cx="2502330"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prstClr val="black"/>
                </a:solidFill>
              </a:rPr>
              <a:t>Approved Transmission Plan as per Integrated Master Plan</a:t>
            </a:r>
            <a:endParaRPr lang="en-IN" sz="1100" b="1" dirty="0" smtClean="0">
              <a:solidFill>
                <a:prstClr val="black"/>
              </a:solidFill>
            </a:endParaRPr>
          </a:p>
        </p:txBody>
      </p:sp>
      <p:sp>
        <p:nvSpPr>
          <p:cNvPr id="169" name="TextBox 100"/>
          <p:cNvSpPr txBox="1"/>
          <p:nvPr/>
        </p:nvSpPr>
        <p:spPr>
          <a:xfrm>
            <a:off x="7259693" y="964634"/>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smtClean="0">
                <a:solidFill>
                  <a:srgbClr val="313131"/>
                </a:solidFill>
              </a:rPr>
              <a:t>Holding Company Responsibilities</a:t>
            </a:r>
            <a:endParaRPr lang="en-IN" sz="1050" b="1" dirty="0" smtClean="0">
              <a:solidFill>
                <a:srgbClr val="313131"/>
              </a:solidFill>
            </a:endParaRPr>
          </a:p>
        </p:txBody>
      </p:sp>
      <p:cxnSp>
        <p:nvCxnSpPr>
          <p:cNvPr id="170" name="Elbow Connector 169"/>
          <p:cNvCxnSpPr>
            <a:stCxn id="146"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1" name="Freeform 170"/>
          <p:cNvSpPr>
            <a:spLocks noChangeAspect="1" noEditPoints="1"/>
          </p:cNvSpPr>
          <p:nvPr/>
        </p:nvSpPr>
        <p:spPr bwMode="auto">
          <a:xfrm>
            <a:off x="4103381" y="5905154"/>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172" name="Freeform 171"/>
          <p:cNvSpPr>
            <a:spLocks noChangeAspect="1" noEditPoints="1"/>
          </p:cNvSpPr>
          <p:nvPr/>
        </p:nvSpPr>
        <p:spPr bwMode="auto">
          <a:xfrm>
            <a:off x="824631" y="5911433"/>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173" name="Freeform 172"/>
          <p:cNvSpPr>
            <a:spLocks noChangeAspect="1" noEditPoints="1"/>
          </p:cNvSpPr>
          <p:nvPr/>
        </p:nvSpPr>
        <p:spPr bwMode="auto">
          <a:xfrm>
            <a:off x="7523709" y="5907629"/>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203" name="Elbow Connector 202"/>
          <p:cNvCxnSpPr>
            <a:stCxn id="149" idx="3"/>
          </p:cNvCxnSpPr>
          <p:nvPr/>
        </p:nvCxnSpPr>
        <p:spPr>
          <a:xfrm flipH="1" flipV="1">
            <a:off x="6888218" y="3011985"/>
            <a:ext cx="3343275" cy="3088239"/>
          </a:xfrm>
          <a:prstGeom prst="bentConnector3">
            <a:avLst>
              <a:gd name="adj1" fmla="val -6838"/>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26" name="Pentagon 25">
            <a:hlinkClick r:id="rId3" action="ppaction://hlinksldjump"/>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80162984"/>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139"/>
          <p:cNvSpPr/>
          <p:nvPr/>
        </p:nvSpPr>
        <p:spPr bwMode="gray">
          <a:xfrm>
            <a:off x="1831833" y="6845676"/>
            <a:ext cx="7159767" cy="463385"/>
          </a:xfrm>
          <a:prstGeom prst="rect">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smtClean="0">
                <a:solidFill>
                  <a:prstClr val="white"/>
                </a:solidFill>
              </a:rPr>
              <a:t>BPDB Holding Company</a:t>
            </a:r>
            <a:endParaRPr lang="en-IN" sz="1600" b="1" dirty="0" smtClean="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Generation Companies</a:t>
            </a:r>
            <a:endParaRPr lang="en-IN" sz="1200" b="1" dirty="0" smtClean="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Distribution Companies</a:t>
            </a:r>
            <a:endParaRPr lang="en-IN" sz="1200" b="1" dirty="0" smtClean="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Transmission Company</a:t>
            </a:r>
            <a:endParaRPr lang="en-IN" sz="1200" b="1" dirty="0" smtClean="0">
              <a:solidFill>
                <a:prstClr val="white"/>
              </a:solidFill>
            </a:endParaRPr>
          </a:p>
        </p:txBody>
      </p:sp>
      <p:cxnSp>
        <p:nvCxnSpPr>
          <p:cNvPr id="45" name="Elbow Connector 44"/>
          <p:cNvCxnSpPr>
            <a:stCxn id="42" idx="1"/>
          </p:cNvCxnSpPr>
          <p:nvPr/>
        </p:nvCxnSpPr>
        <p:spPr>
          <a:xfrm rot="10800000" flipH="1">
            <a:off x="573143" y="2960398"/>
            <a:ext cx="3343272" cy="3139827"/>
          </a:xfrm>
          <a:prstGeom prst="bentConnector3">
            <a:avLst>
              <a:gd name="adj1" fmla="val -6838"/>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47" name="TextBox 81"/>
          <p:cNvSpPr txBox="1"/>
          <p:nvPr/>
        </p:nvSpPr>
        <p:spPr>
          <a:xfrm>
            <a:off x="439793"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MIS Reporting</a:t>
            </a:r>
            <a:endParaRPr lang="en-IN" sz="1100" b="1" dirty="0" smtClean="0">
              <a:solidFill>
                <a:srgbClr val="313131"/>
              </a:solidFill>
            </a:endParaRPr>
          </a:p>
        </p:txBody>
      </p:sp>
      <p:sp>
        <p:nvSpPr>
          <p:cNvPr id="48" name="Rectangle 47"/>
          <p:cNvSpPr/>
          <p:nvPr/>
        </p:nvSpPr>
        <p:spPr bwMode="gray">
          <a:xfrm>
            <a:off x="7030930" y="1069184"/>
            <a:ext cx="3420842" cy="1611375"/>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smtClean="0">
                <a:solidFill>
                  <a:prstClr val="black"/>
                </a:solidFill>
              </a:rPr>
              <a:t>Consolidation of Annual Accounts of all Subsidiaries as per Companies Act</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Integrate Financing/Budget Plans of all Subsidiaries</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Prepare Inter-Firm Financing Strategy</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Review Investment / Financing Options for Holding Company in each subsidiary, if required</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Explore Strategic Inv. Options Abroad</a:t>
            </a:r>
            <a:endParaRPr lang="en-IN" sz="1050" dirty="0" smtClean="0">
              <a:solidFill>
                <a:prstClr val="black"/>
              </a:solidFill>
            </a:endParaRPr>
          </a:p>
        </p:txBody>
      </p:sp>
      <p:cxnSp>
        <p:nvCxnSpPr>
          <p:cNvPr id="49" name="Elbow Connector 48"/>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TextBox 84"/>
          <p:cNvSpPr txBox="1"/>
          <p:nvPr/>
        </p:nvSpPr>
        <p:spPr>
          <a:xfrm>
            <a:off x="1387205"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Approved Financial/Budget Plan</a:t>
            </a:r>
            <a:endParaRPr lang="en-IN" sz="1100" b="1" dirty="0" smtClean="0">
              <a:solidFill>
                <a:srgbClr val="313131"/>
              </a:solidFill>
            </a:endParaRPr>
          </a:p>
        </p:txBody>
      </p:sp>
      <p:cxnSp>
        <p:nvCxnSpPr>
          <p:cNvPr id="55" name="Straight Arrow Connector 54"/>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cxnSp>
        <p:nvCxnSpPr>
          <p:cNvPr id="57" name="Elbow Connector 56"/>
          <p:cNvCxnSpPr/>
          <p:nvPr/>
        </p:nvCxnSpPr>
        <p:spPr>
          <a:xfrm rot="16200000" flipH="1">
            <a:off x="679649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smtClean="0">
                <a:solidFill>
                  <a:srgbClr val="313131"/>
                </a:solidFill>
              </a:rPr>
              <a:t>Holding Company Responsibilities</a:t>
            </a:r>
            <a:endParaRPr lang="en-IN" sz="1050" b="1" dirty="0" smtClean="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64" name="Elbow Connector 63"/>
          <p:cNvCxnSpPr>
            <a:stCxn id="44" idx="3"/>
          </p:cNvCxnSpPr>
          <p:nvPr/>
        </p:nvCxnSpPr>
        <p:spPr>
          <a:xfrm flipH="1" flipV="1">
            <a:off x="6888218" y="3011985"/>
            <a:ext cx="3224463" cy="3088239"/>
          </a:xfrm>
          <a:prstGeom prst="bentConnector3">
            <a:avLst>
              <a:gd name="adj1" fmla="val -7090"/>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89" name="Title 2"/>
          <p:cNvSpPr>
            <a:spLocks noGrp="1"/>
          </p:cNvSpPr>
          <p:nvPr>
            <p:ph type="title"/>
          </p:nvPr>
        </p:nvSpPr>
        <p:spPr>
          <a:xfrm>
            <a:off x="439793" y="350131"/>
            <a:ext cx="9785951" cy="650123"/>
          </a:xfrm>
        </p:spPr>
        <p:txBody>
          <a:bodyPr/>
          <a:lstStyle/>
          <a:p>
            <a:pPr algn="just"/>
            <a:r>
              <a:rPr lang="en-US" b="1" dirty="0" smtClean="0"/>
              <a:t>Proposed High Level Relationship for Financial Management</a:t>
            </a:r>
            <a:endParaRPr lang="en-IN" b="1" dirty="0"/>
          </a:p>
        </p:txBody>
      </p:sp>
      <p:sp>
        <p:nvSpPr>
          <p:cNvPr id="91" name="Round Diagonal Corner Rectangle 90"/>
          <p:cNvSpPr/>
          <p:nvPr/>
        </p:nvSpPr>
        <p:spPr bwMode="gray">
          <a:xfrm>
            <a:off x="343708" y="1287075"/>
            <a:ext cx="4681463" cy="740670"/>
          </a:xfrm>
          <a:prstGeom prst="round2Diag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200" b="1" dirty="0" smtClean="0">
                <a:solidFill>
                  <a:prstClr val="black"/>
                </a:solidFill>
              </a:rPr>
              <a:t>The Bangladesh Companies Act &amp; Accounting Standards suggest Consolidation of Holding Company and Subsidiary Annual Accounts</a:t>
            </a:r>
            <a:endParaRPr lang="en-IN" sz="1200" b="1" dirty="0" smtClean="0">
              <a:solidFill>
                <a:prstClr val="black"/>
              </a:solidFill>
            </a:endParaRPr>
          </a:p>
        </p:txBody>
      </p:sp>
      <p:sp>
        <p:nvSpPr>
          <p:cNvPr id="99" name="Curved Down Arrow 98"/>
          <p:cNvSpPr/>
          <p:nvPr/>
        </p:nvSpPr>
        <p:spPr bwMode="gray">
          <a:xfrm>
            <a:off x="2602219" y="5412858"/>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2" name="Curved Down Arrow 101"/>
          <p:cNvSpPr/>
          <p:nvPr/>
        </p:nvSpPr>
        <p:spPr bwMode="gray">
          <a:xfrm>
            <a:off x="6294179" y="5419500"/>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4" name="TextBox 81"/>
          <p:cNvSpPr txBox="1"/>
          <p:nvPr/>
        </p:nvSpPr>
        <p:spPr>
          <a:xfrm>
            <a:off x="439793" y="273504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Financial / Budget Plan; Annual Accounts</a:t>
            </a:r>
            <a:endParaRPr lang="en-IN" sz="1100" b="1" dirty="0" smtClean="0">
              <a:solidFill>
                <a:srgbClr val="313131"/>
              </a:solidFill>
            </a:endParaRPr>
          </a:p>
        </p:txBody>
      </p:sp>
      <p:sp>
        <p:nvSpPr>
          <p:cNvPr id="105" name="TextBox 84"/>
          <p:cNvSpPr txBox="1"/>
          <p:nvPr/>
        </p:nvSpPr>
        <p:spPr>
          <a:xfrm>
            <a:off x="1535319"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Assistance in Financing</a:t>
            </a:r>
            <a:endParaRPr lang="en-IN" sz="1100" b="1" dirty="0" smtClean="0">
              <a:solidFill>
                <a:srgbClr val="313131"/>
              </a:solidFill>
            </a:endParaRPr>
          </a:p>
        </p:txBody>
      </p:sp>
      <p:sp>
        <p:nvSpPr>
          <p:cNvPr id="107" name="Curved Down Arrow 106"/>
          <p:cNvSpPr/>
          <p:nvPr/>
        </p:nvSpPr>
        <p:spPr bwMode="gray">
          <a:xfrm flipH="1" flipV="1">
            <a:off x="2544064" y="6397568"/>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8" name="Curved Down Arrow 107"/>
          <p:cNvSpPr/>
          <p:nvPr/>
        </p:nvSpPr>
        <p:spPr bwMode="gray">
          <a:xfrm flipH="1" flipV="1">
            <a:off x="6260610" y="6377804"/>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9" name="TextBox 81"/>
          <p:cNvSpPr txBox="1"/>
          <p:nvPr/>
        </p:nvSpPr>
        <p:spPr>
          <a:xfrm>
            <a:off x="2789772" y="5780621"/>
            <a:ext cx="144927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Inter Firm Financing for </a:t>
            </a:r>
            <a:r>
              <a:rPr lang="en-US" sz="1100" b="1" dirty="0" err="1" smtClean="0">
                <a:solidFill>
                  <a:srgbClr val="313131"/>
                </a:solidFill>
              </a:rPr>
              <a:t>Genco</a:t>
            </a:r>
            <a:r>
              <a:rPr lang="en-US" sz="1100" b="1" dirty="0" smtClean="0">
                <a:solidFill>
                  <a:srgbClr val="313131"/>
                </a:solidFill>
              </a:rPr>
              <a:t>/</a:t>
            </a:r>
            <a:r>
              <a:rPr lang="en-US" sz="1100" b="1" dirty="0" err="1" smtClean="0">
                <a:solidFill>
                  <a:srgbClr val="313131"/>
                </a:solidFill>
              </a:rPr>
              <a:t>Discom</a:t>
            </a:r>
            <a:r>
              <a:rPr lang="en-US" sz="1100" b="1" dirty="0" smtClean="0">
                <a:solidFill>
                  <a:srgbClr val="313131"/>
                </a:solidFill>
              </a:rPr>
              <a:t>/Transco</a:t>
            </a:r>
            <a:endParaRPr lang="en-IN" sz="1100" b="1" dirty="0" smtClean="0">
              <a:solidFill>
                <a:srgbClr val="313131"/>
              </a:solidFill>
            </a:endParaRPr>
          </a:p>
        </p:txBody>
      </p:sp>
      <p:sp>
        <p:nvSpPr>
          <p:cNvPr id="110" name="TextBox 81"/>
          <p:cNvSpPr txBox="1"/>
          <p:nvPr/>
        </p:nvSpPr>
        <p:spPr>
          <a:xfrm>
            <a:off x="6619269" y="5742585"/>
            <a:ext cx="144927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Inter Firm Financing for </a:t>
            </a:r>
            <a:r>
              <a:rPr lang="en-US" sz="1100" b="1" dirty="0" err="1" smtClean="0">
                <a:solidFill>
                  <a:srgbClr val="313131"/>
                </a:solidFill>
              </a:rPr>
              <a:t>Genco</a:t>
            </a:r>
            <a:r>
              <a:rPr lang="en-US" sz="1100" b="1" dirty="0" smtClean="0">
                <a:solidFill>
                  <a:srgbClr val="313131"/>
                </a:solidFill>
              </a:rPr>
              <a:t>/</a:t>
            </a:r>
            <a:r>
              <a:rPr lang="en-US" sz="1100" b="1" dirty="0" err="1" smtClean="0">
                <a:solidFill>
                  <a:srgbClr val="313131"/>
                </a:solidFill>
              </a:rPr>
              <a:t>Discom</a:t>
            </a:r>
            <a:r>
              <a:rPr lang="en-US" sz="1100" b="1" dirty="0" smtClean="0">
                <a:solidFill>
                  <a:srgbClr val="313131"/>
                </a:solidFill>
              </a:rPr>
              <a:t>/Transco</a:t>
            </a:r>
            <a:endParaRPr lang="en-IN" sz="1100" b="1" dirty="0" smtClean="0">
              <a:solidFill>
                <a:srgbClr val="313131"/>
              </a:solidFill>
            </a:endParaRPr>
          </a:p>
        </p:txBody>
      </p:sp>
      <p:cxnSp>
        <p:nvCxnSpPr>
          <p:cNvPr id="112" name="Elbow Connector 111"/>
          <p:cNvCxnSpPr/>
          <p:nvPr/>
        </p:nvCxnSpPr>
        <p:spPr>
          <a:xfrm rot="5400000">
            <a:off x="2377214" y="3416716"/>
            <a:ext cx="2509405" cy="1757337"/>
          </a:xfrm>
          <a:prstGeom prst="bentConnector3">
            <a:avLst>
              <a:gd name="adj1" fmla="val 50000"/>
            </a:avLst>
          </a:prstGeom>
          <a:ln w="25400">
            <a:solidFill>
              <a:srgbClr val="6EBBE7"/>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p:nvPr/>
        </p:nvCxnSpPr>
        <p:spPr>
          <a:xfrm rot="16200000" flipH="1">
            <a:off x="5937213" y="3594209"/>
            <a:ext cx="2506385" cy="1399328"/>
          </a:xfrm>
          <a:prstGeom prst="bentConnector3">
            <a:avLst>
              <a:gd name="adj1" fmla="val 50000"/>
            </a:avLst>
          </a:prstGeom>
          <a:ln w="25400">
            <a:solidFill>
              <a:srgbClr val="6EBBE7"/>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81"/>
          <p:cNvSpPr txBox="1"/>
          <p:nvPr/>
        </p:nvSpPr>
        <p:spPr>
          <a:xfrm>
            <a:off x="5617546" y="4772555"/>
            <a:ext cx="2174691" cy="661720"/>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smtClean="0">
                <a:solidFill>
                  <a:srgbClr val="313131"/>
                </a:solidFill>
              </a:rPr>
              <a:t>Financial / Budget Plan</a:t>
            </a:r>
          </a:p>
          <a:p>
            <a:pPr marL="171450" indent="-171450">
              <a:spcBef>
                <a:spcPts val="600"/>
              </a:spcBef>
              <a:buSzPct val="100000"/>
              <a:buFont typeface="Arial" panose="020B0604020202020204" pitchFamily="34" charset="0"/>
              <a:buChar char="•"/>
            </a:pPr>
            <a:r>
              <a:rPr lang="en-US" sz="1100" b="1" dirty="0" smtClean="0">
                <a:solidFill>
                  <a:srgbClr val="313131"/>
                </a:solidFill>
              </a:rPr>
              <a:t>Annual Accounts</a:t>
            </a:r>
          </a:p>
          <a:p>
            <a:pPr marL="171450" indent="-171450">
              <a:spcBef>
                <a:spcPts val="600"/>
              </a:spcBef>
              <a:buSzPct val="100000"/>
              <a:buFont typeface="Arial" panose="020B0604020202020204" pitchFamily="34" charset="0"/>
              <a:buChar char="•"/>
            </a:pPr>
            <a:r>
              <a:rPr lang="en-US" sz="1100" b="1" dirty="0" smtClean="0">
                <a:solidFill>
                  <a:srgbClr val="313131"/>
                </a:solidFill>
              </a:rPr>
              <a:t>MIS Reporting </a:t>
            </a:r>
            <a:endParaRPr lang="en-IN" sz="1100" b="1" dirty="0" smtClean="0">
              <a:solidFill>
                <a:srgbClr val="313131"/>
              </a:solidFill>
            </a:endParaRPr>
          </a:p>
        </p:txBody>
      </p:sp>
      <p:sp>
        <p:nvSpPr>
          <p:cNvPr id="132" name="TextBox 81"/>
          <p:cNvSpPr txBox="1"/>
          <p:nvPr/>
        </p:nvSpPr>
        <p:spPr>
          <a:xfrm>
            <a:off x="3276560" y="4772555"/>
            <a:ext cx="2174691" cy="584775"/>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smtClean="0">
                <a:solidFill>
                  <a:srgbClr val="313131"/>
                </a:solidFill>
              </a:rPr>
              <a:t>Approved Financial / Budget Plan</a:t>
            </a:r>
          </a:p>
          <a:p>
            <a:pPr marL="171450" indent="-171450">
              <a:spcBef>
                <a:spcPts val="600"/>
              </a:spcBef>
              <a:buSzPct val="100000"/>
              <a:buFont typeface="Arial" panose="020B0604020202020204" pitchFamily="34" charset="0"/>
              <a:buChar char="•"/>
            </a:pPr>
            <a:r>
              <a:rPr lang="en-US" sz="1100" b="1" dirty="0" smtClean="0">
                <a:solidFill>
                  <a:srgbClr val="313131"/>
                </a:solidFill>
              </a:rPr>
              <a:t>Assistance in Financing</a:t>
            </a:r>
            <a:endParaRPr lang="en-IN" sz="1100" b="1" dirty="0" smtClean="0">
              <a:solidFill>
                <a:srgbClr val="313131"/>
              </a:solidFill>
            </a:endParaRPr>
          </a:p>
        </p:txBody>
      </p:sp>
      <p:sp>
        <p:nvSpPr>
          <p:cNvPr id="133" name="TextBox 81"/>
          <p:cNvSpPr txBox="1"/>
          <p:nvPr/>
        </p:nvSpPr>
        <p:spPr>
          <a:xfrm>
            <a:off x="7003040" y="2771210"/>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Financial / Budget Plan; Annual Accounts</a:t>
            </a:r>
            <a:endParaRPr lang="en-IN" sz="1100" b="1" dirty="0" smtClean="0">
              <a:solidFill>
                <a:srgbClr val="313131"/>
              </a:solidFill>
            </a:endParaRPr>
          </a:p>
        </p:txBody>
      </p:sp>
      <p:sp>
        <p:nvSpPr>
          <p:cNvPr id="134" name="TextBox 81"/>
          <p:cNvSpPr txBox="1"/>
          <p:nvPr/>
        </p:nvSpPr>
        <p:spPr>
          <a:xfrm>
            <a:off x="7028895"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MIS Reporting</a:t>
            </a:r>
            <a:endParaRPr lang="en-IN" sz="1100" b="1" dirty="0" smtClean="0">
              <a:solidFill>
                <a:srgbClr val="313131"/>
              </a:solidFill>
            </a:endParaRPr>
          </a:p>
        </p:txBody>
      </p:sp>
      <p:sp>
        <p:nvSpPr>
          <p:cNvPr id="135" name="TextBox 84"/>
          <p:cNvSpPr txBox="1"/>
          <p:nvPr/>
        </p:nvSpPr>
        <p:spPr>
          <a:xfrm>
            <a:off x="6924368"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Approved Financial/Budget Plan</a:t>
            </a:r>
            <a:endParaRPr lang="en-IN" sz="1100" b="1" dirty="0" smtClean="0">
              <a:solidFill>
                <a:srgbClr val="313131"/>
              </a:solidFill>
            </a:endParaRPr>
          </a:p>
        </p:txBody>
      </p:sp>
      <p:sp>
        <p:nvSpPr>
          <p:cNvPr id="136" name="TextBox 84"/>
          <p:cNvSpPr txBox="1"/>
          <p:nvPr/>
        </p:nvSpPr>
        <p:spPr>
          <a:xfrm>
            <a:off x="7359734" y="3998222"/>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Assistance in Financing</a:t>
            </a:r>
            <a:endParaRPr lang="en-IN" sz="1100" b="1" dirty="0" smtClean="0">
              <a:solidFill>
                <a:srgbClr val="313131"/>
              </a:solidFill>
            </a:endParaRPr>
          </a:p>
        </p:txBody>
      </p:sp>
      <p:sp>
        <p:nvSpPr>
          <p:cNvPr id="137" name="Rounded Rectangle 136"/>
          <p:cNvSpPr/>
          <p:nvPr/>
        </p:nvSpPr>
        <p:spPr bwMode="gray">
          <a:xfrm>
            <a:off x="2444611" y="6917754"/>
            <a:ext cx="2123143" cy="342900"/>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smtClean="0">
                <a:solidFill>
                  <a:prstClr val="white"/>
                </a:solidFill>
              </a:rPr>
              <a:t>Cross Border Trade</a:t>
            </a:r>
            <a:endParaRPr lang="en-IN" sz="1100" b="1" dirty="0" smtClean="0">
              <a:solidFill>
                <a:prstClr val="white"/>
              </a:solidFill>
            </a:endParaRPr>
          </a:p>
        </p:txBody>
      </p:sp>
      <p:sp>
        <p:nvSpPr>
          <p:cNvPr id="138" name="Rounded Rectangle 137"/>
          <p:cNvSpPr/>
          <p:nvPr/>
        </p:nvSpPr>
        <p:spPr bwMode="gray">
          <a:xfrm>
            <a:off x="6136571" y="6922437"/>
            <a:ext cx="2123143" cy="342900"/>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smtClean="0">
                <a:solidFill>
                  <a:prstClr val="white"/>
                </a:solidFill>
              </a:rPr>
              <a:t>Strategic Investments</a:t>
            </a:r>
            <a:endParaRPr lang="en-IN" sz="1100" b="1" dirty="0" smtClean="0">
              <a:solidFill>
                <a:prstClr val="white"/>
              </a:solidFill>
            </a:endParaRPr>
          </a:p>
        </p:txBody>
      </p:sp>
      <p:sp>
        <p:nvSpPr>
          <p:cNvPr id="141" name="Right Arrow 140"/>
          <p:cNvSpPr/>
          <p:nvPr/>
        </p:nvSpPr>
        <p:spPr bwMode="gray">
          <a:xfrm rot="3000000">
            <a:off x="1946273"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2" name="Right Arrow 141"/>
          <p:cNvSpPr/>
          <p:nvPr/>
        </p:nvSpPr>
        <p:spPr bwMode="gray">
          <a:xfrm rot="5400000">
            <a:off x="5310662"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3" name="Right Arrow 142"/>
          <p:cNvSpPr/>
          <p:nvPr/>
        </p:nvSpPr>
        <p:spPr bwMode="gray">
          <a:xfrm rot="8400000">
            <a:off x="8227120"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cxnSp>
        <p:nvCxnSpPr>
          <p:cNvPr id="145" name="Elbow Connector 144"/>
          <p:cNvCxnSpPr>
            <a:endCxn id="140" idx="1"/>
          </p:cNvCxnSpPr>
          <p:nvPr/>
        </p:nvCxnSpPr>
        <p:spPr>
          <a:xfrm rot="5400000">
            <a:off x="629434" y="3790383"/>
            <a:ext cx="4489385" cy="2084586"/>
          </a:xfrm>
          <a:prstGeom prst="bentConnector4">
            <a:avLst>
              <a:gd name="adj1" fmla="val -105"/>
              <a:gd name="adj2" fmla="val 180419"/>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Pentagon 50">
            <a:hlinkClick r:id="rId3" action="ppaction://hlinksldjump"/>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358289065"/>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smtClean="0">
                <a:solidFill>
                  <a:prstClr val="white"/>
                </a:solidFill>
              </a:rPr>
              <a:t>BPDB Holding Company</a:t>
            </a:r>
            <a:endParaRPr lang="en-IN" sz="1600" b="1" dirty="0" smtClean="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Generation Companies</a:t>
            </a:r>
            <a:endParaRPr lang="en-IN" sz="1200" b="1" dirty="0" smtClean="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Distribution Companies</a:t>
            </a:r>
            <a:endParaRPr lang="en-IN" sz="1200" b="1" dirty="0" smtClean="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Transmission Company</a:t>
            </a:r>
            <a:endParaRPr lang="en-IN" sz="1200" b="1" dirty="0" smtClean="0">
              <a:solidFill>
                <a:prstClr val="white"/>
              </a:solidFill>
            </a:endParaRPr>
          </a:p>
        </p:txBody>
      </p:sp>
      <p:cxnSp>
        <p:nvCxnSpPr>
          <p:cNvPr id="45" name="Elbow Connector 44"/>
          <p:cNvCxnSpPr>
            <a:stCxn id="42" idx="1"/>
          </p:cNvCxnSpPr>
          <p:nvPr/>
        </p:nvCxnSpPr>
        <p:spPr>
          <a:xfrm rot="10800000" flipH="1">
            <a:off x="573143" y="2960398"/>
            <a:ext cx="3343272" cy="3139827"/>
          </a:xfrm>
          <a:prstGeom prst="bentConnector3">
            <a:avLst>
              <a:gd name="adj1" fmla="val -6838"/>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47" name="TextBox 81"/>
          <p:cNvSpPr txBox="1"/>
          <p:nvPr/>
        </p:nvSpPr>
        <p:spPr>
          <a:xfrm>
            <a:off x="439793"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Submit Business Review Report</a:t>
            </a:r>
            <a:endParaRPr lang="en-IN" sz="1100" b="1" dirty="0" smtClean="0">
              <a:solidFill>
                <a:srgbClr val="313131"/>
              </a:solidFill>
            </a:endParaRPr>
          </a:p>
        </p:txBody>
      </p:sp>
      <p:sp>
        <p:nvSpPr>
          <p:cNvPr id="48" name="Rectangle 47"/>
          <p:cNvSpPr/>
          <p:nvPr/>
        </p:nvSpPr>
        <p:spPr bwMode="gray">
          <a:xfrm>
            <a:off x="7030930" y="1069184"/>
            <a:ext cx="3420842" cy="1285879"/>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smtClean="0">
                <a:solidFill>
                  <a:prstClr val="black"/>
                </a:solidFill>
              </a:rPr>
              <a:t>Prepare Risk Management Policies, SOPs and Manuals</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Assist in conducting risk assessments</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Monitor &amp; Review Performance of subsidiaries and assist in improvement</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Project Monitoring &amp; Assistance</a:t>
            </a:r>
            <a:endParaRPr lang="en-IN" sz="1050" dirty="0" smtClean="0">
              <a:solidFill>
                <a:prstClr val="black"/>
              </a:solidFill>
            </a:endParaRPr>
          </a:p>
        </p:txBody>
      </p:sp>
      <p:cxnSp>
        <p:nvCxnSpPr>
          <p:cNvPr id="49" name="Elbow Connector 48"/>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TextBox 84"/>
          <p:cNvSpPr txBox="1"/>
          <p:nvPr/>
        </p:nvSpPr>
        <p:spPr>
          <a:xfrm>
            <a:off x="1442691"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Risk Management Policies, SOPs</a:t>
            </a:r>
            <a:endParaRPr lang="en-IN" sz="1100" b="1" dirty="0" smtClean="0">
              <a:solidFill>
                <a:srgbClr val="313131"/>
              </a:solidFill>
            </a:endParaRPr>
          </a:p>
        </p:txBody>
      </p:sp>
      <p:cxnSp>
        <p:nvCxnSpPr>
          <p:cNvPr id="55" name="Straight Arrow Connector 54"/>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cxnSp>
        <p:nvCxnSpPr>
          <p:cNvPr id="57" name="Elbow Connector 56"/>
          <p:cNvCxnSpPr/>
          <p:nvPr/>
        </p:nvCxnSpPr>
        <p:spPr>
          <a:xfrm rot="16200000" flipH="1">
            <a:off x="679649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smtClean="0">
                <a:solidFill>
                  <a:srgbClr val="313131"/>
                </a:solidFill>
              </a:rPr>
              <a:t>Holding Company Responsibilities</a:t>
            </a:r>
            <a:endParaRPr lang="en-IN" sz="1050" b="1" dirty="0" smtClean="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64" name="Elbow Connector 63"/>
          <p:cNvCxnSpPr>
            <a:stCxn id="44" idx="3"/>
          </p:cNvCxnSpPr>
          <p:nvPr/>
        </p:nvCxnSpPr>
        <p:spPr>
          <a:xfrm flipH="1" flipV="1">
            <a:off x="6888218" y="3011985"/>
            <a:ext cx="3224463" cy="3088239"/>
          </a:xfrm>
          <a:prstGeom prst="bentConnector3">
            <a:avLst>
              <a:gd name="adj1" fmla="val -7090"/>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89" name="Title 2"/>
          <p:cNvSpPr>
            <a:spLocks noGrp="1"/>
          </p:cNvSpPr>
          <p:nvPr>
            <p:ph type="title"/>
          </p:nvPr>
        </p:nvSpPr>
        <p:spPr>
          <a:xfrm>
            <a:off x="439793" y="350131"/>
            <a:ext cx="9785951" cy="650123"/>
          </a:xfrm>
        </p:spPr>
        <p:txBody>
          <a:bodyPr/>
          <a:lstStyle/>
          <a:p>
            <a:pPr algn="just"/>
            <a:r>
              <a:rPr lang="en-US" b="1" dirty="0" smtClean="0"/>
              <a:t>Proposed High Level Relationship for Monitoring &amp; Accountability</a:t>
            </a:r>
            <a:endParaRPr lang="en-IN" b="1" dirty="0"/>
          </a:p>
        </p:txBody>
      </p:sp>
      <p:sp>
        <p:nvSpPr>
          <p:cNvPr id="104" name="TextBox 81"/>
          <p:cNvSpPr txBox="1"/>
          <p:nvPr/>
        </p:nvSpPr>
        <p:spPr>
          <a:xfrm>
            <a:off x="458843" y="273504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MIS Reporting</a:t>
            </a:r>
            <a:r>
              <a:rPr lang="en-IN" sz="1100" b="1" dirty="0" smtClean="0">
                <a:solidFill>
                  <a:srgbClr val="313131"/>
                </a:solidFill>
              </a:rPr>
              <a:t>; </a:t>
            </a:r>
            <a:r>
              <a:rPr lang="en-US" sz="1100" b="1" dirty="0" smtClean="0">
                <a:solidFill>
                  <a:srgbClr val="313131"/>
                </a:solidFill>
              </a:rPr>
              <a:t>Risk Management Plan </a:t>
            </a:r>
            <a:endParaRPr lang="en-IN" sz="1100" b="1" dirty="0" smtClean="0">
              <a:solidFill>
                <a:srgbClr val="313131"/>
              </a:solidFill>
            </a:endParaRPr>
          </a:p>
        </p:txBody>
      </p:sp>
      <p:sp>
        <p:nvSpPr>
          <p:cNvPr id="105" name="TextBox 84"/>
          <p:cNvSpPr txBox="1"/>
          <p:nvPr/>
        </p:nvSpPr>
        <p:spPr>
          <a:xfrm>
            <a:off x="1535319"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Assistance in Risk Mitigation</a:t>
            </a:r>
            <a:endParaRPr lang="en-IN" sz="1100" b="1" dirty="0" smtClean="0">
              <a:solidFill>
                <a:srgbClr val="313131"/>
              </a:solidFill>
            </a:endParaRPr>
          </a:p>
        </p:txBody>
      </p:sp>
      <p:sp>
        <p:nvSpPr>
          <p:cNvPr id="120" name="TextBox 81"/>
          <p:cNvSpPr txBox="1"/>
          <p:nvPr/>
        </p:nvSpPr>
        <p:spPr>
          <a:xfrm>
            <a:off x="5749834" y="4763798"/>
            <a:ext cx="3264907" cy="907941"/>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smtClean="0">
                <a:solidFill>
                  <a:srgbClr val="313131"/>
                </a:solidFill>
              </a:rPr>
              <a:t>Performance Reporting as per SOP</a:t>
            </a:r>
          </a:p>
          <a:p>
            <a:pPr marL="171450" indent="-171450">
              <a:spcBef>
                <a:spcPts val="600"/>
              </a:spcBef>
              <a:buSzPct val="100000"/>
              <a:buFont typeface="Arial" panose="020B0604020202020204" pitchFamily="34" charset="0"/>
              <a:buChar char="•"/>
            </a:pPr>
            <a:r>
              <a:rPr lang="en-US" sz="1100" b="1" dirty="0" smtClean="0">
                <a:solidFill>
                  <a:srgbClr val="313131"/>
                </a:solidFill>
              </a:rPr>
              <a:t>MIS Reporting</a:t>
            </a:r>
          </a:p>
          <a:p>
            <a:pPr marL="171450" indent="-171450">
              <a:spcBef>
                <a:spcPts val="600"/>
              </a:spcBef>
              <a:buSzPct val="100000"/>
              <a:buFont typeface="Arial" panose="020B0604020202020204" pitchFamily="34" charset="0"/>
              <a:buChar char="•"/>
            </a:pPr>
            <a:r>
              <a:rPr lang="en-US" sz="1100" b="1" dirty="0" smtClean="0">
                <a:solidFill>
                  <a:srgbClr val="313131"/>
                </a:solidFill>
              </a:rPr>
              <a:t>Risk Management Plan</a:t>
            </a:r>
          </a:p>
          <a:p>
            <a:pPr marL="171450" indent="-171450">
              <a:spcBef>
                <a:spcPts val="600"/>
              </a:spcBef>
              <a:buSzPct val="100000"/>
              <a:buFont typeface="Arial" panose="020B0604020202020204" pitchFamily="34" charset="0"/>
              <a:buChar char="•"/>
            </a:pPr>
            <a:r>
              <a:rPr lang="en-US" sz="1100" b="1" dirty="0" smtClean="0">
                <a:solidFill>
                  <a:srgbClr val="313131"/>
                </a:solidFill>
              </a:rPr>
              <a:t>Submit Business Review Report</a:t>
            </a:r>
            <a:endParaRPr lang="en-IN" sz="1100" b="1" dirty="0" smtClean="0">
              <a:solidFill>
                <a:srgbClr val="313131"/>
              </a:solidFill>
            </a:endParaRPr>
          </a:p>
        </p:txBody>
      </p:sp>
      <p:sp>
        <p:nvSpPr>
          <p:cNvPr id="132" name="TextBox 81"/>
          <p:cNvSpPr txBox="1"/>
          <p:nvPr/>
        </p:nvSpPr>
        <p:spPr>
          <a:xfrm>
            <a:off x="2551271" y="4870416"/>
            <a:ext cx="2829239" cy="83099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smtClean="0">
                <a:solidFill>
                  <a:srgbClr val="313131"/>
                </a:solidFill>
              </a:rPr>
              <a:t>Risk Management Policies, SOPs</a:t>
            </a:r>
          </a:p>
          <a:p>
            <a:pPr marL="171450" indent="-171450">
              <a:spcBef>
                <a:spcPts val="600"/>
              </a:spcBef>
              <a:buSzPct val="100000"/>
              <a:buFont typeface="Arial" panose="020B0604020202020204" pitchFamily="34" charset="0"/>
              <a:buChar char="•"/>
            </a:pPr>
            <a:r>
              <a:rPr lang="en-US" sz="1100" b="1" dirty="0" smtClean="0">
                <a:solidFill>
                  <a:srgbClr val="313131"/>
                </a:solidFill>
              </a:rPr>
              <a:t>Assistance in Risk Mitigation</a:t>
            </a:r>
          </a:p>
          <a:p>
            <a:pPr marL="171450" indent="-171450">
              <a:spcBef>
                <a:spcPts val="600"/>
              </a:spcBef>
              <a:buSzPct val="100000"/>
              <a:buFont typeface="Arial" panose="020B0604020202020204" pitchFamily="34" charset="0"/>
              <a:buChar char="•"/>
            </a:pPr>
            <a:r>
              <a:rPr lang="en-US" sz="1100" b="1" dirty="0" smtClean="0">
                <a:solidFill>
                  <a:srgbClr val="313131"/>
                </a:solidFill>
              </a:rPr>
              <a:t>Performance Monitoring &amp; improvement</a:t>
            </a:r>
            <a:endParaRPr lang="en-IN" sz="1100" b="1" dirty="0" smtClean="0">
              <a:solidFill>
                <a:srgbClr val="313131"/>
              </a:solidFill>
            </a:endParaRPr>
          </a:p>
        </p:txBody>
      </p:sp>
      <p:sp>
        <p:nvSpPr>
          <p:cNvPr id="137" name="Rounded Rectangle 136"/>
          <p:cNvSpPr/>
          <p:nvPr/>
        </p:nvSpPr>
        <p:spPr bwMode="gray">
          <a:xfrm>
            <a:off x="1789895" y="6858056"/>
            <a:ext cx="7224846" cy="358497"/>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smtClean="0">
                <a:solidFill>
                  <a:prstClr val="white"/>
                </a:solidFill>
              </a:rPr>
              <a:t>Holding Company Project Monitoring Unit</a:t>
            </a:r>
            <a:endParaRPr lang="en-IN" sz="1100" b="1" dirty="0" smtClean="0">
              <a:solidFill>
                <a:prstClr val="white"/>
              </a:solidFill>
            </a:endParaRPr>
          </a:p>
        </p:txBody>
      </p:sp>
      <p:sp>
        <p:nvSpPr>
          <p:cNvPr id="141" name="Right Arrow 140"/>
          <p:cNvSpPr/>
          <p:nvPr/>
        </p:nvSpPr>
        <p:spPr bwMode="gray">
          <a:xfrm rot="3000000">
            <a:off x="1946273"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2" name="Right Arrow 141"/>
          <p:cNvSpPr/>
          <p:nvPr/>
        </p:nvSpPr>
        <p:spPr bwMode="gray">
          <a:xfrm rot="5400000">
            <a:off x="5310662"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3" name="Right Arrow 142"/>
          <p:cNvSpPr/>
          <p:nvPr/>
        </p:nvSpPr>
        <p:spPr bwMode="gray">
          <a:xfrm rot="8400000">
            <a:off x="8227120"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2" name="TextBox 81"/>
          <p:cNvSpPr txBox="1"/>
          <p:nvPr/>
        </p:nvSpPr>
        <p:spPr>
          <a:xfrm>
            <a:off x="7032654" y="305908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Submit Business Review Report</a:t>
            </a:r>
            <a:endParaRPr lang="en-IN" sz="1100" b="1" dirty="0" smtClean="0">
              <a:solidFill>
                <a:srgbClr val="313131"/>
              </a:solidFill>
            </a:endParaRPr>
          </a:p>
        </p:txBody>
      </p:sp>
      <p:sp>
        <p:nvSpPr>
          <p:cNvPr id="53" name="TextBox 84"/>
          <p:cNvSpPr txBox="1"/>
          <p:nvPr/>
        </p:nvSpPr>
        <p:spPr>
          <a:xfrm>
            <a:off x="6986103" y="3748776"/>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Risk Management Policies, SOPs</a:t>
            </a:r>
            <a:endParaRPr lang="en-IN" sz="1100" b="1" dirty="0" smtClean="0">
              <a:solidFill>
                <a:srgbClr val="313131"/>
              </a:solidFill>
            </a:endParaRPr>
          </a:p>
        </p:txBody>
      </p:sp>
      <p:sp>
        <p:nvSpPr>
          <p:cNvPr id="54" name="TextBox 84"/>
          <p:cNvSpPr txBox="1"/>
          <p:nvPr/>
        </p:nvSpPr>
        <p:spPr>
          <a:xfrm>
            <a:off x="7028771"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Assistance in Risk Mitigation</a:t>
            </a:r>
            <a:endParaRPr lang="en-IN" sz="1100" b="1" dirty="0" smtClean="0">
              <a:solidFill>
                <a:srgbClr val="313131"/>
              </a:solidFill>
            </a:endParaRPr>
          </a:p>
        </p:txBody>
      </p:sp>
      <p:grpSp>
        <p:nvGrpSpPr>
          <p:cNvPr id="24" name="Group 23"/>
          <p:cNvGrpSpPr/>
          <p:nvPr/>
        </p:nvGrpSpPr>
        <p:grpSpPr>
          <a:xfrm>
            <a:off x="152400" y="2680559"/>
            <a:ext cx="3764015" cy="3600479"/>
            <a:chOff x="152400" y="2680559"/>
            <a:chExt cx="3764015" cy="3600479"/>
          </a:xfrm>
        </p:grpSpPr>
        <p:cxnSp>
          <p:nvCxnSpPr>
            <p:cNvPr id="13" name="Straight Connector 12"/>
            <p:cNvCxnSpPr/>
            <p:nvPr/>
          </p:nvCxnSpPr>
          <p:spPr>
            <a:xfrm flipH="1">
              <a:off x="152400" y="6281038"/>
              <a:ext cx="42074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52400" y="2680559"/>
              <a:ext cx="0" cy="360047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52400" y="2680559"/>
              <a:ext cx="376401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sp>
        <p:nvSpPr>
          <p:cNvPr id="72" name="TextBox 81"/>
          <p:cNvSpPr txBox="1"/>
          <p:nvPr/>
        </p:nvSpPr>
        <p:spPr>
          <a:xfrm>
            <a:off x="489268" y="2449255"/>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Performance Reporting as per SOP</a:t>
            </a:r>
            <a:endParaRPr lang="en-IN" sz="1100" b="1" dirty="0" smtClean="0">
              <a:solidFill>
                <a:srgbClr val="313131"/>
              </a:solidFill>
            </a:endParaRPr>
          </a:p>
        </p:txBody>
      </p:sp>
      <p:cxnSp>
        <p:nvCxnSpPr>
          <p:cNvPr id="73" name="Elbow Connector 72"/>
          <p:cNvCxnSpPr/>
          <p:nvPr/>
        </p:nvCxnSpPr>
        <p:spPr>
          <a:xfrm rot="5400000">
            <a:off x="1614511" y="3049522"/>
            <a:ext cx="2752646" cy="2674119"/>
          </a:xfrm>
          <a:prstGeom prst="bentConnector3">
            <a:avLst>
              <a:gd name="adj1" fmla="val 47232"/>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TextBox 84"/>
          <p:cNvSpPr txBox="1"/>
          <p:nvPr/>
        </p:nvSpPr>
        <p:spPr>
          <a:xfrm>
            <a:off x="1821596" y="4379806"/>
            <a:ext cx="262475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Monitor Performance &amp; Assist in improvement</a:t>
            </a:r>
            <a:endParaRPr lang="en-IN" sz="1100" b="1" dirty="0" smtClean="0">
              <a:solidFill>
                <a:srgbClr val="313131"/>
              </a:solidFill>
            </a:endParaRPr>
          </a:p>
        </p:txBody>
      </p:sp>
      <p:grpSp>
        <p:nvGrpSpPr>
          <p:cNvPr id="76" name="Group 75"/>
          <p:cNvGrpSpPr/>
          <p:nvPr/>
        </p:nvGrpSpPr>
        <p:grpSpPr>
          <a:xfrm flipH="1">
            <a:off x="6885073" y="2748843"/>
            <a:ext cx="3620319" cy="3600479"/>
            <a:chOff x="152400" y="2680559"/>
            <a:chExt cx="3764015" cy="3600479"/>
          </a:xfrm>
        </p:grpSpPr>
        <p:cxnSp>
          <p:nvCxnSpPr>
            <p:cNvPr id="77" name="Straight Connector 76"/>
            <p:cNvCxnSpPr/>
            <p:nvPr/>
          </p:nvCxnSpPr>
          <p:spPr>
            <a:xfrm flipH="1">
              <a:off x="152400" y="6281038"/>
              <a:ext cx="420742" cy="0"/>
            </a:xfrm>
            <a:prstGeom prst="line">
              <a:avLst/>
            </a:prstGeom>
            <a:ln w="25400"/>
          </p:spPr>
          <p:style>
            <a:lnRef idx="1">
              <a:schemeClr val="accent3"/>
            </a:lnRef>
            <a:fillRef idx="0">
              <a:schemeClr val="accent3"/>
            </a:fillRef>
            <a:effectRef idx="0">
              <a:schemeClr val="accent3"/>
            </a:effectRef>
            <a:fontRef idx="minor">
              <a:schemeClr val="tx1"/>
            </a:fontRef>
          </p:style>
        </p:cxnSp>
        <p:cxnSp>
          <p:nvCxnSpPr>
            <p:cNvPr id="78" name="Straight Connector 77"/>
            <p:cNvCxnSpPr/>
            <p:nvPr/>
          </p:nvCxnSpPr>
          <p:spPr>
            <a:xfrm flipV="1">
              <a:off x="152400" y="2680559"/>
              <a:ext cx="0" cy="3600479"/>
            </a:xfrm>
            <a:prstGeom prst="line">
              <a:avLst/>
            </a:prstGeom>
            <a:ln w="25400"/>
          </p:spPr>
          <p:style>
            <a:lnRef idx="1">
              <a:schemeClr val="accent3"/>
            </a:lnRef>
            <a:fillRef idx="0">
              <a:schemeClr val="accent3"/>
            </a:fillRef>
            <a:effectRef idx="0">
              <a:schemeClr val="accent3"/>
            </a:effectRef>
            <a:fontRef idx="minor">
              <a:schemeClr val="tx1"/>
            </a:fontRef>
          </p:style>
        </p:cxnSp>
        <p:cxnSp>
          <p:nvCxnSpPr>
            <p:cNvPr id="79" name="Straight Arrow Connector 78"/>
            <p:cNvCxnSpPr/>
            <p:nvPr/>
          </p:nvCxnSpPr>
          <p:spPr>
            <a:xfrm>
              <a:off x="152400" y="2680559"/>
              <a:ext cx="3764015" cy="0"/>
            </a:xfrm>
            <a:prstGeom prst="straightConnector1">
              <a:avLst/>
            </a:prstGeom>
            <a:ln w="25400">
              <a:tailEnd type="triangle"/>
            </a:ln>
          </p:spPr>
          <p:style>
            <a:lnRef idx="1">
              <a:schemeClr val="accent3"/>
            </a:lnRef>
            <a:fillRef idx="0">
              <a:schemeClr val="accent3"/>
            </a:fillRef>
            <a:effectRef idx="0">
              <a:schemeClr val="accent3"/>
            </a:effectRef>
            <a:fontRef idx="minor">
              <a:schemeClr val="tx1"/>
            </a:fontRef>
          </p:style>
        </p:cxnSp>
      </p:grpSp>
      <p:sp>
        <p:nvSpPr>
          <p:cNvPr id="86" name="TextBox 81"/>
          <p:cNvSpPr txBox="1"/>
          <p:nvPr/>
        </p:nvSpPr>
        <p:spPr>
          <a:xfrm>
            <a:off x="7008111" y="2486148"/>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Performance Reporting as per SOP</a:t>
            </a:r>
            <a:endParaRPr lang="en-IN" sz="1100" b="1" dirty="0" smtClean="0">
              <a:solidFill>
                <a:srgbClr val="313131"/>
              </a:solidFill>
            </a:endParaRPr>
          </a:p>
        </p:txBody>
      </p:sp>
      <p:sp>
        <p:nvSpPr>
          <p:cNvPr id="56" name="Pentagon 55">
            <a:hlinkClick r:id="rId3" action="ppaction://hlinksldjump"/>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8" name="TextBox 81"/>
          <p:cNvSpPr txBox="1"/>
          <p:nvPr/>
        </p:nvSpPr>
        <p:spPr>
          <a:xfrm>
            <a:off x="7027786" y="2766846"/>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MIS Reporting</a:t>
            </a:r>
            <a:r>
              <a:rPr lang="en-IN" sz="1100" b="1" dirty="0" smtClean="0">
                <a:solidFill>
                  <a:srgbClr val="313131"/>
                </a:solidFill>
              </a:rPr>
              <a:t>; </a:t>
            </a:r>
            <a:r>
              <a:rPr lang="en-US" sz="1100" b="1" dirty="0" smtClean="0">
                <a:solidFill>
                  <a:srgbClr val="313131"/>
                </a:solidFill>
              </a:rPr>
              <a:t>Risk Management Plan </a:t>
            </a:r>
            <a:endParaRPr lang="en-IN" sz="1100" b="1" dirty="0" smtClean="0">
              <a:solidFill>
                <a:srgbClr val="313131"/>
              </a:solidFill>
            </a:endParaRPr>
          </a:p>
        </p:txBody>
      </p:sp>
      <p:cxnSp>
        <p:nvCxnSpPr>
          <p:cNvPr id="51" name="Elbow Connector 50"/>
          <p:cNvCxnSpPr/>
          <p:nvPr/>
        </p:nvCxnSpPr>
        <p:spPr>
          <a:xfrm rot="16200000" flipH="1">
            <a:off x="6490101" y="3061264"/>
            <a:ext cx="2725643" cy="2617731"/>
          </a:xfrm>
          <a:prstGeom prst="bentConnector3">
            <a:avLst>
              <a:gd name="adj1" fmla="val 46605"/>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TextBox 84"/>
          <p:cNvSpPr txBox="1"/>
          <p:nvPr/>
        </p:nvSpPr>
        <p:spPr>
          <a:xfrm>
            <a:off x="6544057" y="4336776"/>
            <a:ext cx="262475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Monitor Performance &amp; Assist in improvement</a:t>
            </a:r>
            <a:endParaRPr lang="en-IN" sz="1100" b="1" dirty="0" smtClean="0">
              <a:solidFill>
                <a:srgbClr val="313131"/>
              </a:solidFill>
            </a:endParaRPr>
          </a:p>
        </p:txBody>
      </p:sp>
    </p:spTree>
    <p:extLst>
      <p:ext uri="{BB962C8B-B14F-4D97-AF65-F5344CB8AC3E}">
        <p14:creationId xmlns:p14="http://schemas.microsoft.com/office/powerpoint/2010/main" val="3382605191"/>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smtClean="0">
                <a:solidFill>
                  <a:prstClr val="white"/>
                </a:solidFill>
              </a:rPr>
              <a:t>BPDB Holding Company</a:t>
            </a:r>
            <a:endParaRPr lang="en-IN" sz="1600" b="1" dirty="0" smtClean="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Generation Companies</a:t>
            </a:r>
            <a:endParaRPr lang="en-IN" sz="1200" b="1" dirty="0" smtClean="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Distribution Companies</a:t>
            </a:r>
            <a:endParaRPr lang="en-IN" sz="1200" b="1" dirty="0" smtClean="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smtClean="0">
                <a:solidFill>
                  <a:prstClr val="white"/>
                </a:solidFill>
              </a:rPr>
              <a:t>Transmission Company</a:t>
            </a:r>
            <a:endParaRPr lang="en-IN" sz="1200" b="1" dirty="0" smtClean="0">
              <a:solidFill>
                <a:prstClr val="white"/>
              </a:solidFill>
            </a:endParaRPr>
          </a:p>
        </p:txBody>
      </p:sp>
      <p:sp>
        <p:nvSpPr>
          <p:cNvPr id="48" name="Rectangle 47"/>
          <p:cNvSpPr/>
          <p:nvPr/>
        </p:nvSpPr>
        <p:spPr bwMode="gray">
          <a:xfrm>
            <a:off x="7030930" y="1069184"/>
            <a:ext cx="3420842" cy="1285879"/>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smtClean="0">
                <a:solidFill>
                  <a:prstClr val="black"/>
                </a:solidFill>
              </a:rPr>
              <a:t>Integrate all Strategic HR Plans</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Jointly undertake Training &amp; Skill Development Activities with subsidiaries</a:t>
            </a:r>
          </a:p>
          <a:p>
            <a:pPr marL="108000" indent="-108000">
              <a:lnSpc>
                <a:spcPct val="106000"/>
              </a:lnSpc>
              <a:spcBef>
                <a:spcPts val="400"/>
              </a:spcBef>
              <a:buFont typeface="Arial" panose="020B0604020202020204" pitchFamily="34" charset="0"/>
              <a:buChar char="•"/>
            </a:pPr>
            <a:r>
              <a:rPr lang="en-US" sz="1050" dirty="0" smtClean="0">
                <a:solidFill>
                  <a:prstClr val="black"/>
                </a:solidFill>
              </a:rPr>
              <a:t>Provide Specialized O&amp;M Services for Power Generation Utilities</a:t>
            </a:r>
            <a:endParaRPr lang="en-IN" sz="1050" dirty="0" smtClean="0">
              <a:solidFill>
                <a:prstClr val="black"/>
              </a:solidFill>
            </a:endParaRPr>
          </a:p>
        </p:txBody>
      </p: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smtClean="0">
                <a:solidFill>
                  <a:srgbClr val="313131"/>
                </a:solidFill>
              </a:rPr>
              <a:t>Holding Company Responsibilities</a:t>
            </a:r>
            <a:endParaRPr lang="en-IN" sz="1050" b="1" dirty="0" smtClean="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89" name="Title 2"/>
          <p:cNvSpPr>
            <a:spLocks noGrp="1"/>
          </p:cNvSpPr>
          <p:nvPr>
            <p:ph type="title"/>
          </p:nvPr>
        </p:nvSpPr>
        <p:spPr>
          <a:xfrm>
            <a:off x="439793" y="350131"/>
            <a:ext cx="9785951" cy="650123"/>
          </a:xfrm>
        </p:spPr>
        <p:txBody>
          <a:bodyPr/>
          <a:lstStyle/>
          <a:p>
            <a:pPr algn="just"/>
            <a:r>
              <a:rPr lang="en-US" b="1" dirty="0" smtClean="0"/>
              <a:t>Proposed High Level Relationship for HR &amp; other Specialized Areas</a:t>
            </a:r>
            <a:endParaRPr lang="en-IN" b="1" dirty="0"/>
          </a:p>
        </p:txBody>
      </p:sp>
      <p:cxnSp>
        <p:nvCxnSpPr>
          <p:cNvPr id="6" name="Elbow Connector 5"/>
          <p:cNvCxnSpPr>
            <a:stCxn id="41" idx="1"/>
            <a:endCxn id="29" idx="0"/>
          </p:cNvCxnSpPr>
          <p:nvPr/>
        </p:nvCxnSpPr>
        <p:spPr>
          <a:xfrm rot="10800000" flipV="1">
            <a:off x="2277090" y="2724744"/>
            <a:ext cx="1639329" cy="505333"/>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42" idx="1"/>
            <a:endCxn id="29" idx="1"/>
          </p:cNvCxnSpPr>
          <p:nvPr/>
        </p:nvCxnSpPr>
        <p:spPr>
          <a:xfrm rot="10800000" flipH="1">
            <a:off x="573142" y="3482078"/>
            <a:ext cx="545697" cy="2618146"/>
          </a:xfrm>
          <a:prstGeom prst="bentConnector3">
            <a:avLst>
              <a:gd name="adj1" fmla="val -4189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gray">
          <a:xfrm>
            <a:off x="1118840" y="3230078"/>
            <a:ext cx="2316497" cy="504000"/>
          </a:xfrm>
          <a:prstGeom prst="rect">
            <a:avLst/>
          </a:prstGeom>
          <a:solidFill>
            <a:schemeClr val="accent3">
              <a:lumMod val="20000"/>
              <a:lumOff val="80000"/>
            </a:schemeClr>
          </a:solidFill>
          <a:ln w="19050" algn="ctr">
            <a:solidFill>
              <a:schemeClr val="tx1"/>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400" b="1" dirty="0" smtClean="0">
                <a:solidFill>
                  <a:prstClr val="black"/>
                </a:solidFill>
              </a:rPr>
              <a:t>Specialized O&amp;M Services</a:t>
            </a:r>
            <a:endParaRPr lang="en-IN" sz="1400" b="1" dirty="0" smtClean="0">
              <a:solidFill>
                <a:prstClr val="black"/>
              </a:solidFill>
            </a:endParaRPr>
          </a:p>
        </p:txBody>
      </p:sp>
      <p:sp>
        <p:nvSpPr>
          <p:cNvPr id="34" name="Rectangle 33"/>
          <p:cNvSpPr/>
          <p:nvPr/>
        </p:nvSpPr>
        <p:spPr bwMode="gray">
          <a:xfrm>
            <a:off x="4879600" y="3212694"/>
            <a:ext cx="4714105" cy="504000"/>
          </a:xfrm>
          <a:prstGeom prst="rect">
            <a:avLst/>
          </a:prstGeom>
          <a:solidFill>
            <a:schemeClr val="accent3">
              <a:lumMod val="20000"/>
              <a:lumOff val="80000"/>
            </a:schemeClr>
          </a:solidFill>
          <a:ln w="19050" algn="ctr">
            <a:solidFill>
              <a:schemeClr val="tx1"/>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400" b="1" dirty="0" smtClean="0">
                <a:solidFill>
                  <a:prstClr val="black"/>
                </a:solidFill>
              </a:rPr>
              <a:t>Centralized HR Management &amp; Capacity Development</a:t>
            </a:r>
            <a:endParaRPr lang="en-IN" sz="1400" b="1" dirty="0" smtClean="0">
              <a:solidFill>
                <a:prstClr val="black"/>
              </a:solidFill>
            </a:endParaRPr>
          </a:p>
        </p:txBody>
      </p:sp>
      <p:cxnSp>
        <p:nvCxnSpPr>
          <p:cNvPr id="26" name="Elbow Connector 25"/>
          <p:cNvCxnSpPr>
            <a:stCxn id="43" idx="0"/>
            <a:endCxn id="34" idx="2"/>
          </p:cNvCxnSpPr>
          <p:nvPr/>
        </p:nvCxnSpPr>
        <p:spPr>
          <a:xfrm rot="5400000" flipH="1" flipV="1">
            <a:off x="5238333" y="3774425"/>
            <a:ext cx="2056051" cy="1940590"/>
          </a:xfrm>
          <a:prstGeom prst="bentConnector3">
            <a:avLst>
              <a:gd name="adj1" fmla="val 4660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41" idx="3"/>
            <a:endCxn id="34" idx="0"/>
          </p:cNvCxnSpPr>
          <p:nvPr/>
        </p:nvCxnSpPr>
        <p:spPr>
          <a:xfrm>
            <a:off x="6888218" y="2724745"/>
            <a:ext cx="348435" cy="487949"/>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81"/>
          <p:cNvSpPr txBox="1"/>
          <p:nvPr/>
        </p:nvSpPr>
        <p:spPr>
          <a:xfrm>
            <a:off x="7341072" y="2804494"/>
            <a:ext cx="3111528"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Approve Strategic Plans &amp; Training &amp; Skill Development Plans</a:t>
            </a:r>
          </a:p>
        </p:txBody>
      </p:sp>
      <p:sp>
        <p:nvSpPr>
          <p:cNvPr id="95" name="TextBox 81"/>
          <p:cNvSpPr txBox="1"/>
          <p:nvPr/>
        </p:nvSpPr>
        <p:spPr>
          <a:xfrm>
            <a:off x="1348097" y="2320851"/>
            <a:ext cx="2566286"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Monitor Plant Performance and assess optimization opportunity</a:t>
            </a:r>
          </a:p>
        </p:txBody>
      </p:sp>
      <p:sp>
        <p:nvSpPr>
          <p:cNvPr id="96" name="TextBox 81"/>
          <p:cNvSpPr txBox="1"/>
          <p:nvPr/>
        </p:nvSpPr>
        <p:spPr>
          <a:xfrm>
            <a:off x="483898" y="5047340"/>
            <a:ext cx="223314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smtClean="0">
                <a:solidFill>
                  <a:srgbClr val="313131"/>
                </a:solidFill>
              </a:rPr>
              <a:t>Structured SLA for Specialized O&amp;M Services for Plant Performance Monitoring &amp; Optimization</a:t>
            </a:r>
          </a:p>
        </p:txBody>
      </p:sp>
      <p:sp>
        <p:nvSpPr>
          <p:cNvPr id="100" name="Pentagon 99">
            <a:hlinkClick r:id="rId3" action="ppaction://hlinksldjump"/>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cxnSp>
        <p:nvCxnSpPr>
          <p:cNvPr id="105" name="Straight Connector 104"/>
          <p:cNvCxnSpPr>
            <a:stCxn id="42" idx="3"/>
          </p:cNvCxnSpPr>
          <p:nvPr/>
        </p:nvCxnSpPr>
        <p:spPr>
          <a:xfrm flipV="1">
            <a:off x="2627794" y="6097222"/>
            <a:ext cx="807543" cy="3002"/>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V="1">
            <a:off x="3435337" y="4796852"/>
            <a:ext cx="0" cy="13003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3435337" y="4811843"/>
            <a:ext cx="3801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Elbow Connector 114"/>
          <p:cNvCxnSpPr>
            <a:stCxn id="44" idx="3"/>
          </p:cNvCxnSpPr>
          <p:nvPr/>
        </p:nvCxnSpPr>
        <p:spPr>
          <a:xfrm flipH="1" flipV="1">
            <a:off x="7236653" y="4811843"/>
            <a:ext cx="2876028" cy="1288381"/>
          </a:xfrm>
          <a:prstGeom prst="bentConnector3">
            <a:avLst>
              <a:gd name="adj1" fmla="val -7948"/>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81"/>
          <p:cNvSpPr txBox="1"/>
          <p:nvPr/>
        </p:nvSpPr>
        <p:spPr>
          <a:xfrm>
            <a:off x="5671816" y="3992341"/>
            <a:ext cx="3190091" cy="584775"/>
          </a:xfrm>
          <a:prstGeom prst="rect">
            <a:avLst/>
          </a:prstGeom>
          <a:solidFill>
            <a:schemeClr val="bg1"/>
          </a:solidFill>
          <a:ln>
            <a:solidFill>
              <a:schemeClr val="tx1"/>
            </a:solidFill>
          </a:ln>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100" b="1" dirty="0" smtClean="0">
                <a:solidFill>
                  <a:srgbClr val="313131"/>
                </a:solidFill>
              </a:rPr>
              <a:t>Prepare Strategic HR Plans </a:t>
            </a:r>
            <a:endParaRPr lang="en-US" sz="1100" b="1" dirty="0">
              <a:solidFill>
                <a:srgbClr val="313131"/>
              </a:solidFill>
            </a:endParaRPr>
          </a:p>
          <a:p>
            <a:pPr algn="ctr">
              <a:spcBef>
                <a:spcPts val="600"/>
              </a:spcBef>
              <a:buSzPct val="100000"/>
            </a:pPr>
            <a:r>
              <a:rPr lang="en-US" sz="1100" b="1" dirty="0" smtClean="0">
                <a:solidFill>
                  <a:srgbClr val="313131"/>
                </a:solidFill>
              </a:rPr>
              <a:t>Conduct Training &amp; Skill Development Plan</a:t>
            </a:r>
          </a:p>
        </p:txBody>
      </p:sp>
    </p:spTree>
    <p:extLst>
      <p:ext uri="{BB962C8B-B14F-4D97-AF65-F5344CB8AC3E}">
        <p14:creationId xmlns:p14="http://schemas.microsoft.com/office/powerpoint/2010/main" val="30274832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Key drivers for sustainability of Holding Company</a:t>
            </a:r>
            <a:endParaRPr lang="en-US" sz="5400" dirty="0">
              <a:solidFill>
                <a:prstClr val="white"/>
              </a:solidFill>
            </a:endParaRPr>
          </a:p>
        </p:txBody>
      </p:sp>
    </p:spTree>
    <p:extLst>
      <p:ext uri="{BB962C8B-B14F-4D97-AF65-F5344CB8AC3E}">
        <p14:creationId xmlns:p14="http://schemas.microsoft.com/office/powerpoint/2010/main" val="21090900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9794" y="350133"/>
            <a:ext cx="9809052" cy="763288"/>
          </a:xfrm>
        </p:spPr>
        <p:txBody>
          <a:bodyPr/>
          <a:lstStyle/>
          <a:p>
            <a:r>
              <a:rPr lang="en-US" sz="2000" b="1" dirty="0" smtClean="0"/>
              <a:t>Key drivers for sustainability of Holding Company</a:t>
            </a:r>
            <a:endParaRPr lang="en-IN" sz="2000" b="1" dirty="0"/>
          </a:p>
        </p:txBody>
      </p:sp>
      <p:sp>
        <p:nvSpPr>
          <p:cNvPr id="5" name="Rectangle 4"/>
          <p:cNvSpPr/>
          <p:nvPr/>
        </p:nvSpPr>
        <p:spPr bwMode="gray">
          <a:xfrm>
            <a:off x="439794" y="1113421"/>
            <a:ext cx="4248000" cy="582046"/>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schemeClr val="bg1"/>
                </a:solidFill>
              </a:rPr>
              <a:t>Financial Recovery &amp; Restructuring Plan</a:t>
            </a:r>
            <a:endParaRPr lang="en-IN" sz="1400" b="1" dirty="0" smtClean="0">
              <a:solidFill>
                <a:schemeClr val="bg1"/>
              </a:solidFill>
            </a:endParaRPr>
          </a:p>
        </p:txBody>
      </p:sp>
      <p:sp>
        <p:nvSpPr>
          <p:cNvPr id="6" name="Rectangle 5"/>
          <p:cNvSpPr/>
          <p:nvPr/>
        </p:nvSpPr>
        <p:spPr bwMode="gray">
          <a:xfrm>
            <a:off x="6000846" y="1113421"/>
            <a:ext cx="4248000" cy="582046"/>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Performance Improvement Plan</a:t>
            </a:r>
            <a:endParaRPr lang="en-IN" sz="1400" b="1" dirty="0">
              <a:solidFill>
                <a:schemeClr val="bg1"/>
              </a:solidFill>
            </a:endParaRPr>
          </a:p>
        </p:txBody>
      </p:sp>
      <p:sp>
        <p:nvSpPr>
          <p:cNvPr id="18" name="Rectangle 17"/>
          <p:cNvSpPr/>
          <p:nvPr/>
        </p:nvSpPr>
        <p:spPr bwMode="gray">
          <a:xfrm>
            <a:off x="439794" y="2041047"/>
            <a:ext cx="4248000" cy="897023"/>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Conversion of accumulated budgetary support in the form of loans (principal and interest) to equity via transfer to Restructuring Reserve – BDT 389 </a:t>
            </a:r>
            <a:r>
              <a:rPr lang="en-IN" sz="1200" b="1" dirty="0" err="1"/>
              <a:t>Bn</a:t>
            </a:r>
            <a:endParaRPr lang="en-IN" sz="1200" b="1" dirty="0"/>
          </a:p>
        </p:txBody>
      </p:sp>
      <p:sp>
        <p:nvSpPr>
          <p:cNvPr id="19" name="Rectangle 18"/>
          <p:cNvSpPr/>
          <p:nvPr/>
        </p:nvSpPr>
        <p:spPr bwMode="gray">
          <a:xfrm>
            <a:off x="439794" y="3274770"/>
            <a:ext cx="4248000" cy="877504"/>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Conversion of existing unpaid Debt Service Liabilities pertaining to BPDB and its subsidiaries to equity via transfer to Restructuring Reserve – BDT 90 </a:t>
            </a:r>
            <a:r>
              <a:rPr lang="en-IN" sz="1200" b="1" dirty="0" err="1"/>
              <a:t>Bn</a:t>
            </a:r>
            <a:endParaRPr lang="en-IN" sz="1200" b="1" dirty="0"/>
          </a:p>
        </p:txBody>
      </p:sp>
      <p:sp>
        <p:nvSpPr>
          <p:cNvPr id="20" name="Rectangle 19"/>
          <p:cNvSpPr/>
          <p:nvPr/>
        </p:nvSpPr>
        <p:spPr bwMode="gray">
          <a:xfrm>
            <a:off x="439794" y="4512673"/>
            <a:ext cx="4248000" cy="644261"/>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Future Budgetary Support in the form of Subsidy </a:t>
            </a:r>
          </a:p>
        </p:txBody>
      </p:sp>
      <p:sp>
        <p:nvSpPr>
          <p:cNvPr id="29" name="Rectangle 28"/>
          <p:cNvSpPr/>
          <p:nvPr/>
        </p:nvSpPr>
        <p:spPr bwMode="gray">
          <a:xfrm>
            <a:off x="401502" y="5554973"/>
            <a:ext cx="4248000" cy="569626"/>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Direct repayment of BPDB Subsidiaries’ Debt Service Liability to Government in the future</a:t>
            </a:r>
          </a:p>
        </p:txBody>
      </p:sp>
      <p:sp>
        <p:nvSpPr>
          <p:cNvPr id="30" name="TextBox 29"/>
          <p:cNvSpPr txBox="1">
            <a:spLocks noChangeAspect="1"/>
          </p:cNvSpPr>
          <p:nvPr/>
        </p:nvSpPr>
        <p:spPr>
          <a:xfrm>
            <a:off x="241794" y="1815636"/>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1</a:t>
            </a:r>
            <a:endParaRPr lang="en-IN" dirty="0"/>
          </a:p>
        </p:txBody>
      </p:sp>
      <p:sp>
        <p:nvSpPr>
          <p:cNvPr id="31" name="TextBox 30"/>
          <p:cNvSpPr txBox="1">
            <a:spLocks noChangeAspect="1"/>
          </p:cNvSpPr>
          <p:nvPr/>
        </p:nvSpPr>
        <p:spPr>
          <a:xfrm>
            <a:off x="196719" y="3097062"/>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2</a:t>
            </a:r>
            <a:endParaRPr lang="en-IN" dirty="0"/>
          </a:p>
        </p:txBody>
      </p:sp>
      <p:sp>
        <p:nvSpPr>
          <p:cNvPr id="32" name="TextBox 31"/>
          <p:cNvSpPr txBox="1">
            <a:spLocks noChangeAspect="1"/>
          </p:cNvSpPr>
          <p:nvPr/>
        </p:nvSpPr>
        <p:spPr>
          <a:xfrm>
            <a:off x="196719" y="4341287"/>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3</a:t>
            </a:r>
            <a:endParaRPr lang="en-IN" dirty="0"/>
          </a:p>
        </p:txBody>
      </p:sp>
      <p:sp>
        <p:nvSpPr>
          <p:cNvPr id="33" name="TextBox 32"/>
          <p:cNvSpPr txBox="1">
            <a:spLocks noChangeAspect="1"/>
          </p:cNvSpPr>
          <p:nvPr/>
        </p:nvSpPr>
        <p:spPr>
          <a:xfrm>
            <a:off x="196719" y="5379297"/>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4</a:t>
            </a:r>
            <a:endParaRPr lang="en-IN" dirty="0"/>
          </a:p>
        </p:txBody>
      </p:sp>
      <p:sp>
        <p:nvSpPr>
          <p:cNvPr id="36" name="Rectangle 35"/>
          <p:cNvSpPr/>
          <p:nvPr/>
        </p:nvSpPr>
        <p:spPr bwMode="gray">
          <a:xfrm>
            <a:off x="6000844" y="5221198"/>
            <a:ext cx="4248000" cy="897023"/>
          </a:xfrm>
          <a:prstGeom prst="rect">
            <a:avLst/>
          </a:prstGeom>
          <a:solidFill>
            <a:schemeClr val="accent1">
              <a:lumMod val="60000"/>
              <a:lumOff val="4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t>Targeted Commitments to Improve Distribution Loss, Billing &amp; Collection Ratios &amp; Power Plant Efficiencies</a:t>
            </a:r>
            <a:endParaRPr lang="en-IN" sz="1200" b="1" dirty="0"/>
          </a:p>
        </p:txBody>
      </p:sp>
      <p:sp>
        <p:nvSpPr>
          <p:cNvPr id="38" name="Rectangle 37"/>
          <p:cNvSpPr/>
          <p:nvPr/>
        </p:nvSpPr>
        <p:spPr bwMode="gray">
          <a:xfrm>
            <a:off x="6000844" y="2041047"/>
            <a:ext cx="4248000" cy="2300239"/>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nSpc>
                <a:spcPct val="120000"/>
              </a:lnSpc>
              <a:spcBef>
                <a:spcPts val="600"/>
              </a:spcBef>
              <a:buFont typeface="Wingdings 2" pitchFamily="18" charset="2"/>
              <a:buNone/>
            </a:pPr>
            <a:r>
              <a:rPr lang="en-US" sz="1200" b="1" dirty="0" smtClean="0"/>
              <a:t>Strengthen business functions to improve performance across:</a:t>
            </a:r>
          </a:p>
          <a:p>
            <a:pPr marL="171450" indent="-171450">
              <a:lnSpc>
                <a:spcPct val="120000"/>
              </a:lnSpc>
              <a:spcBef>
                <a:spcPts val="600"/>
              </a:spcBef>
              <a:buFont typeface="Arial" panose="020B0604020202020204" pitchFamily="34" charset="0"/>
              <a:buChar char="•"/>
            </a:pPr>
            <a:r>
              <a:rPr lang="en-US" sz="1200" b="1" dirty="0" smtClean="0"/>
              <a:t>Generation</a:t>
            </a:r>
          </a:p>
          <a:p>
            <a:pPr marL="171450" indent="-171450">
              <a:lnSpc>
                <a:spcPct val="120000"/>
              </a:lnSpc>
              <a:spcBef>
                <a:spcPts val="600"/>
              </a:spcBef>
              <a:buFont typeface="Arial" panose="020B0604020202020204" pitchFamily="34" charset="0"/>
              <a:buChar char="•"/>
            </a:pPr>
            <a:r>
              <a:rPr lang="en-US" sz="1200" b="1" dirty="0" smtClean="0"/>
              <a:t>Distribution</a:t>
            </a:r>
          </a:p>
          <a:p>
            <a:pPr marL="171450" indent="-171450">
              <a:lnSpc>
                <a:spcPct val="120000"/>
              </a:lnSpc>
              <a:spcBef>
                <a:spcPts val="600"/>
              </a:spcBef>
              <a:buFont typeface="Arial" panose="020B0604020202020204" pitchFamily="34" charset="0"/>
              <a:buChar char="•"/>
            </a:pPr>
            <a:r>
              <a:rPr lang="en-US" sz="1200" b="1" dirty="0" smtClean="0"/>
              <a:t>Commercial &amp; Regulatory</a:t>
            </a:r>
          </a:p>
          <a:p>
            <a:pPr marL="171450" indent="-171450">
              <a:lnSpc>
                <a:spcPct val="120000"/>
              </a:lnSpc>
              <a:spcBef>
                <a:spcPts val="600"/>
              </a:spcBef>
              <a:buFont typeface="Arial" panose="020B0604020202020204" pitchFamily="34" charset="0"/>
              <a:buChar char="•"/>
            </a:pPr>
            <a:r>
              <a:rPr lang="en-US" sz="1200" b="1" dirty="0" smtClean="0"/>
              <a:t>Finance</a:t>
            </a:r>
          </a:p>
          <a:p>
            <a:pPr marL="171450" indent="-171450">
              <a:lnSpc>
                <a:spcPct val="120000"/>
              </a:lnSpc>
              <a:spcBef>
                <a:spcPts val="600"/>
              </a:spcBef>
              <a:buFont typeface="Arial" panose="020B0604020202020204" pitchFamily="34" charset="0"/>
              <a:buChar char="•"/>
            </a:pPr>
            <a:r>
              <a:rPr lang="en-US" sz="1200" b="1" dirty="0" smtClean="0"/>
              <a:t>HR &amp; Admin</a:t>
            </a:r>
          </a:p>
          <a:p>
            <a:pPr marL="171450" indent="-171450">
              <a:lnSpc>
                <a:spcPct val="120000"/>
              </a:lnSpc>
              <a:spcBef>
                <a:spcPts val="600"/>
              </a:spcBef>
              <a:buFont typeface="Arial" panose="020B0604020202020204" pitchFamily="34" charset="0"/>
              <a:buChar char="•"/>
            </a:pPr>
            <a:r>
              <a:rPr lang="en-US" sz="1200" b="1" dirty="0" smtClean="0"/>
              <a:t>IT / MIS Enablement</a:t>
            </a:r>
            <a:endParaRPr lang="en-IN" sz="1200" b="1" dirty="0"/>
          </a:p>
        </p:txBody>
      </p:sp>
      <p:sp>
        <p:nvSpPr>
          <p:cNvPr id="53" name="Isosceles Triangle 52"/>
          <p:cNvSpPr/>
          <p:nvPr/>
        </p:nvSpPr>
        <p:spPr bwMode="gray">
          <a:xfrm rot="16200000" flipV="1">
            <a:off x="2711314" y="3551389"/>
            <a:ext cx="5266008" cy="390071"/>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54" name="Isosceles Triangle 53"/>
          <p:cNvSpPr/>
          <p:nvPr/>
        </p:nvSpPr>
        <p:spPr bwMode="gray">
          <a:xfrm flipV="1">
            <a:off x="6000844" y="4647850"/>
            <a:ext cx="4248000" cy="448588"/>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56" name="Rectangle 55"/>
          <p:cNvSpPr/>
          <p:nvPr/>
        </p:nvSpPr>
        <p:spPr bwMode="gray">
          <a:xfrm>
            <a:off x="401502" y="6568442"/>
            <a:ext cx="9847342" cy="64638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white"/>
                </a:solidFill>
              </a:rPr>
              <a:t>FRRP and Performance Improvement Plan will allow the holding company to hold tariff increments</a:t>
            </a:r>
            <a:endParaRPr lang="en-IN" sz="1600" b="1" dirty="0" smtClean="0">
              <a:solidFill>
                <a:prstClr val="white"/>
              </a:solidFill>
            </a:endParaRPr>
          </a:p>
        </p:txBody>
      </p:sp>
      <p:cxnSp>
        <p:nvCxnSpPr>
          <p:cNvPr id="21" name="Straight Connector 20"/>
          <p:cNvCxnSpPr/>
          <p:nvPr/>
        </p:nvCxnSpPr>
        <p:spPr>
          <a:xfrm>
            <a:off x="500674" y="863155"/>
            <a:ext cx="97903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bwMode="gray">
          <a:xfrm>
            <a:off x="3760661" y="655117"/>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smtClean="0">
                <a:solidFill>
                  <a:prstClr val="black"/>
                </a:solidFill>
              </a:rPr>
              <a:t>Strategic Value Enablers</a:t>
            </a:r>
            <a:endParaRPr lang="en-IN" sz="1600" b="1" dirty="0" smtClean="0">
              <a:solidFill>
                <a:prstClr val="black"/>
              </a:solidFill>
            </a:endParaRPr>
          </a:p>
        </p:txBody>
      </p:sp>
      <p:sp>
        <p:nvSpPr>
          <p:cNvPr id="23" name="Pentagon 22">
            <a:hlinkClick r:id="rId2" action="ppaction://hlinksldjump"/>
          </p:cNvPr>
          <p:cNvSpPr/>
          <p:nvPr/>
        </p:nvSpPr>
        <p:spPr bwMode="gray">
          <a:xfrm>
            <a:off x="4314391" y="6265626"/>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4" name="Pentagon 23">
            <a:hlinkClick r:id="rId3" action="ppaction://hlinksldjump"/>
          </p:cNvPr>
          <p:cNvSpPr/>
          <p:nvPr/>
        </p:nvSpPr>
        <p:spPr bwMode="gray">
          <a:xfrm>
            <a:off x="9864142" y="4370022"/>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272261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Benefits of proposed high-level value enablers &amp; functional strengthening</a:t>
            </a:r>
            <a:endParaRPr lang="en-IN" b="1" dirty="0"/>
          </a:p>
        </p:txBody>
      </p:sp>
      <p:sp>
        <p:nvSpPr>
          <p:cNvPr id="28" name="Text Box 272"/>
          <p:cNvSpPr txBox="1"/>
          <p:nvPr/>
        </p:nvSpPr>
        <p:spPr>
          <a:xfrm>
            <a:off x="1149100" y="1636216"/>
            <a:ext cx="8367332"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a:solidFill>
                  <a:srgbClr val="046A38">
                    <a:lumMod val="75000"/>
                  </a:srgbClr>
                </a:solidFill>
                <a:ea typeface="Times" panose="02020603050405020304" pitchFamily="18" charset="0"/>
                <a:cs typeface="Arial" panose="020B0604020202020204" pitchFamily="34" charset="0"/>
              </a:rPr>
              <a:t>Estimated BST (</a:t>
            </a:r>
            <a:r>
              <a:rPr lang="en-US" sz="1200" b="1" i="1" dirty="0" err="1">
                <a:solidFill>
                  <a:srgbClr val="046A38">
                    <a:lumMod val="75000"/>
                  </a:srgbClr>
                </a:solidFill>
                <a:ea typeface="Times" panose="02020603050405020304" pitchFamily="18" charset="0"/>
                <a:cs typeface="Arial" panose="020B0604020202020204" pitchFamily="34" charset="0"/>
              </a:rPr>
              <a:t>Tk</a:t>
            </a:r>
            <a:r>
              <a:rPr lang="en-US" sz="1200" b="1" i="1" dirty="0">
                <a:solidFill>
                  <a:srgbClr val="046A38">
                    <a:lumMod val="75000"/>
                  </a:srgbClr>
                </a:solidFill>
                <a:ea typeface="Times" panose="02020603050405020304" pitchFamily="18" charset="0"/>
                <a:cs typeface="Arial" panose="020B0604020202020204" pitchFamily="34" charset="0"/>
              </a:rPr>
              <a:t>/KWh) required to achieve financial break-even of the holding company with and without value enablers</a:t>
            </a:r>
            <a:endParaRPr lang="en-IN" sz="1100" b="1" i="1" dirty="0">
              <a:solidFill>
                <a:srgbClr val="046A38">
                  <a:lumMod val="75000"/>
                </a:srgbClr>
              </a:solidFill>
              <a:ea typeface="Times" panose="02020603050405020304" pitchFamily="18" charset="0"/>
              <a:cs typeface="Arial" panose="020B0604020202020204" pitchFamily="34" charset="0"/>
            </a:endParaRPr>
          </a:p>
        </p:txBody>
      </p:sp>
      <p:cxnSp>
        <p:nvCxnSpPr>
          <p:cNvPr id="7" name="Straight Connector 6"/>
          <p:cNvCxnSpPr/>
          <p:nvPr/>
        </p:nvCxnSpPr>
        <p:spPr>
          <a:xfrm>
            <a:off x="450549" y="1254463"/>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103395" y="1049632"/>
            <a:ext cx="8481848" cy="430887"/>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srgbClr val="00B0F0"/>
                </a:solidFill>
              </a:rPr>
              <a:t>Reduced </a:t>
            </a:r>
            <a:r>
              <a:rPr lang="en-US" sz="1400" b="1" dirty="0">
                <a:solidFill>
                  <a:srgbClr val="00B0F0"/>
                </a:solidFill>
              </a:rPr>
              <a:t>need for incremental tariff revision </a:t>
            </a:r>
            <a:r>
              <a:rPr lang="en-US" sz="1400" b="1" dirty="0">
                <a:solidFill>
                  <a:prstClr val="black"/>
                </a:solidFill>
              </a:rPr>
              <a:t>to achieve financial break-even for the holding company and the new distribution company(</a:t>
            </a:r>
            <a:r>
              <a:rPr lang="en-US" sz="1400" b="1" dirty="0" err="1">
                <a:solidFill>
                  <a:prstClr val="black"/>
                </a:solidFill>
              </a:rPr>
              <a:t>ies</a:t>
            </a:r>
            <a:r>
              <a:rPr lang="en-US" sz="1400" b="1" dirty="0">
                <a:solidFill>
                  <a:prstClr val="black"/>
                </a:solidFill>
              </a:rPr>
              <a:t>)</a:t>
            </a:r>
            <a:endParaRPr lang="en-IN" sz="1400" b="1" dirty="0">
              <a:solidFill>
                <a:srgbClr val="00B0F0"/>
              </a:solidFill>
            </a:endParaRPr>
          </a:p>
        </p:txBody>
      </p:sp>
      <p:graphicFrame>
        <p:nvGraphicFramePr>
          <p:cNvPr id="9" name="Chart 8"/>
          <p:cNvGraphicFramePr/>
          <p:nvPr>
            <p:extLst>
              <p:ext uri="{D42A27DB-BD31-4B8C-83A1-F6EECF244321}">
                <p14:modId xmlns:p14="http://schemas.microsoft.com/office/powerpoint/2010/main" val="3373994177"/>
              </p:ext>
            </p:extLst>
          </p:nvPr>
        </p:nvGraphicFramePr>
        <p:xfrm>
          <a:off x="450549" y="2155127"/>
          <a:ext cx="9785951" cy="2388654"/>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p:cNvCxnSpPr/>
          <p:nvPr/>
        </p:nvCxnSpPr>
        <p:spPr>
          <a:xfrm>
            <a:off x="439794" y="4653109"/>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418830" y="4521849"/>
            <a:ext cx="7847399" cy="184666"/>
          </a:xfrm>
          <a:prstGeom prst="rect">
            <a:avLst/>
          </a:prstGeom>
          <a:solidFill>
            <a:schemeClr val="bg1"/>
          </a:solidFill>
        </p:spPr>
        <p:txBody>
          <a:bodyPr wrap="square" lIns="0" tIns="0" rIns="0" bIns="0" rtlCol="0">
            <a:spAutoFit/>
          </a:bodyPr>
          <a:lstStyle/>
          <a:p>
            <a:pPr algn="ctr">
              <a:spcAft>
                <a:spcPts val="1000"/>
              </a:spcAft>
            </a:pPr>
            <a:r>
              <a:rPr lang="en-US" sz="1200" b="1" dirty="0" smtClean="0">
                <a:solidFill>
                  <a:prstClr val="black"/>
                </a:solidFill>
              </a:rPr>
              <a:t>Subsidy requirement (</a:t>
            </a:r>
            <a:r>
              <a:rPr lang="en-US" sz="1200" b="1" dirty="0" err="1" smtClean="0">
                <a:solidFill>
                  <a:prstClr val="black"/>
                </a:solidFill>
              </a:rPr>
              <a:t>Mn</a:t>
            </a:r>
            <a:r>
              <a:rPr lang="en-US" sz="1200" b="1" dirty="0" smtClean="0">
                <a:solidFill>
                  <a:prstClr val="black"/>
                </a:solidFill>
              </a:rPr>
              <a:t>. Taka) of holding company </a:t>
            </a:r>
            <a:r>
              <a:rPr lang="en-US" sz="1200" b="1" dirty="0">
                <a:solidFill>
                  <a:prstClr val="black"/>
                </a:solidFill>
              </a:rPr>
              <a:t>with and without value enablers</a:t>
            </a:r>
            <a:endParaRPr lang="en-IN" sz="1200" b="1" dirty="0">
              <a:solidFill>
                <a:prstClr val="black"/>
              </a:solidFill>
            </a:endParaRPr>
          </a:p>
        </p:txBody>
      </p:sp>
      <p:graphicFrame>
        <p:nvGraphicFramePr>
          <p:cNvPr id="14" name="Chart 13"/>
          <p:cNvGraphicFramePr/>
          <p:nvPr>
            <p:extLst>
              <p:ext uri="{D42A27DB-BD31-4B8C-83A1-F6EECF244321}">
                <p14:modId xmlns:p14="http://schemas.microsoft.com/office/powerpoint/2010/main" val="4010352849"/>
              </p:ext>
            </p:extLst>
          </p:nvPr>
        </p:nvGraphicFramePr>
        <p:xfrm>
          <a:off x="439793" y="4915705"/>
          <a:ext cx="9775195" cy="22555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54066353"/>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Immediate steps &amp; priority area</a:t>
            </a:r>
            <a:endParaRPr lang="en-US" sz="5400" dirty="0">
              <a:solidFill>
                <a:prstClr val="white"/>
              </a:solidFill>
            </a:endParaRPr>
          </a:p>
        </p:txBody>
      </p:sp>
    </p:spTree>
    <p:extLst>
      <p:ext uri="{BB962C8B-B14F-4D97-AF65-F5344CB8AC3E}">
        <p14:creationId xmlns:p14="http://schemas.microsoft.com/office/powerpoint/2010/main" val="28568498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104" y="435139"/>
            <a:ext cx="9809052" cy="763288"/>
          </a:xfrm>
        </p:spPr>
        <p:txBody>
          <a:bodyPr/>
          <a:lstStyle/>
          <a:p>
            <a:r>
              <a:rPr lang="en-US" sz="2000" b="1" dirty="0" smtClean="0"/>
              <a:t>Immediate implementation steps and priority areas</a:t>
            </a:r>
            <a:endParaRPr lang="en-IN" sz="2000" b="1" dirty="0"/>
          </a:p>
        </p:txBody>
      </p:sp>
      <p:graphicFrame>
        <p:nvGraphicFramePr>
          <p:cNvPr id="6" name="Diagram 5"/>
          <p:cNvGraphicFramePr/>
          <p:nvPr>
            <p:extLst>
              <p:ext uri="{D42A27DB-BD31-4B8C-83A1-F6EECF244321}">
                <p14:modId xmlns:p14="http://schemas.microsoft.com/office/powerpoint/2010/main" val="1089861622"/>
              </p:ext>
            </p:extLst>
          </p:nvPr>
        </p:nvGraphicFramePr>
        <p:xfrm>
          <a:off x="467104" y="1205864"/>
          <a:ext cx="9809052" cy="6019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93946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High Level Implementation Plan</a:t>
            </a:r>
            <a:endParaRPr lang="en-US" sz="5400" dirty="0">
              <a:solidFill>
                <a:prstClr val="white"/>
              </a:solidFill>
            </a:endParaRPr>
          </a:p>
        </p:txBody>
      </p:sp>
    </p:spTree>
    <p:extLst>
      <p:ext uri="{BB962C8B-B14F-4D97-AF65-F5344CB8AC3E}">
        <p14:creationId xmlns:p14="http://schemas.microsoft.com/office/powerpoint/2010/main" val="25406317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for reform of BPDB as a holding company</a:t>
            </a:r>
            <a:endParaRPr lang="en-IN" sz="2000" b="1" dirty="0"/>
          </a:p>
        </p:txBody>
      </p:sp>
      <p:graphicFrame>
        <p:nvGraphicFramePr>
          <p:cNvPr id="3" name="Diagram 2"/>
          <p:cNvGraphicFramePr/>
          <p:nvPr>
            <p:extLst/>
          </p:nvPr>
        </p:nvGraphicFramePr>
        <p:xfrm>
          <a:off x="375999" y="1031358"/>
          <a:ext cx="2558587" cy="612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Diagram 13"/>
          <p:cNvGraphicFramePr/>
          <p:nvPr>
            <p:extLst/>
          </p:nvPr>
        </p:nvGraphicFramePr>
        <p:xfrm>
          <a:off x="4348716" y="1350335"/>
          <a:ext cx="5900130" cy="51461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Freeform 4"/>
          <p:cNvSpPr/>
          <p:nvPr/>
        </p:nvSpPr>
        <p:spPr bwMode="gray">
          <a:xfrm>
            <a:off x="2892056" y="1435395"/>
            <a:ext cx="1424763" cy="5699052"/>
          </a:xfrm>
          <a:custGeom>
            <a:avLst/>
            <a:gdLst>
              <a:gd name="connsiteX0" fmla="*/ 0 w 1424763"/>
              <a:gd name="connsiteY0" fmla="*/ 5124893 h 5699052"/>
              <a:gd name="connsiteX1" fmla="*/ 1424763 w 1424763"/>
              <a:gd name="connsiteY1" fmla="*/ 0 h 5699052"/>
              <a:gd name="connsiteX2" fmla="*/ 1414130 w 1424763"/>
              <a:gd name="connsiteY2" fmla="*/ 4976038 h 5699052"/>
              <a:gd name="connsiteX3" fmla="*/ 10632 w 1424763"/>
              <a:gd name="connsiteY3" fmla="*/ 5699052 h 5699052"/>
              <a:gd name="connsiteX4" fmla="*/ 0 w 1424763"/>
              <a:gd name="connsiteY4" fmla="*/ 5124893 h 569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63" h="5699052">
                <a:moveTo>
                  <a:pt x="0" y="5124893"/>
                </a:moveTo>
                <a:lnTo>
                  <a:pt x="1424763" y="0"/>
                </a:lnTo>
                <a:cubicBezTo>
                  <a:pt x="1421219" y="1658679"/>
                  <a:pt x="1417674" y="3317359"/>
                  <a:pt x="1414130" y="4976038"/>
                </a:cubicBezTo>
                <a:lnTo>
                  <a:pt x="10632" y="5699052"/>
                </a:lnTo>
                <a:lnTo>
                  <a:pt x="0" y="5124893"/>
                </a:lnTo>
                <a:close/>
              </a:path>
            </a:pathLst>
          </a:custGeom>
          <a:solidFill>
            <a:schemeClr val="bg1">
              <a:lumMod val="6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 name="Pentagon 6">
            <a:hlinkClick r:id="rId12" action="ppaction://hlinksldjump"/>
          </p:cNvPr>
          <p:cNvSpPr/>
          <p:nvPr/>
        </p:nvSpPr>
        <p:spPr bwMode="gray">
          <a:xfrm>
            <a:off x="7298781" y="7155712"/>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 name="Pentagon 7">
            <a:hlinkClick r:id="rId13" action="ppaction://hlinksldjump"/>
          </p:cNvPr>
          <p:cNvSpPr/>
          <p:nvPr/>
        </p:nvSpPr>
        <p:spPr bwMode="gray">
          <a:xfrm>
            <a:off x="9650095" y="7180287"/>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 name="TextBox 3"/>
          <p:cNvSpPr txBox="1"/>
          <p:nvPr/>
        </p:nvSpPr>
        <p:spPr>
          <a:xfrm>
            <a:off x="5493574" y="7044764"/>
            <a:ext cx="1632499" cy="338554"/>
          </a:xfrm>
          <a:prstGeom prst="rect">
            <a:avLst/>
          </a:prstGeom>
          <a:noFill/>
        </p:spPr>
        <p:txBody>
          <a:bodyPr wrap="square" lIns="0" tIns="0" rIns="0" bIns="0" rtlCol="0">
            <a:spAutoFit/>
          </a:bodyPr>
          <a:lstStyle/>
          <a:p>
            <a:pPr>
              <a:spcBef>
                <a:spcPts val="600"/>
              </a:spcBef>
              <a:buSzPct val="100000"/>
            </a:pPr>
            <a:r>
              <a:rPr lang="en-US" sz="1100" dirty="0" smtClean="0">
                <a:solidFill>
                  <a:srgbClr val="313131"/>
                </a:solidFill>
              </a:rPr>
              <a:t>Details of implementation plan</a:t>
            </a:r>
            <a:endParaRPr lang="en-IN" sz="1100" dirty="0" smtClean="0">
              <a:solidFill>
                <a:srgbClr val="313131"/>
              </a:solidFill>
            </a:endParaRPr>
          </a:p>
        </p:txBody>
      </p:sp>
      <p:sp>
        <p:nvSpPr>
          <p:cNvPr id="10" name="TextBox 9"/>
          <p:cNvSpPr txBox="1"/>
          <p:nvPr/>
        </p:nvSpPr>
        <p:spPr>
          <a:xfrm>
            <a:off x="8017596" y="7044764"/>
            <a:ext cx="1632499" cy="338554"/>
          </a:xfrm>
          <a:prstGeom prst="rect">
            <a:avLst/>
          </a:prstGeom>
          <a:noFill/>
        </p:spPr>
        <p:txBody>
          <a:bodyPr wrap="square" lIns="0" tIns="0" rIns="0" bIns="0" rtlCol="0">
            <a:spAutoFit/>
          </a:bodyPr>
          <a:lstStyle/>
          <a:p>
            <a:pPr>
              <a:spcBef>
                <a:spcPts val="600"/>
              </a:spcBef>
              <a:buSzPct val="100000"/>
            </a:pPr>
            <a:r>
              <a:rPr lang="en-US" sz="1100" dirty="0" smtClean="0">
                <a:solidFill>
                  <a:srgbClr val="313131"/>
                </a:solidFill>
              </a:rPr>
              <a:t>Time bound implementation plan</a:t>
            </a:r>
            <a:endParaRPr lang="en-IN" sz="1100" dirty="0" smtClean="0">
              <a:solidFill>
                <a:srgbClr val="313131"/>
              </a:solidFill>
            </a:endParaRPr>
          </a:p>
        </p:txBody>
      </p:sp>
    </p:spTree>
    <p:extLst>
      <p:ext uri="{BB962C8B-B14F-4D97-AF65-F5344CB8AC3E}">
        <p14:creationId xmlns:p14="http://schemas.microsoft.com/office/powerpoint/2010/main" val="8107010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Manpower Assessment &amp; Guidelines for Holding Company</a:t>
            </a:r>
            <a:endParaRPr lang="en-US" sz="5400" dirty="0">
              <a:solidFill>
                <a:prstClr val="white"/>
              </a:solidFill>
            </a:endParaRPr>
          </a:p>
        </p:txBody>
      </p:sp>
    </p:spTree>
    <p:extLst>
      <p:ext uri="{BB962C8B-B14F-4D97-AF65-F5344CB8AC3E}">
        <p14:creationId xmlns:p14="http://schemas.microsoft.com/office/powerpoint/2010/main" val="13526773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814878212"/>
              </p:ext>
            </p:extLst>
          </p:nvPr>
        </p:nvGraphicFramePr>
        <p:xfrm>
          <a:off x="7278025" y="976265"/>
          <a:ext cx="3164168" cy="2724306"/>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1"/>
          <p:cNvSpPr>
            <a:spLocks noGrp="1"/>
          </p:cNvSpPr>
          <p:nvPr>
            <p:ph type="title"/>
          </p:nvPr>
        </p:nvSpPr>
        <p:spPr>
          <a:xfrm>
            <a:off x="439794" y="350133"/>
            <a:ext cx="9809052" cy="410901"/>
          </a:xfrm>
        </p:spPr>
        <p:txBody>
          <a:bodyPr/>
          <a:lstStyle/>
          <a:p>
            <a:r>
              <a:rPr lang="en-US" sz="2000" b="1" dirty="0" smtClean="0"/>
              <a:t>As-is manpower arrangement of BPDB</a:t>
            </a:r>
            <a:endParaRPr lang="en-IN" sz="2000" b="1" dirty="0"/>
          </a:p>
        </p:txBody>
      </p:sp>
      <p:cxnSp>
        <p:nvCxnSpPr>
          <p:cNvPr id="6" name="Straight Connector 5"/>
          <p:cNvCxnSpPr/>
          <p:nvPr/>
        </p:nvCxnSpPr>
        <p:spPr>
          <a:xfrm>
            <a:off x="7278025" y="854443"/>
            <a:ext cx="319230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11865" y="684767"/>
            <a:ext cx="2026614" cy="369332"/>
          </a:xfrm>
          <a:prstGeom prst="rect">
            <a:avLst/>
          </a:prstGeom>
          <a:solidFill>
            <a:schemeClr val="bg1"/>
          </a:solidFill>
        </p:spPr>
        <p:txBody>
          <a:bodyPr wrap="square" lIns="0" tIns="0" rIns="0" bIns="0" rtlCol="0">
            <a:spAutoFit/>
          </a:bodyPr>
          <a:lstStyle/>
          <a:p>
            <a:pPr algn="ctr">
              <a:buSzPct val="100000"/>
            </a:pPr>
            <a:r>
              <a:rPr lang="en-IN" sz="1200" b="1" dirty="0">
                <a:solidFill>
                  <a:srgbClr val="313131"/>
                </a:solidFill>
              </a:rPr>
              <a:t>Total Manpower classification of </a:t>
            </a:r>
            <a:r>
              <a:rPr lang="en-IN" sz="1200" b="1" dirty="0" smtClean="0">
                <a:solidFill>
                  <a:srgbClr val="313131"/>
                </a:solidFill>
              </a:rPr>
              <a:t>BPDB</a:t>
            </a:r>
            <a:r>
              <a:rPr lang="en-IN" sz="1200" b="1" baseline="30000" dirty="0"/>
              <a:t>1</a:t>
            </a:r>
            <a:endParaRPr lang="en-IN" sz="1200" b="1" dirty="0" smtClean="0">
              <a:solidFill>
                <a:srgbClr val="313131"/>
              </a:solidFill>
            </a:endParaRPr>
          </a:p>
        </p:txBody>
      </p:sp>
      <p:sp>
        <p:nvSpPr>
          <p:cNvPr id="11" name="Rectangle 10"/>
          <p:cNvSpPr/>
          <p:nvPr/>
        </p:nvSpPr>
        <p:spPr bwMode="gray">
          <a:xfrm>
            <a:off x="439794" y="839455"/>
            <a:ext cx="6505292" cy="2861116"/>
          </a:xfrm>
          <a:prstGeom prst="rect">
            <a:avLst/>
          </a:prstGeom>
          <a:noFill/>
          <a:ln w="19050" algn="ctr">
            <a:noFill/>
            <a:miter lim="800000"/>
            <a:headEnd/>
            <a:tailEnd/>
          </a:ln>
        </p:spPr>
        <p:txBody>
          <a:bodyPr wrap="square" lIns="88900" tIns="88900" rIns="88900" bIns="88900" rtlCol="0" anchor="ctr"/>
          <a:lstStyle/>
          <a:p>
            <a:pPr marL="171450" indent="-171450">
              <a:lnSpc>
                <a:spcPct val="130000"/>
              </a:lnSpc>
              <a:spcBef>
                <a:spcPts val="600"/>
              </a:spcBef>
              <a:buFont typeface="Arial" panose="020B0604020202020204" pitchFamily="34" charset="0"/>
              <a:buChar char="•"/>
            </a:pPr>
            <a:r>
              <a:rPr lang="en-IN" sz="1400" dirty="0" smtClean="0"/>
              <a:t>We analysed the total sanctioned manpower of BPDB</a:t>
            </a:r>
            <a:r>
              <a:rPr lang="en-IN" sz="1400" b="1" baseline="30000" dirty="0" smtClean="0"/>
              <a:t>1</a:t>
            </a:r>
            <a:r>
              <a:rPr lang="en-IN" sz="1400" dirty="0" smtClean="0"/>
              <a:t> using the erstwhile system of segregation based on Class – I , II , III and IV.</a:t>
            </a:r>
          </a:p>
          <a:p>
            <a:pPr marL="171450" indent="-171450">
              <a:lnSpc>
                <a:spcPct val="130000"/>
              </a:lnSpc>
              <a:spcBef>
                <a:spcPts val="600"/>
              </a:spcBef>
              <a:buFont typeface="Arial" panose="020B0604020202020204" pitchFamily="34" charset="0"/>
              <a:buChar char="•"/>
            </a:pPr>
            <a:r>
              <a:rPr lang="en-US" sz="1400" dirty="0" smtClean="0"/>
              <a:t>The employee analysis includes the employees deputed on lien to newly created NESCO</a:t>
            </a:r>
          </a:p>
          <a:p>
            <a:pPr marL="171450" indent="-171450">
              <a:lnSpc>
                <a:spcPct val="130000"/>
              </a:lnSpc>
              <a:spcBef>
                <a:spcPts val="600"/>
              </a:spcBef>
              <a:buFont typeface="Arial" panose="020B0604020202020204" pitchFamily="34" charset="0"/>
              <a:buChar char="•"/>
            </a:pPr>
            <a:r>
              <a:rPr lang="en-US" sz="1400" dirty="0" smtClean="0"/>
              <a:t>Out of the total sanctioned manpower strength, 86% of the employees belong to Class III and IV together</a:t>
            </a:r>
          </a:p>
          <a:p>
            <a:pPr marL="171450" indent="-171450">
              <a:lnSpc>
                <a:spcPct val="130000"/>
              </a:lnSpc>
              <a:spcBef>
                <a:spcPts val="600"/>
              </a:spcBef>
              <a:buFont typeface="Arial" panose="020B0604020202020204" pitchFamily="34" charset="0"/>
              <a:buChar char="•"/>
            </a:pPr>
            <a:r>
              <a:rPr lang="en-US" sz="1400" dirty="0" smtClean="0"/>
              <a:t>Rest 14% is composed of Class I &amp; II employees.</a:t>
            </a:r>
          </a:p>
          <a:p>
            <a:pPr marL="171450" indent="-171450">
              <a:lnSpc>
                <a:spcPct val="130000"/>
              </a:lnSpc>
              <a:spcBef>
                <a:spcPts val="600"/>
              </a:spcBef>
              <a:buFont typeface="Arial" panose="020B0604020202020204" pitchFamily="34" charset="0"/>
              <a:buChar char="•"/>
            </a:pPr>
            <a:r>
              <a:rPr lang="en-US" sz="1400" dirty="0" smtClean="0"/>
              <a:t>The below chart illustrates the employee composition of key departments of BPDB:</a:t>
            </a:r>
          </a:p>
        </p:txBody>
      </p:sp>
      <p:graphicFrame>
        <p:nvGraphicFramePr>
          <p:cNvPr id="14" name="Chart 13"/>
          <p:cNvGraphicFramePr/>
          <p:nvPr>
            <p:extLst>
              <p:ext uri="{D42A27DB-BD31-4B8C-83A1-F6EECF244321}">
                <p14:modId xmlns:p14="http://schemas.microsoft.com/office/powerpoint/2010/main" val="760698508"/>
              </p:ext>
            </p:extLst>
          </p:nvPr>
        </p:nvGraphicFramePr>
        <p:xfrm>
          <a:off x="439794" y="3954084"/>
          <a:ext cx="9809052" cy="2661914"/>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Box 101"/>
          <p:cNvSpPr txBox="1">
            <a:spLocks noChangeArrowheads="1"/>
          </p:cNvSpPr>
          <p:nvPr/>
        </p:nvSpPr>
        <p:spPr bwMode="auto">
          <a:xfrm>
            <a:off x="439790" y="6173428"/>
            <a:ext cx="2768101" cy="47685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just">
              <a:spcAft>
                <a:spcPts val="0"/>
              </a:spcAft>
            </a:pPr>
            <a:r>
              <a:rPr lang="en-US" sz="900">
                <a:effectLst/>
                <a:latin typeface="Verdana" panose="020B0604030504040204" pitchFamily="34" charset="0"/>
                <a:ea typeface="Verdana" panose="020B0604030504040204" pitchFamily="34" charset="0"/>
                <a:cs typeface="Verdana" panose="020B0604030504040204" pitchFamily="34" charset="0"/>
              </a:rPr>
              <a:t>Note: Number in the boxes indicate total sanctioned manpower in each department as per the organogram.</a:t>
            </a:r>
            <a:endParaRPr lang="en-IN" sz="1400">
              <a:effectLst/>
              <a:latin typeface="Times New Roman" panose="02020603050405020304" pitchFamily="18" charset="0"/>
              <a:ea typeface="MS Mincho" panose="02020609040205080304" pitchFamily="49" charset="-128"/>
              <a:cs typeface="Arial" panose="020B0604020202020204" pitchFamily="34" charset="0"/>
            </a:endParaRPr>
          </a:p>
        </p:txBody>
      </p:sp>
      <p:sp>
        <p:nvSpPr>
          <p:cNvPr id="16" name="Text Box 101"/>
          <p:cNvSpPr txBox="1">
            <a:spLocks noChangeArrowheads="1"/>
          </p:cNvSpPr>
          <p:nvPr/>
        </p:nvSpPr>
        <p:spPr bwMode="auto">
          <a:xfrm>
            <a:off x="2286081" y="7309542"/>
            <a:ext cx="6838231" cy="19098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900" dirty="0" smtClean="0">
                <a:latin typeface="Verdana" panose="020B0604030504040204" pitchFamily="34" charset="0"/>
                <a:ea typeface="Verdana" panose="020B0604030504040204" pitchFamily="34" charset="0"/>
                <a:cs typeface="Verdana" panose="020B0604030504040204" pitchFamily="34" charset="0"/>
              </a:rPr>
              <a:t>1) S</a:t>
            </a:r>
            <a:r>
              <a:rPr lang="en-US" sz="900" dirty="0" smtClean="0">
                <a:effectLst/>
                <a:latin typeface="Verdana" panose="020B0604030504040204" pitchFamily="34" charset="0"/>
                <a:ea typeface="Verdana" panose="020B0604030504040204" pitchFamily="34" charset="0"/>
                <a:cs typeface="Verdana" panose="020B0604030504040204" pitchFamily="34" charset="0"/>
              </a:rPr>
              <a:t>ource: As per undated organogram shared by BPDB with total sanctioned manpower of 22063.</a:t>
            </a:r>
            <a:endParaRPr lang="en-IN" sz="1400" dirty="0">
              <a:effectLst/>
              <a:latin typeface="Times New Roman" panose="02020603050405020304" pitchFamily="18" charset="0"/>
              <a:ea typeface="MS Mincho" panose="02020609040205080304" pitchFamily="49" charset="-128"/>
              <a:cs typeface="Arial" panose="020B0604020202020204" pitchFamily="34" charset="0"/>
            </a:endParaRPr>
          </a:p>
        </p:txBody>
      </p:sp>
      <p:cxnSp>
        <p:nvCxnSpPr>
          <p:cNvPr id="17" name="Straight Connector 16"/>
          <p:cNvCxnSpPr/>
          <p:nvPr/>
        </p:nvCxnSpPr>
        <p:spPr>
          <a:xfrm>
            <a:off x="584616" y="3833707"/>
            <a:ext cx="935386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33289" y="3748701"/>
            <a:ext cx="5256515" cy="216000"/>
          </a:xfrm>
          <a:prstGeom prst="rect">
            <a:avLst/>
          </a:prstGeom>
          <a:solidFill>
            <a:schemeClr val="bg1"/>
          </a:solidFill>
        </p:spPr>
        <p:txBody>
          <a:bodyPr wrap="square" lIns="0" tIns="0" rIns="0" bIns="0" rtlCol="0">
            <a:spAutoFit/>
          </a:bodyPr>
          <a:lstStyle/>
          <a:p>
            <a:pPr algn="ctr">
              <a:buSzPct val="100000"/>
            </a:pPr>
            <a:r>
              <a:rPr lang="en-IN" sz="1200" b="1" dirty="0">
                <a:solidFill>
                  <a:srgbClr val="313131"/>
                </a:solidFill>
              </a:rPr>
              <a:t>Employee Composition of major departments of </a:t>
            </a:r>
            <a:r>
              <a:rPr lang="en-IN" sz="1200" b="1" dirty="0" smtClean="0">
                <a:solidFill>
                  <a:srgbClr val="313131"/>
                </a:solidFill>
              </a:rPr>
              <a:t>BPDB</a:t>
            </a:r>
            <a:r>
              <a:rPr lang="en-IN" sz="1200" b="1" baseline="30000" dirty="0"/>
              <a:t>1</a:t>
            </a:r>
            <a:endParaRPr lang="en-IN" sz="1200" b="1" dirty="0" smtClean="0">
              <a:solidFill>
                <a:srgbClr val="313131"/>
              </a:solidFill>
            </a:endParaRPr>
          </a:p>
        </p:txBody>
      </p:sp>
      <p:sp>
        <p:nvSpPr>
          <p:cNvPr id="21" name="Rectangle 20"/>
          <p:cNvSpPr/>
          <p:nvPr/>
        </p:nvSpPr>
        <p:spPr bwMode="gray">
          <a:xfrm>
            <a:off x="439790" y="6795800"/>
            <a:ext cx="9809052" cy="44516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IN" sz="1400" b="1" dirty="0">
                <a:solidFill>
                  <a:schemeClr val="bg1"/>
                </a:solidFill>
              </a:rPr>
              <a:t>The current sanctioned manpower strength of BPDB is to meet the requirements of current roles &amp; </a:t>
            </a:r>
            <a:r>
              <a:rPr lang="en-IN" sz="1400" b="1" dirty="0" smtClean="0">
                <a:solidFill>
                  <a:schemeClr val="bg1"/>
                </a:solidFill>
              </a:rPr>
              <a:t>functions of BPDB</a:t>
            </a:r>
            <a:endParaRPr lang="en-IN" sz="1400" b="1" dirty="0">
              <a:solidFill>
                <a:schemeClr val="bg1"/>
              </a:solidFill>
            </a:endParaRPr>
          </a:p>
        </p:txBody>
      </p:sp>
    </p:spTree>
    <p:extLst>
      <p:ext uri="{BB962C8B-B14F-4D97-AF65-F5344CB8AC3E}">
        <p14:creationId xmlns:p14="http://schemas.microsoft.com/office/powerpoint/2010/main" val="31789156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104" y="435139"/>
            <a:ext cx="9809052" cy="763288"/>
          </a:xfrm>
        </p:spPr>
        <p:txBody>
          <a:bodyPr/>
          <a:lstStyle/>
          <a:p>
            <a:r>
              <a:rPr lang="en-US" sz="2000" b="1" dirty="0" smtClean="0"/>
              <a:t>BPDB must undertake a comprehensive manpower assessment exercise to determine optimum manpower of holding company</a:t>
            </a:r>
            <a:endParaRPr lang="en-IN" sz="2000" b="1" dirty="0"/>
          </a:p>
        </p:txBody>
      </p:sp>
      <p:sp>
        <p:nvSpPr>
          <p:cNvPr id="23" name="Rectangle 22"/>
          <p:cNvSpPr/>
          <p:nvPr/>
        </p:nvSpPr>
        <p:spPr bwMode="gray">
          <a:xfrm>
            <a:off x="439794" y="6460758"/>
            <a:ext cx="9809052" cy="62958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400" b="1" dirty="0" smtClean="0">
                <a:solidFill>
                  <a:schemeClr val="bg1"/>
                </a:solidFill>
              </a:rPr>
              <a:t>Holding Company may continue with the existing manpower of BPDB till the comprehensive manpower assessment exercise is undertaken</a:t>
            </a:r>
            <a:endParaRPr lang="en-IN" sz="1400" b="1" dirty="0" smtClean="0">
              <a:solidFill>
                <a:schemeClr val="bg1"/>
              </a:solidFill>
            </a:endParaRPr>
          </a:p>
        </p:txBody>
      </p:sp>
      <p:sp>
        <p:nvSpPr>
          <p:cNvPr id="24" name="Rectangle 23"/>
          <p:cNvSpPr/>
          <p:nvPr/>
        </p:nvSpPr>
        <p:spPr bwMode="gray">
          <a:xfrm>
            <a:off x="467104" y="1198427"/>
            <a:ext cx="9754424" cy="1766103"/>
          </a:xfrm>
          <a:prstGeom prst="rect">
            <a:avLst/>
          </a:prstGeom>
          <a:noFill/>
          <a:ln w="19050" algn="ctr">
            <a:noFill/>
            <a:miter lim="800000"/>
            <a:headEnd/>
            <a:tailEnd/>
          </a:ln>
        </p:spPr>
        <p:txBody>
          <a:bodyPr wrap="square" lIns="88900" tIns="88900" rIns="88900" bIns="88900" rtlCol="0" anchor="ctr"/>
          <a:lstStyle/>
          <a:p>
            <a:pPr marL="171450" indent="-171450">
              <a:lnSpc>
                <a:spcPct val="130000"/>
              </a:lnSpc>
              <a:spcBef>
                <a:spcPts val="600"/>
              </a:spcBef>
              <a:buFont typeface="Arial" panose="020B0604020202020204" pitchFamily="34" charset="0"/>
              <a:buChar char="•"/>
            </a:pPr>
            <a:r>
              <a:rPr lang="en-US" sz="1400" dirty="0" smtClean="0"/>
              <a:t>As per the proposed reform strategy, BPDB will continue with all of its existing functions</a:t>
            </a:r>
          </a:p>
          <a:p>
            <a:pPr marL="171450" indent="-171450">
              <a:lnSpc>
                <a:spcPct val="130000"/>
              </a:lnSpc>
              <a:spcBef>
                <a:spcPts val="600"/>
              </a:spcBef>
              <a:buFont typeface="Arial" panose="020B0604020202020204" pitchFamily="34" charset="0"/>
              <a:buChar char="•"/>
            </a:pPr>
            <a:r>
              <a:rPr lang="en-US" sz="1400" dirty="0" smtClean="0"/>
              <a:t>Some of the existing functional areas, as illustrated earlier, may undergo strengthening / re-engineering</a:t>
            </a:r>
          </a:p>
          <a:p>
            <a:pPr marL="171450" indent="-171450">
              <a:lnSpc>
                <a:spcPct val="130000"/>
              </a:lnSpc>
              <a:spcBef>
                <a:spcPts val="600"/>
              </a:spcBef>
              <a:buFont typeface="Arial" panose="020B0604020202020204" pitchFamily="34" charset="0"/>
              <a:buChar char="•"/>
            </a:pPr>
            <a:r>
              <a:rPr lang="en-US" sz="1400" dirty="0" smtClean="0"/>
              <a:t>Some new functions have also been proposed to be included within ambit of holding company</a:t>
            </a:r>
          </a:p>
          <a:p>
            <a:pPr marL="171450" indent="-171450">
              <a:lnSpc>
                <a:spcPct val="140000"/>
              </a:lnSpc>
              <a:spcBef>
                <a:spcPts val="600"/>
              </a:spcBef>
              <a:buFont typeface="Arial" panose="020B0604020202020204" pitchFamily="34" charset="0"/>
              <a:buChar char="•"/>
            </a:pPr>
            <a:r>
              <a:rPr lang="en-US" sz="1400" dirty="0" smtClean="0"/>
              <a:t>A comprehensive manpower assessment exercise is required for assessment of optimum manpower for the holding company.</a:t>
            </a:r>
          </a:p>
        </p:txBody>
      </p:sp>
      <p:cxnSp>
        <p:nvCxnSpPr>
          <p:cNvPr id="33" name="Straight Connector 32"/>
          <p:cNvCxnSpPr/>
          <p:nvPr/>
        </p:nvCxnSpPr>
        <p:spPr>
          <a:xfrm>
            <a:off x="584617" y="3281622"/>
            <a:ext cx="935386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763336" y="3196616"/>
            <a:ext cx="6996422" cy="369332"/>
          </a:xfrm>
          <a:prstGeom prst="rect">
            <a:avLst/>
          </a:prstGeom>
          <a:solidFill>
            <a:schemeClr val="bg1"/>
          </a:solidFill>
        </p:spPr>
        <p:txBody>
          <a:bodyPr wrap="square" lIns="0" tIns="0" rIns="0" bIns="0" rtlCol="0">
            <a:spAutoFit/>
          </a:bodyPr>
          <a:lstStyle/>
          <a:p>
            <a:pPr algn="ctr">
              <a:buSzPct val="100000"/>
            </a:pPr>
            <a:r>
              <a:rPr lang="en-IN" sz="1200" b="1" dirty="0" smtClean="0">
                <a:solidFill>
                  <a:srgbClr val="313131"/>
                </a:solidFill>
              </a:rPr>
              <a:t>Proposed High level Manpower Assessment Process for holding company</a:t>
            </a:r>
          </a:p>
        </p:txBody>
      </p:sp>
      <p:grpSp>
        <p:nvGrpSpPr>
          <p:cNvPr id="35" name="Group 34"/>
          <p:cNvGrpSpPr/>
          <p:nvPr/>
        </p:nvGrpSpPr>
        <p:grpSpPr>
          <a:xfrm>
            <a:off x="584617" y="3668619"/>
            <a:ext cx="9353863" cy="2385592"/>
            <a:chOff x="0" y="1500186"/>
            <a:chExt cx="9215438" cy="3114679"/>
          </a:xfrm>
        </p:grpSpPr>
        <p:sp>
          <p:nvSpPr>
            <p:cNvPr id="36" name="Rectangle 35"/>
            <p:cNvSpPr/>
            <p:nvPr/>
          </p:nvSpPr>
          <p:spPr>
            <a:xfrm>
              <a:off x="0" y="1500188"/>
              <a:ext cx="2185987" cy="757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Proposed BPR Strategy</a:t>
              </a:r>
              <a:endParaRPr lang="en-IN" sz="1200" b="1" dirty="0"/>
            </a:p>
          </p:txBody>
        </p:sp>
        <p:sp>
          <p:nvSpPr>
            <p:cNvPr id="37" name="Rectangle 36"/>
            <p:cNvSpPr/>
            <p:nvPr/>
          </p:nvSpPr>
          <p:spPr>
            <a:xfrm>
              <a:off x="0" y="2438401"/>
              <a:ext cx="2185987" cy="757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Proposed New Functions</a:t>
              </a:r>
              <a:endParaRPr lang="en-IN" sz="1200" b="1" dirty="0"/>
            </a:p>
          </p:txBody>
        </p:sp>
        <p:sp>
          <p:nvSpPr>
            <p:cNvPr id="38" name="Rectangle 37"/>
            <p:cNvSpPr/>
            <p:nvPr/>
          </p:nvSpPr>
          <p:spPr>
            <a:xfrm>
              <a:off x="0" y="3424240"/>
              <a:ext cx="2185987" cy="11906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Proposed Workflow automation strategy through ICT enablement</a:t>
              </a:r>
              <a:endParaRPr lang="en-IN" sz="1200" b="1" dirty="0"/>
            </a:p>
          </p:txBody>
        </p:sp>
        <p:sp>
          <p:nvSpPr>
            <p:cNvPr id="39" name="Isosceles Triangle 38"/>
            <p:cNvSpPr/>
            <p:nvPr/>
          </p:nvSpPr>
          <p:spPr bwMode="gray">
            <a:xfrm rot="5400000">
              <a:off x="1293018" y="2607470"/>
              <a:ext cx="3114676" cy="900113"/>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smtClean="0">
                <a:solidFill>
                  <a:schemeClr val="bg1"/>
                </a:solidFill>
              </a:endParaRPr>
            </a:p>
          </p:txBody>
        </p:sp>
        <p:sp>
          <p:nvSpPr>
            <p:cNvPr id="40" name="Rectangle 39"/>
            <p:cNvSpPr/>
            <p:nvPr/>
          </p:nvSpPr>
          <p:spPr>
            <a:xfrm>
              <a:off x="3514725" y="1500188"/>
              <a:ext cx="2185987" cy="311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Competency Mapping of existing BPDB Employees</a:t>
              </a:r>
              <a:endParaRPr lang="en-IN" sz="1200" b="1" dirty="0"/>
            </a:p>
          </p:txBody>
        </p:sp>
        <p:sp>
          <p:nvSpPr>
            <p:cNvPr id="41" name="Isosceles Triangle 40"/>
            <p:cNvSpPr/>
            <p:nvPr/>
          </p:nvSpPr>
          <p:spPr bwMode="gray">
            <a:xfrm rot="5400000">
              <a:off x="4807744" y="2607468"/>
              <a:ext cx="3114676" cy="900113"/>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smtClean="0">
                <a:solidFill>
                  <a:schemeClr val="bg1"/>
                </a:solidFill>
              </a:endParaRPr>
            </a:p>
          </p:txBody>
        </p:sp>
        <p:sp>
          <p:nvSpPr>
            <p:cNvPr id="42" name="Rectangle 41"/>
            <p:cNvSpPr/>
            <p:nvPr/>
          </p:nvSpPr>
          <p:spPr>
            <a:xfrm>
              <a:off x="7029451" y="1500186"/>
              <a:ext cx="2185987" cy="311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Formulation of Strategy for Re-skilling &amp; Recruitment</a:t>
              </a:r>
              <a:endParaRPr lang="en-IN" sz="1200" b="1" dirty="0"/>
            </a:p>
          </p:txBody>
        </p:sp>
      </p:grpSp>
    </p:spTree>
    <p:extLst>
      <p:ext uri="{BB962C8B-B14F-4D97-AF65-F5344CB8AC3E}">
        <p14:creationId xmlns:p14="http://schemas.microsoft.com/office/powerpoint/2010/main" val="23099039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Recommendation on Compensation Benchmarking</a:t>
            </a:r>
            <a:endParaRPr lang="en-US" sz="5400" dirty="0">
              <a:solidFill>
                <a:prstClr val="white"/>
              </a:solidFill>
            </a:endParaRPr>
          </a:p>
        </p:txBody>
      </p:sp>
    </p:spTree>
    <p:extLst>
      <p:ext uri="{BB962C8B-B14F-4D97-AF65-F5344CB8AC3E}">
        <p14:creationId xmlns:p14="http://schemas.microsoft.com/office/powerpoint/2010/main" val="37884247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Key objectives and basic framework for benchmarking of compensation framework for holding company employees</a:t>
            </a:r>
            <a:endParaRPr lang="en-IN" sz="2000" b="1" dirty="0"/>
          </a:p>
        </p:txBody>
      </p:sp>
      <p:grpSp>
        <p:nvGrpSpPr>
          <p:cNvPr id="3" name="Group 2"/>
          <p:cNvGrpSpPr/>
          <p:nvPr/>
        </p:nvGrpSpPr>
        <p:grpSpPr>
          <a:xfrm>
            <a:off x="499726" y="1408576"/>
            <a:ext cx="9689188" cy="2545296"/>
            <a:chOff x="499726" y="1381089"/>
            <a:chExt cx="9434630" cy="5153657"/>
          </a:xfrm>
        </p:grpSpPr>
        <p:sp>
          <p:nvSpPr>
            <p:cNvPr id="4" name="TextBox 3"/>
            <p:cNvSpPr txBox="1"/>
            <p:nvPr/>
          </p:nvSpPr>
          <p:spPr>
            <a:xfrm>
              <a:off x="499726" y="1435396"/>
              <a:ext cx="2371061" cy="521115"/>
            </a:xfrm>
            <a:prstGeom prst="rect">
              <a:avLst/>
            </a:prstGeom>
            <a:noFill/>
          </p:spPr>
          <p:txBody>
            <a:bodyPr wrap="square" lIns="36000" tIns="36000" rIns="36000" bIns="36000" rtlCol="0">
              <a:spAutoFit/>
            </a:bodyPr>
            <a:lstStyle/>
            <a:p>
              <a:pPr algn="ctr">
                <a:spcBef>
                  <a:spcPts val="600"/>
                </a:spcBef>
                <a:buSzPct val="100000"/>
              </a:pPr>
              <a:r>
                <a:rPr lang="en-US" sz="1200" b="1" i="1" dirty="0" smtClean="0">
                  <a:solidFill>
                    <a:srgbClr val="313131"/>
                  </a:solidFill>
                </a:rPr>
                <a:t>Current state</a:t>
              </a:r>
            </a:p>
          </p:txBody>
        </p:sp>
        <p:sp>
          <p:nvSpPr>
            <p:cNvPr id="7" name="TextBox 6"/>
            <p:cNvSpPr txBox="1"/>
            <p:nvPr/>
          </p:nvSpPr>
          <p:spPr>
            <a:xfrm>
              <a:off x="499726" y="1868609"/>
              <a:ext cx="2371061" cy="1253027"/>
            </a:xfrm>
            <a:prstGeom prst="rect">
              <a:avLst/>
            </a:prstGeom>
            <a:solidFill>
              <a:schemeClr val="accent1">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BPDB</a:t>
              </a:r>
            </a:p>
            <a:p>
              <a:pPr algn="ctr">
                <a:spcBef>
                  <a:spcPts val="600"/>
                </a:spcBef>
                <a:buSzPct val="100000"/>
              </a:pPr>
              <a:r>
                <a:rPr lang="en-US" sz="1100" dirty="0" smtClean="0">
                  <a:solidFill>
                    <a:srgbClr val="313131"/>
                  </a:solidFill>
                </a:rPr>
                <a:t>(Statutory body, Governed by PO59)</a:t>
              </a:r>
            </a:p>
          </p:txBody>
        </p:sp>
        <p:sp>
          <p:nvSpPr>
            <p:cNvPr id="8" name="TextBox 7"/>
            <p:cNvSpPr txBox="1"/>
            <p:nvPr/>
          </p:nvSpPr>
          <p:spPr>
            <a:xfrm>
              <a:off x="4288463" y="1868609"/>
              <a:ext cx="2371061" cy="1253027"/>
            </a:xfrm>
            <a:prstGeom prst="rect">
              <a:avLst/>
            </a:prstGeom>
            <a:solidFill>
              <a:schemeClr val="accent1">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Holding Company</a:t>
              </a:r>
            </a:p>
            <a:p>
              <a:pPr algn="ctr">
                <a:spcBef>
                  <a:spcPts val="600"/>
                </a:spcBef>
                <a:buSzPct val="100000"/>
              </a:pPr>
              <a:r>
                <a:rPr lang="en-US" sz="1100" dirty="0" smtClean="0">
                  <a:solidFill>
                    <a:srgbClr val="313131"/>
                  </a:solidFill>
                </a:rPr>
                <a:t>(need to be compliant with governing regulations)</a:t>
              </a:r>
              <a:endParaRPr lang="en-US" sz="1100" dirty="0">
                <a:solidFill>
                  <a:srgbClr val="313131"/>
                </a:solidFill>
              </a:endParaRPr>
            </a:p>
          </p:txBody>
        </p:sp>
        <p:sp>
          <p:nvSpPr>
            <p:cNvPr id="9" name="TextBox 8"/>
            <p:cNvSpPr txBox="1"/>
            <p:nvPr/>
          </p:nvSpPr>
          <p:spPr>
            <a:xfrm>
              <a:off x="4551393" y="1435396"/>
              <a:ext cx="1781414" cy="521115"/>
            </a:xfrm>
            <a:prstGeom prst="rect">
              <a:avLst/>
            </a:prstGeom>
            <a:noFill/>
          </p:spPr>
          <p:txBody>
            <a:bodyPr wrap="square" lIns="36000" tIns="36000" rIns="36000" bIns="36000" rtlCol="0">
              <a:spAutoFit/>
            </a:bodyPr>
            <a:lstStyle/>
            <a:p>
              <a:pPr algn="ctr">
                <a:spcBef>
                  <a:spcPts val="600"/>
                </a:spcBef>
                <a:buSzPct val="100000"/>
              </a:pPr>
              <a:r>
                <a:rPr lang="en-US" sz="1200" b="1" i="1" dirty="0" smtClean="0">
                  <a:solidFill>
                    <a:srgbClr val="313131"/>
                  </a:solidFill>
                </a:rPr>
                <a:t>Future state</a:t>
              </a:r>
            </a:p>
          </p:txBody>
        </p:sp>
        <p:sp>
          <p:nvSpPr>
            <p:cNvPr id="6" name="Striped Right Arrow 5"/>
            <p:cNvSpPr/>
            <p:nvPr/>
          </p:nvSpPr>
          <p:spPr bwMode="gray">
            <a:xfrm>
              <a:off x="2987747" y="2232837"/>
              <a:ext cx="1201479" cy="435935"/>
            </a:xfrm>
            <a:prstGeom prst="stripedRightArrow">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 name="TextBox 10"/>
            <p:cNvSpPr txBox="1"/>
            <p:nvPr/>
          </p:nvSpPr>
          <p:spPr>
            <a:xfrm>
              <a:off x="2742083" y="1907374"/>
              <a:ext cx="1781414" cy="583433"/>
            </a:xfrm>
            <a:prstGeom prst="rect">
              <a:avLst/>
            </a:prstGeom>
            <a:noFill/>
          </p:spPr>
          <p:txBody>
            <a:bodyPr wrap="square" lIns="36000" tIns="36000" rIns="36000" bIns="36000" rtlCol="0">
              <a:spAutoFit/>
            </a:bodyPr>
            <a:lstStyle/>
            <a:p>
              <a:pPr algn="ctr">
                <a:spcBef>
                  <a:spcPts val="600"/>
                </a:spcBef>
                <a:buSzPct val="100000"/>
              </a:pPr>
              <a:r>
                <a:rPr lang="en-US" sz="1400" b="1" i="1" dirty="0" smtClean="0">
                  <a:solidFill>
                    <a:srgbClr val="313131"/>
                  </a:solidFill>
                </a:rPr>
                <a:t>Reform</a:t>
              </a:r>
            </a:p>
          </p:txBody>
        </p:sp>
        <p:sp>
          <p:nvSpPr>
            <p:cNvPr id="12" name="TextBox 11"/>
            <p:cNvSpPr txBox="1"/>
            <p:nvPr/>
          </p:nvSpPr>
          <p:spPr>
            <a:xfrm>
              <a:off x="7060019" y="1381089"/>
              <a:ext cx="2874337" cy="1941543"/>
            </a:xfrm>
            <a:prstGeom prst="rect">
              <a:avLst/>
            </a:prstGeom>
            <a:solidFill>
              <a:schemeClr val="accent1">
                <a:lumMod val="20000"/>
                <a:lumOff val="80000"/>
              </a:schemeClr>
            </a:solidFill>
            <a:ln>
              <a:solidFill>
                <a:schemeClr val="accent1"/>
              </a:solidFill>
            </a:ln>
          </p:spPr>
          <p:txBody>
            <a:bodyPr wrap="square" lIns="36000" tIns="36000" rIns="36000" bIns="36000" rtlCol="0" anchor="ctr">
              <a:noAutofit/>
            </a:bodyPr>
            <a:lstStyle/>
            <a:p>
              <a:pPr>
                <a:spcBef>
                  <a:spcPts val="600"/>
                </a:spcBef>
                <a:buSzPct val="100000"/>
              </a:pPr>
              <a:r>
                <a:rPr lang="en-US" sz="1100" b="1" dirty="0" smtClean="0">
                  <a:solidFill>
                    <a:srgbClr val="313131"/>
                  </a:solidFill>
                </a:rPr>
                <a:t>Governing regulations:</a:t>
              </a:r>
            </a:p>
            <a:p>
              <a:pPr marL="171450" indent="-171450">
                <a:spcBef>
                  <a:spcPts val="600"/>
                </a:spcBef>
                <a:buSzPct val="100000"/>
                <a:buFont typeface="Arial" panose="020B0604020202020204" pitchFamily="34" charset="0"/>
                <a:buChar char="•"/>
              </a:pPr>
              <a:r>
                <a:rPr lang="en-US" sz="1100" dirty="0" smtClean="0">
                  <a:solidFill>
                    <a:srgbClr val="313131"/>
                  </a:solidFill>
                </a:rPr>
                <a:t>Bangladesh Companies Act</a:t>
              </a:r>
            </a:p>
            <a:p>
              <a:pPr marL="171450" indent="-171450">
                <a:spcBef>
                  <a:spcPts val="600"/>
                </a:spcBef>
                <a:buSzPct val="100000"/>
                <a:buFont typeface="Arial" panose="020B0604020202020204" pitchFamily="34" charset="0"/>
                <a:buChar char="•"/>
              </a:pPr>
              <a:r>
                <a:rPr lang="en-US" sz="1100" dirty="0" smtClean="0">
                  <a:solidFill>
                    <a:srgbClr val="313131"/>
                  </a:solidFill>
                </a:rPr>
                <a:t>Bangladesh </a:t>
              </a:r>
              <a:r>
                <a:rPr lang="en-US" sz="1100" dirty="0" err="1" smtClean="0">
                  <a:solidFill>
                    <a:srgbClr val="313131"/>
                  </a:solidFill>
                </a:rPr>
                <a:t>Labour</a:t>
              </a:r>
              <a:r>
                <a:rPr lang="en-US" sz="1100" dirty="0" smtClean="0">
                  <a:solidFill>
                    <a:srgbClr val="313131"/>
                  </a:solidFill>
                </a:rPr>
                <a:t> Act and Rules</a:t>
              </a:r>
            </a:p>
            <a:p>
              <a:pPr marL="171450" indent="-171450">
                <a:spcBef>
                  <a:spcPts val="600"/>
                </a:spcBef>
                <a:buSzPct val="100000"/>
                <a:buFont typeface="Arial" panose="020B0604020202020204" pitchFamily="34" charset="0"/>
                <a:buChar char="•"/>
              </a:pPr>
              <a:r>
                <a:rPr lang="en-US" sz="1100" dirty="0" smtClean="0">
                  <a:solidFill>
                    <a:srgbClr val="313131"/>
                  </a:solidFill>
                </a:rPr>
                <a:t>Other related laws</a:t>
              </a:r>
            </a:p>
          </p:txBody>
        </p:sp>
        <p:sp>
          <p:nvSpPr>
            <p:cNvPr id="10" name="Isosceles Triangle 9"/>
            <p:cNvSpPr/>
            <p:nvPr/>
          </p:nvSpPr>
          <p:spPr bwMode="gray">
            <a:xfrm rot="16200000">
              <a:off x="6369921" y="2313980"/>
              <a:ext cx="979699" cy="202019"/>
            </a:xfrm>
            <a:prstGeom prst="triangle">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 name="Notched Right Arrow 12"/>
            <p:cNvSpPr/>
            <p:nvPr/>
          </p:nvSpPr>
          <p:spPr bwMode="gray">
            <a:xfrm rot="5400000">
              <a:off x="5153092" y="3155464"/>
              <a:ext cx="578015" cy="510362"/>
            </a:xfrm>
            <a:prstGeom prst="notched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5" name="TextBox 14"/>
            <p:cNvSpPr txBox="1"/>
            <p:nvPr/>
          </p:nvSpPr>
          <p:spPr>
            <a:xfrm>
              <a:off x="3564685" y="3727784"/>
              <a:ext cx="3818617" cy="828873"/>
            </a:xfrm>
            <a:prstGeom prst="rect">
              <a:avLst/>
            </a:prstGeom>
            <a:solidFill>
              <a:schemeClr val="accent3">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Need for compensation benchmarking with subsidiaries</a:t>
              </a:r>
            </a:p>
          </p:txBody>
        </p:sp>
        <p:sp>
          <p:nvSpPr>
            <p:cNvPr id="16" name="Notched Right Arrow 15"/>
            <p:cNvSpPr/>
            <p:nvPr/>
          </p:nvSpPr>
          <p:spPr bwMode="gray">
            <a:xfrm rot="5400000">
              <a:off x="5153092" y="4596480"/>
              <a:ext cx="578015" cy="510362"/>
            </a:xfrm>
            <a:prstGeom prst="notched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7" name="TextBox 16"/>
            <p:cNvSpPr txBox="1"/>
            <p:nvPr/>
          </p:nvSpPr>
          <p:spPr>
            <a:xfrm>
              <a:off x="1718547" y="5271221"/>
              <a:ext cx="7469758" cy="507970"/>
            </a:xfrm>
            <a:prstGeom prst="rect">
              <a:avLst/>
            </a:prstGeom>
            <a:solidFill>
              <a:srgbClr val="041E42"/>
            </a:solidFill>
          </p:spPr>
          <p:txBody>
            <a:bodyPr wrap="square" lIns="36000" tIns="36000" rIns="36000" bIns="36000" rtlCol="0" anchor="ctr">
              <a:noAutofit/>
            </a:bodyPr>
            <a:lstStyle/>
            <a:p>
              <a:pPr algn="ctr">
                <a:spcBef>
                  <a:spcPts val="600"/>
                </a:spcBef>
                <a:buSzPct val="100000"/>
              </a:pPr>
              <a:r>
                <a:rPr lang="en-US" sz="1400" b="1" dirty="0" smtClean="0">
                  <a:solidFill>
                    <a:prstClr val="white"/>
                  </a:solidFill>
                </a:rPr>
                <a:t>Components of compensation benchmarking</a:t>
              </a:r>
            </a:p>
          </p:txBody>
        </p:sp>
        <p:sp>
          <p:nvSpPr>
            <p:cNvPr id="18" name="TextBox 17"/>
            <p:cNvSpPr txBox="1"/>
            <p:nvPr/>
          </p:nvSpPr>
          <p:spPr>
            <a:xfrm>
              <a:off x="1718547" y="5716653"/>
              <a:ext cx="1790194" cy="818093"/>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Basic salary</a:t>
              </a:r>
            </a:p>
          </p:txBody>
        </p:sp>
        <p:sp>
          <p:nvSpPr>
            <p:cNvPr id="19" name="TextBox 18"/>
            <p:cNvSpPr txBox="1"/>
            <p:nvPr/>
          </p:nvSpPr>
          <p:spPr>
            <a:xfrm>
              <a:off x="3611735" y="5716653"/>
              <a:ext cx="1790194" cy="818093"/>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Perquisites or benefits</a:t>
              </a:r>
            </a:p>
          </p:txBody>
        </p:sp>
        <p:sp>
          <p:nvSpPr>
            <p:cNvPr id="20" name="TextBox 19"/>
            <p:cNvSpPr txBox="1"/>
            <p:nvPr/>
          </p:nvSpPr>
          <p:spPr>
            <a:xfrm>
              <a:off x="5504923" y="5716653"/>
              <a:ext cx="1790194" cy="818093"/>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Terminal benefits</a:t>
              </a:r>
            </a:p>
          </p:txBody>
        </p:sp>
        <p:sp>
          <p:nvSpPr>
            <p:cNvPr id="21" name="TextBox 20"/>
            <p:cNvSpPr txBox="1"/>
            <p:nvPr/>
          </p:nvSpPr>
          <p:spPr>
            <a:xfrm>
              <a:off x="7398111" y="5716653"/>
              <a:ext cx="1790194" cy="818093"/>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200" b="1" dirty="0" smtClean="0">
                  <a:solidFill>
                    <a:srgbClr val="313131"/>
                  </a:solidFill>
                </a:rPr>
                <a:t>Income Tax liabilities</a:t>
              </a:r>
            </a:p>
          </p:txBody>
        </p:sp>
      </p:grpSp>
      <p:sp>
        <p:nvSpPr>
          <p:cNvPr id="22" name="Rectangle 21"/>
          <p:cNvSpPr/>
          <p:nvPr/>
        </p:nvSpPr>
        <p:spPr bwMode="gray">
          <a:xfrm>
            <a:off x="439794" y="4287434"/>
            <a:ext cx="9809052" cy="91186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285750" indent="-285750">
              <a:lnSpc>
                <a:spcPct val="106000"/>
              </a:lnSpc>
              <a:spcBef>
                <a:spcPts val="600"/>
              </a:spcBef>
              <a:buFont typeface="Arial" panose="020B0604020202020204" pitchFamily="34" charset="0"/>
              <a:buChar char="•"/>
            </a:pPr>
            <a:r>
              <a:rPr lang="en-US" sz="1200" dirty="0" smtClean="0">
                <a:solidFill>
                  <a:sysClr val="windowText" lastClr="000000"/>
                </a:solidFill>
              </a:rPr>
              <a:t>We have conducted a high level salary comparison of BPDB employees with that of EGCB, NWZPDCL and PGCB </a:t>
            </a:r>
          </a:p>
          <a:p>
            <a:pPr marL="285750" indent="-285750">
              <a:lnSpc>
                <a:spcPct val="106000"/>
              </a:lnSpc>
              <a:spcBef>
                <a:spcPts val="600"/>
              </a:spcBef>
              <a:buFont typeface="Arial" panose="020B0604020202020204" pitchFamily="34" charset="0"/>
              <a:buChar char="•"/>
            </a:pPr>
            <a:r>
              <a:rPr lang="en-US" sz="1200" dirty="0" smtClean="0">
                <a:solidFill>
                  <a:sysClr val="windowText" lastClr="000000"/>
                </a:solidFill>
              </a:rPr>
              <a:t>The comparison included salary components such as basic salary, perquisites or benefits, terminal benefits &amp; taxes.  </a:t>
            </a:r>
          </a:p>
          <a:p>
            <a:pPr marL="285750" indent="-285750">
              <a:lnSpc>
                <a:spcPct val="106000"/>
              </a:lnSpc>
              <a:spcBef>
                <a:spcPts val="600"/>
              </a:spcBef>
              <a:buFont typeface="Arial" panose="020B0604020202020204" pitchFamily="34" charset="0"/>
              <a:buChar char="•"/>
            </a:pPr>
            <a:r>
              <a:rPr lang="en-US" sz="1200" dirty="0" smtClean="0">
                <a:solidFill>
                  <a:sysClr val="windowText" lastClr="000000"/>
                </a:solidFill>
              </a:rPr>
              <a:t>A sample salary comparison has been illustrated below:</a:t>
            </a:r>
            <a:endParaRPr lang="en-IN" sz="1200" dirty="0" smtClean="0">
              <a:solidFill>
                <a:sysClr val="windowText" lastClr="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238615002"/>
              </p:ext>
            </p:extLst>
          </p:nvPr>
        </p:nvGraphicFramePr>
        <p:xfrm>
          <a:off x="439794" y="5285754"/>
          <a:ext cx="9809050" cy="1463040"/>
        </p:xfrm>
        <a:graphic>
          <a:graphicData uri="http://schemas.openxmlformats.org/drawingml/2006/table">
            <a:tbl>
              <a:tblPr firstRow="1" bandRow="1">
                <a:tableStyleId>{BC89EF96-8CEA-46FF-86C4-4CE0E7609802}</a:tableStyleId>
              </a:tblPr>
              <a:tblGrid>
                <a:gridCol w="1961810"/>
                <a:gridCol w="2814173"/>
                <a:gridCol w="1677689"/>
                <a:gridCol w="1677689"/>
                <a:gridCol w="1677689"/>
              </a:tblGrid>
              <a:tr h="0">
                <a:tc>
                  <a:txBody>
                    <a:bodyPr/>
                    <a:lstStyle/>
                    <a:p>
                      <a:r>
                        <a:rPr lang="en-US" sz="1200" dirty="0" smtClean="0">
                          <a:solidFill>
                            <a:schemeClr val="bg1"/>
                          </a:solidFill>
                        </a:rPr>
                        <a:t>Salary Component</a:t>
                      </a:r>
                      <a:endParaRPr lang="en-IN" sz="1200" dirty="0">
                        <a:solidFill>
                          <a:schemeClr val="bg1"/>
                        </a:solidFill>
                      </a:endParaRPr>
                    </a:p>
                  </a:txBody>
                  <a:tcPr>
                    <a:solidFill>
                      <a:schemeClr val="accent1"/>
                    </a:solidFill>
                  </a:tcPr>
                </a:tc>
                <a:tc>
                  <a:txBody>
                    <a:bodyPr/>
                    <a:lstStyle/>
                    <a:p>
                      <a:pPr algn="ctr"/>
                      <a:r>
                        <a:rPr lang="en-US" sz="1200" dirty="0" smtClean="0">
                          <a:solidFill>
                            <a:schemeClr val="bg1"/>
                          </a:solidFill>
                        </a:rPr>
                        <a:t>Chairman, BPDB</a:t>
                      </a:r>
                      <a:endParaRPr lang="en-IN" sz="1200" dirty="0">
                        <a:solidFill>
                          <a:schemeClr val="bg1"/>
                        </a:solidFill>
                      </a:endParaRPr>
                    </a:p>
                  </a:txBody>
                  <a:tcPr>
                    <a:solidFill>
                      <a:schemeClr val="accent1"/>
                    </a:solidFill>
                  </a:tcPr>
                </a:tc>
                <a:tc>
                  <a:txBody>
                    <a:bodyPr/>
                    <a:lstStyle/>
                    <a:p>
                      <a:r>
                        <a:rPr lang="en-US" sz="1200" dirty="0" smtClean="0">
                          <a:solidFill>
                            <a:schemeClr val="bg1"/>
                          </a:solidFill>
                        </a:rPr>
                        <a:t>MD, EGCB</a:t>
                      </a:r>
                      <a:endParaRPr lang="en-IN" sz="1200" dirty="0">
                        <a:solidFill>
                          <a:schemeClr val="bg1"/>
                        </a:solidFill>
                      </a:endParaRPr>
                    </a:p>
                  </a:txBody>
                  <a:tcPr>
                    <a:solidFill>
                      <a:schemeClr val="accent1"/>
                    </a:solidFill>
                  </a:tcPr>
                </a:tc>
                <a:tc>
                  <a:txBody>
                    <a:bodyPr/>
                    <a:lstStyle/>
                    <a:p>
                      <a:r>
                        <a:rPr lang="en-US" sz="1200" dirty="0" smtClean="0">
                          <a:solidFill>
                            <a:schemeClr val="bg1"/>
                          </a:solidFill>
                        </a:rPr>
                        <a:t>MD, NWZPDCL</a:t>
                      </a:r>
                      <a:endParaRPr lang="en-IN" sz="1200" dirty="0">
                        <a:solidFill>
                          <a:schemeClr val="bg1"/>
                        </a:solidFill>
                      </a:endParaRPr>
                    </a:p>
                  </a:txBody>
                  <a:tcPr>
                    <a:solidFill>
                      <a:schemeClr val="accent1"/>
                    </a:solidFill>
                  </a:tcPr>
                </a:tc>
                <a:tc>
                  <a:txBody>
                    <a:bodyPr/>
                    <a:lstStyle/>
                    <a:p>
                      <a:r>
                        <a:rPr lang="en-US" sz="1200" dirty="0" smtClean="0">
                          <a:solidFill>
                            <a:schemeClr val="bg1"/>
                          </a:solidFill>
                        </a:rPr>
                        <a:t>MD, PGCB</a:t>
                      </a:r>
                      <a:endParaRPr lang="en-IN" sz="1200" dirty="0">
                        <a:solidFill>
                          <a:schemeClr val="bg1"/>
                        </a:solidFill>
                      </a:endParaRPr>
                    </a:p>
                  </a:txBody>
                  <a:tcPr>
                    <a:solidFill>
                      <a:schemeClr val="accent1"/>
                    </a:solidFill>
                  </a:tcPr>
                </a:tc>
              </a:tr>
              <a:tr h="0">
                <a:tc>
                  <a:txBody>
                    <a:bodyPr/>
                    <a:lstStyle/>
                    <a:p>
                      <a:r>
                        <a:rPr lang="en-US" sz="1200" dirty="0" smtClean="0"/>
                        <a:t>Basic Salary</a:t>
                      </a:r>
                      <a:endParaRPr lang="en-IN" sz="1200" dirty="0"/>
                    </a:p>
                  </a:txBody>
                  <a:tcPr>
                    <a:solidFill>
                      <a:schemeClr val="bg1"/>
                    </a:solidFill>
                  </a:tcPr>
                </a:tc>
                <a:tc>
                  <a:txBody>
                    <a:bodyPr/>
                    <a:lstStyle/>
                    <a:p>
                      <a:pPr algn="ctr"/>
                      <a:r>
                        <a:rPr lang="en-US" sz="1200" dirty="0" smtClean="0"/>
                        <a:t>78000</a:t>
                      </a:r>
                      <a:endParaRPr lang="en-IN" sz="1200" dirty="0"/>
                    </a:p>
                  </a:txBody>
                  <a:tcPr>
                    <a:solidFill>
                      <a:schemeClr val="bg1"/>
                    </a:solidFill>
                  </a:tcPr>
                </a:tc>
                <a:tc gridSpan="3">
                  <a:txBody>
                    <a:bodyPr/>
                    <a:lstStyle/>
                    <a:p>
                      <a:pPr algn="ctr"/>
                      <a:r>
                        <a:rPr lang="en-US" sz="1200" dirty="0" smtClean="0"/>
                        <a:t>175000</a:t>
                      </a:r>
                      <a:endParaRPr lang="en-IN" sz="1200" dirty="0"/>
                    </a:p>
                  </a:txBody>
                  <a:tcPr>
                    <a:solidFill>
                      <a:schemeClr val="bg1"/>
                    </a:solidFill>
                  </a:tcPr>
                </a:tc>
                <a:tc hMerge="1">
                  <a:txBody>
                    <a:bodyPr/>
                    <a:lstStyle/>
                    <a:p>
                      <a:endParaRPr lang="en-IN" dirty="0"/>
                    </a:p>
                  </a:txBody>
                  <a:tcPr/>
                </a:tc>
                <a:tc hMerge="1">
                  <a:txBody>
                    <a:bodyPr/>
                    <a:lstStyle/>
                    <a:p>
                      <a:endParaRPr lang="en-IN" dirty="0"/>
                    </a:p>
                  </a:txBody>
                  <a:tcPr/>
                </a:tc>
              </a:tr>
              <a:tr h="0">
                <a:tc>
                  <a:txBody>
                    <a:bodyPr/>
                    <a:lstStyle/>
                    <a:p>
                      <a:r>
                        <a:rPr lang="en-US" sz="1200" dirty="0" smtClean="0"/>
                        <a:t>HRA</a:t>
                      </a:r>
                      <a:endParaRPr lang="en-IN" sz="1200" dirty="0"/>
                    </a:p>
                  </a:txBody>
                  <a:tcPr>
                    <a:solidFill>
                      <a:schemeClr val="bg1"/>
                    </a:solidFill>
                  </a:tcPr>
                </a:tc>
                <a:tc>
                  <a:txBody>
                    <a:bodyPr/>
                    <a:lstStyle/>
                    <a:p>
                      <a:pPr algn="ctr"/>
                      <a:r>
                        <a:rPr lang="en-IN" sz="1200" dirty="0" smtClean="0"/>
                        <a:t>Dhaka - 50% of Basic</a:t>
                      </a:r>
                    </a:p>
                    <a:p>
                      <a:pPr algn="ctr"/>
                      <a:r>
                        <a:rPr lang="en-IN" sz="1200" dirty="0" smtClean="0"/>
                        <a:t>Other select cities - 40% of Basic</a:t>
                      </a:r>
                    </a:p>
                    <a:p>
                      <a:pPr algn="ctr"/>
                      <a:r>
                        <a:rPr lang="en-IN" sz="1200" dirty="0" smtClean="0"/>
                        <a:t>Other Places - 35% of Basic</a:t>
                      </a:r>
                    </a:p>
                  </a:txBody>
                  <a:tcPr>
                    <a:solidFill>
                      <a:schemeClr val="bg1"/>
                    </a:solidFill>
                  </a:tcPr>
                </a:tc>
                <a:tc gridSpan="3">
                  <a:txBody>
                    <a:bodyPr/>
                    <a:lstStyle/>
                    <a:p>
                      <a:pPr algn="ctr"/>
                      <a:r>
                        <a:rPr lang="en-IN" sz="1200" dirty="0" smtClean="0"/>
                        <a:t>Dhaka - 50% of Basic</a:t>
                      </a:r>
                    </a:p>
                    <a:p>
                      <a:pPr algn="ctr"/>
                      <a:r>
                        <a:rPr lang="en-IN" sz="1200" dirty="0" smtClean="0"/>
                        <a:t>Other select cities - 40% of Basic</a:t>
                      </a:r>
                    </a:p>
                    <a:p>
                      <a:pPr algn="ctr"/>
                      <a:r>
                        <a:rPr lang="en-IN" sz="1200" dirty="0" smtClean="0"/>
                        <a:t>Other Places - 30% of Basic</a:t>
                      </a:r>
                    </a:p>
                  </a:txBody>
                  <a:tcPr>
                    <a:solidFill>
                      <a:schemeClr val="bg1"/>
                    </a:solidFill>
                  </a:tcPr>
                </a:tc>
                <a:tc hMerge="1">
                  <a:txBody>
                    <a:bodyPr/>
                    <a:lstStyle/>
                    <a:p>
                      <a:endParaRPr lang="en-IN" dirty="0"/>
                    </a:p>
                  </a:txBody>
                  <a:tcPr/>
                </a:tc>
                <a:tc hMerge="1">
                  <a:txBody>
                    <a:bodyPr/>
                    <a:lstStyle/>
                    <a:p>
                      <a:endParaRPr lang="en-IN" dirty="0"/>
                    </a:p>
                  </a:txBody>
                  <a:tcPr/>
                </a:tc>
              </a:tr>
              <a:tr h="0">
                <a:tc>
                  <a:txBody>
                    <a:bodyPr/>
                    <a:lstStyle/>
                    <a:p>
                      <a:r>
                        <a:rPr lang="en-US" sz="1200" dirty="0" smtClean="0"/>
                        <a:t>Medical Allowance</a:t>
                      </a:r>
                      <a:endParaRPr lang="en-IN" sz="1200" dirty="0"/>
                    </a:p>
                  </a:txBody>
                  <a:tcPr>
                    <a:solidFill>
                      <a:schemeClr val="bg1"/>
                    </a:solidFill>
                  </a:tcPr>
                </a:tc>
                <a:tc>
                  <a:txBody>
                    <a:bodyPr/>
                    <a:lstStyle/>
                    <a:p>
                      <a:pPr algn="ctr"/>
                      <a:r>
                        <a:rPr lang="en-US" sz="1200" dirty="0" smtClean="0"/>
                        <a:t>BDT 1500 p.m.</a:t>
                      </a:r>
                      <a:endParaRPr lang="en-IN" sz="1200" dirty="0"/>
                    </a:p>
                  </a:txBody>
                  <a:tcPr>
                    <a:solidFill>
                      <a:schemeClr val="bg1"/>
                    </a:solidFill>
                  </a:tcPr>
                </a:tc>
                <a:tc gridSpan="3">
                  <a:txBody>
                    <a:bodyPr/>
                    <a:lstStyle/>
                    <a:p>
                      <a:pPr algn="ctr"/>
                      <a:r>
                        <a:rPr lang="en-US" sz="1200" dirty="0" smtClean="0"/>
                        <a:t>3 times of basic salary</a:t>
                      </a:r>
                      <a:endParaRPr lang="en-IN" sz="1200" dirty="0"/>
                    </a:p>
                  </a:txBody>
                  <a:tcPr>
                    <a:solidFill>
                      <a:schemeClr val="bg1"/>
                    </a:solidFill>
                  </a:tcPr>
                </a:tc>
                <a:tc hMerge="1">
                  <a:txBody>
                    <a:bodyPr/>
                    <a:lstStyle/>
                    <a:p>
                      <a:endParaRPr lang="en-IN" dirty="0"/>
                    </a:p>
                  </a:txBody>
                  <a:tcPr/>
                </a:tc>
                <a:tc hMerge="1">
                  <a:txBody>
                    <a:bodyPr/>
                    <a:lstStyle/>
                    <a:p>
                      <a:endParaRPr lang="en-IN" dirty="0"/>
                    </a:p>
                  </a:txBody>
                  <a:tcPr/>
                </a:tc>
              </a:tr>
            </a:tbl>
          </a:graphicData>
        </a:graphic>
      </p:graphicFrame>
      <p:sp>
        <p:nvSpPr>
          <p:cNvPr id="24" name="Rectangle 23"/>
          <p:cNvSpPr/>
          <p:nvPr/>
        </p:nvSpPr>
        <p:spPr bwMode="gray">
          <a:xfrm>
            <a:off x="439794" y="6807607"/>
            <a:ext cx="9809052" cy="493625"/>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spcBef>
                <a:spcPts val="600"/>
              </a:spcBef>
            </a:pPr>
            <a:r>
              <a:rPr lang="en-US" sz="1200" b="1" dirty="0" smtClean="0">
                <a:solidFill>
                  <a:sysClr val="windowText" lastClr="000000"/>
                </a:solidFill>
              </a:rPr>
              <a:t>The comparison for terminal benefits &amp; tax incidence which is applicable for all employees have been provided in the subsequent slide</a:t>
            </a:r>
            <a:endParaRPr lang="en-IN" sz="1200" b="1" dirty="0" smtClean="0">
              <a:solidFill>
                <a:sysClr val="windowText" lastClr="000000"/>
              </a:solidFill>
            </a:endParaRPr>
          </a:p>
        </p:txBody>
      </p:sp>
      <p:sp>
        <p:nvSpPr>
          <p:cNvPr id="25" name="Pentagon 24">
            <a:hlinkClick r:id="rId2" action="ppaction://hlinksldjump"/>
          </p:cNvPr>
          <p:cNvSpPr/>
          <p:nvPr/>
        </p:nvSpPr>
        <p:spPr bwMode="gray">
          <a:xfrm>
            <a:off x="9815515" y="7360045"/>
            <a:ext cx="373399" cy="20433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5091716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comparison </a:t>
            </a:r>
            <a:r>
              <a:rPr lang="en-US" sz="2000" b="1" dirty="0"/>
              <a:t>of </a:t>
            </a:r>
            <a:r>
              <a:rPr lang="en-US" sz="2000" b="1" dirty="0" smtClean="0"/>
              <a:t>terminal benefits &amp; tax incidence of BPDB, EGCB, NWZPDCL, PGCB</a:t>
            </a:r>
            <a:endParaRPr lang="en-IN" sz="2000" b="1" dirty="0"/>
          </a:p>
        </p:txBody>
      </p:sp>
      <p:graphicFrame>
        <p:nvGraphicFramePr>
          <p:cNvPr id="4" name="Table 3"/>
          <p:cNvGraphicFramePr>
            <a:graphicFrameLocks noGrp="1"/>
          </p:cNvGraphicFramePr>
          <p:nvPr>
            <p:extLst>
              <p:ext uri="{D42A27DB-BD31-4B8C-83A1-F6EECF244321}">
                <p14:modId xmlns:p14="http://schemas.microsoft.com/office/powerpoint/2010/main" val="2688680660"/>
              </p:ext>
            </p:extLst>
          </p:nvPr>
        </p:nvGraphicFramePr>
        <p:xfrm>
          <a:off x="439793" y="1113420"/>
          <a:ext cx="9809051" cy="5119022"/>
        </p:xfrm>
        <a:graphic>
          <a:graphicData uri="http://schemas.openxmlformats.org/drawingml/2006/table">
            <a:tbl>
              <a:tblPr firstRow="1" firstCol="1" bandRow="1">
                <a:tableStyleId>{BC89EF96-8CEA-46FF-86C4-4CE0E7609802}</a:tableStyleId>
              </a:tblPr>
              <a:tblGrid>
                <a:gridCol w="1085552">
                  <a:extLst>
                    <a:ext uri="{9D8B030D-6E8A-4147-A177-3AD203B41FA5}">
                      <a16:colId xmlns="" xmlns:a16="http://schemas.microsoft.com/office/drawing/2014/main" val="1314747504"/>
                    </a:ext>
                  </a:extLst>
                </a:gridCol>
                <a:gridCol w="3781173">
                  <a:extLst>
                    <a:ext uri="{9D8B030D-6E8A-4147-A177-3AD203B41FA5}">
                      <a16:colId xmlns="" xmlns:a16="http://schemas.microsoft.com/office/drawing/2014/main" val="1118420833"/>
                    </a:ext>
                  </a:extLst>
                </a:gridCol>
                <a:gridCol w="1647442">
                  <a:extLst>
                    <a:ext uri="{9D8B030D-6E8A-4147-A177-3AD203B41FA5}">
                      <a16:colId xmlns="" xmlns:a16="http://schemas.microsoft.com/office/drawing/2014/main" val="2978169825"/>
                    </a:ext>
                  </a:extLst>
                </a:gridCol>
                <a:gridCol w="1647442">
                  <a:extLst>
                    <a:ext uri="{9D8B030D-6E8A-4147-A177-3AD203B41FA5}">
                      <a16:colId xmlns="" xmlns:a16="http://schemas.microsoft.com/office/drawing/2014/main" val="1111499035"/>
                    </a:ext>
                  </a:extLst>
                </a:gridCol>
                <a:gridCol w="1647442">
                  <a:extLst>
                    <a:ext uri="{9D8B030D-6E8A-4147-A177-3AD203B41FA5}">
                      <a16:colId xmlns="" xmlns:a16="http://schemas.microsoft.com/office/drawing/2014/main" val="764444401"/>
                    </a:ext>
                  </a:extLst>
                </a:gridCol>
              </a:tblGrid>
              <a:tr h="557710">
                <a:tc>
                  <a:txBody>
                    <a:bodyPr/>
                    <a:lstStyle/>
                    <a:p>
                      <a:pPr algn="l">
                        <a:lnSpc>
                          <a:spcPct val="115000"/>
                        </a:lnSpc>
                        <a:spcAft>
                          <a:spcPts val="0"/>
                        </a:spcAft>
                      </a:pPr>
                      <a:r>
                        <a:rPr lang="en-US" sz="1100" dirty="0">
                          <a:solidFill>
                            <a:schemeClr val="bg1"/>
                          </a:solidFill>
                          <a:effectLst/>
                        </a:rPr>
                        <a:t>Terminal benefits</a:t>
                      </a:r>
                      <a:endParaRPr lang="en-IN" sz="1100" dirty="0">
                        <a:solidFill>
                          <a:schemeClr val="bg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rgbClr val="92D050"/>
                    </a:solidFill>
                  </a:tcPr>
                </a:tc>
                <a:tc>
                  <a:txBody>
                    <a:bodyPr/>
                    <a:lstStyle/>
                    <a:p>
                      <a:pPr algn="ctr">
                        <a:lnSpc>
                          <a:spcPct val="115000"/>
                        </a:lnSpc>
                        <a:spcAft>
                          <a:spcPts val="0"/>
                        </a:spcAft>
                      </a:pPr>
                      <a:r>
                        <a:rPr lang="en-US" sz="1100" dirty="0">
                          <a:solidFill>
                            <a:schemeClr val="bg1"/>
                          </a:solidFill>
                          <a:effectLst/>
                        </a:rPr>
                        <a:t>BPDB</a:t>
                      </a:r>
                      <a:endParaRPr lang="en-IN" sz="1100" dirty="0">
                        <a:solidFill>
                          <a:schemeClr val="bg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rgbClr val="92D050"/>
                    </a:solidFill>
                  </a:tcPr>
                </a:tc>
                <a:tc>
                  <a:txBody>
                    <a:bodyPr/>
                    <a:lstStyle/>
                    <a:p>
                      <a:pPr algn="ctr">
                        <a:lnSpc>
                          <a:spcPct val="115000"/>
                        </a:lnSpc>
                        <a:spcAft>
                          <a:spcPts val="0"/>
                        </a:spcAft>
                      </a:pPr>
                      <a:r>
                        <a:rPr lang="en-US" sz="1100" dirty="0">
                          <a:solidFill>
                            <a:schemeClr val="bg1"/>
                          </a:solidFill>
                          <a:effectLst/>
                        </a:rPr>
                        <a:t>EGCB</a:t>
                      </a:r>
                      <a:endParaRPr lang="en-IN" sz="1100" dirty="0">
                        <a:solidFill>
                          <a:schemeClr val="bg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rgbClr val="92D050"/>
                    </a:solidFill>
                  </a:tcPr>
                </a:tc>
                <a:tc>
                  <a:txBody>
                    <a:bodyPr/>
                    <a:lstStyle/>
                    <a:p>
                      <a:pPr algn="ctr">
                        <a:lnSpc>
                          <a:spcPct val="115000"/>
                        </a:lnSpc>
                        <a:spcAft>
                          <a:spcPts val="0"/>
                        </a:spcAft>
                      </a:pPr>
                      <a:r>
                        <a:rPr lang="en-US" sz="1100" dirty="0">
                          <a:solidFill>
                            <a:schemeClr val="bg1"/>
                          </a:solidFill>
                          <a:effectLst/>
                        </a:rPr>
                        <a:t>NWZPDCL</a:t>
                      </a:r>
                      <a:endParaRPr lang="en-IN" sz="1100" dirty="0">
                        <a:solidFill>
                          <a:schemeClr val="bg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rgbClr val="92D050"/>
                    </a:solidFill>
                  </a:tcPr>
                </a:tc>
                <a:tc>
                  <a:txBody>
                    <a:bodyPr/>
                    <a:lstStyle/>
                    <a:p>
                      <a:pPr algn="ctr">
                        <a:lnSpc>
                          <a:spcPct val="115000"/>
                        </a:lnSpc>
                        <a:spcAft>
                          <a:spcPts val="0"/>
                        </a:spcAft>
                      </a:pPr>
                      <a:r>
                        <a:rPr lang="en-US" sz="1100" dirty="0">
                          <a:solidFill>
                            <a:schemeClr val="bg1"/>
                          </a:solidFill>
                          <a:effectLst/>
                        </a:rPr>
                        <a:t>PGCB</a:t>
                      </a:r>
                      <a:endParaRPr lang="en-IN" sz="1100" dirty="0">
                        <a:solidFill>
                          <a:schemeClr val="bg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rgbClr val="92D050"/>
                    </a:solidFill>
                  </a:tcPr>
                </a:tc>
                <a:extLst>
                  <a:ext uri="{0D108BD9-81ED-4DB2-BD59-A6C34878D82A}">
                    <a16:rowId xmlns="" xmlns:a16="http://schemas.microsoft.com/office/drawing/2014/main" val="4020162744"/>
                  </a:ext>
                </a:extLst>
              </a:tr>
              <a:tr h="1912042">
                <a:tc>
                  <a:txBody>
                    <a:bodyPr/>
                    <a:lstStyle/>
                    <a:p>
                      <a:pPr algn="l">
                        <a:lnSpc>
                          <a:spcPct val="115000"/>
                        </a:lnSpc>
                        <a:spcAft>
                          <a:spcPts val="0"/>
                        </a:spcAft>
                      </a:pPr>
                      <a:r>
                        <a:rPr lang="en-US" sz="1100" dirty="0">
                          <a:effectLst/>
                        </a:rPr>
                        <a:t>Pension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dirty="0">
                          <a:effectLst/>
                        </a:rPr>
                        <a:t>Yes (employees with minimum 5 years of employment at BPDB are eligible for pension).</a:t>
                      </a:r>
                      <a:endParaRPr lang="en-IN" sz="1100" dirty="0">
                        <a:effectLst/>
                      </a:endParaRPr>
                    </a:p>
                    <a:p>
                      <a:pPr algn="l">
                        <a:lnSpc>
                          <a:spcPct val="115000"/>
                        </a:lnSpc>
                        <a:spcAft>
                          <a:spcPts val="0"/>
                        </a:spcAft>
                      </a:pPr>
                      <a:r>
                        <a:rPr lang="en-US" sz="1100" dirty="0">
                          <a:effectLst/>
                        </a:rPr>
                        <a:t>Base amount: 21% to 90% of last drawn basic (decided based on years of employment at BPDB).</a:t>
                      </a:r>
                      <a:endParaRPr lang="en-IN" sz="1100" dirty="0">
                        <a:effectLst/>
                      </a:endParaRPr>
                    </a:p>
                    <a:p>
                      <a:pPr algn="l">
                        <a:lnSpc>
                          <a:spcPct val="115000"/>
                        </a:lnSpc>
                        <a:spcAft>
                          <a:spcPts val="0"/>
                        </a:spcAft>
                      </a:pPr>
                      <a:r>
                        <a:rPr lang="en-US" sz="1100" dirty="0">
                          <a:effectLst/>
                        </a:rPr>
                        <a:t>Pension amount: 230 to 265 times the base amount.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ctr">
                        <a:lnSpc>
                          <a:spcPct val="115000"/>
                        </a:lnSpc>
                        <a:spcAft>
                          <a:spcPts val="0"/>
                        </a:spcAft>
                      </a:pPr>
                      <a:r>
                        <a:rPr lang="en-US" sz="1100" dirty="0">
                          <a:effectLst/>
                        </a:rPr>
                        <a:t>No </a:t>
                      </a:r>
                      <a:r>
                        <a:rPr lang="en-US" sz="1100" dirty="0" smtClean="0">
                          <a:effectLst/>
                        </a:rPr>
                        <a:t>pension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ctr">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ctr">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3760653207"/>
                  </a:ext>
                </a:extLst>
              </a:tr>
              <a:tr h="659219">
                <a:tc>
                  <a:txBody>
                    <a:bodyPr/>
                    <a:lstStyle/>
                    <a:p>
                      <a:pPr algn="l">
                        <a:lnSpc>
                          <a:spcPct val="115000"/>
                        </a:lnSpc>
                        <a:spcAft>
                          <a:spcPts val="0"/>
                        </a:spcAft>
                      </a:pPr>
                      <a:r>
                        <a:rPr lang="en-US" sz="1100">
                          <a:effectLst/>
                        </a:rPr>
                        <a:t>Gratuity</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ctr">
                        <a:lnSpc>
                          <a:spcPct val="115000"/>
                        </a:lnSpc>
                        <a:spcAft>
                          <a:spcPts val="0"/>
                        </a:spcAft>
                      </a:pPr>
                      <a:r>
                        <a:rPr lang="en-US" sz="1100" dirty="0">
                          <a:effectLst/>
                        </a:rPr>
                        <a:t>No gratuity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l">
                        <a:lnSpc>
                          <a:spcPct val="115000"/>
                        </a:lnSpc>
                        <a:spcAft>
                          <a:spcPts val="0"/>
                        </a:spcAft>
                      </a:pPr>
                      <a:r>
                        <a:rPr lang="en-US" sz="1100" dirty="0">
                          <a:effectLst/>
                        </a:rPr>
                        <a:t>2.5 times of last drawn basic for each completed year of service</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637658880"/>
                  </a:ext>
                </a:extLst>
              </a:tr>
              <a:tr h="846289">
                <a:tc>
                  <a:txBody>
                    <a:bodyPr/>
                    <a:lstStyle/>
                    <a:p>
                      <a:pPr algn="l">
                        <a:lnSpc>
                          <a:spcPct val="115000"/>
                        </a:lnSpc>
                        <a:spcAft>
                          <a:spcPts val="0"/>
                        </a:spcAft>
                      </a:pPr>
                      <a:r>
                        <a:rPr lang="en-US" sz="1100">
                          <a:effectLst/>
                        </a:rPr>
                        <a:t>Provident Fund</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a:effectLst/>
                        </a:rPr>
                        <a:t>Non-contributory; 10% to 25% on basic salary from the staff</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l">
                        <a:lnSpc>
                          <a:spcPct val="115000"/>
                        </a:lnSpc>
                        <a:spcAft>
                          <a:spcPts val="0"/>
                        </a:spcAft>
                      </a:pPr>
                      <a:r>
                        <a:rPr lang="en-US" sz="1100" dirty="0">
                          <a:effectLst/>
                        </a:rPr>
                        <a:t>Contributory; 10% on basic salary from the staff and 10% from the Company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151562061"/>
                  </a:ext>
                </a:extLst>
              </a:tr>
              <a:tr h="846289">
                <a:tc>
                  <a:txBody>
                    <a:bodyPr/>
                    <a:lstStyle/>
                    <a:p>
                      <a:pPr algn="l">
                        <a:lnSpc>
                          <a:spcPct val="115000"/>
                        </a:lnSpc>
                        <a:spcAft>
                          <a:spcPts val="0"/>
                        </a:spcAft>
                      </a:pPr>
                      <a:r>
                        <a:rPr lang="en-US" sz="1100" dirty="0" smtClean="0">
                          <a:effectLst/>
                        </a:rPr>
                        <a:t>Taxation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dirty="0">
                          <a:effectLst/>
                        </a:rPr>
                        <a:t>BPDB employees has to pay tax only on Basic, Festival bonus etc. All perquisites like house rent, medical, conveyance, LFA, </a:t>
                      </a:r>
                      <a:r>
                        <a:rPr lang="en-US" sz="1100" dirty="0" err="1">
                          <a:effectLst/>
                        </a:rPr>
                        <a:t>boishakhi</a:t>
                      </a:r>
                      <a:r>
                        <a:rPr lang="en-US" sz="1100" dirty="0">
                          <a:effectLst/>
                        </a:rPr>
                        <a:t> </a:t>
                      </a:r>
                      <a:r>
                        <a:rPr lang="en-US" sz="1100" dirty="0" err="1">
                          <a:effectLst/>
                        </a:rPr>
                        <a:t>vata</a:t>
                      </a:r>
                      <a:r>
                        <a:rPr lang="en-US" sz="1100" dirty="0">
                          <a:effectLst/>
                        </a:rPr>
                        <a:t> etc. are tax exempted. (SRO No. 211-Act/income tax/2017 dated 21 June 2017). Rule 33 of Income Tax Rules 1984 are not applicable.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solidFill>
                      <a:schemeClr val="bg1"/>
                    </a:solidFill>
                  </a:tcPr>
                </a:tc>
                <a:tc gridSpan="3">
                  <a:txBody>
                    <a:bodyPr/>
                    <a:lstStyle/>
                    <a:p>
                      <a:pPr algn="l">
                        <a:lnSpc>
                          <a:spcPct val="115000"/>
                        </a:lnSpc>
                        <a:spcAft>
                          <a:spcPts val="0"/>
                        </a:spcAft>
                      </a:pPr>
                      <a:r>
                        <a:rPr lang="en-US" sz="1100" dirty="0">
                          <a:effectLst/>
                        </a:rPr>
                        <a:t>PGCB employees do not get tax benefits like Govt. employees. Income tax is calculated based on Section 21 of Income Tax Ordinance 1984 and Rule 33 of Income Tax Rules 1984.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Tree>
    <p:extLst>
      <p:ext uri="{BB962C8B-B14F-4D97-AF65-F5344CB8AC3E}">
        <p14:creationId xmlns:p14="http://schemas.microsoft.com/office/powerpoint/2010/main" val="4487404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39794" y="1467293"/>
            <a:ext cx="97036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z="2000" b="1" dirty="0" smtClean="0"/>
              <a:t>Summary of compensation comparison and high-level guiding principles for compensation benchmarking for holding company</a:t>
            </a:r>
            <a:endParaRPr lang="en-IN" sz="2000" b="1" dirty="0"/>
          </a:p>
        </p:txBody>
      </p:sp>
      <p:sp>
        <p:nvSpPr>
          <p:cNvPr id="4" name="TextBox 3"/>
          <p:cNvSpPr txBox="1"/>
          <p:nvPr/>
        </p:nvSpPr>
        <p:spPr>
          <a:xfrm>
            <a:off x="2803029" y="1286540"/>
            <a:ext cx="5082580" cy="318924"/>
          </a:xfrm>
          <a:prstGeom prst="rect">
            <a:avLst/>
          </a:prstGeom>
          <a:solidFill>
            <a:schemeClr val="bg1"/>
          </a:solidFill>
        </p:spPr>
        <p:txBody>
          <a:bodyPr wrap="square" lIns="36000" tIns="36000" rIns="36000" bIns="36000" rtlCol="0">
            <a:spAutoFit/>
          </a:bodyPr>
          <a:lstStyle/>
          <a:p>
            <a:pPr algn="ctr">
              <a:spcBef>
                <a:spcPts val="600"/>
              </a:spcBef>
              <a:buSzPct val="100000"/>
            </a:pPr>
            <a:r>
              <a:rPr lang="en-US" sz="1600" b="1" dirty="0" smtClean="0">
                <a:solidFill>
                  <a:srgbClr val="313131"/>
                </a:solidFill>
              </a:rPr>
              <a:t>Summary of compensation comparison</a:t>
            </a:r>
          </a:p>
        </p:txBody>
      </p:sp>
      <p:cxnSp>
        <p:nvCxnSpPr>
          <p:cNvPr id="22" name="Straight Connector 21"/>
          <p:cNvCxnSpPr/>
          <p:nvPr/>
        </p:nvCxnSpPr>
        <p:spPr>
          <a:xfrm>
            <a:off x="439794" y="2587249"/>
            <a:ext cx="97036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623617" y="2406496"/>
            <a:ext cx="7441405" cy="318924"/>
          </a:xfrm>
          <a:prstGeom prst="rect">
            <a:avLst/>
          </a:prstGeom>
          <a:solidFill>
            <a:schemeClr val="bg1"/>
          </a:solidFill>
        </p:spPr>
        <p:txBody>
          <a:bodyPr wrap="square" lIns="36000" tIns="36000" rIns="36000" bIns="36000" rtlCol="0">
            <a:spAutoFit/>
          </a:bodyPr>
          <a:lstStyle/>
          <a:p>
            <a:pPr algn="ctr">
              <a:spcBef>
                <a:spcPts val="600"/>
              </a:spcBef>
              <a:buSzPct val="100000"/>
            </a:pPr>
            <a:r>
              <a:rPr lang="en-US" sz="1600" b="1" dirty="0" smtClean="0">
                <a:solidFill>
                  <a:srgbClr val="313131"/>
                </a:solidFill>
              </a:rPr>
              <a:t>High-level guiding principles for compensation benchmarking</a:t>
            </a:r>
          </a:p>
        </p:txBody>
      </p:sp>
      <p:sp>
        <p:nvSpPr>
          <p:cNvPr id="14" name="TextBox 13"/>
          <p:cNvSpPr txBox="1"/>
          <p:nvPr/>
        </p:nvSpPr>
        <p:spPr>
          <a:xfrm>
            <a:off x="439794" y="1669307"/>
            <a:ext cx="9703666" cy="430887"/>
          </a:xfrm>
          <a:prstGeom prst="rect">
            <a:avLst/>
          </a:prstGeom>
          <a:noFill/>
        </p:spPr>
        <p:txBody>
          <a:bodyPr wrap="square" lIns="0" tIns="0" rIns="0" bIns="0" rtlCol="0">
            <a:spAutoFit/>
          </a:bodyPr>
          <a:lstStyle/>
          <a:p>
            <a:pPr marL="342900" indent="-342900">
              <a:spcBef>
                <a:spcPts val="600"/>
              </a:spcBef>
              <a:buSzPct val="100000"/>
              <a:buFont typeface="Arial" panose="020B0604020202020204" pitchFamily="34" charset="0"/>
              <a:buChar char="•"/>
            </a:pPr>
            <a:r>
              <a:rPr lang="en-US" sz="1400" dirty="0" smtClean="0">
                <a:solidFill>
                  <a:srgbClr val="313131"/>
                </a:solidFill>
              </a:rPr>
              <a:t>There are differences in compensation structures of BPDB and that of EGCB, NWZPDCL, PGCB in terms of (a) basic salary, (b) perquisites or benefits, (c) terminal benefits, and (d) income tax liabilities.</a:t>
            </a:r>
          </a:p>
        </p:txBody>
      </p:sp>
      <p:graphicFrame>
        <p:nvGraphicFramePr>
          <p:cNvPr id="24" name="Table 23"/>
          <p:cNvGraphicFramePr>
            <a:graphicFrameLocks noGrp="1"/>
          </p:cNvGraphicFramePr>
          <p:nvPr>
            <p:extLst/>
          </p:nvPr>
        </p:nvGraphicFramePr>
        <p:xfrm>
          <a:off x="439794" y="2906173"/>
          <a:ext cx="9809052" cy="4116472"/>
        </p:xfrm>
        <a:graphic>
          <a:graphicData uri="http://schemas.openxmlformats.org/drawingml/2006/table">
            <a:tbl>
              <a:tblPr firstCol="1" bandRow="1">
                <a:tableStyleId>{5C22544A-7EE6-4342-B048-85BDC9FD1C3A}</a:tableStyleId>
              </a:tblPr>
              <a:tblGrid>
                <a:gridCol w="1282680">
                  <a:extLst>
                    <a:ext uri="{9D8B030D-6E8A-4147-A177-3AD203B41FA5}">
                      <a16:colId xmlns="" xmlns:a16="http://schemas.microsoft.com/office/drawing/2014/main" val="4025134685"/>
                    </a:ext>
                  </a:extLst>
                </a:gridCol>
                <a:gridCol w="8526372">
                  <a:extLst>
                    <a:ext uri="{9D8B030D-6E8A-4147-A177-3AD203B41FA5}">
                      <a16:colId xmlns="" xmlns:a16="http://schemas.microsoft.com/office/drawing/2014/main" val="712968218"/>
                    </a:ext>
                  </a:extLst>
                </a:gridCol>
              </a:tblGrid>
              <a:tr h="447271">
                <a:tc>
                  <a:txBody>
                    <a:bodyPr/>
                    <a:lstStyle/>
                    <a:p>
                      <a:pPr algn="l">
                        <a:lnSpc>
                          <a:spcPct val="115000"/>
                        </a:lnSpc>
                        <a:spcAft>
                          <a:spcPts val="0"/>
                        </a:spcAft>
                      </a:pPr>
                      <a:r>
                        <a:rPr lang="en-US" sz="1200" dirty="0">
                          <a:effectLst/>
                        </a:rPr>
                        <a:t>Basic salary</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basic salaries for the employees of the respective grades in the holding company need to be made at par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 xmlns:a16="http://schemas.microsoft.com/office/drawing/2014/main" val="2340316590"/>
                  </a:ext>
                </a:extLst>
              </a:tr>
              <a:tr h="447271">
                <a:tc>
                  <a:txBody>
                    <a:bodyPr/>
                    <a:lstStyle/>
                    <a:p>
                      <a:pPr algn="l">
                        <a:lnSpc>
                          <a:spcPct val="115000"/>
                        </a:lnSpc>
                        <a:spcAft>
                          <a:spcPts val="0"/>
                        </a:spcAft>
                      </a:pPr>
                      <a:r>
                        <a:rPr lang="en-US" sz="1200" dirty="0">
                          <a:effectLst/>
                        </a:rPr>
                        <a:t>Perquisites or benefits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different types of perquisites or benefits for the employees of respective grades in the holding company needs to be harmonized or aligned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 xmlns:a16="http://schemas.microsoft.com/office/drawing/2014/main" val="3072974741"/>
                  </a:ext>
                </a:extLst>
              </a:tr>
              <a:tr h="2217976">
                <a:tc>
                  <a:txBody>
                    <a:bodyPr/>
                    <a:lstStyle/>
                    <a:p>
                      <a:pPr algn="l">
                        <a:lnSpc>
                          <a:spcPct val="115000"/>
                        </a:lnSpc>
                        <a:spcAft>
                          <a:spcPts val="0"/>
                        </a:spcAft>
                      </a:pPr>
                      <a:r>
                        <a:rPr lang="en-US" sz="1200" dirty="0">
                          <a:effectLst/>
                        </a:rPr>
                        <a:t>Terminal benefits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consideration for terminal benefits for the overall alignment of the compensation framework will be as per the following:</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smtClean="0">
                          <a:effectLst/>
                        </a:rPr>
                        <a:t>Holding company </a:t>
                      </a:r>
                      <a:r>
                        <a:rPr lang="en-US" sz="1200" dirty="0">
                          <a:effectLst/>
                        </a:rPr>
                        <a:t>will have to provide for gratuity and CPF in compliance to the prevailing Labour Act and Rules and associated legal framework in Bangladesh in the similar manner as its subsidiaries.</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a:effectLst/>
                        </a:rPr>
                        <a:t>The overall terminal benefit liability of the holding company will comprise pension, gratuity and CPF. An actuarial valuation exercise will need to be undertaken to assess the terminal liabilities of the holding company as per the prevailing legal provisions. Accordingly, the holding company will need to maintain terminal benefit funds and accommodate for terminal benefit payments to the eligible employees.</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a:effectLst/>
                        </a:rPr>
                        <a:t>The overall terminal benefit outgo of the holding company needs to be harmonized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 xmlns:a16="http://schemas.microsoft.com/office/drawing/2014/main" val="2633260465"/>
                  </a:ext>
                </a:extLst>
              </a:tr>
              <a:tr h="910092">
                <a:tc>
                  <a:txBody>
                    <a:bodyPr/>
                    <a:lstStyle/>
                    <a:p>
                      <a:pPr algn="l">
                        <a:lnSpc>
                          <a:spcPct val="115000"/>
                        </a:lnSpc>
                        <a:spcAft>
                          <a:spcPts val="0"/>
                        </a:spcAft>
                      </a:pPr>
                      <a:r>
                        <a:rPr lang="en-US" sz="1200" dirty="0">
                          <a:effectLst/>
                        </a:rPr>
                        <a:t>Income tax</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After BPDB is converted into a holding company, its employees will be subjected to Income Tax obligations as per the prevailing legal framework in Bangladesh in the similar manner as its subsidiaries. The increased impact of the tax obligation will need to be taken into account while undertaking the compensation benchmarking for the holding company employees.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 xmlns:a16="http://schemas.microsoft.com/office/drawing/2014/main" val="193733880"/>
                  </a:ext>
                </a:extLst>
              </a:tr>
            </a:tbl>
          </a:graphicData>
        </a:graphic>
      </p:graphicFrame>
    </p:spTree>
    <p:extLst>
      <p:ext uri="{BB962C8B-B14F-4D97-AF65-F5344CB8AC3E}">
        <p14:creationId xmlns:p14="http://schemas.microsoft.com/office/powerpoint/2010/main" val="41575234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Proposed Board Governance Model of Holding Company</a:t>
            </a:r>
            <a:endParaRPr lang="en-US" sz="5400" dirty="0">
              <a:solidFill>
                <a:prstClr val="white"/>
              </a:solidFill>
            </a:endParaRPr>
          </a:p>
        </p:txBody>
      </p:sp>
    </p:spTree>
    <p:extLst>
      <p:ext uri="{BB962C8B-B14F-4D97-AF65-F5344CB8AC3E}">
        <p14:creationId xmlns:p14="http://schemas.microsoft.com/office/powerpoint/2010/main" val="29454609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The Government Vision &amp; Policy along with existing regulations provide the framework for </a:t>
            </a:r>
            <a:r>
              <a:rPr lang="en-US" b="1" dirty="0" smtClean="0"/>
              <a:t>Corporate Governance in Bangladesh</a:t>
            </a:r>
            <a:endParaRPr lang="en-IN" dirty="0"/>
          </a:p>
        </p:txBody>
      </p:sp>
      <p:graphicFrame>
        <p:nvGraphicFramePr>
          <p:cNvPr id="5" name="Diagram 4"/>
          <p:cNvGraphicFramePr/>
          <p:nvPr>
            <p:extLst/>
          </p:nvPr>
        </p:nvGraphicFramePr>
        <p:xfrm>
          <a:off x="439792" y="1475910"/>
          <a:ext cx="9785951" cy="58503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p:cNvCxnSpPr/>
          <p:nvPr/>
        </p:nvCxnSpPr>
        <p:spPr>
          <a:xfrm>
            <a:off x="439793" y="1244182"/>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656473" y="1132375"/>
            <a:ext cx="5629873" cy="324000"/>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Key Corporate Governance Guidelines in Bangladesh</a:t>
            </a:r>
            <a:endParaRPr lang="en-IN" sz="1400" b="1" dirty="0" smtClean="0">
              <a:solidFill>
                <a:srgbClr val="313131"/>
              </a:solidFill>
            </a:endParaRPr>
          </a:p>
        </p:txBody>
      </p:sp>
    </p:spTree>
    <p:extLst>
      <p:ext uri="{BB962C8B-B14F-4D97-AF65-F5344CB8AC3E}">
        <p14:creationId xmlns:p14="http://schemas.microsoft.com/office/powerpoint/2010/main" val="2459007007"/>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439793" y="350131"/>
            <a:ext cx="9785951" cy="368439"/>
          </a:xfrm>
        </p:spPr>
        <p:txBody>
          <a:bodyPr/>
          <a:lstStyle/>
          <a:p>
            <a:r>
              <a:rPr lang="en-US" b="1" dirty="0" smtClean="0"/>
              <a:t>Board Governance practices in Bangladesh Utilities conform to Corporate Governance Framework </a:t>
            </a:r>
            <a:endParaRPr lang="en-IN" dirty="0"/>
          </a:p>
        </p:txBody>
      </p:sp>
      <p:graphicFrame>
        <p:nvGraphicFramePr>
          <p:cNvPr id="13" name="Table 12"/>
          <p:cNvGraphicFramePr>
            <a:graphicFrameLocks noGrp="1"/>
          </p:cNvGraphicFramePr>
          <p:nvPr>
            <p:extLst/>
          </p:nvPr>
        </p:nvGraphicFramePr>
        <p:xfrm>
          <a:off x="439793" y="1288301"/>
          <a:ext cx="9785951" cy="4275120"/>
        </p:xfrm>
        <a:graphic>
          <a:graphicData uri="http://schemas.openxmlformats.org/drawingml/2006/table">
            <a:tbl>
              <a:tblPr firstRow="1" bandRow="1">
                <a:tableStyleId>{1FECB4D8-DB02-4DC6-A0A2-4F2EBAE1DC90}</a:tableStyleId>
              </a:tblPr>
              <a:tblGrid>
                <a:gridCol w="1059224"/>
                <a:gridCol w="1019331"/>
                <a:gridCol w="1184222"/>
                <a:gridCol w="2128604"/>
                <a:gridCol w="1169233"/>
                <a:gridCol w="3225337"/>
              </a:tblGrid>
              <a:tr h="549285">
                <a:tc>
                  <a:txBody>
                    <a:bodyPr/>
                    <a:lstStyle/>
                    <a:p>
                      <a:r>
                        <a:rPr lang="en-US" sz="1400" dirty="0" smtClean="0">
                          <a:latin typeface="Calibri" panose="020F0502020204030204" pitchFamily="34" charset="0"/>
                        </a:rPr>
                        <a:t>Organization /</a:t>
                      </a:r>
                      <a:r>
                        <a:rPr lang="en-US" sz="1400" baseline="0" dirty="0" smtClean="0">
                          <a:latin typeface="Calibri" panose="020F0502020204030204" pitchFamily="34" charset="0"/>
                        </a:rPr>
                        <a:t> Utility</a:t>
                      </a:r>
                      <a:endParaRPr lang="en-IN" sz="1400" dirty="0">
                        <a:latin typeface="Calibri" panose="020F0502020204030204" pitchFamily="34" charset="0"/>
                      </a:endParaRPr>
                    </a:p>
                  </a:txBody>
                  <a:tcPr marL="36000" marR="36000" marT="36000" marB="36000" anchor="ctr"/>
                </a:tc>
                <a:tc>
                  <a:txBody>
                    <a:bodyPr/>
                    <a:lstStyle/>
                    <a:p>
                      <a:pPr algn="ctr"/>
                      <a:r>
                        <a:rPr lang="en-US" sz="1400" dirty="0" smtClean="0">
                          <a:latin typeface="Calibri" panose="020F0502020204030204" pitchFamily="34" charset="0"/>
                        </a:rPr>
                        <a:t>Board</a:t>
                      </a:r>
                      <a:r>
                        <a:rPr lang="en-US" sz="1400" baseline="0" dirty="0" smtClean="0">
                          <a:latin typeface="Calibri" panose="020F0502020204030204" pitchFamily="34" charset="0"/>
                        </a:rPr>
                        <a:t> Composition</a:t>
                      </a:r>
                      <a:endParaRPr lang="en-IN" sz="1400" dirty="0">
                        <a:latin typeface="Calibri" panose="020F0502020204030204" pitchFamily="34" charset="0"/>
                      </a:endParaRPr>
                    </a:p>
                  </a:txBody>
                  <a:tcPr marL="36000" marR="36000" marT="36000" marB="36000" anchor="ctr"/>
                </a:tc>
                <a:tc gridSpan="2">
                  <a:txBody>
                    <a:bodyPr/>
                    <a:lstStyle/>
                    <a:p>
                      <a:pPr algn="ctr"/>
                      <a:r>
                        <a:rPr lang="en-US" sz="1400" dirty="0" smtClean="0">
                          <a:latin typeface="Calibri" panose="020F0502020204030204" pitchFamily="34" charset="0"/>
                        </a:rPr>
                        <a:t>Governance Framework</a:t>
                      </a:r>
                      <a:endParaRPr lang="en-IN" sz="1400" dirty="0">
                        <a:latin typeface="Calibri" panose="020F0502020204030204" pitchFamily="34" charset="0"/>
                      </a:endParaRPr>
                    </a:p>
                  </a:txBody>
                  <a:tcPr marL="36000" marR="36000" marT="36000" marB="36000" anchor="ctr"/>
                </a:tc>
                <a:tc hMerge="1">
                  <a:txBody>
                    <a:bodyPr/>
                    <a:lstStyle/>
                    <a:p>
                      <a:endParaRPr lang="en-IN" sz="1100" dirty="0"/>
                    </a:p>
                  </a:txBody>
                  <a:tcPr/>
                </a:tc>
                <a:tc>
                  <a:txBody>
                    <a:bodyPr/>
                    <a:lstStyle/>
                    <a:p>
                      <a:pPr algn="ctr"/>
                      <a:r>
                        <a:rPr lang="en-US" sz="1400" dirty="0" smtClean="0">
                          <a:latin typeface="Calibri" panose="020F0502020204030204" pitchFamily="34" charset="0"/>
                        </a:rPr>
                        <a:t>Ownership &amp; Management</a:t>
                      </a:r>
                      <a:r>
                        <a:rPr lang="en-US" sz="1400" baseline="0" dirty="0" smtClean="0">
                          <a:latin typeface="Calibri" panose="020F0502020204030204" pitchFamily="34" charset="0"/>
                        </a:rPr>
                        <a:t> Segregation</a:t>
                      </a:r>
                      <a:endParaRPr lang="en-IN" sz="1400" dirty="0">
                        <a:latin typeface="Calibri" panose="020F0502020204030204" pitchFamily="34" charset="0"/>
                      </a:endParaRPr>
                    </a:p>
                  </a:txBody>
                  <a:tcPr marL="36000" marR="36000" marT="36000" marB="36000" anchor="ctr"/>
                </a:tc>
                <a:tc>
                  <a:txBody>
                    <a:bodyPr/>
                    <a:lstStyle/>
                    <a:p>
                      <a:pPr algn="ctr"/>
                      <a:r>
                        <a:rPr lang="en-US" sz="1400" dirty="0" smtClean="0">
                          <a:latin typeface="Calibri" panose="020F0502020204030204" pitchFamily="34" charset="0"/>
                        </a:rPr>
                        <a:t>Board Committees</a:t>
                      </a:r>
                      <a:endParaRPr lang="en-IN" sz="1400" dirty="0">
                        <a:latin typeface="Calibri" panose="020F0502020204030204" pitchFamily="34" charset="0"/>
                      </a:endParaRPr>
                    </a:p>
                  </a:txBody>
                  <a:tcPr marL="36000" marR="36000" marT="36000" marB="36000" anchor="ctr"/>
                </a:tc>
              </a:tr>
              <a:tr h="549285">
                <a:tc>
                  <a:txBody>
                    <a:bodyPr/>
                    <a:lstStyle/>
                    <a:p>
                      <a:endParaRPr lang="en-IN" sz="1400" dirty="0">
                        <a:latin typeface="Calibri" panose="020F050202020403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No. of Directors</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 of Independent Directors</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Representation of MD &amp; Executive Directors on Board </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Separate Chairman &amp; CEO</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Functional Board Committees </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220121">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DESCO </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11</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27%</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220121">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PGCB</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33%</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Yes</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220121">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WZPDC</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11</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36%</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smtClean="0">
                          <a:effectLst/>
                          <a:latin typeface="Calibri" panose="020F0502020204030204" pitchFamily="34" charset="0"/>
                          <a:ea typeface="Times" panose="02020603050405020304" pitchFamily="18" charset="0"/>
                          <a:cs typeface="Calibri" panose="020F0502020204030204" pitchFamily="34" charset="0"/>
                        </a:rPr>
                        <a:t>No Information</a:t>
                      </a:r>
                      <a:r>
                        <a:rPr lang="en-US" sz="1400" baseline="0" dirty="0" smtClean="0">
                          <a:effectLst/>
                          <a:latin typeface="Calibri" panose="020F0502020204030204" pitchFamily="34" charset="0"/>
                          <a:ea typeface="Times" panose="02020603050405020304" pitchFamily="18" charset="0"/>
                          <a:cs typeface="Calibri" panose="020F0502020204030204" pitchFamily="34" charset="0"/>
                        </a:rPr>
                        <a:t> Available</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EGCB</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25%</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Budget &amp; Audit, Procurement &amp; Technical,  Administrative Affairs, Legal &amp; Governance</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APSCL</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25%</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Recruitment &amp; Promotion, Procurement Review, Steering</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NWPGCL</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12</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33%</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Nomination, Remuneration, Procurement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DPDC</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11</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36%</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Procurement Review, Recruitment &amp; Promotion</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r>
            </a:tbl>
          </a:graphicData>
        </a:graphic>
      </p:graphicFrame>
      <p:cxnSp>
        <p:nvCxnSpPr>
          <p:cNvPr id="14" name="Straight Connector 13"/>
          <p:cNvCxnSpPr/>
          <p:nvPr/>
        </p:nvCxnSpPr>
        <p:spPr>
          <a:xfrm>
            <a:off x="424803" y="1101730"/>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30026" y="989923"/>
            <a:ext cx="4652787" cy="215444"/>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Key Board Governance Practices</a:t>
            </a:r>
            <a:endParaRPr lang="en-IN" sz="1400" b="1" dirty="0" smtClean="0">
              <a:solidFill>
                <a:srgbClr val="313131"/>
              </a:solidFill>
            </a:endParaRPr>
          </a:p>
        </p:txBody>
      </p:sp>
      <p:sp>
        <p:nvSpPr>
          <p:cNvPr id="16" name="Isosceles Triangle 15"/>
          <p:cNvSpPr/>
          <p:nvPr/>
        </p:nvSpPr>
        <p:spPr bwMode="gray">
          <a:xfrm rot="10800000">
            <a:off x="409811" y="5618275"/>
            <a:ext cx="9800941" cy="220241"/>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7" name="TextBox 16"/>
          <p:cNvSpPr txBox="1"/>
          <p:nvPr/>
        </p:nvSpPr>
        <p:spPr>
          <a:xfrm>
            <a:off x="804381" y="5945028"/>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Board size ranging from 11-12 members</a:t>
            </a:r>
          </a:p>
        </p:txBody>
      </p:sp>
      <p:sp>
        <p:nvSpPr>
          <p:cNvPr id="18" name="Oval 17"/>
          <p:cNvSpPr/>
          <p:nvPr/>
        </p:nvSpPr>
        <p:spPr bwMode="gray">
          <a:xfrm>
            <a:off x="463699" y="6008305"/>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1</a:t>
            </a:r>
          </a:p>
        </p:txBody>
      </p:sp>
      <p:sp>
        <p:nvSpPr>
          <p:cNvPr id="19" name="TextBox 18"/>
          <p:cNvSpPr txBox="1"/>
          <p:nvPr/>
        </p:nvSpPr>
        <p:spPr>
          <a:xfrm>
            <a:off x="6355597" y="5935413"/>
            <a:ext cx="3855600" cy="540000"/>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200" dirty="0" smtClean="0">
                <a:solidFill>
                  <a:prstClr val="black"/>
                </a:solidFill>
              </a:rPr>
              <a:t>Sizeable representation </a:t>
            </a:r>
            <a:r>
              <a:rPr lang="en-US" sz="1200" dirty="0">
                <a:solidFill>
                  <a:prstClr val="black"/>
                </a:solidFill>
              </a:rPr>
              <a:t>of independent directors (25-40%) </a:t>
            </a:r>
          </a:p>
        </p:txBody>
      </p:sp>
      <p:sp>
        <p:nvSpPr>
          <p:cNvPr id="20" name="Oval 19"/>
          <p:cNvSpPr/>
          <p:nvPr/>
        </p:nvSpPr>
        <p:spPr bwMode="gray">
          <a:xfrm>
            <a:off x="6014915" y="6008307"/>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2</a:t>
            </a:r>
          </a:p>
        </p:txBody>
      </p:sp>
      <p:sp>
        <p:nvSpPr>
          <p:cNvPr id="21" name="TextBox 20"/>
          <p:cNvSpPr txBox="1"/>
          <p:nvPr/>
        </p:nvSpPr>
        <p:spPr>
          <a:xfrm>
            <a:off x="793375" y="6797852"/>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Segregation of Ownership &amp; Management</a:t>
            </a:r>
          </a:p>
        </p:txBody>
      </p:sp>
      <p:sp>
        <p:nvSpPr>
          <p:cNvPr id="22" name="Oval 21"/>
          <p:cNvSpPr/>
          <p:nvPr/>
        </p:nvSpPr>
        <p:spPr bwMode="gray">
          <a:xfrm>
            <a:off x="463699" y="6870744"/>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3</a:t>
            </a:r>
          </a:p>
        </p:txBody>
      </p:sp>
      <p:sp>
        <p:nvSpPr>
          <p:cNvPr id="23" name="TextBox 22"/>
          <p:cNvSpPr txBox="1"/>
          <p:nvPr/>
        </p:nvSpPr>
        <p:spPr>
          <a:xfrm>
            <a:off x="6370144" y="6797852"/>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Board Committees include Audit, Procurement, Recruitment &amp; Governance</a:t>
            </a:r>
          </a:p>
        </p:txBody>
      </p:sp>
      <p:sp>
        <p:nvSpPr>
          <p:cNvPr id="24" name="Oval 23"/>
          <p:cNvSpPr/>
          <p:nvPr/>
        </p:nvSpPr>
        <p:spPr bwMode="gray">
          <a:xfrm>
            <a:off x="6040468" y="6870744"/>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4</a:t>
            </a:r>
          </a:p>
        </p:txBody>
      </p:sp>
    </p:spTree>
    <p:extLst>
      <p:ext uri="{BB962C8B-B14F-4D97-AF65-F5344CB8AC3E}">
        <p14:creationId xmlns:p14="http://schemas.microsoft.com/office/powerpoint/2010/main" val="700308167"/>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9793" y="350131"/>
            <a:ext cx="9933400" cy="368439"/>
          </a:xfrm>
        </p:spPr>
        <p:txBody>
          <a:bodyPr/>
          <a:lstStyle/>
          <a:p>
            <a:r>
              <a:rPr lang="en-US" b="1" dirty="0" smtClean="0"/>
              <a:t>Board Governance practices globally include higher representation of independent directors and focus on risk mitigation and compliance</a:t>
            </a:r>
            <a:endParaRPr lang="en-IN" b="1" dirty="0"/>
          </a:p>
        </p:txBody>
      </p:sp>
      <p:graphicFrame>
        <p:nvGraphicFramePr>
          <p:cNvPr id="5" name="Table 4"/>
          <p:cNvGraphicFramePr>
            <a:graphicFrameLocks noGrp="1"/>
          </p:cNvGraphicFramePr>
          <p:nvPr>
            <p:extLst/>
          </p:nvPr>
        </p:nvGraphicFramePr>
        <p:xfrm>
          <a:off x="439793" y="1350343"/>
          <a:ext cx="6397107" cy="2876669"/>
        </p:xfrm>
        <a:graphic>
          <a:graphicData uri="http://schemas.openxmlformats.org/drawingml/2006/table">
            <a:tbl>
              <a:tblPr firstRow="1" firstCol="1" bandRow="1">
                <a:tableStyleId>{1FECB4D8-DB02-4DC6-A0A2-4F2EBAE1DC90}</a:tableStyleId>
              </a:tblPr>
              <a:tblGrid>
                <a:gridCol w="856074"/>
                <a:gridCol w="2577785"/>
                <a:gridCol w="2963248"/>
              </a:tblGrid>
              <a:tr h="220002">
                <a:tc>
                  <a:txBody>
                    <a:bodyPr/>
                    <a:lstStyle/>
                    <a:p>
                      <a:pPr marL="0" marR="0" algn="ctr" defTabSz="1008400" rtl="0" eaLnBrk="1" latinLnBrk="0" hangingPunct="1">
                        <a:lnSpc>
                          <a:spcPct val="115000"/>
                        </a:lnSpc>
                        <a:spcBef>
                          <a:spcPts val="600"/>
                        </a:spcBef>
                        <a:spcAft>
                          <a:spcPts val="0"/>
                        </a:spcAft>
                      </a:pPr>
                      <a:r>
                        <a:rPr lang="en-US" sz="1200" kern="1200" dirty="0" smtClean="0">
                          <a:effectLst/>
                        </a:rPr>
                        <a:t>Sn. No</a:t>
                      </a:r>
                      <a:endParaRPr lang="en-US" sz="1200" b="1" kern="1200" dirty="0">
                        <a:solidFill>
                          <a:srgbClr val="FFFFFF"/>
                        </a:solidFill>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Board of Directors</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Major Board Committees</a:t>
                      </a:r>
                      <a:endParaRPr lang="en-US" sz="1200" dirty="0">
                        <a:effectLst/>
                        <a:latin typeface="+mj-lt"/>
                        <a:ea typeface="Arial" panose="020B0604020202020204" pitchFamily="34" charset="0"/>
                        <a:cs typeface="Arial" panose="020B0604020202020204" pitchFamily="34" charset="0"/>
                      </a:endParaRPr>
                    </a:p>
                  </a:txBody>
                  <a:tcPr marL="68580" marR="68580" marT="0" marB="0"/>
                </a:tc>
              </a:tr>
              <a:tr h="220002">
                <a:tc>
                  <a:txBody>
                    <a:bodyPr/>
                    <a:lstStyle/>
                    <a:p>
                      <a:pPr marL="0" marR="0" lvl="0" indent="0" algn="ctr">
                        <a:lnSpc>
                          <a:spcPct val="115000"/>
                        </a:lnSpc>
                        <a:spcBef>
                          <a:spcPts val="600"/>
                        </a:spcBef>
                        <a:spcAft>
                          <a:spcPts val="0"/>
                        </a:spcAft>
                        <a:buFont typeface="+mj-lt"/>
                        <a:buNone/>
                      </a:pPr>
                      <a:r>
                        <a:rPr lang="en-US" sz="1200" dirty="0" smtClean="0">
                          <a:effectLst/>
                        </a:rPr>
                        <a:t>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Chairman &amp; MD</a:t>
                      </a:r>
                      <a:endParaRPr lang="en-US" sz="1200" dirty="0">
                        <a:effectLst/>
                        <a:latin typeface="+mj-lt"/>
                        <a:ea typeface="Arial" panose="020B0604020202020204" pitchFamily="34" charset="0"/>
                        <a:cs typeface="Arial" panose="020B0604020202020204" pitchFamily="34" charset="0"/>
                      </a:endParaRPr>
                    </a:p>
                  </a:txBody>
                  <a:tcPr marL="68580" marR="68580" marT="0" marB="0"/>
                </a:tc>
                <a:tc rowSpan="12">
                  <a:txBody>
                    <a:bodyPr/>
                    <a:lstStyle/>
                    <a:p>
                      <a:pPr marL="285750" marR="0" indent="-285750" algn="l">
                        <a:lnSpc>
                          <a:spcPct val="100000"/>
                        </a:lnSpc>
                        <a:spcBef>
                          <a:spcPts val="600"/>
                        </a:spcBef>
                        <a:spcAft>
                          <a:spcPts val="0"/>
                        </a:spcAft>
                        <a:buFont typeface="Arial" panose="020B0604020202020204" pitchFamily="34" charset="0"/>
                        <a:buChar char="•"/>
                      </a:pPr>
                      <a:r>
                        <a:rPr lang="en-US" sz="1200" dirty="0" smtClean="0">
                          <a:effectLst/>
                        </a:rPr>
                        <a:t>Audit</a:t>
                      </a:r>
                      <a:r>
                        <a:rPr lang="en-US" sz="1200" baseline="0" dirty="0" smtClean="0">
                          <a:effectLst/>
                        </a:rPr>
                        <a:t>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Stakeholder Relationship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Remuneration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Risk Management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Committee on Management Controls</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Committee on Corporate Social Responsibility</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rPr>
                        <a:t>Committee on Vigilance Matters</a:t>
                      </a:r>
                      <a:endParaRPr lang="en-US" sz="1200" baseline="0" dirty="0" smtClean="0">
                        <a:effectLst/>
                        <a:latin typeface="+mj-lt"/>
                        <a:ea typeface="Arial" panose="020B0604020202020204" pitchFamily="34" charset="0"/>
                        <a:cs typeface="Arial" panose="020B0604020202020204" pitchFamily="34" charset="0"/>
                      </a:endParaRPr>
                    </a:p>
                  </a:txBody>
                  <a:tcPr marL="68580" marR="68580" marT="0" marB="0"/>
                </a:tc>
              </a:tr>
              <a:tr h="220002">
                <a:tc>
                  <a:txBody>
                    <a:bodyPr/>
                    <a:lstStyle/>
                    <a:p>
                      <a:pPr marL="0" marR="0" lvl="0" indent="0" algn="ctr">
                        <a:lnSpc>
                          <a:spcPct val="115000"/>
                        </a:lnSpc>
                        <a:spcBef>
                          <a:spcPts val="600"/>
                        </a:spcBef>
                        <a:spcAft>
                          <a:spcPts val="0"/>
                        </a:spcAft>
                        <a:buFont typeface="+mj-lt"/>
                        <a:buNone/>
                      </a:pPr>
                      <a:r>
                        <a:rPr lang="en-US" sz="1200" dirty="0" smtClean="0">
                          <a:effectLst/>
                        </a:rPr>
                        <a:t>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Director (Projects)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3.</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Director (Finance)</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4.</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Director (Operations)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46335">
                <a:tc>
                  <a:txBody>
                    <a:bodyPr/>
                    <a:lstStyle/>
                    <a:p>
                      <a:pPr marL="0" marR="0" lvl="0" indent="0" algn="ctr">
                        <a:lnSpc>
                          <a:spcPct val="115000"/>
                        </a:lnSpc>
                        <a:spcBef>
                          <a:spcPts val="600"/>
                        </a:spcBef>
                        <a:spcAft>
                          <a:spcPts val="0"/>
                        </a:spcAft>
                        <a:buFont typeface="+mj-lt"/>
                        <a:buNone/>
                      </a:pPr>
                      <a:r>
                        <a:rPr lang="en-US" sz="1200" dirty="0" smtClean="0">
                          <a:effectLst/>
                        </a:rPr>
                        <a:t>5.</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Director (Human Resources)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6.</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Director (Commercial)</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20002">
                <a:tc>
                  <a:txBody>
                    <a:bodyPr/>
                    <a:lstStyle/>
                    <a:p>
                      <a:pPr marL="0" marR="0" lvl="0" indent="0" algn="ctr">
                        <a:lnSpc>
                          <a:spcPct val="115000"/>
                        </a:lnSpc>
                        <a:spcBef>
                          <a:spcPts val="600"/>
                        </a:spcBef>
                        <a:spcAft>
                          <a:spcPts val="0"/>
                        </a:spcAft>
                        <a:buFont typeface="+mj-lt"/>
                        <a:buNone/>
                      </a:pPr>
                      <a:r>
                        <a:rPr lang="en-US" sz="1200" dirty="0" smtClean="0">
                          <a:effectLst/>
                          <a:latin typeface="+mj-lt"/>
                          <a:ea typeface="Arial" panose="020B0604020202020204" pitchFamily="34" charset="0"/>
                          <a:cs typeface="Arial" panose="020B0604020202020204" pitchFamily="34" charset="0"/>
                        </a:rPr>
                        <a:t>7.</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ea typeface="Arial" panose="020B0604020202020204" pitchFamily="34" charset="0"/>
                          <a:cs typeface="Arial" panose="020B0604020202020204" pitchFamily="34" charset="0"/>
                        </a:rPr>
                        <a:t>Director (Sustainability)</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endParaRPr lang="en-IN"/>
                    </a:p>
                  </a:txBody>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8.</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Govt. Nominee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9.</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Govt. Nominee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10.</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20002">
                <a:tc>
                  <a:txBody>
                    <a:bodyPr/>
                    <a:lstStyle/>
                    <a:p>
                      <a:pPr marL="0" marR="0" lvl="0" indent="0" algn="ctr">
                        <a:lnSpc>
                          <a:spcPct val="115000"/>
                        </a:lnSpc>
                        <a:spcBef>
                          <a:spcPts val="600"/>
                        </a:spcBef>
                        <a:spcAft>
                          <a:spcPts val="0"/>
                        </a:spcAft>
                        <a:buFont typeface="+mj-lt"/>
                        <a:buNone/>
                      </a:pPr>
                      <a:r>
                        <a:rPr lang="en-US" sz="1200" dirty="0" smtClean="0">
                          <a:effectLst/>
                        </a:rPr>
                        <a:t>11.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194705">
                <a:tc>
                  <a:txBody>
                    <a:bodyPr/>
                    <a:lstStyle/>
                    <a:p>
                      <a:pPr marL="0" marR="0" lvl="0" indent="0" algn="ctr">
                        <a:lnSpc>
                          <a:spcPct val="115000"/>
                        </a:lnSpc>
                        <a:spcBef>
                          <a:spcPts val="600"/>
                        </a:spcBef>
                        <a:spcAft>
                          <a:spcPts val="0"/>
                        </a:spcAft>
                        <a:buFont typeface="+mj-lt"/>
                        <a:buNone/>
                      </a:pPr>
                      <a:r>
                        <a:rPr lang="en-US" sz="1200" dirty="0" smtClean="0">
                          <a:effectLst/>
                        </a:rPr>
                        <a:t>12.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rPr>
                        <a:t>Independent</a:t>
                      </a:r>
                      <a:r>
                        <a:rPr lang="en-US" sz="1200" baseline="0" dirty="0" smtClean="0">
                          <a:effectLst/>
                        </a:rPr>
                        <a: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bl>
          </a:graphicData>
        </a:graphic>
      </p:graphicFrame>
      <p:cxnSp>
        <p:nvCxnSpPr>
          <p:cNvPr id="6" name="Straight Connector 5"/>
          <p:cNvCxnSpPr/>
          <p:nvPr/>
        </p:nvCxnSpPr>
        <p:spPr>
          <a:xfrm>
            <a:off x="439793" y="1189280"/>
            <a:ext cx="639710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651728" y="1048710"/>
            <a:ext cx="1973235" cy="215444"/>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NTPC Ltd.</a:t>
            </a:r>
            <a:endParaRPr lang="en-IN" sz="1400" b="1" dirty="0" smtClean="0">
              <a:solidFill>
                <a:srgbClr val="313131"/>
              </a:solidFill>
            </a:endParaRPr>
          </a:p>
        </p:txBody>
      </p:sp>
      <p:graphicFrame>
        <p:nvGraphicFramePr>
          <p:cNvPr id="9" name="Table 8"/>
          <p:cNvGraphicFramePr>
            <a:graphicFrameLocks noGrp="1"/>
          </p:cNvGraphicFramePr>
          <p:nvPr>
            <p:extLst/>
          </p:nvPr>
        </p:nvGraphicFramePr>
        <p:xfrm>
          <a:off x="439793" y="4777626"/>
          <a:ext cx="6397107" cy="2492604"/>
        </p:xfrm>
        <a:graphic>
          <a:graphicData uri="http://schemas.openxmlformats.org/drawingml/2006/table">
            <a:tbl>
              <a:tblPr firstRow="1" firstCol="1" bandRow="1">
                <a:tableStyleId>{1FECB4D8-DB02-4DC6-A0A2-4F2EBAE1DC90}</a:tableStyleId>
              </a:tblPr>
              <a:tblGrid>
                <a:gridCol w="856074"/>
                <a:gridCol w="2577785"/>
                <a:gridCol w="2963248"/>
              </a:tblGrid>
              <a:tr h="246312">
                <a:tc>
                  <a:txBody>
                    <a:bodyPr/>
                    <a:lstStyle/>
                    <a:p>
                      <a:pPr marL="0" marR="0" algn="ctr" defTabSz="1008400" rtl="0" eaLnBrk="1" latinLnBrk="0" hangingPunct="1">
                        <a:lnSpc>
                          <a:spcPct val="115000"/>
                        </a:lnSpc>
                        <a:spcBef>
                          <a:spcPts val="0"/>
                        </a:spcBef>
                        <a:spcAft>
                          <a:spcPts val="0"/>
                        </a:spcAft>
                      </a:pPr>
                      <a:r>
                        <a:rPr lang="en-US" sz="1200" kern="1200" dirty="0" smtClean="0">
                          <a:effectLst/>
                          <a:latin typeface="+mj-lt"/>
                        </a:rPr>
                        <a:t>Sn. No</a:t>
                      </a:r>
                      <a:endParaRPr lang="en-US" sz="1200" b="1" kern="1200" dirty="0">
                        <a:solidFill>
                          <a:srgbClr val="FFFFFF"/>
                        </a:solidFill>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200" dirty="0" smtClean="0">
                          <a:effectLst/>
                          <a:latin typeface="+mj-lt"/>
                        </a:rPr>
                        <a:t>Board of Directors</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200" dirty="0" smtClean="0">
                          <a:effectLst/>
                          <a:latin typeface="+mj-lt"/>
                        </a:rPr>
                        <a:t>Major Board Committees</a:t>
                      </a:r>
                      <a:endParaRPr lang="en-US" sz="1200" dirty="0">
                        <a:effectLst/>
                        <a:latin typeface="+mj-lt"/>
                        <a:ea typeface="Arial" panose="020B0604020202020204" pitchFamily="34" charset="0"/>
                        <a:cs typeface="Arial" panose="020B0604020202020204" pitchFamily="34" charset="0"/>
                      </a:endParaRPr>
                    </a:p>
                  </a:txBody>
                  <a:tcPr marL="68580" marR="68580" marT="0" marB="0"/>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Chairman (Independent)</a:t>
                      </a:r>
                      <a:endParaRPr lang="en-US" sz="1200" dirty="0">
                        <a:effectLst/>
                        <a:latin typeface="+mj-lt"/>
                        <a:ea typeface="Arial" panose="020B0604020202020204" pitchFamily="34" charset="0"/>
                        <a:cs typeface="Arial" panose="020B0604020202020204" pitchFamily="34" charset="0"/>
                      </a:endParaRPr>
                    </a:p>
                  </a:txBody>
                  <a:tcPr marL="68580" marR="68580" marT="0" marB="0"/>
                </a:tc>
                <a:tc rowSpan="9">
                  <a:txBody>
                    <a:bodyPr/>
                    <a:lstStyle/>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latin typeface="+mj-lt"/>
                          <a:ea typeface="Arial" panose="020B0604020202020204" pitchFamily="34" charset="0"/>
                          <a:cs typeface="Arial" panose="020B0604020202020204" pitchFamily="34" charset="0"/>
                        </a:rPr>
                        <a:t>Control &amp; Risk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latin typeface="+mj-lt"/>
                          <a:ea typeface="Arial" panose="020B0604020202020204" pitchFamily="34" charset="0"/>
                          <a:cs typeface="Arial" panose="020B0604020202020204" pitchFamily="34" charset="0"/>
                        </a:rPr>
                        <a:t>Nomination &amp; Compensation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latin typeface="+mj-lt"/>
                          <a:ea typeface="Arial" panose="020B0604020202020204" pitchFamily="34" charset="0"/>
                          <a:cs typeface="Arial" panose="020B0604020202020204" pitchFamily="34" charset="0"/>
                        </a:rPr>
                        <a:t>Related Parties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smtClean="0">
                          <a:effectLst/>
                          <a:latin typeface="+mj-lt"/>
                          <a:ea typeface="Arial" panose="020B0604020202020204" pitchFamily="34" charset="0"/>
                          <a:cs typeface="Arial" panose="020B0604020202020204" pitchFamily="34" charset="0"/>
                        </a:rPr>
                        <a:t>Corporate Governance &amp; Sustainability Committee</a:t>
                      </a:r>
                    </a:p>
                  </a:txBody>
                  <a:tcPr marL="68580" marR="68580" marT="0" marB="0"/>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CEO &amp; General Manager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3.</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Non-executive</a:t>
                      </a:r>
                      <a:r>
                        <a:rPr lang="en-US" sz="1200" baseline="0" dirty="0" smtClean="0">
                          <a:effectLst/>
                          <a:latin typeface="+mj-lt"/>
                        </a:rPr>
                        <a:t> </a:t>
                      </a:r>
                      <a:r>
                        <a:rPr lang="en-US" sz="1200" dirty="0" smtClean="0">
                          <a:effectLst/>
                          <a:latin typeface="+mj-lt"/>
                        </a:rPr>
                        <a:t>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4.</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75796">
                <a:tc>
                  <a:txBody>
                    <a:bodyPr/>
                    <a:lstStyle/>
                    <a:p>
                      <a:pPr marL="0" marR="0" lvl="0" indent="0" algn="ctr">
                        <a:lnSpc>
                          <a:spcPct val="115000"/>
                        </a:lnSpc>
                        <a:spcBef>
                          <a:spcPts val="0"/>
                        </a:spcBef>
                        <a:spcAft>
                          <a:spcPts val="0"/>
                        </a:spcAft>
                        <a:buFont typeface="+mj-lt"/>
                        <a:buNone/>
                      </a:pPr>
                      <a:r>
                        <a:rPr lang="en-US" sz="1200" dirty="0" smtClean="0">
                          <a:effectLst/>
                          <a:latin typeface="+mj-lt"/>
                        </a:rPr>
                        <a:t>5.</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lvl="0" indent="0" algn="ctr" defTabSz="1008400" rtl="0" eaLnBrk="1" fontAlgn="auto" latinLnBrk="0" hangingPunct="1">
                        <a:lnSpc>
                          <a:spcPct val="115000"/>
                        </a:lnSpc>
                        <a:spcBef>
                          <a:spcPts val="600"/>
                        </a:spcBef>
                        <a:spcAft>
                          <a:spcPts val="0"/>
                        </a:spcAft>
                        <a:buClrTx/>
                        <a:buSzTx/>
                        <a:buFontTx/>
                        <a:buNone/>
                        <a:tabLst/>
                        <a:defRPr/>
                      </a:pPr>
                      <a:r>
                        <a:rPr lang="en-US" sz="1200" kern="1200" dirty="0" smtClean="0">
                          <a:solidFill>
                            <a:schemeClr val="dk1"/>
                          </a:solidFill>
                          <a:effectLst/>
                          <a:latin typeface="+mn-lt"/>
                          <a:ea typeface="+mn-ea"/>
                          <a:cs typeface="+mn-cs"/>
                        </a:rPr>
                        <a:t>Non-ex &amp; Independent Director</a:t>
                      </a:r>
                      <a:endParaRPr lang="en-US" sz="1200" kern="1200" dirty="0" smtClean="0">
                        <a:solidFill>
                          <a:schemeClr val="dk1"/>
                        </a:solidFill>
                        <a:effectLst/>
                        <a:latin typeface="+mn-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6.</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7.</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8.</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tr>
              <a:tr h="246312">
                <a:tc>
                  <a:txBody>
                    <a:bodyPr/>
                    <a:lstStyle/>
                    <a:p>
                      <a:pPr marL="0" marR="0" lvl="0" indent="0" algn="ctr">
                        <a:lnSpc>
                          <a:spcPct val="115000"/>
                        </a:lnSpc>
                        <a:spcBef>
                          <a:spcPts val="0"/>
                        </a:spcBef>
                        <a:spcAft>
                          <a:spcPts val="0"/>
                        </a:spcAft>
                        <a:buFont typeface="+mj-lt"/>
                        <a:buNone/>
                      </a:pPr>
                      <a:r>
                        <a:rPr lang="en-US" sz="1200" dirty="0" smtClean="0">
                          <a:effectLst/>
                          <a:latin typeface="+mj-lt"/>
                        </a:rPr>
                        <a:t>9.</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smtClean="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tr>
            </a:tbl>
          </a:graphicData>
        </a:graphic>
      </p:graphicFrame>
      <p:cxnSp>
        <p:nvCxnSpPr>
          <p:cNvPr id="10" name="Straight Connector 9"/>
          <p:cNvCxnSpPr/>
          <p:nvPr/>
        </p:nvCxnSpPr>
        <p:spPr>
          <a:xfrm>
            <a:off x="439793" y="4552461"/>
            <a:ext cx="639710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66118" y="4436568"/>
            <a:ext cx="4652787" cy="215444"/>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ENEL (Italy based MNC with GTD operations)</a:t>
            </a:r>
            <a:endParaRPr lang="en-IN" sz="1400" b="1" dirty="0" smtClean="0">
              <a:solidFill>
                <a:srgbClr val="313131"/>
              </a:solidFill>
            </a:endParaRPr>
          </a:p>
        </p:txBody>
      </p:sp>
      <p:sp>
        <p:nvSpPr>
          <p:cNvPr id="12" name="Isosceles Triangle 11"/>
          <p:cNvSpPr/>
          <p:nvPr/>
        </p:nvSpPr>
        <p:spPr bwMode="gray">
          <a:xfrm rot="5400000">
            <a:off x="4256082" y="4078427"/>
            <a:ext cx="6080950" cy="302656"/>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 name="TextBox 12"/>
          <p:cNvSpPr txBox="1"/>
          <p:nvPr/>
        </p:nvSpPr>
        <p:spPr>
          <a:xfrm>
            <a:off x="7863224" y="1938098"/>
            <a:ext cx="2362520"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Board size ranging from 9 - 12</a:t>
            </a:r>
          </a:p>
        </p:txBody>
      </p:sp>
      <p:sp>
        <p:nvSpPr>
          <p:cNvPr id="14" name="Oval 13"/>
          <p:cNvSpPr/>
          <p:nvPr/>
        </p:nvSpPr>
        <p:spPr bwMode="gray">
          <a:xfrm>
            <a:off x="7522542" y="2025183"/>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1</a:t>
            </a:r>
          </a:p>
        </p:txBody>
      </p:sp>
      <p:sp>
        <p:nvSpPr>
          <p:cNvPr id="15" name="TextBox 14"/>
          <p:cNvSpPr txBox="1"/>
          <p:nvPr/>
        </p:nvSpPr>
        <p:spPr>
          <a:xfrm>
            <a:off x="7863224" y="3941401"/>
            <a:ext cx="2362520" cy="738664"/>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200" dirty="0" smtClean="0">
                <a:solidFill>
                  <a:prstClr val="black"/>
                </a:solidFill>
              </a:rPr>
              <a:t>Independent Directors comprising of 30% - 80% of Board</a:t>
            </a:r>
            <a:endParaRPr lang="en-US" sz="1200" dirty="0">
              <a:solidFill>
                <a:prstClr val="black"/>
              </a:solidFill>
            </a:endParaRPr>
          </a:p>
        </p:txBody>
      </p:sp>
      <p:sp>
        <p:nvSpPr>
          <p:cNvPr id="16" name="Oval 15"/>
          <p:cNvSpPr/>
          <p:nvPr/>
        </p:nvSpPr>
        <p:spPr bwMode="gray">
          <a:xfrm>
            <a:off x="7522542" y="4120819"/>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2</a:t>
            </a:r>
          </a:p>
        </p:txBody>
      </p:sp>
      <p:sp>
        <p:nvSpPr>
          <p:cNvPr id="17" name="TextBox 16"/>
          <p:cNvSpPr txBox="1"/>
          <p:nvPr/>
        </p:nvSpPr>
        <p:spPr>
          <a:xfrm>
            <a:off x="7852218" y="6079614"/>
            <a:ext cx="2362520"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Board Committees focusing on Risk Mitigation &amp; Compliance</a:t>
            </a:r>
          </a:p>
        </p:txBody>
      </p:sp>
      <p:sp>
        <p:nvSpPr>
          <p:cNvPr id="18" name="Oval 17"/>
          <p:cNvSpPr/>
          <p:nvPr/>
        </p:nvSpPr>
        <p:spPr bwMode="gray">
          <a:xfrm>
            <a:off x="7522542" y="6257436"/>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3</a:t>
            </a:r>
          </a:p>
        </p:txBody>
      </p:sp>
    </p:spTree>
    <p:extLst>
      <p:ext uri="{BB962C8B-B14F-4D97-AF65-F5344CB8AC3E}">
        <p14:creationId xmlns:p14="http://schemas.microsoft.com/office/powerpoint/2010/main" val="1552483098"/>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933400" cy="368439"/>
          </a:xfrm>
        </p:spPr>
        <p:txBody>
          <a:bodyPr/>
          <a:lstStyle/>
          <a:p>
            <a:r>
              <a:rPr lang="en-US" b="1" dirty="0" smtClean="0"/>
              <a:t>Globally firms have </a:t>
            </a:r>
            <a:r>
              <a:rPr lang="en-US" b="1" dirty="0" err="1" smtClean="0"/>
              <a:t>BoD</a:t>
            </a:r>
            <a:r>
              <a:rPr lang="en-US" b="1" dirty="0" smtClean="0"/>
              <a:t> from diversified fields; Holding Company may follow similar structure as its peers for Corporate Governance</a:t>
            </a:r>
            <a:endParaRPr lang="en-IN" b="1" dirty="0"/>
          </a:p>
        </p:txBody>
      </p:sp>
      <p:graphicFrame>
        <p:nvGraphicFramePr>
          <p:cNvPr id="7" name="Table 6"/>
          <p:cNvGraphicFramePr>
            <a:graphicFrameLocks noGrp="1"/>
          </p:cNvGraphicFramePr>
          <p:nvPr>
            <p:extLst/>
          </p:nvPr>
        </p:nvGraphicFramePr>
        <p:xfrm>
          <a:off x="429722" y="1599037"/>
          <a:ext cx="4331880" cy="2885149"/>
        </p:xfrm>
        <a:graphic>
          <a:graphicData uri="http://schemas.openxmlformats.org/drawingml/2006/table">
            <a:tbl>
              <a:tblPr firstRow="1" firstCol="1" bandRow="1">
                <a:tableStyleId>{1FECB4D8-DB02-4DC6-A0A2-4F2EBAE1DC90}</a:tableStyleId>
              </a:tblPr>
              <a:tblGrid>
                <a:gridCol w="1673086"/>
                <a:gridCol w="2658794"/>
              </a:tblGrid>
              <a:tr h="198229">
                <a:tc>
                  <a:txBody>
                    <a:bodyPr/>
                    <a:lstStyle/>
                    <a:p>
                      <a:pPr algn="just">
                        <a:spcAft>
                          <a:spcPts val="600"/>
                        </a:spcAft>
                      </a:pPr>
                      <a:r>
                        <a:rPr lang="en-US" sz="1100" dirty="0" smtClean="0">
                          <a:effectLst/>
                        </a:rPr>
                        <a:t>Directors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c>
                  <a:txBody>
                    <a:bodyPr/>
                    <a:lstStyle/>
                    <a:p>
                      <a:pPr algn="just">
                        <a:spcAft>
                          <a:spcPts val="600"/>
                        </a:spcAft>
                      </a:pPr>
                      <a:r>
                        <a:rPr lang="en-US" sz="1100" dirty="0" smtClean="0">
                          <a:effectLst/>
                        </a:rPr>
                        <a:t>Competency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Thermal Generation</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Finance</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Human Resources</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4</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Commercial</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5</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Thermal Generation</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6</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7</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Energy Policy Planning</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8</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Finance</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9</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10</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11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Human Resources</a:t>
                      </a:r>
                      <a:endParaRPr lang="en-IN" sz="1200" b="0" kern="1200" dirty="0">
                        <a:solidFill>
                          <a:schemeClr val="dk1"/>
                        </a:solidFill>
                        <a:effectLst/>
                        <a:latin typeface="+mn-lt"/>
                        <a:ea typeface="+mn-ea"/>
                        <a:cs typeface="+mn-cs"/>
                      </a:endParaRPr>
                    </a:p>
                  </a:txBody>
                  <a:tcPr marL="68580" marR="68580" marT="0" marB="0" anchor="b"/>
                </a:tc>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12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Sustainability</a:t>
                      </a:r>
                      <a:endParaRPr lang="en-IN" sz="1200" b="0" kern="1200" dirty="0">
                        <a:solidFill>
                          <a:schemeClr val="dk1"/>
                        </a:solidFill>
                        <a:effectLst/>
                        <a:latin typeface="+mn-lt"/>
                        <a:ea typeface="+mn-ea"/>
                        <a:cs typeface="+mn-cs"/>
                      </a:endParaRPr>
                    </a:p>
                  </a:txBody>
                  <a:tcPr marL="68580" marR="68580" marT="0" marB="0" anchor="b"/>
                </a:tc>
              </a:tr>
            </a:tbl>
          </a:graphicData>
        </a:graphic>
      </p:graphicFrame>
      <p:cxnSp>
        <p:nvCxnSpPr>
          <p:cNvPr id="9" name="Straight Connector 8"/>
          <p:cNvCxnSpPr/>
          <p:nvPr/>
        </p:nvCxnSpPr>
        <p:spPr>
          <a:xfrm>
            <a:off x="439791" y="1227865"/>
            <a:ext cx="978595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483852" y="1111790"/>
            <a:ext cx="3845280" cy="215444"/>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Competencies of Board Members</a:t>
            </a:r>
            <a:endParaRPr lang="en-IN" sz="1400" b="1" dirty="0" smtClean="0">
              <a:solidFill>
                <a:srgbClr val="313131"/>
              </a:solidFill>
            </a:endParaRPr>
          </a:p>
        </p:txBody>
      </p:sp>
      <p:sp>
        <p:nvSpPr>
          <p:cNvPr id="12" name="Rectangle 11"/>
          <p:cNvSpPr/>
          <p:nvPr/>
        </p:nvSpPr>
        <p:spPr>
          <a:xfrm>
            <a:off x="598396" y="1281525"/>
            <a:ext cx="4014669" cy="283539"/>
          </a:xfrm>
          <a:prstGeom prst="rect">
            <a:avLst/>
          </a:prstGeom>
        </p:spPr>
        <p:txBody>
          <a:bodyPr>
            <a:spAutoFit/>
          </a:bodyPr>
          <a:lstStyle/>
          <a:p>
            <a:pPr algn="ctr">
              <a:lnSpc>
                <a:spcPct val="115000"/>
              </a:lnSpc>
            </a:pPr>
            <a:r>
              <a:rPr lang="en-US" sz="1200" b="1" i="1" dirty="0" smtClean="0">
                <a:solidFill>
                  <a:prstClr val="black"/>
                </a:solidFill>
                <a:ea typeface="Arial" panose="020B0604020202020204" pitchFamily="34" charset="0"/>
                <a:cs typeface="Arial" panose="020B0604020202020204" pitchFamily="34" charset="0"/>
              </a:rPr>
              <a:t>NTPC Ltd.</a:t>
            </a:r>
            <a:endParaRPr lang="en-US" sz="1200" b="1" i="1" dirty="0">
              <a:solidFill>
                <a:prstClr val="black"/>
              </a:solidFill>
              <a:ea typeface="Arial" panose="020B0604020202020204" pitchFamily="34" charset="0"/>
              <a:cs typeface="Arial" panose="020B0604020202020204" pitchFamily="34" charset="0"/>
            </a:endParaRPr>
          </a:p>
        </p:txBody>
      </p:sp>
      <p:graphicFrame>
        <p:nvGraphicFramePr>
          <p:cNvPr id="13" name="Table 12"/>
          <p:cNvGraphicFramePr>
            <a:graphicFrameLocks noGrp="1"/>
          </p:cNvGraphicFramePr>
          <p:nvPr>
            <p:extLst/>
          </p:nvPr>
        </p:nvGraphicFramePr>
        <p:xfrm>
          <a:off x="5893864" y="1599038"/>
          <a:ext cx="4331880" cy="2919119"/>
        </p:xfrm>
        <a:graphic>
          <a:graphicData uri="http://schemas.openxmlformats.org/drawingml/2006/table">
            <a:tbl>
              <a:tblPr firstRow="1" firstCol="1" bandRow="1">
                <a:tableStyleId>{1FECB4D8-DB02-4DC6-A0A2-4F2EBAE1DC90}</a:tableStyleId>
              </a:tblPr>
              <a:tblGrid>
                <a:gridCol w="1673086"/>
                <a:gridCol w="2658794"/>
              </a:tblGrid>
              <a:tr h="185063">
                <a:tc>
                  <a:txBody>
                    <a:bodyPr/>
                    <a:lstStyle/>
                    <a:p>
                      <a:pPr algn="just">
                        <a:spcAft>
                          <a:spcPts val="600"/>
                        </a:spcAft>
                      </a:pPr>
                      <a:r>
                        <a:rPr lang="en-US" sz="1100" dirty="0" smtClean="0">
                          <a:effectLst/>
                        </a:rPr>
                        <a:t>Directors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c>
                  <a:txBody>
                    <a:bodyPr/>
                    <a:lstStyle/>
                    <a:p>
                      <a:pPr algn="just">
                        <a:spcAft>
                          <a:spcPts val="600"/>
                        </a:spcAft>
                      </a:pPr>
                      <a:r>
                        <a:rPr lang="en-US" sz="1100" dirty="0" smtClean="0">
                          <a:effectLst/>
                        </a:rPr>
                        <a:t>Competency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Strategy</a:t>
                      </a:r>
                      <a:endParaRPr lang="en-IN" sz="1200" b="0" kern="120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Economics</a:t>
                      </a:r>
                      <a:endParaRPr lang="en-IN" sz="1200" b="0" kern="120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4</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5</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Legal and Public Policy</a:t>
                      </a:r>
                      <a:endParaRPr lang="en-IN" sz="1200" b="0" kern="120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6</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7</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Legal and Regulatory</a:t>
                      </a:r>
                      <a:endParaRPr lang="en-IN" sz="1200" b="0" kern="120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8</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9</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Administration</a:t>
                      </a:r>
                      <a:endParaRPr lang="en-IN" sz="1200" b="0" kern="120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10</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Legal</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a:t>
                      </a:r>
                      <a:r>
                        <a:rPr lang="en-US" sz="1200" b="0" kern="1200" dirty="0" smtClean="0">
                          <a:solidFill>
                            <a:schemeClr val="dk1"/>
                          </a:solidFill>
                          <a:effectLst/>
                          <a:latin typeface="+mn-lt"/>
                          <a:ea typeface="+mn-ea"/>
                          <a:cs typeface="+mn-cs"/>
                        </a:rPr>
                        <a:t>13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tr>
            </a:tbl>
          </a:graphicData>
        </a:graphic>
      </p:graphicFrame>
      <p:sp>
        <p:nvSpPr>
          <p:cNvPr id="14" name="Rectangle 13"/>
          <p:cNvSpPr/>
          <p:nvPr/>
        </p:nvSpPr>
        <p:spPr>
          <a:xfrm>
            <a:off x="6052469" y="1282705"/>
            <a:ext cx="4014669" cy="283539"/>
          </a:xfrm>
          <a:prstGeom prst="rect">
            <a:avLst/>
          </a:prstGeom>
        </p:spPr>
        <p:txBody>
          <a:bodyPr>
            <a:spAutoFit/>
          </a:bodyPr>
          <a:lstStyle/>
          <a:p>
            <a:pPr algn="ctr">
              <a:lnSpc>
                <a:spcPct val="115000"/>
              </a:lnSpc>
            </a:pPr>
            <a:r>
              <a:rPr lang="en-US" sz="1200" b="1" i="1" dirty="0" smtClean="0">
                <a:solidFill>
                  <a:prstClr val="black"/>
                </a:solidFill>
                <a:ea typeface="Arial" panose="020B0604020202020204" pitchFamily="34" charset="0"/>
                <a:cs typeface="Arial" panose="020B0604020202020204" pitchFamily="34" charset="0"/>
              </a:rPr>
              <a:t>Iberdrola S.A (Spain)</a:t>
            </a:r>
            <a:endParaRPr lang="en-US" sz="1200" b="1" i="1" dirty="0">
              <a:solidFill>
                <a:prstClr val="black"/>
              </a:solidFill>
              <a:ea typeface="Arial" panose="020B0604020202020204" pitchFamily="34" charset="0"/>
              <a:cs typeface="Arial" panose="020B0604020202020204" pitchFamily="34" charset="0"/>
            </a:endParaRPr>
          </a:p>
        </p:txBody>
      </p:sp>
      <p:cxnSp>
        <p:nvCxnSpPr>
          <p:cNvPr id="16" name="Straight Connector 15"/>
          <p:cNvCxnSpPr/>
          <p:nvPr/>
        </p:nvCxnSpPr>
        <p:spPr>
          <a:xfrm>
            <a:off x="364963" y="4689605"/>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483852" y="4565213"/>
            <a:ext cx="3317908" cy="215444"/>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Key Recommendations</a:t>
            </a:r>
            <a:endParaRPr lang="en-US" sz="1400" b="1" dirty="0">
              <a:solidFill>
                <a:srgbClr val="313131"/>
              </a:solidFill>
            </a:endParaRPr>
          </a:p>
        </p:txBody>
      </p:sp>
      <p:sp>
        <p:nvSpPr>
          <p:cNvPr id="18" name="TextBox 17"/>
          <p:cNvSpPr txBox="1"/>
          <p:nvPr/>
        </p:nvSpPr>
        <p:spPr>
          <a:xfrm>
            <a:off x="727428" y="4925695"/>
            <a:ext cx="9445268"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smtClean="0">
                <a:solidFill>
                  <a:prstClr val="black"/>
                </a:solidFill>
                <a:ea typeface="Arial" panose="020B0604020202020204" pitchFamily="34" charset="0"/>
                <a:cs typeface="Arial" panose="020B0604020202020204" pitchFamily="34" charset="0"/>
              </a:rPr>
              <a:t>In line with regulatory requirements of Bangladesh and structure of leading entities worldwide, BPDB Holding Company may have a Board Strength of 12 members</a:t>
            </a:r>
          </a:p>
        </p:txBody>
      </p:sp>
      <p:sp>
        <p:nvSpPr>
          <p:cNvPr id="19" name="Oval 18"/>
          <p:cNvSpPr/>
          <p:nvPr/>
        </p:nvSpPr>
        <p:spPr bwMode="gray">
          <a:xfrm>
            <a:off x="386746" y="5012780"/>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1</a:t>
            </a:r>
          </a:p>
        </p:txBody>
      </p:sp>
      <p:sp>
        <p:nvSpPr>
          <p:cNvPr id="20" name="TextBox 19"/>
          <p:cNvSpPr txBox="1"/>
          <p:nvPr/>
        </p:nvSpPr>
        <p:spPr>
          <a:xfrm>
            <a:off x="727428" y="5715781"/>
            <a:ext cx="9445268"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200" b="1" dirty="0" smtClean="0">
                <a:solidFill>
                  <a:prstClr val="black"/>
                </a:solidFill>
                <a:ea typeface="Arial" panose="020B0604020202020204" pitchFamily="34" charset="0"/>
                <a:cs typeface="Arial" panose="020B0604020202020204" pitchFamily="34" charset="0"/>
              </a:rPr>
              <a:t>The </a:t>
            </a:r>
            <a:r>
              <a:rPr lang="en-IN" sz="1200" b="1" dirty="0">
                <a:solidFill>
                  <a:prstClr val="black"/>
                </a:solidFill>
                <a:ea typeface="Arial" panose="020B0604020202020204" pitchFamily="34" charset="0"/>
                <a:cs typeface="Arial" panose="020B0604020202020204" pitchFamily="34" charset="0"/>
              </a:rPr>
              <a:t>Board should </a:t>
            </a:r>
            <a:r>
              <a:rPr lang="en-IN" sz="1200" b="1" dirty="0" smtClean="0">
                <a:solidFill>
                  <a:prstClr val="black"/>
                </a:solidFill>
                <a:ea typeface="Arial" panose="020B0604020202020204" pitchFamily="34" charset="0"/>
                <a:cs typeface="Arial" panose="020B0604020202020204" pitchFamily="34" charset="0"/>
              </a:rPr>
              <a:t>have representation </a:t>
            </a:r>
            <a:r>
              <a:rPr lang="en-IN" sz="1200" b="1" dirty="0">
                <a:solidFill>
                  <a:prstClr val="black"/>
                </a:solidFill>
                <a:ea typeface="Arial" panose="020B0604020202020204" pitchFamily="34" charset="0"/>
                <a:cs typeface="Arial" panose="020B0604020202020204" pitchFamily="34" charset="0"/>
              </a:rPr>
              <a:t>by Independent Directors and have a mix of diverse skill-sets including </a:t>
            </a:r>
            <a:r>
              <a:rPr lang="en-IN" sz="1200" b="1" dirty="0" smtClean="0">
                <a:solidFill>
                  <a:prstClr val="black"/>
                </a:solidFill>
                <a:ea typeface="Arial" panose="020B0604020202020204" pitchFamily="34" charset="0"/>
                <a:cs typeface="Arial" panose="020B0604020202020204" pitchFamily="34" charset="0"/>
              </a:rPr>
              <a:t>power </a:t>
            </a:r>
            <a:r>
              <a:rPr lang="en-IN" sz="1200" b="1" dirty="0">
                <a:solidFill>
                  <a:prstClr val="black"/>
                </a:solidFill>
                <a:ea typeface="Arial" panose="020B0604020202020204" pitchFamily="34" charset="0"/>
                <a:cs typeface="Arial" panose="020B0604020202020204" pitchFamily="34" charset="0"/>
              </a:rPr>
              <a:t>Generation, Distribution, Power Markets, Finance, Economics, Strategy, Legal, Administration, Planning etc. </a:t>
            </a:r>
            <a:endParaRPr lang="en-US" sz="1200" b="1" dirty="0" smtClean="0">
              <a:solidFill>
                <a:prstClr val="black"/>
              </a:solidFill>
              <a:ea typeface="Arial" panose="020B0604020202020204" pitchFamily="34" charset="0"/>
              <a:cs typeface="Arial" panose="020B0604020202020204" pitchFamily="34" charset="0"/>
            </a:endParaRPr>
          </a:p>
        </p:txBody>
      </p:sp>
      <p:sp>
        <p:nvSpPr>
          <p:cNvPr id="21" name="Oval 20"/>
          <p:cNvSpPr/>
          <p:nvPr/>
        </p:nvSpPr>
        <p:spPr bwMode="gray">
          <a:xfrm>
            <a:off x="386746" y="5892272"/>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2</a:t>
            </a:r>
          </a:p>
        </p:txBody>
      </p:sp>
      <p:sp>
        <p:nvSpPr>
          <p:cNvPr id="22" name="TextBox 21"/>
          <p:cNvSpPr txBox="1"/>
          <p:nvPr/>
        </p:nvSpPr>
        <p:spPr>
          <a:xfrm>
            <a:off x="727428" y="6677111"/>
            <a:ext cx="9445268"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200" b="1" dirty="0" smtClean="0">
                <a:solidFill>
                  <a:prstClr val="black"/>
                </a:solidFill>
                <a:ea typeface="Arial" panose="020B0604020202020204" pitchFamily="34" charset="0"/>
                <a:cs typeface="Arial" panose="020B0604020202020204" pitchFamily="34" charset="0"/>
              </a:rPr>
              <a:t>The Board of Directors must form Audit &amp; Governance Committees to ensure risk oversight and compliance to all governance policies applicable to the holding company</a:t>
            </a:r>
            <a:endParaRPr lang="en-US" sz="1200" b="1" dirty="0" smtClean="0">
              <a:solidFill>
                <a:prstClr val="black"/>
              </a:solidFill>
              <a:ea typeface="Arial" panose="020B0604020202020204" pitchFamily="34" charset="0"/>
              <a:cs typeface="Arial" panose="020B0604020202020204" pitchFamily="34" charset="0"/>
            </a:endParaRPr>
          </a:p>
        </p:txBody>
      </p:sp>
      <p:sp>
        <p:nvSpPr>
          <p:cNvPr id="23" name="Oval 22"/>
          <p:cNvSpPr/>
          <p:nvPr/>
        </p:nvSpPr>
        <p:spPr bwMode="gray">
          <a:xfrm>
            <a:off x="386746" y="6764196"/>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3</a:t>
            </a:r>
          </a:p>
        </p:txBody>
      </p:sp>
    </p:spTree>
    <p:extLst>
      <p:ext uri="{BB962C8B-B14F-4D97-AF65-F5344CB8AC3E}">
        <p14:creationId xmlns:p14="http://schemas.microsoft.com/office/powerpoint/2010/main" val="2035209644"/>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933400" cy="368439"/>
          </a:xfrm>
        </p:spPr>
        <p:txBody>
          <a:bodyPr/>
          <a:lstStyle/>
          <a:p>
            <a:r>
              <a:rPr lang="en-US" b="1" dirty="0" smtClean="0"/>
              <a:t>Proposed high level recommendations for roles and responsibilities of Board of Directors</a:t>
            </a:r>
            <a:endParaRPr lang="en-IN" b="1" dirty="0"/>
          </a:p>
        </p:txBody>
      </p:sp>
      <p:graphicFrame>
        <p:nvGraphicFramePr>
          <p:cNvPr id="6" name="Table 5"/>
          <p:cNvGraphicFramePr>
            <a:graphicFrameLocks noGrp="1"/>
          </p:cNvGraphicFramePr>
          <p:nvPr>
            <p:extLst/>
          </p:nvPr>
        </p:nvGraphicFramePr>
        <p:xfrm>
          <a:off x="439793" y="1099585"/>
          <a:ext cx="9933400" cy="6125673"/>
        </p:xfrm>
        <a:graphic>
          <a:graphicData uri="http://schemas.openxmlformats.org/drawingml/2006/table">
            <a:tbl>
              <a:tblPr firstRow="1" bandRow="1">
                <a:tableStyleId>{F2DE63D5-997A-4646-A377-4702673A728D}</a:tableStyleId>
              </a:tblPr>
              <a:tblGrid>
                <a:gridCol w="1793741"/>
                <a:gridCol w="8139659"/>
              </a:tblGrid>
              <a:tr h="596125">
                <a:tc>
                  <a:txBody>
                    <a:bodyPr/>
                    <a:lstStyle/>
                    <a:p>
                      <a:pPr marL="0" indent="0">
                        <a:buFont typeface="Arial" panose="020B0604020202020204" pitchFamily="34" charset="0"/>
                        <a:buNone/>
                      </a:pPr>
                      <a:r>
                        <a:rPr lang="en-US" sz="1200" dirty="0" smtClean="0"/>
                        <a:t>High</a:t>
                      </a:r>
                      <a:r>
                        <a:rPr lang="en-US" sz="1200" baseline="0" dirty="0" smtClean="0"/>
                        <a:t> Level Roles &amp; Responsibilities</a:t>
                      </a:r>
                      <a:endParaRPr lang="en-IN" sz="1200" dirty="0"/>
                    </a:p>
                  </a:txBody>
                  <a:tcPr/>
                </a:tc>
                <a:tc>
                  <a:txBody>
                    <a:bodyPr/>
                    <a:lstStyle/>
                    <a:p>
                      <a:pPr marL="0" indent="0">
                        <a:buFont typeface="Arial" panose="020B0604020202020204" pitchFamily="34" charset="0"/>
                        <a:buNone/>
                      </a:pPr>
                      <a:r>
                        <a:rPr lang="en-US" sz="1200" dirty="0" smtClean="0"/>
                        <a:t>Description</a:t>
                      </a:r>
                      <a:endParaRPr lang="en-IN" sz="1200" dirty="0"/>
                    </a:p>
                  </a:txBody>
                  <a:tcPr/>
                </a:tc>
              </a:tr>
              <a:tr h="1080475">
                <a:tc>
                  <a:txBody>
                    <a:bodyPr/>
                    <a:lstStyle/>
                    <a:p>
                      <a:pPr marL="0" indent="0">
                        <a:buFont typeface="Arial" panose="020B0604020202020204" pitchFamily="34" charset="0"/>
                        <a:buNone/>
                      </a:pPr>
                      <a:r>
                        <a:rPr lang="en-US" sz="1200" dirty="0" smtClean="0"/>
                        <a:t>Board Composition</a:t>
                      </a:r>
                      <a:endParaRPr lang="en-IN" sz="1200" b="1" dirty="0"/>
                    </a:p>
                  </a:txBody>
                  <a:tcPr anchor="ctr"/>
                </a:tc>
                <a:tc>
                  <a:txBody>
                    <a:bodyPr/>
                    <a:lstStyle/>
                    <a:p>
                      <a:pPr marL="144000" indent="-144000">
                        <a:lnSpc>
                          <a:spcPct val="110000"/>
                        </a:lnSpc>
                        <a:spcBef>
                          <a:spcPts val="600"/>
                        </a:spcBef>
                        <a:buFont typeface="Arial" panose="020B0604020202020204" pitchFamily="34" charset="0"/>
                        <a:buChar char="•"/>
                      </a:pPr>
                      <a:r>
                        <a:rPr lang="en-US" sz="1200" dirty="0" smtClean="0"/>
                        <a:t>Maintain balance of Executive and Non-executive Directors (including Independent Directors)</a:t>
                      </a:r>
                    </a:p>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Ensure progressive refreshing of Directors</a:t>
                      </a:r>
                    </a:p>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Appointment of Directors</a:t>
                      </a:r>
                      <a:endParaRPr lang="en-IN" sz="1200" dirty="0" smtClean="0"/>
                    </a:p>
                  </a:txBody>
                  <a:tcPr anchor="ctr"/>
                </a:tc>
              </a:tr>
              <a:tr h="2229008">
                <a:tc>
                  <a:txBody>
                    <a:bodyPr/>
                    <a:lstStyle/>
                    <a:p>
                      <a:pPr marL="0" indent="0">
                        <a:buFont typeface="Arial" panose="020B0604020202020204" pitchFamily="34" charset="0"/>
                        <a:buNone/>
                      </a:pPr>
                      <a:r>
                        <a:rPr lang="en-US" sz="1200" dirty="0" smtClean="0"/>
                        <a:t>Evaluation</a:t>
                      </a:r>
                      <a:r>
                        <a:rPr lang="en-US" sz="1200" baseline="0" dirty="0" smtClean="0"/>
                        <a:t> and monitoring responsibilities</a:t>
                      </a:r>
                      <a:endParaRPr lang="en-IN" sz="1200" b="1" dirty="0"/>
                    </a:p>
                  </a:txBody>
                  <a:tcPr anchor="ctr"/>
                </a:tc>
                <a:tc>
                  <a:txBody>
                    <a:bodyPr/>
                    <a:lstStyle/>
                    <a:p>
                      <a:pPr marL="144000" indent="-144000">
                        <a:lnSpc>
                          <a:spcPct val="130000"/>
                        </a:lnSpc>
                        <a:spcBef>
                          <a:spcPts val="600"/>
                        </a:spcBef>
                        <a:buFont typeface="Arial" panose="020B0604020202020204" pitchFamily="34" charset="0"/>
                        <a:buChar char="•"/>
                      </a:pPr>
                      <a:r>
                        <a:rPr lang="en-US" sz="1200" dirty="0" smtClean="0"/>
                        <a:t>Periodically</a:t>
                      </a:r>
                      <a:r>
                        <a:rPr lang="en-US" sz="1200" baseline="0" dirty="0" smtClean="0"/>
                        <a:t> s</a:t>
                      </a:r>
                      <a:r>
                        <a:rPr lang="en-US" sz="1200" dirty="0" smtClean="0"/>
                        <a:t>ubmit balanced</a:t>
                      </a:r>
                      <a:r>
                        <a:rPr lang="en-US" sz="1200" baseline="0" dirty="0" smtClean="0"/>
                        <a:t> assessment of Company position and prospects in agreed format to Government and Multilateral agencies</a:t>
                      </a:r>
                    </a:p>
                    <a:p>
                      <a:pPr marL="144000" marR="0" lvl="0" indent="-144000" algn="l" defTabSz="1008400" rtl="0" eaLnBrk="1" fontAlgn="auto" latinLnBrk="0" hangingPunct="1">
                        <a:lnSpc>
                          <a:spcPct val="130000"/>
                        </a:lnSpc>
                        <a:spcBef>
                          <a:spcPts val="600"/>
                        </a:spcBef>
                        <a:spcAft>
                          <a:spcPts val="0"/>
                        </a:spcAft>
                        <a:buClrTx/>
                        <a:buSzTx/>
                        <a:buFont typeface="Arial" panose="020B0604020202020204" pitchFamily="34" charset="0"/>
                        <a:buChar char="•"/>
                        <a:tabLst/>
                        <a:defRPr/>
                      </a:pPr>
                      <a:r>
                        <a:rPr lang="en-US" sz="1200" dirty="0" smtClean="0"/>
                        <a:t>Undertake periodic self evaluation and that of committees and individual directors</a:t>
                      </a:r>
                      <a:endParaRPr lang="en-IN" sz="1200" dirty="0" smtClean="0"/>
                    </a:p>
                    <a:p>
                      <a:pPr marL="144000" marR="0" lvl="0" indent="-144000" algn="l" defTabSz="1008400" rtl="0" eaLnBrk="1" fontAlgn="auto" latinLnBrk="0" hangingPunct="1">
                        <a:lnSpc>
                          <a:spcPct val="130000"/>
                        </a:lnSpc>
                        <a:spcBef>
                          <a:spcPts val="600"/>
                        </a:spcBef>
                        <a:spcAft>
                          <a:spcPts val="0"/>
                        </a:spcAft>
                        <a:buClrTx/>
                        <a:buSzTx/>
                        <a:buFont typeface="Arial" panose="020B0604020202020204" pitchFamily="34" charset="0"/>
                        <a:buChar char="•"/>
                        <a:tabLst/>
                        <a:defRPr/>
                      </a:pPr>
                      <a:r>
                        <a:rPr lang="en-US" sz="1200" dirty="0" smtClean="0"/>
                        <a:t>Board</a:t>
                      </a:r>
                      <a:r>
                        <a:rPr lang="en-US" sz="1200" baseline="0" dirty="0" smtClean="0"/>
                        <a:t> should involve only in framing, developing, monitoring and evaluating business strategies and plans. Day-to-day operations to be conducted by management.</a:t>
                      </a:r>
                      <a:endParaRPr lang="en-IN" sz="1200" dirty="0" smtClean="0"/>
                    </a:p>
                    <a:p>
                      <a:pPr marL="144000" marR="0" lvl="0" indent="-144000" algn="l" defTabSz="1008400" rtl="0" eaLnBrk="1" fontAlgn="auto" latinLnBrk="0" hangingPunct="1">
                        <a:lnSpc>
                          <a:spcPct val="130000"/>
                        </a:lnSpc>
                        <a:spcBef>
                          <a:spcPts val="600"/>
                        </a:spcBef>
                        <a:spcAft>
                          <a:spcPts val="0"/>
                        </a:spcAft>
                        <a:buClrTx/>
                        <a:buSzTx/>
                        <a:buFont typeface="Arial" panose="020B0604020202020204" pitchFamily="34" charset="0"/>
                        <a:buChar char="•"/>
                        <a:tabLst/>
                        <a:defRPr/>
                      </a:pPr>
                      <a:r>
                        <a:rPr lang="en-US" sz="1200" dirty="0" smtClean="0"/>
                        <a:t>Regularly interact with management,</a:t>
                      </a:r>
                      <a:r>
                        <a:rPr lang="en-US" sz="1200" baseline="0" dirty="0" smtClean="0"/>
                        <a:t> employees and auditors for smooth and transparent operations of the company</a:t>
                      </a:r>
                      <a:endParaRPr lang="en-IN" sz="1200" dirty="0" smtClean="0"/>
                    </a:p>
                  </a:txBody>
                  <a:tcPr anchor="ctr"/>
                </a:tc>
              </a:tr>
              <a:tr h="981121">
                <a:tc>
                  <a:txBody>
                    <a:bodyPr/>
                    <a:lstStyle/>
                    <a:p>
                      <a:pPr marL="0" indent="0">
                        <a:buFont typeface="Arial" panose="020B0604020202020204" pitchFamily="34" charset="0"/>
                        <a:buNone/>
                      </a:pPr>
                      <a:r>
                        <a:rPr lang="en-US" sz="1200" dirty="0" smtClean="0"/>
                        <a:t>Internal Control &amp; Transparency</a:t>
                      </a:r>
                      <a:endParaRPr lang="en-IN" sz="1200" b="1" dirty="0"/>
                    </a:p>
                  </a:txBody>
                  <a:tcPr anchor="ctr"/>
                </a:tc>
                <a:tc>
                  <a:txBody>
                    <a:bodyPr/>
                    <a:lstStyle/>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Establish formal and transparent arrangements</a:t>
                      </a:r>
                      <a:r>
                        <a:rPr lang="en-IN" sz="1200" baseline="0" dirty="0" smtClean="0"/>
                        <a:t> for establishing at least 4 standing committees including Audit and Governance</a:t>
                      </a:r>
                      <a:endParaRPr lang="en-US" sz="1200" dirty="0" smtClean="0"/>
                    </a:p>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E</a:t>
                      </a:r>
                      <a:r>
                        <a:rPr lang="en-US" sz="1200" kern="1200" dirty="0" smtClean="0"/>
                        <a:t>stablish and maintain sound system of internal control, risk management and audit</a:t>
                      </a:r>
                    </a:p>
                  </a:txBody>
                  <a:tcPr anchor="ctr"/>
                </a:tc>
              </a:tr>
              <a:tr h="619472">
                <a:tc>
                  <a:txBody>
                    <a:bodyPr/>
                    <a:lstStyle/>
                    <a:p>
                      <a:pPr marL="0" indent="0">
                        <a:buFont typeface="Arial" panose="020B0604020202020204" pitchFamily="34" charset="0"/>
                        <a:buNone/>
                      </a:pPr>
                      <a:r>
                        <a:rPr lang="en-US" sz="1200" dirty="0" smtClean="0"/>
                        <a:t>Recruitment of officials</a:t>
                      </a:r>
                      <a:endParaRPr lang="en-IN" sz="1200" b="1" dirty="0"/>
                    </a:p>
                  </a:txBody>
                  <a:tcPr anchor="ctr"/>
                </a:tc>
                <a:tc>
                  <a:txBody>
                    <a:bodyPr/>
                    <a:lstStyle/>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Board should be involved in recruiting</a:t>
                      </a:r>
                      <a:r>
                        <a:rPr lang="en-US" sz="1200" baseline="0" dirty="0" smtClean="0"/>
                        <a:t> the top management officials</a:t>
                      </a:r>
                      <a:endParaRPr lang="en-IN" sz="1200" dirty="0" smtClean="0"/>
                    </a:p>
                  </a:txBody>
                  <a:tcPr anchor="ctr"/>
                </a:tc>
              </a:tr>
              <a:tr h="619472">
                <a:tc>
                  <a:txBody>
                    <a:bodyPr/>
                    <a:lstStyle/>
                    <a:p>
                      <a:pPr marL="0" indent="0">
                        <a:buFont typeface="Arial" panose="020B0604020202020204" pitchFamily="34" charset="0"/>
                        <a:buNone/>
                      </a:pPr>
                      <a:r>
                        <a:rPr lang="en-US" sz="1200" dirty="0" smtClean="0"/>
                        <a:t>Delegation of Power</a:t>
                      </a:r>
                      <a:endParaRPr lang="en-IN" sz="1200" b="1" dirty="0"/>
                    </a:p>
                  </a:txBody>
                  <a:tcPr anchor="ctr"/>
                </a:tc>
                <a:tc>
                  <a:txBody>
                    <a:bodyPr/>
                    <a:lstStyle/>
                    <a:p>
                      <a:pPr marL="144000" marR="0" lvl="0" indent="-144000" algn="l" defTabSz="1008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smtClean="0"/>
                        <a:t>Delegate financial matters to a certain level to the managing director and other management officials</a:t>
                      </a:r>
                      <a:endParaRPr lang="en-IN" sz="1200" dirty="0" smtClean="0"/>
                    </a:p>
                  </a:txBody>
                  <a:tcPr anchor="ctr"/>
                </a:tc>
              </a:tr>
            </a:tbl>
          </a:graphicData>
        </a:graphic>
      </p:graphicFrame>
    </p:spTree>
    <p:extLst>
      <p:ext uri="{BB962C8B-B14F-4D97-AF65-F5344CB8AC3E}">
        <p14:creationId xmlns:p14="http://schemas.microsoft.com/office/powerpoint/2010/main" val="3951999542"/>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439793" y="350131"/>
            <a:ext cx="9933400" cy="368439"/>
          </a:xfrm>
        </p:spPr>
        <p:txBody>
          <a:bodyPr/>
          <a:lstStyle/>
          <a:p>
            <a:r>
              <a:rPr lang="en-US" b="1" dirty="0" smtClean="0"/>
              <a:t>The Board of Directors will need to address key immediate priority areas for effective functioning of Holding Company</a:t>
            </a:r>
            <a:endParaRPr lang="en-IN" b="1" dirty="0"/>
          </a:p>
        </p:txBody>
      </p:sp>
      <p:sp>
        <p:nvSpPr>
          <p:cNvPr id="14" name="Freeform 13"/>
          <p:cNvSpPr/>
          <p:nvPr/>
        </p:nvSpPr>
        <p:spPr>
          <a:xfrm>
            <a:off x="439793"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smtClean="0">
                <a:solidFill>
                  <a:prstClr val="white"/>
                </a:solidFill>
              </a:rPr>
              <a:t>Board Charter</a:t>
            </a:r>
            <a:endParaRPr lang="en-IN" sz="1400" dirty="0">
              <a:solidFill>
                <a:prstClr val="white"/>
              </a:solidFill>
            </a:endParaRPr>
          </a:p>
        </p:txBody>
      </p:sp>
      <p:sp>
        <p:nvSpPr>
          <p:cNvPr id="15" name="Rectangle 14"/>
          <p:cNvSpPr/>
          <p:nvPr/>
        </p:nvSpPr>
        <p:spPr>
          <a:xfrm>
            <a:off x="439793" y="2151391"/>
            <a:ext cx="2674216" cy="183600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Define Board policies for composition, appointment, retirement and functions</a:t>
            </a:r>
            <a:endParaRPr lang="en-IN" sz="1400" dirty="0" smtClean="0">
              <a:solidFill>
                <a:prstClr val="black">
                  <a:hueOff val="0"/>
                  <a:satOff val="0"/>
                  <a:lumOff val="0"/>
                  <a:alphaOff val="0"/>
                </a:prstClr>
              </a:solidFill>
            </a:endParaRPr>
          </a:p>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Articulate Board governance practices with strategic priorities of the Board</a:t>
            </a:r>
          </a:p>
        </p:txBody>
      </p:sp>
      <p:sp>
        <p:nvSpPr>
          <p:cNvPr id="16" name="Freeform 15"/>
          <p:cNvSpPr/>
          <p:nvPr/>
        </p:nvSpPr>
        <p:spPr>
          <a:xfrm>
            <a:off x="3979442"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099165"/>
          </a:solidFill>
          <a:ln>
            <a:solidFill>
              <a:srgbClr val="099165"/>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Formation of Board Committees</a:t>
            </a:r>
            <a:endParaRPr lang="en-IN" sz="1400" dirty="0">
              <a:solidFill>
                <a:prstClr val="white"/>
              </a:solidFill>
            </a:endParaRPr>
          </a:p>
        </p:txBody>
      </p:sp>
      <p:sp>
        <p:nvSpPr>
          <p:cNvPr id="17" name="Rectangle 16"/>
          <p:cNvSpPr/>
          <p:nvPr/>
        </p:nvSpPr>
        <p:spPr>
          <a:xfrm>
            <a:off x="3979442" y="2151391"/>
            <a:ext cx="2674216" cy="1836000"/>
          </a:xfrm>
          <a:prstGeom prst="rect">
            <a:avLst/>
          </a:prstGeom>
          <a:solidFill>
            <a:srgbClr val="D0DFD8"/>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Formation of Board Committees including Audit &amp; Governance </a:t>
            </a:r>
            <a:r>
              <a:rPr lang="en-US" sz="1400" dirty="0" smtClean="0">
                <a:solidFill>
                  <a:prstClr val="black">
                    <a:hueOff val="0"/>
                    <a:satOff val="0"/>
                    <a:lumOff val="0"/>
                    <a:alphaOff val="0"/>
                  </a:prstClr>
                </a:solidFill>
              </a:rPr>
              <a:t>Committees</a:t>
            </a:r>
          </a:p>
          <a:p>
            <a:pPr>
              <a:spcBef>
                <a:spcPts val="600"/>
              </a:spcBef>
            </a:pPr>
            <a:endParaRPr lang="en-US" sz="1400" dirty="0">
              <a:solidFill>
                <a:prstClr val="black">
                  <a:hueOff val="0"/>
                  <a:satOff val="0"/>
                  <a:lumOff val="0"/>
                  <a:alphaOff val="0"/>
                </a:prstClr>
              </a:solidFill>
            </a:endParaRPr>
          </a:p>
        </p:txBody>
      </p:sp>
      <p:sp>
        <p:nvSpPr>
          <p:cNvPr id="18" name="Freeform 17"/>
          <p:cNvSpPr/>
          <p:nvPr/>
        </p:nvSpPr>
        <p:spPr>
          <a:xfrm>
            <a:off x="7519095"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0FB59D"/>
          </a:solidFill>
          <a:ln>
            <a:solidFill>
              <a:srgbClr val="0FB59D"/>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Board Committee Charters</a:t>
            </a:r>
            <a:endParaRPr lang="en-IN" sz="1400" dirty="0">
              <a:solidFill>
                <a:prstClr val="white"/>
              </a:solidFill>
            </a:endParaRPr>
          </a:p>
        </p:txBody>
      </p:sp>
      <p:sp>
        <p:nvSpPr>
          <p:cNvPr id="19" name="Rectangle 18"/>
          <p:cNvSpPr/>
          <p:nvPr/>
        </p:nvSpPr>
        <p:spPr>
          <a:xfrm>
            <a:off x="7519095" y="2151393"/>
            <a:ext cx="2674216" cy="1836000"/>
          </a:xfrm>
          <a:prstGeom prst="rect">
            <a:avLst/>
          </a:prstGeom>
          <a:solidFill>
            <a:srgbClr val="D1E7E1"/>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Define Board Committee </a:t>
            </a:r>
            <a:r>
              <a:rPr lang="en-US" sz="1400" dirty="0" smtClean="0">
                <a:solidFill>
                  <a:prstClr val="black">
                    <a:hueOff val="0"/>
                    <a:satOff val="0"/>
                    <a:lumOff val="0"/>
                    <a:alphaOff val="0"/>
                  </a:prstClr>
                </a:solidFill>
              </a:rPr>
              <a:t>policies, roles &amp; responsibilities</a:t>
            </a:r>
          </a:p>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Define oversight roles of Board Directors for each committee</a:t>
            </a:r>
          </a:p>
        </p:txBody>
      </p:sp>
      <p:sp>
        <p:nvSpPr>
          <p:cNvPr id="20" name="Freeform 19"/>
          <p:cNvSpPr/>
          <p:nvPr/>
        </p:nvSpPr>
        <p:spPr>
          <a:xfrm>
            <a:off x="439792" y="4456610"/>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1850077"/>
              <a:satOff val="-12700"/>
              <a:lumOff val="25531"/>
              <a:alphaOff val="0"/>
            </a:schemeClr>
          </a:lnRef>
          <a:fillRef idx="1">
            <a:schemeClr val="accent2">
              <a:hueOff val="1850077"/>
              <a:satOff val="-12700"/>
              <a:lumOff val="25531"/>
              <a:alphaOff val="0"/>
            </a:schemeClr>
          </a:fillRef>
          <a:effectRef idx="0">
            <a:schemeClr val="accent2">
              <a:hueOff val="1850077"/>
              <a:satOff val="-12700"/>
              <a:lumOff val="25531"/>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smtClean="0">
                <a:solidFill>
                  <a:prstClr val="white"/>
                </a:solidFill>
              </a:rPr>
              <a:t>Standard Operating Procedures (SOPs)</a:t>
            </a:r>
            <a:endParaRPr lang="en-IN" sz="1400" dirty="0">
              <a:solidFill>
                <a:prstClr val="white"/>
              </a:solidFill>
            </a:endParaRPr>
          </a:p>
        </p:txBody>
      </p:sp>
      <p:sp>
        <p:nvSpPr>
          <p:cNvPr id="21" name="Rectangle 20"/>
          <p:cNvSpPr/>
          <p:nvPr/>
        </p:nvSpPr>
        <p:spPr>
          <a:xfrm>
            <a:off x="439792" y="5006954"/>
            <a:ext cx="2674216" cy="1836000"/>
          </a:xfrm>
          <a:prstGeom prst="rect">
            <a:avLst/>
          </a:prstGeom>
        </p:spPr>
        <p:style>
          <a:lnRef idx="2">
            <a:schemeClr val="accent2">
              <a:tint val="40000"/>
              <a:alpha val="90000"/>
              <a:hueOff val="2565470"/>
              <a:satOff val="32669"/>
              <a:lumOff val="4739"/>
              <a:alphaOff val="0"/>
            </a:schemeClr>
          </a:lnRef>
          <a:fillRef idx="1">
            <a:schemeClr val="accent2">
              <a:tint val="40000"/>
              <a:alpha val="90000"/>
              <a:hueOff val="2565470"/>
              <a:satOff val="32669"/>
              <a:lumOff val="4739"/>
              <a:alphaOff val="0"/>
            </a:schemeClr>
          </a:fillRef>
          <a:effectRef idx="0">
            <a:schemeClr val="accent2">
              <a:tint val="40000"/>
              <a:alpha val="90000"/>
              <a:hueOff val="2565470"/>
              <a:satOff val="32669"/>
              <a:lumOff val="4739"/>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Prepare functional SOPs for Board Activities including Board Committees</a:t>
            </a:r>
          </a:p>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To include aspects such as meeting procedures, quorum, agendas</a:t>
            </a:r>
            <a:endParaRPr lang="en-IN" sz="1400" dirty="0">
              <a:solidFill>
                <a:prstClr val="black">
                  <a:hueOff val="0"/>
                  <a:satOff val="0"/>
                  <a:lumOff val="0"/>
                  <a:alphaOff val="0"/>
                </a:prstClr>
              </a:solidFill>
            </a:endParaRPr>
          </a:p>
        </p:txBody>
      </p:sp>
      <p:sp>
        <p:nvSpPr>
          <p:cNvPr id="22" name="Freeform 21"/>
          <p:cNvSpPr/>
          <p:nvPr/>
        </p:nvSpPr>
        <p:spPr>
          <a:xfrm>
            <a:off x="3979443" y="4456611"/>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2466770"/>
              <a:satOff val="-16933"/>
              <a:lumOff val="34042"/>
              <a:alphaOff val="0"/>
            </a:schemeClr>
          </a:lnRef>
          <a:fillRef idx="1">
            <a:schemeClr val="accent2">
              <a:hueOff val="2466770"/>
              <a:satOff val="-16933"/>
              <a:lumOff val="34042"/>
              <a:alphaOff val="0"/>
            </a:schemeClr>
          </a:fillRef>
          <a:effectRef idx="0">
            <a:schemeClr val="accent2">
              <a:hueOff val="2466770"/>
              <a:satOff val="-16933"/>
              <a:lumOff val="34042"/>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smtClean="0">
                <a:solidFill>
                  <a:prstClr val="white"/>
                </a:solidFill>
              </a:rPr>
              <a:t>Risk Management Framework</a:t>
            </a:r>
            <a:endParaRPr lang="en-IN" sz="1400" dirty="0">
              <a:solidFill>
                <a:prstClr val="white"/>
              </a:solidFill>
            </a:endParaRPr>
          </a:p>
        </p:txBody>
      </p:sp>
      <p:sp>
        <p:nvSpPr>
          <p:cNvPr id="23" name="Rectangle 22"/>
          <p:cNvSpPr/>
          <p:nvPr/>
        </p:nvSpPr>
        <p:spPr>
          <a:xfrm>
            <a:off x="3979442" y="5006953"/>
            <a:ext cx="2674216" cy="1836000"/>
          </a:xfrm>
          <a:prstGeom prst="rect">
            <a:avLst/>
          </a:prstGeom>
        </p:spPr>
        <p:style>
          <a:lnRef idx="2">
            <a:schemeClr val="accent2">
              <a:tint val="40000"/>
              <a:alpha val="90000"/>
              <a:hueOff val="3420626"/>
              <a:satOff val="43558"/>
              <a:lumOff val="6318"/>
              <a:alphaOff val="0"/>
            </a:schemeClr>
          </a:lnRef>
          <a:fillRef idx="1">
            <a:schemeClr val="accent2">
              <a:tint val="40000"/>
              <a:alpha val="90000"/>
              <a:hueOff val="3420626"/>
              <a:satOff val="43558"/>
              <a:lumOff val="6318"/>
              <a:alphaOff val="0"/>
            </a:schemeClr>
          </a:fillRef>
          <a:effectRef idx="0">
            <a:schemeClr val="accent2">
              <a:tint val="40000"/>
              <a:alpha val="90000"/>
              <a:hueOff val="3420626"/>
              <a:satOff val="43558"/>
              <a:lumOff val="6318"/>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Design Company Risk Management Manual &amp; </a:t>
            </a:r>
            <a:r>
              <a:rPr lang="en-US" sz="1400" dirty="0" smtClean="0">
                <a:solidFill>
                  <a:prstClr val="black">
                    <a:hueOff val="0"/>
                    <a:satOff val="0"/>
                    <a:lumOff val="0"/>
                    <a:alphaOff val="0"/>
                  </a:prstClr>
                </a:solidFill>
              </a:rPr>
              <a:t>Policies</a:t>
            </a:r>
          </a:p>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Define Board oversight framework for overall company risk management</a:t>
            </a:r>
            <a:endParaRPr lang="en-US" sz="1400" dirty="0">
              <a:solidFill>
                <a:prstClr val="black">
                  <a:hueOff val="0"/>
                  <a:satOff val="0"/>
                  <a:lumOff val="0"/>
                  <a:alphaOff val="0"/>
                </a:prstClr>
              </a:solidFill>
            </a:endParaRPr>
          </a:p>
          <a:p>
            <a:endParaRPr lang="en-IN" dirty="0">
              <a:solidFill>
                <a:prstClr val="black">
                  <a:hueOff val="0"/>
                  <a:satOff val="0"/>
                  <a:lumOff val="0"/>
                  <a:alphaOff val="0"/>
                </a:prstClr>
              </a:solidFill>
            </a:endParaRPr>
          </a:p>
        </p:txBody>
      </p:sp>
      <p:sp>
        <p:nvSpPr>
          <p:cNvPr id="24" name="Freeform 23"/>
          <p:cNvSpPr/>
          <p:nvPr/>
        </p:nvSpPr>
        <p:spPr>
          <a:xfrm>
            <a:off x="7519095" y="4484710"/>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3083462"/>
              <a:satOff val="-21166"/>
              <a:lumOff val="42552"/>
              <a:alphaOff val="0"/>
            </a:schemeClr>
          </a:lnRef>
          <a:fillRef idx="1">
            <a:schemeClr val="accent2">
              <a:hueOff val="3083462"/>
              <a:satOff val="-21166"/>
              <a:lumOff val="42552"/>
              <a:alphaOff val="0"/>
            </a:schemeClr>
          </a:fillRef>
          <a:effectRef idx="0">
            <a:schemeClr val="accent2">
              <a:hueOff val="3083462"/>
              <a:satOff val="-21166"/>
              <a:lumOff val="42552"/>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smtClean="0">
                <a:solidFill>
                  <a:prstClr val="white"/>
                </a:solidFill>
              </a:rPr>
              <a:t>Board Effectiveness Framework</a:t>
            </a:r>
            <a:endParaRPr lang="en-IN" sz="1400" dirty="0">
              <a:solidFill>
                <a:prstClr val="white"/>
              </a:solidFill>
            </a:endParaRPr>
          </a:p>
        </p:txBody>
      </p:sp>
      <p:sp>
        <p:nvSpPr>
          <p:cNvPr id="25" name="Rectangle 24"/>
          <p:cNvSpPr/>
          <p:nvPr/>
        </p:nvSpPr>
        <p:spPr>
          <a:xfrm>
            <a:off x="7519095" y="5035054"/>
            <a:ext cx="2674216" cy="1836000"/>
          </a:xfrm>
          <a:prstGeom prst="rect">
            <a:avLst/>
          </a:prstGeom>
        </p:spPr>
        <p:style>
          <a:lnRef idx="2">
            <a:schemeClr val="accent2">
              <a:tint val="40000"/>
              <a:alpha val="90000"/>
              <a:hueOff val="4275783"/>
              <a:satOff val="54448"/>
              <a:lumOff val="7898"/>
              <a:alphaOff val="0"/>
            </a:schemeClr>
          </a:lnRef>
          <a:fillRef idx="1">
            <a:schemeClr val="accent2">
              <a:tint val="40000"/>
              <a:alpha val="90000"/>
              <a:hueOff val="4275783"/>
              <a:satOff val="54448"/>
              <a:lumOff val="7898"/>
              <a:alphaOff val="0"/>
            </a:schemeClr>
          </a:fillRef>
          <a:effectRef idx="0">
            <a:schemeClr val="accent2">
              <a:tint val="40000"/>
              <a:alpha val="90000"/>
              <a:hueOff val="4275783"/>
              <a:satOff val="54448"/>
              <a:lumOff val="7898"/>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smtClean="0">
                <a:solidFill>
                  <a:prstClr val="black">
                    <a:hueOff val="0"/>
                    <a:satOff val="0"/>
                    <a:lumOff val="0"/>
                    <a:alphaOff val="0"/>
                  </a:prstClr>
                </a:solidFill>
              </a:rPr>
              <a:t>Prepare </a:t>
            </a:r>
            <a:r>
              <a:rPr lang="en-US" sz="1400" dirty="0">
                <a:solidFill>
                  <a:prstClr val="black">
                    <a:hueOff val="0"/>
                    <a:satOff val="0"/>
                    <a:lumOff val="0"/>
                    <a:alphaOff val="0"/>
                  </a:prstClr>
                </a:solidFill>
              </a:rPr>
              <a:t>Performance </a:t>
            </a:r>
            <a:r>
              <a:rPr lang="en-US" sz="1400" dirty="0" smtClean="0">
                <a:solidFill>
                  <a:prstClr val="black">
                    <a:hueOff val="0"/>
                    <a:satOff val="0"/>
                    <a:lumOff val="0"/>
                    <a:alphaOff val="0"/>
                  </a:prstClr>
                </a:solidFill>
              </a:rPr>
              <a:t>Scorecard</a:t>
            </a:r>
            <a:endParaRPr lang="en-US" sz="1400" dirty="0">
              <a:solidFill>
                <a:prstClr val="black">
                  <a:hueOff val="0"/>
                  <a:satOff val="0"/>
                  <a:lumOff val="0"/>
                  <a:alphaOff val="0"/>
                </a:prstClr>
              </a:solidFill>
            </a:endParaRPr>
          </a:p>
        </p:txBody>
      </p:sp>
      <p:cxnSp>
        <p:nvCxnSpPr>
          <p:cNvPr id="9" name="Straight Connector 8"/>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591555" y="1111790"/>
            <a:ext cx="5629875" cy="430887"/>
          </a:xfrm>
          <a:prstGeom prst="rect">
            <a:avLst/>
          </a:prstGeom>
          <a:solidFill>
            <a:schemeClr val="bg1"/>
          </a:solidFill>
        </p:spPr>
        <p:txBody>
          <a:bodyPr wrap="square" lIns="0" tIns="0" rIns="0" bIns="0" rtlCol="0">
            <a:spAutoFit/>
          </a:bodyPr>
          <a:lstStyle/>
          <a:p>
            <a:pPr algn="ctr">
              <a:buSzPct val="100000"/>
            </a:pPr>
            <a:r>
              <a:rPr lang="en-US" sz="1400" b="1" dirty="0" smtClean="0">
                <a:solidFill>
                  <a:srgbClr val="313131"/>
                </a:solidFill>
              </a:rPr>
              <a:t>Key immediate priority areas for Board of Directors</a:t>
            </a:r>
            <a:endParaRPr lang="en-IN" sz="1400" b="1" dirty="0" smtClean="0">
              <a:solidFill>
                <a:srgbClr val="313131"/>
              </a:solidFill>
            </a:endParaRPr>
          </a:p>
        </p:txBody>
      </p:sp>
    </p:spTree>
    <p:extLst>
      <p:ext uri="{BB962C8B-B14F-4D97-AF65-F5344CB8AC3E}">
        <p14:creationId xmlns:p14="http://schemas.microsoft.com/office/powerpoint/2010/main" val="3300144020"/>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white"/>
                </a:solidFill>
              </a:rPr>
              <a:t>Annexure</a:t>
            </a:r>
            <a:endParaRPr lang="en-US" sz="5400" dirty="0">
              <a:solidFill>
                <a:prstClr val="white"/>
              </a:solidFill>
            </a:endParaRPr>
          </a:p>
        </p:txBody>
      </p:sp>
    </p:spTree>
    <p:extLst>
      <p:ext uri="{BB962C8B-B14F-4D97-AF65-F5344CB8AC3E}">
        <p14:creationId xmlns:p14="http://schemas.microsoft.com/office/powerpoint/2010/main" val="38037053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4800" dirty="0" smtClean="0">
                <a:solidFill>
                  <a:prstClr val="black"/>
                </a:solidFill>
              </a:rPr>
              <a:t>1. Key Challenges faced by BPDB</a:t>
            </a:r>
            <a:endParaRPr lang="en-US" sz="4800" dirty="0">
              <a:solidFill>
                <a:prstClr val="black"/>
              </a:solidFill>
            </a:endParaRPr>
          </a:p>
        </p:txBody>
      </p:sp>
    </p:spTree>
    <p:extLst>
      <p:ext uri="{BB962C8B-B14F-4D97-AF65-F5344CB8AC3E}">
        <p14:creationId xmlns:p14="http://schemas.microsoft.com/office/powerpoint/2010/main" val="5353827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Budgetary support from government</a:t>
            </a:r>
            <a:endParaRPr lang="en-IN" b="1" dirty="0"/>
          </a:p>
        </p:txBody>
      </p:sp>
      <p:sp>
        <p:nvSpPr>
          <p:cNvPr id="2" name="TextBox 1"/>
          <p:cNvSpPr txBox="1"/>
          <p:nvPr/>
        </p:nvSpPr>
        <p:spPr>
          <a:xfrm>
            <a:off x="439793" y="6521078"/>
            <a:ext cx="9785952" cy="735634"/>
          </a:xfrm>
          <a:prstGeom prst="rect">
            <a:avLst/>
          </a:prstGeom>
          <a:solidFill>
            <a:srgbClr val="92D050"/>
          </a:solidFill>
        </p:spPr>
        <p:txBody>
          <a:bodyPr wrap="square" lIns="36000" tIns="0" rIns="36000" bIns="0" rtlCol="0" anchor="ctr">
            <a:noAutofit/>
          </a:bodyPr>
          <a:lstStyle/>
          <a:p>
            <a:pPr algn="just">
              <a:spcBef>
                <a:spcPts val="600"/>
              </a:spcBef>
              <a:buSzPct val="100000"/>
            </a:pPr>
            <a:r>
              <a:rPr lang="en-US" sz="1600" dirty="0" smtClean="0">
                <a:solidFill>
                  <a:prstClr val="black"/>
                </a:solidFill>
              </a:rPr>
              <a:t>BPDB’s net worth and </a:t>
            </a:r>
            <a:r>
              <a:rPr lang="en-US" sz="1600" dirty="0">
                <a:solidFill>
                  <a:prstClr val="black"/>
                </a:solidFill>
              </a:rPr>
              <a:t>profitability </a:t>
            </a:r>
            <a:r>
              <a:rPr lang="en-US" sz="1600" dirty="0" smtClean="0">
                <a:solidFill>
                  <a:prstClr val="black"/>
                </a:solidFill>
              </a:rPr>
              <a:t>seems </a:t>
            </a:r>
            <a:r>
              <a:rPr lang="en-US" sz="1600" dirty="0">
                <a:solidFill>
                  <a:prstClr val="black"/>
                </a:solidFill>
              </a:rPr>
              <a:t>to improve if it received </a:t>
            </a:r>
            <a:r>
              <a:rPr lang="en-US" sz="1600" dirty="0" smtClean="0">
                <a:solidFill>
                  <a:prstClr val="black"/>
                </a:solidFill>
              </a:rPr>
              <a:t>subsidy </a:t>
            </a:r>
            <a:r>
              <a:rPr lang="en-US" sz="1600" dirty="0">
                <a:solidFill>
                  <a:prstClr val="black"/>
                </a:solidFill>
              </a:rPr>
              <a:t>support from the Government</a:t>
            </a:r>
            <a:endParaRPr lang="en-IN" sz="1600" dirty="0" smtClean="0">
              <a:solidFill>
                <a:srgbClr val="313131"/>
              </a:solidFill>
            </a:endParaRPr>
          </a:p>
        </p:txBody>
      </p:sp>
      <p:graphicFrame>
        <p:nvGraphicFramePr>
          <p:cNvPr id="15" name="Chart 14"/>
          <p:cNvGraphicFramePr/>
          <p:nvPr>
            <p:extLst/>
          </p:nvPr>
        </p:nvGraphicFramePr>
        <p:xfrm>
          <a:off x="439792" y="1172073"/>
          <a:ext cx="9785952" cy="1879733"/>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p:cNvSpPr/>
          <p:nvPr/>
        </p:nvSpPr>
        <p:spPr>
          <a:xfrm>
            <a:off x="1084584" y="826150"/>
            <a:ext cx="8087563" cy="307777"/>
          </a:xfrm>
          <a:prstGeom prst="rect">
            <a:avLst/>
          </a:prstGeom>
        </p:spPr>
        <p:txBody>
          <a:bodyPr wrap="square">
            <a:spAutoFit/>
          </a:bodyPr>
          <a:lstStyle/>
          <a:p>
            <a:pPr algn="ctr"/>
            <a:r>
              <a:rPr lang="en-US" sz="1400" b="1" dirty="0">
                <a:solidFill>
                  <a:prstClr val="black"/>
                </a:solidFill>
                <a:ea typeface="Calibri" panose="020F0502020204030204" pitchFamily="34" charset="0"/>
                <a:cs typeface="Vrinda" panose="020B0502040204020203" pitchFamily="34" charset="0"/>
              </a:rPr>
              <a:t>Budgetary Support (Y-o-Y) and Debt Service Liability for BPDB (in BDT Bn.)</a:t>
            </a:r>
            <a:endParaRPr lang="en-IN" sz="1400" dirty="0">
              <a:solidFill>
                <a:prstClr val="black"/>
              </a:solidFill>
            </a:endParaRPr>
          </a:p>
        </p:txBody>
      </p:sp>
      <p:graphicFrame>
        <p:nvGraphicFramePr>
          <p:cNvPr id="16" name="Chart 15"/>
          <p:cNvGraphicFramePr/>
          <p:nvPr>
            <p:extLst/>
          </p:nvPr>
        </p:nvGraphicFramePr>
        <p:xfrm>
          <a:off x="439791" y="4434097"/>
          <a:ext cx="4802187" cy="1869886"/>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Box 42"/>
          <p:cNvSpPr txBox="1"/>
          <p:nvPr/>
        </p:nvSpPr>
        <p:spPr>
          <a:xfrm>
            <a:off x="439792" y="4002281"/>
            <a:ext cx="4648575" cy="46485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ea typeface="Times" panose="02020603050405020304" pitchFamily="18" charset="0"/>
                <a:cs typeface="Arial" panose="020B0604020202020204" pitchFamily="34" charset="0"/>
              </a:rPr>
              <a:t>Projected </a:t>
            </a:r>
            <a:r>
              <a:rPr lang="en-US" sz="1400" b="1" dirty="0">
                <a:solidFill>
                  <a:prstClr val="black"/>
                </a:solidFill>
                <a:ea typeface="Times" panose="02020603050405020304" pitchFamily="18" charset="0"/>
                <a:cs typeface="Arial" panose="020B0604020202020204" pitchFamily="34" charset="0"/>
              </a:rPr>
              <a:t>Net profit in case of budgetary support in the form of </a:t>
            </a:r>
            <a:r>
              <a:rPr lang="en-US" sz="1400" b="1" dirty="0" smtClean="0">
                <a:solidFill>
                  <a:prstClr val="black"/>
                </a:solidFill>
                <a:ea typeface="Times" panose="02020603050405020304" pitchFamily="18" charset="0"/>
                <a:cs typeface="Arial" panose="020B0604020202020204" pitchFamily="34" charset="0"/>
              </a:rPr>
              <a:t>subsidy</a:t>
            </a:r>
            <a:endParaRPr lang="en-IN" sz="1400" b="1" dirty="0">
              <a:solidFill>
                <a:prstClr val="black"/>
              </a:solidFill>
              <a:ea typeface="Times" panose="02020603050405020304" pitchFamily="18" charset="0"/>
              <a:cs typeface="Arial" panose="020B0604020202020204" pitchFamily="34" charset="0"/>
            </a:endParaRPr>
          </a:p>
        </p:txBody>
      </p:sp>
      <p:graphicFrame>
        <p:nvGraphicFramePr>
          <p:cNvPr id="18" name="Chart 17"/>
          <p:cNvGraphicFramePr/>
          <p:nvPr>
            <p:extLst/>
          </p:nvPr>
        </p:nvGraphicFramePr>
        <p:xfrm>
          <a:off x="5241979" y="4418969"/>
          <a:ext cx="4983765" cy="1885014"/>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Box 46"/>
          <p:cNvSpPr txBox="1"/>
          <p:nvPr/>
        </p:nvSpPr>
        <p:spPr>
          <a:xfrm>
            <a:off x="5241978" y="4002281"/>
            <a:ext cx="4983766" cy="46485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ea typeface="Times" panose="02020603050405020304" pitchFamily="18" charset="0"/>
                <a:cs typeface="Arial" panose="020B0604020202020204" pitchFamily="34" charset="0"/>
              </a:rPr>
              <a:t>Projected </a:t>
            </a:r>
            <a:r>
              <a:rPr lang="en-US" sz="1400" b="1" dirty="0">
                <a:solidFill>
                  <a:prstClr val="black"/>
                </a:solidFill>
                <a:ea typeface="Times" panose="02020603050405020304" pitchFamily="18" charset="0"/>
                <a:cs typeface="Arial" panose="020B0604020202020204" pitchFamily="34" charset="0"/>
              </a:rPr>
              <a:t>Net Worth in case of budgetary support as Subsidy</a:t>
            </a:r>
            <a:endParaRPr lang="en-IN" sz="1400" b="1" dirty="0">
              <a:solidFill>
                <a:prstClr val="black"/>
              </a:solidFill>
              <a:ea typeface="Times" panose="02020603050405020304" pitchFamily="18" charset="0"/>
              <a:cs typeface="Arial" panose="020B0604020202020204" pitchFamily="34" charset="0"/>
            </a:endParaRPr>
          </a:p>
        </p:txBody>
      </p:sp>
      <p:cxnSp>
        <p:nvCxnSpPr>
          <p:cNvPr id="24" name="Straight Connector 23"/>
          <p:cNvCxnSpPr/>
          <p:nvPr/>
        </p:nvCxnSpPr>
        <p:spPr>
          <a:xfrm>
            <a:off x="439791" y="3517749"/>
            <a:ext cx="988754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 Box 46"/>
          <p:cNvSpPr txBox="1"/>
          <p:nvPr/>
        </p:nvSpPr>
        <p:spPr>
          <a:xfrm>
            <a:off x="2166969" y="3282313"/>
            <a:ext cx="6540102" cy="46485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srgbClr val="0070C0"/>
                </a:solidFill>
                <a:ea typeface="Times" panose="02020603050405020304" pitchFamily="18" charset="0"/>
                <a:cs typeface="Arial" panose="020B0604020202020204" pitchFamily="34" charset="0"/>
              </a:rPr>
              <a:t>BPDB </a:t>
            </a:r>
            <a:r>
              <a:rPr lang="en-US" sz="1400" b="1" dirty="0">
                <a:solidFill>
                  <a:srgbClr val="0070C0"/>
                </a:solidFill>
                <a:ea typeface="Times" panose="02020603050405020304" pitchFamily="18" charset="0"/>
                <a:cs typeface="Arial" panose="020B0604020202020204" pitchFamily="34" charset="0"/>
              </a:rPr>
              <a:t>Profitability and Net-worth in case of budgetary support from Government is in the form of Subsidy instead of loans</a:t>
            </a:r>
            <a:endParaRPr lang="en-IN" sz="1400" b="1" dirty="0">
              <a:solidFill>
                <a:srgbClr val="0070C0"/>
              </a:solidFill>
              <a:ea typeface="Times" panose="02020603050405020304" pitchFamily="18" charset="0"/>
              <a:cs typeface="Arial" panose="020B0604020202020204" pitchFamily="34" charset="0"/>
            </a:endParaRPr>
          </a:p>
        </p:txBody>
      </p:sp>
      <p:sp>
        <p:nvSpPr>
          <p:cNvPr id="13" name="Pentagon 12">
            <a:hlinkClick r:id="rId5" action="ppaction://hlinksldjump"/>
          </p:cNvPr>
          <p:cNvSpPr/>
          <p:nvPr/>
        </p:nvSpPr>
        <p:spPr bwMode="gray">
          <a:xfrm flipH="1">
            <a:off x="9863138" y="7285849"/>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61493425"/>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Bulk supply business (1/3)</a:t>
            </a:r>
            <a:endParaRPr lang="en-IN" b="1" dirty="0"/>
          </a:p>
        </p:txBody>
      </p:sp>
      <p:graphicFrame>
        <p:nvGraphicFramePr>
          <p:cNvPr id="5" name="Chart 4"/>
          <p:cNvGraphicFramePr/>
          <p:nvPr>
            <p:extLst/>
          </p:nvPr>
        </p:nvGraphicFramePr>
        <p:xfrm>
          <a:off x="439792" y="1480183"/>
          <a:ext cx="4731647" cy="35840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nvPr>
        </p:nvGraphicFramePr>
        <p:xfrm>
          <a:off x="5542121" y="1612264"/>
          <a:ext cx="4683623" cy="34372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74"/>
          <p:cNvSpPr txBox="1"/>
          <p:nvPr/>
        </p:nvSpPr>
        <p:spPr>
          <a:xfrm>
            <a:off x="5719950" y="941023"/>
            <a:ext cx="4311593" cy="521565"/>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ea typeface="Times" panose="02020603050405020304" pitchFamily="18" charset="0"/>
                <a:cs typeface="Arial" panose="020B0604020202020204" pitchFamily="34" charset="0"/>
              </a:rPr>
              <a:t>Per-unit </a:t>
            </a:r>
            <a:r>
              <a:rPr lang="en-US" sz="1400" b="1" dirty="0">
                <a:solidFill>
                  <a:prstClr val="black"/>
                </a:solidFill>
                <a:ea typeface="Times" panose="02020603050405020304" pitchFamily="18" charset="0"/>
                <a:cs typeface="Arial" panose="020B0604020202020204" pitchFamily="34" charset="0"/>
              </a:rPr>
              <a:t>cost of Generation &amp; Bulk Supply &amp; Avg. Bulk Supply Revenue (BDT / kWh)</a:t>
            </a:r>
            <a:endParaRPr lang="en-IN" sz="1400" b="1" dirty="0">
              <a:solidFill>
                <a:prstClr val="black"/>
              </a:solidFill>
              <a:ea typeface="Times" panose="02020603050405020304" pitchFamily="18" charset="0"/>
              <a:cs typeface="Arial" panose="020B0604020202020204" pitchFamily="34" charset="0"/>
            </a:endParaRPr>
          </a:p>
        </p:txBody>
      </p:sp>
      <p:sp>
        <p:nvSpPr>
          <p:cNvPr id="8" name="Text Box 48"/>
          <p:cNvSpPr txBox="1"/>
          <p:nvPr/>
        </p:nvSpPr>
        <p:spPr>
          <a:xfrm>
            <a:off x="770494" y="935315"/>
            <a:ext cx="4070242" cy="460204"/>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ea typeface="Times" panose="02020603050405020304" pitchFamily="18" charset="0"/>
                <a:cs typeface="Arial" panose="020B0604020202020204" pitchFamily="34" charset="0"/>
              </a:rPr>
              <a:t>Generation </a:t>
            </a:r>
            <a:r>
              <a:rPr lang="en-US" sz="1400" b="1" dirty="0">
                <a:solidFill>
                  <a:prstClr val="black"/>
                </a:solidFill>
                <a:ea typeface="Times" panose="02020603050405020304" pitchFamily="18" charset="0"/>
                <a:cs typeface="Arial" panose="020B0604020202020204" pitchFamily="34" charset="0"/>
              </a:rPr>
              <a:t>&amp; Bulk Supply Cost &amp; Revenue Breakup (in BDT Bn.)</a:t>
            </a:r>
            <a:endParaRPr lang="en-IN" sz="1400" b="1" dirty="0">
              <a:solidFill>
                <a:prstClr val="black"/>
              </a:solidFill>
              <a:ea typeface="Times" panose="02020603050405020304" pitchFamily="18" charset="0"/>
              <a:cs typeface="Arial" panose="020B0604020202020204" pitchFamily="34" charset="0"/>
            </a:endParaRPr>
          </a:p>
        </p:txBody>
      </p:sp>
      <p:sp>
        <p:nvSpPr>
          <p:cNvPr id="9" name="TextBox 8"/>
          <p:cNvSpPr txBox="1"/>
          <p:nvPr/>
        </p:nvSpPr>
        <p:spPr>
          <a:xfrm>
            <a:off x="531233" y="5118110"/>
            <a:ext cx="9785952" cy="2098851"/>
          </a:xfrm>
          <a:prstGeom prst="rect">
            <a:avLst/>
          </a:prstGeom>
          <a:solidFill>
            <a:srgbClr val="92D050"/>
          </a:solidFill>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IN" sz="1600" dirty="0">
                <a:solidFill>
                  <a:prstClr val="black"/>
                </a:solidFill>
              </a:rPr>
              <a:t>The total bulk supply </a:t>
            </a:r>
            <a:r>
              <a:rPr lang="en-IN" sz="1600" dirty="0" smtClean="0">
                <a:solidFill>
                  <a:prstClr val="black"/>
                </a:solidFill>
              </a:rPr>
              <a:t>revenue </a:t>
            </a:r>
            <a:r>
              <a:rPr lang="en-IN" sz="1600" dirty="0">
                <a:solidFill>
                  <a:prstClr val="black"/>
                </a:solidFill>
              </a:rPr>
              <a:t>is not enough to cover the total generation and power procurement cost for </a:t>
            </a:r>
            <a:r>
              <a:rPr lang="en-IN" sz="1600" dirty="0" smtClean="0">
                <a:solidFill>
                  <a:prstClr val="black"/>
                </a:solidFill>
              </a:rPr>
              <a:t>BPDB</a:t>
            </a:r>
          </a:p>
          <a:p>
            <a:pPr marL="285750" indent="-285750" algn="just">
              <a:spcBef>
                <a:spcPts val="600"/>
              </a:spcBef>
              <a:buSzPct val="100000"/>
              <a:buFont typeface="Arial" panose="020B0604020202020204" pitchFamily="34" charset="0"/>
              <a:buChar char="•"/>
            </a:pPr>
            <a:r>
              <a:rPr lang="en-US" sz="1600" dirty="0" smtClean="0">
                <a:solidFill>
                  <a:srgbClr val="313131"/>
                </a:solidFill>
              </a:rPr>
              <a:t>Main source of revenue for bulk supply business is through bulk sales. The rates for bulk sales to distribution utilities are fixed by BERC through Bulk Tariff Orders from time to time. Bulk Supply Tariff is not able to cover the cost of generation and power purchase</a:t>
            </a:r>
          </a:p>
          <a:p>
            <a:pPr marL="285750" indent="-285750" algn="just">
              <a:spcBef>
                <a:spcPts val="600"/>
              </a:spcBef>
              <a:buSzPct val="100000"/>
              <a:buFont typeface="Arial" panose="020B0604020202020204" pitchFamily="34" charset="0"/>
              <a:buChar char="•"/>
            </a:pPr>
            <a:r>
              <a:rPr lang="en-US" sz="1600" dirty="0" smtClean="0">
                <a:solidFill>
                  <a:srgbClr val="313131"/>
                </a:solidFill>
              </a:rPr>
              <a:t>A two-pronged strategy for bulk supply tariff reform along with bulk sales collection improvement is required to ensure to achieve sustainability</a:t>
            </a:r>
            <a:endParaRPr lang="en-IN" sz="1600" dirty="0" smtClean="0">
              <a:solidFill>
                <a:srgbClr val="313131"/>
              </a:solidFill>
            </a:endParaRPr>
          </a:p>
        </p:txBody>
      </p:sp>
      <p:sp>
        <p:nvSpPr>
          <p:cNvPr id="10" name="Pentagon 9">
            <a:hlinkClick r:id="rId4" action="ppaction://hlinksldjump"/>
          </p:cNvPr>
          <p:cNvSpPr/>
          <p:nvPr/>
        </p:nvSpPr>
        <p:spPr bwMode="gray">
          <a:xfrm flipH="1">
            <a:off x="9863138" y="7285849"/>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17463229"/>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Bulk supply business (2/3)</a:t>
            </a:r>
            <a:endParaRPr lang="en-IN" b="1" dirty="0"/>
          </a:p>
        </p:txBody>
      </p:sp>
      <p:graphicFrame>
        <p:nvGraphicFramePr>
          <p:cNvPr id="10" name="Chart 9"/>
          <p:cNvGraphicFramePr/>
          <p:nvPr>
            <p:extLst/>
          </p:nvPr>
        </p:nvGraphicFramePr>
        <p:xfrm>
          <a:off x="439791" y="1282924"/>
          <a:ext cx="9785951" cy="257787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Box 48"/>
          <p:cNvSpPr txBox="1"/>
          <p:nvPr/>
        </p:nvSpPr>
        <p:spPr>
          <a:xfrm>
            <a:off x="2918300" y="977125"/>
            <a:ext cx="4852037" cy="3057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a:solidFill>
                  <a:prstClr val="black"/>
                </a:solidFill>
              </a:rPr>
              <a:t>Collection &amp; Billing Ratio for BPDB Bulk Supply</a:t>
            </a:r>
            <a:endParaRPr lang="en-IN" sz="1400" b="1" dirty="0">
              <a:solidFill>
                <a:prstClr val="black"/>
              </a:solidFill>
              <a:ea typeface="Times" panose="02020603050405020304" pitchFamily="18" charset="0"/>
              <a:cs typeface="Arial" panose="020B0604020202020204" pitchFamily="34" charset="0"/>
            </a:endParaRPr>
          </a:p>
        </p:txBody>
      </p:sp>
      <p:graphicFrame>
        <p:nvGraphicFramePr>
          <p:cNvPr id="2" name="Table 1"/>
          <p:cNvGraphicFramePr>
            <a:graphicFrameLocks noGrp="1"/>
          </p:cNvGraphicFramePr>
          <p:nvPr>
            <p:extLst/>
          </p:nvPr>
        </p:nvGraphicFramePr>
        <p:xfrm>
          <a:off x="439791" y="4425153"/>
          <a:ext cx="9785951" cy="2443006"/>
        </p:xfrm>
        <a:graphic>
          <a:graphicData uri="http://schemas.openxmlformats.org/drawingml/2006/table">
            <a:tbl>
              <a:tblPr firstRow="1" firstCol="1" bandRow="1">
                <a:tableStyleId>{5C22544A-7EE6-4342-B048-85BDC9FD1C3A}</a:tableStyleId>
              </a:tblPr>
              <a:tblGrid>
                <a:gridCol w="2000389"/>
                <a:gridCol w="1479380"/>
                <a:gridCol w="1479380"/>
                <a:gridCol w="1479380"/>
                <a:gridCol w="3347422"/>
              </a:tblGrid>
              <a:tr h="405478">
                <a:tc rowSpan="2">
                  <a:txBody>
                    <a:bodyPr/>
                    <a:lstStyle/>
                    <a:p>
                      <a:pPr algn="just" fontAlgn="auto">
                        <a:lnSpc>
                          <a:spcPct val="115000"/>
                        </a:lnSpc>
                        <a:spcAft>
                          <a:spcPts val="600"/>
                        </a:spcAft>
                      </a:pPr>
                      <a:r>
                        <a:rPr lang="en-US" sz="1400" dirty="0">
                          <a:effectLst/>
                        </a:rPr>
                        <a:t>Name of Entity</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gridSpan="3">
                  <a:txBody>
                    <a:bodyPr/>
                    <a:lstStyle/>
                    <a:p>
                      <a:pPr algn="ctr" fontAlgn="auto">
                        <a:spcAft>
                          <a:spcPts val="0"/>
                        </a:spcAft>
                      </a:pPr>
                      <a:r>
                        <a:rPr lang="en-US" sz="1400" dirty="0">
                          <a:effectLst/>
                        </a:rPr>
                        <a:t>Number of Days Receivable (in days)</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c hMerge="1">
                  <a:txBody>
                    <a:bodyPr/>
                    <a:lstStyle/>
                    <a:p>
                      <a:endParaRPr lang="en-IN"/>
                    </a:p>
                  </a:txBody>
                  <a:tcPr/>
                </a:tc>
                <a:tc rowSpan="2">
                  <a:txBody>
                    <a:bodyPr/>
                    <a:lstStyle/>
                    <a:p>
                      <a:pPr algn="ctr" fontAlgn="auto">
                        <a:lnSpc>
                          <a:spcPct val="115000"/>
                        </a:lnSpc>
                        <a:spcAft>
                          <a:spcPts val="600"/>
                        </a:spcAft>
                      </a:pPr>
                      <a:r>
                        <a:rPr lang="en-US" sz="1400" dirty="0">
                          <a:effectLst/>
                        </a:rPr>
                        <a:t>% Share of BPDB Billed Amount in FY15-16</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405478">
                <a:tc vMerge="1">
                  <a:txBody>
                    <a:bodyPr/>
                    <a:lstStyle/>
                    <a:p>
                      <a:endParaRPr lang="en-IN"/>
                    </a:p>
                  </a:txBody>
                  <a:tcPr/>
                </a:tc>
                <a:tc>
                  <a:txBody>
                    <a:bodyPr/>
                    <a:lstStyle/>
                    <a:p>
                      <a:pPr algn="ctr" fontAlgn="auto">
                        <a:lnSpc>
                          <a:spcPct val="115000"/>
                        </a:lnSpc>
                        <a:spcAft>
                          <a:spcPts val="600"/>
                        </a:spcAft>
                      </a:pPr>
                      <a:r>
                        <a:rPr lang="en-US" sz="1400" b="1" dirty="0">
                          <a:effectLst/>
                        </a:rPr>
                        <a:t>FY13-14</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a:effectLst/>
                        </a:rPr>
                        <a:t>FY14-15</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dirty="0">
                          <a:effectLst/>
                        </a:rPr>
                        <a:t>FY15-16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vMerge="1">
                  <a:txBody>
                    <a:bodyPr/>
                    <a:lstStyle/>
                    <a:p>
                      <a:endParaRPr lang="en-IN"/>
                    </a:p>
                  </a:txBody>
                  <a:tcPr/>
                </a:tc>
              </a:tr>
              <a:tr h="326410">
                <a:tc>
                  <a:txBody>
                    <a:bodyPr/>
                    <a:lstStyle/>
                    <a:p>
                      <a:pPr algn="just" fontAlgn="auto">
                        <a:lnSpc>
                          <a:spcPct val="115000"/>
                        </a:lnSpc>
                        <a:spcAft>
                          <a:spcPts val="600"/>
                        </a:spcAft>
                      </a:pPr>
                      <a:r>
                        <a:rPr lang="en-US" sz="1400">
                          <a:effectLst/>
                        </a:rPr>
                        <a:t>DPDC</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405</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418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464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26.8%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326410">
                <a:tc>
                  <a:txBody>
                    <a:bodyPr/>
                    <a:lstStyle/>
                    <a:p>
                      <a:pPr algn="just" fontAlgn="auto">
                        <a:lnSpc>
                          <a:spcPct val="115000"/>
                        </a:lnSpc>
                        <a:spcAft>
                          <a:spcPts val="600"/>
                        </a:spcAft>
                      </a:pPr>
                      <a:r>
                        <a:rPr lang="en-US" sz="1400">
                          <a:effectLst/>
                        </a:rPr>
                        <a:t>DESCO</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106</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dirty="0">
                          <a:effectLst/>
                        </a:rPr>
                        <a:t>103</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88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15.7%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326410">
                <a:tc>
                  <a:txBody>
                    <a:bodyPr/>
                    <a:lstStyle/>
                    <a:p>
                      <a:pPr algn="just" fontAlgn="auto">
                        <a:lnSpc>
                          <a:spcPct val="115000"/>
                        </a:lnSpc>
                        <a:spcAft>
                          <a:spcPts val="600"/>
                        </a:spcAft>
                      </a:pPr>
                      <a:r>
                        <a:rPr lang="en-US" sz="1400">
                          <a:effectLst/>
                        </a:rPr>
                        <a:t>PBS</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80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dirty="0">
                          <a:effectLst/>
                        </a:rPr>
                        <a:t>76</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dirty="0">
                          <a:effectLst/>
                        </a:rPr>
                        <a:t>73</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50.1%</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326410">
                <a:tc>
                  <a:txBody>
                    <a:bodyPr/>
                    <a:lstStyle/>
                    <a:p>
                      <a:pPr algn="just" fontAlgn="auto">
                        <a:lnSpc>
                          <a:spcPct val="115000"/>
                        </a:lnSpc>
                        <a:spcAft>
                          <a:spcPts val="600"/>
                        </a:spcAft>
                      </a:pPr>
                      <a:r>
                        <a:rPr lang="en-US" sz="1400">
                          <a:effectLst/>
                        </a:rPr>
                        <a:t>WZPDCL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70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71</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dirty="0">
                          <a:effectLst/>
                        </a:rPr>
                        <a:t>70</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a:effectLst/>
                        </a:rPr>
                        <a:t>7.4%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326410">
                <a:tc>
                  <a:txBody>
                    <a:bodyPr/>
                    <a:lstStyle/>
                    <a:p>
                      <a:pPr algn="just" fontAlgn="auto">
                        <a:lnSpc>
                          <a:spcPct val="115000"/>
                        </a:lnSpc>
                        <a:spcAft>
                          <a:spcPts val="600"/>
                        </a:spcAft>
                      </a:pPr>
                      <a:r>
                        <a:rPr lang="en-US" sz="1400">
                          <a:effectLst/>
                        </a:rPr>
                        <a:t>Total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a:effectLst/>
                        </a:rPr>
                        <a:t>177</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a:effectLst/>
                        </a:rPr>
                        <a:t>175</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dirty="0">
                          <a:effectLst/>
                        </a:rPr>
                        <a:t>180</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fontAlgn="auto">
                        <a:lnSpc>
                          <a:spcPct val="115000"/>
                        </a:lnSpc>
                        <a:spcAft>
                          <a:spcPts val="600"/>
                        </a:spcAft>
                      </a:pPr>
                      <a:r>
                        <a:rPr lang="en-US" sz="1400" b="1" dirty="0">
                          <a:effectLst/>
                        </a:rPr>
                        <a:t>100%</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
        <p:nvSpPr>
          <p:cNvPr id="12" name="Text Box 48"/>
          <p:cNvSpPr txBox="1"/>
          <p:nvPr/>
        </p:nvSpPr>
        <p:spPr>
          <a:xfrm>
            <a:off x="3339345" y="4040214"/>
            <a:ext cx="4009948" cy="3057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a:solidFill>
                  <a:prstClr val="black"/>
                </a:solidFill>
              </a:rPr>
              <a:t>Days receivable for Bulk Supply</a:t>
            </a:r>
            <a:endParaRPr lang="en-IN" sz="1400" b="1" dirty="0">
              <a:solidFill>
                <a:prstClr val="black"/>
              </a:solidFill>
              <a:ea typeface="Times" panose="02020603050405020304" pitchFamily="18" charset="0"/>
              <a:cs typeface="Arial" panose="020B0604020202020204" pitchFamily="34" charset="0"/>
            </a:endParaRPr>
          </a:p>
        </p:txBody>
      </p:sp>
      <p:sp>
        <p:nvSpPr>
          <p:cNvPr id="9" name="Pentagon 8">
            <a:hlinkClick r:id="rId3" action="ppaction://hlinksldjump"/>
          </p:cNvPr>
          <p:cNvSpPr/>
          <p:nvPr/>
        </p:nvSpPr>
        <p:spPr bwMode="gray">
          <a:xfrm flipH="1">
            <a:off x="9863136" y="7196030"/>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70428880"/>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Bulk supply business (3/3)</a:t>
            </a:r>
            <a:endParaRPr lang="en-IN" b="1" dirty="0"/>
          </a:p>
        </p:txBody>
      </p:sp>
      <p:sp>
        <p:nvSpPr>
          <p:cNvPr id="7" name="TextBox 6"/>
          <p:cNvSpPr txBox="1"/>
          <p:nvPr/>
        </p:nvSpPr>
        <p:spPr>
          <a:xfrm>
            <a:off x="439793" y="1258198"/>
            <a:ext cx="9785952" cy="3029322"/>
          </a:xfrm>
          <a:prstGeom prst="rect">
            <a:avLst/>
          </a:prstGeom>
          <a:solidFill>
            <a:srgbClr val="92D050"/>
          </a:solidFill>
        </p:spPr>
        <p:txBody>
          <a:bodyPr wrap="square" lIns="36000" tIns="0" rIns="36000" bIns="0" rtlCol="0" anchor="ctr">
            <a:noAutofit/>
          </a:bodyPr>
          <a:lstStyle/>
          <a:p>
            <a:pPr marL="285750" indent="-285750">
              <a:lnSpc>
                <a:spcPct val="114000"/>
              </a:lnSpc>
              <a:spcAft>
                <a:spcPts val="600"/>
              </a:spcAft>
              <a:buFont typeface="Arial" panose="020B0604020202020204" pitchFamily="34" charset="0"/>
              <a:buChar char="•"/>
            </a:pPr>
            <a:r>
              <a:rPr lang="en-IN" sz="1600" dirty="0">
                <a:solidFill>
                  <a:prstClr val="black"/>
                </a:solidFill>
              </a:rPr>
              <a:t>BPDB is unable to realise its entire billed amount and average shortfall has been to the tune of 7.09% in the last 5 </a:t>
            </a:r>
            <a:r>
              <a:rPr lang="en-IN" sz="1600" dirty="0" smtClean="0">
                <a:solidFill>
                  <a:prstClr val="black"/>
                </a:solidFill>
              </a:rPr>
              <a:t>years</a:t>
            </a:r>
            <a:endParaRPr lang="en-IN" sz="1600" dirty="0">
              <a:solidFill>
                <a:prstClr val="black"/>
              </a:solidFill>
            </a:endParaRPr>
          </a:p>
          <a:p>
            <a:pPr marL="285750" indent="-285750">
              <a:lnSpc>
                <a:spcPct val="114000"/>
              </a:lnSpc>
              <a:spcAft>
                <a:spcPts val="600"/>
              </a:spcAft>
              <a:buFont typeface="Arial" panose="020B0604020202020204" pitchFamily="34" charset="0"/>
              <a:buChar char="•"/>
            </a:pPr>
            <a:r>
              <a:rPr lang="en-IN" sz="1600" dirty="0">
                <a:solidFill>
                  <a:prstClr val="black"/>
                </a:solidFill>
              </a:rPr>
              <a:t>DPDC which has a share of more than 1/4</a:t>
            </a:r>
            <a:r>
              <a:rPr lang="en-IN" sz="1600" baseline="30000" dirty="0">
                <a:solidFill>
                  <a:prstClr val="black"/>
                </a:solidFill>
              </a:rPr>
              <a:t>th</a:t>
            </a:r>
            <a:r>
              <a:rPr lang="en-IN" sz="1600" dirty="0">
                <a:solidFill>
                  <a:prstClr val="black"/>
                </a:solidFill>
              </a:rPr>
              <a:t> in the overall sales for BPDB has its payments due for more than 1 year which has also been increasing since </a:t>
            </a:r>
            <a:r>
              <a:rPr lang="en-IN" sz="1600" dirty="0" smtClean="0">
                <a:solidFill>
                  <a:prstClr val="black"/>
                </a:solidFill>
              </a:rPr>
              <a:t>FY13-14</a:t>
            </a:r>
          </a:p>
          <a:p>
            <a:pPr marL="285750" indent="-285750">
              <a:lnSpc>
                <a:spcPct val="114000"/>
              </a:lnSpc>
              <a:spcAft>
                <a:spcPts val="600"/>
              </a:spcAft>
              <a:buFont typeface="Arial" panose="020B0604020202020204" pitchFamily="34" charset="0"/>
              <a:buChar char="•"/>
            </a:pPr>
            <a:r>
              <a:rPr lang="en-IN" sz="1600" dirty="0" smtClean="0">
                <a:solidFill>
                  <a:prstClr val="black"/>
                </a:solidFill>
              </a:rPr>
              <a:t>The </a:t>
            </a:r>
            <a:r>
              <a:rPr lang="en-IN" sz="1600" dirty="0">
                <a:solidFill>
                  <a:prstClr val="black"/>
                </a:solidFill>
              </a:rPr>
              <a:t>Billing Collection Ratio for DPDC has also been falling which is further affecting the overall financial health for </a:t>
            </a:r>
            <a:r>
              <a:rPr lang="en-IN" sz="1600" dirty="0" smtClean="0">
                <a:solidFill>
                  <a:prstClr val="black"/>
                </a:solidFill>
              </a:rPr>
              <a:t>BPDB</a:t>
            </a:r>
            <a:endParaRPr lang="en-IN" sz="1600" dirty="0">
              <a:solidFill>
                <a:prstClr val="black"/>
              </a:solidFill>
            </a:endParaRPr>
          </a:p>
          <a:p>
            <a:pPr marL="285750" indent="-285750">
              <a:lnSpc>
                <a:spcPct val="114000"/>
              </a:lnSpc>
              <a:spcAft>
                <a:spcPts val="600"/>
              </a:spcAft>
              <a:buFont typeface="Arial" panose="020B0604020202020204" pitchFamily="34" charset="0"/>
              <a:buChar char="•"/>
            </a:pPr>
            <a:r>
              <a:rPr lang="en-IN" sz="1600" dirty="0">
                <a:solidFill>
                  <a:prstClr val="black"/>
                </a:solidFill>
              </a:rPr>
              <a:t>The overall debtor’s position of BPDB is around 6 </a:t>
            </a:r>
            <a:r>
              <a:rPr lang="en-IN" sz="1600" dirty="0" smtClean="0">
                <a:solidFill>
                  <a:prstClr val="black"/>
                </a:solidFill>
              </a:rPr>
              <a:t>months</a:t>
            </a:r>
            <a:endParaRPr lang="en-IN" sz="1600" dirty="0">
              <a:solidFill>
                <a:prstClr val="black"/>
              </a:solidFill>
            </a:endParaRPr>
          </a:p>
          <a:p>
            <a:pPr marL="285750" indent="-285750">
              <a:lnSpc>
                <a:spcPct val="114000"/>
              </a:lnSpc>
              <a:spcAft>
                <a:spcPts val="600"/>
              </a:spcAft>
              <a:buFont typeface="Arial" panose="020B0604020202020204" pitchFamily="34" charset="0"/>
              <a:buChar char="•"/>
            </a:pPr>
            <a:r>
              <a:rPr lang="en-IN" sz="1600" dirty="0">
                <a:solidFill>
                  <a:prstClr val="black"/>
                </a:solidFill>
              </a:rPr>
              <a:t>A higher average days receivable is leading to liquidity challenges for BPDB as it has to pay its power procurement costs on </a:t>
            </a:r>
            <a:r>
              <a:rPr lang="en-IN" sz="1600" dirty="0" smtClean="0">
                <a:solidFill>
                  <a:prstClr val="black"/>
                </a:solidFill>
              </a:rPr>
              <a:t>time</a:t>
            </a:r>
            <a:endParaRPr lang="en-IN" sz="1600" dirty="0">
              <a:solidFill>
                <a:prstClr val="black"/>
              </a:solidFill>
            </a:endParaRPr>
          </a:p>
        </p:txBody>
      </p:sp>
      <p:sp>
        <p:nvSpPr>
          <p:cNvPr id="8" name="TextBox 7"/>
          <p:cNvSpPr txBox="1"/>
          <p:nvPr/>
        </p:nvSpPr>
        <p:spPr>
          <a:xfrm>
            <a:off x="439793" y="5506720"/>
            <a:ext cx="9785951" cy="967672"/>
          </a:xfrm>
          <a:prstGeom prst="rect">
            <a:avLst/>
          </a:prstGeom>
          <a:solidFill>
            <a:srgbClr val="92D050"/>
          </a:solidFill>
        </p:spPr>
        <p:txBody>
          <a:bodyPr wrap="square" lIns="36000" tIns="0" rIns="36000" bIns="0" rtlCol="0" anchor="ctr">
            <a:noAutofit/>
          </a:bodyPr>
          <a:lstStyle/>
          <a:p>
            <a:pPr algn="just">
              <a:lnSpc>
                <a:spcPct val="114000"/>
              </a:lnSpc>
              <a:buSzPct val="100000"/>
            </a:pPr>
            <a:r>
              <a:rPr lang="en-US" sz="1600" dirty="0">
                <a:solidFill>
                  <a:prstClr val="black"/>
                </a:solidFill>
              </a:rPr>
              <a:t>Lower bulk-supply tariffs and lower bulk-sale realizations compared to the billed amount has resulted in lower bulk supply revenue for BPDB. This in turn has led to net loss for BPDB’s bulk supply business</a:t>
            </a:r>
            <a:endParaRPr lang="en-IN" sz="1600" dirty="0" smtClean="0">
              <a:solidFill>
                <a:srgbClr val="313131"/>
              </a:solidFill>
            </a:endParaRPr>
          </a:p>
        </p:txBody>
      </p:sp>
      <p:sp>
        <p:nvSpPr>
          <p:cNvPr id="5" name="Pentagon 4">
            <a:hlinkClick r:id="rId2" action="ppaction://hlinksldjump"/>
          </p:cNvPr>
          <p:cNvSpPr/>
          <p:nvPr/>
        </p:nvSpPr>
        <p:spPr bwMode="gray">
          <a:xfrm flipH="1">
            <a:off x="9863138" y="711167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644105043"/>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Generation business (1/3)</a:t>
            </a:r>
            <a:endParaRPr lang="en-IN" b="1" dirty="0"/>
          </a:p>
        </p:txBody>
      </p:sp>
      <p:graphicFrame>
        <p:nvGraphicFramePr>
          <p:cNvPr id="2" name="Table 1"/>
          <p:cNvGraphicFramePr>
            <a:graphicFrameLocks noGrp="1"/>
          </p:cNvGraphicFramePr>
          <p:nvPr>
            <p:extLst/>
          </p:nvPr>
        </p:nvGraphicFramePr>
        <p:xfrm>
          <a:off x="439793" y="936943"/>
          <a:ext cx="9809162" cy="4793296"/>
        </p:xfrm>
        <a:graphic>
          <a:graphicData uri="http://schemas.openxmlformats.org/drawingml/2006/table">
            <a:tbl>
              <a:tblPr firstRow="1" firstCol="1" bandRow="1">
                <a:tableStyleId>{5C22544A-7EE6-4342-B048-85BDC9FD1C3A}</a:tableStyleId>
              </a:tblPr>
              <a:tblGrid>
                <a:gridCol w="5085070"/>
                <a:gridCol w="1543962"/>
                <a:gridCol w="1542000"/>
                <a:gridCol w="1638130"/>
              </a:tblGrid>
              <a:tr h="376257">
                <a:tc gridSpan="4">
                  <a:txBody>
                    <a:bodyPr/>
                    <a:lstStyle/>
                    <a:p>
                      <a:pPr algn="ctr" fontAlgn="auto">
                        <a:spcAft>
                          <a:spcPts val="0"/>
                        </a:spcAft>
                      </a:pPr>
                      <a:r>
                        <a:rPr lang="en-IN" sz="1400" dirty="0">
                          <a:effectLst/>
                        </a:rPr>
                        <a:t>Key Financial Parameters – BPDB Generation</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r>
              <a:tr h="376257">
                <a:tc>
                  <a:txBody>
                    <a:bodyPr/>
                    <a:lstStyle/>
                    <a:p>
                      <a:pPr algn="l" fontAlgn="auto">
                        <a:spcAft>
                          <a:spcPts val="0"/>
                        </a:spcAft>
                      </a:pPr>
                      <a:r>
                        <a:rPr lang="en-IN" sz="1400">
                          <a:effectLst/>
                        </a:rPr>
                        <a:t>Particulars</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b="1" dirty="0">
                          <a:effectLst/>
                        </a:rPr>
                        <a:t>FY13-14</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b="1">
                          <a:effectLst/>
                        </a:rPr>
                        <a:t>FY14-15</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b="1" dirty="0">
                          <a:effectLst/>
                        </a:rPr>
                        <a:t>FY15-16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5810">
                <a:tc>
                  <a:txBody>
                    <a:bodyPr/>
                    <a:lstStyle/>
                    <a:p>
                      <a:pPr algn="l" fontAlgn="auto">
                        <a:spcAft>
                          <a:spcPts val="0"/>
                        </a:spcAft>
                      </a:pPr>
                      <a:r>
                        <a:rPr lang="en-IN" sz="1400">
                          <a:effectLst/>
                        </a:rPr>
                        <a:t>Fixed Assets  per De-rated Capacity (in Mn. Taka per MW)</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50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43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44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a:effectLst/>
                        </a:rPr>
                        <a:t>Fixed Assets per net generation (in Tk / 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14.17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15.47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14.87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5810">
                <a:tc>
                  <a:txBody>
                    <a:bodyPr/>
                    <a:lstStyle/>
                    <a:p>
                      <a:pPr algn="l" fontAlgn="auto">
                        <a:spcAft>
                          <a:spcPts val="0"/>
                        </a:spcAft>
                      </a:pPr>
                      <a:r>
                        <a:rPr lang="en-IN" sz="1400">
                          <a:effectLst/>
                        </a:rPr>
                        <a:t>Fuel Expenses per kWh net generation (in Tk /kWh)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3.24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3.12</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2.68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5810">
                <a:tc>
                  <a:txBody>
                    <a:bodyPr/>
                    <a:lstStyle/>
                    <a:p>
                      <a:pPr algn="l" fontAlgn="auto">
                        <a:spcAft>
                          <a:spcPts val="0"/>
                        </a:spcAft>
                      </a:pPr>
                      <a:r>
                        <a:rPr lang="en-IN" sz="1400">
                          <a:effectLst/>
                        </a:rPr>
                        <a:t>Personnel Expenses per kWh generation (in Tk/kWh)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0.23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0.28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0.38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a:effectLst/>
                        </a:rPr>
                        <a:t>Office Expenses per kWh generation (in Tk/kWh)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0.03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0.03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0.03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5810">
                <a:tc>
                  <a:txBody>
                    <a:bodyPr/>
                    <a:lstStyle/>
                    <a:p>
                      <a:pPr algn="l" fontAlgn="auto">
                        <a:spcAft>
                          <a:spcPts val="0"/>
                        </a:spcAft>
                      </a:pPr>
                      <a:r>
                        <a:rPr lang="en-IN" sz="1400">
                          <a:effectLst/>
                        </a:rPr>
                        <a:t>Repairs and Maintenance Expenses per kWh generation (in Tk/kWh)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0.27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0.24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0.21</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a:effectLst/>
                        </a:rPr>
                        <a:t>Depreciation per kWh generation (in Tk/kWh)</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0.70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0.78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0.79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a:effectLst/>
                        </a:rPr>
                        <a:t>De-rated Installed Capacity (MW)</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3651</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4126</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4320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dirty="0">
                          <a:effectLst/>
                        </a:rPr>
                        <a:t>Net Generation </a:t>
                      </a:r>
                      <a:r>
                        <a:rPr lang="en-IN" sz="1400" dirty="0" smtClean="0">
                          <a:effectLst/>
                        </a:rPr>
                        <a:t>(kWh</a:t>
                      </a:r>
                      <a:r>
                        <a:rPr lang="en-IN" sz="1400" dirty="0">
                          <a:effectLst/>
                        </a:rPr>
                        <a:t>)</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dirty="0">
                          <a:effectLst/>
                        </a:rPr>
                        <a:t>12948108973</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11485089654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12776276819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76257">
                <a:tc>
                  <a:txBody>
                    <a:bodyPr/>
                    <a:lstStyle/>
                    <a:p>
                      <a:pPr algn="l" fontAlgn="auto">
                        <a:spcAft>
                          <a:spcPts val="0"/>
                        </a:spcAft>
                      </a:pPr>
                      <a:r>
                        <a:rPr lang="en-IN" sz="1400">
                          <a:effectLst/>
                        </a:rPr>
                        <a:t>Net PLF (%)</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36%</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32%</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dirty="0">
                          <a:effectLst/>
                        </a:rPr>
                        <a:t>34%</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sp>
        <p:nvSpPr>
          <p:cNvPr id="4" name="TextBox 3"/>
          <p:cNvSpPr txBox="1"/>
          <p:nvPr/>
        </p:nvSpPr>
        <p:spPr>
          <a:xfrm>
            <a:off x="439794" y="5948612"/>
            <a:ext cx="9809162" cy="967672"/>
          </a:xfrm>
          <a:prstGeom prst="rect">
            <a:avLst/>
          </a:prstGeom>
          <a:solidFill>
            <a:srgbClr val="92D050"/>
          </a:solidFill>
        </p:spPr>
        <p:txBody>
          <a:bodyPr wrap="square" lIns="36000" tIns="0" rIns="36000" bIns="0" rtlCol="0" anchor="ctr">
            <a:noAutofit/>
          </a:bodyPr>
          <a:lstStyle/>
          <a:p>
            <a:pPr>
              <a:lnSpc>
                <a:spcPct val="114000"/>
              </a:lnSpc>
            </a:pPr>
            <a:r>
              <a:rPr lang="en-IN" sz="1600" dirty="0">
                <a:solidFill>
                  <a:prstClr val="black"/>
                </a:solidFill>
              </a:rPr>
              <a:t>The fixed assets per kWh power generated and depreciation per kWh is higher in FY15-16 and FY14-15 compared to FY13-14. Due to lower power generated from higher de-rated capacity during the same period, utilization of these assets may be on the lower side.</a:t>
            </a:r>
          </a:p>
        </p:txBody>
      </p:sp>
    </p:spTree>
    <p:extLst>
      <p:ext uri="{BB962C8B-B14F-4D97-AF65-F5344CB8AC3E}">
        <p14:creationId xmlns:p14="http://schemas.microsoft.com/office/powerpoint/2010/main" val="3915147000"/>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Generation business (2/3)</a:t>
            </a:r>
            <a:endParaRPr lang="en-IN" b="1" dirty="0"/>
          </a:p>
        </p:txBody>
      </p:sp>
      <p:sp>
        <p:nvSpPr>
          <p:cNvPr id="4" name="TextBox 3"/>
          <p:cNvSpPr txBox="1"/>
          <p:nvPr/>
        </p:nvSpPr>
        <p:spPr>
          <a:xfrm>
            <a:off x="439794" y="5572759"/>
            <a:ext cx="9809162" cy="1549401"/>
          </a:xfrm>
          <a:prstGeom prst="rect">
            <a:avLst/>
          </a:prstGeom>
          <a:solidFill>
            <a:srgbClr val="92D050"/>
          </a:solidFill>
        </p:spPr>
        <p:txBody>
          <a:bodyPr wrap="square" lIns="36000" tIns="0" rIns="36000" bIns="0" rtlCol="0" anchor="ctr">
            <a:noAutofit/>
          </a:bodyPr>
          <a:lstStyle/>
          <a:p>
            <a:pPr marL="285750" indent="-285750">
              <a:lnSpc>
                <a:spcPct val="114000"/>
              </a:lnSpc>
              <a:spcAft>
                <a:spcPts val="600"/>
              </a:spcAft>
              <a:buFont typeface="Arial" panose="020B0604020202020204" pitchFamily="34" charset="0"/>
              <a:buChar char="•"/>
            </a:pPr>
            <a:r>
              <a:rPr lang="en-US" sz="1600" dirty="0" smtClean="0">
                <a:solidFill>
                  <a:prstClr val="black"/>
                </a:solidFill>
              </a:rPr>
              <a:t>The </a:t>
            </a:r>
            <a:r>
              <a:rPr lang="en-US" sz="1600" dirty="0">
                <a:solidFill>
                  <a:prstClr val="black"/>
                </a:solidFill>
              </a:rPr>
              <a:t>power generation cost for BPDB’s plants under consideration (contributing ~10% in BPDB overall power generation mix) appears to be higher than the power procurement costs from similar plants of IPPs/Rental/Quick Rentals by 27.41</a:t>
            </a:r>
            <a:r>
              <a:rPr lang="en-US" sz="1600" dirty="0" smtClean="0">
                <a:solidFill>
                  <a:prstClr val="black"/>
                </a:solidFill>
              </a:rPr>
              <a:t>%</a:t>
            </a:r>
            <a:endParaRPr lang="en-US" sz="1600" dirty="0">
              <a:solidFill>
                <a:prstClr val="black"/>
              </a:solidFill>
            </a:endParaRPr>
          </a:p>
          <a:p>
            <a:pPr marL="285750" indent="-285750">
              <a:lnSpc>
                <a:spcPct val="114000"/>
              </a:lnSpc>
              <a:spcAft>
                <a:spcPts val="600"/>
              </a:spcAft>
              <a:buFont typeface="Arial" panose="020B0604020202020204" pitchFamily="34" charset="0"/>
              <a:buChar char="•"/>
            </a:pPr>
            <a:r>
              <a:rPr lang="en-US" sz="1600" dirty="0" smtClean="0">
                <a:solidFill>
                  <a:prstClr val="black"/>
                </a:solidFill>
              </a:rPr>
              <a:t>Efficiency </a:t>
            </a:r>
            <a:r>
              <a:rPr lang="en-US" sz="1600" dirty="0" err="1">
                <a:solidFill>
                  <a:prstClr val="black"/>
                </a:solidFill>
              </a:rPr>
              <a:t>clawbacks</a:t>
            </a:r>
            <a:r>
              <a:rPr lang="en-US" sz="1600" dirty="0">
                <a:solidFill>
                  <a:prstClr val="black"/>
                </a:solidFill>
              </a:rPr>
              <a:t> via improvement of operational efficiency by adopting prudent measures may reduce the cost gap at the bulk supply </a:t>
            </a:r>
            <a:r>
              <a:rPr lang="en-US" sz="1600" dirty="0" smtClean="0">
                <a:solidFill>
                  <a:prstClr val="black"/>
                </a:solidFill>
              </a:rPr>
              <a:t>level</a:t>
            </a:r>
            <a:endParaRPr lang="en-US" sz="1600" dirty="0">
              <a:solidFill>
                <a:prstClr val="black"/>
              </a:solidFill>
            </a:endParaRPr>
          </a:p>
        </p:txBody>
      </p:sp>
      <p:graphicFrame>
        <p:nvGraphicFramePr>
          <p:cNvPr id="5" name="Chart 4"/>
          <p:cNvGraphicFramePr/>
          <p:nvPr>
            <p:extLst/>
          </p:nvPr>
        </p:nvGraphicFramePr>
        <p:xfrm>
          <a:off x="439794" y="1473200"/>
          <a:ext cx="9809162" cy="3441700"/>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p:cNvCxnSpPr/>
          <p:nvPr/>
        </p:nvCxnSpPr>
        <p:spPr>
          <a:xfrm>
            <a:off x="5374164" y="1625600"/>
            <a:ext cx="0" cy="2353310"/>
          </a:xfrm>
          <a:prstGeom prst="line">
            <a:avLst/>
          </a:prstGeom>
          <a:noFill/>
          <a:ln w="25400" cap="flat" cmpd="sng" algn="ctr">
            <a:solidFill>
              <a:srgbClr val="92D050"/>
            </a:solidFill>
            <a:prstDash val="dash"/>
            <a:miter lim="800000"/>
          </a:ln>
          <a:effectLst/>
        </p:spPr>
      </p:cxnSp>
      <p:cxnSp>
        <p:nvCxnSpPr>
          <p:cNvPr id="8" name="Straight Arrow Connector 7"/>
          <p:cNvCxnSpPr/>
          <p:nvPr/>
        </p:nvCxnSpPr>
        <p:spPr>
          <a:xfrm flipH="1">
            <a:off x="8117840" y="3194050"/>
            <a:ext cx="373540" cy="0"/>
          </a:xfrm>
          <a:prstGeom prst="straightConnector1">
            <a:avLst/>
          </a:prstGeom>
          <a:noFill/>
          <a:ln w="6350" cap="flat" cmpd="sng" algn="ctr">
            <a:solidFill>
              <a:srgbClr val="002776"/>
            </a:solidFill>
            <a:prstDash val="solid"/>
            <a:miter lim="800000"/>
            <a:tailEnd type="triangle"/>
          </a:ln>
          <a:effectLst/>
        </p:spPr>
      </p:cxnSp>
      <p:cxnSp>
        <p:nvCxnSpPr>
          <p:cNvPr id="9" name="Straight Arrow Connector 8"/>
          <p:cNvCxnSpPr/>
          <p:nvPr/>
        </p:nvCxnSpPr>
        <p:spPr>
          <a:xfrm>
            <a:off x="5120640" y="2188210"/>
            <a:ext cx="223735" cy="0"/>
          </a:xfrm>
          <a:prstGeom prst="straightConnector1">
            <a:avLst/>
          </a:prstGeom>
          <a:noFill/>
          <a:ln w="6350" cap="flat" cmpd="sng" algn="ctr">
            <a:solidFill>
              <a:srgbClr val="92D050"/>
            </a:solidFill>
            <a:prstDash val="solid"/>
            <a:miter lim="800000"/>
            <a:tailEnd type="triangle"/>
          </a:ln>
          <a:effectLst/>
        </p:spPr>
      </p:cxnSp>
      <p:sp>
        <p:nvSpPr>
          <p:cNvPr id="14" name="Text Box 76"/>
          <p:cNvSpPr txBox="1"/>
          <p:nvPr/>
        </p:nvSpPr>
        <p:spPr>
          <a:xfrm>
            <a:off x="439793" y="4970779"/>
            <a:ext cx="9785951" cy="546101"/>
          </a:xfrm>
          <a:prstGeom prst="rect">
            <a:avLst/>
          </a:prstGeom>
          <a:no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en-US" sz="1400">
                <a:solidFill>
                  <a:srgbClr val="000000"/>
                </a:solidFill>
                <a:ea typeface="Times" panose="02020603050405020304" pitchFamily="18" charset="0"/>
                <a:cs typeface="Arial" panose="020B0604020202020204" pitchFamily="34" charset="0"/>
              </a:rPr>
              <a:t>Note: Size of the bubbles represent size of the plants (which range from 50 to 110 MW). Power Plants have been depicted based on data availability.</a:t>
            </a:r>
            <a:endParaRPr lang="en-IN" sz="1400">
              <a:solidFill>
                <a:prstClr val="black"/>
              </a:solidFill>
              <a:latin typeface="Calibri" panose="020F0502020204030204" pitchFamily="34" charset="0"/>
              <a:ea typeface="Times" panose="02020603050405020304" pitchFamily="18" charset="0"/>
              <a:cs typeface="Arial" panose="020B0604020202020204" pitchFamily="34" charset="0"/>
            </a:endParaRPr>
          </a:p>
        </p:txBody>
      </p:sp>
      <p:cxnSp>
        <p:nvCxnSpPr>
          <p:cNvPr id="15" name="Straight Connector 14"/>
          <p:cNvCxnSpPr/>
          <p:nvPr/>
        </p:nvCxnSpPr>
        <p:spPr>
          <a:xfrm>
            <a:off x="439791" y="1160629"/>
            <a:ext cx="988754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 Box 46"/>
          <p:cNvSpPr txBox="1"/>
          <p:nvPr/>
        </p:nvSpPr>
        <p:spPr>
          <a:xfrm>
            <a:off x="2551049" y="925193"/>
            <a:ext cx="5586541" cy="46485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srgbClr val="0070C0"/>
                </a:solidFill>
                <a:ea typeface="Times" panose="02020603050405020304" pitchFamily="18" charset="0"/>
                <a:cs typeface="Arial" panose="020B0604020202020204" pitchFamily="34" charset="0"/>
              </a:rPr>
              <a:t>Comparison </a:t>
            </a:r>
            <a:r>
              <a:rPr lang="en-US" sz="1400" b="1" dirty="0">
                <a:solidFill>
                  <a:srgbClr val="0070C0"/>
                </a:solidFill>
                <a:ea typeface="Times" panose="02020603050405020304" pitchFamily="18" charset="0"/>
                <a:cs typeface="Arial" panose="020B0604020202020204" pitchFamily="34" charset="0"/>
              </a:rPr>
              <a:t>of Costs and Age Profile of BPDB </a:t>
            </a:r>
            <a:r>
              <a:rPr lang="en-US" sz="1400" b="1" dirty="0" smtClean="0">
                <a:solidFill>
                  <a:srgbClr val="0070C0"/>
                </a:solidFill>
                <a:ea typeface="Times" panose="02020603050405020304" pitchFamily="18" charset="0"/>
                <a:cs typeface="Arial" panose="020B0604020202020204" pitchFamily="34" charset="0"/>
              </a:rPr>
              <a:t>HFO Plants </a:t>
            </a:r>
            <a:r>
              <a:rPr lang="en-US" sz="1400" b="1" dirty="0">
                <a:solidFill>
                  <a:srgbClr val="0070C0"/>
                </a:solidFill>
                <a:ea typeface="Times" panose="02020603050405020304" pitchFamily="18" charset="0"/>
                <a:cs typeface="Arial" panose="020B0604020202020204" pitchFamily="34" charset="0"/>
              </a:rPr>
              <a:t>with other </a:t>
            </a:r>
            <a:r>
              <a:rPr lang="en-US" sz="1400" b="1" dirty="0" smtClean="0">
                <a:solidFill>
                  <a:srgbClr val="0070C0"/>
                </a:solidFill>
                <a:ea typeface="Times" panose="02020603050405020304" pitchFamily="18" charset="0"/>
                <a:cs typeface="Arial" panose="020B0604020202020204" pitchFamily="34" charset="0"/>
              </a:rPr>
              <a:t>HFO power plants </a:t>
            </a:r>
            <a:r>
              <a:rPr lang="en-US" sz="1400" b="1" dirty="0">
                <a:solidFill>
                  <a:srgbClr val="0070C0"/>
                </a:solidFill>
                <a:ea typeface="Times" panose="02020603050405020304" pitchFamily="18" charset="0"/>
                <a:cs typeface="Arial" panose="020B0604020202020204" pitchFamily="34" charset="0"/>
              </a:rPr>
              <a:t>in Bangladesh</a:t>
            </a:r>
            <a:endParaRPr lang="en-IN" sz="1400" b="1" dirty="0">
              <a:solidFill>
                <a:srgbClr val="0070C0"/>
              </a:solidFill>
              <a:ea typeface="Times" panose="02020603050405020304" pitchFamily="18" charset="0"/>
              <a:cs typeface="Arial" panose="020B0604020202020204" pitchFamily="34" charset="0"/>
            </a:endParaRPr>
          </a:p>
        </p:txBody>
      </p:sp>
      <p:sp>
        <p:nvSpPr>
          <p:cNvPr id="17" name="Action Button: Forward or Next 16">
            <a:hlinkClick r:id="rId3" action="ppaction://hlinksldjump" highlightClick="1"/>
          </p:cNvPr>
          <p:cNvSpPr/>
          <p:nvPr/>
        </p:nvSpPr>
        <p:spPr bwMode="gray">
          <a:xfrm>
            <a:off x="5154967" y="717803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 name="TextBox 1"/>
          <p:cNvSpPr txBox="1"/>
          <p:nvPr/>
        </p:nvSpPr>
        <p:spPr>
          <a:xfrm>
            <a:off x="3296733" y="7231829"/>
            <a:ext cx="1819020" cy="215444"/>
          </a:xfrm>
          <a:prstGeom prst="rect">
            <a:avLst/>
          </a:prstGeom>
          <a:noFill/>
        </p:spPr>
        <p:txBody>
          <a:bodyPr wrap="square" lIns="0" tIns="0" rIns="0" bIns="0" rtlCol="0">
            <a:spAutoFit/>
          </a:bodyPr>
          <a:lstStyle/>
          <a:p>
            <a:pPr>
              <a:spcBef>
                <a:spcPts val="600"/>
              </a:spcBef>
              <a:buSzPct val="100000"/>
            </a:pPr>
            <a:r>
              <a:rPr lang="en-US" sz="1400" dirty="0" smtClean="0">
                <a:solidFill>
                  <a:srgbClr val="313131"/>
                </a:solidFill>
              </a:rPr>
              <a:t>Power plant details</a:t>
            </a:r>
            <a:endParaRPr lang="en-IN" sz="1400" dirty="0" smtClean="0">
              <a:solidFill>
                <a:srgbClr val="313131"/>
              </a:solidFill>
            </a:endParaRPr>
          </a:p>
        </p:txBody>
      </p:sp>
      <p:sp>
        <p:nvSpPr>
          <p:cNvPr id="13" name="Pentagon 12">
            <a:hlinkClick r:id="rId4" action="ppaction://hlinksldjump"/>
          </p:cNvPr>
          <p:cNvSpPr/>
          <p:nvPr/>
        </p:nvSpPr>
        <p:spPr bwMode="gray">
          <a:xfrm flipH="1">
            <a:off x="9863138" y="7237483"/>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755059368"/>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Generation business (3/3)</a:t>
            </a:r>
            <a:endParaRPr lang="en-IN" b="1" dirty="0"/>
          </a:p>
        </p:txBody>
      </p:sp>
      <p:sp>
        <p:nvSpPr>
          <p:cNvPr id="4" name="TextBox 3"/>
          <p:cNvSpPr txBox="1"/>
          <p:nvPr/>
        </p:nvSpPr>
        <p:spPr>
          <a:xfrm>
            <a:off x="439790" y="5310255"/>
            <a:ext cx="9809162" cy="1549401"/>
          </a:xfrm>
          <a:prstGeom prst="rect">
            <a:avLst/>
          </a:prstGeom>
          <a:solidFill>
            <a:srgbClr val="92D050"/>
          </a:solidFill>
        </p:spPr>
        <p:txBody>
          <a:bodyPr wrap="square" lIns="36000" tIns="0" rIns="36000" bIns="0" rtlCol="0" anchor="ctr">
            <a:noAutofit/>
          </a:bodyPr>
          <a:lstStyle/>
          <a:p>
            <a:pPr marL="285750" indent="-285750">
              <a:lnSpc>
                <a:spcPct val="114000"/>
              </a:lnSpc>
              <a:spcAft>
                <a:spcPts val="600"/>
              </a:spcAft>
              <a:buFont typeface="Arial" panose="020B0604020202020204" pitchFamily="34" charset="0"/>
              <a:buChar char="•"/>
            </a:pPr>
            <a:r>
              <a:rPr lang="en-US" sz="1600" dirty="0" smtClean="0">
                <a:solidFill>
                  <a:prstClr val="black"/>
                </a:solidFill>
              </a:rPr>
              <a:t>The </a:t>
            </a:r>
            <a:r>
              <a:rPr lang="en-US" sz="1600" dirty="0">
                <a:solidFill>
                  <a:prstClr val="black"/>
                </a:solidFill>
              </a:rPr>
              <a:t>power generation cost for BPDB’s plants under consideration (contributing ~1.15% in BPDB overall power generation mix) appears to be higher than the power procurement costs from similar plants of IPPs/Rental/Quick Rentals by 38.32%.</a:t>
            </a:r>
          </a:p>
          <a:p>
            <a:pPr marL="285750" indent="-285750">
              <a:lnSpc>
                <a:spcPct val="114000"/>
              </a:lnSpc>
              <a:spcAft>
                <a:spcPts val="600"/>
              </a:spcAft>
              <a:buFont typeface="Arial" panose="020B0604020202020204" pitchFamily="34" charset="0"/>
              <a:buChar char="•"/>
            </a:pPr>
            <a:r>
              <a:rPr lang="en-US" sz="1600" dirty="0" smtClean="0">
                <a:solidFill>
                  <a:prstClr val="black"/>
                </a:solidFill>
              </a:rPr>
              <a:t>Efficiency </a:t>
            </a:r>
            <a:r>
              <a:rPr lang="en-US" sz="1600" dirty="0" err="1">
                <a:solidFill>
                  <a:prstClr val="black"/>
                </a:solidFill>
              </a:rPr>
              <a:t>clawbacks</a:t>
            </a:r>
            <a:r>
              <a:rPr lang="en-US" sz="1600" dirty="0">
                <a:solidFill>
                  <a:prstClr val="black"/>
                </a:solidFill>
              </a:rPr>
              <a:t> via improvement of operational efficiency by adopting prudent measures may reduce the cost gap at the bulk supply level.</a:t>
            </a:r>
          </a:p>
        </p:txBody>
      </p:sp>
      <p:sp>
        <p:nvSpPr>
          <p:cNvPr id="14" name="Text Box 76"/>
          <p:cNvSpPr txBox="1"/>
          <p:nvPr/>
        </p:nvSpPr>
        <p:spPr>
          <a:xfrm>
            <a:off x="439792" y="4764154"/>
            <a:ext cx="9785951" cy="546101"/>
          </a:xfrm>
          <a:prstGeom prst="rect">
            <a:avLst/>
          </a:prstGeom>
          <a:no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en-US" sz="1400" dirty="0">
                <a:solidFill>
                  <a:srgbClr val="000000"/>
                </a:solidFill>
                <a:ea typeface="Times" panose="02020603050405020304" pitchFamily="18" charset="0"/>
                <a:cs typeface="Arial" panose="020B0604020202020204" pitchFamily="34" charset="0"/>
              </a:rPr>
              <a:t>Note: Size of the bubbles represent size of the plants (which range </a:t>
            </a:r>
            <a:r>
              <a:rPr lang="en-US" sz="1400" dirty="0" smtClean="0">
                <a:solidFill>
                  <a:srgbClr val="000000"/>
                </a:solidFill>
                <a:ea typeface="Times" panose="02020603050405020304" pitchFamily="18" charset="0"/>
                <a:cs typeface="Arial" panose="020B0604020202020204" pitchFamily="34" charset="0"/>
              </a:rPr>
              <a:t>from 20 </a:t>
            </a:r>
            <a:r>
              <a:rPr lang="en-US" sz="1400" dirty="0">
                <a:solidFill>
                  <a:srgbClr val="000000"/>
                </a:solidFill>
                <a:ea typeface="Times" panose="02020603050405020304" pitchFamily="18" charset="0"/>
                <a:cs typeface="Arial" panose="020B0604020202020204" pitchFamily="34" charset="0"/>
              </a:rPr>
              <a:t>to </a:t>
            </a:r>
            <a:r>
              <a:rPr lang="en-US" sz="1400" dirty="0" smtClean="0">
                <a:solidFill>
                  <a:srgbClr val="000000"/>
                </a:solidFill>
                <a:ea typeface="Times" panose="02020603050405020304" pitchFamily="18" charset="0"/>
                <a:cs typeface="Arial" panose="020B0604020202020204" pitchFamily="34" charset="0"/>
              </a:rPr>
              <a:t>100 </a:t>
            </a:r>
            <a:r>
              <a:rPr lang="en-US" sz="1400" dirty="0">
                <a:solidFill>
                  <a:srgbClr val="000000"/>
                </a:solidFill>
                <a:ea typeface="Times" panose="02020603050405020304" pitchFamily="18" charset="0"/>
                <a:cs typeface="Arial" panose="020B0604020202020204" pitchFamily="34" charset="0"/>
              </a:rPr>
              <a:t>MW). Power Plants have been depicted based on data availability.</a:t>
            </a:r>
            <a:endParaRPr lang="en-IN" sz="1400" dirty="0">
              <a:solidFill>
                <a:prstClr val="black"/>
              </a:solidFill>
              <a:latin typeface="Calibri" panose="020F0502020204030204" pitchFamily="34" charset="0"/>
              <a:ea typeface="Times" panose="02020603050405020304" pitchFamily="18" charset="0"/>
              <a:cs typeface="Arial" panose="020B0604020202020204" pitchFamily="34" charset="0"/>
            </a:endParaRPr>
          </a:p>
        </p:txBody>
      </p:sp>
      <p:cxnSp>
        <p:nvCxnSpPr>
          <p:cNvPr id="15" name="Straight Connector 14"/>
          <p:cNvCxnSpPr/>
          <p:nvPr/>
        </p:nvCxnSpPr>
        <p:spPr>
          <a:xfrm>
            <a:off x="439791" y="1160629"/>
            <a:ext cx="988754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 Box 46"/>
          <p:cNvSpPr txBox="1"/>
          <p:nvPr/>
        </p:nvSpPr>
        <p:spPr>
          <a:xfrm>
            <a:off x="2551049" y="925193"/>
            <a:ext cx="5586541" cy="46485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srgbClr val="0070C0"/>
                </a:solidFill>
                <a:ea typeface="Times" panose="02020603050405020304" pitchFamily="18" charset="0"/>
                <a:cs typeface="Arial" panose="020B0604020202020204" pitchFamily="34" charset="0"/>
              </a:rPr>
              <a:t>Comparison </a:t>
            </a:r>
            <a:r>
              <a:rPr lang="en-US" sz="1400" b="1" dirty="0">
                <a:solidFill>
                  <a:srgbClr val="0070C0"/>
                </a:solidFill>
                <a:ea typeface="Times" panose="02020603050405020304" pitchFamily="18" charset="0"/>
                <a:cs typeface="Arial" panose="020B0604020202020204" pitchFamily="34" charset="0"/>
              </a:rPr>
              <a:t>of Costs and Age Profile of BPDB </a:t>
            </a:r>
            <a:r>
              <a:rPr lang="en-US" sz="1400" b="1" dirty="0" smtClean="0">
                <a:solidFill>
                  <a:srgbClr val="0070C0"/>
                </a:solidFill>
                <a:ea typeface="Times" panose="02020603050405020304" pitchFamily="18" charset="0"/>
                <a:cs typeface="Arial" panose="020B0604020202020204" pitchFamily="34" charset="0"/>
              </a:rPr>
              <a:t>Diesel Plants </a:t>
            </a:r>
            <a:r>
              <a:rPr lang="en-US" sz="1400" b="1" dirty="0">
                <a:solidFill>
                  <a:srgbClr val="0070C0"/>
                </a:solidFill>
                <a:ea typeface="Times" panose="02020603050405020304" pitchFamily="18" charset="0"/>
                <a:cs typeface="Arial" panose="020B0604020202020204" pitchFamily="34" charset="0"/>
              </a:rPr>
              <a:t>with other </a:t>
            </a:r>
            <a:r>
              <a:rPr lang="en-US" sz="1400" b="1" dirty="0" smtClean="0">
                <a:solidFill>
                  <a:srgbClr val="0070C0"/>
                </a:solidFill>
                <a:ea typeface="Times" panose="02020603050405020304" pitchFamily="18" charset="0"/>
                <a:cs typeface="Arial" panose="020B0604020202020204" pitchFamily="34" charset="0"/>
              </a:rPr>
              <a:t>Diesel power plants </a:t>
            </a:r>
            <a:r>
              <a:rPr lang="en-US" sz="1400" b="1" dirty="0">
                <a:solidFill>
                  <a:srgbClr val="0070C0"/>
                </a:solidFill>
                <a:ea typeface="Times" panose="02020603050405020304" pitchFamily="18" charset="0"/>
                <a:cs typeface="Arial" panose="020B0604020202020204" pitchFamily="34" charset="0"/>
              </a:rPr>
              <a:t>in Bangladesh</a:t>
            </a:r>
            <a:endParaRPr lang="en-IN" sz="1400" b="1" dirty="0">
              <a:solidFill>
                <a:srgbClr val="0070C0"/>
              </a:solidFill>
              <a:ea typeface="Times" panose="02020603050405020304" pitchFamily="18" charset="0"/>
              <a:cs typeface="Arial" panose="020B0604020202020204" pitchFamily="34" charset="0"/>
            </a:endParaRPr>
          </a:p>
        </p:txBody>
      </p:sp>
      <p:sp>
        <p:nvSpPr>
          <p:cNvPr id="11" name="Action Button: Forward or Next 10">
            <a:hlinkClick r:id="rId2" action="ppaction://hlinksldjump" highlightClick="1"/>
          </p:cNvPr>
          <p:cNvSpPr/>
          <p:nvPr/>
        </p:nvSpPr>
        <p:spPr bwMode="gray">
          <a:xfrm>
            <a:off x="5154967" y="717803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graphicFrame>
        <p:nvGraphicFramePr>
          <p:cNvPr id="12" name="Chart 11"/>
          <p:cNvGraphicFramePr/>
          <p:nvPr>
            <p:extLst/>
          </p:nvPr>
        </p:nvGraphicFramePr>
        <p:xfrm>
          <a:off x="439790" y="1625480"/>
          <a:ext cx="9785953" cy="2903239"/>
        </p:xfrm>
        <a:graphic>
          <a:graphicData uri="http://schemas.openxmlformats.org/drawingml/2006/chart">
            <c:chart xmlns:c="http://schemas.openxmlformats.org/drawingml/2006/chart" xmlns:r="http://schemas.openxmlformats.org/officeDocument/2006/relationships" r:id="rId3"/>
          </a:graphicData>
        </a:graphic>
      </p:graphicFrame>
      <p:sp>
        <p:nvSpPr>
          <p:cNvPr id="13" name="Rounded Rectangle 12"/>
          <p:cNvSpPr/>
          <p:nvPr/>
        </p:nvSpPr>
        <p:spPr>
          <a:xfrm>
            <a:off x="1498726" y="2067540"/>
            <a:ext cx="2104645" cy="984985"/>
          </a:xfrm>
          <a:prstGeom prst="roundRect">
            <a:avLst/>
          </a:prstGeom>
          <a:solidFill>
            <a:srgbClr val="92D400">
              <a:lumMod val="20000"/>
              <a:lumOff val="80000"/>
            </a:srgbClr>
          </a:solidFill>
          <a:ln w="12700" cap="flat" cmpd="sng" algn="ctr">
            <a:solidFill>
              <a:srgbClr val="92D050"/>
            </a:solidFill>
            <a:prstDash val="solid"/>
            <a:miter lim="800000"/>
          </a:ln>
          <a:effectLst/>
        </p:spPr>
        <p:txBody>
          <a:bodyPr wrap="square" lIns="0" tIns="0" rIns="0" bIns="0">
            <a:noAutofit/>
          </a:bodyPr>
          <a:lstStyle/>
          <a:p>
            <a:pPr algn="just"/>
            <a:r>
              <a:rPr lang="en-US" sz="1400">
                <a:solidFill>
                  <a:srgbClr val="000000"/>
                </a:solidFill>
                <a:latin typeface="Calibri" panose="020F0502020204030204" pitchFamily="34" charset="0"/>
                <a:ea typeface="MS Mincho" panose="02020609040205080304" pitchFamily="49" charset="-128"/>
                <a:cs typeface="Vrinda" panose="020B0502040204020203" pitchFamily="34" charset="0"/>
              </a:rPr>
              <a:t>Weighted Average power purchase cost of IPP/Rental and Quick Rental – Tk 25.91/KWh</a:t>
            </a:r>
            <a:endParaRPr lang="en-IN" sz="1400">
              <a:solidFill>
                <a:prstClr val="black"/>
              </a:solidFill>
              <a:latin typeface="Times New Roman" panose="02020603050405020304" pitchFamily="18" charset="0"/>
              <a:ea typeface="MS Mincho" panose="02020609040205080304" pitchFamily="49" charset="-128"/>
              <a:cs typeface="Arial" panose="020B0604020202020204" pitchFamily="34" charset="0"/>
            </a:endParaRPr>
          </a:p>
        </p:txBody>
      </p:sp>
      <p:sp>
        <p:nvSpPr>
          <p:cNvPr id="10" name="TextBox 9"/>
          <p:cNvSpPr txBox="1"/>
          <p:nvPr/>
        </p:nvSpPr>
        <p:spPr>
          <a:xfrm>
            <a:off x="3296733" y="7231829"/>
            <a:ext cx="1819020" cy="215444"/>
          </a:xfrm>
          <a:prstGeom prst="rect">
            <a:avLst/>
          </a:prstGeom>
          <a:noFill/>
        </p:spPr>
        <p:txBody>
          <a:bodyPr wrap="square" lIns="0" tIns="0" rIns="0" bIns="0" rtlCol="0">
            <a:spAutoFit/>
          </a:bodyPr>
          <a:lstStyle/>
          <a:p>
            <a:pPr>
              <a:spcBef>
                <a:spcPts val="600"/>
              </a:spcBef>
              <a:buSzPct val="100000"/>
            </a:pPr>
            <a:r>
              <a:rPr lang="en-US" sz="1400" dirty="0" smtClean="0">
                <a:solidFill>
                  <a:srgbClr val="313131"/>
                </a:solidFill>
              </a:rPr>
              <a:t>Power plant details</a:t>
            </a:r>
            <a:endParaRPr lang="en-IN" sz="1400" dirty="0" smtClean="0">
              <a:solidFill>
                <a:srgbClr val="313131"/>
              </a:solidFill>
            </a:endParaRPr>
          </a:p>
        </p:txBody>
      </p:sp>
      <p:sp>
        <p:nvSpPr>
          <p:cNvPr id="17" name="Pentagon 16">
            <a:hlinkClick r:id="rId4" action="ppaction://hlinksldjump"/>
          </p:cNvPr>
          <p:cNvSpPr/>
          <p:nvPr/>
        </p:nvSpPr>
        <p:spPr bwMode="gray">
          <a:xfrm flipH="1">
            <a:off x="9863138" y="7237483"/>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1471777"/>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Diesel Power Plant details for cost comparison</a:t>
            </a:r>
            <a:endParaRPr lang="en-IN" b="1" dirty="0"/>
          </a:p>
        </p:txBody>
      </p:sp>
      <p:sp>
        <p:nvSpPr>
          <p:cNvPr id="13" name="Rectangle 4"/>
          <p:cNvSpPr>
            <a:spLocks noChangeArrowheads="1"/>
          </p:cNvSpPr>
          <p:nvPr/>
        </p:nvSpPr>
        <p:spPr bwMode="auto">
          <a:xfrm>
            <a:off x="439738" y="3159125"/>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graphicFrame>
        <p:nvGraphicFramePr>
          <p:cNvPr id="4" name="Table 3"/>
          <p:cNvGraphicFramePr>
            <a:graphicFrameLocks noGrp="1"/>
          </p:cNvGraphicFramePr>
          <p:nvPr>
            <p:extLst/>
          </p:nvPr>
        </p:nvGraphicFramePr>
        <p:xfrm>
          <a:off x="439738" y="898208"/>
          <a:ext cx="9809163" cy="2596834"/>
        </p:xfrm>
        <a:graphic>
          <a:graphicData uri="http://schemas.openxmlformats.org/drawingml/2006/table">
            <a:tbl>
              <a:tblPr firstRow="1" firstCol="1" bandRow="1">
                <a:tableStyleId>{5C22544A-7EE6-4342-B048-85BDC9FD1C3A}</a:tableStyleId>
              </a:tblPr>
              <a:tblGrid>
                <a:gridCol w="3270375"/>
                <a:gridCol w="3270375"/>
                <a:gridCol w="3268413"/>
              </a:tblGrid>
              <a:tr h="830986">
                <a:tc>
                  <a:txBody>
                    <a:bodyPr/>
                    <a:lstStyle/>
                    <a:p>
                      <a:pPr algn="just" fontAlgn="auto">
                        <a:spcAft>
                          <a:spcPts val="0"/>
                        </a:spcAft>
                      </a:pPr>
                      <a:r>
                        <a:rPr lang="en-US" sz="1200">
                          <a:effectLst/>
                        </a:rPr>
                        <a:t>Plant</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Average Generation Cost</a:t>
                      </a:r>
                      <a:endParaRPr lang="en-IN" sz="1200">
                        <a:effectLst/>
                      </a:endParaRPr>
                    </a:p>
                    <a:p>
                      <a:pPr algn="ctr" fontAlgn="auto">
                        <a:spcAft>
                          <a:spcPts val="0"/>
                        </a:spcAft>
                      </a:pPr>
                      <a:r>
                        <a:rPr lang="en-US" sz="1200">
                          <a:effectLst/>
                        </a:rPr>
                        <a:t>(Average of FY13-14, FY14-15, FY15-16)</a:t>
                      </a:r>
                      <a:endParaRPr lang="en-IN" sz="1200">
                        <a:effectLst/>
                      </a:endParaRPr>
                    </a:p>
                    <a:p>
                      <a:pPr algn="ctr" fontAlgn="auto">
                        <a:spcAft>
                          <a:spcPts val="0"/>
                        </a:spcAft>
                      </a:pPr>
                      <a:r>
                        <a:rPr lang="en-US" sz="1200">
                          <a:effectLst/>
                        </a:rPr>
                        <a:t>(in Tk / kWh)</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 Share in Average Net Energy Generated (kWh)</a:t>
                      </a:r>
                      <a:endParaRPr lang="en-IN" sz="1200">
                        <a:effectLst/>
                      </a:endParaRPr>
                    </a:p>
                    <a:p>
                      <a:pPr algn="ctr" fontAlgn="auto">
                        <a:spcAft>
                          <a:spcPts val="0"/>
                        </a:spcAft>
                      </a:pPr>
                      <a:r>
                        <a:rPr lang="en-US" sz="1200">
                          <a:effectLst/>
                        </a:rPr>
                        <a:t>(Average of FY13-14, FY14-15, FY15-16)</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94308">
                <a:tc gridSpan="3">
                  <a:txBody>
                    <a:bodyPr/>
                    <a:lstStyle/>
                    <a:p>
                      <a:pPr algn="ctr" fontAlgn="auto">
                        <a:spcAft>
                          <a:spcPts val="0"/>
                        </a:spcAft>
                      </a:pPr>
                      <a:r>
                        <a:rPr lang="en-US" sz="1200">
                          <a:effectLst/>
                        </a:rPr>
                        <a:t>BPDB Plants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r>
              <a:tr h="294308">
                <a:tc>
                  <a:txBody>
                    <a:bodyPr/>
                    <a:lstStyle/>
                    <a:p>
                      <a:pPr algn="just" fontAlgn="auto">
                        <a:spcAft>
                          <a:spcPts val="0"/>
                        </a:spcAft>
                      </a:pPr>
                      <a:r>
                        <a:rPr lang="en-US" sz="1200">
                          <a:effectLst/>
                        </a:rPr>
                        <a:t>Bheramera PS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34.54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0.52%</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94308">
                <a:tc>
                  <a:txBody>
                    <a:bodyPr/>
                    <a:lstStyle/>
                    <a:p>
                      <a:pPr algn="just" fontAlgn="auto">
                        <a:spcAft>
                          <a:spcPts val="0"/>
                        </a:spcAft>
                      </a:pPr>
                      <a:r>
                        <a:rPr lang="en-US" sz="1200">
                          <a:effectLst/>
                        </a:rPr>
                        <a:t>Barishal GT PS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37.80</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0.34%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94308">
                <a:tc>
                  <a:txBody>
                    <a:bodyPr/>
                    <a:lstStyle/>
                    <a:p>
                      <a:pPr algn="just" fontAlgn="auto">
                        <a:spcAft>
                          <a:spcPts val="0"/>
                        </a:spcAft>
                      </a:pPr>
                      <a:r>
                        <a:rPr lang="en-US" sz="1200">
                          <a:effectLst/>
                        </a:rPr>
                        <a:t>Sayedpur GT PS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35.67</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0.15%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94308">
                <a:tc>
                  <a:txBody>
                    <a:bodyPr/>
                    <a:lstStyle/>
                    <a:p>
                      <a:pPr algn="just" fontAlgn="auto">
                        <a:spcAft>
                          <a:spcPts val="0"/>
                        </a:spcAft>
                      </a:pPr>
                      <a:r>
                        <a:rPr lang="en-US" sz="1200">
                          <a:effectLst/>
                        </a:rPr>
                        <a:t>Rangpur GT PS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36.19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0.14%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94308">
                <a:tc>
                  <a:txBody>
                    <a:bodyPr/>
                    <a:lstStyle/>
                    <a:p>
                      <a:pPr algn="just" fontAlgn="auto">
                        <a:spcAft>
                          <a:spcPts val="0"/>
                        </a:spcAft>
                      </a:pPr>
                      <a:r>
                        <a:rPr lang="en-US" sz="1200">
                          <a:effectLst/>
                        </a:rPr>
                        <a:t>Total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35.84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effectLst/>
                        </a:rPr>
                        <a:t>1.15%</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graphicFrame>
        <p:nvGraphicFramePr>
          <p:cNvPr id="8" name="Table 7"/>
          <p:cNvGraphicFramePr>
            <a:graphicFrameLocks noGrp="1"/>
          </p:cNvGraphicFramePr>
          <p:nvPr>
            <p:extLst/>
          </p:nvPr>
        </p:nvGraphicFramePr>
        <p:xfrm>
          <a:off x="439738" y="3798888"/>
          <a:ext cx="9809162" cy="2520634"/>
        </p:xfrm>
        <a:graphic>
          <a:graphicData uri="http://schemas.openxmlformats.org/drawingml/2006/table">
            <a:tbl>
              <a:tblPr firstRow="1" firstCol="1" bandRow="1">
                <a:tableStyleId>{5C22544A-7EE6-4342-B048-85BDC9FD1C3A}</a:tableStyleId>
              </a:tblPr>
              <a:tblGrid>
                <a:gridCol w="4904581"/>
                <a:gridCol w="4904581"/>
              </a:tblGrid>
              <a:tr h="806602">
                <a:tc>
                  <a:txBody>
                    <a:bodyPr/>
                    <a:lstStyle/>
                    <a:p>
                      <a:pPr algn="just" fontAlgn="auto">
                        <a:spcAft>
                          <a:spcPts val="0"/>
                        </a:spcAft>
                      </a:pPr>
                      <a:r>
                        <a:rPr lang="en-US" sz="1200">
                          <a:effectLst/>
                        </a:rPr>
                        <a:t>Plant</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Average Power Purchase Cost (Average of FY13-14, FY14-15 and FY15-16)</a:t>
                      </a:r>
                      <a:endParaRPr lang="en-IN" sz="1200">
                        <a:effectLst/>
                      </a:endParaRPr>
                    </a:p>
                    <a:p>
                      <a:pPr algn="ctr" fontAlgn="auto">
                        <a:spcAft>
                          <a:spcPts val="0"/>
                        </a:spcAft>
                      </a:pPr>
                      <a:r>
                        <a:rPr lang="en-US" sz="1200">
                          <a:effectLst/>
                        </a:rPr>
                        <a:t>(in Tk / kWh)</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5672">
                <a:tc gridSpan="2">
                  <a:txBody>
                    <a:bodyPr/>
                    <a:lstStyle/>
                    <a:p>
                      <a:pPr algn="ctr" fontAlgn="auto">
                        <a:spcAft>
                          <a:spcPts val="0"/>
                        </a:spcAft>
                      </a:pPr>
                      <a:r>
                        <a:rPr lang="en-US" sz="1200">
                          <a:effectLst/>
                        </a:rPr>
                        <a:t>IPP/Rental/Quick Rental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r>
              <a:tr h="285672">
                <a:tc>
                  <a:txBody>
                    <a:bodyPr/>
                    <a:lstStyle/>
                    <a:p>
                      <a:pPr algn="just" fontAlgn="auto">
                        <a:spcAft>
                          <a:spcPts val="0"/>
                        </a:spcAft>
                      </a:pPr>
                      <a:r>
                        <a:rPr lang="en-US" sz="1200">
                          <a:effectLst/>
                        </a:rPr>
                        <a:t>Aggreko International – Khulna (55 MW)</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25.95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5672">
                <a:tc>
                  <a:txBody>
                    <a:bodyPr/>
                    <a:lstStyle/>
                    <a:p>
                      <a:pPr algn="just" fontAlgn="auto">
                        <a:spcAft>
                          <a:spcPts val="0"/>
                        </a:spcAft>
                      </a:pPr>
                      <a:r>
                        <a:rPr lang="en-US" sz="1200">
                          <a:effectLst/>
                        </a:rPr>
                        <a:t>DPA Power Gen.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25.32</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5672">
                <a:tc>
                  <a:txBody>
                    <a:bodyPr/>
                    <a:lstStyle/>
                    <a:p>
                      <a:pPr algn="just" fontAlgn="auto">
                        <a:spcAft>
                          <a:spcPts val="0"/>
                        </a:spcAft>
                      </a:pPr>
                      <a:r>
                        <a:rPr lang="en-US" sz="1200">
                          <a:effectLst/>
                        </a:rPr>
                        <a:t>Desh Energy Siddirgonj</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27.17</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5672">
                <a:tc>
                  <a:txBody>
                    <a:bodyPr/>
                    <a:lstStyle/>
                    <a:p>
                      <a:pPr algn="just" fontAlgn="auto">
                        <a:spcAft>
                          <a:spcPts val="0"/>
                        </a:spcAft>
                      </a:pPr>
                      <a:r>
                        <a:rPr lang="en-US" sz="1200">
                          <a:effectLst/>
                        </a:rPr>
                        <a:t>RZ Power Ltd.</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23.31</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5672">
                <a:tc>
                  <a:txBody>
                    <a:bodyPr/>
                    <a:lstStyle/>
                    <a:p>
                      <a:pPr algn="just" fontAlgn="auto">
                        <a:spcAft>
                          <a:spcPts val="0"/>
                        </a:spcAft>
                      </a:pPr>
                      <a:r>
                        <a:rPr lang="en-US" sz="1200">
                          <a:effectLst/>
                        </a:rPr>
                        <a:t>Total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effectLst/>
                        </a:rPr>
                        <a:t>25.91</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sp>
        <p:nvSpPr>
          <p:cNvPr id="14" name="Action Button: Back or Previous 13">
            <a:hlinkClick r:id="rId2" action="ppaction://hlinksldjump" highlightClick="1"/>
          </p:cNvPr>
          <p:cNvSpPr/>
          <p:nvPr/>
        </p:nvSpPr>
        <p:spPr bwMode="gray">
          <a:xfrm>
            <a:off x="5145302" y="662336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 name="Pentagon 6">
            <a:hlinkClick r:id="rId3" action="ppaction://hlinksldjump"/>
          </p:cNvPr>
          <p:cNvSpPr/>
          <p:nvPr/>
        </p:nvSpPr>
        <p:spPr bwMode="gray">
          <a:xfrm flipH="1">
            <a:off x="9863138" y="7237483"/>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673122954"/>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HFO Power Plant details for cost comparison</a:t>
            </a:r>
            <a:endParaRPr lang="en-IN" b="1" dirty="0"/>
          </a:p>
        </p:txBody>
      </p:sp>
      <p:graphicFrame>
        <p:nvGraphicFramePr>
          <p:cNvPr id="2" name="Table 1"/>
          <p:cNvGraphicFramePr>
            <a:graphicFrameLocks noGrp="1"/>
          </p:cNvGraphicFramePr>
          <p:nvPr>
            <p:extLst/>
          </p:nvPr>
        </p:nvGraphicFramePr>
        <p:xfrm>
          <a:off x="439793" y="843281"/>
          <a:ext cx="9809162" cy="3200397"/>
        </p:xfrm>
        <a:graphic>
          <a:graphicData uri="http://schemas.openxmlformats.org/drawingml/2006/table">
            <a:tbl>
              <a:tblPr firstRow="1" firstCol="1" bandRow="1">
                <a:tableStyleId>{5C22544A-7EE6-4342-B048-85BDC9FD1C3A}</a:tableStyleId>
              </a:tblPr>
              <a:tblGrid>
                <a:gridCol w="3015336"/>
                <a:gridCol w="3456749"/>
                <a:gridCol w="3337077"/>
              </a:tblGrid>
              <a:tr h="829254">
                <a:tc>
                  <a:txBody>
                    <a:bodyPr/>
                    <a:lstStyle/>
                    <a:p>
                      <a:pPr algn="l" fontAlgn="auto">
                        <a:spcAft>
                          <a:spcPts val="0"/>
                        </a:spcAft>
                      </a:pPr>
                      <a:r>
                        <a:rPr lang="en-US" sz="1200" dirty="0">
                          <a:effectLst/>
                        </a:rPr>
                        <a:t>Plant</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Average Generation Cost</a:t>
                      </a:r>
                      <a:endParaRPr lang="en-IN" sz="1200">
                        <a:effectLst/>
                      </a:endParaRPr>
                    </a:p>
                    <a:p>
                      <a:pPr algn="ctr" fontAlgn="auto">
                        <a:spcAft>
                          <a:spcPts val="0"/>
                        </a:spcAft>
                      </a:pPr>
                      <a:r>
                        <a:rPr lang="en-US" sz="1200">
                          <a:effectLst/>
                        </a:rPr>
                        <a:t>(Average of FY13-14, FY14-15, FY15-16)</a:t>
                      </a:r>
                      <a:endParaRPr lang="en-IN" sz="1200">
                        <a:effectLst/>
                      </a:endParaRPr>
                    </a:p>
                    <a:p>
                      <a:pPr algn="ctr" fontAlgn="auto">
                        <a:spcAft>
                          <a:spcPts val="0"/>
                        </a:spcAft>
                      </a:pPr>
                      <a:r>
                        <a:rPr lang="en-US" sz="1200">
                          <a:effectLst/>
                        </a:rPr>
                        <a:t>(in Tk / kWh)</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 Share in Average Net Energy Generated (kWh)</a:t>
                      </a:r>
                      <a:endParaRPr lang="en-IN" sz="1200">
                        <a:effectLst/>
                      </a:endParaRPr>
                    </a:p>
                    <a:p>
                      <a:pPr algn="ctr" fontAlgn="auto">
                        <a:spcAft>
                          <a:spcPts val="0"/>
                        </a:spcAft>
                      </a:pPr>
                      <a:r>
                        <a:rPr lang="en-US" sz="1200">
                          <a:effectLst/>
                        </a:rPr>
                        <a:t>(Average of FY13-14, FY14-15, FY15-16)</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3792">
                <a:tc gridSpan="3">
                  <a:txBody>
                    <a:bodyPr/>
                    <a:lstStyle/>
                    <a:p>
                      <a:pPr algn="ctr" fontAlgn="auto">
                        <a:spcAft>
                          <a:spcPts val="0"/>
                        </a:spcAft>
                      </a:pPr>
                      <a:r>
                        <a:rPr lang="en-US" sz="1200" dirty="0">
                          <a:effectLst/>
                        </a:rPr>
                        <a:t>BPDB Plants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r>
              <a:tr h="215951">
                <a:tc>
                  <a:txBody>
                    <a:bodyPr/>
                    <a:lstStyle/>
                    <a:p>
                      <a:pPr algn="l" fontAlgn="auto">
                        <a:spcAft>
                          <a:spcPts val="0"/>
                        </a:spcAft>
                      </a:pPr>
                      <a:r>
                        <a:rPr lang="en-US" sz="1200">
                          <a:effectLst/>
                        </a:rPr>
                        <a:t>Dohazari 100 MW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17.58</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1.47%</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Hathazari  peaking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18.65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1.30%</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Bera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18.45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1.10%</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Faridpur 50 MW peaking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18.09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1.14%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Katakhali  50 MW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17.65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0.76%</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Gopalganj 100 MW peaking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18.33</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1.94%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Baghabari 50 MW RE</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19.57</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0.83%</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Daudkandi peaking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20.10</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0.76%</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5951">
                <a:tc>
                  <a:txBody>
                    <a:bodyPr/>
                    <a:lstStyle/>
                    <a:p>
                      <a:pPr algn="l" fontAlgn="auto">
                        <a:spcAft>
                          <a:spcPts val="0"/>
                        </a:spcAft>
                      </a:pPr>
                      <a:r>
                        <a:rPr lang="en-US" sz="1200">
                          <a:effectLst/>
                        </a:rPr>
                        <a:t>Santahar 50 MW PP</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18.19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0.69%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3792">
                <a:tc>
                  <a:txBody>
                    <a:bodyPr/>
                    <a:lstStyle/>
                    <a:p>
                      <a:pPr algn="l" fontAlgn="auto">
                        <a:spcAft>
                          <a:spcPts val="0"/>
                        </a:spcAft>
                      </a:pPr>
                      <a:r>
                        <a:rPr lang="en-US" sz="1200" b="1">
                          <a:effectLst/>
                        </a:rPr>
                        <a:t>Total</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a:effectLst/>
                        </a:rPr>
                        <a:t>18.42</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10.00%</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graphicFrame>
        <p:nvGraphicFramePr>
          <p:cNvPr id="12" name="Table 11"/>
          <p:cNvGraphicFramePr>
            <a:graphicFrameLocks noGrp="1"/>
          </p:cNvGraphicFramePr>
          <p:nvPr>
            <p:extLst/>
          </p:nvPr>
        </p:nvGraphicFramePr>
        <p:xfrm>
          <a:off x="439793" y="4175760"/>
          <a:ext cx="9809162" cy="3119119"/>
        </p:xfrm>
        <a:graphic>
          <a:graphicData uri="http://schemas.openxmlformats.org/drawingml/2006/table">
            <a:tbl>
              <a:tblPr firstRow="1" firstCol="1" bandRow="1">
                <a:tableStyleId>{5C22544A-7EE6-4342-B048-85BDC9FD1C3A}</a:tableStyleId>
              </a:tblPr>
              <a:tblGrid>
                <a:gridCol w="4571069"/>
                <a:gridCol w="5238093"/>
              </a:tblGrid>
              <a:tr h="611093">
                <a:tc>
                  <a:txBody>
                    <a:bodyPr/>
                    <a:lstStyle/>
                    <a:p>
                      <a:pPr algn="l" fontAlgn="auto">
                        <a:spcAft>
                          <a:spcPts val="0"/>
                        </a:spcAft>
                      </a:pPr>
                      <a:r>
                        <a:rPr lang="en-US" sz="1200" dirty="0">
                          <a:effectLst/>
                        </a:rPr>
                        <a:t>Plant</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Average Power Purchase Cost (Average of FY13-14, FY14-15 and FY15-16)</a:t>
                      </a:r>
                      <a:endParaRPr lang="en-IN" sz="1200">
                        <a:effectLst/>
                      </a:endParaRPr>
                    </a:p>
                    <a:p>
                      <a:pPr algn="ctr" fontAlgn="auto">
                        <a:spcAft>
                          <a:spcPts val="0"/>
                        </a:spcAft>
                      </a:pPr>
                      <a:r>
                        <a:rPr lang="en-US" sz="1200">
                          <a:effectLst/>
                        </a:rPr>
                        <a:t>(in Tk / kWh)</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03698">
                <a:tc gridSpan="2">
                  <a:txBody>
                    <a:bodyPr/>
                    <a:lstStyle/>
                    <a:p>
                      <a:pPr algn="ctr" fontAlgn="auto">
                        <a:spcAft>
                          <a:spcPts val="0"/>
                        </a:spcAft>
                      </a:pPr>
                      <a:r>
                        <a:rPr lang="en-US" sz="1200">
                          <a:effectLst/>
                        </a:rPr>
                        <a:t>IPP/Rental/Quick Rental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r>
              <a:tr h="203698">
                <a:tc>
                  <a:txBody>
                    <a:bodyPr/>
                    <a:lstStyle/>
                    <a:p>
                      <a:pPr algn="l" fontAlgn="auto">
                        <a:spcAft>
                          <a:spcPts val="0"/>
                        </a:spcAft>
                      </a:pPr>
                      <a:r>
                        <a:rPr lang="en-US" sz="1200">
                          <a:effectLst/>
                        </a:rPr>
                        <a:t>Baraka Patenga</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11.31</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Digital Power</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12.03</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dirty="0">
                          <a:effectLst/>
                        </a:rPr>
                        <a:t>RPCL – </a:t>
                      </a:r>
                      <a:r>
                        <a:rPr lang="en-US" sz="1200" dirty="0" err="1">
                          <a:effectLst/>
                        </a:rPr>
                        <a:t>Gazipur</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17.19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Lakdhanvi Bangla</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15.75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ECPV Power</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9.02</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Sinha People Energy</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12.34</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Summit Barishal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5.49</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IELCONSOURTIUM &amp; ASSOCIATES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14.06</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Energis Power</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effectLst/>
                        </a:rPr>
                        <a:t>16.12</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Dutch Bangla Power &amp; Associates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a:effectLst/>
                        </a:rPr>
                        <a:t>13.65</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10063">
                <a:tc>
                  <a:txBody>
                    <a:bodyPr/>
                    <a:lstStyle/>
                    <a:p>
                      <a:pPr algn="l" fontAlgn="auto">
                        <a:spcAft>
                          <a:spcPts val="0"/>
                        </a:spcAft>
                      </a:pPr>
                      <a:r>
                        <a:rPr lang="en-US" sz="1200">
                          <a:effectLst/>
                        </a:rPr>
                        <a:t>Total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effectLst/>
                        </a:rPr>
                        <a:t>12.56</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sp>
        <p:nvSpPr>
          <p:cNvPr id="13" name="Rectangle 4"/>
          <p:cNvSpPr>
            <a:spLocks noChangeArrowheads="1"/>
          </p:cNvSpPr>
          <p:nvPr/>
        </p:nvSpPr>
        <p:spPr bwMode="auto">
          <a:xfrm>
            <a:off x="439738" y="3159125"/>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sp>
        <p:nvSpPr>
          <p:cNvPr id="6" name="Action Button: Back or Previous 5">
            <a:hlinkClick r:id="rId2" action="ppaction://hlinksldjump" highlightClick="1"/>
          </p:cNvPr>
          <p:cNvSpPr/>
          <p:nvPr/>
        </p:nvSpPr>
        <p:spPr bwMode="gray">
          <a:xfrm>
            <a:off x="10266384" y="676954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 name="Pentagon 6">
            <a:hlinkClick r:id="rId3" action="ppaction://hlinksldjump"/>
          </p:cNvPr>
          <p:cNvSpPr/>
          <p:nvPr/>
        </p:nvSpPr>
        <p:spPr bwMode="gray">
          <a:xfrm flipH="1">
            <a:off x="9863138" y="7237483"/>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218753832"/>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Distribution business</a:t>
            </a:r>
            <a:endParaRPr lang="en-IN" b="1" dirty="0"/>
          </a:p>
        </p:txBody>
      </p:sp>
      <p:sp>
        <p:nvSpPr>
          <p:cNvPr id="5" name="Text Box 48"/>
          <p:cNvSpPr txBox="1"/>
          <p:nvPr/>
        </p:nvSpPr>
        <p:spPr>
          <a:xfrm>
            <a:off x="1437191" y="743445"/>
            <a:ext cx="7814255" cy="3057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a:solidFill>
                  <a:prstClr val="black"/>
                </a:solidFill>
              </a:rPr>
              <a:t>Zone and Circle Wise Average Months Receivable for BPDB Distribution</a:t>
            </a:r>
            <a:endParaRPr lang="en-IN" sz="1400" b="1" dirty="0">
              <a:solidFill>
                <a:prstClr val="black"/>
              </a:solidFill>
              <a:ea typeface="Times" panose="02020603050405020304" pitchFamily="18" charset="0"/>
              <a:cs typeface="Arial" panose="020B0604020202020204" pitchFamily="34" charset="0"/>
            </a:endParaRPr>
          </a:p>
        </p:txBody>
      </p:sp>
      <p:sp>
        <p:nvSpPr>
          <p:cNvPr id="8" name="TextBox 7"/>
          <p:cNvSpPr txBox="1"/>
          <p:nvPr/>
        </p:nvSpPr>
        <p:spPr>
          <a:xfrm>
            <a:off x="439790" y="4712839"/>
            <a:ext cx="9809162" cy="2768731"/>
          </a:xfrm>
          <a:prstGeom prst="rect">
            <a:avLst/>
          </a:prstGeom>
          <a:solidFill>
            <a:srgbClr val="92D050"/>
          </a:solidFill>
        </p:spPr>
        <p:txBody>
          <a:bodyPr wrap="square" lIns="36000" tIns="0" rIns="36000" bIns="0" rtlCol="0" anchor="ctr">
            <a:noAutofit/>
          </a:bodyPr>
          <a:lstStyle/>
          <a:p>
            <a:pPr marL="285750" indent="-285750" algn="just">
              <a:lnSpc>
                <a:spcPct val="114000"/>
              </a:lnSpc>
              <a:spcAft>
                <a:spcPts val="600"/>
              </a:spcAft>
              <a:buFont typeface="Arial" panose="020B0604020202020204" pitchFamily="34" charset="0"/>
              <a:buChar char="•"/>
            </a:pPr>
            <a:r>
              <a:rPr lang="en-US" sz="1600" dirty="0" err="1" smtClean="0">
                <a:solidFill>
                  <a:prstClr val="black"/>
                </a:solidFill>
              </a:rPr>
              <a:t>Mymensingh</a:t>
            </a:r>
            <a:r>
              <a:rPr lang="en-US" sz="1600" dirty="0">
                <a:solidFill>
                  <a:prstClr val="black"/>
                </a:solidFill>
              </a:rPr>
              <a:t>, Sylhet and Rangpur zones contribute ~29.55% of the total billed amount for BPDB. Their Collection Import ratio has been the lowest among all of BPDB Zones in the last 5 </a:t>
            </a:r>
            <a:r>
              <a:rPr lang="en-US" sz="1600" dirty="0" smtClean="0">
                <a:solidFill>
                  <a:prstClr val="black"/>
                </a:solidFill>
              </a:rPr>
              <a:t>years.</a:t>
            </a:r>
          </a:p>
          <a:p>
            <a:pPr marL="285750" indent="-285750" algn="just">
              <a:lnSpc>
                <a:spcPct val="114000"/>
              </a:lnSpc>
              <a:spcAft>
                <a:spcPts val="600"/>
              </a:spcAft>
              <a:buFont typeface="Arial" panose="020B0604020202020204" pitchFamily="34" charset="0"/>
              <a:buChar char="•"/>
            </a:pPr>
            <a:r>
              <a:rPr lang="en-US" sz="1600" dirty="0" smtClean="0">
                <a:solidFill>
                  <a:prstClr val="black"/>
                </a:solidFill>
              </a:rPr>
              <a:t>In </a:t>
            </a:r>
            <a:r>
              <a:rPr lang="en-US" sz="1600" dirty="0">
                <a:solidFill>
                  <a:prstClr val="black"/>
                </a:solidFill>
              </a:rPr>
              <a:t>addition, the average months receivable for all these circles have also increased steadily over the </a:t>
            </a:r>
            <a:r>
              <a:rPr lang="en-US" sz="1600" dirty="0" smtClean="0">
                <a:solidFill>
                  <a:prstClr val="black"/>
                </a:solidFill>
              </a:rPr>
              <a:t>years.</a:t>
            </a:r>
          </a:p>
          <a:p>
            <a:pPr marL="285750" indent="-285750" algn="just">
              <a:lnSpc>
                <a:spcPct val="114000"/>
              </a:lnSpc>
              <a:spcAft>
                <a:spcPts val="600"/>
              </a:spcAft>
              <a:buFont typeface="Arial" panose="020B0604020202020204" pitchFamily="34" charset="0"/>
              <a:buChar char="•"/>
            </a:pPr>
            <a:r>
              <a:rPr lang="en-US" sz="1600" dirty="0" smtClean="0">
                <a:solidFill>
                  <a:prstClr val="black"/>
                </a:solidFill>
              </a:rPr>
              <a:t>Circles </a:t>
            </a:r>
            <a:r>
              <a:rPr lang="en-US" sz="1600" dirty="0">
                <a:solidFill>
                  <a:prstClr val="black"/>
                </a:solidFill>
              </a:rPr>
              <a:t>such as O&amp;M </a:t>
            </a:r>
            <a:r>
              <a:rPr lang="en-US" sz="1600" dirty="0" err="1">
                <a:solidFill>
                  <a:prstClr val="black"/>
                </a:solidFill>
              </a:rPr>
              <a:t>Mymensingh</a:t>
            </a:r>
            <a:r>
              <a:rPr lang="en-US" sz="1600" dirty="0">
                <a:solidFill>
                  <a:prstClr val="black"/>
                </a:solidFill>
              </a:rPr>
              <a:t>, O&amp;M </a:t>
            </a:r>
            <a:r>
              <a:rPr lang="en-US" sz="1600" dirty="0" err="1">
                <a:solidFill>
                  <a:prstClr val="black"/>
                </a:solidFill>
              </a:rPr>
              <a:t>Tangail</a:t>
            </a:r>
            <a:r>
              <a:rPr lang="en-US" sz="1600" dirty="0">
                <a:solidFill>
                  <a:prstClr val="black"/>
                </a:solidFill>
              </a:rPr>
              <a:t>, O&amp;M </a:t>
            </a:r>
            <a:r>
              <a:rPr lang="en-US" sz="1600" dirty="0" err="1">
                <a:solidFill>
                  <a:prstClr val="black"/>
                </a:solidFill>
              </a:rPr>
              <a:t>Moulvibazar</a:t>
            </a:r>
            <a:r>
              <a:rPr lang="en-US" sz="1600" dirty="0">
                <a:solidFill>
                  <a:prstClr val="black"/>
                </a:solidFill>
              </a:rPr>
              <a:t> and O&amp;M Rangpur have more 1/5th share (20.29%) in BPDB Distribution’s total billed amount. Their average receivable is about ~5 months and more. This is creating collection and liquidity issue for BPDB.</a:t>
            </a:r>
          </a:p>
        </p:txBody>
      </p:sp>
      <p:graphicFrame>
        <p:nvGraphicFramePr>
          <p:cNvPr id="2" name="Table 1"/>
          <p:cNvGraphicFramePr>
            <a:graphicFrameLocks noGrp="1"/>
          </p:cNvGraphicFramePr>
          <p:nvPr>
            <p:extLst/>
          </p:nvPr>
        </p:nvGraphicFramePr>
        <p:xfrm>
          <a:off x="439790" y="1049251"/>
          <a:ext cx="9785953" cy="3602244"/>
        </p:xfrm>
        <a:graphic>
          <a:graphicData uri="http://schemas.openxmlformats.org/drawingml/2006/table">
            <a:tbl>
              <a:tblPr firstRow="1" firstCol="1" bandRow="1">
                <a:tableStyleId>{5C22544A-7EE6-4342-B048-85BDC9FD1C3A}</a:tableStyleId>
              </a:tblPr>
              <a:tblGrid>
                <a:gridCol w="2140779"/>
                <a:gridCol w="1699169"/>
                <a:gridCol w="1848903"/>
                <a:gridCol w="1999724"/>
                <a:gridCol w="2097378"/>
              </a:tblGrid>
              <a:tr h="288684">
                <a:tc gridSpan="5">
                  <a:txBody>
                    <a:bodyPr/>
                    <a:lstStyle/>
                    <a:p>
                      <a:pPr algn="ctr" fontAlgn="auto">
                        <a:spcAft>
                          <a:spcPts val="0"/>
                        </a:spcAft>
                      </a:pPr>
                      <a:r>
                        <a:rPr lang="en-US" sz="1400" dirty="0">
                          <a:effectLst/>
                        </a:rPr>
                        <a:t>Average months receivable (in months)</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r>
              <a:tr h="418343">
                <a:tc>
                  <a:txBody>
                    <a:bodyPr/>
                    <a:lstStyle/>
                    <a:p>
                      <a:pPr algn="just" fontAlgn="auto">
                        <a:spcAft>
                          <a:spcPts val="0"/>
                        </a:spcAft>
                      </a:pPr>
                      <a:r>
                        <a:rPr lang="en-US" sz="1400">
                          <a:effectLst/>
                        </a:rPr>
                        <a:t>Zone / Circle</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FY13-14</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a:effectLst/>
                        </a:rPr>
                        <a:t>FY14-15</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FY15-16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 share in Billed Amount in FY15-16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dirty="0">
                          <a:effectLst/>
                        </a:rPr>
                        <a:t>O&amp;M </a:t>
                      </a:r>
                      <a:r>
                        <a:rPr lang="en-US" sz="1400" dirty="0" err="1">
                          <a:effectLst/>
                        </a:rPr>
                        <a:t>Mymensingh</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4.89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5.63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5.97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8.32%</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O&amp;M Tangail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4.63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4.50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5.44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4.38%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Mymensingh Total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4.80</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5.25</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5.79</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12.70%</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O&amp;M Sylhet</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3.49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3.37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3.93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5.39%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O&amp;M Moulvibazar</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3.59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4.81</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4.99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1.88%</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Sylhet Total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3.59</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3.73</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4.20</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7.27%</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O&amp;M Rangpur</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5.10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5.74</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5.93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5.69%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O&amp;M Dinajpur</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2.65</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2.77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2.57</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3.89%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a:effectLst/>
                        </a:rPr>
                        <a:t>Rangpur Total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4.08</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4.56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4.56</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9.58%</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8684">
                <a:tc>
                  <a:txBody>
                    <a:bodyPr/>
                    <a:lstStyle/>
                    <a:p>
                      <a:pPr algn="just" fontAlgn="auto">
                        <a:spcAft>
                          <a:spcPts val="0"/>
                        </a:spcAft>
                      </a:pPr>
                      <a:r>
                        <a:rPr lang="en-US" sz="1400" dirty="0">
                          <a:effectLst/>
                        </a:rPr>
                        <a:t>TOTAL</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a:effectLst/>
                        </a:rPr>
                        <a:t>4.24</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a:effectLst/>
                        </a:rPr>
                        <a:t>4.61</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a:effectLst/>
                        </a:rPr>
                        <a:t>5.01</a:t>
                      </a:r>
                      <a:endParaRPr lang="en-IN" sz="14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b="1" dirty="0">
                          <a:effectLst/>
                        </a:rPr>
                        <a:t>29.55%</a:t>
                      </a:r>
                      <a:endParaRPr lang="en-IN" sz="14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sp>
        <p:nvSpPr>
          <p:cNvPr id="6" name="Rectangle 1"/>
          <p:cNvSpPr>
            <a:spLocks noChangeArrowheads="1"/>
          </p:cNvSpPr>
          <p:nvPr/>
        </p:nvSpPr>
        <p:spPr bwMode="auto">
          <a:xfrm>
            <a:off x="2481263" y="2989263"/>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sp>
        <p:nvSpPr>
          <p:cNvPr id="7" name="Pentagon 6">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02086703"/>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Distribution business</a:t>
            </a:r>
            <a:endParaRPr lang="en-IN" b="1" dirty="0"/>
          </a:p>
        </p:txBody>
      </p:sp>
      <p:sp>
        <p:nvSpPr>
          <p:cNvPr id="5" name="Text Box 48"/>
          <p:cNvSpPr txBox="1"/>
          <p:nvPr/>
        </p:nvSpPr>
        <p:spPr>
          <a:xfrm>
            <a:off x="1437191" y="743445"/>
            <a:ext cx="7814255" cy="3057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rPr>
              <a:t>Ratio </a:t>
            </a:r>
            <a:r>
              <a:rPr lang="en-US" sz="1400" b="1" dirty="0">
                <a:solidFill>
                  <a:prstClr val="black"/>
                </a:solidFill>
              </a:rPr>
              <a:t>Comparison of Distribution Companies of </a:t>
            </a:r>
            <a:r>
              <a:rPr lang="en-US" sz="1400" b="1" dirty="0" smtClean="0">
                <a:solidFill>
                  <a:prstClr val="black"/>
                </a:solidFill>
              </a:rPr>
              <a:t>Bangladesh (1/3)</a:t>
            </a:r>
            <a:endParaRPr lang="en-IN" sz="1400" b="1" dirty="0">
              <a:solidFill>
                <a:prstClr val="black"/>
              </a:solidFill>
              <a:ea typeface="Times" panose="02020603050405020304" pitchFamily="18" charset="0"/>
              <a:cs typeface="Arial" panose="020B0604020202020204" pitchFamily="34" charset="0"/>
            </a:endParaRPr>
          </a:p>
        </p:txBody>
      </p:sp>
      <p:sp>
        <p:nvSpPr>
          <p:cNvPr id="8" name="TextBox 7"/>
          <p:cNvSpPr txBox="1"/>
          <p:nvPr/>
        </p:nvSpPr>
        <p:spPr>
          <a:xfrm>
            <a:off x="416581" y="5901560"/>
            <a:ext cx="9809162" cy="1306228"/>
          </a:xfrm>
          <a:prstGeom prst="rect">
            <a:avLst/>
          </a:prstGeom>
          <a:solidFill>
            <a:srgbClr val="92D050"/>
          </a:solidFill>
        </p:spPr>
        <p:txBody>
          <a:bodyPr wrap="square" lIns="36000" tIns="0" rIns="36000" bIns="0" rtlCol="0" anchor="ctr">
            <a:noAutofit/>
          </a:bodyPr>
          <a:lstStyle/>
          <a:p>
            <a:pPr marL="285750" indent="-285750" algn="just">
              <a:lnSpc>
                <a:spcPct val="114000"/>
              </a:lnSpc>
              <a:spcAft>
                <a:spcPts val="600"/>
              </a:spcAft>
              <a:buFont typeface="Arial" panose="020B0604020202020204" pitchFamily="34" charset="0"/>
              <a:buChar char="•"/>
            </a:pPr>
            <a:r>
              <a:rPr lang="en-US" sz="1600" dirty="0" smtClean="0">
                <a:solidFill>
                  <a:prstClr val="black"/>
                </a:solidFill>
              </a:rPr>
              <a:t>The </a:t>
            </a:r>
            <a:r>
              <a:rPr lang="en-US" sz="1600" dirty="0">
                <a:solidFill>
                  <a:prstClr val="black"/>
                </a:solidFill>
              </a:rPr>
              <a:t>fixed asset turnover ratio is highest for BPDB which means that utilization of fixed asset is lowest.</a:t>
            </a:r>
          </a:p>
          <a:p>
            <a:pPr marL="285750" indent="-285750" algn="just">
              <a:lnSpc>
                <a:spcPct val="114000"/>
              </a:lnSpc>
              <a:spcAft>
                <a:spcPts val="600"/>
              </a:spcAft>
              <a:buFont typeface="Arial" panose="020B0604020202020204" pitchFamily="34" charset="0"/>
              <a:buChar char="•"/>
            </a:pPr>
            <a:r>
              <a:rPr lang="en-US" sz="1600" dirty="0" smtClean="0">
                <a:solidFill>
                  <a:prstClr val="black"/>
                </a:solidFill>
              </a:rPr>
              <a:t>The </a:t>
            </a:r>
            <a:r>
              <a:rPr lang="en-US" sz="1600" dirty="0">
                <a:solidFill>
                  <a:prstClr val="black"/>
                </a:solidFill>
              </a:rPr>
              <a:t>receivables days is significantly higher for BPDB Distribution and Collection Import ratio is also the lowest. This creates cash flow and liquidity issue for </a:t>
            </a:r>
            <a:r>
              <a:rPr lang="en-US" sz="1600" dirty="0" smtClean="0">
                <a:solidFill>
                  <a:prstClr val="black"/>
                </a:solidFill>
              </a:rPr>
              <a:t>BPDB</a:t>
            </a:r>
            <a:endParaRPr lang="en-US" sz="1600" dirty="0">
              <a:solidFill>
                <a:prstClr val="black"/>
              </a:solidFill>
            </a:endParaRPr>
          </a:p>
        </p:txBody>
      </p:sp>
      <p:sp>
        <p:nvSpPr>
          <p:cNvPr id="6" name="Rectangle 1"/>
          <p:cNvSpPr>
            <a:spLocks noChangeArrowheads="1"/>
          </p:cNvSpPr>
          <p:nvPr/>
        </p:nvSpPr>
        <p:spPr bwMode="auto">
          <a:xfrm>
            <a:off x="2481263" y="2989263"/>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sp>
        <p:nvSpPr>
          <p:cNvPr id="7" name="Rectangle 1"/>
          <p:cNvSpPr>
            <a:spLocks noChangeArrowheads="1"/>
          </p:cNvSpPr>
          <p:nvPr/>
        </p:nvSpPr>
        <p:spPr bwMode="auto">
          <a:xfrm>
            <a:off x="2532063" y="2597150"/>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graphicFrame>
        <p:nvGraphicFramePr>
          <p:cNvPr id="2" name="Table 1"/>
          <p:cNvGraphicFramePr>
            <a:graphicFrameLocks noGrp="1"/>
          </p:cNvGraphicFramePr>
          <p:nvPr>
            <p:extLst/>
          </p:nvPr>
        </p:nvGraphicFramePr>
        <p:xfrm>
          <a:off x="439738" y="1049245"/>
          <a:ext cx="9809162" cy="2237139"/>
        </p:xfrm>
        <a:graphic>
          <a:graphicData uri="http://schemas.openxmlformats.org/drawingml/2006/table">
            <a:tbl>
              <a:tblPr firstRow="1" firstCol="1" bandRow="1">
                <a:tableStyleId>{5C22544A-7EE6-4342-B048-85BDC9FD1C3A}</a:tableStyleId>
              </a:tblPr>
              <a:tblGrid>
                <a:gridCol w="2709862"/>
                <a:gridCol w="2993185"/>
                <a:gridCol w="1390939"/>
                <a:gridCol w="772962"/>
                <a:gridCol w="924023"/>
                <a:gridCol w="1018191"/>
              </a:tblGrid>
              <a:tr h="500192">
                <a:tc>
                  <a:txBody>
                    <a:bodyPr/>
                    <a:lstStyle/>
                    <a:p>
                      <a:pPr algn="just" fontAlgn="auto">
                        <a:spcAft>
                          <a:spcPts val="0"/>
                        </a:spcAft>
                      </a:pPr>
                      <a:r>
                        <a:rPr lang="en-IN" sz="1400" dirty="0">
                          <a:effectLst/>
                        </a:rPr>
                        <a:t>Particulars</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Formula</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BPDB Distribution</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DPDC</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DESCO</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WZPDCL</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09843">
                <a:tc gridSpan="6">
                  <a:txBody>
                    <a:bodyPr/>
                    <a:lstStyle/>
                    <a:p>
                      <a:pPr algn="ctr" fontAlgn="auto">
                        <a:spcAft>
                          <a:spcPts val="0"/>
                        </a:spcAft>
                      </a:pPr>
                      <a:r>
                        <a:rPr lang="en-US" sz="1400" dirty="0">
                          <a:effectLst/>
                        </a:rPr>
                        <a:t>Turnover </a:t>
                      </a:r>
                      <a:r>
                        <a:rPr lang="en-US" sz="1400" dirty="0" smtClean="0">
                          <a:effectLst/>
                        </a:rPr>
                        <a:t>Ratios (2014-15)</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r>
              <a:tr h="359844">
                <a:tc>
                  <a:txBody>
                    <a:bodyPr/>
                    <a:lstStyle/>
                    <a:p>
                      <a:pPr algn="just" fontAlgn="auto">
                        <a:spcAft>
                          <a:spcPts val="0"/>
                        </a:spcAft>
                      </a:pPr>
                      <a:r>
                        <a:rPr lang="en-IN" sz="1400">
                          <a:effectLst/>
                        </a:rPr>
                        <a:t>Fixed Assets Turnover Ratio</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a:effectLst/>
                        </a:rPr>
                        <a:t>Sales / Net Fixed Assets</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1.29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1.79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2.45</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1.09</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1000384">
                <a:tc>
                  <a:txBody>
                    <a:bodyPr/>
                    <a:lstStyle/>
                    <a:p>
                      <a:pPr algn="just" fontAlgn="auto">
                        <a:spcAft>
                          <a:spcPts val="0"/>
                        </a:spcAft>
                      </a:pPr>
                      <a:r>
                        <a:rPr lang="en-IN" sz="1400">
                          <a:effectLst/>
                        </a:rPr>
                        <a:t>Receivable days (considering total receivables as per Balance Sheet)</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400" dirty="0">
                          <a:effectLst/>
                        </a:rPr>
                        <a:t>(365 x (Receivable at beginning of year + Receivables at end of year) / Credit Sales</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140.93</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81.06</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a:effectLst/>
                        </a:rPr>
                        <a:t>46.30</a:t>
                      </a:r>
                      <a:endParaRPr lang="en-IN" sz="14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400" dirty="0">
                          <a:effectLst/>
                        </a:rPr>
                        <a:t>74.03</a:t>
                      </a:r>
                      <a:endParaRPr lang="en-IN" sz="14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bl>
          </a:graphicData>
        </a:graphic>
      </p:graphicFrame>
      <p:graphicFrame>
        <p:nvGraphicFramePr>
          <p:cNvPr id="9" name="Chart 8"/>
          <p:cNvGraphicFramePr/>
          <p:nvPr>
            <p:extLst/>
          </p:nvPr>
        </p:nvGraphicFramePr>
        <p:xfrm>
          <a:off x="589280" y="3618748"/>
          <a:ext cx="4602480"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Box 83"/>
          <p:cNvSpPr txBox="1"/>
          <p:nvPr/>
        </p:nvSpPr>
        <p:spPr>
          <a:xfrm>
            <a:off x="1462564" y="3346492"/>
            <a:ext cx="3221196" cy="199244"/>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smtClean="0">
                <a:solidFill>
                  <a:prstClr val="black"/>
                </a:solidFill>
                <a:ea typeface="Times" panose="02020603050405020304" pitchFamily="18" charset="0"/>
                <a:cs typeface="Arial" panose="020B0604020202020204" pitchFamily="34" charset="0"/>
              </a:rPr>
              <a:t>Distribution </a:t>
            </a:r>
            <a:r>
              <a:rPr lang="en-US" sz="1400" b="1" dirty="0">
                <a:solidFill>
                  <a:prstClr val="black"/>
                </a:solidFill>
                <a:ea typeface="Times" panose="02020603050405020304" pitchFamily="18" charset="0"/>
                <a:cs typeface="Arial" panose="020B0604020202020204" pitchFamily="34" charset="0"/>
              </a:rPr>
              <a:t>Loss Comparison</a:t>
            </a:r>
            <a:endParaRPr lang="en-IN" sz="1400" b="1" dirty="0">
              <a:solidFill>
                <a:prstClr val="black"/>
              </a:solidFill>
              <a:ea typeface="Times" panose="02020603050405020304" pitchFamily="18" charset="0"/>
              <a:cs typeface="Arial" panose="020B0604020202020204" pitchFamily="34" charset="0"/>
            </a:endParaRPr>
          </a:p>
        </p:txBody>
      </p:sp>
      <p:graphicFrame>
        <p:nvGraphicFramePr>
          <p:cNvPr id="11" name="Chart 10"/>
          <p:cNvGraphicFramePr/>
          <p:nvPr>
            <p:extLst/>
          </p:nvPr>
        </p:nvGraphicFramePr>
        <p:xfrm>
          <a:off x="5476240" y="3618748"/>
          <a:ext cx="4460239" cy="22098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Box 84"/>
          <p:cNvSpPr txBox="1"/>
          <p:nvPr/>
        </p:nvSpPr>
        <p:spPr>
          <a:xfrm>
            <a:off x="5588000" y="3344904"/>
            <a:ext cx="4546303" cy="20083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defPPr>
              <a:defRPr lang="en-US"/>
            </a:defPPr>
            <a:lvl1pPr algn="ctr">
              <a:spcAft>
                <a:spcPts val="1000"/>
              </a:spcAft>
              <a:defRPr sz="1400" b="1">
                <a:effectLst/>
                <a:ea typeface="Times" panose="02020603050405020304" pitchFamily="18" charset="0"/>
                <a:cs typeface="Arial" panose="020B0604020202020204" pitchFamily="34" charset="0"/>
              </a:defRPr>
            </a:lvl1pPr>
          </a:lstStyle>
          <a:p>
            <a:r>
              <a:rPr lang="en-US" dirty="0">
                <a:solidFill>
                  <a:prstClr val="black"/>
                </a:solidFill>
              </a:rPr>
              <a:t>Collection Import Efficiency Comparison</a:t>
            </a:r>
            <a:endParaRPr lang="en-IN" dirty="0">
              <a:solidFill>
                <a:prstClr val="black"/>
              </a:solidFill>
            </a:endParaRPr>
          </a:p>
        </p:txBody>
      </p:sp>
      <p:sp>
        <p:nvSpPr>
          <p:cNvPr id="13" name="Pentagon 12">
            <a:hlinkClick r:id="rId4"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629417753"/>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Commercial assessment – Distribution business</a:t>
            </a:r>
            <a:endParaRPr lang="en-IN" b="1" dirty="0"/>
          </a:p>
        </p:txBody>
      </p:sp>
      <p:sp>
        <p:nvSpPr>
          <p:cNvPr id="5" name="Text Box 48"/>
          <p:cNvSpPr txBox="1"/>
          <p:nvPr/>
        </p:nvSpPr>
        <p:spPr>
          <a:xfrm>
            <a:off x="1792384" y="987285"/>
            <a:ext cx="7103868" cy="3057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400" b="1" dirty="0">
                <a:solidFill>
                  <a:prstClr val="black"/>
                </a:solidFill>
              </a:rPr>
              <a:t>Collection Import Ratio of BPDB Distribution Zones</a:t>
            </a:r>
            <a:endParaRPr lang="en-IN" sz="1400" b="1" dirty="0">
              <a:solidFill>
                <a:prstClr val="black"/>
              </a:solidFill>
              <a:ea typeface="Times" panose="02020603050405020304" pitchFamily="18" charset="0"/>
              <a:cs typeface="Arial" panose="020B0604020202020204" pitchFamily="34" charset="0"/>
            </a:endParaRPr>
          </a:p>
        </p:txBody>
      </p:sp>
      <p:sp>
        <p:nvSpPr>
          <p:cNvPr id="4" name="Rectangle 1"/>
          <p:cNvSpPr>
            <a:spLocks noChangeArrowheads="1"/>
          </p:cNvSpPr>
          <p:nvPr/>
        </p:nvSpPr>
        <p:spPr bwMode="auto">
          <a:xfrm>
            <a:off x="2481263" y="3744913"/>
            <a:ext cx="10688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800" smtClean="0">
                <a:solidFill>
                  <a:prstClr val="black"/>
                </a:solidFill>
                <a:latin typeface="Arial" panose="020B0604020202020204" pitchFamily="34" charset="0"/>
              </a:rPr>
              <a:t/>
            </a:r>
            <a:br>
              <a:rPr lang="en-US" altLang="en-US" sz="1800" smtClean="0">
                <a:solidFill>
                  <a:prstClr val="black"/>
                </a:solidFill>
                <a:latin typeface="Arial" panose="020B0604020202020204" pitchFamily="34" charset="0"/>
              </a:rPr>
            </a:br>
            <a:endParaRPr lang="en-US" altLang="en-US" sz="1800" smtClean="0">
              <a:solidFill>
                <a:prstClr val="black"/>
              </a:solidFill>
              <a:latin typeface="Arial" panose="020B0604020202020204" pitchFamily="34" charset="0"/>
            </a:endParaRPr>
          </a:p>
        </p:txBody>
      </p:sp>
      <p:graphicFrame>
        <p:nvGraphicFramePr>
          <p:cNvPr id="7" name="Chart 6"/>
          <p:cNvGraphicFramePr/>
          <p:nvPr>
            <p:extLst/>
          </p:nvPr>
        </p:nvGraphicFramePr>
        <p:xfrm>
          <a:off x="439792" y="1412239"/>
          <a:ext cx="9785952" cy="4277361"/>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439792" y="6077588"/>
            <a:ext cx="9809162" cy="802003"/>
          </a:xfrm>
          <a:prstGeom prst="rect">
            <a:avLst/>
          </a:prstGeom>
          <a:solidFill>
            <a:srgbClr val="92D050"/>
          </a:solidFill>
        </p:spPr>
        <p:txBody>
          <a:bodyPr wrap="square" lIns="36000" tIns="0" rIns="36000" bIns="0" rtlCol="0" anchor="ctr">
            <a:noAutofit/>
          </a:bodyPr>
          <a:lstStyle/>
          <a:p>
            <a:pPr algn="just">
              <a:lnSpc>
                <a:spcPct val="114000"/>
              </a:lnSpc>
              <a:spcAft>
                <a:spcPts val="600"/>
              </a:spcAft>
            </a:pPr>
            <a:r>
              <a:rPr lang="en-US" sz="1600" dirty="0" smtClean="0">
                <a:solidFill>
                  <a:prstClr val="black"/>
                </a:solidFill>
              </a:rPr>
              <a:t>Zones namely, </a:t>
            </a:r>
            <a:r>
              <a:rPr lang="en-US" sz="1600" dirty="0" err="1" smtClean="0">
                <a:solidFill>
                  <a:prstClr val="black"/>
                </a:solidFill>
              </a:rPr>
              <a:t>Mymensingh</a:t>
            </a:r>
            <a:r>
              <a:rPr lang="en-US" sz="1600" dirty="0" smtClean="0">
                <a:solidFill>
                  <a:prstClr val="black"/>
                </a:solidFill>
              </a:rPr>
              <a:t>, Sylhet and Rangpur performed comparatively poorer since past 5 years in terms of Collection-Import ratio</a:t>
            </a:r>
            <a:endParaRPr lang="en-US" sz="1600" dirty="0">
              <a:solidFill>
                <a:prstClr val="black"/>
              </a:solidFill>
            </a:endParaRPr>
          </a:p>
        </p:txBody>
      </p:sp>
      <p:sp>
        <p:nvSpPr>
          <p:cNvPr id="9" name="Pentagon 8">
            <a:hlinkClick r:id="rId3"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350997149"/>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insight – Relationship of BPDB with its subsidiaries (1/2)</a:t>
            </a:r>
            <a:endParaRPr lang="en-IN" b="1" dirty="0"/>
          </a:p>
        </p:txBody>
      </p:sp>
      <p:graphicFrame>
        <p:nvGraphicFramePr>
          <p:cNvPr id="2" name="Table 1"/>
          <p:cNvGraphicFramePr>
            <a:graphicFrameLocks noGrp="1"/>
          </p:cNvGraphicFramePr>
          <p:nvPr>
            <p:extLst/>
          </p:nvPr>
        </p:nvGraphicFramePr>
        <p:xfrm>
          <a:off x="439790" y="858419"/>
          <a:ext cx="9785955" cy="6035726"/>
        </p:xfrm>
        <a:graphic>
          <a:graphicData uri="http://schemas.openxmlformats.org/drawingml/2006/table">
            <a:tbl>
              <a:tblPr firstRow="1" firstCol="1">
                <a:tableStyleId>{5C22544A-7EE6-4342-B048-85BDC9FD1C3A}</a:tableStyleId>
              </a:tblPr>
              <a:tblGrid>
                <a:gridCol w="2228106"/>
                <a:gridCol w="1209160"/>
                <a:gridCol w="1209160"/>
                <a:gridCol w="1209160"/>
                <a:gridCol w="1209160"/>
                <a:gridCol w="1209160"/>
                <a:gridCol w="1512049"/>
              </a:tblGrid>
              <a:tr h="464771">
                <a:tc>
                  <a:txBody>
                    <a:bodyPr/>
                    <a:lstStyle/>
                    <a:p>
                      <a:pPr algn="l">
                        <a:lnSpc>
                          <a:spcPct val="115000"/>
                        </a:lnSpc>
                        <a:spcAft>
                          <a:spcPts val="0"/>
                        </a:spcAft>
                      </a:pPr>
                      <a:r>
                        <a:rPr lang="en-IN" sz="1400" dirty="0">
                          <a:effectLst/>
                        </a:rPr>
                        <a:t>Aspects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APSCL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NWPGCL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PGCB</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EGCB</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WZPDCL</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9763">
                <a:tc>
                  <a:txBody>
                    <a:bodyPr/>
                    <a:lstStyle/>
                    <a:p>
                      <a:pPr algn="l">
                        <a:lnSpc>
                          <a:spcPct val="115000"/>
                        </a:lnSpc>
                        <a:spcAft>
                          <a:spcPts val="0"/>
                        </a:spcAft>
                      </a:pPr>
                      <a:r>
                        <a:rPr lang="en-IN" sz="1400">
                          <a:effectLst/>
                        </a:rPr>
                        <a:t>BPDB’s shareholding</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99.99%</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dirty="0">
                          <a:effectLst/>
                        </a:rPr>
                        <a:t>100%</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76.25%</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99.5%</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99.99%</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dirty="0">
                          <a:effectLst/>
                        </a:rPr>
                        <a:t>No </a:t>
                      </a:r>
                      <a:r>
                        <a:rPr lang="en-IN" sz="1400" dirty="0" smtClean="0">
                          <a:effectLst/>
                        </a:rPr>
                        <a:t>information</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24408">
                <a:tc>
                  <a:txBody>
                    <a:bodyPr/>
                    <a:lstStyle/>
                    <a:p>
                      <a:pPr algn="l">
                        <a:lnSpc>
                          <a:spcPct val="115000"/>
                        </a:lnSpc>
                        <a:spcAft>
                          <a:spcPts val="0"/>
                        </a:spcAft>
                      </a:pPr>
                      <a:r>
                        <a:rPr lang="en-IN" sz="1400" dirty="0">
                          <a:effectLst/>
                        </a:rPr>
                        <a:t>Representation of BPDB in subsidiary’s Board as per </a:t>
                      </a:r>
                      <a:r>
                        <a:rPr lang="en-IN" sz="1400" dirty="0" err="1">
                          <a:effectLst/>
                        </a:rPr>
                        <a:t>AoA</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3 out of (9 to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4 out of (9 to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7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7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6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a:effectLst/>
                        </a:rPr>
                        <a:t>Subject to </a:t>
                      </a:r>
                      <a:r>
                        <a:rPr lang="en-IN" sz="1400" dirty="0" smtClean="0">
                          <a:effectLst/>
                        </a:rPr>
                        <a:t>Government’s </a:t>
                      </a:r>
                      <a:r>
                        <a:rPr lang="en-IN" sz="1400" dirty="0">
                          <a:effectLst/>
                        </a:rPr>
                        <a:t>appointment of the Directors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04483">
                <a:tc>
                  <a:txBody>
                    <a:bodyPr/>
                    <a:lstStyle/>
                    <a:p>
                      <a:pPr algn="l">
                        <a:lnSpc>
                          <a:spcPct val="115000"/>
                        </a:lnSpc>
                        <a:spcAft>
                          <a:spcPts val="0"/>
                        </a:spcAft>
                      </a:pPr>
                      <a:r>
                        <a:rPr lang="en-IN" sz="1400">
                          <a:effectLst/>
                        </a:rPr>
                        <a:t>Actual representation of BPDB in subsidiary’s Board</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3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2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1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2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4 </a:t>
                      </a:r>
                      <a:r>
                        <a:rPr lang="en-IN" sz="1400" dirty="0">
                          <a:effectLst/>
                        </a:rPr>
                        <a:t>out of </a:t>
                      </a:r>
                      <a:r>
                        <a:rPr lang="en-IN" sz="1400" dirty="0" smtClean="0">
                          <a:effectLst/>
                        </a:rPr>
                        <a:t>11</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 information</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655904">
                <a:tc>
                  <a:txBody>
                    <a:bodyPr/>
                    <a:lstStyle/>
                    <a:p>
                      <a:pPr algn="l">
                        <a:lnSpc>
                          <a:spcPct val="115000"/>
                        </a:lnSpc>
                        <a:spcAft>
                          <a:spcPts val="0"/>
                        </a:spcAft>
                      </a:pPr>
                      <a:r>
                        <a:rPr lang="en-IN" sz="1400">
                          <a:effectLst/>
                        </a:rPr>
                        <a:t>Quorum (as per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&gt; 50</a:t>
                      </a:r>
                      <a:r>
                        <a:rPr lang="en-IN" sz="1400" dirty="0">
                          <a:effectLst/>
                        </a:rPr>
                        <a:t>% </a:t>
                      </a:r>
                      <a:r>
                        <a:rPr lang="en-IN" sz="1400" dirty="0" smtClean="0">
                          <a:effectLst/>
                        </a:rPr>
                        <a:t>of </a:t>
                      </a:r>
                      <a:r>
                        <a:rPr lang="en-IN" sz="1400" dirty="0">
                          <a:effectLst/>
                        </a:rPr>
                        <a:t>Directors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Majority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5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5 members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5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3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24408">
                <a:tc>
                  <a:txBody>
                    <a:bodyPr/>
                    <a:lstStyle/>
                    <a:p>
                      <a:pPr algn="l">
                        <a:lnSpc>
                          <a:spcPct val="115000"/>
                        </a:lnSpc>
                        <a:spcAft>
                          <a:spcPts val="0"/>
                        </a:spcAft>
                      </a:pPr>
                      <a:r>
                        <a:rPr lang="en-IN" sz="1400">
                          <a:effectLst/>
                        </a:rPr>
                        <a:t>Voting power of BPDB in subsidiary’s Board as per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Majority </a:t>
                      </a:r>
                      <a:r>
                        <a:rPr lang="en-IN" sz="1400" dirty="0" smtClean="0">
                          <a:effectLst/>
                        </a:rPr>
                        <a:t>/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smtClean="0">
                          <a:effectLst/>
                        </a:rPr>
                        <a:t>Majority /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Majority /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Subject to Government’s appointment of the Directors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11989">
                <a:tc>
                  <a:txBody>
                    <a:bodyPr/>
                    <a:lstStyle/>
                    <a:p>
                      <a:pPr algn="l">
                        <a:lnSpc>
                          <a:spcPct val="115000"/>
                        </a:lnSpc>
                        <a:spcAft>
                          <a:spcPts val="0"/>
                        </a:spcAft>
                      </a:pPr>
                      <a:r>
                        <a:rPr lang="en-IN" sz="1400" dirty="0">
                          <a:effectLst/>
                        </a:rPr>
                        <a:t>Voting power of BPDB in subsidiary’s Board as per actual scenario</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No information</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
        <p:nvSpPr>
          <p:cNvPr id="10" name="Rectangle 9"/>
          <p:cNvSpPr/>
          <p:nvPr/>
        </p:nvSpPr>
        <p:spPr bwMode="gray">
          <a:xfrm>
            <a:off x="2841191"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 name="Rectangle 10"/>
          <p:cNvSpPr/>
          <p:nvPr/>
        </p:nvSpPr>
        <p:spPr bwMode="gray">
          <a:xfrm>
            <a:off x="291158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 name="Rectangle 11"/>
          <p:cNvSpPr/>
          <p:nvPr/>
        </p:nvSpPr>
        <p:spPr bwMode="gray">
          <a:xfrm>
            <a:off x="298413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 name="Rectangle 12"/>
          <p:cNvSpPr/>
          <p:nvPr/>
        </p:nvSpPr>
        <p:spPr bwMode="gray">
          <a:xfrm>
            <a:off x="305081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 name="Rectangle 13"/>
          <p:cNvSpPr/>
          <p:nvPr/>
        </p:nvSpPr>
        <p:spPr bwMode="gray">
          <a:xfrm>
            <a:off x="312052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5" name="Rectangle 14"/>
          <p:cNvSpPr/>
          <p:nvPr/>
        </p:nvSpPr>
        <p:spPr bwMode="gray">
          <a:xfrm>
            <a:off x="31900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6" name="Rectangle 15"/>
          <p:cNvSpPr/>
          <p:nvPr/>
        </p:nvSpPr>
        <p:spPr bwMode="gray">
          <a:xfrm>
            <a:off x="326225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7" name="Rectangle 16"/>
          <p:cNvSpPr/>
          <p:nvPr/>
        </p:nvSpPr>
        <p:spPr bwMode="gray">
          <a:xfrm>
            <a:off x="333441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8" name="Rectangle 17"/>
          <p:cNvSpPr/>
          <p:nvPr/>
        </p:nvSpPr>
        <p:spPr bwMode="gray">
          <a:xfrm>
            <a:off x="340657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9" name="Rectangle 18"/>
          <p:cNvSpPr/>
          <p:nvPr/>
        </p:nvSpPr>
        <p:spPr bwMode="gray">
          <a:xfrm>
            <a:off x="347235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0" name="Rectangle 19"/>
          <p:cNvSpPr/>
          <p:nvPr/>
        </p:nvSpPr>
        <p:spPr bwMode="gray">
          <a:xfrm>
            <a:off x="354446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1" name="Rectangle 20"/>
          <p:cNvSpPr/>
          <p:nvPr/>
        </p:nvSpPr>
        <p:spPr bwMode="gray">
          <a:xfrm>
            <a:off x="361656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2" name="Rectangle 21"/>
          <p:cNvSpPr/>
          <p:nvPr/>
        </p:nvSpPr>
        <p:spPr bwMode="gray">
          <a:xfrm>
            <a:off x="404406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3" name="Rectangle 22"/>
          <p:cNvSpPr/>
          <p:nvPr/>
        </p:nvSpPr>
        <p:spPr bwMode="gray">
          <a:xfrm>
            <a:off x="4114456"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4" name="Rectangle 23"/>
          <p:cNvSpPr/>
          <p:nvPr/>
        </p:nvSpPr>
        <p:spPr bwMode="gray">
          <a:xfrm>
            <a:off x="418700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5" name="Rectangle 24"/>
          <p:cNvSpPr/>
          <p:nvPr/>
        </p:nvSpPr>
        <p:spPr bwMode="gray">
          <a:xfrm>
            <a:off x="425368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6" name="Rectangle 25"/>
          <p:cNvSpPr/>
          <p:nvPr/>
        </p:nvSpPr>
        <p:spPr bwMode="gray">
          <a:xfrm>
            <a:off x="432340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7" name="Rectangle 26"/>
          <p:cNvSpPr/>
          <p:nvPr/>
        </p:nvSpPr>
        <p:spPr bwMode="gray">
          <a:xfrm>
            <a:off x="439292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8" name="Rectangle 27"/>
          <p:cNvSpPr/>
          <p:nvPr/>
        </p:nvSpPr>
        <p:spPr bwMode="gray">
          <a:xfrm>
            <a:off x="446513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9" name="Rectangle 28"/>
          <p:cNvSpPr/>
          <p:nvPr/>
        </p:nvSpPr>
        <p:spPr bwMode="gray">
          <a:xfrm>
            <a:off x="45372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0" name="Rectangle 29"/>
          <p:cNvSpPr/>
          <p:nvPr/>
        </p:nvSpPr>
        <p:spPr bwMode="gray">
          <a:xfrm>
            <a:off x="460944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1" name="Rectangle 30"/>
          <p:cNvSpPr/>
          <p:nvPr/>
        </p:nvSpPr>
        <p:spPr bwMode="gray">
          <a:xfrm>
            <a:off x="467522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2" name="Rectangle 31"/>
          <p:cNvSpPr/>
          <p:nvPr/>
        </p:nvSpPr>
        <p:spPr bwMode="gray">
          <a:xfrm>
            <a:off x="4747334"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3" name="Rectangle 32"/>
          <p:cNvSpPr/>
          <p:nvPr/>
        </p:nvSpPr>
        <p:spPr bwMode="gray">
          <a:xfrm>
            <a:off x="481943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4" name="Rectangle 33"/>
          <p:cNvSpPr/>
          <p:nvPr/>
        </p:nvSpPr>
        <p:spPr bwMode="gray">
          <a:xfrm>
            <a:off x="528456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5" name="Rectangle 34"/>
          <p:cNvSpPr/>
          <p:nvPr/>
        </p:nvSpPr>
        <p:spPr bwMode="gray">
          <a:xfrm>
            <a:off x="535495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6" name="Rectangle 35"/>
          <p:cNvSpPr/>
          <p:nvPr/>
        </p:nvSpPr>
        <p:spPr bwMode="gray">
          <a:xfrm>
            <a:off x="542750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7" name="Rectangle 36"/>
          <p:cNvSpPr/>
          <p:nvPr/>
        </p:nvSpPr>
        <p:spPr bwMode="gray">
          <a:xfrm>
            <a:off x="54941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8" name="Rectangle 37"/>
          <p:cNvSpPr/>
          <p:nvPr/>
        </p:nvSpPr>
        <p:spPr bwMode="gray">
          <a:xfrm>
            <a:off x="556390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9" name="Rectangle 38"/>
          <p:cNvSpPr/>
          <p:nvPr/>
        </p:nvSpPr>
        <p:spPr bwMode="gray">
          <a:xfrm>
            <a:off x="563342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0" name="Rectangle 39"/>
          <p:cNvSpPr/>
          <p:nvPr/>
        </p:nvSpPr>
        <p:spPr bwMode="gray">
          <a:xfrm>
            <a:off x="570563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1" name="Rectangle 40"/>
          <p:cNvSpPr/>
          <p:nvPr/>
        </p:nvSpPr>
        <p:spPr bwMode="gray">
          <a:xfrm>
            <a:off x="577779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2" name="Rectangle 41"/>
          <p:cNvSpPr/>
          <p:nvPr/>
        </p:nvSpPr>
        <p:spPr bwMode="gray">
          <a:xfrm>
            <a:off x="58499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3" name="Rectangle 42"/>
          <p:cNvSpPr/>
          <p:nvPr/>
        </p:nvSpPr>
        <p:spPr bwMode="gray">
          <a:xfrm>
            <a:off x="591573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4" name="Rectangle 43"/>
          <p:cNvSpPr/>
          <p:nvPr/>
        </p:nvSpPr>
        <p:spPr bwMode="gray">
          <a:xfrm>
            <a:off x="598783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5" name="Rectangle 44"/>
          <p:cNvSpPr/>
          <p:nvPr/>
        </p:nvSpPr>
        <p:spPr bwMode="gray">
          <a:xfrm>
            <a:off x="605994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6" name="Rectangle 45"/>
          <p:cNvSpPr/>
          <p:nvPr/>
        </p:nvSpPr>
        <p:spPr bwMode="gray">
          <a:xfrm>
            <a:off x="648102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7" name="Rectangle 46"/>
          <p:cNvSpPr/>
          <p:nvPr/>
        </p:nvSpPr>
        <p:spPr bwMode="gray">
          <a:xfrm>
            <a:off x="655141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8" name="Rectangle 47"/>
          <p:cNvSpPr/>
          <p:nvPr/>
        </p:nvSpPr>
        <p:spPr bwMode="gray">
          <a:xfrm>
            <a:off x="662396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9" name="Rectangle 48"/>
          <p:cNvSpPr/>
          <p:nvPr/>
        </p:nvSpPr>
        <p:spPr bwMode="gray">
          <a:xfrm>
            <a:off x="66906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0" name="Rectangle 49"/>
          <p:cNvSpPr/>
          <p:nvPr/>
        </p:nvSpPr>
        <p:spPr bwMode="gray">
          <a:xfrm>
            <a:off x="676036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1" name="Rectangle 50"/>
          <p:cNvSpPr/>
          <p:nvPr/>
        </p:nvSpPr>
        <p:spPr bwMode="gray">
          <a:xfrm>
            <a:off x="682988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2" name="Rectangle 51"/>
          <p:cNvSpPr/>
          <p:nvPr/>
        </p:nvSpPr>
        <p:spPr bwMode="gray">
          <a:xfrm>
            <a:off x="690209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3" name="Rectangle 52"/>
          <p:cNvSpPr/>
          <p:nvPr/>
        </p:nvSpPr>
        <p:spPr bwMode="gray">
          <a:xfrm>
            <a:off x="697424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4" name="Rectangle 53"/>
          <p:cNvSpPr/>
          <p:nvPr/>
        </p:nvSpPr>
        <p:spPr bwMode="gray">
          <a:xfrm>
            <a:off x="704640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5" name="Rectangle 54"/>
          <p:cNvSpPr/>
          <p:nvPr/>
        </p:nvSpPr>
        <p:spPr bwMode="gray">
          <a:xfrm>
            <a:off x="71121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6" name="Rectangle 55"/>
          <p:cNvSpPr/>
          <p:nvPr/>
        </p:nvSpPr>
        <p:spPr bwMode="gray">
          <a:xfrm>
            <a:off x="7184294"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7" name="Rectangle 56"/>
          <p:cNvSpPr/>
          <p:nvPr/>
        </p:nvSpPr>
        <p:spPr bwMode="gray">
          <a:xfrm>
            <a:off x="725639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8" name="Rectangle 57"/>
          <p:cNvSpPr/>
          <p:nvPr/>
        </p:nvSpPr>
        <p:spPr bwMode="gray">
          <a:xfrm>
            <a:off x="7663039"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9" name="Rectangle 58"/>
          <p:cNvSpPr/>
          <p:nvPr/>
        </p:nvSpPr>
        <p:spPr bwMode="gray">
          <a:xfrm>
            <a:off x="7733432"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0" name="Rectangle 59"/>
          <p:cNvSpPr/>
          <p:nvPr/>
        </p:nvSpPr>
        <p:spPr bwMode="gray">
          <a:xfrm>
            <a:off x="7805981"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1" name="Rectangle 60"/>
          <p:cNvSpPr/>
          <p:nvPr/>
        </p:nvSpPr>
        <p:spPr bwMode="gray">
          <a:xfrm>
            <a:off x="787266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2" name="Rectangle 61"/>
          <p:cNvSpPr/>
          <p:nvPr/>
        </p:nvSpPr>
        <p:spPr bwMode="gray">
          <a:xfrm>
            <a:off x="794237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3" name="Rectangle 62"/>
          <p:cNvSpPr/>
          <p:nvPr/>
        </p:nvSpPr>
        <p:spPr bwMode="gray">
          <a:xfrm>
            <a:off x="801189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4" name="Rectangle 63"/>
          <p:cNvSpPr/>
          <p:nvPr/>
        </p:nvSpPr>
        <p:spPr bwMode="gray">
          <a:xfrm>
            <a:off x="808410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5" name="Rectangle 64"/>
          <p:cNvSpPr/>
          <p:nvPr/>
        </p:nvSpPr>
        <p:spPr bwMode="gray">
          <a:xfrm>
            <a:off x="815082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6" name="Rectangle 65"/>
          <p:cNvSpPr/>
          <p:nvPr/>
        </p:nvSpPr>
        <p:spPr bwMode="gray">
          <a:xfrm>
            <a:off x="822298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7" name="Rectangle 66"/>
          <p:cNvSpPr/>
          <p:nvPr/>
        </p:nvSpPr>
        <p:spPr bwMode="gray">
          <a:xfrm>
            <a:off x="828876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8" name="Rectangle 67"/>
          <p:cNvSpPr/>
          <p:nvPr/>
        </p:nvSpPr>
        <p:spPr bwMode="gray">
          <a:xfrm>
            <a:off x="836086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0" name="Rectangle 69"/>
          <p:cNvSpPr/>
          <p:nvPr/>
        </p:nvSpPr>
        <p:spPr bwMode="gray">
          <a:xfrm>
            <a:off x="284108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1" name="Rectangle 70"/>
          <p:cNvSpPr/>
          <p:nvPr/>
        </p:nvSpPr>
        <p:spPr bwMode="gray">
          <a:xfrm>
            <a:off x="291147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2" name="Rectangle 71"/>
          <p:cNvSpPr/>
          <p:nvPr/>
        </p:nvSpPr>
        <p:spPr bwMode="gray">
          <a:xfrm>
            <a:off x="298402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3" name="Rectangle 72"/>
          <p:cNvSpPr/>
          <p:nvPr/>
        </p:nvSpPr>
        <p:spPr bwMode="gray">
          <a:xfrm>
            <a:off x="305071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4" name="Rectangle 73"/>
          <p:cNvSpPr/>
          <p:nvPr/>
        </p:nvSpPr>
        <p:spPr bwMode="gray">
          <a:xfrm>
            <a:off x="312042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5" name="Rectangle 74"/>
          <p:cNvSpPr/>
          <p:nvPr/>
        </p:nvSpPr>
        <p:spPr bwMode="gray">
          <a:xfrm>
            <a:off x="318994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6" name="Rectangle 75"/>
          <p:cNvSpPr/>
          <p:nvPr/>
        </p:nvSpPr>
        <p:spPr bwMode="gray">
          <a:xfrm>
            <a:off x="326215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7" name="Rectangle 76"/>
          <p:cNvSpPr/>
          <p:nvPr/>
        </p:nvSpPr>
        <p:spPr bwMode="gray">
          <a:xfrm>
            <a:off x="333431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8" name="Rectangle 77"/>
          <p:cNvSpPr/>
          <p:nvPr/>
        </p:nvSpPr>
        <p:spPr bwMode="gray">
          <a:xfrm>
            <a:off x="340647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9" name="Rectangle 78"/>
          <p:cNvSpPr/>
          <p:nvPr/>
        </p:nvSpPr>
        <p:spPr bwMode="gray">
          <a:xfrm>
            <a:off x="347225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0" name="Rectangle 79"/>
          <p:cNvSpPr/>
          <p:nvPr/>
        </p:nvSpPr>
        <p:spPr bwMode="gray">
          <a:xfrm>
            <a:off x="354435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1" name="Rectangle 80"/>
          <p:cNvSpPr/>
          <p:nvPr/>
        </p:nvSpPr>
        <p:spPr bwMode="gray">
          <a:xfrm>
            <a:off x="361646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2" name="Rectangle 81"/>
          <p:cNvSpPr/>
          <p:nvPr/>
        </p:nvSpPr>
        <p:spPr bwMode="gray">
          <a:xfrm>
            <a:off x="404395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3" name="Rectangle 82"/>
          <p:cNvSpPr/>
          <p:nvPr/>
        </p:nvSpPr>
        <p:spPr bwMode="gray">
          <a:xfrm>
            <a:off x="411435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4" name="Rectangle 83"/>
          <p:cNvSpPr/>
          <p:nvPr/>
        </p:nvSpPr>
        <p:spPr bwMode="gray">
          <a:xfrm>
            <a:off x="418690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5" name="Rectangle 84"/>
          <p:cNvSpPr/>
          <p:nvPr/>
        </p:nvSpPr>
        <p:spPr bwMode="gray">
          <a:xfrm>
            <a:off x="425358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6" name="Rectangle 85"/>
          <p:cNvSpPr/>
          <p:nvPr/>
        </p:nvSpPr>
        <p:spPr bwMode="gray">
          <a:xfrm>
            <a:off x="4323295"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7" name="Rectangle 86"/>
          <p:cNvSpPr/>
          <p:nvPr/>
        </p:nvSpPr>
        <p:spPr bwMode="gray">
          <a:xfrm>
            <a:off x="4392815"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8" name="Rectangle 87"/>
          <p:cNvSpPr/>
          <p:nvPr/>
        </p:nvSpPr>
        <p:spPr bwMode="gray">
          <a:xfrm>
            <a:off x="446502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9" name="Rectangle 88"/>
          <p:cNvSpPr/>
          <p:nvPr/>
        </p:nvSpPr>
        <p:spPr bwMode="gray">
          <a:xfrm>
            <a:off x="453718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0" name="Rectangle 89"/>
          <p:cNvSpPr/>
          <p:nvPr/>
        </p:nvSpPr>
        <p:spPr bwMode="gray">
          <a:xfrm>
            <a:off x="460934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1" name="Rectangle 90"/>
          <p:cNvSpPr/>
          <p:nvPr/>
        </p:nvSpPr>
        <p:spPr bwMode="gray">
          <a:xfrm>
            <a:off x="467512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2" name="Rectangle 91"/>
          <p:cNvSpPr/>
          <p:nvPr/>
        </p:nvSpPr>
        <p:spPr bwMode="gray">
          <a:xfrm>
            <a:off x="4747229"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3" name="Rectangle 92"/>
          <p:cNvSpPr/>
          <p:nvPr/>
        </p:nvSpPr>
        <p:spPr bwMode="gray">
          <a:xfrm>
            <a:off x="481933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4" name="Rectangle 93"/>
          <p:cNvSpPr/>
          <p:nvPr/>
        </p:nvSpPr>
        <p:spPr bwMode="gray">
          <a:xfrm>
            <a:off x="528445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5" name="Rectangle 94"/>
          <p:cNvSpPr/>
          <p:nvPr/>
        </p:nvSpPr>
        <p:spPr bwMode="gray">
          <a:xfrm>
            <a:off x="5354852"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6" name="Rectangle 95"/>
          <p:cNvSpPr/>
          <p:nvPr/>
        </p:nvSpPr>
        <p:spPr bwMode="gray">
          <a:xfrm>
            <a:off x="542740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7" name="Rectangle 96"/>
          <p:cNvSpPr/>
          <p:nvPr/>
        </p:nvSpPr>
        <p:spPr bwMode="gray">
          <a:xfrm>
            <a:off x="5494084"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8" name="Rectangle 97"/>
          <p:cNvSpPr/>
          <p:nvPr/>
        </p:nvSpPr>
        <p:spPr bwMode="gray">
          <a:xfrm>
            <a:off x="556379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9" name="Rectangle 98"/>
          <p:cNvSpPr/>
          <p:nvPr/>
        </p:nvSpPr>
        <p:spPr bwMode="gray">
          <a:xfrm>
            <a:off x="563331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0" name="Rectangle 99"/>
          <p:cNvSpPr/>
          <p:nvPr/>
        </p:nvSpPr>
        <p:spPr bwMode="gray">
          <a:xfrm>
            <a:off x="5705527"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1" name="Rectangle 100"/>
          <p:cNvSpPr/>
          <p:nvPr/>
        </p:nvSpPr>
        <p:spPr bwMode="gray">
          <a:xfrm>
            <a:off x="577224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2" name="Rectangle 101"/>
          <p:cNvSpPr/>
          <p:nvPr/>
        </p:nvSpPr>
        <p:spPr bwMode="gray">
          <a:xfrm>
            <a:off x="584440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3" name="Rectangle 102"/>
          <p:cNvSpPr/>
          <p:nvPr/>
        </p:nvSpPr>
        <p:spPr bwMode="gray">
          <a:xfrm>
            <a:off x="591018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4" name="Rectangle 103"/>
          <p:cNvSpPr/>
          <p:nvPr/>
        </p:nvSpPr>
        <p:spPr bwMode="gray">
          <a:xfrm>
            <a:off x="598228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5" name="Rectangle 104"/>
          <p:cNvSpPr/>
          <p:nvPr/>
        </p:nvSpPr>
        <p:spPr bwMode="gray">
          <a:xfrm>
            <a:off x="605439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6" name="Rectangle 105"/>
          <p:cNvSpPr/>
          <p:nvPr/>
        </p:nvSpPr>
        <p:spPr bwMode="gray">
          <a:xfrm>
            <a:off x="648285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7" name="Rectangle 106"/>
          <p:cNvSpPr/>
          <p:nvPr/>
        </p:nvSpPr>
        <p:spPr bwMode="gray">
          <a:xfrm>
            <a:off x="655324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8" name="Rectangle 107"/>
          <p:cNvSpPr/>
          <p:nvPr/>
        </p:nvSpPr>
        <p:spPr bwMode="gray">
          <a:xfrm>
            <a:off x="6625795"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9" name="Rectangle 108"/>
          <p:cNvSpPr/>
          <p:nvPr/>
        </p:nvSpPr>
        <p:spPr bwMode="gray">
          <a:xfrm>
            <a:off x="669247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0" name="Rectangle 109"/>
          <p:cNvSpPr/>
          <p:nvPr/>
        </p:nvSpPr>
        <p:spPr bwMode="gray">
          <a:xfrm>
            <a:off x="676219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1" name="Rectangle 110"/>
          <p:cNvSpPr/>
          <p:nvPr/>
        </p:nvSpPr>
        <p:spPr bwMode="gray">
          <a:xfrm>
            <a:off x="683171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2" name="Rectangle 111"/>
          <p:cNvSpPr/>
          <p:nvPr/>
        </p:nvSpPr>
        <p:spPr bwMode="gray">
          <a:xfrm>
            <a:off x="690392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3" name="Rectangle 112"/>
          <p:cNvSpPr/>
          <p:nvPr/>
        </p:nvSpPr>
        <p:spPr bwMode="gray">
          <a:xfrm>
            <a:off x="697063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4" name="Rectangle 113"/>
          <p:cNvSpPr/>
          <p:nvPr/>
        </p:nvSpPr>
        <p:spPr bwMode="gray">
          <a:xfrm>
            <a:off x="704279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5" name="Rectangle 114"/>
          <p:cNvSpPr/>
          <p:nvPr/>
        </p:nvSpPr>
        <p:spPr bwMode="gray">
          <a:xfrm>
            <a:off x="710857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6" name="Rectangle 115"/>
          <p:cNvSpPr/>
          <p:nvPr/>
        </p:nvSpPr>
        <p:spPr bwMode="gray">
          <a:xfrm>
            <a:off x="7180681"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7" name="Rectangle 116"/>
          <p:cNvSpPr/>
          <p:nvPr/>
        </p:nvSpPr>
        <p:spPr bwMode="gray">
          <a:xfrm>
            <a:off x="725278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8" name="Rectangle 117"/>
          <p:cNvSpPr/>
          <p:nvPr/>
        </p:nvSpPr>
        <p:spPr bwMode="gray">
          <a:xfrm>
            <a:off x="766303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9" name="Rectangle 118"/>
          <p:cNvSpPr/>
          <p:nvPr/>
        </p:nvSpPr>
        <p:spPr bwMode="gray">
          <a:xfrm>
            <a:off x="7733432"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0" name="Rectangle 119"/>
          <p:cNvSpPr/>
          <p:nvPr/>
        </p:nvSpPr>
        <p:spPr bwMode="gray">
          <a:xfrm>
            <a:off x="780598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1" name="Rectangle 120"/>
          <p:cNvSpPr/>
          <p:nvPr/>
        </p:nvSpPr>
        <p:spPr bwMode="gray">
          <a:xfrm>
            <a:off x="7872664"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2" name="Rectangle 121"/>
          <p:cNvSpPr/>
          <p:nvPr/>
        </p:nvSpPr>
        <p:spPr bwMode="gray">
          <a:xfrm>
            <a:off x="794237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3" name="Rectangle 122"/>
          <p:cNvSpPr/>
          <p:nvPr/>
        </p:nvSpPr>
        <p:spPr bwMode="gray">
          <a:xfrm>
            <a:off x="801189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4" name="Rectangle 123"/>
          <p:cNvSpPr/>
          <p:nvPr/>
        </p:nvSpPr>
        <p:spPr bwMode="gray">
          <a:xfrm>
            <a:off x="808410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5" name="Rectangle 124"/>
          <p:cNvSpPr/>
          <p:nvPr/>
        </p:nvSpPr>
        <p:spPr bwMode="gray">
          <a:xfrm>
            <a:off x="815082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6" name="Rectangle 125"/>
          <p:cNvSpPr/>
          <p:nvPr/>
        </p:nvSpPr>
        <p:spPr bwMode="gray">
          <a:xfrm>
            <a:off x="822298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7" name="Rectangle 126"/>
          <p:cNvSpPr/>
          <p:nvPr/>
        </p:nvSpPr>
        <p:spPr bwMode="gray">
          <a:xfrm>
            <a:off x="828876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8" name="Rectangle 127"/>
          <p:cNvSpPr/>
          <p:nvPr/>
        </p:nvSpPr>
        <p:spPr bwMode="gray">
          <a:xfrm>
            <a:off x="836086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9" name="Rectangle 128"/>
          <p:cNvSpPr/>
          <p:nvPr/>
        </p:nvSpPr>
        <p:spPr bwMode="gray">
          <a:xfrm>
            <a:off x="843297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1" name="Action Button: Forward or Next 130">
            <a:hlinkClick r:id="rId3" action="ppaction://hlinksldjump" highlightClick="1"/>
          </p:cNvPr>
          <p:cNvSpPr/>
          <p:nvPr/>
        </p:nvSpPr>
        <p:spPr bwMode="gray">
          <a:xfrm>
            <a:off x="3120423" y="7033994"/>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2" name="Action Button: Forward or Next 131">
            <a:hlinkClick r:id="rId4" action="ppaction://hlinksldjump" highlightClick="1"/>
          </p:cNvPr>
          <p:cNvSpPr/>
          <p:nvPr/>
        </p:nvSpPr>
        <p:spPr bwMode="gray">
          <a:xfrm>
            <a:off x="4359295" y="7033993"/>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3" name="Action Button: Forward or Next 132">
            <a:hlinkClick r:id="rId5" action="ppaction://hlinksldjump" highlightClick="1"/>
          </p:cNvPr>
          <p:cNvSpPr/>
          <p:nvPr/>
        </p:nvSpPr>
        <p:spPr bwMode="gray">
          <a:xfrm>
            <a:off x="5513844" y="7033992"/>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4" name="Action Button: Forward or Next 133">
            <a:hlinkClick r:id="rId6" action="ppaction://hlinksldjump" highlightClick="1"/>
          </p:cNvPr>
          <p:cNvSpPr/>
          <p:nvPr/>
        </p:nvSpPr>
        <p:spPr bwMode="gray">
          <a:xfrm>
            <a:off x="6742168" y="7033991"/>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5" name="Action Button: Forward or Next 134">
            <a:hlinkClick r:id="rId7" action="ppaction://hlinksldjump" highlightClick="1"/>
          </p:cNvPr>
          <p:cNvSpPr/>
          <p:nvPr/>
        </p:nvSpPr>
        <p:spPr bwMode="gray">
          <a:xfrm>
            <a:off x="7955161" y="7033990"/>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6" name="Action Button: Forward or Next 135">
            <a:hlinkClick r:id="rId8" action="ppaction://hlinksldjump" highlightClick="1"/>
          </p:cNvPr>
          <p:cNvSpPr/>
          <p:nvPr/>
        </p:nvSpPr>
        <p:spPr bwMode="gray">
          <a:xfrm>
            <a:off x="9226307" y="703398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7" name="Pentagon 136">
            <a:hlinkClick r:id="rId9" action="ppaction://hlinksldjump"/>
          </p:cNvPr>
          <p:cNvSpPr/>
          <p:nvPr/>
        </p:nvSpPr>
        <p:spPr bwMode="gray">
          <a:xfrm flipH="1">
            <a:off x="9863138" y="711167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953112475"/>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439791" y="5658671"/>
            <a:ext cx="978595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lstStyle/>
          <a:p>
            <a:r>
              <a:rPr lang="en-US" b="1" dirty="0"/>
              <a:t>Key insight – Relationship </a:t>
            </a:r>
            <a:r>
              <a:rPr lang="en-US" b="1" dirty="0" smtClean="0"/>
              <a:t>of BPDB with its subsidiaries (2/2)</a:t>
            </a:r>
            <a:endParaRPr lang="en-IN" b="1" dirty="0"/>
          </a:p>
        </p:txBody>
      </p:sp>
      <p:graphicFrame>
        <p:nvGraphicFramePr>
          <p:cNvPr id="2" name="Table 1"/>
          <p:cNvGraphicFramePr>
            <a:graphicFrameLocks noGrp="1"/>
          </p:cNvGraphicFramePr>
          <p:nvPr>
            <p:extLst/>
          </p:nvPr>
        </p:nvGraphicFramePr>
        <p:xfrm>
          <a:off x="439791" y="826257"/>
          <a:ext cx="9785953" cy="3701031"/>
        </p:xfrm>
        <a:graphic>
          <a:graphicData uri="http://schemas.openxmlformats.org/drawingml/2006/table">
            <a:tbl>
              <a:tblPr firstRow="1" firstCol="1">
                <a:tableStyleId>{5C22544A-7EE6-4342-B048-85BDC9FD1C3A}</a:tableStyleId>
              </a:tblPr>
              <a:tblGrid>
                <a:gridCol w="1760484"/>
                <a:gridCol w="1114425"/>
                <a:gridCol w="2009775"/>
                <a:gridCol w="1019175"/>
                <a:gridCol w="1057275"/>
                <a:gridCol w="1114425"/>
                <a:gridCol w="1710394"/>
              </a:tblGrid>
              <a:tr h="481581">
                <a:tc>
                  <a:txBody>
                    <a:bodyPr/>
                    <a:lstStyle/>
                    <a:p>
                      <a:pPr algn="l">
                        <a:lnSpc>
                          <a:spcPct val="115000"/>
                        </a:lnSpc>
                        <a:spcAft>
                          <a:spcPts val="0"/>
                        </a:spcAft>
                      </a:pPr>
                      <a:r>
                        <a:rPr lang="en-IN" sz="1400" dirty="0">
                          <a:effectLst/>
                        </a:rPr>
                        <a:t>Aspects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APSCL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NWPGCL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PGCB</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EGCB</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1381125">
                <a:tc>
                  <a:txBody>
                    <a:bodyPr/>
                    <a:lstStyle/>
                    <a:p>
                      <a:pPr algn="l">
                        <a:lnSpc>
                          <a:spcPct val="115000"/>
                        </a:lnSpc>
                        <a:spcAft>
                          <a:spcPts val="0"/>
                        </a:spcAft>
                      </a:pPr>
                      <a:r>
                        <a:rPr lang="en-IN" sz="1400" dirty="0">
                          <a:effectLst/>
                        </a:rPr>
                        <a:t>Inherent planning risk</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Exists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Can be commented upon availability of actual board composition</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838325">
                <a:tc>
                  <a:txBody>
                    <a:bodyPr/>
                    <a:lstStyle/>
                    <a:p>
                      <a:pPr algn="l">
                        <a:lnSpc>
                          <a:spcPct val="115000"/>
                        </a:lnSpc>
                        <a:spcAft>
                          <a:spcPts val="0"/>
                        </a:spcAft>
                      </a:pPr>
                      <a:r>
                        <a:rPr lang="en-IN" sz="1400">
                          <a:effectLst/>
                        </a:rPr>
                        <a:t>Other mandates for subsidiary as per MoA and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marL="171450" indent="-171450" algn="l">
                        <a:lnSpc>
                          <a:spcPct val="115000"/>
                        </a:lnSpc>
                        <a:spcAft>
                          <a:spcPts val="0"/>
                        </a:spcAft>
                        <a:buFont typeface="Arial" panose="020B0604020202020204" pitchFamily="34" charset="0"/>
                        <a:buChar char="•"/>
                      </a:pPr>
                      <a:r>
                        <a:rPr lang="en-US" sz="1400" dirty="0" smtClean="0">
                          <a:effectLst/>
                        </a:rPr>
                        <a:t>Compliance</a:t>
                      </a:r>
                      <a:r>
                        <a:rPr lang="en-US" sz="1400" baseline="0" dirty="0" smtClean="0">
                          <a:effectLst/>
                        </a:rPr>
                        <a:t> to integrated planning</a:t>
                      </a:r>
                    </a:p>
                    <a:p>
                      <a:pPr marL="171450" indent="-171450" algn="l">
                        <a:lnSpc>
                          <a:spcPct val="115000"/>
                        </a:lnSpc>
                        <a:spcAft>
                          <a:spcPts val="0"/>
                        </a:spcAft>
                        <a:buFont typeface="Arial" panose="020B0604020202020204" pitchFamily="34" charset="0"/>
                        <a:buChar char="•"/>
                      </a:pPr>
                      <a:r>
                        <a:rPr lang="en-US" sz="1400" baseline="0" dirty="0" smtClean="0">
                          <a:effectLst/>
                        </a:rPr>
                        <a:t>Services from BPDB</a:t>
                      </a:r>
                    </a:p>
                    <a:p>
                      <a:pPr marL="171450" indent="-171450" algn="l">
                        <a:lnSpc>
                          <a:spcPct val="115000"/>
                        </a:lnSpc>
                        <a:spcAft>
                          <a:spcPts val="0"/>
                        </a:spcAft>
                        <a:buFont typeface="Arial" panose="020B0604020202020204" pitchFamily="34" charset="0"/>
                        <a:buChar char="•"/>
                      </a:pPr>
                      <a:r>
                        <a:rPr lang="en-US" sz="1400" baseline="0" dirty="0" smtClean="0">
                          <a:effectLst/>
                        </a:rPr>
                        <a:t>Resource transfer</a:t>
                      </a:r>
                    </a:p>
                    <a:p>
                      <a:pPr marL="171450" indent="-171450" algn="l">
                        <a:lnSpc>
                          <a:spcPct val="115000"/>
                        </a:lnSpc>
                        <a:spcAft>
                          <a:spcPts val="0"/>
                        </a:spcAft>
                        <a:buFont typeface="Arial" panose="020B0604020202020204" pitchFamily="34" charset="0"/>
                        <a:buChar char="•"/>
                      </a:pPr>
                      <a:r>
                        <a:rPr lang="en-US" sz="1400" baseline="0" dirty="0" smtClean="0">
                          <a:effectLst/>
                        </a:rPr>
                        <a:t>Reporting to BPDB</a:t>
                      </a:r>
                      <a:endParaRPr lang="en-IN" sz="1400" dirty="0" smtClean="0">
                        <a:effectLst/>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None</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
        <p:nvSpPr>
          <p:cNvPr id="4" name="Action Button: Forward or Next 3">
            <a:hlinkClick r:id="rId3" action="ppaction://hlinksldjump" highlightClick="1"/>
          </p:cNvPr>
          <p:cNvSpPr/>
          <p:nvPr/>
        </p:nvSpPr>
        <p:spPr bwMode="gray">
          <a:xfrm>
            <a:off x="2539510"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 name="Action Button: Forward or Next 4">
            <a:hlinkClick r:id="rId4" action="ppaction://hlinksldjump" highlightClick="1"/>
          </p:cNvPr>
          <p:cNvSpPr/>
          <p:nvPr/>
        </p:nvSpPr>
        <p:spPr bwMode="gray">
          <a:xfrm>
            <a:off x="4133384"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 name="Action Button: Forward or Next 5">
            <a:hlinkClick r:id="rId5" action="ppaction://hlinksldjump" highlightClick="1"/>
          </p:cNvPr>
          <p:cNvSpPr/>
          <p:nvPr/>
        </p:nvSpPr>
        <p:spPr bwMode="gray">
          <a:xfrm>
            <a:off x="5642936"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 name="Action Button: Forward or Next 6">
            <a:hlinkClick r:id="rId6" action="ppaction://hlinksldjump" highlightClick="1"/>
          </p:cNvPr>
          <p:cNvSpPr/>
          <p:nvPr/>
        </p:nvSpPr>
        <p:spPr bwMode="gray">
          <a:xfrm>
            <a:off x="6742168" y="4602700"/>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 name="Action Button: Forward or Next 7">
            <a:hlinkClick r:id="rId7" action="ppaction://hlinksldjump" highlightClick="1"/>
          </p:cNvPr>
          <p:cNvSpPr/>
          <p:nvPr/>
        </p:nvSpPr>
        <p:spPr bwMode="gray">
          <a:xfrm>
            <a:off x="7841400" y="460269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 name="Action Button: Forward or Next 8">
            <a:hlinkClick r:id="rId8" action="ppaction://hlinksldjump" highlightClick="1"/>
          </p:cNvPr>
          <p:cNvSpPr/>
          <p:nvPr/>
        </p:nvSpPr>
        <p:spPr bwMode="gray">
          <a:xfrm>
            <a:off x="9173151"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 name="TextBox 9"/>
          <p:cNvSpPr txBox="1"/>
          <p:nvPr/>
        </p:nvSpPr>
        <p:spPr>
          <a:xfrm>
            <a:off x="489349" y="5943021"/>
            <a:ext cx="9736395" cy="974148"/>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smtClean="0">
                <a:solidFill>
                  <a:srgbClr val="313131"/>
                </a:solidFill>
              </a:rPr>
              <a:t>Limited voting power of BPDB in subsidiaries’ Board</a:t>
            </a:r>
          </a:p>
          <a:p>
            <a:pPr marL="285750" indent="-285750">
              <a:spcBef>
                <a:spcPts val="600"/>
              </a:spcBef>
              <a:buSzPct val="100000"/>
              <a:buFont typeface="Arial" panose="020B0604020202020204" pitchFamily="34" charset="0"/>
              <a:buChar char="•"/>
            </a:pPr>
            <a:r>
              <a:rPr lang="en-US" sz="1400" dirty="0" smtClean="0">
                <a:solidFill>
                  <a:srgbClr val="313131"/>
                </a:solidFill>
              </a:rPr>
              <a:t>Inherent planning risk in the event of limited oversight of BPDB in the development plans and projects of subsidiaries</a:t>
            </a:r>
            <a:endParaRPr lang="en-IN" sz="1400" dirty="0" smtClean="0">
              <a:solidFill>
                <a:srgbClr val="313131"/>
              </a:solidFill>
            </a:endParaRPr>
          </a:p>
        </p:txBody>
      </p:sp>
      <p:sp>
        <p:nvSpPr>
          <p:cNvPr id="11" name="TextBox 10"/>
          <p:cNvSpPr txBox="1"/>
          <p:nvPr/>
        </p:nvSpPr>
        <p:spPr>
          <a:xfrm>
            <a:off x="3279728" y="5478873"/>
            <a:ext cx="4129182" cy="347174"/>
          </a:xfrm>
          <a:prstGeom prst="rect">
            <a:avLst/>
          </a:prstGeom>
          <a:solidFill>
            <a:srgbClr val="92D050"/>
          </a:solidFill>
          <a:ln>
            <a:solidFill>
              <a:srgbClr val="92D050"/>
            </a:solidFill>
          </a:ln>
        </p:spPr>
        <p:txBody>
          <a:bodyPr wrap="square" lIns="36000" tIns="0" rIns="36000" bIns="0" rtlCol="0" anchor="ctr">
            <a:noAutofit/>
          </a:bodyPr>
          <a:lstStyle/>
          <a:p>
            <a:pPr algn="ctr">
              <a:spcBef>
                <a:spcPts val="600"/>
              </a:spcBef>
              <a:buSzPct val="100000"/>
            </a:pPr>
            <a:r>
              <a:rPr lang="en-US" sz="1400" b="1" dirty="0" smtClean="0">
                <a:solidFill>
                  <a:srgbClr val="313131"/>
                </a:solidFill>
              </a:rPr>
              <a:t>Key strategic concerns &amp; challenges</a:t>
            </a:r>
          </a:p>
        </p:txBody>
      </p:sp>
      <p:sp>
        <p:nvSpPr>
          <p:cNvPr id="15" name="Pentagon 14">
            <a:hlinkClick r:id="rId9" action="ppaction://hlinksldjump"/>
          </p:cNvPr>
          <p:cNvSpPr/>
          <p:nvPr/>
        </p:nvSpPr>
        <p:spPr bwMode="gray">
          <a:xfrm flipH="1">
            <a:off x="9863138" y="711167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551707986"/>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black"/>
                </a:solidFill>
              </a:rPr>
              <a:t>2. Board Governance of BPDB Subsidiaries</a:t>
            </a:r>
            <a:endParaRPr lang="en-US" sz="5400" dirty="0">
              <a:solidFill>
                <a:prstClr val="black"/>
              </a:solidFill>
            </a:endParaRPr>
          </a:p>
        </p:txBody>
      </p:sp>
    </p:spTree>
    <p:extLst>
      <p:ext uri="{BB962C8B-B14F-4D97-AF65-F5344CB8AC3E}">
        <p14:creationId xmlns:p14="http://schemas.microsoft.com/office/powerpoint/2010/main" val="20981837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APSCL Board Governance (1/2)</a:t>
            </a:r>
            <a:endParaRPr lang="en-IN" b="1" dirty="0"/>
          </a:p>
        </p:txBody>
      </p:sp>
      <p:graphicFrame>
        <p:nvGraphicFramePr>
          <p:cNvPr id="2" name="Table 1"/>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a:effectLst/>
                        </a:rPr>
                        <a:t>Legal status of APSCL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a:effectLst/>
                        </a:rPr>
                        <a:t>APSCL was incorporated as a public limited company under the Bangladesh Companies Act 1994 on June 28, 2000.</a:t>
                      </a:r>
                      <a:endParaRPr lang="en-IN" sz="1200">
                        <a:effectLst/>
                        <a:latin typeface="Verdana" panose="020B0604030504040204" pitchFamily="34" charset="0"/>
                        <a:ea typeface="Verdana" panose="020B0604030504040204" pitchFamily="34" charset="0"/>
                        <a:cs typeface="Vrinda" panose="020B0502040204020203" pitchFamily="34" charset="0"/>
                      </a:endParaRPr>
                    </a:p>
                  </a:txBody>
                  <a:tcPr marL="68580" marR="68580" marT="0" marB="0"/>
                </a:tc>
              </a:tr>
              <a:tr h="474930">
                <a:tc>
                  <a:txBody>
                    <a:bodyPr/>
                    <a:lstStyle/>
                    <a:p>
                      <a:pPr algn="l">
                        <a:lnSpc>
                          <a:spcPct val="115000"/>
                        </a:lnSpc>
                        <a:spcAft>
                          <a:spcPts val="600"/>
                        </a:spcAft>
                      </a:pPr>
                      <a:r>
                        <a:rPr lang="en-IN" sz="1200">
                          <a:effectLst/>
                        </a:rPr>
                        <a:t>Power Purchase Agreement</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a:effectLst/>
                        </a:rPr>
                        <a:t>APSCL has entered into PPA with BPDB for sale of electricity generated from its power plants.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a:effectLst/>
                        </a:rPr>
                        <a:t>Shareholding</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dirty="0">
                          <a:effectLst/>
                        </a:rPr>
                        <a:t>BPDB has 99.99% shareholding of APSCL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4" name="Table 3"/>
          <p:cNvGraphicFramePr>
            <a:graphicFrameLocks noGrp="1"/>
          </p:cNvGraphicFramePr>
          <p:nvPr>
            <p:extLst/>
          </p:nvPr>
        </p:nvGraphicFramePr>
        <p:xfrm>
          <a:off x="439792" y="2679822"/>
          <a:ext cx="9785951" cy="2752796"/>
        </p:xfrm>
        <a:graphic>
          <a:graphicData uri="http://schemas.openxmlformats.org/drawingml/2006/table">
            <a:tbl>
              <a:tblPr firstRow="1" firstCol="1" bandRow="1">
                <a:tableStyleId>{5C22544A-7EE6-4342-B048-85BDC9FD1C3A}</a:tableStyleId>
              </a:tblPr>
              <a:tblGrid>
                <a:gridCol w="1607294"/>
                <a:gridCol w="3937872"/>
                <a:gridCol w="4240785"/>
              </a:tblGrid>
              <a:tr h="386111">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a:effectLst/>
                        </a:rPr>
                        <a:t>As per AoA of APSCL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366685">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spcAft>
                          <a:spcPts val="1000"/>
                        </a:spcAft>
                        <a:buFont typeface="Symbol" panose="05050102010706020507" pitchFamily="18" charset="2"/>
                        <a:buChar char=""/>
                      </a:pPr>
                      <a:r>
                        <a:rPr lang="en-IN" sz="1200">
                          <a:effectLst/>
                        </a:rPr>
                        <a:t>Secretary, Power Division</a:t>
                      </a:r>
                    </a:p>
                    <a:p>
                      <a:pPr marL="342900" lvl="0" indent="-342900">
                        <a:spcAft>
                          <a:spcPts val="1000"/>
                        </a:spcAft>
                        <a:buFont typeface="Symbol" panose="05050102010706020507" pitchFamily="18" charset="2"/>
                        <a:buChar char=""/>
                      </a:pPr>
                      <a:r>
                        <a:rPr lang="en-IN" sz="1200">
                          <a:effectLst/>
                        </a:rPr>
                        <a:t>Secretary, Energy &amp; Mineral Resources Division</a:t>
                      </a:r>
                    </a:p>
                    <a:p>
                      <a:pPr marL="342900" lvl="0" indent="-342900">
                        <a:spcAft>
                          <a:spcPts val="1000"/>
                        </a:spcAft>
                        <a:buFont typeface="Symbol" panose="05050102010706020507" pitchFamily="18" charset="2"/>
                        <a:buChar char=""/>
                      </a:pPr>
                      <a:r>
                        <a:rPr lang="en-IN" sz="1200">
                          <a:effectLst/>
                        </a:rPr>
                        <a:t>Secretary, Planning Division</a:t>
                      </a:r>
                    </a:p>
                    <a:p>
                      <a:pPr marL="342900" lvl="0" indent="-342900">
                        <a:spcAft>
                          <a:spcPts val="1000"/>
                        </a:spcAft>
                        <a:buFont typeface="Symbol" panose="05050102010706020507" pitchFamily="18" charset="2"/>
                        <a:buChar char=""/>
                      </a:pPr>
                      <a:r>
                        <a:rPr lang="en-IN" sz="1200">
                          <a:effectLst/>
                        </a:rPr>
                        <a:t>Secretary, Finance Division</a:t>
                      </a:r>
                    </a:p>
                    <a:p>
                      <a:pPr marL="342900" lvl="0" indent="-342900">
                        <a:spcAft>
                          <a:spcPts val="1000"/>
                        </a:spcAft>
                        <a:buFont typeface="Symbol" panose="05050102010706020507" pitchFamily="18" charset="2"/>
                        <a:buChar char=""/>
                      </a:pPr>
                      <a:r>
                        <a:rPr lang="en-IN" sz="1200">
                          <a:effectLst/>
                        </a:rPr>
                        <a:t>Chairman, BPDB</a:t>
                      </a:r>
                    </a:p>
                    <a:p>
                      <a:pPr marL="342900" lvl="0" indent="-342900">
                        <a:spcAft>
                          <a:spcPts val="1000"/>
                        </a:spcAft>
                        <a:buFont typeface="Symbol" panose="05050102010706020507" pitchFamily="18" charset="2"/>
                        <a:buChar char=""/>
                      </a:pPr>
                      <a:r>
                        <a:rPr lang="en-IN" sz="1200">
                          <a:effectLst/>
                        </a:rPr>
                        <a:t>Member (Generation), BPDB</a:t>
                      </a:r>
                    </a:p>
                    <a:p>
                      <a:pPr marL="342900" lvl="0" indent="-342900">
                        <a:spcAft>
                          <a:spcPts val="1000"/>
                        </a:spcAft>
                        <a:buFont typeface="Symbol" panose="05050102010706020507" pitchFamily="18" charset="2"/>
                        <a:buChar char=""/>
                      </a:pPr>
                      <a:r>
                        <a:rPr lang="en-IN" sz="1200">
                          <a:effectLst/>
                        </a:rPr>
                        <a:t>Member (P&amp;D), BPDB</a:t>
                      </a:r>
                      <a:endParaRPr lang="en-IN" sz="1200">
                        <a:effectLst/>
                        <a:latin typeface="Verdana" panose="020B0604030504040204" pitchFamily="34" charset="0"/>
                        <a:ea typeface="Verdana" panose="020B0604030504040204" pitchFamily="34" charset="0"/>
                        <a:cs typeface="Vrinda" panose="020B0502040204020203" pitchFamily="34" charset="0"/>
                      </a:endParaRPr>
                    </a:p>
                  </a:txBody>
                  <a:tcPr marL="40126" marR="40126" marT="0" marB="0"/>
                </a:tc>
                <a:tc>
                  <a:txBody>
                    <a:bodyPr/>
                    <a:lstStyle/>
                    <a:p>
                      <a:pPr marL="342900" lvl="0" indent="-342900">
                        <a:spcAft>
                          <a:spcPts val="1000"/>
                        </a:spcAft>
                        <a:buFont typeface="Symbol" panose="05050102010706020507" pitchFamily="18" charset="2"/>
                        <a:buChar char=""/>
                      </a:pPr>
                      <a:r>
                        <a:rPr lang="en-IN" sz="1200" dirty="0">
                          <a:effectLst/>
                        </a:rPr>
                        <a:t>BPDB – 66147098 shares</a:t>
                      </a:r>
                    </a:p>
                    <a:p>
                      <a:pPr marL="342900" lvl="0" indent="-342900">
                        <a:spcAft>
                          <a:spcPts val="1000"/>
                        </a:spcAft>
                        <a:buFont typeface="Symbol" panose="05050102010706020507" pitchFamily="18" charset="2"/>
                        <a:buChar char=""/>
                      </a:pPr>
                      <a:r>
                        <a:rPr lang="en-IN" sz="1200" dirty="0">
                          <a:effectLst/>
                        </a:rPr>
                        <a:t>Secretary, Power Division – 1900 shares</a:t>
                      </a:r>
                    </a:p>
                    <a:p>
                      <a:pPr marL="342900" lvl="0" indent="-342900">
                        <a:spcAft>
                          <a:spcPts val="1000"/>
                        </a:spcAft>
                        <a:buFont typeface="Symbol" panose="05050102010706020507" pitchFamily="18" charset="2"/>
                        <a:buChar char=""/>
                      </a:pPr>
                      <a:r>
                        <a:rPr lang="en-IN" sz="1200" dirty="0">
                          <a:effectLst/>
                        </a:rPr>
                        <a:t>Secretary, Energy &amp; Mineral Resources Division – 1 share</a:t>
                      </a:r>
                    </a:p>
                    <a:p>
                      <a:pPr marL="342900" lvl="0" indent="-342900">
                        <a:spcAft>
                          <a:spcPts val="1000"/>
                        </a:spcAft>
                        <a:buFont typeface="Symbol" panose="05050102010706020507" pitchFamily="18" charset="2"/>
                        <a:buChar char=""/>
                      </a:pPr>
                      <a:r>
                        <a:rPr lang="en-IN" sz="1200" dirty="0">
                          <a:effectLst/>
                        </a:rPr>
                        <a:t>Secretary, Planning Division – 1 share</a:t>
                      </a:r>
                    </a:p>
                    <a:p>
                      <a:pPr marL="342900" lvl="0" indent="-342900">
                        <a:spcAft>
                          <a:spcPts val="1000"/>
                        </a:spcAft>
                        <a:buFont typeface="Symbol" panose="05050102010706020507" pitchFamily="18" charset="2"/>
                        <a:buChar char=""/>
                      </a:pPr>
                      <a:r>
                        <a:rPr lang="en-IN" sz="1200" dirty="0">
                          <a:effectLst/>
                        </a:rPr>
                        <a:t>Secretary, Finance Division – 1000 shares</a:t>
                      </a:r>
                    </a:p>
                    <a:p>
                      <a:pPr algn="just">
                        <a:spcAft>
                          <a:spcPts val="1000"/>
                        </a:spcAft>
                      </a:pPr>
                      <a:r>
                        <a:rPr lang="en-IN" sz="1200" dirty="0">
                          <a:effectLst/>
                        </a:rPr>
                        <a:t>(as per APSCL Annual Report 2015-16)</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r>
            </a:tbl>
          </a:graphicData>
        </a:graphic>
      </p:graphicFrame>
      <p:sp>
        <p:nvSpPr>
          <p:cNvPr id="5" name="Action Button: Back or Previous 4">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34643599"/>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APSCL Board Governance (2/2)</a:t>
            </a:r>
            <a:endParaRPr lang="en-IN" b="1" dirty="0"/>
          </a:p>
        </p:txBody>
      </p:sp>
      <p:graphicFrame>
        <p:nvGraphicFramePr>
          <p:cNvPr id="4" name="Table 3"/>
          <p:cNvGraphicFramePr>
            <a:graphicFrameLocks noGrp="1"/>
          </p:cNvGraphicFramePr>
          <p:nvPr>
            <p:extLst/>
          </p:nvPr>
        </p:nvGraphicFramePr>
        <p:xfrm>
          <a:off x="439792" y="829503"/>
          <a:ext cx="9785951" cy="6598661"/>
        </p:xfrm>
        <a:graphic>
          <a:graphicData uri="http://schemas.openxmlformats.org/drawingml/2006/table">
            <a:tbl>
              <a:tblPr firstRow="1" firstCol="1" bandRow="1">
                <a:tableStyleId>{5C22544A-7EE6-4342-B048-85BDC9FD1C3A}</a:tableStyleId>
              </a:tblPr>
              <a:tblGrid>
                <a:gridCol w="1607294"/>
                <a:gridCol w="3937872"/>
                <a:gridCol w="4240785"/>
              </a:tblGrid>
              <a:tr h="413877">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a:effectLst/>
                        </a:rPr>
                        <a:t>As per AoA of APSCL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4070898">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dirty="0">
                          <a:effectLst/>
                        </a:rPr>
                        <a:t>Number of Directors – minimum 9 and maximum 12</a:t>
                      </a:r>
                    </a:p>
                    <a:p>
                      <a:pPr marL="342900" lvl="0" indent="-342900">
                        <a:spcAft>
                          <a:spcPts val="1000"/>
                        </a:spcAft>
                        <a:buFont typeface="Symbol" panose="05050102010706020507" pitchFamily="18" charset="2"/>
                        <a:buChar char=""/>
                      </a:pPr>
                      <a:r>
                        <a:rPr lang="en-IN" sz="1200" dirty="0">
                          <a:effectLst/>
                        </a:rPr>
                        <a:t>One Director from each group representing</a:t>
                      </a:r>
                    </a:p>
                    <a:p>
                      <a:pPr marL="342900" lvl="0" indent="-342900">
                        <a:spcAft>
                          <a:spcPts val="1000"/>
                        </a:spcAft>
                        <a:buFont typeface="Calibri" panose="020F0502020204030204" pitchFamily="34" charset="0"/>
                        <a:buChar char="-"/>
                      </a:pPr>
                      <a:r>
                        <a:rPr lang="en-IN" sz="1200" dirty="0">
                          <a:effectLst/>
                        </a:rPr>
                        <a:t>person specialized in power generation,</a:t>
                      </a:r>
                    </a:p>
                    <a:p>
                      <a:pPr marL="342900" lvl="0" indent="-342900">
                        <a:spcAft>
                          <a:spcPts val="1000"/>
                        </a:spcAft>
                        <a:buFont typeface="Calibri" panose="020F0502020204030204" pitchFamily="34" charset="0"/>
                        <a:buChar char="-"/>
                      </a:pPr>
                      <a:r>
                        <a:rPr lang="en-IN" sz="1200" dirty="0">
                          <a:effectLst/>
                        </a:rPr>
                        <a:t>consumers,</a:t>
                      </a:r>
                    </a:p>
                    <a:p>
                      <a:pPr marL="342900" lvl="0" indent="-342900">
                        <a:spcAft>
                          <a:spcPts val="1000"/>
                        </a:spcAft>
                        <a:buFont typeface="Calibri" panose="020F0502020204030204" pitchFamily="34" charset="0"/>
                        <a:buChar char="-"/>
                      </a:pPr>
                      <a:r>
                        <a:rPr lang="en-IN" sz="1200" dirty="0">
                          <a:effectLst/>
                        </a:rPr>
                        <a:t>Business Community,</a:t>
                      </a:r>
                    </a:p>
                    <a:p>
                      <a:pPr marL="342900" lvl="0" indent="-342900">
                        <a:spcAft>
                          <a:spcPts val="1000"/>
                        </a:spcAft>
                        <a:buFont typeface="Calibri" panose="020F0502020204030204" pitchFamily="34" charset="0"/>
                        <a:buChar char="-"/>
                      </a:pPr>
                      <a:r>
                        <a:rPr lang="en-IN" sz="1200" dirty="0">
                          <a:effectLst/>
                        </a:rPr>
                        <a:t>person specialized in Finance.</a:t>
                      </a:r>
                    </a:p>
                    <a:p>
                      <a:pPr marL="201295" algn="just">
                        <a:spcAft>
                          <a:spcPts val="1000"/>
                        </a:spcAft>
                      </a:pPr>
                      <a:r>
                        <a:rPr lang="en-IN" sz="1200" dirty="0">
                          <a:effectLst/>
                        </a:rPr>
                        <a:t>They will be appointed by the Board.</a:t>
                      </a:r>
                    </a:p>
                    <a:p>
                      <a:pPr marL="342900" lvl="0" indent="-342900">
                        <a:spcAft>
                          <a:spcPts val="1000"/>
                        </a:spcAft>
                        <a:buFont typeface="Symbol" panose="05050102010706020507" pitchFamily="18" charset="2"/>
                        <a:buChar char=""/>
                      </a:pPr>
                      <a:r>
                        <a:rPr lang="en-IN" sz="1200" dirty="0">
                          <a:effectLst/>
                        </a:rPr>
                        <a:t>The Managing Director - ex-officio member of the board.</a:t>
                      </a:r>
                    </a:p>
                    <a:p>
                      <a:pPr marL="342900" lvl="0" indent="-342900">
                        <a:spcAft>
                          <a:spcPts val="1000"/>
                        </a:spcAft>
                        <a:buFont typeface="Symbol" panose="05050102010706020507" pitchFamily="18" charset="2"/>
                        <a:buChar char=""/>
                      </a:pPr>
                      <a:r>
                        <a:rPr lang="en-IN" sz="1200" dirty="0">
                          <a:effectLst/>
                        </a:rPr>
                        <a:t>Other Directors - elected by the shareholders amongst themselves.</a:t>
                      </a:r>
                    </a:p>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a:effectLst/>
                        </a:rPr>
                        <a:t>Present number of Board of Directors of APSCL – 12 (out of which BPDB’s representation is 3)</a:t>
                      </a:r>
                    </a:p>
                    <a:p>
                      <a:pPr algn="just">
                        <a:spcAft>
                          <a:spcPts val="1000"/>
                        </a:spcAft>
                      </a:pPr>
                      <a:r>
                        <a:rPr lang="en-IN" sz="1200">
                          <a:effectLst/>
                        </a:rPr>
                        <a:t>Present Board of Directors of APSCL:</a:t>
                      </a:r>
                    </a:p>
                    <a:p>
                      <a:pPr marL="342900" lvl="0" indent="-342900">
                        <a:spcAft>
                          <a:spcPts val="1000"/>
                        </a:spcAft>
                        <a:buFont typeface="Symbol" panose="05050102010706020507" pitchFamily="18" charset="2"/>
                        <a:buChar char=""/>
                      </a:pPr>
                      <a:r>
                        <a:rPr lang="en-IN" sz="1200">
                          <a:effectLst/>
                        </a:rPr>
                        <a:t>Secretary, Power Division (Chairman, APSCL)</a:t>
                      </a:r>
                    </a:p>
                    <a:p>
                      <a:pPr marL="342900" lvl="0" indent="-342900">
                        <a:spcAft>
                          <a:spcPts val="1000"/>
                        </a:spcAft>
                        <a:buFont typeface="Symbol" panose="05050102010706020507" pitchFamily="18" charset="2"/>
                        <a:buChar char=""/>
                      </a:pPr>
                      <a:r>
                        <a:rPr lang="en-IN" sz="1200">
                          <a:effectLst/>
                        </a:rPr>
                        <a:t>Joint Secretary, Power Division</a:t>
                      </a:r>
                    </a:p>
                    <a:p>
                      <a:pPr marL="342900" lvl="0" indent="-342900">
                        <a:spcAft>
                          <a:spcPts val="1000"/>
                        </a:spcAft>
                        <a:buFont typeface="Symbol" panose="05050102010706020507" pitchFamily="18" charset="2"/>
                        <a:buChar char=""/>
                      </a:pPr>
                      <a:r>
                        <a:rPr lang="en-IN" sz="1200">
                          <a:effectLst/>
                        </a:rPr>
                        <a:t>Deputy Secretary, Energy &amp; Mineral Resources Division</a:t>
                      </a:r>
                    </a:p>
                    <a:p>
                      <a:pPr marL="342900" lvl="0" indent="-342900">
                        <a:spcAft>
                          <a:spcPts val="1000"/>
                        </a:spcAft>
                        <a:buFont typeface="Symbol" panose="05050102010706020507" pitchFamily="18" charset="2"/>
                        <a:buChar char=""/>
                      </a:pPr>
                      <a:r>
                        <a:rPr lang="en-IN" sz="1200">
                          <a:effectLst/>
                        </a:rPr>
                        <a:t>Director, Prime Minister’s Office</a:t>
                      </a:r>
                    </a:p>
                    <a:p>
                      <a:pPr marL="342900" lvl="0" indent="-342900">
                        <a:spcAft>
                          <a:spcPts val="1000"/>
                        </a:spcAft>
                        <a:buFont typeface="Symbol" panose="05050102010706020507" pitchFamily="18" charset="2"/>
                        <a:buChar char=""/>
                      </a:pPr>
                      <a:r>
                        <a:rPr lang="en-IN" sz="1200">
                          <a:effectLst/>
                        </a:rPr>
                        <a:t>Chairman, BPDB</a:t>
                      </a:r>
                    </a:p>
                    <a:p>
                      <a:pPr marL="342900" lvl="0" indent="-342900">
                        <a:spcAft>
                          <a:spcPts val="1000"/>
                        </a:spcAft>
                        <a:buFont typeface="Symbol" panose="05050102010706020507" pitchFamily="18" charset="2"/>
                        <a:buChar char=""/>
                      </a:pPr>
                      <a:r>
                        <a:rPr lang="en-IN" sz="1200">
                          <a:effectLst/>
                        </a:rPr>
                        <a:t>Member (Generation), BPDB</a:t>
                      </a:r>
                    </a:p>
                    <a:p>
                      <a:pPr marL="342900" lvl="0" indent="-342900">
                        <a:spcAft>
                          <a:spcPts val="1000"/>
                        </a:spcAft>
                        <a:buFont typeface="Symbol" panose="05050102010706020507" pitchFamily="18" charset="2"/>
                        <a:buChar char=""/>
                      </a:pPr>
                      <a:r>
                        <a:rPr lang="en-IN" sz="1200">
                          <a:effectLst/>
                        </a:rPr>
                        <a:t>Member (P&amp;D), BPDB</a:t>
                      </a:r>
                    </a:p>
                    <a:p>
                      <a:pPr marL="342900" lvl="0" indent="-342900">
                        <a:spcAft>
                          <a:spcPts val="1000"/>
                        </a:spcAft>
                        <a:buFont typeface="Symbol" panose="05050102010706020507" pitchFamily="18" charset="2"/>
                        <a:buChar char=""/>
                      </a:pPr>
                      <a:r>
                        <a:rPr lang="en-IN" sz="1200">
                          <a:effectLst/>
                        </a:rPr>
                        <a:t>Managing Director, APSCL</a:t>
                      </a:r>
                    </a:p>
                    <a:p>
                      <a:pPr marL="342900" lvl="0" indent="-342900">
                        <a:spcAft>
                          <a:spcPts val="1000"/>
                        </a:spcAft>
                        <a:buFont typeface="Symbol" panose="05050102010706020507" pitchFamily="18" charset="2"/>
                        <a:buChar char=""/>
                      </a:pPr>
                      <a:r>
                        <a:rPr lang="en-IN" sz="1200">
                          <a:effectLst/>
                        </a:rPr>
                        <a:t>4 other Directors from the fields of academics (engineering), accounts &amp; finance, consumer and industrial federation.</a:t>
                      </a:r>
                      <a:endParaRPr lang="en-IN" sz="1200">
                        <a:effectLst/>
                        <a:latin typeface="Verdana" panose="020B0604030504040204" pitchFamily="34" charset="0"/>
                        <a:ea typeface="Verdana" panose="020B0604030504040204" pitchFamily="34" charset="0"/>
                        <a:cs typeface="Vrinda" panose="020B0502040204020203" pitchFamily="34" charset="0"/>
                      </a:endParaRPr>
                    </a:p>
                  </a:txBody>
                  <a:tcPr marL="40126" marR="40126" marT="0" marB="0"/>
                </a:tc>
              </a:tr>
              <a:tr h="311971">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a:effectLst/>
                        </a:rPr>
                        <a:t>More than 50% of the Directors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hMerge="1">
                  <a:txBody>
                    <a:bodyPr/>
                    <a:lstStyle/>
                    <a:p>
                      <a:endParaRPr lang="en-IN"/>
                    </a:p>
                  </a:txBody>
                  <a:tcPr/>
                </a:tc>
              </a:tr>
              <a:tr h="290457">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a:effectLst/>
                        </a:rPr>
                        <a:t>1 vote per Board Member upon show of hands or upon a poll</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hMerge="1">
                  <a:txBody>
                    <a:bodyPr/>
                    <a:lstStyle/>
                    <a:p>
                      <a:endParaRPr lang="en-IN"/>
                    </a:p>
                  </a:txBody>
                  <a:tcPr/>
                </a:tc>
              </a:tr>
              <a:tr h="527125">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a:effectLst/>
                        </a:rPr>
                        <a:t>Vote in a meeting is generally by show of hands, unless poll is demanded by any five members, holding not less than 1/10</a:t>
                      </a:r>
                      <a:r>
                        <a:rPr lang="en-IN" sz="1200" baseline="30000">
                          <a:effectLst/>
                        </a:rPr>
                        <a:t>th</a:t>
                      </a:r>
                      <a:r>
                        <a:rPr lang="en-IN" sz="1200">
                          <a:effectLst/>
                        </a:rPr>
                        <a:t> of the issued capital that carries 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hMerge="1">
                  <a:txBody>
                    <a:bodyPr/>
                    <a:lstStyle/>
                    <a:p>
                      <a:endParaRPr lang="en-IN"/>
                    </a:p>
                  </a:txBody>
                  <a:tcPr/>
                </a:tc>
              </a:tr>
              <a:tr h="548640">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a:effectLst/>
                        </a:rPr>
                        <a:t>The Board of Directors will elect Chairman from amongst themselves.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a:effectLst/>
                        </a:rPr>
                        <a:t>Current Chairman is the Secretary, power division.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r>
              <a:tr h="435693">
                <a:tc>
                  <a:txBody>
                    <a:bodyPr/>
                    <a:lstStyle/>
                    <a:p>
                      <a:pPr algn="l">
                        <a:lnSpc>
                          <a:spcPct val="115000"/>
                        </a:lnSpc>
                        <a:spcAft>
                          <a:spcPts val="600"/>
                        </a:spcAft>
                      </a:pPr>
                      <a:r>
                        <a:rPr lang="en-IN" sz="1200">
                          <a:effectLst/>
                        </a:rPr>
                        <a:t>Chairman’s Casting Vote</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dirty="0">
                          <a:effectLst/>
                        </a:rPr>
                        <a:t>Chairman has  the power to cast a second vote in case of equality of votes on show of hands or a poll.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hMerge="1">
                  <a:txBody>
                    <a:bodyPr/>
                    <a:lstStyle/>
                    <a:p>
                      <a:endParaRPr lang="en-IN"/>
                    </a:p>
                  </a:txBody>
                  <a:tcPr/>
                </a:tc>
              </a:tr>
            </a:tbl>
          </a:graphicData>
        </a:graphic>
      </p:graphicFrame>
      <p:sp>
        <p:nvSpPr>
          <p:cNvPr id="6" name="Action Button: Back or Previous 5">
            <a:hlinkClick r:id="rId3" action="ppaction://hlinksldjump" highlightClick="1"/>
          </p:cNvPr>
          <p:cNvSpPr/>
          <p:nvPr/>
        </p:nvSpPr>
        <p:spPr bwMode="gray">
          <a:xfrm>
            <a:off x="10241509" y="6832960"/>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553878536"/>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NWPGCL Board Governance (1/2)</a:t>
            </a:r>
            <a:endParaRPr lang="en-IN" b="1" dirty="0"/>
          </a:p>
        </p:txBody>
      </p:sp>
      <p:graphicFrame>
        <p:nvGraphicFramePr>
          <p:cNvPr id="4" name="Table 3"/>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Legal status of NWPGCL</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i="0">
                          <a:effectLst/>
                          <a:latin typeface="+mn-lt"/>
                          <a:ea typeface="Verdana" panose="020B0604030504040204" pitchFamily="34" charset="0"/>
                          <a:cs typeface="Vrinda" panose="020B0502040204020203" pitchFamily="34" charset="0"/>
                        </a:rPr>
                        <a:t>NWPGCL was incorporated as a public limited company under the Bangladesh Companies Act 1994 on August 28, 2007.</a:t>
                      </a:r>
                    </a:p>
                  </a:txBody>
                  <a:tcPr marL="68580" marR="68580" marT="0" marB="0"/>
                </a:tc>
              </a:tr>
              <a:tr h="474930">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Power Purchase Agreement</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a:effectLst/>
                          <a:latin typeface="+mn-lt"/>
                          <a:ea typeface="Verdana" panose="020B0604030504040204" pitchFamily="34" charset="0"/>
                          <a:cs typeface="Arial" panose="020B0604020202020204" pitchFamily="34" charset="0"/>
                        </a:rPr>
                        <a:t>NWPGCL has entered into PPA with BPDB for sale of electricity generated from its power plants.</a:t>
                      </a:r>
                      <a:endParaRPr lang="en-IN" sz="1200" i="0">
                        <a:effectLst/>
                        <a:latin typeface="+mn-lt"/>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Shareholding</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dirty="0">
                          <a:effectLst/>
                          <a:latin typeface="+mn-lt"/>
                          <a:ea typeface="Verdana" panose="020B0604030504040204" pitchFamily="34" charset="0"/>
                          <a:cs typeface="Arial" panose="020B0604020202020204" pitchFamily="34" charset="0"/>
                        </a:rPr>
                        <a:t>BPDB has 100% shareholding of NWPGCL</a:t>
                      </a:r>
                      <a:endParaRPr lang="en-IN" sz="120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5" name="Table 4"/>
          <p:cNvGraphicFramePr>
            <a:graphicFrameLocks noGrp="1"/>
          </p:cNvGraphicFramePr>
          <p:nvPr>
            <p:extLst/>
          </p:nvPr>
        </p:nvGraphicFramePr>
        <p:xfrm>
          <a:off x="439792" y="2679822"/>
          <a:ext cx="9785951" cy="2752796"/>
        </p:xfrm>
        <a:graphic>
          <a:graphicData uri="http://schemas.openxmlformats.org/drawingml/2006/table">
            <a:tbl>
              <a:tblPr firstRow="1" firstCol="1" bandRow="1">
                <a:tableStyleId>{5C22544A-7EE6-4342-B048-85BDC9FD1C3A}</a:tableStyleId>
              </a:tblPr>
              <a:tblGrid>
                <a:gridCol w="1607294"/>
                <a:gridCol w="3937872"/>
                <a:gridCol w="4240785"/>
              </a:tblGrid>
              <a:tr h="386111">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NWPGCL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366685">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BPDB (represented by Chairman)-93 shares</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(Finance), BPDB- 1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(Generation), BPDB-1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(P&amp;D), BPDB-1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4 representatives of independent consumer or professional interest groups – 1 share each (total 4 shares)</a:t>
                      </a:r>
                    </a:p>
                  </a:txBody>
                  <a:tcPr marL="68580" marR="68580" marT="0" marB="0"/>
                </a:tc>
                <a:tc>
                  <a:txBody>
                    <a:bodyPr/>
                    <a:lstStyle/>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Chairman, BPDB – 15999994 shares</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(Finance), BPDB –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(Generation), BPDB –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(P&amp;D), BPDB –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(Admin), BPDB –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(Company Affairs), BPDB – 1 share</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(Distribution), BPDB – 1 share</a:t>
                      </a:r>
                    </a:p>
                    <a:p>
                      <a:pPr marL="21590" algn="just">
                        <a:spcAft>
                          <a:spcPts val="1000"/>
                        </a:spcAft>
                      </a:pPr>
                      <a:r>
                        <a:rPr lang="en-IN" sz="1200" b="0" i="0" dirty="0">
                          <a:effectLst/>
                          <a:latin typeface="+mn-lt"/>
                          <a:ea typeface="Verdana" panose="020B0604030504040204" pitchFamily="34" charset="0"/>
                          <a:cs typeface="Arial" panose="020B0604020202020204" pitchFamily="34" charset="0"/>
                        </a:rPr>
                        <a:t>(as per NWPGCL Annual Report 2015-16)</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sp>
        <p:nvSpPr>
          <p:cNvPr id="7" name="Action Button: Back or Previous 6">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94751125"/>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NWPGCL Board Governance (2/2)</a:t>
            </a:r>
            <a:endParaRPr lang="en-IN" b="1" dirty="0"/>
          </a:p>
        </p:txBody>
      </p:sp>
      <p:graphicFrame>
        <p:nvGraphicFramePr>
          <p:cNvPr id="4" name="Table 3"/>
          <p:cNvGraphicFramePr>
            <a:graphicFrameLocks noGrp="1"/>
          </p:cNvGraphicFramePr>
          <p:nvPr>
            <p:extLst/>
          </p:nvPr>
        </p:nvGraphicFramePr>
        <p:xfrm>
          <a:off x="439792" y="754197"/>
          <a:ext cx="9785951" cy="6760429"/>
        </p:xfrm>
        <a:graphic>
          <a:graphicData uri="http://schemas.openxmlformats.org/drawingml/2006/table">
            <a:tbl>
              <a:tblPr firstRow="1" firstCol="1" bandRow="1">
                <a:tableStyleId>{5C22544A-7EE6-4342-B048-85BDC9FD1C3A}</a:tableStyleId>
              </a:tblPr>
              <a:tblGrid>
                <a:gridCol w="1607294"/>
                <a:gridCol w="3937872"/>
                <a:gridCol w="4240785"/>
              </a:tblGrid>
              <a:tr h="364598">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NWPGCL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4219653">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Number of Directors – Minimum 9 and maximum 12</a:t>
                      </a:r>
                      <a:endParaRPr lang="en-IN" sz="1200" b="0" i="0">
                        <a:effectLst/>
                        <a:latin typeface="+mn-lt"/>
                        <a:ea typeface="Times" panose="02020603050405020304" pitchFamily="18" charset="0"/>
                        <a:cs typeface="Arial" panose="020B0604020202020204" pitchFamily="34" charset="0"/>
                      </a:endParaRPr>
                    </a:p>
                    <a:p>
                      <a:pPr marL="342900" lvl="0" indent="-342900">
                        <a:spcAft>
                          <a:spcPts val="1000"/>
                        </a:spcAft>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Directors elected and / or nominated by the shareholders amongst themselves</a:t>
                      </a:r>
                    </a:p>
                    <a:p>
                      <a:pPr marL="342900" lvl="0" indent="-342900">
                        <a:spcAft>
                          <a:spcPts val="1000"/>
                        </a:spcAft>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Directors from each group representing</a:t>
                      </a:r>
                    </a:p>
                    <a:p>
                      <a:pPr marL="342900" lvl="0" indent="-342900">
                        <a:spcAft>
                          <a:spcPts val="1000"/>
                        </a:spcAft>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persons specialized in power generation, transmission and distribution</a:t>
                      </a:r>
                      <a:endParaRPr lang="en-IN" sz="1200" b="0" i="0">
                        <a:effectLst/>
                        <a:latin typeface="+mn-lt"/>
                        <a:ea typeface="Arial" panose="020B0604020202020204" pitchFamily="34" charset="0"/>
                        <a:cs typeface="Mangal" panose="02040503050203030202" pitchFamily="18" charset="0"/>
                      </a:endParaRPr>
                    </a:p>
                    <a:p>
                      <a:pPr marL="342900" lvl="0" indent="-342900">
                        <a:spcAft>
                          <a:spcPts val="1000"/>
                        </a:spcAft>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consumers</a:t>
                      </a:r>
                      <a:endParaRPr lang="en-IN" sz="1200" b="0" i="0">
                        <a:effectLst/>
                        <a:latin typeface="+mn-lt"/>
                        <a:ea typeface="Arial" panose="020B0604020202020204" pitchFamily="34" charset="0"/>
                        <a:cs typeface="Mangal" panose="02040503050203030202" pitchFamily="18" charset="0"/>
                      </a:endParaRPr>
                    </a:p>
                    <a:p>
                      <a:pPr marL="342900" lvl="0" indent="-342900">
                        <a:spcAft>
                          <a:spcPts val="1000"/>
                        </a:spcAft>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business</a:t>
                      </a:r>
                      <a:endParaRPr lang="en-IN" sz="1200" b="0" i="0">
                        <a:effectLst/>
                        <a:latin typeface="+mn-lt"/>
                        <a:ea typeface="Arial" panose="020B0604020202020204" pitchFamily="34" charset="0"/>
                        <a:cs typeface="Mangal" panose="02040503050203030202" pitchFamily="18" charset="0"/>
                      </a:endParaRPr>
                    </a:p>
                    <a:p>
                      <a:pPr marL="342900" lvl="0" indent="-342900">
                        <a:spcAft>
                          <a:spcPts val="1000"/>
                        </a:spcAft>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person(s) specialized in finance</a:t>
                      </a:r>
                      <a:endParaRPr lang="en-IN" sz="1200" b="0" i="0">
                        <a:effectLst/>
                        <a:latin typeface="+mn-lt"/>
                        <a:ea typeface="Arial" panose="020B0604020202020204" pitchFamily="34" charset="0"/>
                        <a:cs typeface="Mangal" panose="02040503050203030202" pitchFamily="18" charset="0"/>
                      </a:endParaRPr>
                    </a:p>
                    <a:p>
                      <a:pPr marL="342900" lvl="0" indent="-342900">
                        <a:spcAft>
                          <a:spcPts val="1000"/>
                        </a:spcAft>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MD – ex-officio member of the Board</a:t>
                      </a:r>
                    </a:p>
                    <a:p>
                      <a:pPr algn="just">
                        <a:spcAft>
                          <a:spcPts val="1000"/>
                        </a:spcAft>
                      </a:pPr>
                      <a:r>
                        <a:rPr lang="en-IN" sz="1200" b="0" i="0">
                          <a:effectLst/>
                          <a:latin typeface="+mn-lt"/>
                          <a:ea typeface="Verdana" panose="020B0604030504040204" pitchFamily="34" charset="0"/>
                          <a:cs typeface="Arial" panose="020B0604020202020204" pitchFamily="34" charset="0"/>
                        </a:rPr>
                        <a:t>(as per Alteration of the AoA in the EGM dated 22</a:t>
                      </a:r>
                      <a:r>
                        <a:rPr lang="en-IN" sz="1200" b="0" i="0" baseline="30000">
                          <a:effectLst/>
                          <a:latin typeface="+mn-lt"/>
                          <a:ea typeface="Verdana" panose="020B0604030504040204" pitchFamily="34" charset="0"/>
                          <a:cs typeface="Arial" panose="020B0604020202020204" pitchFamily="34" charset="0"/>
                        </a:rPr>
                        <a:t>nd</a:t>
                      </a:r>
                      <a:r>
                        <a:rPr lang="en-IN" sz="1200" b="0" i="0">
                          <a:effectLst/>
                          <a:latin typeface="+mn-lt"/>
                          <a:ea typeface="Verdana" panose="020B0604030504040204" pitchFamily="34" charset="0"/>
                          <a:cs typeface="Arial" panose="020B0604020202020204" pitchFamily="34" charset="0"/>
                        </a:rPr>
                        <a:t> March 2008 and 3</a:t>
                      </a:r>
                      <a:r>
                        <a:rPr lang="en-IN" sz="1200" b="0" i="0" baseline="30000">
                          <a:effectLst/>
                          <a:latin typeface="+mn-lt"/>
                          <a:ea typeface="Verdana" panose="020B0604030504040204" pitchFamily="34" charset="0"/>
                          <a:cs typeface="Arial" panose="020B0604020202020204" pitchFamily="34" charset="0"/>
                        </a:rPr>
                        <a:t>rd</a:t>
                      </a:r>
                      <a:r>
                        <a:rPr lang="en-IN" sz="1200" b="0" i="0">
                          <a:effectLst/>
                          <a:latin typeface="+mn-lt"/>
                          <a:ea typeface="Verdana" panose="020B0604030504040204" pitchFamily="34" charset="0"/>
                          <a:cs typeface="Arial" panose="020B0604020202020204" pitchFamily="34" charset="0"/>
                        </a:rPr>
                        <a:t> April 2008)</a:t>
                      </a:r>
                      <a:endParaRPr lang="en-IN" sz="1200" b="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spcAft>
                          <a:spcPts val="1000"/>
                        </a:spcAft>
                      </a:pPr>
                      <a:r>
                        <a:rPr lang="en-IN" sz="1200" b="0" i="0" dirty="0">
                          <a:effectLst/>
                          <a:latin typeface="+mn-lt"/>
                          <a:ea typeface="Verdana" panose="020B0604030504040204" pitchFamily="34" charset="0"/>
                          <a:cs typeface="Arial" panose="020B0604020202020204" pitchFamily="34" charset="0"/>
                        </a:rPr>
                        <a:t>Present number of Board of Directors of NWPGCL – 12 (out of which BPDB’s representation is 2)</a:t>
                      </a:r>
                      <a:endParaRPr lang="en-IN" sz="1200" b="0" i="0" dirty="0">
                        <a:effectLst/>
                        <a:latin typeface="+mn-lt"/>
                        <a:ea typeface="Times" panose="02020603050405020304" pitchFamily="18" charset="0"/>
                        <a:cs typeface="Arial" panose="020B0604020202020204" pitchFamily="34" charset="0"/>
                      </a:endParaRPr>
                    </a:p>
                    <a:p>
                      <a:pPr algn="just">
                        <a:spcAft>
                          <a:spcPts val="1000"/>
                        </a:spcAft>
                      </a:pPr>
                      <a:r>
                        <a:rPr lang="en-IN" sz="1200" b="0" i="0" dirty="0">
                          <a:effectLst/>
                          <a:latin typeface="+mn-lt"/>
                          <a:ea typeface="Verdana" panose="020B0604030504040204" pitchFamily="34" charset="0"/>
                          <a:cs typeface="Arial" panose="020B0604020202020204" pitchFamily="34" charset="0"/>
                        </a:rPr>
                        <a:t>Present Board of Directors of NWPGCL:</a:t>
                      </a:r>
                      <a:endParaRPr lang="en-IN" sz="1200" b="0" i="0" dirty="0">
                        <a:effectLst/>
                        <a:latin typeface="+mn-lt"/>
                        <a:ea typeface="Times" panose="02020603050405020304" pitchFamily="18" charset="0"/>
                        <a:cs typeface="Arial" panose="020B0604020202020204" pitchFamily="34" charset="0"/>
                      </a:endParaRP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Secretary, Power Division (Chairman - NWPGCL)</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Joint Secretary (Company Affairs), Power Division</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Additional Divisional Commissioner, (Revenue), Khulna</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Managing Director, CPGCBL</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Director (Operation &amp; Mines), </a:t>
                      </a:r>
                      <a:r>
                        <a:rPr lang="en-IN" sz="1200" b="0" i="0" dirty="0" err="1">
                          <a:effectLst/>
                          <a:latin typeface="+mn-lt"/>
                          <a:ea typeface="Verdana" panose="020B0604030504040204" pitchFamily="34" charset="0"/>
                          <a:cs typeface="Vrinda" panose="020B0502040204020203" pitchFamily="34" charset="0"/>
                        </a:rPr>
                        <a:t>Petrobangla</a:t>
                      </a:r>
                      <a:endParaRPr lang="en-IN" sz="1200" b="0" i="0" dirty="0">
                        <a:effectLst/>
                        <a:latin typeface="+mn-lt"/>
                        <a:ea typeface="Verdana" panose="020B0604030504040204" pitchFamily="34" charset="0"/>
                        <a:cs typeface="Vrinda" panose="020B0502040204020203" pitchFamily="34" charset="0"/>
                      </a:endParaRP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Chairman, BPDB</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(Finance), BPDB</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Managing Director, NWPGCL</a:t>
                      </a:r>
                    </a:p>
                    <a:p>
                      <a:pPr marL="342900" lvl="0" indent="-342900">
                        <a:spcAft>
                          <a:spcPts val="1000"/>
                        </a:spcAft>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4 other Directors from the fields of engineering, accounts &amp; finance, consumer and industrial association.</a:t>
                      </a:r>
                    </a:p>
                  </a:txBody>
                  <a:tcPr marL="68580" marR="68580" marT="0" marB="0"/>
                </a:tc>
              </a:tr>
              <a:tr h="260241">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Quorum is majority (as per Alteration of the AoA in the EGM dated 22</a:t>
                      </a:r>
                      <a:r>
                        <a:rPr lang="en-IN" sz="1200" b="0" i="0" baseline="30000">
                          <a:effectLst/>
                          <a:latin typeface="+mn-lt"/>
                          <a:ea typeface="Verdana" panose="020B0604030504040204" pitchFamily="34" charset="0"/>
                          <a:cs typeface="Arial" panose="020B0604020202020204" pitchFamily="34" charset="0"/>
                        </a:rPr>
                        <a:t>nd</a:t>
                      </a:r>
                      <a:r>
                        <a:rPr lang="en-IN" sz="1200" b="0" i="0">
                          <a:effectLst/>
                          <a:latin typeface="+mn-lt"/>
                          <a:ea typeface="Verdana" panose="020B0604030504040204" pitchFamily="34" charset="0"/>
                          <a:cs typeface="Arial" panose="020B0604020202020204" pitchFamily="34" charset="0"/>
                        </a:rPr>
                        <a:t> March 2008 and 3</a:t>
                      </a:r>
                      <a:r>
                        <a:rPr lang="en-IN" sz="1200" b="0" i="0" baseline="30000">
                          <a:effectLst/>
                          <a:latin typeface="+mn-lt"/>
                          <a:ea typeface="Verdana" panose="020B0604030504040204" pitchFamily="34" charset="0"/>
                          <a:cs typeface="Arial" panose="020B0604020202020204" pitchFamily="34" charset="0"/>
                        </a:rPr>
                        <a:t>rd</a:t>
                      </a:r>
                      <a:r>
                        <a:rPr lang="en-IN" sz="1200" b="0" i="0">
                          <a:effectLst/>
                          <a:latin typeface="+mn-lt"/>
                          <a:ea typeface="Verdana" panose="020B0604030504040204" pitchFamily="34" charset="0"/>
                          <a:cs typeface="Arial" panose="020B0604020202020204" pitchFamily="34" charset="0"/>
                        </a:rPr>
                        <a:t> April 2008).</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30306">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b="0" i="0" dirty="0">
                          <a:effectLst/>
                          <a:latin typeface="+mn-lt"/>
                          <a:ea typeface="Verdana" panose="020B0604030504040204" pitchFamily="34" charset="0"/>
                          <a:cs typeface="Arial" panose="020B0604020202020204" pitchFamily="34" charset="0"/>
                        </a:rPr>
                        <a:t>Each members have 1 vote in show of </a:t>
                      </a:r>
                      <a:r>
                        <a:rPr lang="en-IN" sz="1200" b="0" i="0" dirty="0" smtClean="0">
                          <a:effectLst/>
                          <a:latin typeface="+mn-lt"/>
                          <a:ea typeface="Verdana" panose="020B0604030504040204" pitchFamily="34" charset="0"/>
                          <a:cs typeface="Arial" panose="020B0604020202020204" pitchFamily="34" charset="0"/>
                        </a:rPr>
                        <a:t>hands. On </a:t>
                      </a:r>
                      <a:r>
                        <a:rPr lang="en-IN" sz="1200" b="0" i="0" dirty="0">
                          <a:effectLst/>
                          <a:latin typeface="+mn-lt"/>
                          <a:ea typeface="Verdana" panose="020B0604030504040204" pitchFamily="34" charset="0"/>
                          <a:cs typeface="Arial" panose="020B0604020202020204" pitchFamily="34" charset="0"/>
                        </a:rPr>
                        <a:t>a poll, every member shall have One Vote in respect of each share held by him.</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62578">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Vote in a meeting is generally by show of hands, unless poll is demanded by any five members, holding not less than 1/10</a:t>
                      </a:r>
                      <a:r>
                        <a:rPr lang="en-IN" sz="1200" b="0" i="0" baseline="30000">
                          <a:effectLst/>
                          <a:latin typeface="+mn-lt"/>
                          <a:ea typeface="Verdana" panose="020B0604030504040204" pitchFamily="34" charset="0"/>
                          <a:cs typeface="Arial" panose="020B0604020202020204" pitchFamily="34" charset="0"/>
                        </a:rPr>
                        <a:t>th</a:t>
                      </a:r>
                      <a:r>
                        <a:rPr lang="en-IN" sz="1200" b="0" i="0">
                          <a:effectLst/>
                          <a:latin typeface="+mn-lt"/>
                          <a:ea typeface="Verdana" panose="020B0604030504040204" pitchFamily="34" charset="0"/>
                          <a:cs typeface="Arial" panose="020B0604020202020204" pitchFamily="34" charset="0"/>
                        </a:rPr>
                        <a:t> of the issued capital that carries voting rights.</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02429">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BPDB Chairman to be the first Chairman and continue until otherwise decided by the Ordinary Meeting.</a:t>
                      </a:r>
                      <a:endParaRPr lang="en-IN" sz="1200" b="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Current Chairman is the Secretary, power division</a:t>
                      </a:r>
                      <a:endParaRPr lang="en-IN" sz="1200" b="0" i="0">
                        <a:effectLst/>
                        <a:latin typeface="+mn-lt"/>
                        <a:ea typeface="Times" panose="02020603050405020304" pitchFamily="18" charset="0"/>
                        <a:cs typeface="Arial" panose="020B0604020202020204" pitchFamily="34" charset="0"/>
                      </a:endParaRPr>
                    </a:p>
                  </a:txBody>
                  <a:tcPr marL="68580" marR="68580" marT="0" marB="0"/>
                </a:tc>
              </a:tr>
              <a:tr h="252868">
                <a:tc>
                  <a:txBody>
                    <a:bodyPr/>
                    <a:lstStyle/>
                    <a:p>
                      <a:pPr algn="l">
                        <a:lnSpc>
                          <a:spcPct val="115000"/>
                        </a:lnSpc>
                        <a:spcAft>
                          <a:spcPts val="600"/>
                        </a:spcAft>
                      </a:pPr>
                      <a:r>
                        <a:rPr lang="en-IN" sz="1200">
                          <a:effectLst/>
                        </a:rPr>
                        <a:t>Chairman’s Casting Vote</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just">
                        <a:spcAft>
                          <a:spcPts val="1000"/>
                        </a:spcAft>
                      </a:pPr>
                      <a:r>
                        <a:rPr lang="en-IN" sz="1200" b="0" i="0" dirty="0">
                          <a:effectLst/>
                          <a:latin typeface="+mn-lt"/>
                          <a:ea typeface="Verdana" panose="020B0604030504040204" pitchFamily="34" charset="0"/>
                          <a:cs typeface="Arial" panose="020B0604020202020204" pitchFamily="34" charset="0"/>
                        </a:rPr>
                        <a:t>Chairman has  the power to cast a second vote in case of equality of votes on show of hands or a poll.</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bl>
          </a:graphicData>
        </a:graphic>
      </p:graphicFrame>
      <p:sp>
        <p:nvSpPr>
          <p:cNvPr id="6" name="Action Button: Back or Previous 5">
            <a:hlinkClick r:id="rId3" action="ppaction://hlinksldjump" highlightClick="1"/>
          </p:cNvPr>
          <p:cNvSpPr/>
          <p:nvPr/>
        </p:nvSpPr>
        <p:spPr bwMode="gray">
          <a:xfrm>
            <a:off x="10259073" y="676989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33104651"/>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NWPGCL – additional observations</a:t>
            </a:r>
            <a:endParaRPr lang="en-IN" b="1" dirty="0"/>
          </a:p>
        </p:txBody>
      </p:sp>
      <p:sp>
        <p:nvSpPr>
          <p:cNvPr id="2" name="TextBox 1"/>
          <p:cNvSpPr txBox="1"/>
          <p:nvPr/>
        </p:nvSpPr>
        <p:spPr>
          <a:xfrm>
            <a:off x="439793" y="892885"/>
            <a:ext cx="9785951" cy="5035866"/>
          </a:xfrm>
          <a:prstGeom prst="rect">
            <a:avLst/>
          </a:prstGeom>
          <a:noFill/>
        </p:spPr>
        <p:txBody>
          <a:bodyPr wrap="square" lIns="0" tIns="0" rIns="0" bIns="0" rtlCol="0">
            <a:spAutoFit/>
          </a:bodyPr>
          <a:lstStyle/>
          <a:p>
            <a:pPr marL="342900" indent="-342900">
              <a:lnSpc>
                <a:spcPct val="114000"/>
              </a:lnSpc>
              <a:spcAft>
                <a:spcPts val="600"/>
              </a:spcAft>
              <a:buFont typeface="Arial" panose="020B0604020202020204" pitchFamily="34" charset="0"/>
              <a:buChar char="•"/>
            </a:pPr>
            <a:r>
              <a:rPr lang="en-US" sz="1200" dirty="0">
                <a:solidFill>
                  <a:prstClr val="black"/>
                </a:solidFill>
              </a:rPr>
              <a:t>As per the </a:t>
            </a:r>
            <a:r>
              <a:rPr lang="en-US" sz="1200" dirty="0" err="1">
                <a:solidFill>
                  <a:prstClr val="black"/>
                </a:solidFill>
              </a:rPr>
              <a:t>AoA</a:t>
            </a:r>
            <a:r>
              <a:rPr lang="en-US" sz="1200" dirty="0">
                <a:solidFill>
                  <a:prstClr val="black"/>
                </a:solidFill>
              </a:rPr>
              <a:t> of NWPGCL, at least 50% members of the Board of NWPGCL, shall be persons who are no longer employees of BPDB or the Government of Bangladesh in the preceding 3 years.</a:t>
            </a:r>
            <a:endParaRPr lang="en-IN" sz="1200" dirty="0">
              <a:solidFill>
                <a:prstClr val="black"/>
              </a:solidFill>
            </a:endParaRPr>
          </a:p>
          <a:p>
            <a:pPr marL="342900" indent="-342900">
              <a:lnSpc>
                <a:spcPct val="114000"/>
              </a:lnSpc>
              <a:spcAft>
                <a:spcPts val="600"/>
              </a:spcAft>
              <a:buFont typeface="Arial" panose="020B0604020202020204" pitchFamily="34" charset="0"/>
              <a:buChar char="•"/>
            </a:pPr>
            <a:r>
              <a:rPr lang="en-US" sz="1200" dirty="0">
                <a:solidFill>
                  <a:prstClr val="black"/>
                </a:solidFill>
              </a:rPr>
              <a:t>As per the </a:t>
            </a:r>
            <a:r>
              <a:rPr lang="en-US" sz="1200" dirty="0" err="1">
                <a:solidFill>
                  <a:prstClr val="black"/>
                </a:solidFill>
              </a:rPr>
              <a:t>AoA</a:t>
            </a:r>
            <a:r>
              <a:rPr lang="en-US" sz="1200" dirty="0">
                <a:solidFill>
                  <a:prstClr val="black"/>
                </a:solidFill>
              </a:rPr>
              <a:t> of NWPGCL, at least 50% of the above shall be representatives from independent consumer or professional interest groups.</a:t>
            </a:r>
            <a:endParaRPr lang="en-IN" sz="1200" dirty="0">
              <a:solidFill>
                <a:prstClr val="black"/>
              </a:solidFill>
            </a:endParaRPr>
          </a:p>
          <a:p>
            <a:pPr marL="342900" indent="-342900">
              <a:lnSpc>
                <a:spcPct val="114000"/>
              </a:lnSpc>
              <a:spcAft>
                <a:spcPts val="600"/>
              </a:spcAft>
              <a:buFont typeface="Arial" panose="020B0604020202020204" pitchFamily="34" charset="0"/>
              <a:buChar char="•"/>
            </a:pPr>
            <a:r>
              <a:rPr lang="en-US" sz="1200" dirty="0">
                <a:solidFill>
                  <a:prstClr val="black"/>
                </a:solidFill>
              </a:rPr>
              <a:t>BPDB can inspect the books of accounts and any affairs of NWPGCL.</a:t>
            </a:r>
            <a:endParaRPr lang="en-IN" sz="1200" dirty="0">
              <a:solidFill>
                <a:prstClr val="black"/>
              </a:solidFill>
            </a:endParaRPr>
          </a:p>
          <a:p>
            <a:pPr marL="342900" indent="-342900">
              <a:lnSpc>
                <a:spcPct val="114000"/>
              </a:lnSpc>
              <a:spcAft>
                <a:spcPts val="600"/>
              </a:spcAft>
              <a:buFont typeface="Arial" panose="020B0604020202020204" pitchFamily="34" charset="0"/>
              <a:buChar char="•"/>
            </a:pPr>
            <a:r>
              <a:rPr lang="en-US" sz="1200" dirty="0">
                <a:solidFill>
                  <a:prstClr val="black"/>
                </a:solidFill>
              </a:rPr>
              <a:t>As per the </a:t>
            </a:r>
            <a:r>
              <a:rPr lang="en-US" sz="1200" dirty="0" err="1">
                <a:solidFill>
                  <a:prstClr val="black"/>
                </a:solidFill>
              </a:rPr>
              <a:t>MoA</a:t>
            </a:r>
            <a:r>
              <a:rPr lang="en-US" sz="1200" dirty="0">
                <a:solidFill>
                  <a:prstClr val="black"/>
                </a:solidFill>
              </a:rPr>
              <a:t>, NWPGCL is mandated to do the following activities:</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run the company under a Corporate Development Plan made in compliance with the integrated power sector development need of the country framed and developed by BPDB.</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undertake consultancy services/ technical services from the pool of experts of the related support subsidiary of BPDB.</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undertake technical services from the Testing &amp; Repairing subsidiary of BPDB.</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undertake trainings from the academies / institutes of Training &amp; Career Development Subsidiary of BPDB.</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receive corporate financial advice and services from the pool of expert from Financial Management subsidiaries of BPDB.</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transfer or exchange human, physical and information resources among the holding company and subsidiaries as per agreed guidelines.</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make payment of commission or fee and/or to pay for any or all charges incurred by BPDB for its supervision and services rendered.</a:t>
            </a:r>
            <a:endParaRPr lang="en-IN" sz="1200" dirty="0">
              <a:solidFill>
                <a:prstClr val="black"/>
              </a:solidFill>
            </a:endParaRPr>
          </a:p>
          <a:p>
            <a:pPr marL="538163" indent="-171450">
              <a:lnSpc>
                <a:spcPct val="114000"/>
              </a:lnSpc>
              <a:spcAft>
                <a:spcPts val="600"/>
              </a:spcAft>
              <a:buFont typeface="Verdana" panose="020B0604030504040204" pitchFamily="34" charset="0"/>
              <a:buChar char="–"/>
            </a:pPr>
            <a:r>
              <a:rPr lang="en-US" sz="1200" dirty="0">
                <a:solidFill>
                  <a:prstClr val="black"/>
                </a:solidFill>
              </a:rPr>
              <a:t>To provide all operational and financial information of the company in timely manner as per the requirement of MIS of BPDB</a:t>
            </a:r>
            <a:r>
              <a:rPr lang="en-US" sz="1200" dirty="0" smtClean="0">
                <a:solidFill>
                  <a:prstClr val="black"/>
                </a:solidFill>
              </a:rPr>
              <a:t>.</a:t>
            </a:r>
            <a:endParaRPr lang="en-IN" sz="1200" dirty="0">
              <a:solidFill>
                <a:prstClr val="black"/>
              </a:solidFill>
            </a:endParaRPr>
          </a:p>
        </p:txBody>
      </p:sp>
      <p:sp>
        <p:nvSpPr>
          <p:cNvPr id="6" name="Action Button: Back or Previous 5">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767713207"/>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PGCB Board Governance (1/2)</a:t>
            </a:r>
            <a:endParaRPr lang="en-IN" b="1" dirty="0"/>
          </a:p>
        </p:txBody>
      </p:sp>
      <p:graphicFrame>
        <p:nvGraphicFramePr>
          <p:cNvPr id="4" name="Table 3"/>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i="0" dirty="0">
                          <a:effectLst/>
                          <a:latin typeface="+mn-lt"/>
                          <a:ea typeface="Verdana" panose="020B0604030504040204" pitchFamily="34" charset="0"/>
                          <a:cs typeface="Arial" panose="020B0604020202020204" pitchFamily="34" charset="0"/>
                        </a:rPr>
                        <a:t>Legal status of </a:t>
                      </a:r>
                      <a:r>
                        <a:rPr lang="en-IN" sz="1200" i="0" dirty="0" smtClean="0">
                          <a:effectLst/>
                          <a:latin typeface="+mn-lt"/>
                          <a:ea typeface="Verdana" panose="020B0604030504040204" pitchFamily="34" charset="0"/>
                          <a:cs typeface="Arial" panose="020B0604020202020204" pitchFamily="34" charset="0"/>
                        </a:rPr>
                        <a:t>PGCB</a:t>
                      </a:r>
                      <a:endParaRPr lang="en-IN" sz="1200" i="0" dirty="0">
                        <a:effectLst/>
                        <a:latin typeface="+mn-lt"/>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i="0">
                          <a:effectLst/>
                          <a:latin typeface="+mn-lt"/>
                          <a:ea typeface="Verdana" panose="020B0604030504040204" pitchFamily="34" charset="0"/>
                          <a:cs typeface="Vrinda" panose="020B0502040204020203" pitchFamily="34" charset="0"/>
                        </a:rPr>
                        <a:t>PGCB was incorporated as a public limited company under the Bangladesh Companies Act 1994 in November, 1996.</a:t>
                      </a:r>
                    </a:p>
                  </a:txBody>
                  <a:tcPr marL="68580" marR="68580" marT="0" marB="0"/>
                </a:tc>
              </a:tr>
              <a:tr h="474930">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Power Purchase Agreement</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a:effectLst/>
                          <a:latin typeface="+mn-lt"/>
                          <a:ea typeface="Verdana" panose="020B0604030504040204" pitchFamily="34" charset="0"/>
                          <a:cs typeface="Arial" panose="020B0604020202020204" pitchFamily="34" charset="0"/>
                        </a:rPr>
                        <a:t>PGCB has entered into PPA with BPDB for sale of electricity generated from BPDB power plants.</a:t>
                      </a:r>
                      <a:endParaRPr lang="en-IN" sz="1200" i="0">
                        <a:effectLst/>
                        <a:latin typeface="+mn-lt"/>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Shareholding</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dirty="0">
                          <a:effectLst/>
                          <a:latin typeface="+mn-lt"/>
                          <a:ea typeface="Verdana" panose="020B0604030504040204" pitchFamily="34" charset="0"/>
                          <a:cs typeface="Arial" panose="020B0604020202020204" pitchFamily="34" charset="0"/>
                        </a:rPr>
                        <a:t>BPDB has 76.25% shareholding of PGCB</a:t>
                      </a:r>
                      <a:endParaRPr lang="en-IN" sz="120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5" name="Table 4"/>
          <p:cNvGraphicFramePr>
            <a:graphicFrameLocks noGrp="1"/>
          </p:cNvGraphicFramePr>
          <p:nvPr>
            <p:extLst/>
          </p:nvPr>
        </p:nvGraphicFramePr>
        <p:xfrm>
          <a:off x="439792" y="2679822"/>
          <a:ext cx="9785951" cy="2752796"/>
        </p:xfrm>
        <a:graphic>
          <a:graphicData uri="http://schemas.openxmlformats.org/drawingml/2006/table">
            <a:tbl>
              <a:tblPr firstRow="1" firstCol="1" bandRow="1">
                <a:tableStyleId>{5C22544A-7EE6-4342-B048-85BDC9FD1C3A}</a:tableStyleId>
              </a:tblPr>
              <a:tblGrid>
                <a:gridCol w="1607294"/>
                <a:gridCol w="3937872"/>
                <a:gridCol w="4240785"/>
              </a:tblGrid>
              <a:tr h="386111">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PGCB</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366685">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BPDB (Represented by Chairman) – 5 shares</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(Finance),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(Generation),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(Distribution),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(Transmission &amp; System Operation),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(Administration)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(Planning &amp; Development) – 1 share</a:t>
                      </a:r>
                    </a:p>
                  </a:txBody>
                  <a:tcPr marL="68580" marR="68580" marT="0" marB="0"/>
                </a:tc>
                <a:tc>
                  <a:txBody>
                    <a:bodyPr/>
                    <a:lstStyle/>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BPDB – 351446348 shares</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Institutions (financial &amp; others) – 87811966 shares</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Individual – 21654677 shares</a:t>
                      </a:r>
                    </a:p>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(as per PGCB Annual Report for 2014-15)</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sp>
        <p:nvSpPr>
          <p:cNvPr id="7" name="Action Button: Back or Previous 6">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97096532"/>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PGCB Board Governance (2/2)</a:t>
            </a:r>
            <a:endParaRPr lang="en-IN" b="1" dirty="0"/>
          </a:p>
        </p:txBody>
      </p:sp>
      <p:graphicFrame>
        <p:nvGraphicFramePr>
          <p:cNvPr id="4" name="Table 3"/>
          <p:cNvGraphicFramePr>
            <a:graphicFrameLocks noGrp="1"/>
          </p:cNvGraphicFramePr>
          <p:nvPr>
            <p:extLst/>
          </p:nvPr>
        </p:nvGraphicFramePr>
        <p:xfrm>
          <a:off x="439792" y="1130715"/>
          <a:ext cx="9785951" cy="5177296"/>
        </p:xfrm>
        <a:graphic>
          <a:graphicData uri="http://schemas.openxmlformats.org/drawingml/2006/table">
            <a:tbl>
              <a:tblPr firstRow="1" firstCol="1" bandRow="1">
                <a:tableStyleId>{5C22544A-7EE6-4342-B048-85BDC9FD1C3A}</a:tableStyleId>
              </a:tblPr>
              <a:tblGrid>
                <a:gridCol w="1607294"/>
                <a:gridCol w="3937872"/>
                <a:gridCol w="4240785"/>
              </a:tblGrid>
              <a:tr h="364598">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PGCB</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990626">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Number of Directors - Minimum 9 and maximum 12</a:t>
                      </a:r>
                      <a:endParaRPr lang="en-IN" sz="1200" b="0" i="0" dirty="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Directors elected from amongst the shareholders</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Directors from each group representing</a:t>
                      </a:r>
                    </a:p>
                    <a:p>
                      <a:pPr marL="342900" lvl="0" indent="-342900" algn="l">
                        <a:lnSpc>
                          <a:spcPct val="115000"/>
                        </a:lnSpc>
                        <a:buFont typeface="Calibri" panose="020F0502020204030204" pitchFamily="34" charset="0"/>
                        <a:buChar char="-"/>
                      </a:pPr>
                      <a:r>
                        <a:rPr lang="en-IN" sz="1200" b="0" i="0" dirty="0">
                          <a:effectLst/>
                          <a:latin typeface="+mn-lt"/>
                          <a:ea typeface="Verdana" panose="020B0604030504040204" pitchFamily="34" charset="0"/>
                          <a:cs typeface="Mangal" panose="02040503050203030202" pitchFamily="18" charset="0"/>
                        </a:rPr>
                        <a:t>person(s) specialized in power generation, transmission and distribution</a:t>
                      </a:r>
                      <a:endParaRPr lang="en-IN" sz="1200" b="0" i="0" dirty="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dirty="0">
                          <a:effectLst/>
                          <a:latin typeface="+mn-lt"/>
                          <a:ea typeface="Verdana" panose="020B0604030504040204" pitchFamily="34" charset="0"/>
                          <a:cs typeface="Mangal" panose="02040503050203030202" pitchFamily="18" charset="0"/>
                        </a:rPr>
                        <a:t>consumers</a:t>
                      </a:r>
                      <a:endParaRPr lang="en-IN" sz="1200" b="0" i="0" dirty="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dirty="0">
                          <a:effectLst/>
                          <a:latin typeface="+mn-lt"/>
                          <a:ea typeface="Verdana" panose="020B0604030504040204" pitchFamily="34" charset="0"/>
                          <a:cs typeface="Mangal" panose="02040503050203030202" pitchFamily="18" charset="0"/>
                        </a:rPr>
                        <a:t>business</a:t>
                      </a:r>
                      <a:endParaRPr lang="en-IN" sz="1200" b="0" i="0" dirty="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dirty="0">
                          <a:effectLst/>
                          <a:latin typeface="+mn-lt"/>
                          <a:ea typeface="Verdana" panose="020B0604030504040204" pitchFamily="34" charset="0"/>
                          <a:cs typeface="Mangal" panose="02040503050203030202" pitchFamily="18" charset="0"/>
                        </a:rPr>
                        <a:t>person(s) specialized in finance</a:t>
                      </a:r>
                      <a:endParaRPr lang="en-IN" sz="1200" b="0" i="0" dirty="0">
                        <a:effectLst/>
                        <a:latin typeface="+mn-lt"/>
                        <a:ea typeface="Arial" panose="020B0604020202020204" pitchFamily="34" charset="0"/>
                        <a:cs typeface="Mangal" panose="02040503050203030202" pitchFamily="18" charset="0"/>
                      </a:endParaRP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MD – ex-officio member of the Board</a:t>
                      </a:r>
                    </a:p>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 </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spcAft>
                          <a:spcPts val="1000"/>
                        </a:spcAft>
                      </a:pPr>
                      <a:r>
                        <a:rPr lang="en-IN" sz="1200" b="0" i="0">
                          <a:effectLst/>
                          <a:latin typeface="+mn-lt"/>
                          <a:ea typeface="Verdana" panose="020B0604030504040204" pitchFamily="34" charset="0"/>
                          <a:cs typeface="Arial" panose="020B0604020202020204" pitchFamily="34" charset="0"/>
                        </a:rPr>
                        <a:t>Present number of Board of Directors of PGCB – 12 (out of which BPDB’s representation is 1)</a:t>
                      </a:r>
                      <a:endParaRPr lang="en-IN" sz="1200" b="0" i="0">
                        <a:effectLst/>
                        <a:latin typeface="+mn-lt"/>
                        <a:ea typeface="Times" panose="02020603050405020304" pitchFamily="18" charset="0"/>
                        <a:cs typeface="Arial" panose="020B0604020202020204" pitchFamily="34" charset="0"/>
                      </a:endParaRPr>
                    </a:p>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Present Board of Directors of PGCB:</a:t>
                      </a:r>
                      <a:endParaRPr lang="en-IN" sz="1200" b="0" i="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Principal Coordinator, SDG, Prime Minister’s Office (Chairman of PGCB)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Secretary, Power Division</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Joint Chief, Power Division</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Chairman, BPDB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Chairman, BREB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MD, PGCB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6 other Directors from the fields of accounts &amp; finance, law, engineering organization / forum, academics (engineering), business community.</a:t>
                      </a:r>
                    </a:p>
                  </a:txBody>
                  <a:tcPr marL="68580" marR="68580" marT="0" marB="0"/>
                </a:tc>
              </a:tr>
              <a:tr h="260241">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5 members will form quorum</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30306">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Upon a show of hands, 1 vote for each member</a:t>
                      </a:r>
                      <a:endParaRPr lang="en-IN" sz="1200" b="0" i="0" dirty="0">
                        <a:effectLst/>
                        <a:latin typeface="+mn-lt"/>
                        <a:ea typeface="Times" panose="02020603050405020304" pitchFamily="18" charset="0"/>
                        <a:cs typeface="Arial" panose="020B0604020202020204" pitchFamily="34" charset="0"/>
                      </a:endParaRPr>
                    </a:p>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In a poll, 1 vote for each share being held by the member</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62578">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Show of hands or Poll</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02429">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Directors to elect the Chairman from amongst themselves</a:t>
                      </a:r>
                      <a:endParaRPr lang="en-IN" sz="1200" b="0" i="0">
                        <a:effectLst/>
                        <a:latin typeface="+mn-lt"/>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Current Chairman is the Principal Coordinator, SDG, Prime Minister’s Office</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sp>
        <p:nvSpPr>
          <p:cNvPr id="6" name="Action Button: Back or Previous 5">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478955147"/>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EGCB Board Governance (1/2)</a:t>
            </a:r>
            <a:endParaRPr lang="en-IN" b="1" dirty="0"/>
          </a:p>
        </p:txBody>
      </p:sp>
      <p:graphicFrame>
        <p:nvGraphicFramePr>
          <p:cNvPr id="4" name="Table 3"/>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i="0" dirty="0">
                          <a:effectLst/>
                          <a:latin typeface="+mn-lt"/>
                          <a:ea typeface="Verdana" panose="020B0604030504040204" pitchFamily="34" charset="0"/>
                          <a:cs typeface="Arial" panose="020B0604020202020204" pitchFamily="34" charset="0"/>
                        </a:rPr>
                        <a:t>Legal status of </a:t>
                      </a:r>
                      <a:r>
                        <a:rPr lang="en-IN" sz="1200" i="0" dirty="0" smtClean="0">
                          <a:effectLst/>
                          <a:latin typeface="+mn-lt"/>
                          <a:ea typeface="Verdana" panose="020B0604030504040204" pitchFamily="34" charset="0"/>
                          <a:cs typeface="Arial" panose="020B0604020202020204" pitchFamily="34" charset="0"/>
                        </a:rPr>
                        <a:t>EGCB</a:t>
                      </a:r>
                      <a:endParaRPr lang="en-IN" sz="1200" i="0" dirty="0">
                        <a:effectLst/>
                        <a:latin typeface="+mn-lt"/>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i="0">
                          <a:effectLst/>
                          <a:latin typeface="+mn-lt"/>
                          <a:ea typeface="Verdana" panose="020B0604030504040204" pitchFamily="34" charset="0"/>
                          <a:cs typeface="Vrinda" panose="020B0502040204020203" pitchFamily="34" charset="0"/>
                        </a:rPr>
                        <a:t>EGCB was incorporated as a public limited company under the Bangladesh Companies Act 1994 on February 16, 2004.</a:t>
                      </a:r>
                    </a:p>
                  </a:txBody>
                  <a:tcPr marL="68580" marR="68580" marT="0" marB="0"/>
                </a:tc>
              </a:tr>
              <a:tr h="474930">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Power Purchase Agreement</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a:effectLst/>
                          <a:latin typeface="+mn-lt"/>
                          <a:ea typeface="Verdana" panose="020B0604030504040204" pitchFamily="34" charset="0"/>
                          <a:cs typeface="Arial" panose="020B0604020202020204" pitchFamily="34" charset="0"/>
                        </a:rPr>
                        <a:t>EGCB has entered into PPA with BPDB for sale of electricity generated from its power plants.</a:t>
                      </a:r>
                      <a:endParaRPr lang="en-IN" sz="1200" i="0">
                        <a:effectLst/>
                        <a:latin typeface="+mn-lt"/>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Shareholding</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dirty="0">
                          <a:effectLst/>
                          <a:latin typeface="+mn-lt"/>
                          <a:ea typeface="Verdana" panose="020B0604030504040204" pitchFamily="34" charset="0"/>
                          <a:cs typeface="Arial" panose="020B0604020202020204" pitchFamily="34" charset="0"/>
                        </a:rPr>
                        <a:t>BPDB has 99.5% shareholding of EGCB</a:t>
                      </a:r>
                      <a:endParaRPr lang="en-IN" sz="120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5" name="Table 4"/>
          <p:cNvGraphicFramePr>
            <a:graphicFrameLocks noGrp="1"/>
          </p:cNvGraphicFramePr>
          <p:nvPr>
            <p:extLst/>
          </p:nvPr>
        </p:nvGraphicFramePr>
        <p:xfrm>
          <a:off x="439792" y="2679821"/>
          <a:ext cx="9785951" cy="3086277"/>
        </p:xfrm>
        <a:graphic>
          <a:graphicData uri="http://schemas.openxmlformats.org/drawingml/2006/table">
            <a:tbl>
              <a:tblPr firstRow="1" firstCol="1" bandRow="1">
                <a:tableStyleId>{5C22544A-7EE6-4342-B048-85BDC9FD1C3A}</a:tableStyleId>
              </a:tblPr>
              <a:tblGrid>
                <a:gridCol w="1607294"/>
                <a:gridCol w="3937872"/>
                <a:gridCol w="4240785"/>
              </a:tblGrid>
              <a:tr h="412491">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EGCB</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673786">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BPDB (Represented by Chairman) -5 shares</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(Finance),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(Generation),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(Distribution),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(Transmission &amp; System Operation), BPDB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(Administration) – 1 share</a:t>
                      </a:r>
                    </a:p>
                    <a:p>
                      <a:pPr marL="342900" lvl="0" indent="-342900" algn="l">
                        <a:lnSpc>
                          <a:spcPct val="115000"/>
                        </a:lnSpc>
                        <a:buFont typeface="+mj-lt"/>
                        <a:buAutoNum type="arabicPeriod"/>
                      </a:pPr>
                      <a:r>
                        <a:rPr lang="en-IN" sz="1200" b="0" i="0">
                          <a:effectLst/>
                          <a:latin typeface="+mn-lt"/>
                          <a:ea typeface="Verdana" panose="020B0604030504040204" pitchFamily="34" charset="0"/>
                          <a:cs typeface="Vrinda" panose="020B0502040204020203" pitchFamily="34" charset="0"/>
                        </a:rPr>
                        <a:t>Member (Planning &amp; Development) – 1 share</a:t>
                      </a:r>
                    </a:p>
                  </a:txBody>
                  <a:tcPr marL="68580" marR="68580" marT="0" marB="0"/>
                </a:tc>
                <a:tc>
                  <a:txBody>
                    <a:bodyPr/>
                    <a:lstStyle/>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BPDB – 17666 shares</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Secretary, Power Division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Additional Secretary (Dev.) Power Division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Director General, Prime Minister’s Office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Chairman, BPDB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(Generation), BPDB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Additional Secretary, Finance Division – 1 share</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Barrister At-Law, Supreme Court – 1 share</a:t>
                      </a:r>
                    </a:p>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(as on 30</a:t>
                      </a:r>
                      <a:r>
                        <a:rPr lang="en-IN" sz="1200" b="0" i="0" baseline="30000" dirty="0">
                          <a:effectLst/>
                          <a:latin typeface="+mn-lt"/>
                          <a:ea typeface="Verdana" panose="020B0604030504040204" pitchFamily="34" charset="0"/>
                          <a:cs typeface="Arial" panose="020B0604020202020204" pitchFamily="34" charset="0"/>
                        </a:rPr>
                        <a:t>th</a:t>
                      </a:r>
                      <a:r>
                        <a:rPr lang="en-IN" sz="1200" b="0" i="0" dirty="0">
                          <a:effectLst/>
                          <a:latin typeface="+mn-lt"/>
                          <a:ea typeface="Verdana" panose="020B0604030504040204" pitchFamily="34" charset="0"/>
                          <a:cs typeface="Arial" panose="020B0604020202020204" pitchFamily="34" charset="0"/>
                        </a:rPr>
                        <a:t> June, 2016, as per EGCB Annual Report for 2015-16)</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sp>
        <p:nvSpPr>
          <p:cNvPr id="7" name="Action Button: Back or Previous 6">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01389070"/>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EGCB Board Governance (2/2)</a:t>
            </a:r>
            <a:endParaRPr lang="en-IN" b="1" dirty="0"/>
          </a:p>
        </p:txBody>
      </p:sp>
      <p:graphicFrame>
        <p:nvGraphicFramePr>
          <p:cNvPr id="4" name="Table 3"/>
          <p:cNvGraphicFramePr>
            <a:graphicFrameLocks noGrp="1"/>
          </p:cNvGraphicFramePr>
          <p:nvPr>
            <p:extLst/>
          </p:nvPr>
        </p:nvGraphicFramePr>
        <p:xfrm>
          <a:off x="439792" y="1130715"/>
          <a:ext cx="9785951" cy="5422462"/>
        </p:xfrm>
        <a:graphic>
          <a:graphicData uri="http://schemas.openxmlformats.org/drawingml/2006/table">
            <a:tbl>
              <a:tblPr firstRow="1" firstCol="1" bandRow="1">
                <a:tableStyleId>{5C22544A-7EE6-4342-B048-85BDC9FD1C3A}</a:tableStyleId>
              </a:tblPr>
              <a:tblGrid>
                <a:gridCol w="1607294"/>
                <a:gridCol w="3937872"/>
                <a:gridCol w="4240785"/>
              </a:tblGrid>
              <a:tr h="364598">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EGCB</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3098202">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Number of Directors - Minimum 9 and maximum 12.</a:t>
                      </a:r>
                      <a:endParaRPr lang="en-IN" sz="1200" b="0" i="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Directors elected from amongst the shareholders.</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Directors from each group representing</a:t>
                      </a:r>
                    </a:p>
                    <a:p>
                      <a:pPr marL="342900" lvl="0" indent="-342900" algn="l">
                        <a:lnSpc>
                          <a:spcPct val="115000"/>
                        </a:lnSpc>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person(s) specialized in power generation, transmission and distribution</a:t>
                      </a:r>
                      <a:endParaRPr lang="en-IN" sz="1200" b="0" i="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consumers</a:t>
                      </a:r>
                      <a:endParaRPr lang="en-IN" sz="1200" b="0" i="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business</a:t>
                      </a:r>
                      <a:endParaRPr lang="en-IN" sz="1200" b="0" i="0">
                        <a:effectLst/>
                        <a:latin typeface="+mn-lt"/>
                        <a:ea typeface="Arial" panose="020B0604020202020204" pitchFamily="34" charset="0"/>
                        <a:cs typeface="Mangal" panose="02040503050203030202" pitchFamily="18" charset="0"/>
                      </a:endParaRPr>
                    </a:p>
                    <a:p>
                      <a:pPr marL="342900" lvl="0" indent="-342900" algn="l">
                        <a:lnSpc>
                          <a:spcPct val="115000"/>
                        </a:lnSpc>
                        <a:buFont typeface="Calibri" panose="020F0502020204030204" pitchFamily="34" charset="0"/>
                        <a:buChar char="-"/>
                      </a:pPr>
                      <a:r>
                        <a:rPr lang="en-IN" sz="1200" b="0" i="0">
                          <a:effectLst/>
                          <a:latin typeface="+mn-lt"/>
                          <a:ea typeface="Verdana" panose="020B0604030504040204" pitchFamily="34" charset="0"/>
                          <a:cs typeface="Mangal" panose="02040503050203030202" pitchFamily="18" charset="0"/>
                        </a:rPr>
                        <a:t>person(s) specialized in finance</a:t>
                      </a:r>
                      <a:endParaRPr lang="en-IN" sz="1200" b="0" i="0">
                        <a:effectLst/>
                        <a:latin typeface="+mn-lt"/>
                        <a:ea typeface="Arial" panose="020B0604020202020204" pitchFamily="34" charset="0"/>
                        <a:cs typeface="Mangal" panose="02040503050203030202" pitchFamily="18" charset="0"/>
                      </a:endParaRP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MD to be ex-officio member of the Board.</a:t>
                      </a:r>
                    </a:p>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 </a:t>
                      </a:r>
                      <a:endParaRPr lang="en-IN" sz="1200" b="0" i="0">
                        <a:effectLst/>
                        <a:latin typeface="+mn-lt"/>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Present number of Board of Directors of EGCB – 12 (out of which BPDB’s representation is 2)</a:t>
                      </a:r>
                      <a:endParaRPr lang="en-IN" sz="1200" b="0" i="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Secretary, Power Division (Chairman of EGCB)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Additional Secretary, (Coordination), Power Division</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Additional Secretary, Finance Division</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Joint Secretary, Power Division </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 General, Prime Minister’s Office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Director General, Power Cell</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Chairman, BPDB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(Generation), BPDB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Managing Director, EGCB</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4 other Directors from the fields of law, accounts &amp; finance and Member of Parliament.</a:t>
                      </a:r>
                    </a:p>
                  </a:txBody>
                  <a:tcPr marL="68580" marR="68580" marT="0" marB="0"/>
                </a:tc>
              </a:tr>
              <a:tr h="260241">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5 members will form quorum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34414">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Upon a show of hands, 1 vote for each member</a:t>
                      </a:r>
                      <a:endParaRPr lang="en-IN" sz="1200" b="0" i="0">
                        <a:effectLst/>
                        <a:latin typeface="+mn-lt"/>
                        <a:ea typeface="Times" panose="02020603050405020304" pitchFamily="18" charset="0"/>
                        <a:cs typeface="Arial" panose="020B0604020202020204" pitchFamily="34" charset="0"/>
                      </a:endParaRPr>
                    </a:p>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In a poll, 1 vote for each share being held by him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62578">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Show of hands or Poll</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02429">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Chairman can case his second vote in case of equality of votes on show of hands or a poll.</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dirty="0"/>
                    </a:p>
                  </a:txBody>
                  <a:tcPr/>
                </a:tc>
              </a:tr>
            </a:tbl>
          </a:graphicData>
        </a:graphic>
      </p:graphicFrame>
      <p:sp>
        <p:nvSpPr>
          <p:cNvPr id="6" name="Action Button: Back or Previous 5">
            <a:hlinkClick r:id="rId3" action="ppaction://hlinksldjump" highlightClick="1"/>
          </p:cNvPr>
          <p:cNvSpPr/>
          <p:nvPr/>
        </p:nvSpPr>
        <p:spPr bwMode="gray">
          <a:xfrm>
            <a:off x="5332767" y="6760926"/>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55222782"/>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WZPDCL Board Governance (1/2)</a:t>
            </a:r>
            <a:endParaRPr lang="en-IN" b="1" dirty="0"/>
          </a:p>
        </p:txBody>
      </p:sp>
      <p:graphicFrame>
        <p:nvGraphicFramePr>
          <p:cNvPr id="4" name="Table 3"/>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i="0" dirty="0">
                          <a:effectLst/>
                          <a:latin typeface="+mn-lt"/>
                          <a:ea typeface="Verdana" panose="020B0604030504040204" pitchFamily="34" charset="0"/>
                          <a:cs typeface="Arial" panose="020B0604020202020204" pitchFamily="34" charset="0"/>
                        </a:rPr>
                        <a:t>Legal status of </a:t>
                      </a:r>
                      <a:r>
                        <a:rPr lang="en-IN" sz="1200" i="0" dirty="0" smtClean="0">
                          <a:effectLst/>
                          <a:latin typeface="+mn-lt"/>
                          <a:ea typeface="Verdana" panose="020B0604030504040204" pitchFamily="34" charset="0"/>
                          <a:cs typeface="Arial" panose="020B0604020202020204" pitchFamily="34" charset="0"/>
                        </a:rPr>
                        <a:t>WZPDCL</a:t>
                      </a:r>
                      <a:endParaRPr lang="en-IN" sz="1200" i="0" dirty="0">
                        <a:effectLst/>
                        <a:latin typeface="+mn-lt"/>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i="0">
                          <a:effectLst/>
                          <a:latin typeface="+mn-lt"/>
                          <a:ea typeface="Verdana" panose="020B0604030504040204" pitchFamily="34" charset="0"/>
                          <a:cs typeface="Vrinda" panose="020B0502040204020203" pitchFamily="34" charset="0"/>
                        </a:rPr>
                        <a:t>WZPDCL was incorporated as a public limited company under the Bangladesh Companies Act 1994 in November, 2002.</a:t>
                      </a:r>
                    </a:p>
                  </a:txBody>
                  <a:tcPr marL="68580" marR="68580" marT="0" marB="0"/>
                </a:tc>
              </a:tr>
              <a:tr h="474930">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Power Purchase Agreement</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a:effectLst/>
                          <a:latin typeface="+mn-lt"/>
                          <a:ea typeface="Verdana" panose="020B0604030504040204" pitchFamily="34" charset="0"/>
                          <a:cs typeface="Arial" panose="020B0604020202020204" pitchFamily="34" charset="0"/>
                        </a:rPr>
                        <a:t>WZPDCL has entered into Distribution Agreements with BPDB for transmission of electricity generated from BPDB power plants.</a:t>
                      </a:r>
                      <a:endParaRPr lang="en-IN" sz="1200" i="0">
                        <a:effectLst/>
                        <a:latin typeface="+mn-lt"/>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Shareholding</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dirty="0">
                          <a:effectLst/>
                          <a:latin typeface="+mn-lt"/>
                          <a:ea typeface="Verdana" panose="020B0604030504040204" pitchFamily="34" charset="0"/>
                          <a:cs typeface="Arial" panose="020B0604020202020204" pitchFamily="34" charset="0"/>
                        </a:rPr>
                        <a:t>BPDB has 99.99% shareholding of WZPDCL</a:t>
                      </a:r>
                      <a:endParaRPr lang="en-IN" sz="120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5" name="Table 4"/>
          <p:cNvGraphicFramePr>
            <a:graphicFrameLocks noGrp="1"/>
          </p:cNvGraphicFramePr>
          <p:nvPr>
            <p:extLst/>
          </p:nvPr>
        </p:nvGraphicFramePr>
        <p:xfrm>
          <a:off x="439792" y="2679821"/>
          <a:ext cx="9785951" cy="2688245"/>
        </p:xfrm>
        <a:graphic>
          <a:graphicData uri="http://schemas.openxmlformats.org/drawingml/2006/table">
            <a:tbl>
              <a:tblPr firstRow="1" firstCol="1" bandRow="1">
                <a:tableStyleId>{5C22544A-7EE6-4342-B048-85BDC9FD1C3A}</a:tableStyleId>
              </a:tblPr>
              <a:tblGrid>
                <a:gridCol w="1607294"/>
                <a:gridCol w="3937872"/>
                <a:gridCol w="4240785"/>
              </a:tblGrid>
              <a:tr h="359293">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WZPDCL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328952">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BPDB (Represented by Chairman) -9994 shares</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(Finance), BPDB – 1 share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(Generation), BPDB – 1 share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(Distribution), BPDB – 1 share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(Transmission &amp; System Operation), BPDB – 1 share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(Administration) – 1 share</a:t>
                      </a:r>
                    </a:p>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Member (Planning &amp; Development) – 1 share</a:t>
                      </a:r>
                    </a:p>
                  </a:txBody>
                  <a:tcPr marL="68580" marR="68580" marT="0" marB="0"/>
                </a:tc>
                <a:tc>
                  <a:txBody>
                    <a:bodyPr/>
                    <a:lstStyle/>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Chairman, BPDB  – 9994 shares</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Member (Finance), BPDB – 1 share</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Member (Generation), BPDB – 1 share</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Member (Distribution), BPDB – 1 share</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Member (Administration), BPDB – 1 share</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Member (Planning &amp; Development), BPDB – 1 share</a:t>
                      </a:r>
                    </a:p>
                    <a:p>
                      <a:pPr marL="342900" lvl="0" indent="-342900" algn="l">
                        <a:lnSpc>
                          <a:spcPct val="115000"/>
                        </a:lnSpc>
                        <a:buFont typeface="+mj-lt"/>
                        <a:buAutoNum type="arabicPeriod"/>
                      </a:pPr>
                      <a:r>
                        <a:rPr lang="en-IN" sz="1200" b="0" i="0" dirty="0">
                          <a:effectLst/>
                          <a:latin typeface="+mn-lt"/>
                          <a:ea typeface="Verdana" panose="020B0604030504040204" pitchFamily="34" charset="0"/>
                          <a:cs typeface="Vrinda" panose="020B0502040204020203" pitchFamily="34" charset="0"/>
                        </a:rPr>
                        <a:t>Managing Director, WZPDCL – 1 share</a:t>
                      </a:r>
                    </a:p>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As on 30</a:t>
                      </a:r>
                      <a:r>
                        <a:rPr lang="en-IN" sz="1200" b="0" i="0" baseline="30000" dirty="0">
                          <a:effectLst/>
                          <a:latin typeface="+mn-lt"/>
                          <a:ea typeface="Verdana" panose="020B0604030504040204" pitchFamily="34" charset="0"/>
                          <a:cs typeface="Arial" panose="020B0604020202020204" pitchFamily="34" charset="0"/>
                        </a:rPr>
                        <a:t>th</a:t>
                      </a:r>
                      <a:r>
                        <a:rPr lang="en-IN" sz="1200" b="0" i="0" dirty="0">
                          <a:effectLst/>
                          <a:latin typeface="+mn-lt"/>
                          <a:ea typeface="Verdana" panose="020B0604030504040204" pitchFamily="34" charset="0"/>
                          <a:cs typeface="Arial" panose="020B0604020202020204" pitchFamily="34" charset="0"/>
                        </a:rPr>
                        <a:t> June, 2016, as per WZPDCL Annual Report 2015-16</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sp>
        <p:nvSpPr>
          <p:cNvPr id="7" name="Action Button: Back or Previous 6">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192255330"/>
      </p:ext>
    </p:extLst>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WZPDCL Board Governance (2/2)</a:t>
            </a:r>
            <a:endParaRPr lang="en-IN" b="1" dirty="0"/>
          </a:p>
        </p:txBody>
      </p:sp>
      <p:graphicFrame>
        <p:nvGraphicFramePr>
          <p:cNvPr id="4" name="Table 3"/>
          <p:cNvGraphicFramePr>
            <a:graphicFrameLocks noGrp="1"/>
          </p:cNvGraphicFramePr>
          <p:nvPr>
            <p:extLst/>
          </p:nvPr>
        </p:nvGraphicFramePr>
        <p:xfrm>
          <a:off x="439792" y="1130715"/>
          <a:ext cx="9785951" cy="4699642"/>
        </p:xfrm>
        <a:graphic>
          <a:graphicData uri="http://schemas.openxmlformats.org/drawingml/2006/table">
            <a:tbl>
              <a:tblPr firstRow="1" firstCol="1" bandRow="1">
                <a:tableStyleId>{5C22544A-7EE6-4342-B048-85BDC9FD1C3A}</a:tableStyleId>
              </a:tblPr>
              <a:tblGrid>
                <a:gridCol w="1607294"/>
                <a:gridCol w="3937872"/>
                <a:gridCol w="4240785"/>
              </a:tblGrid>
              <a:tr h="364598">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WZPDCL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259106">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Number of Directors - Minimum 3 and maximum 12.</a:t>
                      </a:r>
                      <a:endParaRPr lang="en-IN" sz="1200" b="0" i="0" dirty="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6 Directors from subscribers of WZPDCL.</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3 Directors to be persons representing the consumers or professional interest.</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3 Directors to be ex-officio of WZPDCL i.e. Managing Director (MD), Director (Technical) and Director (Finance)</a:t>
                      </a:r>
                    </a:p>
                  </a:txBody>
                  <a:tcPr marL="68580" marR="68580" marT="0" marB="0"/>
                </a:tc>
                <a:tc>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Present number of Board of Directors of WZPDCL – 11 (out of which BPDB’s representation is 4)</a:t>
                      </a:r>
                      <a:endParaRPr lang="en-IN" sz="1200" b="0" i="0" dirty="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Chairman, BPDB (Chairman – WZPDCL)</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(Distribution), BPDB</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(Administration), BPDB</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Member (Planning &amp; Development), BPDB</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Head (Industry &amp; Power), Planning Commission</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Deputy Secretary, Power Division</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Managing Director, WZPDCL4 other Directors from specialized fields.</a:t>
                      </a:r>
                    </a:p>
                  </a:txBody>
                  <a:tcPr marL="68580" marR="68580" marT="0" marB="0"/>
                </a:tc>
              </a:tr>
              <a:tr h="376517">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5 members will form quorum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34414">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Upon a show of hands, 1 vote for each member</a:t>
                      </a:r>
                      <a:endParaRPr lang="en-IN" sz="1200" b="0" i="0">
                        <a:effectLst/>
                        <a:latin typeface="+mn-lt"/>
                        <a:ea typeface="Times" panose="02020603050405020304" pitchFamily="18" charset="0"/>
                        <a:cs typeface="Arial" panose="020B0604020202020204" pitchFamily="34" charset="0"/>
                      </a:endParaRPr>
                    </a:p>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In a poll, 1 vote for each share being held by him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62578">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Show of hands or Poll</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02429">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Chairman can cast second vote in case of equality of votes on show of hands or a poll.</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bl>
          </a:graphicData>
        </a:graphic>
      </p:graphicFrame>
      <p:sp>
        <p:nvSpPr>
          <p:cNvPr id="6" name="Action Button: Back or Previous 5">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49250266"/>
      </p:ext>
    </p:extLst>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NWZPDCL Board Governance (1/2)</a:t>
            </a:r>
            <a:endParaRPr lang="en-IN" b="1" dirty="0"/>
          </a:p>
        </p:txBody>
      </p:sp>
      <p:graphicFrame>
        <p:nvGraphicFramePr>
          <p:cNvPr id="4" name="Table 3"/>
          <p:cNvGraphicFramePr>
            <a:graphicFrameLocks noGrp="1"/>
          </p:cNvGraphicFramePr>
          <p:nvPr>
            <p:extLst/>
          </p:nvPr>
        </p:nvGraphicFramePr>
        <p:xfrm>
          <a:off x="439792" y="1128529"/>
          <a:ext cx="9785951" cy="1216643"/>
        </p:xfrm>
        <a:graphic>
          <a:graphicData uri="http://schemas.openxmlformats.org/drawingml/2006/table">
            <a:tbl>
              <a:tblPr firstCol="1" bandRow="1">
                <a:tableStyleId>{5C22544A-7EE6-4342-B048-85BDC9FD1C3A}</a:tableStyleId>
              </a:tblPr>
              <a:tblGrid>
                <a:gridCol w="3332045"/>
                <a:gridCol w="6453906"/>
              </a:tblGrid>
              <a:tr h="466981">
                <a:tc>
                  <a:txBody>
                    <a:bodyPr/>
                    <a:lstStyle/>
                    <a:p>
                      <a:pPr algn="l">
                        <a:lnSpc>
                          <a:spcPct val="115000"/>
                        </a:lnSpc>
                        <a:spcAft>
                          <a:spcPts val="600"/>
                        </a:spcAft>
                      </a:pPr>
                      <a:r>
                        <a:rPr lang="en-IN" sz="1200" i="0" dirty="0">
                          <a:effectLst/>
                          <a:latin typeface="+mn-lt"/>
                          <a:ea typeface="Verdana" panose="020B0604030504040204" pitchFamily="34" charset="0"/>
                          <a:cs typeface="Arial" panose="020B0604020202020204" pitchFamily="34" charset="0"/>
                        </a:rPr>
                        <a:t>Legal status of </a:t>
                      </a:r>
                      <a:r>
                        <a:rPr lang="en-IN" sz="1200" i="0" dirty="0" smtClean="0">
                          <a:effectLst/>
                          <a:latin typeface="+mn-lt"/>
                          <a:ea typeface="Verdana" panose="020B0604030504040204" pitchFamily="34" charset="0"/>
                          <a:cs typeface="Arial" panose="020B0604020202020204" pitchFamily="34" charset="0"/>
                        </a:rPr>
                        <a:t>NWZPDCL</a:t>
                      </a:r>
                      <a:endParaRPr lang="en-IN" sz="1200" i="0" dirty="0">
                        <a:effectLst/>
                        <a:latin typeface="+mn-lt"/>
                        <a:ea typeface="Times" panose="02020603050405020304" pitchFamily="18" charset="0"/>
                        <a:cs typeface="Arial" panose="020B0604020202020204" pitchFamily="34" charset="0"/>
                      </a:endParaRPr>
                    </a:p>
                  </a:txBody>
                  <a:tcPr marL="68580" marR="68580" marT="0" marB="0"/>
                </a:tc>
                <a:tc>
                  <a:txBody>
                    <a:bodyPr/>
                    <a:lstStyle/>
                    <a:p>
                      <a:pPr>
                        <a:lnSpc>
                          <a:spcPct val="115000"/>
                        </a:lnSpc>
                      </a:pPr>
                      <a:r>
                        <a:rPr lang="en-IN" sz="1200" i="0">
                          <a:effectLst/>
                          <a:latin typeface="+mn-lt"/>
                          <a:ea typeface="Verdana" panose="020B0604030504040204" pitchFamily="34" charset="0"/>
                          <a:cs typeface="Vrinda" panose="020B0502040204020203" pitchFamily="34" charset="0"/>
                        </a:rPr>
                        <a:t>NWZPDCL was incorporated as a public limited company under the Bangladesh Companies Act 1994. Year of incorporation not known. </a:t>
                      </a:r>
                    </a:p>
                  </a:txBody>
                  <a:tcPr marL="68580" marR="68580" marT="0" marB="0"/>
                </a:tc>
              </a:tr>
              <a:tr h="474930">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Power Purchase Agreement</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a:effectLst/>
                          <a:latin typeface="+mn-lt"/>
                          <a:ea typeface="Verdana" panose="020B0604030504040204" pitchFamily="34" charset="0"/>
                          <a:cs typeface="Arial" panose="020B0604020202020204" pitchFamily="34" charset="0"/>
                        </a:rPr>
                        <a:t>No information</a:t>
                      </a:r>
                      <a:endParaRPr lang="en-IN" sz="1200" i="0">
                        <a:effectLst/>
                        <a:latin typeface="+mn-lt"/>
                        <a:ea typeface="Times" panose="02020603050405020304" pitchFamily="18" charset="0"/>
                        <a:cs typeface="Arial" panose="020B0604020202020204" pitchFamily="34" charset="0"/>
                      </a:endParaRPr>
                    </a:p>
                  </a:txBody>
                  <a:tcPr marL="68580" marR="68580" marT="0" marB="0"/>
                </a:tc>
              </a:tr>
              <a:tr h="274732">
                <a:tc>
                  <a:txBody>
                    <a:bodyPr/>
                    <a:lstStyle/>
                    <a:p>
                      <a:pPr algn="l">
                        <a:lnSpc>
                          <a:spcPct val="115000"/>
                        </a:lnSpc>
                        <a:spcAft>
                          <a:spcPts val="600"/>
                        </a:spcAft>
                      </a:pPr>
                      <a:r>
                        <a:rPr lang="en-IN" sz="1200" i="0">
                          <a:effectLst/>
                          <a:latin typeface="+mn-lt"/>
                          <a:ea typeface="Verdana" panose="020B0604030504040204" pitchFamily="34" charset="0"/>
                          <a:cs typeface="Arial" panose="020B0604020202020204" pitchFamily="34" charset="0"/>
                        </a:rPr>
                        <a:t>Shareholding</a:t>
                      </a:r>
                      <a:endParaRPr lang="en-IN" sz="1200" i="0">
                        <a:effectLst/>
                        <a:latin typeface="+mn-lt"/>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600"/>
                        </a:spcAft>
                      </a:pPr>
                      <a:r>
                        <a:rPr lang="en-IN" sz="1200" i="0" dirty="0">
                          <a:effectLst/>
                          <a:latin typeface="+mn-lt"/>
                          <a:ea typeface="Verdana" panose="020B0604030504040204" pitchFamily="34" charset="0"/>
                          <a:cs typeface="Arial" panose="020B0604020202020204" pitchFamily="34" charset="0"/>
                        </a:rPr>
                        <a:t>No information</a:t>
                      </a:r>
                      <a:endParaRPr lang="en-IN" sz="1200" i="0" dirty="0">
                        <a:effectLst/>
                        <a:latin typeface="+mn-lt"/>
                        <a:ea typeface="Times" panose="02020603050405020304" pitchFamily="18" charset="0"/>
                        <a:cs typeface="Arial" panose="020B0604020202020204" pitchFamily="34" charset="0"/>
                      </a:endParaRPr>
                    </a:p>
                  </a:txBody>
                  <a:tcPr marL="68580" marR="68580" marT="0" marB="0"/>
                </a:tc>
              </a:tr>
            </a:tbl>
          </a:graphicData>
        </a:graphic>
      </p:graphicFrame>
      <p:graphicFrame>
        <p:nvGraphicFramePr>
          <p:cNvPr id="5" name="Table 4"/>
          <p:cNvGraphicFramePr>
            <a:graphicFrameLocks noGrp="1"/>
          </p:cNvGraphicFramePr>
          <p:nvPr>
            <p:extLst/>
          </p:nvPr>
        </p:nvGraphicFramePr>
        <p:xfrm>
          <a:off x="439792" y="2679821"/>
          <a:ext cx="9785951" cy="2871125"/>
        </p:xfrm>
        <a:graphic>
          <a:graphicData uri="http://schemas.openxmlformats.org/drawingml/2006/table">
            <a:tbl>
              <a:tblPr firstRow="1" firstCol="1" bandRow="1">
                <a:tableStyleId>{5C22544A-7EE6-4342-B048-85BDC9FD1C3A}</a:tableStyleId>
              </a:tblPr>
              <a:tblGrid>
                <a:gridCol w="1607294"/>
                <a:gridCol w="3937872"/>
                <a:gridCol w="4240785"/>
              </a:tblGrid>
              <a:tr h="383736">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NWZPDCL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487389">
                <a:tc>
                  <a:txBody>
                    <a:bodyPr/>
                    <a:lstStyle/>
                    <a:p>
                      <a:pPr algn="l">
                        <a:lnSpc>
                          <a:spcPct val="115000"/>
                        </a:lnSpc>
                        <a:spcAft>
                          <a:spcPts val="600"/>
                        </a:spcAft>
                      </a:pPr>
                      <a:r>
                        <a:rPr lang="en-IN" sz="1200" dirty="0">
                          <a:effectLst/>
                        </a:rPr>
                        <a:t>Shareholders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Secretary, Power Division, MPEMR-9993 shares</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Joint Secretary (Admin), Power Division, MPEMR - 1 share</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Joint Secretary (Administration &amp; Coordination), Finance Division-1 share</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Member (Distribution), BPDB-1 share</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Chairman, IEB, </a:t>
                      </a:r>
                      <a:r>
                        <a:rPr lang="en-IN" sz="1200" b="0" i="0" dirty="0" err="1">
                          <a:effectLst/>
                          <a:latin typeface="Verdana" panose="020B0604030504040204" pitchFamily="34" charset="0"/>
                          <a:ea typeface="Verdana" panose="020B0604030504040204" pitchFamily="34" charset="0"/>
                          <a:cs typeface="Vrinda" panose="020B0502040204020203" pitchFamily="34" charset="0"/>
                        </a:rPr>
                        <a:t>Rajshahi</a:t>
                      </a:r>
                      <a:r>
                        <a:rPr lang="en-IN" sz="1200" b="0" i="0" dirty="0">
                          <a:effectLst/>
                          <a:latin typeface="Verdana" panose="020B0604030504040204" pitchFamily="34" charset="0"/>
                          <a:ea typeface="Verdana" panose="020B0604030504040204" pitchFamily="34" charset="0"/>
                          <a:cs typeface="Vrinda" panose="020B0502040204020203" pitchFamily="34" charset="0"/>
                        </a:rPr>
                        <a:t> Centre – 1 share</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President, </a:t>
                      </a:r>
                      <a:r>
                        <a:rPr lang="en-IN" sz="1200" b="0" i="0" dirty="0" err="1">
                          <a:effectLst/>
                          <a:latin typeface="Verdana" panose="020B0604030504040204" pitchFamily="34" charset="0"/>
                          <a:ea typeface="Verdana" panose="020B0604030504040204" pitchFamily="34" charset="0"/>
                          <a:cs typeface="Vrinda" panose="020B0502040204020203" pitchFamily="34" charset="0"/>
                        </a:rPr>
                        <a:t>Rajshahi</a:t>
                      </a:r>
                      <a:r>
                        <a:rPr lang="en-IN" sz="1200" b="0" i="0" dirty="0">
                          <a:effectLst/>
                          <a:latin typeface="Verdana" panose="020B0604030504040204" pitchFamily="34" charset="0"/>
                          <a:ea typeface="Verdana" panose="020B0604030504040204" pitchFamily="34" charset="0"/>
                          <a:cs typeface="Vrinda" panose="020B0502040204020203" pitchFamily="34" charset="0"/>
                        </a:rPr>
                        <a:t> Chamber of Commerce and Industries-1 share</a:t>
                      </a:r>
                    </a:p>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CEO, </a:t>
                      </a:r>
                      <a:r>
                        <a:rPr lang="en-IN" sz="1200" b="0" i="0" dirty="0" err="1">
                          <a:effectLst/>
                          <a:latin typeface="Verdana" panose="020B0604030504040204" pitchFamily="34" charset="0"/>
                          <a:ea typeface="Verdana" panose="020B0604030504040204" pitchFamily="34" charset="0"/>
                          <a:cs typeface="Vrinda" panose="020B0502040204020203" pitchFamily="34" charset="0"/>
                        </a:rPr>
                        <a:t>Rajshahi</a:t>
                      </a:r>
                      <a:r>
                        <a:rPr lang="en-IN" sz="1200" b="0" i="0" dirty="0">
                          <a:effectLst/>
                          <a:latin typeface="Verdana" panose="020B0604030504040204" pitchFamily="34" charset="0"/>
                          <a:ea typeface="Verdana" panose="020B0604030504040204" pitchFamily="34" charset="0"/>
                          <a:cs typeface="Vrinda" panose="020B0502040204020203" pitchFamily="34" charset="0"/>
                        </a:rPr>
                        <a:t> City Corporation-1 share</a:t>
                      </a:r>
                    </a:p>
                  </a:txBody>
                  <a:tcPr marL="68580" marR="68580" marT="0" marB="0"/>
                </a:tc>
                <a:tc>
                  <a:txBody>
                    <a:bodyPr/>
                    <a:lstStyle/>
                    <a:p>
                      <a:pPr marL="342900" lvl="0" indent="-342900" algn="l">
                        <a:lnSpc>
                          <a:spcPct val="115000"/>
                        </a:lnSpc>
                        <a:buFont typeface="Symbol" panose="05050102010706020507" pitchFamily="18" charset="2"/>
                        <a:buChar char=""/>
                      </a:pPr>
                      <a:r>
                        <a:rPr lang="en-IN" sz="1200" b="0" i="0" dirty="0">
                          <a:effectLst/>
                          <a:latin typeface="Verdana" panose="020B0604030504040204" pitchFamily="34" charset="0"/>
                          <a:ea typeface="Verdana" panose="020B0604030504040204" pitchFamily="34" charset="0"/>
                          <a:cs typeface="Vrinda" panose="020B0502040204020203" pitchFamily="34" charset="0"/>
                        </a:rPr>
                        <a:t>No information available</a:t>
                      </a:r>
                    </a:p>
                  </a:txBody>
                  <a:tcPr marL="68580" marR="68580" marT="0" marB="0"/>
                </a:tc>
              </a:tr>
            </a:tbl>
          </a:graphicData>
        </a:graphic>
      </p:graphicFrame>
      <p:sp>
        <p:nvSpPr>
          <p:cNvPr id="7" name="Action Button: Back or Previous 6">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6017776"/>
      </p:ext>
    </p:extLst>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NWZPDCL Board Governance (2/2)</a:t>
            </a:r>
            <a:endParaRPr lang="en-IN" b="1" dirty="0"/>
          </a:p>
        </p:txBody>
      </p:sp>
      <p:graphicFrame>
        <p:nvGraphicFramePr>
          <p:cNvPr id="4" name="Table 3"/>
          <p:cNvGraphicFramePr>
            <a:graphicFrameLocks noGrp="1"/>
          </p:cNvGraphicFramePr>
          <p:nvPr>
            <p:extLst/>
          </p:nvPr>
        </p:nvGraphicFramePr>
        <p:xfrm>
          <a:off x="439792" y="1130715"/>
          <a:ext cx="9785951" cy="4764188"/>
        </p:xfrm>
        <a:graphic>
          <a:graphicData uri="http://schemas.openxmlformats.org/drawingml/2006/table">
            <a:tbl>
              <a:tblPr firstRow="1" firstCol="1" bandRow="1">
                <a:tableStyleId>{5C22544A-7EE6-4342-B048-85BDC9FD1C3A}</a:tableStyleId>
              </a:tblPr>
              <a:tblGrid>
                <a:gridCol w="1607294"/>
                <a:gridCol w="3937872"/>
                <a:gridCol w="4240785"/>
              </a:tblGrid>
              <a:tr h="364598">
                <a:tc>
                  <a:txBody>
                    <a:bodyPr/>
                    <a:lstStyle/>
                    <a:p>
                      <a:pPr algn="just">
                        <a:spcAft>
                          <a:spcPts val="1000"/>
                        </a:spcAft>
                      </a:pPr>
                      <a:r>
                        <a:rPr lang="en-IN" sz="1200" dirty="0">
                          <a:effectLst/>
                        </a:rPr>
                        <a:t> </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ctr">
                        <a:spcAft>
                          <a:spcPts val="1000"/>
                        </a:spcAft>
                      </a:pPr>
                      <a:r>
                        <a:rPr lang="en-IN" sz="1200" dirty="0">
                          <a:effectLst/>
                        </a:rPr>
                        <a:t>As per </a:t>
                      </a:r>
                      <a:r>
                        <a:rPr lang="en-IN" sz="1200" dirty="0" err="1">
                          <a:effectLst/>
                        </a:rPr>
                        <a:t>AoA</a:t>
                      </a:r>
                      <a:r>
                        <a:rPr lang="en-IN" sz="1200" dirty="0">
                          <a:effectLst/>
                        </a:rPr>
                        <a:t> of </a:t>
                      </a:r>
                      <a:r>
                        <a:rPr lang="en-IN" sz="1200" dirty="0" smtClean="0">
                          <a:effectLst/>
                        </a:rPr>
                        <a:t>NWZPDCL</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c>
                  <a:txBody>
                    <a:bodyPr/>
                    <a:lstStyle/>
                    <a:p>
                      <a:pPr algn="ctr">
                        <a:spcAft>
                          <a:spcPts val="1000"/>
                        </a:spcAft>
                      </a:pPr>
                      <a:r>
                        <a:rPr lang="en-IN" sz="1200" dirty="0">
                          <a:effectLst/>
                        </a:rPr>
                        <a:t>Current Status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nchor="ctr"/>
                </a:tc>
              </a:tr>
              <a:tr h="2323652">
                <a:tc>
                  <a:txBody>
                    <a:bodyPr/>
                    <a:lstStyle/>
                    <a:p>
                      <a:pPr algn="l">
                        <a:lnSpc>
                          <a:spcPct val="115000"/>
                        </a:lnSpc>
                        <a:spcAft>
                          <a:spcPts val="600"/>
                        </a:spcAft>
                      </a:pPr>
                      <a:r>
                        <a:rPr lang="en-IN" sz="1200" dirty="0">
                          <a:effectLst/>
                        </a:rPr>
                        <a:t>Board Formation &amp; Composition</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Number of Directors - Minimum 4 and maximum 12</a:t>
                      </a:r>
                      <a:endParaRPr lang="en-IN" sz="1200" b="0" i="0" dirty="0">
                        <a:effectLst/>
                        <a:latin typeface="+mn-lt"/>
                        <a:ea typeface="Times" panose="02020603050405020304" pitchFamily="18" charset="0"/>
                        <a:cs typeface="Arial" panose="020B0604020202020204" pitchFamily="34" charset="0"/>
                      </a:endParaRP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Managing Director (MD), Director (Technical), Director (Finance) shall be ex-officio member of the board.</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As long as government holds 100% or majority shares in NWZPDCL, the Directors shall appointed by the government.</a:t>
                      </a:r>
                    </a:p>
                    <a:p>
                      <a:pPr marL="342900" lvl="0" indent="-342900" algn="l">
                        <a:lnSpc>
                          <a:spcPct val="115000"/>
                        </a:lnSpc>
                        <a:buFont typeface="Symbol" panose="05050102010706020507" pitchFamily="18" charset="2"/>
                        <a:buChar char=""/>
                      </a:pPr>
                      <a:r>
                        <a:rPr lang="en-IN" sz="1200" b="0" i="0" dirty="0">
                          <a:effectLst/>
                          <a:latin typeface="+mn-lt"/>
                          <a:ea typeface="Verdana" panose="020B0604030504040204" pitchFamily="34" charset="0"/>
                          <a:cs typeface="Vrinda" panose="020B0502040204020203" pitchFamily="34" charset="0"/>
                        </a:rPr>
                        <a:t>Any vacancies shall be filled up by nominations from the government.</a:t>
                      </a:r>
                    </a:p>
                  </a:txBody>
                  <a:tcPr marL="68580" marR="68580" marT="0" marB="0"/>
                </a:tc>
                <a:tc>
                  <a:txBody>
                    <a:bodyPr/>
                    <a:lstStyle/>
                    <a:p>
                      <a:pPr marL="342900" lvl="0" indent="-342900" algn="l">
                        <a:lnSpc>
                          <a:spcPct val="115000"/>
                        </a:lnSpc>
                        <a:buFont typeface="Symbol" panose="05050102010706020507" pitchFamily="18" charset="2"/>
                        <a:buChar char=""/>
                      </a:pPr>
                      <a:r>
                        <a:rPr lang="en-IN" sz="1200" b="0" i="0">
                          <a:effectLst/>
                          <a:latin typeface="+mn-lt"/>
                          <a:ea typeface="Verdana" panose="020B0604030504040204" pitchFamily="34" charset="0"/>
                          <a:cs typeface="Vrinda" panose="020B0502040204020203" pitchFamily="34" charset="0"/>
                        </a:rPr>
                        <a:t>No information available</a:t>
                      </a:r>
                    </a:p>
                  </a:txBody>
                  <a:tcPr marL="68580" marR="68580" marT="0" marB="0"/>
                </a:tc>
              </a:tr>
              <a:tr h="376517">
                <a:tc>
                  <a:txBody>
                    <a:bodyPr/>
                    <a:lstStyle/>
                    <a:p>
                      <a:pPr algn="l">
                        <a:lnSpc>
                          <a:spcPct val="115000"/>
                        </a:lnSpc>
                        <a:spcAft>
                          <a:spcPts val="600"/>
                        </a:spcAft>
                      </a:pPr>
                      <a:r>
                        <a:rPr lang="en-IN" sz="1200">
                          <a:effectLst/>
                        </a:rPr>
                        <a:t>Quorum</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3 members will form quorum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34414">
                <a:tc>
                  <a:txBody>
                    <a:bodyPr/>
                    <a:lstStyle/>
                    <a:p>
                      <a:pPr algn="l">
                        <a:lnSpc>
                          <a:spcPct val="115000"/>
                        </a:lnSpc>
                        <a:spcAft>
                          <a:spcPts val="600"/>
                        </a:spcAft>
                      </a:pPr>
                      <a:r>
                        <a:rPr lang="en-IN" sz="1200">
                          <a:effectLst/>
                        </a:rPr>
                        <a:t>Voting Rights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Upon a show of hands, 1 vote for each member</a:t>
                      </a:r>
                      <a:endParaRPr lang="en-IN" sz="1200" b="0" i="0">
                        <a:effectLst/>
                        <a:latin typeface="+mn-lt"/>
                        <a:ea typeface="Times" panose="02020603050405020304" pitchFamily="18" charset="0"/>
                        <a:cs typeface="Arial" panose="020B0604020202020204" pitchFamily="34" charset="0"/>
                      </a:endParaRPr>
                    </a:p>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In a poll, 1 vote for each share being held by him</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462578">
                <a:tc>
                  <a:txBody>
                    <a:bodyPr/>
                    <a:lstStyle/>
                    <a:p>
                      <a:pPr algn="l">
                        <a:lnSpc>
                          <a:spcPct val="115000"/>
                        </a:lnSpc>
                        <a:spcAft>
                          <a:spcPts val="600"/>
                        </a:spcAft>
                      </a:pPr>
                      <a:r>
                        <a:rPr lang="en-IN" sz="1200">
                          <a:effectLst/>
                        </a:rPr>
                        <a:t>Voting Process</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a:effectLst/>
                          <a:latin typeface="+mn-lt"/>
                          <a:ea typeface="Verdana" panose="020B0604030504040204" pitchFamily="34" charset="0"/>
                          <a:cs typeface="Arial" panose="020B0604020202020204" pitchFamily="34" charset="0"/>
                        </a:rPr>
                        <a:t>Show of hands, unless a poll is demanded by any five members, holding not less than 1/10</a:t>
                      </a:r>
                      <a:r>
                        <a:rPr lang="en-IN" sz="1200" b="0" i="0" baseline="30000">
                          <a:effectLst/>
                          <a:latin typeface="+mn-lt"/>
                          <a:ea typeface="Verdana" panose="020B0604030504040204" pitchFamily="34" charset="0"/>
                          <a:cs typeface="Arial" panose="020B0604020202020204" pitchFamily="34" charset="0"/>
                        </a:rPr>
                        <a:t>th</a:t>
                      </a:r>
                      <a:r>
                        <a:rPr lang="en-IN" sz="1200" b="0" i="0">
                          <a:effectLst/>
                          <a:latin typeface="+mn-lt"/>
                          <a:ea typeface="Verdana" panose="020B0604030504040204" pitchFamily="34" charset="0"/>
                          <a:cs typeface="Arial" panose="020B0604020202020204" pitchFamily="34" charset="0"/>
                        </a:rPr>
                        <a:t> of the issued capital that carries voting rights.</a:t>
                      </a:r>
                      <a:endParaRPr lang="en-IN" sz="1200" b="0" i="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r h="602429">
                <a:tc>
                  <a:txBody>
                    <a:bodyPr/>
                    <a:lstStyle/>
                    <a:p>
                      <a:pPr algn="l">
                        <a:lnSpc>
                          <a:spcPct val="115000"/>
                        </a:lnSpc>
                        <a:spcAft>
                          <a:spcPts val="600"/>
                        </a:spcAft>
                      </a:pPr>
                      <a:r>
                        <a:rPr lang="en-IN" sz="1200">
                          <a:effectLst/>
                        </a:rPr>
                        <a:t>Election of Chairman</a:t>
                      </a:r>
                      <a:endParaRPr lang="en-IN" sz="1200">
                        <a:effectLst/>
                        <a:latin typeface="Calibri" panose="020F0502020204030204" pitchFamily="34" charset="0"/>
                        <a:ea typeface="Times" panose="02020603050405020304" pitchFamily="18" charset="0"/>
                        <a:cs typeface="Arial" panose="020B0604020202020204" pitchFamily="34" charset="0"/>
                      </a:endParaRPr>
                    </a:p>
                  </a:txBody>
                  <a:tcPr marL="40126" marR="40126" marT="0" marB="0"/>
                </a:tc>
                <a:tc gridSpan="2">
                  <a:txBody>
                    <a:bodyPr/>
                    <a:lstStyle/>
                    <a:p>
                      <a:pPr algn="l">
                        <a:lnSpc>
                          <a:spcPct val="115000"/>
                        </a:lnSpc>
                        <a:spcAft>
                          <a:spcPts val="600"/>
                        </a:spcAft>
                      </a:pPr>
                      <a:r>
                        <a:rPr lang="en-IN" sz="1200" b="0" i="0" dirty="0">
                          <a:effectLst/>
                          <a:latin typeface="+mn-lt"/>
                          <a:ea typeface="Verdana" panose="020B0604030504040204" pitchFamily="34" charset="0"/>
                          <a:cs typeface="Arial" panose="020B0604020202020204" pitchFamily="34" charset="0"/>
                        </a:rPr>
                        <a:t>As long as government holds 100% or majority shares in NWZPDCL, the Chairman shall be appointed by the Government of Bangladesh</a:t>
                      </a:r>
                      <a:endParaRPr lang="en-IN" sz="1200" b="0" i="0" dirty="0">
                        <a:effectLst/>
                        <a:latin typeface="+mn-lt"/>
                        <a:ea typeface="Times" panose="02020603050405020304" pitchFamily="18" charset="0"/>
                        <a:cs typeface="Arial" panose="020B0604020202020204" pitchFamily="34" charset="0"/>
                      </a:endParaRPr>
                    </a:p>
                  </a:txBody>
                  <a:tcPr marL="68580" marR="68580" marT="0" marB="0"/>
                </a:tc>
                <a:tc hMerge="1">
                  <a:txBody>
                    <a:bodyPr/>
                    <a:lstStyle/>
                    <a:p>
                      <a:endParaRPr lang="en-IN"/>
                    </a:p>
                  </a:txBody>
                  <a:tcPr/>
                </a:tc>
              </a:tr>
            </a:tbl>
          </a:graphicData>
        </a:graphic>
      </p:graphicFrame>
      <p:sp>
        <p:nvSpPr>
          <p:cNvPr id="6" name="Action Button: Back or Previous 5">
            <a:hlinkClick r:id="rId3" action="ppaction://hlinksldjump" highlightClick="1"/>
          </p:cNvPr>
          <p:cNvSpPr/>
          <p:nvPr/>
        </p:nvSpPr>
        <p:spPr bwMode="gray">
          <a:xfrm>
            <a:off x="5206701" y="6454588"/>
            <a:ext cx="398033" cy="408791"/>
          </a:xfrm>
          <a:prstGeom prst="actionButtonBackPrevio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68259025"/>
      </p:ext>
    </p:extLst>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insight – Relationship of BPDB with its subsidiaries (1/2)</a:t>
            </a:r>
            <a:endParaRPr lang="en-IN" b="1" dirty="0"/>
          </a:p>
        </p:txBody>
      </p:sp>
      <p:graphicFrame>
        <p:nvGraphicFramePr>
          <p:cNvPr id="2" name="Table 1"/>
          <p:cNvGraphicFramePr>
            <a:graphicFrameLocks noGrp="1"/>
          </p:cNvGraphicFramePr>
          <p:nvPr>
            <p:extLst/>
          </p:nvPr>
        </p:nvGraphicFramePr>
        <p:xfrm>
          <a:off x="439790" y="858419"/>
          <a:ext cx="9785955" cy="6035726"/>
        </p:xfrm>
        <a:graphic>
          <a:graphicData uri="http://schemas.openxmlformats.org/drawingml/2006/table">
            <a:tbl>
              <a:tblPr firstRow="1" firstCol="1">
                <a:tableStyleId>{5C22544A-7EE6-4342-B048-85BDC9FD1C3A}</a:tableStyleId>
              </a:tblPr>
              <a:tblGrid>
                <a:gridCol w="2228106"/>
                <a:gridCol w="1209160"/>
                <a:gridCol w="1209160"/>
                <a:gridCol w="1209160"/>
                <a:gridCol w="1209160"/>
                <a:gridCol w="1209160"/>
                <a:gridCol w="1512049"/>
              </a:tblGrid>
              <a:tr h="464771">
                <a:tc>
                  <a:txBody>
                    <a:bodyPr/>
                    <a:lstStyle/>
                    <a:p>
                      <a:pPr algn="l">
                        <a:lnSpc>
                          <a:spcPct val="115000"/>
                        </a:lnSpc>
                        <a:spcAft>
                          <a:spcPts val="0"/>
                        </a:spcAft>
                      </a:pPr>
                      <a:r>
                        <a:rPr lang="en-IN" sz="1400" dirty="0">
                          <a:effectLst/>
                        </a:rPr>
                        <a:t>Aspects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APSCL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NWPGCL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PGCB</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EGCB</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a:effectLst/>
                        </a:rPr>
                        <a:t>WZPDCL</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449763">
                <a:tc>
                  <a:txBody>
                    <a:bodyPr/>
                    <a:lstStyle/>
                    <a:p>
                      <a:pPr algn="l">
                        <a:lnSpc>
                          <a:spcPct val="115000"/>
                        </a:lnSpc>
                        <a:spcAft>
                          <a:spcPts val="0"/>
                        </a:spcAft>
                      </a:pPr>
                      <a:r>
                        <a:rPr lang="en-IN" sz="1400">
                          <a:effectLst/>
                        </a:rPr>
                        <a:t>BPDB’s shareholding</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99.99%</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dirty="0">
                          <a:effectLst/>
                        </a:rPr>
                        <a:t>100%</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76.25%</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99.5%</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a:effectLst/>
                        </a:rPr>
                        <a:t>99.99%</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en-IN" sz="1400" dirty="0">
                          <a:effectLst/>
                        </a:rPr>
                        <a:t>No </a:t>
                      </a:r>
                      <a:r>
                        <a:rPr lang="en-IN" sz="1400" dirty="0" smtClean="0">
                          <a:effectLst/>
                        </a:rPr>
                        <a:t>information</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24408">
                <a:tc>
                  <a:txBody>
                    <a:bodyPr/>
                    <a:lstStyle/>
                    <a:p>
                      <a:pPr algn="l">
                        <a:lnSpc>
                          <a:spcPct val="115000"/>
                        </a:lnSpc>
                        <a:spcAft>
                          <a:spcPts val="0"/>
                        </a:spcAft>
                      </a:pPr>
                      <a:r>
                        <a:rPr lang="en-IN" sz="1400" dirty="0">
                          <a:effectLst/>
                        </a:rPr>
                        <a:t>Representation of BPDB in subsidiary’s Board as per </a:t>
                      </a:r>
                      <a:r>
                        <a:rPr lang="en-IN" sz="1400" dirty="0" err="1">
                          <a:effectLst/>
                        </a:rPr>
                        <a:t>AoA</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3 out of (9 to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4 out of (9 to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7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7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smtClean="0">
                          <a:effectLst/>
                        </a:rPr>
                        <a:t>Max. 6 out of 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dirty="0">
                          <a:effectLst/>
                        </a:rPr>
                        <a:t>Subject to </a:t>
                      </a:r>
                      <a:r>
                        <a:rPr lang="en-IN" sz="1400" dirty="0" smtClean="0">
                          <a:effectLst/>
                        </a:rPr>
                        <a:t>Government’s </a:t>
                      </a:r>
                      <a:r>
                        <a:rPr lang="en-IN" sz="1400" dirty="0">
                          <a:effectLst/>
                        </a:rPr>
                        <a:t>appointment of the Directors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04483">
                <a:tc>
                  <a:txBody>
                    <a:bodyPr/>
                    <a:lstStyle/>
                    <a:p>
                      <a:pPr algn="l">
                        <a:lnSpc>
                          <a:spcPct val="115000"/>
                        </a:lnSpc>
                        <a:spcAft>
                          <a:spcPts val="0"/>
                        </a:spcAft>
                      </a:pPr>
                      <a:r>
                        <a:rPr lang="en-IN" sz="1400">
                          <a:effectLst/>
                        </a:rPr>
                        <a:t>Actual representation of BPDB in subsidiary’s Board</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3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2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1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2 </a:t>
                      </a:r>
                      <a:r>
                        <a:rPr lang="en-IN" sz="1400" dirty="0">
                          <a:effectLst/>
                        </a:rPr>
                        <a:t>out of </a:t>
                      </a:r>
                      <a:r>
                        <a:rPr lang="en-IN" sz="1400" dirty="0" smtClean="0">
                          <a:effectLst/>
                        </a:rPr>
                        <a:t>12</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4 </a:t>
                      </a:r>
                      <a:r>
                        <a:rPr lang="en-IN" sz="1400" dirty="0">
                          <a:effectLst/>
                        </a:rPr>
                        <a:t>out of </a:t>
                      </a:r>
                      <a:r>
                        <a:rPr lang="en-IN" sz="1400" dirty="0" smtClean="0">
                          <a:effectLst/>
                        </a:rPr>
                        <a:t>11</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 information</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655904">
                <a:tc>
                  <a:txBody>
                    <a:bodyPr/>
                    <a:lstStyle/>
                    <a:p>
                      <a:pPr algn="l">
                        <a:lnSpc>
                          <a:spcPct val="115000"/>
                        </a:lnSpc>
                        <a:spcAft>
                          <a:spcPts val="0"/>
                        </a:spcAft>
                      </a:pPr>
                      <a:r>
                        <a:rPr lang="en-IN" sz="1400">
                          <a:effectLst/>
                        </a:rPr>
                        <a:t>Quorum (as per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&gt; 50</a:t>
                      </a:r>
                      <a:r>
                        <a:rPr lang="en-IN" sz="1400" dirty="0">
                          <a:effectLst/>
                        </a:rPr>
                        <a:t>% </a:t>
                      </a:r>
                      <a:r>
                        <a:rPr lang="en-IN" sz="1400" dirty="0" smtClean="0">
                          <a:effectLst/>
                        </a:rPr>
                        <a:t>of </a:t>
                      </a:r>
                      <a:r>
                        <a:rPr lang="en-IN" sz="1400" dirty="0">
                          <a:effectLst/>
                        </a:rPr>
                        <a:t>Directors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Majority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5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5 members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5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3 members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24408">
                <a:tc>
                  <a:txBody>
                    <a:bodyPr/>
                    <a:lstStyle/>
                    <a:p>
                      <a:pPr algn="l">
                        <a:lnSpc>
                          <a:spcPct val="115000"/>
                        </a:lnSpc>
                        <a:spcAft>
                          <a:spcPts val="0"/>
                        </a:spcAft>
                      </a:pPr>
                      <a:r>
                        <a:rPr lang="en-IN" sz="1400">
                          <a:effectLst/>
                        </a:rPr>
                        <a:t>Voting power of BPDB in subsidiary’s Board as per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Majority </a:t>
                      </a:r>
                      <a:r>
                        <a:rPr lang="en-IN" sz="1400" dirty="0" smtClean="0">
                          <a:effectLst/>
                        </a:rPr>
                        <a:t>/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smtClean="0">
                          <a:effectLst/>
                        </a:rPr>
                        <a:t>Majority /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smtClean="0">
                          <a:effectLst/>
                        </a:rPr>
                        <a:t>Majority / 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Subject to Government’s appointment of the Directors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111989">
                <a:tc>
                  <a:txBody>
                    <a:bodyPr/>
                    <a:lstStyle/>
                    <a:p>
                      <a:pPr algn="l">
                        <a:lnSpc>
                          <a:spcPct val="115000"/>
                        </a:lnSpc>
                        <a:spcAft>
                          <a:spcPts val="0"/>
                        </a:spcAft>
                      </a:pPr>
                      <a:r>
                        <a:rPr lang="en-IN" sz="1400" dirty="0">
                          <a:effectLst/>
                        </a:rPr>
                        <a:t>Voting power of BPDB in subsidiary’s Board as per actual scenario</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Minority</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Minority</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No information</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
        <p:nvSpPr>
          <p:cNvPr id="10" name="Rectangle 9"/>
          <p:cNvSpPr/>
          <p:nvPr/>
        </p:nvSpPr>
        <p:spPr bwMode="gray">
          <a:xfrm>
            <a:off x="2841191"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 name="Rectangle 10"/>
          <p:cNvSpPr/>
          <p:nvPr/>
        </p:nvSpPr>
        <p:spPr bwMode="gray">
          <a:xfrm>
            <a:off x="291158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 name="Rectangle 11"/>
          <p:cNvSpPr/>
          <p:nvPr/>
        </p:nvSpPr>
        <p:spPr bwMode="gray">
          <a:xfrm>
            <a:off x="298413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 name="Rectangle 12"/>
          <p:cNvSpPr/>
          <p:nvPr/>
        </p:nvSpPr>
        <p:spPr bwMode="gray">
          <a:xfrm>
            <a:off x="305081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4" name="Rectangle 13"/>
          <p:cNvSpPr/>
          <p:nvPr/>
        </p:nvSpPr>
        <p:spPr bwMode="gray">
          <a:xfrm>
            <a:off x="312052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5" name="Rectangle 14"/>
          <p:cNvSpPr/>
          <p:nvPr/>
        </p:nvSpPr>
        <p:spPr bwMode="gray">
          <a:xfrm>
            <a:off x="31900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6" name="Rectangle 15"/>
          <p:cNvSpPr/>
          <p:nvPr/>
        </p:nvSpPr>
        <p:spPr bwMode="gray">
          <a:xfrm>
            <a:off x="326225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7" name="Rectangle 16"/>
          <p:cNvSpPr/>
          <p:nvPr/>
        </p:nvSpPr>
        <p:spPr bwMode="gray">
          <a:xfrm>
            <a:off x="333441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8" name="Rectangle 17"/>
          <p:cNvSpPr/>
          <p:nvPr/>
        </p:nvSpPr>
        <p:spPr bwMode="gray">
          <a:xfrm>
            <a:off x="340657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9" name="Rectangle 18"/>
          <p:cNvSpPr/>
          <p:nvPr/>
        </p:nvSpPr>
        <p:spPr bwMode="gray">
          <a:xfrm>
            <a:off x="347235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0" name="Rectangle 19"/>
          <p:cNvSpPr/>
          <p:nvPr/>
        </p:nvSpPr>
        <p:spPr bwMode="gray">
          <a:xfrm>
            <a:off x="354446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1" name="Rectangle 20"/>
          <p:cNvSpPr/>
          <p:nvPr/>
        </p:nvSpPr>
        <p:spPr bwMode="gray">
          <a:xfrm>
            <a:off x="361656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2" name="Rectangle 21"/>
          <p:cNvSpPr/>
          <p:nvPr/>
        </p:nvSpPr>
        <p:spPr bwMode="gray">
          <a:xfrm>
            <a:off x="404406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3" name="Rectangle 22"/>
          <p:cNvSpPr/>
          <p:nvPr/>
        </p:nvSpPr>
        <p:spPr bwMode="gray">
          <a:xfrm>
            <a:off x="4114456"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4" name="Rectangle 23"/>
          <p:cNvSpPr/>
          <p:nvPr/>
        </p:nvSpPr>
        <p:spPr bwMode="gray">
          <a:xfrm>
            <a:off x="418700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5" name="Rectangle 24"/>
          <p:cNvSpPr/>
          <p:nvPr/>
        </p:nvSpPr>
        <p:spPr bwMode="gray">
          <a:xfrm>
            <a:off x="425368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6" name="Rectangle 25"/>
          <p:cNvSpPr/>
          <p:nvPr/>
        </p:nvSpPr>
        <p:spPr bwMode="gray">
          <a:xfrm>
            <a:off x="432340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7" name="Rectangle 26"/>
          <p:cNvSpPr/>
          <p:nvPr/>
        </p:nvSpPr>
        <p:spPr bwMode="gray">
          <a:xfrm>
            <a:off x="439292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8" name="Rectangle 27"/>
          <p:cNvSpPr/>
          <p:nvPr/>
        </p:nvSpPr>
        <p:spPr bwMode="gray">
          <a:xfrm>
            <a:off x="446513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9" name="Rectangle 28"/>
          <p:cNvSpPr/>
          <p:nvPr/>
        </p:nvSpPr>
        <p:spPr bwMode="gray">
          <a:xfrm>
            <a:off x="45372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0" name="Rectangle 29"/>
          <p:cNvSpPr/>
          <p:nvPr/>
        </p:nvSpPr>
        <p:spPr bwMode="gray">
          <a:xfrm>
            <a:off x="460944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1" name="Rectangle 30"/>
          <p:cNvSpPr/>
          <p:nvPr/>
        </p:nvSpPr>
        <p:spPr bwMode="gray">
          <a:xfrm>
            <a:off x="467522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2" name="Rectangle 31"/>
          <p:cNvSpPr/>
          <p:nvPr/>
        </p:nvSpPr>
        <p:spPr bwMode="gray">
          <a:xfrm>
            <a:off x="4747334"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3" name="Rectangle 32"/>
          <p:cNvSpPr/>
          <p:nvPr/>
        </p:nvSpPr>
        <p:spPr bwMode="gray">
          <a:xfrm>
            <a:off x="481943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4" name="Rectangle 33"/>
          <p:cNvSpPr/>
          <p:nvPr/>
        </p:nvSpPr>
        <p:spPr bwMode="gray">
          <a:xfrm>
            <a:off x="528456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5" name="Rectangle 34"/>
          <p:cNvSpPr/>
          <p:nvPr/>
        </p:nvSpPr>
        <p:spPr bwMode="gray">
          <a:xfrm>
            <a:off x="535495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6" name="Rectangle 35"/>
          <p:cNvSpPr/>
          <p:nvPr/>
        </p:nvSpPr>
        <p:spPr bwMode="gray">
          <a:xfrm>
            <a:off x="542750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7" name="Rectangle 36"/>
          <p:cNvSpPr/>
          <p:nvPr/>
        </p:nvSpPr>
        <p:spPr bwMode="gray">
          <a:xfrm>
            <a:off x="54941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8" name="Rectangle 37"/>
          <p:cNvSpPr/>
          <p:nvPr/>
        </p:nvSpPr>
        <p:spPr bwMode="gray">
          <a:xfrm>
            <a:off x="556390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9" name="Rectangle 38"/>
          <p:cNvSpPr/>
          <p:nvPr/>
        </p:nvSpPr>
        <p:spPr bwMode="gray">
          <a:xfrm>
            <a:off x="563342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0" name="Rectangle 39"/>
          <p:cNvSpPr/>
          <p:nvPr/>
        </p:nvSpPr>
        <p:spPr bwMode="gray">
          <a:xfrm>
            <a:off x="570563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1" name="Rectangle 40"/>
          <p:cNvSpPr/>
          <p:nvPr/>
        </p:nvSpPr>
        <p:spPr bwMode="gray">
          <a:xfrm>
            <a:off x="577779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2" name="Rectangle 41"/>
          <p:cNvSpPr/>
          <p:nvPr/>
        </p:nvSpPr>
        <p:spPr bwMode="gray">
          <a:xfrm>
            <a:off x="58499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3" name="Rectangle 42"/>
          <p:cNvSpPr/>
          <p:nvPr/>
        </p:nvSpPr>
        <p:spPr bwMode="gray">
          <a:xfrm>
            <a:off x="591573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4" name="Rectangle 43"/>
          <p:cNvSpPr/>
          <p:nvPr/>
        </p:nvSpPr>
        <p:spPr bwMode="gray">
          <a:xfrm>
            <a:off x="598783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5" name="Rectangle 44"/>
          <p:cNvSpPr/>
          <p:nvPr/>
        </p:nvSpPr>
        <p:spPr bwMode="gray">
          <a:xfrm>
            <a:off x="605994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6" name="Rectangle 45"/>
          <p:cNvSpPr/>
          <p:nvPr/>
        </p:nvSpPr>
        <p:spPr bwMode="gray">
          <a:xfrm>
            <a:off x="6481023"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7" name="Rectangle 46"/>
          <p:cNvSpPr/>
          <p:nvPr/>
        </p:nvSpPr>
        <p:spPr bwMode="gray">
          <a:xfrm>
            <a:off x="655141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8" name="Rectangle 47"/>
          <p:cNvSpPr/>
          <p:nvPr/>
        </p:nvSpPr>
        <p:spPr bwMode="gray">
          <a:xfrm>
            <a:off x="6623965"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9" name="Rectangle 48"/>
          <p:cNvSpPr/>
          <p:nvPr/>
        </p:nvSpPr>
        <p:spPr bwMode="gray">
          <a:xfrm>
            <a:off x="6690648"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0" name="Rectangle 49"/>
          <p:cNvSpPr/>
          <p:nvPr/>
        </p:nvSpPr>
        <p:spPr bwMode="gray">
          <a:xfrm>
            <a:off x="676036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1" name="Rectangle 50"/>
          <p:cNvSpPr/>
          <p:nvPr/>
        </p:nvSpPr>
        <p:spPr bwMode="gray">
          <a:xfrm>
            <a:off x="682988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2" name="Rectangle 51"/>
          <p:cNvSpPr/>
          <p:nvPr/>
        </p:nvSpPr>
        <p:spPr bwMode="gray">
          <a:xfrm>
            <a:off x="6902091"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3" name="Rectangle 52"/>
          <p:cNvSpPr/>
          <p:nvPr/>
        </p:nvSpPr>
        <p:spPr bwMode="gray">
          <a:xfrm>
            <a:off x="697424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4" name="Rectangle 53"/>
          <p:cNvSpPr/>
          <p:nvPr/>
        </p:nvSpPr>
        <p:spPr bwMode="gray">
          <a:xfrm>
            <a:off x="704640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5" name="Rectangle 54"/>
          <p:cNvSpPr/>
          <p:nvPr/>
        </p:nvSpPr>
        <p:spPr bwMode="gray">
          <a:xfrm>
            <a:off x="711218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6" name="Rectangle 55"/>
          <p:cNvSpPr/>
          <p:nvPr/>
        </p:nvSpPr>
        <p:spPr bwMode="gray">
          <a:xfrm>
            <a:off x="7184294"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7" name="Rectangle 56"/>
          <p:cNvSpPr/>
          <p:nvPr/>
        </p:nvSpPr>
        <p:spPr bwMode="gray">
          <a:xfrm>
            <a:off x="7256399"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8" name="Rectangle 57"/>
          <p:cNvSpPr/>
          <p:nvPr/>
        </p:nvSpPr>
        <p:spPr bwMode="gray">
          <a:xfrm>
            <a:off x="7663039"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9" name="Rectangle 58"/>
          <p:cNvSpPr/>
          <p:nvPr/>
        </p:nvSpPr>
        <p:spPr bwMode="gray">
          <a:xfrm>
            <a:off x="7733432"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0" name="Rectangle 59"/>
          <p:cNvSpPr/>
          <p:nvPr/>
        </p:nvSpPr>
        <p:spPr bwMode="gray">
          <a:xfrm>
            <a:off x="7805981"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1" name="Rectangle 60"/>
          <p:cNvSpPr/>
          <p:nvPr/>
        </p:nvSpPr>
        <p:spPr bwMode="gray">
          <a:xfrm>
            <a:off x="7872664" y="3311194"/>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2" name="Rectangle 61"/>
          <p:cNvSpPr/>
          <p:nvPr/>
        </p:nvSpPr>
        <p:spPr bwMode="gray">
          <a:xfrm>
            <a:off x="794237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3" name="Rectangle 62"/>
          <p:cNvSpPr/>
          <p:nvPr/>
        </p:nvSpPr>
        <p:spPr bwMode="gray">
          <a:xfrm>
            <a:off x="8011896"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4" name="Rectangle 63"/>
          <p:cNvSpPr/>
          <p:nvPr/>
        </p:nvSpPr>
        <p:spPr bwMode="gray">
          <a:xfrm>
            <a:off x="808410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5" name="Rectangle 64"/>
          <p:cNvSpPr/>
          <p:nvPr/>
        </p:nvSpPr>
        <p:spPr bwMode="gray">
          <a:xfrm>
            <a:off x="815082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6" name="Rectangle 65"/>
          <p:cNvSpPr/>
          <p:nvPr/>
        </p:nvSpPr>
        <p:spPr bwMode="gray">
          <a:xfrm>
            <a:off x="8222980"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7" name="Rectangle 66"/>
          <p:cNvSpPr/>
          <p:nvPr/>
        </p:nvSpPr>
        <p:spPr bwMode="gray">
          <a:xfrm>
            <a:off x="8288762"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8" name="Rectangle 67"/>
          <p:cNvSpPr/>
          <p:nvPr/>
        </p:nvSpPr>
        <p:spPr bwMode="gray">
          <a:xfrm>
            <a:off x="8360867" y="3311194"/>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0" name="Rectangle 69"/>
          <p:cNvSpPr/>
          <p:nvPr/>
        </p:nvSpPr>
        <p:spPr bwMode="gray">
          <a:xfrm>
            <a:off x="284108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1" name="Rectangle 70"/>
          <p:cNvSpPr/>
          <p:nvPr/>
        </p:nvSpPr>
        <p:spPr bwMode="gray">
          <a:xfrm>
            <a:off x="291147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2" name="Rectangle 71"/>
          <p:cNvSpPr/>
          <p:nvPr/>
        </p:nvSpPr>
        <p:spPr bwMode="gray">
          <a:xfrm>
            <a:off x="298402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3" name="Rectangle 72"/>
          <p:cNvSpPr/>
          <p:nvPr/>
        </p:nvSpPr>
        <p:spPr bwMode="gray">
          <a:xfrm>
            <a:off x="305071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4" name="Rectangle 73"/>
          <p:cNvSpPr/>
          <p:nvPr/>
        </p:nvSpPr>
        <p:spPr bwMode="gray">
          <a:xfrm>
            <a:off x="312042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5" name="Rectangle 74"/>
          <p:cNvSpPr/>
          <p:nvPr/>
        </p:nvSpPr>
        <p:spPr bwMode="gray">
          <a:xfrm>
            <a:off x="318994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6" name="Rectangle 75"/>
          <p:cNvSpPr/>
          <p:nvPr/>
        </p:nvSpPr>
        <p:spPr bwMode="gray">
          <a:xfrm>
            <a:off x="326215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7" name="Rectangle 76"/>
          <p:cNvSpPr/>
          <p:nvPr/>
        </p:nvSpPr>
        <p:spPr bwMode="gray">
          <a:xfrm>
            <a:off x="333431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8" name="Rectangle 77"/>
          <p:cNvSpPr/>
          <p:nvPr/>
        </p:nvSpPr>
        <p:spPr bwMode="gray">
          <a:xfrm>
            <a:off x="340647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9" name="Rectangle 78"/>
          <p:cNvSpPr/>
          <p:nvPr/>
        </p:nvSpPr>
        <p:spPr bwMode="gray">
          <a:xfrm>
            <a:off x="347225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0" name="Rectangle 79"/>
          <p:cNvSpPr/>
          <p:nvPr/>
        </p:nvSpPr>
        <p:spPr bwMode="gray">
          <a:xfrm>
            <a:off x="354435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1" name="Rectangle 80"/>
          <p:cNvSpPr/>
          <p:nvPr/>
        </p:nvSpPr>
        <p:spPr bwMode="gray">
          <a:xfrm>
            <a:off x="361646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2" name="Rectangle 81"/>
          <p:cNvSpPr/>
          <p:nvPr/>
        </p:nvSpPr>
        <p:spPr bwMode="gray">
          <a:xfrm>
            <a:off x="404395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3" name="Rectangle 82"/>
          <p:cNvSpPr/>
          <p:nvPr/>
        </p:nvSpPr>
        <p:spPr bwMode="gray">
          <a:xfrm>
            <a:off x="411435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4" name="Rectangle 83"/>
          <p:cNvSpPr/>
          <p:nvPr/>
        </p:nvSpPr>
        <p:spPr bwMode="gray">
          <a:xfrm>
            <a:off x="418690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5" name="Rectangle 84"/>
          <p:cNvSpPr/>
          <p:nvPr/>
        </p:nvSpPr>
        <p:spPr bwMode="gray">
          <a:xfrm>
            <a:off x="425358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6" name="Rectangle 85"/>
          <p:cNvSpPr/>
          <p:nvPr/>
        </p:nvSpPr>
        <p:spPr bwMode="gray">
          <a:xfrm>
            <a:off x="4323295"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7" name="Rectangle 86"/>
          <p:cNvSpPr/>
          <p:nvPr/>
        </p:nvSpPr>
        <p:spPr bwMode="gray">
          <a:xfrm>
            <a:off x="4392815"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8" name="Rectangle 87"/>
          <p:cNvSpPr/>
          <p:nvPr/>
        </p:nvSpPr>
        <p:spPr bwMode="gray">
          <a:xfrm>
            <a:off x="446502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9" name="Rectangle 88"/>
          <p:cNvSpPr/>
          <p:nvPr/>
        </p:nvSpPr>
        <p:spPr bwMode="gray">
          <a:xfrm>
            <a:off x="453718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0" name="Rectangle 89"/>
          <p:cNvSpPr/>
          <p:nvPr/>
        </p:nvSpPr>
        <p:spPr bwMode="gray">
          <a:xfrm>
            <a:off x="460934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1" name="Rectangle 90"/>
          <p:cNvSpPr/>
          <p:nvPr/>
        </p:nvSpPr>
        <p:spPr bwMode="gray">
          <a:xfrm>
            <a:off x="467512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2" name="Rectangle 91"/>
          <p:cNvSpPr/>
          <p:nvPr/>
        </p:nvSpPr>
        <p:spPr bwMode="gray">
          <a:xfrm>
            <a:off x="4747229"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3" name="Rectangle 92"/>
          <p:cNvSpPr/>
          <p:nvPr/>
        </p:nvSpPr>
        <p:spPr bwMode="gray">
          <a:xfrm>
            <a:off x="481933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4" name="Rectangle 93"/>
          <p:cNvSpPr/>
          <p:nvPr/>
        </p:nvSpPr>
        <p:spPr bwMode="gray">
          <a:xfrm>
            <a:off x="528445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5" name="Rectangle 94"/>
          <p:cNvSpPr/>
          <p:nvPr/>
        </p:nvSpPr>
        <p:spPr bwMode="gray">
          <a:xfrm>
            <a:off x="5354852"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6" name="Rectangle 95"/>
          <p:cNvSpPr/>
          <p:nvPr/>
        </p:nvSpPr>
        <p:spPr bwMode="gray">
          <a:xfrm>
            <a:off x="542740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7" name="Rectangle 96"/>
          <p:cNvSpPr/>
          <p:nvPr/>
        </p:nvSpPr>
        <p:spPr bwMode="gray">
          <a:xfrm>
            <a:off x="5494084"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8" name="Rectangle 97"/>
          <p:cNvSpPr/>
          <p:nvPr/>
        </p:nvSpPr>
        <p:spPr bwMode="gray">
          <a:xfrm>
            <a:off x="556379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9" name="Rectangle 98"/>
          <p:cNvSpPr/>
          <p:nvPr/>
        </p:nvSpPr>
        <p:spPr bwMode="gray">
          <a:xfrm>
            <a:off x="563331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0" name="Rectangle 99"/>
          <p:cNvSpPr/>
          <p:nvPr/>
        </p:nvSpPr>
        <p:spPr bwMode="gray">
          <a:xfrm>
            <a:off x="5705527"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1" name="Rectangle 100"/>
          <p:cNvSpPr/>
          <p:nvPr/>
        </p:nvSpPr>
        <p:spPr bwMode="gray">
          <a:xfrm>
            <a:off x="577224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2" name="Rectangle 101"/>
          <p:cNvSpPr/>
          <p:nvPr/>
        </p:nvSpPr>
        <p:spPr bwMode="gray">
          <a:xfrm>
            <a:off x="584440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3" name="Rectangle 102"/>
          <p:cNvSpPr/>
          <p:nvPr/>
        </p:nvSpPr>
        <p:spPr bwMode="gray">
          <a:xfrm>
            <a:off x="591018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4" name="Rectangle 103"/>
          <p:cNvSpPr/>
          <p:nvPr/>
        </p:nvSpPr>
        <p:spPr bwMode="gray">
          <a:xfrm>
            <a:off x="598228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5" name="Rectangle 104"/>
          <p:cNvSpPr/>
          <p:nvPr/>
        </p:nvSpPr>
        <p:spPr bwMode="gray">
          <a:xfrm>
            <a:off x="605439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6" name="Rectangle 105"/>
          <p:cNvSpPr/>
          <p:nvPr/>
        </p:nvSpPr>
        <p:spPr bwMode="gray">
          <a:xfrm>
            <a:off x="6482853"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7" name="Rectangle 106"/>
          <p:cNvSpPr/>
          <p:nvPr/>
        </p:nvSpPr>
        <p:spPr bwMode="gray">
          <a:xfrm>
            <a:off x="655324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8" name="Rectangle 107"/>
          <p:cNvSpPr/>
          <p:nvPr/>
        </p:nvSpPr>
        <p:spPr bwMode="gray">
          <a:xfrm>
            <a:off x="6625795"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9" name="Rectangle 108"/>
          <p:cNvSpPr/>
          <p:nvPr/>
        </p:nvSpPr>
        <p:spPr bwMode="gray">
          <a:xfrm>
            <a:off x="6692478"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0" name="Rectangle 109"/>
          <p:cNvSpPr/>
          <p:nvPr/>
        </p:nvSpPr>
        <p:spPr bwMode="gray">
          <a:xfrm>
            <a:off x="676219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1" name="Rectangle 110"/>
          <p:cNvSpPr/>
          <p:nvPr/>
        </p:nvSpPr>
        <p:spPr bwMode="gray">
          <a:xfrm>
            <a:off x="6831710"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2" name="Rectangle 111"/>
          <p:cNvSpPr/>
          <p:nvPr/>
        </p:nvSpPr>
        <p:spPr bwMode="gray">
          <a:xfrm>
            <a:off x="690392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3" name="Rectangle 112"/>
          <p:cNvSpPr/>
          <p:nvPr/>
        </p:nvSpPr>
        <p:spPr bwMode="gray">
          <a:xfrm>
            <a:off x="697063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4" name="Rectangle 113"/>
          <p:cNvSpPr/>
          <p:nvPr/>
        </p:nvSpPr>
        <p:spPr bwMode="gray">
          <a:xfrm>
            <a:off x="7042794"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5" name="Rectangle 114"/>
          <p:cNvSpPr/>
          <p:nvPr/>
        </p:nvSpPr>
        <p:spPr bwMode="gray">
          <a:xfrm>
            <a:off x="710857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6" name="Rectangle 115"/>
          <p:cNvSpPr/>
          <p:nvPr/>
        </p:nvSpPr>
        <p:spPr bwMode="gray">
          <a:xfrm>
            <a:off x="7180681"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7" name="Rectangle 116"/>
          <p:cNvSpPr/>
          <p:nvPr/>
        </p:nvSpPr>
        <p:spPr bwMode="gray">
          <a:xfrm>
            <a:off x="7252786"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8" name="Rectangle 117"/>
          <p:cNvSpPr/>
          <p:nvPr/>
        </p:nvSpPr>
        <p:spPr bwMode="gray">
          <a:xfrm>
            <a:off x="7663039"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19" name="Rectangle 118"/>
          <p:cNvSpPr/>
          <p:nvPr/>
        </p:nvSpPr>
        <p:spPr bwMode="gray">
          <a:xfrm>
            <a:off x="7733432"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0" name="Rectangle 119"/>
          <p:cNvSpPr/>
          <p:nvPr/>
        </p:nvSpPr>
        <p:spPr bwMode="gray">
          <a:xfrm>
            <a:off x="7805981"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1" name="Rectangle 120"/>
          <p:cNvSpPr/>
          <p:nvPr/>
        </p:nvSpPr>
        <p:spPr bwMode="gray">
          <a:xfrm>
            <a:off x="7872664"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2" name="Rectangle 121"/>
          <p:cNvSpPr/>
          <p:nvPr/>
        </p:nvSpPr>
        <p:spPr bwMode="gray">
          <a:xfrm>
            <a:off x="794237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3" name="Rectangle 122"/>
          <p:cNvSpPr/>
          <p:nvPr/>
        </p:nvSpPr>
        <p:spPr bwMode="gray">
          <a:xfrm>
            <a:off x="8011896" y="2380465"/>
            <a:ext cx="72000" cy="279698"/>
          </a:xfrm>
          <a:prstGeom prst="rect">
            <a:avLst/>
          </a:prstGeom>
          <a:solidFill>
            <a:srgbClr val="041E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4" name="Rectangle 123"/>
          <p:cNvSpPr/>
          <p:nvPr/>
        </p:nvSpPr>
        <p:spPr bwMode="gray">
          <a:xfrm>
            <a:off x="808410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5" name="Rectangle 124"/>
          <p:cNvSpPr/>
          <p:nvPr/>
        </p:nvSpPr>
        <p:spPr bwMode="gray">
          <a:xfrm>
            <a:off x="815082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6" name="Rectangle 125"/>
          <p:cNvSpPr/>
          <p:nvPr/>
        </p:nvSpPr>
        <p:spPr bwMode="gray">
          <a:xfrm>
            <a:off x="8222980"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7" name="Rectangle 126"/>
          <p:cNvSpPr/>
          <p:nvPr/>
        </p:nvSpPr>
        <p:spPr bwMode="gray">
          <a:xfrm>
            <a:off x="828876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8" name="Rectangle 127"/>
          <p:cNvSpPr/>
          <p:nvPr/>
        </p:nvSpPr>
        <p:spPr bwMode="gray">
          <a:xfrm>
            <a:off x="8360867"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29" name="Rectangle 128"/>
          <p:cNvSpPr/>
          <p:nvPr/>
        </p:nvSpPr>
        <p:spPr bwMode="gray">
          <a:xfrm>
            <a:off x="8432972" y="2380465"/>
            <a:ext cx="72000" cy="279698"/>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1" name="Action Button: Forward or Next 130">
            <a:hlinkClick r:id="rId3" action="ppaction://hlinksldjump" highlightClick="1"/>
          </p:cNvPr>
          <p:cNvSpPr/>
          <p:nvPr/>
        </p:nvSpPr>
        <p:spPr bwMode="gray">
          <a:xfrm>
            <a:off x="3120423" y="7033994"/>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2" name="Action Button: Forward or Next 131">
            <a:hlinkClick r:id="rId4" action="ppaction://hlinksldjump" highlightClick="1"/>
          </p:cNvPr>
          <p:cNvSpPr/>
          <p:nvPr/>
        </p:nvSpPr>
        <p:spPr bwMode="gray">
          <a:xfrm>
            <a:off x="4359295" y="7033993"/>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3" name="Action Button: Forward or Next 132">
            <a:hlinkClick r:id="rId5" action="ppaction://hlinksldjump" highlightClick="1"/>
          </p:cNvPr>
          <p:cNvSpPr/>
          <p:nvPr/>
        </p:nvSpPr>
        <p:spPr bwMode="gray">
          <a:xfrm>
            <a:off x="5513844" y="7033992"/>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4" name="Action Button: Forward or Next 133">
            <a:hlinkClick r:id="rId6" action="ppaction://hlinksldjump" highlightClick="1"/>
          </p:cNvPr>
          <p:cNvSpPr/>
          <p:nvPr/>
        </p:nvSpPr>
        <p:spPr bwMode="gray">
          <a:xfrm>
            <a:off x="6742168" y="7033991"/>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5" name="Action Button: Forward or Next 134">
            <a:hlinkClick r:id="rId7" action="ppaction://hlinksldjump" highlightClick="1"/>
          </p:cNvPr>
          <p:cNvSpPr/>
          <p:nvPr/>
        </p:nvSpPr>
        <p:spPr bwMode="gray">
          <a:xfrm>
            <a:off x="7955161" y="7033990"/>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6" name="Action Button: Forward or Next 135">
            <a:hlinkClick r:id="rId8" action="ppaction://hlinksldjump" highlightClick="1"/>
          </p:cNvPr>
          <p:cNvSpPr/>
          <p:nvPr/>
        </p:nvSpPr>
        <p:spPr bwMode="gray">
          <a:xfrm>
            <a:off x="9226307" y="703398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30" name="Pentagon 129">
            <a:hlinkClick r:id="rId9" action="ppaction://hlinksldjump"/>
          </p:cNvPr>
          <p:cNvSpPr/>
          <p:nvPr/>
        </p:nvSpPr>
        <p:spPr bwMode="gray">
          <a:xfrm flipH="1">
            <a:off x="9863138" y="7107038"/>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953458378"/>
      </p:ext>
    </p:extLst>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439791" y="5658671"/>
            <a:ext cx="978595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lstStyle/>
          <a:p>
            <a:r>
              <a:rPr lang="en-US" b="1" dirty="0"/>
              <a:t>Key insight – Relationship </a:t>
            </a:r>
            <a:r>
              <a:rPr lang="en-US" b="1" dirty="0" smtClean="0"/>
              <a:t>of BPDB with its subsidiaries (2/2)</a:t>
            </a:r>
            <a:endParaRPr lang="en-IN" b="1" dirty="0"/>
          </a:p>
        </p:txBody>
      </p:sp>
      <p:graphicFrame>
        <p:nvGraphicFramePr>
          <p:cNvPr id="2" name="Table 1"/>
          <p:cNvGraphicFramePr>
            <a:graphicFrameLocks noGrp="1"/>
          </p:cNvGraphicFramePr>
          <p:nvPr>
            <p:extLst/>
          </p:nvPr>
        </p:nvGraphicFramePr>
        <p:xfrm>
          <a:off x="439791" y="826257"/>
          <a:ext cx="9785953" cy="3701031"/>
        </p:xfrm>
        <a:graphic>
          <a:graphicData uri="http://schemas.openxmlformats.org/drawingml/2006/table">
            <a:tbl>
              <a:tblPr firstRow="1" firstCol="1">
                <a:tableStyleId>{5C22544A-7EE6-4342-B048-85BDC9FD1C3A}</a:tableStyleId>
              </a:tblPr>
              <a:tblGrid>
                <a:gridCol w="1760484"/>
                <a:gridCol w="1114425"/>
                <a:gridCol w="2009775"/>
                <a:gridCol w="1019175"/>
                <a:gridCol w="1057275"/>
                <a:gridCol w="1114425"/>
                <a:gridCol w="1710394"/>
              </a:tblGrid>
              <a:tr h="481581">
                <a:tc>
                  <a:txBody>
                    <a:bodyPr/>
                    <a:lstStyle/>
                    <a:p>
                      <a:pPr algn="l">
                        <a:lnSpc>
                          <a:spcPct val="115000"/>
                        </a:lnSpc>
                        <a:spcAft>
                          <a:spcPts val="0"/>
                        </a:spcAft>
                      </a:pPr>
                      <a:r>
                        <a:rPr lang="en-IN" sz="1400" dirty="0">
                          <a:effectLst/>
                        </a:rPr>
                        <a:t>Aspects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APSCL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NWPGCL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PGCB</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EGCB</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IN" sz="1400" dirty="0">
                          <a:effectLst/>
                        </a:rPr>
                        <a:t>NWZPDCL</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1381125">
                <a:tc>
                  <a:txBody>
                    <a:bodyPr/>
                    <a:lstStyle/>
                    <a:p>
                      <a:pPr algn="l">
                        <a:lnSpc>
                          <a:spcPct val="115000"/>
                        </a:lnSpc>
                        <a:spcAft>
                          <a:spcPts val="0"/>
                        </a:spcAft>
                      </a:pPr>
                      <a:r>
                        <a:rPr lang="en-IN" sz="1400" dirty="0">
                          <a:effectLst/>
                        </a:rPr>
                        <a:t>Inherent planning risk</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Exists</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Exists</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l">
                        <a:lnSpc>
                          <a:spcPct val="115000"/>
                        </a:lnSpc>
                        <a:spcAft>
                          <a:spcPts val="0"/>
                        </a:spcAft>
                      </a:pPr>
                      <a:r>
                        <a:rPr lang="en-IN" sz="1400">
                          <a:effectLst/>
                        </a:rPr>
                        <a:t>Can be commented upon availability of actual board composition</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r h="1838325">
                <a:tc>
                  <a:txBody>
                    <a:bodyPr/>
                    <a:lstStyle/>
                    <a:p>
                      <a:pPr algn="l">
                        <a:lnSpc>
                          <a:spcPct val="115000"/>
                        </a:lnSpc>
                        <a:spcAft>
                          <a:spcPts val="0"/>
                        </a:spcAft>
                      </a:pPr>
                      <a:r>
                        <a:rPr lang="en-IN" sz="1400">
                          <a:effectLst/>
                        </a:rPr>
                        <a:t>Other mandates for subsidiary as per MoA and AoA</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marL="171450" indent="-171450" algn="l">
                        <a:lnSpc>
                          <a:spcPct val="115000"/>
                        </a:lnSpc>
                        <a:spcAft>
                          <a:spcPts val="0"/>
                        </a:spcAft>
                        <a:buFont typeface="Arial" panose="020B0604020202020204" pitchFamily="34" charset="0"/>
                        <a:buChar char="•"/>
                      </a:pPr>
                      <a:r>
                        <a:rPr lang="en-US" sz="1400" dirty="0" smtClean="0">
                          <a:effectLst/>
                        </a:rPr>
                        <a:t>Compliance</a:t>
                      </a:r>
                      <a:r>
                        <a:rPr lang="en-US" sz="1400" baseline="0" dirty="0" smtClean="0">
                          <a:effectLst/>
                        </a:rPr>
                        <a:t> to integrated planning</a:t>
                      </a:r>
                    </a:p>
                    <a:p>
                      <a:pPr marL="171450" indent="-171450" algn="l">
                        <a:lnSpc>
                          <a:spcPct val="115000"/>
                        </a:lnSpc>
                        <a:spcAft>
                          <a:spcPts val="0"/>
                        </a:spcAft>
                        <a:buFont typeface="Arial" panose="020B0604020202020204" pitchFamily="34" charset="0"/>
                        <a:buChar char="•"/>
                      </a:pPr>
                      <a:r>
                        <a:rPr lang="en-US" sz="1400" baseline="0" dirty="0" smtClean="0">
                          <a:effectLst/>
                        </a:rPr>
                        <a:t>Services from BPDB</a:t>
                      </a:r>
                    </a:p>
                    <a:p>
                      <a:pPr marL="171450" indent="-171450" algn="l">
                        <a:lnSpc>
                          <a:spcPct val="115000"/>
                        </a:lnSpc>
                        <a:spcAft>
                          <a:spcPts val="0"/>
                        </a:spcAft>
                        <a:buFont typeface="Arial" panose="020B0604020202020204" pitchFamily="34" charset="0"/>
                        <a:buChar char="•"/>
                      </a:pPr>
                      <a:r>
                        <a:rPr lang="en-US" sz="1400" baseline="0" dirty="0" smtClean="0">
                          <a:effectLst/>
                        </a:rPr>
                        <a:t>Resource transfer</a:t>
                      </a:r>
                    </a:p>
                    <a:p>
                      <a:pPr marL="171450" indent="-171450" algn="l">
                        <a:lnSpc>
                          <a:spcPct val="115000"/>
                        </a:lnSpc>
                        <a:spcAft>
                          <a:spcPts val="0"/>
                        </a:spcAft>
                        <a:buFont typeface="Arial" panose="020B0604020202020204" pitchFamily="34" charset="0"/>
                        <a:buChar char="•"/>
                      </a:pPr>
                      <a:r>
                        <a:rPr lang="en-US" sz="1400" baseline="0" dirty="0" smtClean="0">
                          <a:effectLst/>
                        </a:rPr>
                        <a:t>Reporting to BPDB</a:t>
                      </a:r>
                      <a:endParaRPr lang="en-IN" sz="1400" dirty="0" smtClean="0">
                        <a:effectLst/>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a:effectLst/>
                        </a:rPr>
                        <a:t>None</a:t>
                      </a:r>
                      <a:endParaRPr lang="en-IN" sz="20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IN" sz="1400" dirty="0">
                          <a:effectLst/>
                        </a:rPr>
                        <a:t>None</a:t>
                      </a:r>
                      <a:endParaRPr lang="en-IN" sz="20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r>
            </a:tbl>
          </a:graphicData>
        </a:graphic>
      </p:graphicFrame>
      <p:sp>
        <p:nvSpPr>
          <p:cNvPr id="4" name="Action Button: Forward or Next 3">
            <a:hlinkClick r:id="rId3" action="ppaction://hlinksldjump" highlightClick="1"/>
          </p:cNvPr>
          <p:cNvSpPr/>
          <p:nvPr/>
        </p:nvSpPr>
        <p:spPr bwMode="gray">
          <a:xfrm>
            <a:off x="2539510"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5" name="Action Button: Forward or Next 4">
            <a:hlinkClick r:id="rId4" action="ppaction://hlinksldjump" highlightClick="1"/>
          </p:cNvPr>
          <p:cNvSpPr/>
          <p:nvPr/>
        </p:nvSpPr>
        <p:spPr bwMode="gray">
          <a:xfrm>
            <a:off x="4133384"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 name="Action Button: Forward or Next 5">
            <a:hlinkClick r:id="rId5" action="ppaction://hlinksldjump" highlightClick="1"/>
          </p:cNvPr>
          <p:cNvSpPr/>
          <p:nvPr/>
        </p:nvSpPr>
        <p:spPr bwMode="gray">
          <a:xfrm>
            <a:off x="5642936"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7" name="Action Button: Forward or Next 6">
            <a:hlinkClick r:id="rId6" action="ppaction://hlinksldjump" highlightClick="1"/>
          </p:cNvPr>
          <p:cNvSpPr/>
          <p:nvPr/>
        </p:nvSpPr>
        <p:spPr bwMode="gray">
          <a:xfrm>
            <a:off x="6742168" y="4602700"/>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8" name="Action Button: Forward or Next 7">
            <a:hlinkClick r:id="rId7" action="ppaction://hlinksldjump" highlightClick="1"/>
          </p:cNvPr>
          <p:cNvSpPr/>
          <p:nvPr/>
        </p:nvSpPr>
        <p:spPr bwMode="gray">
          <a:xfrm>
            <a:off x="7841400" y="4602699"/>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9" name="Action Button: Forward or Next 8">
            <a:hlinkClick r:id="rId8" action="ppaction://hlinksldjump" highlightClick="1"/>
          </p:cNvPr>
          <p:cNvSpPr/>
          <p:nvPr/>
        </p:nvSpPr>
        <p:spPr bwMode="gray">
          <a:xfrm>
            <a:off x="9173151" y="4602698"/>
            <a:ext cx="355601" cy="322729"/>
          </a:xfrm>
          <a:prstGeom prst="actionButtonForwardNex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10" name="TextBox 9"/>
          <p:cNvSpPr txBox="1"/>
          <p:nvPr/>
        </p:nvSpPr>
        <p:spPr>
          <a:xfrm>
            <a:off x="489349" y="5943021"/>
            <a:ext cx="9736395" cy="974148"/>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smtClean="0">
                <a:solidFill>
                  <a:srgbClr val="313131"/>
                </a:solidFill>
              </a:rPr>
              <a:t>Limited voting power of BPDB in subsidiaries’ Board</a:t>
            </a:r>
          </a:p>
          <a:p>
            <a:pPr marL="285750" indent="-285750">
              <a:spcBef>
                <a:spcPts val="600"/>
              </a:spcBef>
              <a:buSzPct val="100000"/>
              <a:buFont typeface="Arial" panose="020B0604020202020204" pitchFamily="34" charset="0"/>
              <a:buChar char="•"/>
            </a:pPr>
            <a:r>
              <a:rPr lang="en-US" sz="1400" dirty="0" smtClean="0">
                <a:solidFill>
                  <a:srgbClr val="313131"/>
                </a:solidFill>
              </a:rPr>
              <a:t>Inherent planning risk in the event of limited oversight of BPDB in the development plans and projects of subsidiaries</a:t>
            </a:r>
            <a:endParaRPr lang="en-IN" sz="1400" dirty="0" smtClean="0">
              <a:solidFill>
                <a:srgbClr val="313131"/>
              </a:solidFill>
            </a:endParaRPr>
          </a:p>
        </p:txBody>
      </p:sp>
      <p:sp>
        <p:nvSpPr>
          <p:cNvPr id="11" name="TextBox 10"/>
          <p:cNvSpPr txBox="1"/>
          <p:nvPr/>
        </p:nvSpPr>
        <p:spPr>
          <a:xfrm>
            <a:off x="3279728" y="5478873"/>
            <a:ext cx="4129182" cy="347174"/>
          </a:xfrm>
          <a:prstGeom prst="rect">
            <a:avLst/>
          </a:prstGeom>
          <a:solidFill>
            <a:srgbClr val="92D050"/>
          </a:solidFill>
          <a:ln>
            <a:solidFill>
              <a:srgbClr val="92D050"/>
            </a:solidFill>
          </a:ln>
        </p:spPr>
        <p:txBody>
          <a:bodyPr wrap="square" lIns="36000" tIns="0" rIns="36000" bIns="0" rtlCol="0" anchor="ctr">
            <a:noAutofit/>
          </a:bodyPr>
          <a:lstStyle/>
          <a:p>
            <a:pPr algn="ctr">
              <a:spcBef>
                <a:spcPts val="600"/>
              </a:spcBef>
              <a:buSzPct val="100000"/>
            </a:pPr>
            <a:r>
              <a:rPr lang="en-US" sz="1400" b="1" dirty="0" smtClean="0">
                <a:solidFill>
                  <a:srgbClr val="313131"/>
                </a:solidFill>
              </a:rPr>
              <a:t>Key strategic concerns &amp; challenges</a:t>
            </a:r>
          </a:p>
        </p:txBody>
      </p:sp>
      <p:sp>
        <p:nvSpPr>
          <p:cNvPr id="14" name="Pentagon 13">
            <a:hlinkClick r:id="rId9" action="ppaction://hlinksldjump"/>
          </p:cNvPr>
          <p:cNvSpPr/>
          <p:nvPr/>
        </p:nvSpPr>
        <p:spPr bwMode="gray">
          <a:xfrm flipH="1">
            <a:off x="9863138" y="7201518"/>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630301258"/>
      </p:ext>
    </p:extLst>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black"/>
                </a:solidFill>
              </a:rPr>
              <a:t>3</a:t>
            </a:r>
            <a:r>
              <a:rPr lang="en-US" sz="5400" dirty="0" smtClean="0">
                <a:solidFill>
                  <a:prstClr val="black"/>
                </a:solidFill>
              </a:rPr>
              <a:t>. Drivers for Reform</a:t>
            </a:r>
            <a:endParaRPr lang="en-US" sz="5400" dirty="0">
              <a:solidFill>
                <a:prstClr val="black"/>
              </a:solidFill>
            </a:endParaRPr>
          </a:p>
        </p:txBody>
      </p:sp>
    </p:spTree>
    <p:extLst>
      <p:ext uri="{BB962C8B-B14F-4D97-AF65-F5344CB8AC3E}">
        <p14:creationId xmlns:p14="http://schemas.microsoft.com/office/powerpoint/2010/main" val="79483846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The Government’s key policy directives </a:t>
            </a:r>
            <a:r>
              <a:rPr lang="en-IN" sz="2000" b="1" dirty="0"/>
              <a:t>provide a clear direction towards corporatization and sustained financial viability of utilities</a:t>
            </a:r>
          </a:p>
        </p:txBody>
      </p:sp>
      <p:sp>
        <p:nvSpPr>
          <p:cNvPr id="4" name="TextBox 3"/>
          <p:cNvSpPr txBox="1"/>
          <p:nvPr/>
        </p:nvSpPr>
        <p:spPr>
          <a:xfrm>
            <a:off x="439794" y="1763482"/>
            <a:ext cx="9809052" cy="5616000"/>
          </a:xfrm>
          <a:prstGeom prst="rect">
            <a:avLst/>
          </a:prstGeom>
          <a:solidFill>
            <a:srgbClr val="F3FAE6"/>
          </a:solidFill>
        </p:spPr>
        <p:txBody>
          <a:bodyPr wrap="square" lIns="0" tIns="0" rIns="0" bIns="0" rtlCol="0">
            <a:spAutoFit/>
          </a:bodyPr>
          <a:lstStyle/>
          <a:p>
            <a:pPr marL="203200" indent="-203200">
              <a:spcBef>
                <a:spcPts val="600"/>
              </a:spcBef>
              <a:buSzPct val="100000"/>
              <a:buFont typeface="Arial"/>
              <a:buChar char="•"/>
            </a:pPr>
            <a:endParaRPr lang="en-IN" sz="2400" dirty="0" smtClean="0">
              <a:solidFill>
                <a:srgbClr val="313131"/>
              </a:solidFill>
            </a:endParaRPr>
          </a:p>
        </p:txBody>
      </p:sp>
      <p:sp>
        <p:nvSpPr>
          <p:cNvPr id="5" name="TextBox 4"/>
          <p:cNvSpPr txBox="1"/>
          <p:nvPr/>
        </p:nvSpPr>
        <p:spPr>
          <a:xfrm>
            <a:off x="4139293" y="2375358"/>
            <a:ext cx="4388260" cy="215444"/>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Development of Least Cost Master Plan</a:t>
            </a:r>
            <a:endParaRPr lang="en-IN" sz="1400" dirty="0" smtClean="0">
              <a:solidFill>
                <a:srgbClr val="313131"/>
              </a:solidFill>
            </a:endParaRPr>
          </a:p>
        </p:txBody>
      </p:sp>
      <p:sp>
        <p:nvSpPr>
          <p:cNvPr id="6" name="TextBox 5"/>
          <p:cNvSpPr txBox="1"/>
          <p:nvPr/>
        </p:nvSpPr>
        <p:spPr>
          <a:xfrm>
            <a:off x="2311258" y="3052254"/>
            <a:ext cx="3398750" cy="43088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Improved Efficiency and Operations in Generation</a:t>
            </a:r>
            <a:endParaRPr lang="en-IN" sz="1400" dirty="0" smtClean="0">
              <a:solidFill>
                <a:srgbClr val="313131"/>
              </a:solidFill>
            </a:endParaRPr>
          </a:p>
        </p:txBody>
      </p:sp>
      <p:sp>
        <p:nvSpPr>
          <p:cNvPr id="7" name="TextBox 6"/>
          <p:cNvSpPr txBox="1"/>
          <p:nvPr/>
        </p:nvSpPr>
        <p:spPr>
          <a:xfrm>
            <a:off x="6430624" y="3053490"/>
            <a:ext cx="3387995" cy="43088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Formation of Corporatized National Power Generation Entity</a:t>
            </a:r>
            <a:endParaRPr lang="en-IN" sz="1400" dirty="0" smtClean="0">
              <a:solidFill>
                <a:srgbClr val="313131"/>
              </a:solidFill>
            </a:endParaRPr>
          </a:p>
        </p:txBody>
      </p:sp>
      <p:sp>
        <p:nvSpPr>
          <p:cNvPr id="8" name="TextBox 7"/>
          <p:cNvSpPr txBox="1"/>
          <p:nvPr/>
        </p:nvSpPr>
        <p:spPr>
          <a:xfrm>
            <a:off x="2311257" y="3857229"/>
            <a:ext cx="3387995" cy="43088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Efficient Transmission network for cheapest cost to consumers</a:t>
            </a:r>
            <a:endParaRPr lang="en-IN" sz="1400" dirty="0" smtClean="0">
              <a:solidFill>
                <a:srgbClr val="313131"/>
              </a:solidFill>
            </a:endParaRPr>
          </a:p>
        </p:txBody>
      </p:sp>
      <p:sp>
        <p:nvSpPr>
          <p:cNvPr id="9" name="TextBox 8"/>
          <p:cNvSpPr txBox="1"/>
          <p:nvPr/>
        </p:nvSpPr>
        <p:spPr>
          <a:xfrm>
            <a:off x="606504" y="2441844"/>
            <a:ext cx="1403597"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Planning</a:t>
            </a:r>
            <a:endParaRPr lang="en-IN" sz="1400" dirty="0" smtClean="0">
              <a:solidFill>
                <a:srgbClr val="313131"/>
              </a:solidFill>
            </a:endParaRPr>
          </a:p>
        </p:txBody>
      </p:sp>
      <p:sp>
        <p:nvSpPr>
          <p:cNvPr id="10" name="TextBox 9"/>
          <p:cNvSpPr txBox="1"/>
          <p:nvPr/>
        </p:nvSpPr>
        <p:spPr>
          <a:xfrm>
            <a:off x="606504" y="3139537"/>
            <a:ext cx="1403597"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Generation</a:t>
            </a:r>
            <a:endParaRPr lang="en-IN" sz="1400" dirty="0" smtClean="0">
              <a:solidFill>
                <a:srgbClr val="313131"/>
              </a:solidFill>
            </a:endParaRPr>
          </a:p>
        </p:txBody>
      </p:sp>
      <p:sp>
        <p:nvSpPr>
          <p:cNvPr id="11" name="TextBox 10"/>
          <p:cNvSpPr txBox="1"/>
          <p:nvPr/>
        </p:nvSpPr>
        <p:spPr>
          <a:xfrm>
            <a:off x="606504" y="3951715"/>
            <a:ext cx="1403597"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Transmission</a:t>
            </a:r>
            <a:endParaRPr lang="en-IN" sz="1400" dirty="0" smtClean="0">
              <a:solidFill>
                <a:srgbClr val="313131"/>
              </a:solidFill>
            </a:endParaRPr>
          </a:p>
        </p:txBody>
      </p:sp>
      <p:sp>
        <p:nvSpPr>
          <p:cNvPr id="12" name="TextBox 11"/>
          <p:cNvSpPr txBox="1"/>
          <p:nvPr/>
        </p:nvSpPr>
        <p:spPr>
          <a:xfrm>
            <a:off x="606504" y="5013427"/>
            <a:ext cx="1403597"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Distribution</a:t>
            </a:r>
            <a:endParaRPr lang="en-IN" sz="1400" dirty="0" smtClean="0">
              <a:solidFill>
                <a:srgbClr val="313131"/>
              </a:solidFill>
            </a:endParaRPr>
          </a:p>
        </p:txBody>
      </p:sp>
      <p:sp>
        <p:nvSpPr>
          <p:cNvPr id="13" name="TextBox 12"/>
          <p:cNvSpPr txBox="1"/>
          <p:nvPr/>
        </p:nvSpPr>
        <p:spPr>
          <a:xfrm>
            <a:off x="6430624" y="3860697"/>
            <a:ext cx="3387995" cy="646331"/>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Formation of Corporatized entity for owning, operating and developing the transmission network</a:t>
            </a:r>
            <a:endParaRPr lang="en-IN" sz="1400" dirty="0" smtClean="0">
              <a:solidFill>
                <a:srgbClr val="313131"/>
              </a:solidFill>
            </a:endParaRPr>
          </a:p>
        </p:txBody>
      </p:sp>
      <p:sp>
        <p:nvSpPr>
          <p:cNvPr id="14" name="TextBox 13"/>
          <p:cNvSpPr txBox="1"/>
          <p:nvPr/>
        </p:nvSpPr>
        <p:spPr>
          <a:xfrm>
            <a:off x="2311257" y="4759373"/>
            <a:ext cx="3387995" cy="72587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Improved Commercial and Financial Performance of </a:t>
            </a:r>
            <a:r>
              <a:rPr lang="en-US" sz="1400" dirty="0" err="1" smtClean="0">
                <a:solidFill>
                  <a:srgbClr val="313131"/>
                </a:solidFill>
              </a:rPr>
              <a:t>Discoms</a:t>
            </a:r>
            <a:endParaRPr lang="en-US" sz="1400" dirty="0" smtClean="0">
              <a:solidFill>
                <a:srgbClr val="313131"/>
              </a:solidFill>
            </a:endParaRPr>
          </a:p>
          <a:p>
            <a:pPr marL="171450" indent="-171450">
              <a:spcBef>
                <a:spcPts val="600"/>
              </a:spcBef>
              <a:buSzPct val="100000"/>
              <a:buFont typeface="Arial" panose="020B0604020202020204" pitchFamily="34" charset="0"/>
              <a:buChar char="•"/>
            </a:pPr>
            <a:r>
              <a:rPr lang="en-US" sz="1400" dirty="0" smtClean="0">
                <a:solidFill>
                  <a:srgbClr val="313131"/>
                </a:solidFill>
              </a:rPr>
              <a:t>Reduction in System Loss</a:t>
            </a:r>
            <a:endParaRPr lang="en-IN" sz="1400" dirty="0" smtClean="0">
              <a:solidFill>
                <a:srgbClr val="313131"/>
              </a:solidFill>
            </a:endParaRPr>
          </a:p>
        </p:txBody>
      </p:sp>
      <p:sp>
        <p:nvSpPr>
          <p:cNvPr id="15" name="TextBox 14"/>
          <p:cNvSpPr txBox="1"/>
          <p:nvPr/>
        </p:nvSpPr>
        <p:spPr>
          <a:xfrm>
            <a:off x="6425252" y="4783865"/>
            <a:ext cx="3387995" cy="646331"/>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400" dirty="0" smtClean="0">
                <a:solidFill>
                  <a:srgbClr val="313131"/>
                </a:solidFill>
              </a:rPr>
              <a:t>Formation of number of New Corporatized entities from existing BPDB and DESA</a:t>
            </a:r>
            <a:endParaRPr lang="en-IN" sz="1400" dirty="0" smtClean="0">
              <a:solidFill>
                <a:srgbClr val="313131"/>
              </a:solidFill>
            </a:endParaRPr>
          </a:p>
        </p:txBody>
      </p:sp>
      <p:sp>
        <p:nvSpPr>
          <p:cNvPr id="16" name="TextBox 15"/>
          <p:cNvSpPr txBox="1"/>
          <p:nvPr/>
        </p:nvSpPr>
        <p:spPr>
          <a:xfrm>
            <a:off x="684484" y="5889336"/>
            <a:ext cx="1403597"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Single Buyer</a:t>
            </a:r>
            <a:endParaRPr lang="en-IN" sz="1400" dirty="0" smtClean="0">
              <a:solidFill>
                <a:srgbClr val="313131"/>
              </a:solidFill>
            </a:endParaRPr>
          </a:p>
        </p:txBody>
      </p:sp>
      <p:sp>
        <p:nvSpPr>
          <p:cNvPr id="17" name="TextBox 16"/>
          <p:cNvSpPr txBox="1"/>
          <p:nvPr/>
        </p:nvSpPr>
        <p:spPr>
          <a:xfrm>
            <a:off x="2311257" y="5783110"/>
            <a:ext cx="3398752" cy="646331"/>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400" dirty="0" smtClean="0">
                <a:solidFill>
                  <a:srgbClr val="313131"/>
                </a:solidFill>
              </a:rPr>
              <a:t>Development of Single Buyer Model based on economic load </a:t>
            </a:r>
            <a:r>
              <a:rPr lang="en-US" sz="1400" dirty="0" err="1" smtClean="0">
                <a:solidFill>
                  <a:srgbClr val="313131"/>
                </a:solidFill>
              </a:rPr>
              <a:t>despatch</a:t>
            </a:r>
            <a:endParaRPr lang="en-IN" sz="1400" dirty="0" smtClean="0">
              <a:solidFill>
                <a:srgbClr val="313131"/>
              </a:solidFill>
            </a:endParaRPr>
          </a:p>
        </p:txBody>
      </p:sp>
      <p:sp>
        <p:nvSpPr>
          <p:cNvPr id="18" name="TextBox 17"/>
          <p:cNvSpPr txBox="1"/>
          <p:nvPr/>
        </p:nvSpPr>
        <p:spPr>
          <a:xfrm>
            <a:off x="6425251" y="5783110"/>
            <a:ext cx="3387995" cy="430887"/>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400" dirty="0" smtClean="0">
                <a:solidFill>
                  <a:srgbClr val="313131"/>
                </a:solidFill>
              </a:rPr>
              <a:t>Function to be performed by a separate Public Sector Company</a:t>
            </a:r>
            <a:endParaRPr lang="en-IN" sz="1400" dirty="0" smtClean="0">
              <a:solidFill>
                <a:srgbClr val="313131"/>
              </a:solidFill>
            </a:endParaRPr>
          </a:p>
        </p:txBody>
      </p:sp>
      <p:sp>
        <p:nvSpPr>
          <p:cNvPr id="19" name="Rectangle 18"/>
          <p:cNvSpPr/>
          <p:nvPr/>
        </p:nvSpPr>
        <p:spPr bwMode="gray">
          <a:xfrm>
            <a:off x="439794" y="1113421"/>
            <a:ext cx="9809052" cy="478376"/>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Bangladesh Vision Statement and National Energy policy 2004</a:t>
            </a:r>
            <a:endParaRPr lang="en-IN" sz="1400" b="1" dirty="0" smtClean="0">
              <a:solidFill>
                <a:prstClr val="white"/>
              </a:solidFill>
            </a:endParaRPr>
          </a:p>
        </p:txBody>
      </p:sp>
      <p:cxnSp>
        <p:nvCxnSpPr>
          <p:cNvPr id="20" name="Straight Connector 19"/>
          <p:cNvCxnSpPr/>
          <p:nvPr/>
        </p:nvCxnSpPr>
        <p:spPr>
          <a:xfrm>
            <a:off x="684484" y="2797343"/>
            <a:ext cx="9375336"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84484" y="3646603"/>
            <a:ext cx="9375336"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84484" y="4633354"/>
            <a:ext cx="9375336"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84484" y="5663423"/>
            <a:ext cx="9375336"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bwMode="gray">
          <a:xfrm>
            <a:off x="723474" y="1781398"/>
            <a:ext cx="1325618" cy="43105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black"/>
                </a:solidFill>
              </a:rPr>
              <a:t>Aspect</a:t>
            </a:r>
            <a:endParaRPr lang="en-IN" sz="1400" b="1" dirty="0" smtClean="0">
              <a:solidFill>
                <a:prstClr val="black"/>
              </a:solidFill>
            </a:endParaRPr>
          </a:p>
        </p:txBody>
      </p:sp>
      <p:sp>
        <p:nvSpPr>
          <p:cNvPr id="25" name="Rectangle 24"/>
          <p:cNvSpPr/>
          <p:nvPr/>
        </p:nvSpPr>
        <p:spPr bwMode="gray">
          <a:xfrm>
            <a:off x="4958129" y="1760240"/>
            <a:ext cx="1959524" cy="43105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black"/>
                </a:solidFill>
              </a:rPr>
              <a:t>Policy Guidelines</a:t>
            </a:r>
            <a:endParaRPr lang="en-IN" sz="1400" b="1" dirty="0" smtClean="0">
              <a:solidFill>
                <a:prstClr val="black"/>
              </a:solidFill>
            </a:endParaRPr>
          </a:p>
        </p:txBody>
      </p:sp>
      <p:cxnSp>
        <p:nvCxnSpPr>
          <p:cNvPr id="26" name="Straight Connector 25"/>
          <p:cNvCxnSpPr/>
          <p:nvPr/>
        </p:nvCxnSpPr>
        <p:spPr>
          <a:xfrm>
            <a:off x="2088081" y="1865410"/>
            <a:ext cx="0" cy="5262786"/>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06504" y="6585436"/>
            <a:ext cx="1403597" cy="646331"/>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Accountability and Transparency</a:t>
            </a:r>
            <a:endParaRPr lang="en-IN" sz="1400" dirty="0" smtClean="0">
              <a:solidFill>
                <a:srgbClr val="313131"/>
              </a:solidFill>
            </a:endParaRPr>
          </a:p>
        </p:txBody>
      </p:sp>
      <p:sp>
        <p:nvSpPr>
          <p:cNvPr id="28" name="TextBox 27"/>
          <p:cNvSpPr txBox="1"/>
          <p:nvPr/>
        </p:nvSpPr>
        <p:spPr>
          <a:xfrm>
            <a:off x="3246780" y="6799075"/>
            <a:ext cx="6367687" cy="215444"/>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IN" sz="1400" dirty="0" smtClean="0">
                <a:solidFill>
                  <a:srgbClr val="313131"/>
                </a:solidFill>
              </a:rPr>
              <a:t>Need  </a:t>
            </a:r>
            <a:r>
              <a:rPr lang="en-IN" sz="1400" dirty="0">
                <a:solidFill>
                  <a:srgbClr val="313131"/>
                </a:solidFill>
              </a:rPr>
              <a:t>for appropriate corporate financial structure and management</a:t>
            </a:r>
          </a:p>
        </p:txBody>
      </p:sp>
      <p:cxnSp>
        <p:nvCxnSpPr>
          <p:cNvPr id="29" name="Straight Connector 28"/>
          <p:cNvCxnSpPr/>
          <p:nvPr/>
        </p:nvCxnSpPr>
        <p:spPr>
          <a:xfrm>
            <a:off x="684484" y="6492505"/>
            <a:ext cx="9375336"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7" name="Pentagon 36">
            <a:hlinkClick r:id="rId2" action="ppaction://hlinksldjump"/>
          </p:cNvPr>
          <p:cNvSpPr/>
          <p:nvPr/>
        </p:nvSpPr>
        <p:spPr bwMode="gray">
          <a:xfrm>
            <a:off x="10268096" y="675756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0" name="Pentagon 29">
            <a:hlinkClick r:id="rId3" action="ppaction://hlinksldjump"/>
          </p:cNvPr>
          <p:cNvSpPr/>
          <p:nvPr/>
        </p:nvSpPr>
        <p:spPr bwMode="gray">
          <a:xfrm flipH="1">
            <a:off x="10268095" y="7095529"/>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1078582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spcBef>
                <a:spcPts val="600"/>
              </a:spcBef>
              <a:buSzPct val="100000"/>
            </a:pPr>
            <a:r>
              <a:rPr lang="en-US" b="1" dirty="0" smtClean="0">
                <a:solidFill>
                  <a:srgbClr val="313131"/>
                </a:solidFill>
              </a:rPr>
              <a:t>Emerging trends in the national and regional power market</a:t>
            </a:r>
            <a:endParaRPr lang="en-IN" b="1" dirty="0">
              <a:solidFill>
                <a:srgbClr val="313131"/>
              </a:solidFill>
            </a:endParaRPr>
          </a:p>
        </p:txBody>
      </p:sp>
      <p:graphicFrame>
        <p:nvGraphicFramePr>
          <p:cNvPr id="8" name="Diagram 7"/>
          <p:cNvGraphicFramePr/>
          <p:nvPr>
            <p:extLst/>
          </p:nvPr>
        </p:nvGraphicFramePr>
        <p:xfrm>
          <a:off x="439793" y="1295810"/>
          <a:ext cx="9785951" cy="2455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p:cNvCxnSpPr/>
          <p:nvPr/>
        </p:nvCxnSpPr>
        <p:spPr>
          <a:xfrm>
            <a:off x="450549" y="1103121"/>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429585" y="984022"/>
            <a:ext cx="7847399" cy="430887"/>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Key emerging trends in Power Sector as envisaged in Power System Master</a:t>
            </a:r>
            <a:endParaRPr lang="en-US" sz="1400" b="1" dirty="0">
              <a:solidFill>
                <a:prstClr val="black"/>
              </a:solidFill>
            </a:endParaRPr>
          </a:p>
        </p:txBody>
      </p:sp>
      <p:sp>
        <p:nvSpPr>
          <p:cNvPr id="15" name="Rounded Rectangle 14"/>
          <p:cNvSpPr/>
          <p:nvPr/>
        </p:nvSpPr>
        <p:spPr bwMode="gray">
          <a:xfrm>
            <a:off x="163346" y="4406937"/>
            <a:ext cx="5875947" cy="2794437"/>
          </a:xfrm>
          <a:prstGeom prst="round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smtClean="0">
              <a:solidFill>
                <a:prstClr val="white"/>
              </a:solidFill>
            </a:endParaRPr>
          </a:p>
        </p:txBody>
      </p:sp>
      <p:cxnSp>
        <p:nvCxnSpPr>
          <p:cNvPr id="18" name="Straight Connector 17"/>
          <p:cNvCxnSpPr/>
          <p:nvPr/>
        </p:nvCxnSpPr>
        <p:spPr>
          <a:xfrm>
            <a:off x="450549" y="4016320"/>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429585" y="3897221"/>
            <a:ext cx="7847399"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Potential Changes in the power supply mix as per PSMP 2016</a:t>
            </a:r>
            <a:endParaRPr lang="en-US" sz="1400" b="1" dirty="0">
              <a:solidFill>
                <a:prstClr val="black"/>
              </a:solidFill>
            </a:endParaRPr>
          </a:p>
        </p:txBody>
      </p:sp>
      <p:grpSp>
        <p:nvGrpSpPr>
          <p:cNvPr id="20" name="Group 19"/>
          <p:cNvGrpSpPr/>
          <p:nvPr/>
        </p:nvGrpSpPr>
        <p:grpSpPr>
          <a:xfrm>
            <a:off x="6274676" y="4424554"/>
            <a:ext cx="3981344" cy="2776820"/>
            <a:chOff x="1781439" y="1406172"/>
            <a:chExt cx="7125759" cy="4575080"/>
          </a:xfrm>
        </p:grpSpPr>
        <p:graphicFrame>
          <p:nvGraphicFramePr>
            <p:cNvPr id="21" name="Chart 20"/>
            <p:cNvGraphicFramePr/>
            <p:nvPr>
              <p:extLst/>
            </p:nvPr>
          </p:nvGraphicFramePr>
          <p:xfrm>
            <a:off x="1781439" y="1406172"/>
            <a:ext cx="7125759" cy="4575080"/>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2604333" y="5045629"/>
              <a:ext cx="957430"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latin typeface="Calibri" panose="020F0502020204030204" pitchFamily="34" charset="0"/>
                </a:rPr>
                <a:t>Actual</a:t>
              </a:r>
              <a:endParaRPr lang="en-IN" sz="1400" dirty="0" smtClean="0">
                <a:solidFill>
                  <a:srgbClr val="313131"/>
                </a:solidFill>
                <a:latin typeface="Calibri" panose="020F0502020204030204" pitchFamily="34" charset="0"/>
              </a:endParaRPr>
            </a:p>
          </p:txBody>
        </p:sp>
        <p:sp>
          <p:nvSpPr>
            <p:cNvPr id="23" name="TextBox 22"/>
            <p:cNvSpPr txBox="1"/>
            <p:nvPr/>
          </p:nvSpPr>
          <p:spPr>
            <a:xfrm>
              <a:off x="6473930" y="5153351"/>
              <a:ext cx="823705" cy="215445"/>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latin typeface="Calibri" panose="020F0502020204030204" pitchFamily="34" charset="0"/>
                </a:rPr>
                <a:t>PSMP</a:t>
              </a:r>
              <a:endParaRPr lang="en-IN" sz="1400" dirty="0" smtClean="0">
                <a:solidFill>
                  <a:srgbClr val="313131"/>
                </a:solidFill>
                <a:latin typeface="Calibri" panose="020F0502020204030204" pitchFamily="34" charset="0"/>
              </a:endParaRPr>
            </a:p>
          </p:txBody>
        </p:sp>
        <p:sp>
          <p:nvSpPr>
            <p:cNvPr id="24" name="Right Brace 23"/>
            <p:cNvSpPr/>
            <p:nvPr/>
          </p:nvSpPr>
          <p:spPr>
            <a:xfrm rot="5400000">
              <a:off x="6773193" y="3419503"/>
              <a:ext cx="225180" cy="324251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grpSp>
      <p:sp>
        <p:nvSpPr>
          <p:cNvPr id="25" name="Rounded Rectangle 24"/>
          <p:cNvSpPr/>
          <p:nvPr/>
        </p:nvSpPr>
        <p:spPr bwMode="gray">
          <a:xfrm>
            <a:off x="393612" y="4503282"/>
            <a:ext cx="5389458" cy="2601748"/>
          </a:xfrm>
          <a:prstGeom prst="roundRect">
            <a:avLst/>
          </a:prstGeom>
          <a:noFill/>
          <a:ln w="19050" algn="ctr">
            <a:noFill/>
            <a:miter lim="800000"/>
            <a:headEnd/>
            <a:tailEnd/>
          </a:ln>
        </p:spPr>
        <p:txBody>
          <a:bodyPr wrap="square" lIns="88900" tIns="88900" rIns="88900" bIns="88900" rtlCol="0" anchor="ctr"/>
          <a:lstStyle/>
          <a:p>
            <a:pPr marL="182880" indent="-182880" algn="just">
              <a:spcAft>
                <a:spcPts val="600"/>
              </a:spcAft>
              <a:buFont typeface="Symbol" panose="05050102010706020507" pitchFamily="18" charset="2"/>
              <a:buChar char=""/>
            </a:pPr>
            <a:r>
              <a:rPr lang="en-US" sz="1400" dirty="0" smtClean="0">
                <a:solidFill>
                  <a:prstClr val="black"/>
                </a:solidFill>
                <a:ea typeface="Times" panose="02020603050405020304" pitchFamily="18" charset="0"/>
                <a:cs typeface="Arial" panose="020B0604020202020204" pitchFamily="34" charset="0"/>
              </a:rPr>
              <a:t>PSMP envisages a peak demand of 50000 MW by 2041</a:t>
            </a:r>
          </a:p>
          <a:p>
            <a:pPr marL="182880" indent="-182880" algn="just">
              <a:spcAft>
                <a:spcPts val="600"/>
              </a:spcAft>
              <a:buFont typeface="Symbol" panose="05050102010706020507" pitchFamily="18" charset="2"/>
              <a:buChar char=""/>
            </a:pPr>
            <a:r>
              <a:rPr lang="en-US" sz="1400" dirty="0" smtClean="0">
                <a:solidFill>
                  <a:prstClr val="black"/>
                </a:solidFill>
                <a:ea typeface="Times" panose="02020603050405020304" pitchFamily="18" charset="0"/>
                <a:cs typeface="Arial" panose="020B0604020202020204" pitchFamily="34" charset="0"/>
              </a:rPr>
              <a:t>Domestic power generation may not be able to satisfy the demand</a:t>
            </a:r>
            <a:endParaRPr lang="en-US" sz="1400" dirty="0">
              <a:solidFill>
                <a:prstClr val="black"/>
              </a:solidFill>
              <a:ea typeface="Times" panose="02020603050405020304" pitchFamily="18" charset="0"/>
              <a:cs typeface="Arial" panose="020B0604020202020204" pitchFamily="34" charset="0"/>
            </a:endParaRPr>
          </a:p>
          <a:p>
            <a:pPr marL="182880" indent="-182880" algn="just">
              <a:spcAft>
                <a:spcPts val="600"/>
              </a:spcAft>
              <a:buFont typeface="Symbol" panose="05050102010706020507" pitchFamily="18" charset="2"/>
              <a:buChar char=""/>
            </a:pPr>
            <a:r>
              <a:rPr lang="en-US" sz="1400" dirty="0" smtClean="0">
                <a:solidFill>
                  <a:prstClr val="black"/>
                </a:solidFill>
                <a:ea typeface="Times" panose="02020603050405020304" pitchFamily="18" charset="0"/>
                <a:cs typeface="Arial" panose="020B0604020202020204" pitchFamily="34" charset="0"/>
              </a:rPr>
              <a:t>Proportion of imported fuel to dominate the overall generation mix</a:t>
            </a:r>
          </a:p>
          <a:p>
            <a:pPr marL="182880" indent="-182880" algn="just">
              <a:spcAft>
                <a:spcPts val="600"/>
              </a:spcAft>
              <a:buFont typeface="Symbol" panose="05050102010706020507" pitchFamily="18" charset="2"/>
              <a:buChar char=""/>
            </a:pPr>
            <a:r>
              <a:rPr lang="en-US" sz="1400" dirty="0" smtClean="0">
                <a:solidFill>
                  <a:prstClr val="black"/>
                </a:solidFill>
                <a:ea typeface="Times" panose="02020603050405020304" pitchFamily="18" charset="0"/>
                <a:cs typeface="Arial" panose="020B0604020202020204" pitchFamily="34" charset="0"/>
              </a:rPr>
              <a:t>Increased reliance on imported coal, LNG as well as power import and renewable energy to play a key role in meeting demand</a:t>
            </a:r>
          </a:p>
        </p:txBody>
      </p:sp>
      <p:sp>
        <p:nvSpPr>
          <p:cNvPr id="16" name="Pentagon 15">
            <a:hlinkClick r:id="rId8" action="ppaction://hlinksldjump"/>
          </p:cNvPr>
          <p:cNvSpPr/>
          <p:nvPr/>
        </p:nvSpPr>
        <p:spPr bwMode="gray">
          <a:xfrm flipH="1">
            <a:off x="9845743" y="731823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24555334"/>
      </p:ext>
    </p:extLst>
  </p:cSld>
  <p:clrMapOvr>
    <a:masterClrMapping/>
  </p:clrMapOvr>
  <p:transition>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gray">
          <a:xfrm>
            <a:off x="439792" y="4109294"/>
            <a:ext cx="9785951" cy="44229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Need for integral and nodal management to ensure coordinated development</a:t>
            </a:r>
            <a:endParaRPr lang="en-IN" sz="1400" b="1" dirty="0" smtClean="0">
              <a:solidFill>
                <a:prstClr val="white"/>
              </a:solidFill>
            </a:endParaRPr>
          </a:p>
        </p:txBody>
      </p:sp>
      <p:sp>
        <p:nvSpPr>
          <p:cNvPr id="5" name="Title 2"/>
          <p:cNvSpPr>
            <a:spLocks noGrp="1"/>
          </p:cNvSpPr>
          <p:nvPr>
            <p:ph type="title"/>
          </p:nvPr>
        </p:nvSpPr>
        <p:spPr>
          <a:xfrm>
            <a:off x="439793" y="350131"/>
            <a:ext cx="9785951" cy="368439"/>
          </a:xfrm>
        </p:spPr>
        <p:txBody>
          <a:bodyPr/>
          <a:lstStyle/>
          <a:p>
            <a:pPr algn="just">
              <a:spcBef>
                <a:spcPts val="600"/>
              </a:spcBef>
              <a:buSzPct val="100000"/>
            </a:pPr>
            <a:r>
              <a:rPr lang="en-US" sz="2000" b="1" dirty="0" smtClean="0">
                <a:solidFill>
                  <a:srgbClr val="313131"/>
                </a:solidFill>
              </a:rPr>
              <a:t>The policies and sector trends require financial sustainability and integrated planning </a:t>
            </a:r>
            <a:r>
              <a:rPr lang="en-US" sz="2000" b="1" dirty="0">
                <a:solidFill>
                  <a:srgbClr val="313131"/>
                </a:solidFill>
              </a:rPr>
              <a:t>&amp;</a:t>
            </a:r>
            <a:r>
              <a:rPr lang="en-US" sz="2000" b="1" dirty="0" smtClean="0">
                <a:solidFill>
                  <a:srgbClr val="313131"/>
                </a:solidFill>
              </a:rPr>
              <a:t> nodal management in the sector</a:t>
            </a:r>
            <a:endParaRPr lang="en-IN" sz="2000" b="1" dirty="0">
              <a:solidFill>
                <a:srgbClr val="313131"/>
              </a:solidFill>
            </a:endParaRPr>
          </a:p>
        </p:txBody>
      </p:sp>
      <p:sp>
        <p:nvSpPr>
          <p:cNvPr id="6" name="Rectangle 5"/>
          <p:cNvSpPr/>
          <p:nvPr/>
        </p:nvSpPr>
        <p:spPr bwMode="gray">
          <a:xfrm>
            <a:off x="439793" y="1783086"/>
            <a:ext cx="9785951" cy="1926288"/>
          </a:xfrm>
          <a:prstGeom prst="rect">
            <a:avLst/>
          </a:prstGeom>
          <a:solidFill>
            <a:schemeClr val="bg1"/>
          </a:solidFill>
          <a:ln w="19050" algn="ctr">
            <a:solidFill>
              <a:schemeClr val="tx1"/>
            </a:solidFill>
            <a:miter lim="800000"/>
            <a:headEnd/>
            <a:tailEnd/>
          </a:ln>
        </p:spPr>
        <p:txBody>
          <a:bodyPr wrap="square" lIns="88900" tIns="88900" rIns="88900" bIns="88900" rtlCol="0" anchor="t"/>
          <a:lstStyle/>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As mentioned earlier imported coal based and LNG based power is expected to lead to a shift in the power supply mix in Bangladesh</a:t>
            </a:r>
          </a:p>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Due to the this, fuel price variation and foreign exchange fluctuations will come into considerations</a:t>
            </a:r>
          </a:p>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Along with contract management activities, the financial viability and sustainability of single buyer function will gain utmost importance as any burden on the single buyer will get percolated in the Bulk Supply and Retail Tariffs</a:t>
            </a:r>
          </a:p>
        </p:txBody>
      </p:sp>
      <p:sp>
        <p:nvSpPr>
          <p:cNvPr id="7" name="Rectangle 6"/>
          <p:cNvSpPr/>
          <p:nvPr/>
        </p:nvSpPr>
        <p:spPr bwMode="gray">
          <a:xfrm>
            <a:off x="439793" y="1102724"/>
            <a:ext cx="9785951" cy="44229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smtClean="0">
                <a:solidFill>
                  <a:prstClr val="white"/>
                </a:solidFill>
              </a:rPr>
              <a:t>Financial Sustainability of Single Buyer due to shift in power supply - mix</a:t>
            </a:r>
            <a:endParaRPr lang="en-IN" sz="1400" b="1" dirty="0" smtClean="0">
              <a:solidFill>
                <a:prstClr val="white"/>
              </a:solidFill>
            </a:endParaRPr>
          </a:p>
        </p:txBody>
      </p:sp>
      <p:sp>
        <p:nvSpPr>
          <p:cNvPr id="9" name="Rectangle 8"/>
          <p:cNvSpPr/>
          <p:nvPr/>
        </p:nvSpPr>
        <p:spPr bwMode="gray">
          <a:xfrm>
            <a:off x="439792" y="4793850"/>
            <a:ext cx="9785951" cy="2164359"/>
          </a:xfrm>
          <a:prstGeom prst="rect">
            <a:avLst/>
          </a:prstGeom>
          <a:solidFill>
            <a:schemeClr val="bg1"/>
          </a:solidFill>
          <a:ln w="19050" algn="ctr">
            <a:solidFill>
              <a:schemeClr val="tx1"/>
            </a:solidFill>
            <a:miter lim="800000"/>
            <a:headEnd/>
            <a:tailEnd/>
          </a:ln>
        </p:spPr>
        <p:txBody>
          <a:bodyPr wrap="square" lIns="88900" tIns="88900" rIns="88900" bIns="88900" rtlCol="0" anchor="t"/>
          <a:lstStyle/>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The increase in cross border trade and its impact aspects such as scheduling &amp; dispatch, following merit order principles, contract management, commercial transactions and settle will require centralized and coordinated handling</a:t>
            </a:r>
          </a:p>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Hence the single buyer and the system operator would need to work in an integral and coordinated fashion to ensure optimal scheduling and dispatch and follow the merit order principle.</a:t>
            </a:r>
          </a:p>
          <a:p>
            <a:pPr marL="285750" indent="-285750">
              <a:lnSpc>
                <a:spcPct val="150000"/>
              </a:lnSpc>
              <a:spcBef>
                <a:spcPts val="600"/>
              </a:spcBef>
              <a:spcAft>
                <a:spcPts val="600"/>
              </a:spcAft>
              <a:buFont typeface="Arial" panose="020B0604020202020204" pitchFamily="34" charset="0"/>
              <a:buChar char="•"/>
            </a:pPr>
            <a:r>
              <a:rPr lang="en-US" sz="1200" dirty="0" smtClean="0">
                <a:solidFill>
                  <a:prstClr val="black">
                    <a:lumMod val="95000"/>
                    <a:lumOff val="5000"/>
                  </a:prstClr>
                </a:solidFill>
              </a:rPr>
              <a:t>Also, a centralized and nodal oversight is needed to ensure integrated master plan is being followed in the wake of diversifying fuel supply mix, Bangladesh’s offshore investments in hydropower and cross border trade.</a:t>
            </a:r>
          </a:p>
        </p:txBody>
      </p:sp>
      <p:sp>
        <p:nvSpPr>
          <p:cNvPr id="8" name="Pentagon 7">
            <a:hlinkClick r:id="rId2" action="ppaction://hlinksldjump"/>
          </p:cNvPr>
          <p:cNvSpPr/>
          <p:nvPr/>
        </p:nvSpPr>
        <p:spPr bwMode="gray">
          <a:xfrm flipH="1">
            <a:off x="9852344" y="7287237"/>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7832719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policy directives on Bangladesh power sector reform </a:t>
            </a:r>
            <a:br>
              <a:rPr lang="en-US" b="1" dirty="0" smtClean="0"/>
            </a:br>
            <a:r>
              <a:rPr lang="en-US" b="1" dirty="0" smtClean="0">
                <a:solidFill>
                  <a:schemeClr val="accent1">
                    <a:lumMod val="75000"/>
                  </a:schemeClr>
                </a:solidFill>
              </a:rPr>
              <a:t>Vision Statement – Power Division, MOPEMR, GOB</a:t>
            </a:r>
            <a:endParaRPr lang="en-IN" b="1" dirty="0"/>
          </a:p>
        </p:txBody>
      </p:sp>
      <p:sp>
        <p:nvSpPr>
          <p:cNvPr id="4" name="TextBox 3"/>
          <p:cNvSpPr txBox="1"/>
          <p:nvPr/>
        </p:nvSpPr>
        <p:spPr>
          <a:xfrm>
            <a:off x="439793" y="1103356"/>
            <a:ext cx="1544871" cy="567634"/>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Planning</a:t>
            </a:r>
            <a:endParaRPr lang="en-IN" sz="1400" b="1" dirty="0" smtClean="0">
              <a:solidFill>
                <a:srgbClr val="313131"/>
              </a:solidFill>
            </a:endParaRPr>
          </a:p>
        </p:txBody>
      </p:sp>
      <p:sp>
        <p:nvSpPr>
          <p:cNvPr id="5" name="TextBox 4"/>
          <p:cNvSpPr txBox="1"/>
          <p:nvPr/>
        </p:nvSpPr>
        <p:spPr>
          <a:xfrm>
            <a:off x="2078183" y="1103356"/>
            <a:ext cx="8147562" cy="567634"/>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smtClean="0">
                <a:solidFill>
                  <a:srgbClr val="313131"/>
                </a:solidFill>
              </a:rPr>
              <a:t>The growth </a:t>
            </a:r>
            <a:r>
              <a:rPr lang="en-US" sz="1400" dirty="0">
                <a:solidFill>
                  <a:srgbClr val="313131"/>
                </a:solidFill>
              </a:rPr>
              <a:t>in capacity should generally be based on least cost expansion </a:t>
            </a:r>
            <a:r>
              <a:rPr lang="en-US" sz="1400" dirty="0" smtClean="0">
                <a:solidFill>
                  <a:srgbClr val="313131"/>
                </a:solidFill>
              </a:rPr>
              <a:t>path</a:t>
            </a:r>
          </a:p>
          <a:p>
            <a:pPr marL="285750" indent="-285750">
              <a:spcBef>
                <a:spcPts val="600"/>
              </a:spcBef>
              <a:buSzPct val="100000"/>
              <a:buFont typeface="Arial" panose="020B0604020202020204" pitchFamily="34" charset="0"/>
              <a:buChar char="•"/>
            </a:pPr>
            <a:r>
              <a:rPr lang="en-US" sz="1400" dirty="0" smtClean="0">
                <a:solidFill>
                  <a:srgbClr val="313131"/>
                </a:solidFill>
              </a:rPr>
              <a:t>A revolving master </a:t>
            </a:r>
            <a:r>
              <a:rPr lang="en-US" sz="1400" dirty="0">
                <a:solidFill>
                  <a:srgbClr val="313131"/>
                </a:solidFill>
              </a:rPr>
              <a:t>plan would be of critical </a:t>
            </a:r>
            <a:r>
              <a:rPr lang="en-US" sz="1400" dirty="0" smtClean="0">
                <a:solidFill>
                  <a:srgbClr val="313131"/>
                </a:solidFill>
              </a:rPr>
              <a:t>importance</a:t>
            </a:r>
            <a:endParaRPr lang="en-IN" sz="1400" b="1" dirty="0" smtClean="0">
              <a:solidFill>
                <a:srgbClr val="313131"/>
              </a:solidFill>
            </a:endParaRPr>
          </a:p>
        </p:txBody>
      </p:sp>
      <p:sp>
        <p:nvSpPr>
          <p:cNvPr id="6" name="TextBox 5"/>
          <p:cNvSpPr txBox="1"/>
          <p:nvPr/>
        </p:nvSpPr>
        <p:spPr>
          <a:xfrm>
            <a:off x="439793" y="1779582"/>
            <a:ext cx="1544871" cy="1031703"/>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Generation</a:t>
            </a:r>
            <a:endParaRPr lang="en-IN" sz="1400" b="1" dirty="0" smtClean="0">
              <a:solidFill>
                <a:srgbClr val="313131"/>
              </a:solidFill>
            </a:endParaRPr>
          </a:p>
        </p:txBody>
      </p:sp>
      <p:sp>
        <p:nvSpPr>
          <p:cNvPr id="7" name="TextBox 6"/>
          <p:cNvSpPr txBox="1"/>
          <p:nvPr/>
        </p:nvSpPr>
        <p:spPr>
          <a:xfrm>
            <a:off x="2078183" y="1779582"/>
            <a:ext cx="8147562" cy="1031703"/>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a:solidFill>
                  <a:srgbClr val="313131"/>
                </a:solidFill>
              </a:rPr>
              <a:t>Measures to improve efficiency and operations in the existing generation stations </a:t>
            </a:r>
            <a:r>
              <a:rPr lang="en-US" sz="1400" dirty="0" smtClean="0">
                <a:solidFill>
                  <a:srgbClr val="313131"/>
                </a:solidFill>
              </a:rPr>
              <a:t>should be pursued</a:t>
            </a:r>
          </a:p>
          <a:p>
            <a:pPr marL="285750" indent="-285750">
              <a:spcBef>
                <a:spcPts val="600"/>
              </a:spcBef>
              <a:buSzPct val="100000"/>
              <a:buFont typeface="Arial" panose="020B0604020202020204" pitchFamily="34" charset="0"/>
              <a:buChar char="•"/>
            </a:pPr>
            <a:r>
              <a:rPr lang="en-US" sz="1400" dirty="0">
                <a:solidFill>
                  <a:srgbClr val="313131"/>
                </a:solidFill>
              </a:rPr>
              <a:t>Separation of the existing public </a:t>
            </a:r>
            <a:r>
              <a:rPr lang="en-US" sz="1400" dirty="0" smtClean="0">
                <a:solidFill>
                  <a:srgbClr val="313131"/>
                </a:solidFill>
              </a:rPr>
              <a:t>sector generation </a:t>
            </a:r>
            <a:r>
              <a:rPr lang="en-US" sz="1400" dirty="0">
                <a:solidFill>
                  <a:srgbClr val="313131"/>
                </a:solidFill>
              </a:rPr>
              <a:t>units through a corporatized national power generation </a:t>
            </a:r>
            <a:r>
              <a:rPr lang="en-US" sz="1400" dirty="0" smtClean="0">
                <a:solidFill>
                  <a:srgbClr val="313131"/>
                </a:solidFill>
              </a:rPr>
              <a:t>entity</a:t>
            </a:r>
            <a:endParaRPr lang="en-IN" sz="1400" dirty="0" smtClean="0">
              <a:solidFill>
                <a:srgbClr val="313131"/>
              </a:solidFill>
            </a:endParaRPr>
          </a:p>
        </p:txBody>
      </p:sp>
      <p:sp>
        <p:nvSpPr>
          <p:cNvPr id="8" name="TextBox 7"/>
          <p:cNvSpPr txBox="1"/>
          <p:nvPr/>
        </p:nvSpPr>
        <p:spPr>
          <a:xfrm>
            <a:off x="439792" y="3827956"/>
            <a:ext cx="1544871" cy="539708"/>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Distribution</a:t>
            </a:r>
            <a:endParaRPr lang="en-IN" sz="1400" b="1" dirty="0" smtClean="0">
              <a:solidFill>
                <a:srgbClr val="313131"/>
              </a:solidFill>
            </a:endParaRPr>
          </a:p>
        </p:txBody>
      </p:sp>
      <p:sp>
        <p:nvSpPr>
          <p:cNvPr id="9" name="TextBox 8"/>
          <p:cNvSpPr txBox="1"/>
          <p:nvPr/>
        </p:nvSpPr>
        <p:spPr>
          <a:xfrm>
            <a:off x="2078182" y="3827956"/>
            <a:ext cx="8147562" cy="539708"/>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smtClean="0">
                <a:solidFill>
                  <a:srgbClr val="313131"/>
                </a:solidFill>
              </a:rPr>
              <a:t>To </a:t>
            </a:r>
            <a:r>
              <a:rPr lang="en-US" sz="1400" dirty="0">
                <a:solidFill>
                  <a:srgbClr val="313131"/>
                </a:solidFill>
              </a:rPr>
              <a:t>improve the commercial and financial performances of the distribution entities to reduce system loss in </a:t>
            </a:r>
            <a:r>
              <a:rPr lang="en-US" sz="1400" dirty="0" smtClean="0">
                <a:solidFill>
                  <a:srgbClr val="313131"/>
                </a:solidFill>
              </a:rPr>
              <a:t>particular</a:t>
            </a:r>
            <a:endParaRPr lang="en-IN" sz="1400" b="1" dirty="0" smtClean="0">
              <a:solidFill>
                <a:srgbClr val="313131"/>
              </a:solidFill>
            </a:endParaRPr>
          </a:p>
        </p:txBody>
      </p:sp>
      <p:sp>
        <p:nvSpPr>
          <p:cNvPr id="10" name="TextBox 9"/>
          <p:cNvSpPr txBox="1"/>
          <p:nvPr/>
        </p:nvSpPr>
        <p:spPr>
          <a:xfrm>
            <a:off x="439793" y="2919877"/>
            <a:ext cx="1544871" cy="799487"/>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Transmission</a:t>
            </a:r>
            <a:endParaRPr lang="en-IN" sz="1400" b="1" dirty="0" smtClean="0">
              <a:solidFill>
                <a:srgbClr val="313131"/>
              </a:solidFill>
            </a:endParaRPr>
          </a:p>
        </p:txBody>
      </p:sp>
      <p:sp>
        <p:nvSpPr>
          <p:cNvPr id="11" name="TextBox 10"/>
          <p:cNvSpPr txBox="1"/>
          <p:nvPr/>
        </p:nvSpPr>
        <p:spPr>
          <a:xfrm>
            <a:off x="2078183" y="2919877"/>
            <a:ext cx="8147562" cy="799487"/>
          </a:xfrm>
          <a:prstGeom prst="rect">
            <a:avLst/>
          </a:prstGeom>
          <a:noFill/>
          <a:ln>
            <a:solidFill>
              <a:srgbClr val="92D050"/>
            </a:solidFill>
          </a:ln>
        </p:spPr>
        <p:txBody>
          <a:bodyPr wrap="square" lIns="36000" tIns="0" rIns="36000" bIns="0" rtlCol="0" anchor="ctr">
            <a:noAutofit/>
          </a:bodyPr>
          <a:lstStyle/>
          <a:p>
            <a:pPr marL="285750" indent="-285750">
              <a:spcBef>
                <a:spcPts val="600"/>
              </a:spcBef>
              <a:buSzPct val="100000"/>
              <a:buFont typeface="Arial" panose="020B0604020202020204" pitchFamily="34" charset="0"/>
              <a:buChar char="•"/>
            </a:pPr>
            <a:r>
              <a:rPr lang="en-US" sz="1400" dirty="0">
                <a:solidFill>
                  <a:srgbClr val="313131"/>
                </a:solidFill>
              </a:rPr>
              <a:t>Network development, expansion </a:t>
            </a:r>
            <a:r>
              <a:rPr lang="en-US" sz="1400" dirty="0" smtClean="0">
                <a:solidFill>
                  <a:srgbClr val="313131"/>
                </a:solidFill>
              </a:rPr>
              <a:t>and management </a:t>
            </a:r>
            <a:r>
              <a:rPr lang="en-US" sz="1400" dirty="0">
                <a:solidFill>
                  <a:srgbClr val="313131"/>
                </a:solidFill>
              </a:rPr>
              <a:t>should be designed and implemented in such a manner that it is capable </a:t>
            </a:r>
            <a:r>
              <a:rPr lang="en-US" sz="1400" dirty="0" smtClean="0">
                <a:solidFill>
                  <a:srgbClr val="313131"/>
                </a:solidFill>
              </a:rPr>
              <a:t>of accessing </a:t>
            </a:r>
            <a:r>
              <a:rPr lang="en-US" sz="1400" dirty="0">
                <a:solidFill>
                  <a:srgbClr val="313131"/>
                </a:solidFill>
              </a:rPr>
              <a:t>the most efficient supply of power and transport it to customers the </a:t>
            </a:r>
            <a:r>
              <a:rPr lang="en-US" sz="1400" dirty="0" smtClean="0">
                <a:solidFill>
                  <a:srgbClr val="313131"/>
                </a:solidFill>
              </a:rPr>
              <a:t>cheapest way</a:t>
            </a:r>
            <a:endParaRPr lang="en-IN" sz="1400" b="1" dirty="0" smtClean="0">
              <a:solidFill>
                <a:srgbClr val="313131"/>
              </a:solidFill>
            </a:endParaRPr>
          </a:p>
        </p:txBody>
      </p:sp>
      <p:sp>
        <p:nvSpPr>
          <p:cNvPr id="12" name="TextBox 11"/>
          <p:cNvSpPr txBox="1"/>
          <p:nvPr/>
        </p:nvSpPr>
        <p:spPr>
          <a:xfrm>
            <a:off x="439793" y="4476256"/>
            <a:ext cx="1544871" cy="767698"/>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Single Buyer</a:t>
            </a:r>
            <a:endParaRPr lang="en-IN" sz="1400" b="1" dirty="0" smtClean="0">
              <a:solidFill>
                <a:srgbClr val="313131"/>
              </a:solidFill>
            </a:endParaRPr>
          </a:p>
        </p:txBody>
      </p:sp>
      <p:sp>
        <p:nvSpPr>
          <p:cNvPr id="13" name="TextBox 12"/>
          <p:cNvSpPr txBox="1"/>
          <p:nvPr/>
        </p:nvSpPr>
        <p:spPr>
          <a:xfrm>
            <a:off x="2078183" y="4476256"/>
            <a:ext cx="8147562" cy="767698"/>
          </a:xfrm>
          <a:prstGeom prst="rect">
            <a:avLst/>
          </a:prstGeom>
          <a:noFill/>
          <a:ln>
            <a:solidFill>
              <a:srgbClr val="92D050"/>
            </a:solidFill>
          </a:ln>
        </p:spPr>
        <p:txBody>
          <a:bodyPr wrap="square" lIns="36000" tIns="0" rIns="36000" bIns="0" rtlCol="0" anchor="ctr">
            <a:noAutofit/>
          </a:bodyPr>
          <a:lstStyle/>
          <a:p>
            <a:pPr marL="342900" indent="-342900" algn="just">
              <a:lnSpc>
                <a:spcPct val="114000"/>
              </a:lnSpc>
              <a:spcAft>
                <a:spcPts val="600"/>
              </a:spcAft>
              <a:buSzPct val="100000"/>
              <a:buFont typeface="Arial" panose="020B0604020202020204" pitchFamily="34" charset="0"/>
              <a:buChar char="•"/>
            </a:pPr>
            <a:r>
              <a:rPr lang="en-US" sz="1400" dirty="0">
                <a:solidFill>
                  <a:srgbClr val="313131"/>
                </a:solidFill>
              </a:rPr>
              <a:t>A single buyer model may be adopted where the ‘Buyer’ purchases all the required power from the generators based on economic load dispatch and sells to different distribution </a:t>
            </a:r>
            <a:r>
              <a:rPr lang="en-US" sz="1400" dirty="0" smtClean="0">
                <a:solidFill>
                  <a:srgbClr val="313131"/>
                </a:solidFill>
              </a:rPr>
              <a:t>companies</a:t>
            </a:r>
            <a:endParaRPr lang="en-US" sz="1400" dirty="0">
              <a:solidFill>
                <a:srgbClr val="313131"/>
              </a:solidFill>
            </a:endParaRPr>
          </a:p>
        </p:txBody>
      </p:sp>
      <p:sp>
        <p:nvSpPr>
          <p:cNvPr id="14" name="TextBox 13"/>
          <p:cNvSpPr txBox="1"/>
          <p:nvPr/>
        </p:nvSpPr>
        <p:spPr>
          <a:xfrm>
            <a:off x="439793" y="5352548"/>
            <a:ext cx="1544871" cy="1858742"/>
          </a:xfrm>
          <a:prstGeom prst="rect">
            <a:avLst/>
          </a:prstGeom>
          <a:solidFill>
            <a:srgbClr val="92D050"/>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Tariff Reform</a:t>
            </a:r>
            <a:endParaRPr lang="en-IN" sz="1400" b="1" dirty="0" smtClean="0">
              <a:solidFill>
                <a:srgbClr val="313131"/>
              </a:solidFill>
            </a:endParaRPr>
          </a:p>
        </p:txBody>
      </p:sp>
      <p:sp>
        <p:nvSpPr>
          <p:cNvPr id="15" name="TextBox 14"/>
          <p:cNvSpPr txBox="1"/>
          <p:nvPr/>
        </p:nvSpPr>
        <p:spPr>
          <a:xfrm>
            <a:off x="2078183" y="5352547"/>
            <a:ext cx="8147562" cy="1858743"/>
          </a:xfrm>
          <a:prstGeom prst="rect">
            <a:avLst/>
          </a:prstGeom>
          <a:noFill/>
          <a:ln>
            <a:solidFill>
              <a:srgbClr val="92D050"/>
            </a:solidFill>
          </a:ln>
        </p:spPr>
        <p:txBody>
          <a:bodyPr wrap="square" lIns="36000" tIns="0" rIns="36000" bIns="0" rtlCol="0" anchor="ctr">
            <a:noAutofit/>
          </a:bodyPr>
          <a:lstStyle/>
          <a:p>
            <a:pPr marL="342900" indent="-342900" algn="just">
              <a:lnSpc>
                <a:spcPct val="114000"/>
              </a:lnSpc>
              <a:spcAft>
                <a:spcPts val="600"/>
              </a:spcAft>
              <a:buSzPct val="100000"/>
              <a:buFont typeface="Arial" panose="020B0604020202020204" pitchFamily="34" charset="0"/>
              <a:buChar char="•"/>
            </a:pPr>
            <a:r>
              <a:rPr lang="en-US" sz="1400" dirty="0">
                <a:solidFill>
                  <a:srgbClr val="313131"/>
                </a:solidFill>
              </a:rPr>
              <a:t>Balancing the interests of the consumers and the industry will guide the setting of </a:t>
            </a:r>
            <a:r>
              <a:rPr lang="en-US" sz="1400" dirty="0" smtClean="0">
                <a:solidFill>
                  <a:srgbClr val="313131"/>
                </a:solidFill>
              </a:rPr>
              <a:t>tariffs</a:t>
            </a:r>
            <a:endParaRPr lang="en-US" sz="1400" dirty="0">
              <a:solidFill>
                <a:srgbClr val="313131"/>
              </a:solidFill>
            </a:endParaRPr>
          </a:p>
          <a:p>
            <a:pPr marL="342900" indent="-342900" algn="just">
              <a:lnSpc>
                <a:spcPct val="114000"/>
              </a:lnSpc>
              <a:spcAft>
                <a:spcPts val="600"/>
              </a:spcAft>
              <a:buSzPct val="100000"/>
              <a:buFont typeface="Arial" panose="020B0604020202020204" pitchFamily="34" charset="0"/>
              <a:buChar char="•"/>
            </a:pPr>
            <a:r>
              <a:rPr lang="en-US" sz="1400" dirty="0">
                <a:solidFill>
                  <a:srgbClr val="313131"/>
                </a:solidFill>
              </a:rPr>
              <a:t>The process will progressively reflect the cost of supply of electricity at an adequate </a:t>
            </a:r>
            <a:r>
              <a:rPr lang="en-US" sz="1400" dirty="0" smtClean="0">
                <a:solidFill>
                  <a:srgbClr val="313131"/>
                </a:solidFill>
              </a:rPr>
              <a:t>and improving </a:t>
            </a:r>
            <a:r>
              <a:rPr lang="en-US" sz="1400" dirty="0">
                <a:solidFill>
                  <a:srgbClr val="313131"/>
                </a:solidFill>
              </a:rPr>
              <a:t>level of </a:t>
            </a:r>
            <a:r>
              <a:rPr lang="en-US" sz="1400" dirty="0" smtClean="0">
                <a:solidFill>
                  <a:srgbClr val="313131"/>
                </a:solidFill>
              </a:rPr>
              <a:t>efficiency</a:t>
            </a:r>
          </a:p>
          <a:p>
            <a:pPr marL="342900" indent="-342900" algn="just">
              <a:lnSpc>
                <a:spcPct val="114000"/>
              </a:lnSpc>
              <a:spcAft>
                <a:spcPts val="600"/>
              </a:spcAft>
              <a:buSzPct val="100000"/>
              <a:buFont typeface="Arial" panose="020B0604020202020204" pitchFamily="34" charset="0"/>
              <a:buChar char="•"/>
            </a:pPr>
            <a:r>
              <a:rPr lang="en-US" sz="1400" dirty="0" smtClean="0">
                <a:solidFill>
                  <a:srgbClr val="313131"/>
                </a:solidFill>
              </a:rPr>
              <a:t>In </a:t>
            </a:r>
            <a:r>
              <a:rPr lang="en-US" sz="1400" dirty="0">
                <a:solidFill>
                  <a:srgbClr val="313131"/>
                </a:solidFill>
              </a:rPr>
              <a:t>designing the tariff structure and rates, issues such as </a:t>
            </a:r>
            <a:r>
              <a:rPr lang="en-US" sz="1400" dirty="0" smtClean="0">
                <a:solidFill>
                  <a:srgbClr val="313131"/>
                </a:solidFill>
              </a:rPr>
              <a:t>the least </a:t>
            </a:r>
            <a:r>
              <a:rPr lang="en-US" sz="1400" dirty="0">
                <a:solidFill>
                  <a:srgbClr val="313131"/>
                </a:solidFill>
              </a:rPr>
              <a:t>cost development plan, efficient allocation of resources and legitimate and </a:t>
            </a:r>
            <a:r>
              <a:rPr lang="en-US" sz="1400" dirty="0" smtClean="0">
                <a:solidFill>
                  <a:srgbClr val="313131"/>
                </a:solidFill>
              </a:rPr>
              <a:t>deserving socioeconomic </a:t>
            </a:r>
            <a:r>
              <a:rPr lang="en-US" sz="1400" dirty="0">
                <a:solidFill>
                  <a:srgbClr val="313131"/>
                </a:solidFill>
              </a:rPr>
              <a:t>considerations will be taken into </a:t>
            </a:r>
            <a:r>
              <a:rPr lang="en-US" sz="1400" dirty="0" smtClean="0">
                <a:solidFill>
                  <a:srgbClr val="313131"/>
                </a:solidFill>
              </a:rPr>
              <a:t>account</a:t>
            </a:r>
            <a:endParaRPr lang="en-US" sz="1400" dirty="0">
              <a:solidFill>
                <a:srgbClr val="313131"/>
              </a:solidFill>
            </a:endParaRPr>
          </a:p>
        </p:txBody>
      </p:sp>
      <p:sp>
        <p:nvSpPr>
          <p:cNvPr id="16" name="Pentagon 15">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256694884"/>
      </p:ext>
    </p:extLst>
  </p:cSld>
  <p:clrMapOvr>
    <a:masterClrMapping/>
  </p:clrMapOvr>
  <p:transition>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policy directives on Bangladesh power sector reform</a:t>
            </a:r>
            <a:br>
              <a:rPr lang="en-US" b="1" dirty="0" smtClean="0"/>
            </a:br>
            <a:r>
              <a:rPr lang="en-US" b="1" dirty="0" smtClean="0">
                <a:solidFill>
                  <a:schemeClr val="accent1">
                    <a:lumMod val="75000"/>
                  </a:schemeClr>
                </a:solidFill>
              </a:rPr>
              <a:t>National Energy Policy, 2004 (1/4)</a:t>
            </a:r>
            <a:endParaRPr lang="en-IN" b="1" dirty="0"/>
          </a:p>
        </p:txBody>
      </p:sp>
      <p:sp>
        <p:nvSpPr>
          <p:cNvPr id="4" name="TextBox 3"/>
          <p:cNvSpPr txBox="1"/>
          <p:nvPr/>
        </p:nvSpPr>
        <p:spPr>
          <a:xfrm>
            <a:off x="439793" y="1372297"/>
            <a:ext cx="1544871" cy="3092126"/>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Planning</a:t>
            </a:r>
            <a:endParaRPr lang="en-IN" sz="1400" b="1" dirty="0" smtClean="0">
              <a:solidFill>
                <a:srgbClr val="313131"/>
              </a:solidFill>
            </a:endParaRPr>
          </a:p>
        </p:txBody>
      </p:sp>
      <p:sp>
        <p:nvSpPr>
          <p:cNvPr id="5" name="TextBox 4"/>
          <p:cNvSpPr txBox="1"/>
          <p:nvPr/>
        </p:nvSpPr>
        <p:spPr>
          <a:xfrm>
            <a:off x="2078183" y="1372297"/>
            <a:ext cx="8147562" cy="3092126"/>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An overall master plan for electricity is to be developed incorporating the least cost generation expansion plan, transmission plan and distribution plan and phasing of </a:t>
            </a:r>
            <a:r>
              <a:rPr lang="en-US" sz="1400" dirty="0" smtClean="0">
                <a:solidFill>
                  <a:srgbClr val="313131"/>
                </a:solidFill>
              </a:rPr>
              <a:t>projects</a:t>
            </a:r>
          </a:p>
          <a:p>
            <a:pPr marL="285750" indent="-285750" algn="just">
              <a:spcBef>
                <a:spcPts val="600"/>
              </a:spcBef>
              <a:buSzPct val="100000"/>
              <a:buFont typeface="Arial" panose="020B0604020202020204" pitchFamily="34" charset="0"/>
              <a:buChar char="•"/>
            </a:pPr>
            <a:r>
              <a:rPr lang="en-US" sz="1400" dirty="0" smtClean="0">
                <a:solidFill>
                  <a:srgbClr val="313131"/>
                </a:solidFill>
              </a:rPr>
              <a:t>This </a:t>
            </a:r>
            <a:r>
              <a:rPr lang="en-US" sz="1400" dirty="0">
                <a:solidFill>
                  <a:srgbClr val="313131"/>
                </a:solidFill>
              </a:rPr>
              <a:t>master plan shall be the basis for all development programs and projects of the power </a:t>
            </a:r>
            <a:r>
              <a:rPr lang="en-US" sz="1400" dirty="0" smtClean="0">
                <a:solidFill>
                  <a:srgbClr val="313131"/>
                </a:solidFill>
              </a:rPr>
              <a:t>sector</a:t>
            </a:r>
          </a:p>
          <a:p>
            <a:pPr marL="285750" indent="-285750" algn="just">
              <a:spcBef>
                <a:spcPts val="600"/>
              </a:spcBef>
              <a:buSzPct val="100000"/>
              <a:buFont typeface="Arial" panose="020B0604020202020204" pitchFamily="34" charset="0"/>
              <a:buChar char="•"/>
            </a:pPr>
            <a:r>
              <a:rPr lang="en-US" sz="1400" dirty="0">
                <a:solidFill>
                  <a:srgbClr val="313131"/>
                </a:solidFill>
              </a:rPr>
              <a:t>Long term planning for development of the power sector is to be drawn up on the basis of the projection on demand, cost of supply, reliability and quality of supply and adequate transmission and distribution </a:t>
            </a:r>
            <a:r>
              <a:rPr lang="en-US" sz="1400" dirty="0" smtClean="0">
                <a:solidFill>
                  <a:srgbClr val="313131"/>
                </a:solidFill>
              </a:rPr>
              <a:t>facilities</a:t>
            </a:r>
            <a:endParaRPr lang="en-US" sz="1400" dirty="0">
              <a:solidFill>
                <a:srgbClr val="313131"/>
              </a:solidFill>
            </a:endParaRPr>
          </a:p>
          <a:p>
            <a:pPr marL="285750" indent="-285750" algn="just">
              <a:spcBef>
                <a:spcPts val="600"/>
              </a:spcBef>
              <a:buSzPct val="100000"/>
              <a:buFont typeface="Arial" panose="020B0604020202020204" pitchFamily="34" charset="0"/>
              <a:buChar char="•"/>
            </a:pPr>
            <a:r>
              <a:rPr lang="en-US" sz="1400" dirty="0" smtClean="0">
                <a:solidFill>
                  <a:srgbClr val="313131"/>
                </a:solidFill>
              </a:rPr>
              <a:t>Least </a:t>
            </a:r>
            <a:r>
              <a:rPr lang="en-US" sz="1400" dirty="0">
                <a:solidFill>
                  <a:srgbClr val="313131"/>
                </a:solidFill>
              </a:rPr>
              <a:t>cost approach is to be the basis for generation </a:t>
            </a:r>
            <a:r>
              <a:rPr lang="en-US" sz="1400" dirty="0" smtClean="0">
                <a:solidFill>
                  <a:srgbClr val="313131"/>
                </a:solidFill>
              </a:rPr>
              <a:t>planning</a:t>
            </a:r>
          </a:p>
          <a:p>
            <a:pPr marL="285750" indent="-285750" algn="just">
              <a:spcBef>
                <a:spcPts val="600"/>
              </a:spcBef>
              <a:buSzPct val="100000"/>
              <a:buFont typeface="Arial" panose="020B0604020202020204" pitchFamily="34" charset="0"/>
              <a:buChar char="•"/>
            </a:pPr>
            <a:r>
              <a:rPr lang="en-US" sz="1400" dirty="0">
                <a:solidFill>
                  <a:srgbClr val="313131"/>
                </a:solidFill>
              </a:rPr>
              <a:t>Realistic exogenous constrain like transportation and logistic of fuel supply, energy security, maximum unit size, project management and environment impact of technologies are to be defined and used as inputs for least cost expansion </a:t>
            </a:r>
            <a:r>
              <a:rPr lang="en-US" sz="1400" dirty="0" smtClean="0">
                <a:solidFill>
                  <a:srgbClr val="313131"/>
                </a:solidFill>
              </a:rPr>
              <a:t>planning</a:t>
            </a:r>
          </a:p>
        </p:txBody>
      </p:sp>
      <p:sp>
        <p:nvSpPr>
          <p:cNvPr id="16" name="TextBox 15"/>
          <p:cNvSpPr txBox="1"/>
          <p:nvPr/>
        </p:nvSpPr>
        <p:spPr>
          <a:xfrm>
            <a:off x="439793" y="4644417"/>
            <a:ext cx="1544871" cy="1734871"/>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Utility viability, accountability and transparency</a:t>
            </a:r>
            <a:endParaRPr lang="en-IN" sz="1400" b="1" dirty="0" smtClean="0">
              <a:solidFill>
                <a:srgbClr val="313131"/>
              </a:solidFill>
            </a:endParaRPr>
          </a:p>
        </p:txBody>
      </p:sp>
      <p:sp>
        <p:nvSpPr>
          <p:cNvPr id="17" name="TextBox 16"/>
          <p:cNvSpPr txBox="1"/>
          <p:nvPr/>
        </p:nvSpPr>
        <p:spPr>
          <a:xfrm>
            <a:off x="2078183" y="4644417"/>
            <a:ext cx="8147562" cy="1734871"/>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Development of the power sub-sector is to be such that the utilities can function economically and reliably and their financial situation permits generation of resources internally for financing at least a part of their development </a:t>
            </a:r>
            <a:r>
              <a:rPr lang="en-US" sz="1400" dirty="0" smtClean="0">
                <a:solidFill>
                  <a:srgbClr val="313131"/>
                </a:solidFill>
              </a:rPr>
              <a:t>activities</a:t>
            </a:r>
          </a:p>
          <a:p>
            <a:pPr marL="285750" indent="-285750" algn="just">
              <a:spcBef>
                <a:spcPts val="600"/>
              </a:spcBef>
              <a:buSzPct val="100000"/>
              <a:buFont typeface="Arial" panose="020B0604020202020204" pitchFamily="34" charset="0"/>
              <a:buChar char="•"/>
            </a:pPr>
            <a:r>
              <a:rPr lang="en-US" sz="1400" dirty="0">
                <a:solidFill>
                  <a:srgbClr val="313131"/>
                </a:solidFill>
              </a:rPr>
              <a:t>Utilities are to develop appropriate corporate financial structures along with efficient systems of accounting and financial management in order to facilitate accountability, transparency, to help assessing financial performance, decision making in investment, cost control and economic operation</a:t>
            </a:r>
            <a:endParaRPr lang="en-US" sz="1400" dirty="0" smtClean="0">
              <a:solidFill>
                <a:srgbClr val="313131"/>
              </a:solidFill>
            </a:endParaRPr>
          </a:p>
        </p:txBody>
      </p:sp>
      <p:sp>
        <p:nvSpPr>
          <p:cNvPr id="9" name="Pentagon 8">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48294202"/>
      </p:ext>
    </p:extLst>
  </p:cSld>
  <p:clrMapOvr>
    <a:masterClrMapping/>
  </p:clrMapOvr>
  <p:transition>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policy directives on Bangladesh power sector reform</a:t>
            </a:r>
            <a:br>
              <a:rPr lang="en-US" b="1" dirty="0" smtClean="0"/>
            </a:br>
            <a:r>
              <a:rPr lang="en-US" b="1" dirty="0" smtClean="0">
                <a:solidFill>
                  <a:schemeClr val="accent1">
                    <a:lumMod val="75000"/>
                  </a:schemeClr>
                </a:solidFill>
              </a:rPr>
              <a:t>National Energy Policy, 2004 (2/4)</a:t>
            </a:r>
            <a:endParaRPr lang="en-IN" b="1" dirty="0"/>
          </a:p>
        </p:txBody>
      </p:sp>
      <p:sp>
        <p:nvSpPr>
          <p:cNvPr id="4" name="TextBox 3"/>
          <p:cNvSpPr txBox="1"/>
          <p:nvPr/>
        </p:nvSpPr>
        <p:spPr>
          <a:xfrm>
            <a:off x="439793" y="1372297"/>
            <a:ext cx="1544871" cy="3307278"/>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Tariff Reform</a:t>
            </a:r>
            <a:endParaRPr lang="en-IN" sz="1400" b="1" dirty="0" smtClean="0">
              <a:solidFill>
                <a:srgbClr val="313131"/>
              </a:solidFill>
            </a:endParaRPr>
          </a:p>
        </p:txBody>
      </p:sp>
      <p:sp>
        <p:nvSpPr>
          <p:cNvPr id="5" name="TextBox 4"/>
          <p:cNvSpPr txBox="1"/>
          <p:nvPr/>
        </p:nvSpPr>
        <p:spPr>
          <a:xfrm>
            <a:off x="2078183" y="1372296"/>
            <a:ext cx="8147562" cy="3307279"/>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The tariff setting will be consistent with the financial requirements of the power sector </a:t>
            </a:r>
            <a:r>
              <a:rPr lang="en-US" sz="1400" dirty="0" smtClean="0">
                <a:solidFill>
                  <a:srgbClr val="313131"/>
                </a:solidFill>
              </a:rPr>
              <a:t>institution</a:t>
            </a:r>
            <a:endParaRPr lang="en-US" sz="1400" dirty="0">
              <a:solidFill>
                <a:srgbClr val="313131"/>
              </a:solidFill>
            </a:endParaRPr>
          </a:p>
          <a:p>
            <a:pPr marL="538163" indent="-269875" algn="just">
              <a:spcBef>
                <a:spcPts val="600"/>
              </a:spcBef>
              <a:buSzPct val="100000"/>
              <a:buFont typeface="Verdana" panose="020B0604030504040204" pitchFamily="34" charset="0"/>
              <a:buChar char="–"/>
            </a:pPr>
            <a:r>
              <a:rPr lang="en-US" sz="1400" dirty="0">
                <a:solidFill>
                  <a:srgbClr val="313131"/>
                </a:solidFill>
              </a:rPr>
              <a:t>Meets operating </a:t>
            </a:r>
            <a:r>
              <a:rPr lang="en-US" sz="1400" dirty="0" smtClean="0">
                <a:solidFill>
                  <a:srgbClr val="313131"/>
                </a:solidFill>
              </a:rPr>
              <a:t>expenses</a:t>
            </a:r>
          </a:p>
          <a:p>
            <a:pPr marL="538163" indent="-269875" algn="just">
              <a:spcBef>
                <a:spcPts val="600"/>
              </a:spcBef>
              <a:buSzPct val="100000"/>
              <a:buFont typeface="Verdana" panose="020B0604030504040204" pitchFamily="34" charset="0"/>
              <a:buChar char="–"/>
            </a:pPr>
            <a:r>
              <a:rPr lang="en-US" sz="1400" dirty="0" smtClean="0">
                <a:solidFill>
                  <a:srgbClr val="313131"/>
                </a:solidFill>
              </a:rPr>
              <a:t>Earns </a:t>
            </a:r>
            <a:r>
              <a:rPr lang="en-US" sz="1400" dirty="0">
                <a:solidFill>
                  <a:srgbClr val="313131"/>
                </a:solidFill>
              </a:rPr>
              <a:t>adequate return for self investment in future </a:t>
            </a:r>
            <a:r>
              <a:rPr lang="en-US" sz="1400" dirty="0" smtClean="0">
                <a:solidFill>
                  <a:srgbClr val="313131"/>
                </a:solidFill>
              </a:rPr>
              <a:t>expansion</a:t>
            </a:r>
          </a:p>
          <a:p>
            <a:pPr marL="285750" indent="-285750" algn="just">
              <a:spcBef>
                <a:spcPts val="600"/>
              </a:spcBef>
              <a:buSzPct val="100000"/>
              <a:buFont typeface="Arial" panose="020B0604020202020204" pitchFamily="34" charset="0"/>
              <a:buChar char="•"/>
            </a:pPr>
            <a:r>
              <a:rPr lang="en-US" sz="1400" dirty="0">
                <a:solidFill>
                  <a:srgbClr val="313131"/>
                </a:solidFill>
              </a:rPr>
              <a:t>The tariffs will take into account</a:t>
            </a:r>
          </a:p>
          <a:p>
            <a:pPr marL="538163" indent="-269875" algn="just">
              <a:spcBef>
                <a:spcPts val="600"/>
              </a:spcBef>
              <a:buSzPct val="100000"/>
              <a:buFont typeface="Verdana" panose="020B0604030504040204" pitchFamily="34" charset="0"/>
              <a:buChar char="–"/>
            </a:pPr>
            <a:r>
              <a:rPr lang="en-US" sz="1400" dirty="0">
                <a:solidFill>
                  <a:srgbClr val="313131"/>
                </a:solidFill>
              </a:rPr>
              <a:t>Load management and energy </a:t>
            </a:r>
            <a:r>
              <a:rPr lang="en-US" sz="1400" dirty="0" smtClean="0">
                <a:solidFill>
                  <a:srgbClr val="313131"/>
                </a:solidFill>
              </a:rPr>
              <a:t>conservation</a:t>
            </a:r>
          </a:p>
          <a:p>
            <a:pPr marL="538163" indent="-269875" algn="just">
              <a:spcBef>
                <a:spcPts val="600"/>
              </a:spcBef>
              <a:buSzPct val="100000"/>
              <a:buFont typeface="Verdana" panose="020B0604030504040204" pitchFamily="34" charset="0"/>
              <a:buChar char="–"/>
            </a:pPr>
            <a:r>
              <a:rPr lang="en-US" sz="1400" dirty="0">
                <a:solidFill>
                  <a:srgbClr val="313131"/>
                </a:solidFill>
              </a:rPr>
              <a:t>Efficiency </a:t>
            </a:r>
            <a:r>
              <a:rPr lang="en-US" sz="1400" dirty="0" smtClean="0">
                <a:solidFill>
                  <a:srgbClr val="313131"/>
                </a:solidFill>
              </a:rPr>
              <a:t>improvement</a:t>
            </a:r>
          </a:p>
          <a:p>
            <a:pPr marL="285750" indent="-285750" algn="just">
              <a:spcBef>
                <a:spcPts val="600"/>
              </a:spcBef>
              <a:buSzPct val="100000"/>
              <a:buFont typeface="Arial" panose="020B0604020202020204" pitchFamily="34" charset="0"/>
              <a:buChar char="•"/>
            </a:pPr>
            <a:r>
              <a:rPr lang="en-US" sz="1400" dirty="0">
                <a:solidFill>
                  <a:srgbClr val="313131"/>
                </a:solidFill>
              </a:rPr>
              <a:t>The GOB’s policy objectives will be addressed in tariff setting and recommendations especially on social commitments</a:t>
            </a:r>
          </a:p>
          <a:p>
            <a:pPr marL="538163" indent="-269875" algn="just">
              <a:spcBef>
                <a:spcPts val="600"/>
              </a:spcBef>
              <a:buSzPct val="100000"/>
              <a:buFont typeface="Verdana" panose="020B0604030504040204" pitchFamily="34" charset="0"/>
              <a:buChar char="–"/>
            </a:pPr>
            <a:r>
              <a:rPr lang="en-US" sz="1400" dirty="0">
                <a:solidFill>
                  <a:srgbClr val="313131"/>
                </a:solidFill>
              </a:rPr>
              <a:t>Tariff to each consumer class reflects the cost of supply</a:t>
            </a:r>
          </a:p>
          <a:p>
            <a:pPr marL="538163" indent="-269875" algn="just">
              <a:spcBef>
                <a:spcPts val="600"/>
              </a:spcBef>
              <a:buSzPct val="100000"/>
              <a:buFont typeface="Verdana" panose="020B0604030504040204" pitchFamily="34" charset="0"/>
              <a:buChar char="–"/>
            </a:pPr>
            <a:r>
              <a:rPr lang="en-US" sz="1400" dirty="0" smtClean="0">
                <a:solidFill>
                  <a:srgbClr val="313131"/>
                </a:solidFill>
              </a:rPr>
              <a:t>BPDB </a:t>
            </a:r>
            <a:r>
              <a:rPr lang="en-US" sz="1400" dirty="0">
                <a:solidFill>
                  <a:srgbClr val="313131"/>
                </a:solidFill>
              </a:rPr>
              <a:t>be </a:t>
            </a:r>
            <a:r>
              <a:rPr lang="en-US" sz="1400" dirty="0" err="1">
                <a:solidFill>
                  <a:srgbClr val="313131"/>
                </a:solidFill>
              </a:rPr>
              <a:t>subsidised</a:t>
            </a:r>
            <a:r>
              <a:rPr lang="en-US" sz="1400" dirty="0">
                <a:solidFill>
                  <a:srgbClr val="313131"/>
                </a:solidFill>
              </a:rPr>
              <a:t> by direct transfer from the GOB with the aim of promoting rural development</a:t>
            </a:r>
            <a:endParaRPr lang="en-US" sz="1400" dirty="0" smtClean="0">
              <a:solidFill>
                <a:srgbClr val="313131"/>
              </a:solidFill>
            </a:endParaRPr>
          </a:p>
        </p:txBody>
      </p:sp>
      <p:sp>
        <p:nvSpPr>
          <p:cNvPr id="7" name="TextBox 6"/>
          <p:cNvSpPr txBox="1"/>
          <p:nvPr/>
        </p:nvSpPr>
        <p:spPr>
          <a:xfrm>
            <a:off x="439793" y="4816539"/>
            <a:ext cx="1544871" cy="1734871"/>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Performance improvement</a:t>
            </a:r>
            <a:endParaRPr lang="en-IN" sz="1400" b="1" dirty="0" smtClean="0">
              <a:solidFill>
                <a:srgbClr val="313131"/>
              </a:solidFill>
            </a:endParaRPr>
          </a:p>
        </p:txBody>
      </p:sp>
      <p:sp>
        <p:nvSpPr>
          <p:cNvPr id="8" name="TextBox 7"/>
          <p:cNvSpPr txBox="1"/>
          <p:nvPr/>
        </p:nvSpPr>
        <p:spPr>
          <a:xfrm>
            <a:off x="2078183" y="4816539"/>
            <a:ext cx="8147562" cy="1734871"/>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Total system loss is to be brought down to a level typical to the successful utilities of the developing countries in the region, subject to cost effectiveness of such reduction in </a:t>
            </a:r>
            <a:r>
              <a:rPr lang="en-US" sz="1400" dirty="0" smtClean="0">
                <a:solidFill>
                  <a:srgbClr val="313131"/>
                </a:solidFill>
              </a:rPr>
              <a:t>loss</a:t>
            </a:r>
          </a:p>
          <a:p>
            <a:pPr marL="285750" indent="-285750" algn="just">
              <a:spcBef>
                <a:spcPts val="600"/>
              </a:spcBef>
              <a:buSzPct val="100000"/>
              <a:buFont typeface="Arial" panose="020B0604020202020204" pitchFamily="34" charset="0"/>
              <a:buChar char="•"/>
            </a:pPr>
            <a:r>
              <a:rPr lang="en-US" sz="1400" dirty="0">
                <a:solidFill>
                  <a:srgbClr val="313131"/>
                </a:solidFill>
              </a:rPr>
              <a:t>The auxiliary consumption of existing power plants is to be reviewed and attempts to be made to minimize such consumption through retrofitting subject to availability of financial resources</a:t>
            </a:r>
            <a:endParaRPr lang="en-US" sz="1400" dirty="0" smtClean="0">
              <a:solidFill>
                <a:srgbClr val="313131"/>
              </a:solidFill>
            </a:endParaRPr>
          </a:p>
        </p:txBody>
      </p:sp>
      <p:sp>
        <p:nvSpPr>
          <p:cNvPr id="9" name="Pentagon 8">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491987163"/>
      </p:ext>
    </p:extLst>
  </p:cSld>
  <p:clrMapOvr>
    <a:masterClrMapping/>
  </p:clrMapOvr>
  <p:transition>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policy directives on Bangladesh power sector reform</a:t>
            </a:r>
            <a:br>
              <a:rPr lang="en-US" b="1" dirty="0" smtClean="0"/>
            </a:br>
            <a:r>
              <a:rPr lang="en-US" b="1" dirty="0" smtClean="0">
                <a:solidFill>
                  <a:schemeClr val="accent1">
                    <a:lumMod val="75000"/>
                  </a:schemeClr>
                </a:solidFill>
              </a:rPr>
              <a:t>National Energy Policy, 2004 (3/4)</a:t>
            </a:r>
            <a:endParaRPr lang="en-IN" b="1" dirty="0"/>
          </a:p>
        </p:txBody>
      </p:sp>
      <p:sp>
        <p:nvSpPr>
          <p:cNvPr id="4" name="TextBox 3"/>
          <p:cNvSpPr txBox="1"/>
          <p:nvPr/>
        </p:nvSpPr>
        <p:spPr>
          <a:xfrm>
            <a:off x="439793" y="1522904"/>
            <a:ext cx="1544871" cy="5157596"/>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Power sector restructuring</a:t>
            </a:r>
          </a:p>
          <a:p>
            <a:pPr>
              <a:spcBef>
                <a:spcPts val="600"/>
              </a:spcBef>
              <a:buSzPct val="100000"/>
            </a:pPr>
            <a:r>
              <a:rPr lang="en-US" sz="1400" b="1" i="1" dirty="0" smtClean="0">
                <a:solidFill>
                  <a:srgbClr val="313131"/>
                </a:solidFill>
              </a:rPr>
              <a:t>(continued in next slide)</a:t>
            </a:r>
            <a:endParaRPr lang="en-IN" sz="1400" b="1" i="1" dirty="0" smtClean="0">
              <a:solidFill>
                <a:srgbClr val="313131"/>
              </a:solidFill>
            </a:endParaRPr>
          </a:p>
        </p:txBody>
      </p:sp>
      <p:sp>
        <p:nvSpPr>
          <p:cNvPr id="5" name="TextBox 4"/>
          <p:cNvSpPr txBox="1"/>
          <p:nvPr/>
        </p:nvSpPr>
        <p:spPr>
          <a:xfrm>
            <a:off x="2078183" y="1522903"/>
            <a:ext cx="8147562" cy="5157596"/>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Power Sector is to be restructured along functional </a:t>
            </a:r>
            <a:r>
              <a:rPr lang="en-US" sz="1400" dirty="0" smtClean="0">
                <a:solidFill>
                  <a:srgbClr val="313131"/>
                </a:solidFill>
              </a:rPr>
              <a:t>lines. </a:t>
            </a:r>
            <a:r>
              <a:rPr lang="en-US" sz="1400" dirty="0">
                <a:solidFill>
                  <a:srgbClr val="313131"/>
                </a:solidFill>
              </a:rPr>
              <a:t>The functions of generation transmission and distribution of electricity are to be </a:t>
            </a:r>
            <a:r>
              <a:rPr lang="en-US" sz="1400" dirty="0" smtClean="0">
                <a:solidFill>
                  <a:srgbClr val="313131"/>
                </a:solidFill>
              </a:rPr>
              <a:t>separated</a:t>
            </a:r>
          </a:p>
          <a:p>
            <a:pPr marL="285750" indent="-285750" algn="just">
              <a:spcBef>
                <a:spcPts val="600"/>
              </a:spcBef>
              <a:buSzPct val="100000"/>
              <a:buFont typeface="Arial" panose="020B0604020202020204" pitchFamily="34" charset="0"/>
              <a:buChar char="•"/>
            </a:pPr>
            <a:r>
              <a:rPr lang="en-US" sz="1400" dirty="0" smtClean="0">
                <a:solidFill>
                  <a:srgbClr val="313131"/>
                </a:solidFill>
              </a:rPr>
              <a:t>Generation</a:t>
            </a:r>
            <a:endParaRPr lang="en-US" sz="1400" dirty="0">
              <a:solidFill>
                <a:srgbClr val="313131"/>
              </a:solidFill>
            </a:endParaRPr>
          </a:p>
          <a:p>
            <a:pPr marL="538163" indent="-269875" algn="just">
              <a:spcBef>
                <a:spcPts val="600"/>
              </a:spcBef>
              <a:buSzPct val="100000"/>
              <a:buFont typeface="Verdana" panose="020B0604030504040204" pitchFamily="34" charset="0"/>
              <a:buChar char="–"/>
            </a:pPr>
            <a:r>
              <a:rPr lang="en-US" sz="1400" dirty="0">
                <a:solidFill>
                  <a:srgbClr val="313131"/>
                </a:solidFill>
              </a:rPr>
              <a:t>Measures to improve efficiency and operations in the existing generation stations should be pursued</a:t>
            </a:r>
            <a:endParaRPr lang="en-US" sz="1400" dirty="0" smtClean="0">
              <a:solidFill>
                <a:srgbClr val="313131"/>
              </a:solidFill>
            </a:endParaRPr>
          </a:p>
          <a:p>
            <a:pPr marL="538163" indent="-269875" algn="just">
              <a:spcBef>
                <a:spcPts val="600"/>
              </a:spcBef>
              <a:buSzPct val="100000"/>
              <a:buFont typeface="Verdana" panose="020B0604030504040204" pitchFamily="34" charset="0"/>
              <a:buChar char="–"/>
            </a:pPr>
            <a:r>
              <a:rPr lang="en-US" sz="1400" dirty="0">
                <a:solidFill>
                  <a:prstClr val="black"/>
                </a:solidFill>
              </a:rPr>
              <a:t>All existing power generation units are to be separated through a corporatized national power generation entity which will pave the way for restructuring power generation on commercial lines</a:t>
            </a:r>
            <a:endParaRPr lang="en-US" sz="1400" dirty="0" smtClean="0">
              <a:solidFill>
                <a:srgbClr val="313131"/>
              </a:solidFill>
            </a:endParaRPr>
          </a:p>
          <a:p>
            <a:pPr marL="285750" indent="-285750" algn="just">
              <a:spcBef>
                <a:spcPts val="600"/>
              </a:spcBef>
              <a:buSzPct val="100000"/>
              <a:buFont typeface="Arial" panose="020B0604020202020204" pitchFamily="34" charset="0"/>
              <a:buChar char="•"/>
            </a:pPr>
            <a:r>
              <a:rPr lang="en-US" sz="1400" dirty="0" smtClean="0">
                <a:solidFill>
                  <a:srgbClr val="313131"/>
                </a:solidFill>
              </a:rPr>
              <a:t>Transmission</a:t>
            </a:r>
            <a:endParaRPr lang="en-US" sz="1400" dirty="0">
              <a:solidFill>
                <a:srgbClr val="313131"/>
              </a:solidFill>
            </a:endParaRPr>
          </a:p>
          <a:p>
            <a:pPr marL="538163" indent="-269875" algn="just">
              <a:spcBef>
                <a:spcPts val="600"/>
              </a:spcBef>
              <a:buSzPct val="100000"/>
              <a:buFont typeface="Verdana" panose="020B0604030504040204" pitchFamily="34" charset="0"/>
              <a:buChar char="–"/>
            </a:pPr>
            <a:r>
              <a:rPr lang="en-US" sz="1400" dirty="0">
                <a:solidFill>
                  <a:prstClr val="black"/>
                </a:solidFill>
              </a:rPr>
              <a:t>Efficient network development, expansion and management capable of accessing the most efficient supply of power and transport it to customers should be designed and </a:t>
            </a:r>
            <a:r>
              <a:rPr lang="en-US" sz="1400" dirty="0" smtClean="0">
                <a:solidFill>
                  <a:prstClr val="black"/>
                </a:solidFill>
              </a:rPr>
              <a:t>implemented</a:t>
            </a:r>
          </a:p>
          <a:p>
            <a:pPr marL="538163" indent="-269875" algn="just">
              <a:spcBef>
                <a:spcPts val="600"/>
              </a:spcBef>
              <a:buSzPct val="100000"/>
              <a:buFont typeface="Verdana" panose="020B0604030504040204" pitchFamily="34" charset="0"/>
              <a:buChar char="–"/>
            </a:pPr>
            <a:r>
              <a:rPr lang="en-US" sz="1400" dirty="0" smtClean="0">
                <a:solidFill>
                  <a:prstClr val="black"/>
                </a:solidFill>
              </a:rPr>
              <a:t>The </a:t>
            </a:r>
            <a:r>
              <a:rPr lang="en-US" sz="1400" dirty="0">
                <a:solidFill>
                  <a:prstClr val="black"/>
                </a:solidFill>
              </a:rPr>
              <a:t>transmission network will be owned, operated, planned and developed by a corporatized entity in the public sector </a:t>
            </a:r>
            <a:r>
              <a:rPr lang="en-US" sz="1400" dirty="0" smtClean="0">
                <a:solidFill>
                  <a:srgbClr val="313131"/>
                </a:solidFill>
              </a:rPr>
              <a:t>Efficiency improvement</a:t>
            </a:r>
          </a:p>
          <a:p>
            <a:pPr marL="285750" indent="-285750" algn="just">
              <a:spcBef>
                <a:spcPts val="600"/>
              </a:spcBef>
              <a:buSzPct val="100000"/>
              <a:buFont typeface="Arial" panose="020B0604020202020204" pitchFamily="34" charset="0"/>
              <a:buChar char="•"/>
            </a:pPr>
            <a:r>
              <a:rPr lang="en-US" sz="1400" dirty="0" smtClean="0">
                <a:solidFill>
                  <a:srgbClr val="313131"/>
                </a:solidFill>
              </a:rPr>
              <a:t>Distribution</a:t>
            </a:r>
            <a:endParaRPr lang="en-US" sz="1400" dirty="0">
              <a:solidFill>
                <a:srgbClr val="313131"/>
              </a:solidFill>
            </a:endParaRPr>
          </a:p>
          <a:p>
            <a:pPr marL="538163" indent="-269875" algn="just">
              <a:spcBef>
                <a:spcPts val="600"/>
              </a:spcBef>
              <a:buSzPct val="100000"/>
              <a:buFont typeface="Verdana" panose="020B0604030504040204" pitchFamily="34" charset="0"/>
              <a:buChar char="–"/>
            </a:pPr>
            <a:r>
              <a:rPr lang="en-US" sz="1400" dirty="0">
                <a:solidFill>
                  <a:prstClr val="black"/>
                </a:solidFill>
              </a:rPr>
              <a:t>Commercial and financial performances of the distribution entities are to be improved in order to reduce system </a:t>
            </a:r>
            <a:r>
              <a:rPr lang="en-US" sz="1400" dirty="0" smtClean="0">
                <a:solidFill>
                  <a:prstClr val="black"/>
                </a:solidFill>
              </a:rPr>
              <a:t>loss</a:t>
            </a:r>
          </a:p>
          <a:p>
            <a:pPr marL="538163" indent="-269875" algn="just">
              <a:spcBef>
                <a:spcPts val="600"/>
              </a:spcBef>
              <a:buSzPct val="100000"/>
              <a:buFont typeface="Verdana" panose="020B0604030504040204" pitchFamily="34" charset="0"/>
              <a:buChar char="–"/>
            </a:pPr>
            <a:r>
              <a:rPr lang="en-US" sz="1400" dirty="0">
                <a:solidFill>
                  <a:srgbClr val="313131"/>
                </a:solidFill>
              </a:rPr>
              <a:t>The existing distribution system of BPDB and DESA is to be transformed into a number of new corporatized entities to be incorporated under the Companies Act. </a:t>
            </a:r>
            <a:r>
              <a:rPr lang="en-US" sz="1400" dirty="0" smtClean="0">
                <a:solidFill>
                  <a:srgbClr val="313131"/>
                </a:solidFill>
              </a:rPr>
              <a:t>1994</a:t>
            </a:r>
          </a:p>
        </p:txBody>
      </p:sp>
      <p:sp>
        <p:nvSpPr>
          <p:cNvPr id="6" name="Pentagon 5">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392393233"/>
      </p:ext>
    </p:extLst>
  </p:cSld>
  <p:clrMapOvr>
    <a:masterClrMapping/>
  </p:clrMapOvr>
  <p:transition>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Key policy directives on Bangladesh power sector reform</a:t>
            </a:r>
            <a:br>
              <a:rPr lang="en-US" b="1" dirty="0" smtClean="0"/>
            </a:br>
            <a:r>
              <a:rPr lang="en-US" b="1" dirty="0" smtClean="0">
                <a:solidFill>
                  <a:schemeClr val="accent1">
                    <a:lumMod val="75000"/>
                  </a:schemeClr>
                </a:solidFill>
              </a:rPr>
              <a:t>National Energy Policy, 2004 (4/4)</a:t>
            </a:r>
            <a:endParaRPr lang="en-IN" b="1" dirty="0"/>
          </a:p>
        </p:txBody>
      </p:sp>
      <p:sp>
        <p:nvSpPr>
          <p:cNvPr id="4" name="TextBox 3"/>
          <p:cNvSpPr txBox="1"/>
          <p:nvPr/>
        </p:nvSpPr>
        <p:spPr>
          <a:xfrm>
            <a:off x="439793" y="1372296"/>
            <a:ext cx="1544871" cy="4200165"/>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Power sector restructuring </a:t>
            </a:r>
            <a:r>
              <a:rPr lang="en-US" sz="1400" b="1" i="1" dirty="0" smtClean="0">
                <a:solidFill>
                  <a:srgbClr val="313131"/>
                </a:solidFill>
              </a:rPr>
              <a:t>(continued from previous slide)</a:t>
            </a:r>
            <a:endParaRPr lang="en-IN" sz="1400" b="1" dirty="0" smtClean="0">
              <a:solidFill>
                <a:srgbClr val="313131"/>
              </a:solidFill>
            </a:endParaRPr>
          </a:p>
        </p:txBody>
      </p:sp>
      <p:sp>
        <p:nvSpPr>
          <p:cNvPr id="5" name="TextBox 4"/>
          <p:cNvSpPr txBox="1"/>
          <p:nvPr/>
        </p:nvSpPr>
        <p:spPr>
          <a:xfrm>
            <a:off x="2078183" y="1372296"/>
            <a:ext cx="8147562" cy="4200165"/>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smtClean="0">
                <a:solidFill>
                  <a:srgbClr val="313131"/>
                </a:solidFill>
              </a:rPr>
              <a:t>Single Buyer</a:t>
            </a:r>
          </a:p>
          <a:p>
            <a:pPr marL="538163" indent="-269875" algn="just">
              <a:spcBef>
                <a:spcPts val="600"/>
              </a:spcBef>
              <a:buSzPct val="100000"/>
              <a:buFont typeface="Verdana" panose="020B0604030504040204" pitchFamily="34" charset="0"/>
              <a:buChar char="–"/>
            </a:pPr>
            <a:r>
              <a:rPr lang="en-US" sz="1400" dirty="0">
                <a:solidFill>
                  <a:srgbClr val="313131"/>
                </a:solidFill>
              </a:rPr>
              <a:t>A single buyer model may be adopted where the buyer purchases all the required power from the generators based on economic load dispatch and sells to different distribution </a:t>
            </a:r>
            <a:r>
              <a:rPr lang="en-US" sz="1400" dirty="0" smtClean="0">
                <a:solidFill>
                  <a:srgbClr val="313131"/>
                </a:solidFill>
              </a:rPr>
              <a:t>companies</a:t>
            </a:r>
          </a:p>
          <a:p>
            <a:pPr marL="538163" indent="-269875" algn="just">
              <a:spcBef>
                <a:spcPts val="600"/>
              </a:spcBef>
              <a:buSzPct val="100000"/>
              <a:buFont typeface="Verdana" panose="020B0604030504040204" pitchFamily="34" charset="0"/>
              <a:buChar char="–"/>
            </a:pPr>
            <a:r>
              <a:rPr lang="en-US" sz="1400" dirty="0">
                <a:solidFill>
                  <a:prstClr val="black"/>
                </a:solidFill>
              </a:rPr>
              <a:t>The Single Buyer shall be a public sector </a:t>
            </a:r>
            <a:r>
              <a:rPr lang="en-US" sz="1400" dirty="0" smtClean="0">
                <a:solidFill>
                  <a:prstClr val="black"/>
                </a:solidFill>
              </a:rPr>
              <a:t>company</a:t>
            </a:r>
          </a:p>
          <a:p>
            <a:pPr marL="285750" indent="-285750" algn="just">
              <a:spcBef>
                <a:spcPts val="600"/>
              </a:spcBef>
              <a:buSzPct val="100000"/>
              <a:buFont typeface="Arial" panose="020B0604020202020204" pitchFamily="34" charset="0"/>
              <a:buChar char="•"/>
            </a:pPr>
            <a:r>
              <a:rPr lang="en-US" sz="1400" dirty="0">
                <a:solidFill>
                  <a:srgbClr val="313131"/>
                </a:solidFill>
              </a:rPr>
              <a:t>There may be a board of Directors, to be appointed by the Government for each of the companies as mentioned above, for directing and monitoring the performance of the </a:t>
            </a:r>
            <a:r>
              <a:rPr lang="en-US" sz="1400" dirty="0" smtClean="0">
                <a:solidFill>
                  <a:srgbClr val="313131"/>
                </a:solidFill>
              </a:rPr>
              <a:t>company</a:t>
            </a:r>
          </a:p>
          <a:p>
            <a:pPr marL="285750" indent="-285750" algn="just">
              <a:spcBef>
                <a:spcPts val="600"/>
              </a:spcBef>
              <a:buSzPct val="100000"/>
              <a:buFont typeface="Arial" panose="020B0604020202020204" pitchFamily="34" charset="0"/>
              <a:buChar char="•"/>
            </a:pPr>
            <a:r>
              <a:rPr lang="en-US" sz="1400" dirty="0" smtClean="0">
                <a:solidFill>
                  <a:srgbClr val="313131"/>
                </a:solidFill>
              </a:rPr>
              <a:t>Majority </a:t>
            </a:r>
            <a:r>
              <a:rPr lang="en-US" sz="1400" dirty="0">
                <a:solidFill>
                  <a:srgbClr val="313131"/>
                </a:solidFill>
              </a:rPr>
              <a:t>of Directors, including the chairman are to be from various interest groups outside the </a:t>
            </a:r>
            <a:r>
              <a:rPr lang="en-US" sz="1400" dirty="0" smtClean="0">
                <a:solidFill>
                  <a:srgbClr val="313131"/>
                </a:solidFill>
              </a:rPr>
              <a:t>Government</a:t>
            </a:r>
          </a:p>
          <a:p>
            <a:pPr marL="285750" indent="-285750" algn="just">
              <a:spcBef>
                <a:spcPts val="600"/>
              </a:spcBef>
              <a:buSzPct val="100000"/>
              <a:buFont typeface="Arial" panose="020B0604020202020204" pitchFamily="34" charset="0"/>
              <a:buChar char="•"/>
            </a:pPr>
            <a:r>
              <a:rPr lang="en-US" sz="1400" dirty="0" smtClean="0">
                <a:solidFill>
                  <a:srgbClr val="313131"/>
                </a:solidFill>
              </a:rPr>
              <a:t>Government </a:t>
            </a:r>
            <a:r>
              <a:rPr lang="en-US" sz="1400" dirty="0">
                <a:solidFill>
                  <a:srgbClr val="313131"/>
                </a:solidFill>
              </a:rPr>
              <a:t>may retain indirect control on specified matters through nominated Directors (from within the Government) with voting </a:t>
            </a:r>
            <a:r>
              <a:rPr lang="en-US" sz="1400" dirty="0" smtClean="0">
                <a:solidFill>
                  <a:srgbClr val="313131"/>
                </a:solidFill>
              </a:rPr>
              <a:t>rights</a:t>
            </a:r>
          </a:p>
          <a:p>
            <a:pPr marL="285750" indent="-285750" algn="just">
              <a:spcBef>
                <a:spcPts val="600"/>
              </a:spcBef>
              <a:buSzPct val="100000"/>
              <a:buFont typeface="Arial" panose="020B0604020202020204" pitchFamily="34" charset="0"/>
              <a:buChar char="•"/>
            </a:pPr>
            <a:r>
              <a:rPr lang="en-US" sz="1400" dirty="0">
                <a:solidFill>
                  <a:srgbClr val="313131"/>
                </a:solidFill>
              </a:rPr>
              <a:t>The new companies should have the right to select employees on their own terms and conditions of employment so as to attract and retain high quality </a:t>
            </a:r>
            <a:r>
              <a:rPr lang="en-US" sz="1400" dirty="0" smtClean="0">
                <a:solidFill>
                  <a:srgbClr val="313131"/>
                </a:solidFill>
              </a:rPr>
              <a:t>staff</a:t>
            </a:r>
          </a:p>
          <a:p>
            <a:pPr marL="285750" indent="-285750" algn="just">
              <a:spcBef>
                <a:spcPts val="600"/>
              </a:spcBef>
              <a:buSzPct val="100000"/>
              <a:buFont typeface="Arial" panose="020B0604020202020204" pitchFamily="34" charset="0"/>
              <a:buChar char="•"/>
            </a:pPr>
            <a:r>
              <a:rPr lang="en-US" sz="1400" dirty="0" smtClean="0">
                <a:solidFill>
                  <a:srgbClr val="313131"/>
                </a:solidFill>
              </a:rPr>
              <a:t>The </a:t>
            </a:r>
            <a:r>
              <a:rPr lang="en-US" sz="1400" dirty="0">
                <a:solidFill>
                  <a:srgbClr val="313131"/>
                </a:solidFill>
              </a:rPr>
              <a:t>Government shall ensure that the interests of the employees of the existing utilities are protected during the restructuring </a:t>
            </a:r>
            <a:r>
              <a:rPr lang="en-US" sz="1400" dirty="0" smtClean="0">
                <a:solidFill>
                  <a:srgbClr val="313131"/>
                </a:solidFill>
              </a:rPr>
              <a:t>process</a:t>
            </a:r>
            <a:endParaRPr lang="en-US" sz="1400" dirty="0">
              <a:solidFill>
                <a:srgbClr val="313131"/>
              </a:solidFill>
            </a:endParaRPr>
          </a:p>
        </p:txBody>
      </p:sp>
      <p:sp>
        <p:nvSpPr>
          <p:cNvPr id="6" name="TextBox 5"/>
          <p:cNvSpPr txBox="1"/>
          <p:nvPr/>
        </p:nvSpPr>
        <p:spPr>
          <a:xfrm>
            <a:off x="439793" y="5677152"/>
            <a:ext cx="1544871" cy="549036"/>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Regional co-operation</a:t>
            </a:r>
            <a:endParaRPr lang="en-IN" sz="1400" b="1" dirty="0" smtClean="0">
              <a:solidFill>
                <a:srgbClr val="313131"/>
              </a:solidFill>
            </a:endParaRPr>
          </a:p>
        </p:txBody>
      </p:sp>
      <p:sp>
        <p:nvSpPr>
          <p:cNvPr id="7" name="TextBox 6"/>
          <p:cNvSpPr txBox="1"/>
          <p:nvPr/>
        </p:nvSpPr>
        <p:spPr>
          <a:xfrm>
            <a:off x="2078183" y="5677152"/>
            <a:ext cx="8147562" cy="549036"/>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Possibility of Cross Border electricity trade among </a:t>
            </a:r>
            <a:r>
              <a:rPr lang="en-US" sz="1400" dirty="0" err="1">
                <a:solidFill>
                  <a:srgbClr val="313131"/>
                </a:solidFill>
              </a:rPr>
              <a:t>neighbouring</a:t>
            </a:r>
            <a:r>
              <a:rPr lang="en-US" sz="1400" dirty="0">
                <a:solidFill>
                  <a:srgbClr val="313131"/>
                </a:solidFill>
              </a:rPr>
              <a:t> countries may be examined</a:t>
            </a:r>
            <a:endParaRPr lang="en-US" sz="1400" dirty="0" smtClean="0">
              <a:solidFill>
                <a:srgbClr val="313131"/>
              </a:solidFill>
            </a:endParaRPr>
          </a:p>
        </p:txBody>
      </p:sp>
      <p:sp>
        <p:nvSpPr>
          <p:cNvPr id="8" name="TextBox 7"/>
          <p:cNvSpPr txBox="1"/>
          <p:nvPr/>
        </p:nvSpPr>
        <p:spPr>
          <a:xfrm>
            <a:off x="439792" y="6330879"/>
            <a:ext cx="1544871" cy="549036"/>
          </a:xfrm>
          <a:prstGeom prst="rect">
            <a:avLst/>
          </a:prstGeom>
          <a:solidFill>
            <a:schemeClr val="accent1"/>
          </a:solidFill>
          <a:ln>
            <a:solidFill>
              <a:srgbClr val="92D050"/>
            </a:solidFill>
          </a:ln>
        </p:spPr>
        <p:txBody>
          <a:bodyPr wrap="square" lIns="36000" tIns="0" rIns="36000" bIns="0" rtlCol="0" anchor="ctr">
            <a:noAutofit/>
          </a:bodyPr>
          <a:lstStyle/>
          <a:p>
            <a:pPr>
              <a:spcBef>
                <a:spcPts val="600"/>
              </a:spcBef>
              <a:buSzPct val="100000"/>
            </a:pPr>
            <a:r>
              <a:rPr lang="en-US" sz="1400" b="1" dirty="0" smtClean="0">
                <a:solidFill>
                  <a:srgbClr val="313131"/>
                </a:solidFill>
              </a:rPr>
              <a:t>Technology transfer</a:t>
            </a:r>
            <a:endParaRPr lang="en-IN" sz="1400" b="1" dirty="0" smtClean="0">
              <a:solidFill>
                <a:srgbClr val="313131"/>
              </a:solidFill>
            </a:endParaRPr>
          </a:p>
        </p:txBody>
      </p:sp>
      <p:sp>
        <p:nvSpPr>
          <p:cNvPr id="9" name="TextBox 8"/>
          <p:cNvSpPr txBox="1"/>
          <p:nvPr/>
        </p:nvSpPr>
        <p:spPr>
          <a:xfrm>
            <a:off x="2078182" y="6330879"/>
            <a:ext cx="8147562" cy="549036"/>
          </a:xfrm>
          <a:prstGeom prst="rect">
            <a:avLst/>
          </a:prstGeom>
          <a:noFill/>
          <a:ln>
            <a:solidFill>
              <a:srgbClr val="92D050"/>
            </a:solidFill>
          </a:ln>
        </p:spPr>
        <p:txBody>
          <a:bodyPr wrap="square" lIns="36000" tIns="0" rIns="36000" bIns="0" rtlCol="0" anchor="ctr">
            <a:noAutofit/>
          </a:bodyPr>
          <a:lstStyle/>
          <a:p>
            <a:pPr marL="285750" indent="-285750" algn="just">
              <a:spcBef>
                <a:spcPts val="600"/>
              </a:spcBef>
              <a:buSzPct val="100000"/>
              <a:buFont typeface="Arial" panose="020B0604020202020204" pitchFamily="34" charset="0"/>
              <a:buChar char="•"/>
            </a:pPr>
            <a:r>
              <a:rPr lang="en-US" sz="1400" dirty="0">
                <a:solidFill>
                  <a:srgbClr val="313131"/>
                </a:solidFill>
              </a:rPr>
              <a:t>Transfer of technology is to be given due consideration in development of the power sector</a:t>
            </a:r>
            <a:endParaRPr lang="en-US" sz="1400" dirty="0" smtClean="0">
              <a:solidFill>
                <a:srgbClr val="313131"/>
              </a:solidFill>
            </a:endParaRPr>
          </a:p>
        </p:txBody>
      </p:sp>
      <p:sp>
        <p:nvSpPr>
          <p:cNvPr id="10" name="Pentagon 9">
            <a:hlinkClick r:id="rId2" action="ppaction://hlinksldjump"/>
          </p:cNvPr>
          <p:cNvSpPr/>
          <p:nvPr/>
        </p:nvSpPr>
        <p:spPr bwMode="gray">
          <a:xfrm flipH="1">
            <a:off x="9863137" y="72450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220118337"/>
      </p:ext>
    </p:extLst>
  </p:cSld>
  <p:clrMapOvr>
    <a:masterClrMapping/>
  </p:clrMapOvr>
  <p:transition>
    <p:fad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black"/>
                </a:solidFill>
              </a:rPr>
              <a:t>4. Proposed High level roles &amp; responsibilities under Holding Company</a:t>
            </a:r>
            <a:endParaRPr lang="en-US" sz="5400" dirty="0">
              <a:solidFill>
                <a:prstClr val="black"/>
              </a:solidFill>
            </a:endParaRPr>
          </a:p>
        </p:txBody>
      </p:sp>
    </p:spTree>
    <p:extLst>
      <p:ext uri="{BB962C8B-B14F-4D97-AF65-F5344CB8AC3E}">
        <p14:creationId xmlns:p14="http://schemas.microsoft.com/office/powerpoint/2010/main" val="25772514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(1/12)</a:t>
            </a:r>
            <a:endParaRPr lang="en-IN" sz="2000" b="1" dirty="0">
              <a:solidFill>
                <a:schemeClr val="accent1">
                  <a:lumMod val="75000"/>
                </a:schemeClr>
              </a:solidFill>
            </a:endParaRPr>
          </a:p>
        </p:txBody>
      </p:sp>
      <p:graphicFrame>
        <p:nvGraphicFramePr>
          <p:cNvPr id="5" name="Table 4"/>
          <p:cNvGraphicFramePr>
            <a:graphicFrameLocks noGrp="1"/>
          </p:cNvGraphicFramePr>
          <p:nvPr>
            <p:extLst/>
          </p:nvPr>
        </p:nvGraphicFramePr>
        <p:xfrm>
          <a:off x="439792" y="1063540"/>
          <a:ext cx="9785952" cy="4312920"/>
        </p:xfrm>
        <a:graphic>
          <a:graphicData uri="http://schemas.openxmlformats.org/drawingml/2006/table">
            <a:tbl>
              <a:tblPr firstRow="1" bandRow="1">
                <a:tableStyleId>{69012ECD-51FC-41F1-AA8D-1B2483CD663E}</a:tableStyleId>
              </a:tblPr>
              <a:tblGrid>
                <a:gridCol w="1476095"/>
                <a:gridCol w="8309857"/>
              </a:tblGrid>
              <a:tr h="370840">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370840">
                <a:tc>
                  <a:txBody>
                    <a:bodyPr/>
                    <a:lstStyle/>
                    <a:p>
                      <a:r>
                        <a:rPr lang="en-US" sz="1200" dirty="0" smtClean="0"/>
                        <a:t>Training</a:t>
                      </a:r>
                      <a:endParaRPr lang="en-IN" sz="1200" dirty="0"/>
                    </a:p>
                  </a:txBody>
                  <a:tcPr/>
                </a:tc>
                <a:tc>
                  <a:txBody>
                    <a:bodyPr/>
                    <a:lstStyle/>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Arrangement and implementation of training programs for all the level of officers/ employees according to the demand of the field.</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prepare training policy for the practical training of the company officials/ employees.</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regularly coordinate with the Ministries, Donor agencies and other related organization for arranging foreign training and nomination of suitable candidates for the same.</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monitor the activities under training centers and to take proper steps for development of these training centers.</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take steps to send Company officials to various Government / private training institutions inside the country.</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take necessary steps for the implementation of manpower development in order to modernize the training program of the company.</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evaluate training programs and provide reports to higher authority, if necessary. </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provide reports on overall training activities to higher authority. </a:t>
                      </a:r>
                      <a:endParaRPr lang="en-IN" sz="1200" dirty="0" smtClean="0">
                        <a:effectLst/>
                      </a:endParaRPr>
                    </a:p>
                    <a:p>
                      <a:pPr marL="180000" lvl="0" indent="-180000" algn="l" fontAlgn="auto">
                        <a:lnSpc>
                          <a:spcPct val="100000"/>
                        </a:lnSpc>
                        <a:spcBef>
                          <a:spcPts val="600"/>
                        </a:spcBef>
                        <a:spcAft>
                          <a:spcPts val="0"/>
                        </a:spcAft>
                        <a:buFont typeface="Symbol" panose="05050102010706020507" pitchFamily="18" charset="2"/>
                        <a:buChar char=""/>
                      </a:pPr>
                      <a:r>
                        <a:rPr lang="en-US" sz="1200" dirty="0" smtClean="0">
                          <a:effectLst/>
                        </a:rPr>
                        <a:t>To undertake training sessions / classes at different training centers of the Company as a trainer.</a:t>
                      </a:r>
                      <a:endParaRPr lang="en-IN" sz="1200" dirty="0" smtClean="0">
                        <a:effectLst/>
                      </a:endParaRPr>
                    </a:p>
                    <a:p>
                      <a:pPr marL="180000" lvl="0" indent="-180000" algn="l" fontAlgn="auto">
                        <a:lnSpc>
                          <a:spcPct val="100000"/>
                        </a:lnSpc>
                        <a:spcBef>
                          <a:spcPts val="600"/>
                        </a:spcBef>
                        <a:spcAft>
                          <a:spcPts val="600"/>
                        </a:spcAft>
                        <a:buFont typeface="Symbol" panose="05050102010706020507" pitchFamily="18" charset="2"/>
                        <a:buChar char=""/>
                      </a:pPr>
                      <a:r>
                        <a:rPr lang="en-US" sz="1200" dirty="0" smtClean="0">
                          <a:effectLst/>
                        </a:rPr>
                        <a:t>To perform duties according to the vested administrative and financial powers.</a:t>
                      </a:r>
                      <a:endParaRPr lang="en-IN" sz="1200" dirty="0" smtClean="0">
                        <a:effectLst/>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effectLst/>
                        </a:rPr>
                        <a:t>To perform any other duties assigned by the higher authorities from time to time.</a:t>
                      </a:r>
                      <a:endParaRPr lang="en-IN" sz="1200" kern="1200" dirty="0">
                        <a:solidFill>
                          <a:schemeClr val="dk1"/>
                        </a:solidFill>
                        <a:effectLst/>
                        <a:latin typeface="Calibri" panose="020F0502020204030204" pitchFamily="34" charset="0"/>
                        <a:ea typeface="Times" panose="02020603050405020304" pitchFamily="18" charset="0"/>
                        <a:cs typeface="Arial" panose="020B0604020202020204" pitchFamily="34" charset="0"/>
                      </a:endParaRPr>
                    </a:p>
                  </a:txBody>
                  <a:tcPr/>
                </a:tc>
              </a:tr>
            </a:tbl>
          </a:graphicData>
        </a:graphic>
      </p:graphicFrame>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33728915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188459"/>
          <a:ext cx="9785952" cy="5930798"/>
        </p:xfrm>
        <a:graphic>
          <a:graphicData uri="http://schemas.openxmlformats.org/drawingml/2006/table">
            <a:tbl>
              <a:tblPr firstRow="1" bandRow="1">
                <a:tableStyleId>{69012ECD-51FC-41F1-AA8D-1B2483CD663E}</a:tableStyleId>
              </a:tblPr>
              <a:tblGrid>
                <a:gridCol w="1476095"/>
                <a:gridCol w="8309857"/>
              </a:tblGrid>
              <a:tr h="496994">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5433804">
                <a:tc>
                  <a:txBody>
                    <a:bodyPr/>
                    <a:lstStyle/>
                    <a:p>
                      <a:r>
                        <a:rPr lang="en-US" sz="1200" dirty="0" smtClean="0"/>
                        <a:t>Training</a:t>
                      </a:r>
                      <a:r>
                        <a:rPr lang="en-US" sz="1200" baseline="0" dirty="0" smtClean="0"/>
                        <a:t> &amp; Career Development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Arrangement and implementation of training programs for all the level of officers/ employees according to the demand of the field.</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training policy for the practical training of the company officials/ employees.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regularly coordinate with the Ministries, Donor agencies and other related organization for arranging foreign training and nomination of suitable candidates for the same.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monitor the activities under training centers and to take proper steps for development of these training centers.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steps to send Company officials to various Government / private training institutions inside the country.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necessary steps for the implementation of manpower development in order to modernize the training program of the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budget for the development of the Directorate of Training Professionals, Development and training centers under it.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evaluate training programs and provide reports to higher authority, if necessary.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reports on overall training activities to higher authority.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undertake training sessions / classes at different training centers of the Company as a trainer.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arrange proper training for the probationer.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select the probationers according to the annual report of Engineering Academy, </a:t>
                      </a:r>
                      <a:r>
                        <a:rPr lang="en-US" sz="1200" kern="1200" dirty="0" err="1" smtClean="0">
                          <a:solidFill>
                            <a:schemeClr val="tx1"/>
                          </a:solidFill>
                          <a:effectLst/>
                          <a:latin typeface="+mn-lt"/>
                          <a:ea typeface="+mn-ea"/>
                          <a:cs typeface="+mn-cs"/>
                        </a:rPr>
                        <a:t>Kaptai</a:t>
                      </a:r>
                      <a:r>
                        <a:rPr lang="en-US" sz="1200" kern="1200" dirty="0" smtClean="0">
                          <a:solidFill>
                            <a:schemeClr val="tx1"/>
                          </a:solidFill>
                          <a:effectLst/>
                          <a:latin typeface="+mn-lt"/>
                          <a:ea typeface="+mn-ea"/>
                          <a:cs typeface="+mn-cs"/>
                        </a:rPr>
                        <a:t> and to assist the Directors related to these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authorities from time to time.</a:t>
                      </a:r>
                      <a:endParaRPr lang="en-IN" sz="1200" kern="1200" dirty="0">
                        <a:solidFill>
                          <a:schemeClr val="tx1"/>
                        </a:solidFill>
                        <a:effectLst/>
                        <a:latin typeface="+mn-lt"/>
                        <a:ea typeface="+mn-ea"/>
                        <a:cs typeface="+mn-cs"/>
                      </a:endParaRPr>
                    </a:p>
                  </a:txBody>
                  <a:tcPr/>
                </a:tc>
              </a:tr>
            </a:tbl>
          </a:graphicData>
        </a:graphic>
      </p:graphicFrame>
      <p:sp>
        <p:nvSpPr>
          <p:cNvPr id="7"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(2/12)</a:t>
            </a:r>
            <a:endParaRPr lang="en-IN" sz="2000" b="1" dirty="0">
              <a:solidFill>
                <a:schemeClr val="accent1">
                  <a:lumMod val="75000"/>
                </a:schemeClr>
              </a:solidFill>
            </a:endParaRPr>
          </a:p>
        </p:txBody>
      </p:sp>
      <p:sp>
        <p:nvSpPr>
          <p:cNvPr id="8" name="Pentagon 7">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75148819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8518"/>
          <a:ext cx="9785952" cy="623316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Engineering Academy, </a:t>
                      </a:r>
                      <a:r>
                        <a:rPr lang="en-US" sz="1200" dirty="0" err="1" smtClean="0"/>
                        <a:t>Kaptai</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preparation of Academy's annual training schedule and to implement it properly.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Coordination of training activities and to supervise overall activities of academy.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Ensure arrangements for basic training and other training of newly appointed officers.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Authority time to time.</a:t>
                      </a:r>
                      <a:endParaRPr lang="en-IN" sz="1200" kern="1200" dirty="0">
                        <a:solidFill>
                          <a:schemeClr val="tx1"/>
                        </a:solidFill>
                        <a:effectLst/>
                        <a:latin typeface="+mn-lt"/>
                        <a:ea typeface="+mn-ea"/>
                        <a:cs typeface="+mn-cs"/>
                      </a:endParaRPr>
                    </a:p>
                  </a:txBody>
                  <a:tcPr/>
                </a:tc>
              </a:tr>
              <a:tr h="1750708">
                <a:tc>
                  <a:txBody>
                    <a:bodyPr/>
                    <a:lstStyle/>
                    <a:p>
                      <a:r>
                        <a:rPr lang="en-IN" sz="1200" dirty="0" smtClean="0"/>
                        <a:t>Training Academy, Cox’s Bazar</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properly implement of the Training Academy Schedule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the annual report of the Training.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the overall activities of the Training Academy with the coordination and management of the Training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basic training for the newly appointed employees of the Power Sector and Holding Company and to ensure for providing training for the others.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administrative and financial responsibilities in accordance with the administrative and financial capabilities.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a:solidFill>
                          <a:schemeClr val="tx1"/>
                        </a:solidFill>
                        <a:effectLst/>
                        <a:latin typeface="+mn-lt"/>
                        <a:ea typeface="+mn-ea"/>
                        <a:cs typeface="+mn-cs"/>
                      </a:endParaRPr>
                    </a:p>
                  </a:txBody>
                  <a:tcPr/>
                </a:tc>
              </a:tr>
              <a:tr h="1750708">
                <a:tc>
                  <a:txBody>
                    <a:bodyPr/>
                    <a:lstStyle/>
                    <a:p>
                      <a:r>
                        <a:rPr lang="en-IN" sz="1200" dirty="0" smtClean="0"/>
                        <a:t>Training Centre, </a:t>
                      </a:r>
                      <a:r>
                        <a:rPr lang="en-IN" sz="1200" dirty="0" err="1" smtClean="0"/>
                        <a:t>Rajshahi</a:t>
                      </a:r>
                      <a:r>
                        <a:rPr lang="en-IN" sz="1200" dirty="0" smtClean="0"/>
                        <a:t>,</a:t>
                      </a:r>
                      <a:r>
                        <a:rPr lang="en-IN" sz="1200" baseline="0" dirty="0" smtClean="0"/>
                        <a:t> </a:t>
                      </a:r>
                      <a:r>
                        <a:rPr lang="en-IN" sz="1200" dirty="0" err="1" smtClean="0"/>
                        <a:t>Ghorashal</a:t>
                      </a:r>
                      <a:r>
                        <a:rPr lang="en-IN" sz="1200" dirty="0" smtClean="0"/>
                        <a:t> &amp; Chittagong</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properly implement of the Training Centre Schedule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the annual report of the Training.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the overall activities of the Training Centre with the coordination and management of the Training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basic training for the newly appointed employees of the Power Sector and Holding Company and to ensure for providing training for the others.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administrative and financial responsibilities in accordance with the administrative and financial capabilities.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a:solidFill>
                          <a:schemeClr val="tx1"/>
                        </a:solidFill>
                        <a:effectLst/>
                        <a:latin typeface="+mn-lt"/>
                        <a:ea typeface="+mn-ea"/>
                        <a:cs typeface="+mn-cs"/>
                      </a:endParaRPr>
                    </a:p>
                  </a:txBody>
                  <a:tcPr/>
                </a:tc>
              </a:tr>
            </a:tbl>
          </a:graphicData>
        </a:graphic>
      </p:graphicFrame>
      <p:sp>
        <p:nvSpPr>
          <p:cNvPr id="7"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(3/12)</a:t>
            </a:r>
            <a:endParaRPr lang="en-IN" sz="2000" b="1" dirty="0">
              <a:solidFill>
                <a:schemeClr val="accent1">
                  <a:lumMod val="75000"/>
                </a:schemeClr>
              </a:solidFill>
            </a:endParaRPr>
          </a:p>
        </p:txBody>
      </p:sp>
      <p:sp>
        <p:nvSpPr>
          <p:cNvPr id="8" name="Pentagon 7">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3888026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8518"/>
          <a:ext cx="9785952" cy="431292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Enquiry &amp; Discipline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necessary steps depending on the initial enquiry related to the different source of complain against the staff/ employees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enquiry and disciplinary activities and to take necessary steps according to the Holding Company rules &amp; applicable Company Laws in force in Bangladesh.</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action against the concerned officials and prepare charge sheet on the basis of the initial investigation report received from various sources.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action over and above the formal investigation if it is not satisfactory.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legal settlement based on the investigation report submitted by the investigating officer.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settle the appeals received (if any) from the punished officers / employees.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and prepare the court cases in relation to departmental disciplinary cases and to assist the lawyers appointed.</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appoint prosecutor and enquiry officer (Employee) for managing divisional cases.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If the charges against the officials are established/proved by the concerned authority, they will be presented to the authorities for punishment and take effective action according to the decision.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authority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(4/12)</a:t>
            </a:r>
            <a:endParaRPr lang="en-IN" sz="2000" b="1" dirty="0">
              <a:solidFill>
                <a:schemeClr val="accent1">
                  <a:lumMod val="75000"/>
                </a:schemeClr>
              </a:solidFill>
            </a:endParaRPr>
          </a:p>
        </p:txBody>
      </p:sp>
      <p:sp>
        <p:nvSpPr>
          <p:cNvPr id="7" name="Pentagon 6">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30722159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71449"/>
          <a:ext cx="9785952" cy="6210300"/>
        </p:xfrm>
        <a:graphic>
          <a:graphicData uri="http://schemas.openxmlformats.org/drawingml/2006/table">
            <a:tbl>
              <a:tblPr firstRow="1" bandRow="1">
                <a:tableStyleId>{69012ECD-51FC-41F1-AA8D-1B2483CD663E}</a:tableStyleId>
              </a:tblPr>
              <a:tblGrid>
                <a:gridCol w="1359028"/>
                <a:gridCol w="8426924"/>
              </a:tblGrid>
              <a:tr h="389972">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5247288">
                <a:tc>
                  <a:txBody>
                    <a:bodyPr/>
                    <a:lstStyle/>
                    <a:p>
                      <a:r>
                        <a:rPr lang="en-US" sz="1200" dirty="0" smtClean="0"/>
                        <a:t>Labor</a:t>
                      </a:r>
                      <a:r>
                        <a:rPr lang="en-US" sz="1200" baseline="0" dirty="0" smtClean="0"/>
                        <a:t> &amp; Welfare Department</a:t>
                      </a:r>
                      <a:endParaRPr lang="en-IN" sz="1200" dirty="0"/>
                    </a:p>
                  </a:txBody>
                  <a:tcPr/>
                </a:tc>
                <a:tc>
                  <a:txBody>
                    <a:bodyPr/>
                    <a:lstStyle/>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Advise holding company management on the proposals for industrial disputes and workers' demands.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execute joint bargain, bilateral, tripartite discussion, conciliation, agreement.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and propose Company position on aspects related to the trade union registration, selection of collective bargaining agent activities.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Apply Labor Laws to the Company activities &amp; prepare recommendations on amendment to them for the Government, if required</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execute activities related to the factory registration and renewable of the same.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of the overall activities related to the participation committee.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proposal to the Company Management regarding employee's apparel, umbrella, shoe and wages of additional work.</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proposal to the Company Management regarding foreign visit of trade union leaders.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the Company Management with the collected opinion/merit of each individual case of the candidates to have benefit from the welfare fund and present the requirements raised by the candidates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proposal to the concern authority for approving compensation cases under Compensation Act, Fatal Accident Act and Electricity Act.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proposal to the Company Management related to problems identified by cooperative/association.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various activities related to staff buses.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Presenting proposal to the Company Management related to employment of dependents and for the payment of compensation of deceased / retired employees.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evaluate activities of the employee of labor and welfare department in the field level, to examine monthly report received by them, to take necessary steps on training regarding industrial relation for increasing professional skill.</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necessary steps for training the nominated labor staffs.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coordinate the welfare activities of the Company covering the various SBU / SBUs / Plants.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(5/12)</a:t>
            </a:r>
            <a:endParaRPr lang="en-IN" sz="2000" b="1" dirty="0">
              <a:solidFill>
                <a:schemeClr val="accent1">
                  <a:lumMod val="75000"/>
                </a:schemeClr>
              </a:solidFill>
            </a:endParaRPr>
          </a:p>
        </p:txBody>
      </p:sp>
      <p:sp>
        <p:nvSpPr>
          <p:cNvPr id="7" name="Pentagon 6">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93141675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8518"/>
          <a:ext cx="9785952" cy="464820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Estate &amp; Transport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monitor and execute proper activities/ steps related to the Estate and Transports according to the framed rules &amp; regulations, guidance/ instruction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present working paper to the higher authority or for Company Meetings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arrange accommodation for both office and residential required for use by the Company officials and department and to renew the lease.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appropriate action in accordance with the decision of the Company Management regarding purchase and distribution of new vehicles.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proper management of central transports and workshop for repair.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fulfill the duties &amp; responsibilities for purchasing land, requisition / acquisition, for the purpose of the operations of the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telephone allocation to the officers on availability basis.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Allotment of the quarters of the Company situated in the areas of Dhaka city.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arrangement and maintenance of the Immovable and movable assets of the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repair the vehicles of the Company through the Central Vehicle Repair Workshop.</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regulate and maintain the rest houses under Company ownership.</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authorities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(6/12)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84903612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45142"/>
          <a:ext cx="9785952" cy="614172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Personnel Department</a:t>
                      </a:r>
                      <a:endParaRPr lang="en-IN" sz="1200" dirty="0"/>
                    </a:p>
                  </a:txBody>
                  <a:tcPr/>
                </a:tc>
                <a:tc>
                  <a:txBody>
                    <a:bodyPr/>
                    <a:lstStyle/>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recruitment, posting, confirmation of employment/ regularization, exceeding competence, replacement, promotion, departmental examination, annual confidential report and adverse remarks for the posts of first and second class officers in line with Company Rules.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sanction leave of senior officials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Appropriate arrangements for recruitment, posting, employment / regularization of sub assistant engineers, inter-zonal transfer, promotion, annual confidential report, and adverse remarks.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Arranging the senor list of all the cadre-based officials and publication of the same in booklets.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the seniority list of 1st class and 2nd class officer in order to promote the rank of first and second class officers.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developing compensation strategy for organization to ensure competitiveness in the market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Providing Selection Grade Scale in Assistant Engineer/ Assistant Director.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the implementation of national pay scale and all related work.</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sanction preparatory leave for retirement.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administrative and financial activities according to the administrative and financial rules.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process pension allowance, group insurance allowance, gratuity and leave encashment.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service related to third and fourth class employees in other companies within the country and take necessary steps for the provision of higher education.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maintains the seniority list and to recruit and posting for the position of J. A. A. and Assistant Accounts Officer.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the overall activates related to construction of house/ repair of house/ purchase of land/ distribution of loan to the staff/ employee of Holding Company.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the overall activities related to discipline and behavior of the employee of the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4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authority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(7/12)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77231013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3" y="1111518"/>
          <a:ext cx="9785951" cy="4693920"/>
        </p:xfrm>
        <a:graphic>
          <a:graphicData uri="http://schemas.openxmlformats.org/drawingml/2006/table">
            <a:tbl>
              <a:tblPr firstRow="1" bandRow="1">
                <a:tableStyleId>{69012ECD-51FC-41F1-AA8D-1B2483CD663E}</a:tableStyleId>
              </a:tblPr>
              <a:tblGrid>
                <a:gridCol w="1410432"/>
                <a:gridCol w="8375519"/>
              </a:tblGrid>
              <a:tr h="29250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439764">
                <a:tc>
                  <a:txBody>
                    <a:bodyPr/>
                    <a:lstStyle/>
                    <a:p>
                      <a:r>
                        <a:rPr lang="en-US" sz="1200" dirty="0" smtClean="0"/>
                        <a:t>HR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Oversee the manpower planning &amp; recruitment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Prepare/update the recruitment &amp; hiring related policies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Identifying appropriate sources of talent and talent profiles of Holding Company, develop and implement HR best practices for talent acquisition and retention to build a cadre for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Manage and update the employee database including employee personal information, salary information, employee performance history and promotion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Direct company’s IR policy, guide and advice plant HR team on management of employee relations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Handle activities related to employee retirement and claim settlements in coordination with Pension &amp; PF cell and Payroll Cell</a:t>
                      </a:r>
                      <a:endParaRPr lang="en-IN" sz="1200" kern="1200" dirty="0" smtClean="0">
                        <a:solidFill>
                          <a:schemeClr val="tx1"/>
                        </a:solidFill>
                        <a:effectLst/>
                        <a:latin typeface="+mn-lt"/>
                        <a:ea typeface="+mn-ea"/>
                        <a:cs typeface="+mn-cs"/>
                      </a:endParaRPr>
                    </a:p>
                  </a:txBody>
                  <a:tcPr/>
                </a:tc>
              </a:tr>
              <a:tr h="1140761">
                <a:tc>
                  <a:txBody>
                    <a:bodyPr/>
                    <a:lstStyle/>
                    <a:p>
                      <a:r>
                        <a:rPr lang="en-US" sz="1200" dirty="0" smtClean="0"/>
                        <a:t>Performance</a:t>
                      </a:r>
                      <a:r>
                        <a:rPr lang="en-US" sz="1200" baseline="0" dirty="0" smtClean="0"/>
                        <a:t>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Responsible for developing and facilitating setting of performance objectives in line with business strategy, monitor and review feedback processes, oversee performance initiatives and educate employees on performance management process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Review and prepare annual performance framework for target settings and evolve KPIs for employees in individual departments</a:t>
                      </a: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IN" sz="1200" kern="1200" dirty="0" smtClean="0">
                          <a:solidFill>
                            <a:schemeClr val="tx1"/>
                          </a:solidFill>
                          <a:effectLst/>
                          <a:latin typeface="+mn-lt"/>
                          <a:ea typeface="+mn-ea"/>
                          <a:cs typeface="+mn-cs"/>
                        </a:rPr>
                        <a:t>Execute the performance management cycle by facilitating employees to set targets, track and review actual performance </a:t>
                      </a:r>
                      <a:r>
                        <a:rPr lang="en-IN" sz="1200" kern="1200" dirty="0" err="1" smtClean="0">
                          <a:solidFill>
                            <a:schemeClr val="tx1"/>
                          </a:solidFill>
                          <a:effectLst/>
                          <a:latin typeface="+mn-lt"/>
                          <a:ea typeface="+mn-ea"/>
                          <a:cs typeface="+mn-cs"/>
                        </a:rPr>
                        <a:t>viz</a:t>
                      </a:r>
                      <a:r>
                        <a:rPr lang="en-IN" sz="1200" kern="1200" dirty="0" smtClean="0">
                          <a:solidFill>
                            <a:schemeClr val="tx1"/>
                          </a:solidFill>
                          <a:effectLst/>
                          <a:latin typeface="+mn-lt"/>
                          <a:ea typeface="+mn-ea"/>
                          <a:cs typeface="+mn-cs"/>
                        </a:rPr>
                        <a:t>-a-</a:t>
                      </a:r>
                      <a:r>
                        <a:rPr lang="en-IN" sz="1200" kern="1200" dirty="0" err="1" smtClean="0">
                          <a:solidFill>
                            <a:schemeClr val="tx1"/>
                          </a:solidFill>
                          <a:effectLst/>
                          <a:latin typeface="+mn-lt"/>
                          <a:ea typeface="+mn-ea"/>
                          <a:cs typeface="+mn-cs"/>
                        </a:rPr>
                        <a:t>viz</a:t>
                      </a:r>
                      <a:r>
                        <a:rPr lang="en-IN" sz="1200" kern="1200" dirty="0" smtClean="0">
                          <a:solidFill>
                            <a:schemeClr val="tx1"/>
                          </a:solidFill>
                          <a:effectLst/>
                          <a:latin typeface="+mn-lt"/>
                          <a:ea typeface="+mn-ea"/>
                          <a:cs typeface="+mn-cs"/>
                        </a:rPr>
                        <a:t> target and evaluate and rate the employee performance</a:t>
                      </a: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Facilitate finalization of employee appraisal results, increment, bonus and promotions</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(8/12)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6625713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3" y="1097241"/>
          <a:ext cx="9785951" cy="2758440"/>
        </p:xfrm>
        <a:graphic>
          <a:graphicData uri="http://schemas.openxmlformats.org/drawingml/2006/table">
            <a:tbl>
              <a:tblPr firstRow="1" bandRow="1">
                <a:tableStyleId>{69012ECD-51FC-41F1-AA8D-1B2483CD663E}</a:tableStyleId>
              </a:tblPr>
              <a:tblGrid>
                <a:gridCol w="1410432"/>
                <a:gridCol w="8375519"/>
              </a:tblGrid>
              <a:tr h="29250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407264">
                <a:tc>
                  <a:txBody>
                    <a:bodyPr/>
                    <a:lstStyle/>
                    <a:p>
                      <a:r>
                        <a:rPr lang="en-US" sz="1200" dirty="0" smtClean="0"/>
                        <a:t>Group</a:t>
                      </a:r>
                      <a:r>
                        <a:rPr lang="en-US" sz="1200" baseline="0" dirty="0" smtClean="0"/>
                        <a:t> HR Administration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To coordinate with subsidiary companies of holding company for preparing their manpower plan for the year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Prepare consolidated plans, where possible, for recruitment of manpower for holding company and subsidiaries based on input received from HR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Conduct joint recruitment for personnel to ensure least cost recruitment process for holding &amp; subsidiary companies, where possible</a:t>
                      </a: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IN" sz="1200" kern="1200" dirty="0" smtClean="0">
                          <a:solidFill>
                            <a:schemeClr val="tx1"/>
                          </a:solidFill>
                          <a:effectLst/>
                          <a:latin typeface="+mn-lt"/>
                          <a:ea typeface="+mn-ea"/>
                          <a:cs typeface="+mn-cs"/>
                        </a:rPr>
                        <a:t>Prepare group training &amp; development plan for new as well as existing employees of the holding &amp; subsidiary companies</a:t>
                      </a: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IN" sz="1200" kern="1200" dirty="0" smtClean="0">
                          <a:solidFill>
                            <a:schemeClr val="tx1"/>
                          </a:solidFill>
                          <a:effectLst/>
                          <a:latin typeface="+mn-lt"/>
                          <a:ea typeface="+mn-ea"/>
                          <a:cs typeface="+mn-cs"/>
                        </a:rPr>
                        <a:t>Conduct joint training of all holding &amp; subsidiary employees, where possible, companies at suitable training centres of holding &amp; subsidiary companies in coordination with HR department of the latter</a:t>
                      </a: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(9/12)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60108252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132227"/>
          <a:ext cx="9785952" cy="519684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Medical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necessary advice to the Holding Company management for formulating and implementing the policy related to treatment of the employees of holding company and their dependents.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medical treatment to the sick staffs/ employees based on recommendation from various medical centers of the holding company and for better treatment, if needed.</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treatment to officers and employees and to arrange treatment at home for emergency needs.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as Chief of” Medical Board” formed by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liaise with the health department / hospital and other departments of the government regarding treatment of any employee.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all measures for the treatment of the employees in Government hospital or clinic approved by the Government for the holding company staffs/ employees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health related certificate to the newly appointed staffs/ employees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certify the health of any employee / officer of the holding company who is traveling abroad.</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proper advice if any official / employee of the holding company have any complication related to health.</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advice, guideline and instruction related to the medical officers of holding company.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necessary measures for ensuring health service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administrative and financial responsibilities in accordance with the administrative and financial capabilities.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authority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(10/12)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5502383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3" y="983311"/>
          <a:ext cx="9785951" cy="6288346"/>
        </p:xfrm>
        <a:graphic>
          <a:graphicData uri="http://schemas.openxmlformats.org/drawingml/2006/table">
            <a:tbl>
              <a:tblPr firstRow="1" bandRow="1">
                <a:tableStyleId>{69012ECD-51FC-41F1-AA8D-1B2483CD663E}</a:tableStyleId>
              </a:tblPr>
              <a:tblGrid>
                <a:gridCol w="1211505"/>
                <a:gridCol w="8574446"/>
              </a:tblGrid>
              <a:tr h="468844">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865415">
                <a:tc>
                  <a:txBody>
                    <a:bodyPr/>
                    <a:lstStyle/>
                    <a:p>
                      <a:r>
                        <a:rPr lang="en-US" sz="1200" dirty="0" smtClean="0"/>
                        <a:t>Organization</a:t>
                      </a:r>
                      <a:r>
                        <a:rPr lang="en-US" sz="1200" baseline="0" dirty="0" smtClean="0"/>
                        <a:t> &amp; Method Department</a:t>
                      </a:r>
                      <a:endParaRPr lang="en-IN" sz="1200" dirty="0"/>
                    </a:p>
                  </a:txBody>
                  <a:tcPr/>
                </a:tc>
                <a:tc>
                  <a:txBody>
                    <a:bodyPr/>
                    <a:lstStyle/>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Responsible for organizational studies and development of Methods and procedures towards   organizational changes and its manpower requirement.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Standardization of forms, transports and equipment and office layout.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and revision of Service Rules, Delegation of Power etc.</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job Description of Officers and staff.</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conduct studies towards work improvement.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Creation, retention and abolition of posts.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render management advice to field offices</a:t>
                      </a:r>
                    </a:p>
                    <a:p>
                      <a:pPr marL="180000" lvl="0" indent="-180000" algn="l" defTabSz="1008400" rtl="0" eaLnBrk="1" fontAlgn="auto" latinLnBrk="0" hangingPunct="1">
                        <a:lnSpc>
                          <a:spcPct val="100000"/>
                        </a:lnSpc>
                        <a:spcBef>
                          <a:spcPts val="3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 assigned by the Holding Company.</a:t>
                      </a:r>
                      <a:endParaRPr lang="en-IN" sz="1200" kern="1200" dirty="0" smtClean="0">
                        <a:solidFill>
                          <a:schemeClr val="tx1"/>
                        </a:solidFill>
                        <a:effectLst/>
                        <a:latin typeface="+mn-lt"/>
                        <a:ea typeface="+mn-ea"/>
                        <a:cs typeface="+mn-cs"/>
                      </a:endParaRPr>
                    </a:p>
                  </a:txBody>
                  <a:tcPr/>
                </a:tc>
              </a:tr>
              <a:tr h="3739242">
                <a:tc>
                  <a:txBody>
                    <a:bodyPr/>
                    <a:lstStyle/>
                    <a:p>
                      <a:r>
                        <a:rPr lang="en-US" sz="1200" dirty="0" smtClean="0"/>
                        <a:t>Security &amp; Investigation Department</a:t>
                      </a:r>
                      <a:endParaRPr lang="en-IN" sz="1200" dirty="0"/>
                    </a:p>
                  </a:txBody>
                  <a:tcPr/>
                </a:tc>
                <a:tc>
                  <a:txBody>
                    <a:bodyPr/>
                    <a:lstStyle/>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overall security of various departments, installations and buildings including key installations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initiate the preliminary investigation work on complaints received by the authorities.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inform the authority about collecting information for corruption and dishonest activities of the officials/ employees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inform the authorities about anti-profit activities of the company, adverse reactions and feedback.</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proper implementation of the Holding Company’s Security Rules.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monitor the initial investigation completed on the various complaints raised against the officers / employees of the holding company which will be submitted to the authorities.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Immediately inform the authorities about the up-to-date report of the Company’s effective intelligence system.</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Hiring of security agencies and oversee security of the office and plant premises based on requirement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inspect and monitor various areas of the holding company in order to keep the overall security in place.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the security of the Holding Company and to make recommendations for its improvement and submit it to the Authority.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3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company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(11/12)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13916378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197543"/>
          <a:ext cx="9785952" cy="335280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Safety &amp; Environment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Review and monitor the Safety Environment standards maintained at the organizational level </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Coordinate with Medical Department to assess all health related assessments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Assess HSE reports prepared at Power Plant / SBU / SBUs and identify gaps for mitigation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Monitor the legal legislation, rules and acts relating to environmental, health and safety compliances required for the power plants &amp; holding company premises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Ensure organization wide adherence to HSE standards of the Holding Company and set safety norms as required by regulators &amp; Government agencies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Prepare procurement plan for HSE </a:t>
                      </a:r>
                      <a:r>
                        <a:rPr lang="en-IN" sz="1200" kern="1200" dirty="0" err="1" smtClean="0">
                          <a:solidFill>
                            <a:schemeClr val="tx1"/>
                          </a:solidFill>
                          <a:effectLst/>
                          <a:latin typeface="+mn-lt"/>
                          <a:ea typeface="+mn-ea"/>
                          <a:cs typeface="+mn-cs"/>
                        </a:rPr>
                        <a:t>equipments</a:t>
                      </a:r>
                      <a:r>
                        <a:rPr lang="en-IN" sz="1200" kern="1200" dirty="0" smtClean="0">
                          <a:solidFill>
                            <a:schemeClr val="tx1"/>
                          </a:solidFill>
                          <a:effectLst/>
                          <a:latin typeface="+mn-lt"/>
                          <a:ea typeface="+mn-ea"/>
                          <a:cs typeface="+mn-cs"/>
                        </a:rPr>
                        <a:t> as required for Holding Company in coordination with plant / SBU / SBU level HSE departments</a:t>
                      </a: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IN" sz="1200" kern="1200" dirty="0" smtClean="0">
                          <a:solidFill>
                            <a:schemeClr val="tx1"/>
                          </a:solidFill>
                          <a:effectLst/>
                          <a:latin typeface="+mn-lt"/>
                          <a:ea typeface="+mn-ea"/>
                          <a:cs typeface="+mn-cs"/>
                        </a:rPr>
                        <a:t>Conduct HSE audits for compliance to stipulated standards and assist the HSE Team at SBU / Plant level to conduct the same</a:t>
                      </a: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IN" sz="1200" kern="1200" dirty="0" smtClean="0">
                          <a:solidFill>
                            <a:schemeClr val="tx1"/>
                          </a:solidFill>
                          <a:effectLst/>
                          <a:latin typeface="+mn-lt"/>
                          <a:ea typeface="+mn-ea"/>
                          <a:cs typeface="+mn-cs"/>
                        </a:rPr>
                        <a:t>Coordination with external agencies as required</a:t>
                      </a: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Administration Department (12/12)</a:t>
            </a:r>
            <a:endParaRPr lang="en-IN" sz="2000" b="1" dirty="0">
              <a:solidFill>
                <a:schemeClr val="accent1">
                  <a:lumMod val="75000"/>
                </a:schemeClr>
              </a:solidFill>
            </a:endParaRPr>
          </a:p>
        </p:txBody>
      </p:sp>
      <p:sp>
        <p:nvSpPr>
          <p:cNvPr id="7" name="Pentagon 6">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87835406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197543"/>
          <a:ext cx="9785952" cy="568452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106350">
                <a:tc>
                  <a:txBody>
                    <a:bodyPr/>
                    <a:lstStyle/>
                    <a:p>
                      <a:r>
                        <a:rPr lang="en-US" sz="1200" dirty="0" smtClean="0"/>
                        <a:t>Accounts &amp; Finance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effectively manage the overall accounts and finance related activities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analyzing and explaining rules/ data/ report etc. related to overall finance &amp; accounts and to remain liable for those.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accounts and finance related plan of the holding company and to ensure implementation.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the budget of the holding company and to perform overall budget related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monitor the loan and financial management activities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Monitor taxation management activities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Assist auditors for performing statutory audit as per Government regulations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Supervise preparation of financial reports and maintenance of overall accounts of the holding and subsidiary companies for consolidation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the Higher Authority with related accounts and financial matters of the holding company.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other finance and accounts related administrative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&amp; responsibilities assigned by the Authority time to time. To take steps to send Company officials to various Government / private training institutions inside the country.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necessary steps for the implementation of manpower development in order to modernize the training program of the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evaluate training programs and provide reports to higher authority, if necessary.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reports on overall training activities to higher authority.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undertake training sessions / classes at different training centers of the Company as a trainer.</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duties according to the vested administrative and financial powers.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(1/12)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5880632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6410"/>
          <a:ext cx="9785952" cy="585216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4245314">
                <a:tc>
                  <a:txBody>
                    <a:bodyPr/>
                    <a:lstStyle/>
                    <a:p>
                      <a:r>
                        <a:rPr lang="en-US" sz="1200" dirty="0" smtClean="0"/>
                        <a:t>Accounts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preparing financial report timely and to maintain of the overall accounts relating to income and expenditure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financial reports and maintenance of overall accounts of the holding and subsidiary companies for consolidation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preserve register and to monitor the local and foreign expenditure of the development projects implemented by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records of accounts of all types of assets, including stores, fixed assets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Oversee taxation management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auditors for performing statutory audit to the auditors of the Head Office and regional accounts department  of holding company and to overall supervise the communication and coordination  activities of Auditors and various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the salary and allowances of all the officers and employees according to Government National Pay Scale; to preserve register and documents and to overall supervise by informing the concerned officers and departments.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pension related activities with Pension Payment Order for the retired employee/ staff.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the Controller (Accounts) and holding company for transferring all employees of Accounts and Finance, Commercial Operation and Audit cadre and to provide proposal of transfer related to that cadre.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accounts related information provided by company and all Directorates of company, Ministries, and donor organizations.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assist the company in formulating accounting policies and implementing the approved policies.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(2/12)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09188275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6410"/>
          <a:ext cx="9785952" cy="585216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4245314">
                <a:tc>
                  <a:txBody>
                    <a:bodyPr/>
                    <a:lstStyle/>
                    <a:p>
                      <a:r>
                        <a:rPr lang="en-US" sz="1200" dirty="0" smtClean="0"/>
                        <a:t>Administration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preparing financial report timely and to maintain of the overall accounts relating to income and expenditure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preserve register and to monitor the local and foreign expenditure of the development projects implemented by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financial reports and maintenance of overall accounts of the holding and subsidiary companies for consolidation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records of accounts of all types of assets, including stores, fixed assets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Oversee taxation management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auditors for performing statutory audit to the auditors of the Head Office and regional accounts department  of holding company and to overall supervise the communication and coordination  activities of Auditors and various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the salary and allowances of all the officers and employees according to Government National Pay Scale; to preserve register and documents and to overall supervise by informing the concerned officers and departments.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pension related activities with Pension Payment Order for the retired employee/ staff.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the Controller (Accounts) and holding company for transferring all employees of Accounts and Finance, Commercial Operation and Audit cadre and to provide proposal of transfer related to that cadre.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accounts related information provided by company and all Directorates of company, Ministries, and donor organizations.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assist the company in formulating accounting policies and implementing the approved policies.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(3/12)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73409948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6410"/>
          <a:ext cx="9785952" cy="504444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4245314">
                <a:tc>
                  <a:txBody>
                    <a:bodyPr/>
                    <a:lstStyle/>
                    <a:p>
                      <a:r>
                        <a:rPr lang="en-IN" sz="1200" dirty="0" smtClean="0"/>
                        <a:t>Holding Company Accounts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be responsible for preparing financial report timely and to maintain of the overall accounts relating to income and expenditure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preserve register and to monitor the local and foreign expenditure of the development projects implemented by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Undertake cash management activities for daily cash expenses in coordination with regional offices, SBU / Power Plant level and head office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Monitor and execute payment and receipt of all firm obligations and receivables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Perform taxation management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Coordination with regional accounting offices and SBU / Plant level accounting offices for compilation and preparation of annual accounts of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auditors for performing statutory audit to the auditors of the Head Office and regional accounts department  of holding company and to overall supervise the communication and coordination  activities of Auditors and various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assist the Controller (Accounts) and holding company for transferring all employees of Accounts and Finance, Commercial Operation and Audit cadre and to provide proposal of transfer related to that cadre.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overall supervise the accounts related information provided by company and all Directorates of company, Ministries, and donor organizations.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assist the company in formulating accounting policies and implementing the approved policies.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(4/12)</a:t>
            </a:r>
            <a:endParaRPr lang="en-IN" sz="2000" b="1" dirty="0">
              <a:solidFill>
                <a:schemeClr val="accent1">
                  <a:lumMod val="75000"/>
                </a:schemeClr>
              </a:solidFill>
            </a:endParaRPr>
          </a:p>
        </p:txBody>
      </p:sp>
      <p:sp>
        <p:nvSpPr>
          <p:cNvPr id="7" name="Pentagon 6">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2499171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6410"/>
          <a:ext cx="9785952" cy="484719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211361">
                <a:tc>
                  <a:txBody>
                    <a:bodyPr/>
                    <a:lstStyle/>
                    <a:p>
                      <a:r>
                        <a:rPr lang="en-IN" sz="1200" dirty="0" smtClean="0"/>
                        <a:t>Pension &amp; provident Fund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execute the pension related activities with Pension Payment Order for the retired employee/ staff.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Monitor and assist in annual pension contribution and payout by the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Coordinate with employees to assess the annual contributory provident fund contribution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Monitor advances from the fund and the interest payments arising out of such advances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r h="3003150">
                <a:tc>
                  <a:txBody>
                    <a:bodyPr/>
                    <a:lstStyle/>
                    <a:p>
                      <a:r>
                        <a:rPr lang="en-US" sz="1200" dirty="0" smtClean="0"/>
                        <a:t>Payroll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the salary and allowances of all the officers and employees according to Government National Pay Scale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Prepare salary statements of the employees and provide resolution to any queries raised by them</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Determine accurately salary taxes of the employees of the holding company and arrange to deposit to Government Treasure house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assess and approve any advance against salary requested by employees after due consideration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various departments for verification of approvals for reimbursement of expenses incurred by employees on official work</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Dealing with any compensation and payroll related queries for the employees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preserve register and documents and to overall supervise by informing the concerned officers and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(5/12)</a:t>
            </a:r>
            <a:endParaRPr lang="en-IN" sz="2000" b="1" dirty="0">
              <a:solidFill>
                <a:schemeClr val="accent1">
                  <a:lumMod val="75000"/>
                </a:schemeClr>
              </a:solidFill>
            </a:endParaRPr>
          </a:p>
        </p:txBody>
      </p:sp>
      <p:sp>
        <p:nvSpPr>
          <p:cNvPr id="4" name="Pentagon 3">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1565378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39792" y="1096410"/>
          <a:ext cx="9785952" cy="327660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211361">
                <a:tc>
                  <a:txBody>
                    <a:bodyPr/>
                    <a:lstStyle/>
                    <a:p>
                      <a:r>
                        <a:rPr lang="en-IN" sz="1200" dirty="0" smtClean="0"/>
                        <a:t>Group Accounts</a:t>
                      </a:r>
                      <a:r>
                        <a:rPr lang="en-IN" sz="1200" baseline="0" dirty="0" smtClean="0"/>
                        <a:t> Consolidation &amp; MIS Reporting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subsidiary companies for accessing their final accounts for each year for group accounts consolidation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liaise with Holding Company Accounts Department for consolidating holding &amp; subsidiary accounts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group consolidated accounts as per requirements of Companies Act, applicable taxation laws, regulatory orders, in force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Prepare quarterly, half yearly, annually or any other period accounts as required by law</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various holding company department &amp; subsidiary company counterparts for preparation of MIS reports on accounting &amp; finance related matters as required by Management &amp; External Agencies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maintain records of  all accounts pertaining to holding &amp; subsidiary accounts utilized in preparation of group consolidated accounts &amp; MIS reports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6"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(6/12)</a:t>
            </a:r>
            <a:endParaRPr lang="en-IN" sz="2000" b="1" dirty="0">
              <a:solidFill>
                <a:schemeClr val="accent1">
                  <a:lumMod val="75000"/>
                </a:schemeClr>
              </a:solidFill>
            </a:endParaRPr>
          </a:p>
        </p:txBody>
      </p:sp>
      <p:sp>
        <p:nvSpPr>
          <p:cNvPr id="7" name="Pentagon 6">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9472347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96410"/>
          <a:ext cx="9785952" cy="4572000"/>
        </p:xfrm>
        <a:graphic>
          <a:graphicData uri="http://schemas.openxmlformats.org/drawingml/2006/table">
            <a:tbl>
              <a:tblPr firstRow="1" bandRow="1">
                <a:tableStyleId>{69012ECD-51FC-41F1-AA8D-1B2483CD663E}</a:tableStyleId>
              </a:tblPr>
              <a:tblGrid>
                <a:gridCol w="1476095"/>
                <a:gridCol w="8309857"/>
              </a:tblGrid>
              <a:tr h="364731">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3003150">
                <a:tc>
                  <a:txBody>
                    <a:bodyPr/>
                    <a:lstStyle/>
                    <a:p>
                      <a:r>
                        <a:rPr lang="en-US" sz="1200" dirty="0" smtClean="0"/>
                        <a:t>Stores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manage all activities according to the store’s manual.</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training for skills development of employees in coordination with training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maintain store records and allocate spares &amp; consumables based on individual user department / power plant / SBU / SBUs requests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maintain adequate safety stock and initiate procurement request in case on spare / consumables depletion below threshold levels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Procurement department for ensuring logistics of procurements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alert company management for waste of property, theft or destruction of stored goods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fire prevention measures.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ensure the security of the store and inspect the store area.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annual verification report of all the goods in the store and to conduct annual inventory valuations as per applicable laws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provide necessary arrangements in accordance with the rules of old, cottage and quoted stores goods.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perform administrative and financial responsibilities in accordance with the administrative and financial capabilities.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duties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(7/12)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827546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6800"/>
          <a:ext cx="9785952" cy="60960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886805">
                <a:tc>
                  <a:txBody>
                    <a:bodyPr/>
                    <a:lstStyle/>
                    <a:p>
                      <a:r>
                        <a:rPr lang="en-US" sz="1200" dirty="0" smtClean="0"/>
                        <a:t>Finance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implement the financial rules of Government and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propose the development of financial rules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the financial planning, budgetary control, fund raising and distribution of fund management, financial evaluation, execution of local and foreign credit agreements, explanation related to foreign purchases of projects, GPF, welfare and insurance fund management, foreign and local insurance work and administrative work of finance department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subsidiaries for identifying &amp; execute Group Financing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central financial plan of the holding company, Central account of holding company under finance department, to develop the central revenue, to operate the different accounts, to open and close the bank accounts and to supervise the other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training activities of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supervise overall activities of the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r h="2530710">
                <a:tc>
                  <a:txBody>
                    <a:bodyPr/>
                    <a:lstStyle/>
                    <a:p>
                      <a:r>
                        <a:rPr lang="en-US" sz="1200" dirty="0" smtClean="0"/>
                        <a:t>Budgets &amp; Resources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Conduct annual budgeting activity and compile resources position to meet the budgeted expenses in coordination with all departments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obtain annual procurement plans from each department / power plant/ SBU / SBUS &amp; central procurement department and assess annual procurement expense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budgetary control framework for the holding company and assess the annual fund requirement &amp; source of funding in coordination with finance &amp; other departments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Monitor deviations periodically from budgeted expenses and revenues and coordinate with user departments to identify gaps and rectify them</a:t>
                      </a: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IN" sz="1200" kern="1200" dirty="0" smtClean="0">
                          <a:solidFill>
                            <a:schemeClr val="tx1"/>
                          </a:solidFill>
                          <a:effectLst/>
                          <a:latin typeface="+mn-lt"/>
                          <a:ea typeface="+mn-ea"/>
                          <a:cs typeface="+mn-cs"/>
                        </a:rPr>
                        <a:t>To coordinate with other accounts &amp; finance teams for information sharing on budget plans and actual expenditure &amp; income for the holding company</a:t>
                      </a:r>
                    </a:p>
                    <a:p>
                      <a:pPr marL="180000" lvl="0" indent="-180000" algn="l" defTabSz="1008400" rtl="0" eaLnBrk="1" fontAlgn="auto" latinLnBrk="0" hangingPunct="1">
                        <a:lnSpc>
                          <a:spcPct val="100000"/>
                        </a:lnSpc>
                        <a:spcBef>
                          <a:spcPts val="6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(8/12)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1656336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6800"/>
          <a:ext cx="9785952" cy="6342615"/>
        </p:xfrm>
        <a:graphic>
          <a:graphicData uri="http://schemas.openxmlformats.org/drawingml/2006/table">
            <a:tbl>
              <a:tblPr firstRow="1" bandRow="1">
                <a:tableStyleId>{69012ECD-51FC-41F1-AA8D-1B2483CD663E}</a:tableStyleId>
              </a:tblPr>
              <a:tblGrid>
                <a:gridCol w="1329047"/>
                <a:gridCol w="8456905"/>
              </a:tblGrid>
              <a:tr h="368063">
                <a:tc>
                  <a:txBody>
                    <a:bodyPr/>
                    <a:lstStyle/>
                    <a:p>
                      <a:r>
                        <a:rPr lang="en-US" sz="1200" dirty="0" smtClean="0"/>
                        <a:t>Function / Department</a:t>
                      </a:r>
                      <a:endParaRPr lang="en-IN" sz="1200" dirty="0"/>
                    </a:p>
                  </a:txBody>
                  <a:tcPr/>
                </a:tc>
                <a:tc>
                  <a:txBody>
                    <a:bodyPr/>
                    <a:lstStyle/>
                    <a:p>
                      <a:pPr>
                        <a:spcBef>
                          <a:spcPts val="500"/>
                        </a:spcBef>
                      </a:pPr>
                      <a:r>
                        <a:rPr lang="en-US" sz="1200" dirty="0" smtClean="0"/>
                        <a:t>High Level Roles &amp; Responsibilities</a:t>
                      </a:r>
                      <a:endParaRPr lang="en-IN" sz="1200" dirty="0"/>
                    </a:p>
                  </a:txBody>
                  <a:tcPr/>
                </a:tc>
              </a:tr>
              <a:tr h="3189879">
                <a:tc>
                  <a:txBody>
                    <a:bodyPr/>
                    <a:lstStyle/>
                    <a:p>
                      <a:r>
                        <a:rPr lang="en-US" sz="1200" dirty="0" smtClean="0"/>
                        <a:t>Holding Company Finance Department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implement the financial rules of Government and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propose the development of financial rules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the financial planning, financial evaluation, explanation related to foreign purchases of projects, GPF, welfare and insurance fund management, foreign and local insurance work and administrative work of finance department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Coordinate with Financial Institutions such as Multilateral Agencies, Government agencies, Commercial Banks / NBFIs, for fund mobilization based on investment plans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Undertake Lender Management activities such as preparation of financial proposals, submission of periodic reports, contract management, loan tracking and repayment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Undertake financial management activities such as working capital management and monitor and track investments and payouts in fixed income securities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central financial plan of the holding company, Central account of holding company under finance department, to develop the central revenue, to operate the different accounts, to open and close the bank accounts and to supervise the other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training activities of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supervise overall activities of the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r h="2037315">
                <a:tc>
                  <a:txBody>
                    <a:bodyPr/>
                    <a:lstStyle/>
                    <a:p>
                      <a:r>
                        <a:rPr lang="en-US" sz="1200" dirty="0" smtClean="0"/>
                        <a:t>Group Finance Department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Coordinate with subsidiaries for identifying loan requirements &amp; current excess funds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Prepare inter-firm financing strategy based on loan requirements &amp; fund balances of subsidiaries &amp;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Initiate inter-firm financing process by obtaining approvals from management of all entities involved in the transaction</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Monitor the fund mobilization activity to ensure compliance to approved terms &amp; conditions of the loans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Track &amp; Monitor all inter-firm finances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(9/12)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078207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6800"/>
          <a:ext cx="9785952" cy="345948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886805">
                <a:tc>
                  <a:txBody>
                    <a:bodyPr/>
                    <a:lstStyle/>
                    <a:p>
                      <a:r>
                        <a:rPr lang="en-US" sz="1200" dirty="0" smtClean="0"/>
                        <a:t>Audit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implement the financial rules of Government and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propose the development of financial rules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the financial planning, budgetary control, fund raising and distribution of fund management, financial evaluation, execution of local and foreign credit agreements, explanation related to foreign purchases of projects, GPF, welfare and insurance fund management, foreign and local insurance work and administrative work of finance department of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with subsidiaries for identifying &amp; execute Group Financing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prepare central financial plan of the holding company, Central account of holding company under finance department, to develop the central revenue, to operate the different accounts, to open and close the bank accounts and to supervise the other activities.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coordinate training activities of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overall activities of the finance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smtClean="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(10/12)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2039988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6800"/>
          <a:ext cx="9785952" cy="46482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530710">
                <a:tc>
                  <a:txBody>
                    <a:bodyPr/>
                    <a:lstStyle/>
                    <a:p>
                      <a:r>
                        <a:rPr lang="en-US" sz="1200" dirty="0" smtClean="0"/>
                        <a:t>Purchase / Procurement</a:t>
                      </a:r>
                      <a:r>
                        <a:rPr lang="en-US" sz="1200" baseline="0" dirty="0" smtClean="0"/>
                        <a: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supervise and perform all activities related to domestic and foreign purchase by the purchase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Finalizing the tender Documents for Local Purchase.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steps to purchase goods under all types of foreign loans except for the project. </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invite tender for projects and complete all related activities for procurement.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act according to delegation of power conferred by Company Management &amp; Ministry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Perform all purchasing activities under the Turnkey contract.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invite tender for projects and complete all related activities up to procurement.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open L/C, to collect license, to take necessary steps for collecting import permit.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evaluate the tender, letter of intent and necessary amendment.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examine purchase agreement and to take arrangement for signing of the contracts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procure goods through local currency and foreign currency /exchange.</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present the relevant issues in the TC meeting and to assist the project directors in preparing the TC meeting.</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Preparation of draft work report for presentation of board meeting and publication of decision of the meeting</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6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If directed, to inspect and examine the pre-inspected goods whenever necessary.</a:t>
                      </a:r>
                      <a:endParaRPr lang="en-IN" sz="1200" kern="1200" dirty="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(11/12)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20916734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1" y="1066800"/>
          <a:ext cx="9903421" cy="6062980"/>
        </p:xfrm>
        <a:graphic>
          <a:graphicData uri="http://schemas.openxmlformats.org/drawingml/2006/table">
            <a:tbl>
              <a:tblPr firstRow="1" bandRow="1">
                <a:tableStyleId>{69012ECD-51FC-41F1-AA8D-1B2483CD663E}</a:tableStyleId>
              </a:tblPr>
              <a:tblGrid>
                <a:gridCol w="1257665"/>
                <a:gridCol w="8645756"/>
              </a:tblGrid>
              <a:tr h="380386">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890931">
                <a:tc>
                  <a:txBody>
                    <a:bodyPr/>
                    <a:lstStyle/>
                    <a:p>
                      <a:r>
                        <a:rPr lang="en-US" sz="1200" dirty="0" smtClean="0"/>
                        <a:t>IVVR Project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effective steps for Development Project Proposal (DPP) of the IVVR project’s fixed assets and stores of holding company. (Phase-II)</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identify and record the acquired land for the construction of proposed power plants to be built under IPP, Rental Quick Rental sector under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Under the power sector reforms, as BPDB is being converted to holding company with SBU structure, take steps for fixed assets and stores re-valuation and ascertain amount due by subsidiary companies to holding company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To take second stage work under the project's own supervision, to overcome the new system in field level including preparation of document and basic functions and in the changed circumstances, to take action of the holding company manpower and logistic support for monitoring the performance of the procedure and consultant's work.</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To set up the project on an urgent basis by coordinating from holding company’s department of organization and method for the purpose of starting the project work at specific times and  to take steps for appointing manpower for the deputation of the project by the approval of Personnel Department</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a:solidFill>
                          <a:schemeClr val="tx1"/>
                        </a:solidFill>
                        <a:effectLst/>
                        <a:latin typeface="+mn-lt"/>
                        <a:ea typeface="+mn-ea"/>
                        <a:cs typeface="+mn-cs"/>
                      </a:endParaRPr>
                    </a:p>
                  </a:txBody>
                  <a:tcPr/>
                </a:tc>
              </a:tr>
              <a:tr h="2345712">
                <a:tc>
                  <a:txBody>
                    <a:bodyPr/>
                    <a:lstStyle/>
                    <a:p>
                      <a:r>
                        <a:rPr lang="en-IN" sz="1200" dirty="0" smtClean="0"/>
                        <a:t>Strategic Investment Management &amp; Planning Department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Prepare investment strategy and monitor investment performance</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Prepare annual investment plan in coordination with annual budgeting activity and review them periodically</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Explore fund mobilization strategy for long-term loans and their sources such as Multilateral financing, Government Loans, Bond financing, financial institutions, commercial banks based on budgeted requirements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n-lt"/>
                          <a:ea typeface="+mn-ea"/>
                          <a:cs typeface="+mn-cs"/>
                        </a:rPr>
                        <a:t>Manage holding company’s strategic investments in Joint Ventures (JV) / Partnerships / Projects etc. such as BIFPCL, BPDB-RPCL </a:t>
                      </a:r>
                      <a:r>
                        <a:rPr lang="en-US" sz="1200" kern="1200" dirty="0" err="1" smtClean="0">
                          <a:solidFill>
                            <a:schemeClr val="tx1"/>
                          </a:solidFill>
                          <a:effectLst/>
                          <a:latin typeface="+mn-lt"/>
                          <a:ea typeface="+mn-ea"/>
                          <a:cs typeface="+mn-cs"/>
                        </a:rPr>
                        <a:t>Powergen</a:t>
                      </a:r>
                      <a:r>
                        <a:rPr lang="en-US" sz="1200" kern="1200" dirty="0" smtClean="0">
                          <a:solidFill>
                            <a:schemeClr val="tx1"/>
                          </a:solidFill>
                          <a:effectLst/>
                          <a:latin typeface="+mn-lt"/>
                          <a:ea typeface="+mn-ea"/>
                          <a:cs typeface="+mn-cs"/>
                        </a:rPr>
                        <a:t> and others</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n-lt"/>
                          <a:ea typeface="+mn-ea"/>
                          <a:cs typeface="+mn-cs"/>
                        </a:rPr>
                        <a:t>Explore opportunities for strategic investments in power projects in Bangladesh and neighbouring countries</a:t>
                      </a:r>
                    </a:p>
                    <a:p>
                      <a:pPr marL="180000" lvl="0" indent="-180000" algn="l" defTabSz="1008400" rtl="0" eaLnBrk="1" fontAlgn="auto" latinLnBrk="0" hangingPunct="1">
                        <a:lnSpc>
                          <a:spcPct val="100000"/>
                        </a:lnSpc>
                        <a:spcBef>
                          <a:spcPts val="500"/>
                        </a:spcBef>
                        <a:spcAft>
                          <a:spcPts val="600"/>
                        </a:spcAft>
                        <a:buFont typeface="Symbol" panose="05050102010706020507" pitchFamily="18" charset="2"/>
                        <a:buChar char=""/>
                      </a:pPr>
                      <a:r>
                        <a:rPr lang="en-US" sz="1200" kern="1200" dirty="0" smtClean="0">
                          <a:solidFill>
                            <a:schemeClr val="tx1"/>
                          </a:solidFill>
                          <a:effectLst/>
                          <a:latin typeface="+mn-lt"/>
                          <a:ea typeface="+mn-ea"/>
                          <a:cs typeface="+mn-cs"/>
                        </a:rPr>
                        <a:t>Explore innovative financing opportunities in power sector to optimize fund sourcing</a:t>
                      </a:r>
                      <a:endParaRPr lang="en-IN" sz="1200" kern="1200" dirty="0" smtClean="0">
                        <a:solidFill>
                          <a:schemeClr val="tx1"/>
                        </a:solidFill>
                        <a:effectLst/>
                        <a:latin typeface="+mn-lt"/>
                        <a:ea typeface="+mn-ea"/>
                        <a:cs typeface="+mn-cs"/>
                      </a:endParaRPr>
                    </a:p>
                    <a:p>
                      <a:pPr marL="180000" lvl="0" indent="-180000" algn="l" defTabSz="1008400" rtl="0" eaLnBrk="1" fontAlgn="auto" latinLnBrk="0" hangingPunct="1">
                        <a:lnSpc>
                          <a:spcPct val="100000"/>
                        </a:lnSpc>
                        <a:spcBef>
                          <a:spcPts val="500"/>
                        </a:spcBef>
                        <a:buFont typeface="Symbol" panose="05050102010706020507" pitchFamily="18" charset="2"/>
                        <a:buChar char=""/>
                      </a:pPr>
                      <a:r>
                        <a:rPr lang="en-US" sz="1200" kern="1200" dirty="0" smtClean="0">
                          <a:solidFill>
                            <a:schemeClr val="tx1"/>
                          </a:solidFill>
                          <a:effectLst/>
                          <a:latin typeface="+mn-lt"/>
                          <a:ea typeface="+mn-ea"/>
                          <a:cs typeface="+mn-cs"/>
                        </a:rPr>
                        <a:t>To perform any other functions assigned by the higher authorities from time to time.</a:t>
                      </a:r>
                      <a:endParaRPr lang="en-IN" sz="1200" kern="1200" dirty="0">
                        <a:solidFill>
                          <a:schemeClr val="tx1"/>
                        </a:solidFill>
                        <a:effectLst/>
                        <a:latin typeface="+mn-lt"/>
                        <a:ea typeface="+mn-ea"/>
                        <a:cs typeface="+mn-cs"/>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Finance Department (12/12)</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90353507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6800"/>
          <a:ext cx="9785952" cy="6322422"/>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530710">
                <a:tc>
                  <a:txBody>
                    <a:bodyPr/>
                    <a:lstStyle/>
                    <a:p>
                      <a:r>
                        <a:rPr lang="en-US" sz="1200" dirty="0" smtClean="0"/>
                        <a:t>Distribution Zone / Zones</a:t>
                      </a:r>
                      <a:endParaRPr lang="en-IN" sz="1200" dirty="0"/>
                    </a:p>
                  </a:txBody>
                  <a:tcPr/>
                </a:tc>
                <a:tc>
                  <a:txBody>
                    <a:bodyPr/>
                    <a:lstStyle/>
                    <a:p>
                      <a:pPr marL="180000" lvl="0" indent="-180000" algn="l" fontAlgn="auto">
                        <a:lnSpc>
                          <a:spcPct val="100000"/>
                        </a:lnSpc>
                        <a:spcBef>
                          <a:spcPts val="600"/>
                        </a:spcBef>
                        <a:spcAft>
                          <a:spcPts val="0"/>
                        </a:spcAft>
                        <a:buFont typeface="Symbol" panose="05050102010706020507" pitchFamily="18" charset="2"/>
                        <a:buChar char=""/>
                      </a:pPr>
                      <a:r>
                        <a:rPr lang="en-IN" sz="1200" dirty="0" smtClean="0">
                          <a:effectLst/>
                          <a:latin typeface="+mj-lt"/>
                          <a:ea typeface="Times" panose="02020603050405020304" pitchFamily="18" charset="0"/>
                          <a:cs typeface="Arial" panose="020B0604020202020204" pitchFamily="34" charset="0"/>
                        </a:rPr>
                        <a:t>Overall supervision of Operation &amp; maintenance (O&amp;M) work of the power distribution system.</a:t>
                      </a:r>
                    </a:p>
                    <a:p>
                      <a:pPr marL="180000" lvl="0" indent="-180000" algn="l" fontAlgn="auto">
                        <a:lnSpc>
                          <a:spcPct val="100000"/>
                        </a:lnSpc>
                        <a:spcBef>
                          <a:spcPts val="600"/>
                        </a:spcBef>
                        <a:spcAft>
                          <a:spcPts val="0"/>
                        </a:spcAft>
                        <a:buFont typeface="Symbol" panose="05050102010706020507" pitchFamily="18" charset="2"/>
                        <a:buChar char=""/>
                      </a:pPr>
                      <a:r>
                        <a:rPr lang="en-IN" sz="1200" dirty="0" smtClean="0">
                          <a:effectLst/>
                          <a:latin typeface="+mj-lt"/>
                          <a:ea typeface="Times" panose="02020603050405020304" pitchFamily="18" charset="0"/>
                          <a:cs typeface="Arial" panose="020B0604020202020204" pitchFamily="34" charset="0"/>
                        </a:rPr>
                        <a:t>Monitoring of Zone Revenue Recovery and Reduction of System Loss.</a:t>
                      </a:r>
                    </a:p>
                    <a:p>
                      <a:pPr marL="180000" lvl="0" indent="-180000" algn="l" fontAlgn="auto">
                        <a:lnSpc>
                          <a:spcPct val="100000"/>
                        </a:lnSpc>
                        <a:spcBef>
                          <a:spcPts val="600"/>
                        </a:spcBef>
                        <a:spcAft>
                          <a:spcPts val="0"/>
                        </a:spcAft>
                        <a:buFont typeface="Symbol" panose="05050102010706020507" pitchFamily="18" charset="2"/>
                        <a:buChar char=""/>
                      </a:pPr>
                      <a:r>
                        <a:rPr lang="en-IN" sz="1200" dirty="0" smtClean="0">
                          <a:effectLst/>
                          <a:latin typeface="+mj-lt"/>
                          <a:ea typeface="Times" panose="02020603050405020304" pitchFamily="18" charset="0"/>
                          <a:cs typeface="Arial" panose="020B0604020202020204" pitchFamily="34" charset="0"/>
                        </a:rPr>
                        <a:t>To resolve the issues responsible for developing the overall difficulties of the power zone.</a:t>
                      </a:r>
                    </a:p>
                    <a:p>
                      <a:pPr marL="180000" lvl="0" indent="-180000" algn="l" fontAlgn="auto">
                        <a:lnSpc>
                          <a:spcPct val="100000"/>
                        </a:lnSpc>
                        <a:spcBef>
                          <a:spcPts val="600"/>
                        </a:spcBef>
                        <a:spcAft>
                          <a:spcPts val="0"/>
                        </a:spcAft>
                        <a:buFont typeface="Symbol" panose="05050102010706020507" pitchFamily="18" charset="2"/>
                        <a:buChar char=""/>
                      </a:pPr>
                      <a:r>
                        <a:rPr lang="en-IN" sz="1200" dirty="0" smtClean="0">
                          <a:effectLst/>
                          <a:latin typeface="+mj-lt"/>
                          <a:ea typeface="Times" panose="02020603050405020304" pitchFamily="18" charset="0"/>
                          <a:cs typeface="Arial" panose="020B0604020202020204" pitchFamily="34" charset="0"/>
                        </a:rPr>
                        <a:t>To supervise the overall activities of the related Distribution Project work.</a:t>
                      </a:r>
                    </a:p>
                    <a:p>
                      <a:pPr marL="180000" lvl="0" indent="-180000" algn="l" fontAlgn="auto">
                        <a:lnSpc>
                          <a:spcPct val="100000"/>
                        </a:lnSpc>
                        <a:spcBef>
                          <a:spcPts val="600"/>
                        </a:spcBef>
                        <a:spcAft>
                          <a:spcPts val="0"/>
                        </a:spcAft>
                        <a:buFont typeface="Symbol" panose="05050102010706020507" pitchFamily="18" charset="2"/>
                        <a:buChar char=""/>
                      </a:pPr>
                      <a:r>
                        <a:rPr lang="en-IN" sz="1200" dirty="0" smtClean="0">
                          <a:effectLst/>
                          <a:latin typeface="+mj-lt"/>
                          <a:ea typeface="Times" panose="02020603050405020304" pitchFamily="18" charset="0"/>
                          <a:cs typeface="Arial" panose="020B0604020202020204" pitchFamily="34" charset="0"/>
                        </a:rPr>
                        <a:t>According to the administrative and financial powers vested on the department,</a:t>
                      </a:r>
                    </a:p>
                    <a:p>
                      <a:pPr marL="360000" lvl="1" indent="-18000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be responsible for overall administrative activities under the zone.</a:t>
                      </a:r>
                    </a:p>
                    <a:p>
                      <a:pPr marL="360000" lvl="1" indent="-18000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Transfer of the officials and employees of the zone within the zone.</a:t>
                      </a:r>
                    </a:p>
                    <a:p>
                      <a:pPr marL="360000" lvl="1" indent="-18000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Recruitment of staff in the vacant position with the approval of holding company and coordinating the same with HR department</a:t>
                      </a:r>
                    </a:p>
                    <a:p>
                      <a:pPr marL="360000" lvl="1" indent="-18000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Administrative and technical approval of works/Activities within the limit of power delegated.</a:t>
                      </a:r>
                    </a:p>
                    <a:p>
                      <a:pPr marL="360000" lvl="1" indent="-18000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Providing assistance for the better services and welfare condition of the workers.</a:t>
                      </a:r>
                    </a:p>
                    <a:p>
                      <a:pPr marL="360000" lvl="1" indent="-180000" algn="l" fontAlgn="auto">
                        <a:lnSpc>
                          <a:spcPct val="100000"/>
                        </a:lnSpc>
                        <a:spcBef>
                          <a:spcPts val="600"/>
                        </a:spcBef>
                        <a:spcAft>
                          <a:spcPts val="60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Arrangements for disciplinary action against the officers and employees of the zone.</a:t>
                      </a:r>
                    </a:p>
                    <a:p>
                      <a:pPr marL="144000" lvl="0" indent="-144000" algn="l" defTabSz="1008400" rtl="0" eaLnBrk="1" fontAlgn="auto" latinLnBrk="0" hangingPunct="1">
                        <a:lnSpc>
                          <a:spcPct val="115000"/>
                        </a:lnSpc>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authority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530710">
                <a:tc>
                  <a:txBody>
                    <a:bodyPr/>
                    <a:lstStyle/>
                    <a:p>
                      <a:r>
                        <a:rPr lang="en-US" sz="1200" dirty="0" smtClean="0"/>
                        <a:t>O&amp;M Department of each circle under Distribution Zone</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the billing related activities and reduction of system loss, increase of revenue earning of the circle.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the commercial system implementation.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Supervision of high pressure and low pressure meter sealing / billing work.</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Supervise the development work related to electricity distribution system of the circle.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be responsible for administrative and commercial activities according to the administrative and financial delegation of power.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the overall activity of maintaining records according to the traditional rules.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notify the higher authority about the overall activities of the circle.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12043979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81584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Computer </a:t>
                      </a:r>
                      <a:r>
                        <a:rPr lang="en-IN" sz="1200" dirty="0" err="1" smtClean="0"/>
                        <a:t>Center</a:t>
                      </a:r>
                      <a:r>
                        <a:rPr lang="en-IN" sz="1200" dirty="0" smtClean="0"/>
                        <a:t> (IT) under each Distribution Zone</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innovate and repair any software issue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work on system design, system analysis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hardware vendors for new systems / repair of existing systems in close association with procurement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and consult programmers for coding program.</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execute duties assigned for the proper management of current systems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execute delegated administrative power.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maintaining of computer centre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83526">
                <a:tc>
                  <a:txBody>
                    <a:bodyPr/>
                    <a:lstStyle/>
                    <a:p>
                      <a:r>
                        <a:rPr lang="en-IN" sz="1200" dirty="0" smtClean="0"/>
                        <a:t>Commercial Operation Department under each Distribution Zone</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Overall charge of commercial operation functions of each zone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proper and systematic inspection of billing and consumer accounting of all Electric Supplies.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the functions of newly created zonal commercial offices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timely and proper Meter reading, billing, consumer accounting collection etc.</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arrange reconciliation of remittances and receipt in central collection Accounts.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Initiate plans, programmes for effective Meter reading, billing of consumer accounting.</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follow up for recovery of outstanding dues with various agencies.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 assigned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(2/6)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4232836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2484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Distribution Project Departments under each Distribution Zone</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and monitor to ensure that the works performed according to the Scope of Work described in the concerned project.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regular report on the physical progress of the project work based on field visit of employees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coordinate between the projects work and O&amp;M work for optimising work schedule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monitor the activities of collecting goods and instruments for implementing the project so that the works can be completed in the field to comply with the work schedule.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monitor and maintain liaison with the ERD/ donor agencies for arranging foreign aid for the project.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notify the proper /appropriate authority to take disciplinary action according to the rules if   any irregularity noticed in the project work.</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arrange coordination meeting regularly (minimum once in a month) with the project director.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necessary instruction to the directors having discussion regarding project progress and problems.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marginal approval of irregular employees working in the project's office. </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83526">
                <a:tc>
                  <a:txBody>
                    <a:bodyPr/>
                    <a:lstStyle/>
                    <a:p>
                      <a:r>
                        <a:rPr lang="en-IN" sz="1200" dirty="0" smtClean="0"/>
                        <a:t>RAO under each Distribution Zone</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responsible for preparing zonal accounting records pertaining to overall income &amp; expenditure of distribution zones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Undertake cash management activities for daily cash expenses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and execute payment and receipt of all zonal obligations and receivables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auditors for performing statutory audits for each zone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annual zone wise accounting records for preparation of consolidated accounts at head office level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MIS reports pertaining to accounting for Internal &amp; External reporting</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the company in formulating accounting policies and implementing the approved policies.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(3/6)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5390069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97764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Consumer Affairs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receipt of all power interruption reports through Central Control Room and different places throughout the country and their compilation.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make immediate investigation to find out causes of such power interruption and to advise field offices to rectify after proper consultation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examine statement of power failure to different industries/ installations as and when occurred and to find out reasons and remedy</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Monitor problems relating to improper power supply i.e. Low Voltage, inadequate power etc. to important industries/ installations and suggest solutions.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handle disciplinary matters of Class-III and IV employees of department as per rule.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Coordination of line transfer to rural electrification board</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Coordinating in relation to governing contractual business operations.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Coordinating the job of subscriber census and poll numbering.</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administrative and financial responsibilities in accordance with the administrative and financial capabilities.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(4/6)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8623088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3528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Distribution Project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work performed by the concerned project according to the scope of work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regularly report by making the field visit about the physical progress of the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proper steps for increasing progress and coordinating the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communicate with the Planning Commission and Ministry related to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collecting assets and equipment matters for implementing project work, to be executed the field activities according to the work order.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If there is any irregularity in the project work, in order to take action in accordance with the rules, made by the appropriate authorities.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special instructions/ suggestions for monitoring the progress of work and completing the work on regular basis after inspection of various sites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coordination with Deputy Project Directors pertaining to project progress &amp; problems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(5/6)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14872461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97764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Power Distribution System Development Project Departments</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work performed according to the scope of work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reports for head office based on field visit about the physical progress of the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undertake appropriate steps for increasing progress and coordinating the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communicate with the Planning Commission and Ministry related to project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assets &amp; equipment procured for implementing project work as well as the field activities according to the work order.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If there is any problem in technical/ financial/ administrative matters in the execution of the project, then to solve the problem by discussing with the concerned departments and to inform to the Higher Authority.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and maintain liaison with the ERD/ donor agencies for arranging foreign aid for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undertake actions for any irregularity in the project work in accordance with the rules made by the appropriate authorities.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special instructions/ suggestions for monitoring the progress of work and completing the work on regular basis after inspection of various sites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Distribution Department (6/6)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1529692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78536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Commercial &amp; Regulatory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Oversee preparation of bulk supply tariff filing for holding company in accordance with BERC rules &amp; regulations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monitor subsidy requirements of the holding company and coordinate with Ministries for realization of the same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Billing &amp; Collection activities and ensuring collection targets as defined at the beginning of year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billing &amp; collection deviations and take appropriate steps to achieve targeted collections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central fuel requirement for all power plants / SBU / SBUs and prepare procurement plan in coordination with procurement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overall activities related to the Monthly Billing Unit regulation, Billing Meter Inspection, Testing and Metering System of the bulk supply customers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overall activities related to Monthly Generation Unit Set Up, Meter Installation, Testing and Meter System of the Private Power Station (IPP, RPP, QRPP, Solar, Commercial Power Plant, Cross Boarder Power Import), subsidiaries and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oversee IT system activities such as system analysis and system design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preparation and submission of all regulatory reports as per Ministries / Agency requirement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Develop an ICT strategy and roadmap for the organization and its subsidiaries to promote MIS and information flow across the holding company and its subsidiaries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(1/7)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80839202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720046"/>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Regulatory &amp; Filing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Preparation of bulk supply tariff filing petition in accordance with BERC rules &amp; regulation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appropriate response to any queries raised by BERC pertaining to tariff petitions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coordinate with accounts &amp; finance department to prepare financial reports required by BERC for tariff petitions and any other regulatory requirement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compliance to all regulatory requirements of Ministries / Agencies applicable to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adherence to the tariff order approved by BERC and any other order issued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Coordinating with the regulator for regulatory matters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68286">
                <a:tc>
                  <a:txBody>
                    <a:bodyPr/>
                    <a:lstStyle/>
                    <a:p>
                      <a:r>
                        <a:rPr lang="en-IN" sz="1200" dirty="0" smtClean="0"/>
                        <a:t>Subsidy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Identification of subsidy requirement based on prevailing power purchase price and Bulk supply tariff with an aim to ensure financial viability of the single buyer business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subsidy requirement report as per concerned Ministries reporting practice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accounting &amp; finance department for determining prevailing power purchase price for the period for which subsidy is required</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Bulk Sale Meter Reading, Billing &amp; Collection for determining amount of units sold</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Coordination with the concerned Ministries for approval and timely realization of the subsidies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(2/7)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8796745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30936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Bulk Sale Meter Reading, Billing &amp; Collection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undertake Billing &amp; Collection activities and ensuring collection targets as defined at the beginning of year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billing &amp; collection deviations and take appropriate steps to achieve targeted collections from Distribution companies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overall activities related to the Monthly Billing Unit regulation, Billing Meter Inspection, Testing and Metering System of the bulk supply customers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undertake overall activities related to Monthly Generation Unit Set Up, Meter Installation, Testing and Meter System of the Private Power Station (IPP, RPP, QRPP, Solar, Commercial Power Plant, Cross Boarder Power Import), subsidiaries and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adherence to contractual obligations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68286">
                <a:tc>
                  <a:txBody>
                    <a:bodyPr/>
                    <a:lstStyle/>
                    <a:p>
                      <a:r>
                        <a:rPr lang="en-IN" sz="1200" dirty="0" smtClean="0"/>
                        <a:t>Centralized Fuel Management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Identification of fuel purchase requirements (including Gas, Coal and Liquid fuels) from domestic and overseas suppliers for holding company power plant portfolio</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all Power plants / SBU/ SBUs for their annual expected procurement of fuel as well as out of cycle procurement requirements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consolidated list of fuel requirements for individual period (daily, weekly, monthly, etc.)</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procurement department for issuing Centralized fuel purchase tenders and evaluating the responses for the same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Estate &amp; Transport, Clearance &amp; movements departments for ensuring import of fuels sourced from abroad</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&amp; execute delivery of fuel procured centrally to each power plant / SBU / SBUs based on their requirements and requests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Management of fuel supply contracts through coordination with suppliers and supply chain management with an aim to ensure timely availability of fuel of desired quantity and quality at the target power plants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(3/7)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80266039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91312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Energy Auditing Unit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operate commercial activities of 13 Energy Auditing Unit at field level.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set up monthly billing unit of Different Electric Supply Unit and take meter reading of Different Billing Points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Set up monthly billing units of different utilities such as DPDC, DESCO, WZPDCL, NESCO and assist billing &amp; collection department in billing &amp; collection of different units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Installation, Testing and Regulation of monthly energy import regulatory metering system to install utility of different billing point.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vigilant about balanced of export-import energy at different voltage level and energy flow study base of grid sub-station.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identify and repot regarding Monthly Net Generation Unit, Non-Wheel Unit, Transmission Loss, Distribution Loss.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Installation, testing and regulation of Net Generation Regulatory Metering System of Government, Government Owned Companies and Non-Government Power Station.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implement the activities as taken to System Loss Reduction Scheme by the Divisional Department.</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68286">
                <a:tc>
                  <a:txBody>
                    <a:bodyPr/>
                    <a:lstStyle/>
                    <a:p>
                      <a:r>
                        <a:rPr lang="en-IN" sz="1200" dirty="0" smtClean="0"/>
                        <a:t>Computer </a:t>
                      </a:r>
                      <a:r>
                        <a:rPr lang="en-IN" sz="1200" dirty="0" err="1" smtClean="0"/>
                        <a:t>Center</a:t>
                      </a:r>
                      <a:r>
                        <a:rPr lang="en-IN" sz="1200" dirty="0" smtClean="0"/>
                        <a:t> (IT)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innovate and repair any software issue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work on system design, system analysis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hardware vendors for new systems / repair of existing systems in close association with procurement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supervise and consult programmers for coding program.</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execute duties assigned for the proper management of current systems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execute delegated administrative power.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maintaining of computer centre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(4/7)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8634232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902926"/>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ICT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design ICT strategy of holding company</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Identify areas requiring implementation of ERP and take initiatives (both hardware and software) for its implementation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Identification of IT requirements of holding company and proposed initiatives (both hardware and software) to meet the requirements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Responsible for procurement of all IT assets in coordination with procurement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Monitor and review various IT initiatives (both hardware and software), their performance &amp; implementation status and suggest remedial actions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Responsible for MIS reporting – both internal and external</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68286">
                <a:tc>
                  <a:txBody>
                    <a:bodyPr/>
                    <a:lstStyle/>
                    <a:p>
                      <a:r>
                        <a:rPr lang="en-IN" sz="1200" dirty="0" smtClean="0"/>
                        <a:t>Bulk Supply / Single Buyer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Performance of power producers and timely servicing of payments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IPP / Quick Rental / Rental / Public Plants contractual obligations and ensure compliance to them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Assess opportunity for cross border power trade in consultation with Ministries /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Cross Border power Trade Activities in line with Power Purchase Plan and Government plans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Assess power purchase requirements and coordinate with System Operator to monitor load flows with an aim to ensure least cost approach for power procurement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(5/7)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41387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674326"/>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2068286">
                <a:tc>
                  <a:txBody>
                    <a:bodyPr/>
                    <a:lstStyle/>
                    <a:p>
                      <a:r>
                        <a:rPr lang="en-IN" sz="1200" dirty="0" smtClean="0"/>
                        <a:t>PPA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Planning &amp; Development Department on  power purchase requirements in long term</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Negotiate PPA contracts with generation utilities / IPPs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Enter into PPAs with generation utilities with an aim to purchase least cost power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Monitor performance of power producers and adherence to contractual obligations </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&amp; submit all regulatory requirements to concerned authorities / agencies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Ensure timely servicing of payments for power purchase  in coordination with Accounting &amp; Finance Departments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2068286">
                <a:tc>
                  <a:txBody>
                    <a:bodyPr/>
                    <a:lstStyle/>
                    <a:p>
                      <a:r>
                        <a:rPr lang="en-IN" sz="1200" dirty="0" smtClean="0"/>
                        <a:t>System Operator Monitoring &amp; Power Purchase Portfolio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load curve analysis to assess the power purchase requirements from IPPs/SIPPs/Rental and Quick Rental power plants and thereby bridging short term demand-supply gap </a:t>
                      </a:r>
                      <a:r>
                        <a:rPr lang="en-IN" sz="1200" kern="1200" dirty="0" smtClean="0">
                          <a:solidFill>
                            <a:schemeClr val="tx1"/>
                          </a:solidFill>
                          <a:effectLst/>
                          <a:latin typeface="+mj-lt"/>
                          <a:ea typeface="Times" panose="02020603050405020304" pitchFamily="18" charset="0"/>
                          <a:cs typeface="Arial" panose="020B0604020202020204" pitchFamily="34" charset="0"/>
                        </a:rPr>
                        <a:t>through identification of suitable power source at optimum cost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Ensuring close coordination with system operator and monitor and control load flow in the respective command areas of the Area Load Management units following a real time least cost approach with the aim to maintain grid integrity</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Analysis of the historical merit order curve and load </a:t>
                      </a:r>
                      <a:r>
                        <a:rPr lang="en-US" sz="1200" kern="1200" dirty="0" err="1" smtClean="0">
                          <a:solidFill>
                            <a:schemeClr val="tx1"/>
                          </a:solidFill>
                          <a:effectLst/>
                          <a:latin typeface="+mj-lt"/>
                          <a:ea typeface="Times" panose="02020603050405020304" pitchFamily="18" charset="0"/>
                          <a:cs typeface="Arial" panose="020B0604020202020204" pitchFamily="34" charset="0"/>
                        </a:rPr>
                        <a:t>despatch</a:t>
                      </a:r>
                      <a:r>
                        <a:rPr lang="en-US" sz="1200" kern="1200" dirty="0" smtClean="0">
                          <a:solidFill>
                            <a:schemeClr val="tx1"/>
                          </a:solidFill>
                          <a:effectLst/>
                          <a:latin typeface="+mj-lt"/>
                          <a:ea typeface="Times" panose="02020603050405020304" pitchFamily="18" charset="0"/>
                          <a:cs typeface="Arial" panose="020B0604020202020204" pitchFamily="34" charset="0"/>
                        </a:rPr>
                        <a:t> information to identify scope for optimization of power purchase cost and implement the same through coordination with the system operator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(6/7)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8470653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22860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r>
                        <a:rPr lang="en-US" sz="1200" dirty="0" smtClean="0"/>
                        <a:t>High Level Roles &amp; Responsibilities</a:t>
                      </a:r>
                      <a:endParaRPr lang="en-IN" sz="1200" dirty="0"/>
                    </a:p>
                  </a:txBody>
                  <a:tcPr/>
                </a:tc>
              </a:tr>
              <a:tr h="1789611">
                <a:tc>
                  <a:txBody>
                    <a:bodyPr/>
                    <a:lstStyle/>
                    <a:p>
                      <a:r>
                        <a:rPr lang="en-IN" sz="1200" dirty="0" smtClean="0"/>
                        <a:t>Cross Border Power Trade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Assess opportunity for cross border power trade in consultation with Ministries /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Cross Border power Trade Activities in line with Power Purchase Plan and Government plans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Entering into PPAs with cross border power supplier / off taker in coordination with PPA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Oversight and management of cross border power trade contracts and issues associated thereof</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Ensuring real time management of cross border power trade to minimize imbalance risk</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Monitor compliance to contractual obligations and settlement of dues in timely manner</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Commercial, Regulatory &amp; Bulk Supply Department (7/7)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49926985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248400"/>
        </p:xfrm>
        <a:graphic>
          <a:graphicData uri="http://schemas.openxmlformats.org/drawingml/2006/table">
            <a:tbl>
              <a:tblPr firstRow="1" bandRow="1">
                <a:tableStyleId>{69012ECD-51FC-41F1-AA8D-1B2483CD663E}</a:tableStyleId>
              </a:tblPr>
              <a:tblGrid>
                <a:gridCol w="1476095"/>
                <a:gridCol w="8309857"/>
              </a:tblGrid>
              <a:tr h="428733">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789611">
                <a:tc>
                  <a:txBody>
                    <a:bodyPr/>
                    <a:lstStyle/>
                    <a:p>
                      <a:r>
                        <a:rPr lang="en-IN" sz="1200" dirty="0" smtClean="0"/>
                        <a:t>Planning &amp; Design Department</a:t>
                      </a:r>
                      <a:endParaRPr lang="en-IN" sz="1200" dirty="0"/>
                    </a:p>
                  </a:txBody>
                  <a:tcPr/>
                </a:tc>
                <a:tc>
                  <a:txBody>
                    <a:bodyPr/>
                    <a:lstStyle/>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preparation of corporate strategy plan involving holding &amp; subsidiary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the overall planning and design for all the projects related to power generation and operation</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Preparation of annual development projects.</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research and development work.</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According to the administrative and financial delegation of power vested on the department:</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To be responsible for overall administrative activities</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Stipulation and transfusion of the officials and employees</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Recruitment of staff in the vacant position</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Administrative and technical approval in estimation</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Provide assistance to the workers regarding services and welfare</a:t>
                      </a:r>
                    </a:p>
                    <a:p>
                      <a:pPr marL="360000" lvl="0" indent="-180000" algn="l" defTabSz="1008400" rtl="0" eaLnBrk="1" fontAlgn="auto" latinLnBrk="0" hangingPunct="1">
                        <a:lnSpc>
                          <a:spcPct val="100000"/>
                        </a:lnSpc>
                        <a:spcBef>
                          <a:spcPts val="3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Arrangements for disciplinary action against the officers and employees</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progress of projects and address associated challenges</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Ministries/Planning Commission and any other concerned agencies to ensure project development and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Oversee risk assessment of the holding company &amp; subsidiaries’ functions, processes, project plans, IT infrastructure, external developments and prepare risk mitigation strategy</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risk mitigation strategy for holding company &amp; subsidiaries in coordination with respective departments</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Exploring and identifying opportunities related to investment in power ventures in Bangladesh and neighbouring countries in line with power development plan</a:t>
                      </a: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Design &amp; Technical Specification projects and the tender document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adherence to contractual obligations of all procurement contracts related of equipment suppliers/developers for candidate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Undertake Renewable Energy project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Quality Assurance /ISO/TQM related activities for ensuring adherence to set standards as per International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3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0639626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1645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r>
                        <a:rPr lang="en-IN" sz="1200" dirty="0" smtClean="0"/>
                        <a:t>Planning Department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all subsidiaries for their individual business &amp; strategy plans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preparation of integrated corporate strategy business of the holding &amp;subsidiary plan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overall requirement of power generation, distribution &amp; transmission forecasts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of the overall planning and design for all the projects related to power generation and operation</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Ministries/Planning Commission and any other concerned agencies to ensure project development and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Oversee risk assessment of the holding company &amp; subsidiaries’ functions, processes, project plans, IT infrastructure, external developments and prepare risk mitigation strategy</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risk mitigation strategy for holding company &amp; subsidiaries in coordination with respective departments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172754">
                <a:tc>
                  <a:txBody>
                    <a:bodyPr/>
                    <a:lstStyle/>
                    <a:p>
                      <a:r>
                        <a:rPr lang="en-IN" sz="1200" dirty="0" smtClean="0"/>
                        <a:t>Corporate Planning &amp; Strategy</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all subsidiaries for their individual annual business / strategy plan</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the individual subsidiary plans and prepare an integrate corporate strategy plan covering the holding company and subsidiaries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coordinate with Ministries / Planning Commission and any other concerned agencies on ensuring the corporate strategy plan is in line with Government Vision.</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coordinate with subsidiaries on their updated business / strategy plan for each subsidiary</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present the corporate strategy plan to the company management for the final approval</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liaise with different departments of the holding company and subsidiary counterparts on execution of the corporate strategy plan</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Conduct periodic review of the corporate strategy plan and monitor execution of the same for holding &amp; subsidiaries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Take measures to minimise deviation and ensure timely completion of the set targets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(2/16)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6873202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2280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System</a:t>
                      </a:r>
                    </a:p>
                    <a:p>
                      <a:r>
                        <a:rPr lang="en-IN" sz="1200" dirty="0" smtClean="0"/>
                        <a:t>Department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short term and long term planning for power generation, operation and distribution system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forecast the regional and country's total electricity demand and the maximum power demand projection at different times.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Formulation of Year Rotation Plan in line with Investment Plan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Preparation of the three-yearly rotation plan (rolling plan) in line with Investment Plan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study short circuit, load flow, voltage drop etc. of the system.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collect, process, maintain and renew the overall information related to power system.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assess Energy demand and its expenditure budget.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for annual development activities if necessary.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assistance in preparation of annual report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reasonable response for the power system interruptions to the concerned authorities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172754">
                <a:tc>
                  <a:txBody>
                    <a:bodyPr/>
                    <a:lstStyle/>
                    <a:p>
                      <a:r>
                        <a:rPr lang="en-IN" sz="1200" dirty="0" smtClean="0"/>
                        <a:t>Risk Management</a:t>
                      </a:r>
                      <a:endParaRPr lang="en-IN" sz="1200" dirty="0"/>
                    </a:p>
                  </a:txBody>
                  <a:tcPr/>
                </a:tc>
                <a:tc>
                  <a:txBody>
                    <a:bodyPr/>
                    <a:lstStyle/>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assess the existing risk management framework of the holding company and its subsidiaries and identify gaps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compliance to Company law, BERC regulations or any other law in force governing risk management in business operations &amp; processes of holding company &amp; its subsidiaries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Risk Management manuals and policies for the holding company and its subsidiaries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Conduct review of project plans, business processes, IT infrastructure, external developments impacting business environment to assess risks and their impact covering the holding company and its subsidiaries</a:t>
                      </a: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Develop mitigation plan for identified risks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periodic review of risk management activities and compliance to set standards &amp; processes for holding company &amp; subsidiaries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5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(3/16)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23645201"/>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3129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Project</a:t>
                      </a:r>
                    </a:p>
                    <a:p>
                      <a:r>
                        <a:rPr lang="en-IN" sz="1200" dirty="0" smtClean="0"/>
                        <a:t>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the overall planning and design for all the projects related to power generation and operation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Preparation of annual development projects.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research and development work.</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progress of projects and address associated challenges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Ministries/Planning Commission and any other concerned agencies to ensure project development and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Undertake planning activities related to approved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Design &amp; Technical Specification projects and the tender document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Exploring and identifying opportunities related to investment in power ventures in Bangladesh and neighbouring countries in line with power development plan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adherence to contractual obligations of all procurement contracts related of equipment suppliers/developers for candidate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Undertake Renewable Energy project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Quality Assurance /ISO/TQM related activities for ensuring adherence to set standards as per International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(4/16)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8879016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2367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Project Planning</a:t>
                      </a:r>
                    </a:p>
                    <a:p>
                      <a:r>
                        <a:rPr lang="en-IN" sz="1200" dirty="0" smtClean="0"/>
                        <a:t>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necessary guidelines for PSP/ TAPP/ PP of generation, operation, distribution and various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follow required guidelines as per ECNEC and DPEC while recasting the PP / TAPP / PCP etc.</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Drafting the necessary amendments after all other tasks pertaining to PCP / TAPP / PP is completed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Providing necessary instructions and guidelines for preparing the internal survey report/ feasibility survey report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oversee techno-commercial assessments and detailed project report preparation (DPR) and high level investment assessment of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process preparation of the project completion reports after making necessary amendments.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review various layout plans for construction work and to recommend the plans for approval.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all the necessary information whenever foreign missions come with the help for financing different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various reports as required by authorities / agencies / Ministries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overall departmental work of project planning department according to holding company rules.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(5/16)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2308501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8216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Design &amp; Inspection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the design and layout for the new power station installations.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the technical specification, tender document &amp; design and to evaluate tender in coordination with procurement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formulate design of operation and distribution system and to verify feasibility of rehabilitation work, to identify and resolve problem related to operation and distribution system.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testing and commissioning activities of operation and distribution line and substation instruments.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examine and approve all types of technical work in various project work, to supervise their work and to examine all financial bills.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in resolving technical problem assigned by the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system’s “Standard” and “Manual” according to the holding company management instruction.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Testing and inspection of machinery/ goods /materials purchased from both local and foreign market.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review power station installation proposal after its proper examination.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inspect the field activities of power station, operation and distribution offices.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execute Pre-production inspection and factory test related to the purchase of electricity related goods.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all the activities of the power plants officers and supervising administrative and financial work based on vested powers by the company management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technical assistance to the power plants related to the operation and maintenance of existing power plants.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representation in the tender committee meeting and to assist committee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Authority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(6/16)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784965050"/>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39496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Program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responsible for preparation of Annual Development </a:t>
                      </a:r>
                      <a:r>
                        <a:rPr lang="en-US" sz="1200" kern="1200" dirty="0" err="1" smtClean="0">
                          <a:solidFill>
                            <a:schemeClr val="tx1"/>
                          </a:solidFill>
                          <a:effectLst/>
                          <a:latin typeface="+mj-lt"/>
                          <a:ea typeface="Times" panose="02020603050405020304" pitchFamily="18" charset="0"/>
                          <a:cs typeface="Arial" panose="020B0604020202020204" pitchFamily="34" charset="0"/>
                        </a:rPr>
                        <a:t>Programme</a:t>
                      </a:r>
                      <a:r>
                        <a:rPr lang="en-US" sz="1200" kern="1200" dirty="0" smtClean="0">
                          <a:solidFill>
                            <a:schemeClr val="tx1"/>
                          </a:solidFill>
                          <a:effectLst/>
                          <a:latin typeface="+mj-lt"/>
                          <a:ea typeface="Times" panose="02020603050405020304" pitchFamily="18" charset="0"/>
                          <a:cs typeface="Arial" panose="020B0604020202020204" pitchFamily="34" charset="0"/>
                        </a:rPr>
                        <a:t> (ADP)</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Supervision, Compilation and evaluation of Progress of Development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Control &amp; Monitor the flow of local fund for field offices in coordination with Accounting &amp; Finance Departments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Responsible for arranging foreign assistance for Development Projects in coordination with Accounting &amp; Finance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Responsible for preparation of any other statistical statement as and when required by the different   Ministries, Planning Commission or any other Government agency.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Authority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Renewable Energy Project Development, Coordination &amp; Monitoring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assess the opportunity of Renewable Energy projects (Wind, Solar, Hydro etc.) to enhance power generation portfolio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Corporate Strategy &amp; System Planning departments for assessing the overall power demand &amp; supply forecasts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various Ministries, Planning Commission &amp; other agencies for renewable energy expansion in line with Government Vision.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project plans for RE development &amp; conduct feasibility studies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Explore funding options for the project including local &amp; foreign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Assist subsidiaries in enhancing their RE portfolio by providing expertise knowledge gained in holding company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RE project progress and take appropriate steps to ensure project execution in timely manner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(7/16)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325602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1" y="1062446"/>
          <a:ext cx="9966951" cy="6207760"/>
        </p:xfrm>
        <a:graphic>
          <a:graphicData uri="http://schemas.openxmlformats.org/drawingml/2006/table">
            <a:tbl>
              <a:tblPr firstRow="1" bandRow="1">
                <a:tableStyleId>{69012ECD-51FC-41F1-AA8D-1B2483CD663E}</a:tableStyleId>
              </a:tblPr>
              <a:tblGrid>
                <a:gridCol w="1410780"/>
                <a:gridCol w="8556171"/>
              </a:tblGrid>
              <a:tr h="323935">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112178">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Solar Project, </a:t>
                      </a:r>
                      <a:r>
                        <a:rPr lang="en-IN" sz="1200" dirty="0" err="1" smtClean="0"/>
                        <a:t>Kaptai</a:t>
                      </a:r>
                      <a:r>
                        <a:rPr lang="en-IN" sz="1200" baseline="0" dirty="0" smtClean="0"/>
                        <a:t> Department</a:t>
                      </a:r>
                      <a:endParaRPr lang="en-IN" sz="1200" dirty="0"/>
                    </a:p>
                  </a:txBody>
                  <a:tcPr/>
                </a:tc>
                <a:tc>
                  <a:txBody>
                    <a:bodyPr/>
                    <a:lstStyle/>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the construction of the power plant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Observation and supervision of the activities related to administrative, financial and departmental level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control, evaluate and regulate the officers.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communicate and to discuss with the holding company management on the progress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appropriate steps to ensure project operations as per schedule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3379726">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Project Coordination &amp; Monitoring Department</a:t>
                      </a:r>
                      <a:endParaRPr lang="en-IN" sz="1200" dirty="0"/>
                    </a:p>
                  </a:txBody>
                  <a:tcPr/>
                </a:tc>
                <a:tc>
                  <a:txBody>
                    <a:bodyPr/>
                    <a:lstStyle/>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concerned agencies and departments (both internal and external) to receive approval of the planned project of the Holding Company and the subsidiaries</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Ensuring compliance to all contractual obligations of various stakeholders during the project execution of holding company &amp; subsidiaries</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Coordinate with various local &amp; foreign funding agencies associated with the project and submit reports as per the agreement signed with them for each project</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prepare monthly progress report of the annual development projects. </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prepare monthly progress report of the ADP development projects. </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Distribution of the local currency of development projects and preparing answers related to National Parliament questions.</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Distribution of the local currency of field office and preparing answers related to National Parliament questions.</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Preparing and providing the overall statistics according to the demand of Ministry, Planning Commission, IMED and ERD.</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Processing the foreign aid projects through discussions with the Economic Relations Division and the Ministry, to take action for allocation of foreign aid projects and to collect and send reports on foreign aid.</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Monitor project execution and progress and address associated challenges through coordination with concerned agencies</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Assist in preparation of annual report of the holding company</a:t>
                      </a:r>
                    </a:p>
                    <a:p>
                      <a:pPr marL="180000" lvl="0" indent="-180000" algn="l" defTabSz="1008400" rtl="0" eaLnBrk="1" fontAlgn="auto" latinLnBrk="0" hangingPunct="1">
                        <a:lnSpc>
                          <a:spcPct val="100000"/>
                        </a:lnSpc>
                        <a:spcBef>
                          <a:spcPts val="4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(8/16)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1326983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00456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Contract Management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Provide assistance to the Tender Committee Members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include and preserve the” Tender Document” in register and archives.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properly preserve the secret documents related to the matters of financial and administrative proposal.</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formulate Draft Agreement and submit it to the authority.</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According to the decision of the authorities, to liaise with foreign institution secretary counterparts for signing of the final agreement.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arrange to carry out all the tasks and arrangements for contract and advisory related matters and to assist the authorities.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manage Government approval for the foreign advisors and experts by examining their resume and to manage for overall clearance.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Expansion of visa for foreign advisers, experts and technicians. </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manage clearance by examining the local and foreign currency invoice, to take steps related to customs pass book and to collect existing clearance. </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Arrangements for air travel tickets and hotel arrangements for foreign advisers, experts and technicians.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Providing information and report to the concern authority related to overall matters of foreign advisers, experts and technicians.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help in determining the income tax of foreign advisers / experts / technicians according to the needs of the concerned authorities.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perform the assigned administrative and financial responsibilities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Maintenance of bid-bank / bank guarantees and returns it to the bidder, subject to the approval of the concerned project directors.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(9/16)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757939458"/>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87680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Business Development &amp; Liaising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Explore and identify opportunities related to investment in power ventures in Bangladesh and neighbouring countries in line with power development plan</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Identify opportunities for providing expertise in Power projects to other power sector entities in Bangladesh and abroad</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conduct pre-feasibility / techno – commercial assessment of proposed investments plans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final reports on proposed investments and seek approval of Company Management, concerned Ministries &amp; Agencies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prepare financing plan in coordination with Accounts &amp; Financing Department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liaise with different departments on identified opportunities for provide expertise services of holding company</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Quality Assurance, ISO, TQM Compliance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Undertake audits pertaining to compliance of quality assurances standards and certification requirements for all departments, power plants, SBU / SBUs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and undertake TQM training and development in coordination with Training and Development team for all holding company employees based on requirement</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and submit reports to external agencies as per Quality Assurance and certification requirements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Maintain liaison with External Agencies pertaining to Quality Assurance Certifications</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(10/16)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74829373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03504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Khulna 330 MW Project Department</a:t>
                      </a:r>
                    </a:p>
                    <a:p>
                      <a:pPr marL="0" marR="0" lvl="0" indent="0" algn="l" defTabSz="1008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&amp; </a:t>
                      </a:r>
                    </a:p>
                    <a:p>
                      <a:pPr marL="0" marR="0" lvl="0" indent="0" algn="l" defTabSz="1008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err="1" smtClean="0"/>
                        <a:t>Ghorashal</a:t>
                      </a:r>
                      <a:r>
                        <a:rPr lang="en-US" sz="1200" dirty="0" smtClean="0"/>
                        <a:t> Re-powering Project</a:t>
                      </a:r>
                      <a:r>
                        <a:rPr lang="en-US" sz="1200" baseline="0" dirty="0" smtClean="0"/>
                        <a:t> Department</a:t>
                      </a:r>
                      <a:endParaRPr lang="en-IN"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a:t>
                      </a:r>
                      <a:r>
                        <a:rPr lang="en-US" sz="1200" dirty="0" err="1" smtClean="0"/>
                        <a:t>contd</a:t>
                      </a:r>
                      <a:r>
                        <a:rPr lang="en-US" sz="1200" dirty="0" smtClean="0"/>
                        <a: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preparing IEE, EIA by the consultant and obtaining sovereign guarantee.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approval of Total Project Site’s Layout and Site clearing/ Site development.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and to provide instruction for executing activities of the Project Superintending Engineers.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appropriate steps to address any technical/ financial/ administrative matters in the execution of the project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Formulation of APP and budget allocations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executing activities for construction of power plant according to the main civil work, electrical work, mechanical work, automation and instrument work, drawing and design.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according to the approved drawing and design and tender document for the quality of the construction materials of civil work, electrical work, and mechanical work.</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In every month, to arrange co-ordination meeting with the Advisory Provider Organization and Construction Companies and to take steps for implementing decision.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present the overall information in the pre-steering and steering committee meetings in every month, to address all queries of company management and for implementation of all decisions taken in the meeting.</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of Post Landing Inspection for purchased goods at project site from aboard. To take steps for ensuring the quality is according to the Tender document agreement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verify bill of the engaged consultant of the project, bill for goods transport from port to project site, bill for buying goods, bill for activities of EPC in every month, site visit inspection and to take steps for providing bill quickly.</a:t>
                      </a:r>
                    </a:p>
                    <a:p>
                      <a:pPr marL="180000" marR="0" lvl="0" indent="-180000" algn="l" defTabSz="1008400" rtl="0" eaLnBrk="1" fontAlgn="auto" latinLnBrk="0" hangingPunct="1">
                        <a:lnSpc>
                          <a:spcPct val="100000"/>
                        </a:lnSpc>
                        <a:spcBef>
                          <a:spcPts val="600"/>
                        </a:spcBef>
                        <a:spcAft>
                          <a:spcPts val="0"/>
                        </a:spcAft>
                        <a:buClrTx/>
                        <a:buSzTx/>
                        <a:buFont typeface="Symbol" panose="05050102010706020507" pitchFamily="18" charset="2"/>
                        <a:buChar char=""/>
                        <a:tabLst/>
                        <a:defRPr/>
                      </a:pPr>
                      <a:r>
                        <a:rPr lang="en-US" sz="1200" kern="1200" dirty="0" smtClean="0">
                          <a:solidFill>
                            <a:schemeClr val="tx1"/>
                          </a:solidFill>
                          <a:effectLst/>
                          <a:latin typeface="+mn-lt"/>
                          <a:ea typeface="Times" panose="02020603050405020304" pitchFamily="18" charset="0"/>
                          <a:cs typeface="Arial" panose="020B0604020202020204" pitchFamily="34" charset="0"/>
                        </a:rPr>
                        <a:t>To take steps for providing timely bill of the Management fee and Commitment fee/ Interest during Construction fee of the Loan Providing Bank.</a:t>
                      </a:r>
                    </a:p>
                    <a:p>
                      <a:pPr marL="180000" marR="0" lvl="0" indent="-180000" algn="l" defTabSz="1008400" rtl="0" eaLnBrk="1" fontAlgn="auto" latinLnBrk="0" hangingPunct="1">
                        <a:lnSpc>
                          <a:spcPct val="100000"/>
                        </a:lnSpc>
                        <a:spcBef>
                          <a:spcPts val="600"/>
                        </a:spcBef>
                        <a:spcAft>
                          <a:spcPts val="0"/>
                        </a:spcAft>
                        <a:buClrTx/>
                        <a:buSzTx/>
                        <a:buFont typeface="Symbol" panose="05050102010706020507" pitchFamily="18" charset="2"/>
                        <a:buChar char=""/>
                        <a:tabLst/>
                        <a:defRPr/>
                      </a:pPr>
                      <a:r>
                        <a:rPr lang="en-US" sz="1200" kern="1200" dirty="0" smtClean="0">
                          <a:solidFill>
                            <a:schemeClr val="tx1"/>
                          </a:solidFill>
                          <a:effectLst/>
                          <a:latin typeface="+mn-lt"/>
                          <a:ea typeface="Times" panose="02020603050405020304" pitchFamily="18" charset="0"/>
                          <a:cs typeface="Arial" panose="020B0604020202020204" pitchFamily="34" charset="0"/>
                        </a:rPr>
                        <a:t>Preparation of Tender Document for the purpose of performing the related activities in the interest of the project work, tender evaluation and approval by holding company and action for completion of appropriate work.</a:t>
                      </a:r>
                      <a:endParaRPr lang="en-IN" sz="1200" kern="1200" dirty="0" smtClean="0">
                        <a:solidFill>
                          <a:schemeClr val="tx1"/>
                        </a:solidFill>
                        <a:effectLst/>
                        <a:latin typeface="+mn-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(11/16)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5529638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5168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(..contd.)</a:t>
                      </a:r>
                    </a:p>
                    <a:p>
                      <a:pPr marL="0" marR="0" lvl="0" indent="0" algn="l" defTabSz="1008400" rtl="0" eaLnBrk="1" fontAlgn="auto" latinLnBrk="0" hangingPunct="1">
                        <a:lnSpc>
                          <a:spcPct val="100000"/>
                        </a:lnSpc>
                        <a:spcBef>
                          <a:spcPts val="0"/>
                        </a:spcBef>
                        <a:spcAft>
                          <a:spcPts val="0"/>
                        </a:spcAft>
                        <a:buClrTx/>
                        <a:buSzTx/>
                        <a:buFontTx/>
                        <a:buNone/>
                        <a:tabLst/>
                        <a:defRPr/>
                      </a:pPr>
                      <a:endParaRPr lang="en-IN"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Khulna 330 MW Project Department</a:t>
                      </a:r>
                    </a:p>
                    <a:p>
                      <a:pPr marL="0" marR="0" lvl="0" indent="0" algn="l" defTabSz="1008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&amp; </a:t>
                      </a:r>
                    </a:p>
                    <a:p>
                      <a:pPr marL="0" marR="0" lvl="0" indent="0" algn="l" defTabSz="1008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err="1" smtClean="0"/>
                        <a:t>Ghorashal</a:t>
                      </a:r>
                      <a:r>
                        <a:rPr lang="en-US" sz="1200" dirty="0" smtClean="0"/>
                        <a:t> Re-powering Project</a:t>
                      </a:r>
                      <a:r>
                        <a:rPr lang="en-US" sz="1200" baseline="0" dirty="0" smtClean="0"/>
                        <a:t> Department</a:t>
                      </a:r>
                      <a:endParaRPr lang="en-IN" sz="1200" dirty="0" smtClean="0"/>
                    </a:p>
                    <a:p>
                      <a:pPr marL="0" marR="0" lvl="0" indent="0" algn="l" defTabSz="1008400" rtl="0" eaLnBrk="1" fontAlgn="auto" latinLnBrk="0" hangingPunct="1">
                        <a:lnSpc>
                          <a:spcPct val="100000"/>
                        </a:lnSpc>
                        <a:spcBef>
                          <a:spcPts val="0"/>
                        </a:spcBef>
                        <a:spcAft>
                          <a:spcPts val="0"/>
                        </a:spcAft>
                        <a:buClrTx/>
                        <a:buSzTx/>
                        <a:buFontTx/>
                        <a:buNone/>
                        <a:tabLst/>
                        <a:defRPr/>
                      </a:pP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Presentation in the board meeting related to project activities and to take next steps by decisions taken in the board meeting.</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Supervision of the main instrument (Turbine, Generator, Boiler, Sub-Station etc.) installation of Power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security and residential arrangement for the Foreign and Local citizens, Consultants and EPC with the coordination and communication of Local Administration and Law Enforcement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necessary documents for discharge of goods and Import Permit for buying goods from aboard.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execute the activities related to Category Visa, Arrival Visa, A3 Visa, Visa Extension for Foreign Citizens.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arrange meeting with the </a:t>
                      </a:r>
                      <a:r>
                        <a:rPr lang="en-US" sz="1200" kern="1200" dirty="0" err="1" smtClean="0">
                          <a:solidFill>
                            <a:schemeClr val="tx1"/>
                          </a:solidFill>
                          <a:effectLst/>
                          <a:latin typeface="+mj-lt"/>
                          <a:ea typeface="Times" panose="02020603050405020304" pitchFamily="18" charset="0"/>
                          <a:cs typeface="Arial" panose="020B0604020202020204" pitchFamily="34" charset="0"/>
                        </a:rPr>
                        <a:t>Titas</a:t>
                      </a:r>
                      <a:r>
                        <a:rPr lang="en-US" sz="1200" kern="1200" dirty="0" smtClean="0">
                          <a:solidFill>
                            <a:schemeClr val="tx1"/>
                          </a:solidFill>
                          <a:effectLst/>
                          <a:latin typeface="+mj-lt"/>
                          <a:ea typeface="Times" panose="02020603050405020304" pitchFamily="18" charset="0"/>
                          <a:cs typeface="Arial" panose="020B0604020202020204" pitchFamily="34" charset="0"/>
                        </a:rPr>
                        <a:t> Gas, PGCB, Department of Explosives,  Department of Boiler Inspection for project work and to take steps as per decision.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approve layout for the installation work such as - Rest House, Dormitory, Internal Road, Boundary Wall construction, various instrument, Gas Line, Power Evacuation Line/ Cable and to take next steps as per decision.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providing Project DPP/ RDPP from the Planning Commission.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operate the power plant by getting all drawing and design from EPC and to take steps to handover to the responsible person /Authority.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Installation, performance and calibration of all kinds of instrument and to take steps for testing activities.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for operation of GTG, STG, CCPP by the properly executed activities of Plant and Testing Commissioning, Reliability Test, ICO Test, Performance Test etc.</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(12/16)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0631682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9987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Civil Works</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advice to administrative and technical approval of development and maintenance work under the Revenue-Budget.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recommendations for all the maintenance and capital work budgets of the Central Revenue Budget.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overall supervise and regulate the PC pool factory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According to the administrative and financial powers: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To be responsible for the overall activities of the Zone.</a:t>
                      </a: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Stipulation and transfusion of the officers and employees of the zone.</a:t>
                      </a: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Employee recruitment in vacant position.</a:t>
                      </a: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administrative and technical approval of estimation.</a:t>
                      </a: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support to the services and welfare work for the workers.</a:t>
                      </a:r>
                    </a:p>
                    <a:p>
                      <a:pPr marL="360000" lvl="0" indent="-180000" algn="l" defTabSz="1008400" rtl="0" eaLnBrk="1" fontAlgn="auto" latinLnBrk="0" hangingPunct="1">
                        <a:lnSpc>
                          <a:spcPct val="100000"/>
                        </a:lnSpc>
                        <a:spcBef>
                          <a:spcPts val="600"/>
                        </a:spcBef>
                        <a:spcAft>
                          <a:spcPts val="0"/>
                        </a:spcAft>
                        <a:buFont typeface="Courier New" panose="02070309020205020404" pitchFamily="49" charset="0"/>
                        <a:buChar char="o"/>
                      </a:pPr>
                      <a:r>
                        <a:rPr lang="en-IN" sz="1200" kern="1200" dirty="0" smtClean="0">
                          <a:solidFill>
                            <a:schemeClr val="tx1"/>
                          </a:solidFill>
                          <a:effectLst/>
                          <a:latin typeface="+mj-lt"/>
                          <a:ea typeface="Times" panose="02020603050405020304" pitchFamily="18" charset="0"/>
                          <a:cs typeface="Arial" panose="020B0604020202020204" pitchFamily="34" charset="0"/>
                        </a:rPr>
                        <a:t>To take disciplinary measures against the officers and employees of the zone</a:t>
                      </a: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Design &amp; Inspection Department</a:t>
                      </a:r>
                      <a:endParaRPr lang="en-IN" sz="1200" dirty="0"/>
                    </a:p>
                  </a:txBody>
                  <a:tcPr/>
                </a:tc>
                <a:tc>
                  <a:txBody>
                    <a:bodyPr/>
                    <a:lstStyle/>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finalize the design and specification for overall public works.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Approval of the designs for public works.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control the administrative departmental work.</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Visit the field level public works.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180000" lvl="0" indent="-180000" algn="l"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(13/16)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2408821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72440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Services Department</a:t>
                      </a:r>
                      <a:endParaRPr lang="en-IN" sz="1200" dirty="0"/>
                    </a:p>
                  </a:txBody>
                  <a:tcPr/>
                </a:tc>
                <a:tc>
                  <a:txBody>
                    <a:bodyPr/>
                    <a:lstStyle/>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monitor the activities of the CRS, C&amp;M, Electrical instrument, System protection &amp; testing departments</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evaluate of the progress of work of the Department of CRS, </a:t>
                      </a:r>
                      <a:r>
                        <a:rPr lang="en-US" sz="1200" dirty="0" err="1" smtClean="0">
                          <a:effectLst/>
                          <a:latin typeface="+mj-lt"/>
                          <a:ea typeface="Times" panose="02020603050405020304" pitchFamily="18" charset="0"/>
                          <a:cs typeface="Arial" panose="020B0604020202020204" pitchFamily="34" charset="0"/>
                        </a:rPr>
                        <a:t>Tongi</a:t>
                      </a:r>
                      <a:r>
                        <a:rPr lang="en-US" sz="1200" dirty="0" smtClean="0">
                          <a:effectLst/>
                          <a:latin typeface="+mj-lt"/>
                          <a:ea typeface="Times" panose="02020603050405020304" pitchFamily="18" charset="0"/>
                          <a:cs typeface="Arial" panose="020B0604020202020204" pitchFamily="34" charset="0"/>
                        </a:rPr>
                        <a:t>.</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evaluate the progress of the imported goods/ instrument by the company through the C &amp; M department</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progress and evaluation the work of the department of Electrical Equipment.</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progress and evaluation the work of the department of Diesel Generation. </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To progress and evaluate the work of the Department of VHF.</a:t>
                      </a:r>
                      <a:endParaRPr lang="en-IN" sz="1200" dirty="0" smtClean="0">
                        <a:effectLst/>
                        <a:latin typeface="+mj-lt"/>
                        <a:ea typeface="Times" panose="02020603050405020304" pitchFamily="18" charset="0"/>
                        <a:cs typeface="Arial" panose="020B0604020202020204" pitchFamily="34" charset="0"/>
                      </a:endParaRP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According to the administrative and financial powers:</a:t>
                      </a:r>
                      <a:endParaRPr lang="en-IN" sz="1200" dirty="0" smtClean="0">
                        <a:effectLst/>
                        <a:latin typeface="+mj-lt"/>
                        <a:ea typeface="Times" panose="02020603050405020304" pitchFamily="18" charset="0"/>
                        <a:cs typeface="Arial" panose="020B0604020202020204" pitchFamily="34" charset="0"/>
                      </a:endParaRP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be responsible for the overall activities of the holding company.</a:t>
                      </a: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Stipulation and transfer the officers and employees of the zone.</a:t>
                      </a: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recruit employee in vacant position.</a:t>
                      </a: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provide administrative and technical approval of estimation.</a:t>
                      </a: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provide support to the services and welfare work for the workers.</a:t>
                      </a:r>
                    </a:p>
                    <a:p>
                      <a:pPr marL="742950" lvl="1" indent="-285750" algn="l" fontAlgn="auto">
                        <a:lnSpc>
                          <a:spcPct val="100000"/>
                        </a:lnSpc>
                        <a:spcBef>
                          <a:spcPts val="600"/>
                        </a:spcBef>
                        <a:spcAft>
                          <a:spcPts val="0"/>
                        </a:spcAft>
                        <a:buFont typeface="Courier New" panose="02070309020205020404" pitchFamily="49" charset="0"/>
                        <a:buChar char="o"/>
                      </a:pPr>
                      <a:r>
                        <a:rPr lang="en-IN" sz="1200" dirty="0" smtClean="0">
                          <a:effectLst/>
                          <a:latin typeface="+mj-lt"/>
                          <a:ea typeface="Times" panose="02020603050405020304" pitchFamily="18" charset="0"/>
                          <a:cs typeface="Arial" panose="020B0604020202020204" pitchFamily="34" charset="0"/>
                        </a:rPr>
                        <a:t>To take disciplinary measures against the officers and employees of the zone</a:t>
                      </a:r>
                    </a:p>
                    <a:p>
                      <a:pPr marL="342900" lvl="0" indent="-342900" algn="just" fontAlgn="auto">
                        <a:lnSpc>
                          <a:spcPct val="100000"/>
                        </a:lnSpc>
                        <a:spcBef>
                          <a:spcPts val="600"/>
                        </a:spcBef>
                        <a:spcAft>
                          <a:spcPts val="0"/>
                        </a:spcAft>
                        <a:buFont typeface="Symbol" panose="05050102010706020507" pitchFamily="18" charset="2"/>
                        <a:buChar char=""/>
                      </a:pPr>
                      <a:r>
                        <a:rPr lang="en-US" sz="1200" dirty="0" smtClean="0">
                          <a:effectLst/>
                          <a:latin typeface="+mj-lt"/>
                          <a:ea typeface="Times" panose="02020603050405020304" pitchFamily="18" charset="0"/>
                          <a:cs typeface="Arial" panose="020B0604020202020204" pitchFamily="34" charset="0"/>
                        </a:rPr>
                        <a:t>Monitoring of testing and commissioning activities of sub stations</a:t>
                      </a:r>
                      <a:endParaRPr lang="en-IN" sz="1200" dirty="0" smtClean="0">
                        <a:effectLst/>
                        <a:latin typeface="+mj-lt"/>
                        <a:ea typeface="Times" panose="02020603050405020304" pitchFamily="18" charset="0"/>
                        <a:cs typeface="Arial" panose="020B0604020202020204" pitchFamily="34" charset="0"/>
                      </a:endParaRPr>
                    </a:p>
                    <a:p>
                      <a:pPr>
                        <a:lnSpc>
                          <a:spcPct val="100000"/>
                        </a:lnSpc>
                        <a:spcBef>
                          <a:spcPts val="600"/>
                        </a:spcBef>
                        <a:spcAft>
                          <a:spcPts val="0"/>
                        </a:spcAft>
                      </a:pPr>
                      <a:r>
                        <a:rPr lang="en-US" sz="1200" dirty="0" smtClean="0">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(14/16)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331345920"/>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8463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Clearance &amp; Movement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responsible for movement of equipment and materials from Port. to Warehouse.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Inspect equipment and materials at the time of clearance.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Custom clearance of the imported goods.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insurance claim.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Maintain records of shipping documents bill of entry and issuance order for clearance claim.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Issue dispatch instruction to carrying contractor.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insurance claim on the basis of survey report.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err="1" smtClean="0">
                          <a:solidFill>
                            <a:schemeClr val="tx1"/>
                          </a:solidFill>
                          <a:effectLst/>
                          <a:latin typeface="+mj-lt"/>
                          <a:ea typeface="Times" panose="02020603050405020304" pitchFamily="18" charset="0"/>
                          <a:cs typeface="Arial" panose="020B0604020202020204" pitchFamily="34" charset="0"/>
                        </a:rPr>
                        <a:t>Despatch</a:t>
                      </a:r>
                      <a:r>
                        <a:rPr lang="en-US" sz="1200" kern="1200" dirty="0" smtClean="0">
                          <a:solidFill>
                            <a:schemeClr val="tx1"/>
                          </a:solidFill>
                          <a:effectLst/>
                          <a:latin typeface="+mj-lt"/>
                          <a:ea typeface="Times" panose="02020603050405020304" pitchFamily="18" charset="0"/>
                          <a:cs typeface="Arial" panose="020B0604020202020204" pitchFamily="34" charset="0"/>
                        </a:rPr>
                        <a:t> bill of entry of each consignment to the Directors of E/E.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Any other duties as assigned by the Board.</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Electrical Equipment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Responsible for collection of data for the requirement/goods/materials of holding company in respect of plant and equipment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Processing and placing of various foreign and local indents both against resources as well as foreign credit.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Allocation of materials against requisitions received from all Superintending Engineers, Executive Engineers and Resident Engineers of the holding company and maintaining their records.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Control, supervision and management of 4 (four) Central Stores of the Board located at </a:t>
                      </a:r>
                      <a:r>
                        <a:rPr lang="en-US" sz="1200" kern="1200" dirty="0" err="1" smtClean="0">
                          <a:solidFill>
                            <a:schemeClr val="tx1"/>
                          </a:solidFill>
                          <a:effectLst/>
                          <a:latin typeface="+mj-lt"/>
                          <a:ea typeface="Times" panose="02020603050405020304" pitchFamily="18" charset="0"/>
                          <a:cs typeface="Arial" panose="020B0604020202020204" pitchFamily="34" charset="0"/>
                        </a:rPr>
                        <a:t>Tongi</a:t>
                      </a:r>
                      <a:r>
                        <a:rPr lang="en-US" sz="1200" kern="1200" dirty="0" smtClean="0">
                          <a:solidFill>
                            <a:schemeClr val="tx1"/>
                          </a:solidFill>
                          <a:effectLst/>
                          <a:latin typeface="+mj-lt"/>
                          <a:ea typeface="Times" panose="02020603050405020304" pitchFamily="18" charset="0"/>
                          <a:cs typeface="Arial" panose="020B0604020202020204" pitchFamily="34" charset="0"/>
                        </a:rPr>
                        <a:t>, </a:t>
                      </a:r>
                      <a:r>
                        <a:rPr lang="en-US" sz="1200" kern="1200" dirty="0" err="1" smtClean="0">
                          <a:solidFill>
                            <a:schemeClr val="tx1"/>
                          </a:solidFill>
                          <a:effectLst/>
                          <a:latin typeface="+mj-lt"/>
                          <a:ea typeface="Times" panose="02020603050405020304" pitchFamily="18" charset="0"/>
                          <a:cs typeface="Arial" panose="020B0604020202020204" pitchFamily="34" charset="0"/>
                        </a:rPr>
                        <a:t>Fouzderhat</a:t>
                      </a:r>
                      <a:r>
                        <a:rPr lang="en-US" sz="1200" kern="1200" dirty="0" smtClean="0">
                          <a:solidFill>
                            <a:schemeClr val="tx1"/>
                          </a:solidFill>
                          <a:effectLst/>
                          <a:latin typeface="+mj-lt"/>
                          <a:ea typeface="Times" panose="02020603050405020304" pitchFamily="18" charset="0"/>
                          <a:cs typeface="Arial" panose="020B0604020202020204" pitchFamily="34" charset="0"/>
                        </a:rPr>
                        <a:t>, </a:t>
                      </a:r>
                      <a:r>
                        <a:rPr lang="en-US" sz="1200" kern="1200" dirty="0" err="1" smtClean="0">
                          <a:solidFill>
                            <a:schemeClr val="tx1"/>
                          </a:solidFill>
                          <a:effectLst/>
                          <a:latin typeface="+mj-lt"/>
                          <a:ea typeface="Times" panose="02020603050405020304" pitchFamily="18" charset="0"/>
                          <a:cs typeface="Arial" panose="020B0604020202020204" pitchFamily="34" charset="0"/>
                        </a:rPr>
                        <a:t>Khalishpur</a:t>
                      </a:r>
                      <a:r>
                        <a:rPr lang="en-US" sz="1200" kern="1200" dirty="0" smtClean="0">
                          <a:solidFill>
                            <a:schemeClr val="tx1"/>
                          </a:solidFill>
                          <a:effectLst/>
                          <a:latin typeface="+mj-lt"/>
                          <a:ea typeface="Times" panose="02020603050405020304" pitchFamily="18" charset="0"/>
                          <a:cs typeface="Arial" panose="020B0604020202020204" pitchFamily="34" charset="0"/>
                        </a:rPr>
                        <a:t> and </a:t>
                      </a:r>
                      <a:r>
                        <a:rPr lang="en-US" sz="1200" kern="1200" dirty="0" err="1" smtClean="0">
                          <a:solidFill>
                            <a:schemeClr val="tx1"/>
                          </a:solidFill>
                          <a:effectLst/>
                          <a:latin typeface="+mj-lt"/>
                          <a:ea typeface="Times" panose="02020603050405020304" pitchFamily="18" charset="0"/>
                          <a:cs typeface="Arial" panose="020B0604020202020204" pitchFamily="34" charset="0"/>
                        </a:rPr>
                        <a:t>Ishurdi</a:t>
                      </a:r>
                      <a:r>
                        <a:rPr lang="en-US" sz="1200" kern="1200" dirty="0" smtClean="0">
                          <a:solidFill>
                            <a:schemeClr val="tx1"/>
                          </a:solidFill>
                          <a:effectLst/>
                          <a:latin typeface="+mj-lt"/>
                          <a:ea typeface="Times" panose="02020603050405020304" pitchFamily="18" charset="0"/>
                          <a:cs typeface="Arial" panose="020B0604020202020204" pitchFamily="34" charset="0"/>
                        </a:rPr>
                        <a: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(15/16)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29230966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10540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Central Equipment Repair Shop, </a:t>
                      </a:r>
                      <a:r>
                        <a:rPr lang="en-IN" sz="1200" dirty="0" err="1" smtClean="0"/>
                        <a:t>Tongi</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Oversee and execute repair and maintenance activities of major and critical equipment at the workshop with an aim to maximize equipment availability</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be responsible for supervision of repair of Transformer, switch gear, Meter etc. of holding company</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advisory support on major repair works.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ensure economical cost while performing repair &amp; maintenance activities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provide representations at commissioning of big power transformers after major repairs.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Checks that all repair/ Test etc. are carried out as per engineering practice.</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Report progress of repair &amp; maintenance activities to concerned power plant / SBU / SBUs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Liaise with local &amp; domestic equipment suppliers for spare parts based on requirement</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tender documents in coordination with procurement department</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Ensure adherence to all contractual obligations of any procurement activity done for the department</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System protection &amp; Testing Commissioning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Maintenance (checking, testing, calibration etc.) and setting of protective relays in the grid system including those of power plants.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revise the settings with the changed condition of the Grid System due to addition/alternation of generation unit, transmission lines transformer etc.</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Maintenance of Metering System of H. V. feeders in Grid S/S and install the same when required.</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Planning &amp; Development Department (16/16)</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60198573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3035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Company</a:t>
                      </a:r>
                      <a:r>
                        <a:rPr lang="en-US" sz="1200" baseline="0" dirty="0" smtClean="0"/>
                        <a:t> Affairs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Make &amp; frame holding company policies, rules and regulations and for reform purposes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Supervision of motivation works to build up manpower for holding company reforms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initiatives to implement corporate culture in company to achieve holding company reform program.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Overall co-ordination and contract management for operation of existing private sector power stations and of under construction private sector power stations (including IPP, RPP, QRPP, SPP, CPP &amp; other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Performing leadership role for planning, framing of MOU, JVA for the implementation of high capacity coal based power project with Govt. power entities India, Malaysia, China, Korea and Singapore.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Take active part for implementation of coal based Power Project at </a:t>
                      </a:r>
                      <a:r>
                        <a:rPr lang="en-US" sz="1200" kern="1200" dirty="0" err="1" smtClean="0">
                          <a:solidFill>
                            <a:schemeClr val="tx1"/>
                          </a:solidFill>
                          <a:effectLst/>
                          <a:latin typeface="+mj-lt"/>
                          <a:ea typeface="Times" panose="02020603050405020304" pitchFamily="18" charset="0"/>
                          <a:cs typeface="Arial" panose="020B0604020202020204" pitchFamily="34" charset="0"/>
                        </a:rPr>
                        <a:t>Rampal</a:t>
                      </a:r>
                      <a:r>
                        <a:rPr lang="en-US" sz="1200" kern="1200" dirty="0" smtClean="0">
                          <a:solidFill>
                            <a:schemeClr val="tx1"/>
                          </a:solidFill>
                          <a:effectLst/>
                          <a:latin typeface="+mj-lt"/>
                          <a:ea typeface="Times" panose="02020603050405020304" pitchFamily="18" charset="0"/>
                          <a:cs typeface="Arial" panose="020B0604020202020204" pitchFamily="34" charset="0"/>
                        </a:rPr>
                        <a:t>, Khulna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Make &amp; frame Power Purchase Agreement (PPA) between holding company and IPP, JVC &amp; Rental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Overall cooperation to holding company to co-ordinate works between holding company power stations, SBU / SBUs distribution zones and different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Programming, planning &amp; monitoring fuel supply condition of all rental power stations, large IPP’s, medium IPP’s, small IPP’s.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Supervision all other corporate related works.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exercise the administrative power under jurisdiction as and when necessary.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exercise the financial power according to the delegation of financial rules of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Performing all other duties, responsibilities &amp; works of any kind as assigned by the authority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Company Affairs Department (1/5)</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7117511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6939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Coal Power Generation</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tender document for installation of the Private Coal based Power Station and to evaluate of the tender document.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inspect the field work related to installation of the Private Coal based Power Station.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inspect the capacity test and to certify monthly bill of the Private Coal based Power Station.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overall supervise the activities related to the administrative and financial vested to the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overall assistance for operating Power Station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attend of the various meeting of the Private Power Station and to provide assistance to the committee.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SBU Coordination</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cooperation to holding company to co-ordinate works between holding company power stations, SBU / SBUs distribution zones and different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Oversee SBU report preparations for activities performed and present to company management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Enable sharing of resources such as technical knowhow, troubleshooting expertise among SBU / SBUs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Enable manpower transfer among SBU / SBUs in coordination with SBU heads, personnel departments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Company Affairs Department (2/5)</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2565650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0175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1300 MW Coal Power Project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and to observe the departmental activities of the Chittagong (</a:t>
                      </a:r>
                      <a:r>
                        <a:rPr lang="en-US" sz="1200" kern="1200" dirty="0" err="1" smtClean="0">
                          <a:solidFill>
                            <a:schemeClr val="tx1"/>
                          </a:solidFill>
                          <a:effectLst/>
                          <a:latin typeface="+mj-lt"/>
                          <a:ea typeface="Times" panose="02020603050405020304" pitchFamily="18" charset="0"/>
                          <a:cs typeface="Arial" panose="020B0604020202020204" pitchFamily="34" charset="0"/>
                        </a:rPr>
                        <a:t>Anowara</a:t>
                      </a:r>
                      <a:r>
                        <a:rPr lang="en-US" sz="1200" kern="1200" dirty="0" smtClean="0">
                          <a:solidFill>
                            <a:schemeClr val="tx1"/>
                          </a:solidFill>
                          <a:effectLst/>
                          <a:latin typeface="+mj-lt"/>
                          <a:ea typeface="Times" panose="02020603050405020304" pitchFamily="18" charset="0"/>
                          <a:cs typeface="Arial" panose="020B0604020202020204" pitchFamily="34" charset="0"/>
                        </a:rPr>
                        <a:t>) Power Station construction.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and to supervise the activities related to road construction under the Chittagong and Khulna 1320 MW*2 coal based power station construction project, Chittagong.</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steps and to supervise the overall activities related to Block A and Block B under the Chittagong and Khulna 1320 MW*2 coal based power station construction project. (by BIFPCL)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Observation and supervision of the activities related to administrative, financial and departmental.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control, evaluate and regulate the officers.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communicate and to discuss with the BIFPCL and Consultant related to various activities of </a:t>
                      </a:r>
                      <a:r>
                        <a:rPr lang="en-US" sz="1200" kern="1200" dirty="0" err="1" smtClean="0">
                          <a:solidFill>
                            <a:schemeClr val="tx1"/>
                          </a:solidFill>
                          <a:effectLst/>
                          <a:latin typeface="+mj-lt"/>
                          <a:ea typeface="Times" panose="02020603050405020304" pitchFamily="18" charset="0"/>
                          <a:cs typeface="Arial" panose="020B0604020202020204" pitchFamily="34" charset="0"/>
                        </a:rPr>
                        <a:t>Rampal</a:t>
                      </a:r>
                      <a:r>
                        <a:rPr lang="en-US" sz="1200" kern="1200" dirty="0" smtClean="0">
                          <a:solidFill>
                            <a:schemeClr val="tx1"/>
                          </a:solidFill>
                          <a:effectLst/>
                          <a:latin typeface="+mj-lt"/>
                          <a:ea typeface="Times" panose="02020603050405020304" pitchFamily="18" charset="0"/>
                          <a:cs typeface="Arial" panose="020B0604020202020204" pitchFamily="34" charset="0"/>
                        </a:rPr>
                        <a:t> Project.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Company Affairs Department (3/5)</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80615182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62941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Private</a:t>
                      </a:r>
                      <a:r>
                        <a:rPr lang="en-US" sz="1200" baseline="0" dirty="0" smtClean="0"/>
                        <a:t> Generation</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overall activities related to IPP Cell-1, IPP Cell-2, IPP Cell-3 and IPP/ PPP power station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various processing procedures for IPP/ PPP.</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Preparation of Tender Documents through the concerned committee for various PPP projects, call for tenders, evaluation and finalization by the concerned committee and to execute the contract management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Finalization of contractual agreement with negotiations through the concerned authorities with the sponsoring company for different IPP/ PPP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processing of monthly invoice of IPP/ PPP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execute annual capacity test of the existing IPP/ PPP power centers through the committee formed by the officials of various departments and the action taken accordingly.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Maintaining record of the imported fuel by the sponsored company and to perform tax-free acquisition process.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the issuance of the certificate of the imported plants and equipment and parts as per SRO issued by the Government.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Preservation of availability and outage of existing IPP/ PPP accounts. Approval from the Management regarding proposed Plant Shutdown and to ensure and implement the Optimum Operation.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coordinate with the Load Dispatch Centre and Companies related to Dispatch and Outage of the existing IPP/ PPP power station.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regularly check of the Energy Meter of the IPP/ PPP power station with the coordination of the Energy Auditing Unit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notify and recommend the Board regarding power Purchase agreement of various IPP/ PPP and Land Lease Agreement under plant COD to perform company’s obligation.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look after the issues related to the agreement between the joint venture companies (PPP/ VJC) and all its related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Company Affairs Department (4/5)</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79254596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5930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200" dirty="0" smtClean="0"/>
                        <a:t>IPP Cell – 1/2/3</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overall activities related to IPP cell and IPP/ PPP power station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various processing procedures for IPP/ PPP.</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Preparation of Tender Documents through the concerned committee for various PPP projects, call for tenders, evaluation and finalization by the concerned committee and to execute the contract management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Finalization of contractual agreement through negotiations with the concerned authorities with the sponsoring company for different IPP/ PPP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execute annual capacity test of the existing IPP/ PPP power centers through the committee formed by the officials of various departments and the action taken accordingly.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maintain record of the imported fuel by the sponsored company and to perform tax-free acquisition process.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the issuance of the certificate of the imported plants and equipment and parts as per SRO issued by the Government.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preservation of availability and outage of existing IPP/ PPP accounts. Approval from the management regarding proposed Plant Shutdown and to ensure and implement the Optimum Operation.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coordinate with the Load Dispatch Centre and Companies related to Dispatch and Outage of the existing IPP/ PPP power station.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regularly check the Energy Meter of the IPP/ PPP power station with the coordination of the Energy Auditing Unit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issues related to the agreement between the joint venture companies (PPP/ VJC) and all its related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Company Affairs Department (5/5)</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42459462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80060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Power Plant O&amp;M Services &amp; Asset Management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Provide specialized O&amp;M Services for holding company’s own plants as well as other power utilities in Bangladesh</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requirement of Plant O&amp;M services and asset management in Bangladesh in coordination with Business Development Liaising Department of holding company</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Conduct re-engineering, renovation study, knowledge transfer to improve power plant performance of holding company’s own plants as well other utilities based on request</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Conduct Audit of operation performance, analyse key areas of improvement</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Assist in physical asset management, investment analysis for capex intensive improvement activities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Power Plant O&amp;M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the overall operation &amp; maintenance (O&amp;M) work of the power stations for smooth, reliable &amp; dependable generation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implement the plan for planning and implementation of short/ mid / long term program for the maintenance of power stations.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assessment and preparation of the list of necessary spare parts, equipment, goods etc. required for proper operation &amp; maintenance (O&amp;M) and good management of the power stations.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recommend to the company management for resolving the issues related to power station management and maintenance problems.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(1/7)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82493799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2882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Water-Chemistry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assess the levels of suspended particles, colloidal particles, alkaline salts &amp; neutral salts in the water to be used for the power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undertake Pretreatment of raw water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filter water for softening</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ultra pure / demineralized water is used in plant boiler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water supply as per set standard in cooling water system</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Monitoring of steam / water parameters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all activities are performed as per set standard and water quality is maintained at all times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Maintenance planning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Assess plant equipment &amp; efficiency regularly to assess the plant maintenance requirement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a consolidated list of plant machinery &amp; equipment that need to be repaired / serviced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initiate procurement activities for spare parts &amp; consumables based on plant assessment to ensure timely delivery during maintenance activity execution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power plant maintenance schedule in coordination with Plant O&amp;M, Planning &amp; Development departments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plant maintenance activities in line with approved plan to ensure completion in timely manner</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Provide requisite training to employees for plant maintenance activities in collaboration with training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(2/7)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991197658"/>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20624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Procurement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an annual procurement list for all spare parts &amp; consumables for the power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annual estimated fuel procurement forecast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Finalizing the tender Documents for Local Purchase as per approved administrative &amp; financial authority for the local procurements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invite tender for projects and complete all related activities for procurement.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act according to delegation of power conferred by Company Management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invite tender for projects and complete all related activities up to procurement.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evaluate the tender, letter of intent and necessary amendment.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examine purchase agreement and to take arrangement for signing of the contracts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coordinate with Central Procurement Department for all procurement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Coordinate with Central Procurement Department for all procurement activities above the specified financial limit for the local procurement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If directed, to inspect and examine the pre-inspected goods whenever necessary.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execute administrative work.</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(3/7)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2412224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405384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Stores / Inventory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list of plant inventory periodically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Provide spare parts / consumables to each user department upon request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Assess requirement of plant spare parts / consumables as part of operations and keep track of inventory levels to maintain optimum level of inventory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maintain adequate safety stock and initiate procurement request in case on spare / consumables depletion below threshold levels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alert company management for waste of property, theft or destruction of stored goods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fire prevention measures.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ensure the security of the store and inspect the store area.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prepare annual verification report of all the goods in the store and to conduct annual inventory valuations as per applicable laws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Coordinate with plant level procurement &amp; central procurement departments for tendering of spare parts / consumables based on requirement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spare part availability to maximize plant availability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(4/7)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77904761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2882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Accounts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responsible for preparing financial reports pertaining to the power plant in a timely manner and to maintain of the overall accounts relating to income and expenditure of the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preserve register and to monitor the local and foreign expenditure of the development projects implemented by the power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Undertake cash management activities for daily cash expenses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assist auditors for performing statutory audit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Provide the plant consolidated financial reports to the Central Accounts Department periodically and on request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Assist in preparation of Annual Report of the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Health, Safety &amp; Environment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Review and monitor the Health, Safety Environment standards maintained at the plant level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HSE reports for the central HSE department periodically and on request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Monitor the legal legislation, rules and acts relating to environmental, health and safety compliances required for the power plants premises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plant wide adherence to HSE standards and set safety norms as required by regulators &amp; Government agencies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procurement plan for HSE equipment as required for power plant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HSE audits for compliance to stipulated standards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Coordination with external agencies as required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(5/7)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50880587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57784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Performance Monitoring, MIS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power plant performance monitoring manuals and set targets in consultation with Central performance monitoring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To conduct periodic plant performance assessments in terms of operational &amp; financial performance</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plant efficiency, average output, Plant Load Factor, Plant shutdown time, unplanned maintenance etc. to assess the operational performance </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Assess plant variable costs, fixed costs, payment &amp; receipt delays, inventory management costs etc. to assess the financial performance</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performance monitoring report and improvement strategy for the plant in coordination with Central performance monitoring department &amp; Generation department head</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power plant MIS reports as per internal (company management, department heads etc.) and external (Government, Regulators, Agencies, Funding Institutions etc.)</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SBU / Plant Level HR and Admin Department  of each Power Plant / SBU / SBUs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plant level manpower analysis and submit to Central Administration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recruitment plan in consultation with administration department and assist in employee recruitment activities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plant level training &amp; development plant and present to central department for approval</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be responsible for employee onboarding, training &amp; development at the plant site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plant level welfare activity plan and execute them in consultation with labor &amp; welfare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Responsible to day-to-day administrative activities at the plant site and assist plant employees &amp; officials as per company policies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(6/7)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48421668"/>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23926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Power Plant Construction, Rehabilitation &amp; Conversion Project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and to observe the construction, rehabilitation &amp; conversion projects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Observation and supervision of the activities related to administrative, and financial aspects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monitor the work conducted by EPC contractors and assess their performance in terms of quality &amp; timely completion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monitoring reports in coordination with central project coordination &amp; monitoring department.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regular site visits for physical verification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Generation Department (7/7)</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858763519"/>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591312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Public Relations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Responsible for management of public Relations, Publicity, Publication of news, letters, advertisement, Annual Reports and Periodicals.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branding and marketing plan for the organization</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Prepare corporate / public relation communication and mailers in line with business vision</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Protocol and maintain liaison with the foreign delegates.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Attend assembly sessions and prepare answers in consultation with the different offices when assembly is in session.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Printing and Publication of different type of forms, file cover etc.</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Supervise the functions of the Printing press.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handle disciplinary matters of departmental employees as per rule.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Legal Affairs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review &amp; assist preparation of legal documents such as Tenders, Contracts, PPA, PSAs </a:t>
                      </a:r>
                      <a:r>
                        <a:rPr lang="en-US" sz="1200" kern="1200" dirty="0" err="1" smtClean="0">
                          <a:solidFill>
                            <a:schemeClr val="tx1"/>
                          </a:solidFill>
                          <a:effectLst/>
                          <a:latin typeface="+mj-lt"/>
                          <a:ea typeface="Times" panose="02020603050405020304" pitchFamily="18" charset="0"/>
                          <a:cs typeface="Arial" panose="020B0604020202020204" pitchFamily="34" charset="0"/>
                        </a:rPr>
                        <a:t>etc</a:t>
                      </a:r>
                      <a:r>
                        <a:rPr lang="en-US" sz="1200" kern="1200" dirty="0" smtClean="0">
                          <a:solidFill>
                            <a:schemeClr val="tx1"/>
                          </a:solidFill>
                          <a:effectLst/>
                          <a:latin typeface="+mj-lt"/>
                          <a:ea typeface="Times" panose="02020603050405020304" pitchFamily="18" charset="0"/>
                          <a:cs typeface="Arial" panose="020B0604020202020204" pitchFamily="34" charset="0"/>
                        </a:rPr>
                        <a:t> in coordination with user departments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Provide legal advice to user departments on the operations of the business as per Company Law, BERC regulations, Ministry circulars or any other law in force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take legal actions based on the recommendation of enquiry &amp; disciplinary committee after providing recommendations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provide legal settlement based on the investigation report submitted by the investigating officer of enquiry &amp; discipline department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and prepare the court cases in relation to defaulting consumers and appointment of lawyers for the same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Represent holding company for any court appearances / arbitration appearances as required by law</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other Departments (1/3)</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93001102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97764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Company Secretarial Services</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Ensure financial and legal compliances of the organization in accordance with Companies Act and any other prevailing law in force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Deals with all works related to company affairs, correspondence, collate information and communicate with relevant company stakeholders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Preparation, circulation of agenda and keeping records of the Boards meeting and other meeting convened by the Chairman</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supervise the function of the Contract And the Consultant Administration Section of Holding Company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Enlistment of Travel Agents and arrangement of Air Tickets for high officials. </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Obtain permission from the Ministry of Home affairs for foreigners, Students, VIP etc.</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Processing the works relating to Tender Evaluation Committee.</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Compilation of Monthly and Yearly resume of activities of holding company and submission to the Ministry.</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Taxes, Custom clearance, </a:t>
                      </a:r>
                      <a:r>
                        <a:rPr lang="en-US" sz="1200" kern="1200" dirty="0" err="1" smtClean="0">
                          <a:solidFill>
                            <a:schemeClr val="tx1"/>
                          </a:solidFill>
                          <a:effectLst/>
                          <a:latin typeface="+mj-lt"/>
                          <a:ea typeface="Times" panose="02020603050405020304" pitchFamily="18" charset="0"/>
                          <a:cs typeface="Arial" panose="020B0604020202020204" pitchFamily="34" charset="0"/>
                        </a:rPr>
                        <a:t>Octroi</a:t>
                      </a:r>
                      <a:r>
                        <a:rPr lang="en-US" sz="1200" kern="1200" dirty="0" smtClean="0">
                          <a:solidFill>
                            <a:schemeClr val="tx1"/>
                          </a:solidFill>
                          <a:effectLst/>
                          <a:latin typeface="+mj-lt"/>
                          <a:ea typeface="Times" panose="02020603050405020304" pitchFamily="18" charset="0"/>
                          <a:cs typeface="Arial" panose="020B0604020202020204" pitchFamily="34" charset="0"/>
                        </a:rPr>
                        <a:t> and other allied matters on behalf of the Company Management</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duties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other Departments (2/3)</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0667091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439792" y="1062446"/>
          <a:ext cx="9785952" cy="3459480"/>
        </p:xfrm>
        <a:graphic>
          <a:graphicData uri="http://schemas.openxmlformats.org/drawingml/2006/table">
            <a:tbl>
              <a:tblPr firstRow="1" bandRow="1">
                <a:tableStyleId>{69012ECD-51FC-41F1-AA8D-1B2483CD663E}</a:tableStyleId>
              </a:tblPr>
              <a:tblGrid>
                <a:gridCol w="1476095"/>
                <a:gridCol w="8309857"/>
              </a:tblGrid>
              <a:tr h="174171">
                <a:tc>
                  <a:txBody>
                    <a:bodyPr/>
                    <a:lstStyle/>
                    <a:p>
                      <a:r>
                        <a:rPr lang="en-US" sz="1200" dirty="0" smtClean="0"/>
                        <a:t>Function / Department</a:t>
                      </a:r>
                      <a:endParaRPr lang="en-IN" sz="1200" dirty="0"/>
                    </a:p>
                  </a:txBody>
                  <a:tcPr/>
                </a:tc>
                <a:tc>
                  <a:txBody>
                    <a:bodyPr/>
                    <a:lstStyle/>
                    <a:p>
                      <a:pPr>
                        <a:spcBef>
                          <a:spcPts val="300"/>
                        </a:spcBef>
                      </a:pPr>
                      <a:r>
                        <a:rPr lang="en-US" sz="1200" dirty="0" smtClean="0"/>
                        <a:t>High Level Roles &amp; Responsibilities</a:t>
                      </a:r>
                      <a:endParaRPr lang="en-IN" sz="1200" dirty="0"/>
                    </a:p>
                  </a:txBody>
                  <a:tcPr/>
                </a:tc>
              </a:tr>
              <a:tr h="10740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IN" sz="1200" dirty="0" smtClean="0"/>
                        <a:t>Performance</a:t>
                      </a:r>
                      <a:r>
                        <a:rPr lang="en-IN" sz="1200" baseline="0" dirty="0" smtClean="0"/>
                        <a:t> Monitoring &amp; MIS Department</a:t>
                      </a:r>
                      <a:endParaRPr lang="en-IN" sz="1200" dirty="0"/>
                    </a:p>
                  </a:txBody>
                  <a:tcPr/>
                </a:tc>
                <a:tc>
                  <a:txBody>
                    <a:bodyPr/>
                    <a:lstStyle/>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holding company &amp; subsidiaries performance monitoring manuals and set targets in consultation with Company Management &amp; Board of Directors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Conduct periodic performance assessment of individual departments, power plants, SBU / SBUs, subsidiary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Periodically review policies, strategies, guidelines, plans and performance of the holding company and its subsidiaries</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IN" sz="1200" kern="1200" dirty="0" smtClean="0">
                          <a:solidFill>
                            <a:schemeClr val="tx1"/>
                          </a:solidFill>
                          <a:effectLst/>
                          <a:latin typeface="+mj-lt"/>
                          <a:ea typeface="Times" panose="02020603050405020304" pitchFamily="18" charset="0"/>
                          <a:cs typeface="Arial" panose="020B0604020202020204" pitchFamily="34" charset="0"/>
                        </a:rPr>
                        <a:t>Assist management of the entities (subsidiaries) in conducting review for key areas of improvement </a:t>
                      </a: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performance monitoring report and improvement strategy for the departments, power plants, SBU/ SBUs, subsidiary companies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Plan &amp; Implement organization wide MIS framework between holding company &amp; subsidiaries</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Prepare MIS reports as per internal (company management, department heads etc.) and external (Government, Regulators, Agencies, Funding Institutions etc.)</a:t>
                      </a:r>
                      <a:endParaRPr lang="en-IN" sz="1200" kern="1200" dirty="0" smtClean="0">
                        <a:solidFill>
                          <a:schemeClr val="tx1"/>
                        </a:solidFill>
                        <a:effectLst/>
                        <a:latin typeface="+mj-lt"/>
                        <a:ea typeface="Times" panose="02020603050405020304" pitchFamily="18" charset="0"/>
                        <a:cs typeface="Arial" panose="020B0604020202020204" pitchFamily="34" charset="0"/>
                      </a:endParaRPr>
                    </a:p>
                    <a:p>
                      <a:pPr marL="342900" lvl="0" indent="-342900" algn="just" defTabSz="1008400" rtl="0" eaLnBrk="1" fontAlgn="auto" latinLnBrk="0" hangingPunct="1">
                        <a:lnSpc>
                          <a:spcPct val="100000"/>
                        </a:lnSpc>
                        <a:spcBef>
                          <a:spcPts val="600"/>
                        </a:spcBef>
                        <a:spcAft>
                          <a:spcPts val="0"/>
                        </a:spcAft>
                        <a:buFont typeface="Symbol" panose="05050102010706020507" pitchFamily="18" charset="2"/>
                        <a:buChar char=""/>
                      </a:pPr>
                      <a:r>
                        <a:rPr lang="en-US" sz="1200" kern="1200" dirty="0" smtClean="0">
                          <a:solidFill>
                            <a:schemeClr val="tx1"/>
                          </a:solidFill>
                          <a:effectLst/>
                          <a:latin typeface="+mj-lt"/>
                          <a:ea typeface="Times" panose="02020603050405020304" pitchFamily="18" charset="0"/>
                          <a:cs typeface="Arial" panose="020B0604020202020204" pitchFamily="34" charset="0"/>
                        </a:rPr>
                        <a:t>To perform any other functions assigned by the higher authorities from time to time.</a:t>
                      </a:r>
                      <a:endParaRPr lang="en-IN" sz="1200" kern="1200" dirty="0">
                        <a:solidFill>
                          <a:schemeClr val="tx1"/>
                        </a:solidFill>
                        <a:effectLst/>
                        <a:latin typeface="+mj-lt"/>
                        <a:ea typeface="Times" panose="02020603050405020304" pitchFamily="18" charset="0"/>
                        <a:cs typeface="Arial" panose="020B0604020202020204" pitchFamily="34" charset="0"/>
                      </a:endParaRPr>
                    </a:p>
                  </a:txBody>
                  <a:tcPr/>
                </a:tc>
              </a:tr>
            </a:tbl>
          </a:graphicData>
        </a:graphic>
      </p:graphicFrame>
      <p:sp>
        <p:nvSpPr>
          <p:cNvPr id="5" name="Title 2"/>
          <p:cNvSpPr>
            <a:spLocks noGrp="1"/>
          </p:cNvSpPr>
          <p:nvPr>
            <p:ph type="title"/>
          </p:nvPr>
        </p:nvSpPr>
        <p:spPr>
          <a:xfrm>
            <a:off x="439793" y="350131"/>
            <a:ext cx="9785951" cy="368439"/>
          </a:xfrm>
        </p:spPr>
        <p:txBody>
          <a:bodyPr/>
          <a:lstStyle/>
          <a:p>
            <a:pPr algn="just"/>
            <a:r>
              <a:rPr lang="en-US" sz="2000" b="1" dirty="0"/>
              <a:t>Proposed High-Level </a:t>
            </a:r>
            <a:r>
              <a:rPr lang="en-US" sz="2000" b="1" dirty="0" smtClean="0"/>
              <a:t>Roles &amp; Responsibilities under other Departments (3/3)</a:t>
            </a:r>
            <a:endParaRPr lang="en-IN" sz="2000" b="1" dirty="0">
              <a:solidFill>
                <a:schemeClr val="accent1">
                  <a:lumMod val="75000"/>
                </a:schemeClr>
              </a:solidFill>
            </a:endParaRPr>
          </a:p>
        </p:txBody>
      </p:sp>
      <p:sp>
        <p:nvSpPr>
          <p:cNvPr id="6" name="Pentagon 5">
            <a:hlinkClick r:id="rId2" action="ppaction://hlinksldjump"/>
          </p:cNvPr>
          <p:cNvSpPr/>
          <p:nvPr/>
        </p:nvSpPr>
        <p:spPr bwMode="gray">
          <a:xfrm flipH="1">
            <a:off x="10225744" y="699279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242917020"/>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black"/>
                </a:solidFill>
              </a:rPr>
              <a:t>5</a:t>
            </a:r>
            <a:r>
              <a:rPr lang="en-US" sz="5400" dirty="0" smtClean="0">
                <a:solidFill>
                  <a:prstClr val="black"/>
                </a:solidFill>
              </a:rPr>
              <a:t>. Proposed Relationship with subsidiaries</a:t>
            </a:r>
            <a:endParaRPr lang="en-US" sz="5400" dirty="0">
              <a:solidFill>
                <a:prstClr val="black"/>
              </a:solidFill>
            </a:endParaRPr>
          </a:p>
        </p:txBody>
      </p:sp>
    </p:spTree>
    <p:extLst>
      <p:ext uri="{BB962C8B-B14F-4D97-AF65-F5344CB8AC3E}">
        <p14:creationId xmlns:p14="http://schemas.microsoft.com/office/powerpoint/2010/main" val="3497407879"/>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8842" y="5367439"/>
            <a:ext cx="1800000" cy="720000"/>
          </a:xfrm>
          <a:prstGeom prst="rect">
            <a:avLst/>
          </a:prstGeom>
          <a:solidFill>
            <a:srgbClr val="ECFBFE"/>
          </a:solidFill>
          <a:ln w="12700">
            <a:solidFill>
              <a:schemeClr val="tx1"/>
            </a:solidFill>
          </a:ln>
        </p:spPr>
        <p:txBody>
          <a:bodyPr wrap="square" lIns="36000" tIns="0" rIns="36000" bIns="0" rtlCol="0" anchor="ctr">
            <a:noAutofit/>
          </a:bodyPr>
          <a:lstStyle>
            <a:defPPr>
              <a:defRPr lang="en-US"/>
            </a:defPPr>
            <a:lvl1pPr algn="ctr">
              <a:buSzPct val="100000"/>
              <a:defRPr sz="1200">
                <a:solidFill>
                  <a:srgbClr val="313131"/>
                </a:solidFill>
              </a:defRPr>
            </a:lvl1pPr>
          </a:lstStyle>
          <a:p>
            <a:r>
              <a:rPr lang="en-US" sz="1400" dirty="0"/>
              <a:t>RE </a:t>
            </a:r>
            <a:r>
              <a:rPr lang="en-US" sz="1400" dirty="0" err="1"/>
              <a:t>proj</a:t>
            </a:r>
            <a:r>
              <a:rPr lang="en-US" sz="1400" dirty="0"/>
              <a:t>. </a:t>
            </a:r>
            <a:r>
              <a:rPr lang="en-US" sz="1400" dirty="0" err="1"/>
              <a:t>coord</a:t>
            </a:r>
            <a:r>
              <a:rPr lang="en-US" sz="1400" dirty="0"/>
              <a:t>. &amp; monitoring</a:t>
            </a:r>
            <a:endParaRPr lang="en-IN" sz="1400" dirty="0"/>
          </a:p>
        </p:txBody>
      </p:sp>
      <p:sp>
        <p:nvSpPr>
          <p:cNvPr id="7" name="TextBox 6"/>
          <p:cNvSpPr txBox="1"/>
          <p:nvPr/>
        </p:nvSpPr>
        <p:spPr>
          <a:xfrm>
            <a:off x="458842" y="6337453"/>
            <a:ext cx="1800000" cy="730097"/>
          </a:xfrm>
          <a:prstGeom prst="rect">
            <a:avLst/>
          </a:prstGeom>
          <a:solidFill>
            <a:schemeClr val="accent1">
              <a:lumMod val="60000"/>
              <a:lumOff val="40000"/>
            </a:schemeClr>
          </a:solidFill>
          <a:ln w="12700">
            <a:solidFill>
              <a:schemeClr val="tx1"/>
            </a:solidFill>
          </a:ln>
        </p:spPr>
        <p:txBody>
          <a:bodyPr wrap="square" lIns="36000" tIns="0" rIns="36000" bIns="0" rtlCol="0" anchor="ctr">
            <a:noAutofit/>
          </a:bodyPr>
          <a:lstStyle/>
          <a:p>
            <a:pPr algn="ctr">
              <a:buSzPct val="100000"/>
            </a:pPr>
            <a:r>
              <a:rPr lang="en-US" sz="1400" dirty="0" smtClean="0">
                <a:solidFill>
                  <a:srgbClr val="313131"/>
                </a:solidFill>
              </a:rPr>
              <a:t>BD </a:t>
            </a:r>
            <a:r>
              <a:rPr lang="en-US" sz="1400" dirty="0">
                <a:solidFill>
                  <a:srgbClr val="313131"/>
                </a:solidFill>
              </a:rPr>
              <a:t>&amp; </a:t>
            </a:r>
            <a:r>
              <a:rPr lang="en-US" sz="1400" dirty="0" smtClean="0">
                <a:solidFill>
                  <a:srgbClr val="313131"/>
                </a:solidFill>
              </a:rPr>
              <a:t>Liaising</a:t>
            </a:r>
            <a:endParaRPr lang="en-IN" sz="1400" dirty="0">
              <a:solidFill>
                <a:srgbClr val="313131"/>
              </a:solidFill>
            </a:endParaRPr>
          </a:p>
        </p:txBody>
      </p:sp>
      <p:sp>
        <p:nvSpPr>
          <p:cNvPr id="8" name="TextBox 7"/>
          <p:cNvSpPr txBox="1"/>
          <p:nvPr/>
        </p:nvSpPr>
        <p:spPr>
          <a:xfrm>
            <a:off x="458842" y="1163466"/>
            <a:ext cx="1800000" cy="1370183"/>
          </a:xfrm>
          <a:prstGeom prst="rect">
            <a:avLst/>
          </a:prstGeom>
          <a:solidFill>
            <a:schemeClr val="accent1">
              <a:lumMod val="60000"/>
              <a:lumOff val="40000"/>
            </a:schemeClr>
          </a:solidFill>
          <a:ln w="12700">
            <a:solidFill>
              <a:schemeClr val="tx1"/>
            </a:solidFill>
          </a:ln>
        </p:spPr>
        <p:txBody>
          <a:bodyPr wrap="square" lIns="36000" tIns="0" rIns="36000" bIns="0" rtlCol="0" anchor="ctr">
            <a:noAutofit/>
          </a:bodyPr>
          <a:lstStyle>
            <a:defPPr>
              <a:defRPr lang="en-US"/>
            </a:defPPr>
            <a:lvl1pPr algn="ctr">
              <a:buSzPct val="100000"/>
              <a:defRPr sz="1200">
                <a:solidFill>
                  <a:srgbClr val="313131"/>
                </a:solidFill>
              </a:defRPr>
            </a:lvl1pPr>
          </a:lstStyle>
          <a:p>
            <a:r>
              <a:rPr lang="en-US" sz="1400" dirty="0"/>
              <a:t>Corporate planning, strategy</a:t>
            </a:r>
            <a:endParaRPr lang="en-IN" sz="1400" dirty="0"/>
          </a:p>
        </p:txBody>
      </p:sp>
      <p:sp>
        <p:nvSpPr>
          <p:cNvPr id="9" name="TextBox 8"/>
          <p:cNvSpPr txBox="1"/>
          <p:nvPr/>
        </p:nvSpPr>
        <p:spPr>
          <a:xfrm>
            <a:off x="458842" y="2791759"/>
            <a:ext cx="1800000" cy="2325665"/>
          </a:xfrm>
          <a:prstGeom prst="rect">
            <a:avLst/>
          </a:prstGeom>
          <a:solidFill>
            <a:srgbClr val="ECFBFE"/>
          </a:solidFill>
          <a:ln w="12700">
            <a:solidFill>
              <a:schemeClr val="tx1"/>
            </a:solidFill>
          </a:ln>
        </p:spPr>
        <p:txBody>
          <a:bodyPr wrap="square" lIns="36000" tIns="0" rIns="36000" bIns="0" rtlCol="0" anchor="ctr">
            <a:noAutofit/>
          </a:bodyPr>
          <a:lstStyle/>
          <a:p>
            <a:pPr algn="ctr">
              <a:buSzPct val="100000"/>
            </a:pPr>
            <a:r>
              <a:rPr lang="en-US" sz="1400" dirty="0">
                <a:solidFill>
                  <a:srgbClr val="313131"/>
                </a:solidFill>
              </a:rPr>
              <a:t>System Planning, </a:t>
            </a:r>
            <a:r>
              <a:rPr lang="en-US" sz="1400" dirty="0" smtClean="0">
                <a:solidFill>
                  <a:srgbClr val="313131"/>
                </a:solidFill>
              </a:rPr>
              <a:t>R&amp;D</a:t>
            </a:r>
            <a:endParaRPr lang="en-IN" sz="1400" dirty="0">
              <a:solidFill>
                <a:srgbClr val="313131"/>
              </a:solidFill>
            </a:endParaRPr>
          </a:p>
        </p:txBody>
      </p:sp>
      <p:sp>
        <p:nvSpPr>
          <p:cNvPr id="10" name="Rectangle 9"/>
          <p:cNvSpPr/>
          <p:nvPr/>
        </p:nvSpPr>
        <p:spPr bwMode="gray">
          <a:xfrm>
            <a:off x="2470034" y="1163466"/>
            <a:ext cx="7531216" cy="1370184"/>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80000" indent="-180000">
              <a:lnSpc>
                <a:spcPct val="130000"/>
              </a:lnSpc>
              <a:spcAft>
                <a:spcPts val="600"/>
              </a:spcAft>
              <a:buFont typeface="Arial" panose="020B0604020202020204" pitchFamily="34" charset="0"/>
              <a:buChar char="•"/>
            </a:pPr>
            <a:r>
              <a:rPr lang="en-IN" sz="1400" dirty="0">
                <a:solidFill>
                  <a:prstClr val="black"/>
                </a:solidFill>
              </a:rPr>
              <a:t>Prepare a comprehensive corporate strategic plan involving BPDB and all its subsidiaries and strategic investments to ensure coordinated growth and development of the organization</a:t>
            </a:r>
          </a:p>
          <a:p>
            <a:pPr marL="180000" indent="-180000">
              <a:lnSpc>
                <a:spcPct val="130000"/>
              </a:lnSpc>
              <a:spcAft>
                <a:spcPts val="600"/>
              </a:spcAft>
              <a:buFont typeface="Arial" panose="020B0604020202020204" pitchFamily="34" charset="0"/>
              <a:buChar char="•"/>
            </a:pPr>
            <a:r>
              <a:rPr lang="en-IN" sz="1400" dirty="0">
                <a:solidFill>
                  <a:prstClr val="black"/>
                </a:solidFill>
              </a:rPr>
              <a:t>Liaise with subsidiaries to periodically update the business plan</a:t>
            </a:r>
          </a:p>
        </p:txBody>
      </p:sp>
      <p:sp>
        <p:nvSpPr>
          <p:cNvPr id="11" name="Rectangle 10"/>
          <p:cNvSpPr/>
          <p:nvPr/>
        </p:nvSpPr>
        <p:spPr bwMode="gray">
          <a:xfrm>
            <a:off x="2470034" y="2783665"/>
            <a:ext cx="7531216" cy="2333759"/>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a:lnSpc>
                <a:spcPct val="150000"/>
              </a:lnSpc>
              <a:spcBef>
                <a:spcPts val="600"/>
              </a:spcBef>
              <a:spcAft>
                <a:spcPts val="600"/>
              </a:spcAft>
              <a:buFont typeface="Arial" panose="020B0604020202020204" pitchFamily="34" charset="0"/>
              <a:buChar char="•"/>
            </a:pPr>
            <a:r>
              <a:rPr lang="en-IN" sz="1400" dirty="0">
                <a:solidFill>
                  <a:prstClr val="black"/>
                </a:solidFill>
              </a:rPr>
              <a:t>Monitor power demand-supply, load curve, fuel availability and other key parameters to develop long term strategy for power system development</a:t>
            </a:r>
          </a:p>
          <a:p>
            <a:pPr marL="171450" indent="-171450" algn="just">
              <a:lnSpc>
                <a:spcPct val="150000"/>
              </a:lnSpc>
              <a:spcBef>
                <a:spcPts val="600"/>
              </a:spcBef>
              <a:spcAft>
                <a:spcPts val="600"/>
              </a:spcAft>
              <a:buFont typeface="Arial" panose="020B0604020202020204" pitchFamily="34" charset="0"/>
              <a:buChar char="•"/>
            </a:pPr>
            <a:r>
              <a:rPr lang="en-IN" sz="1400" dirty="0">
                <a:solidFill>
                  <a:prstClr val="black"/>
                </a:solidFill>
              </a:rPr>
              <a:t>Conduct research and development activities in the field of renewable energy integration, power system efficiency improvement and cost optimization</a:t>
            </a:r>
          </a:p>
          <a:p>
            <a:pPr marL="171450" indent="-171450" algn="just">
              <a:lnSpc>
                <a:spcPct val="150000"/>
              </a:lnSpc>
              <a:spcBef>
                <a:spcPts val="600"/>
              </a:spcBef>
              <a:spcAft>
                <a:spcPts val="600"/>
              </a:spcAft>
              <a:buFont typeface="Arial" panose="020B0604020202020204" pitchFamily="34" charset="0"/>
              <a:buChar char="•"/>
            </a:pPr>
            <a:r>
              <a:rPr lang="en-US" sz="1400" dirty="0">
                <a:solidFill>
                  <a:prstClr val="black"/>
                </a:solidFill>
              </a:rPr>
              <a:t>Coordinate with subsidiaries in assessing the project plans for system plan development</a:t>
            </a:r>
            <a:endParaRPr lang="en-IN" sz="1400" dirty="0">
              <a:solidFill>
                <a:prstClr val="black"/>
              </a:solidFill>
            </a:endParaRPr>
          </a:p>
        </p:txBody>
      </p:sp>
      <p:sp>
        <p:nvSpPr>
          <p:cNvPr id="12" name="Rectangle 11"/>
          <p:cNvSpPr/>
          <p:nvPr/>
        </p:nvSpPr>
        <p:spPr bwMode="gray">
          <a:xfrm>
            <a:off x="2470034" y="5367439"/>
            <a:ext cx="7531216" cy="725049"/>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fontAlgn="t">
              <a:lnSpc>
                <a:spcPct val="150000"/>
              </a:lnSpc>
              <a:spcBef>
                <a:spcPts val="600"/>
              </a:spcBef>
              <a:spcAft>
                <a:spcPts val="600"/>
              </a:spcAft>
              <a:buFont typeface="Arial" panose="020B0604020202020204" pitchFamily="34" charset="0"/>
              <a:buChar char="•"/>
            </a:pPr>
            <a:r>
              <a:rPr lang="en-US" sz="1400" dirty="0">
                <a:solidFill>
                  <a:prstClr val="black"/>
                </a:solidFill>
              </a:rPr>
              <a:t>Support subsidiaries in RE project execution address associated challenges through coordination with concerned </a:t>
            </a:r>
            <a:r>
              <a:rPr lang="en-US" sz="1400" dirty="0" smtClean="0">
                <a:solidFill>
                  <a:prstClr val="black"/>
                </a:solidFill>
              </a:rPr>
              <a:t>agencies</a:t>
            </a:r>
            <a:endParaRPr lang="en-IN" sz="1400" dirty="0">
              <a:solidFill>
                <a:prstClr val="black"/>
              </a:solidFill>
            </a:endParaRPr>
          </a:p>
        </p:txBody>
      </p:sp>
      <p:sp>
        <p:nvSpPr>
          <p:cNvPr id="13" name="Rectangle 12"/>
          <p:cNvSpPr/>
          <p:nvPr/>
        </p:nvSpPr>
        <p:spPr bwMode="gray">
          <a:xfrm>
            <a:off x="2470034" y="6342502"/>
            <a:ext cx="7531216" cy="725049"/>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fontAlgn="t">
              <a:lnSpc>
                <a:spcPct val="150000"/>
              </a:lnSpc>
              <a:spcBef>
                <a:spcPts val="600"/>
              </a:spcBef>
              <a:spcAft>
                <a:spcPts val="600"/>
              </a:spcAft>
              <a:buFont typeface="Arial" panose="020B0604020202020204" pitchFamily="34" charset="0"/>
              <a:buChar char="•"/>
            </a:pPr>
            <a:r>
              <a:rPr lang="en-US" sz="1400" dirty="0" smtClean="0">
                <a:solidFill>
                  <a:prstClr val="black"/>
                </a:solidFill>
              </a:rPr>
              <a:t>Assess opportunities for investment in power projects in Bangladesh and neighboring countries jointly with subsidiaries if required</a:t>
            </a:r>
            <a:endParaRPr lang="en-IN" sz="1400" dirty="0">
              <a:solidFill>
                <a:prstClr val="black"/>
              </a:solidFill>
            </a:endParaRPr>
          </a:p>
        </p:txBody>
      </p:sp>
      <p:sp>
        <p:nvSpPr>
          <p:cNvPr id="14" name="Title 2"/>
          <p:cNvSpPr>
            <a:spLocks noGrp="1"/>
          </p:cNvSpPr>
          <p:nvPr>
            <p:ph type="title"/>
          </p:nvPr>
        </p:nvSpPr>
        <p:spPr>
          <a:xfrm>
            <a:off x="439793" y="350131"/>
            <a:ext cx="9785951" cy="650123"/>
          </a:xfrm>
        </p:spPr>
        <p:txBody>
          <a:bodyPr/>
          <a:lstStyle/>
          <a:p>
            <a:pPr algn="just"/>
            <a:r>
              <a:rPr lang="en-US" b="1" dirty="0" smtClean="0"/>
              <a:t>Proposed High Level Relationship for Planning &amp; Development</a:t>
            </a:r>
            <a:endParaRPr lang="en-IN" b="1" dirty="0"/>
          </a:p>
        </p:txBody>
      </p:sp>
      <p:sp>
        <p:nvSpPr>
          <p:cNvPr id="15" name="Pentagon 14">
            <a:hlinkClick r:id="rId2" action="ppaction://hlinksldjump"/>
          </p:cNvPr>
          <p:cNvSpPr/>
          <p:nvPr/>
        </p:nvSpPr>
        <p:spPr bwMode="gray">
          <a:xfrm flipH="1">
            <a:off x="10289401" y="6966067"/>
            <a:ext cx="342087" cy="223101"/>
          </a:xfrm>
          <a:prstGeom prst="homePlate">
            <a:avLst/>
          </a:prstGeom>
          <a:solidFill>
            <a:schemeClr val="accent3"/>
          </a:solidFill>
          <a:ln w="19050" algn="ctr">
            <a:noFill/>
            <a:miter lim="800000"/>
            <a:headEnd/>
            <a:tailEnd/>
          </a:ln>
        </p:spPr>
        <p:txBody>
          <a:bodyPr wrap="square" lIns="83870" tIns="83870" rIns="83870" bIns="83870" rtlCol="0" anchor="ctr"/>
          <a:lstStyle/>
          <a:p>
            <a:pPr algn="ctr" defTabSz="983894">
              <a:lnSpc>
                <a:spcPct val="106000"/>
              </a:lnSpc>
            </a:pPr>
            <a:endParaRPr lang="en-IN" sz="1510" b="1" dirty="0">
              <a:solidFill>
                <a:prstClr val="white"/>
              </a:solidFill>
            </a:endParaRPr>
          </a:p>
        </p:txBody>
      </p:sp>
    </p:spTree>
    <p:extLst>
      <p:ext uri="{BB962C8B-B14F-4D97-AF65-F5344CB8AC3E}">
        <p14:creationId xmlns:p14="http://schemas.microsoft.com/office/powerpoint/2010/main" val="2539483965"/>
      </p:ext>
    </p:extLst>
  </p:cSld>
  <p:clrMapOvr>
    <a:masterClrMapping/>
  </p:clrMapOvr>
  <p:transition>
    <p:fade/>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gray">
          <a:xfrm>
            <a:off x="2470034" y="1163466"/>
            <a:ext cx="7531216" cy="1605482"/>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a:lnSpc>
                <a:spcPct val="150000"/>
              </a:lnSpc>
              <a:spcBef>
                <a:spcPts val="600"/>
              </a:spcBef>
              <a:spcAft>
                <a:spcPts val="600"/>
              </a:spcAft>
              <a:buFont typeface="Arial" panose="020B0604020202020204" pitchFamily="34" charset="0"/>
              <a:buChar char="•"/>
            </a:pPr>
            <a:r>
              <a:rPr lang="en-IN" sz="1400" dirty="0">
                <a:solidFill>
                  <a:prstClr val="black"/>
                </a:solidFill>
              </a:rPr>
              <a:t>Coordinate with BPDB subsidiaries to assess their financial requirements</a:t>
            </a:r>
          </a:p>
          <a:p>
            <a:pPr marL="171450" indent="-171450" algn="just">
              <a:lnSpc>
                <a:spcPct val="150000"/>
              </a:lnSpc>
              <a:spcBef>
                <a:spcPts val="600"/>
              </a:spcBef>
              <a:spcAft>
                <a:spcPts val="600"/>
              </a:spcAft>
              <a:buFont typeface="Arial" panose="020B0604020202020204" pitchFamily="34" charset="0"/>
              <a:buChar char="•"/>
            </a:pPr>
            <a:r>
              <a:rPr lang="en-IN" sz="1400" dirty="0">
                <a:solidFill>
                  <a:prstClr val="black"/>
                </a:solidFill>
              </a:rPr>
              <a:t>Prepare inter-firm financing strategy to ensure least cost financing for all subsidiaries</a:t>
            </a:r>
          </a:p>
          <a:p>
            <a:pPr marL="171450" indent="-171450" algn="just">
              <a:lnSpc>
                <a:spcPct val="150000"/>
              </a:lnSpc>
              <a:spcBef>
                <a:spcPts val="600"/>
              </a:spcBef>
              <a:spcAft>
                <a:spcPts val="600"/>
              </a:spcAft>
              <a:buFont typeface="Arial" panose="020B0604020202020204" pitchFamily="34" charset="0"/>
              <a:buChar char="•"/>
            </a:pPr>
            <a:r>
              <a:rPr lang="en-US" sz="1400" dirty="0">
                <a:solidFill>
                  <a:prstClr val="black"/>
                </a:solidFill>
              </a:rPr>
              <a:t>Tracking and monitoring of all inter-firm finances</a:t>
            </a:r>
            <a:endParaRPr lang="en-IN" sz="1400" dirty="0">
              <a:solidFill>
                <a:prstClr val="black"/>
              </a:solidFill>
            </a:endParaRPr>
          </a:p>
        </p:txBody>
      </p:sp>
      <p:sp>
        <p:nvSpPr>
          <p:cNvPr id="12" name="Rectangle 11"/>
          <p:cNvSpPr/>
          <p:nvPr/>
        </p:nvSpPr>
        <p:spPr bwMode="gray">
          <a:xfrm>
            <a:off x="2470034" y="3305627"/>
            <a:ext cx="7531216" cy="1853644"/>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a:lnSpc>
                <a:spcPct val="150000"/>
              </a:lnSpc>
              <a:spcBef>
                <a:spcPts val="600"/>
              </a:spcBef>
              <a:spcAft>
                <a:spcPts val="600"/>
              </a:spcAft>
              <a:buFont typeface="Arial" panose="020B0604020202020204" pitchFamily="34" charset="0"/>
              <a:buChar char="•"/>
            </a:pPr>
            <a:r>
              <a:rPr lang="en-IN" sz="1400" dirty="0">
                <a:solidFill>
                  <a:prstClr val="black"/>
                </a:solidFill>
              </a:rPr>
              <a:t>Liaise with all BPDB subsidiaries to prepare Consolidated Annual Accounts of the Holding company and all subsidiaries</a:t>
            </a:r>
          </a:p>
          <a:p>
            <a:pPr marL="171450" indent="-171450" algn="just">
              <a:lnSpc>
                <a:spcPct val="150000"/>
              </a:lnSpc>
              <a:spcBef>
                <a:spcPts val="600"/>
              </a:spcBef>
              <a:spcAft>
                <a:spcPts val="600"/>
              </a:spcAft>
              <a:buFont typeface="Arial" panose="020B0604020202020204" pitchFamily="34" charset="0"/>
              <a:buChar char="•"/>
            </a:pPr>
            <a:r>
              <a:rPr lang="en-US" sz="1400" dirty="0">
                <a:solidFill>
                  <a:prstClr val="black"/>
                </a:solidFill>
              </a:rPr>
              <a:t>Internal MIS reporting (from subsidiaries to holding company and within holding company) and external MIS reporting on finance &amp; accounts related matters to ensure sound financial management across entities</a:t>
            </a:r>
            <a:endParaRPr lang="en-IN" sz="1400" dirty="0">
              <a:solidFill>
                <a:prstClr val="black"/>
              </a:solidFill>
            </a:endParaRPr>
          </a:p>
        </p:txBody>
      </p:sp>
      <p:sp>
        <p:nvSpPr>
          <p:cNvPr id="13" name="Rectangle 12"/>
          <p:cNvSpPr/>
          <p:nvPr/>
        </p:nvSpPr>
        <p:spPr bwMode="gray">
          <a:xfrm>
            <a:off x="2470034" y="5695950"/>
            <a:ext cx="7531216" cy="1371601"/>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a:lnSpc>
                <a:spcPct val="150000"/>
              </a:lnSpc>
              <a:spcBef>
                <a:spcPts val="600"/>
              </a:spcBef>
              <a:spcAft>
                <a:spcPts val="600"/>
              </a:spcAft>
              <a:buFont typeface="Arial" panose="020B0604020202020204" pitchFamily="34" charset="0"/>
              <a:buChar char="•"/>
              <a:defRPr/>
            </a:pPr>
            <a:r>
              <a:rPr lang="en-IN" sz="1400" dirty="0">
                <a:solidFill>
                  <a:prstClr val="black"/>
                </a:solidFill>
              </a:rPr>
              <a:t>Explore opportunities for strategic investments in power projects in Bangladesh and neighbouring countries (including projects of BPDB Subsidiaries)</a:t>
            </a:r>
          </a:p>
        </p:txBody>
      </p:sp>
      <p:sp>
        <p:nvSpPr>
          <p:cNvPr id="14" name="Title 2"/>
          <p:cNvSpPr>
            <a:spLocks noGrp="1"/>
          </p:cNvSpPr>
          <p:nvPr>
            <p:ph type="title"/>
          </p:nvPr>
        </p:nvSpPr>
        <p:spPr>
          <a:xfrm>
            <a:off x="439793" y="350131"/>
            <a:ext cx="9785951" cy="650123"/>
          </a:xfrm>
        </p:spPr>
        <p:txBody>
          <a:bodyPr/>
          <a:lstStyle/>
          <a:p>
            <a:pPr algn="just"/>
            <a:r>
              <a:rPr lang="en-US" b="1" dirty="0" smtClean="0"/>
              <a:t>Proposed High Level Relationship for Financial Management</a:t>
            </a:r>
            <a:endParaRPr lang="en-IN" b="1" dirty="0"/>
          </a:p>
        </p:txBody>
      </p:sp>
      <p:sp>
        <p:nvSpPr>
          <p:cNvPr id="16" name="TextBox 15"/>
          <p:cNvSpPr txBox="1"/>
          <p:nvPr/>
        </p:nvSpPr>
        <p:spPr>
          <a:xfrm>
            <a:off x="439793" y="1163466"/>
            <a:ext cx="1800000" cy="1605482"/>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400" dirty="0" smtClean="0">
                <a:solidFill>
                  <a:srgbClr val="313131"/>
                </a:solidFill>
              </a:rPr>
              <a:t>Finance (including Group Financing)</a:t>
            </a:r>
            <a:endParaRPr lang="en-IN" sz="1400" dirty="0" smtClean="0">
              <a:solidFill>
                <a:srgbClr val="313131"/>
              </a:solidFill>
            </a:endParaRPr>
          </a:p>
        </p:txBody>
      </p:sp>
      <p:sp>
        <p:nvSpPr>
          <p:cNvPr id="17" name="TextBox 16"/>
          <p:cNvSpPr txBox="1"/>
          <p:nvPr/>
        </p:nvSpPr>
        <p:spPr>
          <a:xfrm>
            <a:off x="439793" y="3305627"/>
            <a:ext cx="1800000" cy="1853644"/>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400" dirty="0" smtClean="0">
                <a:solidFill>
                  <a:srgbClr val="313131"/>
                </a:solidFill>
              </a:rPr>
              <a:t>Group acc., consolidation, MIS Reporting</a:t>
            </a:r>
            <a:endParaRPr lang="en-IN" sz="1400" dirty="0" smtClean="0">
              <a:solidFill>
                <a:srgbClr val="313131"/>
              </a:solidFill>
            </a:endParaRPr>
          </a:p>
        </p:txBody>
      </p:sp>
      <p:sp>
        <p:nvSpPr>
          <p:cNvPr id="18" name="TextBox 17"/>
          <p:cNvSpPr txBox="1"/>
          <p:nvPr/>
        </p:nvSpPr>
        <p:spPr>
          <a:xfrm>
            <a:off x="439793" y="5695950"/>
            <a:ext cx="1800000" cy="1371601"/>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400" dirty="0" smtClean="0">
                <a:solidFill>
                  <a:srgbClr val="313131"/>
                </a:solidFill>
              </a:rPr>
              <a:t>Strategic </a:t>
            </a:r>
            <a:r>
              <a:rPr lang="en-US" sz="1400" dirty="0">
                <a:solidFill>
                  <a:srgbClr val="313131"/>
                </a:solidFill>
              </a:rPr>
              <a:t>i</a:t>
            </a:r>
            <a:r>
              <a:rPr lang="en-US" sz="1400" dirty="0" smtClean="0">
                <a:solidFill>
                  <a:srgbClr val="313131"/>
                </a:solidFill>
              </a:rPr>
              <a:t>nvestment management &amp; investment planning</a:t>
            </a:r>
            <a:endParaRPr lang="en-IN" sz="1400" dirty="0" smtClean="0">
              <a:solidFill>
                <a:srgbClr val="313131"/>
              </a:solidFill>
            </a:endParaRPr>
          </a:p>
        </p:txBody>
      </p:sp>
      <p:sp>
        <p:nvSpPr>
          <p:cNvPr id="9" name="Pentagon 8">
            <a:hlinkClick r:id="rId2" action="ppaction://hlinksldjump"/>
          </p:cNvPr>
          <p:cNvSpPr/>
          <p:nvPr/>
        </p:nvSpPr>
        <p:spPr bwMode="gray">
          <a:xfrm flipH="1">
            <a:off x="10289401" y="6966067"/>
            <a:ext cx="342087" cy="223101"/>
          </a:xfrm>
          <a:prstGeom prst="homePlate">
            <a:avLst/>
          </a:prstGeom>
          <a:solidFill>
            <a:schemeClr val="accent3"/>
          </a:solidFill>
          <a:ln w="19050" algn="ctr">
            <a:noFill/>
            <a:miter lim="800000"/>
            <a:headEnd/>
            <a:tailEnd/>
          </a:ln>
        </p:spPr>
        <p:txBody>
          <a:bodyPr wrap="square" lIns="83870" tIns="83870" rIns="83870" bIns="83870" rtlCol="0" anchor="ctr"/>
          <a:lstStyle/>
          <a:p>
            <a:pPr algn="ctr" defTabSz="983894">
              <a:lnSpc>
                <a:spcPct val="106000"/>
              </a:lnSpc>
            </a:pPr>
            <a:endParaRPr lang="en-IN" sz="1510" b="1" dirty="0">
              <a:solidFill>
                <a:prstClr val="white"/>
              </a:solidFill>
            </a:endParaRPr>
          </a:p>
        </p:txBody>
      </p:sp>
    </p:spTree>
    <p:extLst>
      <p:ext uri="{BB962C8B-B14F-4D97-AF65-F5344CB8AC3E}">
        <p14:creationId xmlns:p14="http://schemas.microsoft.com/office/powerpoint/2010/main" val="2610510749"/>
      </p:ext>
    </p:extLst>
  </p:cSld>
  <p:clrMapOvr>
    <a:masterClrMapping/>
  </p:clrMapOvr>
  <p:transition>
    <p:fade/>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gray">
          <a:xfrm>
            <a:off x="2470034" y="1277766"/>
            <a:ext cx="7531216" cy="2303634"/>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a:lnSpc>
                <a:spcPct val="140000"/>
              </a:lnSpc>
              <a:spcBef>
                <a:spcPts val="600"/>
              </a:spcBef>
              <a:buFont typeface="Arial" panose="020B0604020202020204" pitchFamily="34" charset="0"/>
              <a:buChar char="•"/>
            </a:pPr>
            <a:r>
              <a:rPr lang="en-IN" sz="1400" dirty="0">
                <a:solidFill>
                  <a:prstClr val="black"/>
                </a:solidFill>
              </a:rPr>
              <a:t>Prepare Risk Management manuals and policies for the holding company and its subsidiaries</a:t>
            </a:r>
          </a:p>
          <a:p>
            <a:pPr marL="171450" indent="-171450" algn="just" defTabSz="1008400">
              <a:lnSpc>
                <a:spcPct val="140000"/>
              </a:lnSpc>
              <a:spcBef>
                <a:spcPts val="600"/>
              </a:spcBef>
              <a:buFont typeface="Arial" panose="020B0604020202020204" pitchFamily="34" charset="0"/>
              <a:buChar char="•"/>
              <a:defRPr/>
            </a:pPr>
            <a:r>
              <a:rPr lang="en-IN" sz="1400" dirty="0">
                <a:solidFill>
                  <a:prstClr val="black"/>
                </a:solidFill>
              </a:rPr>
              <a:t>Assist subsidiaries in conducting review of project plans, business processes, IT infrastructure, external developments impacting business environment to assess risks and their impact </a:t>
            </a:r>
          </a:p>
          <a:p>
            <a:pPr marL="171450" indent="-171450" algn="just" defTabSz="1008400">
              <a:lnSpc>
                <a:spcPct val="140000"/>
              </a:lnSpc>
              <a:spcBef>
                <a:spcPts val="600"/>
              </a:spcBef>
              <a:buFont typeface="Arial" panose="020B0604020202020204" pitchFamily="34" charset="0"/>
              <a:buChar char="•"/>
              <a:defRPr/>
            </a:pPr>
            <a:r>
              <a:rPr lang="en-US" sz="1400" dirty="0">
                <a:solidFill>
                  <a:prstClr val="black"/>
                </a:solidFill>
              </a:rPr>
              <a:t>Coordinate and assist subsidiaries in preparing mitigation plan for identified risks</a:t>
            </a:r>
            <a:endParaRPr lang="en-IN" sz="1400" dirty="0">
              <a:solidFill>
                <a:prstClr val="black"/>
              </a:solidFill>
            </a:endParaRPr>
          </a:p>
        </p:txBody>
      </p:sp>
      <p:sp>
        <p:nvSpPr>
          <p:cNvPr id="12" name="Rectangle 11"/>
          <p:cNvSpPr/>
          <p:nvPr/>
        </p:nvSpPr>
        <p:spPr bwMode="gray">
          <a:xfrm>
            <a:off x="2473365" y="4060964"/>
            <a:ext cx="7531216" cy="1726922"/>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Periodically review policies, strategies, guidelines, plans and performance of the holding company and its subsidiaries</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Assist management of the entities in conducting review for key areas of improvement</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Plan and implement organization and subsidiary wide MIS reporting framework</a:t>
            </a:r>
          </a:p>
        </p:txBody>
      </p:sp>
      <p:sp>
        <p:nvSpPr>
          <p:cNvPr id="14" name="Title 2"/>
          <p:cNvSpPr>
            <a:spLocks noGrp="1"/>
          </p:cNvSpPr>
          <p:nvPr>
            <p:ph type="title"/>
          </p:nvPr>
        </p:nvSpPr>
        <p:spPr>
          <a:xfrm>
            <a:off x="439793" y="350131"/>
            <a:ext cx="9785951" cy="650123"/>
          </a:xfrm>
        </p:spPr>
        <p:txBody>
          <a:bodyPr/>
          <a:lstStyle/>
          <a:p>
            <a:pPr algn="just"/>
            <a:r>
              <a:rPr lang="en-US" b="1" dirty="0" smtClean="0"/>
              <a:t>Proposed High Level Relationship for Monitoring &amp; Accountability</a:t>
            </a:r>
            <a:endParaRPr lang="en-IN" b="1" dirty="0"/>
          </a:p>
        </p:txBody>
      </p:sp>
      <p:sp>
        <p:nvSpPr>
          <p:cNvPr id="11" name="TextBox 10"/>
          <p:cNvSpPr txBox="1"/>
          <p:nvPr/>
        </p:nvSpPr>
        <p:spPr>
          <a:xfrm>
            <a:off x="439793" y="1277766"/>
            <a:ext cx="1800000" cy="2303634"/>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400" dirty="0">
                <a:solidFill>
                  <a:srgbClr val="313131"/>
                </a:solidFill>
              </a:rPr>
              <a:t>Risk </a:t>
            </a:r>
            <a:r>
              <a:rPr lang="en-US" sz="1400" dirty="0" smtClean="0">
                <a:solidFill>
                  <a:srgbClr val="313131"/>
                </a:solidFill>
              </a:rPr>
              <a:t>management</a:t>
            </a:r>
            <a:endParaRPr lang="en-IN" sz="1400" dirty="0">
              <a:solidFill>
                <a:srgbClr val="313131"/>
              </a:solidFill>
            </a:endParaRPr>
          </a:p>
        </p:txBody>
      </p:sp>
      <p:sp>
        <p:nvSpPr>
          <p:cNvPr id="15" name="TextBox 14"/>
          <p:cNvSpPr txBox="1"/>
          <p:nvPr/>
        </p:nvSpPr>
        <p:spPr>
          <a:xfrm>
            <a:off x="439793" y="4060964"/>
            <a:ext cx="1800000" cy="1726922"/>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400" dirty="0" smtClean="0">
                <a:solidFill>
                  <a:srgbClr val="313131"/>
                </a:solidFill>
              </a:rPr>
              <a:t>Performance monitoring &amp; review, MIS</a:t>
            </a:r>
            <a:endParaRPr lang="en-IN" sz="1400" dirty="0" smtClean="0">
              <a:solidFill>
                <a:srgbClr val="313131"/>
              </a:solidFill>
            </a:endParaRPr>
          </a:p>
        </p:txBody>
      </p:sp>
      <p:sp>
        <p:nvSpPr>
          <p:cNvPr id="7" name="Pentagon 6">
            <a:hlinkClick r:id="rId2" action="ppaction://hlinksldjump"/>
          </p:cNvPr>
          <p:cNvSpPr/>
          <p:nvPr/>
        </p:nvSpPr>
        <p:spPr bwMode="gray">
          <a:xfrm flipH="1">
            <a:off x="10289401" y="6966067"/>
            <a:ext cx="342087" cy="223101"/>
          </a:xfrm>
          <a:prstGeom prst="homePlate">
            <a:avLst/>
          </a:prstGeom>
          <a:solidFill>
            <a:schemeClr val="accent3"/>
          </a:solidFill>
          <a:ln w="19050" algn="ctr">
            <a:noFill/>
            <a:miter lim="800000"/>
            <a:headEnd/>
            <a:tailEnd/>
          </a:ln>
        </p:spPr>
        <p:txBody>
          <a:bodyPr wrap="square" lIns="83870" tIns="83870" rIns="83870" bIns="83870" rtlCol="0" anchor="ctr"/>
          <a:lstStyle/>
          <a:p>
            <a:pPr algn="ctr" defTabSz="983894">
              <a:lnSpc>
                <a:spcPct val="106000"/>
              </a:lnSpc>
            </a:pPr>
            <a:endParaRPr lang="en-IN" sz="1510" b="1" dirty="0">
              <a:solidFill>
                <a:prstClr val="white"/>
              </a:solidFill>
            </a:endParaRPr>
          </a:p>
        </p:txBody>
      </p:sp>
    </p:spTree>
    <p:extLst>
      <p:ext uri="{BB962C8B-B14F-4D97-AF65-F5344CB8AC3E}">
        <p14:creationId xmlns:p14="http://schemas.microsoft.com/office/powerpoint/2010/main" val="1711818434"/>
      </p:ext>
    </p:extLst>
  </p:cSld>
  <p:clrMapOvr>
    <a:masterClrMapping/>
  </p:clrMapOvr>
  <p:transition>
    <p:fade/>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gray">
          <a:xfrm>
            <a:off x="2470034" y="1315866"/>
            <a:ext cx="7531216" cy="2303634"/>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defTabSz="1008400">
              <a:lnSpc>
                <a:spcPct val="140000"/>
              </a:lnSpc>
              <a:spcBef>
                <a:spcPts val="600"/>
              </a:spcBef>
              <a:buFont typeface="Arial" panose="020B0604020202020204" pitchFamily="34" charset="0"/>
              <a:buChar char="•"/>
              <a:defRPr/>
            </a:pPr>
            <a:r>
              <a:rPr lang="en-IN" sz="1400" dirty="0">
                <a:solidFill>
                  <a:prstClr val="black"/>
                </a:solidFill>
              </a:rPr>
              <a:t>Assist subsidiaries in identifying skill gap and prepare annual training &amp; development plan for employees jointly with Holding Company</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Undertake Joint training and development activities with subsidiaries and promote learning and growth for the employees </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Provide support in re-training of employees to facilitate re-deployment of personnel based on requirements of subsidiaries and holding company</a:t>
            </a:r>
          </a:p>
        </p:txBody>
      </p:sp>
      <p:sp>
        <p:nvSpPr>
          <p:cNvPr id="14" name="Title 2"/>
          <p:cNvSpPr>
            <a:spLocks noGrp="1"/>
          </p:cNvSpPr>
          <p:nvPr>
            <p:ph type="title"/>
          </p:nvPr>
        </p:nvSpPr>
        <p:spPr>
          <a:xfrm>
            <a:off x="439793" y="350131"/>
            <a:ext cx="9785951" cy="650123"/>
          </a:xfrm>
        </p:spPr>
        <p:txBody>
          <a:bodyPr/>
          <a:lstStyle/>
          <a:p>
            <a:pPr algn="just"/>
            <a:r>
              <a:rPr lang="en-US" b="1" dirty="0" smtClean="0"/>
              <a:t>Proposed High Level Relationship for HR &amp; Other Specialized Areas</a:t>
            </a:r>
            <a:endParaRPr lang="en-IN" b="1" dirty="0"/>
          </a:p>
        </p:txBody>
      </p:sp>
      <p:sp>
        <p:nvSpPr>
          <p:cNvPr id="18" name="TextBox 17"/>
          <p:cNvSpPr txBox="1"/>
          <p:nvPr/>
        </p:nvSpPr>
        <p:spPr>
          <a:xfrm>
            <a:off x="439793" y="1315866"/>
            <a:ext cx="1800000" cy="2303634"/>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400" dirty="0">
                <a:solidFill>
                  <a:srgbClr val="313131"/>
                </a:solidFill>
              </a:rPr>
              <a:t>Training &amp; </a:t>
            </a:r>
            <a:r>
              <a:rPr lang="en-US" sz="1400" dirty="0" smtClean="0">
                <a:solidFill>
                  <a:srgbClr val="313131"/>
                </a:solidFill>
              </a:rPr>
              <a:t>Development (incl. subsidiaries)</a:t>
            </a:r>
            <a:endParaRPr lang="en-IN" sz="1400" dirty="0">
              <a:solidFill>
                <a:srgbClr val="313131"/>
              </a:solidFill>
            </a:endParaRPr>
          </a:p>
        </p:txBody>
      </p:sp>
      <p:sp>
        <p:nvSpPr>
          <p:cNvPr id="7" name="Rectangle 6"/>
          <p:cNvSpPr/>
          <p:nvPr/>
        </p:nvSpPr>
        <p:spPr bwMode="gray">
          <a:xfrm>
            <a:off x="2470034" y="4001916"/>
            <a:ext cx="7531216" cy="2494134"/>
          </a:xfrm>
          <a:prstGeom prst="rect">
            <a:avLst/>
          </a:prstGeom>
          <a:solidFill>
            <a:schemeClr val="bg1"/>
          </a:solidFill>
          <a:ln w="19050" algn="ctr">
            <a:solidFill>
              <a:schemeClr val="tx1"/>
            </a:solidFill>
            <a:miter lim="800000"/>
            <a:headEnd/>
            <a:tailEnd/>
          </a:ln>
        </p:spPr>
        <p:txBody>
          <a:bodyPr wrap="square" lIns="88900" tIns="88900" rIns="88900" bIns="88900" rtlCol="0" anchor="ctr"/>
          <a:lstStyle/>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Provide specialized O&amp;M Services for BPDP’s own plants as well as subsidiaries and other power utilities in Bangladesh</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Assist in re-engineering, renovation study, knowledge transfer to improve power plant performances of utilities</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Assist in analysing operation performance and key areas of improvement</a:t>
            </a:r>
          </a:p>
          <a:p>
            <a:pPr marL="171450" indent="-171450" algn="just" defTabSz="1008400">
              <a:lnSpc>
                <a:spcPct val="140000"/>
              </a:lnSpc>
              <a:spcBef>
                <a:spcPts val="600"/>
              </a:spcBef>
              <a:buFont typeface="Arial" panose="020B0604020202020204" pitchFamily="34" charset="0"/>
              <a:buChar char="•"/>
            </a:pPr>
            <a:r>
              <a:rPr lang="en-IN" sz="1400" dirty="0">
                <a:solidFill>
                  <a:prstClr val="black"/>
                </a:solidFill>
              </a:rPr>
              <a:t>Provide specialized services such as physical asset management, investment analysis for capex intensive improvement activities</a:t>
            </a:r>
          </a:p>
        </p:txBody>
      </p:sp>
      <p:sp>
        <p:nvSpPr>
          <p:cNvPr id="8" name="TextBox 7"/>
          <p:cNvSpPr txBox="1"/>
          <p:nvPr/>
        </p:nvSpPr>
        <p:spPr>
          <a:xfrm>
            <a:off x="439793" y="4001916"/>
            <a:ext cx="1800000" cy="2494134"/>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400" dirty="0">
                <a:solidFill>
                  <a:srgbClr val="313131"/>
                </a:solidFill>
              </a:rPr>
              <a:t>Power plant O&amp;M services &amp; asset management</a:t>
            </a:r>
            <a:endParaRPr lang="en-IN" sz="1400" dirty="0">
              <a:solidFill>
                <a:srgbClr val="313131"/>
              </a:solidFill>
            </a:endParaRPr>
          </a:p>
        </p:txBody>
      </p:sp>
      <p:sp>
        <p:nvSpPr>
          <p:cNvPr id="9" name="Pentagon 8">
            <a:hlinkClick r:id="rId2" action="ppaction://hlinksldjump"/>
          </p:cNvPr>
          <p:cNvSpPr/>
          <p:nvPr/>
        </p:nvSpPr>
        <p:spPr bwMode="gray">
          <a:xfrm flipH="1">
            <a:off x="10289401" y="6966067"/>
            <a:ext cx="342087" cy="223101"/>
          </a:xfrm>
          <a:prstGeom prst="homePlate">
            <a:avLst/>
          </a:prstGeom>
          <a:solidFill>
            <a:schemeClr val="accent3"/>
          </a:solidFill>
          <a:ln w="19050" algn="ctr">
            <a:noFill/>
            <a:miter lim="800000"/>
            <a:headEnd/>
            <a:tailEnd/>
          </a:ln>
        </p:spPr>
        <p:txBody>
          <a:bodyPr wrap="square" lIns="83870" tIns="83870" rIns="83870" bIns="83870" rtlCol="0" anchor="ctr"/>
          <a:lstStyle/>
          <a:p>
            <a:pPr algn="ctr" defTabSz="983894">
              <a:lnSpc>
                <a:spcPct val="106000"/>
              </a:lnSpc>
            </a:pPr>
            <a:endParaRPr lang="en-IN" sz="1510" b="1" dirty="0">
              <a:solidFill>
                <a:prstClr val="white"/>
              </a:solidFill>
            </a:endParaRPr>
          </a:p>
        </p:txBody>
      </p:sp>
    </p:spTree>
    <p:extLst>
      <p:ext uri="{BB962C8B-B14F-4D97-AF65-F5344CB8AC3E}">
        <p14:creationId xmlns:p14="http://schemas.microsoft.com/office/powerpoint/2010/main" val="1421678106"/>
      </p:ext>
    </p:extLst>
  </p:cSld>
  <p:clrMapOvr>
    <a:masterClrMapping/>
  </p:clrMapOvr>
  <p:transition>
    <p:fade/>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black"/>
                </a:solidFill>
              </a:rPr>
              <a:t>6</a:t>
            </a:r>
            <a:r>
              <a:rPr lang="en-US" sz="5400" dirty="0" smtClean="0">
                <a:solidFill>
                  <a:prstClr val="black"/>
                </a:solidFill>
              </a:rPr>
              <a:t>. High-Level Strategic Value Enablers</a:t>
            </a:r>
            <a:endParaRPr lang="en-US" sz="5400" dirty="0">
              <a:solidFill>
                <a:prstClr val="black"/>
              </a:solidFill>
            </a:endParaRPr>
          </a:p>
        </p:txBody>
      </p:sp>
    </p:spTree>
    <p:extLst>
      <p:ext uri="{BB962C8B-B14F-4D97-AF65-F5344CB8AC3E}">
        <p14:creationId xmlns:p14="http://schemas.microsoft.com/office/powerpoint/2010/main" val="1587639720"/>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Connector 26"/>
          <p:cNvCxnSpPr/>
          <p:nvPr/>
        </p:nvCxnSpPr>
        <p:spPr>
          <a:xfrm>
            <a:off x="450549" y="2837793"/>
            <a:ext cx="959389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50549" y="5312979"/>
            <a:ext cx="959389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0549" y="1148321"/>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102600" y="1053866"/>
            <a:ext cx="8481848"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a:solidFill>
                  <a:prstClr val="black"/>
                </a:solidFill>
              </a:rPr>
              <a:t>Conversion of accumulated budgetary support </a:t>
            </a:r>
            <a:r>
              <a:rPr lang="en-US" sz="1400" b="1" dirty="0" smtClean="0">
                <a:solidFill>
                  <a:prstClr val="black"/>
                </a:solidFill>
              </a:rPr>
              <a:t>and DSL </a:t>
            </a:r>
            <a:r>
              <a:rPr lang="en-US" sz="1400" b="1" dirty="0">
                <a:solidFill>
                  <a:prstClr val="black"/>
                </a:solidFill>
              </a:rPr>
              <a:t>to </a:t>
            </a:r>
            <a:r>
              <a:rPr lang="en-US" sz="1400" b="1" dirty="0" smtClean="0">
                <a:solidFill>
                  <a:prstClr val="black"/>
                </a:solidFill>
              </a:rPr>
              <a:t>Reserve</a:t>
            </a:r>
            <a:endParaRPr lang="en-IN" sz="1400" b="1" dirty="0">
              <a:solidFill>
                <a:srgbClr val="313131"/>
              </a:solidFill>
            </a:endParaRPr>
          </a:p>
        </p:txBody>
      </p:sp>
      <p:sp>
        <p:nvSpPr>
          <p:cNvPr id="17" name="Title 2"/>
          <p:cNvSpPr>
            <a:spLocks noGrp="1"/>
          </p:cNvSpPr>
          <p:nvPr>
            <p:ph type="title"/>
          </p:nvPr>
        </p:nvSpPr>
        <p:spPr>
          <a:xfrm>
            <a:off x="439793" y="350131"/>
            <a:ext cx="9785951" cy="368439"/>
          </a:xfrm>
        </p:spPr>
        <p:txBody>
          <a:bodyPr/>
          <a:lstStyle/>
          <a:p>
            <a:r>
              <a:rPr lang="en-US" b="1" dirty="0" smtClean="0"/>
              <a:t>FRRP - </a:t>
            </a:r>
            <a:r>
              <a:rPr lang="en-IN" b="1" dirty="0"/>
              <a:t>Conversion of accumulated budgetary support </a:t>
            </a:r>
            <a:r>
              <a:rPr lang="en-IN" b="1" dirty="0" smtClean="0"/>
              <a:t>and DSL liabilities to </a:t>
            </a:r>
            <a:r>
              <a:rPr lang="en-IN" b="1" dirty="0"/>
              <a:t>Restructuring Reserve</a:t>
            </a:r>
            <a:br>
              <a:rPr lang="en-IN" b="1" dirty="0"/>
            </a:br>
            <a:endParaRPr lang="en-IN" b="1" dirty="0"/>
          </a:p>
        </p:txBody>
      </p:sp>
      <p:sp>
        <p:nvSpPr>
          <p:cNvPr id="18" name="TextBox 17"/>
          <p:cNvSpPr txBox="1"/>
          <p:nvPr/>
        </p:nvSpPr>
        <p:spPr>
          <a:xfrm>
            <a:off x="450551" y="1403775"/>
            <a:ext cx="9785950" cy="991830"/>
          </a:xfrm>
          <a:prstGeom prst="rect">
            <a:avLst/>
          </a:prstGeom>
          <a:noFill/>
          <a:ln>
            <a:noFill/>
          </a:ln>
        </p:spPr>
        <p:txBody>
          <a:bodyPr wrap="square" lIns="36000" tIns="36000" rIns="36000" bIns="36000" rtlCol="0" anchor="ctr">
            <a:noAutofit/>
          </a:bodyPr>
          <a:lstStyle/>
          <a:p>
            <a:pPr marL="285750" indent="-285750" algn="just">
              <a:spcBef>
                <a:spcPts val="600"/>
              </a:spcBef>
              <a:buSzPct val="100000"/>
              <a:buFont typeface="Arial" panose="020B0604020202020204" pitchFamily="34" charset="0"/>
              <a:buChar char="•"/>
            </a:pPr>
            <a:r>
              <a:rPr lang="en-US" sz="1400" dirty="0" smtClean="0">
                <a:solidFill>
                  <a:prstClr val="black"/>
                </a:solidFill>
              </a:rPr>
              <a:t>Accumulated Budgetary </a:t>
            </a:r>
            <a:r>
              <a:rPr lang="en-US" sz="1400" dirty="0">
                <a:solidFill>
                  <a:prstClr val="black"/>
                </a:solidFill>
              </a:rPr>
              <a:t>Support </a:t>
            </a:r>
            <a:r>
              <a:rPr lang="en-US" sz="1400" dirty="0" smtClean="0">
                <a:solidFill>
                  <a:prstClr val="black"/>
                </a:solidFill>
              </a:rPr>
              <a:t>liabilities (principal and interest) – BDT </a:t>
            </a:r>
            <a:r>
              <a:rPr lang="en-US" sz="1400" dirty="0">
                <a:solidFill>
                  <a:prstClr val="black"/>
                </a:solidFill>
              </a:rPr>
              <a:t>389 </a:t>
            </a:r>
            <a:r>
              <a:rPr lang="en-US" sz="1400" dirty="0" err="1">
                <a:solidFill>
                  <a:prstClr val="black"/>
                </a:solidFill>
              </a:rPr>
              <a:t>Bn</a:t>
            </a:r>
            <a:r>
              <a:rPr lang="en-US" sz="1400" dirty="0">
                <a:solidFill>
                  <a:prstClr val="black"/>
                </a:solidFill>
              </a:rPr>
              <a:t> at </a:t>
            </a:r>
            <a:r>
              <a:rPr lang="en-US" sz="1400" dirty="0" smtClean="0">
                <a:solidFill>
                  <a:prstClr val="black"/>
                </a:solidFill>
              </a:rPr>
              <a:t>FY15-16 end</a:t>
            </a:r>
          </a:p>
          <a:p>
            <a:pPr marL="285750" indent="-285750" algn="just">
              <a:spcBef>
                <a:spcPts val="600"/>
              </a:spcBef>
              <a:buSzPct val="100000"/>
              <a:buFont typeface="Arial" panose="020B0604020202020204" pitchFamily="34" charset="0"/>
              <a:buChar char="•"/>
            </a:pPr>
            <a:r>
              <a:rPr lang="en-US" sz="1400" dirty="0" smtClean="0">
                <a:solidFill>
                  <a:prstClr val="black"/>
                </a:solidFill>
              </a:rPr>
              <a:t>DSL liabilities (principal and interest) – BDT 90 </a:t>
            </a:r>
            <a:r>
              <a:rPr lang="en-US" sz="1400" dirty="0" err="1" smtClean="0">
                <a:solidFill>
                  <a:prstClr val="black"/>
                </a:solidFill>
              </a:rPr>
              <a:t>Bn</a:t>
            </a:r>
            <a:r>
              <a:rPr lang="en-US" sz="1400" dirty="0" smtClean="0">
                <a:solidFill>
                  <a:prstClr val="black"/>
                </a:solidFill>
              </a:rPr>
              <a:t> at FY15-16 end</a:t>
            </a:r>
            <a:endParaRPr lang="en-US" sz="1400" dirty="0">
              <a:solidFill>
                <a:prstClr val="black"/>
              </a:solidFill>
            </a:endParaRPr>
          </a:p>
          <a:p>
            <a:pPr marL="285750" indent="-285750" algn="just">
              <a:spcBef>
                <a:spcPts val="600"/>
              </a:spcBef>
              <a:buSzPct val="100000"/>
              <a:buFont typeface="Arial" panose="020B0604020202020204" pitchFamily="34" charset="0"/>
              <a:buChar char="•"/>
            </a:pPr>
            <a:r>
              <a:rPr lang="en-US" sz="1400" dirty="0" smtClean="0">
                <a:solidFill>
                  <a:prstClr val="black"/>
                </a:solidFill>
              </a:rPr>
              <a:t>Conversion would </a:t>
            </a:r>
            <a:r>
              <a:rPr lang="en-US" sz="1400" dirty="0">
                <a:solidFill>
                  <a:prstClr val="black"/>
                </a:solidFill>
              </a:rPr>
              <a:t>improve </a:t>
            </a:r>
            <a:r>
              <a:rPr lang="en-US" sz="1400" dirty="0" smtClean="0">
                <a:solidFill>
                  <a:prstClr val="black"/>
                </a:solidFill>
              </a:rPr>
              <a:t>net </a:t>
            </a:r>
            <a:r>
              <a:rPr lang="en-US" sz="1400" dirty="0">
                <a:solidFill>
                  <a:prstClr val="black"/>
                </a:solidFill>
              </a:rPr>
              <a:t>worth of the holding company and reduce the DSL obligations for future years</a:t>
            </a:r>
          </a:p>
        </p:txBody>
      </p:sp>
      <p:graphicFrame>
        <p:nvGraphicFramePr>
          <p:cNvPr id="21" name="Chart 20"/>
          <p:cNvGraphicFramePr/>
          <p:nvPr>
            <p:extLst>
              <p:ext uri="{D42A27DB-BD31-4B8C-83A1-F6EECF244321}">
                <p14:modId xmlns:p14="http://schemas.microsoft.com/office/powerpoint/2010/main" val="504215867"/>
              </p:ext>
            </p:extLst>
          </p:nvPr>
        </p:nvGraphicFramePr>
        <p:xfrm>
          <a:off x="450549" y="2651059"/>
          <a:ext cx="9775195" cy="22484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p:cNvGraphicFramePr/>
          <p:nvPr>
            <p:extLst>
              <p:ext uri="{D42A27DB-BD31-4B8C-83A1-F6EECF244321}">
                <p14:modId xmlns:p14="http://schemas.microsoft.com/office/powerpoint/2010/main" val="130161757"/>
              </p:ext>
            </p:extLst>
          </p:nvPr>
        </p:nvGraphicFramePr>
        <p:xfrm>
          <a:off x="439792" y="5102675"/>
          <a:ext cx="9785951" cy="2161683"/>
        </p:xfrm>
        <a:graphic>
          <a:graphicData uri="http://schemas.openxmlformats.org/drawingml/2006/chart">
            <c:chart xmlns:c="http://schemas.openxmlformats.org/drawingml/2006/chart" xmlns:r="http://schemas.openxmlformats.org/officeDocument/2006/relationships" r:id="rId3"/>
          </a:graphicData>
        </a:graphic>
      </p:graphicFrame>
      <p:sp>
        <p:nvSpPr>
          <p:cNvPr id="23" name="Pentagon 22">
            <a:hlinkClick r:id="rId4"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845705086"/>
      </p:ext>
    </p:extLst>
  </p:cSld>
  <p:clrMapOvr>
    <a:masterClrMapping/>
  </p:clrMapOvr>
  <p:transition>
    <p:fade/>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Performance improvement measures</a:t>
            </a:r>
            <a:endParaRPr lang="en-IN" b="1" dirty="0"/>
          </a:p>
        </p:txBody>
      </p:sp>
      <p:cxnSp>
        <p:nvCxnSpPr>
          <p:cNvPr id="9" name="Straight Connector 8"/>
          <p:cNvCxnSpPr/>
          <p:nvPr/>
        </p:nvCxnSpPr>
        <p:spPr>
          <a:xfrm>
            <a:off x="450549" y="948633"/>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103395" y="838393"/>
            <a:ext cx="8481848"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Performance improvement measures in </a:t>
            </a:r>
            <a:r>
              <a:rPr lang="en-US" sz="1400" b="1" dirty="0" smtClean="0">
                <a:solidFill>
                  <a:srgbClr val="00B0F0"/>
                </a:solidFill>
              </a:rPr>
              <a:t>holding company’s generation business</a:t>
            </a:r>
            <a:endParaRPr lang="en-IN" sz="1400" b="1" dirty="0">
              <a:solidFill>
                <a:srgbClr val="00B0F0"/>
              </a:solidFill>
            </a:endParaRPr>
          </a:p>
        </p:txBody>
      </p:sp>
      <p:sp>
        <p:nvSpPr>
          <p:cNvPr id="14" name="TextBox 13"/>
          <p:cNvSpPr txBox="1"/>
          <p:nvPr/>
        </p:nvSpPr>
        <p:spPr>
          <a:xfrm>
            <a:off x="450549" y="6940269"/>
            <a:ext cx="9785951" cy="432642"/>
          </a:xfrm>
          <a:prstGeom prst="rect">
            <a:avLst/>
          </a:prstGeom>
          <a:solidFill>
            <a:srgbClr val="00B0F0"/>
          </a:solidFill>
        </p:spPr>
        <p:txBody>
          <a:bodyPr wrap="square" lIns="36000" tIns="36000" rIns="36000" bIns="36000" rtlCol="0" anchor="ctr">
            <a:noAutofit/>
          </a:bodyPr>
          <a:lstStyle/>
          <a:p>
            <a:pPr algn="ctr">
              <a:spcBef>
                <a:spcPts val="600"/>
              </a:spcBef>
              <a:buSzPct val="100000"/>
            </a:pPr>
            <a:r>
              <a:rPr lang="en-US" sz="1400" b="1" dirty="0" smtClean="0">
                <a:solidFill>
                  <a:srgbClr val="313131"/>
                </a:solidFill>
              </a:rPr>
              <a:t>Undertaking performance improvement measures will lead to potential savings for the holding company and the new distribution company(</a:t>
            </a:r>
            <a:r>
              <a:rPr lang="en-US" sz="1400" b="1" dirty="0" err="1" smtClean="0">
                <a:solidFill>
                  <a:srgbClr val="313131"/>
                </a:solidFill>
              </a:rPr>
              <a:t>ies</a:t>
            </a:r>
            <a:r>
              <a:rPr lang="en-US" sz="1400" b="1" dirty="0" smtClean="0">
                <a:solidFill>
                  <a:srgbClr val="313131"/>
                </a:solidFill>
              </a:rPr>
              <a:t>)</a:t>
            </a:r>
            <a:endParaRPr lang="en-IN" sz="1400" b="1" dirty="0" smtClean="0">
              <a:solidFill>
                <a:srgbClr val="313131"/>
              </a:solidFill>
            </a:endParaRPr>
          </a:p>
        </p:txBody>
      </p:sp>
      <p:graphicFrame>
        <p:nvGraphicFramePr>
          <p:cNvPr id="4" name="Table 3"/>
          <p:cNvGraphicFramePr>
            <a:graphicFrameLocks noGrp="1"/>
          </p:cNvGraphicFramePr>
          <p:nvPr>
            <p:extLst/>
          </p:nvPr>
        </p:nvGraphicFramePr>
        <p:xfrm>
          <a:off x="450549" y="1392194"/>
          <a:ext cx="9785951" cy="861705"/>
        </p:xfrm>
        <a:graphic>
          <a:graphicData uri="http://schemas.openxmlformats.org/drawingml/2006/table">
            <a:tbl>
              <a:tblPr bandRow="1">
                <a:tableStyleId>{5C22544A-7EE6-4342-B048-85BDC9FD1C3A}</a:tableStyleId>
              </a:tblPr>
              <a:tblGrid>
                <a:gridCol w="3749056"/>
                <a:gridCol w="1207379"/>
                <a:gridCol w="1207379"/>
                <a:gridCol w="1207379"/>
                <a:gridCol w="1207379"/>
                <a:gridCol w="1207379"/>
              </a:tblGrid>
              <a:tr h="287235">
                <a:tc rowSpan="2">
                  <a:txBody>
                    <a:bodyPr/>
                    <a:lstStyle/>
                    <a:p>
                      <a:pPr algn="l">
                        <a:spcAft>
                          <a:spcPts val="0"/>
                        </a:spcAft>
                      </a:pPr>
                      <a:r>
                        <a:rPr lang="en-US" sz="1200" b="1" dirty="0">
                          <a:effectLst/>
                        </a:rPr>
                        <a:t>Particulars</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Actual</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gridSpan="4">
                  <a:txBody>
                    <a:bodyPr/>
                    <a:lstStyle/>
                    <a:p>
                      <a:pPr algn="ctr" fontAlgn="auto">
                        <a:spcAft>
                          <a:spcPts val="0"/>
                        </a:spcAft>
                      </a:pPr>
                      <a:r>
                        <a:rPr lang="en-US" sz="1200" b="1">
                          <a:effectLst/>
                        </a:rPr>
                        <a:t>Projected</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r>
              <a:tr h="287235">
                <a:tc vMerge="1">
                  <a:txBody>
                    <a:bodyPr/>
                    <a:lstStyle/>
                    <a:p>
                      <a:endParaRPr lang="en-IN"/>
                    </a:p>
                  </a:txBody>
                  <a:tcPr/>
                </a:tc>
                <a:tc>
                  <a:txBody>
                    <a:bodyPr/>
                    <a:lstStyle/>
                    <a:p>
                      <a:pPr algn="ctr" fontAlgn="auto">
                        <a:spcAft>
                          <a:spcPts val="0"/>
                        </a:spcAft>
                      </a:pPr>
                      <a:r>
                        <a:rPr lang="en-US" sz="1200" b="1">
                          <a:effectLst/>
                        </a:rPr>
                        <a:t>FY15-16</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FY17-18</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FY18-19</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FY19-20</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FY20-21</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7235">
                <a:tc>
                  <a:txBody>
                    <a:bodyPr/>
                    <a:lstStyle/>
                    <a:p>
                      <a:pPr algn="l" fontAlgn="auto">
                        <a:spcAft>
                          <a:spcPts val="0"/>
                        </a:spcAft>
                      </a:pPr>
                      <a:r>
                        <a:rPr lang="en-US" sz="1200" dirty="0">
                          <a:effectLst/>
                        </a:rPr>
                        <a:t>Efficiency of </a:t>
                      </a:r>
                      <a:r>
                        <a:rPr lang="en-US" sz="1200" dirty="0" smtClean="0">
                          <a:effectLst/>
                        </a:rPr>
                        <a:t>holding company’s power plants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effectLst/>
                        </a:rPr>
                        <a:t>30%</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ctr"/>
                      <a:r>
                        <a:rPr lang="en-IN" sz="1200" kern="1200" dirty="0">
                          <a:solidFill>
                            <a:schemeClr val="dk1"/>
                          </a:solidFill>
                          <a:effectLst/>
                          <a:latin typeface="+mn-lt"/>
                          <a:ea typeface="+mn-ea"/>
                          <a:cs typeface="+mn-cs"/>
                        </a:rPr>
                        <a:t>30.50%</a:t>
                      </a:r>
                    </a:p>
                  </a:txBody>
                  <a:tcPr marL="0" marR="0" marT="0" marB="0" anchor="ctr"/>
                </a:tc>
                <a:tc>
                  <a:txBody>
                    <a:bodyPr/>
                    <a:lstStyle/>
                    <a:p>
                      <a:pPr algn="ctr" fontAlgn="ctr"/>
                      <a:r>
                        <a:rPr lang="en-IN" sz="1200" kern="1200" dirty="0">
                          <a:solidFill>
                            <a:schemeClr val="dk1"/>
                          </a:solidFill>
                          <a:effectLst/>
                          <a:latin typeface="+mn-lt"/>
                          <a:ea typeface="+mn-ea"/>
                          <a:cs typeface="+mn-cs"/>
                        </a:rPr>
                        <a:t>31.00%</a:t>
                      </a:r>
                    </a:p>
                  </a:txBody>
                  <a:tcPr marL="0" marR="0" marT="0" marB="0" anchor="ctr"/>
                </a:tc>
                <a:tc>
                  <a:txBody>
                    <a:bodyPr/>
                    <a:lstStyle/>
                    <a:p>
                      <a:pPr algn="ctr" fontAlgn="ctr"/>
                      <a:r>
                        <a:rPr lang="en-IN" sz="1200" kern="1200" dirty="0">
                          <a:solidFill>
                            <a:schemeClr val="dk1"/>
                          </a:solidFill>
                          <a:effectLst/>
                          <a:latin typeface="+mn-lt"/>
                          <a:ea typeface="+mn-ea"/>
                          <a:cs typeface="+mn-cs"/>
                        </a:rPr>
                        <a:t>31.50%</a:t>
                      </a:r>
                    </a:p>
                  </a:txBody>
                  <a:tcPr marL="0" marR="0" marT="0" marB="0" anchor="ctr"/>
                </a:tc>
                <a:tc>
                  <a:txBody>
                    <a:bodyPr/>
                    <a:lstStyle/>
                    <a:p>
                      <a:pPr algn="ctr" fontAlgn="ctr"/>
                      <a:r>
                        <a:rPr lang="en-IN" sz="1200" kern="1200" dirty="0">
                          <a:solidFill>
                            <a:schemeClr val="dk1"/>
                          </a:solidFill>
                          <a:effectLst/>
                          <a:latin typeface="+mn-lt"/>
                          <a:ea typeface="+mn-ea"/>
                          <a:cs typeface="+mn-cs"/>
                        </a:rPr>
                        <a:t>32.00%</a:t>
                      </a:r>
                    </a:p>
                  </a:txBody>
                  <a:tcPr marL="0" marR="0" marT="0" marB="0" anchor="ctr"/>
                </a:tc>
              </a:tr>
            </a:tbl>
          </a:graphicData>
        </a:graphic>
      </p:graphicFrame>
      <p:sp>
        <p:nvSpPr>
          <p:cNvPr id="18" name="Text Box 272"/>
          <p:cNvSpPr txBox="1"/>
          <p:nvPr/>
        </p:nvSpPr>
        <p:spPr>
          <a:xfrm>
            <a:off x="2189515" y="1132802"/>
            <a:ext cx="6286500"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smtClean="0">
                <a:solidFill>
                  <a:srgbClr val="046A38">
                    <a:lumMod val="75000"/>
                  </a:srgbClr>
                </a:solidFill>
                <a:ea typeface="Times" panose="02020603050405020304" pitchFamily="18" charset="0"/>
                <a:cs typeface="Arial" panose="020B0604020202020204" pitchFamily="34" charset="0"/>
              </a:rPr>
              <a:t>Efficiency improvement trajectory of power plants of holding company</a:t>
            </a:r>
            <a:endParaRPr lang="en-IN" sz="1100" b="1" i="1" dirty="0">
              <a:solidFill>
                <a:srgbClr val="046A38">
                  <a:lumMod val="75000"/>
                </a:srgbClr>
              </a:solidFill>
              <a:ea typeface="Times" panose="02020603050405020304" pitchFamily="18" charset="0"/>
              <a:cs typeface="Arial" panose="020B0604020202020204" pitchFamily="34" charset="0"/>
            </a:endParaRPr>
          </a:p>
        </p:txBody>
      </p:sp>
      <p:cxnSp>
        <p:nvCxnSpPr>
          <p:cNvPr id="19" name="Straight Connector 18"/>
          <p:cNvCxnSpPr/>
          <p:nvPr/>
        </p:nvCxnSpPr>
        <p:spPr>
          <a:xfrm>
            <a:off x="450549" y="2532418"/>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103395" y="2422178"/>
            <a:ext cx="8481848"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Performance improvement measures in </a:t>
            </a:r>
            <a:r>
              <a:rPr lang="en-US" sz="1400" b="1" dirty="0" smtClean="0">
                <a:solidFill>
                  <a:srgbClr val="00B0F0"/>
                </a:solidFill>
              </a:rPr>
              <a:t>holding company’s bulk supply business</a:t>
            </a:r>
            <a:endParaRPr lang="en-IN" sz="1400" b="1" dirty="0">
              <a:solidFill>
                <a:srgbClr val="00B0F0"/>
              </a:solidFill>
            </a:endParaRPr>
          </a:p>
        </p:txBody>
      </p:sp>
      <p:graphicFrame>
        <p:nvGraphicFramePr>
          <p:cNvPr id="21" name="Table 20"/>
          <p:cNvGraphicFramePr>
            <a:graphicFrameLocks noGrp="1"/>
          </p:cNvGraphicFramePr>
          <p:nvPr>
            <p:extLst/>
          </p:nvPr>
        </p:nvGraphicFramePr>
        <p:xfrm>
          <a:off x="450549" y="2975979"/>
          <a:ext cx="9785951" cy="886573"/>
        </p:xfrm>
        <a:graphic>
          <a:graphicData uri="http://schemas.openxmlformats.org/drawingml/2006/table">
            <a:tbl>
              <a:tblPr bandRow="1">
                <a:tableStyleId>{5C22544A-7EE6-4342-B048-85BDC9FD1C3A}</a:tableStyleId>
              </a:tblPr>
              <a:tblGrid>
                <a:gridCol w="3749056"/>
                <a:gridCol w="1207379"/>
                <a:gridCol w="1207379"/>
                <a:gridCol w="1207379"/>
                <a:gridCol w="1207379"/>
                <a:gridCol w="1207379"/>
              </a:tblGrid>
              <a:tr h="287235">
                <a:tc rowSpan="2">
                  <a:txBody>
                    <a:bodyPr/>
                    <a:lstStyle/>
                    <a:p>
                      <a:pPr algn="l">
                        <a:spcAft>
                          <a:spcPts val="0"/>
                        </a:spcAft>
                      </a:pPr>
                      <a:r>
                        <a:rPr lang="en-US" sz="1200" b="1" dirty="0">
                          <a:effectLst/>
                        </a:rPr>
                        <a:t>Particulars</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Actual</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gridSpan="4">
                  <a:txBody>
                    <a:bodyPr/>
                    <a:lstStyle/>
                    <a:p>
                      <a:pPr algn="ctr" fontAlgn="auto">
                        <a:spcAft>
                          <a:spcPts val="0"/>
                        </a:spcAft>
                      </a:pPr>
                      <a:r>
                        <a:rPr lang="en-US" sz="1200" b="1">
                          <a:effectLst/>
                        </a:rPr>
                        <a:t>Projected</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r>
              <a:tr h="287235">
                <a:tc vMerge="1">
                  <a:txBody>
                    <a:bodyPr/>
                    <a:lstStyle/>
                    <a:p>
                      <a:endParaRPr lang="en-IN"/>
                    </a:p>
                  </a:txBody>
                  <a:tcPr/>
                </a:tc>
                <a:tc>
                  <a:txBody>
                    <a:bodyPr/>
                    <a:lstStyle/>
                    <a:p>
                      <a:pPr algn="ctr" fontAlgn="auto">
                        <a:spcAft>
                          <a:spcPts val="0"/>
                        </a:spcAft>
                      </a:pPr>
                      <a:r>
                        <a:rPr lang="en-US" sz="1200" b="1">
                          <a:effectLst/>
                        </a:rPr>
                        <a:t>FY15-16</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FY17-18</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FY18-19</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FY19-20</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FY20-21</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12103">
                <a:tc>
                  <a:txBody>
                    <a:bodyPr/>
                    <a:lstStyle/>
                    <a:p>
                      <a:pPr algn="l" fontAlgn="auto">
                        <a:spcAft>
                          <a:spcPts val="0"/>
                        </a:spcAft>
                      </a:pPr>
                      <a:r>
                        <a:rPr lang="en-US" sz="1200" dirty="0" smtClean="0">
                          <a:effectLst/>
                        </a:rPr>
                        <a:t>C/B ratio for bulk supply business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solidFill>
                            <a:srgbClr val="000000"/>
                          </a:solidFill>
                          <a:effectLst/>
                          <a:latin typeface="+mj-lt"/>
                          <a:ea typeface="Times" panose="02020603050405020304" pitchFamily="18" charset="0"/>
                          <a:cs typeface="Arial" panose="020B0604020202020204" pitchFamily="34" charset="0"/>
                        </a:rPr>
                        <a:t>90.49%</a:t>
                      </a:r>
                      <a:endParaRPr lang="en-IN" sz="1200" dirty="0">
                        <a:effectLst/>
                        <a:latin typeface="+mj-lt"/>
                        <a:ea typeface="Times" panose="02020603050405020304" pitchFamily="18" charset="0"/>
                        <a:cs typeface="Arial" panose="020B0604020202020204" pitchFamily="34" charset="0"/>
                      </a:endParaRPr>
                    </a:p>
                  </a:txBody>
                  <a:tcPr marL="68580" marR="68580" marT="0" marB="0" anchor="ctr"/>
                </a:tc>
                <a:tc>
                  <a:txBody>
                    <a:bodyPr/>
                    <a:lstStyle/>
                    <a:p>
                      <a:pPr marL="0" algn="ctr" defTabSz="1008400" rtl="0" eaLnBrk="1" fontAlgn="auto" latinLnBrk="0" hangingPunct="1">
                        <a:spcAft>
                          <a:spcPts val="0"/>
                        </a:spcAft>
                      </a:pPr>
                      <a:r>
                        <a:rPr lang="en-IN" sz="1200" kern="1200" dirty="0">
                          <a:solidFill>
                            <a:srgbClr val="000000"/>
                          </a:solidFill>
                          <a:effectLst/>
                          <a:latin typeface="+mj-lt"/>
                          <a:ea typeface="Times" panose="02020603050405020304" pitchFamily="18" charset="0"/>
                          <a:cs typeface="Arial" panose="020B0604020202020204" pitchFamily="34" charset="0"/>
                        </a:rPr>
                        <a:t>92.74%</a:t>
                      </a:r>
                    </a:p>
                  </a:txBody>
                  <a:tcPr marL="0" marR="0" marT="0" marB="0" anchor="ctr"/>
                </a:tc>
                <a:tc>
                  <a:txBody>
                    <a:bodyPr/>
                    <a:lstStyle/>
                    <a:p>
                      <a:pPr marL="0" algn="ctr" defTabSz="1008400" rtl="0" eaLnBrk="1" fontAlgn="auto" latinLnBrk="0" hangingPunct="1">
                        <a:spcAft>
                          <a:spcPts val="0"/>
                        </a:spcAft>
                      </a:pPr>
                      <a:r>
                        <a:rPr lang="en-IN" sz="1200" kern="1200" dirty="0">
                          <a:solidFill>
                            <a:srgbClr val="000000"/>
                          </a:solidFill>
                          <a:effectLst/>
                          <a:latin typeface="+mj-lt"/>
                          <a:ea typeface="Times" panose="02020603050405020304" pitchFamily="18" charset="0"/>
                          <a:cs typeface="Arial" panose="020B0604020202020204" pitchFamily="34" charset="0"/>
                        </a:rPr>
                        <a:t>95.00%</a:t>
                      </a:r>
                    </a:p>
                  </a:txBody>
                  <a:tcPr marL="0" marR="0" marT="0" marB="0" anchor="ctr"/>
                </a:tc>
                <a:tc>
                  <a:txBody>
                    <a:bodyPr/>
                    <a:lstStyle/>
                    <a:p>
                      <a:pPr marL="0" algn="ctr" defTabSz="1008400" rtl="0" eaLnBrk="1" fontAlgn="auto" latinLnBrk="0" hangingPunct="1">
                        <a:spcAft>
                          <a:spcPts val="0"/>
                        </a:spcAft>
                      </a:pPr>
                      <a:r>
                        <a:rPr lang="en-IN" sz="1200" kern="1200" dirty="0">
                          <a:solidFill>
                            <a:srgbClr val="000000"/>
                          </a:solidFill>
                          <a:effectLst/>
                          <a:latin typeface="+mj-lt"/>
                          <a:ea typeface="Times" panose="02020603050405020304" pitchFamily="18" charset="0"/>
                          <a:cs typeface="Arial" panose="020B0604020202020204" pitchFamily="34" charset="0"/>
                        </a:rPr>
                        <a:t>97.25%</a:t>
                      </a:r>
                    </a:p>
                  </a:txBody>
                  <a:tcPr marL="0" marR="0" marT="0" marB="0" anchor="ctr"/>
                </a:tc>
                <a:tc>
                  <a:txBody>
                    <a:bodyPr/>
                    <a:lstStyle/>
                    <a:p>
                      <a:pPr marL="0" algn="ctr" defTabSz="1008400" rtl="0" eaLnBrk="1" fontAlgn="auto" latinLnBrk="0" hangingPunct="1">
                        <a:spcAft>
                          <a:spcPts val="0"/>
                        </a:spcAft>
                      </a:pPr>
                      <a:r>
                        <a:rPr lang="en-IN" sz="1200" kern="1200" dirty="0">
                          <a:solidFill>
                            <a:srgbClr val="000000"/>
                          </a:solidFill>
                          <a:effectLst/>
                          <a:latin typeface="+mj-lt"/>
                          <a:ea typeface="Times" panose="02020603050405020304" pitchFamily="18" charset="0"/>
                          <a:cs typeface="Arial" panose="020B0604020202020204" pitchFamily="34" charset="0"/>
                        </a:rPr>
                        <a:t>99.50%</a:t>
                      </a:r>
                    </a:p>
                  </a:txBody>
                  <a:tcPr marL="0" marR="0" marT="0" marB="0" anchor="ctr"/>
                </a:tc>
              </a:tr>
            </a:tbl>
          </a:graphicData>
        </a:graphic>
      </p:graphicFrame>
      <p:sp>
        <p:nvSpPr>
          <p:cNvPr id="22" name="Text Box 272"/>
          <p:cNvSpPr txBox="1"/>
          <p:nvPr/>
        </p:nvSpPr>
        <p:spPr>
          <a:xfrm>
            <a:off x="1875190" y="2716587"/>
            <a:ext cx="6915150"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smtClean="0">
                <a:solidFill>
                  <a:srgbClr val="046A38">
                    <a:lumMod val="75000"/>
                  </a:srgbClr>
                </a:solidFill>
                <a:ea typeface="Times" panose="02020603050405020304" pitchFamily="18" charset="0"/>
                <a:cs typeface="Arial" panose="020B0604020202020204" pitchFamily="34" charset="0"/>
              </a:rPr>
              <a:t>Collection/Billing Ratio improvement trajectory of bulk supply business</a:t>
            </a:r>
            <a:endParaRPr lang="en-IN" sz="1100" b="1" i="1" dirty="0">
              <a:solidFill>
                <a:srgbClr val="046A38">
                  <a:lumMod val="75000"/>
                </a:srgbClr>
              </a:solidFill>
              <a:ea typeface="Times" panose="02020603050405020304" pitchFamily="18" charset="0"/>
              <a:cs typeface="Arial" panose="020B0604020202020204" pitchFamily="34" charset="0"/>
            </a:endParaRPr>
          </a:p>
        </p:txBody>
      </p:sp>
      <p:cxnSp>
        <p:nvCxnSpPr>
          <p:cNvPr id="23" name="Straight Connector 22"/>
          <p:cNvCxnSpPr/>
          <p:nvPr/>
        </p:nvCxnSpPr>
        <p:spPr>
          <a:xfrm>
            <a:off x="450549" y="4184506"/>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103395" y="4074266"/>
            <a:ext cx="8481848"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prstClr val="black"/>
                </a:solidFill>
              </a:rPr>
              <a:t>Performance improvement measures in </a:t>
            </a:r>
            <a:r>
              <a:rPr lang="en-US" sz="1400" b="1" dirty="0" smtClean="0">
                <a:solidFill>
                  <a:srgbClr val="00B0F0"/>
                </a:solidFill>
              </a:rPr>
              <a:t>new distribution company(</a:t>
            </a:r>
            <a:r>
              <a:rPr lang="en-US" sz="1400" b="1" dirty="0" err="1" smtClean="0">
                <a:solidFill>
                  <a:srgbClr val="00B0F0"/>
                </a:solidFill>
              </a:rPr>
              <a:t>ies</a:t>
            </a:r>
            <a:r>
              <a:rPr lang="en-US" sz="1400" b="1" dirty="0" smtClean="0">
                <a:solidFill>
                  <a:srgbClr val="00B0F0"/>
                </a:solidFill>
              </a:rPr>
              <a:t>)</a:t>
            </a:r>
            <a:endParaRPr lang="en-IN" sz="1400" b="1" dirty="0">
              <a:solidFill>
                <a:srgbClr val="00B0F0"/>
              </a:solidFill>
            </a:endParaRPr>
          </a:p>
        </p:txBody>
      </p:sp>
      <p:graphicFrame>
        <p:nvGraphicFramePr>
          <p:cNvPr id="25" name="Table 24"/>
          <p:cNvGraphicFramePr>
            <a:graphicFrameLocks noGrp="1"/>
          </p:cNvGraphicFramePr>
          <p:nvPr>
            <p:extLst/>
          </p:nvPr>
        </p:nvGraphicFramePr>
        <p:xfrm>
          <a:off x="450549" y="4628067"/>
          <a:ext cx="9785951" cy="861705"/>
        </p:xfrm>
        <a:graphic>
          <a:graphicData uri="http://schemas.openxmlformats.org/drawingml/2006/table">
            <a:tbl>
              <a:tblPr bandRow="1">
                <a:tableStyleId>{5C22544A-7EE6-4342-B048-85BDC9FD1C3A}</a:tableStyleId>
              </a:tblPr>
              <a:tblGrid>
                <a:gridCol w="3749056"/>
                <a:gridCol w="1207379"/>
                <a:gridCol w="1207379"/>
                <a:gridCol w="1207379"/>
                <a:gridCol w="1207379"/>
                <a:gridCol w="1207379"/>
              </a:tblGrid>
              <a:tr h="287235">
                <a:tc rowSpan="2">
                  <a:txBody>
                    <a:bodyPr/>
                    <a:lstStyle/>
                    <a:p>
                      <a:pPr algn="l">
                        <a:spcAft>
                          <a:spcPts val="0"/>
                        </a:spcAft>
                      </a:pPr>
                      <a:r>
                        <a:rPr lang="en-US" sz="1200" b="1" dirty="0">
                          <a:effectLst/>
                        </a:rPr>
                        <a:t>Particulars</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Actual</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gridSpan="4">
                  <a:txBody>
                    <a:bodyPr/>
                    <a:lstStyle/>
                    <a:p>
                      <a:pPr algn="ctr" fontAlgn="auto">
                        <a:spcAft>
                          <a:spcPts val="0"/>
                        </a:spcAft>
                      </a:pPr>
                      <a:r>
                        <a:rPr lang="en-US" sz="1200" b="1">
                          <a:effectLst/>
                        </a:rPr>
                        <a:t>Projected</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r>
              <a:tr h="287235">
                <a:tc vMerge="1">
                  <a:txBody>
                    <a:bodyPr/>
                    <a:lstStyle/>
                    <a:p>
                      <a:endParaRPr lang="en-IN"/>
                    </a:p>
                  </a:txBody>
                  <a:tcPr/>
                </a:tc>
                <a:tc>
                  <a:txBody>
                    <a:bodyPr/>
                    <a:lstStyle/>
                    <a:p>
                      <a:pPr algn="ctr" fontAlgn="auto">
                        <a:spcAft>
                          <a:spcPts val="0"/>
                        </a:spcAft>
                      </a:pPr>
                      <a:r>
                        <a:rPr lang="en-US" sz="1200" b="1">
                          <a:effectLst/>
                        </a:rPr>
                        <a:t>FY15-16</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FY17-18</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FY18-19</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FY19-20</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FY20-21</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287235">
                <a:tc>
                  <a:txBody>
                    <a:bodyPr/>
                    <a:lstStyle/>
                    <a:p>
                      <a:pPr algn="l" fontAlgn="auto">
                        <a:spcAft>
                          <a:spcPts val="0"/>
                        </a:spcAft>
                      </a:pPr>
                      <a:r>
                        <a:rPr lang="en-US" sz="1200" dirty="0" smtClean="0">
                          <a:effectLst/>
                        </a:rPr>
                        <a:t>Distribution loss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IN" sz="1200" dirty="0">
                          <a:solidFill>
                            <a:srgbClr val="000000"/>
                          </a:solidFill>
                          <a:effectLst/>
                          <a:latin typeface="+mj-lt"/>
                          <a:ea typeface="Times New Roman" panose="02020603050405020304" pitchFamily="18" charset="0"/>
                          <a:cs typeface="Times New Roman" panose="02020603050405020304" pitchFamily="18" charset="0"/>
                        </a:rPr>
                        <a:t>11.01%</a:t>
                      </a:r>
                      <a:endParaRPr lang="en-IN" sz="1200" dirty="0">
                        <a:effectLst/>
                        <a:latin typeface="+mj-lt"/>
                        <a:ea typeface="Times" panose="02020603050405020304" pitchFamily="18" charset="0"/>
                        <a:cs typeface="Arial" panose="020B0604020202020204" pitchFamily="34" charset="0"/>
                      </a:endParaRPr>
                    </a:p>
                  </a:txBody>
                  <a:tcPr marL="68580" marR="68580" marT="0" marB="0" anchor="ctr"/>
                </a:tc>
                <a:tc>
                  <a:txBody>
                    <a:bodyPr/>
                    <a:lstStyle/>
                    <a:p>
                      <a:pPr algn="ctr" fontAlgn="ctr"/>
                      <a:r>
                        <a:rPr lang="en-IN" sz="1200" kern="1200" dirty="0">
                          <a:solidFill>
                            <a:srgbClr val="000000"/>
                          </a:solidFill>
                          <a:effectLst/>
                          <a:latin typeface="+mj-lt"/>
                          <a:ea typeface="Times New Roman" panose="02020603050405020304" pitchFamily="18" charset="0"/>
                          <a:cs typeface="Times New Roman" panose="02020603050405020304" pitchFamily="18" charset="0"/>
                        </a:rPr>
                        <a:t>10.73%</a:t>
                      </a:r>
                    </a:p>
                  </a:txBody>
                  <a:tcPr marL="0" marR="0" marT="0" marB="0" anchor="ctr"/>
                </a:tc>
                <a:tc>
                  <a:txBody>
                    <a:bodyPr/>
                    <a:lstStyle/>
                    <a:p>
                      <a:pPr algn="ctr" fontAlgn="ctr"/>
                      <a:r>
                        <a:rPr lang="en-IN" sz="1200" kern="1200" dirty="0">
                          <a:solidFill>
                            <a:srgbClr val="000000"/>
                          </a:solidFill>
                          <a:effectLst/>
                          <a:latin typeface="+mj-lt"/>
                          <a:ea typeface="Times New Roman" panose="02020603050405020304" pitchFamily="18" charset="0"/>
                          <a:cs typeface="Times New Roman" panose="02020603050405020304" pitchFamily="18" charset="0"/>
                        </a:rPr>
                        <a:t>10.46%</a:t>
                      </a:r>
                    </a:p>
                  </a:txBody>
                  <a:tcPr marL="0" marR="0" marT="0" marB="0" anchor="ctr"/>
                </a:tc>
                <a:tc>
                  <a:txBody>
                    <a:bodyPr/>
                    <a:lstStyle/>
                    <a:p>
                      <a:pPr algn="ctr" fontAlgn="ctr"/>
                      <a:r>
                        <a:rPr lang="en-IN" sz="1200" kern="1200" dirty="0">
                          <a:solidFill>
                            <a:srgbClr val="000000"/>
                          </a:solidFill>
                          <a:effectLst/>
                          <a:latin typeface="+mj-lt"/>
                          <a:ea typeface="Times New Roman" panose="02020603050405020304" pitchFamily="18" charset="0"/>
                          <a:cs typeface="Times New Roman" panose="02020603050405020304" pitchFamily="18" charset="0"/>
                        </a:rPr>
                        <a:t>10.18%</a:t>
                      </a:r>
                    </a:p>
                  </a:txBody>
                  <a:tcPr marL="0" marR="0" marT="0" marB="0" anchor="ctr"/>
                </a:tc>
                <a:tc>
                  <a:txBody>
                    <a:bodyPr/>
                    <a:lstStyle/>
                    <a:p>
                      <a:pPr algn="ctr" fontAlgn="ctr"/>
                      <a:r>
                        <a:rPr lang="en-IN" sz="1200" kern="1200" dirty="0">
                          <a:solidFill>
                            <a:srgbClr val="000000"/>
                          </a:solidFill>
                          <a:effectLst/>
                          <a:latin typeface="+mj-lt"/>
                          <a:ea typeface="Times New Roman" panose="02020603050405020304" pitchFamily="18" charset="0"/>
                          <a:cs typeface="Times New Roman" panose="02020603050405020304" pitchFamily="18" charset="0"/>
                        </a:rPr>
                        <a:t>9.90%</a:t>
                      </a:r>
                    </a:p>
                  </a:txBody>
                  <a:tcPr marL="0" marR="0" marT="0" marB="0" anchor="ctr"/>
                </a:tc>
              </a:tr>
            </a:tbl>
          </a:graphicData>
        </a:graphic>
      </p:graphicFrame>
      <p:sp>
        <p:nvSpPr>
          <p:cNvPr id="26" name="Text Box 272"/>
          <p:cNvSpPr txBox="1"/>
          <p:nvPr/>
        </p:nvSpPr>
        <p:spPr>
          <a:xfrm>
            <a:off x="1875190" y="4368675"/>
            <a:ext cx="6915150"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smtClean="0">
                <a:solidFill>
                  <a:srgbClr val="046A38">
                    <a:lumMod val="75000"/>
                  </a:srgbClr>
                </a:solidFill>
                <a:ea typeface="Times" panose="02020603050405020304" pitchFamily="18" charset="0"/>
                <a:cs typeface="Arial" panose="020B0604020202020204" pitchFamily="34" charset="0"/>
              </a:rPr>
              <a:t>Distribution loss reduction trajectory</a:t>
            </a:r>
            <a:endParaRPr lang="en-IN" sz="1100" b="1" i="1" dirty="0">
              <a:solidFill>
                <a:srgbClr val="046A38">
                  <a:lumMod val="75000"/>
                </a:srgbClr>
              </a:solidFill>
              <a:ea typeface="Times" panose="02020603050405020304" pitchFamily="18" charset="0"/>
              <a:cs typeface="Arial" panose="020B0604020202020204" pitchFamily="34" charset="0"/>
            </a:endParaRPr>
          </a:p>
        </p:txBody>
      </p:sp>
      <p:graphicFrame>
        <p:nvGraphicFramePr>
          <p:cNvPr id="27" name="Table 26"/>
          <p:cNvGraphicFramePr>
            <a:graphicFrameLocks noGrp="1"/>
          </p:cNvGraphicFramePr>
          <p:nvPr>
            <p:extLst/>
          </p:nvPr>
        </p:nvGraphicFramePr>
        <p:xfrm>
          <a:off x="439791" y="5804894"/>
          <a:ext cx="9785951" cy="884737"/>
        </p:xfrm>
        <a:graphic>
          <a:graphicData uri="http://schemas.openxmlformats.org/drawingml/2006/table">
            <a:tbl>
              <a:tblPr bandRow="1">
                <a:tableStyleId>{5C22544A-7EE6-4342-B048-85BDC9FD1C3A}</a:tableStyleId>
              </a:tblPr>
              <a:tblGrid>
                <a:gridCol w="3749056"/>
                <a:gridCol w="1207379"/>
                <a:gridCol w="1207379"/>
                <a:gridCol w="1207379"/>
                <a:gridCol w="1207379"/>
                <a:gridCol w="1207379"/>
              </a:tblGrid>
              <a:tr h="274145">
                <a:tc rowSpan="2">
                  <a:txBody>
                    <a:bodyPr/>
                    <a:lstStyle/>
                    <a:p>
                      <a:pPr algn="l">
                        <a:spcAft>
                          <a:spcPts val="0"/>
                        </a:spcAft>
                      </a:pPr>
                      <a:r>
                        <a:rPr lang="en-US" sz="1200" b="1" dirty="0">
                          <a:effectLst/>
                        </a:rPr>
                        <a:t>Particulars</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Actual</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gridSpan="4">
                  <a:txBody>
                    <a:bodyPr/>
                    <a:lstStyle/>
                    <a:p>
                      <a:pPr algn="ctr" fontAlgn="auto">
                        <a:spcAft>
                          <a:spcPts val="0"/>
                        </a:spcAft>
                      </a:pPr>
                      <a:r>
                        <a:rPr lang="en-US" sz="1200" b="1">
                          <a:effectLst/>
                        </a:rPr>
                        <a:t>Projected</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r>
              <a:tr h="274145">
                <a:tc vMerge="1">
                  <a:txBody>
                    <a:bodyPr/>
                    <a:lstStyle/>
                    <a:p>
                      <a:endParaRPr lang="en-IN"/>
                    </a:p>
                  </a:txBody>
                  <a:tcPr/>
                </a:tc>
                <a:tc>
                  <a:txBody>
                    <a:bodyPr/>
                    <a:lstStyle/>
                    <a:p>
                      <a:pPr algn="ctr" fontAlgn="auto">
                        <a:spcAft>
                          <a:spcPts val="0"/>
                        </a:spcAft>
                      </a:pPr>
                      <a:r>
                        <a:rPr lang="en-US" sz="1200" b="1">
                          <a:effectLst/>
                        </a:rPr>
                        <a:t>FY15-16</a:t>
                      </a:r>
                      <a:endParaRPr lang="en-IN" sz="1200" b="1">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FY17-18</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FY18-19</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FY19-20</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b="1" dirty="0">
                          <a:effectLst/>
                        </a:rPr>
                        <a:t>FY20-21</a:t>
                      </a:r>
                      <a:endParaRPr lang="en-IN"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r>
              <a:tr h="336447">
                <a:tc>
                  <a:txBody>
                    <a:bodyPr/>
                    <a:lstStyle/>
                    <a:p>
                      <a:pPr algn="l" fontAlgn="auto">
                        <a:spcAft>
                          <a:spcPts val="0"/>
                        </a:spcAft>
                      </a:pPr>
                      <a:r>
                        <a:rPr lang="en-US" sz="1200" dirty="0" smtClean="0">
                          <a:effectLst/>
                        </a:rPr>
                        <a:t>C/B ratio for distribution business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fontAlgn="auto">
                        <a:spcAft>
                          <a:spcPts val="0"/>
                        </a:spcAft>
                      </a:pPr>
                      <a:r>
                        <a:rPr lang="en-US" sz="1200" dirty="0">
                          <a:solidFill>
                            <a:srgbClr val="000000"/>
                          </a:solidFill>
                          <a:effectLst/>
                          <a:latin typeface="+mj-lt"/>
                          <a:ea typeface="Times" panose="02020603050405020304" pitchFamily="18" charset="0"/>
                          <a:cs typeface="Arial" panose="020B0604020202020204" pitchFamily="34" charset="0"/>
                        </a:rPr>
                        <a:t>95.90%</a:t>
                      </a:r>
                      <a:endParaRPr lang="en-IN" sz="1200" dirty="0">
                        <a:effectLst/>
                        <a:latin typeface="+mj-lt"/>
                        <a:ea typeface="Times" panose="02020603050405020304" pitchFamily="18" charset="0"/>
                        <a:cs typeface="Arial" panose="020B0604020202020204" pitchFamily="34" charset="0"/>
                      </a:endParaRPr>
                    </a:p>
                  </a:txBody>
                  <a:tcPr marL="68580" marR="68580" marT="0" marB="0" anchor="ctr"/>
                </a:tc>
                <a:tc>
                  <a:txBody>
                    <a:bodyPr/>
                    <a:lstStyle/>
                    <a:p>
                      <a:pPr algn="ctr" fontAlgn="ctr"/>
                      <a:r>
                        <a:rPr lang="en-IN" sz="1200" kern="1200" dirty="0">
                          <a:solidFill>
                            <a:srgbClr val="000000"/>
                          </a:solidFill>
                          <a:effectLst/>
                          <a:latin typeface="+mj-lt"/>
                          <a:ea typeface="Times" panose="02020603050405020304" pitchFamily="18" charset="0"/>
                          <a:cs typeface="Arial" panose="020B0604020202020204" pitchFamily="34" charset="0"/>
                        </a:rPr>
                        <a:t>96.80%</a:t>
                      </a:r>
                    </a:p>
                  </a:txBody>
                  <a:tcPr marL="0" marR="0" marT="0" marB="0" anchor="ctr"/>
                </a:tc>
                <a:tc>
                  <a:txBody>
                    <a:bodyPr/>
                    <a:lstStyle/>
                    <a:p>
                      <a:pPr algn="ctr" fontAlgn="ctr"/>
                      <a:r>
                        <a:rPr lang="en-IN" sz="1200" kern="1200" dirty="0">
                          <a:solidFill>
                            <a:srgbClr val="000000"/>
                          </a:solidFill>
                          <a:effectLst/>
                          <a:latin typeface="+mj-lt"/>
                          <a:ea typeface="Times" panose="02020603050405020304" pitchFamily="18" charset="0"/>
                          <a:cs typeface="Arial" panose="020B0604020202020204" pitchFamily="34" charset="0"/>
                        </a:rPr>
                        <a:t>97.70%</a:t>
                      </a:r>
                    </a:p>
                  </a:txBody>
                  <a:tcPr marL="0" marR="0" marT="0" marB="0" anchor="ctr"/>
                </a:tc>
                <a:tc>
                  <a:txBody>
                    <a:bodyPr/>
                    <a:lstStyle/>
                    <a:p>
                      <a:pPr algn="ctr" fontAlgn="ctr"/>
                      <a:r>
                        <a:rPr lang="en-IN" sz="1200" kern="1200" dirty="0">
                          <a:solidFill>
                            <a:srgbClr val="000000"/>
                          </a:solidFill>
                          <a:effectLst/>
                          <a:latin typeface="+mj-lt"/>
                          <a:ea typeface="Times" panose="02020603050405020304" pitchFamily="18" charset="0"/>
                          <a:cs typeface="Arial" panose="020B0604020202020204" pitchFamily="34" charset="0"/>
                        </a:rPr>
                        <a:t>98.60%</a:t>
                      </a:r>
                    </a:p>
                  </a:txBody>
                  <a:tcPr marL="0" marR="0" marT="0" marB="0" anchor="ctr"/>
                </a:tc>
                <a:tc>
                  <a:txBody>
                    <a:bodyPr/>
                    <a:lstStyle/>
                    <a:p>
                      <a:pPr algn="ctr" fontAlgn="ctr"/>
                      <a:r>
                        <a:rPr lang="en-IN" sz="1200" kern="1200" dirty="0">
                          <a:solidFill>
                            <a:srgbClr val="000000"/>
                          </a:solidFill>
                          <a:effectLst/>
                          <a:latin typeface="+mj-lt"/>
                          <a:ea typeface="Times" panose="02020603050405020304" pitchFamily="18" charset="0"/>
                          <a:cs typeface="Arial" panose="020B0604020202020204" pitchFamily="34" charset="0"/>
                        </a:rPr>
                        <a:t>99.50%</a:t>
                      </a:r>
                    </a:p>
                  </a:txBody>
                  <a:tcPr marL="0" marR="0" marT="0" marB="0" anchor="ctr"/>
                </a:tc>
              </a:tr>
            </a:tbl>
          </a:graphicData>
        </a:graphic>
      </p:graphicFrame>
      <p:sp>
        <p:nvSpPr>
          <p:cNvPr id="28" name="Text Box 272"/>
          <p:cNvSpPr txBox="1"/>
          <p:nvPr/>
        </p:nvSpPr>
        <p:spPr>
          <a:xfrm>
            <a:off x="1864432" y="5545502"/>
            <a:ext cx="6915150"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smtClean="0">
                <a:solidFill>
                  <a:srgbClr val="046A38">
                    <a:lumMod val="75000"/>
                  </a:srgbClr>
                </a:solidFill>
                <a:ea typeface="Times" panose="02020603050405020304" pitchFamily="18" charset="0"/>
                <a:cs typeface="Arial" panose="020B0604020202020204" pitchFamily="34" charset="0"/>
              </a:rPr>
              <a:t>Collection/Billing Ratio improvement trajectory of distribution business</a:t>
            </a:r>
            <a:endParaRPr lang="en-IN" sz="1100" b="1" i="1" dirty="0">
              <a:solidFill>
                <a:srgbClr val="046A38">
                  <a:lumMod val="75000"/>
                </a:srgbClr>
              </a:solidFill>
              <a:ea typeface="Times" panose="02020603050405020304" pitchFamily="18" charset="0"/>
              <a:cs typeface="Arial" panose="020B0604020202020204" pitchFamily="34" charset="0"/>
            </a:endParaRPr>
          </a:p>
        </p:txBody>
      </p:sp>
      <p:sp>
        <p:nvSpPr>
          <p:cNvPr id="33" name="Pentagon 32">
            <a:hlinkClick r:id="rId2" action="ppaction://hlinksldjump"/>
          </p:cNvPr>
          <p:cNvSpPr/>
          <p:nvPr/>
        </p:nvSpPr>
        <p:spPr bwMode="gray">
          <a:xfrm flipH="1">
            <a:off x="10224568" y="7004753"/>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068306181"/>
      </p:ext>
    </p:extLst>
  </p:cSld>
  <p:clrMapOvr>
    <a:masterClrMapping/>
  </p:clrMapOvr>
  <p:transition>
    <p:fade/>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Potential savings from performance improvement measures</a:t>
            </a:r>
            <a:endParaRPr lang="en-IN" b="1" dirty="0"/>
          </a:p>
        </p:txBody>
      </p:sp>
      <p:sp>
        <p:nvSpPr>
          <p:cNvPr id="28" name="Text Box 272"/>
          <p:cNvSpPr txBox="1"/>
          <p:nvPr/>
        </p:nvSpPr>
        <p:spPr>
          <a:xfrm>
            <a:off x="1875193" y="1002483"/>
            <a:ext cx="6915150" cy="462820"/>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a:solidFill>
                  <a:srgbClr val="046A38">
                    <a:lumMod val="75000"/>
                  </a:srgbClr>
                </a:solidFill>
                <a:ea typeface="Times" panose="02020603050405020304" pitchFamily="18" charset="0"/>
                <a:cs typeface="Arial" panose="020B0604020202020204" pitchFamily="34" charset="0"/>
              </a:rPr>
              <a:t>Total savings (BDT Mn</a:t>
            </a:r>
            <a:r>
              <a:rPr lang="en-US" sz="1200" b="1" i="1" dirty="0" smtClean="0">
                <a:solidFill>
                  <a:srgbClr val="046A38">
                    <a:lumMod val="75000"/>
                  </a:srgbClr>
                </a:solidFill>
                <a:ea typeface="Times" panose="02020603050405020304" pitchFamily="18" charset="0"/>
                <a:cs typeface="Arial" panose="020B0604020202020204" pitchFamily="34" charset="0"/>
              </a:rPr>
              <a:t>.) due </a:t>
            </a:r>
            <a:r>
              <a:rPr lang="en-US" sz="1200" b="1" i="1" dirty="0">
                <a:solidFill>
                  <a:srgbClr val="046A38">
                    <a:lumMod val="75000"/>
                  </a:srgbClr>
                </a:solidFill>
                <a:ea typeface="Times" panose="02020603050405020304" pitchFamily="18" charset="0"/>
                <a:cs typeface="Arial" panose="020B0604020202020204" pitchFamily="34" charset="0"/>
              </a:rPr>
              <a:t>to proposed </a:t>
            </a:r>
            <a:r>
              <a:rPr lang="en-US" sz="1200" b="1" i="1" dirty="0" smtClean="0">
                <a:solidFill>
                  <a:srgbClr val="046A38">
                    <a:lumMod val="75000"/>
                  </a:srgbClr>
                </a:solidFill>
                <a:ea typeface="Times" panose="02020603050405020304" pitchFamily="18" charset="0"/>
                <a:cs typeface="Arial" panose="020B0604020202020204" pitchFamily="34" charset="0"/>
              </a:rPr>
              <a:t>performance </a:t>
            </a:r>
            <a:r>
              <a:rPr lang="en-US" sz="1200" b="1" i="1" dirty="0">
                <a:solidFill>
                  <a:srgbClr val="046A38">
                    <a:lumMod val="75000"/>
                  </a:srgbClr>
                </a:solidFill>
                <a:ea typeface="Times" panose="02020603050405020304" pitchFamily="18" charset="0"/>
                <a:cs typeface="Arial" panose="020B0604020202020204" pitchFamily="34" charset="0"/>
              </a:rPr>
              <a:t>improvement measures</a:t>
            </a:r>
            <a:endParaRPr lang="en-IN" sz="1100" b="1" i="1" dirty="0">
              <a:solidFill>
                <a:srgbClr val="046A38">
                  <a:lumMod val="75000"/>
                </a:srgbClr>
              </a:solidFill>
              <a:ea typeface="Times" panose="02020603050405020304" pitchFamily="18" charset="0"/>
              <a:cs typeface="Arial" panose="020B0604020202020204" pitchFamily="34" charset="0"/>
            </a:endParaRPr>
          </a:p>
        </p:txBody>
      </p:sp>
      <p:graphicFrame>
        <p:nvGraphicFramePr>
          <p:cNvPr id="29" name="Chart 28"/>
          <p:cNvGraphicFramePr/>
          <p:nvPr>
            <p:extLst>
              <p:ext uri="{D42A27DB-BD31-4B8C-83A1-F6EECF244321}">
                <p14:modId xmlns:p14="http://schemas.microsoft.com/office/powerpoint/2010/main" val="3132449938"/>
              </p:ext>
            </p:extLst>
          </p:nvPr>
        </p:nvGraphicFramePr>
        <p:xfrm>
          <a:off x="439792" y="1398508"/>
          <a:ext cx="9785952" cy="4666768"/>
        </p:xfrm>
        <a:graphic>
          <a:graphicData uri="http://schemas.openxmlformats.org/drawingml/2006/chart">
            <c:chart xmlns:c="http://schemas.openxmlformats.org/drawingml/2006/chart" xmlns:r="http://schemas.openxmlformats.org/officeDocument/2006/relationships" r:id="rId3"/>
          </a:graphicData>
        </a:graphic>
      </p:graphicFrame>
      <p:sp>
        <p:nvSpPr>
          <p:cNvPr id="9" name="Pentagon 8">
            <a:hlinkClick r:id="rId4"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606133841"/>
      </p:ext>
    </p:extLst>
  </p:cSld>
  <p:clrMapOvr>
    <a:masterClrMapping/>
  </p:clrMapOvr>
  <p:transition>
    <p:fade/>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Benefits of proposed high-level value enablers</a:t>
            </a:r>
            <a:endParaRPr lang="en-IN" b="1" dirty="0"/>
          </a:p>
        </p:txBody>
      </p:sp>
      <p:sp>
        <p:nvSpPr>
          <p:cNvPr id="28" name="Text Box 272"/>
          <p:cNvSpPr txBox="1"/>
          <p:nvPr/>
        </p:nvSpPr>
        <p:spPr>
          <a:xfrm>
            <a:off x="1149100" y="1499115"/>
            <a:ext cx="8367332" cy="236157"/>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US" sz="1200" b="1" i="1" dirty="0">
                <a:solidFill>
                  <a:srgbClr val="046A38">
                    <a:lumMod val="75000"/>
                  </a:srgbClr>
                </a:solidFill>
                <a:ea typeface="Times" panose="02020603050405020304" pitchFamily="18" charset="0"/>
                <a:cs typeface="Arial" panose="020B0604020202020204" pitchFamily="34" charset="0"/>
              </a:rPr>
              <a:t>Net profit (BDT Mn.) of Holding </a:t>
            </a:r>
            <a:r>
              <a:rPr lang="en-US" sz="1200" b="1" i="1" dirty="0" smtClean="0">
                <a:solidFill>
                  <a:srgbClr val="046A38">
                    <a:lumMod val="75000"/>
                  </a:srgbClr>
                </a:solidFill>
                <a:ea typeface="Times" panose="02020603050405020304" pitchFamily="18" charset="0"/>
                <a:cs typeface="Arial" panose="020B0604020202020204" pitchFamily="34" charset="0"/>
              </a:rPr>
              <a:t>Company without and with value enablers</a:t>
            </a:r>
            <a:endParaRPr lang="en-IN" sz="1100" b="1" i="1" dirty="0">
              <a:solidFill>
                <a:srgbClr val="046A38">
                  <a:lumMod val="75000"/>
                </a:srgbClr>
              </a:solidFill>
              <a:ea typeface="Times" panose="02020603050405020304" pitchFamily="18" charset="0"/>
              <a:cs typeface="Arial" panose="020B0604020202020204" pitchFamily="34" charset="0"/>
            </a:endParaRPr>
          </a:p>
        </p:txBody>
      </p:sp>
      <p:cxnSp>
        <p:nvCxnSpPr>
          <p:cNvPr id="7" name="Straight Connector 6"/>
          <p:cNvCxnSpPr/>
          <p:nvPr/>
        </p:nvCxnSpPr>
        <p:spPr>
          <a:xfrm>
            <a:off x="450549" y="969653"/>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158050" y="835982"/>
            <a:ext cx="6372538"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smtClean="0">
                <a:solidFill>
                  <a:srgbClr val="00B0F0"/>
                </a:solidFill>
              </a:rPr>
              <a:t>Improved profitability </a:t>
            </a:r>
            <a:r>
              <a:rPr lang="en-US" sz="1400" b="1" dirty="0">
                <a:solidFill>
                  <a:prstClr val="black"/>
                </a:solidFill>
              </a:rPr>
              <a:t>of the proposed Holding Company</a:t>
            </a:r>
            <a:endParaRPr lang="en-IN" sz="1400" b="1" dirty="0">
              <a:solidFill>
                <a:srgbClr val="00B0F0"/>
              </a:solidFill>
            </a:endParaRPr>
          </a:p>
        </p:txBody>
      </p:sp>
      <p:graphicFrame>
        <p:nvGraphicFramePr>
          <p:cNvPr id="11" name="Chart 10"/>
          <p:cNvGraphicFramePr/>
          <p:nvPr>
            <p:extLst/>
          </p:nvPr>
        </p:nvGraphicFramePr>
        <p:xfrm>
          <a:off x="450549" y="1860331"/>
          <a:ext cx="9775195" cy="3515710"/>
        </p:xfrm>
        <a:graphic>
          <a:graphicData uri="http://schemas.openxmlformats.org/drawingml/2006/chart">
            <c:chart xmlns:c="http://schemas.openxmlformats.org/drawingml/2006/chart" xmlns:r="http://schemas.openxmlformats.org/officeDocument/2006/relationships" r:id="rId2"/>
          </a:graphicData>
        </a:graphic>
      </p:graphicFrame>
      <p:sp>
        <p:nvSpPr>
          <p:cNvPr id="9" name="Pentagon 8">
            <a:hlinkClick r:id="rId3"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544230791"/>
      </p:ext>
    </p:extLst>
  </p:cSld>
  <p:clrMapOvr>
    <a:masterClrMapping/>
  </p:clrMapOvr>
  <p:transition>
    <p:fade/>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smtClean="0">
                <a:solidFill>
                  <a:prstClr val="black"/>
                </a:solidFill>
              </a:rPr>
              <a:t>7. Key Strengthening Areas for Holding Company</a:t>
            </a:r>
            <a:endParaRPr lang="en-US" sz="5400" dirty="0">
              <a:solidFill>
                <a:prstClr val="black"/>
              </a:solidFill>
            </a:endParaRPr>
          </a:p>
        </p:txBody>
      </p:sp>
    </p:spTree>
    <p:extLst>
      <p:ext uri="{BB962C8B-B14F-4D97-AF65-F5344CB8AC3E}">
        <p14:creationId xmlns:p14="http://schemas.microsoft.com/office/powerpoint/2010/main" val="3262399139"/>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933400" cy="368439"/>
          </a:xfrm>
        </p:spPr>
        <p:txBody>
          <a:bodyPr/>
          <a:lstStyle/>
          <a:p>
            <a:r>
              <a:rPr lang="en-US" sz="2000" b="1" dirty="0" smtClean="0"/>
              <a:t>Strengthening Functional Areas will allow Holding Company to improve business performance in line with FRRP commitments</a:t>
            </a:r>
            <a:endParaRPr lang="en-IN" sz="2000" b="1" dirty="0"/>
          </a:p>
        </p:txBody>
      </p:sp>
      <p:sp>
        <p:nvSpPr>
          <p:cNvPr id="7" name="TextBox 6"/>
          <p:cNvSpPr txBox="1"/>
          <p:nvPr/>
        </p:nvSpPr>
        <p:spPr>
          <a:xfrm>
            <a:off x="439791" y="1592447"/>
            <a:ext cx="1898675" cy="1105783"/>
          </a:xfrm>
          <a:prstGeom prst="rect">
            <a:avLst/>
          </a:prstGeom>
          <a:solidFill>
            <a:srgbClr val="099165"/>
          </a:solidFill>
        </p:spPr>
        <p:txBody>
          <a:bodyPr wrap="square" rtlCol="0" anchor="ctr">
            <a:noAutofit/>
          </a:bodyPr>
          <a:lstStyle/>
          <a:p>
            <a:pPr algn="ctr" defTabSz="914400">
              <a:defRPr/>
            </a:pPr>
            <a:r>
              <a:rPr lang="en-US" sz="1200" b="1" kern="0" dirty="0" smtClean="0">
                <a:solidFill>
                  <a:schemeClr val="bg1"/>
                </a:solidFill>
                <a:latin typeface="+mj-lt"/>
              </a:rPr>
              <a:t>Generation</a:t>
            </a:r>
            <a:endParaRPr lang="en-IN" sz="1200" b="1" kern="0" dirty="0" smtClean="0">
              <a:solidFill>
                <a:schemeClr val="bg1"/>
              </a:solidFill>
              <a:latin typeface="+mj-lt"/>
            </a:endParaRPr>
          </a:p>
        </p:txBody>
      </p:sp>
      <p:sp>
        <p:nvSpPr>
          <p:cNvPr id="8" name="TextBox 7"/>
          <p:cNvSpPr txBox="1"/>
          <p:nvPr/>
        </p:nvSpPr>
        <p:spPr>
          <a:xfrm>
            <a:off x="439791" y="2864617"/>
            <a:ext cx="1898675" cy="879929"/>
          </a:xfrm>
          <a:prstGeom prst="rect">
            <a:avLst/>
          </a:prstGeom>
          <a:solidFill>
            <a:srgbClr val="0FB59D"/>
          </a:solidFill>
        </p:spPr>
        <p:txBody>
          <a:bodyPr wrap="square" rtlCol="0" anchor="ctr">
            <a:noAutofit/>
          </a:bodyPr>
          <a:lstStyle/>
          <a:p>
            <a:pPr algn="ctr" defTabSz="914400">
              <a:defRPr/>
            </a:pPr>
            <a:r>
              <a:rPr lang="en-US" sz="1200" b="1" kern="0" dirty="0" smtClean="0">
                <a:solidFill>
                  <a:schemeClr val="bg1"/>
                </a:solidFill>
                <a:latin typeface="+mj-lt"/>
              </a:rPr>
              <a:t>Distribution</a:t>
            </a:r>
            <a:endParaRPr lang="en-IN" sz="1200" b="1" kern="0" dirty="0" smtClean="0">
              <a:solidFill>
                <a:schemeClr val="bg1"/>
              </a:solidFill>
              <a:latin typeface="+mj-lt"/>
            </a:endParaRPr>
          </a:p>
        </p:txBody>
      </p:sp>
      <p:sp>
        <p:nvSpPr>
          <p:cNvPr id="9" name="TextBox 8"/>
          <p:cNvSpPr txBox="1"/>
          <p:nvPr/>
        </p:nvSpPr>
        <p:spPr>
          <a:xfrm>
            <a:off x="439791" y="4864539"/>
            <a:ext cx="1898675" cy="1035469"/>
          </a:xfrm>
          <a:prstGeom prst="rect">
            <a:avLst/>
          </a:prstGeom>
          <a:solidFill>
            <a:srgbClr val="D1E7E1"/>
          </a:solidFill>
        </p:spPr>
        <p:txBody>
          <a:bodyPr wrap="square" rtlCol="0" anchor="ctr">
            <a:noAutofit/>
          </a:bodyPr>
          <a:lstStyle/>
          <a:p>
            <a:pPr algn="ctr" defTabSz="914400">
              <a:defRPr/>
            </a:pPr>
            <a:r>
              <a:rPr lang="en-US" sz="1200" b="1" kern="0" dirty="0" smtClean="0">
                <a:solidFill>
                  <a:prstClr val="black"/>
                </a:solidFill>
                <a:latin typeface="+mj-lt"/>
              </a:rPr>
              <a:t>Finance</a:t>
            </a:r>
            <a:endParaRPr lang="en-IN" sz="1200" b="1" kern="0" dirty="0" smtClean="0">
              <a:solidFill>
                <a:prstClr val="black"/>
              </a:solidFill>
              <a:latin typeface="+mj-lt"/>
            </a:endParaRPr>
          </a:p>
        </p:txBody>
      </p:sp>
      <p:sp>
        <p:nvSpPr>
          <p:cNvPr id="10" name="TextBox 9"/>
          <p:cNvSpPr txBox="1"/>
          <p:nvPr/>
        </p:nvSpPr>
        <p:spPr>
          <a:xfrm>
            <a:off x="2517133" y="1592447"/>
            <a:ext cx="6626871" cy="1105783"/>
          </a:xfrm>
          <a:prstGeom prst="rect">
            <a:avLst/>
          </a:prstGeom>
          <a:noFill/>
          <a:ln>
            <a:solidFill>
              <a:srgbClr val="5B9BD5">
                <a:lumMod val="75000"/>
              </a:srgbClr>
            </a:solidFill>
          </a:ln>
        </p:spPr>
        <p:txBody>
          <a:bodyPr wrap="square" rtlCol="0">
            <a:noAutofit/>
          </a:bodyPr>
          <a:lstStyle/>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Establishment of O&amp;M Service Company</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Plant Operations &amp; Maintenance strengthening</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MIS &amp; ICT enablement</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Performance Diagnostics &amp; Asset Management</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Capacity Building &amp; Knowledge Management</a:t>
            </a:r>
            <a:endParaRPr lang="en-IN" sz="1200" kern="0" dirty="0" smtClean="0">
              <a:solidFill>
                <a:prstClr val="black"/>
              </a:solidFill>
              <a:latin typeface="+mj-lt"/>
            </a:endParaRPr>
          </a:p>
        </p:txBody>
      </p:sp>
      <p:sp>
        <p:nvSpPr>
          <p:cNvPr id="11" name="TextBox 10"/>
          <p:cNvSpPr txBox="1"/>
          <p:nvPr/>
        </p:nvSpPr>
        <p:spPr>
          <a:xfrm>
            <a:off x="2517133" y="2857183"/>
            <a:ext cx="6626871" cy="886041"/>
          </a:xfrm>
          <a:prstGeom prst="rect">
            <a:avLst/>
          </a:prstGeom>
          <a:noFill/>
          <a:ln>
            <a:solidFill>
              <a:srgbClr val="5B9BD5">
                <a:lumMod val="75000"/>
              </a:srgbClr>
            </a:solidFill>
          </a:ln>
        </p:spPr>
        <p:txBody>
          <a:bodyPr wrap="square" rtlCol="0">
            <a:noAutofit/>
          </a:bodyPr>
          <a:lstStyle/>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SCADA-enabled Network Management System</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Energy Management (Multi-level Energy Audit and Demand Side Management)</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Customer Relationship Management</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Shift towards Smart Grids</a:t>
            </a:r>
          </a:p>
        </p:txBody>
      </p:sp>
      <p:sp>
        <p:nvSpPr>
          <p:cNvPr id="12" name="TextBox 11"/>
          <p:cNvSpPr txBox="1"/>
          <p:nvPr/>
        </p:nvSpPr>
        <p:spPr>
          <a:xfrm>
            <a:off x="2517132" y="4860631"/>
            <a:ext cx="6626871" cy="1046811"/>
          </a:xfrm>
          <a:prstGeom prst="rect">
            <a:avLst/>
          </a:prstGeom>
          <a:noFill/>
          <a:ln>
            <a:solidFill>
              <a:srgbClr val="5B9BD5">
                <a:lumMod val="75000"/>
              </a:srgbClr>
            </a:solidFill>
          </a:ln>
        </p:spPr>
        <p:txBody>
          <a:bodyPr wrap="square" rtlCol="0">
            <a:noAutofit/>
          </a:bodyPr>
          <a:lstStyle/>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Compliance to Accounting Standards</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Update Chart of Accounts</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Update Fixed Asset &amp; Inventory Accounting Process</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Strengthen Treasury Management activities</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Automation &amp; Implementation of ERP </a:t>
            </a:r>
          </a:p>
        </p:txBody>
      </p:sp>
      <p:sp>
        <p:nvSpPr>
          <p:cNvPr id="13" name="TextBox 12"/>
          <p:cNvSpPr txBox="1"/>
          <p:nvPr/>
        </p:nvSpPr>
        <p:spPr>
          <a:xfrm>
            <a:off x="439791" y="1082995"/>
            <a:ext cx="9809049" cy="418015"/>
          </a:xfrm>
          <a:prstGeom prst="rect">
            <a:avLst/>
          </a:prstGeom>
          <a:solidFill>
            <a:srgbClr val="002060"/>
          </a:solidFill>
        </p:spPr>
        <p:txBody>
          <a:bodyPr wrap="square" rtlCol="0" anchor="ctr">
            <a:noAutofit/>
          </a:bodyPr>
          <a:lstStyle/>
          <a:p>
            <a:pPr algn="ctr" defTabSz="914400"/>
            <a:r>
              <a:rPr lang="en-US" sz="2000" b="1" dirty="0" smtClean="0">
                <a:solidFill>
                  <a:prstClr val="white"/>
                </a:solidFill>
                <a:latin typeface="Calibri" panose="020F0502020204030204"/>
              </a:rPr>
              <a:t>Targeted performance improvement measures</a:t>
            </a:r>
            <a:endParaRPr lang="en-IN" sz="2000" b="1" dirty="0">
              <a:solidFill>
                <a:prstClr val="white"/>
              </a:solidFill>
              <a:latin typeface="Calibri" panose="020F0502020204030204"/>
            </a:endParaRPr>
          </a:p>
        </p:txBody>
      </p:sp>
      <p:sp>
        <p:nvSpPr>
          <p:cNvPr id="14" name="TextBox 13"/>
          <p:cNvSpPr txBox="1"/>
          <p:nvPr/>
        </p:nvSpPr>
        <p:spPr>
          <a:xfrm>
            <a:off x="439791" y="6066395"/>
            <a:ext cx="1898675" cy="1159947"/>
          </a:xfrm>
          <a:prstGeom prst="rect">
            <a:avLst/>
          </a:prstGeom>
          <a:solidFill>
            <a:srgbClr val="D0DFD8"/>
          </a:solidFill>
        </p:spPr>
        <p:txBody>
          <a:bodyPr wrap="square" rtlCol="0" anchor="ctr">
            <a:noAutofit/>
          </a:bodyPr>
          <a:lstStyle/>
          <a:p>
            <a:pPr algn="ctr" defTabSz="914400">
              <a:defRPr/>
            </a:pPr>
            <a:r>
              <a:rPr lang="en-US" sz="1200" b="1" kern="0" dirty="0" smtClean="0">
                <a:solidFill>
                  <a:prstClr val="black"/>
                </a:solidFill>
                <a:latin typeface="+mj-lt"/>
              </a:rPr>
              <a:t>Administration &amp; Human Resource</a:t>
            </a:r>
            <a:endParaRPr lang="en-IN" sz="1200" b="1" kern="0" dirty="0" smtClean="0">
              <a:solidFill>
                <a:prstClr val="black"/>
              </a:solidFill>
              <a:latin typeface="+mj-lt"/>
            </a:endParaRPr>
          </a:p>
        </p:txBody>
      </p:sp>
      <p:sp>
        <p:nvSpPr>
          <p:cNvPr id="15" name="TextBox 14"/>
          <p:cNvSpPr txBox="1"/>
          <p:nvPr/>
        </p:nvSpPr>
        <p:spPr>
          <a:xfrm>
            <a:off x="2517132" y="6066395"/>
            <a:ext cx="6626871" cy="1159947"/>
          </a:xfrm>
          <a:prstGeom prst="rect">
            <a:avLst/>
          </a:prstGeom>
          <a:noFill/>
          <a:ln>
            <a:solidFill>
              <a:srgbClr val="5B9BD5">
                <a:lumMod val="75000"/>
              </a:srgbClr>
            </a:solidFill>
          </a:ln>
        </p:spPr>
        <p:txBody>
          <a:bodyPr wrap="square" rtlCol="0">
            <a:noAutofit/>
          </a:bodyPr>
          <a:lstStyle/>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Employee Life Cycle Management strengthening</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Performance management system</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Training &amp; Development planning &amp; execution</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Introduction to Group HR management</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ICT based HRIS implementation</a:t>
            </a:r>
          </a:p>
          <a:p>
            <a:pPr marL="285750" indent="-285750" defTabSz="914400">
              <a:lnSpc>
                <a:spcPct val="108000"/>
              </a:lnSpc>
              <a:buFont typeface="Arial" panose="020B0604020202020204" pitchFamily="34" charset="0"/>
              <a:buChar char="•"/>
              <a:defRPr/>
            </a:pPr>
            <a:endParaRPr lang="en-US" sz="1200" kern="0" dirty="0" smtClean="0">
              <a:solidFill>
                <a:prstClr val="black"/>
              </a:solidFill>
              <a:latin typeface="+mj-lt"/>
            </a:endParaRPr>
          </a:p>
        </p:txBody>
      </p:sp>
      <p:sp>
        <p:nvSpPr>
          <p:cNvPr id="16" name="TextBox 15"/>
          <p:cNvSpPr txBox="1"/>
          <p:nvPr/>
        </p:nvSpPr>
        <p:spPr>
          <a:xfrm>
            <a:off x="439791" y="3910933"/>
            <a:ext cx="1898675" cy="787219"/>
          </a:xfrm>
          <a:prstGeom prst="rect">
            <a:avLst/>
          </a:prstGeom>
          <a:solidFill>
            <a:srgbClr val="11CDB2"/>
          </a:solidFill>
        </p:spPr>
        <p:txBody>
          <a:bodyPr wrap="square" rtlCol="0" anchor="ctr">
            <a:noAutofit/>
          </a:bodyPr>
          <a:lstStyle/>
          <a:p>
            <a:pPr algn="ctr" defTabSz="914400">
              <a:defRPr/>
            </a:pPr>
            <a:r>
              <a:rPr lang="en-US" sz="1200" b="1" kern="0" dirty="0" smtClean="0">
                <a:solidFill>
                  <a:schemeClr val="bg1"/>
                </a:solidFill>
                <a:latin typeface="+mj-lt"/>
              </a:rPr>
              <a:t>Commercial &amp; Regulatory</a:t>
            </a:r>
            <a:endParaRPr lang="en-IN" sz="1200" b="1" kern="0" dirty="0" smtClean="0">
              <a:solidFill>
                <a:schemeClr val="bg1"/>
              </a:solidFill>
              <a:latin typeface="+mj-lt"/>
            </a:endParaRPr>
          </a:p>
        </p:txBody>
      </p:sp>
      <p:sp>
        <p:nvSpPr>
          <p:cNvPr id="17" name="TextBox 16"/>
          <p:cNvSpPr txBox="1"/>
          <p:nvPr/>
        </p:nvSpPr>
        <p:spPr>
          <a:xfrm>
            <a:off x="2517132" y="3902177"/>
            <a:ext cx="6626871" cy="799501"/>
          </a:xfrm>
          <a:prstGeom prst="rect">
            <a:avLst/>
          </a:prstGeom>
          <a:noFill/>
          <a:ln>
            <a:solidFill>
              <a:srgbClr val="5B9BD5">
                <a:lumMod val="75000"/>
              </a:srgbClr>
            </a:solidFill>
          </a:ln>
        </p:spPr>
        <p:txBody>
          <a:bodyPr wrap="square" rtlCol="0">
            <a:noAutofit/>
          </a:bodyPr>
          <a:lstStyle/>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Commercial Management  (Loss-reduction / Cycle Time-reduction Initiatives) for bulk supply &amp; retail supply</a:t>
            </a:r>
          </a:p>
          <a:p>
            <a:pPr marL="285750" indent="-285750" defTabSz="914400">
              <a:lnSpc>
                <a:spcPct val="108000"/>
              </a:lnSpc>
              <a:buFont typeface="Arial" panose="020B0604020202020204" pitchFamily="34" charset="0"/>
              <a:buChar char="•"/>
              <a:defRPr/>
            </a:pPr>
            <a:r>
              <a:rPr lang="en-US" sz="1200" kern="0" dirty="0" smtClean="0">
                <a:solidFill>
                  <a:prstClr val="black"/>
                </a:solidFill>
                <a:latin typeface="+mj-lt"/>
              </a:rPr>
              <a:t>Regulatory strengthening - RIMS</a:t>
            </a:r>
          </a:p>
        </p:txBody>
      </p:sp>
      <p:grpSp>
        <p:nvGrpSpPr>
          <p:cNvPr id="24" name="Group 23"/>
          <p:cNvGrpSpPr/>
          <p:nvPr/>
        </p:nvGrpSpPr>
        <p:grpSpPr>
          <a:xfrm>
            <a:off x="9322668" y="1592447"/>
            <a:ext cx="926171" cy="5633896"/>
            <a:chOff x="9308891" y="1365588"/>
            <a:chExt cx="824460" cy="6257222"/>
          </a:xfrm>
        </p:grpSpPr>
        <p:sp>
          <p:nvSpPr>
            <p:cNvPr id="21" name="Rectangle 20"/>
            <p:cNvSpPr/>
            <p:nvPr/>
          </p:nvSpPr>
          <p:spPr bwMode="gray">
            <a:xfrm>
              <a:off x="9308892" y="1873770"/>
              <a:ext cx="824459" cy="5216578"/>
            </a:xfrm>
            <a:prstGeom prst="rect">
              <a:avLst/>
            </a:prstGeom>
            <a:solidFill>
              <a:srgbClr val="11CDB2"/>
            </a:solidFill>
            <a:ln w="19050" algn="ctr">
              <a:noFill/>
              <a:miter lim="800000"/>
              <a:headEnd/>
              <a:tailEnd/>
            </a:ln>
          </p:spPr>
          <p:txBody>
            <a:bodyPr wrap="square" lIns="36000" tIns="88900" rIns="36000" bIns="88900" rtlCol="0" anchor="ctr"/>
            <a:lstStyle/>
            <a:p>
              <a:pPr algn="ctr">
                <a:lnSpc>
                  <a:spcPct val="106000"/>
                </a:lnSpc>
                <a:buFont typeface="Wingdings 2" pitchFamily="18" charset="2"/>
                <a:buNone/>
              </a:pPr>
              <a:r>
                <a:rPr lang="en-US" sz="1400" b="1" dirty="0" smtClean="0">
                  <a:solidFill>
                    <a:schemeClr val="bg1"/>
                  </a:solidFill>
                </a:rPr>
                <a:t>ICT </a:t>
              </a:r>
            </a:p>
            <a:p>
              <a:pPr algn="ctr">
                <a:lnSpc>
                  <a:spcPct val="106000"/>
                </a:lnSpc>
                <a:buFont typeface="Wingdings 2" pitchFamily="18" charset="2"/>
                <a:buNone/>
              </a:pPr>
              <a:r>
                <a:rPr lang="en-US" sz="1400" b="1" dirty="0" smtClean="0">
                  <a:solidFill>
                    <a:schemeClr val="bg1"/>
                  </a:solidFill>
                </a:rPr>
                <a:t>/ </a:t>
              </a:r>
            </a:p>
            <a:p>
              <a:pPr algn="ctr">
                <a:lnSpc>
                  <a:spcPct val="106000"/>
                </a:lnSpc>
                <a:buFont typeface="Wingdings 2" pitchFamily="18" charset="2"/>
                <a:buNone/>
              </a:pPr>
              <a:r>
                <a:rPr lang="en-US" sz="1400" b="1" dirty="0" smtClean="0">
                  <a:solidFill>
                    <a:schemeClr val="bg1"/>
                  </a:solidFill>
                </a:rPr>
                <a:t>MIS </a:t>
              </a:r>
            </a:p>
            <a:p>
              <a:pPr algn="ctr">
                <a:lnSpc>
                  <a:spcPct val="106000"/>
                </a:lnSpc>
                <a:buFont typeface="Wingdings 2" pitchFamily="18" charset="2"/>
                <a:buNone/>
              </a:pPr>
              <a:endParaRPr lang="en-US" sz="1400" b="1" dirty="0">
                <a:solidFill>
                  <a:schemeClr val="bg1"/>
                </a:solidFill>
              </a:endParaRPr>
            </a:p>
            <a:p>
              <a:pPr algn="ctr">
                <a:lnSpc>
                  <a:spcPct val="106000"/>
                </a:lnSpc>
                <a:buFont typeface="Wingdings 2" pitchFamily="18" charset="2"/>
                <a:buNone/>
              </a:pPr>
              <a:r>
                <a:rPr lang="en-US" sz="1400" b="1" dirty="0" smtClean="0">
                  <a:solidFill>
                    <a:schemeClr val="bg1"/>
                  </a:solidFill>
                </a:rPr>
                <a:t>Support</a:t>
              </a:r>
              <a:endParaRPr lang="en-IN" sz="1400" b="1" dirty="0" smtClean="0">
                <a:solidFill>
                  <a:schemeClr val="bg1"/>
                </a:solidFill>
              </a:endParaRPr>
            </a:p>
          </p:txBody>
        </p:sp>
        <p:sp>
          <p:nvSpPr>
            <p:cNvPr id="22" name="Isosceles Triangle 21"/>
            <p:cNvSpPr/>
            <p:nvPr/>
          </p:nvSpPr>
          <p:spPr bwMode="gray">
            <a:xfrm>
              <a:off x="9308891" y="1365588"/>
              <a:ext cx="824459" cy="539645"/>
            </a:xfrm>
            <a:prstGeom prst="triangle">
              <a:avLst/>
            </a:prstGeom>
            <a:solidFill>
              <a:srgbClr val="11CDB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flipV="1">
              <a:off x="9308891" y="7083165"/>
              <a:ext cx="824459" cy="539645"/>
            </a:xfrm>
            <a:prstGeom prst="triangle">
              <a:avLst/>
            </a:prstGeom>
            <a:solidFill>
              <a:srgbClr val="11CDB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grpSp>
      <p:sp>
        <p:nvSpPr>
          <p:cNvPr id="3" name="TextBox 2"/>
          <p:cNvSpPr txBox="1"/>
          <p:nvPr/>
        </p:nvSpPr>
        <p:spPr>
          <a:xfrm>
            <a:off x="8767078" y="7292563"/>
            <a:ext cx="753850" cy="215444"/>
          </a:xfrm>
          <a:prstGeom prst="rect">
            <a:avLst/>
          </a:prstGeom>
          <a:noFill/>
        </p:spPr>
        <p:txBody>
          <a:bodyPr wrap="square" lIns="0" tIns="0" rIns="0" bIns="0" rtlCol="0">
            <a:spAutoFit/>
          </a:bodyPr>
          <a:lstStyle/>
          <a:p>
            <a:pPr algn="ctr">
              <a:spcBef>
                <a:spcPts val="600"/>
              </a:spcBef>
              <a:buSzPct val="100000"/>
            </a:pPr>
            <a:r>
              <a:rPr lang="en-US" sz="1400" dirty="0" smtClean="0">
                <a:solidFill>
                  <a:srgbClr val="313131"/>
                </a:solidFill>
              </a:rPr>
              <a:t>Details</a:t>
            </a:r>
            <a:endParaRPr lang="en-IN" sz="1400" dirty="0" smtClean="0">
              <a:solidFill>
                <a:srgbClr val="313131"/>
              </a:solidFill>
            </a:endParaRPr>
          </a:p>
        </p:txBody>
      </p:sp>
      <p:sp>
        <p:nvSpPr>
          <p:cNvPr id="20" name="Pentagon 19">
            <a:hlinkClick r:id="rId2" action="ppaction://hlinksldjump"/>
          </p:cNvPr>
          <p:cNvSpPr/>
          <p:nvPr/>
        </p:nvSpPr>
        <p:spPr bwMode="gray">
          <a:xfrm>
            <a:off x="9601656" y="7291655"/>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5" name="Pentagon 24">
            <a:hlinkClick r:id="rId3" action="ppaction://hlinksldjump"/>
          </p:cNvPr>
          <p:cNvSpPr/>
          <p:nvPr/>
        </p:nvSpPr>
        <p:spPr bwMode="gray">
          <a:xfrm flipH="1">
            <a:off x="10248838" y="6967998"/>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811455844"/>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260976" y="4141801"/>
            <a:ext cx="574338" cy="574338"/>
          </a:xfrm>
          <a:prstGeom prst="ellipse">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1" name="Chord 10"/>
          <p:cNvSpPr/>
          <p:nvPr/>
        </p:nvSpPr>
        <p:spPr>
          <a:xfrm>
            <a:off x="318410" y="4199234"/>
            <a:ext cx="459470" cy="459470"/>
          </a:xfrm>
          <a:prstGeom prst="chord">
            <a:avLst>
              <a:gd name="adj1" fmla="val 1800000"/>
              <a:gd name="adj2" fmla="val 900000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2" name="Freeform 11"/>
          <p:cNvSpPr/>
          <p:nvPr/>
        </p:nvSpPr>
        <p:spPr>
          <a:xfrm>
            <a:off x="954968" y="4803234"/>
            <a:ext cx="1699084" cy="2272125"/>
          </a:xfrm>
          <a:custGeom>
            <a:avLst/>
            <a:gdLst>
              <a:gd name="connsiteX0" fmla="*/ 0 w 1699084"/>
              <a:gd name="connsiteY0" fmla="*/ 0 h 2417007"/>
              <a:gd name="connsiteX1" fmla="*/ 1699084 w 1699084"/>
              <a:gd name="connsiteY1" fmla="*/ 0 h 2417007"/>
              <a:gd name="connsiteX2" fmla="*/ 1699084 w 1699084"/>
              <a:gd name="connsiteY2" fmla="*/ 2417007 h 2417007"/>
              <a:gd name="connsiteX3" fmla="*/ 0 w 1699084"/>
              <a:gd name="connsiteY3" fmla="*/ 2417007 h 2417007"/>
              <a:gd name="connsiteX4" fmla="*/ 0 w 1699084"/>
              <a:gd name="connsiteY4" fmla="*/ 0 h 241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2417007">
                <a:moveTo>
                  <a:pt x="0" y="0"/>
                </a:moveTo>
                <a:lnTo>
                  <a:pt x="1699084" y="0"/>
                </a:lnTo>
                <a:lnTo>
                  <a:pt x="1699084" y="2417007"/>
                </a:lnTo>
                <a:lnTo>
                  <a:pt x="0" y="2417007"/>
                </a:lnTo>
                <a:lnTo>
                  <a:pt x="0" y="0"/>
                </a:lnTo>
                <a:close/>
              </a:path>
            </a:pathLst>
          </a:custGeom>
          <a:solidFill>
            <a:srgbClr val="D0D8D3"/>
          </a:solidFill>
          <a:ln>
            <a:solidFill>
              <a:schemeClr val="tx1"/>
            </a:solid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t" anchorCtr="0">
            <a:noAutofit/>
          </a:bodyPr>
          <a:lstStyle/>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Assessment of O&amp;M capabilities of holding company</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Assessment of existing O&amp;M systems and processes of holding company</a:t>
            </a:r>
            <a:endParaRPr lang="en-US" sz="1100" dirty="0">
              <a:solidFill>
                <a:prstClr val="black">
                  <a:hueOff val="0"/>
                  <a:satOff val="0"/>
                  <a:lumOff val="0"/>
                  <a:alphaOff val="0"/>
                </a:prstClr>
              </a:solidFill>
            </a:endParaRPr>
          </a:p>
        </p:txBody>
      </p:sp>
      <p:sp>
        <p:nvSpPr>
          <p:cNvPr id="13" name="Freeform 12"/>
          <p:cNvSpPr/>
          <p:nvPr/>
        </p:nvSpPr>
        <p:spPr>
          <a:xfrm>
            <a:off x="954968" y="4141801"/>
            <a:ext cx="1699084" cy="574338"/>
          </a:xfrm>
          <a:custGeom>
            <a:avLst/>
            <a:gdLst>
              <a:gd name="connsiteX0" fmla="*/ 0 w 1699084"/>
              <a:gd name="connsiteY0" fmla="*/ 0 h 574338"/>
              <a:gd name="connsiteX1" fmla="*/ 1699084 w 1699084"/>
              <a:gd name="connsiteY1" fmla="*/ 0 h 574338"/>
              <a:gd name="connsiteX2" fmla="*/ 1699084 w 1699084"/>
              <a:gd name="connsiteY2" fmla="*/ 574338 h 574338"/>
              <a:gd name="connsiteX3" fmla="*/ 0 w 1699084"/>
              <a:gd name="connsiteY3" fmla="*/ 574338 h 574338"/>
              <a:gd name="connsiteX4" fmla="*/ 0 w 1699084"/>
              <a:gd name="connsiteY4" fmla="*/ 0 h 57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574338">
                <a:moveTo>
                  <a:pt x="0" y="0"/>
                </a:moveTo>
                <a:lnTo>
                  <a:pt x="1699084" y="0"/>
                </a:lnTo>
                <a:lnTo>
                  <a:pt x="1699084" y="574338"/>
                </a:lnTo>
                <a:lnTo>
                  <a:pt x="0" y="5743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b" anchorCtr="0">
            <a:noAutofit/>
          </a:bodyPr>
          <a:lstStyle/>
          <a:p>
            <a:pPr defTabSz="355600">
              <a:lnSpc>
                <a:spcPct val="90000"/>
              </a:lnSpc>
              <a:spcBef>
                <a:spcPct val="0"/>
              </a:spcBef>
              <a:spcAft>
                <a:spcPct val="35000"/>
              </a:spcAft>
            </a:pPr>
            <a:r>
              <a:rPr lang="en-US" sz="1050" b="1" dirty="0" smtClean="0">
                <a:solidFill>
                  <a:prstClr val="black">
                    <a:hueOff val="0"/>
                    <a:satOff val="0"/>
                    <a:lumOff val="0"/>
                    <a:alphaOff val="0"/>
                  </a:prstClr>
                </a:solidFill>
              </a:rPr>
              <a:t>Internal assessment</a:t>
            </a:r>
            <a:endParaRPr lang="en-US" sz="1050" b="1" dirty="0">
              <a:solidFill>
                <a:prstClr val="black">
                  <a:hueOff val="0"/>
                  <a:satOff val="0"/>
                  <a:lumOff val="0"/>
                  <a:alphaOff val="0"/>
                </a:prstClr>
              </a:solidFill>
            </a:endParaRPr>
          </a:p>
        </p:txBody>
      </p:sp>
      <p:sp>
        <p:nvSpPr>
          <p:cNvPr id="14" name="Oval 13"/>
          <p:cNvSpPr/>
          <p:nvPr/>
        </p:nvSpPr>
        <p:spPr>
          <a:xfrm>
            <a:off x="2773707" y="4141801"/>
            <a:ext cx="574338" cy="574338"/>
          </a:xfrm>
          <a:prstGeom prst="ellipse">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5" name="Chord 14"/>
          <p:cNvSpPr/>
          <p:nvPr/>
        </p:nvSpPr>
        <p:spPr>
          <a:xfrm>
            <a:off x="2831140" y="4199234"/>
            <a:ext cx="459470" cy="459470"/>
          </a:xfrm>
          <a:prstGeom prst="chord">
            <a:avLst>
              <a:gd name="adj1" fmla="val 0"/>
              <a:gd name="adj2" fmla="val 10800000"/>
            </a:avLst>
          </a:prstGeom>
        </p:spPr>
        <p:style>
          <a:lnRef idx="2">
            <a:schemeClr val="accent2">
              <a:hueOff val="1027821"/>
              <a:satOff val="-7055"/>
              <a:lumOff val="14184"/>
              <a:alphaOff val="0"/>
            </a:schemeClr>
          </a:lnRef>
          <a:fillRef idx="1">
            <a:schemeClr val="accent2">
              <a:hueOff val="1027821"/>
              <a:satOff val="-7055"/>
              <a:lumOff val="14184"/>
              <a:alphaOff val="0"/>
            </a:schemeClr>
          </a:fillRef>
          <a:effectRef idx="0">
            <a:schemeClr val="accent2">
              <a:hueOff val="1027821"/>
              <a:satOff val="-7055"/>
              <a:lumOff val="14184"/>
              <a:alphaOff val="0"/>
            </a:schemeClr>
          </a:effectRef>
          <a:fontRef idx="minor">
            <a:schemeClr val="lt1"/>
          </a:fontRef>
        </p:style>
      </p:sp>
      <p:sp>
        <p:nvSpPr>
          <p:cNvPr id="16" name="Freeform 15"/>
          <p:cNvSpPr/>
          <p:nvPr/>
        </p:nvSpPr>
        <p:spPr>
          <a:xfrm>
            <a:off x="3467699" y="4803234"/>
            <a:ext cx="1699084" cy="2272125"/>
          </a:xfrm>
          <a:custGeom>
            <a:avLst/>
            <a:gdLst>
              <a:gd name="connsiteX0" fmla="*/ 0 w 1699084"/>
              <a:gd name="connsiteY0" fmla="*/ 0 h 2417007"/>
              <a:gd name="connsiteX1" fmla="*/ 1699084 w 1699084"/>
              <a:gd name="connsiteY1" fmla="*/ 0 h 2417007"/>
              <a:gd name="connsiteX2" fmla="*/ 1699084 w 1699084"/>
              <a:gd name="connsiteY2" fmla="*/ 2417007 h 2417007"/>
              <a:gd name="connsiteX3" fmla="*/ 0 w 1699084"/>
              <a:gd name="connsiteY3" fmla="*/ 2417007 h 2417007"/>
              <a:gd name="connsiteX4" fmla="*/ 0 w 1699084"/>
              <a:gd name="connsiteY4" fmla="*/ 0 h 241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2417007">
                <a:moveTo>
                  <a:pt x="0" y="0"/>
                </a:moveTo>
                <a:lnTo>
                  <a:pt x="1699084" y="0"/>
                </a:lnTo>
                <a:lnTo>
                  <a:pt x="1699084" y="2417007"/>
                </a:lnTo>
                <a:lnTo>
                  <a:pt x="0" y="2417007"/>
                </a:lnTo>
                <a:lnTo>
                  <a:pt x="0" y="0"/>
                </a:lnTo>
                <a:close/>
              </a:path>
            </a:pathLst>
          </a:custGeom>
          <a:solidFill>
            <a:srgbClr val="D7E8F6"/>
          </a:solidFill>
          <a:ln>
            <a:solidFill>
              <a:schemeClr val="tx1"/>
            </a:solid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t" anchorCtr="0">
            <a:noAutofit/>
          </a:bodyPr>
          <a:lstStyle/>
          <a:p>
            <a:pPr marL="144000" indent="-144000" defTabSz="355600">
              <a:spcBef>
                <a:spcPct val="0"/>
              </a:spcBef>
              <a:spcAft>
                <a:spcPts val="600"/>
              </a:spcAft>
              <a:buFont typeface="Arial" panose="020B0604020202020204" pitchFamily="34" charset="0"/>
              <a:buChar char="•"/>
            </a:pPr>
            <a:r>
              <a:rPr lang="en-US" sz="1100" smtClean="0">
                <a:solidFill>
                  <a:prstClr val="black">
                    <a:hueOff val="0"/>
                    <a:satOff val="0"/>
                    <a:lumOff val="0"/>
                    <a:alphaOff val="0"/>
                  </a:prstClr>
                </a:solidFill>
              </a:rPr>
              <a:t>Market assessment for existing O&amp;M challenges</a:t>
            </a:r>
            <a:endParaRPr lang="en-US" sz="110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smtClean="0">
                <a:solidFill>
                  <a:prstClr val="black">
                    <a:hueOff val="0"/>
                    <a:satOff val="0"/>
                    <a:lumOff val="0"/>
                    <a:alphaOff val="0"/>
                  </a:prstClr>
                </a:solidFill>
              </a:rPr>
              <a:t>Need assessment for an O&amp;M Service Company</a:t>
            </a:r>
            <a:endParaRPr lang="en-US" sz="110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smtClean="0">
                <a:solidFill>
                  <a:prstClr val="black">
                    <a:hueOff val="0"/>
                    <a:satOff val="0"/>
                    <a:lumOff val="0"/>
                    <a:alphaOff val="0"/>
                  </a:prstClr>
                </a:solidFill>
              </a:rPr>
              <a:t>Competitor assessment</a:t>
            </a:r>
            <a:endParaRPr lang="en-US" sz="110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smtClean="0">
                <a:solidFill>
                  <a:prstClr val="black">
                    <a:hueOff val="0"/>
                    <a:satOff val="0"/>
                    <a:lumOff val="0"/>
                    <a:alphaOff val="0"/>
                  </a:prstClr>
                </a:solidFill>
              </a:rPr>
              <a:t>International best practice study</a:t>
            </a:r>
            <a:endParaRPr lang="en-US" sz="1100">
              <a:solidFill>
                <a:prstClr val="black">
                  <a:hueOff val="0"/>
                  <a:satOff val="0"/>
                  <a:lumOff val="0"/>
                  <a:alphaOff val="0"/>
                </a:prstClr>
              </a:solidFill>
            </a:endParaRPr>
          </a:p>
        </p:txBody>
      </p:sp>
      <p:sp>
        <p:nvSpPr>
          <p:cNvPr id="17" name="Freeform 16"/>
          <p:cNvSpPr/>
          <p:nvPr/>
        </p:nvSpPr>
        <p:spPr>
          <a:xfrm>
            <a:off x="3467699" y="4141801"/>
            <a:ext cx="1699084" cy="574338"/>
          </a:xfrm>
          <a:custGeom>
            <a:avLst/>
            <a:gdLst>
              <a:gd name="connsiteX0" fmla="*/ 0 w 1699084"/>
              <a:gd name="connsiteY0" fmla="*/ 0 h 574338"/>
              <a:gd name="connsiteX1" fmla="*/ 1699084 w 1699084"/>
              <a:gd name="connsiteY1" fmla="*/ 0 h 574338"/>
              <a:gd name="connsiteX2" fmla="*/ 1699084 w 1699084"/>
              <a:gd name="connsiteY2" fmla="*/ 574338 h 574338"/>
              <a:gd name="connsiteX3" fmla="*/ 0 w 1699084"/>
              <a:gd name="connsiteY3" fmla="*/ 574338 h 574338"/>
              <a:gd name="connsiteX4" fmla="*/ 0 w 1699084"/>
              <a:gd name="connsiteY4" fmla="*/ 0 h 57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574338">
                <a:moveTo>
                  <a:pt x="0" y="0"/>
                </a:moveTo>
                <a:lnTo>
                  <a:pt x="1699084" y="0"/>
                </a:lnTo>
                <a:lnTo>
                  <a:pt x="1699084" y="574338"/>
                </a:lnTo>
                <a:lnTo>
                  <a:pt x="0" y="5743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b" anchorCtr="0">
            <a:noAutofit/>
          </a:bodyPr>
          <a:lstStyle/>
          <a:p>
            <a:pPr defTabSz="355600">
              <a:lnSpc>
                <a:spcPct val="90000"/>
              </a:lnSpc>
              <a:spcBef>
                <a:spcPct val="0"/>
              </a:spcBef>
              <a:spcAft>
                <a:spcPct val="35000"/>
              </a:spcAft>
            </a:pPr>
            <a:r>
              <a:rPr lang="en-US" sz="1050" b="1" smtClean="0">
                <a:solidFill>
                  <a:prstClr val="black">
                    <a:hueOff val="0"/>
                    <a:satOff val="0"/>
                    <a:lumOff val="0"/>
                    <a:alphaOff val="0"/>
                  </a:prstClr>
                </a:solidFill>
              </a:rPr>
              <a:t>External assessment</a:t>
            </a:r>
            <a:endParaRPr lang="en-US" sz="1050" b="1">
              <a:solidFill>
                <a:prstClr val="black">
                  <a:hueOff val="0"/>
                  <a:satOff val="0"/>
                  <a:lumOff val="0"/>
                  <a:alphaOff val="0"/>
                </a:prstClr>
              </a:solidFill>
            </a:endParaRPr>
          </a:p>
        </p:txBody>
      </p:sp>
      <p:sp>
        <p:nvSpPr>
          <p:cNvPr id="18" name="Oval 17"/>
          <p:cNvSpPr/>
          <p:nvPr/>
        </p:nvSpPr>
        <p:spPr>
          <a:xfrm>
            <a:off x="5286437" y="4141801"/>
            <a:ext cx="574338" cy="574338"/>
          </a:xfrm>
          <a:prstGeom prst="ellipse">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9" name="Chord 18"/>
          <p:cNvSpPr/>
          <p:nvPr/>
        </p:nvSpPr>
        <p:spPr>
          <a:xfrm>
            <a:off x="5343871" y="4199234"/>
            <a:ext cx="459470" cy="459470"/>
          </a:xfrm>
          <a:prstGeom prst="chord">
            <a:avLst>
              <a:gd name="adj1" fmla="val 19800000"/>
              <a:gd name="adj2" fmla="val 12600000"/>
            </a:avLst>
          </a:prstGeom>
        </p:spPr>
        <p:style>
          <a:lnRef idx="2">
            <a:schemeClr val="accent2">
              <a:hueOff val="2055642"/>
              <a:satOff val="-14111"/>
              <a:lumOff val="28368"/>
              <a:alphaOff val="0"/>
            </a:schemeClr>
          </a:lnRef>
          <a:fillRef idx="1">
            <a:schemeClr val="accent2">
              <a:hueOff val="2055642"/>
              <a:satOff val="-14111"/>
              <a:lumOff val="28368"/>
              <a:alphaOff val="0"/>
            </a:schemeClr>
          </a:fillRef>
          <a:effectRef idx="0">
            <a:schemeClr val="accent2">
              <a:hueOff val="2055642"/>
              <a:satOff val="-14111"/>
              <a:lumOff val="28368"/>
              <a:alphaOff val="0"/>
            </a:schemeClr>
          </a:effectRef>
          <a:fontRef idx="minor">
            <a:schemeClr val="lt1"/>
          </a:fontRef>
        </p:style>
      </p:sp>
      <p:sp>
        <p:nvSpPr>
          <p:cNvPr id="20" name="Freeform 19"/>
          <p:cNvSpPr/>
          <p:nvPr/>
        </p:nvSpPr>
        <p:spPr>
          <a:xfrm>
            <a:off x="5980430" y="4803234"/>
            <a:ext cx="1699084" cy="2272125"/>
          </a:xfrm>
          <a:custGeom>
            <a:avLst/>
            <a:gdLst>
              <a:gd name="connsiteX0" fmla="*/ 0 w 1699084"/>
              <a:gd name="connsiteY0" fmla="*/ 0 h 2417007"/>
              <a:gd name="connsiteX1" fmla="*/ 1699084 w 1699084"/>
              <a:gd name="connsiteY1" fmla="*/ 0 h 2417007"/>
              <a:gd name="connsiteX2" fmla="*/ 1699084 w 1699084"/>
              <a:gd name="connsiteY2" fmla="*/ 2417007 h 2417007"/>
              <a:gd name="connsiteX3" fmla="*/ 0 w 1699084"/>
              <a:gd name="connsiteY3" fmla="*/ 2417007 h 2417007"/>
              <a:gd name="connsiteX4" fmla="*/ 0 w 1699084"/>
              <a:gd name="connsiteY4" fmla="*/ 0 h 241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2417007">
                <a:moveTo>
                  <a:pt x="0" y="0"/>
                </a:moveTo>
                <a:lnTo>
                  <a:pt x="1699084" y="0"/>
                </a:lnTo>
                <a:lnTo>
                  <a:pt x="1699084" y="2417007"/>
                </a:lnTo>
                <a:lnTo>
                  <a:pt x="0" y="2417007"/>
                </a:lnTo>
                <a:lnTo>
                  <a:pt x="0" y="0"/>
                </a:lnTo>
                <a:close/>
              </a:path>
            </a:pathLst>
          </a:custGeom>
          <a:solidFill>
            <a:srgbClr val="D0D1D8"/>
          </a:solidFill>
          <a:ln>
            <a:solidFill>
              <a:schemeClr val="tx1"/>
            </a:solid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t" anchorCtr="0">
            <a:noAutofit/>
          </a:bodyPr>
          <a:lstStyle/>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Viability assessment</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Identification of O&amp;M service models, fees</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Identification of target customers</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Formulation of vision, mission, strategic priorities</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Organizational structure, roles and responsibilities</a:t>
            </a:r>
            <a:endParaRPr lang="en-US" sz="1100" dirty="0">
              <a:solidFill>
                <a:prstClr val="black">
                  <a:hueOff val="0"/>
                  <a:satOff val="0"/>
                  <a:lumOff val="0"/>
                  <a:alphaOff val="0"/>
                </a:prstClr>
              </a:solidFill>
            </a:endParaRPr>
          </a:p>
        </p:txBody>
      </p:sp>
      <p:sp>
        <p:nvSpPr>
          <p:cNvPr id="21" name="Freeform 20"/>
          <p:cNvSpPr/>
          <p:nvPr/>
        </p:nvSpPr>
        <p:spPr>
          <a:xfrm>
            <a:off x="5980430" y="4141801"/>
            <a:ext cx="1699084" cy="574338"/>
          </a:xfrm>
          <a:custGeom>
            <a:avLst/>
            <a:gdLst>
              <a:gd name="connsiteX0" fmla="*/ 0 w 1699084"/>
              <a:gd name="connsiteY0" fmla="*/ 0 h 574338"/>
              <a:gd name="connsiteX1" fmla="*/ 1699084 w 1699084"/>
              <a:gd name="connsiteY1" fmla="*/ 0 h 574338"/>
              <a:gd name="connsiteX2" fmla="*/ 1699084 w 1699084"/>
              <a:gd name="connsiteY2" fmla="*/ 574338 h 574338"/>
              <a:gd name="connsiteX3" fmla="*/ 0 w 1699084"/>
              <a:gd name="connsiteY3" fmla="*/ 574338 h 574338"/>
              <a:gd name="connsiteX4" fmla="*/ 0 w 1699084"/>
              <a:gd name="connsiteY4" fmla="*/ 0 h 57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574338">
                <a:moveTo>
                  <a:pt x="0" y="0"/>
                </a:moveTo>
                <a:lnTo>
                  <a:pt x="1699084" y="0"/>
                </a:lnTo>
                <a:lnTo>
                  <a:pt x="1699084" y="574338"/>
                </a:lnTo>
                <a:lnTo>
                  <a:pt x="0" y="5743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b" anchorCtr="0">
            <a:noAutofit/>
          </a:bodyPr>
          <a:lstStyle/>
          <a:p>
            <a:pPr defTabSz="355600">
              <a:lnSpc>
                <a:spcPct val="90000"/>
              </a:lnSpc>
              <a:spcBef>
                <a:spcPct val="0"/>
              </a:spcBef>
              <a:spcAft>
                <a:spcPct val="35000"/>
              </a:spcAft>
            </a:pPr>
            <a:r>
              <a:rPr lang="en-US" sz="1050" b="1" smtClean="0">
                <a:solidFill>
                  <a:prstClr val="black">
                    <a:hueOff val="0"/>
                    <a:satOff val="0"/>
                    <a:lumOff val="0"/>
                    <a:alphaOff val="0"/>
                  </a:prstClr>
                </a:solidFill>
              </a:rPr>
              <a:t>Strategy formulation</a:t>
            </a:r>
            <a:endParaRPr lang="en-US" sz="1050" b="1">
              <a:solidFill>
                <a:prstClr val="black">
                  <a:hueOff val="0"/>
                  <a:satOff val="0"/>
                  <a:lumOff val="0"/>
                  <a:alphaOff val="0"/>
                </a:prstClr>
              </a:solidFill>
            </a:endParaRPr>
          </a:p>
        </p:txBody>
      </p:sp>
      <p:sp>
        <p:nvSpPr>
          <p:cNvPr id="22" name="Oval 21"/>
          <p:cNvSpPr/>
          <p:nvPr/>
        </p:nvSpPr>
        <p:spPr>
          <a:xfrm>
            <a:off x="7799168" y="4141801"/>
            <a:ext cx="574338" cy="574338"/>
          </a:xfrm>
          <a:prstGeom prst="ellipse">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23" name="Chord 22"/>
          <p:cNvSpPr/>
          <p:nvPr/>
        </p:nvSpPr>
        <p:spPr>
          <a:xfrm>
            <a:off x="7856602" y="4199234"/>
            <a:ext cx="459470" cy="459470"/>
          </a:xfrm>
          <a:prstGeom prst="chord">
            <a:avLst>
              <a:gd name="adj1" fmla="val 16200000"/>
              <a:gd name="adj2" fmla="val 16200000"/>
            </a:avLst>
          </a:prstGeom>
        </p:spPr>
        <p:style>
          <a:lnRef idx="2">
            <a:schemeClr val="accent2">
              <a:hueOff val="3083462"/>
              <a:satOff val="-21166"/>
              <a:lumOff val="42552"/>
              <a:alphaOff val="0"/>
            </a:schemeClr>
          </a:lnRef>
          <a:fillRef idx="1">
            <a:schemeClr val="accent2">
              <a:hueOff val="3083462"/>
              <a:satOff val="-21166"/>
              <a:lumOff val="42552"/>
              <a:alphaOff val="0"/>
            </a:schemeClr>
          </a:fillRef>
          <a:effectRef idx="0">
            <a:schemeClr val="accent2">
              <a:hueOff val="3083462"/>
              <a:satOff val="-21166"/>
              <a:lumOff val="42552"/>
              <a:alphaOff val="0"/>
            </a:schemeClr>
          </a:effectRef>
          <a:fontRef idx="minor">
            <a:schemeClr val="lt1"/>
          </a:fontRef>
        </p:style>
      </p:sp>
      <p:sp>
        <p:nvSpPr>
          <p:cNvPr id="24" name="Freeform 23"/>
          <p:cNvSpPr/>
          <p:nvPr/>
        </p:nvSpPr>
        <p:spPr>
          <a:xfrm>
            <a:off x="8493161" y="4803234"/>
            <a:ext cx="1699084" cy="2272125"/>
          </a:xfrm>
          <a:custGeom>
            <a:avLst/>
            <a:gdLst>
              <a:gd name="connsiteX0" fmla="*/ 0 w 1699084"/>
              <a:gd name="connsiteY0" fmla="*/ 0 h 2417007"/>
              <a:gd name="connsiteX1" fmla="*/ 1699084 w 1699084"/>
              <a:gd name="connsiteY1" fmla="*/ 0 h 2417007"/>
              <a:gd name="connsiteX2" fmla="*/ 1699084 w 1699084"/>
              <a:gd name="connsiteY2" fmla="*/ 2417007 h 2417007"/>
              <a:gd name="connsiteX3" fmla="*/ 0 w 1699084"/>
              <a:gd name="connsiteY3" fmla="*/ 2417007 h 2417007"/>
              <a:gd name="connsiteX4" fmla="*/ 0 w 1699084"/>
              <a:gd name="connsiteY4" fmla="*/ 0 h 241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2417007">
                <a:moveTo>
                  <a:pt x="0" y="0"/>
                </a:moveTo>
                <a:lnTo>
                  <a:pt x="1699084" y="0"/>
                </a:lnTo>
                <a:lnTo>
                  <a:pt x="1699084" y="2417007"/>
                </a:lnTo>
                <a:lnTo>
                  <a:pt x="0" y="2417007"/>
                </a:lnTo>
                <a:lnTo>
                  <a:pt x="0" y="0"/>
                </a:lnTo>
                <a:close/>
              </a:path>
            </a:pathLst>
          </a:custGeom>
          <a:solidFill>
            <a:srgbClr val="D0E0E5"/>
          </a:solidFill>
          <a:ln>
            <a:solidFill>
              <a:schemeClr val="tx1"/>
            </a:solid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t" anchorCtr="0">
            <a:noAutofit/>
          </a:bodyPr>
          <a:lstStyle/>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Formulation of time bound action plan for operationalization of O&amp;M Service Company</a:t>
            </a:r>
            <a:endParaRPr lang="en-US" sz="1100" dirty="0">
              <a:solidFill>
                <a:prstClr val="black">
                  <a:hueOff val="0"/>
                  <a:satOff val="0"/>
                  <a:lumOff val="0"/>
                  <a:alphaOff val="0"/>
                </a:prstClr>
              </a:solidFill>
            </a:endParaRPr>
          </a:p>
          <a:p>
            <a:pPr marL="144000" indent="-144000" defTabSz="355600">
              <a:spcBef>
                <a:spcPct val="0"/>
              </a:spcBef>
              <a:spcAft>
                <a:spcPts val="600"/>
              </a:spcAft>
              <a:buFont typeface="Arial" panose="020B0604020202020204" pitchFamily="34" charset="0"/>
              <a:buChar char="•"/>
            </a:pPr>
            <a:r>
              <a:rPr lang="en-US" sz="1100" dirty="0" smtClean="0">
                <a:solidFill>
                  <a:prstClr val="black">
                    <a:hueOff val="0"/>
                    <a:satOff val="0"/>
                    <a:lumOff val="0"/>
                    <a:alphaOff val="0"/>
                  </a:prstClr>
                </a:solidFill>
              </a:rPr>
              <a:t>Capacity building of staffs to undertake O&amp;M Services</a:t>
            </a:r>
            <a:endParaRPr lang="en-US" sz="1100" dirty="0">
              <a:solidFill>
                <a:prstClr val="black">
                  <a:hueOff val="0"/>
                  <a:satOff val="0"/>
                  <a:lumOff val="0"/>
                  <a:alphaOff val="0"/>
                </a:prstClr>
              </a:solidFill>
            </a:endParaRPr>
          </a:p>
        </p:txBody>
      </p:sp>
      <p:sp>
        <p:nvSpPr>
          <p:cNvPr id="25" name="Freeform 24"/>
          <p:cNvSpPr/>
          <p:nvPr/>
        </p:nvSpPr>
        <p:spPr>
          <a:xfrm>
            <a:off x="8493161" y="4141801"/>
            <a:ext cx="1699084" cy="574338"/>
          </a:xfrm>
          <a:custGeom>
            <a:avLst/>
            <a:gdLst>
              <a:gd name="connsiteX0" fmla="*/ 0 w 1699084"/>
              <a:gd name="connsiteY0" fmla="*/ 0 h 574338"/>
              <a:gd name="connsiteX1" fmla="*/ 1699084 w 1699084"/>
              <a:gd name="connsiteY1" fmla="*/ 0 h 574338"/>
              <a:gd name="connsiteX2" fmla="*/ 1699084 w 1699084"/>
              <a:gd name="connsiteY2" fmla="*/ 574338 h 574338"/>
              <a:gd name="connsiteX3" fmla="*/ 0 w 1699084"/>
              <a:gd name="connsiteY3" fmla="*/ 574338 h 574338"/>
              <a:gd name="connsiteX4" fmla="*/ 0 w 1699084"/>
              <a:gd name="connsiteY4" fmla="*/ 0 h 57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084" h="574338">
                <a:moveTo>
                  <a:pt x="0" y="0"/>
                </a:moveTo>
                <a:lnTo>
                  <a:pt x="1699084" y="0"/>
                </a:lnTo>
                <a:lnTo>
                  <a:pt x="1699084" y="574338"/>
                </a:lnTo>
                <a:lnTo>
                  <a:pt x="0" y="5743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b" anchorCtr="0">
            <a:noAutofit/>
          </a:bodyPr>
          <a:lstStyle/>
          <a:p>
            <a:pPr defTabSz="355600">
              <a:lnSpc>
                <a:spcPct val="90000"/>
              </a:lnSpc>
              <a:spcBef>
                <a:spcPct val="0"/>
              </a:spcBef>
              <a:spcAft>
                <a:spcPct val="35000"/>
              </a:spcAft>
            </a:pPr>
            <a:r>
              <a:rPr lang="en-US" sz="1050" b="1" smtClean="0">
                <a:solidFill>
                  <a:prstClr val="black">
                    <a:hueOff val="0"/>
                    <a:satOff val="0"/>
                    <a:lumOff val="0"/>
                    <a:alphaOff val="0"/>
                  </a:prstClr>
                </a:solidFill>
              </a:rPr>
              <a:t>Implementation plan and capacity building</a:t>
            </a:r>
            <a:endParaRPr lang="en-US" sz="1050" b="1">
              <a:solidFill>
                <a:prstClr val="black">
                  <a:hueOff val="0"/>
                  <a:satOff val="0"/>
                  <a:lumOff val="0"/>
                  <a:alphaOff val="0"/>
                </a:prstClr>
              </a:solidFill>
            </a:endParaRPr>
          </a:p>
        </p:txBody>
      </p:sp>
      <p:sp>
        <p:nvSpPr>
          <p:cNvPr id="5" name="Title 2"/>
          <p:cNvSpPr>
            <a:spLocks noGrp="1"/>
          </p:cNvSpPr>
          <p:nvPr>
            <p:ph type="title"/>
          </p:nvPr>
        </p:nvSpPr>
        <p:spPr>
          <a:xfrm>
            <a:off x="439793" y="350131"/>
            <a:ext cx="9933400" cy="368439"/>
          </a:xfrm>
        </p:spPr>
        <p:txBody>
          <a:bodyPr/>
          <a:lstStyle/>
          <a:p>
            <a:r>
              <a:rPr lang="en-US" sz="2000" b="1" dirty="0" smtClean="0"/>
              <a:t>Specialized O&amp;M service offerings will allow holding company to utilize its expertise in improving plant performances across country</a:t>
            </a:r>
            <a:endParaRPr lang="en-IN" sz="2000" b="1" dirty="0"/>
          </a:p>
        </p:txBody>
      </p:sp>
      <p:cxnSp>
        <p:nvCxnSpPr>
          <p:cNvPr id="6" name="Straight Connector 5"/>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658638" y="1111790"/>
            <a:ext cx="3495709"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Types of O&amp;M Service Offerings</a:t>
            </a:r>
            <a:endParaRPr lang="en-IN" sz="1200" b="1" dirty="0" smtClean="0">
              <a:solidFill>
                <a:srgbClr val="313131"/>
              </a:solidFill>
            </a:endParaRPr>
          </a:p>
        </p:txBody>
      </p:sp>
      <p:graphicFrame>
        <p:nvGraphicFramePr>
          <p:cNvPr id="2" name="Diagram 1"/>
          <p:cNvGraphicFramePr/>
          <p:nvPr/>
        </p:nvGraphicFramePr>
        <p:xfrm>
          <a:off x="439793" y="1429647"/>
          <a:ext cx="9753518" cy="23563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p:cNvCxnSpPr/>
          <p:nvPr/>
        </p:nvCxnSpPr>
        <p:spPr>
          <a:xfrm>
            <a:off x="377171" y="3917162"/>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528933" y="3814749"/>
            <a:ext cx="5629875"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Steps to be undertaken for </a:t>
            </a:r>
            <a:r>
              <a:rPr lang="en-US" sz="1200" b="1" dirty="0">
                <a:solidFill>
                  <a:srgbClr val="313131"/>
                </a:solidFill>
              </a:rPr>
              <a:t>e</a:t>
            </a:r>
            <a:r>
              <a:rPr lang="en-US" sz="1200" b="1" dirty="0" smtClean="0">
                <a:solidFill>
                  <a:srgbClr val="313131"/>
                </a:solidFill>
              </a:rPr>
              <a:t>stablishing O&amp;M Service Company</a:t>
            </a:r>
            <a:endParaRPr lang="en-IN" sz="1200" b="1" dirty="0" smtClean="0">
              <a:solidFill>
                <a:srgbClr val="313131"/>
              </a:solidFill>
            </a:endParaRPr>
          </a:p>
        </p:txBody>
      </p:sp>
      <p:sp>
        <p:nvSpPr>
          <p:cNvPr id="27" name="Pentagon 26">
            <a:hlinkClick r:id="rId7"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008672704"/>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933400" cy="368439"/>
          </a:xfrm>
        </p:spPr>
        <p:txBody>
          <a:bodyPr/>
          <a:lstStyle/>
          <a:p>
            <a:r>
              <a:rPr lang="en-US" sz="2000" b="1" dirty="0"/>
              <a:t>High-level strengthening measures for </a:t>
            </a:r>
            <a:r>
              <a:rPr lang="en-US" sz="2000" b="1" dirty="0" smtClean="0"/>
              <a:t>Generation </a:t>
            </a:r>
            <a:r>
              <a:rPr lang="en-US" sz="2000" b="1" dirty="0"/>
              <a:t>function of holding company</a:t>
            </a:r>
            <a:endParaRPr lang="en-IN" sz="2000" b="1" dirty="0"/>
          </a:p>
        </p:txBody>
      </p:sp>
      <p:graphicFrame>
        <p:nvGraphicFramePr>
          <p:cNvPr id="5" name="Diagram 4"/>
          <p:cNvGraphicFramePr/>
          <p:nvPr>
            <p:extLst/>
          </p:nvPr>
        </p:nvGraphicFramePr>
        <p:xfrm>
          <a:off x="439793" y="1111790"/>
          <a:ext cx="9933400" cy="6113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658638" y="1111790"/>
            <a:ext cx="3495709"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Generation Strengthening Measures</a:t>
            </a:r>
            <a:endParaRPr lang="en-IN" sz="1200" b="1" dirty="0" smtClean="0">
              <a:solidFill>
                <a:srgbClr val="313131"/>
              </a:solidFill>
            </a:endParaRPr>
          </a:p>
        </p:txBody>
      </p:sp>
      <p:cxnSp>
        <p:nvCxnSpPr>
          <p:cNvPr id="9" name="Straight Connector 8"/>
          <p:cNvCxnSpPr/>
          <p:nvPr/>
        </p:nvCxnSpPr>
        <p:spPr>
          <a:xfrm>
            <a:off x="2413416" y="1214203"/>
            <a:ext cx="0" cy="5981076"/>
          </a:xfrm>
          <a:prstGeom prst="line">
            <a:avLst/>
          </a:prstGeom>
          <a:ln>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469567" y="1296456"/>
            <a:ext cx="0" cy="5981076"/>
          </a:xfrm>
          <a:prstGeom prst="line">
            <a:avLst/>
          </a:prstGeom>
          <a:ln>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20787" y="1296456"/>
            <a:ext cx="0" cy="5981076"/>
          </a:xfrm>
          <a:prstGeom prst="line">
            <a:avLst/>
          </a:prstGeom>
          <a:ln>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431967" y="1244183"/>
            <a:ext cx="0" cy="5981076"/>
          </a:xfrm>
          <a:prstGeom prst="line">
            <a:avLst/>
          </a:prstGeom>
          <a:ln>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Pentagon 14">
            <a:hlinkClick r:id="rId7"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833049667"/>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nvPr>
        </p:nvGraphicFramePr>
        <p:xfrm>
          <a:off x="439793" y="1436914"/>
          <a:ext cx="9933400" cy="5660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itle 2"/>
          <p:cNvSpPr>
            <a:spLocks noGrp="1"/>
          </p:cNvSpPr>
          <p:nvPr>
            <p:ph type="title"/>
          </p:nvPr>
        </p:nvSpPr>
        <p:spPr>
          <a:xfrm>
            <a:off x="439793" y="350131"/>
            <a:ext cx="9933400" cy="368439"/>
          </a:xfrm>
        </p:spPr>
        <p:txBody>
          <a:bodyPr/>
          <a:lstStyle/>
          <a:p>
            <a:r>
              <a:rPr lang="en-US" sz="2000" b="1" dirty="0"/>
              <a:t>High-level strengthening measures for </a:t>
            </a:r>
            <a:r>
              <a:rPr lang="en-US" sz="2000" b="1" dirty="0" smtClean="0"/>
              <a:t>distribution </a:t>
            </a:r>
            <a:r>
              <a:rPr lang="en-US" sz="2000" b="1" dirty="0"/>
              <a:t>function of holding company</a:t>
            </a:r>
            <a:endParaRPr lang="en-IN" sz="2000" b="1" dirty="0"/>
          </a:p>
        </p:txBody>
      </p:sp>
      <p:cxnSp>
        <p:nvCxnSpPr>
          <p:cNvPr id="9" name="Straight Connector 8"/>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658638" y="1140893"/>
            <a:ext cx="3495709"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Distribution Strengthening Measures</a:t>
            </a:r>
            <a:endParaRPr lang="en-IN" sz="1200" b="1" dirty="0" smtClean="0">
              <a:solidFill>
                <a:srgbClr val="313131"/>
              </a:solidFill>
            </a:endParaRPr>
          </a:p>
        </p:txBody>
      </p:sp>
      <p:sp>
        <p:nvSpPr>
          <p:cNvPr id="12" name="Pentagon 11">
            <a:hlinkClick r:id="rId7"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2372571"/>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a:xfrm>
            <a:off x="1004341" y="1785915"/>
            <a:ext cx="4195442" cy="2401337"/>
          </a:xfrm>
          <a:custGeom>
            <a:avLst/>
            <a:gdLst>
              <a:gd name="connsiteX0" fmla="*/ 0 w 4565807"/>
              <a:gd name="connsiteY0" fmla="*/ 0 h 1426814"/>
              <a:gd name="connsiteX1" fmla="*/ 4565807 w 4565807"/>
              <a:gd name="connsiteY1" fmla="*/ 0 h 1426814"/>
              <a:gd name="connsiteX2" fmla="*/ 4565807 w 4565807"/>
              <a:gd name="connsiteY2" fmla="*/ 1426814 h 1426814"/>
              <a:gd name="connsiteX3" fmla="*/ 0 w 4565807"/>
              <a:gd name="connsiteY3" fmla="*/ 1426814 h 1426814"/>
              <a:gd name="connsiteX4" fmla="*/ 0 w 4565807"/>
              <a:gd name="connsiteY4" fmla="*/ 0 h 1426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5807" h="1426814">
                <a:moveTo>
                  <a:pt x="0" y="0"/>
                </a:moveTo>
                <a:lnTo>
                  <a:pt x="4565807" y="0"/>
                </a:lnTo>
                <a:lnTo>
                  <a:pt x="4565807" y="1426814"/>
                </a:lnTo>
                <a:lnTo>
                  <a:pt x="0" y="1426814"/>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966429" tIns="30480" rIns="30480" bIns="30480" numCol="1" spcCol="1270" anchor="t" anchorCtr="0">
            <a:noAutofit/>
          </a:bodyPr>
          <a:lstStyle/>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Implementation of HVDS and underground cables</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Replacement of defective meters</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Installation of prepaid meters</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Incorporation of penal measures for electricity theft</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Installation of tamper-proof meters</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Mitigation of errors in meter reading and billing</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Collection management</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solidFill>
              </a:rPr>
              <a:t>Energy audit</a:t>
            </a:r>
            <a:endParaRPr lang="en-IN" sz="1200" dirty="0">
              <a:solidFill>
                <a:prstClr val="black">
                  <a:hueOff val="0"/>
                  <a:satOff val="0"/>
                  <a:lumOff val="0"/>
                  <a:alphaOff val="0"/>
                </a:prstClr>
              </a:solidFill>
            </a:endParaRPr>
          </a:p>
        </p:txBody>
      </p:sp>
      <p:sp>
        <p:nvSpPr>
          <p:cNvPr id="7" name="Rectangle 6"/>
          <p:cNvSpPr/>
          <p:nvPr/>
        </p:nvSpPr>
        <p:spPr>
          <a:xfrm>
            <a:off x="443734" y="1439056"/>
            <a:ext cx="1430036" cy="2308485"/>
          </a:xfrm>
          <a:prstGeom prst="rect">
            <a:avLst/>
          </a:prstGeom>
          <a:solidFill>
            <a:schemeClr val="accent1">
              <a:lumMod val="20000"/>
              <a:lumOff val="80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horz" lIns="36000" tIns="36000" rIns="36000" bIns="36000"/>
          <a:lstStyle/>
          <a:p>
            <a:r>
              <a:rPr lang="en-US" sz="1300" b="1" dirty="0" smtClean="0">
                <a:solidFill>
                  <a:prstClr val="black"/>
                </a:solidFill>
              </a:rPr>
              <a:t>Commercial Loss Reduction -Distribution</a:t>
            </a:r>
            <a:endParaRPr lang="en-IN" sz="1300" b="1" dirty="0">
              <a:solidFill>
                <a:prstClr val="black"/>
              </a:solidFill>
            </a:endParaRPr>
          </a:p>
        </p:txBody>
      </p:sp>
      <p:sp>
        <p:nvSpPr>
          <p:cNvPr id="8" name="Freeform 7"/>
          <p:cNvSpPr/>
          <p:nvPr/>
        </p:nvSpPr>
        <p:spPr>
          <a:xfrm>
            <a:off x="6049463" y="1785915"/>
            <a:ext cx="4195442" cy="2401337"/>
          </a:xfrm>
          <a:custGeom>
            <a:avLst/>
            <a:gdLst>
              <a:gd name="connsiteX0" fmla="*/ 0 w 4565807"/>
              <a:gd name="connsiteY0" fmla="*/ 0 h 1426814"/>
              <a:gd name="connsiteX1" fmla="*/ 4565807 w 4565807"/>
              <a:gd name="connsiteY1" fmla="*/ 0 h 1426814"/>
              <a:gd name="connsiteX2" fmla="*/ 4565807 w 4565807"/>
              <a:gd name="connsiteY2" fmla="*/ 1426814 h 1426814"/>
              <a:gd name="connsiteX3" fmla="*/ 0 w 4565807"/>
              <a:gd name="connsiteY3" fmla="*/ 1426814 h 1426814"/>
              <a:gd name="connsiteX4" fmla="*/ 0 w 4565807"/>
              <a:gd name="connsiteY4" fmla="*/ 0 h 1426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5807" h="1426814">
                <a:moveTo>
                  <a:pt x="0" y="0"/>
                </a:moveTo>
                <a:lnTo>
                  <a:pt x="4565807" y="0"/>
                </a:lnTo>
                <a:lnTo>
                  <a:pt x="4565807" y="1426814"/>
                </a:lnTo>
                <a:lnTo>
                  <a:pt x="0" y="1426814"/>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966429" tIns="30480" rIns="30480" bIns="30480" numCol="1" spcCol="1270" anchor="ctr" anchorCtr="0">
            <a:noAutofit/>
          </a:bodyPr>
          <a:lstStyle/>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Collection management for bulk supply to distribution licensees:</a:t>
            </a:r>
          </a:p>
          <a:p>
            <a:pPr marL="360363" lvl="1" indent="-180975" defTabSz="355600">
              <a:lnSpc>
                <a:spcPct val="90000"/>
              </a:lnSpc>
              <a:spcBef>
                <a:spcPct val="0"/>
              </a:spcBef>
              <a:spcAft>
                <a:spcPct val="35000"/>
              </a:spcAft>
              <a:buFont typeface="Verdana" panose="020B0604030504040204" pitchFamily="34" charset="0"/>
              <a:buChar char="-"/>
            </a:pPr>
            <a:r>
              <a:rPr lang="en-US" sz="1200" dirty="0" smtClean="0">
                <a:solidFill>
                  <a:prstClr val="black">
                    <a:hueOff val="0"/>
                    <a:satOff val="0"/>
                    <a:lumOff val="0"/>
                    <a:alphaOff val="0"/>
                  </a:prstClr>
                </a:solidFill>
              </a:rPr>
              <a:t>Strengthening of collection team</a:t>
            </a:r>
          </a:p>
          <a:p>
            <a:pPr marL="360363" lvl="1" indent="-180975" defTabSz="355600">
              <a:lnSpc>
                <a:spcPct val="90000"/>
              </a:lnSpc>
              <a:spcBef>
                <a:spcPct val="0"/>
              </a:spcBef>
              <a:spcAft>
                <a:spcPct val="35000"/>
              </a:spcAft>
              <a:buFont typeface="Verdana" panose="020B0604030504040204" pitchFamily="34" charset="0"/>
              <a:buChar char="-"/>
            </a:pPr>
            <a:r>
              <a:rPr lang="en-US" sz="1200" dirty="0" smtClean="0">
                <a:solidFill>
                  <a:prstClr val="black">
                    <a:hueOff val="0"/>
                    <a:satOff val="0"/>
                    <a:lumOff val="0"/>
                    <a:alphaOff val="0"/>
                  </a:prstClr>
                </a:solidFill>
              </a:rPr>
              <a:t>Monitoring and tracking of accounts receivable</a:t>
            </a:r>
          </a:p>
          <a:p>
            <a:pPr marL="360363" lvl="1" indent="-180975" defTabSz="355600">
              <a:lnSpc>
                <a:spcPct val="90000"/>
              </a:lnSpc>
              <a:spcBef>
                <a:spcPct val="0"/>
              </a:spcBef>
              <a:spcAft>
                <a:spcPct val="35000"/>
              </a:spcAft>
              <a:buFont typeface="Verdana" panose="020B0604030504040204" pitchFamily="34" charset="0"/>
              <a:buChar char="-"/>
            </a:pPr>
            <a:r>
              <a:rPr lang="en-US" sz="1200" dirty="0" smtClean="0">
                <a:solidFill>
                  <a:prstClr val="black">
                    <a:hueOff val="0"/>
                    <a:satOff val="0"/>
                    <a:lumOff val="0"/>
                    <a:alphaOff val="0"/>
                  </a:prstClr>
                </a:solidFill>
              </a:rPr>
              <a:t>Coordination and negotiation with customers having dues</a:t>
            </a:r>
          </a:p>
          <a:p>
            <a:pPr marL="360363" lvl="1" indent="-180975" defTabSz="355600">
              <a:lnSpc>
                <a:spcPct val="90000"/>
              </a:lnSpc>
              <a:spcBef>
                <a:spcPct val="0"/>
              </a:spcBef>
              <a:spcAft>
                <a:spcPct val="35000"/>
              </a:spcAft>
              <a:buFont typeface="Verdana" panose="020B0604030504040204" pitchFamily="34" charset="0"/>
              <a:buChar char="-"/>
            </a:pPr>
            <a:r>
              <a:rPr lang="en-US" sz="1200" dirty="0" smtClean="0">
                <a:solidFill>
                  <a:prstClr val="black">
                    <a:hueOff val="0"/>
                    <a:satOff val="0"/>
                    <a:lumOff val="0"/>
                    <a:alphaOff val="0"/>
                  </a:prstClr>
                </a:solidFill>
              </a:rPr>
              <a:t>Liaison with concerned ministries</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Mitigation of errors in meter reading and billing</a:t>
            </a:r>
          </a:p>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solidFill>
              </a:rPr>
              <a:t>Energy audit</a:t>
            </a:r>
            <a:endParaRPr lang="en-IN" sz="1200" dirty="0">
              <a:solidFill>
                <a:prstClr val="black">
                  <a:hueOff val="0"/>
                  <a:satOff val="0"/>
                  <a:lumOff val="0"/>
                  <a:alphaOff val="0"/>
                </a:prstClr>
              </a:solidFill>
            </a:endParaRPr>
          </a:p>
        </p:txBody>
      </p:sp>
      <p:sp>
        <p:nvSpPr>
          <p:cNvPr id="9" name="Rectangle 8"/>
          <p:cNvSpPr/>
          <p:nvPr/>
        </p:nvSpPr>
        <p:spPr>
          <a:xfrm>
            <a:off x="5488856" y="1439056"/>
            <a:ext cx="1430036" cy="2308485"/>
          </a:xfrm>
          <a:prstGeom prst="rect">
            <a:avLst/>
          </a:prstGeom>
          <a:solidFill>
            <a:schemeClr val="accent1">
              <a:lumMod val="20000"/>
              <a:lumOff val="80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horz" lIns="36000" tIns="36000" rIns="36000" bIns="36000"/>
          <a:lstStyle/>
          <a:p>
            <a:r>
              <a:rPr lang="en-US" sz="1300" b="1" dirty="0">
                <a:solidFill>
                  <a:prstClr val="black"/>
                </a:solidFill>
              </a:rPr>
              <a:t>Commercial Loss Reduction – Bulk </a:t>
            </a:r>
            <a:r>
              <a:rPr lang="en-US" sz="1300" b="1" dirty="0" smtClean="0">
                <a:solidFill>
                  <a:prstClr val="black"/>
                </a:solidFill>
              </a:rPr>
              <a:t>Supply</a:t>
            </a:r>
            <a:endParaRPr lang="en-IN" sz="1300" b="1" dirty="0">
              <a:solidFill>
                <a:prstClr val="black"/>
              </a:solidFill>
            </a:endParaRPr>
          </a:p>
        </p:txBody>
      </p:sp>
      <p:sp>
        <p:nvSpPr>
          <p:cNvPr id="10" name="Freeform 9"/>
          <p:cNvSpPr/>
          <p:nvPr/>
        </p:nvSpPr>
        <p:spPr>
          <a:xfrm>
            <a:off x="1004341" y="4808932"/>
            <a:ext cx="4195442" cy="2401337"/>
          </a:xfrm>
          <a:custGeom>
            <a:avLst/>
            <a:gdLst>
              <a:gd name="connsiteX0" fmla="*/ 0 w 4565807"/>
              <a:gd name="connsiteY0" fmla="*/ 0 h 1426814"/>
              <a:gd name="connsiteX1" fmla="*/ 4565807 w 4565807"/>
              <a:gd name="connsiteY1" fmla="*/ 0 h 1426814"/>
              <a:gd name="connsiteX2" fmla="*/ 4565807 w 4565807"/>
              <a:gd name="connsiteY2" fmla="*/ 1426814 h 1426814"/>
              <a:gd name="connsiteX3" fmla="*/ 0 w 4565807"/>
              <a:gd name="connsiteY3" fmla="*/ 1426814 h 1426814"/>
              <a:gd name="connsiteX4" fmla="*/ 0 w 4565807"/>
              <a:gd name="connsiteY4" fmla="*/ 0 h 1426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5807" h="1426814">
                <a:moveTo>
                  <a:pt x="0" y="0"/>
                </a:moveTo>
                <a:lnTo>
                  <a:pt x="4565807" y="0"/>
                </a:lnTo>
                <a:lnTo>
                  <a:pt x="4565807" y="1426814"/>
                </a:lnTo>
                <a:lnTo>
                  <a:pt x="0" y="1426814"/>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966429" tIns="30480" rIns="30480" bIns="30480" numCol="1" spcCol="1270" anchor="ctr" anchorCtr="0">
            <a:noAutofit/>
          </a:bodyPr>
          <a:lstStyle/>
          <a:p>
            <a:pPr marL="171450" indent="-171450" defTabSz="355600">
              <a:lnSpc>
                <a:spcPct val="90000"/>
              </a:lnSpc>
              <a:spcBef>
                <a:spcPct val="0"/>
              </a:spcBef>
              <a:spcAft>
                <a:spcPct val="35000"/>
              </a:spcAft>
              <a:buFont typeface="Arial" panose="020B0604020202020204" pitchFamily="34" charset="0"/>
              <a:buChar char="•"/>
            </a:pPr>
            <a:r>
              <a:rPr lang="en-US" sz="1200" dirty="0" smtClean="0">
                <a:solidFill>
                  <a:prstClr val="black">
                    <a:hueOff val="0"/>
                    <a:satOff val="0"/>
                    <a:lumOff val="0"/>
                    <a:alphaOff val="0"/>
                  </a:prstClr>
                </a:solidFill>
              </a:rPr>
              <a:t>Implementation of ICT-based meter reading and billing solution covering:</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Snapshot / any other automated meter reading / prepaid metering</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Automated bill calculation and generation</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Automatic updating of collection information upon online / mobile / card bill payment</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Reconciliation</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Interface with F&amp;A ERP module</a:t>
            </a:r>
          </a:p>
        </p:txBody>
      </p:sp>
      <p:sp>
        <p:nvSpPr>
          <p:cNvPr id="11" name="Rectangle 10"/>
          <p:cNvSpPr/>
          <p:nvPr/>
        </p:nvSpPr>
        <p:spPr>
          <a:xfrm>
            <a:off x="443734" y="4462073"/>
            <a:ext cx="1430036" cy="2308485"/>
          </a:xfrm>
          <a:prstGeom prst="rect">
            <a:avLst/>
          </a:prstGeom>
          <a:solidFill>
            <a:schemeClr val="accent1">
              <a:lumMod val="20000"/>
              <a:lumOff val="80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horz" lIns="36000" tIns="36000" rIns="36000" bIns="36000"/>
          <a:lstStyle/>
          <a:p>
            <a:r>
              <a:rPr lang="en-US" sz="1300" b="1" dirty="0">
                <a:solidFill>
                  <a:prstClr val="black"/>
                </a:solidFill>
              </a:rPr>
              <a:t>ICT-based meter reading </a:t>
            </a:r>
            <a:r>
              <a:rPr lang="en-US" sz="1300" b="1" dirty="0" smtClean="0">
                <a:solidFill>
                  <a:prstClr val="black"/>
                </a:solidFill>
              </a:rPr>
              <a:t>and </a:t>
            </a:r>
            <a:r>
              <a:rPr lang="en-US" sz="1300" b="1" dirty="0">
                <a:solidFill>
                  <a:prstClr val="black"/>
                </a:solidFill>
              </a:rPr>
              <a:t>billing </a:t>
            </a:r>
            <a:r>
              <a:rPr lang="en-US" sz="1300" b="1" dirty="0" smtClean="0">
                <a:solidFill>
                  <a:prstClr val="black"/>
                </a:solidFill>
              </a:rPr>
              <a:t>solution</a:t>
            </a:r>
            <a:endParaRPr lang="en-IN" sz="1300" b="1" dirty="0">
              <a:solidFill>
                <a:prstClr val="black"/>
              </a:solidFill>
            </a:endParaRPr>
          </a:p>
        </p:txBody>
      </p:sp>
      <p:sp>
        <p:nvSpPr>
          <p:cNvPr id="12" name="Freeform 11"/>
          <p:cNvSpPr/>
          <p:nvPr/>
        </p:nvSpPr>
        <p:spPr>
          <a:xfrm>
            <a:off x="6049463" y="4808932"/>
            <a:ext cx="4195442" cy="2401337"/>
          </a:xfrm>
          <a:custGeom>
            <a:avLst/>
            <a:gdLst>
              <a:gd name="connsiteX0" fmla="*/ 0 w 4565807"/>
              <a:gd name="connsiteY0" fmla="*/ 0 h 1426814"/>
              <a:gd name="connsiteX1" fmla="*/ 4565807 w 4565807"/>
              <a:gd name="connsiteY1" fmla="*/ 0 h 1426814"/>
              <a:gd name="connsiteX2" fmla="*/ 4565807 w 4565807"/>
              <a:gd name="connsiteY2" fmla="*/ 1426814 h 1426814"/>
              <a:gd name="connsiteX3" fmla="*/ 0 w 4565807"/>
              <a:gd name="connsiteY3" fmla="*/ 1426814 h 1426814"/>
              <a:gd name="connsiteX4" fmla="*/ 0 w 4565807"/>
              <a:gd name="connsiteY4" fmla="*/ 0 h 1426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5807" h="1426814">
                <a:moveTo>
                  <a:pt x="0" y="0"/>
                </a:moveTo>
                <a:lnTo>
                  <a:pt x="4565807" y="0"/>
                </a:lnTo>
                <a:lnTo>
                  <a:pt x="4565807" y="1426814"/>
                </a:lnTo>
                <a:lnTo>
                  <a:pt x="0" y="1426814"/>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966429" tIns="30480" rIns="30480" bIns="30480" numCol="1" spcCol="1270" anchor="t" anchorCtr="0">
            <a:noAutofit/>
          </a:bodyPr>
          <a:lstStyle/>
          <a:p>
            <a:pPr marL="171450" indent="-171450" defTabSz="355600">
              <a:lnSpc>
                <a:spcPct val="90000"/>
              </a:lnSpc>
              <a:spcBef>
                <a:spcPct val="0"/>
              </a:spcBef>
              <a:spcAft>
                <a:spcPct val="35000"/>
              </a:spcAft>
              <a:buFont typeface="Arial" panose="020B0604020202020204" pitchFamily="34" charset="0"/>
              <a:buChar char="•"/>
            </a:pPr>
            <a:r>
              <a:rPr lang="en-US" sz="1200" dirty="0">
                <a:solidFill>
                  <a:prstClr val="black">
                    <a:hueOff val="0"/>
                    <a:satOff val="0"/>
                    <a:lumOff val="0"/>
                    <a:alphaOff val="0"/>
                  </a:prstClr>
                </a:solidFill>
              </a:rPr>
              <a:t>Implementation of ICT-based Regulatory Information Management System (RIMS) covering:</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Collection of commercial and regulatory data from zones / plants</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Calculation of revenue and subsidy requirements</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Regulatory reporting / filing</a:t>
            </a:r>
          </a:p>
          <a:p>
            <a:pPr marL="360363" lvl="1" indent="-180975" defTabSz="355600">
              <a:lnSpc>
                <a:spcPct val="90000"/>
              </a:lnSpc>
              <a:spcBef>
                <a:spcPct val="0"/>
              </a:spcBef>
              <a:spcAft>
                <a:spcPct val="35000"/>
              </a:spcAft>
              <a:buFont typeface="Verdana" panose="020B0604030504040204" pitchFamily="34" charset="0"/>
              <a:buChar char="-"/>
            </a:pPr>
            <a:r>
              <a:rPr lang="en-US" sz="1200" dirty="0">
                <a:solidFill>
                  <a:prstClr val="black">
                    <a:hueOff val="0"/>
                    <a:satOff val="0"/>
                    <a:lumOff val="0"/>
                    <a:alphaOff val="0"/>
                  </a:prstClr>
                </a:solidFill>
              </a:rPr>
              <a:t>Interface with billing software, F&amp;A ERP module, MIS applications</a:t>
            </a:r>
            <a:endParaRPr lang="en-IN" sz="1200" dirty="0">
              <a:solidFill>
                <a:prstClr val="black">
                  <a:hueOff val="0"/>
                  <a:satOff val="0"/>
                  <a:lumOff val="0"/>
                  <a:alphaOff val="0"/>
                </a:prstClr>
              </a:solidFill>
            </a:endParaRPr>
          </a:p>
        </p:txBody>
      </p:sp>
      <p:sp>
        <p:nvSpPr>
          <p:cNvPr id="13" name="Rectangle 12"/>
          <p:cNvSpPr/>
          <p:nvPr/>
        </p:nvSpPr>
        <p:spPr>
          <a:xfrm>
            <a:off x="5488856" y="4462073"/>
            <a:ext cx="1430036" cy="2308485"/>
          </a:xfrm>
          <a:prstGeom prst="rect">
            <a:avLst/>
          </a:prstGeom>
          <a:solidFill>
            <a:schemeClr val="accent1">
              <a:lumMod val="20000"/>
              <a:lumOff val="80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horz" lIns="36000" tIns="36000" rIns="36000" bIns="36000"/>
          <a:lstStyle/>
          <a:p>
            <a:r>
              <a:rPr lang="en-US" sz="1300" b="1" dirty="0">
                <a:solidFill>
                  <a:prstClr val="black"/>
                </a:solidFill>
              </a:rPr>
              <a:t>ICT-based </a:t>
            </a:r>
            <a:r>
              <a:rPr lang="en-US" sz="1300" b="1" dirty="0" smtClean="0">
                <a:solidFill>
                  <a:prstClr val="black"/>
                </a:solidFill>
              </a:rPr>
              <a:t>RIMS</a:t>
            </a:r>
            <a:endParaRPr lang="en-IN" sz="1300" b="1" dirty="0">
              <a:solidFill>
                <a:prstClr val="black"/>
              </a:solidFill>
            </a:endParaRPr>
          </a:p>
        </p:txBody>
      </p:sp>
      <p:sp>
        <p:nvSpPr>
          <p:cNvPr id="15" name="Title 1"/>
          <p:cNvSpPr>
            <a:spLocks noGrp="1"/>
          </p:cNvSpPr>
          <p:nvPr>
            <p:ph type="title"/>
          </p:nvPr>
        </p:nvSpPr>
        <p:spPr>
          <a:xfrm>
            <a:off x="439794" y="350133"/>
            <a:ext cx="9809052" cy="763288"/>
          </a:xfrm>
        </p:spPr>
        <p:txBody>
          <a:bodyPr/>
          <a:lstStyle/>
          <a:p>
            <a:r>
              <a:rPr lang="en-US" sz="2000" b="1" dirty="0" smtClean="0"/>
              <a:t>High-level strengthening measures for Commercial and Regulatory functions of holding company</a:t>
            </a:r>
            <a:endParaRPr lang="en-IN" sz="2000" b="1" dirty="0"/>
          </a:p>
        </p:txBody>
      </p:sp>
      <p:sp>
        <p:nvSpPr>
          <p:cNvPr id="18" name="TextBox 17"/>
          <p:cNvSpPr txBox="1">
            <a:spLocks noChangeAspect="1"/>
          </p:cNvSpPr>
          <p:nvPr/>
        </p:nvSpPr>
        <p:spPr>
          <a:xfrm>
            <a:off x="319268" y="3510807"/>
            <a:ext cx="396000" cy="396000"/>
          </a:xfrm>
          <a:prstGeom prst="ellipse">
            <a:avLst/>
          </a:prstGeom>
          <a:solidFill>
            <a:srgbClr val="92D050"/>
          </a:solidFill>
        </p:spPr>
        <p:txBody>
          <a:bodyPr wrap="square" lIns="0" tIns="0" rIns="0" bIns="0" rtlCol="0" anchor="ctr">
            <a:noAutofit/>
          </a:bodyPr>
          <a:lstStyle/>
          <a:p>
            <a:pPr algn="ctr">
              <a:buSzPct val="100000"/>
            </a:pPr>
            <a:r>
              <a:rPr lang="en-US" sz="1400" b="1" dirty="0" smtClean="0">
                <a:solidFill>
                  <a:srgbClr val="313131"/>
                </a:solidFill>
              </a:rPr>
              <a:t>1</a:t>
            </a:r>
            <a:endParaRPr lang="en-IN" sz="1400" b="1" dirty="0" smtClean="0">
              <a:solidFill>
                <a:srgbClr val="313131"/>
              </a:solidFill>
            </a:endParaRPr>
          </a:p>
        </p:txBody>
      </p:sp>
      <p:sp>
        <p:nvSpPr>
          <p:cNvPr id="19" name="TextBox 18"/>
          <p:cNvSpPr txBox="1">
            <a:spLocks noChangeAspect="1"/>
          </p:cNvSpPr>
          <p:nvPr/>
        </p:nvSpPr>
        <p:spPr>
          <a:xfrm>
            <a:off x="5352165" y="3510807"/>
            <a:ext cx="396000" cy="396000"/>
          </a:xfrm>
          <a:prstGeom prst="ellipse">
            <a:avLst/>
          </a:prstGeom>
          <a:solidFill>
            <a:srgbClr val="92D05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2</a:t>
            </a:r>
            <a:endParaRPr lang="en-IN" dirty="0"/>
          </a:p>
        </p:txBody>
      </p:sp>
      <p:sp>
        <p:nvSpPr>
          <p:cNvPr id="20" name="TextBox 19"/>
          <p:cNvSpPr txBox="1">
            <a:spLocks noChangeAspect="1"/>
          </p:cNvSpPr>
          <p:nvPr/>
        </p:nvSpPr>
        <p:spPr>
          <a:xfrm>
            <a:off x="319268" y="6572558"/>
            <a:ext cx="396000" cy="396000"/>
          </a:xfrm>
          <a:prstGeom prst="ellipse">
            <a:avLst/>
          </a:prstGeom>
          <a:solidFill>
            <a:srgbClr val="92D05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3</a:t>
            </a:r>
            <a:endParaRPr lang="en-IN" dirty="0"/>
          </a:p>
        </p:txBody>
      </p:sp>
      <p:sp>
        <p:nvSpPr>
          <p:cNvPr id="21" name="TextBox 20"/>
          <p:cNvSpPr txBox="1">
            <a:spLocks noChangeAspect="1"/>
          </p:cNvSpPr>
          <p:nvPr/>
        </p:nvSpPr>
        <p:spPr>
          <a:xfrm>
            <a:off x="5352165" y="6649379"/>
            <a:ext cx="396000" cy="396000"/>
          </a:xfrm>
          <a:prstGeom prst="ellipse">
            <a:avLst/>
          </a:prstGeom>
          <a:solidFill>
            <a:srgbClr val="92D05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4</a:t>
            </a:r>
            <a:endParaRPr lang="en-IN" dirty="0"/>
          </a:p>
        </p:txBody>
      </p:sp>
      <p:cxnSp>
        <p:nvCxnSpPr>
          <p:cNvPr id="16" name="Straight Connector 15"/>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080098" y="1140893"/>
            <a:ext cx="4652789" cy="369332"/>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Commercial &amp; Regulatory Strengthening Measures</a:t>
            </a:r>
            <a:endParaRPr lang="en-IN" sz="1200" b="1" dirty="0" smtClean="0">
              <a:solidFill>
                <a:srgbClr val="313131"/>
              </a:solidFill>
            </a:endParaRPr>
          </a:p>
        </p:txBody>
      </p:sp>
      <p:sp>
        <p:nvSpPr>
          <p:cNvPr id="24" name="Pentagon 23">
            <a:hlinkClick r:id="rId2"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845085384"/>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19"/>
          <p:cNvSpPr/>
          <p:nvPr/>
        </p:nvSpPr>
        <p:spPr>
          <a:xfrm>
            <a:off x="443481" y="1704395"/>
            <a:ext cx="2217573" cy="447118"/>
          </a:xfrm>
          <a:custGeom>
            <a:avLst/>
            <a:gdLst>
              <a:gd name="connsiteX0" fmla="*/ 0 w 2217573"/>
              <a:gd name="connsiteY0" fmla="*/ 0 h 447118"/>
              <a:gd name="connsiteX1" fmla="*/ 2217573 w 2217573"/>
              <a:gd name="connsiteY1" fmla="*/ 0 h 447118"/>
              <a:gd name="connsiteX2" fmla="*/ 2217573 w 2217573"/>
              <a:gd name="connsiteY2" fmla="*/ 447118 h 447118"/>
              <a:gd name="connsiteX3" fmla="*/ 0 w 2217573"/>
              <a:gd name="connsiteY3" fmla="*/ 447118 h 447118"/>
              <a:gd name="connsiteX4" fmla="*/ 0 w 2217573"/>
              <a:gd name="connsiteY4" fmla="*/ 0 h 447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447118">
                <a:moveTo>
                  <a:pt x="0" y="0"/>
                </a:moveTo>
                <a:lnTo>
                  <a:pt x="2217573" y="0"/>
                </a:lnTo>
                <a:lnTo>
                  <a:pt x="2217573" y="447118"/>
                </a:lnTo>
                <a:lnTo>
                  <a:pt x="0" y="447118"/>
                </a:lnTo>
                <a:lnTo>
                  <a:pt x="0" y="0"/>
                </a:lnTo>
                <a:close/>
              </a:path>
            </a:pathLst>
          </a:custGeom>
          <a:solidFill>
            <a:srgbClr val="2099D8"/>
          </a:solid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algn="ctr" defTabSz="533400">
              <a:lnSpc>
                <a:spcPct val="90000"/>
              </a:lnSpc>
              <a:spcBef>
                <a:spcPct val="0"/>
              </a:spcBef>
              <a:spcAft>
                <a:spcPct val="35000"/>
              </a:spcAft>
            </a:pPr>
            <a:r>
              <a:rPr lang="en-US" sz="1200" b="1" dirty="0" smtClean="0">
                <a:solidFill>
                  <a:prstClr val="white"/>
                </a:solidFill>
              </a:rPr>
              <a:t>Compliance to Accounting Standards</a:t>
            </a:r>
            <a:endParaRPr lang="en-IN" sz="1200" b="1" dirty="0">
              <a:solidFill>
                <a:prstClr val="white"/>
              </a:solidFill>
            </a:endParaRPr>
          </a:p>
        </p:txBody>
      </p:sp>
      <p:sp>
        <p:nvSpPr>
          <p:cNvPr id="21" name="Freeform 20"/>
          <p:cNvSpPr/>
          <p:nvPr/>
        </p:nvSpPr>
        <p:spPr>
          <a:xfrm>
            <a:off x="443481" y="2151513"/>
            <a:ext cx="2217573" cy="2250664"/>
          </a:xfrm>
          <a:custGeom>
            <a:avLst/>
            <a:gdLst>
              <a:gd name="connsiteX0" fmla="*/ 0 w 2217573"/>
              <a:gd name="connsiteY0" fmla="*/ 0 h 2250664"/>
              <a:gd name="connsiteX1" fmla="*/ 2217573 w 2217573"/>
              <a:gd name="connsiteY1" fmla="*/ 0 h 2250664"/>
              <a:gd name="connsiteX2" fmla="*/ 2217573 w 2217573"/>
              <a:gd name="connsiteY2" fmla="*/ 2250664 h 2250664"/>
              <a:gd name="connsiteX3" fmla="*/ 0 w 2217573"/>
              <a:gd name="connsiteY3" fmla="*/ 2250664 h 2250664"/>
              <a:gd name="connsiteX4" fmla="*/ 0 w 2217573"/>
              <a:gd name="connsiteY4" fmla="*/ 0 h 2250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2250664">
                <a:moveTo>
                  <a:pt x="0" y="0"/>
                </a:moveTo>
                <a:lnTo>
                  <a:pt x="2217573" y="0"/>
                </a:lnTo>
                <a:lnTo>
                  <a:pt x="2217573" y="2250664"/>
                </a:lnTo>
                <a:lnTo>
                  <a:pt x="0" y="2250664"/>
                </a:lnTo>
                <a:lnTo>
                  <a:pt x="0" y="0"/>
                </a:lnTo>
                <a:close/>
              </a:path>
            </a:pathLst>
          </a:custGeom>
          <a:solidFill>
            <a:srgbClr val="D2EBF7"/>
          </a:solidFill>
          <a:ln>
            <a:noFill/>
          </a:ln>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44000" lvl="1" indent="-144000" defTabSz="533400">
              <a:spcBef>
                <a:spcPct val="0"/>
              </a:spcBef>
              <a:buFontTx/>
              <a:buChar char="••"/>
            </a:pPr>
            <a:r>
              <a:rPr lang="en-US" sz="1200" dirty="0" smtClean="0">
                <a:solidFill>
                  <a:prstClr val="black">
                    <a:hueOff val="0"/>
                    <a:satOff val="0"/>
                    <a:lumOff val="0"/>
                    <a:alphaOff val="0"/>
                  </a:prstClr>
                </a:solidFill>
              </a:rPr>
              <a:t>Preparation of Accounting Manuals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Training on Accounting standards to Staff</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Implementation Support during initial years</a:t>
            </a:r>
            <a:endParaRPr lang="en-IN" sz="1200" dirty="0">
              <a:solidFill>
                <a:prstClr val="black">
                  <a:hueOff val="0"/>
                  <a:satOff val="0"/>
                  <a:lumOff val="0"/>
                  <a:alphaOff val="0"/>
                </a:prstClr>
              </a:solidFill>
            </a:endParaRPr>
          </a:p>
        </p:txBody>
      </p:sp>
      <p:sp>
        <p:nvSpPr>
          <p:cNvPr id="22" name="Freeform 21"/>
          <p:cNvSpPr/>
          <p:nvPr/>
        </p:nvSpPr>
        <p:spPr>
          <a:xfrm>
            <a:off x="2971516" y="1704395"/>
            <a:ext cx="2217573" cy="447118"/>
          </a:xfrm>
          <a:custGeom>
            <a:avLst/>
            <a:gdLst>
              <a:gd name="connsiteX0" fmla="*/ 0 w 2217573"/>
              <a:gd name="connsiteY0" fmla="*/ 0 h 447118"/>
              <a:gd name="connsiteX1" fmla="*/ 2217573 w 2217573"/>
              <a:gd name="connsiteY1" fmla="*/ 0 h 447118"/>
              <a:gd name="connsiteX2" fmla="*/ 2217573 w 2217573"/>
              <a:gd name="connsiteY2" fmla="*/ 447118 h 447118"/>
              <a:gd name="connsiteX3" fmla="*/ 0 w 2217573"/>
              <a:gd name="connsiteY3" fmla="*/ 447118 h 447118"/>
              <a:gd name="connsiteX4" fmla="*/ 0 w 2217573"/>
              <a:gd name="connsiteY4" fmla="*/ 0 h 447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447118">
                <a:moveTo>
                  <a:pt x="0" y="0"/>
                </a:moveTo>
                <a:lnTo>
                  <a:pt x="2217573" y="0"/>
                </a:lnTo>
                <a:lnTo>
                  <a:pt x="2217573" y="447118"/>
                </a:lnTo>
                <a:lnTo>
                  <a:pt x="0" y="447118"/>
                </a:lnTo>
                <a:lnTo>
                  <a:pt x="0" y="0"/>
                </a:lnTo>
                <a:close/>
              </a:path>
            </a:pathLst>
          </a:custGeom>
          <a:solidFill>
            <a:srgbClr val="239CCE"/>
          </a:solid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algn="ctr" defTabSz="533400">
              <a:lnSpc>
                <a:spcPct val="90000"/>
              </a:lnSpc>
              <a:spcBef>
                <a:spcPct val="0"/>
              </a:spcBef>
              <a:spcAft>
                <a:spcPct val="35000"/>
              </a:spcAft>
            </a:pPr>
            <a:r>
              <a:rPr lang="en-US" sz="1200" b="1" dirty="0" smtClean="0">
                <a:solidFill>
                  <a:prstClr val="white"/>
                </a:solidFill>
              </a:rPr>
              <a:t>Update Chart of Accounts</a:t>
            </a:r>
            <a:endParaRPr lang="en-IN" sz="1200" b="1" dirty="0">
              <a:solidFill>
                <a:prstClr val="white"/>
              </a:solidFill>
            </a:endParaRPr>
          </a:p>
        </p:txBody>
      </p:sp>
      <p:sp>
        <p:nvSpPr>
          <p:cNvPr id="23" name="Freeform 22"/>
          <p:cNvSpPr/>
          <p:nvPr/>
        </p:nvSpPr>
        <p:spPr>
          <a:xfrm>
            <a:off x="2971516" y="2151513"/>
            <a:ext cx="2217573" cy="2250664"/>
          </a:xfrm>
          <a:custGeom>
            <a:avLst/>
            <a:gdLst>
              <a:gd name="connsiteX0" fmla="*/ 0 w 2217573"/>
              <a:gd name="connsiteY0" fmla="*/ 0 h 2250664"/>
              <a:gd name="connsiteX1" fmla="*/ 2217573 w 2217573"/>
              <a:gd name="connsiteY1" fmla="*/ 0 h 2250664"/>
              <a:gd name="connsiteX2" fmla="*/ 2217573 w 2217573"/>
              <a:gd name="connsiteY2" fmla="*/ 2250664 h 2250664"/>
              <a:gd name="connsiteX3" fmla="*/ 0 w 2217573"/>
              <a:gd name="connsiteY3" fmla="*/ 2250664 h 2250664"/>
              <a:gd name="connsiteX4" fmla="*/ 0 w 2217573"/>
              <a:gd name="connsiteY4" fmla="*/ 0 h 2250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2250664">
                <a:moveTo>
                  <a:pt x="0" y="0"/>
                </a:moveTo>
                <a:lnTo>
                  <a:pt x="2217573" y="0"/>
                </a:lnTo>
                <a:lnTo>
                  <a:pt x="2217573" y="2250664"/>
                </a:lnTo>
                <a:lnTo>
                  <a:pt x="0" y="2250664"/>
                </a:lnTo>
                <a:lnTo>
                  <a:pt x="0" y="0"/>
                </a:lnTo>
                <a:close/>
              </a:path>
            </a:pathLst>
          </a:custGeom>
          <a:ln>
            <a:solidFill>
              <a:srgbClr val="D3EBF5"/>
            </a:solidFill>
          </a:ln>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44000" lvl="1" indent="-144000" defTabSz="533400">
              <a:spcBef>
                <a:spcPct val="0"/>
              </a:spcBef>
              <a:buFontTx/>
              <a:buChar char="••"/>
            </a:pPr>
            <a:r>
              <a:rPr lang="en-US" sz="1200" dirty="0" smtClean="0">
                <a:solidFill>
                  <a:prstClr val="black">
                    <a:hueOff val="0"/>
                    <a:satOff val="0"/>
                    <a:lumOff val="0"/>
                    <a:alphaOff val="0"/>
                  </a:prstClr>
                </a:solidFill>
              </a:rPr>
              <a:t>Reflect new accounting standards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In line with ERP / automated software</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As per MIS requirements</a:t>
            </a:r>
            <a:endParaRPr lang="en-IN" sz="1200" dirty="0">
              <a:solidFill>
                <a:prstClr val="black">
                  <a:hueOff val="0"/>
                  <a:satOff val="0"/>
                  <a:lumOff val="0"/>
                  <a:alphaOff val="0"/>
                </a:prstClr>
              </a:solidFill>
            </a:endParaRPr>
          </a:p>
          <a:p>
            <a:pPr marL="144000" lvl="1" indent="-144000" defTabSz="533400">
              <a:spcBef>
                <a:spcPct val="0"/>
              </a:spcBef>
              <a:buFontTx/>
              <a:buChar char="••"/>
            </a:pPr>
            <a:endParaRPr lang="en-IN" sz="1200" dirty="0">
              <a:solidFill>
                <a:prstClr val="black">
                  <a:hueOff val="0"/>
                  <a:satOff val="0"/>
                  <a:lumOff val="0"/>
                  <a:alphaOff val="0"/>
                </a:prstClr>
              </a:solidFill>
            </a:endParaRPr>
          </a:p>
        </p:txBody>
      </p:sp>
      <p:sp>
        <p:nvSpPr>
          <p:cNvPr id="24" name="Freeform 23"/>
          <p:cNvSpPr/>
          <p:nvPr/>
        </p:nvSpPr>
        <p:spPr>
          <a:xfrm>
            <a:off x="5499550" y="1704395"/>
            <a:ext cx="2217573" cy="447118"/>
          </a:xfrm>
          <a:custGeom>
            <a:avLst/>
            <a:gdLst>
              <a:gd name="connsiteX0" fmla="*/ 0 w 2217573"/>
              <a:gd name="connsiteY0" fmla="*/ 0 h 447118"/>
              <a:gd name="connsiteX1" fmla="*/ 2217573 w 2217573"/>
              <a:gd name="connsiteY1" fmla="*/ 0 h 447118"/>
              <a:gd name="connsiteX2" fmla="*/ 2217573 w 2217573"/>
              <a:gd name="connsiteY2" fmla="*/ 447118 h 447118"/>
              <a:gd name="connsiteX3" fmla="*/ 0 w 2217573"/>
              <a:gd name="connsiteY3" fmla="*/ 447118 h 447118"/>
              <a:gd name="connsiteX4" fmla="*/ 0 w 2217573"/>
              <a:gd name="connsiteY4" fmla="*/ 0 h 447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447118">
                <a:moveTo>
                  <a:pt x="0" y="0"/>
                </a:moveTo>
                <a:lnTo>
                  <a:pt x="2217573" y="0"/>
                </a:lnTo>
                <a:lnTo>
                  <a:pt x="2217573" y="447118"/>
                </a:lnTo>
                <a:lnTo>
                  <a:pt x="0" y="447118"/>
                </a:lnTo>
                <a:lnTo>
                  <a:pt x="0" y="0"/>
                </a:lnTo>
                <a:close/>
              </a:path>
            </a:pathLst>
          </a:custGeom>
          <a:solidFill>
            <a:srgbClr val="27A6C2"/>
          </a:solidFill>
          <a:ln>
            <a:no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algn="ctr" defTabSz="533400">
              <a:lnSpc>
                <a:spcPct val="90000"/>
              </a:lnSpc>
              <a:spcBef>
                <a:spcPct val="0"/>
              </a:spcBef>
              <a:spcAft>
                <a:spcPct val="35000"/>
              </a:spcAft>
            </a:pPr>
            <a:r>
              <a:rPr lang="en-US" sz="1200" b="1" dirty="0" smtClean="0">
                <a:solidFill>
                  <a:prstClr val="white"/>
                </a:solidFill>
              </a:rPr>
              <a:t>Periodic Closure of Accounts</a:t>
            </a:r>
            <a:endParaRPr lang="en-IN" sz="1200" b="1" dirty="0">
              <a:solidFill>
                <a:prstClr val="white"/>
              </a:solidFill>
            </a:endParaRPr>
          </a:p>
        </p:txBody>
      </p:sp>
      <p:sp>
        <p:nvSpPr>
          <p:cNvPr id="25" name="Freeform 24"/>
          <p:cNvSpPr/>
          <p:nvPr/>
        </p:nvSpPr>
        <p:spPr>
          <a:xfrm>
            <a:off x="5499550" y="2151513"/>
            <a:ext cx="2217573" cy="2250664"/>
          </a:xfrm>
          <a:custGeom>
            <a:avLst/>
            <a:gdLst>
              <a:gd name="connsiteX0" fmla="*/ 0 w 2217573"/>
              <a:gd name="connsiteY0" fmla="*/ 0 h 2250664"/>
              <a:gd name="connsiteX1" fmla="*/ 2217573 w 2217573"/>
              <a:gd name="connsiteY1" fmla="*/ 0 h 2250664"/>
              <a:gd name="connsiteX2" fmla="*/ 2217573 w 2217573"/>
              <a:gd name="connsiteY2" fmla="*/ 2250664 h 2250664"/>
              <a:gd name="connsiteX3" fmla="*/ 0 w 2217573"/>
              <a:gd name="connsiteY3" fmla="*/ 2250664 h 2250664"/>
              <a:gd name="connsiteX4" fmla="*/ 0 w 2217573"/>
              <a:gd name="connsiteY4" fmla="*/ 0 h 2250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2250664">
                <a:moveTo>
                  <a:pt x="0" y="0"/>
                </a:moveTo>
                <a:lnTo>
                  <a:pt x="2217573" y="0"/>
                </a:lnTo>
                <a:lnTo>
                  <a:pt x="2217573" y="2250664"/>
                </a:lnTo>
                <a:lnTo>
                  <a:pt x="0" y="2250664"/>
                </a:lnTo>
                <a:lnTo>
                  <a:pt x="0" y="0"/>
                </a:lnTo>
                <a:close/>
              </a:path>
            </a:pathLst>
          </a:custGeom>
          <a:solidFill>
            <a:srgbClr val="CDE6EC"/>
          </a:solidFill>
          <a:ln>
            <a:noFill/>
          </a:ln>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44000" lvl="1" indent="-144000" defTabSz="533400">
              <a:spcBef>
                <a:spcPct val="0"/>
              </a:spcBef>
              <a:buFontTx/>
              <a:buChar char="••"/>
            </a:pPr>
            <a:r>
              <a:rPr lang="en-IN" sz="1200" dirty="0" smtClean="0">
                <a:solidFill>
                  <a:prstClr val="black">
                    <a:hueOff val="0"/>
                    <a:satOff val="0"/>
                    <a:lumOff val="0"/>
                    <a:alphaOff val="0"/>
                  </a:prstClr>
                </a:solidFill>
              </a:rPr>
              <a:t>Standardize roles, processes and formats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Ensure timely implementation of Trial balance compilation and accounting processes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Monthly reporting to internal &amp; external stakeholders</a:t>
            </a:r>
            <a:endParaRPr lang="en-IN" sz="1200" dirty="0">
              <a:solidFill>
                <a:prstClr val="black">
                  <a:hueOff val="0"/>
                  <a:satOff val="0"/>
                  <a:lumOff val="0"/>
                  <a:alphaOff val="0"/>
                </a:prstClr>
              </a:solidFill>
            </a:endParaRPr>
          </a:p>
        </p:txBody>
      </p:sp>
      <p:sp>
        <p:nvSpPr>
          <p:cNvPr id="26" name="Freeform 25"/>
          <p:cNvSpPr/>
          <p:nvPr/>
        </p:nvSpPr>
        <p:spPr>
          <a:xfrm>
            <a:off x="8027584" y="1704395"/>
            <a:ext cx="2217573" cy="447118"/>
          </a:xfrm>
          <a:custGeom>
            <a:avLst/>
            <a:gdLst>
              <a:gd name="connsiteX0" fmla="*/ 0 w 2217573"/>
              <a:gd name="connsiteY0" fmla="*/ 0 h 447118"/>
              <a:gd name="connsiteX1" fmla="*/ 2217573 w 2217573"/>
              <a:gd name="connsiteY1" fmla="*/ 0 h 447118"/>
              <a:gd name="connsiteX2" fmla="*/ 2217573 w 2217573"/>
              <a:gd name="connsiteY2" fmla="*/ 447118 h 447118"/>
              <a:gd name="connsiteX3" fmla="*/ 0 w 2217573"/>
              <a:gd name="connsiteY3" fmla="*/ 447118 h 447118"/>
              <a:gd name="connsiteX4" fmla="*/ 0 w 2217573"/>
              <a:gd name="connsiteY4" fmla="*/ 0 h 447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447118">
                <a:moveTo>
                  <a:pt x="0" y="0"/>
                </a:moveTo>
                <a:lnTo>
                  <a:pt x="2217573" y="0"/>
                </a:lnTo>
                <a:lnTo>
                  <a:pt x="2217573" y="447118"/>
                </a:lnTo>
                <a:lnTo>
                  <a:pt x="0" y="447118"/>
                </a:lnTo>
                <a:lnTo>
                  <a:pt x="0" y="0"/>
                </a:lnTo>
                <a:close/>
              </a:path>
            </a:pathLst>
          </a:custGeom>
          <a:solidFill>
            <a:srgbClr val="25B7AB"/>
          </a:solidFill>
          <a:ln>
            <a:no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algn="ctr" defTabSz="533400">
              <a:lnSpc>
                <a:spcPct val="90000"/>
              </a:lnSpc>
              <a:spcBef>
                <a:spcPct val="0"/>
              </a:spcBef>
              <a:spcAft>
                <a:spcPct val="35000"/>
              </a:spcAft>
            </a:pPr>
            <a:r>
              <a:rPr lang="en-US" sz="1200" b="1" dirty="0" smtClean="0">
                <a:solidFill>
                  <a:prstClr val="white"/>
                </a:solidFill>
              </a:rPr>
              <a:t>Fixed Asset Accounting</a:t>
            </a:r>
            <a:endParaRPr lang="en-IN" sz="1200" b="1" dirty="0">
              <a:solidFill>
                <a:prstClr val="white"/>
              </a:solidFill>
            </a:endParaRPr>
          </a:p>
        </p:txBody>
      </p:sp>
      <p:sp>
        <p:nvSpPr>
          <p:cNvPr id="27" name="Freeform 26"/>
          <p:cNvSpPr/>
          <p:nvPr/>
        </p:nvSpPr>
        <p:spPr>
          <a:xfrm>
            <a:off x="8027584" y="2151513"/>
            <a:ext cx="2217573" cy="2250664"/>
          </a:xfrm>
          <a:custGeom>
            <a:avLst/>
            <a:gdLst>
              <a:gd name="connsiteX0" fmla="*/ 0 w 2217573"/>
              <a:gd name="connsiteY0" fmla="*/ 0 h 2250664"/>
              <a:gd name="connsiteX1" fmla="*/ 2217573 w 2217573"/>
              <a:gd name="connsiteY1" fmla="*/ 0 h 2250664"/>
              <a:gd name="connsiteX2" fmla="*/ 2217573 w 2217573"/>
              <a:gd name="connsiteY2" fmla="*/ 2250664 h 2250664"/>
              <a:gd name="connsiteX3" fmla="*/ 0 w 2217573"/>
              <a:gd name="connsiteY3" fmla="*/ 2250664 h 2250664"/>
              <a:gd name="connsiteX4" fmla="*/ 0 w 2217573"/>
              <a:gd name="connsiteY4" fmla="*/ 0 h 2250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73" h="2250664">
                <a:moveTo>
                  <a:pt x="0" y="0"/>
                </a:moveTo>
                <a:lnTo>
                  <a:pt x="2217573" y="0"/>
                </a:lnTo>
                <a:lnTo>
                  <a:pt x="2217573" y="2250664"/>
                </a:lnTo>
                <a:lnTo>
                  <a:pt x="0" y="2250664"/>
                </a:lnTo>
                <a:lnTo>
                  <a:pt x="0" y="0"/>
                </a:lnTo>
                <a:close/>
              </a:path>
            </a:pathLst>
          </a:custGeom>
          <a:solidFill>
            <a:srgbClr val="D3F1EE"/>
          </a:solidFill>
          <a:ln>
            <a:noFill/>
          </a:ln>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44000" lvl="1" indent="-144000" defTabSz="533400">
              <a:spcBef>
                <a:spcPct val="0"/>
              </a:spcBef>
              <a:buFontTx/>
              <a:buChar char="••"/>
            </a:pPr>
            <a:r>
              <a:rPr lang="en-IN" sz="1200" dirty="0" smtClean="0">
                <a:solidFill>
                  <a:prstClr val="black">
                    <a:hueOff val="0"/>
                    <a:satOff val="0"/>
                    <a:lumOff val="0"/>
                    <a:alphaOff val="0"/>
                  </a:prstClr>
                </a:solidFill>
              </a:rPr>
              <a:t>Clear demarcation between capital &amp; revenue expenditure (for landed costs of assets)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RAO may be provided with depreciation accounting charges</a:t>
            </a:r>
            <a:endParaRPr lang="en-IN" sz="1200" dirty="0">
              <a:solidFill>
                <a:prstClr val="black">
                  <a:hueOff val="0"/>
                  <a:satOff val="0"/>
                  <a:lumOff val="0"/>
                  <a:alphaOff val="0"/>
                </a:prstClr>
              </a:solidFill>
            </a:endParaRPr>
          </a:p>
          <a:p>
            <a:pPr marL="144000" lvl="1" indent="-144000" defTabSz="533400">
              <a:spcBef>
                <a:spcPct val="0"/>
              </a:spcBef>
              <a:buFontTx/>
              <a:buChar char="••"/>
            </a:pPr>
            <a:r>
              <a:rPr lang="en-US" sz="1200" dirty="0" smtClean="0">
                <a:solidFill>
                  <a:prstClr val="black">
                    <a:hueOff val="0"/>
                    <a:satOff val="0"/>
                    <a:lumOff val="0"/>
                    <a:alphaOff val="0"/>
                  </a:prstClr>
                </a:solidFill>
              </a:rPr>
              <a:t>Expand existing valuation exercise for asset verification &amp; valuation</a:t>
            </a:r>
            <a:endParaRPr lang="en-IN" sz="1200" dirty="0">
              <a:solidFill>
                <a:prstClr val="black">
                  <a:hueOff val="0"/>
                  <a:satOff val="0"/>
                  <a:lumOff val="0"/>
                  <a:alphaOff val="0"/>
                </a:prstClr>
              </a:solidFill>
            </a:endParaRPr>
          </a:p>
        </p:txBody>
      </p:sp>
      <p:sp>
        <p:nvSpPr>
          <p:cNvPr id="13" name="Freeform 12"/>
          <p:cNvSpPr/>
          <p:nvPr/>
        </p:nvSpPr>
        <p:spPr>
          <a:xfrm>
            <a:off x="1531708" y="4861366"/>
            <a:ext cx="2217600" cy="446400"/>
          </a:xfrm>
          <a:custGeom>
            <a:avLst/>
            <a:gdLst>
              <a:gd name="connsiteX0" fmla="*/ 0 w 2324763"/>
              <a:gd name="connsiteY0" fmla="*/ 0 h 478557"/>
              <a:gd name="connsiteX1" fmla="*/ 2324763 w 2324763"/>
              <a:gd name="connsiteY1" fmla="*/ 0 h 478557"/>
              <a:gd name="connsiteX2" fmla="*/ 2324763 w 2324763"/>
              <a:gd name="connsiteY2" fmla="*/ 478557 h 478557"/>
              <a:gd name="connsiteX3" fmla="*/ 0 w 2324763"/>
              <a:gd name="connsiteY3" fmla="*/ 478557 h 478557"/>
              <a:gd name="connsiteX4" fmla="*/ 0 w 2324763"/>
              <a:gd name="connsiteY4" fmla="*/ 0 h 47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478557">
                <a:moveTo>
                  <a:pt x="0" y="0"/>
                </a:moveTo>
                <a:lnTo>
                  <a:pt x="2324763" y="0"/>
                </a:lnTo>
                <a:lnTo>
                  <a:pt x="2324763" y="478557"/>
                </a:lnTo>
                <a:lnTo>
                  <a:pt x="0" y="478557"/>
                </a:lnTo>
                <a:lnTo>
                  <a:pt x="0" y="0"/>
                </a:lnTo>
                <a:close/>
              </a:path>
            </a:pathLst>
          </a:custGeom>
          <a:solidFill>
            <a:srgbClr val="5BBE77"/>
          </a:solid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200" b="1" dirty="0" smtClean="0">
                <a:solidFill>
                  <a:prstClr val="white"/>
                </a:solidFill>
              </a:rPr>
              <a:t>Inventory Accounting &amp; Management System</a:t>
            </a:r>
            <a:endParaRPr lang="en-IN" sz="1200" b="1" dirty="0">
              <a:solidFill>
                <a:prstClr val="white"/>
              </a:solidFill>
            </a:endParaRPr>
          </a:p>
        </p:txBody>
      </p:sp>
      <p:sp>
        <p:nvSpPr>
          <p:cNvPr id="14" name="Freeform 13"/>
          <p:cNvSpPr/>
          <p:nvPr/>
        </p:nvSpPr>
        <p:spPr>
          <a:xfrm>
            <a:off x="1531708" y="5295699"/>
            <a:ext cx="2217600" cy="1987208"/>
          </a:xfrm>
          <a:custGeom>
            <a:avLst/>
            <a:gdLst>
              <a:gd name="connsiteX0" fmla="*/ 0 w 2324763"/>
              <a:gd name="connsiteY0" fmla="*/ 0 h 1987208"/>
              <a:gd name="connsiteX1" fmla="*/ 2324763 w 2324763"/>
              <a:gd name="connsiteY1" fmla="*/ 0 h 1987208"/>
              <a:gd name="connsiteX2" fmla="*/ 2324763 w 2324763"/>
              <a:gd name="connsiteY2" fmla="*/ 1987208 h 1987208"/>
              <a:gd name="connsiteX3" fmla="*/ 0 w 2324763"/>
              <a:gd name="connsiteY3" fmla="*/ 1987208 h 1987208"/>
              <a:gd name="connsiteX4" fmla="*/ 0 w 2324763"/>
              <a:gd name="connsiteY4" fmla="*/ 0 h 1987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1987208">
                <a:moveTo>
                  <a:pt x="0" y="0"/>
                </a:moveTo>
                <a:lnTo>
                  <a:pt x="2324763" y="0"/>
                </a:lnTo>
                <a:lnTo>
                  <a:pt x="2324763" y="1987208"/>
                </a:lnTo>
                <a:lnTo>
                  <a:pt x="0" y="1987208"/>
                </a:lnTo>
                <a:lnTo>
                  <a:pt x="0" y="0"/>
                </a:lnTo>
                <a:close/>
              </a:path>
            </a:pathLst>
          </a:custGeom>
          <a:solidFill>
            <a:srgbClr val="DEF2E4"/>
          </a:solidFill>
          <a:ln>
            <a:noFill/>
          </a:ln>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44000" lvl="1" indent="-144000" defTabSz="577850">
              <a:spcBef>
                <a:spcPct val="0"/>
              </a:spcBef>
              <a:buFontTx/>
              <a:buChar char="••"/>
            </a:pPr>
            <a:r>
              <a:rPr lang="en-US" sz="1200" dirty="0" smtClean="0">
                <a:solidFill>
                  <a:prstClr val="black">
                    <a:hueOff val="0"/>
                    <a:satOff val="0"/>
                    <a:lumOff val="0"/>
                    <a:alphaOff val="0"/>
                  </a:prstClr>
                </a:solidFill>
              </a:rPr>
              <a:t>Periodic physical asset verification exercises</a:t>
            </a:r>
            <a:endParaRPr lang="en-IN" sz="1200" dirty="0">
              <a:solidFill>
                <a:prstClr val="black">
                  <a:hueOff val="0"/>
                  <a:satOff val="0"/>
                  <a:lumOff val="0"/>
                  <a:alphaOff val="0"/>
                </a:prstClr>
              </a:solidFill>
            </a:endParaRPr>
          </a:p>
          <a:p>
            <a:pPr marL="144000" lvl="1" indent="-144000" defTabSz="577850">
              <a:spcBef>
                <a:spcPct val="0"/>
              </a:spcBef>
              <a:buFontTx/>
              <a:buChar char="••"/>
            </a:pPr>
            <a:r>
              <a:rPr lang="en-US" sz="1200" dirty="0" smtClean="0">
                <a:solidFill>
                  <a:prstClr val="black">
                    <a:hueOff val="0"/>
                    <a:satOff val="0"/>
                    <a:lumOff val="0"/>
                    <a:alphaOff val="0"/>
                  </a:prstClr>
                </a:solidFill>
              </a:rPr>
              <a:t>Linkage of stock results with procurement &amp; budgeting exercise</a:t>
            </a:r>
            <a:endParaRPr lang="en-IN" sz="1200" dirty="0">
              <a:solidFill>
                <a:prstClr val="black">
                  <a:hueOff val="0"/>
                  <a:satOff val="0"/>
                  <a:lumOff val="0"/>
                  <a:alphaOff val="0"/>
                </a:prstClr>
              </a:solidFill>
            </a:endParaRPr>
          </a:p>
        </p:txBody>
      </p:sp>
      <p:sp>
        <p:nvSpPr>
          <p:cNvPr id="15" name="Freeform 14"/>
          <p:cNvSpPr/>
          <p:nvPr/>
        </p:nvSpPr>
        <p:spPr>
          <a:xfrm>
            <a:off x="4174498" y="4847047"/>
            <a:ext cx="2217600" cy="446400"/>
          </a:xfrm>
          <a:custGeom>
            <a:avLst/>
            <a:gdLst>
              <a:gd name="connsiteX0" fmla="*/ 0 w 2324763"/>
              <a:gd name="connsiteY0" fmla="*/ 0 h 478557"/>
              <a:gd name="connsiteX1" fmla="*/ 2324763 w 2324763"/>
              <a:gd name="connsiteY1" fmla="*/ 0 h 478557"/>
              <a:gd name="connsiteX2" fmla="*/ 2324763 w 2324763"/>
              <a:gd name="connsiteY2" fmla="*/ 478557 h 478557"/>
              <a:gd name="connsiteX3" fmla="*/ 0 w 2324763"/>
              <a:gd name="connsiteY3" fmla="*/ 478557 h 478557"/>
              <a:gd name="connsiteX4" fmla="*/ 0 w 2324763"/>
              <a:gd name="connsiteY4" fmla="*/ 0 h 47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478557">
                <a:moveTo>
                  <a:pt x="0" y="0"/>
                </a:moveTo>
                <a:lnTo>
                  <a:pt x="2324763" y="0"/>
                </a:lnTo>
                <a:lnTo>
                  <a:pt x="2324763" y="478557"/>
                </a:lnTo>
                <a:lnTo>
                  <a:pt x="0" y="478557"/>
                </a:lnTo>
                <a:lnTo>
                  <a:pt x="0" y="0"/>
                </a:lnTo>
                <a:close/>
              </a:path>
            </a:pathLst>
          </a:custGeom>
          <a:solidFill>
            <a:srgbClr val="7EC44E"/>
          </a:solid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200" b="1" dirty="0" smtClean="0">
                <a:solidFill>
                  <a:prstClr val="white"/>
                </a:solidFill>
              </a:rPr>
              <a:t>Treasury Management</a:t>
            </a:r>
            <a:endParaRPr lang="en-IN" sz="1200" b="1" dirty="0">
              <a:solidFill>
                <a:prstClr val="white"/>
              </a:solidFill>
            </a:endParaRPr>
          </a:p>
        </p:txBody>
      </p:sp>
      <p:sp>
        <p:nvSpPr>
          <p:cNvPr id="16" name="Freeform 15"/>
          <p:cNvSpPr/>
          <p:nvPr/>
        </p:nvSpPr>
        <p:spPr>
          <a:xfrm>
            <a:off x="4181939" y="5295699"/>
            <a:ext cx="2217600" cy="1987208"/>
          </a:xfrm>
          <a:custGeom>
            <a:avLst/>
            <a:gdLst>
              <a:gd name="connsiteX0" fmla="*/ 0 w 2324763"/>
              <a:gd name="connsiteY0" fmla="*/ 0 h 1987208"/>
              <a:gd name="connsiteX1" fmla="*/ 2324763 w 2324763"/>
              <a:gd name="connsiteY1" fmla="*/ 0 h 1987208"/>
              <a:gd name="connsiteX2" fmla="*/ 2324763 w 2324763"/>
              <a:gd name="connsiteY2" fmla="*/ 1987208 h 1987208"/>
              <a:gd name="connsiteX3" fmla="*/ 0 w 2324763"/>
              <a:gd name="connsiteY3" fmla="*/ 1987208 h 1987208"/>
              <a:gd name="connsiteX4" fmla="*/ 0 w 2324763"/>
              <a:gd name="connsiteY4" fmla="*/ 0 h 1987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1987208">
                <a:moveTo>
                  <a:pt x="0" y="0"/>
                </a:moveTo>
                <a:lnTo>
                  <a:pt x="2324763" y="0"/>
                </a:lnTo>
                <a:lnTo>
                  <a:pt x="2324763" y="1987208"/>
                </a:lnTo>
                <a:lnTo>
                  <a:pt x="0" y="1987208"/>
                </a:lnTo>
                <a:lnTo>
                  <a:pt x="0" y="0"/>
                </a:lnTo>
                <a:close/>
              </a:path>
            </a:pathLst>
          </a:custGeom>
          <a:solidFill>
            <a:srgbClr val="DBE9D2"/>
          </a:solidFill>
          <a:ln>
            <a:noFill/>
          </a:ln>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44000" lvl="1" indent="-144000" defTabSz="577850">
              <a:spcBef>
                <a:spcPct val="0"/>
              </a:spcBef>
              <a:buFontTx/>
              <a:buChar char="••"/>
            </a:pPr>
            <a:r>
              <a:rPr lang="en-IN" sz="1200" dirty="0" smtClean="0">
                <a:solidFill>
                  <a:prstClr val="black">
                    <a:hueOff val="0"/>
                    <a:satOff val="0"/>
                    <a:lumOff val="0"/>
                    <a:alphaOff val="0"/>
                  </a:prstClr>
                </a:solidFill>
              </a:rPr>
              <a:t>Optimum utilization of loans and investments</a:t>
            </a:r>
            <a:endParaRPr lang="en-IN" sz="1200" dirty="0">
              <a:solidFill>
                <a:prstClr val="black">
                  <a:hueOff val="0"/>
                  <a:satOff val="0"/>
                  <a:lumOff val="0"/>
                  <a:alphaOff val="0"/>
                </a:prstClr>
              </a:solidFill>
            </a:endParaRPr>
          </a:p>
        </p:txBody>
      </p:sp>
      <p:sp>
        <p:nvSpPr>
          <p:cNvPr id="17" name="Freeform 16"/>
          <p:cNvSpPr/>
          <p:nvPr/>
        </p:nvSpPr>
        <p:spPr>
          <a:xfrm>
            <a:off x="6832169" y="4847047"/>
            <a:ext cx="2217600" cy="446400"/>
          </a:xfrm>
          <a:custGeom>
            <a:avLst/>
            <a:gdLst>
              <a:gd name="connsiteX0" fmla="*/ 0 w 2324763"/>
              <a:gd name="connsiteY0" fmla="*/ 0 h 478557"/>
              <a:gd name="connsiteX1" fmla="*/ 2324763 w 2324763"/>
              <a:gd name="connsiteY1" fmla="*/ 0 h 478557"/>
              <a:gd name="connsiteX2" fmla="*/ 2324763 w 2324763"/>
              <a:gd name="connsiteY2" fmla="*/ 478557 h 478557"/>
              <a:gd name="connsiteX3" fmla="*/ 0 w 2324763"/>
              <a:gd name="connsiteY3" fmla="*/ 478557 h 478557"/>
              <a:gd name="connsiteX4" fmla="*/ 0 w 2324763"/>
              <a:gd name="connsiteY4" fmla="*/ 0 h 47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478557">
                <a:moveTo>
                  <a:pt x="0" y="0"/>
                </a:moveTo>
                <a:lnTo>
                  <a:pt x="2324763" y="0"/>
                </a:lnTo>
                <a:lnTo>
                  <a:pt x="2324763" y="478557"/>
                </a:lnTo>
                <a:lnTo>
                  <a:pt x="0" y="478557"/>
                </a:lnTo>
                <a:lnTo>
                  <a:pt x="0" y="0"/>
                </a:lnTo>
                <a:close/>
              </a:path>
            </a:pathLst>
          </a:custGeom>
          <a:solidFill>
            <a:srgbClr val="98D072"/>
          </a:solidFill>
          <a:ln>
            <a:no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200" b="1" dirty="0" smtClean="0">
                <a:solidFill>
                  <a:prstClr val="white"/>
                </a:solidFill>
              </a:rPr>
              <a:t>Implementation of ERP</a:t>
            </a:r>
            <a:endParaRPr lang="en-IN" sz="1200" b="1" dirty="0">
              <a:solidFill>
                <a:prstClr val="white"/>
              </a:solidFill>
            </a:endParaRPr>
          </a:p>
        </p:txBody>
      </p:sp>
      <p:sp>
        <p:nvSpPr>
          <p:cNvPr id="18" name="Freeform 17"/>
          <p:cNvSpPr/>
          <p:nvPr/>
        </p:nvSpPr>
        <p:spPr>
          <a:xfrm>
            <a:off x="6832169" y="5295699"/>
            <a:ext cx="2217600" cy="1987208"/>
          </a:xfrm>
          <a:custGeom>
            <a:avLst/>
            <a:gdLst>
              <a:gd name="connsiteX0" fmla="*/ 0 w 2324763"/>
              <a:gd name="connsiteY0" fmla="*/ 0 h 1987208"/>
              <a:gd name="connsiteX1" fmla="*/ 2324763 w 2324763"/>
              <a:gd name="connsiteY1" fmla="*/ 0 h 1987208"/>
              <a:gd name="connsiteX2" fmla="*/ 2324763 w 2324763"/>
              <a:gd name="connsiteY2" fmla="*/ 1987208 h 1987208"/>
              <a:gd name="connsiteX3" fmla="*/ 0 w 2324763"/>
              <a:gd name="connsiteY3" fmla="*/ 1987208 h 1987208"/>
              <a:gd name="connsiteX4" fmla="*/ 0 w 2324763"/>
              <a:gd name="connsiteY4" fmla="*/ 0 h 1987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63" h="1987208">
                <a:moveTo>
                  <a:pt x="0" y="0"/>
                </a:moveTo>
                <a:lnTo>
                  <a:pt x="2324763" y="0"/>
                </a:lnTo>
                <a:lnTo>
                  <a:pt x="2324763" y="1987208"/>
                </a:lnTo>
                <a:lnTo>
                  <a:pt x="0" y="1987208"/>
                </a:lnTo>
                <a:lnTo>
                  <a:pt x="0" y="0"/>
                </a:lnTo>
                <a:close/>
              </a:path>
            </a:pathLst>
          </a:custGeom>
          <a:solidFill>
            <a:srgbClr val="E8F1E3"/>
          </a:solidFill>
          <a:ln>
            <a:noFill/>
          </a:ln>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44000" lvl="1" indent="-144000" defTabSz="577850">
              <a:spcBef>
                <a:spcPct val="0"/>
              </a:spcBef>
              <a:buFontTx/>
              <a:buChar char="••"/>
            </a:pPr>
            <a:r>
              <a:rPr lang="en-IN" sz="1200" dirty="0" smtClean="0">
                <a:solidFill>
                  <a:prstClr val="black">
                    <a:hueOff val="0"/>
                    <a:satOff val="0"/>
                    <a:lumOff val="0"/>
                    <a:alphaOff val="0"/>
                  </a:prstClr>
                </a:solidFill>
              </a:rPr>
              <a:t>Focus on data analysis compared to existing data compilation activities</a:t>
            </a:r>
            <a:endParaRPr lang="en-IN" sz="1200" dirty="0">
              <a:solidFill>
                <a:prstClr val="black">
                  <a:hueOff val="0"/>
                  <a:satOff val="0"/>
                  <a:lumOff val="0"/>
                  <a:alphaOff val="0"/>
                </a:prstClr>
              </a:solidFill>
            </a:endParaRPr>
          </a:p>
          <a:p>
            <a:pPr marL="144000" lvl="1" indent="-144000" defTabSz="577850">
              <a:spcBef>
                <a:spcPct val="0"/>
              </a:spcBef>
              <a:buFontTx/>
              <a:buChar char="••"/>
            </a:pPr>
            <a:r>
              <a:rPr lang="en-US" sz="1200" dirty="0" smtClean="0">
                <a:solidFill>
                  <a:prstClr val="black">
                    <a:hueOff val="0"/>
                    <a:satOff val="0"/>
                    <a:lumOff val="0"/>
                    <a:alphaOff val="0"/>
                  </a:prstClr>
                </a:solidFill>
              </a:rPr>
              <a:t>Elevate staff to be financial analysts</a:t>
            </a:r>
            <a:endParaRPr lang="en-IN" sz="1200" dirty="0">
              <a:solidFill>
                <a:prstClr val="black">
                  <a:hueOff val="0"/>
                  <a:satOff val="0"/>
                  <a:lumOff val="0"/>
                  <a:alphaOff val="0"/>
                </a:prstClr>
              </a:solidFill>
            </a:endParaRPr>
          </a:p>
        </p:txBody>
      </p:sp>
      <p:sp>
        <p:nvSpPr>
          <p:cNvPr id="7" name="Title 1"/>
          <p:cNvSpPr>
            <a:spLocks noGrp="1"/>
          </p:cNvSpPr>
          <p:nvPr>
            <p:ph type="title"/>
          </p:nvPr>
        </p:nvSpPr>
        <p:spPr>
          <a:xfrm>
            <a:off x="439794" y="350133"/>
            <a:ext cx="9809052" cy="763288"/>
          </a:xfrm>
        </p:spPr>
        <p:txBody>
          <a:bodyPr/>
          <a:lstStyle/>
          <a:p>
            <a:r>
              <a:rPr lang="en-US" sz="2000" b="1" dirty="0" smtClean="0"/>
              <a:t>High-level strengthening measures for Accounting &amp; Finance function of holding company</a:t>
            </a:r>
            <a:endParaRPr lang="en-IN" sz="2000" b="1" dirty="0"/>
          </a:p>
        </p:txBody>
      </p:sp>
      <p:sp>
        <p:nvSpPr>
          <p:cNvPr id="41" name="TextBox 40"/>
          <p:cNvSpPr txBox="1">
            <a:spLocks noChangeAspect="1"/>
          </p:cNvSpPr>
          <p:nvPr/>
        </p:nvSpPr>
        <p:spPr>
          <a:xfrm>
            <a:off x="241794" y="1531954"/>
            <a:ext cx="396000" cy="396000"/>
          </a:xfrm>
          <a:prstGeom prst="ellipse">
            <a:avLst/>
          </a:prstGeom>
          <a:solidFill>
            <a:srgbClr val="D2EBF7"/>
          </a:solidFill>
        </p:spPr>
        <p:txBody>
          <a:bodyPr wrap="square" lIns="0" tIns="0" rIns="0" bIns="0" rtlCol="0" anchor="ctr">
            <a:noAutofit/>
          </a:bodyPr>
          <a:lstStyle/>
          <a:p>
            <a:pPr algn="ctr">
              <a:buSzPct val="100000"/>
            </a:pPr>
            <a:r>
              <a:rPr lang="en-US" sz="1400" b="1" dirty="0" smtClean="0">
                <a:solidFill>
                  <a:srgbClr val="313131"/>
                </a:solidFill>
              </a:rPr>
              <a:t>1</a:t>
            </a:r>
            <a:endParaRPr lang="en-IN" sz="1400" b="1" dirty="0" smtClean="0">
              <a:solidFill>
                <a:srgbClr val="313131"/>
              </a:solidFill>
            </a:endParaRPr>
          </a:p>
        </p:txBody>
      </p:sp>
      <p:sp>
        <p:nvSpPr>
          <p:cNvPr id="42" name="TextBox 41"/>
          <p:cNvSpPr txBox="1">
            <a:spLocks noChangeAspect="1"/>
          </p:cNvSpPr>
          <p:nvPr/>
        </p:nvSpPr>
        <p:spPr>
          <a:xfrm>
            <a:off x="2773515" y="1531954"/>
            <a:ext cx="396000" cy="396000"/>
          </a:xfrm>
          <a:prstGeom prst="ellipse">
            <a:avLst/>
          </a:prstGeom>
          <a:solidFill>
            <a:srgbClr val="D7E8F6"/>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2</a:t>
            </a:r>
            <a:endParaRPr lang="en-IN" dirty="0"/>
          </a:p>
        </p:txBody>
      </p:sp>
      <p:sp>
        <p:nvSpPr>
          <p:cNvPr id="43" name="TextBox 42"/>
          <p:cNvSpPr txBox="1">
            <a:spLocks noChangeAspect="1"/>
          </p:cNvSpPr>
          <p:nvPr/>
        </p:nvSpPr>
        <p:spPr>
          <a:xfrm>
            <a:off x="5344320" y="1531954"/>
            <a:ext cx="396000" cy="396000"/>
          </a:xfrm>
          <a:prstGeom prst="ellipse">
            <a:avLst/>
          </a:prstGeom>
          <a:solidFill>
            <a:srgbClr val="CDE6EC"/>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3</a:t>
            </a:r>
            <a:endParaRPr lang="en-IN" dirty="0"/>
          </a:p>
        </p:txBody>
      </p:sp>
      <p:sp>
        <p:nvSpPr>
          <p:cNvPr id="44" name="TextBox 43"/>
          <p:cNvSpPr txBox="1">
            <a:spLocks noChangeAspect="1"/>
          </p:cNvSpPr>
          <p:nvPr/>
        </p:nvSpPr>
        <p:spPr>
          <a:xfrm>
            <a:off x="7872353" y="1524407"/>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4</a:t>
            </a:r>
            <a:endParaRPr lang="en-IN" dirty="0"/>
          </a:p>
        </p:txBody>
      </p:sp>
      <p:sp>
        <p:nvSpPr>
          <p:cNvPr id="45" name="TextBox 44"/>
          <p:cNvSpPr txBox="1">
            <a:spLocks noChangeAspect="1"/>
          </p:cNvSpPr>
          <p:nvPr/>
        </p:nvSpPr>
        <p:spPr>
          <a:xfrm>
            <a:off x="1326267" y="4682533"/>
            <a:ext cx="396000" cy="396000"/>
          </a:xfrm>
          <a:prstGeom prst="ellipse">
            <a:avLst/>
          </a:prstGeom>
          <a:solidFill>
            <a:srgbClr val="DEF2E4"/>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5</a:t>
            </a:r>
            <a:endParaRPr lang="en-IN" dirty="0"/>
          </a:p>
        </p:txBody>
      </p:sp>
      <p:sp>
        <p:nvSpPr>
          <p:cNvPr id="51" name="TextBox 50"/>
          <p:cNvSpPr txBox="1">
            <a:spLocks noChangeAspect="1"/>
          </p:cNvSpPr>
          <p:nvPr/>
        </p:nvSpPr>
        <p:spPr>
          <a:xfrm>
            <a:off x="3969057" y="4623129"/>
            <a:ext cx="396000" cy="396000"/>
          </a:xfrm>
          <a:prstGeom prst="ellipse">
            <a:avLst/>
          </a:prstGeom>
          <a:solidFill>
            <a:srgbClr val="DBE9D2"/>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6</a:t>
            </a:r>
            <a:endParaRPr lang="en-IN" dirty="0"/>
          </a:p>
        </p:txBody>
      </p:sp>
      <p:sp>
        <p:nvSpPr>
          <p:cNvPr id="52" name="TextBox 51"/>
          <p:cNvSpPr txBox="1">
            <a:spLocks noChangeAspect="1"/>
          </p:cNvSpPr>
          <p:nvPr/>
        </p:nvSpPr>
        <p:spPr>
          <a:xfrm>
            <a:off x="6634169" y="4626103"/>
            <a:ext cx="396000" cy="396000"/>
          </a:xfrm>
          <a:prstGeom prst="ellipse">
            <a:avLst/>
          </a:prstGeom>
          <a:solidFill>
            <a:srgbClr val="E8F1E3"/>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smtClean="0"/>
              <a:t>7</a:t>
            </a:r>
            <a:endParaRPr lang="en-IN" dirty="0"/>
          </a:p>
        </p:txBody>
      </p:sp>
      <p:cxnSp>
        <p:nvCxnSpPr>
          <p:cNvPr id="28" name="Straight Connector 27"/>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080098" y="1140893"/>
            <a:ext cx="4652789"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Accounting &amp; Finance Strengthening Measures</a:t>
            </a:r>
            <a:endParaRPr lang="en-IN" sz="1200" b="1" dirty="0" smtClean="0">
              <a:solidFill>
                <a:srgbClr val="313131"/>
              </a:solidFill>
            </a:endParaRPr>
          </a:p>
        </p:txBody>
      </p:sp>
      <p:sp>
        <p:nvSpPr>
          <p:cNvPr id="32" name="Pentagon 31">
            <a:hlinkClick r:id="rId2"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9354487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strengthening measures for HR function of holding company</a:t>
            </a:r>
            <a:endParaRPr lang="en-IN" sz="2000" b="1" dirty="0"/>
          </a:p>
        </p:txBody>
      </p:sp>
      <p:graphicFrame>
        <p:nvGraphicFramePr>
          <p:cNvPr id="33" name="Table 32"/>
          <p:cNvGraphicFramePr>
            <a:graphicFrameLocks noGrp="1"/>
          </p:cNvGraphicFramePr>
          <p:nvPr>
            <p:extLst/>
          </p:nvPr>
        </p:nvGraphicFramePr>
        <p:xfrm>
          <a:off x="2293575" y="4641344"/>
          <a:ext cx="3035110" cy="2689200"/>
        </p:xfrm>
        <a:graphic>
          <a:graphicData uri="http://schemas.openxmlformats.org/drawingml/2006/table">
            <a:tbl>
              <a:tblPr firstRow="1">
                <a:tableStyleId>{00A15C55-8517-42AA-B614-E9B94910E393}</a:tableStyleId>
              </a:tblPr>
              <a:tblGrid>
                <a:gridCol w="3035110">
                  <a:extLst>
                    <a:ext uri="{9D8B030D-6E8A-4147-A177-3AD203B41FA5}">
                      <a16:colId xmlns="" xmlns:a16="http://schemas.microsoft.com/office/drawing/2014/main" val="1908216857"/>
                    </a:ext>
                  </a:extLst>
                </a:gridCol>
              </a:tblGrid>
              <a:tr h="457200">
                <a:tc>
                  <a:txBody>
                    <a:bodyPr/>
                    <a:lstStyle/>
                    <a:p>
                      <a:pPr algn="ctr"/>
                      <a:r>
                        <a:rPr lang="en-US" sz="1200" baseline="0" dirty="0" smtClean="0"/>
                        <a:t>Group HR Management</a:t>
                      </a:r>
                      <a:endParaRPr lang="en-IN" sz="1200" dirty="0"/>
                    </a:p>
                  </a:txBody>
                  <a:tcPr anchor="ctr"/>
                </a:tc>
                <a:extLst>
                  <a:ext uri="{0D108BD9-81ED-4DB2-BD59-A6C34878D82A}">
                    <a16:rowId xmlns="" xmlns:a16="http://schemas.microsoft.com/office/drawing/2014/main" val="1873299989"/>
                  </a:ext>
                </a:extLst>
              </a:tr>
              <a:tr h="2232000">
                <a:tc>
                  <a:txBody>
                    <a:bodyPr/>
                    <a:lstStyle/>
                    <a:p>
                      <a:pPr marL="171450" indent="-171450" algn="l" defTabSz="1008400" rtl="0" eaLnBrk="1" latinLnBrk="0" hangingPunct="1">
                        <a:buFont typeface="Arial" panose="020B0604020202020204" pitchFamily="34" charset="0"/>
                        <a:buChar char="•"/>
                      </a:pPr>
                      <a:r>
                        <a:rPr lang="en-US" sz="1200" kern="1200" dirty="0" smtClean="0"/>
                        <a:t>Preparation of Group HR management Policies and coordination with subsidiaries in the matters of:</a:t>
                      </a:r>
                    </a:p>
                    <a:p>
                      <a:pPr marL="361950" lvl="1" indent="-171450" algn="l" defTabSz="1008400" rtl="0" eaLnBrk="1" latinLnBrk="0" hangingPunct="1">
                        <a:buFont typeface="Symbol" panose="05050102010706020507" pitchFamily="18" charset="2"/>
                        <a:buChar char=""/>
                      </a:pPr>
                      <a:r>
                        <a:rPr lang="en-US" sz="1200" kern="1200" baseline="0" dirty="0" smtClean="0"/>
                        <a:t>Consolidated manpower plan</a:t>
                      </a:r>
                    </a:p>
                    <a:p>
                      <a:pPr marL="361950" lvl="1" indent="-171450" algn="l" defTabSz="1008400" rtl="0" eaLnBrk="1" latinLnBrk="0" hangingPunct="1">
                        <a:buFont typeface="Symbol" panose="05050102010706020507" pitchFamily="18" charset="2"/>
                        <a:buChar char=""/>
                      </a:pPr>
                      <a:r>
                        <a:rPr lang="en-US" sz="1200" kern="1200" baseline="0" dirty="0" smtClean="0"/>
                        <a:t>Joint recruitment</a:t>
                      </a:r>
                    </a:p>
                    <a:p>
                      <a:pPr marL="361950" lvl="1" indent="-171450" algn="l" defTabSz="1008400" rtl="0" eaLnBrk="1" latinLnBrk="0" hangingPunct="1">
                        <a:buFont typeface="Symbol" panose="05050102010706020507" pitchFamily="18" charset="2"/>
                        <a:buChar char=""/>
                      </a:pPr>
                      <a:r>
                        <a:rPr lang="en-US" sz="1200" kern="1200" baseline="0" dirty="0" smtClean="0"/>
                        <a:t>Group training and development plan</a:t>
                      </a:r>
                    </a:p>
                    <a:p>
                      <a:pPr marL="361950" lvl="1" indent="-171450" algn="l" defTabSz="1008400" rtl="0" eaLnBrk="1" latinLnBrk="0" hangingPunct="1">
                        <a:buFont typeface="Symbol" panose="05050102010706020507" pitchFamily="18" charset="2"/>
                        <a:buChar char=""/>
                      </a:pPr>
                      <a:r>
                        <a:rPr lang="en-US" sz="1200" kern="1200" baseline="0" dirty="0" smtClean="0"/>
                        <a:t>Centralized training on specialized skillsets</a:t>
                      </a:r>
                    </a:p>
                    <a:p>
                      <a:pPr marL="361950" lvl="1" indent="-171450" algn="l" defTabSz="1008400" rtl="0" eaLnBrk="1" latinLnBrk="0" hangingPunct="1">
                        <a:buFont typeface="Symbol" panose="05050102010706020507" pitchFamily="18" charset="2"/>
                        <a:buChar char=""/>
                      </a:pPr>
                      <a:r>
                        <a:rPr lang="en-US" sz="1200" kern="1200" baseline="0" dirty="0" smtClean="0"/>
                        <a:t>Submission of HR-MIS reports</a:t>
                      </a:r>
                      <a:endParaRPr lang="en-IN" sz="1200" kern="1200" baseline="0" dirty="0">
                        <a:solidFill>
                          <a:schemeClr val="dk1"/>
                        </a:solidFill>
                        <a:latin typeface="+mn-lt"/>
                        <a:ea typeface="+mn-ea"/>
                        <a:cs typeface="+mn-cs"/>
                      </a:endParaRPr>
                    </a:p>
                  </a:txBody>
                  <a:tcPr/>
                </a:tc>
                <a:extLst>
                  <a:ext uri="{0D108BD9-81ED-4DB2-BD59-A6C34878D82A}">
                    <a16:rowId xmlns="" xmlns:a16="http://schemas.microsoft.com/office/drawing/2014/main" val="384864739"/>
                  </a:ext>
                </a:extLst>
              </a:tr>
            </a:tbl>
          </a:graphicData>
        </a:graphic>
      </p:graphicFrame>
      <p:graphicFrame>
        <p:nvGraphicFramePr>
          <p:cNvPr id="34" name="Table 33"/>
          <p:cNvGraphicFramePr>
            <a:graphicFrameLocks noGrp="1"/>
          </p:cNvGraphicFramePr>
          <p:nvPr>
            <p:extLst/>
          </p:nvPr>
        </p:nvGraphicFramePr>
        <p:xfrm>
          <a:off x="4023154" y="1419769"/>
          <a:ext cx="3035110" cy="2926080"/>
        </p:xfrm>
        <a:graphic>
          <a:graphicData uri="http://schemas.openxmlformats.org/drawingml/2006/table">
            <a:tbl>
              <a:tblPr firstRow="1">
                <a:tableStyleId>{00A15C55-8517-42AA-B614-E9B94910E393}</a:tableStyleId>
              </a:tblPr>
              <a:tblGrid>
                <a:gridCol w="3035110">
                  <a:extLst>
                    <a:ext uri="{9D8B030D-6E8A-4147-A177-3AD203B41FA5}">
                      <a16:colId xmlns="" xmlns:a16="http://schemas.microsoft.com/office/drawing/2014/main" val="1908216857"/>
                    </a:ext>
                  </a:extLst>
                </a:gridCol>
              </a:tblGrid>
              <a:tr h="455978">
                <a:tc>
                  <a:txBody>
                    <a:bodyPr/>
                    <a:lstStyle/>
                    <a:p>
                      <a:pPr algn="ctr"/>
                      <a:r>
                        <a:rPr lang="en-US" sz="1200" dirty="0" smtClean="0"/>
                        <a:t>Performance management system</a:t>
                      </a:r>
                      <a:r>
                        <a:rPr lang="en-US" sz="1200" baseline="0" dirty="0" smtClean="0"/>
                        <a:t> strengthening</a:t>
                      </a:r>
                      <a:r>
                        <a:rPr lang="en-US" sz="1200" dirty="0" smtClean="0"/>
                        <a:t> </a:t>
                      </a:r>
                      <a:endParaRPr lang="en-IN" sz="1200" dirty="0"/>
                    </a:p>
                  </a:txBody>
                  <a:tcPr anchor="ctr"/>
                </a:tc>
                <a:extLst>
                  <a:ext uri="{0D108BD9-81ED-4DB2-BD59-A6C34878D82A}">
                    <a16:rowId xmlns="" xmlns:a16="http://schemas.microsoft.com/office/drawing/2014/main" val="1873299989"/>
                  </a:ext>
                </a:extLst>
              </a:tr>
              <a:tr h="2462282">
                <a:tc>
                  <a:txBody>
                    <a:bodyPr/>
                    <a:lstStyle/>
                    <a:p>
                      <a:pPr marL="171450" indent="-171450">
                        <a:buFont typeface="Arial" panose="020B0604020202020204" pitchFamily="34" charset="0"/>
                        <a:buChar char="•"/>
                      </a:pPr>
                      <a:r>
                        <a:rPr lang="en-US" sz="1200" dirty="0" smtClean="0"/>
                        <a:t>Review and strengthening of existing PMS</a:t>
                      </a:r>
                      <a:r>
                        <a:rPr lang="en-US" sz="1200" baseline="0" dirty="0" smtClean="0"/>
                        <a:t> framework/processes and PMS Policy including:</a:t>
                      </a:r>
                    </a:p>
                    <a:p>
                      <a:pPr marL="361950" lvl="1" indent="-171450" algn="l" defTabSz="1008400" rtl="0" eaLnBrk="1" latinLnBrk="0" hangingPunct="1">
                        <a:buFont typeface="Symbol" panose="05050102010706020507" pitchFamily="18" charset="2"/>
                        <a:buChar char=""/>
                      </a:pPr>
                      <a:r>
                        <a:rPr lang="en-US" sz="1200" kern="1200" baseline="0" dirty="0" smtClean="0"/>
                        <a:t>KPI target / goal setting with linkage to organizational KPIs</a:t>
                      </a:r>
                    </a:p>
                    <a:p>
                      <a:pPr marL="361950" lvl="1" indent="-171450" algn="l" defTabSz="1008400" rtl="0" eaLnBrk="1" latinLnBrk="0" hangingPunct="1">
                        <a:buFont typeface="Symbol" panose="05050102010706020507" pitchFamily="18" charset="2"/>
                        <a:buChar char=""/>
                      </a:pPr>
                      <a:r>
                        <a:rPr lang="en-US" sz="1200" kern="1200" baseline="0" dirty="0" smtClean="0"/>
                        <a:t>Performance monitoring, review and feedback</a:t>
                      </a:r>
                    </a:p>
                    <a:p>
                      <a:pPr marL="361950" lvl="1" indent="-171450" algn="l" defTabSz="1008400" rtl="0" eaLnBrk="1" latinLnBrk="0" hangingPunct="1">
                        <a:buFont typeface="Symbol" panose="05050102010706020507" pitchFamily="18" charset="2"/>
                        <a:buChar char=""/>
                      </a:pPr>
                      <a:r>
                        <a:rPr lang="en-US" sz="1200" kern="1200" baseline="0" dirty="0" smtClean="0"/>
                        <a:t>Training needs identification and career development</a:t>
                      </a:r>
                    </a:p>
                    <a:p>
                      <a:pPr marL="361950" lvl="1" indent="-171450" algn="l" defTabSz="1008400" rtl="0" eaLnBrk="1" latinLnBrk="0" hangingPunct="1">
                        <a:buFont typeface="Symbol" panose="05050102010706020507" pitchFamily="18" charset="2"/>
                        <a:buChar char=""/>
                      </a:pPr>
                      <a:r>
                        <a:rPr lang="en-US" sz="1200" kern="1200" baseline="0" dirty="0" smtClean="0"/>
                        <a:t>Rewards and recognition including compensation-linkage, incentive and promotion</a:t>
                      </a:r>
                    </a:p>
                    <a:p>
                      <a:pPr marL="361950" lvl="1" indent="-171450" algn="l" defTabSz="1008400" rtl="0" eaLnBrk="1" latinLnBrk="0" hangingPunct="1">
                        <a:buFont typeface="Symbol" panose="05050102010706020507" pitchFamily="18" charset="2"/>
                        <a:buChar char=""/>
                      </a:pPr>
                      <a:r>
                        <a:rPr lang="en-US" sz="1200" kern="1200" baseline="0" dirty="0" smtClean="0"/>
                        <a:t>Succession planning</a:t>
                      </a:r>
                      <a:endParaRPr lang="en-IN" sz="1200" dirty="0"/>
                    </a:p>
                  </a:txBody>
                  <a:tcPr/>
                </a:tc>
                <a:extLst>
                  <a:ext uri="{0D108BD9-81ED-4DB2-BD59-A6C34878D82A}">
                    <a16:rowId xmlns="" xmlns:a16="http://schemas.microsoft.com/office/drawing/2014/main" val="384864739"/>
                  </a:ext>
                </a:extLst>
              </a:tr>
            </a:tbl>
          </a:graphicData>
        </a:graphic>
      </p:graphicFrame>
      <p:graphicFrame>
        <p:nvGraphicFramePr>
          <p:cNvPr id="35" name="Table 34"/>
          <p:cNvGraphicFramePr>
            <a:graphicFrameLocks noGrp="1"/>
          </p:cNvGraphicFramePr>
          <p:nvPr>
            <p:extLst/>
          </p:nvPr>
        </p:nvGraphicFramePr>
        <p:xfrm>
          <a:off x="7355348" y="1395873"/>
          <a:ext cx="3035110" cy="2949976"/>
        </p:xfrm>
        <a:graphic>
          <a:graphicData uri="http://schemas.openxmlformats.org/drawingml/2006/table">
            <a:tbl>
              <a:tblPr firstRow="1">
                <a:tableStyleId>{00A15C55-8517-42AA-B614-E9B94910E393}</a:tableStyleId>
              </a:tblPr>
              <a:tblGrid>
                <a:gridCol w="3035110">
                  <a:extLst>
                    <a:ext uri="{9D8B030D-6E8A-4147-A177-3AD203B41FA5}">
                      <a16:colId xmlns="" xmlns:a16="http://schemas.microsoft.com/office/drawing/2014/main" val="1908216857"/>
                    </a:ext>
                  </a:extLst>
                </a:gridCol>
              </a:tblGrid>
              <a:tr h="460934">
                <a:tc>
                  <a:txBody>
                    <a:bodyPr/>
                    <a:lstStyle/>
                    <a:p>
                      <a:pPr algn="ctr"/>
                      <a:r>
                        <a:rPr lang="en-US" sz="1200" dirty="0" smtClean="0"/>
                        <a:t>Training and</a:t>
                      </a:r>
                      <a:r>
                        <a:rPr lang="en-US" sz="1200" baseline="0" dirty="0" smtClean="0"/>
                        <a:t> development strengthening</a:t>
                      </a:r>
                      <a:endParaRPr lang="en-IN" sz="1200" dirty="0"/>
                    </a:p>
                  </a:txBody>
                  <a:tcPr anchor="ctr"/>
                </a:tc>
                <a:extLst>
                  <a:ext uri="{0D108BD9-81ED-4DB2-BD59-A6C34878D82A}">
                    <a16:rowId xmlns="" xmlns:a16="http://schemas.microsoft.com/office/drawing/2014/main" val="1873299989"/>
                  </a:ext>
                </a:extLst>
              </a:tr>
              <a:tr h="2489042">
                <a:tc>
                  <a:txBody>
                    <a:bodyPr/>
                    <a:lstStyle/>
                    <a:p>
                      <a:pPr marL="171450" indent="-171450" algn="l" defTabSz="1008400" rtl="0" eaLnBrk="1" latinLnBrk="0" hangingPunct="1">
                        <a:buFont typeface="Arial" panose="020B0604020202020204" pitchFamily="34" charset="0"/>
                        <a:buChar char="•"/>
                      </a:pPr>
                      <a:r>
                        <a:rPr lang="en-US" sz="1200" kern="1200" dirty="0" smtClean="0"/>
                        <a:t>Review and strengthening of existing</a:t>
                      </a:r>
                      <a:r>
                        <a:rPr lang="en-US" sz="1200" kern="1200" baseline="0" dirty="0" smtClean="0"/>
                        <a:t> training and development framework/processes and Policies including:</a:t>
                      </a:r>
                    </a:p>
                    <a:p>
                      <a:pPr marL="361950" lvl="1" indent="-171450" algn="l" defTabSz="1008400" rtl="0" eaLnBrk="1" latinLnBrk="0" hangingPunct="1">
                        <a:buFont typeface="Symbol" panose="05050102010706020507" pitchFamily="18" charset="2"/>
                        <a:buChar char=""/>
                      </a:pPr>
                      <a:r>
                        <a:rPr lang="en-US" sz="1200" kern="1200" baseline="0" dirty="0" smtClean="0"/>
                        <a:t>Skill-gap assessment / training needs assessment</a:t>
                      </a:r>
                    </a:p>
                    <a:p>
                      <a:pPr marL="361950" lvl="1" indent="-171450" algn="l" defTabSz="1008400" rtl="0" eaLnBrk="1" latinLnBrk="0" hangingPunct="1">
                        <a:buFont typeface="Symbol" panose="05050102010706020507" pitchFamily="18" charset="2"/>
                        <a:buChar char=""/>
                      </a:pPr>
                      <a:r>
                        <a:rPr lang="en-US" sz="1200" kern="1200" baseline="0" dirty="0" smtClean="0"/>
                        <a:t>Training plan development</a:t>
                      </a:r>
                    </a:p>
                    <a:p>
                      <a:pPr marL="361950" lvl="1" indent="-171450" algn="l" defTabSz="1008400" rtl="0" eaLnBrk="1" latinLnBrk="0" hangingPunct="1">
                        <a:buFont typeface="Symbol" panose="05050102010706020507" pitchFamily="18" charset="2"/>
                        <a:buChar char=""/>
                      </a:pPr>
                      <a:r>
                        <a:rPr lang="en-US" sz="1200" kern="1200" baseline="0" dirty="0" smtClean="0"/>
                        <a:t>Training calendar design</a:t>
                      </a:r>
                    </a:p>
                    <a:p>
                      <a:pPr marL="361950" lvl="1" indent="-171450" algn="l" defTabSz="1008400" rtl="0" eaLnBrk="1" latinLnBrk="0" hangingPunct="1">
                        <a:buFont typeface="Symbol" panose="05050102010706020507" pitchFamily="18" charset="2"/>
                        <a:buChar char=""/>
                      </a:pPr>
                      <a:r>
                        <a:rPr lang="en-US" sz="1200" kern="1200" baseline="0" dirty="0" smtClean="0"/>
                        <a:t>Training module development</a:t>
                      </a:r>
                    </a:p>
                    <a:p>
                      <a:pPr marL="361950" lvl="1" indent="-171450" algn="l" defTabSz="1008400" rtl="0" eaLnBrk="1" latinLnBrk="0" hangingPunct="1">
                        <a:buFont typeface="Symbol" panose="05050102010706020507" pitchFamily="18" charset="2"/>
                        <a:buChar char=""/>
                      </a:pPr>
                      <a:r>
                        <a:rPr lang="en-US" sz="1200" kern="1200" baseline="0" dirty="0" smtClean="0"/>
                        <a:t>Training delivery and evaluation</a:t>
                      </a:r>
                    </a:p>
                    <a:p>
                      <a:pPr marL="361950" lvl="1" indent="-171450" algn="l" defTabSz="1008400" rtl="0" eaLnBrk="1" latinLnBrk="0" hangingPunct="1">
                        <a:buFont typeface="Symbol" panose="05050102010706020507" pitchFamily="18" charset="2"/>
                        <a:buChar char=""/>
                      </a:pPr>
                      <a:r>
                        <a:rPr lang="en-US" sz="1200" kern="1200" baseline="0" dirty="0" smtClean="0"/>
                        <a:t>Improvement feedback</a:t>
                      </a:r>
                    </a:p>
                    <a:p>
                      <a:pPr marL="361950" lvl="1" indent="-171450" algn="l" defTabSz="1008400" rtl="0" eaLnBrk="1" latinLnBrk="0" hangingPunct="1">
                        <a:buFont typeface="Symbol" panose="05050102010706020507" pitchFamily="18" charset="2"/>
                        <a:buChar char=""/>
                      </a:pPr>
                      <a:r>
                        <a:rPr lang="en-US" sz="1200" kern="1200" baseline="0" dirty="0" smtClean="0"/>
                        <a:t>Linkage with career development</a:t>
                      </a:r>
                      <a:endParaRPr lang="en-IN" sz="1200" kern="1200" baseline="0" dirty="0">
                        <a:solidFill>
                          <a:schemeClr val="dk1"/>
                        </a:solidFill>
                        <a:latin typeface="+mn-lt"/>
                        <a:ea typeface="+mn-ea"/>
                        <a:cs typeface="+mn-cs"/>
                      </a:endParaRPr>
                    </a:p>
                  </a:txBody>
                  <a:tcPr/>
                </a:tc>
                <a:extLst>
                  <a:ext uri="{0D108BD9-81ED-4DB2-BD59-A6C34878D82A}">
                    <a16:rowId xmlns="" xmlns:a16="http://schemas.microsoft.com/office/drawing/2014/main" val="384864739"/>
                  </a:ext>
                </a:extLst>
              </a:tr>
            </a:tbl>
          </a:graphicData>
        </a:graphic>
      </p:graphicFrame>
      <p:graphicFrame>
        <p:nvGraphicFramePr>
          <p:cNvPr id="36" name="Table 35"/>
          <p:cNvGraphicFramePr>
            <a:graphicFrameLocks noGrp="1"/>
          </p:cNvGraphicFramePr>
          <p:nvPr>
            <p:extLst/>
          </p:nvPr>
        </p:nvGraphicFramePr>
        <p:xfrm>
          <a:off x="637794" y="1415234"/>
          <a:ext cx="3035110" cy="2926800"/>
        </p:xfrm>
        <a:graphic>
          <a:graphicData uri="http://schemas.openxmlformats.org/drawingml/2006/table">
            <a:tbl>
              <a:tblPr firstRow="1">
                <a:tableStyleId>{00A15C55-8517-42AA-B614-E9B94910E393}</a:tableStyleId>
              </a:tblPr>
              <a:tblGrid>
                <a:gridCol w="3035110">
                  <a:extLst>
                    <a:ext uri="{9D8B030D-6E8A-4147-A177-3AD203B41FA5}">
                      <a16:colId xmlns="" xmlns:a16="http://schemas.microsoft.com/office/drawing/2014/main" val="1908216857"/>
                    </a:ext>
                  </a:extLst>
                </a:gridCol>
              </a:tblGrid>
              <a:tr h="370840">
                <a:tc>
                  <a:txBody>
                    <a:bodyPr/>
                    <a:lstStyle/>
                    <a:p>
                      <a:pPr algn="ctr"/>
                      <a:r>
                        <a:rPr lang="en-US" sz="1200" dirty="0" smtClean="0"/>
                        <a:t>Overall employee</a:t>
                      </a:r>
                      <a:r>
                        <a:rPr lang="en-US" sz="1200" baseline="0" dirty="0" smtClean="0"/>
                        <a:t> life-cycle management strengthening</a:t>
                      </a:r>
                      <a:endParaRPr lang="en-IN" sz="1200" dirty="0"/>
                    </a:p>
                  </a:txBody>
                  <a:tcPr anchor="ctr"/>
                </a:tc>
                <a:extLst>
                  <a:ext uri="{0D108BD9-81ED-4DB2-BD59-A6C34878D82A}">
                    <a16:rowId xmlns="" xmlns:a16="http://schemas.microsoft.com/office/drawing/2014/main" val="1873299989"/>
                  </a:ext>
                </a:extLst>
              </a:tr>
              <a:tr h="2469600">
                <a:tc>
                  <a:txBody>
                    <a:bodyPr/>
                    <a:lstStyle/>
                    <a:p>
                      <a:pPr marL="171450" indent="-171450">
                        <a:buFont typeface="Arial" panose="020B0604020202020204" pitchFamily="34" charset="0"/>
                        <a:buChar char="•"/>
                      </a:pPr>
                      <a:r>
                        <a:rPr lang="en-US" sz="1200" dirty="0" smtClean="0"/>
                        <a:t>Strengthening of the overall employee life-cycle management process and associated policies covering:</a:t>
                      </a:r>
                    </a:p>
                    <a:p>
                      <a:pPr marL="361950" lvl="1" indent="-171450">
                        <a:buFont typeface="Symbol" panose="05050102010706020507" pitchFamily="18" charset="2"/>
                        <a:buChar char=""/>
                      </a:pPr>
                      <a:r>
                        <a:rPr lang="en-US" sz="1200" baseline="0" dirty="0" smtClean="0"/>
                        <a:t>Manpower planning</a:t>
                      </a:r>
                    </a:p>
                    <a:p>
                      <a:pPr marL="361950" lvl="1" indent="-171450">
                        <a:buFont typeface="Symbol" panose="05050102010706020507" pitchFamily="18" charset="2"/>
                        <a:buChar char=""/>
                      </a:pPr>
                      <a:r>
                        <a:rPr lang="en-US" sz="1200" baseline="0" dirty="0" smtClean="0"/>
                        <a:t>Recruitment and placement</a:t>
                      </a:r>
                    </a:p>
                    <a:p>
                      <a:pPr marL="361950" lvl="1" indent="-171450">
                        <a:buFont typeface="Symbol" panose="05050102010706020507" pitchFamily="18" charset="2"/>
                        <a:buChar char=""/>
                      </a:pPr>
                      <a:r>
                        <a:rPr lang="en-US" sz="1200" baseline="0" dirty="0" smtClean="0"/>
                        <a:t>Career planning</a:t>
                      </a:r>
                    </a:p>
                    <a:p>
                      <a:pPr marL="361950" lvl="1" indent="-171450">
                        <a:buFont typeface="Symbol" panose="05050102010706020507" pitchFamily="18" charset="2"/>
                        <a:buChar char=""/>
                      </a:pPr>
                      <a:r>
                        <a:rPr lang="en-US" sz="1200" baseline="0" dirty="0" smtClean="0"/>
                        <a:t>Performance management</a:t>
                      </a:r>
                    </a:p>
                    <a:p>
                      <a:pPr marL="361950" lvl="1" indent="-171450">
                        <a:buFont typeface="Symbol" panose="05050102010706020507" pitchFamily="18" charset="2"/>
                        <a:buChar char=""/>
                      </a:pPr>
                      <a:r>
                        <a:rPr lang="en-US" sz="1200" baseline="0" dirty="0" smtClean="0"/>
                        <a:t>Training and development</a:t>
                      </a:r>
                    </a:p>
                    <a:p>
                      <a:pPr marL="361950" lvl="1" indent="-171450">
                        <a:buFont typeface="Symbol" panose="05050102010706020507" pitchFamily="18" charset="2"/>
                        <a:buChar char=""/>
                      </a:pPr>
                      <a:r>
                        <a:rPr lang="en-US" sz="1200" baseline="0" dirty="0" smtClean="0"/>
                        <a:t>Transfer, promotion and exit management</a:t>
                      </a:r>
                      <a:endParaRPr lang="en-IN" sz="1200" kern="1200" dirty="0">
                        <a:solidFill>
                          <a:schemeClr val="dk1"/>
                        </a:solidFill>
                        <a:latin typeface="+mn-lt"/>
                        <a:ea typeface="+mn-ea"/>
                        <a:cs typeface="+mn-cs"/>
                      </a:endParaRPr>
                    </a:p>
                  </a:txBody>
                  <a:tcPr/>
                </a:tc>
                <a:extLst>
                  <a:ext uri="{0D108BD9-81ED-4DB2-BD59-A6C34878D82A}">
                    <a16:rowId xmlns="" xmlns:a16="http://schemas.microsoft.com/office/drawing/2014/main" val="384864739"/>
                  </a:ext>
                </a:extLst>
              </a:tr>
            </a:tbl>
          </a:graphicData>
        </a:graphic>
      </p:graphicFrame>
      <p:graphicFrame>
        <p:nvGraphicFramePr>
          <p:cNvPr id="38" name="Table 37"/>
          <p:cNvGraphicFramePr>
            <a:graphicFrameLocks noGrp="1"/>
          </p:cNvGraphicFramePr>
          <p:nvPr>
            <p:extLst/>
          </p:nvPr>
        </p:nvGraphicFramePr>
        <p:xfrm>
          <a:off x="5685850" y="4657732"/>
          <a:ext cx="3035110" cy="2689200"/>
        </p:xfrm>
        <a:graphic>
          <a:graphicData uri="http://schemas.openxmlformats.org/drawingml/2006/table">
            <a:tbl>
              <a:tblPr firstRow="1">
                <a:tableStyleId>{00A15C55-8517-42AA-B614-E9B94910E393}</a:tableStyleId>
              </a:tblPr>
              <a:tblGrid>
                <a:gridCol w="3035110">
                  <a:extLst>
                    <a:ext uri="{9D8B030D-6E8A-4147-A177-3AD203B41FA5}">
                      <a16:colId xmlns="" xmlns:a16="http://schemas.microsoft.com/office/drawing/2014/main" val="1908216857"/>
                    </a:ext>
                  </a:extLst>
                </a:gridCol>
              </a:tblGrid>
              <a:tr h="457200">
                <a:tc>
                  <a:txBody>
                    <a:bodyPr/>
                    <a:lstStyle/>
                    <a:p>
                      <a:pPr algn="ctr"/>
                      <a:r>
                        <a:rPr lang="en-US" sz="1200" dirty="0" smtClean="0"/>
                        <a:t>ICT-based</a:t>
                      </a:r>
                      <a:r>
                        <a:rPr lang="en-US" sz="1200" baseline="0" dirty="0" smtClean="0"/>
                        <a:t> HRIS implementation</a:t>
                      </a:r>
                      <a:endParaRPr lang="en-IN" sz="1200" dirty="0"/>
                    </a:p>
                  </a:txBody>
                  <a:tcPr anchor="ctr"/>
                </a:tc>
                <a:extLst>
                  <a:ext uri="{0D108BD9-81ED-4DB2-BD59-A6C34878D82A}">
                    <a16:rowId xmlns="" xmlns:a16="http://schemas.microsoft.com/office/drawing/2014/main" val="1873299989"/>
                  </a:ext>
                </a:extLst>
              </a:tr>
              <a:tr h="2232000">
                <a:tc>
                  <a:txBody>
                    <a:bodyPr/>
                    <a:lstStyle/>
                    <a:p>
                      <a:pPr marL="171450" indent="-171450" algn="l" defTabSz="1008400" rtl="0" eaLnBrk="1" latinLnBrk="0" hangingPunct="1">
                        <a:buFont typeface="Arial" panose="020B0604020202020204" pitchFamily="34" charset="0"/>
                        <a:buChar char="•"/>
                      </a:pPr>
                      <a:r>
                        <a:rPr lang="en-US" sz="1200" kern="1200" dirty="0" smtClean="0"/>
                        <a:t>Review of existing PMIS system and implementation of an ICT-based comprehensive</a:t>
                      </a:r>
                      <a:r>
                        <a:rPr lang="en-US" sz="1200" kern="1200" baseline="0" dirty="0" smtClean="0"/>
                        <a:t> HRIS solution (with ERP-linkage) covering:</a:t>
                      </a:r>
                    </a:p>
                    <a:p>
                      <a:pPr marL="361950" lvl="1" indent="-171450" algn="l" defTabSz="1008400" rtl="0" eaLnBrk="1" latinLnBrk="0" hangingPunct="1">
                        <a:buFont typeface="Symbol" panose="05050102010706020507" pitchFamily="18" charset="2"/>
                        <a:buChar char=""/>
                      </a:pPr>
                      <a:r>
                        <a:rPr lang="en-US" sz="1200" kern="1200" baseline="0" dirty="0" smtClean="0"/>
                        <a:t>Updated employee database</a:t>
                      </a:r>
                    </a:p>
                    <a:p>
                      <a:pPr marL="361950" lvl="1" indent="-171450" algn="l" defTabSz="1008400" rtl="0" eaLnBrk="1" latinLnBrk="0" hangingPunct="1">
                        <a:buFont typeface="Symbol" panose="05050102010706020507" pitchFamily="18" charset="2"/>
                        <a:buChar char=""/>
                      </a:pPr>
                      <a:r>
                        <a:rPr lang="en-US" sz="1200" kern="1200" baseline="0" dirty="0" smtClean="0"/>
                        <a:t>Recruitment</a:t>
                      </a:r>
                    </a:p>
                    <a:p>
                      <a:pPr marL="361950" lvl="1" indent="-171450" algn="l" defTabSz="1008400" rtl="0" eaLnBrk="1" latinLnBrk="0" hangingPunct="1">
                        <a:buFont typeface="Symbol" panose="05050102010706020507" pitchFamily="18" charset="2"/>
                        <a:buChar char=""/>
                      </a:pPr>
                      <a:r>
                        <a:rPr lang="en-US" sz="1200" kern="1200" baseline="0" dirty="0" smtClean="0"/>
                        <a:t>Payroll and benefits</a:t>
                      </a:r>
                    </a:p>
                    <a:p>
                      <a:pPr marL="361950" lvl="1" indent="-171450" algn="l" defTabSz="1008400" rtl="0" eaLnBrk="1" latinLnBrk="0" hangingPunct="1">
                        <a:buFont typeface="Symbol" panose="05050102010706020507" pitchFamily="18" charset="2"/>
                        <a:buChar char=""/>
                      </a:pPr>
                      <a:r>
                        <a:rPr lang="en-US" sz="1200" kern="1200" baseline="0" dirty="0" smtClean="0"/>
                        <a:t>Performance management</a:t>
                      </a:r>
                    </a:p>
                    <a:p>
                      <a:pPr marL="361950" lvl="1" indent="-171450" algn="l" defTabSz="1008400" rtl="0" eaLnBrk="1" latinLnBrk="0" hangingPunct="1">
                        <a:buFont typeface="Symbol" panose="05050102010706020507" pitchFamily="18" charset="2"/>
                        <a:buChar char=""/>
                      </a:pPr>
                      <a:r>
                        <a:rPr lang="en-US" sz="1200" kern="1200" baseline="0" dirty="0" smtClean="0"/>
                        <a:t>Employee self service</a:t>
                      </a:r>
                    </a:p>
                    <a:p>
                      <a:pPr marL="361950" lvl="1" indent="-171450" algn="l" defTabSz="1008400" rtl="0" eaLnBrk="1" latinLnBrk="0" hangingPunct="1">
                        <a:buFont typeface="Symbol" panose="05050102010706020507" pitchFamily="18" charset="2"/>
                        <a:buChar char=""/>
                      </a:pPr>
                      <a:r>
                        <a:rPr lang="en-US" sz="1200" kern="1200" baseline="0" dirty="0" smtClean="0"/>
                        <a:t>Training management</a:t>
                      </a:r>
                      <a:endParaRPr lang="en-IN" sz="1200" kern="1200" baseline="0" dirty="0">
                        <a:solidFill>
                          <a:schemeClr val="dk1"/>
                        </a:solidFill>
                        <a:latin typeface="+mn-lt"/>
                        <a:ea typeface="+mn-ea"/>
                        <a:cs typeface="+mn-cs"/>
                      </a:endParaRPr>
                    </a:p>
                  </a:txBody>
                  <a:tcPr/>
                </a:tc>
                <a:extLst>
                  <a:ext uri="{0D108BD9-81ED-4DB2-BD59-A6C34878D82A}">
                    <a16:rowId xmlns="" xmlns:a16="http://schemas.microsoft.com/office/drawing/2014/main" val="384864739"/>
                  </a:ext>
                </a:extLst>
              </a:tr>
            </a:tbl>
          </a:graphicData>
        </a:graphic>
      </p:graphicFrame>
      <p:sp>
        <p:nvSpPr>
          <p:cNvPr id="41" name="TextBox 40"/>
          <p:cNvSpPr txBox="1">
            <a:spLocks noChangeAspect="1"/>
          </p:cNvSpPr>
          <p:nvPr/>
        </p:nvSpPr>
        <p:spPr>
          <a:xfrm>
            <a:off x="439794" y="1217004"/>
            <a:ext cx="396000" cy="396000"/>
          </a:xfrm>
          <a:prstGeom prst="ellipse">
            <a:avLst/>
          </a:prstGeom>
          <a:solidFill>
            <a:srgbClr val="00B0F0"/>
          </a:solidFill>
        </p:spPr>
        <p:txBody>
          <a:bodyPr wrap="square" lIns="0" tIns="0" rIns="0" bIns="0" rtlCol="0" anchor="ctr">
            <a:noAutofit/>
          </a:bodyPr>
          <a:lstStyle/>
          <a:p>
            <a:pPr algn="ctr">
              <a:buSzPct val="100000"/>
            </a:pPr>
            <a:r>
              <a:rPr lang="en-US" sz="1400" b="1" dirty="0" smtClean="0">
                <a:solidFill>
                  <a:srgbClr val="313131"/>
                </a:solidFill>
              </a:rPr>
              <a:t>1</a:t>
            </a:r>
            <a:endParaRPr lang="en-IN" sz="1400" b="1" dirty="0" smtClean="0">
              <a:solidFill>
                <a:srgbClr val="313131"/>
              </a:solidFill>
            </a:endParaRPr>
          </a:p>
        </p:txBody>
      </p:sp>
      <p:sp>
        <p:nvSpPr>
          <p:cNvPr id="42" name="TextBox 41"/>
          <p:cNvSpPr txBox="1">
            <a:spLocks noChangeAspect="1"/>
          </p:cNvSpPr>
          <p:nvPr/>
        </p:nvSpPr>
        <p:spPr>
          <a:xfrm>
            <a:off x="3826760" y="1217004"/>
            <a:ext cx="396000" cy="396000"/>
          </a:xfrm>
          <a:prstGeom prst="ellipse">
            <a:avLst/>
          </a:prstGeom>
          <a:solidFill>
            <a:srgbClr val="00B0F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2</a:t>
            </a:r>
            <a:endParaRPr lang="en-IN" dirty="0"/>
          </a:p>
        </p:txBody>
      </p:sp>
      <p:sp>
        <p:nvSpPr>
          <p:cNvPr id="43" name="TextBox 42"/>
          <p:cNvSpPr txBox="1">
            <a:spLocks noChangeAspect="1"/>
          </p:cNvSpPr>
          <p:nvPr/>
        </p:nvSpPr>
        <p:spPr>
          <a:xfrm>
            <a:off x="7190184" y="1217004"/>
            <a:ext cx="396000" cy="396000"/>
          </a:xfrm>
          <a:prstGeom prst="ellipse">
            <a:avLst/>
          </a:prstGeom>
          <a:solidFill>
            <a:srgbClr val="00B0F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3</a:t>
            </a:r>
            <a:endParaRPr lang="en-IN" dirty="0"/>
          </a:p>
        </p:txBody>
      </p:sp>
      <p:sp>
        <p:nvSpPr>
          <p:cNvPr id="44" name="TextBox 43"/>
          <p:cNvSpPr txBox="1">
            <a:spLocks noChangeAspect="1"/>
          </p:cNvSpPr>
          <p:nvPr/>
        </p:nvSpPr>
        <p:spPr>
          <a:xfrm>
            <a:off x="2095575" y="4439529"/>
            <a:ext cx="396000" cy="396000"/>
          </a:xfrm>
          <a:prstGeom prst="ellipse">
            <a:avLst/>
          </a:prstGeom>
          <a:solidFill>
            <a:srgbClr val="00B0F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4</a:t>
            </a:r>
            <a:endParaRPr lang="en-IN" dirty="0"/>
          </a:p>
        </p:txBody>
      </p:sp>
      <p:sp>
        <p:nvSpPr>
          <p:cNvPr id="45" name="TextBox 44"/>
          <p:cNvSpPr txBox="1">
            <a:spLocks noChangeAspect="1"/>
          </p:cNvSpPr>
          <p:nvPr/>
        </p:nvSpPr>
        <p:spPr>
          <a:xfrm>
            <a:off x="5487850" y="4439529"/>
            <a:ext cx="396000" cy="396000"/>
          </a:xfrm>
          <a:prstGeom prst="ellipse">
            <a:avLst/>
          </a:prstGeom>
          <a:solidFill>
            <a:srgbClr val="00B0F0"/>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5</a:t>
            </a:r>
            <a:endParaRPr lang="en-IN" dirty="0"/>
          </a:p>
        </p:txBody>
      </p:sp>
      <p:cxnSp>
        <p:nvCxnSpPr>
          <p:cNvPr id="13" name="Straight Connector 12"/>
          <p:cNvCxnSpPr/>
          <p:nvPr/>
        </p:nvCxnSpPr>
        <p:spPr>
          <a:xfrm>
            <a:off x="439794" y="1034334"/>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17535" y="961024"/>
            <a:ext cx="3177917"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HR Strengthening Measures</a:t>
            </a:r>
            <a:endParaRPr lang="en-IN" sz="1200" b="1" dirty="0" smtClean="0">
              <a:solidFill>
                <a:srgbClr val="313131"/>
              </a:solidFill>
            </a:endParaRPr>
          </a:p>
        </p:txBody>
      </p:sp>
      <p:sp>
        <p:nvSpPr>
          <p:cNvPr id="17" name="Pentagon 16">
            <a:hlinkClick r:id="rId2"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27773921"/>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9794" y="350133"/>
            <a:ext cx="9809052" cy="763288"/>
          </a:xfrm>
        </p:spPr>
        <p:txBody>
          <a:bodyPr/>
          <a:lstStyle/>
          <a:p>
            <a:r>
              <a:rPr lang="en-US" sz="2000" b="1" dirty="0" smtClean="0"/>
              <a:t>High-level strengthening measures for IT / MIS function of Holding Company</a:t>
            </a:r>
            <a:endParaRPr lang="en-IN" sz="2000" b="1" dirty="0"/>
          </a:p>
        </p:txBody>
      </p:sp>
      <p:graphicFrame>
        <p:nvGraphicFramePr>
          <p:cNvPr id="11" name="Diagram 10"/>
          <p:cNvGraphicFramePr/>
          <p:nvPr>
            <p:extLst/>
          </p:nvPr>
        </p:nvGraphicFramePr>
        <p:xfrm>
          <a:off x="439793" y="6449961"/>
          <a:ext cx="9809051" cy="780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ectangle 11"/>
          <p:cNvSpPr/>
          <p:nvPr/>
        </p:nvSpPr>
        <p:spPr bwMode="gray">
          <a:xfrm>
            <a:off x="439794" y="1284517"/>
            <a:ext cx="4201885" cy="58782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solidFill>
                  <a:prstClr val="white"/>
                </a:solidFill>
              </a:rPr>
              <a:t>Implementation of ICT Based Solutions</a:t>
            </a:r>
            <a:endParaRPr lang="en-IN" sz="1200" b="1" dirty="0" smtClean="0">
              <a:solidFill>
                <a:prstClr val="white"/>
              </a:solidFill>
            </a:endParaRPr>
          </a:p>
        </p:txBody>
      </p:sp>
      <p:sp>
        <p:nvSpPr>
          <p:cNvPr id="13" name="Rectangle 12"/>
          <p:cNvSpPr/>
          <p:nvPr/>
        </p:nvSpPr>
        <p:spPr bwMode="gray">
          <a:xfrm>
            <a:off x="6046960" y="2351317"/>
            <a:ext cx="4201885" cy="58782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solidFill>
                  <a:prstClr val="white"/>
                </a:solidFill>
              </a:rPr>
              <a:t>DW and Business Intelligence Enabled MIS Solution</a:t>
            </a:r>
            <a:endParaRPr lang="en-IN" sz="1200" b="1" dirty="0" smtClean="0">
              <a:solidFill>
                <a:prstClr val="white"/>
              </a:solidFill>
            </a:endParaRPr>
          </a:p>
        </p:txBody>
      </p:sp>
      <p:sp>
        <p:nvSpPr>
          <p:cNvPr id="14" name="Rectangle 13"/>
          <p:cNvSpPr/>
          <p:nvPr/>
        </p:nvSpPr>
        <p:spPr bwMode="gray">
          <a:xfrm>
            <a:off x="439794" y="1937659"/>
            <a:ext cx="1854936" cy="674914"/>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solidFill>
                  <a:prstClr val="white"/>
                </a:solidFill>
              </a:rPr>
              <a:t>ERP based Solution</a:t>
            </a:r>
            <a:endParaRPr lang="en-IN" sz="1200" b="1" dirty="0" smtClean="0">
              <a:solidFill>
                <a:prstClr val="white"/>
              </a:solidFill>
            </a:endParaRPr>
          </a:p>
        </p:txBody>
      </p:sp>
      <p:sp>
        <p:nvSpPr>
          <p:cNvPr id="15" name="Rectangle 14"/>
          <p:cNvSpPr/>
          <p:nvPr/>
        </p:nvSpPr>
        <p:spPr bwMode="gray">
          <a:xfrm>
            <a:off x="2786744" y="1937659"/>
            <a:ext cx="1854936" cy="674914"/>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solidFill>
                  <a:prstClr val="white"/>
                </a:solidFill>
              </a:rPr>
              <a:t>Specialized Application</a:t>
            </a:r>
          </a:p>
          <a:p>
            <a:pPr algn="ctr">
              <a:lnSpc>
                <a:spcPct val="106000"/>
              </a:lnSpc>
              <a:buFont typeface="Wingdings 2" pitchFamily="18" charset="2"/>
              <a:buNone/>
            </a:pPr>
            <a:r>
              <a:rPr lang="en-US" sz="1200" b="1" dirty="0" smtClean="0">
                <a:solidFill>
                  <a:prstClr val="white"/>
                </a:solidFill>
              </a:rPr>
              <a:t>Solution</a:t>
            </a:r>
            <a:endParaRPr lang="en-IN" sz="1200" b="1" dirty="0" smtClean="0">
              <a:solidFill>
                <a:prstClr val="white"/>
              </a:solidFill>
            </a:endParaRPr>
          </a:p>
        </p:txBody>
      </p:sp>
      <p:sp>
        <p:nvSpPr>
          <p:cNvPr id="16" name="TextBox 15"/>
          <p:cNvSpPr txBox="1"/>
          <p:nvPr/>
        </p:nvSpPr>
        <p:spPr>
          <a:xfrm>
            <a:off x="439793" y="2785973"/>
            <a:ext cx="1854936" cy="3042747"/>
          </a:xfrm>
          <a:prstGeom prst="rect">
            <a:avLst/>
          </a:prstGeom>
          <a:noFill/>
          <a:ln>
            <a:solidFill>
              <a:schemeClr val="tx1"/>
            </a:solidFill>
          </a:ln>
        </p:spPr>
        <p:txBody>
          <a:bodyPr wrap="square" lIns="36000" tIns="36000" rIns="36000" bIns="36000" rtlCol="0">
            <a:noAutofit/>
          </a:bodyPr>
          <a:lstStyle/>
          <a:p>
            <a:pPr marL="144000" indent="-144000">
              <a:spcBef>
                <a:spcPts val="600"/>
              </a:spcBef>
              <a:buSzPct val="100000"/>
              <a:buFont typeface="Arial" panose="020B0604020202020204" pitchFamily="34" charset="0"/>
              <a:buChar char="•"/>
            </a:pPr>
            <a:r>
              <a:rPr lang="en-US" sz="1200" dirty="0" smtClean="0">
                <a:solidFill>
                  <a:srgbClr val="313131"/>
                </a:solidFill>
              </a:rPr>
              <a:t>Plant Maintenance</a:t>
            </a:r>
          </a:p>
          <a:p>
            <a:pPr marL="144000" indent="-144000">
              <a:spcBef>
                <a:spcPts val="600"/>
              </a:spcBef>
              <a:buSzPct val="100000"/>
              <a:buFont typeface="Arial" panose="020B0604020202020204" pitchFamily="34" charset="0"/>
              <a:buChar char="•"/>
            </a:pPr>
            <a:r>
              <a:rPr lang="en-US" sz="1200" dirty="0" smtClean="0">
                <a:solidFill>
                  <a:srgbClr val="313131"/>
                </a:solidFill>
              </a:rPr>
              <a:t>Finance &amp; Accounting</a:t>
            </a:r>
          </a:p>
          <a:p>
            <a:pPr marL="144000" indent="-144000">
              <a:spcBef>
                <a:spcPts val="600"/>
              </a:spcBef>
              <a:buSzPct val="100000"/>
              <a:buFont typeface="Arial" panose="020B0604020202020204" pitchFamily="34" charset="0"/>
              <a:buChar char="•"/>
            </a:pPr>
            <a:r>
              <a:rPr lang="en-US" sz="1200" dirty="0" smtClean="0">
                <a:solidFill>
                  <a:srgbClr val="313131"/>
                </a:solidFill>
              </a:rPr>
              <a:t>Project Scheduling, Monitoring &amp; Controlling</a:t>
            </a:r>
          </a:p>
          <a:p>
            <a:pPr marL="144000" indent="-144000">
              <a:spcBef>
                <a:spcPts val="600"/>
              </a:spcBef>
              <a:buSzPct val="100000"/>
              <a:buFont typeface="Arial" panose="020B0604020202020204" pitchFamily="34" charset="0"/>
              <a:buChar char="•"/>
            </a:pPr>
            <a:r>
              <a:rPr lang="en-US" sz="1200" dirty="0" smtClean="0">
                <a:solidFill>
                  <a:srgbClr val="313131"/>
                </a:solidFill>
              </a:rPr>
              <a:t>Project Closure &amp; handover to O&amp;M</a:t>
            </a:r>
          </a:p>
          <a:p>
            <a:pPr marL="144000" indent="-144000">
              <a:spcBef>
                <a:spcPts val="600"/>
              </a:spcBef>
              <a:buSzPct val="100000"/>
              <a:buFont typeface="Arial" panose="020B0604020202020204" pitchFamily="34" charset="0"/>
              <a:buChar char="•"/>
            </a:pPr>
            <a:r>
              <a:rPr lang="en-US" sz="1200" dirty="0" smtClean="0">
                <a:solidFill>
                  <a:srgbClr val="313131"/>
                </a:solidFill>
              </a:rPr>
              <a:t>Procurement &amp; Inventory Mgmt.</a:t>
            </a:r>
            <a:endParaRPr lang="en-IN" sz="1200" dirty="0" smtClean="0">
              <a:solidFill>
                <a:srgbClr val="313131"/>
              </a:solidFill>
            </a:endParaRPr>
          </a:p>
        </p:txBody>
      </p:sp>
      <p:sp>
        <p:nvSpPr>
          <p:cNvPr id="17" name="TextBox 16"/>
          <p:cNvSpPr txBox="1"/>
          <p:nvPr/>
        </p:nvSpPr>
        <p:spPr>
          <a:xfrm>
            <a:off x="2786744" y="2785973"/>
            <a:ext cx="1854936" cy="3042747"/>
          </a:xfrm>
          <a:prstGeom prst="rect">
            <a:avLst/>
          </a:prstGeom>
          <a:noFill/>
          <a:ln>
            <a:solidFill>
              <a:schemeClr val="tx1"/>
            </a:solidFill>
          </a:ln>
        </p:spPr>
        <p:txBody>
          <a:bodyPr wrap="square" lIns="36000" tIns="36000" rIns="36000" bIns="36000" rtlCol="0">
            <a:noAutofit/>
          </a:bodyPr>
          <a:lstStyle>
            <a:defPPr>
              <a:defRPr lang="en-US"/>
            </a:defPPr>
            <a:lvl1pPr marL="285750" indent="-285750">
              <a:spcBef>
                <a:spcPts val="600"/>
              </a:spcBef>
              <a:buSzPct val="100000"/>
              <a:buFont typeface="Arial" panose="020B0604020202020204" pitchFamily="34" charset="0"/>
              <a:buChar char="•"/>
              <a:defRPr sz="1400">
                <a:solidFill>
                  <a:srgbClr val="313131"/>
                </a:solidFill>
              </a:defRPr>
            </a:lvl1pPr>
          </a:lstStyle>
          <a:p>
            <a:pPr marL="144000" indent="-144000"/>
            <a:r>
              <a:rPr lang="en-US" sz="1200" dirty="0"/>
              <a:t>Plant Operations</a:t>
            </a:r>
          </a:p>
          <a:p>
            <a:pPr marL="144000" indent="-144000"/>
            <a:r>
              <a:rPr lang="en-US" sz="1200" dirty="0"/>
              <a:t>Bulk Electricity Sales Metering &amp; Billing</a:t>
            </a:r>
          </a:p>
          <a:p>
            <a:pPr marL="144000" indent="-144000"/>
            <a:r>
              <a:rPr lang="en-US" sz="1200" dirty="0"/>
              <a:t>Commercial </a:t>
            </a:r>
            <a:r>
              <a:rPr lang="en-US" sz="1200" dirty="0" smtClean="0"/>
              <a:t>Activities </a:t>
            </a:r>
            <a:r>
              <a:rPr lang="en-US" sz="1200" dirty="0"/>
              <a:t>– Distribution</a:t>
            </a:r>
          </a:p>
          <a:p>
            <a:pPr marL="144000" indent="-144000"/>
            <a:r>
              <a:rPr lang="en-US" sz="1200" dirty="0"/>
              <a:t>Planning &amp; Design</a:t>
            </a:r>
          </a:p>
          <a:p>
            <a:pPr marL="144000" indent="-144000"/>
            <a:r>
              <a:rPr lang="en-US" sz="1200" dirty="0"/>
              <a:t>Regulatory </a:t>
            </a:r>
            <a:r>
              <a:rPr lang="en-US" sz="1200" dirty="0" smtClean="0"/>
              <a:t>Affairs</a:t>
            </a:r>
          </a:p>
          <a:p>
            <a:pPr marL="144000" indent="-144000"/>
            <a:r>
              <a:rPr lang="en-US" sz="1200" dirty="0" smtClean="0"/>
              <a:t>HR Planning, Recruitment, PMS &amp; Training</a:t>
            </a:r>
            <a:endParaRPr lang="en-IN" sz="1200" dirty="0"/>
          </a:p>
        </p:txBody>
      </p:sp>
      <p:sp>
        <p:nvSpPr>
          <p:cNvPr id="18" name="TextBox 17"/>
          <p:cNvSpPr txBox="1"/>
          <p:nvPr/>
        </p:nvSpPr>
        <p:spPr>
          <a:xfrm>
            <a:off x="6046959" y="3171542"/>
            <a:ext cx="4201885" cy="1965529"/>
          </a:xfrm>
          <a:prstGeom prst="rect">
            <a:avLst/>
          </a:prstGeom>
          <a:noFill/>
          <a:ln>
            <a:solidFill>
              <a:schemeClr val="tx1"/>
            </a:solidFill>
          </a:ln>
        </p:spPr>
        <p:txBody>
          <a:bodyPr wrap="square" lIns="36000" tIns="36000" rIns="36000" bIns="36000" rtlCol="0">
            <a:spAutoFit/>
          </a:bodyPr>
          <a:lstStyle>
            <a:defPPr>
              <a:defRPr lang="en-US"/>
            </a:defPPr>
            <a:lvl1pPr marL="285750" indent="-285750">
              <a:spcBef>
                <a:spcPts val="600"/>
              </a:spcBef>
              <a:buSzPct val="100000"/>
              <a:buFont typeface="Arial" panose="020B0604020202020204" pitchFamily="34" charset="0"/>
              <a:buChar char="•"/>
              <a:defRPr sz="1400">
                <a:solidFill>
                  <a:srgbClr val="313131"/>
                </a:solidFill>
              </a:defRPr>
            </a:lvl1pPr>
          </a:lstStyle>
          <a:p>
            <a:pPr marL="144000" indent="-144000">
              <a:lnSpc>
                <a:spcPct val="150000"/>
              </a:lnSpc>
            </a:pPr>
            <a:r>
              <a:rPr lang="en-US" sz="1200" dirty="0" smtClean="0"/>
              <a:t>Generation, Distribution &amp; Subsidiary Coordination</a:t>
            </a:r>
          </a:p>
          <a:p>
            <a:pPr marL="144000" indent="-144000">
              <a:lnSpc>
                <a:spcPct val="150000"/>
              </a:lnSpc>
            </a:pPr>
            <a:r>
              <a:rPr lang="en-US" sz="1200" dirty="0" smtClean="0"/>
              <a:t>Key performance indicator reporting for business functions of holding &amp; subsidiary companies</a:t>
            </a:r>
          </a:p>
          <a:p>
            <a:pPr marL="144000" indent="-144000">
              <a:lnSpc>
                <a:spcPct val="150000"/>
              </a:lnSpc>
            </a:pPr>
            <a:r>
              <a:rPr lang="en-US" sz="1200" dirty="0" smtClean="0"/>
              <a:t>Internal reporting</a:t>
            </a:r>
          </a:p>
          <a:p>
            <a:pPr marL="144000" indent="-144000">
              <a:lnSpc>
                <a:spcPct val="150000"/>
              </a:lnSpc>
            </a:pPr>
            <a:r>
              <a:rPr lang="en-US" sz="1200" dirty="0" smtClean="0"/>
              <a:t>External Reporting (Government Agencies, Financial / Multilateral Institutions &amp; Public)</a:t>
            </a:r>
          </a:p>
        </p:txBody>
      </p:sp>
      <p:sp>
        <p:nvSpPr>
          <p:cNvPr id="19" name="Isosceles Triangle 18"/>
          <p:cNvSpPr/>
          <p:nvPr/>
        </p:nvSpPr>
        <p:spPr bwMode="gray">
          <a:xfrm rot="5400000">
            <a:off x="3156791" y="3261419"/>
            <a:ext cx="4419689" cy="465887"/>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cxnSp>
        <p:nvCxnSpPr>
          <p:cNvPr id="20" name="Straight Connector 19"/>
          <p:cNvCxnSpPr/>
          <p:nvPr/>
        </p:nvCxnSpPr>
        <p:spPr>
          <a:xfrm>
            <a:off x="439793" y="1126588"/>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080098" y="1054064"/>
            <a:ext cx="4652789" cy="180000"/>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ICT / MIS Framework of Holding Company</a:t>
            </a:r>
            <a:endParaRPr lang="en-IN" sz="1200" b="1" dirty="0" smtClean="0">
              <a:solidFill>
                <a:srgbClr val="313131"/>
              </a:solidFill>
            </a:endParaRPr>
          </a:p>
        </p:txBody>
      </p:sp>
      <p:cxnSp>
        <p:nvCxnSpPr>
          <p:cNvPr id="22" name="Straight Connector 21"/>
          <p:cNvCxnSpPr/>
          <p:nvPr/>
        </p:nvCxnSpPr>
        <p:spPr>
          <a:xfrm>
            <a:off x="509472" y="610591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149777" y="6033389"/>
            <a:ext cx="4652789" cy="184666"/>
          </a:xfrm>
          <a:prstGeom prst="rect">
            <a:avLst/>
          </a:prstGeom>
          <a:solidFill>
            <a:schemeClr val="bg1"/>
          </a:solidFill>
        </p:spPr>
        <p:txBody>
          <a:bodyPr wrap="square" lIns="0" tIns="0" rIns="0" bIns="0" rtlCol="0">
            <a:spAutoFit/>
          </a:bodyPr>
          <a:lstStyle/>
          <a:p>
            <a:pPr algn="ctr">
              <a:buSzPct val="100000"/>
            </a:pPr>
            <a:r>
              <a:rPr lang="en-US" sz="1200" b="1" dirty="0" smtClean="0">
                <a:solidFill>
                  <a:srgbClr val="313131"/>
                </a:solidFill>
              </a:rPr>
              <a:t>High Level MIS Information Flow Process</a:t>
            </a:r>
            <a:endParaRPr lang="en-IN" sz="1200" b="1" dirty="0" smtClean="0">
              <a:solidFill>
                <a:srgbClr val="313131"/>
              </a:solidFill>
            </a:endParaRPr>
          </a:p>
        </p:txBody>
      </p:sp>
      <p:sp>
        <p:nvSpPr>
          <p:cNvPr id="26" name="Pentagon 25">
            <a:hlinkClick r:id="rId7" action="ppaction://hlinksldjump"/>
          </p:cNvPr>
          <p:cNvSpPr/>
          <p:nvPr/>
        </p:nvSpPr>
        <p:spPr bwMode="gray">
          <a:xfrm flipH="1">
            <a:off x="9798063" y="729638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079516769"/>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4800" dirty="0">
                <a:solidFill>
                  <a:prstClr val="black"/>
                </a:solidFill>
              </a:rPr>
              <a:t>8</a:t>
            </a:r>
            <a:r>
              <a:rPr lang="en-US" sz="4800" dirty="0" smtClean="0">
                <a:solidFill>
                  <a:prstClr val="black"/>
                </a:solidFill>
              </a:rPr>
              <a:t>. Proposed High Level Implementation Plan</a:t>
            </a:r>
            <a:endParaRPr lang="en-US" sz="4800" dirty="0">
              <a:solidFill>
                <a:prstClr val="black"/>
              </a:solidFill>
            </a:endParaRPr>
          </a:p>
        </p:txBody>
      </p:sp>
    </p:spTree>
    <p:extLst>
      <p:ext uri="{BB962C8B-B14F-4D97-AF65-F5344CB8AC3E}">
        <p14:creationId xmlns:p14="http://schemas.microsoft.com/office/powerpoint/2010/main" val="1210113117"/>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Industry structure and formation of holding company</a:t>
            </a:r>
            <a:endParaRPr lang="en-IN" sz="2000" b="1" dirty="0"/>
          </a:p>
        </p:txBody>
      </p:sp>
      <p:graphicFrame>
        <p:nvGraphicFramePr>
          <p:cNvPr id="6" name="Diagram 5"/>
          <p:cNvGraphicFramePr/>
          <p:nvPr>
            <p:extLst/>
          </p:nvPr>
        </p:nvGraphicFramePr>
        <p:xfrm>
          <a:off x="439794" y="1474929"/>
          <a:ext cx="9809052" cy="4054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Pentagon 4">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792657005"/>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Board arrangement of holding company</a:t>
            </a:r>
            <a:endParaRPr lang="en-IN" sz="2000" b="1" dirty="0"/>
          </a:p>
        </p:txBody>
      </p:sp>
      <p:graphicFrame>
        <p:nvGraphicFramePr>
          <p:cNvPr id="4" name="Diagram 3"/>
          <p:cNvGraphicFramePr/>
          <p:nvPr>
            <p:extLst/>
          </p:nvPr>
        </p:nvGraphicFramePr>
        <p:xfrm>
          <a:off x="439794" y="1913861"/>
          <a:ext cx="9809052" cy="32960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3300205"/>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a:t>
            </a:r>
            <a:r>
              <a:rPr lang="en-US" sz="2000" b="1" dirty="0"/>
              <a:t>– </a:t>
            </a:r>
            <a:r>
              <a:rPr lang="en-US" sz="2000" b="1" dirty="0" smtClean="0"/>
              <a:t>Coordination </a:t>
            </a:r>
            <a:r>
              <a:rPr lang="en-US" sz="2000" b="1" dirty="0"/>
              <a:t>arrangement for the reform </a:t>
            </a:r>
            <a:r>
              <a:rPr lang="en-US" sz="2000" b="1" dirty="0" smtClean="0"/>
              <a:t>activities</a:t>
            </a:r>
            <a:endParaRPr lang="en-IN" sz="2000" b="1" dirty="0"/>
          </a:p>
        </p:txBody>
      </p:sp>
      <p:graphicFrame>
        <p:nvGraphicFramePr>
          <p:cNvPr id="5" name="Diagram 4"/>
          <p:cNvGraphicFramePr/>
          <p:nvPr>
            <p:extLst/>
          </p:nvPr>
        </p:nvGraphicFramePr>
        <p:xfrm>
          <a:off x="439794" y="1924493"/>
          <a:ext cx="9809052" cy="3530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0649674"/>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a:t>
            </a:r>
            <a:r>
              <a:rPr lang="en-US" sz="2000" b="1" dirty="0"/>
              <a:t>– </a:t>
            </a:r>
            <a:r>
              <a:rPr lang="en-US" sz="2000" b="1" dirty="0" smtClean="0"/>
              <a:t>Commercial </a:t>
            </a:r>
            <a:r>
              <a:rPr lang="en-US" sz="2000" b="1" dirty="0"/>
              <a:t>arrangement of the holding company</a:t>
            </a:r>
            <a:endParaRPr lang="en-IN" sz="2000" b="1" dirty="0"/>
          </a:p>
        </p:txBody>
      </p:sp>
      <p:graphicFrame>
        <p:nvGraphicFramePr>
          <p:cNvPr id="6" name="Diagram 5"/>
          <p:cNvGraphicFramePr/>
          <p:nvPr>
            <p:extLst/>
          </p:nvPr>
        </p:nvGraphicFramePr>
        <p:xfrm>
          <a:off x="439794" y="2578852"/>
          <a:ext cx="9809052" cy="24397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Pentagon 4">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162108825"/>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Business </a:t>
            </a:r>
            <a:r>
              <a:rPr lang="en-US" sz="2000" b="1" dirty="0"/>
              <a:t>process optimization and capacity building of the holding company</a:t>
            </a:r>
            <a:endParaRPr lang="en-IN" sz="2000" b="1" dirty="0"/>
          </a:p>
        </p:txBody>
      </p:sp>
      <p:graphicFrame>
        <p:nvGraphicFramePr>
          <p:cNvPr id="4" name="Diagram 3"/>
          <p:cNvGraphicFramePr/>
          <p:nvPr>
            <p:extLst/>
          </p:nvPr>
        </p:nvGraphicFramePr>
        <p:xfrm>
          <a:off x="2394255" y="1265274"/>
          <a:ext cx="5900130" cy="5146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251125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Board </a:t>
            </a:r>
            <a:r>
              <a:rPr lang="en-US" sz="2000" b="1" dirty="0"/>
              <a:t>governance strengthening</a:t>
            </a:r>
            <a:endParaRPr lang="en-IN" sz="2000" b="1" dirty="0"/>
          </a:p>
        </p:txBody>
      </p:sp>
      <p:graphicFrame>
        <p:nvGraphicFramePr>
          <p:cNvPr id="5" name="Diagram 4"/>
          <p:cNvGraphicFramePr/>
          <p:nvPr>
            <p:extLst/>
          </p:nvPr>
        </p:nvGraphicFramePr>
        <p:xfrm>
          <a:off x="1855655" y="1921560"/>
          <a:ext cx="6977329" cy="2958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523755888"/>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Human </a:t>
            </a:r>
            <a:r>
              <a:rPr lang="en-US" sz="2000" b="1" dirty="0"/>
              <a:t>resources management</a:t>
            </a:r>
            <a:endParaRPr lang="en-IN" sz="2000" b="1" dirty="0"/>
          </a:p>
        </p:txBody>
      </p:sp>
      <p:graphicFrame>
        <p:nvGraphicFramePr>
          <p:cNvPr id="4" name="Diagram 3"/>
          <p:cNvGraphicFramePr/>
          <p:nvPr>
            <p:extLst/>
          </p:nvPr>
        </p:nvGraphicFramePr>
        <p:xfrm>
          <a:off x="439794" y="999460"/>
          <a:ext cx="9809052" cy="6049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10292388" y="6931144"/>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242082045"/>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a:t>
            </a:r>
            <a:r>
              <a:rPr lang="en-US" sz="2000" b="1" dirty="0"/>
              <a:t>– </a:t>
            </a:r>
            <a:r>
              <a:rPr lang="en-US" sz="2000" b="1" dirty="0" smtClean="0"/>
              <a:t>Financial </a:t>
            </a:r>
            <a:r>
              <a:rPr lang="en-US" sz="2000" b="1" dirty="0"/>
              <a:t>management</a:t>
            </a:r>
            <a:endParaRPr lang="en-IN" sz="2000" b="1" dirty="0"/>
          </a:p>
        </p:txBody>
      </p:sp>
      <p:graphicFrame>
        <p:nvGraphicFramePr>
          <p:cNvPr id="5" name="Diagram 4"/>
          <p:cNvGraphicFramePr/>
          <p:nvPr>
            <p:extLst/>
          </p:nvPr>
        </p:nvGraphicFramePr>
        <p:xfrm>
          <a:off x="439794" y="1010094"/>
          <a:ext cx="9809051" cy="59648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54653683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Corporate </a:t>
            </a:r>
            <a:r>
              <a:rPr lang="en-US" sz="2000" b="1" dirty="0"/>
              <a:t>planning and strategy, System planning</a:t>
            </a:r>
            <a:endParaRPr lang="en-IN" sz="2000" b="1" dirty="0"/>
          </a:p>
        </p:txBody>
      </p:sp>
      <p:graphicFrame>
        <p:nvGraphicFramePr>
          <p:cNvPr id="4" name="Diagram 3"/>
          <p:cNvGraphicFramePr/>
          <p:nvPr>
            <p:extLst/>
          </p:nvPr>
        </p:nvGraphicFramePr>
        <p:xfrm>
          <a:off x="439794" y="2190307"/>
          <a:ext cx="9809052" cy="31578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541756218"/>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Project </a:t>
            </a:r>
            <a:r>
              <a:rPr lang="en-US" sz="2000" b="1" dirty="0"/>
              <a:t>planning and management</a:t>
            </a:r>
            <a:endParaRPr lang="en-IN" sz="2000" b="1" dirty="0"/>
          </a:p>
        </p:txBody>
      </p:sp>
      <p:graphicFrame>
        <p:nvGraphicFramePr>
          <p:cNvPr id="5" name="Diagram 4"/>
          <p:cNvGraphicFramePr/>
          <p:nvPr>
            <p:extLst/>
          </p:nvPr>
        </p:nvGraphicFramePr>
        <p:xfrm>
          <a:off x="439794" y="1584252"/>
          <a:ext cx="9809052" cy="46889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440836444"/>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Procurement </a:t>
            </a:r>
            <a:r>
              <a:rPr lang="en-US" sz="2000" b="1" dirty="0"/>
              <a:t>and inventory management</a:t>
            </a:r>
            <a:endParaRPr lang="en-IN" sz="2000" b="1" dirty="0"/>
          </a:p>
        </p:txBody>
      </p:sp>
      <p:graphicFrame>
        <p:nvGraphicFramePr>
          <p:cNvPr id="4" name="Diagram 3"/>
          <p:cNvGraphicFramePr/>
          <p:nvPr>
            <p:extLst/>
          </p:nvPr>
        </p:nvGraphicFramePr>
        <p:xfrm>
          <a:off x="439794" y="1940794"/>
          <a:ext cx="9809052" cy="4077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044393302"/>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Regulatory </a:t>
            </a:r>
            <a:r>
              <a:rPr lang="en-US" sz="2000" b="1" dirty="0"/>
              <a:t>and commercial affairs, and single-buyer activities</a:t>
            </a:r>
            <a:endParaRPr lang="en-IN" sz="2000" b="1" dirty="0"/>
          </a:p>
        </p:txBody>
      </p:sp>
      <p:graphicFrame>
        <p:nvGraphicFramePr>
          <p:cNvPr id="5" name="Diagram 4"/>
          <p:cNvGraphicFramePr/>
          <p:nvPr>
            <p:extLst/>
          </p:nvPr>
        </p:nvGraphicFramePr>
        <p:xfrm>
          <a:off x="439794" y="1991462"/>
          <a:ext cx="9809052" cy="3686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685843807"/>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ICT </a:t>
            </a:r>
            <a:r>
              <a:rPr lang="en-US" sz="2000" b="1" dirty="0"/>
              <a:t>strategy and implementation</a:t>
            </a:r>
            <a:endParaRPr lang="en-IN" sz="2000" b="1" dirty="0"/>
          </a:p>
        </p:txBody>
      </p:sp>
      <p:graphicFrame>
        <p:nvGraphicFramePr>
          <p:cNvPr id="4" name="Diagram 3"/>
          <p:cNvGraphicFramePr/>
          <p:nvPr>
            <p:extLst/>
          </p:nvPr>
        </p:nvGraphicFramePr>
        <p:xfrm>
          <a:off x="439793" y="1233377"/>
          <a:ext cx="9809053" cy="559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830158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Generation strengthening and Power </a:t>
            </a:r>
            <a:r>
              <a:rPr lang="en-US" sz="2000" b="1" dirty="0"/>
              <a:t>plant asset </a:t>
            </a:r>
            <a:r>
              <a:rPr lang="en-US" sz="2000" b="1" dirty="0" smtClean="0"/>
              <a:t>management</a:t>
            </a:r>
            <a:endParaRPr lang="en-IN" sz="2000" b="1" dirty="0"/>
          </a:p>
        </p:txBody>
      </p:sp>
      <p:graphicFrame>
        <p:nvGraphicFramePr>
          <p:cNvPr id="5" name="Diagram 4"/>
          <p:cNvGraphicFramePr/>
          <p:nvPr>
            <p:extLst/>
          </p:nvPr>
        </p:nvGraphicFramePr>
        <p:xfrm>
          <a:off x="439794" y="1350335"/>
          <a:ext cx="9809052" cy="5773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22660998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Distribution strengthening</a:t>
            </a:r>
            <a:endParaRPr lang="en-IN" sz="2000" b="1" dirty="0"/>
          </a:p>
        </p:txBody>
      </p:sp>
      <p:graphicFrame>
        <p:nvGraphicFramePr>
          <p:cNvPr id="4" name="Diagram 3"/>
          <p:cNvGraphicFramePr/>
          <p:nvPr>
            <p:extLst/>
          </p:nvPr>
        </p:nvGraphicFramePr>
        <p:xfrm>
          <a:off x="439794" y="1010093"/>
          <a:ext cx="9809052" cy="5869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2500356"/>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Performance </a:t>
            </a:r>
            <a:r>
              <a:rPr lang="en-US" sz="2000" b="1" dirty="0"/>
              <a:t>monitoring, review and management</a:t>
            </a:r>
            <a:endParaRPr lang="en-IN" sz="2000" b="1" dirty="0"/>
          </a:p>
        </p:txBody>
      </p:sp>
      <p:graphicFrame>
        <p:nvGraphicFramePr>
          <p:cNvPr id="3" name="Diagram 2"/>
          <p:cNvGraphicFramePr/>
          <p:nvPr>
            <p:extLst/>
          </p:nvPr>
        </p:nvGraphicFramePr>
        <p:xfrm>
          <a:off x="439794" y="1573619"/>
          <a:ext cx="9809052" cy="4699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Pentagon 4">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161856317"/>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Risk </a:t>
            </a:r>
            <a:r>
              <a:rPr lang="en-US" sz="2000" b="1" dirty="0"/>
              <a:t>management</a:t>
            </a:r>
            <a:endParaRPr lang="en-IN" sz="2000" b="1" dirty="0"/>
          </a:p>
        </p:txBody>
      </p:sp>
      <p:graphicFrame>
        <p:nvGraphicFramePr>
          <p:cNvPr id="4" name="Diagram 3"/>
          <p:cNvGraphicFramePr/>
          <p:nvPr>
            <p:extLst/>
          </p:nvPr>
        </p:nvGraphicFramePr>
        <p:xfrm>
          <a:off x="439795" y="2126762"/>
          <a:ext cx="9809051" cy="2944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120784772"/>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implementation plan – Communication </a:t>
            </a:r>
            <a:r>
              <a:rPr lang="en-US" sz="2000" b="1" dirty="0"/>
              <a:t>strategy</a:t>
            </a:r>
            <a:endParaRPr lang="en-IN" sz="2000" b="1" dirty="0"/>
          </a:p>
        </p:txBody>
      </p:sp>
      <p:graphicFrame>
        <p:nvGraphicFramePr>
          <p:cNvPr id="5" name="Diagram 4"/>
          <p:cNvGraphicFramePr/>
          <p:nvPr>
            <p:extLst/>
          </p:nvPr>
        </p:nvGraphicFramePr>
        <p:xfrm>
          <a:off x="2041451" y="1960133"/>
          <a:ext cx="6882496" cy="359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entagon 5">
            <a:hlinkClick r:id="rId7"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718689382"/>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implementation plan (1/6)</a:t>
            </a:r>
            <a:endParaRPr lang="en-IN" sz="2000" b="1" dirty="0"/>
          </a:p>
        </p:txBody>
      </p:sp>
      <p:graphicFrame>
        <p:nvGraphicFramePr>
          <p:cNvPr id="3" name="Table 2"/>
          <p:cNvGraphicFramePr>
            <a:graphicFrameLocks noGrp="1"/>
          </p:cNvGraphicFramePr>
          <p:nvPr>
            <p:extLst/>
          </p:nvPr>
        </p:nvGraphicFramePr>
        <p:xfrm>
          <a:off x="439800" y="925050"/>
          <a:ext cx="9809048" cy="6220028"/>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65884">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65884">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365884">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 </a:t>
                      </a:r>
                      <a:r>
                        <a:rPr lang="en-US" sz="1200" b="1" kern="1200" dirty="0" smtClean="0">
                          <a:solidFill>
                            <a:schemeClr val="tx1"/>
                          </a:solidFill>
                          <a:effectLst/>
                          <a:latin typeface="+mn-lt"/>
                          <a:ea typeface="Times" panose="02020603050405020304" pitchFamily="18" charset="0"/>
                          <a:cs typeface="Calibri" panose="020F0502020204030204" pitchFamily="34" charset="0"/>
                        </a:rPr>
                        <a:t>1</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Industry structure and formation of holding company</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77169577"/>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Finalization of industry structure and amendment of legal framework</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87919624"/>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Formation of holding company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563056642"/>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Preparation of transfer scheme</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61230816"/>
                  </a:ext>
                </a:extLst>
              </a:tr>
              <a:tr h="365884">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 </a:t>
                      </a:r>
                      <a:r>
                        <a:rPr lang="en-US" sz="1200" b="1" kern="1200" dirty="0" smtClean="0">
                          <a:solidFill>
                            <a:schemeClr val="tx1"/>
                          </a:solidFill>
                          <a:effectLst/>
                          <a:latin typeface="+mn-lt"/>
                          <a:ea typeface="Times" panose="02020603050405020304" pitchFamily="18" charset="0"/>
                          <a:cs typeface="Calibri" panose="020F0502020204030204" pitchFamily="34" charset="0"/>
                        </a:rPr>
                        <a:t>2</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Board arrangement of holding company</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29955123"/>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Appointment of Board of Directors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01772217"/>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Appointment of Company Secretary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23874741"/>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Formation of Board Committees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42818050"/>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b="1" kern="1200" dirty="0" smtClean="0">
                          <a:solidFill>
                            <a:schemeClr val="tx1"/>
                          </a:solidFill>
                          <a:effectLst/>
                          <a:latin typeface="+mn-lt"/>
                          <a:ea typeface="Times" panose="02020603050405020304" pitchFamily="18" charset="0"/>
                          <a:cs typeface="Calibri" panose="020F0502020204030204" pitchFamily="34" charset="0"/>
                        </a:rPr>
                        <a:t>3</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Coordination arrangement for the reform 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531708448"/>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Formation of work groups for reform implementation</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94542548"/>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Establishment of monitoring framework for reform implementation</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46462371"/>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Coordination arrangements between holding company and stakeholders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638699622"/>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b="1" kern="1200" dirty="0" smtClean="0">
                          <a:solidFill>
                            <a:schemeClr val="tx1"/>
                          </a:solidFill>
                          <a:effectLst/>
                          <a:latin typeface="+mn-lt"/>
                          <a:ea typeface="Times" panose="02020603050405020304" pitchFamily="18" charset="0"/>
                          <a:cs typeface="Calibri" panose="020F0502020204030204" pitchFamily="34" charset="0"/>
                        </a:rPr>
                        <a:t>4</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Commercial arrangement of the holding company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25352030"/>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Assignment of PPAs and other contracts from BPDB to holding company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16923049"/>
                  </a:ext>
                </a:extLst>
              </a:tr>
              <a:tr h="365884">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Licensing of the holding company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07310694"/>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69042001"/>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a:t>
            </a:r>
            <a:r>
              <a:rPr lang="en-US" sz="2000" b="1" dirty="0"/>
              <a:t>implementation plan </a:t>
            </a:r>
            <a:r>
              <a:rPr lang="en-US" sz="2000" b="1" dirty="0" smtClean="0"/>
              <a:t>(2/6</a:t>
            </a:r>
            <a:r>
              <a:rPr lang="en-US" sz="2000" b="1" dirty="0"/>
              <a:t>)</a:t>
            </a:r>
            <a:endParaRPr lang="en-IN" sz="2000" b="1" dirty="0"/>
          </a:p>
        </p:txBody>
      </p:sp>
      <p:graphicFrame>
        <p:nvGraphicFramePr>
          <p:cNvPr id="3" name="Table 2"/>
          <p:cNvGraphicFramePr>
            <a:graphicFrameLocks noGrp="1"/>
          </p:cNvGraphicFramePr>
          <p:nvPr>
            <p:extLst/>
          </p:nvPr>
        </p:nvGraphicFramePr>
        <p:xfrm>
          <a:off x="439800" y="925048"/>
          <a:ext cx="9809048" cy="5747951"/>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29609">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29609">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b="1" kern="1200" dirty="0" smtClean="0">
                          <a:solidFill>
                            <a:schemeClr val="tx1"/>
                          </a:solidFill>
                          <a:effectLst/>
                          <a:latin typeface="+mn-lt"/>
                          <a:ea typeface="Times" panose="02020603050405020304" pitchFamily="18" charset="0"/>
                          <a:cs typeface="Calibri" panose="020F0502020204030204" pitchFamily="34" charset="0"/>
                        </a:rPr>
                        <a:t>5</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Business process optimization and capacity building of the holding company</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xmlns="" val="3468550947"/>
                  </a:ext>
                </a:extLst>
              </a:tr>
              <a:tr h="391441">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5.1</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Board governance strengthening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54138411"/>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Improving Board functioning autonomy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488828"/>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Formulating board performance review mechanism</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21471449"/>
                  </a:ext>
                </a:extLst>
              </a:tr>
              <a:tr h="391441">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5.2</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Human resources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35927719"/>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HR aspects and governance-related issues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82769287"/>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HR Management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84150542"/>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Performance management system and succession plan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59142065"/>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(iv)</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Training and development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26371126"/>
                  </a:ext>
                </a:extLst>
              </a:tr>
              <a:tr h="391441">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5.3</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Financial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xmlns="" val="494984231"/>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Financial management capacity and internal control enhancement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17826337"/>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Fixed asset accounting, Inventory accounting, Funds &amp; treasury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86481401"/>
                  </a:ext>
                </a:extLst>
              </a:tr>
              <a:tr h="3914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Integrated accounting system and financial reporting alignment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xmlns="" val="1401642712"/>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40982614"/>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a:t>
            </a:r>
            <a:r>
              <a:rPr lang="en-US" sz="2000" b="1" dirty="0"/>
              <a:t>implementation plan </a:t>
            </a:r>
            <a:r>
              <a:rPr lang="en-US" sz="2000" b="1" dirty="0" smtClean="0"/>
              <a:t>(3/6</a:t>
            </a:r>
            <a:r>
              <a:rPr lang="en-US" sz="2000" b="1" dirty="0"/>
              <a:t>)</a:t>
            </a:r>
            <a:endParaRPr lang="en-IN" sz="2000" b="1" dirty="0"/>
          </a:p>
        </p:txBody>
      </p:sp>
      <p:graphicFrame>
        <p:nvGraphicFramePr>
          <p:cNvPr id="3" name="Table 2"/>
          <p:cNvGraphicFramePr>
            <a:graphicFrameLocks noGrp="1"/>
          </p:cNvGraphicFramePr>
          <p:nvPr>
            <p:extLst/>
          </p:nvPr>
        </p:nvGraphicFramePr>
        <p:xfrm>
          <a:off x="439800" y="925046"/>
          <a:ext cx="9809048" cy="5369430"/>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74493">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74493">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437757">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5.4</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Corporate planning and strategy, System planning</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99889402"/>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Corporate planning and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17727125"/>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System planning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0529038"/>
                  </a:ext>
                </a:extLst>
              </a:tr>
              <a:tr h="437757">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Integrated planning with transmission and distribution coordination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54602741"/>
                  </a:ext>
                </a:extLst>
              </a:tr>
              <a:tr h="374493">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5.5</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Project planning and management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49053953"/>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Project conception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65037760"/>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Project planning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23180236"/>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Project monitoring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91771379"/>
                  </a:ext>
                </a:extLst>
              </a:tr>
              <a:tr h="374493">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5.6</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Procurement and inventory management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73689430"/>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Procurement process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67279755"/>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Material management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00263309"/>
                  </a:ext>
                </a:extLst>
              </a:tr>
              <a:tr h="374493">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Contract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285270204"/>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447591944"/>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a:t>
            </a:r>
            <a:r>
              <a:rPr lang="en-US" sz="2000" b="1" dirty="0"/>
              <a:t>implementation plan </a:t>
            </a:r>
            <a:r>
              <a:rPr lang="en-US" sz="2000" b="1" dirty="0" smtClean="0"/>
              <a:t>(4/6</a:t>
            </a:r>
            <a:r>
              <a:rPr lang="en-US" sz="2000" b="1" dirty="0"/>
              <a:t>)</a:t>
            </a:r>
            <a:endParaRPr lang="en-IN" sz="2000" b="1" dirty="0"/>
          </a:p>
        </p:txBody>
      </p:sp>
      <p:graphicFrame>
        <p:nvGraphicFramePr>
          <p:cNvPr id="3" name="Table 2"/>
          <p:cNvGraphicFramePr>
            <a:graphicFrameLocks noGrp="1"/>
          </p:cNvGraphicFramePr>
          <p:nvPr>
            <p:extLst/>
          </p:nvPr>
        </p:nvGraphicFramePr>
        <p:xfrm>
          <a:off x="439800" y="925059"/>
          <a:ext cx="9809048" cy="5592705"/>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62150">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62150">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394241">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5.7</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Regulatory and commercial affairs, and single-buyer activities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48973502"/>
                  </a:ext>
                </a:extLst>
              </a:tr>
              <a:tr h="3942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Strengthening of Commercial &amp; Regulatory Affairs Unit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80131667"/>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Implementation of tools for MIS and tariff filing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2385250"/>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High-value Consumer Management System</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93050652"/>
                  </a:ext>
                </a:extLst>
              </a:tr>
              <a:tr h="362150">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5.8</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ICT strategy and implementation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xmlns="" val="2573705936"/>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As-Is ICT assessment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34162423"/>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To-Be ICT framework and ICT / ERP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69370191"/>
                  </a:ext>
                </a:extLst>
              </a:tr>
              <a:tr h="3942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ICT implementation strategy, implementation and feasibility study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xmlns="" val="2058866425"/>
                  </a:ext>
                </a:extLst>
              </a:tr>
              <a:tr h="394241">
                <a:tc>
                  <a:txBody>
                    <a:bodyPr/>
                    <a:lstStyle/>
                    <a:p>
                      <a:pPr marL="0" lvl="0" indent="0" algn="ctr" defTabSz="1008400" rtl="0" eaLnBrk="1" latinLnBrk="0" hangingPunct="1">
                        <a:spcAft>
                          <a:spcPts val="0"/>
                        </a:spcAft>
                        <a:buFont typeface="+mj-lt"/>
                        <a:buNone/>
                      </a:pPr>
                      <a:r>
                        <a:rPr lang="en-US" sz="1200" b="1" kern="1200" dirty="0">
                          <a:solidFill>
                            <a:schemeClr val="tx1"/>
                          </a:solidFill>
                          <a:effectLst/>
                          <a:latin typeface="+mn-lt"/>
                          <a:ea typeface="Times" panose="02020603050405020304" pitchFamily="18" charset="0"/>
                          <a:cs typeface="Calibri" panose="020F0502020204030204" pitchFamily="34" charset="0"/>
                        </a:rPr>
                        <a:t>5.9</a:t>
                      </a:r>
                      <a:endParaRPr lang="en-IN" sz="1200" b="1"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smtClean="0">
                          <a:effectLst/>
                          <a:latin typeface="+mn-lt"/>
                          <a:ea typeface="Times" panose="02020603050405020304" pitchFamily="18" charset="0"/>
                          <a:cs typeface="Calibri" panose="020F0502020204030204" pitchFamily="34" charset="0"/>
                        </a:rPr>
                        <a:t>Generation strengthening and Power </a:t>
                      </a:r>
                      <a:r>
                        <a:rPr lang="en-US" sz="1200" b="1" dirty="0">
                          <a:effectLst/>
                          <a:latin typeface="+mn-lt"/>
                          <a:ea typeface="Times" panose="02020603050405020304" pitchFamily="18" charset="0"/>
                          <a:cs typeface="Calibri" panose="020F0502020204030204" pitchFamily="34" charset="0"/>
                        </a:rPr>
                        <a:t>plant asset </a:t>
                      </a:r>
                      <a:r>
                        <a:rPr lang="en-US" sz="1200" b="1" dirty="0" smtClean="0">
                          <a:effectLst/>
                          <a:latin typeface="+mn-lt"/>
                          <a:ea typeface="Times" panose="02020603050405020304" pitchFamily="18" charset="0"/>
                          <a:cs typeface="Calibri" panose="020F0502020204030204" pitchFamily="34" charset="0"/>
                        </a:rPr>
                        <a:t>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12183848"/>
                  </a:ext>
                </a:extLst>
              </a:tr>
              <a:tr h="394241">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Viability assessment for establishment of O&amp;M Service Company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95544403"/>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As-Is assessment and target setting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20482868"/>
                  </a:ext>
                </a:extLst>
              </a:tr>
              <a:tr h="362150">
                <a:tc>
                  <a:txBody>
                    <a:bodyPr/>
                    <a:lstStyle/>
                    <a:p>
                      <a:pPr marL="0" lvl="0" indent="0" algn="ctr" defTabSz="1008400" rtl="0" eaLnBrk="1" latinLnBrk="0" hangingPunct="1">
                        <a:spcAft>
                          <a:spcPts val="0"/>
                        </a:spcAft>
                        <a:buFont typeface="+mj-lt"/>
                        <a:buNone/>
                      </a:pPr>
                      <a:r>
                        <a:rPr lang="en-US" sz="1200" kern="1200" dirty="0">
                          <a:solidFill>
                            <a:schemeClr val="tx1"/>
                          </a:solidFill>
                          <a:effectLst/>
                          <a:latin typeface="+mn-lt"/>
                          <a:ea typeface="Times" panose="02020603050405020304" pitchFamily="18" charset="0"/>
                          <a:cs typeface="Calibri" panose="020F0502020204030204" pitchFamily="34" charset="0"/>
                        </a:rPr>
                        <a:t> </a:t>
                      </a: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Asset management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86011753"/>
                  </a:ext>
                </a:extLst>
              </a:tr>
              <a:tr h="36215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 (iv)</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Implementation and capacity building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08057680"/>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198700147"/>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a:t>
            </a:r>
            <a:r>
              <a:rPr lang="en-US" sz="2000" b="1" dirty="0"/>
              <a:t>implementation plan </a:t>
            </a:r>
            <a:r>
              <a:rPr lang="en-US" sz="2000" b="1" dirty="0" smtClean="0"/>
              <a:t>(5/6</a:t>
            </a:r>
            <a:r>
              <a:rPr lang="en-US" sz="2000" b="1" dirty="0"/>
              <a:t>)</a:t>
            </a:r>
            <a:endParaRPr lang="en-IN" sz="2000" b="1" dirty="0"/>
          </a:p>
        </p:txBody>
      </p:sp>
      <p:graphicFrame>
        <p:nvGraphicFramePr>
          <p:cNvPr id="3" name="Table 2"/>
          <p:cNvGraphicFramePr>
            <a:graphicFrameLocks noGrp="1"/>
          </p:cNvGraphicFramePr>
          <p:nvPr>
            <p:extLst/>
          </p:nvPr>
        </p:nvGraphicFramePr>
        <p:xfrm>
          <a:off x="439800" y="925044"/>
          <a:ext cx="9809048" cy="4678320"/>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89860">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89860">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389860">
                <a:tc>
                  <a:txBody>
                    <a:bodyPr/>
                    <a:lstStyle/>
                    <a:p>
                      <a:pPr algn="ctr">
                        <a:spcAft>
                          <a:spcPts val="0"/>
                        </a:spcAft>
                      </a:pPr>
                      <a:r>
                        <a:rPr lang="en-US" sz="1200" b="1" dirty="0" smtClean="0">
                          <a:effectLst/>
                          <a:latin typeface="+mn-lt"/>
                          <a:ea typeface="Times" panose="02020603050405020304" pitchFamily="18" charset="0"/>
                          <a:cs typeface="Arial" panose="020B0604020202020204" pitchFamily="34" charset="0"/>
                        </a:rPr>
                        <a:t>5.10</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smtClean="0">
                          <a:effectLst/>
                          <a:latin typeface="+mn-lt"/>
                          <a:ea typeface="Times" panose="02020603050405020304" pitchFamily="18" charset="0"/>
                          <a:cs typeface="Arial" panose="020B0604020202020204" pitchFamily="34" charset="0"/>
                        </a:rPr>
                        <a:t>Distribution strengthening</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xmlns="" val="1444813098"/>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smtClean="0">
                          <a:effectLst/>
                          <a:latin typeface="+mn-lt"/>
                          <a:ea typeface="Times" panose="02020603050405020304" pitchFamily="18" charset="0"/>
                          <a:cs typeface="Arial" panose="020B0604020202020204" pitchFamily="34" charset="0"/>
                        </a:rPr>
                        <a:t>Commercial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32223600"/>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smtClean="0">
                          <a:effectLst/>
                          <a:latin typeface="+mn-lt"/>
                          <a:ea typeface="Times" panose="02020603050405020304" pitchFamily="18" charset="0"/>
                          <a:cs typeface="Arial" panose="020B0604020202020204" pitchFamily="34" charset="0"/>
                        </a:rPr>
                        <a:t>Network</a:t>
                      </a:r>
                      <a:r>
                        <a:rPr lang="en-US" sz="1200" baseline="0" dirty="0" smtClean="0">
                          <a:effectLst/>
                          <a:latin typeface="+mn-lt"/>
                          <a:ea typeface="Times" panose="02020603050405020304" pitchFamily="18" charset="0"/>
                          <a:cs typeface="Arial" panose="020B0604020202020204" pitchFamily="34" charset="0"/>
                        </a:rPr>
                        <a:t>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60769135"/>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smtClean="0">
                          <a:effectLst/>
                          <a:latin typeface="+mn-lt"/>
                          <a:ea typeface="Times" panose="02020603050405020304" pitchFamily="18" charset="0"/>
                          <a:cs typeface="Arial" panose="020B0604020202020204" pitchFamily="34" charset="0"/>
                        </a:rPr>
                        <a:t>Energy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xmlns="" val="1184516125"/>
                  </a:ext>
                </a:extLst>
              </a:tr>
              <a:tr h="389860">
                <a:tc>
                  <a:txBody>
                    <a:bodyPr/>
                    <a:lstStyle/>
                    <a:p>
                      <a:pPr algn="ctr">
                        <a:spcAft>
                          <a:spcPts val="0"/>
                        </a:spcAft>
                      </a:pPr>
                      <a:r>
                        <a:rPr lang="en-US" sz="1200" dirty="0" smtClean="0">
                          <a:effectLst/>
                          <a:latin typeface="+mn-lt"/>
                          <a:ea typeface="Times" panose="02020603050405020304" pitchFamily="18" charset="0"/>
                          <a:cs typeface="Arial" panose="020B0604020202020204" pitchFamily="34" charset="0"/>
                        </a:rPr>
                        <a:t>(iv)</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smtClean="0">
                          <a:effectLst/>
                          <a:latin typeface="+mn-lt"/>
                          <a:ea typeface="Times" panose="02020603050405020304" pitchFamily="18" charset="0"/>
                          <a:cs typeface="Arial" panose="020B0604020202020204" pitchFamily="34" charset="0"/>
                        </a:rPr>
                        <a:t>Customer relationship</a:t>
                      </a:r>
                      <a:r>
                        <a:rPr lang="en-US" sz="1200" baseline="0" dirty="0" smtClean="0">
                          <a:effectLst/>
                          <a:latin typeface="+mn-lt"/>
                          <a:ea typeface="Times" panose="02020603050405020304" pitchFamily="18" charset="0"/>
                          <a:cs typeface="Arial" panose="020B0604020202020204" pitchFamily="34" charset="0"/>
                        </a:rPr>
                        <a:t>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xmlns="" val="831745137"/>
                  </a:ext>
                </a:extLst>
              </a:tr>
              <a:tr h="389860">
                <a:tc>
                  <a:txBody>
                    <a:bodyPr/>
                    <a:lstStyle/>
                    <a:p>
                      <a:pPr algn="ctr">
                        <a:spcAft>
                          <a:spcPts val="0"/>
                        </a:spcAft>
                      </a:pPr>
                      <a:r>
                        <a:rPr lang="en-US" sz="1200" dirty="0" smtClean="0">
                          <a:effectLst/>
                          <a:latin typeface="+mn-lt"/>
                          <a:ea typeface="Times" panose="02020603050405020304" pitchFamily="18" charset="0"/>
                          <a:cs typeface="Arial" panose="020B0604020202020204" pitchFamily="34" charset="0"/>
                        </a:rPr>
                        <a:t>(v)</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smtClean="0">
                          <a:effectLst/>
                          <a:latin typeface="+mn-lt"/>
                          <a:ea typeface="Times" panose="02020603050405020304" pitchFamily="18" charset="0"/>
                          <a:cs typeface="Arial" panose="020B0604020202020204" pitchFamily="34" charset="0"/>
                        </a:rPr>
                        <a:t>Feasibility study for smart grid implementation</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xmlns="" val="3468546022"/>
                  </a:ext>
                </a:extLst>
              </a:tr>
              <a:tr h="389860">
                <a:tc>
                  <a:txBody>
                    <a:bodyPr/>
                    <a:lstStyle/>
                    <a:p>
                      <a:pPr algn="ctr">
                        <a:spcAft>
                          <a:spcPts val="0"/>
                        </a:spcAft>
                      </a:pPr>
                      <a:r>
                        <a:rPr lang="en-US" sz="1200" b="1" dirty="0" smtClean="0">
                          <a:effectLst/>
                          <a:latin typeface="+mn-lt"/>
                          <a:ea typeface="Times" panose="02020603050405020304" pitchFamily="18" charset="0"/>
                          <a:cs typeface="Calibri" panose="020F0502020204030204" pitchFamily="34" charset="0"/>
                        </a:rPr>
                        <a:t>5.11</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dirty="0">
                          <a:effectLst/>
                          <a:latin typeface="+mn-lt"/>
                          <a:ea typeface="Times" panose="02020603050405020304" pitchFamily="18" charset="0"/>
                          <a:cs typeface="Calibri" panose="020F0502020204030204" pitchFamily="34" charset="0"/>
                        </a:rPr>
                        <a:t>Performance monitoring, review and management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28605101"/>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a:t>
                      </a:r>
                      <a:r>
                        <a:rPr lang="en-US" sz="1200" kern="1200" dirty="0" err="1" smtClean="0">
                          <a:solidFill>
                            <a:schemeClr val="tx1"/>
                          </a:solidFill>
                          <a:effectLst/>
                          <a:latin typeface="+mn-lt"/>
                          <a:ea typeface="Times" panose="02020603050405020304" pitchFamily="18" charset="0"/>
                          <a:cs typeface="Calibri" panose="020F0502020204030204" pitchFamily="34" charset="0"/>
                        </a:rPr>
                        <a:t>i</a:t>
                      </a:r>
                      <a:r>
                        <a:rPr lang="en-US" sz="1200" kern="1200" dirty="0" smtClean="0">
                          <a:solidFill>
                            <a:schemeClr val="tx1"/>
                          </a:solidFill>
                          <a:effectLst/>
                          <a:latin typeface="+mn-lt"/>
                          <a:ea typeface="Times" panose="02020603050405020304" pitchFamily="18" charset="0"/>
                          <a:cs typeface="Calibri" panose="020F0502020204030204" pitchFamily="34" charset="0"/>
                        </a:rPr>
                        <a:t>)</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Set up performance monitoring unit / department</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65988961"/>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Design performance monitoring guidelines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60319789"/>
                  </a:ext>
                </a:extLst>
              </a:tr>
              <a:tr h="389860">
                <a:tc>
                  <a:txBody>
                    <a:bodyPr/>
                    <a:lstStyle/>
                    <a:p>
                      <a:pPr marL="0" lvl="0" indent="0" algn="ctr" defTabSz="1008400" rtl="0" eaLnBrk="1" latinLnBrk="0" hangingPunct="1">
                        <a:spcAft>
                          <a:spcPts val="0"/>
                        </a:spcAft>
                        <a:buFont typeface="+mj-lt"/>
                        <a:buNone/>
                      </a:pPr>
                      <a:r>
                        <a:rPr lang="en-US" sz="1200" kern="1200" dirty="0" smtClean="0">
                          <a:solidFill>
                            <a:schemeClr val="tx1"/>
                          </a:solidFill>
                          <a:effectLst/>
                          <a:latin typeface="+mn-lt"/>
                          <a:ea typeface="Times" panose="02020603050405020304" pitchFamily="18" charset="0"/>
                          <a:cs typeface="Calibri" panose="020F0502020204030204" pitchFamily="34" charset="0"/>
                        </a:rPr>
                        <a:t>(iii)</a:t>
                      </a:r>
                      <a:endParaRPr lang="en-IN" sz="1200" kern="1200" dirty="0">
                        <a:solidFill>
                          <a:schemeClr val="tx1"/>
                        </a:solidFill>
                        <a:effectLst/>
                        <a:latin typeface="+mn-lt"/>
                        <a:ea typeface="Times" panose="02020603050405020304" pitchFamily="18" charset="0"/>
                        <a:cs typeface="Calibri" panose="020F050202020403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dirty="0">
                          <a:effectLst/>
                          <a:latin typeface="+mn-lt"/>
                          <a:ea typeface="Times" panose="02020603050405020304" pitchFamily="18" charset="0"/>
                          <a:cs typeface="Calibri" panose="020F0502020204030204" pitchFamily="34" charset="0"/>
                        </a:rPr>
                        <a:t>Frame review and recommendation process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28530690"/>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855910291"/>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time-bound </a:t>
            </a:r>
            <a:r>
              <a:rPr lang="en-US" sz="2000" b="1" dirty="0"/>
              <a:t>implementation plan </a:t>
            </a:r>
            <a:r>
              <a:rPr lang="en-US" sz="2000" b="1" dirty="0" smtClean="0"/>
              <a:t>(6/6</a:t>
            </a:r>
            <a:r>
              <a:rPr lang="en-US" sz="2000" b="1" dirty="0"/>
              <a:t>)</a:t>
            </a:r>
            <a:endParaRPr lang="en-IN" sz="2000" b="1" dirty="0"/>
          </a:p>
        </p:txBody>
      </p:sp>
      <p:graphicFrame>
        <p:nvGraphicFramePr>
          <p:cNvPr id="3" name="Table 2"/>
          <p:cNvGraphicFramePr>
            <a:graphicFrameLocks noGrp="1"/>
          </p:cNvGraphicFramePr>
          <p:nvPr>
            <p:extLst/>
          </p:nvPr>
        </p:nvGraphicFramePr>
        <p:xfrm>
          <a:off x="439800" y="925044"/>
          <a:ext cx="9809048" cy="3118880"/>
        </p:xfrm>
        <a:graphic>
          <a:graphicData uri="http://schemas.openxmlformats.org/drawingml/2006/table">
            <a:tbl>
              <a:tblPr firstRow="1" firstCol="1" bandRow="1"/>
              <a:tblGrid>
                <a:gridCol w="476720">
                  <a:extLst>
                    <a:ext uri="{9D8B030D-6E8A-4147-A177-3AD203B41FA5}">
                      <a16:colId xmlns:a16="http://schemas.microsoft.com/office/drawing/2014/main" xmlns="" val="845100678"/>
                    </a:ext>
                  </a:extLst>
                </a:gridCol>
                <a:gridCol w="3804336">
                  <a:extLst>
                    <a:ext uri="{9D8B030D-6E8A-4147-A177-3AD203B41FA5}">
                      <a16:colId xmlns:a16="http://schemas.microsoft.com/office/drawing/2014/main" xmlns="" val="2997576273"/>
                    </a:ext>
                  </a:extLst>
                </a:gridCol>
                <a:gridCol w="460666">
                  <a:extLst>
                    <a:ext uri="{9D8B030D-6E8A-4147-A177-3AD203B41FA5}">
                      <a16:colId xmlns:a16="http://schemas.microsoft.com/office/drawing/2014/main" xmlns="" val="3611955969"/>
                    </a:ext>
                  </a:extLst>
                </a:gridCol>
                <a:gridCol w="460666">
                  <a:extLst>
                    <a:ext uri="{9D8B030D-6E8A-4147-A177-3AD203B41FA5}">
                      <a16:colId xmlns:a16="http://schemas.microsoft.com/office/drawing/2014/main" xmlns="" val="2907841627"/>
                    </a:ext>
                  </a:extLst>
                </a:gridCol>
                <a:gridCol w="460666">
                  <a:extLst>
                    <a:ext uri="{9D8B030D-6E8A-4147-A177-3AD203B41FA5}">
                      <a16:colId xmlns:a16="http://schemas.microsoft.com/office/drawing/2014/main" xmlns="" val="1419893263"/>
                    </a:ext>
                  </a:extLst>
                </a:gridCol>
                <a:gridCol w="460666">
                  <a:extLst>
                    <a:ext uri="{9D8B030D-6E8A-4147-A177-3AD203B41FA5}">
                      <a16:colId xmlns:a16="http://schemas.microsoft.com/office/drawing/2014/main" xmlns="" val="3212731652"/>
                    </a:ext>
                  </a:extLst>
                </a:gridCol>
                <a:gridCol w="460666">
                  <a:extLst>
                    <a:ext uri="{9D8B030D-6E8A-4147-A177-3AD203B41FA5}">
                      <a16:colId xmlns:a16="http://schemas.microsoft.com/office/drawing/2014/main" xmlns="" val="1990267574"/>
                    </a:ext>
                  </a:extLst>
                </a:gridCol>
                <a:gridCol w="460666">
                  <a:extLst>
                    <a:ext uri="{9D8B030D-6E8A-4147-A177-3AD203B41FA5}">
                      <a16:colId xmlns:a16="http://schemas.microsoft.com/office/drawing/2014/main" xmlns="" val="163513351"/>
                    </a:ext>
                  </a:extLst>
                </a:gridCol>
                <a:gridCol w="460666">
                  <a:extLst>
                    <a:ext uri="{9D8B030D-6E8A-4147-A177-3AD203B41FA5}">
                      <a16:colId xmlns:a16="http://schemas.microsoft.com/office/drawing/2014/main" xmlns="" val="487808409"/>
                    </a:ext>
                  </a:extLst>
                </a:gridCol>
                <a:gridCol w="460666">
                  <a:extLst>
                    <a:ext uri="{9D8B030D-6E8A-4147-A177-3AD203B41FA5}">
                      <a16:colId xmlns:a16="http://schemas.microsoft.com/office/drawing/2014/main" xmlns="" val="2852392792"/>
                    </a:ext>
                  </a:extLst>
                </a:gridCol>
                <a:gridCol w="460666">
                  <a:extLst>
                    <a:ext uri="{9D8B030D-6E8A-4147-A177-3AD203B41FA5}">
                      <a16:colId xmlns:a16="http://schemas.microsoft.com/office/drawing/2014/main" xmlns="" val="828688125"/>
                    </a:ext>
                  </a:extLst>
                </a:gridCol>
                <a:gridCol w="460666">
                  <a:extLst>
                    <a:ext uri="{9D8B030D-6E8A-4147-A177-3AD203B41FA5}">
                      <a16:colId xmlns:a16="http://schemas.microsoft.com/office/drawing/2014/main" xmlns="" val="3144166061"/>
                    </a:ext>
                  </a:extLst>
                </a:gridCol>
                <a:gridCol w="460666">
                  <a:extLst>
                    <a:ext uri="{9D8B030D-6E8A-4147-A177-3AD203B41FA5}">
                      <a16:colId xmlns:a16="http://schemas.microsoft.com/office/drawing/2014/main" xmlns="" val="3087912985"/>
                    </a:ext>
                  </a:extLst>
                </a:gridCol>
                <a:gridCol w="460666">
                  <a:extLst>
                    <a:ext uri="{9D8B030D-6E8A-4147-A177-3AD203B41FA5}">
                      <a16:colId xmlns:a16="http://schemas.microsoft.com/office/drawing/2014/main" xmlns="" val="1518477380"/>
                    </a:ext>
                  </a:extLst>
                </a:gridCol>
              </a:tblGrid>
              <a:tr h="389860">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Sl. No.</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rowSpan="2">
                  <a:txBody>
                    <a:bodyPr/>
                    <a:lstStyle/>
                    <a:p>
                      <a:pPr algn="l">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Activities</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gridSpan="12">
                  <a:txBody>
                    <a:bodyPr/>
                    <a:lstStyle/>
                    <a:p>
                      <a:pPr algn="ctr">
                        <a:spcAft>
                          <a:spcPts val="0"/>
                        </a:spcAft>
                      </a:pPr>
                      <a:r>
                        <a:rPr lang="en-US" sz="1200" b="1">
                          <a:solidFill>
                            <a:srgbClr val="FFFFFF"/>
                          </a:solidFill>
                          <a:effectLst/>
                          <a:latin typeface="+mn-lt"/>
                          <a:ea typeface="Times" panose="02020603050405020304" pitchFamily="18" charset="0"/>
                          <a:cs typeface="Calibri" panose="020F0502020204030204" pitchFamily="34" charset="0"/>
                        </a:rPr>
                        <a:t>Time period for implementation (in quarters)</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266953873"/>
                  </a:ext>
                </a:extLst>
              </a:tr>
              <a:tr h="389860">
                <a:tc vMerge="1">
                  <a:txBody>
                    <a:bodyPr/>
                    <a:lstStyle/>
                    <a:p>
                      <a:endParaRPr lang="en-IN"/>
                    </a:p>
                  </a:txBody>
                  <a:tcPr/>
                </a:tc>
                <a:tc vMerge="1">
                  <a:txBody>
                    <a:bodyPr/>
                    <a:lstStyle/>
                    <a:p>
                      <a:endParaRPr lang="en-IN"/>
                    </a:p>
                  </a:txBody>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Q3</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Q4</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Q5</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Q6</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Q7</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Q8</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Q9</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Q10</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Q11</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a:spcAft>
                          <a:spcPts val="0"/>
                        </a:spcAft>
                      </a:pPr>
                      <a:r>
                        <a:rPr lang="en-US" sz="1200" b="1" dirty="0">
                          <a:solidFill>
                            <a:srgbClr val="FFFFFF"/>
                          </a:solidFill>
                          <a:effectLst/>
                          <a:latin typeface="+mn-lt"/>
                          <a:ea typeface="Times" panose="02020603050405020304" pitchFamily="18" charset="0"/>
                          <a:cs typeface="Calibri" panose="020F0502020204030204" pitchFamily="34" charset="0"/>
                        </a:rPr>
                        <a:t>Q12</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xmlns="" val="2918034726"/>
                  </a:ext>
                </a:extLst>
              </a:tr>
              <a:tr h="389860">
                <a:tc>
                  <a:txBody>
                    <a:bodyPr/>
                    <a:lstStyle/>
                    <a:p>
                      <a:pPr algn="ctr">
                        <a:spcAft>
                          <a:spcPts val="0"/>
                        </a:spcAft>
                      </a:pPr>
                      <a:r>
                        <a:rPr lang="en-US" sz="1200" b="1" dirty="0">
                          <a:effectLst/>
                          <a:latin typeface="+mn-lt"/>
                          <a:ea typeface="Times" panose="02020603050405020304" pitchFamily="18" charset="0"/>
                          <a:cs typeface="Calibri" panose="020F0502020204030204" pitchFamily="34" charset="0"/>
                        </a:rPr>
                        <a:t>5.11</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Risk management</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63222007"/>
                  </a:ext>
                </a:extLst>
              </a:tr>
              <a:tr h="389860">
                <a:tc>
                  <a:txBody>
                    <a:bodyPr/>
                    <a:lstStyle/>
                    <a:p>
                      <a:pPr marL="342900" lvl="0" indent="-342900" algn="ctr">
                        <a:spcAft>
                          <a:spcPts val="0"/>
                        </a:spcAft>
                        <a:buFont typeface="+mj-lt"/>
                        <a:buAutoNum type="romanLcParenBoth"/>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Risk management strategy and action plan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97048457"/>
                  </a:ext>
                </a:extLst>
              </a:tr>
              <a:tr h="389860">
                <a:tc>
                  <a:txBody>
                    <a:bodyPr/>
                    <a:lstStyle/>
                    <a:p>
                      <a:pPr marL="342900" lvl="0" indent="-342900" algn="ctr">
                        <a:spcAft>
                          <a:spcPts val="0"/>
                        </a:spcAft>
                        <a:buFont typeface="+mj-lt"/>
                        <a:buAutoNum type="romanLcParenBoth"/>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Risk management and capacity building</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78715393"/>
                  </a:ext>
                </a:extLst>
              </a:tr>
              <a:tr h="389860">
                <a:tc>
                  <a:txBody>
                    <a:bodyPr/>
                    <a:lstStyle/>
                    <a:p>
                      <a:pPr algn="ctr">
                        <a:spcAft>
                          <a:spcPts val="0"/>
                        </a:spcAft>
                      </a:pPr>
                      <a:r>
                        <a:rPr lang="en-US" sz="1200" b="1" dirty="0">
                          <a:effectLst/>
                          <a:latin typeface="+mn-lt"/>
                          <a:ea typeface="Times" panose="02020603050405020304" pitchFamily="18" charset="0"/>
                          <a:cs typeface="Calibri" panose="020F0502020204030204" pitchFamily="34" charset="0"/>
                        </a:rPr>
                        <a:t>5.12</a:t>
                      </a:r>
                      <a:endParaRPr lang="en-IN" sz="1200" b="1"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b="1">
                          <a:effectLst/>
                          <a:latin typeface="+mn-lt"/>
                          <a:ea typeface="Times" panose="02020603050405020304" pitchFamily="18" charset="0"/>
                          <a:cs typeface="Calibri" panose="020F0502020204030204" pitchFamily="34" charset="0"/>
                        </a:rPr>
                        <a:t>Communication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67127952"/>
                  </a:ext>
                </a:extLst>
              </a:tr>
              <a:tr h="389860">
                <a:tc>
                  <a:txBody>
                    <a:bodyPr/>
                    <a:lstStyle/>
                    <a:p>
                      <a:pPr marL="342900" lvl="0" indent="-342900" algn="ctr">
                        <a:spcAft>
                          <a:spcPts val="0"/>
                        </a:spcAft>
                        <a:buFont typeface="+mj-lt"/>
                        <a:buAutoNum type="romanLcParenBoth"/>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Design of communication strategy</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26043598"/>
                  </a:ext>
                </a:extLst>
              </a:tr>
              <a:tr h="389860">
                <a:tc>
                  <a:txBody>
                    <a:bodyPr/>
                    <a:lstStyle/>
                    <a:p>
                      <a:pPr marL="342900" lvl="0" indent="-342900" algn="ctr">
                        <a:spcAft>
                          <a:spcPts val="0"/>
                        </a:spcAft>
                        <a:buFont typeface="+mj-lt"/>
                        <a:buAutoNum type="romanLcParenBoth"/>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spcAft>
                          <a:spcPts val="0"/>
                        </a:spcAft>
                      </a:pPr>
                      <a:r>
                        <a:rPr lang="en-US" sz="1200">
                          <a:effectLst/>
                          <a:latin typeface="+mn-lt"/>
                          <a:ea typeface="Times" panose="02020603050405020304" pitchFamily="18" charset="0"/>
                          <a:cs typeface="Calibri" panose="020F0502020204030204" pitchFamily="34" charset="0"/>
                        </a:rPr>
                        <a:t>Strategy on finalizing content and form of communication</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mn-lt"/>
                          <a:ea typeface="Times" panose="02020603050405020304" pitchFamily="18" charset="0"/>
                          <a:cs typeface="Calibri" panose="020F0502020204030204" pitchFamily="34" charset="0"/>
                        </a:rPr>
                        <a:t> </a:t>
                      </a:r>
                      <a:endParaRPr lang="en-IN" sz="120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effectLst/>
                          <a:latin typeface="+mn-lt"/>
                          <a:ea typeface="Times" panose="02020603050405020304" pitchFamily="18" charset="0"/>
                          <a:cs typeface="Calibri" panose="020F0502020204030204" pitchFamily="34" charset="0"/>
                        </a:rPr>
                        <a:t> </a:t>
                      </a:r>
                      <a:endParaRPr lang="en-IN" sz="1200" dirty="0">
                        <a:effectLst/>
                        <a:latin typeface="+mn-lt"/>
                        <a:ea typeface="Times" panose="02020603050405020304" pitchFamily="18" charset="0"/>
                        <a:cs typeface="Arial" panose="020B0604020202020204" pitchFamily="34" charset="0"/>
                      </a:endParaRPr>
                    </a:p>
                  </a:txBody>
                  <a:tcPr marL="40005" marR="400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68378359"/>
                  </a:ext>
                </a:extLst>
              </a:tr>
            </a:tbl>
          </a:graphicData>
        </a:graphic>
      </p:graphicFrame>
      <p:sp>
        <p:nvSpPr>
          <p:cNvPr id="5" name="Pentagon 4">
            <a:hlinkClick r:id="rId2" action="ppaction://hlinksldjump"/>
          </p:cNvPr>
          <p:cNvSpPr/>
          <p:nvPr/>
        </p:nvSpPr>
        <p:spPr bwMode="gray">
          <a:xfrm flipH="1">
            <a:off x="9863138" y="7267907"/>
            <a:ext cx="362606" cy="236483"/>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081702667"/>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4800" dirty="0">
                <a:solidFill>
                  <a:prstClr val="black"/>
                </a:solidFill>
              </a:rPr>
              <a:t>8</a:t>
            </a:r>
            <a:r>
              <a:rPr lang="en-US" sz="4800" dirty="0" smtClean="0">
                <a:solidFill>
                  <a:prstClr val="black"/>
                </a:solidFill>
              </a:rPr>
              <a:t>. Proposed Functional / Departmental Organogram of Holding Company</a:t>
            </a:r>
            <a:endParaRPr lang="en-US" sz="4800" dirty="0">
              <a:solidFill>
                <a:prstClr val="black"/>
              </a:solidFill>
            </a:endParaRPr>
          </a:p>
        </p:txBody>
      </p:sp>
    </p:spTree>
    <p:extLst>
      <p:ext uri="{BB962C8B-B14F-4D97-AF65-F5344CB8AC3E}">
        <p14:creationId xmlns:p14="http://schemas.microsoft.com/office/powerpoint/2010/main" val="3712400182"/>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pPr algn="just"/>
            <a:r>
              <a:rPr lang="en-US" sz="2000" b="1" dirty="0" smtClean="0"/>
              <a:t>Proposed High-Level Functional / Departmental Organogram of Holding Company</a:t>
            </a:r>
            <a:endParaRPr lang="en-IN" sz="2000" b="1" dirty="0">
              <a:solidFill>
                <a:schemeClr val="accent1">
                  <a:lumMod val="75000"/>
                </a:schemeClr>
              </a:solidFill>
            </a:endParaRPr>
          </a:p>
        </p:txBody>
      </p:sp>
      <p:sp>
        <p:nvSpPr>
          <p:cNvPr id="5" name="Rectangle 2"/>
          <p:cNvSpPr>
            <a:spLocks noChangeArrowheads="1"/>
          </p:cNvSpPr>
          <p:nvPr/>
        </p:nvSpPr>
        <p:spPr bwMode="auto">
          <a:xfrm>
            <a:off x="4646968" y="1302575"/>
            <a:ext cx="1371599" cy="59504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Chairman</a:t>
            </a:r>
          </a:p>
        </p:txBody>
      </p:sp>
      <p:sp>
        <p:nvSpPr>
          <p:cNvPr id="6" name="Rectangle 2"/>
          <p:cNvSpPr>
            <a:spLocks noChangeArrowheads="1"/>
          </p:cNvSpPr>
          <p:nvPr/>
        </p:nvSpPr>
        <p:spPr bwMode="auto">
          <a:xfrm>
            <a:off x="439792" y="2335244"/>
            <a:ext cx="1659635" cy="46052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Public Relations</a:t>
            </a:r>
          </a:p>
        </p:txBody>
      </p:sp>
      <p:sp>
        <p:nvSpPr>
          <p:cNvPr id="7" name="Rectangle 2"/>
          <p:cNvSpPr>
            <a:spLocks noChangeArrowheads="1"/>
          </p:cNvSpPr>
          <p:nvPr/>
        </p:nvSpPr>
        <p:spPr bwMode="auto">
          <a:xfrm>
            <a:off x="2298572" y="2335243"/>
            <a:ext cx="1659635" cy="460521"/>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Legal Affairs</a:t>
            </a:r>
          </a:p>
        </p:txBody>
      </p:sp>
      <p:sp>
        <p:nvSpPr>
          <p:cNvPr id="8" name="Rectangle 2"/>
          <p:cNvSpPr>
            <a:spLocks noChangeArrowheads="1"/>
          </p:cNvSpPr>
          <p:nvPr/>
        </p:nvSpPr>
        <p:spPr bwMode="auto">
          <a:xfrm>
            <a:off x="8566144" y="2330463"/>
            <a:ext cx="1659600" cy="460521"/>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Performance Monitoring &amp; MIS</a:t>
            </a:r>
          </a:p>
        </p:txBody>
      </p:sp>
      <p:cxnSp>
        <p:nvCxnSpPr>
          <p:cNvPr id="10" name="Elbow Connector 9"/>
          <p:cNvCxnSpPr>
            <a:stCxn id="5" idx="2"/>
            <a:endCxn id="6" idx="0"/>
          </p:cNvCxnSpPr>
          <p:nvPr/>
        </p:nvCxnSpPr>
        <p:spPr>
          <a:xfrm rot="5400000">
            <a:off x="3082375" y="84851"/>
            <a:ext cx="437628" cy="406315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 name="Elbow Connector 11"/>
          <p:cNvCxnSpPr>
            <a:stCxn id="5" idx="2"/>
            <a:endCxn id="7" idx="0"/>
          </p:cNvCxnSpPr>
          <p:nvPr/>
        </p:nvCxnSpPr>
        <p:spPr>
          <a:xfrm rot="5400000">
            <a:off x="4011766" y="1014240"/>
            <a:ext cx="437627" cy="220437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Elbow Connector 13"/>
          <p:cNvCxnSpPr/>
          <p:nvPr/>
        </p:nvCxnSpPr>
        <p:spPr>
          <a:xfrm rot="16200000" flipH="1">
            <a:off x="7147933" y="82452"/>
            <a:ext cx="432847" cy="4063176"/>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26" name="Rectangle 2"/>
          <p:cNvSpPr>
            <a:spLocks noChangeArrowheads="1"/>
          </p:cNvSpPr>
          <p:nvPr/>
        </p:nvSpPr>
        <p:spPr bwMode="auto">
          <a:xfrm>
            <a:off x="43982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Administration</a:t>
            </a:r>
            <a:endParaRPr lang="en-US" sz="1200" b="1" kern="0" dirty="0">
              <a:solidFill>
                <a:sysClr val="windowText" lastClr="000000"/>
              </a:solidFill>
              <a:cs typeface="Arial" pitchFamily="34" charset="0"/>
            </a:endParaRPr>
          </a:p>
        </p:txBody>
      </p:sp>
      <p:sp>
        <p:nvSpPr>
          <p:cNvPr id="27" name="Rectangle 2"/>
          <p:cNvSpPr>
            <a:spLocks noChangeArrowheads="1"/>
          </p:cNvSpPr>
          <p:nvPr/>
        </p:nvSpPr>
        <p:spPr bwMode="auto">
          <a:xfrm>
            <a:off x="184373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Finance</a:t>
            </a:r>
          </a:p>
        </p:txBody>
      </p:sp>
      <p:sp>
        <p:nvSpPr>
          <p:cNvPr id="28" name="Rectangle 2"/>
          <p:cNvSpPr>
            <a:spLocks noChangeArrowheads="1"/>
          </p:cNvSpPr>
          <p:nvPr/>
        </p:nvSpPr>
        <p:spPr bwMode="auto">
          <a:xfrm>
            <a:off x="465155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Commercial, Regulatory &amp; Bulk Supply</a:t>
            </a:r>
          </a:p>
        </p:txBody>
      </p:sp>
      <p:sp>
        <p:nvSpPr>
          <p:cNvPr id="29" name="Rectangle 2"/>
          <p:cNvSpPr>
            <a:spLocks noChangeArrowheads="1"/>
          </p:cNvSpPr>
          <p:nvPr/>
        </p:nvSpPr>
        <p:spPr bwMode="auto">
          <a:xfrm>
            <a:off x="605546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Planning &amp; Development</a:t>
            </a:r>
          </a:p>
        </p:txBody>
      </p:sp>
      <p:sp>
        <p:nvSpPr>
          <p:cNvPr id="30" name="Rectangle 2"/>
          <p:cNvSpPr>
            <a:spLocks noChangeArrowheads="1"/>
          </p:cNvSpPr>
          <p:nvPr/>
        </p:nvSpPr>
        <p:spPr bwMode="auto">
          <a:xfrm>
            <a:off x="745937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Company Affairs</a:t>
            </a:r>
          </a:p>
        </p:txBody>
      </p:sp>
      <p:sp>
        <p:nvSpPr>
          <p:cNvPr id="31" name="Rectangle 2"/>
          <p:cNvSpPr>
            <a:spLocks noChangeArrowheads="1"/>
          </p:cNvSpPr>
          <p:nvPr/>
        </p:nvSpPr>
        <p:spPr bwMode="auto">
          <a:xfrm>
            <a:off x="8863290" y="35814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Generation</a:t>
            </a:r>
          </a:p>
        </p:txBody>
      </p:sp>
      <p:sp>
        <p:nvSpPr>
          <p:cNvPr id="32" name="Rectangle 31"/>
          <p:cNvSpPr/>
          <p:nvPr/>
        </p:nvSpPr>
        <p:spPr>
          <a:xfrm>
            <a:off x="5808088" y="6764537"/>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3" name="Rectangle 32"/>
          <p:cNvSpPr/>
          <p:nvPr/>
        </p:nvSpPr>
        <p:spPr>
          <a:xfrm>
            <a:off x="5808088" y="7069336"/>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4" name="TextBox 33"/>
          <p:cNvSpPr txBox="1"/>
          <p:nvPr/>
        </p:nvSpPr>
        <p:spPr>
          <a:xfrm>
            <a:off x="6874889" y="6688337"/>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35" name="TextBox 34"/>
          <p:cNvSpPr txBox="1"/>
          <p:nvPr/>
        </p:nvSpPr>
        <p:spPr>
          <a:xfrm>
            <a:off x="6874891" y="6993138"/>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36" name="Rectangle 35"/>
          <p:cNvSpPr/>
          <p:nvPr/>
        </p:nvSpPr>
        <p:spPr>
          <a:xfrm>
            <a:off x="5808088" y="6459391"/>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7" name="TextBox 36"/>
          <p:cNvSpPr txBox="1"/>
          <p:nvPr/>
        </p:nvSpPr>
        <p:spPr>
          <a:xfrm>
            <a:off x="6874889" y="6383191"/>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cxnSp>
        <p:nvCxnSpPr>
          <p:cNvPr id="39" name="Elbow Connector 38"/>
          <p:cNvCxnSpPr>
            <a:stCxn id="5" idx="2"/>
            <a:endCxn id="26" idx="0"/>
          </p:cNvCxnSpPr>
          <p:nvPr/>
        </p:nvCxnSpPr>
        <p:spPr>
          <a:xfrm rot="5400000">
            <a:off x="2391541" y="629903"/>
            <a:ext cx="1673514" cy="4208941"/>
          </a:xfrm>
          <a:prstGeom prst="bentConnector3">
            <a:avLst>
              <a:gd name="adj1" fmla="val 6844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2" name="Elbow Connector 41"/>
          <p:cNvCxnSpPr>
            <a:stCxn id="5" idx="2"/>
            <a:endCxn id="27" idx="0"/>
          </p:cNvCxnSpPr>
          <p:nvPr/>
        </p:nvCxnSpPr>
        <p:spPr>
          <a:xfrm rot="5400000">
            <a:off x="3093496" y="1331858"/>
            <a:ext cx="1673514" cy="2805031"/>
          </a:xfrm>
          <a:prstGeom prst="bentConnector3">
            <a:avLst>
              <a:gd name="adj1" fmla="val 6844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4" name="Elbow Connector 43"/>
          <p:cNvCxnSpPr>
            <a:stCxn id="5" idx="2"/>
            <a:endCxn id="28" idx="0"/>
          </p:cNvCxnSpPr>
          <p:nvPr/>
        </p:nvCxnSpPr>
        <p:spPr>
          <a:xfrm rot="16200000" flipH="1">
            <a:off x="4497405" y="2732978"/>
            <a:ext cx="1673514" cy="2789"/>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6" name="Elbow Connector 45"/>
          <p:cNvCxnSpPr>
            <a:stCxn id="5" idx="2"/>
            <a:endCxn id="29" idx="0"/>
          </p:cNvCxnSpPr>
          <p:nvPr/>
        </p:nvCxnSpPr>
        <p:spPr>
          <a:xfrm rot="16200000" flipH="1">
            <a:off x="5199360" y="2031023"/>
            <a:ext cx="1673514" cy="1406699"/>
          </a:xfrm>
          <a:prstGeom prst="bentConnector3">
            <a:avLst>
              <a:gd name="adj1" fmla="val 6844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9" name="Elbow Connector 48"/>
          <p:cNvCxnSpPr>
            <a:stCxn id="5" idx="2"/>
            <a:endCxn id="30" idx="0"/>
          </p:cNvCxnSpPr>
          <p:nvPr/>
        </p:nvCxnSpPr>
        <p:spPr>
          <a:xfrm rot="16200000" flipH="1">
            <a:off x="5901315" y="1329068"/>
            <a:ext cx="1673514" cy="2810609"/>
          </a:xfrm>
          <a:prstGeom prst="bentConnector3">
            <a:avLst>
              <a:gd name="adj1" fmla="val 6844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Elbow Connector 50"/>
          <p:cNvCxnSpPr>
            <a:stCxn id="5" idx="2"/>
            <a:endCxn id="31" idx="0"/>
          </p:cNvCxnSpPr>
          <p:nvPr/>
        </p:nvCxnSpPr>
        <p:spPr>
          <a:xfrm rot="16200000" flipH="1">
            <a:off x="6598122" y="632262"/>
            <a:ext cx="1683814" cy="4214522"/>
          </a:xfrm>
          <a:prstGeom prst="bentConnector3">
            <a:avLst>
              <a:gd name="adj1" fmla="val 67649"/>
            </a:avLst>
          </a:prstGeom>
          <a:ln>
            <a:tailEnd type="triangle"/>
          </a:ln>
        </p:spPr>
        <p:style>
          <a:lnRef idx="1">
            <a:schemeClr val="accent3"/>
          </a:lnRef>
          <a:fillRef idx="0">
            <a:schemeClr val="accent3"/>
          </a:fillRef>
          <a:effectRef idx="0">
            <a:schemeClr val="accent3"/>
          </a:effectRef>
          <a:fontRef idx="minor">
            <a:schemeClr val="tx1"/>
          </a:fontRef>
        </p:style>
      </p:cxnSp>
      <p:sp>
        <p:nvSpPr>
          <p:cNvPr id="59" name="Pentagon 58">
            <a:hlinkClick r:id="rId2" action="ppaction://hlinksldjump"/>
          </p:cNvPr>
          <p:cNvSpPr/>
          <p:nvPr/>
        </p:nvSpPr>
        <p:spPr bwMode="gray">
          <a:xfrm>
            <a:off x="10225744" y="7035986"/>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8" name="Rectangle 2"/>
          <p:cNvSpPr>
            <a:spLocks noChangeArrowheads="1"/>
          </p:cNvSpPr>
          <p:nvPr/>
        </p:nvSpPr>
        <p:spPr bwMode="auto">
          <a:xfrm>
            <a:off x="3247647" y="3571130"/>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Distribution</a:t>
            </a:r>
          </a:p>
        </p:txBody>
      </p:sp>
      <p:cxnSp>
        <p:nvCxnSpPr>
          <p:cNvPr id="40" name="Elbow Connector 39"/>
          <p:cNvCxnSpPr>
            <a:stCxn id="5" idx="2"/>
            <a:endCxn id="38" idx="0"/>
          </p:cNvCxnSpPr>
          <p:nvPr/>
        </p:nvCxnSpPr>
        <p:spPr>
          <a:xfrm rot="5400000">
            <a:off x="3795451" y="2033813"/>
            <a:ext cx="1673514" cy="1401121"/>
          </a:xfrm>
          <a:prstGeom prst="bentConnector3">
            <a:avLst>
              <a:gd name="adj1" fmla="val 68441"/>
            </a:avLst>
          </a:prstGeom>
          <a:ln>
            <a:tailEnd type="triangle"/>
          </a:ln>
        </p:spPr>
        <p:style>
          <a:lnRef idx="1">
            <a:schemeClr val="accent3"/>
          </a:lnRef>
          <a:fillRef idx="0">
            <a:schemeClr val="accent3"/>
          </a:fillRef>
          <a:effectRef idx="0">
            <a:schemeClr val="accent3"/>
          </a:effectRef>
          <a:fontRef idx="minor">
            <a:schemeClr val="tx1"/>
          </a:fontRef>
        </p:style>
      </p:cxnSp>
      <p:sp>
        <p:nvSpPr>
          <p:cNvPr id="43" name="Rectangle 2"/>
          <p:cNvSpPr>
            <a:spLocks noChangeArrowheads="1"/>
          </p:cNvSpPr>
          <p:nvPr/>
        </p:nvSpPr>
        <p:spPr bwMode="auto">
          <a:xfrm>
            <a:off x="6590895" y="2330463"/>
            <a:ext cx="1874420" cy="460521"/>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Company </a:t>
            </a:r>
            <a:r>
              <a:rPr lang="en-US" sz="1200" b="1" kern="0" dirty="0" smtClean="0">
                <a:solidFill>
                  <a:sysClr val="windowText" lastClr="000000"/>
                </a:solidFill>
                <a:cs typeface="Arial" pitchFamily="34" charset="0"/>
              </a:rPr>
              <a:t>Secretarial Services</a:t>
            </a:r>
            <a:endParaRPr lang="en-US" sz="1200" b="1" kern="0" dirty="0">
              <a:solidFill>
                <a:sysClr val="windowText" lastClr="000000"/>
              </a:solidFill>
              <a:cs typeface="Arial" pitchFamily="34" charset="0"/>
            </a:endParaRPr>
          </a:p>
        </p:txBody>
      </p:sp>
      <p:cxnSp>
        <p:nvCxnSpPr>
          <p:cNvPr id="45" name="Elbow Connector 44"/>
          <p:cNvCxnSpPr>
            <a:stCxn id="5" idx="2"/>
            <a:endCxn id="43" idx="0"/>
          </p:cNvCxnSpPr>
          <p:nvPr/>
        </p:nvCxnSpPr>
        <p:spPr>
          <a:xfrm rot="16200000" flipH="1">
            <a:off x="6214013" y="1016370"/>
            <a:ext cx="432847" cy="2195337"/>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41" name="TextBox 40"/>
          <p:cNvSpPr txBox="1"/>
          <p:nvPr/>
        </p:nvSpPr>
        <p:spPr>
          <a:xfrm>
            <a:off x="439792" y="5132223"/>
            <a:ext cx="9785952" cy="830997"/>
          </a:xfrm>
          <a:prstGeom prst="rect">
            <a:avLst/>
          </a:prstGeom>
          <a:solidFill>
            <a:schemeClr val="accent2">
              <a:lumMod val="20000"/>
              <a:lumOff val="80000"/>
            </a:schemeClr>
          </a:solidFill>
          <a:ln>
            <a:solidFill>
              <a:schemeClr val="accent1"/>
            </a:solidFill>
          </a:ln>
        </p:spPr>
        <p:txBody>
          <a:bodyPr wrap="square" rtlCol="0">
            <a:spAutoFit/>
          </a:bodyPr>
          <a:lstStyle/>
          <a:p>
            <a:pPr algn="just"/>
            <a:r>
              <a:rPr lang="en-US" sz="1600" dirty="0" smtClean="0">
                <a:solidFill>
                  <a:prstClr val="black"/>
                </a:solidFill>
              </a:rPr>
              <a:t>Note: This slide contains only the  proposed High </a:t>
            </a:r>
            <a:r>
              <a:rPr lang="en-US" sz="1600" dirty="0">
                <a:solidFill>
                  <a:prstClr val="black"/>
                </a:solidFill>
              </a:rPr>
              <a:t>L</a:t>
            </a:r>
            <a:r>
              <a:rPr lang="en-US" sz="1600" dirty="0" smtClean="0">
                <a:solidFill>
                  <a:prstClr val="black"/>
                </a:solidFill>
              </a:rPr>
              <a:t>evel </a:t>
            </a:r>
            <a:r>
              <a:rPr lang="en-US" sz="1600" dirty="0">
                <a:solidFill>
                  <a:prstClr val="black"/>
                </a:solidFill>
              </a:rPr>
              <a:t>F</a:t>
            </a:r>
            <a:r>
              <a:rPr lang="en-US" sz="1600" dirty="0" smtClean="0">
                <a:solidFill>
                  <a:prstClr val="black"/>
                </a:solidFill>
              </a:rPr>
              <a:t>unctional / Departmental </a:t>
            </a:r>
            <a:r>
              <a:rPr lang="en-US" sz="1600" dirty="0">
                <a:solidFill>
                  <a:prstClr val="black"/>
                </a:solidFill>
              </a:rPr>
              <a:t>O</a:t>
            </a:r>
            <a:r>
              <a:rPr lang="en-US" sz="1600" dirty="0" smtClean="0">
                <a:solidFill>
                  <a:prstClr val="black"/>
                </a:solidFill>
              </a:rPr>
              <a:t>rganogram  of the Holding Company. The </a:t>
            </a:r>
            <a:r>
              <a:rPr lang="en-US" sz="1600" dirty="0">
                <a:solidFill>
                  <a:prstClr val="black"/>
                </a:solidFill>
              </a:rPr>
              <a:t>F</a:t>
            </a:r>
            <a:r>
              <a:rPr lang="en-US" sz="1600" dirty="0" smtClean="0">
                <a:solidFill>
                  <a:prstClr val="black"/>
                </a:solidFill>
              </a:rPr>
              <a:t>unctional / Departmental </a:t>
            </a:r>
            <a:r>
              <a:rPr lang="en-US" sz="1600" dirty="0">
                <a:solidFill>
                  <a:prstClr val="black"/>
                </a:solidFill>
              </a:rPr>
              <a:t>O</a:t>
            </a:r>
            <a:r>
              <a:rPr lang="en-US" sz="1600" dirty="0" smtClean="0">
                <a:solidFill>
                  <a:prstClr val="black"/>
                </a:solidFill>
              </a:rPr>
              <a:t>rganogram under each main Function / Department has been provided in the subsequent slides. </a:t>
            </a:r>
          </a:p>
        </p:txBody>
      </p:sp>
      <p:sp>
        <p:nvSpPr>
          <p:cNvPr id="47" name="Pentagon 46">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4273332724"/>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pPr algn="just"/>
            <a:r>
              <a:rPr lang="en-US" sz="2000" b="1" dirty="0" smtClean="0"/>
              <a:t>Proposed High-Level Functional / Departmental Organogram under Administration</a:t>
            </a:r>
            <a:endParaRPr lang="en-IN" sz="2000" b="1" dirty="0">
              <a:solidFill>
                <a:schemeClr val="accent1">
                  <a:lumMod val="75000"/>
                </a:schemeClr>
              </a:solidFill>
            </a:endParaRPr>
          </a:p>
        </p:txBody>
      </p:sp>
      <p:sp>
        <p:nvSpPr>
          <p:cNvPr id="5" name="Rectangle 2"/>
          <p:cNvSpPr>
            <a:spLocks noChangeArrowheads="1"/>
          </p:cNvSpPr>
          <p:nvPr/>
        </p:nvSpPr>
        <p:spPr bwMode="auto">
          <a:xfrm>
            <a:off x="4594768" y="1036171"/>
            <a:ext cx="1476000" cy="486827"/>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Administration</a:t>
            </a:r>
          </a:p>
        </p:txBody>
      </p:sp>
      <p:sp>
        <p:nvSpPr>
          <p:cNvPr id="6" name="Rectangle 2"/>
          <p:cNvSpPr>
            <a:spLocks noChangeArrowheads="1"/>
          </p:cNvSpPr>
          <p:nvPr/>
        </p:nvSpPr>
        <p:spPr bwMode="auto">
          <a:xfrm>
            <a:off x="844525" y="1972880"/>
            <a:ext cx="2377113" cy="44257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Training</a:t>
            </a:r>
          </a:p>
        </p:txBody>
      </p:sp>
      <p:sp>
        <p:nvSpPr>
          <p:cNvPr id="7" name="Rectangle 2"/>
          <p:cNvSpPr>
            <a:spLocks noChangeArrowheads="1"/>
          </p:cNvSpPr>
          <p:nvPr/>
        </p:nvSpPr>
        <p:spPr bwMode="auto">
          <a:xfrm>
            <a:off x="2247184" y="2548027"/>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Training &amp; Career Development</a:t>
            </a:r>
          </a:p>
        </p:txBody>
      </p:sp>
      <p:sp>
        <p:nvSpPr>
          <p:cNvPr id="8" name="Rectangle 2"/>
          <p:cNvSpPr>
            <a:spLocks noChangeArrowheads="1"/>
          </p:cNvSpPr>
          <p:nvPr/>
        </p:nvSpPr>
        <p:spPr bwMode="auto">
          <a:xfrm>
            <a:off x="2247184" y="2981638"/>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Engineering Academy, </a:t>
            </a:r>
            <a:r>
              <a:rPr lang="en-US" sz="1200" b="1" kern="0" dirty="0" err="1" smtClean="0">
                <a:solidFill>
                  <a:sysClr val="windowText" lastClr="000000"/>
                </a:solidFill>
                <a:cs typeface="Arial" pitchFamily="34" charset="0"/>
              </a:rPr>
              <a:t>Kaptai</a:t>
            </a:r>
            <a:endParaRPr lang="en-US" sz="1200" b="1" kern="0" dirty="0" smtClean="0">
              <a:solidFill>
                <a:sysClr val="windowText" lastClr="000000"/>
              </a:solidFill>
              <a:cs typeface="Arial" pitchFamily="34" charset="0"/>
            </a:endParaRPr>
          </a:p>
        </p:txBody>
      </p:sp>
      <p:sp>
        <p:nvSpPr>
          <p:cNvPr id="9" name="Rectangle 2"/>
          <p:cNvSpPr>
            <a:spLocks noChangeArrowheads="1"/>
          </p:cNvSpPr>
          <p:nvPr/>
        </p:nvSpPr>
        <p:spPr bwMode="auto">
          <a:xfrm>
            <a:off x="2247184" y="3415249"/>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black"/>
                </a:solidFill>
                <a:cs typeface="Arial" pitchFamily="34" charset="0"/>
              </a:rPr>
              <a:t>Training Academy, Cox’s Bazar</a:t>
            </a:r>
          </a:p>
        </p:txBody>
      </p:sp>
      <p:sp>
        <p:nvSpPr>
          <p:cNvPr id="10" name="Rectangle 2"/>
          <p:cNvSpPr>
            <a:spLocks noChangeArrowheads="1"/>
          </p:cNvSpPr>
          <p:nvPr/>
        </p:nvSpPr>
        <p:spPr bwMode="auto">
          <a:xfrm>
            <a:off x="2247184" y="3848860"/>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Training Centre, </a:t>
            </a:r>
            <a:r>
              <a:rPr lang="en-US" sz="1200" b="1" kern="0" dirty="0" err="1" smtClean="0">
                <a:solidFill>
                  <a:sysClr val="windowText" lastClr="000000"/>
                </a:solidFill>
                <a:cs typeface="Arial" pitchFamily="34" charset="0"/>
              </a:rPr>
              <a:t>Rajshahi</a:t>
            </a:r>
            <a:endParaRPr lang="en-US" sz="1200" b="1" kern="0" dirty="0" smtClean="0">
              <a:solidFill>
                <a:sysClr val="windowText" lastClr="000000"/>
              </a:solidFill>
              <a:cs typeface="Arial" pitchFamily="34" charset="0"/>
            </a:endParaRPr>
          </a:p>
        </p:txBody>
      </p:sp>
      <p:sp>
        <p:nvSpPr>
          <p:cNvPr id="11" name="Rectangle 2"/>
          <p:cNvSpPr>
            <a:spLocks noChangeArrowheads="1"/>
          </p:cNvSpPr>
          <p:nvPr/>
        </p:nvSpPr>
        <p:spPr bwMode="auto">
          <a:xfrm>
            <a:off x="2247184" y="4716080"/>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Training Centre, CTG</a:t>
            </a:r>
          </a:p>
        </p:txBody>
      </p:sp>
      <p:sp>
        <p:nvSpPr>
          <p:cNvPr id="12" name="Rectangle 2"/>
          <p:cNvSpPr>
            <a:spLocks noChangeArrowheads="1"/>
          </p:cNvSpPr>
          <p:nvPr/>
        </p:nvSpPr>
        <p:spPr bwMode="auto">
          <a:xfrm>
            <a:off x="2247184" y="4282471"/>
            <a:ext cx="2876306" cy="365760"/>
          </a:xfrm>
          <a:prstGeom prst="rect">
            <a:avLst/>
          </a:prstGeom>
          <a:solidFill>
            <a:srgbClr val="C4D60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Training Centre, </a:t>
            </a:r>
            <a:r>
              <a:rPr lang="en-US" sz="1200" b="1" kern="0" dirty="0" err="1" smtClean="0">
                <a:solidFill>
                  <a:sysClr val="windowText" lastClr="000000"/>
                </a:solidFill>
                <a:cs typeface="Arial" pitchFamily="34" charset="0"/>
              </a:rPr>
              <a:t>Ghorasal</a:t>
            </a:r>
            <a:endParaRPr lang="en-US" sz="1200" b="1" kern="0" dirty="0" smtClean="0">
              <a:solidFill>
                <a:sysClr val="windowText" lastClr="000000"/>
              </a:solidFill>
              <a:cs typeface="Arial" pitchFamily="34" charset="0"/>
            </a:endParaRPr>
          </a:p>
        </p:txBody>
      </p:sp>
      <p:cxnSp>
        <p:nvCxnSpPr>
          <p:cNvPr id="13" name="Elbow Connector 12"/>
          <p:cNvCxnSpPr>
            <a:stCxn id="6" idx="2"/>
            <a:endCxn id="7" idx="1"/>
          </p:cNvCxnSpPr>
          <p:nvPr/>
        </p:nvCxnSpPr>
        <p:spPr>
          <a:xfrm rot="16200000" flipH="1">
            <a:off x="1982405" y="2466127"/>
            <a:ext cx="315457"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Elbow Connector 13"/>
          <p:cNvCxnSpPr>
            <a:stCxn id="6" idx="2"/>
            <a:endCxn id="8" idx="1"/>
          </p:cNvCxnSpPr>
          <p:nvPr/>
        </p:nvCxnSpPr>
        <p:spPr>
          <a:xfrm rot="16200000" flipH="1">
            <a:off x="1765599" y="2682933"/>
            <a:ext cx="749068"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5" name="Elbow Connector 14"/>
          <p:cNvCxnSpPr>
            <a:stCxn id="6" idx="2"/>
            <a:endCxn id="9" idx="1"/>
          </p:cNvCxnSpPr>
          <p:nvPr/>
        </p:nvCxnSpPr>
        <p:spPr>
          <a:xfrm rot="16200000" flipH="1">
            <a:off x="1548794" y="2899738"/>
            <a:ext cx="1182679"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Elbow Connector 15"/>
          <p:cNvCxnSpPr>
            <a:stCxn id="6" idx="2"/>
            <a:endCxn id="10" idx="1"/>
          </p:cNvCxnSpPr>
          <p:nvPr/>
        </p:nvCxnSpPr>
        <p:spPr>
          <a:xfrm rot="16200000" flipH="1">
            <a:off x="1331988" y="3116544"/>
            <a:ext cx="1616290"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Elbow Connector 16"/>
          <p:cNvCxnSpPr>
            <a:stCxn id="6" idx="2"/>
            <a:endCxn id="12" idx="1"/>
          </p:cNvCxnSpPr>
          <p:nvPr/>
        </p:nvCxnSpPr>
        <p:spPr>
          <a:xfrm rot="16200000" flipH="1">
            <a:off x="1115183" y="3333349"/>
            <a:ext cx="2049901"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8" name="Elbow Connector 17"/>
          <p:cNvCxnSpPr>
            <a:stCxn id="6" idx="2"/>
            <a:endCxn id="11" idx="1"/>
          </p:cNvCxnSpPr>
          <p:nvPr/>
        </p:nvCxnSpPr>
        <p:spPr>
          <a:xfrm rot="16200000" flipH="1">
            <a:off x="898378" y="3550154"/>
            <a:ext cx="2483510" cy="21410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sp>
        <p:nvSpPr>
          <p:cNvPr id="19" name="Rectangle 2"/>
          <p:cNvSpPr>
            <a:spLocks noChangeArrowheads="1"/>
          </p:cNvSpPr>
          <p:nvPr/>
        </p:nvSpPr>
        <p:spPr bwMode="auto">
          <a:xfrm>
            <a:off x="844525" y="5314402"/>
            <a:ext cx="2377113" cy="442570"/>
          </a:xfrm>
          <a:prstGeom prst="rect">
            <a:avLst/>
          </a:prstGeom>
          <a:solidFill>
            <a:srgbClr val="00B0F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Enquiry &amp; Discipline</a:t>
            </a:r>
          </a:p>
        </p:txBody>
      </p:sp>
      <p:sp>
        <p:nvSpPr>
          <p:cNvPr id="20" name="Rectangle 2"/>
          <p:cNvSpPr>
            <a:spLocks noChangeArrowheads="1"/>
          </p:cNvSpPr>
          <p:nvPr/>
        </p:nvSpPr>
        <p:spPr bwMode="auto">
          <a:xfrm>
            <a:off x="844525" y="5940272"/>
            <a:ext cx="2377113" cy="442570"/>
          </a:xfrm>
          <a:prstGeom prst="rect">
            <a:avLst/>
          </a:prstGeom>
          <a:solidFill>
            <a:srgbClr val="00B0F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Labor &amp; Welfare</a:t>
            </a:r>
          </a:p>
        </p:txBody>
      </p:sp>
      <p:sp>
        <p:nvSpPr>
          <p:cNvPr id="21" name="Rectangle 2"/>
          <p:cNvSpPr>
            <a:spLocks noChangeArrowheads="1"/>
          </p:cNvSpPr>
          <p:nvPr/>
        </p:nvSpPr>
        <p:spPr bwMode="auto">
          <a:xfrm>
            <a:off x="844525" y="6566142"/>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Estate &amp; Transport</a:t>
            </a:r>
          </a:p>
        </p:txBody>
      </p:sp>
      <p:sp>
        <p:nvSpPr>
          <p:cNvPr id="22" name="Rectangle 2"/>
          <p:cNvSpPr>
            <a:spLocks noChangeArrowheads="1"/>
          </p:cNvSpPr>
          <p:nvPr/>
        </p:nvSpPr>
        <p:spPr bwMode="auto">
          <a:xfrm>
            <a:off x="7623781" y="1968397"/>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Personnel</a:t>
            </a:r>
          </a:p>
        </p:txBody>
      </p:sp>
      <p:sp>
        <p:nvSpPr>
          <p:cNvPr id="23" name="Rectangle 2"/>
          <p:cNvSpPr>
            <a:spLocks noChangeArrowheads="1"/>
          </p:cNvSpPr>
          <p:nvPr/>
        </p:nvSpPr>
        <p:spPr bwMode="auto">
          <a:xfrm>
            <a:off x="5696140" y="2609316"/>
            <a:ext cx="2876306" cy="365760"/>
          </a:xfrm>
          <a:prstGeom prst="rect">
            <a:avLst/>
          </a:prstGeom>
          <a:solidFill>
            <a:srgbClr val="00B0F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HR Management</a:t>
            </a:r>
          </a:p>
        </p:txBody>
      </p:sp>
      <p:sp>
        <p:nvSpPr>
          <p:cNvPr id="24" name="Rectangle 2"/>
          <p:cNvSpPr>
            <a:spLocks noChangeArrowheads="1"/>
          </p:cNvSpPr>
          <p:nvPr/>
        </p:nvSpPr>
        <p:spPr bwMode="auto">
          <a:xfrm>
            <a:off x="5696140" y="3042927"/>
            <a:ext cx="2876306" cy="365760"/>
          </a:xfrm>
          <a:prstGeom prst="rect">
            <a:avLst/>
          </a:prstGeom>
          <a:solidFill>
            <a:srgbClr val="00B0F0"/>
          </a:solidFill>
          <a:ln w="9525" cap="flat" cmpd="sng" algn="ctr">
            <a:noFill/>
            <a:prstDash val="solid"/>
            <a:headEnd/>
            <a:tailEnd/>
          </a:ln>
          <a:effectLst/>
        </p:spPr>
        <p:txBody>
          <a:bodyPr vert="horz" wrap="square" lIns="36000" tIns="36000" rIns="36000" bIns="3600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Performance Management</a:t>
            </a:r>
          </a:p>
        </p:txBody>
      </p:sp>
      <p:sp>
        <p:nvSpPr>
          <p:cNvPr id="25" name="Rectangle 2"/>
          <p:cNvSpPr>
            <a:spLocks noChangeArrowheads="1"/>
          </p:cNvSpPr>
          <p:nvPr/>
        </p:nvSpPr>
        <p:spPr bwMode="auto">
          <a:xfrm>
            <a:off x="5696140" y="3476538"/>
            <a:ext cx="2876306" cy="36576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Group HR Administration</a:t>
            </a:r>
          </a:p>
        </p:txBody>
      </p:sp>
      <p:cxnSp>
        <p:nvCxnSpPr>
          <p:cNvPr id="26" name="Elbow Connector 25"/>
          <p:cNvCxnSpPr>
            <a:stCxn id="22" idx="2"/>
            <a:endCxn id="23" idx="3"/>
          </p:cNvCxnSpPr>
          <p:nvPr/>
        </p:nvCxnSpPr>
        <p:spPr>
          <a:xfrm rot="5400000">
            <a:off x="8501778" y="2481635"/>
            <a:ext cx="381229" cy="23989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Elbow Connector 26"/>
          <p:cNvCxnSpPr>
            <a:stCxn id="22" idx="2"/>
            <a:endCxn id="24" idx="3"/>
          </p:cNvCxnSpPr>
          <p:nvPr/>
        </p:nvCxnSpPr>
        <p:spPr>
          <a:xfrm rot="5400000">
            <a:off x="8284972" y="2698441"/>
            <a:ext cx="814840" cy="23989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8" name="Elbow Connector 27"/>
          <p:cNvCxnSpPr>
            <a:stCxn id="22" idx="2"/>
            <a:endCxn id="25" idx="3"/>
          </p:cNvCxnSpPr>
          <p:nvPr/>
        </p:nvCxnSpPr>
        <p:spPr>
          <a:xfrm rot="5400000">
            <a:off x="8068167" y="2915246"/>
            <a:ext cx="1248451" cy="23989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sp>
        <p:nvSpPr>
          <p:cNvPr id="29" name="Rectangle 2"/>
          <p:cNvSpPr>
            <a:spLocks noChangeArrowheads="1"/>
          </p:cNvSpPr>
          <p:nvPr/>
        </p:nvSpPr>
        <p:spPr bwMode="auto">
          <a:xfrm>
            <a:off x="7623781" y="4080428"/>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Medical</a:t>
            </a:r>
          </a:p>
        </p:txBody>
      </p:sp>
      <p:sp>
        <p:nvSpPr>
          <p:cNvPr id="30" name="Rectangle 2"/>
          <p:cNvSpPr>
            <a:spLocks noChangeArrowheads="1"/>
          </p:cNvSpPr>
          <p:nvPr/>
        </p:nvSpPr>
        <p:spPr bwMode="auto">
          <a:xfrm>
            <a:off x="7623781" y="4709477"/>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Organization &amp; Method</a:t>
            </a:r>
          </a:p>
        </p:txBody>
      </p:sp>
      <p:sp>
        <p:nvSpPr>
          <p:cNvPr id="31" name="Rectangle 2"/>
          <p:cNvSpPr>
            <a:spLocks noChangeArrowheads="1"/>
          </p:cNvSpPr>
          <p:nvPr/>
        </p:nvSpPr>
        <p:spPr bwMode="auto">
          <a:xfrm>
            <a:off x="7623782" y="5338526"/>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Security &amp; Investigation</a:t>
            </a:r>
          </a:p>
        </p:txBody>
      </p:sp>
      <p:sp>
        <p:nvSpPr>
          <p:cNvPr id="32" name="Rectangle 2"/>
          <p:cNvSpPr>
            <a:spLocks noChangeArrowheads="1"/>
          </p:cNvSpPr>
          <p:nvPr/>
        </p:nvSpPr>
        <p:spPr bwMode="auto">
          <a:xfrm>
            <a:off x="7623780" y="5972712"/>
            <a:ext cx="2377113" cy="44257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Safety &amp; Environment</a:t>
            </a:r>
          </a:p>
        </p:txBody>
      </p:sp>
      <p:sp>
        <p:nvSpPr>
          <p:cNvPr id="33" name="Rectangle 32"/>
          <p:cNvSpPr/>
          <p:nvPr/>
        </p:nvSpPr>
        <p:spPr>
          <a:xfrm>
            <a:off x="5096415" y="6938708"/>
            <a:ext cx="990600" cy="2286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endParaRPr lang="en-US" sz="1200" b="1" kern="0">
              <a:solidFill>
                <a:sysClr val="windowText" lastClr="000000"/>
              </a:solidFill>
              <a:cs typeface="Arial" pitchFamily="34" charset="0"/>
            </a:endParaRPr>
          </a:p>
        </p:txBody>
      </p:sp>
      <p:sp>
        <p:nvSpPr>
          <p:cNvPr id="34" name="Rectangle 33"/>
          <p:cNvSpPr/>
          <p:nvPr/>
        </p:nvSpPr>
        <p:spPr>
          <a:xfrm>
            <a:off x="5096415" y="7243507"/>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5" name="TextBox 34"/>
          <p:cNvSpPr txBox="1"/>
          <p:nvPr/>
        </p:nvSpPr>
        <p:spPr>
          <a:xfrm>
            <a:off x="6163216" y="6862508"/>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36" name="TextBox 35"/>
          <p:cNvSpPr txBox="1"/>
          <p:nvPr/>
        </p:nvSpPr>
        <p:spPr>
          <a:xfrm>
            <a:off x="6163218" y="7167309"/>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37" name="Rectangle 36"/>
          <p:cNvSpPr/>
          <p:nvPr/>
        </p:nvSpPr>
        <p:spPr>
          <a:xfrm>
            <a:off x="5096415" y="6633562"/>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8" name="TextBox 37"/>
          <p:cNvSpPr txBox="1"/>
          <p:nvPr/>
        </p:nvSpPr>
        <p:spPr>
          <a:xfrm>
            <a:off x="6163216" y="6557362"/>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39" name="Pentagon 38">
            <a:hlinkClick r:id="rId2" action="ppaction://hlinksldjump"/>
          </p:cNvPr>
          <p:cNvSpPr/>
          <p:nvPr/>
        </p:nvSpPr>
        <p:spPr bwMode="gray">
          <a:xfrm>
            <a:off x="10225744" y="6883933"/>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cxnSp>
        <p:nvCxnSpPr>
          <p:cNvPr id="41" name="Elbow Connector 40"/>
          <p:cNvCxnSpPr>
            <a:stCxn id="5" idx="2"/>
            <a:endCxn id="6" idx="1"/>
          </p:cNvCxnSpPr>
          <p:nvPr/>
        </p:nvCxnSpPr>
        <p:spPr>
          <a:xfrm rot="5400000">
            <a:off x="2753064" y="-385540"/>
            <a:ext cx="671167" cy="4488243"/>
          </a:xfrm>
          <a:prstGeom prst="bentConnector4">
            <a:avLst>
              <a:gd name="adj1" fmla="val 33515"/>
              <a:gd name="adj2" fmla="val 10509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3" name="Elbow Connector 42"/>
          <p:cNvCxnSpPr>
            <a:stCxn id="5" idx="2"/>
            <a:endCxn id="19" idx="1"/>
          </p:cNvCxnSpPr>
          <p:nvPr/>
        </p:nvCxnSpPr>
        <p:spPr>
          <a:xfrm rot="5400000">
            <a:off x="1082303" y="1285221"/>
            <a:ext cx="4012689" cy="4488243"/>
          </a:xfrm>
          <a:prstGeom prst="bentConnector4">
            <a:avLst>
              <a:gd name="adj1" fmla="val 5601"/>
              <a:gd name="adj2" fmla="val 10509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7" name="Elbow Connector 46"/>
          <p:cNvCxnSpPr>
            <a:stCxn id="5" idx="2"/>
            <a:endCxn id="20" idx="1"/>
          </p:cNvCxnSpPr>
          <p:nvPr/>
        </p:nvCxnSpPr>
        <p:spPr>
          <a:xfrm rot="5400000">
            <a:off x="769368" y="1598156"/>
            <a:ext cx="4638559" cy="4488243"/>
          </a:xfrm>
          <a:prstGeom prst="bentConnector4">
            <a:avLst>
              <a:gd name="adj1" fmla="val 4874"/>
              <a:gd name="adj2" fmla="val 10509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9" name="Elbow Connector 48"/>
          <p:cNvCxnSpPr>
            <a:stCxn id="5" idx="2"/>
            <a:endCxn id="21" idx="1"/>
          </p:cNvCxnSpPr>
          <p:nvPr/>
        </p:nvCxnSpPr>
        <p:spPr>
          <a:xfrm rot="5400000">
            <a:off x="456433" y="1911091"/>
            <a:ext cx="5264429" cy="4488243"/>
          </a:xfrm>
          <a:prstGeom prst="bentConnector4">
            <a:avLst>
              <a:gd name="adj1" fmla="val 4232"/>
              <a:gd name="adj2" fmla="val 10509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Elbow Connector 50"/>
          <p:cNvCxnSpPr>
            <a:stCxn id="5" idx="2"/>
            <a:endCxn id="22" idx="3"/>
          </p:cNvCxnSpPr>
          <p:nvPr/>
        </p:nvCxnSpPr>
        <p:spPr>
          <a:xfrm rot="16200000" flipH="1">
            <a:off x="7333489" y="-477723"/>
            <a:ext cx="666684" cy="4668126"/>
          </a:xfrm>
          <a:prstGeom prst="bentConnector4">
            <a:avLst>
              <a:gd name="adj1" fmla="val 33404"/>
              <a:gd name="adj2" fmla="val 10489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4" name="Elbow Connector 53"/>
          <p:cNvCxnSpPr>
            <a:stCxn id="5" idx="2"/>
            <a:endCxn id="29" idx="3"/>
          </p:cNvCxnSpPr>
          <p:nvPr/>
        </p:nvCxnSpPr>
        <p:spPr>
          <a:xfrm rot="16200000" flipH="1">
            <a:off x="6277474" y="578292"/>
            <a:ext cx="2778715" cy="4668126"/>
          </a:xfrm>
          <a:prstGeom prst="bentConnector4">
            <a:avLst>
              <a:gd name="adj1" fmla="val 8084"/>
              <a:gd name="adj2" fmla="val 10489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6" name="Elbow Connector 55"/>
          <p:cNvCxnSpPr>
            <a:stCxn id="5" idx="2"/>
            <a:endCxn id="30" idx="3"/>
          </p:cNvCxnSpPr>
          <p:nvPr/>
        </p:nvCxnSpPr>
        <p:spPr>
          <a:xfrm rot="16200000" flipH="1">
            <a:off x="5962949" y="892817"/>
            <a:ext cx="3407764" cy="4668126"/>
          </a:xfrm>
          <a:prstGeom prst="bentConnector4">
            <a:avLst>
              <a:gd name="adj1" fmla="val 6585"/>
              <a:gd name="adj2" fmla="val 10489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8" name="Elbow Connector 57"/>
          <p:cNvCxnSpPr>
            <a:stCxn id="5" idx="2"/>
            <a:endCxn id="31" idx="3"/>
          </p:cNvCxnSpPr>
          <p:nvPr/>
        </p:nvCxnSpPr>
        <p:spPr>
          <a:xfrm rot="16200000" flipH="1">
            <a:off x="5648425" y="1207340"/>
            <a:ext cx="4036813" cy="4668127"/>
          </a:xfrm>
          <a:prstGeom prst="bentConnector4">
            <a:avLst>
              <a:gd name="adj1" fmla="val 5571"/>
              <a:gd name="adj2" fmla="val 10489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0" name="Elbow Connector 59"/>
          <p:cNvCxnSpPr>
            <a:stCxn id="5" idx="2"/>
            <a:endCxn id="32" idx="3"/>
          </p:cNvCxnSpPr>
          <p:nvPr/>
        </p:nvCxnSpPr>
        <p:spPr>
          <a:xfrm rot="16200000" flipH="1">
            <a:off x="5331331" y="1524434"/>
            <a:ext cx="4670999" cy="4668125"/>
          </a:xfrm>
          <a:prstGeom prst="bentConnector4">
            <a:avLst>
              <a:gd name="adj1" fmla="val 4831"/>
              <a:gd name="adj2" fmla="val 104897"/>
            </a:avLst>
          </a:prstGeom>
          <a:ln>
            <a:tailEnd type="triangle"/>
          </a:ln>
        </p:spPr>
        <p:style>
          <a:lnRef idx="1">
            <a:schemeClr val="accent3"/>
          </a:lnRef>
          <a:fillRef idx="0">
            <a:schemeClr val="accent3"/>
          </a:fillRef>
          <a:effectRef idx="0">
            <a:schemeClr val="accent3"/>
          </a:effectRef>
          <a:fontRef idx="minor">
            <a:schemeClr val="tx1"/>
          </a:fontRef>
        </p:style>
      </p:cxnSp>
      <p:sp>
        <p:nvSpPr>
          <p:cNvPr id="48" name="Pentagon 47">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177318688"/>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r>
              <a:rPr lang="en-US" sz="2000" b="1" dirty="0" smtClean="0"/>
              <a:t>Proposed </a:t>
            </a:r>
            <a:r>
              <a:rPr lang="en-US" b="1" dirty="0"/>
              <a:t>High-Level Functional / Departmental Organogram under </a:t>
            </a:r>
            <a:r>
              <a:rPr lang="en-US" sz="2000" b="1" dirty="0" smtClean="0"/>
              <a:t>Finance</a:t>
            </a:r>
            <a:endParaRPr lang="en-IN" sz="2000" b="1" dirty="0">
              <a:solidFill>
                <a:schemeClr val="accent1">
                  <a:lumMod val="75000"/>
                </a:schemeClr>
              </a:solidFill>
            </a:endParaRPr>
          </a:p>
        </p:txBody>
      </p:sp>
      <p:sp>
        <p:nvSpPr>
          <p:cNvPr id="6" name="Rectangle 2"/>
          <p:cNvSpPr>
            <a:spLocks noChangeArrowheads="1"/>
          </p:cNvSpPr>
          <p:nvPr/>
        </p:nvSpPr>
        <p:spPr bwMode="auto">
          <a:xfrm>
            <a:off x="4510069" y="1025603"/>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Finance</a:t>
            </a:r>
          </a:p>
        </p:txBody>
      </p:sp>
      <p:sp>
        <p:nvSpPr>
          <p:cNvPr id="7" name="Rectangle 2"/>
          <p:cNvSpPr>
            <a:spLocks noChangeArrowheads="1"/>
          </p:cNvSpPr>
          <p:nvPr/>
        </p:nvSpPr>
        <p:spPr bwMode="auto">
          <a:xfrm>
            <a:off x="6420499" y="2074360"/>
            <a:ext cx="1785960" cy="647967"/>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IVVR Project</a:t>
            </a:r>
          </a:p>
        </p:txBody>
      </p:sp>
      <p:sp>
        <p:nvSpPr>
          <p:cNvPr id="8" name="Rectangle 2"/>
          <p:cNvSpPr>
            <a:spLocks noChangeArrowheads="1"/>
          </p:cNvSpPr>
          <p:nvPr/>
        </p:nvSpPr>
        <p:spPr bwMode="auto">
          <a:xfrm>
            <a:off x="689209" y="2077677"/>
            <a:ext cx="1785960" cy="647967"/>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Accounts &amp; Finance</a:t>
            </a:r>
          </a:p>
        </p:txBody>
      </p:sp>
      <p:cxnSp>
        <p:nvCxnSpPr>
          <p:cNvPr id="9" name="Elbow Connector 8"/>
          <p:cNvCxnSpPr>
            <a:stCxn id="6" idx="2"/>
            <a:endCxn id="8" idx="0"/>
          </p:cNvCxnSpPr>
          <p:nvPr/>
        </p:nvCxnSpPr>
        <p:spPr>
          <a:xfrm rot="5400000">
            <a:off x="3261023" y="-64170"/>
            <a:ext cx="463013" cy="3820680"/>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10" name="Rectangle 2"/>
          <p:cNvSpPr>
            <a:spLocks noChangeArrowheads="1"/>
          </p:cNvSpPr>
          <p:nvPr/>
        </p:nvSpPr>
        <p:spPr bwMode="auto">
          <a:xfrm>
            <a:off x="2599639" y="2084309"/>
            <a:ext cx="178596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Audit</a:t>
            </a:r>
          </a:p>
        </p:txBody>
      </p:sp>
      <p:sp>
        <p:nvSpPr>
          <p:cNvPr id="11" name="Rectangle 2"/>
          <p:cNvSpPr>
            <a:spLocks noChangeArrowheads="1"/>
          </p:cNvSpPr>
          <p:nvPr/>
        </p:nvSpPr>
        <p:spPr bwMode="auto">
          <a:xfrm>
            <a:off x="4510069" y="2080993"/>
            <a:ext cx="178596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Purchase</a:t>
            </a:r>
            <a:endParaRPr lang="en-US" sz="1200" b="1" kern="0" dirty="0">
              <a:solidFill>
                <a:prstClr val="white"/>
              </a:solidFill>
              <a:cs typeface="Arial" pitchFamily="34" charset="0"/>
            </a:endParaRPr>
          </a:p>
        </p:txBody>
      </p:sp>
      <p:sp>
        <p:nvSpPr>
          <p:cNvPr id="12" name="Rectangle 2"/>
          <p:cNvSpPr>
            <a:spLocks noChangeArrowheads="1"/>
          </p:cNvSpPr>
          <p:nvPr/>
        </p:nvSpPr>
        <p:spPr bwMode="auto">
          <a:xfrm>
            <a:off x="8330929" y="2071043"/>
            <a:ext cx="1785960" cy="647967"/>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Strategic Investment  Mgmt. &amp; Planning</a:t>
            </a:r>
          </a:p>
        </p:txBody>
      </p:sp>
      <p:cxnSp>
        <p:nvCxnSpPr>
          <p:cNvPr id="13" name="Elbow Connector 12"/>
          <p:cNvCxnSpPr>
            <a:stCxn id="6" idx="2"/>
            <a:endCxn id="10" idx="0"/>
          </p:cNvCxnSpPr>
          <p:nvPr/>
        </p:nvCxnSpPr>
        <p:spPr>
          <a:xfrm rot="5400000">
            <a:off x="4212922" y="894361"/>
            <a:ext cx="469645" cy="191025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Elbow Connector 13"/>
          <p:cNvCxnSpPr>
            <a:stCxn id="6" idx="2"/>
            <a:endCxn id="11" idx="0"/>
          </p:cNvCxnSpPr>
          <p:nvPr/>
        </p:nvCxnSpPr>
        <p:spPr>
          <a:xfrm rot="16200000" flipH="1">
            <a:off x="5169795" y="1847738"/>
            <a:ext cx="466329" cy="18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5" name="Elbow Connector 14"/>
          <p:cNvCxnSpPr>
            <a:stCxn id="6" idx="2"/>
            <a:endCxn id="7" idx="0"/>
          </p:cNvCxnSpPr>
          <p:nvPr/>
        </p:nvCxnSpPr>
        <p:spPr>
          <a:xfrm rot="16200000" flipH="1">
            <a:off x="6128326" y="889207"/>
            <a:ext cx="459696" cy="191061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Elbow Connector 15"/>
          <p:cNvCxnSpPr>
            <a:stCxn id="6" idx="2"/>
            <a:endCxn id="12" idx="0"/>
          </p:cNvCxnSpPr>
          <p:nvPr/>
        </p:nvCxnSpPr>
        <p:spPr>
          <a:xfrm rot="16200000" flipH="1">
            <a:off x="7085200" y="-67667"/>
            <a:ext cx="456379" cy="382104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17" name="Rectangle 16"/>
          <p:cNvSpPr/>
          <p:nvPr/>
        </p:nvSpPr>
        <p:spPr>
          <a:xfrm>
            <a:off x="6040790" y="6938708"/>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18" name="Rectangle 17"/>
          <p:cNvSpPr/>
          <p:nvPr/>
        </p:nvSpPr>
        <p:spPr>
          <a:xfrm>
            <a:off x="6040790" y="7243507"/>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19" name="TextBox 18"/>
          <p:cNvSpPr txBox="1"/>
          <p:nvPr/>
        </p:nvSpPr>
        <p:spPr>
          <a:xfrm>
            <a:off x="7107591" y="6862508"/>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20" name="TextBox 19"/>
          <p:cNvSpPr txBox="1"/>
          <p:nvPr/>
        </p:nvSpPr>
        <p:spPr>
          <a:xfrm>
            <a:off x="7107593" y="7167309"/>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21" name="Rectangle 20"/>
          <p:cNvSpPr/>
          <p:nvPr/>
        </p:nvSpPr>
        <p:spPr>
          <a:xfrm>
            <a:off x="6040790" y="6633562"/>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22" name="TextBox 21"/>
          <p:cNvSpPr txBox="1"/>
          <p:nvPr/>
        </p:nvSpPr>
        <p:spPr>
          <a:xfrm>
            <a:off x="7107591" y="6557362"/>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23" name="Rectangle 2"/>
          <p:cNvSpPr>
            <a:spLocks noChangeArrowheads="1"/>
          </p:cNvSpPr>
          <p:nvPr/>
        </p:nvSpPr>
        <p:spPr bwMode="auto">
          <a:xfrm>
            <a:off x="1081451" y="3128698"/>
            <a:ext cx="2124000" cy="3960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Accounts</a:t>
            </a:r>
          </a:p>
        </p:txBody>
      </p:sp>
      <p:sp>
        <p:nvSpPr>
          <p:cNvPr id="24" name="Rectangle 2"/>
          <p:cNvSpPr>
            <a:spLocks noChangeArrowheads="1"/>
          </p:cNvSpPr>
          <p:nvPr/>
        </p:nvSpPr>
        <p:spPr bwMode="auto">
          <a:xfrm>
            <a:off x="5533727" y="3128697"/>
            <a:ext cx="2124000" cy="3960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sysClr val="windowText" lastClr="000000"/>
                </a:solidFill>
                <a:cs typeface="Arial" pitchFamily="34" charset="0"/>
              </a:rPr>
              <a:t>Finance</a:t>
            </a:r>
          </a:p>
        </p:txBody>
      </p:sp>
      <p:sp>
        <p:nvSpPr>
          <p:cNvPr id="25" name="Rectangle 2"/>
          <p:cNvSpPr>
            <a:spLocks noChangeArrowheads="1"/>
          </p:cNvSpPr>
          <p:nvPr/>
        </p:nvSpPr>
        <p:spPr bwMode="auto">
          <a:xfrm>
            <a:off x="5782289" y="4288704"/>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Holding Company Finance</a:t>
            </a:r>
          </a:p>
        </p:txBody>
      </p:sp>
      <p:sp>
        <p:nvSpPr>
          <p:cNvPr id="26" name="Rectangle 2"/>
          <p:cNvSpPr>
            <a:spLocks noChangeArrowheads="1"/>
          </p:cNvSpPr>
          <p:nvPr/>
        </p:nvSpPr>
        <p:spPr bwMode="auto">
          <a:xfrm>
            <a:off x="5782289" y="3651108"/>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Budgets &amp; Resources</a:t>
            </a:r>
          </a:p>
        </p:txBody>
      </p:sp>
      <p:sp>
        <p:nvSpPr>
          <p:cNvPr id="27" name="Rectangle 2"/>
          <p:cNvSpPr>
            <a:spLocks noChangeArrowheads="1"/>
          </p:cNvSpPr>
          <p:nvPr/>
        </p:nvSpPr>
        <p:spPr bwMode="auto">
          <a:xfrm>
            <a:off x="5782289" y="4926300"/>
            <a:ext cx="2052000" cy="3960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Group Finance</a:t>
            </a:r>
          </a:p>
        </p:txBody>
      </p:sp>
      <p:sp>
        <p:nvSpPr>
          <p:cNvPr id="29" name="Rectangle 2"/>
          <p:cNvSpPr>
            <a:spLocks noChangeArrowheads="1"/>
          </p:cNvSpPr>
          <p:nvPr/>
        </p:nvSpPr>
        <p:spPr bwMode="auto">
          <a:xfrm>
            <a:off x="1336284" y="3651108"/>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Administration</a:t>
            </a:r>
          </a:p>
        </p:txBody>
      </p:sp>
      <p:sp>
        <p:nvSpPr>
          <p:cNvPr id="30" name="Rectangle 2"/>
          <p:cNvSpPr>
            <a:spLocks noChangeArrowheads="1"/>
          </p:cNvSpPr>
          <p:nvPr/>
        </p:nvSpPr>
        <p:spPr bwMode="auto">
          <a:xfrm>
            <a:off x="2692143" y="5491947"/>
            <a:ext cx="2052000" cy="6120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Group Accounts Consolidation &amp; MIS Reporting </a:t>
            </a:r>
          </a:p>
        </p:txBody>
      </p:sp>
      <p:sp>
        <p:nvSpPr>
          <p:cNvPr id="31" name="Rectangle 2"/>
          <p:cNvSpPr>
            <a:spLocks noChangeArrowheads="1"/>
          </p:cNvSpPr>
          <p:nvPr/>
        </p:nvSpPr>
        <p:spPr bwMode="auto">
          <a:xfrm>
            <a:off x="2692143" y="5064022"/>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Payroll Management</a:t>
            </a:r>
          </a:p>
        </p:txBody>
      </p:sp>
      <p:sp>
        <p:nvSpPr>
          <p:cNvPr id="32" name="Rectangle 2"/>
          <p:cNvSpPr>
            <a:spLocks noChangeArrowheads="1"/>
          </p:cNvSpPr>
          <p:nvPr/>
        </p:nvSpPr>
        <p:spPr bwMode="auto">
          <a:xfrm>
            <a:off x="2692143" y="4636096"/>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Pension &amp; PF Management</a:t>
            </a:r>
          </a:p>
        </p:txBody>
      </p:sp>
      <p:sp>
        <p:nvSpPr>
          <p:cNvPr id="33" name="Rectangle 2"/>
          <p:cNvSpPr>
            <a:spLocks noChangeArrowheads="1"/>
          </p:cNvSpPr>
          <p:nvPr/>
        </p:nvSpPr>
        <p:spPr bwMode="auto">
          <a:xfrm>
            <a:off x="1336105" y="6251302"/>
            <a:ext cx="2052000" cy="3960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Stores</a:t>
            </a:r>
          </a:p>
        </p:txBody>
      </p:sp>
      <p:cxnSp>
        <p:nvCxnSpPr>
          <p:cNvPr id="36" name="Elbow Connector 35"/>
          <p:cNvCxnSpPr>
            <a:stCxn id="23" idx="1"/>
            <a:endCxn id="29" idx="1"/>
          </p:cNvCxnSpPr>
          <p:nvPr/>
        </p:nvCxnSpPr>
        <p:spPr>
          <a:xfrm rot="10800000" flipH="1" flipV="1">
            <a:off x="1081450" y="3326698"/>
            <a:ext cx="254833" cy="522410"/>
          </a:xfrm>
          <a:prstGeom prst="bentConnector3">
            <a:avLst>
              <a:gd name="adj1" fmla="val -8970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0" name="Elbow Connector 39"/>
          <p:cNvCxnSpPr>
            <a:stCxn id="23" idx="1"/>
            <a:endCxn id="33" idx="1"/>
          </p:cNvCxnSpPr>
          <p:nvPr/>
        </p:nvCxnSpPr>
        <p:spPr>
          <a:xfrm rot="10800000" flipH="1" flipV="1">
            <a:off x="1081451" y="3326698"/>
            <a:ext cx="254654" cy="3122604"/>
          </a:xfrm>
          <a:prstGeom prst="bentConnector3">
            <a:avLst>
              <a:gd name="adj1" fmla="val -897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2" name="Elbow Connector 41"/>
          <p:cNvCxnSpPr>
            <a:stCxn id="29" idx="2"/>
            <a:endCxn id="31" idx="1"/>
          </p:cNvCxnSpPr>
          <p:nvPr/>
        </p:nvCxnSpPr>
        <p:spPr>
          <a:xfrm rot="16200000" flipH="1">
            <a:off x="1919756" y="4489635"/>
            <a:ext cx="1214914" cy="329859"/>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5" name="Elbow Connector 44"/>
          <p:cNvCxnSpPr>
            <a:stCxn id="29" idx="2"/>
            <a:endCxn id="32" idx="1"/>
          </p:cNvCxnSpPr>
          <p:nvPr/>
        </p:nvCxnSpPr>
        <p:spPr>
          <a:xfrm rot="16200000" flipH="1">
            <a:off x="2133719" y="4275672"/>
            <a:ext cx="786988" cy="329859"/>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7" name="Elbow Connector 46"/>
          <p:cNvCxnSpPr>
            <a:stCxn id="29" idx="2"/>
            <a:endCxn id="30" idx="1"/>
          </p:cNvCxnSpPr>
          <p:nvPr/>
        </p:nvCxnSpPr>
        <p:spPr>
          <a:xfrm rot="16200000" flipH="1">
            <a:off x="1651794" y="4757597"/>
            <a:ext cx="1750839" cy="329859"/>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9" name="Elbow Connector 48"/>
          <p:cNvCxnSpPr>
            <a:stCxn id="24" idx="1"/>
            <a:endCxn id="26" idx="1"/>
          </p:cNvCxnSpPr>
          <p:nvPr/>
        </p:nvCxnSpPr>
        <p:spPr>
          <a:xfrm rot="10800000" flipH="1" flipV="1">
            <a:off x="5533727" y="3326696"/>
            <a:ext cx="248562" cy="522411"/>
          </a:xfrm>
          <a:prstGeom prst="bentConnector3">
            <a:avLst>
              <a:gd name="adj1" fmla="val -919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Elbow Connector 50"/>
          <p:cNvCxnSpPr>
            <a:stCxn id="24" idx="1"/>
            <a:endCxn id="25" idx="1"/>
          </p:cNvCxnSpPr>
          <p:nvPr/>
        </p:nvCxnSpPr>
        <p:spPr>
          <a:xfrm rot="10800000" flipH="1" flipV="1">
            <a:off x="5533727" y="3326696"/>
            <a:ext cx="248562" cy="1160007"/>
          </a:xfrm>
          <a:prstGeom prst="bentConnector3">
            <a:avLst>
              <a:gd name="adj1" fmla="val -919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3" name="Elbow Connector 52"/>
          <p:cNvCxnSpPr>
            <a:stCxn id="24" idx="1"/>
            <a:endCxn id="27" idx="1"/>
          </p:cNvCxnSpPr>
          <p:nvPr/>
        </p:nvCxnSpPr>
        <p:spPr>
          <a:xfrm rot="10800000" flipH="1" flipV="1">
            <a:off x="5533727" y="3326696"/>
            <a:ext cx="248562" cy="1797603"/>
          </a:xfrm>
          <a:prstGeom prst="bentConnector3">
            <a:avLst>
              <a:gd name="adj1" fmla="val -919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5" name="Elbow Connector 54"/>
          <p:cNvCxnSpPr>
            <a:stCxn id="8" idx="2"/>
            <a:endCxn id="24" idx="0"/>
          </p:cNvCxnSpPr>
          <p:nvPr/>
        </p:nvCxnSpPr>
        <p:spPr>
          <a:xfrm rot="16200000" flipH="1">
            <a:off x="3887432" y="420401"/>
            <a:ext cx="403053" cy="5013538"/>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7" name="Elbow Connector 56"/>
          <p:cNvCxnSpPr>
            <a:stCxn id="8" idx="2"/>
            <a:endCxn id="23" idx="0"/>
          </p:cNvCxnSpPr>
          <p:nvPr/>
        </p:nvCxnSpPr>
        <p:spPr>
          <a:xfrm rot="16200000" flipH="1">
            <a:off x="1661293" y="2646540"/>
            <a:ext cx="403054" cy="561262"/>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78" name="Rectangle 2"/>
          <p:cNvSpPr>
            <a:spLocks noChangeArrowheads="1"/>
          </p:cNvSpPr>
          <p:nvPr/>
        </p:nvSpPr>
        <p:spPr bwMode="auto">
          <a:xfrm>
            <a:off x="2681846" y="4208170"/>
            <a:ext cx="2052000" cy="396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Holding Company Accounts</a:t>
            </a:r>
            <a:endParaRPr lang="en-US" sz="1200" b="1" kern="0" dirty="0">
              <a:solidFill>
                <a:prstClr val="white"/>
              </a:solidFill>
              <a:cs typeface="Arial" pitchFamily="34" charset="0"/>
            </a:endParaRPr>
          </a:p>
        </p:txBody>
      </p:sp>
      <p:cxnSp>
        <p:nvCxnSpPr>
          <p:cNvPr id="80" name="Elbow Connector 79"/>
          <p:cNvCxnSpPr>
            <a:stCxn id="29" idx="2"/>
            <a:endCxn id="78" idx="1"/>
          </p:cNvCxnSpPr>
          <p:nvPr/>
        </p:nvCxnSpPr>
        <p:spPr>
          <a:xfrm rot="16200000" flipH="1">
            <a:off x="2342534" y="4066858"/>
            <a:ext cx="359062" cy="31956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sp>
        <p:nvSpPr>
          <p:cNvPr id="83" name="Pentagon 82">
            <a:hlinkClick r:id="rId2" action="ppaction://hlinksldjump"/>
          </p:cNvPr>
          <p:cNvSpPr/>
          <p:nvPr/>
        </p:nvSpPr>
        <p:spPr bwMode="gray">
          <a:xfrm>
            <a:off x="10225744" y="686216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43" name="Pentagon 42">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532364907"/>
      </p:ext>
    </p:extLst>
  </p:cSld>
  <p:clrMapOvr>
    <a:masterClrMapping/>
  </p:clrMapOvr>
  <p:transition>
    <p:fade/>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r>
              <a:rPr lang="en-US" sz="2000" b="1" dirty="0" smtClean="0"/>
              <a:t>Proposed High-Level </a:t>
            </a:r>
            <a:r>
              <a:rPr lang="en-US" b="1" dirty="0"/>
              <a:t>Functional / Departmental Organogram </a:t>
            </a:r>
            <a:r>
              <a:rPr lang="en-US" sz="2000" b="1" dirty="0" smtClean="0"/>
              <a:t>under Distribution</a:t>
            </a:r>
            <a:endParaRPr lang="en-IN" sz="2000" b="1" dirty="0">
              <a:solidFill>
                <a:schemeClr val="accent1">
                  <a:lumMod val="75000"/>
                </a:schemeClr>
              </a:solidFill>
            </a:endParaRPr>
          </a:p>
        </p:txBody>
      </p:sp>
      <p:sp>
        <p:nvSpPr>
          <p:cNvPr id="6" name="Rectangle 2"/>
          <p:cNvSpPr>
            <a:spLocks noChangeArrowheads="1"/>
          </p:cNvSpPr>
          <p:nvPr/>
        </p:nvSpPr>
        <p:spPr bwMode="auto">
          <a:xfrm>
            <a:off x="439793" y="2265235"/>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Distribution Zone / Zones</a:t>
            </a:r>
            <a:endParaRPr lang="en-US" sz="1200" b="1" kern="0" dirty="0">
              <a:solidFill>
                <a:prstClr val="black"/>
              </a:solidFill>
              <a:cs typeface="Arial" pitchFamily="34" charset="0"/>
            </a:endParaRPr>
          </a:p>
        </p:txBody>
      </p:sp>
      <p:sp>
        <p:nvSpPr>
          <p:cNvPr id="7" name="Rectangle 2"/>
          <p:cNvSpPr>
            <a:spLocks noChangeArrowheads="1"/>
          </p:cNvSpPr>
          <p:nvPr/>
        </p:nvSpPr>
        <p:spPr bwMode="auto">
          <a:xfrm>
            <a:off x="599691" y="3449167"/>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O&amp;M Circle</a:t>
            </a:r>
            <a:endParaRPr lang="en-US" sz="1200" b="1" kern="0" dirty="0">
              <a:solidFill>
                <a:prstClr val="black"/>
              </a:solidFill>
              <a:cs typeface="Arial" pitchFamily="34" charset="0"/>
            </a:endParaRPr>
          </a:p>
        </p:txBody>
      </p:sp>
      <p:sp>
        <p:nvSpPr>
          <p:cNvPr id="9" name="Rectangle 2"/>
          <p:cNvSpPr>
            <a:spLocks noChangeArrowheads="1"/>
          </p:cNvSpPr>
          <p:nvPr/>
        </p:nvSpPr>
        <p:spPr bwMode="auto">
          <a:xfrm>
            <a:off x="2836753" y="4278676"/>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RAO / RAOs</a:t>
            </a:r>
            <a:endParaRPr lang="en-US" sz="1200" b="1" kern="0" dirty="0">
              <a:solidFill>
                <a:prstClr val="black"/>
              </a:solidFill>
              <a:cs typeface="Arial" pitchFamily="34" charset="0"/>
            </a:endParaRPr>
          </a:p>
        </p:txBody>
      </p:sp>
      <p:sp>
        <p:nvSpPr>
          <p:cNvPr id="10" name="Rectangle 2"/>
          <p:cNvSpPr>
            <a:spLocks noChangeArrowheads="1"/>
          </p:cNvSpPr>
          <p:nvPr/>
        </p:nvSpPr>
        <p:spPr bwMode="auto">
          <a:xfrm>
            <a:off x="2960966" y="2265236"/>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Consumer Affairs</a:t>
            </a:r>
            <a:endParaRPr lang="en-US" sz="1200" b="1" kern="0" dirty="0">
              <a:solidFill>
                <a:prstClr val="black"/>
              </a:solidFill>
              <a:cs typeface="Arial" pitchFamily="34" charset="0"/>
            </a:endParaRPr>
          </a:p>
        </p:txBody>
      </p:sp>
      <p:sp>
        <p:nvSpPr>
          <p:cNvPr id="11" name="Rectangle 2"/>
          <p:cNvSpPr>
            <a:spLocks noChangeArrowheads="1"/>
          </p:cNvSpPr>
          <p:nvPr/>
        </p:nvSpPr>
        <p:spPr bwMode="auto">
          <a:xfrm>
            <a:off x="2836753" y="3449167"/>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Distribution Project</a:t>
            </a:r>
            <a:endParaRPr lang="en-US" sz="1200" b="1" kern="0" dirty="0">
              <a:solidFill>
                <a:prstClr val="black"/>
              </a:solidFill>
              <a:cs typeface="Arial" pitchFamily="34" charset="0"/>
            </a:endParaRPr>
          </a:p>
        </p:txBody>
      </p:sp>
      <p:sp>
        <p:nvSpPr>
          <p:cNvPr id="13" name="Rectangle 2"/>
          <p:cNvSpPr>
            <a:spLocks noChangeArrowheads="1"/>
          </p:cNvSpPr>
          <p:nvPr/>
        </p:nvSpPr>
        <p:spPr bwMode="auto">
          <a:xfrm>
            <a:off x="599691" y="4278676"/>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Computer Centre (IT)</a:t>
            </a:r>
            <a:endParaRPr lang="en-US" sz="1200" b="1" kern="0" dirty="0">
              <a:solidFill>
                <a:prstClr val="black"/>
              </a:solidFill>
              <a:cs typeface="Arial" pitchFamily="34" charset="0"/>
            </a:endParaRPr>
          </a:p>
        </p:txBody>
      </p:sp>
      <p:sp>
        <p:nvSpPr>
          <p:cNvPr id="14" name="Rectangle 2"/>
          <p:cNvSpPr>
            <a:spLocks noChangeArrowheads="1"/>
          </p:cNvSpPr>
          <p:nvPr/>
        </p:nvSpPr>
        <p:spPr bwMode="auto">
          <a:xfrm>
            <a:off x="4181697" y="999093"/>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Distribution</a:t>
            </a:r>
          </a:p>
        </p:txBody>
      </p:sp>
      <p:sp>
        <p:nvSpPr>
          <p:cNvPr id="15" name="Rectangle 2"/>
          <p:cNvSpPr>
            <a:spLocks noChangeArrowheads="1"/>
          </p:cNvSpPr>
          <p:nvPr/>
        </p:nvSpPr>
        <p:spPr bwMode="auto">
          <a:xfrm>
            <a:off x="5482139" y="2265236"/>
            <a:ext cx="2222433"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Distribution Project</a:t>
            </a:r>
            <a:endParaRPr lang="en-US" sz="1200" b="1" kern="0" dirty="0">
              <a:solidFill>
                <a:prstClr val="black"/>
              </a:solidFill>
              <a:cs typeface="Arial" pitchFamily="34" charset="0"/>
            </a:endParaRPr>
          </a:p>
        </p:txBody>
      </p:sp>
      <p:sp>
        <p:nvSpPr>
          <p:cNvPr id="16" name="Rectangle 2"/>
          <p:cNvSpPr>
            <a:spLocks noChangeArrowheads="1"/>
          </p:cNvSpPr>
          <p:nvPr/>
        </p:nvSpPr>
        <p:spPr bwMode="auto">
          <a:xfrm>
            <a:off x="5482138" y="3393098"/>
            <a:ext cx="2222433"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Power Distribution System Development Projects</a:t>
            </a:r>
            <a:endParaRPr lang="en-US" sz="1200" b="1" kern="0" dirty="0">
              <a:solidFill>
                <a:prstClr val="black"/>
              </a:solidFill>
              <a:cs typeface="Arial" pitchFamily="34" charset="0"/>
            </a:endParaRPr>
          </a:p>
        </p:txBody>
      </p:sp>
      <p:sp>
        <p:nvSpPr>
          <p:cNvPr id="19" name="Rectangle 2"/>
          <p:cNvSpPr>
            <a:spLocks noChangeArrowheads="1"/>
          </p:cNvSpPr>
          <p:nvPr/>
        </p:nvSpPr>
        <p:spPr bwMode="auto">
          <a:xfrm>
            <a:off x="599691" y="5108185"/>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Commercial Operation</a:t>
            </a:r>
            <a:endParaRPr lang="en-US" sz="1200" b="1" kern="0" dirty="0">
              <a:solidFill>
                <a:prstClr val="black"/>
              </a:solidFill>
              <a:cs typeface="Arial" pitchFamily="34" charset="0"/>
            </a:endParaRPr>
          </a:p>
        </p:txBody>
      </p:sp>
      <p:sp>
        <p:nvSpPr>
          <p:cNvPr id="20" name="Rectangle 2"/>
          <p:cNvSpPr>
            <a:spLocks noChangeArrowheads="1"/>
          </p:cNvSpPr>
          <p:nvPr/>
        </p:nvSpPr>
        <p:spPr bwMode="auto">
          <a:xfrm>
            <a:off x="8440144" y="2265236"/>
            <a:ext cx="1785600"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Corporate, Commercial &amp; Regulatory</a:t>
            </a:r>
          </a:p>
        </p:txBody>
      </p:sp>
      <p:sp>
        <p:nvSpPr>
          <p:cNvPr id="21" name="Rectangle 20"/>
          <p:cNvSpPr/>
          <p:nvPr/>
        </p:nvSpPr>
        <p:spPr>
          <a:xfrm>
            <a:off x="6040790" y="6893738"/>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algn="ctr" defTabSz="914400"/>
            <a:endParaRPr lang="en-US" sz="1802" kern="0">
              <a:solidFill>
                <a:prstClr val="white"/>
              </a:solidFill>
              <a:latin typeface="Calibri" panose="020F0502020204030204"/>
            </a:endParaRPr>
          </a:p>
        </p:txBody>
      </p:sp>
      <p:sp>
        <p:nvSpPr>
          <p:cNvPr id="22" name="Rectangle 21"/>
          <p:cNvSpPr/>
          <p:nvPr/>
        </p:nvSpPr>
        <p:spPr>
          <a:xfrm>
            <a:off x="6040790" y="7198537"/>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23" name="TextBox 22"/>
          <p:cNvSpPr txBox="1"/>
          <p:nvPr/>
        </p:nvSpPr>
        <p:spPr>
          <a:xfrm>
            <a:off x="7107591" y="6817538"/>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24" name="TextBox 23"/>
          <p:cNvSpPr txBox="1"/>
          <p:nvPr/>
        </p:nvSpPr>
        <p:spPr>
          <a:xfrm>
            <a:off x="7107593" y="7122339"/>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25" name="Rectangle 24"/>
          <p:cNvSpPr/>
          <p:nvPr/>
        </p:nvSpPr>
        <p:spPr>
          <a:xfrm>
            <a:off x="6040790" y="6588592"/>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26" name="TextBox 25"/>
          <p:cNvSpPr txBox="1"/>
          <p:nvPr/>
        </p:nvSpPr>
        <p:spPr>
          <a:xfrm>
            <a:off x="7107591" y="6512392"/>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cxnSp>
        <p:nvCxnSpPr>
          <p:cNvPr id="28" name="Elbow Connector 27"/>
          <p:cNvCxnSpPr>
            <a:stCxn id="14" idx="2"/>
            <a:endCxn id="6" idx="0"/>
          </p:cNvCxnSpPr>
          <p:nvPr/>
        </p:nvCxnSpPr>
        <p:spPr>
          <a:xfrm rot="5400000">
            <a:off x="2865005" y="55742"/>
            <a:ext cx="677081" cy="3741904"/>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0" name="Elbow Connector 29"/>
          <p:cNvCxnSpPr>
            <a:stCxn id="14" idx="2"/>
            <a:endCxn id="10" idx="0"/>
          </p:cNvCxnSpPr>
          <p:nvPr/>
        </p:nvCxnSpPr>
        <p:spPr>
          <a:xfrm rot="5400000">
            <a:off x="4125591" y="1316330"/>
            <a:ext cx="677082" cy="122073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2" name="Elbow Connector 31"/>
          <p:cNvCxnSpPr>
            <a:stCxn id="14" idx="2"/>
            <a:endCxn id="15" idx="0"/>
          </p:cNvCxnSpPr>
          <p:nvPr/>
        </p:nvCxnSpPr>
        <p:spPr>
          <a:xfrm rot="16200000" flipH="1">
            <a:off x="5495385" y="1167265"/>
            <a:ext cx="677082" cy="151885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4" name="Elbow Connector 33"/>
          <p:cNvCxnSpPr>
            <a:stCxn id="14" idx="2"/>
            <a:endCxn id="20" idx="0"/>
          </p:cNvCxnSpPr>
          <p:nvPr/>
        </p:nvCxnSpPr>
        <p:spPr>
          <a:xfrm rot="16200000" flipH="1">
            <a:off x="6865179" y="-202529"/>
            <a:ext cx="677082" cy="4258447"/>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6" name="Elbow Connector 35"/>
          <p:cNvCxnSpPr>
            <a:stCxn id="6" idx="2"/>
            <a:endCxn id="7" idx="1"/>
          </p:cNvCxnSpPr>
          <p:nvPr/>
        </p:nvCxnSpPr>
        <p:spPr>
          <a:xfrm rot="5400000">
            <a:off x="521441" y="2932546"/>
            <a:ext cx="889402" cy="732902"/>
          </a:xfrm>
          <a:prstGeom prst="bentConnector4">
            <a:avLst>
              <a:gd name="adj1" fmla="val 33442"/>
              <a:gd name="adj2" fmla="val 13119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8" name="Elbow Connector 37"/>
          <p:cNvCxnSpPr>
            <a:stCxn id="6" idx="2"/>
            <a:endCxn id="13" idx="1"/>
          </p:cNvCxnSpPr>
          <p:nvPr/>
        </p:nvCxnSpPr>
        <p:spPr>
          <a:xfrm rot="5400000">
            <a:off x="106687" y="3347300"/>
            <a:ext cx="1718911" cy="732902"/>
          </a:xfrm>
          <a:prstGeom prst="bentConnector4">
            <a:avLst>
              <a:gd name="adj1" fmla="val 17525"/>
              <a:gd name="adj2" fmla="val 13119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0" name="Elbow Connector 39"/>
          <p:cNvCxnSpPr>
            <a:stCxn id="6" idx="2"/>
            <a:endCxn id="19" idx="1"/>
          </p:cNvCxnSpPr>
          <p:nvPr/>
        </p:nvCxnSpPr>
        <p:spPr>
          <a:xfrm rot="5400000">
            <a:off x="-308068" y="3762055"/>
            <a:ext cx="2548420" cy="732902"/>
          </a:xfrm>
          <a:prstGeom prst="bentConnector4">
            <a:avLst>
              <a:gd name="adj1" fmla="val 11968"/>
              <a:gd name="adj2" fmla="val 13119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2" name="Elbow Connector 41"/>
          <p:cNvCxnSpPr>
            <a:stCxn id="6" idx="2"/>
            <a:endCxn id="11" idx="3"/>
          </p:cNvCxnSpPr>
          <p:nvPr/>
        </p:nvCxnSpPr>
        <p:spPr>
          <a:xfrm rot="16200000" flipH="1">
            <a:off x="2532772" y="1654117"/>
            <a:ext cx="889402" cy="3289760"/>
          </a:xfrm>
          <a:prstGeom prst="bentConnector4">
            <a:avLst>
              <a:gd name="adj1" fmla="val 33442"/>
              <a:gd name="adj2" fmla="val 10694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4" name="Elbow Connector 43"/>
          <p:cNvCxnSpPr>
            <a:stCxn id="6" idx="2"/>
            <a:endCxn id="9" idx="3"/>
          </p:cNvCxnSpPr>
          <p:nvPr/>
        </p:nvCxnSpPr>
        <p:spPr>
          <a:xfrm rot="16200000" flipH="1">
            <a:off x="2118018" y="2068871"/>
            <a:ext cx="1718911" cy="3289760"/>
          </a:xfrm>
          <a:prstGeom prst="bentConnector4">
            <a:avLst>
              <a:gd name="adj1" fmla="val 17524"/>
              <a:gd name="adj2" fmla="val 10694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8" name="Elbow Connector 57"/>
          <p:cNvCxnSpPr>
            <a:stCxn id="15" idx="2"/>
            <a:endCxn id="16" idx="0"/>
          </p:cNvCxnSpPr>
          <p:nvPr/>
        </p:nvCxnSpPr>
        <p:spPr>
          <a:xfrm rot="5400000">
            <a:off x="6323956" y="3123697"/>
            <a:ext cx="538801" cy="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Pentagon 36">
            <a:hlinkClick r:id="rId2" action="ppaction://hlinksldjump"/>
          </p:cNvPr>
          <p:cNvSpPr/>
          <p:nvPr/>
        </p:nvSpPr>
        <p:spPr bwMode="gray">
          <a:xfrm>
            <a:off x="10225744" y="6862162"/>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1" name="Pentagon 30">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630233235"/>
      </p:ext>
    </p:extLst>
  </p:cSld>
  <p:clrMapOvr>
    <a:masterClrMapping/>
  </p:clrMapOvr>
  <p:transition>
    <p:fade/>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r>
              <a:rPr lang="en-US" sz="2000" b="1" dirty="0" smtClean="0"/>
              <a:t>Proposed High-Level </a:t>
            </a:r>
            <a:r>
              <a:rPr lang="en-US" b="1" dirty="0"/>
              <a:t>Functional / Departmental Organogram under </a:t>
            </a:r>
            <a:r>
              <a:rPr lang="en-US" b="1" dirty="0" smtClean="0"/>
              <a:t>Commercial, Regulatory </a:t>
            </a:r>
            <a:r>
              <a:rPr lang="en-US" b="1" dirty="0"/>
              <a:t>&amp; Bulk Supply</a:t>
            </a:r>
          </a:p>
        </p:txBody>
      </p:sp>
      <p:sp>
        <p:nvSpPr>
          <p:cNvPr id="6" name="Rectangle 2"/>
          <p:cNvSpPr>
            <a:spLocks noChangeArrowheads="1"/>
          </p:cNvSpPr>
          <p:nvPr/>
        </p:nvSpPr>
        <p:spPr bwMode="auto">
          <a:xfrm>
            <a:off x="6755108" y="2358471"/>
            <a:ext cx="1944000" cy="540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Bulk Supply / Single Buyer</a:t>
            </a:r>
          </a:p>
        </p:txBody>
      </p:sp>
      <p:sp>
        <p:nvSpPr>
          <p:cNvPr id="7" name="Rectangle 2"/>
          <p:cNvSpPr>
            <a:spLocks noChangeArrowheads="1"/>
          </p:cNvSpPr>
          <p:nvPr/>
        </p:nvSpPr>
        <p:spPr bwMode="auto">
          <a:xfrm>
            <a:off x="5320774" y="3347435"/>
            <a:ext cx="1944000" cy="540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PPA Management</a:t>
            </a:r>
          </a:p>
        </p:txBody>
      </p:sp>
      <p:sp>
        <p:nvSpPr>
          <p:cNvPr id="9" name="Rectangle 2"/>
          <p:cNvSpPr>
            <a:spLocks noChangeArrowheads="1"/>
          </p:cNvSpPr>
          <p:nvPr/>
        </p:nvSpPr>
        <p:spPr bwMode="auto">
          <a:xfrm>
            <a:off x="5320774" y="4406455"/>
            <a:ext cx="1944000" cy="8280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System Operator Monitoring &amp; Power Purchase Portfolio Management</a:t>
            </a:r>
          </a:p>
        </p:txBody>
      </p:sp>
      <p:sp>
        <p:nvSpPr>
          <p:cNvPr id="10" name="Rectangle 2"/>
          <p:cNvSpPr>
            <a:spLocks noChangeArrowheads="1"/>
          </p:cNvSpPr>
          <p:nvPr/>
        </p:nvSpPr>
        <p:spPr bwMode="auto">
          <a:xfrm>
            <a:off x="8404026" y="3347435"/>
            <a:ext cx="1944000" cy="540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Cross-Border Power Trade</a:t>
            </a:r>
          </a:p>
        </p:txBody>
      </p:sp>
      <p:sp>
        <p:nvSpPr>
          <p:cNvPr id="13" name="Rectangle 2"/>
          <p:cNvSpPr>
            <a:spLocks noChangeArrowheads="1"/>
          </p:cNvSpPr>
          <p:nvPr/>
        </p:nvSpPr>
        <p:spPr bwMode="auto">
          <a:xfrm>
            <a:off x="1526447" y="2358471"/>
            <a:ext cx="1785600" cy="5400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Commercial &amp; Regulatory</a:t>
            </a:r>
          </a:p>
        </p:txBody>
      </p:sp>
      <p:sp>
        <p:nvSpPr>
          <p:cNvPr id="14" name="Rectangle 2"/>
          <p:cNvSpPr>
            <a:spLocks noChangeArrowheads="1"/>
          </p:cNvSpPr>
          <p:nvPr/>
        </p:nvSpPr>
        <p:spPr bwMode="auto">
          <a:xfrm>
            <a:off x="394823" y="3347435"/>
            <a:ext cx="158400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Regulatory Filing &amp; Management</a:t>
            </a:r>
          </a:p>
        </p:txBody>
      </p:sp>
      <p:sp>
        <p:nvSpPr>
          <p:cNvPr id="15" name="Rectangle 2"/>
          <p:cNvSpPr>
            <a:spLocks noChangeArrowheads="1"/>
          </p:cNvSpPr>
          <p:nvPr/>
        </p:nvSpPr>
        <p:spPr bwMode="auto">
          <a:xfrm>
            <a:off x="394823" y="4440367"/>
            <a:ext cx="1584000" cy="601643"/>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Subsidy Management</a:t>
            </a:r>
          </a:p>
        </p:txBody>
      </p:sp>
      <p:sp>
        <p:nvSpPr>
          <p:cNvPr id="16" name="Rectangle 2"/>
          <p:cNvSpPr>
            <a:spLocks noChangeArrowheads="1"/>
          </p:cNvSpPr>
          <p:nvPr/>
        </p:nvSpPr>
        <p:spPr bwMode="auto">
          <a:xfrm>
            <a:off x="394823" y="5490974"/>
            <a:ext cx="158400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Bulk Sale Meter Reading, Billing &amp; Collection</a:t>
            </a:r>
          </a:p>
        </p:txBody>
      </p:sp>
      <p:sp>
        <p:nvSpPr>
          <p:cNvPr id="17" name="Rectangle 2"/>
          <p:cNvSpPr>
            <a:spLocks noChangeArrowheads="1"/>
          </p:cNvSpPr>
          <p:nvPr/>
        </p:nvSpPr>
        <p:spPr bwMode="auto">
          <a:xfrm>
            <a:off x="394823" y="6516031"/>
            <a:ext cx="1584000" cy="647967"/>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Centralized Fuel Management</a:t>
            </a:r>
          </a:p>
        </p:txBody>
      </p:sp>
      <p:sp>
        <p:nvSpPr>
          <p:cNvPr id="18" name="Rectangle 2"/>
          <p:cNvSpPr>
            <a:spLocks noChangeArrowheads="1"/>
          </p:cNvSpPr>
          <p:nvPr/>
        </p:nvSpPr>
        <p:spPr bwMode="auto">
          <a:xfrm>
            <a:off x="2731798" y="3353417"/>
            <a:ext cx="1584000" cy="601643"/>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Energy Auditing Unit</a:t>
            </a:r>
          </a:p>
        </p:txBody>
      </p:sp>
      <p:sp>
        <p:nvSpPr>
          <p:cNvPr id="19" name="Rectangle 2"/>
          <p:cNvSpPr>
            <a:spLocks noChangeArrowheads="1"/>
          </p:cNvSpPr>
          <p:nvPr/>
        </p:nvSpPr>
        <p:spPr bwMode="auto">
          <a:xfrm>
            <a:off x="2731798" y="5490974"/>
            <a:ext cx="158400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ICT</a:t>
            </a:r>
          </a:p>
        </p:txBody>
      </p:sp>
      <p:sp>
        <p:nvSpPr>
          <p:cNvPr id="20" name="Rectangle 2"/>
          <p:cNvSpPr>
            <a:spLocks noChangeArrowheads="1"/>
          </p:cNvSpPr>
          <p:nvPr/>
        </p:nvSpPr>
        <p:spPr bwMode="auto">
          <a:xfrm>
            <a:off x="2731798" y="4417204"/>
            <a:ext cx="1584000" cy="647967"/>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white"/>
                </a:solidFill>
                <a:cs typeface="Arial" pitchFamily="34" charset="0"/>
              </a:rPr>
              <a:t>Computer Center (IT)</a:t>
            </a:r>
          </a:p>
        </p:txBody>
      </p:sp>
      <p:sp>
        <p:nvSpPr>
          <p:cNvPr id="21" name="Rectangle 2"/>
          <p:cNvSpPr>
            <a:spLocks noChangeArrowheads="1"/>
          </p:cNvSpPr>
          <p:nvPr/>
        </p:nvSpPr>
        <p:spPr bwMode="auto">
          <a:xfrm>
            <a:off x="4411452" y="1313002"/>
            <a:ext cx="1368000"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defRPr/>
            </a:pPr>
            <a:r>
              <a:rPr lang="en-US" sz="1200" b="1" kern="0" dirty="0" smtClean="0">
                <a:solidFill>
                  <a:prstClr val="black"/>
                </a:solidFill>
                <a:cs typeface="Arial" pitchFamily="34" charset="0"/>
              </a:rPr>
              <a:t>Commercial, Regulatory &amp; Bulk Supply</a:t>
            </a:r>
          </a:p>
        </p:txBody>
      </p:sp>
      <p:cxnSp>
        <p:nvCxnSpPr>
          <p:cNvPr id="23" name="Elbow Connector 22"/>
          <p:cNvCxnSpPr>
            <a:stCxn id="21" idx="2"/>
            <a:endCxn id="13" idx="0"/>
          </p:cNvCxnSpPr>
          <p:nvPr/>
        </p:nvCxnSpPr>
        <p:spPr>
          <a:xfrm rot="5400000">
            <a:off x="3594616" y="857634"/>
            <a:ext cx="325469" cy="2676205"/>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5" name="Elbow Connector 24"/>
          <p:cNvCxnSpPr>
            <a:stCxn id="21" idx="2"/>
            <a:endCxn id="6" idx="0"/>
          </p:cNvCxnSpPr>
          <p:nvPr/>
        </p:nvCxnSpPr>
        <p:spPr>
          <a:xfrm rot="16200000" flipH="1">
            <a:off x="6248546" y="879908"/>
            <a:ext cx="325469" cy="2631656"/>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Elbow Connector 26"/>
          <p:cNvCxnSpPr>
            <a:stCxn id="13" idx="2"/>
            <a:endCxn id="14" idx="1"/>
          </p:cNvCxnSpPr>
          <p:nvPr/>
        </p:nvCxnSpPr>
        <p:spPr>
          <a:xfrm rot="5400000">
            <a:off x="1020561" y="2272733"/>
            <a:ext cx="772948" cy="2024424"/>
          </a:xfrm>
          <a:prstGeom prst="bentConnector4">
            <a:avLst>
              <a:gd name="adj1" fmla="val 29042"/>
              <a:gd name="adj2" fmla="val 11129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9" name="Elbow Connector 28"/>
          <p:cNvCxnSpPr>
            <a:stCxn id="13" idx="2"/>
            <a:endCxn id="15" idx="1"/>
          </p:cNvCxnSpPr>
          <p:nvPr/>
        </p:nvCxnSpPr>
        <p:spPr>
          <a:xfrm rot="5400000">
            <a:off x="485676" y="2807618"/>
            <a:ext cx="1842718" cy="2024424"/>
          </a:xfrm>
          <a:prstGeom prst="bentConnector4">
            <a:avLst>
              <a:gd name="adj1" fmla="val 12234"/>
              <a:gd name="adj2" fmla="val 11129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1" name="Elbow Connector 30"/>
          <p:cNvCxnSpPr>
            <a:stCxn id="13" idx="2"/>
            <a:endCxn id="16" idx="1"/>
          </p:cNvCxnSpPr>
          <p:nvPr/>
        </p:nvCxnSpPr>
        <p:spPr>
          <a:xfrm rot="5400000">
            <a:off x="-51208" y="3344502"/>
            <a:ext cx="2916487" cy="2024424"/>
          </a:xfrm>
          <a:prstGeom prst="bentConnector4">
            <a:avLst>
              <a:gd name="adj1" fmla="val 7749"/>
              <a:gd name="adj2" fmla="val 11129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3" name="Elbow Connector 32"/>
          <p:cNvCxnSpPr>
            <a:stCxn id="13" idx="2"/>
            <a:endCxn id="18" idx="3"/>
          </p:cNvCxnSpPr>
          <p:nvPr/>
        </p:nvCxnSpPr>
        <p:spPr>
          <a:xfrm rot="16200000" flipH="1">
            <a:off x="2989638" y="2328079"/>
            <a:ext cx="755768" cy="1896551"/>
          </a:xfrm>
          <a:prstGeom prst="bentConnector4">
            <a:avLst>
              <a:gd name="adj1" fmla="val 30098"/>
              <a:gd name="adj2" fmla="val 11205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5" name="Elbow Connector 34"/>
          <p:cNvCxnSpPr>
            <a:stCxn id="13" idx="2"/>
            <a:endCxn id="20" idx="3"/>
          </p:cNvCxnSpPr>
          <p:nvPr/>
        </p:nvCxnSpPr>
        <p:spPr>
          <a:xfrm rot="16200000" flipH="1">
            <a:off x="2446164" y="2871553"/>
            <a:ext cx="1842717" cy="1896551"/>
          </a:xfrm>
          <a:prstGeom prst="bentConnector4">
            <a:avLst>
              <a:gd name="adj1" fmla="val 12451"/>
              <a:gd name="adj2" fmla="val 11205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7" name="Elbow Connector 36"/>
          <p:cNvCxnSpPr>
            <a:stCxn id="13" idx="2"/>
            <a:endCxn id="19" idx="3"/>
          </p:cNvCxnSpPr>
          <p:nvPr/>
        </p:nvCxnSpPr>
        <p:spPr>
          <a:xfrm rot="16200000" flipH="1">
            <a:off x="1909279" y="3408438"/>
            <a:ext cx="2916487" cy="1896551"/>
          </a:xfrm>
          <a:prstGeom prst="bentConnector4">
            <a:avLst>
              <a:gd name="adj1" fmla="val 7749"/>
              <a:gd name="adj2" fmla="val 11205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9" name="Elbow Connector 38"/>
          <p:cNvCxnSpPr>
            <a:stCxn id="13" idx="2"/>
            <a:endCxn id="17" idx="1"/>
          </p:cNvCxnSpPr>
          <p:nvPr/>
        </p:nvCxnSpPr>
        <p:spPr>
          <a:xfrm rot="5400000">
            <a:off x="-563737" y="3857031"/>
            <a:ext cx="3941544" cy="2024424"/>
          </a:xfrm>
          <a:prstGeom prst="bentConnector4">
            <a:avLst>
              <a:gd name="adj1" fmla="val 5819"/>
              <a:gd name="adj2" fmla="val 11129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7" name="Elbow Connector 46"/>
          <p:cNvCxnSpPr>
            <a:stCxn id="6" idx="2"/>
            <a:endCxn id="7" idx="1"/>
          </p:cNvCxnSpPr>
          <p:nvPr/>
        </p:nvCxnSpPr>
        <p:spPr>
          <a:xfrm rot="5400000">
            <a:off x="6164459" y="2054786"/>
            <a:ext cx="718964" cy="2406334"/>
          </a:xfrm>
          <a:prstGeom prst="bentConnector4">
            <a:avLst>
              <a:gd name="adj1" fmla="val 31223"/>
              <a:gd name="adj2" fmla="val 1095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9" name="Elbow Connector 48"/>
          <p:cNvCxnSpPr>
            <a:stCxn id="6" idx="2"/>
            <a:endCxn id="9" idx="1"/>
          </p:cNvCxnSpPr>
          <p:nvPr/>
        </p:nvCxnSpPr>
        <p:spPr>
          <a:xfrm rot="5400000">
            <a:off x="5562949" y="2656296"/>
            <a:ext cx="1921984" cy="2406334"/>
          </a:xfrm>
          <a:prstGeom prst="bentConnector4">
            <a:avLst>
              <a:gd name="adj1" fmla="val 11909"/>
              <a:gd name="adj2" fmla="val 1095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Elbow Connector 50"/>
          <p:cNvCxnSpPr>
            <a:stCxn id="6" idx="2"/>
            <a:endCxn id="10" idx="3"/>
          </p:cNvCxnSpPr>
          <p:nvPr/>
        </p:nvCxnSpPr>
        <p:spPr>
          <a:xfrm rot="16200000" flipH="1">
            <a:off x="8678085" y="1947494"/>
            <a:ext cx="718964" cy="2620918"/>
          </a:xfrm>
          <a:prstGeom prst="bentConnector4">
            <a:avLst>
              <a:gd name="adj1" fmla="val 31223"/>
              <a:gd name="adj2" fmla="val 108722"/>
            </a:avLst>
          </a:prstGeom>
          <a:ln>
            <a:tailEnd type="triangle"/>
          </a:ln>
        </p:spPr>
        <p:style>
          <a:lnRef idx="1">
            <a:schemeClr val="accent3"/>
          </a:lnRef>
          <a:fillRef idx="0">
            <a:schemeClr val="accent3"/>
          </a:fillRef>
          <a:effectRef idx="0">
            <a:schemeClr val="accent3"/>
          </a:effectRef>
          <a:fontRef idx="minor">
            <a:schemeClr val="tx1"/>
          </a:fontRef>
        </p:style>
      </p:cxnSp>
      <p:sp>
        <p:nvSpPr>
          <p:cNvPr id="53" name="Rectangle 52"/>
          <p:cNvSpPr/>
          <p:nvPr/>
        </p:nvSpPr>
        <p:spPr>
          <a:xfrm>
            <a:off x="6040790" y="6938708"/>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algn="ctr" defTabSz="914400"/>
            <a:endParaRPr lang="en-US" sz="1802" kern="0">
              <a:solidFill>
                <a:prstClr val="white"/>
              </a:solidFill>
              <a:latin typeface="Calibri" panose="020F0502020204030204"/>
            </a:endParaRPr>
          </a:p>
        </p:txBody>
      </p:sp>
      <p:sp>
        <p:nvSpPr>
          <p:cNvPr id="54" name="Rectangle 53"/>
          <p:cNvSpPr/>
          <p:nvPr/>
        </p:nvSpPr>
        <p:spPr>
          <a:xfrm>
            <a:off x="6040790" y="7243507"/>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55" name="TextBox 54"/>
          <p:cNvSpPr txBox="1"/>
          <p:nvPr/>
        </p:nvSpPr>
        <p:spPr>
          <a:xfrm>
            <a:off x="7107591" y="6862508"/>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56" name="TextBox 55"/>
          <p:cNvSpPr txBox="1"/>
          <p:nvPr/>
        </p:nvSpPr>
        <p:spPr>
          <a:xfrm>
            <a:off x="7107593" y="7167309"/>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57" name="Rectangle 56"/>
          <p:cNvSpPr/>
          <p:nvPr/>
        </p:nvSpPr>
        <p:spPr>
          <a:xfrm>
            <a:off x="6040790" y="6633562"/>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58" name="TextBox 57"/>
          <p:cNvSpPr txBox="1"/>
          <p:nvPr/>
        </p:nvSpPr>
        <p:spPr>
          <a:xfrm>
            <a:off x="7107591" y="6557362"/>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61" name="Pentagon 60">
            <a:hlinkClick r:id="rId2" action="ppaction://hlinksldjump"/>
          </p:cNvPr>
          <p:cNvSpPr/>
          <p:nvPr/>
        </p:nvSpPr>
        <p:spPr bwMode="gray">
          <a:xfrm>
            <a:off x="10225744" y="6855173"/>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6" name="Pentagon 35">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2509041732"/>
      </p:ext>
    </p:extLst>
  </p:cSld>
  <p:clrMapOvr>
    <a:masterClrMapping/>
  </p:clrMapOvr>
  <p:transition>
    <p:fade/>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r>
              <a:rPr lang="en-US" b="1" dirty="0"/>
              <a:t>Proposed High-Level Functional / Departmental Organogram </a:t>
            </a:r>
            <a:r>
              <a:rPr lang="en-US" b="1" dirty="0" smtClean="0"/>
              <a:t>under Planning &amp; Development</a:t>
            </a:r>
            <a:endParaRPr lang="en-US" b="1" dirty="0"/>
          </a:p>
        </p:txBody>
      </p:sp>
      <p:sp>
        <p:nvSpPr>
          <p:cNvPr id="34" name="Rectangle 2"/>
          <p:cNvSpPr>
            <a:spLocks noChangeArrowheads="1"/>
          </p:cNvSpPr>
          <p:nvPr/>
        </p:nvSpPr>
        <p:spPr bwMode="auto">
          <a:xfrm>
            <a:off x="4451520" y="952083"/>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Planning &amp; Development</a:t>
            </a:r>
          </a:p>
        </p:txBody>
      </p:sp>
      <p:sp>
        <p:nvSpPr>
          <p:cNvPr id="35" name="Rectangle 2"/>
          <p:cNvSpPr>
            <a:spLocks noChangeArrowheads="1"/>
          </p:cNvSpPr>
          <p:nvPr/>
        </p:nvSpPr>
        <p:spPr bwMode="auto">
          <a:xfrm>
            <a:off x="488954" y="1927055"/>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Planning &amp; Design</a:t>
            </a:r>
          </a:p>
        </p:txBody>
      </p:sp>
      <p:cxnSp>
        <p:nvCxnSpPr>
          <p:cNvPr id="36" name="Elbow Connector 35"/>
          <p:cNvCxnSpPr>
            <a:stCxn id="34" idx="2"/>
            <a:endCxn id="35" idx="0"/>
          </p:cNvCxnSpPr>
          <p:nvPr/>
        </p:nvCxnSpPr>
        <p:spPr>
          <a:xfrm rot="5400000">
            <a:off x="3119682" y="-297584"/>
            <a:ext cx="385911" cy="4063366"/>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Rectangle 2"/>
          <p:cNvSpPr>
            <a:spLocks noChangeArrowheads="1"/>
          </p:cNvSpPr>
          <p:nvPr/>
        </p:nvSpPr>
        <p:spPr bwMode="auto">
          <a:xfrm>
            <a:off x="2506880" y="1927308"/>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Khulna 330 MW Project</a:t>
            </a:r>
          </a:p>
        </p:txBody>
      </p:sp>
      <p:sp>
        <p:nvSpPr>
          <p:cNvPr id="38" name="Rectangle 2"/>
          <p:cNvSpPr>
            <a:spLocks noChangeArrowheads="1"/>
          </p:cNvSpPr>
          <p:nvPr/>
        </p:nvSpPr>
        <p:spPr bwMode="auto">
          <a:xfrm>
            <a:off x="4552320" y="1927055"/>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err="1">
                <a:solidFill>
                  <a:sysClr val="windowText" lastClr="000000"/>
                </a:solidFill>
                <a:cs typeface="Arial" pitchFamily="34" charset="0"/>
              </a:rPr>
              <a:t>Ghorasal</a:t>
            </a:r>
            <a:r>
              <a:rPr lang="en-US" sz="1200" b="1" kern="0" dirty="0">
                <a:solidFill>
                  <a:sysClr val="windowText" lastClr="000000"/>
                </a:solidFill>
                <a:cs typeface="Arial" pitchFamily="34" charset="0"/>
              </a:rPr>
              <a:t> Re-powering Project</a:t>
            </a:r>
          </a:p>
        </p:txBody>
      </p:sp>
      <p:sp>
        <p:nvSpPr>
          <p:cNvPr id="39" name="Rectangle 2"/>
          <p:cNvSpPr>
            <a:spLocks noChangeArrowheads="1"/>
          </p:cNvSpPr>
          <p:nvPr/>
        </p:nvSpPr>
        <p:spPr bwMode="auto">
          <a:xfrm>
            <a:off x="8643200" y="193005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Services</a:t>
            </a:r>
          </a:p>
        </p:txBody>
      </p:sp>
      <p:sp>
        <p:nvSpPr>
          <p:cNvPr id="40" name="Rectangle 2"/>
          <p:cNvSpPr>
            <a:spLocks noChangeArrowheads="1"/>
          </p:cNvSpPr>
          <p:nvPr/>
        </p:nvSpPr>
        <p:spPr bwMode="auto">
          <a:xfrm>
            <a:off x="6597760" y="1927055"/>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Civil Works</a:t>
            </a:r>
            <a:endParaRPr lang="en-US" sz="1200" b="1" kern="0" dirty="0">
              <a:solidFill>
                <a:sysClr val="windowText" lastClr="000000"/>
              </a:solidFill>
              <a:cs typeface="Arial" pitchFamily="34" charset="0"/>
            </a:endParaRPr>
          </a:p>
        </p:txBody>
      </p:sp>
      <p:cxnSp>
        <p:nvCxnSpPr>
          <p:cNvPr id="41" name="Elbow Connector 40"/>
          <p:cNvCxnSpPr>
            <a:stCxn id="34" idx="2"/>
            <a:endCxn id="37" idx="0"/>
          </p:cNvCxnSpPr>
          <p:nvPr/>
        </p:nvCxnSpPr>
        <p:spPr>
          <a:xfrm rot="5400000">
            <a:off x="4128518" y="711506"/>
            <a:ext cx="386164" cy="204544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2" name="Elbow Connector 41"/>
          <p:cNvCxnSpPr>
            <a:stCxn id="34" idx="2"/>
            <a:endCxn id="40" idx="0"/>
          </p:cNvCxnSpPr>
          <p:nvPr/>
        </p:nvCxnSpPr>
        <p:spPr>
          <a:xfrm rot="16200000" flipH="1">
            <a:off x="6174085" y="711379"/>
            <a:ext cx="385911" cy="2045440"/>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3" name="Elbow Connector 42"/>
          <p:cNvCxnSpPr>
            <a:stCxn id="34" idx="2"/>
            <a:endCxn id="39" idx="0"/>
          </p:cNvCxnSpPr>
          <p:nvPr/>
        </p:nvCxnSpPr>
        <p:spPr>
          <a:xfrm rot="16200000" flipH="1">
            <a:off x="7195305" y="-309841"/>
            <a:ext cx="388910" cy="4090880"/>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4" name="Straight Arrow Connector 43"/>
          <p:cNvCxnSpPr>
            <a:stCxn id="34" idx="2"/>
            <a:endCxn id="38" idx="0"/>
          </p:cNvCxnSpPr>
          <p:nvPr/>
        </p:nvCxnSpPr>
        <p:spPr>
          <a:xfrm>
            <a:off x="5344320" y="1541144"/>
            <a:ext cx="0" cy="3859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49" name="Rectangle 2"/>
          <p:cNvSpPr>
            <a:spLocks noChangeArrowheads="1"/>
          </p:cNvSpPr>
          <p:nvPr/>
        </p:nvSpPr>
        <p:spPr bwMode="auto">
          <a:xfrm>
            <a:off x="716305" y="2749628"/>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Planning</a:t>
            </a:r>
          </a:p>
        </p:txBody>
      </p:sp>
      <p:sp>
        <p:nvSpPr>
          <p:cNvPr id="50" name="Rectangle 2"/>
          <p:cNvSpPr>
            <a:spLocks noChangeArrowheads="1"/>
          </p:cNvSpPr>
          <p:nvPr/>
        </p:nvSpPr>
        <p:spPr bwMode="auto">
          <a:xfrm>
            <a:off x="4090880" y="2749627"/>
            <a:ext cx="1584000" cy="589061"/>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Project</a:t>
            </a:r>
          </a:p>
        </p:txBody>
      </p:sp>
      <p:sp>
        <p:nvSpPr>
          <p:cNvPr id="51" name="Rectangle 2"/>
          <p:cNvSpPr>
            <a:spLocks noChangeArrowheads="1"/>
          </p:cNvSpPr>
          <p:nvPr/>
        </p:nvSpPr>
        <p:spPr bwMode="auto">
          <a:xfrm>
            <a:off x="1153600" y="4251047"/>
            <a:ext cx="1584000" cy="556835"/>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System </a:t>
            </a:r>
            <a:r>
              <a:rPr lang="en-US" sz="1200" b="1" kern="0" dirty="0" smtClean="0">
                <a:solidFill>
                  <a:prstClr val="white"/>
                </a:solidFill>
                <a:cs typeface="Arial" pitchFamily="34" charset="0"/>
              </a:rPr>
              <a:t>Planning</a:t>
            </a:r>
            <a:endParaRPr lang="en-US" sz="1200" b="1" kern="0" dirty="0">
              <a:solidFill>
                <a:prstClr val="white"/>
              </a:solidFill>
              <a:cs typeface="Arial" pitchFamily="34" charset="0"/>
            </a:endParaRPr>
          </a:p>
        </p:txBody>
      </p:sp>
      <p:sp>
        <p:nvSpPr>
          <p:cNvPr id="52" name="Rectangle 2"/>
          <p:cNvSpPr>
            <a:spLocks noChangeArrowheads="1"/>
          </p:cNvSpPr>
          <p:nvPr/>
        </p:nvSpPr>
        <p:spPr bwMode="auto">
          <a:xfrm>
            <a:off x="1153600" y="3532667"/>
            <a:ext cx="1584000" cy="589314"/>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Corporate Planning, Strategy</a:t>
            </a:r>
          </a:p>
        </p:txBody>
      </p:sp>
      <p:sp>
        <p:nvSpPr>
          <p:cNvPr id="53" name="Rectangle 2"/>
          <p:cNvSpPr>
            <a:spLocks noChangeArrowheads="1"/>
          </p:cNvSpPr>
          <p:nvPr/>
        </p:nvSpPr>
        <p:spPr bwMode="auto">
          <a:xfrm>
            <a:off x="1153600" y="5027325"/>
            <a:ext cx="1584000" cy="59432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Risk Management</a:t>
            </a:r>
          </a:p>
        </p:txBody>
      </p:sp>
      <p:sp>
        <p:nvSpPr>
          <p:cNvPr id="54" name="Rectangle 2"/>
          <p:cNvSpPr>
            <a:spLocks noChangeArrowheads="1"/>
          </p:cNvSpPr>
          <p:nvPr/>
        </p:nvSpPr>
        <p:spPr bwMode="auto">
          <a:xfrm>
            <a:off x="3108218" y="3532667"/>
            <a:ext cx="1457270" cy="589313"/>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Project Planning</a:t>
            </a:r>
          </a:p>
        </p:txBody>
      </p:sp>
      <p:sp>
        <p:nvSpPr>
          <p:cNvPr id="55" name="Rectangle 2"/>
          <p:cNvSpPr>
            <a:spLocks noChangeArrowheads="1"/>
          </p:cNvSpPr>
          <p:nvPr/>
        </p:nvSpPr>
        <p:spPr bwMode="auto">
          <a:xfrm>
            <a:off x="3107488" y="4251047"/>
            <a:ext cx="1458000" cy="5904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Design and Inspection</a:t>
            </a:r>
          </a:p>
        </p:txBody>
      </p:sp>
      <p:sp>
        <p:nvSpPr>
          <p:cNvPr id="56" name="Rectangle 2"/>
          <p:cNvSpPr>
            <a:spLocks noChangeArrowheads="1"/>
          </p:cNvSpPr>
          <p:nvPr/>
        </p:nvSpPr>
        <p:spPr bwMode="auto">
          <a:xfrm>
            <a:off x="3107488" y="5019232"/>
            <a:ext cx="1458000" cy="5904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Program</a:t>
            </a:r>
          </a:p>
        </p:txBody>
      </p:sp>
      <p:sp>
        <p:nvSpPr>
          <p:cNvPr id="57" name="Rectangle 2"/>
          <p:cNvSpPr>
            <a:spLocks noChangeArrowheads="1"/>
          </p:cNvSpPr>
          <p:nvPr/>
        </p:nvSpPr>
        <p:spPr bwMode="auto">
          <a:xfrm>
            <a:off x="3107488" y="5849058"/>
            <a:ext cx="1458000" cy="9216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RE Project Development, Coordinating &amp; Monitoring</a:t>
            </a:r>
          </a:p>
        </p:txBody>
      </p:sp>
      <p:sp>
        <p:nvSpPr>
          <p:cNvPr id="58" name="Rectangle 2"/>
          <p:cNvSpPr>
            <a:spLocks noChangeArrowheads="1"/>
          </p:cNvSpPr>
          <p:nvPr/>
        </p:nvSpPr>
        <p:spPr bwMode="auto">
          <a:xfrm>
            <a:off x="5146344" y="4251047"/>
            <a:ext cx="1458000" cy="5904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Contract Management</a:t>
            </a:r>
          </a:p>
        </p:txBody>
      </p:sp>
      <p:sp>
        <p:nvSpPr>
          <p:cNvPr id="59" name="Rectangle 2"/>
          <p:cNvSpPr>
            <a:spLocks noChangeArrowheads="1"/>
          </p:cNvSpPr>
          <p:nvPr/>
        </p:nvSpPr>
        <p:spPr bwMode="auto">
          <a:xfrm>
            <a:off x="5139760" y="5016255"/>
            <a:ext cx="1458000" cy="5904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r>
              <a:rPr lang="en-US" sz="1200" b="1" kern="0" dirty="0">
                <a:solidFill>
                  <a:sysClr val="windowText" lastClr="000000"/>
                </a:solidFill>
                <a:cs typeface="Arial" pitchFamily="34" charset="0"/>
              </a:rPr>
              <a:t>Business Development &amp; Liaising</a:t>
            </a:r>
          </a:p>
        </p:txBody>
      </p:sp>
      <p:sp>
        <p:nvSpPr>
          <p:cNvPr id="60" name="Rectangle 2"/>
          <p:cNvSpPr>
            <a:spLocks noChangeArrowheads="1"/>
          </p:cNvSpPr>
          <p:nvPr/>
        </p:nvSpPr>
        <p:spPr bwMode="auto">
          <a:xfrm>
            <a:off x="5146344" y="3538943"/>
            <a:ext cx="1458000" cy="590400"/>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Project Coordinating &amp; Monitoring</a:t>
            </a:r>
          </a:p>
        </p:txBody>
      </p:sp>
      <p:sp>
        <p:nvSpPr>
          <p:cNvPr id="61" name="Rectangle 2"/>
          <p:cNvSpPr>
            <a:spLocks noChangeArrowheads="1"/>
          </p:cNvSpPr>
          <p:nvPr/>
        </p:nvSpPr>
        <p:spPr bwMode="auto">
          <a:xfrm>
            <a:off x="5139760" y="5849058"/>
            <a:ext cx="1458000" cy="921639"/>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Quality Assurance / ISO / TQM Compliance</a:t>
            </a:r>
          </a:p>
        </p:txBody>
      </p:sp>
      <p:sp>
        <p:nvSpPr>
          <p:cNvPr id="62" name="Rectangle 2"/>
          <p:cNvSpPr>
            <a:spLocks noChangeArrowheads="1"/>
          </p:cNvSpPr>
          <p:nvPr/>
        </p:nvSpPr>
        <p:spPr bwMode="auto">
          <a:xfrm>
            <a:off x="4090880" y="6972691"/>
            <a:ext cx="2377113" cy="4032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Solar Project, </a:t>
            </a:r>
            <a:r>
              <a:rPr lang="en-US" sz="1200" b="1" kern="0" dirty="0" err="1" smtClean="0">
                <a:solidFill>
                  <a:sysClr val="windowText" lastClr="000000"/>
                </a:solidFill>
                <a:cs typeface="Arial" pitchFamily="34" charset="0"/>
              </a:rPr>
              <a:t>Kaptai</a:t>
            </a:r>
            <a:endParaRPr lang="en-US" sz="1200" b="1" kern="0" dirty="0" smtClean="0">
              <a:solidFill>
                <a:sysClr val="windowText" lastClr="000000"/>
              </a:solidFill>
              <a:cs typeface="Arial" pitchFamily="34" charset="0"/>
            </a:endParaRPr>
          </a:p>
        </p:txBody>
      </p:sp>
      <p:sp>
        <p:nvSpPr>
          <p:cNvPr id="63" name="Rectangle 2"/>
          <p:cNvSpPr>
            <a:spLocks noChangeArrowheads="1"/>
          </p:cNvSpPr>
          <p:nvPr/>
        </p:nvSpPr>
        <p:spPr bwMode="auto">
          <a:xfrm>
            <a:off x="6237120" y="2749626"/>
            <a:ext cx="1688783"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Design &amp; Inspection</a:t>
            </a:r>
          </a:p>
        </p:txBody>
      </p:sp>
      <p:sp>
        <p:nvSpPr>
          <p:cNvPr id="64" name="Rectangle 2"/>
          <p:cNvSpPr>
            <a:spLocks noChangeArrowheads="1"/>
          </p:cNvSpPr>
          <p:nvPr/>
        </p:nvSpPr>
        <p:spPr bwMode="auto">
          <a:xfrm>
            <a:off x="8433340" y="2749628"/>
            <a:ext cx="1582544" cy="618793"/>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Clearance &amp; Movement, Chittagong</a:t>
            </a:r>
          </a:p>
        </p:txBody>
      </p:sp>
      <p:sp>
        <p:nvSpPr>
          <p:cNvPr id="65" name="Rectangle 2"/>
          <p:cNvSpPr>
            <a:spLocks noChangeArrowheads="1"/>
          </p:cNvSpPr>
          <p:nvPr/>
        </p:nvSpPr>
        <p:spPr bwMode="auto">
          <a:xfrm>
            <a:off x="8433340" y="3571948"/>
            <a:ext cx="1582544" cy="6192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Electrical Equipment</a:t>
            </a:r>
          </a:p>
        </p:txBody>
      </p:sp>
      <p:sp>
        <p:nvSpPr>
          <p:cNvPr id="66" name="Rectangle 2"/>
          <p:cNvSpPr>
            <a:spLocks noChangeArrowheads="1"/>
          </p:cNvSpPr>
          <p:nvPr/>
        </p:nvSpPr>
        <p:spPr bwMode="auto">
          <a:xfrm>
            <a:off x="8433340" y="4464678"/>
            <a:ext cx="1582544" cy="838466"/>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Central Equipment Repair shop, </a:t>
            </a:r>
            <a:r>
              <a:rPr lang="en-US" sz="1200" b="1" kern="0" dirty="0" err="1" smtClean="0">
                <a:solidFill>
                  <a:sysClr val="windowText" lastClr="000000"/>
                </a:solidFill>
                <a:cs typeface="Arial" pitchFamily="34" charset="0"/>
              </a:rPr>
              <a:t>Tongi</a:t>
            </a:r>
            <a:endParaRPr lang="en-US" sz="1200" b="1" kern="0" dirty="0" smtClean="0">
              <a:solidFill>
                <a:sysClr val="windowText" lastClr="000000"/>
              </a:solidFill>
              <a:cs typeface="Arial" pitchFamily="34" charset="0"/>
            </a:endParaRPr>
          </a:p>
        </p:txBody>
      </p:sp>
      <p:sp>
        <p:nvSpPr>
          <p:cNvPr id="67" name="Rectangle 2"/>
          <p:cNvSpPr>
            <a:spLocks noChangeArrowheads="1"/>
          </p:cNvSpPr>
          <p:nvPr/>
        </p:nvSpPr>
        <p:spPr bwMode="auto">
          <a:xfrm>
            <a:off x="8433340" y="5576674"/>
            <a:ext cx="1582544" cy="838800"/>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System Protection &amp; Testing Commissioning</a:t>
            </a:r>
          </a:p>
        </p:txBody>
      </p:sp>
      <p:cxnSp>
        <p:nvCxnSpPr>
          <p:cNvPr id="69" name="Elbow Connector 68"/>
          <p:cNvCxnSpPr>
            <a:stCxn id="35" idx="2"/>
            <a:endCxn id="49" idx="0"/>
          </p:cNvCxnSpPr>
          <p:nvPr/>
        </p:nvCxnSpPr>
        <p:spPr>
          <a:xfrm rot="16200000" flipH="1">
            <a:off x="1277873" y="2519196"/>
            <a:ext cx="233512" cy="2273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0" name="Elbow Connector 69"/>
          <p:cNvCxnSpPr>
            <a:stCxn id="35" idx="2"/>
            <a:endCxn id="50" idx="0"/>
          </p:cNvCxnSpPr>
          <p:nvPr/>
        </p:nvCxnSpPr>
        <p:spPr>
          <a:xfrm rot="16200000" flipH="1">
            <a:off x="2965162" y="831908"/>
            <a:ext cx="233511" cy="3601926"/>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4" name="Elbow Connector 73"/>
          <p:cNvCxnSpPr>
            <a:stCxn id="49" idx="1"/>
            <a:endCxn id="52" idx="1"/>
          </p:cNvCxnSpPr>
          <p:nvPr/>
        </p:nvCxnSpPr>
        <p:spPr>
          <a:xfrm rot="10800000" flipH="1" flipV="1">
            <a:off x="716304" y="3044158"/>
            <a:ext cx="437295" cy="783165"/>
          </a:xfrm>
          <a:prstGeom prst="bentConnector3">
            <a:avLst>
              <a:gd name="adj1" fmla="val -522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8" name="Elbow Connector 77"/>
          <p:cNvCxnSpPr>
            <a:stCxn id="49" idx="1"/>
            <a:endCxn id="51" idx="1"/>
          </p:cNvCxnSpPr>
          <p:nvPr/>
        </p:nvCxnSpPr>
        <p:spPr>
          <a:xfrm rot="10800000" flipH="1" flipV="1">
            <a:off x="716304" y="3044159"/>
            <a:ext cx="437295" cy="1485306"/>
          </a:xfrm>
          <a:prstGeom prst="bentConnector3">
            <a:avLst>
              <a:gd name="adj1" fmla="val -522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1" name="Elbow Connector 80"/>
          <p:cNvCxnSpPr>
            <a:stCxn id="49" idx="1"/>
            <a:endCxn id="53" idx="1"/>
          </p:cNvCxnSpPr>
          <p:nvPr/>
        </p:nvCxnSpPr>
        <p:spPr>
          <a:xfrm rot="10800000" flipH="1" flipV="1">
            <a:off x="716304" y="3044159"/>
            <a:ext cx="437295" cy="2280326"/>
          </a:xfrm>
          <a:prstGeom prst="bentConnector3">
            <a:avLst>
              <a:gd name="adj1" fmla="val -522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4" name="Elbow Connector 83"/>
          <p:cNvCxnSpPr>
            <a:stCxn id="50" idx="2"/>
            <a:endCxn id="54" idx="1"/>
          </p:cNvCxnSpPr>
          <p:nvPr/>
        </p:nvCxnSpPr>
        <p:spPr>
          <a:xfrm rot="5400000">
            <a:off x="3751231" y="2695675"/>
            <a:ext cx="488636" cy="1774662"/>
          </a:xfrm>
          <a:prstGeom prst="bentConnector4">
            <a:avLst>
              <a:gd name="adj1" fmla="val 19849"/>
              <a:gd name="adj2" fmla="val 11288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8" name="Elbow Connector 87"/>
          <p:cNvCxnSpPr>
            <a:stCxn id="50" idx="2"/>
            <a:endCxn id="55" idx="1"/>
          </p:cNvCxnSpPr>
          <p:nvPr/>
        </p:nvCxnSpPr>
        <p:spPr>
          <a:xfrm rot="5400000">
            <a:off x="3391405" y="3054771"/>
            <a:ext cx="1207559" cy="1775392"/>
          </a:xfrm>
          <a:prstGeom prst="bentConnector4">
            <a:avLst>
              <a:gd name="adj1" fmla="val 7984"/>
              <a:gd name="adj2" fmla="val 1128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92" name="Elbow Connector 91"/>
          <p:cNvCxnSpPr>
            <a:stCxn id="50" idx="2"/>
            <a:endCxn id="56" idx="1"/>
          </p:cNvCxnSpPr>
          <p:nvPr/>
        </p:nvCxnSpPr>
        <p:spPr>
          <a:xfrm rot="5400000">
            <a:off x="3007312" y="3438864"/>
            <a:ext cx="1975744" cy="1775392"/>
          </a:xfrm>
          <a:prstGeom prst="bentConnector4">
            <a:avLst>
              <a:gd name="adj1" fmla="val 4689"/>
              <a:gd name="adj2" fmla="val 1128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95" name="Elbow Connector 94"/>
          <p:cNvCxnSpPr>
            <a:stCxn id="50" idx="2"/>
            <a:endCxn id="57" idx="1"/>
          </p:cNvCxnSpPr>
          <p:nvPr/>
        </p:nvCxnSpPr>
        <p:spPr>
          <a:xfrm rot="5400000">
            <a:off x="2509599" y="3936577"/>
            <a:ext cx="2971170" cy="1775392"/>
          </a:xfrm>
          <a:prstGeom prst="bentConnector4">
            <a:avLst>
              <a:gd name="adj1" fmla="val 2892"/>
              <a:gd name="adj2" fmla="val 112876"/>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98" name="Elbow Connector 97"/>
          <p:cNvCxnSpPr>
            <a:stCxn id="50" idx="2"/>
            <a:endCxn id="60" idx="3"/>
          </p:cNvCxnSpPr>
          <p:nvPr/>
        </p:nvCxnSpPr>
        <p:spPr>
          <a:xfrm rot="16200000" flipH="1">
            <a:off x="5495885" y="2725683"/>
            <a:ext cx="495455" cy="1721464"/>
          </a:xfrm>
          <a:prstGeom prst="bentConnector4">
            <a:avLst>
              <a:gd name="adj1" fmla="val 20209"/>
              <a:gd name="adj2" fmla="val 1132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01" name="Elbow Connector 100"/>
          <p:cNvCxnSpPr>
            <a:stCxn id="50" idx="2"/>
            <a:endCxn id="58" idx="3"/>
          </p:cNvCxnSpPr>
          <p:nvPr/>
        </p:nvCxnSpPr>
        <p:spPr>
          <a:xfrm rot="16200000" flipH="1">
            <a:off x="5139833" y="3081735"/>
            <a:ext cx="1207559" cy="1721464"/>
          </a:xfrm>
          <a:prstGeom prst="bentConnector4">
            <a:avLst>
              <a:gd name="adj1" fmla="val 7321"/>
              <a:gd name="adj2" fmla="val 1132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04" name="Elbow Connector 103"/>
          <p:cNvCxnSpPr>
            <a:stCxn id="50" idx="2"/>
            <a:endCxn id="59" idx="3"/>
          </p:cNvCxnSpPr>
          <p:nvPr/>
        </p:nvCxnSpPr>
        <p:spPr>
          <a:xfrm rot="16200000" flipH="1">
            <a:off x="4753937" y="3467631"/>
            <a:ext cx="1972767" cy="1714880"/>
          </a:xfrm>
          <a:prstGeom prst="bentConnector4">
            <a:avLst>
              <a:gd name="adj1" fmla="val 4410"/>
              <a:gd name="adj2" fmla="val 11333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07" name="Elbow Connector 106"/>
          <p:cNvCxnSpPr>
            <a:stCxn id="50" idx="2"/>
            <a:endCxn id="61" idx="3"/>
          </p:cNvCxnSpPr>
          <p:nvPr/>
        </p:nvCxnSpPr>
        <p:spPr>
          <a:xfrm rot="16200000" flipH="1">
            <a:off x="4254725" y="3966843"/>
            <a:ext cx="2971190" cy="1714880"/>
          </a:xfrm>
          <a:prstGeom prst="bentConnector4">
            <a:avLst>
              <a:gd name="adj1" fmla="val 2858"/>
              <a:gd name="adj2" fmla="val 11333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10" name="Elbow Connector 109"/>
          <p:cNvCxnSpPr>
            <a:stCxn id="40" idx="2"/>
            <a:endCxn id="63" idx="0"/>
          </p:cNvCxnSpPr>
          <p:nvPr/>
        </p:nvCxnSpPr>
        <p:spPr>
          <a:xfrm rot="5400000">
            <a:off x="7118881" y="2478747"/>
            <a:ext cx="233510" cy="30824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14" name="Elbow Connector 113"/>
          <p:cNvCxnSpPr>
            <a:stCxn id="39" idx="3"/>
            <a:endCxn id="64" idx="3"/>
          </p:cNvCxnSpPr>
          <p:nvPr/>
        </p:nvCxnSpPr>
        <p:spPr>
          <a:xfrm flipH="1">
            <a:off x="10015884" y="2224585"/>
            <a:ext cx="211316" cy="834440"/>
          </a:xfrm>
          <a:prstGeom prst="bentConnector3">
            <a:avLst>
              <a:gd name="adj1" fmla="val -1081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17" name="Elbow Connector 116"/>
          <p:cNvCxnSpPr>
            <a:stCxn id="39" idx="3"/>
            <a:endCxn id="65" idx="3"/>
          </p:cNvCxnSpPr>
          <p:nvPr/>
        </p:nvCxnSpPr>
        <p:spPr>
          <a:xfrm flipH="1">
            <a:off x="10015884" y="2224585"/>
            <a:ext cx="211316" cy="1656963"/>
          </a:xfrm>
          <a:prstGeom prst="bentConnector3">
            <a:avLst>
              <a:gd name="adj1" fmla="val -1081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0" name="Elbow Connector 119"/>
          <p:cNvCxnSpPr>
            <a:stCxn id="39" idx="3"/>
            <a:endCxn id="66" idx="3"/>
          </p:cNvCxnSpPr>
          <p:nvPr/>
        </p:nvCxnSpPr>
        <p:spPr>
          <a:xfrm flipH="1">
            <a:off x="10015884" y="2224585"/>
            <a:ext cx="211316" cy="2659326"/>
          </a:xfrm>
          <a:prstGeom prst="bentConnector3">
            <a:avLst>
              <a:gd name="adj1" fmla="val -1081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3" name="Elbow Connector 122"/>
          <p:cNvCxnSpPr>
            <a:stCxn id="39" idx="3"/>
            <a:endCxn id="67" idx="3"/>
          </p:cNvCxnSpPr>
          <p:nvPr/>
        </p:nvCxnSpPr>
        <p:spPr>
          <a:xfrm flipH="1">
            <a:off x="10015884" y="2224585"/>
            <a:ext cx="211316" cy="3771489"/>
          </a:xfrm>
          <a:prstGeom prst="bentConnector3">
            <a:avLst>
              <a:gd name="adj1" fmla="val -10817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6" name="Elbow Connector 125"/>
          <p:cNvCxnSpPr>
            <a:stCxn id="57" idx="2"/>
            <a:endCxn id="62" idx="1"/>
          </p:cNvCxnSpPr>
          <p:nvPr/>
        </p:nvCxnSpPr>
        <p:spPr>
          <a:xfrm rot="16200000" flipH="1">
            <a:off x="3761868" y="6845278"/>
            <a:ext cx="403633" cy="254392"/>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sp>
        <p:nvSpPr>
          <p:cNvPr id="165" name="Rectangle 164"/>
          <p:cNvSpPr/>
          <p:nvPr/>
        </p:nvSpPr>
        <p:spPr>
          <a:xfrm>
            <a:off x="7083342" y="6888532"/>
            <a:ext cx="990600" cy="2286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algn="ctr" defTabSz="914400" fontAlgn="base">
              <a:spcBef>
                <a:spcPct val="0"/>
              </a:spcBef>
              <a:spcAft>
                <a:spcPts val="1000"/>
              </a:spcAft>
            </a:pPr>
            <a:endParaRPr lang="en-US" sz="1200" b="1" kern="0">
              <a:solidFill>
                <a:sysClr val="windowText" lastClr="000000"/>
              </a:solidFill>
              <a:cs typeface="Arial" pitchFamily="34" charset="0"/>
            </a:endParaRPr>
          </a:p>
        </p:txBody>
      </p:sp>
      <p:sp>
        <p:nvSpPr>
          <p:cNvPr id="166" name="Rectangle 165"/>
          <p:cNvSpPr/>
          <p:nvPr/>
        </p:nvSpPr>
        <p:spPr>
          <a:xfrm>
            <a:off x="7083342" y="7193678"/>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167" name="TextBox 166"/>
          <p:cNvSpPr txBox="1"/>
          <p:nvPr/>
        </p:nvSpPr>
        <p:spPr>
          <a:xfrm>
            <a:off x="8150143" y="6812332"/>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168" name="TextBox 167"/>
          <p:cNvSpPr txBox="1"/>
          <p:nvPr/>
        </p:nvSpPr>
        <p:spPr>
          <a:xfrm>
            <a:off x="8150145" y="7117133"/>
            <a:ext cx="2057398" cy="461665"/>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169" name="Rectangle 168"/>
          <p:cNvSpPr/>
          <p:nvPr/>
        </p:nvSpPr>
        <p:spPr>
          <a:xfrm>
            <a:off x="7083342" y="6583386"/>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170" name="TextBox 169"/>
          <p:cNvSpPr txBox="1"/>
          <p:nvPr/>
        </p:nvSpPr>
        <p:spPr>
          <a:xfrm>
            <a:off x="8150143" y="6550504"/>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171" name="Pentagon 170">
            <a:hlinkClick r:id="rId2" action="ppaction://hlinksldjump"/>
          </p:cNvPr>
          <p:cNvSpPr/>
          <p:nvPr/>
        </p:nvSpPr>
        <p:spPr bwMode="gray">
          <a:xfrm>
            <a:off x="10225744" y="7035880"/>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68" name="Pentagon 67">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964827337"/>
      </p:ext>
    </p:extLst>
  </p:cSld>
  <p:clrMapOvr>
    <a:masterClrMapping/>
  </p:clrMapOvr>
  <p:transition>
    <p:fade/>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4451520" y="1104480"/>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Company Affairs</a:t>
            </a:r>
          </a:p>
        </p:txBody>
      </p:sp>
      <p:sp>
        <p:nvSpPr>
          <p:cNvPr id="6" name="Rectangle 2"/>
          <p:cNvSpPr>
            <a:spLocks noChangeArrowheads="1"/>
          </p:cNvSpPr>
          <p:nvPr/>
        </p:nvSpPr>
        <p:spPr bwMode="auto">
          <a:xfrm>
            <a:off x="870528" y="252915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Coal Power Generation</a:t>
            </a:r>
          </a:p>
        </p:txBody>
      </p:sp>
      <p:sp>
        <p:nvSpPr>
          <p:cNvPr id="7" name="Rectangle 2"/>
          <p:cNvSpPr>
            <a:spLocks noChangeArrowheads="1"/>
          </p:cNvSpPr>
          <p:nvPr/>
        </p:nvSpPr>
        <p:spPr bwMode="auto">
          <a:xfrm>
            <a:off x="3325056" y="252915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SBU Coordination</a:t>
            </a:r>
          </a:p>
        </p:txBody>
      </p:sp>
      <p:sp>
        <p:nvSpPr>
          <p:cNvPr id="8" name="Rectangle 2"/>
          <p:cNvSpPr>
            <a:spLocks noChangeArrowheads="1"/>
          </p:cNvSpPr>
          <p:nvPr/>
        </p:nvSpPr>
        <p:spPr bwMode="auto">
          <a:xfrm>
            <a:off x="5779584" y="252915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1300 MW Coal Power Project</a:t>
            </a:r>
          </a:p>
        </p:txBody>
      </p:sp>
      <p:sp>
        <p:nvSpPr>
          <p:cNvPr id="9" name="Rectangle 2"/>
          <p:cNvSpPr>
            <a:spLocks noChangeArrowheads="1"/>
          </p:cNvSpPr>
          <p:nvPr/>
        </p:nvSpPr>
        <p:spPr bwMode="auto">
          <a:xfrm>
            <a:off x="8234112" y="252915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black"/>
                </a:solidFill>
                <a:cs typeface="Arial" pitchFamily="34" charset="0"/>
              </a:rPr>
              <a:t>Private Generation (IPP, PPP)</a:t>
            </a:r>
          </a:p>
        </p:txBody>
      </p:sp>
      <p:sp>
        <p:nvSpPr>
          <p:cNvPr id="10" name="Rectangle 2"/>
          <p:cNvSpPr>
            <a:spLocks noChangeArrowheads="1"/>
          </p:cNvSpPr>
          <p:nvPr/>
        </p:nvSpPr>
        <p:spPr bwMode="auto">
          <a:xfrm>
            <a:off x="7097337" y="3367890"/>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IPP 1</a:t>
            </a:r>
          </a:p>
        </p:txBody>
      </p:sp>
      <p:sp>
        <p:nvSpPr>
          <p:cNvPr id="11" name="Rectangle 2"/>
          <p:cNvSpPr>
            <a:spLocks noChangeArrowheads="1"/>
          </p:cNvSpPr>
          <p:nvPr/>
        </p:nvSpPr>
        <p:spPr bwMode="auto">
          <a:xfrm>
            <a:off x="7097337" y="4066704"/>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IPP 2</a:t>
            </a:r>
          </a:p>
        </p:txBody>
      </p:sp>
      <p:sp>
        <p:nvSpPr>
          <p:cNvPr id="12" name="Rectangle 2"/>
          <p:cNvSpPr>
            <a:spLocks noChangeArrowheads="1"/>
          </p:cNvSpPr>
          <p:nvPr/>
        </p:nvSpPr>
        <p:spPr bwMode="auto">
          <a:xfrm>
            <a:off x="7097337" y="4765518"/>
            <a:ext cx="15840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sysClr val="windowText" lastClr="000000"/>
                </a:solidFill>
                <a:cs typeface="Arial" pitchFamily="34" charset="0"/>
              </a:rPr>
              <a:t>IPP 3</a:t>
            </a:r>
          </a:p>
        </p:txBody>
      </p:sp>
      <p:sp>
        <p:nvSpPr>
          <p:cNvPr id="13" name="Title 2"/>
          <p:cNvSpPr>
            <a:spLocks noGrp="1"/>
          </p:cNvSpPr>
          <p:nvPr>
            <p:ph type="title"/>
          </p:nvPr>
        </p:nvSpPr>
        <p:spPr>
          <a:xfrm>
            <a:off x="439793" y="350131"/>
            <a:ext cx="9785951" cy="368439"/>
          </a:xfrm>
        </p:spPr>
        <p:txBody>
          <a:bodyPr/>
          <a:lstStyle/>
          <a:p>
            <a:pPr algn="just"/>
            <a:r>
              <a:rPr lang="en-US" b="1" dirty="0"/>
              <a:t>Proposed High-Level Functional / Departmental Organogram </a:t>
            </a:r>
            <a:r>
              <a:rPr lang="en-US" b="1" dirty="0" smtClean="0"/>
              <a:t>under Company Affairs</a:t>
            </a:r>
            <a:endParaRPr lang="en-IN" b="1" dirty="0">
              <a:solidFill>
                <a:schemeClr val="accent1">
                  <a:lumMod val="75000"/>
                </a:schemeClr>
              </a:solidFill>
            </a:endParaRPr>
          </a:p>
        </p:txBody>
      </p:sp>
      <p:cxnSp>
        <p:nvCxnSpPr>
          <p:cNvPr id="15" name="Elbow Connector 14"/>
          <p:cNvCxnSpPr>
            <a:stCxn id="5" idx="2"/>
            <a:endCxn id="6" idx="0"/>
          </p:cNvCxnSpPr>
          <p:nvPr/>
        </p:nvCxnSpPr>
        <p:spPr>
          <a:xfrm rot="5400000">
            <a:off x="3085618" y="270451"/>
            <a:ext cx="835613" cy="3681792"/>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Elbow Connector 16"/>
          <p:cNvCxnSpPr>
            <a:stCxn id="5" idx="2"/>
            <a:endCxn id="7" idx="0"/>
          </p:cNvCxnSpPr>
          <p:nvPr/>
        </p:nvCxnSpPr>
        <p:spPr>
          <a:xfrm rot="5400000">
            <a:off x="4312882" y="1497715"/>
            <a:ext cx="835613" cy="1227264"/>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9" name="Elbow Connector 18"/>
          <p:cNvCxnSpPr>
            <a:stCxn id="5" idx="2"/>
            <a:endCxn id="8" idx="0"/>
          </p:cNvCxnSpPr>
          <p:nvPr/>
        </p:nvCxnSpPr>
        <p:spPr>
          <a:xfrm rot="16200000" flipH="1">
            <a:off x="5540146" y="1497715"/>
            <a:ext cx="835613" cy="1227264"/>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Elbow Connector 20"/>
          <p:cNvCxnSpPr>
            <a:stCxn id="5" idx="2"/>
            <a:endCxn id="9" idx="0"/>
          </p:cNvCxnSpPr>
          <p:nvPr/>
        </p:nvCxnSpPr>
        <p:spPr>
          <a:xfrm rot="16200000" flipH="1">
            <a:off x="6767410" y="270451"/>
            <a:ext cx="835613" cy="3681792"/>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Elbow Connector 22"/>
          <p:cNvCxnSpPr>
            <a:stCxn id="9" idx="2"/>
            <a:endCxn id="10" idx="3"/>
          </p:cNvCxnSpPr>
          <p:nvPr/>
        </p:nvCxnSpPr>
        <p:spPr>
          <a:xfrm rot="5400000">
            <a:off x="8581622" y="3217931"/>
            <a:ext cx="544206" cy="344775"/>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4" name="Elbow Connector 23"/>
          <p:cNvCxnSpPr>
            <a:stCxn id="9" idx="2"/>
            <a:endCxn id="11" idx="3"/>
          </p:cNvCxnSpPr>
          <p:nvPr/>
        </p:nvCxnSpPr>
        <p:spPr>
          <a:xfrm rot="5400000">
            <a:off x="8232215" y="3567338"/>
            <a:ext cx="1243020" cy="344775"/>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Elbow Connector 26"/>
          <p:cNvCxnSpPr>
            <a:stCxn id="9" idx="2"/>
            <a:endCxn id="12" idx="3"/>
          </p:cNvCxnSpPr>
          <p:nvPr/>
        </p:nvCxnSpPr>
        <p:spPr>
          <a:xfrm rot="5400000">
            <a:off x="7882808" y="3916745"/>
            <a:ext cx="1941834" cy="344775"/>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sp>
        <p:nvSpPr>
          <p:cNvPr id="30" name="Rectangle 29"/>
          <p:cNvSpPr/>
          <p:nvPr/>
        </p:nvSpPr>
        <p:spPr>
          <a:xfrm>
            <a:off x="6102615" y="6959520"/>
            <a:ext cx="990600" cy="228600"/>
          </a:xfrm>
          <a:prstGeom prst="rect">
            <a:avLst/>
          </a:prstGeom>
          <a:solidFill>
            <a:srgbClr val="E3F3C5"/>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endParaRPr lang="en-US" sz="1200" b="1" kern="0">
              <a:solidFill>
                <a:prstClr val="black"/>
              </a:solidFill>
              <a:cs typeface="Arial" pitchFamily="34" charset="0"/>
            </a:endParaRPr>
          </a:p>
        </p:txBody>
      </p:sp>
      <p:sp>
        <p:nvSpPr>
          <p:cNvPr id="31" name="Rectangle 30"/>
          <p:cNvSpPr/>
          <p:nvPr/>
        </p:nvSpPr>
        <p:spPr>
          <a:xfrm>
            <a:off x="6102615" y="7264319"/>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2" name="TextBox 31"/>
          <p:cNvSpPr txBox="1"/>
          <p:nvPr/>
        </p:nvSpPr>
        <p:spPr>
          <a:xfrm>
            <a:off x="7169416" y="6883320"/>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33" name="TextBox 32"/>
          <p:cNvSpPr txBox="1"/>
          <p:nvPr/>
        </p:nvSpPr>
        <p:spPr>
          <a:xfrm>
            <a:off x="7169418" y="7188121"/>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34" name="Rectangle 33"/>
          <p:cNvSpPr/>
          <p:nvPr/>
        </p:nvSpPr>
        <p:spPr>
          <a:xfrm>
            <a:off x="6102615" y="6654374"/>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5" name="TextBox 34"/>
          <p:cNvSpPr txBox="1"/>
          <p:nvPr/>
        </p:nvSpPr>
        <p:spPr>
          <a:xfrm>
            <a:off x="7169416" y="6578174"/>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25" name="Pentagon 24">
            <a:hlinkClick r:id="rId2" action="ppaction://hlinksldjump"/>
          </p:cNvPr>
          <p:cNvSpPr/>
          <p:nvPr/>
        </p:nvSpPr>
        <p:spPr bwMode="gray">
          <a:xfrm>
            <a:off x="10225744" y="6855173"/>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26" name="Pentagon 25">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93038906"/>
      </p:ext>
    </p:extLst>
  </p:cSld>
  <p:clrMapOvr>
    <a:masterClrMapping/>
  </p:clrMapOvr>
  <p:transition>
    <p:fade/>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719250" y="1759685"/>
            <a:ext cx="1785600"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Power Plants / SBU/ SBUs</a:t>
            </a:r>
            <a:endParaRPr lang="en-US" sz="1200" b="1" kern="0" dirty="0">
              <a:solidFill>
                <a:prstClr val="white"/>
              </a:solidFill>
              <a:cs typeface="Arial" pitchFamily="34" charset="0"/>
            </a:endParaRPr>
          </a:p>
        </p:txBody>
      </p:sp>
      <p:sp>
        <p:nvSpPr>
          <p:cNvPr id="13" name="Title 2"/>
          <p:cNvSpPr>
            <a:spLocks noGrp="1"/>
          </p:cNvSpPr>
          <p:nvPr>
            <p:ph type="title"/>
          </p:nvPr>
        </p:nvSpPr>
        <p:spPr>
          <a:xfrm>
            <a:off x="439793" y="350131"/>
            <a:ext cx="9785951" cy="368439"/>
          </a:xfrm>
        </p:spPr>
        <p:txBody>
          <a:bodyPr/>
          <a:lstStyle/>
          <a:p>
            <a:pPr algn="just"/>
            <a:r>
              <a:rPr lang="en-US" b="1" dirty="0"/>
              <a:t>Proposed High-Level Functional / Departmental Organogram </a:t>
            </a:r>
            <a:r>
              <a:rPr lang="en-US" b="1" dirty="0" smtClean="0"/>
              <a:t>under Generation</a:t>
            </a:r>
            <a:endParaRPr lang="en-IN" b="1" dirty="0">
              <a:solidFill>
                <a:schemeClr val="accent1">
                  <a:lumMod val="75000"/>
                </a:schemeClr>
              </a:solidFill>
            </a:endParaRPr>
          </a:p>
        </p:txBody>
      </p:sp>
      <p:sp>
        <p:nvSpPr>
          <p:cNvPr id="30" name="Rectangle 29"/>
          <p:cNvSpPr/>
          <p:nvPr/>
        </p:nvSpPr>
        <p:spPr>
          <a:xfrm>
            <a:off x="6102615" y="6959520"/>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1" name="Rectangle 30"/>
          <p:cNvSpPr/>
          <p:nvPr/>
        </p:nvSpPr>
        <p:spPr>
          <a:xfrm>
            <a:off x="6102615" y="7264319"/>
            <a:ext cx="990600" cy="228600"/>
          </a:xfrm>
          <a:prstGeom prst="rect">
            <a:avLst/>
          </a:prstGeom>
          <a:solidFill>
            <a:srgbClr val="00B0F0"/>
          </a:solidFill>
          <a:ln w="12700" cap="flat" cmpd="sng" algn="ctr">
            <a:no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2" name="TextBox 31"/>
          <p:cNvSpPr txBox="1"/>
          <p:nvPr/>
        </p:nvSpPr>
        <p:spPr>
          <a:xfrm>
            <a:off x="7169416" y="6883320"/>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New Function</a:t>
            </a:r>
          </a:p>
        </p:txBody>
      </p:sp>
      <p:sp>
        <p:nvSpPr>
          <p:cNvPr id="33" name="TextBox 32"/>
          <p:cNvSpPr txBox="1"/>
          <p:nvPr/>
        </p:nvSpPr>
        <p:spPr>
          <a:xfrm>
            <a:off x="7169418" y="7188121"/>
            <a:ext cx="324875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Strengthening/ Realignment of Existing Function</a:t>
            </a:r>
          </a:p>
        </p:txBody>
      </p:sp>
      <p:sp>
        <p:nvSpPr>
          <p:cNvPr id="34" name="Rectangle 33"/>
          <p:cNvSpPr/>
          <p:nvPr/>
        </p:nvSpPr>
        <p:spPr>
          <a:xfrm>
            <a:off x="6102615" y="6654374"/>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algn="ctr" defTabSz="914400">
              <a:defRPr/>
            </a:pPr>
            <a:endParaRPr lang="en-US" sz="1802" kern="0" smtClean="0">
              <a:solidFill>
                <a:prstClr val="white"/>
              </a:solidFill>
              <a:latin typeface="Calibri" panose="020F0502020204030204"/>
            </a:endParaRPr>
          </a:p>
        </p:txBody>
      </p:sp>
      <p:sp>
        <p:nvSpPr>
          <p:cNvPr id="35" name="TextBox 34"/>
          <p:cNvSpPr txBox="1"/>
          <p:nvPr/>
        </p:nvSpPr>
        <p:spPr>
          <a:xfrm>
            <a:off x="7169416" y="6578174"/>
            <a:ext cx="2057400" cy="276999"/>
          </a:xfrm>
          <a:prstGeom prst="rect">
            <a:avLst/>
          </a:prstGeom>
          <a:noFill/>
        </p:spPr>
        <p:txBody>
          <a:bodyPr wrap="square" rtlCol="0">
            <a:spAutoFit/>
          </a:bodyPr>
          <a:lstStyle/>
          <a:p>
            <a:pPr defTabSz="914400">
              <a:defRPr/>
            </a:pPr>
            <a:r>
              <a:rPr lang="en-US" sz="1200" kern="0" dirty="0" smtClean="0">
                <a:solidFill>
                  <a:prstClr val="black"/>
                </a:solidFill>
                <a:latin typeface="Calibri" panose="020F0502020204030204"/>
              </a:rPr>
              <a:t>Existing Function</a:t>
            </a:r>
          </a:p>
        </p:txBody>
      </p:sp>
      <p:sp>
        <p:nvSpPr>
          <p:cNvPr id="43" name="Rectangle 2"/>
          <p:cNvSpPr>
            <a:spLocks noChangeArrowheads="1"/>
          </p:cNvSpPr>
          <p:nvPr/>
        </p:nvSpPr>
        <p:spPr bwMode="auto">
          <a:xfrm>
            <a:off x="904489" y="2816549"/>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Power Plant O&amp;M</a:t>
            </a:r>
          </a:p>
        </p:txBody>
      </p:sp>
      <p:sp>
        <p:nvSpPr>
          <p:cNvPr id="44" name="Rectangle 2"/>
          <p:cNvSpPr>
            <a:spLocks noChangeArrowheads="1"/>
          </p:cNvSpPr>
          <p:nvPr/>
        </p:nvSpPr>
        <p:spPr bwMode="auto">
          <a:xfrm>
            <a:off x="904489" y="3541133"/>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Water Chemistry</a:t>
            </a:r>
          </a:p>
        </p:txBody>
      </p:sp>
      <p:sp>
        <p:nvSpPr>
          <p:cNvPr id="45" name="Rectangle 2"/>
          <p:cNvSpPr>
            <a:spLocks noChangeArrowheads="1"/>
          </p:cNvSpPr>
          <p:nvPr/>
        </p:nvSpPr>
        <p:spPr bwMode="auto">
          <a:xfrm>
            <a:off x="904489" y="4268205"/>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smtClean="0">
                <a:solidFill>
                  <a:prstClr val="white"/>
                </a:solidFill>
                <a:cs typeface="Arial" pitchFamily="34" charset="0"/>
              </a:rPr>
              <a:t>SBU/Plant-Level </a:t>
            </a:r>
            <a:r>
              <a:rPr lang="en-US" sz="1200" b="1" kern="0" dirty="0">
                <a:solidFill>
                  <a:prstClr val="white"/>
                </a:solidFill>
                <a:cs typeface="Arial" pitchFamily="34" charset="0"/>
              </a:rPr>
              <a:t>Maintenance Planning</a:t>
            </a:r>
          </a:p>
        </p:txBody>
      </p:sp>
      <p:sp>
        <p:nvSpPr>
          <p:cNvPr id="46" name="Rectangle 2"/>
          <p:cNvSpPr>
            <a:spLocks noChangeArrowheads="1"/>
          </p:cNvSpPr>
          <p:nvPr/>
        </p:nvSpPr>
        <p:spPr bwMode="auto">
          <a:xfrm>
            <a:off x="904489" y="4995277"/>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Procurement</a:t>
            </a:r>
          </a:p>
        </p:txBody>
      </p:sp>
      <p:sp>
        <p:nvSpPr>
          <p:cNvPr id="47" name="Rectangle 2"/>
          <p:cNvSpPr>
            <a:spLocks noChangeArrowheads="1"/>
          </p:cNvSpPr>
          <p:nvPr/>
        </p:nvSpPr>
        <p:spPr bwMode="auto">
          <a:xfrm>
            <a:off x="904489" y="5722349"/>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Stores, Inventory Management</a:t>
            </a:r>
          </a:p>
        </p:txBody>
      </p:sp>
      <p:sp>
        <p:nvSpPr>
          <p:cNvPr id="48" name="Rectangle 2"/>
          <p:cNvSpPr>
            <a:spLocks noChangeArrowheads="1"/>
          </p:cNvSpPr>
          <p:nvPr/>
        </p:nvSpPr>
        <p:spPr bwMode="auto">
          <a:xfrm>
            <a:off x="5273775" y="2816549"/>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Accounts</a:t>
            </a:r>
          </a:p>
        </p:txBody>
      </p:sp>
      <p:sp>
        <p:nvSpPr>
          <p:cNvPr id="54" name="Rectangle 2"/>
          <p:cNvSpPr>
            <a:spLocks noChangeArrowheads="1"/>
          </p:cNvSpPr>
          <p:nvPr/>
        </p:nvSpPr>
        <p:spPr bwMode="auto">
          <a:xfrm>
            <a:off x="5273776" y="3542758"/>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Health, Safety &amp; Environment</a:t>
            </a:r>
          </a:p>
        </p:txBody>
      </p:sp>
      <p:sp>
        <p:nvSpPr>
          <p:cNvPr id="56" name="Rectangle 2"/>
          <p:cNvSpPr>
            <a:spLocks noChangeArrowheads="1"/>
          </p:cNvSpPr>
          <p:nvPr/>
        </p:nvSpPr>
        <p:spPr bwMode="auto">
          <a:xfrm>
            <a:off x="5273777" y="4268967"/>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Performance Monitoring, MIS</a:t>
            </a:r>
          </a:p>
        </p:txBody>
      </p:sp>
      <p:sp>
        <p:nvSpPr>
          <p:cNvPr id="57" name="Rectangle 2"/>
          <p:cNvSpPr>
            <a:spLocks noChangeArrowheads="1"/>
          </p:cNvSpPr>
          <p:nvPr/>
        </p:nvSpPr>
        <p:spPr bwMode="auto">
          <a:xfrm>
            <a:off x="5273777" y="4995176"/>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SBU/Plant-Level HR &amp; Admin</a:t>
            </a:r>
          </a:p>
        </p:txBody>
      </p:sp>
      <p:sp>
        <p:nvSpPr>
          <p:cNvPr id="58" name="Rectangle 2"/>
          <p:cNvSpPr>
            <a:spLocks noChangeArrowheads="1"/>
          </p:cNvSpPr>
          <p:nvPr/>
        </p:nvSpPr>
        <p:spPr bwMode="auto">
          <a:xfrm>
            <a:off x="5273775" y="5721384"/>
            <a:ext cx="2551047" cy="589061"/>
          </a:xfrm>
          <a:prstGeom prst="rect">
            <a:avLst/>
          </a:prstGeom>
          <a:solidFill>
            <a:srgbClr val="00B0F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white"/>
                </a:solidFill>
                <a:cs typeface="Arial" pitchFamily="34" charset="0"/>
              </a:rPr>
              <a:t>Power Plant Construction, Rehabilitation, Conversion Projects</a:t>
            </a:r>
          </a:p>
        </p:txBody>
      </p:sp>
      <p:cxnSp>
        <p:nvCxnSpPr>
          <p:cNvPr id="3" name="Elbow Connector 2"/>
          <p:cNvCxnSpPr>
            <a:stCxn id="5" idx="2"/>
            <a:endCxn id="43" idx="1"/>
          </p:cNvCxnSpPr>
          <p:nvPr/>
        </p:nvCxnSpPr>
        <p:spPr>
          <a:xfrm rot="5400000">
            <a:off x="1377103" y="1876133"/>
            <a:ext cx="762334" cy="1707561"/>
          </a:xfrm>
          <a:prstGeom prst="bentConnector4">
            <a:avLst>
              <a:gd name="adj1" fmla="val 30682"/>
              <a:gd name="adj2" fmla="val 113388"/>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Elbow Connector 13"/>
          <p:cNvCxnSpPr>
            <a:stCxn id="5" idx="2"/>
            <a:endCxn id="44" idx="1"/>
          </p:cNvCxnSpPr>
          <p:nvPr/>
        </p:nvCxnSpPr>
        <p:spPr>
          <a:xfrm rot="5400000">
            <a:off x="1014811" y="2238425"/>
            <a:ext cx="1486918" cy="1707561"/>
          </a:xfrm>
          <a:prstGeom prst="bentConnector4">
            <a:avLst>
              <a:gd name="adj1" fmla="val 15327"/>
              <a:gd name="adj2" fmla="val 113388"/>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2" name="Elbow Connector 21"/>
          <p:cNvCxnSpPr>
            <a:stCxn id="5" idx="2"/>
            <a:endCxn id="45" idx="1"/>
          </p:cNvCxnSpPr>
          <p:nvPr/>
        </p:nvCxnSpPr>
        <p:spPr>
          <a:xfrm rot="5400000">
            <a:off x="651275" y="2601961"/>
            <a:ext cx="2213990" cy="1707561"/>
          </a:xfrm>
          <a:prstGeom prst="bentConnector4">
            <a:avLst>
              <a:gd name="adj1" fmla="val 10078"/>
              <a:gd name="adj2" fmla="val 113388"/>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6" name="Elbow Connector 65"/>
          <p:cNvCxnSpPr>
            <a:stCxn id="5" idx="2"/>
            <a:endCxn id="46" idx="1"/>
          </p:cNvCxnSpPr>
          <p:nvPr/>
        </p:nvCxnSpPr>
        <p:spPr>
          <a:xfrm rot="5400000">
            <a:off x="287739" y="2965497"/>
            <a:ext cx="2941062" cy="1707561"/>
          </a:xfrm>
          <a:prstGeom prst="bentConnector4">
            <a:avLst>
              <a:gd name="adj1" fmla="val 7425"/>
              <a:gd name="adj2" fmla="val 113388"/>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8" name="Elbow Connector 67"/>
          <p:cNvCxnSpPr>
            <a:stCxn id="5" idx="2"/>
            <a:endCxn id="47" idx="1"/>
          </p:cNvCxnSpPr>
          <p:nvPr/>
        </p:nvCxnSpPr>
        <p:spPr>
          <a:xfrm rot="5400000">
            <a:off x="-75797" y="3329033"/>
            <a:ext cx="3668134" cy="1707561"/>
          </a:xfrm>
          <a:prstGeom prst="bentConnector4">
            <a:avLst>
              <a:gd name="adj1" fmla="val 6169"/>
              <a:gd name="adj2" fmla="val 113388"/>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0" name="Elbow Connector 69"/>
          <p:cNvCxnSpPr>
            <a:stCxn id="5" idx="2"/>
            <a:endCxn id="48" idx="3"/>
          </p:cNvCxnSpPr>
          <p:nvPr/>
        </p:nvCxnSpPr>
        <p:spPr>
          <a:xfrm rot="16200000" flipH="1">
            <a:off x="4837269" y="123527"/>
            <a:ext cx="762334" cy="5212772"/>
          </a:xfrm>
          <a:prstGeom prst="bentConnector4">
            <a:avLst>
              <a:gd name="adj1" fmla="val 30682"/>
              <a:gd name="adj2" fmla="val 104385"/>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9" name="Elbow Connector 78"/>
          <p:cNvCxnSpPr>
            <a:stCxn id="5" idx="2"/>
            <a:endCxn id="54" idx="3"/>
          </p:cNvCxnSpPr>
          <p:nvPr/>
        </p:nvCxnSpPr>
        <p:spPr>
          <a:xfrm rot="16200000" flipH="1">
            <a:off x="4474165" y="486630"/>
            <a:ext cx="1488543" cy="5212773"/>
          </a:xfrm>
          <a:prstGeom prst="bentConnector4">
            <a:avLst>
              <a:gd name="adj1" fmla="val 15365"/>
              <a:gd name="adj2" fmla="val 104385"/>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3" name="Elbow Connector 82"/>
          <p:cNvCxnSpPr>
            <a:stCxn id="5" idx="2"/>
            <a:endCxn id="56" idx="3"/>
          </p:cNvCxnSpPr>
          <p:nvPr/>
        </p:nvCxnSpPr>
        <p:spPr>
          <a:xfrm rot="16200000" flipH="1">
            <a:off x="4111061" y="849735"/>
            <a:ext cx="2214752" cy="5212774"/>
          </a:xfrm>
          <a:prstGeom prst="bentConnector4">
            <a:avLst>
              <a:gd name="adj1" fmla="val 10092"/>
              <a:gd name="adj2" fmla="val 104385"/>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5" name="Elbow Connector 84"/>
          <p:cNvCxnSpPr>
            <a:stCxn id="5" idx="2"/>
            <a:endCxn id="57" idx="3"/>
          </p:cNvCxnSpPr>
          <p:nvPr/>
        </p:nvCxnSpPr>
        <p:spPr>
          <a:xfrm rot="16200000" flipH="1">
            <a:off x="3747957" y="1212839"/>
            <a:ext cx="2940961" cy="5212774"/>
          </a:xfrm>
          <a:prstGeom prst="bentConnector4">
            <a:avLst>
              <a:gd name="adj1" fmla="val 7855"/>
              <a:gd name="adj2" fmla="val 104385"/>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98" name="Elbow Connector 97"/>
          <p:cNvCxnSpPr>
            <a:stCxn id="5" idx="2"/>
            <a:endCxn id="58" idx="3"/>
          </p:cNvCxnSpPr>
          <p:nvPr/>
        </p:nvCxnSpPr>
        <p:spPr>
          <a:xfrm rot="16200000" flipH="1">
            <a:off x="3384852" y="1575944"/>
            <a:ext cx="3667169" cy="5212772"/>
          </a:xfrm>
          <a:prstGeom prst="bentConnector4">
            <a:avLst>
              <a:gd name="adj1" fmla="val 6158"/>
              <a:gd name="adj2" fmla="val 104385"/>
            </a:avLst>
          </a:prstGeom>
          <a:ln>
            <a:tailEnd type="triangle"/>
          </a:ln>
        </p:spPr>
        <p:style>
          <a:lnRef idx="1">
            <a:schemeClr val="accent3"/>
          </a:lnRef>
          <a:fillRef idx="0">
            <a:schemeClr val="accent3"/>
          </a:fillRef>
          <a:effectRef idx="0">
            <a:schemeClr val="accent3"/>
          </a:effectRef>
          <a:fontRef idx="minor">
            <a:schemeClr val="tx1"/>
          </a:fontRef>
        </p:style>
      </p:cxnSp>
      <p:sp>
        <p:nvSpPr>
          <p:cNvPr id="36" name="Pentagon 35">
            <a:hlinkClick r:id="rId2" action="ppaction://hlinksldjump"/>
          </p:cNvPr>
          <p:cNvSpPr/>
          <p:nvPr/>
        </p:nvSpPr>
        <p:spPr bwMode="gray">
          <a:xfrm>
            <a:off x="10225744" y="6855173"/>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
        <p:nvSpPr>
          <p:cNvPr id="39" name="Rectangle 2"/>
          <p:cNvSpPr>
            <a:spLocks noChangeArrowheads="1"/>
          </p:cNvSpPr>
          <p:nvPr/>
        </p:nvSpPr>
        <p:spPr bwMode="auto">
          <a:xfrm>
            <a:off x="4462455" y="895910"/>
            <a:ext cx="1785600" cy="58906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a:solidFill>
                  <a:sysClr val="windowText" lastClr="000000"/>
                </a:solidFill>
                <a:cs typeface="Arial" pitchFamily="34" charset="0"/>
              </a:rPr>
              <a:t>Generation</a:t>
            </a:r>
            <a:endParaRPr lang="en-US" sz="1200" b="1" kern="0" dirty="0">
              <a:solidFill>
                <a:sysClr val="windowText" lastClr="000000"/>
              </a:solidFill>
              <a:cs typeface="Arial" pitchFamily="34" charset="0"/>
            </a:endParaRPr>
          </a:p>
        </p:txBody>
      </p:sp>
      <p:cxnSp>
        <p:nvCxnSpPr>
          <p:cNvPr id="4" name="Elbow Connector 3"/>
          <p:cNvCxnSpPr>
            <a:stCxn id="39" idx="2"/>
            <a:endCxn id="5" idx="0"/>
          </p:cNvCxnSpPr>
          <p:nvPr/>
        </p:nvCxnSpPr>
        <p:spPr>
          <a:xfrm rot="5400000">
            <a:off x="3846296" y="250726"/>
            <a:ext cx="274714" cy="2743205"/>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Rectangle 2"/>
          <p:cNvSpPr>
            <a:spLocks noChangeArrowheads="1"/>
          </p:cNvSpPr>
          <p:nvPr/>
        </p:nvSpPr>
        <p:spPr bwMode="auto">
          <a:xfrm>
            <a:off x="7486644" y="1762470"/>
            <a:ext cx="2614297" cy="589061"/>
          </a:xfrm>
          <a:prstGeom prst="rect">
            <a:avLst/>
          </a:prstGeom>
          <a:solidFill>
            <a:srgbClr val="E3F3C5"/>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algn="ctr" defTabSz="914400" fontAlgn="base">
              <a:spcBef>
                <a:spcPct val="0"/>
              </a:spcBef>
              <a:spcAft>
                <a:spcPts val="1000"/>
              </a:spcAft>
            </a:pPr>
            <a:r>
              <a:rPr lang="en-US" sz="1200" b="1" kern="0" dirty="0">
                <a:solidFill>
                  <a:prstClr val="black"/>
                </a:solidFill>
                <a:cs typeface="Arial" pitchFamily="34" charset="0"/>
              </a:rPr>
              <a:t>Power Plant O&amp;M Services &amp; Asset Management</a:t>
            </a:r>
          </a:p>
        </p:txBody>
      </p:sp>
      <p:cxnSp>
        <p:nvCxnSpPr>
          <p:cNvPr id="42" name="Elbow Connector 41"/>
          <p:cNvCxnSpPr>
            <a:stCxn id="39" idx="2"/>
            <a:endCxn id="37" idx="0"/>
          </p:cNvCxnSpPr>
          <p:nvPr/>
        </p:nvCxnSpPr>
        <p:spPr>
          <a:xfrm rot="16200000" flipH="1">
            <a:off x="6935775" y="-95549"/>
            <a:ext cx="277499" cy="343853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38" name="Pentagon 37">
            <a:hlinkClick r:id="rId3" action="ppaction://hlinksldjump"/>
          </p:cNvPr>
          <p:cNvSpPr/>
          <p:nvPr/>
        </p:nvSpPr>
        <p:spPr bwMode="gray">
          <a:xfrm flipH="1">
            <a:off x="10219572" y="639586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15510488"/>
      </p:ext>
    </p:extLst>
  </p:cSld>
  <p:clrMapOvr>
    <a:masterClrMapping/>
  </p:clrMapOvr>
  <p:transition>
    <p:fade/>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4800" dirty="0" smtClean="0">
                <a:solidFill>
                  <a:prstClr val="black"/>
                </a:solidFill>
              </a:rPr>
              <a:t>9. Proposed Compensation Benchmarking of Holding Company</a:t>
            </a:r>
            <a:endParaRPr lang="en-US" sz="4800" dirty="0">
              <a:solidFill>
                <a:prstClr val="black"/>
              </a:solidFill>
            </a:endParaRPr>
          </a:p>
        </p:txBody>
      </p:sp>
    </p:spTree>
    <p:extLst>
      <p:ext uri="{BB962C8B-B14F-4D97-AF65-F5344CB8AC3E}">
        <p14:creationId xmlns:p14="http://schemas.microsoft.com/office/powerpoint/2010/main" val="4237756925"/>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comparison of basic salaries for five sample grades of BPDB, EGCB, NWZPDCL, PGCB</a:t>
            </a:r>
            <a:endParaRPr lang="en-IN" sz="2000" b="1" dirty="0"/>
          </a:p>
        </p:txBody>
      </p:sp>
      <p:graphicFrame>
        <p:nvGraphicFramePr>
          <p:cNvPr id="4" name="Table 3"/>
          <p:cNvGraphicFramePr>
            <a:graphicFrameLocks noGrp="1"/>
          </p:cNvGraphicFramePr>
          <p:nvPr>
            <p:extLst/>
          </p:nvPr>
        </p:nvGraphicFramePr>
        <p:xfrm>
          <a:off x="138221" y="1113421"/>
          <a:ext cx="10462437" cy="6070284"/>
        </p:xfrm>
        <a:graphic>
          <a:graphicData uri="http://schemas.openxmlformats.org/drawingml/2006/table">
            <a:tbl>
              <a:tblPr firstRow="1" firstCol="1" bandRow="1">
                <a:tableStyleId>{5C22544A-7EE6-4342-B048-85BDC9FD1C3A}</a:tableStyleId>
              </a:tblPr>
              <a:tblGrid>
                <a:gridCol w="784683">
                  <a:extLst>
                    <a:ext uri="{9D8B030D-6E8A-4147-A177-3AD203B41FA5}">
                      <a16:colId xmlns="" xmlns:a16="http://schemas.microsoft.com/office/drawing/2014/main" val="2048976352"/>
                    </a:ext>
                  </a:extLst>
                </a:gridCol>
                <a:gridCol w="1088094">
                  <a:extLst>
                    <a:ext uri="{9D8B030D-6E8A-4147-A177-3AD203B41FA5}">
                      <a16:colId xmlns="" xmlns:a16="http://schemas.microsoft.com/office/drawing/2014/main" val="3822249032"/>
                    </a:ext>
                  </a:extLst>
                </a:gridCol>
                <a:gridCol w="786775">
                  <a:extLst>
                    <a:ext uri="{9D8B030D-6E8A-4147-A177-3AD203B41FA5}">
                      <a16:colId xmlns="" xmlns:a16="http://schemas.microsoft.com/office/drawing/2014/main" val="3322514074"/>
                    </a:ext>
                  </a:extLst>
                </a:gridCol>
                <a:gridCol w="786775">
                  <a:extLst>
                    <a:ext uri="{9D8B030D-6E8A-4147-A177-3AD203B41FA5}">
                      <a16:colId xmlns="" xmlns:a16="http://schemas.microsoft.com/office/drawing/2014/main" val="264698851"/>
                    </a:ext>
                  </a:extLst>
                </a:gridCol>
                <a:gridCol w="1088094">
                  <a:extLst>
                    <a:ext uri="{9D8B030D-6E8A-4147-A177-3AD203B41FA5}">
                      <a16:colId xmlns="" xmlns:a16="http://schemas.microsoft.com/office/drawing/2014/main" val="1011857160"/>
                    </a:ext>
                  </a:extLst>
                </a:gridCol>
                <a:gridCol w="793052">
                  <a:extLst>
                    <a:ext uri="{9D8B030D-6E8A-4147-A177-3AD203B41FA5}">
                      <a16:colId xmlns="" xmlns:a16="http://schemas.microsoft.com/office/drawing/2014/main" val="272270828"/>
                    </a:ext>
                  </a:extLst>
                </a:gridCol>
                <a:gridCol w="786775">
                  <a:extLst>
                    <a:ext uri="{9D8B030D-6E8A-4147-A177-3AD203B41FA5}">
                      <a16:colId xmlns="" xmlns:a16="http://schemas.microsoft.com/office/drawing/2014/main" val="3477886461"/>
                    </a:ext>
                  </a:extLst>
                </a:gridCol>
                <a:gridCol w="899770">
                  <a:extLst>
                    <a:ext uri="{9D8B030D-6E8A-4147-A177-3AD203B41FA5}">
                      <a16:colId xmlns="" xmlns:a16="http://schemas.microsoft.com/office/drawing/2014/main" val="1024837661"/>
                    </a:ext>
                  </a:extLst>
                </a:gridCol>
                <a:gridCol w="786775">
                  <a:extLst>
                    <a:ext uri="{9D8B030D-6E8A-4147-A177-3AD203B41FA5}">
                      <a16:colId xmlns="" xmlns:a16="http://schemas.microsoft.com/office/drawing/2014/main" val="2040127363"/>
                    </a:ext>
                  </a:extLst>
                </a:gridCol>
                <a:gridCol w="786775">
                  <a:extLst>
                    <a:ext uri="{9D8B030D-6E8A-4147-A177-3AD203B41FA5}">
                      <a16:colId xmlns="" xmlns:a16="http://schemas.microsoft.com/office/drawing/2014/main" val="363463385"/>
                    </a:ext>
                  </a:extLst>
                </a:gridCol>
                <a:gridCol w="1088094">
                  <a:extLst>
                    <a:ext uri="{9D8B030D-6E8A-4147-A177-3AD203B41FA5}">
                      <a16:colId xmlns="" xmlns:a16="http://schemas.microsoft.com/office/drawing/2014/main" val="4200544472"/>
                    </a:ext>
                  </a:extLst>
                </a:gridCol>
                <a:gridCol w="786775">
                  <a:extLst>
                    <a:ext uri="{9D8B030D-6E8A-4147-A177-3AD203B41FA5}">
                      <a16:colId xmlns="" xmlns:a16="http://schemas.microsoft.com/office/drawing/2014/main" val="3787392428"/>
                    </a:ext>
                  </a:extLst>
                </a:gridCol>
              </a:tblGrid>
              <a:tr h="286704">
                <a:tc gridSpan="3">
                  <a:txBody>
                    <a:bodyPr/>
                    <a:lstStyle/>
                    <a:p>
                      <a:pPr algn="ctr">
                        <a:lnSpc>
                          <a:spcPct val="115000"/>
                        </a:lnSpc>
                        <a:spcAft>
                          <a:spcPts val="0"/>
                        </a:spcAft>
                      </a:pPr>
                      <a:r>
                        <a:rPr lang="en-US" sz="1100">
                          <a:effectLst/>
                        </a:rPr>
                        <a:t>BPDB</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gridSpan="3">
                  <a:txBody>
                    <a:bodyPr/>
                    <a:lstStyle/>
                    <a:p>
                      <a:pPr algn="ctr">
                        <a:lnSpc>
                          <a:spcPct val="115000"/>
                        </a:lnSpc>
                        <a:spcAft>
                          <a:spcPts val="0"/>
                        </a:spcAft>
                      </a:pPr>
                      <a:r>
                        <a:rPr lang="en-US" sz="1100" dirty="0">
                          <a:effectLst/>
                        </a:rPr>
                        <a:t>EGCB</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gridSpan="3">
                  <a:txBody>
                    <a:bodyPr/>
                    <a:lstStyle/>
                    <a:p>
                      <a:pPr algn="ctr">
                        <a:lnSpc>
                          <a:spcPct val="115000"/>
                        </a:lnSpc>
                        <a:spcAft>
                          <a:spcPts val="0"/>
                        </a:spcAft>
                      </a:pPr>
                      <a:r>
                        <a:rPr lang="en-US" sz="1100">
                          <a:effectLst/>
                        </a:rPr>
                        <a:t>NWZPDCL</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tc gridSpan="3">
                  <a:txBody>
                    <a:bodyPr/>
                    <a:lstStyle/>
                    <a:p>
                      <a:pPr algn="ctr">
                        <a:lnSpc>
                          <a:spcPct val="115000"/>
                        </a:lnSpc>
                        <a:spcAft>
                          <a:spcPts val="0"/>
                        </a:spcAft>
                      </a:pPr>
                      <a:r>
                        <a:rPr lang="en-US" sz="1100">
                          <a:effectLst/>
                        </a:rPr>
                        <a:t>PGCB</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3085433015"/>
                  </a:ext>
                </a:extLst>
              </a:tr>
              <a:tr h="743311">
                <a:tc>
                  <a:txBody>
                    <a:bodyPr/>
                    <a:lstStyle/>
                    <a:p>
                      <a:pPr algn="ctr">
                        <a:lnSpc>
                          <a:spcPct val="115000"/>
                        </a:lnSpc>
                        <a:spcAft>
                          <a:spcPts val="0"/>
                        </a:spcAft>
                      </a:pPr>
                      <a:r>
                        <a:rPr lang="en-US" sz="1100">
                          <a:effectLst/>
                        </a:rPr>
                        <a:t>Grade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dirty="0">
                          <a:effectLst/>
                        </a:rPr>
                        <a:t>Post</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Scale of pay (2015)</a:t>
                      </a:r>
                      <a:endParaRPr lang="en-IN" sz="1100">
                        <a:effectLst/>
                      </a:endParaRPr>
                    </a:p>
                    <a:p>
                      <a:pPr algn="ctr">
                        <a:lnSpc>
                          <a:spcPct val="115000"/>
                        </a:lnSpc>
                        <a:spcAft>
                          <a:spcPts val="0"/>
                        </a:spcAft>
                      </a:pPr>
                      <a:r>
                        <a:rPr lang="en-US" sz="1100">
                          <a:effectLst/>
                        </a:rPr>
                        <a:t>(BDT)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Grade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Post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dirty="0">
                          <a:effectLst/>
                        </a:rPr>
                        <a:t>Scale of pay (2016)</a:t>
                      </a:r>
                      <a:endParaRPr lang="en-IN" sz="1100" dirty="0">
                        <a:effectLst/>
                      </a:endParaRPr>
                    </a:p>
                    <a:p>
                      <a:pPr algn="ctr">
                        <a:lnSpc>
                          <a:spcPct val="115000"/>
                        </a:lnSpc>
                        <a:spcAft>
                          <a:spcPts val="0"/>
                        </a:spcAft>
                      </a:pPr>
                      <a:r>
                        <a:rPr lang="en-US" sz="1100" dirty="0">
                          <a:effectLst/>
                        </a:rPr>
                        <a:t>(BDT)</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Grade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Post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Scale of pay (2016)</a:t>
                      </a:r>
                      <a:endParaRPr lang="en-IN" sz="1100">
                        <a:effectLst/>
                      </a:endParaRPr>
                    </a:p>
                    <a:p>
                      <a:pPr algn="ctr">
                        <a:lnSpc>
                          <a:spcPct val="115000"/>
                        </a:lnSpc>
                        <a:spcAft>
                          <a:spcPts val="0"/>
                        </a:spcAft>
                      </a:pPr>
                      <a:r>
                        <a:rPr lang="en-US" sz="1100">
                          <a:effectLst/>
                        </a:rPr>
                        <a:t>(BDT)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Grade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Post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Scale of pay (2016)</a:t>
                      </a:r>
                      <a:endParaRPr lang="en-IN" sz="1100">
                        <a:effectLst/>
                      </a:endParaRPr>
                    </a:p>
                    <a:p>
                      <a:pPr algn="ctr">
                        <a:lnSpc>
                          <a:spcPct val="115000"/>
                        </a:lnSpc>
                        <a:spcAft>
                          <a:spcPts val="0"/>
                        </a:spcAft>
                      </a:pPr>
                      <a:r>
                        <a:rPr lang="en-US" sz="1100">
                          <a:effectLst/>
                        </a:rPr>
                        <a:t>(BDT)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4037914458"/>
                  </a:ext>
                </a:extLst>
              </a:tr>
              <a:tr h="371656">
                <a:tc>
                  <a:txBody>
                    <a:bodyPr/>
                    <a:lstStyle/>
                    <a:p>
                      <a:pPr algn="ctr">
                        <a:lnSpc>
                          <a:spcPct val="115000"/>
                        </a:lnSpc>
                        <a:spcAft>
                          <a:spcPts val="0"/>
                        </a:spcAft>
                      </a:pPr>
                      <a:r>
                        <a:rPr lang="en-US" sz="1100">
                          <a:effectLst/>
                        </a:rPr>
                        <a:t>1</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Chairman</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78000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Managing 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175000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Managing 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175000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Managing 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175000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2886788919"/>
                  </a:ext>
                </a:extLst>
              </a:tr>
              <a:tr h="371656">
                <a:tc>
                  <a:txBody>
                    <a:bodyPr/>
                    <a:lstStyle/>
                    <a:p>
                      <a:pPr algn="ctr">
                        <a:lnSpc>
                          <a:spcPct val="115000"/>
                        </a:lnSpc>
                        <a:spcAft>
                          <a:spcPts val="0"/>
                        </a:spcAft>
                      </a:pPr>
                      <a:r>
                        <a:rPr lang="en-US" sz="1100">
                          <a:effectLst/>
                        </a:rPr>
                        <a:t>2</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Chief Engineer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76490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Executive 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149000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149000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Executive Director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145000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2458525364"/>
                  </a:ext>
                </a:extLst>
              </a:tr>
              <a:tr h="1300794">
                <a:tc>
                  <a:txBody>
                    <a:bodyPr/>
                    <a:lstStyle/>
                    <a:p>
                      <a:pPr algn="ctr">
                        <a:lnSpc>
                          <a:spcPct val="115000"/>
                        </a:lnSpc>
                        <a:spcAft>
                          <a:spcPts val="0"/>
                        </a:spcAft>
                      </a:pPr>
                      <a:r>
                        <a:rPr lang="en-US" sz="1100" dirty="0">
                          <a:effectLst/>
                        </a:rPr>
                        <a:t>4</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dirty="0">
                          <a:effectLst/>
                        </a:rPr>
                        <a:t>Superintending Engineer / Director / Manager</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71200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4</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Superintending Engineer / Deputy General Manager / Equivalent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4</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Deputy General Manager / Company Secretary / Equivalent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4</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Company Secretary / Deputy General Manager / Superintending Engineer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102000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629425802"/>
                  </a:ext>
                </a:extLst>
              </a:tr>
              <a:tr h="1672450">
                <a:tc>
                  <a:txBody>
                    <a:bodyPr/>
                    <a:lstStyle/>
                    <a:p>
                      <a:pPr algn="ctr">
                        <a:lnSpc>
                          <a:spcPct val="115000"/>
                        </a:lnSpc>
                        <a:spcAft>
                          <a:spcPts val="0"/>
                        </a:spcAft>
                      </a:pPr>
                      <a:r>
                        <a:rPr lang="en-US" sz="1100">
                          <a:effectLst/>
                        </a:rPr>
                        <a:t>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Sub Assistant Engineer / Accountant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38640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dirty="0">
                          <a:effectLst/>
                        </a:rPr>
                        <a:t>Sub Assistant Engineer / Junior Assistant Manager (Grade -2)</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40000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Customer  Service Supervisor (Complaint Supervisor) / Equivalent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25000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Junior Assistant Manager / Sub Assistant Engineer / Assistant Headmaster (Grade-2)</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3500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1577499534"/>
                  </a:ext>
                </a:extLst>
              </a:tr>
              <a:tr h="1114967">
                <a:tc>
                  <a:txBody>
                    <a:bodyPr/>
                    <a:lstStyle/>
                    <a:p>
                      <a:pPr algn="ctr">
                        <a:lnSpc>
                          <a:spcPct val="115000"/>
                        </a:lnSpc>
                        <a:spcAft>
                          <a:spcPts val="0"/>
                        </a:spcAft>
                      </a:pPr>
                      <a:r>
                        <a:rPr lang="en-US" sz="1100">
                          <a:effectLst/>
                        </a:rPr>
                        <a:t>20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Chainman / MLSS / Aya / Word Boy / Cook Helper / Equivalent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20010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just">
                        <a:lnSpc>
                          <a:spcPct val="115000"/>
                        </a:lnSpc>
                        <a:spcAft>
                          <a:spcPts val="0"/>
                        </a:spcAft>
                      </a:pPr>
                      <a:r>
                        <a:rPr lang="en-US" sz="1100">
                          <a:effectLst/>
                        </a:rPr>
                        <a:t>Staff (Level-10)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14000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dirty="0">
                          <a:effectLst/>
                        </a:rPr>
                        <a:t>16 (lowest grade)</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Store Helper / Line Helper /Pion / Equivalent</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15500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a:effectLst/>
                        </a:rPr>
                        <a:t>20</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l">
                        <a:lnSpc>
                          <a:spcPct val="115000"/>
                        </a:lnSpc>
                        <a:spcAft>
                          <a:spcPts val="0"/>
                        </a:spcAft>
                      </a:pPr>
                      <a:r>
                        <a:rPr lang="en-US" sz="1100">
                          <a:effectLst/>
                        </a:rPr>
                        <a:t>Office Attendant (Grade-2) and Sweeper</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1100" dirty="0">
                          <a:effectLst/>
                        </a:rPr>
                        <a:t>14000</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 xmlns:a16="http://schemas.microsoft.com/office/drawing/2014/main" val="3044082047"/>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882640151"/>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High-level comparison </a:t>
            </a:r>
            <a:r>
              <a:rPr lang="en-US" sz="2000" b="1" dirty="0"/>
              <a:t>of two sample perquisites or benefits </a:t>
            </a:r>
            <a:r>
              <a:rPr lang="en-US" sz="2000" b="1" dirty="0" smtClean="0"/>
              <a:t>of BPDB, EGCB, NWZPDCL, PGCB</a:t>
            </a:r>
            <a:endParaRPr lang="en-IN" sz="2000" b="1" dirty="0"/>
          </a:p>
        </p:txBody>
      </p:sp>
      <p:graphicFrame>
        <p:nvGraphicFramePr>
          <p:cNvPr id="3" name="Table 2"/>
          <p:cNvGraphicFramePr>
            <a:graphicFrameLocks noGrp="1"/>
          </p:cNvGraphicFramePr>
          <p:nvPr>
            <p:extLst/>
          </p:nvPr>
        </p:nvGraphicFramePr>
        <p:xfrm>
          <a:off x="116958" y="1028359"/>
          <a:ext cx="10430539" cy="6297474"/>
        </p:xfrm>
        <a:graphic>
          <a:graphicData uri="http://schemas.openxmlformats.org/drawingml/2006/table">
            <a:tbl>
              <a:tblPr firstRow="1" firstCol="1" bandRow="1">
                <a:tableStyleId>{5C22544A-7EE6-4342-B048-85BDC9FD1C3A}</a:tableStyleId>
              </a:tblPr>
              <a:tblGrid>
                <a:gridCol w="1154330">
                  <a:extLst>
                    <a:ext uri="{9D8B030D-6E8A-4147-A177-3AD203B41FA5}">
                      <a16:colId xmlns="" xmlns:a16="http://schemas.microsoft.com/office/drawing/2014/main" val="374752076"/>
                    </a:ext>
                  </a:extLst>
                </a:gridCol>
                <a:gridCol w="3078043">
                  <a:extLst>
                    <a:ext uri="{9D8B030D-6E8A-4147-A177-3AD203B41FA5}">
                      <a16:colId xmlns="" xmlns:a16="http://schemas.microsoft.com/office/drawing/2014/main" val="1730854812"/>
                    </a:ext>
                  </a:extLst>
                </a:gridCol>
                <a:gridCol w="1879860">
                  <a:extLst>
                    <a:ext uri="{9D8B030D-6E8A-4147-A177-3AD203B41FA5}">
                      <a16:colId xmlns="" xmlns:a16="http://schemas.microsoft.com/office/drawing/2014/main" val="2564562491"/>
                    </a:ext>
                  </a:extLst>
                </a:gridCol>
                <a:gridCol w="2180638">
                  <a:extLst>
                    <a:ext uri="{9D8B030D-6E8A-4147-A177-3AD203B41FA5}">
                      <a16:colId xmlns="" xmlns:a16="http://schemas.microsoft.com/office/drawing/2014/main" val="3151941518"/>
                    </a:ext>
                  </a:extLst>
                </a:gridCol>
                <a:gridCol w="2137668">
                  <a:extLst>
                    <a:ext uri="{9D8B030D-6E8A-4147-A177-3AD203B41FA5}">
                      <a16:colId xmlns="" xmlns:a16="http://schemas.microsoft.com/office/drawing/2014/main" val="3138329139"/>
                    </a:ext>
                  </a:extLst>
                </a:gridCol>
              </a:tblGrid>
              <a:tr h="578379">
                <a:tc>
                  <a:txBody>
                    <a:bodyPr/>
                    <a:lstStyle/>
                    <a:p>
                      <a:pPr algn="l">
                        <a:lnSpc>
                          <a:spcPct val="115000"/>
                        </a:lnSpc>
                        <a:spcAft>
                          <a:spcPts val="0"/>
                        </a:spcAft>
                      </a:pPr>
                      <a:r>
                        <a:rPr lang="en-US" sz="1100" dirty="0">
                          <a:effectLst/>
                        </a:rPr>
                        <a:t>Sample perquisites or benefits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ctr">
                        <a:lnSpc>
                          <a:spcPct val="115000"/>
                        </a:lnSpc>
                        <a:spcAft>
                          <a:spcPts val="0"/>
                        </a:spcAft>
                      </a:pPr>
                      <a:r>
                        <a:rPr lang="en-US" sz="1100">
                          <a:effectLst/>
                        </a:rPr>
                        <a:t>BPDB</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ctr">
                        <a:lnSpc>
                          <a:spcPct val="115000"/>
                        </a:lnSpc>
                        <a:spcAft>
                          <a:spcPts val="0"/>
                        </a:spcAft>
                      </a:pPr>
                      <a:r>
                        <a:rPr lang="en-US" sz="1100">
                          <a:effectLst/>
                        </a:rPr>
                        <a:t>EGCB</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ctr">
                        <a:lnSpc>
                          <a:spcPct val="115000"/>
                        </a:lnSpc>
                        <a:spcAft>
                          <a:spcPts val="0"/>
                        </a:spcAft>
                      </a:pPr>
                      <a:r>
                        <a:rPr lang="en-US" sz="1100">
                          <a:effectLst/>
                        </a:rPr>
                        <a:t>NWZPDCL</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ctr">
                        <a:lnSpc>
                          <a:spcPct val="115000"/>
                        </a:lnSpc>
                        <a:spcAft>
                          <a:spcPts val="0"/>
                        </a:spcAft>
                      </a:pPr>
                      <a:r>
                        <a:rPr lang="en-US" sz="1100">
                          <a:effectLst/>
                        </a:rPr>
                        <a:t>PGCB</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extLst>
                  <a:ext uri="{0D108BD9-81ED-4DB2-BD59-A6C34878D82A}">
                    <a16:rowId xmlns="" xmlns:a16="http://schemas.microsoft.com/office/drawing/2014/main" val="1113563374"/>
                  </a:ext>
                </a:extLst>
              </a:tr>
              <a:tr h="3549783">
                <a:tc>
                  <a:txBody>
                    <a:bodyPr/>
                    <a:lstStyle/>
                    <a:p>
                      <a:pPr algn="l">
                        <a:lnSpc>
                          <a:spcPct val="115000"/>
                        </a:lnSpc>
                        <a:spcAft>
                          <a:spcPts val="0"/>
                        </a:spcAft>
                      </a:pPr>
                      <a:r>
                        <a:rPr lang="en-US" sz="1100">
                          <a:effectLst/>
                        </a:rPr>
                        <a:t>House Rent Allowance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Up to Basic Salary BDT 9770 : </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- 65%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- 55%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- 50% of Basic</a:t>
                      </a:r>
                      <a:endParaRPr lang="en-IN" sz="1100" dirty="0">
                        <a:effectLst/>
                      </a:endParaRPr>
                    </a:p>
                    <a:p>
                      <a:pPr algn="l">
                        <a:lnSpc>
                          <a:spcPct val="115000"/>
                        </a:lnSpc>
                        <a:spcAft>
                          <a:spcPts val="0"/>
                        </a:spcAft>
                      </a:pPr>
                      <a:r>
                        <a:rPr lang="en-US" sz="1100" dirty="0" smtClean="0">
                          <a:effectLst/>
                        </a:rPr>
                        <a:t>Up </a:t>
                      </a:r>
                      <a:r>
                        <a:rPr lang="en-US" sz="1100" dirty="0">
                          <a:effectLst/>
                        </a:rPr>
                        <a:t>to Basic Salary BDT 9771 to BDT 16000 : </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- 60%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- 50%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- 45% of Basic</a:t>
                      </a:r>
                      <a:endParaRPr lang="en-IN" sz="1100" dirty="0">
                        <a:effectLst/>
                      </a:endParaRPr>
                    </a:p>
                    <a:p>
                      <a:pPr algn="l">
                        <a:lnSpc>
                          <a:spcPct val="115000"/>
                        </a:lnSpc>
                        <a:spcAft>
                          <a:spcPts val="0"/>
                        </a:spcAft>
                      </a:pPr>
                      <a:r>
                        <a:rPr lang="en-US" sz="1100" dirty="0" smtClean="0">
                          <a:effectLst/>
                        </a:rPr>
                        <a:t>Up </a:t>
                      </a:r>
                      <a:r>
                        <a:rPr lang="en-US" sz="1100" dirty="0">
                          <a:effectLst/>
                        </a:rPr>
                        <a:t>to Basic Salary BDT 16001 to BDT 35500 : </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- 55%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- 45%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- 40% of Basic</a:t>
                      </a:r>
                      <a:endParaRPr lang="en-IN" sz="1100" dirty="0">
                        <a:effectLst/>
                      </a:endParaRPr>
                    </a:p>
                    <a:p>
                      <a:pPr algn="l">
                        <a:lnSpc>
                          <a:spcPct val="115000"/>
                        </a:lnSpc>
                        <a:spcAft>
                          <a:spcPts val="0"/>
                        </a:spcAft>
                      </a:pPr>
                      <a:r>
                        <a:rPr lang="en-US" sz="1100" dirty="0" smtClean="0">
                          <a:effectLst/>
                        </a:rPr>
                        <a:t>Basic </a:t>
                      </a:r>
                      <a:r>
                        <a:rPr lang="en-US" sz="1100" dirty="0">
                          <a:effectLst/>
                        </a:rPr>
                        <a:t>Salary BDT 35501 and above: </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- 50%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- 40%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- 35% of Basic</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Grade 1 to 2 :</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- 50%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- 40%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- 30% of Basic</a:t>
                      </a:r>
                      <a:endParaRPr lang="en-IN" sz="1100" dirty="0">
                        <a:effectLst/>
                      </a:endParaRPr>
                    </a:p>
                    <a:p>
                      <a:pPr algn="l">
                        <a:lnSpc>
                          <a:spcPct val="115000"/>
                        </a:lnSpc>
                        <a:spcAft>
                          <a:spcPts val="0"/>
                        </a:spcAft>
                      </a:pPr>
                      <a:r>
                        <a:rPr lang="en-US" sz="1100" dirty="0">
                          <a:effectLst/>
                        </a:rPr>
                        <a:t> </a:t>
                      </a:r>
                      <a:endParaRPr lang="en-IN" sz="1100" dirty="0">
                        <a:effectLst/>
                      </a:endParaRPr>
                    </a:p>
                    <a:p>
                      <a:pPr algn="l">
                        <a:lnSpc>
                          <a:spcPct val="115000"/>
                        </a:lnSpc>
                        <a:spcAft>
                          <a:spcPts val="0"/>
                        </a:spcAft>
                      </a:pPr>
                      <a:r>
                        <a:rPr lang="en-US" sz="1100" dirty="0">
                          <a:effectLst/>
                        </a:rPr>
                        <a:t>Grade 3 to 20:</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Dhaka - 60%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select cities - 50% of Basic</a:t>
                      </a:r>
                      <a:endParaRPr lang="en-IN" sz="1100" dirty="0">
                        <a:effectLst/>
                      </a:endParaRPr>
                    </a:p>
                    <a:p>
                      <a:pPr marL="342900" lvl="0" indent="-342900" algn="l">
                        <a:lnSpc>
                          <a:spcPct val="115000"/>
                        </a:lnSpc>
                        <a:spcAft>
                          <a:spcPts val="0"/>
                        </a:spcAft>
                        <a:buFont typeface="Symbol" panose="05050102010706020507" pitchFamily="18" charset="2"/>
                        <a:buChar char=""/>
                      </a:pPr>
                      <a:r>
                        <a:rPr lang="en-US" sz="1100" dirty="0">
                          <a:effectLst/>
                        </a:rPr>
                        <a:t>Other Places - 50% of Basic</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Grade 1 to 2 : Officers/ Employees (50% of Basic salary)</a:t>
                      </a:r>
                      <a:endParaRPr lang="en-IN" sz="1100" dirty="0">
                        <a:effectLst/>
                      </a:endParaRPr>
                    </a:p>
                    <a:p>
                      <a:pPr algn="l">
                        <a:lnSpc>
                          <a:spcPct val="115000"/>
                        </a:lnSpc>
                        <a:spcAft>
                          <a:spcPts val="0"/>
                        </a:spcAft>
                      </a:pPr>
                      <a:r>
                        <a:rPr lang="en-US" sz="1100" dirty="0">
                          <a:effectLst/>
                        </a:rPr>
                        <a:t>Grade 3 to 20: Officers/ Employees (60% of Basic Salary)</a:t>
                      </a:r>
                      <a:endParaRPr lang="en-IN" sz="1100" dirty="0">
                        <a:effectLst/>
                      </a:endParaRPr>
                    </a:p>
                    <a:p>
                      <a:pPr algn="l">
                        <a:lnSpc>
                          <a:spcPct val="115000"/>
                        </a:lnSpc>
                        <a:spcAft>
                          <a:spcPts val="0"/>
                        </a:spcAft>
                      </a:pPr>
                      <a:r>
                        <a:rPr lang="en-US" sz="1100" dirty="0">
                          <a:effectLst/>
                        </a:rPr>
                        <a:t> </a:t>
                      </a:r>
                      <a:endParaRPr lang="en-IN" sz="1100" dirty="0">
                        <a:effectLst/>
                      </a:endParaRPr>
                    </a:p>
                    <a:p>
                      <a:pPr algn="l">
                        <a:lnSpc>
                          <a:spcPct val="115000"/>
                        </a:lnSpc>
                        <a:spcAft>
                          <a:spcPts val="0"/>
                        </a:spcAft>
                      </a:pPr>
                      <a:r>
                        <a:rPr lang="en-US" sz="1100" dirty="0">
                          <a:effectLst/>
                        </a:rPr>
                        <a:t>a) House rent only acceptable for Dhaka</a:t>
                      </a:r>
                      <a:endParaRPr lang="en-IN" sz="1100" dirty="0">
                        <a:effectLst/>
                      </a:endParaRPr>
                    </a:p>
                    <a:p>
                      <a:pPr algn="l">
                        <a:lnSpc>
                          <a:spcPct val="115000"/>
                        </a:lnSpc>
                        <a:spcAft>
                          <a:spcPts val="0"/>
                        </a:spcAft>
                      </a:pPr>
                      <a:r>
                        <a:rPr lang="en-US" sz="1100" dirty="0">
                          <a:effectLst/>
                        </a:rPr>
                        <a:t>b) All Officer/ Employees posted to office in other select cities get 10% less house rent.</a:t>
                      </a:r>
                      <a:endParaRPr lang="en-IN" sz="1100" dirty="0">
                        <a:effectLst/>
                      </a:endParaRPr>
                    </a:p>
                    <a:p>
                      <a:pPr algn="l">
                        <a:lnSpc>
                          <a:spcPct val="115000"/>
                        </a:lnSpc>
                        <a:spcAft>
                          <a:spcPts val="0"/>
                        </a:spcAft>
                      </a:pPr>
                      <a:r>
                        <a:rPr lang="en-US" sz="1100" dirty="0">
                          <a:effectLst/>
                        </a:rPr>
                        <a:t>c) For other areas, all Officers / Employees excluding a &amp; b get 20% less house rent.</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Grade 1 to 2 : Officers/ Employees (50% of Basic salary)</a:t>
                      </a:r>
                      <a:endParaRPr lang="en-IN" sz="1100" dirty="0">
                        <a:effectLst/>
                      </a:endParaRPr>
                    </a:p>
                    <a:p>
                      <a:pPr algn="l">
                        <a:lnSpc>
                          <a:spcPct val="115000"/>
                        </a:lnSpc>
                        <a:spcAft>
                          <a:spcPts val="0"/>
                        </a:spcAft>
                      </a:pPr>
                      <a:r>
                        <a:rPr lang="en-US" sz="1100" dirty="0">
                          <a:effectLst/>
                        </a:rPr>
                        <a:t>Grade 3 to 20: Officers/ Employees (60% of Basic Salary)</a:t>
                      </a:r>
                      <a:endParaRPr lang="en-IN" sz="1100" dirty="0">
                        <a:effectLst/>
                      </a:endParaRPr>
                    </a:p>
                    <a:p>
                      <a:pPr algn="l">
                        <a:lnSpc>
                          <a:spcPct val="115000"/>
                        </a:lnSpc>
                        <a:spcAft>
                          <a:spcPts val="0"/>
                        </a:spcAft>
                      </a:pPr>
                      <a:r>
                        <a:rPr lang="en-US" sz="1100" dirty="0">
                          <a:effectLst/>
                        </a:rPr>
                        <a:t> </a:t>
                      </a:r>
                      <a:endParaRPr lang="en-IN" sz="1100" dirty="0">
                        <a:effectLst/>
                      </a:endParaRPr>
                    </a:p>
                    <a:p>
                      <a:pPr algn="l">
                        <a:lnSpc>
                          <a:spcPct val="115000"/>
                        </a:lnSpc>
                        <a:spcAft>
                          <a:spcPts val="0"/>
                        </a:spcAft>
                      </a:pPr>
                      <a:r>
                        <a:rPr lang="en-US" sz="1100" dirty="0">
                          <a:effectLst/>
                        </a:rPr>
                        <a:t>a) House rent only acceptable for Dhaka Metropolitan Area </a:t>
                      </a:r>
                      <a:endParaRPr lang="en-IN" sz="1100" dirty="0">
                        <a:effectLst/>
                      </a:endParaRPr>
                    </a:p>
                    <a:p>
                      <a:pPr algn="l">
                        <a:lnSpc>
                          <a:spcPct val="115000"/>
                        </a:lnSpc>
                        <a:spcAft>
                          <a:spcPts val="0"/>
                        </a:spcAft>
                      </a:pPr>
                      <a:r>
                        <a:rPr lang="en-US" sz="1100" dirty="0">
                          <a:effectLst/>
                        </a:rPr>
                        <a:t>b) All Officer/ Employees posted to office in other select cities get 10% less house rent.</a:t>
                      </a:r>
                      <a:endParaRPr lang="en-IN" sz="1100" dirty="0">
                        <a:effectLst/>
                      </a:endParaRPr>
                    </a:p>
                    <a:p>
                      <a:pPr algn="l">
                        <a:lnSpc>
                          <a:spcPct val="115000"/>
                        </a:lnSpc>
                        <a:spcAft>
                          <a:spcPts val="0"/>
                        </a:spcAft>
                      </a:pPr>
                      <a:r>
                        <a:rPr lang="en-US" sz="1100" dirty="0">
                          <a:effectLst/>
                        </a:rPr>
                        <a:t>c) For other areas, all Officers / Employees excluding a &amp; b get 20% less house rent.</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extLst>
                  <a:ext uri="{0D108BD9-81ED-4DB2-BD59-A6C34878D82A}">
                    <a16:rowId xmlns="" xmlns:a16="http://schemas.microsoft.com/office/drawing/2014/main" val="3711920316"/>
                  </a:ext>
                </a:extLst>
              </a:tr>
              <a:tr h="2169312">
                <a:tc>
                  <a:txBody>
                    <a:bodyPr/>
                    <a:lstStyle/>
                    <a:p>
                      <a:pPr algn="l">
                        <a:lnSpc>
                          <a:spcPct val="115000"/>
                        </a:lnSpc>
                        <a:spcAft>
                          <a:spcPts val="0"/>
                        </a:spcAft>
                      </a:pPr>
                      <a:r>
                        <a:rPr lang="en-US" sz="1100">
                          <a:effectLst/>
                        </a:rPr>
                        <a:t>Medical allowance</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All Employees get BDT 1500 per month</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Grade 1 to 2 : Highest 3 (Three) times of equivalent basic salary</a:t>
                      </a:r>
                      <a:endParaRPr lang="en-IN" sz="1100" dirty="0">
                        <a:effectLst/>
                      </a:endParaRPr>
                    </a:p>
                    <a:p>
                      <a:pPr algn="l">
                        <a:lnSpc>
                          <a:spcPct val="115000"/>
                        </a:lnSpc>
                        <a:spcAft>
                          <a:spcPts val="0"/>
                        </a:spcAft>
                      </a:pPr>
                      <a:r>
                        <a:rPr lang="en-US" sz="1100" dirty="0">
                          <a:effectLst/>
                        </a:rPr>
                        <a:t>Grade 3 to 8 : Highest 2 (Two) times of equivalent basic salary</a:t>
                      </a:r>
                      <a:endParaRPr lang="en-IN" sz="1100" dirty="0">
                        <a:effectLst/>
                      </a:endParaRPr>
                    </a:p>
                    <a:p>
                      <a:pPr algn="l">
                        <a:lnSpc>
                          <a:spcPct val="115000"/>
                        </a:lnSpc>
                        <a:spcAft>
                          <a:spcPts val="0"/>
                        </a:spcAft>
                      </a:pPr>
                      <a:r>
                        <a:rPr lang="en-US" sz="1100" dirty="0">
                          <a:effectLst/>
                        </a:rPr>
                        <a:t>Grade 9 to 20:  10% of monthly basic salary or minimum BDT 2000</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a:effectLst/>
                        </a:rPr>
                        <a:t>Grade 1 to 2: Highest 3 (Three) times of equivalent basic salary</a:t>
                      </a:r>
                      <a:endParaRPr lang="en-IN" sz="1100">
                        <a:effectLst/>
                      </a:endParaRPr>
                    </a:p>
                    <a:p>
                      <a:pPr algn="l">
                        <a:lnSpc>
                          <a:spcPct val="115000"/>
                        </a:lnSpc>
                        <a:spcAft>
                          <a:spcPts val="0"/>
                        </a:spcAft>
                      </a:pPr>
                      <a:r>
                        <a:rPr lang="en-US" sz="1100">
                          <a:effectLst/>
                        </a:rPr>
                        <a:t>Grade  3 to 8 : Highest 2 (Two) times of equivalent basic salary</a:t>
                      </a:r>
                      <a:endParaRPr lang="en-IN" sz="1100">
                        <a:effectLst/>
                      </a:endParaRPr>
                    </a:p>
                    <a:p>
                      <a:pPr algn="l">
                        <a:lnSpc>
                          <a:spcPct val="115000"/>
                        </a:lnSpc>
                        <a:spcAft>
                          <a:spcPts val="0"/>
                        </a:spcAft>
                      </a:pPr>
                      <a:r>
                        <a:rPr lang="en-US" sz="1100">
                          <a:effectLst/>
                        </a:rPr>
                        <a:t>Grade 9 to 20 : 10% of the basic salary of the officers / employees or the minimum allowance of BDT 2000 can be paid</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tc>
                  <a:txBody>
                    <a:bodyPr/>
                    <a:lstStyle/>
                    <a:p>
                      <a:pPr algn="l">
                        <a:lnSpc>
                          <a:spcPct val="115000"/>
                        </a:lnSpc>
                        <a:spcAft>
                          <a:spcPts val="0"/>
                        </a:spcAft>
                      </a:pPr>
                      <a:r>
                        <a:rPr lang="en-US" sz="1100" dirty="0">
                          <a:effectLst/>
                        </a:rPr>
                        <a:t>Grade 1 to 2: Highest 3 (Three) times of equivalent basic salary</a:t>
                      </a:r>
                      <a:endParaRPr lang="en-IN" sz="1100" dirty="0">
                        <a:effectLst/>
                      </a:endParaRPr>
                    </a:p>
                    <a:p>
                      <a:pPr algn="l">
                        <a:lnSpc>
                          <a:spcPct val="115000"/>
                        </a:lnSpc>
                        <a:spcAft>
                          <a:spcPts val="0"/>
                        </a:spcAft>
                      </a:pPr>
                      <a:r>
                        <a:rPr lang="en-US" sz="1100" dirty="0">
                          <a:effectLst/>
                        </a:rPr>
                        <a:t>Grade  3 to 8 : Highest 2 (Two) times of equivalent basic salary</a:t>
                      </a:r>
                      <a:endParaRPr lang="en-IN" sz="1100" dirty="0">
                        <a:effectLst/>
                      </a:endParaRPr>
                    </a:p>
                    <a:p>
                      <a:pPr algn="l">
                        <a:lnSpc>
                          <a:spcPct val="115000"/>
                        </a:lnSpc>
                        <a:spcAft>
                          <a:spcPts val="0"/>
                        </a:spcAft>
                      </a:pPr>
                      <a:r>
                        <a:rPr lang="en-US" sz="1100" dirty="0">
                          <a:effectLst/>
                        </a:rPr>
                        <a:t>Grade 9 to 20 : 10% of the basic salary of the officers / employees or the minimum allowance of BDT 2000 can be paid</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56529" marR="56529" marT="0" marB="0"/>
                </a:tc>
                <a:extLst>
                  <a:ext uri="{0D108BD9-81ED-4DB2-BD59-A6C34878D82A}">
                    <a16:rowId xmlns="" xmlns:a16="http://schemas.microsoft.com/office/drawing/2014/main" val="3196005584"/>
                  </a:ext>
                </a:extLst>
              </a:tr>
            </a:tbl>
          </a:graphicData>
        </a:graphic>
      </p:graphicFrame>
      <p:sp>
        <p:nvSpPr>
          <p:cNvPr id="6" name="Pentagon 5">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663628242"/>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a:t>
            </a:r>
            <a:r>
              <a:rPr lang="en-US" sz="2000" b="1" dirty="0" smtClean="0"/>
              <a:t>Basic Pay </a:t>
            </a:r>
            <a:r>
              <a:rPr lang="en-US" sz="2000" b="1" dirty="0"/>
              <a:t>of BPDB and its select subsidiaries namely, EGCB, NWZPDCL and </a:t>
            </a:r>
            <a:r>
              <a:rPr lang="en-US" sz="2000" b="1" dirty="0" smtClean="0"/>
              <a:t>PGCB (1/2)</a:t>
            </a:r>
            <a:endParaRPr lang="en-IN" sz="2000" b="1" dirty="0"/>
          </a:p>
        </p:txBody>
      </p:sp>
      <p:graphicFrame>
        <p:nvGraphicFramePr>
          <p:cNvPr id="6" name="Table 5"/>
          <p:cNvGraphicFramePr>
            <a:graphicFrameLocks noGrp="1"/>
          </p:cNvGraphicFramePr>
          <p:nvPr>
            <p:extLst/>
          </p:nvPr>
        </p:nvGraphicFramePr>
        <p:xfrm>
          <a:off x="85059" y="1026434"/>
          <a:ext cx="10526233" cy="5903920"/>
        </p:xfrm>
        <a:graphic>
          <a:graphicData uri="http://schemas.openxmlformats.org/drawingml/2006/table">
            <a:tbl>
              <a:tblPr firstRow="1" firstCol="1" bandRow="1"/>
              <a:tblGrid>
                <a:gridCol w="674261">
                  <a:extLst>
                    <a:ext uri="{9D8B030D-6E8A-4147-A177-3AD203B41FA5}">
                      <a16:colId xmlns="" xmlns:a16="http://schemas.microsoft.com/office/drawing/2014/main" val="50709736"/>
                    </a:ext>
                  </a:extLst>
                </a:gridCol>
                <a:gridCol w="2462993">
                  <a:extLst>
                    <a:ext uri="{9D8B030D-6E8A-4147-A177-3AD203B41FA5}">
                      <a16:colId xmlns="" xmlns:a16="http://schemas.microsoft.com/office/drawing/2014/main" val="3492841565"/>
                    </a:ext>
                  </a:extLst>
                </a:gridCol>
                <a:gridCol w="2462993">
                  <a:extLst>
                    <a:ext uri="{9D8B030D-6E8A-4147-A177-3AD203B41FA5}">
                      <a16:colId xmlns="" xmlns:a16="http://schemas.microsoft.com/office/drawing/2014/main" val="224843044"/>
                    </a:ext>
                  </a:extLst>
                </a:gridCol>
                <a:gridCol w="2462993">
                  <a:extLst>
                    <a:ext uri="{9D8B030D-6E8A-4147-A177-3AD203B41FA5}">
                      <a16:colId xmlns="" xmlns:a16="http://schemas.microsoft.com/office/drawing/2014/main" val="1865218361"/>
                    </a:ext>
                  </a:extLst>
                </a:gridCol>
                <a:gridCol w="2462993">
                  <a:extLst>
                    <a:ext uri="{9D8B030D-6E8A-4147-A177-3AD203B41FA5}">
                      <a16:colId xmlns="" xmlns:a16="http://schemas.microsoft.com/office/drawing/2014/main" val="3640753768"/>
                    </a:ext>
                  </a:extLst>
                </a:gridCol>
              </a:tblGrid>
              <a:tr h="0">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193120">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2098871">
                <a:tc>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Basic Pay</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 2015;</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a:t>
                      </a:r>
                      <a:r>
                        <a:rPr lang="en-IN" sz="1000" dirty="0">
                          <a:solidFill>
                            <a:srgbClr val="000000"/>
                          </a:solidFill>
                          <a:effectLst/>
                          <a:latin typeface="+mn-lt"/>
                          <a:ea typeface="Times New Roman" panose="02020603050405020304" pitchFamily="18" charset="0"/>
                          <a:cs typeface="Calibri" panose="020F0502020204030204" pitchFamily="34" charset="0"/>
                        </a:rPr>
                        <a:t>     Chairman 78,000/-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a:t>
                      </a:r>
                      <a:r>
                        <a:rPr lang="en-IN" sz="1000" dirty="0">
                          <a:solidFill>
                            <a:srgbClr val="000000"/>
                          </a:solidFill>
                          <a:effectLst/>
                          <a:latin typeface="+mn-lt"/>
                          <a:ea typeface="Times New Roman" panose="02020603050405020304" pitchFamily="18" charset="0"/>
                          <a:cs typeface="Calibri" panose="020F0502020204030204" pitchFamily="34" charset="0"/>
                        </a:rPr>
                        <a:t>     Member/Chief Engineer/Controller/  76,490/-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Grade-3</a:t>
                      </a:r>
                      <a:r>
                        <a:rPr lang="en-IN" sz="1000" dirty="0">
                          <a:effectLst/>
                          <a:latin typeface="+mn-lt"/>
                          <a:ea typeface="Times New Roman" panose="02020603050405020304" pitchFamily="18" charset="0"/>
                          <a:cs typeface="Calibri" panose="020F0502020204030204" pitchFamily="34" charset="0"/>
                        </a:rPr>
                        <a:t>     Addl. Chief Engineer/GM Commercial/Chief Medical Officer 74,400/-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Grade-4 </a:t>
                      </a:r>
                      <a:r>
                        <a:rPr lang="en-IN" sz="1000" dirty="0">
                          <a:effectLst/>
                          <a:latin typeface="+mn-lt"/>
                          <a:ea typeface="Times New Roman" panose="02020603050405020304" pitchFamily="18" charset="0"/>
                          <a:cs typeface="Calibri" panose="020F0502020204030204" pitchFamily="34" charset="0"/>
                        </a:rPr>
                        <a:t>    Superintending Engineer/ Director/ Manager 71,200/-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Grade-5</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Addi</a:t>
                      </a:r>
                      <a:r>
                        <a:rPr lang="en-IN" sz="1000" dirty="0">
                          <a:effectLst/>
                          <a:latin typeface="+mn-lt"/>
                          <a:ea typeface="Times New Roman" panose="02020603050405020304" pitchFamily="18" charset="0"/>
                          <a:cs typeface="Calibri" panose="020F0502020204030204" pitchFamily="34" charset="0"/>
                        </a:rPr>
                        <a:t>. Director/ Deputy Director/ Executive Engineer/ Deputy Secretary 69,850/-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Grade-6</a:t>
                      </a:r>
                      <a:r>
                        <a:rPr lang="en-IN" sz="1000" dirty="0">
                          <a:effectLst/>
                          <a:latin typeface="+mn-lt"/>
                          <a:ea typeface="Times New Roman" panose="02020603050405020304" pitchFamily="18" charset="0"/>
                          <a:cs typeface="Calibri" panose="020F0502020204030204" pitchFamily="34" charset="0"/>
                        </a:rPr>
                        <a:t>     Programmer/ Computer Operator Supervisor/ </a:t>
                      </a:r>
                      <a:r>
                        <a:rPr lang="en-IN" sz="1000" dirty="0" err="1">
                          <a:effectLst/>
                          <a:latin typeface="+mn-lt"/>
                          <a:ea typeface="Times New Roman" panose="02020603050405020304" pitchFamily="18" charset="0"/>
                          <a:cs typeface="Calibri" panose="020F0502020204030204" pitchFamily="34" charset="0"/>
                        </a:rPr>
                        <a:t>Sr.Asstt.Director</a:t>
                      </a:r>
                      <a:r>
                        <a:rPr lang="en-IN" sz="1000" dirty="0">
                          <a:effectLst/>
                          <a:latin typeface="+mn-lt"/>
                          <a:ea typeface="Times New Roman" panose="02020603050405020304" pitchFamily="18" charset="0"/>
                          <a:cs typeface="Calibri" panose="020F0502020204030204" pitchFamily="34" charset="0"/>
                        </a:rPr>
                        <a:t> 67,010/-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Grade-7</a:t>
                      </a:r>
                      <a:r>
                        <a:rPr lang="en-IN" sz="1000" dirty="0">
                          <a:effectLst/>
                          <a:latin typeface="+mn-lt"/>
                          <a:ea typeface="Times New Roman" panose="02020603050405020304" pitchFamily="18" charset="0"/>
                          <a:cs typeface="Calibri" panose="020F0502020204030204" pitchFamily="34" charset="0"/>
                        </a:rPr>
                        <a:t>     63,410/-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Grade-8</a:t>
                      </a:r>
                      <a:r>
                        <a:rPr lang="en-IN" sz="1000" dirty="0">
                          <a:effectLst/>
                          <a:latin typeface="+mn-lt"/>
                          <a:ea typeface="Times New Roman" panose="02020603050405020304" pitchFamily="18" charset="0"/>
                          <a:cs typeface="Calibri" panose="020F0502020204030204" pitchFamily="34" charset="0"/>
                        </a:rPr>
                        <a:t>     55,470 /-</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Grade-9</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Asstt</a:t>
                      </a:r>
                      <a:r>
                        <a:rPr lang="en-IN" sz="1000" dirty="0">
                          <a:effectLst/>
                          <a:latin typeface="+mn-lt"/>
                          <a:ea typeface="Times New Roman" panose="02020603050405020304" pitchFamily="18" charset="0"/>
                          <a:cs typeface="Calibri" panose="020F0502020204030204" pitchFamily="34" charset="0"/>
                        </a:rPr>
                        <a:t>. Director/ </a:t>
                      </a:r>
                      <a:r>
                        <a:rPr lang="en-IN" sz="1000" dirty="0" err="1">
                          <a:effectLst/>
                          <a:latin typeface="+mn-lt"/>
                          <a:ea typeface="Times New Roman" panose="02020603050405020304" pitchFamily="18" charset="0"/>
                          <a:cs typeface="Calibri" panose="020F0502020204030204" pitchFamily="34" charset="0"/>
                        </a:rPr>
                        <a:t>Asstt</a:t>
                      </a:r>
                      <a:r>
                        <a:rPr lang="en-IN" sz="1000" dirty="0">
                          <a:effectLst/>
                          <a:latin typeface="+mn-lt"/>
                          <a:ea typeface="Times New Roman" panose="02020603050405020304" pitchFamily="18" charset="0"/>
                          <a:cs typeface="Calibri" panose="020F0502020204030204" pitchFamily="34" charset="0"/>
                        </a:rPr>
                        <a:t>. Engineer/ </a:t>
                      </a:r>
                      <a:r>
                        <a:rPr lang="en-IN" sz="1000" dirty="0" err="1">
                          <a:effectLst/>
                          <a:latin typeface="+mn-lt"/>
                          <a:ea typeface="Times New Roman" panose="02020603050405020304" pitchFamily="18" charset="0"/>
                          <a:cs typeface="Calibri" panose="020F0502020204030204" pitchFamily="34" charset="0"/>
                        </a:rPr>
                        <a:t>Asstt</a:t>
                      </a:r>
                      <a:r>
                        <a:rPr lang="en-IN" sz="1000" dirty="0">
                          <a:effectLst/>
                          <a:latin typeface="+mn-lt"/>
                          <a:ea typeface="Times New Roman" panose="02020603050405020304" pitchFamily="18" charset="0"/>
                          <a:cs typeface="Calibri" panose="020F0502020204030204" pitchFamily="34" charset="0"/>
                        </a:rPr>
                        <a:t>. Programmer/ Senior Computer Operator 53,060/-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Grade10</a:t>
                      </a:r>
                      <a:r>
                        <a:rPr lang="en-IN" sz="1000" dirty="0">
                          <a:effectLst/>
                          <a:latin typeface="+mn-lt"/>
                          <a:ea typeface="Times New Roman" panose="02020603050405020304" pitchFamily="18" charset="0"/>
                          <a:cs typeface="Calibri" panose="020F0502020204030204" pitchFamily="34" charset="0"/>
                        </a:rPr>
                        <a:t>    Sub Assistant Engineer/ accountant 38,640</a:t>
                      </a:r>
                      <a:r>
                        <a:rPr lang="en-IN" sz="1000" dirty="0" smtClean="0">
                          <a:effectLst/>
                          <a:latin typeface="+mn-lt"/>
                          <a:ea typeface="Times New Roman" panose="02020603050405020304" pitchFamily="18" charset="0"/>
                          <a:cs typeface="Calibri" panose="020F0502020204030204" pitchFamily="34" charset="0"/>
                        </a:rPr>
                        <a:t>/-</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 :</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 </a:t>
                      </a:r>
                      <a:r>
                        <a:rPr lang="en-IN" sz="1000" dirty="0">
                          <a:solidFill>
                            <a:srgbClr val="000000"/>
                          </a:solidFill>
                          <a:effectLst/>
                          <a:latin typeface="+mn-lt"/>
                          <a:ea typeface="Times New Roman" panose="02020603050405020304" pitchFamily="18" charset="0"/>
                          <a:cs typeface="Calibri" panose="020F0502020204030204" pitchFamily="34" charset="0"/>
                        </a:rPr>
                        <a:t>    Managing Director 1,75,000/-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 </a:t>
                      </a:r>
                      <a:r>
                        <a:rPr lang="en-IN" sz="1000" dirty="0">
                          <a:solidFill>
                            <a:srgbClr val="000000"/>
                          </a:solidFill>
                          <a:effectLst/>
                          <a:latin typeface="+mn-lt"/>
                          <a:ea typeface="Times New Roman" panose="02020603050405020304" pitchFamily="18" charset="0"/>
                          <a:cs typeface="Calibri" panose="020F0502020204030204" pitchFamily="34" charset="0"/>
                        </a:rPr>
                        <a:t>    Executive Director 1,49,000/-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Grade-3 </a:t>
                      </a:r>
                      <a:r>
                        <a:rPr lang="en-IN" sz="1000" dirty="0">
                          <a:solidFill>
                            <a:srgbClr val="000000"/>
                          </a:solidFill>
                          <a:effectLst/>
                          <a:latin typeface="+mn-lt"/>
                          <a:ea typeface="Times New Roman" panose="02020603050405020304" pitchFamily="18" charset="0"/>
                          <a:cs typeface="Calibri" panose="020F0502020204030204" pitchFamily="34" charset="0"/>
                        </a:rPr>
                        <a:t>    Chief Engineer/General Manager/Equivalent 1,22,000/-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Grade-4</a:t>
                      </a:r>
                      <a:r>
                        <a:rPr lang="en-IN" sz="1000" dirty="0">
                          <a:solidFill>
                            <a:srgbClr val="000000"/>
                          </a:solidFill>
                          <a:effectLst/>
                          <a:latin typeface="+mn-lt"/>
                          <a:ea typeface="Times New Roman" panose="02020603050405020304" pitchFamily="18" charset="0"/>
                          <a:cs typeface="Calibri" panose="020F0502020204030204" pitchFamily="34" charset="0"/>
                        </a:rPr>
                        <a:t>     Superintending Engineer/Deputy General Manager/Equivalent 1,05,000/-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Grade-5</a:t>
                      </a:r>
                      <a:r>
                        <a:rPr lang="en-IN" sz="1000" dirty="0">
                          <a:solidFill>
                            <a:srgbClr val="000000"/>
                          </a:solidFill>
                          <a:effectLst/>
                          <a:latin typeface="+mn-lt"/>
                          <a:ea typeface="Times New Roman" panose="02020603050405020304" pitchFamily="18" charset="0"/>
                          <a:cs typeface="Calibri" panose="020F0502020204030204" pitchFamily="34" charset="0"/>
                        </a:rPr>
                        <a:t>     Executive Engineer/Manager/Equivalent 91,000/-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Grade-6 </a:t>
                      </a:r>
                      <a:r>
                        <a:rPr lang="en-IN" sz="1000" dirty="0">
                          <a:solidFill>
                            <a:srgbClr val="000000"/>
                          </a:solidFill>
                          <a:effectLst/>
                          <a:latin typeface="+mn-lt"/>
                          <a:ea typeface="Times New Roman" panose="02020603050405020304" pitchFamily="18" charset="0"/>
                          <a:cs typeface="Calibri" panose="020F0502020204030204" pitchFamily="34" charset="0"/>
                        </a:rPr>
                        <a:t>    Sub Divisional Engineer/Deputy Manager/Equivalent 70,000/-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Grade-7</a:t>
                      </a:r>
                      <a:r>
                        <a:rPr lang="en-IN" sz="1000" dirty="0">
                          <a:solidFill>
                            <a:srgbClr val="000000"/>
                          </a:solidFill>
                          <a:effectLst/>
                          <a:latin typeface="+mn-lt"/>
                          <a:ea typeface="Times New Roman" panose="02020603050405020304" pitchFamily="18" charset="0"/>
                          <a:cs typeface="Calibri" panose="020F0502020204030204" pitchFamily="34" charset="0"/>
                        </a:rPr>
                        <a:t>     Assistant Engineer/Assistant Manager/Equivalent (Grade-1) 63,000/-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Grade-8</a:t>
                      </a:r>
                      <a:r>
                        <a:rPr lang="en-IN" sz="1000" dirty="0">
                          <a:solidFill>
                            <a:srgbClr val="000000"/>
                          </a:solidFill>
                          <a:effectLst/>
                          <a:latin typeface="+mn-lt"/>
                          <a:ea typeface="Times New Roman" panose="02020603050405020304" pitchFamily="18" charset="0"/>
                          <a:cs typeface="Calibri" panose="020F0502020204030204" pitchFamily="34" charset="0"/>
                        </a:rPr>
                        <a:t>     Assistant Engineer/Assistant Manager/Equivalent (Grade-2) 52,000/-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Grade-9</a:t>
                      </a:r>
                      <a:r>
                        <a:rPr lang="en-IN" sz="1000" dirty="0">
                          <a:solidFill>
                            <a:srgbClr val="000000"/>
                          </a:solidFill>
                          <a:effectLst/>
                          <a:latin typeface="+mn-lt"/>
                          <a:ea typeface="Times New Roman" panose="02020603050405020304" pitchFamily="18" charset="0"/>
                          <a:cs typeface="Calibri" panose="020F0502020204030204" pitchFamily="34" charset="0"/>
                        </a:rPr>
                        <a:t>     Sub Assistant Engineer/Junior Assistant Manager (Grade -1) 44,000/-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Grade10 </a:t>
                      </a:r>
                      <a:r>
                        <a:rPr lang="en-IN" sz="1000" dirty="0">
                          <a:solidFill>
                            <a:srgbClr val="000000"/>
                          </a:solidFill>
                          <a:effectLst/>
                          <a:latin typeface="+mn-lt"/>
                          <a:ea typeface="Times New Roman" panose="02020603050405020304" pitchFamily="18" charset="0"/>
                          <a:cs typeface="Calibri" panose="020F0502020204030204" pitchFamily="34" charset="0"/>
                        </a:rPr>
                        <a:t>   Sub Assistant Engineer/Junior Assistant Manager (Grade -2) 40,000</a:t>
                      </a:r>
                      <a:r>
                        <a:rPr lang="en-IN" sz="1000" dirty="0" smtClean="0">
                          <a:solidFill>
                            <a:srgbClr val="000000"/>
                          </a:solidFill>
                          <a:effectLst/>
                          <a:latin typeface="+mn-lt"/>
                          <a:ea typeface="Times New Roman" panose="02020603050405020304" pitchFamily="18" charset="0"/>
                          <a:cs typeface="Calibri" panose="020F0502020204030204" pitchFamily="34" charset="0"/>
                        </a:rPr>
                        <a:t>/-</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 </a:t>
                      </a:r>
                      <a:r>
                        <a:rPr lang="en-IN" sz="1000" dirty="0">
                          <a:solidFill>
                            <a:srgbClr val="000000"/>
                          </a:solidFill>
                          <a:effectLst/>
                          <a:latin typeface="+mn-lt"/>
                          <a:ea typeface="Times New Roman" panose="02020603050405020304" pitchFamily="18" charset="0"/>
                          <a:cs typeface="Calibri" panose="020F0502020204030204" pitchFamily="34" charset="0"/>
                        </a:rPr>
                        <a:t>    Managing Director 1,75,000/-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a:t>
                      </a:r>
                      <a:r>
                        <a:rPr lang="en-IN" sz="1000" dirty="0">
                          <a:solidFill>
                            <a:srgbClr val="000000"/>
                          </a:solidFill>
                          <a:effectLst/>
                          <a:latin typeface="+mn-lt"/>
                          <a:ea typeface="Times New Roman" panose="02020603050405020304" pitchFamily="18" charset="0"/>
                          <a:cs typeface="Calibri" panose="020F0502020204030204" pitchFamily="34" charset="0"/>
                        </a:rPr>
                        <a:t>    Director 1,49,000/-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Grade-3</a:t>
                      </a:r>
                      <a:r>
                        <a:rPr lang="en-IN" sz="1000" dirty="0">
                          <a:solidFill>
                            <a:srgbClr val="000000"/>
                          </a:solidFill>
                          <a:effectLst/>
                          <a:latin typeface="+mn-lt"/>
                          <a:ea typeface="Times New Roman" panose="02020603050405020304" pitchFamily="18" charset="0"/>
                          <a:cs typeface="Calibri" panose="020F0502020204030204" pitchFamily="34" charset="0"/>
                        </a:rPr>
                        <a:t>    General Manager 1,22,000/-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Grade-4 </a:t>
                      </a:r>
                      <a:r>
                        <a:rPr lang="en-IN" sz="1000" dirty="0">
                          <a:solidFill>
                            <a:srgbClr val="000000"/>
                          </a:solidFill>
                          <a:effectLst/>
                          <a:latin typeface="+mn-lt"/>
                          <a:ea typeface="Times New Roman" panose="02020603050405020304" pitchFamily="18" charset="0"/>
                          <a:cs typeface="Calibri" panose="020F0502020204030204" pitchFamily="34" charset="0"/>
                        </a:rPr>
                        <a:t>   Deputy General Manager/Company Secretary/Equivalent 1,05,000/-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Grade-5 </a:t>
                      </a:r>
                      <a:r>
                        <a:rPr lang="en-IN" sz="1000" dirty="0">
                          <a:solidFill>
                            <a:srgbClr val="000000"/>
                          </a:solidFill>
                          <a:effectLst/>
                          <a:latin typeface="+mn-lt"/>
                          <a:ea typeface="Times New Roman" panose="02020603050405020304" pitchFamily="18" charset="0"/>
                          <a:cs typeface="Calibri" panose="020F0502020204030204" pitchFamily="34" charset="0"/>
                        </a:rPr>
                        <a:t>    Manager/Equivalent 79,000/-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Grade-6 </a:t>
                      </a:r>
                      <a:r>
                        <a:rPr lang="en-IN" sz="1000" dirty="0">
                          <a:effectLst/>
                          <a:latin typeface="+mn-lt"/>
                          <a:ea typeface="Times New Roman" panose="02020603050405020304" pitchFamily="18" charset="0"/>
                          <a:cs typeface="Calibri" panose="020F0502020204030204" pitchFamily="34" charset="0"/>
                        </a:rPr>
                        <a:t>    Deputy Manager/Equivalent 61,000/-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Grade-7</a:t>
                      </a:r>
                      <a:r>
                        <a:rPr lang="en-IN" sz="1000" dirty="0">
                          <a:effectLst/>
                          <a:latin typeface="+mn-lt"/>
                          <a:ea typeface="Times New Roman" panose="02020603050405020304" pitchFamily="18" charset="0"/>
                          <a:cs typeface="Calibri" panose="020F0502020204030204" pitchFamily="34" charset="0"/>
                        </a:rPr>
                        <a:t>     Assistant Manager/Medical Officer/C&amp;F Officer/Procurement Officer/Legal Officer/Board Officer/Public Relation Officer/Headmaster(Secondary)/Equivalent  51,000/-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Grade-8 </a:t>
                      </a:r>
                      <a:r>
                        <a:rPr lang="en-IN" sz="1000" dirty="0">
                          <a:effectLst/>
                          <a:latin typeface="+mn-lt"/>
                          <a:ea typeface="Times New Roman" panose="02020603050405020304" pitchFamily="18" charset="0"/>
                          <a:cs typeface="Calibri" panose="020F0502020204030204" pitchFamily="34" charset="0"/>
                        </a:rPr>
                        <a:t>    Junior Assistant Manager/Accountant/Equivalent 39,000/-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Grade-9</a:t>
                      </a:r>
                      <a:r>
                        <a:rPr lang="en-IN" sz="1000" dirty="0">
                          <a:effectLst/>
                          <a:latin typeface="+mn-lt"/>
                          <a:ea typeface="Times New Roman" panose="02020603050405020304" pitchFamily="18" charset="0"/>
                          <a:cs typeface="Calibri" panose="020F0502020204030204" pitchFamily="34" charset="0"/>
                        </a:rPr>
                        <a:t>     Bill Supervisor/Foreman-C/Assistant Teacher(Secondary, Trained) 32,000/-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Grade10</a:t>
                      </a:r>
                      <a:r>
                        <a:rPr lang="en-IN" sz="1000" dirty="0">
                          <a:effectLst/>
                          <a:latin typeface="+mn-lt"/>
                          <a:ea typeface="Times New Roman" panose="02020603050405020304" pitchFamily="18" charset="0"/>
                          <a:cs typeface="Calibri" panose="020F0502020204030204" pitchFamily="34" charset="0"/>
                        </a:rPr>
                        <a:t>    Customer  Service Supervisor(Complaint Supervisor)/Equivalent 25,000</a:t>
                      </a:r>
                      <a:r>
                        <a:rPr lang="en-IN" sz="1000" dirty="0" smtClean="0">
                          <a:effectLst/>
                          <a:latin typeface="+mn-lt"/>
                          <a:ea typeface="Times New Roman" panose="02020603050405020304" pitchFamily="18" charset="0"/>
                          <a:cs typeface="Calibri" panose="020F0502020204030204" pitchFamily="34" charset="0"/>
                        </a:rPr>
                        <a:t>/-</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  </a:t>
                      </a:r>
                      <a:r>
                        <a:rPr lang="en-IN" sz="1000" dirty="0">
                          <a:solidFill>
                            <a:srgbClr val="000000"/>
                          </a:solidFill>
                          <a:effectLst/>
                          <a:latin typeface="+mn-lt"/>
                          <a:ea typeface="Times New Roman" panose="02020603050405020304" pitchFamily="18" charset="0"/>
                          <a:cs typeface="Calibri" panose="020F0502020204030204" pitchFamily="34" charset="0"/>
                        </a:rPr>
                        <a:t>  Managing Director 1,75,000/-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a:t>
                      </a:r>
                      <a:r>
                        <a:rPr lang="en-IN" sz="1000" dirty="0">
                          <a:solidFill>
                            <a:srgbClr val="000000"/>
                          </a:solidFill>
                          <a:effectLst/>
                          <a:latin typeface="+mn-lt"/>
                          <a:ea typeface="Times New Roman" panose="02020603050405020304" pitchFamily="18" charset="0"/>
                          <a:cs typeface="Calibri" panose="020F0502020204030204" pitchFamily="34" charset="0"/>
                        </a:rPr>
                        <a:t>  Executive Director 1,45,000/-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Grade-3 </a:t>
                      </a:r>
                      <a:r>
                        <a:rPr lang="en-IN" sz="1000" dirty="0">
                          <a:solidFill>
                            <a:srgbClr val="000000"/>
                          </a:solidFill>
                          <a:effectLst/>
                          <a:latin typeface="+mn-lt"/>
                          <a:ea typeface="Times New Roman" panose="02020603050405020304" pitchFamily="18" charset="0"/>
                          <a:cs typeface="Calibri" panose="020F0502020204030204" pitchFamily="34" charset="0"/>
                        </a:rPr>
                        <a:t>  General Manager/Chief Engineer 1,20,000/-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Grade-4  </a:t>
                      </a:r>
                      <a:r>
                        <a:rPr lang="en-IN" sz="1000" b="1" dirty="0">
                          <a:effectLst/>
                          <a:latin typeface="+mn-lt"/>
                          <a:ea typeface="Times New Roman" panose="02020603050405020304" pitchFamily="18" charset="0"/>
                          <a:cs typeface="Calibri" panose="020F0502020204030204" pitchFamily="34" charset="0"/>
                        </a:rPr>
                        <a:t> </a:t>
                      </a:r>
                      <a:r>
                        <a:rPr lang="en-IN" sz="1000" dirty="0">
                          <a:effectLst/>
                          <a:latin typeface="+mn-lt"/>
                          <a:ea typeface="Times New Roman" panose="02020603050405020304" pitchFamily="18" charset="0"/>
                          <a:cs typeface="Calibri" panose="020F0502020204030204" pitchFamily="34" charset="0"/>
                        </a:rPr>
                        <a:t>Company Secretary/Deputy General Manager/Superintending Engineer 1,02,000/-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Grade-5   </a:t>
                      </a:r>
                      <a:r>
                        <a:rPr lang="en-IN" sz="1000" dirty="0">
                          <a:effectLst/>
                          <a:latin typeface="+mn-lt"/>
                          <a:ea typeface="Times New Roman" panose="02020603050405020304" pitchFamily="18" charset="0"/>
                          <a:cs typeface="Calibri" panose="020F0502020204030204" pitchFamily="34" charset="0"/>
                        </a:rPr>
                        <a:t> Deputy Company Secretary/Manager/Executive Engineer/Head of Legal Affairs 83,000/-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 -6 </a:t>
                      </a:r>
                      <a:r>
                        <a:rPr lang="en-IN" sz="1000" dirty="0">
                          <a:effectLst/>
                          <a:latin typeface="+mn-lt"/>
                          <a:ea typeface="Times New Roman" panose="02020603050405020304" pitchFamily="18" charset="0"/>
                          <a:cs typeface="Calibri" panose="020F0502020204030204" pitchFamily="34" charset="0"/>
                        </a:rPr>
                        <a:t>Deputy Manager/Senior Assistant Company Secretary/Sub Divisional Engineer/Deputy Legal Councillor 63,000/-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Grade-7</a:t>
                      </a:r>
                      <a:r>
                        <a:rPr lang="en-IN" sz="1000" dirty="0">
                          <a:effectLst/>
                          <a:latin typeface="+mn-lt"/>
                          <a:ea typeface="Times New Roman" panose="02020603050405020304" pitchFamily="18" charset="0"/>
                          <a:cs typeface="Calibri" panose="020F0502020204030204" pitchFamily="34" charset="0"/>
                        </a:rPr>
                        <a:t> Assistant manager/ Assistant Engineer/Assistant Company Secretary/Headmaster/Assistant Legal Councillor (Grade -1) 55,000/-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Grade-8</a:t>
                      </a:r>
                      <a:r>
                        <a:rPr lang="en-IN" sz="1000" dirty="0">
                          <a:effectLst/>
                          <a:latin typeface="+mn-lt"/>
                          <a:ea typeface="Times New Roman" panose="02020603050405020304" pitchFamily="18" charset="0"/>
                          <a:cs typeface="Calibri" panose="020F0502020204030204" pitchFamily="34" charset="0"/>
                        </a:rPr>
                        <a:t> Assistant manager/ Assistant Engineer/Assistant Company Secretary/Headmaster/Assistant Legal Councillor (Grade -2) 50,000/-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Grade-9</a:t>
                      </a:r>
                      <a:r>
                        <a:rPr lang="en-IN" sz="1000" dirty="0">
                          <a:effectLst/>
                          <a:latin typeface="+mn-lt"/>
                          <a:ea typeface="Times New Roman" panose="02020603050405020304" pitchFamily="18" charset="0"/>
                          <a:cs typeface="Calibri" panose="020F0502020204030204" pitchFamily="34" charset="0"/>
                        </a:rPr>
                        <a:t> Junior Assistant Manager/ Sub Assistant Engineer/Assistant Headmaster(Grade-1) 41,000/-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Grade-10</a:t>
                      </a:r>
                      <a:r>
                        <a:rPr lang="en-IN" sz="1000" dirty="0">
                          <a:effectLst/>
                          <a:latin typeface="+mn-lt"/>
                          <a:ea typeface="Times New Roman" panose="02020603050405020304" pitchFamily="18" charset="0"/>
                          <a:cs typeface="Calibri" panose="020F0502020204030204" pitchFamily="34" charset="0"/>
                        </a:rPr>
                        <a:t> Junior Assistant Manager/ Sub Assistant Engineer/Assistant Headmaster(Grade-2) 35,000</a:t>
                      </a:r>
                      <a:r>
                        <a:rPr lang="en-IN" sz="1000" dirty="0" smtClean="0">
                          <a:effectLst/>
                          <a:latin typeface="+mn-lt"/>
                          <a:ea typeface="Times New Roman" panose="02020603050405020304" pitchFamily="18" charset="0"/>
                          <a:cs typeface="Calibri" panose="020F0502020204030204" pitchFamily="34" charset="0"/>
                        </a:rPr>
                        <a:t>/-</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1487142276"/>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350409549"/>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Basic Pay </a:t>
            </a:r>
            <a:r>
              <a:rPr lang="en-US" sz="2000" b="1" dirty="0" smtClean="0"/>
              <a:t>of </a:t>
            </a:r>
            <a:r>
              <a:rPr lang="en-US" sz="2000" b="1" dirty="0"/>
              <a:t>BPDB and its select subsidiaries namely, EGCB, NWZPDCL and </a:t>
            </a:r>
            <a:r>
              <a:rPr lang="en-US" sz="2000" b="1" dirty="0" smtClean="0"/>
              <a:t>PGCB</a:t>
            </a:r>
            <a:r>
              <a:rPr lang="en-US" sz="2000" b="1" dirty="0"/>
              <a:t> </a:t>
            </a:r>
            <a:r>
              <a:rPr lang="en-US" sz="2000" b="1" dirty="0" smtClean="0"/>
              <a:t>(2/2)</a:t>
            </a:r>
            <a:endParaRPr lang="en-IN" sz="2000" b="1" dirty="0"/>
          </a:p>
        </p:txBody>
      </p:sp>
      <p:graphicFrame>
        <p:nvGraphicFramePr>
          <p:cNvPr id="6" name="Table 5"/>
          <p:cNvGraphicFramePr>
            <a:graphicFrameLocks noGrp="1"/>
          </p:cNvGraphicFramePr>
          <p:nvPr>
            <p:extLst/>
          </p:nvPr>
        </p:nvGraphicFramePr>
        <p:xfrm>
          <a:off x="74428" y="1037067"/>
          <a:ext cx="10494334" cy="6513520"/>
        </p:xfrm>
        <a:graphic>
          <a:graphicData uri="http://schemas.openxmlformats.org/drawingml/2006/table">
            <a:tbl>
              <a:tblPr firstRow="1" firstCol="1" bandRow="1"/>
              <a:tblGrid>
                <a:gridCol w="576014">
                  <a:extLst>
                    <a:ext uri="{9D8B030D-6E8A-4147-A177-3AD203B41FA5}">
                      <a16:colId xmlns="" xmlns:a16="http://schemas.microsoft.com/office/drawing/2014/main" val="50709736"/>
                    </a:ext>
                  </a:extLst>
                </a:gridCol>
                <a:gridCol w="2479580">
                  <a:extLst>
                    <a:ext uri="{9D8B030D-6E8A-4147-A177-3AD203B41FA5}">
                      <a16:colId xmlns="" xmlns:a16="http://schemas.microsoft.com/office/drawing/2014/main" val="3492841565"/>
                    </a:ext>
                  </a:extLst>
                </a:gridCol>
                <a:gridCol w="2479580">
                  <a:extLst>
                    <a:ext uri="{9D8B030D-6E8A-4147-A177-3AD203B41FA5}">
                      <a16:colId xmlns="" xmlns:a16="http://schemas.microsoft.com/office/drawing/2014/main" val="224843044"/>
                    </a:ext>
                  </a:extLst>
                </a:gridCol>
                <a:gridCol w="2479580">
                  <a:extLst>
                    <a:ext uri="{9D8B030D-6E8A-4147-A177-3AD203B41FA5}">
                      <a16:colId xmlns="" xmlns:a16="http://schemas.microsoft.com/office/drawing/2014/main" val="1865218361"/>
                    </a:ext>
                  </a:extLst>
                </a:gridCol>
                <a:gridCol w="2479580">
                  <a:extLst>
                    <a:ext uri="{9D8B030D-6E8A-4147-A177-3AD203B41FA5}">
                      <a16:colId xmlns="" xmlns:a16="http://schemas.microsoft.com/office/drawing/2014/main" val="3640753768"/>
                    </a:ext>
                  </a:extLst>
                </a:gridCol>
              </a:tblGrid>
              <a:tr h="0">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193120">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2098871">
                <a:tc>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Basic Pay</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 2015;</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smtClean="0">
                          <a:effectLst/>
                          <a:latin typeface="+mn-lt"/>
                          <a:ea typeface="Times New Roman" panose="02020603050405020304" pitchFamily="18" charset="0"/>
                          <a:cs typeface="Calibri" panose="020F0502020204030204" pitchFamily="34" charset="0"/>
                        </a:rPr>
                        <a:t>Grade-11</a:t>
                      </a:r>
                      <a:r>
                        <a:rPr lang="en-IN" sz="1000" dirty="0" smtClean="0">
                          <a:effectLst/>
                          <a:latin typeface="+mn-lt"/>
                          <a:ea typeface="Times New Roman" panose="02020603050405020304" pitchFamily="18" charset="0"/>
                          <a:cs typeface="Calibri" panose="020F0502020204030204" pitchFamily="34" charset="0"/>
                        </a:rPr>
                        <a:t>   </a:t>
                      </a:r>
                      <a:r>
                        <a:rPr lang="en-IN" sz="1000" dirty="0">
                          <a:effectLst/>
                          <a:latin typeface="+mn-lt"/>
                          <a:ea typeface="Times New Roman" panose="02020603050405020304" pitchFamily="18" charset="0"/>
                          <a:cs typeface="Calibri" panose="020F0502020204030204" pitchFamily="34" charset="0"/>
                        </a:rPr>
                        <a:t>Publicity Officer/ </a:t>
                      </a:r>
                      <a:r>
                        <a:rPr lang="en-IN" sz="1000" dirty="0" err="1">
                          <a:effectLst/>
                          <a:latin typeface="+mn-lt"/>
                          <a:ea typeface="Times New Roman" panose="02020603050405020304" pitchFamily="18" charset="0"/>
                          <a:cs typeface="Calibri" panose="020F0502020204030204" pitchFamily="34" charset="0"/>
                        </a:rPr>
                        <a:t>Asstt</a:t>
                      </a:r>
                      <a:r>
                        <a:rPr lang="en-IN" sz="1000" dirty="0">
                          <a:effectLst/>
                          <a:latin typeface="+mn-lt"/>
                          <a:ea typeface="Times New Roman" panose="02020603050405020304" pitchFamily="18" charset="0"/>
                          <a:cs typeface="Calibri" panose="020F0502020204030204" pitchFamily="34" charset="0"/>
                        </a:rPr>
                        <a:t>. Security Officer 30,230/-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Grade-12</a:t>
                      </a:r>
                      <a:r>
                        <a:rPr lang="en-IN" sz="1000" dirty="0">
                          <a:effectLst/>
                          <a:latin typeface="+mn-lt"/>
                          <a:ea typeface="Times New Roman" panose="02020603050405020304" pitchFamily="18" charset="0"/>
                          <a:cs typeface="Calibri" panose="020F0502020204030204" pitchFamily="34" charset="0"/>
                        </a:rPr>
                        <a:t>   Senior Staff Nurse/Draftsman-D,C,B/Equivalent 27,300/-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Grade-13</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Assitant</a:t>
                      </a:r>
                      <a:r>
                        <a:rPr lang="en-IN" sz="1000" dirty="0">
                          <a:effectLst/>
                          <a:latin typeface="+mn-lt"/>
                          <a:ea typeface="Times New Roman" panose="02020603050405020304" pitchFamily="18" charset="0"/>
                          <a:cs typeface="Calibri" panose="020F0502020204030204" pitchFamily="34" charset="0"/>
                        </a:rPr>
                        <a:t> Accountant/Personal Assistant/Upper Division Assistant/Senior Accounts Assistant/Head Master(Junior High School)/Assistant Teacher(High School)/Administrative Assistant/Equivalent 26,590/-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Grade-14 </a:t>
                      </a:r>
                      <a:r>
                        <a:rPr lang="en-IN" sz="1000" dirty="0">
                          <a:effectLst/>
                          <a:latin typeface="+mn-lt"/>
                          <a:ea typeface="Times New Roman" panose="02020603050405020304" pitchFamily="18" charset="0"/>
                          <a:cs typeface="Calibri" panose="020F0502020204030204" pitchFamily="34" charset="0"/>
                        </a:rPr>
                        <a:t>  Store Keeper-B/ Attendant(F.W.T.P)-C/ Building Supervisor/Attendant(H.P)-D,C/Equivalent 24,680/- </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Grade-15 </a:t>
                      </a:r>
                      <a:r>
                        <a:rPr lang="en-IN" sz="1000" dirty="0">
                          <a:effectLst/>
                          <a:latin typeface="+mn-lt"/>
                          <a:ea typeface="Times New Roman" panose="02020603050405020304" pitchFamily="18" charset="0"/>
                          <a:cs typeface="Calibri" panose="020F0502020204030204" pitchFamily="34" charset="0"/>
                        </a:rPr>
                        <a:t>  Head Master(Primary)/Laboratory assistant/ Security Assistant/Equivalent 23.490/-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Grade-16</a:t>
                      </a:r>
                      <a:r>
                        <a:rPr lang="en-IN" sz="1000" dirty="0">
                          <a:effectLst/>
                          <a:latin typeface="+mn-lt"/>
                          <a:ea typeface="Times New Roman" panose="02020603050405020304" pitchFamily="18" charset="0"/>
                          <a:cs typeface="Calibri" panose="020F0502020204030204" pitchFamily="34" charset="0"/>
                        </a:rPr>
                        <a:t>    Junior Assistant Accountant/Driver/Junior Staff Nurse/Equivalent 22,490/-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Grade-17</a:t>
                      </a:r>
                      <a:r>
                        <a:rPr lang="en-IN" sz="1000" dirty="0">
                          <a:effectLst/>
                          <a:latin typeface="+mn-lt"/>
                          <a:ea typeface="Times New Roman" panose="02020603050405020304" pitchFamily="18" charset="0"/>
                          <a:cs typeface="Calibri" panose="020F0502020204030204" pitchFamily="34" charset="0"/>
                        </a:rPr>
                        <a:t>   Nurse/Machinist-A/Attendant-A/ Cleaner(Belt)/Equivalent 21.800/-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Grade-18</a:t>
                      </a:r>
                      <a:r>
                        <a:rPr lang="en-IN" sz="1000" dirty="0">
                          <a:effectLst/>
                          <a:latin typeface="+mn-lt"/>
                          <a:ea typeface="Times New Roman" panose="02020603050405020304" pitchFamily="18" charset="0"/>
                          <a:cs typeface="Calibri" panose="020F0502020204030204" pitchFamily="34" charset="0"/>
                        </a:rPr>
                        <a:t>   Kitchen Supervisor/Fire Supervisor/Dresser/Motor Mechanic/Equivalent 21,310/-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Grade-19 </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Pointsman</a:t>
                      </a:r>
                      <a:r>
                        <a:rPr lang="en-IN" sz="1000" dirty="0">
                          <a:effectLst/>
                          <a:latin typeface="+mn-lt"/>
                          <a:ea typeface="Times New Roman" panose="02020603050405020304" pitchFamily="18" charset="0"/>
                          <a:cs typeface="Calibri" panose="020F0502020204030204" pitchFamily="34" charset="0"/>
                        </a:rPr>
                        <a:t>(For Railway Track)/Butler/Helper/Equivalent 20,570/-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Grade-20 </a:t>
                      </a:r>
                      <a:r>
                        <a:rPr lang="en-IN" sz="1000" dirty="0">
                          <a:effectLst/>
                          <a:latin typeface="+mn-lt"/>
                          <a:ea typeface="Times New Roman" panose="02020603050405020304" pitchFamily="18" charset="0"/>
                          <a:cs typeface="Calibri" panose="020F0502020204030204" pitchFamily="34" charset="0"/>
                        </a:rPr>
                        <a:t>  Chainman/MLSS/</a:t>
                      </a:r>
                      <a:r>
                        <a:rPr lang="en-IN" sz="1000" dirty="0" err="1">
                          <a:effectLst/>
                          <a:latin typeface="+mn-lt"/>
                          <a:ea typeface="Times New Roman" panose="02020603050405020304" pitchFamily="18" charset="0"/>
                          <a:cs typeface="Calibri" panose="020F0502020204030204" pitchFamily="34" charset="0"/>
                        </a:rPr>
                        <a:t>Aya</a:t>
                      </a:r>
                      <a:r>
                        <a:rPr lang="en-IN" sz="1000" dirty="0">
                          <a:effectLst/>
                          <a:latin typeface="+mn-lt"/>
                          <a:ea typeface="Times New Roman" panose="02020603050405020304" pitchFamily="18" charset="0"/>
                          <a:cs typeface="Calibri" panose="020F0502020204030204" pitchFamily="34" charset="0"/>
                        </a:rPr>
                        <a:t>/Word Boy/Cook Helper/Equivalent 20,010/-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 :</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smtClean="0">
                          <a:solidFill>
                            <a:srgbClr val="000000"/>
                          </a:solidFill>
                          <a:effectLst/>
                          <a:latin typeface="+mn-lt"/>
                          <a:ea typeface="Times New Roman" panose="02020603050405020304" pitchFamily="18" charset="0"/>
                          <a:cs typeface="Calibri" panose="020F0502020204030204" pitchFamily="34" charset="0"/>
                        </a:rPr>
                        <a:t>Grade-11</a:t>
                      </a:r>
                      <a:r>
                        <a:rPr lang="en-IN" sz="1000" dirty="0" smtClean="0">
                          <a:solidFill>
                            <a:srgbClr val="000000"/>
                          </a:solidFill>
                          <a:effectLst/>
                          <a:latin typeface="+mn-lt"/>
                          <a:ea typeface="Times New Roman" panose="02020603050405020304" pitchFamily="18" charset="0"/>
                          <a:cs typeface="Calibri" panose="020F0502020204030204" pitchFamily="34" charset="0"/>
                        </a:rPr>
                        <a:t>   </a:t>
                      </a:r>
                      <a:r>
                        <a:rPr lang="en-IN" sz="1000" dirty="0">
                          <a:solidFill>
                            <a:srgbClr val="000000"/>
                          </a:solidFill>
                          <a:effectLst/>
                          <a:latin typeface="+mn-lt"/>
                          <a:ea typeface="Times New Roman" panose="02020603050405020304" pitchFamily="18" charset="0"/>
                          <a:cs typeface="Calibri" panose="020F0502020204030204" pitchFamily="34" charset="0"/>
                        </a:rPr>
                        <a:t>Staff (Level-1) 39,000/-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Grade-12</a:t>
                      </a:r>
                      <a:r>
                        <a:rPr lang="en-IN" sz="1000" dirty="0">
                          <a:solidFill>
                            <a:srgbClr val="000000"/>
                          </a:solidFill>
                          <a:effectLst/>
                          <a:latin typeface="+mn-lt"/>
                          <a:ea typeface="Times New Roman" panose="02020603050405020304" pitchFamily="18" charset="0"/>
                          <a:cs typeface="Calibri" panose="020F0502020204030204" pitchFamily="34" charset="0"/>
                        </a:rPr>
                        <a:t>   Staff (Level-2) 28,000/-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Grade-13 </a:t>
                      </a:r>
                      <a:r>
                        <a:rPr lang="en-IN" sz="1000" dirty="0">
                          <a:solidFill>
                            <a:srgbClr val="000000"/>
                          </a:solidFill>
                          <a:effectLst/>
                          <a:latin typeface="+mn-lt"/>
                          <a:ea typeface="Times New Roman" panose="02020603050405020304" pitchFamily="18" charset="0"/>
                          <a:cs typeface="Calibri" panose="020F0502020204030204" pitchFamily="34" charset="0"/>
                        </a:rPr>
                        <a:t>  Staff (Level-3) 26,000/-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Grade-14 </a:t>
                      </a:r>
                      <a:r>
                        <a:rPr lang="en-IN" sz="1000" dirty="0">
                          <a:solidFill>
                            <a:srgbClr val="000000"/>
                          </a:solidFill>
                          <a:effectLst/>
                          <a:latin typeface="+mn-lt"/>
                          <a:ea typeface="Times New Roman" panose="02020603050405020304" pitchFamily="18" charset="0"/>
                          <a:cs typeface="Calibri" panose="020F0502020204030204" pitchFamily="34" charset="0"/>
                        </a:rPr>
                        <a:t>  Staff (Level-4) 23,000/-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Grade-15</a:t>
                      </a:r>
                      <a:r>
                        <a:rPr lang="en-IN" sz="1000" dirty="0">
                          <a:solidFill>
                            <a:srgbClr val="000000"/>
                          </a:solidFill>
                          <a:effectLst/>
                          <a:latin typeface="+mn-lt"/>
                          <a:ea typeface="Times New Roman" panose="02020603050405020304" pitchFamily="18" charset="0"/>
                          <a:cs typeface="Calibri" panose="020F0502020204030204" pitchFamily="34" charset="0"/>
                        </a:rPr>
                        <a:t>   Staff (Level-5) 20,000/-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Grade-16</a:t>
                      </a:r>
                      <a:r>
                        <a:rPr lang="en-IN" sz="1000" dirty="0">
                          <a:solidFill>
                            <a:srgbClr val="000000"/>
                          </a:solidFill>
                          <a:effectLst/>
                          <a:latin typeface="+mn-lt"/>
                          <a:ea typeface="Times New Roman" panose="02020603050405020304" pitchFamily="18" charset="0"/>
                          <a:cs typeface="Calibri" panose="020F0502020204030204" pitchFamily="34" charset="0"/>
                        </a:rPr>
                        <a:t>   Staff (Level-6) 18,000/-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Grade-17 </a:t>
                      </a:r>
                      <a:r>
                        <a:rPr lang="en-IN" sz="1000" dirty="0">
                          <a:solidFill>
                            <a:srgbClr val="000000"/>
                          </a:solidFill>
                          <a:effectLst/>
                          <a:latin typeface="+mn-lt"/>
                          <a:ea typeface="Times New Roman" panose="02020603050405020304" pitchFamily="18" charset="0"/>
                          <a:cs typeface="Calibri" panose="020F0502020204030204" pitchFamily="34" charset="0"/>
                        </a:rPr>
                        <a:t>  Staff (Level-7) 17,000/-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Grade-18</a:t>
                      </a:r>
                      <a:r>
                        <a:rPr lang="en-IN" sz="1000" dirty="0">
                          <a:solidFill>
                            <a:srgbClr val="000000"/>
                          </a:solidFill>
                          <a:effectLst/>
                          <a:latin typeface="+mn-lt"/>
                          <a:ea typeface="Times New Roman" panose="02020603050405020304" pitchFamily="18" charset="0"/>
                          <a:cs typeface="Calibri" panose="020F0502020204030204" pitchFamily="34" charset="0"/>
                        </a:rPr>
                        <a:t>   Staff (Level-8) 15,500/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Grade-19 </a:t>
                      </a:r>
                      <a:r>
                        <a:rPr lang="en-IN" sz="1000" dirty="0">
                          <a:solidFill>
                            <a:srgbClr val="000000"/>
                          </a:solidFill>
                          <a:effectLst/>
                          <a:latin typeface="+mn-lt"/>
                          <a:ea typeface="Times New Roman" panose="02020603050405020304" pitchFamily="18" charset="0"/>
                          <a:cs typeface="Calibri" panose="020F0502020204030204" pitchFamily="34" charset="0"/>
                        </a:rPr>
                        <a:t>  Staff (Level-9) 14,500/-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Grade-20</a:t>
                      </a:r>
                      <a:r>
                        <a:rPr lang="en-IN" sz="1000" dirty="0">
                          <a:solidFill>
                            <a:srgbClr val="000000"/>
                          </a:solidFill>
                          <a:effectLst/>
                          <a:latin typeface="+mn-lt"/>
                          <a:ea typeface="Times New Roman" panose="02020603050405020304" pitchFamily="18" charset="0"/>
                          <a:cs typeface="Calibri" panose="020F0502020204030204" pitchFamily="34" charset="0"/>
                        </a:rPr>
                        <a:t>   Staff (Level-10) 14,000/-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b="1" dirty="0" smtClean="0">
                          <a:effectLst/>
                          <a:latin typeface="+mn-lt"/>
                          <a:ea typeface="Times New Roman" panose="02020603050405020304" pitchFamily="18" charset="0"/>
                          <a:cs typeface="Calibri" panose="020F0502020204030204" pitchFamily="34" charset="0"/>
                        </a:rPr>
                        <a:t>Grade-11 </a:t>
                      </a:r>
                      <a:r>
                        <a:rPr lang="en-IN" sz="1000" dirty="0" smtClean="0">
                          <a:effectLst/>
                          <a:latin typeface="+mn-lt"/>
                          <a:ea typeface="Times New Roman" panose="02020603050405020304" pitchFamily="18" charset="0"/>
                          <a:cs typeface="Calibri" panose="020F0502020204030204" pitchFamily="34" charset="0"/>
                        </a:rPr>
                        <a:t>  </a:t>
                      </a:r>
                      <a:r>
                        <a:rPr lang="en-IN" sz="1000" dirty="0">
                          <a:effectLst/>
                          <a:latin typeface="+mn-lt"/>
                          <a:ea typeface="Times New Roman" panose="02020603050405020304" pitchFamily="18" charset="0"/>
                          <a:cs typeface="Calibri" panose="020F0502020204030204" pitchFamily="34" charset="0"/>
                        </a:rPr>
                        <a:t>Foreman-B/Computer Operator-B/Assistant Accountant/Assistant Teacher(Secondary, Non Trained)/Pharmacist/ Equivalent 25,000/-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Grade-12</a:t>
                      </a:r>
                      <a:r>
                        <a:rPr lang="en-IN" sz="1000" dirty="0">
                          <a:effectLst/>
                          <a:latin typeface="+mn-lt"/>
                          <a:ea typeface="Times New Roman" panose="02020603050405020304" pitchFamily="18" charset="0"/>
                          <a:cs typeface="Calibri" panose="020F0502020204030204" pitchFamily="34" charset="0"/>
                        </a:rPr>
                        <a:t>   Foreman-A/Data Entry Operator-B/Headmaster(Primary)/Assistant Teacher(Secondary)/SBA-B/Equivalent 24,000/-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Grade-13</a:t>
                      </a:r>
                      <a:r>
                        <a:rPr lang="en-IN" sz="1000" dirty="0">
                          <a:effectLst/>
                          <a:latin typeface="+mn-lt"/>
                          <a:ea typeface="Times New Roman" panose="02020603050405020304" pitchFamily="18" charset="0"/>
                          <a:cs typeface="Calibri" panose="020F0502020204030204" pitchFamily="34" charset="0"/>
                        </a:rPr>
                        <a:t>   Lineman-D,C,B/Electrician-D,C,B/Store Kipper-B/Driver(Heavy)/Data Entry Operator-A/Equivalent 23,000/-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Grade-14</a:t>
                      </a:r>
                      <a:r>
                        <a:rPr lang="en-IN" sz="1000" dirty="0">
                          <a:effectLst/>
                          <a:latin typeface="+mn-lt"/>
                          <a:ea typeface="Times New Roman" panose="02020603050405020304" pitchFamily="18" charset="0"/>
                          <a:cs typeface="Calibri" panose="020F0502020204030204" pitchFamily="34" charset="0"/>
                        </a:rPr>
                        <a:t>   Store Keeper-A/Draftsman/Assistant Teacher(Primary)Electrician-A/Lineman-A/Equivalent 18,000/-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Grade-15 </a:t>
                      </a:r>
                      <a:r>
                        <a:rPr lang="en-IN" sz="1000" dirty="0">
                          <a:effectLst/>
                          <a:latin typeface="+mn-lt"/>
                          <a:ea typeface="Times New Roman" panose="02020603050405020304" pitchFamily="18" charset="0"/>
                          <a:cs typeface="Calibri" panose="020F0502020204030204" pitchFamily="34" charset="0"/>
                        </a:rPr>
                        <a:t>  Laboratory Attendant/Equivalent 17,000/-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Grade-16</a:t>
                      </a:r>
                      <a:r>
                        <a:rPr lang="en-IN" sz="1000" dirty="0">
                          <a:effectLst/>
                          <a:latin typeface="+mn-lt"/>
                          <a:ea typeface="Times New Roman" panose="02020603050405020304" pitchFamily="18" charset="0"/>
                          <a:cs typeface="Calibri" panose="020F0502020204030204" pitchFamily="34" charset="0"/>
                        </a:rPr>
                        <a:t>  Store Helper/Line Helper/Pion/Equivalent 15,500/-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Salary Grade, Name of Post, Scale of Pay,2016:</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smtClean="0">
                          <a:effectLst/>
                          <a:latin typeface="+mn-lt"/>
                          <a:ea typeface="Times New Roman" panose="02020603050405020304" pitchFamily="18" charset="0"/>
                          <a:cs typeface="Calibri" panose="020F0502020204030204" pitchFamily="34" charset="0"/>
                        </a:rPr>
                        <a:t>Grade-11 </a:t>
                      </a:r>
                      <a:r>
                        <a:rPr lang="en-IN" sz="1000" dirty="0" smtClean="0">
                          <a:effectLst/>
                          <a:latin typeface="+mn-lt"/>
                          <a:ea typeface="Times New Roman" panose="02020603050405020304" pitchFamily="18" charset="0"/>
                          <a:cs typeface="Calibri" panose="020F0502020204030204" pitchFamily="34" charset="0"/>
                        </a:rPr>
                        <a:t> </a:t>
                      </a:r>
                      <a:r>
                        <a:rPr lang="en-IN" sz="1000" dirty="0">
                          <a:effectLst/>
                          <a:latin typeface="+mn-lt"/>
                          <a:ea typeface="Times New Roman" panose="02020603050405020304" pitchFamily="18" charset="0"/>
                          <a:cs typeface="Calibri" panose="020F0502020204030204" pitchFamily="34" charset="0"/>
                        </a:rPr>
                        <a:t>Personal Secretary/ Assistant Accountant/Office Assistant/Computer Operator/Assistant Teacher(Grade-1) 30,000/-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Grade-12</a:t>
                      </a:r>
                      <a:r>
                        <a:rPr lang="en-IN" sz="1000" dirty="0">
                          <a:effectLst/>
                          <a:latin typeface="+mn-lt"/>
                          <a:ea typeface="Times New Roman" panose="02020603050405020304" pitchFamily="18" charset="0"/>
                          <a:cs typeface="Calibri" panose="020F0502020204030204" pitchFamily="34" charset="0"/>
                        </a:rPr>
                        <a:t>  Personal Secretary/ Assistant Accountant/Office Assistant/Computer Operator/Assistant Teacher(Grade-2) 27,000/-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Grade-13</a:t>
                      </a:r>
                      <a:r>
                        <a:rPr lang="en-IN" sz="1000" dirty="0">
                          <a:effectLst/>
                          <a:latin typeface="+mn-lt"/>
                          <a:ea typeface="Times New Roman" panose="02020603050405020304" pitchFamily="18" charset="0"/>
                          <a:cs typeface="Calibri" panose="020F0502020204030204" pitchFamily="34" charset="0"/>
                        </a:rPr>
                        <a:t> Personal Secretary/ Assistant Accountant/Office Assistant/Computer Operator/Assistant Teacher(Grade-3) 25,000/-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Grade-14</a:t>
                      </a:r>
                      <a:r>
                        <a:rPr lang="en-IN" sz="1000" dirty="0">
                          <a:effectLst/>
                          <a:latin typeface="+mn-lt"/>
                          <a:ea typeface="Times New Roman" panose="02020603050405020304" pitchFamily="18" charset="0"/>
                          <a:cs typeface="Calibri" panose="020F0502020204030204" pitchFamily="34" charset="0"/>
                        </a:rPr>
                        <a:t> Personal Secretary/ Assistant Accountant/Office Assistant/Computer Operator/Assistant Teacher(Grade-4) 23,000/-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Grade-15</a:t>
                      </a:r>
                      <a:r>
                        <a:rPr lang="en-IN" sz="1000" dirty="0">
                          <a:effectLst/>
                          <a:latin typeface="+mn-lt"/>
                          <a:ea typeface="Times New Roman" panose="02020603050405020304" pitchFamily="18" charset="0"/>
                          <a:cs typeface="Calibri" panose="020F0502020204030204" pitchFamily="34" charset="0"/>
                        </a:rPr>
                        <a:t> Lineman/Electrician/Driver/Pump Operator (Grade-1) 20,000/-</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Grade-16</a:t>
                      </a:r>
                      <a:r>
                        <a:rPr lang="en-IN" sz="1000" dirty="0">
                          <a:effectLst/>
                          <a:latin typeface="+mn-lt"/>
                          <a:ea typeface="Times New Roman" panose="02020603050405020304" pitchFamily="18" charset="0"/>
                          <a:cs typeface="Calibri" panose="020F0502020204030204" pitchFamily="34" charset="0"/>
                        </a:rPr>
                        <a:t> Lineman/ Electrician /Driver/Pump Operator (Grade-2) 18,000/-</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Grade-17</a:t>
                      </a:r>
                      <a:r>
                        <a:rPr lang="en-IN" sz="1000" dirty="0">
                          <a:effectLst/>
                          <a:latin typeface="+mn-lt"/>
                          <a:ea typeface="Times New Roman" panose="02020603050405020304" pitchFamily="18" charset="0"/>
                          <a:cs typeface="Calibri" panose="020F0502020204030204" pitchFamily="34" charset="0"/>
                        </a:rPr>
                        <a:t>  Lineman/ Electrician /Driver/Pump Operator (Grade-3) 17,000/-</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Grade-18 </a:t>
                      </a:r>
                      <a:r>
                        <a:rPr lang="en-IN" sz="1000" dirty="0">
                          <a:solidFill>
                            <a:srgbClr val="000000"/>
                          </a:solidFill>
                          <a:effectLst/>
                          <a:latin typeface="+mn-lt"/>
                          <a:ea typeface="Times New Roman" panose="02020603050405020304" pitchFamily="18" charset="0"/>
                          <a:cs typeface="Calibri" panose="020F0502020204030204" pitchFamily="34" charset="0"/>
                        </a:rPr>
                        <a:t>Lineman/</a:t>
                      </a:r>
                      <a:r>
                        <a:rPr lang="en-IN" sz="1000" dirty="0">
                          <a:effectLst/>
                          <a:latin typeface="+mn-lt"/>
                          <a:ea typeface="Times New Roman" panose="02020603050405020304" pitchFamily="18" charset="0"/>
                          <a:cs typeface="Calibri" panose="020F0502020204030204" pitchFamily="34" charset="0"/>
                        </a:rPr>
                        <a:t> Electrician</a:t>
                      </a:r>
                      <a:r>
                        <a:rPr lang="en-IN" sz="1000" dirty="0">
                          <a:solidFill>
                            <a:srgbClr val="000000"/>
                          </a:solidFill>
                          <a:effectLst/>
                          <a:latin typeface="+mn-lt"/>
                          <a:ea typeface="Times New Roman" panose="02020603050405020304" pitchFamily="18" charset="0"/>
                          <a:cs typeface="Calibri" panose="020F0502020204030204" pitchFamily="34" charset="0"/>
                        </a:rPr>
                        <a:t> /Driver/Pump Operator (Grade-4) 15,500/-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Grade-19</a:t>
                      </a:r>
                      <a:r>
                        <a:rPr lang="en-IN" sz="1000" dirty="0">
                          <a:solidFill>
                            <a:srgbClr val="000000"/>
                          </a:solidFill>
                          <a:effectLst/>
                          <a:latin typeface="+mn-lt"/>
                          <a:ea typeface="Times New Roman" panose="02020603050405020304" pitchFamily="18" charset="0"/>
                          <a:cs typeface="Calibri" panose="020F0502020204030204" pitchFamily="34" charset="0"/>
                        </a:rPr>
                        <a:t> Technician Attendant/Cook/Messenger/Security Guard/Office Attendant(Grade-1)  14,500/-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Grade-20</a:t>
                      </a:r>
                      <a:r>
                        <a:rPr lang="en-IN" sz="1000" dirty="0">
                          <a:solidFill>
                            <a:srgbClr val="000000"/>
                          </a:solidFill>
                          <a:effectLst/>
                          <a:latin typeface="+mn-lt"/>
                          <a:ea typeface="Times New Roman" panose="02020603050405020304" pitchFamily="18" charset="0"/>
                          <a:cs typeface="Calibri" panose="020F0502020204030204" pitchFamily="34" charset="0"/>
                        </a:rPr>
                        <a:t> Office Attendant (Grade-2) and Sweeper  14,000/-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1487142276"/>
                  </a:ext>
                </a:extLst>
              </a:tr>
            </a:tbl>
          </a:graphicData>
        </a:graphic>
      </p:graphicFrame>
      <p:sp>
        <p:nvSpPr>
          <p:cNvPr id="5" name="Pentagon 4">
            <a:hlinkClick r:id="rId2" action="ppaction://hlinksldjump"/>
          </p:cNvPr>
          <p:cNvSpPr/>
          <p:nvPr/>
        </p:nvSpPr>
        <p:spPr bwMode="gray">
          <a:xfrm flipH="1">
            <a:off x="7281500" y="7316436"/>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47816560"/>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a:t>
            </a:r>
            <a:r>
              <a:rPr lang="en-US" sz="2000" b="1" dirty="0" smtClean="0"/>
              <a:t>perquisites and benefits of </a:t>
            </a:r>
            <a:r>
              <a:rPr lang="en-US" sz="2000" b="1" dirty="0"/>
              <a:t>BPDB and its select subsidiaries namely, EGCB, NWZPDCL and </a:t>
            </a:r>
            <a:r>
              <a:rPr lang="en-US" sz="2000" b="1" dirty="0" smtClean="0"/>
              <a:t>PGCB</a:t>
            </a:r>
            <a:r>
              <a:rPr lang="en-US" sz="2000" b="1" dirty="0"/>
              <a:t> </a:t>
            </a:r>
            <a:r>
              <a:rPr lang="en-US" sz="2000" b="1" dirty="0" smtClean="0"/>
              <a:t>(1/4)</a:t>
            </a:r>
            <a:endParaRPr lang="en-IN" sz="2000" b="1" dirty="0"/>
          </a:p>
        </p:txBody>
      </p:sp>
      <p:graphicFrame>
        <p:nvGraphicFramePr>
          <p:cNvPr id="6" name="Table 5"/>
          <p:cNvGraphicFramePr>
            <a:graphicFrameLocks noGrp="1"/>
          </p:cNvGraphicFramePr>
          <p:nvPr>
            <p:extLst/>
          </p:nvPr>
        </p:nvGraphicFramePr>
        <p:xfrm>
          <a:off x="116958" y="1037066"/>
          <a:ext cx="10462438" cy="5979947"/>
        </p:xfrm>
        <a:graphic>
          <a:graphicData uri="http://schemas.openxmlformats.org/drawingml/2006/table">
            <a:tbl>
              <a:tblPr firstRow="1" firstCol="1" bandRow="1"/>
              <a:tblGrid>
                <a:gridCol w="574264">
                  <a:extLst>
                    <a:ext uri="{9D8B030D-6E8A-4147-A177-3AD203B41FA5}">
                      <a16:colId xmlns="" xmlns:a16="http://schemas.microsoft.com/office/drawing/2014/main" val="50709736"/>
                    </a:ext>
                  </a:extLst>
                </a:gridCol>
                <a:gridCol w="3651738">
                  <a:extLst>
                    <a:ext uri="{9D8B030D-6E8A-4147-A177-3AD203B41FA5}">
                      <a16:colId xmlns="" xmlns:a16="http://schemas.microsoft.com/office/drawing/2014/main" val="3492841565"/>
                    </a:ext>
                  </a:extLst>
                </a:gridCol>
                <a:gridCol w="2078812">
                  <a:extLst>
                    <a:ext uri="{9D8B030D-6E8A-4147-A177-3AD203B41FA5}">
                      <a16:colId xmlns="" xmlns:a16="http://schemas.microsoft.com/office/drawing/2014/main" val="224843044"/>
                    </a:ext>
                  </a:extLst>
                </a:gridCol>
                <a:gridCol w="2078812">
                  <a:extLst>
                    <a:ext uri="{9D8B030D-6E8A-4147-A177-3AD203B41FA5}">
                      <a16:colId xmlns="" xmlns:a16="http://schemas.microsoft.com/office/drawing/2014/main" val="1865218361"/>
                    </a:ext>
                  </a:extLst>
                </a:gridCol>
                <a:gridCol w="2078812">
                  <a:extLst>
                    <a:ext uri="{9D8B030D-6E8A-4147-A177-3AD203B41FA5}">
                      <a16:colId xmlns="" xmlns:a16="http://schemas.microsoft.com/office/drawing/2014/main" val="3640753768"/>
                    </a:ext>
                  </a:extLst>
                </a:gridCol>
              </a:tblGrid>
              <a:tr h="134608">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341147">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EGCB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1884507">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Perquisite and other benefits</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rowSpan="2">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House Rent Allowance:</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Up to Basic Salary Tk. 9770 : </a:t>
                      </a:r>
                      <a:br>
                        <a:rPr lang="en-IN" sz="1000" b="1"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      </a:t>
                      </a:r>
                      <a:r>
                        <a:rPr lang="en-IN" sz="1000" dirty="0">
                          <a:solidFill>
                            <a:srgbClr val="000000"/>
                          </a:solidFill>
                          <a:effectLst/>
                          <a:latin typeface="+mn-lt"/>
                          <a:ea typeface="Times New Roman" panose="02020603050405020304" pitchFamily="18" charset="0"/>
                          <a:cs typeface="Calibri" panose="020F0502020204030204" pitchFamily="34" charset="0"/>
                        </a:rPr>
                        <a:t># For Dhaka City Corporation ( 65%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Chittagong, Khulna, </a:t>
                      </a:r>
                      <a:r>
                        <a:rPr lang="en-IN" sz="1000" dirty="0" err="1">
                          <a:solidFill>
                            <a:srgbClr val="000000"/>
                          </a:solidFill>
                          <a:effectLst/>
                          <a:latin typeface="+mn-lt"/>
                          <a:ea typeface="Times New Roman" panose="02020603050405020304" pitchFamily="18" charset="0"/>
                          <a:cs typeface="Calibri" panose="020F0502020204030204" pitchFamily="34" charset="0"/>
                        </a:rPr>
                        <a:t>Rajshahi</a:t>
                      </a:r>
                      <a:r>
                        <a:rPr lang="en-IN" sz="1000" dirty="0">
                          <a:solidFill>
                            <a:srgbClr val="000000"/>
                          </a:solidFill>
                          <a:effectLst/>
                          <a:latin typeface="+mn-lt"/>
                          <a:ea typeface="Times New Roman" panose="02020603050405020304" pitchFamily="18" charset="0"/>
                          <a:cs typeface="Calibri" panose="020F0502020204030204" pitchFamily="34" charset="0"/>
                        </a:rPr>
                        <a:t>, Sylhet, </a:t>
                      </a:r>
                      <a:r>
                        <a:rPr lang="en-IN" sz="1000" dirty="0" err="1">
                          <a:solidFill>
                            <a:srgbClr val="000000"/>
                          </a:solidFill>
                          <a:effectLst/>
                          <a:latin typeface="+mn-lt"/>
                          <a:ea typeface="Times New Roman" panose="02020603050405020304" pitchFamily="18" charset="0"/>
                          <a:cs typeface="Calibri" panose="020F0502020204030204" pitchFamily="34" charset="0"/>
                        </a:rPr>
                        <a:t>Barishal</a:t>
                      </a:r>
                      <a:r>
                        <a:rPr lang="en-IN" sz="1000" dirty="0">
                          <a:solidFill>
                            <a:srgbClr val="000000"/>
                          </a:solidFill>
                          <a:effectLst/>
                          <a:latin typeface="+mn-lt"/>
                          <a:ea typeface="Times New Roman" panose="02020603050405020304" pitchFamily="18" charset="0"/>
                          <a:cs typeface="Calibri" panose="020F0502020204030204" pitchFamily="34" charset="0"/>
                        </a:rPr>
                        <a:t>, Rangpur, </a:t>
                      </a:r>
                      <a:r>
                        <a:rPr lang="en-IN" sz="1000" dirty="0" err="1">
                          <a:solidFill>
                            <a:srgbClr val="000000"/>
                          </a:solidFill>
                          <a:effectLst/>
                          <a:latin typeface="+mn-lt"/>
                          <a:ea typeface="Times New Roman" panose="02020603050405020304" pitchFamily="18" charset="0"/>
                          <a:cs typeface="Calibri" panose="020F0502020204030204" pitchFamily="34" charset="0"/>
                        </a:rPr>
                        <a:t>Mymansing</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Narayanganj</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Gajipur</a:t>
                      </a:r>
                      <a:r>
                        <a:rPr lang="en-IN" sz="1000" dirty="0">
                          <a:solidFill>
                            <a:srgbClr val="000000"/>
                          </a:solidFill>
                          <a:effectLst/>
                          <a:latin typeface="+mn-lt"/>
                          <a:ea typeface="Times New Roman" panose="02020603050405020304" pitchFamily="18" charset="0"/>
                          <a:cs typeface="Calibri" panose="020F0502020204030204" pitchFamily="34" charset="0"/>
                        </a:rPr>
                        <a:t> City Corporation &amp; </a:t>
                      </a:r>
                      <a:r>
                        <a:rPr lang="en-IN" sz="1000" dirty="0" err="1">
                          <a:solidFill>
                            <a:srgbClr val="000000"/>
                          </a:solidFill>
                          <a:effectLst/>
                          <a:latin typeface="+mn-lt"/>
                          <a:ea typeface="Times New Roman" panose="02020603050405020304" pitchFamily="18" charset="0"/>
                          <a:cs typeface="Calibri" panose="020F0502020204030204" pitchFamily="34" charset="0"/>
                        </a:rPr>
                        <a:t>Savar</a:t>
                      </a:r>
                      <a:r>
                        <a:rPr lang="en-IN" sz="1000" dirty="0">
                          <a:solidFill>
                            <a:srgbClr val="000000"/>
                          </a:solidFill>
                          <a:effectLst/>
                          <a:latin typeface="+mn-lt"/>
                          <a:ea typeface="Times New Roman" panose="02020603050405020304" pitchFamily="18" charset="0"/>
                          <a:cs typeface="Calibri" panose="020F0502020204030204" pitchFamily="34" charset="0"/>
                        </a:rPr>
                        <a:t> Municipality area ( 55%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Other Places ( 50%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Up to Basic Salary Tk. 9771 to Tk. 16000 : </a:t>
                      </a:r>
                      <a:r>
                        <a:rPr lang="en-IN" sz="1000" dirty="0">
                          <a:solidFill>
                            <a:srgbClr val="FF0000"/>
                          </a:solidFill>
                          <a:effectLst/>
                          <a:latin typeface="+mn-lt"/>
                          <a:ea typeface="Times New Roman" panose="02020603050405020304" pitchFamily="18" charset="0"/>
                          <a:cs typeface="Calibri" panose="020F0502020204030204" pitchFamily="34" charset="0"/>
                        </a:rPr>
                        <a:t/>
                      </a:r>
                      <a:br>
                        <a:rPr lang="en-IN" sz="1000" dirty="0">
                          <a:solidFill>
                            <a:srgbClr val="FF0000"/>
                          </a:solidFill>
                          <a:effectLst/>
                          <a:latin typeface="+mn-lt"/>
                          <a:ea typeface="Times New Roman" panose="02020603050405020304" pitchFamily="18" charset="0"/>
                          <a:cs typeface="Calibri" panose="020F0502020204030204" pitchFamily="34" charset="0"/>
                        </a:rPr>
                      </a:br>
                      <a:r>
                        <a:rPr lang="en-IN" sz="1000" dirty="0">
                          <a:solidFill>
                            <a:srgbClr val="FF0000"/>
                          </a:solidFill>
                          <a:effectLst/>
                          <a:latin typeface="+mn-lt"/>
                          <a:ea typeface="Times New Roman" panose="02020603050405020304" pitchFamily="18" charset="0"/>
                          <a:cs typeface="Calibri" panose="020F0502020204030204" pitchFamily="34" charset="0"/>
                        </a:rPr>
                        <a:t>    </a:t>
                      </a:r>
                      <a:r>
                        <a:rPr lang="en-IN" sz="1000" dirty="0">
                          <a:effectLst/>
                          <a:latin typeface="+mn-lt"/>
                          <a:ea typeface="Times New Roman" panose="02020603050405020304" pitchFamily="18" charset="0"/>
                          <a:cs typeface="Calibri" panose="020F0502020204030204" pitchFamily="34" charset="0"/>
                        </a:rPr>
                        <a:t>     # For Dhaka City Corporation ( 60%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Chittagong, Khulna, </a:t>
                      </a:r>
                      <a:r>
                        <a:rPr lang="en-IN" sz="1000" dirty="0" err="1">
                          <a:effectLst/>
                          <a:latin typeface="+mn-lt"/>
                          <a:ea typeface="Times New Roman" panose="02020603050405020304" pitchFamily="18" charset="0"/>
                          <a:cs typeface="Calibri" panose="020F0502020204030204" pitchFamily="34" charset="0"/>
                        </a:rPr>
                        <a:t>Rajshahi</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Shylet</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Barishal</a:t>
                      </a:r>
                      <a:r>
                        <a:rPr lang="en-IN" sz="1000" dirty="0">
                          <a:effectLst/>
                          <a:latin typeface="+mn-lt"/>
                          <a:ea typeface="Times New Roman" panose="02020603050405020304" pitchFamily="18" charset="0"/>
                          <a:cs typeface="Calibri" panose="020F0502020204030204" pitchFamily="34" charset="0"/>
                        </a:rPr>
                        <a:t>, Rangpur, </a:t>
                      </a:r>
                      <a:r>
                        <a:rPr lang="en-IN" sz="1000" dirty="0" err="1">
                          <a:effectLst/>
                          <a:latin typeface="+mn-lt"/>
                          <a:ea typeface="Times New Roman" panose="02020603050405020304" pitchFamily="18" charset="0"/>
                          <a:cs typeface="Calibri" panose="020F0502020204030204" pitchFamily="34" charset="0"/>
                        </a:rPr>
                        <a:t>Mymansing</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Narayanganj</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Gajipur</a:t>
                      </a:r>
                      <a:r>
                        <a:rPr lang="en-IN" sz="1000" dirty="0">
                          <a:effectLst/>
                          <a:latin typeface="+mn-lt"/>
                          <a:ea typeface="Times New Roman" panose="02020603050405020304" pitchFamily="18" charset="0"/>
                          <a:cs typeface="Calibri" panose="020F0502020204030204" pitchFamily="34" charset="0"/>
                        </a:rPr>
                        <a:t> City Corporation &amp; </a:t>
                      </a:r>
                      <a:r>
                        <a:rPr lang="en-IN" sz="1000" dirty="0" err="1">
                          <a:effectLst/>
                          <a:latin typeface="+mn-lt"/>
                          <a:ea typeface="Times New Roman" panose="02020603050405020304" pitchFamily="18" charset="0"/>
                          <a:cs typeface="Calibri" panose="020F0502020204030204" pitchFamily="34" charset="0"/>
                        </a:rPr>
                        <a:t>Savar</a:t>
                      </a:r>
                      <a:r>
                        <a:rPr lang="en-IN" sz="1000" dirty="0">
                          <a:effectLst/>
                          <a:latin typeface="+mn-lt"/>
                          <a:ea typeface="Times New Roman" panose="02020603050405020304" pitchFamily="18" charset="0"/>
                          <a:cs typeface="Calibri" panose="020F0502020204030204" pitchFamily="34" charset="0"/>
                        </a:rPr>
                        <a:t> Municipality area ( 50%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Other Places ( 45% of Basic salary)</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Up to Basic Salary Tk. 16001 to Tk. 35500 : </a:t>
                      </a:r>
                      <a:r>
                        <a:rPr lang="en-IN" sz="1000" dirty="0">
                          <a:effectLst/>
                          <a:latin typeface="+mn-lt"/>
                          <a:ea typeface="Times New Roman" panose="02020603050405020304" pitchFamily="18" charset="0"/>
                          <a:cs typeface="Calibri" panose="020F0502020204030204" pitchFamily="34" charset="0"/>
                        </a:rPr>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For Dhaka City Corporation ( 55%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Chittagong, Khulna, </a:t>
                      </a:r>
                      <a:r>
                        <a:rPr lang="en-IN" sz="1000" dirty="0" err="1">
                          <a:effectLst/>
                          <a:latin typeface="+mn-lt"/>
                          <a:ea typeface="Times New Roman" panose="02020603050405020304" pitchFamily="18" charset="0"/>
                          <a:cs typeface="Calibri" panose="020F0502020204030204" pitchFamily="34" charset="0"/>
                        </a:rPr>
                        <a:t>Rajshahi</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Shylet</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Barishal</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Rangpur,Mymansing,Narayanganj</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Gajipur</a:t>
                      </a:r>
                      <a:r>
                        <a:rPr lang="en-IN" sz="1000" dirty="0">
                          <a:effectLst/>
                          <a:latin typeface="+mn-lt"/>
                          <a:ea typeface="Times New Roman" panose="02020603050405020304" pitchFamily="18" charset="0"/>
                          <a:cs typeface="Calibri" panose="020F0502020204030204" pitchFamily="34" charset="0"/>
                        </a:rPr>
                        <a:t> City Corporation &amp; </a:t>
                      </a:r>
                      <a:r>
                        <a:rPr lang="en-IN" sz="1000" dirty="0" err="1">
                          <a:effectLst/>
                          <a:latin typeface="+mn-lt"/>
                          <a:ea typeface="Times New Roman" panose="02020603050405020304" pitchFamily="18" charset="0"/>
                          <a:cs typeface="Calibri" panose="020F0502020204030204" pitchFamily="34" charset="0"/>
                        </a:rPr>
                        <a:t>Savar</a:t>
                      </a:r>
                      <a:r>
                        <a:rPr lang="en-IN" sz="1000" dirty="0">
                          <a:effectLst/>
                          <a:latin typeface="+mn-lt"/>
                          <a:ea typeface="Times New Roman" panose="02020603050405020304" pitchFamily="18" charset="0"/>
                          <a:cs typeface="Calibri" panose="020F0502020204030204" pitchFamily="34" charset="0"/>
                        </a:rPr>
                        <a:t> Municipality area ( 45%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Other Places ( 40% of Basic salary)</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a:r>
                      <a:br>
                        <a:rPr lang="en-IN" sz="1000" dirty="0">
                          <a:effectLst/>
                          <a:latin typeface="+mn-lt"/>
                          <a:ea typeface="Times New Roman" panose="02020603050405020304" pitchFamily="18" charset="0"/>
                          <a:cs typeface="Calibri" panose="020F0502020204030204" pitchFamily="34" charset="0"/>
                        </a:rPr>
                      </a:br>
                      <a:r>
                        <a:rPr lang="en-IN" sz="1000" b="1" dirty="0">
                          <a:effectLst/>
                          <a:latin typeface="+mn-lt"/>
                          <a:ea typeface="Times New Roman" panose="02020603050405020304" pitchFamily="18" charset="0"/>
                          <a:cs typeface="Calibri" panose="020F0502020204030204" pitchFamily="34" charset="0"/>
                        </a:rPr>
                        <a:t>Basic Salary Tk. 35501 and above :</a:t>
                      </a:r>
                      <a:r>
                        <a:rPr lang="en-IN" sz="1000" dirty="0">
                          <a:effectLst/>
                          <a:latin typeface="+mn-lt"/>
                          <a:ea typeface="Times New Roman" panose="02020603050405020304" pitchFamily="18" charset="0"/>
                          <a:cs typeface="Calibri" panose="020F0502020204030204" pitchFamily="34" charset="0"/>
                        </a:rPr>
                        <a:t>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For Dhaka City Corporation ( 50%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Chittagong, Khulna, </a:t>
                      </a:r>
                      <a:r>
                        <a:rPr lang="en-IN" sz="1000" dirty="0" err="1">
                          <a:effectLst/>
                          <a:latin typeface="+mn-lt"/>
                          <a:ea typeface="Times New Roman" panose="02020603050405020304" pitchFamily="18" charset="0"/>
                          <a:cs typeface="Calibri" panose="020F0502020204030204" pitchFamily="34" charset="0"/>
                        </a:rPr>
                        <a:t>Rajshahi</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Shylet</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Barishal</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Rangpur,Mymansing,Narayanganj</a:t>
                      </a:r>
                      <a:r>
                        <a:rPr lang="en-IN" sz="1000" dirty="0">
                          <a:effectLst/>
                          <a:latin typeface="+mn-lt"/>
                          <a:ea typeface="Times New Roman" panose="02020603050405020304" pitchFamily="18" charset="0"/>
                          <a:cs typeface="Calibri" panose="020F0502020204030204" pitchFamily="34" charset="0"/>
                        </a:rPr>
                        <a:t>, </a:t>
                      </a:r>
                      <a:r>
                        <a:rPr lang="en-IN" sz="1000" dirty="0" err="1">
                          <a:effectLst/>
                          <a:latin typeface="+mn-lt"/>
                          <a:ea typeface="Times New Roman" panose="02020603050405020304" pitchFamily="18" charset="0"/>
                          <a:cs typeface="Calibri" panose="020F0502020204030204" pitchFamily="34" charset="0"/>
                        </a:rPr>
                        <a:t>Gajipur</a:t>
                      </a:r>
                      <a:r>
                        <a:rPr lang="en-IN" sz="1000" dirty="0">
                          <a:effectLst/>
                          <a:latin typeface="+mn-lt"/>
                          <a:ea typeface="Times New Roman" panose="02020603050405020304" pitchFamily="18" charset="0"/>
                          <a:cs typeface="Calibri" panose="020F0502020204030204" pitchFamily="34" charset="0"/>
                        </a:rPr>
                        <a:t> City Corporation &amp; </a:t>
                      </a:r>
                      <a:r>
                        <a:rPr lang="en-IN" sz="1000" dirty="0" err="1">
                          <a:effectLst/>
                          <a:latin typeface="+mn-lt"/>
                          <a:ea typeface="Times New Roman" panose="02020603050405020304" pitchFamily="18" charset="0"/>
                          <a:cs typeface="Calibri" panose="020F0502020204030204" pitchFamily="34" charset="0"/>
                        </a:rPr>
                        <a:t>Savar</a:t>
                      </a:r>
                      <a:r>
                        <a:rPr lang="en-IN" sz="1000" dirty="0">
                          <a:effectLst/>
                          <a:latin typeface="+mn-lt"/>
                          <a:ea typeface="Times New Roman" panose="02020603050405020304" pitchFamily="18" charset="0"/>
                          <a:cs typeface="Calibri" panose="020F0502020204030204" pitchFamily="34" charset="0"/>
                        </a:rPr>
                        <a:t> Municipality area ( 40% of Basic salary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          # Other Places( 35% of Basic salary)</a:t>
                      </a:r>
                      <a:endParaRPr lang="en-IN" sz="1000" dirty="0">
                        <a:effectLst/>
                        <a:latin typeface="+mn-lt"/>
                        <a:ea typeface="Times" panose="02020603050405020304" pitchFamily="18" charset="0"/>
                        <a:cs typeface="Arial" panose="020B0604020202020204" pitchFamily="34" charset="0"/>
                      </a:endParaRPr>
                    </a:p>
                  </a:txBody>
                  <a:tcPr marL="36000" marR="360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House Rent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 :</a:t>
                      </a:r>
                      <a:r>
                        <a:rPr lang="en-IN" sz="1000" dirty="0">
                          <a:solidFill>
                            <a:srgbClr val="000000"/>
                          </a:solidFill>
                          <a:effectLst/>
                          <a:latin typeface="+mn-lt"/>
                          <a:ea typeface="Times New Roman" panose="02020603050405020304" pitchFamily="18" charset="0"/>
                          <a:cs typeface="Calibri" panose="020F0502020204030204" pitchFamily="34" charset="0"/>
                        </a:rPr>
                        <a:t> # For Area Dhaka Metropolitan ( 50%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Chittagong, Khulna, </a:t>
                      </a:r>
                      <a:r>
                        <a:rPr lang="en-IN" sz="1000" dirty="0" err="1">
                          <a:solidFill>
                            <a:srgbClr val="000000"/>
                          </a:solidFill>
                          <a:effectLst/>
                          <a:latin typeface="+mn-lt"/>
                          <a:ea typeface="Times New Roman" panose="02020603050405020304" pitchFamily="18" charset="0"/>
                          <a:cs typeface="Calibri" panose="020F0502020204030204" pitchFamily="34" charset="0"/>
                        </a:rPr>
                        <a:t>Rajshahi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Shylet</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Barishal</a:t>
                      </a:r>
                      <a:r>
                        <a:rPr lang="en-IN" sz="1000" dirty="0">
                          <a:solidFill>
                            <a:srgbClr val="000000"/>
                          </a:solidFill>
                          <a:effectLst/>
                          <a:latin typeface="+mn-lt"/>
                          <a:ea typeface="Times New Roman" panose="02020603050405020304" pitchFamily="18" charset="0"/>
                          <a:cs typeface="Calibri" panose="020F0502020204030204" pitchFamily="34" charset="0"/>
                        </a:rPr>
                        <a:t>, Rangpur, </a:t>
                      </a:r>
                      <a:r>
                        <a:rPr lang="en-IN" sz="1000" dirty="0" err="1">
                          <a:solidFill>
                            <a:srgbClr val="000000"/>
                          </a:solidFill>
                          <a:effectLst/>
                          <a:latin typeface="+mn-lt"/>
                          <a:ea typeface="Times New Roman" panose="02020603050405020304" pitchFamily="18" charset="0"/>
                          <a:cs typeface="Calibri" panose="020F0502020204030204" pitchFamily="34" charset="0"/>
                        </a:rPr>
                        <a:t>Mymansing</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Narayanganj</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Gajipur</a:t>
                      </a:r>
                      <a:r>
                        <a:rPr lang="en-IN" sz="1000" dirty="0">
                          <a:solidFill>
                            <a:srgbClr val="000000"/>
                          </a:solidFill>
                          <a:effectLst/>
                          <a:latin typeface="+mn-lt"/>
                          <a:ea typeface="Times New Roman" panose="02020603050405020304" pitchFamily="18" charset="0"/>
                          <a:cs typeface="Calibri" panose="020F0502020204030204" pitchFamily="34" charset="0"/>
                        </a:rPr>
                        <a:t> City Corporation &amp; </a:t>
                      </a:r>
                      <a:r>
                        <a:rPr lang="en-IN" sz="1000" dirty="0" err="1">
                          <a:solidFill>
                            <a:srgbClr val="000000"/>
                          </a:solidFill>
                          <a:effectLst/>
                          <a:latin typeface="+mn-lt"/>
                          <a:ea typeface="Times New Roman" panose="02020603050405020304" pitchFamily="18" charset="0"/>
                          <a:cs typeface="Calibri" panose="020F0502020204030204" pitchFamily="34" charset="0"/>
                        </a:rPr>
                        <a:t>Savar</a:t>
                      </a:r>
                      <a:r>
                        <a:rPr lang="en-IN" sz="1000" dirty="0">
                          <a:solidFill>
                            <a:srgbClr val="000000"/>
                          </a:solidFill>
                          <a:effectLst/>
                          <a:latin typeface="+mn-lt"/>
                          <a:ea typeface="Times New Roman" panose="02020603050405020304" pitchFamily="18" charset="0"/>
                          <a:cs typeface="Calibri" panose="020F0502020204030204" pitchFamily="34" charset="0"/>
                        </a:rPr>
                        <a:t> Municipality area ( 40%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Other Places ( 30%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20:</a:t>
                      </a:r>
                      <a:r>
                        <a:rPr lang="en-IN" sz="1000" dirty="0">
                          <a:solidFill>
                            <a:srgbClr val="000000"/>
                          </a:solidFill>
                          <a:effectLst/>
                          <a:latin typeface="+mn-lt"/>
                          <a:ea typeface="Times New Roman" panose="02020603050405020304" pitchFamily="18" charset="0"/>
                          <a:cs typeface="Calibri" panose="020F0502020204030204" pitchFamily="34" charset="0"/>
                        </a:rPr>
                        <a:t> # For Area Dhaka Metropolitan  ( 60%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Chittagong, Khulna, </a:t>
                      </a:r>
                      <a:r>
                        <a:rPr lang="en-IN" sz="1000" dirty="0" err="1">
                          <a:solidFill>
                            <a:srgbClr val="000000"/>
                          </a:solidFill>
                          <a:effectLst/>
                          <a:latin typeface="+mn-lt"/>
                          <a:ea typeface="Times New Roman" panose="02020603050405020304" pitchFamily="18" charset="0"/>
                          <a:cs typeface="Calibri" panose="020F0502020204030204" pitchFamily="34" charset="0"/>
                        </a:rPr>
                        <a:t>Rajshahi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Shylet</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Barishal</a:t>
                      </a:r>
                      <a:r>
                        <a:rPr lang="en-IN" sz="1000" dirty="0">
                          <a:solidFill>
                            <a:srgbClr val="000000"/>
                          </a:solidFill>
                          <a:effectLst/>
                          <a:latin typeface="+mn-lt"/>
                          <a:ea typeface="Times New Roman" panose="02020603050405020304" pitchFamily="18" charset="0"/>
                          <a:cs typeface="Calibri" panose="020F0502020204030204" pitchFamily="34" charset="0"/>
                        </a:rPr>
                        <a:t>, Rangpur, </a:t>
                      </a:r>
                      <a:r>
                        <a:rPr lang="en-IN" sz="1000" dirty="0" err="1">
                          <a:solidFill>
                            <a:srgbClr val="000000"/>
                          </a:solidFill>
                          <a:effectLst/>
                          <a:latin typeface="+mn-lt"/>
                          <a:ea typeface="Times New Roman" panose="02020603050405020304" pitchFamily="18" charset="0"/>
                          <a:cs typeface="Calibri" panose="020F0502020204030204" pitchFamily="34" charset="0"/>
                        </a:rPr>
                        <a:t>Mymansing</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Narayanganj</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Gajipur</a:t>
                      </a:r>
                      <a:r>
                        <a:rPr lang="en-IN" sz="1000" dirty="0">
                          <a:solidFill>
                            <a:srgbClr val="000000"/>
                          </a:solidFill>
                          <a:effectLst/>
                          <a:latin typeface="+mn-lt"/>
                          <a:ea typeface="Times New Roman" panose="02020603050405020304" pitchFamily="18" charset="0"/>
                          <a:cs typeface="Calibri" panose="020F0502020204030204" pitchFamily="34" charset="0"/>
                        </a:rPr>
                        <a:t> City Corporation &amp; </a:t>
                      </a:r>
                      <a:r>
                        <a:rPr lang="en-IN" sz="1000" dirty="0" err="1">
                          <a:solidFill>
                            <a:srgbClr val="000000"/>
                          </a:solidFill>
                          <a:effectLst/>
                          <a:latin typeface="+mn-lt"/>
                          <a:ea typeface="Times New Roman" panose="02020603050405020304" pitchFamily="18" charset="0"/>
                          <a:cs typeface="Calibri" panose="020F0502020204030204" pitchFamily="34" charset="0"/>
                        </a:rPr>
                        <a:t>Savar</a:t>
                      </a:r>
                      <a:r>
                        <a:rPr lang="en-IN" sz="1000" dirty="0">
                          <a:solidFill>
                            <a:srgbClr val="000000"/>
                          </a:solidFill>
                          <a:effectLst/>
                          <a:latin typeface="+mn-lt"/>
                          <a:ea typeface="Times New Roman" panose="02020603050405020304" pitchFamily="18" charset="0"/>
                          <a:cs typeface="Calibri" panose="020F0502020204030204" pitchFamily="34" charset="0"/>
                        </a:rPr>
                        <a:t> Municipality area ( 50% of Basic salary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 Other Places (50% of Basic salary)</a:t>
                      </a:r>
                      <a:endParaRPr lang="en-IN" sz="1000" dirty="0">
                        <a:effectLst/>
                        <a:latin typeface="+mn-lt"/>
                        <a:ea typeface="Times" panose="02020603050405020304" pitchFamily="18" charset="0"/>
                        <a:cs typeface="Arial" panose="020B0604020202020204" pitchFamily="34" charset="0"/>
                      </a:endParaRPr>
                    </a:p>
                  </a:txBody>
                  <a:tcPr marL="36000" marR="360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a:noFill/>
                    </a:lnB>
                  </a:tcPr>
                </a:tc>
                <a:tc rowSpan="2">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House rent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 :</a:t>
                      </a:r>
                      <a:r>
                        <a:rPr lang="en-IN" sz="1000" dirty="0">
                          <a:solidFill>
                            <a:srgbClr val="000000"/>
                          </a:solidFill>
                          <a:effectLst/>
                          <a:latin typeface="+mn-lt"/>
                          <a:ea typeface="Times New Roman" panose="02020603050405020304" pitchFamily="18" charset="0"/>
                          <a:cs typeface="Calibri" panose="020F0502020204030204" pitchFamily="34" charset="0"/>
                        </a:rPr>
                        <a:t> Officers/ Employees ( 50%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20:</a:t>
                      </a:r>
                      <a:r>
                        <a:rPr lang="en-IN" sz="1000" dirty="0">
                          <a:solidFill>
                            <a:srgbClr val="000000"/>
                          </a:solidFill>
                          <a:effectLst/>
                          <a:latin typeface="+mn-lt"/>
                          <a:ea typeface="Times New Roman" panose="02020603050405020304" pitchFamily="18" charset="0"/>
                          <a:cs typeface="Calibri" panose="020F0502020204030204" pitchFamily="34" charset="0"/>
                        </a:rPr>
                        <a:t> Officers/ Employees (60%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e.g.   a) House rent only acceptable for Dhaka Metropolitan Area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b) All Officer/ Employees posted to office in Chittagong, Khulna, </a:t>
                      </a:r>
                      <a:r>
                        <a:rPr lang="en-IN" sz="1000" dirty="0" err="1">
                          <a:solidFill>
                            <a:srgbClr val="000000"/>
                          </a:solidFill>
                          <a:effectLst/>
                          <a:latin typeface="+mn-lt"/>
                          <a:ea typeface="Times New Roman" panose="02020603050405020304" pitchFamily="18" charset="0"/>
                          <a:cs typeface="Calibri" panose="020F0502020204030204" pitchFamily="34" charset="0"/>
                        </a:rPr>
                        <a:t>Rajshahi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Shylet</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Barishal</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Rongpur</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Mymensing</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Narayanganj</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Gajipur</a:t>
                      </a:r>
                      <a:r>
                        <a:rPr lang="en-IN" sz="1000" dirty="0">
                          <a:solidFill>
                            <a:srgbClr val="000000"/>
                          </a:solidFill>
                          <a:effectLst/>
                          <a:latin typeface="+mn-lt"/>
                          <a:ea typeface="Times New Roman" panose="02020603050405020304" pitchFamily="18" charset="0"/>
                          <a:cs typeface="Calibri" panose="020F0502020204030204" pitchFamily="34" charset="0"/>
                        </a:rPr>
                        <a:t> City Corporation &amp; </a:t>
                      </a:r>
                      <a:r>
                        <a:rPr lang="en-IN" sz="1000" dirty="0" err="1">
                          <a:solidFill>
                            <a:srgbClr val="000000"/>
                          </a:solidFill>
                          <a:effectLst/>
                          <a:latin typeface="+mn-lt"/>
                          <a:ea typeface="Times New Roman" panose="02020603050405020304" pitchFamily="18" charset="0"/>
                          <a:cs typeface="Calibri" panose="020F0502020204030204" pitchFamily="34" charset="0"/>
                        </a:rPr>
                        <a:t>Savar</a:t>
                      </a:r>
                      <a:r>
                        <a:rPr lang="en-IN" sz="1000" dirty="0">
                          <a:solidFill>
                            <a:srgbClr val="000000"/>
                          </a:solidFill>
                          <a:effectLst/>
                          <a:latin typeface="+mn-lt"/>
                          <a:ea typeface="Times New Roman" panose="02020603050405020304" pitchFamily="18" charset="0"/>
                          <a:cs typeface="Calibri" panose="020F0502020204030204" pitchFamily="34" charset="0"/>
                        </a:rPr>
                        <a:t> Municipality area get 10% less house rent.</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c) For other area, all Officer/ Employees excluding a &amp; b get 20% less house rent.</a:t>
                      </a:r>
                      <a:endParaRPr lang="en-IN" sz="1000" dirty="0">
                        <a:effectLst/>
                        <a:latin typeface="+mn-lt"/>
                        <a:ea typeface="Times" panose="02020603050405020304" pitchFamily="18" charset="0"/>
                        <a:cs typeface="Arial" panose="020B0604020202020204" pitchFamily="34" charset="0"/>
                      </a:endParaRPr>
                    </a:p>
                  </a:txBody>
                  <a:tcPr marL="36000" marR="360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rowSpan="2">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House rent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 :</a:t>
                      </a:r>
                      <a:r>
                        <a:rPr lang="en-IN" sz="1000" dirty="0">
                          <a:solidFill>
                            <a:srgbClr val="000000"/>
                          </a:solidFill>
                          <a:effectLst/>
                          <a:latin typeface="+mn-lt"/>
                          <a:ea typeface="Times New Roman" panose="02020603050405020304" pitchFamily="18" charset="0"/>
                          <a:cs typeface="Calibri" panose="020F0502020204030204" pitchFamily="34" charset="0"/>
                        </a:rPr>
                        <a:t> Officers/ Employees ( 50%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20:</a:t>
                      </a:r>
                      <a:r>
                        <a:rPr lang="en-IN" sz="1000" dirty="0">
                          <a:solidFill>
                            <a:srgbClr val="000000"/>
                          </a:solidFill>
                          <a:effectLst/>
                          <a:latin typeface="+mn-lt"/>
                          <a:ea typeface="Times New Roman" panose="02020603050405020304" pitchFamily="18" charset="0"/>
                          <a:cs typeface="Calibri" panose="020F0502020204030204" pitchFamily="34" charset="0"/>
                        </a:rPr>
                        <a:t> Officers/ Employees (60% of Basic Salary)</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e.g.   a) House rent only acceptable for Dhaka Metropolitan Area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b) All Officer/ Employees posted to office in Chittagong, Khulna, </a:t>
                      </a:r>
                      <a:r>
                        <a:rPr lang="en-IN" sz="1000" dirty="0" err="1">
                          <a:solidFill>
                            <a:srgbClr val="000000"/>
                          </a:solidFill>
                          <a:effectLst/>
                          <a:latin typeface="+mn-lt"/>
                          <a:ea typeface="Times New Roman" panose="02020603050405020304" pitchFamily="18" charset="0"/>
                          <a:cs typeface="Calibri" panose="020F0502020204030204" pitchFamily="34" charset="0"/>
                        </a:rPr>
                        <a:t>Rajshahi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Shylet</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Barishal</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Rongpur</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Mymensing</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Narayanganj</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Gajipur</a:t>
                      </a:r>
                      <a:r>
                        <a:rPr lang="en-IN" sz="1000" dirty="0">
                          <a:solidFill>
                            <a:srgbClr val="000000"/>
                          </a:solidFill>
                          <a:effectLst/>
                          <a:latin typeface="+mn-lt"/>
                          <a:ea typeface="Times New Roman" panose="02020603050405020304" pitchFamily="18" charset="0"/>
                          <a:cs typeface="Calibri" panose="020F0502020204030204" pitchFamily="34" charset="0"/>
                        </a:rPr>
                        <a:t> City Corporation &amp; </a:t>
                      </a:r>
                      <a:r>
                        <a:rPr lang="en-IN" sz="1000" dirty="0" err="1">
                          <a:solidFill>
                            <a:srgbClr val="000000"/>
                          </a:solidFill>
                          <a:effectLst/>
                          <a:latin typeface="+mn-lt"/>
                          <a:ea typeface="Times New Roman" panose="02020603050405020304" pitchFamily="18" charset="0"/>
                          <a:cs typeface="Calibri" panose="020F0502020204030204" pitchFamily="34" charset="0"/>
                        </a:rPr>
                        <a:t>Savar</a:t>
                      </a:r>
                      <a:r>
                        <a:rPr lang="en-IN" sz="1000" dirty="0">
                          <a:solidFill>
                            <a:srgbClr val="000000"/>
                          </a:solidFill>
                          <a:effectLst/>
                          <a:latin typeface="+mn-lt"/>
                          <a:ea typeface="Times New Roman" panose="02020603050405020304" pitchFamily="18" charset="0"/>
                          <a:cs typeface="Calibri" panose="020F0502020204030204" pitchFamily="34" charset="0"/>
                        </a:rPr>
                        <a:t> Municipality area get 10% less house rent.</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c) For other area, all Officer/ Employees excluding a &amp; b get 20% less house rent.  </a:t>
                      </a:r>
                      <a:endParaRPr lang="en-IN" sz="1000" dirty="0">
                        <a:effectLst/>
                        <a:latin typeface="+mn-lt"/>
                        <a:ea typeface="Times" panose="02020603050405020304" pitchFamily="18" charset="0"/>
                        <a:cs typeface="Arial" panose="020B0604020202020204" pitchFamily="34" charset="0"/>
                      </a:endParaRPr>
                    </a:p>
                  </a:txBody>
                  <a:tcPr marL="36000" marR="360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823174870"/>
                  </a:ext>
                </a:extLst>
              </a:tr>
              <a:tr h="387863">
                <a:tc vMerge="1">
                  <a:txBody>
                    <a:bodyPr/>
                    <a:lstStyle/>
                    <a:p>
                      <a:endParaRPr lang="en-IN"/>
                    </a:p>
                  </a:txBody>
                  <a:tcPr/>
                </a:tc>
                <a:tc vMerge="1">
                  <a:txBody>
                    <a:bodyPr/>
                    <a:lstStyle/>
                    <a:p>
                      <a:endParaRPr lang="en-IN"/>
                    </a:p>
                  </a:txBody>
                  <a:tcPr/>
                </a:tc>
                <a:tc>
                  <a:txBody>
                    <a:bodyPr/>
                    <a:lstStyle/>
                    <a:p>
                      <a:pPr algn="l" fontAlgn="auto">
                        <a:spcAft>
                          <a:spcPts val="0"/>
                        </a:spcAft>
                      </a:pPr>
                      <a:r>
                        <a:rPr lang="en-IN" sz="1000" dirty="0">
                          <a:solidFill>
                            <a:srgbClr val="000000"/>
                          </a:solidFill>
                          <a:effectLst/>
                          <a:latin typeface="+mn-lt"/>
                          <a:ea typeface="Times New Roman" panose="02020603050405020304" pitchFamily="18" charset="0"/>
                          <a:cs typeface="Calibri" panose="020F0502020204030204" pitchFamily="34" charset="0"/>
                        </a:rPr>
                        <a:t> </a:t>
                      </a:r>
                      <a:endParaRPr lang="en-IN" sz="1000"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a:noFill/>
                    </a:lnT>
                    <a:lnB w="12700" cap="flat" cmpd="sng" algn="ctr">
                      <a:solidFill>
                        <a:srgbClr val="4F81BD"/>
                      </a:solidFill>
                      <a:prstDash val="solid"/>
                      <a:round/>
                      <a:headEnd type="none" w="med" len="med"/>
                      <a:tailEnd type="none" w="med" len="med"/>
                    </a:lnB>
                  </a:tcPr>
                </a:tc>
                <a:tc vMerge="1">
                  <a:txBody>
                    <a:bodyPr/>
                    <a:lstStyle/>
                    <a:p>
                      <a:endParaRPr lang="en-IN"/>
                    </a:p>
                  </a:txBody>
                  <a:tcPr/>
                </a:tc>
                <a:tc vMerge="1">
                  <a:txBody>
                    <a:bodyPr/>
                    <a:lstStyle/>
                    <a:p>
                      <a:endParaRPr lang="en-IN"/>
                    </a:p>
                  </a:txBody>
                  <a:tcPr/>
                </a:tc>
                <a:extLst>
                  <a:ext uri="{0D108BD9-81ED-4DB2-BD59-A6C34878D82A}">
                    <a16:rowId xmlns="" xmlns:a16="http://schemas.microsoft.com/office/drawing/2014/main" val="4064141658"/>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862064182"/>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perquisites and benefits </a:t>
            </a:r>
            <a:r>
              <a:rPr lang="en-US" sz="2000" b="1" dirty="0" smtClean="0"/>
              <a:t>of </a:t>
            </a:r>
            <a:r>
              <a:rPr lang="en-US" sz="2000" b="1" dirty="0"/>
              <a:t>BPDB and its select subsidiaries namely, EGCB, NWZPDCL and </a:t>
            </a:r>
            <a:r>
              <a:rPr lang="en-US" sz="2000" b="1" dirty="0" smtClean="0"/>
              <a:t>PGCB</a:t>
            </a:r>
            <a:r>
              <a:rPr lang="en-US" sz="2000" b="1" dirty="0"/>
              <a:t> </a:t>
            </a:r>
            <a:r>
              <a:rPr lang="en-US" sz="2000" b="1" dirty="0" smtClean="0"/>
              <a:t>(2/4)</a:t>
            </a:r>
            <a:endParaRPr lang="en-IN" sz="2000" b="1" dirty="0"/>
          </a:p>
        </p:txBody>
      </p:sp>
      <p:graphicFrame>
        <p:nvGraphicFramePr>
          <p:cNvPr id="6" name="Table 5"/>
          <p:cNvGraphicFramePr>
            <a:graphicFrameLocks noGrp="1"/>
          </p:cNvGraphicFramePr>
          <p:nvPr>
            <p:extLst/>
          </p:nvPr>
        </p:nvGraphicFramePr>
        <p:xfrm>
          <a:off x="106328" y="1037066"/>
          <a:ext cx="10462435" cy="4776515"/>
        </p:xfrm>
        <a:graphic>
          <a:graphicData uri="http://schemas.openxmlformats.org/drawingml/2006/table">
            <a:tbl>
              <a:tblPr firstRow="1" firstCol="1" bandRow="1"/>
              <a:tblGrid>
                <a:gridCol w="574264">
                  <a:extLst>
                    <a:ext uri="{9D8B030D-6E8A-4147-A177-3AD203B41FA5}">
                      <a16:colId xmlns="" xmlns:a16="http://schemas.microsoft.com/office/drawing/2014/main" val="50709736"/>
                    </a:ext>
                  </a:extLst>
                </a:gridCol>
                <a:gridCol w="2837784">
                  <a:extLst>
                    <a:ext uri="{9D8B030D-6E8A-4147-A177-3AD203B41FA5}">
                      <a16:colId xmlns="" xmlns:a16="http://schemas.microsoft.com/office/drawing/2014/main" val="3492841565"/>
                    </a:ext>
                  </a:extLst>
                </a:gridCol>
                <a:gridCol w="2350129">
                  <a:extLst>
                    <a:ext uri="{9D8B030D-6E8A-4147-A177-3AD203B41FA5}">
                      <a16:colId xmlns="" xmlns:a16="http://schemas.microsoft.com/office/drawing/2014/main" val="224843044"/>
                    </a:ext>
                  </a:extLst>
                </a:gridCol>
                <a:gridCol w="2350129">
                  <a:extLst>
                    <a:ext uri="{9D8B030D-6E8A-4147-A177-3AD203B41FA5}">
                      <a16:colId xmlns="" xmlns:a16="http://schemas.microsoft.com/office/drawing/2014/main" val="1865218361"/>
                    </a:ext>
                  </a:extLst>
                </a:gridCol>
                <a:gridCol w="2350129">
                  <a:extLst>
                    <a:ext uri="{9D8B030D-6E8A-4147-A177-3AD203B41FA5}">
                      <a16:colId xmlns="" xmlns:a16="http://schemas.microsoft.com/office/drawing/2014/main" val="3640753768"/>
                    </a:ext>
                  </a:extLst>
                </a:gridCol>
              </a:tblGrid>
              <a:tr h="134608">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341147">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1924968">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Perquisite and other benefits</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Medical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All Employees get Tk. 1500/- per month</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dirty="0">
                          <a:solidFill>
                            <a:srgbClr val="000000"/>
                          </a:solidFill>
                          <a:effectLst/>
                          <a:latin typeface="+mn-lt"/>
                          <a:ea typeface="Times New Roman" panose="02020603050405020304" pitchFamily="18" charset="0"/>
                          <a:cs typeface="Calibri" panose="020F0502020204030204" pitchFamily="34" charset="0"/>
                        </a:rPr>
                        <a:t> </a:t>
                      </a:r>
                      <a:endParaRPr lang="en-IN" sz="1000" dirty="0">
                        <a:effectLst/>
                        <a:latin typeface="+mn-lt"/>
                        <a:ea typeface="Times" panose="02020603050405020304" pitchFamily="18" charset="0"/>
                        <a:cs typeface="Arial" panose="020B0604020202020204" pitchFamily="34" charset="0"/>
                      </a:endParaRPr>
                    </a:p>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Medical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 :</a:t>
                      </a:r>
                      <a:r>
                        <a:rPr lang="en-IN" sz="1000" dirty="0">
                          <a:solidFill>
                            <a:srgbClr val="000000"/>
                          </a:solidFill>
                          <a:effectLst/>
                          <a:latin typeface="+mn-lt"/>
                          <a:ea typeface="Times New Roman" panose="02020603050405020304" pitchFamily="18" charset="0"/>
                          <a:cs typeface="Calibri" panose="020F0502020204030204" pitchFamily="34" charset="0"/>
                        </a:rPr>
                        <a:t> Highest 3 (Three)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8 :</a:t>
                      </a:r>
                      <a:r>
                        <a:rPr lang="en-IN" sz="1000" dirty="0">
                          <a:solidFill>
                            <a:srgbClr val="000000"/>
                          </a:solidFill>
                          <a:effectLst/>
                          <a:latin typeface="+mn-lt"/>
                          <a:ea typeface="Times New Roman" panose="02020603050405020304" pitchFamily="18" charset="0"/>
                          <a:cs typeface="Calibri" panose="020F0502020204030204" pitchFamily="34" charset="0"/>
                        </a:rPr>
                        <a:t> Highest 2 (Two)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9 to 20:</a:t>
                      </a:r>
                      <a:r>
                        <a:rPr lang="en-IN" sz="1000" dirty="0">
                          <a:solidFill>
                            <a:srgbClr val="000000"/>
                          </a:solidFill>
                          <a:effectLst/>
                          <a:latin typeface="+mn-lt"/>
                          <a:ea typeface="Times New Roman" panose="02020603050405020304" pitchFamily="18" charset="0"/>
                          <a:cs typeface="Calibri" panose="020F0502020204030204" pitchFamily="34" charset="0"/>
                        </a:rPr>
                        <a:t>  10% of basic salary or minimum Tk. 2000/-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Medical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a:t>
                      </a:r>
                      <a:r>
                        <a:rPr lang="en-IN" sz="1000" dirty="0">
                          <a:solidFill>
                            <a:srgbClr val="000000"/>
                          </a:solidFill>
                          <a:effectLst/>
                          <a:latin typeface="+mn-lt"/>
                          <a:ea typeface="Times New Roman" panose="02020603050405020304" pitchFamily="18" charset="0"/>
                          <a:cs typeface="Calibri" panose="020F0502020204030204" pitchFamily="34" charset="0"/>
                        </a:rPr>
                        <a:t> Highest 3 (Three)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8 :</a:t>
                      </a:r>
                      <a:r>
                        <a:rPr lang="en-IN" sz="1000" dirty="0">
                          <a:solidFill>
                            <a:srgbClr val="000000"/>
                          </a:solidFill>
                          <a:effectLst/>
                          <a:latin typeface="+mn-lt"/>
                          <a:ea typeface="Times New Roman" panose="02020603050405020304" pitchFamily="18" charset="0"/>
                          <a:cs typeface="Calibri" panose="020F0502020204030204" pitchFamily="34" charset="0"/>
                        </a:rPr>
                        <a:t> Highest 2 (Two)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9 to 20 : </a:t>
                      </a:r>
                      <a:r>
                        <a:rPr lang="en-IN" sz="1000" dirty="0">
                          <a:solidFill>
                            <a:srgbClr val="000000"/>
                          </a:solidFill>
                          <a:effectLst/>
                          <a:latin typeface="+mn-lt"/>
                          <a:ea typeface="Times New Roman" panose="02020603050405020304" pitchFamily="18" charset="0"/>
                          <a:cs typeface="Calibri" panose="020F0502020204030204" pitchFamily="34" charset="0"/>
                        </a:rPr>
                        <a:t>10% of basic salary or the minimum allowance of Tk. 2000/- can be paid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Medical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2: </a:t>
                      </a:r>
                      <a:r>
                        <a:rPr lang="en-IN" sz="1000" dirty="0">
                          <a:solidFill>
                            <a:srgbClr val="000000"/>
                          </a:solidFill>
                          <a:effectLst/>
                          <a:latin typeface="+mn-lt"/>
                          <a:ea typeface="Times New Roman" panose="02020603050405020304" pitchFamily="18" charset="0"/>
                          <a:cs typeface="Calibri" panose="020F0502020204030204" pitchFamily="34" charset="0"/>
                        </a:rPr>
                        <a:t>Highest 3 (Three)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3 to 8 :</a:t>
                      </a:r>
                      <a:r>
                        <a:rPr lang="en-IN" sz="1000" dirty="0">
                          <a:solidFill>
                            <a:srgbClr val="000000"/>
                          </a:solidFill>
                          <a:effectLst/>
                          <a:latin typeface="+mn-lt"/>
                          <a:ea typeface="Times New Roman" panose="02020603050405020304" pitchFamily="18" charset="0"/>
                          <a:cs typeface="Calibri" panose="020F0502020204030204" pitchFamily="34" charset="0"/>
                        </a:rPr>
                        <a:t> Highest 2 (Two) times of basic salary (Subject to the prescription and voucher submission)</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9 to 20 :</a:t>
                      </a:r>
                      <a:r>
                        <a:rPr lang="en-IN" sz="1000" dirty="0">
                          <a:solidFill>
                            <a:srgbClr val="000000"/>
                          </a:solidFill>
                          <a:effectLst/>
                          <a:latin typeface="+mn-lt"/>
                          <a:ea typeface="Times New Roman" panose="02020603050405020304" pitchFamily="18" charset="0"/>
                          <a:cs typeface="Calibri" panose="020F0502020204030204" pitchFamily="34" charset="0"/>
                        </a:rPr>
                        <a:t> 10% of basic salary  or the minimum allowance of Tk. 2000/- can be paid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823174870"/>
                  </a:ext>
                </a:extLst>
              </a:tr>
              <a:tr h="942254">
                <a:tc vMerge="1">
                  <a:txBody>
                    <a:bodyPr/>
                    <a:lstStyle/>
                    <a:p>
                      <a:endParaRPr lang="en-IN"/>
                    </a:p>
                  </a:txBody>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Travelling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1-4: </a:t>
                      </a:r>
                      <a:r>
                        <a:rPr lang="en-IN" sz="1000" dirty="0">
                          <a:solidFill>
                            <a:srgbClr val="000000"/>
                          </a:solidFill>
                          <a:effectLst/>
                          <a:latin typeface="+mn-lt"/>
                          <a:ea typeface="Times New Roman" panose="02020603050405020304" pitchFamily="18" charset="0"/>
                          <a:cs typeface="Calibri" panose="020F0502020204030204" pitchFamily="34" charset="0"/>
                        </a:rPr>
                        <a:t>Full time car facility available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Travelling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1-4:</a:t>
                      </a:r>
                      <a:r>
                        <a:rPr lang="en-IN" sz="1000" dirty="0">
                          <a:solidFill>
                            <a:srgbClr val="000000"/>
                          </a:solidFill>
                          <a:effectLst/>
                          <a:latin typeface="+mn-lt"/>
                          <a:ea typeface="Times New Roman" panose="02020603050405020304" pitchFamily="18" charset="0"/>
                          <a:cs typeface="Calibri" panose="020F0502020204030204" pitchFamily="34" charset="0"/>
                        </a:rPr>
                        <a:t> Full time  car facility available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5 :</a:t>
                      </a:r>
                      <a:r>
                        <a:rPr lang="en-IN" sz="1000" dirty="0">
                          <a:solidFill>
                            <a:srgbClr val="000000"/>
                          </a:solidFill>
                          <a:effectLst/>
                          <a:latin typeface="+mn-lt"/>
                          <a:ea typeface="Times New Roman" panose="02020603050405020304" pitchFamily="18" charset="0"/>
                          <a:cs typeface="Calibri" panose="020F0502020204030204" pitchFamily="34" charset="0"/>
                        </a:rPr>
                        <a:t>Officers get duty car/lifting facility. However, if the facility is not provided, the payment of Tk. 5000/- may be paid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6-7: </a:t>
                      </a:r>
                      <a:r>
                        <a:rPr lang="en-IN" sz="1000" dirty="0">
                          <a:solidFill>
                            <a:srgbClr val="000000"/>
                          </a:solidFill>
                          <a:effectLst/>
                          <a:latin typeface="+mn-lt"/>
                          <a:ea typeface="Times New Roman" panose="02020603050405020304" pitchFamily="18" charset="0"/>
                          <a:cs typeface="Calibri" panose="020F0502020204030204" pitchFamily="34" charset="0"/>
                        </a:rPr>
                        <a:t>Employees Monthly get Tk. 4000/-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8-10:</a:t>
                      </a:r>
                      <a:r>
                        <a:rPr lang="en-IN" sz="1000" dirty="0">
                          <a:solidFill>
                            <a:srgbClr val="000000"/>
                          </a:solidFill>
                          <a:effectLst/>
                          <a:latin typeface="+mn-lt"/>
                          <a:ea typeface="Times New Roman" panose="02020603050405020304" pitchFamily="18" charset="0"/>
                          <a:cs typeface="Calibri" panose="020F0502020204030204" pitchFamily="34" charset="0"/>
                        </a:rPr>
                        <a:t> Employees Monthly get Tk. 3500/-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11-20:</a:t>
                      </a:r>
                      <a:r>
                        <a:rPr lang="en-IN" sz="1000" dirty="0">
                          <a:solidFill>
                            <a:srgbClr val="000000"/>
                          </a:solidFill>
                          <a:effectLst/>
                          <a:latin typeface="+mn-lt"/>
                          <a:ea typeface="Times New Roman" panose="02020603050405020304" pitchFamily="18" charset="0"/>
                          <a:cs typeface="Calibri" panose="020F0502020204030204" pitchFamily="34" charset="0"/>
                        </a:rPr>
                        <a:t> Employees Monthly get Tk. 3000/-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Travelling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4:</a:t>
                      </a:r>
                      <a:r>
                        <a:rPr lang="en-IN" sz="1000" dirty="0">
                          <a:solidFill>
                            <a:srgbClr val="000000"/>
                          </a:solidFill>
                          <a:effectLst/>
                          <a:latin typeface="+mn-lt"/>
                          <a:ea typeface="Times New Roman" panose="02020603050405020304" pitchFamily="18" charset="0"/>
                          <a:cs typeface="Calibri" panose="020F0502020204030204" pitchFamily="34" charset="0"/>
                        </a:rPr>
                        <a:t> Fulltime car facility available</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5:</a:t>
                      </a:r>
                      <a:r>
                        <a:rPr lang="en-IN" sz="1000" dirty="0">
                          <a:solidFill>
                            <a:srgbClr val="000000"/>
                          </a:solidFill>
                          <a:effectLst/>
                          <a:latin typeface="+mn-lt"/>
                          <a:ea typeface="Times New Roman" panose="02020603050405020304" pitchFamily="18" charset="0"/>
                          <a:cs typeface="Calibri" panose="020F0502020204030204" pitchFamily="34" charset="0"/>
                        </a:rPr>
                        <a:t> Officers get duty car/lifting facility. However, if the facility is not provided, the payment of Tk. 5000/- may be paid</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6 to 7:</a:t>
                      </a:r>
                      <a:r>
                        <a:rPr lang="en-IN" sz="1000" dirty="0">
                          <a:solidFill>
                            <a:srgbClr val="000000"/>
                          </a:solidFill>
                          <a:effectLst/>
                          <a:latin typeface="+mn-lt"/>
                          <a:ea typeface="Times New Roman" panose="02020603050405020304" pitchFamily="18" charset="0"/>
                          <a:cs typeface="Calibri" panose="020F0502020204030204" pitchFamily="34" charset="0"/>
                        </a:rPr>
                        <a:t> Officer/Employees Monthly get Tk. 4000/-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8 to 10:</a:t>
                      </a:r>
                      <a:r>
                        <a:rPr lang="en-IN" sz="1000" dirty="0">
                          <a:solidFill>
                            <a:srgbClr val="000000"/>
                          </a:solidFill>
                          <a:effectLst/>
                          <a:latin typeface="+mn-lt"/>
                          <a:ea typeface="Times New Roman" panose="02020603050405020304" pitchFamily="18" charset="0"/>
                          <a:cs typeface="Calibri" panose="020F0502020204030204" pitchFamily="34" charset="0"/>
                        </a:rPr>
                        <a:t> Officer/Employees monthly get  Tk. 3500/-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11 to 20:</a:t>
                      </a:r>
                      <a:r>
                        <a:rPr lang="en-IN" sz="1000" dirty="0">
                          <a:solidFill>
                            <a:srgbClr val="000000"/>
                          </a:solidFill>
                          <a:effectLst/>
                          <a:latin typeface="+mn-lt"/>
                          <a:ea typeface="Times New Roman" panose="02020603050405020304" pitchFamily="18" charset="0"/>
                          <a:cs typeface="Calibri" panose="020F0502020204030204" pitchFamily="34" charset="0"/>
                        </a:rPr>
                        <a:t> Officer/Employees Monthly get Tk. 3000/-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Travelling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 to 4:</a:t>
                      </a:r>
                      <a:r>
                        <a:rPr lang="en-IN" sz="1000" dirty="0">
                          <a:solidFill>
                            <a:srgbClr val="000000"/>
                          </a:solidFill>
                          <a:effectLst/>
                          <a:latin typeface="+mn-lt"/>
                          <a:ea typeface="Times New Roman" panose="02020603050405020304" pitchFamily="18" charset="0"/>
                          <a:cs typeface="Calibri" panose="020F0502020204030204" pitchFamily="34" charset="0"/>
                        </a:rPr>
                        <a:t> Fulltime car facility available</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5: </a:t>
                      </a:r>
                      <a:r>
                        <a:rPr lang="en-IN" sz="1000" dirty="0">
                          <a:solidFill>
                            <a:srgbClr val="000000"/>
                          </a:solidFill>
                          <a:effectLst/>
                          <a:latin typeface="+mn-lt"/>
                          <a:ea typeface="Times New Roman" panose="02020603050405020304" pitchFamily="18" charset="0"/>
                          <a:cs typeface="Calibri" panose="020F0502020204030204" pitchFamily="34" charset="0"/>
                        </a:rPr>
                        <a:t>Officers get duty car/lifting facility. However, if the facility is not provided, the payment of Tk. 5000/- may be paid</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6 to 7:</a:t>
                      </a:r>
                      <a:r>
                        <a:rPr lang="en-IN" sz="1000" dirty="0">
                          <a:solidFill>
                            <a:srgbClr val="000000"/>
                          </a:solidFill>
                          <a:effectLst/>
                          <a:latin typeface="+mn-lt"/>
                          <a:ea typeface="Times New Roman" panose="02020603050405020304" pitchFamily="18" charset="0"/>
                          <a:cs typeface="Calibri" panose="020F0502020204030204" pitchFamily="34" charset="0"/>
                        </a:rPr>
                        <a:t> Officer/Employees Monthly get Tk. 4000/-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8 to 10: </a:t>
                      </a:r>
                      <a:r>
                        <a:rPr lang="en-IN" sz="1000" dirty="0">
                          <a:solidFill>
                            <a:srgbClr val="000000"/>
                          </a:solidFill>
                          <a:effectLst/>
                          <a:latin typeface="+mn-lt"/>
                          <a:ea typeface="Times New Roman" panose="02020603050405020304" pitchFamily="18" charset="0"/>
                          <a:cs typeface="Calibri" panose="020F0502020204030204" pitchFamily="34" charset="0"/>
                        </a:rPr>
                        <a:t>Officer/Employees monthly get  Tk. 3500/-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11 to 20:</a:t>
                      </a:r>
                      <a:r>
                        <a:rPr lang="en-IN" sz="1000" dirty="0">
                          <a:solidFill>
                            <a:srgbClr val="000000"/>
                          </a:solidFill>
                          <a:effectLst/>
                          <a:latin typeface="+mn-lt"/>
                          <a:ea typeface="Times New Roman" panose="02020603050405020304" pitchFamily="18" charset="0"/>
                          <a:cs typeface="Calibri" panose="020F0502020204030204" pitchFamily="34" charset="0"/>
                        </a:rPr>
                        <a:t> Officer/Employees Monthly get Tk. 3000/-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3412428934"/>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594206024"/>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perquisites and benefits </a:t>
            </a:r>
            <a:r>
              <a:rPr lang="en-US" sz="2000" b="1" dirty="0" smtClean="0"/>
              <a:t>of </a:t>
            </a:r>
            <a:r>
              <a:rPr lang="en-US" sz="2000" b="1" dirty="0"/>
              <a:t>BPDB and its select subsidiaries namely, EGCB, NWZPDCL and </a:t>
            </a:r>
            <a:r>
              <a:rPr lang="en-US" sz="2000" b="1" dirty="0" smtClean="0"/>
              <a:t>PGCB</a:t>
            </a:r>
            <a:r>
              <a:rPr lang="en-US" sz="2000" b="1" dirty="0"/>
              <a:t> </a:t>
            </a:r>
            <a:r>
              <a:rPr lang="en-US" sz="2000" b="1" dirty="0" smtClean="0"/>
              <a:t>(3/4)</a:t>
            </a:r>
            <a:endParaRPr lang="en-IN" sz="2000" b="1" dirty="0"/>
          </a:p>
        </p:txBody>
      </p:sp>
      <p:graphicFrame>
        <p:nvGraphicFramePr>
          <p:cNvPr id="6" name="Table 5"/>
          <p:cNvGraphicFramePr>
            <a:graphicFrameLocks noGrp="1"/>
          </p:cNvGraphicFramePr>
          <p:nvPr>
            <p:extLst/>
          </p:nvPr>
        </p:nvGraphicFramePr>
        <p:xfrm>
          <a:off x="116958" y="1037065"/>
          <a:ext cx="10409275" cy="6124423"/>
        </p:xfrm>
        <a:graphic>
          <a:graphicData uri="http://schemas.openxmlformats.org/drawingml/2006/table">
            <a:tbl>
              <a:tblPr firstRow="1" firstCol="1" bandRow="1"/>
              <a:tblGrid>
                <a:gridCol w="571346">
                  <a:extLst>
                    <a:ext uri="{9D8B030D-6E8A-4147-A177-3AD203B41FA5}">
                      <a16:colId xmlns="" xmlns:a16="http://schemas.microsoft.com/office/drawing/2014/main" val="50709736"/>
                    </a:ext>
                  </a:extLst>
                </a:gridCol>
                <a:gridCol w="2823365">
                  <a:extLst>
                    <a:ext uri="{9D8B030D-6E8A-4147-A177-3AD203B41FA5}">
                      <a16:colId xmlns="" xmlns:a16="http://schemas.microsoft.com/office/drawing/2014/main" val="3492841565"/>
                    </a:ext>
                  </a:extLst>
                </a:gridCol>
                <a:gridCol w="2338188">
                  <a:extLst>
                    <a:ext uri="{9D8B030D-6E8A-4147-A177-3AD203B41FA5}">
                      <a16:colId xmlns="" xmlns:a16="http://schemas.microsoft.com/office/drawing/2014/main" val="224843044"/>
                    </a:ext>
                  </a:extLst>
                </a:gridCol>
                <a:gridCol w="2338188">
                  <a:extLst>
                    <a:ext uri="{9D8B030D-6E8A-4147-A177-3AD203B41FA5}">
                      <a16:colId xmlns="" xmlns:a16="http://schemas.microsoft.com/office/drawing/2014/main" val="1865218361"/>
                    </a:ext>
                  </a:extLst>
                </a:gridCol>
                <a:gridCol w="2338188">
                  <a:extLst>
                    <a:ext uri="{9D8B030D-6E8A-4147-A177-3AD203B41FA5}">
                      <a16:colId xmlns="" xmlns:a16="http://schemas.microsoft.com/office/drawing/2014/main" val="3640753768"/>
                    </a:ext>
                  </a:extLst>
                </a:gridCol>
              </a:tblGrid>
              <a:tr h="201696">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511174">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695553">
                <a:tc rowSpan="3">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Perquisite and other benefits</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Education Allowance:</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One child Tk. 1,000/- per month and Tk. 1,500/- per month for two child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Education Allowance:</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One child Tk. 1,000/- per month and Tk. 1,500/- per month for two child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Education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One child Tk. 1,000/- per month and Tk. 1,500/- per month for two child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Education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One child Tk. 1,000/- per month and Tk. 1,500/- per month for two child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823174870"/>
                  </a:ext>
                </a:extLst>
              </a:tr>
              <a:tr h="1008479">
                <a:tc vMerge="1">
                  <a:txBody>
                    <a:bodyPr/>
                    <a:lstStyle/>
                    <a:p>
                      <a:endParaRPr lang="en-IN"/>
                    </a:p>
                  </a:txBody>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Festival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Two festival allowances in a year equivalent to one month basic salary each</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Boishakhi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vata</a:t>
                      </a:r>
                      <a:r>
                        <a:rPr lang="en-IN" sz="1000" dirty="0">
                          <a:solidFill>
                            <a:srgbClr val="000000"/>
                          </a:solidFill>
                          <a:effectLst/>
                          <a:latin typeface="+mn-lt"/>
                          <a:ea typeface="Times New Roman" panose="02020603050405020304" pitchFamily="18" charset="0"/>
                          <a:cs typeface="Calibri" panose="020F0502020204030204" pitchFamily="34" charset="0"/>
                        </a:rPr>
                        <a:t> 20% on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Festival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Two festival allowances in a year equivalent to one month basic salary each</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Boishakhi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vata</a:t>
                      </a:r>
                      <a:r>
                        <a:rPr lang="en-IN" sz="1000" dirty="0">
                          <a:solidFill>
                            <a:srgbClr val="000000"/>
                          </a:solidFill>
                          <a:effectLst/>
                          <a:latin typeface="+mn-lt"/>
                          <a:ea typeface="Times New Roman" panose="02020603050405020304" pitchFamily="18" charset="0"/>
                          <a:cs typeface="Calibri" panose="020F0502020204030204" pitchFamily="34" charset="0"/>
                        </a:rPr>
                        <a:t> 20% on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Festival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Two festival allowances in a year equivalent to one month basic salary each</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Boishakhi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vata</a:t>
                      </a:r>
                      <a:r>
                        <a:rPr lang="en-IN" sz="1000" dirty="0">
                          <a:solidFill>
                            <a:srgbClr val="000000"/>
                          </a:solidFill>
                          <a:effectLst/>
                          <a:latin typeface="+mn-lt"/>
                          <a:ea typeface="Times New Roman" panose="02020603050405020304" pitchFamily="18" charset="0"/>
                          <a:cs typeface="Calibri" panose="020F0502020204030204" pitchFamily="34" charset="0"/>
                        </a:rPr>
                        <a:t> 20% on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Festival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Two festival allowances in a year equivalent to one month basic salary each</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Boishakhi</a:t>
                      </a:r>
                      <a:r>
                        <a:rPr lang="en-IN" sz="1000" dirty="0">
                          <a:solidFill>
                            <a:srgbClr val="000000"/>
                          </a:solidFill>
                          <a:effectLst/>
                          <a:latin typeface="+mn-lt"/>
                          <a:ea typeface="Times New Roman" panose="02020603050405020304" pitchFamily="18" charset="0"/>
                          <a:cs typeface="Calibri" panose="020F0502020204030204" pitchFamily="34" charset="0"/>
                        </a:rPr>
                        <a:t> </a:t>
                      </a:r>
                      <a:r>
                        <a:rPr lang="en-IN" sz="1000" dirty="0" err="1">
                          <a:solidFill>
                            <a:srgbClr val="000000"/>
                          </a:solidFill>
                          <a:effectLst/>
                          <a:latin typeface="+mn-lt"/>
                          <a:ea typeface="Times New Roman" panose="02020603050405020304" pitchFamily="18" charset="0"/>
                          <a:cs typeface="Calibri" panose="020F0502020204030204" pitchFamily="34" charset="0"/>
                        </a:rPr>
                        <a:t>vata</a:t>
                      </a:r>
                      <a:r>
                        <a:rPr lang="en-IN" sz="1000" dirty="0">
                          <a:solidFill>
                            <a:srgbClr val="000000"/>
                          </a:solidFill>
                          <a:effectLst/>
                          <a:latin typeface="+mn-lt"/>
                          <a:ea typeface="Times New Roman" panose="02020603050405020304" pitchFamily="18" charset="0"/>
                          <a:cs typeface="Calibri" panose="020F0502020204030204" pitchFamily="34" charset="0"/>
                        </a:rPr>
                        <a:t> 20% on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3661968251"/>
                  </a:ext>
                </a:extLst>
              </a:tr>
              <a:tr h="2420350">
                <a:tc vMerge="1">
                  <a:txBody>
                    <a:bodyPr/>
                    <a:lstStyle/>
                    <a:p>
                      <a:endParaRPr lang="en-IN"/>
                    </a:p>
                  </a:txBody>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Overtime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Overtime allowance for extra hours of work shall be allowed by the controlling officer at such rates as may be prescribed by the Government to the employees when required to work beyond the normal working hours In operation, maintenance and repairing of power plants, transmission and distribution lines, sub-stations and other allied installations as well as other works connected with them. The total overtime working hours shall not exceed eight hours in a week; this limit may be relaxed in case of emergency with the consent of concerned Member of the Board.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Overtime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Overtime allowance for extra hours of work shall be allowed by the controlling officer at such rates as may be prescribed by the Company Board to the employees when required to work beyond the normal working hours In operation, maintenance and repairing facilities. Overtime work will be performed if the </a:t>
                      </a:r>
                      <a:r>
                        <a:rPr lang="en-IN" sz="1000" dirty="0" err="1">
                          <a:solidFill>
                            <a:srgbClr val="000000"/>
                          </a:solidFill>
                          <a:effectLst/>
                          <a:latin typeface="+mn-lt"/>
                          <a:ea typeface="Times New Roman" panose="02020603050405020304" pitchFamily="18" charset="0"/>
                          <a:cs typeface="Calibri" panose="020F0502020204030204" pitchFamily="34" charset="0"/>
                        </a:rPr>
                        <a:t>the</a:t>
                      </a:r>
                      <a:r>
                        <a:rPr lang="en-IN" sz="1000" dirty="0">
                          <a:solidFill>
                            <a:srgbClr val="000000"/>
                          </a:solidFill>
                          <a:effectLst/>
                          <a:latin typeface="+mn-lt"/>
                          <a:ea typeface="Times New Roman" panose="02020603050405020304" pitchFamily="18" charset="0"/>
                          <a:cs typeface="Calibri" panose="020F0502020204030204" pitchFamily="34" charset="0"/>
                        </a:rPr>
                        <a:t> concerned controlling officer orders to do so. The total overtime working hours shall not exceed eight hours in a week; this limit may be relaxed in case of emergency with the consent of concerned head of function. (General Manager/ Deputy General Manager). No overtime allowance will be allowed, if an employee draws Daily/ Daily Allowance for the same period.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Overtime Allowance:</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Overtime shall be discouraged in principle. It shall be avoided where there is a shift operator. However, where manpower is less than the setup and/ or in the event of emergency, overtime allowance may be allowed if the concerned controlling officer order to do so. The total hours of overtime shall not exceed 14 hours in a week but not exceed in 50 hours in a month. No overtime allowance  shall be allowed, if an employee draws daily allowance for the period.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Overtime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Overtime shall be discouraged in principle. It shall be avoided where there is a shift operator. However, where manpower is less than the setup and/ or in the event of emergency, overtime allowance may be allowed if the concerned controlling officer order to do so. The total hours of overtime shall not exceed 14 hours in a week but not exceed in 50 hours in a month. No overtime allowance  shall be allowed, if an employee draws daily allowance for the period.</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2700961426"/>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238213721"/>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perquisites and benefits </a:t>
            </a:r>
            <a:r>
              <a:rPr lang="en-US" sz="2000" b="1" dirty="0" smtClean="0"/>
              <a:t>of </a:t>
            </a:r>
            <a:r>
              <a:rPr lang="en-US" sz="2000" b="1" dirty="0"/>
              <a:t>BPDB and its select subsidiaries namely, EGCB, NWZPDCL and </a:t>
            </a:r>
            <a:r>
              <a:rPr lang="en-US" sz="2000" b="1" dirty="0" smtClean="0"/>
              <a:t>PGCB</a:t>
            </a:r>
            <a:r>
              <a:rPr lang="en-US" sz="2000" b="1" dirty="0"/>
              <a:t> </a:t>
            </a:r>
            <a:r>
              <a:rPr lang="en-US" sz="2000" b="1" dirty="0" smtClean="0"/>
              <a:t>(4/4)</a:t>
            </a:r>
            <a:endParaRPr lang="en-IN" sz="2000" b="1" dirty="0"/>
          </a:p>
        </p:txBody>
      </p:sp>
      <p:graphicFrame>
        <p:nvGraphicFramePr>
          <p:cNvPr id="6" name="Table 5"/>
          <p:cNvGraphicFramePr>
            <a:graphicFrameLocks noGrp="1"/>
          </p:cNvGraphicFramePr>
          <p:nvPr>
            <p:extLst/>
          </p:nvPr>
        </p:nvGraphicFramePr>
        <p:xfrm>
          <a:off x="116958" y="1037063"/>
          <a:ext cx="10419907" cy="5981803"/>
        </p:xfrm>
        <a:graphic>
          <a:graphicData uri="http://schemas.openxmlformats.org/drawingml/2006/table">
            <a:tbl>
              <a:tblPr firstRow="1" firstCol="1" bandRow="1"/>
              <a:tblGrid>
                <a:gridCol w="571930">
                  <a:extLst>
                    <a:ext uri="{9D8B030D-6E8A-4147-A177-3AD203B41FA5}">
                      <a16:colId xmlns="" xmlns:a16="http://schemas.microsoft.com/office/drawing/2014/main" val="50709736"/>
                    </a:ext>
                  </a:extLst>
                </a:gridCol>
                <a:gridCol w="2826249">
                  <a:extLst>
                    <a:ext uri="{9D8B030D-6E8A-4147-A177-3AD203B41FA5}">
                      <a16:colId xmlns="" xmlns:a16="http://schemas.microsoft.com/office/drawing/2014/main" val="3492841565"/>
                    </a:ext>
                  </a:extLst>
                </a:gridCol>
                <a:gridCol w="2340576">
                  <a:extLst>
                    <a:ext uri="{9D8B030D-6E8A-4147-A177-3AD203B41FA5}">
                      <a16:colId xmlns="" xmlns:a16="http://schemas.microsoft.com/office/drawing/2014/main" val="224843044"/>
                    </a:ext>
                  </a:extLst>
                </a:gridCol>
                <a:gridCol w="2340576">
                  <a:extLst>
                    <a:ext uri="{9D8B030D-6E8A-4147-A177-3AD203B41FA5}">
                      <a16:colId xmlns="" xmlns:a16="http://schemas.microsoft.com/office/drawing/2014/main" val="1865218361"/>
                    </a:ext>
                  </a:extLst>
                </a:gridCol>
                <a:gridCol w="2340576">
                  <a:extLst>
                    <a:ext uri="{9D8B030D-6E8A-4147-A177-3AD203B41FA5}">
                      <a16:colId xmlns="" xmlns:a16="http://schemas.microsoft.com/office/drawing/2014/main" val="3640753768"/>
                    </a:ext>
                  </a:extLst>
                </a:gridCol>
              </a:tblGrid>
              <a:tr h="179023">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453712">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577868">
                <a:tc rowSpan="8">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Perquisite and other benefits</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effectLst/>
                          <a:latin typeface="+mn-lt"/>
                          <a:ea typeface="Times New Roman" panose="02020603050405020304" pitchFamily="18" charset="0"/>
                          <a:cs typeface="Calibri" panose="020F0502020204030204" pitchFamily="34" charset="0"/>
                        </a:rPr>
                        <a:t>Shift Duty Allowance:</a:t>
                      </a:r>
                      <a:r>
                        <a:rPr lang="en-IN" sz="1000" dirty="0">
                          <a:effectLst/>
                          <a:latin typeface="+mn-lt"/>
                          <a:ea typeface="Times New Roman" panose="02020603050405020304" pitchFamily="18" charset="0"/>
                          <a:cs typeface="Calibri" panose="020F0502020204030204" pitchFamily="34" charset="0"/>
                        </a:rPr>
                        <a:t/>
                      </a:r>
                      <a:br>
                        <a:rPr lang="en-IN" sz="1000" dirty="0">
                          <a:effectLst/>
                          <a:latin typeface="+mn-lt"/>
                          <a:ea typeface="Times New Roman" panose="02020603050405020304" pitchFamily="18" charset="0"/>
                          <a:cs typeface="Calibri" panose="020F0502020204030204" pitchFamily="34" charset="0"/>
                        </a:rPr>
                      </a:br>
                      <a:r>
                        <a:rPr lang="en-IN" sz="1000" dirty="0">
                          <a:effectLst/>
                          <a:latin typeface="+mn-lt"/>
                          <a:ea typeface="Times New Roman" panose="02020603050405020304" pitchFamily="18" charset="0"/>
                          <a:cs typeface="Calibri" panose="020F0502020204030204" pitchFamily="34" charset="0"/>
                        </a:rPr>
                        <a:t>10% of basic salary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Shift Duty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15% of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Shift Duty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15% of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Shift Duty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15% of basic salary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823174870"/>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Wash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b="1">
                          <a:solidFill>
                            <a:srgbClr val="000000"/>
                          </a:solidFill>
                          <a:effectLst/>
                          <a:latin typeface="+mn-lt"/>
                          <a:ea typeface="Times New Roman" panose="02020603050405020304" pitchFamily="18" charset="0"/>
                          <a:cs typeface="Calibri" panose="020F0502020204030204" pitchFamily="34" charset="0"/>
                        </a:rPr>
                        <a:t>Grade 11-20:</a:t>
                      </a:r>
                      <a:r>
                        <a:rPr lang="en-IN" sz="1000">
                          <a:solidFill>
                            <a:srgbClr val="000000"/>
                          </a:solidFill>
                          <a:effectLst/>
                          <a:latin typeface="+mn-lt"/>
                          <a:ea typeface="Times New Roman" panose="02020603050405020304" pitchFamily="18" charset="0"/>
                          <a:cs typeface="Calibri" panose="020F0502020204030204" pitchFamily="34" charset="0"/>
                        </a:rPr>
                        <a:t> Tk. 100/- per month</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Wash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b="1">
                          <a:solidFill>
                            <a:srgbClr val="000000"/>
                          </a:solidFill>
                          <a:effectLst/>
                          <a:latin typeface="+mn-lt"/>
                          <a:ea typeface="Times New Roman" panose="02020603050405020304" pitchFamily="18" charset="0"/>
                          <a:cs typeface="Calibri" panose="020F0502020204030204" pitchFamily="34" charset="0"/>
                        </a:rPr>
                        <a:t>Grade 11-20:</a:t>
                      </a:r>
                      <a:r>
                        <a:rPr lang="en-IN" sz="1000">
                          <a:solidFill>
                            <a:srgbClr val="000000"/>
                          </a:solidFill>
                          <a:effectLst/>
                          <a:latin typeface="+mn-lt"/>
                          <a:ea typeface="Times New Roman" panose="02020603050405020304" pitchFamily="18" charset="0"/>
                          <a:cs typeface="Calibri" panose="020F0502020204030204" pitchFamily="34" charset="0"/>
                        </a:rPr>
                        <a:t> Tk. 200/- per month</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Wash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b="1">
                          <a:solidFill>
                            <a:srgbClr val="000000"/>
                          </a:solidFill>
                          <a:effectLst/>
                          <a:latin typeface="+mn-lt"/>
                          <a:ea typeface="Times New Roman" panose="02020603050405020304" pitchFamily="18" charset="0"/>
                          <a:cs typeface="Calibri" panose="020F0502020204030204" pitchFamily="34" charset="0"/>
                        </a:rPr>
                        <a:t>Grade 11-20:</a:t>
                      </a:r>
                      <a:r>
                        <a:rPr lang="en-IN" sz="1000">
                          <a:solidFill>
                            <a:srgbClr val="000000"/>
                          </a:solidFill>
                          <a:effectLst/>
                          <a:latin typeface="+mn-lt"/>
                          <a:ea typeface="Times New Roman" panose="02020603050405020304" pitchFamily="18" charset="0"/>
                          <a:cs typeface="Calibri" panose="020F0502020204030204" pitchFamily="34" charset="0"/>
                        </a:rPr>
                        <a:t> Tk. 200/- per month</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Wash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b="1" dirty="0">
                          <a:solidFill>
                            <a:srgbClr val="000000"/>
                          </a:solidFill>
                          <a:effectLst/>
                          <a:latin typeface="+mn-lt"/>
                          <a:ea typeface="Times New Roman" panose="02020603050405020304" pitchFamily="18" charset="0"/>
                          <a:cs typeface="Calibri" panose="020F0502020204030204" pitchFamily="34" charset="0"/>
                        </a:rPr>
                        <a:t>Grade 11 to 20:</a:t>
                      </a:r>
                      <a:r>
                        <a:rPr lang="en-IN" sz="1000" dirty="0">
                          <a:solidFill>
                            <a:srgbClr val="000000"/>
                          </a:solidFill>
                          <a:effectLst/>
                          <a:latin typeface="+mn-lt"/>
                          <a:ea typeface="Times New Roman" panose="02020603050405020304" pitchFamily="18" charset="0"/>
                          <a:cs typeface="Calibri" panose="020F0502020204030204" pitchFamily="34" charset="0"/>
                        </a:rPr>
                        <a:t> Tk. 200/- per month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3044428864"/>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Electricity Bonus:</a:t>
                      </a:r>
                      <a:br>
                        <a:rPr lang="en-IN" sz="1000" b="1" u="sng">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All employees get 400 units of electricity as cash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Electricity Bonus:</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All employees get 400 units of electricity as cash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Electricity Bonus:</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All employees get 400 units of electricity as cash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Electricity Bonus:</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All employees get 400 units of electricity as cash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1558817202"/>
                  </a:ext>
                </a:extLst>
              </a:tr>
              <a:tr h="537068">
                <a:tc vMerge="1">
                  <a:txBody>
                    <a:bodyPr/>
                    <a:lstStyle/>
                    <a:p>
                      <a:endParaRPr lang="en-IN"/>
                    </a:p>
                  </a:txBody>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Incentive Bonus:</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Maximum one month basic salary based on performance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Incentive Bonus:</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As per recommendation of KPI Committee and in consultation with the Ministry employee gets incentive bonus.</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Incentive Bonus:</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As per recommendation of KPI Committee and in consultation with the Ministry employee gets incentive bonus.</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Incentive Bonus:</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As per recommendation of KPI Committee and in consultation with the Ministry employee gets incentive bonus.</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3454161818"/>
                  </a:ext>
                </a:extLst>
              </a:tr>
              <a:tr h="716091">
                <a:tc vMerge="1">
                  <a:txBody>
                    <a:bodyPr/>
                    <a:lstStyle/>
                    <a:p>
                      <a:endParaRPr lang="en-IN"/>
                    </a:p>
                  </a:txBody>
                  <a:tcPr/>
                </a:tc>
                <a:tc>
                  <a:txBody>
                    <a:bodyPr/>
                    <a:lstStyle/>
                    <a:p>
                      <a:pPr algn="l" fontAlgn="auto">
                        <a:spcAft>
                          <a:spcPts val="0"/>
                        </a:spcAft>
                      </a:pPr>
                      <a:r>
                        <a:rPr lang="en-IN" sz="1000" b="1" u="sng">
                          <a:effectLst/>
                          <a:latin typeface="+mn-lt"/>
                          <a:ea typeface="Times New Roman" panose="02020603050405020304" pitchFamily="18" charset="0"/>
                          <a:cs typeface="Calibri" panose="020F0502020204030204" pitchFamily="34" charset="0"/>
                        </a:rPr>
                        <a:t>Entertainment Allowance:</a:t>
                      </a:r>
                      <a:r>
                        <a:rPr lang="en-IN" sz="1000">
                          <a:effectLst/>
                          <a:latin typeface="+mn-lt"/>
                          <a:ea typeface="Times New Roman" panose="02020603050405020304" pitchFamily="18" charset="0"/>
                          <a:cs typeface="Calibri" panose="020F0502020204030204" pitchFamily="34" charset="0"/>
                        </a:rPr>
                        <a:t/>
                      </a:r>
                      <a:br>
                        <a:rPr lang="en-IN" sz="1000">
                          <a:effectLst/>
                          <a:latin typeface="+mn-lt"/>
                          <a:ea typeface="Times New Roman" panose="02020603050405020304" pitchFamily="18" charset="0"/>
                          <a:cs typeface="Calibri" panose="020F0502020204030204" pitchFamily="34" charset="0"/>
                        </a:rPr>
                      </a:br>
                      <a:r>
                        <a:rPr lang="en-IN" sz="1000">
                          <a:effectLst/>
                          <a:latin typeface="+mn-lt"/>
                          <a:ea typeface="Times New Roman" panose="02020603050405020304" pitchFamily="18" charset="0"/>
                          <a:cs typeface="Calibri" panose="020F0502020204030204" pitchFamily="34" charset="0"/>
                        </a:rPr>
                        <a:t>Chief Engineer and above Tk. 125 per month</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Entertainment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Managing Director can be paid monthly Tk. 7000/-</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Executive Director can be paid monthly Tk. 5000/</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Chief Engineer or equivalent can be paid monthly Tk. 3000/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Entertainment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Managing Director can be paid monthly Tk. 7000/-</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Executive Director can be paid monthly Tk. 5000/</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 The Chief Engineer or equivalent can be paid monthly Tk. 3000/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Entertainment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The Managing Director can be paid monthly Tk. 7000/-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The Executive Director can be paid monthly Tk. 5000/</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 The Chief Engineer or equivalent can be paid monthly Tk. 3000/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1549162503"/>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Additional Charge Allowance: </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10% of basic salary and highest Tk. 1500/- per month</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Additional Charge Allowance: </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20% of basic salary and highest Tk. 5,000/-</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Additional Charge Allowance: </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20% of basic salary and highest Tk. 5,000/-</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Additional Charge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20% of basic salary and highest Tk. 5,000/-</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3498872272"/>
                  </a:ext>
                </a:extLst>
              </a:tr>
              <a:tr h="537068">
                <a:tc vMerge="1">
                  <a:txBody>
                    <a:bodyPr/>
                    <a:lstStyle/>
                    <a:p>
                      <a:endParaRPr lang="en-IN"/>
                    </a:p>
                  </a:txBody>
                  <a:tcPr/>
                </a:tc>
                <a:tc>
                  <a:txBody>
                    <a:bodyPr/>
                    <a:lstStyle/>
                    <a:p>
                      <a:pPr algn="l" fontAlgn="auto">
                        <a:spcAft>
                          <a:spcPts val="0"/>
                        </a:spcAft>
                      </a:pPr>
                      <a:r>
                        <a:rPr lang="en-IN" sz="1000" b="1" u="sng">
                          <a:effectLst/>
                          <a:latin typeface="+mn-lt"/>
                          <a:ea typeface="Times New Roman" panose="02020603050405020304" pitchFamily="18" charset="0"/>
                          <a:cs typeface="Calibri" panose="020F0502020204030204" pitchFamily="34" charset="0"/>
                        </a:rPr>
                        <a:t>Hill Allowance:</a:t>
                      </a:r>
                      <a:br>
                        <a:rPr lang="en-IN" sz="1000" b="1" u="sng">
                          <a:effectLst/>
                          <a:latin typeface="+mn-lt"/>
                          <a:ea typeface="Times New Roman" panose="02020603050405020304" pitchFamily="18" charset="0"/>
                          <a:cs typeface="Calibri" panose="020F0502020204030204" pitchFamily="34" charset="0"/>
                        </a:rPr>
                      </a:br>
                      <a:r>
                        <a:rPr lang="en-IN" sz="1000">
                          <a:effectLst/>
                          <a:latin typeface="+mn-lt"/>
                          <a:ea typeface="Times New Roman" panose="02020603050405020304" pitchFamily="18" charset="0"/>
                          <a:cs typeface="Calibri" panose="020F0502020204030204" pitchFamily="34" charset="0"/>
                        </a:rPr>
                        <a:t>All Employees get 20% of basic salary (maximum Tk. 3,000)  for district level and 20% of basic salary (maximum Tk. 5,000) for upazila level.</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Hill Allowance:</a:t>
                      </a:r>
                      <a:br>
                        <a:rPr lang="en-IN" sz="1000" b="1" u="sng">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No hill allowance</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Hill Allowance:</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No hill allowance</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Hill Allowance:</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No hill allowance</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4188469650"/>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Power Plant Allowance:</a:t>
                      </a:r>
                      <a:r>
                        <a:rPr lang="en-IN" sz="1000">
                          <a:solidFill>
                            <a:srgbClr val="000000"/>
                          </a:solidFill>
                          <a:effectLst/>
                          <a:latin typeface="+mn-lt"/>
                          <a:ea typeface="Times New Roman" panose="02020603050405020304" pitchFamily="18" charset="0"/>
                          <a:cs typeface="Calibri" panose="020F0502020204030204" pitchFamily="34" charset="0"/>
                        </a:rPr>
                        <a:t> 30% of basic (maximum Tk. 6,000)</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Power Plant Allowance: </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25% of basic salary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Power Plant Allowance: </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25% of basic salary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Power Plant Allowance: </a:t>
                      </a:r>
                      <a:r>
                        <a:rPr lang="en-IN" sz="1000" dirty="0">
                          <a:solidFill>
                            <a:srgbClr val="000000"/>
                          </a:solidFill>
                          <a:effectLst/>
                          <a:latin typeface="+mn-lt"/>
                          <a:ea typeface="Times New Roman" panose="02020603050405020304" pitchFamily="18" charset="0"/>
                          <a:cs typeface="Calibri" panose="020F0502020204030204" pitchFamily="34" charset="0"/>
                        </a:rPr>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25% of basic salary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2091385360"/>
                  </a:ext>
                </a:extLst>
              </a:tr>
            </a:tbl>
          </a:graphicData>
        </a:graphic>
      </p:graphicFrame>
      <p:sp>
        <p:nvSpPr>
          <p:cNvPr id="5" name="Pentagon 4">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1762852216"/>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Comparison of </a:t>
            </a:r>
            <a:r>
              <a:rPr lang="en-US" sz="2000" b="1" dirty="0" smtClean="0"/>
              <a:t>Terminal Benefits and Income Tax Liabilities of </a:t>
            </a:r>
            <a:r>
              <a:rPr lang="en-US" sz="2000" b="1" dirty="0"/>
              <a:t>BPDB and its select subsidiaries namely, EGCB, NWZPDCL and </a:t>
            </a:r>
            <a:r>
              <a:rPr lang="en-US" sz="2000" b="1" dirty="0" smtClean="0"/>
              <a:t>PGCB</a:t>
            </a:r>
            <a:endParaRPr lang="en-IN" sz="2000" b="1" dirty="0"/>
          </a:p>
        </p:txBody>
      </p:sp>
      <p:graphicFrame>
        <p:nvGraphicFramePr>
          <p:cNvPr id="6" name="Table 5"/>
          <p:cNvGraphicFramePr>
            <a:graphicFrameLocks noGrp="1"/>
          </p:cNvGraphicFramePr>
          <p:nvPr>
            <p:extLst/>
          </p:nvPr>
        </p:nvGraphicFramePr>
        <p:xfrm>
          <a:off x="116958" y="1037063"/>
          <a:ext cx="10451805" cy="3206735"/>
        </p:xfrm>
        <a:graphic>
          <a:graphicData uri="http://schemas.openxmlformats.org/drawingml/2006/table">
            <a:tbl>
              <a:tblPr firstRow="1" firstCol="1" bandRow="1"/>
              <a:tblGrid>
                <a:gridCol w="573681">
                  <a:extLst>
                    <a:ext uri="{9D8B030D-6E8A-4147-A177-3AD203B41FA5}">
                      <a16:colId xmlns="" xmlns:a16="http://schemas.microsoft.com/office/drawing/2014/main" val="50709736"/>
                    </a:ext>
                  </a:extLst>
                </a:gridCol>
                <a:gridCol w="2834901">
                  <a:extLst>
                    <a:ext uri="{9D8B030D-6E8A-4147-A177-3AD203B41FA5}">
                      <a16:colId xmlns="" xmlns:a16="http://schemas.microsoft.com/office/drawing/2014/main" val="3492841565"/>
                    </a:ext>
                  </a:extLst>
                </a:gridCol>
                <a:gridCol w="2347741">
                  <a:extLst>
                    <a:ext uri="{9D8B030D-6E8A-4147-A177-3AD203B41FA5}">
                      <a16:colId xmlns="" xmlns:a16="http://schemas.microsoft.com/office/drawing/2014/main" val="224843044"/>
                    </a:ext>
                  </a:extLst>
                </a:gridCol>
                <a:gridCol w="2347741">
                  <a:extLst>
                    <a:ext uri="{9D8B030D-6E8A-4147-A177-3AD203B41FA5}">
                      <a16:colId xmlns="" xmlns:a16="http://schemas.microsoft.com/office/drawing/2014/main" val="1865218361"/>
                    </a:ext>
                  </a:extLst>
                </a:gridCol>
                <a:gridCol w="2347741">
                  <a:extLst>
                    <a:ext uri="{9D8B030D-6E8A-4147-A177-3AD203B41FA5}">
                      <a16:colId xmlns="" xmlns:a16="http://schemas.microsoft.com/office/drawing/2014/main" val="3640753768"/>
                    </a:ext>
                  </a:extLst>
                </a:gridCol>
              </a:tblGrid>
              <a:tr h="179023">
                <a:tc rowSpan="2">
                  <a:txBody>
                    <a:bodyPr/>
                    <a:lstStyle/>
                    <a:p>
                      <a:pPr algn="l"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Particulars</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rowSpan="2">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BPDB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gridSpan="3">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BPDB Subsidiaries</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3925764"/>
                  </a:ext>
                </a:extLst>
              </a:tr>
              <a:tr h="453712">
                <a:tc vMerge="1">
                  <a:txBody>
                    <a:bodyPr/>
                    <a:lstStyle/>
                    <a:p>
                      <a:endParaRPr lang="en-IN"/>
                    </a:p>
                  </a:txBody>
                  <a:tcPr/>
                </a:tc>
                <a:tc vMerge="1">
                  <a:txBody>
                    <a:bodyPr/>
                    <a:lstStyle/>
                    <a:p>
                      <a:endParaRPr lang="en-IN"/>
                    </a:p>
                  </a:txBody>
                  <a:tcPr/>
                </a:tc>
                <a:tc>
                  <a:txBody>
                    <a:bodyPr/>
                    <a:lstStyle/>
                    <a:p>
                      <a:pPr algn="ctr" fontAlgn="auto">
                        <a:spcAft>
                          <a:spcPts val="0"/>
                        </a:spcAft>
                      </a:pPr>
                      <a:r>
                        <a:rPr lang="en-IN" sz="1000" b="1">
                          <a:solidFill>
                            <a:srgbClr val="000000"/>
                          </a:solidFill>
                          <a:effectLst/>
                          <a:latin typeface="+mn-lt"/>
                          <a:ea typeface="Times New Roman" panose="02020603050405020304" pitchFamily="18" charset="0"/>
                          <a:cs typeface="Calibri" panose="020F0502020204030204" pitchFamily="34" charset="0"/>
                        </a:rPr>
                        <a:t>EGCB</a:t>
                      </a:r>
                      <a:endParaRPr lang="en-IN" sz="100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NWZPDCL</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tc>
                  <a:txBody>
                    <a:bodyPr/>
                    <a:lstStyle/>
                    <a:p>
                      <a:pPr algn="ctr" fontAlgn="auto">
                        <a:spcAft>
                          <a:spcPts val="0"/>
                        </a:spcAft>
                      </a:pPr>
                      <a:r>
                        <a:rPr lang="en-IN" sz="1000" b="1" dirty="0">
                          <a:solidFill>
                            <a:srgbClr val="000000"/>
                          </a:solidFill>
                          <a:effectLst/>
                          <a:latin typeface="+mn-lt"/>
                          <a:ea typeface="Times New Roman" panose="02020603050405020304" pitchFamily="18" charset="0"/>
                          <a:cs typeface="Calibri" panose="020F0502020204030204" pitchFamily="34" charset="0"/>
                        </a:rPr>
                        <a:t>PGCB</a:t>
                      </a:r>
                      <a:endParaRPr lang="en-IN" sz="1000" dirty="0">
                        <a:effectLst/>
                        <a:latin typeface="+mn-lt"/>
                        <a:ea typeface="Times" panose="02020603050405020304" pitchFamily="18" charset="0"/>
                        <a:cs typeface="Arial" panose="020B0604020202020204" pitchFamily="34" charset="0"/>
                      </a:endParaRPr>
                    </a:p>
                  </a:txBody>
                  <a:tcPr marL="4653" marR="4653"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00B0F0"/>
                    </a:solidFill>
                  </a:tcPr>
                </a:tc>
                <a:extLst>
                  <a:ext uri="{0D108BD9-81ED-4DB2-BD59-A6C34878D82A}">
                    <a16:rowId xmlns="" xmlns:a16="http://schemas.microsoft.com/office/drawing/2014/main" val="3776056677"/>
                  </a:ext>
                </a:extLst>
              </a:tr>
              <a:tr h="179023">
                <a:tc rowSpan="3">
                  <a:txBody>
                    <a:bodyPr/>
                    <a:lstStyle/>
                    <a:p>
                      <a:pPr algn="l" fontAlgn="auto">
                        <a:spcAft>
                          <a:spcPts val="0"/>
                        </a:spcAft>
                      </a:pPr>
                      <a:r>
                        <a:rPr lang="en-IN" sz="1000" b="1" dirty="0" smtClean="0">
                          <a:solidFill>
                            <a:srgbClr val="000000"/>
                          </a:solidFill>
                          <a:effectLst/>
                          <a:latin typeface="+mn-lt"/>
                          <a:ea typeface="Times New Roman" panose="02020603050405020304" pitchFamily="18" charset="0"/>
                          <a:cs typeface="Calibri" panose="020F0502020204030204" pitchFamily="34" charset="0"/>
                        </a:rPr>
                        <a:t>Terminal Benefit</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effectLst/>
                          <a:latin typeface="+mn-lt"/>
                          <a:ea typeface="Times New Roman" panose="02020603050405020304" pitchFamily="18" charset="0"/>
                          <a:cs typeface="Calibri" panose="020F0502020204030204" pitchFamily="34" charset="0"/>
                        </a:rPr>
                        <a:t>Pension:</a:t>
                      </a:r>
                      <a:r>
                        <a:rPr lang="en-IN" sz="1000" dirty="0">
                          <a:effectLst/>
                          <a:latin typeface="+mn-lt"/>
                          <a:ea typeface="Times New Roman" panose="02020603050405020304" pitchFamily="18" charset="0"/>
                          <a:cs typeface="Calibri" panose="020F0502020204030204" pitchFamily="34" charset="0"/>
                        </a:rPr>
                        <a:t> Pension facility available as per Govt. Rule</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Pension:</a:t>
                      </a:r>
                      <a:r>
                        <a:rPr lang="en-IN" sz="1000">
                          <a:solidFill>
                            <a:srgbClr val="000000"/>
                          </a:solidFill>
                          <a:effectLst/>
                          <a:latin typeface="+mn-lt"/>
                          <a:ea typeface="Times New Roman" panose="02020603050405020304" pitchFamily="18" charset="0"/>
                          <a:cs typeface="Calibri" panose="020F0502020204030204" pitchFamily="34" charset="0"/>
                        </a:rPr>
                        <a:t> No pension facility</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Pension:</a:t>
                      </a:r>
                      <a:r>
                        <a:rPr lang="en-IN" sz="1000">
                          <a:solidFill>
                            <a:srgbClr val="000000"/>
                          </a:solidFill>
                          <a:effectLst/>
                          <a:latin typeface="+mn-lt"/>
                          <a:ea typeface="Times New Roman" panose="02020603050405020304" pitchFamily="18" charset="0"/>
                          <a:cs typeface="Calibri" panose="020F0502020204030204" pitchFamily="34" charset="0"/>
                        </a:rPr>
                        <a:t> No pension facility</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Pension: </a:t>
                      </a:r>
                      <a:r>
                        <a:rPr lang="en-IN" sz="1000" dirty="0">
                          <a:solidFill>
                            <a:srgbClr val="000000"/>
                          </a:solidFill>
                          <a:effectLst/>
                          <a:latin typeface="+mn-lt"/>
                          <a:ea typeface="Times New Roman" panose="02020603050405020304" pitchFamily="18" charset="0"/>
                          <a:cs typeface="Calibri" panose="020F0502020204030204" pitchFamily="34" charset="0"/>
                        </a:rPr>
                        <a:t>No pension facility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95389374"/>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Gratuity:</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No gratuity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Gratuity: </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2.5 times of basic for each competed year</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Gratuity: </a:t>
                      </a:r>
                      <a:r>
                        <a:rPr lang="en-IN" sz="1000">
                          <a:solidFill>
                            <a:srgbClr val="000000"/>
                          </a:solidFill>
                          <a:effectLst/>
                          <a:latin typeface="+mn-lt"/>
                          <a:ea typeface="Times New Roman" panose="02020603050405020304" pitchFamily="18" charset="0"/>
                          <a:cs typeface="Calibri" panose="020F0502020204030204" pitchFamily="34" charset="0"/>
                        </a:rPr>
                        <a:t>2.5 times of basic for each competed year</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Gratuity:</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2.5 times of basic for each competed year</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extLst>
                  <a:ext uri="{0D108BD9-81ED-4DB2-BD59-A6C34878D82A}">
                    <a16:rowId xmlns="" xmlns:a16="http://schemas.microsoft.com/office/drawing/2014/main" val="154904041"/>
                  </a:ext>
                </a:extLst>
              </a:tr>
              <a:tr h="358046">
                <a:tc vMerge="1">
                  <a:txBody>
                    <a:bodyPr/>
                    <a:lstStyle/>
                    <a:p>
                      <a:endParaRPr lang="en-IN"/>
                    </a:p>
                  </a:txBody>
                  <a:tcPr/>
                </a:tc>
                <a:tc>
                  <a:txBody>
                    <a:bodyPr/>
                    <a:lstStyle/>
                    <a:p>
                      <a:pPr algn="l" fontAlgn="auto">
                        <a:spcAft>
                          <a:spcPts val="0"/>
                        </a:spcAft>
                      </a:pPr>
                      <a:r>
                        <a:rPr lang="en-IN" sz="1000" b="1" u="sng">
                          <a:solidFill>
                            <a:srgbClr val="000000"/>
                          </a:solidFill>
                          <a:effectLst/>
                          <a:latin typeface="+mn-lt"/>
                          <a:ea typeface="Times New Roman" panose="02020603050405020304" pitchFamily="18" charset="0"/>
                          <a:cs typeface="Calibri" panose="020F0502020204030204" pitchFamily="34" charset="0"/>
                        </a:rPr>
                        <a:t>Provident Fund:</a:t>
                      </a:r>
                      <a:r>
                        <a:rPr lang="en-IN" sz="1000">
                          <a:solidFill>
                            <a:srgbClr val="000000"/>
                          </a:solidFill>
                          <a:effectLst/>
                          <a:latin typeface="+mn-lt"/>
                          <a:ea typeface="Times New Roman" panose="02020603050405020304" pitchFamily="18" charset="0"/>
                          <a:cs typeface="Calibri" panose="020F0502020204030204" pitchFamily="34" charset="0"/>
                        </a:rPr>
                        <a:t/>
                      </a:r>
                      <a:br>
                        <a:rPr lang="en-IN" sz="1000">
                          <a:solidFill>
                            <a:srgbClr val="000000"/>
                          </a:solidFill>
                          <a:effectLst/>
                          <a:latin typeface="+mn-lt"/>
                          <a:ea typeface="Times New Roman" panose="02020603050405020304" pitchFamily="18" charset="0"/>
                          <a:cs typeface="Calibri" panose="020F0502020204030204" pitchFamily="34" charset="0"/>
                        </a:rPr>
                      </a:br>
                      <a:r>
                        <a:rPr lang="en-IN" sz="1000">
                          <a:solidFill>
                            <a:srgbClr val="000000"/>
                          </a:solidFill>
                          <a:effectLst/>
                          <a:latin typeface="+mn-lt"/>
                          <a:ea typeface="Times New Roman" panose="02020603050405020304" pitchFamily="18" charset="0"/>
                          <a:cs typeface="Calibri" panose="020F0502020204030204" pitchFamily="34" charset="0"/>
                        </a:rPr>
                        <a:t>10% to 25% on basic salary from the staff. This is not contributory.</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CPF:</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10% on basic salary from the staff and 10% from the Company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CPF:</a:t>
                      </a:r>
                      <a:r>
                        <a:rPr lang="en-IN" sz="1000" dirty="0">
                          <a:solidFill>
                            <a:srgbClr val="000000"/>
                          </a:solidFill>
                          <a:effectLst/>
                          <a:latin typeface="+mn-lt"/>
                          <a:ea typeface="Times New Roman" panose="02020603050405020304" pitchFamily="18" charset="0"/>
                          <a:cs typeface="Calibri" panose="020F0502020204030204" pitchFamily="34" charset="0"/>
                        </a:rPr>
                        <a:t> </a:t>
                      </a:r>
                      <a:br>
                        <a:rPr lang="en-IN" sz="1000"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10% on basic salary from the staff and 10% from the Company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b="1" u="sng" dirty="0">
                          <a:solidFill>
                            <a:srgbClr val="000000"/>
                          </a:solidFill>
                          <a:effectLst/>
                          <a:latin typeface="+mn-lt"/>
                          <a:ea typeface="Times New Roman" panose="02020603050405020304" pitchFamily="18" charset="0"/>
                          <a:cs typeface="Calibri" panose="020F0502020204030204" pitchFamily="34" charset="0"/>
                        </a:rPr>
                        <a:t>CPF: </a:t>
                      </a:r>
                      <a:br>
                        <a:rPr lang="en-IN" sz="1000" b="1" u="sng" dirty="0">
                          <a:solidFill>
                            <a:srgbClr val="000000"/>
                          </a:solidFill>
                          <a:effectLst/>
                          <a:latin typeface="+mn-lt"/>
                          <a:ea typeface="Times New Roman" panose="02020603050405020304" pitchFamily="18" charset="0"/>
                          <a:cs typeface="Calibri" panose="020F0502020204030204" pitchFamily="34" charset="0"/>
                        </a:rPr>
                      </a:br>
                      <a:r>
                        <a:rPr lang="en-IN" sz="1000" dirty="0">
                          <a:solidFill>
                            <a:srgbClr val="000000"/>
                          </a:solidFill>
                          <a:effectLst/>
                          <a:latin typeface="+mn-lt"/>
                          <a:ea typeface="Times New Roman" panose="02020603050405020304" pitchFamily="18" charset="0"/>
                          <a:cs typeface="Calibri" panose="020F0502020204030204" pitchFamily="34" charset="0"/>
                        </a:rPr>
                        <a:t>10% on basic salary from the staff and 10% from the Company</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extLst>
                  <a:ext uri="{0D108BD9-81ED-4DB2-BD59-A6C34878D82A}">
                    <a16:rowId xmlns="" xmlns:a16="http://schemas.microsoft.com/office/drawing/2014/main" val="3376255590"/>
                  </a:ext>
                </a:extLst>
              </a:tr>
              <a:tr h="716091">
                <a:tc>
                  <a:txBody>
                    <a:bodyPr/>
                    <a:lstStyle/>
                    <a:p>
                      <a:pPr algn="l" fontAlgn="auto">
                        <a:spcAft>
                          <a:spcPts val="0"/>
                        </a:spcAft>
                      </a:pPr>
                      <a:r>
                        <a:rPr lang="en-IN" sz="1000" b="1" dirty="0" smtClean="0">
                          <a:solidFill>
                            <a:srgbClr val="000000"/>
                          </a:solidFill>
                          <a:effectLst/>
                          <a:latin typeface="+mn-lt"/>
                          <a:ea typeface="Times New Roman" panose="02020603050405020304" pitchFamily="18" charset="0"/>
                          <a:cs typeface="Calibri" panose="020F0502020204030204" pitchFamily="34" charset="0"/>
                        </a:rPr>
                        <a:t>Income Tax Liabilities</a:t>
                      </a:r>
                      <a:endParaRPr lang="en-IN" sz="1000" b="1" dirty="0">
                        <a:effectLst/>
                        <a:latin typeface="+mn-lt"/>
                        <a:ea typeface="Times" panose="02020603050405020304" pitchFamily="18" charset="0"/>
                        <a:cs typeface="Arial" panose="020B0604020202020204" pitchFamily="34" charset="0"/>
                      </a:endParaRPr>
                    </a:p>
                  </a:txBody>
                  <a:tcPr marL="4653" marR="4653" marT="0" marB="0">
                    <a:lnL w="12700" cap="flat" cmpd="sng" algn="ctr">
                      <a:solidFill>
                        <a:srgbClr val="0070C0"/>
                      </a:solidFill>
                      <a:prstDash val="solid"/>
                      <a:round/>
                      <a:headEnd type="none" w="med" len="med"/>
                      <a:tailEnd type="none" w="med" len="med"/>
                    </a:lnL>
                    <a:lnR w="12700" cap="flat" cmpd="sng" algn="ctr">
                      <a:solidFill>
                        <a:srgbClr val="538DD5"/>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a:solidFill>
                            <a:srgbClr val="000000"/>
                          </a:solidFill>
                          <a:effectLst/>
                          <a:latin typeface="+mn-lt"/>
                          <a:ea typeface="Times New Roman" panose="02020603050405020304" pitchFamily="18" charset="0"/>
                          <a:cs typeface="Calibri" panose="020F0502020204030204" pitchFamily="34" charset="0"/>
                        </a:rPr>
                        <a:t>Govt. employees has to pay tax only on Basic, Festival bonus etc. All perquisites like house rent, medical, conveyance, LFA, boishakhi vata etc. is tax exempted. (SRO No. 211-Act/income tax/2017 dated 21 June 2017). Rule 33 of Income Tax Rules 1984 will not be applicable.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538DD5"/>
                      </a:solidFill>
                      <a:prstDash val="solid"/>
                      <a:round/>
                      <a:headEnd type="none" w="med" len="med"/>
                      <a:tailEnd type="none" w="med" len="med"/>
                    </a:lnL>
                    <a:lnR w="12700" cap="flat" cmpd="sng" algn="ctr">
                      <a:solidFill>
                        <a:srgbClr val="538DD5"/>
                      </a:solidFill>
                      <a:prstDash val="solid"/>
                      <a:round/>
                      <a:headEnd type="none" w="med" len="med"/>
                      <a:tailEnd type="none" w="med" len="med"/>
                    </a:lnR>
                    <a:lnT w="12700" cap="flat" cmpd="sng" algn="ctr">
                      <a:solidFill>
                        <a:srgbClr val="538DD5"/>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a:solidFill>
                            <a:srgbClr val="000000"/>
                          </a:solidFill>
                          <a:effectLst/>
                          <a:latin typeface="+mn-lt"/>
                          <a:ea typeface="Times New Roman" panose="02020603050405020304" pitchFamily="18" charset="0"/>
                          <a:cs typeface="Calibri" panose="020F0502020204030204" pitchFamily="34" charset="0"/>
                        </a:rPr>
                        <a:t>Company employees do not get tax benefits like Govt. employees. Income tax is calculated based on Section 21 of Income Tax Ordinance 1984 and Rule 33 of Income Tax Rules 1984. </a:t>
                      </a:r>
                      <a:endParaRPr lang="en-IN" sz="100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538DD5"/>
                      </a:solidFill>
                      <a:prstDash val="solid"/>
                      <a:round/>
                      <a:headEnd type="none" w="med" len="med"/>
                      <a:tailEnd type="none" w="med" len="med"/>
                    </a:lnL>
                    <a:lnR w="12700" cap="flat" cmpd="sng" algn="ctr">
                      <a:solidFill>
                        <a:srgbClr val="538DD5"/>
                      </a:solidFill>
                      <a:prstDash val="solid"/>
                      <a:round/>
                      <a:headEnd type="none" w="med" len="med"/>
                      <a:tailEnd type="none" w="med" len="med"/>
                    </a:lnR>
                    <a:lnT w="12700" cap="flat" cmpd="sng" algn="ctr">
                      <a:solidFill>
                        <a:srgbClr val="538DD5"/>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dirty="0">
                          <a:solidFill>
                            <a:srgbClr val="000000"/>
                          </a:solidFill>
                          <a:effectLst/>
                          <a:latin typeface="+mn-lt"/>
                          <a:ea typeface="Times New Roman" panose="02020603050405020304" pitchFamily="18" charset="0"/>
                          <a:cs typeface="Calibri" panose="020F0502020204030204" pitchFamily="34" charset="0"/>
                        </a:rPr>
                        <a:t>Company employees do not get tax benefits like Govt. employees. Income tax is calculated based on Section 21 of Income Tax Ordinance 1984 and Rule 33 of Income Tax Rules 1984.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538DD5"/>
                      </a:solidFill>
                      <a:prstDash val="solid"/>
                      <a:round/>
                      <a:headEnd type="none" w="med" len="med"/>
                      <a:tailEnd type="none" w="med" len="med"/>
                    </a:lnL>
                    <a:lnR w="12700" cap="flat" cmpd="sng" algn="ctr">
                      <a:solidFill>
                        <a:srgbClr val="538DD5"/>
                      </a:solidFill>
                      <a:prstDash val="solid"/>
                      <a:round/>
                      <a:headEnd type="none" w="med" len="med"/>
                      <a:tailEnd type="none" w="med" len="med"/>
                    </a:lnR>
                    <a:lnT w="12700" cap="flat" cmpd="sng" algn="ctr">
                      <a:solidFill>
                        <a:srgbClr val="538DD5"/>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tc>
                  <a:txBody>
                    <a:bodyPr/>
                    <a:lstStyle/>
                    <a:p>
                      <a:pPr algn="l" fontAlgn="auto">
                        <a:spcAft>
                          <a:spcPts val="0"/>
                        </a:spcAft>
                      </a:pPr>
                      <a:r>
                        <a:rPr lang="en-IN" sz="1000" dirty="0">
                          <a:solidFill>
                            <a:srgbClr val="000000"/>
                          </a:solidFill>
                          <a:effectLst/>
                          <a:latin typeface="+mn-lt"/>
                          <a:ea typeface="Times New Roman" panose="02020603050405020304" pitchFamily="18" charset="0"/>
                          <a:cs typeface="Calibri" panose="020F0502020204030204" pitchFamily="34" charset="0"/>
                        </a:rPr>
                        <a:t>Company employees do not get tax benefits like Govt. employees. Income tax is calculated based on Section 21 of Income Tax Ordinance 1984 and Rule 33 of Income Tax Rules 1984. </a:t>
                      </a:r>
                      <a:endParaRPr lang="en-IN" sz="1000" dirty="0">
                        <a:effectLst/>
                        <a:latin typeface="+mn-lt"/>
                        <a:ea typeface="Times" panose="02020603050405020304" pitchFamily="18" charset="0"/>
                        <a:cs typeface="Arial" panose="020B0604020202020204" pitchFamily="34" charset="0"/>
                      </a:endParaRPr>
                    </a:p>
                  </a:txBody>
                  <a:tcPr marL="36000" marR="36000" marT="36000" marB="36000">
                    <a:lnL w="12700" cap="flat" cmpd="sng" algn="ctr">
                      <a:solidFill>
                        <a:srgbClr val="538DD5"/>
                      </a:solidFill>
                      <a:prstDash val="solid"/>
                      <a:round/>
                      <a:headEnd type="none" w="med" len="med"/>
                      <a:tailEnd type="none" w="med" len="med"/>
                    </a:lnL>
                    <a:lnR w="12700" cap="flat" cmpd="sng" algn="ctr">
                      <a:solidFill>
                        <a:srgbClr val="538DD5"/>
                      </a:solidFill>
                      <a:prstDash val="solid"/>
                      <a:round/>
                      <a:headEnd type="none" w="med" len="med"/>
                      <a:tailEnd type="none" w="med" len="med"/>
                    </a:lnR>
                    <a:lnT w="12700" cap="flat" cmpd="sng" algn="ctr">
                      <a:solidFill>
                        <a:srgbClr val="538DD5"/>
                      </a:solidFill>
                      <a:prstDash val="solid"/>
                      <a:round/>
                      <a:headEnd type="none" w="med" len="med"/>
                      <a:tailEnd type="none" w="med" len="med"/>
                    </a:lnT>
                    <a:lnB w="12700" cap="flat" cmpd="sng" algn="ctr">
                      <a:solidFill>
                        <a:srgbClr val="538DD5"/>
                      </a:solidFill>
                      <a:prstDash val="solid"/>
                      <a:round/>
                      <a:headEnd type="none" w="med" len="med"/>
                      <a:tailEnd type="none" w="med" len="med"/>
                    </a:lnB>
                  </a:tcPr>
                </a:tc>
                <a:extLst>
                  <a:ext uri="{0D108BD9-81ED-4DB2-BD59-A6C34878D82A}">
                    <a16:rowId xmlns="" xmlns:a16="http://schemas.microsoft.com/office/drawing/2014/main" val="1739349962"/>
                  </a:ext>
                </a:extLst>
              </a:tr>
            </a:tbl>
          </a:graphicData>
        </a:graphic>
      </p:graphicFrame>
      <p:sp>
        <p:nvSpPr>
          <p:cNvPr id="7" name="Pentagon 6">
            <a:hlinkClick r:id="rId2" action="ppaction://hlinksldjump"/>
          </p:cNvPr>
          <p:cNvSpPr/>
          <p:nvPr/>
        </p:nvSpPr>
        <p:spPr bwMode="gray">
          <a:xfrm flipH="1">
            <a:off x="9769867" y="7328699"/>
            <a:ext cx="372497" cy="234151"/>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prstClr val="white"/>
              </a:solidFill>
            </a:endParaRPr>
          </a:p>
        </p:txBody>
      </p:sp>
    </p:spTree>
    <p:extLst>
      <p:ext uri="{BB962C8B-B14F-4D97-AF65-F5344CB8AC3E}">
        <p14:creationId xmlns:p14="http://schemas.microsoft.com/office/powerpoint/2010/main" val="3667132411"/>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2061" y="4644850"/>
            <a:ext cx="9836182" cy="2392803"/>
          </a:xfrm>
        </p:spPr>
        <p:txBody>
          <a:bodyPr>
            <a:normAutofit/>
          </a:bodyPr>
          <a:lstStyle/>
          <a:p>
            <a:r>
              <a:rPr lang="en-IN"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IN"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IN"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IN" dirty="0"/>
              <a:t>©2017 Deloitte Touche Tohmatsu India LLP. Member of Deloitte Touche Tohmatsu Limited</a:t>
            </a:r>
          </a:p>
        </p:txBody>
      </p:sp>
    </p:spTree>
    <p:extLst>
      <p:ext uri="{BB962C8B-B14F-4D97-AF65-F5344CB8AC3E}">
        <p14:creationId xmlns:p14="http://schemas.microsoft.com/office/powerpoint/2010/main" val="295037177"/>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Blank">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Deloitte New">
    <a:dk1>
      <a:srgbClr val="002776"/>
    </a:dk1>
    <a:lt1>
      <a:srgbClr val="FFFFFF"/>
    </a:lt1>
    <a:dk2>
      <a:srgbClr val="000000"/>
    </a:dk2>
    <a:lt2>
      <a:srgbClr val="FFFFFF"/>
    </a:lt2>
    <a:accent1>
      <a:srgbClr val="92D400"/>
    </a:accent1>
    <a:accent2>
      <a:srgbClr val="00A1DE"/>
    </a:accent2>
    <a:accent3>
      <a:srgbClr val="72C7E7"/>
    </a:accent3>
    <a:accent4>
      <a:srgbClr val="3C8A2E"/>
    </a:accent4>
    <a:accent5>
      <a:srgbClr val="C9DD03"/>
    </a:accent5>
    <a:accent6>
      <a:srgbClr val="7F7F7F"/>
    </a:accent6>
    <a:hlink>
      <a:srgbClr val="BFBFBF"/>
    </a:hlink>
    <a:folHlink>
      <a:srgbClr val="D9D9D9"/>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Deloitte New">
    <a:dk1>
      <a:srgbClr val="002776"/>
    </a:dk1>
    <a:lt1>
      <a:srgbClr val="FFFFFF"/>
    </a:lt1>
    <a:dk2>
      <a:srgbClr val="000000"/>
    </a:dk2>
    <a:lt2>
      <a:srgbClr val="FFFFFF"/>
    </a:lt2>
    <a:accent1>
      <a:srgbClr val="92D400"/>
    </a:accent1>
    <a:accent2>
      <a:srgbClr val="00A1DE"/>
    </a:accent2>
    <a:accent3>
      <a:srgbClr val="72C7E7"/>
    </a:accent3>
    <a:accent4>
      <a:srgbClr val="3C8A2E"/>
    </a:accent4>
    <a:accent5>
      <a:srgbClr val="C9DD03"/>
    </a:accent5>
    <a:accent6>
      <a:srgbClr val="7F7F7F"/>
    </a:accent6>
    <a:hlink>
      <a:srgbClr val="BFBFBF"/>
    </a:hlink>
    <a:folHlink>
      <a:srgbClr val="D9D9D9"/>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Deloitte New">
    <a:dk1>
      <a:srgbClr val="002776"/>
    </a:dk1>
    <a:lt1>
      <a:srgbClr val="FFFFFF"/>
    </a:lt1>
    <a:dk2>
      <a:srgbClr val="000000"/>
    </a:dk2>
    <a:lt2>
      <a:srgbClr val="FFFFFF"/>
    </a:lt2>
    <a:accent1>
      <a:srgbClr val="92D400"/>
    </a:accent1>
    <a:accent2>
      <a:srgbClr val="00A1DE"/>
    </a:accent2>
    <a:accent3>
      <a:srgbClr val="72C7E7"/>
    </a:accent3>
    <a:accent4>
      <a:srgbClr val="3C8A2E"/>
    </a:accent4>
    <a:accent5>
      <a:srgbClr val="C9DD03"/>
    </a:accent5>
    <a:accent6>
      <a:srgbClr val="7F7F7F"/>
    </a:accent6>
    <a:hlink>
      <a:srgbClr val="BFBFBF"/>
    </a:hlink>
    <a:folHlink>
      <a:srgbClr val="D9D9D9"/>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Deloitte New">
    <a:dk1>
      <a:srgbClr val="002776"/>
    </a:dk1>
    <a:lt1>
      <a:srgbClr val="FFFFFF"/>
    </a:lt1>
    <a:dk2>
      <a:srgbClr val="000000"/>
    </a:dk2>
    <a:lt2>
      <a:srgbClr val="FFFFFF"/>
    </a:lt2>
    <a:accent1>
      <a:srgbClr val="92D400"/>
    </a:accent1>
    <a:accent2>
      <a:srgbClr val="00A1DE"/>
    </a:accent2>
    <a:accent3>
      <a:srgbClr val="72C7E7"/>
    </a:accent3>
    <a:accent4>
      <a:srgbClr val="3C8A2E"/>
    </a:accent4>
    <a:accent5>
      <a:srgbClr val="C9DD03"/>
    </a:accent5>
    <a:accent6>
      <a:srgbClr val="7F7F7F"/>
    </a:accent6>
    <a:hlink>
      <a:srgbClr val="BFBFBF"/>
    </a:hlink>
    <a:folHlink>
      <a:srgbClr val="D9D9D9"/>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Deloitte">
    <a:dk1>
      <a:sysClr val="windowText" lastClr="000000"/>
    </a:dk1>
    <a:lt1>
      <a:sysClr val="window" lastClr="FFFFFF"/>
    </a:lt1>
    <a:dk2>
      <a:srgbClr val="7F7F7F"/>
    </a:dk2>
    <a:lt2>
      <a:srgbClr val="404040"/>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3C8A2E"/>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ct:contentTypeSchema xmlns:ct="http://schemas.microsoft.com/office/2006/metadata/contentType" xmlns:ma="http://schemas.microsoft.com/office/2006/metadata/properties/metaAttributes" ct:_="" ma:_="" ma:contentTypeName="Intranet Attachment" ma:contentTypeID="0x01010045A37AAC9C7144A6950E04930CA3134B008B868390D1246145841407145D6CAE54" ma:contentTypeVersion="8" ma:contentTypeDescription="Intranet Attachment - Content Type" ma:contentTypeScope="" ma:versionID="300bb9173391c45b96d43532fc129c74">
  <xsd:schema xmlns:xsd="http://www.w3.org/2001/XMLSchema" xmlns:xs="http://www.w3.org/2001/XMLSchema" xmlns:p="http://schemas.microsoft.com/office/2006/metadata/properties" xmlns:ns1="http://schemas.microsoft.com/sharepoint/v3" xmlns:ns2="8DD08C88-CC4C-4D35-9129-A70DAA36BE5E" xmlns:ns4="83DDB362-4C05-4E52-A8D9-EF2F47978B8D" xmlns:ns5="7D1768DD-F29E-4DC2-9191-F2636B9FA92C" xmlns:ns6="5a51c775-c49c-428b-8c1e-2f89178d00f4" xmlns:ns7="6fb8bfa5-8fea-4f93-ae50-985cd647ba13" xmlns:ns8="39C40E9B-856B-46A7-8793-65A6FC1828D8" xmlns:ns9="b5436aa2-eb82-4c80-a3a6-ee54fd8cf274" targetNamespace="http://schemas.microsoft.com/office/2006/metadata/properties" ma:root="true" ma:fieldsID="0923b5da4168cb9c0e7a81f8f7174f2e" ns1:_="" ns2:_="" ns4:_="" ns5:_="" ns6:_="" ns7:_="" ns8:_="" ns9:_="">
    <xsd:import namespace="http://schemas.microsoft.com/sharepoint/v3"/>
    <xsd:import namespace="8DD08C88-CC4C-4D35-9129-A70DAA36BE5E"/>
    <xsd:import namespace="83DDB362-4C05-4E52-A8D9-EF2F47978B8D"/>
    <xsd:import namespace="7D1768DD-F29E-4DC2-9191-F2636B9FA92C"/>
    <xsd:import namespace="5a51c775-c49c-428b-8c1e-2f89178d00f4"/>
    <xsd:import namespace="6fb8bfa5-8fea-4f93-ae50-985cd647ba13"/>
    <xsd:import namespace="39C40E9B-856B-46A7-8793-65A6FC1828D8"/>
    <xsd:import namespace="b5436aa2-eb82-4c80-a3a6-ee54fd8cf274"/>
    <xsd:element name="properties">
      <xsd:complexType>
        <xsd:sequence>
          <xsd:element name="documentManagement">
            <xsd:complexType>
              <xsd:all>
                <xsd:element ref="ns1:PublishingStartDate" minOccurs="0"/>
                <xsd:element ref="ns1:PublishingExpirationDate" minOccurs="0"/>
                <xsd:element ref="ns2:Global_x0020_Content_x0020_TypeTaxHTField0" minOccurs="0"/>
                <xsd:element ref="ns4:Global_x0020_IndustryTaxHTField0" minOccurs="0"/>
                <xsd:element ref="ns5:Global_x0020_Client_x0020_ServicesTaxHTField0" minOccurs="0"/>
                <xsd:element ref="ns2:Local_x0020_Content_x0020_TypeTaxHTField0" minOccurs="0"/>
                <xsd:element ref="ns4:Local_x0020_IndustryTaxHTField0" minOccurs="0"/>
                <xsd:element ref="ns5:Local_x0020_Client_x0020_ServicesTaxHTField0" minOccurs="0"/>
                <xsd:element ref="ns6:GeographyTaxHTField0" minOccurs="0"/>
                <xsd:element ref="ns7:TaxKeywordTaxHTField" minOccurs="0"/>
                <xsd:element ref="ns7:TaxCatchAll" minOccurs="0"/>
                <xsd:element ref="ns8:LanguageBTaxHTField0" minOccurs="0"/>
                <xsd:element ref="ns1:PublishingContact" minOccurs="0"/>
                <xsd:element ref="ns7:_dlc_DocId" minOccurs="0"/>
                <xsd:element ref="ns7:_dlc_DocIdUrl" minOccurs="0"/>
                <xsd:element ref="ns7:_dlc_DocIdPersistId" minOccurs="0"/>
                <xsd:element ref="ns9:Description" minOccurs="0"/>
                <xsd:element ref="ns7:SearchComment" minOccurs="0"/>
                <xsd:element ref="ns7:SearchKeywords" minOccurs="0"/>
                <xsd:element ref="ns9: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internalName="PublishingStartDate">
      <xsd:simpleType>
        <xsd:restriction base="dms:Unknown"/>
      </xsd:simpleType>
    </xsd:element>
    <xsd:element name="PublishingExpirationDate" ma:index="9" nillable="true" ma:displayName="Scheduling End Date" ma:internalName="PublishingExpirationDate">
      <xsd:simpleType>
        <xsd:restriction base="dms:Unknown"/>
      </xsd:simpleType>
    </xsd:element>
    <xsd:element name="PublishingContact" ma:index="29" nillable="true" ma:displayName="Contact" ma:list="UserInfo" ma:internalName="Publishing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DD08C88-CC4C-4D35-9129-A70DAA36BE5E" elementFormDefault="qualified">
    <xsd:import namespace="http://schemas.microsoft.com/office/2006/documentManagement/types"/>
    <xsd:import namespace="http://schemas.microsoft.com/office/infopath/2007/PartnerControls"/>
    <xsd:element name="Global_x0020_Content_x0020_TypeTaxHTField0" ma:index="10" nillable="true" ma:taxonomy="true" ma:internalName="Global_x0020_Content_x0020_TypeTaxH" ma:taxonomyFieldName="Global_x0020_Content_x0020_Type" ma:displayName="Global Content Type" ma:fieldId="{c9ea7640-adb2-4a99-8b8d-9790ccd879fc}" ma:taxonomyMulti="true" ma:sspId="155bb128-613e-4099-96fa-4403fd0cc87b" ma:termSetId="c1d74e5f-813e-428a-9d1d-e00dfcad3136" ma:anchorId="00000000-0000-0000-0000-000000000000" ma:open="false" ma:isKeyword="false">
      <xsd:complexType>
        <xsd:sequence>
          <xsd:element ref="pc:Terms" minOccurs="0" maxOccurs="1"/>
        </xsd:sequence>
      </xsd:complexType>
    </xsd:element>
    <xsd:element name="Local_x0020_Content_x0020_TypeTaxHTField0" ma:index="16" nillable="true" ma:taxonomy="true" ma:internalName="Local_x0020_Content_x0020_TypeTaxH" ma:taxonomyFieldName="Local_x0020_Content_x0020_Type" ma:displayName="Local Content Type" ma:fieldId="{f9592373-de5e-451c-bee5-c5fc319384b2}" ma:taxonomyMulti="true" ma:sspId="155bb128-613e-4099-96fa-4403fd0cc87b" ma:termSetId="71325c3c-855f-4016-ae90-48a98c58e6a3"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3DDB362-4C05-4E52-A8D9-EF2F47978B8D" elementFormDefault="qualified">
    <xsd:import namespace="http://schemas.microsoft.com/office/2006/documentManagement/types"/>
    <xsd:import namespace="http://schemas.microsoft.com/office/infopath/2007/PartnerControls"/>
    <xsd:element name="Global_x0020_IndustryTaxHTField0" ma:index="12" nillable="true" ma:taxonomy="true" ma:internalName="Global_x0020_IndustryTaxH" ma:taxonomyFieldName="Global_x0020_Industry" ma:displayName="Global Industry" ma:fieldId="{df491b90-4417-47d2-8d23-a7342d423c05}" ma:taxonomyMulti="true" ma:sspId="155bb128-613e-4099-96fa-4403fd0cc87b" ma:termSetId="30ef725a-a352-4b6b-b897-20d376f351a7" ma:anchorId="00000000-0000-0000-0000-000000000000" ma:open="false" ma:isKeyword="false">
      <xsd:complexType>
        <xsd:sequence>
          <xsd:element ref="pc:Terms" minOccurs="0" maxOccurs="1"/>
        </xsd:sequence>
      </xsd:complexType>
    </xsd:element>
    <xsd:element name="Local_x0020_IndustryTaxHTField0" ma:index="18" nillable="true" ma:taxonomy="true" ma:internalName="Local_x0020_IndustryTaxH" ma:taxonomyFieldName="Local_x0020_Industry" ma:displayName="Local Industry" ma:fieldId="{c3b7b5d6-88d7-4c9c-ba5a-ea3984318e23}" ma:taxonomyMulti="true" ma:sspId="155bb128-613e-4099-96fa-4403fd0cc87b" ma:termSetId="0f50edd8-f180-4274-afbc-8048378743e9"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D1768DD-F29E-4DC2-9191-F2636B9FA92C" elementFormDefault="qualified">
    <xsd:import namespace="http://schemas.microsoft.com/office/2006/documentManagement/types"/>
    <xsd:import namespace="http://schemas.microsoft.com/office/infopath/2007/PartnerControls"/>
    <xsd:element name="Global_x0020_Client_x0020_ServicesTaxHTField0" ma:index="14" nillable="true" ma:taxonomy="true" ma:internalName="Global_x0020_Client_x0020_ServicesTaxH" ma:taxonomyFieldName="Global_x0020_Client_x0020_Services" ma:displayName="Global Client Services" ma:fieldId="{8ed687d5-3528-48ef-a924-80521903bc78}" ma:taxonomyMulti="true" ma:sspId="155bb128-613e-4099-96fa-4403fd0cc87b" ma:termSetId="44905aca-31e9-4e2c-a2a6-9ecd7fd47edd" ma:anchorId="00000000-0000-0000-0000-000000000000" ma:open="false" ma:isKeyword="false">
      <xsd:complexType>
        <xsd:sequence>
          <xsd:element ref="pc:Terms" minOccurs="0" maxOccurs="1"/>
        </xsd:sequence>
      </xsd:complexType>
    </xsd:element>
    <xsd:element name="Local_x0020_Client_x0020_ServicesTaxHTField0" ma:index="20" nillable="true" ma:taxonomy="true" ma:internalName="Local_x0020_Client_x0020_ServicesTaxH" ma:taxonomyFieldName="Local_x0020_Client_x0020_Services" ma:displayName="Local Client Services" ma:fieldId="{710f8f79-460c-4899-83de-22ebc15c7f35}" ma:taxonomyMulti="true" ma:sspId="155bb128-613e-4099-96fa-4403fd0cc87b" ma:termSetId="587f4f2d-e2a8-4747-91a8-ad30e3463844"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a51c775-c49c-428b-8c1e-2f89178d00f4" elementFormDefault="qualified">
    <xsd:import namespace="http://schemas.microsoft.com/office/2006/documentManagement/types"/>
    <xsd:import namespace="http://schemas.microsoft.com/office/infopath/2007/PartnerControls"/>
    <xsd:element name="GeographyTaxHTField0" ma:index="22" ma:taxonomy="true" ma:internalName="GeographyTaxH" ma:taxonomyFieldName="Geography" ma:displayName="Geography" ma:default="" ma:fieldId="{b1dab815-7eaf-4f42-958c-926f58efb7da}" ma:taxonomyMulti="true" ma:sspId="155bb128-613e-4099-96fa-4403fd0cc87b" ma:termSetId="17bed538-0ecf-4a0a-aaaf-d58d2a12aeb5"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fb8bfa5-8fea-4f93-ae50-985cd647ba13" elementFormDefault="qualified">
    <xsd:import namespace="http://schemas.microsoft.com/office/2006/documentManagement/types"/>
    <xsd:import namespace="http://schemas.microsoft.com/office/infopath/2007/PartnerControls"/>
    <xsd:element name="TaxKeywordTaxHTField" ma:index="25" nillable="true" ma:taxonomy="true" ma:internalName="TaxKeywordTaxHTField" ma:taxonomyFieldName="TaxKeyword" ma:displayName="Enterprise Keywords" ma:fieldId="{23f27201-bee3-471e-b2e7-b64fd8b7ca38}" ma:taxonomyMulti="true" ma:sspId="42617199-969e-43f2-8ee4-a07d5bee7f1a" ma:termSetId="00000000-0000-0000-0000-000000000000" ma:anchorId="00000000-0000-0000-0000-000000000000" ma:open="true" ma:isKeyword="true">
      <xsd:complexType>
        <xsd:sequence>
          <xsd:element ref="pc:Terms" minOccurs="0" maxOccurs="1"/>
        </xsd:sequence>
      </xsd:complexType>
    </xsd:element>
    <xsd:element name="TaxCatchAll" ma:index="26" nillable="true" ma:displayName="Taxonomy Catch All Column" ma:list="{838b2f7e-92a3-4fb9-a686-562b3dfbd7f1}" ma:internalName="TaxCatchAll" ma:showField="CatchAllData" ma:web="6fb8bfa5-8fea-4f93-ae50-985cd647ba13">
      <xsd:complexType>
        <xsd:complexContent>
          <xsd:extension base="dms:MultiChoiceLookup">
            <xsd:sequence>
              <xsd:element name="Value" type="dms:Lookup" maxOccurs="unbounded" minOccurs="0" nillable="true"/>
            </xsd:sequence>
          </xsd:extension>
        </xsd:complexContent>
      </xsd:complexType>
    </xsd:element>
    <xsd:element name="_dlc_DocId" ma:index="30" nillable="true" ma:displayName="Document ID Value" ma:description="The value of the document ID assigned to this item." ma:internalName="_dlc_DocId" ma:readOnly="true">
      <xsd:simpleType>
        <xsd:restriction base="dms:Text"/>
      </xsd:simpleType>
    </xsd:element>
    <xsd:element name="_dlc_DocIdUrl" ma:index="3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2" nillable="true" ma:displayName="Persist ID" ma:description="Keep ID on add." ma:hidden="true" ma:internalName="_dlc_DocIdPersistId" ma:readOnly="true">
      <xsd:simpleType>
        <xsd:restriction base="dms:Boolean"/>
      </xsd:simpleType>
    </xsd:element>
    <xsd:element name="SearchComment" ma:index="35" nillable="true" ma:displayName="Comment" ma:internalName="SearchComment">
      <xsd:simpleType>
        <xsd:restriction base="dms:Note">
          <xsd:maxLength value="255"/>
        </xsd:restriction>
      </xsd:simpleType>
    </xsd:element>
    <xsd:element name="SearchKeywords" ma:index="36" nillable="true" ma:displayName="Keyword(s)" ma:internalName="SearchKeyword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C40E9B-856B-46A7-8793-65A6FC1828D8" elementFormDefault="qualified">
    <xsd:import namespace="http://schemas.microsoft.com/office/2006/documentManagement/types"/>
    <xsd:import namespace="http://schemas.microsoft.com/office/infopath/2007/PartnerControls"/>
    <xsd:element name="LanguageBTaxHTField0" ma:index="27" ma:taxonomy="true" ma:internalName="LanguageBTaxH" ma:taxonomyFieldName="LanguageB" ma:displayName="Language" ma:fieldId="{264823c8-7255-4fb1-8550-4386b0b212a8}" ma:taxonomyMulti="true" ma:sspId="155bb128-613e-4099-96fa-4403fd0cc87b" ma:termSetId="af9198f1-74aa-4e26-b87e-e1ce7d7e6bd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5436aa2-eb82-4c80-a3a6-ee54fd8cf274" elementFormDefault="qualified">
    <xsd:import namespace="http://schemas.microsoft.com/office/2006/documentManagement/types"/>
    <xsd:import namespace="http://schemas.microsoft.com/office/infopath/2007/PartnerControls"/>
    <xsd:element name="Description" ma:index="33" nillable="true" ma:displayName="Description" ma:internalName="Description">
      <xsd:simpleType>
        <xsd:restriction base="dms:Note">
          <xsd:maxLength value="255"/>
        </xsd:restriction>
      </xsd:simpleType>
    </xsd:element>
    <xsd:element name="Category" ma:index="37" nillable="true" ma:displayName="Category" ma:default="PPT template" ma:format="Dropdown" ma:internalName="Category">
      <xsd:simpleType>
        <xsd:restriction base="dms:Choice">
          <xsd:enumeration value="PPT template"/>
          <xsd:enumeration value="Word template"/>
          <xsd:enumeration value="Logos"/>
          <xsd:enumeration value="MS Office theme file (thmx)"/>
          <xsd:enumeration value="Colour palette"/>
          <xsd:enumeration value="Email signatures"/>
          <xsd:enumeration value="Wallpaper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ma:index="34" ma:displayName="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5840D739-5959-49AC-92D7-192AF482ED8E}">
  <ds:schemaRefs>
    <ds:schemaRef ds:uri="http://schemas.microsoft.com/sharepoint/v3/contenttype/forms"/>
  </ds:schemaRefs>
</ds:datastoreItem>
</file>

<file path=customXml/itemProps2.xml><?xml version="1.0" encoding="utf-8"?>
<ds:datastoreItem xmlns:ds="http://schemas.openxmlformats.org/officeDocument/2006/customXml" ds:itemID="{B5BA8C3E-1F9C-4D13-B7D8-89F6EC69923E}"/>
</file>

<file path=customXml/itemProps3.xml><?xml version="1.0" encoding="utf-8"?>
<ds:datastoreItem xmlns:ds="http://schemas.openxmlformats.org/officeDocument/2006/customXml" ds:itemID="{8F5299AF-8E93-49AF-9BB1-D45D780910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DD08C88-CC4C-4D35-9129-A70DAA36BE5E"/>
    <ds:schemaRef ds:uri="83DDB362-4C05-4E52-A8D9-EF2F47978B8D"/>
    <ds:schemaRef ds:uri="7D1768DD-F29E-4DC2-9191-F2636B9FA92C"/>
    <ds:schemaRef ds:uri="5a51c775-c49c-428b-8c1e-2f89178d00f4"/>
    <ds:schemaRef ds:uri="6fb8bfa5-8fea-4f93-ae50-985cd647ba13"/>
    <ds:schemaRef ds:uri="39C40E9B-856B-46A7-8793-65A6FC1828D8"/>
    <ds:schemaRef ds:uri="b5436aa2-eb82-4c80-a3a6-ee54fd8cf2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E4BF101-9CF0-4E56-886B-DA00D1617B30}">
  <ds:schemaRefs>
    <ds:schemaRef ds:uri="83DDB362-4C05-4E52-A8D9-EF2F47978B8D"/>
    <ds:schemaRef ds:uri="http://schemas.microsoft.com/sharepoint/v3"/>
    <ds:schemaRef ds:uri="http://purl.org/dc/terms/"/>
    <ds:schemaRef ds:uri="6fb8bfa5-8fea-4f93-ae50-985cd647ba13"/>
    <ds:schemaRef ds:uri="39C40E9B-856B-46A7-8793-65A6FC1828D8"/>
    <ds:schemaRef ds:uri="b5436aa2-eb82-4c80-a3a6-ee54fd8cf274"/>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http://www.w3.org/XML/1998/namespace"/>
    <ds:schemaRef ds:uri="8DD08C88-CC4C-4D35-9129-A70DAA36BE5E"/>
    <ds:schemaRef ds:uri="7D1768DD-F29E-4DC2-9191-F2636B9FA92C"/>
    <ds:schemaRef ds:uri="http://schemas.microsoft.com/office/2006/metadata/properties"/>
    <ds:schemaRef ds:uri="http://purl.org/dc/elements/1.1/"/>
    <ds:schemaRef ds:uri="5a51c775-c49c-428b-8c1e-2f89178d00f4"/>
  </ds:schemaRefs>
</ds:datastoreItem>
</file>

<file path=docProps/app.xml><?xml version="1.0" encoding="utf-8"?>
<Properties xmlns="http://schemas.openxmlformats.org/officeDocument/2006/extended-properties" xmlns:vt="http://schemas.openxmlformats.org/officeDocument/2006/docPropsVTypes">
  <Template/>
  <TotalTime>41701</TotalTime>
  <Words>34936</Words>
  <Application>Microsoft Office PowerPoint</Application>
  <PresentationFormat>Custom</PresentationFormat>
  <Paragraphs>5027</Paragraphs>
  <Slides>215</Slides>
  <Notes>25</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215</vt:i4>
      </vt:variant>
    </vt:vector>
  </HeadingPairs>
  <TitlesOfParts>
    <vt:vector size="230" baseType="lpstr">
      <vt:lpstr>MS Mincho</vt:lpstr>
      <vt:lpstr>Arial</vt:lpstr>
      <vt:lpstr>Calibri</vt:lpstr>
      <vt:lpstr>Courier New</vt:lpstr>
      <vt:lpstr>Mangal</vt:lpstr>
      <vt:lpstr>Open Sans</vt:lpstr>
      <vt:lpstr>Symbol</vt:lpstr>
      <vt:lpstr>Times</vt:lpstr>
      <vt:lpstr>Times New Roman</vt:lpstr>
      <vt:lpstr>Verdana</vt:lpstr>
      <vt:lpstr>Vrinda</vt:lpstr>
      <vt:lpstr>Wingdings 2</vt:lpstr>
      <vt:lpstr>1_Deloitte 16_9 onscreen</vt:lpstr>
      <vt:lpstr>Blank</vt:lpstr>
      <vt:lpstr>think-cell Slide</vt:lpstr>
      <vt:lpstr>PowerPoint Presentation</vt:lpstr>
      <vt:lpstr>Table of contents</vt:lpstr>
      <vt:lpstr>PowerPoint Presentation</vt:lpstr>
      <vt:lpstr>Scope of work</vt:lpstr>
      <vt:lpstr>PowerPoint Presentation</vt:lpstr>
      <vt:lpstr>Govt. Loans, lower bulk supply collection ratio and non-integrated sector planning has affected the performance of BPDB</vt:lpstr>
      <vt:lpstr>The Bulk Supply business contributes to ~85% of the total financial impact attributed to various strategic concerns</vt:lpstr>
      <vt:lpstr>PowerPoint Presentation</vt:lpstr>
      <vt:lpstr>The sector trends aided by the policies require financial sustainability and integrated planning &amp; nodal management</vt:lpstr>
      <vt:lpstr>PowerPoint Presentation</vt:lpstr>
      <vt:lpstr>Selected Structural option for establishing BPDB as a Holding Company</vt:lpstr>
      <vt:lpstr>PowerPoint Presentation</vt:lpstr>
      <vt:lpstr>Proposed functions of the holding company (1/2)</vt:lpstr>
      <vt:lpstr>Proposed functions of the holding company (2/2)</vt:lpstr>
      <vt:lpstr>PowerPoint Presentation</vt:lpstr>
      <vt:lpstr>Preliminary proposed touchpoints of Holding Company and Subsidiaries</vt:lpstr>
      <vt:lpstr>Proposed High Level Relationship for Planning &amp; Development</vt:lpstr>
      <vt:lpstr>Proposed High Level Relationship for Financial Management</vt:lpstr>
      <vt:lpstr>Proposed High Level Relationship for Monitoring &amp; Accountability</vt:lpstr>
      <vt:lpstr>Proposed High Level Relationship for HR &amp; other Specialized Areas</vt:lpstr>
      <vt:lpstr>PowerPoint Presentation</vt:lpstr>
      <vt:lpstr>Key drivers for sustainability of Holding Company</vt:lpstr>
      <vt:lpstr>Benefits of proposed high-level value enablers &amp; functional strengthening</vt:lpstr>
      <vt:lpstr>PowerPoint Presentation</vt:lpstr>
      <vt:lpstr>Immediate implementation steps and priority areas</vt:lpstr>
      <vt:lpstr>PowerPoint Presentation</vt:lpstr>
      <vt:lpstr>High-level implementation plan for reform of BPDB as a holding company</vt:lpstr>
      <vt:lpstr>PowerPoint Presentation</vt:lpstr>
      <vt:lpstr>As-is manpower arrangement of BPDB</vt:lpstr>
      <vt:lpstr>BPDB must undertake a comprehensive manpower assessment exercise to determine optimum manpower of holding company</vt:lpstr>
      <vt:lpstr>PowerPoint Presentation</vt:lpstr>
      <vt:lpstr>Key objectives and basic framework for benchmarking of compensation framework for holding company employees</vt:lpstr>
      <vt:lpstr>High-level comparison of terminal benefits &amp; tax incidence of BPDB, EGCB, NWZPDCL, PGCB</vt:lpstr>
      <vt:lpstr>Summary of compensation comparison and high-level guiding principles for compensation benchmarking for holding company</vt:lpstr>
      <vt:lpstr>PowerPoint Presentation</vt:lpstr>
      <vt:lpstr>The Government Vision &amp; Policy along with existing regulations provide the framework for Corporate Governance in Bangladesh</vt:lpstr>
      <vt:lpstr>Board Governance practices in Bangladesh Utilities conform to Corporate Governance Framework </vt:lpstr>
      <vt:lpstr>Board Governance practices globally include higher representation of independent directors and focus on risk mitigation and compliance</vt:lpstr>
      <vt:lpstr>Globally firms have BoD from diversified fields; Holding Company may follow similar structure as its peers for Corporate Governance</vt:lpstr>
      <vt:lpstr>Proposed high level recommendations for roles and responsibilities of Board of Directors</vt:lpstr>
      <vt:lpstr>The Board of Directors will need to address key immediate priority areas for effective functioning of Holding Company</vt:lpstr>
      <vt:lpstr>PowerPoint Presentation</vt:lpstr>
      <vt:lpstr>PowerPoint Presentation</vt:lpstr>
      <vt:lpstr>Budgetary support from government</vt:lpstr>
      <vt:lpstr>Commercial assessment – Bulk supply business (1/3)</vt:lpstr>
      <vt:lpstr>Commercial assessment – Bulk supply business (2/3)</vt:lpstr>
      <vt:lpstr>Commercial assessment – Bulk supply business (3/3)</vt:lpstr>
      <vt:lpstr>Commercial assessment – Generation business (1/3)</vt:lpstr>
      <vt:lpstr>Commercial assessment – Generation business (2/3)</vt:lpstr>
      <vt:lpstr>Commercial assessment – Generation business (3/3)</vt:lpstr>
      <vt:lpstr>Diesel Power Plant details for cost comparison</vt:lpstr>
      <vt:lpstr>HFO Power Plant details for cost comparison</vt:lpstr>
      <vt:lpstr>Commercial assessment – Distribution business</vt:lpstr>
      <vt:lpstr>Commercial assessment – Distribution business</vt:lpstr>
      <vt:lpstr>Commercial assessment – Distribution business</vt:lpstr>
      <vt:lpstr>Key insight – Relationship of BPDB with its subsidiaries (1/2)</vt:lpstr>
      <vt:lpstr>Key insight – Relationship of BPDB with its subsidiaries (2/2)</vt:lpstr>
      <vt:lpstr>PowerPoint Presentation</vt:lpstr>
      <vt:lpstr>APSCL Board Governance (1/2)</vt:lpstr>
      <vt:lpstr>APSCL Board Governance (2/2)</vt:lpstr>
      <vt:lpstr>NWPGCL Board Governance (1/2)</vt:lpstr>
      <vt:lpstr>NWPGCL Board Governance (2/2)</vt:lpstr>
      <vt:lpstr>NWPGCL – additional observations</vt:lpstr>
      <vt:lpstr>PGCB Board Governance (1/2)</vt:lpstr>
      <vt:lpstr>PGCB Board Governance (2/2)</vt:lpstr>
      <vt:lpstr>EGCB Board Governance (1/2)</vt:lpstr>
      <vt:lpstr>EGCB Board Governance (2/2)</vt:lpstr>
      <vt:lpstr>WZPDCL Board Governance (1/2)</vt:lpstr>
      <vt:lpstr>WZPDCL Board Governance (2/2)</vt:lpstr>
      <vt:lpstr>NWZPDCL Board Governance (1/2)</vt:lpstr>
      <vt:lpstr>NWZPDCL Board Governance (2/2)</vt:lpstr>
      <vt:lpstr>Key insight – Relationship of BPDB with its subsidiaries (1/2)</vt:lpstr>
      <vt:lpstr>Key insight – Relationship of BPDB with its subsidiaries (2/2)</vt:lpstr>
      <vt:lpstr>PowerPoint Presentation</vt:lpstr>
      <vt:lpstr>The Government’s key policy directives provide a clear direction towards corporatization and sustained financial viability of utilities</vt:lpstr>
      <vt:lpstr>Emerging trends in the national and regional power market</vt:lpstr>
      <vt:lpstr>The policies and sector trends require financial sustainability and integrated planning &amp; nodal management in the sector</vt:lpstr>
      <vt:lpstr>Key policy directives on Bangladesh power sector reform  Vision Statement – Power Division, MOPEMR, GOB</vt:lpstr>
      <vt:lpstr>Key policy directives on Bangladesh power sector reform National Energy Policy, 2004 (1/4)</vt:lpstr>
      <vt:lpstr>Key policy directives on Bangladesh power sector reform National Energy Policy, 2004 (2/4)</vt:lpstr>
      <vt:lpstr>Key policy directives on Bangladesh power sector reform National Energy Policy, 2004 (3/4)</vt:lpstr>
      <vt:lpstr>Key policy directives on Bangladesh power sector reform National Energy Policy, 2004 (4/4)</vt:lpstr>
      <vt:lpstr>PowerPoint Presentation</vt:lpstr>
      <vt:lpstr>Proposed High-Level Roles &amp; Responsibilities under Administration Department (1/12)</vt:lpstr>
      <vt:lpstr>Proposed High-Level Roles &amp; Responsibilities under Administration Department (2/12)</vt:lpstr>
      <vt:lpstr>Proposed High-Level Roles &amp; Responsibilities under Administration Department (3/12)</vt:lpstr>
      <vt:lpstr>Proposed High-Level Roles &amp; Responsibilities under Administration Department (4/12)</vt:lpstr>
      <vt:lpstr>Proposed High-Level Roles &amp; Responsibilities under Administration Department (5/12)</vt:lpstr>
      <vt:lpstr>Proposed High-Level Roles &amp; Responsibilities under Administration Department (6/12)</vt:lpstr>
      <vt:lpstr>Proposed High-Level Roles &amp; Responsibilities under Administration Department (7/12)</vt:lpstr>
      <vt:lpstr>Proposed High-Level Roles &amp; Responsibilities under Administration Department (8/12)</vt:lpstr>
      <vt:lpstr>Proposed High-Level Roles &amp; Responsibilities under Administration Department (9/12)</vt:lpstr>
      <vt:lpstr>Proposed High-Level Roles &amp; Responsibilities under Administration Department (10/12)</vt:lpstr>
      <vt:lpstr>Proposed High-Level Roles &amp; Responsibilities under Administration Department (11/12)</vt:lpstr>
      <vt:lpstr>Proposed High-Level Roles &amp; Responsibilities under Administration Department (12/12)</vt:lpstr>
      <vt:lpstr>Proposed High-Level Roles &amp; Responsibilities under Finance Department (1/12)</vt:lpstr>
      <vt:lpstr>Proposed High-Level Roles &amp; Responsibilities under Finance Department (2/12)</vt:lpstr>
      <vt:lpstr>Proposed High-Level Roles &amp; Responsibilities under Finance Department (3/12)</vt:lpstr>
      <vt:lpstr>Proposed High-Level Roles &amp; Responsibilities under Finance Department (4/12)</vt:lpstr>
      <vt:lpstr>Proposed High-Level Roles &amp; Responsibilities under Finance Department (5/12)</vt:lpstr>
      <vt:lpstr>Proposed High-Level Roles &amp; Responsibilities under Finance Department (6/12)</vt:lpstr>
      <vt:lpstr>Proposed High-Level Roles &amp; Responsibilities under Finance Department (7/12)</vt:lpstr>
      <vt:lpstr>Proposed High-Level Roles &amp; Responsibilities under Finance Department (8/12)</vt:lpstr>
      <vt:lpstr>Proposed High-Level Roles &amp; Responsibilities under Finance Department (9/12)</vt:lpstr>
      <vt:lpstr>Proposed High-Level Roles &amp; Responsibilities under Finance Department (10/12)</vt:lpstr>
      <vt:lpstr>Proposed High-Level Roles &amp; Responsibilities under Finance Department (11/12)</vt:lpstr>
      <vt:lpstr>Proposed High-Level Roles &amp; Responsibilities under Finance Department (12/12)</vt:lpstr>
      <vt:lpstr>Proposed High-Level Roles &amp; Responsibilities under Distribution Department (1/6)</vt:lpstr>
      <vt:lpstr>Proposed High-Level Roles &amp; Responsibilities under Distribution Department (2/6)</vt:lpstr>
      <vt:lpstr>Proposed High-Level Roles &amp; Responsibilities under Distribution Department (3/6)</vt:lpstr>
      <vt:lpstr>Proposed High-Level Roles &amp; Responsibilities under Distribution Department (4/6)</vt:lpstr>
      <vt:lpstr>Proposed High-Level Roles &amp; Responsibilities under Distribution Department (5/6)</vt:lpstr>
      <vt:lpstr>Proposed High-Level Roles &amp; Responsibilities under Distribution Department (6/6)</vt:lpstr>
      <vt:lpstr>Proposed High-Level Roles &amp; Responsibilities under Commercial, Regulatory &amp; Bulk Supply Department (1/7)</vt:lpstr>
      <vt:lpstr>Proposed High-Level Roles &amp; Responsibilities under Commercial, Regulatory &amp; Bulk Supply Department (2/7)</vt:lpstr>
      <vt:lpstr>Proposed High-Level Roles &amp; Responsibilities under Commercial, Regulatory &amp; Bulk Supply Department (3/7)</vt:lpstr>
      <vt:lpstr>Proposed High-Level Roles &amp; Responsibilities under Commercial, Regulatory &amp; Bulk Supply Department (4/7)</vt:lpstr>
      <vt:lpstr>Proposed High-Level Roles &amp; Responsibilities under Commercial, Regulatory &amp; Bulk Supply Department (5/7)</vt:lpstr>
      <vt:lpstr>Proposed High-Level Roles &amp; Responsibilities under Commercial, Regulatory &amp; Bulk Supply Department (6/7)</vt:lpstr>
      <vt:lpstr>Proposed High-Level Roles &amp; Responsibilities under Commercial, Regulatory &amp; Bulk Supply Department (7/7)</vt:lpstr>
      <vt:lpstr>Proposed High-Level Roles &amp; Responsibilities under Planning &amp; Development Department (1/16)</vt:lpstr>
      <vt:lpstr>Proposed High-Level Roles &amp; Responsibilities under Planning &amp; Development Department (2/16)</vt:lpstr>
      <vt:lpstr>Proposed High-Level Roles &amp; Responsibilities under Planning &amp; Development Department (3/16)</vt:lpstr>
      <vt:lpstr>Proposed High-Level Roles &amp; Responsibilities under Planning &amp; Development Department (4/16)</vt:lpstr>
      <vt:lpstr>Proposed High-Level Roles &amp; Responsibilities under Planning &amp; Development Department (5/16)</vt:lpstr>
      <vt:lpstr>Proposed High-Level Roles &amp; Responsibilities under Planning &amp; Development Department (6/16)</vt:lpstr>
      <vt:lpstr>Proposed High-Level Roles &amp; Responsibilities under Planning &amp; Development Department (7/16)</vt:lpstr>
      <vt:lpstr>Proposed High-Level Roles &amp; Responsibilities under Planning &amp; Development Department (8/16)</vt:lpstr>
      <vt:lpstr>Proposed High-Level Roles &amp; Responsibilities under Planning &amp; Development Department (9/16)</vt:lpstr>
      <vt:lpstr>Proposed High-Level Roles &amp; Responsibilities under Planning &amp; Development Department (10/16)</vt:lpstr>
      <vt:lpstr>Proposed High-Level Roles &amp; Responsibilities under Planning &amp; Development Department (11/16)</vt:lpstr>
      <vt:lpstr>Proposed High-Level Roles &amp; Responsibilities under Planning &amp; Development Department (12/16)</vt:lpstr>
      <vt:lpstr>Proposed High-Level Roles &amp; Responsibilities under Planning &amp; Development Department (13/16)</vt:lpstr>
      <vt:lpstr>Proposed High-Level Roles &amp; Responsibilities under Planning &amp; Development Department (14/16)</vt:lpstr>
      <vt:lpstr>Proposed High-Level Roles &amp; Responsibilities under Planning &amp; Development Department (15/16)</vt:lpstr>
      <vt:lpstr>Proposed High-Level Roles &amp; Responsibilities under Planning &amp; Development Department (16/16)</vt:lpstr>
      <vt:lpstr>Proposed High-Level Roles &amp; Responsibilities under Company Affairs Department (1/5)</vt:lpstr>
      <vt:lpstr>Proposed High-Level Roles &amp; Responsibilities under Company Affairs Department (2/5)</vt:lpstr>
      <vt:lpstr>Proposed High-Level Roles &amp; Responsibilities under Company Affairs Department (3/5)</vt:lpstr>
      <vt:lpstr>Proposed High-Level Roles &amp; Responsibilities under Company Affairs Department (4/5)</vt:lpstr>
      <vt:lpstr>Proposed High-Level Roles &amp; Responsibilities under Company Affairs Department (5/5)</vt:lpstr>
      <vt:lpstr>Proposed High-Level Roles &amp; Responsibilities under Generation Department (1/7)</vt:lpstr>
      <vt:lpstr>Proposed High-Level Roles &amp; Responsibilities under Generation Department (2/7)</vt:lpstr>
      <vt:lpstr>Proposed High-Level Roles &amp; Responsibilities under Generation Department (3/7)</vt:lpstr>
      <vt:lpstr>Proposed High-Level Roles &amp; Responsibilities under Generation Department (4/7)</vt:lpstr>
      <vt:lpstr>Proposed High-Level Roles &amp; Responsibilities under Generation Department (5/7)</vt:lpstr>
      <vt:lpstr>Proposed High-Level Roles &amp; Responsibilities under Generation Department (6/7)</vt:lpstr>
      <vt:lpstr>Proposed High-Level Roles &amp; Responsibilities under Generation Department (7/7)</vt:lpstr>
      <vt:lpstr>Proposed High-Level Roles &amp; Responsibilities under other Departments (1/3)</vt:lpstr>
      <vt:lpstr>Proposed High-Level Roles &amp; Responsibilities under other Departments (2/3)</vt:lpstr>
      <vt:lpstr>Proposed High-Level Roles &amp; Responsibilities under other Departments (3/3)</vt:lpstr>
      <vt:lpstr>PowerPoint Presentation</vt:lpstr>
      <vt:lpstr>Proposed High Level Relationship for Planning &amp; Development</vt:lpstr>
      <vt:lpstr>Proposed High Level Relationship for Financial Management</vt:lpstr>
      <vt:lpstr>Proposed High Level Relationship for Monitoring &amp; Accountability</vt:lpstr>
      <vt:lpstr>Proposed High Level Relationship for HR &amp; Other Specialized Areas</vt:lpstr>
      <vt:lpstr>PowerPoint Presentation</vt:lpstr>
      <vt:lpstr>FRRP - Conversion of accumulated budgetary support and DSL liabilities to Restructuring Reserve </vt:lpstr>
      <vt:lpstr>Performance improvement measures</vt:lpstr>
      <vt:lpstr>Potential savings from performance improvement measures</vt:lpstr>
      <vt:lpstr>Benefits of proposed high-level value enablers</vt:lpstr>
      <vt:lpstr>PowerPoint Presentation</vt:lpstr>
      <vt:lpstr>Strengthening Functional Areas will allow Holding Company to improve business performance in line with FRRP commitments</vt:lpstr>
      <vt:lpstr>Specialized O&amp;M service offerings will allow holding company to utilize its expertise in improving plant performances across country</vt:lpstr>
      <vt:lpstr>High-level strengthening measures for Generation function of holding company</vt:lpstr>
      <vt:lpstr>High-level strengthening measures for distribution function of holding company</vt:lpstr>
      <vt:lpstr>High-level strengthening measures for Commercial and Regulatory functions of holding company</vt:lpstr>
      <vt:lpstr>High-level strengthening measures for Accounting &amp; Finance function of holding company</vt:lpstr>
      <vt:lpstr>High-level strengthening measures for HR function of holding company</vt:lpstr>
      <vt:lpstr>High-level strengthening measures for IT / MIS function of Holding Company</vt:lpstr>
      <vt:lpstr>PowerPoint Presentation</vt:lpstr>
      <vt:lpstr>High-level implementation plan – Industry structure and formation of holding company</vt:lpstr>
      <vt:lpstr>High-level implementation plan – Board arrangement of holding company</vt:lpstr>
      <vt:lpstr>High-level implementation plan – Coordination arrangement for the reform activities</vt:lpstr>
      <vt:lpstr>High-level implementation plan – Commercial arrangement of the holding company</vt:lpstr>
      <vt:lpstr>High-level implementation plan – Business process optimization and capacity building of the holding company</vt:lpstr>
      <vt:lpstr>High-level implementation plan – Board governance strengthening</vt:lpstr>
      <vt:lpstr>High-level implementation plan – Human resources management</vt:lpstr>
      <vt:lpstr>High-level implementation plan – Financial management</vt:lpstr>
      <vt:lpstr>High-level implementation plan – Corporate planning and strategy, System planning</vt:lpstr>
      <vt:lpstr>High-level implementation plan – Project planning and management</vt:lpstr>
      <vt:lpstr>High-level implementation plan – Procurement and inventory management</vt:lpstr>
      <vt:lpstr>High-level implementation plan – Regulatory and commercial affairs, and single-buyer activities</vt:lpstr>
      <vt:lpstr>High-level implementation plan – ICT strategy and implementation</vt:lpstr>
      <vt:lpstr>High-level implementation plan – Generation strengthening and Power plant asset management</vt:lpstr>
      <vt:lpstr>High-level implementation plan – Distribution strengthening</vt:lpstr>
      <vt:lpstr>High-level implementation plan – Performance monitoring, review and management</vt:lpstr>
      <vt:lpstr>High-level implementation plan – Risk management</vt:lpstr>
      <vt:lpstr>High-level implementation plan – Communication strategy</vt:lpstr>
      <vt:lpstr>High-level time-bound implementation plan (1/6)</vt:lpstr>
      <vt:lpstr>High-level time-bound implementation plan (2/6)</vt:lpstr>
      <vt:lpstr>High-level time-bound implementation plan (3/6)</vt:lpstr>
      <vt:lpstr>High-level time-bound implementation plan (4/6)</vt:lpstr>
      <vt:lpstr>High-level time-bound implementation plan (5/6)</vt:lpstr>
      <vt:lpstr>High-level time-bound implementation plan (6/6)</vt:lpstr>
      <vt:lpstr>PowerPoint Presentation</vt:lpstr>
      <vt:lpstr>Proposed High-Level Functional / Departmental Organogram of Holding Company</vt:lpstr>
      <vt:lpstr>Proposed High-Level Functional / Departmental Organogram under Administration</vt:lpstr>
      <vt:lpstr>Proposed High-Level Functional / Departmental Organogram under Finance</vt:lpstr>
      <vt:lpstr>Proposed High-Level Functional / Departmental Organogram under Distribution</vt:lpstr>
      <vt:lpstr>Proposed High-Level Functional / Departmental Organogram under Commercial, Regulatory &amp; Bulk Supply</vt:lpstr>
      <vt:lpstr>Proposed High-Level Functional / Departmental Organogram under Planning &amp; Development</vt:lpstr>
      <vt:lpstr>Proposed High-Level Functional / Departmental Organogram under Company Affairs</vt:lpstr>
      <vt:lpstr>Proposed High-Level Functional / Departmental Organogram under Generation</vt:lpstr>
      <vt:lpstr>PowerPoint Presentation</vt:lpstr>
      <vt:lpstr>High-level comparison of basic salaries for five sample grades of BPDB, EGCB, NWZPDCL, PGCB</vt:lpstr>
      <vt:lpstr>High-level comparison of two sample perquisites or benefits of BPDB, EGCB, NWZPDCL, PGCB</vt:lpstr>
      <vt:lpstr>Comparison of Basic Pay of BPDB and its select subsidiaries namely, EGCB, NWZPDCL and PGCB (1/2)</vt:lpstr>
      <vt:lpstr>Comparison of Basic Pay of BPDB and its select subsidiaries namely, EGCB, NWZPDCL and PGCB (2/2)</vt:lpstr>
      <vt:lpstr>Comparison of perquisites and benefits of BPDB and its select subsidiaries namely, EGCB, NWZPDCL and PGCB (1/4)</vt:lpstr>
      <vt:lpstr>Comparison of perquisites and benefits of BPDB and its select subsidiaries namely, EGCB, NWZPDCL and PGCB (2/4)</vt:lpstr>
      <vt:lpstr>Comparison of perquisites and benefits of BPDB and its select subsidiaries namely, EGCB, NWZPDCL and PGCB (3/4)</vt:lpstr>
      <vt:lpstr>Comparison of perquisites and benefits of BPDB and its select subsidiaries namely, EGCB, NWZPDCL and PGCB (4/4)</vt:lpstr>
      <vt:lpstr>Comparison of Terminal Benefits and Income Tax Liabilities of BPDB and its select subsidiaries namely, EGCB, NWZPDCL and PGCB</vt:lpstr>
      <vt:lpstr>PowerPoint Presentation</vt:lpstr>
    </vt:vector>
  </TitlesOfParts>
  <Company>Deloitte Touche Tohmatsu Services,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Khiroria, Adit (IN - Kolkata)</dc:creator>
  <cp:lastModifiedBy>Khiroria, Adit (IN - Kolkata)</cp:lastModifiedBy>
  <cp:revision>6534</cp:revision>
  <cp:lastPrinted>2017-03-01T11:55:08Z</cp:lastPrinted>
  <dcterms:created xsi:type="dcterms:W3CDTF">2016-06-13T07:02:02Z</dcterms:created>
  <dcterms:modified xsi:type="dcterms:W3CDTF">2017-11-22T19:16:10Z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_dlc_DocIdItemGuid">
    <vt:lpwstr>5a3771e1-9eac-4107-aab8-cb01ed80b2ad</vt:lpwstr>
  </property>
  <property fmtid="{D5CDD505-2E9C-101B-9397-08002B2CF9AE}" pid="4" name="Local Content Type">
    <vt:lpwstr/>
  </property>
  <property fmtid="{D5CDD505-2E9C-101B-9397-08002B2CF9AE}" pid="5" name="TaxKeyword">
    <vt:lpwstr/>
  </property>
  <property fmtid="{D5CDD505-2E9C-101B-9397-08002B2CF9AE}" pid="6" name="Geography">
    <vt:lpwstr>18;#India (52387)|a87c33bf-1037-46ea-adf3-4e511a076333</vt:lpwstr>
  </property>
  <property fmtid="{D5CDD505-2E9C-101B-9397-08002B2CF9AE}" pid="7" name="Global Client Services">
    <vt:lpwstr/>
  </property>
  <property fmtid="{D5CDD505-2E9C-101B-9397-08002B2CF9AE}" pid="8" name="Local Industry">
    <vt:lpwstr/>
  </property>
  <property fmtid="{D5CDD505-2E9C-101B-9397-08002B2CF9AE}" pid="9" name="Global Industry">
    <vt:lpwstr/>
  </property>
  <property fmtid="{D5CDD505-2E9C-101B-9397-08002B2CF9AE}" pid="10" name="Global Content Type">
    <vt:lpwstr/>
  </property>
  <property fmtid="{D5CDD505-2E9C-101B-9397-08002B2CF9AE}" pid="11" name="LanguageB">
    <vt:lpwstr>2;#English|b169a262-1aaa-4ccb-9acf-78a36c1d9bab</vt:lpwstr>
  </property>
  <property fmtid="{D5CDD505-2E9C-101B-9397-08002B2CF9AE}" pid="12" name="Local Client Services">
    <vt:lpwstr/>
  </property>
</Properties>
</file>