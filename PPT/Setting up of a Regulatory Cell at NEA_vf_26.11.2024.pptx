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 id="2147483781" r:id="rId2"/>
    <p:sldMasterId id="2147483964" r:id="rId3"/>
  </p:sldMasterIdLst>
  <p:notesMasterIdLst>
    <p:notesMasterId r:id="rId17"/>
  </p:notesMasterIdLst>
  <p:sldIdLst>
    <p:sldId id="954" r:id="rId4"/>
    <p:sldId id="955" r:id="rId5"/>
    <p:sldId id="1496" r:id="rId6"/>
    <p:sldId id="964" r:id="rId7"/>
    <p:sldId id="966" r:id="rId8"/>
    <p:sldId id="773" r:id="rId9"/>
    <p:sldId id="963" r:id="rId10"/>
    <p:sldId id="958" r:id="rId11"/>
    <p:sldId id="960" r:id="rId12"/>
    <p:sldId id="1497" r:id="rId13"/>
    <p:sldId id="1824" r:id="rId14"/>
    <p:sldId id="1840" r:id="rId15"/>
    <p:sldId id="1495" r:id="rId16"/>
  </p:sldIdLst>
  <p:sldSz cx="12192000" cy="6858000"/>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FC8CB56-16A2-4B7D-852C-543CEFFF7C3F}">
          <p14:sldIdLst>
            <p14:sldId id="954"/>
            <p14:sldId id="955"/>
            <p14:sldId id="1496"/>
            <p14:sldId id="964"/>
            <p14:sldId id="966"/>
            <p14:sldId id="773"/>
            <p14:sldId id="963"/>
            <p14:sldId id="958"/>
            <p14:sldId id="960"/>
            <p14:sldId id="1497"/>
            <p14:sldId id="1824"/>
            <p14:sldId id="1840"/>
            <p14:sldId id="149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3EF2B1-ACE0-95AC-DEE8-ECE019611B48}" name="Mani, Siddharth" initials="MS" userId="S::simani@DELOITTE.COM::ea703a10-db50-4df5-bf72-1a564ac3e5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ohanty, Sarthak (IN - Delhi)" initials="MS(-D" lastIdx="10" clrIdx="0"/>
  <p:cmAuthor id="2" name="Adhvaryu, Avishek (IN - Kolkata)" initials="AA(-K" lastIdx="1" clrIdx="1"/>
  <p:cmAuthor id="3" name="Mitra, Avijit (IN - Delhi)" initials="MA(-D" lastIdx="5" clrIdx="2"/>
  <p:cmAuthor id="4" name="Bhardwaj, Mohit  (IN - Delhi)" initials="BM(-D" lastIdx="3"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2CC"/>
    <a:srgbClr val="EDF4E8"/>
    <a:srgbClr val="00B050"/>
    <a:srgbClr val="B2FCD8"/>
    <a:srgbClr val="ED8B00"/>
    <a:srgbClr val="D9E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6A3F69-48AF-405E-A86F-DA4DEF337F1B}" v="31" dt="2024-11-26T10:39:45.3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447" autoAdjust="0"/>
  </p:normalViewPr>
  <p:slideViewPr>
    <p:cSldViewPr snapToGrid="0">
      <p:cViewPr varScale="1">
        <p:scale>
          <a:sx n="81" d="100"/>
          <a:sy n="81" d="100"/>
        </p:scale>
        <p:origin x="648"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commentAuthors" Target="commentAuthors.xml"/><Relationship Id="rId26" Type="http://schemas.openxmlformats.org/officeDocument/2006/relationships/customXml" Target="../customXml/item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6/11/relationships/changesInfo" Target="changesInfos/changesInfo1.xml"/><Relationship Id="rId28"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 Id="rId27"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 Siddharth" userId="ea703a10-db50-4df5-bf72-1a564ac3e541" providerId="ADAL" clId="{AB6A3F69-48AF-405E-A86F-DA4DEF337F1B}"/>
    <pc:docChg chg="custSel modSld sldOrd modMainMaster">
      <pc:chgData name="Mani, Siddharth" userId="ea703a10-db50-4df5-bf72-1a564ac3e541" providerId="ADAL" clId="{AB6A3F69-48AF-405E-A86F-DA4DEF337F1B}" dt="2024-11-26T11:07:45.052" v="107"/>
      <pc:docMkLst>
        <pc:docMk/>
      </pc:docMkLst>
      <pc:sldChg chg="addSp delSp modSp mod">
        <pc:chgData name="Mani, Siddharth" userId="ea703a10-db50-4df5-bf72-1a564ac3e541" providerId="ADAL" clId="{AB6A3F69-48AF-405E-A86F-DA4DEF337F1B}" dt="2024-11-26T06:52:40.757" v="50" actId="1076"/>
        <pc:sldMkLst>
          <pc:docMk/>
          <pc:sldMk cId="289173355" sldId="954"/>
        </pc:sldMkLst>
        <pc:spChg chg="mod">
          <ac:chgData name="Mani, Siddharth" userId="ea703a10-db50-4df5-bf72-1a564ac3e541" providerId="ADAL" clId="{AB6A3F69-48AF-405E-A86F-DA4DEF337F1B}" dt="2024-11-26T06:52:40.757" v="50" actId="1076"/>
          <ac:spMkLst>
            <pc:docMk/>
            <pc:sldMk cId="289173355" sldId="954"/>
            <ac:spMk id="4" creationId="{00000000-0000-0000-0000-000000000000}"/>
          </ac:spMkLst>
        </pc:spChg>
        <pc:spChg chg="del">
          <ac:chgData name="Mani, Siddharth" userId="ea703a10-db50-4df5-bf72-1a564ac3e541" providerId="ADAL" clId="{AB6A3F69-48AF-405E-A86F-DA4DEF337F1B}" dt="2024-11-26T06:39:26.822" v="0" actId="478"/>
          <ac:spMkLst>
            <pc:docMk/>
            <pc:sldMk cId="289173355" sldId="954"/>
            <ac:spMk id="5" creationId="{00000000-0000-0000-0000-000000000000}"/>
          </ac:spMkLst>
        </pc:spChg>
        <pc:spChg chg="add del mod">
          <ac:chgData name="Mani, Siddharth" userId="ea703a10-db50-4df5-bf72-1a564ac3e541" providerId="ADAL" clId="{AB6A3F69-48AF-405E-A86F-DA4DEF337F1B}" dt="2024-11-26T06:39:30.533" v="1" actId="478"/>
          <ac:spMkLst>
            <pc:docMk/>
            <pc:sldMk cId="289173355" sldId="954"/>
            <ac:spMk id="6" creationId="{A4FF03ED-3682-4C02-5632-78454BDA001A}"/>
          </ac:spMkLst>
        </pc:spChg>
        <pc:spChg chg="add mod">
          <ac:chgData name="Mani, Siddharth" userId="ea703a10-db50-4df5-bf72-1a564ac3e541" providerId="ADAL" clId="{AB6A3F69-48AF-405E-A86F-DA4DEF337F1B}" dt="2024-11-26T06:52:30.375" v="49" actId="207"/>
          <ac:spMkLst>
            <pc:docMk/>
            <pc:sldMk cId="289173355" sldId="954"/>
            <ac:spMk id="7" creationId="{64E20115-661E-F388-BEAB-F98159F2C7C2}"/>
          </ac:spMkLst>
        </pc:spChg>
      </pc:sldChg>
      <pc:sldChg chg="delCm">
        <pc:chgData name="Mani, Siddharth" userId="ea703a10-db50-4df5-bf72-1a564ac3e541" providerId="ADAL" clId="{AB6A3F69-48AF-405E-A86F-DA4DEF337F1B}" dt="2024-11-26T06:42:33.564" v="34"/>
        <pc:sldMkLst>
          <pc:docMk/>
          <pc:sldMk cId="344182722" sldId="964"/>
        </pc:sldMkLst>
        <pc:extLst>
          <p:ext xmlns:p="http://schemas.openxmlformats.org/presentationml/2006/main" uri="{D6D511B9-2390-475A-947B-AFAB55BFBCF1}">
            <pc226:cmChg xmlns:pc226="http://schemas.microsoft.com/office/powerpoint/2022/06/main/command" chg="del">
              <pc226:chgData name="Mani, Siddharth" userId="ea703a10-db50-4df5-bf72-1a564ac3e541" providerId="ADAL" clId="{AB6A3F69-48AF-405E-A86F-DA4DEF337F1B}" dt="2024-11-26T06:42:33.564" v="34"/>
              <pc2:cmMkLst xmlns:pc2="http://schemas.microsoft.com/office/powerpoint/2019/9/main/command">
                <pc:docMk/>
                <pc:sldMk cId="344182722" sldId="964"/>
                <pc2:cmMk id="{5D377A48-2B36-4B99-ABD4-EC984515783F}"/>
              </pc2:cmMkLst>
            </pc226:cmChg>
          </p:ext>
        </pc:extLst>
      </pc:sldChg>
      <pc:sldChg chg="ord">
        <pc:chgData name="Mani, Siddharth" userId="ea703a10-db50-4df5-bf72-1a564ac3e541" providerId="ADAL" clId="{AB6A3F69-48AF-405E-A86F-DA4DEF337F1B}" dt="2024-11-26T11:07:45.052" v="107"/>
        <pc:sldMkLst>
          <pc:docMk/>
          <pc:sldMk cId="882790875" sldId="966"/>
        </pc:sldMkLst>
      </pc:sldChg>
      <pc:sldChg chg="modSp mod">
        <pc:chgData name="Mani, Siddharth" userId="ea703a10-db50-4df5-bf72-1a564ac3e541" providerId="ADAL" clId="{AB6A3F69-48AF-405E-A86F-DA4DEF337F1B}" dt="2024-11-26T06:42:21.602" v="33" actId="403"/>
        <pc:sldMkLst>
          <pc:docMk/>
          <pc:sldMk cId="730648461" sldId="1495"/>
        </pc:sldMkLst>
        <pc:spChg chg="mod">
          <ac:chgData name="Mani, Siddharth" userId="ea703a10-db50-4df5-bf72-1a564ac3e541" providerId="ADAL" clId="{AB6A3F69-48AF-405E-A86F-DA4DEF337F1B}" dt="2024-11-26T06:42:21.602" v="33" actId="403"/>
          <ac:spMkLst>
            <pc:docMk/>
            <pc:sldMk cId="730648461" sldId="1495"/>
            <ac:spMk id="3" creationId="{00000000-0000-0000-0000-000000000000}"/>
          </ac:spMkLst>
        </pc:spChg>
      </pc:sldChg>
      <pc:sldChg chg="addSp modSp mod">
        <pc:chgData name="Mani, Siddharth" userId="ea703a10-db50-4df5-bf72-1a564ac3e541" providerId="ADAL" clId="{AB6A3F69-48AF-405E-A86F-DA4DEF337F1B}" dt="2024-11-26T10:40:15.356" v="105" actId="20577"/>
        <pc:sldMkLst>
          <pc:docMk/>
          <pc:sldMk cId="1061628682" sldId="1824"/>
        </pc:sldMkLst>
        <pc:spChg chg="add mod">
          <ac:chgData name="Mani, Siddharth" userId="ea703a10-db50-4df5-bf72-1a564ac3e541" providerId="ADAL" clId="{AB6A3F69-48AF-405E-A86F-DA4DEF337F1B}" dt="2024-11-26T10:39:01.990" v="76" actId="255"/>
          <ac:spMkLst>
            <pc:docMk/>
            <pc:sldMk cId="1061628682" sldId="1824"/>
            <ac:spMk id="2" creationId="{3DD5ED06-2C0B-1B89-F076-FA2C97687E14}"/>
          </ac:spMkLst>
        </pc:spChg>
        <pc:spChg chg="add mod">
          <ac:chgData name="Mani, Siddharth" userId="ea703a10-db50-4df5-bf72-1a564ac3e541" providerId="ADAL" clId="{AB6A3F69-48AF-405E-A86F-DA4DEF337F1B}" dt="2024-11-26T10:39:41.807" v="86" actId="20577"/>
          <ac:spMkLst>
            <pc:docMk/>
            <pc:sldMk cId="1061628682" sldId="1824"/>
            <ac:spMk id="3" creationId="{D9BAC755-6859-72EE-4BC0-2597F0CFDF96}"/>
          </ac:spMkLst>
        </pc:spChg>
        <pc:spChg chg="add mod">
          <ac:chgData name="Mani, Siddharth" userId="ea703a10-db50-4df5-bf72-1a564ac3e541" providerId="ADAL" clId="{AB6A3F69-48AF-405E-A86F-DA4DEF337F1B}" dt="2024-11-26T10:40:15.356" v="105" actId="20577"/>
          <ac:spMkLst>
            <pc:docMk/>
            <pc:sldMk cId="1061628682" sldId="1824"/>
            <ac:spMk id="6" creationId="{B64AA691-E088-0FF3-6796-A13EA08A3DBF}"/>
          </ac:spMkLst>
        </pc:spChg>
      </pc:sldChg>
      <pc:sldMasterChg chg="modSldLayout">
        <pc:chgData name="Mani, Siddharth" userId="ea703a10-db50-4df5-bf72-1a564ac3e541" providerId="ADAL" clId="{AB6A3F69-48AF-405E-A86F-DA4DEF337F1B}" dt="2024-11-26T06:39:48.391" v="3" actId="478"/>
        <pc:sldMasterMkLst>
          <pc:docMk/>
          <pc:sldMasterMk cId="3316117168" sldId="2147483692"/>
        </pc:sldMasterMkLst>
        <pc:sldLayoutChg chg="delSp">
          <pc:chgData name="Mani, Siddharth" userId="ea703a10-db50-4df5-bf72-1a564ac3e541" providerId="ADAL" clId="{AB6A3F69-48AF-405E-A86F-DA4DEF337F1B}" dt="2024-11-26T06:39:45.604" v="2" actId="478"/>
          <pc:sldLayoutMkLst>
            <pc:docMk/>
            <pc:sldMasterMk cId="3316117168" sldId="2147483692"/>
            <pc:sldLayoutMk cId="3533743417" sldId="2147483693"/>
          </pc:sldLayoutMkLst>
          <pc:grpChg chg="del">
            <ac:chgData name="Mani, Siddharth" userId="ea703a10-db50-4df5-bf72-1a564ac3e541" providerId="ADAL" clId="{AB6A3F69-48AF-405E-A86F-DA4DEF337F1B}" dt="2024-11-26T06:39:45.604" v="2" actId="478"/>
            <ac:grpSpMkLst>
              <pc:docMk/>
              <pc:sldMasterMk cId="3316117168" sldId="2147483692"/>
              <pc:sldLayoutMk cId="3533743417" sldId="2147483693"/>
              <ac:grpSpMk id="22" creationId="{00000000-0000-0000-0000-000000000000}"/>
            </ac:grpSpMkLst>
          </pc:grpChg>
        </pc:sldLayoutChg>
        <pc:sldLayoutChg chg="delSp">
          <pc:chgData name="Mani, Siddharth" userId="ea703a10-db50-4df5-bf72-1a564ac3e541" providerId="ADAL" clId="{AB6A3F69-48AF-405E-A86F-DA4DEF337F1B}" dt="2024-11-26T06:39:48.391" v="3" actId="478"/>
          <pc:sldLayoutMkLst>
            <pc:docMk/>
            <pc:sldMasterMk cId="3316117168" sldId="2147483692"/>
            <pc:sldLayoutMk cId="3101924234" sldId="2147483695"/>
          </pc:sldLayoutMkLst>
          <pc:grpChg chg="del">
            <ac:chgData name="Mani, Siddharth" userId="ea703a10-db50-4df5-bf72-1a564ac3e541" providerId="ADAL" clId="{AB6A3F69-48AF-405E-A86F-DA4DEF337F1B}" dt="2024-11-26T06:39:48.391" v="3" actId="478"/>
            <ac:grpSpMkLst>
              <pc:docMk/>
              <pc:sldMasterMk cId="3316117168" sldId="2147483692"/>
              <pc:sldLayoutMk cId="3101924234" sldId="2147483695"/>
              <ac:grpSpMk id="22" creationId="{00000000-0000-0000-0000-000000000000}"/>
            </ac:grpSpMkLst>
          </pc:grpChg>
        </pc:sldLayoutChg>
      </pc:sldMasterChg>
      <pc:sldMasterChg chg="modSldLayout">
        <pc:chgData name="Mani, Siddharth" userId="ea703a10-db50-4df5-bf72-1a564ac3e541" providerId="ADAL" clId="{AB6A3F69-48AF-405E-A86F-DA4DEF337F1B}" dt="2024-11-26T06:42:06.213" v="27" actId="403"/>
        <pc:sldMasterMkLst>
          <pc:docMk/>
          <pc:sldMasterMk cId="3825404343" sldId="2147483781"/>
        </pc:sldMasterMkLst>
        <pc:sldLayoutChg chg="delSp">
          <pc:chgData name="Mani, Siddharth" userId="ea703a10-db50-4df5-bf72-1a564ac3e541" providerId="ADAL" clId="{AB6A3F69-48AF-405E-A86F-DA4DEF337F1B}" dt="2024-11-26T06:40:17.930" v="5" actId="478"/>
          <pc:sldLayoutMkLst>
            <pc:docMk/>
            <pc:sldMasterMk cId="3825404343" sldId="2147483781"/>
            <pc:sldLayoutMk cId="894139795" sldId="2147483782"/>
          </pc:sldLayoutMkLst>
          <pc:grpChg chg="del">
            <ac:chgData name="Mani, Siddharth" userId="ea703a10-db50-4df5-bf72-1a564ac3e541" providerId="ADAL" clId="{AB6A3F69-48AF-405E-A86F-DA4DEF337F1B}" dt="2024-11-26T06:40:17.930" v="5" actId="478"/>
            <ac:grpSpMkLst>
              <pc:docMk/>
              <pc:sldMasterMk cId="3825404343" sldId="2147483781"/>
              <pc:sldLayoutMk cId="894139795" sldId="2147483782"/>
              <ac:grpSpMk id="22" creationId="{00000000-0000-0000-0000-000000000000}"/>
            </ac:grpSpMkLst>
          </pc:grpChg>
        </pc:sldLayoutChg>
        <pc:sldLayoutChg chg="delSp">
          <pc:chgData name="Mani, Siddharth" userId="ea703a10-db50-4df5-bf72-1a564ac3e541" providerId="ADAL" clId="{AB6A3F69-48AF-405E-A86F-DA4DEF337F1B}" dt="2024-11-26T06:40:20.626" v="6" actId="478"/>
          <pc:sldLayoutMkLst>
            <pc:docMk/>
            <pc:sldMasterMk cId="3825404343" sldId="2147483781"/>
            <pc:sldLayoutMk cId="2577008802" sldId="2147483784"/>
          </pc:sldLayoutMkLst>
          <pc:grpChg chg="del">
            <ac:chgData name="Mani, Siddharth" userId="ea703a10-db50-4df5-bf72-1a564ac3e541" providerId="ADAL" clId="{AB6A3F69-48AF-405E-A86F-DA4DEF337F1B}" dt="2024-11-26T06:40:20.626" v="6" actId="478"/>
            <ac:grpSpMkLst>
              <pc:docMk/>
              <pc:sldMasterMk cId="3825404343" sldId="2147483781"/>
              <pc:sldLayoutMk cId="2577008802" sldId="2147483784"/>
              <ac:grpSpMk id="22" creationId="{00000000-0000-0000-0000-000000000000}"/>
            </ac:grpSpMkLst>
          </pc:grpChg>
        </pc:sldLayoutChg>
        <pc:sldLayoutChg chg="delSp modSp">
          <pc:chgData name="Mani, Siddharth" userId="ea703a10-db50-4df5-bf72-1a564ac3e541" providerId="ADAL" clId="{AB6A3F69-48AF-405E-A86F-DA4DEF337F1B}" dt="2024-11-26T06:42:06.213" v="27" actId="403"/>
          <pc:sldLayoutMkLst>
            <pc:docMk/>
            <pc:sldMasterMk cId="3825404343" sldId="2147483781"/>
            <pc:sldLayoutMk cId="1642947705" sldId="2147483814"/>
          </pc:sldLayoutMkLst>
          <pc:spChg chg="mod">
            <ac:chgData name="Mani, Siddharth" userId="ea703a10-db50-4df5-bf72-1a564ac3e541" providerId="ADAL" clId="{AB6A3F69-48AF-405E-A86F-DA4DEF337F1B}" dt="2024-11-26T06:42:06.213" v="27" actId="403"/>
            <ac:spMkLst>
              <pc:docMk/>
              <pc:sldMasterMk cId="3825404343" sldId="2147483781"/>
              <pc:sldLayoutMk cId="1642947705" sldId="2147483814"/>
              <ac:spMk id="6" creationId="{00000000-0000-0000-0000-000000000000}"/>
            </ac:spMkLst>
          </pc:spChg>
          <pc:grpChg chg="del">
            <ac:chgData name="Mani, Siddharth" userId="ea703a10-db50-4df5-bf72-1a564ac3e541" providerId="ADAL" clId="{AB6A3F69-48AF-405E-A86F-DA4DEF337F1B}" dt="2024-11-26T06:41:57.541" v="9" actId="478"/>
            <ac:grpSpMkLst>
              <pc:docMk/>
              <pc:sldMasterMk cId="3825404343" sldId="2147483781"/>
              <pc:sldLayoutMk cId="1642947705" sldId="2147483814"/>
              <ac:grpSpMk id="20" creationId="{00000000-0000-0000-0000-000000000000}"/>
            </ac:grpSpMkLst>
          </pc:grpChg>
        </pc:sldLayoutChg>
      </pc:sldMasterChg>
      <pc:sldMasterChg chg="delSldLayout modSldLayout">
        <pc:chgData name="Mani, Siddharth" userId="ea703a10-db50-4df5-bf72-1a564ac3e541" providerId="ADAL" clId="{AB6A3F69-48AF-405E-A86F-DA4DEF337F1B}" dt="2024-11-26T06:51:04.572" v="47" actId="2696"/>
        <pc:sldMasterMkLst>
          <pc:docMk/>
          <pc:sldMasterMk cId="3949547354" sldId="2147483964"/>
        </pc:sldMasterMkLst>
        <pc:sldLayoutChg chg="delSp">
          <pc:chgData name="Mani, Siddharth" userId="ea703a10-db50-4df5-bf72-1a564ac3e541" providerId="ADAL" clId="{AB6A3F69-48AF-405E-A86F-DA4DEF337F1B}" dt="2024-11-26T06:40:02.349" v="4" actId="478"/>
          <pc:sldLayoutMkLst>
            <pc:docMk/>
            <pc:sldMasterMk cId="3949547354" sldId="2147483964"/>
            <pc:sldLayoutMk cId="4268048980" sldId="2147483966"/>
          </pc:sldLayoutMkLst>
          <pc:grpChg chg="del">
            <ac:chgData name="Mani, Siddharth" userId="ea703a10-db50-4df5-bf72-1a564ac3e541" providerId="ADAL" clId="{AB6A3F69-48AF-405E-A86F-DA4DEF337F1B}" dt="2024-11-26T06:40:02.349" v="4" actId="478"/>
            <ac:grpSpMkLst>
              <pc:docMk/>
              <pc:sldMasterMk cId="3949547354" sldId="2147483964"/>
              <pc:sldLayoutMk cId="4268048980" sldId="2147483966"/>
              <ac:grpSpMk id="19" creationId="{00000000-0000-0000-0000-000000000000}"/>
            </ac:grpSpMkLst>
          </pc:grpChg>
        </pc:sldLayoutChg>
        <pc:sldLayoutChg chg="delSp">
          <pc:chgData name="Mani, Siddharth" userId="ea703a10-db50-4df5-bf72-1a564ac3e541" providerId="ADAL" clId="{AB6A3F69-48AF-405E-A86F-DA4DEF337F1B}" dt="2024-11-26T06:40:34.428" v="7" actId="478"/>
          <pc:sldLayoutMkLst>
            <pc:docMk/>
            <pc:sldMasterMk cId="3949547354" sldId="2147483964"/>
            <pc:sldLayoutMk cId="686987225" sldId="2147483974"/>
          </pc:sldLayoutMkLst>
          <pc:grpChg chg="del">
            <ac:chgData name="Mani, Siddharth" userId="ea703a10-db50-4df5-bf72-1a564ac3e541" providerId="ADAL" clId="{AB6A3F69-48AF-405E-A86F-DA4DEF337F1B}" dt="2024-11-26T06:40:34.428" v="7" actId="478"/>
            <ac:grpSpMkLst>
              <pc:docMk/>
              <pc:sldMasterMk cId="3949547354" sldId="2147483964"/>
              <pc:sldLayoutMk cId="686987225" sldId="2147483974"/>
              <ac:grpSpMk id="22" creationId="{00000000-0000-0000-0000-000000000000}"/>
            </ac:grpSpMkLst>
          </pc:grpChg>
        </pc:sldLayoutChg>
        <pc:sldLayoutChg chg="delSp">
          <pc:chgData name="Mani, Siddharth" userId="ea703a10-db50-4df5-bf72-1a564ac3e541" providerId="ADAL" clId="{AB6A3F69-48AF-405E-A86F-DA4DEF337F1B}" dt="2024-11-26T06:40:36.896" v="8" actId="478"/>
          <pc:sldLayoutMkLst>
            <pc:docMk/>
            <pc:sldMasterMk cId="3949547354" sldId="2147483964"/>
            <pc:sldLayoutMk cId="1990348100" sldId="2147483975"/>
          </pc:sldLayoutMkLst>
          <pc:grpChg chg="del">
            <ac:chgData name="Mani, Siddharth" userId="ea703a10-db50-4df5-bf72-1a564ac3e541" providerId="ADAL" clId="{AB6A3F69-48AF-405E-A86F-DA4DEF337F1B}" dt="2024-11-26T06:40:36.896" v="8" actId="478"/>
            <ac:grpSpMkLst>
              <pc:docMk/>
              <pc:sldMasterMk cId="3949547354" sldId="2147483964"/>
              <pc:sldLayoutMk cId="1990348100" sldId="2147483975"/>
              <ac:grpSpMk id="16" creationId="{00000000-0000-0000-0000-000000000000}"/>
            </ac:grpSpMkLst>
          </pc:grpChg>
        </pc:sldLayoutChg>
        <pc:sldLayoutChg chg="delSp">
          <pc:chgData name="Mani, Siddharth" userId="ea703a10-db50-4df5-bf72-1a564ac3e541" providerId="ADAL" clId="{AB6A3F69-48AF-405E-A86F-DA4DEF337F1B}" dt="2024-11-26T06:50:49.028" v="35" actId="478"/>
          <pc:sldLayoutMkLst>
            <pc:docMk/>
            <pc:sldMasterMk cId="3949547354" sldId="2147483964"/>
            <pc:sldLayoutMk cId="1504462341" sldId="2147483976"/>
          </pc:sldLayoutMkLst>
          <pc:grpChg chg="del">
            <ac:chgData name="Mani, Siddharth" userId="ea703a10-db50-4df5-bf72-1a564ac3e541" providerId="ADAL" clId="{AB6A3F69-48AF-405E-A86F-DA4DEF337F1B}" dt="2024-11-26T06:50:49.028" v="35" actId="478"/>
            <ac:grpSpMkLst>
              <pc:docMk/>
              <pc:sldMasterMk cId="3949547354" sldId="2147483964"/>
              <pc:sldLayoutMk cId="1504462341" sldId="2147483976"/>
              <ac:grpSpMk id="16" creationId="{00000000-0000-0000-0000-000000000000}"/>
            </ac:grpSpMkLst>
          </pc:grpChg>
        </pc:sldLayoutChg>
        <pc:sldLayoutChg chg="delSp">
          <pc:chgData name="Mani, Siddharth" userId="ea703a10-db50-4df5-bf72-1a564ac3e541" providerId="ADAL" clId="{AB6A3F69-48AF-405E-A86F-DA4DEF337F1B}" dt="2024-11-26T06:50:56.532" v="36" actId="478"/>
          <pc:sldLayoutMkLst>
            <pc:docMk/>
            <pc:sldMasterMk cId="3949547354" sldId="2147483964"/>
            <pc:sldLayoutMk cId="1848064875" sldId="2147483986"/>
          </pc:sldLayoutMkLst>
          <pc:grpChg chg="del">
            <ac:chgData name="Mani, Siddharth" userId="ea703a10-db50-4df5-bf72-1a564ac3e541" providerId="ADAL" clId="{AB6A3F69-48AF-405E-A86F-DA4DEF337F1B}" dt="2024-11-26T06:50:56.532" v="36" actId="478"/>
            <ac:grpSpMkLst>
              <pc:docMk/>
              <pc:sldMasterMk cId="3949547354" sldId="2147483964"/>
              <pc:sldLayoutMk cId="1848064875" sldId="2147483986"/>
              <ac:grpSpMk id="19" creationId="{00000000-0000-0000-0000-000000000000}"/>
            </ac:grpSpMkLst>
          </pc:grpChg>
        </pc:sldLayoutChg>
        <pc:sldLayoutChg chg="del">
          <pc:chgData name="Mani, Siddharth" userId="ea703a10-db50-4df5-bf72-1a564ac3e541" providerId="ADAL" clId="{AB6A3F69-48AF-405E-A86F-DA4DEF337F1B}" dt="2024-11-26T06:51:04.460" v="37" actId="2696"/>
          <pc:sldLayoutMkLst>
            <pc:docMk/>
            <pc:sldMasterMk cId="3949547354" sldId="2147483964"/>
            <pc:sldLayoutMk cId="985738612" sldId="2147483995"/>
          </pc:sldLayoutMkLst>
        </pc:sldLayoutChg>
        <pc:sldLayoutChg chg="del">
          <pc:chgData name="Mani, Siddharth" userId="ea703a10-db50-4df5-bf72-1a564ac3e541" providerId="ADAL" clId="{AB6A3F69-48AF-405E-A86F-DA4DEF337F1B}" dt="2024-11-26T06:51:04.468" v="38" actId="2696"/>
          <pc:sldLayoutMkLst>
            <pc:docMk/>
            <pc:sldMasterMk cId="3949547354" sldId="2147483964"/>
            <pc:sldLayoutMk cId="1113610663" sldId="2147483996"/>
          </pc:sldLayoutMkLst>
        </pc:sldLayoutChg>
        <pc:sldLayoutChg chg="del">
          <pc:chgData name="Mani, Siddharth" userId="ea703a10-db50-4df5-bf72-1a564ac3e541" providerId="ADAL" clId="{AB6A3F69-48AF-405E-A86F-DA4DEF337F1B}" dt="2024-11-26T06:51:04.482" v="39" actId="2696"/>
          <pc:sldLayoutMkLst>
            <pc:docMk/>
            <pc:sldMasterMk cId="3949547354" sldId="2147483964"/>
            <pc:sldLayoutMk cId="2626395804" sldId="2147483997"/>
          </pc:sldLayoutMkLst>
        </pc:sldLayoutChg>
        <pc:sldLayoutChg chg="del">
          <pc:chgData name="Mani, Siddharth" userId="ea703a10-db50-4df5-bf72-1a564ac3e541" providerId="ADAL" clId="{AB6A3F69-48AF-405E-A86F-DA4DEF337F1B}" dt="2024-11-26T06:51:04.493" v="40" actId="2696"/>
          <pc:sldLayoutMkLst>
            <pc:docMk/>
            <pc:sldMasterMk cId="3949547354" sldId="2147483964"/>
            <pc:sldLayoutMk cId="1633357592" sldId="2147483998"/>
          </pc:sldLayoutMkLst>
        </pc:sldLayoutChg>
        <pc:sldLayoutChg chg="del">
          <pc:chgData name="Mani, Siddharth" userId="ea703a10-db50-4df5-bf72-1a564ac3e541" providerId="ADAL" clId="{AB6A3F69-48AF-405E-A86F-DA4DEF337F1B}" dt="2024-11-26T06:51:04.504" v="41" actId="2696"/>
          <pc:sldLayoutMkLst>
            <pc:docMk/>
            <pc:sldMasterMk cId="3949547354" sldId="2147483964"/>
            <pc:sldLayoutMk cId="3213606738" sldId="2147483999"/>
          </pc:sldLayoutMkLst>
        </pc:sldLayoutChg>
        <pc:sldLayoutChg chg="del">
          <pc:chgData name="Mani, Siddharth" userId="ea703a10-db50-4df5-bf72-1a564ac3e541" providerId="ADAL" clId="{AB6A3F69-48AF-405E-A86F-DA4DEF337F1B}" dt="2024-11-26T06:51:04.514" v="42" actId="2696"/>
          <pc:sldLayoutMkLst>
            <pc:docMk/>
            <pc:sldMasterMk cId="3949547354" sldId="2147483964"/>
            <pc:sldLayoutMk cId="538564921" sldId="2147484000"/>
          </pc:sldLayoutMkLst>
        </pc:sldLayoutChg>
        <pc:sldLayoutChg chg="del">
          <pc:chgData name="Mani, Siddharth" userId="ea703a10-db50-4df5-bf72-1a564ac3e541" providerId="ADAL" clId="{AB6A3F69-48AF-405E-A86F-DA4DEF337F1B}" dt="2024-11-26T06:51:04.530" v="43" actId="2696"/>
          <pc:sldLayoutMkLst>
            <pc:docMk/>
            <pc:sldMasterMk cId="3949547354" sldId="2147483964"/>
            <pc:sldLayoutMk cId="3429510145" sldId="2147484001"/>
          </pc:sldLayoutMkLst>
        </pc:sldLayoutChg>
        <pc:sldLayoutChg chg="del">
          <pc:chgData name="Mani, Siddharth" userId="ea703a10-db50-4df5-bf72-1a564ac3e541" providerId="ADAL" clId="{AB6A3F69-48AF-405E-A86F-DA4DEF337F1B}" dt="2024-11-26T06:51:04.542" v="44" actId="2696"/>
          <pc:sldLayoutMkLst>
            <pc:docMk/>
            <pc:sldMasterMk cId="3949547354" sldId="2147483964"/>
            <pc:sldLayoutMk cId="2547809075" sldId="2147484002"/>
          </pc:sldLayoutMkLst>
        </pc:sldLayoutChg>
        <pc:sldLayoutChg chg="del">
          <pc:chgData name="Mani, Siddharth" userId="ea703a10-db50-4df5-bf72-1a564ac3e541" providerId="ADAL" clId="{AB6A3F69-48AF-405E-A86F-DA4DEF337F1B}" dt="2024-11-26T06:51:04.550" v="45" actId="2696"/>
          <pc:sldLayoutMkLst>
            <pc:docMk/>
            <pc:sldMasterMk cId="3949547354" sldId="2147483964"/>
            <pc:sldLayoutMk cId="1528371037" sldId="2147484003"/>
          </pc:sldLayoutMkLst>
        </pc:sldLayoutChg>
        <pc:sldLayoutChg chg="del">
          <pc:chgData name="Mani, Siddharth" userId="ea703a10-db50-4df5-bf72-1a564ac3e541" providerId="ADAL" clId="{AB6A3F69-48AF-405E-A86F-DA4DEF337F1B}" dt="2024-11-26T06:51:04.563" v="46" actId="2696"/>
          <pc:sldLayoutMkLst>
            <pc:docMk/>
            <pc:sldMasterMk cId="3949547354" sldId="2147483964"/>
            <pc:sldLayoutMk cId="2464220738" sldId="2147484004"/>
          </pc:sldLayoutMkLst>
        </pc:sldLayoutChg>
        <pc:sldLayoutChg chg="del">
          <pc:chgData name="Mani, Siddharth" userId="ea703a10-db50-4df5-bf72-1a564ac3e541" providerId="ADAL" clId="{AB6A3F69-48AF-405E-A86F-DA4DEF337F1B}" dt="2024-11-26T06:51:04.572" v="47" actId="2696"/>
          <pc:sldLayoutMkLst>
            <pc:docMk/>
            <pc:sldMasterMk cId="3949547354" sldId="2147483964"/>
            <pc:sldLayoutMk cId="3467946336" sldId="2147484005"/>
          </pc:sldLayoutMkLst>
        </pc:sldLayoutChg>
      </pc:sldMasterChg>
    </pc:docChg>
  </pc:docChgLst>
  <pc:docChgLst>
    <pc:chgData name="Mani, Siddharth" userId="ea703a10-db50-4df5-bf72-1a564ac3e541" providerId="ADAL" clId="{CBEAC55B-FFD2-4120-A552-6C63E8494B6E}"/>
    <pc:docChg chg="undo custSel modSld">
      <pc:chgData name="Mani, Siddharth" userId="ea703a10-db50-4df5-bf72-1a564ac3e541" providerId="ADAL" clId="{CBEAC55B-FFD2-4120-A552-6C63E8494B6E}" dt="2024-11-24T16:47:38.891" v="216" actId="20577"/>
      <pc:docMkLst>
        <pc:docMk/>
      </pc:docMkLst>
      <pc:sldChg chg="modSp mod">
        <pc:chgData name="Mani, Siddharth" userId="ea703a10-db50-4df5-bf72-1a564ac3e541" providerId="ADAL" clId="{CBEAC55B-FFD2-4120-A552-6C63E8494B6E}" dt="2024-11-24T16:43:26.605" v="202" actId="20577"/>
        <pc:sldMkLst>
          <pc:docMk/>
          <pc:sldMk cId="1968547638" sldId="773"/>
        </pc:sldMkLst>
        <pc:graphicFrameChg chg="modGraphic">
          <ac:chgData name="Mani, Siddharth" userId="ea703a10-db50-4df5-bf72-1a564ac3e541" providerId="ADAL" clId="{CBEAC55B-FFD2-4120-A552-6C63E8494B6E}" dt="2024-11-24T16:43:26.605" v="202" actId="20577"/>
          <ac:graphicFrameMkLst>
            <pc:docMk/>
            <pc:sldMk cId="1968547638" sldId="773"/>
            <ac:graphicFrameMk id="56" creationId="{F9F82FF7-668C-95A4-92A9-CB4B8F5450E0}"/>
          </ac:graphicFrameMkLst>
        </pc:graphicFrameChg>
      </pc:sldChg>
      <pc:sldChg chg="modSp mod">
        <pc:chgData name="Mani, Siddharth" userId="ea703a10-db50-4df5-bf72-1a564ac3e541" providerId="ADAL" clId="{CBEAC55B-FFD2-4120-A552-6C63E8494B6E}" dt="2024-11-24T16:28:46.997" v="32" actId="207"/>
        <pc:sldMkLst>
          <pc:docMk/>
          <pc:sldMk cId="289173355" sldId="954"/>
        </pc:sldMkLst>
        <pc:spChg chg="mod">
          <ac:chgData name="Mani, Siddharth" userId="ea703a10-db50-4df5-bf72-1a564ac3e541" providerId="ADAL" clId="{CBEAC55B-FFD2-4120-A552-6C63E8494B6E}" dt="2024-11-24T16:28:46.997" v="32" actId="207"/>
          <ac:spMkLst>
            <pc:docMk/>
            <pc:sldMk cId="289173355" sldId="954"/>
            <ac:spMk id="4" creationId="{00000000-0000-0000-0000-000000000000}"/>
          </ac:spMkLst>
        </pc:spChg>
      </pc:sldChg>
      <pc:sldChg chg="modSp mod">
        <pc:chgData name="Mani, Siddharth" userId="ea703a10-db50-4df5-bf72-1a564ac3e541" providerId="ADAL" clId="{CBEAC55B-FFD2-4120-A552-6C63E8494B6E}" dt="2024-11-24T16:31:58.951" v="182" actId="20577"/>
        <pc:sldMkLst>
          <pc:docMk/>
          <pc:sldMk cId="344182722" sldId="964"/>
        </pc:sldMkLst>
        <pc:spChg chg="mod">
          <ac:chgData name="Mani, Siddharth" userId="ea703a10-db50-4df5-bf72-1a564ac3e541" providerId="ADAL" clId="{CBEAC55B-FFD2-4120-A552-6C63E8494B6E}" dt="2024-11-24T16:30:48.538" v="136" actId="20577"/>
          <ac:spMkLst>
            <pc:docMk/>
            <pc:sldMk cId="344182722" sldId="964"/>
            <ac:spMk id="32" creationId="{00000000-0000-0000-0000-000000000000}"/>
          </ac:spMkLst>
        </pc:spChg>
        <pc:spChg chg="mod">
          <ac:chgData name="Mani, Siddharth" userId="ea703a10-db50-4df5-bf72-1a564ac3e541" providerId="ADAL" clId="{CBEAC55B-FFD2-4120-A552-6C63E8494B6E}" dt="2024-11-24T16:31:58.951" v="182" actId="20577"/>
          <ac:spMkLst>
            <pc:docMk/>
            <pc:sldMk cId="344182722" sldId="964"/>
            <ac:spMk id="251" creationId="{0DE4FFB8-FD5A-9D11-42B6-849ACF115F6E}"/>
          </ac:spMkLst>
        </pc:spChg>
      </pc:sldChg>
      <pc:sldChg chg="modSp mod delCm">
        <pc:chgData name="Mani, Siddharth" userId="ea703a10-db50-4df5-bf72-1a564ac3e541" providerId="ADAL" clId="{CBEAC55B-FFD2-4120-A552-6C63E8494B6E}" dt="2024-11-24T16:30:06.558" v="115" actId="20577"/>
        <pc:sldMkLst>
          <pc:docMk/>
          <pc:sldMk cId="1171661068" sldId="1496"/>
        </pc:sldMkLst>
        <pc:spChg chg="mod">
          <ac:chgData name="Mani, Siddharth" userId="ea703a10-db50-4df5-bf72-1a564ac3e541" providerId="ADAL" clId="{CBEAC55B-FFD2-4120-A552-6C63E8494B6E}" dt="2024-11-24T16:30:06.558" v="115" actId="20577"/>
          <ac:spMkLst>
            <pc:docMk/>
            <pc:sldMk cId="1171661068" sldId="1496"/>
            <ac:spMk id="32" creationId="{00000000-0000-0000-0000-000000000000}"/>
          </ac:spMkLst>
        </pc:spChg>
        <pc:spChg chg="mod">
          <ac:chgData name="Mani, Siddharth" userId="ea703a10-db50-4df5-bf72-1a564ac3e541" providerId="ADAL" clId="{CBEAC55B-FFD2-4120-A552-6C63E8494B6E}" dt="2024-11-24T16:29:24.053" v="55" actId="20577"/>
          <ac:spMkLst>
            <pc:docMk/>
            <pc:sldMk cId="1171661068" sldId="1496"/>
            <ac:spMk id="249" creationId="{920CAE85-DF59-715F-C47D-C406EC0F89B6}"/>
          </ac:spMkLst>
        </pc:spChg>
        <pc:extLst>
          <p:ext xmlns:p="http://schemas.openxmlformats.org/presentationml/2006/main" uri="{D6D511B9-2390-475A-947B-AFAB55BFBCF1}">
            <pc226:cmChg xmlns:pc226="http://schemas.microsoft.com/office/powerpoint/2022/06/main/command" chg="del">
              <pc226:chgData name="Mani, Siddharth" userId="ea703a10-db50-4df5-bf72-1a564ac3e541" providerId="ADAL" clId="{CBEAC55B-FFD2-4120-A552-6C63E8494B6E}" dt="2024-11-24T16:29:03.717" v="33"/>
              <pc2:cmMkLst xmlns:pc2="http://schemas.microsoft.com/office/powerpoint/2019/9/main/command">
                <pc:docMk/>
                <pc:sldMk cId="1171661068" sldId="1496"/>
                <pc2:cmMk id="{BDA993EF-4A2D-4C14-9E3F-561E4B5673DF}"/>
              </pc2:cmMkLst>
            </pc226:cmChg>
          </p:ext>
        </pc:extLst>
      </pc:sldChg>
      <pc:sldChg chg="modSp mod">
        <pc:chgData name="Mani, Siddharth" userId="ea703a10-db50-4df5-bf72-1a564ac3e541" providerId="ADAL" clId="{CBEAC55B-FFD2-4120-A552-6C63E8494B6E}" dt="2024-11-24T16:47:38.891" v="216" actId="20577"/>
        <pc:sldMkLst>
          <pc:docMk/>
          <pc:sldMk cId="1061628682" sldId="1824"/>
        </pc:sldMkLst>
        <pc:spChg chg="mod">
          <ac:chgData name="Mani, Siddharth" userId="ea703a10-db50-4df5-bf72-1a564ac3e541" providerId="ADAL" clId="{CBEAC55B-FFD2-4120-A552-6C63E8494B6E}" dt="2024-11-24T16:47:38.891" v="216" actId="20577"/>
          <ac:spMkLst>
            <pc:docMk/>
            <pc:sldMk cId="1061628682" sldId="1824"/>
            <ac:spMk id="19" creationId="{3B15E634-9443-CDD8-C586-591913FD301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IN"/>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69B4B5C4-82F3-438A-B6CF-ABA8A7976DC1}" type="datetimeFigureOut">
              <a:rPr lang="en-IN" smtClean="0"/>
              <a:t>26-11-2024</a:t>
            </a:fld>
            <a:endParaRPr lang="en-IN"/>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endParaRPr lang="en-IN"/>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IN"/>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273B1406-F46F-4C9B-92C6-413E97C38BA5}" type="slidenum">
              <a:rPr lang="en-IN" smtClean="0"/>
              <a:t>‹#›</a:t>
            </a:fld>
            <a:endParaRPr lang="en-IN"/>
          </a:p>
        </p:txBody>
      </p:sp>
    </p:spTree>
    <p:extLst>
      <p:ext uri="{BB962C8B-B14F-4D97-AF65-F5344CB8AC3E}">
        <p14:creationId xmlns:p14="http://schemas.microsoft.com/office/powerpoint/2010/main" val="2170627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342"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73B1406-F46F-4C9B-92C6-413E97C38BA5}" type="slidenum">
              <a:rPr lang="en-IN" smtClean="0"/>
              <a:t>5</a:t>
            </a:fld>
            <a:endParaRPr lang="en-IN"/>
          </a:p>
        </p:txBody>
      </p:sp>
    </p:spTree>
    <p:extLst>
      <p:ext uri="{BB962C8B-B14F-4D97-AF65-F5344CB8AC3E}">
        <p14:creationId xmlns:p14="http://schemas.microsoft.com/office/powerpoint/2010/main" val="1356450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73B1406-F46F-4C9B-92C6-413E97C38BA5}" type="slidenum">
              <a:rPr lang="en-IN" smtClean="0"/>
              <a:t>6</a:t>
            </a:fld>
            <a:endParaRPr lang="en-IN"/>
          </a:p>
        </p:txBody>
      </p:sp>
    </p:spTree>
    <p:extLst>
      <p:ext uri="{BB962C8B-B14F-4D97-AF65-F5344CB8AC3E}">
        <p14:creationId xmlns:p14="http://schemas.microsoft.com/office/powerpoint/2010/main" val="1834157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3B1406-F46F-4C9B-92C6-413E97C38BA5}" type="slidenum">
              <a:rPr lang="en-IN" smtClean="0"/>
              <a:t>8</a:t>
            </a:fld>
            <a:endParaRPr lang="en-IN"/>
          </a:p>
        </p:txBody>
      </p:sp>
    </p:spTree>
    <p:extLst>
      <p:ext uri="{BB962C8B-B14F-4D97-AF65-F5344CB8AC3E}">
        <p14:creationId xmlns:p14="http://schemas.microsoft.com/office/powerpoint/2010/main" val="941999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3B1406-F46F-4C9B-92C6-413E97C38BA5}" type="slidenum">
              <a:rPr lang="en-IN" smtClean="0"/>
              <a:t>9</a:t>
            </a:fld>
            <a:endParaRPr lang="en-IN"/>
          </a:p>
        </p:txBody>
      </p:sp>
    </p:spTree>
    <p:extLst>
      <p:ext uri="{BB962C8B-B14F-4D97-AF65-F5344CB8AC3E}">
        <p14:creationId xmlns:p14="http://schemas.microsoft.com/office/powerpoint/2010/main" val="2921977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73B1406-F46F-4C9B-92C6-413E97C38BA5}" type="slidenum">
              <a:rPr lang="en-IN" smtClean="0"/>
              <a:t>10</a:t>
            </a:fld>
            <a:endParaRPr lang="en-IN"/>
          </a:p>
        </p:txBody>
      </p:sp>
    </p:spTree>
    <p:extLst>
      <p:ext uri="{BB962C8B-B14F-4D97-AF65-F5344CB8AC3E}">
        <p14:creationId xmlns:p14="http://schemas.microsoft.com/office/powerpoint/2010/main" val="418919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88609" indent="-388609">
              <a:lnSpc>
                <a:spcPct val="106000"/>
              </a:lnSpc>
              <a:spcAft>
                <a:spcPts val="340"/>
              </a:spcAft>
              <a:buFont typeface="Arial" panose="020B0604020202020204" pitchFamily="34" charset="0"/>
              <a:buChar char="•"/>
              <a:defRPr/>
            </a:pPr>
            <a:endParaRPr lang="en-US" sz="1200" i="1" baseline="0" dirty="0">
              <a:latin typeface="Verdana"/>
            </a:endParaRPr>
          </a:p>
        </p:txBody>
      </p:sp>
      <p:sp>
        <p:nvSpPr>
          <p:cNvPr id="4" name="Slide Number Placeholder 3"/>
          <p:cNvSpPr>
            <a:spLocks noGrp="1"/>
          </p:cNvSpPr>
          <p:nvPr>
            <p:ph type="sldNum" sz="quarter" idx="10"/>
          </p:nvPr>
        </p:nvSpPr>
        <p:spPr/>
        <p:txBody>
          <a:bodyPr/>
          <a:lstStyle/>
          <a:p>
            <a:fld id="{AC7F1437-3BF2-450D-A7B9-B11E523F51F3}" type="slidenum">
              <a:rPr lang="de-DE" smtClean="0"/>
              <a:t>11</a:t>
            </a:fld>
            <a:endParaRPr lang="de-DE" dirty="0"/>
          </a:p>
        </p:txBody>
      </p:sp>
    </p:spTree>
    <p:extLst>
      <p:ext uri="{BB962C8B-B14F-4D97-AF65-F5344CB8AC3E}">
        <p14:creationId xmlns:p14="http://schemas.microsoft.com/office/powerpoint/2010/main" val="3333175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NIFTY Metals-</a:t>
            </a:r>
          </a:p>
          <a:p>
            <a:endParaRPr lang="en-US" baseline="0" dirty="0"/>
          </a:p>
        </p:txBody>
      </p:sp>
      <p:sp>
        <p:nvSpPr>
          <p:cNvPr id="4" name="Slide Number Placeholder 3"/>
          <p:cNvSpPr>
            <a:spLocks noGrp="1"/>
          </p:cNvSpPr>
          <p:nvPr>
            <p:ph type="sldNum" sz="quarter" idx="10"/>
          </p:nvPr>
        </p:nvSpPr>
        <p:spPr/>
        <p:txBody>
          <a:bodyPr/>
          <a:lstStyle/>
          <a:p>
            <a:pPr marL="0" marR="0" lvl="0" indent="0" algn="r" defTabSz="1018824" rtl="0" eaLnBrk="1" fontAlgn="auto" latinLnBrk="0" hangingPunct="1">
              <a:lnSpc>
                <a:spcPct val="100000"/>
              </a:lnSpc>
              <a:spcBef>
                <a:spcPts val="0"/>
              </a:spcBef>
              <a:spcAft>
                <a:spcPts val="0"/>
              </a:spcAft>
              <a:buClrTx/>
              <a:buSzTx/>
              <a:buFontTx/>
              <a:buNone/>
              <a:tabLst/>
              <a:defRPr/>
            </a:pPr>
            <a:fld id="{AC7F1437-3BF2-450D-A7B9-B11E523F51F3}" type="slidenum">
              <a:rPr kumimoji="0" lang="de-DE"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018824"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86126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950" y="757238"/>
            <a:ext cx="6721475" cy="3781425"/>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3929446" y="9584371"/>
            <a:ext cx="3006554" cy="505494"/>
          </a:xfrm>
          <a:prstGeom prst="rect">
            <a:avLst/>
          </a:prstGeom>
        </p:spPr>
        <p:txBody>
          <a:bodyPr/>
          <a:lstStyle/>
          <a:p>
            <a:fld id="{B1FEB637-BC42-497E-9119-65CA0380A6EE}" type="slidenum">
              <a:rPr lang="en-GB" smtClean="0">
                <a:solidFill>
                  <a:prstClr val="black"/>
                </a:solidFill>
              </a:rPr>
              <a:pPr/>
              <a:t>13</a:t>
            </a:fld>
            <a:endParaRPr lang="en-GB">
              <a:solidFill>
                <a:prstClr val="black"/>
              </a:solidFill>
            </a:endParaRPr>
          </a:p>
        </p:txBody>
      </p:sp>
    </p:spTree>
    <p:extLst>
      <p:ext uri="{BB962C8B-B14F-4D97-AF65-F5344CB8AC3E}">
        <p14:creationId xmlns:p14="http://schemas.microsoft.com/office/powerpoint/2010/main" val="15679433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53374341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grpSp>
    </p:spTree>
    <p:extLst>
      <p:ext uri="{BB962C8B-B14F-4D97-AF65-F5344CB8AC3E}">
        <p14:creationId xmlns:p14="http://schemas.microsoft.com/office/powerpoint/2010/main" val="1065379088"/>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1019242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grpSp>
    </p:spTree>
    <p:extLst>
      <p:ext uri="{BB962C8B-B14F-4D97-AF65-F5344CB8AC3E}">
        <p14:creationId xmlns:p14="http://schemas.microsoft.com/office/powerpoint/2010/main" val="303188595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8" name="TextBox 7"/>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
        <p:nvSpPr>
          <p:cNvPr id="9" name="TextBox 8"/>
          <p:cNvSpPr txBox="1"/>
          <p:nvPr userDrawn="1"/>
        </p:nvSpPr>
        <p:spPr>
          <a:xfrm>
            <a:off x="6146800" y="6583015"/>
            <a:ext cx="5562026" cy="274985"/>
          </a:xfrm>
          <a:prstGeom prst="rect">
            <a:avLst/>
          </a:prstGeom>
          <a:noFill/>
        </p:spPr>
        <p:txBody>
          <a:bodyPr wrap="square" lIns="0" tIns="0" rIns="0" bIns="0" rtlCol="0">
            <a:noAutofit/>
          </a:bodyPr>
          <a:lstStyle/>
          <a:p>
            <a:pPr marL="0" indent="0" algn="r">
              <a:spcBef>
                <a:spcPts val="0"/>
              </a:spcBef>
              <a:buSzPct val="100000"/>
              <a:buFont typeface="Arial"/>
              <a:buNone/>
            </a:pPr>
            <a:r>
              <a:rPr lang="en-US" sz="635" noProof="0">
                <a:solidFill>
                  <a:schemeClr val="bg1"/>
                </a:solidFill>
              </a:rPr>
              <a:t>Institutional</a:t>
            </a:r>
            <a:r>
              <a:rPr lang="en-US" sz="635" baseline="0" noProof="0">
                <a:solidFill>
                  <a:schemeClr val="bg1"/>
                </a:solidFill>
              </a:rPr>
              <a:t> Strengthening of JBVNL – Phase 1</a:t>
            </a:r>
            <a:endParaRPr lang="en-US" sz="635" noProof="0">
              <a:solidFill>
                <a:schemeClr val="bg1"/>
              </a:solidFill>
            </a:endParaRPr>
          </a:p>
        </p:txBody>
      </p:sp>
      <p:sp>
        <p:nvSpPr>
          <p:cNvPr id="10" name="TextBox 9"/>
          <p:cNvSpPr txBox="1"/>
          <p:nvPr userDrawn="1"/>
        </p:nvSpPr>
        <p:spPr>
          <a:xfrm>
            <a:off x="501650" y="6656740"/>
            <a:ext cx="5355168" cy="201260"/>
          </a:xfrm>
          <a:prstGeom prst="rect">
            <a:avLst/>
          </a:prstGeom>
          <a:noFill/>
        </p:spPr>
        <p:txBody>
          <a:bodyPr wrap="square" lIns="0" tIns="0" rIns="0" bIns="0" rtlCol="0">
            <a:noAutofit/>
          </a:bodyPr>
          <a:lstStyle/>
          <a:p>
            <a:pPr marL="0" indent="0">
              <a:spcBef>
                <a:spcPts val="600"/>
              </a:spcBef>
              <a:buSzPct val="100000"/>
              <a:buFont typeface="Arial"/>
              <a:buNone/>
            </a:pPr>
            <a:r>
              <a:rPr lang="fr-FR" sz="635" noProof="0">
                <a:solidFill>
                  <a:schemeClr val="bg1"/>
                </a:solidFill>
              </a:rPr>
              <a:t>© 2016 Deloitte Touche Tohmatsu India LLP</a:t>
            </a:r>
          </a:p>
        </p:txBody>
      </p:sp>
    </p:spTree>
    <p:extLst>
      <p:ext uri="{BB962C8B-B14F-4D97-AF65-F5344CB8AC3E}">
        <p14:creationId xmlns:p14="http://schemas.microsoft.com/office/powerpoint/2010/main" val="290125646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5" name="TextBox 14"/>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
        <p:nvSpPr>
          <p:cNvPr id="7" name="TextBox 6"/>
          <p:cNvSpPr txBox="1"/>
          <p:nvPr userDrawn="1"/>
        </p:nvSpPr>
        <p:spPr>
          <a:xfrm>
            <a:off x="6812266" y="6583015"/>
            <a:ext cx="489656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35" noProof="0">
                <a:solidFill>
                  <a:schemeClr val="bg1"/>
                </a:solidFill>
              </a:rPr>
              <a:t>Institutional</a:t>
            </a:r>
            <a:r>
              <a:rPr lang="en-US" sz="635" baseline="0" noProof="0">
                <a:solidFill>
                  <a:schemeClr val="bg1"/>
                </a:solidFill>
              </a:rPr>
              <a:t> Strengthening of JBVNL – Phase 1</a:t>
            </a:r>
            <a:endParaRPr lang="en-US" sz="635" noProof="0">
              <a:solidFill>
                <a:schemeClr val="bg1"/>
              </a:solidFill>
            </a:endParaRPr>
          </a:p>
        </p:txBody>
      </p:sp>
      <p:sp>
        <p:nvSpPr>
          <p:cNvPr id="8" name="TextBox 7"/>
          <p:cNvSpPr txBox="1"/>
          <p:nvPr userDrawn="1"/>
        </p:nvSpPr>
        <p:spPr>
          <a:xfrm>
            <a:off x="501650" y="6656740"/>
            <a:ext cx="5355168" cy="201260"/>
          </a:xfrm>
          <a:prstGeom prst="rect">
            <a:avLst/>
          </a:prstGeom>
          <a:noFill/>
        </p:spPr>
        <p:txBody>
          <a:bodyPr wrap="square" lIns="0" tIns="0" rIns="0" bIns="0" rtlCol="0">
            <a:noAutofit/>
          </a:bodyPr>
          <a:lstStyle/>
          <a:p>
            <a:pPr marL="0" indent="0">
              <a:spcBef>
                <a:spcPts val="600"/>
              </a:spcBef>
              <a:buSzPct val="100000"/>
              <a:buFont typeface="Arial"/>
              <a:buNone/>
            </a:pPr>
            <a:r>
              <a:rPr lang="fr-FR" sz="635" noProof="0">
                <a:solidFill>
                  <a:schemeClr val="bg1"/>
                </a:solidFill>
              </a:rPr>
              <a:t>© 2016 Deloitte Touche Tohmatsu India LLP</a:t>
            </a:r>
          </a:p>
        </p:txBody>
      </p:sp>
    </p:spTree>
    <p:extLst>
      <p:ext uri="{BB962C8B-B14F-4D97-AF65-F5344CB8AC3E}">
        <p14:creationId xmlns:p14="http://schemas.microsoft.com/office/powerpoint/2010/main" val="101626790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2" name="TextBox 11"/>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
        <p:nvSpPr>
          <p:cNvPr id="7" name="TextBox 6"/>
          <p:cNvSpPr txBox="1"/>
          <p:nvPr userDrawn="1"/>
        </p:nvSpPr>
        <p:spPr>
          <a:xfrm>
            <a:off x="6812266" y="6583015"/>
            <a:ext cx="489656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35" noProof="0">
                <a:solidFill>
                  <a:schemeClr val="bg1"/>
                </a:solidFill>
              </a:rPr>
              <a:t>Institutional</a:t>
            </a:r>
            <a:r>
              <a:rPr lang="en-US" sz="635" baseline="0" noProof="0">
                <a:solidFill>
                  <a:schemeClr val="bg1"/>
                </a:solidFill>
              </a:rPr>
              <a:t> Strengthening of JBVNL – Phase 1</a:t>
            </a:r>
            <a:endParaRPr lang="en-US" sz="635" noProof="0">
              <a:solidFill>
                <a:schemeClr val="bg1"/>
              </a:solidFill>
            </a:endParaRPr>
          </a:p>
        </p:txBody>
      </p:sp>
      <p:sp>
        <p:nvSpPr>
          <p:cNvPr id="8" name="TextBox 7"/>
          <p:cNvSpPr txBox="1"/>
          <p:nvPr userDrawn="1"/>
        </p:nvSpPr>
        <p:spPr>
          <a:xfrm>
            <a:off x="501650" y="6656740"/>
            <a:ext cx="5355168" cy="201260"/>
          </a:xfrm>
          <a:prstGeom prst="rect">
            <a:avLst/>
          </a:prstGeom>
          <a:noFill/>
        </p:spPr>
        <p:txBody>
          <a:bodyPr wrap="square" lIns="0" tIns="0" rIns="0" bIns="0" rtlCol="0">
            <a:noAutofit/>
          </a:bodyPr>
          <a:lstStyle/>
          <a:p>
            <a:pPr marL="0" indent="0">
              <a:spcBef>
                <a:spcPts val="600"/>
              </a:spcBef>
              <a:buSzPct val="100000"/>
              <a:buFont typeface="Arial"/>
              <a:buNone/>
            </a:pPr>
            <a:r>
              <a:rPr lang="fr-FR" sz="635" noProof="0">
                <a:solidFill>
                  <a:schemeClr val="bg1"/>
                </a:solidFill>
              </a:rPr>
              <a:t>© 2016 Deloitte Touche Tohmatsu India LLP</a:t>
            </a:r>
          </a:p>
        </p:txBody>
      </p:sp>
    </p:spTree>
    <p:extLst>
      <p:ext uri="{BB962C8B-B14F-4D97-AF65-F5344CB8AC3E}">
        <p14:creationId xmlns:p14="http://schemas.microsoft.com/office/powerpoint/2010/main" val="292737181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547015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2" name="TextBox 11"/>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
        <p:nvSpPr>
          <p:cNvPr id="6" name="TextBox 5"/>
          <p:cNvSpPr txBox="1"/>
          <p:nvPr userDrawn="1"/>
        </p:nvSpPr>
        <p:spPr>
          <a:xfrm>
            <a:off x="6812266" y="6583015"/>
            <a:ext cx="489656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35" noProof="0">
                <a:solidFill>
                  <a:schemeClr val="bg1"/>
                </a:solidFill>
              </a:rPr>
              <a:t>Institutional</a:t>
            </a:r>
            <a:r>
              <a:rPr lang="en-US" sz="635" baseline="0" noProof="0">
                <a:solidFill>
                  <a:schemeClr val="bg1"/>
                </a:solidFill>
              </a:rPr>
              <a:t> Strengthening of JBVNL – Phase 1</a:t>
            </a:r>
            <a:endParaRPr lang="en-US" sz="635" noProof="0">
              <a:solidFill>
                <a:schemeClr val="bg1"/>
              </a:solidFill>
            </a:endParaRPr>
          </a:p>
        </p:txBody>
      </p:sp>
      <p:sp>
        <p:nvSpPr>
          <p:cNvPr id="7" name="TextBox 6"/>
          <p:cNvSpPr txBox="1"/>
          <p:nvPr userDrawn="1"/>
        </p:nvSpPr>
        <p:spPr>
          <a:xfrm>
            <a:off x="501650" y="6656740"/>
            <a:ext cx="5355168" cy="201260"/>
          </a:xfrm>
          <a:prstGeom prst="rect">
            <a:avLst/>
          </a:prstGeom>
          <a:noFill/>
        </p:spPr>
        <p:txBody>
          <a:bodyPr wrap="square" lIns="0" tIns="0" rIns="0" bIns="0" rtlCol="0">
            <a:noAutofit/>
          </a:bodyPr>
          <a:lstStyle/>
          <a:p>
            <a:pPr marL="0" indent="0">
              <a:spcBef>
                <a:spcPts val="600"/>
              </a:spcBef>
              <a:buSzPct val="100000"/>
              <a:buFont typeface="Arial"/>
              <a:buNone/>
            </a:pPr>
            <a:r>
              <a:rPr lang="fr-FR" sz="635" noProof="0">
                <a:solidFill>
                  <a:schemeClr val="bg1"/>
                </a:solidFill>
              </a:rPr>
              <a:t>© 2016 Deloitte Touche Tohmatsu India LLP</a:t>
            </a:r>
          </a:p>
        </p:txBody>
      </p:sp>
    </p:spTree>
    <p:extLst>
      <p:ext uri="{BB962C8B-B14F-4D97-AF65-F5344CB8AC3E}">
        <p14:creationId xmlns:p14="http://schemas.microsoft.com/office/powerpoint/2010/main" val="40719294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5204848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5945436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2643922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6467881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39483490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57979635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54514343"/>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204357262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131340283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014244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23832325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53299030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Rectangle 6"/>
          <p:cNvSpPr/>
          <p:nvPr/>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7028302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2" y="1700214"/>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9" y="1700214"/>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9453271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07972301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1733955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3" name="Rectangle 12"/>
          <p:cNvSpPr/>
          <p:nvPr/>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Tree>
    <p:extLst>
      <p:ext uri="{BB962C8B-B14F-4D97-AF65-F5344CB8AC3E}">
        <p14:creationId xmlns:p14="http://schemas.microsoft.com/office/powerpoint/2010/main" val="6088605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727167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7831761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a:t>Click to add subtitle</a:t>
            </a:r>
          </a:p>
        </p:txBody>
      </p:sp>
      <p:sp>
        <p:nvSpPr>
          <p:cNvPr id="15" name="TextBox 14"/>
          <p:cNvSpPr txBox="1"/>
          <p:nvPr/>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
        <p:nvSpPr>
          <p:cNvPr id="11" name="TextBox 10"/>
          <p:cNvSpPr txBox="1"/>
          <p:nvPr userDrawn="1"/>
        </p:nvSpPr>
        <p:spPr>
          <a:xfrm>
            <a:off x="6812266" y="6583015"/>
            <a:ext cx="4896560" cy="200055"/>
          </a:xfrm>
          <a:prstGeom prst="rect">
            <a:avLst/>
          </a:prstGeom>
          <a:noFill/>
        </p:spPr>
        <p:txBody>
          <a:bodyPr wrap="square" lIns="0" tIns="0" rIns="0" bIns="0" rtlCol="0">
            <a:noAutofit/>
          </a:bodyPr>
          <a:lstStyle/>
          <a:p>
            <a:pPr marL="0" indent="0" algn="r">
              <a:spcBef>
                <a:spcPts val="0"/>
              </a:spcBef>
              <a:buSzPct val="100000"/>
              <a:buFont typeface="Arial"/>
              <a:buNone/>
            </a:pPr>
            <a:r>
              <a:rPr lang="en-US" sz="635" noProof="0">
                <a:solidFill>
                  <a:schemeClr val="bg1"/>
                </a:solidFill>
              </a:rPr>
              <a:t>Institutional</a:t>
            </a:r>
            <a:r>
              <a:rPr lang="en-US" sz="635" baseline="0" noProof="0">
                <a:solidFill>
                  <a:schemeClr val="bg1"/>
                </a:solidFill>
              </a:rPr>
              <a:t> Strengthening of JBVNL – Phase 1</a:t>
            </a:r>
            <a:endParaRPr lang="en-US" sz="635" noProof="0">
              <a:solidFill>
                <a:schemeClr val="bg1"/>
              </a:solidFill>
            </a:endParaRPr>
          </a:p>
          <a:p>
            <a:pPr marL="0" indent="0" algn="r">
              <a:spcBef>
                <a:spcPts val="0"/>
              </a:spcBef>
              <a:buSzPct val="100000"/>
              <a:buFont typeface="Arial"/>
              <a:buNone/>
            </a:pPr>
            <a:r>
              <a:rPr lang="en-US" sz="635" noProof="0">
                <a:solidFill>
                  <a:schemeClr val="bg1"/>
                </a:solidFill>
              </a:rPr>
              <a:t>The World Bank</a:t>
            </a:r>
          </a:p>
        </p:txBody>
      </p:sp>
      <p:sp>
        <p:nvSpPr>
          <p:cNvPr id="12" name="TextBox 11"/>
          <p:cNvSpPr txBox="1"/>
          <p:nvPr userDrawn="1"/>
        </p:nvSpPr>
        <p:spPr>
          <a:xfrm>
            <a:off x="501650" y="6656740"/>
            <a:ext cx="5355168" cy="201260"/>
          </a:xfrm>
          <a:prstGeom prst="rect">
            <a:avLst/>
          </a:prstGeom>
          <a:noFill/>
        </p:spPr>
        <p:txBody>
          <a:bodyPr wrap="square" lIns="0" tIns="0" rIns="0" bIns="0" rtlCol="0">
            <a:noAutofit/>
          </a:bodyPr>
          <a:lstStyle/>
          <a:p>
            <a:pPr marL="0" indent="0">
              <a:spcBef>
                <a:spcPts val="600"/>
              </a:spcBef>
              <a:buSzPct val="100000"/>
              <a:buFont typeface="Arial"/>
              <a:buNone/>
            </a:pPr>
            <a:r>
              <a:rPr lang="fr-FR" sz="635" noProof="0">
                <a:solidFill>
                  <a:schemeClr val="bg1"/>
                </a:solidFill>
              </a:rPr>
              <a:t>© 2016 Deloitte Touche Tohmatsu India LLP</a:t>
            </a:r>
          </a:p>
        </p:txBody>
      </p:sp>
    </p:spTree>
    <p:extLst>
      <p:ext uri="{BB962C8B-B14F-4D97-AF65-F5344CB8AC3E}">
        <p14:creationId xmlns:p14="http://schemas.microsoft.com/office/powerpoint/2010/main" val="315695572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374562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77952881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35450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©2016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20" name="Group 19"/>
          <p:cNvGrpSpPr/>
          <p:nvPr/>
        </p:nvGrpSpPr>
        <p:grpSpPr>
          <a:xfrm>
            <a:off x="501649" y="378001"/>
            <a:ext cx="2159032" cy="326302"/>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noProof="0">
                <a:solidFill>
                  <a:schemeClr val="bg1"/>
                </a:solidFill>
              </a:endParaRPr>
            </a:p>
          </p:txBody>
        </p:sp>
      </p:grpSp>
    </p:spTree>
    <p:extLst>
      <p:ext uri="{BB962C8B-B14F-4D97-AF65-F5344CB8AC3E}">
        <p14:creationId xmlns:p14="http://schemas.microsoft.com/office/powerpoint/2010/main" val="34517510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p:cNvSpPr/>
          <p:nvPr userDrawn="1"/>
        </p:nvSpPr>
        <p:spPr>
          <a:xfrm>
            <a:off x="5323323" y="6456405"/>
            <a:ext cx="1588897" cy="369332"/>
          </a:xfrm>
          <a:prstGeom prst="rect">
            <a:avLst/>
          </a:prstGeom>
        </p:spPr>
        <p:txBody>
          <a:bodyPr wrap="none">
            <a:spAutoFit/>
          </a:bodyPr>
          <a:lstStyle/>
          <a:p>
            <a:pPr algn="ctr"/>
            <a:r>
              <a:rPr lang="en-US" sz="1800">
                <a:solidFill>
                  <a:schemeClr val="bg1"/>
                </a:solidFill>
              </a:rPr>
              <a:t>Finance/ HR</a:t>
            </a:r>
          </a:p>
        </p:txBody>
      </p:sp>
    </p:spTree>
    <p:extLst>
      <p:ext uri="{BB962C8B-B14F-4D97-AF65-F5344CB8AC3E}">
        <p14:creationId xmlns:p14="http://schemas.microsoft.com/office/powerpoint/2010/main" val="233623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_Title &amp; subtitle (Sentence Cas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90"/>
          <a:ext cx="1588"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588" y="1590"/>
                        <a:ext cx="1588" cy="1587"/>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1"/>
            <a:ext cx="158750" cy="158750"/>
          </a:xfrm>
          <a:prstGeom prst="rect">
            <a:avLst/>
          </a:prstGeom>
          <a:solidFill>
            <a:schemeClr val="accent3"/>
          </a:solidFill>
          <a:ln w="19050" algn="ctr">
            <a:noFill/>
            <a:miter lim="800000"/>
            <a:headEnd/>
            <a:tailEnd/>
          </a:ln>
        </p:spPr>
        <p:txBody>
          <a:bodyPr vert="horz" wrap="none" lIns="0" tIns="0" rIns="0" bIns="0" numCol="1" spcCol="0" rtlCol="0" anchor="ctr" anchorCtr="0">
            <a:noAutofit/>
          </a:bodyPr>
          <a:lstStyle/>
          <a:p>
            <a:pPr marL="0" lvl="0" indent="0" algn="ctr" eaLnBrk="1">
              <a:lnSpc>
                <a:spcPct val="100000"/>
              </a:lnSpc>
              <a:spcBef>
                <a:spcPct val="0"/>
              </a:spcBef>
              <a:spcAft>
                <a:spcPct val="0"/>
              </a:spcAft>
              <a:buFont typeface="Wingdings 2" pitchFamily="18" charset="2"/>
              <a:buNone/>
            </a:pPr>
            <a:endParaRPr lang="en-US" sz="1799" b="1" i="0" baseline="0" dirty="0">
              <a:solidFill>
                <a:schemeClr val="bg1"/>
              </a:solidFill>
              <a:latin typeface="CorpoS"/>
              <a:ea typeface="+mj-ea"/>
              <a:cs typeface="+mj-cs"/>
              <a:sym typeface="CorpoS"/>
            </a:endParaRPr>
          </a:p>
        </p:txBody>
      </p:sp>
      <p:sp>
        <p:nvSpPr>
          <p:cNvPr id="5" name="Title Placeholder 1"/>
          <p:cNvSpPr>
            <a:spLocks noGrp="1"/>
          </p:cNvSpPr>
          <p:nvPr>
            <p:ph type="title" hasCustomPrompt="1"/>
          </p:nvPr>
        </p:nvSpPr>
        <p:spPr>
          <a:xfrm>
            <a:off x="628324" y="549348"/>
            <a:ext cx="10932181" cy="547298"/>
          </a:xfrm>
          <a:prstGeom prst="rect">
            <a:avLst/>
          </a:prstGeom>
        </p:spPr>
        <p:txBody>
          <a:bodyPr vert="horz" lIns="0" tIns="0" rIns="0" bIns="0" rtlCol="0" anchor="t" anchorCtr="0">
            <a:noAutofit/>
          </a:bodyPr>
          <a:lstStyle>
            <a:lvl1pPr>
              <a:lnSpc>
                <a:spcPct val="100000"/>
              </a:lnSpc>
              <a:defRPr sz="1799" b="1" cap="none" baseline="0">
                <a:solidFill>
                  <a:schemeClr val="accent2"/>
                </a:solidFill>
              </a:defRPr>
            </a:lvl1pPr>
          </a:lstStyle>
          <a:p>
            <a:r>
              <a:rPr lang="en-US" noProof="0" dirty="0"/>
              <a:t>Click to edit master title style</a:t>
            </a:r>
          </a:p>
        </p:txBody>
      </p:sp>
      <p:sp>
        <p:nvSpPr>
          <p:cNvPr id="10" name="Foliennummernplatzhalter 5"/>
          <p:cNvSpPr>
            <a:spLocks noGrp="1"/>
          </p:cNvSpPr>
          <p:nvPr>
            <p:ph type="sldNum" sz="quarter" idx="4"/>
          </p:nvPr>
        </p:nvSpPr>
        <p:spPr>
          <a:xfrm>
            <a:off x="11036804" y="6564880"/>
            <a:ext cx="523974" cy="215950"/>
          </a:xfrm>
          <a:prstGeom prst="rect">
            <a:avLst/>
          </a:prstGeom>
        </p:spPr>
        <p:txBody>
          <a:bodyPr vert="horz" lIns="0" tIns="0" rIns="0" bIns="0" rtlCol="0" anchor="t" anchorCtr="0"/>
          <a:lstStyle>
            <a:lvl1pPr marL="0" indent="0" algn="l">
              <a:spcBef>
                <a:spcPts val="0"/>
              </a:spcBef>
              <a:buFont typeface="Arial" panose="020B0604020202020204" pitchFamily="34" charset="0"/>
              <a:buNone/>
              <a:defRPr sz="1199">
                <a:solidFill>
                  <a:schemeClr val="tx1"/>
                </a:solidFill>
                <a:latin typeface="+mn-lt"/>
              </a:defRPr>
            </a:lvl1pPr>
            <a:lvl2pPr marL="0" indent="0" algn="l">
              <a:spcBef>
                <a:spcPts val="0"/>
              </a:spcBef>
              <a:defRPr sz="1199">
                <a:latin typeface="+mn-lt"/>
              </a:defRPr>
            </a:lvl2pPr>
            <a:lvl3pPr marL="0" indent="0" algn="l">
              <a:spcBef>
                <a:spcPts val="0"/>
              </a:spcBef>
              <a:defRPr sz="1199">
                <a:latin typeface="+mn-lt"/>
              </a:defRPr>
            </a:lvl3pPr>
            <a:lvl4pPr marL="0" indent="0" algn="l">
              <a:spcBef>
                <a:spcPts val="0"/>
              </a:spcBef>
              <a:defRPr sz="1199">
                <a:latin typeface="+mn-lt"/>
              </a:defRPr>
            </a:lvl4pPr>
            <a:lvl5pPr marL="0" indent="0" algn="l">
              <a:spcBef>
                <a:spcPts val="0"/>
              </a:spcBef>
              <a:defRPr sz="1199">
                <a:latin typeface="+mn-lt"/>
              </a:defRPr>
            </a:lvl5pPr>
            <a:lvl6pPr marL="0" indent="0" algn="l">
              <a:spcBef>
                <a:spcPts val="0"/>
              </a:spcBef>
              <a:defRPr sz="1199">
                <a:latin typeface="+mn-lt"/>
              </a:defRPr>
            </a:lvl6pPr>
            <a:lvl7pPr marL="0" indent="0" algn="l">
              <a:spcBef>
                <a:spcPts val="0"/>
              </a:spcBef>
              <a:defRPr sz="1199">
                <a:latin typeface="+mn-lt"/>
              </a:defRPr>
            </a:lvl7pPr>
            <a:lvl8pPr marL="0" indent="0" algn="l">
              <a:spcBef>
                <a:spcPts val="0"/>
              </a:spcBef>
              <a:defRPr sz="1199">
                <a:latin typeface="+mn-lt"/>
              </a:defRPr>
            </a:lvl8pPr>
            <a:lvl9pPr marL="0" indent="0" algn="l">
              <a:spcBef>
                <a:spcPts val="0"/>
              </a:spcBef>
              <a:defRPr sz="1199">
                <a:latin typeface="+mn-lt"/>
              </a:defRPr>
            </a:lvl9pPr>
          </a:lstStyle>
          <a:p>
            <a:pPr algn="r"/>
            <a:r>
              <a:rPr lang="en-GB" dirty="0"/>
              <a:t> </a:t>
            </a:r>
            <a:fld id="{52531704-8F80-415D-BD2B-6B9991AE822F}" type="slidenum">
              <a:rPr lang="en-GB" smtClean="0"/>
              <a:pPr algn="r"/>
              <a:t>‹#›</a:t>
            </a:fld>
            <a:endParaRPr lang="en-GB" dirty="0"/>
          </a:p>
        </p:txBody>
      </p:sp>
    </p:spTree>
    <p:extLst>
      <p:ext uri="{BB962C8B-B14F-4D97-AF65-F5344CB8AC3E}">
        <p14:creationId xmlns:p14="http://schemas.microsoft.com/office/powerpoint/2010/main" val="1017417472"/>
      </p:ext>
    </p:extLst>
  </p:cSld>
  <p:clrMapOvr>
    <a:masterClrMapping/>
  </p:clrMapOvr>
  <p:extLst>
    <p:ext uri="{DCECCB84-F9BA-43D5-87BE-67443E8EF086}">
      <p15:sldGuideLst xmlns:p15="http://schemas.microsoft.com/office/powerpoint/2012/main">
        <p15:guide id="1" pos="3842">
          <p15:clr>
            <a:srgbClr val="FBAE40"/>
          </p15:clr>
        </p15:guide>
        <p15:guide id="2" orient="horz" pos="890">
          <p15:clr>
            <a:srgbClr val="FBAE40"/>
          </p15:clr>
        </p15:guide>
        <p15:guide id="3" orient="horz" pos="116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89413979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grpSp>
    </p:spTree>
    <p:extLst>
      <p:ext uri="{BB962C8B-B14F-4D97-AF65-F5344CB8AC3E}">
        <p14:creationId xmlns:p14="http://schemas.microsoft.com/office/powerpoint/2010/main" val="9969859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5770088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1632">
                <a:solidFill>
                  <a:prstClr val="white"/>
                </a:solidFill>
              </a:endParaRPr>
            </a:p>
          </p:txBody>
        </p:sp>
      </p:grpSp>
    </p:spTree>
    <p:extLst>
      <p:ext uri="{BB962C8B-B14F-4D97-AF65-F5344CB8AC3E}">
        <p14:creationId xmlns:p14="http://schemas.microsoft.com/office/powerpoint/2010/main" val="347662743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8" name="TextBox 7"/>
          <p:cNvSpPr txBox="1"/>
          <p:nvPr/>
        </p:nvSpPr>
        <p:spPr>
          <a:xfrm>
            <a:off x="11382377" y="6477001"/>
            <a:ext cx="307974"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9" name="TextBox 8"/>
          <p:cNvSpPr txBox="1"/>
          <p:nvPr userDrawn="1"/>
        </p:nvSpPr>
        <p:spPr>
          <a:xfrm>
            <a:off x="6812266" y="6583015"/>
            <a:ext cx="4896560" cy="200055"/>
          </a:xfrm>
          <a:prstGeom prst="rect">
            <a:avLst/>
          </a:prstGeom>
          <a:noFill/>
        </p:spPr>
        <p:txBody>
          <a:bodyPr wrap="square" lIns="0" tIns="0" rIns="0" bIns="0" rtlCol="0">
            <a:noAutofit/>
          </a:bodyPr>
          <a:lstStyle/>
          <a:p>
            <a:pPr algn="r">
              <a:buSzPct val="100000"/>
              <a:buFont typeface="Arial"/>
              <a:buNone/>
            </a:pPr>
            <a:r>
              <a:rPr lang="en-US" sz="635">
                <a:solidFill>
                  <a:prstClr val="white"/>
                </a:solidFill>
              </a:rPr>
              <a:t>Institutional Strengthening of JBVNL – Phase 1</a:t>
            </a:r>
          </a:p>
          <a:p>
            <a:pPr algn="r">
              <a:buSzPct val="100000"/>
              <a:buFont typeface="Arial"/>
              <a:buNone/>
            </a:pPr>
            <a:r>
              <a:rPr lang="en-US" sz="635">
                <a:solidFill>
                  <a:prstClr val="white"/>
                </a:solidFill>
              </a:rPr>
              <a:t>The World Bank</a:t>
            </a:r>
          </a:p>
        </p:txBody>
      </p:sp>
      <p:sp>
        <p:nvSpPr>
          <p:cNvPr id="10" name="TextBox 9"/>
          <p:cNvSpPr txBox="1"/>
          <p:nvPr userDrawn="1"/>
        </p:nvSpPr>
        <p:spPr>
          <a:xfrm>
            <a:off x="501650" y="6656740"/>
            <a:ext cx="5355168" cy="201260"/>
          </a:xfrm>
          <a:prstGeom prst="rect">
            <a:avLst/>
          </a:prstGeom>
          <a:noFill/>
        </p:spPr>
        <p:txBody>
          <a:bodyPr wrap="square" lIns="0" tIns="0" rIns="0" bIns="0" rtlCol="0">
            <a:noAutofit/>
          </a:bodyPr>
          <a:lstStyle/>
          <a:p>
            <a:pPr>
              <a:spcBef>
                <a:spcPts val="600"/>
              </a:spcBef>
              <a:buSzPct val="100000"/>
              <a:buFont typeface="Arial"/>
              <a:buNone/>
            </a:pPr>
            <a:r>
              <a:rPr lang="fr-FR" sz="635">
                <a:solidFill>
                  <a:prstClr val="white"/>
                </a:solidFill>
              </a:rPr>
              <a:t>© 2016 Deloitte Touche Tohmatsu India LLP</a:t>
            </a:r>
          </a:p>
        </p:txBody>
      </p:sp>
    </p:spTree>
    <p:extLst>
      <p:ext uri="{BB962C8B-B14F-4D97-AF65-F5344CB8AC3E}">
        <p14:creationId xmlns:p14="http://schemas.microsoft.com/office/powerpoint/2010/main" val="236370490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5" name="TextBox 14"/>
          <p:cNvSpPr txBox="1"/>
          <p:nvPr/>
        </p:nvSpPr>
        <p:spPr>
          <a:xfrm>
            <a:off x="11382377" y="6477001"/>
            <a:ext cx="307974"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7" name="TextBox 6"/>
          <p:cNvSpPr txBox="1"/>
          <p:nvPr userDrawn="1"/>
        </p:nvSpPr>
        <p:spPr>
          <a:xfrm>
            <a:off x="6812266" y="6583015"/>
            <a:ext cx="4896560" cy="200055"/>
          </a:xfrm>
          <a:prstGeom prst="rect">
            <a:avLst/>
          </a:prstGeom>
          <a:noFill/>
        </p:spPr>
        <p:txBody>
          <a:bodyPr wrap="square" lIns="0" tIns="0" rIns="0" bIns="0" rtlCol="0">
            <a:noAutofit/>
          </a:bodyPr>
          <a:lstStyle/>
          <a:p>
            <a:pPr algn="r">
              <a:buSzPct val="100000"/>
              <a:buFont typeface="Arial"/>
              <a:buNone/>
            </a:pPr>
            <a:r>
              <a:rPr lang="en-US" sz="635">
                <a:solidFill>
                  <a:prstClr val="white"/>
                </a:solidFill>
              </a:rPr>
              <a:t>Institutional Strengthening of JBVNL – Phase 1</a:t>
            </a:r>
          </a:p>
          <a:p>
            <a:pPr algn="r">
              <a:buSzPct val="100000"/>
              <a:buFont typeface="Arial"/>
              <a:buNone/>
            </a:pPr>
            <a:r>
              <a:rPr lang="en-US" sz="635">
                <a:solidFill>
                  <a:prstClr val="white"/>
                </a:solidFill>
              </a:rPr>
              <a:t>The World Bank</a:t>
            </a:r>
          </a:p>
        </p:txBody>
      </p:sp>
      <p:sp>
        <p:nvSpPr>
          <p:cNvPr id="8" name="TextBox 7"/>
          <p:cNvSpPr txBox="1"/>
          <p:nvPr userDrawn="1"/>
        </p:nvSpPr>
        <p:spPr>
          <a:xfrm>
            <a:off x="501650" y="6656740"/>
            <a:ext cx="5355168" cy="201260"/>
          </a:xfrm>
          <a:prstGeom prst="rect">
            <a:avLst/>
          </a:prstGeom>
          <a:noFill/>
        </p:spPr>
        <p:txBody>
          <a:bodyPr wrap="square" lIns="0" tIns="0" rIns="0" bIns="0" rtlCol="0">
            <a:noAutofit/>
          </a:bodyPr>
          <a:lstStyle/>
          <a:p>
            <a:pPr>
              <a:spcBef>
                <a:spcPts val="600"/>
              </a:spcBef>
              <a:buSzPct val="100000"/>
              <a:buFont typeface="Arial"/>
              <a:buNone/>
            </a:pPr>
            <a:r>
              <a:rPr lang="fr-FR" sz="635">
                <a:solidFill>
                  <a:prstClr val="white"/>
                </a:solidFill>
              </a:rPr>
              <a:t>© 2016 Deloitte Touche Tohmatsu India LLP</a:t>
            </a:r>
          </a:p>
        </p:txBody>
      </p:sp>
    </p:spTree>
    <p:extLst>
      <p:ext uri="{BB962C8B-B14F-4D97-AF65-F5344CB8AC3E}">
        <p14:creationId xmlns:p14="http://schemas.microsoft.com/office/powerpoint/2010/main" val="29928509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
        <p:nvSpPr>
          <p:cNvPr id="12" name="TextBox 11"/>
          <p:cNvSpPr txBox="1"/>
          <p:nvPr/>
        </p:nvSpPr>
        <p:spPr>
          <a:xfrm>
            <a:off x="11382377" y="6477001"/>
            <a:ext cx="307974"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7" name="TextBox 6"/>
          <p:cNvSpPr txBox="1"/>
          <p:nvPr userDrawn="1"/>
        </p:nvSpPr>
        <p:spPr>
          <a:xfrm>
            <a:off x="6812266" y="6583015"/>
            <a:ext cx="4896560" cy="200055"/>
          </a:xfrm>
          <a:prstGeom prst="rect">
            <a:avLst/>
          </a:prstGeom>
          <a:noFill/>
        </p:spPr>
        <p:txBody>
          <a:bodyPr wrap="square" lIns="0" tIns="0" rIns="0" bIns="0" rtlCol="0">
            <a:noAutofit/>
          </a:bodyPr>
          <a:lstStyle/>
          <a:p>
            <a:pPr algn="r">
              <a:buSzPct val="100000"/>
              <a:buFont typeface="Arial"/>
              <a:buNone/>
            </a:pPr>
            <a:r>
              <a:rPr lang="en-US" sz="635">
                <a:solidFill>
                  <a:prstClr val="white"/>
                </a:solidFill>
              </a:rPr>
              <a:t>Institutional Strengthening of JBVNL – Phase 1</a:t>
            </a:r>
          </a:p>
          <a:p>
            <a:pPr algn="r">
              <a:buSzPct val="100000"/>
              <a:buFont typeface="Arial"/>
              <a:buNone/>
            </a:pPr>
            <a:endParaRPr lang="en-US" sz="635">
              <a:solidFill>
                <a:prstClr val="white"/>
              </a:solidFill>
            </a:endParaRPr>
          </a:p>
        </p:txBody>
      </p:sp>
      <p:sp>
        <p:nvSpPr>
          <p:cNvPr id="8" name="TextBox 7"/>
          <p:cNvSpPr txBox="1"/>
          <p:nvPr userDrawn="1"/>
        </p:nvSpPr>
        <p:spPr>
          <a:xfrm>
            <a:off x="501650" y="6656740"/>
            <a:ext cx="5355168" cy="201260"/>
          </a:xfrm>
          <a:prstGeom prst="rect">
            <a:avLst/>
          </a:prstGeom>
          <a:noFill/>
        </p:spPr>
        <p:txBody>
          <a:bodyPr wrap="square" lIns="0" tIns="0" rIns="0" bIns="0" rtlCol="0">
            <a:noAutofit/>
          </a:bodyPr>
          <a:lstStyle/>
          <a:p>
            <a:pPr>
              <a:spcBef>
                <a:spcPts val="600"/>
              </a:spcBef>
              <a:buSzPct val="100000"/>
              <a:buFont typeface="Arial"/>
              <a:buNone/>
            </a:pPr>
            <a:r>
              <a:rPr lang="fr-FR" sz="635">
                <a:solidFill>
                  <a:prstClr val="white"/>
                </a:solidFill>
              </a:rPr>
              <a:t>© 2017 Deloitte Touche Tohmatsu India LLP</a:t>
            </a:r>
          </a:p>
        </p:txBody>
      </p:sp>
    </p:spTree>
    <p:extLst>
      <p:ext uri="{BB962C8B-B14F-4D97-AF65-F5344CB8AC3E}">
        <p14:creationId xmlns:p14="http://schemas.microsoft.com/office/powerpoint/2010/main" val="373180257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8548900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12" name="TextBox 11"/>
          <p:cNvSpPr txBox="1"/>
          <p:nvPr/>
        </p:nvSpPr>
        <p:spPr>
          <a:xfrm>
            <a:off x="11382377" y="6477001"/>
            <a:ext cx="307974"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6" name="TextBox 5"/>
          <p:cNvSpPr txBox="1"/>
          <p:nvPr userDrawn="1"/>
        </p:nvSpPr>
        <p:spPr>
          <a:xfrm>
            <a:off x="6812266" y="6583015"/>
            <a:ext cx="4896560" cy="200055"/>
          </a:xfrm>
          <a:prstGeom prst="rect">
            <a:avLst/>
          </a:prstGeom>
          <a:noFill/>
        </p:spPr>
        <p:txBody>
          <a:bodyPr wrap="square" lIns="0" tIns="0" rIns="0" bIns="0" rtlCol="0">
            <a:noAutofit/>
          </a:bodyPr>
          <a:lstStyle/>
          <a:p>
            <a:pPr algn="r">
              <a:buSzPct val="100000"/>
              <a:buFont typeface="Arial"/>
              <a:buNone/>
            </a:pPr>
            <a:r>
              <a:rPr lang="en-US" sz="635">
                <a:solidFill>
                  <a:prstClr val="white"/>
                </a:solidFill>
              </a:rPr>
              <a:t>Institutional Strengthening of JBVNL – Phase 1</a:t>
            </a:r>
          </a:p>
          <a:p>
            <a:pPr algn="r">
              <a:buSzPct val="100000"/>
              <a:buFont typeface="Arial"/>
              <a:buNone/>
            </a:pPr>
            <a:r>
              <a:rPr lang="en-US" sz="635">
                <a:solidFill>
                  <a:prstClr val="white"/>
                </a:solidFill>
              </a:rPr>
              <a:t>The World Bank</a:t>
            </a:r>
          </a:p>
        </p:txBody>
      </p:sp>
      <p:sp>
        <p:nvSpPr>
          <p:cNvPr id="7" name="TextBox 6"/>
          <p:cNvSpPr txBox="1"/>
          <p:nvPr userDrawn="1"/>
        </p:nvSpPr>
        <p:spPr>
          <a:xfrm>
            <a:off x="501650" y="6656740"/>
            <a:ext cx="5355168" cy="201260"/>
          </a:xfrm>
          <a:prstGeom prst="rect">
            <a:avLst/>
          </a:prstGeom>
          <a:noFill/>
        </p:spPr>
        <p:txBody>
          <a:bodyPr wrap="square" lIns="0" tIns="0" rIns="0" bIns="0" rtlCol="0">
            <a:noAutofit/>
          </a:bodyPr>
          <a:lstStyle/>
          <a:p>
            <a:pPr>
              <a:spcBef>
                <a:spcPts val="600"/>
              </a:spcBef>
              <a:buSzPct val="100000"/>
              <a:buFont typeface="Arial"/>
              <a:buNone/>
            </a:pPr>
            <a:r>
              <a:rPr lang="fr-FR" sz="635">
                <a:solidFill>
                  <a:prstClr val="white"/>
                </a:solidFill>
              </a:rPr>
              <a:t>© 2016 Deloitte Touche Tohmatsu India LLP</a:t>
            </a:r>
          </a:p>
        </p:txBody>
      </p:sp>
    </p:spTree>
    <p:extLst>
      <p:ext uri="{BB962C8B-B14F-4D97-AF65-F5344CB8AC3E}">
        <p14:creationId xmlns:p14="http://schemas.microsoft.com/office/powerpoint/2010/main" val="637342526"/>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068272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2848020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6090386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434004773"/>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213476679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9244540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0515000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260855798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40465104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114906015"/>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22688383"/>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68916135"/>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5" name="Rectangle 4"/>
          <p:cNvSpPr/>
          <p:nvPr/>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7" name="Rectangle 6"/>
          <p:cNvSpPr/>
          <p:nvPr/>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39330794"/>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2" y="1700214"/>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9" y="1700214"/>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4034141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2" name="Rectangle 1"/>
          <p:cNvSpPr/>
          <p:nvPr userDrawn="1"/>
        </p:nvSpPr>
        <p:spPr bwMode="gray">
          <a:xfrm>
            <a:off x="10985500" y="6667500"/>
            <a:ext cx="927100" cy="101600"/>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Tree>
    <p:extLst>
      <p:ext uri="{BB962C8B-B14F-4D97-AF65-F5344CB8AC3E}">
        <p14:creationId xmlns:p14="http://schemas.microsoft.com/office/powerpoint/2010/main" val="239363224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163616814"/>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13" name="Rectangle 12"/>
          <p:cNvSpPr/>
          <p:nvPr/>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a:solidFill>
                <a:prstClr val="white"/>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Tree>
    <p:extLst>
      <p:ext uri="{BB962C8B-B14F-4D97-AF65-F5344CB8AC3E}">
        <p14:creationId xmlns:p14="http://schemas.microsoft.com/office/powerpoint/2010/main" val="1698673835"/>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764173079"/>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8032028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a:t>Click to add subtitle</a:t>
            </a:r>
          </a:p>
        </p:txBody>
      </p:sp>
      <p:sp>
        <p:nvSpPr>
          <p:cNvPr id="15" name="TextBox 14"/>
          <p:cNvSpPr txBox="1"/>
          <p:nvPr/>
        </p:nvSpPr>
        <p:spPr>
          <a:xfrm>
            <a:off x="11382377" y="6477001"/>
            <a:ext cx="307974" cy="100027"/>
          </a:xfrm>
          <a:prstGeom prst="rect">
            <a:avLst/>
          </a:prstGeom>
          <a:noFill/>
        </p:spPr>
        <p:txBody>
          <a:bodyPr wrap="square" lIns="0" tIns="0" rIns="0" bIns="0" rtlCol="0">
            <a:spAutoFit/>
          </a:bodyPr>
          <a:lstStyle/>
          <a:p>
            <a:pPr algn="r">
              <a:spcBef>
                <a:spcPts val="600"/>
              </a:spcBef>
              <a:buSzPct val="100000"/>
              <a:buFont typeface="Arial"/>
              <a:buNone/>
            </a:pPr>
            <a:fld id="{C58DF478-B544-4ED8-9ED4-6A2648E2D233}" type="slidenum">
              <a:rPr lang="en-US" sz="650" smtClean="0">
                <a:solidFill>
                  <a:prstClr val="white"/>
                </a:solidFill>
              </a:rPr>
              <a:pPr algn="r">
                <a:spcBef>
                  <a:spcPts val="600"/>
                </a:spcBef>
                <a:buSzPct val="100000"/>
                <a:buFont typeface="Arial"/>
                <a:buNone/>
              </a:pPr>
              <a:t>‹#›</a:t>
            </a:fld>
            <a:endParaRPr lang="en-US" sz="650">
              <a:solidFill>
                <a:prstClr val="white"/>
              </a:solidFill>
            </a:endParaRPr>
          </a:p>
        </p:txBody>
      </p:sp>
      <p:sp>
        <p:nvSpPr>
          <p:cNvPr id="11" name="TextBox 10"/>
          <p:cNvSpPr txBox="1"/>
          <p:nvPr userDrawn="1"/>
        </p:nvSpPr>
        <p:spPr>
          <a:xfrm>
            <a:off x="6812266" y="6583015"/>
            <a:ext cx="4896560" cy="200055"/>
          </a:xfrm>
          <a:prstGeom prst="rect">
            <a:avLst/>
          </a:prstGeom>
          <a:noFill/>
        </p:spPr>
        <p:txBody>
          <a:bodyPr wrap="square" lIns="0" tIns="0" rIns="0" bIns="0" rtlCol="0">
            <a:noAutofit/>
          </a:bodyPr>
          <a:lstStyle/>
          <a:p>
            <a:pPr algn="r">
              <a:buSzPct val="100000"/>
              <a:buFont typeface="Arial"/>
              <a:buNone/>
            </a:pPr>
            <a:r>
              <a:rPr lang="en-US" sz="635">
                <a:solidFill>
                  <a:prstClr val="white"/>
                </a:solidFill>
              </a:rPr>
              <a:t>Institutional Strengthening of JBVNL – Phase 1</a:t>
            </a:r>
          </a:p>
          <a:p>
            <a:pPr algn="r">
              <a:buSzPct val="100000"/>
              <a:buFont typeface="Arial"/>
              <a:buNone/>
            </a:pPr>
            <a:r>
              <a:rPr lang="en-US" sz="635">
                <a:solidFill>
                  <a:prstClr val="white"/>
                </a:solidFill>
              </a:rPr>
              <a:t>The World Bank</a:t>
            </a:r>
          </a:p>
        </p:txBody>
      </p:sp>
      <p:sp>
        <p:nvSpPr>
          <p:cNvPr id="12" name="TextBox 11"/>
          <p:cNvSpPr txBox="1"/>
          <p:nvPr userDrawn="1"/>
        </p:nvSpPr>
        <p:spPr>
          <a:xfrm>
            <a:off x="501650" y="6656740"/>
            <a:ext cx="5355168" cy="201260"/>
          </a:xfrm>
          <a:prstGeom prst="rect">
            <a:avLst/>
          </a:prstGeom>
          <a:noFill/>
        </p:spPr>
        <p:txBody>
          <a:bodyPr wrap="square" lIns="0" tIns="0" rIns="0" bIns="0" rtlCol="0">
            <a:noAutofit/>
          </a:bodyPr>
          <a:lstStyle/>
          <a:p>
            <a:pPr>
              <a:spcBef>
                <a:spcPts val="600"/>
              </a:spcBef>
              <a:buSzPct val="100000"/>
              <a:buFont typeface="Arial"/>
              <a:buNone/>
            </a:pPr>
            <a:r>
              <a:rPr lang="fr-FR" sz="635">
                <a:solidFill>
                  <a:prstClr val="white"/>
                </a:solidFill>
              </a:rPr>
              <a:t>© 2016 Deloitte Touche Tohmatsu India LLP</a:t>
            </a:r>
          </a:p>
        </p:txBody>
      </p:sp>
    </p:spTree>
    <p:extLst>
      <p:ext uri="{BB962C8B-B14F-4D97-AF65-F5344CB8AC3E}">
        <p14:creationId xmlns:p14="http://schemas.microsoft.com/office/powerpoint/2010/main" val="118787067"/>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44803525"/>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109594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368720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600"/>
              </a:spcAft>
              <a:defRPr sz="2400"/>
            </a:lvl1pPr>
          </a:lstStyle>
          <a:p>
            <a:pPr lvl="0"/>
            <a:r>
              <a:rPr lang="en-US" noProof="0" dirty="0"/>
              <a:t>THANK YOU</a:t>
            </a:r>
          </a:p>
        </p:txBody>
      </p:sp>
    </p:spTree>
    <p:extLst>
      <p:ext uri="{BB962C8B-B14F-4D97-AF65-F5344CB8AC3E}">
        <p14:creationId xmlns:p14="http://schemas.microsoft.com/office/powerpoint/2010/main" val="16429477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p:cNvSpPr/>
          <p:nvPr userDrawn="1"/>
        </p:nvSpPr>
        <p:spPr>
          <a:xfrm>
            <a:off x="5323323" y="6456405"/>
            <a:ext cx="1588897" cy="369332"/>
          </a:xfrm>
          <a:prstGeom prst="rect">
            <a:avLst/>
          </a:prstGeom>
        </p:spPr>
        <p:txBody>
          <a:bodyPr wrap="none">
            <a:spAutoFit/>
          </a:bodyPr>
          <a:lstStyle/>
          <a:p>
            <a:pPr algn="ctr"/>
            <a:r>
              <a:rPr lang="en-US" sz="1800">
                <a:solidFill>
                  <a:schemeClr val="bg1"/>
                </a:solidFill>
              </a:rPr>
              <a:t>Finance/ HR</a:t>
            </a:r>
          </a:p>
        </p:txBody>
      </p:sp>
    </p:spTree>
    <p:extLst>
      <p:ext uri="{BB962C8B-B14F-4D97-AF65-F5344CB8AC3E}">
        <p14:creationId xmlns:p14="http://schemas.microsoft.com/office/powerpoint/2010/main" val="3318749584"/>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33745775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4268048980"/>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453816773"/>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912248919"/>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94081105"/>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74563"/>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513344891"/>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444258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3338015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68698722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Tree>
    <p:extLst>
      <p:ext uri="{BB962C8B-B14F-4D97-AF65-F5344CB8AC3E}">
        <p14:creationId xmlns:p14="http://schemas.microsoft.com/office/powerpoint/2010/main" val="19903481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Tree>
    <p:extLst>
      <p:ext uri="{BB962C8B-B14F-4D97-AF65-F5344CB8AC3E}">
        <p14:creationId xmlns:p14="http://schemas.microsoft.com/office/powerpoint/2010/main" val="150446234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0236313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1475893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7412344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2994345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3554589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3753823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96703206"/>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09798574"/>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35424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84806487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22977706"/>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074146575"/>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97463150"/>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114067377"/>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53673658"/>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1617022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00954630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9916355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emf"/><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image" Target="../media/image1.emf"/><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oleObject" Target="../embeddings/oleObject3.bin"/><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tags" Target="../tags/tag4.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theme" Target="../theme/theme2.xml"/><Relationship Id="rId8" Type="http://schemas.openxmlformats.org/officeDocument/2006/relationships/slideLayout" Target="../slideLayouts/slideLayout43.xml"/><Relationship Id="rId3"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slideLayout" Target="../slideLayouts/slideLayout95.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34" Type="http://schemas.openxmlformats.org/officeDocument/2006/relationships/oleObject" Target="../embeddings/oleObject4.bin"/><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tags" Target="../tags/tag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29" Type="http://schemas.openxmlformats.org/officeDocument/2006/relationships/slideLayout" Target="../slideLayouts/slideLayout98.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tags" Target="../tags/tag5.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31" Type="http://schemas.openxmlformats.org/officeDocument/2006/relationships/theme" Target="../theme/theme3.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image" Target="../media/image1.emf"/><Relationship Id="rId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7"/>
            </p:custDataLst>
            <p:extLst>
              <p:ext uri="{D42A27DB-BD31-4B8C-83A1-F6EECF244321}">
                <p14:modId xmlns:p14="http://schemas.microsoft.com/office/powerpoint/2010/main" val="1922145781"/>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8" imgW="270" imgH="270" progId="TCLayout.ActiveDocument.1">
                  <p:embed/>
                </p:oleObj>
              </mc:Choice>
              <mc:Fallback>
                <p:oleObj name="think-cell Slide" r:id="rId38" imgW="270" imgH="270" progId="TCLayout.ActiveDocument.1">
                  <p:embed/>
                  <p:pic>
                    <p:nvPicPr>
                      <p:cNvPr id="4" name="Object 3" hidden="1"/>
                      <p:cNvPicPr/>
                      <p:nvPr/>
                    </p:nvPicPr>
                    <p:blipFill>
                      <a:blip r:embed="rId39"/>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Rectangle 4">
            <a:extLst>
              <a:ext uri="{FF2B5EF4-FFF2-40B4-BE49-F238E27FC236}">
                <a16:creationId xmlns:a16="http://schemas.microsoft.com/office/drawing/2014/main" id="{3BD36D85-6AAA-1748-A7EE-DEB0F915F8B8}"/>
              </a:ext>
            </a:extLst>
          </p:cNvPr>
          <p:cNvSpPr/>
          <p:nvPr userDrawn="1"/>
        </p:nvSpPr>
        <p:spPr>
          <a:xfrm>
            <a:off x="10101453" y="6548390"/>
            <a:ext cx="1588897" cy="369332"/>
          </a:xfrm>
          <a:prstGeom prst="rect">
            <a:avLst/>
          </a:prstGeom>
        </p:spPr>
        <p:txBody>
          <a:bodyPr wrap="none">
            <a:spAutoFit/>
          </a:bodyPr>
          <a:lstStyle/>
          <a:p>
            <a:pPr algn="ctr"/>
            <a:r>
              <a:rPr lang="en-US" sz="1800">
                <a:solidFill>
                  <a:schemeClr val="bg1"/>
                </a:solidFill>
              </a:rPr>
              <a:t>Finance/ HR</a:t>
            </a:r>
          </a:p>
        </p:txBody>
      </p:sp>
    </p:spTree>
    <p:extLst>
      <p:ext uri="{BB962C8B-B14F-4D97-AF65-F5344CB8AC3E}">
        <p14:creationId xmlns:p14="http://schemas.microsoft.com/office/powerpoint/2010/main" val="331611716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2" r:id="rId8"/>
    <p:sldLayoutId id="2147483703"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 id="2147483732" r:id="rId32"/>
    <p:sldLayoutId id="2147483733" r:id="rId33"/>
    <p:sldLayoutId id="2147484006" r:id="rId34"/>
    <p:sldLayoutId id="2147484007" r:id="rId35"/>
  </p:sldLayoutIdLst>
  <p:transition>
    <p:fade/>
  </p:transition>
  <p:hf hdr="0" ftr="0" dt="0"/>
  <p:txStyles>
    <p:titleStyle>
      <a:lvl1pPr algn="l" defTabSz="914417" rtl="0" eaLnBrk="1" latinLnBrk="0" hangingPunct="1">
        <a:spcBef>
          <a:spcPct val="0"/>
        </a:spcBef>
        <a:buNone/>
        <a:defRPr sz="1814"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277">
          <p15:clr>
            <a:srgbClr val="F26B43"/>
          </p15:clr>
        </p15:guide>
        <p15:guide id="3" pos="6464">
          <p15:clr>
            <a:srgbClr val="F26B43"/>
          </p15:clr>
        </p15:guide>
        <p15:guide id="4" orient="horz" pos="219">
          <p15:clr>
            <a:srgbClr val="F26B43"/>
          </p15:clr>
        </p15:guide>
        <p15:guide id="5" orient="horz" pos="11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6"/>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4" name="Object 3" hidden="1"/>
                      <p:cNvPicPr/>
                      <p:nvPr/>
                    </p:nvPicPr>
                    <p:blipFill>
                      <a:blip r:embed="rId38"/>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6306795" y="6683043"/>
            <a:ext cx="307974" cy="100027"/>
          </a:xfrm>
          <a:prstGeom prst="rect">
            <a:avLst/>
          </a:prstGeom>
          <a:noFill/>
        </p:spPr>
        <p:txBody>
          <a:bodyPr wrap="square" lIns="0" tIns="0" rIns="0" bIns="0" rtlCol="0">
            <a:noAutofit/>
          </a:bodyPr>
          <a:lstStyle/>
          <a:p>
            <a:pPr algn="r">
              <a:spcBef>
                <a:spcPts val="600"/>
              </a:spcBef>
              <a:buSzPct val="100000"/>
              <a:buFont typeface="Arial"/>
              <a:buNone/>
            </a:pPr>
            <a:fld id="{C58DF478-B544-4ED8-9ED4-6A2648E2D233}" type="slidenum">
              <a:rPr lang="en-US" sz="635" smtClean="0">
                <a:solidFill>
                  <a:prstClr val="black"/>
                </a:solidFill>
              </a:rPr>
              <a:pPr algn="r">
                <a:spcBef>
                  <a:spcPts val="600"/>
                </a:spcBef>
                <a:buSzPct val="100000"/>
                <a:buFont typeface="Arial"/>
                <a:buNone/>
              </a:pPr>
              <a:t>‹#›</a:t>
            </a:fld>
            <a:endParaRPr lang="en-US" sz="635">
              <a:solidFill>
                <a:prstClr val="black"/>
              </a:solidFill>
            </a:endParaRPr>
          </a:p>
        </p:txBody>
      </p:sp>
    </p:spTree>
    <p:extLst>
      <p:ext uri="{BB962C8B-B14F-4D97-AF65-F5344CB8AC3E}">
        <p14:creationId xmlns:p14="http://schemas.microsoft.com/office/powerpoint/2010/main" val="3825404343"/>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928" r:id="rId34"/>
  </p:sldLayoutIdLst>
  <p:transition>
    <p:fade/>
  </p:transition>
  <p:hf hdr="0" ftr="0" dt="0"/>
  <p:txStyles>
    <p:titleStyle>
      <a:lvl1pPr algn="l" defTabSz="914417" rtl="0" eaLnBrk="1" latinLnBrk="0" hangingPunct="1">
        <a:spcBef>
          <a:spcPct val="0"/>
        </a:spcBef>
        <a:buNone/>
        <a:defRPr sz="1814"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277">
          <p15:clr>
            <a:srgbClr val="F26B43"/>
          </p15:clr>
        </p15:guide>
        <p15:guide id="3" pos="6464">
          <p15:clr>
            <a:srgbClr val="F26B43"/>
          </p15:clr>
        </p15:guide>
        <p15:guide id="4" orient="horz" pos="219">
          <p15:clr>
            <a:srgbClr val="F26B43"/>
          </p15:clr>
        </p15:guide>
        <p15:guide id="5"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2"/>
            </p:custDataLst>
            <p:extLst>
              <p:ext uri="{D42A27DB-BD31-4B8C-83A1-F6EECF244321}">
                <p14:modId xmlns:p14="http://schemas.microsoft.com/office/powerpoint/2010/main" val="2453912781"/>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4" name="Object 3" hidden="1"/>
                      <p:cNvPicPr/>
                      <p:nvPr/>
                    </p:nvPicPr>
                    <p:blipFill>
                      <a:blip r:embed="rId35"/>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33"/>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3949547354"/>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 id="2147483976" r:id="rId12"/>
    <p:sldLayoutId id="2147483977" r:id="rId13"/>
    <p:sldLayoutId id="2147483978" r:id="rId14"/>
    <p:sldLayoutId id="2147483979" r:id="rId15"/>
    <p:sldLayoutId id="2147483980" r:id="rId16"/>
    <p:sldLayoutId id="2147483981" r:id="rId17"/>
    <p:sldLayoutId id="2147483982" r:id="rId18"/>
    <p:sldLayoutId id="2147483983" r:id="rId19"/>
    <p:sldLayoutId id="2147483984" r:id="rId20"/>
    <p:sldLayoutId id="2147483985" r:id="rId21"/>
    <p:sldLayoutId id="2147483986" r:id="rId22"/>
    <p:sldLayoutId id="2147483987" r:id="rId23"/>
    <p:sldLayoutId id="2147483988" r:id="rId24"/>
    <p:sldLayoutId id="2147483989" r:id="rId25"/>
    <p:sldLayoutId id="2147483990" r:id="rId26"/>
    <p:sldLayoutId id="2147483991" r:id="rId27"/>
    <p:sldLayoutId id="2147483992" r:id="rId28"/>
    <p:sldLayoutId id="2147483993" r:id="rId29"/>
    <p:sldLayoutId id="2147483994" r:id="rId30"/>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0.xml"/><Relationship Id="rId7" Type="http://schemas.openxmlformats.org/officeDocument/2006/relationships/image" Target="../media/image3.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oleObject" Target="../embeddings/oleObject5.bin"/><Relationship Id="rId5" Type="http://schemas.openxmlformats.org/officeDocument/2006/relationships/image" Target="../media/image6.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slide" Target="slide1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image" Target="../media/image8.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3.emf"/><Relationship Id="rId5" Type="http://schemas.openxmlformats.org/officeDocument/2006/relationships/oleObject" Target="../embeddings/oleObject7.bin"/><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8.xml"/><Relationship Id="rId1" Type="http://schemas.openxmlformats.org/officeDocument/2006/relationships/tags" Target="../tags/tag13.xml"/><Relationship Id="rId5" Type="http://schemas.openxmlformats.org/officeDocument/2006/relationships/image" Target="../media/image3.e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name="think-cell Slide" r:id="rId6" imgW="530" imgH="531" progId="TCLayout.ActiveDocument.1">
                  <p:embed/>
                </p:oleObj>
              </mc:Choice>
              <mc:Fallback>
                <p:oleObj name="think-cell Slide" r:id="rId6" imgW="530" imgH="531" progId="TCLayout.ActiveDocument.1">
                  <p:embed/>
                  <p:pic>
                    <p:nvPicPr>
                      <p:cNvPr id="8" name="Object 7" hidden="1"/>
                      <p:cNvPicPr/>
                      <p:nvPr/>
                    </p:nvPicPr>
                    <p:blipFill>
                      <a:blip r:embed="rId7"/>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2"/>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marL="0" marR="0" lvl="0" indent="0" algn="ctr" defTabSz="914342" rtl="0" eaLnBrk="1" fontAlgn="auto" latinLnBrk="0" hangingPunct="1">
              <a:lnSpc>
                <a:spcPct val="100000"/>
              </a:lnSpc>
              <a:spcBef>
                <a:spcPct val="0"/>
              </a:spcBef>
              <a:spcAft>
                <a:spcPct val="0"/>
              </a:spcAft>
              <a:buClrTx/>
              <a:buSzTx/>
              <a:buFont typeface="Wingdings 2" pitchFamily="18" charset="2"/>
              <a:buNone/>
              <a:tabLst/>
              <a:defRPr/>
            </a:pPr>
            <a:endParaRPr kumimoji="0" lang="en-US" sz="1739" b="0" i="0" u="none" strike="noStrike" kern="1200" cap="none" spc="0" normalizeH="0" baseline="0" noProof="0">
              <a:ln>
                <a:noFill/>
              </a:ln>
              <a:solidFill>
                <a:prstClr val="white"/>
              </a:solidFill>
              <a:effectLst/>
              <a:uLnTx/>
              <a:uFillTx/>
              <a:latin typeface="Verdana" panose="020B0604030504040204" pitchFamily="34" charset="0"/>
              <a:ea typeface="+mn-ea"/>
              <a:cs typeface="+mn-cs"/>
              <a:sym typeface="Verdana" panose="020B0604030504040204" pitchFamily="34" charset="0"/>
            </a:endParaRPr>
          </a:p>
        </p:txBody>
      </p:sp>
      <p:sp>
        <p:nvSpPr>
          <p:cNvPr id="4" name="Subtitle 3"/>
          <p:cNvSpPr>
            <a:spLocks noGrp="1"/>
          </p:cNvSpPr>
          <p:nvPr>
            <p:ph type="subTitle" idx="1"/>
          </p:nvPr>
        </p:nvSpPr>
        <p:spPr>
          <a:xfrm>
            <a:off x="262165" y="2567461"/>
            <a:ext cx="5115178" cy="2102179"/>
          </a:xfrm>
        </p:spPr>
        <p:txBody>
          <a:bodyPr wrap="square" anchor="ctr" anchorCtr="0">
            <a:spAutoFit/>
          </a:bodyPr>
          <a:lstStyle/>
          <a:p>
            <a:pPr algn="just">
              <a:lnSpc>
                <a:spcPct val="114000"/>
              </a:lnSpc>
              <a:spcAft>
                <a:spcPts val="600"/>
              </a:spcAft>
            </a:pPr>
            <a:r>
              <a:rPr lang="en-US" sz="1800" b="0" dirty="0">
                <a:solidFill>
                  <a:schemeClr val="accent5">
                    <a:lumMod val="60000"/>
                    <a:lumOff val="40000"/>
                  </a:schemeClr>
                </a:solidFill>
              </a:rPr>
              <a:t>Setting up of a Regulatory Cell at Nepal Electricity Authority (NEA)</a:t>
            </a:r>
          </a:p>
          <a:p>
            <a:pPr algn="just">
              <a:lnSpc>
                <a:spcPct val="114000"/>
              </a:lnSpc>
              <a:spcAft>
                <a:spcPts val="600"/>
              </a:spcAft>
            </a:pPr>
            <a:endParaRPr lang="en-US" sz="1800" b="0" dirty="0">
              <a:solidFill>
                <a:schemeClr val="accent5">
                  <a:lumMod val="60000"/>
                  <a:lumOff val="40000"/>
                </a:schemeClr>
              </a:solidFill>
            </a:endParaRPr>
          </a:p>
          <a:p>
            <a:pPr algn="just">
              <a:lnSpc>
                <a:spcPct val="114000"/>
              </a:lnSpc>
              <a:spcAft>
                <a:spcPts val="600"/>
              </a:spcAft>
            </a:pPr>
            <a:r>
              <a:rPr lang="en-US" sz="1800" i="1" dirty="0"/>
              <a:t>Initial draft for discussion</a:t>
            </a:r>
          </a:p>
          <a:p>
            <a:pPr algn="just">
              <a:lnSpc>
                <a:spcPct val="114000"/>
              </a:lnSpc>
              <a:spcAft>
                <a:spcPts val="600"/>
              </a:spcAft>
            </a:pPr>
            <a:endParaRPr lang="en-US" sz="1800" b="0" dirty="0">
              <a:solidFill>
                <a:schemeClr val="accent5">
                  <a:lumMod val="60000"/>
                  <a:lumOff val="40000"/>
                </a:schemeClr>
              </a:solidFill>
            </a:endParaRPr>
          </a:p>
          <a:p>
            <a:pPr algn="just">
              <a:spcAft>
                <a:spcPts val="600"/>
              </a:spcAft>
            </a:pPr>
            <a:r>
              <a:rPr lang="en-US" sz="1400" b="0" dirty="0"/>
              <a:t>November 2024</a:t>
            </a:r>
            <a:endParaRPr lang="en-US" sz="2400" b="0" dirty="0"/>
          </a:p>
        </p:txBody>
      </p:sp>
      <p:sp>
        <p:nvSpPr>
          <p:cNvPr id="7" name="Rectangle 6">
            <a:extLst>
              <a:ext uri="{FF2B5EF4-FFF2-40B4-BE49-F238E27FC236}">
                <a16:creationId xmlns:a16="http://schemas.microsoft.com/office/drawing/2014/main" id="{64E20115-661E-F388-BEAB-F98159F2C7C2}"/>
              </a:ext>
            </a:extLst>
          </p:cNvPr>
          <p:cNvSpPr/>
          <p:nvPr/>
        </p:nvSpPr>
        <p:spPr bwMode="gray">
          <a:xfrm>
            <a:off x="141402" y="245097"/>
            <a:ext cx="2356701" cy="772998"/>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1A1AFA-4908-43F3-B780-A4767A349B9F}"/>
              </a:ext>
            </a:extLst>
          </p:cNvPr>
          <p:cNvSpPr/>
          <p:nvPr/>
        </p:nvSpPr>
        <p:spPr bwMode="gray">
          <a:xfrm>
            <a:off x="-20685" y="2"/>
            <a:ext cx="12212685" cy="6857998"/>
          </a:xfrm>
          <a:prstGeom prst="rect">
            <a:avLst/>
          </a:prstGeom>
          <a:solidFill>
            <a:schemeClr val="tx1">
              <a:alpha val="87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a:ln>
                <a:noFill/>
              </a:ln>
              <a:solidFill>
                <a:prstClr val="white"/>
              </a:solidFill>
              <a:effectLst/>
              <a:uLnTx/>
              <a:uFillTx/>
              <a:latin typeface="Verdana"/>
              <a:ea typeface="+mn-ea"/>
              <a:cs typeface="+mn-cs"/>
            </a:endParaRPr>
          </a:p>
        </p:txBody>
      </p:sp>
      <p:sp>
        <p:nvSpPr>
          <p:cNvPr id="4" name="Rectangle 3">
            <a:extLst>
              <a:ext uri="{FF2B5EF4-FFF2-40B4-BE49-F238E27FC236}">
                <a16:creationId xmlns:a16="http://schemas.microsoft.com/office/drawing/2014/main" id="{9D7007A1-C7F4-4CE0-9CDA-3597F295AFFB}"/>
              </a:ext>
            </a:extLst>
          </p:cNvPr>
          <p:cNvSpPr/>
          <p:nvPr/>
        </p:nvSpPr>
        <p:spPr>
          <a:xfrm>
            <a:off x="453294" y="620865"/>
            <a:ext cx="2437205" cy="446597"/>
          </a:xfrm>
          <a:prstGeom prst="rect">
            <a:avLst/>
          </a:prstGeom>
        </p:spPr>
        <p:txBody>
          <a:bodyPr wrap="square" lIns="0" tIns="0" rIns="0" bIns="0">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a:ln>
                  <a:noFill/>
                </a:ln>
                <a:solidFill>
                  <a:prstClr val="white"/>
                </a:solidFill>
                <a:effectLst/>
                <a:uLnTx/>
                <a:uFillTx/>
                <a:latin typeface="Verdana"/>
                <a:ea typeface="+mn-ea"/>
                <a:cs typeface="+mn-cs"/>
              </a:rPr>
              <a:t>COVERAGE </a:t>
            </a:r>
            <a:endParaRPr kumimoji="0" lang="en-IN" sz="2902" b="0" i="0" u="none" strike="noStrike" kern="1200" cap="none" spc="272" normalizeH="0" baseline="0" noProof="0">
              <a:ln>
                <a:noFill/>
              </a:ln>
              <a:solidFill>
                <a:prstClr val="white"/>
              </a:solidFill>
              <a:effectLst/>
              <a:uLnTx/>
              <a:uFillTx/>
              <a:latin typeface="Verdana"/>
              <a:ea typeface="+mn-ea"/>
              <a:cs typeface="+mn-cs"/>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extLst>
              <p:ext uri="{D42A27DB-BD31-4B8C-83A1-F6EECF244321}">
                <p14:modId xmlns:p14="http://schemas.microsoft.com/office/powerpoint/2010/main" val="258204799"/>
              </p:ext>
            </p:extLst>
          </p:nvPr>
        </p:nvGraphicFramePr>
        <p:xfrm>
          <a:off x="453294" y="1386442"/>
          <a:ext cx="5642706" cy="4987818"/>
        </p:xfrm>
        <a:graphic>
          <a:graphicData uri="http://schemas.openxmlformats.org/drawingml/2006/table">
            <a:tbl>
              <a:tblPr>
                <a:tableStyleId>{2D5ABB26-0587-4C30-8999-92F81FD0307C}</a:tableStyleId>
              </a:tblPr>
              <a:tblGrid>
                <a:gridCol w="794590">
                  <a:extLst>
                    <a:ext uri="{9D8B030D-6E8A-4147-A177-3AD203B41FA5}">
                      <a16:colId xmlns:a16="http://schemas.microsoft.com/office/drawing/2014/main" val="20000"/>
                    </a:ext>
                  </a:extLst>
                </a:gridCol>
                <a:gridCol w="4848116">
                  <a:extLst>
                    <a:ext uri="{9D8B030D-6E8A-4147-A177-3AD203B41FA5}">
                      <a16:colId xmlns:a16="http://schemas.microsoft.com/office/drawing/2014/main" val="20001"/>
                    </a:ext>
                  </a:extLst>
                </a:gridCol>
              </a:tblGrid>
              <a:tr h="74436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Need for a Regulatory Department within NEA</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732441">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Key Objectives and Responsibilities of a Utility Regulatory Department</a:t>
                      </a:r>
                      <a:endParaRPr kumimoji="0" lang="en-US" sz="1100" b="0" i="1" u="none" strike="noStrike" kern="1200" cap="none" spc="0" normalizeH="0" baseline="0" noProof="0">
                        <a:ln>
                          <a:noFill/>
                        </a:ln>
                        <a:solidFill>
                          <a:srgbClr val="00ABAB"/>
                        </a:solidFill>
                        <a:effectLst/>
                        <a:uLnTx/>
                        <a:uFillTx/>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71885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Structure of a Regulatory Team in Uttarakhand and West Bengal (India)</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631270372"/>
                  </a:ext>
                </a:extLst>
              </a:tr>
              <a:tr h="718855">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mn-lt"/>
                          <a:ea typeface="+mn-ea"/>
                          <a:cs typeface="+mn-cs"/>
                        </a:rPr>
                        <a:t>Regulatory Cell Indicative Structure for NEA</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2"/>
                  </a:ext>
                </a:extLst>
              </a:tr>
              <a:tr h="746620">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mn-lt"/>
                          <a:ea typeface="+mn-ea"/>
                          <a:cs typeface="+mn-cs"/>
                        </a:rPr>
                        <a:t>Regulatory Cell Roles and Responsibilities</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6"/>
                  </a:ext>
                </a:extLst>
              </a:tr>
              <a:tr h="663343">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n-lt"/>
                          <a:ea typeface="+mn-ea"/>
                          <a:cs typeface="+mn-cs"/>
                        </a:rPr>
                        <a:t>Measures to be taken for setting up of a Regulatory Cell within NEA</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958107146"/>
                  </a:ext>
                </a:extLst>
              </a:tr>
              <a:tr h="663343">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n-lt"/>
                          <a:ea typeface="+mn-ea"/>
                          <a:cs typeface="+mn-cs"/>
                        </a:rPr>
                        <a:t>Capacity Building Requirements for Regulatory Cell at NEA</a:t>
                      </a:r>
                    </a:p>
                  </a:txBody>
                  <a:tcPr marL="82918" marR="82918" marT="41459" marB="41459"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375582341"/>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660973" y="1537599"/>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660973" y="2275575"/>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660973" y="3018911"/>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sp>
        <p:nvSpPr>
          <p:cNvPr id="9" name="Oval 8">
            <a:extLst>
              <a:ext uri="{FF2B5EF4-FFF2-40B4-BE49-F238E27FC236}">
                <a16:creationId xmlns:a16="http://schemas.microsoft.com/office/drawing/2014/main" id="{3273B13A-D4B8-40C0-84EA-C9DA70E457DA}"/>
              </a:ext>
            </a:extLst>
          </p:cNvPr>
          <p:cNvSpPr>
            <a:spLocks noChangeAspect="1"/>
          </p:cNvSpPr>
          <p:nvPr/>
        </p:nvSpPr>
        <p:spPr>
          <a:xfrm>
            <a:off x="660973" y="3739502"/>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4</a:t>
            </a:r>
          </a:p>
        </p:txBody>
      </p:sp>
      <p:sp>
        <p:nvSpPr>
          <p:cNvPr id="10" name="Oval 9">
            <a:extLst>
              <a:ext uri="{FF2B5EF4-FFF2-40B4-BE49-F238E27FC236}">
                <a16:creationId xmlns:a16="http://schemas.microsoft.com/office/drawing/2014/main" id="{A1D0D3E3-B19B-4FE2-9161-C5EFB2FB9037}"/>
              </a:ext>
            </a:extLst>
          </p:cNvPr>
          <p:cNvSpPr>
            <a:spLocks noChangeAspect="1"/>
          </p:cNvSpPr>
          <p:nvPr/>
        </p:nvSpPr>
        <p:spPr>
          <a:xfrm>
            <a:off x="660973" y="4455438"/>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5</a:t>
            </a:r>
          </a:p>
        </p:txBody>
      </p:sp>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srcRect r="20468" b="10390"/>
          <a:stretch/>
        </p:blipFill>
        <p:spPr>
          <a:xfrm>
            <a:off x="6470547" y="2678726"/>
            <a:ext cx="5721453" cy="4179274"/>
          </a:xfrm>
          <a:prstGeom prst="rect">
            <a:avLst/>
          </a:prstGeom>
        </p:spPr>
      </p:pic>
      <p:sp>
        <p:nvSpPr>
          <p:cNvPr id="2" name="Oval 1">
            <a:extLst>
              <a:ext uri="{FF2B5EF4-FFF2-40B4-BE49-F238E27FC236}">
                <a16:creationId xmlns:a16="http://schemas.microsoft.com/office/drawing/2014/main" id="{C4CF1522-E7D9-EC6E-D31C-8A6B71AFAE25}"/>
              </a:ext>
            </a:extLst>
          </p:cNvPr>
          <p:cNvSpPr>
            <a:spLocks noChangeAspect="1"/>
          </p:cNvSpPr>
          <p:nvPr/>
        </p:nvSpPr>
        <p:spPr>
          <a:xfrm>
            <a:off x="660972" y="5165169"/>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6</a:t>
            </a:r>
          </a:p>
        </p:txBody>
      </p:sp>
      <p:sp>
        <p:nvSpPr>
          <p:cNvPr id="11" name="Oval 10">
            <a:extLst>
              <a:ext uri="{FF2B5EF4-FFF2-40B4-BE49-F238E27FC236}">
                <a16:creationId xmlns:a16="http://schemas.microsoft.com/office/drawing/2014/main" id="{2D970ACD-26F9-E0C9-D1C5-66962CA6C95B}"/>
              </a:ext>
            </a:extLst>
          </p:cNvPr>
          <p:cNvSpPr>
            <a:spLocks noChangeAspect="1"/>
          </p:cNvSpPr>
          <p:nvPr/>
        </p:nvSpPr>
        <p:spPr>
          <a:xfrm>
            <a:off x="660971" y="5841878"/>
            <a:ext cx="390751" cy="390751"/>
          </a:xfrm>
          <a:prstGeom prst="ellipse">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lIns="82798" tIns="41397" rIns="82798" bIns="41397" rtlCol="0" anchor="ctr"/>
          <a:lstStyle/>
          <a:p>
            <a:pPr marL="0" marR="0" lvl="0" indent="0" algn="ctr" defTabSz="945677"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dirty="0">
                <a:ln>
                  <a:noFill/>
                </a:ln>
                <a:solidFill>
                  <a:prstClr val="white"/>
                </a:solidFill>
                <a:effectLst/>
                <a:uLnTx/>
                <a:uFillTx/>
                <a:latin typeface="Verdana"/>
                <a:ea typeface="+mn-ea"/>
                <a:cs typeface="+mn-cs"/>
              </a:rPr>
              <a:t>7</a:t>
            </a:r>
          </a:p>
        </p:txBody>
      </p:sp>
    </p:spTree>
    <p:extLst>
      <p:ext uri="{BB962C8B-B14F-4D97-AF65-F5344CB8AC3E}">
        <p14:creationId xmlns:p14="http://schemas.microsoft.com/office/powerpoint/2010/main" val="124143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4"/>
          <p:cNvSpPr>
            <a:spLocks noGrp="1"/>
          </p:cNvSpPr>
          <p:nvPr>
            <p:ph type="title"/>
          </p:nvPr>
        </p:nvSpPr>
        <p:spPr>
          <a:xfrm>
            <a:off x="342919" y="290225"/>
            <a:ext cx="11188700" cy="698500"/>
          </a:xfrm>
        </p:spPr>
        <p:txBody>
          <a:bodyPr/>
          <a:lstStyle/>
          <a:p>
            <a:r>
              <a:rPr lang="en-US" dirty="0"/>
              <a:t>Need for a Regulatory Department within NEA</a:t>
            </a:r>
            <a:br>
              <a:rPr lang="en-US" dirty="0"/>
            </a:br>
            <a:r>
              <a:rPr kumimoji="0" lang="en-US" sz="1600" b="0" i="1" u="none" strike="noStrike" kern="1200" cap="none" spc="0" normalizeH="0" baseline="0" noProof="0" dirty="0">
                <a:ln>
                  <a:noFill/>
                </a:ln>
                <a:solidFill>
                  <a:srgbClr val="012169">
                    <a:lumMod val="60000"/>
                    <a:lumOff val="40000"/>
                  </a:srgbClr>
                </a:solidFill>
                <a:effectLst/>
                <a:uLnTx/>
                <a:uFillTx/>
                <a:latin typeface="Verdana"/>
                <a:ea typeface="+mj-ea"/>
                <a:cs typeface="+mj-cs"/>
              </a:rPr>
              <a:t>Establishment of a Regulatory Cell within NEA would help in alignment with new regulatory regime, comply with the legislation and Electricity Regulatory Commission</a:t>
            </a:r>
            <a:r>
              <a:rPr lang="en-US" sz="1600" i="1" dirty="0">
                <a:solidFill>
                  <a:srgbClr val="012169">
                    <a:lumMod val="60000"/>
                    <a:lumOff val="40000"/>
                  </a:srgbClr>
                </a:solidFill>
                <a:latin typeface="Verdana"/>
              </a:rPr>
              <a:t>’s Five-Year Roadmap (2024-2029)</a:t>
            </a:r>
            <a:br>
              <a:rPr kumimoji="0" lang="en-US" sz="1600" b="0" i="1" u="none" strike="noStrike" kern="1200" cap="none" spc="0" normalizeH="0" baseline="0" noProof="0" dirty="0">
                <a:ln>
                  <a:noFill/>
                </a:ln>
                <a:solidFill>
                  <a:srgbClr val="012169">
                    <a:lumMod val="60000"/>
                    <a:lumOff val="40000"/>
                  </a:srgbClr>
                </a:solidFill>
                <a:effectLst/>
                <a:uLnTx/>
                <a:uFillTx/>
                <a:latin typeface="Verdana"/>
                <a:ea typeface="+mj-ea"/>
                <a:cs typeface="+mj-cs"/>
              </a:rPr>
            </a:br>
            <a:endParaRPr lang="en-IN" sz="1600" i="1" dirty="0">
              <a:solidFill>
                <a:srgbClr val="012169">
                  <a:lumMod val="60000"/>
                  <a:lumOff val="40000"/>
                </a:srgbClr>
              </a:solidFill>
            </a:endParaRPr>
          </a:p>
        </p:txBody>
      </p:sp>
      <p:sp>
        <p:nvSpPr>
          <p:cNvPr id="249" name="Rectangle 248">
            <a:extLst>
              <a:ext uri="{FF2B5EF4-FFF2-40B4-BE49-F238E27FC236}">
                <a16:creationId xmlns:a16="http://schemas.microsoft.com/office/drawing/2014/main" id="{920CAE85-DF59-715F-C47D-C406EC0F89B6}"/>
              </a:ext>
            </a:extLst>
          </p:cNvPr>
          <p:cNvSpPr/>
          <p:nvPr/>
        </p:nvSpPr>
        <p:spPr>
          <a:xfrm>
            <a:off x="424540" y="5213237"/>
            <a:ext cx="11107079" cy="11105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algn="ctr">
              <a:spcAft>
                <a:spcPts val="600"/>
              </a:spcAft>
            </a:pPr>
            <a:r>
              <a:rPr lang="en-US" sz="1200" dirty="0"/>
              <a:t>Accordingly, managing regulatory requirements is complex, involving and a challenging task. Utilities cannot be passive followers of regulatory pronouncements, but they have to play an increasingly active role in the evolution of regulation by actively communicating with the Regulator and other stakeholders. </a:t>
            </a:r>
          </a:p>
          <a:p>
            <a:pPr algn="ctr"/>
            <a:r>
              <a:rPr lang="en-US" sz="1200" b="1" i="1" dirty="0"/>
              <a:t>This can be achieved only if there is a vigilant and appropriately empowered Regulatory department in the utility</a:t>
            </a:r>
            <a:endParaRPr lang="en-US" sz="1200" dirty="0"/>
          </a:p>
        </p:txBody>
      </p:sp>
      <p:grpSp>
        <p:nvGrpSpPr>
          <p:cNvPr id="24" name="Group 23">
            <a:extLst>
              <a:ext uri="{FF2B5EF4-FFF2-40B4-BE49-F238E27FC236}">
                <a16:creationId xmlns:a16="http://schemas.microsoft.com/office/drawing/2014/main" id="{17C630C6-0645-CDD1-8FDF-837B8FB7A75B}"/>
              </a:ext>
            </a:extLst>
          </p:cNvPr>
          <p:cNvGrpSpPr/>
          <p:nvPr/>
        </p:nvGrpSpPr>
        <p:grpSpPr>
          <a:xfrm>
            <a:off x="419932" y="1401361"/>
            <a:ext cx="11111687" cy="3606068"/>
            <a:chOff x="469899" y="1161874"/>
            <a:chExt cx="11111687" cy="4095925"/>
          </a:xfrm>
        </p:grpSpPr>
        <p:sp>
          <p:nvSpPr>
            <p:cNvPr id="6" name="Freeform 26">
              <a:extLst>
                <a:ext uri="{FF2B5EF4-FFF2-40B4-BE49-F238E27FC236}">
                  <a16:creationId xmlns:a16="http://schemas.microsoft.com/office/drawing/2014/main" id="{407DFB87-2310-7086-7EEB-2773230AE110}"/>
                </a:ext>
              </a:extLst>
            </p:cNvPr>
            <p:cNvSpPr>
              <a:spLocks noEditPoints="1"/>
            </p:cNvSpPr>
            <p:nvPr/>
          </p:nvSpPr>
          <p:spPr bwMode="auto">
            <a:xfrm>
              <a:off x="4307676" y="1161874"/>
              <a:ext cx="3431527" cy="4095925"/>
            </a:xfrm>
            <a:prstGeom prst="round2DiagRect">
              <a:avLst>
                <a:gd name="adj1" fmla="val 17151"/>
                <a:gd name="adj2" fmla="val 0"/>
              </a:avLst>
            </a:prstGeom>
            <a:solidFill>
              <a:sysClr val="window" lastClr="FFFFFF"/>
            </a:solidFill>
            <a:ln>
              <a:solidFill>
                <a:srgbClr val="000000"/>
              </a:solidFill>
            </a:ln>
          </p:spPr>
          <p:txBody>
            <a:bodyPr vert="horz" wrap="square" lIns="91440" tIns="182880" rIns="0" bIns="91440" numCol="1" anchor="t" anchorCtr="0" compatLnSpc="1">
              <a:prstTxWarp prst="textNoShape">
                <a:avLst/>
              </a:prstTxWarp>
            </a:bodyPr>
            <a:lstStyle/>
            <a:p>
              <a:pPr marL="0" marR="0" lvl="0" indent="0" algn="ctr" defTabSz="913686"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mj-lt"/>
                  <a:cs typeface="Arial" panose="020B0604020202020204" pitchFamily="34" charset="0"/>
                </a:rPr>
                <a:t> Lack of Centralized Documentation</a:t>
              </a:r>
            </a:p>
            <a:p>
              <a:pPr marL="0" marR="0" lvl="0" indent="0" defTabSz="913686"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mj-lt"/>
                <a:cs typeface="Arial" panose="020B0604020202020204" pitchFamily="34" charset="0"/>
              </a:endParaRPr>
            </a:p>
            <a:p>
              <a:pPr marL="171299" marR="0" lvl="0" indent="-171299" algn="just" defTabSz="913686"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dirty="0">
                  <a:solidFill>
                    <a:srgbClr val="000000"/>
                  </a:solidFill>
                  <a:latin typeface="+mj-lt"/>
                  <a:cs typeface="Arial" panose="020B0604020202020204" pitchFamily="34" charset="0"/>
                </a:rPr>
                <a:t>In absence of a centralized regulatory cell at NEA, documentation related to compliance, policies, and regulatory submissions is disorganized.</a:t>
              </a:r>
            </a:p>
            <a:p>
              <a:pPr marR="0" lvl="0" algn="just" defTabSz="913686" eaLnBrk="1" fontAlgn="auto" latinLnBrk="0" hangingPunct="1">
                <a:lnSpc>
                  <a:spcPct val="100000"/>
                </a:lnSpc>
                <a:spcBef>
                  <a:spcPts val="0"/>
                </a:spcBef>
                <a:spcAft>
                  <a:spcPts val="0"/>
                </a:spcAft>
                <a:buClrTx/>
                <a:buSzTx/>
                <a:tabLst/>
                <a:defRPr/>
              </a:pPr>
              <a:endParaRPr lang="en-US" sz="1200" kern="0" dirty="0">
                <a:solidFill>
                  <a:srgbClr val="000000"/>
                </a:solidFill>
                <a:latin typeface="+mj-lt"/>
                <a:cs typeface="Arial" panose="020B0604020202020204" pitchFamily="34" charset="0"/>
              </a:endParaRPr>
            </a:p>
            <a:p>
              <a:pPr marL="171299" marR="0" lvl="0" indent="-171299" algn="just" defTabSz="913686"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0" dirty="0">
                  <a:solidFill>
                    <a:srgbClr val="000000"/>
                  </a:solidFill>
                  <a:latin typeface="+mj-lt"/>
                  <a:cs typeface="Arial" panose="020B0604020202020204" pitchFamily="34" charset="0"/>
                </a:rPr>
                <a:t>The lack of oversight in maintaining consistent practices has led to varying approaches to documentation by different departments, posing challenges to regulatory obligations.</a:t>
              </a:r>
              <a:endParaRPr kumimoji="0" lang="en-US" sz="1200" b="0" i="0" u="none" strike="noStrike" kern="0" cap="none" spc="0" normalizeH="0" baseline="0" noProof="0" dirty="0">
                <a:ln>
                  <a:noFill/>
                </a:ln>
                <a:solidFill>
                  <a:srgbClr val="000000"/>
                </a:solidFill>
                <a:effectLst/>
                <a:uLnTx/>
                <a:uFillTx/>
                <a:latin typeface="+mj-lt"/>
                <a:cs typeface="Arial" panose="020B0604020202020204" pitchFamily="34" charset="0"/>
              </a:endParaRPr>
            </a:p>
          </p:txBody>
        </p:sp>
        <p:sp>
          <p:nvSpPr>
            <p:cNvPr id="2" name="Freeform 26">
              <a:extLst>
                <a:ext uri="{FF2B5EF4-FFF2-40B4-BE49-F238E27FC236}">
                  <a16:creationId xmlns:a16="http://schemas.microsoft.com/office/drawing/2014/main" id="{9292766F-B5AC-46CF-8459-50341C76828E}"/>
                </a:ext>
              </a:extLst>
            </p:cNvPr>
            <p:cNvSpPr>
              <a:spLocks noEditPoints="1"/>
            </p:cNvSpPr>
            <p:nvPr/>
          </p:nvSpPr>
          <p:spPr bwMode="auto">
            <a:xfrm>
              <a:off x="8150059" y="1161874"/>
              <a:ext cx="3431527" cy="4095925"/>
            </a:xfrm>
            <a:prstGeom prst="round2DiagRect">
              <a:avLst>
                <a:gd name="adj1" fmla="val 16859"/>
                <a:gd name="adj2" fmla="val 0"/>
              </a:avLst>
            </a:prstGeom>
            <a:solidFill>
              <a:sysClr val="window" lastClr="FFFFFF"/>
            </a:solidFill>
            <a:ln>
              <a:solidFill>
                <a:srgbClr val="75787B"/>
              </a:solidFill>
            </a:ln>
          </p:spPr>
          <p:txBody>
            <a:bodyPr vert="horz" wrap="square" lIns="91440" tIns="182880" rIns="0" bIns="91440" numCol="1" anchor="t" anchorCtr="0" compatLnSpc="1">
              <a:prstTxWarp prst="textNoShape">
                <a:avLst/>
              </a:prstTxWarp>
            </a:bodyPr>
            <a:lstStyle/>
            <a:p>
              <a:pPr marL="0" marR="0" lvl="0" indent="0" algn="ctr" defTabSz="913686" eaLnBrk="1" fontAlgn="auto" latinLnBrk="0" hangingPunct="1">
                <a:lnSpc>
                  <a:spcPct val="100000"/>
                </a:lnSpc>
                <a:spcBef>
                  <a:spcPts val="0"/>
                </a:spcBef>
                <a:spcAft>
                  <a:spcPts val="0"/>
                </a:spcAft>
                <a:buClrTx/>
                <a:buSzTx/>
                <a:buFontTx/>
                <a:buNone/>
                <a:tabLst/>
                <a:defRPr/>
              </a:pPr>
              <a:r>
                <a:rPr lang="en-US" sz="1400" b="1" kern="0" dirty="0">
                  <a:solidFill>
                    <a:srgbClr val="75787B"/>
                  </a:solidFill>
                  <a:latin typeface="+mj-lt"/>
                  <a:cs typeface="Arial" panose="020B0604020202020204" pitchFamily="34" charset="0"/>
                </a:rPr>
                <a:t>Underutilization of institutional memory</a:t>
              </a:r>
              <a:endParaRPr kumimoji="0" lang="en-US" sz="1400" b="1" i="0" u="none" strike="noStrike" kern="0" cap="none" spc="0" normalizeH="0" baseline="0" noProof="0" dirty="0">
                <a:ln>
                  <a:noFill/>
                </a:ln>
                <a:solidFill>
                  <a:srgbClr val="75787B"/>
                </a:solidFill>
                <a:effectLst/>
                <a:uLnTx/>
                <a:uFillTx/>
                <a:latin typeface="+mj-lt"/>
                <a:cs typeface="Arial" panose="020B0604020202020204" pitchFamily="34" charset="0"/>
              </a:endParaRPr>
            </a:p>
            <a:p>
              <a:pPr marL="0" marR="0" lvl="0" indent="0" defTabSz="913686"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mj-lt"/>
                <a:cs typeface="Arial" panose="020B0604020202020204" pitchFamily="34" charset="0"/>
              </a:endParaRPr>
            </a:p>
            <a:p>
              <a:pPr marL="171299" marR="0" lvl="0" indent="-171299" algn="just" defTabSz="9136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cs typeface="Arial" panose="020B0604020202020204" pitchFamily="34" charset="0"/>
                </a:rPr>
                <a:t>Situations entailing personnel change or retirement of individuals is challenging for NEA as important regulatory knowledge is not documented due to lack of structured framework and SOPs leading to underutilization of institutional memory.</a:t>
              </a:r>
            </a:p>
            <a:p>
              <a:pPr marL="171299" marR="0" lvl="0" indent="-171299" algn="just" defTabSz="913686"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0" dirty="0">
                <a:solidFill>
                  <a:srgbClr val="000000"/>
                </a:solidFill>
                <a:latin typeface="+mj-lt"/>
                <a:cs typeface="Arial" panose="020B0604020202020204" pitchFamily="34" charset="0"/>
              </a:endParaRPr>
            </a:p>
            <a:p>
              <a:pPr marL="171299" marR="0" lvl="0" indent="-171299" algn="just" defTabSz="9136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cs typeface="Arial" panose="020B0604020202020204" pitchFamily="34" charset="0"/>
                </a:rPr>
                <a:t>The risk of data breaches due to lack of well-defined documentation protocols can make it difficult to prepare for internal or external audits.</a:t>
              </a:r>
            </a:p>
          </p:txBody>
        </p:sp>
        <p:sp>
          <p:nvSpPr>
            <p:cNvPr id="10" name="Freeform 26">
              <a:extLst>
                <a:ext uri="{FF2B5EF4-FFF2-40B4-BE49-F238E27FC236}">
                  <a16:creationId xmlns:a16="http://schemas.microsoft.com/office/drawing/2014/main" id="{9FFBF7CC-7F56-F534-8F33-24091163D11F}"/>
                </a:ext>
              </a:extLst>
            </p:cNvPr>
            <p:cNvSpPr>
              <a:spLocks noEditPoints="1"/>
            </p:cNvSpPr>
            <p:nvPr/>
          </p:nvSpPr>
          <p:spPr bwMode="auto">
            <a:xfrm>
              <a:off x="469899" y="1161874"/>
              <a:ext cx="3431527" cy="4095925"/>
            </a:xfrm>
            <a:prstGeom prst="round2DiagRect">
              <a:avLst>
                <a:gd name="adj1" fmla="val 17277"/>
                <a:gd name="adj2" fmla="val 0"/>
              </a:avLst>
            </a:prstGeom>
            <a:solidFill>
              <a:srgbClr val="FFFFFF"/>
            </a:solidFill>
            <a:ln>
              <a:solidFill>
                <a:srgbClr val="43B02A"/>
              </a:solidFill>
            </a:ln>
          </p:spPr>
          <p:txBody>
            <a:bodyPr vert="horz" wrap="square" lIns="91440" tIns="182880" rIns="0" bIns="91440" numCol="1" anchor="t" anchorCtr="0" compatLnSpc="1">
              <a:prstTxWarp prst="textNoShape">
                <a:avLst/>
              </a:prstTxWarp>
            </a:bodyPr>
            <a:lstStyle/>
            <a:p>
              <a:pPr algn="ctr" defTabSz="913686"/>
              <a:r>
                <a:rPr lang="en-US" sz="1600" b="1" dirty="0">
                  <a:solidFill>
                    <a:srgbClr val="43B02A"/>
                  </a:solidFill>
                  <a:latin typeface="+mj-lt"/>
                  <a:cs typeface="Arial" panose="020B0604020202020204" pitchFamily="34" charset="0"/>
                </a:rPr>
                <a:t>Ineffective Data </a:t>
              </a:r>
            </a:p>
            <a:p>
              <a:pPr algn="ctr" defTabSz="913686"/>
              <a:r>
                <a:rPr lang="en-US" sz="1600" b="1" dirty="0">
                  <a:solidFill>
                    <a:srgbClr val="43B02A"/>
                  </a:solidFill>
                  <a:latin typeface="+mj-lt"/>
                  <a:cs typeface="Arial" panose="020B0604020202020204" pitchFamily="34" charset="0"/>
                </a:rPr>
                <a:t>Management</a:t>
              </a:r>
            </a:p>
            <a:p>
              <a:pPr defTabSz="913686"/>
              <a:endParaRPr lang="en-US" sz="1200" b="1" dirty="0">
                <a:solidFill>
                  <a:srgbClr val="000000"/>
                </a:solidFill>
                <a:latin typeface="+mj-lt"/>
                <a:cs typeface="Arial" panose="020B0604020202020204" pitchFamily="34" charset="0"/>
              </a:endParaRPr>
            </a:p>
            <a:p>
              <a:pPr marL="171299" indent="-171299" algn="just" defTabSz="913686">
                <a:buFont typeface="Arial" panose="020B0604020202020204" pitchFamily="34" charset="0"/>
                <a:buChar char="•"/>
              </a:pPr>
              <a:r>
                <a:rPr lang="en-US" sz="1200" dirty="0">
                  <a:solidFill>
                    <a:srgbClr val="000000"/>
                  </a:solidFill>
                  <a:latin typeface="+mj-lt"/>
                  <a:cs typeface="Arial" panose="020B0604020202020204" pitchFamily="34" charset="0"/>
                </a:rPr>
                <a:t>The lack of a Centralized Regulatory Cell at NEA has made it challenging to maintain the enormous volume of financial and non-financial data sought by the Regulatory Commission for meeting compliances within timelines.</a:t>
              </a:r>
            </a:p>
            <a:p>
              <a:pPr marL="171299" indent="-171299" algn="just" defTabSz="913686">
                <a:buFont typeface="Arial" panose="020B0604020202020204" pitchFamily="34" charset="0"/>
                <a:buChar char="•"/>
              </a:pPr>
              <a:endParaRPr lang="en-US" sz="1200" dirty="0">
                <a:solidFill>
                  <a:srgbClr val="000000"/>
                </a:solidFill>
                <a:latin typeface="+mj-lt"/>
                <a:cs typeface="Arial" panose="020B0604020202020204" pitchFamily="34" charset="0"/>
              </a:endParaRPr>
            </a:p>
            <a:p>
              <a:pPr marL="171299" indent="-171299" algn="just" defTabSz="913686">
                <a:buFont typeface="Arial" panose="020B0604020202020204" pitchFamily="34" charset="0"/>
                <a:buChar char="•"/>
              </a:pPr>
              <a:r>
                <a:rPr lang="en-US" sz="1200" dirty="0">
                  <a:solidFill>
                    <a:srgbClr val="000000"/>
                  </a:solidFill>
                  <a:latin typeface="+mj-lt"/>
                  <a:cs typeface="Arial" panose="020B0604020202020204" pitchFamily="34" charset="0"/>
                </a:rPr>
                <a:t>There are increased risks of inaccurate and incomplete reporting to stakeholders like GoN, ERC etc. due to absence of proper data management practices.</a:t>
              </a:r>
            </a:p>
          </p:txBody>
        </p:sp>
      </p:grpSp>
      <p:grpSp>
        <p:nvGrpSpPr>
          <p:cNvPr id="3" name="Graphic 4">
            <a:extLst>
              <a:ext uri="{FF2B5EF4-FFF2-40B4-BE49-F238E27FC236}">
                <a16:creationId xmlns:a16="http://schemas.microsoft.com/office/drawing/2014/main" id="{07E60C8E-2D7C-FC87-69AB-92D47505A1E4}"/>
              </a:ext>
            </a:extLst>
          </p:cNvPr>
          <p:cNvGrpSpPr>
            <a:grpSpLocks noChangeAspect="1"/>
          </p:cNvGrpSpPr>
          <p:nvPr/>
        </p:nvGrpSpPr>
        <p:grpSpPr>
          <a:xfrm>
            <a:off x="419932" y="1401361"/>
            <a:ext cx="699153" cy="698500"/>
            <a:chOff x="905454" y="2855717"/>
            <a:chExt cx="362309" cy="361971"/>
          </a:xfrm>
          <a:solidFill>
            <a:srgbClr val="007680"/>
          </a:solidFill>
        </p:grpSpPr>
        <p:sp>
          <p:nvSpPr>
            <p:cNvPr id="4" name="Graphic 4">
              <a:extLst>
                <a:ext uri="{FF2B5EF4-FFF2-40B4-BE49-F238E27FC236}">
                  <a16:creationId xmlns:a16="http://schemas.microsoft.com/office/drawing/2014/main" id="{4F7A620A-8A67-BECA-4ED3-0EDE51973D5A}"/>
                </a:ext>
              </a:extLst>
            </p:cNvPr>
            <p:cNvSpPr/>
            <p:nvPr/>
          </p:nvSpPr>
          <p:spPr>
            <a:xfrm>
              <a:off x="1012165" y="2998719"/>
              <a:ext cx="90098" cy="134063"/>
            </a:xfrm>
            <a:custGeom>
              <a:avLst/>
              <a:gdLst>
                <a:gd name="connsiteX0" fmla="*/ 0 w 90098"/>
                <a:gd name="connsiteY0" fmla="*/ 134064 h 134063"/>
                <a:gd name="connsiteX1" fmla="*/ 90098 w 90098"/>
                <a:gd name="connsiteY1" fmla="*/ 134064 h 134063"/>
                <a:gd name="connsiteX2" fmla="*/ 90098 w 90098"/>
                <a:gd name="connsiteY2" fmla="*/ 0 h 134063"/>
                <a:gd name="connsiteX3" fmla="*/ 0 w 90098"/>
                <a:gd name="connsiteY3" fmla="*/ 0 h 134063"/>
                <a:gd name="connsiteX4" fmla="*/ 0 w 90098"/>
                <a:gd name="connsiteY4" fmla="*/ 134064 h 134063"/>
                <a:gd name="connsiteX5" fmla="*/ 15975 w 90098"/>
                <a:gd name="connsiteY5" fmla="*/ 16598 h 134063"/>
                <a:gd name="connsiteX6" fmla="*/ 74123 w 90098"/>
                <a:gd name="connsiteY6" fmla="*/ 16598 h 134063"/>
                <a:gd name="connsiteX7" fmla="*/ 80513 w 90098"/>
                <a:gd name="connsiteY7" fmla="*/ 22982 h 134063"/>
                <a:gd name="connsiteX8" fmla="*/ 74123 w 90098"/>
                <a:gd name="connsiteY8" fmla="*/ 29366 h 134063"/>
                <a:gd name="connsiteX9" fmla="*/ 15336 w 90098"/>
                <a:gd name="connsiteY9" fmla="*/ 29366 h 134063"/>
                <a:gd name="connsiteX10" fmla="*/ 8946 w 90098"/>
                <a:gd name="connsiteY10" fmla="*/ 22982 h 134063"/>
                <a:gd name="connsiteX11" fmla="*/ 15975 w 90098"/>
                <a:gd name="connsiteY11" fmla="*/ 16598 h 134063"/>
                <a:gd name="connsiteX12" fmla="*/ 15975 w 90098"/>
                <a:gd name="connsiteY12" fmla="*/ 16598 h 134063"/>
                <a:gd name="connsiteX13" fmla="*/ 15975 w 90098"/>
                <a:gd name="connsiteY13" fmla="*/ 45965 h 134063"/>
                <a:gd name="connsiteX14" fmla="*/ 74123 w 90098"/>
                <a:gd name="connsiteY14" fmla="*/ 45965 h 134063"/>
                <a:gd name="connsiteX15" fmla="*/ 80513 w 90098"/>
                <a:gd name="connsiteY15" fmla="*/ 52349 h 134063"/>
                <a:gd name="connsiteX16" fmla="*/ 74123 w 90098"/>
                <a:gd name="connsiteY16" fmla="*/ 58733 h 134063"/>
                <a:gd name="connsiteX17" fmla="*/ 15336 w 90098"/>
                <a:gd name="connsiteY17" fmla="*/ 58733 h 134063"/>
                <a:gd name="connsiteX18" fmla="*/ 8946 w 90098"/>
                <a:gd name="connsiteY18" fmla="*/ 52349 h 134063"/>
                <a:gd name="connsiteX19" fmla="*/ 15975 w 90098"/>
                <a:gd name="connsiteY19" fmla="*/ 45965 h 134063"/>
                <a:gd name="connsiteX20" fmla="*/ 15975 w 90098"/>
                <a:gd name="connsiteY20" fmla="*/ 45965 h 134063"/>
                <a:gd name="connsiteX21" fmla="*/ 15975 w 90098"/>
                <a:gd name="connsiteY21" fmla="*/ 75331 h 134063"/>
                <a:gd name="connsiteX22" fmla="*/ 74123 w 90098"/>
                <a:gd name="connsiteY22" fmla="*/ 75331 h 134063"/>
                <a:gd name="connsiteX23" fmla="*/ 80513 w 90098"/>
                <a:gd name="connsiteY23" fmla="*/ 81715 h 134063"/>
                <a:gd name="connsiteX24" fmla="*/ 74123 w 90098"/>
                <a:gd name="connsiteY24" fmla="*/ 88099 h 134063"/>
                <a:gd name="connsiteX25" fmla="*/ 15336 w 90098"/>
                <a:gd name="connsiteY25" fmla="*/ 88099 h 134063"/>
                <a:gd name="connsiteX26" fmla="*/ 8946 w 90098"/>
                <a:gd name="connsiteY26" fmla="*/ 81715 h 134063"/>
                <a:gd name="connsiteX27" fmla="*/ 15975 w 90098"/>
                <a:gd name="connsiteY27" fmla="*/ 75331 h 134063"/>
                <a:gd name="connsiteX28" fmla="*/ 15975 w 90098"/>
                <a:gd name="connsiteY28" fmla="*/ 75331 h 134063"/>
                <a:gd name="connsiteX29" fmla="*/ 15975 w 90098"/>
                <a:gd name="connsiteY29" fmla="*/ 104697 h 134063"/>
                <a:gd name="connsiteX30" fmla="*/ 74123 w 90098"/>
                <a:gd name="connsiteY30" fmla="*/ 104697 h 134063"/>
                <a:gd name="connsiteX31" fmla="*/ 80513 w 90098"/>
                <a:gd name="connsiteY31" fmla="*/ 111081 h 134063"/>
                <a:gd name="connsiteX32" fmla="*/ 74123 w 90098"/>
                <a:gd name="connsiteY32" fmla="*/ 117465 h 134063"/>
                <a:gd name="connsiteX33" fmla="*/ 15336 w 90098"/>
                <a:gd name="connsiteY33" fmla="*/ 117465 h 134063"/>
                <a:gd name="connsiteX34" fmla="*/ 8946 w 90098"/>
                <a:gd name="connsiteY34" fmla="*/ 111081 h 134063"/>
                <a:gd name="connsiteX35" fmla="*/ 15975 w 90098"/>
                <a:gd name="connsiteY35" fmla="*/ 104697 h 134063"/>
                <a:gd name="connsiteX36" fmla="*/ 15975 w 90098"/>
                <a:gd name="connsiteY36" fmla="*/ 104697 h 13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0098" h="134063">
                  <a:moveTo>
                    <a:pt x="0" y="134064"/>
                  </a:moveTo>
                  <a:lnTo>
                    <a:pt x="90098" y="134064"/>
                  </a:lnTo>
                  <a:lnTo>
                    <a:pt x="90098" y="0"/>
                  </a:lnTo>
                  <a:lnTo>
                    <a:pt x="0" y="0"/>
                  </a:lnTo>
                  <a:lnTo>
                    <a:pt x="0" y="134064"/>
                  </a:lnTo>
                  <a:close/>
                  <a:moveTo>
                    <a:pt x="15975" y="16598"/>
                  </a:moveTo>
                  <a:lnTo>
                    <a:pt x="74123" y="16598"/>
                  </a:lnTo>
                  <a:cubicBezTo>
                    <a:pt x="77957" y="16598"/>
                    <a:pt x="80513" y="19152"/>
                    <a:pt x="80513" y="22982"/>
                  </a:cubicBezTo>
                  <a:cubicBezTo>
                    <a:pt x="80513" y="26813"/>
                    <a:pt x="77957" y="29366"/>
                    <a:pt x="74123" y="29366"/>
                  </a:cubicBezTo>
                  <a:lnTo>
                    <a:pt x="15336" y="29366"/>
                  </a:lnTo>
                  <a:cubicBezTo>
                    <a:pt x="11502" y="29366"/>
                    <a:pt x="8946" y="26813"/>
                    <a:pt x="8946" y="22982"/>
                  </a:cubicBezTo>
                  <a:cubicBezTo>
                    <a:pt x="8946" y="19152"/>
                    <a:pt x="12141" y="16598"/>
                    <a:pt x="15975" y="16598"/>
                  </a:cubicBezTo>
                  <a:lnTo>
                    <a:pt x="15975" y="16598"/>
                  </a:lnTo>
                  <a:close/>
                  <a:moveTo>
                    <a:pt x="15975" y="45965"/>
                  </a:moveTo>
                  <a:lnTo>
                    <a:pt x="74123" y="45965"/>
                  </a:lnTo>
                  <a:cubicBezTo>
                    <a:pt x="77957" y="45965"/>
                    <a:pt x="80513" y="48518"/>
                    <a:pt x="80513" y="52349"/>
                  </a:cubicBezTo>
                  <a:cubicBezTo>
                    <a:pt x="80513" y="56179"/>
                    <a:pt x="77957" y="58733"/>
                    <a:pt x="74123" y="58733"/>
                  </a:cubicBezTo>
                  <a:lnTo>
                    <a:pt x="15336" y="58733"/>
                  </a:lnTo>
                  <a:cubicBezTo>
                    <a:pt x="11502" y="58733"/>
                    <a:pt x="8946" y="56179"/>
                    <a:pt x="8946" y="52349"/>
                  </a:cubicBezTo>
                  <a:cubicBezTo>
                    <a:pt x="8946" y="48518"/>
                    <a:pt x="12141" y="45965"/>
                    <a:pt x="15975" y="45965"/>
                  </a:cubicBezTo>
                  <a:lnTo>
                    <a:pt x="15975" y="45965"/>
                  </a:lnTo>
                  <a:close/>
                  <a:moveTo>
                    <a:pt x="15975" y="75331"/>
                  </a:moveTo>
                  <a:lnTo>
                    <a:pt x="74123" y="75331"/>
                  </a:lnTo>
                  <a:cubicBezTo>
                    <a:pt x="77957" y="75331"/>
                    <a:pt x="80513" y="77884"/>
                    <a:pt x="80513" y="81715"/>
                  </a:cubicBezTo>
                  <a:cubicBezTo>
                    <a:pt x="80513" y="85545"/>
                    <a:pt x="77957" y="88099"/>
                    <a:pt x="74123" y="88099"/>
                  </a:cubicBezTo>
                  <a:lnTo>
                    <a:pt x="15336" y="88099"/>
                  </a:lnTo>
                  <a:cubicBezTo>
                    <a:pt x="11502" y="88099"/>
                    <a:pt x="8946" y="85545"/>
                    <a:pt x="8946" y="81715"/>
                  </a:cubicBezTo>
                  <a:cubicBezTo>
                    <a:pt x="8946" y="77884"/>
                    <a:pt x="12141" y="75331"/>
                    <a:pt x="15975" y="75331"/>
                  </a:cubicBezTo>
                  <a:lnTo>
                    <a:pt x="15975" y="75331"/>
                  </a:lnTo>
                  <a:close/>
                  <a:moveTo>
                    <a:pt x="15975" y="104697"/>
                  </a:moveTo>
                  <a:lnTo>
                    <a:pt x="74123" y="104697"/>
                  </a:lnTo>
                  <a:cubicBezTo>
                    <a:pt x="77957" y="104697"/>
                    <a:pt x="80513" y="107251"/>
                    <a:pt x="80513" y="111081"/>
                  </a:cubicBezTo>
                  <a:cubicBezTo>
                    <a:pt x="80513" y="114912"/>
                    <a:pt x="77957" y="117465"/>
                    <a:pt x="74123" y="117465"/>
                  </a:cubicBezTo>
                  <a:lnTo>
                    <a:pt x="15336" y="117465"/>
                  </a:lnTo>
                  <a:cubicBezTo>
                    <a:pt x="11502" y="117465"/>
                    <a:pt x="8946" y="114912"/>
                    <a:pt x="8946" y="111081"/>
                  </a:cubicBezTo>
                  <a:cubicBezTo>
                    <a:pt x="8946" y="107251"/>
                    <a:pt x="12141" y="104697"/>
                    <a:pt x="15975" y="104697"/>
                  </a:cubicBezTo>
                  <a:lnTo>
                    <a:pt x="15975" y="104697"/>
                  </a:lnTo>
                  <a:close/>
                </a:path>
              </a:pathLst>
            </a:custGeom>
            <a:solidFill>
              <a:srgbClr val="007680"/>
            </a:solidFill>
            <a:ln w="6390" cap="flat">
              <a:solidFill>
                <a:schemeClr val="accent1"/>
              </a:solidFill>
              <a:prstDash val="solid"/>
              <a:miter/>
            </a:ln>
          </p:spPr>
          <p:txBody>
            <a:bodyPr rtlCol="0" anchor="ctr"/>
            <a:lstStyle/>
            <a:p>
              <a:endParaRPr lang="en-US"/>
            </a:p>
          </p:txBody>
        </p:sp>
        <p:sp>
          <p:nvSpPr>
            <p:cNvPr id="5" name="Graphic 4">
              <a:extLst>
                <a:ext uri="{FF2B5EF4-FFF2-40B4-BE49-F238E27FC236}">
                  <a16:creationId xmlns:a16="http://schemas.microsoft.com/office/drawing/2014/main" id="{69C7568B-86BB-0480-01F1-1990C07AE482}"/>
                </a:ext>
              </a:extLst>
            </p:cNvPr>
            <p:cNvSpPr/>
            <p:nvPr/>
          </p:nvSpPr>
          <p:spPr>
            <a:xfrm>
              <a:off x="905454" y="2855717"/>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09 w 362309"/>
                <a:gd name="connsiteY3" fmla="*/ 180667 h 361971"/>
                <a:gd name="connsiteX4" fmla="*/ 180835 w 362309"/>
                <a:gd name="connsiteY4" fmla="*/ 0 h 361971"/>
                <a:gd name="connsiteX5" fmla="*/ 180835 w 362309"/>
                <a:gd name="connsiteY5" fmla="*/ 0 h 361971"/>
                <a:gd name="connsiteX6" fmla="*/ 208951 w 362309"/>
                <a:gd name="connsiteY6" fmla="*/ 283449 h 361971"/>
                <a:gd name="connsiteX7" fmla="*/ 202561 w 362309"/>
                <a:gd name="connsiteY7" fmla="*/ 289833 h 361971"/>
                <a:gd name="connsiteX8" fmla="*/ 100322 w 362309"/>
                <a:gd name="connsiteY8" fmla="*/ 289833 h 361971"/>
                <a:gd name="connsiteX9" fmla="*/ 93932 w 362309"/>
                <a:gd name="connsiteY9" fmla="*/ 283449 h 361971"/>
                <a:gd name="connsiteX10" fmla="*/ 93932 w 362309"/>
                <a:gd name="connsiteY10" fmla="*/ 136617 h 361971"/>
                <a:gd name="connsiteX11" fmla="*/ 100322 w 362309"/>
                <a:gd name="connsiteY11" fmla="*/ 130233 h 361971"/>
                <a:gd name="connsiteX12" fmla="*/ 203200 w 362309"/>
                <a:gd name="connsiteY12" fmla="*/ 130233 h 361971"/>
                <a:gd name="connsiteX13" fmla="*/ 209590 w 362309"/>
                <a:gd name="connsiteY13" fmla="*/ 136617 h 361971"/>
                <a:gd name="connsiteX14" fmla="*/ 208951 w 362309"/>
                <a:gd name="connsiteY14" fmla="*/ 283449 h 361971"/>
                <a:gd name="connsiteX15" fmla="*/ 238345 w 362309"/>
                <a:gd name="connsiteY15" fmla="*/ 254082 h 361971"/>
                <a:gd name="connsiteX16" fmla="*/ 231955 w 362309"/>
                <a:gd name="connsiteY16" fmla="*/ 260466 h 361971"/>
                <a:gd name="connsiteX17" fmla="*/ 225565 w 362309"/>
                <a:gd name="connsiteY17" fmla="*/ 254082 h 361971"/>
                <a:gd name="connsiteX18" fmla="*/ 225565 w 362309"/>
                <a:gd name="connsiteY18" fmla="*/ 113635 h 361971"/>
                <a:gd name="connsiteX19" fmla="*/ 129716 w 362309"/>
                <a:gd name="connsiteY19" fmla="*/ 113635 h 361971"/>
                <a:gd name="connsiteX20" fmla="*/ 123326 w 362309"/>
                <a:gd name="connsiteY20" fmla="*/ 107251 h 361971"/>
                <a:gd name="connsiteX21" fmla="*/ 129716 w 362309"/>
                <a:gd name="connsiteY21" fmla="*/ 100867 h 361971"/>
                <a:gd name="connsiteX22" fmla="*/ 232594 w 362309"/>
                <a:gd name="connsiteY22" fmla="*/ 100867 h 361971"/>
                <a:gd name="connsiteX23" fmla="*/ 238984 w 362309"/>
                <a:gd name="connsiteY23" fmla="*/ 107251 h 361971"/>
                <a:gd name="connsiteX24" fmla="*/ 238345 w 362309"/>
                <a:gd name="connsiteY24" fmla="*/ 254082 h 361971"/>
                <a:gd name="connsiteX25" fmla="*/ 267738 w 362309"/>
                <a:gd name="connsiteY25" fmla="*/ 224716 h 361971"/>
                <a:gd name="connsiteX26" fmla="*/ 261348 w 362309"/>
                <a:gd name="connsiteY26" fmla="*/ 231100 h 361971"/>
                <a:gd name="connsiteX27" fmla="*/ 254959 w 362309"/>
                <a:gd name="connsiteY27" fmla="*/ 224716 h 361971"/>
                <a:gd name="connsiteX28" fmla="*/ 254959 w 362309"/>
                <a:gd name="connsiteY28" fmla="*/ 84268 h 361971"/>
                <a:gd name="connsiteX29" fmla="*/ 159110 w 362309"/>
                <a:gd name="connsiteY29" fmla="*/ 84268 h 361971"/>
                <a:gd name="connsiteX30" fmla="*/ 152720 w 362309"/>
                <a:gd name="connsiteY30" fmla="*/ 77884 h 361971"/>
                <a:gd name="connsiteX31" fmla="*/ 159110 w 362309"/>
                <a:gd name="connsiteY31" fmla="*/ 71500 h 361971"/>
                <a:gd name="connsiteX32" fmla="*/ 261987 w 362309"/>
                <a:gd name="connsiteY32" fmla="*/ 71500 h 361971"/>
                <a:gd name="connsiteX33" fmla="*/ 268377 w 362309"/>
                <a:gd name="connsiteY33" fmla="*/ 77884 h 361971"/>
                <a:gd name="connsiteX34" fmla="*/ 267738 w 362309"/>
                <a:gd name="connsiteY34" fmla="*/ 224716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2309" h="361971">
                  <a:moveTo>
                    <a:pt x="180835" y="0"/>
                  </a:moveTo>
                  <a:cubicBezTo>
                    <a:pt x="80513" y="0"/>
                    <a:pt x="0" y="81076"/>
                    <a:pt x="0" y="181305"/>
                  </a:cubicBezTo>
                  <a:cubicBezTo>
                    <a:pt x="0" y="281533"/>
                    <a:pt x="81152" y="361972"/>
                    <a:pt x="181474" y="361972"/>
                  </a:cubicBezTo>
                  <a:cubicBezTo>
                    <a:pt x="281157" y="361972"/>
                    <a:pt x="362309" y="280895"/>
                    <a:pt x="362309" y="180667"/>
                  </a:cubicBezTo>
                  <a:cubicBezTo>
                    <a:pt x="362309" y="80438"/>
                    <a:pt x="281157" y="0"/>
                    <a:pt x="180835" y="0"/>
                  </a:cubicBezTo>
                  <a:cubicBezTo>
                    <a:pt x="180835" y="0"/>
                    <a:pt x="180835" y="0"/>
                    <a:pt x="180835" y="0"/>
                  </a:cubicBezTo>
                  <a:close/>
                  <a:moveTo>
                    <a:pt x="208951" y="283449"/>
                  </a:moveTo>
                  <a:cubicBezTo>
                    <a:pt x="208951" y="287279"/>
                    <a:pt x="206395" y="289833"/>
                    <a:pt x="202561" y="289833"/>
                  </a:cubicBezTo>
                  <a:lnTo>
                    <a:pt x="100322" y="289833"/>
                  </a:lnTo>
                  <a:cubicBezTo>
                    <a:pt x="96488" y="289833"/>
                    <a:pt x="93932" y="287279"/>
                    <a:pt x="93932" y="283449"/>
                  </a:cubicBezTo>
                  <a:lnTo>
                    <a:pt x="93932" y="136617"/>
                  </a:lnTo>
                  <a:cubicBezTo>
                    <a:pt x="93932" y="132787"/>
                    <a:pt x="96488" y="130233"/>
                    <a:pt x="100322" y="130233"/>
                  </a:cubicBezTo>
                  <a:lnTo>
                    <a:pt x="203200" y="130233"/>
                  </a:lnTo>
                  <a:cubicBezTo>
                    <a:pt x="207034" y="130233"/>
                    <a:pt x="209590" y="132787"/>
                    <a:pt x="209590" y="136617"/>
                  </a:cubicBezTo>
                  <a:lnTo>
                    <a:pt x="208951" y="283449"/>
                  </a:lnTo>
                  <a:close/>
                  <a:moveTo>
                    <a:pt x="238345" y="254082"/>
                  </a:moveTo>
                  <a:cubicBezTo>
                    <a:pt x="238345" y="257913"/>
                    <a:pt x="235789" y="260466"/>
                    <a:pt x="231955" y="260466"/>
                  </a:cubicBezTo>
                  <a:cubicBezTo>
                    <a:pt x="228121" y="260466"/>
                    <a:pt x="225565" y="257913"/>
                    <a:pt x="225565" y="254082"/>
                  </a:cubicBezTo>
                  <a:lnTo>
                    <a:pt x="225565" y="113635"/>
                  </a:lnTo>
                  <a:lnTo>
                    <a:pt x="129716" y="113635"/>
                  </a:lnTo>
                  <a:cubicBezTo>
                    <a:pt x="125882" y="113635"/>
                    <a:pt x="123326" y="111081"/>
                    <a:pt x="123326" y="107251"/>
                  </a:cubicBezTo>
                  <a:cubicBezTo>
                    <a:pt x="123326" y="103420"/>
                    <a:pt x="125882" y="100867"/>
                    <a:pt x="129716" y="100867"/>
                  </a:cubicBezTo>
                  <a:lnTo>
                    <a:pt x="232594" y="100867"/>
                  </a:lnTo>
                  <a:cubicBezTo>
                    <a:pt x="236428" y="100867"/>
                    <a:pt x="238984" y="103420"/>
                    <a:pt x="238984" y="107251"/>
                  </a:cubicBezTo>
                  <a:lnTo>
                    <a:pt x="238345" y="254082"/>
                  </a:lnTo>
                  <a:close/>
                  <a:moveTo>
                    <a:pt x="267738" y="224716"/>
                  </a:moveTo>
                  <a:cubicBezTo>
                    <a:pt x="267738" y="228546"/>
                    <a:pt x="265182" y="231100"/>
                    <a:pt x="261348" y="231100"/>
                  </a:cubicBezTo>
                  <a:cubicBezTo>
                    <a:pt x="257514" y="231100"/>
                    <a:pt x="254959" y="228546"/>
                    <a:pt x="254959" y="224716"/>
                  </a:cubicBezTo>
                  <a:lnTo>
                    <a:pt x="254959" y="84268"/>
                  </a:lnTo>
                  <a:lnTo>
                    <a:pt x="159110" y="84268"/>
                  </a:lnTo>
                  <a:cubicBezTo>
                    <a:pt x="155275" y="84268"/>
                    <a:pt x="152720" y="81715"/>
                    <a:pt x="152720" y="77884"/>
                  </a:cubicBezTo>
                  <a:cubicBezTo>
                    <a:pt x="152720" y="74054"/>
                    <a:pt x="155275" y="71500"/>
                    <a:pt x="159110" y="71500"/>
                  </a:cubicBezTo>
                  <a:lnTo>
                    <a:pt x="261987" y="71500"/>
                  </a:lnTo>
                  <a:cubicBezTo>
                    <a:pt x="265821" y="71500"/>
                    <a:pt x="268377" y="74054"/>
                    <a:pt x="268377" y="77884"/>
                  </a:cubicBezTo>
                  <a:lnTo>
                    <a:pt x="267738" y="224716"/>
                  </a:lnTo>
                  <a:close/>
                </a:path>
              </a:pathLst>
            </a:custGeom>
            <a:solidFill>
              <a:srgbClr val="43B02A"/>
            </a:solidFill>
            <a:ln w="6390" cap="flat">
              <a:solidFill>
                <a:schemeClr val="accent1"/>
              </a:solidFill>
              <a:prstDash val="solid"/>
              <a:miter/>
            </a:ln>
          </p:spPr>
          <p:txBody>
            <a:bodyPr rtlCol="0" anchor="ctr"/>
            <a:lstStyle/>
            <a:p>
              <a:endParaRPr lang="en-US"/>
            </a:p>
          </p:txBody>
        </p:sp>
      </p:grpSp>
      <p:sp>
        <p:nvSpPr>
          <p:cNvPr id="7" name="Graphic 4">
            <a:extLst>
              <a:ext uri="{FF2B5EF4-FFF2-40B4-BE49-F238E27FC236}">
                <a16:creationId xmlns:a16="http://schemas.microsoft.com/office/drawing/2014/main" id="{823C5F3F-C0AA-0566-5766-58FC23B4C399}"/>
              </a:ext>
            </a:extLst>
          </p:cNvPr>
          <p:cNvSpPr>
            <a:spLocks noChangeAspect="1"/>
          </p:cNvSpPr>
          <p:nvPr/>
        </p:nvSpPr>
        <p:spPr>
          <a:xfrm>
            <a:off x="4257709" y="1401361"/>
            <a:ext cx="698400" cy="697749"/>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1305 h 361971"/>
              <a:gd name="connsiteX4" fmla="*/ 180835 w 362309"/>
              <a:gd name="connsiteY4" fmla="*/ 0 h 361971"/>
              <a:gd name="connsiteX5" fmla="*/ 180835 w 362309"/>
              <a:gd name="connsiteY5" fmla="*/ 0 h 361971"/>
              <a:gd name="connsiteX6" fmla="*/ 99683 w 362309"/>
              <a:gd name="connsiteY6" fmla="*/ 260466 h 361971"/>
              <a:gd name="connsiteX7" fmla="*/ 83708 w 362309"/>
              <a:gd name="connsiteY7" fmla="*/ 260466 h 361971"/>
              <a:gd name="connsiteX8" fmla="*/ 77318 w 362309"/>
              <a:gd name="connsiteY8" fmla="*/ 254082 h 361971"/>
              <a:gd name="connsiteX9" fmla="*/ 83708 w 362309"/>
              <a:gd name="connsiteY9" fmla="*/ 247698 h 361971"/>
              <a:gd name="connsiteX10" fmla="*/ 99683 w 362309"/>
              <a:gd name="connsiteY10" fmla="*/ 247698 h 361971"/>
              <a:gd name="connsiteX11" fmla="*/ 106073 w 362309"/>
              <a:gd name="connsiteY11" fmla="*/ 254082 h 361971"/>
              <a:gd name="connsiteX12" fmla="*/ 99683 w 362309"/>
              <a:gd name="connsiteY12" fmla="*/ 260466 h 361971"/>
              <a:gd name="connsiteX13" fmla="*/ 99683 w 362309"/>
              <a:gd name="connsiteY13" fmla="*/ 211948 h 361971"/>
              <a:gd name="connsiteX14" fmla="*/ 83708 w 362309"/>
              <a:gd name="connsiteY14" fmla="*/ 211948 h 361971"/>
              <a:gd name="connsiteX15" fmla="*/ 77318 w 362309"/>
              <a:gd name="connsiteY15" fmla="*/ 205564 h 361971"/>
              <a:gd name="connsiteX16" fmla="*/ 83708 w 362309"/>
              <a:gd name="connsiteY16" fmla="*/ 199180 h 361971"/>
              <a:gd name="connsiteX17" fmla="*/ 99683 w 362309"/>
              <a:gd name="connsiteY17" fmla="*/ 199180 h 361971"/>
              <a:gd name="connsiteX18" fmla="*/ 106073 w 362309"/>
              <a:gd name="connsiteY18" fmla="*/ 205564 h 361971"/>
              <a:gd name="connsiteX19" fmla="*/ 99683 w 362309"/>
              <a:gd name="connsiteY19" fmla="*/ 211948 h 361971"/>
              <a:gd name="connsiteX20" fmla="*/ 99683 w 362309"/>
              <a:gd name="connsiteY20" fmla="*/ 163430 h 361971"/>
              <a:gd name="connsiteX21" fmla="*/ 83708 w 362309"/>
              <a:gd name="connsiteY21" fmla="*/ 163430 h 361971"/>
              <a:gd name="connsiteX22" fmla="*/ 77318 w 362309"/>
              <a:gd name="connsiteY22" fmla="*/ 157046 h 361971"/>
              <a:gd name="connsiteX23" fmla="*/ 83708 w 362309"/>
              <a:gd name="connsiteY23" fmla="*/ 150662 h 361971"/>
              <a:gd name="connsiteX24" fmla="*/ 99683 w 362309"/>
              <a:gd name="connsiteY24" fmla="*/ 150662 h 361971"/>
              <a:gd name="connsiteX25" fmla="*/ 106073 w 362309"/>
              <a:gd name="connsiteY25" fmla="*/ 157046 h 361971"/>
              <a:gd name="connsiteX26" fmla="*/ 99683 w 362309"/>
              <a:gd name="connsiteY26" fmla="*/ 163430 h 361971"/>
              <a:gd name="connsiteX27" fmla="*/ 99683 w 362309"/>
              <a:gd name="connsiteY27" fmla="*/ 114912 h 361971"/>
              <a:gd name="connsiteX28" fmla="*/ 83708 w 362309"/>
              <a:gd name="connsiteY28" fmla="*/ 114912 h 361971"/>
              <a:gd name="connsiteX29" fmla="*/ 77318 w 362309"/>
              <a:gd name="connsiteY29" fmla="*/ 108528 h 361971"/>
              <a:gd name="connsiteX30" fmla="*/ 83708 w 362309"/>
              <a:gd name="connsiteY30" fmla="*/ 102144 h 361971"/>
              <a:gd name="connsiteX31" fmla="*/ 99683 w 362309"/>
              <a:gd name="connsiteY31" fmla="*/ 102144 h 361971"/>
              <a:gd name="connsiteX32" fmla="*/ 106073 w 362309"/>
              <a:gd name="connsiteY32" fmla="*/ 108528 h 361971"/>
              <a:gd name="connsiteX33" fmla="*/ 99683 w 362309"/>
              <a:gd name="connsiteY33" fmla="*/ 114912 h 361971"/>
              <a:gd name="connsiteX34" fmla="*/ 277962 w 362309"/>
              <a:gd name="connsiteY34" fmla="*/ 260466 h 361971"/>
              <a:gd name="connsiteX35" fmla="*/ 139940 w 362309"/>
              <a:gd name="connsiteY35" fmla="*/ 260466 h 361971"/>
              <a:gd name="connsiteX36" fmla="*/ 133550 w 362309"/>
              <a:gd name="connsiteY36" fmla="*/ 254082 h 361971"/>
              <a:gd name="connsiteX37" fmla="*/ 139940 w 362309"/>
              <a:gd name="connsiteY37" fmla="*/ 247698 h 361971"/>
              <a:gd name="connsiteX38" fmla="*/ 277962 w 362309"/>
              <a:gd name="connsiteY38" fmla="*/ 247698 h 361971"/>
              <a:gd name="connsiteX39" fmla="*/ 284352 w 362309"/>
              <a:gd name="connsiteY39" fmla="*/ 254082 h 361971"/>
              <a:gd name="connsiteX40" fmla="*/ 277962 w 362309"/>
              <a:gd name="connsiteY40" fmla="*/ 260466 h 361971"/>
              <a:gd name="connsiteX41" fmla="*/ 277962 w 362309"/>
              <a:gd name="connsiteY41" fmla="*/ 211948 h 361971"/>
              <a:gd name="connsiteX42" fmla="*/ 139940 w 362309"/>
              <a:gd name="connsiteY42" fmla="*/ 211948 h 361971"/>
              <a:gd name="connsiteX43" fmla="*/ 133550 w 362309"/>
              <a:gd name="connsiteY43" fmla="*/ 205564 h 361971"/>
              <a:gd name="connsiteX44" fmla="*/ 139940 w 362309"/>
              <a:gd name="connsiteY44" fmla="*/ 199180 h 361971"/>
              <a:gd name="connsiteX45" fmla="*/ 277962 w 362309"/>
              <a:gd name="connsiteY45" fmla="*/ 199180 h 361971"/>
              <a:gd name="connsiteX46" fmla="*/ 284352 w 362309"/>
              <a:gd name="connsiteY46" fmla="*/ 205564 h 361971"/>
              <a:gd name="connsiteX47" fmla="*/ 277962 w 362309"/>
              <a:gd name="connsiteY47" fmla="*/ 211948 h 361971"/>
              <a:gd name="connsiteX48" fmla="*/ 277962 w 362309"/>
              <a:gd name="connsiteY48" fmla="*/ 163430 h 361971"/>
              <a:gd name="connsiteX49" fmla="*/ 139940 w 362309"/>
              <a:gd name="connsiteY49" fmla="*/ 163430 h 361971"/>
              <a:gd name="connsiteX50" fmla="*/ 133550 w 362309"/>
              <a:gd name="connsiteY50" fmla="*/ 157046 h 361971"/>
              <a:gd name="connsiteX51" fmla="*/ 139940 w 362309"/>
              <a:gd name="connsiteY51" fmla="*/ 150662 h 361971"/>
              <a:gd name="connsiteX52" fmla="*/ 277962 w 362309"/>
              <a:gd name="connsiteY52" fmla="*/ 150662 h 361971"/>
              <a:gd name="connsiteX53" fmla="*/ 284352 w 362309"/>
              <a:gd name="connsiteY53" fmla="*/ 157046 h 361971"/>
              <a:gd name="connsiteX54" fmla="*/ 277962 w 362309"/>
              <a:gd name="connsiteY54" fmla="*/ 163430 h 361971"/>
              <a:gd name="connsiteX55" fmla="*/ 277962 w 362309"/>
              <a:gd name="connsiteY55" fmla="*/ 114912 h 361971"/>
              <a:gd name="connsiteX56" fmla="*/ 139940 w 362309"/>
              <a:gd name="connsiteY56" fmla="*/ 114912 h 361971"/>
              <a:gd name="connsiteX57" fmla="*/ 133550 w 362309"/>
              <a:gd name="connsiteY57" fmla="*/ 108528 h 361971"/>
              <a:gd name="connsiteX58" fmla="*/ 139940 w 362309"/>
              <a:gd name="connsiteY58" fmla="*/ 102144 h 361971"/>
              <a:gd name="connsiteX59" fmla="*/ 277962 w 362309"/>
              <a:gd name="connsiteY59" fmla="*/ 102144 h 361971"/>
              <a:gd name="connsiteX60" fmla="*/ 284352 w 362309"/>
              <a:gd name="connsiteY60" fmla="*/ 108528 h 361971"/>
              <a:gd name="connsiteX61" fmla="*/ 277962 w 362309"/>
              <a:gd name="connsiteY61" fmla="*/ 114912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62309" h="361971">
                <a:moveTo>
                  <a:pt x="180835" y="0"/>
                </a:moveTo>
                <a:cubicBezTo>
                  <a:pt x="80513" y="0"/>
                  <a:pt x="0" y="81077"/>
                  <a:pt x="0" y="181305"/>
                </a:cubicBezTo>
                <a:cubicBezTo>
                  <a:pt x="0" y="281533"/>
                  <a:pt x="81152" y="361972"/>
                  <a:pt x="181474" y="361972"/>
                </a:cubicBezTo>
                <a:cubicBezTo>
                  <a:pt x="281157" y="361972"/>
                  <a:pt x="362310" y="280895"/>
                  <a:pt x="362310" y="181305"/>
                </a:cubicBezTo>
                <a:cubicBezTo>
                  <a:pt x="362310" y="81077"/>
                  <a:pt x="281157" y="0"/>
                  <a:pt x="180835" y="0"/>
                </a:cubicBezTo>
                <a:cubicBezTo>
                  <a:pt x="180835" y="0"/>
                  <a:pt x="180835" y="0"/>
                  <a:pt x="180835" y="0"/>
                </a:cubicBezTo>
                <a:close/>
                <a:moveTo>
                  <a:pt x="99683" y="260466"/>
                </a:moveTo>
                <a:lnTo>
                  <a:pt x="83708" y="260466"/>
                </a:lnTo>
                <a:cubicBezTo>
                  <a:pt x="79874" y="260466"/>
                  <a:pt x="77318" y="257913"/>
                  <a:pt x="77318" y="254082"/>
                </a:cubicBezTo>
                <a:cubicBezTo>
                  <a:pt x="77318" y="250252"/>
                  <a:pt x="79874" y="247698"/>
                  <a:pt x="83708" y="247698"/>
                </a:cubicBezTo>
                <a:lnTo>
                  <a:pt x="99683" y="247698"/>
                </a:lnTo>
                <a:cubicBezTo>
                  <a:pt x="103517" y="247698"/>
                  <a:pt x="106073" y="250252"/>
                  <a:pt x="106073" y="254082"/>
                </a:cubicBezTo>
                <a:cubicBezTo>
                  <a:pt x="106073" y="257913"/>
                  <a:pt x="103517" y="260466"/>
                  <a:pt x="99683" y="260466"/>
                </a:cubicBezTo>
                <a:close/>
                <a:moveTo>
                  <a:pt x="99683" y="211948"/>
                </a:moveTo>
                <a:lnTo>
                  <a:pt x="83708" y="211948"/>
                </a:lnTo>
                <a:cubicBezTo>
                  <a:pt x="79874" y="211948"/>
                  <a:pt x="77318" y="209395"/>
                  <a:pt x="77318" y="205564"/>
                </a:cubicBezTo>
                <a:cubicBezTo>
                  <a:pt x="77318" y="201734"/>
                  <a:pt x="79874" y="199180"/>
                  <a:pt x="83708" y="199180"/>
                </a:cubicBezTo>
                <a:lnTo>
                  <a:pt x="99683" y="199180"/>
                </a:lnTo>
                <a:cubicBezTo>
                  <a:pt x="103517" y="199180"/>
                  <a:pt x="106073" y="201734"/>
                  <a:pt x="106073" y="205564"/>
                </a:cubicBezTo>
                <a:cubicBezTo>
                  <a:pt x="106073" y="209395"/>
                  <a:pt x="103517" y="211948"/>
                  <a:pt x="99683" y="211948"/>
                </a:cubicBezTo>
                <a:close/>
                <a:moveTo>
                  <a:pt x="99683" y="163430"/>
                </a:moveTo>
                <a:lnTo>
                  <a:pt x="83708" y="163430"/>
                </a:lnTo>
                <a:cubicBezTo>
                  <a:pt x="79874" y="163430"/>
                  <a:pt x="77318" y="160876"/>
                  <a:pt x="77318" y="157046"/>
                </a:cubicBezTo>
                <a:cubicBezTo>
                  <a:pt x="77318" y="153216"/>
                  <a:pt x="79874" y="150662"/>
                  <a:pt x="83708" y="150662"/>
                </a:cubicBezTo>
                <a:lnTo>
                  <a:pt x="99683" y="150662"/>
                </a:lnTo>
                <a:cubicBezTo>
                  <a:pt x="103517" y="150662"/>
                  <a:pt x="106073" y="153216"/>
                  <a:pt x="106073" y="157046"/>
                </a:cubicBezTo>
                <a:cubicBezTo>
                  <a:pt x="106073" y="160876"/>
                  <a:pt x="103517" y="163430"/>
                  <a:pt x="99683" y="163430"/>
                </a:cubicBezTo>
                <a:close/>
                <a:moveTo>
                  <a:pt x="99683" y="114912"/>
                </a:moveTo>
                <a:lnTo>
                  <a:pt x="83708" y="114912"/>
                </a:lnTo>
                <a:cubicBezTo>
                  <a:pt x="79874" y="114912"/>
                  <a:pt x="77318" y="112358"/>
                  <a:pt x="77318" y="108528"/>
                </a:cubicBezTo>
                <a:cubicBezTo>
                  <a:pt x="77318" y="104697"/>
                  <a:pt x="79874" y="102144"/>
                  <a:pt x="83708" y="102144"/>
                </a:cubicBezTo>
                <a:lnTo>
                  <a:pt x="99683" y="102144"/>
                </a:lnTo>
                <a:cubicBezTo>
                  <a:pt x="103517" y="102144"/>
                  <a:pt x="106073" y="104697"/>
                  <a:pt x="106073" y="108528"/>
                </a:cubicBezTo>
                <a:cubicBezTo>
                  <a:pt x="106073" y="112358"/>
                  <a:pt x="103517" y="114912"/>
                  <a:pt x="99683" y="114912"/>
                </a:cubicBezTo>
                <a:close/>
                <a:moveTo>
                  <a:pt x="277962" y="260466"/>
                </a:moveTo>
                <a:lnTo>
                  <a:pt x="139940" y="260466"/>
                </a:lnTo>
                <a:cubicBezTo>
                  <a:pt x="136106" y="260466"/>
                  <a:pt x="133550" y="257913"/>
                  <a:pt x="133550" y="254082"/>
                </a:cubicBezTo>
                <a:cubicBezTo>
                  <a:pt x="133550" y="250252"/>
                  <a:pt x="136106" y="247698"/>
                  <a:pt x="139940" y="247698"/>
                </a:cubicBezTo>
                <a:lnTo>
                  <a:pt x="277962" y="247698"/>
                </a:lnTo>
                <a:cubicBezTo>
                  <a:pt x="281796" y="247698"/>
                  <a:pt x="284352" y="250252"/>
                  <a:pt x="284352" y="254082"/>
                </a:cubicBezTo>
                <a:cubicBezTo>
                  <a:pt x="284352" y="257913"/>
                  <a:pt x="281796" y="260466"/>
                  <a:pt x="277962" y="260466"/>
                </a:cubicBezTo>
                <a:close/>
                <a:moveTo>
                  <a:pt x="277962" y="211948"/>
                </a:moveTo>
                <a:lnTo>
                  <a:pt x="139940" y="211948"/>
                </a:lnTo>
                <a:cubicBezTo>
                  <a:pt x="136106" y="211948"/>
                  <a:pt x="133550" y="209395"/>
                  <a:pt x="133550" y="205564"/>
                </a:cubicBezTo>
                <a:cubicBezTo>
                  <a:pt x="133550" y="201734"/>
                  <a:pt x="136106" y="199180"/>
                  <a:pt x="139940" y="199180"/>
                </a:cubicBezTo>
                <a:lnTo>
                  <a:pt x="277962" y="199180"/>
                </a:lnTo>
                <a:cubicBezTo>
                  <a:pt x="281796" y="199180"/>
                  <a:pt x="284352" y="201734"/>
                  <a:pt x="284352" y="205564"/>
                </a:cubicBezTo>
                <a:cubicBezTo>
                  <a:pt x="284352" y="209395"/>
                  <a:pt x="281796" y="211948"/>
                  <a:pt x="277962" y="211948"/>
                </a:cubicBezTo>
                <a:close/>
                <a:moveTo>
                  <a:pt x="277962" y="163430"/>
                </a:moveTo>
                <a:lnTo>
                  <a:pt x="139940" y="163430"/>
                </a:lnTo>
                <a:cubicBezTo>
                  <a:pt x="136106" y="163430"/>
                  <a:pt x="133550" y="160876"/>
                  <a:pt x="133550" y="157046"/>
                </a:cubicBezTo>
                <a:cubicBezTo>
                  <a:pt x="133550" y="153216"/>
                  <a:pt x="136106" y="150662"/>
                  <a:pt x="139940" y="150662"/>
                </a:cubicBezTo>
                <a:lnTo>
                  <a:pt x="277962" y="150662"/>
                </a:lnTo>
                <a:cubicBezTo>
                  <a:pt x="281796" y="150662"/>
                  <a:pt x="284352" y="153216"/>
                  <a:pt x="284352" y="157046"/>
                </a:cubicBezTo>
                <a:cubicBezTo>
                  <a:pt x="284352" y="160876"/>
                  <a:pt x="281796" y="163430"/>
                  <a:pt x="277962" y="163430"/>
                </a:cubicBezTo>
                <a:close/>
                <a:moveTo>
                  <a:pt x="277962" y="114912"/>
                </a:moveTo>
                <a:lnTo>
                  <a:pt x="139940" y="114912"/>
                </a:lnTo>
                <a:cubicBezTo>
                  <a:pt x="136106" y="114912"/>
                  <a:pt x="133550" y="112358"/>
                  <a:pt x="133550" y="108528"/>
                </a:cubicBezTo>
                <a:cubicBezTo>
                  <a:pt x="133550" y="104697"/>
                  <a:pt x="136106" y="102144"/>
                  <a:pt x="139940" y="102144"/>
                </a:cubicBezTo>
                <a:lnTo>
                  <a:pt x="277962" y="102144"/>
                </a:lnTo>
                <a:cubicBezTo>
                  <a:pt x="281796" y="102144"/>
                  <a:pt x="284352" y="104697"/>
                  <a:pt x="284352" y="108528"/>
                </a:cubicBezTo>
                <a:cubicBezTo>
                  <a:pt x="284352" y="112358"/>
                  <a:pt x="281796" y="114912"/>
                  <a:pt x="277962" y="114912"/>
                </a:cubicBezTo>
                <a:close/>
              </a:path>
            </a:pathLst>
          </a:custGeom>
          <a:solidFill>
            <a:srgbClr val="000000"/>
          </a:solid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52FCEFCA-263B-93AD-2017-1A62B6EC6121}"/>
              </a:ext>
            </a:extLst>
          </p:cNvPr>
          <p:cNvSpPr>
            <a:spLocks noChangeAspect="1"/>
          </p:cNvSpPr>
          <p:nvPr/>
        </p:nvSpPr>
        <p:spPr>
          <a:xfrm>
            <a:off x="8095486" y="1400710"/>
            <a:ext cx="699058" cy="698400"/>
          </a:xfrm>
          <a:custGeom>
            <a:avLst/>
            <a:gdLst>
              <a:gd name="connsiteX0" fmla="*/ 181474 w 362312"/>
              <a:gd name="connsiteY0" fmla="*/ 0 h 361971"/>
              <a:gd name="connsiteX1" fmla="*/ 0 w 362312"/>
              <a:gd name="connsiteY1" fmla="*/ 180667 h 361971"/>
              <a:gd name="connsiteX2" fmla="*/ 180836 w 362312"/>
              <a:gd name="connsiteY2" fmla="*/ 361972 h 361971"/>
              <a:gd name="connsiteX3" fmla="*/ 362309 w 362312"/>
              <a:gd name="connsiteY3" fmla="*/ 181305 h 361971"/>
              <a:gd name="connsiteX4" fmla="*/ 362309 w 362312"/>
              <a:gd name="connsiteY4" fmla="*/ 181305 h 361971"/>
              <a:gd name="connsiteX5" fmla="*/ 181474 w 362312"/>
              <a:gd name="connsiteY5" fmla="*/ 0 h 361971"/>
              <a:gd name="connsiteX6" fmla="*/ 160387 w 362312"/>
              <a:gd name="connsiteY6" fmla="*/ 264297 h 361971"/>
              <a:gd name="connsiteX7" fmla="*/ 155276 w 362312"/>
              <a:gd name="connsiteY7" fmla="*/ 266212 h 361971"/>
              <a:gd name="connsiteX8" fmla="*/ 150802 w 362312"/>
              <a:gd name="connsiteY8" fmla="*/ 264935 h 361971"/>
              <a:gd name="connsiteX9" fmla="*/ 132271 w 362312"/>
              <a:gd name="connsiteY9" fmla="*/ 259828 h 361971"/>
              <a:gd name="connsiteX10" fmla="*/ 119492 w 362312"/>
              <a:gd name="connsiteY10" fmla="*/ 256636 h 361971"/>
              <a:gd name="connsiteX11" fmla="*/ 107351 w 362312"/>
              <a:gd name="connsiteY11" fmla="*/ 240038 h 361971"/>
              <a:gd name="connsiteX12" fmla="*/ 107990 w 362312"/>
              <a:gd name="connsiteY12" fmla="*/ 221524 h 361971"/>
              <a:gd name="connsiteX13" fmla="*/ 119492 w 362312"/>
              <a:gd name="connsiteY13" fmla="*/ 194711 h 361971"/>
              <a:gd name="connsiteX14" fmla="*/ 116297 w 362312"/>
              <a:gd name="connsiteY14" fmla="*/ 160876 h 361971"/>
              <a:gd name="connsiteX15" fmla="*/ 96488 w 362312"/>
              <a:gd name="connsiteY15" fmla="*/ 151939 h 361971"/>
              <a:gd name="connsiteX16" fmla="*/ 96488 w 362312"/>
              <a:gd name="connsiteY16" fmla="*/ 151939 h 361971"/>
              <a:gd name="connsiteX17" fmla="*/ 76679 w 362312"/>
              <a:gd name="connsiteY17" fmla="*/ 160876 h 361971"/>
              <a:gd name="connsiteX18" fmla="*/ 73484 w 362312"/>
              <a:gd name="connsiteY18" fmla="*/ 194073 h 361971"/>
              <a:gd name="connsiteX19" fmla="*/ 84986 w 362312"/>
              <a:gd name="connsiteY19" fmla="*/ 220886 h 361971"/>
              <a:gd name="connsiteX20" fmla="*/ 85625 w 362312"/>
              <a:gd name="connsiteY20" fmla="*/ 239399 h 361971"/>
              <a:gd name="connsiteX21" fmla="*/ 74123 w 362312"/>
              <a:gd name="connsiteY21" fmla="*/ 255359 h 361971"/>
              <a:gd name="connsiteX22" fmla="*/ 71567 w 362312"/>
              <a:gd name="connsiteY22" fmla="*/ 255998 h 361971"/>
              <a:gd name="connsiteX23" fmla="*/ 65817 w 362312"/>
              <a:gd name="connsiteY23" fmla="*/ 252167 h 361971"/>
              <a:gd name="connsiteX24" fmla="*/ 69650 w 362312"/>
              <a:gd name="connsiteY24" fmla="*/ 243868 h 361971"/>
              <a:gd name="connsiteX25" fmla="*/ 74762 w 362312"/>
              <a:gd name="connsiteY25" fmla="*/ 227908 h 361971"/>
              <a:gd name="connsiteX26" fmla="*/ 61343 w 362312"/>
              <a:gd name="connsiteY26" fmla="*/ 196627 h 361971"/>
              <a:gd name="connsiteX27" fmla="*/ 67094 w 362312"/>
              <a:gd name="connsiteY27" fmla="*/ 151939 h 361971"/>
              <a:gd name="connsiteX28" fmla="*/ 97127 w 362312"/>
              <a:gd name="connsiteY28" fmla="*/ 138532 h 361971"/>
              <a:gd name="connsiteX29" fmla="*/ 97127 w 362312"/>
              <a:gd name="connsiteY29" fmla="*/ 138532 h 361971"/>
              <a:gd name="connsiteX30" fmla="*/ 126521 w 362312"/>
              <a:gd name="connsiteY30" fmla="*/ 151939 h 361971"/>
              <a:gd name="connsiteX31" fmla="*/ 132271 w 362312"/>
              <a:gd name="connsiteY31" fmla="*/ 196627 h 361971"/>
              <a:gd name="connsiteX32" fmla="*/ 118853 w 362312"/>
              <a:gd name="connsiteY32" fmla="*/ 227908 h 361971"/>
              <a:gd name="connsiteX33" fmla="*/ 123965 w 362312"/>
              <a:gd name="connsiteY33" fmla="*/ 243868 h 361971"/>
              <a:gd name="connsiteX34" fmla="*/ 134189 w 362312"/>
              <a:gd name="connsiteY34" fmla="*/ 245783 h 361971"/>
              <a:gd name="connsiteX35" fmla="*/ 159110 w 362312"/>
              <a:gd name="connsiteY35" fmla="*/ 253444 h 361971"/>
              <a:gd name="connsiteX36" fmla="*/ 160387 w 362312"/>
              <a:gd name="connsiteY36" fmla="*/ 264297 h 361971"/>
              <a:gd name="connsiteX37" fmla="*/ 160387 w 362312"/>
              <a:gd name="connsiteY37" fmla="*/ 264297 h 361971"/>
              <a:gd name="connsiteX38" fmla="*/ 160387 w 362312"/>
              <a:gd name="connsiteY38" fmla="*/ 264297 h 361971"/>
              <a:gd name="connsiteX39" fmla="*/ 304161 w 362312"/>
              <a:gd name="connsiteY39" fmla="*/ 217694 h 361971"/>
              <a:gd name="connsiteX40" fmla="*/ 297771 w 362312"/>
              <a:gd name="connsiteY40" fmla="*/ 224078 h 361971"/>
              <a:gd name="connsiteX41" fmla="*/ 155915 w 362312"/>
              <a:gd name="connsiteY41" fmla="*/ 224078 h 361971"/>
              <a:gd name="connsiteX42" fmla="*/ 149525 w 362312"/>
              <a:gd name="connsiteY42" fmla="*/ 217694 h 361971"/>
              <a:gd name="connsiteX43" fmla="*/ 155915 w 362312"/>
              <a:gd name="connsiteY43" fmla="*/ 211310 h 361971"/>
              <a:gd name="connsiteX44" fmla="*/ 291381 w 362312"/>
              <a:gd name="connsiteY44" fmla="*/ 211310 h 361971"/>
              <a:gd name="connsiteX45" fmla="*/ 291381 w 362312"/>
              <a:gd name="connsiteY45" fmla="*/ 107251 h 361971"/>
              <a:gd name="connsiteX46" fmla="*/ 111824 w 362312"/>
              <a:gd name="connsiteY46" fmla="*/ 107251 h 361971"/>
              <a:gd name="connsiteX47" fmla="*/ 111824 w 362312"/>
              <a:gd name="connsiteY47" fmla="*/ 117465 h 361971"/>
              <a:gd name="connsiteX48" fmla="*/ 105434 w 362312"/>
              <a:gd name="connsiteY48" fmla="*/ 123849 h 361971"/>
              <a:gd name="connsiteX49" fmla="*/ 99044 w 362312"/>
              <a:gd name="connsiteY49" fmla="*/ 117465 h 361971"/>
              <a:gd name="connsiteX50" fmla="*/ 99044 w 362312"/>
              <a:gd name="connsiteY50" fmla="*/ 100867 h 361971"/>
              <a:gd name="connsiteX51" fmla="*/ 105434 w 362312"/>
              <a:gd name="connsiteY51" fmla="*/ 94483 h 361971"/>
              <a:gd name="connsiteX52" fmla="*/ 297771 w 362312"/>
              <a:gd name="connsiteY52" fmla="*/ 94483 h 361971"/>
              <a:gd name="connsiteX53" fmla="*/ 304161 w 362312"/>
              <a:gd name="connsiteY53" fmla="*/ 100867 h 361971"/>
              <a:gd name="connsiteX54" fmla="*/ 304161 w 362312"/>
              <a:gd name="connsiteY54" fmla="*/ 217694 h 361971"/>
              <a:gd name="connsiteX55" fmla="*/ 164221 w 362312"/>
              <a:gd name="connsiteY55" fmla="*/ 169814 h 361971"/>
              <a:gd name="connsiteX56" fmla="*/ 264544 w 362312"/>
              <a:gd name="connsiteY56" fmla="*/ 169814 h 361971"/>
              <a:gd name="connsiteX57" fmla="*/ 270934 w 362312"/>
              <a:gd name="connsiteY57" fmla="*/ 176198 h 361971"/>
              <a:gd name="connsiteX58" fmla="*/ 264544 w 362312"/>
              <a:gd name="connsiteY58" fmla="*/ 182582 h 361971"/>
              <a:gd name="connsiteX59" fmla="*/ 164221 w 362312"/>
              <a:gd name="connsiteY59" fmla="*/ 182582 h 361971"/>
              <a:gd name="connsiteX60" fmla="*/ 157831 w 362312"/>
              <a:gd name="connsiteY60" fmla="*/ 176198 h 361971"/>
              <a:gd name="connsiteX61" fmla="*/ 164221 w 362312"/>
              <a:gd name="connsiteY61" fmla="*/ 169814 h 361971"/>
              <a:gd name="connsiteX62" fmla="*/ 157831 w 362312"/>
              <a:gd name="connsiteY62" fmla="*/ 143001 h 361971"/>
              <a:gd name="connsiteX63" fmla="*/ 164221 w 362312"/>
              <a:gd name="connsiteY63" fmla="*/ 136617 h 361971"/>
              <a:gd name="connsiteX64" fmla="*/ 264544 w 362312"/>
              <a:gd name="connsiteY64" fmla="*/ 136617 h 361971"/>
              <a:gd name="connsiteX65" fmla="*/ 270934 w 362312"/>
              <a:gd name="connsiteY65" fmla="*/ 143001 h 361971"/>
              <a:gd name="connsiteX66" fmla="*/ 264544 w 362312"/>
              <a:gd name="connsiteY66" fmla="*/ 149385 h 361971"/>
              <a:gd name="connsiteX67" fmla="*/ 164221 w 362312"/>
              <a:gd name="connsiteY67" fmla="*/ 149385 h 361971"/>
              <a:gd name="connsiteX68" fmla="*/ 157831 w 362312"/>
              <a:gd name="connsiteY68" fmla="*/ 143001 h 361971"/>
              <a:gd name="connsiteX69" fmla="*/ 157831 w 362312"/>
              <a:gd name="connsiteY69" fmla="*/ 143001 h 361971"/>
              <a:gd name="connsiteX70" fmla="*/ 157831 w 362312"/>
              <a:gd name="connsiteY70" fmla="*/ 143001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62312" h="361971">
                <a:moveTo>
                  <a:pt x="181474" y="0"/>
                </a:moveTo>
                <a:cubicBezTo>
                  <a:pt x="81152" y="0"/>
                  <a:pt x="0" y="81077"/>
                  <a:pt x="0" y="180667"/>
                </a:cubicBezTo>
                <a:cubicBezTo>
                  <a:pt x="0" y="280895"/>
                  <a:pt x="81152" y="361972"/>
                  <a:pt x="180836" y="361972"/>
                </a:cubicBezTo>
                <a:cubicBezTo>
                  <a:pt x="281157" y="361972"/>
                  <a:pt x="362309" y="280895"/>
                  <a:pt x="362309" y="181305"/>
                </a:cubicBezTo>
                <a:cubicBezTo>
                  <a:pt x="362309" y="181305"/>
                  <a:pt x="362309" y="181305"/>
                  <a:pt x="362309" y="181305"/>
                </a:cubicBezTo>
                <a:cubicBezTo>
                  <a:pt x="362949" y="80438"/>
                  <a:pt x="281796" y="0"/>
                  <a:pt x="181474" y="0"/>
                </a:cubicBezTo>
                <a:close/>
                <a:moveTo>
                  <a:pt x="160387" y="264297"/>
                </a:moveTo>
                <a:cubicBezTo>
                  <a:pt x="159110" y="265574"/>
                  <a:pt x="157192" y="266212"/>
                  <a:pt x="155276" y="266212"/>
                </a:cubicBezTo>
                <a:cubicBezTo>
                  <a:pt x="153997" y="266212"/>
                  <a:pt x="152081" y="265574"/>
                  <a:pt x="150802" y="264935"/>
                </a:cubicBezTo>
                <a:cubicBezTo>
                  <a:pt x="145051" y="262382"/>
                  <a:pt x="138661" y="260466"/>
                  <a:pt x="132271" y="259828"/>
                </a:cubicBezTo>
                <a:cubicBezTo>
                  <a:pt x="127799" y="259190"/>
                  <a:pt x="123965" y="258551"/>
                  <a:pt x="119492" y="256636"/>
                </a:cubicBezTo>
                <a:cubicBezTo>
                  <a:pt x="112463" y="254082"/>
                  <a:pt x="108629" y="244506"/>
                  <a:pt x="107351" y="240038"/>
                </a:cubicBezTo>
                <a:cubicBezTo>
                  <a:pt x="106073" y="235569"/>
                  <a:pt x="104156" y="226631"/>
                  <a:pt x="107990" y="221524"/>
                </a:cubicBezTo>
                <a:cubicBezTo>
                  <a:pt x="113102" y="213225"/>
                  <a:pt x="116936" y="204287"/>
                  <a:pt x="119492" y="194711"/>
                </a:cubicBezTo>
                <a:cubicBezTo>
                  <a:pt x="123326" y="179390"/>
                  <a:pt x="122048" y="168537"/>
                  <a:pt x="116297" y="160876"/>
                </a:cubicBezTo>
                <a:cubicBezTo>
                  <a:pt x="111185" y="155131"/>
                  <a:pt x="104156" y="151939"/>
                  <a:pt x="96488" y="151939"/>
                </a:cubicBezTo>
                <a:lnTo>
                  <a:pt x="96488" y="151939"/>
                </a:lnTo>
                <a:cubicBezTo>
                  <a:pt x="88820" y="151939"/>
                  <a:pt x="81792" y="155131"/>
                  <a:pt x="76679" y="160876"/>
                </a:cubicBezTo>
                <a:cubicBezTo>
                  <a:pt x="70928" y="167899"/>
                  <a:pt x="70289" y="179390"/>
                  <a:pt x="73484" y="194073"/>
                </a:cubicBezTo>
                <a:cubicBezTo>
                  <a:pt x="76040" y="203649"/>
                  <a:pt x="79874" y="212587"/>
                  <a:pt x="84986" y="220886"/>
                </a:cubicBezTo>
                <a:cubicBezTo>
                  <a:pt x="88820" y="225993"/>
                  <a:pt x="86903" y="235569"/>
                  <a:pt x="85625" y="239399"/>
                </a:cubicBezTo>
                <a:cubicBezTo>
                  <a:pt x="84347" y="246422"/>
                  <a:pt x="79874" y="252167"/>
                  <a:pt x="74123" y="255359"/>
                </a:cubicBezTo>
                <a:cubicBezTo>
                  <a:pt x="73484" y="255359"/>
                  <a:pt x="72845" y="255998"/>
                  <a:pt x="71567" y="255998"/>
                </a:cubicBezTo>
                <a:cubicBezTo>
                  <a:pt x="69012" y="255998"/>
                  <a:pt x="66456" y="254082"/>
                  <a:pt x="65817" y="252167"/>
                </a:cubicBezTo>
                <a:cubicBezTo>
                  <a:pt x="64538" y="248975"/>
                  <a:pt x="66456" y="245145"/>
                  <a:pt x="69650" y="243868"/>
                </a:cubicBezTo>
                <a:cubicBezTo>
                  <a:pt x="73484" y="239399"/>
                  <a:pt x="74762" y="233654"/>
                  <a:pt x="74762" y="227908"/>
                </a:cubicBezTo>
                <a:cubicBezTo>
                  <a:pt x="68372" y="218332"/>
                  <a:pt x="63899" y="208118"/>
                  <a:pt x="61343" y="196627"/>
                </a:cubicBezTo>
                <a:cubicBezTo>
                  <a:pt x="56871" y="177475"/>
                  <a:pt x="58787" y="162153"/>
                  <a:pt x="67094" y="151939"/>
                </a:cubicBezTo>
                <a:cubicBezTo>
                  <a:pt x="74762" y="143640"/>
                  <a:pt x="85625" y="138532"/>
                  <a:pt x="97127" y="138532"/>
                </a:cubicBezTo>
                <a:lnTo>
                  <a:pt x="97127" y="138532"/>
                </a:lnTo>
                <a:cubicBezTo>
                  <a:pt x="108629" y="138532"/>
                  <a:pt x="118853" y="143640"/>
                  <a:pt x="126521" y="151939"/>
                </a:cubicBezTo>
                <a:cubicBezTo>
                  <a:pt x="134828" y="162153"/>
                  <a:pt x="136745" y="177475"/>
                  <a:pt x="132271" y="196627"/>
                </a:cubicBezTo>
                <a:cubicBezTo>
                  <a:pt x="129716" y="207479"/>
                  <a:pt x="125243" y="218332"/>
                  <a:pt x="118853" y="227908"/>
                </a:cubicBezTo>
                <a:cubicBezTo>
                  <a:pt x="118853" y="233654"/>
                  <a:pt x="120770" y="239399"/>
                  <a:pt x="123965" y="243868"/>
                </a:cubicBezTo>
                <a:cubicBezTo>
                  <a:pt x="127160" y="245145"/>
                  <a:pt x="130994" y="245783"/>
                  <a:pt x="134189" y="245783"/>
                </a:cubicBezTo>
                <a:cubicBezTo>
                  <a:pt x="143774" y="247698"/>
                  <a:pt x="153997" y="248975"/>
                  <a:pt x="159110" y="253444"/>
                </a:cubicBezTo>
                <a:cubicBezTo>
                  <a:pt x="162305" y="257913"/>
                  <a:pt x="162943" y="261743"/>
                  <a:pt x="160387" y="264297"/>
                </a:cubicBezTo>
                <a:cubicBezTo>
                  <a:pt x="160387" y="264297"/>
                  <a:pt x="160387" y="264297"/>
                  <a:pt x="160387" y="264297"/>
                </a:cubicBezTo>
                <a:lnTo>
                  <a:pt x="160387" y="264297"/>
                </a:lnTo>
                <a:close/>
                <a:moveTo>
                  <a:pt x="304161" y="217694"/>
                </a:moveTo>
                <a:cubicBezTo>
                  <a:pt x="304161" y="221524"/>
                  <a:pt x="301605" y="224078"/>
                  <a:pt x="297771" y="224078"/>
                </a:cubicBezTo>
                <a:lnTo>
                  <a:pt x="155915" y="224078"/>
                </a:lnTo>
                <a:cubicBezTo>
                  <a:pt x="152081" y="224078"/>
                  <a:pt x="149525" y="221524"/>
                  <a:pt x="149525" y="217694"/>
                </a:cubicBezTo>
                <a:cubicBezTo>
                  <a:pt x="149525" y="213863"/>
                  <a:pt x="152081" y="211310"/>
                  <a:pt x="155915" y="211310"/>
                </a:cubicBezTo>
                <a:lnTo>
                  <a:pt x="291381" y="211310"/>
                </a:lnTo>
                <a:lnTo>
                  <a:pt x="291381" y="107251"/>
                </a:lnTo>
                <a:lnTo>
                  <a:pt x="111824" y="107251"/>
                </a:lnTo>
                <a:lnTo>
                  <a:pt x="111824" y="117465"/>
                </a:lnTo>
                <a:cubicBezTo>
                  <a:pt x="111824" y="121296"/>
                  <a:pt x="109268" y="123849"/>
                  <a:pt x="105434" y="123849"/>
                </a:cubicBezTo>
                <a:cubicBezTo>
                  <a:pt x="101600" y="123849"/>
                  <a:pt x="99044" y="121296"/>
                  <a:pt x="99044" y="117465"/>
                </a:cubicBezTo>
                <a:lnTo>
                  <a:pt x="99044" y="100867"/>
                </a:lnTo>
                <a:cubicBezTo>
                  <a:pt x="99044" y="97037"/>
                  <a:pt x="101600" y="94483"/>
                  <a:pt x="105434" y="94483"/>
                </a:cubicBezTo>
                <a:lnTo>
                  <a:pt x="297771" y="94483"/>
                </a:lnTo>
                <a:cubicBezTo>
                  <a:pt x="301605" y="94483"/>
                  <a:pt x="304161" y="97037"/>
                  <a:pt x="304161" y="100867"/>
                </a:cubicBezTo>
                <a:lnTo>
                  <a:pt x="304161" y="217694"/>
                </a:lnTo>
                <a:close/>
                <a:moveTo>
                  <a:pt x="164221" y="169814"/>
                </a:moveTo>
                <a:lnTo>
                  <a:pt x="264544" y="169814"/>
                </a:lnTo>
                <a:cubicBezTo>
                  <a:pt x="268377" y="169814"/>
                  <a:pt x="270934" y="172368"/>
                  <a:pt x="270934" y="176198"/>
                </a:cubicBezTo>
                <a:cubicBezTo>
                  <a:pt x="270934" y="180028"/>
                  <a:pt x="268377" y="182582"/>
                  <a:pt x="264544" y="182582"/>
                </a:cubicBezTo>
                <a:lnTo>
                  <a:pt x="164221" y="182582"/>
                </a:lnTo>
                <a:cubicBezTo>
                  <a:pt x="160387" y="182582"/>
                  <a:pt x="157831" y="180028"/>
                  <a:pt x="157831" y="176198"/>
                </a:cubicBezTo>
                <a:cubicBezTo>
                  <a:pt x="157831" y="172368"/>
                  <a:pt x="160387" y="169814"/>
                  <a:pt x="164221" y="169814"/>
                </a:cubicBezTo>
                <a:close/>
                <a:moveTo>
                  <a:pt x="157831" y="143001"/>
                </a:moveTo>
                <a:cubicBezTo>
                  <a:pt x="157831" y="139171"/>
                  <a:pt x="160387" y="136617"/>
                  <a:pt x="164221" y="136617"/>
                </a:cubicBezTo>
                <a:lnTo>
                  <a:pt x="264544" y="136617"/>
                </a:lnTo>
                <a:cubicBezTo>
                  <a:pt x="268377" y="136617"/>
                  <a:pt x="270934" y="139171"/>
                  <a:pt x="270934" y="143001"/>
                </a:cubicBezTo>
                <a:cubicBezTo>
                  <a:pt x="270934" y="146832"/>
                  <a:pt x="268377" y="149385"/>
                  <a:pt x="264544" y="149385"/>
                </a:cubicBezTo>
                <a:lnTo>
                  <a:pt x="164221" y="149385"/>
                </a:lnTo>
                <a:cubicBezTo>
                  <a:pt x="160387" y="149385"/>
                  <a:pt x="157831" y="146193"/>
                  <a:pt x="157831" y="143001"/>
                </a:cubicBezTo>
                <a:cubicBezTo>
                  <a:pt x="157831" y="143001"/>
                  <a:pt x="157831" y="143001"/>
                  <a:pt x="157831" y="143001"/>
                </a:cubicBezTo>
                <a:lnTo>
                  <a:pt x="157831" y="143001"/>
                </a:lnTo>
                <a:close/>
              </a:path>
            </a:pathLst>
          </a:custGeom>
          <a:solidFill>
            <a:srgbClr val="75787B"/>
          </a:solidFill>
          <a:ln w="6390" cap="flat">
            <a:noFill/>
            <a:prstDash val="solid"/>
            <a:miter/>
          </a:ln>
        </p:spPr>
        <p:txBody>
          <a:bodyPr rtlCol="0" anchor="ctr"/>
          <a:lstStyle/>
          <a:p>
            <a:endParaRPr lang="en-US"/>
          </a:p>
        </p:txBody>
      </p:sp>
    </p:spTree>
    <p:extLst>
      <p:ext uri="{BB962C8B-B14F-4D97-AF65-F5344CB8AC3E}">
        <p14:creationId xmlns:p14="http://schemas.microsoft.com/office/powerpoint/2010/main" val="11716610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4"/>
          <p:cNvSpPr>
            <a:spLocks noGrp="1"/>
          </p:cNvSpPr>
          <p:nvPr>
            <p:ph type="title"/>
          </p:nvPr>
        </p:nvSpPr>
        <p:spPr>
          <a:xfrm>
            <a:off x="342919" y="290225"/>
            <a:ext cx="11188700" cy="698500"/>
          </a:xfrm>
        </p:spPr>
        <p:txBody>
          <a:bodyPr/>
          <a:lstStyle/>
          <a:p>
            <a:r>
              <a:rPr lang="en-US" dirty="0"/>
              <a:t>Key Objectives and Responsibilities of the Regulatory Cell</a:t>
            </a:r>
            <a:br>
              <a:rPr lang="en-US" dirty="0"/>
            </a:br>
            <a:r>
              <a:rPr kumimoji="0" lang="en-US" sz="1600" b="0" i="1" u="none" strike="noStrike" kern="1200" cap="none" spc="0" normalizeH="0" baseline="0" noProof="0" dirty="0">
                <a:ln>
                  <a:noFill/>
                </a:ln>
                <a:solidFill>
                  <a:srgbClr val="012169">
                    <a:lumMod val="60000"/>
                    <a:lumOff val="40000"/>
                  </a:srgbClr>
                </a:solidFill>
                <a:effectLst/>
                <a:uLnTx/>
                <a:uFillTx/>
                <a:latin typeface="Verdana"/>
                <a:ea typeface="+mj-ea"/>
                <a:cs typeface="+mj-cs"/>
              </a:rPr>
              <a:t>Ensuring compliance, fostering communication with regulators, advocating policy changes &amp; managing tariffs</a:t>
            </a:r>
            <a:br>
              <a:rPr kumimoji="0" lang="en-US" sz="1600" b="0" i="1" u="none" strike="noStrike" kern="1200" cap="none" spc="0" normalizeH="0" baseline="0" noProof="0" dirty="0">
                <a:ln>
                  <a:noFill/>
                </a:ln>
                <a:solidFill>
                  <a:srgbClr val="012169">
                    <a:lumMod val="60000"/>
                    <a:lumOff val="40000"/>
                  </a:srgbClr>
                </a:solidFill>
                <a:effectLst/>
                <a:uLnTx/>
                <a:uFillTx/>
                <a:latin typeface="Verdana"/>
                <a:ea typeface="+mj-ea"/>
                <a:cs typeface="+mj-cs"/>
              </a:rPr>
            </a:br>
            <a:endParaRPr lang="en-IN" sz="1600" i="1" dirty="0">
              <a:solidFill>
                <a:srgbClr val="012169">
                  <a:lumMod val="60000"/>
                  <a:lumOff val="40000"/>
                </a:srgbClr>
              </a:solidFill>
            </a:endParaRPr>
          </a:p>
        </p:txBody>
      </p:sp>
      <p:grpSp>
        <p:nvGrpSpPr>
          <p:cNvPr id="9" name="Group 8">
            <a:extLst>
              <a:ext uri="{FF2B5EF4-FFF2-40B4-BE49-F238E27FC236}">
                <a16:creationId xmlns:a16="http://schemas.microsoft.com/office/drawing/2014/main" id="{328DF466-1516-32B8-4178-95D0F4D607B0}"/>
              </a:ext>
            </a:extLst>
          </p:cNvPr>
          <p:cNvGrpSpPr/>
          <p:nvPr/>
        </p:nvGrpSpPr>
        <p:grpSpPr>
          <a:xfrm>
            <a:off x="339148" y="984752"/>
            <a:ext cx="2160000" cy="3910122"/>
            <a:chOff x="209096" y="1065901"/>
            <a:chExt cx="2373307" cy="3910122"/>
          </a:xfrm>
        </p:grpSpPr>
        <p:sp>
          <p:nvSpPr>
            <p:cNvPr id="195" name="Snip Diagonal Corner Rectangle 156">
              <a:extLst>
                <a:ext uri="{FF2B5EF4-FFF2-40B4-BE49-F238E27FC236}">
                  <a16:creationId xmlns:a16="http://schemas.microsoft.com/office/drawing/2014/main" id="{DBF634B4-BAD0-CDA9-D591-BB497EEF97E6}"/>
                </a:ext>
              </a:extLst>
            </p:cNvPr>
            <p:cNvSpPr/>
            <p:nvPr/>
          </p:nvSpPr>
          <p:spPr bwMode="gray">
            <a:xfrm>
              <a:off x="209096" y="1747370"/>
              <a:ext cx="2373307" cy="585952"/>
            </a:xfrm>
            <a:prstGeom prst="snip2DiagRect">
              <a:avLst>
                <a:gd name="adj1" fmla="val 0"/>
                <a:gd name="adj2" fmla="val 40745"/>
              </a:avLst>
            </a:prstGeom>
            <a:solidFill>
              <a:srgbClr val="000000"/>
            </a:solidFill>
            <a:ln w="25400" cap="flat" cmpd="sng" algn="ctr">
              <a:noFill/>
              <a:prstDash val="solid"/>
            </a:ln>
            <a:effectLst/>
          </p:spPr>
          <p:txBody>
            <a:bodyPr lIns="108000" tIns="66675" rIns="66675" bIns="6667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mj-lt"/>
                  <a:ea typeface="+mn-ea"/>
                  <a:cs typeface="+mn-cs"/>
                </a:rPr>
                <a:t>Regulatory Compliance</a:t>
              </a:r>
            </a:p>
          </p:txBody>
        </p:sp>
        <p:sp>
          <p:nvSpPr>
            <p:cNvPr id="196" name="Text Placeholder 3">
              <a:extLst>
                <a:ext uri="{FF2B5EF4-FFF2-40B4-BE49-F238E27FC236}">
                  <a16:creationId xmlns:a16="http://schemas.microsoft.com/office/drawing/2014/main" id="{ADC1A65A-9ABE-E5F7-403E-00FA7A072C86}"/>
                </a:ext>
              </a:extLst>
            </p:cNvPr>
            <p:cNvSpPr txBox="1">
              <a:spLocks/>
            </p:cNvSpPr>
            <p:nvPr/>
          </p:nvSpPr>
          <p:spPr bwMode="gray">
            <a:xfrm>
              <a:off x="440871" y="2498422"/>
              <a:ext cx="1898650" cy="2477601"/>
            </a:xfrm>
            <a:prstGeom prst="rect">
              <a:avLst/>
            </a:prstGeom>
          </p:spPr>
          <p:txBody>
            <a:bodyPr vert="horz" wrap="square" lIns="0" tIns="0" rIns="0" bIns="0" rtlCol="0">
              <a:spAutoFit/>
            </a:bodyPr>
            <a:lstStyle/>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To establish a specialist and dedicated team to monitor and manage all regulatory compliance and submissions</a:t>
              </a:r>
            </a:p>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Identify opportunities for regulatory reforms and provide recommendations based on industry best practices and operational needs..</a:t>
              </a:r>
            </a:p>
          </p:txBody>
        </p:sp>
        <p:sp>
          <p:nvSpPr>
            <p:cNvPr id="197" name="Isosceles Triangle 13">
              <a:extLst>
                <a:ext uri="{FF2B5EF4-FFF2-40B4-BE49-F238E27FC236}">
                  <a16:creationId xmlns:a16="http://schemas.microsoft.com/office/drawing/2014/main" id="{D88F13A5-D82F-5FF3-3CB3-87A2D7DD15B6}"/>
                </a:ext>
              </a:extLst>
            </p:cNvPr>
            <p:cNvSpPr/>
            <p:nvPr/>
          </p:nvSpPr>
          <p:spPr bwMode="gray">
            <a:xfrm>
              <a:off x="936464" y="1418736"/>
              <a:ext cx="747389" cy="289082"/>
            </a:xfrm>
            <a:prstGeom prst="triangle">
              <a:avLst/>
            </a:prstGeom>
            <a:solidFill>
              <a:srgbClr val="A7A8AA"/>
            </a:solidFill>
            <a:ln w="19050" algn="ctr">
              <a:noFill/>
              <a:miter lim="800000"/>
              <a:headEnd/>
              <a:tailEnd/>
            </a:ln>
          </p:spPr>
          <p:txBody>
            <a:bodyPr wrap="square" lIns="66675" tIns="66675" rIns="66675" bIns="66675" rtlCol="0" anchor="ctr"/>
            <a:lstStyle/>
            <a:p>
              <a:pPr algn="ctr">
                <a:buFont typeface="Wingdings 2" pitchFamily="18" charset="2"/>
                <a:buNone/>
              </a:pPr>
              <a:endParaRPr lang="en-US" sz="1100" b="1">
                <a:solidFill>
                  <a:prstClr val="white"/>
                </a:solidFill>
                <a:latin typeface="+mj-lt"/>
              </a:endParaRPr>
            </a:p>
          </p:txBody>
        </p:sp>
        <p:sp>
          <p:nvSpPr>
            <p:cNvPr id="198" name="Oval 197">
              <a:extLst>
                <a:ext uri="{FF2B5EF4-FFF2-40B4-BE49-F238E27FC236}">
                  <a16:creationId xmlns:a16="http://schemas.microsoft.com/office/drawing/2014/main" id="{0703F4B6-660A-86EC-077E-7B56FD50C1EF}"/>
                </a:ext>
              </a:extLst>
            </p:cNvPr>
            <p:cNvSpPr/>
            <p:nvPr/>
          </p:nvSpPr>
          <p:spPr bwMode="gray">
            <a:xfrm rot="5400000">
              <a:off x="689623" y="1065901"/>
              <a:ext cx="648736" cy="648736"/>
            </a:xfrm>
            <a:prstGeom prst="ellipse">
              <a:avLst/>
            </a:prstGeom>
            <a:solidFill>
              <a:srgbClr val="000000"/>
            </a:solidFill>
            <a:ln w="38100" algn="ctr">
              <a:solidFill>
                <a:sysClr val="window" lastClr="FFFFFF"/>
              </a:solidFill>
              <a:miter lim="800000"/>
              <a:headEnd/>
              <a:tailEnd/>
            </a:ln>
          </p:spPr>
          <p:txBody>
            <a:bodyPr wrap="square" lIns="66675" tIns="66675" rIns="66675" bIns="66675"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0" cap="none" spc="0" normalizeH="0" baseline="0" noProof="0">
                <a:ln>
                  <a:noFill/>
                </a:ln>
                <a:solidFill>
                  <a:prstClr val="white"/>
                </a:solidFill>
                <a:effectLst/>
                <a:uLnTx/>
                <a:uFillTx/>
                <a:latin typeface="+mj-lt"/>
              </a:endParaRPr>
            </a:p>
          </p:txBody>
        </p:sp>
        <p:cxnSp>
          <p:nvCxnSpPr>
            <p:cNvPr id="199" name="Straight Connector 198">
              <a:extLst>
                <a:ext uri="{FF2B5EF4-FFF2-40B4-BE49-F238E27FC236}">
                  <a16:creationId xmlns:a16="http://schemas.microsoft.com/office/drawing/2014/main" id="{FC0EF6C7-3723-5E37-92DD-F4D63282CECD}"/>
                </a:ext>
              </a:extLst>
            </p:cNvPr>
            <p:cNvCxnSpPr/>
            <p:nvPr/>
          </p:nvCxnSpPr>
          <p:spPr>
            <a:xfrm>
              <a:off x="2576947" y="2333321"/>
              <a:ext cx="0" cy="2516799"/>
            </a:xfrm>
            <a:prstGeom prst="line">
              <a:avLst/>
            </a:prstGeom>
            <a:noFill/>
            <a:ln w="9525" cap="flat" cmpd="sng" algn="ctr">
              <a:solidFill>
                <a:srgbClr val="000000"/>
              </a:solidFill>
              <a:prstDash val="solid"/>
              <a:tailEnd type="oval"/>
            </a:ln>
            <a:effectLst/>
          </p:spPr>
        </p:cxnSp>
        <p:sp>
          <p:nvSpPr>
            <p:cNvPr id="201" name="Freeform 145">
              <a:extLst>
                <a:ext uri="{FF2B5EF4-FFF2-40B4-BE49-F238E27FC236}">
                  <a16:creationId xmlns:a16="http://schemas.microsoft.com/office/drawing/2014/main" id="{F9631734-8540-5464-41BA-4C8D88259C08}"/>
                </a:ext>
              </a:extLst>
            </p:cNvPr>
            <p:cNvSpPr>
              <a:spLocks noEditPoints="1"/>
            </p:cNvSpPr>
            <p:nvPr/>
          </p:nvSpPr>
          <p:spPr bwMode="auto">
            <a:xfrm>
              <a:off x="771439" y="1139830"/>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mj-lt"/>
              </a:endParaRPr>
            </a:p>
          </p:txBody>
        </p:sp>
        <p:sp>
          <p:nvSpPr>
            <p:cNvPr id="227" name="TextBox 226">
              <a:extLst>
                <a:ext uri="{FF2B5EF4-FFF2-40B4-BE49-F238E27FC236}">
                  <a16:creationId xmlns:a16="http://schemas.microsoft.com/office/drawing/2014/main" id="{700899B0-C977-7F67-7F4D-3AC72C893852}"/>
                </a:ext>
              </a:extLst>
            </p:cNvPr>
            <p:cNvSpPr txBox="1"/>
            <p:nvPr/>
          </p:nvSpPr>
          <p:spPr>
            <a:xfrm>
              <a:off x="928165" y="1229359"/>
              <a:ext cx="113858" cy="276999"/>
            </a:xfrm>
            <a:prstGeom prst="rect">
              <a:avLst/>
            </a:prstGeom>
            <a:noFill/>
          </p:spPr>
          <p:txBody>
            <a:bodyPr wrap="square" lIns="0" tIns="0" rIns="0" bIns="0" rtlCol="0">
              <a:spAutoFit/>
            </a:bodyPr>
            <a:lstStyle/>
            <a:p>
              <a:pPr>
                <a:spcBef>
                  <a:spcPts val="600"/>
                </a:spcBef>
                <a:buSzPct val="100000"/>
              </a:pPr>
              <a:r>
                <a:rPr lang="en-IN">
                  <a:solidFill>
                    <a:schemeClr val="bg1"/>
                  </a:solidFill>
                </a:rPr>
                <a:t>1</a:t>
              </a:r>
            </a:p>
          </p:txBody>
        </p:sp>
      </p:grpSp>
      <p:grpSp>
        <p:nvGrpSpPr>
          <p:cNvPr id="10" name="Group 9">
            <a:extLst>
              <a:ext uri="{FF2B5EF4-FFF2-40B4-BE49-F238E27FC236}">
                <a16:creationId xmlns:a16="http://schemas.microsoft.com/office/drawing/2014/main" id="{06DEF30D-F200-98A5-5553-3BBDEBC1F049}"/>
              </a:ext>
            </a:extLst>
          </p:cNvPr>
          <p:cNvGrpSpPr/>
          <p:nvPr/>
        </p:nvGrpSpPr>
        <p:grpSpPr>
          <a:xfrm>
            <a:off x="2659181" y="984752"/>
            <a:ext cx="2160000" cy="4279454"/>
            <a:chOff x="2691587" y="1065901"/>
            <a:chExt cx="2373307" cy="4279454"/>
          </a:xfrm>
        </p:grpSpPr>
        <p:sp>
          <p:nvSpPr>
            <p:cNvPr id="203" name="Snip Diagonal Corner Rectangle 162">
              <a:extLst>
                <a:ext uri="{FF2B5EF4-FFF2-40B4-BE49-F238E27FC236}">
                  <a16:creationId xmlns:a16="http://schemas.microsoft.com/office/drawing/2014/main" id="{956A1CC7-DF6E-E6DB-561C-3544C54F4DF5}"/>
                </a:ext>
              </a:extLst>
            </p:cNvPr>
            <p:cNvSpPr/>
            <p:nvPr/>
          </p:nvSpPr>
          <p:spPr bwMode="gray">
            <a:xfrm>
              <a:off x="2691587" y="1747370"/>
              <a:ext cx="2373307" cy="585952"/>
            </a:xfrm>
            <a:prstGeom prst="snip2DiagRect">
              <a:avLst>
                <a:gd name="adj1" fmla="val 0"/>
                <a:gd name="adj2" fmla="val 35930"/>
              </a:avLst>
            </a:prstGeom>
            <a:solidFill>
              <a:srgbClr val="86BC25"/>
            </a:solidFill>
            <a:ln w="25400" cap="flat" cmpd="sng" algn="ctr">
              <a:noFill/>
              <a:prstDash val="solid"/>
            </a:ln>
            <a:effectLst/>
          </p:spPr>
          <p:txBody>
            <a:bodyPr lIns="108000" tIns="66675" rIns="66675" bIns="6667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mj-lt"/>
                  <a:ea typeface="+mn-ea"/>
                  <a:cs typeface="+mn-cs"/>
                </a:rPr>
                <a:t>Communication with Regulators/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mj-lt"/>
                  <a:ea typeface="+mn-ea"/>
                  <a:cs typeface="+mn-cs"/>
                </a:rPr>
                <a:t>Stakeholders</a:t>
              </a:r>
            </a:p>
          </p:txBody>
        </p:sp>
        <p:sp>
          <p:nvSpPr>
            <p:cNvPr id="204" name="Text Placeholder 3">
              <a:extLst>
                <a:ext uri="{FF2B5EF4-FFF2-40B4-BE49-F238E27FC236}">
                  <a16:creationId xmlns:a16="http://schemas.microsoft.com/office/drawing/2014/main" id="{490B19A3-A903-26FA-A8F0-F777C3CEFAE4}"/>
                </a:ext>
              </a:extLst>
            </p:cNvPr>
            <p:cNvSpPr txBox="1">
              <a:spLocks/>
            </p:cNvSpPr>
            <p:nvPr/>
          </p:nvSpPr>
          <p:spPr bwMode="gray">
            <a:xfrm>
              <a:off x="2923362" y="2498422"/>
              <a:ext cx="1898650" cy="2846933"/>
            </a:xfrm>
            <a:prstGeom prst="rect">
              <a:avLst/>
            </a:prstGeom>
          </p:spPr>
          <p:txBody>
            <a:bodyPr vert="horz" wrap="square" lIns="0" tIns="0" rIns="0" bIns="0" rtlCol="0">
              <a:spAutoFit/>
            </a:bodyPr>
            <a:lstStyle/>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To have a single channel to ensure consistency and continuity in interactions with regulator, government etc.</a:t>
              </a:r>
            </a:p>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Facilitate communication with stakeholders regarding tariff changes and gather feedback to enhance acceptance and understanding.</a:t>
              </a:r>
            </a:p>
          </p:txBody>
        </p:sp>
        <p:sp>
          <p:nvSpPr>
            <p:cNvPr id="205" name="Isosceles Triangle 14">
              <a:extLst>
                <a:ext uri="{FF2B5EF4-FFF2-40B4-BE49-F238E27FC236}">
                  <a16:creationId xmlns:a16="http://schemas.microsoft.com/office/drawing/2014/main" id="{3E65F467-FB7C-CB6F-2A3F-251A23698DB5}"/>
                </a:ext>
              </a:extLst>
            </p:cNvPr>
            <p:cNvSpPr/>
            <p:nvPr/>
          </p:nvSpPr>
          <p:spPr bwMode="gray">
            <a:xfrm>
              <a:off x="3505926" y="1418736"/>
              <a:ext cx="747389" cy="289082"/>
            </a:xfrm>
            <a:prstGeom prst="triangle">
              <a:avLst/>
            </a:prstGeom>
            <a:solidFill>
              <a:srgbClr val="D0D0CE"/>
            </a:solidFill>
            <a:ln w="19050" algn="ctr">
              <a:noFill/>
              <a:miter lim="800000"/>
              <a:headEnd/>
              <a:tailEnd/>
            </a:ln>
          </p:spPr>
          <p:txBody>
            <a:bodyPr wrap="square" lIns="66675" tIns="66675" rIns="66675" bIns="66675" rtlCol="0" anchor="ctr"/>
            <a:lstStyle/>
            <a:p>
              <a:pPr algn="ctr">
                <a:buFont typeface="Wingdings 2" pitchFamily="18" charset="2"/>
                <a:buNone/>
              </a:pPr>
              <a:endParaRPr lang="en-US" sz="1100" b="1">
                <a:solidFill>
                  <a:prstClr val="white"/>
                </a:solidFill>
                <a:latin typeface="+mj-lt"/>
              </a:endParaRPr>
            </a:p>
          </p:txBody>
        </p:sp>
        <p:sp>
          <p:nvSpPr>
            <p:cNvPr id="206" name="Oval 205">
              <a:extLst>
                <a:ext uri="{FF2B5EF4-FFF2-40B4-BE49-F238E27FC236}">
                  <a16:creationId xmlns:a16="http://schemas.microsoft.com/office/drawing/2014/main" id="{88F4FA1D-F18A-66A5-14DD-92CF4F3CB55A}"/>
                </a:ext>
              </a:extLst>
            </p:cNvPr>
            <p:cNvSpPr/>
            <p:nvPr/>
          </p:nvSpPr>
          <p:spPr bwMode="gray">
            <a:xfrm rot="5400000">
              <a:off x="3259085" y="1065901"/>
              <a:ext cx="648736" cy="648736"/>
            </a:xfrm>
            <a:prstGeom prst="ellipse">
              <a:avLst/>
            </a:prstGeom>
            <a:solidFill>
              <a:srgbClr val="86BC25"/>
            </a:solidFill>
            <a:ln w="38100" algn="ctr">
              <a:solidFill>
                <a:sysClr val="window" lastClr="FFFFFF"/>
              </a:solidFill>
              <a:miter lim="800000"/>
              <a:headEnd/>
              <a:tailEnd/>
            </a:ln>
          </p:spPr>
          <p:txBody>
            <a:bodyPr wrap="square" lIns="66675" tIns="66675" rIns="66675" bIns="66675"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0" cap="none" spc="0" normalizeH="0" baseline="0" noProof="0">
                <a:ln>
                  <a:noFill/>
                </a:ln>
                <a:solidFill>
                  <a:prstClr val="white"/>
                </a:solidFill>
                <a:effectLst/>
                <a:uLnTx/>
                <a:uFillTx/>
                <a:latin typeface="+mj-lt"/>
              </a:endParaRPr>
            </a:p>
          </p:txBody>
        </p:sp>
        <p:cxnSp>
          <p:nvCxnSpPr>
            <p:cNvPr id="207" name="Straight Connector 206">
              <a:extLst>
                <a:ext uri="{FF2B5EF4-FFF2-40B4-BE49-F238E27FC236}">
                  <a16:creationId xmlns:a16="http://schemas.microsoft.com/office/drawing/2014/main" id="{21B939EC-7EDE-F88D-1D0F-15AA377E95CF}"/>
                </a:ext>
              </a:extLst>
            </p:cNvPr>
            <p:cNvCxnSpPr/>
            <p:nvPr/>
          </p:nvCxnSpPr>
          <p:spPr>
            <a:xfrm>
              <a:off x="5052470" y="2333321"/>
              <a:ext cx="0" cy="2516799"/>
            </a:xfrm>
            <a:prstGeom prst="line">
              <a:avLst/>
            </a:prstGeom>
            <a:noFill/>
            <a:ln w="9525" cap="flat" cmpd="sng" algn="ctr">
              <a:solidFill>
                <a:srgbClr val="86BC25"/>
              </a:solidFill>
              <a:prstDash val="solid"/>
              <a:tailEnd type="oval"/>
            </a:ln>
            <a:effectLst/>
          </p:spPr>
        </p:cxnSp>
        <p:sp>
          <p:nvSpPr>
            <p:cNvPr id="209" name="Freeform 727">
              <a:extLst>
                <a:ext uri="{FF2B5EF4-FFF2-40B4-BE49-F238E27FC236}">
                  <a16:creationId xmlns:a16="http://schemas.microsoft.com/office/drawing/2014/main" id="{F9F51CE6-C536-DBD1-4C4B-11318962CC1C}"/>
                </a:ext>
              </a:extLst>
            </p:cNvPr>
            <p:cNvSpPr>
              <a:spLocks noEditPoints="1"/>
            </p:cNvSpPr>
            <p:nvPr/>
          </p:nvSpPr>
          <p:spPr bwMode="auto">
            <a:xfrm>
              <a:off x="3343023" y="1146650"/>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mj-lt"/>
              </a:endParaRPr>
            </a:p>
          </p:txBody>
        </p:sp>
        <p:sp>
          <p:nvSpPr>
            <p:cNvPr id="228" name="TextBox 227">
              <a:extLst>
                <a:ext uri="{FF2B5EF4-FFF2-40B4-BE49-F238E27FC236}">
                  <a16:creationId xmlns:a16="http://schemas.microsoft.com/office/drawing/2014/main" id="{873B4A57-998A-6219-DA97-BF1482738BFB}"/>
                </a:ext>
              </a:extLst>
            </p:cNvPr>
            <p:cNvSpPr txBox="1"/>
            <p:nvPr/>
          </p:nvSpPr>
          <p:spPr>
            <a:xfrm>
              <a:off x="3504147" y="1257228"/>
              <a:ext cx="490985" cy="276999"/>
            </a:xfrm>
            <a:prstGeom prst="rect">
              <a:avLst/>
            </a:prstGeom>
            <a:noFill/>
          </p:spPr>
          <p:txBody>
            <a:bodyPr wrap="square" lIns="0" tIns="0" rIns="0" bIns="0" rtlCol="0">
              <a:spAutoFit/>
            </a:bodyPr>
            <a:lstStyle/>
            <a:p>
              <a:pPr>
                <a:spcBef>
                  <a:spcPts val="600"/>
                </a:spcBef>
                <a:buSzPct val="100000"/>
              </a:pPr>
              <a:r>
                <a:rPr lang="en-IN">
                  <a:solidFill>
                    <a:schemeClr val="bg1"/>
                  </a:solidFill>
                </a:rPr>
                <a:t>2</a:t>
              </a:r>
            </a:p>
          </p:txBody>
        </p:sp>
      </p:grpSp>
      <p:grpSp>
        <p:nvGrpSpPr>
          <p:cNvPr id="11" name="Group 10">
            <a:extLst>
              <a:ext uri="{FF2B5EF4-FFF2-40B4-BE49-F238E27FC236}">
                <a16:creationId xmlns:a16="http://schemas.microsoft.com/office/drawing/2014/main" id="{75EEF1E0-62F6-FE8C-52A4-F64D40E343F9}"/>
              </a:ext>
            </a:extLst>
          </p:cNvPr>
          <p:cNvGrpSpPr/>
          <p:nvPr/>
        </p:nvGrpSpPr>
        <p:grpSpPr>
          <a:xfrm>
            <a:off x="4979214" y="984752"/>
            <a:ext cx="2160000" cy="3910122"/>
            <a:chOff x="5097880" y="1065901"/>
            <a:chExt cx="2373307" cy="3910122"/>
          </a:xfrm>
        </p:grpSpPr>
        <p:sp>
          <p:nvSpPr>
            <p:cNvPr id="211" name="Text Placeholder 3">
              <a:extLst>
                <a:ext uri="{FF2B5EF4-FFF2-40B4-BE49-F238E27FC236}">
                  <a16:creationId xmlns:a16="http://schemas.microsoft.com/office/drawing/2014/main" id="{DA40F1ED-DB19-449D-472E-B7B14AFA1CF2}"/>
                </a:ext>
              </a:extLst>
            </p:cNvPr>
            <p:cNvSpPr txBox="1">
              <a:spLocks/>
            </p:cNvSpPr>
            <p:nvPr/>
          </p:nvSpPr>
          <p:spPr bwMode="gray">
            <a:xfrm>
              <a:off x="5329655" y="2498422"/>
              <a:ext cx="1898650" cy="2477601"/>
            </a:xfrm>
            <a:prstGeom prst="rect">
              <a:avLst/>
            </a:prstGeom>
          </p:spPr>
          <p:txBody>
            <a:bodyPr vert="horz" wrap="square" lIns="0" tIns="0" rIns="0" bIns="0" rtlCol="0">
              <a:spAutoFit/>
            </a:bodyPr>
            <a:lstStyle/>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To institutionalize arrangements for meeting regulatory requirements, including setting up of necessary infrastructure, systems and processes.</a:t>
              </a:r>
            </a:p>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Manage process of tariff applications, ensuring that pricing structures are equitable and aligned with regulations.</a:t>
              </a:r>
            </a:p>
          </p:txBody>
        </p:sp>
        <p:sp>
          <p:nvSpPr>
            <p:cNvPr id="212" name="Snip Diagonal Corner Rectangle 158">
              <a:extLst>
                <a:ext uri="{FF2B5EF4-FFF2-40B4-BE49-F238E27FC236}">
                  <a16:creationId xmlns:a16="http://schemas.microsoft.com/office/drawing/2014/main" id="{B99379A7-1EB8-8F0F-4BE7-4311B55D0A30}"/>
                </a:ext>
              </a:extLst>
            </p:cNvPr>
            <p:cNvSpPr/>
            <p:nvPr/>
          </p:nvSpPr>
          <p:spPr bwMode="gray">
            <a:xfrm>
              <a:off x="5097880" y="1747370"/>
              <a:ext cx="2373307" cy="585952"/>
            </a:xfrm>
            <a:prstGeom prst="snip2DiagRect">
              <a:avLst>
                <a:gd name="adj1" fmla="val 0"/>
                <a:gd name="adj2" fmla="val 38338"/>
              </a:avLst>
            </a:prstGeom>
            <a:solidFill>
              <a:srgbClr val="53565A"/>
            </a:solidFill>
            <a:ln w="25400" cap="flat" cmpd="sng" algn="ctr">
              <a:noFill/>
              <a:prstDash val="solid"/>
            </a:ln>
            <a:effectLst/>
          </p:spPr>
          <p:txBody>
            <a:bodyPr lIns="108000" tIns="66675" rIns="66675" bIns="6667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prstClr val="white"/>
                  </a:solidFill>
                  <a:latin typeface="+mj-lt"/>
                </a:rPr>
                <a:t>Tariff Management</a:t>
              </a:r>
              <a:endParaRPr kumimoji="0" lang="en-US" sz="1200" b="1" i="0" u="none" strike="noStrike" kern="0" cap="none" spc="0" normalizeH="0" baseline="0" noProof="0" dirty="0">
                <a:ln>
                  <a:noFill/>
                </a:ln>
                <a:solidFill>
                  <a:prstClr val="white"/>
                </a:solidFill>
                <a:effectLst/>
                <a:uLnTx/>
                <a:uFillTx/>
                <a:latin typeface="+mj-lt"/>
                <a:ea typeface="+mn-ea"/>
                <a:cs typeface="+mn-cs"/>
              </a:endParaRPr>
            </a:p>
          </p:txBody>
        </p:sp>
        <p:sp>
          <p:nvSpPr>
            <p:cNvPr id="213" name="Isosceles Triangle 16">
              <a:extLst>
                <a:ext uri="{FF2B5EF4-FFF2-40B4-BE49-F238E27FC236}">
                  <a16:creationId xmlns:a16="http://schemas.microsoft.com/office/drawing/2014/main" id="{AF74C4FD-5E80-5113-1F54-6FB920E62797}"/>
                </a:ext>
              </a:extLst>
            </p:cNvPr>
            <p:cNvSpPr/>
            <p:nvPr/>
          </p:nvSpPr>
          <p:spPr bwMode="gray">
            <a:xfrm>
              <a:off x="5900429" y="1418736"/>
              <a:ext cx="747389" cy="289082"/>
            </a:xfrm>
            <a:prstGeom prst="triangle">
              <a:avLst/>
            </a:prstGeom>
            <a:solidFill>
              <a:srgbClr val="A7A8AA"/>
            </a:solidFill>
            <a:ln w="19050" algn="ctr">
              <a:noFill/>
              <a:miter lim="800000"/>
              <a:headEnd/>
              <a:tailEnd/>
            </a:ln>
          </p:spPr>
          <p:txBody>
            <a:bodyPr wrap="square" lIns="66675" tIns="66675" rIns="66675" bIns="66675" rtlCol="0" anchor="ctr"/>
            <a:lstStyle/>
            <a:p>
              <a:pPr algn="ctr">
                <a:buFont typeface="Wingdings 2" pitchFamily="18" charset="2"/>
                <a:buNone/>
              </a:pPr>
              <a:endParaRPr lang="en-US" sz="1100" b="1">
                <a:solidFill>
                  <a:prstClr val="white"/>
                </a:solidFill>
                <a:latin typeface="+mj-lt"/>
              </a:endParaRPr>
            </a:p>
          </p:txBody>
        </p:sp>
        <p:sp>
          <p:nvSpPr>
            <p:cNvPr id="214" name="Oval 213">
              <a:extLst>
                <a:ext uri="{FF2B5EF4-FFF2-40B4-BE49-F238E27FC236}">
                  <a16:creationId xmlns:a16="http://schemas.microsoft.com/office/drawing/2014/main" id="{FE44F15E-26C6-5A88-7184-2C54BB990A6B}"/>
                </a:ext>
              </a:extLst>
            </p:cNvPr>
            <p:cNvSpPr/>
            <p:nvPr/>
          </p:nvSpPr>
          <p:spPr bwMode="gray">
            <a:xfrm rot="5400000">
              <a:off x="5653588" y="1065901"/>
              <a:ext cx="648736" cy="648736"/>
            </a:xfrm>
            <a:prstGeom prst="ellipse">
              <a:avLst/>
            </a:prstGeom>
            <a:solidFill>
              <a:srgbClr val="53565A"/>
            </a:solidFill>
            <a:ln w="38100" algn="ctr">
              <a:solidFill>
                <a:sysClr val="window" lastClr="FFFFFF"/>
              </a:solidFill>
              <a:miter lim="800000"/>
              <a:headEnd/>
              <a:tailEnd/>
            </a:ln>
          </p:spPr>
          <p:txBody>
            <a:bodyPr wrap="square" lIns="66675" tIns="66675" rIns="66675" bIns="66675"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0" cap="none" spc="0" normalizeH="0" baseline="0" noProof="0">
                <a:ln>
                  <a:noFill/>
                </a:ln>
                <a:solidFill>
                  <a:prstClr val="white"/>
                </a:solidFill>
                <a:effectLst/>
                <a:uLnTx/>
                <a:uFillTx/>
                <a:latin typeface="+mj-lt"/>
              </a:endParaRPr>
            </a:p>
          </p:txBody>
        </p:sp>
        <p:cxnSp>
          <p:nvCxnSpPr>
            <p:cNvPr id="215" name="Straight Connector 214">
              <a:extLst>
                <a:ext uri="{FF2B5EF4-FFF2-40B4-BE49-F238E27FC236}">
                  <a16:creationId xmlns:a16="http://schemas.microsoft.com/office/drawing/2014/main" id="{8CD66361-CA56-DB31-0A87-49C49341470E}"/>
                </a:ext>
              </a:extLst>
            </p:cNvPr>
            <p:cNvCxnSpPr/>
            <p:nvPr/>
          </p:nvCxnSpPr>
          <p:spPr>
            <a:xfrm>
              <a:off x="7462152" y="2333321"/>
              <a:ext cx="0" cy="2516799"/>
            </a:xfrm>
            <a:prstGeom prst="line">
              <a:avLst/>
            </a:prstGeom>
            <a:noFill/>
            <a:ln w="9525" cap="flat" cmpd="sng" algn="ctr">
              <a:solidFill>
                <a:srgbClr val="53565A"/>
              </a:solidFill>
              <a:prstDash val="solid"/>
              <a:tailEnd type="oval"/>
            </a:ln>
            <a:effectLst/>
          </p:spPr>
        </p:cxnSp>
        <p:sp>
          <p:nvSpPr>
            <p:cNvPr id="218" name="Freeform 988">
              <a:extLst>
                <a:ext uri="{FF2B5EF4-FFF2-40B4-BE49-F238E27FC236}">
                  <a16:creationId xmlns:a16="http://schemas.microsoft.com/office/drawing/2014/main" id="{69D1345C-5D06-6CD5-3DE1-9F33618DA63B}"/>
                </a:ext>
              </a:extLst>
            </p:cNvPr>
            <p:cNvSpPr>
              <a:spLocks noEditPoints="1"/>
            </p:cNvSpPr>
            <p:nvPr/>
          </p:nvSpPr>
          <p:spPr bwMode="auto">
            <a:xfrm>
              <a:off x="5738594" y="1146650"/>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mj-lt"/>
              </a:endParaRPr>
            </a:p>
          </p:txBody>
        </p:sp>
        <p:sp>
          <p:nvSpPr>
            <p:cNvPr id="247" name="TextBox 246">
              <a:extLst>
                <a:ext uri="{FF2B5EF4-FFF2-40B4-BE49-F238E27FC236}">
                  <a16:creationId xmlns:a16="http://schemas.microsoft.com/office/drawing/2014/main" id="{475DA702-0389-D77D-E165-03CC14CC0F7C}"/>
                </a:ext>
              </a:extLst>
            </p:cNvPr>
            <p:cNvSpPr txBox="1"/>
            <p:nvPr/>
          </p:nvSpPr>
          <p:spPr>
            <a:xfrm>
              <a:off x="5903149" y="1243427"/>
              <a:ext cx="326430" cy="276999"/>
            </a:xfrm>
            <a:prstGeom prst="rect">
              <a:avLst/>
            </a:prstGeom>
            <a:noFill/>
          </p:spPr>
          <p:txBody>
            <a:bodyPr wrap="square" lIns="0" tIns="0" rIns="0" bIns="0" rtlCol="0">
              <a:spAutoFit/>
            </a:bodyPr>
            <a:lstStyle/>
            <a:p>
              <a:pPr>
                <a:spcBef>
                  <a:spcPts val="600"/>
                </a:spcBef>
                <a:buSzPct val="100000"/>
              </a:pPr>
              <a:r>
                <a:rPr lang="en-IN">
                  <a:solidFill>
                    <a:schemeClr val="bg1"/>
                  </a:solidFill>
                </a:rPr>
                <a:t>3</a:t>
              </a:r>
            </a:p>
          </p:txBody>
        </p:sp>
      </p:grpSp>
      <p:grpSp>
        <p:nvGrpSpPr>
          <p:cNvPr id="12" name="Group 11">
            <a:extLst>
              <a:ext uri="{FF2B5EF4-FFF2-40B4-BE49-F238E27FC236}">
                <a16:creationId xmlns:a16="http://schemas.microsoft.com/office/drawing/2014/main" id="{FA955927-4B9B-5DA7-082E-78C5966C8122}"/>
              </a:ext>
            </a:extLst>
          </p:cNvPr>
          <p:cNvGrpSpPr/>
          <p:nvPr/>
        </p:nvGrpSpPr>
        <p:grpSpPr>
          <a:xfrm>
            <a:off x="7299247" y="1047704"/>
            <a:ext cx="2160000" cy="4094788"/>
            <a:chOff x="7569489" y="1065901"/>
            <a:chExt cx="2373307" cy="4094788"/>
          </a:xfrm>
        </p:grpSpPr>
        <p:sp>
          <p:nvSpPr>
            <p:cNvPr id="219" name="Text Placeholder 3">
              <a:extLst>
                <a:ext uri="{FF2B5EF4-FFF2-40B4-BE49-F238E27FC236}">
                  <a16:creationId xmlns:a16="http://schemas.microsoft.com/office/drawing/2014/main" id="{E0939673-CA4A-29A9-FA17-6B95F19F0044}"/>
                </a:ext>
              </a:extLst>
            </p:cNvPr>
            <p:cNvSpPr txBox="1">
              <a:spLocks/>
            </p:cNvSpPr>
            <p:nvPr/>
          </p:nvSpPr>
          <p:spPr bwMode="gray">
            <a:xfrm>
              <a:off x="7801262" y="2498422"/>
              <a:ext cx="1898652" cy="2662267"/>
            </a:xfrm>
            <a:prstGeom prst="rect">
              <a:avLst/>
            </a:prstGeom>
          </p:spPr>
          <p:txBody>
            <a:bodyPr vert="horz" wrap="square" lIns="0" tIns="0" rIns="0" bIns="0" rtlCol="0">
              <a:spAutoFit/>
            </a:bodyPr>
            <a:lstStyle/>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Engage in discussions with policymakers to advocate for favorable regulatory frameworks.</a:t>
              </a:r>
            </a:p>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Identify opportunities for regulatory reforms and provide recommendations based on industry best practices and operational needs.</a:t>
              </a:r>
            </a:p>
          </p:txBody>
        </p:sp>
        <p:sp>
          <p:nvSpPr>
            <p:cNvPr id="220" name="Snip Diagonal Corner Rectangle 160">
              <a:extLst>
                <a:ext uri="{FF2B5EF4-FFF2-40B4-BE49-F238E27FC236}">
                  <a16:creationId xmlns:a16="http://schemas.microsoft.com/office/drawing/2014/main" id="{8357DD05-407E-C070-01D5-9DDC6A200AB3}"/>
                </a:ext>
              </a:extLst>
            </p:cNvPr>
            <p:cNvSpPr/>
            <p:nvPr/>
          </p:nvSpPr>
          <p:spPr bwMode="gray">
            <a:xfrm>
              <a:off x="7569489" y="1754245"/>
              <a:ext cx="2373307" cy="585952"/>
            </a:xfrm>
            <a:prstGeom prst="snip2DiagRect">
              <a:avLst>
                <a:gd name="adj1" fmla="val 0"/>
                <a:gd name="adj2" fmla="val 37880"/>
              </a:avLst>
            </a:prstGeom>
            <a:solidFill>
              <a:srgbClr val="43B02A"/>
            </a:solidFill>
            <a:ln w="25400" cap="flat" cmpd="sng" algn="ctr">
              <a:noFill/>
              <a:prstDash val="solid"/>
            </a:ln>
            <a:effectLst/>
          </p:spPr>
          <p:txBody>
            <a:bodyPr lIns="108000" tIns="66675" rIns="66675" bIns="6667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mj-lt"/>
                  <a:ea typeface="+mn-ea"/>
                  <a:cs typeface="+mn-cs"/>
                </a:rPr>
                <a:t>Regulatory Advocacy</a:t>
              </a:r>
            </a:p>
          </p:txBody>
        </p:sp>
        <p:sp>
          <p:nvSpPr>
            <p:cNvPr id="221" name="Isosceles Triangle 18">
              <a:extLst>
                <a:ext uri="{FF2B5EF4-FFF2-40B4-BE49-F238E27FC236}">
                  <a16:creationId xmlns:a16="http://schemas.microsoft.com/office/drawing/2014/main" id="{9E46C4BA-F614-A668-F893-24A1EEF5937C}"/>
                </a:ext>
              </a:extLst>
            </p:cNvPr>
            <p:cNvSpPr/>
            <p:nvPr/>
          </p:nvSpPr>
          <p:spPr bwMode="gray">
            <a:xfrm>
              <a:off x="8388465" y="1418736"/>
              <a:ext cx="747389" cy="289082"/>
            </a:xfrm>
            <a:prstGeom prst="triangle">
              <a:avLst/>
            </a:prstGeom>
            <a:solidFill>
              <a:srgbClr val="D0D0CE"/>
            </a:solidFill>
            <a:ln w="19050" algn="ctr">
              <a:noFill/>
              <a:miter lim="800000"/>
              <a:headEnd/>
              <a:tailEnd/>
            </a:ln>
          </p:spPr>
          <p:txBody>
            <a:bodyPr wrap="square" lIns="66675" tIns="66675" rIns="66675" bIns="66675" rtlCol="0" anchor="ctr"/>
            <a:lstStyle/>
            <a:p>
              <a:pPr algn="ctr">
                <a:buFont typeface="Wingdings 2" pitchFamily="18" charset="2"/>
                <a:buNone/>
              </a:pPr>
              <a:endParaRPr lang="en-US" sz="1100" b="1">
                <a:solidFill>
                  <a:prstClr val="white"/>
                </a:solidFill>
                <a:latin typeface="+mj-lt"/>
              </a:endParaRPr>
            </a:p>
          </p:txBody>
        </p:sp>
        <p:sp>
          <p:nvSpPr>
            <p:cNvPr id="222" name="Oval 221">
              <a:extLst>
                <a:ext uri="{FF2B5EF4-FFF2-40B4-BE49-F238E27FC236}">
                  <a16:creationId xmlns:a16="http://schemas.microsoft.com/office/drawing/2014/main" id="{EF4E76A5-6200-3CFD-A57E-CD653BA9F60E}"/>
                </a:ext>
              </a:extLst>
            </p:cNvPr>
            <p:cNvSpPr/>
            <p:nvPr/>
          </p:nvSpPr>
          <p:spPr bwMode="gray">
            <a:xfrm rot="5400000">
              <a:off x="8141625" y="1065901"/>
              <a:ext cx="648736" cy="648736"/>
            </a:xfrm>
            <a:prstGeom prst="ellipse">
              <a:avLst/>
            </a:prstGeom>
            <a:solidFill>
              <a:srgbClr val="43B02A"/>
            </a:solidFill>
            <a:ln w="38100" algn="ctr">
              <a:solidFill>
                <a:sysClr val="window" lastClr="FFFFFF"/>
              </a:solidFill>
              <a:miter lim="800000"/>
              <a:headEnd/>
              <a:tailEnd/>
            </a:ln>
          </p:spPr>
          <p:txBody>
            <a:bodyPr wrap="square" lIns="66675" tIns="66675" rIns="66675" bIns="66675"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0" cap="none" spc="0" normalizeH="0" baseline="0" noProof="0">
                <a:ln>
                  <a:noFill/>
                </a:ln>
                <a:solidFill>
                  <a:prstClr val="white"/>
                </a:solidFill>
                <a:effectLst/>
                <a:uLnTx/>
                <a:uFillTx/>
                <a:latin typeface="+mj-lt"/>
              </a:endParaRPr>
            </a:p>
          </p:txBody>
        </p:sp>
        <p:cxnSp>
          <p:nvCxnSpPr>
            <p:cNvPr id="223" name="Straight Connector 222">
              <a:extLst>
                <a:ext uri="{FF2B5EF4-FFF2-40B4-BE49-F238E27FC236}">
                  <a16:creationId xmlns:a16="http://schemas.microsoft.com/office/drawing/2014/main" id="{B1786C8A-0BA0-43C4-D6A4-DA02B051105B}"/>
                </a:ext>
              </a:extLst>
            </p:cNvPr>
            <p:cNvCxnSpPr/>
            <p:nvPr/>
          </p:nvCxnSpPr>
          <p:spPr>
            <a:xfrm>
              <a:off x="9937341" y="2333321"/>
              <a:ext cx="0" cy="2516799"/>
            </a:xfrm>
            <a:prstGeom prst="line">
              <a:avLst/>
            </a:prstGeom>
            <a:noFill/>
            <a:ln w="9525" cap="flat" cmpd="sng" algn="ctr">
              <a:solidFill>
                <a:srgbClr val="43B02A"/>
              </a:solidFill>
              <a:prstDash val="solid"/>
              <a:tailEnd type="oval"/>
            </a:ln>
            <a:effectLst/>
          </p:spPr>
        </p:cxnSp>
        <p:sp>
          <p:nvSpPr>
            <p:cNvPr id="225" name="Freeform 914">
              <a:extLst>
                <a:ext uri="{FF2B5EF4-FFF2-40B4-BE49-F238E27FC236}">
                  <a16:creationId xmlns:a16="http://schemas.microsoft.com/office/drawing/2014/main" id="{570BB524-1F17-C543-F3FB-8C7C3C1FAC10}"/>
                </a:ext>
              </a:extLst>
            </p:cNvPr>
            <p:cNvSpPr>
              <a:spLocks noEditPoints="1"/>
            </p:cNvSpPr>
            <p:nvPr/>
          </p:nvSpPr>
          <p:spPr bwMode="auto">
            <a:xfrm>
              <a:off x="8220500" y="1147076"/>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mj-lt"/>
              </a:endParaRPr>
            </a:p>
          </p:txBody>
        </p:sp>
        <p:sp>
          <p:nvSpPr>
            <p:cNvPr id="248" name="TextBox 247">
              <a:extLst>
                <a:ext uri="{FF2B5EF4-FFF2-40B4-BE49-F238E27FC236}">
                  <a16:creationId xmlns:a16="http://schemas.microsoft.com/office/drawing/2014/main" id="{CC47FE09-40CD-B030-440A-CFF83D2EAC00}"/>
                </a:ext>
              </a:extLst>
            </p:cNvPr>
            <p:cNvSpPr txBox="1"/>
            <p:nvPr/>
          </p:nvSpPr>
          <p:spPr>
            <a:xfrm>
              <a:off x="8377618" y="1259086"/>
              <a:ext cx="333868" cy="276999"/>
            </a:xfrm>
            <a:prstGeom prst="rect">
              <a:avLst/>
            </a:prstGeom>
            <a:noFill/>
          </p:spPr>
          <p:txBody>
            <a:bodyPr wrap="square" lIns="0" tIns="0" rIns="0" bIns="0" rtlCol="0">
              <a:spAutoFit/>
            </a:bodyPr>
            <a:lstStyle/>
            <a:p>
              <a:pPr>
                <a:spcBef>
                  <a:spcPts val="600"/>
                </a:spcBef>
                <a:buSzPct val="100000"/>
              </a:pPr>
              <a:r>
                <a:rPr lang="en-IN">
                  <a:solidFill>
                    <a:schemeClr val="bg1"/>
                  </a:solidFill>
                </a:rPr>
                <a:t>4</a:t>
              </a:r>
            </a:p>
          </p:txBody>
        </p:sp>
      </p:grpSp>
      <p:sp>
        <p:nvSpPr>
          <p:cNvPr id="251" name="Rectangle 250">
            <a:extLst>
              <a:ext uri="{FF2B5EF4-FFF2-40B4-BE49-F238E27FC236}">
                <a16:creationId xmlns:a16="http://schemas.microsoft.com/office/drawing/2014/main" id="{0DE4FFB8-FD5A-9D11-42B6-849ACF115F6E}"/>
              </a:ext>
            </a:extLst>
          </p:cNvPr>
          <p:cNvSpPr/>
          <p:nvPr/>
        </p:nvSpPr>
        <p:spPr>
          <a:xfrm>
            <a:off x="424540" y="5558946"/>
            <a:ext cx="11107079" cy="80673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Aft>
                <a:spcPts val="600"/>
              </a:spcAft>
            </a:pPr>
            <a:r>
              <a:rPr lang="en-US" sz="1200" dirty="0"/>
              <a:t>The objectives of a Regulatory Cell within NEA is essential for ensuring compliance, fostering effective communication with ERC, advocating for policy changes with MEWRI, managing tariffs, and promoting continuous improvement. By focusing on these objectives, the regulatory cell can enhance the NEA’s operations, support strategic growth, and contribute to a reliable and sustainable electricity supply.</a:t>
            </a:r>
          </a:p>
        </p:txBody>
      </p:sp>
      <p:grpSp>
        <p:nvGrpSpPr>
          <p:cNvPr id="13" name="Group 12">
            <a:extLst>
              <a:ext uri="{FF2B5EF4-FFF2-40B4-BE49-F238E27FC236}">
                <a16:creationId xmlns:a16="http://schemas.microsoft.com/office/drawing/2014/main" id="{F5C05762-F6EE-4D7B-B9B3-69D205C78360}"/>
              </a:ext>
            </a:extLst>
          </p:cNvPr>
          <p:cNvGrpSpPr/>
          <p:nvPr/>
        </p:nvGrpSpPr>
        <p:grpSpPr>
          <a:xfrm>
            <a:off x="9619281" y="1047704"/>
            <a:ext cx="2160000" cy="3784219"/>
            <a:chOff x="10051431" y="1076783"/>
            <a:chExt cx="2373307" cy="3784219"/>
          </a:xfrm>
        </p:grpSpPr>
        <p:sp>
          <p:nvSpPr>
            <p:cNvPr id="2" name="Text Placeholder 3">
              <a:extLst>
                <a:ext uri="{FF2B5EF4-FFF2-40B4-BE49-F238E27FC236}">
                  <a16:creationId xmlns:a16="http://schemas.microsoft.com/office/drawing/2014/main" id="{CABC66E1-6A61-2D69-DDE3-3E0DF64766C4}"/>
                </a:ext>
              </a:extLst>
            </p:cNvPr>
            <p:cNvSpPr txBox="1">
              <a:spLocks/>
            </p:cNvSpPr>
            <p:nvPr/>
          </p:nvSpPr>
          <p:spPr bwMode="gray">
            <a:xfrm>
              <a:off x="10283204" y="2509304"/>
              <a:ext cx="1898652" cy="2292935"/>
            </a:xfrm>
            <a:prstGeom prst="rect">
              <a:avLst/>
            </a:prstGeom>
          </p:spPr>
          <p:txBody>
            <a:bodyPr vert="horz" wrap="square" lIns="0" tIns="0" rIns="0" bIns="0" rtlCol="0">
              <a:spAutoFit/>
            </a:bodyPr>
            <a:lstStyle/>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Develop and document standard procedures for handling disputes.</a:t>
              </a:r>
            </a:p>
            <a:p>
              <a:pPr marL="85725" lvl="1" indent="-85725" algn="just">
                <a:spcBef>
                  <a:spcPts val="300"/>
                </a:spcBef>
                <a:spcAft>
                  <a:spcPts val="300"/>
                </a:spcAft>
                <a:buSzPct val="100000"/>
                <a:buFont typeface="Arial" panose="020B0604020202020204" pitchFamily="34" charset="0"/>
                <a:buChar char="•"/>
                <a:defRPr/>
              </a:pPr>
              <a:r>
                <a:rPr lang="en-US" sz="1200" dirty="0">
                  <a:solidFill>
                    <a:prstClr val="black"/>
                  </a:solidFill>
                  <a:latin typeface="+mj-lt"/>
                </a:rPr>
                <a:t>Establish formal communication channels for stakeholders to raise grievances or disputes, ensuring transparency and ease of access.</a:t>
              </a:r>
            </a:p>
          </p:txBody>
        </p:sp>
        <p:sp>
          <p:nvSpPr>
            <p:cNvPr id="3" name="Snip Diagonal Corner Rectangle 160">
              <a:extLst>
                <a:ext uri="{FF2B5EF4-FFF2-40B4-BE49-F238E27FC236}">
                  <a16:creationId xmlns:a16="http://schemas.microsoft.com/office/drawing/2014/main" id="{9020019F-53F5-430E-9C47-0A0ECA546365}"/>
                </a:ext>
              </a:extLst>
            </p:cNvPr>
            <p:cNvSpPr/>
            <p:nvPr/>
          </p:nvSpPr>
          <p:spPr bwMode="gray">
            <a:xfrm>
              <a:off x="10051431" y="1765127"/>
              <a:ext cx="2373307" cy="585952"/>
            </a:xfrm>
            <a:prstGeom prst="snip2DiagRect">
              <a:avLst>
                <a:gd name="adj1" fmla="val 0"/>
                <a:gd name="adj2" fmla="val 37880"/>
              </a:avLst>
            </a:prstGeom>
            <a:solidFill>
              <a:srgbClr val="E3E48D"/>
            </a:solidFill>
            <a:ln w="25400" cap="flat" cmpd="sng" algn="ctr">
              <a:noFill/>
              <a:prstDash val="solid"/>
            </a:ln>
            <a:effectLst/>
          </p:spPr>
          <p:txBody>
            <a:bodyPr lIns="108000" tIns="66675" rIns="66675" bIns="6667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mj-lt"/>
                  <a:ea typeface="+mn-ea"/>
                  <a:cs typeface="+mn-cs"/>
                </a:rPr>
                <a:t>Dispute Resolution</a:t>
              </a:r>
            </a:p>
          </p:txBody>
        </p:sp>
        <p:sp>
          <p:nvSpPr>
            <p:cNvPr id="4" name="Isosceles Triangle 18">
              <a:extLst>
                <a:ext uri="{FF2B5EF4-FFF2-40B4-BE49-F238E27FC236}">
                  <a16:creationId xmlns:a16="http://schemas.microsoft.com/office/drawing/2014/main" id="{B60D433C-D206-753D-A7B4-BAE051D4F1E1}"/>
                </a:ext>
              </a:extLst>
            </p:cNvPr>
            <p:cNvSpPr/>
            <p:nvPr/>
          </p:nvSpPr>
          <p:spPr bwMode="gray">
            <a:xfrm>
              <a:off x="10870407" y="1429618"/>
              <a:ext cx="747389" cy="289082"/>
            </a:xfrm>
            <a:prstGeom prst="triangle">
              <a:avLst/>
            </a:prstGeom>
            <a:solidFill>
              <a:srgbClr val="D0D0CE"/>
            </a:solidFill>
            <a:ln w="19050" algn="ctr">
              <a:noFill/>
              <a:miter lim="800000"/>
              <a:headEnd/>
              <a:tailEnd/>
            </a:ln>
          </p:spPr>
          <p:txBody>
            <a:bodyPr wrap="square" lIns="66675" tIns="66675" rIns="66675" bIns="66675" rtlCol="0" anchor="ctr"/>
            <a:lstStyle/>
            <a:p>
              <a:pPr algn="ctr">
                <a:buFont typeface="Wingdings 2" pitchFamily="18" charset="2"/>
                <a:buNone/>
              </a:pPr>
              <a:endParaRPr lang="en-US" sz="1100" b="1">
                <a:solidFill>
                  <a:prstClr val="white"/>
                </a:solidFill>
                <a:latin typeface="+mj-lt"/>
              </a:endParaRPr>
            </a:p>
          </p:txBody>
        </p:sp>
        <p:sp>
          <p:nvSpPr>
            <p:cNvPr id="5" name="Oval 4">
              <a:extLst>
                <a:ext uri="{FF2B5EF4-FFF2-40B4-BE49-F238E27FC236}">
                  <a16:creationId xmlns:a16="http://schemas.microsoft.com/office/drawing/2014/main" id="{AA724144-DBB3-174C-B73A-A9FC25E34598}"/>
                </a:ext>
              </a:extLst>
            </p:cNvPr>
            <p:cNvSpPr/>
            <p:nvPr/>
          </p:nvSpPr>
          <p:spPr bwMode="gray">
            <a:xfrm rot="5400000">
              <a:off x="10623567" y="1076783"/>
              <a:ext cx="648736" cy="648736"/>
            </a:xfrm>
            <a:prstGeom prst="ellipse">
              <a:avLst/>
            </a:prstGeom>
            <a:solidFill>
              <a:srgbClr val="E3E48D"/>
            </a:solidFill>
            <a:ln w="38100" algn="ctr">
              <a:solidFill>
                <a:sysClr val="window" lastClr="FFFFFF"/>
              </a:solidFill>
              <a:miter lim="800000"/>
              <a:headEnd/>
              <a:tailEnd/>
            </a:ln>
          </p:spPr>
          <p:txBody>
            <a:bodyPr wrap="square" lIns="66675" tIns="66675" rIns="66675" bIns="66675"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US" sz="1100" b="1" i="0" u="none" strike="noStrike" kern="0" cap="none" spc="0" normalizeH="0" baseline="0" noProof="0">
                <a:ln>
                  <a:noFill/>
                </a:ln>
                <a:solidFill>
                  <a:prstClr val="white"/>
                </a:solidFill>
                <a:effectLst/>
                <a:uLnTx/>
                <a:uFillTx/>
                <a:latin typeface="+mj-lt"/>
              </a:endParaRPr>
            </a:p>
          </p:txBody>
        </p:sp>
        <p:cxnSp>
          <p:nvCxnSpPr>
            <p:cNvPr id="6" name="Straight Connector 5">
              <a:extLst>
                <a:ext uri="{FF2B5EF4-FFF2-40B4-BE49-F238E27FC236}">
                  <a16:creationId xmlns:a16="http://schemas.microsoft.com/office/drawing/2014/main" id="{0700851E-9DF2-BB4C-59D2-67D437252386}"/>
                </a:ext>
              </a:extLst>
            </p:cNvPr>
            <p:cNvCxnSpPr/>
            <p:nvPr/>
          </p:nvCxnSpPr>
          <p:spPr>
            <a:xfrm>
              <a:off x="12419283" y="2344203"/>
              <a:ext cx="0" cy="2516799"/>
            </a:xfrm>
            <a:prstGeom prst="line">
              <a:avLst/>
            </a:prstGeom>
            <a:noFill/>
            <a:ln w="9525" cap="flat" cmpd="sng" algn="ctr">
              <a:solidFill>
                <a:srgbClr val="E3E48D"/>
              </a:solidFill>
              <a:prstDash val="solid"/>
              <a:tailEnd type="oval"/>
            </a:ln>
            <a:effectLst/>
          </p:spPr>
        </p:cxnSp>
        <p:sp>
          <p:nvSpPr>
            <p:cNvPr id="7" name="Freeform 914">
              <a:extLst>
                <a:ext uri="{FF2B5EF4-FFF2-40B4-BE49-F238E27FC236}">
                  <a16:creationId xmlns:a16="http://schemas.microsoft.com/office/drawing/2014/main" id="{B40F0804-0510-20EB-DB27-5C6D7CF46C92}"/>
                </a:ext>
              </a:extLst>
            </p:cNvPr>
            <p:cNvSpPr>
              <a:spLocks noEditPoints="1"/>
            </p:cNvSpPr>
            <p:nvPr/>
          </p:nvSpPr>
          <p:spPr bwMode="auto">
            <a:xfrm>
              <a:off x="10702442" y="1157958"/>
              <a:ext cx="490985" cy="49098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mj-lt"/>
              </a:endParaRPr>
            </a:p>
          </p:txBody>
        </p:sp>
        <p:sp>
          <p:nvSpPr>
            <p:cNvPr id="8" name="TextBox 7">
              <a:extLst>
                <a:ext uri="{FF2B5EF4-FFF2-40B4-BE49-F238E27FC236}">
                  <a16:creationId xmlns:a16="http://schemas.microsoft.com/office/drawing/2014/main" id="{E0DA9658-8EBF-8569-41D2-2743B176668C}"/>
                </a:ext>
              </a:extLst>
            </p:cNvPr>
            <p:cNvSpPr txBox="1"/>
            <p:nvPr/>
          </p:nvSpPr>
          <p:spPr>
            <a:xfrm>
              <a:off x="10859560" y="1269968"/>
              <a:ext cx="333868" cy="276999"/>
            </a:xfrm>
            <a:prstGeom prst="rect">
              <a:avLst/>
            </a:prstGeom>
            <a:noFill/>
          </p:spPr>
          <p:txBody>
            <a:bodyPr wrap="square" lIns="0" tIns="0" rIns="0" bIns="0" rtlCol="0">
              <a:spAutoFit/>
            </a:bodyPr>
            <a:lstStyle/>
            <a:p>
              <a:pPr>
                <a:spcBef>
                  <a:spcPts val="600"/>
                </a:spcBef>
                <a:buSzPct val="100000"/>
              </a:pPr>
              <a:r>
                <a:rPr lang="en-IN" dirty="0"/>
                <a:t>5</a:t>
              </a:r>
            </a:p>
          </p:txBody>
        </p:sp>
      </p:grpSp>
    </p:spTree>
    <p:extLst>
      <p:ext uri="{BB962C8B-B14F-4D97-AF65-F5344CB8AC3E}">
        <p14:creationId xmlns:p14="http://schemas.microsoft.com/office/powerpoint/2010/main" val="34418272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Structure of a Regulatory Team – Case of West Bengal (India)</a:t>
            </a:r>
            <a:br>
              <a:rPr lang="en-US"/>
            </a:br>
            <a:endParaRPr lang="en-US" sz="1632" i="1">
              <a:solidFill>
                <a:srgbClr val="012169">
                  <a:lumMod val="60000"/>
                  <a:lumOff val="40000"/>
                </a:srgbClr>
              </a:solidFill>
            </a:endParaRPr>
          </a:p>
        </p:txBody>
      </p:sp>
      <p:graphicFrame>
        <p:nvGraphicFramePr>
          <p:cNvPr id="4" name="Table 3">
            <a:extLst>
              <a:ext uri="{FF2B5EF4-FFF2-40B4-BE49-F238E27FC236}">
                <a16:creationId xmlns:a16="http://schemas.microsoft.com/office/drawing/2014/main" id="{34B943C2-0772-3B9E-44C3-6A68C3DDF738}"/>
              </a:ext>
            </a:extLst>
          </p:cNvPr>
          <p:cNvGraphicFramePr>
            <a:graphicFrameLocks noGrp="1"/>
          </p:cNvGraphicFramePr>
          <p:nvPr>
            <p:extLst>
              <p:ext uri="{D42A27DB-BD31-4B8C-83A1-F6EECF244321}">
                <p14:modId xmlns:p14="http://schemas.microsoft.com/office/powerpoint/2010/main" val="2165460588"/>
              </p:ext>
            </p:extLst>
          </p:nvPr>
        </p:nvGraphicFramePr>
        <p:xfrm>
          <a:off x="599928" y="2448233"/>
          <a:ext cx="10992144" cy="3633592"/>
        </p:xfrm>
        <a:graphic>
          <a:graphicData uri="http://schemas.openxmlformats.org/drawingml/2006/table">
            <a:tbl>
              <a:tblPr/>
              <a:tblGrid>
                <a:gridCol w="1714371">
                  <a:extLst>
                    <a:ext uri="{9D8B030D-6E8A-4147-A177-3AD203B41FA5}">
                      <a16:colId xmlns:a16="http://schemas.microsoft.com/office/drawing/2014/main" val="2172224055"/>
                    </a:ext>
                  </a:extLst>
                </a:gridCol>
                <a:gridCol w="9277773">
                  <a:extLst>
                    <a:ext uri="{9D8B030D-6E8A-4147-A177-3AD203B41FA5}">
                      <a16:colId xmlns:a16="http://schemas.microsoft.com/office/drawing/2014/main" val="438627211"/>
                    </a:ext>
                  </a:extLst>
                </a:gridCol>
              </a:tblGrid>
              <a:tr h="393252">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ctr">
                        <a:spcAft>
                          <a:spcPts val="0"/>
                        </a:spcAft>
                      </a:pPr>
                      <a:r>
                        <a:rPr lang="en-US" sz="1200" b="1">
                          <a:solidFill>
                            <a:schemeClr val="bg1"/>
                          </a:solidFill>
                          <a:effectLst/>
                          <a:latin typeface="+mj-lt"/>
                          <a:cs typeface="Arial" panose="020B0604020202020204" pitchFamily="34" charset="0"/>
                        </a:rPr>
                        <a:t>Functional Area</a:t>
                      </a:r>
                      <a:endParaRPr lang="en-IN" sz="1200" b="1">
                        <a:solidFill>
                          <a:schemeClr val="bg1"/>
                        </a:solidFill>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ctr">
                        <a:spcAft>
                          <a:spcPts val="0"/>
                        </a:spcAft>
                      </a:pPr>
                      <a:r>
                        <a:rPr lang="en-US" sz="1200" b="1">
                          <a:solidFill>
                            <a:schemeClr val="bg1"/>
                          </a:solidFill>
                          <a:effectLst/>
                          <a:latin typeface="+mj-lt"/>
                          <a:cs typeface="Arial" panose="020B0604020202020204" pitchFamily="34" charset="0"/>
                        </a:rPr>
                        <a:t>Key Responsibilities</a:t>
                      </a:r>
                      <a:endParaRPr lang="en-IN" sz="1200" b="1">
                        <a:solidFill>
                          <a:schemeClr val="bg1"/>
                        </a:solidFill>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479996301"/>
                  </a:ext>
                </a:extLst>
              </a:tr>
              <a:tr h="265254">
                <a:tc rowSpan="3">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l">
                        <a:spcAft>
                          <a:spcPts val="0"/>
                        </a:spcAft>
                      </a:pPr>
                      <a:r>
                        <a:rPr lang="en-US" sz="1200" b="1">
                          <a:effectLst/>
                          <a:latin typeface="+mj-lt"/>
                          <a:cs typeface="Arial" panose="020B0604020202020204" pitchFamily="34" charset="0"/>
                        </a:rPr>
                        <a:t>Finance and Accounts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Various financial statements to be used for Revenue Requirements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736476"/>
                  </a:ext>
                </a:extLst>
              </a:tr>
              <a:tr h="441126">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Plans for the future provision of financial information in the required format where this is not currently available</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6240291"/>
                  </a:ext>
                </a:extLst>
              </a:tr>
              <a:tr h="265254">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Compliance (Payment of License Fees)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682884"/>
                  </a:ext>
                </a:extLst>
              </a:tr>
              <a:tr h="265254">
                <a:tc rowSpan="3">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l">
                        <a:spcAft>
                          <a:spcPts val="0"/>
                        </a:spcAft>
                      </a:pPr>
                      <a:r>
                        <a:rPr lang="en-US" sz="1200" b="1">
                          <a:effectLst/>
                          <a:latin typeface="+mj-lt"/>
                          <a:cs typeface="Arial" panose="020B0604020202020204" pitchFamily="34" charset="0"/>
                        </a:rPr>
                        <a:t>Commercial</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Review the commercial information requirements of the Revenue Requirements and Tariff Filings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6924322"/>
                  </a:ext>
                </a:extLst>
              </a:tr>
              <a:tr h="236056">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Power Purchase Agreements with Short/ Long Term Power Procurement plans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137490"/>
                  </a:ext>
                </a:extLst>
              </a:tr>
              <a:tr h="220563">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Bulk Supply Agreements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7842053"/>
                  </a:ext>
                </a:extLst>
              </a:tr>
              <a:tr h="265254">
                <a:tc rowSpan="4">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l">
                        <a:spcAft>
                          <a:spcPts val="0"/>
                        </a:spcAft>
                      </a:pPr>
                      <a:r>
                        <a:rPr lang="en-US" sz="1200" b="1">
                          <a:effectLst/>
                          <a:latin typeface="+mj-lt"/>
                          <a:cs typeface="Arial" panose="020B0604020202020204" pitchFamily="34" charset="0"/>
                        </a:rPr>
                        <a:t>Technical</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Operational information requirements of the licenses including various codes and standards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5783528"/>
                  </a:ext>
                </a:extLst>
              </a:tr>
              <a:tr h="265254">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Information requirements of the Revenue Requirements and Tariff Filings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00733"/>
                  </a:ext>
                </a:extLst>
              </a:tr>
              <a:tr h="265254">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Load flow, Load research, systems Capacity, etc. </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3118010"/>
                  </a:ext>
                </a:extLst>
              </a:tr>
              <a:tr h="220563">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Various technical compliance issues </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9850081"/>
                  </a:ext>
                </a:extLst>
              </a:tr>
              <a:tr h="265254">
                <a:tc rowSpan="2">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marL="217170" indent="-217170" algn="l">
                        <a:spcAft>
                          <a:spcPts val="0"/>
                        </a:spcAft>
                      </a:pPr>
                      <a:r>
                        <a:rPr lang="en-US" sz="1200" b="1">
                          <a:effectLst/>
                          <a:latin typeface="+mj-lt"/>
                          <a:cs typeface="Arial" panose="020B0604020202020204" pitchFamily="34" charset="0"/>
                        </a:rPr>
                        <a:t>Legal Affairs</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Critical assessment of Regulations / Policies etc. </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8179421"/>
                  </a:ext>
                </a:extLst>
              </a:tr>
              <a:tr h="265254">
                <a:tc vMerge="1">
                  <a:txBody>
                    <a:bodyPr/>
                    <a:lstStyle/>
                    <a:p>
                      <a:endParaRPr lang="en-GB"/>
                    </a:p>
                  </a:txBody>
                  <a:tcPr/>
                </a:tc>
                <a:tc>
                  <a:txBody>
                    <a:bodyPr/>
                    <a:lstStyle>
                      <a:lvl1pPr marL="0" algn="l" defTabSz="914417" rtl="0" eaLnBrk="1" latinLnBrk="0" hangingPunct="1">
                        <a:defRPr sz="1800" kern="1200">
                          <a:solidFill>
                            <a:schemeClr val="tx1"/>
                          </a:solidFill>
                          <a:latin typeface="Arial Rounded MT Bold"/>
                        </a:defRPr>
                      </a:lvl1pPr>
                      <a:lvl2pPr marL="457209" algn="l" defTabSz="914417" rtl="0" eaLnBrk="1" latinLnBrk="0" hangingPunct="1">
                        <a:defRPr sz="1800" kern="1200">
                          <a:solidFill>
                            <a:schemeClr val="tx1"/>
                          </a:solidFill>
                          <a:latin typeface="Arial Rounded MT Bold"/>
                        </a:defRPr>
                      </a:lvl2pPr>
                      <a:lvl3pPr marL="914417" algn="l" defTabSz="914417" rtl="0" eaLnBrk="1" latinLnBrk="0" hangingPunct="1">
                        <a:defRPr sz="1800" kern="1200">
                          <a:solidFill>
                            <a:schemeClr val="tx1"/>
                          </a:solidFill>
                          <a:latin typeface="Arial Rounded MT Bold"/>
                        </a:defRPr>
                      </a:lvl3pPr>
                      <a:lvl4pPr marL="1371626" algn="l" defTabSz="914417" rtl="0" eaLnBrk="1" latinLnBrk="0" hangingPunct="1">
                        <a:defRPr sz="1800" kern="1200">
                          <a:solidFill>
                            <a:schemeClr val="tx1"/>
                          </a:solidFill>
                          <a:latin typeface="Arial Rounded MT Bold"/>
                        </a:defRPr>
                      </a:lvl4pPr>
                      <a:lvl5pPr marL="1828835" algn="l" defTabSz="914417" rtl="0" eaLnBrk="1" latinLnBrk="0" hangingPunct="1">
                        <a:defRPr sz="1800" kern="1200">
                          <a:solidFill>
                            <a:schemeClr val="tx1"/>
                          </a:solidFill>
                          <a:latin typeface="Arial Rounded MT Bold"/>
                        </a:defRPr>
                      </a:lvl5pPr>
                      <a:lvl6pPr marL="2286044" algn="l" defTabSz="914417" rtl="0" eaLnBrk="1" latinLnBrk="0" hangingPunct="1">
                        <a:defRPr sz="1800" kern="1200">
                          <a:solidFill>
                            <a:schemeClr val="tx1"/>
                          </a:solidFill>
                          <a:latin typeface="Arial Rounded MT Bold"/>
                        </a:defRPr>
                      </a:lvl6pPr>
                      <a:lvl7pPr marL="2743252" algn="l" defTabSz="914417" rtl="0" eaLnBrk="1" latinLnBrk="0" hangingPunct="1">
                        <a:defRPr sz="1800" kern="1200">
                          <a:solidFill>
                            <a:schemeClr val="tx1"/>
                          </a:solidFill>
                          <a:latin typeface="Arial Rounded MT Bold"/>
                        </a:defRPr>
                      </a:lvl7pPr>
                      <a:lvl8pPr marL="3200461" algn="l" defTabSz="914417" rtl="0" eaLnBrk="1" latinLnBrk="0" hangingPunct="1">
                        <a:defRPr sz="1800" kern="1200">
                          <a:solidFill>
                            <a:schemeClr val="tx1"/>
                          </a:solidFill>
                          <a:latin typeface="Arial Rounded MT Bold"/>
                        </a:defRPr>
                      </a:lvl8pPr>
                      <a:lvl9pPr marL="3657669" algn="l" defTabSz="914417" rtl="0" eaLnBrk="1" latinLnBrk="0" hangingPunct="1">
                        <a:defRPr sz="1800" kern="1200">
                          <a:solidFill>
                            <a:schemeClr val="tx1"/>
                          </a:solidFill>
                          <a:latin typeface="Arial Rounded MT Bold"/>
                        </a:defRPr>
                      </a:lvl9pPr>
                    </a:lstStyle>
                    <a:p>
                      <a:pPr algn="just">
                        <a:spcAft>
                          <a:spcPts val="0"/>
                        </a:spcAft>
                      </a:pPr>
                      <a:r>
                        <a:rPr lang="en-US" sz="1200" b="1">
                          <a:effectLst/>
                          <a:latin typeface="+mj-lt"/>
                          <a:cs typeface="Arial" panose="020B0604020202020204" pitchFamily="34" charset="0"/>
                        </a:rPr>
                        <a:t>Arbitration and filing cases with Appellate Tribunal</a:t>
                      </a:r>
                      <a:endParaRPr lang="en-IN" sz="1200" b="1">
                        <a:effectLst/>
                        <a:latin typeface="+mj-lt"/>
                        <a:ea typeface="MS Mincho"/>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2563658"/>
                  </a:ext>
                </a:extLst>
              </a:tr>
            </a:tbl>
          </a:graphicData>
        </a:graphic>
      </p:graphicFrame>
      <p:sp>
        <p:nvSpPr>
          <p:cNvPr id="6" name="Rectangle 5">
            <a:extLst>
              <a:ext uri="{FF2B5EF4-FFF2-40B4-BE49-F238E27FC236}">
                <a16:creationId xmlns:a16="http://schemas.microsoft.com/office/drawing/2014/main" id="{428EBF69-9F3D-184A-3361-30FABECB779F}"/>
              </a:ext>
            </a:extLst>
          </p:cNvPr>
          <p:cNvSpPr/>
          <p:nvPr/>
        </p:nvSpPr>
        <p:spPr>
          <a:xfrm>
            <a:off x="3925190" y="873518"/>
            <a:ext cx="3352800" cy="304800"/>
          </a:xfrm>
          <a:prstGeom prst="rect">
            <a:avLst/>
          </a:prstGeom>
          <a:solidFill>
            <a:srgbClr val="002A6C"/>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Director (Regulatory Affairs)</a:t>
            </a:r>
          </a:p>
        </p:txBody>
      </p:sp>
      <p:sp>
        <p:nvSpPr>
          <p:cNvPr id="7" name="Rectangle 6">
            <a:extLst>
              <a:ext uri="{FF2B5EF4-FFF2-40B4-BE49-F238E27FC236}">
                <a16:creationId xmlns:a16="http://schemas.microsoft.com/office/drawing/2014/main" id="{65955BFB-74D1-BC0C-3609-FB580DADB832}"/>
              </a:ext>
            </a:extLst>
          </p:cNvPr>
          <p:cNvSpPr/>
          <p:nvPr/>
        </p:nvSpPr>
        <p:spPr>
          <a:xfrm>
            <a:off x="2553590" y="1412871"/>
            <a:ext cx="1371600" cy="800809"/>
          </a:xfrm>
          <a:prstGeom prst="rect">
            <a:avLst/>
          </a:prstGeom>
          <a:solidFill>
            <a:srgbClr val="002A6C"/>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Chief Engineer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mj-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solidFill>
                  <a:srgbClr val="FFFFFF"/>
                </a:solidFill>
                <a:effectLst/>
                <a:uLnTx/>
                <a:uFillTx/>
                <a:latin typeface="+mj-lt"/>
                <a:ea typeface="+mn-ea"/>
                <a:cs typeface="+mn-cs"/>
              </a:rPr>
              <a:t>Regulations</a:t>
            </a:r>
          </a:p>
        </p:txBody>
      </p:sp>
      <p:sp>
        <p:nvSpPr>
          <p:cNvPr id="8" name="Rectangle 7">
            <a:extLst>
              <a:ext uri="{FF2B5EF4-FFF2-40B4-BE49-F238E27FC236}">
                <a16:creationId xmlns:a16="http://schemas.microsoft.com/office/drawing/2014/main" id="{C2948ED0-745F-2662-BA59-2167AE4CB044}"/>
              </a:ext>
            </a:extLst>
          </p:cNvPr>
          <p:cNvSpPr/>
          <p:nvPr/>
        </p:nvSpPr>
        <p:spPr>
          <a:xfrm>
            <a:off x="4143138" y="1412871"/>
            <a:ext cx="1371600" cy="800809"/>
          </a:xfrm>
          <a:prstGeom prst="rect">
            <a:avLst/>
          </a:prstGeom>
          <a:solidFill>
            <a:srgbClr val="002A6C"/>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AGM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solidFill>
                  <a:srgbClr val="FFFFFF"/>
                </a:solidFill>
                <a:effectLst/>
                <a:uLnTx/>
                <a:uFillTx/>
                <a:latin typeface="+mj-lt"/>
                <a:ea typeface="+mn-ea"/>
                <a:cs typeface="+mn-cs"/>
              </a:rPr>
              <a:t>Finance &amp; Accounts and Commercial</a:t>
            </a:r>
          </a:p>
        </p:txBody>
      </p:sp>
      <p:sp>
        <p:nvSpPr>
          <p:cNvPr id="9" name="Rectangle 8">
            <a:extLst>
              <a:ext uri="{FF2B5EF4-FFF2-40B4-BE49-F238E27FC236}">
                <a16:creationId xmlns:a16="http://schemas.microsoft.com/office/drawing/2014/main" id="{CD66D2B8-D7C1-E7FD-7DDF-B5C44238F060}"/>
              </a:ext>
            </a:extLst>
          </p:cNvPr>
          <p:cNvSpPr/>
          <p:nvPr/>
        </p:nvSpPr>
        <p:spPr>
          <a:xfrm>
            <a:off x="7322235" y="1412871"/>
            <a:ext cx="1371600" cy="800809"/>
          </a:xfrm>
          <a:prstGeom prst="rect">
            <a:avLst/>
          </a:prstGeom>
          <a:solidFill>
            <a:srgbClr val="002A6C"/>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Sr. Manager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mj-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solidFill>
                  <a:srgbClr val="FFFFFF"/>
                </a:solidFill>
                <a:effectLst/>
                <a:uLnTx/>
                <a:uFillTx/>
                <a:latin typeface="+mj-lt"/>
                <a:ea typeface="+mn-ea"/>
                <a:cs typeface="+mn-cs"/>
              </a:rPr>
              <a:t>Legal Affairs</a:t>
            </a:r>
          </a:p>
        </p:txBody>
      </p:sp>
      <p:sp>
        <p:nvSpPr>
          <p:cNvPr id="10" name="Rectangle 9">
            <a:extLst>
              <a:ext uri="{FF2B5EF4-FFF2-40B4-BE49-F238E27FC236}">
                <a16:creationId xmlns:a16="http://schemas.microsoft.com/office/drawing/2014/main" id="{2EE8AA7C-C76E-60DC-D8FC-31C5E5AC6EEB}"/>
              </a:ext>
            </a:extLst>
          </p:cNvPr>
          <p:cNvSpPr/>
          <p:nvPr/>
        </p:nvSpPr>
        <p:spPr>
          <a:xfrm>
            <a:off x="5732686" y="1412871"/>
            <a:ext cx="1371600" cy="800809"/>
          </a:xfrm>
          <a:prstGeom prst="rect">
            <a:avLst/>
          </a:prstGeom>
          <a:solidFill>
            <a:srgbClr val="002A6C"/>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Sr. Engineer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mj-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solidFill>
                  <a:srgbClr val="FFFFFF"/>
                </a:solidFill>
                <a:effectLst/>
                <a:uLnTx/>
                <a:uFillTx/>
                <a:latin typeface="+mj-lt"/>
                <a:ea typeface="+mn-ea"/>
                <a:cs typeface="+mn-cs"/>
              </a:rPr>
              <a:t>Technical</a:t>
            </a:r>
          </a:p>
        </p:txBody>
      </p:sp>
    </p:spTree>
    <p:extLst>
      <p:ext uri="{BB962C8B-B14F-4D97-AF65-F5344CB8AC3E}">
        <p14:creationId xmlns:p14="http://schemas.microsoft.com/office/powerpoint/2010/main" val="88279087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Structure of a Regulatory Team – Case of Uttarakhand (India)</a:t>
            </a:r>
            <a:endParaRPr lang="en-US" sz="1632" i="1">
              <a:solidFill>
                <a:srgbClr val="012169">
                  <a:lumMod val="60000"/>
                  <a:lumOff val="40000"/>
                </a:srgbClr>
              </a:solidFill>
            </a:endParaRPr>
          </a:p>
        </p:txBody>
      </p:sp>
      <p:sp>
        <p:nvSpPr>
          <p:cNvPr id="22" name="Rectangle 21">
            <a:extLst>
              <a:ext uri="{FF2B5EF4-FFF2-40B4-BE49-F238E27FC236}">
                <a16:creationId xmlns:a16="http://schemas.microsoft.com/office/drawing/2014/main" id="{441B6546-D914-9FDE-F7D5-FAA4F21C6446}"/>
              </a:ext>
            </a:extLst>
          </p:cNvPr>
          <p:cNvSpPr/>
          <p:nvPr/>
        </p:nvSpPr>
        <p:spPr>
          <a:xfrm>
            <a:off x="4648200" y="958582"/>
            <a:ext cx="3352800" cy="304800"/>
          </a:xfrm>
          <a:prstGeom prst="rect">
            <a:avLst/>
          </a:prstGeom>
          <a:solidFill>
            <a:srgbClr val="002060"/>
          </a:solidFill>
          <a:ln w="25400" cap="flat" cmpd="sng" algn="ctr">
            <a:solidFill>
              <a:srgbClr val="002A6C">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mj-lt"/>
                <a:ea typeface="+mn-ea"/>
                <a:cs typeface="+mn-cs"/>
              </a:rPr>
              <a:t>Managing Director (UPCL)</a:t>
            </a:r>
          </a:p>
        </p:txBody>
      </p:sp>
      <p:sp>
        <p:nvSpPr>
          <p:cNvPr id="27" name="Rectangle 26">
            <a:extLst>
              <a:ext uri="{FF2B5EF4-FFF2-40B4-BE49-F238E27FC236}">
                <a16:creationId xmlns:a16="http://schemas.microsoft.com/office/drawing/2014/main" id="{8C3B2E20-3DB9-0648-8351-2E6E113DB217}"/>
              </a:ext>
            </a:extLst>
          </p:cNvPr>
          <p:cNvSpPr/>
          <p:nvPr/>
        </p:nvSpPr>
        <p:spPr>
          <a:xfrm>
            <a:off x="4020889" y="1497934"/>
            <a:ext cx="1371600" cy="540000"/>
          </a:xfrm>
          <a:prstGeom prst="rect">
            <a:avLst/>
          </a:prstGeom>
          <a:solidFill>
            <a:srgbClr val="FFF2CC"/>
          </a:solidFill>
          <a:ln w="25400" cap="flat" cmpd="sng" algn="ctr">
            <a:solidFill>
              <a:schemeClr val="bg1">
                <a:lumMod val="9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latin typeface="+mj-lt"/>
                <a:ea typeface="+mn-ea"/>
                <a:cs typeface="+mn-cs"/>
              </a:rPr>
              <a:t>Director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effectLst/>
              <a:uLnTx/>
              <a:uFillTx/>
              <a:latin typeface="+mj-lt"/>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effectLst/>
                <a:uLnTx/>
                <a:uFillTx/>
                <a:latin typeface="+mj-lt"/>
                <a:ea typeface="+mn-ea"/>
                <a:cs typeface="+mn-cs"/>
              </a:rPr>
              <a:t>Projects</a:t>
            </a:r>
          </a:p>
        </p:txBody>
      </p:sp>
      <p:sp>
        <p:nvSpPr>
          <p:cNvPr id="34" name="Rectangle 33">
            <a:extLst>
              <a:ext uri="{FF2B5EF4-FFF2-40B4-BE49-F238E27FC236}">
                <a16:creationId xmlns:a16="http://schemas.microsoft.com/office/drawing/2014/main" id="{46F92DE4-C2A3-2873-8911-CEE62F0EC33F}"/>
              </a:ext>
            </a:extLst>
          </p:cNvPr>
          <p:cNvSpPr/>
          <p:nvPr/>
        </p:nvSpPr>
        <p:spPr>
          <a:xfrm>
            <a:off x="5610437" y="1497934"/>
            <a:ext cx="1371600" cy="540000"/>
          </a:xfrm>
          <a:prstGeom prst="rect">
            <a:avLst/>
          </a:prstGeom>
          <a:solidFill>
            <a:schemeClr val="accent3">
              <a:lumMod val="20000"/>
              <a:lumOff val="80000"/>
            </a:schemeClr>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latin typeface="+mj-lt"/>
                <a:ea typeface="+mn-ea"/>
                <a:cs typeface="+mn-cs"/>
              </a:rPr>
              <a:t>Director</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1200" b="1" kern="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effectLst/>
                <a:uLnTx/>
                <a:uFillTx/>
                <a:latin typeface="+mj-lt"/>
                <a:ea typeface="+mn-ea"/>
                <a:cs typeface="+mn-cs"/>
              </a:rPr>
              <a:t>Finance</a:t>
            </a:r>
          </a:p>
        </p:txBody>
      </p:sp>
      <p:sp>
        <p:nvSpPr>
          <p:cNvPr id="44" name="Rectangle 43">
            <a:extLst>
              <a:ext uri="{FF2B5EF4-FFF2-40B4-BE49-F238E27FC236}">
                <a16:creationId xmlns:a16="http://schemas.microsoft.com/office/drawing/2014/main" id="{6F5E1062-ECC8-7124-067B-E1CED5E8D1C4}"/>
              </a:ext>
            </a:extLst>
          </p:cNvPr>
          <p:cNvSpPr/>
          <p:nvPr/>
        </p:nvSpPr>
        <p:spPr>
          <a:xfrm>
            <a:off x="7199985" y="1497934"/>
            <a:ext cx="1371600" cy="540000"/>
          </a:xfrm>
          <a:prstGeom prst="rect">
            <a:avLst/>
          </a:prstGeom>
          <a:solidFill>
            <a:schemeClr val="accent1">
              <a:lumMod val="20000"/>
              <a:lumOff val="80000"/>
            </a:schemeClr>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latin typeface="+mj-lt"/>
                <a:ea typeface="+mn-ea"/>
                <a:cs typeface="+mn-cs"/>
              </a:rPr>
              <a:t>Director</a:t>
            </a:r>
          </a:p>
          <a:p>
            <a:pPr marL="0" marR="0" lvl="0" indent="0" algn="ctr" defTabSz="914400" eaLnBrk="1" fontAlgn="auto" latinLnBrk="0" hangingPunct="1">
              <a:lnSpc>
                <a:spcPct val="100000"/>
              </a:lnSpc>
              <a:spcBef>
                <a:spcPts val="0"/>
              </a:spcBef>
              <a:spcAft>
                <a:spcPts val="0"/>
              </a:spcAft>
              <a:buClrTx/>
              <a:buSzTx/>
              <a:buFontTx/>
              <a:buNone/>
              <a:tabLst/>
              <a:defRPr/>
            </a:pPr>
            <a:endParaRPr lang="en-GB" sz="1200" b="1" kern="0">
              <a:latin typeface="+mj-lt"/>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1" u="none" strike="noStrike" kern="0" cap="none" spc="0" normalizeH="0" baseline="0" noProof="0">
                <a:ln>
                  <a:noFill/>
                </a:ln>
                <a:effectLst/>
                <a:uLnTx/>
                <a:uFillTx/>
                <a:latin typeface="+mj-lt"/>
                <a:ea typeface="+mn-ea"/>
                <a:cs typeface="+mn-cs"/>
              </a:rPr>
              <a:t>Operations</a:t>
            </a:r>
          </a:p>
        </p:txBody>
      </p:sp>
      <p:sp>
        <p:nvSpPr>
          <p:cNvPr id="45" name="Rectangle 44">
            <a:extLst>
              <a:ext uri="{FF2B5EF4-FFF2-40B4-BE49-F238E27FC236}">
                <a16:creationId xmlns:a16="http://schemas.microsoft.com/office/drawing/2014/main" id="{5025A012-E77F-E171-041C-79A6624A412A}"/>
              </a:ext>
            </a:extLst>
          </p:cNvPr>
          <p:cNvSpPr/>
          <p:nvPr/>
        </p:nvSpPr>
        <p:spPr>
          <a:xfrm>
            <a:off x="4020889" y="2360423"/>
            <a:ext cx="1371600" cy="540000"/>
          </a:xfrm>
          <a:prstGeom prst="rect">
            <a:avLst/>
          </a:prstGeom>
          <a:solidFill>
            <a:srgbClr val="FFF2CC"/>
          </a:solidFill>
          <a:ln w="25400" cap="flat" cmpd="sng" algn="ctr">
            <a:solidFill>
              <a:schemeClr val="bg1">
                <a:lumMod val="9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latin typeface="+mj-lt"/>
                <a:ea typeface="+mn-ea"/>
                <a:cs typeface="+mn-cs"/>
              </a:rPr>
              <a:t> Chief Accountant</a:t>
            </a:r>
            <a:endParaRPr kumimoji="0" lang="en-GB" sz="1200" b="1" i="1" u="none" strike="noStrike" kern="0" cap="none" spc="0" normalizeH="0" baseline="0" noProof="0">
              <a:ln>
                <a:noFill/>
              </a:ln>
              <a:effectLst/>
              <a:uLnTx/>
              <a:uFillTx/>
              <a:latin typeface="+mj-lt"/>
              <a:ea typeface="+mn-ea"/>
              <a:cs typeface="+mn-cs"/>
            </a:endParaRPr>
          </a:p>
        </p:txBody>
      </p:sp>
      <p:sp>
        <p:nvSpPr>
          <p:cNvPr id="46" name="Rectangle 45">
            <a:extLst>
              <a:ext uri="{FF2B5EF4-FFF2-40B4-BE49-F238E27FC236}">
                <a16:creationId xmlns:a16="http://schemas.microsoft.com/office/drawing/2014/main" id="{D3B09695-D062-79EB-4733-352806C1C103}"/>
              </a:ext>
            </a:extLst>
          </p:cNvPr>
          <p:cNvSpPr/>
          <p:nvPr/>
        </p:nvSpPr>
        <p:spPr bwMode="gray">
          <a:xfrm>
            <a:off x="3963468" y="2288743"/>
            <a:ext cx="1522928" cy="679358"/>
          </a:xfrm>
          <a:prstGeom prst="rect">
            <a:avLst/>
          </a:prstGeom>
          <a:noFill/>
          <a:ln w="19050" algn="ctr">
            <a:solidFill>
              <a:srgbClr val="009A44"/>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prstClr val="white"/>
              </a:solidFill>
            </a:endParaRPr>
          </a:p>
        </p:txBody>
      </p:sp>
      <p:cxnSp>
        <p:nvCxnSpPr>
          <p:cNvPr id="48" name="Straight Arrow Connector 47">
            <a:extLst>
              <a:ext uri="{FF2B5EF4-FFF2-40B4-BE49-F238E27FC236}">
                <a16:creationId xmlns:a16="http://schemas.microsoft.com/office/drawing/2014/main" id="{D72F5462-8FFE-D73A-CA34-EA70C027FF3C}"/>
              </a:ext>
            </a:extLst>
          </p:cNvPr>
          <p:cNvCxnSpPr>
            <a:cxnSpLocks/>
            <a:stCxn id="46" idx="1"/>
          </p:cNvCxnSpPr>
          <p:nvPr/>
        </p:nvCxnSpPr>
        <p:spPr>
          <a:xfrm flipH="1">
            <a:off x="3189763" y="2628422"/>
            <a:ext cx="773705"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D991C305-4710-426F-2B3A-6EF3427E19AA}"/>
              </a:ext>
            </a:extLst>
          </p:cNvPr>
          <p:cNvSpPr txBox="1"/>
          <p:nvPr/>
        </p:nvSpPr>
        <p:spPr>
          <a:xfrm>
            <a:off x="1918291" y="2368480"/>
            <a:ext cx="1394754" cy="507831"/>
          </a:xfrm>
          <a:prstGeom prst="rect">
            <a:avLst/>
          </a:prstGeom>
          <a:noFill/>
        </p:spPr>
        <p:txBody>
          <a:bodyPr wrap="square" lIns="0" tIns="0" rIns="0" bIns="0" rtlCol="0">
            <a:spAutoFit/>
          </a:bodyPr>
          <a:lstStyle/>
          <a:p>
            <a:pPr algn="ctr">
              <a:spcBef>
                <a:spcPts val="600"/>
              </a:spcBef>
              <a:buSzPct val="100000"/>
            </a:pPr>
            <a:r>
              <a:rPr lang="en-IN" sz="1100">
                <a:solidFill>
                  <a:srgbClr val="313131"/>
                </a:solidFill>
              </a:rPr>
              <a:t>Responsible for Regulatory Functions</a:t>
            </a:r>
          </a:p>
        </p:txBody>
      </p:sp>
      <p:cxnSp>
        <p:nvCxnSpPr>
          <p:cNvPr id="54" name="Straight Arrow Connector 53">
            <a:extLst>
              <a:ext uri="{FF2B5EF4-FFF2-40B4-BE49-F238E27FC236}">
                <a16:creationId xmlns:a16="http://schemas.microsoft.com/office/drawing/2014/main" id="{7AC781B8-5D26-8CD3-4345-8B74B142FD2E}"/>
              </a:ext>
            </a:extLst>
          </p:cNvPr>
          <p:cNvCxnSpPr>
            <a:cxnSpLocks/>
            <a:stCxn id="27" idx="2"/>
            <a:endCxn id="45" idx="0"/>
          </p:cNvCxnSpPr>
          <p:nvPr/>
        </p:nvCxnSpPr>
        <p:spPr>
          <a:xfrm>
            <a:off x="4706689" y="2037934"/>
            <a:ext cx="0" cy="32248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6" name="Table 55">
            <a:extLst>
              <a:ext uri="{FF2B5EF4-FFF2-40B4-BE49-F238E27FC236}">
                <a16:creationId xmlns:a16="http://schemas.microsoft.com/office/drawing/2014/main" id="{F9F82FF7-668C-95A4-92A9-CB4B8F5450E0}"/>
              </a:ext>
            </a:extLst>
          </p:cNvPr>
          <p:cNvGraphicFramePr>
            <a:graphicFrameLocks noGrp="1"/>
          </p:cNvGraphicFramePr>
          <p:nvPr>
            <p:extLst>
              <p:ext uri="{D42A27DB-BD31-4B8C-83A1-F6EECF244321}">
                <p14:modId xmlns:p14="http://schemas.microsoft.com/office/powerpoint/2010/main" val="2723938589"/>
              </p:ext>
            </p:extLst>
          </p:nvPr>
        </p:nvGraphicFramePr>
        <p:xfrm>
          <a:off x="710911" y="3039781"/>
          <a:ext cx="10979440" cy="3657600"/>
        </p:xfrm>
        <a:graphic>
          <a:graphicData uri="http://schemas.openxmlformats.org/drawingml/2006/table">
            <a:tbl>
              <a:tblPr firstRow="1" bandRow="1">
                <a:tableStyleId>{B301B821-A1FF-4177-AEE7-76D212191A09}</a:tableStyleId>
              </a:tblPr>
              <a:tblGrid>
                <a:gridCol w="1804421">
                  <a:extLst>
                    <a:ext uri="{9D8B030D-6E8A-4147-A177-3AD203B41FA5}">
                      <a16:colId xmlns:a16="http://schemas.microsoft.com/office/drawing/2014/main" val="20000"/>
                    </a:ext>
                  </a:extLst>
                </a:gridCol>
                <a:gridCol w="2736662">
                  <a:extLst>
                    <a:ext uri="{9D8B030D-6E8A-4147-A177-3AD203B41FA5}">
                      <a16:colId xmlns:a16="http://schemas.microsoft.com/office/drawing/2014/main" val="20001"/>
                    </a:ext>
                  </a:extLst>
                </a:gridCol>
                <a:gridCol w="6438357">
                  <a:extLst>
                    <a:ext uri="{9D8B030D-6E8A-4147-A177-3AD203B41FA5}">
                      <a16:colId xmlns:a16="http://schemas.microsoft.com/office/drawing/2014/main" val="636649308"/>
                    </a:ext>
                  </a:extLst>
                </a:gridCol>
              </a:tblGrid>
              <a:tr h="183802">
                <a:tc>
                  <a:txBody>
                    <a:bodyPr/>
                    <a:lstStyle/>
                    <a:p>
                      <a:pPr algn="ctr"/>
                      <a:r>
                        <a:rPr lang="en-US" sz="1200" dirty="0"/>
                        <a:t>Department /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t>Designation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r>
                        <a:rPr lang="en-US" sz="1200"/>
                        <a:t>Responsibility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847532">
                <a:tc>
                  <a:txBody>
                    <a:bodyPr/>
                    <a:lstStyle/>
                    <a:p>
                      <a:pPr lvl="0" algn="ctr"/>
                      <a:r>
                        <a:rPr lang="en-US" sz="1200" kern="1200">
                          <a:solidFill>
                            <a:schemeClr val="dk1"/>
                          </a:solidFill>
                          <a:effectLst/>
                          <a:latin typeface="+mn-lt"/>
                          <a:ea typeface="+mn-ea"/>
                          <a:cs typeface="+mn-cs"/>
                        </a:rPr>
                        <a:t>Commercial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lvl="0" indent="0" algn="just">
                        <a:buFont typeface="Arial" panose="020B0604020202020204" pitchFamily="34" charset="0"/>
                        <a:buNone/>
                      </a:pPr>
                      <a:r>
                        <a:rPr lang="en-US" sz="1200" kern="1200" baseline="0">
                          <a:solidFill>
                            <a:schemeClr val="dk1"/>
                          </a:solidFill>
                          <a:effectLst/>
                          <a:latin typeface="+mn-lt"/>
                          <a:ea typeface="+mn-ea"/>
                          <a:cs typeface="+mn-cs"/>
                        </a:rPr>
                        <a:t>Chief Engineer, Superintendent Engineer, Chief Accountant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Power Purchase (MUs, Cost)</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Upcoming Plants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No. of Consumers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Load demand</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Energy Sales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Revenue</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baseline="0">
                          <a:solidFill>
                            <a:schemeClr val="dk1"/>
                          </a:solidFill>
                          <a:effectLst/>
                          <a:latin typeface="+mn-lt"/>
                          <a:ea typeface="+mn-ea"/>
                          <a:cs typeface="+mn-cs"/>
                        </a:rPr>
                        <a:t>RPO 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extLst>
                  <a:ext uri="{0D108BD9-81ED-4DB2-BD59-A6C34878D82A}">
                    <a16:rowId xmlns:a16="http://schemas.microsoft.com/office/drawing/2014/main" val="10001"/>
                  </a:ext>
                </a:extLst>
              </a:tr>
              <a:tr h="398238">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200" kern="1200">
                          <a:effectLst/>
                        </a:rPr>
                        <a:t>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marR="0" lvl="0" indent="0" algn="just" defTabSz="91441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dk1"/>
                          </a:solidFill>
                          <a:effectLst/>
                          <a:latin typeface="+mn-lt"/>
                          <a:ea typeface="+mn-ea"/>
                          <a:cs typeface="+mn-cs"/>
                        </a:rPr>
                        <a:t>Chief Engineer, Superintendent Engineer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effectLst/>
                        </a:rPr>
                        <a:t>New Projects/Schemes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effectLst/>
                        </a:rPr>
                        <a:t>Ongoing Projects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effectLst/>
                        </a:rPr>
                        <a:t>IT 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extLst>
                  <a:ext uri="{0D108BD9-81ED-4DB2-BD59-A6C34878D82A}">
                    <a16:rowId xmlns:a16="http://schemas.microsoft.com/office/drawing/2014/main" val="10002"/>
                  </a:ext>
                </a:extLst>
              </a:tr>
              <a:tr h="173591">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200" kern="1200">
                          <a:effectLst/>
                        </a:rPr>
                        <a:t>Finance &amp; Accounts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en-US" sz="120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kern="1200">
                          <a:solidFill>
                            <a:schemeClr val="dk1"/>
                          </a:solidFill>
                          <a:effectLst/>
                          <a:latin typeface="+mn-lt"/>
                          <a:ea typeface="+mn-ea"/>
                          <a:cs typeface="+mn-cs"/>
                        </a:rPr>
                        <a:t>Audited Accounts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77862791"/>
                  </a:ext>
                </a:extLst>
              </a:tr>
              <a:tr h="173591">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200" kern="1200">
                          <a:effectLst/>
                        </a:rPr>
                        <a:t>Fund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en-US" sz="1200" kern="1200">
                        <a:solidFill>
                          <a:schemeClr val="dk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kern="1200">
                          <a:solidFill>
                            <a:schemeClr val="dk1"/>
                          </a:solidFill>
                          <a:effectLst/>
                          <a:latin typeface="+mn-lt"/>
                          <a:ea typeface="+mn-ea"/>
                          <a:cs typeface="+mn-cs"/>
                        </a:rPr>
                        <a:t>Loans and Repayment Schedules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187696880"/>
                  </a:ext>
                </a:extLst>
              </a:tr>
              <a:tr h="398238">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200" kern="1200">
                          <a:effectLst/>
                        </a:rPr>
                        <a:t>Operations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just" defTabSz="91441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en-US" sz="1200" kern="1200">
                          <a:solidFill>
                            <a:schemeClr val="dk1"/>
                          </a:solidFill>
                          <a:effectLst/>
                          <a:latin typeface="+mn-lt"/>
                          <a:ea typeface="+mn-ea"/>
                          <a:cs typeface="+mn-cs"/>
                        </a:rPr>
                        <a:t>Chief Engineer, Superintendent Engineer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kern="1200" dirty="0">
                          <a:solidFill>
                            <a:schemeClr val="dk1"/>
                          </a:solidFill>
                          <a:effectLst/>
                          <a:latin typeface="+mn-lt"/>
                          <a:ea typeface="+mn-ea"/>
                          <a:cs typeface="+mn-cs"/>
                        </a:rPr>
                        <a:t>Capital Expenditure</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kern="1200" dirty="0">
                          <a:solidFill>
                            <a:schemeClr val="dk1"/>
                          </a:solidFill>
                          <a:effectLst/>
                          <a:latin typeface="+mn-lt"/>
                          <a:ea typeface="+mn-ea"/>
                          <a:cs typeface="+mn-cs"/>
                        </a:rPr>
                        <a:t>Capitalization</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200" kern="1200" dirty="0">
                          <a:solidFill>
                            <a:schemeClr val="dk1"/>
                          </a:solidFill>
                          <a:effectLst/>
                          <a:latin typeface="+mn-lt"/>
                          <a:ea typeface="+mn-ea"/>
                          <a:cs typeface="+mn-cs"/>
                        </a:rPr>
                        <a:t>GFA additions &amp; decapitalization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22559156"/>
                  </a:ext>
                </a:extLst>
              </a:tr>
            </a:tbl>
          </a:graphicData>
        </a:graphic>
      </p:graphicFrame>
    </p:spTree>
    <p:extLst>
      <p:ext uri="{BB962C8B-B14F-4D97-AF65-F5344CB8AC3E}">
        <p14:creationId xmlns:p14="http://schemas.microsoft.com/office/powerpoint/2010/main" val="19685476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4"/>
          <p:cNvSpPr>
            <a:spLocks noGrp="1"/>
          </p:cNvSpPr>
          <p:nvPr>
            <p:ph type="title"/>
          </p:nvPr>
        </p:nvSpPr>
        <p:spPr>
          <a:xfrm>
            <a:off x="342919" y="290225"/>
            <a:ext cx="11188700" cy="698500"/>
          </a:xfrm>
        </p:spPr>
        <p:txBody>
          <a:bodyPr/>
          <a:lstStyle/>
          <a:p>
            <a:r>
              <a:rPr lang="en-US"/>
              <a:t>Regulatory Cell Indicative Structure for NEA</a:t>
            </a:r>
            <a:br>
              <a:rPr lang="en-US"/>
            </a:br>
            <a:r>
              <a:rPr lang="en-US" sz="1600" i="1">
                <a:solidFill>
                  <a:srgbClr val="012169">
                    <a:lumMod val="60000"/>
                    <a:lumOff val="40000"/>
                  </a:srgbClr>
                </a:solidFill>
              </a:rPr>
              <a:t>Outcomes: Function wise strengthening and consolidation – </a:t>
            </a:r>
            <a:r>
              <a:rPr lang="en-US" sz="1600" i="1">
                <a:solidFill>
                  <a:schemeClr val="accent4">
                    <a:lumMod val="60000"/>
                    <a:lumOff val="40000"/>
                  </a:schemeClr>
                </a:solidFill>
              </a:rPr>
              <a:t>Regulatory Affairs Department</a:t>
            </a:r>
            <a:endParaRPr lang="en-IN" sz="1600" i="1">
              <a:solidFill>
                <a:srgbClr val="012169">
                  <a:lumMod val="60000"/>
                  <a:lumOff val="40000"/>
                </a:srgbClr>
              </a:solidFill>
            </a:endParaRPr>
          </a:p>
        </p:txBody>
      </p:sp>
      <p:sp>
        <p:nvSpPr>
          <p:cNvPr id="36" name="Rectangle 35">
            <a:extLst>
              <a:ext uri="{FF2B5EF4-FFF2-40B4-BE49-F238E27FC236}">
                <a16:creationId xmlns:a16="http://schemas.microsoft.com/office/drawing/2014/main" id="{7465FC31-82A1-455B-8717-ADC0BA5A053E}"/>
              </a:ext>
            </a:extLst>
          </p:cNvPr>
          <p:cNvSpPr/>
          <p:nvPr/>
        </p:nvSpPr>
        <p:spPr bwMode="gray">
          <a:xfrm>
            <a:off x="686888" y="4982752"/>
            <a:ext cx="5278484" cy="488683"/>
          </a:xfrm>
          <a:prstGeom prst="rect">
            <a:avLst/>
          </a:prstGeom>
          <a:noFill/>
          <a:ln w="19050" algn="ctr">
            <a:solidFill>
              <a:srgbClr val="009A44"/>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t>Pool of Level 8 Staff with a mix of skillsets ranging from Engineering, Finance &amp; Accounts, Legal, Business Administration to serve a wide range of Roles and Responsibilities within the Regulatory Cell</a:t>
            </a:r>
          </a:p>
        </p:txBody>
      </p:sp>
      <p:grpSp>
        <p:nvGrpSpPr>
          <p:cNvPr id="38" name="Group 37">
            <a:extLst>
              <a:ext uri="{FF2B5EF4-FFF2-40B4-BE49-F238E27FC236}">
                <a16:creationId xmlns:a16="http://schemas.microsoft.com/office/drawing/2014/main" id="{4487E76D-C923-4B48-98B9-61B94C04E1BE}"/>
              </a:ext>
            </a:extLst>
          </p:cNvPr>
          <p:cNvGrpSpPr/>
          <p:nvPr/>
        </p:nvGrpSpPr>
        <p:grpSpPr>
          <a:xfrm>
            <a:off x="727165" y="6180588"/>
            <a:ext cx="3253741" cy="252461"/>
            <a:chOff x="182880" y="6248400"/>
            <a:chExt cx="3253741" cy="252461"/>
          </a:xfrm>
        </p:grpSpPr>
        <p:sp>
          <p:nvSpPr>
            <p:cNvPr id="39" name="Rectangle 38">
              <a:extLst>
                <a:ext uri="{FF2B5EF4-FFF2-40B4-BE49-F238E27FC236}">
                  <a16:creationId xmlns:a16="http://schemas.microsoft.com/office/drawing/2014/main" id="{44B7C342-9A68-4A3C-B3BA-85CFD4789054}"/>
                </a:ext>
              </a:extLst>
            </p:cNvPr>
            <p:cNvSpPr/>
            <p:nvPr/>
          </p:nvSpPr>
          <p:spPr bwMode="gray">
            <a:xfrm>
              <a:off x="182880" y="6248400"/>
              <a:ext cx="190500" cy="12311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endParaRPr lang="en-US" sz="800">
                <a:solidFill>
                  <a:prstClr val="black"/>
                </a:solidFill>
              </a:endParaRPr>
            </a:p>
          </p:txBody>
        </p:sp>
        <p:sp>
          <p:nvSpPr>
            <p:cNvPr id="41" name="TextBox 40">
              <a:extLst>
                <a:ext uri="{FF2B5EF4-FFF2-40B4-BE49-F238E27FC236}">
                  <a16:creationId xmlns:a16="http://schemas.microsoft.com/office/drawing/2014/main" id="{EF1D3112-FFB0-46DB-94F9-E91A829D5638}"/>
                </a:ext>
              </a:extLst>
            </p:cNvPr>
            <p:cNvSpPr txBox="1"/>
            <p:nvPr/>
          </p:nvSpPr>
          <p:spPr>
            <a:xfrm>
              <a:off x="403860" y="6248400"/>
              <a:ext cx="1501140" cy="246221"/>
            </a:xfrm>
            <a:prstGeom prst="rect">
              <a:avLst/>
            </a:prstGeom>
            <a:noFill/>
          </p:spPr>
          <p:txBody>
            <a:bodyPr wrap="square" lIns="0" tIns="0" rIns="0" bIns="0" rtlCol="0">
              <a:spAutoFit/>
            </a:bodyPr>
            <a:lstStyle/>
            <a:p>
              <a:pPr>
                <a:spcBef>
                  <a:spcPts val="600"/>
                </a:spcBef>
                <a:buSzPct val="100000"/>
              </a:pPr>
              <a:r>
                <a:rPr lang="en-US" sz="800">
                  <a:solidFill>
                    <a:srgbClr val="313131"/>
                  </a:solidFill>
                </a:rPr>
                <a:t>Designations: Level 11 and Above</a:t>
              </a:r>
            </a:p>
          </p:txBody>
        </p:sp>
        <p:sp>
          <p:nvSpPr>
            <p:cNvPr id="42" name="Rectangle 41">
              <a:extLst>
                <a:ext uri="{FF2B5EF4-FFF2-40B4-BE49-F238E27FC236}">
                  <a16:creationId xmlns:a16="http://schemas.microsoft.com/office/drawing/2014/main" id="{13D10374-7CA8-4D2A-AC8F-1481E9AFA2BF}"/>
                </a:ext>
              </a:extLst>
            </p:cNvPr>
            <p:cNvSpPr/>
            <p:nvPr/>
          </p:nvSpPr>
          <p:spPr bwMode="gray">
            <a:xfrm>
              <a:off x="1935480" y="6254640"/>
              <a:ext cx="190500" cy="12311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endParaRPr lang="en-US" sz="800">
                <a:solidFill>
                  <a:prstClr val="black"/>
                </a:solidFill>
              </a:endParaRPr>
            </a:p>
          </p:txBody>
        </p:sp>
        <p:sp>
          <p:nvSpPr>
            <p:cNvPr id="43" name="TextBox 42">
              <a:extLst>
                <a:ext uri="{FF2B5EF4-FFF2-40B4-BE49-F238E27FC236}">
                  <a16:creationId xmlns:a16="http://schemas.microsoft.com/office/drawing/2014/main" id="{63E69313-34FD-4DAC-BB77-A446755688E2}"/>
                </a:ext>
              </a:extLst>
            </p:cNvPr>
            <p:cNvSpPr txBox="1"/>
            <p:nvPr/>
          </p:nvSpPr>
          <p:spPr>
            <a:xfrm>
              <a:off x="2156461" y="6254640"/>
              <a:ext cx="1280160" cy="246221"/>
            </a:xfrm>
            <a:prstGeom prst="rect">
              <a:avLst/>
            </a:prstGeom>
            <a:noFill/>
          </p:spPr>
          <p:txBody>
            <a:bodyPr wrap="square" lIns="0" tIns="0" rIns="0" bIns="0" rtlCol="0">
              <a:spAutoFit/>
            </a:bodyPr>
            <a:lstStyle/>
            <a:p>
              <a:pPr>
                <a:spcBef>
                  <a:spcPts val="600"/>
                </a:spcBef>
                <a:buSzPct val="100000"/>
              </a:pPr>
              <a:r>
                <a:rPr lang="en-US" sz="800">
                  <a:solidFill>
                    <a:srgbClr val="313131"/>
                  </a:solidFill>
                </a:rPr>
                <a:t>Designations: Below Level 11</a:t>
              </a:r>
            </a:p>
          </p:txBody>
        </p:sp>
      </p:grpSp>
      <p:sp>
        <p:nvSpPr>
          <p:cNvPr id="57" name="Rectangle 56">
            <a:extLst>
              <a:ext uri="{FF2B5EF4-FFF2-40B4-BE49-F238E27FC236}">
                <a16:creationId xmlns:a16="http://schemas.microsoft.com/office/drawing/2014/main" id="{1A3A6AB3-C306-4587-846B-80D5AA1F7E9D}"/>
              </a:ext>
            </a:extLst>
          </p:cNvPr>
          <p:cNvSpPr/>
          <p:nvPr/>
        </p:nvSpPr>
        <p:spPr bwMode="gray">
          <a:xfrm>
            <a:off x="727165" y="5841395"/>
            <a:ext cx="1339792" cy="219488"/>
          </a:xfrm>
          <a:prstGeom prst="rect">
            <a:avLst/>
          </a:prstGeom>
          <a:noFill/>
          <a:ln w="19050" algn="ctr">
            <a:solidFill>
              <a:schemeClr val="tx1"/>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r>
              <a:rPr lang="en-US" sz="900"/>
              <a:t>Corporate Office</a:t>
            </a:r>
          </a:p>
        </p:txBody>
      </p:sp>
      <p:sp>
        <p:nvSpPr>
          <p:cNvPr id="44" name="Rectangle 43">
            <a:extLst>
              <a:ext uri="{FF2B5EF4-FFF2-40B4-BE49-F238E27FC236}">
                <a16:creationId xmlns:a16="http://schemas.microsoft.com/office/drawing/2014/main" id="{0BD00A70-87B8-4CC8-A223-4CA8B8B9D43A}"/>
              </a:ext>
            </a:extLst>
          </p:cNvPr>
          <p:cNvSpPr/>
          <p:nvPr/>
        </p:nvSpPr>
        <p:spPr>
          <a:xfrm>
            <a:off x="2705857" y="1088840"/>
            <a:ext cx="769196" cy="75390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US" sz="800" dirty="0">
                <a:solidFill>
                  <a:prstClr val="black"/>
                </a:solidFill>
              </a:rPr>
              <a:t>Planning, Monitoring &amp; Information Technology Directorate</a:t>
            </a:r>
          </a:p>
          <a:p>
            <a:pPr algn="ctr"/>
            <a:r>
              <a:rPr lang="en-US" sz="800" dirty="0">
                <a:solidFill>
                  <a:prstClr val="black"/>
                </a:solidFill>
              </a:rPr>
              <a:t>Level 12</a:t>
            </a:r>
          </a:p>
        </p:txBody>
      </p:sp>
      <p:cxnSp>
        <p:nvCxnSpPr>
          <p:cNvPr id="51" name="Elbow Connector 50"/>
          <p:cNvCxnSpPr>
            <a:cxnSpLocks/>
            <a:stCxn id="62" idx="2"/>
            <a:endCxn id="19" idx="0"/>
          </p:cNvCxnSpPr>
          <p:nvPr/>
        </p:nvCxnSpPr>
        <p:spPr>
          <a:xfrm rot="5400000">
            <a:off x="2225264" y="2418417"/>
            <a:ext cx="571247" cy="1170364"/>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2" name="Rectangle 317"/>
          <p:cNvSpPr>
            <a:spLocks noChangeArrowheads="1"/>
          </p:cNvSpPr>
          <p:nvPr/>
        </p:nvSpPr>
        <p:spPr bwMode="auto">
          <a:xfrm>
            <a:off x="2606058" y="2181576"/>
            <a:ext cx="980022" cy="536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900" dirty="0">
                <a:solidFill>
                  <a:prstClr val="black"/>
                </a:solidFill>
                <a:latin typeface="Verdana"/>
              </a:rPr>
              <a:t>Level 11</a:t>
            </a:r>
            <a:endParaRPr kumimoji="0" lang="en-US" altLang="en-US"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 name="Rectangle 317">
            <a:extLst>
              <a:ext uri="{FF2B5EF4-FFF2-40B4-BE49-F238E27FC236}">
                <a16:creationId xmlns:a16="http://schemas.microsoft.com/office/drawing/2014/main" id="{3B908C1A-3B44-F8CA-4AB5-3E9C5F95D938}"/>
              </a:ext>
            </a:extLst>
          </p:cNvPr>
          <p:cNvSpPr>
            <a:spLocks noChangeArrowheads="1"/>
          </p:cNvSpPr>
          <p:nvPr/>
        </p:nvSpPr>
        <p:spPr bwMode="auto">
          <a:xfrm>
            <a:off x="1349705" y="3289223"/>
            <a:ext cx="1152000"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10</a:t>
            </a:r>
          </a:p>
          <a:p>
            <a:pPr algn="ctr"/>
            <a:r>
              <a:rPr lang="en-IN" altLang="en-US" sz="800" dirty="0">
                <a:solidFill>
                  <a:prstClr val="black"/>
                </a:solidFill>
              </a:rPr>
              <a:t>[Tariff Management &amp; Communication]</a:t>
            </a:r>
          </a:p>
        </p:txBody>
      </p:sp>
      <p:sp>
        <p:nvSpPr>
          <p:cNvPr id="74" name="Rectangle 317">
            <a:extLst>
              <a:ext uri="{FF2B5EF4-FFF2-40B4-BE49-F238E27FC236}">
                <a16:creationId xmlns:a16="http://schemas.microsoft.com/office/drawing/2014/main" id="{2853C1C0-6E33-0FFE-803D-DAECEE60803C}"/>
              </a:ext>
            </a:extLst>
          </p:cNvPr>
          <p:cNvSpPr>
            <a:spLocks noChangeArrowheads="1"/>
          </p:cNvSpPr>
          <p:nvPr/>
        </p:nvSpPr>
        <p:spPr bwMode="auto">
          <a:xfrm>
            <a:off x="3800642" y="3263715"/>
            <a:ext cx="1152000"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10</a:t>
            </a:r>
          </a:p>
          <a:p>
            <a:pPr algn="ctr"/>
            <a:r>
              <a:rPr lang="en-IN" altLang="en-US" sz="800" dirty="0">
                <a:solidFill>
                  <a:prstClr val="black"/>
                </a:solidFill>
              </a:rPr>
              <a:t>[Compliance, Advocacy and Dispute Resolution]</a:t>
            </a:r>
          </a:p>
        </p:txBody>
      </p:sp>
      <p:sp>
        <p:nvSpPr>
          <p:cNvPr id="77" name="Rectangle 317">
            <a:extLst>
              <a:ext uri="{FF2B5EF4-FFF2-40B4-BE49-F238E27FC236}">
                <a16:creationId xmlns:a16="http://schemas.microsoft.com/office/drawing/2014/main" id="{8CAB776E-B20E-6489-3A3F-721175BB3D25}"/>
              </a:ext>
            </a:extLst>
          </p:cNvPr>
          <p:cNvSpPr>
            <a:spLocks noChangeArrowheads="1"/>
          </p:cNvSpPr>
          <p:nvPr/>
        </p:nvSpPr>
        <p:spPr bwMode="auto">
          <a:xfrm>
            <a:off x="1008242" y="4011097"/>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[Tariff Management &amp; Communication]</a:t>
            </a:r>
          </a:p>
        </p:txBody>
      </p:sp>
      <p:cxnSp>
        <p:nvCxnSpPr>
          <p:cNvPr id="81" name="Connector: Elbow 80">
            <a:extLst>
              <a:ext uri="{FF2B5EF4-FFF2-40B4-BE49-F238E27FC236}">
                <a16:creationId xmlns:a16="http://schemas.microsoft.com/office/drawing/2014/main" id="{E021F728-EEB0-1440-87E4-A51A8BE65726}"/>
              </a:ext>
            </a:extLst>
          </p:cNvPr>
          <p:cNvCxnSpPr>
            <a:cxnSpLocks/>
            <a:stCxn id="19" idx="2"/>
            <a:endCxn id="77" idx="0"/>
          </p:cNvCxnSpPr>
          <p:nvPr/>
        </p:nvCxnSpPr>
        <p:spPr>
          <a:xfrm rot="5400000">
            <a:off x="1574873" y="3660265"/>
            <a:ext cx="217874" cy="483790"/>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1" name="Rectangle 317">
            <a:extLst>
              <a:ext uri="{FF2B5EF4-FFF2-40B4-BE49-F238E27FC236}">
                <a16:creationId xmlns:a16="http://schemas.microsoft.com/office/drawing/2014/main" id="{D6EDD213-EF0D-085F-2624-2D806563C52F}"/>
              </a:ext>
            </a:extLst>
          </p:cNvPr>
          <p:cNvSpPr>
            <a:spLocks noChangeArrowheads="1"/>
          </p:cNvSpPr>
          <p:nvPr/>
        </p:nvSpPr>
        <p:spPr bwMode="auto">
          <a:xfrm>
            <a:off x="3031495" y="4017058"/>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[Regulatory Compliance]</a:t>
            </a:r>
          </a:p>
        </p:txBody>
      </p:sp>
      <p:cxnSp>
        <p:nvCxnSpPr>
          <p:cNvPr id="94" name="Connector: Elbow 93">
            <a:extLst>
              <a:ext uri="{FF2B5EF4-FFF2-40B4-BE49-F238E27FC236}">
                <a16:creationId xmlns:a16="http://schemas.microsoft.com/office/drawing/2014/main" id="{1FF1634B-1623-FC3C-2DFF-9DE622843D1B}"/>
              </a:ext>
            </a:extLst>
          </p:cNvPr>
          <p:cNvCxnSpPr>
            <a:cxnSpLocks/>
            <a:stCxn id="74" idx="2"/>
            <a:endCxn id="91" idx="0"/>
          </p:cNvCxnSpPr>
          <p:nvPr/>
        </p:nvCxnSpPr>
        <p:spPr>
          <a:xfrm rot="5400000">
            <a:off x="3796234" y="3436649"/>
            <a:ext cx="249343" cy="911474"/>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4FA5C71A-816B-4DB6-A21A-714FF4C16EE6}"/>
              </a:ext>
            </a:extLst>
          </p:cNvPr>
          <p:cNvCxnSpPr>
            <a:cxnSpLocks/>
            <a:stCxn id="74" idx="2"/>
            <a:endCxn id="103" idx="0"/>
          </p:cNvCxnSpPr>
          <p:nvPr/>
        </p:nvCxnSpPr>
        <p:spPr>
          <a:xfrm rot="16200000" flipH="1">
            <a:off x="4722787" y="3421570"/>
            <a:ext cx="238873" cy="93116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90" name="Rectangle 189">
            <a:extLst>
              <a:ext uri="{FF2B5EF4-FFF2-40B4-BE49-F238E27FC236}">
                <a16:creationId xmlns:a16="http://schemas.microsoft.com/office/drawing/2014/main" id="{050CE1FC-835F-5C36-29F0-32D0BB2C88CF}"/>
              </a:ext>
            </a:extLst>
          </p:cNvPr>
          <p:cNvSpPr/>
          <p:nvPr/>
        </p:nvSpPr>
        <p:spPr bwMode="gray">
          <a:xfrm flipV="1">
            <a:off x="686888" y="2089502"/>
            <a:ext cx="5278484" cy="2635270"/>
          </a:xfrm>
          <a:prstGeom prst="rect">
            <a:avLst/>
          </a:prstGeom>
          <a:noFill/>
          <a:ln w="19050" algn="ctr">
            <a:solidFill>
              <a:schemeClr val="tx1"/>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endParaRPr lang="en-US" sz="900"/>
          </a:p>
        </p:txBody>
      </p:sp>
      <p:cxnSp>
        <p:nvCxnSpPr>
          <p:cNvPr id="82" name="Elbow Connector 50">
            <a:extLst>
              <a:ext uri="{FF2B5EF4-FFF2-40B4-BE49-F238E27FC236}">
                <a16:creationId xmlns:a16="http://schemas.microsoft.com/office/drawing/2014/main" id="{AAFF0197-C80A-EB2C-4004-FE6F46147BB3}"/>
              </a:ext>
            </a:extLst>
          </p:cNvPr>
          <p:cNvCxnSpPr>
            <a:cxnSpLocks/>
            <a:stCxn id="62" idx="2"/>
            <a:endCxn id="74" idx="0"/>
          </p:cNvCxnSpPr>
          <p:nvPr/>
        </p:nvCxnSpPr>
        <p:spPr>
          <a:xfrm rot="16200000" flipH="1">
            <a:off x="3463486" y="2350558"/>
            <a:ext cx="545739" cy="1280573"/>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90" name="Rectangle 317">
            <a:extLst>
              <a:ext uri="{FF2B5EF4-FFF2-40B4-BE49-F238E27FC236}">
                <a16:creationId xmlns:a16="http://schemas.microsoft.com/office/drawing/2014/main" id="{C0C8616A-D29E-BDE1-EC36-5DEC98EA5734}"/>
              </a:ext>
            </a:extLst>
          </p:cNvPr>
          <p:cNvSpPr>
            <a:spLocks noChangeArrowheads="1"/>
          </p:cNvSpPr>
          <p:nvPr/>
        </p:nvSpPr>
        <p:spPr bwMode="auto">
          <a:xfrm>
            <a:off x="1964475" y="4004936"/>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[Tariff Management &amp; Communication]</a:t>
            </a:r>
          </a:p>
        </p:txBody>
      </p:sp>
      <p:cxnSp>
        <p:nvCxnSpPr>
          <p:cNvPr id="93" name="Connector: Elbow 92">
            <a:extLst>
              <a:ext uri="{FF2B5EF4-FFF2-40B4-BE49-F238E27FC236}">
                <a16:creationId xmlns:a16="http://schemas.microsoft.com/office/drawing/2014/main" id="{A3E477DE-7F5E-79AC-A3C8-79466E2F90A8}"/>
              </a:ext>
            </a:extLst>
          </p:cNvPr>
          <p:cNvCxnSpPr>
            <a:cxnSpLocks/>
            <a:stCxn id="19" idx="2"/>
            <a:endCxn id="90" idx="0"/>
          </p:cNvCxnSpPr>
          <p:nvPr/>
        </p:nvCxnSpPr>
        <p:spPr>
          <a:xfrm rot="16200000" flipH="1">
            <a:off x="2056070" y="3662857"/>
            <a:ext cx="211713" cy="472443"/>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2" name="Rectangle 317">
            <a:extLst>
              <a:ext uri="{FF2B5EF4-FFF2-40B4-BE49-F238E27FC236}">
                <a16:creationId xmlns:a16="http://schemas.microsoft.com/office/drawing/2014/main" id="{C0E67297-0E68-99CB-6D14-CD829C8F3209}"/>
              </a:ext>
            </a:extLst>
          </p:cNvPr>
          <p:cNvSpPr>
            <a:spLocks noChangeArrowheads="1"/>
          </p:cNvSpPr>
          <p:nvPr/>
        </p:nvSpPr>
        <p:spPr bwMode="auto">
          <a:xfrm>
            <a:off x="3950690" y="4011097"/>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[Regulatory Advocacy]</a:t>
            </a:r>
          </a:p>
        </p:txBody>
      </p:sp>
      <p:sp>
        <p:nvSpPr>
          <p:cNvPr id="103" name="Rectangle 317">
            <a:extLst>
              <a:ext uri="{FF2B5EF4-FFF2-40B4-BE49-F238E27FC236}">
                <a16:creationId xmlns:a16="http://schemas.microsoft.com/office/drawing/2014/main" id="{D36AD318-6DE4-9F00-C151-2F993026A845}"/>
              </a:ext>
            </a:extLst>
          </p:cNvPr>
          <p:cNvSpPr>
            <a:spLocks noChangeArrowheads="1"/>
          </p:cNvSpPr>
          <p:nvPr/>
        </p:nvSpPr>
        <p:spPr bwMode="auto">
          <a:xfrm>
            <a:off x="4874131" y="4006588"/>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[Dispute Resolution]</a:t>
            </a:r>
          </a:p>
        </p:txBody>
      </p:sp>
      <p:cxnSp>
        <p:nvCxnSpPr>
          <p:cNvPr id="106" name="Connector: Elbow 105">
            <a:extLst>
              <a:ext uri="{FF2B5EF4-FFF2-40B4-BE49-F238E27FC236}">
                <a16:creationId xmlns:a16="http://schemas.microsoft.com/office/drawing/2014/main" id="{2913FCB9-0391-4CC7-1859-C52345944D4C}"/>
              </a:ext>
            </a:extLst>
          </p:cNvPr>
          <p:cNvCxnSpPr>
            <a:cxnSpLocks/>
            <a:stCxn id="74" idx="2"/>
            <a:endCxn id="102" idx="0"/>
          </p:cNvCxnSpPr>
          <p:nvPr/>
        </p:nvCxnSpPr>
        <p:spPr>
          <a:xfrm rot="16200000" flipH="1">
            <a:off x="4258811" y="3885545"/>
            <a:ext cx="243382" cy="7721"/>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19CBBCF5-F537-EB93-0748-43E6CD572008}"/>
              </a:ext>
            </a:extLst>
          </p:cNvPr>
          <p:cNvCxnSpPr>
            <a:cxnSpLocks/>
            <a:stCxn id="44" idx="2"/>
            <a:endCxn id="62" idx="0"/>
          </p:cNvCxnSpPr>
          <p:nvPr/>
        </p:nvCxnSpPr>
        <p:spPr>
          <a:xfrm>
            <a:off x="3090455" y="1842741"/>
            <a:ext cx="5614" cy="33883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7FF8B332-44CF-0D72-4784-6C96CBBA86BB}"/>
              </a:ext>
            </a:extLst>
          </p:cNvPr>
          <p:cNvSpPr/>
          <p:nvPr/>
        </p:nvSpPr>
        <p:spPr bwMode="gray">
          <a:xfrm>
            <a:off x="6314529" y="4979038"/>
            <a:ext cx="5278484" cy="488683"/>
          </a:xfrm>
          <a:prstGeom prst="rect">
            <a:avLst/>
          </a:prstGeom>
          <a:noFill/>
          <a:ln w="19050" algn="ctr">
            <a:solidFill>
              <a:srgbClr val="009A44"/>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r>
              <a:rPr lang="en-US" sz="900" dirty="0"/>
              <a:t>Pool of Level 8 Staff with a mix of skillsets ranging from Engineering, Finance &amp; Accounts, Legal, Business Administration to serve a wide range of Roles and Responsibilities within the Regulatory Cell</a:t>
            </a:r>
          </a:p>
        </p:txBody>
      </p:sp>
      <p:sp>
        <p:nvSpPr>
          <p:cNvPr id="113" name="Rectangle 112">
            <a:extLst>
              <a:ext uri="{FF2B5EF4-FFF2-40B4-BE49-F238E27FC236}">
                <a16:creationId xmlns:a16="http://schemas.microsoft.com/office/drawing/2014/main" id="{080BDA0C-FA34-3E03-3C05-93C337E565EF}"/>
              </a:ext>
            </a:extLst>
          </p:cNvPr>
          <p:cNvSpPr/>
          <p:nvPr/>
        </p:nvSpPr>
        <p:spPr>
          <a:xfrm>
            <a:off x="8333498" y="1085126"/>
            <a:ext cx="769196" cy="75390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US" sz="800" dirty="0">
                <a:solidFill>
                  <a:prstClr val="black"/>
                </a:solidFill>
              </a:rPr>
              <a:t>Finance Directorate</a:t>
            </a:r>
          </a:p>
          <a:p>
            <a:pPr algn="ctr"/>
            <a:r>
              <a:rPr lang="en-US" sz="800" dirty="0">
                <a:solidFill>
                  <a:prstClr val="black"/>
                </a:solidFill>
              </a:rPr>
              <a:t>Level 12</a:t>
            </a:r>
          </a:p>
        </p:txBody>
      </p:sp>
      <p:cxnSp>
        <p:nvCxnSpPr>
          <p:cNvPr id="132" name="Straight Arrow Connector 131">
            <a:extLst>
              <a:ext uri="{FF2B5EF4-FFF2-40B4-BE49-F238E27FC236}">
                <a16:creationId xmlns:a16="http://schemas.microsoft.com/office/drawing/2014/main" id="{D27420CC-92D0-AFB2-A20C-435CD666DCB0}"/>
              </a:ext>
            </a:extLst>
          </p:cNvPr>
          <p:cNvCxnSpPr>
            <a:cxnSpLocks/>
            <a:stCxn id="113" idx="2"/>
          </p:cNvCxnSpPr>
          <p:nvPr/>
        </p:nvCxnSpPr>
        <p:spPr>
          <a:xfrm>
            <a:off x="8718096" y="1839027"/>
            <a:ext cx="5614" cy="33883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A6A9E3B0-E6E7-BFFA-16F5-7EC17D038288}"/>
              </a:ext>
            </a:extLst>
          </p:cNvPr>
          <p:cNvSpPr txBox="1"/>
          <p:nvPr/>
        </p:nvSpPr>
        <p:spPr>
          <a:xfrm>
            <a:off x="686888" y="1318002"/>
            <a:ext cx="944737" cy="288147"/>
          </a:xfrm>
          <a:prstGeom prst="rect">
            <a:avLst/>
          </a:prstGeom>
          <a:solidFill>
            <a:schemeClr val="accent2"/>
          </a:solidFill>
        </p:spPr>
        <p:txBody>
          <a:bodyPr wrap="none" lIns="36000" tIns="36000" rIns="36000" bIns="36000" rtlCol="0" anchor="ctr">
            <a:spAutoFit/>
          </a:bodyPr>
          <a:lstStyle/>
          <a:p>
            <a:pPr algn="ctr">
              <a:spcBef>
                <a:spcPts val="600"/>
              </a:spcBef>
              <a:buSzPct val="100000"/>
            </a:pPr>
            <a:r>
              <a:rPr lang="en-IN" sz="1400" b="1" dirty="0">
                <a:solidFill>
                  <a:schemeClr val="bg1"/>
                </a:solidFill>
              </a:rPr>
              <a:t>Option A</a:t>
            </a:r>
          </a:p>
        </p:txBody>
      </p:sp>
      <p:sp>
        <p:nvSpPr>
          <p:cNvPr id="134" name="TextBox 133">
            <a:extLst>
              <a:ext uri="{FF2B5EF4-FFF2-40B4-BE49-F238E27FC236}">
                <a16:creationId xmlns:a16="http://schemas.microsoft.com/office/drawing/2014/main" id="{48E33A36-FABD-289C-187D-8888A3C9C223}"/>
              </a:ext>
            </a:extLst>
          </p:cNvPr>
          <p:cNvSpPr txBox="1"/>
          <p:nvPr/>
        </p:nvSpPr>
        <p:spPr>
          <a:xfrm>
            <a:off x="6316132" y="1334358"/>
            <a:ext cx="941531" cy="288147"/>
          </a:xfrm>
          <a:prstGeom prst="rect">
            <a:avLst/>
          </a:prstGeom>
          <a:solidFill>
            <a:schemeClr val="accent2"/>
          </a:solidFill>
        </p:spPr>
        <p:txBody>
          <a:bodyPr wrap="none" lIns="36000" tIns="36000" rIns="36000" bIns="36000" rtlCol="0" anchor="ctr">
            <a:spAutoFit/>
          </a:bodyPr>
          <a:lstStyle/>
          <a:p>
            <a:pPr algn="ctr">
              <a:spcBef>
                <a:spcPts val="600"/>
              </a:spcBef>
              <a:buSzPct val="100000"/>
            </a:pPr>
            <a:r>
              <a:rPr lang="en-IN" sz="1400" b="1" dirty="0">
                <a:solidFill>
                  <a:schemeClr val="bg1"/>
                </a:solidFill>
              </a:rPr>
              <a:t>Option B</a:t>
            </a:r>
          </a:p>
        </p:txBody>
      </p:sp>
      <p:cxnSp>
        <p:nvCxnSpPr>
          <p:cNvPr id="135" name="Elbow Connector 50">
            <a:extLst>
              <a:ext uri="{FF2B5EF4-FFF2-40B4-BE49-F238E27FC236}">
                <a16:creationId xmlns:a16="http://schemas.microsoft.com/office/drawing/2014/main" id="{850B303F-77D3-3F5F-7505-77C0A8AC5D25}"/>
              </a:ext>
            </a:extLst>
          </p:cNvPr>
          <p:cNvCxnSpPr>
            <a:cxnSpLocks/>
            <a:stCxn id="136" idx="2"/>
            <a:endCxn id="137" idx="0"/>
          </p:cNvCxnSpPr>
          <p:nvPr/>
        </p:nvCxnSpPr>
        <p:spPr>
          <a:xfrm rot="5400000">
            <a:off x="7853455" y="2421955"/>
            <a:ext cx="571247" cy="1170364"/>
          </a:xfrm>
          <a:prstGeom prst="bentConnector3">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6" name="Rectangle 317">
            <a:extLst>
              <a:ext uri="{FF2B5EF4-FFF2-40B4-BE49-F238E27FC236}">
                <a16:creationId xmlns:a16="http://schemas.microsoft.com/office/drawing/2014/main" id="{C007F0F6-42CB-43CC-3ECD-365F50334789}"/>
              </a:ext>
            </a:extLst>
          </p:cNvPr>
          <p:cNvSpPr>
            <a:spLocks noChangeArrowheads="1"/>
          </p:cNvSpPr>
          <p:nvPr/>
        </p:nvSpPr>
        <p:spPr bwMode="auto">
          <a:xfrm>
            <a:off x="8234249" y="2185114"/>
            <a:ext cx="980022" cy="536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900" dirty="0">
                <a:solidFill>
                  <a:prstClr val="black"/>
                </a:solidFill>
                <a:latin typeface="Verdana"/>
              </a:rPr>
              <a:t>Level 11</a:t>
            </a:r>
            <a:endParaRPr kumimoji="0" lang="en-US" altLang="en-US"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7" name="Rectangle 317">
            <a:extLst>
              <a:ext uri="{FF2B5EF4-FFF2-40B4-BE49-F238E27FC236}">
                <a16:creationId xmlns:a16="http://schemas.microsoft.com/office/drawing/2014/main" id="{53B5A2BF-ED54-DCE8-6A2F-023CC64799EA}"/>
              </a:ext>
            </a:extLst>
          </p:cNvPr>
          <p:cNvSpPr>
            <a:spLocks noChangeArrowheads="1"/>
          </p:cNvSpPr>
          <p:nvPr/>
        </p:nvSpPr>
        <p:spPr bwMode="auto">
          <a:xfrm>
            <a:off x="6977896" y="3292761"/>
            <a:ext cx="1152000"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10</a:t>
            </a:r>
          </a:p>
          <a:p>
            <a:pPr algn="ctr"/>
            <a:r>
              <a:rPr lang="en-IN" altLang="en-US" sz="800" dirty="0">
                <a:solidFill>
                  <a:prstClr val="black"/>
                </a:solidFill>
              </a:rPr>
              <a:t>[Tariff Management &amp; Communication]</a:t>
            </a:r>
          </a:p>
        </p:txBody>
      </p:sp>
      <p:sp>
        <p:nvSpPr>
          <p:cNvPr id="138" name="Rectangle 317">
            <a:extLst>
              <a:ext uri="{FF2B5EF4-FFF2-40B4-BE49-F238E27FC236}">
                <a16:creationId xmlns:a16="http://schemas.microsoft.com/office/drawing/2014/main" id="{EEF94001-1BAE-A053-32E4-9BDD6A604379}"/>
              </a:ext>
            </a:extLst>
          </p:cNvPr>
          <p:cNvSpPr>
            <a:spLocks noChangeArrowheads="1"/>
          </p:cNvSpPr>
          <p:nvPr/>
        </p:nvSpPr>
        <p:spPr bwMode="auto">
          <a:xfrm>
            <a:off x="9428833" y="3267253"/>
            <a:ext cx="1152000" cy="50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10</a:t>
            </a:r>
          </a:p>
          <a:p>
            <a:pPr algn="ctr"/>
            <a:r>
              <a:rPr lang="en-IN" altLang="en-US" sz="800" dirty="0">
                <a:solidFill>
                  <a:prstClr val="black"/>
                </a:solidFill>
              </a:rPr>
              <a:t>[Compliance, Advocacy and Dispute Resolution]</a:t>
            </a:r>
          </a:p>
        </p:txBody>
      </p:sp>
      <p:sp>
        <p:nvSpPr>
          <p:cNvPr id="139" name="Rectangle 317">
            <a:extLst>
              <a:ext uri="{FF2B5EF4-FFF2-40B4-BE49-F238E27FC236}">
                <a16:creationId xmlns:a16="http://schemas.microsoft.com/office/drawing/2014/main" id="{1AD76DB9-E71D-B0E7-4F5E-23E4B983EE88}"/>
              </a:ext>
            </a:extLst>
          </p:cNvPr>
          <p:cNvSpPr>
            <a:spLocks noChangeArrowheads="1"/>
          </p:cNvSpPr>
          <p:nvPr/>
        </p:nvSpPr>
        <p:spPr bwMode="auto">
          <a:xfrm>
            <a:off x="6636433" y="4014635"/>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[Tariff Management &amp; Communication]</a:t>
            </a:r>
          </a:p>
        </p:txBody>
      </p:sp>
      <p:cxnSp>
        <p:nvCxnSpPr>
          <p:cNvPr id="141" name="Connector: Elbow 140">
            <a:extLst>
              <a:ext uri="{FF2B5EF4-FFF2-40B4-BE49-F238E27FC236}">
                <a16:creationId xmlns:a16="http://schemas.microsoft.com/office/drawing/2014/main" id="{B6233FAE-F8EC-D336-A9FD-5A630A9D50FD}"/>
              </a:ext>
            </a:extLst>
          </p:cNvPr>
          <p:cNvCxnSpPr>
            <a:cxnSpLocks/>
            <a:stCxn id="137" idx="2"/>
            <a:endCxn id="139" idx="0"/>
          </p:cNvCxnSpPr>
          <p:nvPr/>
        </p:nvCxnSpPr>
        <p:spPr>
          <a:xfrm rot="5400000">
            <a:off x="7203064" y="3663803"/>
            <a:ext cx="217874" cy="483790"/>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2" name="Rectangle 317">
            <a:extLst>
              <a:ext uri="{FF2B5EF4-FFF2-40B4-BE49-F238E27FC236}">
                <a16:creationId xmlns:a16="http://schemas.microsoft.com/office/drawing/2014/main" id="{B5D46361-5419-442C-DB66-28EBF1DCAFFA}"/>
              </a:ext>
            </a:extLst>
          </p:cNvPr>
          <p:cNvSpPr>
            <a:spLocks noChangeArrowheads="1"/>
          </p:cNvSpPr>
          <p:nvPr/>
        </p:nvSpPr>
        <p:spPr bwMode="auto">
          <a:xfrm>
            <a:off x="8659686" y="4020596"/>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[Regulatory Compliance]</a:t>
            </a:r>
          </a:p>
        </p:txBody>
      </p:sp>
      <p:cxnSp>
        <p:nvCxnSpPr>
          <p:cNvPr id="143" name="Connector: Elbow 142">
            <a:extLst>
              <a:ext uri="{FF2B5EF4-FFF2-40B4-BE49-F238E27FC236}">
                <a16:creationId xmlns:a16="http://schemas.microsoft.com/office/drawing/2014/main" id="{C45CF97E-F7D1-0581-DBD6-D0166E3D7BA5}"/>
              </a:ext>
            </a:extLst>
          </p:cNvPr>
          <p:cNvCxnSpPr>
            <a:cxnSpLocks/>
            <a:stCxn id="138" idx="2"/>
            <a:endCxn id="142" idx="0"/>
          </p:cNvCxnSpPr>
          <p:nvPr/>
        </p:nvCxnSpPr>
        <p:spPr>
          <a:xfrm rot="5400000">
            <a:off x="9424425" y="3440187"/>
            <a:ext cx="249343" cy="911474"/>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4AA2DE93-C67B-CD31-D8AF-C382F16BD00D}"/>
              </a:ext>
            </a:extLst>
          </p:cNvPr>
          <p:cNvCxnSpPr>
            <a:cxnSpLocks/>
            <a:stCxn id="138" idx="2"/>
            <a:endCxn id="153" idx="0"/>
          </p:cNvCxnSpPr>
          <p:nvPr/>
        </p:nvCxnSpPr>
        <p:spPr>
          <a:xfrm rot="16200000" flipH="1">
            <a:off x="10350978" y="3425108"/>
            <a:ext cx="238873" cy="931162"/>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E3342252-74AA-E5F8-94AE-C7141507CC5B}"/>
              </a:ext>
            </a:extLst>
          </p:cNvPr>
          <p:cNvSpPr/>
          <p:nvPr/>
        </p:nvSpPr>
        <p:spPr bwMode="gray">
          <a:xfrm flipV="1">
            <a:off x="6315079" y="2093040"/>
            <a:ext cx="5278484" cy="2635270"/>
          </a:xfrm>
          <a:prstGeom prst="rect">
            <a:avLst/>
          </a:prstGeom>
          <a:noFill/>
          <a:ln w="19050" algn="ctr">
            <a:solidFill>
              <a:schemeClr val="tx1"/>
            </a:solidFill>
            <a:prstDash val="lgDashDot"/>
            <a:miter lim="800000"/>
            <a:headEnd/>
            <a:tailEnd/>
          </a:ln>
        </p:spPr>
        <p:txBody>
          <a:bodyPr wrap="square" lIns="88900" tIns="88900" rIns="88900" bIns="88900" rtlCol="0" anchor="ctr"/>
          <a:lstStyle/>
          <a:p>
            <a:pPr algn="ctr">
              <a:lnSpc>
                <a:spcPct val="106000"/>
              </a:lnSpc>
              <a:buFont typeface="Wingdings 2" pitchFamily="18" charset="2"/>
              <a:buNone/>
            </a:pPr>
            <a:endParaRPr lang="en-US" sz="900"/>
          </a:p>
        </p:txBody>
      </p:sp>
      <p:cxnSp>
        <p:nvCxnSpPr>
          <p:cNvPr id="146" name="Elbow Connector 50">
            <a:extLst>
              <a:ext uri="{FF2B5EF4-FFF2-40B4-BE49-F238E27FC236}">
                <a16:creationId xmlns:a16="http://schemas.microsoft.com/office/drawing/2014/main" id="{5B3D64BC-D809-E363-2D4A-7B3FD138EC66}"/>
              </a:ext>
            </a:extLst>
          </p:cNvPr>
          <p:cNvCxnSpPr>
            <a:cxnSpLocks/>
            <a:stCxn id="136" idx="2"/>
            <a:endCxn id="138" idx="0"/>
          </p:cNvCxnSpPr>
          <p:nvPr/>
        </p:nvCxnSpPr>
        <p:spPr>
          <a:xfrm rot="16200000" flipH="1">
            <a:off x="9091677" y="2354096"/>
            <a:ext cx="545739" cy="1280573"/>
          </a:xfrm>
          <a:prstGeom prst="bentConnector3">
            <a:avLst>
              <a:gd name="adj1" fmla="val 50000"/>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7" name="Rectangle 317">
            <a:extLst>
              <a:ext uri="{FF2B5EF4-FFF2-40B4-BE49-F238E27FC236}">
                <a16:creationId xmlns:a16="http://schemas.microsoft.com/office/drawing/2014/main" id="{76FB50AE-EBAC-45B1-51F0-A995B26C75CD}"/>
              </a:ext>
            </a:extLst>
          </p:cNvPr>
          <p:cNvSpPr>
            <a:spLocks noChangeArrowheads="1"/>
          </p:cNvSpPr>
          <p:nvPr/>
        </p:nvSpPr>
        <p:spPr bwMode="auto">
          <a:xfrm>
            <a:off x="7592666" y="4008474"/>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[Tariff Management &amp; Communication]</a:t>
            </a:r>
          </a:p>
        </p:txBody>
      </p:sp>
      <p:cxnSp>
        <p:nvCxnSpPr>
          <p:cNvPr id="148" name="Connector: Elbow 147">
            <a:extLst>
              <a:ext uri="{FF2B5EF4-FFF2-40B4-BE49-F238E27FC236}">
                <a16:creationId xmlns:a16="http://schemas.microsoft.com/office/drawing/2014/main" id="{6FC5842B-2731-EC0C-9438-B79348DEBB79}"/>
              </a:ext>
            </a:extLst>
          </p:cNvPr>
          <p:cNvCxnSpPr>
            <a:cxnSpLocks/>
            <a:stCxn id="137" idx="2"/>
            <a:endCxn id="147" idx="0"/>
          </p:cNvCxnSpPr>
          <p:nvPr/>
        </p:nvCxnSpPr>
        <p:spPr>
          <a:xfrm rot="16200000" flipH="1">
            <a:off x="7684261" y="3666395"/>
            <a:ext cx="211713" cy="472443"/>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51" name="Rectangle 317">
            <a:extLst>
              <a:ext uri="{FF2B5EF4-FFF2-40B4-BE49-F238E27FC236}">
                <a16:creationId xmlns:a16="http://schemas.microsoft.com/office/drawing/2014/main" id="{8605AA5D-7734-0765-5AA3-D13DF9D51ECA}"/>
              </a:ext>
            </a:extLst>
          </p:cNvPr>
          <p:cNvSpPr>
            <a:spLocks noChangeArrowheads="1"/>
          </p:cNvSpPr>
          <p:nvPr/>
        </p:nvSpPr>
        <p:spPr bwMode="auto">
          <a:xfrm>
            <a:off x="9578881" y="4014635"/>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[Regulatory Advocacy]</a:t>
            </a:r>
          </a:p>
        </p:txBody>
      </p:sp>
      <p:sp>
        <p:nvSpPr>
          <p:cNvPr id="153" name="Rectangle 317">
            <a:extLst>
              <a:ext uri="{FF2B5EF4-FFF2-40B4-BE49-F238E27FC236}">
                <a16:creationId xmlns:a16="http://schemas.microsoft.com/office/drawing/2014/main" id="{BB470445-F8D7-27C0-A1C0-273F8FC199F7}"/>
              </a:ext>
            </a:extLst>
          </p:cNvPr>
          <p:cNvSpPr>
            <a:spLocks noChangeArrowheads="1"/>
          </p:cNvSpPr>
          <p:nvPr/>
        </p:nvSpPr>
        <p:spPr bwMode="auto">
          <a:xfrm>
            <a:off x="10502322" y="4010126"/>
            <a:ext cx="867345" cy="64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0968" tIns="30968" rIns="30968" bIns="30968" rtlCol="0" anchor="ctr"/>
          <a:lstStyle/>
          <a:p>
            <a:pPr algn="ctr"/>
            <a:r>
              <a:rPr lang="en-IN" altLang="en-US" sz="800" dirty="0">
                <a:solidFill>
                  <a:prstClr val="black"/>
                </a:solidFill>
              </a:rPr>
              <a:t>Level 09</a:t>
            </a:r>
          </a:p>
          <a:p>
            <a:pPr algn="ctr"/>
            <a:r>
              <a:rPr lang="en-IN" altLang="en-US" sz="800" dirty="0">
                <a:solidFill>
                  <a:prstClr val="black"/>
                </a:solidFill>
              </a:rPr>
              <a:t>[Dispute Resolution]</a:t>
            </a:r>
          </a:p>
        </p:txBody>
      </p:sp>
      <p:cxnSp>
        <p:nvCxnSpPr>
          <p:cNvPr id="154" name="Connector: Elbow 153">
            <a:extLst>
              <a:ext uri="{FF2B5EF4-FFF2-40B4-BE49-F238E27FC236}">
                <a16:creationId xmlns:a16="http://schemas.microsoft.com/office/drawing/2014/main" id="{7FE19940-1BDC-BB70-4938-E5EEEE9111FC}"/>
              </a:ext>
            </a:extLst>
          </p:cNvPr>
          <p:cNvCxnSpPr>
            <a:cxnSpLocks/>
            <a:stCxn id="138" idx="2"/>
            <a:endCxn id="151" idx="0"/>
          </p:cNvCxnSpPr>
          <p:nvPr/>
        </p:nvCxnSpPr>
        <p:spPr>
          <a:xfrm rot="16200000" flipH="1">
            <a:off x="9887002" y="3889083"/>
            <a:ext cx="243382" cy="7721"/>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2406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4"/>
          <p:cNvSpPr>
            <a:spLocks noGrp="1"/>
          </p:cNvSpPr>
          <p:nvPr>
            <p:ph type="title"/>
          </p:nvPr>
        </p:nvSpPr>
        <p:spPr>
          <a:xfrm>
            <a:off x="501651" y="317501"/>
            <a:ext cx="11188700" cy="698500"/>
          </a:xfrm>
        </p:spPr>
        <p:txBody>
          <a:bodyPr/>
          <a:lstStyle/>
          <a:p>
            <a:r>
              <a:rPr lang="en-US"/>
              <a:t>Regulatory Cell Roles and Responsibilities</a:t>
            </a:r>
            <a:br>
              <a:rPr lang="en-US"/>
            </a:br>
            <a:r>
              <a:rPr lang="en-US" sz="1600" i="1">
                <a:solidFill>
                  <a:srgbClr val="012169">
                    <a:lumMod val="60000"/>
                    <a:lumOff val="40000"/>
                  </a:srgbClr>
                </a:solidFill>
              </a:rPr>
              <a:t>Outcomes: Function wise strengthening and consolidation – Regulatory Cell – Key Responsibilities</a:t>
            </a:r>
            <a:endParaRPr lang="en-IN" sz="1600" i="1">
              <a:solidFill>
                <a:srgbClr val="012169">
                  <a:lumMod val="60000"/>
                  <a:lumOff val="40000"/>
                </a:srgbClr>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547380996"/>
              </p:ext>
            </p:extLst>
          </p:nvPr>
        </p:nvGraphicFramePr>
        <p:xfrm>
          <a:off x="360362" y="1016001"/>
          <a:ext cx="11471275" cy="5602732"/>
        </p:xfrm>
        <a:graphic>
          <a:graphicData uri="http://schemas.openxmlformats.org/drawingml/2006/table">
            <a:tbl>
              <a:tblPr firstRow="1" bandRow="1">
                <a:tableStyleId>{B301B821-A1FF-4177-AEE7-76D212191A09}</a:tableStyleId>
              </a:tblPr>
              <a:tblGrid>
                <a:gridCol w="1163863">
                  <a:extLst>
                    <a:ext uri="{9D8B030D-6E8A-4147-A177-3AD203B41FA5}">
                      <a16:colId xmlns:a16="http://schemas.microsoft.com/office/drawing/2014/main" val="20000"/>
                    </a:ext>
                  </a:extLst>
                </a:gridCol>
                <a:gridCol w="7979229">
                  <a:extLst>
                    <a:ext uri="{9D8B030D-6E8A-4147-A177-3AD203B41FA5}">
                      <a16:colId xmlns:a16="http://schemas.microsoft.com/office/drawing/2014/main" val="20001"/>
                    </a:ext>
                  </a:extLst>
                </a:gridCol>
                <a:gridCol w="2328183">
                  <a:extLst>
                    <a:ext uri="{9D8B030D-6E8A-4147-A177-3AD203B41FA5}">
                      <a16:colId xmlns:a16="http://schemas.microsoft.com/office/drawing/2014/main" val="636649308"/>
                    </a:ext>
                  </a:extLst>
                </a:gridCol>
              </a:tblGrid>
              <a:tr h="399052">
                <a:tc>
                  <a:txBody>
                    <a:bodyPr/>
                    <a:lstStyle/>
                    <a:p>
                      <a:pPr algn="ctr"/>
                      <a:r>
                        <a:rPr lang="en-US" sz="1200"/>
                        <a:t>Functions</a:t>
                      </a:r>
                    </a:p>
                  </a:txBody>
                  <a:tcPr anchor="ctr"/>
                </a:tc>
                <a:tc>
                  <a:txBody>
                    <a:bodyPr/>
                    <a:lstStyle/>
                    <a:p>
                      <a:pPr algn="ctr"/>
                      <a:r>
                        <a:rPr lang="en-US" sz="1200"/>
                        <a:t>Key Responsibilities</a:t>
                      </a:r>
                    </a:p>
                  </a:txBody>
                  <a:tcPr anchor="ctr"/>
                </a:tc>
                <a:tc>
                  <a:txBody>
                    <a:bodyPr/>
                    <a:lstStyle/>
                    <a:p>
                      <a:pPr algn="ctr"/>
                      <a:r>
                        <a:rPr lang="en-US" sz="1200"/>
                        <a:t>Competencies</a:t>
                      </a:r>
                    </a:p>
                  </a:txBody>
                  <a:tcPr anchor="ctr"/>
                </a:tc>
                <a:extLst>
                  <a:ext uri="{0D108BD9-81ED-4DB2-BD59-A6C34878D82A}">
                    <a16:rowId xmlns:a16="http://schemas.microsoft.com/office/drawing/2014/main" val="10000"/>
                  </a:ext>
                </a:extLst>
              </a:tr>
              <a:tr h="957725">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Head (Regulatory Cell)</a:t>
                      </a:r>
                    </a:p>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Level 11</a:t>
                      </a:r>
                    </a:p>
                    <a:p>
                      <a:pPr lvl="0" algn="ctr"/>
                      <a:endParaRPr lang="en-US" sz="1100" kern="1200" dirty="0">
                        <a:solidFill>
                          <a:schemeClr val="dk1"/>
                        </a:solidFill>
                        <a:effectLst/>
                        <a:latin typeface="+mn-lt"/>
                        <a:ea typeface="+mn-ea"/>
                        <a:cs typeface="+mn-cs"/>
                      </a:endParaRPr>
                    </a:p>
                    <a:p>
                      <a:pPr lvl="0" algn="ctr"/>
                      <a:endParaRPr lang="en-US" sz="1100" kern="1200" dirty="0">
                        <a:solidFill>
                          <a:schemeClr val="dk1"/>
                        </a:solidFill>
                        <a:effectLst/>
                        <a:latin typeface="+mn-lt"/>
                        <a:ea typeface="+mn-ea"/>
                        <a:cs typeface="+mn-cs"/>
                      </a:endParaRPr>
                    </a:p>
                  </a:txBody>
                  <a:tcPr anchor="ctr">
                    <a:solidFill>
                      <a:srgbClr val="FFFFFF"/>
                    </a:solidFill>
                  </a:tcPr>
                </a:tc>
                <a:tc>
                  <a:txBody>
                    <a:bodyPr/>
                    <a:lstStyle/>
                    <a:p>
                      <a:pPr marL="285750" lvl="0" indent="-285750" algn="just">
                        <a:buFont typeface="Arial" panose="020B0604020202020204" pitchFamily="34" charset="0"/>
                        <a:buChar char="•"/>
                      </a:pPr>
                      <a:r>
                        <a:rPr lang="en-US" sz="1100" kern="1200" dirty="0">
                          <a:solidFill>
                            <a:schemeClr val="dk1"/>
                          </a:solidFill>
                          <a:effectLst/>
                          <a:latin typeface="+mn-lt"/>
                          <a:ea typeface="+mn-ea"/>
                          <a:cs typeface="+mn-cs"/>
                        </a:rPr>
                        <a:t>Manage</a:t>
                      </a:r>
                      <a:r>
                        <a:rPr lang="en-US" sz="1100" kern="1200" baseline="0" dirty="0">
                          <a:solidFill>
                            <a:schemeClr val="dk1"/>
                          </a:solidFill>
                          <a:effectLst/>
                          <a:latin typeface="+mn-lt"/>
                          <a:ea typeface="+mn-ea"/>
                          <a:cs typeface="+mn-cs"/>
                        </a:rPr>
                        <a:t> the external eco-system on behalf of NEA including liaisoning with government agencies, regulators, financial institutions etc.</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dirty="0">
                          <a:solidFill>
                            <a:schemeClr val="dk1"/>
                          </a:solidFill>
                          <a:effectLst/>
                          <a:latin typeface="+mn-lt"/>
                          <a:ea typeface="+mn-ea"/>
                          <a:cs typeface="+mn-cs"/>
                        </a:rPr>
                        <a:t>Assist top management of NEA in conducting monthly performance review internal meeting</a:t>
                      </a:r>
                      <a:r>
                        <a:rPr lang="en-GB" sz="1100" kern="1200" baseline="0" dirty="0">
                          <a:solidFill>
                            <a:schemeClr val="dk1"/>
                          </a:solidFill>
                          <a:effectLst/>
                          <a:latin typeface="+mn-lt"/>
                          <a:ea typeface="+mn-ea"/>
                          <a:cs typeface="+mn-cs"/>
                        </a:rPr>
                        <a:t> and keep a watch over progress of regulatory affairs at DCS levels.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baseline="0" dirty="0">
                          <a:solidFill>
                            <a:schemeClr val="dk1"/>
                          </a:solidFill>
                          <a:effectLst/>
                          <a:latin typeface="+mn-lt"/>
                          <a:ea typeface="+mn-ea"/>
                          <a:cs typeface="+mn-cs"/>
                        </a:rPr>
                        <a:t>Advise &amp; Appraise to the top management of NEA regarding upcoming/new Govt. </a:t>
                      </a:r>
                      <a:r>
                        <a:rPr lang="en-GB" sz="1100" kern="1200" baseline="0" dirty="0">
                          <a:solidFill>
                            <a:schemeClr val="dk1"/>
                          </a:solidFill>
                          <a:effectLst/>
                          <a:latin typeface="+mn-lt"/>
                          <a:ea typeface="+mn-ea"/>
                          <a:cs typeface="+mn-cs"/>
                        </a:rPr>
                        <a:t>schemes and policies and possible interventions for regulatory compliance and seamless tariff determination.</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dk1"/>
                          </a:solidFill>
                          <a:effectLst/>
                          <a:latin typeface="+mn-lt"/>
                          <a:ea typeface="+mn-ea"/>
                          <a:cs typeface="+mn-cs"/>
                        </a:rPr>
                        <a:t>Overall supervision and monitoring of the tariff filing process including filing of MYT Petition, ARR &amp; Tariff petition, APR Petition, True-up petition, Business Plan in front of the Electricity Regulatory Commission, Nepal.</a:t>
                      </a:r>
                    </a:p>
                  </a:txBody>
                  <a:tcPr>
                    <a:solidFill>
                      <a:srgbClr val="FFFFFF"/>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Engineering</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Legal</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txBody>
                  <a:tcPr>
                    <a:solidFill>
                      <a:srgbClr val="FFFFFF"/>
                    </a:solidFill>
                  </a:tcPr>
                </a:tc>
                <a:extLst>
                  <a:ext uri="{0D108BD9-81ED-4DB2-BD59-A6C34878D82A}">
                    <a16:rowId xmlns:a16="http://schemas.microsoft.com/office/drawing/2014/main" val="10001"/>
                  </a:ext>
                </a:extLst>
              </a:tr>
              <a:tr h="1835640">
                <a:tc>
                  <a:txBody>
                    <a:bodyPr/>
                    <a:lstStyle/>
                    <a:p>
                      <a:pPr lvl="0" algn="ctr"/>
                      <a:r>
                        <a:rPr lang="en-US" sz="1100" kern="1200" dirty="0">
                          <a:effectLst/>
                        </a:rPr>
                        <a:t>Level 10 (Tariff Management and Communications)</a:t>
                      </a:r>
                      <a:endParaRPr lang="en-US" sz="1100" kern="1200" dirty="0">
                        <a:solidFill>
                          <a:schemeClr val="dk1"/>
                        </a:solidFill>
                        <a:effectLst/>
                        <a:latin typeface="+mn-lt"/>
                        <a:ea typeface="+mn-ea"/>
                        <a:cs typeface="+mn-cs"/>
                      </a:endParaRPr>
                    </a:p>
                  </a:txBody>
                  <a:tcPr anchor="ctr">
                    <a:solidFill>
                      <a:srgbClr val="EDF4E8"/>
                    </a:solidFill>
                  </a:tcP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dk1"/>
                          </a:solidFill>
                          <a:effectLst/>
                          <a:latin typeface="+mn-lt"/>
                          <a:ea typeface="+mn-ea"/>
                          <a:cs typeface="+mn-cs"/>
                        </a:rPr>
                        <a:t>Filing of MYT Petition, ARR &amp; Tariff petition, APR Petition, True-up petition, Business Plan in front of the Electricity Regulatory Commission, Nepal.</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solidFill>
                            <a:schemeClr val="dk1"/>
                          </a:solidFill>
                          <a:effectLst/>
                          <a:latin typeface="+mn-lt"/>
                          <a:ea typeface="+mn-ea"/>
                          <a:cs typeface="+mn-cs"/>
                        </a:rPr>
                        <a:t>Attend Public Hearings for related matters and supervision of preparation of responses and replies to the objections/suggestions of the objectors and queries of ERC during the Public Hearings.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baseline="0" dirty="0">
                          <a:solidFill>
                            <a:schemeClr val="dk1"/>
                          </a:solidFill>
                          <a:effectLst/>
                          <a:latin typeface="+mn-lt"/>
                          <a:ea typeface="+mn-ea"/>
                          <a:cs typeface="+mn-cs"/>
                        </a:rPr>
                        <a:t>Providing guidance with respect to capacity building of discom employees with respect to all tariff related matters.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Monitoring data preparation and data compilation for various central and provincial level forums and assisting other departments of NEA in matters related to regulatory aspects.</a:t>
                      </a:r>
                      <a:endParaRPr lang="en-US" sz="1100" kern="1200" baseline="0" dirty="0">
                        <a:solidFill>
                          <a:schemeClr val="dk1"/>
                        </a:solidFill>
                        <a:effectLst/>
                        <a:latin typeface="+mn-lt"/>
                        <a:ea typeface="+mn-ea"/>
                        <a:cs typeface="+mn-cs"/>
                      </a:endParaRP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Assistance in correspondences with Government and other statutory bodies related to ongoing schemes and policy matters related to Regulatory Department.</a:t>
                      </a:r>
                    </a:p>
                  </a:txBody>
                  <a:tcPr>
                    <a:solidFill>
                      <a:srgbClr val="EDF4E8"/>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Engineering</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100" kern="1200" baseline="0" dirty="0">
                        <a:solidFill>
                          <a:schemeClr val="dk1"/>
                        </a:solidFill>
                        <a:effectLst/>
                        <a:latin typeface="+mn-lt"/>
                        <a:ea typeface="+mn-ea"/>
                        <a:cs typeface="+mn-cs"/>
                      </a:endParaRP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kern="1200" dirty="0">
                        <a:effectLst/>
                      </a:endParaRPr>
                    </a:p>
                  </a:txBody>
                  <a:tcPr>
                    <a:solidFill>
                      <a:srgbClr val="EDF4E8"/>
                    </a:solidFill>
                  </a:tcPr>
                </a:tc>
                <a:extLst>
                  <a:ext uri="{0D108BD9-81ED-4DB2-BD59-A6C34878D82A}">
                    <a16:rowId xmlns:a16="http://schemas.microsoft.com/office/drawing/2014/main" val="10002"/>
                  </a:ext>
                </a:extLst>
              </a:tr>
              <a:tr h="1503316">
                <a:tc>
                  <a:txBody>
                    <a:bodyPr/>
                    <a:lstStyle/>
                    <a:p>
                      <a:pPr lvl="0" algn="ctr"/>
                      <a:r>
                        <a:rPr lang="en-US" sz="1100" kern="1200" dirty="0">
                          <a:effectLst/>
                        </a:rPr>
                        <a:t>Level 10 (Regulatory Compliance, Advocacy and Dispute Resolution)</a:t>
                      </a:r>
                      <a:endParaRPr lang="en-US" sz="1100" kern="1200" dirty="0">
                        <a:solidFill>
                          <a:schemeClr val="dk1"/>
                        </a:solidFill>
                        <a:effectLst/>
                        <a:latin typeface="+mn-lt"/>
                        <a:ea typeface="+mn-ea"/>
                        <a:cs typeface="+mn-cs"/>
                      </a:endParaRPr>
                    </a:p>
                  </a:txBody>
                  <a:tcPr anchor="ctr">
                    <a:solidFill>
                      <a:srgbClr val="FFFFFF"/>
                    </a:solidFill>
                  </a:tcP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Preparation of responses and replies towards public grievances raised in ERC and attend public hearings for the same.</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Preparation of compliances of directives, data gaps according to the ERC orders.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Overall supervision of preparation of petitions on various matters such as Open Access, Amendment in regulations, etc. for NEA as per requirement.</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baseline="0" dirty="0">
                          <a:solidFill>
                            <a:schemeClr val="dk1"/>
                          </a:solidFill>
                          <a:effectLst/>
                          <a:latin typeface="+mn-lt"/>
                          <a:ea typeface="+mn-ea"/>
                          <a:cs typeface="+mn-cs"/>
                        </a:rPr>
                        <a:t>Undertaking critical analysis of new policies released by Central/Provincial Government bodies and providing key decision pointers related to Regulatory department</a:t>
                      </a:r>
                      <a:endParaRPr lang="en-US" altLang="en-US" sz="1100" kern="1200" dirty="0">
                        <a:solidFill>
                          <a:schemeClr val="dk1"/>
                        </a:solidFill>
                        <a:effectLst/>
                        <a:latin typeface="+mn-lt"/>
                        <a:ea typeface="+mn-ea"/>
                        <a:cs typeface="+mn-cs"/>
                      </a:endParaRP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Guidance for Review of existing/ new power purchase agreements.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Overseeing Impact Assessment of various orders of regulatory commissions on business environment of NEA.</a:t>
                      </a:r>
                    </a:p>
                  </a:txBody>
                  <a:tcPr>
                    <a:solidFill>
                      <a:srgbClr val="FFFFFF"/>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Legal</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txBody>
                  <a:tcPr>
                    <a:solidFill>
                      <a:srgbClr val="FFFFFF"/>
                    </a:solidFill>
                  </a:tcPr>
                </a:tc>
                <a:extLst>
                  <a:ext uri="{0D108BD9-81ED-4DB2-BD59-A6C34878D82A}">
                    <a16:rowId xmlns:a16="http://schemas.microsoft.com/office/drawing/2014/main" val="177862791"/>
                  </a:ext>
                </a:extLst>
              </a:tr>
            </a:tbl>
          </a:graphicData>
        </a:graphic>
      </p:graphicFrame>
    </p:spTree>
    <p:extLst>
      <p:ext uri="{BB962C8B-B14F-4D97-AF65-F5344CB8AC3E}">
        <p14:creationId xmlns:p14="http://schemas.microsoft.com/office/powerpoint/2010/main" val="8158517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4"/>
          <p:cNvSpPr>
            <a:spLocks noGrp="1"/>
          </p:cNvSpPr>
          <p:nvPr>
            <p:ph type="title"/>
          </p:nvPr>
        </p:nvSpPr>
        <p:spPr>
          <a:xfrm>
            <a:off x="501651" y="317501"/>
            <a:ext cx="11188700" cy="698500"/>
          </a:xfrm>
        </p:spPr>
        <p:txBody>
          <a:bodyPr/>
          <a:lstStyle/>
          <a:p>
            <a:r>
              <a:rPr lang="en-US"/>
              <a:t>Recommendations : Regulatory Cell</a:t>
            </a:r>
            <a:br>
              <a:rPr lang="en-US"/>
            </a:br>
            <a:r>
              <a:rPr lang="en-US" sz="1600" i="1">
                <a:solidFill>
                  <a:srgbClr val="012169">
                    <a:lumMod val="60000"/>
                    <a:lumOff val="40000"/>
                  </a:srgbClr>
                </a:solidFill>
              </a:rPr>
              <a:t>Outcomes: Function wise strengthening and consolidation – Regulatory Cell – Key Responsibilities</a:t>
            </a:r>
            <a:endParaRPr lang="en-IN" sz="1600" i="1">
              <a:solidFill>
                <a:srgbClr val="012169">
                  <a:lumMod val="60000"/>
                  <a:lumOff val="40000"/>
                </a:srgbClr>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759543155"/>
              </p:ext>
            </p:extLst>
          </p:nvPr>
        </p:nvGraphicFramePr>
        <p:xfrm>
          <a:off x="360362" y="1016003"/>
          <a:ext cx="11471275" cy="5468473"/>
        </p:xfrm>
        <a:graphic>
          <a:graphicData uri="http://schemas.openxmlformats.org/drawingml/2006/table">
            <a:tbl>
              <a:tblPr firstRow="1" bandRow="1">
                <a:tableStyleId>{B301B821-A1FF-4177-AEE7-76D212191A09}</a:tableStyleId>
              </a:tblPr>
              <a:tblGrid>
                <a:gridCol w="1229178">
                  <a:extLst>
                    <a:ext uri="{9D8B030D-6E8A-4147-A177-3AD203B41FA5}">
                      <a16:colId xmlns:a16="http://schemas.microsoft.com/office/drawing/2014/main" val="20000"/>
                    </a:ext>
                  </a:extLst>
                </a:gridCol>
                <a:gridCol w="7913914">
                  <a:extLst>
                    <a:ext uri="{9D8B030D-6E8A-4147-A177-3AD203B41FA5}">
                      <a16:colId xmlns:a16="http://schemas.microsoft.com/office/drawing/2014/main" val="20001"/>
                    </a:ext>
                  </a:extLst>
                </a:gridCol>
                <a:gridCol w="2328183">
                  <a:extLst>
                    <a:ext uri="{9D8B030D-6E8A-4147-A177-3AD203B41FA5}">
                      <a16:colId xmlns:a16="http://schemas.microsoft.com/office/drawing/2014/main" val="636649308"/>
                    </a:ext>
                  </a:extLst>
                </a:gridCol>
              </a:tblGrid>
              <a:tr h="332593">
                <a:tc>
                  <a:txBody>
                    <a:bodyPr/>
                    <a:lstStyle/>
                    <a:p>
                      <a:pPr algn="ctr"/>
                      <a:r>
                        <a:rPr lang="en-US" sz="1200"/>
                        <a:t>Functions</a:t>
                      </a:r>
                    </a:p>
                  </a:txBody>
                  <a:tcPr anchor="ctr"/>
                </a:tc>
                <a:tc>
                  <a:txBody>
                    <a:bodyPr/>
                    <a:lstStyle/>
                    <a:p>
                      <a:pPr algn="ctr"/>
                      <a:r>
                        <a:rPr lang="en-US" sz="1200"/>
                        <a:t>Key Responsibilities</a:t>
                      </a:r>
                    </a:p>
                  </a:txBody>
                  <a:tcPr anchor="ctr"/>
                </a:tc>
                <a:tc>
                  <a:txBody>
                    <a:bodyPr/>
                    <a:lstStyle/>
                    <a:p>
                      <a:pPr algn="ctr"/>
                      <a:r>
                        <a:rPr lang="en-US" sz="1200"/>
                        <a:t>Competencies</a:t>
                      </a:r>
                    </a:p>
                  </a:txBody>
                  <a:tcPr anchor="ctr"/>
                </a:tc>
                <a:extLst>
                  <a:ext uri="{0D108BD9-81ED-4DB2-BD59-A6C34878D82A}">
                    <a16:rowId xmlns:a16="http://schemas.microsoft.com/office/drawing/2014/main" val="10000"/>
                  </a:ext>
                </a:extLst>
              </a:tr>
              <a:tr h="1856068">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Level 09</a:t>
                      </a:r>
                    </a:p>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effectLst/>
                          <a:latin typeface="+mn-lt"/>
                          <a:ea typeface="+mn-ea"/>
                          <a:cs typeface="+mn-cs"/>
                        </a:rPr>
                        <a:t>[Tariff Management and Regulatory Advocacy]</a:t>
                      </a:r>
                    </a:p>
                    <a:p>
                      <a:pPr lvl="0" algn="ctr"/>
                      <a:endParaRPr lang="en-US" sz="1100" kern="1200" dirty="0">
                        <a:solidFill>
                          <a:schemeClr val="dk1"/>
                        </a:solidFill>
                        <a:effectLst/>
                        <a:latin typeface="+mn-lt"/>
                        <a:ea typeface="+mn-ea"/>
                        <a:cs typeface="+mn-cs"/>
                      </a:endParaRPr>
                    </a:p>
                  </a:txBody>
                  <a:tcPr anchor="ctr"/>
                </a:tc>
                <a:tc>
                  <a:txBody>
                    <a:bodyPr/>
                    <a:lstStyle/>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Overall coordination and assistance for data collection, data analysis, data validation for preparation of MYT Petition, ARR &amp; Tariff petition, APR Petition, True-up petition &amp; Business Plan for Generation Function of NEA and providing support in approval process.</a:t>
                      </a:r>
                    </a:p>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Attend Public Hearings for related matters and preparation of responses and replies to the objections/suggestions of the objectors and queries of ERC during the Public Hearings.</a:t>
                      </a:r>
                    </a:p>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Assistance to the senior management officials in helping them in decision making backed by data on various aspect related to regulatory matters.</a:t>
                      </a:r>
                    </a:p>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Detailed analysis of the tariff orders issued by ERC from time to time.</a:t>
                      </a:r>
                    </a:p>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Review and benchmarking of existing ERC regulations and providing suggestions for changes in the same as per requirement.</a:t>
                      </a:r>
                    </a:p>
                    <a:p>
                      <a:pPr marL="285750" lvl="0" indent="-285750" algn="just">
                        <a:buFont typeface="Arial" panose="020B0604020202020204" pitchFamily="34" charset="0"/>
                        <a:buChar char="•"/>
                      </a:pPr>
                      <a:r>
                        <a:rPr lang="en-US" sz="1100" kern="1200" baseline="0" dirty="0">
                          <a:solidFill>
                            <a:schemeClr val="dk1"/>
                          </a:solidFill>
                          <a:effectLst/>
                          <a:latin typeface="+mn-lt"/>
                          <a:ea typeface="+mn-ea"/>
                          <a:cs typeface="+mn-cs"/>
                        </a:rPr>
                        <a:t>Undertaking critical analysis of new policies released by Central/Provincial Government bodies and providing key decision pointers related to Regulatory department.</a:t>
                      </a:r>
                    </a:p>
                  </a:txBody>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Engineering</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100" kern="1200" baseline="0" dirty="0">
                        <a:solidFill>
                          <a:schemeClr val="dk1"/>
                        </a:solidFill>
                        <a:effectLst/>
                        <a:latin typeface="+mn-lt"/>
                        <a:ea typeface="+mn-ea"/>
                        <a:cs typeface="+mn-cs"/>
                      </a:endParaRPr>
                    </a:p>
                  </a:txBody>
                  <a:tcPr/>
                </a:tc>
                <a:extLst>
                  <a:ext uri="{0D108BD9-81ED-4DB2-BD59-A6C34878D82A}">
                    <a16:rowId xmlns:a16="http://schemas.microsoft.com/office/drawing/2014/main" val="10001"/>
                  </a:ext>
                </a:extLst>
              </a:tr>
              <a:tr h="1264279">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Level 09</a:t>
                      </a:r>
                    </a:p>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[Regulatory Compliance]</a:t>
                      </a:r>
                    </a:p>
                  </a:txBody>
                  <a:tcPr anchor="ct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Attend Public Hearings for related matters and preparation of responses and replies to the objections/suggestions of the objectors and queries of ERC during the Public Hearings.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Review of existing/ new power purchase agreements.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Preparation of compliances of directives, data gaps according to the ERC orders.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Review the existing regulatory and commercial processes and suggest improvement measures to be taken to improve process efficiency.</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Preparation for presentation of NEA’s views in reference to the petitions filed by or against other stakeholders with the ERC, Nepal</a:t>
                      </a:r>
                    </a:p>
                  </a:txBody>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Legal</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txBody>
                  <a:tcPr/>
                </a:tc>
                <a:extLst>
                  <a:ext uri="{0D108BD9-81ED-4DB2-BD59-A6C34878D82A}">
                    <a16:rowId xmlns:a16="http://schemas.microsoft.com/office/drawing/2014/main" val="10002"/>
                  </a:ext>
                </a:extLst>
              </a:tr>
              <a:tr h="1264279">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Level 09</a:t>
                      </a:r>
                    </a:p>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[Communication]</a:t>
                      </a:r>
                    </a:p>
                    <a:p>
                      <a:pPr marL="0" marR="0" lvl="0" indent="0" algn="ctr" defTabSz="914417" rtl="0" eaLnBrk="1" fontAlgn="auto" latinLnBrk="0" hangingPunct="1">
                        <a:lnSpc>
                          <a:spcPct val="100000"/>
                        </a:lnSpc>
                        <a:spcBef>
                          <a:spcPts val="0"/>
                        </a:spcBef>
                        <a:spcAft>
                          <a:spcPts val="0"/>
                        </a:spcAft>
                        <a:buClrTx/>
                        <a:buSzTx/>
                        <a:buFontTx/>
                        <a:buNone/>
                        <a:tabLst/>
                        <a:defRPr/>
                      </a:pPr>
                      <a:endParaRPr lang="en-US" sz="1100" kern="1200" dirty="0">
                        <a:effectLst/>
                      </a:endParaRPr>
                    </a:p>
                  </a:txBody>
                  <a:tcPr anchor="ct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Coordination with Finance and Accounts Department for audited accounts and other data.</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Coordination with Business Functions for technical data with respect to Power Purchase, Number of Consumers, Energy Sales, New Projects etc.</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Data collection from various departments and validation of the data in coordination with the concerned departments for preparation of Capital Investment Plan and Financing Plan.</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1200" dirty="0">
                          <a:effectLst/>
                        </a:rPr>
                        <a:t>Attending Public Hearings for related matters and preparation of responses and replies to the objections/suggestions of the objectors and queries of ERC during the Public Hearings.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Assistance in correspondences with Government and other statutory bodies related to ongoing schemes and policy matters related to Regulatory Department.</a:t>
                      </a:r>
                      <a:endParaRPr lang="en-US" sz="1100" kern="1200" dirty="0">
                        <a:effectLst/>
                      </a:endParaRPr>
                    </a:p>
                  </a:txBody>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Finance &amp; Accounts</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Legal</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dirty="0">
                          <a:solidFill>
                            <a:schemeClr val="dk1"/>
                          </a:solidFill>
                          <a:effectLst/>
                          <a:latin typeface="+mn-lt"/>
                          <a:ea typeface="+mn-ea"/>
                          <a:cs typeface="+mn-cs"/>
                        </a:rPr>
                        <a:t>Business Management</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100" kern="1200" baseline="0" dirty="0">
                        <a:solidFill>
                          <a:schemeClr val="dk1"/>
                        </a:solidFill>
                        <a:effectLst/>
                        <a:latin typeface="+mn-lt"/>
                        <a:ea typeface="+mn-ea"/>
                        <a:cs typeface="+mn-cs"/>
                      </a:endParaRPr>
                    </a:p>
                  </a:txBody>
                  <a:tcPr/>
                </a:tc>
                <a:extLst>
                  <a:ext uri="{0D108BD9-81ED-4DB2-BD59-A6C34878D82A}">
                    <a16:rowId xmlns:a16="http://schemas.microsoft.com/office/drawing/2014/main" val="1196185291"/>
                  </a:ext>
                </a:extLst>
              </a:tr>
            </a:tbl>
          </a:graphicData>
        </a:graphic>
      </p:graphicFrame>
    </p:spTree>
    <p:extLst>
      <p:ext uri="{BB962C8B-B14F-4D97-AF65-F5344CB8AC3E}">
        <p14:creationId xmlns:p14="http://schemas.microsoft.com/office/powerpoint/2010/main" val="306197804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4"/>
          <p:cNvSpPr>
            <a:spLocks noGrp="1"/>
          </p:cNvSpPr>
          <p:nvPr>
            <p:ph type="title"/>
          </p:nvPr>
        </p:nvSpPr>
        <p:spPr>
          <a:xfrm>
            <a:off x="501651" y="317501"/>
            <a:ext cx="11188700" cy="698500"/>
          </a:xfrm>
        </p:spPr>
        <p:txBody>
          <a:bodyPr/>
          <a:lstStyle/>
          <a:p>
            <a:r>
              <a:rPr lang="en-US"/>
              <a:t>Recommendations : Regulatory Cell</a:t>
            </a:r>
            <a:br>
              <a:rPr lang="en-US"/>
            </a:br>
            <a:r>
              <a:rPr lang="en-US" sz="1600" i="1">
                <a:solidFill>
                  <a:srgbClr val="012169">
                    <a:lumMod val="60000"/>
                    <a:lumOff val="40000"/>
                  </a:srgbClr>
                </a:solidFill>
              </a:rPr>
              <a:t>Outcomes: Function wise strengthening and consolidation – Regulatory Cell – Key Responsibilities</a:t>
            </a:r>
            <a:endParaRPr lang="en-IN" sz="1600" i="1">
              <a:solidFill>
                <a:srgbClr val="012169">
                  <a:lumMod val="60000"/>
                  <a:lumOff val="40000"/>
                </a:srgbClr>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665373534"/>
              </p:ext>
            </p:extLst>
          </p:nvPr>
        </p:nvGraphicFramePr>
        <p:xfrm>
          <a:off x="360362" y="1016003"/>
          <a:ext cx="11471275" cy="2152499"/>
        </p:xfrm>
        <a:graphic>
          <a:graphicData uri="http://schemas.openxmlformats.org/drawingml/2006/table">
            <a:tbl>
              <a:tblPr firstRow="1" bandRow="1">
                <a:tableStyleId>{B301B821-A1FF-4177-AEE7-76D212191A09}</a:tableStyleId>
              </a:tblPr>
              <a:tblGrid>
                <a:gridCol w="1229178">
                  <a:extLst>
                    <a:ext uri="{9D8B030D-6E8A-4147-A177-3AD203B41FA5}">
                      <a16:colId xmlns:a16="http://schemas.microsoft.com/office/drawing/2014/main" val="20000"/>
                    </a:ext>
                  </a:extLst>
                </a:gridCol>
                <a:gridCol w="7913914">
                  <a:extLst>
                    <a:ext uri="{9D8B030D-6E8A-4147-A177-3AD203B41FA5}">
                      <a16:colId xmlns:a16="http://schemas.microsoft.com/office/drawing/2014/main" val="20001"/>
                    </a:ext>
                  </a:extLst>
                </a:gridCol>
                <a:gridCol w="2328183">
                  <a:extLst>
                    <a:ext uri="{9D8B030D-6E8A-4147-A177-3AD203B41FA5}">
                      <a16:colId xmlns:a16="http://schemas.microsoft.com/office/drawing/2014/main" val="636649308"/>
                    </a:ext>
                  </a:extLst>
                </a:gridCol>
              </a:tblGrid>
              <a:tr h="275207">
                <a:tc>
                  <a:txBody>
                    <a:bodyPr/>
                    <a:lstStyle/>
                    <a:p>
                      <a:pPr algn="ctr"/>
                      <a:r>
                        <a:rPr lang="en-US" sz="1200"/>
                        <a:t>Functions</a:t>
                      </a:r>
                    </a:p>
                  </a:txBody>
                  <a:tcPr anchor="ctr"/>
                </a:tc>
                <a:tc>
                  <a:txBody>
                    <a:bodyPr/>
                    <a:lstStyle/>
                    <a:p>
                      <a:pPr algn="ctr"/>
                      <a:r>
                        <a:rPr lang="en-US" sz="1200"/>
                        <a:t>Key Responsibilities</a:t>
                      </a:r>
                    </a:p>
                  </a:txBody>
                  <a:tcPr anchor="ctr"/>
                </a:tc>
                <a:tc>
                  <a:txBody>
                    <a:bodyPr/>
                    <a:lstStyle/>
                    <a:p>
                      <a:pPr algn="ctr"/>
                      <a:r>
                        <a:rPr lang="en-US" sz="1200"/>
                        <a:t>Competencies</a:t>
                      </a:r>
                    </a:p>
                  </a:txBody>
                  <a:tcPr anchor="ctr"/>
                </a:tc>
                <a:extLst>
                  <a:ext uri="{0D108BD9-81ED-4DB2-BD59-A6C34878D82A}">
                    <a16:rowId xmlns:a16="http://schemas.microsoft.com/office/drawing/2014/main" val="10000"/>
                  </a:ext>
                </a:extLst>
              </a:tr>
              <a:tr h="1877292">
                <a:tc>
                  <a:txBody>
                    <a:bodyPr/>
                    <a:lstStyle/>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Level 09</a:t>
                      </a:r>
                    </a:p>
                    <a:p>
                      <a:pPr marL="0" marR="0" lvl="0" indent="0" algn="ctr" defTabSz="914417" rtl="0" eaLnBrk="1" fontAlgn="auto" latinLnBrk="0" hangingPunct="1">
                        <a:lnSpc>
                          <a:spcPct val="100000"/>
                        </a:lnSpc>
                        <a:spcBef>
                          <a:spcPts val="0"/>
                        </a:spcBef>
                        <a:spcAft>
                          <a:spcPts val="0"/>
                        </a:spcAft>
                        <a:buClrTx/>
                        <a:buSzTx/>
                        <a:buFontTx/>
                        <a:buNone/>
                        <a:tabLst/>
                        <a:defRPr/>
                      </a:pPr>
                      <a:r>
                        <a:rPr lang="en-US" sz="1100" kern="1200" dirty="0">
                          <a:effectLst/>
                        </a:rPr>
                        <a:t>[Dispute Resolution]</a:t>
                      </a:r>
                    </a:p>
                  </a:txBody>
                  <a:tcPr anchor="ctr">
                    <a:solidFill>
                      <a:srgbClr val="FFFFFF"/>
                    </a:solidFill>
                  </a:tcPr>
                </a:tc>
                <a:tc>
                  <a:txBody>
                    <a:bodyPr/>
                    <a:lstStyle/>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Preparation of responses and replies towards public grievances raised in ERC and attend public hearings for the same.</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Impact assessment of various orders of regulatory commissions, amendments in Act on business environment of NEA.</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Assistance in preparing comments/objections/suggestions/recommendations to NEA on the draft Regulations notified by ERC.</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Preparation of compliances of directives, data gaps according to the ERC orders</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Provide assistance in timely implementation of rules and regulations imposed by ERC.</a:t>
                      </a:r>
                    </a:p>
                    <a:p>
                      <a:pPr marL="285750" marR="0" lvl="0" indent="-285750" algn="just"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Assistance in responding to litigation related matters like preparation of Statement of Facts, case statements etc.</a:t>
                      </a:r>
                    </a:p>
                  </a:txBody>
                  <a:tcPr>
                    <a:solidFill>
                      <a:srgbClr val="FFFFFF"/>
                    </a:solidFill>
                  </a:tcPr>
                </a:tc>
                <a:tc>
                  <a:txBody>
                    <a:bodyPr/>
                    <a:lstStyle/>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Legal</a:t>
                      </a:r>
                    </a:p>
                    <a:p>
                      <a:pPr marL="285750" marR="0" lvl="0" indent="-285750" algn="l" defTabSz="91441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en-US" sz="1100" kern="1200" dirty="0">
                          <a:solidFill>
                            <a:schemeClr val="dk1"/>
                          </a:solidFill>
                          <a:effectLst/>
                          <a:latin typeface="+mn-lt"/>
                          <a:ea typeface="+mn-ea"/>
                          <a:cs typeface="+mn-cs"/>
                        </a:rPr>
                        <a:t>Business Administration</a:t>
                      </a:r>
                    </a:p>
                  </a:txBody>
                  <a:tcPr>
                    <a:solidFill>
                      <a:srgbClr val="FFFFFF"/>
                    </a:solidFill>
                  </a:tcPr>
                </a:tc>
                <a:extLst>
                  <a:ext uri="{0D108BD9-81ED-4DB2-BD59-A6C34878D82A}">
                    <a16:rowId xmlns:a16="http://schemas.microsoft.com/office/drawing/2014/main" val="177862791"/>
                  </a:ext>
                </a:extLst>
              </a:tr>
            </a:tbl>
          </a:graphicData>
        </a:graphic>
      </p:graphicFrame>
    </p:spTree>
    <p:extLst>
      <p:ext uri="{BB962C8B-B14F-4D97-AF65-F5344CB8AC3E}">
        <p14:creationId xmlns:p14="http://schemas.microsoft.com/office/powerpoint/2010/main" val="25239204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2579"/>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8" y="2579"/>
                        <a:ext cx="1587" cy="1587"/>
                      </a:xfrm>
                      <a:prstGeom prst="rect">
                        <a:avLst/>
                      </a:prstGeom>
                    </p:spPr>
                  </p:pic>
                </p:oleObj>
              </mc:Fallback>
            </mc:AlternateContent>
          </a:graphicData>
        </a:graphic>
      </p:graphicFrame>
      <p:sp>
        <p:nvSpPr>
          <p:cNvPr id="5" name="Rectangle 4" hidden="1"/>
          <p:cNvSpPr/>
          <p:nvPr>
            <p:custDataLst>
              <p:tags r:id="rId2"/>
            </p:custDataLst>
          </p:nvPr>
        </p:nvSpPr>
        <p:spPr>
          <a:xfrm>
            <a:off x="1" y="992"/>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1765" b="1" dirty="0">
              <a:latin typeface="Verdana" panose="020B0604030504040204" pitchFamily="34" charset="0"/>
              <a:ea typeface="+mj-ea"/>
              <a:cs typeface="+mj-cs"/>
              <a:sym typeface="Verdana" panose="020B0604030504040204" pitchFamily="34" charset="0"/>
            </a:endParaRPr>
          </a:p>
        </p:txBody>
      </p:sp>
      <p:sp>
        <p:nvSpPr>
          <p:cNvPr id="36" name="Rectangle 35"/>
          <p:cNvSpPr/>
          <p:nvPr/>
        </p:nvSpPr>
        <p:spPr bwMode="gray">
          <a:xfrm>
            <a:off x="5957829" y="1017211"/>
            <a:ext cx="2520529" cy="42798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latin typeface="Verdana"/>
              </a:rPr>
              <a:t>Measures</a:t>
            </a:r>
            <a:endParaRPr lang="en-IN" sz="1412" b="1" dirty="0">
              <a:solidFill>
                <a:schemeClr val="accent2"/>
              </a:solidFill>
              <a:latin typeface="Verdana"/>
            </a:endParaRPr>
          </a:p>
        </p:txBody>
      </p:sp>
      <p:sp>
        <p:nvSpPr>
          <p:cNvPr id="39" name="Rectangle 38"/>
          <p:cNvSpPr/>
          <p:nvPr/>
        </p:nvSpPr>
        <p:spPr bwMode="gray">
          <a:xfrm>
            <a:off x="845569" y="1017211"/>
            <a:ext cx="1515923" cy="359816"/>
          </a:xfrm>
          <a:prstGeom prst="rect">
            <a:avLst/>
          </a:prstGeom>
          <a:noFill/>
          <a:ln w="19050" algn="ctr">
            <a:noFill/>
            <a:miter lim="800000"/>
            <a:headEnd/>
            <a:tailEnd/>
          </a:ln>
        </p:spPr>
        <p:txBody>
          <a:bodyPr wrap="square" lIns="100700" tIns="100700" rIns="100700" bIns="100700" rtlCol="0" anchor="ctr"/>
          <a:lstStyle/>
          <a:p>
            <a:pPr algn="ctr" defTabSz="1380987">
              <a:lnSpc>
                <a:spcPct val="106000"/>
              </a:lnSpc>
              <a:defRPr/>
            </a:pPr>
            <a:r>
              <a:rPr lang="en-US" sz="1412" b="1" dirty="0">
                <a:solidFill>
                  <a:schemeClr val="accent2"/>
                </a:solidFill>
              </a:rPr>
              <a:t>Dimensions</a:t>
            </a:r>
            <a:endParaRPr lang="en-IN" sz="1412" b="1" dirty="0">
              <a:solidFill>
                <a:schemeClr val="accent2"/>
              </a:solidFill>
            </a:endParaRPr>
          </a:p>
        </p:txBody>
      </p:sp>
      <p:cxnSp>
        <p:nvCxnSpPr>
          <p:cNvPr id="38" name="Straight Connector 37"/>
          <p:cNvCxnSpPr/>
          <p:nvPr/>
        </p:nvCxnSpPr>
        <p:spPr>
          <a:xfrm flipV="1">
            <a:off x="458771" y="1494065"/>
            <a:ext cx="11184521" cy="2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Rectangle 44">
            <a:hlinkClick r:id="rId7" action="ppaction://hlinksldjump"/>
          </p:cNvPr>
          <p:cNvSpPr/>
          <p:nvPr/>
        </p:nvSpPr>
        <p:spPr bwMode="gray">
          <a:xfrm>
            <a:off x="593310" y="1649221"/>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103578" tIns="51789" rIns="103578" bIns="51789" numCol="1" anchor="ctr" anchorCtr="0" compatLnSpc="1">
            <a:prstTxWarp prst="textNoShape">
              <a:avLst/>
            </a:prstTxWarp>
          </a:bodyPr>
          <a:lstStyle/>
          <a:p>
            <a:pPr algn="ctr"/>
            <a:r>
              <a:rPr lang="en-US" sz="1235" b="1" dirty="0">
                <a:solidFill>
                  <a:schemeClr val="bg1"/>
                </a:solidFill>
                <a:latin typeface="+mj-lt"/>
              </a:rPr>
              <a:t>Detailed Regulatory Cell Structure and Staffing</a:t>
            </a:r>
          </a:p>
        </p:txBody>
      </p:sp>
      <p:sp>
        <p:nvSpPr>
          <p:cNvPr id="49" name="Rectangle 48">
            <a:hlinkClick r:id="" action="ppaction://noaction"/>
          </p:cNvPr>
          <p:cNvSpPr/>
          <p:nvPr/>
        </p:nvSpPr>
        <p:spPr bwMode="gray">
          <a:xfrm>
            <a:off x="593310" y="3960324"/>
            <a:ext cx="2107861" cy="590939"/>
          </a:xfrm>
          <a:prstGeom prst="rect">
            <a:avLst/>
          </a:prstGeom>
          <a:solidFill>
            <a:srgbClr val="0076A8"/>
          </a:solidFill>
          <a:ln/>
        </p:spPr>
        <p:style>
          <a:lnRef idx="2">
            <a:schemeClr val="accent5"/>
          </a:lnRef>
          <a:fillRef idx="1">
            <a:schemeClr val="lt1"/>
          </a:fillRef>
          <a:effectRef idx="0">
            <a:schemeClr val="accent5"/>
          </a:effectRef>
          <a:fontRef idx="minor">
            <a:schemeClr val="dk1"/>
          </a:fontRef>
        </p:style>
        <p:txBody>
          <a:bodyPr vert="horz" wrap="square" lIns="0" tIns="51789" rIns="0" bIns="51789" numCol="1" anchor="ctr" anchorCtr="0" compatLnSpc="1">
            <a:prstTxWarp prst="textNoShape">
              <a:avLst/>
            </a:prstTxWarp>
          </a:bodyPr>
          <a:lstStyle/>
          <a:p>
            <a:pPr algn="ctr" defTabSz="1380987">
              <a:defRPr/>
            </a:pPr>
            <a:r>
              <a:rPr lang="en-US" sz="1235" b="1" dirty="0">
                <a:solidFill>
                  <a:schemeClr val="bg1"/>
                </a:solidFill>
              </a:rPr>
              <a:t>Processes, Infrastructure and Technology</a:t>
            </a:r>
            <a:endParaRPr lang="en-IN" sz="1235" b="1" dirty="0">
              <a:solidFill>
                <a:schemeClr val="bg1"/>
              </a:solidFill>
            </a:endParaRPr>
          </a:p>
        </p:txBody>
      </p:sp>
      <p:sp>
        <p:nvSpPr>
          <p:cNvPr id="51" name="Rectangle 50"/>
          <p:cNvSpPr/>
          <p:nvPr/>
        </p:nvSpPr>
        <p:spPr bwMode="gray">
          <a:xfrm>
            <a:off x="3943025" y="1635633"/>
            <a:ext cx="1889818" cy="590939"/>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Defining Functions</a:t>
            </a:r>
            <a:endParaRPr lang="en-IN" sz="1235" b="1" dirty="0">
              <a:solidFill>
                <a:prstClr val="white"/>
              </a:solidFill>
              <a:latin typeface="+mj-lt"/>
            </a:endParaRPr>
          </a:p>
        </p:txBody>
      </p:sp>
      <p:sp>
        <p:nvSpPr>
          <p:cNvPr id="56" name="Rectangle 55"/>
          <p:cNvSpPr/>
          <p:nvPr/>
        </p:nvSpPr>
        <p:spPr bwMode="gray">
          <a:xfrm>
            <a:off x="5903585" y="1635633"/>
            <a:ext cx="1889818" cy="590939"/>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Organization Structure</a:t>
            </a:r>
            <a:endParaRPr lang="en-IN" sz="1235" b="1" dirty="0">
              <a:solidFill>
                <a:prstClr val="white"/>
              </a:solidFill>
              <a:latin typeface="+mj-lt"/>
            </a:endParaRPr>
          </a:p>
        </p:txBody>
      </p:sp>
      <p:sp>
        <p:nvSpPr>
          <p:cNvPr id="102" name="Rectangle 101"/>
          <p:cNvSpPr/>
          <p:nvPr/>
        </p:nvSpPr>
        <p:spPr bwMode="gray">
          <a:xfrm>
            <a:off x="7864145" y="1646809"/>
            <a:ext cx="1889818" cy="590939"/>
          </a:xfrm>
          <a:prstGeom prst="rect">
            <a:avLst/>
          </a:prstGeom>
          <a:solidFill>
            <a:schemeClr val="accent2">
              <a:lumMod val="75000"/>
            </a:schemeClr>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Human Resources Plan &amp; Budgeting </a:t>
            </a:r>
            <a:endParaRPr lang="en-IN" sz="1235" b="1" dirty="0">
              <a:solidFill>
                <a:prstClr val="white"/>
              </a:solidFill>
              <a:latin typeface="+mj-lt"/>
            </a:endParaRPr>
          </a:p>
        </p:txBody>
      </p:sp>
      <p:sp>
        <p:nvSpPr>
          <p:cNvPr id="40" name="Striped Right Arrow 39"/>
          <p:cNvSpPr/>
          <p:nvPr/>
        </p:nvSpPr>
        <p:spPr bwMode="gray">
          <a:xfrm>
            <a:off x="3005515" y="1649220"/>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sp>
        <p:nvSpPr>
          <p:cNvPr id="42" name="Striped Right Arrow 41"/>
          <p:cNvSpPr/>
          <p:nvPr/>
        </p:nvSpPr>
        <p:spPr bwMode="gray">
          <a:xfrm>
            <a:off x="3005515" y="3960324"/>
            <a:ext cx="628032" cy="577352"/>
          </a:xfrm>
          <a:prstGeom prst="stripedRightArrow">
            <a:avLst>
              <a:gd name="adj1" fmla="val 100000"/>
              <a:gd name="adj2" fmla="val 50000"/>
            </a:avLst>
          </a:prstGeom>
          <a:solidFill>
            <a:schemeClr val="accent4"/>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dirty="0">
              <a:solidFill>
                <a:srgbClr val="012169">
                  <a:lumMod val="50000"/>
                </a:srgbClr>
              </a:solidFill>
              <a:latin typeface="Verdana"/>
            </a:endParaRPr>
          </a:p>
        </p:txBody>
      </p:sp>
      <p:sp>
        <p:nvSpPr>
          <p:cNvPr id="52" name="Rectangle 51"/>
          <p:cNvSpPr/>
          <p:nvPr/>
        </p:nvSpPr>
        <p:spPr bwMode="gray">
          <a:xfrm>
            <a:off x="9824705" y="1646809"/>
            <a:ext cx="1889818" cy="590939"/>
          </a:xfrm>
          <a:prstGeom prst="rect">
            <a:avLst/>
          </a:prstGeom>
          <a:solidFill>
            <a:schemeClr val="accent1">
              <a:lumMod val="60000"/>
              <a:lumOff val="40000"/>
            </a:schemeClr>
          </a:solidFill>
          <a:ln>
            <a:noFill/>
          </a:ln>
        </p:spPr>
        <p:txBody>
          <a:bodyPr vert="horz" wrap="square" lIns="103578" tIns="51789" rIns="103578" bIns="51789" numCol="1" anchor="ctr" anchorCtr="0" compatLnSpc="1">
            <a:prstTxWarp prst="textNoShape">
              <a:avLst/>
            </a:prstTxWarp>
          </a:bodyPr>
          <a:lstStyle/>
          <a:p>
            <a:pPr algn="ctr" defTabSz="1380987"/>
            <a:r>
              <a:rPr lang="en-US" sz="1235" b="1" dirty="0">
                <a:latin typeface="+mj-lt"/>
              </a:rPr>
              <a:t>Staffing</a:t>
            </a:r>
            <a:endParaRPr lang="en-IN" sz="1235" b="1" dirty="0">
              <a:latin typeface="+mj-lt"/>
            </a:endParaRPr>
          </a:p>
        </p:txBody>
      </p:sp>
      <p:sp>
        <p:nvSpPr>
          <p:cNvPr id="48" name="TextBox 47"/>
          <p:cNvSpPr txBox="1"/>
          <p:nvPr/>
        </p:nvSpPr>
        <p:spPr>
          <a:xfrm>
            <a:off x="4008643" y="2237748"/>
            <a:ext cx="1818296" cy="1042080"/>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Defining regulatory functions in detail.</a:t>
            </a:r>
          </a:p>
          <a:p>
            <a:pPr marL="252146" indent="-252146" algn="just">
              <a:spcBef>
                <a:spcPts val="529"/>
              </a:spcBef>
              <a:buSzPct val="100000"/>
              <a:buFont typeface="Arial" panose="020B0604020202020204" pitchFamily="34" charset="0"/>
              <a:buChar char="•"/>
            </a:pPr>
            <a:r>
              <a:rPr lang="en-US" sz="1059" i="1" dirty="0">
                <a:solidFill>
                  <a:srgbClr val="313131"/>
                </a:solidFill>
              </a:rPr>
              <a:t>Identifying roles &amp; authority of Regulatory Cell with regards to other agencies.</a:t>
            </a:r>
          </a:p>
        </p:txBody>
      </p:sp>
      <p:sp>
        <p:nvSpPr>
          <p:cNvPr id="26" name="TextBox 25"/>
          <p:cNvSpPr txBox="1"/>
          <p:nvPr/>
        </p:nvSpPr>
        <p:spPr>
          <a:xfrm>
            <a:off x="5909970" y="2237748"/>
            <a:ext cx="1883916" cy="1205073"/>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Defining internal departmental responsibilities, reporting procedures, and decision-making authority.</a:t>
            </a:r>
          </a:p>
          <a:p>
            <a:pPr marL="252146" indent="-252146">
              <a:spcBef>
                <a:spcPts val="529"/>
              </a:spcBef>
              <a:buSzPct val="100000"/>
              <a:buFont typeface="Arial" panose="020B0604020202020204" pitchFamily="34" charset="0"/>
              <a:buChar char="•"/>
            </a:pPr>
            <a:endParaRPr lang="en-US" sz="1059" i="1" dirty="0">
              <a:solidFill>
                <a:srgbClr val="313131"/>
              </a:solidFill>
            </a:endParaRPr>
          </a:p>
        </p:txBody>
      </p:sp>
      <p:sp>
        <p:nvSpPr>
          <p:cNvPr id="27" name="TextBox 26"/>
          <p:cNvSpPr txBox="1"/>
          <p:nvPr/>
        </p:nvSpPr>
        <p:spPr>
          <a:xfrm>
            <a:off x="7890204" y="2237748"/>
            <a:ext cx="1883916" cy="1694053"/>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Detailed human resources plan including personnel requirements, skills mix, recruitment procedures, etc.</a:t>
            </a:r>
          </a:p>
          <a:p>
            <a:pPr marL="252146" indent="-252146" algn="just">
              <a:spcBef>
                <a:spcPts val="529"/>
              </a:spcBef>
              <a:buSzPct val="100000"/>
              <a:buFont typeface="Arial" panose="020B0604020202020204" pitchFamily="34" charset="0"/>
              <a:buChar char="•"/>
            </a:pPr>
            <a:r>
              <a:rPr lang="en-US" sz="1059" i="1" dirty="0">
                <a:solidFill>
                  <a:srgbClr val="313131"/>
                </a:solidFill>
              </a:rPr>
              <a:t>Budget covering staffing, training, IT investments &amp; operational costs.</a:t>
            </a:r>
          </a:p>
        </p:txBody>
      </p:sp>
      <p:sp>
        <p:nvSpPr>
          <p:cNvPr id="28" name="TextBox 27"/>
          <p:cNvSpPr txBox="1"/>
          <p:nvPr/>
        </p:nvSpPr>
        <p:spPr>
          <a:xfrm>
            <a:off x="9817094" y="2237748"/>
            <a:ext cx="1883916" cy="1531060"/>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Staffing of initial core team through deputation and internal transfers based on skill mix.</a:t>
            </a:r>
          </a:p>
          <a:p>
            <a:pPr marL="252146" indent="-252146" algn="just">
              <a:spcBef>
                <a:spcPts val="529"/>
              </a:spcBef>
              <a:buSzPct val="100000"/>
              <a:buFont typeface="Arial" panose="020B0604020202020204" pitchFamily="34" charset="0"/>
              <a:buChar char="•"/>
            </a:pPr>
            <a:r>
              <a:rPr lang="en-US" sz="1059" i="1" dirty="0">
                <a:solidFill>
                  <a:srgbClr val="313131"/>
                </a:solidFill>
              </a:rPr>
              <a:t>Direct recruitment (if need be) through approved recruitment procedures.</a:t>
            </a:r>
            <a:endParaRPr lang="en-IN" sz="1059" i="1" dirty="0">
              <a:solidFill>
                <a:srgbClr val="313131"/>
              </a:solidFill>
            </a:endParaRPr>
          </a:p>
        </p:txBody>
      </p:sp>
      <p:sp>
        <p:nvSpPr>
          <p:cNvPr id="90" name="Freeform 97"/>
          <p:cNvSpPr>
            <a:spLocks noEditPoints="1"/>
          </p:cNvSpPr>
          <p:nvPr/>
        </p:nvSpPr>
        <p:spPr bwMode="auto">
          <a:xfrm>
            <a:off x="5781026" y="1017211"/>
            <a:ext cx="412941" cy="447235"/>
          </a:xfrm>
          <a:custGeom>
            <a:avLst/>
            <a:gdLst>
              <a:gd name="T0" fmla="*/ 298 w 512"/>
              <a:gd name="T1" fmla="*/ 298 h 512"/>
              <a:gd name="T2" fmla="*/ 373 w 512"/>
              <a:gd name="T3" fmla="*/ 298 h 512"/>
              <a:gd name="T4" fmla="*/ 373 w 512"/>
              <a:gd name="T5" fmla="*/ 373 h 512"/>
              <a:gd name="T6" fmla="*/ 298 w 512"/>
              <a:gd name="T7" fmla="*/ 373 h 512"/>
              <a:gd name="T8" fmla="*/ 298 w 512"/>
              <a:gd name="T9" fmla="*/ 298 h 512"/>
              <a:gd name="T10" fmla="*/ 138 w 512"/>
              <a:gd name="T11" fmla="*/ 213 h 512"/>
              <a:gd name="T12" fmla="*/ 213 w 512"/>
              <a:gd name="T13" fmla="*/ 213 h 512"/>
              <a:gd name="T14" fmla="*/ 213 w 512"/>
              <a:gd name="T15" fmla="*/ 138 h 512"/>
              <a:gd name="T16" fmla="*/ 138 w 512"/>
              <a:gd name="T17" fmla="*/ 138 h 512"/>
              <a:gd name="T18" fmla="*/ 138 w 512"/>
              <a:gd name="T19" fmla="*/ 213 h 512"/>
              <a:gd name="T20" fmla="*/ 138 w 512"/>
              <a:gd name="T21" fmla="*/ 373 h 512"/>
              <a:gd name="T22" fmla="*/ 213 w 512"/>
              <a:gd name="T23" fmla="*/ 373 h 512"/>
              <a:gd name="T24" fmla="*/ 213 w 512"/>
              <a:gd name="T25" fmla="*/ 298 h 512"/>
              <a:gd name="T26" fmla="*/ 138 w 512"/>
              <a:gd name="T27" fmla="*/ 298 h 512"/>
              <a:gd name="T28" fmla="*/ 138 w 512"/>
              <a:gd name="T29" fmla="*/ 373 h 512"/>
              <a:gd name="T30" fmla="*/ 512 w 512"/>
              <a:gd name="T31" fmla="*/ 256 h 512"/>
              <a:gd name="T32" fmla="*/ 256 w 512"/>
              <a:gd name="T33" fmla="*/ 512 h 512"/>
              <a:gd name="T34" fmla="*/ 0 w 512"/>
              <a:gd name="T35" fmla="*/ 256 h 512"/>
              <a:gd name="T36" fmla="*/ 256 w 512"/>
              <a:gd name="T37" fmla="*/ 0 h 512"/>
              <a:gd name="T38" fmla="*/ 512 w 512"/>
              <a:gd name="T39" fmla="*/ 256 h 512"/>
              <a:gd name="T40" fmla="*/ 234 w 512"/>
              <a:gd name="T41" fmla="*/ 288 h 512"/>
              <a:gd name="T42" fmla="*/ 224 w 512"/>
              <a:gd name="T43" fmla="*/ 277 h 512"/>
              <a:gd name="T44" fmla="*/ 128 w 512"/>
              <a:gd name="T45" fmla="*/ 277 h 512"/>
              <a:gd name="T46" fmla="*/ 117 w 512"/>
              <a:gd name="T47" fmla="*/ 288 h 512"/>
              <a:gd name="T48" fmla="*/ 117 w 512"/>
              <a:gd name="T49" fmla="*/ 384 h 512"/>
              <a:gd name="T50" fmla="*/ 128 w 512"/>
              <a:gd name="T51" fmla="*/ 394 h 512"/>
              <a:gd name="T52" fmla="*/ 224 w 512"/>
              <a:gd name="T53" fmla="*/ 394 h 512"/>
              <a:gd name="T54" fmla="*/ 234 w 512"/>
              <a:gd name="T55" fmla="*/ 384 h 512"/>
              <a:gd name="T56" fmla="*/ 234 w 512"/>
              <a:gd name="T57" fmla="*/ 288 h 512"/>
              <a:gd name="T58" fmla="*/ 234 w 512"/>
              <a:gd name="T59" fmla="*/ 128 h 512"/>
              <a:gd name="T60" fmla="*/ 224 w 512"/>
              <a:gd name="T61" fmla="*/ 117 h 512"/>
              <a:gd name="T62" fmla="*/ 128 w 512"/>
              <a:gd name="T63" fmla="*/ 117 h 512"/>
              <a:gd name="T64" fmla="*/ 117 w 512"/>
              <a:gd name="T65" fmla="*/ 128 h 512"/>
              <a:gd name="T66" fmla="*/ 117 w 512"/>
              <a:gd name="T67" fmla="*/ 224 h 512"/>
              <a:gd name="T68" fmla="*/ 128 w 512"/>
              <a:gd name="T69" fmla="*/ 234 h 512"/>
              <a:gd name="T70" fmla="*/ 224 w 512"/>
              <a:gd name="T71" fmla="*/ 234 h 512"/>
              <a:gd name="T72" fmla="*/ 234 w 512"/>
              <a:gd name="T73" fmla="*/ 224 h 512"/>
              <a:gd name="T74" fmla="*/ 234 w 512"/>
              <a:gd name="T75" fmla="*/ 128 h 512"/>
              <a:gd name="T76" fmla="*/ 394 w 512"/>
              <a:gd name="T77" fmla="*/ 288 h 512"/>
              <a:gd name="T78" fmla="*/ 384 w 512"/>
              <a:gd name="T79" fmla="*/ 277 h 512"/>
              <a:gd name="T80" fmla="*/ 288 w 512"/>
              <a:gd name="T81" fmla="*/ 277 h 512"/>
              <a:gd name="T82" fmla="*/ 277 w 512"/>
              <a:gd name="T83" fmla="*/ 288 h 512"/>
              <a:gd name="T84" fmla="*/ 277 w 512"/>
              <a:gd name="T85" fmla="*/ 384 h 512"/>
              <a:gd name="T86" fmla="*/ 288 w 512"/>
              <a:gd name="T87" fmla="*/ 394 h 512"/>
              <a:gd name="T88" fmla="*/ 384 w 512"/>
              <a:gd name="T89" fmla="*/ 394 h 512"/>
              <a:gd name="T90" fmla="*/ 394 w 512"/>
              <a:gd name="T91" fmla="*/ 384 h 512"/>
              <a:gd name="T92" fmla="*/ 394 w 512"/>
              <a:gd name="T93" fmla="*/ 288 h 512"/>
              <a:gd name="T94" fmla="*/ 394 w 512"/>
              <a:gd name="T95" fmla="*/ 128 h 512"/>
              <a:gd name="T96" fmla="*/ 384 w 512"/>
              <a:gd name="T97" fmla="*/ 117 h 512"/>
              <a:gd name="T98" fmla="*/ 288 w 512"/>
              <a:gd name="T99" fmla="*/ 117 h 512"/>
              <a:gd name="T100" fmla="*/ 277 w 512"/>
              <a:gd name="T101" fmla="*/ 128 h 512"/>
              <a:gd name="T102" fmla="*/ 277 w 512"/>
              <a:gd name="T103" fmla="*/ 224 h 512"/>
              <a:gd name="T104" fmla="*/ 288 w 512"/>
              <a:gd name="T105" fmla="*/ 234 h 512"/>
              <a:gd name="T106" fmla="*/ 384 w 512"/>
              <a:gd name="T107" fmla="*/ 234 h 512"/>
              <a:gd name="T108" fmla="*/ 394 w 512"/>
              <a:gd name="T109" fmla="*/ 224 h 512"/>
              <a:gd name="T110" fmla="*/ 394 w 512"/>
              <a:gd name="T111" fmla="*/ 128 h 512"/>
              <a:gd name="T112" fmla="*/ 298 w 512"/>
              <a:gd name="T113" fmla="*/ 213 h 512"/>
              <a:gd name="T114" fmla="*/ 373 w 512"/>
              <a:gd name="T115" fmla="*/ 213 h 512"/>
              <a:gd name="T116" fmla="*/ 373 w 512"/>
              <a:gd name="T117" fmla="*/ 138 h 512"/>
              <a:gd name="T118" fmla="*/ 298 w 512"/>
              <a:gd name="T119" fmla="*/ 138 h 512"/>
              <a:gd name="T120" fmla="*/ 298 w 512"/>
              <a:gd name="T121"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98" y="298"/>
                </a:moveTo>
                <a:cubicBezTo>
                  <a:pt x="373" y="298"/>
                  <a:pt x="373" y="298"/>
                  <a:pt x="373" y="298"/>
                </a:cubicBezTo>
                <a:cubicBezTo>
                  <a:pt x="373" y="373"/>
                  <a:pt x="373" y="373"/>
                  <a:pt x="373" y="373"/>
                </a:cubicBezTo>
                <a:cubicBezTo>
                  <a:pt x="298" y="373"/>
                  <a:pt x="298" y="373"/>
                  <a:pt x="298" y="373"/>
                </a:cubicBezTo>
                <a:lnTo>
                  <a:pt x="298" y="298"/>
                </a:lnTo>
                <a:close/>
                <a:moveTo>
                  <a:pt x="138" y="213"/>
                </a:moveTo>
                <a:cubicBezTo>
                  <a:pt x="213" y="213"/>
                  <a:pt x="213" y="213"/>
                  <a:pt x="213" y="213"/>
                </a:cubicBezTo>
                <a:cubicBezTo>
                  <a:pt x="213" y="138"/>
                  <a:pt x="213" y="138"/>
                  <a:pt x="213" y="138"/>
                </a:cubicBezTo>
                <a:cubicBezTo>
                  <a:pt x="138" y="138"/>
                  <a:pt x="138" y="138"/>
                  <a:pt x="138" y="138"/>
                </a:cubicBezTo>
                <a:lnTo>
                  <a:pt x="138" y="213"/>
                </a:lnTo>
                <a:close/>
                <a:moveTo>
                  <a:pt x="138" y="373"/>
                </a:moveTo>
                <a:cubicBezTo>
                  <a:pt x="213" y="373"/>
                  <a:pt x="213" y="373"/>
                  <a:pt x="213" y="373"/>
                </a:cubicBezTo>
                <a:cubicBezTo>
                  <a:pt x="213" y="298"/>
                  <a:pt x="213" y="298"/>
                  <a:pt x="213" y="298"/>
                </a:cubicBezTo>
                <a:cubicBezTo>
                  <a:pt x="138" y="298"/>
                  <a:pt x="138" y="298"/>
                  <a:pt x="138" y="298"/>
                </a:cubicBezTo>
                <a:lnTo>
                  <a:pt x="138" y="373"/>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234" y="288"/>
                </a:moveTo>
                <a:cubicBezTo>
                  <a:pt x="234" y="282"/>
                  <a:pt x="230" y="277"/>
                  <a:pt x="224" y="277"/>
                </a:cubicBezTo>
                <a:cubicBezTo>
                  <a:pt x="128" y="277"/>
                  <a:pt x="128" y="277"/>
                  <a:pt x="128" y="277"/>
                </a:cubicBezTo>
                <a:cubicBezTo>
                  <a:pt x="122" y="277"/>
                  <a:pt x="117" y="282"/>
                  <a:pt x="117" y="288"/>
                </a:cubicBezTo>
                <a:cubicBezTo>
                  <a:pt x="117" y="384"/>
                  <a:pt x="117" y="384"/>
                  <a:pt x="117" y="384"/>
                </a:cubicBezTo>
                <a:cubicBezTo>
                  <a:pt x="117" y="390"/>
                  <a:pt x="122" y="394"/>
                  <a:pt x="128" y="394"/>
                </a:cubicBezTo>
                <a:cubicBezTo>
                  <a:pt x="224" y="394"/>
                  <a:pt x="224" y="394"/>
                  <a:pt x="224" y="394"/>
                </a:cubicBezTo>
                <a:cubicBezTo>
                  <a:pt x="230" y="394"/>
                  <a:pt x="234" y="390"/>
                  <a:pt x="234" y="384"/>
                </a:cubicBezTo>
                <a:lnTo>
                  <a:pt x="234" y="288"/>
                </a:lnTo>
                <a:close/>
                <a:moveTo>
                  <a:pt x="234" y="128"/>
                </a:moveTo>
                <a:cubicBezTo>
                  <a:pt x="234" y="122"/>
                  <a:pt x="230" y="117"/>
                  <a:pt x="224" y="117"/>
                </a:cubicBezTo>
                <a:cubicBezTo>
                  <a:pt x="128" y="117"/>
                  <a:pt x="128" y="117"/>
                  <a:pt x="128" y="117"/>
                </a:cubicBezTo>
                <a:cubicBezTo>
                  <a:pt x="122" y="117"/>
                  <a:pt x="117" y="122"/>
                  <a:pt x="117" y="128"/>
                </a:cubicBezTo>
                <a:cubicBezTo>
                  <a:pt x="117" y="224"/>
                  <a:pt x="117" y="224"/>
                  <a:pt x="117" y="224"/>
                </a:cubicBezTo>
                <a:cubicBezTo>
                  <a:pt x="117" y="230"/>
                  <a:pt x="122" y="234"/>
                  <a:pt x="128" y="234"/>
                </a:cubicBezTo>
                <a:cubicBezTo>
                  <a:pt x="224" y="234"/>
                  <a:pt x="224" y="234"/>
                  <a:pt x="224" y="234"/>
                </a:cubicBezTo>
                <a:cubicBezTo>
                  <a:pt x="230" y="234"/>
                  <a:pt x="234" y="230"/>
                  <a:pt x="234" y="224"/>
                </a:cubicBezTo>
                <a:lnTo>
                  <a:pt x="234" y="128"/>
                </a:lnTo>
                <a:close/>
                <a:moveTo>
                  <a:pt x="394" y="288"/>
                </a:moveTo>
                <a:cubicBezTo>
                  <a:pt x="394" y="282"/>
                  <a:pt x="390" y="277"/>
                  <a:pt x="384" y="277"/>
                </a:cubicBezTo>
                <a:cubicBezTo>
                  <a:pt x="288" y="277"/>
                  <a:pt x="288" y="277"/>
                  <a:pt x="288" y="277"/>
                </a:cubicBezTo>
                <a:cubicBezTo>
                  <a:pt x="282" y="277"/>
                  <a:pt x="277" y="282"/>
                  <a:pt x="277" y="288"/>
                </a:cubicBezTo>
                <a:cubicBezTo>
                  <a:pt x="277" y="384"/>
                  <a:pt x="277" y="384"/>
                  <a:pt x="277" y="384"/>
                </a:cubicBezTo>
                <a:cubicBezTo>
                  <a:pt x="277" y="390"/>
                  <a:pt x="282" y="394"/>
                  <a:pt x="288" y="394"/>
                </a:cubicBezTo>
                <a:cubicBezTo>
                  <a:pt x="384" y="394"/>
                  <a:pt x="384" y="394"/>
                  <a:pt x="384" y="394"/>
                </a:cubicBezTo>
                <a:cubicBezTo>
                  <a:pt x="390" y="394"/>
                  <a:pt x="394" y="390"/>
                  <a:pt x="394" y="384"/>
                </a:cubicBezTo>
                <a:lnTo>
                  <a:pt x="394" y="288"/>
                </a:lnTo>
                <a:close/>
                <a:moveTo>
                  <a:pt x="394" y="128"/>
                </a:moveTo>
                <a:cubicBezTo>
                  <a:pt x="394" y="122"/>
                  <a:pt x="390" y="117"/>
                  <a:pt x="384" y="117"/>
                </a:cubicBezTo>
                <a:cubicBezTo>
                  <a:pt x="288" y="117"/>
                  <a:pt x="288" y="117"/>
                  <a:pt x="288" y="117"/>
                </a:cubicBezTo>
                <a:cubicBezTo>
                  <a:pt x="282" y="117"/>
                  <a:pt x="277" y="122"/>
                  <a:pt x="277" y="128"/>
                </a:cubicBezTo>
                <a:cubicBezTo>
                  <a:pt x="277" y="224"/>
                  <a:pt x="277" y="224"/>
                  <a:pt x="277" y="224"/>
                </a:cubicBezTo>
                <a:cubicBezTo>
                  <a:pt x="277" y="230"/>
                  <a:pt x="282" y="234"/>
                  <a:pt x="288" y="234"/>
                </a:cubicBezTo>
                <a:cubicBezTo>
                  <a:pt x="384" y="234"/>
                  <a:pt x="384" y="234"/>
                  <a:pt x="384" y="234"/>
                </a:cubicBezTo>
                <a:cubicBezTo>
                  <a:pt x="390" y="234"/>
                  <a:pt x="394" y="230"/>
                  <a:pt x="394" y="224"/>
                </a:cubicBezTo>
                <a:lnTo>
                  <a:pt x="394" y="128"/>
                </a:lnTo>
                <a:close/>
                <a:moveTo>
                  <a:pt x="298" y="213"/>
                </a:moveTo>
                <a:cubicBezTo>
                  <a:pt x="373" y="213"/>
                  <a:pt x="373" y="213"/>
                  <a:pt x="373" y="213"/>
                </a:cubicBezTo>
                <a:cubicBezTo>
                  <a:pt x="373" y="138"/>
                  <a:pt x="373" y="138"/>
                  <a:pt x="373" y="138"/>
                </a:cubicBezTo>
                <a:cubicBezTo>
                  <a:pt x="298" y="138"/>
                  <a:pt x="298" y="138"/>
                  <a:pt x="298" y="138"/>
                </a:cubicBezTo>
                <a:lnTo>
                  <a:pt x="298" y="213"/>
                </a:lnTo>
                <a:close/>
              </a:path>
            </a:pathLst>
          </a:custGeom>
          <a:solidFill>
            <a:schemeClr val="accent4"/>
          </a:solidFill>
          <a:ln>
            <a:noFill/>
          </a:ln>
        </p:spPr>
        <p:txBody>
          <a:bodyPr vert="horz" wrap="square" lIns="103578" tIns="51789" rIns="103578" bIns="51789" numCol="1" anchor="t" anchorCtr="0" compatLnSpc="1">
            <a:prstTxWarp prst="textNoShape">
              <a:avLst/>
            </a:prstTxWarp>
          </a:bodyPr>
          <a:lstStyle/>
          <a:p>
            <a:pPr defTabSz="1380987">
              <a:defRPr/>
            </a:pPr>
            <a:endParaRPr lang="en-GB" sz="2471" dirty="0">
              <a:solidFill>
                <a:prstClr val="black"/>
              </a:solidFill>
              <a:latin typeface="Verdana"/>
            </a:endParaRPr>
          </a:p>
        </p:txBody>
      </p:sp>
      <p:sp>
        <p:nvSpPr>
          <p:cNvPr id="91" name="Freeform 59">
            <a:extLst>
              <a:ext uri="{FF2B5EF4-FFF2-40B4-BE49-F238E27FC236}">
                <a16:creationId xmlns:a16="http://schemas.microsoft.com/office/drawing/2014/main" id="{9920DF9A-5043-4800-805F-AAA1D155489F}"/>
              </a:ext>
            </a:extLst>
          </p:cNvPr>
          <p:cNvSpPr>
            <a:spLocks noChangeAspect="1" noEditPoints="1"/>
          </p:cNvSpPr>
          <p:nvPr/>
        </p:nvSpPr>
        <p:spPr bwMode="auto">
          <a:xfrm>
            <a:off x="548586" y="1017211"/>
            <a:ext cx="411731" cy="447235"/>
          </a:xfrm>
          <a:custGeom>
            <a:avLst/>
            <a:gdLst>
              <a:gd name="T0" fmla="*/ 147 w 512"/>
              <a:gd name="T1" fmla="*/ 170 h 512"/>
              <a:gd name="T2" fmla="*/ 201 w 512"/>
              <a:gd name="T3" fmla="*/ 170 h 512"/>
              <a:gd name="T4" fmla="*/ 223 w 512"/>
              <a:gd name="T5" fmla="*/ 170 h 512"/>
              <a:gd name="T6" fmla="*/ 256 w 512"/>
              <a:gd name="T7" fmla="*/ 117 h 512"/>
              <a:gd name="T8" fmla="*/ 133 w 512"/>
              <a:gd name="T9" fmla="*/ 192 h 512"/>
              <a:gd name="T10" fmla="*/ 192 w 512"/>
              <a:gd name="T11" fmla="*/ 245 h 512"/>
              <a:gd name="T12" fmla="*/ 218 w 512"/>
              <a:gd name="T13" fmla="*/ 320 h 512"/>
              <a:gd name="T14" fmla="*/ 298 w 512"/>
              <a:gd name="T15" fmla="*/ 266 h 512"/>
              <a:gd name="T16" fmla="*/ 218 w 512"/>
              <a:gd name="T17" fmla="*/ 320 h 512"/>
              <a:gd name="T18" fmla="*/ 292 w 512"/>
              <a:gd name="T19" fmla="*/ 122 h 512"/>
              <a:gd name="T20" fmla="*/ 365 w 512"/>
              <a:gd name="T21" fmla="*/ 170 h 512"/>
              <a:gd name="T22" fmla="*/ 218 w 512"/>
              <a:gd name="T23" fmla="*/ 192 h 512"/>
              <a:gd name="T24" fmla="*/ 298 w 512"/>
              <a:gd name="T25" fmla="*/ 245 h 512"/>
              <a:gd name="T26" fmla="*/ 192 w 512"/>
              <a:gd name="T27" fmla="*/ 266 h 512"/>
              <a:gd name="T28" fmla="*/ 133 w 512"/>
              <a:gd name="T29" fmla="*/ 320 h 512"/>
              <a:gd name="T30" fmla="*/ 192 w 512"/>
              <a:gd name="T31" fmla="*/ 266 h 512"/>
              <a:gd name="T32" fmla="*/ 394 w 512"/>
              <a:gd name="T33" fmla="*/ 245 h 512"/>
              <a:gd name="T34" fmla="*/ 314 w 512"/>
              <a:gd name="T35" fmla="*/ 192 h 512"/>
              <a:gd name="T36" fmla="*/ 512 w 512"/>
              <a:gd name="T37" fmla="*/ 256 h 512"/>
              <a:gd name="T38" fmla="*/ 0 w 512"/>
              <a:gd name="T39" fmla="*/ 256 h 512"/>
              <a:gd name="T40" fmla="*/ 512 w 512"/>
              <a:gd name="T41" fmla="*/ 256 h 512"/>
              <a:gd name="T42" fmla="*/ 256 w 512"/>
              <a:gd name="T43" fmla="*/ 96 h 512"/>
              <a:gd name="T44" fmla="*/ 256 w 512"/>
              <a:gd name="T45" fmla="*/ 416 h 512"/>
              <a:gd name="T46" fmla="*/ 314 w 512"/>
              <a:gd name="T47" fmla="*/ 320 h 512"/>
              <a:gd name="T48" fmla="*/ 394 w 512"/>
              <a:gd name="T49" fmla="*/ 266 h 512"/>
              <a:gd name="T50" fmla="*/ 314 w 512"/>
              <a:gd name="T51" fmla="*/ 320 h 512"/>
              <a:gd name="T52" fmla="*/ 220 w 512"/>
              <a:gd name="T53" fmla="*/ 389 h 512"/>
              <a:gd name="T54" fmla="*/ 147 w 512"/>
              <a:gd name="T55" fmla="*/ 341 h 512"/>
              <a:gd name="T56" fmla="*/ 365 w 512"/>
              <a:gd name="T57" fmla="*/ 341 h 512"/>
              <a:gd name="T58" fmla="*/ 292 w 512"/>
              <a:gd name="T59" fmla="*/ 389 h 512"/>
              <a:gd name="T60" fmla="*/ 288 w 512"/>
              <a:gd name="T61" fmla="*/ 341 h 512"/>
              <a:gd name="T62" fmla="*/ 256 w 512"/>
              <a:gd name="T6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512">
                <a:moveTo>
                  <a:pt x="201" y="170"/>
                </a:moveTo>
                <a:cubicBezTo>
                  <a:pt x="147" y="170"/>
                  <a:pt x="147" y="170"/>
                  <a:pt x="147" y="170"/>
                </a:cubicBezTo>
                <a:cubicBezTo>
                  <a:pt x="165" y="147"/>
                  <a:pt x="190" y="130"/>
                  <a:pt x="220" y="122"/>
                </a:cubicBezTo>
                <a:cubicBezTo>
                  <a:pt x="212" y="135"/>
                  <a:pt x="206" y="151"/>
                  <a:pt x="201" y="170"/>
                </a:cubicBezTo>
                <a:close/>
                <a:moveTo>
                  <a:pt x="256" y="117"/>
                </a:moveTo>
                <a:cubicBezTo>
                  <a:pt x="245" y="117"/>
                  <a:pt x="232" y="137"/>
                  <a:pt x="223" y="170"/>
                </a:cubicBezTo>
                <a:cubicBezTo>
                  <a:pt x="288" y="170"/>
                  <a:pt x="288" y="170"/>
                  <a:pt x="288" y="170"/>
                </a:cubicBezTo>
                <a:cubicBezTo>
                  <a:pt x="279" y="137"/>
                  <a:pt x="266" y="117"/>
                  <a:pt x="256" y="117"/>
                </a:cubicBezTo>
                <a:close/>
                <a:moveTo>
                  <a:pt x="197" y="192"/>
                </a:moveTo>
                <a:cubicBezTo>
                  <a:pt x="133" y="192"/>
                  <a:pt x="133" y="192"/>
                  <a:pt x="133" y="192"/>
                </a:cubicBezTo>
                <a:cubicBezTo>
                  <a:pt x="124" y="208"/>
                  <a:pt x="119" y="226"/>
                  <a:pt x="118" y="245"/>
                </a:cubicBezTo>
                <a:cubicBezTo>
                  <a:pt x="192" y="245"/>
                  <a:pt x="192" y="245"/>
                  <a:pt x="192" y="245"/>
                </a:cubicBezTo>
                <a:cubicBezTo>
                  <a:pt x="192" y="227"/>
                  <a:pt x="194" y="209"/>
                  <a:pt x="197" y="192"/>
                </a:cubicBezTo>
                <a:close/>
                <a:moveTo>
                  <a:pt x="218" y="320"/>
                </a:moveTo>
                <a:cubicBezTo>
                  <a:pt x="293" y="320"/>
                  <a:pt x="293" y="320"/>
                  <a:pt x="293" y="320"/>
                </a:cubicBezTo>
                <a:cubicBezTo>
                  <a:pt x="296" y="304"/>
                  <a:pt x="298" y="286"/>
                  <a:pt x="298" y="266"/>
                </a:cubicBezTo>
                <a:cubicBezTo>
                  <a:pt x="213" y="266"/>
                  <a:pt x="213" y="266"/>
                  <a:pt x="213" y="266"/>
                </a:cubicBezTo>
                <a:cubicBezTo>
                  <a:pt x="214" y="286"/>
                  <a:pt x="216" y="304"/>
                  <a:pt x="218" y="320"/>
                </a:cubicBezTo>
                <a:close/>
                <a:moveTo>
                  <a:pt x="365" y="170"/>
                </a:moveTo>
                <a:cubicBezTo>
                  <a:pt x="347" y="147"/>
                  <a:pt x="321" y="130"/>
                  <a:pt x="292" y="122"/>
                </a:cubicBezTo>
                <a:cubicBezTo>
                  <a:pt x="299" y="135"/>
                  <a:pt x="306" y="151"/>
                  <a:pt x="310" y="170"/>
                </a:cubicBezTo>
                <a:lnTo>
                  <a:pt x="365" y="170"/>
                </a:lnTo>
                <a:close/>
                <a:moveTo>
                  <a:pt x="293" y="192"/>
                </a:moveTo>
                <a:cubicBezTo>
                  <a:pt x="218" y="192"/>
                  <a:pt x="218" y="192"/>
                  <a:pt x="218" y="192"/>
                </a:cubicBezTo>
                <a:cubicBezTo>
                  <a:pt x="216" y="207"/>
                  <a:pt x="214" y="225"/>
                  <a:pt x="213" y="245"/>
                </a:cubicBezTo>
                <a:cubicBezTo>
                  <a:pt x="298" y="245"/>
                  <a:pt x="298" y="245"/>
                  <a:pt x="298" y="245"/>
                </a:cubicBezTo>
                <a:cubicBezTo>
                  <a:pt x="298" y="225"/>
                  <a:pt x="296" y="207"/>
                  <a:pt x="293" y="192"/>
                </a:cubicBezTo>
                <a:close/>
                <a:moveTo>
                  <a:pt x="192" y="266"/>
                </a:moveTo>
                <a:cubicBezTo>
                  <a:pt x="118" y="266"/>
                  <a:pt x="118" y="266"/>
                  <a:pt x="118" y="266"/>
                </a:cubicBezTo>
                <a:cubicBezTo>
                  <a:pt x="119" y="285"/>
                  <a:pt x="124" y="303"/>
                  <a:pt x="133" y="320"/>
                </a:cubicBezTo>
                <a:cubicBezTo>
                  <a:pt x="197" y="320"/>
                  <a:pt x="197" y="320"/>
                  <a:pt x="197" y="320"/>
                </a:cubicBezTo>
                <a:cubicBezTo>
                  <a:pt x="194" y="303"/>
                  <a:pt x="192" y="284"/>
                  <a:pt x="192" y="266"/>
                </a:cubicBezTo>
                <a:close/>
                <a:moveTo>
                  <a:pt x="319" y="245"/>
                </a:moveTo>
                <a:cubicBezTo>
                  <a:pt x="394" y="245"/>
                  <a:pt x="394" y="245"/>
                  <a:pt x="394" y="245"/>
                </a:cubicBezTo>
                <a:cubicBezTo>
                  <a:pt x="392" y="226"/>
                  <a:pt x="387" y="208"/>
                  <a:pt x="379" y="192"/>
                </a:cubicBezTo>
                <a:cubicBezTo>
                  <a:pt x="314" y="192"/>
                  <a:pt x="314" y="192"/>
                  <a:pt x="314" y="192"/>
                </a:cubicBezTo>
                <a:cubicBezTo>
                  <a:pt x="317" y="209"/>
                  <a:pt x="319" y="227"/>
                  <a:pt x="319" y="245"/>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56"/>
                </a:moveTo>
                <a:cubicBezTo>
                  <a:pt x="416" y="167"/>
                  <a:pt x="344" y="96"/>
                  <a:pt x="256" y="96"/>
                </a:cubicBezTo>
                <a:cubicBezTo>
                  <a:pt x="167" y="96"/>
                  <a:pt x="96" y="167"/>
                  <a:pt x="96" y="256"/>
                </a:cubicBezTo>
                <a:cubicBezTo>
                  <a:pt x="96" y="344"/>
                  <a:pt x="167" y="416"/>
                  <a:pt x="256" y="416"/>
                </a:cubicBezTo>
                <a:cubicBezTo>
                  <a:pt x="344" y="416"/>
                  <a:pt x="416" y="344"/>
                  <a:pt x="416" y="256"/>
                </a:cubicBezTo>
                <a:close/>
                <a:moveTo>
                  <a:pt x="314" y="320"/>
                </a:moveTo>
                <a:cubicBezTo>
                  <a:pt x="379" y="320"/>
                  <a:pt x="379" y="320"/>
                  <a:pt x="379" y="320"/>
                </a:cubicBezTo>
                <a:cubicBezTo>
                  <a:pt x="387" y="303"/>
                  <a:pt x="392" y="285"/>
                  <a:pt x="394" y="266"/>
                </a:cubicBezTo>
                <a:cubicBezTo>
                  <a:pt x="319" y="266"/>
                  <a:pt x="319" y="266"/>
                  <a:pt x="319" y="266"/>
                </a:cubicBezTo>
                <a:cubicBezTo>
                  <a:pt x="319" y="284"/>
                  <a:pt x="317" y="303"/>
                  <a:pt x="314" y="320"/>
                </a:cubicBezTo>
                <a:close/>
                <a:moveTo>
                  <a:pt x="147" y="341"/>
                </a:moveTo>
                <a:cubicBezTo>
                  <a:pt x="165" y="364"/>
                  <a:pt x="190" y="381"/>
                  <a:pt x="220" y="389"/>
                </a:cubicBezTo>
                <a:cubicBezTo>
                  <a:pt x="212" y="377"/>
                  <a:pt x="206" y="360"/>
                  <a:pt x="201" y="341"/>
                </a:cubicBezTo>
                <a:lnTo>
                  <a:pt x="147" y="341"/>
                </a:lnTo>
                <a:close/>
                <a:moveTo>
                  <a:pt x="292" y="389"/>
                </a:moveTo>
                <a:cubicBezTo>
                  <a:pt x="321" y="381"/>
                  <a:pt x="347" y="364"/>
                  <a:pt x="365" y="341"/>
                </a:cubicBezTo>
                <a:cubicBezTo>
                  <a:pt x="310" y="341"/>
                  <a:pt x="310" y="341"/>
                  <a:pt x="310" y="341"/>
                </a:cubicBezTo>
                <a:cubicBezTo>
                  <a:pt x="306" y="360"/>
                  <a:pt x="299" y="377"/>
                  <a:pt x="292" y="389"/>
                </a:cubicBezTo>
                <a:close/>
                <a:moveTo>
                  <a:pt x="256" y="394"/>
                </a:moveTo>
                <a:cubicBezTo>
                  <a:pt x="266" y="394"/>
                  <a:pt x="279" y="375"/>
                  <a:pt x="288" y="341"/>
                </a:cubicBezTo>
                <a:cubicBezTo>
                  <a:pt x="223" y="341"/>
                  <a:pt x="223" y="341"/>
                  <a:pt x="223" y="341"/>
                </a:cubicBezTo>
                <a:cubicBezTo>
                  <a:pt x="232" y="375"/>
                  <a:pt x="245" y="394"/>
                  <a:pt x="256" y="394"/>
                </a:cubicBezTo>
                <a:close/>
              </a:path>
            </a:pathLst>
          </a:custGeom>
          <a:solidFill>
            <a:schemeClr val="accent4"/>
          </a:solidFill>
          <a:ln>
            <a:noFill/>
          </a:ln>
        </p:spPr>
        <p:txBody>
          <a:bodyPr vert="horz" wrap="square" lIns="80682" tIns="40341" rIns="80682" bIns="40341" numCol="1" anchor="t" anchorCtr="0" compatLnSpc="1">
            <a:prstTxWarp prst="textNoShape">
              <a:avLst/>
            </a:prstTxWarp>
          </a:bodyPr>
          <a:lstStyle/>
          <a:p>
            <a:endParaRPr lang="en-GB" sz="1765" dirty="0"/>
          </a:p>
        </p:txBody>
      </p:sp>
      <p:sp>
        <p:nvSpPr>
          <p:cNvPr id="15" name="Title 4">
            <a:extLst>
              <a:ext uri="{FF2B5EF4-FFF2-40B4-BE49-F238E27FC236}">
                <a16:creationId xmlns:a16="http://schemas.microsoft.com/office/drawing/2014/main" id="{BAB9E60D-9A27-6BC9-E6E6-8F000879052E}"/>
              </a:ext>
            </a:extLst>
          </p:cNvPr>
          <p:cNvSpPr>
            <a:spLocks noGrp="1"/>
          </p:cNvSpPr>
          <p:nvPr>
            <p:ph type="title"/>
          </p:nvPr>
        </p:nvSpPr>
        <p:spPr>
          <a:xfrm>
            <a:off x="442633" y="367374"/>
            <a:ext cx="10634836" cy="616324"/>
          </a:xfrm>
        </p:spPr>
        <p:txBody>
          <a:bodyPr/>
          <a:lstStyle/>
          <a:p>
            <a:r>
              <a:rPr lang="en-US" dirty="0"/>
              <a:t>Measures to be taken for setting up of a Regulatory Cell within NEA</a:t>
            </a:r>
            <a:br>
              <a:rPr lang="en-US" dirty="0"/>
            </a:br>
            <a:r>
              <a:rPr lang="en-US" sz="1440" i="1" dirty="0">
                <a:solidFill>
                  <a:srgbClr val="012169">
                    <a:lumMod val="60000"/>
                    <a:lumOff val="40000"/>
                  </a:srgbClr>
                </a:solidFill>
              </a:rPr>
              <a:t>People, Processes and Technology</a:t>
            </a:r>
          </a:p>
        </p:txBody>
      </p:sp>
      <p:sp>
        <p:nvSpPr>
          <p:cNvPr id="16" name="Rectangle 15">
            <a:extLst>
              <a:ext uri="{FF2B5EF4-FFF2-40B4-BE49-F238E27FC236}">
                <a16:creationId xmlns:a16="http://schemas.microsoft.com/office/drawing/2014/main" id="{BF78C308-BAE4-A43E-FB56-3C34D999B9BB}"/>
              </a:ext>
            </a:extLst>
          </p:cNvPr>
          <p:cNvSpPr/>
          <p:nvPr/>
        </p:nvSpPr>
        <p:spPr bwMode="gray">
          <a:xfrm>
            <a:off x="3946656" y="3950708"/>
            <a:ext cx="1889818" cy="590939"/>
          </a:xfrm>
          <a:prstGeom prst="rect">
            <a:avLst/>
          </a:prstGeom>
          <a:solidFill>
            <a:schemeClr val="accent1">
              <a:lumMod val="60000"/>
              <a:lumOff val="40000"/>
            </a:schemeClr>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latin typeface="+mj-lt"/>
              </a:rPr>
              <a:t>Physical Infrastructure</a:t>
            </a:r>
            <a:endParaRPr lang="en-IN" sz="1235" b="1" dirty="0">
              <a:latin typeface="+mj-lt"/>
            </a:endParaRPr>
          </a:p>
        </p:txBody>
      </p:sp>
      <p:sp>
        <p:nvSpPr>
          <p:cNvPr id="17" name="Rectangle 16">
            <a:extLst>
              <a:ext uri="{FF2B5EF4-FFF2-40B4-BE49-F238E27FC236}">
                <a16:creationId xmlns:a16="http://schemas.microsoft.com/office/drawing/2014/main" id="{3280E74A-16C4-0D6C-5A2B-418AADCB569B}"/>
              </a:ext>
            </a:extLst>
          </p:cNvPr>
          <p:cNvSpPr/>
          <p:nvPr/>
        </p:nvSpPr>
        <p:spPr bwMode="gray">
          <a:xfrm>
            <a:off x="5907216" y="3950708"/>
            <a:ext cx="1889818" cy="590939"/>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Operational Guidelines</a:t>
            </a:r>
            <a:endParaRPr lang="en-IN" sz="1235" b="1" dirty="0">
              <a:solidFill>
                <a:prstClr val="white"/>
              </a:solidFill>
              <a:latin typeface="+mj-lt"/>
            </a:endParaRPr>
          </a:p>
        </p:txBody>
      </p:sp>
      <p:sp>
        <p:nvSpPr>
          <p:cNvPr id="18" name="Rectangle 17">
            <a:extLst>
              <a:ext uri="{FF2B5EF4-FFF2-40B4-BE49-F238E27FC236}">
                <a16:creationId xmlns:a16="http://schemas.microsoft.com/office/drawing/2014/main" id="{838C017E-5021-BF1C-8929-E6E17575EAFF}"/>
              </a:ext>
            </a:extLst>
          </p:cNvPr>
          <p:cNvSpPr/>
          <p:nvPr/>
        </p:nvSpPr>
        <p:spPr bwMode="gray">
          <a:xfrm>
            <a:off x="7867776" y="3961884"/>
            <a:ext cx="1889818" cy="590939"/>
          </a:xfrm>
          <a:prstGeom prst="rect">
            <a:avLst/>
          </a:prstGeom>
          <a:solidFill>
            <a:schemeClr val="accent2">
              <a:lumMod val="75000"/>
            </a:schemeClr>
          </a:solidFill>
          <a:ln>
            <a:noFill/>
          </a:ln>
        </p:spPr>
        <p:txBody>
          <a:bodyPr vert="horz" wrap="square" lIns="103578" tIns="51789" rIns="103578" bIns="51789" numCol="1" anchor="ctr" anchorCtr="0" compatLnSpc="1">
            <a:prstTxWarp prst="textNoShape">
              <a:avLst/>
            </a:prstTxWarp>
          </a:bodyPr>
          <a:lstStyle/>
          <a:p>
            <a:pPr algn="ctr" defTabSz="1380987">
              <a:defRPr/>
            </a:pPr>
            <a:r>
              <a:rPr lang="en-US" sz="1235" b="1" dirty="0">
                <a:solidFill>
                  <a:prstClr val="white"/>
                </a:solidFill>
                <a:latin typeface="+mj-lt"/>
              </a:rPr>
              <a:t>Tools &amp; Technology</a:t>
            </a:r>
            <a:endParaRPr lang="en-IN" sz="1235" b="1" dirty="0">
              <a:solidFill>
                <a:prstClr val="white"/>
              </a:solidFill>
              <a:latin typeface="+mj-lt"/>
            </a:endParaRPr>
          </a:p>
        </p:txBody>
      </p:sp>
      <p:sp>
        <p:nvSpPr>
          <p:cNvPr id="19" name="Rectangle 18">
            <a:extLst>
              <a:ext uri="{FF2B5EF4-FFF2-40B4-BE49-F238E27FC236}">
                <a16:creationId xmlns:a16="http://schemas.microsoft.com/office/drawing/2014/main" id="{3B15E634-9443-CDD8-C586-591913FD3013}"/>
              </a:ext>
            </a:extLst>
          </p:cNvPr>
          <p:cNvSpPr/>
          <p:nvPr/>
        </p:nvSpPr>
        <p:spPr bwMode="gray">
          <a:xfrm>
            <a:off x="9828336" y="3961884"/>
            <a:ext cx="1889818" cy="590939"/>
          </a:xfrm>
          <a:prstGeom prst="rect">
            <a:avLst/>
          </a:prstGeom>
          <a:solidFill>
            <a:schemeClr val="accent2">
              <a:lumMod val="75000"/>
            </a:schemeClr>
          </a:solidFill>
          <a:ln>
            <a:noFill/>
          </a:ln>
        </p:spPr>
        <p:txBody>
          <a:bodyPr vert="horz" wrap="square" lIns="103578" tIns="51789" rIns="103578" bIns="51789" numCol="1" anchor="ctr" anchorCtr="0" compatLnSpc="1">
            <a:prstTxWarp prst="textNoShape">
              <a:avLst/>
            </a:prstTxWarp>
          </a:bodyPr>
          <a:lstStyle/>
          <a:p>
            <a:pPr algn="ctr" defTabSz="1380987"/>
            <a:r>
              <a:rPr lang="en-US" sz="1235" b="1" dirty="0">
                <a:solidFill>
                  <a:prstClr val="white"/>
                </a:solidFill>
                <a:latin typeface="+mj-lt"/>
              </a:rPr>
              <a:t>Communications</a:t>
            </a:r>
            <a:endParaRPr lang="en-IN" sz="1235" b="1" dirty="0">
              <a:solidFill>
                <a:prstClr val="white"/>
              </a:solidFill>
              <a:latin typeface="+mj-lt"/>
            </a:endParaRPr>
          </a:p>
        </p:txBody>
      </p:sp>
      <p:sp>
        <p:nvSpPr>
          <p:cNvPr id="20" name="TextBox 19">
            <a:extLst>
              <a:ext uri="{FF2B5EF4-FFF2-40B4-BE49-F238E27FC236}">
                <a16:creationId xmlns:a16="http://schemas.microsoft.com/office/drawing/2014/main" id="{32ED463D-2B5D-0007-ADFA-64ABFBF85C1F}"/>
              </a:ext>
            </a:extLst>
          </p:cNvPr>
          <p:cNvSpPr txBox="1"/>
          <p:nvPr/>
        </p:nvSpPr>
        <p:spPr>
          <a:xfrm>
            <a:off x="4012275" y="4552823"/>
            <a:ext cx="1818296" cy="977960"/>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Budgetary approvals, procurement of material and set up of physical infrastructure for Regulatory Cell office. </a:t>
            </a:r>
          </a:p>
        </p:txBody>
      </p:sp>
      <p:sp>
        <p:nvSpPr>
          <p:cNvPr id="21" name="TextBox 20">
            <a:extLst>
              <a:ext uri="{FF2B5EF4-FFF2-40B4-BE49-F238E27FC236}">
                <a16:creationId xmlns:a16="http://schemas.microsoft.com/office/drawing/2014/main" id="{B13436EA-5F64-C44C-E055-E149E79BF6A3}"/>
              </a:ext>
            </a:extLst>
          </p:cNvPr>
          <p:cNvSpPr txBox="1"/>
          <p:nvPr/>
        </p:nvSpPr>
        <p:spPr>
          <a:xfrm>
            <a:off x="5913601" y="4552823"/>
            <a:ext cx="1883916" cy="977960"/>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Establish clearly defined processes including document management, reporting, and compliance checks</a:t>
            </a:r>
          </a:p>
        </p:txBody>
      </p:sp>
      <p:sp>
        <p:nvSpPr>
          <p:cNvPr id="22" name="TextBox 21">
            <a:extLst>
              <a:ext uri="{FF2B5EF4-FFF2-40B4-BE49-F238E27FC236}">
                <a16:creationId xmlns:a16="http://schemas.microsoft.com/office/drawing/2014/main" id="{00078186-90DF-7357-E3D5-BAEBA9AD548F}"/>
              </a:ext>
            </a:extLst>
          </p:cNvPr>
          <p:cNvSpPr txBox="1"/>
          <p:nvPr/>
        </p:nvSpPr>
        <p:spPr>
          <a:xfrm>
            <a:off x="7893836" y="4552824"/>
            <a:ext cx="1883916" cy="1303947"/>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Need assessment for technology such as Document Management System, Compliance Tracking Software, Analytics and Reporting Tools, Communication and Collaboration Tools</a:t>
            </a:r>
          </a:p>
        </p:txBody>
      </p:sp>
      <p:sp>
        <p:nvSpPr>
          <p:cNvPr id="23" name="TextBox 22">
            <a:extLst>
              <a:ext uri="{FF2B5EF4-FFF2-40B4-BE49-F238E27FC236}">
                <a16:creationId xmlns:a16="http://schemas.microsoft.com/office/drawing/2014/main" id="{3ADDC7BB-126C-F909-6A1B-7CE3BA83C28D}"/>
              </a:ext>
            </a:extLst>
          </p:cNvPr>
          <p:cNvSpPr txBox="1"/>
          <p:nvPr/>
        </p:nvSpPr>
        <p:spPr>
          <a:xfrm>
            <a:off x="9820726" y="4552823"/>
            <a:ext cx="1883916" cy="1205073"/>
          </a:xfrm>
          <a:prstGeom prst="rect">
            <a:avLst/>
          </a:prstGeom>
          <a:noFill/>
        </p:spPr>
        <p:txBody>
          <a:bodyPr wrap="square" lIns="0" tIns="0" rIns="0" bIns="0" rtlCol="0">
            <a:spAutoFit/>
          </a:bodyPr>
          <a:lstStyle/>
          <a:p>
            <a:pPr marL="252146" indent="-252146" algn="just">
              <a:spcBef>
                <a:spcPts val="529"/>
              </a:spcBef>
              <a:buSzPct val="100000"/>
              <a:buFont typeface="Arial" panose="020B0604020202020204" pitchFamily="34" charset="0"/>
              <a:buChar char="•"/>
            </a:pPr>
            <a:r>
              <a:rPr lang="en-US" sz="1059" i="1" dirty="0">
                <a:solidFill>
                  <a:srgbClr val="313131"/>
                </a:solidFill>
              </a:rPr>
              <a:t>Develop a communication plan to inform all stakeholders about the regulatory cell's role and importance.</a:t>
            </a:r>
          </a:p>
          <a:p>
            <a:pPr algn="just">
              <a:spcBef>
                <a:spcPts val="529"/>
              </a:spcBef>
              <a:buSzPct val="100000"/>
            </a:pPr>
            <a:endParaRPr lang="en-US" sz="1059" i="1" dirty="0">
              <a:solidFill>
                <a:srgbClr val="313131"/>
              </a:solidFill>
            </a:endParaRPr>
          </a:p>
        </p:txBody>
      </p:sp>
      <p:grpSp>
        <p:nvGrpSpPr>
          <p:cNvPr id="59" name="Group 58">
            <a:extLst>
              <a:ext uri="{FF2B5EF4-FFF2-40B4-BE49-F238E27FC236}">
                <a16:creationId xmlns:a16="http://schemas.microsoft.com/office/drawing/2014/main" id="{87462B9C-B49A-8700-2932-1D88A9B507E8}"/>
              </a:ext>
            </a:extLst>
          </p:cNvPr>
          <p:cNvGrpSpPr/>
          <p:nvPr/>
        </p:nvGrpSpPr>
        <p:grpSpPr>
          <a:xfrm>
            <a:off x="458772" y="5983968"/>
            <a:ext cx="3518500" cy="273061"/>
            <a:chOff x="519941" y="6781839"/>
            <a:chExt cx="3987633" cy="309469"/>
          </a:xfrm>
        </p:grpSpPr>
        <p:sp>
          <p:nvSpPr>
            <p:cNvPr id="85" name="TextBox 84"/>
            <p:cNvSpPr txBox="1"/>
            <p:nvPr/>
          </p:nvSpPr>
          <p:spPr>
            <a:xfrm>
              <a:off x="808728" y="6783626"/>
              <a:ext cx="1243738" cy="307682"/>
            </a:xfrm>
            <a:prstGeom prst="rect">
              <a:avLst/>
            </a:prstGeom>
            <a:noFill/>
          </p:spPr>
          <p:txBody>
            <a:bodyPr wrap="square" lIns="0" tIns="0" rIns="0" bIns="0" rtlCol="0">
              <a:spAutoFit/>
            </a:bodyPr>
            <a:lstStyle/>
            <a:p>
              <a:pPr>
                <a:spcBef>
                  <a:spcPts val="529"/>
                </a:spcBef>
                <a:buSzPct val="100000"/>
              </a:pPr>
              <a:r>
                <a:rPr lang="en-US" sz="882" dirty="0">
                  <a:solidFill>
                    <a:srgbClr val="313131"/>
                  </a:solidFill>
                </a:rPr>
                <a:t>Short Term measures</a:t>
              </a:r>
              <a:endParaRPr lang="en-IN" sz="882" dirty="0">
                <a:solidFill>
                  <a:srgbClr val="313131"/>
                </a:solidFill>
              </a:endParaRPr>
            </a:p>
          </p:txBody>
        </p:sp>
        <p:sp>
          <p:nvSpPr>
            <p:cNvPr id="87" name="Rectangle 86"/>
            <p:cNvSpPr/>
            <p:nvPr/>
          </p:nvSpPr>
          <p:spPr bwMode="gray">
            <a:xfrm>
              <a:off x="519941" y="6845729"/>
              <a:ext cx="180000" cy="180000"/>
            </a:xfrm>
            <a:prstGeom prst="rect">
              <a:avLst/>
            </a:prstGeom>
            <a:solidFill>
              <a:schemeClr val="accent1">
                <a:lumMod val="60000"/>
                <a:lumOff val="40000"/>
              </a:schemeClr>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b="1" dirty="0">
                <a:solidFill>
                  <a:prstClr val="white"/>
                </a:solidFill>
                <a:latin typeface="+mj-lt"/>
              </a:endParaRPr>
            </a:p>
          </p:txBody>
        </p:sp>
        <p:sp>
          <p:nvSpPr>
            <p:cNvPr id="88" name="Rectangle 87"/>
            <p:cNvSpPr/>
            <p:nvPr/>
          </p:nvSpPr>
          <p:spPr bwMode="gray">
            <a:xfrm>
              <a:off x="1712585" y="6845729"/>
              <a:ext cx="180000" cy="180000"/>
            </a:xfrm>
            <a:prstGeom prst="rect">
              <a:avLst/>
            </a:prstGeom>
            <a:solidFill>
              <a:srgbClr val="43B02A"/>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b="1" dirty="0">
                <a:solidFill>
                  <a:prstClr val="white"/>
                </a:solidFill>
                <a:latin typeface="+mj-lt"/>
              </a:endParaRPr>
            </a:p>
          </p:txBody>
        </p:sp>
        <p:sp>
          <p:nvSpPr>
            <p:cNvPr id="25" name="Rectangle 24">
              <a:extLst>
                <a:ext uri="{FF2B5EF4-FFF2-40B4-BE49-F238E27FC236}">
                  <a16:creationId xmlns:a16="http://schemas.microsoft.com/office/drawing/2014/main" id="{73F6E78D-E243-CC3E-193B-47D16909F598}"/>
                </a:ext>
              </a:extLst>
            </p:cNvPr>
            <p:cNvSpPr/>
            <p:nvPr/>
          </p:nvSpPr>
          <p:spPr bwMode="gray">
            <a:xfrm>
              <a:off x="2984159" y="6845729"/>
              <a:ext cx="180000" cy="180000"/>
            </a:xfrm>
            <a:prstGeom prst="rect">
              <a:avLst/>
            </a:prstGeom>
            <a:solidFill>
              <a:schemeClr val="accent2">
                <a:lumMod val="75000"/>
              </a:schemeClr>
            </a:solidFill>
            <a:ln>
              <a:noFill/>
            </a:ln>
          </p:spPr>
          <p:txBody>
            <a:bodyPr vert="horz" wrap="square" lIns="103578" tIns="51789" rIns="103578" bIns="51789" numCol="1" anchor="ctr" anchorCtr="0" compatLnSpc="1">
              <a:prstTxWarp prst="textNoShape">
                <a:avLst/>
              </a:prstTxWarp>
            </a:bodyPr>
            <a:lstStyle/>
            <a:p>
              <a:pPr algn="ctr" defTabSz="1380987">
                <a:defRPr/>
              </a:pPr>
              <a:endParaRPr lang="en-IN" sz="1235" b="1" dirty="0">
                <a:solidFill>
                  <a:prstClr val="white"/>
                </a:solidFill>
                <a:latin typeface="+mj-lt"/>
              </a:endParaRPr>
            </a:p>
          </p:txBody>
        </p:sp>
        <p:sp>
          <p:nvSpPr>
            <p:cNvPr id="46" name="TextBox 45">
              <a:extLst>
                <a:ext uri="{FF2B5EF4-FFF2-40B4-BE49-F238E27FC236}">
                  <a16:creationId xmlns:a16="http://schemas.microsoft.com/office/drawing/2014/main" id="{0217B878-E4C4-B7F1-0D63-1E9BE388803D}"/>
                </a:ext>
              </a:extLst>
            </p:cNvPr>
            <p:cNvSpPr txBox="1"/>
            <p:nvPr/>
          </p:nvSpPr>
          <p:spPr>
            <a:xfrm>
              <a:off x="1970260" y="6781839"/>
              <a:ext cx="1243738" cy="307683"/>
            </a:xfrm>
            <a:prstGeom prst="rect">
              <a:avLst/>
            </a:prstGeom>
            <a:noFill/>
          </p:spPr>
          <p:txBody>
            <a:bodyPr wrap="square" lIns="0" tIns="0" rIns="0" bIns="0" rtlCol="0">
              <a:spAutoFit/>
            </a:bodyPr>
            <a:lstStyle/>
            <a:p>
              <a:pPr>
                <a:spcBef>
                  <a:spcPts val="529"/>
                </a:spcBef>
                <a:buSzPct val="100000"/>
              </a:pPr>
              <a:r>
                <a:rPr lang="en-US" sz="882" dirty="0">
                  <a:solidFill>
                    <a:srgbClr val="313131"/>
                  </a:solidFill>
                </a:rPr>
                <a:t>Medium Term measures</a:t>
              </a:r>
              <a:endParaRPr lang="en-IN" sz="882" dirty="0">
                <a:solidFill>
                  <a:srgbClr val="313131"/>
                </a:solidFill>
              </a:endParaRPr>
            </a:p>
          </p:txBody>
        </p:sp>
        <p:sp>
          <p:nvSpPr>
            <p:cNvPr id="47" name="TextBox 46">
              <a:extLst>
                <a:ext uri="{FF2B5EF4-FFF2-40B4-BE49-F238E27FC236}">
                  <a16:creationId xmlns:a16="http://schemas.microsoft.com/office/drawing/2014/main" id="{7C33D752-DDBA-5857-DECA-6C3AA4945264}"/>
                </a:ext>
              </a:extLst>
            </p:cNvPr>
            <p:cNvSpPr txBox="1"/>
            <p:nvPr/>
          </p:nvSpPr>
          <p:spPr>
            <a:xfrm>
              <a:off x="3263836" y="6781840"/>
              <a:ext cx="1243738" cy="307683"/>
            </a:xfrm>
            <a:prstGeom prst="rect">
              <a:avLst/>
            </a:prstGeom>
            <a:noFill/>
          </p:spPr>
          <p:txBody>
            <a:bodyPr wrap="square" lIns="0" tIns="0" rIns="0" bIns="0" rtlCol="0">
              <a:spAutoFit/>
            </a:bodyPr>
            <a:lstStyle/>
            <a:p>
              <a:pPr>
                <a:spcBef>
                  <a:spcPts val="529"/>
                </a:spcBef>
                <a:buSzPct val="100000"/>
              </a:pPr>
              <a:r>
                <a:rPr lang="en-US" sz="882" dirty="0">
                  <a:solidFill>
                    <a:srgbClr val="313131"/>
                  </a:solidFill>
                </a:rPr>
                <a:t>Long Term measures</a:t>
              </a:r>
              <a:endParaRPr lang="en-IN" sz="882" dirty="0">
                <a:solidFill>
                  <a:srgbClr val="313131"/>
                </a:solidFill>
              </a:endParaRPr>
            </a:p>
          </p:txBody>
        </p:sp>
      </p:grpSp>
      <p:sp>
        <p:nvSpPr>
          <p:cNvPr id="2" name="TextBox 1">
            <a:extLst>
              <a:ext uri="{FF2B5EF4-FFF2-40B4-BE49-F238E27FC236}">
                <a16:creationId xmlns:a16="http://schemas.microsoft.com/office/drawing/2014/main" id="{3DD5ED06-2C0B-1B89-F076-FA2C97687E14}"/>
              </a:ext>
            </a:extLst>
          </p:cNvPr>
          <p:cNvSpPr txBox="1"/>
          <p:nvPr/>
        </p:nvSpPr>
        <p:spPr>
          <a:xfrm>
            <a:off x="530189" y="6317366"/>
            <a:ext cx="908116" cy="135422"/>
          </a:xfrm>
          <a:prstGeom prst="rect">
            <a:avLst/>
          </a:prstGeom>
          <a:noFill/>
        </p:spPr>
        <p:txBody>
          <a:bodyPr wrap="square" lIns="0" tIns="0" rIns="0" bIns="0" rtlCol="0">
            <a:spAutoFit/>
          </a:bodyPr>
          <a:lstStyle/>
          <a:p>
            <a:pPr algn="ctr">
              <a:spcBef>
                <a:spcPts val="600"/>
              </a:spcBef>
              <a:buSzPct val="100000"/>
            </a:pPr>
            <a:r>
              <a:rPr lang="en-US" sz="880" dirty="0">
                <a:solidFill>
                  <a:srgbClr val="313131"/>
                </a:solidFill>
              </a:rPr>
              <a:t>Immediately</a:t>
            </a:r>
          </a:p>
        </p:txBody>
      </p:sp>
      <p:sp>
        <p:nvSpPr>
          <p:cNvPr id="3" name="TextBox 2">
            <a:extLst>
              <a:ext uri="{FF2B5EF4-FFF2-40B4-BE49-F238E27FC236}">
                <a16:creationId xmlns:a16="http://schemas.microsoft.com/office/drawing/2014/main" id="{D9BAC755-6859-72EE-4BC0-2597F0CFDF96}"/>
              </a:ext>
            </a:extLst>
          </p:cNvPr>
          <p:cNvSpPr txBox="1"/>
          <p:nvPr/>
        </p:nvSpPr>
        <p:spPr>
          <a:xfrm>
            <a:off x="1647240" y="6317366"/>
            <a:ext cx="908116" cy="135422"/>
          </a:xfrm>
          <a:prstGeom prst="rect">
            <a:avLst/>
          </a:prstGeom>
          <a:noFill/>
        </p:spPr>
        <p:txBody>
          <a:bodyPr wrap="square" lIns="0" tIns="0" rIns="0" bIns="0" rtlCol="0">
            <a:spAutoFit/>
          </a:bodyPr>
          <a:lstStyle/>
          <a:p>
            <a:pPr algn="ctr">
              <a:spcBef>
                <a:spcPts val="600"/>
              </a:spcBef>
              <a:buSzPct val="100000"/>
            </a:pPr>
            <a:r>
              <a:rPr lang="en-US" sz="880" dirty="0">
                <a:solidFill>
                  <a:srgbClr val="313131"/>
                </a:solidFill>
              </a:rPr>
              <a:t>1 year</a:t>
            </a:r>
          </a:p>
        </p:txBody>
      </p:sp>
      <p:sp>
        <p:nvSpPr>
          <p:cNvPr id="6" name="TextBox 5">
            <a:extLst>
              <a:ext uri="{FF2B5EF4-FFF2-40B4-BE49-F238E27FC236}">
                <a16:creationId xmlns:a16="http://schemas.microsoft.com/office/drawing/2014/main" id="{B64AA691-E088-0FF3-6796-A13EA08A3DBF}"/>
              </a:ext>
            </a:extLst>
          </p:cNvPr>
          <p:cNvSpPr txBox="1"/>
          <p:nvPr/>
        </p:nvSpPr>
        <p:spPr>
          <a:xfrm>
            <a:off x="2633082" y="6317366"/>
            <a:ext cx="908116" cy="135422"/>
          </a:xfrm>
          <a:prstGeom prst="rect">
            <a:avLst/>
          </a:prstGeom>
          <a:noFill/>
        </p:spPr>
        <p:txBody>
          <a:bodyPr wrap="square" lIns="0" tIns="0" rIns="0" bIns="0" rtlCol="0">
            <a:spAutoFit/>
          </a:bodyPr>
          <a:lstStyle/>
          <a:p>
            <a:pPr algn="ctr">
              <a:spcBef>
                <a:spcPts val="600"/>
              </a:spcBef>
              <a:buSzPct val="100000"/>
            </a:pPr>
            <a:r>
              <a:rPr lang="en-US" sz="880" dirty="0">
                <a:solidFill>
                  <a:srgbClr val="313131"/>
                </a:solidFill>
              </a:rPr>
              <a:t>Beyond an year</a:t>
            </a:r>
          </a:p>
        </p:txBody>
      </p:sp>
    </p:spTree>
    <p:extLst>
      <p:ext uri="{BB962C8B-B14F-4D97-AF65-F5344CB8AC3E}">
        <p14:creationId xmlns:p14="http://schemas.microsoft.com/office/powerpoint/2010/main" val="106162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9" y="2580"/>
          <a:ext cx="1587" cy="1587"/>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4" name="Object 3" hidden="1"/>
                      <p:cNvPicPr/>
                      <p:nvPr/>
                    </p:nvPicPr>
                    <p:blipFill>
                      <a:blip r:embed="rId6"/>
                      <a:stretch>
                        <a:fillRect/>
                      </a:stretch>
                    </p:blipFill>
                    <p:spPr>
                      <a:xfrm>
                        <a:off x="1589" y="2580"/>
                        <a:ext cx="1587" cy="1587"/>
                      </a:xfrm>
                      <a:prstGeom prst="rect">
                        <a:avLst/>
                      </a:prstGeom>
                    </p:spPr>
                  </p:pic>
                </p:oleObj>
              </mc:Fallback>
            </mc:AlternateContent>
          </a:graphicData>
        </a:graphic>
      </p:graphicFrame>
      <p:sp>
        <p:nvSpPr>
          <p:cNvPr id="5" name="Rectangle 4" hidden="1"/>
          <p:cNvSpPr/>
          <p:nvPr>
            <p:custDataLst>
              <p:tags r:id="rId2"/>
            </p:custDataLst>
          </p:nvPr>
        </p:nvSpPr>
        <p:spPr>
          <a:xfrm>
            <a:off x="2" y="993"/>
            <a:ext cx="158667" cy="158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defTabSz="899031"/>
            <a:endParaRPr lang="en-US" sz="2118" b="1" dirty="0">
              <a:solidFill>
                <a:prstClr val="white"/>
              </a:solidFill>
              <a:latin typeface="Verdana" panose="020B0604030504040204" pitchFamily="34" charset="0"/>
              <a:sym typeface="Verdana" panose="020B0604030504040204" pitchFamily="34" charset="0"/>
            </a:endParaRPr>
          </a:p>
        </p:txBody>
      </p:sp>
      <p:sp>
        <p:nvSpPr>
          <p:cNvPr id="100" name="Rectangle 99"/>
          <p:cNvSpPr/>
          <p:nvPr/>
        </p:nvSpPr>
        <p:spPr bwMode="gray">
          <a:xfrm>
            <a:off x="705163" y="797371"/>
            <a:ext cx="1515923" cy="359816"/>
          </a:xfrm>
          <a:prstGeom prst="rect">
            <a:avLst/>
          </a:prstGeom>
          <a:noFill/>
          <a:ln w="19050" algn="ctr">
            <a:noFill/>
            <a:miter lim="800000"/>
            <a:headEnd/>
            <a:tailEnd/>
          </a:ln>
        </p:spPr>
        <p:txBody>
          <a:bodyPr wrap="square" lIns="100700" tIns="100700" rIns="100700" bIns="100700" rtlCol="0" anchor="ctr"/>
          <a:lstStyle/>
          <a:p>
            <a:pPr algn="ctr" defTabSz="1381020">
              <a:lnSpc>
                <a:spcPct val="106000"/>
              </a:lnSpc>
              <a:defRPr/>
            </a:pPr>
            <a:endParaRPr lang="en-IN" sz="1412" b="1" dirty="0">
              <a:solidFill>
                <a:srgbClr val="046A38"/>
              </a:solidFill>
              <a:latin typeface="Verdana"/>
            </a:endParaRPr>
          </a:p>
        </p:txBody>
      </p:sp>
      <p:pic>
        <p:nvPicPr>
          <p:cNvPr id="32" name="Picture 6"/>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1854"/>
          <a:stretch/>
        </p:blipFill>
        <p:spPr bwMode="auto">
          <a:xfrm>
            <a:off x="451669" y="1406539"/>
            <a:ext cx="3873853" cy="428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7"/>
          <p:cNvSpPr>
            <a:spLocks/>
          </p:cNvSpPr>
          <p:nvPr/>
        </p:nvSpPr>
        <p:spPr bwMode="auto">
          <a:xfrm>
            <a:off x="441832" y="1613764"/>
            <a:ext cx="3287864" cy="3895237"/>
          </a:xfrm>
          <a:custGeom>
            <a:avLst/>
            <a:gdLst>
              <a:gd name="T0" fmla="*/ 2003 w 3909"/>
              <a:gd name="T1" fmla="*/ 4928 h 5000"/>
              <a:gd name="T2" fmla="*/ 2187 w 3909"/>
              <a:gd name="T3" fmla="*/ 4877 h 5000"/>
              <a:gd name="T4" fmla="*/ 2364 w 3909"/>
              <a:gd name="T5" fmla="*/ 4811 h 5000"/>
              <a:gd name="T6" fmla="*/ 2533 w 3909"/>
              <a:gd name="T7" fmla="*/ 4734 h 5000"/>
              <a:gd name="T8" fmla="*/ 2695 w 3909"/>
              <a:gd name="T9" fmla="*/ 4645 h 5000"/>
              <a:gd name="T10" fmla="*/ 2849 w 3909"/>
              <a:gd name="T11" fmla="*/ 4545 h 5000"/>
              <a:gd name="T12" fmla="*/ 2993 w 3909"/>
              <a:gd name="T13" fmla="*/ 4434 h 5000"/>
              <a:gd name="T14" fmla="*/ 3130 w 3909"/>
              <a:gd name="T15" fmla="*/ 4314 h 5000"/>
              <a:gd name="T16" fmla="*/ 3256 w 3909"/>
              <a:gd name="T17" fmla="*/ 4185 h 5000"/>
              <a:gd name="T18" fmla="*/ 3372 w 3909"/>
              <a:gd name="T19" fmla="*/ 4049 h 5000"/>
              <a:gd name="T20" fmla="*/ 3478 w 3909"/>
              <a:gd name="T21" fmla="*/ 3903 h 5000"/>
              <a:gd name="T22" fmla="*/ 3574 w 3909"/>
              <a:gd name="T23" fmla="*/ 3750 h 5000"/>
              <a:gd name="T24" fmla="*/ 3658 w 3909"/>
              <a:gd name="T25" fmla="*/ 3591 h 5000"/>
              <a:gd name="T26" fmla="*/ 3731 w 3909"/>
              <a:gd name="T27" fmla="*/ 3427 h 5000"/>
              <a:gd name="T28" fmla="*/ 3792 w 3909"/>
              <a:gd name="T29" fmla="*/ 3256 h 5000"/>
              <a:gd name="T30" fmla="*/ 3841 w 3909"/>
              <a:gd name="T31" fmla="*/ 3082 h 5000"/>
              <a:gd name="T32" fmla="*/ 3876 w 3909"/>
              <a:gd name="T33" fmla="*/ 2902 h 5000"/>
              <a:gd name="T34" fmla="*/ 3900 w 3909"/>
              <a:gd name="T35" fmla="*/ 2720 h 5000"/>
              <a:gd name="T36" fmla="*/ 3909 w 3909"/>
              <a:gd name="T37" fmla="*/ 2536 h 5000"/>
              <a:gd name="T38" fmla="*/ 3904 w 3909"/>
              <a:gd name="T39" fmla="*/ 2349 h 5000"/>
              <a:gd name="T40" fmla="*/ 3885 w 3909"/>
              <a:gd name="T41" fmla="*/ 2159 h 5000"/>
              <a:gd name="T42" fmla="*/ 3852 w 3909"/>
              <a:gd name="T43" fmla="*/ 1970 h 5000"/>
              <a:gd name="T44" fmla="*/ 3821 w 3909"/>
              <a:gd name="T45" fmla="*/ 1846 h 5000"/>
              <a:gd name="T46" fmla="*/ 3765 w 3909"/>
              <a:gd name="T47" fmla="*/ 1664 h 5000"/>
              <a:gd name="T48" fmla="*/ 3696 w 3909"/>
              <a:gd name="T49" fmla="*/ 1488 h 5000"/>
              <a:gd name="T50" fmla="*/ 3614 w 3909"/>
              <a:gd name="T51" fmla="*/ 1321 h 5000"/>
              <a:gd name="T52" fmla="*/ 3521 w 3909"/>
              <a:gd name="T53" fmla="*/ 1162 h 5000"/>
              <a:gd name="T54" fmla="*/ 3418 w 3909"/>
              <a:gd name="T55" fmla="*/ 1012 h 5000"/>
              <a:gd name="T56" fmla="*/ 3304 w 3909"/>
              <a:gd name="T57" fmla="*/ 870 h 5000"/>
              <a:gd name="T58" fmla="*/ 3181 w 3909"/>
              <a:gd name="T59" fmla="*/ 737 h 5000"/>
              <a:gd name="T60" fmla="*/ 3050 w 3909"/>
              <a:gd name="T61" fmla="*/ 613 h 5000"/>
              <a:gd name="T62" fmla="*/ 2910 w 3909"/>
              <a:gd name="T63" fmla="*/ 501 h 5000"/>
              <a:gd name="T64" fmla="*/ 2762 w 3909"/>
              <a:gd name="T65" fmla="*/ 399 h 5000"/>
              <a:gd name="T66" fmla="*/ 2607 w 3909"/>
              <a:gd name="T67" fmla="*/ 306 h 5000"/>
              <a:gd name="T68" fmla="*/ 2446 w 3909"/>
              <a:gd name="T69" fmla="*/ 225 h 5000"/>
              <a:gd name="T70" fmla="*/ 2279 w 3909"/>
              <a:gd name="T71" fmla="*/ 157 h 5000"/>
              <a:gd name="T72" fmla="*/ 2107 w 3909"/>
              <a:gd name="T73" fmla="*/ 100 h 5000"/>
              <a:gd name="T74" fmla="*/ 1932 w 3909"/>
              <a:gd name="T75" fmla="*/ 55 h 5000"/>
              <a:gd name="T76" fmla="*/ 1751 w 3909"/>
              <a:gd name="T77" fmla="*/ 23 h 5000"/>
              <a:gd name="T78" fmla="*/ 1568 w 3909"/>
              <a:gd name="T79" fmla="*/ 5 h 5000"/>
              <a:gd name="T80" fmla="*/ 1382 w 3909"/>
              <a:gd name="T81" fmla="*/ 0 h 5000"/>
              <a:gd name="T82" fmla="*/ 1195 w 3909"/>
              <a:gd name="T83" fmla="*/ 11 h 5000"/>
              <a:gd name="T84" fmla="*/ 1006 w 3909"/>
              <a:gd name="T85" fmla="*/ 33 h 5000"/>
              <a:gd name="T86" fmla="*/ 879 w 3909"/>
              <a:gd name="T87" fmla="*/ 57 h 5000"/>
              <a:gd name="T88" fmla="*/ 700 w 3909"/>
              <a:gd name="T89" fmla="*/ 104 h 5000"/>
              <a:gd name="T90" fmla="*/ 527 w 3909"/>
              <a:gd name="T91" fmla="*/ 162 h 5000"/>
              <a:gd name="T92" fmla="*/ 360 w 3909"/>
              <a:gd name="T93" fmla="*/ 232 h 5000"/>
              <a:gd name="T94" fmla="*/ 201 w 3909"/>
              <a:gd name="T95" fmla="*/ 313 h 5000"/>
              <a:gd name="T96" fmla="*/ 49 w 3909"/>
              <a:gd name="T97" fmla="*/ 404 h 5000"/>
              <a:gd name="T98" fmla="*/ 0 w 3909"/>
              <a:gd name="T99" fmla="*/ 4564 h 5000"/>
              <a:gd name="T100" fmla="*/ 158 w 3909"/>
              <a:gd name="T101" fmla="*/ 4664 h 5000"/>
              <a:gd name="T102" fmla="*/ 322 w 3909"/>
              <a:gd name="T103" fmla="*/ 4751 h 5000"/>
              <a:gd name="T104" fmla="*/ 494 w 3909"/>
              <a:gd name="T105" fmla="*/ 4826 h 5000"/>
              <a:gd name="T106" fmla="*/ 670 w 3909"/>
              <a:gd name="T107" fmla="*/ 4889 h 5000"/>
              <a:gd name="T108" fmla="*/ 852 w 3909"/>
              <a:gd name="T109" fmla="*/ 4937 h 5000"/>
              <a:gd name="T110" fmla="*/ 1037 w 3909"/>
              <a:gd name="T111" fmla="*/ 4973 h 5000"/>
              <a:gd name="T112" fmla="*/ 1227 w 3909"/>
              <a:gd name="T113" fmla="*/ 4994 h 5000"/>
              <a:gd name="T114" fmla="*/ 1419 w 3909"/>
              <a:gd name="T115" fmla="*/ 5000 h 5000"/>
              <a:gd name="T116" fmla="*/ 1613 w 3909"/>
              <a:gd name="T117" fmla="*/ 4993 h 5000"/>
              <a:gd name="T118" fmla="*/ 1809 w 3909"/>
              <a:gd name="T119" fmla="*/ 4969 h 5000"/>
              <a:gd name="T120" fmla="*/ 1941 w 3909"/>
              <a:gd name="T121" fmla="*/ 4944 h 5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253 w 10000"/>
              <a:gd name="connsiteY145" fmla="*/ 744 h 10000"/>
              <a:gd name="connsiteX146" fmla="*/ 125 w 10000"/>
              <a:gd name="connsiteY146" fmla="*/ 808 h 10000"/>
              <a:gd name="connsiteX147" fmla="*/ 0 w 10000"/>
              <a:gd name="connsiteY147" fmla="*/ 9128 h 10000"/>
              <a:gd name="connsiteX148" fmla="*/ 0 w 10000"/>
              <a:gd name="connsiteY148" fmla="*/ 9128 h 10000"/>
              <a:gd name="connsiteX149" fmla="*/ 133 w 10000"/>
              <a:gd name="connsiteY149" fmla="*/ 9198 h 10000"/>
              <a:gd name="connsiteX150" fmla="*/ 269 w 10000"/>
              <a:gd name="connsiteY150" fmla="*/ 9262 h 10000"/>
              <a:gd name="connsiteX151" fmla="*/ 404 w 10000"/>
              <a:gd name="connsiteY151" fmla="*/ 9328 h 10000"/>
              <a:gd name="connsiteX152" fmla="*/ 542 w 10000"/>
              <a:gd name="connsiteY152" fmla="*/ 9390 h 10000"/>
              <a:gd name="connsiteX153" fmla="*/ 683 w 10000"/>
              <a:gd name="connsiteY153" fmla="*/ 9448 h 10000"/>
              <a:gd name="connsiteX154" fmla="*/ 824 w 10000"/>
              <a:gd name="connsiteY154" fmla="*/ 9502 h 10000"/>
              <a:gd name="connsiteX155" fmla="*/ 970 w 10000"/>
              <a:gd name="connsiteY155" fmla="*/ 9556 h 10000"/>
              <a:gd name="connsiteX156" fmla="*/ 1115 w 10000"/>
              <a:gd name="connsiteY156" fmla="*/ 9606 h 10000"/>
              <a:gd name="connsiteX157" fmla="*/ 1264 w 10000"/>
              <a:gd name="connsiteY157" fmla="*/ 9652 h 10000"/>
              <a:gd name="connsiteX158" fmla="*/ 1412 w 10000"/>
              <a:gd name="connsiteY158" fmla="*/ 9698 h 10000"/>
              <a:gd name="connsiteX159" fmla="*/ 1561 w 10000"/>
              <a:gd name="connsiteY159" fmla="*/ 9738 h 10000"/>
              <a:gd name="connsiteX160" fmla="*/ 1714 w 10000"/>
              <a:gd name="connsiteY160" fmla="*/ 9778 h 10000"/>
              <a:gd name="connsiteX161" fmla="*/ 1867 w 10000"/>
              <a:gd name="connsiteY161" fmla="*/ 9814 h 10000"/>
              <a:gd name="connsiteX162" fmla="*/ 2024 w 10000"/>
              <a:gd name="connsiteY162" fmla="*/ 9846 h 10000"/>
              <a:gd name="connsiteX163" fmla="*/ 2180 w 10000"/>
              <a:gd name="connsiteY163" fmla="*/ 9874 h 10000"/>
              <a:gd name="connsiteX164" fmla="*/ 2336 w 10000"/>
              <a:gd name="connsiteY164" fmla="*/ 9902 h 10000"/>
              <a:gd name="connsiteX165" fmla="*/ 2494 w 10000"/>
              <a:gd name="connsiteY165" fmla="*/ 9926 h 10000"/>
              <a:gd name="connsiteX166" fmla="*/ 2653 w 10000"/>
              <a:gd name="connsiteY166" fmla="*/ 9946 h 10000"/>
              <a:gd name="connsiteX167" fmla="*/ 2814 w 10000"/>
              <a:gd name="connsiteY167" fmla="*/ 9962 h 10000"/>
              <a:gd name="connsiteX168" fmla="*/ 2978 w 10000"/>
              <a:gd name="connsiteY168" fmla="*/ 9978 h 10000"/>
              <a:gd name="connsiteX169" fmla="*/ 3139 w 10000"/>
              <a:gd name="connsiteY169" fmla="*/ 9988 h 10000"/>
              <a:gd name="connsiteX170" fmla="*/ 3303 w 10000"/>
              <a:gd name="connsiteY170" fmla="*/ 9996 h 10000"/>
              <a:gd name="connsiteX171" fmla="*/ 3464 w 10000"/>
              <a:gd name="connsiteY171" fmla="*/ 10000 h 10000"/>
              <a:gd name="connsiteX172" fmla="*/ 3630 w 10000"/>
              <a:gd name="connsiteY172" fmla="*/ 10000 h 10000"/>
              <a:gd name="connsiteX173" fmla="*/ 3794 w 10000"/>
              <a:gd name="connsiteY173" fmla="*/ 9998 h 10000"/>
              <a:gd name="connsiteX174" fmla="*/ 3963 w 10000"/>
              <a:gd name="connsiteY174" fmla="*/ 9994 h 10000"/>
              <a:gd name="connsiteX175" fmla="*/ 4126 w 10000"/>
              <a:gd name="connsiteY175" fmla="*/ 9986 h 10000"/>
              <a:gd name="connsiteX176" fmla="*/ 4295 w 10000"/>
              <a:gd name="connsiteY176" fmla="*/ 9974 h 10000"/>
              <a:gd name="connsiteX177" fmla="*/ 4461 w 10000"/>
              <a:gd name="connsiteY177" fmla="*/ 9956 h 10000"/>
              <a:gd name="connsiteX178" fmla="*/ 4628 w 10000"/>
              <a:gd name="connsiteY178" fmla="*/ 9938 h 10000"/>
              <a:gd name="connsiteX179" fmla="*/ 4797 w 10000"/>
              <a:gd name="connsiteY179" fmla="*/ 9912 h 10000"/>
              <a:gd name="connsiteX180" fmla="*/ 4965 w 10000"/>
              <a:gd name="connsiteY180" fmla="*/ 9888 h 10000"/>
              <a:gd name="connsiteX181" fmla="*/ 4965 w 10000"/>
              <a:gd name="connsiteY181"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253 w 10000"/>
              <a:gd name="connsiteY145" fmla="*/ 744 h 10000"/>
              <a:gd name="connsiteX146" fmla="*/ 0 w 10000"/>
              <a:gd name="connsiteY146" fmla="*/ 9128 h 10000"/>
              <a:gd name="connsiteX147" fmla="*/ 0 w 10000"/>
              <a:gd name="connsiteY147" fmla="*/ 9128 h 10000"/>
              <a:gd name="connsiteX148" fmla="*/ 133 w 10000"/>
              <a:gd name="connsiteY148" fmla="*/ 9198 h 10000"/>
              <a:gd name="connsiteX149" fmla="*/ 269 w 10000"/>
              <a:gd name="connsiteY149" fmla="*/ 9262 h 10000"/>
              <a:gd name="connsiteX150" fmla="*/ 404 w 10000"/>
              <a:gd name="connsiteY150" fmla="*/ 9328 h 10000"/>
              <a:gd name="connsiteX151" fmla="*/ 542 w 10000"/>
              <a:gd name="connsiteY151" fmla="*/ 9390 h 10000"/>
              <a:gd name="connsiteX152" fmla="*/ 683 w 10000"/>
              <a:gd name="connsiteY152" fmla="*/ 9448 h 10000"/>
              <a:gd name="connsiteX153" fmla="*/ 824 w 10000"/>
              <a:gd name="connsiteY153" fmla="*/ 9502 h 10000"/>
              <a:gd name="connsiteX154" fmla="*/ 970 w 10000"/>
              <a:gd name="connsiteY154" fmla="*/ 9556 h 10000"/>
              <a:gd name="connsiteX155" fmla="*/ 1115 w 10000"/>
              <a:gd name="connsiteY155" fmla="*/ 9606 h 10000"/>
              <a:gd name="connsiteX156" fmla="*/ 1264 w 10000"/>
              <a:gd name="connsiteY156" fmla="*/ 9652 h 10000"/>
              <a:gd name="connsiteX157" fmla="*/ 1412 w 10000"/>
              <a:gd name="connsiteY157" fmla="*/ 9698 h 10000"/>
              <a:gd name="connsiteX158" fmla="*/ 1561 w 10000"/>
              <a:gd name="connsiteY158" fmla="*/ 9738 h 10000"/>
              <a:gd name="connsiteX159" fmla="*/ 1714 w 10000"/>
              <a:gd name="connsiteY159" fmla="*/ 9778 h 10000"/>
              <a:gd name="connsiteX160" fmla="*/ 1867 w 10000"/>
              <a:gd name="connsiteY160" fmla="*/ 9814 h 10000"/>
              <a:gd name="connsiteX161" fmla="*/ 2024 w 10000"/>
              <a:gd name="connsiteY161" fmla="*/ 9846 h 10000"/>
              <a:gd name="connsiteX162" fmla="*/ 2180 w 10000"/>
              <a:gd name="connsiteY162" fmla="*/ 9874 h 10000"/>
              <a:gd name="connsiteX163" fmla="*/ 2336 w 10000"/>
              <a:gd name="connsiteY163" fmla="*/ 9902 h 10000"/>
              <a:gd name="connsiteX164" fmla="*/ 2494 w 10000"/>
              <a:gd name="connsiteY164" fmla="*/ 9926 h 10000"/>
              <a:gd name="connsiteX165" fmla="*/ 2653 w 10000"/>
              <a:gd name="connsiteY165" fmla="*/ 9946 h 10000"/>
              <a:gd name="connsiteX166" fmla="*/ 2814 w 10000"/>
              <a:gd name="connsiteY166" fmla="*/ 9962 h 10000"/>
              <a:gd name="connsiteX167" fmla="*/ 2978 w 10000"/>
              <a:gd name="connsiteY167" fmla="*/ 9978 h 10000"/>
              <a:gd name="connsiteX168" fmla="*/ 3139 w 10000"/>
              <a:gd name="connsiteY168" fmla="*/ 9988 h 10000"/>
              <a:gd name="connsiteX169" fmla="*/ 3303 w 10000"/>
              <a:gd name="connsiteY169" fmla="*/ 9996 h 10000"/>
              <a:gd name="connsiteX170" fmla="*/ 3464 w 10000"/>
              <a:gd name="connsiteY170" fmla="*/ 10000 h 10000"/>
              <a:gd name="connsiteX171" fmla="*/ 3630 w 10000"/>
              <a:gd name="connsiteY171" fmla="*/ 10000 h 10000"/>
              <a:gd name="connsiteX172" fmla="*/ 3794 w 10000"/>
              <a:gd name="connsiteY172" fmla="*/ 9998 h 10000"/>
              <a:gd name="connsiteX173" fmla="*/ 3963 w 10000"/>
              <a:gd name="connsiteY173" fmla="*/ 9994 h 10000"/>
              <a:gd name="connsiteX174" fmla="*/ 4126 w 10000"/>
              <a:gd name="connsiteY174" fmla="*/ 9986 h 10000"/>
              <a:gd name="connsiteX175" fmla="*/ 4295 w 10000"/>
              <a:gd name="connsiteY175" fmla="*/ 9974 h 10000"/>
              <a:gd name="connsiteX176" fmla="*/ 4461 w 10000"/>
              <a:gd name="connsiteY176" fmla="*/ 9956 h 10000"/>
              <a:gd name="connsiteX177" fmla="*/ 4628 w 10000"/>
              <a:gd name="connsiteY177" fmla="*/ 9938 h 10000"/>
              <a:gd name="connsiteX178" fmla="*/ 4797 w 10000"/>
              <a:gd name="connsiteY178" fmla="*/ 9912 h 10000"/>
              <a:gd name="connsiteX179" fmla="*/ 4965 w 10000"/>
              <a:gd name="connsiteY179" fmla="*/ 9888 h 10000"/>
              <a:gd name="connsiteX180" fmla="*/ 4965 w 10000"/>
              <a:gd name="connsiteY180"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115 w 10000"/>
              <a:gd name="connsiteY154" fmla="*/ 9606 h 10000"/>
              <a:gd name="connsiteX155" fmla="*/ 1264 w 10000"/>
              <a:gd name="connsiteY155" fmla="*/ 9652 h 10000"/>
              <a:gd name="connsiteX156" fmla="*/ 1412 w 10000"/>
              <a:gd name="connsiteY156" fmla="*/ 9698 h 10000"/>
              <a:gd name="connsiteX157" fmla="*/ 1561 w 10000"/>
              <a:gd name="connsiteY157" fmla="*/ 9738 h 10000"/>
              <a:gd name="connsiteX158" fmla="*/ 1714 w 10000"/>
              <a:gd name="connsiteY158" fmla="*/ 9778 h 10000"/>
              <a:gd name="connsiteX159" fmla="*/ 1867 w 10000"/>
              <a:gd name="connsiteY159" fmla="*/ 9814 h 10000"/>
              <a:gd name="connsiteX160" fmla="*/ 2024 w 10000"/>
              <a:gd name="connsiteY160" fmla="*/ 9846 h 10000"/>
              <a:gd name="connsiteX161" fmla="*/ 2180 w 10000"/>
              <a:gd name="connsiteY161" fmla="*/ 9874 h 10000"/>
              <a:gd name="connsiteX162" fmla="*/ 2336 w 10000"/>
              <a:gd name="connsiteY162" fmla="*/ 9902 h 10000"/>
              <a:gd name="connsiteX163" fmla="*/ 2494 w 10000"/>
              <a:gd name="connsiteY163" fmla="*/ 9926 h 10000"/>
              <a:gd name="connsiteX164" fmla="*/ 2653 w 10000"/>
              <a:gd name="connsiteY164" fmla="*/ 9946 h 10000"/>
              <a:gd name="connsiteX165" fmla="*/ 2814 w 10000"/>
              <a:gd name="connsiteY165" fmla="*/ 9962 h 10000"/>
              <a:gd name="connsiteX166" fmla="*/ 2978 w 10000"/>
              <a:gd name="connsiteY166" fmla="*/ 9978 h 10000"/>
              <a:gd name="connsiteX167" fmla="*/ 3139 w 10000"/>
              <a:gd name="connsiteY167" fmla="*/ 9988 h 10000"/>
              <a:gd name="connsiteX168" fmla="*/ 3303 w 10000"/>
              <a:gd name="connsiteY168" fmla="*/ 9996 h 10000"/>
              <a:gd name="connsiteX169" fmla="*/ 3464 w 10000"/>
              <a:gd name="connsiteY169" fmla="*/ 10000 h 10000"/>
              <a:gd name="connsiteX170" fmla="*/ 3630 w 10000"/>
              <a:gd name="connsiteY170" fmla="*/ 10000 h 10000"/>
              <a:gd name="connsiteX171" fmla="*/ 3794 w 10000"/>
              <a:gd name="connsiteY171" fmla="*/ 9998 h 10000"/>
              <a:gd name="connsiteX172" fmla="*/ 3963 w 10000"/>
              <a:gd name="connsiteY172" fmla="*/ 9994 h 10000"/>
              <a:gd name="connsiteX173" fmla="*/ 4126 w 10000"/>
              <a:gd name="connsiteY173" fmla="*/ 9986 h 10000"/>
              <a:gd name="connsiteX174" fmla="*/ 4295 w 10000"/>
              <a:gd name="connsiteY174" fmla="*/ 9974 h 10000"/>
              <a:gd name="connsiteX175" fmla="*/ 4461 w 10000"/>
              <a:gd name="connsiteY175" fmla="*/ 9956 h 10000"/>
              <a:gd name="connsiteX176" fmla="*/ 4628 w 10000"/>
              <a:gd name="connsiteY176" fmla="*/ 9938 h 10000"/>
              <a:gd name="connsiteX177" fmla="*/ 4797 w 10000"/>
              <a:gd name="connsiteY177" fmla="*/ 9912 h 10000"/>
              <a:gd name="connsiteX178" fmla="*/ 4965 w 10000"/>
              <a:gd name="connsiteY178" fmla="*/ 9888 h 10000"/>
              <a:gd name="connsiteX179" fmla="*/ 4965 w 10000"/>
              <a:gd name="connsiteY179"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115 w 10000"/>
              <a:gd name="connsiteY154" fmla="*/ 9606 h 10000"/>
              <a:gd name="connsiteX155" fmla="*/ 1412 w 10000"/>
              <a:gd name="connsiteY155" fmla="*/ 9698 h 10000"/>
              <a:gd name="connsiteX156" fmla="*/ 1561 w 10000"/>
              <a:gd name="connsiteY156" fmla="*/ 9738 h 10000"/>
              <a:gd name="connsiteX157" fmla="*/ 1714 w 10000"/>
              <a:gd name="connsiteY157" fmla="*/ 9778 h 10000"/>
              <a:gd name="connsiteX158" fmla="*/ 1867 w 10000"/>
              <a:gd name="connsiteY158" fmla="*/ 9814 h 10000"/>
              <a:gd name="connsiteX159" fmla="*/ 2024 w 10000"/>
              <a:gd name="connsiteY159" fmla="*/ 9846 h 10000"/>
              <a:gd name="connsiteX160" fmla="*/ 2180 w 10000"/>
              <a:gd name="connsiteY160" fmla="*/ 9874 h 10000"/>
              <a:gd name="connsiteX161" fmla="*/ 2336 w 10000"/>
              <a:gd name="connsiteY161" fmla="*/ 9902 h 10000"/>
              <a:gd name="connsiteX162" fmla="*/ 2494 w 10000"/>
              <a:gd name="connsiteY162" fmla="*/ 9926 h 10000"/>
              <a:gd name="connsiteX163" fmla="*/ 2653 w 10000"/>
              <a:gd name="connsiteY163" fmla="*/ 9946 h 10000"/>
              <a:gd name="connsiteX164" fmla="*/ 2814 w 10000"/>
              <a:gd name="connsiteY164" fmla="*/ 9962 h 10000"/>
              <a:gd name="connsiteX165" fmla="*/ 2978 w 10000"/>
              <a:gd name="connsiteY165" fmla="*/ 9978 h 10000"/>
              <a:gd name="connsiteX166" fmla="*/ 3139 w 10000"/>
              <a:gd name="connsiteY166" fmla="*/ 9988 h 10000"/>
              <a:gd name="connsiteX167" fmla="*/ 3303 w 10000"/>
              <a:gd name="connsiteY167" fmla="*/ 9996 h 10000"/>
              <a:gd name="connsiteX168" fmla="*/ 3464 w 10000"/>
              <a:gd name="connsiteY168" fmla="*/ 10000 h 10000"/>
              <a:gd name="connsiteX169" fmla="*/ 3630 w 10000"/>
              <a:gd name="connsiteY169" fmla="*/ 10000 h 10000"/>
              <a:gd name="connsiteX170" fmla="*/ 3794 w 10000"/>
              <a:gd name="connsiteY170" fmla="*/ 9998 h 10000"/>
              <a:gd name="connsiteX171" fmla="*/ 3963 w 10000"/>
              <a:gd name="connsiteY171" fmla="*/ 9994 h 10000"/>
              <a:gd name="connsiteX172" fmla="*/ 4126 w 10000"/>
              <a:gd name="connsiteY172" fmla="*/ 9986 h 10000"/>
              <a:gd name="connsiteX173" fmla="*/ 4295 w 10000"/>
              <a:gd name="connsiteY173" fmla="*/ 9974 h 10000"/>
              <a:gd name="connsiteX174" fmla="*/ 4461 w 10000"/>
              <a:gd name="connsiteY174" fmla="*/ 9956 h 10000"/>
              <a:gd name="connsiteX175" fmla="*/ 4628 w 10000"/>
              <a:gd name="connsiteY175" fmla="*/ 9938 h 10000"/>
              <a:gd name="connsiteX176" fmla="*/ 4797 w 10000"/>
              <a:gd name="connsiteY176" fmla="*/ 9912 h 10000"/>
              <a:gd name="connsiteX177" fmla="*/ 4965 w 10000"/>
              <a:gd name="connsiteY177" fmla="*/ 9888 h 10000"/>
              <a:gd name="connsiteX178" fmla="*/ 4965 w 10000"/>
              <a:gd name="connsiteY178"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970 w 10000"/>
              <a:gd name="connsiteY153" fmla="*/ 9556 h 10000"/>
              <a:gd name="connsiteX154" fmla="*/ 1412 w 10000"/>
              <a:gd name="connsiteY154" fmla="*/ 9698 h 10000"/>
              <a:gd name="connsiteX155" fmla="*/ 1561 w 10000"/>
              <a:gd name="connsiteY155" fmla="*/ 9738 h 10000"/>
              <a:gd name="connsiteX156" fmla="*/ 1714 w 10000"/>
              <a:gd name="connsiteY156" fmla="*/ 9778 h 10000"/>
              <a:gd name="connsiteX157" fmla="*/ 1867 w 10000"/>
              <a:gd name="connsiteY157" fmla="*/ 9814 h 10000"/>
              <a:gd name="connsiteX158" fmla="*/ 2024 w 10000"/>
              <a:gd name="connsiteY158" fmla="*/ 9846 h 10000"/>
              <a:gd name="connsiteX159" fmla="*/ 2180 w 10000"/>
              <a:gd name="connsiteY159" fmla="*/ 9874 h 10000"/>
              <a:gd name="connsiteX160" fmla="*/ 2336 w 10000"/>
              <a:gd name="connsiteY160" fmla="*/ 9902 h 10000"/>
              <a:gd name="connsiteX161" fmla="*/ 2494 w 10000"/>
              <a:gd name="connsiteY161" fmla="*/ 9926 h 10000"/>
              <a:gd name="connsiteX162" fmla="*/ 2653 w 10000"/>
              <a:gd name="connsiteY162" fmla="*/ 9946 h 10000"/>
              <a:gd name="connsiteX163" fmla="*/ 2814 w 10000"/>
              <a:gd name="connsiteY163" fmla="*/ 9962 h 10000"/>
              <a:gd name="connsiteX164" fmla="*/ 2978 w 10000"/>
              <a:gd name="connsiteY164" fmla="*/ 9978 h 10000"/>
              <a:gd name="connsiteX165" fmla="*/ 3139 w 10000"/>
              <a:gd name="connsiteY165" fmla="*/ 9988 h 10000"/>
              <a:gd name="connsiteX166" fmla="*/ 3303 w 10000"/>
              <a:gd name="connsiteY166" fmla="*/ 9996 h 10000"/>
              <a:gd name="connsiteX167" fmla="*/ 3464 w 10000"/>
              <a:gd name="connsiteY167" fmla="*/ 10000 h 10000"/>
              <a:gd name="connsiteX168" fmla="*/ 3630 w 10000"/>
              <a:gd name="connsiteY168" fmla="*/ 10000 h 10000"/>
              <a:gd name="connsiteX169" fmla="*/ 3794 w 10000"/>
              <a:gd name="connsiteY169" fmla="*/ 9998 h 10000"/>
              <a:gd name="connsiteX170" fmla="*/ 3963 w 10000"/>
              <a:gd name="connsiteY170" fmla="*/ 9994 h 10000"/>
              <a:gd name="connsiteX171" fmla="*/ 4126 w 10000"/>
              <a:gd name="connsiteY171" fmla="*/ 9986 h 10000"/>
              <a:gd name="connsiteX172" fmla="*/ 4295 w 10000"/>
              <a:gd name="connsiteY172" fmla="*/ 9974 h 10000"/>
              <a:gd name="connsiteX173" fmla="*/ 4461 w 10000"/>
              <a:gd name="connsiteY173" fmla="*/ 9956 h 10000"/>
              <a:gd name="connsiteX174" fmla="*/ 4628 w 10000"/>
              <a:gd name="connsiteY174" fmla="*/ 9938 h 10000"/>
              <a:gd name="connsiteX175" fmla="*/ 4797 w 10000"/>
              <a:gd name="connsiteY175" fmla="*/ 9912 h 10000"/>
              <a:gd name="connsiteX176" fmla="*/ 4965 w 10000"/>
              <a:gd name="connsiteY176" fmla="*/ 9888 h 10000"/>
              <a:gd name="connsiteX177" fmla="*/ 4965 w 10000"/>
              <a:gd name="connsiteY177"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824 w 10000"/>
              <a:gd name="connsiteY152" fmla="*/ 9502 h 10000"/>
              <a:gd name="connsiteX153" fmla="*/ 1412 w 10000"/>
              <a:gd name="connsiteY153" fmla="*/ 9698 h 10000"/>
              <a:gd name="connsiteX154" fmla="*/ 1561 w 10000"/>
              <a:gd name="connsiteY154" fmla="*/ 9738 h 10000"/>
              <a:gd name="connsiteX155" fmla="*/ 1714 w 10000"/>
              <a:gd name="connsiteY155" fmla="*/ 9778 h 10000"/>
              <a:gd name="connsiteX156" fmla="*/ 1867 w 10000"/>
              <a:gd name="connsiteY156" fmla="*/ 9814 h 10000"/>
              <a:gd name="connsiteX157" fmla="*/ 2024 w 10000"/>
              <a:gd name="connsiteY157" fmla="*/ 9846 h 10000"/>
              <a:gd name="connsiteX158" fmla="*/ 2180 w 10000"/>
              <a:gd name="connsiteY158" fmla="*/ 9874 h 10000"/>
              <a:gd name="connsiteX159" fmla="*/ 2336 w 10000"/>
              <a:gd name="connsiteY159" fmla="*/ 9902 h 10000"/>
              <a:gd name="connsiteX160" fmla="*/ 2494 w 10000"/>
              <a:gd name="connsiteY160" fmla="*/ 9926 h 10000"/>
              <a:gd name="connsiteX161" fmla="*/ 2653 w 10000"/>
              <a:gd name="connsiteY161" fmla="*/ 9946 h 10000"/>
              <a:gd name="connsiteX162" fmla="*/ 2814 w 10000"/>
              <a:gd name="connsiteY162" fmla="*/ 9962 h 10000"/>
              <a:gd name="connsiteX163" fmla="*/ 2978 w 10000"/>
              <a:gd name="connsiteY163" fmla="*/ 9978 h 10000"/>
              <a:gd name="connsiteX164" fmla="*/ 3139 w 10000"/>
              <a:gd name="connsiteY164" fmla="*/ 9988 h 10000"/>
              <a:gd name="connsiteX165" fmla="*/ 3303 w 10000"/>
              <a:gd name="connsiteY165" fmla="*/ 9996 h 10000"/>
              <a:gd name="connsiteX166" fmla="*/ 3464 w 10000"/>
              <a:gd name="connsiteY166" fmla="*/ 10000 h 10000"/>
              <a:gd name="connsiteX167" fmla="*/ 3630 w 10000"/>
              <a:gd name="connsiteY167" fmla="*/ 10000 h 10000"/>
              <a:gd name="connsiteX168" fmla="*/ 3794 w 10000"/>
              <a:gd name="connsiteY168" fmla="*/ 9998 h 10000"/>
              <a:gd name="connsiteX169" fmla="*/ 3963 w 10000"/>
              <a:gd name="connsiteY169" fmla="*/ 9994 h 10000"/>
              <a:gd name="connsiteX170" fmla="*/ 4126 w 10000"/>
              <a:gd name="connsiteY170" fmla="*/ 9986 h 10000"/>
              <a:gd name="connsiteX171" fmla="*/ 4295 w 10000"/>
              <a:gd name="connsiteY171" fmla="*/ 9974 h 10000"/>
              <a:gd name="connsiteX172" fmla="*/ 4461 w 10000"/>
              <a:gd name="connsiteY172" fmla="*/ 9956 h 10000"/>
              <a:gd name="connsiteX173" fmla="*/ 4628 w 10000"/>
              <a:gd name="connsiteY173" fmla="*/ 9938 h 10000"/>
              <a:gd name="connsiteX174" fmla="*/ 4797 w 10000"/>
              <a:gd name="connsiteY174" fmla="*/ 9912 h 10000"/>
              <a:gd name="connsiteX175" fmla="*/ 4965 w 10000"/>
              <a:gd name="connsiteY175" fmla="*/ 9888 h 10000"/>
              <a:gd name="connsiteX176" fmla="*/ 4965 w 10000"/>
              <a:gd name="connsiteY176"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683 w 10000"/>
              <a:gd name="connsiteY151" fmla="*/ 9448 h 10000"/>
              <a:gd name="connsiteX152" fmla="*/ 1412 w 10000"/>
              <a:gd name="connsiteY152" fmla="*/ 9698 h 10000"/>
              <a:gd name="connsiteX153" fmla="*/ 1561 w 10000"/>
              <a:gd name="connsiteY153" fmla="*/ 9738 h 10000"/>
              <a:gd name="connsiteX154" fmla="*/ 1714 w 10000"/>
              <a:gd name="connsiteY154" fmla="*/ 9778 h 10000"/>
              <a:gd name="connsiteX155" fmla="*/ 1867 w 10000"/>
              <a:gd name="connsiteY155" fmla="*/ 9814 h 10000"/>
              <a:gd name="connsiteX156" fmla="*/ 2024 w 10000"/>
              <a:gd name="connsiteY156" fmla="*/ 9846 h 10000"/>
              <a:gd name="connsiteX157" fmla="*/ 2180 w 10000"/>
              <a:gd name="connsiteY157" fmla="*/ 9874 h 10000"/>
              <a:gd name="connsiteX158" fmla="*/ 2336 w 10000"/>
              <a:gd name="connsiteY158" fmla="*/ 9902 h 10000"/>
              <a:gd name="connsiteX159" fmla="*/ 2494 w 10000"/>
              <a:gd name="connsiteY159" fmla="*/ 9926 h 10000"/>
              <a:gd name="connsiteX160" fmla="*/ 2653 w 10000"/>
              <a:gd name="connsiteY160" fmla="*/ 9946 h 10000"/>
              <a:gd name="connsiteX161" fmla="*/ 2814 w 10000"/>
              <a:gd name="connsiteY161" fmla="*/ 9962 h 10000"/>
              <a:gd name="connsiteX162" fmla="*/ 2978 w 10000"/>
              <a:gd name="connsiteY162" fmla="*/ 9978 h 10000"/>
              <a:gd name="connsiteX163" fmla="*/ 3139 w 10000"/>
              <a:gd name="connsiteY163" fmla="*/ 9988 h 10000"/>
              <a:gd name="connsiteX164" fmla="*/ 3303 w 10000"/>
              <a:gd name="connsiteY164" fmla="*/ 9996 h 10000"/>
              <a:gd name="connsiteX165" fmla="*/ 3464 w 10000"/>
              <a:gd name="connsiteY165" fmla="*/ 10000 h 10000"/>
              <a:gd name="connsiteX166" fmla="*/ 3630 w 10000"/>
              <a:gd name="connsiteY166" fmla="*/ 10000 h 10000"/>
              <a:gd name="connsiteX167" fmla="*/ 3794 w 10000"/>
              <a:gd name="connsiteY167" fmla="*/ 9998 h 10000"/>
              <a:gd name="connsiteX168" fmla="*/ 3963 w 10000"/>
              <a:gd name="connsiteY168" fmla="*/ 9994 h 10000"/>
              <a:gd name="connsiteX169" fmla="*/ 4126 w 10000"/>
              <a:gd name="connsiteY169" fmla="*/ 9986 h 10000"/>
              <a:gd name="connsiteX170" fmla="*/ 4295 w 10000"/>
              <a:gd name="connsiteY170" fmla="*/ 9974 h 10000"/>
              <a:gd name="connsiteX171" fmla="*/ 4461 w 10000"/>
              <a:gd name="connsiteY171" fmla="*/ 9956 h 10000"/>
              <a:gd name="connsiteX172" fmla="*/ 4628 w 10000"/>
              <a:gd name="connsiteY172" fmla="*/ 9938 h 10000"/>
              <a:gd name="connsiteX173" fmla="*/ 4797 w 10000"/>
              <a:gd name="connsiteY173" fmla="*/ 9912 h 10000"/>
              <a:gd name="connsiteX174" fmla="*/ 4965 w 10000"/>
              <a:gd name="connsiteY174" fmla="*/ 9888 h 10000"/>
              <a:gd name="connsiteX175" fmla="*/ 4965 w 10000"/>
              <a:gd name="connsiteY175"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542 w 10000"/>
              <a:gd name="connsiteY150" fmla="*/ 9390 h 10000"/>
              <a:gd name="connsiteX151" fmla="*/ 1412 w 10000"/>
              <a:gd name="connsiteY151" fmla="*/ 9698 h 10000"/>
              <a:gd name="connsiteX152" fmla="*/ 1561 w 10000"/>
              <a:gd name="connsiteY152" fmla="*/ 9738 h 10000"/>
              <a:gd name="connsiteX153" fmla="*/ 1714 w 10000"/>
              <a:gd name="connsiteY153" fmla="*/ 9778 h 10000"/>
              <a:gd name="connsiteX154" fmla="*/ 1867 w 10000"/>
              <a:gd name="connsiteY154" fmla="*/ 9814 h 10000"/>
              <a:gd name="connsiteX155" fmla="*/ 2024 w 10000"/>
              <a:gd name="connsiteY155" fmla="*/ 9846 h 10000"/>
              <a:gd name="connsiteX156" fmla="*/ 2180 w 10000"/>
              <a:gd name="connsiteY156" fmla="*/ 9874 h 10000"/>
              <a:gd name="connsiteX157" fmla="*/ 2336 w 10000"/>
              <a:gd name="connsiteY157" fmla="*/ 9902 h 10000"/>
              <a:gd name="connsiteX158" fmla="*/ 2494 w 10000"/>
              <a:gd name="connsiteY158" fmla="*/ 9926 h 10000"/>
              <a:gd name="connsiteX159" fmla="*/ 2653 w 10000"/>
              <a:gd name="connsiteY159" fmla="*/ 9946 h 10000"/>
              <a:gd name="connsiteX160" fmla="*/ 2814 w 10000"/>
              <a:gd name="connsiteY160" fmla="*/ 9962 h 10000"/>
              <a:gd name="connsiteX161" fmla="*/ 2978 w 10000"/>
              <a:gd name="connsiteY161" fmla="*/ 9978 h 10000"/>
              <a:gd name="connsiteX162" fmla="*/ 3139 w 10000"/>
              <a:gd name="connsiteY162" fmla="*/ 9988 h 10000"/>
              <a:gd name="connsiteX163" fmla="*/ 3303 w 10000"/>
              <a:gd name="connsiteY163" fmla="*/ 9996 h 10000"/>
              <a:gd name="connsiteX164" fmla="*/ 3464 w 10000"/>
              <a:gd name="connsiteY164" fmla="*/ 10000 h 10000"/>
              <a:gd name="connsiteX165" fmla="*/ 3630 w 10000"/>
              <a:gd name="connsiteY165" fmla="*/ 10000 h 10000"/>
              <a:gd name="connsiteX166" fmla="*/ 3794 w 10000"/>
              <a:gd name="connsiteY166" fmla="*/ 9998 h 10000"/>
              <a:gd name="connsiteX167" fmla="*/ 3963 w 10000"/>
              <a:gd name="connsiteY167" fmla="*/ 9994 h 10000"/>
              <a:gd name="connsiteX168" fmla="*/ 4126 w 10000"/>
              <a:gd name="connsiteY168" fmla="*/ 9986 h 10000"/>
              <a:gd name="connsiteX169" fmla="*/ 4295 w 10000"/>
              <a:gd name="connsiteY169" fmla="*/ 9974 h 10000"/>
              <a:gd name="connsiteX170" fmla="*/ 4461 w 10000"/>
              <a:gd name="connsiteY170" fmla="*/ 9956 h 10000"/>
              <a:gd name="connsiteX171" fmla="*/ 4628 w 10000"/>
              <a:gd name="connsiteY171" fmla="*/ 9938 h 10000"/>
              <a:gd name="connsiteX172" fmla="*/ 4797 w 10000"/>
              <a:gd name="connsiteY172" fmla="*/ 9912 h 10000"/>
              <a:gd name="connsiteX173" fmla="*/ 4965 w 10000"/>
              <a:gd name="connsiteY173" fmla="*/ 9888 h 10000"/>
              <a:gd name="connsiteX174" fmla="*/ 4965 w 10000"/>
              <a:gd name="connsiteY174"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404 w 10000"/>
              <a:gd name="connsiteY149" fmla="*/ 9328 h 10000"/>
              <a:gd name="connsiteX150" fmla="*/ 1412 w 10000"/>
              <a:gd name="connsiteY150" fmla="*/ 9698 h 10000"/>
              <a:gd name="connsiteX151" fmla="*/ 1561 w 10000"/>
              <a:gd name="connsiteY151" fmla="*/ 9738 h 10000"/>
              <a:gd name="connsiteX152" fmla="*/ 1714 w 10000"/>
              <a:gd name="connsiteY152" fmla="*/ 9778 h 10000"/>
              <a:gd name="connsiteX153" fmla="*/ 1867 w 10000"/>
              <a:gd name="connsiteY153" fmla="*/ 9814 h 10000"/>
              <a:gd name="connsiteX154" fmla="*/ 2024 w 10000"/>
              <a:gd name="connsiteY154" fmla="*/ 9846 h 10000"/>
              <a:gd name="connsiteX155" fmla="*/ 2180 w 10000"/>
              <a:gd name="connsiteY155" fmla="*/ 9874 h 10000"/>
              <a:gd name="connsiteX156" fmla="*/ 2336 w 10000"/>
              <a:gd name="connsiteY156" fmla="*/ 9902 h 10000"/>
              <a:gd name="connsiteX157" fmla="*/ 2494 w 10000"/>
              <a:gd name="connsiteY157" fmla="*/ 9926 h 10000"/>
              <a:gd name="connsiteX158" fmla="*/ 2653 w 10000"/>
              <a:gd name="connsiteY158" fmla="*/ 9946 h 10000"/>
              <a:gd name="connsiteX159" fmla="*/ 2814 w 10000"/>
              <a:gd name="connsiteY159" fmla="*/ 9962 h 10000"/>
              <a:gd name="connsiteX160" fmla="*/ 2978 w 10000"/>
              <a:gd name="connsiteY160" fmla="*/ 9978 h 10000"/>
              <a:gd name="connsiteX161" fmla="*/ 3139 w 10000"/>
              <a:gd name="connsiteY161" fmla="*/ 9988 h 10000"/>
              <a:gd name="connsiteX162" fmla="*/ 3303 w 10000"/>
              <a:gd name="connsiteY162" fmla="*/ 9996 h 10000"/>
              <a:gd name="connsiteX163" fmla="*/ 3464 w 10000"/>
              <a:gd name="connsiteY163" fmla="*/ 10000 h 10000"/>
              <a:gd name="connsiteX164" fmla="*/ 3630 w 10000"/>
              <a:gd name="connsiteY164" fmla="*/ 10000 h 10000"/>
              <a:gd name="connsiteX165" fmla="*/ 3794 w 10000"/>
              <a:gd name="connsiteY165" fmla="*/ 9998 h 10000"/>
              <a:gd name="connsiteX166" fmla="*/ 3963 w 10000"/>
              <a:gd name="connsiteY166" fmla="*/ 9994 h 10000"/>
              <a:gd name="connsiteX167" fmla="*/ 4126 w 10000"/>
              <a:gd name="connsiteY167" fmla="*/ 9986 h 10000"/>
              <a:gd name="connsiteX168" fmla="*/ 4295 w 10000"/>
              <a:gd name="connsiteY168" fmla="*/ 9974 h 10000"/>
              <a:gd name="connsiteX169" fmla="*/ 4461 w 10000"/>
              <a:gd name="connsiteY169" fmla="*/ 9956 h 10000"/>
              <a:gd name="connsiteX170" fmla="*/ 4628 w 10000"/>
              <a:gd name="connsiteY170" fmla="*/ 9938 h 10000"/>
              <a:gd name="connsiteX171" fmla="*/ 4797 w 10000"/>
              <a:gd name="connsiteY171" fmla="*/ 9912 h 10000"/>
              <a:gd name="connsiteX172" fmla="*/ 4965 w 10000"/>
              <a:gd name="connsiteY172" fmla="*/ 9888 h 10000"/>
              <a:gd name="connsiteX173" fmla="*/ 4965 w 10000"/>
              <a:gd name="connsiteY173"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269 w 10000"/>
              <a:gd name="connsiteY148" fmla="*/ 9262 h 10000"/>
              <a:gd name="connsiteX149" fmla="*/ 1412 w 10000"/>
              <a:gd name="connsiteY149" fmla="*/ 9698 h 10000"/>
              <a:gd name="connsiteX150" fmla="*/ 1561 w 10000"/>
              <a:gd name="connsiteY150" fmla="*/ 9738 h 10000"/>
              <a:gd name="connsiteX151" fmla="*/ 1714 w 10000"/>
              <a:gd name="connsiteY151" fmla="*/ 9778 h 10000"/>
              <a:gd name="connsiteX152" fmla="*/ 1867 w 10000"/>
              <a:gd name="connsiteY152" fmla="*/ 9814 h 10000"/>
              <a:gd name="connsiteX153" fmla="*/ 2024 w 10000"/>
              <a:gd name="connsiteY153" fmla="*/ 9846 h 10000"/>
              <a:gd name="connsiteX154" fmla="*/ 2180 w 10000"/>
              <a:gd name="connsiteY154" fmla="*/ 9874 h 10000"/>
              <a:gd name="connsiteX155" fmla="*/ 2336 w 10000"/>
              <a:gd name="connsiteY155" fmla="*/ 9902 h 10000"/>
              <a:gd name="connsiteX156" fmla="*/ 2494 w 10000"/>
              <a:gd name="connsiteY156" fmla="*/ 9926 h 10000"/>
              <a:gd name="connsiteX157" fmla="*/ 2653 w 10000"/>
              <a:gd name="connsiteY157" fmla="*/ 9946 h 10000"/>
              <a:gd name="connsiteX158" fmla="*/ 2814 w 10000"/>
              <a:gd name="connsiteY158" fmla="*/ 9962 h 10000"/>
              <a:gd name="connsiteX159" fmla="*/ 2978 w 10000"/>
              <a:gd name="connsiteY159" fmla="*/ 9978 h 10000"/>
              <a:gd name="connsiteX160" fmla="*/ 3139 w 10000"/>
              <a:gd name="connsiteY160" fmla="*/ 9988 h 10000"/>
              <a:gd name="connsiteX161" fmla="*/ 3303 w 10000"/>
              <a:gd name="connsiteY161" fmla="*/ 9996 h 10000"/>
              <a:gd name="connsiteX162" fmla="*/ 3464 w 10000"/>
              <a:gd name="connsiteY162" fmla="*/ 10000 h 10000"/>
              <a:gd name="connsiteX163" fmla="*/ 3630 w 10000"/>
              <a:gd name="connsiteY163" fmla="*/ 10000 h 10000"/>
              <a:gd name="connsiteX164" fmla="*/ 3794 w 10000"/>
              <a:gd name="connsiteY164" fmla="*/ 9998 h 10000"/>
              <a:gd name="connsiteX165" fmla="*/ 3963 w 10000"/>
              <a:gd name="connsiteY165" fmla="*/ 9994 h 10000"/>
              <a:gd name="connsiteX166" fmla="*/ 4126 w 10000"/>
              <a:gd name="connsiteY166" fmla="*/ 9986 h 10000"/>
              <a:gd name="connsiteX167" fmla="*/ 4295 w 10000"/>
              <a:gd name="connsiteY167" fmla="*/ 9974 h 10000"/>
              <a:gd name="connsiteX168" fmla="*/ 4461 w 10000"/>
              <a:gd name="connsiteY168" fmla="*/ 9956 h 10000"/>
              <a:gd name="connsiteX169" fmla="*/ 4628 w 10000"/>
              <a:gd name="connsiteY169" fmla="*/ 9938 h 10000"/>
              <a:gd name="connsiteX170" fmla="*/ 4797 w 10000"/>
              <a:gd name="connsiteY170" fmla="*/ 9912 h 10000"/>
              <a:gd name="connsiteX171" fmla="*/ 4965 w 10000"/>
              <a:gd name="connsiteY171" fmla="*/ 9888 h 10000"/>
              <a:gd name="connsiteX172" fmla="*/ 4965 w 10000"/>
              <a:gd name="connsiteY172"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33 w 10000"/>
              <a:gd name="connsiteY147" fmla="*/ 9198 h 10000"/>
              <a:gd name="connsiteX148" fmla="*/ 1412 w 10000"/>
              <a:gd name="connsiteY148" fmla="*/ 9698 h 10000"/>
              <a:gd name="connsiteX149" fmla="*/ 1561 w 10000"/>
              <a:gd name="connsiteY149" fmla="*/ 9738 h 10000"/>
              <a:gd name="connsiteX150" fmla="*/ 1714 w 10000"/>
              <a:gd name="connsiteY150" fmla="*/ 9778 h 10000"/>
              <a:gd name="connsiteX151" fmla="*/ 1867 w 10000"/>
              <a:gd name="connsiteY151" fmla="*/ 9814 h 10000"/>
              <a:gd name="connsiteX152" fmla="*/ 2024 w 10000"/>
              <a:gd name="connsiteY152" fmla="*/ 9846 h 10000"/>
              <a:gd name="connsiteX153" fmla="*/ 2180 w 10000"/>
              <a:gd name="connsiteY153" fmla="*/ 9874 h 10000"/>
              <a:gd name="connsiteX154" fmla="*/ 2336 w 10000"/>
              <a:gd name="connsiteY154" fmla="*/ 9902 h 10000"/>
              <a:gd name="connsiteX155" fmla="*/ 2494 w 10000"/>
              <a:gd name="connsiteY155" fmla="*/ 9926 h 10000"/>
              <a:gd name="connsiteX156" fmla="*/ 2653 w 10000"/>
              <a:gd name="connsiteY156" fmla="*/ 9946 h 10000"/>
              <a:gd name="connsiteX157" fmla="*/ 2814 w 10000"/>
              <a:gd name="connsiteY157" fmla="*/ 9962 h 10000"/>
              <a:gd name="connsiteX158" fmla="*/ 2978 w 10000"/>
              <a:gd name="connsiteY158" fmla="*/ 9978 h 10000"/>
              <a:gd name="connsiteX159" fmla="*/ 3139 w 10000"/>
              <a:gd name="connsiteY159" fmla="*/ 9988 h 10000"/>
              <a:gd name="connsiteX160" fmla="*/ 3303 w 10000"/>
              <a:gd name="connsiteY160" fmla="*/ 9996 h 10000"/>
              <a:gd name="connsiteX161" fmla="*/ 3464 w 10000"/>
              <a:gd name="connsiteY161" fmla="*/ 10000 h 10000"/>
              <a:gd name="connsiteX162" fmla="*/ 3630 w 10000"/>
              <a:gd name="connsiteY162" fmla="*/ 10000 h 10000"/>
              <a:gd name="connsiteX163" fmla="*/ 3794 w 10000"/>
              <a:gd name="connsiteY163" fmla="*/ 9998 h 10000"/>
              <a:gd name="connsiteX164" fmla="*/ 3963 w 10000"/>
              <a:gd name="connsiteY164" fmla="*/ 9994 h 10000"/>
              <a:gd name="connsiteX165" fmla="*/ 4126 w 10000"/>
              <a:gd name="connsiteY165" fmla="*/ 9986 h 10000"/>
              <a:gd name="connsiteX166" fmla="*/ 4295 w 10000"/>
              <a:gd name="connsiteY166" fmla="*/ 9974 h 10000"/>
              <a:gd name="connsiteX167" fmla="*/ 4461 w 10000"/>
              <a:gd name="connsiteY167" fmla="*/ 9956 h 10000"/>
              <a:gd name="connsiteX168" fmla="*/ 4628 w 10000"/>
              <a:gd name="connsiteY168" fmla="*/ 9938 h 10000"/>
              <a:gd name="connsiteX169" fmla="*/ 4797 w 10000"/>
              <a:gd name="connsiteY169" fmla="*/ 9912 h 10000"/>
              <a:gd name="connsiteX170" fmla="*/ 4965 w 10000"/>
              <a:gd name="connsiteY170" fmla="*/ 9888 h 10000"/>
              <a:gd name="connsiteX171" fmla="*/ 4965 w 10000"/>
              <a:gd name="connsiteY171"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0 w 10000"/>
              <a:gd name="connsiteY146" fmla="*/ 9128 h 10000"/>
              <a:gd name="connsiteX147" fmla="*/ 1412 w 10000"/>
              <a:gd name="connsiteY147" fmla="*/ 9698 h 10000"/>
              <a:gd name="connsiteX148" fmla="*/ 1561 w 10000"/>
              <a:gd name="connsiteY148" fmla="*/ 9738 h 10000"/>
              <a:gd name="connsiteX149" fmla="*/ 1714 w 10000"/>
              <a:gd name="connsiteY149" fmla="*/ 9778 h 10000"/>
              <a:gd name="connsiteX150" fmla="*/ 1867 w 10000"/>
              <a:gd name="connsiteY150" fmla="*/ 9814 h 10000"/>
              <a:gd name="connsiteX151" fmla="*/ 2024 w 10000"/>
              <a:gd name="connsiteY151" fmla="*/ 9846 h 10000"/>
              <a:gd name="connsiteX152" fmla="*/ 2180 w 10000"/>
              <a:gd name="connsiteY152" fmla="*/ 9874 h 10000"/>
              <a:gd name="connsiteX153" fmla="*/ 2336 w 10000"/>
              <a:gd name="connsiteY153" fmla="*/ 9902 h 10000"/>
              <a:gd name="connsiteX154" fmla="*/ 2494 w 10000"/>
              <a:gd name="connsiteY154" fmla="*/ 9926 h 10000"/>
              <a:gd name="connsiteX155" fmla="*/ 2653 w 10000"/>
              <a:gd name="connsiteY155" fmla="*/ 9946 h 10000"/>
              <a:gd name="connsiteX156" fmla="*/ 2814 w 10000"/>
              <a:gd name="connsiteY156" fmla="*/ 9962 h 10000"/>
              <a:gd name="connsiteX157" fmla="*/ 2978 w 10000"/>
              <a:gd name="connsiteY157" fmla="*/ 9978 h 10000"/>
              <a:gd name="connsiteX158" fmla="*/ 3139 w 10000"/>
              <a:gd name="connsiteY158" fmla="*/ 9988 h 10000"/>
              <a:gd name="connsiteX159" fmla="*/ 3303 w 10000"/>
              <a:gd name="connsiteY159" fmla="*/ 9996 h 10000"/>
              <a:gd name="connsiteX160" fmla="*/ 3464 w 10000"/>
              <a:gd name="connsiteY160" fmla="*/ 10000 h 10000"/>
              <a:gd name="connsiteX161" fmla="*/ 3630 w 10000"/>
              <a:gd name="connsiteY161" fmla="*/ 10000 h 10000"/>
              <a:gd name="connsiteX162" fmla="*/ 3794 w 10000"/>
              <a:gd name="connsiteY162" fmla="*/ 9998 h 10000"/>
              <a:gd name="connsiteX163" fmla="*/ 3963 w 10000"/>
              <a:gd name="connsiteY163" fmla="*/ 9994 h 10000"/>
              <a:gd name="connsiteX164" fmla="*/ 4126 w 10000"/>
              <a:gd name="connsiteY164" fmla="*/ 9986 h 10000"/>
              <a:gd name="connsiteX165" fmla="*/ 4295 w 10000"/>
              <a:gd name="connsiteY165" fmla="*/ 9974 h 10000"/>
              <a:gd name="connsiteX166" fmla="*/ 4461 w 10000"/>
              <a:gd name="connsiteY166" fmla="*/ 9956 h 10000"/>
              <a:gd name="connsiteX167" fmla="*/ 4628 w 10000"/>
              <a:gd name="connsiteY167" fmla="*/ 9938 h 10000"/>
              <a:gd name="connsiteX168" fmla="*/ 4797 w 10000"/>
              <a:gd name="connsiteY168" fmla="*/ 9912 h 10000"/>
              <a:gd name="connsiteX169" fmla="*/ 4965 w 10000"/>
              <a:gd name="connsiteY169" fmla="*/ 9888 h 10000"/>
              <a:gd name="connsiteX170" fmla="*/ 4965 w 10000"/>
              <a:gd name="connsiteY170" fmla="*/ 9888 h 10000"/>
              <a:gd name="connsiteX0" fmla="*/ 4965 w 10000"/>
              <a:gd name="connsiteY0" fmla="*/ 9888 h 10000"/>
              <a:gd name="connsiteX1" fmla="*/ 4965 w 10000"/>
              <a:gd name="connsiteY1" fmla="*/ 9888 h 10000"/>
              <a:gd name="connsiteX2" fmla="*/ 5124 w 10000"/>
              <a:gd name="connsiteY2" fmla="*/ 9856 h 10000"/>
              <a:gd name="connsiteX3" fmla="*/ 5283 w 10000"/>
              <a:gd name="connsiteY3" fmla="*/ 9826 h 10000"/>
              <a:gd name="connsiteX4" fmla="*/ 5439 w 10000"/>
              <a:gd name="connsiteY4" fmla="*/ 9792 h 10000"/>
              <a:gd name="connsiteX5" fmla="*/ 5595 w 10000"/>
              <a:gd name="connsiteY5" fmla="*/ 9754 h 10000"/>
              <a:gd name="connsiteX6" fmla="*/ 5746 w 10000"/>
              <a:gd name="connsiteY6" fmla="*/ 9712 h 10000"/>
              <a:gd name="connsiteX7" fmla="*/ 5899 w 10000"/>
              <a:gd name="connsiteY7" fmla="*/ 9670 h 10000"/>
              <a:gd name="connsiteX8" fmla="*/ 6048 w 10000"/>
              <a:gd name="connsiteY8" fmla="*/ 9622 h 10000"/>
              <a:gd name="connsiteX9" fmla="*/ 6196 w 10000"/>
              <a:gd name="connsiteY9" fmla="*/ 9574 h 10000"/>
              <a:gd name="connsiteX10" fmla="*/ 6339 w 10000"/>
              <a:gd name="connsiteY10" fmla="*/ 9524 h 10000"/>
              <a:gd name="connsiteX11" fmla="*/ 6480 w 10000"/>
              <a:gd name="connsiteY11" fmla="*/ 9468 h 10000"/>
              <a:gd name="connsiteX12" fmla="*/ 6623 w 10000"/>
              <a:gd name="connsiteY12" fmla="*/ 9412 h 10000"/>
              <a:gd name="connsiteX13" fmla="*/ 6759 w 10000"/>
              <a:gd name="connsiteY13" fmla="*/ 9352 h 10000"/>
              <a:gd name="connsiteX14" fmla="*/ 6894 w 10000"/>
              <a:gd name="connsiteY14" fmla="*/ 9290 h 10000"/>
              <a:gd name="connsiteX15" fmla="*/ 7030 w 10000"/>
              <a:gd name="connsiteY15" fmla="*/ 9224 h 10000"/>
              <a:gd name="connsiteX16" fmla="*/ 7160 w 10000"/>
              <a:gd name="connsiteY16" fmla="*/ 9160 h 10000"/>
              <a:gd name="connsiteX17" fmla="*/ 7288 w 10000"/>
              <a:gd name="connsiteY17" fmla="*/ 9090 h 10000"/>
              <a:gd name="connsiteX18" fmla="*/ 7414 w 10000"/>
              <a:gd name="connsiteY18" fmla="*/ 9018 h 10000"/>
              <a:gd name="connsiteX19" fmla="*/ 7536 w 10000"/>
              <a:gd name="connsiteY19" fmla="*/ 8944 h 10000"/>
              <a:gd name="connsiteX20" fmla="*/ 7657 w 10000"/>
              <a:gd name="connsiteY20" fmla="*/ 8868 h 10000"/>
              <a:gd name="connsiteX21" fmla="*/ 7777 w 10000"/>
              <a:gd name="connsiteY21" fmla="*/ 8792 h 10000"/>
              <a:gd name="connsiteX22" fmla="*/ 7892 w 10000"/>
              <a:gd name="connsiteY22" fmla="*/ 8712 h 10000"/>
              <a:gd name="connsiteX23" fmla="*/ 8007 w 10000"/>
              <a:gd name="connsiteY23" fmla="*/ 8628 h 10000"/>
              <a:gd name="connsiteX24" fmla="*/ 8117 w 10000"/>
              <a:gd name="connsiteY24" fmla="*/ 8544 h 10000"/>
              <a:gd name="connsiteX25" fmla="*/ 8222 w 10000"/>
              <a:gd name="connsiteY25" fmla="*/ 8458 h 10000"/>
              <a:gd name="connsiteX26" fmla="*/ 8329 w 10000"/>
              <a:gd name="connsiteY26" fmla="*/ 8370 h 10000"/>
              <a:gd name="connsiteX27" fmla="*/ 8432 w 10000"/>
              <a:gd name="connsiteY27" fmla="*/ 8282 h 10000"/>
              <a:gd name="connsiteX28" fmla="*/ 8529 w 10000"/>
              <a:gd name="connsiteY28" fmla="*/ 8190 h 10000"/>
              <a:gd name="connsiteX29" fmla="*/ 8626 w 10000"/>
              <a:gd name="connsiteY29" fmla="*/ 8098 h 10000"/>
              <a:gd name="connsiteX30" fmla="*/ 8721 w 10000"/>
              <a:gd name="connsiteY30" fmla="*/ 8002 h 10000"/>
              <a:gd name="connsiteX31" fmla="*/ 8810 w 10000"/>
              <a:gd name="connsiteY31" fmla="*/ 7906 h 10000"/>
              <a:gd name="connsiteX32" fmla="*/ 8897 w 10000"/>
              <a:gd name="connsiteY32" fmla="*/ 7806 h 10000"/>
              <a:gd name="connsiteX33" fmla="*/ 8982 w 10000"/>
              <a:gd name="connsiteY33" fmla="*/ 7706 h 10000"/>
              <a:gd name="connsiteX34" fmla="*/ 9064 w 10000"/>
              <a:gd name="connsiteY34" fmla="*/ 7604 h 10000"/>
              <a:gd name="connsiteX35" fmla="*/ 9143 w 10000"/>
              <a:gd name="connsiteY35" fmla="*/ 7500 h 10000"/>
              <a:gd name="connsiteX36" fmla="*/ 9217 w 10000"/>
              <a:gd name="connsiteY36" fmla="*/ 7398 h 10000"/>
              <a:gd name="connsiteX37" fmla="*/ 9289 w 10000"/>
              <a:gd name="connsiteY37" fmla="*/ 7292 h 10000"/>
              <a:gd name="connsiteX38" fmla="*/ 9358 w 10000"/>
              <a:gd name="connsiteY38" fmla="*/ 7182 h 10000"/>
              <a:gd name="connsiteX39" fmla="*/ 9424 w 10000"/>
              <a:gd name="connsiteY39" fmla="*/ 7074 h 10000"/>
              <a:gd name="connsiteX40" fmla="*/ 9486 w 10000"/>
              <a:gd name="connsiteY40" fmla="*/ 6964 h 10000"/>
              <a:gd name="connsiteX41" fmla="*/ 9545 w 10000"/>
              <a:gd name="connsiteY41" fmla="*/ 6854 h 10000"/>
              <a:gd name="connsiteX42" fmla="*/ 9601 w 10000"/>
              <a:gd name="connsiteY42" fmla="*/ 6740 h 10000"/>
              <a:gd name="connsiteX43" fmla="*/ 9652 w 10000"/>
              <a:gd name="connsiteY43" fmla="*/ 6626 h 10000"/>
              <a:gd name="connsiteX44" fmla="*/ 9701 w 10000"/>
              <a:gd name="connsiteY44" fmla="*/ 6512 h 10000"/>
              <a:gd name="connsiteX45" fmla="*/ 9744 w 10000"/>
              <a:gd name="connsiteY45" fmla="*/ 6396 h 10000"/>
              <a:gd name="connsiteX46" fmla="*/ 9788 w 10000"/>
              <a:gd name="connsiteY46" fmla="*/ 6280 h 10000"/>
              <a:gd name="connsiteX47" fmla="*/ 9826 w 10000"/>
              <a:gd name="connsiteY47" fmla="*/ 6164 h 10000"/>
              <a:gd name="connsiteX48" fmla="*/ 9862 w 10000"/>
              <a:gd name="connsiteY48" fmla="*/ 6044 h 10000"/>
              <a:gd name="connsiteX49" fmla="*/ 9890 w 10000"/>
              <a:gd name="connsiteY49" fmla="*/ 5926 h 10000"/>
              <a:gd name="connsiteX50" fmla="*/ 9916 w 10000"/>
              <a:gd name="connsiteY50" fmla="*/ 5804 h 10000"/>
              <a:gd name="connsiteX51" fmla="*/ 9941 w 10000"/>
              <a:gd name="connsiteY51" fmla="*/ 5684 h 10000"/>
              <a:gd name="connsiteX52" fmla="*/ 9962 w 10000"/>
              <a:gd name="connsiteY52" fmla="*/ 5562 h 10000"/>
              <a:gd name="connsiteX53" fmla="*/ 9977 w 10000"/>
              <a:gd name="connsiteY53" fmla="*/ 5440 h 10000"/>
              <a:gd name="connsiteX54" fmla="*/ 9987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7 w 10000"/>
              <a:gd name="connsiteY59" fmla="*/ 4698 h 10000"/>
              <a:gd name="connsiteX60" fmla="*/ 9977 w 10000"/>
              <a:gd name="connsiteY60" fmla="*/ 4572 h 10000"/>
              <a:gd name="connsiteX61" fmla="*/ 9962 w 10000"/>
              <a:gd name="connsiteY61" fmla="*/ 4444 h 10000"/>
              <a:gd name="connsiteX62" fmla="*/ 9939 w 10000"/>
              <a:gd name="connsiteY62" fmla="*/ 4318 h 10000"/>
              <a:gd name="connsiteX63" fmla="*/ 9916 w 10000"/>
              <a:gd name="connsiteY63" fmla="*/ 4192 h 10000"/>
              <a:gd name="connsiteX64" fmla="*/ 9887 w 10000"/>
              <a:gd name="connsiteY64" fmla="*/ 4066 h 10000"/>
              <a:gd name="connsiteX65" fmla="*/ 9854 w 10000"/>
              <a:gd name="connsiteY65" fmla="*/ 3940 h 10000"/>
              <a:gd name="connsiteX66" fmla="*/ 9854 w 10000"/>
              <a:gd name="connsiteY66" fmla="*/ 3940 h 10000"/>
              <a:gd name="connsiteX67" fmla="*/ 9816 w 10000"/>
              <a:gd name="connsiteY67" fmla="*/ 3816 h 10000"/>
              <a:gd name="connsiteX68" fmla="*/ 9775 w 10000"/>
              <a:gd name="connsiteY68" fmla="*/ 3692 h 10000"/>
              <a:gd name="connsiteX69" fmla="*/ 9731 w 10000"/>
              <a:gd name="connsiteY69" fmla="*/ 3568 h 10000"/>
              <a:gd name="connsiteX70" fmla="*/ 9683 w 10000"/>
              <a:gd name="connsiteY70" fmla="*/ 3446 h 10000"/>
              <a:gd name="connsiteX71" fmla="*/ 9632 w 10000"/>
              <a:gd name="connsiteY71" fmla="*/ 3328 h 10000"/>
              <a:gd name="connsiteX72" fmla="*/ 9573 w 10000"/>
              <a:gd name="connsiteY72" fmla="*/ 3208 h 10000"/>
              <a:gd name="connsiteX73" fmla="*/ 9517 w 10000"/>
              <a:gd name="connsiteY73" fmla="*/ 3092 h 10000"/>
              <a:gd name="connsiteX74" fmla="*/ 9455 w 10000"/>
              <a:gd name="connsiteY74" fmla="*/ 2976 h 10000"/>
              <a:gd name="connsiteX75" fmla="*/ 9386 w 10000"/>
              <a:gd name="connsiteY75" fmla="*/ 2864 h 10000"/>
              <a:gd name="connsiteX76" fmla="*/ 9320 w 10000"/>
              <a:gd name="connsiteY76" fmla="*/ 2754 h 10000"/>
              <a:gd name="connsiteX77" fmla="*/ 9245 w 10000"/>
              <a:gd name="connsiteY77" fmla="*/ 2642 h 10000"/>
              <a:gd name="connsiteX78" fmla="*/ 9169 w 10000"/>
              <a:gd name="connsiteY78" fmla="*/ 2536 h 10000"/>
              <a:gd name="connsiteX79" fmla="*/ 9089 w 10000"/>
              <a:gd name="connsiteY79" fmla="*/ 2430 h 10000"/>
              <a:gd name="connsiteX80" fmla="*/ 9007 w 10000"/>
              <a:gd name="connsiteY80" fmla="*/ 2324 h 10000"/>
              <a:gd name="connsiteX81" fmla="*/ 8923 w 10000"/>
              <a:gd name="connsiteY81" fmla="*/ 2222 h 10000"/>
              <a:gd name="connsiteX82" fmla="*/ 8833 w 10000"/>
              <a:gd name="connsiteY82" fmla="*/ 2122 h 10000"/>
              <a:gd name="connsiteX83" fmla="*/ 8744 w 10000"/>
              <a:gd name="connsiteY83" fmla="*/ 2024 h 10000"/>
              <a:gd name="connsiteX84" fmla="*/ 8649 w 10000"/>
              <a:gd name="connsiteY84" fmla="*/ 1928 h 10000"/>
              <a:gd name="connsiteX85" fmla="*/ 8552 w 10000"/>
              <a:gd name="connsiteY85" fmla="*/ 1834 h 10000"/>
              <a:gd name="connsiteX86" fmla="*/ 8452 w 10000"/>
              <a:gd name="connsiteY86" fmla="*/ 1740 h 10000"/>
              <a:gd name="connsiteX87" fmla="*/ 8353 w 10000"/>
              <a:gd name="connsiteY87" fmla="*/ 1648 h 10000"/>
              <a:gd name="connsiteX88" fmla="*/ 8245 w 10000"/>
              <a:gd name="connsiteY88" fmla="*/ 1560 h 10000"/>
              <a:gd name="connsiteX89" fmla="*/ 8138 w 10000"/>
              <a:gd name="connsiteY89" fmla="*/ 1474 h 10000"/>
              <a:gd name="connsiteX90" fmla="*/ 8028 w 10000"/>
              <a:gd name="connsiteY90" fmla="*/ 1392 h 10000"/>
              <a:gd name="connsiteX91" fmla="*/ 7915 w 10000"/>
              <a:gd name="connsiteY91" fmla="*/ 1308 h 10000"/>
              <a:gd name="connsiteX92" fmla="*/ 7803 w 10000"/>
              <a:gd name="connsiteY92" fmla="*/ 1226 h 10000"/>
              <a:gd name="connsiteX93" fmla="*/ 7682 w 10000"/>
              <a:gd name="connsiteY93" fmla="*/ 1150 h 10000"/>
              <a:gd name="connsiteX94" fmla="*/ 7565 w 10000"/>
              <a:gd name="connsiteY94" fmla="*/ 1076 h 10000"/>
              <a:gd name="connsiteX95" fmla="*/ 7444 w 10000"/>
              <a:gd name="connsiteY95" fmla="*/ 1002 h 10000"/>
              <a:gd name="connsiteX96" fmla="*/ 7319 w 10000"/>
              <a:gd name="connsiteY96" fmla="*/ 932 h 10000"/>
              <a:gd name="connsiteX97" fmla="*/ 7191 w 10000"/>
              <a:gd name="connsiteY97" fmla="*/ 862 h 10000"/>
              <a:gd name="connsiteX98" fmla="*/ 7066 w 10000"/>
              <a:gd name="connsiteY98" fmla="*/ 798 h 10000"/>
              <a:gd name="connsiteX99" fmla="*/ 6935 w 10000"/>
              <a:gd name="connsiteY99" fmla="*/ 734 h 10000"/>
              <a:gd name="connsiteX100" fmla="*/ 6805 w 10000"/>
              <a:gd name="connsiteY100" fmla="*/ 670 h 10000"/>
              <a:gd name="connsiteX101" fmla="*/ 6669 w 10000"/>
              <a:gd name="connsiteY101" fmla="*/ 612 h 10000"/>
              <a:gd name="connsiteX102" fmla="*/ 6531 w 10000"/>
              <a:gd name="connsiteY102" fmla="*/ 556 h 10000"/>
              <a:gd name="connsiteX103" fmla="*/ 6395 w 10000"/>
              <a:gd name="connsiteY103" fmla="*/ 504 h 10000"/>
              <a:gd name="connsiteX104" fmla="*/ 6257 w 10000"/>
              <a:gd name="connsiteY104" fmla="*/ 450 h 10000"/>
              <a:gd name="connsiteX105" fmla="*/ 6117 w 10000"/>
              <a:gd name="connsiteY105" fmla="*/ 402 h 10000"/>
              <a:gd name="connsiteX106" fmla="*/ 5976 w 10000"/>
              <a:gd name="connsiteY106" fmla="*/ 358 h 10000"/>
              <a:gd name="connsiteX107" fmla="*/ 5830 w 10000"/>
              <a:gd name="connsiteY107" fmla="*/ 314 h 10000"/>
              <a:gd name="connsiteX108" fmla="*/ 5684 w 10000"/>
              <a:gd name="connsiteY108" fmla="*/ 274 h 10000"/>
              <a:gd name="connsiteX109" fmla="*/ 5541 w 10000"/>
              <a:gd name="connsiteY109" fmla="*/ 236 h 10000"/>
              <a:gd name="connsiteX110" fmla="*/ 5390 w 10000"/>
              <a:gd name="connsiteY110" fmla="*/ 200 h 10000"/>
              <a:gd name="connsiteX111" fmla="*/ 5242 w 10000"/>
              <a:gd name="connsiteY111" fmla="*/ 168 h 10000"/>
              <a:gd name="connsiteX112" fmla="*/ 5093 w 10000"/>
              <a:gd name="connsiteY112" fmla="*/ 138 h 10000"/>
              <a:gd name="connsiteX113" fmla="*/ 4942 w 10000"/>
              <a:gd name="connsiteY113" fmla="*/ 110 h 10000"/>
              <a:gd name="connsiteX114" fmla="*/ 4789 w 10000"/>
              <a:gd name="connsiteY114" fmla="*/ 86 h 10000"/>
              <a:gd name="connsiteX115" fmla="*/ 4635 w 10000"/>
              <a:gd name="connsiteY115" fmla="*/ 66 h 10000"/>
              <a:gd name="connsiteX116" fmla="*/ 4479 w 10000"/>
              <a:gd name="connsiteY116" fmla="*/ 46 h 10000"/>
              <a:gd name="connsiteX117" fmla="*/ 4326 w 10000"/>
              <a:gd name="connsiteY117" fmla="*/ 32 h 10000"/>
              <a:gd name="connsiteX118" fmla="*/ 4170 w 10000"/>
              <a:gd name="connsiteY118" fmla="*/ 22 h 10000"/>
              <a:gd name="connsiteX119" fmla="*/ 4011 w 10000"/>
              <a:gd name="connsiteY119" fmla="*/ 10 h 10000"/>
              <a:gd name="connsiteX120" fmla="*/ 3853 w 10000"/>
              <a:gd name="connsiteY120" fmla="*/ 4 h 10000"/>
              <a:gd name="connsiteX121" fmla="*/ 3694 w 10000"/>
              <a:gd name="connsiteY121" fmla="*/ 0 h 10000"/>
              <a:gd name="connsiteX122" fmla="*/ 3535 w 10000"/>
              <a:gd name="connsiteY122" fmla="*/ 0 h 10000"/>
              <a:gd name="connsiteX123" fmla="*/ 3377 w 10000"/>
              <a:gd name="connsiteY123" fmla="*/ 4 h 10000"/>
              <a:gd name="connsiteX124" fmla="*/ 3216 w 10000"/>
              <a:gd name="connsiteY124" fmla="*/ 10 h 10000"/>
              <a:gd name="connsiteX125" fmla="*/ 3057 w 10000"/>
              <a:gd name="connsiteY125" fmla="*/ 22 h 10000"/>
              <a:gd name="connsiteX126" fmla="*/ 2896 w 10000"/>
              <a:gd name="connsiteY126" fmla="*/ 34 h 10000"/>
              <a:gd name="connsiteX127" fmla="*/ 2735 w 10000"/>
              <a:gd name="connsiteY127" fmla="*/ 48 h 10000"/>
              <a:gd name="connsiteX128" fmla="*/ 2574 w 10000"/>
              <a:gd name="connsiteY128" fmla="*/ 66 h 10000"/>
              <a:gd name="connsiteX129" fmla="*/ 2412 w 10000"/>
              <a:gd name="connsiteY129" fmla="*/ 90 h 10000"/>
              <a:gd name="connsiteX130" fmla="*/ 2249 w 10000"/>
              <a:gd name="connsiteY130" fmla="*/ 114 h 10000"/>
              <a:gd name="connsiteX131" fmla="*/ 2249 w 10000"/>
              <a:gd name="connsiteY131" fmla="*/ 114 h 10000"/>
              <a:gd name="connsiteX132" fmla="*/ 2095 w 10000"/>
              <a:gd name="connsiteY132" fmla="*/ 142 h 10000"/>
              <a:gd name="connsiteX133" fmla="*/ 1942 w 10000"/>
              <a:gd name="connsiteY133" fmla="*/ 176 h 10000"/>
              <a:gd name="connsiteX134" fmla="*/ 1791 w 10000"/>
              <a:gd name="connsiteY134" fmla="*/ 208 h 10000"/>
              <a:gd name="connsiteX135" fmla="*/ 1642 w 10000"/>
              <a:gd name="connsiteY135" fmla="*/ 244 h 10000"/>
              <a:gd name="connsiteX136" fmla="*/ 1494 w 10000"/>
              <a:gd name="connsiteY136" fmla="*/ 282 h 10000"/>
              <a:gd name="connsiteX137" fmla="*/ 1348 w 10000"/>
              <a:gd name="connsiteY137" fmla="*/ 324 h 10000"/>
              <a:gd name="connsiteX138" fmla="*/ 1202 w 10000"/>
              <a:gd name="connsiteY138" fmla="*/ 368 h 10000"/>
              <a:gd name="connsiteX139" fmla="*/ 1059 w 10000"/>
              <a:gd name="connsiteY139" fmla="*/ 416 h 10000"/>
              <a:gd name="connsiteX140" fmla="*/ 921 w 10000"/>
              <a:gd name="connsiteY140" fmla="*/ 464 h 10000"/>
              <a:gd name="connsiteX141" fmla="*/ 783 w 10000"/>
              <a:gd name="connsiteY141" fmla="*/ 514 h 10000"/>
              <a:gd name="connsiteX142" fmla="*/ 647 w 10000"/>
              <a:gd name="connsiteY142" fmla="*/ 570 h 10000"/>
              <a:gd name="connsiteX143" fmla="*/ 514 w 10000"/>
              <a:gd name="connsiteY143" fmla="*/ 626 h 10000"/>
              <a:gd name="connsiteX144" fmla="*/ 381 w 10000"/>
              <a:gd name="connsiteY144" fmla="*/ 684 h 10000"/>
              <a:gd name="connsiteX145" fmla="*/ 0 w 10000"/>
              <a:gd name="connsiteY145" fmla="*/ 9128 h 10000"/>
              <a:gd name="connsiteX146" fmla="*/ 1412 w 10000"/>
              <a:gd name="connsiteY146" fmla="*/ 9698 h 10000"/>
              <a:gd name="connsiteX147" fmla="*/ 1561 w 10000"/>
              <a:gd name="connsiteY147" fmla="*/ 9738 h 10000"/>
              <a:gd name="connsiteX148" fmla="*/ 1714 w 10000"/>
              <a:gd name="connsiteY148" fmla="*/ 9778 h 10000"/>
              <a:gd name="connsiteX149" fmla="*/ 1867 w 10000"/>
              <a:gd name="connsiteY149" fmla="*/ 9814 h 10000"/>
              <a:gd name="connsiteX150" fmla="*/ 2024 w 10000"/>
              <a:gd name="connsiteY150" fmla="*/ 9846 h 10000"/>
              <a:gd name="connsiteX151" fmla="*/ 2180 w 10000"/>
              <a:gd name="connsiteY151" fmla="*/ 9874 h 10000"/>
              <a:gd name="connsiteX152" fmla="*/ 2336 w 10000"/>
              <a:gd name="connsiteY152" fmla="*/ 9902 h 10000"/>
              <a:gd name="connsiteX153" fmla="*/ 2494 w 10000"/>
              <a:gd name="connsiteY153" fmla="*/ 9926 h 10000"/>
              <a:gd name="connsiteX154" fmla="*/ 2653 w 10000"/>
              <a:gd name="connsiteY154" fmla="*/ 9946 h 10000"/>
              <a:gd name="connsiteX155" fmla="*/ 2814 w 10000"/>
              <a:gd name="connsiteY155" fmla="*/ 9962 h 10000"/>
              <a:gd name="connsiteX156" fmla="*/ 2978 w 10000"/>
              <a:gd name="connsiteY156" fmla="*/ 9978 h 10000"/>
              <a:gd name="connsiteX157" fmla="*/ 3139 w 10000"/>
              <a:gd name="connsiteY157" fmla="*/ 9988 h 10000"/>
              <a:gd name="connsiteX158" fmla="*/ 3303 w 10000"/>
              <a:gd name="connsiteY158" fmla="*/ 9996 h 10000"/>
              <a:gd name="connsiteX159" fmla="*/ 3464 w 10000"/>
              <a:gd name="connsiteY159" fmla="*/ 10000 h 10000"/>
              <a:gd name="connsiteX160" fmla="*/ 3630 w 10000"/>
              <a:gd name="connsiteY160" fmla="*/ 10000 h 10000"/>
              <a:gd name="connsiteX161" fmla="*/ 3794 w 10000"/>
              <a:gd name="connsiteY161" fmla="*/ 9998 h 10000"/>
              <a:gd name="connsiteX162" fmla="*/ 3963 w 10000"/>
              <a:gd name="connsiteY162" fmla="*/ 9994 h 10000"/>
              <a:gd name="connsiteX163" fmla="*/ 4126 w 10000"/>
              <a:gd name="connsiteY163" fmla="*/ 9986 h 10000"/>
              <a:gd name="connsiteX164" fmla="*/ 4295 w 10000"/>
              <a:gd name="connsiteY164" fmla="*/ 9974 h 10000"/>
              <a:gd name="connsiteX165" fmla="*/ 4461 w 10000"/>
              <a:gd name="connsiteY165" fmla="*/ 9956 h 10000"/>
              <a:gd name="connsiteX166" fmla="*/ 4628 w 10000"/>
              <a:gd name="connsiteY166" fmla="*/ 9938 h 10000"/>
              <a:gd name="connsiteX167" fmla="*/ 4797 w 10000"/>
              <a:gd name="connsiteY167" fmla="*/ 9912 h 10000"/>
              <a:gd name="connsiteX168" fmla="*/ 4965 w 10000"/>
              <a:gd name="connsiteY168" fmla="*/ 9888 h 10000"/>
              <a:gd name="connsiteX169" fmla="*/ 4965 w 10000"/>
              <a:gd name="connsiteY169" fmla="*/ 9888 h 10000"/>
              <a:gd name="connsiteX0" fmla="*/ 4584 w 9619"/>
              <a:gd name="connsiteY0" fmla="*/ 9888 h 10000"/>
              <a:gd name="connsiteX1" fmla="*/ 4584 w 9619"/>
              <a:gd name="connsiteY1" fmla="*/ 9888 h 10000"/>
              <a:gd name="connsiteX2" fmla="*/ 4743 w 9619"/>
              <a:gd name="connsiteY2" fmla="*/ 9856 h 10000"/>
              <a:gd name="connsiteX3" fmla="*/ 4902 w 9619"/>
              <a:gd name="connsiteY3" fmla="*/ 9826 h 10000"/>
              <a:gd name="connsiteX4" fmla="*/ 5058 w 9619"/>
              <a:gd name="connsiteY4" fmla="*/ 9792 h 10000"/>
              <a:gd name="connsiteX5" fmla="*/ 5214 w 9619"/>
              <a:gd name="connsiteY5" fmla="*/ 9754 h 10000"/>
              <a:gd name="connsiteX6" fmla="*/ 5365 w 9619"/>
              <a:gd name="connsiteY6" fmla="*/ 9712 h 10000"/>
              <a:gd name="connsiteX7" fmla="*/ 5518 w 9619"/>
              <a:gd name="connsiteY7" fmla="*/ 9670 h 10000"/>
              <a:gd name="connsiteX8" fmla="*/ 5667 w 9619"/>
              <a:gd name="connsiteY8" fmla="*/ 9622 h 10000"/>
              <a:gd name="connsiteX9" fmla="*/ 5815 w 9619"/>
              <a:gd name="connsiteY9" fmla="*/ 9574 h 10000"/>
              <a:gd name="connsiteX10" fmla="*/ 5958 w 9619"/>
              <a:gd name="connsiteY10" fmla="*/ 9524 h 10000"/>
              <a:gd name="connsiteX11" fmla="*/ 6099 w 9619"/>
              <a:gd name="connsiteY11" fmla="*/ 9468 h 10000"/>
              <a:gd name="connsiteX12" fmla="*/ 6242 w 9619"/>
              <a:gd name="connsiteY12" fmla="*/ 9412 h 10000"/>
              <a:gd name="connsiteX13" fmla="*/ 6378 w 9619"/>
              <a:gd name="connsiteY13" fmla="*/ 9352 h 10000"/>
              <a:gd name="connsiteX14" fmla="*/ 6513 w 9619"/>
              <a:gd name="connsiteY14" fmla="*/ 9290 h 10000"/>
              <a:gd name="connsiteX15" fmla="*/ 6649 w 9619"/>
              <a:gd name="connsiteY15" fmla="*/ 9224 h 10000"/>
              <a:gd name="connsiteX16" fmla="*/ 6779 w 9619"/>
              <a:gd name="connsiteY16" fmla="*/ 9160 h 10000"/>
              <a:gd name="connsiteX17" fmla="*/ 6907 w 9619"/>
              <a:gd name="connsiteY17" fmla="*/ 9090 h 10000"/>
              <a:gd name="connsiteX18" fmla="*/ 7033 w 9619"/>
              <a:gd name="connsiteY18" fmla="*/ 9018 h 10000"/>
              <a:gd name="connsiteX19" fmla="*/ 7155 w 9619"/>
              <a:gd name="connsiteY19" fmla="*/ 8944 h 10000"/>
              <a:gd name="connsiteX20" fmla="*/ 7276 w 9619"/>
              <a:gd name="connsiteY20" fmla="*/ 8868 h 10000"/>
              <a:gd name="connsiteX21" fmla="*/ 7396 w 9619"/>
              <a:gd name="connsiteY21" fmla="*/ 8792 h 10000"/>
              <a:gd name="connsiteX22" fmla="*/ 7511 w 9619"/>
              <a:gd name="connsiteY22" fmla="*/ 8712 h 10000"/>
              <a:gd name="connsiteX23" fmla="*/ 7626 w 9619"/>
              <a:gd name="connsiteY23" fmla="*/ 8628 h 10000"/>
              <a:gd name="connsiteX24" fmla="*/ 7736 w 9619"/>
              <a:gd name="connsiteY24" fmla="*/ 8544 h 10000"/>
              <a:gd name="connsiteX25" fmla="*/ 7841 w 9619"/>
              <a:gd name="connsiteY25" fmla="*/ 8458 h 10000"/>
              <a:gd name="connsiteX26" fmla="*/ 7948 w 9619"/>
              <a:gd name="connsiteY26" fmla="*/ 8370 h 10000"/>
              <a:gd name="connsiteX27" fmla="*/ 8051 w 9619"/>
              <a:gd name="connsiteY27" fmla="*/ 8282 h 10000"/>
              <a:gd name="connsiteX28" fmla="*/ 8148 w 9619"/>
              <a:gd name="connsiteY28" fmla="*/ 8190 h 10000"/>
              <a:gd name="connsiteX29" fmla="*/ 8245 w 9619"/>
              <a:gd name="connsiteY29" fmla="*/ 8098 h 10000"/>
              <a:gd name="connsiteX30" fmla="*/ 8340 w 9619"/>
              <a:gd name="connsiteY30" fmla="*/ 8002 h 10000"/>
              <a:gd name="connsiteX31" fmla="*/ 8429 w 9619"/>
              <a:gd name="connsiteY31" fmla="*/ 7906 h 10000"/>
              <a:gd name="connsiteX32" fmla="*/ 8516 w 9619"/>
              <a:gd name="connsiteY32" fmla="*/ 7806 h 10000"/>
              <a:gd name="connsiteX33" fmla="*/ 8601 w 9619"/>
              <a:gd name="connsiteY33" fmla="*/ 7706 h 10000"/>
              <a:gd name="connsiteX34" fmla="*/ 8683 w 9619"/>
              <a:gd name="connsiteY34" fmla="*/ 7604 h 10000"/>
              <a:gd name="connsiteX35" fmla="*/ 8762 w 9619"/>
              <a:gd name="connsiteY35" fmla="*/ 7500 h 10000"/>
              <a:gd name="connsiteX36" fmla="*/ 8836 w 9619"/>
              <a:gd name="connsiteY36" fmla="*/ 7398 h 10000"/>
              <a:gd name="connsiteX37" fmla="*/ 8908 w 9619"/>
              <a:gd name="connsiteY37" fmla="*/ 7292 h 10000"/>
              <a:gd name="connsiteX38" fmla="*/ 8977 w 9619"/>
              <a:gd name="connsiteY38" fmla="*/ 7182 h 10000"/>
              <a:gd name="connsiteX39" fmla="*/ 9043 w 9619"/>
              <a:gd name="connsiteY39" fmla="*/ 7074 h 10000"/>
              <a:gd name="connsiteX40" fmla="*/ 9105 w 9619"/>
              <a:gd name="connsiteY40" fmla="*/ 6964 h 10000"/>
              <a:gd name="connsiteX41" fmla="*/ 9164 w 9619"/>
              <a:gd name="connsiteY41" fmla="*/ 6854 h 10000"/>
              <a:gd name="connsiteX42" fmla="*/ 9220 w 9619"/>
              <a:gd name="connsiteY42" fmla="*/ 6740 h 10000"/>
              <a:gd name="connsiteX43" fmla="*/ 9271 w 9619"/>
              <a:gd name="connsiteY43" fmla="*/ 6626 h 10000"/>
              <a:gd name="connsiteX44" fmla="*/ 9320 w 9619"/>
              <a:gd name="connsiteY44" fmla="*/ 6512 h 10000"/>
              <a:gd name="connsiteX45" fmla="*/ 9363 w 9619"/>
              <a:gd name="connsiteY45" fmla="*/ 6396 h 10000"/>
              <a:gd name="connsiteX46" fmla="*/ 9407 w 9619"/>
              <a:gd name="connsiteY46" fmla="*/ 6280 h 10000"/>
              <a:gd name="connsiteX47" fmla="*/ 9445 w 9619"/>
              <a:gd name="connsiteY47" fmla="*/ 6164 h 10000"/>
              <a:gd name="connsiteX48" fmla="*/ 9481 w 9619"/>
              <a:gd name="connsiteY48" fmla="*/ 6044 h 10000"/>
              <a:gd name="connsiteX49" fmla="*/ 9509 w 9619"/>
              <a:gd name="connsiteY49" fmla="*/ 5926 h 10000"/>
              <a:gd name="connsiteX50" fmla="*/ 9535 w 9619"/>
              <a:gd name="connsiteY50" fmla="*/ 5804 h 10000"/>
              <a:gd name="connsiteX51" fmla="*/ 9560 w 9619"/>
              <a:gd name="connsiteY51" fmla="*/ 5684 h 10000"/>
              <a:gd name="connsiteX52" fmla="*/ 9581 w 9619"/>
              <a:gd name="connsiteY52" fmla="*/ 5562 h 10000"/>
              <a:gd name="connsiteX53" fmla="*/ 9596 w 9619"/>
              <a:gd name="connsiteY53" fmla="*/ 5440 h 10000"/>
              <a:gd name="connsiteX54" fmla="*/ 9606 w 9619"/>
              <a:gd name="connsiteY54" fmla="*/ 5316 h 10000"/>
              <a:gd name="connsiteX55" fmla="*/ 9616 w 9619"/>
              <a:gd name="connsiteY55" fmla="*/ 5196 h 10000"/>
              <a:gd name="connsiteX56" fmla="*/ 9619 w 9619"/>
              <a:gd name="connsiteY56" fmla="*/ 5072 h 10000"/>
              <a:gd name="connsiteX57" fmla="*/ 9619 w 9619"/>
              <a:gd name="connsiteY57" fmla="*/ 4948 h 10000"/>
              <a:gd name="connsiteX58" fmla="*/ 9616 w 9619"/>
              <a:gd name="connsiteY58" fmla="*/ 4822 h 10000"/>
              <a:gd name="connsiteX59" fmla="*/ 9606 w 9619"/>
              <a:gd name="connsiteY59" fmla="*/ 4698 h 10000"/>
              <a:gd name="connsiteX60" fmla="*/ 9596 w 9619"/>
              <a:gd name="connsiteY60" fmla="*/ 4572 h 10000"/>
              <a:gd name="connsiteX61" fmla="*/ 9581 w 9619"/>
              <a:gd name="connsiteY61" fmla="*/ 4444 h 10000"/>
              <a:gd name="connsiteX62" fmla="*/ 9558 w 9619"/>
              <a:gd name="connsiteY62" fmla="*/ 4318 h 10000"/>
              <a:gd name="connsiteX63" fmla="*/ 9535 w 9619"/>
              <a:gd name="connsiteY63" fmla="*/ 4192 h 10000"/>
              <a:gd name="connsiteX64" fmla="*/ 9506 w 9619"/>
              <a:gd name="connsiteY64" fmla="*/ 4066 h 10000"/>
              <a:gd name="connsiteX65" fmla="*/ 9473 w 9619"/>
              <a:gd name="connsiteY65" fmla="*/ 3940 h 10000"/>
              <a:gd name="connsiteX66" fmla="*/ 9473 w 9619"/>
              <a:gd name="connsiteY66" fmla="*/ 3940 h 10000"/>
              <a:gd name="connsiteX67" fmla="*/ 9435 w 9619"/>
              <a:gd name="connsiteY67" fmla="*/ 3816 h 10000"/>
              <a:gd name="connsiteX68" fmla="*/ 9394 w 9619"/>
              <a:gd name="connsiteY68" fmla="*/ 3692 h 10000"/>
              <a:gd name="connsiteX69" fmla="*/ 9350 w 9619"/>
              <a:gd name="connsiteY69" fmla="*/ 3568 h 10000"/>
              <a:gd name="connsiteX70" fmla="*/ 9302 w 9619"/>
              <a:gd name="connsiteY70" fmla="*/ 3446 h 10000"/>
              <a:gd name="connsiteX71" fmla="*/ 9251 w 9619"/>
              <a:gd name="connsiteY71" fmla="*/ 3328 h 10000"/>
              <a:gd name="connsiteX72" fmla="*/ 9192 w 9619"/>
              <a:gd name="connsiteY72" fmla="*/ 3208 h 10000"/>
              <a:gd name="connsiteX73" fmla="*/ 9136 w 9619"/>
              <a:gd name="connsiteY73" fmla="*/ 3092 h 10000"/>
              <a:gd name="connsiteX74" fmla="*/ 9074 w 9619"/>
              <a:gd name="connsiteY74" fmla="*/ 2976 h 10000"/>
              <a:gd name="connsiteX75" fmla="*/ 9005 w 9619"/>
              <a:gd name="connsiteY75" fmla="*/ 2864 h 10000"/>
              <a:gd name="connsiteX76" fmla="*/ 8939 w 9619"/>
              <a:gd name="connsiteY76" fmla="*/ 2754 h 10000"/>
              <a:gd name="connsiteX77" fmla="*/ 8864 w 9619"/>
              <a:gd name="connsiteY77" fmla="*/ 2642 h 10000"/>
              <a:gd name="connsiteX78" fmla="*/ 8788 w 9619"/>
              <a:gd name="connsiteY78" fmla="*/ 2536 h 10000"/>
              <a:gd name="connsiteX79" fmla="*/ 8708 w 9619"/>
              <a:gd name="connsiteY79" fmla="*/ 2430 h 10000"/>
              <a:gd name="connsiteX80" fmla="*/ 8626 w 9619"/>
              <a:gd name="connsiteY80" fmla="*/ 2324 h 10000"/>
              <a:gd name="connsiteX81" fmla="*/ 8542 w 9619"/>
              <a:gd name="connsiteY81" fmla="*/ 2222 h 10000"/>
              <a:gd name="connsiteX82" fmla="*/ 8452 w 9619"/>
              <a:gd name="connsiteY82" fmla="*/ 2122 h 10000"/>
              <a:gd name="connsiteX83" fmla="*/ 8363 w 9619"/>
              <a:gd name="connsiteY83" fmla="*/ 2024 h 10000"/>
              <a:gd name="connsiteX84" fmla="*/ 8268 w 9619"/>
              <a:gd name="connsiteY84" fmla="*/ 1928 h 10000"/>
              <a:gd name="connsiteX85" fmla="*/ 8171 w 9619"/>
              <a:gd name="connsiteY85" fmla="*/ 1834 h 10000"/>
              <a:gd name="connsiteX86" fmla="*/ 8071 w 9619"/>
              <a:gd name="connsiteY86" fmla="*/ 1740 h 10000"/>
              <a:gd name="connsiteX87" fmla="*/ 7972 w 9619"/>
              <a:gd name="connsiteY87" fmla="*/ 1648 h 10000"/>
              <a:gd name="connsiteX88" fmla="*/ 7864 w 9619"/>
              <a:gd name="connsiteY88" fmla="*/ 1560 h 10000"/>
              <a:gd name="connsiteX89" fmla="*/ 7757 w 9619"/>
              <a:gd name="connsiteY89" fmla="*/ 1474 h 10000"/>
              <a:gd name="connsiteX90" fmla="*/ 7647 w 9619"/>
              <a:gd name="connsiteY90" fmla="*/ 1392 h 10000"/>
              <a:gd name="connsiteX91" fmla="*/ 7534 w 9619"/>
              <a:gd name="connsiteY91" fmla="*/ 1308 h 10000"/>
              <a:gd name="connsiteX92" fmla="*/ 7422 w 9619"/>
              <a:gd name="connsiteY92" fmla="*/ 1226 h 10000"/>
              <a:gd name="connsiteX93" fmla="*/ 7301 w 9619"/>
              <a:gd name="connsiteY93" fmla="*/ 1150 h 10000"/>
              <a:gd name="connsiteX94" fmla="*/ 7184 w 9619"/>
              <a:gd name="connsiteY94" fmla="*/ 1076 h 10000"/>
              <a:gd name="connsiteX95" fmla="*/ 7063 w 9619"/>
              <a:gd name="connsiteY95" fmla="*/ 1002 h 10000"/>
              <a:gd name="connsiteX96" fmla="*/ 6938 w 9619"/>
              <a:gd name="connsiteY96" fmla="*/ 932 h 10000"/>
              <a:gd name="connsiteX97" fmla="*/ 6810 w 9619"/>
              <a:gd name="connsiteY97" fmla="*/ 862 h 10000"/>
              <a:gd name="connsiteX98" fmla="*/ 6685 w 9619"/>
              <a:gd name="connsiteY98" fmla="*/ 798 h 10000"/>
              <a:gd name="connsiteX99" fmla="*/ 6554 w 9619"/>
              <a:gd name="connsiteY99" fmla="*/ 734 h 10000"/>
              <a:gd name="connsiteX100" fmla="*/ 6424 w 9619"/>
              <a:gd name="connsiteY100" fmla="*/ 670 h 10000"/>
              <a:gd name="connsiteX101" fmla="*/ 6288 w 9619"/>
              <a:gd name="connsiteY101" fmla="*/ 612 h 10000"/>
              <a:gd name="connsiteX102" fmla="*/ 6150 w 9619"/>
              <a:gd name="connsiteY102" fmla="*/ 556 h 10000"/>
              <a:gd name="connsiteX103" fmla="*/ 6014 w 9619"/>
              <a:gd name="connsiteY103" fmla="*/ 504 h 10000"/>
              <a:gd name="connsiteX104" fmla="*/ 5876 w 9619"/>
              <a:gd name="connsiteY104" fmla="*/ 450 h 10000"/>
              <a:gd name="connsiteX105" fmla="*/ 5736 w 9619"/>
              <a:gd name="connsiteY105" fmla="*/ 402 h 10000"/>
              <a:gd name="connsiteX106" fmla="*/ 5595 w 9619"/>
              <a:gd name="connsiteY106" fmla="*/ 358 h 10000"/>
              <a:gd name="connsiteX107" fmla="*/ 5449 w 9619"/>
              <a:gd name="connsiteY107" fmla="*/ 314 h 10000"/>
              <a:gd name="connsiteX108" fmla="*/ 5303 w 9619"/>
              <a:gd name="connsiteY108" fmla="*/ 274 h 10000"/>
              <a:gd name="connsiteX109" fmla="*/ 5160 w 9619"/>
              <a:gd name="connsiteY109" fmla="*/ 236 h 10000"/>
              <a:gd name="connsiteX110" fmla="*/ 5009 w 9619"/>
              <a:gd name="connsiteY110" fmla="*/ 200 h 10000"/>
              <a:gd name="connsiteX111" fmla="*/ 4861 w 9619"/>
              <a:gd name="connsiteY111" fmla="*/ 168 h 10000"/>
              <a:gd name="connsiteX112" fmla="*/ 4712 w 9619"/>
              <a:gd name="connsiteY112" fmla="*/ 138 h 10000"/>
              <a:gd name="connsiteX113" fmla="*/ 4561 w 9619"/>
              <a:gd name="connsiteY113" fmla="*/ 110 h 10000"/>
              <a:gd name="connsiteX114" fmla="*/ 4408 w 9619"/>
              <a:gd name="connsiteY114" fmla="*/ 86 h 10000"/>
              <a:gd name="connsiteX115" fmla="*/ 4254 w 9619"/>
              <a:gd name="connsiteY115" fmla="*/ 66 h 10000"/>
              <a:gd name="connsiteX116" fmla="*/ 4098 w 9619"/>
              <a:gd name="connsiteY116" fmla="*/ 46 h 10000"/>
              <a:gd name="connsiteX117" fmla="*/ 3945 w 9619"/>
              <a:gd name="connsiteY117" fmla="*/ 32 h 10000"/>
              <a:gd name="connsiteX118" fmla="*/ 3789 w 9619"/>
              <a:gd name="connsiteY118" fmla="*/ 22 h 10000"/>
              <a:gd name="connsiteX119" fmla="*/ 3630 w 9619"/>
              <a:gd name="connsiteY119" fmla="*/ 10 h 10000"/>
              <a:gd name="connsiteX120" fmla="*/ 3472 w 9619"/>
              <a:gd name="connsiteY120" fmla="*/ 4 h 10000"/>
              <a:gd name="connsiteX121" fmla="*/ 3313 w 9619"/>
              <a:gd name="connsiteY121" fmla="*/ 0 h 10000"/>
              <a:gd name="connsiteX122" fmla="*/ 3154 w 9619"/>
              <a:gd name="connsiteY122" fmla="*/ 0 h 10000"/>
              <a:gd name="connsiteX123" fmla="*/ 2996 w 9619"/>
              <a:gd name="connsiteY123" fmla="*/ 4 h 10000"/>
              <a:gd name="connsiteX124" fmla="*/ 2835 w 9619"/>
              <a:gd name="connsiteY124" fmla="*/ 10 h 10000"/>
              <a:gd name="connsiteX125" fmla="*/ 2676 w 9619"/>
              <a:gd name="connsiteY125" fmla="*/ 22 h 10000"/>
              <a:gd name="connsiteX126" fmla="*/ 2515 w 9619"/>
              <a:gd name="connsiteY126" fmla="*/ 34 h 10000"/>
              <a:gd name="connsiteX127" fmla="*/ 2354 w 9619"/>
              <a:gd name="connsiteY127" fmla="*/ 48 h 10000"/>
              <a:gd name="connsiteX128" fmla="*/ 2193 w 9619"/>
              <a:gd name="connsiteY128" fmla="*/ 66 h 10000"/>
              <a:gd name="connsiteX129" fmla="*/ 2031 w 9619"/>
              <a:gd name="connsiteY129" fmla="*/ 90 h 10000"/>
              <a:gd name="connsiteX130" fmla="*/ 1868 w 9619"/>
              <a:gd name="connsiteY130" fmla="*/ 114 h 10000"/>
              <a:gd name="connsiteX131" fmla="*/ 1868 w 9619"/>
              <a:gd name="connsiteY131" fmla="*/ 114 h 10000"/>
              <a:gd name="connsiteX132" fmla="*/ 1714 w 9619"/>
              <a:gd name="connsiteY132" fmla="*/ 142 h 10000"/>
              <a:gd name="connsiteX133" fmla="*/ 1561 w 9619"/>
              <a:gd name="connsiteY133" fmla="*/ 176 h 10000"/>
              <a:gd name="connsiteX134" fmla="*/ 1410 w 9619"/>
              <a:gd name="connsiteY134" fmla="*/ 208 h 10000"/>
              <a:gd name="connsiteX135" fmla="*/ 1261 w 9619"/>
              <a:gd name="connsiteY135" fmla="*/ 244 h 10000"/>
              <a:gd name="connsiteX136" fmla="*/ 1113 w 9619"/>
              <a:gd name="connsiteY136" fmla="*/ 282 h 10000"/>
              <a:gd name="connsiteX137" fmla="*/ 967 w 9619"/>
              <a:gd name="connsiteY137" fmla="*/ 324 h 10000"/>
              <a:gd name="connsiteX138" fmla="*/ 821 w 9619"/>
              <a:gd name="connsiteY138" fmla="*/ 368 h 10000"/>
              <a:gd name="connsiteX139" fmla="*/ 678 w 9619"/>
              <a:gd name="connsiteY139" fmla="*/ 416 h 10000"/>
              <a:gd name="connsiteX140" fmla="*/ 540 w 9619"/>
              <a:gd name="connsiteY140" fmla="*/ 464 h 10000"/>
              <a:gd name="connsiteX141" fmla="*/ 402 w 9619"/>
              <a:gd name="connsiteY141" fmla="*/ 514 h 10000"/>
              <a:gd name="connsiteX142" fmla="*/ 266 w 9619"/>
              <a:gd name="connsiteY142" fmla="*/ 570 h 10000"/>
              <a:gd name="connsiteX143" fmla="*/ 133 w 9619"/>
              <a:gd name="connsiteY143" fmla="*/ 626 h 10000"/>
              <a:gd name="connsiteX144" fmla="*/ 0 w 9619"/>
              <a:gd name="connsiteY144" fmla="*/ 684 h 10000"/>
              <a:gd name="connsiteX145" fmla="*/ 1031 w 9619"/>
              <a:gd name="connsiteY145" fmla="*/ 9698 h 10000"/>
              <a:gd name="connsiteX146" fmla="*/ 1180 w 9619"/>
              <a:gd name="connsiteY146" fmla="*/ 9738 h 10000"/>
              <a:gd name="connsiteX147" fmla="*/ 1333 w 9619"/>
              <a:gd name="connsiteY147" fmla="*/ 9778 h 10000"/>
              <a:gd name="connsiteX148" fmla="*/ 1486 w 9619"/>
              <a:gd name="connsiteY148" fmla="*/ 9814 h 10000"/>
              <a:gd name="connsiteX149" fmla="*/ 1643 w 9619"/>
              <a:gd name="connsiteY149" fmla="*/ 9846 h 10000"/>
              <a:gd name="connsiteX150" fmla="*/ 1799 w 9619"/>
              <a:gd name="connsiteY150" fmla="*/ 9874 h 10000"/>
              <a:gd name="connsiteX151" fmla="*/ 1955 w 9619"/>
              <a:gd name="connsiteY151" fmla="*/ 9902 h 10000"/>
              <a:gd name="connsiteX152" fmla="*/ 2113 w 9619"/>
              <a:gd name="connsiteY152" fmla="*/ 9926 h 10000"/>
              <a:gd name="connsiteX153" fmla="*/ 2272 w 9619"/>
              <a:gd name="connsiteY153" fmla="*/ 9946 h 10000"/>
              <a:gd name="connsiteX154" fmla="*/ 2433 w 9619"/>
              <a:gd name="connsiteY154" fmla="*/ 9962 h 10000"/>
              <a:gd name="connsiteX155" fmla="*/ 2597 w 9619"/>
              <a:gd name="connsiteY155" fmla="*/ 9978 h 10000"/>
              <a:gd name="connsiteX156" fmla="*/ 2758 w 9619"/>
              <a:gd name="connsiteY156" fmla="*/ 9988 h 10000"/>
              <a:gd name="connsiteX157" fmla="*/ 2922 w 9619"/>
              <a:gd name="connsiteY157" fmla="*/ 9996 h 10000"/>
              <a:gd name="connsiteX158" fmla="*/ 3083 w 9619"/>
              <a:gd name="connsiteY158" fmla="*/ 10000 h 10000"/>
              <a:gd name="connsiteX159" fmla="*/ 3249 w 9619"/>
              <a:gd name="connsiteY159" fmla="*/ 10000 h 10000"/>
              <a:gd name="connsiteX160" fmla="*/ 3413 w 9619"/>
              <a:gd name="connsiteY160" fmla="*/ 9998 h 10000"/>
              <a:gd name="connsiteX161" fmla="*/ 3582 w 9619"/>
              <a:gd name="connsiteY161" fmla="*/ 9994 h 10000"/>
              <a:gd name="connsiteX162" fmla="*/ 3745 w 9619"/>
              <a:gd name="connsiteY162" fmla="*/ 9986 h 10000"/>
              <a:gd name="connsiteX163" fmla="*/ 3914 w 9619"/>
              <a:gd name="connsiteY163" fmla="*/ 9974 h 10000"/>
              <a:gd name="connsiteX164" fmla="*/ 4080 w 9619"/>
              <a:gd name="connsiteY164" fmla="*/ 9956 h 10000"/>
              <a:gd name="connsiteX165" fmla="*/ 4247 w 9619"/>
              <a:gd name="connsiteY165" fmla="*/ 9938 h 10000"/>
              <a:gd name="connsiteX166" fmla="*/ 4416 w 9619"/>
              <a:gd name="connsiteY166" fmla="*/ 9912 h 10000"/>
              <a:gd name="connsiteX167" fmla="*/ 4584 w 9619"/>
              <a:gd name="connsiteY167" fmla="*/ 9888 h 10000"/>
              <a:gd name="connsiteX168" fmla="*/ 4584 w 9619"/>
              <a:gd name="connsiteY168"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705 w 10000"/>
              <a:gd name="connsiteY138" fmla="*/ 416 h 10000"/>
              <a:gd name="connsiteX139" fmla="*/ 561 w 10000"/>
              <a:gd name="connsiteY139" fmla="*/ 464 h 10000"/>
              <a:gd name="connsiteX140" fmla="*/ 418 w 10000"/>
              <a:gd name="connsiteY140" fmla="*/ 514 h 10000"/>
              <a:gd name="connsiteX141" fmla="*/ 277 w 10000"/>
              <a:gd name="connsiteY141" fmla="*/ 570 h 10000"/>
              <a:gd name="connsiteX142" fmla="*/ 138 w 10000"/>
              <a:gd name="connsiteY142" fmla="*/ 626 h 10000"/>
              <a:gd name="connsiteX143" fmla="*/ 0 w 10000"/>
              <a:gd name="connsiteY143" fmla="*/ 684 h 10000"/>
              <a:gd name="connsiteX144" fmla="*/ 1072 w 10000"/>
              <a:gd name="connsiteY144" fmla="*/ 9698 h 10000"/>
              <a:gd name="connsiteX145" fmla="*/ 1227 w 10000"/>
              <a:gd name="connsiteY145" fmla="*/ 9738 h 10000"/>
              <a:gd name="connsiteX146" fmla="*/ 1386 w 10000"/>
              <a:gd name="connsiteY146" fmla="*/ 9778 h 10000"/>
              <a:gd name="connsiteX147" fmla="*/ 1545 w 10000"/>
              <a:gd name="connsiteY147" fmla="*/ 9814 h 10000"/>
              <a:gd name="connsiteX148" fmla="*/ 1708 w 10000"/>
              <a:gd name="connsiteY148" fmla="*/ 9846 h 10000"/>
              <a:gd name="connsiteX149" fmla="*/ 1870 w 10000"/>
              <a:gd name="connsiteY149" fmla="*/ 9874 h 10000"/>
              <a:gd name="connsiteX150" fmla="*/ 2032 w 10000"/>
              <a:gd name="connsiteY150" fmla="*/ 9902 h 10000"/>
              <a:gd name="connsiteX151" fmla="*/ 2197 w 10000"/>
              <a:gd name="connsiteY151" fmla="*/ 9926 h 10000"/>
              <a:gd name="connsiteX152" fmla="*/ 2362 w 10000"/>
              <a:gd name="connsiteY152" fmla="*/ 9946 h 10000"/>
              <a:gd name="connsiteX153" fmla="*/ 2529 w 10000"/>
              <a:gd name="connsiteY153" fmla="*/ 9962 h 10000"/>
              <a:gd name="connsiteX154" fmla="*/ 2700 w 10000"/>
              <a:gd name="connsiteY154" fmla="*/ 9978 h 10000"/>
              <a:gd name="connsiteX155" fmla="*/ 2867 w 10000"/>
              <a:gd name="connsiteY155" fmla="*/ 9988 h 10000"/>
              <a:gd name="connsiteX156" fmla="*/ 3038 w 10000"/>
              <a:gd name="connsiteY156" fmla="*/ 9996 h 10000"/>
              <a:gd name="connsiteX157" fmla="*/ 3205 w 10000"/>
              <a:gd name="connsiteY157" fmla="*/ 10000 h 10000"/>
              <a:gd name="connsiteX158" fmla="*/ 3378 w 10000"/>
              <a:gd name="connsiteY158" fmla="*/ 10000 h 10000"/>
              <a:gd name="connsiteX159" fmla="*/ 3548 w 10000"/>
              <a:gd name="connsiteY159" fmla="*/ 9998 h 10000"/>
              <a:gd name="connsiteX160" fmla="*/ 3724 w 10000"/>
              <a:gd name="connsiteY160" fmla="*/ 9994 h 10000"/>
              <a:gd name="connsiteX161" fmla="*/ 3893 w 10000"/>
              <a:gd name="connsiteY161" fmla="*/ 9986 h 10000"/>
              <a:gd name="connsiteX162" fmla="*/ 4069 w 10000"/>
              <a:gd name="connsiteY162" fmla="*/ 9974 h 10000"/>
              <a:gd name="connsiteX163" fmla="*/ 4242 w 10000"/>
              <a:gd name="connsiteY163" fmla="*/ 9956 h 10000"/>
              <a:gd name="connsiteX164" fmla="*/ 4415 w 10000"/>
              <a:gd name="connsiteY164" fmla="*/ 9938 h 10000"/>
              <a:gd name="connsiteX165" fmla="*/ 4591 w 10000"/>
              <a:gd name="connsiteY165" fmla="*/ 9912 h 10000"/>
              <a:gd name="connsiteX166" fmla="*/ 4766 w 10000"/>
              <a:gd name="connsiteY166" fmla="*/ 9888 h 10000"/>
              <a:gd name="connsiteX167" fmla="*/ 4766 w 10000"/>
              <a:gd name="connsiteY167"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561 w 10000"/>
              <a:gd name="connsiteY138" fmla="*/ 464 h 10000"/>
              <a:gd name="connsiteX139" fmla="*/ 418 w 10000"/>
              <a:gd name="connsiteY139" fmla="*/ 514 h 10000"/>
              <a:gd name="connsiteX140" fmla="*/ 277 w 10000"/>
              <a:gd name="connsiteY140" fmla="*/ 570 h 10000"/>
              <a:gd name="connsiteX141" fmla="*/ 138 w 10000"/>
              <a:gd name="connsiteY141" fmla="*/ 626 h 10000"/>
              <a:gd name="connsiteX142" fmla="*/ 0 w 10000"/>
              <a:gd name="connsiteY142" fmla="*/ 684 h 10000"/>
              <a:gd name="connsiteX143" fmla="*/ 1072 w 10000"/>
              <a:gd name="connsiteY143" fmla="*/ 9698 h 10000"/>
              <a:gd name="connsiteX144" fmla="*/ 1227 w 10000"/>
              <a:gd name="connsiteY144" fmla="*/ 9738 h 10000"/>
              <a:gd name="connsiteX145" fmla="*/ 1386 w 10000"/>
              <a:gd name="connsiteY145" fmla="*/ 9778 h 10000"/>
              <a:gd name="connsiteX146" fmla="*/ 1545 w 10000"/>
              <a:gd name="connsiteY146" fmla="*/ 9814 h 10000"/>
              <a:gd name="connsiteX147" fmla="*/ 1708 w 10000"/>
              <a:gd name="connsiteY147" fmla="*/ 9846 h 10000"/>
              <a:gd name="connsiteX148" fmla="*/ 1870 w 10000"/>
              <a:gd name="connsiteY148" fmla="*/ 9874 h 10000"/>
              <a:gd name="connsiteX149" fmla="*/ 2032 w 10000"/>
              <a:gd name="connsiteY149" fmla="*/ 9902 h 10000"/>
              <a:gd name="connsiteX150" fmla="*/ 2197 w 10000"/>
              <a:gd name="connsiteY150" fmla="*/ 9926 h 10000"/>
              <a:gd name="connsiteX151" fmla="*/ 2362 w 10000"/>
              <a:gd name="connsiteY151" fmla="*/ 9946 h 10000"/>
              <a:gd name="connsiteX152" fmla="*/ 2529 w 10000"/>
              <a:gd name="connsiteY152" fmla="*/ 9962 h 10000"/>
              <a:gd name="connsiteX153" fmla="*/ 2700 w 10000"/>
              <a:gd name="connsiteY153" fmla="*/ 9978 h 10000"/>
              <a:gd name="connsiteX154" fmla="*/ 2867 w 10000"/>
              <a:gd name="connsiteY154" fmla="*/ 9988 h 10000"/>
              <a:gd name="connsiteX155" fmla="*/ 3038 w 10000"/>
              <a:gd name="connsiteY155" fmla="*/ 9996 h 10000"/>
              <a:gd name="connsiteX156" fmla="*/ 3205 w 10000"/>
              <a:gd name="connsiteY156" fmla="*/ 10000 h 10000"/>
              <a:gd name="connsiteX157" fmla="*/ 3378 w 10000"/>
              <a:gd name="connsiteY157" fmla="*/ 10000 h 10000"/>
              <a:gd name="connsiteX158" fmla="*/ 3548 w 10000"/>
              <a:gd name="connsiteY158" fmla="*/ 9998 h 10000"/>
              <a:gd name="connsiteX159" fmla="*/ 3724 w 10000"/>
              <a:gd name="connsiteY159" fmla="*/ 9994 h 10000"/>
              <a:gd name="connsiteX160" fmla="*/ 3893 w 10000"/>
              <a:gd name="connsiteY160" fmla="*/ 9986 h 10000"/>
              <a:gd name="connsiteX161" fmla="*/ 4069 w 10000"/>
              <a:gd name="connsiteY161" fmla="*/ 9974 h 10000"/>
              <a:gd name="connsiteX162" fmla="*/ 4242 w 10000"/>
              <a:gd name="connsiteY162" fmla="*/ 9956 h 10000"/>
              <a:gd name="connsiteX163" fmla="*/ 4415 w 10000"/>
              <a:gd name="connsiteY163" fmla="*/ 9938 h 10000"/>
              <a:gd name="connsiteX164" fmla="*/ 4591 w 10000"/>
              <a:gd name="connsiteY164" fmla="*/ 9912 h 10000"/>
              <a:gd name="connsiteX165" fmla="*/ 4766 w 10000"/>
              <a:gd name="connsiteY165" fmla="*/ 9888 h 10000"/>
              <a:gd name="connsiteX166" fmla="*/ 4766 w 10000"/>
              <a:gd name="connsiteY166"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418 w 10000"/>
              <a:gd name="connsiteY138" fmla="*/ 514 h 10000"/>
              <a:gd name="connsiteX139" fmla="*/ 277 w 10000"/>
              <a:gd name="connsiteY139" fmla="*/ 570 h 10000"/>
              <a:gd name="connsiteX140" fmla="*/ 138 w 10000"/>
              <a:gd name="connsiteY140" fmla="*/ 626 h 10000"/>
              <a:gd name="connsiteX141" fmla="*/ 0 w 10000"/>
              <a:gd name="connsiteY141" fmla="*/ 684 h 10000"/>
              <a:gd name="connsiteX142" fmla="*/ 1072 w 10000"/>
              <a:gd name="connsiteY142" fmla="*/ 9698 h 10000"/>
              <a:gd name="connsiteX143" fmla="*/ 1227 w 10000"/>
              <a:gd name="connsiteY143" fmla="*/ 9738 h 10000"/>
              <a:gd name="connsiteX144" fmla="*/ 1386 w 10000"/>
              <a:gd name="connsiteY144" fmla="*/ 9778 h 10000"/>
              <a:gd name="connsiteX145" fmla="*/ 1545 w 10000"/>
              <a:gd name="connsiteY145" fmla="*/ 9814 h 10000"/>
              <a:gd name="connsiteX146" fmla="*/ 1708 w 10000"/>
              <a:gd name="connsiteY146" fmla="*/ 9846 h 10000"/>
              <a:gd name="connsiteX147" fmla="*/ 1870 w 10000"/>
              <a:gd name="connsiteY147" fmla="*/ 9874 h 10000"/>
              <a:gd name="connsiteX148" fmla="*/ 2032 w 10000"/>
              <a:gd name="connsiteY148" fmla="*/ 9902 h 10000"/>
              <a:gd name="connsiteX149" fmla="*/ 2197 w 10000"/>
              <a:gd name="connsiteY149" fmla="*/ 9926 h 10000"/>
              <a:gd name="connsiteX150" fmla="*/ 2362 w 10000"/>
              <a:gd name="connsiteY150" fmla="*/ 9946 h 10000"/>
              <a:gd name="connsiteX151" fmla="*/ 2529 w 10000"/>
              <a:gd name="connsiteY151" fmla="*/ 9962 h 10000"/>
              <a:gd name="connsiteX152" fmla="*/ 2700 w 10000"/>
              <a:gd name="connsiteY152" fmla="*/ 9978 h 10000"/>
              <a:gd name="connsiteX153" fmla="*/ 2867 w 10000"/>
              <a:gd name="connsiteY153" fmla="*/ 9988 h 10000"/>
              <a:gd name="connsiteX154" fmla="*/ 3038 w 10000"/>
              <a:gd name="connsiteY154" fmla="*/ 9996 h 10000"/>
              <a:gd name="connsiteX155" fmla="*/ 3205 w 10000"/>
              <a:gd name="connsiteY155" fmla="*/ 10000 h 10000"/>
              <a:gd name="connsiteX156" fmla="*/ 3378 w 10000"/>
              <a:gd name="connsiteY156" fmla="*/ 10000 h 10000"/>
              <a:gd name="connsiteX157" fmla="*/ 3548 w 10000"/>
              <a:gd name="connsiteY157" fmla="*/ 9998 h 10000"/>
              <a:gd name="connsiteX158" fmla="*/ 3724 w 10000"/>
              <a:gd name="connsiteY158" fmla="*/ 9994 h 10000"/>
              <a:gd name="connsiteX159" fmla="*/ 3893 w 10000"/>
              <a:gd name="connsiteY159" fmla="*/ 9986 h 10000"/>
              <a:gd name="connsiteX160" fmla="*/ 4069 w 10000"/>
              <a:gd name="connsiteY160" fmla="*/ 9974 h 10000"/>
              <a:gd name="connsiteX161" fmla="*/ 4242 w 10000"/>
              <a:gd name="connsiteY161" fmla="*/ 9956 h 10000"/>
              <a:gd name="connsiteX162" fmla="*/ 4415 w 10000"/>
              <a:gd name="connsiteY162" fmla="*/ 9938 h 10000"/>
              <a:gd name="connsiteX163" fmla="*/ 4591 w 10000"/>
              <a:gd name="connsiteY163" fmla="*/ 9912 h 10000"/>
              <a:gd name="connsiteX164" fmla="*/ 4766 w 10000"/>
              <a:gd name="connsiteY164" fmla="*/ 9888 h 10000"/>
              <a:gd name="connsiteX165" fmla="*/ 4766 w 10000"/>
              <a:gd name="connsiteY165"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277 w 10000"/>
              <a:gd name="connsiteY138" fmla="*/ 570 h 10000"/>
              <a:gd name="connsiteX139" fmla="*/ 138 w 10000"/>
              <a:gd name="connsiteY139" fmla="*/ 626 h 10000"/>
              <a:gd name="connsiteX140" fmla="*/ 0 w 10000"/>
              <a:gd name="connsiteY140" fmla="*/ 684 h 10000"/>
              <a:gd name="connsiteX141" fmla="*/ 1072 w 10000"/>
              <a:gd name="connsiteY141" fmla="*/ 9698 h 10000"/>
              <a:gd name="connsiteX142" fmla="*/ 1227 w 10000"/>
              <a:gd name="connsiteY142" fmla="*/ 9738 h 10000"/>
              <a:gd name="connsiteX143" fmla="*/ 1386 w 10000"/>
              <a:gd name="connsiteY143" fmla="*/ 9778 h 10000"/>
              <a:gd name="connsiteX144" fmla="*/ 1545 w 10000"/>
              <a:gd name="connsiteY144" fmla="*/ 9814 h 10000"/>
              <a:gd name="connsiteX145" fmla="*/ 1708 w 10000"/>
              <a:gd name="connsiteY145" fmla="*/ 9846 h 10000"/>
              <a:gd name="connsiteX146" fmla="*/ 1870 w 10000"/>
              <a:gd name="connsiteY146" fmla="*/ 9874 h 10000"/>
              <a:gd name="connsiteX147" fmla="*/ 2032 w 10000"/>
              <a:gd name="connsiteY147" fmla="*/ 9902 h 10000"/>
              <a:gd name="connsiteX148" fmla="*/ 2197 w 10000"/>
              <a:gd name="connsiteY148" fmla="*/ 9926 h 10000"/>
              <a:gd name="connsiteX149" fmla="*/ 2362 w 10000"/>
              <a:gd name="connsiteY149" fmla="*/ 9946 h 10000"/>
              <a:gd name="connsiteX150" fmla="*/ 2529 w 10000"/>
              <a:gd name="connsiteY150" fmla="*/ 9962 h 10000"/>
              <a:gd name="connsiteX151" fmla="*/ 2700 w 10000"/>
              <a:gd name="connsiteY151" fmla="*/ 9978 h 10000"/>
              <a:gd name="connsiteX152" fmla="*/ 2867 w 10000"/>
              <a:gd name="connsiteY152" fmla="*/ 9988 h 10000"/>
              <a:gd name="connsiteX153" fmla="*/ 3038 w 10000"/>
              <a:gd name="connsiteY153" fmla="*/ 9996 h 10000"/>
              <a:gd name="connsiteX154" fmla="*/ 3205 w 10000"/>
              <a:gd name="connsiteY154" fmla="*/ 10000 h 10000"/>
              <a:gd name="connsiteX155" fmla="*/ 3378 w 10000"/>
              <a:gd name="connsiteY155" fmla="*/ 10000 h 10000"/>
              <a:gd name="connsiteX156" fmla="*/ 3548 w 10000"/>
              <a:gd name="connsiteY156" fmla="*/ 9998 h 10000"/>
              <a:gd name="connsiteX157" fmla="*/ 3724 w 10000"/>
              <a:gd name="connsiteY157" fmla="*/ 9994 h 10000"/>
              <a:gd name="connsiteX158" fmla="*/ 3893 w 10000"/>
              <a:gd name="connsiteY158" fmla="*/ 9986 h 10000"/>
              <a:gd name="connsiteX159" fmla="*/ 4069 w 10000"/>
              <a:gd name="connsiteY159" fmla="*/ 9974 h 10000"/>
              <a:gd name="connsiteX160" fmla="*/ 4242 w 10000"/>
              <a:gd name="connsiteY160" fmla="*/ 9956 h 10000"/>
              <a:gd name="connsiteX161" fmla="*/ 4415 w 10000"/>
              <a:gd name="connsiteY161" fmla="*/ 9938 h 10000"/>
              <a:gd name="connsiteX162" fmla="*/ 4591 w 10000"/>
              <a:gd name="connsiteY162" fmla="*/ 9912 h 10000"/>
              <a:gd name="connsiteX163" fmla="*/ 4766 w 10000"/>
              <a:gd name="connsiteY163" fmla="*/ 9888 h 10000"/>
              <a:gd name="connsiteX164" fmla="*/ 4766 w 10000"/>
              <a:gd name="connsiteY164"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138 w 10000"/>
              <a:gd name="connsiteY138" fmla="*/ 626 h 10000"/>
              <a:gd name="connsiteX139" fmla="*/ 0 w 10000"/>
              <a:gd name="connsiteY139" fmla="*/ 684 h 10000"/>
              <a:gd name="connsiteX140" fmla="*/ 1072 w 10000"/>
              <a:gd name="connsiteY140" fmla="*/ 9698 h 10000"/>
              <a:gd name="connsiteX141" fmla="*/ 1227 w 10000"/>
              <a:gd name="connsiteY141" fmla="*/ 9738 h 10000"/>
              <a:gd name="connsiteX142" fmla="*/ 1386 w 10000"/>
              <a:gd name="connsiteY142" fmla="*/ 9778 h 10000"/>
              <a:gd name="connsiteX143" fmla="*/ 1545 w 10000"/>
              <a:gd name="connsiteY143" fmla="*/ 9814 h 10000"/>
              <a:gd name="connsiteX144" fmla="*/ 1708 w 10000"/>
              <a:gd name="connsiteY144" fmla="*/ 9846 h 10000"/>
              <a:gd name="connsiteX145" fmla="*/ 1870 w 10000"/>
              <a:gd name="connsiteY145" fmla="*/ 9874 h 10000"/>
              <a:gd name="connsiteX146" fmla="*/ 2032 w 10000"/>
              <a:gd name="connsiteY146" fmla="*/ 9902 h 10000"/>
              <a:gd name="connsiteX147" fmla="*/ 2197 w 10000"/>
              <a:gd name="connsiteY147" fmla="*/ 9926 h 10000"/>
              <a:gd name="connsiteX148" fmla="*/ 2362 w 10000"/>
              <a:gd name="connsiteY148" fmla="*/ 9946 h 10000"/>
              <a:gd name="connsiteX149" fmla="*/ 2529 w 10000"/>
              <a:gd name="connsiteY149" fmla="*/ 9962 h 10000"/>
              <a:gd name="connsiteX150" fmla="*/ 2700 w 10000"/>
              <a:gd name="connsiteY150" fmla="*/ 9978 h 10000"/>
              <a:gd name="connsiteX151" fmla="*/ 2867 w 10000"/>
              <a:gd name="connsiteY151" fmla="*/ 9988 h 10000"/>
              <a:gd name="connsiteX152" fmla="*/ 3038 w 10000"/>
              <a:gd name="connsiteY152" fmla="*/ 9996 h 10000"/>
              <a:gd name="connsiteX153" fmla="*/ 3205 w 10000"/>
              <a:gd name="connsiteY153" fmla="*/ 10000 h 10000"/>
              <a:gd name="connsiteX154" fmla="*/ 3378 w 10000"/>
              <a:gd name="connsiteY154" fmla="*/ 10000 h 10000"/>
              <a:gd name="connsiteX155" fmla="*/ 3548 w 10000"/>
              <a:gd name="connsiteY155" fmla="*/ 9998 h 10000"/>
              <a:gd name="connsiteX156" fmla="*/ 3724 w 10000"/>
              <a:gd name="connsiteY156" fmla="*/ 9994 h 10000"/>
              <a:gd name="connsiteX157" fmla="*/ 3893 w 10000"/>
              <a:gd name="connsiteY157" fmla="*/ 9986 h 10000"/>
              <a:gd name="connsiteX158" fmla="*/ 4069 w 10000"/>
              <a:gd name="connsiteY158" fmla="*/ 9974 h 10000"/>
              <a:gd name="connsiteX159" fmla="*/ 4242 w 10000"/>
              <a:gd name="connsiteY159" fmla="*/ 9956 h 10000"/>
              <a:gd name="connsiteX160" fmla="*/ 4415 w 10000"/>
              <a:gd name="connsiteY160" fmla="*/ 9938 h 10000"/>
              <a:gd name="connsiteX161" fmla="*/ 4591 w 10000"/>
              <a:gd name="connsiteY161" fmla="*/ 9912 h 10000"/>
              <a:gd name="connsiteX162" fmla="*/ 4766 w 10000"/>
              <a:gd name="connsiteY162" fmla="*/ 9888 h 10000"/>
              <a:gd name="connsiteX163" fmla="*/ 4766 w 10000"/>
              <a:gd name="connsiteY163" fmla="*/ 9888 h 10000"/>
              <a:gd name="connsiteX0" fmla="*/ 4766 w 10000"/>
              <a:gd name="connsiteY0" fmla="*/ 9888 h 10000"/>
              <a:gd name="connsiteX1" fmla="*/ 4766 w 10000"/>
              <a:gd name="connsiteY1" fmla="*/ 9888 h 10000"/>
              <a:gd name="connsiteX2" fmla="*/ 4931 w 10000"/>
              <a:gd name="connsiteY2" fmla="*/ 9856 h 10000"/>
              <a:gd name="connsiteX3" fmla="*/ 5096 w 10000"/>
              <a:gd name="connsiteY3" fmla="*/ 9826 h 10000"/>
              <a:gd name="connsiteX4" fmla="*/ 5258 w 10000"/>
              <a:gd name="connsiteY4" fmla="*/ 9792 h 10000"/>
              <a:gd name="connsiteX5" fmla="*/ 5421 w 10000"/>
              <a:gd name="connsiteY5" fmla="*/ 9754 h 10000"/>
              <a:gd name="connsiteX6" fmla="*/ 5578 w 10000"/>
              <a:gd name="connsiteY6" fmla="*/ 9712 h 10000"/>
              <a:gd name="connsiteX7" fmla="*/ 5737 w 10000"/>
              <a:gd name="connsiteY7" fmla="*/ 9670 h 10000"/>
              <a:gd name="connsiteX8" fmla="*/ 5891 w 10000"/>
              <a:gd name="connsiteY8" fmla="*/ 9622 h 10000"/>
              <a:gd name="connsiteX9" fmla="*/ 6045 w 10000"/>
              <a:gd name="connsiteY9" fmla="*/ 9574 h 10000"/>
              <a:gd name="connsiteX10" fmla="*/ 6194 w 10000"/>
              <a:gd name="connsiteY10" fmla="*/ 9524 h 10000"/>
              <a:gd name="connsiteX11" fmla="*/ 6341 w 10000"/>
              <a:gd name="connsiteY11" fmla="*/ 9468 h 10000"/>
              <a:gd name="connsiteX12" fmla="*/ 6489 w 10000"/>
              <a:gd name="connsiteY12" fmla="*/ 9412 h 10000"/>
              <a:gd name="connsiteX13" fmla="*/ 6631 w 10000"/>
              <a:gd name="connsiteY13" fmla="*/ 9352 h 10000"/>
              <a:gd name="connsiteX14" fmla="*/ 6771 w 10000"/>
              <a:gd name="connsiteY14" fmla="*/ 9290 h 10000"/>
              <a:gd name="connsiteX15" fmla="*/ 6912 w 10000"/>
              <a:gd name="connsiteY15" fmla="*/ 9224 h 10000"/>
              <a:gd name="connsiteX16" fmla="*/ 7048 w 10000"/>
              <a:gd name="connsiteY16" fmla="*/ 9160 h 10000"/>
              <a:gd name="connsiteX17" fmla="*/ 7181 w 10000"/>
              <a:gd name="connsiteY17" fmla="*/ 9090 h 10000"/>
              <a:gd name="connsiteX18" fmla="*/ 7312 w 10000"/>
              <a:gd name="connsiteY18" fmla="*/ 9018 h 10000"/>
              <a:gd name="connsiteX19" fmla="*/ 7438 w 10000"/>
              <a:gd name="connsiteY19" fmla="*/ 8944 h 10000"/>
              <a:gd name="connsiteX20" fmla="*/ 7564 w 10000"/>
              <a:gd name="connsiteY20" fmla="*/ 8868 h 10000"/>
              <a:gd name="connsiteX21" fmla="*/ 7689 w 10000"/>
              <a:gd name="connsiteY21" fmla="*/ 8792 h 10000"/>
              <a:gd name="connsiteX22" fmla="*/ 7809 w 10000"/>
              <a:gd name="connsiteY22" fmla="*/ 8712 h 10000"/>
              <a:gd name="connsiteX23" fmla="*/ 7928 w 10000"/>
              <a:gd name="connsiteY23" fmla="*/ 8628 h 10000"/>
              <a:gd name="connsiteX24" fmla="*/ 8042 w 10000"/>
              <a:gd name="connsiteY24" fmla="*/ 8544 h 10000"/>
              <a:gd name="connsiteX25" fmla="*/ 8152 w 10000"/>
              <a:gd name="connsiteY25" fmla="*/ 8458 h 10000"/>
              <a:gd name="connsiteX26" fmla="*/ 8263 w 10000"/>
              <a:gd name="connsiteY26" fmla="*/ 8370 h 10000"/>
              <a:gd name="connsiteX27" fmla="*/ 8370 w 10000"/>
              <a:gd name="connsiteY27" fmla="*/ 8282 h 10000"/>
              <a:gd name="connsiteX28" fmla="*/ 8471 w 10000"/>
              <a:gd name="connsiteY28" fmla="*/ 8190 h 10000"/>
              <a:gd name="connsiteX29" fmla="*/ 8572 w 10000"/>
              <a:gd name="connsiteY29" fmla="*/ 8098 h 10000"/>
              <a:gd name="connsiteX30" fmla="*/ 8670 w 10000"/>
              <a:gd name="connsiteY30" fmla="*/ 8002 h 10000"/>
              <a:gd name="connsiteX31" fmla="*/ 8763 w 10000"/>
              <a:gd name="connsiteY31" fmla="*/ 7906 h 10000"/>
              <a:gd name="connsiteX32" fmla="*/ 8853 w 10000"/>
              <a:gd name="connsiteY32" fmla="*/ 7806 h 10000"/>
              <a:gd name="connsiteX33" fmla="*/ 8942 w 10000"/>
              <a:gd name="connsiteY33" fmla="*/ 7706 h 10000"/>
              <a:gd name="connsiteX34" fmla="*/ 9027 w 10000"/>
              <a:gd name="connsiteY34" fmla="*/ 7604 h 10000"/>
              <a:gd name="connsiteX35" fmla="*/ 9109 w 10000"/>
              <a:gd name="connsiteY35" fmla="*/ 7500 h 10000"/>
              <a:gd name="connsiteX36" fmla="*/ 9186 w 10000"/>
              <a:gd name="connsiteY36" fmla="*/ 7398 h 10000"/>
              <a:gd name="connsiteX37" fmla="*/ 9261 w 10000"/>
              <a:gd name="connsiteY37" fmla="*/ 7292 h 10000"/>
              <a:gd name="connsiteX38" fmla="*/ 9333 w 10000"/>
              <a:gd name="connsiteY38" fmla="*/ 7182 h 10000"/>
              <a:gd name="connsiteX39" fmla="*/ 9401 w 10000"/>
              <a:gd name="connsiteY39" fmla="*/ 7074 h 10000"/>
              <a:gd name="connsiteX40" fmla="*/ 9466 w 10000"/>
              <a:gd name="connsiteY40" fmla="*/ 6964 h 10000"/>
              <a:gd name="connsiteX41" fmla="*/ 9527 w 10000"/>
              <a:gd name="connsiteY41" fmla="*/ 6854 h 10000"/>
              <a:gd name="connsiteX42" fmla="*/ 9585 w 10000"/>
              <a:gd name="connsiteY42" fmla="*/ 6740 h 10000"/>
              <a:gd name="connsiteX43" fmla="*/ 9638 w 10000"/>
              <a:gd name="connsiteY43" fmla="*/ 6626 h 10000"/>
              <a:gd name="connsiteX44" fmla="*/ 9689 w 10000"/>
              <a:gd name="connsiteY44" fmla="*/ 6512 h 10000"/>
              <a:gd name="connsiteX45" fmla="*/ 9734 w 10000"/>
              <a:gd name="connsiteY45" fmla="*/ 6396 h 10000"/>
              <a:gd name="connsiteX46" fmla="*/ 9780 w 10000"/>
              <a:gd name="connsiteY46" fmla="*/ 6280 h 10000"/>
              <a:gd name="connsiteX47" fmla="*/ 9819 w 10000"/>
              <a:gd name="connsiteY47" fmla="*/ 6164 h 10000"/>
              <a:gd name="connsiteX48" fmla="*/ 9857 w 10000"/>
              <a:gd name="connsiteY48" fmla="*/ 6044 h 10000"/>
              <a:gd name="connsiteX49" fmla="*/ 9886 w 10000"/>
              <a:gd name="connsiteY49" fmla="*/ 5926 h 10000"/>
              <a:gd name="connsiteX50" fmla="*/ 9913 w 10000"/>
              <a:gd name="connsiteY50" fmla="*/ 5804 h 10000"/>
              <a:gd name="connsiteX51" fmla="*/ 9939 w 10000"/>
              <a:gd name="connsiteY51" fmla="*/ 5684 h 10000"/>
              <a:gd name="connsiteX52" fmla="*/ 9960 w 10000"/>
              <a:gd name="connsiteY52" fmla="*/ 5562 h 10000"/>
              <a:gd name="connsiteX53" fmla="*/ 9976 w 10000"/>
              <a:gd name="connsiteY53" fmla="*/ 5440 h 10000"/>
              <a:gd name="connsiteX54" fmla="*/ 9986 w 10000"/>
              <a:gd name="connsiteY54" fmla="*/ 5316 h 10000"/>
              <a:gd name="connsiteX55" fmla="*/ 9997 w 10000"/>
              <a:gd name="connsiteY55" fmla="*/ 5196 h 10000"/>
              <a:gd name="connsiteX56" fmla="*/ 10000 w 10000"/>
              <a:gd name="connsiteY56" fmla="*/ 5072 h 10000"/>
              <a:gd name="connsiteX57" fmla="*/ 10000 w 10000"/>
              <a:gd name="connsiteY57" fmla="*/ 4948 h 10000"/>
              <a:gd name="connsiteX58" fmla="*/ 9997 w 10000"/>
              <a:gd name="connsiteY58" fmla="*/ 4822 h 10000"/>
              <a:gd name="connsiteX59" fmla="*/ 9986 w 10000"/>
              <a:gd name="connsiteY59" fmla="*/ 4698 h 10000"/>
              <a:gd name="connsiteX60" fmla="*/ 9976 w 10000"/>
              <a:gd name="connsiteY60" fmla="*/ 4572 h 10000"/>
              <a:gd name="connsiteX61" fmla="*/ 9960 w 10000"/>
              <a:gd name="connsiteY61" fmla="*/ 4444 h 10000"/>
              <a:gd name="connsiteX62" fmla="*/ 9937 w 10000"/>
              <a:gd name="connsiteY62" fmla="*/ 4318 h 10000"/>
              <a:gd name="connsiteX63" fmla="*/ 9913 w 10000"/>
              <a:gd name="connsiteY63" fmla="*/ 4192 h 10000"/>
              <a:gd name="connsiteX64" fmla="*/ 9883 w 10000"/>
              <a:gd name="connsiteY64" fmla="*/ 4066 h 10000"/>
              <a:gd name="connsiteX65" fmla="*/ 9848 w 10000"/>
              <a:gd name="connsiteY65" fmla="*/ 3940 h 10000"/>
              <a:gd name="connsiteX66" fmla="*/ 9848 w 10000"/>
              <a:gd name="connsiteY66" fmla="*/ 3940 h 10000"/>
              <a:gd name="connsiteX67" fmla="*/ 9809 w 10000"/>
              <a:gd name="connsiteY67" fmla="*/ 3816 h 10000"/>
              <a:gd name="connsiteX68" fmla="*/ 9766 w 10000"/>
              <a:gd name="connsiteY68" fmla="*/ 3692 h 10000"/>
              <a:gd name="connsiteX69" fmla="*/ 9720 w 10000"/>
              <a:gd name="connsiteY69" fmla="*/ 3568 h 10000"/>
              <a:gd name="connsiteX70" fmla="*/ 9670 w 10000"/>
              <a:gd name="connsiteY70" fmla="*/ 3446 h 10000"/>
              <a:gd name="connsiteX71" fmla="*/ 9617 w 10000"/>
              <a:gd name="connsiteY71" fmla="*/ 3328 h 10000"/>
              <a:gd name="connsiteX72" fmla="*/ 9556 w 10000"/>
              <a:gd name="connsiteY72" fmla="*/ 3208 h 10000"/>
              <a:gd name="connsiteX73" fmla="*/ 9498 w 10000"/>
              <a:gd name="connsiteY73" fmla="*/ 3092 h 10000"/>
              <a:gd name="connsiteX74" fmla="*/ 9433 w 10000"/>
              <a:gd name="connsiteY74" fmla="*/ 2976 h 10000"/>
              <a:gd name="connsiteX75" fmla="*/ 9362 w 10000"/>
              <a:gd name="connsiteY75" fmla="*/ 2864 h 10000"/>
              <a:gd name="connsiteX76" fmla="*/ 9293 w 10000"/>
              <a:gd name="connsiteY76" fmla="*/ 2754 h 10000"/>
              <a:gd name="connsiteX77" fmla="*/ 9215 w 10000"/>
              <a:gd name="connsiteY77" fmla="*/ 2642 h 10000"/>
              <a:gd name="connsiteX78" fmla="*/ 9136 w 10000"/>
              <a:gd name="connsiteY78" fmla="*/ 2536 h 10000"/>
              <a:gd name="connsiteX79" fmla="*/ 9053 w 10000"/>
              <a:gd name="connsiteY79" fmla="*/ 2430 h 10000"/>
              <a:gd name="connsiteX80" fmla="*/ 8968 w 10000"/>
              <a:gd name="connsiteY80" fmla="*/ 2324 h 10000"/>
              <a:gd name="connsiteX81" fmla="*/ 8880 w 10000"/>
              <a:gd name="connsiteY81" fmla="*/ 2222 h 10000"/>
              <a:gd name="connsiteX82" fmla="*/ 8787 w 10000"/>
              <a:gd name="connsiteY82" fmla="*/ 2122 h 10000"/>
              <a:gd name="connsiteX83" fmla="*/ 8694 w 10000"/>
              <a:gd name="connsiteY83" fmla="*/ 2024 h 10000"/>
              <a:gd name="connsiteX84" fmla="*/ 8595 w 10000"/>
              <a:gd name="connsiteY84" fmla="*/ 1928 h 10000"/>
              <a:gd name="connsiteX85" fmla="*/ 8495 w 10000"/>
              <a:gd name="connsiteY85" fmla="*/ 1834 h 10000"/>
              <a:gd name="connsiteX86" fmla="*/ 8391 w 10000"/>
              <a:gd name="connsiteY86" fmla="*/ 1740 h 10000"/>
              <a:gd name="connsiteX87" fmla="*/ 8288 w 10000"/>
              <a:gd name="connsiteY87" fmla="*/ 1648 h 10000"/>
              <a:gd name="connsiteX88" fmla="*/ 8175 w 10000"/>
              <a:gd name="connsiteY88" fmla="*/ 1560 h 10000"/>
              <a:gd name="connsiteX89" fmla="*/ 8064 w 10000"/>
              <a:gd name="connsiteY89" fmla="*/ 1474 h 10000"/>
              <a:gd name="connsiteX90" fmla="*/ 7950 w 10000"/>
              <a:gd name="connsiteY90" fmla="*/ 1392 h 10000"/>
              <a:gd name="connsiteX91" fmla="*/ 7832 w 10000"/>
              <a:gd name="connsiteY91" fmla="*/ 1308 h 10000"/>
              <a:gd name="connsiteX92" fmla="*/ 7716 w 10000"/>
              <a:gd name="connsiteY92" fmla="*/ 1226 h 10000"/>
              <a:gd name="connsiteX93" fmla="*/ 7590 w 10000"/>
              <a:gd name="connsiteY93" fmla="*/ 1150 h 10000"/>
              <a:gd name="connsiteX94" fmla="*/ 7469 w 10000"/>
              <a:gd name="connsiteY94" fmla="*/ 1076 h 10000"/>
              <a:gd name="connsiteX95" fmla="*/ 7343 w 10000"/>
              <a:gd name="connsiteY95" fmla="*/ 1002 h 10000"/>
              <a:gd name="connsiteX96" fmla="*/ 7213 w 10000"/>
              <a:gd name="connsiteY96" fmla="*/ 932 h 10000"/>
              <a:gd name="connsiteX97" fmla="*/ 7080 w 10000"/>
              <a:gd name="connsiteY97" fmla="*/ 862 h 10000"/>
              <a:gd name="connsiteX98" fmla="*/ 6950 w 10000"/>
              <a:gd name="connsiteY98" fmla="*/ 798 h 10000"/>
              <a:gd name="connsiteX99" fmla="*/ 6814 w 10000"/>
              <a:gd name="connsiteY99" fmla="*/ 734 h 10000"/>
              <a:gd name="connsiteX100" fmla="*/ 6678 w 10000"/>
              <a:gd name="connsiteY100" fmla="*/ 670 h 10000"/>
              <a:gd name="connsiteX101" fmla="*/ 6537 w 10000"/>
              <a:gd name="connsiteY101" fmla="*/ 612 h 10000"/>
              <a:gd name="connsiteX102" fmla="*/ 6394 w 10000"/>
              <a:gd name="connsiteY102" fmla="*/ 556 h 10000"/>
              <a:gd name="connsiteX103" fmla="*/ 6252 w 10000"/>
              <a:gd name="connsiteY103" fmla="*/ 504 h 10000"/>
              <a:gd name="connsiteX104" fmla="*/ 6109 w 10000"/>
              <a:gd name="connsiteY104" fmla="*/ 450 h 10000"/>
              <a:gd name="connsiteX105" fmla="*/ 5963 w 10000"/>
              <a:gd name="connsiteY105" fmla="*/ 402 h 10000"/>
              <a:gd name="connsiteX106" fmla="*/ 5817 w 10000"/>
              <a:gd name="connsiteY106" fmla="*/ 358 h 10000"/>
              <a:gd name="connsiteX107" fmla="*/ 5665 w 10000"/>
              <a:gd name="connsiteY107" fmla="*/ 314 h 10000"/>
              <a:gd name="connsiteX108" fmla="*/ 5513 w 10000"/>
              <a:gd name="connsiteY108" fmla="*/ 274 h 10000"/>
              <a:gd name="connsiteX109" fmla="*/ 5364 w 10000"/>
              <a:gd name="connsiteY109" fmla="*/ 236 h 10000"/>
              <a:gd name="connsiteX110" fmla="*/ 5207 w 10000"/>
              <a:gd name="connsiteY110" fmla="*/ 200 h 10000"/>
              <a:gd name="connsiteX111" fmla="*/ 5054 w 10000"/>
              <a:gd name="connsiteY111" fmla="*/ 168 h 10000"/>
              <a:gd name="connsiteX112" fmla="*/ 4899 w 10000"/>
              <a:gd name="connsiteY112" fmla="*/ 138 h 10000"/>
              <a:gd name="connsiteX113" fmla="*/ 4742 w 10000"/>
              <a:gd name="connsiteY113" fmla="*/ 110 h 10000"/>
              <a:gd name="connsiteX114" fmla="*/ 4583 w 10000"/>
              <a:gd name="connsiteY114" fmla="*/ 86 h 10000"/>
              <a:gd name="connsiteX115" fmla="*/ 4422 w 10000"/>
              <a:gd name="connsiteY115" fmla="*/ 66 h 10000"/>
              <a:gd name="connsiteX116" fmla="*/ 4260 w 10000"/>
              <a:gd name="connsiteY116" fmla="*/ 46 h 10000"/>
              <a:gd name="connsiteX117" fmla="*/ 4101 w 10000"/>
              <a:gd name="connsiteY117" fmla="*/ 32 h 10000"/>
              <a:gd name="connsiteX118" fmla="*/ 3939 w 10000"/>
              <a:gd name="connsiteY118" fmla="*/ 22 h 10000"/>
              <a:gd name="connsiteX119" fmla="*/ 3774 w 10000"/>
              <a:gd name="connsiteY119" fmla="*/ 10 h 10000"/>
              <a:gd name="connsiteX120" fmla="*/ 3610 w 10000"/>
              <a:gd name="connsiteY120" fmla="*/ 4 h 10000"/>
              <a:gd name="connsiteX121" fmla="*/ 3444 w 10000"/>
              <a:gd name="connsiteY121" fmla="*/ 0 h 10000"/>
              <a:gd name="connsiteX122" fmla="*/ 3279 w 10000"/>
              <a:gd name="connsiteY122" fmla="*/ 0 h 10000"/>
              <a:gd name="connsiteX123" fmla="*/ 3115 w 10000"/>
              <a:gd name="connsiteY123" fmla="*/ 4 h 10000"/>
              <a:gd name="connsiteX124" fmla="*/ 2947 w 10000"/>
              <a:gd name="connsiteY124" fmla="*/ 10 h 10000"/>
              <a:gd name="connsiteX125" fmla="*/ 2782 w 10000"/>
              <a:gd name="connsiteY125" fmla="*/ 22 h 10000"/>
              <a:gd name="connsiteX126" fmla="*/ 2615 w 10000"/>
              <a:gd name="connsiteY126" fmla="*/ 34 h 10000"/>
              <a:gd name="connsiteX127" fmla="*/ 2447 w 10000"/>
              <a:gd name="connsiteY127" fmla="*/ 48 h 10000"/>
              <a:gd name="connsiteX128" fmla="*/ 2280 w 10000"/>
              <a:gd name="connsiteY128" fmla="*/ 66 h 10000"/>
              <a:gd name="connsiteX129" fmla="*/ 2111 w 10000"/>
              <a:gd name="connsiteY129" fmla="*/ 90 h 10000"/>
              <a:gd name="connsiteX130" fmla="*/ 1942 w 10000"/>
              <a:gd name="connsiteY130" fmla="*/ 114 h 10000"/>
              <a:gd name="connsiteX131" fmla="*/ 1942 w 10000"/>
              <a:gd name="connsiteY131" fmla="*/ 114 h 10000"/>
              <a:gd name="connsiteX132" fmla="*/ 1782 w 10000"/>
              <a:gd name="connsiteY132" fmla="*/ 142 h 10000"/>
              <a:gd name="connsiteX133" fmla="*/ 1623 w 10000"/>
              <a:gd name="connsiteY133" fmla="*/ 176 h 10000"/>
              <a:gd name="connsiteX134" fmla="*/ 1466 w 10000"/>
              <a:gd name="connsiteY134" fmla="*/ 208 h 10000"/>
              <a:gd name="connsiteX135" fmla="*/ 1311 w 10000"/>
              <a:gd name="connsiteY135" fmla="*/ 244 h 10000"/>
              <a:gd name="connsiteX136" fmla="*/ 1157 w 10000"/>
              <a:gd name="connsiteY136" fmla="*/ 282 h 10000"/>
              <a:gd name="connsiteX137" fmla="*/ 1005 w 10000"/>
              <a:gd name="connsiteY137" fmla="*/ 324 h 10000"/>
              <a:gd name="connsiteX138" fmla="*/ 0 w 10000"/>
              <a:gd name="connsiteY138" fmla="*/ 684 h 10000"/>
              <a:gd name="connsiteX139" fmla="*/ 1072 w 10000"/>
              <a:gd name="connsiteY139" fmla="*/ 9698 h 10000"/>
              <a:gd name="connsiteX140" fmla="*/ 1227 w 10000"/>
              <a:gd name="connsiteY140" fmla="*/ 9738 h 10000"/>
              <a:gd name="connsiteX141" fmla="*/ 1386 w 10000"/>
              <a:gd name="connsiteY141" fmla="*/ 9778 h 10000"/>
              <a:gd name="connsiteX142" fmla="*/ 1545 w 10000"/>
              <a:gd name="connsiteY142" fmla="*/ 9814 h 10000"/>
              <a:gd name="connsiteX143" fmla="*/ 1708 w 10000"/>
              <a:gd name="connsiteY143" fmla="*/ 9846 h 10000"/>
              <a:gd name="connsiteX144" fmla="*/ 1870 w 10000"/>
              <a:gd name="connsiteY144" fmla="*/ 9874 h 10000"/>
              <a:gd name="connsiteX145" fmla="*/ 2032 w 10000"/>
              <a:gd name="connsiteY145" fmla="*/ 9902 h 10000"/>
              <a:gd name="connsiteX146" fmla="*/ 2197 w 10000"/>
              <a:gd name="connsiteY146" fmla="*/ 9926 h 10000"/>
              <a:gd name="connsiteX147" fmla="*/ 2362 w 10000"/>
              <a:gd name="connsiteY147" fmla="*/ 9946 h 10000"/>
              <a:gd name="connsiteX148" fmla="*/ 2529 w 10000"/>
              <a:gd name="connsiteY148" fmla="*/ 9962 h 10000"/>
              <a:gd name="connsiteX149" fmla="*/ 2700 w 10000"/>
              <a:gd name="connsiteY149" fmla="*/ 9978 h 10000"/>
              <a:gd name="connsiteX150" fmla="*/ 2867 w 10000"/>
              <a:gd name="connsiteY150" fmla="*/ 9988 h 10000"/>
              <a:gd name="connsiteX151" fmla="*/ 3038 w 10000"/>
              <a:gd name="connsiteY151" fmla="*/ 9996 h 10000"/>
              <a:gd name="connsiteX152" fmla="*/ 3205 w 10000"/>
              <a:gd name="connsiteY152" fmla="*/ 10000 h 10000"/>
              <a:gd name="connsiteX153" fmla="*/ 3378 w 10000"/>
              <a:gd name="connsiteY153" fmla="*/ 10000 h 10000"/>
              <a:gd name="connsiteX154" fmla="*/ 3548 w 10000"/>
              <a:gd name="connsiteY154" fmla="*/ 9998 h 10000"/>
              <a:gd name="connsiteX155" fmla="*/ 3724 w 10000"/>
              <a:gd name="connsiteY155" fmla="*/ 9994 h 10000"/>
              <a:gd name="connsiteX156" fmla="*/ 3893 w 10000"/>
              <a:gd name="connsiteY156" fmla="*/ 9986 h 10000"/>
              <a:gd name="connsiteX157" fmla="*/ 4069 w 10000"/>
              <a:gd name="connsiteY157" fmla="*/ 9974 h 10000"/>
              <a:gd name="connsiteX158" fmla="*/ 4242 w 10000"/>
              <a:gd name="connsiteY158" fmla="*/ 9956 h 10000"/>
              <a:gd name="connsiteX159" fmla="*/ 4415 w 10000"/>
              <a:gd name="connsiteY159" fmla="*/ 9938 h 10000"/>
              <a:gd name="connsiteX160" fmla="*/ 4591 w 10000"/>
              <a:gd name="connsiteY160" fmla="*/ 9912 h 10000"/>
              <a:gd name="connsiteX161" fmla="*/ 4766 w 10000"/>
              <a:gd name="connsiteY161" fmla="*/ 9888 h 10000"/>
              <a:gd name="connsiteX162" fmla="*/ 4766 w 10000"/>
              <a:gd name="connsiteY162" fmla="*/ 9888 h 10000"/>
              <a:gd name="connsiteX0" fmla="*/ 3761 w 8995"/>
              <a:gd name="connsiteY0" fmla="*/ 9888 h 10000"/>
              <a:gd name="connsiteX1" fmla="*/ 3761 w 8995"/>
              <a:gd name="connsiteY1" fmla="*/ 9888 h 10000"/>
              <a:gd name="connsiteX2" fmla="*/ 3926 w 8995"/>
              <a:gd name="connsiteY2" fmla="*/ 9856 h 10000"/>
              <a:gd name="connsiteX3" fmla="*/ 4091 w 8995"/>
              <a:gd name="connsiteY3" fmla="*/ 9826 h 10000"/>
              <a:gd name="connsiteX4" fmla="*/ 4253 w 8995"/>
              <a:gd name="connsiteY4" fmla="*/ 9792 h 10000"/>
              <a:gd name="connsiteX5" fmla="*/ 4416 w 8995"/>
              <a:gd name="connsiteY5" fmla="*/ 9754 h 10000"/>
              <a:gd name="connsiteX6" fmla="*/ 4573 w 8995"/>
              <a:gd name="connsiteY6" fmla="*/ 9712 h 10000"/>
              <a:gd name="connsiteX7" fmla="*/ 4732 w 8995"/>
              <a:gd name="connsiteY7" fmla="*/ 9670 h 10000"/>
              <a:gd name="connsiteX8" fmla="*/ 4886 w 8995"/>
              <a:gd name="connsiteY8" fmla="*/ 9622 h 10000"/>
              <a:gd name="connsiteX9" fmla="*/ 5040 w 8995"/>
              <a:gd name="connsiteY9" fmla="*/ 9574 h 10000"/>
              <a:gd name="connsiteX10" fmla="*/ 5189 w 8995"/>
              <a:gd name="connsiteY10" fmla="*/ 9524 h 10000"/>
              <a:gd name="connsiteX11" fmla="*/ 5336 w 8995"/>
              <a:gd name="connsiteY11" fmla="*/ 9468 h 10000"/>
              <a:gd name="connsiteX12" fmla="*/ 5484 w 8995"/>
              <a:gd name="connsiteY12" fmla="*/ 9412 h 10000"/>
              <a:gd name="connsiteX13" fmla="*/ 5626 w 8995"/>
              <a:gd name="connsiteY13" fmla="*/ 9352 h 10000"/>
              <a:gd name="connsiteX14" fmla="*/ 5766 w 8995"/>
              <a:gd name="connsiteY14" fmla="*/ 9290 h 10000"/>
              <a:gd name="connsiteX15" fmla="*/ 5907 w 8995"/>
              <a:gd name="connsiteY15" fmla="*/ 9224 h 10000"/>
              <a:gd name="connsiteX16" fmla="*/ 6043 w 8995"/>
              <a:gd name="connsiteY16" fmla="*/ 9160 h 10000"/>
              <a:gd name="connsiteX17" fmla="*/ 6176 w 8995"/>
              <a:gd name="connsiteY17" fmla="*/ 9090 h 10000"/>
              <a:gd name="connsiteX18" fmla="*/ 6307 w 8995"/>
              <a:gd name="connsiteY18" fmla="*/ 9018 h 10000"/>
              <a:gd name="connsiteX19" fmla="*/ 6433 w 8995"/>
              <a:gd name="connsiteY19" fmla="*/ 8944 h 10000"/>
              <a:gd name="connsiteX20" fmla="*/ 6559 w 8995"/>
              <a:gd name="connsiteY20" fmla="*/ 8868 h 10000"/>
              <a:gd name="connsiteX21" fmla="*/ 6684 w 8995"/>
              <a:gd name="connsiteY21" fmla="*/ 8792 h 10000"/>
              <a:gd name="connsiteX22" fmla="*/ 6804 w 8995"/>
              <a:gd name="connsiteY22" fmla="*/ 8712 h 10000"/>
              <a:gd name="connsiteX23" fmla="*/ 6923 w 8995"/>
              <a:gd name="connsiteY23" fmla="*/ 8628 h 10000"/>
              <a:gd name="connsiteX24" fmla="*/ 7037 w 8995"/>
              <a:gd name="connsiteY24" fmla="*/ 8544 h 10000"/>
              <a:gd name="connsiteX25" fmla="*/ 7147 w 8995"/>
              <a:gd name="connsiteY25" fmla="*/ 8458 h 10000"/>
              <a:gd name="connsiteX26" fmla="*/ 7258 w 8995"/>
              <a:gd name="connsiteY26" fmla="*/ 8370 h 10000"/>
              <a:gd name="connsiteX27" fmla="*/ 7365 w 8995"/>
              <a:gd name="connsiteY27" fmla="*/ 8282 h 10000"/>
              <a:gd name="connsiteX28" fmla="*/ 7466 w 8995"/>
              <a:gd name="connsiteY28" fmla="*/ 8190 h 10000"/>
              <a:gd name="connsiteX29" fmla="*/ 7567 w 8995"/>
              <a:gd name="connsiteY29" fmla="*/ 8098 h 10000"/>
              <a:gd name="connsiteX30" fmla="*/ 7665 w 8995"/>
              <a:gd name="connsiteY30" fmla="*/ 8002 h 10000"/>
              <a:gd name="connsiteX31" fmla="*/ 7758 w 8995"/>
              <a:gd name="connsiteY31" fmla="*/ 7906 h 10000"/>
              <a:gd name="connsiteX32" fmla="*/ 7848 w 8995"/>
              <a:gd name="connsiteY32" fmla="*/ 7806 h 10000"/>
              <a:gd name="connsiteX33" fmla="*/ 7937 w 8995"/>
              <a:gd name="connsiteY33" fmla="*/ 7706 h 10000"/>
              <a:gd name="connsiteX34" fmla="*/ 8022 w 8995"/>
              <a:gd name="connsiteY34" fmla="*/ 7604 h 10000"/>
              <a:gd name="connsiteX35" fmla="*/ 8104 w 8995"/>
              <a:gd name="connsiteY35" fmla="*/ 7500 h 10000"/>
              <a:gd name="connsiteX36" fmla="*/ 8181 w 8995"/>
              <a:gd name="connsiteY36" fmla="*/ 7398 h 10000"/>
              <a:gd name="connsiteX37" fmla="*/ 8256 w 8995"/>
              <a:gd name="connsiteY37" fmla="*/ 7292 h 10000"/>
              <a:gd name="connsiteX38" fmla="*/ 8328 w 8995"/>
              <a:gd name="connsiteY38" fmla="*/ 7182 h 10000"/>
              <a:gd name="connsiteX39" fmla="*/ 8396 w 8995"/>
              <a:gd name="connsiteY39" fmla="*/ 7074 h 10000"/>
              <a:gd name="connsiteX40" fmla="*/ 8461 w 8995"/>
              <a:gd name="connsiteY40" fmla="*/ 6964 h 10000"/>
              <a:gd name="connsiteX41" fmla="*/ 8522 w 8995"/>
              <a:gd name="connsiteY41" fmla="*/ 6854 h 10000"/>
              <a:gd name="connsiteX42" fmla="*/ 8580 w 8995"/>
              <a:gd name="connsiteY42" fmla="*/ 6740 h 10000"/>
              <a:gd name="connsiteX43" fmla="*/ 8633 w 8995"/>
              <a:gd name="connsiteY43" fmla="*/ 6626 h 10000"/>
              <a:gd name="connsiteX44" fmla="*/ 8684 w 8995"/>
              <a:gd name="connsiteY44" fmla="*/ 6512 h 10000"/>
              <a:gd name="connsiteX45" fmla="*/ 8729 w 8995"/>
              <a:gd name="connsiteY45" fmla="*/ 6396 h 10000"/>
              <a:gd name="connsiteX46" fmla="*/ 8775 w 8995"/>
              <a:gd name="connsiteY46" fmla="*/ 6280 h 10000"/>
              <a:gd name="connsiteX47" fmla="*/ 8814 w 8995"/>
              <a:gd name="connsiteY47" fmla="*/ 6164 h 10000"/>
              <a:gd name="connsiteX48" fmla="*/ 8852 w 8995"/>
              <a:gd name="connsiteY48" fmla="*/ 6044 h 10000"/>
              <a:gd name="connsiteX49" fmla="*/ 8881 w 8995"/>
              <a:gd name="connsiteY49" fmla="*/ 5926 h 10000"/>
              <a:gd name="connsiteX50" fmla="*/ 8908 w 8995"/>
              <a:gd name="connsiteY50" fmla="*/ 5804 h 10000"/>
              <a:gd name="connsiteX51" fmla="*/ 8934 w 8995"/>
              <a:gd name="connsiteY51" fmla="*/ 5684 h 10000"/>
              <a:gd name="connsiteX52" fmla="*/ 8955 w 8995"/>
              <a:gd name="connsiteY52" fmla="*/ 5562 h 10000"/>
              <a:gd name="connsiteX53" fmla="*/ 8971 w 8995"/>
              <a:gd name="connsiteY53" fmla="*/ 5440 h 10000"/>
              <a:gd name="connsiteX54" fmla="*/ 8981 w 8995"/>
              <a:gd name="connsiteY54" fmla="*/ 5316 h 10000"/>
              <a:gd name="connsiteX55" fmla="*/ 8992 w 8995"/>
              <a:gd name="connsiteY55" fmla="*/ 5196 h 10000"/>
              <a:gd name="connsiteX56" fmla="*/ 8995 w 8995"/>
              <a:gd name="connsiteY56" fmla="*/ 5072 h 10000"/>
              <a:gd name="connsiteX57" fmla="*/ 8995 w 8995"/>
              <a:gd name="connsiteY57" fmla="*/ 4948 h 10000"/>
              <a:gd name="connsiteX58" fmla="*/ 8992 w 8995"/>
              <a:gd name="connsiteY58" fmla="*/ 4822 h 10000"/>
              <a:gd name="connsiteX59" fmla="*/ 8981 w 8995"/>
              <a:gd name="connsiteY59" fmla="*/ 4698 h 10000"/>
              <a:gd name="connsiteX60" fmla="*/ 8971 w 8995"/>
              <a:gd name="connsiteY60" fmla="*/ 4572 h 10000"/>
              <a:gd name="connsiteX61" fmla="*/ 8955 w 8995"/>
              <a:gd name="connsiteY61" fmla="*/ 4444 h 10000"/>
              <a:gd name="connsiteX62" fmla="*/ 8932 w 8995"/>
              <a:gd name="connsiteY62" fmla="*/ 4318 h 10000"/>
              <a:gd name="connsiteX63" fmla="*/ 8908 w 8995"/>
              <a:gd name="connsiteY63" fmla="*/ 4192 h 10000"/>
              <a:gd name="connsiteX64" fmla="*/ 8878 w 8995"/>
              <a:gd name="connsiteY64" fmla="*/ 4066 h 10000"/>
              <a:gd name="connsiteX65" fmla="*/ 8843 w 8995"/>
              <a:gd name="connsiteY65" fmla="*/ 3940 h 10000"/>
              <a:gd name="connsiteX66" fmla="*/ 8843 w 8995"/>
              <a:gd name="connsiteY66" fmla="*/ 3940 h 10000"/>
              <a:gd name="connsiteX67" fmla="*/ 8804 w 8995"/>
              <a:gd name="connsiteY67" fmla="*/ 3816 h 10000"/>
              <a:gd name="connsiteX68" fmla="*/ 8761 w 8995"/>
              <a:gd name="connsiteY68" fmla="*/ 3692 h 10000"/>
              <a:gd name="connsiteX69" fmla="*/ 8715 w 8995"/>
              <a:gd name="connsiteY69" fmla="*/ 3568 h 10000"/>
              <a:gd name="connsiteX70" fmla="*/ 8665 w 8995"/>
              <a:gd name="connsiteY70" fmla="*/ 3446 h 10000"/>
              <a:gd name="connsiteX71" fmla="*/ 8612 w 8995"/>
              <a:gd name="connsiteY71" fmla="*/ 3328 h 10000"/>
              <a:gd name="connsiteX72" fmla="*/ 8551 w 8995"/>
              <a:gd name="connsiteY72" fmla="*/ 3208 h 10000"/>
              <a:gd name="connsiteX73" fmla="*/ 8493 w 8995"/>
              <a:gd name="connsiteY73" fmla="*/ 3092 h 10000"/>
              <a:gd name="connsiteX74" fmla="*/ 8428 w 8995"/>
              <a:gd name="connsiteY74" fmla="*/ 2976 h 10000"/>
              <a:gd name="connsiteX75" fmla="*/ 8357 w 8995"/>
              <a:gd name="connsiteY75" fmla="*/ 2864 h 10000"/>
              <a:gd name="connsiteX76" fmla="*/ 8288 w 8995"/>
              <a:gd name="connsiteY76" fmla="*/ 2754 h 10000"/>
              <a:gd name="connsiteX77" fmla="*/ 8210 w 8995"/>
              <a:gd name="connsiteY77" fmla="*/ 2642 h 10000"/>
              <a:gd name="connsiteX78" fmla="*/ 8131 w 8995"/>
              <a:gd name="connsiteY78" fmla="*/ 2536 h 10000"/>
              <a:gd name="connsiteX79" fmla="*/ 8048 w 8995"/>
              <a:gd name="connsiteY79" fmla="*/ 2430 h 10000"/>
              <a:gd name="connsiteX80" fmla="*/ 7963 w 8995"/>
              <a:gd name="connsiteY80" fmla="*/ 2324 h 10000"/>
              <a:gd name="connsiteX81" fmla="*/ 7875 w 8995"/>
              <a:gd name="connsiteY81" fmla="*/ 2222 h 10000"/>
              <a:gd name="connsiteX82" fmla="*/ 7782 w 8995"/>
              <a:gd name="connsiteY82" fmla="*/ 2122 h 10000"/>
              <a:gd name="connsiteX83" fmla="*/ 7689 w 8995"/>
              <a:gd name="connsiteY83" fmla="*/ 2024 h 10000"/>
              <a:gd name="connsiteX84" fmla="*/ 7590 w 8995"/>
              <a:gd name="connsiteY84" fmla="*/ 1928 h 10000"/>
              <a:gd name="connsiteX85" fmla="*/ 7490 w 8995"/>
              <a:gd name="connsiteY85" fmla="*/ 1834 h 10000"/>
              <a:gd name="connsiteX86" fmla="*/ 7386 w 8995"/>
              <a:gd name="connsiteY86" fmla="*/ 1740 h 10000"/>
              <a:gd name="connsiteX87" fmla="*/ 7283 w 8995"/>
              <a:gd name="connsiteY87" fmla="*/ 1648 h 10000"/>
              <a:gd name="connsiteX88" fmla="*/ 7170 w 8995"/>
              <a:gd name="connsiteY88" fmla="*/ 1560 h 10000"/>
              <a:gd name="connsiteX89" fmla="*/ 7059 w 8995"/>
              <a:gd name="connsiteY89" fmla="*/ 1474 h 10000"/>
              <a:gd name="connsiteX90" fmla="*/ 6945 w 8995"/>
              <a:gd name="connsiteY90" fmla="*/ 1392 h 10000"/>
              <a:gd name="connsiteX91" fmla="*/ 6827 w 8995"/>
              <a:gd name="connsiteY91" fmla="*/ 1308 h 10000"/>
              <a:gd name="connsiteX92" fmla="*/ 6711 w 8995"/>
              <a:gd name="connsiteY92" fmla="*/ 1226 h 10000"/>
              <a:gd name="connsiteX93" fmla="*/ 6585 w 8995"/>
              <a:gd name="connsiteY93" fmla="*/ 1150 h 10000"/>
              <a:gd name="connsiteX94" fmla="*/ 6464 w 8995"/>
              <a:gd name="connsiteY94" fmla="*/ 1076 h 10000"/>
              <a:gd name="connsiteX95" fmla="*/ 6338 w 8995"/>
              <a:gd name="connsiteY95" fmla="*/ 1002 h 10000"/>
              <a:gd name="connsiteX96" fmla="*/ 6208 w 8995"/>
              <a:gd name="connsiteY96" fmla="*/ 932 h 10000"/>
              <a:gd name="connsiteX97" fmla="*/ 6075 w 8995"/>
              <a:gd name="connsiteY97" fmla="*/ 862 h 10000"/>
              <a:gd name="connsiteX98" fmla="*/ 5945 w 8995"/>
              <a:gd name="connsiteY98" fmla="*/ 798 h 10000"/>
              <a:gd name="connsiteX99" fmla="*/ 5809 w 8995"/>
              <a:gd name="connsiteY99" fmla="*/ 734 h 10000"/>
              <a:gd name="connsiteX100" fmla="*/ 5673 w 8995"/>
              <a:gd name="connsiteY100" fmla="*/ 670 h 10000"/>
              <a:gd name="connsiteX101" fmla="*/ 5532 w 8995"/>
              <a:gd name="connsiteY101" fmla="*/ 612 h 10000"/>
              <a:gd name="connsiteX102" fmla="*/ 5389 w 8995"/>
              <a:gd name="connsiteY102" fmla="*/ 556 h 10000"/>
              <a:gd name="connsiteX103" fmla="*/ 5247 w 8995"/>
              <a:gd name="connsiteY103" fmla="*/ 504 h 10000"/>
              <a:gd name="connsiteX104" fmla="*/ 5104 w 8995"/>
              <a:gd name="connsiteY104" fmla="*/ 450 h 10000"/>
              <a:gd name="connsiteX105" fmla="*/ 4958 w 8995"/>
              <a:gd name="connsiteY105" fmla="*/ 402 h 10000"/>
              <a:gd name="connsiteX106" fmla="*/ 4812 w 8995"/>
              <a:gd name="connsiteY106" fmla="*/ 358 h 10000"/>
              <a:gd name="connsiteX107" fmla="*/ 4660 w 8995"/>
              <a:gd name="connsiteY107" fmla="*/ 314 h 10000"/>
              <a:gd name="connsiteX108" fmla="*/ 4508 w 8995"/>
              <a:gd name="connsiteY108" fmla="*/ 274 h 10000"/>
              <a:gd name="connsiteX109" fmla="*/ 4359 w 8995"/>
              <a:gd name="connsiteY109" fmla="*/ 236 h 10000"/>
              <a:gd name="connsiteX110" fmla="*/ 4202 w 8995"/>
              <a:gd name="connsiteY110" fmla="*/ 200 h 10000"/>
              <a:gd name="connsiteX111" fmla="*/ 4049 w 8995"/>
              <a:gd name="connsiteY111" fmla="*/ 168 h 10000"/>
              <a:gd name="connsiteX112" fmla="*/ 3894 w 8995"/>
              <a:gd name="connsiteY112" fmla="*/ 138 h 10000"/>
              <a:gd name="connsiteX113" fmla="*/ 3737 w 8995"/>
              <a:gd name="connsiteY113" fmla="*/ 110 h 10000"/>
              <a:gd name="connsiteX114" fmla="*/ 3578 w 8995"/>
              <a:gd name="connsiteY114" fmla="*/ 86 h 10000"/>
              <a:gd name="connsiteX115" fmla="*/ 3417 w 8995"/>
              <a:gd name="connsiteY115" fmla="*/ 66 h 10000"/>
              <a:gd name="connsiteX116" fmla="*/ 3255 w 8995"/>
              <a:gd name="connsiteY116" fmla="*/ 46 h 10000"/>
              <a:gd name="connsiteX117" fmla="*/ 3096 w 8995"/>
              <a:gd name="connsiteY117" fmla="*/ 32 h 10000"/>
              <a:gd name="connsiteX118" fmla="*/ 2934 w 8995"/>
              <a:gd name="connsiteY118" fmla="*/ 22 h 10000"/>
              <a:gd name="connsiteX119" fmla="*/ 2769 w 8995"/>
              <a:gd name="connsiteY119" fmla="*/ 10 h 10000"/>
              <a:gd name="connsiteX120" fmla="*/ 2605 w 8995"/>
              <a:gd name="connsiteY120" fmla="*/ 4 h 10000"/>
              <a:gd name="connsiteX121" fmla="*/ 2439 w 8995"/>
              <a:gd name="connsiteY121" fmla="*/ 0 h 10000"/>
              <a:gd name="connsiteX122" fmla="*/ 2274 w 8995"/>
              <a:gd name="connsiteY122" fmla="*/ 0 h 10000"/>
              <a:gd name="connsiteX123" fmla="*/ 2110 w 8995"/>
              <a:gd name="connsiteY123" fmla="*/ 4 h 10000"/>
              <a:gd name="connsiteX124" fmla="*/ 1942 w 8995"/>
              <a:gd name="connsiteY124" fmla="*/ 10 h 10000"/>
              <a:gd name="connsiteX125" fmla="*/ 1777 w 8995"/>
              <a:gd name="connsiteY125" fmla="*/ 22 h 10000"/>
              <a:gd name="connsiteX126" fmla="*/ 1610 w 8995"/>
              <a:gd name="connsiteY126" fmla="*/ 34 h 10000"/>
              <a:gd name="connsiteX127" fmla="*/ 1442 w 8995"/>
              <a:gd name="connsiteY127" fmla="*/ 48 h 10000"/>
              <a:gd name="connsiteX128" fmla="*/ 1275 w 8995"/>
              <a:gd name="connsiteY128" fmla="*/ 66 h 10000"/>
              <a:gd name="connsiteX129" fmla="*/ 1106 w 8995"/>
              <a:gd name="connsiteY129" fmla="*/ 90 h 10000"/>
              <a:gd name="connsiteX130" fmla="*/ 937 w 8995"/>
              <a:gd name="connsiteY130" fmla="*/ 114 h 10000"/>
              <a:gd name="connsiteX131" fmla="*/ 937 w 8995"/>
              <a:gd name="connsiteY131" fmla="*/ 114 h 10000"/>
              <a:gd name="connsiteX132" fmla="*/ 777 w 8995"/>
              <a:gd name="connsiteY132" fmla="*/ 142 h 10000"/>
              <a:gd name="connsiteX133" fmla="*/ 618 w 8995"/>
              <a:gd name="connsiteY133" fmla="*/ 176 h 10000"/>
              <a:gd name="connsiteX134" fmla="*/ 461 w 8995"/>
              <a:gd name="connsiteY134" fmla="*/ 208 h 10000"/>
              <a:gd name="connsiteX135" fmla="*/ 306 w 8995"/>
              <a:gd name="connsiteY135" fmla="*/ 244 h 10000"/>
              <a:gd name="connsiteX136" fmla="*/ 152 w 8995"/>
              <a:gd name="connsiteY136" fmla="*/ 282 h 10000"/>
              <a:gd name="connsiteX137" fmla="*/ 0 w 8995"/>
              <a:gd name="connsiteY137" fmla="*/ 324 h 10000"/>
              <a:gd name="connsiteX138" fmla="*/ 67 w 8995"/>
              <a:gd name="connsiteY138" fmla="*/ 9698 h 10000"/>
              <a:gd name="connsiteX139" fmla="*/ 222 w 8995"/>
              <a:gd name="connsiteY139" fmla="*/ 9738 h 10000"/>
              <a:gd name="connsiteX140" fmla="*/ 381 w 8995"/>
              <a:gd name="connsiteY140" fmla="*/ 9778 h 10000"/>
              <a:gd name="connsiteX141" fmla="*/ 540 w 8995"/>
              <a:gd name="connsiteY141" fmla="*/ 9814 h 10000"/>
              <a:gd name="connsiteX142" fmla="*/ 703 w 8995"/>
              <a:gd name="connsiteY142" fmla="*/ 9846 h 10000"/>
              <a:gd name="connsiteX143" fmla="*/ 865 w 8995"/>
              <a:gd name="connsiteY143" fmla="*/ 9874 h 10000"/>
              <a:gd name="connsiteX144" fmla="*/ 1027 w 8995"/>
              <a:gd name="connsiteY144" fmla="*/ 9902 h 10000"/>
              <a:gd name="connsiteX145" fmla="*/ 1192 w 8995"/>
              <a:gd name="connsiteY145" fmla="*/ 9926 h 10000"/>
              <a:gd name="connsiteX146" fmla="*/ 1357 w 8995"/>
              <a:gd name="connsiteY146" fmla="*/ 9946 h 10000"/>
              <a:gd name="connsiteX147" fmla="*/ 1524 w 8995"/>
              <a:gd name="connsiteY147" fmla="*/ 9962 h 10000"/>
              <a:gd name="connsiteX148" fmla="*/ 1695 w 8995"/>
              <a:gd name="connsiteY148" fmla="*/ 9978 h 10000"/>
              <a:gd name="connsiteX149" fmla="*/ 1862 w 8995"/>
              <a:gd name="connsiteY149" fmla="*/ 9988 h 10000"/>
              <a:gd name="connsiteX150" fmla="*/ 2033 w 8995"/>
              <a:gd name="connsiteY150" fmla="*/ 9996 h 10000"/>
              <a:gd name="connsiteX151" fmla="*/ 2200 w 8995"/>
              <a:gd name="connsiteY151" fmla="*/ 10000 h 10000"/>
              <a:gd name="connsiteX152" fmla="*/ 2373 w 8995"/>
              <a:gd name="connsiteY152" fmla="*/ 10000 h 10000"/>
              <a:gd name="connsiteX153" fmla="*/ 2543 w 8995"/>
              <a:gd name="connsiteY153" fmla="*/ 9998 h 10000"/>
              <a:gd name="connsiteX154" fmla="*/ 2719 w 8995"/>
              <a:gd name="connsiteY154" fmla="*/ 9994 h 10000"/>
              <a:gd name="connsiteX155" fmla="*/ 2888 w 8995"/>
              <a:gd name="connsiteY155" fmla="*/ 9986 h 10000"/>
              <a:gd name="connsiteX156" fmla="*/ 3064 w 8995"/>
              <a:gd name="connsiteY156" fmla="*/ 9974 h 10000"/>
              <a:gd name="connsiteX157" fmla="*/ 3237 w 8995"/>
              <a:gd name="connsiteY157" fmla="*/ 9956 h 10000"/>
              <a:gd name="connsiteX158" fmla="*/ 3410 w 8995"/>
              <a:gd name="connsiteY158" fmla="*/ 9938 h 10000"/>
              <a:gd name="connsiteX159" fmla="*/ 3586 w 8995"/>
              <a:gd name="connsiteY159" fmla="*/ 9912 h 10000"/>
              <a:gd name="connsiteX160" fmla="*/ 3761 w 8995"/>
              <a:gd name="connsiteY160" fmla="*/ 9888 h 10000"/>
              <a:gd name="connsiteX161" fmla="*/ 3761 w 8995"/>
              <a:gd name="connsiteY161" fmla="*/ 988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8995" h="10000">
                <a:moveTo>
                  <a:pt x="3761" y="9888"/>
                </a:moveTo>
                <a:lnTo>
                  <a:pt x="3761" y="9888"/>
                </a:lnTo>
                <a:lnTo>
                  <a:pt x="3926" y="9856"/>
                </a:lnTo>
                <a:lnTo>
                  <a:pt x="4091" y="9826"/>
                </a:lnTo>
                <a:lnTo>
                  <a:pt x="4253" y="9792"/>
                </a:lnTo>
                <a:lnTo>
                  <a:pt x="4416" y="9754"/>
                </a:lnTo>
                <a:lnTo>
                  <a:pt x="4573" y="9712"/>
                </a:lnTo>
                <a:lnTo>
                  <a:pt x="4732" y="9670"/>
                </a:lnTo>
                <a:lnTo>
                  <a:pt x="4886" y="9622"/>
                </a:lnTo>
                <a:lnTo>
                  <a:pt x="5040" y="9574"/>
                </a:lnTo>
                <a:lnTo>
                  <a:pt x="5189" y="9524"/>
                </a:lnTo>
                <a:lnTo>
                  <a:pt x="5336" y="9468"/>
                </a:lnTo>
                <a:lnTo>
                  <a:pt x="5484" y="9412"/>
                </a:lnTo>
                <a:lnTo>
                  <a:pt x="5626" y="9352"/>
                </a:lnTo>
                <a:lnTo>
                  <a:pt x="5766" y="9290"/>
                </a:lnTo>
                <a:lnTo>
                  <a:pt x="5907" y="9224"/>
                </a:lnTo>
                <a:lnTo>
                  <a:pt x="6043" y="9160"/>
                </a:lnTo>
                <a:lnTo>
                  <a:pt x="6176" y="9090"/>
                </a:lnTo>
                <a:lnTo>
                  <a:pt x="6307" y="9018"/>
                </a:lnTo>
                <a:lnTo>
                  <a:pt x="6433" y="8944"/>
                </a:lnTo>
                <a:lnTo>
                  <a:pt x="6559" y="8868"/>
                </a:lnTo>
                <a:cubicBezTo>
                  <a:pt x="6601" y="8843"/>
                  <a:pt x="6642" y="8817"/>
                  <a:pt x="6684" y="8792"/>
                </a:cubicBezTo>
                <a:cubicBezTo>
                  <a:pt x="6723" y="8765"/>
                  <a:pt x="6764" y="8739"/>
                  <a:pt x="6804" y="8712"/>
                </a:cubicBezTo>
                <a:lnTo>
                  <a:pt x="6923" y="8628"/>
                </a:lnTo>
                <a:lnTo>
                  <a:pt x="7037" y="8544"/>
                </a:lnTo>
                <a:lnTo>
                  <a:pt x="7147" y="8458"/>
                </a:lnTo>
                <a:cubicBezTo>
                  <a:pt x="7184" y="8429"/>
                  <a:pt x="7220" y="8399"/>
                  <a:pt x="7258" y="8370"/>
                </a:cubicBezTo>
                <a:cubicBezTo>
                  <a:pt x="7294" y="8341"/>
                  <a:pt x="7329" y="8311"/>
                  <a:pt x="7365" y="8282"/>
                </a:cubicBezTo>
                <a:cubicBezTo>
                  <a:pt x="7398" y="8251"/>
                  <a:pt x="7432" y="8221"/>
                  <a:pt x="7466" y="8190"/>
                </a:cubicBezTo>
                <a:cubicBezTo>
                  <a:pt x="7499" y="8159"/>
                  <a:pt x="7533" y="8129"/>
                  <a:pt x="7567" y="8098"/>
                </a:cubicBezTo>
                <a:lnTo>
                  <a:pt x="7665" y="8002"/>
                </a:lnTo>
                <a:cubicBezTo>
                  <a:pt x="7697" y="7970"/>
                  <a:pt x="7727" y="7938"/>
                  <a:pt x="7758" y="7906"/>
                </a:cubicBezTo>
                <a:cubicBezTo>
                  <a:pt x="7788" y="7873"/>
                  <a:pt x="7818" y="7839"/>
                  <a:pt x="7848" y="7806"/>
                </a:cubicBezTo>
                <a:cubicBezTo>
                  <a:pt x="7878" y="7773"/>
                  <a:pt x="7907" y="7739"/>
                  <a:pt x="7937" y="7706"/>
                </a:cubicBezTo>
                <a:cubicBezTo>
                  <a:pt x="7965" y="7672"/>
                  <a:pt x="7994" y="7638"/>
                  <a:pt x="8022" y="7604"/>
                </a:cubicBezTo>
                <a:cubicBezTo>
                  <a:pt x="8049" y="7569"/>
                  <a:pt x="8077" y="7535"/>
                  <a:pt x="8104" y="7500"/>
                </a:cubicBezTo>
                <a:cubicBezTo>
                  <a:pt x="8130" y="7466"/>
                  <a:pt x="8155" y="7432"/>
                  <a:pt x="8181" y="7398"/>
                </a:cubicBezTo>
                <a:cubicBezTo>
                  <a:pt x="8206" y="7363"/>
                  <a:pt x="8231" y="7327"/>
                  <a:pt x="8256" y="7292"/>
                </a:cubicBezTo>
                <a:cubicBezTo>
                  <a:pt x="8280" y="7255"/>
                  <a:pt x="8304" y="7219"/>
                  <a:pt x="8328" y="7182"/>
                </a:cubicBezTo>
                <a:cubicBezTo>
                  <a:pt x="8351" y="7146"/>
                  <a:pt x="8373" y="7110"/>
                  <a:pt x="8396" y="7074"/>
                </a:cubicBezTo>
                <a:cubicBezTo>
                  <a:pt x="8418" y="7037"/>
                  <a:pt x="8439" y="7001"/>
                  <a:pt x="8461" y="6964"/>
                </a:cubicBezTo>
                <a:cubicBezTo>
                  <a:pt x="8481" y="6927"/>
                  <a:pt x="8501" y="6891"/>
                  <a:pt x="8522" y="6854"/>
                </a:cubicBezTo>
                <a:cubicBezTo>
                  <a:pt x="8542" y="6816"/>
                  <a:pt x="8560" y="6778"/>
                  <a:pt x="8580" y="6740"/>
                </a:cubicBezTo>
                <a:cubicBezTo>
                  <a:pt x="8598" y="6702"/>
                  <a:pt x="8615" y="6664"/>
                  <a:pt x="8633" y="6626"/>
                </a:cubicBezTo>
                <a:cubicBezTo>
                  <a:pt x="8650" y="6588"/>
                  <a:pt x="8668" y="6550"/>
                  <a:pt x="8684" y="6512"/>
                </a:cubicBezTo>
                <a:cubicBezTo>
                  <a:pt x="8699" y="6473"/>
                  <a:pt x="8714" y="6435"/>
                  <a:pt x="8729" y="6396"/>
                </a:cubicBezTo>
                <a:cubicBezTo>
                  <a:pt x="8744" y="6357"/>
                  <a:pt x="8759" y="6319"/>
                  <a:pt x="8775" y="6280"/>
                </a:cubicBezTo>
                <a:cubicBezTo>
                  <a:pt x="8788" y="6241"/>
                  <a:pt x="8801" y="6203"/>
                  <a:pt x="8814" y="6164"/>
                </a:cubicBezTo>
                <a:cubicBezTo>
                  <a:pt x="8827" y="6124"/>
                  <a:pt x="8839" y="6084"/>
                  <a:pt x="8852" y="6044"/>
                </a:cubicBezTo>
                <a:cubicBezTo>
                  <a:pt x="8861" y="6005"/>
                  <a:pt x="8871" y="5965"/>
                  <a:pt x="8881" y="5926"/>
                </a:cubicBezTo>
                <a:cubicBezTo>
                  <a:pt x="8890" y="5885"/>
                  <a:pt x="8898" y="5845"/>
                  <a:pt x="8908" y="5804"/>
                </a:cubicBezTo>
                <a:cubicBezTo>
                  <a:pt x="8916" y="5764"/>
                  <a:pt x="8925" y="5724"/>
                  <a:pt x="8934" y="5684"/>
                </a:cubicBezTo>
                <a:cubicBezTo>
                  <a:pt x="8941" y="5643"/>
                  <a:pt x="8948" y="5603"/>
                  <a:pt x="8955" y="5562"/>
                </a:cubicBezTo>
                <a:cubicBezTo>
                  <a:pt x="8961" y="5521"/>
                  <a:pt x="8966" y="5481"/>
                  <a:pt x="8971" y="5440"/>
                </a:cubicBezTo>
                <a:cubicBezTo>
                  <a:pt x="8974" y="5399"/>
                  <a:pt x="8978" y="5357"/>
                  <a:pt x="8981" y="5316"/>
                </a:cubicBezTo>
                <a:cubicBezTo>
                  <a:pt x="8985" y="5276"/>
                  <a:pt x="8989" y="5236"/>
                  <a:pt x="8992" y="5196"/>
                </a:cubicBezTo>
                <a:cubicBezTo>
                  <a:pt x="8993" y="5155"/>
                  <a:pt x="8994" y="5113"/>
                  <a:pt x="8995" y="5072"/>
                </a:cubicBezTo>
                <a:lnTo>
                  <a:pt x="8995" y="4948"/>
                </a:lnTo>
                <a:lnTo>
                  <a:pt x="8992" y="4822"/>
                </a:lnTo>
                <a:cubicBezTo>
                  <a:pt x="8989" y="4781"/>
                  <a:pt x="8985" y="4739"/>
                  <a:pt x="8981" y="4698"/>
                </a:cubicBezTo>
                <a:cubicBezTo>
                  <a:pt x="8978" y="4656"/>
                  <a:pt x="8974" y="4614"/>
                  <a:pt x="8971" y="4572"/>
                </a:cubicBezTo>
                <a:cubicBezTo>
                  <a:pt x="8966" y="4529"/>
                  <a:pt x="8961" y="4487"/>
                  <a:pt x="8955" y="4444"/>
                </a:cubicBezTo>
                <a:cubicBezTo>
                  <a:pt x="8947" y="4402"/>
                  <a:pt x="8940" y="4360"/>
                  <a:pt x="8932" y="4318"/>
                </a:cubicBezTo>
                <a:cubicBezTo>
                  <a:pt x="8923" y="4276"/>
                  <a:pt x="8916" y="4234"/>
                  <a:pt x="8908" y="4192"/>
                </a:cubicBezTo>
                <a:cubicBezTo>
                  <a:pt x="8897" y="4150"/>
                  <a:pt x="8888" y="4108"/>
                  <a:pt x="8878" y="4066"/>
                </a:cubicBezTo>
                <a:cubicBezTo>
                  <a:pt x="8866" y="4024"/>
                  <a:pt x="8855" y="3982"/>
                  <a:pt x="8843" y="3940"/>
                </a:cubicBezTo>
                <a:lnTo>
                  <a:pt x="8843" y="3940"/>
                </a:lnTo>
                <a:cubicBezTo>
                  <a:pt x="8830" y="3899"/>
                  <a:pt x="8817" y="3857"/>
                  <a:pt x="8804" y="3816"/>
                </a:cubicBezTo>
                <a:cubicBezTo>
                  <a:pt x="8789" y="3775"/>
                  <a:pt x="8776" y="3733"/>
                  <a:pt x="8761" y="3692"/>
                </a:cubicBezTo>
                <a:cubicBezTo>
                  <a:pt x="8745" y="3651"/>
                  <a:pt x="8731" y="3609"/>
                  <a:pt x="8715" y="3568"/>
                </a:cubicBezTo>
                <a:cubicBezTo>
                  <a:pt x="8699" y="3527"/>
                  <a:pt x="8682" y="3487"/>
                  <a:pt x="8665" y="3446"/>
                </a:cubicBezTo>
                <a:cubicBezTo>
                  <a:pt x="8648" y="3407"/>
                  <a:pt x="8630" y="3367"/>
                  <a:pt x="8612" y="3328"/>
                </a:cubicBezTo>
                <a:cubicBezTo>
                  <a:pt x="8592" y="3288"/>
                  <a:pt x="8572" y="3248"/>
                  <a:pt x="8551" y="3208"/>
                </a:cubicBezTo>
                <a:cubicBezTo>
                  <a:pt x="8531" y="3169"/>
                  <a:pt x="8513" y="3131"/>
                  <a:pt x="8493" y="3092"/>
                </a:cubicBezTo>
                <a:cubicBezTo>
                  <a:pt x="8471" y="3053"/>
                  <a:pt x="8450" y="3015"/>
                  <a:pt x="8428" y="2976"/>
                </a:cubicBezTo>
                <a:cubicBezTo>
                  <a:pt x="8405" y="2939"/>
                  <a:pt x="8381" y="2901"/>
                  <a:pt x="8357" y="2864"/>
                </a:cubicBezTo>
                <a:cubicBezTo>
                  <a:pt x="8334" y="2827"/>
                  <a:pt x="8311" y="2791"/>
                  <a:pt x="8288" y="2754"/>
                </a:cubicBezTo>
                <a:cubicBezTo>
                  <a:pt x="8262" y="2717"/>
                  <a:pt x="8236" y="2679"/>
                  <a:pt x="8210" y="2642"/>
                </a:cubicBezTo>
                <a:lnTo>
                  <a:pt x="8131" y="2536"/>
                </a:lnTo>
                <a:cubicBezTo>
                  <a:pt x="8103" y="2501"/>
                  <a:pt x="8076" y="2465"/>
                  <a:pt x="8048" y="2430"/>
                </a:cubicBezTo>
                <a:lnTo>
                  <a:pt x="7963" y="2324"/>
                </a:lnTo>
                <a:cubicBezTo>
                  <a:pt x="7934" y="2290"/>
                  <a:pt x="7904" y="2256"/>
                  <a:pt x="7875" y="2222"/>
                </a:cubicBezTo>
                <a:cubicBezTo>
                  <a:pt x="7844" y="2189"/>
                  <a:pt x="7813" y="2155"/>
                  <a:pt x="7782" y="2122"/>
                </a:cubicBezTo>
                <a:cubicBezTo>
                  <a:pt x="7751" y="2089"/>
                  <a:pt x="7720" y="2057"/>
                  <a:pt x="7689" y="2024"/>
                </a:cubicBezTo>
                <a:cubicBezTo>
                  <a:pt x="7656" y="1992"/>
                  <a:pt x="7624" y="1960"/>
                  <a:pt x="7590" y="1928"/>
                </a:cubicBezTo>
                <a:lnTo>
                  <a:pt x="7490" y="1834"/>
                </a:lnTo>
                <a:cubicBezTo>
                  <a:pt x="7455" y="1803"/>
                  <a:pt x="7421" y="1771"/>
                  <a:pt x="7386" y="1740"/>
                </a:cubicBezTo>
                <a:cubicBezTo>
                  <a:pt x="7352" y="1709"/>
                  <a:pt x="7317" y="1679"/>
                  <a:pt x="7283" y="1648"/>
                </a:cubicBezTo>
                <a:cubicBezTo>
                  <a:pt x="7245" y="1619"/>
                  <a:pt x="7208" y="1589"/>
                  <a:pt x="7170" y="1560"/>
                </a:cubicBezTo>
                <a:lnTo>
                  <a:pt x="7059" y="1474"/>
                </a:lnTo>
                <a:lnTo>
                  <a:pt x="6945" y="1392"/>
                </a:lnTo>
                <a:lnTo>
                  <a:pt x="6827" y="1308"/>
                </a:lnTo>
                <a:cubicBezTo>
                  <a:pt x="6788" y="1281"/>
                  <a:pt x="6750" y="1253"/>
                  <a:pt x="6711" y="1226"/>
                </a:cubicBezTo>
                <a:lnTo>
                  <a:pt x="6585" y="1150"/>
                </a:lnTo>
                <a:cubicBezTo>
                  <a:pt x="6545" y="1125"/>
                  <a:pt x="6504" y="1101"/>
                  <a:pt x="6464" y="1076"/>
                </a:cubicBezTo>
                <a:cubicBezTo>
                  <a:pt x="6422" y="1051"/>
                  <a:pt x="6379" y="1027"/>
                  <a:pt x="6338" y="1002"/>
                </a:cubicBezTo>
                <a:cubicBezTo>
                  <a:pt x="6294" y="979"/>
                  <a:pt x="6251" y="955"/>
                  <a:pt x="6208" y="932"/>
                </a:cubicBezTo>
                <a:cubicBezTo>
                  <a:pt x="6163" y="909"/>
                  <a:pt x="6119" y="885"/>
                  <a:pt x="6075" y="862"/>
                </a:cubicBezTo>
                <a:cubicBezTo>
                  <a:pt x="6031" y="841"/>
                  <a:pt x="5988" y="819"/>
                  <a:pt x="5945" y="798"/>
                </a:cubicBezTo>
                <a:cubicBezTo>
                  <a:pt x="5899" y="777"/>
                  <a:pt x="5854" y="755"/>
                  <a:pt x="5809" y="734"/>
                </a:cubicBezTo>
                <a:lnTo>
                  <a:pt x="5673" y="670"/>
                </a:lnTo>
                <a:lnTo>
                  <a:pt x="5532" y="612"/>
                </a:lnTo>
                <a:lnTo>
                  <a:pt x="5389" y="556"/>
                </a:lnTo>
                <a:lnTo>
                  <a:pt x="5247" y="504"/>
                </a:lnTo>
                <a:lnTo>
                  <a:pt x="5104" y="450"/>
                </a:lnTo>
                <a:lnTo>
                  <a:pt x="4958" y="402"/>
                </a:lnTo>
                <a:lnTo>
                  <a:pt x="4812" y="358"/>
                </a:lnTo>
                <a:lnTo>
                  <a:pt x="4660" y="314"/>
                </a:lnTo>
                <a:lnTo>
                  <a:pt x="4508" y="274"/>
                </a:lnTo>
                <a:lnTo>
                  <a:pt x="4359" y="236"/>
                </a:lnTo>
                <a:lnTo>
                  <a:pt x="4202" y="200"/>
                </a:lnTo>
                <a:lnTo>
                  <a:pt x="4049" y="168"/>
                </a:lnTo>
                <a:lnTo>
                  <a:pt x="3894" y="138"/>
                </a:lnTo>
                <a:lnTo>
                  <a:pt x="3737" y="110"/>
                </a:lnTo>
                <a:lnTo>
                  <a:pt x="3578" y="86"/>
                </a:lnTo>
                <a:lnTo>
                  <a:pt x="3417" y="66"/>
                </a:lnTo>
                <a:lnTo>
                  <a:pt x="3255" y="46"/>
                </a:lnTo>
                <a:lnTo>
                  <a:pt x="3096" y="32"/>
                </a:lnTo>
                <a:lnTo>
                  <a:pt x="2934" y="22"/>
                </a:lnTo>
                <a:lnTo>
                  <a:pt x="2769" y="10"/>
                </a:lnTo>
                <a:lnTo>
                  <a:pt x="2605" y="4"/>
                </a:lnTo>
                <a:lnTo>
                  <a:pt x="2439" y="0"/>
                </a:lnTo>
                <a:lnTo>
                  <a:pt x="2274" y="0"/>
                </a:lnTo>
                <a:lnTo>
                  <a:pt x="2110" y="4"/>
                </a:lnTo>
                <a:lnTo>
                  <a:pt x="1942" y="10"/>
                </a:lnTo>
                <a:lnTo>
                  <a:pt x="1777" y="22"/>
                </a:lnTo>
                <a:lnTo>
                  <a:pt x="1610" y="34"/>
                </a:lnTo>
                <a:lnTo>
                  <a:pt x="1442" y="48"/>
                </a:lnTo>
                <a:lnTo>
                  <a:pt x="1275" y="66"/>
                </a:lnTo>
                <a:lnTo>
                  <a:pt x="1106" y="90"/>
                </a:lnTo>
                <a:lnTo>
                  <a:pt x="937" y="114"/>
                </a:lnTo>
                <a:lnTo>
                  <a:pt x="937" y="114"/>
                </a:lnTo>
                <a:lnTo>
                  <a:pt x="777" y="142"/>
                </a:lnTo>
                <a:lnTo>
                  <a:pt x="618" y="176"/>
                </a:lnTo>
                <a:lnTo>
                  <a:pt x="461" y="208"/>
                </a:lnTo>
                <a:lnTo>
                  <a:pt x="306" y="244"/>
                </a:lnTo>
                <a:lnTo>
                  <a:pt x="152" y="282"/>
                </a:lnTo>
                <a:lnTo>
                  <a:pt x="0" y="324"/>
                </a:lnTo>
                <a:cubicBezTo>
                  <a:pt x="22" y="3449"/>
                  <a:pt x="45" y="6573"/>
                  <a:pt x="67" y="9698"/>
                </a:cubicBezTo>
                <a:lnTo>
                  <a:pt x="222" y="9738"/>
                </a:lnTo>
                <a:lnTo>
                  <a:pt x="381" y="9778"/>
                </a:lnTo>
                <a:lnTo>
                  <a:pt x="540" y="9814"/>
                </a:lnTo>
                <a:lnTo>
                  <a:pt x="703" y="9846"/>
                </a:lnTo>
                <a:lnTo>
                  <a:pt x="865" y="9874"/>
                </a:lnTo>
                <a:lnTo>
                  <a:pt x="1027" y="9902"/>
                </a:lnTo>
                <a:lnTo>
                  <a:pt x="1192" y="9926"/>
                </a:lnTo>
                <a:lnTo>
                  <a:pt x="1357" y="9946"/>
                </a:lnTo>
                <a:lnTo>
                  <a:pt x="1524" y="9962"/>
                </a:lnTo>
                <a:lnTo>
                  <a:pt x="1695" y="9978"/>
                </a:lnTo>
                <a:lnTo>
                  <a:pt x="1862" y="9988"/>
                </a:lnTo>
                <a:lnTo>
                  <a:pt x="2033" y="9996"/>
                </a:lnTo>
                <a:lnTo>
                  <a:pt x="2200" y="10000"/>
                </a:lnTo>
                <a:lnTo>
                  <a:pt x="2373" y="10000"/>
                </a:lnTo>
                <a:lnTo>
                  <a:pt x="2543" y="9998"/>
                </a:lnTo>
                <a:lnTo>
                  <a:pt x="2719" y="9994"/>
                </a:lnTo>
                <a:lnTo>
                  <a:pt x="2888" y="9986"/>
                </a:lnTo>
                <a:lnTo>
                  <a:pt x="3064" y="9974"/>
                </a:lnTo>
                <a:lnTo>
                  <a:pt x="3237" y="9956"/>
                </a:lnTo>
                <a:lnTo>
                  <a:pt x="3410" y="9938"/>
                </a:lnTo>
                <a:lnTo>
                  <a:pt x="3586" y="9912"/>
                </a:lnTo>
                <a:lnTo>
                  <a:pt x="3761" y="9888"/>
                </a:lnTo>
                <a:lnTo>
                  <a:pt x="3761" y="98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885" tIns="44943" rIns="89885" bIns="44943" numCol="1" anchor="t" anchorCtr="0" compatLnSpc="1">
            <a:prstTxWarp prst="textNoShape">
              <a:avLst/>
            </a:prstTxWarp>
          </a:bodyPr>
          <a:lstStyle/>
          <a:p>
            <a:pPr defTabSz="899031"/>
            <a:endParaRPr lang="en-US" sz="1588" dirty="0">
              <a:solidFill>
                <a:prstClr val="black"/>
              </a:solidFill>
              <a:latin typeface="Verdana"/>
            </a:endParaRPr>
          </a:p>
        </p:txBody>
      </p:sp>
      <p:sp>
        <p:nvSpPr>
          <p:cNvPr id="34" name="AutoShape 3"/>
          <p:cNvSpPr>
            <a:spLocks noChangeAspect="1" noChangeArrowheads="1" noTextEdit="1"/>
          </p:cNvSpPr>
          <p:nvPr/>
        </p:nvSpPr>
        <p:spPr bwMode="auto">
          <a:xfrm>
            <a:off x="551368" y="1406539"/>
            <a:ext cx="3731959" cy="428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85" tIns="44943" rIns="89885" bIns="44943" numCol="1" anchor="t" anchorCtr="0" compatLnSpc="1">
            <a:prstTxWarp prst="textNoShape">
              <a:avLst/>
            </a:prstTxWarp>
          </a:bodyPr>
          <a:lstStyle/>
          <a:p>
            <a:pPr defTabSz="899031"/>
            <a:endParaRPr lang="en-US" sz="1588" dirty="0">
              <a:solidFill>
                <a:prstClr val="black"/>
              </a:solidFill>
              <a:latin typeface="Verdana"/>
            </a:endParaRPr>
          </a:p>
        </p:txBody>
      </p:sp>
      <p:sp>
        <p:nvSpPr>
          <p:cNvPr id="35" name="Freeform 24"/>
          <p:cNvSpPr>
            <a:spLocks/>
          </p:cNvSpPr>
          <p:nvPr/>
        </p:nvSpPr>
        <p:spPr bwMode="auto">
          <a:xfrm rot="214381">
            <a:off x="1152091" y="2128815"/>
            <a:ext cx="1667491" cy="1310800"/>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2"/>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885" tIns="44943" rIns="89885" bIns="44943" numCol="1" spcCol="0" rtlCol="0" fromWordArt="0" anchor="ctr" anchorCtr="0" forceAA="0" compatLnSpc="1">
            <a:prstTxWarp prst="textNoShape">
              <a:avLst/>
            </a:prstTxWarp>
            <a:noAutofit/>
          </a:bodyPr>
          <a:lstStyle/>
          <a:p>
            <a:pPr algn="ctr" defTabSz="899031"/>
            <a:endParaRPr lang="en-US" sz="1941" dirty="0">
              <a:solidFill>
                <a:prstClr val="white"/>
              </a:solidFill>
              <a:latin typeface="Verdana"/>
            </a:endParaRPr>
          </a:p>
        </p:txBody>
      </p:sp>
      <p:sp>
        <p:nvSpPr>
          <p:cNvPr id="36" name="Freeform 24"/>
          <p:cNvSpPr>
            <a:spLocks/>
          </p:cNvSpPr>
          <p:nvPr/>
        </p:nvSpPr>
        <p:spPr bwMode="auto">
          <a:xfrm rot="2175041">
            <a:off x="1349200" y="2879440"/>
            <a:ext cx="1667491" cy="1310800"/>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885" tIns="44943" rIns="89885" bIns="44943" numCol="1" spcCol="0" rtlCol="0" fromWordArt="0" anchor="ctr" anchorCtr="0" forceAA="0" compatLnSpc="1">
            <a:prstTxWarp prst="textNoShape">
              <a:avLst/>
            </a:prstTxWarp>
            <a:noAutofit/>
          </a:bodyPr>
          <a:lstStyle/>
          <a:p>
            <a:pPr algn="ctr" defTabSz="899031"/>
            <a:endParaRPr lang="en-US" sz="1941" dirty="0">
              <a:solidFill>
                <a:prstClr val="white"/>
              </a:solidFill>
              <a:latin typeface="Verdana"/>
            </a:endParaRPr>
          </a:p>
        </p:txBody>
      </p:sp>
      <p:sp>
        <p:nvSpPr>
          <p:cNvPr id="39" name="Freeform 24"/>
          <p:cNvSpPr>
            <a:spLocks/>
          </p:cNvSpPr>
          <p:nvPr/>
        </p:nvSpPr>
        <p:spPr bwMode="auto">
          <a:xfrm rot="3638349">
            <a:off x="1023615" y="3587945"/>
            <a:ext cx="1667491" cy="1310800"/>
          </a:xfrm>
          <a:custGeom>
            <a:avLst/>
            <a:gdLst>
              <a:gd name="T0" fmla="*/ 1364 w 1964"/>
              <a:gd name="T1" fmla="*/ 0 h 1926"/>
              <a:gd name="T2" fmla="*/ 0 w 1964"/>
              <a:gd name="T3" fmla="*/ 1670 h 1926"/>
              <a:gd name="T4" fmla="*/ 256 w 1964"/>
              <a:gd name="T5" fmla="*/ 1926 h 1926"/>
              <a:gd name="T6" fmla="*/ 1964 w 1964"/>
              <a:gd name="T7" fmla="*/ 604 h 1926"/>
              <a:gd name="T8" fmla="*/ 1876 w 1964"/>
              <a:gd name="T9" fmla="*/ 92 h 1926"/>
              <a:gd name="T10" fmla="*/ 1364 w 1964"/>
              <a:gd name="T11" fmla="*/ 0 h 1926"/>
            </a:gdLst>
            <a:ahLst/>
            <a:cxnLst>
              <a:cxn ang="0">
                <a:pos x="T0" y="T1"/>
              </a:cxn>
              <a:cxn ang="0">
                <a:pos x="T2" y="T3"/>
              </a:cxn>
              <a:cxn ang="0">
                <a:pos x="T4" y="T5"/>
              </a:cxn>
              <a:cxn ang="0">
                <a:pos x="T6" y="T7"/>
              </a:cxn>
              <a:cxn ang="0">
                <a:pos x="T8" y="T9"/>
              </a:cxn>
              <a:cxn ang="0">
                <a:pos x="T10" y="T11"/>
              </a:cxn>
            </a:cxnLst>
            <a:rect l="0" t="0" r="r" b="b"/>
            <a:pathLst>
              <a:path w="1964" h="1926">
                <a:moveTo>
                  <a:pt x="1364" y="0"/>
                </a:moveTo>
                <a:lnTo>
                  <a:pt x="0" y="1670"/>
                </a:lnTo>
                <a:lnTo>
                  <a:pt x="256" y="1926"/>
                </a:lnTo>
                <a:lnTo>
                  <a:pt x="1964" y="604"/>
                </a:lnTo>
                <a:lnTo>
                  <a:pt x="1876" y="92"/>
                </a:lnTo>
                <a:lnTo>
                  <a:pt x="1364" y="0"/>
                </a:lnTo>
                <a:close/>
              </a:path>
            </a:pathLst>
          </a:custGeom>
          <a:solidFill>
            <a:schemeClr val="accent4"/>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885" tIns="44943" rIns="89885" bIns="44943" numCol="1" spcCol="0" rtlCol="0" fromWordArt="0" anchor="ctr" anchorCtr="0" forceAA="0" compatLnSpc="1">
            <a:prstTxWarp prst="textNoShape">
              <a:avLst/>
            </a:prstTxWarp>
            <a:noAutofit/>
          </a:bodyPr>
          <a:lstStyle/>
          <a:p>
            <a:pPr algn="ctr" defTabSz="899031"/>
            <a:endParaRPr lang="en-US" sz="1941" dirty="0">
              <a:solidFill>
                <a:prstClr val="white"/>
              </a:solidFill>
              <a:latin typeface="Verdana"/>
            </a:endParaRPr>
          </a:p>
        </p:txBody>
      </p:sp>
      <p:sp>
        <p:nvSpPr>
          <p:cNvPr id="45" name="Oval 44"/>
          <p:cNvSpPr/>
          <p:nvPr/>
        </p:nvSpPr>
        <p:spPr>
          <a:xfrm>
            <a:off x="479657" y="3004783"/>
            <a:ext cx="1356606" cy="1087458"/>
          </a:xfrm>
          <a:prstGeom prst="ellipse">
            <a:avLst/>
          </a:prstGeom>
          <a:gradFill flip="none" rotWithShape="1">
            <a:gsLst>
              <a:gs pos="0">
                <a:srgbClr val="575757">
                  <a:tint val="66000"/>
                  <a:satMod val="160000"/>
                </a:srgbClr>
              </a:gs>
              <a:gs pos="50000">
                <a:srgbClr val="575757">
                  <a:tint val="44500"/>
                  <a:satMod val="160000"/>
                </a:srgbClr>
              </a:gs>
              <a:gs pos="100000">
                <a:srgbClr val="575757">
                  <a:tint val="23500"/>
                  <a:satMod val="160000"/>
                </a:srgbClr>
              </a:gs>
            </a:gsLst>
            <a:lin ang="0" scaled="1"/>
            <a:tileRect/>
          </a:gradFill>
          <a:ln w="127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9031"/>
            <a:endParaRPr lang="en-US" sz="1941" dirty="0">
              <a:solidFill>
                <a:prstClr val="white"/>
              </a:solidFill>
              <a:latin typeface="Verdana"/>
            </a:endParaRPr>
          </a:p>
        </p:txBody>
      </p:sp>
      <p:sp>
        <p:nvSpPr>
          <p:cNvPr id="46" name="Oval 45"/>
          <p:cNvSpPr/>
          <p:nvPr/>
        </p:nvSpPr>
        <p:spPr>
          <a:xfrm>
            <a:off x="638573" y="3132170"/>
            <a:ext cx="1038777" cy="832685"/>
          </a:xfrm>
          <a:prstGeom prst="ellipse">
            <a:avLst/>
          </a:prstGeom>
          <a:gradFill flip="none" rotWithShape="1">
            <a:gsLst>
              <a:gs pos="0">
                <a:srgbClr val="575757">
                  <a:shade val="30000"/>
                  <a:satMod val="115000"/>
                </a:srgbClr>
              </a:gs>
              <a:gs pos="50000">
                <a:srgbClr val="575757">
                  <a:shade val="67500"/>
                  <a:satMod val="115000"/>
                </a:srgbClr>
              </a:gs>
              <a:gs pos="100000">
                <a:srgbClr val="575757">
                  <a:shade val="100000"/>
                  <a:satMod val="115000"/>
                </a:srgb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99031"/>
            <a:endParaRPr lang="en-US" sz="1941" dirty="0">
              <a:solidFill>
                <a:prstClr val="white"/>
              </a:solidFill>
              <a:latin typeface="Verdana"/>
            </a:endParaRPr>
          </a:p>
        </p:txBody>
      </p:sp>
      <p:sp>
        <p:nvSpPr>
          <p:cNvPr id="40" name="Rectangle 39"/>
          <p:cNvSpPr/>
          <p:nvPr/>
        </p:nvSpPr>
        <p:spPr>
          <a:xfrm>
            <a:off x="3394209" y="1147263"/>
            <a:ext cx="7560000" cy="1362907"/>
          </a:xfrm>
          <a:prstGeom prst="rect">
            <a:avLst/>
          </a:prstGeom>
        </p:spPr>
        <p:txBody>
          <a:bodyPr wrap="square" lIns="89885" tIns="44943" rIns="89885" bIns="44943">
            <a:spAutoFit/>
          </a:bodyPr>
          <a:lstStyle/>
          <a:p>
            <a:pPr defTabSz="627190">
              <a:spcAft>
                <a:spcPts val="353"/>
              </a:spcAft>
            </a:pPr>
            <a:r>
              <a:rPr lang="en-US" sz="1600" b="1" dirty="0">
                <a:solidFill>
                  <a:schemeClr val="accent2"/>
                </a:solidFill>
                <a:latin typeface="Verdana"/>
              </a:rPr>
              <a:t>Fundamentals of electricity sector regulation</a:t>
            </a:r>
          </a:p>
          <a:p>
            <a:pPr marL="285750" indent="-285750" algn="just" defTabSz="627190">
              <a:spcAft>
                <a:spcPts val="300"/>
              </a:spcAft>
              <a:buFont typeface="Arial" panose="020B0604020202020204" pitchFamily="34" charset="0"/>
              <a:buChar char="•"/>
            </a:pPr>
            <a:r>
              <a:rPr lang="en-US" sz="1200" b="1" dirty="0">
                <a:solidFill>
                  <a:prstClr val="black"/>
                </a:solidFill>
                <a:latin typeface="Verdana"/>
              </a:rPr>
              <a:t>Fundamental concepts in Regulation</a:t>
            </a:r>
            <a:r>
              <a:rPr lang="en-US" sz="1200" dirty="0">
                <a:solidFill>
                  <a:prstClr val="black"/>
                </a:solidFill>
                <a:latin typeface="Verdana"/>
              </a:rPr>
              <a:t>: Concept of regulation, Prudence of costs, Rewarding efficiency of performance, Regulatory Asset Base and Rate of return, Cost of service, Subsidy and cross subsidy, </a:t>
            </a:r>
          </a:p>
          <a:p>
            <a:pPr marL="285750" indent="-285750" algn="just" defTabSz="627190">
              <a:spcAft>
                <a:spcPts val="300"/>
              </a:spcAft>
              <a:buFont typeface="Arial" panose="020B0604020202020204" pitchFamily="34" charset="0"/>
              <a:buChar char="•"/>
            </a:pPr>
            <a:r>
              <a:rPr lang="en-US" sz="1200" b="1" dirty="0">
                <a:solidFill>
                  <a:prstClr val="black"/>
                </a:solidFill>
                <a:latin typeface="Verdana"/>
              </a:rPr>
              <a:t>Types of Regulation</a:t>
            </a:r>
            <a:r>
              <a:rPr lang="en-US" sz="1200" dirty="0">
                <a:solidFill>
                  <a:prstClr val="black"/>
                </a:solidFill>
                <a:latin typeface="Verdana"/>
              </a:rPr>
              <a:t>: Cost plus returns, Performance Based, Retail Price Index, Competitive electricity markets</a:t>
            </a:r>
          </a:p>
        </p:txBody>
      </p:sp>
      <p:sp>
        <p:nvSpPr>
          <p:cNvPr id="51" name="TextBox 50"/>
          <p:cNvSpPr txBox="1"/>
          <p:nvPr/>
        </p:nvSpPr>
        <p:spPr>
          <a:xfrm>
            <a:off x="2329982" y="2222160"/>
            <a:ext cx="536780" cy="362377"/>
          </a:xfrm>
          <a:prstGeom prst="rect">
            <a:avLst/>
          </a:prstGeom>
          <a:noFill/>
        </p:spPr>
        <p:txBody>
          <a:bodyPr wrap="square" lIns="89885" tIns="44943" rIns="89885" bIns="44943" rtlCol="0">
            <a:spAutoFit/>
          </a:bodyPr>
          <a:lstStyle/>
          <a:p>
            <a:pPr defTabSz="899031"/>
            <a:r>
              <a:rPr lang="en-US" sz="1765" dirty="0">
                <a:solidFill>
                  <a:prstClr val="white"/>
                </a:solidFill>
                <a:latin typeface="Verdana"/>
              </a:rPr>
              <a:t>1</a:t>
            </a:r>
          </a:p>
        </p:txBody>
      </p:sp>
      <p:sp>
        <p:nvSpPr>
          <p:cNvPr id="52" name="TextBox 51"/>
          <p:cNvSpPr txBox="1"/>
          <p:nvPr/>
        </p:nvSpPr>
        <p:spPr>
          <a:xfrm>
            <a:off x="2611515" y="3323990"/>
            <a:ext cx="536780" cy="362377"/>
          </a:xfrm>
          <a:prstGeom prst="rect">
            <a:avLst/>
          </a:prstGeom>
          <a:noFill/>
        </p:spPr>
        <p:txBody>
          <a:bodyPr wrap="square" lIns="89885" tIns="44943" rIns="89885" bIns="44943" rtlCol="0">
            <a:spAutoFit/>
          </a:bodyPr>
          <a:lstStyle/>
          <a:p>
            <a:pPr defTabSz="899031"/>
            <a:r>
              <a:rPr lang="en-US" sz="1765" dirty="0">
                <a:solidFill>
                  <a:prstClr val="white"/>
                </a:solidFill>
                <a:latin typeface="Verdana"/>
              </a:rPr>
              <a:t>2</a:t>
            </a:r>
          </a:p>
        </p:txBody>
      </p:sp>
      <p:sp>
        <p:nvSpPr>
          <p:cNvPr id="53" name="TextBox 52"/>
          <p:cNvSpPr txBox="1"/>
          <p:nvPr/>
        </p:nvSpPr>
        <p:spPr>
          <a:xfrm>
            <a:off x="2220756" y="4307667"/>
            <a:ext cx="536780" cy="362377"/>
          </a:xfrm>
          <a:prstGeom prst="rect">
            <a:avLst/>
          </a:prstGeom>
          <a:noFill/>
        </p:spPr>
        <p:txBody>
          <a:bodyPr wrap="square" lIns="89885" tIns="44943" rIns="89885" bIns="44943" rtlCol="0">
            <a:spAutoFit/>
          </a:bodyPr>
          <a:lstStyle/>
          <a:p>
            <a:pPr defTabSz="899031"/>
            <a:r>
              <a:rPr lang="en-US" sz="1765" dirty="0">
                <a:solidFill>
                  <a:prstClr val="white"/>
                </a:solidFill>
                <a:latin typeface="Verdana"/>
              </a:rPr>
              <a:t>3</a:t>
            </a:r>
          </a:p>
        </p:txBody>
      </p:sp>
      <p:sp>
        <p:nvSpPr>
          <p:cNvPr id="56" name="TextBox 55"/>
          <p:cNvSpPr txBox="1"/>
          <p:nvPr/>
        </p:nvSpPr>
        <p:spPr>
          <a:xfrm>
            <a:off x="2061592" y="4637836"/>
            <a:ext cx="536780" cy="362377"/>
          </a:xfrm>
          <a:prstGeom prst="rect">
            <a:avLst/>
          </a:prstGeom>
          <a:noFill/>
        </p:spPr>
        <p:txBody>
          <a:bodyPr wrap="square" lIns="89885" tIns="44943" rIns="89885" bIns="44943" rtlCol="0">
            <a:spAutoFit/>
          </a:bodyPr>
          <a:lstStyle/>
          <a:p>
            <a:pPr defTabSz="899031"/>
            <a:r>
              <a:rPr lang="en-US" sz="1765" dirty="0">
                <a:solidFill>
                  <a:prstClr val="white"/>
                </a:solidFill>
                <a:latin typeface="Verdana"/>
              </a:rPr>
              <a:t>4</a:t>
            </a:r>
          </a:p>
        </p:txBody>
      </p:sp>
      <p:sp>
        <p:nvSpPr>
          <p:cNvPr id="73" name="Rectangle 72"/>
          <p:cNvSpPr/>
          <p:nvPr/>
        </p:nvSpPr>
        <p:spPr>
          <a:xfrm>
            <a:off x="3909483" y="2668837"/>
            <a:ext cx="7560000" cy="1573221"/>
          </a:xfrm>
          <a:prstGeom prst="rect">
            <a:avLst/>
          </a:prstGeom>
        </p:spPr>
        <p:txBody>
          <a:bodyPr wrap="square" lIns="89885" tIns="44943" rIns="89885" bIns="44943">
            <a:spAutoFit/>
          </a:bodyPr>
          <a:lstStyle/>
          <a:p>
            <a:pPr defTabSz="627190">
              <a:spcAft>
                <a:spcPts val="353"/>
              </a:spcAft>
            </a:pPr>
            <a:r>
              <a:rPr lang="en-US" sz="1600" b="1" dirty="0">
                <a:solidFill>
                  <a:schemeClr val="accent3"/>
                </a:solidFill>
                <a:latin typeface="Verdana"/>
              </a:rPr>
              <a:t>Expectations from regulated entities</a:t>
            </a:r>
          </a:p>
          <a:p>
            <a:pPr marL="342900" lvl="0" indent="-342900" algn="just">
              <a:spcAft>
                <a:spcPts val="300"/>
              </a:spcAft>
              <a:buFont typeface="Symbol" panose="05050102010706020507" pitchFamily="18" charset="2"/>
              <a:buChar char=""/>
            </a:pPr>
            <a:r>
              <a:rPr lang="en-US" sz="1200" b="1" dirty="0">
                <a:solidFill>
                  <a:prstClr val="black"/>
                </a:solidFill>
                <a:latin typeface="Verdana"/>
              </a:rPr>
              <a:t>Accounting and reporting of historical costs and revenue: </a:t>
            </a:r>
            <a:r>
              <a:rPr lang="en-US" sz="1200" dirty="0">
                <a:solidFill>
                  <a:srgbClr val="000000"/>
                </a:solidFill>
                <a:effectLst/>
                <a:latin typeface="+mj-lt"/>
                <a:ea typeface="Times New Roman" panose="02020603050405020304" pitchFamily="18" charset="0"/>
                <a:cs typeface="Arial" panose="020B0604020202020204" pitchFamily="34" charset="0"/>
              </a:rPr>
              <a:t>Audited accounts</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cs typeface="Arial" panose="020B0604020202020204" pitchFamily="34" charset="0"/>
              </a:rPr>
              <a:t>Accounting of fixed assets</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cs typeface="Arial" panose="020B0604020202020204" pitchFamily="34" charset="0"/>
              </a:rPr>
              <a:t>Segregation of accounting data based on functions</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rPr>
              <a:t>Other key data points (Category wise revenue, category wise consumers, contract demand etc.)</a:t>
            </a:r>
          </a:p>
          <a:p>
            <a:pPr marL="342900" lvl="0" indent="-342900" algn="just">
              <a:spcAft>
                <a:spcPts val="300"/>
              </a:spcAft>
              <a:buFont typeface="Symbol" panose="05050102010706020507" pitchFamily="18" charset="2"/>
              <a:buChar char=""/>
            </a:pPr>
            <a:r>
              <a:rPr lang="en-US" sz="1200" b="1" dirty="0">
                <a:solidFill>
                  <a:prstClr val="black"/>
                </a:solidFill>
                <a:latin typeface="+mj-lt"/>
              </a:rPr>
              <a:t>Projection of expected costs and revenue: </a:t>
            </a:r>
            <a:r>
              <a:rPr lang="en-US" sz="1200" dirty="0">
                <a:solidFill>
                  <a:prstClr val="black"/>
                </a:solidFill>
                <a:latin typeface="+mj-lt"/>
              </a:rPr>
              <a:t>Tariff Petition, Tariff Model &amp; Business Plan</a:t>
            </a:r>
          </a:p>
          <a:p>
            <a:pPr marL="342900" lvl="0" indent="-342900" algn="just">
              <a:spcAft>
                <a:spcPts val="300"/>
              </a:spcAft>
              <a:buFont typeface="Symbol" panose="05050102010706020507" pitchFamily="18" charset="2"/>
              <a:buChar char=""/>
            </a:pPr>
            <a:r>
              <a:rPr lang="en-US" sz="1200" b="1" dirty="0">
                <a:solidFill>
                  <a:prstClr val="black"/>
                </a:solidFill>
                <a:latin typeface="+mj-lt"/>
              </a:rPr>
              <a:t>Timely regulatory compliance: </a:t>
            </a:r>
            <a:r>
              <a:rPr lang="en-US" sz="1200" dirty="0">
                <a:solidFill>
                  <a:prstClr val="black"/>
                </a:solidFill>
                <a:latin typeface="+mj-lt"/>
              </a:rPr>
              <a:t>Quarterly and annual filings, Need for a regulatory cell, Penalties for non-compliance</a:t>
            </a:r>
          </a:p>
        </p:txBody>
      </p:sp>
      <p:sp>
        <p:nvSpPr>
          <p:cNvPr id="76" name="Rectangle 75"/>
          <p:cNvSpPr/>
          <p:nvPr/>
        </p:nvSpPr>
        <p:spPr>
          <a:xfrm>
            <a:off x="3531258" y="4535162"/>
            <a:ext cx="7560000" cy="1979166"/>
          </a:xfrm>
          <a:prstGeom prst="rect">
            <a:avLst/>
          </a:prstGeom>
        </p:spPr>
        <p:txBody>
          <a:bodyPr wrap="square" lIns="89885" tIns="44943" rIns="89885" bIns="44943">
            <a:spAutoFit/>
          </a:bodyPr>
          <a:lstStyle/>
          <a:p>
            <a:pPr defTabSz="627190">
              <a:spcAft>
                <a:spcPts val="353"/>
              </a:spcAft>
            </a:pPr>
            <a:r>
              <a:rPr lang="en-US" sz="1588" b="1" dirty="0">
                <a:solidFill>
                  <a:schemeClr val="accent4"/>
                </a:solidFill>
              </a:rPr>
              <a:t>Tariff Process</a:t>
            </a:r>
          </a:p>
          <a:p>
            <a:pPr marL="342900" lvl="0" indent="-342900" algn="just">
              <a:spcAft>
                <a:spcPts val="300"/>
              </a:spcAft>
              <a:buFont typeface="Symbol" panose="05050102010706020507" pitchFamily="18" charset="2"/>
              <a:buChar char=""/>
            </a:pPr>
            <a:r>
              <a:rPr lang="en-US" sz="1200" b="1" dirty="0">
                <a:solidFill>
                  <a:prstClr val="black"/>
                </a:solidFill>
                <a:latin typeface="+mj-lt"/>
              </a:rPr>
              <a:t>Generation Tariff – Small Hydro and Solar</a:t>
            </a:r>
            <a:r>
              <a:rPr lang="en-US" sz="1200" dirty="0">
                <a:solidFill>
                  <a:prstClr val="black"/>
                </a:solidFill>
                <a:latin typeface="+mj-lt"/>
              </a:rPr>
              <a:t>: </a:t>
            </a:r>
            <a:r>
              <a:rPr lang="en-US" sz="1200" dirty="0">
                <a:solidFill>
                  <a:srgbClr val="000000"/>
                </a:solidFill>
                <a:effectLst/>
                <a:latin typeface="+mj-lt"/>
                <a:ea typeface="Times New Roman" panose="02020603050405020304" pitchFamily="18" charset="0"/>
                <a:cs typeface="Arial" panose="020B0604020202020204" pitchFamily="34" charset="0"/>
              </a:rPr>
              <a:t>Technical and financial parameters</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cs typeface="Arial" panose="020B0604020202020204" pitchFamily="34" charset="0"/>
              </a:rPr>
              <a:t>Tariff modelling</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rPr>
              <a:t>Levelized tariff</a:t>
            </a:r>
          </a:p>
          <a:p>
            <a:pPr marL="342900" indent="-342900" algn="just">
              <a:spcAft>
                <a:spcPts val="300"/>
              </a:spcAft>
              <a:buFont typeface="Symbol" panose="05050102010706020507" pitchFamily="18" charset="2"/>
              <a:buChar char=""/>
            </a:pPr>
            <a:r>
              <a:rPr lang="en-US" sz="1200" b="1" dirty="0">
                <a:solidFill>
                  <a:prstClr val="black"/>
                </a:solidFill>
                <a:latin typeface="+mj-lt"/>
              </a:rPr>
              <a:t>Generation Tariff – Large Hydro</a:t>
            </a:r>
            <a:r>
              <a:rPr lang="en-US" sz="1200" dirty="0">
                <a:solidFill>
                  <a:prstClr val="black"/>
                </a:solidFill>
                <a:latin typeface="+mj-lt"/>
              </a:rPr>
              <a:t>: </a:t>
            </a:r>
            <a:r>
              <a:rPr lang="en-US" sz="1200" dirty="0">
                <a:solidFill>
                  <a:srgbClr val="000000"/>
                </a:solidFill>
                <a:effectLst/>
                <a:latin typeface="+mj-lt"/>
                <a:ea typeface="Times New Roman" panose="02020603050405020304" pitchFamily="18" charset="0"/>
                <a:cs typeface="Arial" panose="020B0604020202020204" pitchFamily="34" charset="0"/>
              </a:rPr>
              <a:t>Technical and financial parameters</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cs typeface="Arial" panose="020B0604020202020204" pitchFamily="34" charset="0"/>
              </a:rPr>
              <a:t>Tariff modelling</a:t>
            </a:r>
            <a:r>
              <a:rPr lang="en-IN" sz="1200" dirty="0">
                <a:latin typeface="+mj-lt"/>
                <a:ea typeface="Times New Roman" panose="02020603050405020304" pitchFamily="18" charset="0"/>
                <a:cs typeface="Times New Roman" panose="02020603050405020304" pitchFamily="18" charset="0"/>
              </a:rPr>
              <a:t>, </a:t>
            </a:r>
            <a:r>
              <a:rPr lang="en-US" sz="1200" dirty="0">
                <a:solidFill>
                  <a:srgbClr val="000000"/>
                </a:solidFill>
                <a:effectLst/>
                <a:latin typeface="+mj-lt"/>
                <a:ea typeface="Times New Roman" panose="02020603050405020304" pitchFamily="18" charset="0"/>
              </a:rPr>
              <a:t>Two part tariffs, Availability based fixed cost recovery</a:t>
            </a:r>
          </a:p>
          <a:p>
            <a:pPr marL="342900" indent="-342900" algn="just">
              <a:spcAft>
                <a:spcPts val="300"/>
              </a:spcAft>
              <a:buFont typeface="Symbol" panose="05050102010706020507" pitchFamily="18" charset="2"/>
              <a:buChar char=""/>
            </a:pPr>
            <a:r>
              <a:rPr lang="en-US" sz="1200" b="1" dirty="0">
                <a:solidFill>
                  <a:prstClr val="black"/>
                </a:solidFill>
                <a:latin typeface="+mj-lt"/>
              </a:rPr>
              <a:t>Transmission Tariff: </a:t>
            </a:r>
            <a:r>
              <a:rPr lang="en-US" sz="1200" dirty="0">
                <a:solidFill>
                  <a:prstClr val="black"/>
                </a:solidFill>
                <a:latin typeface="+mj-lt"/>
              </a:rPr>
              <a:t>Technical and financial parameters, Tariff modelling, Incentive / penalty mechanisms</a:t>
            </a:r>
          </a:p>
          <a:p>
            <a:pPr marL="342900" indent="-342900" algn="just">
              <a:spcAft>
                <a:spcPts val="300"/>
              </a:spcAft>
              <a:buFont typeface="Symbol" panose="05050102010706020507" pitchFamily="18" charset="2"/>
              <a:buChar char=""/>
            </a:pPr>
            <a:r>
              <a:rPr lang="en-US" sz="1200" b="1" dirty="0">
                <a:solidFill>
                  <a:prstClr val="black"/>
                </a:solidFill>
                <a:latin typeface="+mj-lt"/>
              </a:rPr>
              <a:t>Distribution Tariff: </a:t>
            </a:r>
            <a:r>
              <a:rPr lang="en-US" sz="1200" dirty="0">
                <a:solidFill>
                  <a:prstClr val="black"/>
                </a:solidFill>
                <a:latin typeface="+mj-lt"/>
              </a:rPr>
              <a:t>Technical and financial parameters, Projection of costs, revenue and revenue gap, Cross subsidy, Regulatory Assets</a:t>
            </a:r>
            <a:endParaRPr lang="en-US" sz="1200" dirty="0">
              <a:solidFill>
                <a:srgbClr val="000000"/>
              </a:solidFill>
              <a:effectLst/>
              <a:latin typeface="+mj-lt"/>
              <a:ea typeface="Times New Roman" panose="02020603050405020304" pitchFamily="18" charset="0"/>
            </a:endParaRPr>
          </a:p>
        </p:txBody>
      </p:sp>
      <p:sp>
        <p:nvSpPr>
          <p:cNvPr id="6" name="Title 4">
            <a:extLst>
              <a:ext uri="{FF2B5EF4-FFF2-40B4-BE49-F238E27FC236}">
                <a16:creationId xmlns:a16="http://schemas.microsoft.com/office/drawing/2014/main" id="{8D36DC29-507A-B94F-EC8D-9D504952AA65}"/>
              </a:ext>
            </a:extLst>
          </p:cNvPr>
          <p:cNvSpPr>
            <a:spLocks noGrp="1"/>
          </p:cNvSpPr>
          <p:nvPr>
            <p:ph type="title"/>
          </p:nvPr>
        </p:nvSpPr>
        <p:spPr>
          <a:xfrm>
            <a:off x="442633" y="367374"/>
            <a:ext cx="10634836" cy="616324"/>
          </a:xfrm>
        </p:spPr>
        <p:txBody>
          <a:bodyPr/>
          <a:lstStyle/>
          <a:p>
            <a:r>
              <a:rPr lang="en-US" dirty="0"/>
              <a:t>Capacity Building Requirements for Regulatory Cell at NEA</a:t>
            </a:r>
            <a:br>
              <a:rPr lang="en-US" dirty="0"/>
            </a:br>
            <a:r>
              <a:rPr lang="en-US" sz="1440" i="1" dirty="0">
                <a:solidFill>
                  <a:srgbClr val="012169">
                    <a:lumMod val="60000"/>
                    <a:lumOff val="40000"/>
                  </a:srgbClr>
                </a:solidFill>
              </a:rPr>
              <a:t>Key training areas for Regulatory Cell Staff</a:t>
            </a:r>
          </a:p>
        </p:txBody>
      </p:sp>
    </p:spTree>
    <p:extLst>
      <p:ext uri="{BB962C8B-B14F-4D97-AF65-F5344CB8AC3E}">
        <p14:creationId xmlns:p14="http://schemas.microsoft.com/office/powerpoint/2010/main" val="338372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 Placeholder 2"/>
          <p:cNvSpPr>
            <a:spLocks noGrp="1"/>
          </p:cNvSpPr>
          <p:nvPr>
            <p:ph type="body" sz="quarter" idx="13"/>
          </p:nvPr>
        </p:nvSpPr>
        <p:spPr>
          <a:xfrm>
            <a:off x="469898" y="4211955"/>
            <a:ext cx="11266489" cy="2087245"/>
          </a:xfrm>
        </p:spPr>
        <p:txBody>
          <a:bodyPr>
            <a:noAutofit/>
          </a:bodyPr>
          <a:lstStyle/>
          <a:p>
            <a:endParaRPr lang="en-US" sz="1400" dirty="0"/>
          </a:p>
        </p:txBody>
      </p:sp>
      <p:sp>
        <p:nvSpPr>
          <p:cNvPr id="4" name="TextBox 3"/>
          <p:cNvSpPr txBox="1"/>
          <p:nvPr/>
        </p:nvSpPr>
        <p:spPr bwMode="gray">
          <a:xfrm>
            <a:off x="450583" y="2097782"/>
            <a:ext cx="4981388" cy="331094"/>
          </a:xfrm>
          <a:prstGeom prst="rect">
            <a:avLst/>
          </a:prstGeom>
        </p:spPr>
        <p:txBody>
          <a:bodyPr wrap="square" lIns="0" rIns="0" rtlCol="0" anchor="b" anchorCtr="0">
            <a:normAutofit/>
          </a:bodyPr>
          <a:lstStyle/>
          <a:p>
            <a:pPr>
              <a:lnSpc>
                <a:spcPts val="900"/>
              </a:lnSpc>
            </a:pPr>
            <a:r>
              <a:rPr lang="en-IN" sz="2000" b="1">
                <a:solidFill>
                  <a:schemeClr val="tx1"/>
                </a:solidFill>
              </a:rPr>
              <a:t>End of Presentation.</a:t>
            </a:r>
          </a:p>
        </p:txBody>
      </p:sp>
    </p:spTree>
    <p:extLst>
      <p:ext uri="{BB962C8B-B14F-4D97-AF65-F5344CB8AC3E}">
        <p14:creationId xmlns:p14="http://schemas.microsoft.com/office/powerpoint/2010/main" val="730648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BV6pwSqKSzi4e0Ni7A.IS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ssNI4u0lT4decIc891v9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B2B0A68-31C5-47E7-B3ED-705B7AFE8942}"/>
</file>

<file path=customXml/itemProps2.xml><?xml version="1.0" encoding="utf-8"?>
<ds:datastoreItem xmlns:ds="http://schemas.openxmlformats.org/officeDocument/2006/customXml" ds:itemID="{9AF081C2-CCA6-4E28-95C1-F0009982E0EF}"/>
</file>

<file path=customXml/itemProps3.xml><?xml version="1.0" encoding="utf-8"?>
<ds:datastoreItem xmlns:ds="http://schemas.openxmlformats.org/officeDocument/2006/customXml" ds:itemID="{0C31FE8F-BBD4-4A08-8AB4-F300147B8A6A}"/>
</file>

<file path=docProps/app.xml><?xml version="1.0" encoding="utf-8"?>
<Properties xmlns="http://schemas.openxmlformats.org/officeDocument/2006/extended-properties" xmlns:vt="http://schemas.openxmlformats.org/officeDocument/2006/docPropsVTypes">
  <Template/>
  <TotalTime>74</TotalTime>
  <Words>2554</Words>
  <Application>Microsoft Office PowerPoint</Application>
  <PresentationFormat>Widescreen</PresentationFormat>
  <Paragraphs>314</Paragraphs>
  <Slides>13</Slides>
  <Notes>9</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CorpoS</vt:lpstr>
      <vt:lpstr>Symbol</vt:lpstr>
      <vt:lpstr>Verdana</vt:lpstr>
      <vt:lpstr>Wingdings 2</vt:lpstr>
      <vt:lpstr>Deloitte 16_9 onscreen</vt:lpstr>
      <vt:lpstr>2_Deloitte 16_9 onscreen</vt:lpstr>
      <vt:lpstr>1_Deloitte 16_9 onscreen</vt:lpstr>
      <vt:lpstr>think-cell Slide</vt:lpstr>
      <vt:lpstr>PowerPoint Presentation</vt:lpstr>
      <vt:lpstr>PowerPoint Presentation</vt:lpstr>
      <vt:lpstr>Need for a Regulatory Department within NEA Establishment of a Regulatory Cell within NEA would help in alignment with new regulatory regime, comply with the legislation and Electricity Regulatory Commission’s Five-Year Roadmap (2024-2029) </vt:lpstr>
      <vt:lpstr>Key Objectives and Responsibilities of the Regulatory Cell Ensuring compliance, fostering communication with regulators, advocating policy changes &amp; managing tariffs </vt:lpstr>
      <vt:lpstr>Structure of a Regulatory Team – Case of West Bengal (India) </vt:lpstr>
      <vt:lpstr>Structure of a Regulatory Team – Case of Uttarakhand (India)</vt:lpstr>
      <vt:lpstr>Regulatory Cell Indicative Structure for NEA Outcomes: Function wise strengthening and consolidation – Regulatory Affairs Department</vt:lpstr>
      <vt:lpstr>Regulatory Cell Roles and Responsibilities Outcomes: Function wise strengthening and consolidation – Regulatory Cell – Key Responsibilities</vt:lpstr>
      <vt:lpstr>Recommendations : Regulatory Cell Outcomes: Function wise strengthening and consolidation – Regulatory Cell – Key Responsibilities</vt:lpstr>
      <vt:lpstr>Recommendations : Regulatory Cell Outcomes: Function wise strengthening and consolidation – Regulatory Cell – Key Responsibilities</vt:lpstr>
      <vt:lpstr>Measures to be taken for setting up of a Regulatory Cell within NEA People, Processes and Technology</vt:lpstr>
      <vt:lpstr>Capacity Building Requirements for Regulatory Cell at NEA Key training areas for Regulatory Cell Staff</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Bhardwaj, Mohit  (IN - Delhi)</dc:creator>
  <cp:lastModifiedBy>Mani, Siddharth</cp:lastModifiedBy>
  <cp:revision>2</cp:revision>
  <cp:lastPrinted>2017-11-20T10:40:15Z</cp:lastPrinted>
  <dcterms:created xsi:type="dcterms:W3CDTF">2017-03-31T05:53:10Z</dcterms:created>
  <dcterms:modified xsi:type="dcterms:W3CDTF">2024-11-26T11:07:55Z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2024-11-19T05:06:35Z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3a16b328-4f58-4dad-8ac8-b11a280a11e0</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