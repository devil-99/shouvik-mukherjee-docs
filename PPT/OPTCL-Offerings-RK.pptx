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omments/modernComment_29B_27CB6D9C.xml" ContentType="application/vnd.ms-powerpoint.comments+xml"/>
  <Override PartName="/ppt/theme/themeOverride1.xml" ContentType="application/vnd.openxmlformats-officedocument.themeOverride+xml"/>
  <Override PartName="/ppt/theme/themeOverride2.xml" ContentType="application/vnd.openxmlformats-officedocument.themeOverride+xml"/>
  <Override PartName="/ppt/tags/tag14.xml" ContentType="application/vnd.openxmlformats-officedocument.presentationml.tags+xml"/>
  <Override PartName="/ppt/theme/themeOverride3.xml" ContentType="application/vnd.openxmlformats-officedocument.themeOverride+xml"/>
  <Override PartName="/ppt/comments/modernComment_7FF64D4B_CBD39EA3.xml" ContentType="application/vnd.ms-powerpoint.comments+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ags/tag15.xml" ContentType="application/vnd.openxmlformats-officedocument.presentationml.tags+xml"/>
  <Override PartName="/ppt/comments/modernComment_7FFFC8BE_2544ACA.xml" ContentType="application/vnd.ms-powerpoint.comment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comments/modernComment_7FFFC8C6_E14DCA9F.xml" ContentType="application/vnd.ms-powerpoint.comments+xml"/>
  <Override PartName="/ppt/comments/modernComment_7FFFC8E0_24001F55.xml" ContentType="application/vnd.ms-powerpoint.comments+xml"/>
  <Override PartName="/ppt/comments/modernComment_7FFFC8E3_8A77B2D4.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2" r:id="rId2"/>
    <p:sldMasterId id="2147483774" r:id="rId3"/>
  </p:sldMasterIdLst>
  <p:notesMasterIdLst>
    <p:notesMasterId r:id="rId36"/>
  </p:notesMasterIdLst>
  <p:handoutMasterIdLst>
    <p:handoutMasterId r:id="rId37"/>
  </p:handoutMasterIdLst>
  <p:sldIdLst>
    <p:sldId id="657" r:id="rId4"/>
    <p:sldId id="2147469504" r:id="rId5"/>
    <p:sldId id="667" r:id="rId6"/>
    <p:sldId id="2147469533" r:id="rId7"/>
    <p:sldId id="2146848051" r:id="rId8"/>
    <p:sldId id="2146848052" r:id="rId9"/>
    <p:sldId id="2146848075" r:id="rId10"/>
    <p:sldId id="2146848082" r:id="rId11"/>
    <p:sldId id="2146848081" r:id="rId12"/>
    <p:sldId id="2146848083" r:id="rId13"/>
    <p:sldId id="2147469502" r:id="rId14"/>
    <p:sldId id="2147469506" r:id="rId15"/>
    <p:sldId id="686" r:id="rId16"/>
    <p:sldId id="1869" r:id="rId17"/>
    <p:sldId id="1873" r:id="rId18"/>
    <p:sldId id="1879" r:id="rId19"/>
    <p:sldId id="1882" r:id="rId20"/>
    <p:sldId id="681" r:id="rId21"/>
    <p:sldId id="2147469501" r:id="rId22"/>
    <p:sldId id="2147469532" r:id="rId23"/>
    <p:sldId id="2147469531" r:id="rId24"/>
    <p:sldId id="2147469507" r:id="rId25"/>
    <p:sldId id="2147469503" r:id="rId26"/>
    <p:sldId id="2147469509" r:id="rId27"/>
    <p:sldId id="2147469510" r:id="rId28"/>
    <p:sldId id="2147469513" r:id="rId29"/>
    <p:sldId id="2147469514" r:id="rId30"/>
    <p:sldId id="2147469536" r:id="rId31"/>
    <p:sldId id="2147469537" r:id="rId32"/>
    <p:sldId id="2147469538" r:id="rId33"/>
    <p:sldId id="2147469539" r:id="rId34"/>
    <p:sldId id="676" r:id="rId35"/>
  </p:sldIdLst>
  <p:sldSz cx="12192000" cy="6858000"/>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AFA3A59-CBD8-B594-1F1F-A2FE2403015E}" name="Kulkarni, Rajeev" initials="KR" userId="S::rajeevkulkarni@deloitte.com::7f4ff3c6-5873-48d1-964b-41f5d0b8d1fb" providerId="AD"/>
  <p188:author id="{F36DDE67-92F7-3D7C-D560-07F7CE5D3191}" name="Saha, Soumi" initials="SS" userId="S::soumsaha@deloitte.com::8c6b90e7-7969-49db-9697-f3c900c2673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awan, Shubham" initials="DS" lastIdx="28" clrIdx="0">
    <p:extLst>
      <p:ext uri="{19B8F6BF-5375-455C-9EA6-DF929625EA0E}">
        <p15:presenceInfo xmlns:p15="http://schemas.microsoft.com/office/powerpoint/2012/main" userId="S::shudhawan@deloitte.com::e457b5f3-1f3d-4d58-917e-9019c3073c41" providerId="AD"/>
      </p:ext>
    </p:extLst>
  </p:cmAuthor>
  <p:cmAuthor id="2" name="Hariharan, P." initials="HP" lastIdx="40" clrIdx="1">
    <p:extLst>
      <p:ext uri="{19B8F6BF-5375-455C-9EA6-DF929625EA0E}">
        <p15:presenceInfo xmlns:p15="http://schemas.microsoft.com/office/powerpoint/2012/main" userId="S::phariharan@deloitte.com::e1113b81-c672-4010-8bf3-3bb1a1ab88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BC25"/>
    <a:srgbClr val="007CB0"/>
    <a:srgbClr val="0D8390"/>
    <a:srgbClr val="616161"/>
    <a:srgbClr val="046A38"/>
    <a:srgbClr val="0097A9"/>
    <a:srgbClr val="012169"/>
    <a:srgbClr val="DFF0F9"/>
    <a:srgbClr val="E7F5CF"/>
    <a:srgbClr val="D3E9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4660"/>
  </p:normalViewPr>
  <p:slideViewPr>
    <p:cSldViewPr snapToGrid="0">
      <p:cViewPr varScale="1">
        <p:scale>
          <a:sx n="79" d="100"/>
          <a:sy n="79" d="100"/>
        </p:scale>
        <p:origin x="91" y="19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commentAuthors" Target="commentAuthor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47" Type="http://schemas.openxmlformats.org/officeDocument/2006/relationships/customXml" Target="../customXml/item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handoutMaster" Target="handoutMasters/handoutMaster1.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48" Type="http://schemas.openxmlformats.org/officeDocument/2006/relationships/customXml" Target="../customXml/item3.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gs" Target="tags/tag1.xml"/><Relationship Id="rId46" Type="http://schemas.openxmlformats.org/officeDocument/2006/relationships/customXml" Target="../customXml/item1.xml"/><Relationship Id="rId20" Type="http://schemas.openxmlformats.org/officeDocument/2006/relationships/slide" Target="slides/slide17.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lkarni, Rajeev" userId="7f4ff3c6-5873-48d1-964b-41f5d0b8d1fb" providerId="ADAL" clId="{55D916B8-3FBF-4355-BACA-617B78C1C394}"/>
    <pc:docChg chg="modSld sldOrd">
      <pc:chgData name="Kulkarni, Rajeev" userId="7f4ff3c6-5873-48d1-964b-41f5d0b8d1fb" providerId="ADAL" clId="{55D916B8-3FBF-4355-BACA-617B78C1C394}" dt="2024-10-19T02:50:51.732" v="157"/>
      <pc:docMkLst>
        <pc:docMk/>
      </pc:docMkLst>
      <pc:sldChg chg="addCm">
        <pc:chgData name="Kulkarni, Rajeev" userId="7f4ff3c6-5873-48d1-964b-41f5d0b8d1fb" providerId="ADAL" clId="{55D916B8-3FBF-4355-BACA-617B78C1C394}" dt="2024-10-19T02:39:59.248" v="0"/>
        <pc:sldMkLst>
          <pc:docMk/>
          <pc:sldMk cId="667643292" sldId="667"/>
        </pc:sldMkLst>
        <pc:extLst>
          <p:ext xmlns:p="http://schemas.openxmlformats.org/presentationml/2006/main" uri="{D6D511B9-2390-475A-947B-AFAB55BFBCF1}">
            <pc226:cmChg xmlns:pc226="http://schemas.microsoft.com/office/powerpoint/2022/06/main/command" chg="add">
              <pc226:chgData name="Kulkarni, Rajeev" userId="7f4ff3c6-5873-48d1-964b-41f5d0b8d1fb" providerId="ADAL" clId="{55D916B8-3FBF-4355-BACA-617B78C1C394}" dt="2024-10-19T02:39:59.248" v="0"/>
              <pc2:cmMkLst xmlns:pc2="http://schemas.microsoft.com/office/powerpoint/2019/9/main/command">
                <pc:docMk/>
                <pc:sldMk cId="667643292" sldId="667"/>
                <pc2:cmMk id="{A6AD0019-11A2-4DF3-BAAA-6F23DAD586CA}"/>
              </pc2:cmMkLst>
            </pc226:cmChg>
          </p:ext>
        </pc:extLst>
      </pc:sldChg>
      <pc:sldChg chg="modSp mod">
        <pc:chgData name="Kulkarni, Rajeev" userId="7f4ff3c6-5873-48d1-964b-41f5d0b8d1fb" providerId="ADAL" clId="{55D916B8-3FBF-4355-BACA-617B78C1C394}" dt="2024-10-19T02:41:08.566" v="71" actId="20577"/>
        <pc:sldMkLst>
          <pc:docMk/>
          <pc:sldMk cId="35364392" sldId="2146848051"/>
        </pc:sldMkLst>
        <pc:spChg chg="mod">
          <ac:chgData name="Kulkarni, Rajeev" userId="7f4ff3c6-5873-48d1-964b-41f5d0b8d1fb" providerId="ADAL" clId="{55D916B8-3FBF-4355-BACA-617B78C1C394}" dt="2024-10-19T02:41:08.566" v="71" actId="20577"/>
          <ac:spMkLst>
            <pc:docMk/>
            <pc:sldMk cId="35364392" sldId="2146848051"/>
            <ac:spMk id="33" creationId="{A6BA5E73-3E7D-8497-8AA9-382DF2987395}"/>
          </ac:spMkLst>
        </pc:spChg>
      </pc:sldChg>
      <pc:sldChg chg="addCm">
        <pc:chgData name="Kulkarni, Rajeev" userId="7f4ff3c6-5873-48d1-964b-41f5d0b8d1fb" providerId="ADAL" clId="{55D916B8-3FBF-4355-BACA-617B78C1C394}" dt="2024-10-19T02:42:19.983" v="72"/>
        <pc:sldMkLst>
          <pc:docMk/>
          <pc:sldMk cId="3419643555" sldId="2146848075"/>
        </pc:sldMkLst>
        <pc:extLst>
          <p:ext xmlns:p="http://schemas.openxmlformats.org/presentationml/2006/main" uri="{D6D511B9-2390-475A-947B-AFAB55BFBCF1}">
            <pc226:cmChg xmlns:pc226="http://schemas.microsoft.com/office/powerpoint/2022/06/main/command" chg="add">
              <pc226:chgData name="Kulkarni, Rajeev" userId="7f4ff3c6-5873-48d1-964b-41f5d0b8d1fb" providerId="ADAL" clId="{55D916B8-3FBF-4355-BACA-617B78C1C394}" dt="2024-10-19T02:42:19.983" v="72"/>
              <pc2:cmMkLst xmlns:pc2="http://schemas.microsoft.com/office/powerpoint/2019/9/main/command">
                <pc:docMk/>
                <pc:sldMk cId="3419643555" sldId="2146848075"/>
                <pc2:cmMk id="{71095668-202D-4C08-898E-B6AD1AD2F01B}"/>
              </pc2:cmMkLst>
            </pc226:cmChg>
          </p:ext>
        </pc:extLst>
      </pc:sldChg>
      <pc:sldChg chg="addCm">
        <pc:chgData name="Kulkarni, Rajeev" userId="7f4ff3c6-5873-48d1-964b-41f5d0b8d1fb" providerId="ADAL" clId="{55D916B8-3FBF-4355-BACA-617B78C1C394}" dt="2024-10-19T02:44:28.079" v="73"/>
        <pc:sldMkLst>
          <pc:docMk/>
          <pc:sldMk cId="39078602" sldId="2147469502"/>
        </pc:sldMkLst>
        <pc:extLst>
          <p:ext xmlns:p="http://schemas.openxmlformats.org/presentationml/2006/main" uri="{D6D511B9-2390-475A-947B-AFAB55BFBCF1}">
            <pc226:cmChg xmlns:pc226="http://schemas.microsoft.com/office/powerpoint/2022/06/main/command" chg="add">
              <pc226:chgData name="Kulkarni, Rajeev" userId="7f4ff3c6-5873-48d1-964b-41f5d0b8d1fb" providerId="ADAL" clId="{55D916B8-3FBF-4355-BACA-617B78C1C394}" dt="2024-10-19T02:44:28.079" v="73"/>
              <pc2:cmMkLst xmlns:pc2="http://schemas.microsoft.com/office/powerpoint/2019/9/main/command">
                <pc:docMk/>
                <pc:sldMk cId="39078602" sldId="2147469502"/>
                <pc2:cmMk id="{F3E91258-1646-41BB-A30F-248D1E6370D4}"/>
              </pc2:cmMkLst>
            </pc226:cmChg>
          </p:ext>
        </pc:extLst>
      </pc:sldChg>
      <pc:sldChg chg="addCm">
        <pc:chgData name="Kulkarni, Rajeev" userId="7f4ff3c6-5873-48d1-964b-41f5d0b8d1fb" providerId="ADAL" clId="{55D916B8-3FBF-4355-BACA-617B78C1C394}" dt="2024-10-19T02:45:37.715" v="74"/>
        <pc:sldMkLst>
          <pc:docMk/>
          <pc:sldMk cId="3779971743" sldId="2147469510"/>
        </pc:sldMkLst>
        <pc:extLst>
          <p:ext xmlns:p="http://schemas.openxmlformats.org/presentationml/2006/main" uri="{D6D511B9-2390-475A-947B-AFAB55BFBCF1}">
            <pc226:cmChg xmlns:pc226="http://schemas.microsoft.com/office/powerpoint/2022/06/main/command" chg="add">
              <pc226:chgData name="Kulkarni, Rajeev" userId="7f4ff3c6-5873-48d1-964b-41f5d0b8d1fb" providerId="ADAL" clId="{55D916B8-3FBF-4355-BACA-617B78C1C394}" dt="2024-10-19T02:45:37.715" v="74"/>
              <pc2:cmMkLst xmlns:pc2="http://schemas.microsoft.com/office/powerpoint/2019/9/main/command">
                <pc:docMk/>
                <pc:sldMk cId="3779971743" sldId="2147469510"/>
                <pc2:cmMk id="{C40B79FB-4336-4D7E-85FD-938092A6E54E}"/>
              </pc2:cmMkLst>
            </pc226:cmChg>
          </p:ext>
        </pc:extLst>
      </pc:sldChg>
      <pc:sldChg chg="modSp mod ord addCm modCm">
        <pc:chgData name="Kulkarni, Rajeev" userId="7f4ff3c6-5873-48d1-964b-41f5d0b8d1fb" providerId="ADAL" clId="{55D916B8-3FBF-4355-BACA-617B78C1C394}" dt="2024-10-19T02:50:51.732" v="157"/>
        <pc:sldMkLst>
          <pc:docMk/>
          <pc:sldMk cId="603987797" sldId="2147469536"/>
        </pc:sldMkLst>
        <pc:spChg chg="mod">
          <ac:chgData name="Kulkarni, Rajeev" userId="7f4ff3c6-5873-48d1-964b-41f5d0b8d1fb" providerId="ADAL" clId="{55D916B8-3FBF-4355-BACA-617B78C1C394}" dt="2024-10-19T02:46:43.320" v="101" actId="207"/>
          <ac:spMkLst>
            <pc:docMk/>
            <pc:sldMk cId="603987797" sldId="2147469536"/>
            <ac:spMk id="4" creationId="{F4ED89F9-DB2F-A83F-8966-DF9059C60745}"/>
          </ac:spMkLst>
        </pc:spChg>
        <pc:spChg chg="mod">
          <ac:chgData name="Kulkarni, Rajeev" userId="7f4ff3c6-5873-48d1-964b-41f5d0b8d1fb" providerId="ADAL" clId="{55D916B8-3FBF-4355-BACA-617B78C1C394}" dt="2024-10-19T02:46:18.213" v="100" actId="20577"/>
          <ac:spMkLst>
            <pc:docMk/>
            <pc:sldMk cId="603987797" sldId="2147469536"/>
            <ac:spMk id="6" creationId="{C8C32E11-ECB2-4668-921A-9D9CDB203D92}"/>
          </ac:spMkLst>
        </pc:spChg>
        <pc:extLst>
          <p:ext xmlns:p="http://schemas.openxmlformats.org/presentationml/2006/main" uri="{D6D511B9-2390-475A-947B-AFAB55BFBCF1}">
            <pc226:cmChg xmlns:pc226="http://schemas.microsoft.com/office/powerpoint/2022/06/main/command" chg="add mod">
              <pc226:chgData name="Kulkarni, Rajeev" userId="7f4ff3c6-5873-48d1-964b-41f5d0b8d1fb" providerId="ADAL" clId="{55D916B8-3FBF-4355-BACA-617B78C1C394}" dt="2024-10-19T02:50:51.732" v="157"/>
              <pc2:cmMkLst xmlns:pc2="http://schemas.microsoft.com/office/powerpoint/2019/9/main/command">
                <pc:docMk/>
                <pc:sldMk cId="603987797" sldId="2147469536"/>
                <pc2:cmMk id="{9288B16B-7471-4122-9019-89B9F6C740E7}"/>
              </pc2:cmMkLst>
              <pc226:cmRplyChg chg="add">
                <pc226:chgData name="Kulkarni, Rajeev" userId="7f4ff3c6-5873-48d1-964b-41f5d0b8d1fb" providerId="ADAL" clId="{55D916B8-3FBF-4355-BACA-617B78C1C394}" dt="2024-10-19T02:48:11.712" v="108"/>
                <pc2:cmRplyMkLst xmlns:pc2="http://schemas.microsoft.com/office/powerpoint/2019/9/main/command">
                  <pc:docMk/>
                  <pc:sldMk cId="603987797" sldId="2147469536"/>
                  <pc2:cmMk id="{9288B16B-7471-4122-9019-89B9F6C740E7}"/>
                  <pc2:cmRplyMk id="{269691EB-654E-4978-8FDF-F88552E0ACD0}"/>
                </pc2:cmRplyMkLst>
              </pc226:cmRplyChg>
              <pc226:cmRplyChg chg="add">
                <pc226:chgData name="Kulkarni, Rajeev" userId="7f4ff3c6-5873-48d1-964b-41f5d0b8d1fb" providerId="ADAL" clId="{55D916B8-3FBF-4355-BACA-617B78C1C394}" dt="2024-10-19T02:50:51.732" v="157"/>
                <pc2:cmRplyMkLst xmlns:pc2="http://schemas.microsoft.com/office/powerpoint/2019/9/main/command">
                  <pc:docMk/>
                  <pc:sldMk cId="603987797" sldId="2147469536"/>
                  <pc2:cmMk id="{9288B16B-7471-4122-9019-89B9F6C740E7}"/>
                  <pc2:cmRplyMk id="{CFB5CCF5-2E06-44F9-8CBA-68D12A4360E2}"/>
                </pc2:cmRplyMkLst>
              </pc226:cmRplyChg>
            </pc226:cmChg>
          </p:ext>
        </pc:extLst>
      </pc:sldChg>
      <pc:sldChg chg="modSp mod">
        <pc:chgData name="Kulkarni, Rajeev" userId="7f4ff3c6-5873-48d1-964b-41f5d0b8d1fb" providerId="ADAL" clId="{55D916B8-3FBF-4355-BACA-617B78C1C394}" dt="2024-10-19T02:48:32.174" v="133" actId="20577"/>
        <pc:sldMkLst>
          <pc:docMk/>
          <pc:sldMk cId="1839454237" sldId="2147469537"/>
        </pc:sldMkLst>
        <pc:spChg chg="mod">
          <ac:chgData name="Kulkarni, Rajeev" userId="7f4ff3c6-5873-48d1-964b-41f5d0b8d1fb" providerId="ADAL" clId="{55D916B8-3FBF-4355-BACA-617B78C1C394}" dt="2024-10-19T02:46:54.565" v="102" actId="207"/>
          <ac:spMkLst>
            <pc:docMk/>
            <pc:sldMk cId="1839454237" sldId="2147469537"/>
            <ac:spMk id="4" creationId="{F4ED89F9-DB2F-A83F-8966-DF9059C60745}"/>
          </ac:spMkLst>
        </pc:spChg>
        <pc:spChg chg="mod">
          <ac:chgData name="Kulkarni, Rajeev" userId="7f4ff3c6-5873-48d1-964b-41f5d0b8d1fb" providerId="ADAL" clId="{55D916B8-3FBF-4355-BACA-617B78C1C394}" dt="2024-10-19T02:48:32.174" v="133" actId="20577"/>
          <ac:spMkLst>
            <pc:docMk/>
            <pc:sldMk cId="1839454237" sldId="2147469537"/>
            <ac:spMk id="6" creationId="{C8C32E11-ECB2-4668-921A-9D9CDB203D92}"/>
          </ac:spMkLst>
        </pc:spChg>
      </pc:sldChg>
      <pc:sldChg chg="modSp mod">
        <pc:chgData name="Kulkarni, Rajeev" userId="7f4ff3c6-5873-48d1-964b-41f5d0b8d1fb" providerId="ADAL" clId="{55D916B8-3FBF-4355-BACA-617B78C1C394}" dt="2024-10-19T02:48:50.726" v="153" actId="20577"/>
        <pc:sldMkLst>
          <pc:docMk/>
          <pc:sldMk cId="4165475077" sldId="2147469538"/>
        </pc:sldMkLst>
        <pc:spChg chg="mod">
          <ac:chgData name="Kulkarni, Rajeev" userId="7f4ff3c6-5873-48d1-964b-41f5d0b8d1fb" providerId="ADAL" clId="{55D916B8-3FBF-4355-BACA-617B78C1C394}" dt="2024-10-19T02:48:42.391" v="134" actId="207"/>
          <ac:spMkLst>
            <pc:docMk/>
            <pc:sldMk cId="4165475077" sldId="2147469538"/>
            <ac:spMk id="4" creationId="{F4ED89F9-DB2F-A83F-8966-DF9059C60745}"/>
          </ac:spMkLst>
        </pc:spChg>
        <pc:spChg chg="mod">
          <ac:chgData name="Kulkarni, Rajeev" userId="7f4ff3c6-5873-48d1-964b-41f5d0b8d1fb" providerId="ADAL" clId="{55D916B8-3FBF-4355-BACA-617B78C1C394}" dt="2024-10-19T02:48:50.726" v="153" actId="20577"/>
          <ac:spMkLst>
            <pc:docMk/>
            <pc:sldMk cId="4165475077" sldId="2147469538"/>
            <ac:spMk id="6" creationId="{C8C32E11-ECB2-4668-921A-9D9CDB203D92}"/>
          </ac:spMkLst>
        </pc:spChg>
      </pc:sldChg>
      <pc:sldChg chg="modSp mod addCm">
        <pc:chgData name="Kulkarni, Rajeev" userId="7f4ff3c6-5873-48d1-964b-41f5d0b8d1fb" providerId="ADAL" clId="{55D916B8-3FBF-4355-BACA-617B78C1C394}" dt="2024-10-19T02:49:38.534" v="155"/>
        <pc:sldMkLst>
          <pc:docMk/>
          <pc:sldMk cId="2323100372" sldId="2147469539"/>
        </pc:sldMkLst>
        <pc:spChg chg="mod">
          <ac:chgData name="Kulkarni, Rajeev" userId="7f4ff3c6-5873-48d1-964b-41f5d0b8d1fb" providerId="ADAL" clId="{55D916B8-3FBF-4355-BACA-617B78C1C394}" dt="2024-10-19T02:49:05.181" v="154" actId="207"/>
          <ac:spMkLst>
            <pc:docMk/>
            <pc:sldMk cId="2323100372" sldId="2147469539"/>
            <ac:spMk id="4" creationId="{F4ED89F9-DB2F-A83F-8966-DF9059C60745}"/>
          </ac:spMkLst>
        </pc:spChg>
        <pc:extLst>
          <p:ext xmlns:p="http://schemas.openxmlformats.org/presentationml/2006/main" uri="{D6D511B9-2390-475A-947B-AFAB55BFBCF1}">
            <pc226:cmChg xmlns:pc226="http://schemas.microsoft.com/office/powerpoint/2022/06/main/command" chg="add">
              <pc226:chgData name="Kulkarni, Rajeev" userId="7f4ff3c6-5873-48d1-964b-41f5d0b8d1fb" providerId="ADAL" clId="{55D916B8-3FBF-4355-BACA-617B78C1C394}" dt="2024-10-19T02:49:38.534" v="155"/>
              <pc2:cmMkLst xmlns:pc2="http://schemas.microsoft.com/office/powerpoint/2019/9/main/command">
                <pc:docMk/>
                <pc:sldMk cId="2323100372" sldId="2147469539"/>
                <pc2:cmMk id="{5A2A926F-8D81-4A20-85A8-4EBDBA3F130C}"/>
              </pc2:cmMkLst>
            </pc226:cmChg>
          </p:ext>
        </pc:extLst>
      </pc:sldChg>
    </pc:docChg>
  </pc:docChgLst>
</pc:chgInfo>
</file>

<file path=ppt/comments/modernComment_7FF64D4B_CBD39EA3.xml><?xml version="1.0" encoding="utf-8"?>
<p188:cmLst xmlns:a="http://schemas.openxmlformats.org/drawingml/2006/main" xmlns:r="http://schemas.openxmlformats.org/officeDocument/2006/relationships" xmlns:p188="http://schemas.microsoft.com/office/powerpoint/2018/8/main">
  <p188:cm id="{71095668-202D-4C08-898E-B6AD1AD2F01B}" authorId="{FAFA3A59-CBD8-B594-1F1F-A2FE2403015E}" created="2024-10-19T02:42:19.928">
    <pc:sldMkLst xmlns:pc="http://schemas.microsoft.com/office/powerpoint/2013/main/command">
      <pc:docMk/>
      <pc:sldMk cId="3419643555" sldId="2146848075"/>
    </pc:sldMkLst>
    <p188:txBody>
      <a:bodyPr/>
      <a:lstStyle/>
      <a:p>
        <a:r>
          <a:rPr lang="en-IN"/>
          <a:t>We need a slide introducing our Power Sector offerings - add a slide on the same</a:t>
        </a:r>
      </a:p>
    </p188:txBody>
  </p188:cm>
</p188:cmLst>
</file>

<file path=ppt/comments/modernComment_7FFFC8BE_2544ACA.xml><?xml version="1.0" encoding="utf-8"?>
<p188:cmLst xmlns:a="http://schemas.openxmlformats.org/drawingml/2006/main" xmlns:r="http://schemas.openxmlformats.org/officeDocument/2006/relationships" xmlns:p188="http://schemas.microsoft.com/office/powerpoint/2018/8/main">
  <p188:cm id="{F3E91258-1646-41BB-A30F-248D1E6370D4}" authorId="{FAFA3A59-CBD8-B594-1F1F-A2FE2403015E}" created="2024-10-19T02:44:28.028">
    <pc:sldMkLst xmlns:pc="http://schemas.microsoft.com/office/powerpoint/2013/main/command">
      <pc:docMk/>
      <pc:sldMk cId="39078602" sldId="2147469502"/>
    </pc:sldMkLst>
    <p188:txBody>
      <a:bodyPr/>
      <a:lstStyle/>
      <a:p>
        <a:r>
          <a:rPr lang="en-IN"/>
          <a:t>Modify this slide to bring it in line with the earlier slides - this will be for Asset Management</a:t>
        </a:r>
      </a:p>
    </p188:txBody>
  </p188:cm>
</p188:cmLst>
</file>

<file path=ppt/comments/modernComment_7FFFC8C6_E14DCA9F.xml><?xml version="1.0" encoding="utf-8"?>
<p188:cmLst xmlns:a="http://schemas.openxmlformats.org/drawingml/2006/main" xmlns:r="http://schemas.openxmlformats.org/officeDocument/2006/relationships" xmlns:p188="http://schemas.microsoft.com/office/powerpoint/2018/8/main">
  <p188:cm id="{C40B79FB-4336-4D7E-85FD-938092A6E54E}" authorId="{FAFA3A59-CBD8-B594-1F1F-A2FE2403015E}" created="2024-10-19T02:45:37.636">
    <ac:deMkLst xmlns:ac="http://schemas.microsoft.com/office/drawing/2013/main/command">
      <pc:docMk xmlns:pc="http://schemas.microsoft.com/office/powerpoint/2013/main/command"/>
      <pc:sldMk xmlns:pc="http://schemas.microsoft.com/office/powerpoint/2013/main/command" cId="3779971743" sldId="2147469510"/>
      <ac:spMk id="4" creationId="{F4ED89F9-DB2F-A83F-8966-DF9059C60745}"/>
    </ac:deMkLst>
    <p188:txBody>
      <a:bodyPr/>
      <a:lstStyle/>
      <a:p>
        <a:r>
          <a:rPr lang="en-IN"/>
          <a:t>Please format properly</a:t>
        </a:r>
      </a:p>
    </p188:txBody>
  </p188:cm>
</p188:cmLst>
</file>

<file path=ppt/comments/modernComment_7FFFC8E0_24001F55.xml><?xml version="1.0" encoding="utf-8"?>
<p188:cmLst xmlns:a="http://schemas.openxmlformats.org/drawingml/2006/main" xmlns:r="http://schemas.openxmlformats.org/officeDocument/2006/relationships" xmlns:p188="http://schemas.microsoft.com/office/powerpoint/2018/8/main">
  <p188:cm id="{9288B16B-7471-4122-9019-89B9F6C740E7}" authorId="{FAFA3A59-CBD8-B594-1F1F-A2FE2403015E}" created="2024-10-19T02:46:09.157">
    <pc:sldMkLst xmlns:pc="http://schemas.microsoft.com/office/powerpoint/2013/main/command">
      <pc:docMk/>
      <pc:sldMk cId="603987797" sldId="2147469536"/>
    </pc:sldMkLst>
    <p188:replyLst>
      <p188:reply id="{269691EB-654E-4978-8FDF-F88552E0ACD0}" authorId="{FAFA3A59-CBD8-B594-1F1F-A2FE2403015E}" created="2024-10-19T02:48:11.670">
        <p188:txBody>
          <a:bodyPr/>
          <a:lstStyle/>
          <a:p>
            <a:r>
              <a:rPr lang="en-IN"/>
              <a:t>This will be less relevant for OPTCL - for them - state government utility will be relevant - bring that slide ahead</a:t>
            </a:r>
          </a:p>
        </p188:txBody>
      </p188:reply>
      <p188:reply id="{CFB5CCF5-2E06-44F9-8CBA-68D12A4360E2}" authorId="{FAFA3A59-CBD8-B594-1F1F-A2FE2403015E}" created="2024-10-19T02:50:51.694">
        <p188:txBody>
          <a:bodyPr/>
          <a:lstStyle/>
          <a:p>
            <a:r>
              <a:rPr lang="en-IN"/>
              <a:t>Also, combine the State Utility and CPSU assistance slides</a:t>
            </a:r>
          </a:p>
        </p188:txBody>
      </p188:reply>
    </p188:replyLst>
    <p188:txBody>
      <a:bodyPr/>
      <a:lstStyle/>
      <a:p>
        <a:r>
          <a:rPr lang="en-IN"/>
          <a:t>Add a separator before this slide for Regulatory Assistance</a:t>
        </a:r>
      </a:p>
    </p188:txBody>
  </p188:cm>
</p188:cmLst>
</file>

<file path=ppt/comments/modernComment_7FFFC8E3_8A77B2D4.xml><?xml version="1.0" encoding="utf-8"?>
<p188:cmLst xmlns:a="http://schemas.openxmlformats.org/drawingml/2006/main" xmlns:r="http://schemas.openxmlformats.org/officeDocument/2006/relationships" xmlns:p188="http://schemas.microsoft.com/office/powerpoint/2018/8/main">
  <p188:cm id="{5A2A926F-8D81-4A20-85A8-4EBDBA3F130C}" authorId="{FAFA3A59-CBD8-B594-1F1F-A2FE2403015E}" created="2024-10-19T02:49:38.493">
    <ac:deMkLst xmlns:ac="http://schemas.microsoft.com/office/drawing/2013/main/command">
      <pc:docMk xmlns:pc="http://schemas.microsoft.com/office/powerpoint/2013/main/command"/>
      <pc:sldMk xmlns:pc="http://schemas.microsoft.com/office/powerpoint/2013/main/command" cId="2323100372" sldId="2147469539"/>
      <ac:spMk id="4" creationId="{F4ED89F9-DB2F-A83F-8966-DF9059C60745}"/>
    </ac:deMkLst>
    <p188:txBody>
      <a:bodyPr/>
      <a:lstStyle/>
      <a:p>
        <a:r>
          <a:rPr lang="en-IN"/>
          <a:t>Combine SERC/CERC assistance slides</a:t>
        </a:r>
      </a:p>
    </p188:txBody>
  </p188:cm>
</p188:cmLst>
</file>

<file path=ppt/comments/modernComment_29B_27CB6D9C.xml><?xml version="1.0" encoding="utf-8"?>
<p188:cmLst xmlns:a="http://schemas.openxmlformats.org/drawingml/2006/main" xmlns:r="http://schemas.openxmlformats.org/officeDocument/2006/relationships" xmlns:p188="http://schemas.microsoft.com/office/powerpoint/2018/8/main">
  <p188:cm id="{A6AD0019-11A2-4DF3-BAAA-6F23DAD586CA}" authorId="{FAFA3A59-CBD8-B594-1F1F-A2FE2403015E}" created="2024-10-19T02:39:59.203">
    <pc:sldMkLst xmlns:pc="http://schemas.microsoft.com/office/powerpoint/2013/main/command">
      <pc:docMk/>
      <pc:sldMk cId="667643292" sldId="667"/>
    </pc:sldMkLst>
    <p188:txBody>
      <a:bodyPr/>
      <a:lstStyle/>
      <a:p>
        <a:r>
          <a:rPr lang="en-IN"/>
          <a:t>This slide is for Asset Management - move this to the asset management section</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793E04-A754-C025-C3FA-B5ABA58F92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8EE1C7B-EDFC-0A76-E18B-BE26EE231C1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049DCC-D95C-45DB-8082-0BB158782B0F}" type="datetimeFigureOut">
              <a:rPr lang="en-US" smtClean="0"/>
              <a:t>10/19/2024</a:t>
            </a:fld>
            <a:endParaRPr lang="en-US"/>
          </a:p>
        </p:txBody>
      </p:sp>
      <p:sp>
        <p:nvSpPr>
          <p:cNvPr id="4" name="Footer Placeholder 3">
            <a:extLst>
              <a:ext uri="{FF2B5EF4-FFF2-40B4-BE49-F238E27FC236}">
                <a16:creationId xmlns:a16="http://schemas.microsoft.com/office/drawing/2014/main" id="{807CE4DB-9CE6-5CCE-E62D-3DBBB528817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888FE3-9186-8009-CDB4-83D94E72FD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A0FF70-64D4-4540-BB6A-49EF4C375EE1}" type="slidenum">
              <a:rPr lang="en-US" smtClean="0"/>
              <a:t>‹#›</a:t>
            </a:fld>
            <a:endParaRPr lang="en-US"/>
          </a:p>
        </p:txBody>
      </p:sp>
    </p:spTree>
    <p:extLst>
      <p:ext uri="{BB962C8B-B14F-4D97-AF65-F5344CB8AC3E}">
        <p14:creationId xmlns:p14="http://schemas.microsoft.com/office/powerpoint/2010/main" val="25746952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E923AD-CCAA-493A-B487-49A711852FAE}" type="datetimeFigureOut">
              <a:rPr lang="en-US" smtClean="0"/>
              <a:t>10/19/2024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B49B-88B6-4E3C-905B-3F244E634212}" type="slidenum">
              <a:rPr lang="en-US" smtClean="0"/>
              <a:t>‹#›</a:t>
            </a:fld>
            <a:endParaRPr lang="en-US"/>
          </a:p>
        </p:txBody>
      </p:sp>
    </p:spTree>
    <p:extLst>
      <p:ext uri="{BB962C8B-B14F-4D97-AF65-F5344CB8AC3E}">
        <p14:creationId xmlns:p14="http://schemas.microsoft.com/office/powerpoint/2010/main" val="100978545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C0233-E67F-47D0-952B-DC6BCB46F1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1DB9BA-D7CF-4104-AE51-12A4C1A631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4ACAE3-0C96-465F-BE34-A26F8CBCFC99}"/>
              </a:ext>
            </a:extLst>
          </p:cNvPr>
          <p:cNvSpPr>
            <a:spLocks noGrp="1"/>
          </p:cNvSpPr>
          <p:nvPr>
            <p:ph type="dt" sz="half" idx="10"/>
          </p:nvPr>
        </p:nvSpPr>
        <p:spPr/>
        <p:txBody>
          <a:bodyPr/>
          <a:lstStyle/>
          <a:p>
            <a:fld id="{74E71709-0555-451A-BA53-37D60BCADAB5}" type="datetime1">
              <a:rPr lang="en-US" smtClean="0"/>
              <a:t>10/19/2024</a:t>
            </a:fld>
            <a:endParaRPr lang="en-US"/>
          </a:p>
        </p:txBody>
      </p:sp>
      <p:sp>
        <p:nvSpPr>
          <p:cNvPr id="5" name="Footer Placeholder 4">
            <a:extLst>
              <a:ext uri="{FF2B5EF4-FFF2-40B4-BE49-F238E27FC236}">
                <a16:creationId xmlns:a16="http://schemas.microsoft.com/office/drawing/2014/main" id="{9D75B3A1-9E5B-44EB-BBE8-4693D6F4A1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C5ED7A-0223-4E22-A73E-DF938F2AFB08}"/>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1197785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40B-81AC-47B2-A45E-06D38C6DC9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47DA0D-866C-4B4A-9205-4AC199E894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8AD619-52EC-4216-B8B0-897F8652D6C1}"/>
              </a:ext>
            </a:extLst>
          </p:cNvPr>
          <p:cNvSpPr>
            <a:spLocks noGrp="1"/>
          </p:cNvSpPr>
          <p:nvPr>
            <p:ph type="dt" sz="half" idx="10"/>
          </p:nvPr>
        </p:nvSpPr>
        <p:spPr/>
        <p:txBody>
          <a:bodyPr/>
          <a:lstStyle/>
          <a:p>
            <a:fld id="{89A46276-FC18-476D-B7CF-2521BAEFA836}" type="datetime1">
              <a:rPr lang="en-US" smtClean="0"/>
              <a:t>10/19/2024</a:t>
            </a:fld>
            <a:endParaRPr lang="en-US"/>
          </a:p>
        </p:txBody>
      </p:sp>
      <p:sp>
        <p:nvSpPr>
          <p:cNvPr id="5" name="Footer Placeholder 4">
            <a:extLst>
              <a:ext uri="{FF2B5EF4-FFF2-40B4-BE49-F238E27FC236}">
                <a16:creationId xmlns:a16="http://schemas.microsoft.com/office/drawing/2014/main" id="{9F8A0E62-6C5E-4181-8AAB-649641D20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008652-D8B2-4212-AB19-858815315F9D}"/>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3684840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5B6DF-709E-4449-AF28-239331C753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40084A-6DB4-405A-8E41-ACFA7CF5E9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053FB6-A7B0-4268-B5DF-07A3299242CF}"/>
              </a:ext>
            </a:extLst>
          </p:cNvPr>
          <p:cNvSpPr>
            <a:spLocks noGrp="1"/>
          </p:cNvSpPr>
          <p:nvPr>
            <p:ph type="dt" sz="half" idx="10"/>
          </p:nvPr>
        </p:nvSpPr>
        <p:spPr/>
        <p:txBody>
          <a:bodyPr/>
          <a:lstStyle/>
          <a:p>
            <a:fld id="{2F1802D3-1E86-4CD1-874E-EBE405AB2165}" type="datetime1">
              <a:rPr lang="en-US" smtClean="0"/>
              <a:t>10/19/2024</a:t>
            </a:fld>
            <a:endParaRPr lang="en-US"/>
          </a:p>
        </p:txBody>
      </p:sp>
      <p:sp>
        <p:nvSpPr>
          <p:cNvPr id="5" name="Footer Placeholder 4">
            <a:extLst>
              <a:ext uri="{FF2B5EF4-FFF2-40B4-BE49-F238E27FC236}">
                <a16:creationId xmlns:a16="http://schemas.microsoft.com/office/drawing/2014/main" id="{2A20C4B8-57F9-4047-B983-43EC21C5A6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F6FC13-1ED1-46C0-B91F-839D2026FE59}"/>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305872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0891-5990-484A-909B-EAD8EEE4DA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3AF979-4A82-4E38-80FC-95370211C8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FFE2BE-8514-44DA-B23A-F15BEF450D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354714-4C15-4555-8B92-7F386F35CBDB}"/>
              </a:ext>
            </a:extLst>
          </p:cNvPr>
          <p:cNvSpPr>
            <a:spLocks noGrp="1"/>
          </p:cNvSpPr>
          <p:nvPr>
            <p:ph type="dt" sz="half" idx="10"/>
          </p:nvPr>
        </p:nvSpPr>
        <p:spPr/>
        <p:txBody>
          <a:bodyPr/>
          <a:lstStyle/>
          <a:p>
            <a:fld id="{0F32C349-E928-4130-8713-2A767B1A3B0C}" type="datetime1">
              <a:rPr lang="en-US" smtClean="0"/>
              <a:t>10/19/2024</a:t>
            </a:fld>
            <a:endParaRPr lang="en-US"/>
          </a:p>
        </p:txBody>
      </p:sp>
      <p:sp>
        <p:nvSpPr>
          <p:cNvPr id="6" name="Footer Placeholder 5">
            <a:extLst>
              <a:ext uri="{FF2B5EF4-FFF2-40B4-BE49-F238E27FC236}">
                <a16:creationId xmlns:a16="http://schemas.microsoft.com/office/drawing/2014/main" id="{9E37E4C6-B26A-4016-9E62-154152DB3F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4CCF06-F36C-4844-9023-9E6F151F8E02}"/>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413641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1A1DE-8E48-4DD6-966B-DE405BB97C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63BAFF-129B-4A71-A0C4-34AFB462F0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775BB9-7988-4D89-A9D9-A863E5A4A9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128B8B-5197-4065-913B-E3D53FC467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075687-B2DA-40F7-BE0B-3B0BB3E5BC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CCD82E-CB67-469C-A24C-60AFDC7DF8A0}"/>
              </a:ext>
            </a:extLst>
          </p:cNvPr>
          <p:cNvSpPr>
            <a:spLocks noGrp="1"/>
          </p:cNvSpPr>
          <p:nvPr>
            <p:ph type="dt" sz="half" idx="10"/>
          </p:nvPr>
        </p:nvSpPr>
        <p:spPr/>
        <p:txBody>
          <a:bodyPr/>
          <a:lstStyle/>
          <a:p>
            <a:fld id="{F8BFB756-219B-4C7A-A501-42A8C303F4AC}" type="datetime1">
              <a:rPr lang="en-US" smtClean="0"/>
              <a:t>10/19/2024</a:t>
            </a:fld>
            <a:endParaRPr lang="en-US"/>
          </a:p>
        </p:txBody>
      </p:sp>
      <p:sp>
        <p:nvSpPr>
          <p:cNvPr id="8" name="Footer Placeholder 7">
            <a:extLst>
              <a:ext uri="{FF2B5EF4-FFF2-40B4-BE49-F238E27FC236}">
                <a16:creationId xmlns:a16="http://schemas.microsoft.com/office/drawing/2014/main" id="{57123BB4-9175-47D5-9D39-2A11351EE0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3A399E-8B3D-47E4-A66F-5B2D84608598}"/>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2149602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29214-71DF-4469-A073-8C44935B07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5167F9-7526-4911-BE04-083972D25E09}"/>
              </a:ext>
            </a:extLst>
          </p:cNvPr>
          <p:cNvSpPr>
            <a:spLocks noGrp="1"/>
          </p:cNvSpPr>
          <p:nvPr>
            <p:ph type="dt" sz="half" idx="10"/>
          </p:nvPr>
        </p:nvSpPr>
        <p:spPr/>
        <p:txBody>
          <a:bodyPr/>
          <a:lstStyle/>
          <a:p>
            <a:fld id="{76F38AD7-C5A2-407A-8F35-02692422A57F}" type="datetime1">
              <a:rPr lang="en-US" smtClean="0"/>
              <a:t>10/19/2024</a:t>
            </a:fld>
            <a:endParaRPr lang="en-US"/>
          </a:p>
        </p:txBody>
      </p:sp>
      <p:sp>
        <p:nvSpPr>
          <p:cNvPr id="4" name="Footer Placeholder 3">
            <a:extLst>
              <a:ext uri="{FF2B5EF4-FFF2-40B4-BE49-F238E27FC236}">
                <a16:creationId xmlns:a16="http://schemas.microsoft.com/office/drawing/2014/main" id="{8A72552F-6966-42FB-B036-8F40298C20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90C19F-AFE8-4E4E-9663-44FD299E308B}"/>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4036605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A1620E33-BB4A-41A5-91F5-6F7DC68A8AB7}"/>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Deloitte Service Offerings</a:t>
            </a:r>
          </a:p>
        </p:txBody>
      </p:sp>
      <p:sp>
        <p:nvSpPr>
          <p:cNvPr id="6" name="Rectangle 5">
            <a:extLst>
              <a:ext uri="{FF2B5EF4-FFF2-40B4-BE49-F238E27FC236}">
                <a16:creationId xmlns:a16="http://schemas.microsoft.com/office/drawing/2014/main" id="{2E77BB0E-7999-4B6D-A4EB-64C99E666BD6}"/>
              </a:ext>
            </a:extLst>
          </p:cNvPr>
          <p:cNvSpPr/>
          <p:nvPr userDrawn="1"/>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
        <p:nvSpPr>
          <p:cNvPr id="7" name="Copyright">
            <a:extLst>
              <a:ext uri="{FF2B5EF4-FFF2-40B4-BE49-F238E27FC236}">
                <a16:creationId xmlns:a16="http://schemas.microsoft.com/office/drawing/2014/main" id="{00E1E1AE-045D-4FE6-A16F-71C9F25C5F34}"/>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2024 Deloitte Touche Tohmatsu India LLP. </a:t>
            </a:r>
          </a:p>
        </p:txBody>
      </p:sp>
    </p:spTree>
    <p:extLst>
      <p:ext uri="{BB962C8B-B14F-4D97-AF65-F5344CB8AC3E}">
        <p14:creationId xmlns:p14="http://schemas.microsoft.com/office/powerpoint/2010/main" val="1161866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23C84-EB37-49C7-BD6A-38AA2562BB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722E98-A29C-4D42-B0AF-21BC16E50F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2C8BBC-B895-44E0-8D8B-75D72B33A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A3094B-6FCF-4C4D-93CF-4E6393D13CA0}"/>
              </a:ext>
            </a:extLst>
          </p:cNvPr>
          <p:cNvSpPr>
            <a:spLocks noGrp="1"/>
          </p:cNvSpPr>
          <p:nvPr>
            <p:ph type="dt" sz="half" idx="10"/>
          </p:nvPr>
        </p:nvSpPr>
        <p:spPr/>
        <p:txBody>
          <a:bodyPr/>
          <a:lstStyle/>
          <a:p>
            <a:fld id="{2317C7F8-620B-4BA7-B720-A0CB827F9053}" type="datetime1">
              <a:rPr lang="en-US" smtClean="0"/>
              <a:t>10/19/2024</a:t>
            </a:fld>
            <a:endParaRPr lang="en-US"/>
          </a:p>
        </p:txBody>
      </p:sp>
      <p:sp>
        <p:nvSpPr>
          <p:cNvPr id="6" name="Footer Placeholder 5">
            <a:extLst>
              <a:ext uri="{FF2B5EF4-FFF2-40B4-BE49-F238E27FC236}">
                <a16:creationId xmlns:a16="http://schemas.microsoft.com/office/drawing/2014/main" id="{2DA3B788-F4DD-4DCD-9157-9A04A468EB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47151E-AEAF-47A2-96BB-4DF7067FB2DE}"/>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4213743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11AF4-1DF4-4A3E-8AB3-3DB61B983A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E4F21E-C983-4A58-9D8E-DE61C79B3E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E204D8-8AE1-40C5-9950-937569604B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E67B2-ED72-4D1D-8CB6-02CB75CB1B77}"/>
              </a:ext>
            </a:extLst>
          </p:cNvPr>
          <p:cNvSpPr>
            <a:spLocks noGrp="1"/>
          </p:cNvSpPr>
          <p:nvPr>
            <p:ph type="dt" sz="half" idx="10"/>
          </p:nvPr>
        </p:nvSpPr>
        <p:spPr/>
        <p:txBody>
          <a:bodyPr/>
          <a:lstStyle/>
          <a:p>
            <a:fld id="{91181B07-791A-4EF6-A098-4EDF94C0A9E4}" type="datetime1">
              <a:rPr lang="en-US" smtClean="0"/>
              <a:t>10/19/2024</a:t>
            </a:fld>
            <a:endParaRPr lang="en-US"/>
          </a:p>
        </p:txBody>
      </p:sp>
      <p:sp>
        <p:nvSpPr>
          <p:cNvPr id="6" name="Footer Placeholder 5">
            <a:extLst>
              <a:ext uri="{FF2B5EF4-FFF2-40B4-BE49-F238E27FC236}">
                <a16:creationId xmlns:a16="http://schemas.microsoft.com/office/drawing/2014/main" id="{72BA10EC-BF55-42B7-AA4F-D907781048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5680B0-1D60-47DA-B0E9-1FEE73F3043E}"/>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2222232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9E5FE-0EDD-4D21-BE5A-56E7B58D0A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14EE93-F04B-4BF9-A63E-32C6D449D9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D8C37F-9895-4294-851C-A8DD96FE510A}"/>
              </a:ext>
            </a:extLst>
          </p:cNvPr>
          <p:cNvSpPr>
            <a:spLocks noGrp="1"/>
          </p:cNvSpPr>
          <p:nvPr>
            <p:ph type="dt" sz="half" idx="10"/>
          </p:nvPr>
        </p:nvSpPr>
        <p:spPr/>
        <p:txBody>
          <a:bodyPr/>
          <a:lstStyle/>
          <a:p>
            <a:fld id="{EA5993D7-0A45-4A31-9DB7-179FD740B00B}" type="datetime1">
              <a:rPr lang="en-US" smtClean="0"/>
              <a:t>10/19/2024</a:t>
            </a:fld>
            <a:endParaRPr lang="en-US"/>
          </a:p>
        </p:txBody>
      </p:sp>
      <p:sp>
        <p:nvSpPr>
          <p:cNvPr id="5" name="Footer Placeholder 4">
            <a:extLst>
              <a:ext uri="{FF2B5EF4-FFF2-40B4-BE49-F238E27FC236}">
                <a16:creationId xmlns:a16="http://schemas.microsoft.com/office/drawing/2014/main" id="{ADA959D7-96F1-43F8-A57B-62F3F7BA72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F489-7A66-4131-9551-B4F4BACF13F7}"/>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3441516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AD0E11-0C5A-480E-8EE8-848617A2C6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D77EED-6915-4434-B1E9-962B18E3B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754C6D-5B34-4D7B-AA0F-B82A9BD584AC}"/>
              </a:ext>
            </a:extLst>
          </p:cNvPr>
          <p:cNvSpPr>
            <a:spLocks noGrp="1"/>
          </p:cNvSpPr>
          <p:nvPr>
            <p:ph type="dt" sz="half" idx="10"/>
          </p:nvPr>
        </p:nvSpPr>
        <p:spPr/>
        <p:txBody>
          <a:bodyPr/>
          <a:lstStyle/>
          <a:p>
            <a:fld id="{97A29EFC-9B7C-4833-BC14-1DF0D18A941E}" type="datetime1">
              <a:rPr lang="en-US" smtClean="0"/>
              <a:t>10/19/2024</a:t>
            </a:fld>
            <a:endParaRPr lang="en-US"/>
          </a:p>
        </p:txBody>
      </p:sp>
      <p:sp>
        <p:nvSpPr>
          <p:cNvPr id="5" name="Footer Placeholder 4">
            <a:extLst>
              <a:ext uri="{FF2B5EF4-FFF2-40B4-BE49-F238E27FC236}">
                <a16:creationId xmlns:a16="http://schemas.microsoft.com/office/drawing/2014/main" id="{DBEFFC4F-C803-4A65-878D-72F681A9EB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2D402-F40C-4487-B1A5-E30FC2165A7F}"/>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2702623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Copyright">
            <a:extLst>
              <a:ext uri="{FF2B5EF4-FFF2-40B4-BE49-F238E27FC236}">
                <a16:creationId xmlns:a16="http://schemas.microsoft.com/office/drawing/2014/main" id="{EA23221B-C54C-4673-8B7A-CDC512234C26}"/>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2024 Deloitte Touche Tohmatsu India LLP. </a:t>
            </a:r>
          </a:p>
        </p:txBody>
      </p:sp>
      <p:sp>
        <p:nvSpPr>
          <p:cNvPr id="6" name="CaseCode">
            <a:extLst>
              <a:ext uri="{FF2B5EF4-FFF2-40B4-BE49-F238E27FC236}">
                <a16:creationId xmlns:a16="http://schemas.microsoft.com/office/drawing/2014/main" id="{E06D6C12-DE40-4A7B-85B5-0661A2180A67}"/>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Deloitte Service Offerings</a:t>
            </a:r>
          </a:p>
        </p:txBody>
      </p:sp>
      <p:sp>
        <p:nvSpPr>
          <p:cNvPr id="10" name="Rectangle 9">
            <a:extLst>
              <a:ext uri="{FF2B5EF4-FFF2-40B4-BE49-F238E27FC236}">
                <a16:creationId xmlns:a16="http://schemas.microsoft.com/office/drawing/2014/main" id="{428F51ED-2E27-4A5F-8C10-1640318CA057}"/>
              </a:ext>
            </a:extLst>
          </p:cNvPr>
          <p:cNvSpPr/>
          <p:nvPr userDrawn="1"/>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333149695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able of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699" b="0">
                <a:latin typeface="+mj-lt"/>
              </a:defRPr>
            </a:lvl1pPr>
          </a:lstStyle>
          <a:p>
            <a:r>
              <a:rPr lang="en-US" dirty="0"/>
              <a:t>Click to edit Master title style</a:t>
            </a:r>
            <a:endParaRPr lang="en-GB" dirty="0"/>
          </a:p>
        </p:txBody>
      </p:sp>
      <p:sp>
        <p:nvSpPr>
          <p:cNvPr id="3" name="Copyright">
            <a:extLst>
              <a:ext uri="{FF2B5EF4-FFF2-40B4-BE49-F238E27FC236}">
                <a16:creationId xmlns:a16="http://schemas.microsoft.com/office/drawing/2014/main" id="{97AB8AE4-9BBD-4307-90B1-59C655566151}"/>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2024 Deloitte Touche Tohmatsu India LLP. </a:t>
            </a:r>
          </a:p>
        </p:txBody>
      </p:sp>
      <p:sp>
        <p:nvSpPr>
          <p:cNvPr id="4" name="CaseCode">
            <a:extLst>
              <a:ext uri="{FF2B5EF4-FFF2-40B4-BE49-F238E27FC236}">
                <a16:creationId xmlns:a16="http://schemas.microsoft.com/office/drawing/2014/main" id="{0BF1471C-DF7D-46FD-AB8F-AE0F12F7EC07}"/>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Deloitte Service Offerings</a:t>
            </a:r>
          </a:p>
        </p:txBody>
      </p:sp>
      <p:sp>
        <p:nvSpPr>
          <p:cNvPr id="5" name="Rectangle 4">
            <a:extLst>
              <a:ext uri="{FF2B5EF4-FFF2-40B4-BE49-F238E27FC236}">
                <a16:creationId xmlns:a16="http://schemas.microsoft.com/office/drawing/2014/main" id="{1CFEE3E7-387C-4BFE-85D0-C9BEE958E501}"/>
              </a:ext>
            </a:extLst>
          </p:cNvPr>
          <p:cNvSpPr/>
          <p:nvPr userDrawn="1"/>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4196389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tx1"/>
        </a:solidFill>
        <a:effectLst/>
      </p:bgPr>
    </p:bg>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82878BD9-A6B3-4C18-B87C-BA2D9990507D}"/>
              </a:ext>
            </a:extLst>
          </p:cNvPr>
          <p:cNvGraphicFramePr>
            <a:graphicFrameLocks noChangeAspect="1"/>
          </p:cNvGraphicFramePr>
          <p:nvPr userDrawn="1">
            <p:custDataLst>
              <p:tags r:id="rId1"/>
            </p:custDataLst>
            <p:extLst>
              <p:ext uri="{D42A27DB-BD31-4B8C-83A1-F6EECF244321}">
                <p14:modId xmlns:p14="http://schemas.microsoft.com/office/powerpoint/2010/main" val="3767101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1" name="Object 10" hidden="1">
                        <a:extLst>
                          <a:ext uri="{FF2B5EF4-FFF2-40B4-BE49-F238E27FC236}">
                            <a16:creationId xmlns:a16="http://schemas.microsoft.com/office/drawing/2014/main" id="{82878BD9-A6B3-4C18-B87C-BA2D999050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A64ACAE3-0C96-465F-BE34-A26F8CBCFC99}"/>
              </a:ext>
            </a:extLst>
          </p:cNvPr>
          <p:cNvSpPr>
            <a:spLocks noGrp="1"/>
          </p:cNvSpPr>
          <p:nvPr>
            <p:ph type="dt" sz="half" idx="10"/>
          </p:nvPr>
        </p:nvSpPr>
        <p:spPr/>
        <p:txBody>
          <a:bodyPr/>
          <a:lstStyle/>
          <a:p>
            <a:fld id="{2331CF8F-8203-4586-9706-32306E62301F}" type="datetime1">
              <a:rPr lang="en-US" smtClean="0"/>
              <a:t>10/19/2024</a:t>
            </a:fld>
            <a:endParaRPr lang="en-US"/>
          </a:p>
        </p:txBody>
      </p:sp>
      <p:sp>
        <p:nvSpPr>
          <p:cNvPr id="5" name="Footer Placeholder 4">
            <a:extLst>
              <a:ext uri="{FF2B5EF4-FFF2-40B4-BE49-F238E27FC236}">
                <a16:creationId xmlns:a16="http://schemas.microsoft.com/office/drawing/2014/main" id="{9D75B3A1-9E5B-44EB-BBE8-4693D6F4A1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C5ED7A-0223-4E22-A73E-DF938F2AFB08}"/>
              </a:ext>
            </a:extLst>
          </p:cNvPr>
          <p:cNvSpPr>
            <a:spLocks noGrp="1"/>
          </p:cNvSpPr>
          <p:nvPr>
            <p:ph type="sldNum" sz="quarter" idx="12"/>
          </p:nvPr>
        </p:nvSpPr>
        <p:spPr/>
        <p:txBody>
          <a:bodyPr/>
          <a:lstStyle/>
          <a:p>
            <a:fld id="{6166F0F3-5F3E-49A1-A046-A5C3BF55B0FA}" type="slidenum">
              <a:rPr lang="en-US" smtClean="0"/>
              <a:t>‹#›</a:t>
            </a:fld>
            <a:endParaRPr lang="en-US"/>
          </a:p>
        </p:txBody>
      </p:sp>
      <p:pic>
        <p:nvPicPr>
          <p:cNvPr id="13" name="Picture 12" descr="A picture containing text, electronics, circuit&#10;&#10;Description automatically generated">
            <a:extLst>
              <a:ext uri="{FF2B5EF4-FFF2-40B4-BE49-F238E27FC236}">
                <a16:creationId xmlns:a16="http://schemas.microsoft.com/office/drawing/2014/main" id="{EA692C59-977D-40F4-AA6A-A37BE0EE831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137293" y="605010"/>
            <a:ext cx="3917414" cy="3917414"/>
          </a:xfrm>
          <a:prstGeom prst="rect">
            <a:avLst/>
          </a:prstGeom>
        </p:spPr>
      </p:pic>
    </p:spTree>
    <p:extLst>
      <p:ext uri="{BB962C8B-B14F-4D97-AF65-F5344CB8AC3E}">
        <p14:creationId xmlns:p14="http://schemas.microsoft.com/office/powerpoint/2010/main" val="3754538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Section Header">
    <p:bg>
      <p:bgRef idx="1002">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4C6120D-F7C8-4E63-800D-8D7344860D22}"/>
              </a:ext>
            </a:extLst>
          </p:cNvPr>
          <p:cNvGraphicFramePr>
            <a:graphicFrameLocks noChangeAspect="1"/>
          </p:cNvGraphicFramePr>
          <p:nvPr userDrawn="1">
            <p:custDataLst>
              <p:tags r:id="rId1"/>
            </p:custDataLst>
            <p:extLst>
              <p:ext uri="{D42A27DB-BD31-4B8C-83A1-F6EECF244321}">
                <p14:modId xmlns:p14="http://schemas.microsoft.com/office/powerpoint/2010/main" val="34375644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Object 6" hidden="1">
                        <a:extLst>
                          <a:ext uri="{FF2B5EF4-FFF2-40B4-BE49-F238E27FC236}">
                            <a16:creationId xmlns:a16="http://schemas.microsoft.com/office/drawing/2014/main" id="{04C6120D-F7C8-4E63-800D-8D7344860D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Copyright">
            <a:extLst>
              <a:ext uri="{FF2B5EF4-FFF2-40B4-BE49-F238E27FC236}">
                <a16:creationId xmlns:a16="http://schemas.microsoft.com/office/drawing/2014/main" id="{B8088816-5053-40D5-8F87-2225FCE8B1B4}"/>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2024 Deloitte Touche Tohmatsu India LLP. </a:t>
            </a:r>
          </a:p>
        </p:txBody>
      </p:sp>
      <p:sp>
        <p:nvSpPr>
          <p:cNvPr id="11" name="CaseCode">
            <a:extLst>
              <a:ext uri="{FF2B5EF4-FFF2-40B4-BE49-F238E27FC236}">
                <a16:creationId xmlns:a16="http://schemas.microsoft.com/office/drawing/2014/main" id="{BE8076CF-6C46-46D8-9597-2BBCE30A69CA}"/>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Deloitte Service Offerings</a:t>
            </a:r>
          </a:p>
        </p:txBody>
      </p:sp>
      <p:sp>
        <p:nvSpPr>
          <p:cNvPr id="12" name="Rectangle 11">
            <a:extLst>
              <a:ext uri="{FF2B5EF4-FFF2-40B4-BE49-F238E27FC236}">
                <a16:creationId xmlns:a16="http://schemas.microsoft.com/office/drawing/2014/main" id="{535AF5B7-6996-4950-BEFC-58FC0B71E148}"/>
              </a:ext>
            </a:extLst>
          </p:cNvPr>
          <p:cNvSpPr/>
          <p:nvPr userDrawn="1"/>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solidFill>
                <a:schemeClr val="tx1"/>
              </a:solidFill>
            </a:endParaRPr>
          </a:p>
        </p:txBody>
      </p:sp>
    </p:spTree>
    <p:extLst>
      <p:ext uri="{BB962C8B-B14F-4D97-AF65-F5344CB8AC3E}">
        <p14:creationId xmlns:p14="http://schemas.microsoft.com/office/powerpoint/2010/main" val="1678424898"/>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空白">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669115-3258-2840-90D8-5DE7535D3574}"/>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6379094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05175559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grpSp>
        <p:nvGrpSpPr>
          <p:cNvPr id="30" name="Group 29">
            <a:extLst>
              <a:ext uri="{FF2B5EF4-FFF2-40B4-BE49-F238E27FC236}">
                <a16:creationId xmlns:a16="http://schemas.microsoft.com/office/drawing/2014/main" id="{55EEA3F2-C909-4275-956A-5518D341D424}"/>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619F8D2D-E0FF-4267-BB4C-23E0F19AA0F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0BDA8F6-D1EC-4590-8515-7F2E0D9EE11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8E570DBD-3EC7-4EE8-886A-A6498BEC37F4}"/>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B1656288-29CD-4B95-A46B-7B8DA786095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C3894AF9-2B03-4231-9AEA-EC49F5E194E0}"/>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F1C43784-6F73-4D9F-8497-B40FDBB854E4}"/>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E031C0BD-B701-4255-B53D-1A0FB806633C}"/>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1F07466D-8C2C-4286-9984-9193301353E7}"/>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F2700776-9B5A-4A2C-BA8E-E8C5B03A090F}"/>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2" name="Freeform 14">
              <a:extLst>
                <a:ext uri="{FF2B5EF4-FFF2-40B4-BE49-F238E27FC236}">
                  <a16:creationId xmlns:a16="http://schemas.microsoft.com/office/drawing/2014/main" id="{1D768AB6-AEBA-4689-BCE3-70447F634D0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00136638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47500479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4">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8000" y="1705670"/>
            <a:ext cx="10514651" cy="1592403"/>
          </a:xfr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8000" y="3429000"/>
            <a:ext cx="10517717" cy="1566532"/>
          </a:xfrm>
        </p:spPr>
        <p:txBody>
          <a:bodyPr lIns="0" tIns="0" rIns="0" bIns="0">
            <a:noAutofit/>
          </a:bodyPr>
          <a:lstStyle>
            <a:lvl1pPr marL="0" indent="0">
              <a:lnSpc>
                <a:spcPct val="95000"/>
              </a:lnSpc>
              <a:spcAft>
                <a:spcPts val="0"/>
              </a:spcAft>
              <a:buNone/>
              <a:defRPr sz="3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68623279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21154146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7746826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63857377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55132122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5719600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74571027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24308037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16763018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 Black">
    <p:bg>
      <p:bgPr>
        <a:solidFill>
          <a:schemeClr val="tx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solidFill>
                  <a:schemeClr val="bg1"/>
                </a:solidFill>
                <a:latin typeface="+mj-lt"/>
              </a:defRPr>
            </a:lvl1pPr>
          </a:lstStyle>
          <a:p>
            <a:r>
              <a:rPr lang="en-US" dirty="0"/>
              <a:t>Click to add title</a:t>
            </a:r>
          </a:p>
        </p:txBody>
      </p:sp>
      <p:sp>
        <p:nvSpPr>
          <p:cNvPr id="3" name="CaseCode">
            <a:extLst>
              <a:ext uri="{FF2B5EF4-FFF2-40B4-BE49-F238E27FC236}">
                <a16:creationId xmlns:a16="http://schemas.microsoft.com/office/drawing/2014/main" id="{4D067F15-7090-4FD4-8B55-76CB78DD9BD0}"/>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A13EFA35-A937-47F7-93E5-9465F8876AC6}"/>
              </a:ext>
            </a:extLst>
          </p:cNvPr>
          <p:cNvSpPr txBox="1"/>
          <p:nvPr userDrawn="1"/>
        </p:nvSpPr>
        <p:spPr>
          <a:xfrm>
            <a:off x="501649" y="6477001"/>
            <a:ext cx="5355168" cy="2769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D39B4359-4F20-4FAE-B7A0-C54983A639ED}"/>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215112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638289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29EE4-D680-8B9D-93CA-853DF4F4EC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BF1D97-BE46-196F-26DD-FE4DEFC28D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2E17CE-C903-A7EA-41AD-4C71CEF438F2}"/>
              </a:ext>
            </a:extLst>
          </p:cNvPr>
          <p:cNvSpPr>
            <a:spLocks noGrp="1"/>
          </p:cNvSpPr>
          <p:nvPr>
            <p:ph type="dt" sz="half" idx="10"/>
          </p:nvPr>
        </p:nvSpPr>
        <p:spPr/>
        <p:txBody>
          <a:bodyPr/>
          <a:lstStyle/>
          <a:p>
            <a:fld id="{340335D5-CCDA-4958-88AF-4F9DBC50B0F3}" type="datetime1">
              <a:rPr lang="en-US" smtClean="0"/>
              <a:t>10/19/2024</a:t>
            </a:fld>
            <a:endParaRPr lang="en-US"/>
          </a:p>
        </p:txBody>
      </p:sp>
      <p:sp>
        <p:nvSpPr>
          <p:cNvPr id="5" name="Footer Placeholder 4">
            <a:extLst>
              <a:ext uri="{FF2B5EF4-FFF2-40B4-BE49-F238E27FC236}">
                <a16:creationId xmlns:a16="http://schemas.microsoft.com/office/drawing/2014/main" id="{9C73690A-A48D-A98B-9FA9-EA68E9725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DA6571-108E-1FDD-9146-02A3EF9B5602}"/>
              </a:ext>
            </a:extLst>
          </p:cNvPr>
          <p:cNvSpPr>
            <a:spLocks noGrp="1"/>
          </p:cNvSpPr>
          <p:nvPr>
            <p:ph type="sldNum" sz="quarter" idx="12"/>
          </p:nvPr>
        </p:nvSpPr>
        <p:spPr/>
        <p:txBody>
          <a:bodyPr/>
          <a:lstStyle/>
          <a:p>
            <a:fld id="{C39AF414-5F22-4EA9-BD10-12E969EEBC6F}" type="slidenum">
              <a:rPr lang="en-US" smtClean="0"/>
              <a:t>‹#›</a:t>
            </a:fld>
            <a:endParaRPr lang="en-US"/>
          </a:p>
        </p:txBody>
      </p:sp>
    </p:spTree>
    <p:extLst>
      <p:ext uri="{BB962C8B-B14F-4D97-AF65-F5344CB8AC3E}">
        <p14:creationId xmlns:p14="http://schemas.microsoft.com/office/powerpoint/2010/main" val="24011862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C0233-E67F-47D0-952B-DC6BCB46F1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1DB9BA-D7CF-4104-AE51-12A4C1A631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4ACAE3-0C96-465F-BE34-A26F8CBCFC99}"/>
              </a:ext>
            </a:extLst>
          </p:cNvPr>
          <p:cNvSpPr>
            <a:spLocks noGrp="1"/>
          </p:cNvSpPr>
          <p:nvPr>
            <p:ph type="dt" sz="half" idx="10"/>
          </p:nvPr>
        </p:nvSpPr>
        <p:spPr/>
        <p:txBody>
          <a:bodyPr/>
          <a:lstStyle/>
          <a:p>
            <a:fld id="{550A0D2A-6578-4E62-B08C-95AA3B2D4DC1}" type="datetime1">
              <a:rPr lang="en-US" smtClean="0"/>
              <a:t>10/19/2024</a:t>
            </a:fld>
            <a:endParaRPr lang="en-US"/>
          </a:p>
        </p:txBody>
      </p:sp>
      <p:sp>
        <p:nvSpPr>
          <p:cNvPr id="5" name="Footer Placeholder 4">
            <a:extLst>
              <a:ext uri="{FF2B5EF4-FFF2-40B4-BE49-F238E27FC236}">
                <a16:creationId xmlns:a16="http://schemas.microsoft.com/office/drawing/2014/main" id="{9D75B3A1-9E5B-44EB-BBE8-4693D6F4A1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C5ED7A-0223-4E22-A73E-DF938F2AFB08}"/>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191173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40B-81AC-47B2-A45E-06D38C6DC9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47DA0D-866C-4B4A-9205-4AC199E894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8AD619-52EC-4216-B8B0-897F8652D6C1}"/>
              </a:ext>
            </a:extLst>
          </p:cNvPr>
          <p:cNvSpPr>
            <a:spLocks noGrp="1"/>
          </p:cNvSpPr>
          <p:nvPr>
            <p:ph type="dt" sz="half" idx="10"/>
          </p:nvPr>
        </p:nvSpPr>
        <p:spPr/>
        <p:txBody>
          <a:bodyPr/>
          <a:lstStyle/>
          <a:p>
            <a:fld id="{10ABE5A3-BF81-4D6D-AFA7-4FFF53801934}" type="datetime1">
              <a:rPr lang="en-US" smtClean="0"/>
              <a:t>10/19/2024</a:t>
            </a:fld>
            <a:endParaRPr lang="en-US"/>
          </a:p>
        </p:txBody>
      </p:sp>
      <p:sp>
        <p:nvSpPr>
          <p:cNvPr id="5" name="Footer Placeholder 4">
            <a:extLst>
              <a:ext uri="{FF2B5EF4-FFF2-40B4-BE49-F238E27FC236}">
                <a16:creationId xmlns:a16="http://schemas.microsoft.com/office/drawing/2014/main" id="{9F8A0E62-6C5E-4181-8AAB-649641D20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008652-D8B2-4212-AB19-858815315F9D}"/>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3148703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5B6DF-709E-4449-AF28-239331C753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40084A-6DB4-405A-8E41-ACFA7CF5E9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053FB6-A7B0-4268-B5DF-07A3299242CF}"/>
              </a:ext>
            </a:extLst>
          </p:cNvPr>
          <p:cNvSpPr>
            <a:spLocks noGrp="1"/>
          </p:cNvSpPr>
          <p:nvPr>
            <p:ph type="dt" sz="half" idx="10"/>
          </p:nvPr>
        </p:nvSpPr>
        <p:spPr/>
        <p:txBody>
          <a:bodyPr/>
          <a:lstStyle/>
          <a:p>
            <a:fld id="{A858027C-0A20-464F-B12C-D85AD1EC3C24}" type="datetime1">
              <a:rPr lang="en-US" smtClean="0"/>
              <a:t>10/19/2024</a:t>
            </a:fld>
            <a:endParaRPr lang="en-US"/>
          </a:p>
        </p:txBody>
      </p:sp>
      <p:sp>
        <p:nvSpPr>
          <p:cNvPr id="5" name="Footer Placeholder 4">
            <a:extLst>
              <a:ext uri="{FF2B5EF4-FFF2-40B4-BE49-F238E27FC236}">
                <a16:creationId xmlns:a16="http://schemas.microsoft.com/office/drawing/2014/main" id="{2A20C4B8-57F9-4047-B983-43EC21C5A6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F6FC13-1ED1-46C0-B91F-839D2026FE59}"/>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23917929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0891-5990-484A-909B-EAD8EEE4DA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3AF979-4A82-4E38-80FC-95370211C8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FFE2BE-8514-44DA-B23A-F15BEF450D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354714-4C15-4555-8B92-7F386F35CBDB}"/>
              </a:ext>
            </a:extLst>
          </p:cNvPr>
          <p:cNvSpPr>
            <a:spLocks noGrp="1"/>
          </p:cNvSpPr>
          <p:nvPr>
            <p:ph type="dt" sz="half" idx="10"/>
          </p:nvPr>
        </p:nvSpPr>
        <p:spPr/>
        <p:txBody>
          <a:bodyPr/>
          <a:lstStyle/>
          <a:p>
            <a:fld id="{CE55900B-5FA1-4D88-B2D6-5F8D11B7BA4A}" type="datetime1">
              <a:rPr lang="en-US" smtClean="0"/>
              <a:t>10/19/2024</a:t>
            </a:fld>
            <a:endParaRPr lang="en-US"/>
          </a:p>
        </p:txBody>
      </p:sp>
      <p:sp>
        <p:nvSpPr>
          <p:cNvPr id="6" name="Footer Placeholder 5">
            <a:extLst>
              <a:ext uri="{FF2B5EF4-FFF2-40B4-BE49-F238E27FC236}">
                <a16:creationId xmlns:a16="http://schemas.microsoft.com/office/drawing/2014/main" id="{9E37E4C6-B26A-4016-9E62-154152DB3F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4CCF06-F36C-4844-9023-9E6F151F8E02}"/>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18586523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1A1DE-8E48-4DD6-966B-DE405BB97C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63BAFF-129B-4A71-A0C4-34AFB462F0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775BB9-7988-4D89-A9D9-A863E5A4A9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128B8B-5197-4065-913B-E3D53FC467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075687-B2DA-40F7-BE0B-3B0BB3E5BC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CCD82E-CB67-469C-A24C-60AFDC7DF8A0}"/>
              </a:ext>
            </a:extLst>
          </p:cNvPr>
          <p:cNvSpPr>
            <a:spLocks noGrp="1"/>
          </p:cNvSpPr>
          <p:nvPr>
            <p:ph type="dt" sz="half" idx="10"/>
          </p:nvPr>
        </p:nvSpPr>
        <p:spPr/>
        <p:txBody>
          <a:bodyPr/>
          <a:lstStyle/>
          <a:p>
            <a:fld id="{EC399496-3EC7-46DE-8EB3-8BFFCD43E69B}" type="datetime1">
              <a:rPr lang="en-US" smtClean="0"/>
              <a:t>10/19/2024</a:t>
            </a:fld>
            <a:endParaRPr lang="en-US"/>
          </a:p>
        </p:txBody>
      </p:sp>
      <p:sp>
        <p:nvSpPr>
          <p:cNvPr id="8" name="Footer Placeholder 7">
            <a:extLst>
              <a:ext uri="{FF2B5EF4-FFF2-40B4-BE49-F238E27FC236}">
                <a16:creationId xmlns:a16="http://schemas.microsoft.com/office/drawing/2014/main" id="{57123BB4-9175-47D5-9D39-2A11351EE0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3A399E-8B3D-47E4-A66F-5B2D84608598}"/>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19550076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29214-71DF-4469-A073-8C44935B07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5167F9-7526-4911-BE04-083972D25E09}"/>
              </a:ext>
            </a:extLst>
          </p:cNvPr>
          <p:cNvSpPr>
            <a:spLocks noGrp="1"/>
          </p:cNvSpPr>
          <p:nvPr>
            <p:ph type="dt" sz="half" idx="10"/>
          </p:nvPr>
        </p:nvSpPr>
        <p:spPr/>
        <p:txBody>
          <a:bodyPr/>
          <a:lstStyle/>
          <a:p>
            <a:fld id="{B23AF8EE-F263-4AB6-8E33-392C6FA90EB8}" type="datetime1">
              <a:rPr lang="en-US" smtClean="0"/>
              <a:t>10/19/2024</a:t>
            </a:fld>
            <a:endParaRPr lang="en-US"/>
          </a:p>
        </p:txBody>
      </p:sp>
      <p:sp>
        <p:nvSpPr>
          <p:cNvPr id="4" name="Footer Placeholder 3">
            <a:extLst>
              <a:ext uri="{FF2B5EF4-FFF2-40B4-BE49-F238E27FC236}">
                <a16:creationId xmlns:a16="http://schemas.microsoft.com/office/drawing/2014/main" id="{8A72552F-6966-42FB-B036-8F40298C20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90C19F-AFE8-4E4E-9663-44FD299E308B}"/>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10273330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A1620E33-BB4A-41A5-91F5-6F7DC68A8AB7}"/>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Deloitte Service Offerings</a:t>
            </a:r>
          </a:p>
        </p:txBody>
      </p:sp>
      <p:sp>
        <p:nvSpPr>
          <p:cNvPr id="6" name="Rectangle 5">
            <a:extLst>
              <a:ext uri="{FF2B5EF4-FFF2-40B4-BE49-F238E27FC236}">
                <a16:creationId xmlns:a16="http://schemas.microsoft.com/office/drawing/2014/main" id="{2E77BB0E-7999-4B6D-A4EB-64C99E666BD6}"/>
              </a:ext>
            </a:extLst>
          </p:cNvPr>
          <p:cNvSpPr/>
          <p:nvPr userDrawn="1"/>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
        <p:nvSpPr>
          <p:cNvPr id="7" name="Copyright">
            <a:extLst>
              <a:ext uri="{FF2B5EF4-FFF2-40B4-BE49-F238E27FC236}">
                <a16:creationId xmlns:a16="http://schemas.microsoft.com/office/drawing/2014/main" id="{00E1E1AE-045D-4FE6-A16F-71C9F25C5F34}"/>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2024 Deloitte Touche Tohmatsu India LLP. </a:t>
            </a:r>
          </a:p>
        </p:txBody>
      </p:sp>
    </p:spTree>
    <p:extLst>
      <p:ext uri="{BB962C8B-B14F-4D97-AF65-F5344CB8AC3E}">
        <p14:creationId xmlns:p14="http://schemas.microsoft.com/office/powerpoint/2010/main" val="9930612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23C84-EB37-49C7-BD6A-38AA2562BB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722E98-A29C-4D42-B0AF-21BC16E50F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2C8BBC-B895-44E0-8D8B-75D72B33A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A3094B-6FCF-4C4D-93CF-4E6393D13CA0}"/>
              </a:ext>
            </a:extLst>
          </p:cNvPr>
          <p:cNvSpPr>
            <a:spLocks noGrp="1"/>
          </p:cNvSpPr>
          <p:nvPr>
            <p:ph type="dt" sz="half" idx="10"/>
          </p:nvPr>
        </p:nvSpPr>
        <p:spPr/>
        <p:txBody>
          <a:bodyPr/>
          <a:lstStyle/>
          <a:p>
            <a:fld id="{6D5C2862-0468-4776-9FBF-F15887A23598}" type="datetime1">
              <a:rPr lang="en-US" smtClean="0"/>
              <a:t>10/19/2024</a:t>
            </a:fld>
            <a:endParaRPr lang="en-US"/>
          </a:p>
        </p:txBody>
      </p:sp>
      <p:sp>
        <p:nvSpPr>
          <p:cNvPr id="6" name="Footer Placeholder 5">
            <a:extLst>
              <a:ext uri="{FF2B5EF4-FFF2-40B4-BE49-F238E27FC236}">
                <a16:creationId xmlns:a16="http://schemas.microsoft.com/office/drawing/2014/main" id="{2DA3B788-F4DD-4DCD-9157-9A04A468EB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47151E-AEAF-47A2-96BB-4DF7067FB2DE}"/>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24901946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11AF4-1DF4-4A3E-8AB3-3DB61B983A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E4F21E-C983-4A58-9D8E-DE61C79B3E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E204D8-8AE1-40C5-9950-937569604B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E67B2-ED72-4D1D-8CB6-02CB75CB1B77}"/>
              </a:ext>
            </a:extLst>
          </p:cNvPr>
          <p:cNvSpPr>
            <a:spLocks noGrp="1"/>
          </p:cNvSpPr>
          <p:nvPr>
            <p:ph type="dt" sz="half" idx="10"/>
          </p:nvPr>
        </p:nvSpPr>
        <p:spPr/>
        <p:txBody>
          <a:bodyPr/>
          <a:lstStyle/>
          <a:p>
            <a:fld id="{541570D4-2063-4DEA-B974-D89C4DA95089}" type="datetime1">
              <a:rPr lang="en-US" smtClean="0"/>
              <a:t>10/19/2024</a:t>
            </a:fld>
            <a:endParaRPr lang="en-US"/>
          </a:p>
        </p:txBody>
      </p:sp>
      <p:sp>
        <p:nvSpPr>
          <p:cNvPr id="6" name="Footer Placeholder 5">
            <a:extLst>
              <a:ext uri="{FF2B5EF4-FFF2-40B4-BE49-F238E27FC236}">
                <a16:creationId xmlns:a16="http://schemas.microsoft.com/office/drawing/2014/main" id="{72BA10EC-BF55-42B7-AA4F-D907781048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5680B0-1D60-47DA-B0E9-1FEE73F3043E}"/>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25733803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9E5FE-0EDD-4D21-BE5A-56E7B58D0A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14EE93-F04B-4BF9-A63E-32C6D449D9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D8C37F-9895-4294-851C-A8DD96FE510A}"/>
              </a:ext>
            </a:extLst>
          </p:cNvPr>
          <p:cNvSpPr>
            <a:spLocks noGrp="1"/>
          </p:cNvSpPr>
          <p:nvPr>
            <p:ph type="dt" sz="half" idx="10"/>
          </p:nvPr>
        </p:nvSpPr>
        <p:spPr/>
        <p:txBody>
          <a:bodyPr/>
          <a:lstStyle/>
          <a:p>
            <a:fld id="{1919682A-6F59-405E-ACC1-C8E7AFDDE640}" type="datetime1">
              <a:rPr lang="en-US" smtClean="0"/>
              <a:t>10/19/2024</a:t>
            </a:fld>
            <a:endParaRPr lang="en-US"/>
          </a:p>
        </p:txBody>
      </p:sp>
      <p:sp>
        <p:nvSpPr>
          <p:cNvPr id="5" name="Footer Placeholder 4">
            <a:extLst>
              <a:ext uri="{FF2B5EF4-FFF2-40B4-BE49-F238E27FC236}">
                <a16:creationId xmlns:a16="http://schemas.microsoft.com/office/drawing/2014/main" id="{ADA959D7-96F1-43F8-A57B-62F3F7BA72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F489-7A66-4131-9551-B4F4BACF13F7}"/>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16000712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AD0E11-0C5A-480E-8EE8-848617A2C6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D77EED-6915-4434-B1E9-962B18E3B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754C6D-5B34-4D7B-AA0F-B82A9BD584AC}"/>
              </a:ext>
            </a:extLst>
          </p:cNvPr>
          <p:cNvSpPr>
            <a:spLocks noGrp="1"/>
          </p:cNvSpPr>
          <p:nvPr>
            <p:ph type="dt" sz="half" idx="10"/>
          </p:nvPr>
        </p:nvSpPr>
        <p:spPr/>
        <p:txBody>
          <a:bodyPr/>
          <a:lstStyle/>
          <a:p>
            <a:fld id="{86107D9D-A3CD-4AA5-A0A6-B5105625796D}" type="datetime1">
              <a:rPr lang="en-US" smtClean="0"/>
              <a:t>10/19/2024</a:t>
            </a:fld>
            <a:endParaRPr lang="en-US"/>
          </a:p>
        </p:txBody>
      </p:sp>
      <p:sp>
        <p:nvSpPr>
          <p:cNvPr id="5" name="Footer Placeholder 4">
            <a:extLst>
              <a:ext uri="{FF2B5EF4-FFF2-40B4-BE49-F238E27FC236}">
                <a16:creationId xmlns:a16="http://schemas.microsoft.com/office/drawing/2014/main" id="{DBEFFC4F-C803-4A65-878D-72F681A9EB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2D402-F40C-4487-B1A5-E30FC2165A7F}"/>
              </a:ext>
            </a:extLst>
          </p:cNvPr>
          <p:cNvSpPr>
            <a:spLocks noGrp="1"/>
          </p:cNvSpPr>
          <p:nvPr>
            <p:ph type="sldNum" sz="quarter" idx="12"/>
          </p:nvPr>
        </p:nvSpPr>
        <p:spPr/>
        <p:txBody>
          <a:bodyPr/>
          <a:lstStyle/>
          <a:p>
            <a:fld id="{6166F0F3-5F3E-49A1-A046-A5C3BF55B0FA}" type="slidenum">
              <a:rPr lang="en-US" smtClean="0"/>
              <a:t>‹#›</a:t>
            </a:fld>
            <a:endParaRPr lang="en-US"/>
          </a:p>
        </p:txBody>
      </p:sp>
    </p:spTree>
    <p:extLst>
      <p:ext uri="{BB962C8B-B14F-4D97-AF65-F5344CB8AC3E}">
        <p14:creationId xmlns:p14="http://schemas.microsoft.com/office/powerpoint/2010/main" val="24321945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Copyright">
            <a:extLst>
              <a:ext uri="{FF2B5EF4-FFF2-40B4-BE49-F238E27FC236}">
                <a16:creationId xmlns:a16="http://schemas.microsoft.com/office/drawing/2014/main" id="{EA23221B-C54C-4673-8B7A-CDC512234C26}"/>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2021 Deloitte Touche Tohmatsu India LLP. </a:t>
            </a:r>
          </a:p>
        </p:txBody>
      </p:sp>
      <p:sp>
        <p:nvSpPr>
          <p:cNvPr id="6" name="CaseCode">
            <a:extLst>
              <a:ext uri="{FF2B5EF4-FFF2-40B4-BE49-F238E27FC236}">
                <a16:creationId xmlns:a16="http://schemas.microsoft.com/office/drawing/2014/main" id="{E06D6C12-DE40-4A7B-85B5-0661A2180A67}"/>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Deloitte Service Offerings</a:t>
            </a:r>
          </a:p>
        </p:txBody>
      </p:sp>
      <p:sp>
        <p:nvSpPr>
          <p:cNvPr id="10" name="Rectangle 9">
            <a:extLst>
              <a:ext uri="{FF2B5EF4-FFF2-40B4-BE49-F238E27FC236}">
                <a16:creationId xmlns:a16="http://schemas.microsoft.com/office/drawing/2014/main" id="{428F51ED-2E27-4A5F-8C10-1640318CA057}"/>
              </a:ext>
            </a:extLst>
          </p:cNvPr>
          <p:cNvSpPr/>
          <p:nvPr userDrawn="1"/>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1141912248"/>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able of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699" b="0">
                <a:latin typeface="+mj-lt"/>
              </a:defRPr>
            </a:lvl1pPr>
          </a:lstStyle>
          <a:p>
            <a:r>
              <a:rPr lang="en-US" dirty="0"/>
              <a:t>Click to edit Master title style</a:t>
            </a:r>
            <a:endParaRPr lang="en-GB" dirty="0"/>
          </a:p>
        </p:txBody>
      </p:sp>
      <p:sp>
        <p:nvSpPr>
          <p:cNvPr id="3" name="Copyright">
            <a:extLst>
              <a:ext uri="{FF2B5EF4-FFF2-40B4-BE49-F238E27FC236}">
                <a16:creationId xmlns:a16="http://schemas.microsoft.com/office/drawing/2014/main" id="{97AB8AE4-9BBD-4307-90B1-59C655566151}"/>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2021 Deloitte Touche Tohmatsu India LLP. </a:t>
            </a:r>
          </a:p>
        </p:txBody>
      </p:sp>
      <p:sp>
        <p:nvSpPr>
          <p:cNvPr id="4" name="CaseCode">
            <a:extLst>
              <a:ext uri="{FF2B5EF4-FFF2-40B4-BE49-F238E27FC236}">
                <a16:creationId xmlns:a16="http://schemas.microsoft.com/office/drawing/2014/main" id="{0BF1471C-DF7D-46FD-AB8F-AE0F12F7EC07}"/>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Deloitte Service Offerings</a:t>
            </a:r>
          </a:p>
        </p:txBody>
      </p:sp>
      <p:sp>
        <p:nvSpPr>
          <p:cNvPr id="5" name="Rectangle 4">
            <a:extLst>
              <a:ext uri="{FF2B5EF4-FFF2-40B4-BE49-F238E27FC236}">
                <a16:creationId xmlns:a16="http://schemas.microsoft.com/office/drawing/2014/main" id="{1CFEE3E7-387C-4BFE-85D0-C9BEE958E501}"/>
              </a:ext>
            </a:extLst>
          </p:cNvPr>
          <p:cNvSpPr/>
          <p:nvPr userDrawn="1"/>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37598369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tx1"/>
        </a:solidFill>
        <a:effectLst/>
      </p:bgPr>
    </p:bg>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82878BD9-A6B3-4C18-B87C-BA2D9990507D}"/>
              </a:ext>
            </a:extLst>
          </p:cNvPr>
          <p:cNvGraphicFramePr>
            <a:graphicFrameLocks noChangeAspect="1"/>
          </p:cNvGraphicFramePr>
          <p:nvPr userDrawn="1">
            <p:custDataLst>
              <p:tags r:id="rId1"/>
            </p:custDataLst>
            <p:extLst>
              <p:ext uri="{D42A27DB-BD31-4B8C-83A1-F6EECF244321}">
                <p14:modId xmlns:p14="http://schemas.microsoft.com/office/powerpoint/2010/main" val="3767101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1" name="Object 10" hidden="1">
                        <a:extLst>
                          <a:ext uri="{FF2B5EF4-FFF2-40B4-BE49-F238E27FC236}">
                            <a16:creationId xmlns:a16="http://schemas.microsoft.com/office/drawing/2014/main" id="{82878BD9-A6B3-4C18-B87C-BA2D999050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A64ACAE3-0C96-465F-BE34-A26F8CBCFC99}"/>
              </a:ext>
            </a:extLst>
          </p:cNvPr>
          <p:cNvSpPr>
            <a:spLocks noGrp="1"/>
          </p:cNvSpPr>
          <p:nvPr>
            <p:ph type="dt" sz="half" idx="10"/>
          </p:nvPr>
        </p:nvSpPr>
        <p:spPr/>
        <p:txBody>
          <a:bodyPr/>
          <a:lstStyle/>
          <a:p>
            <a:fld id="{8FEB7B3A-64B3-4432-BA5D-CA717C7597E1}" type="datetime1">
              <a:rPr lang="en-US" smtClean="0"/>
              <a:t>10/19/2024</a:t>
            </a:fld>
            <a:endParaRPr lang="en-US"/>
          </a:p>
        </p:txBody>
      </p:sp>
      <p:sp>
        <p:nvSpPr>
          <p:cNvPr id="5" name="Footer Placeholder 4">
            <a:extLst>
              <a:ext uri="{FF2B5EF4-FFF2-40B4-BE49-F238E27FC236}">
                <a16:creationId xmlns:a16="http://schemas.microsoft.com/office/drawing/2014/main" id="{9D75B3A1-9E5B-44EB-BBE8-4693D6F4A1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C5ED7A-0223-4E22-A73E-DF938F2AFB08}"/>
              </a:ext>
            </a:extLst>
          </p:cNvPr>
          <p:cNvSpPr>
            <a:spLocks noGrp="1"/>
          </p:cNvSpPr>
          <p:nvPr>
            <p:ph type="sldNum" sz="quarter" idx="12"/>
          </p:nvPr>
        </p:nvSpPr>
        <p:spPr/>
        <p:txBody>
          <a:bodyPr/>
          <a:lstStyle/>
          <a:p>
            <a:fld id="{6166F0F3-5F3E-49A1-A046-A5C3BF55B0FA}" type="slidenum">
              <a:rPr lang="en-US" smtClean="0"/>
              <a:t>‹#›</a:t>
            </a:fld>
            <a:endParaRPr lang="en-US"/>
          </a:p>
        </p:txBody>
      </p:sp>
      <p:pic>
        <p:nvPicPr>
          <p:cNvPr id="13" name="Picture 12" descr="A picture containing text, electronics, circuit&#10;&#10;Description automatically generated">
            <a:extLst>
              <a:ext uri="{FF2B5EF4-FFF2-40B4-BE49-F238E27FC236}">
                <a16:creationId xmlns:a16="http://schemas.microsoft.com/office/drawing/2014/main" id="{EA692C59-977D-40F4-AA6A-A37BE0EE831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137293" y="605010"/>
            <a:ext cx="3917414" cy="3917414"/>
          </a:xfrm>
          <a:prstGeom prst="rect">
            <a:avLst/>
          </a:prstGeom>
        </p:spPr>
      </p:pic>
    </p:spTree>
    <p:extLst>
      <p:ext uri="{BB962C8B-B14F-4D97-AF65-F5344CB8AC3E}">
        <p14:creationId xmlns:p14="http://schemas.microsoft.com/office/powerpoint/2010/main" val="41972015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ction Header">
    <p:bg>
      <p:bgRef idx="1002">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4C6120D-F7C8-4E63-800D-8D7344860D22}"/>
              </a:ext>
            </a:extLst>
          </p:cNvPr>
          <p:cNvGraphicFramePr>
            <a:graphicFrameLocks noChangeAspect="1"/>
          </p:cNvGraphicFramePr>
          <p:nvPr userDrawn="1">
            <p:custDataLst>
              <p:tags r:id="rId1"/>
            </p:custDataLst>
            <p:extLst>
              <p:ext uri="{D42A27DB-BD31-4B8C-83A1-F6EECF244321}">
                <p14:modId xmlns:p14="http://schemas.microsoft.com/office/powerpoint/2010/main" val="34375644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Object 6" hidden="1">
                        <a:extLst>
                          <a:ext uri="{FF2B5EF4-FFF2-40B4-BE49-F238E27FC236}">
                            <a16:creationId xmlns:a16="http://schemas.microsoft.com/office/drawing/2014/main" id="{04C6120D-F7C8-4E63-800D-8D7344860D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Copyright">
            <a:extLst>
              <a:ext uri="{FF2B5EF4-FFF2-40B4-BE49-F238E27FC236}">
                <a16:creationId xmlns:a16="http://schemas.microsoft.com/office/drawing/2014/main" id="{B8088816-5053-40D5-8F87-2225FCE8B1B4}"/>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2021 Deloitte Touche Tohmatsu India LLP. </a:t>
            </a:r>
          </a:p>
        </p:txBody>
      </p:sp>
      <p:sp>
        <p:nvSpPr>
          <p:cNvPr id="11" name="CaseCode">
            <a:extLst>
              <a:ext uri="{FF2B5EF4-FFF2-40B4-BE49-F238E27FC236}">
                <a16:creationId xmlns:a16="http://schemas.microsoft.com/office/drawing/2014/main" id="{BE8076CF-6C46-46D8-9597-2BBCE30A69CA}"/>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Deloitte Service Offerings</a:t>
            </a:r>
          </a:p>
        </p:txBody>
      </p:sp>
      <p:sp>
        <p:nvSpPr>
          <p:cNvPr id="12" name="Rectangle 11">
            <a:extLst>
              <a:ext uri="{FF2B5EF4-FFF2-40B4-BE49-F238E27FC236}">
                <a16:creationId xmlns:a16="http://schemas.microsoft.com/office/drawing/2014/main" id="{535AF5B7-6996-4950-BEFC-58FC0B71E148}"/>
              </a:ext>
            </a:extLst>
          </p:cNvPr>
          <p:cNvSpPr/>
          <p:nvPr userDrawn="1"/>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solidFill>
                <a:schemeClr val="tx1"/>
              </a:solidFill>
            </a:endParaRPr>
          </a:p>
        </p:txBody>
      </p:sp>
    </p:spTree>
    <p:extLst>
      <p:ext uri="{BB962C8B-B14F-4D97-AF65-F5344CB8AC3E}">
        <p14:creationId xmlns:p14="http://schemas.microsoft.com/office/powerpoint/2010/main" val="3991598049"/>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493484" y="765175"/>
            <a:ext cx="11184000" cy="969282"/>
          </a:xfrm>
        </p:spPr>
        <p:txBody>
          <a:bodyPr>
            <a:normAutofit/>
          </a:bodyPr>
          <a:lstStyle>
            <a:lvl1pPr marL="0" indent="0">
              <a:buNone/>
              <a:defRPr sz="3000" b="0">
                <a:solidFill>
                  <a:srgbClr val="575757"/>
                </a:solidFill>
              </a:defRPr>
            </a:lvl1pPr>
          </a:lstStyle>
          <a:p>
            <a:pPr lvl="0"/>
            <a:r>
              <a:rPr lang="en-US"/>
              <a:t>Click to edit Master text styles</a:t>
            </a:r>
          </a:p>
        </p:txBody>
      </p:sp>
      <p:sp>
        <p:nvSpPr>
          <p:cNvPr id="14" name="Title Placeholder 1"/>
          <p:cNvSpPr>
            <a:spLocks noGrp="1"/>
          </p:cNvSpPr>
          <p:nvPr>
            <p:ph type="title"/>
          </p:nvPr>
        </p:nvSpPr>
        <p:spPr>
          <a:xfrm>
            <a:off x="493484" y="295683"/>
            <a:ext cx="11184000" cy="469492"/>
          </a:xfrm>
          <a:prstGeom prst="rect">
            <a:avLst/>
          </a:prstGeom>
        </p:spPr>
        <p:txBody>
          <a:bodyPr vert="horz" lIns="0" tIns="0" rIns="0" bIns="0" rtlCol="0" anchor="t" anchorCtr="0">
            <a:noAutofit/>
          </a:bodyPr>
          <a:lstStyle/>
          <a:p>
            <a:r>
              <a:rPr lang="en-US"/>
              <a:t>Click to edit Master title style</a:t>
            </a:r>
            <a:endParaRPr lang="en-GB" dirty="0"/>
          </a:p>
        </p:txBody>
      </p:sp>
      <p:sp>
        <p:nvSpPr>
          <p:cNvPr id="20" name="Text Placeholder 19"/>
          <p:cNvSpPr>
            <a:spLocks noGrp="1"/>
          </p:cNvSpPr>
          <p:nvPr>
            <p:ph type="body" sz="quarter" idx="14"/>
          </p:nvPr>
        </p:nvSpPr>
        <p:spPr>
          <a:xfrm>
            <a:off x="494400" y="1810800"/>
            <a:ext cx="11184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493486" y="6407835"/>
            <a:ext cx="10079297" cy="252000"/>
          </a:xfrm>
          <a:prstGeom prst="rect">
            <a:avLst/>
          </a:prstGeom>
        </p:spPr>
        <p:txBody>
          <a:bodyPr vert="horz" lIns="0" tIns="0" rIns="0" bIns="0" rtlCol="0" anchor="ctr" anchorCtr="0"/>
          <a:lstStyle>
            <a:lvl1pPr algn="l">
              <a:defRPr sz="800" b="0">
                <a:solidFill>
                  <a:srgbClr val="8C8C8C"/>
                </a:solidFill>
              </a:defRPr>
            </a:lvl1pPr>
          </a:lstStyle>
          <a:p>
            <a:endParaRPr lang="en-GB" dirty="0"/>
          </a:p>
        </p:txBody>
      </p:sp>
      <p:sp>
        <p:nvSpPr>
          <p:cNvPr id="6" name="Slide Number Placeholder 7"/>
          <p:cNvSpPr>
            <a:spLocks noGrp="1"/>
          </p:cNvSpPr>
          <p:nvPr>
            <p:ph type="sldNum" sz="quarter" idx="4"/>
          </p:nvPr>
        </p:nvSpPr>
        <p:spPr>
          <a:xfrm>
            <a:off x="10629328"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45032285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oleObject" Target="../embeddings/oleObject4.bin"/><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ags" Target="../tags/tag6.xml"/><Relationship Id="rId2" Type="http://schemas.openxmlformats.org/officeDocument/2006/relationships/slideLayout" Target="../slideLayouts/slideLayout18.xml"/><Relationship Id="rId16" Type="http://schemas.openxmlformats.org/officeDocument/2006/relationships/theme" Target="../theme/theme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image" Target="../media/image3.emf"/><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tags" Target="../tags/tag7.xml"/><Relationship Id="rId3" Type="http://schemas.openxmlformats.org/officeDocument/2006/relationships/slideLayout" Target="../slideLayouts/slideLayout34.xml"/><Relationship Id="rId21" Type="http://schemas.openxmlformats.org/officeDocument/2006/relationships/image" Target="../media/image1.emf"/><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theme" Target="../theme/theme3.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oleObject" Target="../embeddings/oleObject5.bin"/><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19" Type="http://schemas.openxmlformats.org/officeDocument/2006/relationships/tags" Target="../tags/tag8.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186BC3-6586-4458-8A04-7C3D0F002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9674C9-D958-4C4B-80C4-D75B41A547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3C3CC-FA8A-4BBE-AA87-7C0640208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27B4A1-95E2-4C46-8AC5-2DB7C54E6A4E}" type="datetime1">
              <a:rPr lang="en-US" smtClean="0"/>
              <a:t>10/19/2024</a:t>
            </a:fld>
            <a:endParaRPr lang="en-US"/>
          </a:p>
        </p:txBody>
      </p:sp>
      <p:sp>
        <p:nvSpPr>
          <p:cNvPr id="5" name="Footer Placeholder 4">
            <a:extLst>
              <a:ext uri="{FF2B5EF4-FFF2-40B4-BE49-F238E27FC236}">
                <a16:creationId xmlns:a16="http://schemas.microsoft.com/office/drawing/2014/main" id="{E9F970A0-E4A2-4DEA-B5D5-A009AB5140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662E14-E9D9-4F42-BD53-C70EA20E93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6F0F3-5F3E-49A1-A046-A5C3BF55B0FA}" type="slidenum">
              <a:rPr lang="en-US" smtClean="0"/>
              <a:t>‹#›</a:t>
            </a:fld>
            <a:endParaRPr lang="en-US"/>
          </a:p>
        </p:txBody>
      </p:sp>
      <p:graphicFrame>
        <p:nvGraphicFramePr>
          <p:cNvPr id="7" name="Object 6" hidden="1">
            <a:extLst>
              <a:ext uri="{FF2B5EF4-FFF2-40B4-BE49-F238E27FC236}">
                <a16:creationId xmlns:a16="http://schemas.microsoft.com/office/drawing/2014/main" id="{89C12AF3-AFF8-44BE-BF8C-2BA0F7436FBB}"/>
              </a:ext>
            </a:extLst>
          </p:cNvPr>
          <p:cNvGraphicFramePr>
            <a:graphicFrameLocks noChangeAspect="1"/>
          </p:cNvGraphicFramePr>
          <p:nvPr>
            <p:custDataLst>
              <p:tags r:id="rId18"/>
            </p:custDataLst>
            <p:extLst>
              <p:ext uri="{D42A27DB-BD31-4B8C-83A1-F6EECF244321}">
                <p14:modId xmlns:p14="http://schemas.microsoft.com/office/powerpoint/2010/main" val="1905482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498" imgH="499" progId="TCLayout.ActiveDocument.1">
                  <p:embed/>
                </p:oleObj>
              </mc:Choice>
              <mc:Fallback>
                <p:oleObj name="think-cell Slide" r:id="rId20" imgW="498" imgH="499" progId="TCLayout.ActiveDocument.1">
                  <p:embed/>
                  <p:pic>
                    <p:nvPicPr>
                      <p:cNvPr id="7" name="Object 6" hidden="1">
                        <a:extLst>
                          <a:ext uri="{FF2B5EF4-FFF2-40B4-BE49-F238E27FC236}">
                            <a16:creationId xmlns:a16="http://schemas.microsoft.com/office/drawing/2014/main" id="{89C12AF3-AFF8-44BE-BF8C-2BA0F7436FBB}"/>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1A934A7D-7937-46A8-B624-564B3BB501A5}"/>
              </a:ext>
            </a:extLst>
          </p:cNvPr>
          <p:cNvSpPr/>
          <p:nvPr>
            <p:custDataLst>
              <p:tags r:id="rId19"/>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4400" b="0" i="0" baseline="0" dirty="0">
              <a:solidFill>
                <a:schemeClr val="bg1"/>
              </a:solidFill>
              <a:latin typeface="Calibri" panose="020F0502020204030204" pitchFamily="34" charset="0"/>
              <a:ea typeface="+mj-ea"/>
              <a:cs typeface="+mj-cs"/>
              <a:sym typeface="Calibri" panose="020F0502020204030204" pitchFamily="34" charset="0"/>
            </a:endParaRPr>
          </a:p>
        </p:txBody>
      </p:sp>
    </p:spTree>
    <p:extLst>
      <p:ext uri="{BB962C8B-B14F-4D97-AF65-F5344CB8AC3E}">
        <p14:creationId xmlns:p14="http://schemas.microsoft.com/office/powerpoint/2010/main" val="319144052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700" r:id="rId15"/>
    <p:sldLayoutId id="2147483792" r:id="rId16"/>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7"/>
            </p:custDataLst>
            <p:extLst>
              <p:ext uri="{D42A27DB-BD31-4B8C-83A1-F6EECF244321}">
                <p14:modId xmlns:p14="http://schemas.microsoft.com/office/powerpoint/2010/main" val="204976224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8" imgW="270" imgH="270" progId="TCLayout.ActiveDocument.1">
                  <p:embed/>
                </p:oleObj>
              </mc:Choice>
              <mc:Fallback>
                <p:oleObj name="think-cell Slide" r:id="rId18" imgW="270" imgH="270" progId="TCLayout.ActiveDocument.1">
                  <p:embed/>
                  <p:pic>
                    <p:nvPicPr>
                      <p:cNvPr id="4" name="Object 3" hidden="1"/>
                      <p:cNvPicPr/>
                      <p:nvPr/>
                    </p:nvPicPr>
                    <p:blipFill>
                      <a:blip r:embed="rId19"/>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10860210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Lst>
  <p:transition>
    <p:fade/>
  </p:transition>
  <p:hf sldNum="0" hdr="0" ftr="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4081">
          <p15:clr>
            <a:srgbClr val="F26B43"/>
          </p15:clr>
        </p15:guide>
        <p15:guide id="46" orient="horz" pos="4020">
          <p15:clr>
            <a:srgbClr val="F26B43"/>
          </p15:clr>
        </p15:guide>
        <p15:guide id="51" orient="horz" pos="4080">
          <p15:clr>
            <a:srgbClr val="F26B43"/>
          </p15:clr>
        </p15:guide>
        <p15:guide id="52" pos="3840">
          <p15:clr>
            <a:srgbClr val="F26B43"/>
          </p15:clr>
        </p15:guide>
        <p15:guide id="53" pos="3912">
          <p15:clr>
            <a:srgbClr val="F26B43"/>
          </p15:clr>
        </p15:guide>
        <p15:guide id="54" pos="3768">
          <p15:clr>
            <a:srgbClr val="F26B43"/>
          </p15:clr>
        </p15:guide>
        <p15:guide id="55" pos="4968">
          <p15:clr>
            <a:srgbClr val="F26B43"/>
          </p15:clr>
        </p15:guide>
        <p15:guide id="56" pos="5088">
          <p15:clr>
            <a:srgbClr val="F26B43"/>
          </p15:clr>
        </p15:guide>
        <p15:guide id="57" pos="6168">
          <p15:clr>
            <a:srgbClr val="F26B43"/>
          </p15:clr>
        </p15:guide>
        <p15:guide id="58" pos="6288">
          <p15:clr>
            <a:srgbClr val="F26B43"/>
          </p15:clr>
        </p15:guide>
        <p15:guide id="59" pos="2712">
          <p15:clr>
            <a:srgbClr val="F26B43"/>
          </p15:clr>
        </p15:guide>
        <p15:guide id="60" pos="2592">
          <p15:clr>
            <a:srgbClr val="F26B43"/>
          </p15:clr>
        </p15:guide>
        <p15:guide id="61" pos="1512">
          <p15:clr>
            <a:srgbClr val="F26B43"/>
          </p15:clr>
        </p15:guide>
        <p15:guide id="62" pos="1392">
          <p15:clr>
            <a:srgbClr val="F26B43"/>
          </p15:clr>
        </p15:guide>
        <p15:guide id="63" pos="312">
          <p15:clr>
            <a:srgbClr val="F26B43"/>
          </p15:clr>
        </p15:guide>
        <p15:guide id="64" orient="horz" pos="1056">
          <p15:clr>
            <a:srgbClr val="F26B43"/>
          </p15:clr>
        </p15:guide>
        <p15:guide id="65" orient="horz" pos="2232">
          <p15:clr>
            <a:srgbClr val="F26B43"/>
          </p15:clr>
        </p15:guide>
        <p15:guide id="66" orient="horz" pos="19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186BC3-6586-4458-8A04-7C3D0F002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9674C9-D958-4C4B-80C4-D75B41A547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3C3CC-FA8A-4BBE-AA87-7C0640208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C0299E-CDC0-49AD-BF01-E1833F67E299}" type="datetime1">
              <a:rPr lang="en-US" smtClean="0"/>
              <a:t>10/19/2024</a:t>
            </a:fld>
            <a:endParaRPr lang="en-US"/>
          </a:p>
        </p:txBody>
      </p:sp>
      <p:sp>
        <p:nvSpPr>
          <p:cNvPr id="5" name="Footer Placeholder 4">
            <a:extLst>
              <a:ext uri="{FF2B5EF4-FFF2-40B4-BE49-F238E27FC236}">
                <a16:creationId xmlns:a16="http://schemas.microsoft.com/office/drawing/2014/main" id="{E9F970A0-E4A2-4DEA-B5D5-A009AB5140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662E14-E9D9-4F42-BD53-C70EA20E93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6F0F3-5F3E-49A1-A046-A5C3BF55B0FA}" type="slidenum">
              <a:rPr lang="en-US" smtClean="0"/>
              <a:t>‹#›</a:t>
            </a:fld>
            <a:endParaRPr lang="en-US"/>
          </a:p>
        </p:txBody>
      </p:sp>
      <p:graphicFrame>
        <p:nvGraphicFramePr>
          <p:cNvPr id="7" name="Object 6" hidden="1">
            <a:extLst>
              <a:ext uri="{FF2B5EF4-FFF2-40B4-BE49-F238E27FC236}">
                <a16:creationId xmlns:a16="http://schemas.microsoft.com/office/drawing/2014/main" id="{89C12AF3-AFF8-44BE-BF8C-2BA0F7436FBB}"/>
              </a:ext>
            </a:extLst>
          </p:cNvPr>
          <p:cNvGraphicFramePr>
            <a:graphicFrameLocks noChangeAspect="1"/>
          </p:cNvGraphicFramePr>
          <p:nvPr>
            <p:custDataLst>
              <p:tags r:id="rId18"/>
            </p:custDataLst>
            <p:extLst>
              <p:ext uri="{D42A27DB-BD31-4B8C-83A1-F6EECF244321}">
                <p14:modId xmlns:p14="http://schemas.microsoft.com/office/powerpoint/2010/main" val="1905482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498" imgH="499" progId="TCLayout.ActiveDocument.1">
                  <p:embed/>
                </p:oleObj>
              </mc:Choice>
              <mc:Fallback>
                <p:oleObj name="think-cell Slide" r:id="rId20" imgW="498" imgH="499" progId="TCLayout.ActiveDocument.1">
                  <p:embed/>
                  <p:pic>
                    <p:nvPicPr>
                      <p:cNvPr id="7" name="Object 6" hidden="1">
                        <a:extLst>
                          <a:ext uri="{FF2B5EF4-FFF2-40B4-BE49-F238E27FC236}">
                            <a16:creationId xmlns:a16="http://schemas.microsoft.com/office/drawing/2014/main" id="{89C12AF3-AFF8-44BE-BF8C-2BA0F7436FBB}"/>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1A934A7D-7937-46A8-B624-564B3BB501A5}"/>
              </a:ext>
            </a:extLst>
          </p:cNvPr>
          <p:cNvSpPr/>
          <p:nvPr>
            <p:custDataLst>
              <p:tags r:id="rId19"/>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4400" b="0" i="0" baseline="0" dirty="0">
              <a:solidFill>
                <a:schemeClr val="bg1"/>
              </a:solidFill>
              <a:latin typeface="Calibri" panose="020F0502020204030204" pitchFamily="34" charset="0"/>
              <a:ea typeface="+mj-ea"/>
              <a:cs typeface="+mj-cs"/>
              <a:sym typeface="Calibri" panose="020F0502020204030204" pitchFamily="34" charset="0"/>
            </a:endParaRPr>
          </a:p>
        </p:txBody>
      </p:sp>
    </p:spTree>
    <p:extLst>
      <p:ext uri="{BB962C8B-B14F-4D97-AF65-F5344CB8AC3E}">
        <p14:creationId xmlns:p14="http://schemas.microsoft.com/office/powerpoint/2010/main" val="810133956"/>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90" r:id="rId15"/>
    <p:sldLayoutId id="2147483791" r:id="rId16"/>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4.xml"/><Relationship Id="rId1" Type="http://schemas.openxmlformats.org/officeDocument/2006/relationships/tags" Target="../tags/tag11.xml"/><Relationship Id="rId5" Type="http://schemas.openxmlformats.org/officeDocument/2006/relationships/image" Target="../media/image4.pn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tags" Target="../tags/tag12.xml"/><Relationship Id="rId5" Type="http://schemas.openxmlformats.org/officeDocument/2006/relationships/image" Target="../media/image5.png"/><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microsoft.com/office/2018/10/relationships/comments" Target="../comments/modernComment_29B_27CB6D9C.xml"/><Relationship Id="rId2" Type="http://schemas.openxmlformats.org/officeDocument/2006/relationships/slideLayout" Target="../slideLayouts/slideLayout7.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6.xml"/><Relationship Id="rId1" Type="http://schemas.openxmlformats.org/officeDocument/2006/relationships/themeOverride" Target="../theme/themeOverride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4.xml"/><Relationship Id="rId1" Type="http://schemas.openxmlformats.org/officeDocument/2006/relationships/themeOverride" Target="../theme/themeOverride2.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8" Type="http://schemas.openxmlformats.org/officeDocument/2006/relationships/image" Target="../media/image14.jpeg"/><Relationship Id="rId3" Type="http://schemas.microsoft.com/office/2018/10/relationships/comments" Target="../comments/modernComment_7FF64D4B_CBD39EA3.xml"/><Relationship Id="rId7" Type="http://schemas.openxmlformats.org/officeDocument/2006/relationships/image" Target="../media/image13.jpeg"/><Relationship Id="rId2" Type="http://schemas.openxmlformats.org/officeDocument/2006/relationships/slideLayout" Target="../slideLayouts/slideLayout16.xml"/><Relationship Id="rId1" Type="http://schemas.openxmlformats.org/officeDocument/2006/relationships/themeOverride" Target="../theme/themeOverride3.xml"/><Relationship Id="rId6" Type="http://schemas.openxmlformats.org/officeDocument/2006/relationships/image" Target="../media/image12.jpeg"/><Relationship Id="rId5" Type="http://schemas.openxmlformats.org/officeDocument/2006/relationships/image" Target="../media/image11.jpeg"/><Relationship Id="rId10" Type="http://schemas.openxmlformats.org/officeDocument/2006/relationships/image" Target="../media/image16.jpe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2.jpeg"/><Relationship Id="rId2" Type="http://schemas.openxmlformats.org/officeDocument/2006/relationships/slideLayout" Target="../slideLayouts/slideLayout16.xml"/><Relationship Id="rId1" Type="http://schemas.openxmlformats.org/officeDocument/2006/relationships/themeOverride" Target="../theme/themeOverride4.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21.jpeg"/><Relationship Id="rId7" Type="http://schemas.openxmlformats.org/officeDocument/2006/relationships/image" Target="../media/image12.jpeg"/><Relationship Id="rId2" Type="http://schemas.openxmlformats.org/officeDocument/2006/relationships/slideLayout" Target="../slideLayouts/slideLayout16.xml"/><Relationship Id="rId1" Type="http://schemas.openxmlformats.org/officeDocument/2006/relationships/themeOverride" Target="../theme/themeOverride5.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18.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29.jpeg"/><Relationship Id="rId2" Type="http://schemas.openxmlformats.org/officeDocument/2006/relationships/slideLayout" Target="../slideLayouts/slideLayout16.xml"/><Relationship Id="rId1" Type="http://schemas.openxmlformats.org/officeDocument/2006/relationships/themeOverride" Target="../theme/themeOverride6.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jpeg"/></Relationships>
</file>

<file path=ppt/slides/_rels/slide11.xml.rels><?xml version="1.0" encoding="UTF-8" standalone="yes"?>
<Relationships xmlns="http://schemas.openxmlformats.org/package/2006/relationships"><Relationship Id="rId3" Type="http://schemas.microsoft.com/office/2018/10/relationships/comments" Target="../comments/modernComment_7FFFC8BE_2544ACA.xml"/><Relationship Id="rId2" Type="http://schemas.openxmlformats.org/officeDocument/2006/relationships/slideLayout" Target="../slideLayouts/slideLayout12.xml"/><Relationship Id="rId1" Type="http://schemas.openxmlformats.org/officeDocument/2006/relationships/tags" Target="../tags/tag15.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tags" Target="../tags/tag16.xml"/><Relationship Id="rId5" Type="http://schemas.openxmlformats.org/officeDocument/2006/relationships/image" Target="../media/image5.png"/><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0.png"/><Relationship Id="rId1" Type="http://schemas.openxmlformats.org/officeDocument/2006/relationships/slideLayout" Target="../slideLayouts/slideLayout2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0.png"/><Relationship Id="rId1" Type="http://schemas.openxmlformats.org/officeDocument/2006/relationships/slideLayout" Target="../slideLayouts/slideLayout2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3.png"/><Relationship Id="rId7" Type="http://schemas.openxmlformats.org/officeDocument/2006/relationships/image" Target="../media/image38.png"/><Relationship Id="rId2" Type="http://schemas.openxmlformats.org/officeDocument/2006/relationships/image" Target="../media/image30.png"/><Relationship Id="rId1" Type="http://schemas.openxmlformats.org/officeDocument/2006/relationships/slideLayout" Target="../slideLayouts/slideLayout22.xml"/><Relationship Id="rId6" Type="http://schemas.openxmlformats.org/officeDocument/2006/relationships/image" Target="../media/image36.png"/><Relationship Id="rId11" Type="http://schemas.openxmlformats.org/officeDocument/2006/relationships/image" Target="../media/image37.png"/><Relationship Id="rId5" Type="http://schemas.openxmlformats.org/officeDocument/2006/relationships/image" Target="../media/image35.png"/><Relationship Id="rId10" Type="http://schemas.openxmlformats.org/officeDocument/2006/relationships/image" Target="../media/image41.svg"/><Relationship Id="rId4" Type="http://schemas.openxmlformats.org/officeDocument/2006/relationships/image" Target="../media/image34.png"/><Relationship Id="rId9"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3.xml"/><Relationship Id="rId1" Type="http://schemas.openxmlformats.org/officeDocument/2006/relationships/tags" Target="../tags/tag18.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3.xml"/><Relationship Id="rId1" Type="http://schemas.openxmlformats.org/officeDocument/2006/relationships/tags" Target="../tags/tag19.xml"/><Relationship Id="rId5" Type="http://schemas.openxmlformats.org/officeDocument/2006/relationships/image" Target="../media/image44.png"/><Relationship Id="rId4" Type="http://schemas.openxmlformats.org/officeDocument/2006/relationships/image" Target="../media/image1.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47.svg"/><Relationship Id="rId2" Type="http://schemas.openxmlformats.org/officeDocument/2006/relationships/slideLayout" Target="../slideLayouts/slideLayout13.xml"/><Relationship Id="rId1" Type="http://schemas.openxmlformats.org/officeDocument/2006/relationships/tags" Target="../tags/tag20.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3.xml"/><Relationship Id="rId1" Type="http://schemas.openxmlformats.org/officeDocument/2006/relationships/tags" Target="../tags/tag21.xml"/><Relationship Id="rId5" Type="http://schemas.openxmlformats.org/officeDocument/2006/relationships/image" Target="../media/image48.jpeg"/><Relationship Id="rId4" Type="http://schemas.openxmlformats.org/officeDocument/2006/relationships/image" Target="../media/image1.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tags" Target="../tags/tag22.xml"/><Relationship Id="rId5" Type="http://schemas.openxmlformats.org/officeDocument/2006/relationships/image" Target="../media/image5.png"/><Relationship Id="rId4" Type="http://schemas.openxmlformats.org/officeDocument/2006/relationships/image" Target="../media/image1.emf"/></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9.png"/><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9.png"/><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microsoft.com/office/2018/10/relationships/comments" Target="../comments/modernComment_7FFFC8C6_E14DCA9F.xml"/><Relationship Id="rId1" Type="http://schemas.openxmlformats.org/officeDocument/2006/relationships/slideLayout" Target="../slideLayouts/slideLayout38.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9.png"/><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9.png"/><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microsoft.com/office/2018/10/relationships/comments" Target="../comments/modernComment_7FFFC8E0_24001F55.xml"/><Relationship Id="rId1" Type="http://schemas.openxmlformats.org/officeDocument/2006/relationships/slideLayout" Target="../slideLayouts/slideLayout38.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9.png"/><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9.png"/><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microsoft.com/office/2018/10/relationships/comments" Target="../comments/modernComment_7FFFC8E3_8A77B2D4.xml"/><Relationship Id="rId1" Type="http://schemas.openxmlformats.org/officeDocument/2006/relationships/slideLayout" Target="../slideLayouts/slideLayout38.xml"/><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58EC55E-31A4-43AD-BED6-1E5F9810048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4" name="Object 3" hidden="1">
                        <a:extLst>
                          <a:ext uri="{FF2B5EF4-FFF2-40B4-BE49-F238E27FC236}">
                            <a16:creationId xmlns:a16="http://schemas.microsoft.com/office/drawing/2014/main" id="{858EC55E-31A4-43AD-BED6-1E5F981004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FLD_PresentationTitle">
            <a:extLst>
              <a:ext uri="{FF2B5EF4-FFF2-40B4-BE49-F238E27FC236}">
                <a16:creationId xmlns:a16="http://schemas.microsoft.com/office/drawing/2014/main" id="{835BCBE8-96A1-4699-8C89-8B359255DA6D}"/>
              </a:ext>
            </a:extLst>
          </p:cNvPr>
          <p:cNvSpPr txBox="1">
            <a:spLocks/>
          </p:cNvSpPr>
          <p:nvPr/>
        </p:nvSpPr>
        <p:spPr bwMode="gray">
          <a:xfrm>
            <a:off x="355227" y="4736793"/>
            <a:ext cx="9187013" cy="1844653"/>
          </a:xfrm>
          <a:prstGeom prst="rect">
            <a:avLst/>
          </a:prstGeom>
          <a:solidFill>
            <a:schemeClr val="tx1">
              <a:alpha val="61000"/>
            </a:schemeClr>
          </a:solidFill>
        </p:spPr>
        <p:txBody>
          <a:bodyPr vert="horz" lIns="91440" tIns="91440" rIns="91440" bIns="91440" rtlCol="0" anchor="ctr" anchorCtr="0">
            <a:noAutofit/>
          </a:bodyPr>
          <a:lstStyle>
            <a:lvl1pPr algn="l" defTabSz="1219170" rtl="0" eaLnBrk="1" latinLnBrk="0" hangingPunct="1">
              <a:lnSpc>
                <a:spcPct val="100000"/>
              </a:lnSpc>
              <a:spcBef>
                <a:spcPct val="0"/>
              </a:spcBef>
              <a:buNone/>
              <a:defRPr sz="1800" b="1" kern="1200">
                <a:solidFill>
                  <a:schemeClr val="tx1"/>
                </a:solidFill>
                <a:latin typeface="+mj-lt"/>
                <a:ea typeface="Open Sans" panose="020B0606030504020204" pitchFamily="34" charset="0"/>
                <a:cs typeface="Open Sans" panose="020B0606030504020204" pitchFamily="34" charset="0"/>
              </a:defRPr>
            </a:lvl1pPr>
          </a:lstStyle>
          <a:p>
            <a:pPr lvl="0">
              <a:defRPr/>
            </a:pPr>
            <a:r>
              <a:rPr lang="en-US" sz="3200" b="0" dirty="0">
                <a:solidFill>
                  <a:schemeClr val="accent1"/>
                </a:solidFill>
                <a:latin typeface="Calibri Light" panose="020F0302020204030204" pitchFamily="34" charset="0"/>
                <a:cs typeface="Calibri Light" panose="020F0302020204030204" pitchFamily="34" charset="0"/>
              </a:rPr>
              <a:t>Digital Asset Register  &amp; Regulatory Affairs Deliverables</a:t>
            </a:r>
          </a:p>
          <a:p>
            <a:pPr marL="0" marR="0" lvl="0" indent="0" defTabSz="1219170"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chemeClr val="bg1"/>
              </a:solidFill>
              <a:effectLst/>
              <a:uLnTx/>
              <a:uFillTx/>
              <a:latin typeface="Calibri"/>
            </a:endParaRPr>
          </a:p>
          <a:p>
            <a:pPr marL="0" marR="0" lvl="0" indent="0" defTabSz="1219170" rtl="0" eaLnBrk="1" fontAlgn="auto" latinLnBrk="0" hangingPunct="1">
              <a:lnSpc>
                <a:spcPct val="100000"/>
              </a:lnSpc>
              <a:spcBef>
                <a:spcPct val="0"/>
              </a:spcBef>
              <a:spcAft>
                <a:spcPts val="0"/>
              </a:spcAft>
              <a:buClrTx/>
              <a:buSzTx/>
              <a:buFontTx/>
              <a:buNone/>
              <a:tabLst/>
              <a:defRPr/>
            </a:pPr>
            <a:r>
              <a:rPr lang="en-US" sz="2000" b="0" dirty="0">
                <a:solidFill>
                  <a:schemeClr val="bg1"/>
                </a:solidFill>
                <a:latin typeface="Calibri" panose="020F0502020204030204" pitchFamily="34" charset="0"/>
                <a:cs typeface="Calibri" panose="020F0502020204030204" pitchFamily="34" charset="0"/>
              </a:rPr>
              <a:t>October 2024</a:t>
            </a:r>
          </a:p>
        </p:txBody>
      </p:sp>
      <p:grpSp>
        <p:nvGrpSpPr>
          <p:cNvPr id="6" name="Group 5">
            <a:extLst>
              <a:ext uri="{FF2B5EF4-FFF2-40B4-BE49-F238E27FC236}">
                <a16:creationId xmlns:a16="http://schemas.microsoft.com/office/drawing/2014/main" id="{50115B1A-EF20-409C-8640-45EB26C08E93}"/>
              </a:ext>
            </a:extLst>
          </p:cNvPr>
          <p:cNvGrpSpPr>
            <a:grpSpLocks noChangeAspect="1"/>
          </p:cNvGrpSpPr>
          <p:nvPr/>
        </p:nvGrpSpPr>
        <p:grpSpPr>
          <a:xfrm>
            <a:off x="355228" y="406599"/>
            <a:ext cx="1998000" cy="374400"/>
            <a:chOff x="398463" y="404813"/>
            <a:chExt cx="1627187" cy="307976"/>
          </a:xfrm>
          <a:solidFill>
            <a:sysClr val="windowText" lastClr="000000"/>
          </a:solidFill>
        </p:grpSpPr>
        <p:sp>
          <p:nvSpPr>
            <p:cNvPr id="7" name="Oval 5">
              <a:extLst>
                <a:ext uri="{FF2B5EF4-FFF2-40B4-BE49-F238E27FC236}">
                  <a16:creationId xmlns:a16="http://schemas.microsoft.com/office/drawing/2014/main" id="{F307213A-4C40-4281-98DE-DF27549FB0B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8" name="Freeform 6">
              <a:extLst>
                <a:ext uri="{FF2B5EF4-FFF2-40B4-BE49-F238E27FC236}">
                  <a16:creationId xmlns:a16="http://schemas.microsoft.com/office/drawing/2014/main" id="{72A63F08-41E5-40ED-815C-F8F9ABB100CF}"/>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9" name="Rectangle 7">
              <a:extLst>
                <a:ext uri="{FF2B5EF4-FFF2-40B4-BE49-F238E27FC236}">
                  <a16:creationId xmlns:a16="http://schemas.microsoft.com/office/drawing/2014/main" id="{D0668BD8-8B4B-4A50-898D-8A596D4D79F9}"/>
                </a:ext>
              </a:extLst>
            </p:cNvPr>
            <p:cNvSpPr>
              <a:spLocks noChangeArrowheads="1"/>
            </p:cNvSpPr>
            <p:nvPr/>
          </p:nvSpPr>
          <p:spPr bwMode="auto">
            <a:xfrm>
              <a:off x="906463" y="404813"/>
              <a:ext cx="74612" cy="303213"/>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10" name="Freeform 8">
              <a:extLst>
                <a:ext uri="{FF2B5EF4-FFF2-40B4-BE49-F238E27FC236}">
                  <a16:creationId xmlns:a16="http://schemas.microsoft.com/office/drawing/2014/main" id="{0A22D69C-AA50-4296-8A6E-4705B35A6D39}"/>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11" name="Rectangle 9">
              <a:extLst>
                <a:ext uri="{FF2B5EF4-FFF2-40B4-BE49-F238E27FC236}">
                  <a16:creationId xmlns:a16="http://schemas.microsoft.com/office/drawing/2014/main" id="{3FA3BC8C-14F7-4A27-9B6A-1A720583D560}"/>
                </a:ext>
              </a:extLst>
            </p:cNvPr>
            <p:cNvSpPr>
              <a:spLocks noChangeArrowheads="1"/>
            </p:cNvSpPr>
            <p:nvPr/>
          </p:nvSpPr>
          <p:spPr bwMode="auto">
            <a:xfrm>
              <a:off x="1257300" y="482601"/>
              <a:ext cx="74612" cy="225425"/>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12" name="Rectangle 10">
              <a:extLst>
                <a:ext uri="{FF2B5EF4-FFF2-40B4-BE49-F238E27FC236}">
                  <a16:creationId xmlns:a16="http://schemas.microsoft.com/office/drawing/2014/main" id="{304BDA85-A3EA-4F65-B79B-C70E7C8CFA0B}"/>
                </a:ext>
              </a:extLst>
            </p:cNvPr>
            <p:cNvSpPr>
              <a:spLocks noChangeArrowheads="1"/>
            </p:cNvSpPr>
            <p:nvPr/>
          </p:nvSpPr>
          <p:spPr bwMode="auto">
            <a:xfrm>
              <a:off x="1257300" y="404813"/>
              <a:ext cx="74612" cy="50800"/>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13" name="Freeform 11">
              <a:extLst>
                <a:ext uri="{FF2B5EF4-FFF2-40B4-BE49-F238E27FC236}">
                  <a16:creationId xmlns:a16="http://schemas.microsoft.com/office/drawing/2014/main" id="{4AA2BDC9-F492-4CFE-91D7-878FB84571EA}"/>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14" name="Freeform 12">
              <a:extLst>
                <a:ext uri="{FF2B5EF4-FFF2-40B4-BE49-F238E27FC236}">
                  <a16:creationId xmlns:a16="http://schemas.microsoft.com/office/drawing/2014/main" id="{C8175E41-4C9D-4063-B08D-A461F57ADC9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15" name="Freeform 13">
              <a:extLst>
                <a:ext uri="{FF2B5EF4-FFF2-40B4-BE49-F238E27FC236}">
                  <a16:creationId xmlns:a16="http://schemas.microsoft.com/office/drawing/2014/main" id="{1D381950-6E80-4760-A79C-79FE814FD63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16" name="Freeform 14">
              <a:extLst>
                <a:ext uri="{FF2B5EF4-FFF2-40B4-BE49-F238E27FC236}">
                  <a16:creationId xmlns:a16="http://schemas.microsoft.com/office/drawing/2014/main" id="{FA2EC8EF-B6D7-4AB2-8AAA-868FC8DD9F6B}"/>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17" name="Picture 16">
            <a:extLst>
              <a:ext uri="{FF2B5EF4-FFF2-40B4-BE49-F238E27FC236}">
                <a16:creationId xmlns:a16="http://schemas.microsoft.com/office/drawing/2014/main" id="{330FF87B-AA27-4866-B2FC-C80E304B4C01}"/>
              </a:ext>
            </a:extLst>
          </p:cNvPr>
          <p:cNvPicPr>
            <a:picLocks noChangeAspect="1"/>
          </p:cNvPicPr>
          <p:nvPr/>
        </p:nvPicPr>
        <p:blipFill>
          <a:blip r:embed="rId5"/>
          <a:srcRect/>
          <a:stretch/>
        </p:blipFill>
        <p:spPr>
          <a:xfrm>
            <a:off x="10783342" y="5382566"/>
            <a:ext cx="1198880" cy="1198880"/>
          </a:xfrm>
          <a:prstGeom prst="rect">
            <a:avLst/>
          </a:prstGeom>
        </p:spPr>
      </p:pic>
      <p:sp>
        <p:nvSpPr>
          <p:cNvPr id="3" name="Date Placeholder 2">
            <a:extLst>
              <a:ext uri="{FF2B5EF4-FFF2-40B4-BE49-F238E27FC236}">
                <a16:creationId xmlns:a16="http://schemas.microsoft.com/office/drawing/2014/main" id="{8A152FC0-CBBE-1241-D8D1-C0A3881D4807}"/>
              </a:ext>
            </a:extLst>
          </p:cNvPr>
          <p:cNvSpPr>
            <a:spLocks noGrp="1"/>
          </p:cNvSpPr>
          <p:nvPr>
            <p:ph type="dt" sz="half" idx="10"/>
          </p:nvPr>
        </p:nvSpPr>
        <p:spPr/>
        <p:txBody>
          <a:bodyPr/>
          <a:lstStyle/>
          <a:p>
            <a:fld id="{366BA1EB-72C5-4D4E-AA39-39FB435A3324}" type="datetime1">
              <a:rPr lang="en-US" smtClean="0"/>
              <a:t>10/19/2024</a:t>
            </a:fld>
            <a:endParaRPr lang="en-US"/>
          </a:p>
        </p:txBody>
      </p:sp>
    </p:spTree>
    <p:extLst>
      <p:ext uri="{BB962C8B-B14F-4D97-AF65-F5344CB8AC3E}">
        <p14:creationId xmlns:p14="http://schemas.microsoft.com/office/powerpoint/2010/main" val="1114182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Object 36" hidden="1">
            <a:extLst>
              <a:ext uri="{FF2B5EF4-FFF2-40B4-BE49-F238E27FC236}">
                <a16:creationId xmlns:a16="http://schemas.microsoft.com/office/drawing/2014/main" id="{E8124B20-89CE-4E58-99B7-6AD3765DA98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37" name="Object 36" hidden="1">
                        <a:extLst>
                          <a:ext uri="{FF2B5EF4-FFF2-40B4-BE49-F238E27FC236}">
                            <a16:creationId xmlns:a16="http://schemas.microsoft.com/office/drawing/2014/main" id="{E8124B20-89CE-4E58-99B7-6AD3765DA9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3D2A0E5-5CD9-6C1E-A486-B4A4815F2CE5}"/>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a:extLst>
              <a:ext uri="{FF2B5EF4-FFF2-40B4-BE49-F238E27FC236}">
                <a16:creationId xmlns:a16="http://schemas.microsoft.com/office/drawing/2014/main" id="{5D49CA2B-1430-A99A-9C5E-4D834F74412E}"/>
              </a:ext>
            </a:extLst>
          </p:cNvPr>
          <p:cNvSpPr txBox="1">
            <a:spLocks/>
          </p:cNvSpPr>
          <p:nvPr/>
        </p:nvSpPr>
        <p:spPr>
          <a:xfrm>
            <a:off x="388854" y="5782057"/>
            <a:ext cx="11436202" cy="1075943"/>
          </a:xfrm>
          <a:prstGeom prst="rect">
            <a:avLst/>
          </a:prstGeom>
          <a:solidFill>
            <a:schemeClr val="tx1">
              <a:lumMod val="50000"/>
              <a:lumOff val="50000"/>
              <a:alpha val="0"/>
            </a:schemeClr>
          </a:solidFill>
        </p:spPr>
        <p:txBody>
          <a:bodyPr vert="horz" lIns="91440" tIns="91440" rIns="91440" bIns="9144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000" b="1" dirty="0">
                <a:solidFill>
                  <a:schemeClr val="bg1"/>
                </a:solidFill>
              </a:rPr>
              <a:t>Typical Utility Requirements for Asset Management</a:t>
            </a:r>
          </a:p>
        </p:txBody>
      </p:sp>
      <p:grpSp>
        <p:nvGrpSpPr>
          <p:cNvPr id="29" name="Group 28">
            <a:extLst>
              <a:ext uri="{FF2B5EF4-FFF2-40B4-BE49-F238E27FC236}">
                <a16:creationId xmlns:a16="http://schemas.microsoft.com/office/drawing/2014/main" id="{E2C7EB70-2DB3-2454-0B78-2CF58ABFE659}"/>
              </a:ext>
            </a:extLst>
          </p:cNvPr>
          <p:cNvGrpSpPr/>
          <p:nvPr/>
        </p:nvGrpSpPr>
        <p:grpSpPr>
          <a:xfrm>
            <a:off x="3677285" y="552741"/>
            <a:ext cx="4837430" cy="4838119"/>
            <a:chOff x="3901439" y="1234126"/>
            <a:chExt cx="4389123" cy="4389748"/>
          </a:xfrm>
        </p:grpSpPr>
        <p:sp>
          <p:nvSpPr>
            <p:cNvPr id="30" name="object 3">
              <a:extLst>
                <a:ext uri="{FF2B5EF4-FFF2-40B4-BE49-F238E27FC236}">
                  <a16:creationId xmlns:a16="http://schemas.microsoft.com/office/drawing/2014/main" id="{999D2D18-38DB-727D-5C49-22BC6D1D065D}"/>
                </a:ext>
              </a:extLst>
            </p:cNvPr>
            <p:cNvSpPr/>
            <p:nvPr/>
          </p:nvSpPr>
          <p:spPr>
            <a:xfrm>
              <a:off x="3901439" y="1234126"/>
              <a:ext cx="4389123" cy="4389748"/>
            </a:xfrm>
            <a:prstGeom prst="rect">
              <a:avLst/>
            </a:prstGeom>
            <a:blipFill>
              <a:blip r:embed="rId5" cstate="print"/>
              <a:stretch>
                <a:fillRect/>
              </a:stretch>
            </a:blip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33" name="object 4">
              <a:extLst>
                <a:ext uri="{FF2B5EF4-FFF2-40B4-BE49-F238E27FC236}">
                  <a16:creationId xmlns:a16="http://schemas.microsoft.com/office/drawing/2014/main" id="{2395AA84-C4C2-290D-5865-B7ADF3CFCF24}"/>
                </a:ext>
              </a:extLst>
            </p:cNvPr>
            <p:cNvSpPr/>
            <p:nvPr/>
          </p:nvSpPr>
          <p:spPr>
            <a:xfrm>
              <a:off x="5445978" y="4052885"/>
              <a:ext cx="687070" cy="261620"/>
            </a:xfrm>
            <a:custGeom>
              <a:avLst/>
              <a:gdLst/>
              <a:ahLst/>
              <a:cxnLst/>
              <a:rect l="l" t="t" r="r" b="b"/>
              <a:pathLst>
                <a:path w="687070" h="261620">
                  <a:moveTo>
                    <a:pt x="686701" y="261048"/>
                  </a:moveTo>
                  <a:lnTo>
                    <a:pt x="0" y="261048"/>
                  </a:lnTo>
                  <a:lnTo>
                    <a:pt x="0" y="0"/>
                  </a:lnTo>
                  <a:lnTo>
                    <a:pt x="686701" y="0"/>
                  </a:lnTo>
                  <a:lnTo>
                    <a:pt x="686701" y="261048"/>
                  </a:lnTo>
                  <a:close/>
                </a:path>
              </a:pathLst>
            </a:custGeom>
            <a:solidFill>
              <a:srgbClr val="00492B"/>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prstClr val="black"/>
                </a:solidFill>
                <a:effectLst/>
                <a:uLnTx/>
                <a:uFillTx/>
                <a:latin typeface="Verdana"/>
                <a:ea typeface="+mn-ea"/>
                <a:cs typeface="+mn-cs"/>
              </a:endParaRPr>
            </a:p>
          </p:txBody>
        </p:sp>
      </p:grpSp>
    </p:spTree>
    <p:extLst>
      <p:ext uri="{BB962C8B-B14F-4D97-AF65-F5344CB8AC3E}">
        <p14:creationId xmlns:p14="http://schemas.microsoft.com/office/powerpoint/2010/main" val="2643855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C10744DA-F351-FFB2-532E-FADBAB4D37EF}"/>
              </a:ext>
            </a:extLst>
          </p:cNvPr>
          <p:cNvCxnSpPr>
            <a:cxnSpLocks/>
          </p:cNvCxnSpPr>
          <p:nvPr/>
        </p:nvCxnSpPr>
        <p:spPr>
          <a:xfrm>
            <a:off x="549646" y="2895411"/>
            <a:ext cx="214884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aphicFrame>
        <p:nvGraphicFramePr>
          <p:cNvPr id="37" name="Object 36" hidden="1">
            <a:extLst>
              <a:ext uri="{FF2B5EF4-FFF2-40B4-BE49-F238E27FC236}">
                <a16:creationId xmlns:a16="http://schemas.microsoft.com/office/drawing/2014/main" id="{E8124B20-89CE-4E58-99B7-6AD3765DA98D}"/>
              </a:ext>
            </a:extLst>
          </p:cNvPr>
          <p:cNvGraphicFramePr>
            <a:graphicFrameLocks noChangeAspect="1"/>
          </p:cNvGraphicFramePr>
          <p:nvPr>
            <p:custDataLst>
              <p:tags r:id="rId1"/>
            </p:custDataLst>
            <p:extLst>
              <p:ext uri="{D42A27DB-BD31-4B8C-83A1-F6EECF244321}">
                <p14:modId xmlns:p14="http://schemas.microsoft.com/office/powerpoint/2010/main" val="2904717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7" name="Object 36" hidden="1">
                        <a:extLst>
                          <a:ext uri="{FF2B5EF4-FFF2-40B4-BE49-F238E27FC236}">
                            <a16:creationId xmlns:a16="http://schemas.microsoft.com/office/drawing/2014/main" id="{E8124B20-89CE-4E58-99B7-6AD3765DA98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9" name="Title 1">
            <a:extLst>
              <a:ext uri="{FF2B5EF4-FFF2-40B4-BE49-F238E27FC236}">
                <a16:creationId xmlns:a16="http://schemas.microsoft.com/office/drawing/2014/main" id="{67AA388A-DFA5-4717-9D51-B49D8EE77625}"/>
              </a:ext>
            </a:extLst>
          </p:cNvPr>
          <p:cNvSpPr txBox="1">
            <a:spLocks/>
          </p:cNvSpPr>
          <p:nvPr/>
        </p:nvSpPr>
        <p:spPr>
          <a:xfrm>
            <a:off x="456426" y="267416"/>
            <a:ext cx="11188700" cy="402493"/>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100" dirty="0">
                <a:latin typeface="Verdana" panose="020B0604030504040204" pitchFamily="34" charset="0"/>
                <a:ea typeface="Verdana" panose="020B0604030504040204" pitchFamily="34" charset="0"/>
                <a:cs typeface="+mj-cs"/>
              </a:rPr>
              <a:t>Utility Requirements for Capital Assets Management</a:t>
            </a:r>
            <a:endParaRPr lang="en-US" sz="1100" dirty="0">
              <a:solidFill>
                <a:srgbClr val="575757"/>
              </a:solidFill>
              <a:latin typeface="Verdana" panose="020B0604030504040204" pitchFamily="34" charset="0"/>
              <a:ea typeface="Verdana" panose="020B0604030504040204" pitchFamily="34" charset="0"/>
              <a:cs typeface="+mn-cs"/>
            </a:endParaRPr>
          </a:p>
        </p:txBody>
      </p:sp>
      <p:cxnSp>
        <p:nvCxnSpPr>
          <p:cNvPr id="9" name="Straight Connector 8">
            <a:extLst>
              <a:ext uri="{FF2B5EF4-FFF2-40B4-BE49-F238E27FC236}">
                <a16:creationId xmlns:a16="http://schemas.microsoft.com/office/drawing/2014/main" id="{3685FFDE-D3B5-2453-8BE6-E6EE9E93033B}"/>
              </a:ext>
            </a:extLst>
          </p:cNvPr>
          <p:cNvCxnSpPr>
            <a:cxnSpLocks/>
          </p:cNvCxnSpPr>
          <p:nvPr/>
        </p:nvCxnSpPr>
        <p:spPr>
          <a:xfrm>
            <a:off x="2866170" y="2895411"/>
            <a:ext cx="214884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5640BED-623B-5BA5-28FB-A7DF2A4EAFB0}"/>
              </a:ext>
            </a:extLst>
          </p:cNvPr>
          <p:cNvCxnSpPr>
            <a:cxnSpLocks/>
          </p:cNvCxnSpPr>
          <p:nvPr/>
        </p:nvCxnSpPr>
        <p:spPr>
          <a:xfrm>
            <a:off x="5182693" y="2895411"/>
            <a:ext cx="214884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8A8580B-40EE-C21E-F055-47597453A057}"/>
              </a:ext>
            </a:extLst>
          </p:cNvPr>
          <p:cNvCxnSpPr>
            <a:cxnSpLocks/>
          </p:cNvCxnSpPr>
          <p:nvPr/>
        </p:nvCxnSpPr>
        <p:spPr>
          <a:xfrm>
            <a:off x="7499216" y="2895411"/>
            <a:ext cx="214884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5B29748-40A8-48E3-ACCE-310767780D79}"/>
              </a:ext>
            </a:extLst>
          </p:cNvPr>
          <p:cNvCxnSpPr>
            <a:cxnSpLocks/>
          </p:cNvCxnSpPr>
          <p:nvPr/>
        </p:nvCxnSpPr>
        <p:spPr>
          <a:xfrm>
            <a:off x="9815738" y="2895411"/>
            <a:ext cx="214884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A44A7E9-CE1A-1E5E-1461-A59E6D677DE2}"/>
              </a:ext>
            </a:extLst>
          </p:cNvPr>
          <p:cNvSpPr txBox="1"/>
          <p:nvPr/>
        </p:nvSpPr>
        <p:spPr>
          <a:xfrm>
            <a:off x="540268" y="2274480"/>
            <a:ext cx="2242060" cy="338554"/>
          </a:xfrm>
          <a:prstGeom prst="rect">
            <a:avLst/>
          </a:prstGeom>
          <a:noFill/>
        </p:spPr>
        <p:txBody>
          <a:bodyPr wrap="square" lIns="0" tIns="0" rIns="0" bIns="0">
            <a:spAutoFit/>
          </a:bodyPr>
          <a:lstStyle/>
          <a:p>
            <a:pPr>
              <a:spcBef>
                <a:spcPts val="300"/>
              </a:spcBef>
              <a:spcAft>
                <a:spcPts val="100"/>
              </a:spcAft>
            </a:pPr>
            <a:r>
              <a:rPr lang="en-US" sz="1100" b="1" dirty="0">
                <a:solidFill>
                  <a:schemeClr val="accent5"/>
                </a:solidFill>
                <a:latin typeface="Verdana" panose="020B0604030504040204" pitchFamily="34" charset="0"/>
                <a:ea typeface="Verdana" panose="020B0604030504040204" pitchFamily="34" charset="0"/>
                <a:cs typeface="Arial" charset="0"/>
              </a:rPr>
              <a:t>Regulatory / Statutory Compliance </a:t>
            </a:r>
          </a:p>
        </p:txBody>
      </p:sp>
      <p:sp>
        <p:nvSpPr>
          <p:cNvPr id="23" name="TextBox 22">
            <a:extLst>
              <a:ext uri="{FF2B5EF4-FFF2-40B4-BE49-F238E27FC236}">
                <a16:creationId xmlns:a16="http://schemas.microsoft.com/office/drawing/2014/main" id="{4D21264F-A561-8985-E067-35225546A32D}"/>
              </a:ext>
            </a:extLst>
          </p:cNvPr>
          <p:cNvSpPr txBox="1"/>
          <p:nvPr/>
        </p:nvSpPr>
        <p:spPr>
          <a:xfrm>
            <a:off x="2866170" y="2274480"/>
            <a:ext cx="2148840" cy="338554"/>
          </a:xfrm>
          <a:prstGeom prst="rect">
            <a:avLst/>
          </a:prstGeom>
          <a:noFill/>
        </p:spPr>
        <p:txBody>
          <a:bodyPr wrap="square" lIns="0" tIns="0" rIns="0" bIns="0">
            <a:spAutoFit/>
          </a:bodyPr>
          <a:lstStyle/>
          <a:p>
            <a:pPr>
              <a:spcBef>
                <a:spcPts val="300"/>
              </a:spcBef>
              <a:spcAft>
                <a:spcPts val="100"/>
              </a:spcAft>
            </a:pPr>
            <a:r>
              <a:rPr lang="en-US" sz="1100" b="1" dirty="0">
                <a:solidFill>
                  <a:schemeClr val="accent4"/>
                </a:solidFill>
                <a:latin typeface="Verdana" panose="020B0604030504040204" pitchFamily="34" charset="0"/>
                <a:ea typeface="Verdana" panose="020B0604030504040204" pitchFamily="34" charset="0"/>
                <a:cs typeface="Arial" charset="0"/>
              </a:rPr>
              <a:t>Presentation in Financial Statements</a:t>
            </a:r>
          </a:p>
        </p:txBody>
      </p:sp>
      <p:sp>
        <p:nvSpPr>
          <p:cNvPr id="26" name="TextBox 25">
            <a:extLst>
              <a:ext uri="{FF2B5EF4-FFF2-40B4-BE49-F238E27FC236}">
                <a16:creationId xmlns:a16="http://schemas.microsoft.com/office/drawing/2014/main" id="{EDC830EF-F052-04B8-7663-5DD7EB8D802F}"/>
              </a:ext>
            </a:extLst>
          </p:cNvPr>
          <p:cNvSpPr txBox="1"/>
          <p:nvPr/>
        </p:nvSpPr>
        <p:spPr>
          <a:xfrm>
            <a:off x="5182693" y="2274480"/>
            <a:ext cx="1914690" cy="338554"/>
          </a:xfrm>
          <a:prstGeom prst="rect">
            <a:avLst/>
          </a:prstGeom>
          <a:noFill/>
        </p:spPr>
        <p:txBody>
          <a:bodyPr wrap="square" lIns="0" tIns="0" rIns="0" bIns="0">
            <a:spAutoFit/>
          </a:bodyPr>
          <a:lstStyle/>
          <a:p>
            <a:pPr>
              <a:spcBef>
                <a:spcPts val="300"/>
              </a:spcBef>
              <a:spcAft>
                <a:spcPts val="100"/>
              </a:spcAft>
            </a:pPr>
            <a:r>
              <a:rPr lang="en-US" sz="1100" b="1" dirty="0">
                <a:solidFill>
                  <a:srgbClr val="00B050"/>
                </a:solidFill>
                <a:latin typeface="Verdana" panose="020B0604030504040204" pitchFamily="34" charset="0"/>
                <a:ea typeface="Verdana" panose="020B0604030504040204" pitchFamily="34" charset="0"/>
                <a:cs typeface="Arial" charset="0"/>
              </a:rPr>
              <a:t>Management Information System</a:t>
            </a:r>
          </a:p>
        </p:txBody>
      </p:sp>
      <p:sp>
        <p:nvSpPr>
          <p:cNvPr id="28" name="TextBox 27">
            <a:extLst>
              <a:ext uri="{FF2B5EF4-FFF2-40B4-BE49-F238E27FC236}">
                <a16:creationId xmlns:a16="http://schemas.microsoft.com/office/drawing/2014/main" id="{F2B54E9C-85A6-7521-E5B9-57B08EAB0155}"/>
              </a:ext>
            </a:extLst>
          </p:cNvPr>
          <p:cNvSpPr txBox="1"/>
          <p:nvPr/>
        </p:nvSpPr>
        <p:spPr>
          <a:xfrm>
            <a:off x="7499216" y="2274480"/>
            <a:ext cx="2242060" cy="338554"/>
          </a:xfrm>
          <a:prstGeom prst="rect">
            <a:avLst/>
          </a:prstGeom>
          <a:noFill/>
        </p:spPr>
        <p:txBody>
          <a:bodyPr wrap="square" lIns="0" tIns="0" rIns="0" bIns="0">
            <a:spAutoFit/>
          </a:bodyPr>
          <a:lstStyle/>
          <a:p>
            <a:pPr>
              <a:spcBef>
                <a:spcPts val="300"/>
              </a:spcBef>
              <a:spcAft>
                <a:spcPts val="100"/>
              </a:spcAft>
            </a:pPr>
            <a:r>
              <a:rPr lang="en-US" sz="1100" b="1" dirty="0">
                <a:solidFill>
                  <a:schemeClr val="accent1"/>
                </a:solidFill>
                <a:latin typeface="Verdana" panose="020B0604030504040204" pitchFamily="34" charset="0"/>
                <a:ea typeface="Verdana" panose="020B0604030504040204" pitchFamily="34" charset="0"/>
                <a:cs typeface="Arial" charset="0"/>
              </a:rPr>
              <a:t>Asset Management Policy and Process Framework</a:t>
            </a:r>
          </a:p>
        </p:txBody>
      </p:sp>
      <p:sp>
        <p:nvSpPr>
          <p:cNvPr id="31" name="TextBox 30">
            <a:extLst>
              <a:ext uri="{FF2B5EF4-FFF2-40B4-BE49-F238E27FC236}">
                <a16:creationId xmlns:a16="http://schemas.microsoft.com/office/drawing/2014/main" id="{DE2F9B2A-4F25-5AC0-D2EC-0CF5D9109428}"/>
              </a:ext>
            </a:extLst>
          </p:cNvPr>
          <p:cNvSpPr txBox="1"/>
          <p:nvPr/>
        </p:nvSpPr>
        <p:spPr>
          <a:xfrm>
            <a:off x="9815738" y="2274480"/>
            <a:ext cx="2148840" cy="338554"/>
          </a:xfrm>
          <a:prstGeom prst="rect">
            <a:avLst/>
          </a:prstGeom>
          <a:noFill/>
        </p:spPr>
        <p:txBody>
          <a:bodyPr wrap="square" lIns="0" tIns="0" rIns="0" bIns="0">
            <a:spAutoFit/>
          </a:bodyPr>
          <a:lstStyle/>
          <a:p>
            <a:pPr>
              <a:spcBef>
                <a:spcPts val="300"/>
              </a:spcBef>
              <a:spcAft>
                <a:spcPts val="100"/>
              </a:spcAft>
            </a:pPr>
            <a:r>
              <a:rPr lang="en-US" sz="1100" b="1" dirty="0">
                <a:solidFill>
                  <a:schemeClr val="tx2"/>
                </a:solidFill>
                <a:latin typeface="Verdana" panose="020B0604030504040204" pitchFamily="34" charset="0"/>
                <a:ea typeface="Verdana" panose="020B0604030504040204" pitchFamily="34" charset="0"/>
                <a:cs typeface="Arial" charset="0"/>
              </a:rPr>
              <a:t>IT Solution Design and Integration </a:t>
            </a:r>
          </a:p>
        </p:txBody>
      </p:sp>
      <p:sp>
        <p:nvSpPr>
          <p:cNvPr id="32" name="Rectangle 31">
            <a:extLst>
              <a:ext uri="{FF2B5EF4-FFF2-40B4-BE49-F238E27FC236}">
                <a16:creationId xmlns:a16="http://schemas.microsoft.com/office/drawing/2014/main" id="{D6804221-E78A-2BEF-72FC-B165B36C047C}"/>
              </a:ext>
            </a:extLst>
          </p:cNvPr>
          <p:cNvSpPr/>
          <p:nvPr/>
        </p:nvSpPr>
        <p:spPr>
          <a:xfrm>
            <a:off x="549646" y="3052850"/>
            <a:ext cx="2242060" cy="1977464"/>
          </a:xfrm>
          <a:prstGeom prst="rect">
            <a:avLst/>
          </a:prstGeom>
        </p:spPr>
        <p:txBody>
          <a:bodyPr wrap="square" lIns="0" tIns="0" rIns="0" bIns="0">
            <a:spAutoFit/>
          </a:bodyPr>
          <a:lstStyle/>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Requirement of expert knowledge and resources to manage regulatory compliance</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Normative allowances for Fixed Assets management costs (O&amp;M) used by Regulators tend to be significantly different from actuals and lead to disallowances</a:t>
            </a:r>
          </a:p>
        </p:txBody>
      </p:sp>
      <p:sp>
        <p:nvSpPr>
          <p:cNvPr id="36" name="Rectangle 35">
            <a:extLst>
              <a:ext uri="{FF2B5EF4-FFF2-40B4-BE49-F238E27FC236}">
                <a16:creationId xmlns:a16="http://schemas.microsoft.com/office/drawing/2014/main" id="{DD384ED8-CD34-E7D7-1E9F-A62131483CBA}"/>
              </a:ext>
            </a:extLst>
          </p:cNvPr>
          <p:cNvSpPr/>
          <p:nvPr/>
        </p:nvSpPr>
        <p:spPr>
          <a:xfrm>
            <a:off x="2866170" y="3052850"/>
            <a:ext cx="2242060" cy="2377574"/>
          </a:xfrm>
          <a:prstGeom prst="rect">
            <a:avLst/>
          </a:prstGeom>
        </p:spPr>
        <p:txBody>
          <a:bodyPr wrap="square" lIns="0" tIns="0" rIns="0" bIns="0">
            <a:spAutoFit/>
          </a:bodyPr>
          <a:lstStyle/>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Critical to reflect appropriate asset classification / componentization based on useful life as per applicable Accounting Standards</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Need for detailed fixed asset register, with physical verification carried out</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Depiction of asset value and depreciation  </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Identification of any ghost assets  </a:t>
            </a:r>
          </a:p>
        </p:txBody>
      </p:sp>
      <p:sp>
        <p:nvSpPr>
          <p:cNvPr id="39" name="Rectangle 38">
            <a:extLst>
              <a:ext uri="{FF2B5EF4-FFF2-40B4-BE49-F238E27FC236}">
                <a16:creationId xmlns:a16="http://schemas.microsoft.com/office/drawing/2014/main" id="{947D9B0B-5069-0C7F-BF96-81B50D89FB36}"/>
              </a:ext>
            </a:extLst>
          </p:cNvPr>
          <p:cNvSpPr/>
          <p:nvPr/>
        </p:nvSpPr>
        <p:spPr>
          <a:xfrm>
            <a:off x="5182694" y="3052850"/>
            <a:ext cx="2242060" cy="2092881"/>
          </a:xfrm>
          <a:prstGeom prst="rect">
            <a:avLst/>
          </a:prstGeom>
        </p:spPr>
        <p:txBody>
          <a:bodyPr wrap="square" lIns="0" tIns="0" rIns="0" bIns="0">
            <a:spAutoFit/>
          </a:bodyPr>
          <a:lstStyle/>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Unstructured maintenance planning because of poor asset inventory management leads to increased capital and operational expenditure.</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Difficulty in financial planning – capex, budgets, allocations, and finances.</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Spare parts management for critical assets becomes difficult.</a:t>
            </a:r>
          </a:p>
        </p:txBody>
      </p:sp>
      <p:sp>
        <p:nvSpPr>
          <p:cNvPr id="40" name="Rectangle 39">
            <a:extLst>
              <a:ext uri="{FF2B5EF4-FFF2-40B4-BE49-F238E27FC236}">
                <a16:creationId xmlns:a16="http://schemas.microsoft.com/office/drawing/2014/main" id="{34A5C143-AF36-7075-7E6B-7CDE978D31EA}"/>
              </a:ext>
            </a:extLst>
          </p:cNvPr>
          <p:cNvSpPr/>
          <p:nvPr/>
        </p:nvSpPr>
        <p:spPr>
          <a:xfrm>
            <a:off x="7499218" y="3052850"/>
            <a:ext cx="2242060" cy="2600712"/>
          </a:xfrm>
          <a:prstGeom prst="rect">
            <a:avLst/>
          </a:prstGeom>
        </p:spPr>
        <p:txBody>
          <a:bodyPr wrap="square" lIns="0" tIns="0" rIns="0" bIns="0">
            <a:spAutoFit/>
          </a:bodyPr>
          <a:lstStyle/>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Inadequate asset management policies, processes, and controls  across the asset value chain.</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In particular,  processes and policies need to be in place for asset removals, movements, condition assessment, replacement plans, asset verification and retirement.</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Is a pre-requisite before implementation of any Asset Management Software</a:t>
            </a:r>
          </a:p>
        </p:txBody>
      </p:sp>
      <p:sp>
        <p:nvSpPr>
          <p:cNvPr id="41" name="Rectangle 40">
            <a:extLst>
              <a:ext uri="{FF2B5EF4-FFF2-40B4-BE49-F238E27FC236}">
                <a16:creationId xmlns:a16="http://schemas.microsoft.com/office/drawing/2014/main" id="{F96590CF-B405-A01B-7159-51A2BDC71E10}"/>
              </a:ext>
            </a:extLst>
          </p:cNvPr>
          <p:cNvSpPr/>
          <p:nvPr/>
        </p:nvSpPr>
        <p:spPr>
          <a:xfrm>
            <a:off x="9815742" y="3052850"/>
            <a:ext cx="2242060" cy="2716128"/>
          </a:xfrm>
          <a:prstGeom prst="rect">
            <a:avLst/>
          </a:prstGeom>
        </p:spPr>
        <p:txBody>
          <a:bodyPr wrap="square" lIns="0" tIns="0" rIns="0" bIns="0">
            <a:spAutoFit/>
          </a:bodyPr>
          <a:lstStyle/>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Capital project monitoring, operations &amp; maintenance, sustenance of a reliable asset register define the type of IT solution to be procured.</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Selection of the appropriate asset management IT tool is critical for utilities</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Huge asset data is a major hurdle for Asset Management Software implementation</a:t>
            </a:r>
          </a:p>
          <a:p>
            <a:pPr marL="171450" indent="-171450">
              <a:spcBef>
                <a:spcPts val="300"/>
              </a:spcBef>
              <a:spcAft>
                <a:spcPts val="600"/>
              </a:spcAft>
              <a:buFont typeface="Arial" panose="020B0604020202020204" pitchFamily="34" charset="0"/>
              <a:buChar char="•"/>
            </a:pPr>
            <a:r>
              <a:rPr lang="en-US" sz="1100" dirty="0">
                <a:latin typeface="Verdana" panose="020B0604030504040204" pitchFamily="34" charset="0"/>
                <a:ea typeface="Verdana" panose="020B0604030504040204" pitchFamily="34" charset="0"/>
                <a:cs typeface="Arial" charset="0"/>
              </a:rPr>
              <a:t>Integration of Tool with Accounting Software</a:t>
            </a:r>
          </a:p>
        </p:txBody>
      </p:sp>
      <p:sp>
        <p:nvSpPr>
          <p:cNvPr id="108" name="Oval 107">
            <a:extLst>
              <a:ext uri="{FF2B5EF4-FFF2-40B4-BE49-F238E27FC236}">
                <a16:creationId xmlns:a16="http://schemas.microsoft.com/office/drawing/2014/main" id="{6F3C149C-689E-BA69-C916-6264CAC2C3E2}"/>
              </a:ext>
            </a:extLst>
          </p:cNvPr>
          <p:cNvSpPr/>
          <p:nvPr/>
        </p:nvSpPr>
        <p:spPr>
          <a:xfrm>
            <a:off x="1202509" y="1302879"/>
            <a:ext cx="843114" cy="843114"/>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a:latin typeface="Verdana" panose="020B0604030504040204" pitchFamily="34" charset="0"/>
              <a:ea typeface="Verdana" panose="020B0604030504040204" pitchFamily="34" charset="0"/>
            </a:endParaRPr>
          </a:p>
        </p:txBody>
      </p:sp>
      <p:grpSp>
        <p:nvGrpSpPr>
          <p:cNvPr id="43" name="Group 42">
            <a:extLst>
              <a:ext uri="{FF2B5EF4-FFF2-40B4-BE49-F238E27FC236}">
                <a16:creationId xmlns:a16="http://schemas.microsoft.com/office/drawing/2014/main" id="{602932EA-0BEB-7B5B-69DB-548F5DBADF0A}"/>
              </a:ext>
            </a:extLst>
          </p:cNvPr>
          <p:cNvGrpSpPr/>
          <p:nvPr/>
        </p:nvGrpSpPr>
        <p:grpSpPr>
          <a:xfrm>
            <a:off x="1404328" y="1527389"/>
            <a:ext cx="439476" cy="394095"/>
            <a:chOff x="1139449" y="4548258"/>
            <a:chExt cx="412236" cy="369667"/>
          </a:xfrm>
          <a:solidFill>
            <a:schemeClr val="accent5"/>
          </a:solidFill>
        </p:grpSpPr>
        <p:sp>
          <p:nvSpPr>
            <p:cNvPr id="44" name="Freeform 981">
              <a:extLst>
                <a:ext uri="{FF2B5EF4-FFF2-40B4-BE49-F238E27FC236}">
                  <a16:creationId xmlns:a16="http://schemas.microsoft.com/office/drawing/2014/main" id="{AD27F43E-24AD-7406-2DD2-B75527CF7C0B}"/>
                </a:ext>
              </a:extLst>
            </p:cNvPr>
            <p:cNvSpPr>
              <a:spLocks/>
            </p:cNvSpPr>
            <p:nvPr/>
          </p:nvSpPr>
          <p:spPr bwMode="auto">
            <a:xfrm>
              <a:off x="1139449" y="4886559"/>
              <a:ext cx="221801" cy="31366"/>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w="3175">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100">
                <a:latin typeface="Verdana" panose="020B0604030504040204" pitchFamily="34" charset="0"/>
                <a:ea typeface="Verdana" panose="020B0604030504040204" pitchFamily="34" charset="0"/>
              </a:endParaRPr>
            </a:p>
          </p:txBody>
        </p:sp>
        <p:sp>
          <p:nvSpPr>
            <p:cNvPr id="45" name="Freeform 982">
              <a:extLst>
                <a:ext uri="{FF2B5EF4-FFF2-40B4-BE49-F238E27FC236}">
                  <a16:creationId xmlns:a16="http://schemas.microsoft.com/office/drawing/2014/main" id="{EF06ECE5-11FE-D2DB-9A07-9D2F1CB7FE26}"/>
                </a:ext>
              </a:extLst>
            </p:cNvPr>
            <p:cNvSpPr>
              <a:spLocks noEditPoints="1"/>
            </p:cNvSpPr>
            <p:nvPr/>
          </p:nvSpPr>
          <p:spPr bwMode="auto">
            <a:xfrm>
              <a:off x="1184257" y="4548258"/>
              <a:ext cx="367428" cy="369667"/>
            </a:xfrm>
            <a:custGeom>
              <a:avLst/>
              <a:gdLst>
                <a:gd name="T0" fmla="*/ 244 w 248"/>
                <a:gd name="T1" fmla="*/ 230 h 248"/>
                <a:gd name="T2" fmla="*/ 148 w 248"/>
                <a:gd name="T3" fmla="*/ 132 h 248"/>
                <a:gd name="T4" fmla="*/ 148 w 248"/>
                <a:gd name="T5" fmla="*/ 132 h 248"/>
                <a:gd name="T6" fmla="*/ 185 w 248"/>
                <a:gd name="T7" fmla="*/ 95 h 248"/>
                <a:gd name="T8" fmla="*/ 193 w 248"/>
                <a:gd name="T9" fmla="*/ 98 h 248"/>
                <a:gd name="T10" fmla="*/ 200 w 248"/>
                <a:gd name="T11" fmla="*/ 95 h 248"/>
                <a:gd name="T12" fmla="*/ 200 w 248"/>
                <a:gd name="T13" fmla="*/ 79 h 248"/>
                <a:gd name="T14" fmla="*/ 125 w 248"/>
                <a:gd name="T15" fmla="*/ 4 h 248"/>
                <a:gd name="T16" fmla="*/ 110 w 248"/>
                <a:gd name="T17" fmla="*/ 4 h 248"/>
                <a:gd name="T18" fmla="*/ 110 w 248"/>
                <a:gd name="T19" fmla="*/ 19 h 248"/>
                <a:gd name="T20" fmla="*/ 19 w 248"/>
                <a:gd name="T21" fmla="*/ 110 h 248"/>
                <a:gd name="T22" fmla="*/ 4 w 248"/>
                <a:gd name="T23" fmla="*/ 110 h 248"/>
                <a:gd name="T24" fmla="*/ 4 w 248"/>
                <a:gd name="T25" fmla="*/ 125 h 248"/>
                <a:gd name="T26" fmla="*/ 80 w 248"/>
                <a:gd name="T27" fmla="*/ 200 h 248"/>
                <a:gd name="T28" fmla="*/ 87 w 248"/>
                <a:gd name="T29" fmla="*/ 203 h 248"/>
                <a:gd name="T30" fmla="*/ 95 w 248"/>
                <a:gd name="T31" fmla="*/ 200 h 248"/>
                <a:gd name="T32" fmla="*/ 95 w 248"/>
                <a:gd name="T33" fmla="*/ 185 h 248"/>
                <a:gd name="T34" fmla="*/ 95 w 248"/>
                <a:gd name="T35" fmla="*/ 185 h 248"/>
                <a:gd name="T36" fmla="*/ 132 w 248"/>
                <a:gd name="T37" fmla="*/ 147 h 248"/>
                <a:gd name="T38" fmla="*/ 229 w 248"/>
                <a:gd name="T39" fmla="*/ 245 h 248"/>
                <a:gd name="T40" fmla="*/ 237 w 248"/>
                <a:gd name="T41" fmla="*/ 248 h 248"/>
                <a:gd name="T42" fmla="*/ 244 w 248"/>
                <a:gd name="T43" fmla="*/ 245 h 248"/>
                <a:gd name="T44" fmla="*/ 244 w 248"/>
                <a:gd name="T45" fmla="*/ 230 h 248"/>
                <a:gd name="T46" fmla="*/ 34 w 248"/>
                <a:gd name="T47" fmla="*/ 125 h 248"/>
                <a:gd name="T48" fmla="*/ 125 w 248"/>
                <a:gd name="T49" fmla="*/ 34 h 248"/>
                <a:gd name="T50" fmla="*/ 170 w 248"/>
                <a:gd name="T51" fmla="*/ 79 h 248"/>
                <a:gd name="T52" fmla="*/ 80 w 248"/>
                <a:gd name="T53" fmla="*/ 170 h 248"/>
                <a:gd name="T54" fmla="*/ 34 w 248"/>
                <a:gd name="T55" fmla="*/ 125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8" h="248">
                  <a:moveTo>
                    <a:pt x="244" y="230"/>
                  </a:moveTo>
                  <a:cubicBezTo>
                    <a:pt x="148" y="132"/>
                    <a:pt x="148" y="132"/>
                    <a:pt x="148" y="132"/>
                  </a:cubicBezTo>
                  <a:cubicBezTo>
                    <a:pt x="148" y="132"/>
                    <a:pt x="148" y="132"/>
                    <a:pt x="148" y="132"/>
                  </a:cubicBezTo>
                  <a:cubicBezTo>
                    <a:pt x="185" y="95"/>
                    <a:pt x="185" y="95"/>
                    <a:pt x="185" y="95"/>
                  </a:cubicBezTo>
                  <a:cubicBezTo>
                    <a:pt x="187" y="97"/>
                    <a:pt x="190" y="98"/>
                    <a:pt x="193" y="98"/>
                  </a:cubicBezTo>
                  <a:cubicBezTo>
                    <a:pt x="196" y="98"/>
                    <a:pt x="198" y="97"/>
                    <a:pt x="200" y="95"/>
                  </a:cubicBezTo>
                  <a:cubicBezTo>
                    <a:pt x="205" y="90"/>
                    <a:pt x="205" y="84"/>
                    <a:pt x="200" y="79"/>
                  </a:cubicBezTo>
                  <a:cubicBezTo>
                    <a:pt x="125" y="4"/>
                    <a:pt x="125" y="4"/>
                    <a:pt x="125" y="4"/>
                  </a:cubicBezTo>
                  <a:cubicBezTo>
                    <a:pt x="121" y="0"/>
                    <a:pt x="114" y="0"/>
                    <a:pt x="110" y="4"/>
                  </a:cubicBezTo>
                  <a:cubicBezTo>
                    <a:pt x="106" y="8"/>
                    <a:pt x="106" y="15"/>
                    <a:pt x="110" y="19"/>
                  </a:cubicBezTo>
                  <a:cubicBezTo>
                    <a:pt x="19" y="110"/>
                    <a:pt x="19" y="110"/>
                    <a:pt x="19" y="110"/>
                  </a:cubicBezTo>
                  <a:cubicBezTo>
                    <a:pt x="15" y="105"/>
                    <a:pt x="8" y="105"/>
                    <a:pt x="4" y="110"/>
                  </a:cubicBezTo>
                  <a:cubicBezTo>
                    <a:pt x="0" y="114"/>
                    <a:pt x="0" y="121"/>
                    <a:pt x="4" y="125"/>
                  </a:cubicBezTo>
                  <a:cubicBezTo>
                    <a:pt x="80" y="200"/>
                    <a:pt x="80" y="200"/>
                    <a:pt x="80" y="200"/>
                  </a:cubicBezTo>
                  <a:cubicBezTo>
                    <a:pt x="82" y="202"/>
                    <a:pt x="84" y="203"/>
                    <a:pt x="87" y="203"/>
                  </a:cubicBezTo>
                  <a:cubicBezTo>
                    <a:pt x="90" y="203"/>
                    <a:pt x="93" y="202"/>
                    <a:pt x="95" y="200"/>
                  </a:cubicBezTo>
                  <a:cubicBezTo>
                    <a:pt x="99" y="196"/>
                    <a:pt x="99" y="189"/>
                    <a:pt x="95" y="185"/>
                  </a:cubicBezTo>
                  <a:cubicBezTo>
                    <a:pt x="95" y="185"/>
                    <a:pt x="95" y="185"/>
                    <a:pt x="95" y="185"/>
                  </a:cubicBezTo>
                  <a:cubicBezTo>
                    <a:pt x="132" y="147"/>
                    <a:pt x="132" y="147"/>
                    <a:pt x="132" y="147"/>
                  </a:cubicBezTo>
                  <a:cubicBezTo>
                    <a:pt x="229" y="245"/>
                    <a:pt x="229" y="245"/>
                    <a:pt x="229" y="245"/>
                  </a:cubicBezTo>
                  <a:cubicBezTo>
                    <a:pt x="231" y="247"/>
                    <a:pt x="234" y="248"/>
                    <a:pt x="237" y="248"/>
                  </a:cubicBezTo>
                  <a:cubicBezTo>
                    <a:pt x="239" y="248"/>
                    <a:pt x="242" y="247"/>
                    <a:pt x="244" y="245"/>
                  </a:cubicBezTo>
                  <a:cubicBezTo>
                    <a:pt x="248" y="241"/>
                    <a:pt x="248" y="234"/>
                    <a:pt x="244" y="230"/>
                  </a:cubicBezTo>
                  <a:close/>
                  <a:moveTo>
                    <a:pt x="34" y="125"/>
                  </a:moveTo>
                  <a:cubicBezTo>
                    <a:pt x="125" y="34"/>
                    <a:pt x="125" y="34"/>
                    <a:pt x="125" y="34"/>
                  </a:cubicBezTo>
                  <a:cubicBezTo>
                    <a:pt x="170" y="79"/>
                    <a:pt x="170" y="79"/>
                    <a:pt x="170" y="79"/>
                  </a:cubicBezTo>
                  <a:cubicBezTo>
                    <a:pt x="80" y="170"/>
                    <a:pt x="80" y="170"/>
                    <a:pt x="80" y="170"/>
                  </a:cubicBezTo>
                  <a:lnTo>
                    <a:pt x="34" y="125"/>
                  </a:lnTo>
                  <a:close/>
                </a:path>
              </a:pathLst>
            </a:custGeom>
            <a:grpFill/>
            <a:ln w="3175">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100">
                <a:latin typeface="Verdana" panose="020B0604030504040204" pitchFamily="34" charset="0"/>
                <a:ea typeface="Verdana" panose="020B0604030504040204" pitchFamily="34" charset="0"/>
              </a:endParaRPr>
            </a:p>
          </p:txBody>
        </p:sp>
      </p:grpSp>
      <p:grpSp>
        <p:nvGrpSpPr>
          <p:cNvPr id="116" name="Group 115">
            <a:extLst>
              <a:ext uri="{FF2B5EF4-FFF2-40B4-BE49-F238E27FC236}">
                <a16:creationId xmlns:a16="http://schemas.microsoft.com/office/drawing/2014/main" id="{DBB27425-B6A7-A71A-F4C9-6E06EF9D661C}"/>
              </a:ext>
            </a:extLst>
          </p:cNvPr>
          <p:cNvGrpSpPr/>
          <p:nvPr/>
        </p:nvGrpSpPr>
        <p:grpSpPr>
          <a:xfrm>
            <a:off x="8152079" y="1302879"/>
            <a:ext cx="843114" cy="843114"/>
            <a:chOff x="8279458" y="1302879"/>
            <a:chExt cx="843114" cy="843114"/>
          </a:xfrm>
        </p:grpSpPr>
        <p:sp>
          <p:nvSpPr>
            <p:cNvPr id="111" name="Oval 110">
              <a:extLst>
                <a:ext uri="{FF2B5EF4-FFF2-40B4-BE49-F238E27FC236}">
                  <a16:creationId xmlns:a16="http://schemas.microsoft.com/office/drawing/2014/main" id="{9C4FC40F-3BC0-D803-2D52-B9A78CB626AC}"/>
                </a:ext>
              </a:extLst>
            </p:cNvPr>
            <p:cNvSpPr/>
            <p:nvPr/>
          </p:nvSpPr>
          <p:spPr>
            <a:xfrm>
              <a:off x="8279458" y="1302879"/>
              <a:ext cx="843114" cy="843114"/>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a:latin typeface="Verdana" panose="020B0604030504040204" pitchFamily="34" charset="0"/>
                <a:ea typeface="Verdana" panose="020B0604030504040204" pitchFamily="34" charset="0"/>
              </a:endParaRPr>
            </a:p>
          </p:txBody>
        </p:sp>
        <p:grpSp>
          <p:nvGrpSpPr>
            <p:cNvPr id="54" name="Group 53">
              <a:extLst>
                <a:ext uri="{FF2B5EF4-FFF2-40B4-BE49-F238E27FC236}">
                  <a16:creationId xmlns:a16="http://schemas.microsoft.com/office/drawing/2014/main" id="{40116266-A017-5A37-674E-2DFDD9718D7E}"/>
                </a:ext>
              </a:extLst>
            </p:cNvPr>
            <p:cNvGrpSpPr/>
            <p:nvPr/>
          </p:nvGrpSpPr>
          <p:grpSpPr>
            <a:xfrm>
              <a:off x="8492540" y="1446543"/>
              <a:ext cx="416950" cy="555786"/>
              <a:chOff x="5119609" y="3788885"/>
              <a:chExt cx="526606" cy="701955"/>
            </a:xfrm>
            <a:solidFill>
              <a:schemeClr val="accent1"/>
            </a:solidFill>
          </p:grpSpPr>
          <p:sp>
            <p:nvSpPr>
              <p:cNvPr id="55" name="Freeform 32">
                <a:extLst>
                  <a:ext uri="{FF2B5EF4-FFF2-40B4-BE49-F238E27FC236}">
                    <a16:creationId xmlns:a16="http://schemas.microsoft.com/office/drawing/2014/main" id="{6E8CFE2C-4E82-CD16-CF3E-1DCBDAC8EF19}"/>
                  </a:ext>
                </a:extLst>
              </p:cNvPr>
              <p:cNvSpPr>
                <a:spLocks/>
              </p:cNvSpPr>
              <p:nvPr/>
            </p:nvSpPr>
            <p:spPr bwMode="auto">
              <a:xfrm>
                <a:off x="5407405" y="4115091"/>
                <a:ext cx="150857" cy="21710"/>
              </a:xfrm>
              <a:custGeom>
                <a:avLst/>
                <a:gdLst>
                  <a:gd name="T0" fmla="*/ 12 w 220"/>
                  <a:gd name="T1" fmla="*/ 0 h 32"/>
                  <a:gd name="T2" fmla="*/ 208 w 220"/>
                  <a:gd name="T3" fmla="*/ 0 h 32"/>
                  <a:gd name="T4" fmla="*/ 220 w 220"/>
                  <a:gd name="T5" fmla="*/ 12 h 32"/>
                  <a:gd name="T6" fmla="*/ 220 w 220"/>
                  <a:gd name="T7" fmla="*/ 20 h 32"/>
                  <a:gd name="T8" fmla="*/ 208 w 220"/>
                  <a:gd name="T9" fmla="*/ 32 h 32"/>
                  <a:gd name="T10" fmla="*/ 12 w 220"/>
                  <a:gd name="T11" fmla="*/ 32 h 32"/>
                  <a:gd name="T12" fmla="*/ 0 w 220"/>
                  <a:gd name="T13" fmla="*/ 20 h 32"/>
                  <a:gd name="T14" fmla="*/ 0 w 220"/>
                  <a:gd name="T15" fmla="*/ 12 h 32"/>
                  <a:gd name="T16" fmla="*/ 12 w 220"/>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0" h="32">
                    <a:moveTo>
                      <a:pt x="12" y="0"/>
                    </a:moveTo>
                    <a:cubicBezTo>
                      <a:pt x="208" y="0"/>
                      <a:pt x="208" y="0"/>
                      <a:pt x="208" y="0"/>
                    </a:cubicBezTo>
                    <a:cubicBezTo>
                      <a:pt x="215" y="0"/>
                      <a:pt x="220" y="5"/>
                      <a:pt x="220" y="12"/>
                    </a:cubicBezTo>
                    <a:cubicBezTo>
                      <a:pt x="220" y="20"/>
                      <a:pt x="220" y="20"/>
                      <a:pt x="220" y="20"/>
                    </a:cubicBezTo>
                    <a:cubicBezTo>
                      <a:pt x="220" y="26"/>
                      <a:pt x="215" y="32"/>
                      <a:pt x="208" y="32"/>
                    </a:cubicBezTo>
                    <a:cubicBezTo>
                      <a:pt x="12" y="32"/>
                      <a:pt x="12" y="32"/>
                      <a:pt x="12" y="32"/>
                    </a:cubicBezTo>
                    <a:cubicBezTo>
                      <a:pt x="5" y="32"/>
                      <a:pt x="0" y="26"/>
                      <a:pt x="0" y="20"/>
                    </a:cubicBezTo>
                    <a:cubicBezTo>
                      <a:pt x="0" y="12"/>
                      <a:pt x="0" y="12"/>
                      <a:pt x="0" y="12"/>
                    </a:cubicBezTo>
                    <a:cubicBezTo>
                      <a:pt x="0" y="5"/>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100">
                  <a:latin typeface="Verdana" panose="020B0604030504040204" pitchFamily="34" charset="0"/>
                  <a:ea typeface="Verdana" panose="020B0604030504040204" pitchFamily="34" charset="0"/>
                </a:endParaRPr>
              </a:p>
            </p:txBody>
          </p:sp>
          <p:sp>
            <p:nvSpPr>
              <p:cNvPr id="56" name="Freeform 33">
                <a:extLst>
                  <a:ext uri="{FF2B5EF4-FFF2-40B4-BE49-F238E27FC236}">
                    <a16:creationId xmlns:a16="http://schemas.microsoft.com/office/drawing/2014/main" id="{F6B5F8CC-391E-1ACA-F5F0-8DB671CA6A9E}"/>
                  </a:ext>
                </a:extLst>
              </p:cNvPr>
              <p:cNvSpPr>
                <a:spLocks/>
              </p:cNvSpPr>
              <p:nvPr/>
            </p:nvSpPr>
            <p:spPr bwMode="auto">
              <a:xfrm>
                <a:off x="5366211" y="4191911"/>
                <a:ext cx="192050" cy="21710"/>
              </a:xfrm>
              <a:custGeom>
                <a:avLst/>
                <a:gdLst>
                  <a:gd name="T0" fmla="*/ 12 w 280"/>
                  <a:gd name="T1" fmla="*/ 0 h 32"/>
                  <a:gd name="T2" fmla="*/ 268 w 280"/>
                  <a:gd name="T3" fmla="*/ 0 h 32"/>
                  <a:gd name="T4" fmla="*/ 280 w 280"/>
                  <a:gd name="T5" fmla="*/ 12 h 32"/>
                  <a:gd name="T6" fmla="*/ 280 w 280"/>
                  <a:gd name="T7" fmla="*/ 20 h 32"/>
                  <a:gd name="T8" fmla="*/ 268 w 280"/>
                  <a:gd name="T9" fmla="*/ 32 h 32"/>
                  <a:gd name="T10" fmla="*/ 12 w 280"/>
                  <a:gd name="T11" fmla="*/ 32 h 32"/>
                  <a:gd name="T12" fmla="*/ 0 w 280"/>
                  <a:gd name="T13" fmla="*/ 20 h 32"/>
                  <a:gd name="T14" fmla="*/ 0 w 280"/>
                  <a:gd name="T15" fmla="*/ 12 h 32"/>
                  <a:gd name="T16" fmla="*/ 12 w 280"/>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0" h="32">
                    <a:moveTo>
                      <a:pt x="12" y="0"/>
                    </a:moveTo>
                    <a:cubicBezTo>
                      <a:pt x="268" y="0"/>
                      <a:pt x="268" y="0"/>
                      <a:pt x="268" y="0"/>
                    </a:cubicBezTo>
                    <a:cubicBezTo>
                      <a:pt x="275" y="0"/>
                      <a:pt x="280" y="5"/>
                      <a:pt x="280" y="12"/>
                    </a:cubicBezTo>
                    <a:cubicBezTo>
                      <a:pt x="280" y="20"/>
                      <a:pt x="280" y="20"/>
                      <a:pt x="280" y="20"/>
                    </a:cubicBezTo>
                    <a:cubicBezTo>
                      <a:pt x="280" y="26"/>
                      <a:pt x="275" y="32"/>
                      <a:pt x="268" y="32"/>
                    </a:cubicBezTo>
                    <a:cubicBezTo>
                      <a:pt x="12" y="32"/>
                      <a:pt x="12" y="32"/>
                      <a:pt x="12" y="32"/>
                    </a:cubicBezTo>
                    <a:cubicBezTo>
                      <a:pt x="5" y="32"/>
                      <a:pt x="0" y="26"/>
                      <a:pt x="0" y="20"/>
                    </a:cubicBezTo>
                    <a:cubicBezTo>
                      <a:pt x="0" y="12"/>
                      <a:pt x="0" y="12"/>
                      <a:pt x="0" y="12"/>
                    </a:cubicBezTo>
                    <a:cubicBezTo>
                      <a:pt x="0" y="5"/>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100">
                  <a:latin typeface="Verdana" panose="020B0604030504040204" pitchFamily="34" charset="0"/>
                  <a:ea typeface="Verdana" panose="020B0604030504040204" pitchFamily="34" charset="0"/>
                </a:endParaRPr>
              </a:p>
            </p:txBody>
          </p:sp>
          <p:sp>
            <p:nvSpPr>
              <p:cNvPr id="57" name="Freeform 34">
                <a:extLst>
                  <a:ext uri="{FF2B5EF4-FFF2-40B4-BE49-F238E27FC236}">
                    <a16:creationId xmlns:a16="http://schemas.microsoft.com/office/drawing/2014/main" id="{BD19E8AC-7CB7-0635-0FEF-D139418EE8FE}"/>
                  </a:ext>
                </a:extLst>
              </p:cNvPr>
              <p:cNvSpPr>
                <a:spLocks/>
              </p:cNvSpPr>
              <p:nvPr/>
            </p:nvSpPr>
            <p:spPr bwMode="auto">
              <a:xfrm>
                <a:off x="5366211" y="4041055"/>
                <a:ext cx="192050" cy="21710"/>
              </a:xfrm>
              <a:custGeom>
                <a:avLst/>
                <a:gdLst>
                  <a:gd name="T0" fmla="*/ 12 w 280"/>
                  <a:gd name="T1" fmla="*/ 0 h 32"/>
                  <a:gd name="T2" fmla="*/ 268 w 280"/>
                  <a:gd name="T3" fmla="*/ 0 h 32"/>
                  <a:gd name="T4" fmla="*/ 280 w 280"/>
                  <a:gd name="T5" fmla="*/ 12 h 32"/>
                  <a:gd name="T6" fmla="*/ 280 w 280"/>
                  <a:gd name="T7" fmla="*/ 20 h 32"/>
                  <a:gd name="T8" fmla="*/ 268 w 280"/>
                  <a:gd name="T9" fmla="*/ 32 h 32"/>
                  <a:gd name="T10" fmla="*/ 12 w 280"/>
                  <a:gd name="T11" fmla="*/ 32 h 32"/>
                  <a:gd name="T12" fmla="*/ 0 w 280"/>
                  <a:gd name="T13" fmla="*/ 20 h 32"/>
                  <a:gd name="T14" fmla="*/ 0 w 280"/>
                  <a:gd name="T15" fmla="*/ 12 h 32"/>
                  <a:gd name="T16" fmla="*/ 12 w 280"/>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0" h="32">
                    <a:moveTo>
                      <a:pt x="12" y="0"/>
                    </a:moveTo>
                    <a:cubicBezTo>
                      <a:pt x="268" y="0"/>
                      <a:pt x="268" y="0"/>
                      <a:pt x="268" y="0"/>
                    </a:cubicBezTo>
                    <a:cubicBezTo>
                      <a:pt x="275" y="0"/>
                      <a:pt x="280" y="6"/>
                      <a:pt x="280" y="12"/>
                    </a:cubicBezTo>
                    <a:cubicBezTo>
                      <a:pt x="280" y="20"/>
                      <a:pt x="280" y="20"/>
                      <a:pt x="280" y="20"/>
                    </a:cubicBezTo>
                    <a:cubicBezTo>
                      <a:pt x="280" y="27"/>
                      <a:pt x="275" y="32"/>
                      <a:pt x="268" y="32"/>
                    </a:cubicBezTo>
                    <a:cubicBezTo>
                      <a:pt x="12" y="32"/>
                      <a:pt x="12" y="32"/>
                      <a:pt x="12" y="32"/>
                    </a:cubicBezTo>
                    <a:cubicBezTo>
                      <a:pt x="5" y="32"/>
                      <a:pt x="0" y="27"/>
                      <a:pt x="0" y="20"/>
                    </a:cubicBezTo>
                    <a:cubicBezTo>
                      <a:pt x="0" y="12"/>
                      <a:pt x="0" y="12"/>
                      <a:pt x="0" y="12"/>
                    </a:cubicBezTo>
                    <a:cubicBezTo>
                      <a:pt x="0" y="6"/>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100">
                  <a:latin typeface="Verdana" panose="020B0604030504040204" pitchFamily="34" charset="0"/>
                  <a:ea typeface="Verdana" panose="020B0604030504040204" pitchFamily="34" charset="0"/>
                </a:endParaRPr>
              </a:p>
            </p:txBody>
          </p:sp>
          <p:sp>
            <p:nvSpPr>
              <p:cNvPr id="58" name="Freeform 35">
                <a:extLst>
                  <a:ext uri="{FF2B5EF4-FFF2-40B4-BE49-F238E27FC236}">
                    <a16:creationId xmlns:a16="http://schemas.microsoft.com/office/drawing/2014/main" id="{D70A8680-8C3D-8B1B-FCE9-8D04D9D49841}"/>
                  </a:ext>
                </a:extLst>
              </p:cNvPr>
              <p:cNvSpPr>
                <a:spLocks noEditPoints="1"/>
              </p:cNvSpPr>
              <p:nvPr/>
            </p:nvSpPr>
            <p:spPr bwMode="auto">
              <a:xfrm>
                <a:off x="5207562" y="4002645"/>
                <a:ext cx="131373" cy="131930"/>
              </a:xfrm>
              <a:custGeom>
                <a:avLst/>
                <a:gdLst>
                  <a:gd name="T0" fmla="*/ 78 w 192"/>
                  <a:gd name="T1" fmla="*/ 109 h 192"/>
                  <a:gd name="T2" fmla="*/ 95 w 192"/>
                  <a:gd name="T3" fmla="*/ 87 h 192"/>
                  <a:gd name="T4" fmla="*/ 131 w 192"/>
                  <a:gd name="T5" fmla="*/ 49 h 192"/>
                  <a:gd name="T6" fmla="*/ 155 w 192"/>
                  <a:gd name="T7" fmla="*/ 50 h 192"/>
                  <a:gd name="T8" fmla="*/ 154 w 192"/>
                  <a:gd name="T9" fmla="*/ 74 h 192"/>
                  <a:gd name="T10" fmla="*/ 121 w 192"/>
                  <a:gd name="T11" fmla="*/ 108 h 192"/>
                  <a:gd name="T12" fmla="*/ 94 w 192"/>
                  <a:gd name="T13" fmla="*/ 147 h 192"/>
                  <a:gd name="T14" fmla="*/ 89 w 192"/>
                  <a:gd name="T15" fmla="*/ 153 h 192"/>
                  <a:gd name="T16" fmla="*/ 66 w 192"/>
                  <a:gd name="T17" fmla="*/ 149 h 192"/>
                  <a:gd name="T18" fmla="*/ 26 w 192"/>
                  <a:gd name="T19" fmla="*/ 96 h 192"/>
                  <a:gd name="T20" fmla="*/ 29 w 192"/>
                  <a:gd name="T21" fmla="*/ 72 h 192"/>
                  <a:gd name="T22" fmla="*/ 53 w 192"/>
                  <a:gd name="T23" fmla="*/ 76 h 192"/>
                  <a:gd name="T24" fmla="*/ 78 w 192"/>
                  <a:gd name="T25" fmla="*/ 109 h 192"/>
                  <a:gd name="T26" fmla="*/ 96 w 192"/>
                  <a:gd name="T27" fmla="*/ 192 h 192"/>
                  <a:gd name="T28" fmla="*/ 164 w 192"/>
                  <a:gd name="T29" fmla="*/ 164 h 192"/>
                  <a:gd name="T30" fmla="*/ 192 w 192"/>
                  <a:gd name="T31" fmla="*/ 96 h 192"/>
                  <a:gd name="T32" fmla="*/ 164 w 192"/>
                  <a:gd name="T33" fmla="*/ 28 h 192"/>
                  <a:gd name="T34" fmla="*/ 96 w 192"/>
                  <a:gd name="T35" fmla="*/ 0 h 192"/>
                  <a:gd name="T36" fmla="*/ 28 w 192"/>
                  <a:gd name="T37" fmla="*/ 28 h 192"/>
                  <a:gd name="T38" fmla="*/ 0 w 192"/>
                  <a:gd name="T39" fmla="*/ 96 h 192"/>
                  <a:gd name="T40" fmla="*/ 28 w 192"/>
                  <a:gd name="T41" fmla="*/ 164 h 192"/>
                  <a:gd name="T42" fmla="*/ 96 w 192"/>
                  <a:gd name="T43"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2" h="192">
                    <a:moveTo>
                      <a:pt x="78" y="109"/>
                    </a:moveTo>
                    <a:cubicBezTo>
                      <a:pt x="83" y="102"/>
                      <a:pt x="89" y="94"/>
                      <a:pt x="95" y="87"/>
                    </a:cubicBezTo>
                    <a:cubicBezTo>
                      <a:pt x="106" y="73"/>
                      <a:pt x="118" y="61"/>
                      <a:pt x="131" y="49"/>
                    </a:cubicBezTo>
                    <a:cubicBezTo>
                      <a:pt x="137" y="42"/>
                      <a:pt x="148" y="43"/>
                      <a:pt x="155" y="50"/>
                    </a:cubicBezTo>
                    <a:cubicBezTo>
                      <a:pt x="161" y="57"/>
                      <a:pt x="161" y="67"/>
                      <a:pt x="154" y="74"/>
                    </a:cubicBezTo>
                    <a:cubicBezTo>
                      <a:pt x="142" y="84"/>
                      <a:pt x="131" y="96"/>
                      <a:pt x="121" y="108"/>
                    </a:cubicBezTo>
                    <a:cubicBezTo>
                      <a:pt x="111" y="121"/>
                      <a:pt x="102" y="134"/>
                      <a:pt x="94" y="147"/>
                    </a:cubicBezTo>
                    <a:cubicBezTo>
                      <a:pt x="93" y="150"/>
                      <a:pt x="91" y="152"/>
                      <a:pt x="89" y="153"/>
                    </a:cubicBezTo>
                    <a:cubicBezTo>
                      <a:pt x="82" y="159"/>
                      <a:pt x="71" y="157"/>
                      <a:pt x="66" y="149"/>
                    </a:cubicBezTo>
                    <a:cubicBezTo>
                      <a:pt x="26" y="96"/>
                      <a:pt x="26" y="96"/>
                      <a:pt x="26" y="96"/>
                    </a:cubicBezTo>
                    <a:cubicBezTo>
                      <a:pt x="20" y="88"/>
                      <a:pt x="22" y="78"/>
                      <a:pt x="29" y="72"/>
                    </a:cubicBezTo>
                    <a:cubicBezTo>
                      <a:pt x="37" y="67"/>
                      <a:pt x="48" y="68"/>
                      <a:pt x="53" y="76"/>
                    </a:cubicBezTo>
                    <a:cubicBezTo>
                      <a:pt x="78" y="109"/>
                      <a:pt x="78" y="109"/>
                      <a:pt x="78" y="109"/>
                    </a:cubicBezTo>
                    <a:close/>
                    <a:moveTo>
                      <a:pt x="96" y="192"/>
                    </a:moveTo>
                    <a:cubicBezTo>
                      <a:pt x="123" y="192"/>
                      <a:pt x="147" y="181"/>
                      <a:pt x="164" y="164"/>
                    </a:cubicBezTo>
                    <a:cubicBezTo>
                      <a:pt x="181" y="147"/>
                      <a:pt x="192" y="123"/>
                      <a:pt x="192" y="96"/>
                    </a:cubicBezTo>
                    <a:cubicBezTo>
                      <a:pt x="192" y="69"/>
                      <a:pt x="181" y="45"/>
                      <a:pt x="164" y="28"/>
                    </a:cubicBezTo>
                    <a:cubicBezTo>
                      <a:pt x="147" y="11"/>
                      <a:pt x="123" y="0"/>
                      <a:pt x="96" y="0"/>
                    </a:cubicBezTo>
                    <a:cubicBezTo>
                      <a:pt x="69" y="0"/>
                      <a:pt x="45" y="11"/>
                      <a:pt x="28" y="28"/>
                    </a:cubicBezTo>
                    <a:cubicBezTo>
                      <a:pt x="11" y="45"/>
                      <a:pt x="0" y="69"/>
                      <a:pt x="0" y="96"/>
                    </a:cubicBezTo>
                    <a:cubicBezTo>
                      <a:pt x="0" y="123"/>
                      <a:pt x="11" y="147"/>
                      <a:pt x="28" y="164"/>
                    </a:cubicBezTo>
                    <a:cubicBezTo>
                      <a:pt x="45" y="181"/>
                      <a:pt x="69" y="192"/>
                      <a:pt x="96"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100">
                  <a:latin typeface="Verdana" panose="020B0604030504040204" pitchFamily="34" charset="0"/>
                  <a:ea typeface="Verdana" panose="020B0604030504040204" pitchFamily="34" charset="0"/>
                </a:endParaRPr>
              </a:p>
            </p:txBody>
          </p:sp>
          <p:sp>
            <p:nvSpPr>
              <p:cNvPr id="61" name="Freeform 36">
                <a:extLst>
                  <a:ext uri="{FF2B5EF4-FFF2-40B4-BE49-F238E27FC236}">
                    <a16:creationId xmlns:a16="http://schemas.microsoft.com/office/drawing/2014/main" id="{13BBCF08-DAD2-A1F0-3662-5D4E15AD1044}"/>
                  </a:ext>
                </a:extLst>
              </p:cNvPr>
              <p:cNvSpPr>
                <a:spLocks noEditPoints="1"/>
              </p:cNvSpPr>
              <p:nvPr/>
            </p:nvSpPr>
            <p:spPr bwMode="auto">
              <a:xfrm>
                <a:off x="5119609" y="3788885"/>
                <a:ext cx="526606" cy="701955"/>
              </a:xfrm>
              <a:custGeom>
                <a:avLst/>
                <a:gdLst>
                  <a:gd name="T0" fmla="*/ 80 w 768"/>
                  <a:gd name="T1" fmla="*/ 104 h 1024"/>
                  <a:gd name="T2" fmla="*/ 164 w 768"/>
                  <a:gd name="T3" fmla="*/ 104 h 1024"/>
                  <a:gd name="T4" fmla="*/ 164 w 768"/>
                  <a:gd name="T5" fmla="*/ 152 h 1024"/>
                  <a:gd name="T6" fmla="*/ 80 w 768"/>
                  <a:gd name="T7" fmla="*/ 152 h 1024"/>
                  <a:gd name="T8" fmla="*/ 57 w 768"/>
                  <a:gd name="T9" fmla="*/ 161 h 1024"/>
                  <a:gd name="T10" fmla="*/ 48 w 768"/>
                  <a:gd name="T11" fmla="*/ 184 h 1024"/>
                  <a:gd name="T12" fmla="*/ 48 w 768"/>
                  <a:gd name="T13" fmla="*/ 944 h 1024"/>
                  <a:gd name="T14" fmla="*/ 57 w 768"/>
                  <a:gd name="T15" fmla="*/ 967 h 1024"/>
                  <a:gd name="T16" fmla="*/ 80 w 768"/>
                  <a:gd name="T17" fmla="*/ 976 h 1024"/>
                  <a:gd name="T18" fmla="*/ 688 w 768"/>
                  <a:gd name="T19" fmla="*/ 976 h 1024"/>
                  <a:gd name="T20" fmla="*/ 711 w 768"/>
                  <a:gd name="T21" fmla="*/ 967 h 1024"/>
                  <a:gd name="T22" fmla="*/ 720 w 768"/>
                  <a:gd name="T23" fmla="*/ 944 h 1024"/>
                  <a:gd name="T24" fmla="*/ 720 w 768"/>
                  <a:gd name="T25" fmla="*/ 184 h 1024"/>
                  <a:gd name="T26" fmla="*/ 711 w 768"/>
                  <a:gd name="T27" fmla="*/ 161 h 1024"/>
                  <a:gd name="T28" fmla="*/ 688 w 768"/>
                  <a:gd name="T29" fmla="*/ 152 h 1024"/>
                  <a:gd name="T30" fmla="*/ 604 w 768"/>
                  <a:gd name="T31" fmla="*/ 152 h 1024"/>
                  <a:gd name="T32" fmla="*/ 604 w 768"/>
                  <a:gd name="T33" fmla="*/ 104 h 1024"/>
                  <a:gd name="T34" fmla="*/ 688 w 768"/>
                  <a:gd name="T35" fmla="*/ 104 h 1024"/>
                  <a:gd name="T36" fmla="*/ 745 w 768"/>
                  <a:gd name="T37" fmla="*/ 127 h 1024"/>
                  <a:gd name="T38" fmla="*/ 768 w 768"/>
                  <a:gd name="T39" fmla="*/ 184 h 1024"/>
                  <a:gd name="T40" fmla="*/ 768 w 768"/>
                  <a:gd name="T41" fmla="*/ 944 h 1024"/>
                  <a:gd name="T42" fmla="*/ 745 w 768"/>
                  <a:gd name="T43" fmla="*/ 1001 h 1024"/>
                  <a:gd name="T44" fmla="*/ 688 w 768"/>
                  <a:gd name="T45" fmla="*/ 1024 h 1024"/>
                  <a:gd name="T46" fmla="*/ 80 w 768"/>
                  <a:gd name="T47" fmla="*/ 1024 h 1024"/>
                  <a:gd name="T48" fmla="*/ 23 w 768"/>
                  <a:gd name="T49" fmla="*/ 1001 h 1024"/>
                  <a:gd name="T50" fmla="*/ 0 w 768"/>
                  <a:gd name="T51" fmla="*/ 944 h 1024"/>
                  <a:gd name="T52" fmla="*/ 0 w 768"/>
                  <a:gd name="T53" fmla="*/ 184 h 1024"/>
                  <a:gd name="T54" fmla="*/ 23 w 768"/>
                  <a:gd name="T55" fmla="*/ 127 h 1024"/>
                  <a:gd name="T56" fmla="*/ 80 w 768"/>
                  <a:gd name="T57" fmla="*/ 104 h 1024"/>
                  <a:gd name="T58" fmla="*/ 220 w 768"/>
                  <a:gd name="T59" fmla="*/ 84 h 1024"/>
                  <a:gd name="T60" fmla="*/ 204 w 768"/>
                  <a:gd name="T61" fmla="*/ 100 h 1024"/>
                  <a:gd name="T62" fmla="*/ 204 w 768"/>
                  <a:gd name="T63" fmla="*/ 188 h 1024"/>
                  <a:gd name="T64" fmla="*/ 220 w 768"/>
                  <a:gd name="T65" fmla="*/ 204 h 1024"/>
                  <a:gd name="T66" fmla="*/ 548 w 768"/>
                  <a:gd name="T67" fmla="*/ 204 h 1024"/>
                  <a:gd name="T68" fmla="*/ 564 w 768"/>
                  <a:gd name="T69" fmla="*/ 188 h 1024"/>
                  <a:gd name="T70" fmla="*/ 564 w 768"/>
                  <a:gd name="T71" fmla="*/ 100 h 1024"/>
                  <a:gd name="T72" fmla="*/ 548 w 768"/>
                  <a:gd name="T73" fmla="*/ 84 h 1024"/>
                  <a:gd name="T74" fmla="*/ 468 w 768"/>
                  <a:gd name="T75" fmla="*/ 84 h 1024"/>
                  <a:gd name="T76" fmla="*/ 384 w 768"/>
                  <a:gd name="T77" fmla="*/ 0 h 1024"/>
                  <a:gd name="T78" fmla="*/ 300 w 768"/>
                  <a:gd name="T79" fmla="*/ 84 h 1024"/>
                  <a:gd name="T80" fmla="*/ 220 w 768"/>
                  <a:gd name="T81" fmla="*/ 84 h 1024"/>
                  <a:gd name="T82" fmla="*/ 384 w 768"/>
                  <a:gd name="T83" fmla="*/ 120 h 1024"/>
                  <a:gd name="T84" fmla="*/ 420 w 768"/>
                  <a:gd name="T85" fmla="*/ 84 h 1024"/>
                  <a:gd name="T86" fmla="*/ 384 w 768"/>
                  <a:gd name="T87" fmla="*/ 48 h 1024"/>
                  <a:gd name="T88" fmla="*/ 348 w 768"/>
                  <a:gd name="T89" fmla="*/ 84 h 1024"/>
                  <a:gd name="T90" fmla="*/ 384 w 768"/>
                  <a:gd name="T91" fmla="*/ 120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68" h="1024">
                    <a:moveTo>
                      <a:pt x="80" y="104"/>
                    </a:moveTo>
                    <a:cubicBezTo>
                      <a:pt x="164" y="104"/>
                      <a:pt x="164" y="104"/>
                      <a:pt x="164" y="104"/>
                    </a:cubicBezTo>
                    <a:cubicBezTo>
                      <a:pt x="164" y="152"/>
                      <a:pt x="164" y="152"/>
                      <a:pt x="164" y="152"/>
                    </a:cubicBezTo>
                    <a:cubicBezTo>
                      <a:pt x="80" y="152"/>
                      <a:pt x="80" y="152"/>
                      <a:pt x="80" y="152"/>
                    </a:cubicBezTo>
                    <a:cubicBezTo>
                      <a:pt x="71" y="152"/>
                      <a:pt x="63" y="156"/>
                      <a:pt x="57" y="161"/>
                    </a:cubicBezTo>
                    <a:cubicBezTo>
                      <a:pt x="51" y="167"/>
                      <a:pt x="48" y="175"/>
                      <a:pt x="48" y="184"/>
                    </a:cubicBezTo>
                    <a:cubicBezTo>
                      <a:pt x="48" y="944"/>
                      <a:pt x="48" y="944"/>
                      <a:pt x="48" y="944"/>
                    </a:cubicBezTo>
                    <a:cubicBezTo>
                      <a:pt x="48" y="953"/>
                      <a:pt x="51" y="961"/>
                      <a:pt x="57" y="967"/>
                    </a:cubicBezTo>
                    <a:cubicBezTo>
                      <a:pt x="63" y="972"/>
                      <a:pt x="71" y="976"/>
                      <a:pt x="80" y="976"/>
                    </a:cubicBezTo>
                    <a:cubicBezTo>
                      <a:pt x="688" y="976"/>
                      <a:pt x="688" y="976"/>
                      <a:pt x="688" y="976"/>
                    </a:cubicBezTo>
                    <a:cubicBezTo>
                      <a:pt x="697" y="976"/>
                      <a:pt x="705" y="972"/>
                      <a:pt x="711" y="967"/>
                    </a:cubicBezTo>
                    <a:cubicBezTo>
                      <a:pt x="717" y="961"/>
                      <a:pt x="720" y="953"/>
                      <a:pt x="720" y="944"/>
                    </a:cubicBezTo>
                    <a:cubicBezTo>
                      <a:pt x="720" y="184"/>
                      <a:pt x="720" y="184"/>
                      <a:pt x="720" y="184"/>
                    </a:cubicBezTo>
                    <a:cubicBezTo>
                      <a:pt x="720" y="175"/>
                      <a:pt x="717" y="167"/>
                      <a:pt x="711" y="161"/>
                    </a:cubicBezTo>
                    <a:cubicBezTo>
                      <a:pt x="705" y="156"/>
                      <a:pt x="697" y="152"/>
                      <a:pt x="688" y="152"/>
                    </a:cubicBezTo>
                    <a:cubicBezTo>
                      <a:pt x="604" y="152"/>
                      <a:pt x="604" y="152"/>
                      <a:pt x="604" y="152"/>
                    </a:cubicBezTo>
                    <a:cubicBezTo>
                      <a:pt x="604" y="104"/>
                      <a:pt x="604" y="104"/>
                      <a:pt x="604" y="104"/>
                    </a:cubicBezTo>
                    <a:cubicBezTo>
                      <a:pt x="688" y="104"/>
                      <a:pt x="688" y="104"/>
                      <a:pt x="688" y="104"/>
                    </a:cubicBezTo>
                    <a:cubicBezTo>
                      <a:pt x="710" y="104"/>
                      <a:pt x="730" y="113"/>
                      <a:pt x="745" y="127"/>
                    </a:cubicBezTo>
                    <a:cubicBezTo>
                      <a:pt x="759" y="142"/>
                      <a:pt x="768" y="162"/>
                      <a:pt x="768" y="184"/>
                    </a:cubicBezTo>
                    <a:cubicBezTo>
                      <a:pt x="768" y="944"/>
                      <a:pt x="768" y="944"/>
                      <a:pt x="768" y="944"/>
                    </a:cubicBezTo>
                    <a:cubicBezTo>
                      <a:pt x="768" y="966"/>
                      <a:pt x="759" y="986"/>
                      <a:pt x="745" y="1001"/>
                    </a:cubicBezTo>
                    <a:cubicBezTo>
                      <a:pt x="730" y="1015"/>
                      <a:pt x="710" y="1024"/>
                      <a:pt x="688" y="1024"/>
                    </a:cubicBezTo>
                    <a:cubicBezTo>
                      <a:pt x="80" y="1024"/>
                      <a:pt x="80" y="1024"/>
                      <a:pt x="80" y="1024"/>
                    </a:cubicBezTo>
                    <a:cubicBezTo>
                      <a:pt x="58" y="1024"/>
                      <a:pt x="38" y="1015"/>
                      <a:pt x="23" y="1001"/>
                    </a:cubicBezTo>
                    <a:cubicBezTo>
                      <a:pt x="9" y="986"/>
                      <a:pt x="0" y="966"/>
                      <a:pt x="0" y="944"/>
                    </a:cubicBezTo>
                    <a:cubicBezTo>
                      <a:pt x="0" y="184"/>
                      <a:pt x="0" y="184"/>
                      <a:pt x="0" y="184"/>
                    </a:cubicBezTo>
                    <a:cubicBezTo>
                      <a:pt x="0" y="162"/>
                      <a:pt x="9" y="142"/>
                      <a:pt x="23" y="127"/>
                    </a:cubicBezTo>
                    <a:cubicBezTo>
                      <a:pt x="38" y="113"/>
                      <a:pt x="58" y="104"/>
                      <a:pt x="80" y="104"/>
                    </a:cubicBezTo>
                    <a:close/>
                    <a:moveTo>
                      <a:pt x="220" y="84"/>
                    </a:moveTo>
                    <a:cubicBezTo>
                      <a:pt x="211" y="84"/>
                      <a:pt x="204" y="91"/>
                      <a:pt x="204" y="100"/>
                    </a:cubicBezTo>
                    <a:cubicBezTo>
                      <a:pt x="204" y="188"/>
                      <a:pt x="204" y="188"/>
                      <a:pt x="204" y="188"/>
                    </a:cubicBezTo>
                    <a:cubicBezTo>
                      <a:pt x="204" y="197"/>
                      <a:pt x="211" y="204"/>
                      <a:pt x="220" y="204"/>
                    </a:cubicBezTo>
                    <a:cubicBezTo>
                      <a:pt x="548" y="204"/>
                      <a:pt x="548" y="204"/>
                      <a:pt x="548" y="204"/>
                    </a:cubicBezTo>
                    <a:cubicBezTo>
                      <a:pt x="557" y="204"/>
                      <a:pt x="564" y="197"/>
                      <a:pt x="564" y="188"/>
                    </a:cubicBezTo>
                    <a:cubicBezTo>
                      <a:pt x="564" y="100"/>
                      <a:pt x="564" y="100"/>
                      <a:pt x="564" y="100"/>
                    </a:cubicBezTo>
                    <a:cubicBezTo>
                      <a:pt x="564" y="91"/>
                      <a:pt x="557" y="84"/>
                      <a:pt x="548" y="84"/>
                    </a:cubicBezTo>
                    <a:cubicBezTo>
                      <a:pt x="468" y="84"/>
                      <a:pt x="468" y="84"/>
                      <a:pt x="468" y="84"/>
                    </a:cubicBezTo>
                    <a:cubicBezTo>
                      <a:pt x="468" y="38"/>
                      <a:pt x="430" y="0"/>
                      <a:pt x="384" y="0"/>
                    </a:cubicBezTo>
                    <a:cubicBezTo>
                      <a:pt x="338" y="0"/>
                      <a:pt x="300" y="38"/>
                      <a:pt x="300" y="84"/>
                    </a:cubicBezTo>
                    <a:cubicBezTo>
                      <a:pt x="220" y="84"/>
                      <a:pt x="220" y="84"/>
                      <a:pt x="220" y="84"/>
                    </a:cubicBezTo>
                    <a:close/>
                    <a:moveTo>
                      <a:pt x="384" y="120"/>
                    </a:moveTo>
                    <a:cubicBezTo>
                      <a:pt x="408" y="120"/>
                      <a:pt x="420" y="102"/>
                      <a:pt x="420" y="84"/>
                    </a:cubicBezTo>
                    <a:cubicBezTo>
                      <a:pt x="420" y="66"/>
                      <a:pt x="408" y="48"/>
                      <a:pt x="384" y="48"/>
                    </a:cubicBezTo>
                    <a:cubicBezTo>
                      <a:pt x="360" y="48"/>
                      <a:pt x="348" y="66"/>
                      <a:pt x="348" y="84"/>
                    </a:cubicBezTo>
                    <a:cubicBezTo>
                      <a:pt x="348" y="102"/>
                      <a:pt x="360" y="120"/>
                      <a:pt x="384"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100">
                  <a:latin typeface="Verdana" panose="020B0604030504040204" pitchFamily="34" charset="0"/>
                  <a:ea typeface="Verdana" panose="020B0604030504040204" pitchFamily="34" charset="0"/>
                </a:endParaRPr>
              </a:p>
            </p:txBody>
          </p:sp>
          <p:sp>
            <p:nvSpPr>
              <p:cNvPr id="62" name="Freeform 37">
                <a:extLst>
                  <a:ext uri="{FF2B5EF4-FFF2-40B4-BE49-F238E27FC236}">
                    <a16:creationId xmlns:a16="http://schemas.microsoft.com/office/drawing/2014/main" id="{6AB5C029-E6E8-96E6-9DFF-67E1A932D507}"/>
                  </a:ext>
                </a:extLst>
              </p:cNvPr>
              <p:cNvSpPr>
                <a:spLocks noEditPoints="1"/>
              </p:cNvSpPr>
              <p:nvPr/>
            </p:nvSpPr>
            <p:spPr bwMode="auto">
              <a:xfrm>
                <a:off x="5207562" y="4167418"/>
                <a:ext cx="131373" cy="131373"/>
              </a:xfrm>
              <a:custGeom>
                <a:avLst/>
                <a:gdLst>
                  <a:gd name="T0" fmla="*/ 78 w 192"/>
                  <a:gd name="T1" fmla="*/ 109 h 192"/>
                  <a:gd name="T2" fmla="*/ 95 w 192"/>
                  <a:gd name="T3" fmla="*/ 87 h 192"/>
                  <a:gd name="T4" fmla="*/ 131 w 192"/>
                  <a:gd name="T5" fmla="*/ 49 h 192"/>
                  <a:gd name="T6" fmla="*/ 155 w 192"/>
                  <a:gd name="T7" fmla="*/ 50 h 192"/>
                  <a:gd name="T8" fmla="*/ 154 w 192"/>
                  <a:gd name="T9" fmla="*/ 74 h 192"/>
                  <a:gd name="T10" fmla="*/ 121 w 192"/>
                  <a:gd name="T11" fmla="*/ 108 h 192"/>
                  <a:gd name="T12" fmla="*/ 94 w 192"/>
                  <a:gd name="T13" fmla="*/ 147 h 192"/>
                  <a:gd name="T14" fmla="*/ 89 w 192"/>
                  <a:gd name="T15" fmla="*/ 153 h 192"/>
                  <a:gd name="T16" fmla="*/ 66 w 192"/>
                  <a:gd name="T17" fmla="*/ 149 h 192"/>
                  <a:gd name="T18" fmla="*/ 26 w 192"/>
                  <a:gd name="T19" fmla="*/ 96 h 192"/>
                  <a:gd name="T20" fmla="*/ 29 w 192"/>
                  <a:gd name="T21" fmla="*/ 72 h 192"/>
                  <a:gd name="T22" fmla="*/ 53 w 192"/>
                  <a:gd name="T23" fmla="*/ 76 h 192"/>
                  <a:gd name="T24" fmla="*/ 78 w 192"/>
                  <a:gd name="T25" fmla="*/ 109 h 192"/>
                  <a:gd name="T26" fmla="*/ 96 w 192"/>
                  <a:gd name="T27" fmla="*/ 192 h 192"/>
                  <a:gd name="T28" fmla="*/ 164 w 192"/>
                  <a:gd name="T29" fmla="*/ 164 h 192"/>
                  <a:gd name="T30" fmla="*/ 192 w 192"/>
                  <a:gd name="T31" fmla="*/ 96 h 192"/>
                  <a:gd name="T32" fmla="*/ 164 w 192"/>
                  <a:gd name="T33" fmla="*/ 28 h 192"/>
                  <a:gd name="T34" fmla="*/ 96 w 192"/>
                  <a:gd name="T35" fmla="*/ 0 h 192"/>
                  <a:gd name="T36" fmla="*/ 28 w 192"/>
                  <a:gd name="T37" fmla="*/ 28 h 192"/>
                  <a:gd name="T38" fmla="*/ 0 w 192"/>
                  <a:gd name="T39" fmla="*/ 96 h 192"/>
                  <a:gd name="T40" fmla="*/ 28 w 192"/>
                  <a:gd name="T41" fmla="*/ 164 h 192"/>
                  <a:gd name="T42" fmla="*/ 96 w 192"/>
                  <a:gd name="T43"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2" h="192">
                    <a:moveTo>
                      <a:pt x="78" y="109"/>
                    </a:moveTo>
                    <a:cubicBezTo>
                      <a:pt x="83" y="102"/>
                      <a:pt x="89" y="94"/>
                      <a:pt x="95" y="87"/>
                    </a:cubicBezTo>
                    <a:cubicBezTo>
                      <a:pt x="106" y="73"/>
                      <a:pt x="118" y="61"/>
                      <a:pt x="131" y="49"/>
                    </a:cubicBezTo>
                    <a:cubicBezTo>
                      <a:pt x="137" y="42"/>
                      <a:pt x="148" y="43"/>
                      <a:pt x="155" y="50"/>
                    </a:cubicBezTo>
                    <a:cubicBezTo>
                      <a:pt x="161" y="57"/>
                      <a:pt x="161" y="67"/>
                      <a:pt x="154" y="74"/>
                    </a:cubicBezTo>
                    <a:cubicBezTo>
                      <a:pt x="142" y="84"/>
                      <a:pt x="131" y="96"/>
                      <a:pt x="121" y="108"/>
                    </a:cubicBezTo>
                    <a:cubicBezTo>
                      <a:pt x="111" y="121"/>
                      <a:pt x="102" y="134"/>
                      <a:pt x="94" y="147"/>
                    </a:cubicBezTo>
                    <a:cubicBezTo>
                      <a:pt x="93" y="150"/>
                      <a:pt x="91" y="152"/>
                      <a:pt x="89" y="153"/>
                    </a:cubicBezTo>
                    <a:cubicBezTo>
                      <a:pt x="82" y="159"/>
                      <a:pt x="71" y="157"/>
                      <a:pt x="66" y="149"/>
                    </a:cubicBezTo>
                    <a:cubicBezTo>
                      <a:pt x="26" y="96"/>
                      <a:pt x="26" y="96"/>
                      <a:pt x="26" y="96"/>
                    </a:cubicBezTo>
                    <a:cubicBezTo>
                      <a:pt x="20" y="88"/>
                      <a:pt x="22" y="78"/>
                      <a:pt x="29" y="72"/>
                    </a:cubicBezTo>
                    <a:cubicBezTo>
                      <a:pt x="37" y="67"/>
                      <a:pt x="48" y="68"/>
                      <a:pt x="53" y="76"/>
                    </a:cubicBezTo>
                    <a:cubicBezTo>
                      <a:pt x="78" y="109"/>
                      <a:pt x="78" y="109"/>
                      <a:pt x="78" y="109"/>
                    </a:cubicBezTo>
                    <a:close/>
                    <a:moveTo>
                      <a:pt x="96" y="192"/>
                    </a:moveTo>
                    <a:cubicBezTo>
                      <a:pt x="123" y="192"/>
                      <a:pt x="147" y="181"/>
                      <a:pt x="164" y="164"/>
                    </a:cubicBezTo>
                    <a:cubicBezTo>
                      <a:pt x="181" y="147"/>
                      <a:pt x="192" y="123"/>
                      <a:pt x="192" y="96"/>
                    </a:cubicBezTo>
                    <a:cubicBezTo>
                      <a:pt x="192" y="69"/>
                      <a:pt x="181" y="45"/>
                      <a:pt x="164" y="28"/>
                    </a:cubicBezTo>
                    <a:cubicBezTo>
                      <a:pt x="147" y="11"/>
                      <a:pt x="123" y="0"/>
                      <a:pt x="96" y="0"/>
                    </a:cubicBezTo>
                    <a:cubicBezTo>
                      <a:pt x="69" y="0"/>
                      <a:pt x="45" y="11"/>
                      <a:pt x="28" y="28"/>
                    </a:cubicBezTo>
                    <a:cubicBezTo>
                      <a:pt x="11" y="45"/>
                      <a:pt x="0" y="69"/>
                      <a:pt x="0" y="96"/>
                    </a:cubicBezTo>
                    <a:cubicBezTo>
                      <a:pt x="0" y="123"/>
                      <a:pt x="11" y="147"/>
                      <a:pt x="28" y="164"/>
                    </a:cubicBezTo>
                    <a:cubicBezTo>
                      <a:pt x="45" y="181"/>
                      <a:pt x="69" y="192"/>
                      <a:pt x="96"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100">
                  <a:latin typeface="Verdana" panose="020B0604030504040204" pitchFamily="34" charset="0"/>
                  <a:ea typeface="Verdana" panose="020B0604030504040204" pitchFamily="34" charset="0"/>
                </a:endParaRPr>
              </a:p>
            </p:txBody>
          </p:sp>
          <p:sp>
            <p:nvSpPr>
              <p:cNvPr id="63" name="Freeform 38">
                <a:extLst>
                  <a:ext uri="{FF2B5EF4-FFF2-40B4-BE49-F238E27FC236}">
                    <a16:creationId xmlns:a16="http://schemas.microsoft.com/office/drawing/2014/main" id="{E191B854-B4D5-B987-AF54-856538092B23}"/>
                  </a:ext>
                </a:extLst>
              </p:cNvPr>
              <p:cNvSpPr>
                <a:spLocks/>
              </p:cNvSpPr>
              <p:nvPr/>
            </p:nvSpPr>
            <p:spPr bwMode="auto">
              <a:xfrm>
                <a:off x="5207562" y="4345551"/>
                <a:ext cx="350699" cy="21710"/>
              </a:xfrm>
              <a:custGeom>
                <a:avLst/>
                <a:gdLst>
                  <a:gd name="T0" fmla="*/ 12 w 512"/>
                  <a:gd name="T1" fmla="*/ 0 h 32"/>
                  <a:gd name="T2" fmla="*/ 500 w 512"/>
                  <a:gd name="T3" fmla="*/ 0 h 32"/>
                  <a:gd name="T4" fmla="*/ 512 w 512"/>
                  <a:gd name="T5" fmla="*/ 12 h 32"/>
                  <a:gd name="T6" fmla="*/ 512 w 512"/>
                  <a:gd name="T7" fmla="*/ 20 h 32"/>
                  <a:gd name="T8" fmla="*/ 500 w 512"/>
                  <a:gd name="T9" fmla="*/ 32 h 32"/>
                  <a:gd name="T10" fmla="*/ 12 w 512"/>
                  <a:gd name="T11" fmla="*/ 32 h 32"/>
                  <a:gd name="T12" fmla="*/ 0 w 512"/>
                  <a:gd name="T13" fmla="*/ 20 h 32"/>
                  <a:gd name="T14" fmla="*/ 0 w 512"/>
                  <a:gd name="T15" fmla="*/ 12 h 32"/>
                  <a:gd name="T16" fmla="*/ 12 w 51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2" h="32">
                    <a:moveTo>
                      <a:pt x="12" y="0"/>
                    </a:moveTo>
                    <a:cubicBezTo>
                      <a:pt x="500" y="0"/>
                      <a:pt x="500" y="0"/>
                      <a:pt x="500" y="0"/>
                    </a:cubicBezTo>
                    <a:cubicBezTo>
                      <a:pt x="507" y="0"/>
                      <a:pt x="512" y="5"/>
                      <a:pt x="512" y="12"/>
                    </a:cubicBezTo>
                    <a:cubicBezTo>
                      <a:pt x="512" y="20"/>
                      <a:pt x="512" y="20"/>
                      <a:pt x="512" y="20"/>
                    </a:cubicBezTo>
                    <a:cubicBezTo>
                      <a:pt x="512" y="26"/>
                      <a:pt x="507" y="32"/>
                      <a:pt x="500" y="32"/>
                    </a:cubicBezTo>
                    <a:cubicBezTo>
                      <a:pt x="12" y="32"/>
                      <a:pt x="12" y="32"/>
                      <a:pt x="12" y="32"/>
                    </a:cubicBezTo>
                    <a:cubicBezTo>
                      <a:pt x="5" y="32"/>
                      <a:pt x="0" y="26"/>
                      <a:pt x="0" y="20"/>
                    </a:cubicBezTo>
                    <a:cubicBezTo>
                      <a:pt x="0" y="12"/>
                      <a:pt x="0" y="12"/>
                      <a:pt x="0" y="12"/>
                    </a:cubicBezTo>
                    <a:cubicBezTo>
                      <a:pt x="0" y="5"/>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100">
                  <a:latin typeface="Verdana" panose="020B0604030504040204" pitchFamily="34" charset="0"/>
                  <a:ea typeface="Verdana" panose="020B0604030504040204" pitchFamily="34" charset="0"/>
                </a:endParaRPr>
              </a:p>
            </p:txBody>
          </p:sp>
          <p:sp>
            <p:nvSpPr>
              <p:cNvPr id="64" name="Freeform 39">
                <a:extLst>
                  <a:ext uri="{FF2B5EF4-FFF2-40B4-BE49-F238E27FC236}">
                    <a16:creationId xmlns:a16="http://schemas.microsoft.com/office/drawing/2014/main" id="{53DA7185-AC7E-E290-145B-8C017F77468A}"/>
                  </a:ext>
                </a:extLst>
              </p:cNvPr>
              <p:cNvSpPr>
                <a:spLocks/>
              </p:cNvSpPr>
              <p:nvPr/>
            </p:nvSpPr>
            <p:spPr bwMode="auto">
              <a:xfrm>
                <a:off x="5407405" y="4268731"/>
                <a:ext cx="150857" cy="21710"/>
              </a:xfrm>
              <a:custGeom>
                <a:avLst/>
                <a:gdLst>
                  <a:gd name="T0" fmla="*/ 12 w 220"/>
                  <a:gd name="T1" fmla="*/ 0 h 32"/>
                  <a:gd name="T2" fmla="*/ 208 w 220"/>
                  <a:gd name="T3" fmla="*/ 0 h 32"/>
                  <a:gd name="T4" fmla="*/ 220 w 220"/>
                  <a:gd name="T5" fmla="*/ 12 h 32"/>
                  <a:gd name="T6" fmla="*/ 220 w 220"/>
                  <a:gd name="T7" fmla="*/ 20 h 32"/>
                  <a:gd name="T8" fmla="*/ 208 w 220"/>
                  <a:gd name="T9" fmla="*/ 32 h 32"/>
                  <a:gd name="T10" fmla="*/ 12 w 220"/>
                  <a:gd name="T11" fmla="*/ 32 h 32"/>
                  <a:gd name="T12" fmla="*/ 0 w 220"/>
                  <a:gd name="T13" fmla="*/ 20 h 32"/>
                  <a:gd name="T14" fmla="*/ 0 w 220"/>
                  <a:gd name="T15" fmla="*/ 12 h 32"/>
                  <a:gd name="T16" fmla="*/ 12 w 220"/>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0" h="32">
                    <a:moveTo>
                      <a:pt x="12" y="0"/>
                    </a:moveTo>
                    <a:cubicBezTo>
                      <a:pt x="208" y="0"/>
                      <a:pt x="208" y="0"/>
                      <a:pt x="208" y="0"/>
                    </a:cubicBezTo>
                    <a:cubicBezTo>
                      <a:pt x="215" y="0"/>
                      <a:pt x="220" y="5"/>
                      <a:pt x="220" y="12"/>
                    </a:cubicBezTo>
                    <a:cubicBezTo>
                      <a:pt x="220" y="20"/>
                      <a:pt x="220" y="20"/>
                      <a:pt x="220" y="20"/>
                    </a:cubicBezTo>
                    <a:cubicBezTo>
                      <a:pt x="220" y="26"/>
                      <a:pt x="215" y="32"/>
                      <a:pt x="208" y="32"/>
                    </a:cubicBezTo>
                    <a:cubicBezTo>
                      <a:pt x="12" y="32"/>
                      <a:pt x="12" y="32"/>
                      <a:pt x="12" y="32"/>
                    </a:cubicBezTo>
                    <a:cubicBezTo>
                      <a:pt x="5" y="32"/>
                      <a:pt x="0" y="26"/>
                      <a:pt x="0" y="20"/>
                    </a:cubicBezTo>
                    <a:cubicBezTo>
                      <a:pt x="0" y="12"/>
                      <a:pt x="0" y="12"/>
                      <a:pt x="0" y="12"/>
                    </a:cubicBezTo>
                    <a:cubicBezTo>
                      <a:pt x="0" y="5"/>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100">
                  <a:latin typeface="Verdana" panose="020B0604030504040204" pitchFamily="34" charset="0"/>
                  <a:ea typeface="Verdana" panose="020B0604030504040204" pitchFamily="34" charset="0"/>
                </a:endParaRPr>
              </a:p>
            </p:txBody>
          </p:sp>
        </p:grpSp>
      </p:grpSp>
      <p:grpSp>
        <p:nvGrpSpPr>
          <p:cNvPr id="118" name="Group 117">
            <a:extLst>
              <a:ext uri="{FF2B5EF4-FFF2-40B4-BE49-F238E27FC236}">
                <a16:creationId xmlns:a16="http://schemas.microsoft.com/office/drawing/2014/main" id="{655A0FEA-B9B1-387B-A703-663A4718AD2F}"/>
              </a:ext>
            </a:extLst>
          </p:cNvPr>
          <p:cNvGrpSpPr/>
          <p:nvPr/>
        </p:nvGrpSpPr>
        <p:grpSpPr>
          <a:xfrm>
            <a:off x="10468601" y="1302879"/>
            <a:ext cx="843114" cy="843114"/>
            <a:chOff x="10638441" y="1302879"/>
            <a:chExt cx="843114" cy="843114"/>
          </a:xfrm>
        </p:grpSpPr>
        <p:sp>
          <p:nvSpPr>
            <p:cNvPr id="112" name="Oval 111">
              <a:extLst>
                <a:ext uri="{FF2B5EF4-FFF2-40B4-BE49-F238E27FC236}">
                  <a16:creationId xmlns:a16="http://schemas.microsoft.com/office/drawing/2014/main" id="{B92A82BD-2180-153A-1DA5-A81E3ED9233F}"/>
                </a:ext>
              </a:extLst>
            </p:cNvPr>
            <p:cNvSpPr/>
            <p:nvPr/>
          </p:nvSpPr>
          <p:spPr>
            <a:xfrm>
              <a:off x="10638441" y="1302879"/>
              <a:ext cx="843114" cy="843114"/>
            </a:xfrm>
            <a:prstGeom prst="ellips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a:latin typeface="Verdana" panose="020B0604030504040204" pitchFamily="34" charset="0"/>
                <a:ea typeface="Verdana" panose="020B0604030504040204" pitchFamily="34" charset="0"/>
              </a:endParaRPr>
            </a:p>
          </p:txBody>
        </p:sp>
        <p:grpSp>
          <p:nvGrpSpPr>
            <p:cNvPr id="68" name="Group 67">
              <a:extLst>
                <a:ext uri="{FF2B5EF4-FFF2-40B4-BE49-F238E27FC236}">
                  <a16:creationId xmlns:a16="http://schemas.microsoft.com/office/drawing/2014/main" id="{297CB76F-2CFC-BD8B-771F-9F24424DABDA}"/>
                </a:ext>
              </a:extLst>
            </p:cNvPr>
            <p:cNvGrpSpPr/>
            <p:nvPr/>
          </p:nvGrpSpPr>
          <p:grpSpPr>
            <a:xfrm>
              <a:off x="10772865" y="1483052"/>
              <a:ext cx="574266" cy="482768"/>
              <a:chOff x="5934075" y="757238"/>
              <a:chExt cx="1046163" cy="879476"/>
            </a:xfrm>
            <a:solidFill>
              <a:schemeClr val="tx2"/>
            </a:solidFill>
          </p:grpSpPr>
          <p:sp>
            <p:nvSpPr>
              <p:cNvPr id="69" name="Freeform 22">
                <a:extLst>
                  <a:ext uri="{FF2B5EF4-FFF2-40B4-BE49-F238E27FC236}">
                    <a16:creationId xmlns:a16="http://schemas.microsoft.com/office/drawing/2014/main" id="{4094201E-CC69-07F3-54F9-51984434CA75}"/>
                  </a:ext>
                </a:extLst>
              </p:cNvPr>
              <p:cNvSpPr>
                <a:spLocks/>
              </p:cNvSpPr>
              <p:nvPr/>
            </p:nvSpPr>
            <p:spPr bwMode="auto">
              <a:xfrm>
                <a:off x="6502400" y="930276"/>
                <a:ext cx="477838" cy="477838"/>
              </a:xfrm>
              <a:custGeom>
                <a:avLst/>
                <a:gdLst>
                  <a:gd name="T0" fmla="*/ 190 w 190"/>
                  <a:gd name="T1" fmla="*/ 89 h 190"/>
                  <a:gd name="T2" fmla="*/ 190 w 190"/>
                  <a:gd name="T3" fmla="*/ 119 h 190"/>
                  <a:gd name="T4" fmla="*/ 185 w 190"/>
                  <a:gd name="T5" fmla="*/ 124 h 190"/>
                  <a:gd name="T6" fmla="*/ 168 w 190"/>
                  <a:gd name="T7" fmla="*/ 124 h 190"/>
                  <a:gd name="T8" fmla="*/ 158 w 190"/>
                  <a:gd name="T9" fmla="*/ 148 h 190"/>
                  <a:gd name="T10" fmla="*/ 170 w 190"/>
                  <a:gd name="T11" fmla="*/ 160 h 190"/>
                  <a:gd name="T12" fmla="*/ 170 w 190"/>
                  <a:gd name="T13" fmla="*/ 167 h 190"/>
                  <a:gd name="T14" fmla="*/ 149 w 190"/>
                  <a:gd name="T15" fmla="*/ 188 h 190"/>
                  <a:gd name="T16" fmla="*/ 143 w 190"/>
                  <a:gd name="T17" fmla="*/ 188 h 190"/>
                  <a:gd name="T18" fmla="*/ 130 w 190"/>
                  <a:gd name="T19" fmla="*/ 176 h 190"/>
                  <a:gd name="T20" fmla="*/ 117 w 190"/>
                  <a:gd name="T21" fmla="*/ 182 h 190"/>
                  <a:gd name="T22" fmla="*/ 114 w 190"/>
                  <a:gd name="T23" fmla="*/ 158 h 190"/>
                  <a:gd name="T24" fmla="*/ 148 w 190"/>
                  <a:gd name="T25" fmla="*/ 104 h 190"/>
                  <a:gd name="T26" fmla="*/ 86 w 190"/>
                  <a:gd name="T27" fmla="*/ 43 h 190"/>
                  <a:gd name="T28" fmla="*/ 35 w 190"/>
                  <a:gd name="T29" fmla="*/ 71 h 190"/>
                  <a:gd name="T30" fmla="*/ 11 w 190"/>
                  <a:gd name="T31" fmla="*/ 66 h 190"/>
                  <a:gd name="T32" fmla="*/ 14 w 190"/>
                  <a:gd name="T33" fmla="*/ 60 h 190"/>
                  <a:gd name="T34" fmla="*/ 2 w 190"/>
                  <a:gd name="T35" fmla="*/ 48 h 190"/>
                  <a:gd name="T36" fmla="*/ 2 w 190"/>
                  <a:gd name="T37" fmla="*/ 41 h 190"/>
                  <a:gd name="T38" fmla="*/ 23 w 190"/>
                  <a:gd name="T39" fmla="*/ 20 h 190"/>
                  <a:gd name="T40" fmla="*/ 30 w 190"/>
                  <a:gd name="T41" fmla="*/ 20 h 190"/>
                  <a:gd name="T42" fmla="*/ 42 w 190"/>
                  <a:gd name="T43" fmla="*/ 32 h 190"/>
                  <a:gd name="T44" fmla="*/ 67 w 190"/>
                  <a:gd name="T45" fmla="*/ 22 h 190"/>
                  <a:gd name="T46" fmla="*/ 67 w 190"/>
                  <a:gd name="T47" fmla="*/ 5 h 190"/>
                  <a:gd name="T48" fmla="*/ 72 w 190"/>
                  <a:gd name="T49" fmla="*/ 0 h 190"/>
                  <a:gd name="T50" fmla="*/ 101 w 190"/>
                  <a:gd name="T51" fmla="*/ 0 h 190"/>
                  <a:gd name="T52" fmla="*/ 106 w 190"/>
                  <a:gd name="T53" fmla="*/ 5 h 190"/>
                  <a:gd name="T54" fmla="*/ 106 w 190"/>
                  <a:gd name="T55" fmla="*/ 22 h 190"/>
                  <a:gd name="T56" fmla="*/ 130 w 190"/>
                  <a:gd name="T57" fmla="*/ 32 h 190"/>
                  <a:gd name="T58" fmla="*/ 143 w 190"/>
                  <a:gd name="T59" fmla="*/ 20 h 190"/>
                  <a:gd name="T60" fmla="*/ 149 w 190"/>
                  <a:gd name="T61" fmla="*/ 20 h 190"/>
                  <a:gd name="T62" fmla="*/ 170 w 190"/>
                  <a:gd name="T63" fmla="*/ 41 h 190"/>
                  <a:gd name="T64" fmla="*/ 170 w 190"/>
                  <a:gd name="T65" fmla="*/ 48 h 190"/>
                  <a:gd name="T66" fmla="*/ 158 w 190"/>
                  <a:gd name="T67" fmla="*/ 60 h 190"/>
                  <a:gd name="T68" fmla="*/ 168 w 190"/>
                  <a:gd name="T69" fmla="*/ 84 h 190"/>
                  <a:gd name="T70" fmla="*/ 185 w 190"/>
                  <a:gd name="T71" fmla="*/ 84 h 190"/>
                  <a:gd name="T72" fmla="*/ 190 w 190"/>
                  <a:gd name="T73" fmla="*/ 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0" h="190">
                    <a:moveTo>
                      <a:pt x="190" y="89"/>
                    </a:moveTo>
                    <a:cubicBezTo>
                      <a:pt x="190" y="119"/>
                      <a:pt x="190" y="119"/>
                      <a:pt x="190" y="119"/>
                    </a:cubicBezTo>
                    <a:cubicBezTo>
                      <a:pt x="190" y="121"/>
                      <a:pt x="188" y="124"/>
                      <a:pt x="185" y="124"/>
                    </a:cubicBezTo>
                    <a:cubicBezTo>
                      <a:pt x="168" y="124"/>
                      <a:pt x="168" y="124"/>
                      <a:pt x="168" y="124"/>
                    </a:cubicBezTo>
                    <a:cubicBezTo>
                      <a:pt x="166" y="132"/>
                      <a:pt x="163" y="141"/>
                      <a:pt x="158" y="148"/>
                    </a:cubicBezTo>
                    <a:cubicBezTo>
                      <a:pt x="170" y="160"/>
                      <a:pt x="170" y="160"/>
                      <a:pt x="170" y="160"/>
                    </a:cubicBezTo>
                    <a:cubicBezTo>
                      <a:pt x="172" y="162"/>
                      <a:pt x="172" y="165"/>
                      <a:pt x="170" y="167"/>
                    </a:cubicBezTo>
                    <a:cubicBezTo>
                      <a:pt x="149" y="188"/>
                      <a:pt x="149" y="188"/>
                      <a:pt x="149" y="188"/>
                    </a:cubicBezTo>
                    <a:cubicBezTo>
                      <a:pt x="148" y="190"/>
                      <a:pt x="144" y="190"/>
                      <a:pt x="143" y="188"/>
                    </a:cubicBezTo>
                    <a:cubicBezTo>
                      <a:pt x="130" y="176"/>
                      <a:pt x="130" y="176"/>
                      <a:pt x="130" y="176"/>
                    </a:cubicBezTo>
                    <a:cubicBezTo>
                      <a:pt x="126" y="178"/>
                      <a:pt x="122" y="181"/>
                      <a:pt x="117" y="182"/>
                    </a:cubicBezTo>
                    <a:cubicBezTo>
                      <a:pt x="117" y="174"/>
                      <a:pt x="116" y="166"/>
                      <a:pt x="114" y="158"/>
                    </a:cubicBezTo>
                    <a:cubicBezTo>
                      <a:pt x="134" y="148"/>
                      <a:pt x="148" y="128"/>
                      <a:pt x="148" y="104"/>
                    </a:cubicBezTo>
                    <a:cubicBezTo>
                      <a:pt x="148" y="70"/>
                      <a:pt x="120" y="43"/>
                      <a:pt x="86" y="43"/>
                    </a:cubicBezTo>
                    <a:cubicBezTo>
                      <a:pt x="65" y="43"/>
                      <a:pt x="46" y="54"/>
                      <a:pt x="35" y="71"/>
                    </a:cubicBezTo>
                    <a:cubicBezTo>
                      <a:pt x="27" y="69"/>
                      <a:pt x="19" y="67"/>
                      <a:pt x="11" y="66"/>
                    </a:cubicBezTo>
                    <a:cubicBezTo>
                      <a:pt x="12" y="64"/>
                      <a:pt x="13" y="62"/>
                      <a:pt x="14" y="60"/>
                    </a:cubicBezTo>
                    <a:cubicBezTo>
                      <a:pt x="2" y="48"/>
                      <a:pt x="2" y="48"/>
                      <a:pt x="2" y="48"/>
                    </a:cubicBezTo>
                    <a:cubicBezTo>
                      <a:pt x="0" y="46"/>
                      <a:pt x="0" y="43"/>
                      <a:pt x="2" y="41"/>
                    </a:cubicBezTo>
                    <a:cubicBezTo>
                      <a:pt x="23" y="20"/>
                      <a:pt x="23" y="20"/>
                      <a:pt x="23" y="20"/>
                    </a:cubicBezTo>
                    <a:cubicBezTo>
                      <a:pt x="25" y="18"/>
                      <a:pt x="28" y="18"/>
                      <a:pt x="30" y="20"/>
                    </a:cubicBezTo>
                    <a:cubicBezTo>
                      <a:pt x="42" y="32"/>
                      <a:pt x="42" y="32"/>
                      <a:pt x="42" y="32"/>
                    </a:cubicBezTo>
                    <a:cubicBezTo>
                      <a:pt x="50" y="27"/>
                      <a:pt x="58" y="24"/>
                      <a:pt x="67" y="22"/>
                    </a:cubicBezTo>
                    <a:cubicBezTo>
                      <a:pt x="67" y="5"/>
                      <a:pt x="67" y="5"/>
                      <a:pt x="67" y="5"/>
                    </a:cubicBezTo>
                    <a:cubicBezTo>
                      <a:pt x="67" y="2"/>
                      <a:pt x="69" y="0"/>
                      <a:pt x="72" y="0"/>
                    </a:cubicBezTo>
                    <a:cubicBezTo>
                      <a:pt x="101" y="0"/>
                      <a:pt x="101" y="0"/>
                      <a:pt x="101" y="0"/>
                    </a:cubicBezTo>
                    <a:cubicBezTo>
                      <a:pt x="104" y="0"/>
                      <a:pt x="106" y="2"/>
                      <a:pt x="106" y="5"/>
                    </a:cubicBezTo>
                    <a:cubicBezTo>
                      <a:pt x="106" y="22"/>
                      <a:pt x="106" y="22"/>
                      <a:pt x="106" y="22"/>
                    </a:cubicBezTo>
                    <a:cubicBezTo>
                      <a:pt x="115" y="24"/>
                      <a:pt x="123" y="27"/>
                      <a:pt x="130" y="32"/>
                    </a:cubicBezTo>
                    <a:cubicBezTo>
                      <a:pt x="143" y="20"/>
                      <a:pt x="143" y="20"/>
                      <a:pt x="143" y="20"/>
                    </a:cubicBezTo>
                    <a:cubicBezTo>
                      <a:pt x="144" y="18"/>
                      <a:pt x="148" y="18"/>
                      <a:pt x="149" y="20"/>
                    </a:cubicBezTo>
                    <a:cubicBezTo>
                      <a:pt x="170" y="41"/>
                      <a:pt x="170" y="41"/>
                      <a:pt x="170" y="41"/>
                    </a:cubicBezTo>
                    <a:cubicBezTo>
                      <a:pt x="172" y="43"/>
                      <a:pt x="172" y="46"/>
                      <a:pt x="170" y="48"/>
                    </a:cubicBezTo>
                    <a:cubicBezTo>
                      <a:pt x="158" y="60"/>
                      <a:pt x="158" y="60"/>
                      <a:pt x="158" y="60"/>
                    </a:cubicBezTo>
                    <a:cubicBezTo>
                      <a:pt x="163" y="67"/>
                      <a:pt x="166" y="75"/>
                      <a:pt x="168" y="84"/>
                    </a:cubicBezTo>
                    <a:cubicBezTo>
                      <a:pt x="185" y="84"/>
                      <a:pt x="185" y="84"/>
                      <a:pt x="185" y="84"/>
                    </a:cubicBezTo>
                    <a:cubicBezTo>
                      <a:pt x="188" y="84"/>
                      <a:pt x="190" y="86"/>
                      <a:pt x="190"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0" name="Freeform 23">
                <a:extLst>
                  <a:ext uri="{FF2B5EF4-FFF2-40B4-BE49-F238E27FC236}">
                    <a16:creationId xmlns:a16="http://schemas.microsoft.com/office/drawing/2014/main" id="{67A6E3E0-C72F-2AFC-CCD0-819CC926C268}"/>
                  </a:ext>
                </a:extLst>
              </p:cNvPr>
              <p:cNvSpPr>
                <a:spLocks noEditPoints="1"/>
              </p:cNvSpPr>
              <p:nvPr/>
            </p:nvSpPr>
            <p:spPr bwMode="auto">
              <a:xfrm>
                <a:off x="6243638" y="1114426"/>
                <a:ext cx="522288" cy="522288"/>
              </a:xfrm>
              <a:custGeom>
                <a:avLst/>
                <a:gdLst>
                  <a:gd name="T0" fmla="*/ 208 w 208"/>
                  <a:gd name="T1" fmla="*/ 90 h 208"/>
                  <a:gd name="T2" fmla="*/ 208 w 208"/>
                  <a:gd name="T3" fmla="*/ 119 h 208"/>
                  <a:gd name="T4" fmla="*/ 203 w 208"/>
                  <a:gd name="T5" fmla="*/ 124 h 208"/>
                  <a:gd name="T6" fmla="*/ 186 w 208"/>
                  <a:gd name="T7" fmla="*/ 124 h 208"/>
                  <a:gd name="T8" fmla="*/ 176 w 208"/>
                  <a:gd name="T9" fmla="*/ 148 h 208"/>
                  <a:gd name="T10" fmla="*/ 188 w 208"/>
                  <a:gd name="T11" fmla="*/ 161 h 208"/>
                  <a:gd name="T12" fmla="*/ 188 w 208"/>
                  <a:gd name="T13" fmla="*/ 167 h 208"/>
                  <a:gd name="T14" fmla="*/ 167 w 208"/>
                  <a:gd name="T15" fmla="*/ 188 h 208"/>
                  <a:gd name="T16" fmla="*/ 160 w 208"/>
                  <a:gd name="T17" fmla="*/ 188 h 208"/>
                  <a:gd name="T18" fmla="*/ 148 w 208"/>
                  <a:gd name="T19" fmla="*/ 176 h 208"/>
                  <a:gd name="T20" fmla="*/ 124 w 208"/>
                  <a:gd name="T21" fmla="*/ 186 h 208"/>
                  <a:gd name="T22" fmla="*/ 124 w 208"/>
                  <a:gd name="T23" fmla="*/ 203 h 208"/>
                  <a:gd name="T24" fmla="*/ 119 w 208"/>
                  <a:gd name="T25" fmla="*/ 208 h 208"/>
                  <a:gd name="T26" fmla="*/ 89 w 208"/>
                  <a:gd name="T27" fmla="*/ 208 h 208"/>
                  <a:gd name="T28" fmla="*/ 84 w 208"/>
                  <a:gd name="T29" fmla="*/ 203 h 208"/>
                  <a:gd name="T30" fmla="*/ 84 w 208"/>
                  <a:gd name="T31" fmla="*/ 186 h 208"/>
                  <a:gd name="T32" fmla="*/ 60 w 208"/>
                  <a:gd name="T33" fmla="*/ 176 h 208"/>
                  <a:gd name="T34" fmla="*/ 48 w 208"/>
                  <a:gd name="T35" fmla="*/ 188 h 208"/>
                  <a:gd name="T36" fmla="*/ 41 w 208"/>
                  <a:gd name="T37" fmla="*/ 188 h 208"/>
                  <a:gd name="T38" fmla="*/ 20 w 208"/>
                  <a:gd name="T39" fmla="*/ 167 h 208"/>
                  <a:gd name="T40" fmla="*/ 20 w 208"/>
                  <a:gd name="T41" fmla="*/ 161 h 208"/>
                  <a:gd name="T42" fmla="*/ 32 w 208"/>
                  <a:gd name="T43" fmla="*/ 148 h 208"/>
                  <a:gd name="T44" fmla="*/ 22 w 208"/>
                  <a:gd name="T45" fmla="*/ 124 h 208"/>
                  <a:gd name="T46" fmla="*/ 5 w 208"/>
                  <a:gd name="T47" fmla="*/ 124 h 208"/>
                  <a:gd name="T48" fmla="*/ 0 w 208"/>
                  <a:gd name="T49" fmla="*/ 119 h 208"/>
                  <a:gd name="T50" fmla="*/ 0 w 208"/>
                  <a:gd name="T51" fmla="*/ 90 h 208"/>
                  <a:gd name="T52" fmla="*/ 0 w 208"/>
                  <a:gd name="T53" fmla="*/ 88 h 208"/>
                  <a:gd name="T54" fmla="*/ 2 w 208"/>
                  <a:gd name="T55" fmla="*/ 86 h 208"/>
                  <a:gd name="T56" fmla="*/ 5 w 208"/>
                  <a:gd name="T57" fmla="*/ 85 h 208"/>
                  <a:gd name="T58" fmla="*/ 22 w 208"/>
                  <a:gd name="T59" fmla="*/ 85 h 208"/>
                  <a:gd name="T60" fmla="*/ 32 w 208"/>
                  <a:gd name="T61" fmla="*/ 60 h 208"/>
                  <a:gd name="T62" fmla="*/ 20 w 208"/>
                  <a:gd name="T63" fmla="*/ 48 h 208"/>
                  <a:gd name="T64" fmla="*/ 20 w 208"/>
                  <a:gd name="T65" fmla="*/ 41 h 208"/>
                  <a:gd name="T66" fmla="*/ 41 w 208"/>
                  <a:gd name="T67" fmla="*/ 20 h 208"/>
                  <a:gd name="T68" fmla="*/ 48 w 208"/>
                  <a:gd name="T69" fmla="*/ 20 h 208"/>
                  <a:gd name="T70" fmla="*/ 60 w 208"/>
                  <a:gd name="T71" fmla="*/ 32 h 208"/>
                  <a:gd name="T72" fmla="*/ 84 w 208"/>
                  <a:gd name="T73" fmla="*/ 22 h 208"/>
                  <a:gd name="T74" fmla="*/ 84 w 208"/>
                  <a:gd name="T75" fmla="*/ 5 h 208"/>
                  <a:gd name="T76" fmla="*/ 89 w 208"/>
                  <a:gd name="T77" fmla="*/ 0 h 208"/>
                  <a:gd name="T78" fmla="*/ 119 w 208"/>
                  <a:gd name="T79" fmla="*/ 0 h 208"/>
                  <a:gd name="T80" fmla="*/ 124 w 208"/>
                  <a:gd name="T81" fmla="*/ 5 h 208"/>
                  <a:gd name="T82" fmla="*/ 124 w 208"/>
                  <a:gd name="T83" fmla="*/ 22 h 208"/>
                  <a:gd name="T84" fmla="*/ 148 w 208"/>
                  <a:gd name="T85" fmla="*/ 32 h 208"/>
                  <a:gd name="T86" fmla="*/ 160 w 208"/>
                  <a:gd name="T87" fmla="*/ 20 h 208"/>
                  <a:gd name="T88" fmla="*/ 167 w 208"/>
                  <a:gd name="T89" fmla="*/ 20 h 208"/>
                  <a:gd name="T90" fmla="*/ 188 w 208"/>
                  <a:gd name="T91" fmla="*/ 41 h 208"/>
                  <a:gd name="T92" fmla="*/ 188 w 208"/>
                  <a:gd name="T93" fmla="*/ 48 h 208"/>
                  <a:gd name="T94" fmla="*/ 176 w 208"/>
                  <a:gd name="T95" fmla="*/ 60 h 208"/>
                  <a:gd name="T96" fmla="*/ 186 w 208"/>
                  <a:gd name="T97" fmla="*/ 85 h 208"/>
                  <a:gd name="T98" fmla="*/ 203 w 208"/>
                  <a:gd name="T99" fmla="*/ 85 h 208"/>
                  <a:gd name="T100" fmla="*/ 208 w 208"/>
                  <a:gd name="T101" fmla="*/ 90 h 208"/>
                  <a:gd name="T102" fmla="*/ 151 w 208"/>
                  <a:gd name="T103" fmla="*/ 104 h 208"/>
                  <a:gd name="T104" fmla="*/ 104 w 208"/>
                  <a:gd name="T105" fmla="*/ 57 h 208"/>
                  <a:gd name="T106" fmla="*/ 57 w 208"/>
                  <a:gd name="T107" fmla="*/ 104 h 208"/>
                  <a:gd name="T108" fmla="*/ 104 w 208"/>
                  <a:gd name="T109" fmla="*/ 152 h 208"/>
                  <a:gd name="T110" fmla="*/ 151 w 208"/>
                  <a:gd name="T111" fmla="*/ 10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8" h="208">
                    <a:moveTo>
                      <a:pt x="208" y="90"/>
                    </a:moveTo>
                    <a:cubicBezTo>
                      <a:pt x="208" y="119"/>
                      <a:pt x="208" y="119"/>
                      <a:pt x="208" y="119"/>
                    </a:cubicBezTo>
                    <a:cubicBezTo>
                      <a:pt x="208" y="122"/>
                      <a:pt x="206" y="124"/>
                      <a:pt x="203" y="124"/>
                    </a:cubicBezTo>
                    <a:cubicBezTo>
                      <a:pt x="186" y="124"/>
                      <a:pt x="186" y="124"/>
                      <a:pt x="186" y="124"/>
                    </a:cubicBezTo>
                    <a:cubicBezTo>
                      <a:pt x="184" y="133"/>
                      <a:pt x="180" y="141"/>
                      <a:pt x="176" y="148"/>
                    </a:cubicBezTo>
                    <a:cubicBezTo>
                      <a:pt x="188" y="161"/>
                      <a:pt x="188" y="161"/>
                      <a:pt x="188" y="161"/>
                    </a:cubicBezTo>
                    <a:cubicBezTo>
                      <a:pt x="190" y="162"/>
                      <a:pt x="190" y="166"/>
                      <a:pt x="188" y="167"/>
                    </a:cubicBezTo>
                    <a:cubicBezTo>
                      <a:pt x="167" y="188"/>
                      <a:pt x="167" y="188"/>
                      <a:pt x="167" y="188"/>
                    </a:cubicBezTo>
                    <a:cubicBezTo>
                      <a:pt x="165" y="190"/>
                      <a:pt x="162" y="190"/>
                      <a:pt x="160" y="188"/>
                    </a:cubicBezTo>
                    <a:cubicBezTo>
                      <a:pt x="148" y="176"/>
                      <a:pt x="148" y="176"/>
                      <a:pt x="148" y="176"/>
                    </a:cubicBezTo>
                    <a:cubicBezTo>
                      <a:pt x="141" y="181"/>
                      <a:pt x="132" y="184"/>
                      <a:pt x="124" y="186"/>
                    </a:cubicBezTo>
                    <a:cubicBezTo>
                      <a:pt x="124" y="203"/>
                      <a:pt x="124" y="203"/>
                      <a:pt x="124" y="203"/>
                    </a:cubicBezTo>
                    <a:cubicBezTo>
                      <a:pt x="124" y="206"/>
                      <a:pt x="121" y="208"/>
                      <a:pt x="119" y="208"/>
                    </a:cubicBezTo>
                    <a:cubicBezTo>
                      <a:pt x="89" y="208"/>
                      <a:pt x="89" y="208"/>
                      <a:pt x="89" y="208"/>
                    </a:cubicBezTo>
                    <a:cubicBezTo>
                      <a:pt x="86" y="208"/>
                      <a:pt x="84" y="206"/>
                      <a:pt x="84" y="203"/>
                    </a:cubicBezTo>
                    <a:cubicBezTo>
                      <a:pt x="84" y="186"/>
                      <a:pt x="84" y="186"/>
                      <a:pt x="84" y="186"/>
                    </a:cubicBezTo>
                    <a:cubicBezTo>
                      <a:pt x="76" y="184"/>
                      <a:pt x="67" y="181"/>
                      <a:pt x="60" y="176"/>
                    </a:cubicBezTo>
                    <a:cubicBezTo>
                      <a:pt x="48" y="188"/>
                      <a:pt x="48" y="188"/>
                      <a:pt x="48" y="188"/>
                    </a:cubicBezTo>
                    <a:cubicBezTo>
                      <a:pt x="46" y="190"/>
                      <a:pt x="43" y="190"/>
                      <a:pt x="41" y="188"/>
                    </a:cubicBezTo>
                    <a:cubicBezTo>
                      <a:pt x="20" y="167"/>
                      <a:pt x="20" y="167"/>
                      <a:pt x="20" y="167"/>
                    </a:cubicBezTo>
                    <a:cubicBezTo>
                      <a:pt x="18" y="166"/>
                      <a:pt x="18" y="162"/>
                      <a:pt x="20" y="161"/>
                    </a:cubicBezTo>
                    <a:cubicBezTo>
                      <a:pt x="32" y="148"/>
                      <a:pt x="32" y="148"/>
                      <a:pt x="32" y="148"/>
                    </a:cubicBezTo>
                    <a:cubicBezTo>
                      <a:pt x="27" y="141"/>
                      <a:pt x="24" y="133"/>
                      <a:pt x="22" y="124"/>
                    </a:cubicBezTo>
                    <a:cubicBezTo>
                      <a:pt x="5" y="124"/>
                      <a:pt x="5" y="124"/>
                      <a:pt x="5" y="124"/>
                    </a:cubicBezTo>
                    <a:cubicBezTo>
                      <a:pt x="2" y="124"/>
                      <a:pt x="0" y="122"/>
                      <a:pt x="0" y="119"/>
                    </a:cubicBezTo>
                    <a:cubicBezTo>
                      <a:pt x="0" y="90"/>
                      <a:pt x="0" y="90"/>
                      <a:pt x="0" y="90"/>
                    </a:cubicBezTo>
                    <a:cubicBezTo>
                      <a:pt x="0" y="89"/>
                      <a:pt x="0" y="88"/>
                      <a:pt x="0" y="88"/>
                    </a:cubicBezTo>
                    <a:cubicBezTo>
                      <a:pt x="1" y="87"/>
                      <a:pt x="2" y="86"/>
                      <a:pt x="2" y="86"/>
                    </a:cubicBezTo>
                    <a:cubicBezTo>
                      <a:pt x="3" y="85"/>
                      <a:pt x="4" y="85"/>
                      <a:pt x="5" y="85"/>
                    </a:cubicBezTo>
                    <a:cubicBezTo>
                      <a:pt x="22" y="85"/>
                      <a:pt x="22" y="85"/>
                      <a:pt x="22" y="85"/>
                    </a:cubicBezTo>
                    <a:cubicBezTo>
                      <a:pt x="24" y="76"/>
                      <a:pt x="27" y="68"/>
                      <a:pt x="32" y="60"/>
                    </a:cubicBezTo>
                    <a:cubicBezTo>
                      <a:pt x="20" y="48"/>
                      <a:pt x="20" y="48"/>
                      <a:pt x="20" y="48"/>
                    </a:cubicBezTo>
                    <a:cubicBezTo>
                      <a:pt x="18" y="46"/>
                      <a:pt x="18" y="43"/>
                      <a:pt x="20" y="41"/>
                    </a:cubicBezTo>
                    <a:cubicBezTo>
                      <a:pt x="41" y="20"/>
                      <a:pt x="41" y="20"/>
                      <a:pt x="41" y="20"/>
                    </a:cubicBezTo>
                    <a:cubicBezTo>
                      <a:pt x="43" y="18"/>
                      <a:pt x="46" y="18"/>
                      <a:pt x="48" y="20"/>
                    </a:cubicBezTo>
                    <a:cubicBezTo>
                      <a:pt x="60" y="32"/>
                      <a:pt x="60" y="32"/>
                      <a:pt x="60" y="32"/>
                    </a:cubicBezTo>
                    <a:cubicBezTo>
                      <a:pt x="67" y="28"/>
                      <a:pt x="76" y="24"/>
                      <a:pt x="84" y="22"/>
                    </a:cubicBezTo>
                    <a:cubicBezTo>
                      <a:pt x="84" y="5"/>
                      <a:pt x="84" y="5"/>
                      <a:pt x="84" y="5"/>
                    </a:cubicBezTo>
                    <a:cubicBezTo>
                      <a:pt x="84" y="3"/>
                      <a:pt x="86" y="0"/>
                      <a:pt x="89" y="0"/>
                    </a:cubicBezTo>
                    <a:cubicBezTo>
                      <a:pt x="119" y="0"/>
                      <a:pt x="119" y="0"/>
                      <a:pt x="119" y="0"/>
                    </a:cubicBezTo>
                    <a:cubicBezTo>
                      <a:pt x="121" y="0"/>
                      <a:pt x="124" y="3"/>
                      <a:pt x="124" y="5"/>
                    </a:cubicBezTo>
                    <a:cubicBezTo>
                      <a:pt x="124" y="22"/>
                      <a:pt x="124" y="22"/>
                      <a:pt x="124" y="22"/>
                    </a:cubicBezTo>
                    <a:cubicBezTo>
                      <a:pt x="132" y="24"/>
                      <a:pt x="141" y="28"/>
                      <a:pt x="148" y="32"/>
                    </a:cubicBezTo>
                    <a:cubicBezTo>
                      <a:pt x="160" y="20"/>
                      <a:pt x="160" y="20"/>
                      <a:pt x="160" y="20"/>
                    </a:cubicBezTo>
                    <a:cubicBezTo>
                      <a:pt x="162" y="18"/>
                      <a:pt x="165" y="18"/>
                      <a:pt x="167" y="20"/>
                    </a:cubicBezTo>
                    <a:cubicBezTo>
                      <a:pt x="188" y="41"/>
                      <a:pt x="188" y="41"/>
                      <a:pt x="188" y="41"/>
                    </a:cubicBezTo>
                    <a:cubicBezTo>
                      <a:pt x="190" y="43"/>
                      <a:pt x="190" y="46"/>
                      <a:pt x="188" y="48"/>
                    </a:cubicBezTo>
                    <a:cubicBezTo>
                      <a:pt x="176" y="60"/>
                      <a:pt x="176" y="60"/>
                      <a:pt x="176" y="60"/>
                    </a:cubicBezTo>
                    <a:cubicBezTo>
                      <a:pt x="180" y="68"/>
                      <a:pt x="184" y="76"/>
                      <a:pt x="186" y="85"/>
                    </a:cubicBezTo>
                    <a:cubicBezTo>
                      <a:pt x="203" y="85"/>
                      <a:pt x="203" y="85"/>
                      <a:pt x="203" y="85"/>
                    </a:cubicBezTo>
                    <a:cubicBezTo>
                      <a:pt x="206" y="85"/>
                      <a:pt x="208" y="87"/>
                      <a:pt x="208" y="90"/>
                    </a:cubicBezTo>
                    <a:close/>
                    <a:moveTo>
                      <a:pt x="151" y="104"/>
                    </a:moveTo>
                    <a:cubicBezTo>
                      <a:pt x="151" y="78"/>
                      <a:pt x="130" y="57"/>
                      <a:pt x="104" y="57"/>
                    </a:cubicBezTo>
                    <a:cubicBezTo>
                      <a:pt x="78" y="57"/>
                      <a:pt x="57" y="78"/>
                      <a:pt x="57" y="104"/>
                    </a:cubicBezTo>
                    <a:cubicBezTo>
                      <a:pt x="57" y="130"/>
                      <a:pt x="78" y="152"/>
                      <a:pt x="104" y="152"/>
                    </a:cubicBezTo>
                    <a:cubicBezTo>
                      <a:pt x="130" y="152"/>
                      <a:pt x="151" y="130"/>
                      <a:pt x="151" y="1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1" name="Freeform 24">
                <a:extLst>
                  <a:ext uri="{FF2B5EF4-FFF2-40B4-BE49-F238E27FC236}">
                    <a16:creationId xmlns:a16="http://schemas.microsoft.com/office/drawing/2014/main" id="{5C35ACBA-EE42-F16B-D28E-223B774DA607}"/>
                  </a:ext>
                </a:extLst>
              </p:cNvPr>
              <p:cNvSpPr>
                <a:spLocks/>
              </p:cNvSpPr>
              <p:nvPr/>
            </p:nvSpPr>
            <p:spPr bwMode="auto">
              <a:xfrm>
                <a:off x="6010275" y="757238"/>
                <a:ext cx="514350" cy="239713"/>
              </a:xfrm>
              <a:custGeom>
                <a:avLst/>
                <a:gdLst>
                  <a:gd name="T0" fmla="*/ 324 w 324"/>
                  <a:gd name="T1" fmla="*/ 0 h 151"/>
                  <a:gd name="T2" fmla="*/ 324 w 324"/>
                  <a:gd name="T3" fmla="*/ 151 h 151"/>
                  <a:gd name="T4" fmla="*/ 308 w 324"/>
                  <a:gd name="T5" fmla="*/ 146 h 151"/>
                  <a:gd name="T6" fmla="*/ 308 w 324"/>
                  <a:gd name="T7" fmla="*/ 16 h 151"/>
                  <a:gd name="T8" fmla="*/ 17 w 324"/>
                  <a:gd name="T9" fmla="*/ 16 h 151"/>
                  <a:gd name="T10" fmla="*/ 17 w 324"/>
                  <a:gd name="T11" fmla="*/ 56 h 151"/>
                  <a:gd name="T12" fmla="*/ 0 w 324"/>
                  <a:gd name="T13" fmla="*/ 49 h 151"/>
                  <a:gd name="T14" fmla="*/ 0 w 324"/>
                  <a:gd name="T15" fmla="*/ 0 h 151"/>
                  <a:gd name="T16" fmla="*/ 324 w 324"/>
                  <a:gd name="T17"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4" h="151">
                    <a:moveTo>
                      <a:pt x="324" y="0"/>
                    </a:moveTo>
                    <a:lnTo>
                      <a:pt x="324" y="151"/>
                    </a:lnTo>
                    <a:lnTo>
                      <a:pt x="308" y="146"/>
                    </a:lnTo>
                    <a:lnTo>
                      <a:pt x="308" y="16"/>
                    </a:lnTo>
                    <a:lnTo>
                      <a:pt x="17" y="16"/>
                    </a:lnTo>
                    <a:lnTo>
                      <a:pt x="17" y="56"/>
                    </a:lnTo>
                    <a:lnTo>
                      <a:pt x="0" y="49"/>
                    </a:lnTo>
                    <a:lnTo>
                      <a:pt x="0" y="0"/>
                    </a:lnTo>
                    <a:lnTo>
                      <a:pt x="3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2" name="Freeform 25">
                <a:extLst>
                  <a:ext uri="{FF2B5EF4-FFF2-40B4-BE49-F238E27FC236}">
                    <a16:creationId xmlns:a16="http://schemas.microsoft.com/office/drawing/2014/main" id="{E1C260D6-B383-639C-2CBA-0D96868185AE}"/>
                  </a:ext>
                </a:extLst>
              </p:cNvPr>
              <p:cNvSpPr>
                <a:spLocks noEditPoints="1"/>
              </p:cNvSpPr>
              <p:nvPr/>
            </p:nvSpPr>
            <p:spPr bwMode="auto">
              <a:xfrm>
                <a:off x="6243638" y="915988"/>
                <a:ext cx="231775" cy="230188"/>
              </a:xfrm>
              <a:custGeom>
                <a:avLst/>
                <a:gdLst>
                  <a:gd name="T0" fmla="*/ 92 w 92"/>
                  <a:gd name="T1" fmla="*/ 40 h 92"/>
                  <a:gd name="T2" fmla="*/ 92 w 92"/>
                  <a:gd name="T3" fmla="*/ 53 h 92"/>
                  <a:gd name="T4" fmla="*/ 90 w 92"/>
                  <a:gd name="T5" fmla="*/ 55 h 92"/>
                  <a:gd name="T6" fmla="*/ 82 w 92"/>
                  <a:gd name="T7" fmla="*/ 55 h 92"/>
                  <a:gd name="T8" fmla="*/ 78 w 92"/>
                  <a:gd name="T9" fmla="*/ 65 h 92"/>
                  <a:gd name="T10" fmla="*/ 83 w 92"/>
                  <a:gd name="T11" fmla="*/ 71 h 92"/>
                  <a:gd name="T12" fmla="*/ 83 w 92"/>
                  <a:gd name="T13" fmla="*/ 74 h 92"/>
                  <a:gd name="T14" fmla="*/ 74 w 92"/>
                  <a:gd name="T15" fmla="*/ 83 h 92"/>
                  <a:gd name="T16" fmla="*/ 71 w 92"/>
                  <a:gd name="T17" fmla="*/ 83 h 92"/>
                  <a:gd name="T18" fmla="*/ 65 w 92"/>
                  <a:gd name="T19" fmla="*/ 78 h 92"/>
                  <a:gd name="T20" fmla="*/ 55 w 92"/>
                  <a:gd name="T21" fmla="*/ 82 h 92"/>
                  <a:gd name="T22" fmla="*/ 55 w 92"/>
                  <a:gd name="T23" fmla="*/ 90 h 92"/>
                  <a:gd name="T24" fmla="*/ 52 w 92"/>
                  <a:gd name="T25" fmla="*/ 92 h 92"/>
                  <a:gd name="T26" fmla="*/ 39 w 92"/>
                  <a:gd name="T27" fmla="*/ 92 h 92"/>
                  <a:gd name="T28" fmla="*/ 37 w 92"/>
                  <a:gd name="T29" fmla="*/ 90 h 92"/>
                  <a:gd name="T30" fmla="*/ 37 w 92"/>
                  <a:gd name="T31" fmla="*/ 82 h 92"/>
                  <a:gd name="T32" fmla="*/ 26 w 92"/>
                  <a:gd name="T33" fmla="*/ 78 h 92"/>
                  <a:gd name="T34" fmla="*/ 21 w 92"/>
                  <a:gd name="T35" fmla="*/ 83 h 92"/>
                  <a:gd name="T36" fmla="*/ 18 w 92"/>
                  <a:gd name="T37" fmla="*/ 83 h 92"/>
                  <a:gd name="T38" fmla="*/ 9 w 92"/>
                  <a:gd name="T39" fmla="*/ 74 h 92"/>
                  <a:gd name="T40" fmla="*/ 9 w 92"/>
                  <a:gd name="T41" fmla="*/ 71 h 92"/>
                  <a:gd name="T42" fmla="*/ 14 w 92"/>
                  <a:gd name="T43" fmla="*/ 65 h 92"/>
                  <a:gd name="T44" fmla="*/ 10 w 92"/>
                  <a:gd name="T45" fmla="*/ 55 h 92"/>
                  <a:gd name="T46" fmla="*/ 2 w 92"/>
                  <a:gd name="T47" fmla="*/ 55 h 92"/>
                  <a:gd name="T48" fmla="*/ 0 w 92"/>
                  <a:gd name="T49" fmla="*/ 53 h 92"/>
                  <a:gd name="T50" fmla="*/ 0 w 92"/>
                  <a:gd name="T51" fmla="*/ 40 h 92"/>
                  <a:gd name="T52" fmla="*/ 2 w 92"/>
                  <a:gd name="T53" fmla="*/ 37 h 92"/>
                  <a:gd name="T54" fmla="*/ 10 w 92"/>
                  <a:gd name="T55" fmla="*/ 37 h 92"/>
                  <a:gd name="T56" fmla="*/ 14 w 92"/>
                  <a:gd name="T57" fmla="*/ 27 h 92"/>
                  <a:gd name="T58" fmla="*/ 9 w 92"/>
                  <a:gd name="T59" fmla="*/ 21 h 92"/>
                  <a:gd name="T60" fmla="*/ 9 w 92"/>
                  <a:gd name="T61" fmla="*/ 18 h 92"/>
                  <a:gd name="T62" fmla="*/ 18 w 92"/>
                  <a:gd name="T63" fmla="*/ 9 h 92"/>
                  <a:gd name="T64" fmla="*/ 21 w 92"/>
                  <a:gd name="T65" fmla="*/ 9 h 92"/>
                  <a:gd name="T66" fmla="*/ 26 w 92"/>
                  <a:gd name="T67" fmla="*/ 14 h 92"/>
                  <a:gd name="T68" fmla="*/ 37 w 92"/>
                  <a:gd name="T69" fmla="*/ 10 h 92"/>
                  <a:gd name="T70" fmla="*/ 37 w 92"/>
                  <a:gd name="T71" fmla="*/ 2 h 92"/>
                  <a:gd name="T72" fmla="*/ 39 w 92"/>
                  <a:gd name="T73" fmla="*/ 0 h 92"/>
                  <a:gd name="T74" fmla="*/ 52 w 92"/>
                  <a:gd name="T75" fmla="*/ 0 h 92"/>
                  <a:gd name="T76" fmla="*/ 55 w 92"/>
                  <a:gd name="T77" fmla="*/ 2 h 92"/>
                  <a:gd name="T78" fmla="*/ 55 w 92"/>
                  <a:gd name="T79" fmla="*/ 10 h 92"/>
                  <a:gd name="T80" fmla="*/ 65 w 92"/>
                  <a:gd name="T81" fmla="*/ 14 h 92"/>
                  <a:gd name="T82" fmla="*/ 71 w 92"/>
                  <a:gd name="T83" fmla="*/ 9 h 92"/>
                  <a:gd name="T84" fmla="*/ 74 w 92"/>
                  <a:gd name="T85" fmla="*/ 9 h 92"/>
                  <a:gd name="T86" fmla="*/ 83 w 92"/>
                  <a:gd name="T87" fmla="*/ 18 h 92"/>
                  <a:gd name="T88" fmla="*/ 83 w 92"/>
                  <a:gd name="T89" fmla="*/ 21 h 92"/>
                  <a:gd name="T90" fmla="*/ 78 w 92"/>
                  <a:gd name="T91" fmla="*/ 27 h 92"/>
                  <a:gd name="T92" fmla="*/ 82 w 92"/>
                  <a:gd name="T93" fmla="*/ 37 h 92"/>
                  <a:gd name="T94" fmla="*/ 90 w 92"/>
                  <a:gd name="T95" fmla="*/ 37 h 92"/>
                  <a:gd name="T96" fmla="*/ 92 w 92"/>
                  <a:gd name="T97" fmla="*/ 40 h 92"/>
                  <a:gd name="T98" fmla="*/ 67 w 92"/>
                  <a:gd name="T99" fmla="*/ 46 h 92"/>
                  <a:gd name="T100" fmla="*/ 46 w 92"/>
                  <a:gd name="T101" fmla="*/ 25 h 92"/>
                  <a:gd name="T102" fmla="*/ 25 w 92"/>
                  <a:gd name="T103" fmla="*/ 46 h 92"/>
                  <a:gd name="T104" fmla="*/ 46 w 92"/>
                  <a:gd name="T105" fmla="*/ 67 h 92"/>
                  <a:gd name="T106" fmla="*/ 67 w 92"/>
                  <a:gd name="T107" fmla="*/ 4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2" h="92">
                    <a:moveTo>
                      <a:pt x="92" y="40"/>
                    </a:moveTo>
                    <a:cubicBezTo>
                      <a:pt x="92" y="53"/>
                      <a:pt x="92" y="53"/>
                      <a:pt x="92" y="53"/>
                    </a:cubicBezTo>
                    <a:cubicBezTo>
                      <a:pt x="92" y="54"/>
                      <a:pt x="91" y="55"/>
                      <a:pt x="90" y="55"/>
                    </a:cubicBezTo>
                    <a:cubicBezTo>
                      <a:pt x="82" y="55"/>
                      <a:pt x="82" y="55"/>
                      <a:pt x="82" y="55"/>
                    </a:cubicBezTo>
                    <a:cubicBezTo>
                      <a:pt x="81" y="59"/>
                      <a:pt x="80" y="62"/>
                      <a:pt x="78" y="65"/>
                    </a:cubicBezTo>
                    <a:cubicBezTo>
                      <a:pt x="83" y="71"/>
                      <a:pt x="83" y="71"/>
                      <a:pt x="83" y="71"/>
                    </a:cubicBezTo>
                    <a:cubicBezTo>
                      <a:pt x="84" y="72"/>
                      <a:pt x="84" y="73"/>
                      <a:pt x="83" y="74"/>
                    </a:cubicBezTo>
                    <a:cubicBezTo>
                      <a:pt x="74" y="83"/>
                      <a:pt x="74" y="83"/>
                      <a:pt x="74" y="83"/>
                    </a:cubicBezTo>
                    <a:cubicBezTo>
                      <a:pt x="73" y="84"/>
                      <a:pt x="71" y="84"/>
                      <a:pt x="71" y="83"/>
                    </a:cubicBezTo>
                    <a:cubicBezTo>
                      <a:pt x="65" y="78"/>
                      <a:pt x="65" y="78"/>
                      <a:pt x="65" y="78"/>
                    </a:cubicBezTo>
                    <a:cubicBezTo>
                      <a:pt x="62" y="80"/>
                      <a:pt x="58" y="81"/>
                      <a:pt x="55" y="82"/>
                    </a:cubicBezTo>
                    <a:cubicBezTo>
                      <a:pt x="55" y="90"/>
                      <a:pt x="55" y="90"/>
                      <a:pt x="55" y="90"/>
                    </a:cubicBezTo>
                    <a:cubicBezTo>
                      <a:pt x="55" y="91"/>
                      <a:pt x="54" y="92"/>
                      <a:pt x="52" y="92"/>
                    </a:cubicBezTo>
                    <a:cubicBezTo>
                      <a:pt x="39" y="92"/>
                      <a:pt x="39" y="92"/>
                      <a:pt x="39" y="92"/>
                    </a:cubicBezTo>
                    <a:cubicBezTo>
                      <a:pt x="38" y="92"/>
                      <a:pt x="37" y="91"/>
                      <a:pt x="37" y="90"/>
                    </a:cubicBezTo>
                    <a:cubicBezTo>
                      <a:pt x="37" y="82"/>
                      <a:pt x="37" y="82"/>
                      <a:pt x="37" y="82"/>
                    </a:cubicBezTo>
                    <a:cubicBezTo>
                      <a:pt x="33" y="81"/>
                      <a:pt x="30" y="80"/>
                      <a:pt x="26" y="78"/>
                    </a:cubicBezTo>
                    <a:cubicBezTo>
                      <a:pt x="21" y="83"/>
                      <a:pt x="21" y="83"/>
                      <a:pt x="21" y="83"/>
                    </a:cubicBezTo>
                    <a:cubicBezTo>
                      <a:pt x="20" y="84"/>
                      <a:pt x="19" y="84"/>
                      <a:pt x="18" y="83"/>
                    </a:cubicBezTo>
                    <a:cubicBezTo>
                      <a:pt x="9" y="74"/>
                      <a:pt x="9" y="74"/>
                      <a:pt x="9" y="74"/>
                    </a:cubicBezTo>
                    <a:cubicBezTo>
                      <a:pt x="8" y="73"/>
                      <a:pt x="8" y="72"/>
                      <a:pt x="9" y="71"/>
                    </a:cubicBezTo>
                    <a:cubicBezTo>
                      <a:pt x="14" y="65"/>
                      <a:pt x="14" y="65"/>
                      <a:pt x="14" y="65"/>
                    </a:cubicBezTo>
                    <a:cubicBezTo>
                      <a:pt x="12" y="62"/>
                      <a:pt x="11" y="59"/>
                      <a:pt x="10" y="55"/>
                    </a:cubicBezTo>
                    <a:cubicBezTo>
                      <a:pt x="2" y="55"/>
                      <a:pt x="2" y="55"/>
                      <a:pt x="2" y="55"/>
                    </a:cubicBezTo>
                    <a:cubicBezTo>
                      <a:pt x="1" y="55"/>
                      <a:pt x="0" y="54"/>
                      <a:pt x="0" y="53"/>
                    </a:cubicBezTo>
                    <a:cubicBezTo>
                      <a:pt x="0" y="40"/>
                      <a:pt x="0" y="40"/>
                      <a:pt x="0" y="40"/>
                    </a:cubicBezTo>
                    <a:cubicBezTo>
                      <a:pt x="0" y="38"/>
                      <a:pt x="1" y="37"/>
                      <a:pt x="2" y="37"/>
                    </a:cubicBezTo>
                    <a:cubicBezTo>
                      <a:pt x="10" y="37"/>
                      <a:pt x="10" y="37"/>
                      <a:pt x="10" y="37"/>
                    </a:cubicBezTo>
                    <a:cubicBezTo>
                      <a:pt x="11" y="33"/>
                      <a:pt x="12" y="30"/>
                      <a:pt x="14" y="27"/>
                    </a:cubicBezTo>
                    <a:cubicBezTo>
                      <a:pt x="9" y="21"/>
                      <a:pt x="9" y="21"/>
                      <a:pt x="9" y="21"/>
                    </a:cubicBezTo>
                    <a:cubicBezTo>
                      <a:pt x="8" y="20"/>
                      <a:pt x="8" y="19"/>
                      <a:pt x="9" y="18"/>
                    </a:cubicBezTo>
                    <a:cubicBezTo>
                      <a:pt x="18" y="9"/>
                      <a:pt x="18" y="9"/>
                      <a:pt x="18" y="9"/>
                    </a:cubicBezTo>
                    <a:cubicBezTo>
                      <a:pt x="19" y="8"/>
                      <a:pt x="20" y="8"/>
                      <a:pt x="21" y="9"/>
                    </a:cubicBezTo>
                    <a:cubicBezTo>
                      <a:pt x="26" y="14"/>
                      <a:pt x="26" y="14"/>
                      <a:pt x="26" y="14"/>
                    </a:cubicBezTo>
                    <a:cubicBezTo>
                      <a:pt x="30" y="12"/>
                      <a:pt x="33" y="11"/>
                      <a:pt x="37" y="10"/>
                    </a:cubicBezTo>
                    <a:cubicBezTo>
                      <a:pt x="37" y="2"/>
                      <a:pt x="37" y="2"/>
                      <a:pt x="37" y="2"/>
                    </a:cubicBezTo>
                    <a:cubicBezTo>
                      <a:pt x="37" y="1"/>
                      <a:pt x="38" y="0"/>
                      <a:pt x="39" y="0"/>
                    </a:cubicBezTo>
                    <a:cubicBezTo>
                      <a:pt x="52" y="0"/>
                      <a:pt x="52" y="0"/>
                      <a:pt x="52" y="0"/>
                    </a:cubicBezTo>
                    <a:cubicBezTo>
                      <a:pt x="54" y="0"/>
                      <a:pt x="55" y="1"/>
                      <a:pt x="55" y="2"/>
                    </a:cubicBezTo>
                    <a:cubicBezTo>
                      <a:pt x="55" y="10"/>
                      <a:pt x="55" y="10"/>
                      <a:pt x="55" y="10"/>
                    </a:cubicBezTo>
                    <a:cubicBezTo>
                      <a:pt x="58" y="11"/>
                      <a:pt x="62" y="12"/>
                      <a:pt x="65" y="14"/>
                    </a:cubicBezTo>
                    <a:cubicBezTo>
                      <a:pt x="71" y="9"/>
                      <a:pt x="71" y="9"/>
                      <a:pt x="71" y="9"/>
                    </a:cubicBezTo>
                    <a:cubicBezTo>
                      <a:pt x="71" y="8"/>
                      <a:pt x="73" y="8"/>
                      <a:pt x="74" y="9"/>
                    </a:cubicBezTo>
                    <a:cubicBezTo>
                      <a:pt x="83" y="18"/>
                      <a:pt x="83" y="18"/>
                      <a:pt x="83" y="18"/>
                    </a:cubicBezTo>
                    <a:cubicBezTo>
                      <a:pt x="84" y="19"/>
                      <a:pt x="84" y="20"/>
                      <a:pt x="83" y="21"/>
                    </a:cubicBezTo>
                    <a:cubicBezTo>
                      <a:pt x="78" y="27"/>
                      <a:pt x="78" y="27"/>
                      <a:pt x="78" y="27"/>
                    </a:cubicBezTo>
                    <a:cubicBezTo>
                      <a:pt x="80" y="30"/>
                      <a:pt x="81" y="33"/>
                      <a:pt x="82" y="37"/>
                    </a:cubicBezTo>
                    <a:cubicBezTo>
                      <a:pt x="90" y="37"/>
                      <a:pt x="90" y="37"/>
                      <a:pt x="90" y="37"/>
                    </a:cubicBezTo>
                    <a:cubicBezTo>
                      <a:pt x="91" y="37"/>
                      <a:pt x="92" y="38"/>
                      <a:pt x="92" y="40"/>
                    </a:cubicBezTo>
                    <a:close/>
                    <a:moveTo>
                      <a:pt x="67" y="46"/>
                    </a:moveTo>
                    <a:cubicBezTo>
                      <a:pt x="67" y="35"/>
                      <a:pt x="57" y="25"/>
                      <a:pt x="46" y="25"/>
                    </a:cubicBezTo>
                    <a:cubicBezTo>
                      <a:pt x="34" y="25"/>
                      <a:pt x="25" y="35"/>
                      <a:pt x="25" y="46"/>
                    </a:cubicBezTo>
                    <a:cubicBezTo>
                      <a:pt x="25" y="58"/>
                      <a:pt x="34" y="67"/>
                      <a:pt x="46" y="67"/>
                    </a:cubicBezTo>
                    <a:cubicBezTo>
                      <a:pt x="57" y="67"/>
                      <a:pt x="67" y="58"/>
                      <a:pt x="6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3" name="Rectangle 26">
                <a:extLst>
                  <a:ext uri="{FF2B5EF4-FFF2-40B4-BE49-F238E27FC236}">
                    <a16:creationId xmlns:a16="http://schemas.microsoft.com/office/drawing/2014/main" id="{26C7ADFF-9655-6934-D790-68049C1783F2}"/>
                  </a:ext>
                </a:extLst>
              </p:cNvPr>
              <p:cNvSpPr>
                <a:spLocks noChangeArrowheads="1"/>
              </p:cNvSpPr>
              <p:nvPr/>
            </p:nvSpPr>
            <p:spPr bwMode="auto">
              <a:xfrm>
                <a:off x="6330950" y="860426"/>
                <a:ext cx="131763"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4" name="Rectangle 27">
                <a:extLst>
                  <a:ext uri="{FF2B5EF4-FFF2-40B4-BE49-F238E27FC236}">
                    <a16:creationId xmlns:a16="http://schemas.microsoft.com/office/drawing/2014/main" id="{B1134DD5-7CD5-35B8-7874-3C97A3C8DD7A}"/>
                  </a:ext>
                </a:extLst>
              </p:cNvPr>
              <p:cNvSpPr>
                <a:spLocks noChangeArrowheads="1"/>
              </p:cNvSpPr>
              <p:nvPr/>
            </p:nvSpPr>
            <p:spPr bwMode="auto">
              <a:xfrm>
                <a:off x="6270625" y="817563"/>
                <a:ext cx="192088" cy="238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5" name="Freeform 28">
                <a:extLst>
                  <a:ext uri="{FF2B5EF4-FFF2-40B4-BE49-F238E27FC236}">
                    <a16:creationId xmlns:a16="http://schemas.microsoft.com/office/drawing/2014/main" id="{C4AD94BC-9775-1454-0652-13554D2D8B7B}"/>
                  </a:ext>
                </a:extLst>
              </p:cNvPr>
              <p:cNvSpPr>
                <a:spLocks/>
              </p:cNvSpPr>
              <p:nvPr/>
            </p:nvSpPr>
            <p:spPr bwMode="auto">
              <a:xfrm>
                <a:off x="6223000" y="1244601"/>
                <a:ext cx="28575" cy="90488"/>
              </a:xfrm>
              <a:custGeom>
                <a:avLst/>
                <a:gdLst>
                  <a:gd name="T0" fmla="*/ 11 w 11"/>
                  <a:gd name="T1" fmla="*/ 6 h 36"/>
                  <a:gd name="T2" fmla="*/ 11 w 11"/>
                  <a:gd name="T3" fmla="*/ 31 h 36"/>
                  <a:gd name="T4" fmla="*/ 10 w 11"/>
                  <a:gd name="T5" fmla="*/ 34 h 36"/>
                  <a:gd name="T6" fmla="*/ 8 w 11"/>
                  <a:gd name="T7" fmla="*/ 36 h 36"/>
                  <a:gd name="T8" fmla="*/ 6 w 11"/>
                  <a:gd name="T9" fmla="*/ 36 h 36"/>
                  <a:gd name="T10" fmla="*/ 4 w 11"/>
                  <a:gd name="T11" fmla="*/ 36 h 36"/>
                  <a:gd name="T12" fmla="*/ 0 w 11"/>
                  <a:gd name="T13" fmla="*/ 31 h 36"/>
                  <a:gd name="T14" fmla="*/ 0 w 11"/>
                  <a:gd name="T15" fmla="*/ 6 h 36"/>
                  <a:gd name="T16" fmla="*/ 4 w 11"/>
                  <a:gd name="T17" fmla="*/ 0 h 36"/>
                  <a:gd name="T18" fmla="*/ 6 w 11"/>
                  <a:gd name="T19" fmla="*/ 0 h 36"/>
                  <a:gd name="T20" fmla="*/ 11 w 11"/>
                  <a:gd name="T2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6">
                    <a:moveTo>
                      <a:pt x="11" y="6"/>
                    </a:moveTo>
                    <a:cubicBezTo>
                      <a:pt x="11" y="31"/>
                      <a:pt x="11" y="31"/>
                      <a:pt x="11" y="31"/>
                    </a:cubicBezTo>
                    <a:cubicBezTo>
                      <a:pt x="11" y="32"/>
                      <a:pt x="10" y="33"/>
                      <a:pt x="10" y="34"/>
                    </a:cubicBezTo>
                    <a:cubicBezTo>
                      <a:pt x="9" y="34"/>
                      <a:pt x="9" y="35"/>
                      <a:pt x="8" y="36"/>
                    </a:cubicBezTo>
                    <a:cubicBezTo>
                      <a:pt x="8" y="36"/>
                      <a:pt x="7" y="36"/>
                      <a:pt x="6" y="36"/>
                    </a:cubicBezTo>
                    <a:cubicBezTo>
                      <a:pt x="4" y="36"/>
                      <a:pt x="4" y="36"/>
                      <a:pt x="4" y="36"/>
                    </a:cubicBezTo>
                    <a:cubicBezTo>
                      <a:pt x="1" y="36"/>
                      <a:pt x="0" y="34"/>
                      <a:pt x="0" y="31"/>
                    </a:cubicBezTo>
                    <a:cubicBezTo>
                      <a:pt x="0" y="6"/>
                      <a:pt x="0" y="6"/>
                      <a:pt x="0" y="6"/>
                    </a:cubicBezTo>
                    <a:cubicBezTo>
                      <a:pt x="0" y="3"/>
                      <a:pt x="1" y="0"/>
                      <a:pt x="4" y="0"/>
                    </a:cubicBezTo>
                    <a:cubicBezTo>
                      <a:pt x="6" y="0"/>
                      <a:pt x="6" y="0"/>
                      <a:pt x="6" y="0"/>
                    </a:cubicBezTo>
                    <a:cubicBezTo>
                      <a:pt x="9" y="0"/>
                      <a:pt x="11"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6" name="Freeform 29">
                <a:extLst>
                  <a:ext uri="{FF2B5EF4-FFF2-40B4-BE49-F238E27FC236}">
                    <a16:creationId xmlns:a16="http://schemas.microsoft.com/office/drawing/2014/main" id="{03610A75-0DBD-CB77-2370-DCD80CEF12B4}"/>
                  </a:ext>
                </a:extLst>
              </p:cNvPr>
              <p:cNvSpPr>
                <a:spLocks noEditPoints="1"/>
              </p:cNvSpPr>
              <p:nvPr/>
            </p:nvSpPr>
            <p:spPr bwMode="auto">
              <a:xfrm>
                <a:off x="5934075" y="822326"/>
                <a:ext cx="312738" cy="311150"/>
              </a:xfrm>
              <a:custGeom>
                <a:avLst/>
                <a:gdLst>
                  <a:gd name="T0" fmla="*/ 124 w 124"/>
                  <a:gd name="T1" fmla="*/ 53 h 124"/>
                  <a:gd name="T2" fmla="*/ 124 w 124"/>
                  <a:gd name="T3" fmla="*/ 71 h 124"/>
                  <a:gd name="T4" fmla="*/ 121 w 124"/>
                  <a:gd name="T5" fmla="*/ 74 h 124"/>
                  <a:gd name="T6" fmla="*/ 111 w 124"/>
                  <a:gd name="T7" fmla="*/ 74 h 124"/>
                  <a:gd name="T8" fmla="*/ 105 w 124"/>
                  <a:gd name="T9" fmla="*/ 88 h 124"/>
                  <a:gd name="T10" fmla="*/ 112 w 124"/>
                  <a:gd name="T11" fmla="*/ 96 h 124"/>
                  <a:gd name="T12" fmla="*/ 112 w 124"/>
                  <a:gd name="T13" fmla="*/ 100 h 124"/>
                  <a:gd name="T14" fmla="*/ 100 w 124"/>
                  <a:gd name="T15" fmla="*/ 112 h 124"/>
                  <a:gd name="T16" fmla="*/ 96 w 124"/>
                  <a:gd name="T17" fmla="*/ 112 h 124"/>
                  <a:gd name="T18" fmla="*/ 88 w 124"/>
                  <a:gd name="T19" fmla="*/ 105 h 124"/>
                  <a:gd name="T20" fmla="*/ 74 w 124"/>
                  <a:gd name="T21" fmla="*/ 111 h 124"/>
                  <a:gd name="T22" fmla="*/ 74 w 124"/>
                  <a:gd name="T23" fmla="*/ 121 h 124"/>
                  <a:gd name="T24" fmla="*/ 71 w 124"/>
                  <a:gd name="T25" fmla="*/ 124 h 124"/>
                  <a:gd name="T26" fmla="*/ 53 w 124"/>
                  <a:gd name="T27" fmla="*/ 124 h 124"/>
                  <a:gd name="T28" fmla="*/ 51 w 124"/>
                  <a:gd name="T29" fmla="*/ 121 h 124"/>
                  <a:gd name="T30" fmla="*/ 51 w 124"/>
                  <a:gd name="T31" fmla="*/ 111 h 124"/>
                  <a:gd name="T32" fmla="*/ 36 w 124"/>
                  <a:gd name="T33" fmla="*/ 105 h 124"/>
                  <a:gd name="T34" fmla="*/ 29 w 124"/>
                  <a:gd name="T35" fmla="*/ 112 h 124"/>
                  <a:gd name="T36" fmla="*/ 25 w 124"/>
                  <a:gd name="T37" fmla="*/ 112 h 124"/>
                  <a:gd name="T38" fmla="*/ 12 w 124"/>
                  <a:gd name="T39" fmla="*/ 100 h 124"/>
                  <a:gd name="T40" fmla="*/ 12 w 124"/>
                  <a:gd name="T41" fmla="*/ 96 h 124"/>
                  <a:gd name="T42" fmla="*/ 19 w 124"/>
                  <a:gd name="T43" fmla="*/ 88 h 124"/>
                  <a:gd name="T44" fmla="*/ 13 w 124"/>
                  <a:gd name="T45" fmla="*/ 74 h 124"/>
                  <a:gd name="T46" fmla="*/ 3 w 124"/>
                  <a:gd name="T47" fmla="*/ 74 h 124"/>
                  <a:gd name="T48" fmla="*/ 0 w 124"/>
                  <a:gd name="T49" fmla="*/ 71 h 124"/>
                  <a:gd name="T50" fmla="*/ 0 w 124"/>
                  <a:gd name="T51" fmla="*/ 53 h 124"/>
                  <a:gd name="T52" fmla="*/ 3 w 124"/>
                  <a:gd name="T53" fmla="*/ 50 h 124"/>
                  <a:gd name="T54" fmla="*/ 13 w 124"/>
                  <a:gd name="T55" fmla="*/ 50 h 124"/>
                  <a:gd name="T56" fmla="*/ 19 w 124"/>
                  <a:gd name="T57" fmla="*/ 36 h 124"/>
                  <a:gd name="T58" fmla="*/ 12 w 124"/>
                  <a:gd name="T59" fmla="*/ 29 h 124"/>
                  <a:gd name="T60" fmla="*/ 12 w 124"/>
                  <a:gd name="T61" fmla="*/ 25 h 124"/>
                  <a:gd name="T62" fmla="*/ 25 w 124"/>
                  <a:gd name="T63" fmla="*/ 12 h 124"/>
                  <a:gd name="T64" fmla="*/ 29 w 124"/>
                  <a:gd name="T65" fmla="*/ 12 h 124"/>
                  <a:gd name="T66" fmla="*/ 36 w 124"/>
                  <a:gd name="T67" fmla="*/ 19 h 124"/>
                  <a:gd name="T68" fmla="*/ 51 w 124"/>
                  <a:gd name="T69" fmla="*/ 13 h 124"/>
                  <a:gd name="T70" fmla="*/ 51 w 124"/>
                  <a:gd name="T71" fmla="*/ 3 h 124"/>
                  <a:gd name="T72" fmla="*/ 53 w 124"/>
                  <a:gd name="T73" fmla="*/ 0 h 124"/>
                  <a:gd name="T74" fmla="*/ 71 w 124"/>
                  <a:gd name="T75" fmla="*/ 0 h 124"/>
                  <a:gd name="T76" fmla="*/ 74 w 124"/>
                  <a:gd name="T77" fmla="*/ 3 h 124"/>
                  <a:gd name="T78" fmla="*/ 74 w 124"/>
                  <a:gd name="T79" fmla="*/ 13 h 124"/>
                  <a:gd name="T80" fmla="*/ 88 w 124"/>
                  <a:gd name="T81" fmla="*/ 19 h 124"/>
                  <a:gd name="T82" fmla="*/ 96 w 124"/>
                  <a:gd name="T83" fmla="*/ 12 h 124"/>
                  <a:gd name="T84" fmla="*/ 100 w 124"/>
                  <a:gd name="T85" fmla="*/ 12 h 124"/>
                  <a:gd name="T86" fmla="*/ 112 w 124"/>
                  <a:gd name="T87" fmla="*/ 25 h 124"/>
                  <a:gd name="T88" fmla="*/ 112 w 124"/>
                  <a:gd name="T89" fmla="*/ 29 h 124"/>
                  <a:gd name="T90" fmla="*/ 105 w 124"/>
                  <a:gd name="T91" fmla="*/ 36 h 124"/>
                  <a:gd name="T92" fmla="*/ 111 w 124"/>
                  <a:gd name="T93" fmla="*/ 50 h 124"/>
                  <a:gd name="T94" fmla="*/ 121 w 124"/>
                  <a:gd name="T95" fmla="*/ 50 h 124"/>
                  <a:gd name="T96" fmla="*/ 124 w 124"/>
                  <a:gd name="T97" fmla="*/ 53 h 124"/>
                  <a:gd name="T98" fmla="*/ 90 w 124"/>
                  <a:gd name="T99" fmla="*/ 62 h 124"/>
                  <a:gd name="T100" fmla="*/ 62 w 124"/>
                  <a:gd name="T101" fmla="*/ 34 h 124"/>
                  <a:gd name="T102" fmla="*/ 34 w 124"/>
                  <a:gd name="T103" fmla="*/ 62 h 124"/>
                  <a:gd name="T104" fmla="*/ 62 w 124"/>
                  <a:gd name="T105" fmla="*/ 90 h 124"/>
                  <a:gd name="T106" fmla="*/ 90 w 124"/>
                  <a:gd name="T107" fmla="*/ 6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4" h="124">
                    <a:moveTo>
                      <a:pt x="124" y="53"/>
                    </a:moveTo>
                    <a:cubicBezTo>
                      <a:pt x="124" y="71"/>
                      <a:pt x="124" y="71"/>
                      <a:pt x="124" y="71"/>
                    </a:cubicBezTo>
                    <a:cubicBezTo>
                      <a:pt x="124" y="73"/>
                      <a:pt x="123" y="74"/>
                      <a:pt x="121" y="74"/>
                    </a:cubicBezTo>
                    <a:cubicBezTo>
                      <a:pt x="111" y="74"/>
                      <a:pt x="111" y="74"/>
                      <a:pt x="111" y="74"/>
                    </a:cubicBezTo>
                    <a:cubicBezTo>
                      <a:pt x="110" y="79"/>
                      <a:pt x="108" y="84"/>
                      <a:pt x="105" y="88"/>
                    </a:cubicBezTo>
                    <a:cubicBezTo>
                      <a:pt x="112" y="96"/>
                      <a:pt x="112" y="96"/>
                      <a:pt x="112" y="96"/>
                    </a:cubicBezTo>
                    <a:cubicBezTo>
                      <a:pt x="113" y="97"/>
                      <a:pt x="113" y="99"/>
                      <a:pt x="112" y="100"/>
                    </a:cubicBezTo>
                    <a:cubicBezTo>
                      <a:pt x="100" y="112"/>
                      <a:pt x="100" y="112"/>
                      <a:pt x="100" y="112"/>
                    </a:cubicBezTo>
                    <a:cubicBezTo>
                      <a:pt x="99" y="113"/>
                      <a:pt x="97" y="113"/>
                      <a:pt x="96" y="112"/>
                    </a:cubicBezTo>
                    <a:cubicBezTo>
                      <a:pt x="88" y="105"/>
                      <a:pt x="88" y="105"/>
                      <a:pt x="88" y="105"/>
                    </a:cubicBezTo>
                    <a:cubicBezTo>
                      <a:pt x="84" y="108"/>
                      <a:pt x="79" y="110"/>
                      <a:pt x="74" y="111"/>
                    </a:cubicBezTo>
                    <a:cubicBezTo>
                      <a:pt x="74" y="121"/>
                      <a:pt x="74" y="121"/>
                      <a:pt x="74" y="121"/>
                    </a:cubicBezTo>
                    <a:cubicBezTo>
                      <a:pt x="74" y="123"/>
                      <a:pt x="73" y="124"/>
                      <a:pt x="71" y="124"/>
                    </a:cubicBezTo>
                    <a:cubicBezTo>
                      <a:pt x="53" y="124"/>
                      <a:pt x="53" y="124"/>
                      <a:pt x="53" y="124"/>
                    </a:cubicBezTo>
                    <a:cubicBezTo>
                      <a:pt x="52" y="124"/>
                      <a:pt x="51" y="123"/>
                      <a:pt x="51" y="121"/>
                    </a:cubicBezTo>
                    <a:cubicBezTo>
                      <a:pt x="51" y="111"/>
                      <a:pt x="51" y="111"/>
                      <a:pt x="51" y="111"/>
                    </a:cubicBezTo>
                    <a:cubicBezTo>
                      <a:pt x="45" y="110"/>
                      <a:pt x="40" y="108"/>
                      <a:pt x="36" y="105"/>
                    </a:cubicBezTo>
                    <a:cubicBezTo>
                      <a:pt x="29" y="112"/>
                      <a:pt x="29" y="112"/>
                      <a:pt x="29" y="112"/>
                    </a:cubicBezTo>
                    <a:cubicBezTo>
                      <a:pt x="28" y="113"/>
                      <a:pt x="26" y="113"/>
                      <a:pt x="25" y="112"/>
                    </a:cubicBezTo>
                    <a:cubicBezTo>
                      <a:pt x="12" y="100"/>
                      <a:pt x="12" y="100"/>
                      <a:pt x="12" y="100"/>
                    </a:cubicBezTo>
                    <a:cubicBezTo>
                      <a:pt x="11" y="99"/>
                      <a:pt x="11" y="97"/>
                      <a:pt x="12" y="96"/>
                    </a:cubicBezTo>
                    <a:cubicBezTo>
                      <a:pt x="19" y="88"/>
                      <a:pt x="19" y="88"/>
                      <a:pt x="19" y="88"/>
                    </a:cubicBezTo>
                    <a:cubicBezTo>
                      <a:pt x="17" y="84"/>
                      <a:pt x="15" y="79"/>
                      <a:pt x="13" y="74"/>
                    </a:cubicBezTo>
                    <a:cubicBezTo>
                      <a:pt x="3" y="74"/>
                      <a:pt x="3" y="74"/>
                      <a:pt x="3" y="74"/>
                    </a:cubicBezTo>
                    <a:cubicBezTo>
                      <a:pt x="2" y="74"/>
                      <a:pt x="0" y="73"/>
                      <a:pt x="0" y="71"/>
                    </a:cubicBezTo>
                    <a:cubicBezTo>
                      <a:pt x="0" y="53"/>
                      <a:pt x="0" y="53"/>
                      <a:pt x="0" y="53"/>
                    </a:cubicBezTo>
                    <a:cubicBezTo>
                      <a:pt x="0" y="52"/>
                      <a:pt x="2" y="50"/>
                      <a:pt x="3" y="50"/>
                    </a:cubicBezTo>
                    <a:cubicBezTo>
                      <a:pt x="13" y="50"/>
                      <a:pt x="13" y="50"/>
                      <a:pt x="13" y="50"/>
                    </a:cubicBezTo>
                    <a:cubicBezTo>
                      <a:pt x="15" y="45"/>
                      <a:pt x="17" y="40"/>
                      <a:pt x="19" y="36"/>
                    </a:cubicBezTo>
                    <a:cubicBezTo>
                      <a:pt x="12" y="29"/>
                      <a:pt x="12" y="29"/>
                      <a:pt x="12" y="29"/>
                    </a:cubicBezTo>
                    <a:cubicBezTo>
                      <a:pt x="11" y="28"/>
                      <a:pt x="11" y="26"/>
                      <a:pt x="12" y="25"/>
                    </a:cubicBezTo>
                    <a:cubicBezTo>
                      <a:pt x="25" y="12"/>
                      <a:pt x="25" y="12"/>
                      <a:pt x="25" y="12"/>
                    </a:cubicBezTo>
                    <a:cubicBezTo>
                      <a:pt x="26" y="11"/>
                      <a:pt x="28" y="11"/>
                      <a:pt x="29" y="12"/>
                    </a:cubicBezTo>
                    <a:cubicBezTo>
                      <a:pt x="36" y="19"/>
                      <a:pt x="36" y="19"/>
                      <a:pt x="36" y="19"/>
                    </a:cubicBezTo>
                    <a:cubicBezTo>
                      <a:pt x="40" y="17"/>
                      <a:pt x="45" y="15"/>
                      <a:pt x="51" y="13"/>
                    </a:cubicBezTo>
                    <a:cubicBezTo>
                      <a:pt x="51" y="3"/>
                      <a:pt x="51" y="3"/>
                      <a:pt x="51" y="3"/>
                    </a:cubicBezTo>
                    <a:cubicBezTo>
                      <a:pt x="51" y="2"/>
                      <a:pt x="52" y="0"/>
                      <a:pt x="53" y="0"/>
                    </a:cubicBezTo>
                    <a:cubicBezTo>
                      <a:pt x="71" y="0"/>
                      <a:pt x="71" y="0"/>
                      <a:pt x="71" y="0"/>
                    </a:cubicBezTo>
                    <a:cubicBezTo>
                      <a:pt x="73" y="0"/>
                      <a:pt x="74" y="2"/>
                      <a:pt x="74" y="3"/>
                    </a:cubicBezTo>
                    <a:cubicBezTo>
                      <a:pt x="74" y="13"/>
                      <a:pt x="74" y="13"/>
                      <a:pt x="74" y="13"/>
                    </a:cubicBezTo>
                    <a:cubicBezTo>
                      <a:pt x="79" y="15"/>
                      <a:pt x="84" y="17"/>
                      <a:pt x="88" y="19"/>
                    </a:cubicBezTo>
                    <a:cubicBezTo>
                      <a:pt x="96" y="12"/>
                      <a:pt x="96" y="12"/>
                      <a:pt x="96" y="12"/>
                    </a:cubicBezTo>
                    <a:cubicBezTo>
                      <a:pt x="97" y="11"/>
                      <a:pt x="99" y="11"/>
                      <a:pt x="100" y="12"/>
                    </a:cubicBezTo>
                    <a:cubicBezTo>
                      <a:pt x="112" y="25"/>
                      <a:pt x="112" y="25"/>
                      <a:pt x="112" y="25"/>
                    </a:cubicBezTo>
                    <a:cubicBezTo>
                      <a:pt x="113" y="26"/>
                      <a:pt x="113" y="28"/>
                      <a:pt x="112" y="29"/>
                    </a:cubicBezTo>
                    <a:cubicBezTo>
                      <a:pt x="105" y="36"/>
                      <a:pt x="105" y="36"/>
                      <a:pt x="105" y="36"/>
                    </a:cubicBezTo>
                    <a:cubicBezTo>
                      <a:pt x="108" y="40"/>
                      <a:pt x="110" y="45"/>
                      <a:pt x="111" y="50"/>
                    </a:cubicBezTo>
                    <a:cubicBezTo>
                      <a:pt x="121" y="50"/>
                      <a:pt x="121" y="50"/>
                      <a:pt x="121" y="50"/>
                    </a:cubicBezTo>
                    <a:cubicBezTo>
                      <a:pt x="123" y="50"/>
                      <a:pt x="124" y="52"/>
                      <a:pt x="124" y="53"/>
                    </a:cubicBezTo>
                    <a:close/>
                    <a:moveTo>
                      <a:pt x="90" y="62"/>
                    </a:moveTo>
                    <a:cubicBezTo>
                      <a:pt x="90" y="47"/>
                      <a:pt x="78" y="34"/>
                      <a:pt x="62" y="34"/>
                    </a:cubicBezTo>
                    <a:cubicBezTo>
                      <a:pt x="47" y="34"/>
                      <a:pt x="34" y="47"/>
                      <a:pt x="34" y="62"/>
                    </a:cubicBezTo>
                    <a:cubicBezTo>
                      <a:pt x="34" y="78"/>
                      <a:pt x="47" y="90"/>
                      <a:pt x="62" y="90"/>
                    </a:cubicBezTo>
                    <a:cubicBezTo>
                      <a:pt x="78" y="90"/>
                      <a:pt x="90" y="78"/>
                      <a:pt x="90"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7" name="Freeform 30">
                <a:extLst>
                  <a:ext uri="{FF2B5EF4-FFF2-40B4-BE49-F238E27FC236}">
                    <a16:creationId xmlns:a16="http://schemas.microsoft.com/office/drawing/2014/main" id="{06E22100-A7AC-7624-F218-2BA6D03E550A}"/>
                  </a:ext>
                </a:extLst>
              </p:cNvPr>
              <p:cNvSpPr>
                <a:spLocks noEditPoints="1"/>
              </p:cNvSpPr>
              <p:nvPr/>
            </p:nvSpPr>
            <p:spPr bwMode="auto">
              <a:xfrm>
                <a:off x="6135688" y="1244601"/>
                <a:ext cx="63500" cy="95250"/>
              </a:xfrm>
              <a:custGeom>
                <a:avLst/>
                <a:gdLst>
                  <a:gd name="T0" fmla="*/ 25 w 25"/>
                  <a:gd name="T1" fmla="*/ 11 h 38"/>
                  <a:gd name="T2" fmla="*/ 25 w 25"/>
                  <a:gd name="T3" fmla="*/ 26 h 38"/>
                  <a:gd name="T4" fmla="*/ 13 w 25"/>
                  <a:gd name="T5" fmla="*/ 38 h 38"/>
                  <a:gd name="T6" fmla="*/ 12 w 25"/>
                  <a:gd name="T7" fmla="*/ 38 h 38"/>
                  <a:gd name="T8" fmla="*/ 0 w 25"/>
                  <a:gd name="T9" fmla="*/ 26 h 38"/>
                  <a:gd name="T10" fmla="*/ 0 w 25"/>
                  <a:gd name="T11" fmla="*/ 11 h 38"/>
                  <a:gd name="T12" fmla="*/ 12 w 25"/>
                  <a:gd name="T13" fmla="*/ 0 h 38"/>
                  <a:gd name="T14" fmla="*/ 13 w 25"/>
                  <a:gd name="T15" fmla="*/ 0 h 38"/>
                  <a:gd name="T16" fmla="*/ 25 w 25"/>
                  <a:gd name="T17" fmla="*/ 11 h 38"/>
                  <a:gd name="T18" fmla="*/ 18 w 25"/>
                  <a:gd name="T19" fmla="*/ 23 h 38"/>
                  <a:gd name="T20" fmla="*/ 18 w 25"/>
                  <a:gd name="T21" fmla="*/ 14 h 38"/>
                  <a:gd name="T22" fmla="*/ 13 w 25"/>
                  <a:gd name="T23" fmla="*/ 8 h 38"/>
                  <a:gd name="T24" fmla="*/ 12 w 25"/>
                  <a:gd name="T25" fmla="*/ 8 h 38"/>
                  <a:gd name="T26" fmla="*/ 7 w 25"/>
                  <a:gd name="T27" fmla="*/ 14 h 38"/>
                  <a:gd name="T28" fmla="*/ 7 w 25"/>
                  <a:gd name="T29" fmla="*/ 23 h 38"/>
                  <a:gd name="T30" fmla="*/ 12 w 25"/>
                  <a:gd name="T31" fmla="*/ 29 h 38"/>
                  <a:gd name="T32" fmla="*/ 13 w 25"/>
                  <a:gd name="T33" fmla="*/ 29 h 38"/>
                  <a:gd name="T34" fmla="*/ 18 w 25"/>
                  <a:gd name="T35" fmla="*/ 2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 h="38">
                    <a:moveTo>
                      <a:pt x="25" y="11"/>
                    </a:moveTo>
                    <a:cubicBezTo>
                      <a:pt x="25" y="26"/>
                      <a:pt x="25" y="26"/>
                      <a:pt x="25" y="26"/>
                    </a:cubicBezTo>
                    <a:cubicBezTo>
                      <a:pt x="25" y="33"/>
                      <a:pt x="19" y="38"/>
                      <a:pt x="13" y="38"/>
                    </a:cubicBezTo>
                    <a:cubicBezTo>
                      <a:pt x="12" y="38"/>
                      <a:pt x="12" y="38"/>
                      <a:pt x="12" y="38"/>
                    </a:cubicBezTo>
                    <a:cubicBezTo>
                      <a:pt x="5" y="38"/>
                      <a:pt x="0" y="33"/>
                      <a:pt x="0" y="26"/>
                    </a:cubicBezTo>
                    <a:cubicBezTo>
                      <a:pt x="0" y="11"/>
                      <a:pt x="0" y="11"/>
                      <a:pt x="0" y="11"/>
                    </a:cubicBezTo>
                    <a:cubicBezTo>
                      <a:pt x="0" y="5"/>
                      <a:pt x="5" y="0"/>
                      <a:pt x="12" y="0"/>
                    </a:cubicBezTo>
                    <a:cubicBezTo>
                      <a:pt x="13" y="0"/>
                      <a:pt x="13" y="0"/>
                      <a:pt x="13" y="0"/>
                    </a:cubicBezTo>
                    <a:cubicBezTo>
                      <a:pt x="19" y="0"/>
                      <a:pt x="25" y="5"/>
                      <a:pt x="25" y="11"/>
                    </a:cubicBezTo>
                    <a:close/>
                    <a:moveTo>
                      <a:pt x="18" y="23"/>
                    </a:moveTo>
                    <a:cubicBezTo>
                      <a:pt x="18" y="14"/>
                      <a:pt x="18" y="14"/>
                      <a:pt x="18" y="14"/>
                    </a:cubicBezTo>
                    <a:cubicBezTo>
                      <a:pt x="18" y="11"/>
                      <a:pt x="15" y="8"/>
                      <a:pt x="13" y="8"/>
                    </a:cubicBezTo>
                    <a:cubicBezTo>
                      <a:pt x="12" y="8"/>
                      <a:pt x="12" y="8"/>
                      <a:pt x="12" y="8"/>
                    </a:cubicBezTo>
                    <a:cubicBezTo>
                      <a:pt x="9" y="8"/>
                      <a:pt x="7" y="11"/>
                      <a:pt x="7" y="14"/>
                    </a:cubicBezTo>
                    <a:cubicBezTo>
                      <a:pt x="7" y="23"/>
                      <a:pt x="7" y="23"/>
                      <a:pt x="7" y="23"/>
                    </a:cubicBezTo>
                    <a:cubicBezTo>
                      <a:pt x="7" y="26"/>
                      <a:pt x="9" y="29"/>
                      <a:pt x="12" y="29"/>
                    </a:cubicBezTo>
                    <a:cubicBezTo>
                      <a:pt x="13" y="29"/>
                      <a:pt x="13" y="29"/>
                      <a:pt x="13" y="29"/>
                    </a:cubicBezTo>
                    <a:cubicBezTo>
                      <a:pt x="15" y="29"/>
                      <a:pt x="18" y="26"/>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8" name="Freeform 31">
                <a:extLst>
                  <a:ext uri="{FF2B5EF4-FFF2-40B4-BE49-F238E27FC236}">
                    <a16:creationId xmlns:a16="http://schemas.microsoft.com/office/drawing/2014/main" id="{B1CB5F75-F9C6-DB6C-DEE7-E058649A038E}"/>
                  </a:ext>
                </a:extLst>
              </p:cNvPr>
              <p:cNvSpPr>
                <a:spLocks noEditPoints="1"/>
              </p:cNvSpPr>
              <p:nvPr/>
            </p:nvSpPr>
            <p:spPr bwMode="auto">
              <a:xfrm>
                <a:off x="6075363" y="1360488"/>
                <a:ext cx="60325" cy="95250"/>
              </a:xfrm>
              <a:custGeom>
                <a:avLst/>
                <a:gdLst>
                  <a:gd name="T0" fmla="*/ 24 w 24"/>
                  <a:gd name="T1" fmla="*/ 11 h 38"/>
                  <a:gd name="T2" fmla="*/ 24 w 24"/>
                  <a:gd name="T3" fmla="*/ 27 h 38"/>
                  <a:gd name="T4" fmla="*/ 13 w 24"/>
                  <a:gd name="T5" fmla="*/ 38 h 38"/>
                  <a:gd name="T6" fmla="*/ 12 w 24"/>
                  <a:gd name="T7" fmla="*/ 38 h 38"/>
                  <a:gd name="T8" fmla="*/ 0 w 24"/>
                  <a:gd name="T9" fmla="*/ 27 h 38"/>
                  <a:gd name="T10" fmla="*/ 0 w 24"/>
                  <a:gd name="T11" fmla="*/ 11 h 38"/>
                  <a:gd name="T12" fmla="*/ 12 w 24"/>
                  <a:gd name="T13" fmla="*/ 0 h 38"/>
                  <a:gd name="T14" fmla="*/ 13 w 24"/>
                  <a:gd name="T15" fmla="*/ 0 h 38"/>
                  <a:gd name="T16" fmla="*/ 24 w 24"/>
                  <a:gd name="T17" fmla="*/ 11 h 38"/>
                  <a:gd name="T18" fmla="*/ 17 w 24"/>
                  <a:gd name="T19" fmla="*/ 23 h 38"/>
                  <a:gd name="T20" fmla="*/ 17 w 24"/>
                  <a:gd name="T21" fmla="*/ 15 h 38"/>
                  <a:gd name="T22" fmla="*/ 12 w 24"/>
                  <a:gd name="T23" fmla="*/ 8 h 38"/>
                  <a:gd name="T24" fmla="*/ 12 w 24"/>
                  <a:gd name="T25" fmla="*/ 8 h 38"/>
                  <a:gd name="T26" fmla="*/ 7 w 24"/>
                  <a:gd name="T27" fmla="*/ 15 h 38"/>
                  <a:gd name="T28" fmla="*/ 7 w 24"/>
                  <a:gd name="T29" fmla="*/ 23 h 38"/>
                  <a:gd name="T30" fmla="*/ 12 w 24"/>
                  <a:gd name="T31" fmla="*/ 30 h 38"/>
                  <a:gd name="T32" fmla="*/ 12 w 24"/>
                  <a:gd name="T33" fmla="*/ 30 h 38"/>
                  <a:gd name="T34" fmla="*/ 17 w 24"/>
                  <a:gd name="T35" fmla="*/ 2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38">
                    <a:moveTo>
                      <a:pt x="24" y="11"/>
                    </a:moveTo>
                    <a:cubicBezTo>
                      <a:pt x="24" y="27"/>
                      <a:pt x="24" y="27"/>
                      <a:pt x="24" y="27"/>
                    </a:cubicBezTo>
                    <a:cubicBezTo>
                      <a:pt x="24" y="33"/>
                      <a:pt x="19" y="38"/>
                      <a:pt x="13" y="38"/>
                    </a:cubicBezTo>
                    <a:cubicBezTo>
                      <a:pt x="12" y="38"/>
                      <a:pt x="12" y="38"/>
                      <a:pt x="12" y="38"/>
                    </a:cubicBezTo>
                    <a:cubicBezTo>
                      <a:pt x="5" y="38"/>
                      <a:pt x="0" y="33"/>
                      <a:pt x="0" y="27"/>
                    </a:cubicBezTo>
                    <a:cubicBezTo>
                      <a:pt x="0" y="11"/>
                      <a:pt x="0" y="11"/>
                      <a:pt x="0" y="11"/>
                    </a:cubicBezTo>
                    <a:cubicBezTo>
                      <a:pt x="0" y="5"/>
                      <a:pt x="5" y="0"/>
                      <a:pt x="12" y="0"/>
                    </a:cubicBezTo>
                    <a:cubicBezTo>
                      <a:pt x="13" y="0"/>
                      <a:pt x="13" y="0"/>
                      <a:pt x="13" y="0"/>
                    </a:cubicBezTo>
                    <a:cubicBezTo>
                      <a:pt x="19" y="0"/>
                      <a:pt x="24" y="5"/>
                      <a:pt x="24" y="11"/>
                    </a:cubicBezTo>
                    <a:close/>
                    <a:moveTo>
                      <a:pt x="17" y="23"/>
                    </a:moveTo>
                    <a:cubicBezTo>
                      <a:pt x="17" y="15"/>
                      <a:pt x="17" y="15"/>
                      <a:pt x="17" y="15"/>
                    </a:cubicBezTo>
                    <a:cubicBezTo>
                      <a:pt x="17" y="11"/>
                      <a:pt x="15" y="8"/>
                      <a:pt x="12" y="8"/>
                    </a:cubicBezTo>
                    <a:cubicBezTo>
                      <a:pt x="12" y="8"/>
                      <a:pt x="12" y="8"/>
                      <a:pt x="12" y="8"/>
                    </a:cubicBezTo>
                    <a:cubicBezTo>
                      <a:pt x="9" y="8"/>
                      <a:pt x="7" y="11"/>
                      <a:pt x="7" y="15"/>
                    </a:cubicBezTo>
                    <a:cubicBezTo>
                      <a:pt x="7" y="23"/>
                      <a:pt x="7" y="23"/>
                      <a:pt x="7" y="23"/>
                    </a:cubicBezTo>
                    <a:cubicBezTo>
                      <a:pt x="7" y="27"/>
                      <a:pt x="9" y="30"/>
                      <a:pt x="12" y="30"/>
                    </a:cubicBezTo>
                    <a:cubicBezTo>
                      <a:pt x="12" y="30"/>
                      <a:pt x="12" y="30"/>
                      <a:pt x="12" y="30"/>
                    </a:cubicBezTo>
                    <a:cubicBezTo>
                      <a:pt x="15" y="30"/>
                      <a:pt x="17" y="27"/>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9" name="Freeform 32">
                <a:extLst>
                  <a:ext uri="{FF2B5EF4-FFF2-40B4-BE49-F238E27FC236}">
                    <a16:creationId xmlns:a16="http://schemas.microsoft.com/office/drawing/2014/main" id="{1E974780-3B93-E1F1-3006-311FDABB6F31}"/>
                  </a:ext>
                </a:extLst>
              </p:cNvPr>
              <p:cNvSpPr>
                <a:spLocks/>
              </p:cNvSpPr>
              <p:nvPr/>
            </p:nvSpPr>
            <p:spPr bwMode="auto">
              <a:xfrm>
                <a:off x="6088063" y="1244601"/>
                <a:ext cx="26988" cy="90488"/>
              </a:xfrm>
              <a:custGeom>
                <a:avLst/>
                <a:gdLst>
                  <a:gd name="T0" fmla="*/ 11 w 11"/>
                  <a:gd name="T1" fmla="*/ 6 h 36"/>
                  <a:gd name="T2" fmla="*/ 11 w 11"/>
                  <a:gd name="T3" fmla="*/ 31 h 36"/>
                  <a:gd name="T4" fmla="*/ 7 w 11"/>
                  <a:gd name="T5" fmla="*/ 36 h 36"/>
                  <a:gd name="T6" fmla="*/ 4 w 11"/>
                  <a:gd name="T7" fmla="*/ 36 h 36"/>
                  <a:gd name="T8" fmla="*/ 0 w 11"/>
                  <a:gd name="T9" fmla="*/ 31 h 36"/>
                  <a:gd name="T10" fmla="*/ 0 w 11"/>
                  <a:gd name="T11" fmla="*/ 6 h 36"/>
                  <a:gd name="T12" fmla="*/ 4 w 11"/>
                  <a:gd name="T13" fmla="*/ 0 h 36"/>
                  <a:gd name="T14" fmla="*/ 7 w 11"/>
                  <a:gd name="T15" fmla="*/ 0 h 36"/>
                  <a:gd name="T16" fmla="*/ 11 w 11"/>
                  <a:gd name="T17"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36">
                    <a:moveTo>
                      <a:pt x="11" y="6"/>
                    </a:moveTo>
                    <a:cubicBezTo>
                      <a:pt x="11" y="31"/>
                      <a:pt x="11" y="31"/>
                      <a:pt x="11" y="31"/>
                    </a:cubicBezTo>
                    <a:cubicBezTo>
                      <a:pt x="11" y="34"/>
                      <a:pt x="9" y="36"/>
                      <a:pt x="7" y="36"/>
                    </a:cubicBezTo>
                    <a:cubicBezTo>
                      <a:pt x="4" y="36"/>
                      <a:pt x="4" y="36"/>
                      <a:pt x="4" y="36"/>
                    </a:cubicBezTo>
                    <a:cubicBezTo>
                      <a:pt x="2" y="36"/>
                      <a:pt x="0" y="34"/>
                      <a:pt x="0" y="31"/>
                    </a:cubicBezTo>
                    <a:cubicBezTo>
                      <a:pt x="0" y="6"/>
                      <a:pt x="0" y="6"/>
                      <a:pt x="0" y="6"/>
                    </a:cubicBezTo>
                    <a:cubicBezTo>
                      <a:pt x="0" y="3"/>
                      <a:pt x="2" y="0"/>
                      <a:pt x="4" y="0"/>
                    </a:cubicBezTo>
                    <a:cubicBezTo>
                      <a:pt x="7" y="0"/>
                      <a:pt x="7" y="0"/>
                      <a:pt x="7" y="0"/>
                    </a:cubicBezTo>
                    <a:cubicBezTo>
                      <a:pt x="9" y="0"/>
                      <a:pt x="11"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80" name="Freeform 33">
                <a:extLst>
                  <a:ext uri="{FF2B5EF4-FFF2-40B4-BE49-F238E27FC236}">
                    <a16:creationId xmlns:a16="http://schemas.microsoft.com/office/drawing/2014/main" id="{E77803B1-132B-0BD3-01E7-E3EA7BB2004E}"/>
                  </a:ext>
                </a:extLst>
              </p:cNvPr>
              <p:cNvSpPr>
                <a:spLocks noEditPoints="1"/>
              </p:cNvSpPr>
              <p:nvPr/>
            </p:nvSpPr>
            <p:spPr bwMode="auto">
              <a:xfrm>
                <a:off x="6002338" y="1131888"/>
                <a:ext cx="60325" cy="95250"/>
              </a:xfrm>
              <a:custGeom>
                <a:avLst/>
                <a:gdLst>
                  <a:gd name="T0" fmla="*/ 24 w 24"/>
                  <a:gd name="T1" fmla="*/ 12 h 38"/>
                  <a:gd name="T2" fmla="*/ 24 w 24"/>
                  <a:gd name="T3" fmla="*/ 27 h 38"/>
                  <a:gd name="T4" fmla="*/ 12 w 24"/>
                  <a:gd name="T5" fmla="*/ 38 h 38"/>
                  <a:gd name="T6" fmla="*/ 11 w 24"/>
                  <a:gd name="T7" fmla="*/ 38 h 38"/>
                  <a:gd name="T8" fmla="*/ 0 w 24"/>
                  <a:gd name="T9" fmla="*/ 27 h 38"/>
                  <a:gd name="T10" fmla="*/ 0 w 24"/>
                  <a:gd name="T11" fmla="*/ 12 h 38"/>
                  <a:gd name="T12" fmla="*/ 11 w 24"/>
                  <a:gd name="T13" fmla="*/ 0 h 38"/>
                  <a:gd name="T14" fmla="*/ 12 w 24"/>
                  <a:gd name="T15" fmla="*/ 0 h 38"/>
                  <a:gd name="T16" fmla="*/ 24 w 24"/>
                  <a:gd name="T17" fmla="*/ 12 h 38"/>
                  <a:gd name="T18" fmla="*/ 17 w 24"/>
                  <a:gd name="T19" fmla="*/ 24 h 38"/>
                  <a:gd name="T20" fmla="*/ 17 w 24"/>
                  <a:gd name="T21" fmla="*/ 15 h 38"/>
                  <a:gd name="T22" fmla="*/ 12 w 24"/>
                  <a:gd name="T23" fmla="*/ 9 h 38"/>
                  <a:gd name="T24" fmla="*/ 11 w 24"/>
                  <a:gd name="T25" fmla="*/ 9 h 38"/>
                  <a:gd name="T26" fmla="*/ 6 w 24"/>
                  <a:gd name="T27" fmla="*/ 15 h 38"/>
                  <a:gd name="T28" fmla="*/ 6 w 24"/>
                  <a:gd name="T29" fmla="*/ 24 h 38"/>
                  <a:gd name="T30" fmla="*/ 11 w 24"/>
                  <a:gd name="T31" fmla="*/ 30 h 38"/>
                  <a:gd name="T32" fmla="*/ 12 w 24"/>
                  <a:gd name="T33" fmla="*/ 30 h 38"/>
                  <a:gd name="T34" fmla="*/ 17 w 24"/>
                  <a:gd name="T35" fmla="*/ 2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38">
                    <a:moveTo>
                      <a:pt x="24" y="12"/>
                    </a:moveTo>
                    <a:cubicBezTo>
                      <a:pt x="24" y="27"/>
                      <a:pt x="24" y="27"/>
                      <a:pt x="24" y="27"/>
                    </a:cubicBezTo>
                    <a:cubicBezTo>
                      <a:pt x="24" y="33"/>
                      <a:pt x="19" y="38"/>
                      <a:pt x="12" y="38"/>
                    </a:cubicBezTo>
                    <a:cubicBezTo>
                      <a:pt x="11" y="38"/>
                      <a:pt x="11" y="38"/>
                      <a:pt x="11" y="38"/>
                    </a:cubicBezTo>
                    <a:cubicBezTo>
                      <a:pt x="5" y="38"/>
                      <a:pt x="0" y="33"/>
                      <a:pt x="0" y="27"/>
                    </a:cubicBezTo>
                    <a:cubicBezTo>
                      <a:pt x="0" y="12"/>
                      <a:pt x="0" y="12"/>
                      <a:pt x="0" y="12"/>
                    </a:cubicBezTo>
                    <a:cubicBezTo>
                      <a:pt x="0" y="5"/>
                      <a:pt x="5" y="0"/>
                      <a:pt x="11" y="0"/>
                    </a:cubicBezTo>
                    <a:cubicBezTo>
                      <a:pt x="12" y="0"/>
                      <a:pt x="12" y="0"/>
                      <a:pt x="12" y="0"/>
                    </a:cubicBezTo>
                    <a:cubicBezTo>
                      <a:pt x="19" y="0"/>
                      <a:pt x="24" y="5"/>
                      <a:pt x="24" y="12"/>
                    </a:cubicBezTo>
                    <a:close/>
                    <a:moveTo>
                      <a:pt x="17" y="24"/>
                    </a:moveTo>
                    <a:cubicBezTo>
                      <a:pt x="17" y="15"/>
                      <a:pt x="17" y="15"/>
                      <a:pt x="17" y="15"/>
                    </a:cubicBezTo>
                    <a:cubicBezTo>
                      <a:pt x="17" y="12"/>
                      <a:pt x="15" y="9"/>
                      <a:pt x="12" y="9"/>
                    </a:cubicBezTo>
                    <a:cubicBezTo>
                      <a:pt x="11" y="9"/>
                      <a:pt x="11" y="9"/>
                      <a:pt x="11" y="9"/>
                    </a:cubicBezTo>
                    <a:cubicBezTo>
                      <a:pt x="9" y="9"/>
                      <a:pt x="6" y="12"/>
                      <a:pt x="6" y="15"/>
                    </a:cubicBezTo>
                    <a:cubicBezTo>
                      <a:pt x="6" y="24"/>
                      <a:pt x="6" y="24"/>
                      <a:pt x="6" y="24"/>
                    </a:cubicBezTo>
                    <a:cubicBezTo>
                      <a:pt x="6" y="27"/>
                      <a:pt x="9" y="30"/>
                      <a:pt x="11" y="30"/>
                    </a:cubicBezTo>
                    <a:cubicBezTo>
                      <a:pt x="12" y="30"/>
                      <a:pt x="12" y="30"/>
                      <a:pt x="12" y="30"/>
                    </a:cubicBezTo>
                    <a:cubicBezTo>
                      <a:pt x="15" y="30"/>
                      <a:pt x="17" y="27"/>
                      <a:pt x="17"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81" name="Freeform 34">
                <a:extLst>
                  <a:ext uri="{FF2B5EF4-FFF2-40B4-BE49-F238E27FC236}">
                    <a16:creationId xmlns:a16="http://schemas.microsoft.com/office/drawing/2014/main" id="{F201255B-561E-9C3B-FAF2-3901B37E10D5}"/>
                  </a:ext>
                </a:extLst>
              </p:cNvPr>
              <p:cNvSpPr>
                <a:spLocks noEditPoints="1"/>
              </p:cNvSpPr>
              <p:nvPr/>
            </p:nvSpPr>
            <p:spPr bwMode="auto">
              <a:xfrm>
                <a:off x="6000750" y="1244601"/>
                <a:ext cx="61913" cy="95250"/>
              </a:xfrm>
              <a:custGeom>
                <a:avLst/>
                <a:gdLst>
                  <a:gd name="T0" fmla="*/ 25 w 25"/>
                  <a:gd name="T1" fmla="*/ 11 h 38"/>
                  <a:gd name="T2" fmla="*/ 25 w 25"/>
                  <a:gd name="T3" fmla="*/ 26 h 38"/>
                  <a:gd name="T4" fmla="*/ 13 w 25"/>
                  <a:gd name="T5" fmla="*/ 38 h 38"/>
                  <a:gd name="T6" fmla="*/ 12 w 25"/>
                  <a:gd name="T7" fmla="*/ 38 h 38"/>
                  <a:gd name="T8" fmla="*/ 0 w 25"/>
                  <a:gd name="T9" fmla="*/ 26 h 38"/>
                  <a:gd name="T10" fmla="*/ 0 w 25"/>
                  <a:gd name="T11" fmla="*/ 11 h 38"/>
                  <a:gd name="T12" fmla="*/ 12 w 25"/>
                  <a:gd name="T13" fmla="*/ 0 h 38"/>
                  <a:gd name="T14" fmla="*/ 13 w 25"/>
                  <a:gd name="T15" fmla="*/ 0 h 38"/>
                  <a:gd name="T16" fmla="*/ 25 w 25"/>
                  <a:gd name="T17" fmla="*/ 11 h 38"/>
                  <a:gd name="T18" fmla="*/ 18 w 25"/>
                  <a:gd name="T19" fmla="*/ 23 h 38"/>
                  <a:gd name="T20" fmla="*/ 18 w 25"/>
                  <a:gd name="T21" fmla="*/ 14 h 38"/>
                  <a:gd name="T22" fmla="*/ 13 w 25"/>
                  <a:gd name="T23" fmla="*/ 8 h 38"/>
                  <a:gd name="T24" fmla="*/ 12 w 25"/>
                  <a:gd name="T25" fmla="*/ 8 h 38"/>
                  <a:gd name="T26" fmla="*/ 7 w 25"/>
                  <a:gd name="T27" fmla="*/ 14 h 38"/>
                  <a:gd name="T28" fmla="*/ 7 w 25"/>
                  <a:gd name="T29" fmla="*/ 23 h 38"/>
                  <a:gd name="T30" fmla="*/ 12 w 25"/>
                  <a:gd name="T31" fmla="*/ 29 h 38"/>
                  <a:gd name="T32" fmla="*/ 13 w 25"/>
                  <a:gd name="T33" fmla="*/ 29 h 38"/>
                  <a:gd name="T34" fmla="*/ 18 w 25"/>
                  <a:gd name="T35" fmla="*/ 2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 h="38">
                    <a:moveTo>
                      <a:pt x="25" y="11"/>
                    </a:moveTo>
                    <a:cubicBezTo>
                      <a:pt x="25" y="26"/>
                      <a:pt x="25" y="26"/>
                      <a:pt x="25" y="26"/>
                    </a:cubicBezTo>
                    <a:cubicBezTo>
                      <a:pt x="25" y="33"/>
                      <a:pt x="19" y="38"/>
                      <a:pt x="13" y="38"/>
                    </a:cubicBezTo>
                    <a:cubicBezTo>
                      <a:pt x="12" y="38"/>
                      <a:pt x="12" y="38"/>
                      <a:pt x="12" y="38"/>
                    </a:cubicBezTo>
                    <a:cubicBezTo>
                      <a:pt x="6" y="38"/>
                      <a:pt x="0" y="33"/>
                      <a:pt x="0" y="26"/>
                    </a:cubicBezTo>
                    <a:cubicBezTo>
                      <a:pt x="0" y="11"/>
                      <a:pt x="0" y="11"/>
                      <a:pt x="0" y="11"/>
                    </a:cubicBezTo>
                    <a:cubicBezTo>
                      <a:pt x="0" y="5"/>
                      <a:pt x="6" y="0"/>
                      <a:pt x="12" y="0"/>
                    </a:cubicBezTo>
                    <a:cubicBezTo>
                      <a:pt x="13" y="0"/>
                      <a:pt x="13" y="0"/>
                      <a:pt x="13" y="0"/>
                    </a:cubicBezTo>
                    <a:cubicBezTo>
                      <a:pt x="19" y="0"/>
                      <a:pt x="25" y="5"/>
                      <a:pt x="25" y="11"/>
                    </a:cubicBezTo>
                    <a:close/>
                    <a:moveTo>
                      <a:pt x="18" y="23"/>
                    </a:moveTo>
                    <a:cubicBezTo>
                      <a:pt x="18" y="14"/>
                      <a:pt x="18" y="14"/>
                      <a:pt x="18" y="14"/>
                    </a:cubicBezTo>
                    <a:cubicBezTo>
                      <a:pt x="18" y="11"/>
                      <a:pt x="16" y="8"/>
                      <a:pt x="13" y="8"/>
                    </a:cubicBezTo>
                    <a:cubicBezTo>
                      <a:pt x="12" y="8"/>
                      <a:pt x="12" y="8"/>
                      <a:pt x="12" y="8"/>
                    </a:cubicBezTo>
                    <a:cubicBezTo>
                      <a:pt x="9" y="8"/>
                      <a:pt x="7" y="11"/>
                      <a:pt x="7" y="14"/>
                    </a:cubicBezTo>
                    <a:cubicBezTo>
                      <a:pt x="7" y="23"/>
                      <a:pt x="7" y="23"/>
                      <a:pt x="7" y="23"/>
                    </a:cubicBezTo>
                    <a:cubicBezTo>
                      <a:pt x="7" y="26"/>
                      <a:pt x="9" y="29"/>
                      <a:pt x="12" y="29"/>
                    </a:cubicBezTo>
                    <a:cubicBezTo>
                      <a:pt x="13" y="29"/>
                      <a:pt x="13" y="29"/>
                      <a:pt x="13" y="29"/>
                    </a:cubicBezTo>
                    <a:cubicBezTo>
                      <a:pt x="16" y="29"/>
                      <a:pt x="18" y="26"/>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82" name="Freeform 35">
                <a:extLst>
                  <a:ext uri="{FF2B5EF4-FFF2-40B4-BE49-F238E27FC236}">
                    <a16:creationId xmlns:a16="http://schemas.microsoft.com/office/drawing/2014/main" id="{67C2FFEB-2D9D-F0A3-1F0A-9B0D99D2D830}"/>
                  </a:ext>
                </a:extLst>
              </p:cNvPr>
              <p:cNvSpPr>
                <a:spLocks/>
              </p:cNvSpPr>
              <p:nvPr/>
            </p:nvSpPr>
            <p:spPr bwMode="auto">
              <a:xfrm>
                <a:off x="6022975" y="1362076"/>
                <a:ext cx="26988" cy="90488"/>
              </a:xfrm>
              <a:custGeom>
                <a:avLst/>
                <a:gdLst>
                  <a:gd name="T0" fmla="*/ 11 w 11"/>
                  <a:gd name="T1" fmla="*/ 5 h 36"/>
                  <a:gd name="T2" fmla="*/ 11 w 11"/>
                  <a:gd name="T3" fmla="*/ 31 h 36"/>
                  <a:gd name="T4" fmla="*/ 7 w 11"/>
                  <a:gd name="T5" fmla="*/ 36 h 36"/>
                  <a:gd name="T6" fmla="*/ 4 w 11"/>
                  <a:gd name="T7" fmla="*/ 36 h 36"/>
                  <a:gd name="T8" fmla="*/ 0 w 11"/>
                  <a:gd name="T9" fmla="*/ 31 h 36"/>
                  <a:gd name="T10" fmla="*/ 0 w 11"/>
                  <a:gd name="T11" fmla="*/ 5 h 36"/>
                  <a:gd name="T12" fmla="*/ 4 w 11"/>
                  <a:gd name="T13" fmla="*/ 0 h 36"/>
                  <a:gd name="T14" fmla="*/ 7 w 11"/>
                  <a:gd name="T15" fmla="*/ 0 h 36"/>
                  <a:gd name="T16" fmla="*/ 11 w 11"/>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36">
                    <a:moveTo>
                      <a:pt x="11" y="5"/>
                    </a:moveTo>
                    <a:cubicBezTo>
                      <a:pt x="11" y="31"/>
                      <a:pt x="11" y="31"/>
                      <a:pt x="11" y="31"/>
                    </a:cubicBezTo>
                    <a:cubicBezTo>
                      <a:pt x="11" y="34"/>
                      <a:pt x="9" y="36"/>
                      <a:pt x="7" y="36"/>
                    </a:cubicBezTo>
                    <a:cubicBezTo>
                      <a:pt x="4" y="36"/>
                      <a:pt x="4" y="36"/>
                      <a:pt x="4" y="36"/>
                    </a:cubicBezTo>
                    <a:cubicBezTo>
                      <a:pt x="2" y="36"/>
                      <a:pt x="0" y="34"/>
                      <a:pt x="0" y="31"/>
                    </a:cubicBezTo>
                    <a:cubicBezTo>
                      <a:pt x="0" y="5"/>
                      <a:pt x="0" y="5"/>
                      <a:pt x="0" y="5"/>
                    </a:cubicBezTo>
                    <a:cubicBezTo>
                      <a:pt x="0" y="3"/>
                      <a:pt x="2" y="0"/>
                      <a:pt x="4" y="0"/>
                    </a:cubicBezTo>
                    <a:cubicBezTo>
                      <a:pt x="7" y="0"/>
                      <a:pt x="7" y="0"/>
                      <a:pt x="7" y="0"/>
                    </a:cubicBezTo>
                    <a:cubicBezTo>
                      <a:pt x="9" y="0"/>
                      <a:pt x="11"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83" name="Freeform 36">
                <a:extLst>
                  <a:ext uri="{FF2B5EF4-FFF2-40B4-BE49-F238E27FC236}">
                    <a16:creationId xmlns:a16="http://schemas.microsoft.com/office/drawing/2014/main" id="{AF91A7B1-12E8-A5E1-EF70-AD930F1020D4}"/>
                  </a:ext>
                </a:extLst>
              </p:cNvPr>
              <p:cNvSpPr>
                <a:spLocks noEditPoints="1"/>
              </p:cNvSpPr>
              <p:nvPr/>
            </p:nvSpPr>
            <p:spPr bwMode="auto">
              <a:xfrm>
                <a:off x="5937250" y="1360488"/>
                <a:ext cx="60325" cy="95250"/>
              </a:xfrm>
              <a:custGeom>
                <a:avLst/>
                <a:gdLst>
                  <a:gd name="T0" fmla="*/ 24 w 24"/>
                  <a:gd name="T1" fmla="*/ 11 h 38"/>
                  <a:gd name="T2" fmla="*/ 24 w 24"/>
                  <a:gd name="T3" fmla="*/ 26 h 38"/>
                  <a:gd name="T4" fmla="*/ 13 w 24"/>
                  <a:gd name="T5" fmla="*/ 38 h 38"/>
                  <a:gd name="T6" fmla="*/ 11 w 24"/>
                  <a:gd name="T7" fmla="*/ 38 h 38"/>
                  <a:gd name="T8" fmla="*/ 0 w 24"/>
                  <a:gd name="T9" fmla="*/ 26 h 38"/>
                  <a:gd name="T10" fmla="*/ 0 w 24"/>
                  <a:gd name="T11" fmla="*/ 11 h 38"/>
                  <a:gd name="T12" fmla="*/ 11 w 24"/>
                  <a:gd name="T13" fmla="*/ 0 h 38"/>
                  <a:gd name="T14" fmla="*/ 13 w 24"/>
                  <a:gd name="T15" fmla="*/ 0 h 38"/>
                  <a:gd name="T16" fmla="*/ 24 w 24"/>
                  <a:gd name="T17" fmla="*/ 11 h 38"/>
                  <a:gd name="T18" fmla="*/ 17 w 24"/>
                  <a:gd name="T19" fmla="*/ 23 h 38"/>
                  <a:gd name="T20" fmla="*/ 17 w 24"/>
                  <a:gd name="T21" fmla="*/ 14 h 38"/>
                  <a:gd name="T22" fmla="*/ 12 w 24"/>
                  <a:gd name="T23" fmla="*/ 8 h 38"/>
                  <a:gd name="T24" fmla="*/ 12 w 24"/>
                  <a:gd name="T25" fmla="*/ 8 h 38"/>
                  <a:gd name="T26" fmla="*/ 7 w 24"/>
                  <a:gd name="T27" fmla="*/ 14 h 38"/>
                  <a:gd name="T28" fmla="*/ 7 w 24"/>
                  <a:gd name="T29" fmla="*/ 23 h 38"/>
                  <a:gd name="T30" fmla="*/ 12 w 24"/>
                  <a:gd name="T31" fmla="*/ 29 h 38"/>
                  <a:gd name="T32" fmla="*/ 12 w 24"/>
                  <a:gd name="T33" fmla="*/ 29 h 38"/>
                  <a:gd name="T34" fmla="*/ 17 w 24"/>
                  <a:gd name="T35" fmla="*/ 2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38">
                    <a:moveTo>
                      <a:pt x="24" y="11"/>
                    </a:moveTo>
                    <a:cubicBezTo>
                      <a:pt x="24" y="26"/>
                      <a:pt x="24" y="26"/>
                      <a:pt x="24" y="26"/>
                    </a:cubicBezTo>
                    <a:cubicBezTo>
                      <a:pt x="24" y="32"/>
                      <a:pt x="19" y="38"/>
                      <a:pt x="13" y="38"/>
                    </a:cubicBezTo>
                    <a:cubicBezTo>
                      <a:pt x="11" y="38"/>
                      <a:pt x="11" y="38"/>
                      <a:pt x="11" y="38"/>
                    </a:cubicBezTo>
                    <a:cubicBezTo>
                      <a:pt x="5" y="38"/>
                      <a:pt x="0" y="32"/>
                      <a:pt x="0" y="26"/>
                    </a:cubicBezTo>
                    <a:cubicBezTo>
                      <a:pt x="0" y="11"/>
                      <a:pt x="0" y="11"/>
                      <a:pt x="0" y="11"/>
                    </a:cubicBezTo>
                    <a:cubicBezTo>
                      <a:pt x="0" y="5"/>
                      <a:pt x="5" y="0"/>
                      <a:pt x="11" y="0"/>
                    </a:cubicBezTo>
                    <a:cubicBezTo>
                      <a:pt x="13" y="0"/>
                      <a:pt x="13" y="0"/>
                      <a:pt x="13" y="0"/>
                    </a:cubicBezTo>
                    <a:cubicBezTo>
                      <a:pt x="19" y="0"/>
                      <a:pt x="24" y="5"/>
                      <a:pt x="24" y="11"/>
                    </a:cubicBezTo>
                    <a:close/>
                    <a:moveTo>
                      <a:pt x="17" y="23"/>
                    </a:moveTo>
                    <a:cubicBezTo>
                      <a:pt x="17" y="14"/>
                      <a:pt x="17" y="14"/>
                      <a:pt x="17" y="14"/>
                    </a:cubicBezTo>
                    <a:cubicBezTo>
                      <a:pt x="17" y="11"/>
                      <a:pt x="15" y="8"/>
                      <a:pt x="12" y="8"/>
                    </a:cubicBezTo>
                    <a:cubicBezTo>
                      <a:pt x="12" y="8"/>
                      <a:pt x="12" y="8"/>
                      <a:pt x="12" y="8"/>
                    </a:cubicBezTo>
                    <a:cubicBezTo>
                      <a:pt x="9" y="8"/>
                      <a:pt x="7" y="11"/>
                      <a:pt x="7" y="14"/>
                    </a:cubicBezTo>
                    <a:cubicBezTo>
                      <a:pt x="7" y="23"/>
                      <a:pt x="7" y="23"/>
                      <a:pt x="7" y="23"/>
                    </a:cubicBezTo>
                    <a:cubicBezTo>
                      <a:pt x="7" y="26"/>
                      <a:pt x="9" y="29"/>
                      <a:pt x="12" y="29"/>
                    </a:cubicBezTo>
                    <a:cubicBezTo>
                      <a:pt x="12" y="29"/>
                      <a:pt x="12" y="29"/>
                      <a:pt x="12" y="29"/>
                    </a:cubicBezTo>
                    <a:cubicBezTo>
                      <a:pt x="15" y="29"/>
                      <a:pt x="17" y="26"/>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84" name="Freeform 37">
                <a:extLst>
                  <a:ext uri="{FF2B5EF4-FFF2-40B4-BE49-F238E27FC236}">
                    <a16:creationId xmlns:a16="http://schemas.microsoft.com/office/drawing/2014/main" id="{D8085E7B-0F94-C578-4C37-373D704BFF51}"/>
                  </a:ext>
                </a:extLst>
              </p:cNvPr>
              <p:cNvSpPr>
                <a:spLocks/>
              </p:cNvSpPr>
              <p:nvPr/>
            </p:nvSpPr>
            <p:spPr bwMode="auto">
              <a:xfrm>
                <a:off x="5949950" y="1133476"/>
                <a:ext cx="26988" cy="90488"/>
              </a:xfrm>
              <a:custGeom>
                <a:avLst/>
                <a:gdLst>
                  <a:gd name="T0" fmla="*/ 11 w 11"/>
                  <a:gd name="T1" fmla="*/ 6 h 36"/>
                  <a:gd name="T2" fmla="*/ 11 w 11"/>
                  <a:gd name="T3" fmla="*/ 31 h 36"/>
                  <a:gd name="T4" fmla="*/ 6 w 11"/>
                  <a:gd name="T5" fmla="*/ 36 h 36"/>
                  <a:gd name="T6" fmla="*/ 4 w 11"/>
                  <a:gd name="T7" fmla="*/ 36 h 36"/>
                  <a:gd name="T8" fmla="*/ 0 w 11"/>
                  <a:gd name="T9" fmla="*/ 31 h 36"/>
                  <a:gd name="T10" fmla="*/ 0 w 11"/>
                  <a:gd name="T11" fmla="*/ 6 h 36"/>
                  <a:gd name="T12" fmla="*/ 4 w 11"/>
                  <a:gd name="T13" fmla="*/ 0 h 36"/>
                  <a:gd name="T14" fmla="*/ 6 w 11"/>
                  <a:gd name="T15" fmla="*/ 0 h 36"/>
                  <a:gd name="T16" fmla="*/ 11 w 11"/>
                  <a:gd name="T17"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36">
                    <a:moveTo>
                      <a:pt x="11" y="6"/>
                    </a:moveTo>
                    <a:cubicBezTo>
                      <a:pt x="11" y="31"/>
                      <a:pt x="11" y="31"/>
                      <a:pt x="11" y="31"/>
                    </a:cubicBezTo>
                    <a:cubicBezTo>
                      <a:pt x="11" y="34"/>
                      <a:pt x="9" y="36"/>
                      <a:pt x="6" y="36"/>
                    </a:cubicBezTo>
                    <a:cubicBezTo>
                      <a:pt x="4" y="36"/>
                      <a:pt x="4" y="36"/>
                      <a:pt x="4" y="36"/>
                    </a:cubicBezTo>
                    <a:cubicBezTo>
                      <a:pt x="2" y="36"/>
                      <a:pt x="0" y="34"/>
                      <a:pt x="0" y="31"/>
                    </a:cubicBezTo>
                    <a:cubicBezTo>
                      <a:pt x="0" y="6"/>
                      <a:pt x="0" y="6"/>
                      <a:pt x="0" y="6"/>
                    </a:cubicBezTo>
                    <a:cubicBezTo>
                      <a:pt x="0" y="3"/>
                      <a:pt x="2" y="0"/>
                      <a:pt x="4" y="0"/>
                    </a:cubicBezTo>
                    <a:cubicBezTo>
                      <a:pt x="6" y="0"/>
                      <a:pt x="6" y="0"/>
                      <a:pt x="6" y="0"/>
                    </a:cubicBezTo>
                    <a:cubicBezTo>
                      <a:pt x="9" y="0"/>
                      <a:pt x="11"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85" name="Freeform 38">
                <a:extLst>
                  <a:ext uri="{FF2B5EF4-FFF2-40B4-BE49-F238E27FC236}">
                    <a16:creationId xmlns:a16="http://schemas.microsoft.com/office/drawing/2014/main" id="{8F7EBB78-D547-52FF-CB56-04AEDB01FA76}"/>
                  </a:ext>
                </a:extLst>
              </p:cNvPr>
              <p:cNvSpPr>
                <a:spLocks/>
              </p:cNvSpPr>
              <p:nvPr/>
            </p:nvSpPr>
            <p:spPr bwMode="auto">
              <a:xfrm>
                <a:off x="5949950" y="1247776"/>
                <a:ext cx="26988" cy="88900"/>
              </a:xfrm>
              <a:custGeom>
                <a:avLst/>
                <a:gdLst>
                  <a:gd name="T0" fmla="*/ 11 w 11"/>
                  <a:gd name="T1" fmla="*/ 5 h 36"/>
                  <a:gd name="T2" fmla="*/ 11 w 11"/>
                  <a:gd name="T3" fmla="*/ 30 h 36"/>
                  <a:gd name="T4" fmla="*/ 6 w 11"/>
                  <a:gd name="T5" fmla="*/ 36 h 36"/>
                  <a:gd name="T6" fmla="*/ 4 w 11"/>
                  <a:gd name="T7" fmla="*/ 36 h 36"/>
                  <a:gd name="T8" fmla="*/ 0 w 11"/>
                  <a:gd name="T9" fmla="*/ 30 h 36"/>
                  <a:gd name="T10" fmla="*/ 0 w 11"/>
                  <a:gd name="T11" fmla="*/ 5 h 36"/>
                  <a:gd name="T12" fmla="*/ 4 w 11"/>
                  <a:gd name="T13" fmla="*/ 0 h 36"/>
                  <a:gd name="T14" fmla="*/ 6 w 11"/>
                  <a:gd name="T15" fmla="*/ 0 h 36"/>
                  <a:gd name="T16" fmla="*/ 11 w 11"/>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36">
                    <a:moveTo>
                      <a:pt x="11" y="5"/>
                    </a:moveTo>
                    <a:cubicBezTo>
                      <a:pt x="11" y="30"/>
                      <a:pt x="11" y="30"/>
                      <a:pt x="11" y="30"/>
                    </a:cubicBezTo>
                    <a:cubicBezTo>
                      <a:pt x="11" y="33"/>
                      <a:pt x="9" y="36"/>
                      <a:pt x="6" y="36"/>
                    </a:cubicBezTo>
                    <a:cubicBezTo>
                      <a:pt x="4" y="36"/>
                      <a:pt x="4" y="36"/>
                      <a:pt x="4" y="36"/>
                    </a:cubicBezTo>
                    <a:cubicBezTo>
                      <a:pt x="1" y="36"/>
                      <a:pt x="0" y="33"/>
                      <a:pt x="0" y="30"/>
                    </a:cubicBezTo>
                    <a:cubicBezTo>
                      <a:pt x="0" y="5"/>
                      <a:pt x="0" y="5"/>
                      <a:pt x="0" y="5"/>
                    </a:cubicBezTo>
                    <a:cubicBezTo>
                      <a:pt x="0" y="2"/>
                      <a:pt x="1" y="0"/>
                      <a:pt x="4" y="0"/>
                    </a:cubicBezTo>
                    <a:cubicBezTo>
                      <a:pt x="6" y="0"/>
                      <a:pt x="6" y="0"/>
                      <a:pt x="6" y="0"/>
                    </a:cubicBezTo>
                    <a:cubicBezTo>
                      <a:pt x="9" y="0"/>
                      <a:pt x="11"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sp>
        <p:nvSpPr>
          <p:cNvPr id="109" name="Oval 108">
            <a:extLst>
              <a:ext uri="{FF2B5EF4-FFF2-40B4-BE49-F238E27FC236}">
                <a16:creationId xmlns:a16="http://schemas.microsoft.com/office/drawing/2014/main" id="{A5A1E21F-F681-3FB6-4910-E7F3D6D1DD67}"/>
              </a:ext>
            </a:extLst>
          </p:cNvPr>
          <p:cNvSpPr/>
          <p:nvPr/>
        </p:nvSpPr>
        <p:spPr>
          <a:xfrm>
            <a:off x="3519033" y="1302879"/>
            <a:ext cx="843114" cy="843114"/>
          </a:xfrm>
          <a:prstGeom prst="ellipse">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a:solidFill>
                <a:schemeClr val="accent4"/>
              </a:solidFill>
              <a:latin typeface="Verdana" panose="020B0604030504040204" pitchFamily="34" charset="0"/>
              <a:ea typeface="Verdana" panose="020B0604030504040204" pitchFamily="34" charset="0"/>
            </a:endParaRPr>
          </a:p>
        </p:txBody>
      </p:sp>
      <p:grpSp>
        <p:nvGrpSpPr>
          <p:cNvPr id="86" name="Group 85">
            <a:extLst>
              <a:ext uri="{FF2B5EF4-FFF2-40B4-BE49-F238E27FC236}">
                <a16:creationId xmlns:a16="http://schemas.microsoft.com/office/drawing/2014/main" id="{7F7E9F14-3267-8E75-964E-F49890F8E884}"/>
              </a:ext>
            </a:extLst>
          </p:cNvPr>
          <p:cNvGrpSpPr/>
          <p:nvPr/>
        </p:nvGrpSpPr>
        <p:grpSpPr>
          <a:xfrm>
            <a:off x="3688573" y="1501607"/>
            <a:ext cx="511030" cy="404426"/>
            <a:chOff x="6141714" y="3323336"/>
            <a:chExt cx="617156" cy="488413"/>
          </a:xfrm>
          <a:solidFill>
            <a:schemeClr val="accent4"/>
          </a:solidFill>
        </p:grpSpPr>
        <p:sp>
          <p:nvSpPr>
            <p:cNvPr id="87" name="Freeform 67">
              <a:extLst>
                <a:ext uri="{FF2B5EF4-FFF2-40B4-BE49-F238E27FC236}">
                  <a16:creationId xmlns:a16="http://schemas.microsoft.com/office/drawing/2014/main" id="{69AC241A-ADA1-36E2-88D5-CDA0C53A795D}"/>
                </a:ext>
              </a:extLst>
            </p:cNvPr>
            <p:cNvSpPr>
              <a:spLocks/>
            </p:cNvSpPr>
            <p:nvPr/>
          </p:nvSpPr>
          <p:spPr bwMode="auto">
            <a:xfrm>
              <a:off x="6373091" y="3387257"/>
              <a:ext cx="154402" cy="154402"/>
            </a:xfrm>
            <a:custGeom>
              <a:avLst/>
              <a:gdLst>
                <a:gd name="T0" fmla="*/ 24 w 48"/>
                <a:gd name="T1" fmla="*/ 11 h 48"/>
                <a:gd name="T2" fmla="*/ 36 w 48"/>
                <a:gd name="T3" fmla="*/ 16 h 48"/>
                <a:gd name="T4" fmla="*/ 48 w 48"/>
                <a:gd name="T5" fmla="*/ 14 h 48"/>
                <a:gd name="T6" fmla="*/ 32 w 48"/>
                <a:gd name="T7" fmla="*/ 4 h 48"/>
                <a:gd name="T8" fmla="*/ 32 w 48"/>
                <a:gd name="T9" fmla="*/ 0 h 48"/>
                <a:gd name="T10" fmla="*/ 16 w 48"/>
                <a:gd name="T11" fmla="*/ 0 h 48"/>
                <a:gd name="T12" fmla="*/ 16 w 48"/>
                <a:gd name="T13" fmla="*/ 4 h 48"/>
                <a:gd name="T14" fmla="*/ 0 w 48"/>
                <a:gd name="T15" fmla="*/ 15 h 48"/>
                <a:gd name="T16" fmla="*/ 22 w 48"/>
                <a:gd name="T17" fmla="*/ 28 h 48"/>
                <a:gd name="T18" fmla="*/ 37 w 48"/>
                <a:gd name="T19" fmla="*/ 34 h 48"/>
                <a:gd name="T20" fmla="*/ 24 w 48"/>
                <a:gd name="T21" fmla="*/ 37 h 48"/>
                <a:gd name="T22" fmla="*/ 12 w 48"/>
                <a:gd name="T23" fmla="*/ 32 h 48"/>
                <a:gd name="T24" fmla="*/ 0 w 48"/>
                <a:gd name="T25" fmla="*/ 34 h 48"/>
                <a:gd name="T26" fmla="*/ 16 w 48"/>
                <a:gd name="T27" fmla="*/ 44 h 48"/>
                <a:gd name="T28" fmla="*/ 16 w 48"/>
                <a:gd name="T29" fmla="*/ 48 h 48"/>
                <a:gd name="T30" fmla="*/ 32 w 48"/>
                <a:gd name="T31" fmla="*/ 48 h 48"/>
                <a:gd name="T32" fmla="*/ 32 w 48"/>
                <a:gd name="T33" fmla="*/ 44 h 48"/>
                <a:gd name="T34" fmla="*/ 48 w 48"/>
                <a:gd name="T35" fmla="*/ 33 h 48"/>
                <a:gd name="T36" fmla="*/ 26 w 48"/>
                <a:gd name="T37" fmla="*/ 20 h 48"/>
                <a:gd name="T38" fmla="*/ 11 w 48"/>
                <a:gd name="T39" fmla="*/ 14 h 48"/>
                <a:gd name="T40" fmla="*/ 24 w 48"/>
                <a:gd name="T41" fmla="*/ 1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8" h="48">
                  <a:moveTo>
                    <a:pt x="24" y="11"/>
                  </a:moveTo>
                  <a:cubicBezTo>
                    <a:pt x="32" y="11"/>
                    <a:pt x="36" y="13"/>
                    <a:pt x="36" y="16"/>
                  </a:cubicBezTo>
                  <a:cubicBezTo>
                    <a:pt x="48" y="14"/>
                    <a:pt x="48" y="14"/>
                    <a:pt x="48" y="14"/>
                  </a:cubicBezTo>
                  <a:cubicBezTo>
                    <a:pt x="48" y="9"/>
                    <a:pt x="42" y="6"/>
                    <a:pt x="32" y="4"/>
                  </a:cubicBezTo>
                  <a:cubicBezTo>
                    <a:pt x="32" y="0"/>
                    <a:pt x="32" y="0"/>
                    <a:pt x="32" y="0"/>
                  </a:cubicBezTo>
                  <a:cubicBezTo>
                    <a:pt x="16" y="0"/>
                    <a:pt x="16" y="0"/>
                    <a:pt x="16" y="0"/>
                  </a:cubicBezTo>
                  <a:cubicBezTo>
                    <a:pt x="16" y="4"/>
                    <a:pt x="16" y="4"/>
                    <a:pt x="16" y="4"/>
                  </a:cubicBezTo>
                  <a:cubicBezTo>
                    <a:pt x="0" y="6"/>
                    <a:pt x="0" y="13"/>
                    <a:pt x="0" y="15"/>
                  </a:cubicBezTo>
                  <a:cubicBezTo>
                    <a:pt x="0" y="19"/>
                    <a:pt x="3" y="24"/>
                    <a:pt x="22" y="28"/>
                  </a:cubicBezTo>
                  <a:cubicBezTo>
                    <a:pt x="31" y="29"/>
                    <a:pt x="37" y="30"/>
                    <a:pt x="37" y="34"/>
                  </a:cubicBezTo>
                  <a:cubicBezTo>
                    <a:pt x="37" y="36"/>
                    <a:pt x="32" y="37"/>
                    <a:pt x="24" y="37"/>
                  </a:cubicBezTo>
                  <a:cubicBezTo>
                    <a:pt x="14" y="37"/>
                    <a:pt x="12" y="35"/>
                    <a:pt x="12" y="32"/>
                  </a:cubicBezTo>
                  <a:cubicBezTo>
                    <a:pt x="0" y="34"/>
                    <a:pt x="0" y="34"/>
                    <a:pt x="0" y="34"/>
                  </a:cubicBezTo>
                  <a:cubicBezTo>
                    <a:pt x="0" y="36"/>
                    <a:pt x="0" y="42"/>
                    <a:pt x="16" y="44"/>
                  </a:cubicBezTo>
                  <a:cubicBezTo>
                    <a:pt x="16" y="48"/>
                    <a:pt x="16" y="48"/>
                    <a:pt x="16" y="48"/>
                  </a:cubicBezTo>
                  <a:cubicBezTo>
                    <a:pt x="32" y="48"/>
                    <a:pt x="32" y="48"/>
                    <a:pt x="32" y="48"/>
                  </a:cubicBezTo>
                  <a:cubicBezTo>
                    <a:pt x="32" y="44"/>
                    <a:pt x="32" y="44"/>
                    <a:pt x="32" y="44"/>
                  </a:cubicBezTo>
                  <a:cubicBezTo>
                    <a:pt x="48" y="42"/>
                    <a:pt x="48" y="35"/>
                    <a:pt x="48" y="33"/>
                  </a:cubicBezTo>
                  <a:cubicBezTo>
                    <a:pt x="48" y="26"/>
                    <a:pt x="39" y="23"/>
                    <a:pt x="26" y="20"/>
                  </a:cubicBezTo>
                  <a:cubicBezTo>
                    <a:pt x="19" y="19"/>
                    <a:pt x="11" y="18"/>
                    <a:pt x="11" y="14"/>
                  </a:cubicBezTo>
                  <a:cubicBezTo>
                    <a:pt x="11" y="12"/>
                    <a:pt x="16" y="11"/>
                    <a:pt x="24" y="1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solidFill>
                  <a:schemeClr val="accent4"/>
                </a:solidFill>
                <a:latin typeface="Verdana" panose="020B0604030504040204" pitchFamily="34" charset="0"/>
                <a:ea typeface="Verdana" panose="020B0604030504040204" pitchFamily="34" charset="0"/>
              </a:endParaRPr>
            </a:p>
          </p:txBody>
        </p:sp>
        <p:sp>
          <p:nvSpPr>
            <p:cNvPr id="88" name="Rectangle 87">
              <a:extLst>
                <a:ext uri="{FF2B5EF4-FFF2-40B4-BE49-F238E27FC236}">
                  <a16:creationId xmlns:a16="http://schemas.microsoft.com/office/drawing/2014/main" id="{32CC071C-DC5D-09B3-D36E-28CBB7A5F8D1}"/>
                </a:ext>
              </a:extLst>
            </p:cNvPr>
            <p:cNvSpPr>
              <a:spLocks noChangeArrowheads="1"/>
            </p:cNvSpPr>
            <p:nvPr/>
          </p:nvSpPr>
          <p:spPr bwMode="auto">
            <a:xfrm>
              <a:off x="6141714" y="3631689"/>
              <a:ext cx="617156" cy="25659"/>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100">
                <a:solidFill>
                  <a:schemeClr val="accent4"/>
                </a:solidFill>
                <a:latin typeface="Verdana" panose="020B0604030504040204" pitchFamily="34" charset="0"/>
                <a:ea typeface="Verdana" panose="020B0604030504040204" pitchFamily="34" charset="0"/>
              </a:endParaRPr>
            </a:p>
          </p:txBody>
        </p:sp>
        <p:sp>
          <p:nvSpPr>
            <p:cNvPr id="89" name="Rectangle 88">
              <a:extLst>
                <a:ext uri="{FF2B5EF4-FFF2-40B4-BE49-F238E27FC236}">
                  <a16:creationId xmlns:a16="http://schemas.microsoft.com/office/drawing/2014/main" id="{D45C830F-7444-44E2-7D77-8BADCA6AC8AE}"/>
                </a:ext>
              </a:extLst>
            </p:cNvPr>
            <p:cNvSpPr>
              <a:spLocks noChangeArrowheads="1"/>
            </p:cNvSpPr>
            <p:nvPr/>
          </p:nvSpPr>
          <p:spPr bwMode="auto">
            <a:xfrm>
              <a:off x="6141714" y="3683006"/>
              <a:ext cx="617156" cy="25659"/>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100">
                <a:solidFill>
                  <a:schemeClr val="accent4"/>
                </a:solidFill>
                <a:latin typeface="Verdana" panose="020B0604030504040204" pitchFamily="34" charset="0"/>
                <a:ea typeface="Verdana" panose="020B0604030504040204" pitchFamily="34" charset="0"/>
              </a:endParaRPr>
            </a:p>
          </p:txBody>
        </p:sp>
        <p:sp>
          <p:nvSpPr>
            <p:cNvPr id="90" name="Rectangle 89">
              <a:extLst>
                <a:ext uri="{FF2B5EF4-FFF2-40B4-BE49-F238E27FC236}">
                  <a16:creationId xmlns:a16="http://schemas.microsoft.com/office/drawing/2014/main" id="{4AA37B5A-F92B-60ED-BD83-913E2AC3451B}"/>
                </a:ext>
              </a:extLst>
            </p:cNvPr>
            <p:cNvSpPr>
              <a:spLocks noChangeArrowheads="1"/>
            </p:cNvSpPr>
            <p:nvPr/>
          </p:nvSpPr>
          <p:spPr bwMode="auto">
            <a:xfrm>
              <a:off x="6141714" y="3734323"/>
              <a:ext cx="617156" cy="25659"/>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100">
                <a:solidFill>
                  <a:schemeClr val="accent4"/>
                </a:solidFill>
                <a:latin typeface="Verdana" panose="020B0604030504040204" pitchFamily="34" charset="0"/>
                <a:ea typeface="Verdana" panose="020B0604030504040204" pitchFamily="34" charset="0"/>
              </a:endParaRPr>
            </a:p>
          </p:txBody>
        </p:sp>
        <p:sp>
          <p:nvSpPr>
            <p:cNvPr id="91" name="Rectangle 90">
              <a:extLst>
                <a:ext uri="{FF2B5EF4-FFF2-40B4-BE49-F238E27FC236}">
                  <a16:creationId xmlns:a16="http://schemas.microsoft.com/office/drawing/2014/main" id="{76432783-B91A-628B-AB93-7DB41B6BEAE8}"/>
                </a:ext>
              </a:extLst>
            </p:cNvPr>
            <p:cNvSpPr>
              <a:spLocks noChangeArrowheads="1"/>
            </p:cNvSpPr>
            <p:nvPr/>
          </p:nvSpPr>
          <p:spPr bwMode="auto">
            <a:xfrm>
              <a:off x="6141714" y="3785640"/>
              <a:ext cx="617156" cy="26109"/>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100">
                <a:solidFill>
                  <a:schemeClr val="accent4"/>
                </a:solidFill>
                <a:latin typeface="Verdana" panose="020B0604030504040204" pitchFamily="34" charset="0"/>
                <a:ea typeface="Verdana" panose="020B0604030504040204" pitchFamily="34" charset="0"/>
              </a:endParaRPr>
            </a:p>
          </p:txBody>
        </p:sp>
        <p:sp>
          <p:nvSpPr>
            <p:cNvPr id="92" name="Oval 91">
              <a:extLst>
                <a:ext uri="{FF2B5EF4-FFF2-40B4-BE49-F238E27FC236}">
                  <a16:creationId xmlns:a16="http://schemas.microsoft.com/office/drawing/2014/main" id="{A5F5A0F5-0CAD-BCEE-C475-8425C6911B2C}"/>
                </a:ext>
              </a:extLst>
            </p:cNvPr>
            <p:cNvSpPr>
              <a:spLocks noChangeArrowheads="1"/>
            </p:cNvSpPr>
            <p:nvPr/>
          </p:nvSpPr>
          <p:spPr bwMode="auto">
            <a:xfrm>
              <a:off x="6283061" y="3425970"/>
              <a:ext cx="51317" cy="5131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solidFill>
                  <a:schemeClr val="accent4"/>
                </a:solidFill>
                <a:latin typeface="Verdana" panose="020B0604030504040204" pitchFamily="34" charset="0"/>
                <a:ea typeface="Verdana" panose="020B0604030504040204" pitchFamily="34" charset="0"/>
              </a:endParaRPr>
            </a:p>
          </p:txBody>
        </p:sp>
        <p:sp>
          <p:nvSpPr>
            <p:cNvPr id="93" name="Oval 92">
              <a:extLst>
                <a:ext uri="{FF2B5EF4-FFF2-40B4-BE49-F238E27FC236}">
                  <a16:creationId xmlns:a16="http://schemas.microsoft.com/office/drawing/2014/main" id="{E13FEDD1-E44E-530B-B46B-D6269135CBD6}"/>
                </a:ext>
              </a:extLst>
            </p:cNvPr>
            <p:cNvSpPr>
              <a:spLocks noChangeArrowheads="1"/>
            </p:cNvSpPr>
            <p:nvPr/>
          </p:nvSpPr>
          <p:spPr bwMode="auto">
            <a:xfrm>
              <a:off x="6565755" y="3425970"/>
              <a:ext cx="51767" cy="5131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solidFill>
                  <a:schemeClr val="accent4"/>
                </a:solidFill>
                <a:latin typeface="Verdana" panose="020B0604030504040204" pitchFamily="34" charset="0"/>
                <a:ea typeface="Verdana" panose="020B0604030504040204" pitchFamily="34" charset="0"/>
              </a:endParaRPr>
            </a:p>
          </p:txBody>
        </p:sp>
        <p:sp>
          <p:nvSpPr>
            <p:cNvPr id="94" name="Freeform 74">
              <a:extLst>
                <a:ext uri="{FF2B5EF4-FFF2-40B4-BE49-F238E27FC236}">
                  <a16:creationId xmlns:a16="http://schemas.microsoft.com/office/drawing/2014/main" id="{58FCE2AE-C274-E700-C813-DB9E5354C048}"/>
                </a:ext>
              </a:extLst>
            </p:cNvPr>
            <p:cNvSpPr>
              <a:spLocks noEditPoints="1"/>
            </p:cNvSpPr>
            <p:nvPr/>
          </p:nvSpPr>
          <p:spPr bwMode="auto">
            <a:xfrm>
              <a:off x="6141714" y="3323336"/>
              <a:ext cx="617156" cy="282694"/>
            </a:xfrm>
            <a:custGeom>
              <a:avLst/>
              <a:gdLst>
                <a:gd name="T0" fmla="*/ 176 w 192"/>
                <a:gd name="T1" fmla="*/ 0 h 88"/>
                <a:gd name="T2" fmla="*/ 16 w 192"/>
                <a:gd name="T3" fmla="*/ 0 h 88"/>
                <a:gd name="T4" fmla="*/ 0 w 192"/>
                <a:gd name="T5" fmla="*/ 88 h 88"/>
                <a:gd name="T6" fmla="*/ 192 w 192"/>
                <a:gd name="T7" fmla="*/ 88 h 88"/>
                <a:gd name="T8" fmla="*/ 176 w 192"/>
                <a:gd name="T9" fmla="*/ 0 h 88"/>
                <a:gd name="T10" fmla="*/ 172 w 192"/>
                <a:gd name="T11" fmla="*/ 64 h 88"/>
                <a:gd name="T12" fmla="*/ 160 w 192"/>
                <a:gd name="T13" fmla="*/ 76 h 88"/>
                <a:gd name="T14" fmla="*/ 32 w 192"/>
                <a:gd name="T15" fmla="*/ 76 h 88"/>
                <a:gd name="T16" fmla="*/ 20 w 192"/>
                <a:gd name="T17" fmla="*/ 64 h 88"/>
                <a:gd name="T18" fmla="*/ 16 w 192"/>
                <a:gd name="T19" fmla="*/ 65 h 88"/>
                <a:gd name="T20" fmla="*/ 24 w 192"/>
                <a:gd name="T21" fmla="*/ 21 h 88"/>
                <a:gd name="T22" fmla="*/ 32 w 192"/>
                <a:gd name="T23" fmla="*/ 24 h 88"/>
                <a:gd name="T24" fmla="*/ 44 w 192"/>
                <a:gd name="T25" fmla="*/ 12 h 88"/>
                <a:gd name="T26" fmla="*/ 148 w 192"/>
                <a:gd name="T27" fmla="*/ 12 h 88"/>
                <a:gd name="T28" fmla="*/ 160 w 192"/>
                <a:gd name="T29" fmla="*/ 24 h 88"/>
                <a:gd name="T30" fmla="*/ 168 w 192"/>
                <a:gd name="T31" fmla="*/ 21 h 88"/>
                <a:gd name="T32" fmla="*/ 176 w 192"/>
                <a:gd name="T33" fmla="*/ 65 h 88"/>
                <a:gd name="T34" fmla="*/ 172 w 192"/>
                <a:gd name="T35" fmla="*/ 6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88">
                  <a:moveTo>
                    <a:pt x="176" y="0"/>
                  </a:moveTo>
                  <a:cubicBezTo>
                    <a:pt x="16" y="0"/>
                    <a:pt x="16" y="0"/>
                    <a:pt x="16" y="0"/>
                  </a:cubicBezTo>
                  <a:cubicBezTo>
                    <a:pt x="0" y="88"/>
                    <a:pt x="0" y="88"/>
                    <a:pt x="0" y="88"/>
                  </a:cubicBezTo>
                  <a:cubicBezTo>
                    <a:pt x="192" y="88"/>
                    <a:pt x="192" y="88"/>
                    <a:pt x="192" y="88"/>
                  </a:cubicBezTo>
                  <a:lnTo>
                    <a:pt x="176" y="0"/>
                  </a:lnTo>
                  <a:close/>
                  <a:moveTo>
                    <a:pt x="172" y="64"/>
                  </a:moveTo>
                  <a:cubicBezTo>
                    <a:pt x="165" y="64"/>
                    <a:pt x="160" y="69"/>
                    <a:pt x="160" y="76"/>
                  </a:cubicBezTo>
                  <a:cubicBezTo>
                    <a:pt x="32" y="76"/>
                    <a:pt x="32" y="76"/>
                    <a:pt x="32" y="76"/>
                  </a:cubicBezTo>
                  <a:cubicBezTo>
                    <a:pt x="32" y="69"/>
                    <a:pt x="27" y="64"/>
                    <a:pt x="20" y="64"/>
                  </a:cubicBezTo>
                  <a:cubicBezTo>
                    <a:pt x="19" y="64"/>
                    <a:pt x="18" y="64"/>
                    <a:pt x="16" y="65"/>
                  </a:cubicBezTo>
                  <a:cubicBezTo>
                    <a:pt x="24" y="21"/>
                    <a:pt x="24" y="21"/>
                    <a:pt x="24" y="21"/>
                  </a:cubicBezTo>
                  <a:cubicBezTo>
                    <a:pt x="26" y="23"/>
                    <a:pt x="29" y="24"/>
                    <a:pt x="32" y="24"/>
                  </a:cubicBezTo>
                  <a:cubicBezTo>
                    <a:pt x="39" y="24"/>
                    <a:pt x="44" y="19"/>
                    <a:pt x="44" y="12"/>
                  </a:cubicBezTo>
                  <a:cubicBezTo>
                    <a:pt x="148" y="12"/>
                    <a:pt x="148" y="12"/>
                    <a:pt x="148" y="12"/>
                  </a:cubicBezTo>
                  <a:cubicBezTo>
                    <a:pt x="148" y="19"/>
                    <a:pt x="153" y="24"/>
                    <a:pt x="160" y="24"/>
                  </a:cubicBezTo>
                  <a:cubicBezTo>
                    <a:pt x="163" y="24"/>
                    <a:pt x="166" y="23"/>
                    <a:pt x="168" y="21"/>
                  </a:cubicBezTo>
                  <a:cubicBezTo>
                    <a:pt x="176" y="65"/>
                    <a:pt x="176" y="65"/>
                    <a:pt x="176" y="65"/>
                  </a:cubicBezTo>
                  <a:cubicBezTo>
                    <a:pt x="174" y="64"/>
                    <a:pt x="173" y="64"/>
                    <a:pt x="172" y="6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solidFill>
                  <a:schemeClr val="accent4"/>
                </a:solidFill>
                <a:latin typeface="Verdana" panose="020B0604030504040204" pitchFamily="34" charset="0"/>
                <a:ea typeface="Verdana" panose="020B0604030504040204" pitchFamily="34" charset="0"/>
              </a:endParaRPr>
            </a:p>
          </p:txBody>
        </p:sp>
      </p:grpSp>
      <p:grpSp>
        <p:nvGrpSpPr>
          <p:cNvPr id="117" name="Group 116">
            <a:extLst>
              <a:ext uri="{FF2B5EF4-FFF2-40B4-BE49-F238E27FC236}">
                <a16:creationId xmlns:a16="http://schemas.microsoft.com/office/drawing/2014/main" id="{EF174BBC-655F-D8C6-9C45-0D107C424A90}"/>
              </a:ext>
            </a:extLst>
          </p:cNvPr>
          <p:cNvGrpSpPr/>
          <p:nvPr/>
        </p:nvGrpSpPr>
        <p:grpSpPr>
          <a:xfrm>
            <a:off x="5835556" y="1302879"/>
            <a:ext cx="843114" cy="843114"/>
            <a:chOff x="5835556" y="1302879"/>
            <a:chExt cx="843114" cy="843114"/>
          </a:xfrm>
        </p:grpSpPr>
        <p:sp>
          <p:nvSpPr>
            <p:cNvPr id="110" name="Oval 109">
              <a:extLst>
                <a:ext uri="{FF2B5EF4-FFF2-40B4-BE49-F238E27FC236}">
                  <a16:creationId xmlns:a16="http://schemas.microsoft.com/office/drawing/2014/main" id="{BBAFAF0F-1CFE-4D9C-99C9-6E5AEE8D0764}"/>
                </a:ext>
              </a:extLst>
            </p:cNvPr>
            <p:cNvSpPr/>
            <p:nvPr/>
          </p:nvSpPr>
          <p:spPr>
            <a:xfrm>
              <a:off x="5835556" y="1302879"/>
              <a:ext cx="843114" cy="843114"/>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a:latin typeface="Verdana" panose="020B0604030504040204" pitchFamily="34" charset="0"/>
                <a:ea typeface="Verdana" panose="020B0604030504040204" pitchFamily="34" charset="0"/>
              </a:endParaRPr>
            </a:p>
          </p:txBody>
        </p:sp>
        <p:grpSp>
          <p:nvGrpSpPr>
            <p:cNvPr id="95" name="Group 94">
              <a:extLst>
                <a:ext uri="{FF2B5EF4-FFF2-40B4-BE49-F238E27FC236}">
                  <a16:creationId xmlns:a16="http://schemas.microsoft.com/office/drawing/2014/main" id="{A789C587-9892-955A-82CE-7C20D972761E}"/>
                </a:ext>
              </a:extLst>
            </p:cNvPr>
            <p:cNvGrpSpPr/>
            <p:nvPr/>
          </p:nvGrpSpPr>
          <p:grpSpPr>
            <a:xfrm>
              <a:off x="5948535" y="1507886"/>
              <a:ext cx="617156" cy="433101"/>
              <a:chOff x="10944186" y="3454244"/>
              <a:chExt cx="726891" cy="510110"/>
            </a:xfrm>
            <a:solidFill>
              <a:srgbClr val="00B050"/>
            </a:solidFill>
          </p:grpSpPr>
          <p:sp>
            <p:nvSpPr>
              <p:cNvPr id="96" name="Rectangle 268">
                <a:extLst>
                  <a:ext uri="{FF2B5EF4-FFF2-40B4-BE49-F238E27FC236}">
                    <a16:creationId xmlns:a16="http://schemas.microsoft.com/office/drawing/2014/main" id="{4200A46E-2DB3-1C73-92FA-D1D406AD20A5}"/>
                  </a:ext>
                </a:extLst>
              </p:cNvPr>
              <p:cNvSpPr>
                <a:spLocks noChangeArrowheads="1"/>
              </p:cNvSpPr>
              <p:nvPr/>
            </p:nvSpPr>
            <p:spPr bwMode="auto">
              <a:xfrm>
                <a:off x="11460085" y="3674242"/>
                <a:ext cx="79122" cy="11385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97" name="Rectangle 269">
                <a:extLst>
                  <a:ext uri="{FF2B5EF4-FFF2-40B4-BE49-F238E27FC236}">
                    <a16:creationId xmlns:a16="http://schemas.microsoft.com/office/drawing/2014/main" id="{3BE9C40E-EC13-F9F1-8811-485AC5B6713C}"/>
                  </a:ext>
                </a:extLst>
              </p:cNvPr>
              <p:cNvSpPr>
                <a:spLocks noChangeArrowheads="1"/>
              </p:cNvSpPr>
              <p:nvPr/>
            </p:nvSpPr>
            <p:spPr bwMode="auto">
              <a:xfrm>
                <a:off x="11557218" y="3674242"/>
                <a:ext cx="79122" cy="11385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98" name="Freeform 270">
                <a:extLst>
                  <a:ext uri="{FF2B5EF4-FFF2-40B4-BE49-F238E27FC236}">
                    <a16:creationId xmlns:a16="http://schemas.microsoft.com/office/drawing/2014/main" id="{B8A4D1C7-919A-483C-A07A-58094CBF94B3}"/>
                  </a:ext>
                </a:extLst>
              </p:cNvPr>
              <p:cNvSpPr>
                <a:spLocks/>
              </p:cNvSpPr>
              <p:nvPr/>
            </p:nvSpPr>
            <p:spPr bwMode="auto">
              <a:xfrm>
                <a:off x="11460085" y="3811901"/>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99" name="Freeform 271">
                <a:extLst>
                  <a:ext uri="{FF2B5EF4-FFF2-40B4-BE49-F238E27FC236}">
                    <a16:creationId xmlns:a16="http://schemas.microsoft.com/office/drawing/2014/main" id="{C2E9CDF7-78A7-6C3A-D4E0-DFBF0C985432}"/>
                  </a:ext>
                </a:extLst>
              </p:cNvPr>
              <p:cNvSpPr>
                <a:spLocks/>
              </p:cNvSpPr>
              <p:nvPr/>
            </p:nvSpPr>
            <p:spPr bwMode="auto">
              <a:xfrm>
                <a:off x="10976349" y="3867221"/>
                <a:ext cx="84911" cy="14795"/>
              </a:xfrm>
              <a:custGeom>
                <a:avLst/>
                <a:gdLst>
                  <a:gd name="T0" fmla="*/ 27 w 29"/>
                  <a:gd name="T1" fmla="*/ 5 h 5"/>
                  <a:gd name="T2" fmla="*/ 2 w 29"/>
                  <a:gd name="T3" fmla="*/ 5 h 5"/>
                  <a:gd name="T4" fmla="*/ 0 w 29"/>
                  <a:gd name="T5" fmla="*/ 3 h 5"/>
                  <a:gd name="T6" fmla="*/ 2 w 29"/>
                  <a:gd name="T7" fmla="*/ 0 h 5"/>
                  <a:gd name="T8" fmla="*/ 27 w 29"/>
                  <a:gd name="T9" fmla="*/ 0 h 5"/>
                  <a:gd name="T10" fmla="*/ 29 w 29"/>
                  <a:gd name="T11" fmla="*/ 3 h 5"/>
                  <a:gd name="T12" fmla="*/ 27 w 29"/>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29" h="5">
                    <a:moveTo>
                      <a:pt x="27" y="5"/>
                    </a:moveTo>
                    <a:cubicBezTo>
                      <a:pt x="2" y="5"/>
                      <a:pt x="2" y="5"/>
                      <a:pt x="2" y="5"/>
                    </a:cubicBezTo>
                    <a:cubicBezTo>
                      <a:pt x="1" y="5"/>
                      <a:pt x="0" y="4"/>
                      <a:pt x="0" y="3"/>
                    </a:cubicBezTo>
                    <a:cubicBezTo>
                      <a:pt x="0" y="1"/>
                      <a:pt x="1" y="0"/>
                      <a:pt x="2" y="0"/>
                    </a:cubicBezTo>
                    <a:cubicBezTo>
                      <a:pt x="27" y="0"/>
                      <a:pt x="27" y="0"/>
                      <a:pt x="27" y="0"/>
                    </a:cubicBezTo>
                    <a:cubicBezTo>
                      <a:pt x="28" y="0"/>
                      <a:pt x="29" y="1"/>
                      <a:pt x="29" y="3"/>
                    </a:cubicBezTo>
                    <a:cubicBezTo>
                      <a:pt x="29" y="4"/>
                      <a:pt x="28" y="5"/>
                      <a:pt x="27" y="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100" name="Freeform 272">
                <a:extLst>
                  <a:ext uri="{FF2B5EF4-FFF2-40B4-BE49-F238E27FC236}">
                    <a16:creationId xmlns:a16="http://schemas.microsoft.com/office/drawing/2014/main" id="{BD329880-5DA5-F12E-D95F-6D3B0538AE0F}"/>
                  </a:ext>
                </a:extLst>
              </p:cNvPr>
              <p:cNvSpPr>
                <a:spLocks/>
              </p:cNvSpPr>
              <p:nvPr/>
            </p:nvSpPr>
            <p:spPr bwMode="auto">
              <a:xfrm>
                <a:off x="11460085" y="3846637"/>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101" name="Freeform 273">
                <a:extLst>
                  <a:ext uri="{FF2B5EF4-FFF2-40B4-BE49-F238E27FC236}">
                    <a16:creationId xmlns:a16="http://schemas.microsoft.com/office/drawing/2014/main" id="{FD8E5749-7A2A-3C25-3D32-D15006AE0703}"/>
                  </a:ext>
                </a:extLst>
              </p:cNvPr>
              <p:cNvSpPr>
                <a:spLocks noEditPoints="1"/>
              </p:cNvSpPr>
              <p:nvPr/>
            </p:nvSpPr>
            <p:spPr bwMode="auto">
              <a:xfrm>
                <a:off x="11424706" y="3618277"/>
                <a:ext cx="246371" cy="304908"/>
              </a:xfrm>
              <a:custGeom>
                <a:avLst/>
                <a:gdLst>
                  <a:gd name="T0" fmla="*/ 73 w 84"/>
                  <a:gd name="T1" fmla="*/ 0 h 104"/>
                  <a:gd name="T2" fmla="*/ 11 w 84"/>
                  <a:gd name="T3" fmla="*/ 0 h 104"/>
                  <a:gd name="T4" fmla="*/ 0 w 84"/>
                  <a:gd name="T5" fmla="*/ 11 h 104"/>
                  <a:gd name="T6" fmla="*/ 0 w 84"/>
                  <a:gd name="T7" fmla="*/ 92 h 104"/>
                  <a:gd name="T8" fmla="*/ 11 w 84"/>
                  <a:gd name="T9" fmla="*/ 104 h 104"/>
                  <a:gd name="T10" fmla="*/ 73 w 84"/>
                  <a:gd name="T11" fmla="*/ 104 h 104"/>
                  <a:gd name="T12" fmla="*/ 84 w 84"/>
                  <a:gd name="T13" fmla="*/ 92 h 104"/>
                  <a:gd name="T14" fmla="*/ 84 w 84"/>
                  <a:gd name="T15" fmla="*/ 11 h 104"/>
                  <a:gd name="T16" fmla="*/ 73 w 84"/>
                  <a:gd name="T17" fmla="*/ 0 h 104"/>
                  <a:gd name="T18" fmla="*/ 77 w 84"/>
                  <a:gd name="T19" fmla="*/ 90 h 104"/>
                  <a:gd name="T20" fmla="*/ 7 w 84"/>
                  <a:gd name="T21" fmla="*/ 90 h 104"/>
                  <a:gd name="T22" fmla="*/ 7 w 84"/>
                  <a:gd name="T23" fmla="*/ 13 h 104"/>
                  <a:gd name="T24" fmla="*/ 77 w 84"/>
                  <a:gd name="T25" fmla="*/ 13 h 104"/>
                  <a:gd name="T26" fmla="*/ 77 w 84"/>
                  <a:gd name="T27" fmla="*/ 9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104">
                    <a:moveTo>
                      <a:pt x="73" y="0"/>
                    </a:moveTo>
                    <a:cubicBezTo>
                      <a:pt x="11" y="0"/>
                      <a:pt x="11" y="0"/>
                      <a:pt x="11" y="0"/>
                    </a:cubicBezTo>
                    <a:cubicBezTo>
                      <a:pt x="5" y="0"/>
                      <a:pt x="0" y="5"/>
                      <a:pt x="0" y="11"/>
                    </a:cubicBezTo>
                    <a:cubicBezTo>
                      <a:pt x="0" y="92"/>
                      <a:pt x="0" y="92"/>
                      <a:pt x="0" y="92"/>
                    </a:cubicBezTo>
                    <a:cubicBezTo>
                      <a:pt x="0" y="99"/>
                      <a:pt x="5" y="104"/>
                      <a:pt x="11" y="104"/>
                    </a:cubicBezTo>
                    <a:cubicBezTo>
                      <a:pt x="73" y="104"/>
                      <a:pt x="73" y="104"/>
                      <a:pt x="73" y="104"/>
                    </a:cubicBezTo>
                    <a:cubicBezTo>
                      <a:pt x="79" y="104"/>
                      <a:pt x="84" y="99"/>
                      <a:pt x="84" y="92"/>
                    </a:cubicBezTo>
                    <a:cubicBezTo>
                      <a:pt x="84" y="11"/>
                      <a:pt x="84" y="11"/>
                      <a:pt x="84" y="11"/>
                    </a:cubicBezTo>
                    <a:cubicBezTo>
                      <a:pt x="84" y="5"/>
                      <a:pt x="79" y="0"/>
                      <a:pt x="73" y="0"/>
                    </a:cubicBezTo>
                    <a:close/>
                    <a:moveTo>
                      <a:pt x="77" y="90"/>
                    </a:moveTo>
                    <a:cubicBezTo>
                      <a:pt x="7" y="90"/>
                      <a:pt x="7" y="90"/>
                      <a:pt x="7" y="90"/>
                    </a:cubicBezTo>
                    <a:cubicBezTo>
                      <a:pt x="7" y="13"/>
                      <a:pt x="7" y="13"/>
                      <a:pt x="7" y="13"/>
                    </a:cubicBezTo>
                    <a:cubicBezTo>
                      <a:pt x="77" y="13"/>
                      <a:pt x="77" y="13"/>
                      <a:pt x="77" y="13"/>
                    </a:cubicBezTo>
                    <a:lnTo>
                      <a:pt x="77" y="9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102" name="Freeform 274">
                <a:extLst>
                  <a:ext uri="{FF2B5EF4-FFF2-40B4-BE49-F238E27FC236}">
                    <a16:creationId xmlns:a16="http://schemas.microsoft.com/office/drawing/2014/main" id="{55268EFE-B642-FA95-F641-DBB6C2668859}"/>
                  </a:ext>
                </a:extLst>
              </p:cNvPr>
              <p:cNvSpPr>
                <a:spLocks noEditPoints="1"/>
              </p:cNvSpPr>
              <p:nvPr/>
            </p:nvSpPr>
            <p:spPr bwMode="auto">
              <a:xfrm>
                <a:off x="10988571" y="3454244"/>
                <a:ext cx="606600" cy="510110"/>
              </a:xfrm>
              <a:custGeom>
                <a:avLst/>
                <a:gdLst>
                  <a:gd name="T0" fmla="*/ 141 w 207"/>
                  <a:gd name="T1" fmla="*/ 164 h 174"/>
                  <a:gd name="T2" fmla="*/ 65 w 207"/>
                  <a:gd name="T3" fmla="*/ 164 h 174"/>
                  <a:gd name="T4" fmla="*/ 61 w 207"/>
                  <a:gd name="T5" fmla="*/ 169 h 174"/>
                  <a:gd name="T6" fmla="*/ 65 w 207"/>
                  <a:gd name="T7" fmla="*/ 174 h 174"/>
                  <a:gd name="T8" fmla="*/ 141 w 207"/>
                  <a:gd name="T9" fmla="*/ 174 h 174"/>
                  <a:gd name="T10" fmla="*/ 146 w 207"/>
                  <a:gd name="T11" fmla="*/ 169 h 174"/>
                  <a:gd name="T12" fmla="*/ 141 w 207"/>
                  <a:gd name="T13" fmla="*/ 164 h 174"/>
                  <a:gd name="T14" fmla="*/ 84 w 207"/>
                  <a:gd name="T15" fmla="*/ 140 h 174"/>
                  <a:gd name="T16" fmla="*/ 81 w 207"/>
                  <a:gd name="T17" fmla="*/ 143 h 174"/>
                  <a:gd name="T18" fmla="*/ 81 w 207"/>
                  <a:gd name="T19" fmla="*/ 153 h 174"/>
                  <a:gd name="T20" fmla="*/ 84 w 207"/>
                  <a:gd name="T21" fmla="*/ 157 h 174"/>
                  <a:gd name="T22" fmla="*/ 122 w 207"/>
                  <a:gd name="T23" fmla="*/ 157 h 174"/>
                  <a:gd name="T24" fmla="*/ 126 w 207"/>
                  <a:gd name="T25" fmla="*/ 153 h 174"/>
                  <a:gd name="T26" fmla="*/ 126 w 207"/>
                  <a:gd name="T27" fmla="*/ 143 h 174"/>
                  <a:gd name="T28" fmla="*/ 122 w 207"/>
                  <a:gd name="T29" fmla="*/ 140 h 174"/>
                  <a:gd name="T30" fmla="*/ 119 w 207"/>
                  <a:gd name="T31" fmla="*/ 143 h 174"/>
                  <a:gd name="T32" fmla="*/ 119 w 207"/>
                  <a:gd name="T33" fmla="*/ 150 h 174"/>
                  <a:gd name="T34" fmla="*/ 88 w 207"/>
                  <a:gd name="T35" fmla="*/ 150 h 174"/>
                  <a:gd name="T36" fmla="*/ 88 w 207"/>
                  <a:gd name="T37" fmla="*/ 143 h 174"/>
                  <a:gd name="T38" fmla="*/ 84 w 207"/>
                  <a:gd name="T39" fmla="*/ 140 h 174"/>
                  <a:gd name="T40" fmla="*/ 202 w 207"/>
                  <a:gd name="T41" fmla="*/ 0 h 174"/>
                  <a:gd name="T42" fmla="*/ 5 w 207"/>
                  <a:gd name="T43" fmla="*/ 0 h 174"/>
                  <a:gd name="T44" fmla="*/ 0 w 207"/>
                  <a:gd name="T45" fmla="*/ 5 h 174"/>
                  <a:gd name="T46" fmla="*/ 0 w 207"/>
                  <a:gd name="T47" fmla="*/ 71 h 174"/>
                  <a:gd name="T48" fmla="*/ 10 w 207"/>
                  <a:gd name="T49" fmla="*/ 71 h 174"/>
                  <a:gd name="T50" fmla="*/ 10 w 207"/>
                  <a:gd name="T51" fmla="*/ 10 h 174"/>
                  <a:gd name="T52" fmla="*/ 197 w 207"/>
                  <a:gd name="T53" fmla="*/ 10 h 174"/>
                  <a:gd name="T54" fmla="*/ 197 w 207"/>
                  <a:gd name="T55" fmla="*/ 48 h 174"/>
                  <a:gd name="T56" fmla="*/ 207 w 207"/>
                  <a:gd name="T57" fmla="*/ 48 h 174"/>
                  <a:gd name="T58" fmla="*/ 207 w 207"/>
                  <a:gd name="T59" fmla="*/ 5 h 174"/>
                  <a:gd name="T60" fmla="*/ 202 w 207"/>
                  <a:gd name="T61" fmla="*/ 0 h 174"/>
                  <a:gd name="T62" fmla="*/ 142 w 207"/>
                  <a:gd name="T63" fmla="*/ 123 h 174"/>
                  <a:gd name="T64" fmla="*/ 43 w 207"/>
                  <a:gd name="T65" fmla="*/ 123 h 174"/>
                  <a:gd name="T66" fmla="*/ 43 w 207"/>
                  <a:gd name="T67" fmla="*/ 133 h 174"/>
                  <a:gd name="T68" fmla="*/ 142 w 207"/>
                  <a:gd name="T69" fmla="*/ 133 h 174"/>
                  <a:gd name="T70" fmla="*/ 142 w 207"/>
                  <a:gd name="T71" fmla="*/ 12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7" h="174">
                    <a:moveTo>
                      <a:pt x="141" y="164"/>
                    </a:moveTo>
                    <a:cubicBezTo>
                      <a:pt x="65" y="164"/>
                      <a:pt x="65" y="164"/>
                      <a:pt x="65" y="164"/>
                    </a:cubicBezTo>
                    <a:cubicBezTo>
                      <a:pt x="63" y="164"/>
                      <a:pt x="61" y="167"/>
                      <a:pt x="61" y="169"/>
                    </a:cubicBezTo>
                    <a:cubicBezTo>
                      <a:pt x="61" y="172"/>
                      <a:pt x="63" y="174"/>
                      <a:pt x="65" y="174"/>
                    </a:cubicBezTo>
                    <a:cubicBezTo>
                      <a:pt x="141" y="174"/>
                      <a:pt x="141" y="174"/>
                      <a:pt x="141" y="174"/>
                    </a:cubicBezTo>
                    <a:cubicBezTo>
                      <a:pt x="144" y="174"/>
                      <a:pt x="146" y="172"/>
                      <a:pt x="146" y="169"/>
                    </a:cubicBezTo>
                    <a:cubicBezTo>
                      <a:pt x="146" y="167"/>
                      <a:pt x="144" y="164"/>
                      <a:pt x="141" y="164"/>
                    </a:cubicBezTo>
                    <a:close/>
                    <a:moveTo>
                      <a:pt x="84" y="140"/>
                    </a:moveTo>
                    <a:cubicBezTo>
                      <a:pt x="82" y="140"/>
                      <a:pt x="81" y="141"/>
                      <a:pt x="81" y="143"/>
                    </a:cubicBezTo>
                    <a:cubicBezTo>
                      <a:pt x="81" y="153"/>
                      <a:pt x="81" y="153"/>
                      <a:pt x="81" y="153"/>
                    </a:cubicBezTo>
                    <a:cubicBezTo>
                      <a:pt x="81" y="155"/>
                      <a:pt x="82" y="157"/>
                      <a:pt x="84" y="157"/>
                    </a:cubicBezTo>
                    <a:cubicBezTo>
                      <a:pt x="122" y="157"/>
                      <a:pt x="122" y="157"/>
                      <a:pt x="122" y="157"/>
                    </a:cubicBezTo>
                    <a:cubicBezTo>
                      <a:pt x="124" y="157"/>
                      <a:pt x="126" y="155"/>
                      <a:pt x="126" y="153"/>
                    </a:cubicBezTo>
                    <a:cubicBezTo>
                      <a:pt x="126" y="143"/>
                      <a:pt x="126" y="143"/>
                      <a:pt x="126" y="143"/>
                    </a:cubicBezTo>
                    <a:cubicBezTo>
                      <a:pt x="126" y="141"/>
                      <a:pt x="124" y="140"/>
                      <a:pt x="122" y="140"/>
                    </a:cubicBezTo>
                    <a:cubicBezTo>
                      <a:pt x="120" y="140"/>
                      <a:pt x="119" y="141"/>
                      <a:pt x="119" y="143"/>
                    </a:cubicBezTo>
                    <a:cubicBezTo>
                      <a:pt x="119" y="150"/>
                      <a:pt x="119" y="150"/>
                      <a:pt x="119" y="150"/>
                    </a:cubicBezTo>
                    <a:cubicBezTo>
                      <a:pt x="88" y="150"/>
                      <a:pt x="88" y="150"/>
                      <a:pt x="88" y="150"/>
                    </a:cubicBezTo>
                    <a:cubicBezTo>
                      <a:pt x="88" y="143"/>
                      <a:pt x="88" y="143"/>
                      <a:pt x="88" y="143"/>
                    </a:cubicBezTo>
                    <a:cubicBezTo>
                      <a:pt x="88" y="141"/>
                      <a:pt x="86" y="140"/>
                      <a:pt x="84" y="140"/>
                    </a:cubicBezTo>
                    <a:close/>
                    <a:moveTo>
                      <a:pt x="202" y="0"/>
                    </a:moveTo>
                    <a:cubicBezTo>
                      <a:pt x="5" y="0"/>
                      <a:pt x="5" y="0"/>
                      <a:pt x="5" y="0"/>
                    </a:cubicBezTo>
                    <a:cubicBezTo>
                      <a:pt x="2" y="0"/>
                      <a:pt x="0" y="2"/>
                      <a:pt x="0" y="5"/>
                    </a:cubicBezTo>
                    <a:cubicBezTo>
                      <a:pt x="0" y="71"/>
                      <a:pt x="0" y="71"/>
                      <a:pt x="0" y="71"/>
                    </a:cubicBezTo>
                    <a:cubicBezTo>
                      <a:pt x="10" y="71"/>
                      <a:pt x="10" y="71"/>
                      <a:pt x="10" y="71"/>
                    </a:cubicBezTo>
                    <a:cubicBezTo>
                      <a:pt x="10" y="10"/>
                      <a:pt x="10" y="10"/>
                      <a:pt x="10" y="10"/>
                    </a:cubicBezTo>
                    <a:cubicBezTo>
                      <a:pt x="197" y="10"/>
                      <a:pt x="197" y="10"/>
                      <a:pt x="197" y="10"/>
                    </a:cubicBezTo>
                    <a:cubicBezTo>
                      <a:pt x="197" y="48"/>
                      <a:pt x="197" y="48"/>
                      <a:pt x="197" y="48"/>
                    </a:cubicBezTo>
                    <a:cubicBezTo>
                      <a:pt x="207" y="48"/>
                      <a:pt x="207" y="48"/>
                      <a:pt x="207" y="48"/>
                    </a:cubicBezTo>
                    <a:cubicBezTo>
                      <a:pt x="207" y="5"/>
                      <a:pt x="207" y="5"/>
                      <a:pt x="207" y="5"/>
                    </a:cubicBezTo>
                    <a:cubicBezTo>
                      <a:pt x="207" y="2"/>
                      <a:pt x="204" y="0"/>
                      <a:pt x="202" y="0"/>
                    </a:cubicBezTo>
                    <a:close/>
                    <a:moveTo>
                      <a:pt x="142" y="123"/>
                    </a:moveTo>
                    <a:cubicBezTo>
                      <a:pt x="43" y="123"/>
                      <a:pt x="43" y="123"/>
                      <a:pt x="43" y="123"/>
                    </a:cubicBezTo>
                    <a:cubicBezTo>
                      <a:pt x="43" y="133"/>
                      <a:pt x="43" y="133"/>
                      <a:pt x="43" y="133"/>
                    </a:cubicBezTo>
                    <a:cubicBezTo>
                      <a:pt x="142" y="133"/>
                      <a:pt x="142" y="133"/>
                      <a:pt x="142" y="133"/>
                    </a:cubicBezTo>
                    <a:lnTo>
                      <a:pt x="142" y="1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103" name="Rectangle 275">
                <a:extLst>
                  <a:ext uri="{FF2B5EF4-FFF2-40B4-BE49-F238E27FC236}">
                    <a16:creationId xmlns:a16="http://schemas.microsoft.com/office/drawing/2014/main" id="{B570872C-86D4-0FD6-71CA-8167B64D2489}"/>
                  </a:ext>
                </a:extLst>
              </p:cNvPr>
              <p:cNvSpPr>
                <a:spLocks noChangeArrowheads="1"/>
              </p:cNvSpPr>
              <p:nvPr/>
            </p:nvSpPr>
            <p:spPr bwMode="auto">
              <a:xfrm>
                <a:off x="10976349" y="3726989"/>
                <a:ext cx="84911" cy="117074"/>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104" name="Freeform 276">
                <a:extLst>
                  <a:ext uri="{FF2B5EF4-FFF2-40B4-BE49-F238E27FC236}">
                    <a16:creationId xmlns:a16="http://schemas.microsoft.com/office/drawing/2014/main" id="{D60C91B5-7F28-5178-F1DE-F2612B5AE850}"/>
                  </a:ext>
                </a:extLst>
              </p:cNvPr>
              <p:cNvSpPr>
                <a:spLocks noEditPoints="1"/>
              </p:cNvSpPr>
              <p:nvPr/>
            </p:nvSpPr>
            <p:spPr bwMode="auto">
              <a:xfrm>
                <a:off x="10944186" y="3682604"/>
                <a:ext cx="146665" cy="240582"/>
              </a:xfrm>
              <a:custGeom>
                <a:avLst/>
                <a:gdLst>
                  <a:gd name="T0" fmla="*/ 42 w 50"/>
                  <a:gd name="T1" fmla="*/ 0 h 82"/>
                  <a:gd name="T2" fmla="*/ 8 w 50"/>
                  <a:gd name="T3" fmla="*/ 0 h 82"/>
                  <a:gd name="T4" fmla="*/ 0 w 50"/>
                  <a:gd name="T5" fmla="*/ 8 h 82"/>
                  <a:gd name="T6" fmla="*/ 0 w 50"/>
                  <a:gd name="T7" fmla="*/ 74 h 82"/>
                  <a:gd name="T8" fmla="*/ 8 w 50"/>
                  <a:gd name="T9" fmla="*/ 82 h 82"/>
                  <a:gd name="T10" fmla="*/ 8 w 50"/>
                  <a:gd name="T11" fmla="*/ 82 h 82"/>
                  <a:gd name="T12" fmla="*/ 42 w 50"/>
                  <a:gd name="T13" fmla="*/ 82 h 82"/>
                  <a:gd name="T14" fmla="*/ 50 w 50"/>
                  <a:gd name="T15" fmla="*/ 74 h 82"/>
                  <a:gd name="T16" fmla="*/ 50 w 50"/>
                  <a:gd name="T17" fmla="*/ 8 h 82"/>
                  <a:gd name="T18" fmla="*/ 42 w 50"/>
                  <a:gd name="T19" fmla="*/ 0 h 82"/>
                  <a:gd name="T20" fmla="*/ 47 w 50"/>
                  <a:gd name="T21" fmla="*/ 73 h 82"/>
                  <a:gd name="T22" fmla="*/ 4 w 50"/>
                  <a:gd name="T23" fmla="*/ 73 h 82"/>
                  <a:gd name="T24" fmla="*/ 4 w 50"/>
                  <a:gd name="T25" fmla="*/ 9 h 82"/>
                  <a:gd name="T26" fmla="*/ 47 w 50"/>
                  <a:gd name="T27" fmla="*/ 9 h 82"/>
                  <a:gd name="T28" fmla="*/ 47 w 50"/>
                  <a:gd name="T29" fmla="*/ 7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82">
                    <a:moveTo>
                      <a:pt x="42" y="0"/>
                    </a:moveTo>
                    <a:cubicBezTo>
                      <a:pt x="8" y="0"/>
                      <a:pt x="8" y="0"/>
                      <a:pt x="8" y="0"/>
                    </a:cubicBezTo>
                    <a:cubicBezTo>
                      <a:pt x="4" y="0"/>
                      <a:pt x="0" y="4"/>
                      <a:pt x="0" y="8"/>
                    </a:cubicBezTo>
                    <a:cubicBezTo>
                      <a:pt x="0" y="74"/>
                      <a:pt x="0" y="74"/>
                      <a:pt x="0" y="74"/>
                    </a:cubicBezTo>
                    <a:cubicBezTo>
                      <a:pt x="0" y="78"/>
                      <a:pt x="4" y="82"/>
                      <a:pt x="8" y="82"/>
                    </a:cubicBezTo>
                    <a:cubicBezTo>
                      <a:pt x="8" y="82"/>
                      <a:pt x="8" y="82"/>
                      <a:pt x="8" y="82"/>
                    </a:cubicBezTo>
                    <a:cubicBezTo>
                      <a:pt x="42" y="82"/>
                      <a:pt x="42" y="82"/>
                      <a:pt x="42" y="82"/>
                    </a:cubicBezTo>
                    <a:cubicBezTo>
                      <a:pt x="47" y="82"/>
                      <a:pt x="50" y="78"/>
                      <a:pt x="50" y="74"/>
                    </a:cubicBezTo>
                    <a:cubicBezTo>
                      <a:pt x="50" y="8"/>
                      <a:pt x="50" y="8"/>
                      <a:pt x="50" y="8"/>
                    </a:cubicBezTo>
                    <a:cubicBezTo>
                      <a:pt x="50" y="4"/>
                      <a:pt x="47" y="0"/>
                      <a:pt x="42" y="0"/>
                    </a:cubicBezTo>
                    <a:close/>
                    <a:moveTo>
                      <a:pt x="47" y="73"/>
                    </a:moveTo>
                    <a:cubicBezTo>
                      <a:pt x="4" y="73"/>
                      <a:pt x="4" y="73"/>
                      <a:pt x="4" y="73"/>
                    </a:cubicBezTo>
                    <a:cubicBezTo>
                      <a:pt x="4" y="9"/>
                      <a:pt x="4" y="9"/>
                      <a:pt x="4" y="9"/>
                    </a:cubicBezTo>
                    <a:cubicBezTo>
                      <a:pt x="47" y="9"/>
                      <a:pt x="47" y="9"/>
                      <a:pt x="47" y="9"/>
                    </a:cubicBezTo>
                    <a:lnTo>
                      <a:pt x="47" y="7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105" name="Freeform 277">
                <a:extLst>
                  <a:ext uri="{FF2B5EF4-FFF2-40B4-BE49-F238E27FC236}">
                    <a16:creationId xmlns:a16="http://schemas.microsoft.com/office/drawing/2014/main" id="{A03D72D0-EF6B-54B8-8D98-8AB1461655F1}"/>
                  </a:ext>
                </a:extLst>
              </p:cNvPr>
              <p:cNvSpPr>
                <a:spLocks noEditPoints="1"/>
              </p:cNvSpPr>
              <p:nvPr/>
            </p:nvSpPr>
            <p:spPr bwMode="auto">
              <a:xfrm>
                <a:off x="11049681" y="3524360"/>
                <a:ext cx="483736" cy="246371"/>
              </a:xfrm>
              <a:custGeom>
                <a:avLst/>
                <a:gdLst>
                  <a:gd name="T0" fmla="*/ 39 w 165"/>
                  <a:gd name="T1" fmla="*/ 75 h 84"/>
                  <a:gd name="T2" fmla="*/ 39 w 165"/>
                  <a:gd name="T3" fmla="*/ 62 h 84"/>
                  <a:gd name="T4" fmla="*/ 39 w 165"/>
                  <a:gd name="T5" fmla="*/ 61 h 84"/>
                  <a:gd name="T6" fmla="*/ 38 w 165"/>
                  <a:gd name="T7" fmla="*/ 59 h 84"/>
                  <a:gd name="T8" fmla="*/ 38 w 165"/>
                  <a:gd name="T9" fmla="*/ 59 h 84"/>
                  <a:gd name="T10" fmla="*/ 28 w 165"/>
                  <a:gd name="T11" fmla="*/ 49 h 84"/>
                  <a:gd name="T12" fmla="*/ 28 w 165"/>
                  <a:gd name="T13" fmla="*/ 49 h 84"/>
                  <a:gd name="T14" fmla="*/ 27 w 165"/>
                  <a:gd name="T15" fmla="*/ 42 h 84"/>
                  <a:gd name="T16" fmla="*/ 28 w 165"/>
                  <a:gd name="T17" fmla="*/ 35 h 84"/>
                  <a:gd name="T18" fmla="*/ 28 w 165"/>
                  <a:gd name="T19" fmla="*/ 35 h 84"/>
                  <a:gd name="T20" fmla="*/ 38 w 165"/>
                  <a:gd name="T21" fmla="*/ 25 h 84"/>
                  <a:gd name="T22" fmla="*/ 38 w 165"/>
                  <a:gd name="T23" fmla="*/ 25 h 84"/>
                  <a:gd name="T24" fmla="*/ 39 w 165"/>
                  <a:gd name="T25" fmla="*/ 23 h 84"/>
                  <a:gd name="T26" fmla="*/ 39 w 165"/>
                  <a:gd name="T27" fmla="*/ 22 h 84"/>
                  <a:gd name="T28" fmla="*/ 39 w 165"/>
                  <a:gd name="T29" fmla="*/ 9 h 84"/>
                  <a:gd name="T30" fmla="*/ 47 w 165"/>
                  <a:gd name="T31" fmla="*/ 0 h 84"/>
                  <a:gd name="T32" fmla="*/ 0 w 165"/>
                  <a:gd name="T33" fmla="*/ 0 h 84"/>
                  <a:gd name="T34" fmla="*/ 0 w 165"/>
                  <a:gd name="T35" fmla="*/ 47 h 84"/>
                  <a:gd name="T36" fmla="*/ 6 w 165"/>
                  <a:gd name="T37" fmla="*/ 47 h 84"/>
                  <a:gd name="T38" fmla="*/ 22 w 165"/>
                  <a:gd name="T39" fmla="*/ 62 h 84"/>
                  <a:gd name="T40" fmla="*/ 22 w 165"/>
                  <a:gd name="T41" fmla="*/ 84 h 84"/>
                  <a:gd name="T42" fmla="*/ 47 w 165"/>
                  <a:gd name="T43" fmla="*/ 84 h 84"/>
                  <a:gd name="T44" fmla="*/ 39 w 165"/>
                  <a:gd name="T45" fmla="*/ 75 h 84"/>
                  <a:gd name="T46" fmla="*/ 121 w 165"/>
                  <a:gd name="T47" fmla="*/ 84 h 84"/>
                  <a:gd name="T48" fmla="*/ 121 w 165"/>
                  <a:gd name="T49" fmla="*/ 81 h 84"/>
                  <a:gd name="T50" fmla="*/ 118 w 165"/>
                  <a:gd name="T51" fmla="*/ 84 h 84"/>
                  <a:gd name="T52" fmla="*/ 121 w 165"/>
                  <a:gd name="T53" fmla="*/ 84 h 84"/>
                  <a:gd name="T54" fmla="*/ 118 w 165"/>
                  <a:gd name="T55" fmla="*/ 0 h 84"/>
                  <a:gd name="T56" fmla="*/ 126 w 165"/>
                  <a:gd name="T57" fmla="*/ 9 h 84"/>
                  <a:gd name="T58" fmla="*/ 126 w 165"/>
                  <a:gd name="T59" fmla="*/ 22 h 84"/>
                  <a:gd name="T60" fmla="*/ 125 w 165"/>
                  <a:gd name="T61" fmla="*/ 23 h 84"/>
                  <a:gd name="T62" fmla="*/ 126 w 165"/>
                  <a:gd name="T63" fmla="*/ 25 h 84"/>
                  <a:gd name="T64" fmla="*/ 127 w 165"/>
                  <a:gd name="T65" fmla="*/ 25 h 84"/>
                  <a:gd name="T66" fmla="*/ 131 w 165"/>
                  <a:gd name="T67" fmla="*/ 27 h 84"/>
                  <a:gd name="T68" fmla="*/ 138 w 165"/>
                  <a:gd name="T69" fmla="*/ 24 h 84"/>
                  <a:gd name="T70" fmla="*/ 165 w 165"/>
                  <a:gd name="T71" fmla="*/ 24 h 84"/>
                  <a:gd name="T72" fmla="*/ 165 w 165"/>
                  <a:gd name="T73" fmla="*/ 0 h 84"/>
                  <a:gd name="T74" fmla="*/ 118 w 165"/>
                  <a:gd name="T7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5" h="84">
                    <a:moveTo>
                      <a:pt x="39" y="75"/>
                    </a:moveTo>
                    <a:cubicBezTo>
                      <a:pt x="36" y="71"/>
                      <a:pt x="36" y="66"/>
                      <a:pt x="39" y="62"/>
                    </a:cubicBezTo>
                    <a:cubicBezTo>
                      <a:pt x="39" y="62"/>
                      <a:pt x="39" y="62"/>
                      <a:pt x="39" y="61"/>
                    </a:cubicBezTo>
                    <a:cubicBezTo>
                      <a:pt x="39" y="61"/>
                      <a:pt x="39" y="60"/>
                      <a:pt x="38" y="59"/>
                    </a:cubicBezTo>
                    <a:cubicBezTo>
                      <a:pt x="38" y="59"/>
                      <a:pt x="38" y="59"/>
                      <a:pt x="38" y="59"/>
                    </a:cubicBezTo>
                    <a:cubicBezTo>
                      <a:pt x="33" y="58"/>
                      <a:pt x="29" y="54"/>
                      <a:pt x="28" y="49"/>
                    </a:cubicBezTo>
                    <a:cubicBezTo>
                      <a:pt x="28" y="49"/>
                      <a:pt x="28" y="49"/>
                      <a:pt x="28" y="49"/>
                    </a:cubicBezTo>
                    <a:cubicBezTo>
                      <a:pt x="28" y="47"/>
                      <a:pt x="27" y="44"/>
                      <a:pt x="27" y="42"/>
                    </a:cubicBezTo>
                    <a:cubicBezTo>
                      <a:pt x="27" y="40"/>
                      <a:pt x="28" y="37"/>
                      <a:pt x="28" y="35"/>
                    </a:cubicBezTo>
                    <a:cubicBezTo>
                      <a:pt x="28" y="35"/>
                      <a:pt x="28" y="35"/>
                      <a:pt x="28" y="35"/>
                    </a:cubicBezTo>
                    <a:cubicBezTo>
                      <a:pt x="29" y="30"/>
                      <a:pt x="33" y="26"/>
                      <a:pt x="38" y="25"/>
                    </a:cubicBezTo>
                    <a:cubicBezTo>
                      <a:pt x="38" y="25"/>
                      <a:pt x="38" y="25"/>
                      <a:pt x="38" y="25"/>
                    </a:cubicBezTo>
                    <a:cubicBezTo>
                      <a:pt x="39" y="24"/>
                      <a:pt x="39" y="24"/>
                      <a:pt x="39" y="23"/>
                    </a:cubicBezTo>
                    <a:cubicBezTo>
                      <a:pt x="39" y="23"/>
                      <a:pt x="39" y="22"/>
                      <a:pt x="39" y="22"/>
                    </a:cubicBezTo>
                    <a:cubicBezTo>
                      <a:pt x="36" y="18"/>
                      <a:pt x="36" y="13"/>
                      <a:pt x="39" y="9"/>
                    </a:cubicBezTo>
                    <a:cubicBezTo>
                      <a:pt x="41" y="6"/>
                      <a:pt x="44" y="3"/>
                      <a:pt x="47" y="0"/>
                    </a:cubicBezTo>
                    <a:cubicBezTo>
                      <a:pt x="0" y="0"/>
                      <a:pt x="0" y="0"/>
                      <a:pt x="0" y="0"/>
                    </a:cubicBezTo>
                    <a:cubicBezTo>
                      <a:pt x="0" y="47"/>
                      <a:pt x="0" y="47"/>
                      <a:pt x="0" y="47"/>
                    </a:cubicBezTo>
                    <a:cubicBezTo>
                      <a:pt x="6" y="47"/>
                      <a:pt x="6" y="47"/>
                      <a:pt x="6" y="47"/>
                    </a:cubicBezTo>
                    <a:cubicBezTo>
                      <a:pt x="15" y="47"/>
                      <a:pt x="22" y="54"/>
                      <a:pt x="22" y="62"/>
                    </a:cubicBezTo>
                    <a:cubicBezTo>
                      <a:pt x="22" y="84"/>
                      <a:pt x="22" y="84"/>
                      <a:pt x="22" y="84"/>
                    </a:cubicBezTo>
                    <a:cubicBezTo>
                      <a:pt x="47" y="84"/>
                      <a:pt x="47" y="84"/>
                      <a:pt x="47" y="84"/>
                    </a:cubicBezTo>
                    <a:cubicBezTo>
                      <a:pt x="44" y="81"/>
                      <a:pt x="41" y="78"/>
                      <a:pt x="39" y="75"/>
                    </a:cubicBezTo>
                    <a:close/>
                    <a:moveTo>
                      <a:pt x="121" y="84"/>
                    </a:moveTo>
                    <a:cubicBezTo>
                      <a:pt x="121" y="81"/>
                      <a:pt x="121" y="81"/>
                      <a:pt x="121" y="81"/>
                    </a:cubicBezTo>
                    <a:cubicBezTo>
                      <a:pt x="120" y="82"/>
                      <a:pt x="119" y="83"/>
                      <a:pt x="118" y="84"/>
                    </a:cubicBezTo>
                    <a:lnTo>
                      <a:pt x="121" y="84"/>
                    </a:lnTo>
                    <a:close/>
                    <a:moveTo>
                      <a:pt x="118" y="0"/>
                    </a:moveTo>
                    <a:cubicBezTo>
                      <a:pt x="121" y="3"/>
                      <a:pt x="124" y="6"/>
                      <a:pt x="126" y="9"/>
                    </a:cubicBezTo>
                    <a:cubicBezTo>
                      <a:pt x="129" y="13"/>
                      <a:pt x="129" y="18"/>
                      <a:pt x="126" y="22"/>
                    </a:cubicBezTo>
                    <a:cubicBezTo>
                      <a:pt x="126" y="22"/>
                      <a:pt x="125" y="23"/>
                      <a:pt x="125" y="23"/>
                    </a:cubicBezTo>
                    <a:cubicBezTo>
                      <a:pt x="126" y="24"/>
                      <a:pt x="126" y="24"/>
                      <a:pt x="126" y="25"/>
                    </a:cubicBezTo>
                    <a:cubicBezTo>
                      <a:pt x="127" y="25"/>
                      <a:pt x="127" y="25"/>
                      <a:pt x="127" y="25"/>
                    </a:cubicBezTo>
                    <a:cubicBezTo>
                      <a:pt x="128" y="26"/>
                      <a:pt x="130" y="26"/>
                      <a:pt x="131" y="27"/>
                    </a:cubicBezTo>
                    <a:cubicBezTo>
                      <a:pt x="133" y="25"/>
                      <a:pt x="136" y="24"/>
                      <a:pt x="138" y="24"/>
                    </a:cubicBezTo>
                    <a:cubicBezTo>
                      <a:pt x="165" y="24"/>
                      <a:pt x="165" y="24"/>
                      <a:pt x="165" y="24"/>
                    </a:cubicBezTo>
                    <a:cubicBezTo>
                      <a:pt x="165" y="0"/>
                      <a:pt x="165" y="0"/>
                      <a:pt x="165" y="0"/>
                    </a:cubicBezTo>
                    <a:lnTo>
                      <a:pt x="118"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106" name="Freeform 278">
                <a:extLst>
                  <a:ext uri="{FF2B5EF4-FFF2-40B4-BE49-F238E27FC236}">
                    <a16:creationId xmlns:a16="http://schemas.microsoft.com/office/drawing/2014/main" id="{8D70957C-F4B0-E057-F632-CFB72E5EAB07}"/>
                  </a:ext>
                </a:extLst>
              </p:cNvPr>
              <p:cNvSpPr>
                <a:spLocks noEditPoints="1"/>
              </p:cNvSpPr>
              <p:nvPr/>
            </p:nvSpPr>
            <p:spPr bwMode="auto">
              <a:xfrm>
                <a:off x="11243305" y="3597693"/>
                <a:ext cx="96490" cy="99706"/>
              </a:xfrm>
              <a:custGeom>
                <a:avLst/>
                <a:gdLst>
                  <a:gd name="T0" fmla="*/ 16 w 33"/>
                  <a:gd name="T1" fmla="*/ 34 h 34"/>
                  <a:gd name="T2" fmla="*/ 0 w 33"/>
                  <a:gd name="T3" fmla="*/ 17 h 34"/>
                  <a:gd name="T4" fmla="*/ 16 w 33"/>
                  <a:gd name="T5" fmla="*/ 0 h 34"/>
                  <a:gd name="T6" fmla="*/ 33 w 33"/>
                  <a:gd name="T7" fmla="*/ 17 h 34"/>
                  <a:gd name="T8" fmla="*/ 16 w 33"/>
                  <a:gd name="T9" fmla="*/ 34 h 34"/>
                  <a:gd name="T10" fmla="*/ 16 w 33"/>
                  <a:gd name="T11" fmla="*/ 7 h 34"/>
                  <a:gd name="T12" fmla="*/ 6 w 33"/>
                  <a:gd name="T13" fmla="*/ 17 h 34"/>
                  <a:gd name="T14" fmla="*/ 16 w 33"/>
                  <a:gd name="T15" fmla="*/ 27 h 34"/>
                  <a:gd name="T16" fmla="*/ 26 w 33"/>
                  <a:gd name="T17" fmla="*/ 17 h 34"/>
                  <a:gd name="T18" fmla="*/ 16 w 33"/>
                  <a:gd name="T19"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34"/>
                    </a:moveTo>
                    <a:cubicBezTo>
                      <a:pt x="7" y="34"/>
                      <a:pt x="0" y="26"/>
                      <a:pt x="0" y="17"/>
                    </a:cubicBezTo>
                    <a:cubicBezTo>
                      <a:pt x="0" y="8"/>
                      <a:pt x="7" y="0"/>
                      <a:pt x="16" y="0"/>
                    </a:cubicBezTo>
                    <a:cubicBezTo>
                      <a:pt x="26" y="0"/>
                      <a:pt x="33" y="8"/>
                      <a:pt x="33" y="17"/>
                    </a:cubicBezTo>
                    <a:cubicBezTo>
                      <a:pt x="33" y="26"/>
                      <a:pt x="26" y="34"/>
                      <a:pt x="16" y="34"/>
                    </a:cubicBezTo>
                    <a:close/>
                    <a:moveTo>
                      <a:pt x="16" y="7"/>
                    </a:moveTo>
                    <a:cubicBezTo>
                      <a:pt x="11" y="7"/>
                      <a:pt x="6" y="12"/>
                      <a:pt x="6" y="17"/>
                    </a:cubicBezTo>
                    <a:cubicBezTo>
                      <a:pt x="6" y="23"/>
                      <a:pt x="11" y="27"/>
                      <a:pt x="16" y="27"/>
                    </a:cubicBezTo>
                    <a:cubicBezTo>
                      <a:pt x="22" y="27"/>
                      <a:pt x="26" y="23"/>
                      <a:pt x="26" y="17"/>
                    </a:cubicBezTo>
                    <a:cubicBezTo>
                      <a:pt x="26" y="12"/>
                      <a:pt x="22" y="7"/>
                      <a:pt x="16" y="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sp>
            <p:nvSpPr>
              <p:cNvPr id="107" name="Freeform 279">
                <a:extLst>
                  <a:ext uri="{FF2B5EF4-FFF2-40B4-BE49-F238E27FC236}">
                    <a16:creationId xmlns:a16="http://schemas.microsoft.com/office/drawing/2014/main" id="{46DBA547-734B-F6A5-45E7-F19BCC86AD51}"/>
                  </a:ext>
                </a:extLst>
              </p:cNvPr>
              <p:cNvSpPr>
                <a:spLocks/>
              </p:cNvSpPr>
              <p:nvPr/>
            </p:nvSpPr>
            <p:spPr bwMode="auto">
              <a:xfrm>
                <a:off x="11152604" y="3506992"/>
                <a:ext cx="260523" cy="281107"/>
              </a:xfrm>
              <a:custGeom>
                <a:avLst/>
                <a:gdLst>
                  <a:gd name="T0" fmla="*/ 85 w 89"/>
                  <a:gd name="T1" fmla="*/ 73 h 96"/>
                  <a:gd name="T2" fmla="*/ 86 w 89"/>
                  <a:gd name="T3" fmla="*/ 59 h 96"/>
                  <a:gd name="T4" fmla="*/ 81 w 89"/>
                  <a:gd name="T5" fmla="*/ 53 h 96"/>
                  <a:gd name="T6" fmla="*/ 75 w 89"/>
                  <a:gd name="T7" fmla="*/ 66 h 96"/>
                  <a:gd name="T8" fmla="*/ 78 w 89"/>
                  <a:gd name="T9" fmla="*/ 75 h 96"/>
                  <a:gd name="T10" fmla="*/ 68 w 89"/>
                  <a:gd name="T11" fmla="*/ 75 h 96"/>
                  <a:gd name="T12" fmla="*/ 54 w 89"/>
                  <a:gd name="T13" fmla="*/ 80 h 96"/>
                  <a:gd name="T14" fmla="*/ 50 w 89"/>
                  <a:gd name="T15" fmla="*/ 89 h 96"/>
                  <a:gd name="T16" fmla="*/ 43 w 89"/>
                  <a:gd name="T17" fmla="*/ 82 h 96"/>
                  <a:gd name="T18" fmla="*/ 29 w 89"/>
                  <a:gd name="T19" fmla="*/ 76 h 96"/>
                  <a:gd name="T20" fmla="*/ 21 w 89"/>
                  <a:gd name="T21" fmla="*/ 79 h 96"/>
                  <a:gd name="T22" fmla="*/ 20 w 89"/>
                  <a:gd name="T23" fmla="*/ 69 h 96"/>
                  <a:gd name="T24" fmla="*/ 15 w 89"/>
                  <a:gd name="T25" fmla="*/ 55 h 96"/>
                  <a:gd name="T26" fmla="*/ 7 w 89"/>
                  <a:gd name="T27" fmla="*/ 51 h 96"/>
                  <a:gd name="T28" fmla="*/ 7 w 89"/>
                  <a:gd name="T29" fmla="*/ 45 h 96"/>
                  <a:gd name="T30" fmla="*/ 15 w 89"/>
                  <a:gd name="T31" fmla="*/ 41 h 96"/>
                  <a:gd name="T32" fmla="*/ 20 w 89"/>
                  <a:gd name="T33" fmla="*/ 28 h 96"/>
                  <a:gd name="T34" fmla="*/ 21 w 89"/>
                  <a:gd name="T35" fmla="*/ 17 h 96"/>
                  <a:gd name="T36" fmla="*/ 29 w 89"/>
                  <a:gd name="T37" fmla="*/ 20 h 96"/>
                  <a:gd name="T38" fmla="*/ 43 w 89"/>
                  <a:gd name="T39" fmla="*/ 14 h 96"/>
                  <a:gd name="T40" fmla="*/ 50 w 89"/>
                  <a:gd name="T41" fmla="*/ 7 h 96"/>
                  <a:gd name="T42" fmla="*/ 54 w 89"/>
                  <a:gd name="T43" fmla="*/ 16 h 96"/>
                  <a:gd name="T44" fmla="*/ 68 w 89"/>
                  <a:gd name="T45" fmla="*/ 21 h 96"/>
                  <a:gd name="T46" fmla="*/ 78 w 89"/>
                  <a:gd name="T47" fmla="*/ 21 h 96"/>
                  <a:gd name="T48" fmla="*/ 75 w 89"/>
                  <a:gd name="T49" fmla="*/ 30 h 96"/>
                  <a:gd name="T50" fmla="*/ 81 w 89"/>
                  <a:gd name="T51" fmla="*/ 43 h 96"/>
                  <a:gd name="T52" fmla="*/ 89 w 89"/>
                  <a:gd name="T53" fmla="*/ 38 h 96"/>
                  <a:gd name="T54" fmla="*/ 82 w 89"/>
                  <a:gd name="T55" fmla="*/ 28 h 96"/>
                  <a:gd name="T56" fmla="*/ 85 w 89"/>
                  <a:gd name="T57" fmla="*/ 19 h 96"/>
                  <a:gd name="T58" fmla="*/ 72 w 89"/>
                  <a:gd name="T59" fmla="*/ 10 h 96"/>
                  <a:gd name="T60" fmla="*/ 67 w 89"/>
                  <a:gd name="T61" fmla="*/ 14 h 96"/>
                  <a:gd name="T62" fmla="*/ 57 w 89"/>
                  <a:gd name="T63" fmla="*/ 4 h 96"/>
                  <a:gd name="T64" fmla="*/ 53 w 89"/>
                  <a:gd name="T65" fmla="*/ 1 h 96"/>
                  <a:gd name="T66" fmla="*/ 41 w 89"/>
                  <a:gd name="T67" fmla="*/ 1 h 96"/>
                  <a:gd name="T68" fmla="*/ 37 w 89"/>
                  <a:gd name="T69" fmla="*/ 10 h 96"/>
                  <a:gd name="T70" fmla="*/ 23 w 89"/>
                  <a:gd name="T71" fmla="*/ 11 h 96"/>
                  <a:gd name="T72" fmla="*/ 19 w 89"/>
                  <a:gd name="T73" fmla="*/ 10 h 96"/>
                  <a:gd name="T74" fmla="*/ 10 w 89"/>
                  <a:gd name="T75" fmla="*/ 24 h 96"/>
                  <a:gd name="T76" fmla="*/ 9 w 89"/>
                  <a:gd name="T77" fmla="*/ 38 h 96"/>
                  <a:gd name="T78" fmla="*/ 0 w 89"/>
                  <a:gd name="T79" fmla="*/ 42 h 96"/>
                  <a:gd name="T80" fmla="*/ 0 w 89"/>
                  <a:gd name="T81" fmla="*/ 48 h 96"/>
                  <a:gd name="T82" fmla="*/ 0 w 89"/>
                  <a:gd name="T83" fmla="*/ 55 h 96"/>
                  <a:gd name="T84" fmla="*/ 9 w 89"/>
                  <a:gd name="T85" fmla="*/ 58 h 96"/>
                  <a:gd name="T86" fmla="*/ 10 w 89"/>
                  <a:gd name="T87" fmla="*/ 73 h 96"/>
                  <a:gd name="T88" fmla="*/ 19 w 89"/>
                  <a:gd name="T89" fmla="*/ 86 h 96"/>
                  <a:gd name="T90" fmla="*/ 23 w 89"/>
                  <a:gd name="T91" fmla="*/ 85 h 96"/>
                  <a:gd name="T92" fmla="*/ 37 w 89"/>
                  <a:gd name="T93" fmla="*/ 87 h 96"/>
                  <a:gd name="T94" fmla="*/ 41 w 89"/>
                  <a:gd name="T95" fmla="*/ 95 h 96"/>
                  <a:gd name="T96" fmla="*/ 47 w 89"/>
                  <a:gd name="T97" fmla="*/ 96 h 96"/>
                  <a:gd name="T98" fmla="*/ 54 w 89"/>
                  <a:gd name="T99" fmla="*/ 95 h 96"/>
                  <a:gd name="T100" fmla="*/ 57 w 89"/>
                  <a:gd name="T101" fmla="*/ 87 h 96"/>
                  <a:gd name="T102" fmla="*/ 71 w 89"/>
                  <a:gd name="T103" fmla="*/ 85 h 96"/>
                  <a:gd name="T104" fmla="*/ 76 w 89"/>
                  <a:gd name="T105" fmla="*/ 86 h 96"/>
                  <a:gd name="T106" fmla="*/ 86 w 89"/>
                  <a:gd name="T107"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 h="96">
                    <a:moveTo>
                      <a:pt x="86" y="74"/>
                    </a:moveTo>
                    <a:cubicBezTo>
                      <a:pt x="86" y="73"/>
                      <a:pt x="85" y="73"/>
                      <a:pt x="85" y="73"/>
                    </a:cubicBezTo>
                    <a:cubicBezTo>
                      <a:pt x="83" y="70"/>
                      <a:pt x="82" y="69"/>
                      <a:pt x="82" y="68"/>
                    </a:cubicBezTo>
                    <a:cubicBezTo>
                      <a:pt x="83" y="65"/>
                      <a:pt x="85" y="62"/>
                      <a:pt x="86" y="59"/>
                    </a:cubicBezTo>
                    <a:cubicBezTo>
                      <a:pt x="86" y="51"/>
                      <a:pt x="86" y="51"/>
                      <a:pt x="86" y="51"/>
                    </a:cubicBezTo>
                    <a:cubicBezTo>
                      <a:pt x="84" y="52"/>
                      <a:pt x="82" y="52"/>
                      <a:pt x="81" y="53"/>
                    </a:cubicBezTo>
                    <a:cubicBezTo>
                      <a:pt x="80" y="53"/>
                      <a:pt x="80" y="54"/>
                      <a:pt x="80" y="55"/>
                    </a:cubicBezTo>
                    <a:cubicBezTo>
                      <a:pt x="79" y="59"/>
                      <a:pt x="77" y="63"/>
                      <a:pt x="75" y="66"/>
                    </a:cubicBezTo>
                    <a:cubicBezTo>
                      <a:pt x="75" y="67"/>
                      <a:pt x="74" y="68"/>
                      <a:pt x="75" y="69"/>
                    </a:cubicBezTo>
                    <a:cubicBezTo>
                      <a:pt x="75" y="70"/>
                      <a:pt x="75" y="71"/>
                      <a:pt x="78" y="75"/>
                    </a:cubicBezTo>
                    <a:cubicBezTo>
                      <a:pt x="77" y="76"/>
                      <a:pt x="75" y="78"/>
                      <a:pt x="74" y="79"/>
                    </a:cubicBezTo>
                    <a:cubicBezTo>
                      <a:pt x="72" y="77"/>
                      <a:pt x="70" y="76"/>
                      <a:pt x="68" y="75"/>
                    </a:cubicBezTo>
                    <a:cubicBezTo>
                      <a:pt x="67" y="75"/>
                      <a:pt x="66" y="75"/>
                      <a:pt x="65" y="76"/>
                    </a:cubicBezTo>
                    <a:cubicBezTo>
                      <a:pt x="62" y="78"/>
                      <a:pt x="58" y="79"/>
                      <a:pt x="54" y="80"/>
                    </a:cubicBezTo>
                    <a:cubicBezTo>
                      <a:pt x="53" y="81"/>
                      <a:pt x="53" y="81"/>
                      <a:pt x="52" y="82"/>
                    </a:cubicBezTo>
                    <a:cubicBezTo>
                      <a:pt x="51" y="83"/>
                      <a:pt x="51" y="86"/>
                      <a:pt x="50" y="89"/>
                    </a:cubicBezTo>
                    <a:cubicBezTo>
                      <a:pt x="48" y="89"/>
                      <a:pt x="46" y="89"/>
                      <a:pt x="44" y="89"/>
                    </a:cubicBezTo>
                    <a:cubicBezTo>
                      <a:pt x="44" y="86"/>
                      <a:pt x="44" y="83"/>
                      <a:pt x="43" y="82"/>
                    </a:cubicBezTo>
                    <a:cubicBezTo>
                      <a:pt x="42" y="81"/>
                      <a:pt x="41" y="81"/>
                      <a:pt x="40" y="80"/>
                    </a:cubicBezTo>
                    <a:cubicBezTo>
                      <a:pt x="37" y="79"/>
                      <a:pt x="33" y="78"/>
                      <a:pt x="29" y="76"/>
                    </a:cubicBezTo>
                    <a:cubicBezTo>
                      <a:pt x="29" y="75"/>
                      <a:pt x="28" y="75"/>
                      <a:pt x="27" y="75"/>
                    </a:cubicBezTo>
                    <a:cubicBezTo>
                      <a:pt x="25" y="76"/>
                      <a:pt x="23" y="77"/>
                      <a:pt x="21" y="79"/>
                    </a:cubicBezTo>
                    <a:cubicBezTo>
                      <a:pt x="19" y="78"/>
                      <a:pt x="18" y="76"/>
                      <a:pt x="17" y="75"/>
                    </a:cubicBezTo>
                    <a:cubicBezTo>
                      <a:pt x="18" y="73"/>
                      <a:pt x="20" y="70"/>
                      <a:pt x="20" y="69"/>
                    </a:cubicBezTo>
                    <a:cubicBezTo>
                      <a:pt x="20" y="68"/>
                      <a:pt x="20" y="67"/>
                      <a:pt x="20" y="66"/>
                    </a:cubicBezTo>
                    <a:cubicBezTo>
                      <a:pt x="17" y="63"/>
                      <a:pt x="16" y="59"/>
                      <a:pt x="15" y="55"/>
                    </a:cubicBezTo>
                    <a:cubicBezTo>
                      <a:pt x="15" y="54"/>
                      <a:pt x="14" y="53"/>
                      <a:pt x="13" y="53"/>
                    </a:cubicBezTo>
                    <a:cubicBezTo>
                      <a:pt x="12" y="52"/>
                      <a:pt x="9" y="51"/>
                      <a:pt x="7" y="51"/>
                    </a:cubicBezTo>
                    <a:cubicBezTo>
                      <a:pt x="7" y="50"/>
                      <a:pt x="7" y="49"/>
                      <a:pt x="7" y="48"/>
                    </a:cubicBezTo>
                    <a:cubicBezTo>
                      <a:pt x="7" y="47"/>
                      <a:pt x="7" y="46"/>
                      <a:pt x="7" y="45"/>
                    </a:cubicBezTo>
                    <a:cubicBezTo>
                      <a:pt x="10" y="45"/>
                      <a:pt x="12" y="44"/>
                      <a:pt x="13" y="43"/>
                    </a:cubicBezTo>
                    <a:cubicBezTo>
                      <a:pt x="14" y="43"/>
                      <a:pt x="15" y="42"/>
                      <a:pt x="15" y="41"/>
                    </a:cubicBezTo>
                    <a:cubicBezTo>
                      <a:pt x="16" y="37"/>
                      <a:pt x="17" y="34"/>
                      <a:pt x="20" y="30"/>
                    </a:cubicBezTo>
                    <a:cubicBezTo>
                      <a:pt x="20" y="29"/>
                      <a:pt x="20" y="28"/>
                      <a:pt x="20" y="28"/>
                    </a:cubicBezTo>
                    <a:cubicBezTo>
                      <a:pt x="20" y="27"/>
                      <a:pt x="19" y="25"/>
                      <a:pt x="17" y="21"/>
                    </a:cubicBezTo>
                    <a:cubicBezTo>
                      <a:pt x="18" y="20"/>
                      <a:pt x="19" y="19"/>
                      <a:pt x="21" y="17"/>
                    </a:cubicBezTo>
                    <a:cubicBezTo>
                      <a:pt x="23" y="19"/>
                      <a:pt x="25" y="21"/>
                      <a:pt x="27" y="21"/>
                    </a:cubicBezTo>
                    <a:cubicBezTo>
                      <a:pt x="28" y="21"/>
                      <a:pt x="29" y="21"/>
                      <a:pt x="29" y="20"/>
                    </a:cubicBezTo>
                    <a:cubicBezTo>
                      <a:pt x="33" y="18"/>
                      <a:pt x="37" y="17"/>
                      <a:pt x="40" y="16"/>
                    </a:cubicBezTo>
                    <a:cubicBezTo>
                      <a:pt x="41" y="16"/>
                      <a:pt x="42" y="15"/>
                      <a:pt x="43" y="14"/>
                    </a:cubicBezTo>
                    <a:cubicBezTo>
                      <a:pt x="44" y="13"/>
                      <a:pt x="44" y="11"/>
                      <a:pt x="44" y="7"/>
                    </a:cubicBezTo>
                    <a:cubicBezTo>
                      <a:pt x="46" y="7"/>
                      <a:pt x="48" y="7"/>
                      <a:pt x="50" y="7"/>
                    </a:cubicBezTo>
                    <a:cubicBezTo>
                      <a:pt x="51" y="10"/>
                      <a:pt x="51" y="13"/>
                      <a:pt x="52" y="14"/>
                    </a:cubicBezTo>
                    <a:cubicBezTo>
                      <a:pt x="53" y="15"/>
                      <a:pt x="53" y="16"/>
                      <a:pt x="54" y="16"/>
                    </a:cubicBezTo>
                    <a:cubicBezTo>
                      <a:pt x="58" y="17"/>
                      <a:pt x="62" y="18"/>
                      <a:pt x="65" y="20"/>
                    </a:cubicBezTo>
                    <a:cubicBezTo>
                      <a:pt x="66" y="21"/>
                      <a:pt x="67" y="21"/>
                      <a:pt x="68" y="21"/>
                    </a:cubicBezTo>
                    <a:cubicBezTo>
                      <a:pt x="70" y="21"/>
                      <a:pt x="72" y="19"/>
                      <a:pt x="74" y="17"/>
                    </a:cubicBezTo>
                    <a:cubicBezTo>
                      <a:pt x="75" y="19"/>
                      <a:pt x="77" y="20"/>
                      <a:pt x="78" y="21"/>
                    </a:cubicBezTo>
                    <a:cubicBezTo>
                      <a:pt x="75" y="25"/>
                      <a:pt x="75" y="27"/>
                      <a:pt x="75" y="28"/>
                    </a:cubicBezTo>
                    <a:cubicBezTo>
                      <a:pt x="74" y="28"/>
                      <a:pt x="75" y="29"/>
                      <a:pt x="75" y="30"/>
                    </a:cubicBezTo>
                    <a:cubicBezTo>
                      <a:pt x="77" y="34"/>
                      <a:pt x="79" y="37"/>
                      <a:pt x="80" y="41"/>
                    </a:cubicBezTo>
                    <a:cubicBezTo>
                      <a:pt x="80" y="42"/>
                      <a:pt x="80" y="43"/>
                      <a:pt x="81" y="43"/>
                    </a:cubicBezTo>
                    <a:cubicBezTo>
                      <a:pt x="82" y="44"/>
                      <a:pt x="84" y="45"/>
                      <a:pt x="86" y="45"/>
                    </a:cubicBezTo>
                    <a:cubicBezTo>
                      <a:pt x="87" y="43"/>
                      <a:pt x="88" y="40"/>
                      <a:pt x="89" y="38"/>
                    </a:cubicBezTo>
                    <a:cubicBezTo>
                      <a:pt x="88" y="38"/>
                      <a:pt x="87" y="38"/>
                      <a:pt x="86" y="38"/>
                    </a:cubicBezTo>
                    <a:cubicBezTo>
                      <a:pt x="85" y="35"/>
                      <a:pt x="84" y="31"/>
                      <a:pt x="82" y="28"/>
                    </a:cubicBezTo>
                    <a:cubicBezTo>
                      <a:pt x="82" y="27"/>
                      <a:pt x="83" y="26"/>
                      <a:pt x="85" y="24"/>
                    </a:cubicBezTo>
                    <a:cubicBezTo>
                      <a:pt x="86" y="22"/>
                      <a:pt x="86" y="21"/>
                      <a:pt x="85" y="19"/>
                    </a:cubicBezTo>
                    <a:cubicBezTo>
                      <a:pt x="83" y="16"/>
                      <a:pt x="80" y="13"/>
                      <a:pt x="76" y="10"/>
                    </a:cubicBezTo>
                    <a:cubicBezTo>
                      <a:pt x="75" y="9"/>
                      <a:pt x="73" y="9"/>
                      <a:pt x="72" y="10"/>
                    </a:cubicBezTo>
                    <a:cubicBezTo>
                      <a:pt x="71" y="11"/>
                      <a:pt x="71" y="11"/>
                      <a:pt x="71" y="11"/>
                    </a:cubicBezTo>
                    <a:cubicBezTo>
                      <a:pt x="70" y="12"/>
                      <a:pt x="68" y="13"/>
                      <a:pt x="67" y="14"/>
                    </a:cubicBezTo>
                    <a:cubicBezTo>
                      <a:pt x="64" y="12"/>
                      <a:pt x="61" y="11"/>
                      <a:pt x="57" y="10"/>
                    </a:cubicBezTo>
                    <a:cubicBezTo>
                      <a:pt x="57" y="9"/>
                      <a:pt x="57" y="7"/>
                      <a:pt x="57" y="4"/>
                    </a:cubicBezTo>
                    <a:cubicBezTo>
                      <a:pt x="57" y="3"/>
                      <a:pt x="55" y="1"/>
                      <a:pt x="54" y="1"/>
                    </a:cubicBezTo>
                    <a:cubicBezTo>
                      <a:pt x="53" y="1"/>
                      <a:pt x="53" y="1"/>
                      <a:pt x="53" y="1"/>
                    </a:cubicBezTo>
                    <a:cubicBezTo>
                      <a:pt x="49" y="0"/>
                      <a:pt x="45" y="0"/>
                      <a:pt x="42" y="1"/>
                    </a:cubicBezTo>
                    <a:cubicBezTo>
                      <a:pt x="41" y="1"/>
                      <a:pt x="41" y="1"/>
                      <a:pt x="41" y="1"/>
                    </a:cubicBezTo>
                    <a:cubicBezTo>
                      <a:pt x="39" y="1"/>
                      <a:pt x="38" y="3"/>
                      <a:pt x="38" y="4"/>
                    </a:cubicBezTo>
                    <a:cubicBezTo>
                      <a:pt x="38" y="7"/>
                      <a:pt x="37" y="9"/>
                      <a:pt x="37" y="10"/>
                    </a:cubicBezTo>
                    <a:cubicBezTo>
                      <a:pt x="34" y="11"/>
                      <a:pt x="30" y="12"/>
                      <a:pt x="27" y="14"/>
                    </a:cubicBezTo>
                    <a:cubicBezTo>
                      <a:pt x="26" y="13"/>
                      <a:pt x="25" y="12"/>
                      <a:pt x="23" y="11"/>
                    </a:cubicBezTo>
                    <a:cubicBezTo>
                      <a:pt x="23" y="10"/>
                      <a:pt x="23" y="10"/>
                      <a:pt x="23" y="10"/>
                    </a:cubicBezTo>
                    <a:cubicBezTo>
                      <a:pt x="22" y="9"/>
                      <a:pt x="20" y="9"/>
                      <a:pt x="19" y="10"/>
                    </a:cubicBezTo>
                    <a:cubicBezTo>
                      <a:pt x="15" y="13"/>
                      <a:pt x="12" y="16"/>
                      <a:pt x="10" y="19"/>
                    </a:cubicBezTo>
                    <a:cubicBezTo>
                      <a:pt x="9" y="21"/>
                      <a:pt x="9" y="22"/>
                      <a:pt x="10" y="24"/>
                    </a:cubicBezTo>
                    <a:cubicBezTo>
                      <a:pt x="11" y="26"/>
                      <a:pt x="12" y="27"/>
                      <a:pt x="13" y="28"/>
                    </a:cubicBezTo>
                    <a:cubicBezTo>
                      <a:pt x="11" y="31"/>
                      <a:pt x="10" y="35"/>
                      <a:pt x="9" y="38"/>
                    </a:cubicBezTo>
                    <a:cubicBezTo>
                      <a:pt x="8" y="38"/>
                      <a:pt x="6" y="38"/>
                      <a:pt x="3" y="39"/>
                    </a:cubicBezTo>
                    <a:cubicBezTo>
                      <a:pt x="2" y="39"/>
                      <a:pt x="1" y="40"/>
                      <a:pt x="0" y="42"/>
                    </a:cubicBezTo>
                    <a:cubicBezTo>
                      <a:pt x="0" y="42"/>
                      <a:pt x="0" y="42"/>
                      <a:pt x="0" y="42"/>
                    </a:cubicBezTo>
                    <a:cubicBezTo>
                      <a:pt x="0" y="44"/>
                      <a:pt x="0" y="46"/>
                      <a:pt x="0" y="48"/>
                    </a:cubicBezTo>
                    <a:cubicBezTo>
                      <a:pt x="0" y="50"/>
                      <a:pt x="0" y="52"/>
                      <a:pt x="0" y="53"/>
                    </a:cubicBezTo>
                    <a:cubicBezTo>
                      <a:pt x="0" y="55"/>
                      <a:pt x="0" y="55"/>
                      <a:pt x="0" y="55"/>
                    </a:cubicBezTo>
                    <a:cubicBezTo>
                      <a:pt x="1" y="56"/>
                      <a:pt x="2" y="57"/>
                      <a:pt x="4" y="57"/>
                    </a:cubicBezTo>
                    <a:cubicBezTo>
                      <a:pt x="6" y="58"/>
                      <a:pt x="8" y="58"/>
                      <a:pt x="9" y="58"/>
                    </a:cubicBezTo>
                    <a:cubicBezTo>
                      <a:pt x="10" y="62"/>
                      <a:pt x="11" y="65"/>
                      <a:pt x="13" y="68"/>
                    </a:cubicBezTo>
                    <a:cubicBezTo>
                      <a:pt x="12" y="69"/>
                      <a:pt x="11" y="70"/>
                      <a:pt x="10" y="73"/>
                    </a:cubicBezTo>
                    <a:cubicBezTo>
                      <a:pt x="9" y="74"/>
                      <a:pt x="9" y="76"/>
                      <a:pt x="10" y="77"/>
                    </a:cubicBezTo>
                    <a:cubicBezTo>
                      <a:pt x="12" y="80"/>
                      <a:pt x="15" y="83"/>
                      <a:pt x="19" y="86"/>
                    </a:cubicBezTo>
                    <a:cubicBezTo>
                      <a:pt x="20" y="87"/>
                      <a:pt x="22" y="87"/>
                      <a:pt x="23" y="86"/>
                    </a:cubicBezTo>
                    <a:cubicBezTo>
                      <a:pt x="23" y="85"/>
                      <a:pt x="23" y="85"/>
                      <a:pt x="23" y="85"/>
                    </a:cubicBezTo>
                    <a:cubicBezTo>
                      <a:pt x="25" y="84"/>
                      <a:pt x="26" y="83"/>
                      <a:pt x="27" y="82"/>
                    </a:cubicBezTo>
                    <a:cubicBezTo>
                      <a:pt x="30" y="84"/>
                      <a:pt x="34" y="86"/>
                      <a:pt x="37" y="87"/>
                    </a:cubicBezTo>
                    <a:cubicBezTo>
                      <a:pt x="37" y="88"/>
                      <a:pt x="38" y="89"/>
                      <a:pt x="38" y="92"/>
                    </a:cubicBezTo>
                    <a:cubicBezTo>
                      <a:pt x="38" y="94"/>
                      <a:pt x="39" y="95"/>
                      <a:pt x="41" y="95"/>
                    </a:cubicBezTo>
                    <a:cubicBezTo>
                      <a:pt x="42" y="95"/>
                      <a:pt x="42" y="95"/>
                      <a:pt x="42" y="95"/>
                    </a:cubicBezTo>
                    <a:cubicBezTo>
                      <a:pt x="44" y="95"/>
                      <a:pt x="45" y="96"/>
                      <a:pt x="47" y="96"/>
                    </a:cubicBezTo>
                    <a:cubicBezTo>
                      <a:pt x="49" y="96"/>
                      <a:pt x="51" y="95"/>
                      <a:pt x="53" y="95"/>
                    </a:cubicBezTo>
                    <a:cubicBezTo>
                      <a:pt x="54" y="95"/>
                      <a:pt x="54" y="95"/>
                      <a:pt x="54" y="95"/>
                    </a:cubicBezTo>
                    <a:cubicBezTo>
                      <a:pt x="55" y="95"/>
                      <a:pt x="57" y="94"/>
                      <a:pt x="57" y="92"/>
                    </a:cubicBezTo>
                    <a:cubicBezTo>
                      <a:pt x="57" y="89"/>
                      <a:pt x="57" y="87"/>
                      <a:pt x="57" y="87"/>
                    </a:cubicBezTo>
                    <a:cubicBezTo>
                      <a:pt x="61" y="86"/>
                      <a:pt x="64" y="84"/>
                      <a:pt x="67" y="82"/>
                    </a:cubicBezTo>
                    <a:cubicBezTo>
                      <a:pt x="68" y="83"/>
                      <a:pt x="70" y="84"/>
                      <a:pt x="71" y="85"/>
                    </a:cubicBezTo>
                    <a:cubicBezTo>
                      <a:pt x="72" y="86"/>
                      <a:pt x="72" y="86"/>
                      <a:pt x="72" y="86"/>
                    </a:cubicBezTo>
                    <a:cubicBezTo>
                      <a:pt x="73" y="87"/>
                      <a:pt x="75" y="87"/>
                      <a:pt x="76" y="86"/>
                    </a:cubicBezTo>
                    <a:cubicBezTo>
                      <a:pt x="79" y="83"/>
                      <a:pt x="83" y="80"/>
                      <a:pt x="85" y="77"/>
                    </a:cubicBezTo>
                    <a:cubicBezTo>
                      <a:pt x="85" y="77"/>
                      <a:pt x="86" y="76"/>
                      <a:pt x="86" y="76"/>
                    </a:cubicBezTo>
                    <a:lnTo>
                      <a:pt x="86" y="7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100">
                  <a:latin typeface="Verdana" panose="020B0604030504040204" pitchFamily="34" charset="0"/>
                  <a:ea typeface="Verdana" panose="020B0604030504040204" pitchFamily="34" charset="0"/>
                </a:endParaRPr>
              </a:p>
            </p:txBody>
          </p:sp>
        </p:grpSp>
      </p:grpSp>
      <p:sp>
        <p:nvSpPr>
          <p:cNvPr id="119" name="Title 1">
            <a:extLst>
              <a:ext uri="{FF2B5EF4-FFF2-40B4-BE49-F238E27FC236}">
                <a16:creationId xmlns:a16="http://schemas.microsoft.com/office/drawing/2014/main" id="{A20C90CE-2C8A-CBA5-7E95-400C53D3F2AA}"/>
              </a:ext>
            </a:extLst>
          </p:cNvPr>
          <p:cNvSpPr txBox="1">
            <a:spLocks/>
          </p:cNvSpPr>
          <p:nvPr/>
        </p:nvSpPr>
        <p:spPr>
          <a:xfrm>
            <a:off x="478709" y="646298"/>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100" dirty="0">
                <a:solidFill>
                  <a:srgbClr val="575757"/>
                </a:solidFill>
                <a:latin typeface="Verdana" panose="020B0604030504040204" pitchFamily="34" charset="0"/>
                <a:ea typeface="Verdana" panose="020B0604030504040204" pitchFamily="34" charset="0"/>
                <a:cs typeface="+mn-cs"/>
              </a:rPr>
              <a:t>Typical Challenges faced by organizations</a:t>
            </a:r>
          </a:p>
        </p:txBody>
      </p:sp>
    </p:spTree>
    <p:extLst>
      <p:ext uri="{BB962C8B-B14F-4D97-AF65-F5344CB8AC3E}">
        <p14:creationId xmlns:p14="http://schemas.microsoft.com/office/powerpoint/2010/main" val="667643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08470847-0755-7E5F-C6CC-B940DAE6C81E}"/>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itle 4">
            <a:extLst>
              <a:ext uri="{FF2B5EF4-FFF2-40B4-BE49-F238E27FC236}">
                <a16:creationId xmlns:a16="http://schemas.microsoft.com/office/drawing/2014/main" id="{9FA4AEAB-9F06-7516-EDD2-F7C83B48DD6D}"/>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endParaRPr>
          </a:p>
        </p:txBody>
      </p:sp>
      <p:sp>
        <p:nvSpPr>
          <p:cNvPr id="4" name="Title 4">
            <a:extLst>
              <a:ext uri="{FF2B5EF4-FFF2-40B4-BE49-F238E27FC236}">
                <a16:creationId xmlns:a16="http://schemas.microsoft.com/office/drawing/2014/main" id="{54B26DBC-B6D8-2D95-32E2-63DA92597D60}"/>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lang="en-US" sz="1800" b="1">
                <a:solidFill>
                  <a:prstClr val="black"/>
                </a:solidFill>
                <a:latin typeface="Arial" panose="020B0604020202020204" pitchFamily="34" charset="0"/>
                <a:ea typeface="Verdana" panose="020B0604030504040204" pitchFamily="34" charset="0"/>
                <a:cs typeface="Arial" panose="020B0604020202020204" pitchFamily="34" charset="0"/>
              </a:rPr>
              <a:t>Deloitte Global Network</a:t>
            </a:r>
            <a:endParaRPr kumimoji="0" lang="en-US" sz="18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 name="Rounded Rectangle 97">
            <a:extLst>
              <a:ext uri="{FF2B5EF4-FFF2-40B4-BE49-F238E27FC236}">
                <a16:creationId xmlns:a16="http://schemas.microsoft.com/office/drawing/2014/main" id="{3F01C509-28AC-CDA9-ADB4-CBF20B72D127}"/>
              </a:ext>
            </a:extLst>
          </p:cNvPr>
          <p:cNvSpPr/>
          <p:nvPr/>
        </p:nvSpPr>
        <p:spPr>
          <a:xfrm>
            <a:off x="552741" y="1603168"/>
            <a:ext cx="11212833" cy="4633913"/>
          </a:xfrm>
          <a:prstGeom prst="roundRect">
            <a:avLst>
              <a:gd name="adj" fmla="val 3360"/>
            </a:avLst>
          </a:prstGeom>
          <a:noFill/>
          <a:ln w="6350" cap="flat" cmpd="sng" algn="ctr">
            <a:solidFill>
              <a:srgbClr val="75787B">
                <a:lumMod val="40000"/>
                <a:lumOff val="60000"/>
              </a:srgbClr>
            </a:solidFill>
            <a:prstDash val="solid"/>
          </a:ln>
          <a:effectLst/>
        </p:spPr>
        <p:txBody>
          <a:bodyPr lIns="86928" tIns="43463" rIns="86928" bIns="43463" anchor="ctr"/>
          <a:lstStyle/>
          <a:p>
            <a:pPr marL="0" marR="0" lvl="0" indent="0" algn="ctr" defTabSz="780131" rtl="0" eaLnBrk="1" fontAlgn="auto" latinLnBrk="0" hangingPunct="1">
              <a:lnSpc>
                <a:spcPct val="100000"/>
              </a:lnSpc>
              <a:spcBef>
                <a:spcPct val="2000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Calibri"/>
              <a:ea typeface="+mn-ea"/>
              <a:cs typeface="Calibri" panose="020F0502020204030204" pitchFamily="34" charset="0"/>
            </a:endParaRPr>
          </a:p>
        </p:txBody>
      </p:sp>
      <p:sp>
        <p:nvSpPr>
          <p:cNvPr id="6" name="Rectangle 5">
            <a:extLst>
              <a:ext uri="{FF2B5EF4-FFF2-40B4-BE49-F238E27FC236}">
                <a16:creationId xmlns:a16="http://schemas.microsoft.com/office/drawing/2014/main" id="{EFDFD1A4-3FCC-A70A-D66C-1BCA141B3F4F}"/>
              </a:ext>
            </a:extLst>
          </p:cNvPr>
          <p:cNvSpPr/>
          <p:nvPr/>
        </p:nvSpPr>
        <p:spPr>
          <a:xfrm>
            <a:off x="2481898" y="1821370"/>
            <a:ext cx="1844088" cy="892552"/>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430" normalizeH="0" baseline="0" noProof="0">
                <a:ln>
                  <a:noFill/>
                </a:ln>
                <a:solidFill>
                  <a:srgbClr val="62B5E5">
                    <a:lumMod val="75000"/>
                  </a:srgbClr>
                </a:solidFill>
                <a:effectLst/>
                <a:uLnTx/>
                <a:uFillTx/>
                <a:latin typeface="Calibri"/>
                <a:ea typeface="+mn-ea"/>
                <a:cs typeface="Calibri" panose="020F0502020204030204" pitchFamily="34" charset="0"/>
              </a:rPr>
              <a:t>REVENUE</a:t>
            </a:r>
            <a:r>
              <a:rPr kumimoji="0" lang="en-GB" sz="2400" b="0" i="0" u="none" strike="noStrike" kern="1200" cap="none" spc="430" normalizeH="0" baseline="0" noProof="0">
                <a:ln>
                  <a:noFill/>
                </a:ln>
                <a:solidFill>
                  <a:srgbClr val="62B5E5">
                    <a:lumMod val="75000"/>
                  </a:srgbClr>
                </a:solidFill>
                <a:effectLst/>
                <a:uLnTx/>
                <a:uFillTx/>
                <a:latin typeface="Calibri"/>
                <a:ea typeface="+mn-ea"/>
                <a:cs typeface="Calibri" panose="020F0502020204030204" pitchFamily="34" charset="0"/>
              </a:rPr>
              <a:t> </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srgbClr val="62B5E5">
                    <a:lumMod val="75000"/>
                  </a:srgbClr>
                </a:solidFill>
                <a:effectLst/>
                <a:uLnTx/>
                <a:uFillTx/>
                <a:latin typeface="Calibri"/>
                <a:ea typeface="+mn-ea"/>
                <a:cs typeface="Calibri" panose="020F0502020204030204" pitchFamily="34" charset="0"/>
              </a:rPr>
              <a:t>US$</a:t>
            </a:r>
            <a:r>
              <a:rPr lang="en-GB" sz="2800">
                <a:solidFill>
                  <a:srgbClr val="62B5E5">
                    <a:lumMod val="75000"/>
                  </a:srgbClr>
                </a:solidFill>
                <a:latin typeface="Calibri"/>
                <a:cs typeface="Calibri" panose="020F0502020204030204" pitchFamily="34" charset="0"/>
              </a:rPr>
              <a:t>64.9</a:t>
            </a:r>
            <a:r>
              <a:rPr kumimoji="0" lang="en-GB" sz="2800" b="0" i="0" u="none" strike="noStrike" kern="1200" cap="none" spc="0" normalizeH="0" baseline="0" noProof="0">
                <a:ln>
                  <a:noFill/>
                </a:ln>
                <a:solidFill>
                  <a:srgbClr val="62B5E5">
                    <a:lumMod val="75000"/>
                  </a:srgbClr>
                </a:solidFill>
                <a:effectLst/>
                <a:uLnTx/>
                <a:uFillTx/>
                <a:latin typeface="Calibri"/>
                <a:ea typeface="+mn-ea"/>
                <a:cs typeface="Calibri" panose="020F0502020204030204" pitchFamily="34" charset="0"/>
              </a:rPr>
              <a:t>B</a:t>
            </a:r>
          </a:p>
        </p:txBody>
      </p:sp>
      <p:cxnSp>
        <p:nvCxnSpPr>
          <p:cNvPr id="7" name="Elbow Connector 63">
            <a:extLst>
              <a:ext uri="{FF2B5EF4-FFF2-40B4-BE49-F238E27FC236}">
                <a16:creationId xmlns:a16="http://schemas.microsoft.com/office/drawing/2014/main" id="{DF7D0F4B-7399-DCE3-1203-551703B28270}"/>
              </a:ext>
            </a:extLst>
          </p:cNvPr>
          <p:cNvCxnSpPr/>
          <p:nvPr/>
        </p:nvCxnSpPr>
        <p:spPr>
          <a:xfrm rot="10800000">
            <a:off x="2466255" y="1868125"/>
            <a:ext cx="2727186" cy="345482"/>
          </a:xfrm>
          <a:prstGeom prst="bentConnector3">
            <a:avLst>
              <a:gd name="adj1" fmla="val 1817"/>
            </a:avLst>
          </a:prstGeom>
          <a:noFill/>
          <a:ln w="9525" cap="flat" cmpd="sng" algn="ctr">
            <a:solidFill>
              <a:srgbClr val="62B5E5">
                <a:lumMod val="75000"/>
              </a:srgbClr>
            </a:solidFill>
            <a:prstDash val="dash"/>
            <a:tailEnd type="oval"/>
          </a:ln>
          <a:effectLst/>
        </p:spPr>
      </p:cxnSp>
      <p:cxnSp>
        <p:nvCxnSpPr>
          <p:cNvPr id="8" name="Elbow Connector 64">
            <a:extLst>
              <a:ext uri="{FF2B5EF4-FFF2-40B4-BE49-F238E27FC236}">
                <a16:creationId xmlns:a16="http://schemas.microsoft.com/office/drawing/2014/main" id="{F62298C6-AA0F-FB85-B663-C0CA2ACAE1CC}"/>
              </a:ext>
            </a:extLst>
          </p:cNvPr>
          <p:cNvCxnSpPr/>
          <p:nvPr/>
        </p:nvCxnSpPr>
        <p:spPr>
          <a:xfrm flipV="1">
            <a:off x="7020436" y="1860194"/>
            <a:ext cx="2622511" cy="246603"/>
          </a:xfrm>
          <a:prstGeom prst="bentConnector3">
            <a:avLst>
              <a:gd name="adj1" fmla="val 40444"/>
            </a:avLst>
          </a:prstGeom>
          <a:noFill/>
          <a:ln w="9525" cap="flat" cmpd="sng" algn="ctr">
            <a:solidFill>
              <a:srgbClr val="43B02A"/>
            </a:solidFill>
            <a:prstDash val="dash"/>
            <a:tailEnd type="oval"/>
          </a:ln>
          <a:effectLst/>
        </p:spPr>
      </p:cxnSp>
      <p:sp>
        <p:nvSpPr>
          <p:cNvPr id="9" name="Oval 8">
            <a:extLst>
              <a:ext uri="{FF2B5EF4-FFF2-40B4-BE49-F238E27FC236}">
                <a16:creationId xmlns:a16="http://schemas.microsoft.com/office/drawing/2014/main" id="{AF82C8B3-C038-D1E8-1514-9232EFD3FB92}"/>
              </a:ext>
            </a:extLst>
          </p:cNvPr>
          <p:cNvSpPr/>
          <p:nvPr/>
        </p:nvSpPr>
        <p:spPr bwMode="gray">
          <a:xfrm>
            <a:off x="5010733" y="1830914"/>
            <a:ext cx="681624" cy="681624"/>
          </a:xfrm>
          <a:prstGeom prst="ellipse">
            <a:avLst/>
          </a:prstGeom>
          <a:solidFill>
            <a:srgbClr val="DDEFE8"/>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Calibri"/>
              <a:ea typeface="+mn-ea"/>
              <a:cs typeface="Calibri" panose="020F0502020204030204" pitchFamily="34" charset="0"/>
            </a:endParaRPr>
          </a:p>
        </p:txBody>
      </p:sp>
      <p:sp>
        <p:nvSpPr>
          <p:cNvPr id="10" name="Oval 9">
            <a:extLst>
              <a:ext uri="{FF2B5EF4-FFF2-40B4-BE49-F238E27FC236}">
                <a16:creationId xmlns:a16="http://schemas.microsoft.com/office/drawing/2014/main" id="{8DFC6A88-86A8-FEBE-A680-E79EF1F5A5FA}"/>
              </a:ext>
            </a:extLst>
          </p:cNvPr>
          <p:cNvSpPr/>
          <p:nvPr/>
        </p:nvSpPr>
        <p:spPr bwMode="gray">
          <a:xfrm>
            <a:off x="6590571" y="1964071"/>
            <a:ext cx="681624" cy="681624"/>
          </a:xfrm>
          <a:prstGeom prst="ellipse">
            <a:avLst/>
          </a:prstGeom>
          <a:solidFill>
            <a:srgbClr val="86BC25">
              <a:lumMod val="20000"/>
              <a:lumOff val="80000"/>
            </a:srgb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1" name="Oval 10">
            <a:extLst>
              <a:ext uri="{FF2B5EF4-FFF2-40B4-BE49-F238E27FC236}">
                <a16:creationId xmlns:a16="http://schemas.microsoft.com/office/drawing/2014/main" id="{E528D860-0AE1-4F46-BF19-5CB5E4D7ED26}"/>
              </a:ext>
            </a:extLst>
          </p:cNvPr>
          <p:cNvSpPr/>
          <p:nvPr/>
        </p:nvSpPr>
        <p:spPr bwMode="gray">
          <a:xfrm>
            <a:off x="7212884" y="3184941"/>
            <a:ext cx="681624" cy="681624"/>
          </a:xfrm>
          <a:prstGeom prst="ellipse">
            <a:avLst/>
          </a:prstGeom>
          <a:solidFill>
            <a:srgbClr val="E9EAEB"/>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Calibri"/>
              <a:ea typeface="+mn-ea"/>
              <a:cs typeface="Calibri" panose="020F0502020204030204" pitchFamily="34" charset="0"/>
            </a:endParaRPr>
          </a:p>
        </p:txBody>
      </p:sp>
      <p:sp>
        <p:nvSpPr>
          <p:cNvPr id="12" name="Oval 11">
            <a:extLst>
              <a:ext uri="{FF2B5EF4-FFF2-40B4-BE49-F238E27FC236}">
                <a16:creationId xmlns:a16="http://schemas.microsoft.com/office/drawing/2014/main" id="{A10B77AD-F363-7EA9-389B-74E4D3412739}"/>
              </a:ext>
            </a:extLst>
          </p:cNvPr>
          <p:cNvSpPr/>
          <p:nvPr/>
        </p:nvSpPr>
        <p:spPr bwMode="gray">
          <a:xfrm>
            <a:off x="6970472" y="4192133"/>
            <a:ext cx="681624" cy="681624"/>
          </a:xfrm>
          <a:prstGeom prst="ellipse">
            <a:avLst/>
          </a:prstGeom>
          <a:solidFill>
            <a:srgbClr val="E9EAEB"/>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Calibri"/>
              <a:ea typeface="+mn-ea"/>
              <a:cs typeface="Calibri" panose="020F0502020204030204" pitchFamily="34" charset="0"/>
            </a:endParaRPr>
          </a:p>
        </p:txBody>
      </p:sp>
      <p:sp>
        <p:nvSpPr>
          <p:cNvPr id="13" name="Oval 12">
            <a:extLst>
              <a:ext uri="{FF2B5EF4-FFF2-40B4-BE49-F238E27FC236}">
                <a16:creationId xmlns:a16="http://schemas.microsoft.com/office/drawing/2014/main" id="{29006426-C5C9-4F1F-2E48-51B145D94862}"/>
              </a:ext>
            </a:extLst>
          </p:cNvPr>
          <p:cNvSpPr/>
          <p:nvPr/>
        </p:nvSpPr>
        <p:spPr bwMode="gray">
          <a:xfrm>
            <a:off x="5774349" y="4674985"/>
            <a:ext cx="681624" cy="681624"/>
          </a:xfrm>
          <a:prstGeom prst="ellipse">
            <a:avLst/>
          </a:prstGeom>
          <a:solidFill>
            <a:srgbClr val="62B5E5">
              <a:lumMod val="20000"/>
              <a:lumOff val="80000"/>
            </a:srgb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4" name="Oval 13">
            <a:extLst>
              <a:ext uri="{FF2B5EF4-FFF2-40B4-BE49-F238E27FC236}">
                <a16:creationId xmlns:a16="http://schemas.microsoft.com/office/drawing/2014/main" id="{323EA4DB-044A-9F0C-4928-914BC8559A64}"/>
              </a:ext>
            </a:extLst>
          </p:cNvPr>
          <p:cNvSpPr/>
          <p:nvPr/>
        </p:nvSpPr>
        <p:spPr bwMode="gray">
          <a:xfrm>
            <a:off x="4579685" y="4293042"/>
            <a:ext cx="681624" cy="681624"/>
          </a:xfrm>
          <a:prstGeom prst="ellipse">
            <a:avLst/>
          </a:prstGeom>
          <a:solidFill>
            <a:srgbClr val="86BC25">
              <a:lumMod val="20000"/>
              <a:lumOff val="80000"/>
            </a:srgb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15" name="Oval 14">
            <a:extLst>
              <a:ext uri="{FF2B5EF4-FFF2-40B4-BE49-F238E27FC236}">
                <a16:creationId xmlns:a16="http://schemas.microsoft.com/office/drawing/2014/main" id="{CA829BBD-B988-C21B-B3B4-C603A7AA5AEA}"/>
              </a:ext>
            </a:extLst>
          </p:cNvPr>
          <p:cNvSpPr/>
          <p:nvPr/>
        </p:nvSpPr>
        <p:spPr bwMode="gray">
          <a:xfrm>
            <a:off x="4218038" y="2968015"/>
            <a:ext cx="681624" cy="681624"/>
          </a:xfrm>
          <a:prstGeom prst="ellipse">
            <a:avLst/>
          </a:prstGeom>
          <a:solidFill>
            <a:srgbClr val="53565A">
              <a:lumMod val="20000"/>
              <a:lumOff val="80000"/>
            </a:srgb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Calibri" panose="020F0502020204030204" pitchFamily="34" charset="0"/>
            </a:endParaRPr>
          </a:p>
        </p:txBody>
      </p:sp>
      <p:pic>
        <p:nvPicPr>
          <p:cNvPr id="16" name="Picture 15">
            <a:extLst>
              <a:ext uri="{FF2B5EF4-FFF2-40B4-BE49-F238E27FC236}">
                <a16:creationId xmlns:a16="http://schemas.microsoft.com/office/drawing/2014/main" id="{7AE3AC97-FEE6-BB3A-EB97-4B0EF710337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157178" y="1717677"/>
            <a:ext cx="3892947" cy="3792093"/>
          </a:xfrm>
          <a:prstGeom prst="rect">
            <a:avLst/>
          </a:prstGeom>
          <a:noFill/>
          <a:ln>
            <a:noFill/>
          </a:ln>
        </p:spPr>
      </p:pic>
      <p:sp>
        <p:nvSpPr>
          <p:cNvPr id="17" name="Rectangle 16">
            <a:extLst>
              <a:ext uri="{FF2B5EF4-FFF2-40B4-BE49-F238E27FC236}">
                <a16:creationId xmlns:a16="http://schemas.microsoft.com/office/drawing/2014/main" id="{0C514DBE-78A9-6950-58BB-7A8E0EF5CBDF}"/>
              </a:ext>
            </a:extLst>
          </p:cNvPr>
          <p:cNvSpPr/>
          <p:nvPr/>
        </p:nvSpPr>
        <p:spPr>
          <a:xfrm>
            <a:off x="8819005" y="2930419"/>
            <a:ext cx="2462117" cy="707886"/>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12169"/>
                </a:solidFill>
                <a:effectLst/>
                <a:uLnTx/>
                <a:uFillTx/>
                <a:latin typeface="Calibri"/>
                <a:ea typeface="+mn-ea"/>
                <a:cs typeface="Calibri" panose="020F0502020204030204" pitchFamily="34" charset="0"/>
              </a:rPr>
              <a:t>COUNTRIES AND TERRITORIES</a:t>
            </a:r>
            <a:endParaRPr kumimoji="0" lang="en-GB" sz="2400" b="0" i="0" u="none" strike="noStrike" kern="1200" cap="none" spc="0" normalizeH="0" baseline="0" noProof="0">
              <a:ln>
                <a:noFill/>
              </a:ln>
              <a:solidFill>
                <a:srgbClr val="012169"/>
              </a:solidFill>
              <a:effectLst/>
              <a:uLnTx/>
              <a:uFillTx/>
              <a:latin typeface="Calibri"/>
              <a:ea typeface="+mn-ea"/>
              <a:cs typeface="Calibri" panose="020F0502020204030204" pitchFamily="34" charset="0"/>
            </a:endParaRP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srgbClr val="012169"/>
                </a:solidFill>
                <a:effectLst/>
                <a:uLnTx/>
                <a:uFillTx/>
                <a:latin typeface="Calibri"/>
                <a:ea typeface="+mn-ea"/>
                <a:cs typeface="Calibri" panose="020F0502020204030204" pitchFamily="34" charset="0"/>
              </a:rPr>
              <a:t>150+</a:t>
            </a:r>
          </a:p>
        </p:txBody>
      </p:sp>
      <p:sp>
        <p:nvSpPr>
          <p:cNvPr id="18" name="Rectangle 17">
            <a:extLst>
              <a:ext uri="{FF2B5EF4-FFF2-40B4-BE49-F238E27FC236}">
                <a16:creationId xmlns:a16="http://schemas.microsoft.com/office/drawing/2014/main" id="{4DE8FD81-80B3-7786-3067-99D25D0FBEBD}"/>
              </a:ext>
            </a:extLst>
          </p:cNvPr>
          <p:cNvSpPr/>
          <p:nvPr/>
        </p:nvSpPr>
        <p:spPr>
          <a:xfrm>
            <a:off x="1405757" y="4821657"/>
            <a:ext cx="3270621" cy="892552"/>
          </a:xfrm>
          <a:prstGeom prst="rect">
            <a:avLst/>
          </a:prstGeom>
        </p:spPr>
        <p:txBody>
          <a:bodyPr wrap="square" lIns="0" rIns="0">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46A38"/>
                </a:solidFill>
                <a:effectLst/>
                <a:uLnTx/>
                <a:uFillTx/>
                <a:latin typeface="Calibri"/>
                <a:ea typeface="+mn-ea"/>
                <a:cs typeface="Calibri" panose="020F0502020204030204" pitchFamily="34" charset="0"/>
              </a:rPr>
              <a:t>DELOITTE PROFESSIONALS WHO EXPERIENCED DELOITTE UNIVERSITY</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srgbClr val="046A38"/>
                </a:solidFill>
                <a:effectLst/>
                <a:uLnTx/>
                <a:uFillTx/>
                <a:latin typeface="Calibri"/>
                <a:ea typeface="+mn-ea"/>
                <a:cs typeface="Calibri" panose="020F0502020204030204" pitchFamily="34" charset="0"/>
              </a:rPr>
              <a:t>114,000+</a:t>
            </a:r>
          </a:p>
        </p:txBody>
      </p:sp>
      <p:sp>
        <p:nvSpPr>
          <p:cNvPr id="19" name="Rectangle 18">
            <a:extLst>
              <a:ext uri="{FF2B5EF4-FFF2-40B4-BE49-F238E27FC236}">
                <a16:creationId xmlns:a16="http://schemas.microsoft.com/office/drawing/2014/main" id="{29DAD056-A0D9-0747-A92A-54A47D8F4A98}"/>
              </a:ext>
            </a:extLst>
          </p:cNvPr>
          <p:cNvSpPr/>
          <p:nvPr/>
        </p:nvSpPr>
        <p:spPr>
          <a:xfrm>
            <a:off x="8746748" y="4113775"/>
            <a:ext cx="2054798" cy="892552"/>
          </a:xfrm>
          <a:prstGeom prst="rect">
            <a:avLst/>
          </a:prstGeom>
          <a:solidFill>
            <a:srgbClr val="FFFFFF"/>
          </a:solidFill>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62B5E5">
                    <a:lumMod val="50000"/>
                  </a:srgbClr>
                </a:solidFill>
                <a:effectLst/>
                <a:uLnTx/>
                <a:uFillTx/>
                <a:latin typeface="Calibri"/>
                <a:ea typeface="+mn-ea"/>
                <a:cs typeface="Calibri" panose="020F0502020204030204" pitchFamily="34" charset="0"/>
              </a:rPr>
              <a:t>SOCIETAL IMPACT CONTRIBUTIONS</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srgbClr val="62B5E5">
                    <a:lumMod val="50000"/>
                  </a:srgbClr>
                </a:solidFill>
                <a:effectLst/>
                <a:uLnTx/>
                <a:uFillTx/>
                <a:latin typeface="Calibri"/>
                <a:ea typeface="+mn-ea"/>
                <a:cs typeface="Calibri" panose="020F0502020204030204" pitchFamily="34" charset="0"/>
              </a:rPr>
              <a:t>US$284M+</a:t>
            </a:r>
          </a:p>
        </p:txBody>
      </p:sp>
      <p:sp>
        <p:nvSpPr>
          <p:cNvPr id="20" name="Rectangle 19">
            <a:extLst>
              <a:ext uri="{FF2B5EF4-FFF2-40B4-BE49-F238E27FC236}">
                <a16:creationId xmlns:a16="http://schemas.microsoft.com/office/drawing/2014/main" id="{7B5EE2DA-222B-7A93-9274-225B8A7990F4}"/>
              </a:ext>
            </a:extLst>
          </p:cNvPr>
          <p:cNvSpPr/>
          <p:nvPr/>
        </p:nvSpPr>
        <p:spPr>
          <a:xfrm>
            <a:off x="6867720" y="5221766"/>
            <a:ext cx="1371952" cy="707886"/>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97A9"/>
                </a:solidFill>
                <a:effectLst/>
                <a:uLnTx/>
                <a:uFillTx/>
                <a:latin typeface="Calibri"/>
                <a:ea typeface="+mn-ea"/>
                <a:cs typeface="Calibri" panose="020F0502020204030204" pitchFamily="34" charset="0"/>
              </a:rPr>
              <a:t>NEW HIRES</a:t>
            </a:r>
          </a:p>
          <a:p>
            <a:pPr marL="0" marR="0" lvl="0" indent="0" algn="l" defTabSz="1042873" rtl="0" eaLnBrk="1" fontAlgn="auto" latinLnBrk="0" hangingPunct="1">
              <a:lnSpc>
                <a:spcPct val="100000"/>
              </a:lnSpc>
              <a:spcBef>
                <a:spcPts val="0"/>
              </a:spcBef>
              <a:spcAft>
                <a:spcPts val="0"/>
              </a:spcAft>
              <a:buClrTx/>
              <a:buSzTx/>
              <a:buFontTx/>
              <a:buNone/>
              <a:tabLst/>
              <a:defRPr/>
            </a:pPr>
            <a:r>
              <a:rPr lang="en-GB" sz="2800">
                <a:solidFill>
                  <a:srgbClr val="0097A9"/>
                </a:solidFill>
                <a:latin typeface="Calibri"/>
                <a:cs typeface="Calibri" panose="020F0502020204030204" pitchFamily="34" charset="0"/>
              </a:rPr>
              <a:t>156,430</a:t>
            </a:r>
            <a:endParaRPr kumimoji="0" lang="en-GB" sz="2800" b="0" i="0" u="none" strike="noStrike" kern="1200" cap="none" spc="0" normalizeH="0" baseline="0" noProof="0">
              <a:ln>
                <a:noFill/>
              </a:ln>
              <a:solidFill>
                <a:srgbClr val="0097A9"/>
              </a:solidFill>
              <a:effectLst/>
              <a:uLnTx/>
              <a:uFillTx/>
              <a:latin typeface="Calibri"/>
              <a:ea typeface="+mn-ea"/>
              <a:cs typeface="Calibri" panose="020F0502020204030204" pitchFamily="34" charset="0"/>
            </a:endParaRPr>
          </a:p>
        </p:txBody>
      </p:sp>
      <p:sp>
        <p:nvSpPr>
          <p:cNvPr id="21" name="Rectangle 20">
            <a:extLst>
              <a:ext uri="{FF2B5EF4-FFF2-40B4-BE49-F238E27FC236}">
                <a16:creationId xmlns:a16="http://schemas.microsoft.com/office/drawing/2014/main" id="{7B3D5EAF-F105-03AE-E80E-35E357BB1BF6}"/>
              </a:ext>
            </a:extLst>
          </p:cNvPr>
          <p:cNvSpPr/>
          <p:nvPr/>
        </p:nvSpPr>
        <p:spPr>
          <a:xfrm>
            <a:off x="5481275" y="3238196"/>
            <a:ext cx="1358149" cy="738664"/>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Calibri" panose="020F0502020204030204" pitchFamily="34" charset="0"/>
              </a:rPr>
              <a:t>DELOITTE </a:t>
            </a:r>
            <a:r>
              <a:rPr kumimoji="0" lang="en-US" sz="2400" b="1" i="0" u="none" strike="noStrike" kern="1200" cap="none" spc="0" normalizeH="0" baseline="0" noProof="0">
                <a:ln>
                  <a:noFill/>
                </a:ln>
                <a:solidFill>
                  <a:prstClr val="black"/>
                </a:solidFill>
                <a:effectLst/>
                <a:uLnTx/>
                <a:uFillTx/>
                <a:latin typeface="Calibri"/>
                <a:ea typeface="+mn-ea"/>
                <a:cs typeface="Calibri" panose="020F0502020204030204" pitchFamily="34" charset="0"/>
              </a:rPr>
              <a:t>FY2023</a:t>
            </a:r>
          </a:p>
        </p:txBody>
      </p:sp>
      <p:cxnSp>
        <p:nvCxnSpPr>
          <p:cNvPr id="22" name="Elbow Connector 90">
            <a:extLst>
              <a:ext uri="{FF2B5EF4-FFF2-40B4-BE49-F238E27FC236}">
                <a16:creationId xmlns:a16="http://schemas.microsoft.com/office/drawing/2014/main" id="{DE9772FF-C8F1-3217-F6BE-FA3116D6641A}"/>
              </a:ext>
            </a:extLst>
          </p:cNvPr>
          <p:cNvCxnSpPr/>
          <p:nvPr/>
        </p:nvCxnSpPr>
        <p:spPr>
          <a:xfrm rot="10800000" flipV="1">
            <a:off x="1292081" y="4840888"/>
            <a:ext cx="3384299" cy="780987"/>
          </a:xfrm>
          <a:prstGeom prst="bentConnector3">
            <a:avLst>
              <a:gd name="adj1" fmla="val -35"/>
            </a:avLst>
          </a:prstGeom>
          <a:noFill/>
          <a:ln w="9525" cap="flat" cmpd="sng" algn="ctr">
            <a:solidFill>
              <a:srgbClr val="046A38"/>
            </a:solidFill>
            <a:prstDash val="dash"/>
            <a:tailEnd type="oval"/>
          </a:ln>
          <a:effectLst/>
        </p:spPr>
      </p:cxnSp>
      <p:cxnSp>
        <p:nvCxnSpPr>
          <p:cNvPr id="23" name="Elbow Connector 91">
            <a:extLst>
              <a:ext uri="{FF2B5EF4-FFF2-40B4-BE49-F238E27FC236}">
                <a16:creationId xmlns:a16="http://schemas.microsoft.com/office/drawing/2014/main" id="{016A422F-D573-792D-77A8-01511CCBF2F9}"/>
              </a:ext>
            </a:extLst>
          </p:cNvPr>
          <p:cNvCxnSpPr/>
          <p:nvPr/>
        </p:nvCxnSpPr>
        <p:spPr>
          <a:xfrm flipV="1">
            <a:off x="7957063" y="2881211"/>
            <a:ext cx="3202294" cy="699652"/>
          </a:xfrm>
          <a:prstGeom prst="bentConnector3">
            <a:avLst>
              <a:gd name="adj1" fmla="val 25676"/>
            </a:avLst>
          </a:prstGeom>
          <a:noFill/>
          <a:ln w="9525" cap="flat" cmpd="sng" algn="ctr">
            <a:solidFill>
              <a:srgbClr val="012169"/>
            </a:solidFill>
            <a:prstDash val="dash"/>
            <a:tailEnd type="oval"/>
          </a:ln>
          <a:effectLst/>
        </p:spPr>
      </p:cxnSp>
      <p:cxnSp>
        <p:nvCxnSpPr>
          <p:cNvPr id="24" name="Elbow Connector 92">
            <a:extLst>
              <a:ext uri="{FF2B5EF4-FFF2-40B4-BE49-F238E27FC236}">
                <a16:creationId xmlns:a16="http://schemas.microsoft.com/office/drawing/2014/main" id="{2441D808-DCFB-89DE-174D-B0FCCD9144A7}"/>
              </a:ext>
            </a:extLst>
          </p:cNvPr>
          <p:cNvCxnSpPr/>
          <p:nvPr/>
        </p:nvCxnSpPr>
        <p:spPr>
          <a:xfrm>
            <a:off x="6124742" y="5440105"/>
            <a:ext cx="2009742" cy="411931"/>
          </a:xfrm>
          <a:prstGeom prst="bentConnector3">
            <a:avLst>
              <a:gd name="adj1" fmla="val 794"/>
            </a:avLst>
          </a:prstGeom>
          <a:noFill/>
          <a:ln w="9525" cap="flat" cmpd="sng" algn="ctr">
            <a:solidFill>
              <a:srgbClr val="0097A9"/>
            </a:solidFill>
            <a:prstDash val="dash"/>
            <a:tailEnd type="oval"/>
          </a:ln>
          <a:effectLst/>
        </p:spPr>
      </p:cxnSp>
      <p:sp>
        <p:nvSpPr>
          <p:cNvPr id="25" name="Rectangle 24">
            <a:extLst>
              <a:ext uri="{FF2B5EF4-FFF2-40B4-BE49-F238E27FC236}">
                <a16:creationId xmlns:a16="http://schemas.microsoft.com/office/drawing/2014/main" id="{20D2B42D-CE71-EB3D-1DC4-6CFA5F808375}"/>
              </a:ext>
            </a:extLst>
          </p:cNvPr>
          <p:cNvSpPr/>
          <p:nvPr/>
        </p:nvSpPr>
        <p:spPr>
          <a:xfrm>
            <a:off x="8134484" y="1909376"/>
            <a:ext cx="1485237" cy="707886"/>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43B02A"/>
                </a:solidFill>
                <a:effectLst/>
                <a:uLnTx/>
                <a:uFillTx/>
                <a:latin typeface="Calibri"/>
                <a:ea typeface="+mn-ea"/>
                <a:cs typeface="Calibri" panose="020F0502020204030204" pitchFamily="34" charset="0"/>
              </a:rPr>
              <a:t>HEADCOUNT</a:t>
            </a:r>
          </a:p>
          <a:p>
            <a:pPr marL="0" marR="0" lvl="0" indent="0" algn="l" defTabSz="1042873" rtl="0" eaLnBrk="1" fontAlgn="auto" latinLnBrk="0" hangingPunct="1">
              <a:lnSpc>
                <a:spcPct val="100000"/>
              </a:lnSpc>
              <a:spcBef>
                <a:spcPts val="0"/>
              </a:spcBef>
              <a:spcAft>
                <a:spcPts val="0"/>
              </a:spcAft>
              <a:buClrTx/>
              <a:buSzTx/>
              <a:buFontTx/>
              <a:buNone/>
              <a:tabLst/>
              <a:defRPr/>
            </a:pPr>
            <a:r>
              <a:rPr lang="en-GB" sz="2800">
                <a:solidFill>
                  <a:srgbClr val="43B02A"/>
                </a:solidFill>
                <a:latin typeface="Calibri"/>
                <a:cs typeface="Calibri" panose="020F0502020204030204" pitchFamily="34" charset="0"/>
              </a:rPr>
              <a:t>457,000</a:t>
            </a:r>
            <a:endParaRPr kumimoji="0" lang="en-GB" sz="2800" b="0" i="0" u="none" strike="noStrike" kern="1200" cap="none" spc="0" normalizeH="0" baseline="0" noProof="0">
              <a:ln>
                <a:noFill/>
              </a:ln>
              <a:solidFill>
                <a:srgbClr val="43B02A"/>
              </a:solidFill>
              <a:effectLst/>
              <a:uLnTx/>
              <a:uFillTx/>
              <a:latin typeface="Calibri"/>
              <a:ea typeface="+mn-ea"/>
              <a:cs typeface="Calibri" panose="020F0502020204030204" pitchFamily="34" charset="0"/>
            </a:endParaRPr>
          </a:p>
        </p:txBody>
      </p:sp>
      <p:cxnSp>
        <p:nvCxnSpPr>
          <p:cNvPr id="26" name="Elbow Connector 94">
            <a:extLst>
              <a:ext uri="{FF2B5EF4-FFF2-40B4-BE49-F238E27FC236}">
                <a16:creationId xmlns:a16="http://schemas.microsoft.com/office/drawing/2014/main" id="{CA3B7DEA-0347-8DF5-C145-CCAC4345A163}"/>
              </a:ext>
            </a:extLst>
          </p:cNvPr>
          <p:cNvCxnSpPr/>
          <p:nvPr/>
        </p:nvCxnSpPr>
        <p:spPr>
          <a:xfrm>
            <a:off x="7580882" y="4625926"/>
            <a:ext cx="2988000" cy="321259"/>
          </a:xfrm>
          <a:prstGeom prst="bentConnector3">
            <a:avLst>
              <a:gd name="adj1" fmla="val 38131"/>
            </a:avLst>
          </a:prstGeom>
          <a:noFill/>
          <a:ln w="9525" cap="flat" cmpd="sng" algn="ctr">
            <a:solidFill>
              <a:srgbClr val="62B5E5">
                <a:lumMod val="50000"/>
              </a:srgbClr>
            </a:solidFill>
            <a:prstDash val="dash"/>
            <a:tailEnd type="oval"/>
          </a:ln>
          <a:effectLst/>
        </p:spPr>
      </p:cxnSp>
      <p:cxnSp>
        <p:nvCxnSpPr>
          <p:cNvPr id="27" name="Elbow Connector 95">
            <a:extLst>
              <a:ext uri="{FF2B5EF4-FFF2-40B4-BE49-F238E27FC236}">
                <a16:creationId xmlns:a16="http://schemas.microsoft.com/office/drawing/2014/main" id="{08AB1F12-9B8F-B834-C760-9BE42C7AA2F7}"/>
              </a:ext>
            </a:extLst>
          </p:cNvPr>
          <p:cNvCxnSpPr/>
          <p:nvPr/>
        </p:nvCxnSpPr>
        <p:spPr>
          <a:xfrm rot="10800000" flipV="1">
            <a:off x="2911547" y="3578964"/>
            <a:ext cx="1326550" cy="575989"/>
          </a:xfrm>
          <a:prstGeom prst="bentConnector3">
            <a:avLst>
              <a:gd name="adj1" fmla="val 99414"/>
            </a:avLst>
          </a:prstGeom>
          <a:noFill/>
          <a:ln w="9525" cap="flat" cmpd="sng" algn="ctr">
            <a:solidFill>
              <a:srgbClr val="75787B"/>
            </a:solidFill>
            <a:prstDash val="dash"/>
            <a:tailEnd type="oval"/>
          </a:ln>
          <a:effectLst/>
        </p:spPr>
      </p:cxnSp>
      <p:sp>
        <p:nvSpPr>
          <p:cNvPr id="28" name="Rectangle 27">
            <a:extLst>
              <a:ext uri="{FF2B5EF4-FFF2-40B4-BE49-F238E27FC236}">
                <a16:creationId xmlns:a16="http://schemas.microsoft.com/office/drawing/2014/main" id="{33D94DC3-FCBE-A40B-B912-570A200B6322}"/>
              </a:ext>
            </a:extLst>
          </p:cNvPr>
          <p:cNvSpPr/>
          <p:nvPr/>
        </p:nvSpPr>
        <p:spPr>
          <a:xfrm>
            <a:off x="2911547" y="3607967"/>
            <a:ext cx="984790" cy="707886"/>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53565A"/>
                </a:solidFill>
                <a:effectLst/>
                <a:uLnTx/>
                <a:uFillTx/>
                <a:latin typeface="Calibri"/>
                <a:ea typeface="+mn-ea"/>
                <a:cs typeface="Calibri" panose="020F0502020204030204" pitchFamily="34" charset="0"/>
              </a:rPr>
              <a:t>OFFICES</a:t>
            </a:r>
          </a:p>
          <a:p>
            <a:pPr marL="0" marR="0" lvl="0" indent="0" algn="ctr" defTabSz="1042873" rtl="0" eaLnBrk="1" fontAlgn="auto" latinLnBrk="0" hangingPunct="1">
              <a:lnSpc>
                <a:spcPct val="100000"/>
              </a:lnSpc>
              <a:spcBef>
                <a:spcPts val="0"/>
              </a:spcBef>
              <a:spcAft>
                <a:spcPts val="0"/>
              </a:spcAft>
              <a:buClrTx/>
              <a:buSzTx/>
              <a:buFontTx/>
              <a:buNone/>
              <a:tabLst/>
              <a:defRPr/>
            </a:pPr>
            <a:r>
              <a:rPr lang="en-GB" sz="2800">
                <a:solidFill>
                  <a:srgbClr val="53565A"/>
                </a:solidFill>
                <a:latin typeface="Calibri"/>
                <a:cs typeface="Calibri" panose="020F0502020204030204" pitchFamily="34" charset="0"/>
              </a:rPr>
              <a:t>700</a:t>
            </a:r>
            <a:endParaRPr kumimoji="0" lang="en-GB" sz="2800" b="0" i="0" u="none" strike="noStrike" kern="1200" cap="none" spc="0" normalizeH="0" baseline="0" noProof="0">
              <a:ln>
                <a:noFill/>
              </a:ln>
              <a:solidFill>
                <a:srgbClr val="53565A"/>
              </a:solidFill>
              <a:effectLst/>
              <a:uLnTx/>
              <a:uFillTx/>
              <a:latin typeface="Calibri"/>
              <a:ea typeface="+mn-ea"/>
              <a:cs typeface="Calibri" panose="020F0502020204030204" pitchFamily="34" charset="0"/>
            </a:endParaRPr>
          </a:p>
        </p:txBody>
      </p:sp>
      <p:sp>
        <p:nvSpPr>
          <p:cNvPr id="29" name="Rectangle 28">
            <a:extLst>
              <a:ext uri="{FF2B5EF4-FFF2-40B4-BE49-F238E27FC236}">
                <a16:creationId xmlns:a16="http://schemas.microsoft.com/office/drawing/2014/main" id="{41F89F3D-C09F-0691-0A30-209C170CDECD}"/>
              </a:ext>
            </a:extLst>
          </p:cNvPr>
          <p:cNvSpPr/>
          <p:nvPr/>
        </p:nvSpPr>
        <p:spPr>
          <a:xfrm>
            <a:off x="2258560" y="5934551"/>
            <a:ext cx="7900197" cy="276999"/>
          </a:xfrm>
          <a:prstGeom prst="rect">
            <a:avLst/>
          </a:prstGeom>
          <a:solidFill>
            <a:srgbClr val="007680"/>
          </a:solidFill>
        </p:spPr>
        <p:txBody>
          <a:bodyPr wrap="square" lIns="324000" rIns="36000">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290436" rtl="0" eaLnBrk="0" fontAlgn="auto" latinLnBrk="0" hangingPunct="0">
              <a:lnSpc>
                <a:spcPct val="100000"/>
              </a:lnSpc>
              <a:spcBef>
                <a:spcPts val="0"/>
              </a:spcBef>
              <a:spcAft>
                <a:spcPts val="0"/>
              </a:spcAft>
              <a:buClrTx/>
              <a:buSzTx/>
              <a:buFontTx/>
              <a:buNone/>
              <a:tabLst/>
              <a:defRPr/>
            </a:pPr>
            <a:r>
              <a:rPr kumimoji="0" lang="en-US" sz="1200" b="0" i="0" u="none" strike="noStrike" kern="1200" cap="none" spc="200" normalizeH="0" baseline="0" noProof="0">
                <a:ln>
                  <a:noFill/>
                </a:ln>
                <a:solidFill>
                  <a:prstClr val="white"/>
                </a:solidFill>
                <a:effectLst/>
                <a:uLnTx/>
                <a:uFillTx/>
                <a:latin typeface="Calibri"/>
                <a:ea typeface="+mn-ea"/>
                <a:cs typeface="Calibri" panose="020F0502020204030204" pitchFamily="34" charset="0"/>
              </a:rPr>
              <a:t>Deloitte member firms serve 84% of the 2021 Fortune 500 companies</a:t>
            </a:r>
          </a:p>
        </p:txBody>
      </p:sp>
      <p:grpSp>
        <p:nvGrpSpPr>
          <p:cNvPr id="30" name="Group 29">
            <a:extLst>
              <a:ext uri="{FF2B5EF4-FFF2-40B4-BE49-F238E27FC236}">
                <a16:creationId xmlns:a16="http://schemas.microsoft.com/office/drawing/2014/main" id="{EB6A1438-3942-89B2-6369-3144EBAFA57E}"/>
              </a:ext>
            </a:extLst>
          </p:cNvPr>
          <p:cNvGrpSpPr/>
          <p:nvPr/>
        </p:nvGrpSpPr>
        <p:grpSpPr>
          <a:xfrm>
            <a:off x="2030837" y="5875172"/>
            <a:ext cx="361909" cy="361909"/>
            <a:chOff x="10058400" y="4040797"/>
            <a:chExt cx="412291" cy="412291"/>
          </a:xfrm>
        </p:grpSpPr>
        <p:sp>
          <p:nvSpPr>
            <p:cNvPr id="31" name="Oval 30">
              <a:extLst>
                <a:ext uri="{FF2B5EF4-FFF2-40B4-BE49-F238E27FC236}">
                  <a16:creationId xmlns:a16="http://schemas.microsoft.com/office/drawing/2014/main" id="{427E33C1-0D3B-FB36-8E1D-E93651A9864C}"/>
                </a:ext>
              </a:extLst>
            </p:cNvPr>
            <p:cNvSpPr/>
            <p:nvPr/>
          </p:nvSpPr>
          <p:spPr bwMode="gray">
            <a:xfrm>
              <a:off x="10058400" y="4040797"/>
              <a:ext cx="412291" cy="412291"/>
            </a:xfrm>
            <a:prstGeom prst="ellipse">
              <a:avLst/>
            </a:prstGeom>
            <a:solidFill>
              <a:sysClr val="window" lastClr="FFFFFF"/>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Verdana"/>
                <a:ea typeface="+mn-ea"/>
                <a:cs typeface="Calibri" panose="020F0502020204030204" pitchFamily="34" charset="0"/>
              </a:endParaRPr>
            </a:p>
          </p:txBody>
        </p:sp>
        <p:sp>
          <p:nvSpPr>
            <p:cNvPr id="32" name="Freeform 30">
              <a:extLst>
                <a:ext uri="{FF2B5EF4-FFF2-40B4-BE49-F238E27FC236}">
                  <a16:creationId xmlns:a16="http://schemas.microsoft.com/office/drawing/2014/main" id="{31CC42B2-FC4E-7800-ED6E-CEDEDF8FDBD5}"/>
                </a:ext>
              </a:extLst>
            </p:cNvPr>
            <p:cNvSpPr>
              <a:spLocks noChangeAspect="1" noEditPoints="1"/>
            </p:cNvSpPr>
            <p:nvPr/>
          </p:nvSpPr>
          <p:spPr bwMode="auto">
            <a:xfrm>
              <a:off x="10081025" y="4063422"/>
              <a:ext cx="367041" cy="367041"/>
            </a:xfrm>
            <a:custGeom>
              <a:avLst/>
              <a:gdLst>
                <a:gd name="T0" fmla="*/ 260 w 512"/>
                <a:gd name="T1" fmla="*/ 165 h 512"/>
                <a:gd name="T2" fmla="*/ 295 w 512"/>
                <a:gd name="T3" fmla="*/ 288 h 512"/>
                <a:gd name="T4" fmla="*/ 128 w 512"/>
                <a:gd name="T5" fmla="*/ 288 h 512"/>
                <a:gd name="T6" fmla="*/ 119 w 512"/>
                <a:gd name="T7" fmla="*/ 250 h 512"/>
                <a:gd name="T8" fmla="*/ 260 w 512"/>
                <a:gd name="T9" fmla="*/ 165 h 512"/>
                <a:gd name="T10" fmla="*/ 192 w 512"/>
                <a:gd name="T11" fmla="*/ 309 h 512"/>
                <a:gd name="T12" fmla="*/ 213 w 512"/>
                <a:gd name="T13" fmla="*/ 330 h 512"/>
                <a:gd name="T14" fmla="*/ 234 w 512"/>
                <a:gd name="T15" fmla="*/ 309 h 512"/>
                <a:gd name="T16" fmla="*/ 234 w 512"/>
                <a:gd name="T17" fmla="*/ 309 h 512"/>
                <a:gd name="T18" fmla="*/ 192 w 512"/>
                <a:gd name="T19" fmla="*/ 309 h 512"/>
                <a:gd name="T20" fmla="*/ 192 w 512"/>
                <a:gd name="T21" fmla="*/ 309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01 w 512"/>
                <a:gd name="T33" fmla="*/ 177 h 512"/>
                <a:gd name="T34" fmla="*/ 309 w 512"/>
                <a:gd name="T35" fmla="*/ 181 h 512"/>
                <a:gd name="T36" fmla="*/ 316 w 512"/>
                <a:gd name="T37" fmla="*/ 179 h 512"/>
                <a:gd name="T38" fmla="*/ 369 w 512"/>
                <a:gd name="T39" fmla="*/ 136 h 512"/>
                <a:gd name="T40" fmla="*/ 371 w 512"/>
                <a:gd name="T41" fmla="*/ 121 h 512"/>
                <a:gd name="T42" fmla="*/ 356 w 512"/>
                <a:gd name="T43" fmla="*/ 119 h 512"/>
                <a:gd name="T44" fmla="*/ 302 w 512"/>
                <a:gd name="T45" fmla="*/ 162 h 512"/>
                <a:gd name="T46" fmla="*/ 301 w 512"/>
                <a:gd name="T47" fmla="*/ 177 h 512"/>
                <a:gd name="T48" fmla="*/ 319 w 512"/>
                <a:gd name="T49" fmla="*/ 295 h 512"/>
                <a:gd name="T50" fmla="*/ 277 w 512"/>
                <a:gd name="T51" fmla="*/ 146 h 512"/>
                <a:gd name="T52" fmla="*/ 270 w 512"/>
                <a:gd name="T53" fmla="*/ 139 h 512"/>
                <a:gd name="T54" fmla="*/ 261 w 512"/>
                <a:gd name="T55" fmla="*/ 140 h 512"/>
                <a:gd name="T56" fmla="*/ 101 w 512"/>
                <a:gd name="T57" fmla="*/ 236 h 512"/>
                <a:gd name="T58" fmla="*/ 96 w 512"/>
                <a:gd name="T59" fmla="*/ 248 h 512"/>
                <a:gd name="T60" fmla="*/ 110 w 512"/>
                <a:gd name="T61" fmla="*/ 301 h 512"/>
                <a:gd name="T62" fmla="*/ 120 w 512"/>
                <a:gd name="T63" fmla="*/ 309 h 512"/>
                <a:gd name="T64" fmla="*/ 170 w 512"/>
                <a:gd name="T65" fmla="*/ 309 h 512"/>
                <a:gd name="T66" fmla="*/ 170 w 512"/>
                <a:gd name="T67" fmla="*/ 309 h 512"/>
                <a:gd name="T68" fmla="*/ 213 w 512"/>
                <a:gd name="T69" fmla="*/ 352 h 512"/>
                <a:gd name="T70" fmla="*/ 256 w 512"/>
                <a:gd name="T71" fmla="*/ 309 h 512"/>
                <a:gd name="T72" fmla="*/ 256 w 512"/>
                <a:gd name="T73" fmla="*/ 309 h 512"/>
                <a:gd name="T74" fmla="*/ 309 w 512"/>
                <a:gd name="T75" fmla="*/ 309 h 512"/>
                <a:gd name="T76" fmla="*/ 309 w 512"/>
                <a:gd name="T77" fmla="*/ 309 h 512"/>
                <a:gd name="T78" fmla="*/ 318 w 512"/>
                <a:gd name="T79" fmla="*/ 305 h 512"/>
                <a:gd name="T80" fmla="*/ 319 w 512"/>
                <a:gd name="T81" fmla="*/ 295 h 512"/>
                <a:gd name="T82" fmla="*/ 416 w 512"/>
                <a:gd name="T83" fmla="*/ 279 h 512"/>
                <a:gd name="T84" fmla="*/ 407 w 512"/>
                <a:gd name="T85" fmla="*/ 266 h 512"/>
                <a:gd name="T86" fmla="*/ 343 w 512"/>
                <a:gd name="T87" fmla="*/ 256 h 512"/>
                <a:gd name="T88" fmla="*/ 330 w 512"/>
                <a:gd name="T89" fmla="*/ 265 h 512"/>
                <a:gd name="T90" fmla="*/ 339 w 512"/>
                <a:gd name="T91" fmla="*/ 277 h 512"/>
                <a:gd name="T92" fmla="*/ 403 w 512"/>
                <a:gd name="T93" fmla="*/ 288 h 512"/>
                <a:gd name="T94" fmla="*/ 405 w 512"/>
                <a:gd name="T95" fmla="*/ 288 h 512"/>
                <a:gd name="T96" fmla="*/ 416 w 512"/>
                <a:gd name="T97" fmla="*/ 279 h 512"/>
                <a:gd name="T98" fmla="*/ 415 w 512"/>
                <a:gd name="T99" fmla="*/ 189 h 512"/>
                <a:gd name="T100" fmla="*/ 402 w 512"/>
                <a:gd name="T101" fmla="*/ 181 h 512"/>
                <a:gd name="T102" fmla="*/ 327 w 512"/>
                <a:gd name="T103" fmla="*/ 203 h 512"/>
                <a:gd name="T104" fmla="*/ 320 w 512"/>
                <a:gd name="T105" fmla="*/ 216 h 512"/>
                <a:gd name="T106" fmla="*/ 330 w 512"/>
                <a:gd name="T107" fmla="*/ 224 h 512"/>
                <a:gd name="T108" fmla="*/ 333 w 512"/>
                <a:gd name="T109" fmla="*/ 223 h 512"/>
                <a:gd name="T110" fmla="*/ 408 w 512"/>
                <a:gd name="T111" fmla="*/ 202 h 512"/>
                <a:gd name="T112" fmla="*/ 415 w 512"/>
                <a:gd name="T113" fmla="*/ 18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60" y="165"/>
                  </a:moveTo>
                  <a:cubicBezTo>
                    <a:pt x="295" y="288"/>
                    <a:pt x="295" y="288"/>
                    <a:pt x="295" y="288"/>
                  </a:cubicBezTo>
                  <a:cubicBezTo>
                    <a:pt x="128" y="288"/>
                    <a:pt x="128" y="288"/>
                    <a:pt x="128" y="288"/>
                  </a:cubicBezTo>
                  <a:cubicBezTo>
                    <a:pt x="119" y="250"/>
                    <a:pt x="119" y="250"/>
                    <a:pt x="119" y="250"/>
                  </a:cubicBezTo>
                  <a:lnTo>
                    <a:pt x="260" y="165"/>
                  </a:lnTo>
                  <a:close/>
                  <a:moveTo>
                    <a:pt x="192" y="309"/>
                  </a:moveTo>
                  <a:cubicBezTo>
                    <a:pt x="192" y="321"/>
                    <a:pt x="201" y="330"/>
                    <a:pt x="213" y="330"/>
                  </a:cubicBezTo>
                  <a:cubicBezTo>
                    <a:pt x="225" y="330"/>
                    <a:pt x="234" y="321"/>
                    <a:pt x="234" y="309"/>
                  </a:cubicBezTo>
                  <a:cubicBezTo>
                    <a:pt x="234" y="309"/>
                    <a:pt x="234" y="309"/>
                    <a:pt x="234" y="309"/>
                  </a:cubicBezTo>
                  <a:cubicBezTo>
                    <a:pt x="192" y="309"/>
                    <a:pt x="192" y="309"/>
                    <a:pt x="192" y="309"/>
                  </a:cubicBezTo>
                  <a:cubicBezTo>
                    <a:pt x="192" y="309"/>
                    <a:pt x="192" y="309"/>
                    <a:pt x="192" y="309"/>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01" y="177"/>
                  </a:moveTo>
                  <a:cubicBezTo>
                    <a:pt x="303" y="180"/>
                    <a:pt x="306" y="181"/>
                    <a:pt x="309" y="181"/>
                  </a:cubicBezTo>
                  <a:cubicBezTo>
                    <a:pt x="311" y="181"/>
                    <a:pt x="314" y="180"/>
                    <a:pt x="316" y="179"/>
                  </a:cubicBezTo>
                  <a:cubicBezTo>
                    <a:pt x="369" y="136"/>
                    <a:pt x="369" y="136"/>
                    <a:pt x="369" y="136"/>
                  </a:cubicBezTo>
                  <a:cubicBezTo>
                    <a:pt x="374" y="132"/>
                    <a:pt x="374" y="126"/>
                    <a:pt x="371" y="121"/>
                  </a:cubicBezTo>
                  <a:cubicBezTo>
                    <a:pt x="367" y="116"/>
                    <a:pt x="360" y="116"/>
                    <a:pt x="356" y="119"/>
                  </a:cubicBezTo>
                  <a:cubicBezTo>
                    <a:pt x="302" y="162"/>
                    <a:pt x="302" y="162"/>
                    <a:pt x="302" y="162"/>
                  </a:cubicBezTo>
                  <a:cubicBezTo>
                    <a:pt x="298" y="166"/>
                    <a:pt x="297" y="172"/>
                    <a:pt x="301" y="177"/>
                  </a:cubicBezTo>
                  <a:close/>
                  <a:moveTo>
                    <a:pt x="319" y="295"/>
                  </a:moveTo>
                  <a:cubicBezTo>
                    <a:pt x="277" y="146"/>
                    <a:pt x="277" y="146"/>
                    <a:pt x="277" y="146"/>
                  </a:cubicBezTo>
                  <a:cubicBezTo>
                    <a:pt x="276" y="143"/>
                    <a:pt x="273" y="140"/>
                    <a:pt x="270" y="139"/>
                  </a:cubicBezTo>
                  <a:cubicBezTo>
                    <a:pt x="267" y="138"/>
                    <a:pt x="264" y="138"/>
                    <a:pt x="261" y="140"/>
                  </a:cubicBezTo>
                  <a:cubicBezTo>
                    <a:pt x="101" y="236"/>
                    <a:pt x="101" y="236"/>
                    <a:pt x="101" y="236"/>
                  </a:cubicBezTo>
                  <a:cubicBezTo>
                    <a:pt x="97" y="238"/>
                    <a:pt x="95" y="243"/>
                    <a:pt x="96" y="248"/>
                  </a:cubicBezTo>
                  <a:cubicBezTo>
                    <a:pt x="110" y="301"/>
                    <a:pt x="110" y="301"/>
                    <a:pt x="110" y="301"/>
                  </a:cubicBezTo>
                  <a:cubicBezTo>
                    <a:pt x="111" y="306"/>
                    <a:pt x="115" y="309"/>
                    <a:pt x="120" y="309"/>
                  </a:cubicBezTo>
                  <a:cubicBezTo>
                    <a:pt x="170" y="309"/>
                    <a:pt x="170" y="309"/>
                    <a:pt x="170" y="309"/>
                  </a:cubicBezTo>
                  <a:cubicBezTo>
                    <a:pt x="170" y="309"/>
                    <a:pt x="170" y="309"/>
                    <a:pt x="170" y="309"/>
                  </a:cubicBezTo>
                  <a:cubicBezTo>
                    <a:pt x="170" y="333"/>
                    <a:pt x="189" y="352"/>
                    <a:pt x="213" y="352"/>
                  </a:cubicBezTo>
                  <a:cubicBezTo>
                    <a:pt x="237" y="352"/>
                    <a:pt x="256" y="333"/>
                    <a:pt x="256" y="309"/>
                  </a:cubicBezTo>
                  <a:cubicBezTo>
                    <a:pt x="256" y="309"/>
                    <a:pt x="256" y="309"/>
                    <a:pt x="256" y="309"/>
                  </a:cubicBezTo>
                  <a:cubicBezTo>
                    <a:pt x="309" y="309"/>
                    <a:pt x="309" y="309"/>
                    <a:pt x="309" y="309"/>
                  </a:cubicBezTo>
                  <a:cubicBezTo>
                    <a:pt x="309" y="309"/>
                    <a:pt x="309" y="309"/>
                    <a:pt x="309" y="309"/>
                  </a:cubicBezTo>
                  <a:cubicBezTo>
                    <a:pt x="312" y="309"/>
                    <a:pt x="316" y="307"/>
                    <a:pt x="318" y="305"/>
                  </a:cubicBezTo>
                  <a:cubicBezTo>
                    <a:pt x="320" y="302"/>
                    <a:pt x="320" y="299"/>
                    <a:pt x="319" y="295"/>
                  </a:cubicBezTo>
                  <a:close/>
                  <a:moveTo>
                    <a:pt x="416" y="279"/>
                  </a:moveTo>
                  <a:cubicBezTo>
                    <a:pt x="416" y="273"/>
                    <a:pt x="413" y="267"/>
                    <a:pt x="407" y="266"/>
                  </a:cubicBezTo>
                  <a:cubicBezTo>
                    <a:pt x="343" y="256"/>
                    <a:pt x="343" y="256"/>
                    <a:pt x="343" y="256"/>
                  </a:cubicBezTo>
                  <a:cubicBezTo>
                    <a:pt x="337" y="255"/>
                    <a:pt x="331" y="259"/>
                    <a:pt x="330" y="265"/>
                  </a:cubicBezTo>
                  <a:cubicBezTo>
                    <a:pt x="330" y="270"/>
                    <a:pt x="333" y="276"/>
                    <a:pt x="339" y="277"/>
                  </a:cubicBezTo>
                  <a:cubicBezTo>
                    <a:pt x="403" y="288"/>
                    <a:pt x="403" y="288"/>
                    <a:pt x="403" y="288"/>
                  </a:cubicBezTo>
                  <a:cubicBezTo>
                    <a:pt x="404" y="288"/>
                    <a:pt x="404" y="288"/>
                    <a:pt x="405" y="288"/>
                  </a:cubicBezTo>
                  <a:cubicBezTo>
                    <a:pt x="410" y="288"/>
                    <a:pt x="415" y="284"/>
                    <a:pt x="416" y="279"/>
                  </a:cubicBezTo>
                  <a:close/>
                  <a:moveTo>
                    <a:pt x="415" y="189"/>
                  </a:moveTo>
                  <a:cubicBezTo>
                    <a:pt x="414" y="183"/>
                    <a:pt x="408" y="180"/>
                    <a:pt x="402" y="181"/>
                  </a:cubicBezTo>
                  <a:cubicBezTo>
                    <a:pt x="327" y="203"/>
                    <a:pt x="327" y="203"/>
                    <a:pt x="327" y="203"/>
                  </a:cubicBezTo>
                  <a:cubicBezTo>
                    <a:pt x="322" y="204"/>
                    <a:pt x="318" y="210"/>
                    <a:pt x="320" y="216"/>
                  </a:cubicBezTo>
                  <a:cubicBezTo>
                    <a:pt x="321" y="221"/>
                    <a:pt x="326" y="224"/>
                    <a:pt x="330" y="224"/>
                  </a:cubicBezTo>
                  <a:cubicBezTo>
                    <a:pt x="331" y="224"/>
                    <a:pt x="332" y="224"/>
                    <a:pt x="333" y="223"/>
                  </a:cubicBezTo>
                  <a:cubicBezTo>
                    <a:pt x="408" y="202"/>
                    <a:pt x="408" y="202"/>
                    <a:pt x="408" y="202"/>
                  </a:cubicBezTo>
                  <a:cubicBezTo>
                    <a:pt x="414" y="200"/>
                    <a:pt x="417" y="194"/>
                    <a:pt x="415" y="189"/>
                  </a:cubicBezTo>
                  <a:close/>
                </a:path>
              </a:pathLst>
            </a:custGeom>
            <a:solidFill>
              <a:srgbClr val="007680"/>
            </a:solidFill>
            <a:ln>
              <a:noFill/>
            </a:ln>
          </p:spPr>
          <p:txBody>
            <a:bodyPr vert="horz" wrap="square" lIns="91440" tIns="45720" rIns="91440" bIns="45720" numCol="1" anchor="t" anchorCtr="0" compatLnSpc="1">
              <a:prstTxWarp prst="textNoShape">
                <a:avLst/>
              </a:prstTxWarp>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Verdana"/>
                <a:ea typeface="+mn-ea"/>
                <a:cs typeface="Calibri" panose="020F0502020204030204" pitchFamily="34" charset="0"/>
              </a:endParaRPr>
            </a:p>
          </p:txBody>
        </p:sp>
      </p:grpSp>
      <p:sp>
        <p:nvSpPr>
          <p:cNvPr id="33" name="Text Placeholder 1">
            <a:extLst>
              <a:ext uri="{FF2B5EF4-FFF2-40B4-BE49-F238E27FC236}">
                <a16:creationId xmlns:a16="http://schemas.microsoft.com/office/drawing/2014/main" id="{1209DC5C-6AC1-66CD-ADDF-811EBED1F6DF}"/>
              </a:ext>
            </a:extLst>
          </p:cNvPr>
          <p:cNvSpPr txBox="1">
            <a:spLocks/>
          </p:cNvSpPr>
          <p:nvPr/>
        </p:nvSpPr>
        <p:spPr>
          <a:xfrm>
            <a:off x="479302" y="750372"/>
            <a:ext cx="11235182" cy="962748"/>
          </a:xfrm>
          <a:prstGeom prst="rect">
            <a:avLst/>
          </a:prstGeom>
        </p:spPr>
        <p:txBody>
          <a:bodyPr/>
          <a:lst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a:lstStyle>
          <a:p>
            <a:pPr algn="just"/>
            <a:r>
              <a:rPr lang="en-US" sz="1400" dirty="0">
                <a:latin typeface="Arial" panose="020B0604020202020204" pitchFamily="34" charset="0"/>
                <a:cs typeface="Arial" panose="020B0604020202020204" pitchFamily="34" charset="0"/>
              </a:rPr>
              <a:t>Deloitte is amongst the </a:t>
            </a:r>
            <a:r>
              <a:rPr lang="en-US" sz="1400" b="1" dirty="0">
                <a:latin typeface="Arial" panose="020B0604020202020204" pitchFamily="34" charset="0"/>
                <a:cs typeface="Arial" panose="020B0604020202020204" pitchFamily="34" charset="0"/>
              </a:rPr>
              <a:t>largest professional services </a:t>
            </a:r>
            <a:r>
              <a:rPr lang="en-US" sz="1400" dirty="0">
                <a:latin typeface="Arial" panose="020B0604020202020204" pitchFamily="34" charset="0"/>
                <a:cs typeface="Arial" panose="020B0604020202020204" pitchFamily="34" charset="0"/>
              </a:rPr>
              <a:t>firm worldwide and provides audit, tax, consulting, and financial advisory services to public and private sector clients spanning across multiple industries and diverse geographies. In overall terms, Deloitte member firms serve over 390+ of Fortune Global 500 companies and 100+ National Governments. Deloitte had a total turnover of </a:t>
            </a:r>
            <a:r>
              <a:rPr lang="en-US" sz="1400" b="1" dirty="0">
                <a:latin typeface="Arial" panose="020B0604020202020204" pitchFamily="34" charset="0"/>
                <a:cs typeface="Arial" panose="020B0604020202020204" pitchFamily="34" charset="0"/>
              </a:rPr>
              <a:t>$64.9 billion in 2023</a:t>
            </a:r>
            <a:r>
              <a:rPr lang="en-US" sz="1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252137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lang="en-US" sz="1800" b="1">
                <a:solidFill>
                  <a:prstClr val="black"/>
                </a:solidFill>
                <a:latin typeface="Verdana" panose="020B0604030504040204" pitchFamily="34" charset="0"/>
                <a:ea typeface="Verdana" panose="020B0604030504040204" pitchFamily="34" charset="0"/>
                <a:cs typeface="Arial" panose="020B0604020202020204" pitchFamily="34" charset="0"/>
              </a:rPr>
              <a:t>Deloitte India Network</a:t>
            </a:r>
          </a:p>
        </p:txBody>
      </p:sp>
      <p:sp>
        <p:nvSpPr>
          <p:cNvPr id="33" name="Text Placeholder 1">
            <a:extLst>
              <a:ext uri="{FF2B5EF4-FFF2-40B4-BE49-F238E27FC236}">
                <a16:creationId xmlns:a16="http://schemas.microsoft.com/office/drawing/2014/main" id="{A6BA5E73-3E7D-8497-8AA9-382DF2987395}"/>
              </a:ext>
            </a:extLst>
          </p:cNvPr>
          <p:cNvSpPr txBox="1">
            <a:spLocks/>
          </p:cNvSpPr>
          <p:nvPr/>
        </p:nvSpPr>
        <p:spPr>
          <a:xfrm>
            <a:off x="501650" y="741981"/>
            <a:ext cx="11188700" cy="962748"/>
          </a:xfrm>
          <a:prstGeom prst="rect">
            <a:avLst/>
          </a:prstGeom>
        </p:spPr>
        <p:txBody>
          <a:bodyPr/>
          <a:lst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a:lstStyle>
          <a:p>
            <a:pPr algn="just"/>
            <a:r>
              <a:rPr lang="en-US" sz="1400" b="0" i="0" u="none" strike="noStrike" baseline="0" dirty="0">
                <a:solidFill>
                  <a:srgbClr val="000000"/>
                </a:solidFill>
                <a:latin typeface="Verdana" panose="020B0604030504040204" pitchFamily="34" charset="0"/>
                <a:ea typeface="Verdana" panose="020B0604030504040204" pitchFamily="34" charset="0"/>
                <a:cs typeface="Arial" panose="020B0604020202020204" pitchFamily="34" charset="0"/>
              </a:rPr>
              <a:t>Deloitte India’s Power, Utilities and Renewable Energy is a 250+ strong multi- disciplinary team of industry specialists in. The Indian practice has significant experience in the energy sector with focus </a:t>
            </a:r>
            <a:r>
              <a:rPr lang="en-US" sz="1400" b="1" i="0" u="none" strike="noStrike" baseline="0" dirty="0">
                <a:solidFill>
                  <a:srgbClr val="000000"/>
                </a:solidFill>
                <a:latin typeface="Verdana" panose="020B0604030504040204" pitchFamily="34" charset="0"/>
                <a:ea typeface="Verdana" panose="020B0604030504040204" pitchFamily="34" charset="0"/>
                <a:cs typeface="Arial" panose="020B0604020202020204" pitchFamily="34" charset="0"/>
              </a:rPr>
              <a:t>on financing projects, regulatory assistance, conducting feasibility studies, development of business/ strategic plans, accounting advisory, business process improvement and due diligence for various public sector and private sector</a:t>
            </a:r>
            <a:r>
              <a:rPr lang="en-US" sz="1400" b="0" i="0" u="none" strike="noStrike" baseline="0" dirty="0">
                <a:solidFill>
                  <a:srgbClr val="000000"/>
                </a:solidFill>
                <a:latin typeface="Verdana" panose="020B0604030504040204" pitchFamily="34" charset="0"/>
                <a:ea typeface="Verdana" panose="020B0604030504040204" pitchFamily="34" charset="0"/>
                <a:cs typeface="Arial" panose="020B0604020202020204" pitchFamily="34" charset="0"/>
              </a:rPr>
              <a:t>. </a:t>
            </a:r>
            <a:endParaRPr lang="en-US" sz="1400" b="1" dirty="0">
              <a:latin typeface="Verdana" panose="020B0604030504040204" pitchFamily="34" charset="0"/>
              <a:ea typeface="Verdana" panose="020B060403050404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2291EB90-617A-8794-6A00-A6BB94FA7D7D}"/>
              </a:ext>
            </a:extLst>
          </p:cNvPr>
          <p:cNvSpPr/>
          <p:nvPr/>
        </p:nvSpPr>
        <p:spPr bwMode="gray">
          <a:xfrm>
            <a:off x="830112" y="1860249"/>
            <a:ext cx="10531776" cy="4523773"/>
          </a:xfrm>
          <a:prstGeom prst="rect">
            <a:avLst/>
          </a:prstGeom>
          <a:pattFill prst="dkHorz">
            <a:fgClr>
              <a:sysClr val="window" lastClr="FFFFFF">
                <a:lumMod val="95000"/>
              </a:sysClr>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133" name="Group 132">
            <a:extLst>
              <a:ext uri="{FF2B5EF4-FFF2-40B4-BE49-F238E27FC236}">
                <a16:creationId xmlns:a16="http://schemas.microsoft.com/office/drawing/2014/main" id="{37748040-AA10-C2D5-FA88-82FD8C1AB6EC}"/>
              </a:ext>
            </a:extLst>
          </p:cNvPr>
          <p:cNvGrpSpPr/>
          <p:nvPr/>
        </p:nvGrpSpPr>
        <p:grpSpPr>
          <a:xfrm>
            <a:off x="1399553" y="2723065"/>
            <a:ext cx="3014589" cy="2902612"/>
            <a:chOff x="6785533" y="1562777"/>
            <a:chExt cx="2517580" cy="2539158"/>
          </a:xfrm>
        </p:grpSpPr>
        <p:sp>
          <p:nvSpPr>
            <p:cNvPr id="134" name="Freeform 14">
              <a:extLst>
                <a:ext uri="{FF2B5EF4-FFF2-40B4-BE49-F238E27FC236}">
                  <a16:creationId xmlns:a16="http://schemas.microsoft.com/office/drawing/2014/main" id="{1F1F0509-70CD-1443-39CF-F206303CD343}"/>
                </a:ext>
              </a:extLst>
            </p:cNvPr>
            <p:cNvSpPr>
              <a:spLocks noChangeAspect="1"/>
            </p:cNvSpPr>
            <p:nvPr/>
          </p:nvSpPr>
          <p:spPr bwMode="auto">
            <a:xfrm>
              <a:off x="6785533" y="1562777"/>
              <a:ext cx="2517580" cy="2539158"/>
            </a:xfrm>
            <a:custGeom>
              <a:avLst/>
              <a:gdLst>
                <a:gd name="T0" fmla="*/ 2147483647 w 1903"/>
                <a:gd name="T1" fmla="*/ 2147483647 h 2101"/>
                <a:gd name="T2" fmla="*/ 2147483647 w 1903"/>
                <a:gd name="T3" fmla="*/ 2147483647 h 2101"/>
                <a:gd name="T4" fmla="*/ 2147483647 w 1903"/>
                <a:gd name="T5" fmla="*/ 2147483647 h 2101"/>
                <a:gd name="T6" fmla="*/ 2147483647 w 1903"/>
                <a:gd name="T7" fmla="*/ 2147483647 h 2101"/>
                <a:gd name="T8" fmla="*/ 2147483647 w 1903"/>
                <a:gd name="T9" fmla="*/ 2147483647 h 2101"/>
                <a:gd name="T10" fmla="*/ 2147483647 w 1903"/>
                <a:gd name="T11" fmla="*/ 2147483647 h 2101"/>
                <a:gd name="T12" fmla="*/ 2147483647 w 1903"/>
                <a:gd name="T13" fmla="*/ 2147483647 h 2101"/>
                <a:gd name="T14" fmla="*/ 2147483647 w 1903"/>
                <a:gd name="T15" fmla="*/ 2147483647 h 2101"/>
                <a:gd name="T16" fmla="*/ 2147483647 w 1903"/>
                <a:gd name="T17" fmla="*/ 2147483647 h 2101"/>
                <a:gd name="T18" fmla="*/ 2147483647 w 1903"/>
                <a:gd name="T19" fmla="*/ 2147483647 h 2101"/>
                <a:gd name="T20" fmla="*/ 2147483647 w 1903"/>
                <a:gd name="T21" fmla="*/ 2147483647 h 2101"/>
                <a:gd name="T22" fmla="*/ 2147483647 w 1903"/>
                <a:gd name="T23" fmla="*/ 2147483647 h 2101"/>
                <a:gd name="T24" fmla="*/ 2147483647 w 1903"/>
                <a:gd name="T25" fmla="*/ 2147483647 h 2101"/>
                <a:gd name="T26" fmla="*/ 2147483647 w 1903"/>
                <a:gd name="T27" fmla="*/ 2147483647 h 2101"/>
                <a:gd name="T28" fmla="*/ 2147483647 w 1903"/>
                <a:gd name="T29" fmla="*/ 2147483647 h 2101"/>
                <a:gd name="T30" fmla="*/ 2147483647 w 1903"/>
                <a:gd name="T31" fmla="*/ 2147483647 h 2101"/>
                <a:gd name="T32" fmla="*/ 2147483647 w 1903"/>
                <a:gd name="T33" fmla="*/ 2147483647 h 2101"/>
                <a:gd name="T34" fmla="*/ 2147483647 w 1903"/>
                <a:gd name="T35" fmla="*/ 2147483647 h 2101"/>
                <a:gd name="T36" fmla="*/ 2147483647 w 1903"/>
                <a:gd name="T37" fmla="*/ 2147483647 h 2101"/>
                <a:gd name="T38" fmla="*/ 2147483647 w 1903"/>
                <a:gd name="T39" fmla="*/ 1847412083 h 2101"/>
                <a:gd name="T40" fmla="*/ 2147483647 w 1903"/>
                <a:gd name="T41" fmla="*/ 256577569 h 2101"/>
                <a:gd name="T42" fmla="*/ 2147483647 w 1903"/>
                <a:gd name="T43" fmla="*/ 2147483647 h 2101"/>
                <a:gd name="T44" fmla="*/ 2147483647 w 1903"/>
                <a:gd name="T45" fmla="*/ 2147483647 h 2101"/>
                <a:gd name="T46" fmla="*/ 2147483647 w 1903"/>
                <a:gd name="T47" fmla="*/ 2147483647 h 2101"/>
                <a:gd name="T48" fmla="*/ 2147483647 w 1903"/>
                <a:gd name="T49" fmla="*/ 2147483647 h 2101"/>
                <a:gd name="T50" fmla="*/ 2147483647 w 1903"/>
                <a:gd name="T51" fmla="*/ 2147483647 h 2101"/>
                <a:gd name="T52" fmla="*/ 2147483647 w 1903"/>
                <a:gd name="T53" fmla="*/ 2147483647 h 2101"/>
                <a:gd name="T54" fmla="*/ 2147483647 w 1903"/>
                <a:gd name="T55" fmla="*/ 2147483647 h 2101"/>
                <a:gd name="T56" fmla="*/ 2147483647 w 1903"/>
                <a:gd name="T57" fmla="*/ 2147483647 h 2101"/>
                <a:gd name="T58" fmla="*/ 2147483647 w 1903"/>
                <a:gd name="T59" fmla="*/ 2147483647 h 2101"/>
                <a:gd name="T60" fmla="*/ 2147483647 w 1903"/>
                <a:gd name="T61" fmla="*/ 2147483647 h 2101"/>
                <a:gd name="T62" fmla="*/ 2016059137 w 1903"/>
                <a:gd name="T63" fmla="*/ 2147483647 h 2101"/>
                <a:gd name="T64" fmla="*/ 2147483647 w 1903"/>
                <a:gd name="T65" fmla="*/ 2147483647 h 2101"/>
                <a:gd name="T66" fmla="*/ 2147483647 w 1903"/>
                <a:gd name="T67" fmla="*/ 2147483647 h 2101"/>
                <a:gd name="T68" fmla="*/ 2147483647 w 1903"/>
                <a:gd name="T69" fmla="*/ 2147483647 h 2101"/>
                <a:gd name="T70" fmla="*/ 2147483647 w 1903"/>
                <a:gd name="T71" fmla="*/ 2147483647 h 2101"/>
                <a:gd name="T72" fmla="*/ 2147483647 w 1903"/>
                <a:gd name="T73" fmla="*/ 2147483647 h 2101"/>
                <a:gd name="T74" fmla="*/ 2147483647 w 1903"/>
                <a:gd name="T75" fmla="*/ 2147483647 h 2101"/>
                <a:gd name="T76" fmla="*/ 2147483647 w 1903"/>
                <a:gd name="T77" fmla="*/ 2147483647 h 2101"/>
                <a:gd name="T78" fmla="*/ 2147483647 w 1903"/>
                <a:gd name="T79" fmla="*/ 2147483647 h 2101"/>
                <a:gd name="T80" fmla="*/ 2147483647 w 1903"/>
                <a:gd name="T81" fmla="*/ 2147483647 h 2101"/>
                <a:gd name="T82" fmla="*/ 2147483647 w 1903"/>
                <a:gd name="T83" fmla="*/ 2147483647 h 2101"/>
                <a:gd name="T84" fmla="*/ 2147483647 w 1903"/>
                <a:gd name="T85" fmla="*/ 2147483647 h 2101"/>
                <a:gd name="T86" fmla="*/ 2147483647 w 1903"/>
                <a:gd name="T87" fmla="*/ 2147483647 h 2101"/>
                <a:gd name="T88" fmla="*/ 2147483647 w 1903"/>
                <a:gd name="T89" fmla="*/ 2147483647 h 2101"/>
                <a:gd name="T90" fmla="*/ 2147483647 w 1903"/>
                <a:gd name="T91" fmla="*/ 2147483647 h 2101"/>
                <a:gd name="T92" fmla="*/ 2147483647 w 1903"/>
                <a:gd name="T93" fmla="*/ 2147483647 h 2101"/>
                <a:gd name="T94" fmla="*/ 2147483647 w 1903"/>
                <a:gd name="T95" fmla="*/ 2147483647 h 2101"/>
                <a:gd name="T96" fmla="*/ 2147483647 w 1903"/>
                <a:gd name="T97" fmla="*/ 2147483647 h 2101"/>
                <a:gd name="T98" fmla="*/ 2147483647 w 1903"/>
                <a:gd name="T99" fmla="*/ 2147483647 h 2101"/>
                <a:gd name="T100" fmla="*/ 2147483647 w 1903"/>
                <a:gd name="T101" fmla="*/ 2147483647 h 2101"/>
                <a:gd name="T102" fmla="*/ 2147483647 w 1903"/>
                <a:gd name="T103" fmla="*/ 2147483647 h 2101"/>
                <a:gd name="T104" fmla="*/ 2147483647 w 1903"/>
                <a:gd name="T105" fmla="*/ 2147483647 h 2101"/>
                <a:gd name="T106" fmla="*/ 2147483647 w 1903"/>
                <a:gd name="T107" fmla="*/ 2147483647 h 2101"/>
                <a:gd name="T108" fmla="*/ 2147483647 w 1903"/>
                <a:gd name="T109" fmla="*/ 2147483647 h 2101"/>
                <a:gd name="T110" fmla="*/ 2147483647 w 1903"/>
                <a:gd name="T111" fmla="*/ 2147483647 h 2101"/>
                <a:gd name="T112" fmla="*/ 2147483647 w 1903"/>
                <a:gd name="T113" fmla="*/ 2147483647 h 2101"/>
                <a:gd name="T114" fmla="*/ 2147483647 w 1903"/>
                <a:gd name="T115" fmla="*/ 2147483647 h 2101"/>
                <a:gd name="T116" fmla="*/ 2147483647 w 1903"/>
                <a:gd name="T117" fmla="*/ 2147483647 h 2101"/>
                <a:gd name="T118" fmla="*/ 2147483647 w 1903"/>
                <a:gd name="T119" fmla="*/ 2147483647 h 2101"/>
                <a:gd name="T120" fmla="*/ 2147483647 w 1903"/>
                <a:gd name="T121" fmla="*/ 2147483647 h 2101"/>
                <a:gd name="T122" fmla="*/ 2147483647 w 1903"/>
                <a:gd name="T123" fmla="*/ 2147483647 h 210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03"/>
                <a:gd name="T187" fmla="*/ 0 h 2101"/>
                <a:gd name="T188" fmla="*/ 1903 w 1903"/>
                <a:gd name="T189" fmla="*/ 2101 h 210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03" h="2101">
                  <a:moveTo>
                    <a:pt x="1856" y="553"/>
                  </a:moveTo>
                  <a:lnTo>
                    <a:pt x="1839" y="543"/>
                  </a:lnTo>
                  <a:lnTo>
                    <a:pt x="1840" y="542"/>
                  </a:lnTo>
                  <a:lnTo>
                    <a:pt x="1841" y="537"/>
                  </a:lnTo>
                  <a:lnTo>
                    <a:pt x="1839" y="532"/>
                  </a:lnTo>
                  <a:lnTo>
                    <a:pt x="1832" y="522"/>
                  </a:lnTo>
                  <a:lnTo>
                    <a:pt x="1824" y="513"/>
                  </a:lnTo>
                  <a:lnTo>
                    <a:pt x="1820" y="510"/>
                  </a:lnTo>
                  <a:lnTo>
                    <a:pt x="1818" y="507"/>
                  </a:lnTo>
                  <a:lnTo>
                    <a:pt x="1815" y="503"/>
                  </a:lnTo>
                  <a:lnTo>
                    <a:pt x="1811" y="496"/>
                  </a:lnTo>
                  <a:lnTo>
                    <a:pt x="1803" y="491"/>
                  </a:lnTo>
                  <a:lnTo>
                    <a:pt x="1792" y="497"/>
                  </a:lnTo>
                  <a:lnTo>
                    <a:pt x="1783" y="507"/>
                  </a:lnTo>
                  <a:lnTo>
                    <a:pt x="1777" y="514"/>
                  </a:lnTo>
                  <a:lnTo>
                    <a:pt x="1771" y="518"/>
                  </a:lnTo>
                  <a:lnTo>
                    <a:pt x="1764" y="519"/>
                  </a:lnTo>
                  <a:lnTo>
                    <a:pt x="1759" y="518"/>
                  </a:lnTo>
                  <a:lnTo>
                    <a:pt x="1752" y="517"/>
                  </a:lnTo>
                  <a:lnTo>
                    <a:pt x="1744" y="514"/>
                  </a:lnTo>
                  <a:lnTo>
                    <a:pt x="1736" y="513"/>
                  </a:lnTo>
                  <a:lnTo>
                    <a:pt x="1727" y="511"/>
                  </a:lnTo>
                  <a:lnTo>
                    <a:pt x="1719" y="511"/>
                  </a:lnTo>
                  <a:lnTo>
                    <a:pt x="1712" y="512"/>
                  </a:lnTo>
                  <a:lnTo>
                    <a:pt x="1707" y="514"/>
                  </a:lnTo>
                  <a:lnTo>
                    <a:pt x="1699" y="522"/>
                  </a:lnTo>
                  <a:lnTo>
                    <a:pt x="1690" y="529"/>
                  </a:lnTo>
                  <a:lnTo>
                    <a:pt x="1682" y="537"/>
                  </a:lnTo>
                  <a:lnTo>
                    <a:pt x="1675" y="547"/>
                  </a:lnTo>
                  <a:lnTo>
                    <a:pt x="1672" y="552"/>
                  </a:lnTo>
                  <a:lnTo>
                    <a:pt x="1667" y="557"/>
                  </a:lnTo>
                  <a:lnTo>
                    <a:pt x="1661" y="560"/>
                  </a:lnTo>
                  <a:lnTo>
                    <a:pt x="1655" y="565"/>
                  </a:lnTo>
                  <a:lnTo>
                    <a:pt x="1648" y="568"/>
                  </a:lnTo>
                  <a:lnTo>
                    <a:pt x="1643" y="573"/>
                  </a:lnTo>
                  <a:lnTo>
                    <a:pt x="1637" y="578"/>
                  </a:lnTo>
                  <a:lnTo>
                    <a:pt x="1632" y="582"/>
                  </a:lnTo>
                  <a:lnTo>
                    <a:pt x="1624" y="592"/>
                  </a:lnTo>
                  <a:lnTo>
                    <a:pt x="1616" y="600"/>
                  </a:lnTo>
                  <a:lnTo>
                    <a:pt x="1608" y="608"/>
                  </a:lnTo>
                  <a:lnTo>
                    <a:pt x="1600" y="615"/>
                  </a:lnTo>
                  <a:lnTo>
                    <a:pt x="1596" y="618"/>
                  </a:lnTo>
                  <a:lnTo>
                    <a:pt x="1589" y="623"/>
                  </a:lnTo>
                  <a:lnTo>
                    <a:pt x="1582" y="626"/>
                  </a:lnTo>
                  <a:lnTo>
                    <a:pt x="1575" y="628"/>
                  </a:lnTo>
                  <a:lnTo>
                    <a:pt x="1568" y="632"/>
                  </a:lnTo>
                  <a:lnTo>
                    <a:pt x="1563" y="633"/>
                  </a:lnTo>
                  <a:lnTo>
                    <a:pt x="1559" y="635"/>
                  </a:lnTo>
                  <a:lnTo>
                    <a:pt x="1558" y="635"/>
                  </a:lnTo>
                  <a:lnTo>
                    <a:pt x="1554" y="635"/>
                  </a:lnTo>
                  <a:lnTo>
                    <a:pt x="1547" y="638"/>
                  </a:lnTo>
                  <a:lnTo>
                    <a:pt x="1540" y="645"/>
                  </a:lnTo>
                  <a:lnTo>
                    <a:pt x="1537" y="657"/>
                  </a:lnTo>
                  <a:lnTo>
                    <a:pt x="1541" y="668"/>
                  </a:lnTo>
                  <a:lnTo>
                    <a:pt x="1553" y="672"/>
                  </a:lnTo>
                  <a:lnTo>
                    <a:pt x="1562" y="676"/>
                  </a:lnTo>
                  <a:lnTo>
                    <a:pt x="1566" y="685"/>
                  </a:lnTo>
                  <a:lnTo>
                    <a:pt x="1561" y="693"/>
                  </a:lnTo>
                  <a:lnTo>
                    <a:pt x="1552" y="695"/>
                  </a:lnTo>
                  <a:lnTo>
                    <a:pt x="1543" y="694"/>
                  </a:lnTo>
                  <a:lnTo>
                    <a:pt x="1533" y="696"/>
                  </a:lnTo>
                  <a:lnTo>
                    <a:pt x="1529" y="699"/>
                  </a:lnTo>
                  <a:lnTo>
                    <a:pt x="1525" y="700"/>
                  </a:lnTo>
                  <a:lnTo>
                    <a:pt x="1521" y="702"/>
                  </a:lnTo>
                  <a:lnTo>
                    <a:pt x="1516" y="702"/>
                  </a:lnTo>
                  <a:lnTo>
                    <a:pt x="1510" y="703"/>
                  </a:lnTo>
                  <a:lnTo>
                    <a:pt x="1506" y="703"/>
                  </a:lnTo>
                  <a:lnTo>
                    <a:pt x="1502" y="703"/>
                  </a:lnTo>
                  <a:lnTo>
                    <a:pt x="1498" y="703"/>
                  </a:lnTo>
                  <a:lnTo>
                    <a:pt x="1493" y="703"/>
                  </a:lnTo>
                  <a:lnTo>
                    <a:pt x="1488" y="701"/>
                  </a:lnTo>
                  <a:lnTo>
                    <a:pt x="1483" y="700"/>
                  </a:lnTo>
                  <a:lnTo>
                    <a:pt x="1476" y="699"/>
                  </a:lnTo>
                  <a:lnTo>
                    <a:pt x="1470" y="698"/>
                  </a:lnTo>
                  <a:lnTo>
                    <a:pt x="1463" y="699"/>
                  </a:lnTo>
                  <a:lnTo>
                    <a:pt x="1457" y="702"/>
                  </a:lnTo>
                  <a:lnTo>
                    <a:pt x="1452" y="707"/>
                  </a:lnTo>
                  <a:lnTo>
                    <a:pt x="1445" y="715"/>
                  </a:lnTo>
                  <a:lnTo>
                    <a:pt x="1441" y="716"/>
                  </a:lnTo>
                  <a:lnTo>
                    <a:pt x="1434" y="714"/>
                  </a:lnTo>
                  <a:lnTo>
                    <a:pt x="1419" y="710"/>
                  </a:lnTo>
                  <a:lnTo>
                    <a:pt x="1409" y="709"/>
                  </a:lnTo>
                  <a:lnTo>
                    <a:pt x="1401" y="708"/>
                  </a:lnTo>
                  <a:lnTo>
                    <a:pt x="1393" y="706"/>
                  </a:lnTo>
                  <a:lnTo>
                    <a:pt x="1386" y="704"/>
                  </a:lnTo>
                  <a:lnTo>
                    <a:pt x="1380" y="702"/>
                  </a:lnTo>
                  <a:lnTo>
                    <a:pt x="1377" y="700"/>
                  </a:lnTo>
                  <a:lnTo>
                    <a:pt x="1374" y="696"/>
                  </a:lnTo>
                  <a:lnTo>
                    <a:pt x="1373" y="693"/>
                  </a:lnTo>
                  <a:lnTo>
                    <a:pt x="1373" y="685"/>
                  </a:lnTo>
                  <a:lnTo>
                    <a:pt x="1373" y="676"/>
                  </a:lnTo>
                  <a:lnTo>
                    <a:pt x="1373" y="665"/>
                  </a:lnTo>
                  <a:lnTo>
                    <a:pt x="1373" y="654"/>
                  </a:lnTo>
                  <a:lnTo>
                    <a:pt x="1373" y="640"/>
                  </a:lnTo>
                  <a:lnTo>
                    <a:pt x="1371" y="628"/>
                  </a:lnTo>
                  <a:lnTo>
                    <a:pt x="1366" y="621"/>
                  </a:lnTo>
                  <a:lnTo>
                    <a:pt x="1356" y="618"/>
                  </a:lnTo>
                  <a:lnTo>
                    <a:pt x="1343" y="620"/>
                  </a:lnTo>
                  <a:lnTo>
                    <a:pt x="1335" y="626"/>
                  </a:lnTo>
                  <a:lnTo>
                    <a:pt x="1329" y="633"/>
                  </a:lnTo>
                  <a:lnTo>
                    <a:pt x="1327" y="635"/>
                  </a:lnTo>
                  <a:lnTo>
                    <a:pt x="1324" y="636"/>
                  </a:lnTo>
                  <a:lnTo>
                    <a:pt x="1317" y="640"/>
                  </a:lnTo>
                  <a:lnTo>
                    <a:pt x="1309" y="646"/>
                  </a:lnTo>
                  <a:lnTo>
                    <a:pt x="1305" y="654"/>
                  </a:lnTo>
                  <a:lnTo>
                    <a:pt x="1305" y="668"/>
                  </a:lnTo>
                  <a:lnTo>
                    <a:pt x="1306" y="687"/>
                  </a:lnTo>
                  <a:lnTo>
                    <a:pt x="1309" y="707"/>
                  </a:lnTo>
                  <a:lnTo>
                    <a:pt x="1313" y="721"/>
                  </a:lnTo>
                  <a:lnTo>
                    <a:pt x="1317" y="730"/>
                  </a:lnTo>
                  <a:lnTo>
                    <a:pt x="1316" y="738"/>
                  </a:lnTo>
                  <a:lnTo>
                    <a:pt x="1311" y="744"/>
                  </a:lnTo>
                  <a:lnTo>
                    <a:pt x="1302" y="746"/>
                  </a:lnTo>
                  <a:lnTo>
                    <a:pt x="1295" y="746"/>
                  </a:lnTo>
                  <a:lnTo>
                    <a:pt x="1285" y="746"/>
                  </a:lnTo>
                  <a:lnTo>
                    <a:pt x="1273" y="747"/>
                  </a:lnTo>
                  <a:lnTo>
                    <a:pt x="1260" y="747"/>
                  </a:lnTo>
                  <a:lnTo>
                    <a:pt x="1248" y="747"/>
                  </a:lnTo>
                  <a:lnTo>
                    <a:pt x="1236" y="746"/>
                  </a:lnTo>
                  <a:lnTo>
                    <a:pt x="1227" y="745"/>
                  </a:lnTo>
                  <a:lnTo>
                    <a:pt x="1221" y="742"/>
                  </a:lnTo>
                  <a:lnTo>
                    <a:pt x="1215" y="740"/>
                  </a:lnTo>
                  <a:lnTo>
                    <a:pt x="1209" y="737"/>
                  </a:lnTo>
                  <a:lnTo>
                    <a:pt x="1200" y="734"/>
                  </a:lnTo>
                  <a:lnTo>
                    <a:pt x="1191" y="732"/>
                  </a:lnTo>
                  <a:lnTo>
                    <a:pt x="1183" y="731"/>
                  </a:lnTo>
                  <a:lnTo>
                    <a:pt x="1176" y="729"/>
                  </a:lnTo>
                  <a:lnTo>
                    <a:pt x="1172" y="727"/>
                  </a:lnTo>
                  <a:lnTo>
                    <a:pt x="1171" y="727"/>
                  </a:lnTo>
                  <a:lnTo>
                    <a:pt x="1169" y="725"/>
                  </a:lnTo>
                  <a:lnTo>
                    <a:pt x="1166" y="719"/>
                  </a:lnTo>
                  <a:lnTo>
                    <a:pt x="1159" y="716"/>
                  </a:lnTo>
                  <a:lnTo>
                    <a:pt x="1150" y="717"/>
                  </a:lnTo>
                  <a:lnTo>
                    <a:pt x="1144" y="719"/>
                  </a:lnTo>
                  <a:lnTo>
                    <a:pt x="1137" y="719"/>
                  </a:lnTo>
                  <a:lnTo>
                    <a:pt x="1131" y="719"/>
                  </a:lnTo>
                  <a:lnTo>
                    <a:pt x="1124" y="718"/>
                  </a:lnTo>
                  <a:lnTo>
                    <a:pt x="1119" y="717"/>
                  </a:lnTo>
                  <a:lnTo>
                    <a:pt x="1114" y="715"/>
                  </a:lnTo>
                  <a:lnTo>
                    <a:pt x="1112" y="714"/>
                  </a:lnTo>
                  <a:lnTo>
                    <a:pt x="1111" y="714"/>
                  </a:lnTo>
                  <a:lnTo>
                    <a:pt x="1111" y="712"/>
                  </a:lnTo>
                  <a:lnTo>
                    <a:pt x="1110" y="709"/>
                  </a:lnTo>
                  <a:lnTo>
                    <a:pt x="1107" y="703"/>
                  </a:lnTo>
                  <a:lnTo>
                    <a:pt x="1104" y="698"/>
                  </a:lnTo>
                  <a:lnTo>
                    <a:pt x="1098" y="692"/>
                  </a:lnTo>
                  <a:lnTo>
                    <a:pt x="1091" y="686"/>
                  </a:lnTo>
                  <a:lnTo>
                    <a:pt x="1083" y="683"/>
                  </a:lnTo>
                  <a:lnTo>
                    <a:pt x="1072" y="681"/>
                  </a:lnTo>
                  <a:lnTo>
                    <a:pt x="1059" y="681"/>
                  </a:lnTo>
                  <a:lnTo>
                    <a:pt x="1045" y="681"/>
                  </a:lnTo>
                  <a:lnTo>
                    <a:pt x="1030" y="680"/>
                  </a:lnTo>
                  <a:lnTo>
                    <a:pt x="1017" y="679"/>
                  </a:lnTo>
                  <a:lnTo>
                    <a:pt x="1005" y="679"/>
                  </a:lnTo>
                  <a:lnTo>
                    <a:pt x="995" y="678"/>
                  </a:lnTo>
                  <a:lnTo>
                    <a:pt x="989" y="678"/>
                  </a:lnTo>
                  <a:lnTo>
                    <a:pt x="986" y="678"/>
                  </a:lnTo>
                  <a:lnTo>
                    <a:pt x="986" y="677"/>
                  </a:lnTo>
                  <a:lnTo>
                    <a:pt x="985" y="676"/>
                  </a:lnTo>
                  <a:lnTo>
                    <a:pt x="983" y="672"/>
                  </a:lnTo>
                  <a:lnTo>
                    <a:pt x="979" y="669"/>
                  </a:lnTo>
                  <a:lnTo>
                    <a:pt x="974" y="666"/>
                  </a:lnTo>
                  <a:lnTo>
                    <a:pt x="967" y="663"/>
                  </a:lnTo>
                  <a:lnTo>
                    <a:pt x="959" y="662"/>
                  </a:lnTo>
                  <a:lnTo>
                    <a:pt x="947" y="661"/>
                  </a:lnTo>
                  <a:lnTo>
                    <a:pt x="946" y="659"/>
                  </a:lnTo>
                  <a:lnTo>
                    <a:pt x="944" y="658"/>
                  </a:lnTo>
                  <a:lnTo>
                    <a:pt x="940" y="655"/>
                  </a:lnTo>
                  <a:lnTo>
                    <a:pt x="936" y="651"/>
                  </a:lnTo>
                  <a:lnTo>
                    <a:pt x="930" y="649"/>
                  </a:lnTo>
                  <a:lnTo>
                    <a:pt x="923" y="647"/>
                  </a:lnTo>
                  <a:lnTo>
                    <a:pt x="916" y="646"/>
                  </a:lnTo>
                  <a:lnTo>
                    <a:pt x="908" y="647"/>
                  </a:lnTo>
                  <a:lnTo>
                    <a:pt x="906" y="645"/>
                  </a:lnTo>
                  <a:lnTo>
                    <a:pt x="899" y="640"/>
                  </a:lnTo>
                  <a:lnTo>
                    <a:pt x="888" y="632"/>
                  </a:lnTo>
                  <a:lnTo>
                    <a:pt x="877" y="623"/>
                  </a:lnTo>
                  <a:lnTo>
                    <a:pt x="864" y="615"/>
                  </a:lnTo>
                  <a:lnTo>
                    <a:pt x="852" y="606"/>
                  </a:lnTo>
                  <a:lnTo>
                    <a:pt x="841" y="602"/>
                  </a:lnTo>
                  <a:lnTo>
                    <a:pt x="834" y="600"/>
                  </a:lnTo>
                  <a:lnTo>
                    <a:pt x="826" y="597"/>
                  </a:lnTo>
                  <a:lnTo>
                    <a:pt x="820" y="593"/>
                  </a:lnTo>
                  <a:lnTo>
                    <a:pt x="818" y="588"/>
                  </a:lnTo>
                  <a:lnTo>
                    <a:pt x="817" y="586"/>
                  </a:lnTo>
                  <a:lnTo>
                    <a:pt x="818" y="583"/>
                  </a:lnTo>
                  <a:lnTo>
                    <a:pt x="823" y="578"/>
                  </a:lnTo>
                  <a:lnTo>
                    <a:pt x="827" y="570"/>
                  </a:lnTo>
                  <a:lnTo>
                    <a:pt x="831" y="557"/>
                  </a:lnTo>
                  <a:lnTo>
                    <a:pt x="833" y="544"/>
                  </a:lnTo>
                  <a:lnTo>
                    <a:pt x="837" y="532"/>
                  </a:lnTo>
                  <a:lnTo>
                    <a:pt x="842" y="522"/>
                  </a:lnTo>
                  <a:lnTo>
                    <a:pt x="849" y="514"/>
                  </a:lnTo>
                  <a:lnTo>
                    <a:pt x="857" y="509"/>
                  </a:lnTo>
                  <a:lnTo>
                    <a:pt x="863" y="502"/>
                  </a:lnTo>
                  <a:lnTo>
                    <a:pt x="863" y="492"/>
                  </a:lnTo>
                  <a:lnTo>
                    <a:pt x="856" y="483"/>
                  </a:lnTo>
                  <a:lnTo>
                    <a:pt x="849" y="477"/>
                  </a:lnTo>
                  <a:lnTo>
                    <a:pt x="841" y="473"/>
                  </a:lnTo>
                  <a:lnTo>
                    <a:pt x="832" y="467"/>
                  </a:lnTo>
                  <a:lnTo>
                    <a:pt x="825" y="464"/>
                  </a:lnTo>
                  <a:lnTo>
                    <a:pt x="817" y="459"/>
                  </a:lnTo>
                  <a:lnTo>
                    <a:pt x="811" y="457"/>
                  </a:lnTo>
                  <a:lnTo>
                    <a:pt x="808" y="456"/>
                  </a:lnTo>
                  <a:lnTo>
                    <a:pt x="807" y="454"/>
                  </a:lnTo>
                  <a:lnTo>
                    <a:pt x="804" y="451"/>
                  </a:lnTo>
                  <a:lnTo>
                    <a:pt x="799" y="442"/>
                  </a:lnTo>
                  <a:lnTo>
                    <a:pt x="789" y="431"/>
                  </a:lnTo>
                  <a:lnTo>
                    <a:pt x="778" y="426"/>
                  </a:lnTo>
                  <a:lnTo>
                    <a:pt x="765" y="422"/>
                  </a:lnTo>
                  <a:lnTo>
                    <a:pt x="755" y="419"/>
                  </a:lnTo>
                  <a:lnTo>
                    <a:pt x="748" y="416"/>
                  </a:lnTo>
                  <a:lnTo>
                    <a:pt x="746" y="415"/>
                  </a:lnTo>
                  <a:lnTo>
                    <a:pt x="743" y="413"/>
                  </a:lnTo>
                  <a:lnTo>
                    <a:pt x="739" y="407"/>
                  </a:lnTo>
                  <a:lnTo>
                    <a:pt x="733" y="397"/>
                  </a:lnTo>
                  <a:lnTo>
                    <a:pt x="725" y="383"/>
                  </a:lnTo>
                  <a:lnTo>
                    <a:pt x="720" y="374"/>
                  </a:lnTo>
                  <a:lnTo>
                    <a:pt x="721" y="373"/>
                  </a:lnTo>
                  <a:lnTo>
                    <a:pt x="720" y="371"/>
                  </a:lnTo>
                  <a:lnTo>
                    <a:pt x="714" y="362"/>
                  </a:lnTo>
                  <a:lnTo>
                    <a:pt x="710" y="356"/>
                  </a:lnTo>
                  <a:lnTo>
                    <a:pt x="706" y="351"/>
                  </a:lnTo>
                  <a:lnTo>
                    <a:pt x="704" y="346"/>
                  </a:lnTo>
                  <a:lnTo>
                    <a:pt x="702" y="343"/>
                  </a:lnTo>
                  <a:lnTo>
                    <a:pt x="702" y="340"/>
                  </a:lnTo>
                  <a:lnTo>
                    <a:pt x="703" y="338"/>
                  </a:lnTo>
                  <a:lnTo>
                    <a:pt x="704" y="336"/>
                  </a:lnTo>
                  <a:lnTo>
                    <a:pt x="705" y="333"/>
                  </a:lnTo>
                  <a:lnTo>
                    <a:pt x="710" y="330"/>
                  </a:lnTo>
                  <a:lnTo>
                    <a:pt x="716" y="332"/>
                  </a:lnTo>
                  <a:lnTo>
                    <a:pt x="723" y="339"/>
                  </a:lnTo>
                  <a:lnTo>
                    <a:pt x="731" y="348"/>
                  </a:lnTo>
                  <a:lnTo>
                    <a:pt x="735" y="351"/>
                  </a:lnTo>
                  <a:lnTo>
                    <a:pt x="739" y="352"/>
                  </a:lnTo>
                  <a:lnTo>
                    <a:pt x="743" y="351"/>
                  </a:lnTo>
                  <a:lnTo>
                    <a:pt x="748" y="348"/>
                  </a:lnTo>
                  <a:lnTo>
                    <a:pt x="752" y="346"/>
                  </a:lnTo>
                  <a:lnTo>
                    <a:pt x="757" y="343"/>
                  </a:lnTo>
                  <a:lnTo>
                    <a:pt x="762" y="339"/>
                  </a:lnTo>
                  <a:lnTo>
                    <a:pt x="766" y="336"/>
                  </a:lnTo>
                  <a:lnTo>
                    <a:pt x="771" y="327"/>
                  </a:lnTo>
                  <a:lnTo>
                    <a:pt x="770" y="314"/>
                  </a:lnTo>
                  <a:lnTo>
                    <a:pt x="764" y="302"/>
                  </a:lnTo>
                  <a:lnTo>
                    <a:pt x="757" y="293"/>
                  </a:lnTo>
                  <a:lnTo>
                    <a:pt x="754" y="290"/>
                  </a:lnTo>
                  <a:lnTo>
                    <a:pt x="751" y="285"/>
                  </a:lnTo>
                  <a:lnTo>
                    <a:pt x="750" y="279"/>
                  </a:lnTo>
                  <a:lnTo>
                    <a:pt x="748" y="274"/>
                  </a:lnTo>
                  <a:lnTo>
                    <a:pt x="748" y="271"/>
                  </a:lnTo>
                  <a:lnTo>
                    <a:pt x="748" y="269"/>
                  </a:lnTo>
                  <a:lnTo>
                    <a:pt x="747" y="267"/>
                  </a:lnTo>
                  <a:lnTo>
                    <a:pt x="746" y="264"/>
                  </a:lnTo>
                  <a:lnTo>
                    <a:pt x="744" y="261"/>
                  </a:lnTo>
                  <a:lnTo>
                    <a:pt x="742" y="257"/>
                  </a:lnTo>
                  <a:lnTo>
                    <a:pt x="741" y="254"/>
                  </a:lnTo>
                  <a:lnTo>
                    <a:pt x="739" y="250"/>
                  </a:lnTo>
                  <a:lnTo>
                    <a:pt x="735" y="244"/>
                  </a:lnTo>
                  <a:lnTo>
                    <a:pt x="738" y="238"/>
                  </a:lnTo>
                  <a:lnTo>
                    <a:pt x="744" y="234"/>
                  </a:lnTo>
                  <a:lnTo>
                    <a:pt x="754" y="233"/>
                  </a:lnTo>
                  <a:lnTo>
                    <a:pt x="761" y="231"/>
                  </a:lnTo>
                  <a:lnTo>
                    <a:pt x="765" y="227"/>
                  </a:lnTo>
                  <a:lnTo>
                    <a:pt x="766" y="223"/>
                  </a:lnTo>
                  <a:lnTo>
                    <a:pt x="767" y="216"/>
                  </a:lnTo>
                  <a:lnTo>
                    <a:pt x="769" y="211"/>
                  </a:lnTo>
                  <a:lnTo>
                    <a:pt x="772" y="206"/>
                  </a:lnTo>
                  <a:lnTo>
                    <a:pt x="776" y="200"/>
                  </a:lnTo>
                  <a:lnTo>
                    <a:pt x="780" y="193"/>
                  </a:lnTo>
                  <a:lnTo>
                    <a:pt x="786" y="186"/>
                  </a:lnTo>
                  <a:lnTo>
                    <a:pt x="792" y="179"/>
                  </a:lnTo>
                  <a:lnTo>
                    <a:pt x="797" y="172"/>
                  </a:lnTo>
                  <a:lnTo>
                    <a:pt x="803" y="165"/>
                  </a:lnTo>
                  <a:lnTo>
                    <a:pt x="810" y="150"/>
                  </a:lnTo>
                  <a:lnTo>
                    <a:pt x="811" y="134"/>
                  </a:lnTo>
                  <a:lnTo>
                    <a:pt x="807" y="120"/>
                  </a:lnTo>
                  <a:lnTo>
                    <a:pt x="800" y="112"/>
                  </a:lnTo>
                  <a:lnTo>
                    <a:pt x="792" y="108"/>
                  </a:lnTo>
                  <a:lnTo>
                    <a:pt x="784" y="101"/>
                  </a:lnTo>
                  <a:lnTo>
                    <a:pt x="776" y="93"/>
                  </a:lnTo>
                  <a:lnTo>
                    <a:pt x="766" y="82"/>
                  </a:lnTo>
                  <a:lnTo>
                    <a:pt x="761" y="78"/>
                  </a:lnTo>
                  <a:lnTo>
                    <a:pt x="752" y="76"/>
                  </a:lnTo>
                  <a:lnTo>
                    <a:pt x="743" y="76"/>
                  </a:lnTo>
                  <a:lnTo>
                    <a:pt x="733" y="79"/>
                  </a:lnTo>
                  <a:lnTo>
                    <a:pt x="721" y="82"/>
                  </a:lnTo>
                  <a:lnTo>
                    <a:pt x="710" y="87"/>
                  </a:lnTo>
                  <a:lnTo>
                    <a:pt x="698" y="93"/>
                  </a:lnTo>
                  <a:lnTo>
                    <a:pt x="688" y="98"/>
                  </a:lnTo>
                  <a:lnTo>
                    <a:pt x="680" y="104"/>
                  </a:lnTo>
                  <a:lnTo>
                    <a:pt x="674" y="109"/>
                  </a:lnTo>
                  <a:lnTo>
                    <a:pt x="668" y="115"/>
                  </a:lnTo>
                  <a:lnTo>
                    <a:pt x="665" y="119"/>
                  </a:lnTo>
                  <a:lnTo>
                    <a:pt x="660" y="116"/>
                  </a:lnTo>
                  <a:lnTo>
                    <a:pt x="656" y="113"/>
                  </a:lnTo>
                  <a:lnTo>
                    <a:pt x="649" y="112"/>
                  </a:lnTo>
                  <a:lnTo>
                    <a:pt x="643" y="112"/>
                  </a:lnTo>
                  <a:lnTo>
                    <a:pt x="636" y="112"/>
                  </a:lnTo>
                  <a:lnTo>
                    <a:pt x="630" y="111"/>
                  </a:lnTo>
                  <a:lnTo>
                    <a:pt x="626" y="111"/>
                  </a:lnTo>
                  <a:lnTo>
                    <a:pt x="622" y="109"/>
                  </a:lnTo>
                  <a:lnTo>
                    <a:pt x="619" y="106"/>
                  </a:lnTo>
                  <a:lnTo>
                    <a:pt x="615" y="105"/>
                  </a:lnTo>
                  <a:lnTo>
                    <a:pt x="610" y="104"/>
                  </a:lnTo>
                  <a:lnTo>
                    <a:pt x="605" y="103"/>
                  </a:lnTo>
                  <a:lnTo>
                    <a:pt x="599" y="103"/>
                  </a:lnTo>
                  <a:lnTo>
                    <a:pt x="595" y="101"/>
                  </a:lnTo>
                  <a:lnTo>
                    <a:pt x="590" y="98"/>
                  </a:lnTo>
                  <a:lnTo>
                    <a:pt x="587" y="95"/>
                  </a:lnTo>
                  <a:lnTo>
                    <a:pt x="581" y="89"/>
                  </a:lnTo>
                  <a:lnTo>
                    <a:pt x="576" y="86"/>
                  </a:lnTo>
                  <a:lnTo>
                    <a:pt x="571" y="83"/>
                  </a:lnTo>
                  <a:lnTo>
                    <a:pt x="564" y="80"/>
                  </a:lnTo>
                  <a:lnTo>
                    <a:pt x="557" y="74"/>
                  </a:lnTo>
                  <a:lnTo>
                    <a:pt x="551" y="68"/>
                  </a:lnTo>
                  <a:lnTo>
                    <a:pt x="549" y="62"/>
                  </a:lnTo>
                  <a:lnTo>
                    <a:pt x="549" y="53"/>
                  </a:lnTo>
                  <a:lnTo>
                    <a:pt x="550" y="44"/>
                  </a:lnTo>
                  <a:lnTo>
                    <a:pt x="546" y="36"/>
                  </a:lnTo>
                  <a:lnTo>
                    <a:pt x="541" y="30"/>
                  </a:lnTo>
                  <a:lnTo>
                    <a:pt x="534" y="28"/>
                  </a:lnTo>
                  <a:lnTo>
                    <a:pt x="528" y="27"/>
                  </a:lnTo>
                  <a:lnTo>
                    <a:pt x="523" y="23"/>
                  </a:lnTo>
                  <a:lnTo>
                    <a:pt x="519" y="18"/>
                  </a:lnTo>
                  <a:lnTo>
                    <a:pt x="515" y="10"/>
                  </a:lnTo>
                  <a:lnTo>
                    <a:pt x="509" y="4"/>
                  </a:lnTo>
                  <a:lnTo>
                    <a:pt x="501" y="2"/>
                  </a:lnTo>
                  <a:lnTo>
                    <a:pt x="491" y="3"/>
                  </a:lnTo>
                  <a:lnTo>
                    <a:pt x="483" y="2"/>
                  </a:lnTo>
                  <a:lnTo>
                    <a:pt x="480" y="0"/>
                  </a:lnTo>
                  <a:lnTo>
                    <a:pt x="475" y="0"/>
                  </a:lnTo>
                  <a:lnTo>
                    <a:pt x="470" y="0"/>
                  </a:lnTo>
                  <a:lnTo>
                    <a:pt x="466" y="2"/>
                  </a:lnTo>
                  <a:lnTo>
                    <a:pt x="461" y="3"/>
                  </a:lnTo>
                  <a:lnTo>
                    <a:pt x="457" y="5"/>
                  </a:lnTo>
                  <a:lnTo>
                    <a:pt x="452" y="7"/>
                  </a:lnTo>
                  <a:lnTo>
                    <a:pt x="448" y="10"/>
                  </a:lnTo>
                  <a:lnTo>
                    <a:pt x="445" y="13"/>
                  </a:lnTo>
                  <a:lnTo>
                    <a:pt x="440" y="15"/>
                  </a:lnTo>
                  <a:lnTo>
                    <a:pt x="435" y="18"/>
                  </a:lnTo>
                  <a:lnTo>
                    <a:pt x="430" y="19"/>
                  </a:lnTo>
                  <a:lnTo>
                    <a:pt x="424" y="20"/>
                  </a:lnTo>
                  <a:lnTo>
                    <a:pt x="419" y="21"/>
                  </a:lnTo>
                  <a:lnTo>
                    <a:pt x="414" y="21"/>
                  </a:lnTo>
                  <a:lnTo>
                    <a:pt x="410" y="21"/>
                  </a:lnTo>
                  <a:lnTo>
                    <a:pt x="404" y="21"/>
                  </a:lnTo>
                  <a:lnTo>
                    <a:pt x="395" y="23"/>
                  </a:lnTo>
                  <a:lnTo>
                    <a:pt x="386" y="26"/>
                  </a:lnTo>
                  <a:lnTo>
                    <a:pt x="379" y="29"/>
                  </a:lnTo>
                  <a:lnTo>
                    <a:pt x="372" y="36"/>
                  </a:lnTo>
                  <a:lnTo>
                    <a:pt x="362" y="45"/>
                  </a:lnTo>
                  <a:lnTo>
                    <a:pt x="353" y="56"/>
                  </a:lnTo>
                  <a:lnTo>
                    <a:pt x="347" y="63"/>
                  </a:lnTo>
                  <a:lnTo>
                    <a:pt x="346" y="67"/>
                  </a:lnTo>
                  <a:lnTo>
                    <a:pt x="348" y="72"/>
                  </a:lnTo>
                  <a:lnTo>
                    <a:pt x="353" y="75"/>
                  </a:lnTo>
                  <a:lnTo>
                    <a:pt x="360" y="78"/>
                  </a:lnTo>
                  <a:lnTo>
                    <a:pt x="363" y="79"/>
                  </a:lnTo>
                  <a:lnTo>
                    <a:pt x="367" y="81"/>
                  </a:lnTo>
                  <a:lnTo>
                    <a:pt x="370" y="83"/>
                  </a:lnTo>
                  <a:lnTo>
                    <a:pt x="374" y="87"/>
                  </a:lnTo>
                  <a:lnTo>
                    <a:pt x="378" y="90"/>
                  </a:lnTo>
                  <a:lnTo>
                    <a:pt x="384" y="94"/>
                  </a:lnTo>
                  <a:lnTo>
                    <a:pt x="390" y="98"/>
                  </a:lnTo>
                  <a:lnTo>
                    <a:pt x="397" y="102"/>
                  </a:lnTo>
                  <a:lnTo>
                    <a:pt x="409" y="111"/>
                  </a:lnTo>
                  <a:lnTo>
                    <a:pt x="419" y="123"/>
                  </a:lnTo>
                  <a:lnTo>
                    <a:pt x="424" y="134"/>
                  </a:lnTo>
                  <a:lnTo>
                    <a:pt x="427" y="142"/>
                  </a:lnTo>
                  <a:lnTo>
                    <a:pt x="423" y="150"/>
                  </a:lnTo>
                  <a:lnTo>
                    <a:pt x="415" y="161"/>
                  </a:lnTo>
                  <a:lnTo>
                    <a:pt x="406" y="172"/>
                  </a:lnTo>
                  <a:lnTo>
                    <a:pt x="398" y="179"/>
                  </a:lnTo>
                  <a:lnTo>
                    <a:pt x="394" y="185"/>
                  </a:lnTo>
                  <a:lnTo>
                    <a:pt x="393" y="193"/>
                  </a:lnTo>
                  <a:lnTo>
                    <a:pt x="394" y="203"/>
                  </a:lnTo>
                  <a:lnTo>
                    <a:pt x="397" y="215"/>
                  </a:lnTo>
                  <a:lnTo>
                    <a:pt x="398" y="231"/>
                  </a:lnTo>
                  <a:lnTo>
                    <a:pt x="399" y="249"/>
                  </a:lnTo>
                  <a:lnTo>
                    <a:pt x="400" y="268"/>
                  </a:lnTo>
                  <a:lnTo>
                    <a:pt x="404" y="280"/>
                  </a:lnTo>
                  <a:lnTo>
                    <a:pt x="407" y="285"/>
                  </a:lnTo>
                  <a:lnTo>
                    <a:pt x="412" y="290"/>
                  </a:lnTo>
                  <a:lnTo>
                    <a:pt x="417" y="293"/>
                  </a:lnTo>
                  <a:lnTo>
                    <a:pt x="424" y="298"/>
                  </a:lnTo>
                  <a:lnTo>
                    <a:pt x="430" y="301"/>
                  </a:lnTo>
                  <a:lnTo>
                    <a:pt x="436" y="303"/>
                  </a:lnTo>
                  <a:lnTo>
                    <a:pt x="442" y="306"/>
                  </a:lnTo>
                  <a:lnTo>
                    <a:pt x="447" y="308"/>
                  </a:lnTo>
                  <a:lnTo>
                    <a:pt x="447" y="309"/>
                  </a:lnTo>
                  <a:lnTo>
                    <a:pt x="447" y="317"/>
                  </a:lnTo>
                  <a:lnTo>
                    <a:pt x="448" y="324"/>
                  </a:lnTo>
                  <a:lnTo>
                    <a:pt x="453" y="330"/>
                  </a:lnTo>
                  <a:lnTo>
                    <a:pt x="458" y="335"/>
                  </a:lnTo>
                  <a:lnTo>
                    <a:pt x="463" y="338"/>
                  </a:lnTo>
                  <a:lnTo>
                    <a:pt x="469" y="340"/>
                  </a:lnTo>
                  <a:lnTo>
                    <a:pt x="476" y="343"/>
                  </a:lnTo>
                  <a:lnTo>
                    <a:pt x="483" y="344"/>
                  </a:lnTo>
                  <a:lnTo>
                    <a:pt x="488" y="345"/>
                  </a:lnTo>
                  <a:lnTo>
                    <a:pt x="490" y="347"/>
                  </a:lnTo>
                  <a:lnTo>
                    <a:pt x="489" y="350"/>
                  </a:lnTo>
                  <a:lnTo>
                    <a:pt x="485" y="351"/>
                  </a:lnTo>
                  <a:lnTo>
                    <a:pt x="481" y="353"/>
                  </a:lnTo>
                  <a:lnTo>
                    <a:pt x="475" y="355"/>
                  </a:lnTo>
                  <a:lnTo>
                    <a:pt x="470" y="358"/>
                  </a:lnTo>
                  <a:lnTo>
                    <a:pt x="466" y="359"/>
                  </a:lnTo>
                  <a:lnTo>
                    <a:pt x="457" y="362"/>
                  </a:lnTo>
                  <a:lnTo>
                    <a:pt x="448" y="367"/>
                  </a:lnTo>
                  <a:lnTo>
                    <a:pt x="443" y="375"/>
                  </a:lnTo>
                  <a:lnTo>
                    <a:pt x="440" y="386"/>
                  </a:lnTo>
                  <a:lnTo>
                    <a:pt x="439" y="400"/>
                  </a:lnTo>
                  <a:lnTo>
                    <a:pt x="437" y="415"/>
                  </a:lnTo>
                  <a:lnTo>
                    <a:pt x="433" y="428"/>
                  </a:lnTo>
                  <a:lnTo>
                    <a:pt x="427" y="441"/>
                  </a:lnTo>
                  <a:lnTo>
                    <a:pt x="416" y="452"/>
                  </a:lnTo>
                  <a:lnTo>
                    <a:pt x="406" y="465"/>
                  </a:lnTo>
                  <a:lnTo>
                    <a:pt x="398" y="479"/>
                  </a:lnTo>
                  <a:lnTo>
                    <a:pt x="394" y="490"/>
                  </a:lnTo>
                  <a:lnTo>
                    <a:pt x="391" y="497"/>
                  </a:lnTo>
                  <a:lnTo>
                    <a:pt x="382" y="502"/>
                  </a:lnTo>
                  <a:lnTo>
                    <a:pt x="371" y="507"/>
                  </a:lnTo>
                  <a:lnTo>
                    <a:pt x="362" y="519"/>
                  </a:lnTo>
                  <a:lnTo>
                    <a:pt x="354" y="532"/>
                  </a:lnTo>
                  <a:lnTo>
                    <a:pt x="346" y="541"/>
                  </a:lnTo>
                  <a:lnTo>
                    <a:pt x="340" y="550"/>
                  </a:lnTo>
                  <a:lnTo>
                    <a:pt x="338" y="562"/>
                  </a:lnTo>
                  <a:lnTo>
                    <a:pt x="337" y="567"/>
                  </a:lnTo>
                  <a:lnTo>
                    <a:pt x="332" y="571"/>
                  </a:lnTo>
                  <a:lnTo>
                    <a:pt x="326" y="572"/>
                  </a:lnTo>
                  <a:lnTo>
                    <a:pt x="319" y="574"/>
                  </a:lnTo>
                  <a:lnTo>
                    <a:pt x="311" y="575"/>
                  </a:lnTo>
                  <a:lnTo>
                    <a:pt x="305" y="579"/>
                  </a:lnTo>
                  <a:lnTo>
                    <a:pt x="299" y="582"/>
                  </a:lnTo>
                  <a:lnTo>
                    <a:pt x="295" y="589"/>
                  </a:lnTo>
                  <a:lnTo>
                    <a:pt x="288" y="604"/>
                  </a:lnTo>
                  <a:lnTo>
                    <a:pt x="279" y="617"/>
                  </a:lnTo>
                  <a:lnTo>
                    <a:pt x="271" y="628"/>
                  </a:lnTo>
                  <a:lnTo>
                    <a:pt x="266" y="639"/>
                  </a:lnTo>
                  <a:lnTo>
                    <a:pt x="224" y="650"/>
                  </a:lnTo>
                  <a:lnTo>
                    <a:pt x="223" y="651"/>
                  </a:lnTo>
                  <a:lnTo>
                    <a:pt x="218" y="653"/>
                  </a:lnTo>
                  <a:lnTo>
                    <a:pt x="212" y="651"/>
                  </a:lnTo>
                  <a:lnTo>
                    <a:pt x="207" y="647"/>
                  </a:lnTo>
                  <a:lnTo>
                    <a:pt x="201" y="638"/>
                  </a:lnTo>
                  <a:lnTo>
                    <a:pt x="194" y="631"/>
                  </a:lnTo>
                  <a:lnTo>
                    <a:pt x="186" y="627"/>
                  </a:lnTo>
                  <a:lnTo>
                    <a:pt x="174" y="628"/>
                  </a:lnTo>
                  <a:lnTo>
                    <a:pt x="167" y="632"/>
                  </a:lnTo>
                  <a:lnTo>
                    <a:pt x="161" y="638"/>
                  </a:lnTo>
                  <a:lnTo>
                    <a:pt x="155" y="643"/>
                  </a:lnTo>
                  <a:lnTo>
                    <a:pt x="150" y="650"/>
                  </a:lnTo>
                  <a:lnTo>
                    <a:pt x="146" y="657"/>
                  </a:lnTo>
                  <a:lnTo>
                    <a:pt x="142" y="663"/>
                  </a:lnTo>
                  <a:lnTo>
                    <a:pt x="140" y="666"/>
                  </a:lnTo>
                  <a:lnTo>
                    <a:pt x="139" y="668"/>
                  </a:lnTo>
                  <a:lnTo>
                    <a:pt x="134" y="670"/>
                  </a:lnTo>
                  <a:lnTo>
                    <a:pt x="123" y="677"/>
                  </a:lnTo>
                  <a:lnTo>
                    <a:pt x="111" y="689"/>
                  </a:lnTo>
                  <a:lnTo>
                    <a:pt x="106" y="710"/>
                  </a:lnTo>
                  <a:lnTo>
                    <a:pt x="109" y="732"/>
                  </a:lnTo>
                  <a:lnTo>
                    <a:pt x="116" y="747"/>
                  </a:lnTo>
                  <a:lnTo>
                    <a:pt x="125" y="757"/>
                  </a:lnTo>
                  <a:lnTo>
                    <a:pt x="135" y="763"/>
                  </a:lnTo>
                  <a:lnTo>
                    <a:pt x="136" y="770"/>
                  </a:lnTo>
                  <a:lnTo>
                    <a:pt x="139" y="787"/>
                  </a:lnTo>
                  <a:lnTo>
                    <a:pt x="144" y="806"/>
                  </a:lnTo>
                  <a:lnTo>
                    <a:pt x="152" y="817"/>
                  </a:lnTo>
                  <a:lnTo>
                    <a:pt x="164" y="827"/>
                  </a:lnTo>
                  <a:lnTo>
                    <a:pt x="174" y="842"/>
                  </a:lnTo>
                  <a:lnTo>
                    <a:pt x="181" y="854"/>
                  </a:lnTo>
                  <a:lnTo>
                    <a:pt x="185" y="860"/>
                  </a:lnTo>
                  <a:lnTo>
                    <a:pt x="188" y="913"/>
                  </a:lnTo>
                  <a:lnTo>
                    <a:pt x="187" y="912"/>
                  </a:lnTo>
                  <a:lnTo>
                    <a:pt x="185" y="908"/>
                  </a:lnTo>
                  <a:lnTo>
                    <a:pt x="181" y="905"/>
                  </a:lnTo>
                  <a:lnTo>
                    <a:pt x="176" y="900"/>
                  </a:lnTo>
                  <a:lnTo>
                    <a:pt x="167" y="898"/>
                  </a:lnTo>
                  <a:lnTo>
                    <a:pt x="158" y="897"/>
                  </a:lnTo>
                  <a:lnTo>
                    <a:pt x="148" y="898"/>
                  </a:lnTo>
                  <a:lnTo>
                    <a:pt x="135" y="903"/>
                  </a:lnTo>
                  <a:lnTo>
                    <a:pt x="133" y="903"/>
                  </a:lnTo>
                  <a:lnTo>
                    <a:pt x="126" y="900"/>
                  </a:lnTo>
                  <a:lnTo>
                    <a:pt x="116" y="899"/>
                  </a:lnTo>
                  <a:lnTo>
                    <a:pt x="103" y="897"/>
                  </a:lnTo>
                  <a:lnTo>
                    <a:pt x="90" y="895"/>
                  </a:lnTo>
                  <a:lnTo>
                    <a:pt x="78" y="893"/>
                  </a:lnTo>
                  <a:lnTo>
                    <a:pt x="67" y="891"/>
                  </a:lnTo>
                  <a:lnTo>
                    <a:pt x="60" y="891"/>
                  </a:lnTo>
                  <a:lnTo>
                    <a:pt x="51" y="896"/>
                  </a:lnTo>
                  <a:lnTo>
                    <a:pt x="45" y="905"/>
                  </a:lnTo>
                  <a:lnTo>
                    <a:pt x="41" y="915"/>
                  </a:lnTo>
                  <a:lnTo>
                    <a:pt x="40" y="920"/>
                  </a:lnTo>
                  <a:lnTo>
                    <a:pt x="38" y="920"/>
                  </a:lnTo>
                  <a:lnTo>
                    <a:pt x="35" y="920"/>
                  </a:lnTo>
                  <a:lnTo>
                    <a:pt x="29" y="921"/>
                  </a:lnTo>
                  <a:lnTo>
                    <a:pt x="22" y="922"/>
                  </a:lnTo>
                  <a:lnTo>
                    <a:pt x="15" y="924"/>
                  </a:lnTo>
                  <a:lnTo>
                    <a:pt x="10" y="927"/>
                  </a:lnTo>
                  <a:lnTo>
                    <a:pt x="4" y="931"/>
                  </a:lnTo>
                  <a:lnTo>
                    <a:pt x="0" y="937"/>
                  </a:lnTo>
                  <a:lnTo>
                    <a:pt x="3" y="937"/>
                  </a:lnTo>
                  <a:lnTo>
                    <a:pt x="9" y="939"/>
                  </a:lnTo>
                  <a:lnTo>
                    <a:pt x="15" y="943"/>
                  </a:lnTo>
                  <a:lnTo>
                    <a:pt x="21" y="952"/>
                  </a:lnTo>
                  <a:lnTo>
                    <a:pt x="50" y="941"/>
                  </a:lnTo>
                  <a:lnTo>
                    <a:pt x="49" y="944"/>
                  </a:lnTo>
                  <a:lnTo>
                    <a:pt x="44" y="952"/>
                  </a:lnTo>
                  <a:lnTo>
                    <a:pt x="37" y="960"/>
                  </a:lnTo>
                  <a:lnTo>
                    <a:pt x="28" y="966"/>
                  </a:lnTo>
                  <a:lnTo>
                    <a:pt x="32" y="969"/>
                  </a:lnTo>
                  <a:lnTo>
                    <a:pt x="38" y="979"/>
                  </a:lnTo>
                  <a:lnTo>
                    <a:pt x="48" y="990"/>
                  </a:lnTo>
                  <a:lnTo>
                    <a:pt x="57" y="1002"/>
                  </a:lnTo>
                  <a:lnTo>
                    <a:pt x="62" y="1006"/>
                  </a:lnTo>
                  <a:lnTo>
                    <a:pt x="65" y="1011"/>
                  </a:lnTo>
                  <a:lnTo>
                    <a:pt x="71" y="1014"/>
                  </a:lnTo>
                  <a:lnTo>
                    <a:pt x="75" y="1017"/>
                  </a:lnTo>
                  <a:lnTo>
                    <a:pt x="81" y="1019"/>
                  </a:lnTo>
                  <a:lnTo>
                    <a:pt x="87" y="1021"/>
                  </a:lnTo>
                  <a:lnTo>
                    <a:pt x="93" y="1022"/>
                  </a:lnTo>
                  <a:lnTo>
                    <a:pt x="100" y="1022"/>
                  </a:lnTo>
                  <a:lnTo>
                    <a:pt x="106" y="1022"/>
                  </a:lnTo>
                  <a:lnTo>
                    <a:pt x="114" y="1021"/>
                  </a:lnTo>
                  <a:lnTo>
                    <a:pt x="121" y="1019"/>
                  </a:lnTo>
                  <a:lnTo>
                    <a:pt x="129" y="1017"/>
                  </a:lnTo>
                  <a:lnTo>
                    <a:pt x="135" y="1016"/>
                  </a:lnTo>
                  <a:lnTo>
                    <a:pt x="141" y="1013"/>
                  </a:lnTo>
                  <a:lnTo>
                    <a:pt x="144" y="1012"/>
                  </a:lnTo>
                  <a:lnTo>
                    <a:pt x="146" y="1012"/>
                  </a:lnTo>
                  <a:lnTo>
                    <a:pt x="147" y="1016"/>
                  </a:lnTo>
                  <a:lnTo>
                    <a:pt x="149" y="1024"/>
                  </a:lnTo>
                  <a:lnTo>
                    <a:pt x="149" y="1034"/>
                  </a:lnTo>
                  <a:lnTo>
                    <a:pt x="142" y="1041"/>
                  </a:lnTo>
                  <a:lnTo>
                    <a:pt x="133" y="1044"/>
                  </a:lnTo>
                  <a:lnTo>
                    <a:pt x="125" y="1045"/>
                  </a:lnTo>
                  <a:lnTo>
                    <a:pt x="118" y="1048"/>
                  </a:lnTo>
                  <a:lnTo>
                    <a:pt x="110" y="1051"/>
                  </a:lnTo>
                  <a:lnTo>
                    <a:pt x="101" y="1055"/>
                  </a:lnTo>
                  <a:lnTo>
                    <a:pt x="90" y="1056"/>
                  </a:lnTo>
                  <a:lnTo>
                    <a:pt x="82" y="1055"/>
                  </a:lnTo>
                  <a:lnTo>
                    <a:pt x="79" y="1055"/>
                  </a:lnTo>
                  <a:lnTo>
                    <a:pt x="60" y="1048"/>
                  </a:lnTo>
                  <a:lnTo>
                    <a:pt x="64" y="1065"/>
                  </a:lnTo>
                  <a:lnTo>
                    <a:pt x="67" y="1069"/>
                  </a:lnTo>
                  <a:lnTo>
                    <a:pt x="75" y="1075"/>
                  </a:lnTo>
                  <a:lnTo>
                    <a:pt x="86" y="1087"/>
                  </a:lnTo>
                  <a:lnTo>
                    <a:pt x="93" y="1097"/>
                  </a:lnTo>
                  <a:lnTo>
                    <a:pt x="96" y="1103"/>
                  </a:lnTo>
                  <a:lnTo>
                    <a:pt x="100" y="1111"/>
                  </a:lnTo>
                  <a:lnTo>
                    <a:pt x="104" y="1119"/>
                  </a:lnTo>
                  <a:lnTo>
                    <a:pt x="110" y="1128"/>
                  </a:lnTo>
                  <a:lnTo>
                    <a:pt x="117" y="1138"/>
                  </a:lnTo>
                  <a:lnTo>
                    <a:pt x="124" y="1147"/>
                  </a:lnTo>
                  <a:lnTo>
                    <a:pt x="131" y="1154"/>
                  </a:lnTo>
                  <a:lnTo>
                    <a:pt x="139" y="1161"/>
                  </a:lnTo>
                  <a:lnTo>
                    <a:pt x="146" y="1165"/>
                  </a:lnTo>
                  <a:lnTo>
                    <a:pt x="151" y="1169"/>
                  </a:lnTo>
                  <a:lnTo>
                    <a:pt x="156" y="1172"/>
                  </a:lnTo>
                  <a:lnTo>
                    <a:pt x="161" y="1174"/>
                  </a:lnTo>
                  <a:lnTo>
                    <a:pt x="164" y="1176"/>
                  </a:lnTo>
                  <a:lnTo>
                    <a:pt x="170" y="1177"/>
                  </a:lnTo>
                  <a:lnTo>
                    <a:pt x="177" y="1178"/>
                  </a:lnTo>
                  <a:lnTo>
                    <a:pt x="185" y="1178"/>
                  </a:lnTo>
                  <a:lnTo>
                    <a:pt x="195" y="1177"/>
                  </a:lnTo>
                  <a:lnTo>
                    <a:pt x="205" y="1174"/>
                  </a:lnTo>
                  <a:lnTo>
                    <a:pt x="216" y="1171"/>
                  </a:lnTo>
                  <a:lnTo>
                    <a:pt x="226" y="1168"/>
                  </a:lnTo>
                  <a:lnTo>
                    <a:pt x="235" y="1163"/>
                  </a:lnTo>
                  <a:lnTo>
                    <a:pt x="243" y="1160"/>
                  </a:lnTo>
                  <a:lnTo>
                    <a:pt x="250" y="1156"/>
                  </a:lnTo>
                  <a:lnTo>
                    <a:pt x="256" y="1154"/>
                  </a:lnTo>
                  <a:lnTo>
                    <a:pt x="264" y="1148"/>
                  </a:lnTo>
                  <a:lnTo>
                    <a:pt x="270" y="1140"/>
                  </a:lnTo>
                  <a:lnTo>
                    <a:pt x="275" y="1128"/>
                  </a:lnTo>
                  <a:lnTo>
                    <a:pt x="277" y="1116"/>
                  </a:lnTo>
                  <a:lnTo>
                    <a:pt x="278" y="1102"/>
                  </a:lnTo>
                  <a:lnTo>
                    <a:pt x="281" y="1090"/>
                  </a:lnTo>
                  <a:lnTo>
                    <a:pt x="287" y="1083"/>
                  </a:lnTo>
                  <a:lnTo>
                    <a:pt x="295" y="1083"/>
                  </a:lnTo>
                  <a:lnTo>
                    <a:pt x="301" y="1090"/>
                  </a:lnTo>
                  <a:lnTo>
                    <a:pt x="302" y="1098"/>
                  </a:lnTo>
                  <a:lnTo>
                    <a:pt x="302" y="1110"/>
                  </a:lnTo>
                  <a:lnTo>
                    <a:pt x="302" y="1123"/>
                  </a:lnTo>
                  <a:lnTo>
                    <a:pt x="305" y="1135"/>
                  </a:lnTo>
                  <a:lnTo>
                    <a:pt x="310" y="1149"/>
                  </a:lnTo>
                  <a:lnTo>
                    <a:pt x="315" y="1163"/>
                  </a:lnTo>
                  <a:lnTo>
                    <a:pt x="316" y="1178"/>
                  </a:lnTo>
                  <a:lnTo>
                    <a:pt x="313" y="1193"/>
                  </a:lnTo>
                  <a:lnTo>
                    <a:pt x="309" y="1208"/>
                  </a:lnTo>
                  <a:lnTo>
                    <a:pt x="306" y="1225"/>
                  </a:lnTo>
                  <a:lnTo>
                    <a:pt x="302" y="1246"/>
                  </a:lnTo>
                  <a:lnTo>
                    <a:pt x="303" y="1267"/>
                  </a:lnTo>
                  <a:lnTo>
                    <a:pt x="309" y="1283"/>
                  </a:lnTo>
                  <a:lnTo>
                    <a:pt x="315" y="1297"/>
                  </a:lnTo>
                  <a:lnTo>
                    <a:pt x="316" y="1309"/>
                  </a:lnTo>
                  <a:lnTo>
                    <a:pt x="313" y="1323"/>
                  </a:lnTo>
                  <a:lnTo>
                    <a:pt x="309" y="1338"/>
                  </a:lnTo>
                  <a:lnTo>
                    <a:pt x="308" y="1353"/>
                  </a:lnTo>
                  <a:lnTo>
                    <a:pt x="313" y="1367"/>
                  </a:lnTo>
                  <a:lnTo>
                    <a:pt x="317" y="1375"/>
                  </a:lnTo>
                  <a:lnTo>
                    <a:pt x="323" y="1386"/>
                  </a:lnTo>
                  <a:lnTo>
                    <a:pt x="329" y="1399"/>
                  </a:lnTo>
                  <a:lnTo>
                    <a:pt x="334" y="1413"/>
                  </a:lnTo>
                  <a:lnTo>
                    <a:pt x="339" y="1427"/>
                  </a:lnTo>
                  <a:lnTo>
                    <a:pt x="343" y="1441"/>
                  </a:lnTo>
                  <a:lnTo>
                    <a:pt x="345" y="1453"/>
                  </a:lnTo>
                  <a:lnTo>
                    <a:pt x="345" y="1463"/>
                  </a:lnTo>
                  <a:lnTo>
                    <a:pt x="343" y="1478"/>
                  </a:lnTo>
                  <a:lnTo>
                    <a:pt x="344" y="1492"/>
                  </a:lnTo>
                  <a:lnTo>
                    <a:pt x="347" y="1510"/>
                  </a:lnTo>
                  <a:lnTo>
                    <a:pt x="355" y="1533"/>
                  </a:lnTo>
                  <a:lnTo>
                    <a:pt x="361" y="1545"/>
                  </a:lnTo>
                  <a:lnTo>
                    <a:pt x="367" y="1558"/>
                  </a:lnTo>
                  <a:lnTo>
                    <a:pt x="372" y="1570"/>
                  </a:lnTo>
                  <a:lnTo>
                    <a:pt x="378" y="1580"/>
                  </a:lnTo>
                  <a:lnTo>
                    <a:pt x="384" y="1592"/>
                  </a:lnTo>
                  <a:lnTo>
                    <a:pt x="389" y="1602"/>
                  </a:lnTo>
                  <a:lnTo>
                    <a:pt x="393" y="1612"/>
                  </a:lnTo>
                  <a:lnTo>
                    <a:pt x="398" y="1623"/>
                  </a:lnTo>
                  <a:lnTo>
                    <a:pt x="402" y="1638"/>
                  </a:lnTo>
                  <a:lnTo>
                    <a:pt x="404" y="1647"/>
                  </a:lnTo>
                  <a:lnTo>
                    <a:pt x="405" y="1660"/>
                  </a:lnTo>
                  <a:lnTo>
                    <a:pt x="412" y="1683"/>
                  </a:lnTo>
                  <a:lnTo>
                    <a:pt x="417" y="1699"/>
                  </a:lnTo>
                  <a:lnTo>
                    <a:pt x="423" y="1714"/>
                  </a:lnTo>
                  <a:lnTo>
                    <a:pt x="430" y="1729"/>
                  </a:lnTo>
                  <a:lnTo>
                    <a:pt x="435" y="1743"/>
                  </a:lnTo>
                  <a:lnTo>
                    <a:pt x="440" y="1755"/>
                  </a:lnTo>
                  <a:lnTo>
                    <a:pt x="444" y="1767"/>
                  </a:lnTo>
                  <a:lnTo>
                    <a:pt x="446" y="1775"/>
                  </a:lnTo>
                  <a:lnTo>
                    <a:pt x="447" y="1782"/>
                  </a:lnTo>
                  <a:lnTo>
                    <a:pt x="448" y="1789"/>
                  </a:lnTo>
                  <a:lnTo>
                    <a:pt x="452" y="1796"/>
                  </a:lnTo>
                  <a:lnTo>
                    <a:pt x="457" y="1805"/>
                  </a:lnTo>
                  <a:lnTo>
                    <a:pt x="462" y="1813"/>
                  </a:lnTo>
                  <a:lnTo>
                    <a:pt x="469" y="1822"/>
                  </a:lnTo>
                  <a:lnTo>
                    <a:pt x="476" y="1829"/>
                  </a:lnTo>
                  <a:lnTo>
                    <a:pt x="483" y="1835"/>
                  </a:lnTo>
                  <a:lnTo>
                    <a:pt x="490" y="1839"/>
                  </a:lnTo>
                  <a:lnTo>
                    <a:pt x="493" y="1849"/>
                  </a:lnTo>
                  <a:lnTo>
                    <a:pt x="503" y="1869"/>
                  </a:lnTo>
                  <a:lnTo>
                    <a:pt x="513" y="1896"/>
                  </a:lnTo>
                  <a:lnTo>
                    <a:pt x="519" y="1921"/>
                  </a:lnTo>
                  <a:lnTo>
                    <a:pt x="523" y="1938"/>
                  </a:lnTo>
                  <a:lnTo>
                    <a:pt x="530" y="1951"/>
                  </a:lnTo>
                  <a:lnTo>
                    <a:pt x="537" y="1964"/>
                  </a:lnTo>
                  <a:lnTo>
                    <a:pt x="539" y="1978"/>
                  </a:lnTo>
                  <a:lnTo>
                    <a:pt x="542" y="1995"/>
                  </a:lnTo>
                  <a:lnTo>
                    <a:pt x="548" y="2012"/>
                  </a:lnTo>
                  <a:lnTo>
                    <a:pt x="556" y="2031"/>
                  </a:lnTo>
                  <a:lnTo>
                    <a:pt x="565" y="2046"/>
                  </a:lnTo>
                  <a:lnTo>
                    <a:pt x="571" y="2052"/>
                  </a:lnTo>
                  <a:lnTo>
                    <a:pt x="577" y="2062"/>
                  </a:lnTo>
                  <a:lnTo>
                    <a:pt x="586" y="2070"/>
                  </a:lnTo>
                  <a:lnTo>
                    <a:pt x="594" y="2079"/>
                  </a:lnTo>
                  <a:lnTo>
                    <a:pt x="600" y="2086"/>
                  </a:lnTo>
                  <a:lnTo>
                    <a:pt x="605" y="2093"/>
                  </a:lnTo>
                  <a:lnTo>
                    <a:pt x="610" y="2097"/>
                  </a:lnTo>
                  <a:lnTo>
                    <a:pt x="611" y="2099"/>
                  </a:lnTo>
                  <a:lnTo>
                    <a:pt x="612" y="2099"/>
                  </a:lnTo>
                  <a:lnTo>
                    <a:pt x="615" y="2100"/>
                  </a:lnTo>
                  <a:lnTo>
                    <a:pt x="620" y="2101"/>
                  </a:lnTo>
                  <a:lnTo>
                    <a:pt x="626" y="2101"/>
                  </a:lnTo>
                  <a:lnTo>
                    <a:pt x="629" y="2101"/>
                  </a:lnTo>
                  <a:lnTo>
                    <a:pt x="634" y="2101"/>
                  </a:lnTo>
                  <a:lnTo>
                    <a:pt x="637" y="2100"/>
                  </a:lnTo>
                  <a:lnTo>
                    <a:pt x="642" y="2099"/>
                  </a:lnTo>
                  <a:lnTo>
                    <a:pt x="647" y="2096"/>
                  </a:lnTo>
                  <a:lnTo>
                    <a:pt x="651" y="2095"/>
                  </a:lnTo>
                  <a:lnTo>
                    <a:pt x="656" y="2092"/>
                  </a:lnTo>
                  <a:lnTo>
                    <a:pt x="660" y="2088"/>
                  </a:lnTo>
                  <a:lnTo>
                    <a:pt x="673" y="2072"/>
                  </a:lnTo>
                  <a:lnTo>
                    <a:pt x="678" y="2057"/>
                  </a:lnTo>
                  <a:lnTo>
                    <a:pt x="680" y="2046"/>
                  </a:lnTo>
                  <a:lnTo>
                    <a:pt x="686" y="2037"/>
                  </a:lnTo>
                  <a:lnTo>
                    <a:pt x="691" y="2035"/>
                  </a:lnTo>
                  <a:lnTo>
                    <a:pt x="697" y="2032"/>
                  </a:lnTo>
                  <a:lnTo>
                    <a:pt x="704" y="2029"/>
                  </a:lnTo>
                  <a:lnTo>
                    <a:pt x="711" y="2026"/>
                  </a:lnTo>
                  <a:lnTo>
                    <a:pt x="716" y="2024"/>
                  </a:lnTo>
                  <a:lnTo>
                    <a:pt x="720" y="2021"/>
                  </a:lnTo>
                  <a:lnTo>
                    <a:pt x="724" y="2020"/>
                  </a:lnTo>
                  <a:lnTo>
                    <a:pt x="725" y="2020"/>
                  </a:lnTo>
                  <a:lnTo>
                    <a:pt x="725" y="2018"/>
                  </a:lnTo>
                  <a:lnTo>
                    <a:pt x="726" y="2012"/>
                  </a:lnTo>
                  <a:lnTo>
                    <a:pt x="728" y="2004"/>
                  </a:lnTo>
                  <a:lnTo>
                    <a:pt x="732" y="1995"/>
                  </a:lnTo>
                  <a:lnTo>
                    <a:pt x="738" y="1987"/>
                  </a:lnTo>
                  <a:lnTo>
                    <a:pt x="746" y="1978"/>
                  </a:lnTo>
                  <a:lnTo>
                    <a:pt x="752" y="1968"/>
                  </a:lnTo>
                  <a:lnTo>
                    <a:pt x="757" y="1959"/>
                  </a:lnTo>
                  <a:lnTo>
                    <a:pt x="761" y="1953"/>
                  </a:lnTo>
                  <a:lnTo>
                    <a:pt x="766" y="1950"/>
                  </a:lnTo>
                  <a:lnTo>
                    <a:pt x="773" y="1949"/>
                  </a:lnTo>
                  <a:lnTo>
                    <a:pt x="781" y="1949"/>
                  </a:lnTo>
                  <a:lnTo>
                    <a:pt x="789" y="1948"/>
                  </a:lnTo>
                  <a:lnTo>
                    <a:pt x="796" y="1943"/>
                  </a:lnTo>
                  <a:lnTo>
                    <a:pt x="801" y="1940"/>
                  </a:lnTo>
                  <a:lnTo>
                    <a:pt x="803" y="1938"/>
                  </a:lnTo>
                  <a:lnTo>
                    <a:pt x="803" y="1934"/>
                  </a:lnTo>
                  <a:lnTo>
                    <a:pt x="802" y="1922"/>
                  </a:lnTo>
                  <a:lnTo>
                    <a:pt x="802" y="1908"/>
                  </a:lnTo>
                  <a:lnTo>
                    <a:pt x="803" y="1896"/>
                  </a:lnTo>
                  <a:lnTo>
                    <a:pt x="802" y="1884"/>
                  </a:lnTo>
                  <a:lnTo>
                    <a:pt x="797" y="1872"/>
                  </a:lnTo>
                  <a:lnTo>
                    <a:pt x="791" y="1859"/>
                  </a:lnTo>
                  <a:lnTo>
                    <a:pt x="788" y="1850"/>
                  </a:lnTo>
                  <a:lnTo>
                    <a:pt x="789" y="1842"/>
                  </a:lnTo>
                  <a:lnTo>
                    <a:pt x="794" y="1834"/>
                  </a:lnTo>
                  <a:lnTo>
                    <a:pt x="801" y="1824"/>
                  </a:lnTo>
                  <a:lnTo>
                    <a:pt x="810" y="1810"/>
                  </a:lnTo>
                  <a:lnTo>
                    <a:pt x="820" y="1792"/>
                  </a:lnTo>
                  <a:lnTo>
                    <a:pt x="829" y="1764"/>
                  </a:lnTo>
                  <a:lnTo>
                    <a:pt x="829" y="1725"/>
                  </a:lnTo>
                  <a:lnTo>
                    <a:pt x="817" y="1669"/>
                  </a:lnTo>
                  <a:lnTo>
                    <a:pt x="817" y="1661"/>
                  </a:lnTo>
                  <a:lnTo>
                    <a:pt x="817" y="1640"/>
                  </a:lnTo>
                  <a:lnTo>
                    <a:pt x="816" y="1616"/>
                  </a:lnTo>
                  <a:lnTo>
                    <a:pt x="814" y="1594"/>
                  </a:lnTo>
                  <a:lnTo>
                    <a:pt x="814" y="1577"/>
                  </a:lnTo>
                  <a:lnTo>
                    <a:pt x="819" y="1563"/>
                  </a:lnTo>
                  <a:lnTo>
                    <a:pt x="830" y="1552"/>
                  </a:lnTo>
                  <a:lnTo>
                    <a:pt x="842" y="1548"/>
                  </a:lnTo>
                  <a:lnTo>
                    <a:pt x="853" y="1547"/>
                  </a:lnTo>
                  <a:lnTo>
                    <a:pt x="858" y="1548"/>
                  </a:lnTo>
                  <a:lnTo>
                    <a:pt x="861" y="1550"/>
                  </a:lnTo>
                  <a:lnTo>
                    <a:pt x="862" y="1551"/>
                  </a:lnTo>
                  <a:lnTo>
                    <a:pt x="867" y="1550"/>
                  </a:lnTo>
                  <a:lnTo>
                    <a:pt x="877" y="1545"/>
                  </a:lnTo>
                  <a:lnTo>
                    <a:pt x="887" y="1537"/>
                  </a:lnTo>
                  <a:lnTo>
                    <a:pt x="894" y="1526"/>
                  </a:lnTo>
                  <a:lnTo>
                    <a:pt x="900" y="1516"/>
                  </a:lnTo>
                  <a:lnTo>
                    <a:pt x="908" y="1509"/>
                  </a:lnTo>
                  <a:lnTo>
                    <a:pt x="915" y="1506"/>
                  </a:lnTo>
                  <a:lnTo>
                    <a:pt x="918" y="1505"/>
                  </a:lnTo>
                  <a:lnTo>
                    <a:pt x="921" y="1505"/>
                  </a:lnTo>
                  <a:lnTo>
                    <a:pt x="925" y="1505"/>
                  </a:lnTo>
                  <a:lnTo>
                    <a:pt x="933" y="1504"/>
                  </a:lnTo>
                  <a:lnTo>
                    <a:pt x="943" y="1503"/>
                  </a:lnTo>
                  <a:lnTo>
                    <a:pt x="952" y="1502"/>
                  </a:lnTo>
                  <a:lnTo>
                    <a:pt x="961" y="1499"/>
                  </a:lnTo>
                  <a:lnTo>
                    <a:pt x="968" y="1495"/>
                  </a:lnTo>
                  <a:lnTo>
                    <a:pt x="972" y="1490"/>
                  </a:lnTo>
                  <a:lnTo>
                    <a:pt x="974" y="1484"/>
                  </a:lnTo>
                  <a:lnTo>
                    <a:pt x="972" y="1479"/>
                  </a:lnTo>
                  <a:lnTo>
                    <a:pt x="969" y="1472"/>
                  </a:lnTo>
                  <a:lnTo>
                    <a:pt x="967" y="1465"/>
                  </a:lnTo>
                  <a:lnTo>
                    <a:pt x="966" y="1458"/>
                  </a:lnTo>
                  <a:lnTo>
                    <a:pt x="967" y="1451"/>
                  </a:lnTo>
                  <a:lnTo>
                    <a:pt x="972" y="1445"/>
                  </a:lnTo>
                  <a:lnTo>
                    <a:pt x="983" y="1441"/>
                  </a:lnTo>
                  <a:lnTo>
                    <a:pt x="995" y="1436"/>
                  </a:lnTo>
                  <a:lnTo>
                    <a:pt x="1005" y="1430"/>
                  </a:lnTo>
                  <a:lnTo>
                    <a:pt x="1013" y="1423"/>
                  </a:lnTo>
                  <a:lnTo>
                    <a:pt x="1021" y="1416"/>
                  </a:lnTo>
                  <a:lnTo>
                    <a:pt x="1028" y="1408"/>
                  </a:lnTo>
                  <a:lnTo>
                    <a:pt x="1033" y="1400"/>
                  </a:lnTo>
                  <a:lnTo>
                    <a:pt x="1042" y="1392"/>
                  </a:lnTo>
                  <a:lnTo>
                    <a:pt x="1050" y="1384"/>
                  </a:lnTo>
                  <a:lnTo>
                    <a:pt x="1060" y="1376"/>
                  </a:lnTo>
                  <a:lnTo>
                    <a:pt x="1070" y="1368"/>
                  </a:lnTo>
                  <a:lnTo>
                    <a:pt x="1082" y="1359"/>
                  </a:lnTo>
                  <a:lnTo>
                    <a:pt x="1093" y="1351"/>
                  </a:lnTo>
                  <a:lnTo>
                    <a:pt x="1104" y="1342"/>
                  </a:lnTo>
                  <a:lnTo>
                    <a:pt x="1113" y="1331"/>
                  </a:lnTo>
                  <a:lnTo>
                    <a:pt x="1122" y="1321"/>
                  </a:lnTo>
                  <a:lnTo>
                    <a:pt x="1128" y="1309"/>
                  </a:lnTo>
                  <a:lnTo>
                    <a:pt x="1135" y="1298"/>
                  </a:lnTo>
                  <a:lnTo>
                    <a:pt x="1142" y="1287"/>
                  </a:lnTo>
                  <a:lnTo>
                    <a:pt x="1151" y="1279"/>
                  </a:lnTo>
                  <a:lnTo>
                    <a:pt x="1160" y="1271"/>
                  </a:lnTo>
                  <a:lnTo>
                    <a:pt x="1169" y="1264"/>
                  </a:lnTo>
                  <a:lnTo>
                    <a:pt x="1179" y="1259"/>
                  </a:lnTo>
                  <a:lnTo>
                    <a:pt x="1186" y="1254"/>
                  </a:lnTo>
                  <a:lnTo>
                    <a:pt x="1192" y="1249"/>
                  </a:lnTo>
                  <a:lnTo>
                    <a:pt x="1198" y="1246"/>
                  </a:lnTo>
                  <a:lnTo>
                    <a:pt x="1206" y="1244"/>
                  </a:lnTo>
                  <a:lnTo>
                    <a:pt x="1214" y="1242"/>
                  </a:lnTo>
                  <a:lnTo>
                    <a:pt x="1222" y="1241"/>
                  </a:lnTo>
                  <a:lnTo>
                    <a:pt x="1230" y="1240"/>
                  </a:lnTo>
                  <a:lnTo>
                    <a:pt x="1237" y="1239"/>
                  </a:lnTo>
                  <a:lnTo>
                    <a:pt x="1243" y="1236"/>
                  </a:lnTo>
                  <a:lnTo>
                    <a:pt x="1245" y="1231"/>
                  </a:lnTo>
                  <a:lnTo>
                    <a:pt x="1250" y="1218"/>
                  </a:lnTo>
                  <a:lnTo>
                    <a:pt x="1259" y="1204"/>
                  </a:lnTo>
                  <a:lnTo>
                    <a:pt x="1268" y="1192"/>
                  </a:lnTo>
                  <a:lnTo>
                    <a:pt x="1278" y="1181"/>
                  </a:lnTo>
                  <a:lnTo>
                    <a:pt x="1281" y="1172"/>
                  </a:lnTo>
                  <a:lnTo>
                    <a:pt x="1278" y="1162"/>
                  </a:lnTo>
                  <a:lnTo>
                    <a:pt x="1273" y="1153"/>
                  </a:lnTo>
                  <a:lnTo>
                    <a:pt x="1271" y="1149"/>
                  </a:lnTo>
                  <a:lnTo>
                    <a:pt x="1270" y="1147"/>
                  </a:lnTo>
                  <a:lnTo>
                    <a:pt x="1270" y="1140"/>
                  </a:lnTo>
                  <a:lnTo>
                    <a:pt x="1274" y="1130"/>
                  </a:lnTo>
                  <a:lnTo>
                    <a:pt x="1288" y="1116"/>
                  </a:lnTo>
                  <a:lnTo>
                    <a:pt x="1297" y="1109"/>
                  </a:lnTo>
                  <a:lnTo>
                    <a:pt x="1306" y="1103"/>
                  </a:lnTo>
                  <a:lnTo>
                    <a:pt x="1315" y="1098"/>
                  </a:lnTo>
                  <a:lnTo>
                    <a:pt x="1321" y="1096"/>
                  </a:lnTo>
                  <a:lnTo>
                    <a:pt x="1328" y="1094"/>
                  </a:lnTo>
                  <a:lnTo>
                    <a:pt x="1335" y="1094"/>
                  </a:lnTo>
                  <a:lnTo>
                    <a:pt x="1340" y="1095"/>
                  </a:lnTo>
                  <a:lnTo>
                    <a:pt x="1344" y="1097"/>
                  </a:lnTo>
                  <a:lnTo>
                    <a:pt x="1349" y="1100"/>
                  </a:lnTo>
                  <a:lnTo>
                    <a:pt x="1354" y="1101"/>
                  </a:lnTo>
                  <a:lnTo>
                    <a:pt x="1358" y="1102"/>
                  </a:lnTo>
                  <a:lnTo>
                    <a:pt x="1363" y="1103"/>
                  </a:lnTo>
                  <a:lnTo>
                    <a:pt x="1369" y="1103"/>
                  </a:lnTo>
                  <a:lnTo>
                    <a:pt x="1373" y="1103"/>
                  </a:lnTo>
                  <a:lnTo>
                    <a:pt x="1379" y="1102"/>
                  </a:lnTo>
                  <a:lnTo>
                    <a:pt x="1384" y="1101"/>
                  </a:lnTo>
                  <a:lnTo>
                    <a:pt x="1395" y="1098"/>
                  </a:lnTo>
                  <a:lnTo>
                    <a:pt x="1405" y="1096"/>
                  </a:lnTo>
                  <a:lnTo>
                    <a:pt x="1412" y="1095"/>
                  </a:lnTo>
                  <a:lnTo>
                    <a:pt x="1416" y="1094"/>
                  </a:lnTo>
                  <a:lnTo>
                    <a:pt x="1415" y="1086"/>
                  </a:lnTo>
                  <a:lnTo>
                    <a:pt x="1414" y="1069"/>
                  </a:lnTo>
                  <a:lnTo>
                    <a:pt x="1411" y="1045"/>
                  </a:lnTo>
                  <a:lnTo>
                    <a:pt x="1409" y="1026"/>
                  </a:lnTo>
                  <a:lnTo>
                    <a:pt x="1404" y="1005"/>
                  </a:lnTo>
                  <a:lnTo>
                    <a:pt x="1397" y="981"/>
                  </a:lnTo>
                  <a:lnTo>
                    <a:pt x="1387" y="959"/>
                  </a:lnTo>
                  <a:lnTo>
                    <a:pt x="1377" y="949"/>
                  </a:lnTo>
                  <a:lnTo>
                    <a:pt x="1379" y="945"/>
                  </a:lnTo>
                  <a:lnTo>
                    <a:pt x="1384" y="937"/>
                  </a:lnTo>
                  <a:lnTo>
                    <a:pt x="1387" y="927"/>
                  </a:lnTo>
                  <a:lnTo>
                    <a:pt x="1387" y="916"/>
                  </a:lnTo>
                  <a:lnTo>
                    <a:pt x="1385" y="907"/>
                  </a:lnTo>
                  <a:lnTo>
                    <a:pt x="1381" y="901"/>
                  </a:lnTo>
                  <a:lnTo>
                    <a:pt x="1377" y="898"/>
                  </a:lnTo>
                  <a:lnTo>
                    <a:pt x="1370" y="895"/>
                  </a:lnTo>
                  <a:lnTo>
                    <a:pt x="1365" y="892"/>
                  </a:lnTo>
                  <a:lnTo>
                    <a:pt x="1359" y="890"/>
                  </a:lnTo>
                  <a:lnTo>
                    <a:pt x="1354" y="888"/>
                  </a:lnTo>
                  <a:lnTo>
                    <a:pt x="1348" y="884"/>
                  </a:lnTo>
                  <a:lnTo>
                    <a:pt x="1342" y="882"/>
                  </a:lnTo>
                  <a:lnTo>
                    <a:pt x="1339" y="880"/>
                  </a:lnTo>
                  <a:lnTo>
                    <a:pt x="1335" y="878"/>
                  </a:lnTo>
                  <a:lnTo>
                    <a:pt x="1334" y="877"/>
                  </a:lnTo>
                  <a:lnTo>
                    <a:pt x="1335" y="876"/>
                  </a:lnTo>
                  <a:lnTo>
                    <a:pt x="1339" y="873"/>
                  </a:lnTo>
                  <a:lnTo>
                    <a:pt x="1344" y="867"/>
                  </a:lnTo>
                  <a:lnTo>
                    <a:pt x="1350" y="861"/>
                  </a:lnTo>
                  <a:lnTo>
                    <a:pt x="1357" y="855"/>
                  </a:lnTo>
                  <a:lnTo>
                    <a:pt x="1364" y="850"/>
                  </a:lnTo>
                  <a:lnTo>
                    <a:pt x="1371" y="846"/>
                  </a:lnTo>
                  <a:lnTo>
                    <a:pt x="1377" y="845"/>
                  </a:lnTo>
                  <a:lnTo>
                    <a:pt x="1385" y="840"/>
                  </a:lnTo>
                  <a:lnTo>
                    <a:pt x="1387" y="829"/>
                  </a:lnTo>
                  <a:lnTo>
                    <a:pt x="1384" y="817"/>
                  </a:lnTo>
                  <a:lnTo>
                    <a:pt x="1373" y="813"/>
                  </a:lnTo>
                  <a:lnTo>
                    <a:pt x="1366" y="813"/>
                  </a:lnTo>
                  <a:lnTo>
                    <a:pt x="1361" y="810"/>
                  </a:lnTo>
                  <a:lnTo>
                    <a:pt x="1354" y="807"/>
                  </a:lnTo>
                  <a:lnTo>
                    <a:pt x="1349" y="802"/>
                  </a:lnTo>
                  <a:lnTo>
                    <a:pt x="1346" y="795"/>
                  </a:lnTo>
                  <a:lnTo>
                    <a:pt x="1343" y="786"/>
                  </a:lnTo>
                  <a:lnTo>
                    <a:pt x="1344" y="775"/>
                  </a:lnTo>
                  <a:lnTo>
                    <a:pt x="1348" y="760"/>
                  </a:lnTo>
                  <a:lnTo>
                    <a:pt x="1350" y="761"/>
                  </a:lnTo>
                  <a:lnTo>
                    <a:pt x="1356" y="763"/>
                  </a:lnTo>
                  <a:lnTo>
                    <a:pt x="1365" y="767"/>
                  </a:lnTo>
                  <a:lnTo>
                    <a:pt x="1376" y="772"/>
                  </a:lnTo>
                  <a:lnTo>
                    <a:pt x="1387" y="777"/>
                  </a:lnTo>
                  <a:lnTo>
                    <a:pt x="1397" y="783"/>
                  </a:lnTo>
                  <a:lnTo>
                    <a:pt x="1408" y="787"/>
                  </a:lnTo>
                  <a:lnTo>
                    <a:pt x="1416" y="792"/>
                  </a:lnTo>
                  <a:lnTo>
                    <a:pt x="1425" y="801"/>
                  </a:lnTo>
                  <a:lnTo>
                    <a:pt x="1430" y="814"/>
                  </a:lnTo>
                  <a:lnTo>
                    <a:pt x="1433" y="827"/>
                  </a:lnTo>
                  <a:lnTo>
                    <a:pt x="1441" y="838"/>
                  </a:lnTo>
                  <a:lnTo>
                    <a:pt x="1447" y="843"/>
                  </a:lnTo>
                  <a:lnTo>
                    <a:pt x="1454" y="845"/>
                  </a:lnTo>
                  <a:lnTo>
                    <a:pt x="1462" y="847"/>
                  </a:lnTo>
                  <a:lnTo>
                    <a:pt x="1470" y="848"/>
                  </a:lnTo>
                  <a:lnTo>
                    <a:pt x="1479" y="848"/>
                  </a:lnTo>
                  <a:lnTo>
                    <a:pt x="1488" y="847"/>
                  </a:lnTo>
                  <a:lnTo>
                    <a:pt x="1496" y="846"/>
                  </a:lnTo>
                  <a:lnTo>
                    <a:pt x="1505" y="845"/>
                  </a:lnTo>
                  <a:lnTo>
                    <a:pt x="1515" y="844"/>
                  </a:lnTo>
                  <a:lnTo>
                    <a:pt x="1528" y="844"/>
                  </a:lnTo>
                  <a:lnTo>
                    <a:pt x="1543" y="844"/>
                  </a:lnTo>
                  <a:lnTo>
                    <a:pt x="1558" y="844"/>
                  </a:lnTo>
                  <a:lnTo>
                    <a:pt x="1571" y="844"/>
                  </a:lnTo>
                  <a:lnTo>
                    <a:pt x="1583" y="845"/>
                  </a:lnTo>
                  <a:lnTo>
                    <a:pt x="1590" y="845"/>
                  </a:lnTo>
                  <a:lnTo>
                    <a:pt x="1593" y="845"/>
                  </a:lnTo>
                  <a:lnTo>
                    <a:pt x="1591" y="850"/>
                  </a:lnTo>
                  <a:lnTo>
                    <a:pt x="1586" y="862"/>
                  </a:lnTo>
                  <a:lnTo>
                    <a:pt x="1581" y="875"/>
                  </a:lnTo>
                  <a:lnTo>
                    <a:pt x="1572" y="884"/>
                  </a:lnTo>
                  <a:lnTo>
                    <a:pt x="1568" y="888"/>
                  </a:lnTo>
                  <a:lnTo>
                    <a:pt x="1561" y="892"/>
                  </a:lnTo>
                  <a:lnTo>
                    <a:pt x="1553" y="898"/>
                  </a:lnTo>
                  <a:lnTo>
                    <a:pt x="1545" y="905"/>
                  </a:lnTo>
                  <a:lnTo>
                    <a:pt x="1538" y="912"/>
                  </a:lnTo>
                  <a:lnTo>
                    <a:pt x="1531" y="919"/>
                  </a:lnTo>
                  <a:lnTo>
                    <a:pt x="1525" y="924"/>
                  </a:lnTo>
                  <a:lnTo>
                    <a:pt x="1523" y="930"/>
                  </a:lnTo>
                  <a:lnTo>
                    <a:pt x="1524" y="941"/>
                  </a:lnTo>
                  <a:lnTo>
                    <a:pt x="1530" y="951"/>
                  </a:lnTo>
                  <a:lnTo>
                    <a:pt x="1537" y="961"/>
                  </a:lnTo>
                  <a:lnTo>
                    <a:pt x="1544" y="973"/>
                  </a:lnTo>
                  <a:lnTo>
                    <a:pt x="1551" y="987"/>
                  </a:lnTo>
                  <a:lnTo>
                    <a:pt x="1561" y="997"/>
                  </a:lnTo>
                  <a:lnTo>
                    <a:pt x="1569" y="1005"/>
                  </a:lnTo>
                  <a:lnTo>
                    <a:pt x="1572" y="1009"/>
                  </a:lnTo>
                  <a:lnTo>
                    <a:pt x="1576" y="1006"/>
                  </a:lnTo>
                  <a:lnTo>
                    <a:pt x="1585" y="999"/>
                  </a:lnTo>
                  <a:lnTo>
                    <a:pt x="1593" y="989"/>
                  </a:lnTo>
                  <a:lnTo>
                    <a:pt x="1597" y="976"/>
                  </a:lnTo>
                  <a:lnTo>
                    <a:pt x="1598" y="963"/>
                  </a:lnTo>
                  <a:lnTo>
                    <a:pt x="1601" y="951"/>
                  </a:lnTo>
                  <a:lnTo>
                    <a:pt x="1606" y="949"/>
                  </a:lnTo>
                  <a:lnTo>
                    <a:pt x="1612" y="963"/>
                  </a:lnTo>
                  <a:lnTo>
                    <a:pt x="1619" y="987"/>
                  </a:lnTo>
                  <a:lnTo>
                    <a:pt x="1627" y="1010"/>
                  </a:lnTo>
                  <a:lnTo>
                    <a:pt x="1634" y="1029"/>
                  </a:lnTo>
                  <a:lnTo>
                    <a:pt x="1636" y="1041"/>
                  </a:lnTo>
                  <a:lnTo>
                    <a:pt x="1637" y="1044"/>
                  </a:lnTo>
                  <a:lnTo>
                    <a:pt x="1639" y="1049"/>
                  </a:lnTo>
                  <a:lnTo>
                    <a:pt x="1643" y="1052"/>
                  </a:lnTo>
                  <a:lnTo>
                    <a:pt x="1647" y="1056"/>
                  </a:lnTo>
                  <a:lnTo>
                    <a:pt x="1653" y="1059"/>
                  </a:lnTo>
                  <a:lnTo>
                    <a:pt x="1659" y="1062"/>
                  </a:lnTo>
                  <a:lnTo>
                    <a:pt x="1665" y="1062"/>
                  </a:lnTo>
                  <a:lnTo>
                    <a:pt x="1672" y="1062"/>
                  </a:lnTo>
                  <a:lnTo>
                    <a:pt x="1682" y="1057"/>
                  </a:lnTo>
                  <a:lnTo>
                    <a:pt x="1688" y="1049"/>
                  </a:lnTo>
                  <a:lnTo>
                    <a:pt x="1690" y="1040"/>
                  </a:lnTo>
                  <a:lnTo>
                    <a:pt x="1690" y="1030"/>
                  </a:lnTo>
                  <a:lnTo>
                    <a:pt x="1689" y="1020"/>
                  </a:lnTo>
                  <a:lnTo>
                    <a:pt x="1686" y="1006"/>
                  </a:lnTo>
                  <a:lnTo>
                    <a:pt x="1686" y="994"/>
                  </a:lnTo>
                  <a:lnTo>
                    <a:pt x="1690" y="983"/>
                  </a:lnTo>
                  <a:lnTo>
                    <a:pt x="1693" y="976"/>
                  </a:lnTo>
                  <a:lnTo>
                    <a:pt x="1696" y="971"/>
                  </a:lnTo>
                  <a:lnTo>
                    <a:pt x="1697" y="963"/>
                  </a:lnTo>
                  <a:lnTo>
                    <a:pt x="1697" y="949"/>
                  </a:lnTo>
                  <a:lnTo>
                    <a:pt x="1697" y="933"/>
                  </a:lnTo>
                  <a:lnTo>
                    <a:pt x="1697" y="922"/>
                  </a:lnTo>
                  <a:lnTo>
                    <a:pt x="1700" y="916"/>
                  </a:lnTo>
                  <a:lnTo>
                    <a:pt x="1707" y="916"/>
                  </a:lnTo>
                  <a:lnTo>
                    <a:pt x="1713" y="918"/>
                  </a:lnTo>
                  <a:lnTo>
                    <a:pt x="1718" y="919"/>
                  </a:lnTo>
                  <a:lnTo>
                    <a:pt x="1723" y="921"/>
                  </a:lnTo>
                  <a:lnTo>
                    <a:pt x="1729" y="921"/>
                  </a:lnTo>
                  <a:lnTo>
                    <a:pt x="1734" y="921"/>
                  </a:lnTo>
                  <a:lnTo>
                    <a:pt x="1738" y="920"/>
                  </a:lnTo>
                  <a:lnTo>
                    <a:pt x="1741" y="918"/>
                  </a:lnTo>
                  <a:lnTo>
                    <a:pt x="1743" y="913"/>
                  </a:lnTo>
                  <a:lnTo>
                    <a:pt x="1749" y="900"/>
                  </a:lnTo>
                  <a:lnTo>
                    <a:pt x="1757" y="884"/>
                  </a:lnTo>
                  <a:lnTo>
                    <a:pt x="1764" y="867"/>
                  </a:lnTo>
                  <a:lnTo>
                    <a:pt x="1767" y="848"/>
                  </a:lnTo>
                  <a:lnTo>
                    <a:pt x="1767" y="831"/>
                  </a:lnTo>
                  <a:lnTo>
                    <a:pt x="1767" y="816"/>
                  </a:lnTo>
                  <a:lnTo>
                    <a:pt x="1767" y="806"/>
                  </a:lnTo>
                  <a:lnTo>
                    <a:pt x="1767" y="802"/>
                  </a:lnTo>
                  <a:lnTo>
                    <a:pt x="1782" y="775"/>
                  </a:lnTo>
                  <a:lnTo>
                    <a:pt x="1783" y="771"/>
                  </a:lnTo>
                  <a:lnTo>
                    <a:pt x="1786" y="761"/>
                  </a:lnTo>
                  <a:lnTo>
                    <a:pt x="1787" y="746"/>
                  </a:lnTo>
                  <a:lnTo>
                    <a:pt x="1786" y="727"/>
                  </a:lnTo>
                  <a:lnTo>
                    <a:pt x="1786" y="712"/>
                  </a:lnTo>
                  <a:lnTo>
                    <a:pt x="1789" y="702"/>
                  </a:lnTo>
                  <a:lnTo>
                    <a:pt x="1795" y="696"/>
                  </a:lnTo>
                  <a:lnTo>
                    <a:pt x="1803" y="693"/>
                  </a:lnTo>
                  <a:lnTo>
                    <a:pt x="1810" y="689"/>
                  </a:lnTo>
                  <a:lnTo>
                    <a:pt x="1817" y="686"/>
                  </a:lnTo>
                  <a:lnTo>
                    <a:pt x="1821" y="680"/>
                  </a:lnTo>
                  <a:lnTo>
                    <a:pt x="1825" y="671"/>
                  </a:lnTo>
                  <a:lnTo>
                    <a:pt x="1826" y="666"/>
                  </a:lnTo>
                  <a:lnTo>
                    <a:pt x="1828" y="662"/>
                  </a:lnTo>
                  <a:lnTo>
                    <a:pt x="1832" y="658"/>
                  </a:lnTo>
                  <a:lnTo>
                    <a:pt x="1836" y="655"/>
                  </a:lnTo>
                  <a:lnTo>
                    <a:pt x="1842" y="653"/>
                  </a:lnTo>
                  <a:lnTo>
                    <a:pt x="1850" y="650"/>
                  </a:lnTo>
                  <a:lnTo>
                    <a:pt x="1862" y="648"/>
                  </a:lnTo>
                  <a:lnTo>
                    <a:pt x="1874" y="647"/>
                  </a:lnTo>
                  <a:lnTo>
                    <a:pt x="1885" y="632"/>
                  </a:lnTo>
                  <a:lnTo>
                    <a:pt x="1883" y="630"/>
                  </a:lnTo>
                  <a:lnTo>
                    <a:pt x="1882" y="625"/>
                  </a:lnTo>
                  <a:lnTo>
                    <a:pt x="1883" y="619"/>
                  </a:lnTo>
                  <a:lnTo>
                    <a:pt x="1888" y="615"/>
                  </a:lnTo>
                  <a:lnTo>
                    <a:pt x="1895" y="605"/>
                  </a:lnTo>
                  <a:lnTo>
                    <a:pt x="1900" y="590"/>
                  </a:lnTo>
                  <a:lnTo>
                    <a:pt x="1902" y="575"/>
                  </a:lnTo>
                  <a:lnTo>
                    <a:pt x="1903" y="568"/>
                  </a:lnTo>
                  <a:lnTo>
                    <a:pt x="1856" y="553"/>
                  </a:lnTo>
                  <a:close/>
                </a:path>
              </a:pathLst>
            </a:custGeom>
            <a:solidFill>
              <a:srgbClr val="0097A9"/>
            </a:solidFill>
            <a:ln w="6350">
              <a:solidFill>
                <a:srgbClr val="FFFFFF"/>
              </a:solidFill>
              <a:round/>
              <a:headEnd/>
              <a:tailEn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35" name="TextBox 290">
              <a:extLst>
                <a:ext uri="{FF2B5EF4-FFF2-40B4-BE49-F238E27FC236}">
                  <a16:creationId xmlns:a16="http://schemas.microsoft.com/office/drawing/2014/main" id="{DBB9F153-49AA-5483-0269-FEBCD8B21A02}"/>
                </a:ext>
              </a:extLst>
            </p:cNvPr>
            <p:cNvSpPr txBox="1">
              <a:spLocks noChangeArrowheads="1"/>
            </p:cNvSpPr>
            <p:nvPr/>
          </p:nvSpPr>
          <p:spPr bwMode="auto">
            <a:xfrm>
              <a:off x="7381332" y="2137098"/>
              <a:ext cx="489738"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New Delhi</a:t>
              </a:r>
            </a:p>
          </p:txBody>
        </p:sp>
        <p:sp>
          <p:nvSpPr>
            <p:cNvPr id="136" name="Oval 135">
              <a:extLst>
                <a:ext uri="{FF2B5EF4-FFF2-40B4-BE49-F238E27FC236}">
                  <a16:creationId xmlns:a16="http://schemas.microsoft.com/office/drawing/2014/main" id="{02CBE9C1-3A2B-3FD9-F727-33B89355613C}"/>
                </a:ext>
              </a:extLst>
            </p:cNvPr>
            <p:cNvSpPr/>
            <p:nvPr/>
          </p:nvSpPr>
          <p:spPr>
            <a:xfrm>
              <a:off x="8100496" y="2688450"/>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37" name="Oval 136">
              <a:extLst>
                <a:ext uri="{FF2B5EF4-FFF2-40B4-BE49-F238E27FC236}">
                  <a16:creationId xmlns:a16="http://schemas.microsoft.com/office/drawing/2014/main" id="{ADABFDAE-12E3-3011-B1B1-9CA3E36CB5DD}"/>
                </a:ext>
              </a:extLst>
            </p:cNvPr>
            <p:cNvSpPr/>
            <p:nvPr/>
          </p:nvSpPr>
          <p:spPr>
            <a:xfrm>
              <a:off x="8404545" y="2812170"/>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38" name="Oval 137">
              <a:extLst>
                <a:ext uri="{FF2B5EF4-FFF2-40B4-BE49-F238E27FC236}">
                  <a16:creationId xmlns:a16="http://schemas.microsoft.com/office/drawing/2014/main" id="{48D4B420-DE81-6689-867A-AE0DE2557717}"/>
                </a:ext>
              </a:extLst>
            </p:cNvPr>
            <p:cNvSpPr/>
            <p:nvPr/>
          </p:nvSpPr>
          <p:spPr>
            <a:xfrm>
              <a:off x="7182299" y="2773389"/>
              <a:ext cx="58967" cy="58967"/>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39" name="Oval 138">
              <a:extLst>
                <a:ext uri="{FF2B5EF4-FFF2-40B4-BE49-F238E27FC236}">
                  <a16:creationId xmlns:a16="http://schemas.microsoft.com/office/drawing/2014/main" id="{00868201-BEF2-B3A6-DC44-97C4402F0519}"/>
                </a:ext>
              </a:extLst>
            </p:cNvPr>
            <p:cNvSpPr/>
            <p:nvPr/>
          </p:nvSpPr>
          <p:spPr>
            <a:xfrm>
              <a:off x="7361771" y="3168517"/>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40" name="Oval 139">
              <a:extLst>
                <a:ext uri="{FF2B5EF4-FFF2-40B4-BE49-F238E27FC236}">
                  <a16:creationId xmlns:a16="http://schemas.microsoft.com/office/drawing/2014/main" id="{AC4465A8-1670-AB26-642A-0F61D2DAEBC7}"/>
                </a:ext>
              </a:extLst>
            </p:cNvPr>
            <p:cNvSpPr/>
            <p:nvPr/>
          </p:nvSpPr>
          <p:spPr>
            <a:xfrm>
              <a:off x="7249267" y="3386712"/>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41" name="Oval 140">
              <a:extLst>
                <a:ext uri="{FF2B5EF4-FFF2-40B4-BE49-F238E27FC236}">
                  <a16:creationId xmlns:a16="http://schemas.microsoft.com/office/drawing/2014/main" id="{9E0DA6E5-2266-0E53-7943-0A368B413EA9}"/>
                </a:ext>
              </a:extLst>
            </p:cNvPr>
            <p:cNvSpPr/>
            <p:nvPr/>
          </p:nvSpPr>
          <p:spPr>
            <a:xfrm>
              <a:off x="7813064" y="3691185"/>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42" name="Oval 141">
              <a:extLst>
                <a:ext uri="{FF2B5EF4-FFF2-40B4-BE49-F238E27FC236}">
                  <a16:creationId xmlns:a16="http://schemas.microsoft.com/office/drawing/2014/main" id="{B76B609C-4EE0-B941-3E2B-2F64131247CB}"/>
                </a:ext>
              </a:extLst>
            </p:cNvPr>
            <p:cNvSpPr/>
            <p:nvPr/>
          </p:nvSpPr>
          <p:spPr>
            <a:xfrm>
              <a:off x="7567233" y="3860279"/>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43" name="Oval 142">
              <a:extLst>
                <a:ext uri="{FF2B5EF4-FFF2-40B4-BE49-F238E27FC236}">
                  <a16:creationId xmlns:a16="http://schemas.microsoft.com/office/drawing/2014/main" id="{3452F600-2646-3574-7803-94190766B98F}"/>
                </a:ext>
              </a:extLst>
            </p:cNvPr>
            <p:cNvSpPr/>
            <p:nvPr/>
          </p:nvSpPr>
          <p:spPr>
            <a:xfrm>
              <a:off x="7462849" y="3909987"/>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44" name="TextBox 290">
              <a:extLst>
                <a:ext uri="{FF2B5EF4-FFF2-40B4-BE49-F238E27FC236}">
                  <a16:creationId xmlns:a16="http://schemas.microsoft.com/office/drawing/2014/main" id="{1FBEFDD6-9BF4-6B27-443C-1223D508F2CD}"/>
                </a:ext>
              </a:extLst>
            </p:cNvPr>
            <p:cNvSpPr txBox="1">
              <a:spLocks noChangeArrowheads="1"/>
            </p:cNvSpPr>
            <p:nvPr/>
          </p:nvSpPr>
          <p:spPr bwMode="auto">
            <a:xfrm>
              <a:off x="7171273" y="2633422"/>
              <a:ext cx="568677"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Ahmedabad</a:t>
              </a:r>
            </a:p>
          </p:txBody>
        </p:sp>
        <p:sp>
          <p:nvSpPr>
            <p:cNvPr id="145" name="TextBox 290">
              <a:extLst>
                <a:ext uri="{FF2B5EF4-FFF2-40B4-BE49-F238E27FC236}">
                  <a16:creationId xmlns:a16="http://schemas.microsoft.com/office/drawing/2014/main" id="{BCBFAEA4-4077-C995-049B-A3F0D9F9C712}"/>
                </a:ext>
              </a:extLst>
            </p:cNvPr>
            <p:cNvSpPr txBox="1">
              <a:spLocks noChangeArrowheads="1"/>
            </p:cNvSpPr>
            <p:nvPr/>
          </p:nvSpPr>
          <p:spPr bwMode="auto">
            <a:xfrm>
              <a:off x="6858593" y="3068216"/>
              <a:ext cx="350565"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Mumbai</a:t>
              </a:r>
            </a:p>
          </p:txBody>
        </p:sp>
        <p:sp>
          <p:nvSpPr>
            <p:cNvPr id="146" name="TextBox 290">
              <a:extLst>
                <a:ext uri="{FF2B5EF4-FFF2-40B4-BE49-F238E27FC236}">
                  <a16:creationId xmlns:a16="http://schemas.microsoft.com/office/drawing/2014/main" id="{520DC9E1-7B25-BD8A-F065-987A44CF8575}"/>
                </a:ext>
              </a:extLst>
            </p:cNvPr>
            <p:cNvSpPr txBox="1">
              <a:spLocks noChangeArrowheads="1"/>
            </p:cNvSpPr>
            <p:nvPr/>
          </p:nvSpPr>
          <p:spPr bwMode="auto">
            <a:xfrm>
              <a:off x="7286709" y="3237008"/>
              <a:ext cx="226739"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Pune</a:t>
              </a:r>
            </a:p>
          </p:txBody>
        </p:sp>
        <p:sp>
          <p:nvSpPr>
            <p:cNvPr id="147" name="TextBox 290">
              <a:extLst>
                <a:ext uri="{FF2B5EF4-FFF2-40B4-BE49-F238E27FC236}">
                  <a16:creationId xmlns:a16="http://schemas.microsoft.com/office/drawing/2014/main" id="{582C1A44-1FE0-CB7E-CF2C-B6A30A7897ED}"/>
                </a:ext>
              </a:extLst>
            </p:cNvPr>
            <p:cNvSpPr txBox="1">
              <a:spLocks noChangeArrowheads="1"/>
            </p:cNvSpPr>
            <p:nvPr/>
          </p:nvSpPr>
          <p:spPr bwMode="auto">
            <a:xfrm>
              <a:off x="7363142" y="3359827"/>
              <a:ext cx="226739"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Goa</a:t>
              </a:r>
            </a:p>
          </p:txBody>
        </p:sp>
        <p:sp>
          <p:nvSpPr>
            <p:cNvPr id="148" name="TextBox 290">
              <a:extLst>
                <a:ext uri="{FF2B5EF4-FFF2-40B4-BE49-F238E27FC236}">
                  <a16:creationId xmlns:a16="http://schemas.microsoft.com/office/drawing/2014/main" id="{D55F87F6-A2B7-0D8F-91DF-021EA49BA48A}"/>
                </a:ext>
              </a:extLst>
            </p:cNvPr>
            <p:cNvSpPr txBox="1">
              <a:spLocks noChangeArrowheads="1"/>
            </p:cNvSpPr>
            <p:nvPr/>
          </p:nvSpPr>
          <p:spPr bwMode="auto">
            <a:xfrm>
              <a:off x="7739632" y="3097346"/>
              <a:ext cx="486762"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Hyderabad</a:t>
              </a:r>
            </a:p>
          </p:txBody>
        </p:sp>
        <p:sp>
          <p:nvSpPr>
            <p:cNvPr id="149" name="TextBox 290">
              <a:extLst>
                <a:ext uri="{FF2B5EF4-FFF2-40B4-BE49-F238E27FC236}">
                  <a16:creationId xmlns:a16="http://schemas.microsoft.com/office/drawing/2014/main" id="{396B65F3-E546-6B38-9017-6A2304580B17}"/>
                </a:ext>
              </a:extLst>
            </p:cNvPr>
            <p:cNvSpPr txBox="1">
              <a:spLocks noChangeArrowheads="1"/>
            </p:cNvSpPr>
            <p:nvPr/>
          </p:nvSpPr>
          <p:spPr bwMode="auto">
            <a:xfrm>
              <a:off x="7953973" y="3664936"/>
              <a:ext cx="486762"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Chennai</a:t>
              </a:r>
            </a:p>
          </p:txBody>
        </p:sp>
        <p:sp>
          <p:nvSpPr>
            <p:cNvPr id="150" name="TextBox 290">
              <a:extLst>
                <a:ext uri="{FF2B5EF4-FFF2-40B4-BE49-F238E27FC236}">
                  <a16:creationId xmlns:a16="http://schemas.microsoft.com/office/drawing/2014/main" id="{5EBFE46D-2687-B7C9-769A-6E4B8B7A4753}"/>
                </a:ext>
              </a:extLst>
            </p:cNvPr>
            <p:cNvSpPr txBox="1">
              <a:spLocks noChangeArrowheads="1"/>
            </p:cNvSpPr>
            <p:nvPr/>
          </p:nvSpPr>
          <p:spPr bwMode="auto">
            <a:xfrm>
              <a:off x="7671617" y="3833421"/>
              <a:ext cx="486762" cy="215390"/>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Coimbatore</a:t>
              </a:r>
            </a:p>
          </p:txBody>
        </p:sp>
        <p:sp>
          <p:nvSpPr>
            <p:cNvPr id="151" name="TextBox 290">
              <a:extLst>
                <a:ext uri="{FF2B5EF4-FFF2-40B4-BE49-F238E27FC236}">
                  <a16:creationId xmlns:a16="http://schemas.microsoft.com/office/drawing/2014/main" id="{59669DDE-E22B-6D00-AF57-7BB019FE3E9A}"/>
                </a:ext>
              </a:extLst>
            </p:cNvPr>
            <p:cNvSpPr txBox="1">
              <a:spLocks noChangeArrowheads="1"/>
            </p:cNvSpPr>
            <p:nvPr/>
          </p:nvSpPr>
          <p:spPr bwMode="auto">
            <a:xfrm>
              <a:off x="7171272" y="3900524"/>
              <a:ext cx="280987"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Kochi</a:t>
              </a:r>
            </a:p>
          </p:txBody>
        </p:sp>
        <p:sp>
          <p:nvSpPr>
            <p:cNvPr id="152" name="TextBox 290">
              <a:extLst>
                <a:ext uri="{FF2B5EF4-FFF2-40B4-BE49-F238E27FC236}">
                  <a16:creationId xmlns:a16="http://schemas.microsoft.com/office/drawing/2014/main" id="{0744E55F-5E94-5EDF-10F3-10160D72E265}"/>
                </a:ext>
              </a:extLst>
            </p:cNvPr>
            <p:cNvSpPr txBox="1">
              <a:spLocks noChangeArrowheads="1"/>
            </p:cNvSpPr>
            <p:nvPr/>
          </p:nvSpPr>
          <p:spPr bwMode="auto">
            <a:xfrm>
              <a:off x="7379634" y="3474181"/>
              <a:ext cx="486762"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Bengaluru</a:t>
              </a:r>
            </a:p>
          </p:txBody>
        </p:sp>
        <p:sp>
          <p:nvSpPr>
            <p:cNvPr id="153" name="TextBox 152">
              <a:extLst>
                <a:ext uri="{FF2B5EF4-FFF2-40B4-BE49-F238E27FC236}">
                  <a16:creationId xmlns:a16="http://schemas.microsoft.com/office/drawing/2014/main" id="{0D36C799-2D8A-966A-4D9E-8CF80C6E7CA7}"/>
                </a:ext>
              </a:extLst>
            </p:cNvPr>
            <p:cNvSpPr txBox="1">
              <a:spLocks noChangeArrowheads="1"/>
            </p:cNvSpPr>
            <p:nvPr/>
          </p:nvSpPr>
          <p:spPr bwMode="auto">
            <a:xfrm>
              <a:off x="8025131" y="2568867"/>
              <a:ext cx="611014" cy="107696"/>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Jamshedpur</a:t>
              </a:r>
            </a:p>
          </p:txBody>
        </p:sp>
        <p:sp>
          <p:nvSpPr>
            <p:cNvPr id="154" name="TextBox 290">
              <a:extLst>
                <a:ext uri="{FF2B5EF4-FFF2-40B4-BE49-F238E27FC236}">
                  <a16:creationId xmlns:a16="http://schemas.microsoft.com/office/drawing/2014/main" id="{140D166B-A9C5-6E16-F003-AB1C534D51F6}"/>
                </a:ext>
              </a:extLst>
            </p:cNvPr>
            <p:cNvSpPr txBox="1">
              <a:spLocks noChangeArrowheads="1"/>
            </p:cNvSpPr>
            <p:nvPr/>
          </p:nvSpPr>
          <p:spPr bwMode="auto">
            <a:xfrm>
              <a:off x="8206520" y="2703214"/>
              <a:ext cx="341697" cy="107696"/>
            </a:xfrm>
            <a:prstGeom prst="rect">
              <a:avLst/>
            </a:prstGeom>
            <a:noFill/>
            <a:ln w="9525">
              <a:noFill/>
              <a:miter lim="800000"/>
              <a:headEnd/>
              <a:tailEnd/>
            </a:ln>
          </p:spPr>
          <p:txBody>
            <a:bodyPr wrap="square" lIns="0" tIns="0" rIns="0" bIns="0">
              <a:sp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Kolkata</a:t>
              </a:r>
            </a:p>
          </p:txBody>
        </p:sp>
        <p:sp>
          <p:nvSpPr>
            <p:cNvPr id="155" name="Oval 154">
              <a:extLst>
                <a:ext uri="{FF2B5EF4-FFF2-40B4-BE49-F238E27FC236}">
                  <a16:creationId xmlns:a16="http://schemas.microsoft.com/office/drawing/2014/main" id="{28658732-6AE4-B140-3367-2E5A9AFA5D92}"/>
                </a:ext>
              </a:extLst>
            </p:cNvPr>
            <p:cNvSpPr/>
            <p:nvPr/>
          </p:nvSpPr>
          <p:spPr>
            <a:xfrm>
              <a:off x="7526656" y="2282767"/>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56" name="Oval 155">
              <a:extLst>
                <a:ext uri="{FF2B5EF4-FFF2-40B4-BE49-F238E27FC236}">
                  <a16:creationId xmlns:a16="http://schemas.microsoft.com/office/drawing/2014/main" id="{6004F037-1B66-2C77-17BA-779C4E76BECB}"/>
                </a:ext>
              </a:extLst>
            </p:cNvPr>
            <p:cNvSpPr/>
            <p:nvPr/>
          </p:nvSpPr>
          <p:spPr>
            <a:xfrm>
              <a:off x="7229554" y="3078062"/>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57" name="Oval 156">
              <a:extLst>
                <a:ext uri="{FF2B5EF4-FFF2-40B4-BE49-F238E27FC236}">
                  <a16:creationId xmlns:a16="http://schemas.microsoft.com/office/drawing/2014/main" id="{4F2070B0-15CD-B227-9C3D-56A503A6DDE9}"/>
                </a:ext>
              </a:extLst>
            </p:cNvPr>
            <p:cNvSpPr/>
            <p:nvPr/>
          </p:nvSpPr>
          <p:spPr>
            <a:xfrm>
              <a:off x="7750260" y="3213058"/>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58" name="Oval 157">
              <a:extLst>
                <a:ext uri="{FF2B5EF4-FFF2-40B4-BE49-F238E27FC236}">
                  <a16:creationId xmlns:a16="http://schemas.microsoft.com/office/drawing/2014/main" id="{79BFD36F-E2AF-5F9D-1C8A-6D0CB8964FDA}"/>
                </a:ext>
              </a:extLst>
            </p:cNvPr>
            <p:cNvSpPr/>
            <p:nvPr/>
          </p:nvSpPr>
          <p:spPr>
            <a:xfrm>
              <a:off x="7560397" y="3636992"/>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160" name="Group 159">
            <a:extLst>
              <a:ext uri="{FF2B5EF4-FFF2-40B4-BE49-F238E27FC236}">
                <a16:creationId xmlns:a16="http://schemas.microsoft.com/office/drawing/2014/main" id="{3B59DABF-EE1D-8888-B368-089116C6F561}"/>
              </a:ext>
            </a:extLst>
          </p:cNvPr>
          <p:cNvGrpSpPr/>
          <p:nvPr/>
        </p:nvGrpSpPr>
        <p:grpSpPr>
          <a:xfrm>
            <a:off x="4817565" y="4842201"/>
            <a:ext cx="2085688" cy="1356546"/>
            <a:chOff x="3318448" y="5198237"/>
            <a:chExt cx="2280053" cy="1482963"/>
          </a:xfrm>
          <a:solidFill>
            <a:srgbClr val="75787B">
              <a:lumMod val="60000"/>
              <a:lumOff val="40000"/>
            </a:srgbClr>
          </a:solidFill>
        </p:grpSpPr>
        <p:grpSp>
          <p:nvGrpSpPr>
            <p:cNvPr id="161" name="Group 160">
              <a:extLst>
                <a:ext uri="{FF2B5EF4-FFF2-40B4-BE49-F238E27FC236}">
                  <a16:creationId xmlns:a16="http://schemas.microsoft.com/office/drawing/2014/main" id="{035D1685-6037-3EFF-8D33-2EC1AA100DAE}"/>
                </a:ext>
              </a:extLst>
            </p:cNvPr>
            <p:cNvGrpSpPr/>
            <p:nvPr/>
          </p:nvGrpSpPr>
          <p:grpSpPr>
            <a:xfrm>
              <a:off x="3318448" y="5198237"/>
              <a:ext cx="2280053" cy="978028"/>
              <a:chOff x="3318448" y="5198237"/>
              <a:chExt cx="2280053" cy="978028"/>
            </a:xfrm>
            <a:grpFill/>
          </p:grpSpPr>
          <p:grpSp>
            <p:nvGrpSpPr>
              <p:cNvPr id="183" name="Group 182">
                <a:extLst>
                  <a:ext uri="{FF2B5EF4-FFF2-40B4-BE49-F238E27FC236}">
                    <a16:creationId xmlns:a16="http://schemas.microsoft.com/office/drawing/2014/main" id="{7A1699D4-C461-3C94-F25B-94FA490CA2F2}"/>
                  </a:ext>
                </a:extLst>
              </p:cNvPr>
              <p:cNvGrpSpPr/>
              <p:nvPr/>
            </p:nvGrpSpPr>
            <p:grpSpPr>
              <a:xfrm>
                <a:off x="3318448" y="5198237"/>
                <a:ext cx="2280053" cy="473489"/>
                <a:chOff x="3318448" y="5198237"/>
                <a:chExt cx="2280053" cy="473489"/>
              </a:xfrm>
              <a:grpFill/>
            </p:grpSpPr>
            <p:grpSp>
              <p:nvGrpSpPr>
                <p:cNvPr id="205" name="Group 204">
                  <a:extLst>
                    <a:ext uri="{FF2B5EF4-FFF2-40B4-BE49-F238E27FC236}">
                      <a16:creationId xmlns:a16="http://schemas.microsoft.com/office/drawing/2014/main" id="{F0948208-57A4-F5B3-A99A-429E82E4F7BB}"/>
                    </a:ext>
                  </a:extLst>
                </p:cNvPr>
                <p:cNvGrpSpPr/>
                <p:nvPr/>
              </p:nvGrpSpPr>
              <p:grpSpPr>
                <a:xfrm>
                  <a:off x="3318448" y="5198237"/>
                  <a:ext cx="2280053" cy="219456"/>
                  <a:chOff x="3318448" y="5198237"/>
                  <a:chExt cx="2280053" cy="219456"/>
                </a:xfrm>
                <a:grpFill/>
              </p:grpSpPr>
              <p:sp>
                <p:nvSpPr>
                  <p:cNvPr id="216" name="Freeform 988">
                    <a:extLst>
                      <a:ext uri="{FF2B5EF4-FFF2-40B4-BE49-F238E27FC236}">
                        <a16:creationId xmlns:a16="http://schemas.microsoft.com/office/drawing/2014/main" id="{95F36ABA-D322-72B3-E5C2-A06375C3C238}"/>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17" name="Freeform 988">
                    <a:extLst>
                      <a:ext uri="{FF2B5EF4-FFF2-40B4-BE49-F238E27FC236}">
                        <a16:creationId xmlns:a16="http://schemas.microsoft.com/office/drawing/2014/main" id="{56F74200-CA23-C912-A7E0-D775F2B6982C}"/>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18" name="Freeform 988">
                    <a:extLst>
                      <a:ext uri="{FF2B5EF4-FFF2-40B4-BE49-F238E27FC236}">
                        <a16:creationId xmlns:a16="http://schemas.microsoft.com/office/drawing/2014/main" id="{DFCF8F46-5AA2-6E8B-271F-D412FA25EE72}"/>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19" name="Freeform 988">
                    <a:extLst>
                      <a:ext uri="{FF2B5EF4-FFF2-40B4-BE49-F238E27FC236}">
                        <a16:creationId xmlns:a16="http://schemas.microsoft.com/office/drawing/2014/main" id="{58D49850-FF05-A1E9-6B40-C25EA9C1DD5C}"/>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20" name="Freeform 988">
                    <a:extLst>
                      <a:ext uri="{FF2B5EF4-FFF2-40B4-BE49-F238E27FC236}">
                        <a16:creationId xmlns:a16="http://schemas.microsoft.com/office/drawing/2014/main" id="{AB1A950C-EE41-3D42-9FC6-ED54D4C593E7}"/>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21" name="Freeform 988">
                    <a:extLst>
                      <a:ext uri="{FF2B5EF4-FFF2-40B4-BE49-F238E27FC236}">
                        <a16:creationId xmlns:a16="http://schemas.microsoft.com/office/drawing/2014/main" id="{6816087A-2795-942A-E44F-ACB209AE5FB5}"/>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22" name="Freeform 988">
                    <a:extLst>
                      <a:ext uri="{FF2B5EF4-FFF2-40B4-BE49-F238E27FC236}">
                        <a16:creationId xmlns:a16="http://schemas.microsoft.com/office/drawing/2014/main" id="{F83D081B-3F7B-6D27-359D-A67B9A0D44D1}"/>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23" name="Freeform 988">
                    <a:extLst>
                      <a:ext uri="{FF2B5EF4-FFF2-40B4-BE49-F238E27FC236}">
                        <a16:creationId xmlns:a16="http://schemas.microsoft.com/office/drawing/2014/main" id="{28D2025A-1515-1247-C831-365D155B0B52}"/>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24" name="Freeform 988">
                    <a:extLst>
                      <a:ext uri="{FF2B5EF4-FFF2-40B4-BE49-F238E27FC236}">
                        <a16:creationId xmlns:a16="http://schemas.microsoft.com/office/drawing/2014/main" id="{E0916DA8-88B3-2A22-B911-83ABAB363E40}"/>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06" name="Group 205">
                  <a:extLst>
                    <a:ext uri="{FF2B5EF4-FFF2-40B4-BE49-F238E27FC236}">
                      <a16:creationId xmlns:a16="http://schemas.microsoft.com/office/drawing/2014/main" id="{C431987C-76DF-1BB7-FEB3-C135F525A0E5}"/>
                    </a:ext>
                  </a:extLst>
                </p:cNvPr>
                <p:cNvGrpSpPr/>
                <p:nvPr/>
              </p:nvGrpSpPr>
              <p:grpSpPr>
                <a:xfrm>
                  <a:off x="3318448" y="5452270"/>
                  <a:ext cx="2280053" cy="219456"/>
                  <a:chOff x="3318448" y="5198237"/>
                  <a:chExt cx="2280053" cy="219456"/>
                </a:xfrm>
                <a:grpFill/>
              </p:grpSpPr>
              <p:sp>
                <p:nvSpPr>
                  <p:cNvPr id="207" name="Freeform 988">
                    <a:extLst>
                      <a:ext uri="{FF2B5EF4-FFF2-40B4-BE49-F238E27FC236}">
                        <a16:creationId xmlns:a16="http://schemas.microsoft.com/office/drawing/2014/main" id="{C8C4DB33-6482-731E-917C-DAFF43D621F4}"/>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08" name="Freeform 988">
                    <a:extLst>
                      <a:ext uri="{FF2B5EF4-FFF2-40B4-BE49-F238E27FC236}">
                        <a16:creationId xmlns:a16="http://schemas.microsoft.com/office/drawing/2014/main" id="{10F05B4C-D4AD-4F4F-5DA7-13A44CB10993}"/>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09" name="Freeform 988">
                    <a:extLst>
                      <a:ext uri="{FF2B5EF4-FFF2-40B4-BE49-F238E27FC236}">
                        <a16:creationId xmlns:a16="http://schemas.microsoft.com/office/drawing/2014/main" id="{06FEF846-FB39-48D5-653B-0613D9908524}"/>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10" name="Freeform 988">
                    <a:extLst>
                      <a:ext uri="{FF2B5EF4-FFF2-40B4-BE49-F238E27FC236}">
                        <a16:creationId xmlns:a16="http://schemas.microsoft.com/office/drawing/2014/main" id="{E8EE02DF-4C78-81D5-920E-A3BBDF47D852}"/>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11" name="Freeform 988">
                    <a:extLst>
                      <a:ext uri="{FF2B5EF4-FFF2-40B4-BE49-F238E27FC236}">
                        <a16:creationId xmlns:a16="http://schemas.microsoft.com/office/drawing/2014/main" id="{ADC99453-15AD-113F-3370-085078E76FF1}"/>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12" name="Freeform 988">
                    <a:extLst>
                      <a:ext uri="{FF2B5EF4-FFF2-40B4-BE49-F238E27FC236}">
                        <a16:creationId xmlns:a16="http://schemas.microsoft.com/office/drawing/2014/main" id="{073163C7-31E1-16A3-8083-95E35EA4C7DD}"/>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13" name="Freeform 988">
                    <a:extLst>
                      <a:ext uri="{FF2B5EF4-FFF2-40B4-BE49-F238E27FC236}">
                        <a16:creationId xmlns:a16="http://schemas.microsoft.com/office/drawing/2014/main" id="{E4E77081-8844-66F4-1AF7-121F7E6C6CB1}"/>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14" name="Freeform 988">
                    <a:extLst>
                      <a:ext uri="{FF2B5EF4-FFF2-40B4-BE49-F238E27FC236}">
                        <a16:creationId xmlns:a16="http://schemas.microsoft.com/office/drawing/2014/main" id="{A4A0F37A-7A3A-77B3-85FA-FDA9258BDEFF}"/>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15" name="Freeform 988">
                    <a:extLst>
                      <a:ext uri="{FF2B5EF4-FFF2-40B4-BE49-F238E27FC236}">
                        <a16:creationId xmlns:a16="http://schemas.microsoft.com/office/drawing/2014/main" id="{0022E487-A1D0-8748-31A5-DA22B80BDCE0}"/>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nvGrpSpPr>
              <p:cNvPr id="184" name="Group 183">
                <a:extLst>
                  <a:ext uri="{FF2B5EF4-FFF2-40B4-BE49-F238E27FC236}">
                    <a16:creationId xmlns:a16="http://schemas.microsoft.com/office/drawing/2014/main" id="{1B9411E0-1C52-F2A8-D0AC-96A9B82FF6AF}"/>
                  </a:ext>
                </a:extLst>
              </p:cNvPr>
              <p:cNvGrpSpPr/>
              <p:nvPr/>
            </p:nvGrpSpPr>
            <p:grpSpPr>
              <a:xfrm>
                <a:off x="3318448" y="5702776"/>
                <a:ext cx="2280053" cy="473489"/>
                <a:chOff x="3318448" y="5198237"/>
                <a:chExt cx="2280053" cy="473489"/>
              </a:xfrm>
              <a:grpFill/>
            </p:grpSpPr>
            <p:grpSp>
              <p:nvGrpSpPr>
                <p:cNvPr id="185" name="Group 184">
                  <a:extLst>
                    <a:ext uri="{FF2B5EF4-FFF2-40B4-BE49-F238E27FC236}">
                      <a16:creationId xmlns:a16="http://schemas.microsoft.com/office/drawing/2014/main" id="{91500CE9-B763-070D-FFC6-37FCE420F676}"/>
                    </a:ext>
                  </a:extLst>
                </p:cNvPr>
                <p:cNvGrpSpPr/>
                <p:nvPr/>
              </p:nvGrpSpPr>
              <p:grpSpPr>
                <a:xfrm>
                  <a:off x="3318448" y="5198237"/>
                  <a:ext cx="2280053" cy="219456"/>
                  <a:chOff x="3318448" y="5198237"/>
                  <a:chExt cx="2280053" cy="219456"/>
                </a:xfrm>
                <a:grpFill/>
              </p:grpSpPr>
              <p:sp>
                <p:nvSpPr>
                  <p:cNvPr id="196" name="Freeform 988">
                    <a:extLst>
                      <a:ext uri="{FF2B5EF4-FFF2-40B4-BE49-F238E27FC236}">
                        <a16:creationId xmlns:a16="http://schemas.microsoft.com/office/drawing/2014/main" id="{09D2E51D-D3F1-E57B-3E22-8A1CA4462ACB}"/>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97" name="Freeform 988">
                    <a:extLst>
                      <a:ext uri="{FF2B5EF4-FFF2-40B4-BE49-F238E27FC236}">
                        <a16:creationId xmlns:a16="http://schemas.microsoft.com/office/drawing/2014/main" id="{058CD91D-BB88-A12A-4466-B2788583B70D}"/>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98" name="Freeform 988">
                    <a:extLst>
                      <a:ext uri="{FF2B5EF4-FFF2-40B4-BE49-F238E27FC236}">
                        <a16:creationId xmlns:a16="http://schemas.microsoft.com/office/drawing/2014/main" id="{97ED9B29-C990-0A57-2AD8-1CFC6FDABE4A}"/>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99" name="Freeform 988">
                    <a:extLst>
                      <a:ext uri="{FF2B5EF4-FFF2-40B4-BE49-F238E27FC236}">
                        <a16:creationId xmlns:a16="http://schemas.microsoft.com/office/drawing/2014/main" id="{DBF9021B-546F-1BE4-18A9-4A3D471E8489}"/>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00" name="Freeform 988">
                    <a:extLst>
                      <a:ext uri="{FF2B5EF4-FFF2-40B4-BE49-F238E27FC236}">
                        <a16:creationId xmlns:a16="http://schemas.microsoft.com/office/drawing/2014/main" id="{43F348E0-80B6-D35D-BB6D-498F7023F618}"/>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01" name="Freeform 988">
                    <a:extLst>
                      <a:ext uri="{FF2B5EF4-FFF2-40B4-BE49-F238E27FC236}">
                        <a16:creationId xmlns:a16="http://schemas.microsoft.com/office/drawing/2014/main" id="{379294C8-8FDB-D2F2-75F7-97FAD5C10672}"/>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02" name="Freeform 988">
                    <a:extLst>
                      <a:ext uri="{FF2B5EF4-FFF2-40B4-BE49-F238E27FC236}">
                        <a16:creationId xmlns:a16="http://schemas.microsoft.com/office/drawing/2014/main" id="{6A0C840F-F4E9-4E29-E920-29A13AD232AA}"/>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03" name="Freeform 988">
                    <a:extLst>
                      <a:ext uri="{FF2B5EF4-FFF2-40B4-BE49-F238E27FC236}">
                        <a16:creationId xmlns:a16="http://schemas.microsoft.com/office/drawing/2014/main" id="{5D89613D-08EC-FC15-732F-EC02E847DE03}"/>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04" name="Freeform 988">
                    <a:extLst>
                      <a:ext uri="{FF2B5EF4-FFF2-40B4-BE49-F238E27FC236}">
                        <a16:creationId xmlns:a16="http://schemas.microsoft.com/office/drawing/2014/main" id="{24CAAD62-77E2-4619-CAD6-60A4B964F345}"/>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186" name="Group 185">
                  <a:extLst>
                    <a:ext uri="{FF2B5EF4-FFF2-40B4-BE49-F238E27FC236}">
                      <a16:creationId xmlns:a16="http://schemas.microsoft.com/office/drawing/2014/main" id="{89926D9F-9606-7249-395A-DADF446118F1}"/>
                    </a:ext>
                  </a:extLst>
                </p:cNvPr>
                <p:cNvGrpSpPr/>
                <p:nvPr/>
              </p:nvGrpSpPr>
              <p:grpSpPr>
                <a:xfrm>
                  <a:off x="3318448" y="5452270"/>
                  <a:ext cx="2280053" cy="219456"/>
                  <a:chOff x="3318448" y="5198237"/>
                  <a:chExt cx="2280053" cy="219456"/>
                </a:xfrm>
                <a:grpFill/>
              </p:grpSpPr>
              <p:sp>
                <p:nvSpPr>
                  <p:cNvPr id="187" name="Freeform 988">
                    <a:extLst>
                      <a:ext uri="{FF2B5EF4-FFF2-40B4-BE49-F238E27FC236}">
                        <a16:creationId xmlns:a16="http://schemas.microsoft.com/office/drawing/2014/main" id="{B71655A2-24FD-7E74-D94F-3DEF450641E6}"/>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88" name="Freeform 988">
                    <a:extLst>
                      <a:ext uri="{FF2B5EF4-FFF2-40B4-BE49-F238E27FC236}">
                        <a16:creationId xmlns:a16="http://schemas.microsoft.com/office/drawing/2014/main" id="{210F04BF-53EB-65AA-982C-8C0857CF255F}"/>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89" name="Freeform 988">
                    <a:extLst>
                      <a:ext uri="{FF2B5EF4-FFF2-40B4-BE49-F238E27FC236}">
                        <a16:creationId xmlns:a16="http://schemas.microsoft.com/office/drawing/2014/main" id="{14EB27BD-73ED-FA07-3A16-E0A50CA7886D}"/>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90" name="Freeform 988">
                    <a:extLst>
                      <a:ext uri="{FF2B5EF4-FFF2-40B4-BE49-F238E27FC236}">
                        <a16:creationId xmlns:a16="http://schemas.microsoft.com/office/drawing/2014/main" id="{5EA3504E-AAB6-0CD7-B839-00C8E8D19EEC}"/>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91" name="Freeform 988">
                    <a:extLst>
                      <a:ext uri="{FF2B5EF4-FFF2-40B4-BE49-F238E27FC236}">
                        <a16:creationId xmlns:a16="http://schemas.microsoft.com/office/drawing/2014/main" id="{84A8DFE7-4197-DF6F-33D7-24268041A010}"/>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92" name="Freeform 988">
                    <a:extLst>
                      <a:ext uri="{FF2B5EF4-FFF2-40B4-BE49-F238E27FC236}">
                        <a16:creationId xmlns:a16="http://schemas.microsoft.com/office/drawing/2014/main" id="{824724BC-4C4E-DCC0-F7DF-2E94183FB92F}"/>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93" name="Freeform 988">
                    <a:extLst>
                      <a:ext uri="{FF2B5EF4-FFF2-40B4-BE49-F238E27FC236}">
                        <a16:creationId xmlns:a16="http://schemas.microsoft.com/office/drawing/2014/main" id="{0FD0FC8E-206C-BBB8-15E8-051DF50252C5}"/>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94" name="Freeform 988">
                    <a:extLst>
                      <a:ext uri="{FF2B5EF4-FFF2-40B4-BE49-F238E27FC236}">
                        <a16:creationId xmlns:a16="http://schemas.microsoft.com/office/drawing/2014/main" id="{EC09B01C-6814-DD10-0FB1-504A0D5D5160}"/>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95" name="Freeform 988">
                    <a:extLst>
                      <a:ext uri="{FF2B5EF4-FFF2-40B4-BE49-F238E27FC236}">
                        <a16:creationId xmlns:a16="http://schemas.microsoft.com/office/drawing/2014/main" id="{89F725F3-CE26-F1D1-68C8-FC39D0F0D70A}"/>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grpSp>
          <p:nvGrpSpPr>
            <p:cNvPr id="162" name="Group 161">
              <a:extLst>
                <a:ext uri="{FF2B5EF4-FFF2-40B4-BE49-F238E27FC236}">
                  <a16:creationId xmlns:a16="http://schemas.microsoft.com/office/drawing/2014/main" id="{71C89044-57DA-9B27-DF4B-15E925F3A5A6}"/>
                </a:ext>
              </a:extLst>
            </p:cNvPr>
            <p:cNvGrpSpPr/>
            <p:nvPr/>
          </p:nvGrpSpPr>
          <p:grpSpPr>
            <a:xfrm>
              <a:off x="3318448" y="6207711"/>
              <a:ext cx="2280053" cy="473489"/>
              <a:chOff x="3318448" y="5198237"/>
              <a:chExt cx="2280053" cy="473489"/>
            </a:xfrm>
            <a:grpFill/>
          </p:grpSpPr>
          <p:grpSp>
            <p:nvGrpSpPr>
              <p:cNvPr id="163" name="Group 162">
                <a:extLst>
                  <a:ext uri="{FF2B5EF4-FFF2-40B4-BE49-F238E27FC236}">
                    <a16:creationId xmlns:a16="http://schemas.microsoft.com/office/drawing/2014/main" id="{AEDADD51-E1CD-098D-0DD8-EE743F8E9441}"/>
                  </a:ext>
                </a:extLst>
              </p:cNvPr>
              <p:cNvGrpSpPr/>
              <p:nvPr/>
            </p:nvGrpSpPr>
            <p:grpSpPr>
              <a:xfrm>
                <a:off x="3318448" y="5198237"/>
                <a:ext cx="2280053" cy="219456"/>
                <a:chOff x="3318448" y="5198237"/>
                <a:chExt cx="2280053" cy="219456"/>
              </a:xfrm>
              <a:grpFill/>
            </p:grpSpPr>
            <p:sp>
              <p:nvSpPr>
                <p:cNvPr id="174" name="Freeform 988">
                  <a:extLst>
                    <a:ext uri="{FF2B5EF4-FFF2-40B4-BE49-F238E27FC236}">
                      <a16:creationId xmlns:a16="http://schemas.microsoft.com/office/drawing/2014/main" id="{29D42A09-82E1-CBFB-BA41-F37DC6B35C45}"/>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5" name="Freeform 988">
                  <a:extLst>
                    <a:ext uri="{FF2B5EF4-FFF2-40B4-BE49-F238E27FC236}">
                      <a16:creationId xmlns:a16="http://schemas.microsoft.com/office/drawing/2014/main" id="{65F43425-E5AF-0FB9-A95E-5AC80CBC16C4}"/>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6" name="Freeform 988">
                  <a:extLst>
                    <a:ext uri="{FF2B5EF4-FFF2-40B4-BE49-F238E27FC236}">
                      <a16:creationId xmlns:a16="http://schemas.microsoft.com/office/drawing/2014/main" id="{24EBD0F4-0DD7-962C-0745-4E039C94B689}"/>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7" name="Freeform 988">
                  <a:extLst>
                    <a:ext uri="{FF2B5EF4-FFF2-40B4-BE49-F238E27FC236}">
                      <a16:creationId xmlns:a16="http://schemas.microsoft.com/office/drawing/2014/main" id="{ACD3CD8C-8F52-A17A-19C2-514409B2D2C2}"/>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8" name="Freeform 988">
                  <a:extLst>
                    <a:ext uri="{FF2B5EF4-FFF2-40B4-BE49-F238E27FC236}">
                      <a16:creationId xmlns:a16="http://schemas.microsoft.com/office/drawing/2014/main" id="{07009E9E-C25A-E381-4C94-8B23F8F8A2F0}"/>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9" name="Freeform 988">
                  <a:extLst>
                    <a:ext uri="{FF2B5EF4-FFF2-40B4-BE49-F238E27FC236}">
                      <a16:creationId xmlns:a16="http://schemas.microsoft.com/office/drawing/2014/main" id="{636FF08A-CB88-BA03-BB2F-0FA3881F0B3A}"/>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80" name="Freeform 988">
                  <a:extLst>
                    <a:ext uri="{FF2B5EF4-FFF2-40B4-BE49-F238E27FC236}">
                      <a16:creationId xmlns:a16="http://schemas.microsoft.com/office/drawing/2014/main" id="{8E71C9AE-F579-3603-68AA-BC60D089DE82}"/>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81" name="Freeform 988">
                  <a:extLst>
                    <a:ext uri="{FF2B5EF4-FFF2-40B4-BE49-F238E27FC236}">
                      <a16:creationId xmlns:a16="http://schemas.microsoft.com/office/drawing/2014/main" id="{33C5FD37-29E5-B594-7F7D-7FEA88817941}"/>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82" name="Freeform 988">
                  <a:extLst>
                    <a:ext uri="{FF2B5EF4-FFF2-40B4-BE49-F238E27FC236}">
                      <a16:creationId xmlns:a16="http://schemas.microsoft.com/office/drawing/2014/main" id="{7134E9E9-6E97-8B8E-3C8D-A84813F43C0F}"/>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164" name="Group 163">
                <a:extLst>
                  <a:ext uri="{FF2B5EF4-FFF2-40B4-BE49-F238E27FC236}">
                    <a16:creationId xmlns:a16="http://schemas.microsoft.com/office/drawing/2014/main" id="{2F59DF4E-C23D-4DF7-FDB6-F279B58AB2E8}"/>
                  </a:ext>
                </a:extLst>
              </p:cNvPr>
              <p:cNvGrpSpPr/>
              <p:nvPr/>
            </p:nvGrpSpPr>
            <p:grpSpPr>
              <a:xfrm>
                <a:off x="3318448" y="5452270"/>
                <a:ext cx="2280053" cy="219456"/>
                <a:chOff x="3318448" y="5198237"/>
                <a:chExt cx="2280053" cy="219456"/>
              </a:xfrm>
              <a:grpFill/>
            </p:grpSpPr>
            <p:sp>
              <p:nvSpPr>
                <p:cNvPr id="165" name="Freeform 988">
                  <a:extLst>
                    <a:ext uri="{FF2B5EF4-FFF2-40B4-BE49-F238E27FC236}">
                      <a16:creationId xmlns:a16="http://schemas.microsoft.com/office/drawing/2014/main" id="{0B708056-07DD-9F9D-A3C4-A41DB4BA8FDE}"/>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66" name="Freeform 988">
                  <a:extLst>
                    <a:ext uri="{FF2B5EF4-FFF2-40B4-BE49-F238E27FC236}">
                      <a16:creationId xmlns:a16="http://schemas.microsoft.com/office/drawing/2014/main" id="{727954D6-A237-251B-E9C6-91456736E38C}"/>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67" name="Freeform 988">
                  <a:extLst>
                    <a:ext uri="{FF2B5EF4-FFF2-40B4-BE49-F238E27FC236}">
                      <a16:creationId xmlns:a16="http://schemas.microsoft.com/office/drawing/2014/main" id="{9DE83118-F8AE-A13C-FFB4-9D4F3A8B7EE4}"/>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68" name="Freeform 988">
                  <a:extLst>
                    <a:ext uri="{FF2B5EF4-FFF2-40B4-BE49-F238E27FC236}">
                      <a16:creationId xmlns:a16="http://schemas.microsoft.com/office/drawing/2014/main" id="{52E4FDB1-94B0-3A3B-FBC6-A314A2AC688E}"/>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69" name="Freeform 988">
                  <a:extLst>
                    <a:ext uri="{FF2B5EF4-FFF2-40B4-BE49-F238E27FC236}">
                      <a16:creationId xmlns:a16="http://schemas.microsoft.com/office/drawing/2014/main" id="{A85A72BE-D00D-6E53-5DA1-EC918A490E70}"/>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0" name="Freeform 988">
                  <a:extLst>
                    <a:ext uri="{FF2B5EF4-FFF2-40B4-BE49-F238E27FC236}">
                      <a16:creationId xmlns:a16="http://schemas.microsoft.com/office/drawing/2014/main" id="{B24B8796-0AFC-9160-6523-7961666D849E}"/>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1" name="Freeform 988">
                  <a:extLst>
                    <a:ext uri="{FF2B5EF4-FFF2-40B4-BE49-F238E27FC236}">
                      <a16:creationId xmlns:a16="http://schemas.microsoft.com/office/drawing/2014/main" id="{6B45CC3E-95F2-A25A-539E-6B14FEAAFF6A}"/>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2" name="Freeform 988">
                  <a:extLst>
                    <a:ext uri="{FF2B5EF4-FFF2-40B4-BE49-F238E27FC236}">
                      <a16:creationId xmlns:a16="http://schemas.microsoft.com/office/drawing/2014/main" id="{2195A017-FFD1-06F1-A226-EC4AAB642026}"/>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73" name="Freeform 988">
                  <a:extLst>
                    <a:ext uri="{FF2B5EF4-FFF2-40B4-BE49-F238E27FC236}">
                      <a16:creationId xmlns:a16="http://schemas.microsoft.com/office/drawing/2014/main" id="{18C4D4DD-38D5-CA9F-5CDD-7BEE8411246C}"/>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grpSp>
        <p:nvGrpSpPr>
          <p:cNvPr id="225" name="Group 224">
            <a:extLst>
              <a:ext uri="{FF2B5EF4-FFF2-40B4-BE49-F238E27FC236}">
                <a16:creationId xmlns:a16="http://schemas.microsoft.com/office/drawing/2014/main" id="{3F89F25C-44FD-1F1E-9462-D464768A2CFF}"/>
              </a:ext>
            </a:extLst>
          </p:cNvPr>
          <p:cNvGrpSpPr/>
          <p:nvPr/>
        </p:nvGrpSpPr>
        <p:grpSpPr>
          <a:xfrm>
            <a:off x="4821798" y="3443179"/>
            <a:ext cx="2071639" cy="1363021"/>
            <a:chOff x="3323076" y="3668839"/>
            <a:chExt cx="2264695" cy="1490041"/>
          </a:xfrm>
          <a:solidFill>
            <a:srgbClr val="53565A">
              <a:lumMod val="20000"/>
              <a:lumOff val="80000"/>
            </a:srgbClr>
          </a:solidFill>
        </p:grpSpPr>
        <p:grpSp>
          <p:nvGrpSpPr>
            <p:cNvPr id="226" name="Group 225">
              <a:extLst>
                <a:ext uri="{FF2B5EF4-FFF2-40B4-BE49-F238E27FC236}">
                  <a16:creationId xmlns:a16="http://schemas.microsoft.com/office/drawing/2014/main" id="{CB94EAC9-ACE7-2FEA-A2A8-9E239EB800AC}"/>
                </a:ext>
              </a:extLst>
            </p:cNvPr>
            <p:cNvGrpSpPr/>
            <p:nvPr/>
          </p:nvGrpSpPr>
          <p:grpSpPr>
            <a:xfrm>
              <a:off x="3323076" y="3668839"/>
              <a:ext cx="2264695" cy="219456"/>
              <a:chOff x="3323076" y="3668839"/>
              <a:chExt cx="2264695" cy="219456"/>
            </a:xfrm>
            <a:grpFill/>
          </p:grpSpPr>
          <p:sp>
            <p:nvSpPr>
              <p:cNvPr id="277" name="Freeform 974">
                <a:extLst>
                  <a:ext uri="{FF2B5EF4-FFF2-40B4-BE49-F238E27FC236}">
                    <a16:creationId xmlns:a16="http://schemas.microsoft.com/office/drawing/2014/main" id="{FF483176-EA5F-F02E-FFAD-0D804D434A63}"/>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78" name="Freeform 974">
                <a:extLst>
                  <a:ext uri="{FF2B5EF4-FFF2-40B4-BE49-F238E27FC236}">
                    <a16:creationId xmlns:a16="http://schemas.microsoft.com/office/drawing/2014/main" id="{07066017-6C97-5868-49B2-DE7D4C9B3820}"/>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79" name="Freeform 974">
                <a:extLst>
                  <a:ext uri="{FF2B5EF4-FFF2-40B4-BE49-F238E27FC236}">
                    <a16:creationId xmlns:a16="http://schemas.microsoft.com/office/drawing/2014/main" id="{64BBE81F-4605-1B0D-125F-7144F2D62BF7}"/>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80" name="Freeform 974">
                <a:extLst>
                  <a:ext uri="{FF2B5EF4-FFF2-40B4-BE49-F238E27FC236}">
                    <a16:creationId xmlns:a16="http://schemas.microsoft.com/office/drawing/2014/main" id="{EA463926-A923-A507-666E-256BC557C6CB}"/>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81" name="Freeform 974">
                <a:extLst>
                  <a:ext uri="{FF2B5EF4-FFF2-40B4-BE49-F238E27FC236}">
                    <a16:creationId xmlns:a16="http://schemas.microsoft.com/office/drawing/2014/main" id="{74BA0271-527A-0C1C-D27A-2102758C9956}"/>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82" name="Freeform 974">
                <a:extLst>
                  <a:ext uri="{FF2B5EF4-FFF2-40B4-BE49-F238E27FC236}">
                    <a16:creationId xmlns:a16="http://schemas.microsoft.com/office/drawing/2014/main" id="{8EDB9705-01F6-1955-CB00-D35701D4E69A}"/>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83" name="Freeform 974">
                <a:extLst>
                  <a:ext uri="{FF2B5EF4-FFF2-40B4-BE49-F238E27FC236}">
                    <a16:creationId xmlns:a16="http://schemas.microsoft.com/office/drawing/2014/main" id="{C77FB162-2A2B-6330-49B9-0C05CB7599F4}"/>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84" name="Freeform 974">
                <a:extLst>
                  <a:ext uri="{FF2B5EF4-FFF2-40B4-BE49-F238E27FC236}">
                    <a16:creationId xmlns:a16="http://schemas.microsoft.com/office/drawing/2014/main" id="{46D3C303-097B-3A2B-A4CB-49F49C3C7EF0}"/>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85" name="Freeform 974">
                <a:extLst>
                  <a:ext uri="{FF2B5EF4-FFF2-40B4-BE49-F238E27FC236}">
                    <a16:creationId xmlns:a16="http://schemas.microsoft.com/office/drawing/2014/main" id="{29FC7555-FB03-EDC2-E871-4BBB64017F1E}"/>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27" name="Group 226">
              <a:extLst>
                <a:ext uri="{FF2B5EF4-FFF2-40B4-BE49-F238E27FC236}">
                  <a16:creationId xmlns:a16="http://schemas.microsoft.com/office/drawing/2014/main" id="{85181AC9-4975-514A-8220-224006A0581A}"/>
                </a:ext>
              </a:extLst>
            </p:cNvPr>
            <p:cNvGrpSpPr/>
            <p:nvPr/>
          </p:nvGrpSpPr>
          <p:grpSpPr>
            <a:xfrm>
              <a:off x="3323076" y="3925557"/>
              <a:ext cx="2264695" cy="219456"/>
              <a:chOff x="3323076" y="3668839"/>
              <a:chExt cx="2264695" cy="219456"/>
            </a:xfrm>
            <a:grpFill/>
          </p:grpSpPr>
          <p:sp>
            <p:nvSpPr>
              <p:cNvPr id="268" name="Freeform 974">
                <a:extLst>
                  <a:ext uri="{FF2B5EF4-FFF2-40B4-BE49-F238E27FC236}">
                    <a16:creationId xmlns:a16="http://schemas.microsoft.com/office/drawing/2014/main" id="{122CF2DE-F743-E996-0B39-D431B7172146}"/>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69" name="Freeform 974">
                <a:extLst>
                  <a:ext uri="{FF2B5EF4-FFF2-40B4-BE49-F238E27FC236}">
                    <a16:creationId xmlns:a16="http://schemas.microsoft.com/office/drawing/2014/main" id="{C43312A2-D050-0E33-E129-169CD500F01C}"/>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70" name="Freeform 974">
                <a:extLst>
                  <a:ext uri="{FF2B5EF4-FFF2-40B4-BE49-F238E27FC236}">
                    <a16:creationId xmlns:a16="http://schemas.microsoft.com/office/drawing/2014/main" id="{D965F40B-9EB8-8C0F-3F0B-CD1FE589A1B0}"/>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71" name="Freeform 974">
                <a:extLst>
                  <a:ext uri="{FF2B5EF4-FFF2-40B4-BE49-F238E27FC236}">
                    <a16:creationId xmlns:a16="http://schemas.microsoft.com/office/drawing/2014/main" id="{37C3FDEE-8849-E2A6-6827-D2127A61606B}"/>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72" name="Freeform 974">
                <a:extLst>
                  <a:ext uri="{FF2B5EF4-FFF2-40B4-BE49-F238E27FC236}">
                    <a16:creationId xmlns:a16="http://schemas.microsoft.com/office/drawing/2014/main" id="{5651C87B-042E-1B0A-D3C3-E062AE6BCEB8}"/>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73" name="Freeform 974">
                <a:extLst>
                  <a:ext uri="{FF2B5EF4-FFF2-40B4-BE49-F238E27FC236}">
                    <a16:creationId xmlns:a16="http://schemas.microsoft.com/office/drawing/2014/main" id="{8FD78EA3-0AC2-8026-4155-22C1C4D1BDA5}"/>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74" name="Freeform 974">
                <a:extLst>
                  <a:ext uri="{FF2B5EF4-FFF2-40B4-BE49-F238E27FC236}">
                    <a16:creationId xmlns:a16="http://schemas.microsoft.com/office/drawing/2014/main" id="{03B181AA-A7E4-2823-7E6E-4E373CA6BA59}"/>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75" name="Freeform 974">
                <a:extLst>
                  <a:ext uri="{FF2B5EF4-FFF2-40B4-BE49-F238E27FC236}">
                    <a16:creationId xmlns:a16="http://schemas.microsoft.com/office/drawing/2014/main" id="{71231B5C-EA59-3815-490D-B96D66325431}"/>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76" name="Freeform 974">
                <a:extLst>
                  <a:ext uri="{FF2B5EF4-FFF2-40B4-BE49-F238E27FC236}">
                    <a16:creationId xmlns:a16="http://schemas.microsoft.com/office/drawing/2014/main" id="{0CCABABF-AB54-FF24-B1A8-A7D5531F74ED}"/>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28" name="Group 227">
              <a:extLst>
                <a:ext uri="{FF2B5EF4-FFF2-40B4-BE49-F238E27FC236}">
                  <a16:creationId xmlns:a16="http://schemas.microsoft.com/office/drawing/2014/main" id="{A33F7830-BAE7-E372-33B1-81F99E6A0DBE}"/>
                </a:ext>
              </a:extLst>
            </p:cNvPr>
            <p:cNvGrpSpPr/>
            <p:nvPr/>
          </p:nvGrpSpPr>
          <p:grpSpPr>
            <a:xfrm>
              <a:off x="3323076" y="4178502"/>
              <a:ext cx="2264695" cy="219456"/>
              <a:chOff x="3323076" y="3668839"/>
              <a:chExt cx="2264695" cy="219456"/>
            </a:xfrm>
            <a:grpFill/>
          </p:grpSpPr>
          <p:sp>
            <p:nvSpPr>
              <p:cNvPr id="259" name="Freeform 974">
                <a:extLst>
                  <a:ext uri="{FF2B5EF4-FFF2-40B4-BE49-F238E27FC236}">
                    <a16:creationId xmlns:a16="http://schemas.microsoft.com/office/drawing/2014/main" id="{00942ECE-CF3F-BDE4-F218-0E7C828F2AE9}"/>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60" name="Freeform 974">
                <a:extLst>
                  <a:ext uri="{FF2B5EF4-FFF2-40B4-BE49-F238E27FC236}">
                    <a16:creationId xmlns:a16="http://schemas.microsoft.com/office/drawing/2014/main" id="{DB8D9307-7BF7-15F7-3A4C-0EDC0E1D7565}"/>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61" name="Freeform 974">
                <a:extLst>
                  <a:ext uri="{FF2B5EF4-FFF2-40B4-BE49-F238E27FC236}">
                    <a16:creationId xmlns:a16="http://schemas.microsoft.com/office/drawing/2014/main" id="{6798F375-06AC-52FB-6C47-51AEA557CA3B}"/>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62" name="Freeform 974">
                <a:extLst>
                  <a:ext uri="{FF2B5EF4-FFF2-40B4-BE49-F238E27FC236}">
                    <a16:creationId xmlns:a16="http://schemas.microsoft.com/office/drawing/2014/main" id="{3AC7DF2D-8479-F5DD-5364-FF2F62DFC234}"/>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63" name="Freeform 974">
                <a:extLst>
                  <a:ext uri="{FF2B5EF4-FFF2-40B4-BE49-F238E27FC236}">
                    <a16:creationId xmlns:a16="http://schemas.microsoft.com/office/drawing/2014/main" id="{8AF13673-D60E-466F-2313-E6A3B04C5D6E}"/>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64" name="Freeform 974">
                <a:extLst>
                  <a:ext uri="{FF2B5EF4-FFF2-40B4-BE49-F238E27FC236}">
                    <a16:creationId xmlns:a16="http://schemas.microsoft.com/office/drawing/2014/main" id="{EDC3EE34-3D76-4ACB-69C8-B96FA06FC9E9}"/>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65" name="Freeform 974">
                <a:extLst>
                  <a:ext uri="{FF2B5EF4-FFF2-40B4-BE49-F238E27FC236}">
                    <a16:creationId xmlns:a16="http://schemas.microsoft.com/office/drawing/2014/main" id="{781E77E9-0B5F-FEDC-65EF-57E18D80CDA3}"/>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66" name="Freeform 974">
                <a:extLst>
                  <a:ext uri="{FF2B5EF4-FFF2-40B4-BE49-F238E27FC236}">
                    <a16:creationId xmlns:a16="http://schemas.microsoft.com/office/drawing/2014/main" id="{4509C2B0-711F-A0E1-0F2F-FCF6E99D1213}"/>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67" name="Freeform 974">
                <a:extLst>
                  <a:ext uri="{FF2B5EF4-FFF2-40B4-BE49-F238E27FC236}">
                    <a16:creationId xmlns:a16="http://schemas.microsoft.com/office/drawing/2014/main" id="{73BBA539-74D4-080D-FB28-7B229C665535}"/>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29" name="Group 228">
              <a:extLst>
                <a:ext uri="{FF2B5EF4-FFF2-40B4-BE49-F238E27FC236}">
                  <a16:creationId xmlns:a16="http://schemas.microsoft.com/office/drawing/2014/main" id="{9E101575-1C10-0967-420F-76440CB21D5A}"/>
                </a:ext>
              </a:extLst>
            </p:cNvPr>
            <p:cNvGrpSpPr/>
            <p:nvPr/>
          </p:nvGrpSpPr>
          <p:grpSpPr>
            <a:xfrm>
              <a:off x="3323076" y="4435220"/>
              <a:ext cx="2264695" cy="219456"/>
              <a:chOff x="3323076" y="3668839"/>
              <a:chExt cx="2264695" cy="219456"/>
            </a:xfrm>
            <a:grpFill/>
          </p:grpSpPr>
          <p:sp>
            <p:nvSpPr>
              <p:cNvPr id="250" name="Freeform 974">
                <a:extLst>
                  <a:ext uri="{FF2B5EF4-FFF2-40B4-BE49-F238E27FC236}">
                    <a16:creationId xmlns:a16="http://schemas.microsoft.com/office/drawing/2014/main" id="{A7CFE827-1375-92B3-96E2-19645159AFAA}"/>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51" name="Freeform 974">
                <a:extLst>
                  <a:ext uri="{FF2B5EF4-FFF2-40B4-BE49-F238E27FC236}">
                    <a16:creationId xmlns:a16="http://schemas.microsoft.com/office/drawing/2014/main" id="{0A622A40-8A07-8215-8426-DE8DB889B0DB}"/>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52" name="Freeform 974">
                <a:extLst>
                  <a:ext uri="{FF2B5EF4-FFF2-40B4-BE49-F238E27FC236}">
                    <a16:creationId xmlns:a16="http://schemas.microsoft.com/office/drawing/2014/main" id="{5EA5551C-CF80-C529-96A2-09CDE5C60848}"/>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53" name="Freeform 974">
                <a:extLst>
                  <a:ext uri="{FF2B5EF4-FFF2-40B4-BE49-F238E27FC236}">
                    <a16:creationId xmlns:a16="http://schemas.microsoft.com/office/drawing/2014/main" id="{7A7A6A6C-8C7D-BFFB-C287-517CB408EBEF}"/>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54" name="Freeform 974">
                <a:extLst>
                  <a:ext uri="{FF2B5EF4-FFF2-40B4-BE49-F238E27FC236}">
                    <a16:creationId xmlns:a16="http://schemas.microsoft.com/office/drawing/2014/main" id="{49942845-C370-6928-4EC5-E72D22B42765}"/>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55" name="Freeform 974">
                <a:extLst>
                  <a:ext uri="{FF2B5EF4-FFF2-40B4-BE49-F238E27FC236}">
                    <a16:creationId xmlns:a16="http://schemas.microsoft.com/office/drawing/2014/main" id="{55CF86DF-14BF-3A52-3A74-0CBC155E7818}"/>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56" name="Freeform 974">
                <a:extLst>
                  <a:ext uri="{FF2B5EF4-FFF2-40B4-BE49-F238E27FC236}">
                    <a16:creationId xmlns:a16="http://schemas.microsoft.com/office/drawing/2014/main" id="{6DA8F53B-4E23-FCD9-0A7B-79EAC7201570}"/>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57" name="Freeform 974">
                <a:extLst>
                  <a:ext uri="{FF2B5EF4-FFF2-40B4-BE49-F238E27FC236}">
                    <a16:creationId xmlns:a16="http://schemas.microsoft.com/office/drawing/2014/main" id="{DE1C7FDB-738A-E8CB-0F04-5D4F70B50C32}"/>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58" name="Freeform 974">
                <a:extLst>
                  <a:ext uri="{FF2B5EF4-FFF2-40B4-BE49-F238E27FC236}">
                    <a16:creationId xmlns:a16="http://schemas.microsoft.com/office/drawing/2014/main" id="{2E3F567F-2258-58E2-6774-F2F8914D5FD5}"/>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30" name="Group 229">
              <a:extLst>
                <a:ext uri="{FF2B5EF4-FFF2-40B4-BE49-F238E27FC236}">
                  <a16:creationId xmlns:a16="http://schemas.microsoft.com/office/drawing/2014/main" id="{7A4650DB-AB66-A942-D7D9-E601A5D79BA5}"/>
                </a:ext>
              </a:extLst>
            </p:cNvPr>
            <p:cNvGrpSpPr/>
            <p:nvPr/>
          </p:nvGrpSpPr>
          <p:grpSpPr>
            <a:xfrm>
              <a:off x="3323076" y="4682706"/>
              <a:ext cx="2264695" cy="219456"/>
              <a:chOff x="3323076" y="3668839"/>
              <a:chExt cx="2264695" cy="219456"/>
            </a:xfrm>
            <a:grpFill/>
          </p:grpSpPr>
          <p:sp>
            <p:nvSpPr>
              <p:cNvPr id="241" name="Freeform 974">
                <a:extLst>
                  <a:ext uri="{FF2B5EF4-FFF2-40B4-BE49-F238E27FC236}">
                    <a16:creationId xmlns:a16="http://schemas.microsoft.com/office/drawing/2014/main" id="{F3238C70-2D22-67B0-A76F-4BE41439C2AF}"/>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42" name="Freeform 974">
                <a:extLst>
                  <a:ext uri="{FF2B5EF4-FFF2-40B4-BE49-F238E27FC236}">
                    <a16:creationId xmlns:a16="http://schemas.microsoft.com/office/drawing/2014/main" id="{BFB9EDE4-D6A3-954D-B101-7E6B6410C64D}"/>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43" name="Freeform 974">
                <a:extLst>
                  <a:ext uri="{FF2B5EF4-FFF2-40B4-BE49-F238E27FC236}">
                    <a16:creationId xmlns:a16="http://schemas.microsoft.com/office/drawing/2014/main" id="{C30A5D51-59C2-CC9D-397C-9D2A9E2E48A4}"/>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44" name="Freeform 974">
                <a:extLst>
                  <a:ext uri="{FF2B5EF4-FFF2-40B4-BE49-F238E27FC236}">
                    <a16:creationId xmlns:a16="http://schemas.microsoft.com/office/drawing/2014/main" id="{A3C3B4A4-9391-AF6C-B840-6D2A4A8167A3}"/>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45" name="Freeform 974">
                <a:extLst>
                  <a:ext uri="{FF2B5EF4-FFF2-40B4-BE49-F238E27FC236}">
                    <a16:creationId xmlns:a16="http://schemas.microsoft.com/office/drawing/2014/main" id="{418F955F-BABC-6296-958C-189EFA7C88BF}"/>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46" name="Freeform 974">
                <a:extLst>
                  <a:ext uri="{FF2B5EF4-FFF2-40B4-BE49-F238E27FC236}">
                    <a16:creationId xmlns:a16="http://schemas.microsoft.com/office/drawing/2014/main" id="{1F00EEE5-2746-23E9-D5A2-97F997E90FD2}"/>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47" name="Freeform 974">
                <a:extLst>
                  <a:ext uri="{FF2B5EF4-FFF2-40B4-BE49-F238E27FC236}">
                    <a16:creationId xmlns:a16="http://schemas.microsoft.com/office/drawing/2014/main" id="{5B2E2611-25CC-C79E-B0EC-50EFD27AAEE6}"/>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48" name="Freeform 974">
                <a:extLst>
                  <a:ext uri="{FF2B5EF4-FFF2-40B4-BE49-F238E27FC236}">
                    <a16:creationId xmlns:a16="http://schemas.microsoft.com/office/drawing/2014/main" id="{4875DF96-473D-2138-2C66-A32545A0B364}"/>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49" name="Freeform 974">
                <a:extLst>
                  <a:ext uri="{FF2B5EF4-FFF2-40B4-BE49-F238E27FC236}">
                    <a16:creationId xmlns:a16="http://schemas.microsoft.com/office/drawing/2014/main" id="{3C0341C8-8354-E704-C5CB-BFCEE4188B53}"/>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31" name="Group 230">
              <a:extLst>
                <a:ext uri="{FF2B5EF4-FFF2-40B4-BE49-F238E27FC236}">
                  <a16:creationId xmlns:a16="http://schemas.microsoft.com/office/drawing/2014/main" id="{D4F310A6-64F2-B525-8207-4A7B519EF116}"/>
                </a:ext>
              </a:extLst>
            </p:cNvPr>
            <p:cNvGrpSpPr/>
            <p:nvPr/>
          </p:nvGrpSpPr>
          <p:grpSpPr>
            <a:xfrm>
              <a:off x="3323076" y="4939424"/>
              <a:ext cx="2264695" cy="219456"/>
              <a:chOff x="3323076" y="3668839"/>
              <a:chExt cx="2264695" cy="219456"/>
            </a:xfrm>
            <a:grpFill/>
          </p:grpSpPr>
          <p:sp>
            <p:nvSpPr>
              <p:cNvPr id="232" name="Freeform 974">
                <a:extLst>
                  <a:ext uri="{FF2B5EF4-FFF2-40B4-BE49-F238E27FC236}">
                    <a16:creationId xmlns:a16="http://schemas.microsoft.com/office/drawing/2014/main" id="{F45FA6BD-CA71-4879-688B-A5DB812A955F}"/>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33" name="Freeform 974">
                <a:extLst>
                  <a:ext uri="{FF2B5EF4-FFF2-40B4-BE49-F238E27FC236}">
                    <a16:creationId xmlns:a16="http://schemas.microsoft.com/office/drawing/2014/main" id="{A880B846-AC58-D381-B919-D459C8034185}"/>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34" name="Freeform 974">
                <a:extLst>
                  <a:ext uri="{FF2B5EF4-FFF2-40B4-BE49-F238E27FC236}">
                    <a16:creationId xmlns:a16="http://schemas.microsoft.com/office/drawing/2014/main" id="{93B4E77F-BBA2-8159-835B-208B5C31ED78}"/>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35" name="Freeform 974">
                <a:extLst>
                  <a:ext uri="{FF2B5EF4-FFF2-40B4-BE49-F238E27FC236}">
                    <a16:creationId xmlns:a16="http://schemas.microsoft.com/office/drawing/2014/main" id="{B1CAB367-34F6-CD27-4889-6F005CAFC33B}"/>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36" name="Freeform 974">
                <a:extLst>
                  <a:ext uri="{FF2B5EF4-FFF2-40B4-BE49-F238E27FC236}">
                    <a16:creationId xmlns:a16="http://schemas.microsoft.com/office/drawing/2014/main" id="{44D45F19-2272-D0BB-0FE6-4F69A3DFE9B6}"/>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37" name="Freeform 974">
                <a:extLst>
                  <a:ext uri="{FF2B5EF4-FFF2-40B4-BE49-F238E27FC236}">
                    <a16:creationId xmlns:a16="http://schemas.microsoft.com/office/drawing/2014/main" id="{2D03C25C-281F-A510-BCDE-8B75F51DD90F}"/>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38" name="Freeform 974">
                <a:extLst>
                  <a:ext uri="{FF2B5EF4-FFF2-40B4-BE49-F238E27FC236}">
                    <a16:creationId xmlns:a16="http://schemas.microsoft.com/office/drawing/2014/main" id="{B8A50CD0-4FD6-EDFB-3D27-C0D9C47F2677}"/>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39" name="Freeform 974">
                <a:extLst>
                  <a:ext uri="{FF2B5EF4-FFF2-40B4-BE49-F238E27FC236}">
                    <a16:creationId xmlns:a16="http://schemas.microsoft.com/office/drawing/2014/main" id="{E7355655-95DD-2549-EFDF-017877423EE8}"/>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40" name="Freeform 974">
                <a:extLst>
                  <a:ext uri="{FF2B5EF4-FFF2-40B4-BE49-F238E27FC236}">
                    <a16:creationId xmlns:a16="http://schemas.microsoft.com/office/drawing/2014/main" id="{57E2DA81-6894-C944-15F8-DE69C28083C0}"/>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nvGrpSpPr>
          <p:cNvPr id="286" name="Group 285">
            <a:extLst>
              <a:ext uri="{FF2B5EF4-FFF2-40B4-BE49-F238E27FC236}">
                <a16:creationId xmlns:a16="http://schemas.microsoft.com/office/drawing/2014/main" id="{6F7D583E-6AD2-25F2-D12A-23B3DCDC9332}"/>
              </a:ext>
            </a:extLst>
          </p:cNvPr>
          <p:cNvGrpSpPr/>
          <p:nvPr/>
        </p:nvGrpSpPr>
        <p:grpSpPr>
          <a:xfrm>
            <a:off x="4820487" y="2044188"/>
            <a:ext cx="2069670" cy="1359234"/>
            <a:chOff x="3321642" y="2139475"/>
            <a:chExt cx="2262542" cy="1485900"/>
          </a:xfrm>
          <a:solidFill>
            <a:srgbClr val="9DD4CF"/>
          </a:solidFill>
        </p:grpSpPr>
        <p:grpSp>
          <p:nvGrpSpPr>
            <p:cNvPr id="287" name="Group 286">
              <a:extLst>
                <a:ext uri="{FF2B5EF4-FFF2-40B4-BE49-F238E27FC236}">
                  <a16:creationId xmlns:a16="http://schemas.microsoft.com/office/drawing/2014/main" id="{D0E5C489-E486-58AE-6B8C-204C74A19C59}"/>
                </a:ext>
              </a:extLst>
            </p:cNvPr>
            <p:cNvGrpSpPr/>
            <p:nvPr/>
          </p:nvGrpSpPr>
          <p:grpSpPr>
            <a:xfrm>
              <a:off x="3321642" y="2139475"/>
              <a:ext cx="2262542" cy="220890"/>
              <a:chOff x="3649188" y="1858074"/>
              <a:chExt cx="2262542" cy="220890"/>
            </a:xfrm>
            <a:grpFill/>
          </p:grpSpPr>
          <p:sp>
            <p:nvSpPr>
              <p:cNvPr id="338" name="Freeform 765">
                <a:extLst>
                  <a:ext uri="{FF2B5EF4-FFF2-40B4-BE49-F238E27FC236}">
                    <a16:creationId xmlns:a16="http://schemas.microsoft.com/office/drawing/2014/main" id="{CDCF94C7-31E9-C598-A77B-E4BADDD3C5B2}"/>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39" name="Freeform 765">
                <a:extLst>
                  <a:ext uri="{FF2B5EF4-FFF2-40B4-BE49-F238E27FC236}">
                    <a16:creationId xmlns:a16="http://schemas.microsoft.com/office/drawing/2014/main" id="{A705E5EB-A0E1-5365-53B3-A17740E4FBCC}"/>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40" name="Freeform 765">
                <a:extLst>
                  <a:ext uri="{FF2B5EF4-FFF2-40B4-BE49-F238E27FC236}">
                    <a16:creationId xmlns:a16="http://schemas.microsoft.com/office/drawing/2014/main" id="{83C84EE8-72EF-9B53-0364-5A8F0E89D18A}"/>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41" name="Freeform 765">
                <a:extLst>
                  <a:ext uri="{FF2B5EF4-FFF2-40B4-BE49-F238E27FC236}">
                    <a16:creationId xmlns:a16="http://schemas.microsoft.com/office/drawing/2014/main" id="{94171D3B-9838-5C84-D36C-0F4CB267D240}"/>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42" name="Freeform 765">
                <a:extLst>
                  <a:ext uri="{FF2B5EF4-FFF2-40B4-BE49-F238E27FC236}">
                    <a16:creationId xmlns:a16="http://schemas.microsoft.com/office/drawing/2014/main" id="{775154AB-FCC9-B062-5D3F-1697BB997301}"/>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43" name="Freeform 765">
                <a:extLst>
                  <a:ext uri="{FF2B5EF4-FFF2-40B4-BE49-F238E27FC236}">
                    <a16:creationId xmlns:a16="http://schemas.microsoft.com/office/drawing/2014/main" id="{0D15BAB6-ABFD-0055-A22E-C956B2DEDA96}"/>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44" name="Freeform 765">
                <a:extLst>
                  <a:ext uri="{FF2B5EF4-FFF2-40B4-BE49-F238E27FC236}">
                    <a16:creationId xmlns:a16="http://schemas.microsoft.com/office/drawing/2014/main" id="{707BD4CB-16B3-CDBF-2A33-33F75DEDBD54}"/>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45" name="Freeform 765">
                <a:extLst>
                  <a:ext uri="{FF2B5EF4-FFF2-40B4-BE49-F238E27FC236}">
                    <a16:creationId xmlns:a16="http://schemas.microsoft.com/office/drawing/2014/main" id="{409581FC-8F25-9AB4-0AC4-931179CB8F52}"/>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46" name="Freeform 765">
                <a:extLst>
                  <a:ext uri="{FF2B5EF4-FFF2-40B4-BE49-F238E27FC236}">
                    <a16:creationId xmlns:a16="http://schemas.microsoft.com/office/drawing/2014/main" id="{4B92D82F-DE48-E3A5-6625-C8C98530C9F3}"/>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88" name="Group 287">
              <a:extLst>
                <a:ext uri="{FF2B5EF4-FFF2-40B4-BE49-F238E27FC236}">
                  <a16:creationId xmlns:a16="http://schemas.microsoft.com/office/drawing/2014/main" id="{30679546-96F9-6B22-D965-5B78F7AFCECD}"/>
                </a:ext>
              </a:extLst>
            </p:cNvPr>
            <p:cNvGrpSpPr/>
            <p:nvPr/>
          </p:nvGrpSpPr>
          <p:grpSpPr>
            <a:xfrm>
              <a:off x="3321642" y="2386706"/>
              <a:ext cx="2262542" cy="220890"/>
              <a:chOff x="3649188" y="1858074"/>
              <a:chExt cx="2262542" cy="220890"/>
            </a:xfrm>
            <a:grpFill/>
          </p:grpSpPr>
          <p:sp>
            <p:nvSpPr>
              <p:cNvPr id="329" name="Freeform 765">
                <a:extLst>
                  <a:ext uri="{FF2B5EF4-FFF2-40B4-BE49-F238E27FC236}">
                    <a16:creationId xmlns:a16="http://schemas.microsoft.com/office/drawing/2014/main" id="{2995A417-3A68-C7E5-5435-3D3BE10D112D}"/>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30" name="Freeform 765">
                <a:extLst>
                  <a:ext uri="{FF2B5EF4-FFF2-40B4-BE49-F238E27FC236}">
                    <a16:creationId xmlns:a16="http://schemas.microsoft.com/office/drawing/2014/main" id="{43DFFFD3-7BF0-E231-DE64-81AB3177CB08}"/>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31" name="Freeform 765">
                <a:extLst>
                  <a:ext uri="{FF2B5EF4-FFF2-40B4-BE49-F238E27FC236}">
                    <a16:creationId xmlns:a16="http://schemas.microsoft.com/office/drawing/2014/main" id="{17E6095E-478E-A458-991F-80B287E416FD}"/>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32" name="Freeform 765">
                <a:extLst>
                  <a:ext uri="{FF2B5EF4-FFF2-40B4-BE49-F238E27FC236}">
                    <a16:creationId xmlns:a16="http://schemas.microsoft.com/office/drawing/2014/main" id="{91E8B497-1EEB-43C0-A20B-8D1C373BD7FB}"/>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33" name="Freeform 765">
                <a:extLst>
                  <a:ext uri="{FF2B5EF4-FFF2-40B4-BE49-F238E27FC236}">
                    <a16:creationId xmlns:a16="http://schemas.microsoft.com/office/drawing/2014/main" id="{FE9C79E4-7E93-363F-AFD6-5F49FF4BE1E6}"/>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34" name="Freeform 765">
                <a:extLst>
                  <a:ext uri="{FF2B5EF4-FFF2-40B4-BE49-F238E27FC236}">
                    <a16:creationId xmlns:a16="http://schemas.microsoft.com/office/drawing/2014/main" id="{595F6293-ED7A-A94B-4AE9-C18790064534}"/>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35" name="Freeform 765">
                <a:extLst>
                  <a:ext uri="{FF2B5EF4-FFF2-40B4-BE49-F238E27FC236}">
                    <a16:creationId xmlns:a16="http://schemas.microsoft.com/office/drawing/2014/main" id="{DB73BAB5-4082-CC01-9BE7-752D0FBD9A58}"/>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36" name="Freeform 765">
                <a:extLst>
                  <a:ext uri="{FF2B5EF4-FFF2-40B4-BE49-F238E27FC236}">
                    <a16:creationId xmlns:a16="http://schemas.microsoft.com/office/drawing/2014/main" id="{4D9FD996-7F78-1791-ABF9-E4BB248C2FB3}"/>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37" name="Freeform 765">
                <a:extLst>
                  <a:ext uri="{FF2B5EF4-FFF2-40B4-BE49-F238E27FC236}">
                    <a16:creationId xmlns:a16="http://schemas.microsoft.com/office/drawing/2014/main" id="{24819073-786D-C32B-9BFF-9636CB4B6A3F}"/>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89" name="Group 288">
              <a:extLst>
                <a:ext uri="{FF2B5EF4-FFF2-40B4-BE49-F238E27FC236}">
                  <a16:creationId xmlns:a16="http://schemas.microsoft.com/office/drawing/2014/main" id="{488B5B9C-F5D7-DD1F-F073-5DF524A716C1}"/>
                </a:ext>
              </a:extLst>
            </p:cNvPr>
            <p:cNvGrpSpPr/>
            <p:nvPr/>
          </p:nvGrpSpPr>
          <p:grpSpPr>
            <a:xfrm>
              <a:off x="3321642" y="2665803"/>
              <a:ext cx="2262542" cy="220890"/>
              <a:chOff x="3649188" y="1858074"/>
              <a:chExt cx="2262542" cy="220890"/>
            </a:xfrm>
            <a:grpFill/>
          </p:grpSpPr>
          <p:sp>
            <p:nvSpPr>
              <p:cNvPr id="320" name="Freeform 765">
                <a:extLst>
                  <a:ext uri="{FF2B5EF4-FFF2-40B4-BE49-F238E27FC236}">
                    <a16:creationId xmlns:a16="http://schemas.microsoft.com/office/drawing/2014/main" id="{FAD4756F-194B-0D5D-63BE-D89390496EEA}"/>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21" name="Freeform 765">
                <a:extLst>
                  <a:ext uri="{FF2B5EF4-FFF2-40B4-BE49-F238E27FC236}">
                    <a16:creationId xmlns:a16="http://schemas.microsoft.com/office/drawing/2014/main" id="{FFA731C4-ED93-FD8A-56AD-612EB7A5C9C9}"/>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22" name="Freeform 765">
                <a:extLst>
                  <a:ext uri="{FF2B5EF4-FFF2-40B4-BE49-F238E27FC236}">
                    <a16:creationId xmlns:a16="http://schemas.microsoft.com/office/drawing/2014/main" id="{B9C767C3-03B2-5373-6B9D-861C74B83D54}"/>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23" name="Freeform 765">
                <a:extLst>
                  <a:ext uri="{FF2B5EF4-FFF2-40B4-BE49-F238E27FC236}">
                    <a16:creationId xmlns:a16="http://schemas.microsoft.com/office/drawing/2014/main" id="{34C4A045-0AFD-FB45-5EE7-E523BDB58682}"/>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24" name="Freeform 765">
                <a:extLst>
                  <a:ext uri="{FF2B5EF4-FFF2-40B4-BE49-F238E27FC236}">
                    <a16:creationId xmlns:a16="http://schemas.microsoft.com/office/drawing/2014/main" id="{506605DE-EF50-1872-DCE2-2AF6182C28DE}"/>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25" name="Freeform 765">
                <a:extLst>
                  <a:ext uri="{FF2B5EF4-FFF2-40B4-BE49-F238E27FC236}">
                    <a16:creationId xmlns:a16="http://schemas.microsoft.com/office/drawing/2014/main" id="{EB891FB8-FF28-E7A8-940F-209C6990A449}"/>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26" name="Freeform 765">
                <a:extLst>
                  <a:ext uri="{FF2B5EF4-FFF2-40B4-BE49-F238E27FC236}">
                    <a16:creationId xmlns:a16="http://schemas.microsoft.com/office/drawing/2014/main" id="{503FFE77-8715-EDF5-8B1C-EE3EA5D8B5E0}"/>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27" name="Freeform 765">
                <a:extLst>
                  <a:ext uri="{FF2B5EF4-FFF2-40B4-BE49-F238E27FC236}">
                    <a16:creationId xmlns:a16="http://schemas.microsoft.com/office/drawing/2014/main" id="{43FC5787-97C8-0D7A-015A-45878DBD4F66}"/>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28" name="Freeform 765">
                <a:extLst>
                  <a:ext uri="{FF2B5EF4-FFF2-40B4-BE49-F238E27FC236}">
                    <a16:creationId xmlns:a16="http://schemas.microsoft.com/office/drawing/2014/main" id="{3163551D-9916-B2F7-A321-A41662F272C9}"/>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90" name="Group 289">
              <a:extLst>
                <a:ext uri="{FF2B5EF4-FFF2-40B4-BE49-F238E27FC236}">
                  <a16:creationId xmlns:a16="http://schemas.microsoft.com/office/drawing/2014/main" id="{4F497EFB-C443-E8C9-26A3-DEEE38B60F53}"/>
                </a:ext>
              </a:extLst>
            </p:cNvPr>
            <p:cNvGrpSpPr/>
            <p:nvPr/>
          </p:nvGrpSpPr>
          <p:grpSpPr>
            <a:xfrm>
              <a:off x="3321642" y="2913034"/>
              <a:ext cx="2262542" cy="220890"/>
              <a:chOff x="3649188" y="1858074"/>
              <a:chExt cx="2262542" cy="220890"/>
            </a:xfrm>
            <a:grpFill/>
          </p:grpSpPr>
          <p:sp>
            <p:nvSpPr>
              <p:cNvPr id="311" name="Freeform 765">
                <a:extLst>
                  <a:ext uri="{FF2B5EF4-FFF2-40B4-BE49-F238E27FC236}">
                    <a16:creationId xmlns:a16="http://schemas.microsoft.com/office/drawing/2014/main" id="{2437B249-9D0C-96A5-1D9C-F1CFA7E89D46}"/>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12" name="Freeform 765">
                <a:extLst>
                  <a:ext uri="{FF2B5EF4-FFF2-40B4-BE49-F238E27FC236}">
                    <a16:creationId xmlns:a16="http://schemas.microsoft.com/office/drawing/2014/main" id="{7A1B7BF6-A188-EE0E-B169-8B77C8895EE5}"/>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13" name="Freeform 765">
                <a:extLst>
                  <a:ext uri="{FF2B5EF4-FFF2-40B4-BE49-F238E27FC236}">
                    <a16:creationId xmlns:a16="http://schemas.microsoft.com/office/drawing/2014/main" id="{9F0E886A-9E6E-079B-A708-D0660056B223}"/>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14" name="Freeform 765">
                <a:extLst>
                  <a:ext uri="{FF2B5EF4-FFF2-40B4-BE49-F238E27FC236}">
                    <a16:creationId xmlns:a16="http://schemas.microsoft.com/office/drawing/2014/main" id="{2E49466B-D77E-C3AD-5D91-B12E9F6E1497}"/>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15" name="Freeform 765">
                <a:extLst>
                  <a:ext uri="{FF2B5EF4-FFF2-40B4-BE49-F238E27FC236}">
                    <a16:creationId xmlns:a16="http://schemas.microsoft.com/office/drawing/2014/main" id="{ACBE8E19-6494-7DFE-5DB4-342E27334D00}"/>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16" name="Freeform 765">
                <a:extLst>
                  <a:ext uri="{FF2B5EF4-FFF2-40B4-BE49-F238E27FC236}">
                    <a16:creationId xmlns:a16="http://schemas.microsoft.com/office/drawing/2014/main" id="{B6C5A25D-8852-E0A2-C2BD-113851310EF3}"/>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17" name="Freeform 765">
                <a:extLst>
                  <a:ext uri="{FF2B5EF4-FFF2-40B4-BE49-F238E27FC236}">
                    <a16:creationId xmlns:a16="http://schemas.microsoft.com/office/drawing/2014/main" id="{A78BAF27-F63F-26EB-9366-B7EA93300561}"/>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18" name="Freeform 765">
                <a:extLst>
                  <a:ext uri="{FF2B5EF4-FFF2-40B4-BE49-F238E27FC236}">
                    <a16:creationId xmlns:a16="http://schemas.microsoft.com/office/drawing/2014/main" id="{BB02AECD-2D51-9151-02DC-EC8F70C9E5F6}"/>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19" name="Freeform 765">
                <a:extLst>
                  <a:ext uri="{FF2B5EF4-FFF2-40B4-BE49-F238E27FC236}">
                    <a16:creationId xmlns:a16="http://schemas.microsoft.com/office/drawing/2014/main" id="{2D03460E-4062-D38A-20F3-F2DA226E7A54}"/>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91" name="Group 290">
              <a:extLst>
                <a:ext uri="{FF2B5EF4-FFF2-40B4-BE49-F238E27FC236}">
                  <a16:creationId xmlns:a16="http://schemas.microsoft.com/office/drawing/2014/main" id="{DE2FAD90-8AC7-5CFF-0382-F2295A69FC7B}"/>
                </a:ext>
              </a:extLst>
            </p:cNvPr>
            <p:cNvGrpSpPr/>
            <p:nvPr/>
          </p:nvGrpSpPr>
          <p:grpSpPr>
            <a:xfrm>
              <a:off x="3321642" y="3157254"/>
              <a:ext cx="2262542" cy="220890"/>
              <a:chOff x="3649188" y="1858074"/>
              <a:chExt cx="2262542" cy="220890"/>
            </a:xfrm>
            <a:grpFill/>
          </p:grpSpPr>
          <p:sp>
            <p:nvSpPr>
              <p:cNvPr id="302" name="Freeform 765">
                <a:extLst>
                  <a:ext uri="{FF2B5EF4-FFF2-40B4-BE49-F238E27FC236}">
                    <a16:creationId xmlns:a16="http://schemas.microsoft.com/office/drawing/2014/main" id="{4620680F-7FE8-2487-F0C9-6CB4DFF462D1}"/>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03" name="Freeform 765">
                <a:extLst>
                  <a:ext uri="{FF2B5EF4-FFF2-40B4-BE49-F238E27FC236}">
                    <a16:creationId xmlns:a16="http://schemas.microsoft.com/office/drawing/2014/main" id="{C5FFF7AC-414D-1015-102B-BDD842742FA9}"/>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04" name="Freeform 765">
                <a:extLst>
                  <a:ext uri="{FF2B5EF4-FFF2-40B4-BE49-F238E27FC236}">
                    <a16:creationId xmlns:a16="http://schemas.microsoft.com/office/drawing/2014/main" id="{435F1367-D110-5E9D-FB7D-D3546D7E4CD2}"/>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05" name="Freeform 765">
                <a:extLst>
                  <a:ext uri="{FF2B5EF4-FFF2-40B4-BE49-F238E27FC236}">
                    <a16:creationId xmlns:a16="http://schemas.microsoft.com/office/drawing/2014/main" id="{F656B3B2-2AB5-3E8B-F1C4-F43ABA2405C6}"/>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06" name="Freeform 765">
                <a:extLst>
                  <a:ext uri="{FF2B5EF4-FFF2-40B4-BE49-F238E27FC236}">
                    <a16:creationId xmlns:a16="http://schemas.microsoft.com/office/drawing/2014/main" id="{E8BE70D7-8374-5DDA-CEB0-604354612D54}"/>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07" name="Freeform 765">
                <a:extLst>
                  <a:ext uri="{FF2B5EF4-FFF2-40B4-BE49-F238E27FC236}">
                    <a16:creationId xmlns:a16="http://schemas.microsoft.com/office/drawing/2014/main" id="{6F8557C6-17ED-CE3F-EB58-6C446C97781C}"/>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08" name="Freeform 765">
                <a:extLst>
                  <a:ext uri="{FF2B5EF4-FFF2-40B4-BE49-F238E27FC236}">
                    <a16:creationId xmlns:a16="http://schemas.microsoft.com/office/drawing/2014/main" id="{4120D59C-96AF-A2B3-5CE7-08A44924C7E2}"/>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09" name="Freeform 765">
                <a:extLst>
                  <a:ext uri="{FF2B5EF4-FFF2-40B4-BE49-F238E27FC236}">
                    <a16:creationId xmlns:a16="http://schemas.microsoft.com/office/drawing/2014/main" id="{D0521ABF-FDCA-D5A4-492B-1C3A81CAE562}"/>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10" name="Freeform 765">
                <a:extLst>
                  <a:ext uri="{FF2B5EF4-FFF2-40B4-BE49-F238E27FC236}">
                    <a16:creationId xmlns:a16="http://schemas.microsoft.com/office/drawing/2014/main" id="{F20434EE-FA63-5FB6-FD0F-CEB41826147A}"/>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nvGrpSpPr>
            <p:cNvPr id="292" name="Group 291">
              <a:extLst>
                <a:ext uri="{FF2B5EF4-FFF2-40B4-BE49-F238E27FC236}">
                  <a16:creationId xmlns:a16="http://schemas.microsoft.com/office/drawing/2014/main" id="{0F091648-E7EC-9477-80ED-1090047E50D2}"/>
                </a:ext>
              </a:extLst>
            </p:cNvPr>
            <p:cNvGrpSpPr/>
            <p:nvPr/>
          </p:nvGrpSpPr>
          <p:grpSpPr>
            <a:xfrm>
              <a:off x="3321642" y="3404485"/>
              <a:ext cx="2262542" cy="220890"/>
              <a:chOff x="3649188" y="1858074"/>
              <a:chExt cx="2262542" cy="220890"/>
            </a:xfrm>
            <a:grpFill/>
          </p:grpSpPr>
          <p:sp>
            <p:nvSpPr>
              <p:cNvPr id="293" name="Freeform 765">
                <a:extLst>
                  <a:ext uri="{FF2B5EF4-FFF2-40B4-BE49-F238E27FC236}">
                    <a16:creationId xmlns:a16="http://schemas.microsoft.com/office/drawing/2014/main" id="{E6DDE17A-4E34-05F7-83F1-FE25B2AEA130}"/>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94" name="Freeform 765">
                <a:extLst>
                  <a:ext uri="{FF2B5EF4-FFF2-40B4-BE49-F238E27FC236}">
                    <a16:creationId xmlns:a16="http://schemas.microsoft.com/office/drawing/2014/main" id="{79EA2B2C-0F29-031F-9950-CF62DFDD63D1}"/>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95" name="Freeform 765">
                <a:extLst>
                  <a:ext uri="{FF2B5EF4-FFF2-40B4-BE49-F238E27FC236}">
                    <a16:creationId xmlns:a16="http://schemas.microsoft.com/office/drawing/2014/main" id="{C472EC96-8E63-9556-303C-E5FC7FAC7C3B}"/>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96" name="Freeform 765">
                <a:extLst>
                  <a:ext uri="{FF2B5EF4-FFF2-40B4-BE49-F238E27FC236}">
                    <a16:creationId xmlns:a16="http://schemas.microsoft.com/office/drawing/2014/main" id="{73B5BC23-874A-EA99-5F84-216F18F118A7}"/>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97" name="Freeform 765">
                <a:extLst>
                  <a:ext uri="{FF2B5EF4-FFF2-40B4-BE49-F238E27FC236}">
                    <a16:creationId xmlns:a16="http://schemas.microsoft.com/office/drawing/2014/main" id="{9F816FE0-60CA-CE1D-B09D-7AA89CF2EB78}"/>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98" name="Freeform 765">
                <a:extLst>
                  <a:ext uri="{FF2B5EF4-FFF2-40B4-BE49-F238E27FC236}">
                    <a16:creationId xmlns:a16="http://schemas.microsoft.com/office/drawing/2014/main" id="{E251DDEA-D506-92D0-C710-7C3EF34F9FAE}"/>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99" name="Freeform 765">
                <a:extLst>
                  <a:ext uri="{FF2B5EF4-FFF2-40B4-BE49-F238E27FC236}">
                    <a16:creationId xmlns:a16="http://schemas.microsoft.com/office/drawing/2014/main" id="{A9D7551D-B019-ADF5-B311-D974F0C885AE}"/>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00" name="Freeform 765">
                <a:extLst>
                  <a:ext uri="{FF2B5EF4-FFF2-40B4-BE49-F238E27FC236}">
                    <a16:creationId xmlns:a16="http://schemas.microsoft.com/office/drawing/2014/main" id="{F0F7547D-CB69-1C99-A095-EA74F86B3006}"/>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301" name="Freeform 765">
                <a:extLst>
                  <a:ext uri="{FF2B5EF4-FFF2-40B4-BE49-F238E27FC236}">
                    <a16:creationId xmlns:a16="http://schemas.microsoft.com/office/drawing/2014/main" id="{8C1530F6-EA1F-FDFF-ECCF-183C27E12CFE}"/>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62B5E5">
                      <a:lumMod val="20000"/>
                      <a:lumOff val="80000"/>
                    </a:srgbClr>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grpSp>
      <p:grpSp>
        <p:nvGrpSpPr>
          <p:cNvPr id="347" name="Group 346">
            <a:extLst>
              <a:ext uri="{FF2B5EF4-FFF2-40B4-BE49-F238E27FC236}">
                <a16:creationId xmlns:a16="http://schemas.microsoft.com/office/drawing/2014/main" id="{726CF20E-A965-D481-1ED8-4AD8DC274C11}"/>
              </a:ext>
            </a:extLst>
          </p:cNvPr>
          <p:cNvGrpSpPr/>
          <p:nvPr/>
        </p:nvGrpSpPr>
        <p:grpSpPr>
          <a:xfrm>
            <a:off x="4964588" y="2751545"/>
            <a:ext cx="1765790" cy="957030"/>
            <a:chOff x="4546294" y="2607534"/>
            <a:chExt cx="1930344" cy="1046217"/>
          </a:xfrm>
        </p:grpSpPr>
        <p:sp>
          <p:nvSpPr>
            <p:cNvPr id="348" name="TextBox 347">
              <a:extLst>
                <a:ext uri="{FF2B5EF4-FFF2-40B4-BE49-F238E27FC236}">
                  <a16:creationId xmlns:a16="http://schemas.microsoft.com/office/drawing/2014/main" id="{26EF9FA2-44CC-24B9-3907-3108EF93228F}"/>
                </a:ext>
              </a:extLst>
            </p:cNvPr>
            <p:cNvSpPr txBox="1"/>
            <p:nvPr/>
          </p:nvSpPr>
          <p:spPr>
            <a:xfrm>
              <a:off x="4546294" y="2607534"/>
              <a:ext cx="1930344" cy="663942"/>
            </a:xfrm>
            <a:prstGeom prst="rect">
              <a:avLst/>
            </a:prstGeom>
            <a:solidFill>
              <a:sysClr val="window" lastClr="FFFFFF"/>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marL="0" marR="0" lvl="0" indent="0" algn="ctr" defTabSz="914400" rtl="0" eaLnBrk="1" fontAlgn="auto" latinLnBrk="0" hangingPunct="1">
                <a:lnSpc>
                  <a:spcPts val="3662"/>
                </a:lnSpc>
                <a:spcBef>
                  <a:spcPts val="0"/>
                </a:spcBef>
                <a:spcAft>
                  <a:spcPts val="0"/>
                </a:spcAft>
                <a:buClrTx/>
                <a:buSzTx/>
                <a:buFont typeface="Wingdings 2" pitchFamily="18" charset="2"/>
                <a:buNone/>
                <a:tabLst/>
                <a:defRPr/>
              </a:pPr>
              <a:r>
                <a:rPr kumimoji="0" lang="en-US" sz="36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17000+</a:t>
              </a:r>
            </a:p>
          </p:txBody>
        </p:sp>
        <p:sp>
          <p:nvSpPr>
            <p:cNvPr id="349" name="Rectangle 348">
              <a:extLst>
                <a:ext uri="{FF2B5EF4-FFF2-40B4-BE49-F238E27FC236}">
                  <a16:creationId xmlns:a16="http://schemas.microsoft.com/office/drawing/2014/main" id="{E24C5992-A528-0EA3-F6B1-E8C8EC2019CA}"/>
                </a:ext>
              </a:extLst>
            </p:cNvPr>
            <p:cNvSpPr/>
            <p:nvPr/>
          </p:nvSpPr>
          <p:spPr>
            <a:xfrm>
              <a:off x="4546294" y="3272432"/>
              <a:ext cx="1926736" cy="381319"/>
            </a:xfrm>
            <a:prstGeom prst="rect">
              <a:avLst/>
            </a:prstGeom>
            <a:solidFill>
              <a:srgbClr val="0097A9"/>
            </a:solidFill>
          </p:spPr>
          <p:txBody>
            <a:bodyPr wrap="square" lIns="45720" tIns="45720" rIns="45720" bIns="45720" anchor="ctr">
              <a:spAutoFit/>
            </a:bodyPr>
            <a:lstStyle/>
            <a:p>
              <a:pPr marL="0" marR="0" lvl="0" indent="0" algn="ctr" defTabSz="829003" rtl="0" eaLnBrk="1" fontAlgn="auto" latinLnBrk="0" hangingPunct="1">
                <a:lnSpc>
                  <a:spcPts val="1007"/>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Professionals</a:t>
              </a:r>
            </a:p>
            <a:p>
              <a:pPr marL="0" marR="0" lvl="0" indent="0" algn="ctr" defTabSz="829003" rtl="0" eaLnBrk="1" fontAlgn="auto" latinLnBrk="0" hangingPunct="1">
                <a:lnSpc>
                  <a:spcPts val="1007"/>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spread across</a:t>
              </a:r>
            </a:p>
          </p:txBody>
        </p:sp>
      </p:grpSp>
      <p:grpSp>
        <p:nvGrpSpPr>
          <p:cNvPr id="350" name="Group 349">
            <a:extLst>
              <a:ext uri="{FF2B5EF4-FFF2-40B4-BE49-F238E27FC236}">
                <a16:creationId xmlns:a16="http://schemas.microsoft.com/office/drawing/2014/main" id="{46369E88-6BCA-F3A8-6E86-A4AB62C957CB}"/>
              </a:ext>
            </a:extLst>
          </p:cNvPr>
          <p:cNvGrpSpPr/>
          <p:nvPr/>
        </p:nvGrpSpPr>
        <p:grpSpPr>
          <a:xfrm>
            <a:off x="4964586" y="4350852"/>
            <a:ext cx="1762492" cy="1197025"/>
            <a:chOff x="4546292" y="4120595"/>
            <a:chExt cx="1926738" cy="1308576"/>
          </a:xfrm>
        </p:grpSpPr>
        <p:sp>
          <p:nvSpPr>
            <p:cNvPr id="351" name="TextBox 350">
              <a:extLst>
                <a:ext uri="{FF2B5EF4-FFF2-40B4-BE49-F238E27FC236}">
                  <a16:creationId xmlns:a16="http://schemas.microsoft.com/office/drawing/2014/main" id="{81112524-7D41-EED3-394F-6F7DA64F8533}"/>
                </a:ext>
              </a:extLst>
            </p:cNvPr>
            <p:cNvSpPr txBox="1"/>
            <p:nvPr/>
          </p:nvSpPr>
          <p:spPr>
            <a:xfrm>
              <a:off x="4546293" y="4120595"/>
              <a:ext cx="1926737" cy="939290"/>
            </a:xfrm>
            <a:prstGeom prst="rect">
              <a:avLst/>
            </a:prstGeom>
            <a:solidFill>
              <a:sysClr val="window" lastClr="FFFFFF"/>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en-US" sz="44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12</a:t>
              </a:r>
            </a:p>
          </p:txBody>
        </p:sp>
        <p:sp>
          <p:nvSpPr>
            <p:cNvPr id="352" name="Rectangle 351">
              <a:extLst>
                <a:ext uri="{FF2B5EF4-FFF2-40B4-BE49-F238E27FC236}">
                  <a16:creationId xmlns:a16="http://schemas.microsoft.com/office/drawing/2014/main" id="{2223E3E4-E66C-8E45-8336-76A1B2149358}"/>
                </a:ext>
              </a:extLst>
            </p:cNvPr>
            <p:cNvSpPr/>
            <p:nvPr/>
          </p:nvSpPr>
          <p:spPr bwMode="gray">
            <a:xfrm>
              <a:off x="4546292" y="5054710"/>
              <a:ext cx="1926737" cy="374461"/>
            </a:xfrm>
            <a:prstGeom prst="rect">
              <a:avLst/>
            </a:prstGeom>
            <a:solidFill>
              <a:srgbClr val="0097A9"/>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Cities</a:t>
              </a:r>
              <a:endParaRPr kumimoji="0" lang="en-IN" sz="9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048F1429-CDA1-03DD-2164-C79AB97F7802}"/>
              </a:ext>
            </a:extLst>
          </p:cNvPr>
          <p:cNvSpPr/>
          <p:nvPr/>
        </p:nvSpPr>
        <p:spPr>
          <a:xfrm>
            <a:off x="3243095" y="4274408"/>
            <a:ext cx="70609" cy="67409"/>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5" name="TextBox 290">
            <a:extLst>
              <a:ext uri="{FF2B5EF4-FFF2-40B4-BE49-F238E27FC236}">
                <a16:creationId xmlns:a16="http://schemas.microsoft.com/office/drawing/2014/main" id="{9A85B7F8-75F7-7EA3-0CC8-B8EF58D74AB2}"/>
              </a:ext>
            </a:extLst>
          </p:cNvPr>
          <p:cNvSpPr txBox="1">
            <a:spLocks noChangeArrowheads="1"/>
          </p:cNvSpPr>
          <p:nvPr/>
        </p:nvSpPr>
        <p:spPr bwMode="auto">
          <a:xfrm>
            <a:off x="2254111" y="4237816"/>
            <a:ext cx="952628" cy="123111"/>
          </a:xfrm>
          <a:prstGeom prst="rect">
            <a:avLst/>
          </a:prstGeom>
          <a:noFill/>
          <a:ln w="9525">
            <a:noFill/>
            <a:miter lim="800000"/>
            <a:headEnd/>
            <a:tailEnd/>
          </a:ln>
        </p:spPr>
        <p:txBody>
          <a:bodyPr wrap="square" lIns="0" tIns="0" rIns="0" bIns="0">
            <a:sp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US" sz="800" kern="0">
                <a:solidFill>
                  <a:prstClr val="white"/>
                </a:solidFill>
                <a:latin typeface="Verdana" panose="020B0604030504040204" pitchFamily="34" charset="0"/>
                <a:ea typeface="Verdana" panose="020B0604030504040204" pitchFamily="34" charset="0"/>
                <a:cs typeface="Calibri" panose="020F0502020204030204" pitchFamily="34" charset="0"/>
              </a:rPr>
              <a:t>Bhubaneswar</a:t>
            </a:r>
            <a:endParaRPr kumimoji="0" lang="en-US" sz="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2FE4DE39-57E9-6515-0B9C-5C6CB02FD8CB}"/>
              </a:ext>
            </a:extLst>
          </p:cNvPr>
          <p:cNvPicPr>
            <a:picLocks noChangeAspect="1"/>
          </p:cNvPicPr>
          <p:nvPr/>
        </p:nvPicPr>
        <p:blipFill>
          <a:blip r:embed="rId3"/>
          <a:stretch>
            <a:fillRect/>
          </a:stretch>
        </p:blipFill>
        <p:spPr>
          <a:xfrm>
            <a:off x="7097392" y="2070849"/>
            <a:ext cx="2934146" cy="4158014"/>
          </a:xfrm>
          <a:prstGeom prst="rect">
            <a:avLst/>
          </a:prstGeom>
        </p:spPr>
      </p:pic>
      <p:pic>
        <p:nvPicPr>
          <p:cNvPr id="8" name="Picture 7">
            <a:extLst>
              <a:ext uri="{FF2B5EF4-FFF2-40B4-BE49-F238E27FC236}">
                <a16:creationId xmlns:a16="http://schemas.microsoft.com/office/drawing/2014/main" id="{8EBC77CF-2F93-FAE6-F410-DEE1343A5447}"/>
              </a:ext>
            </a:extLst>
          </p:cNvPr>
          <p:cNvPicPr>
            <a:picLocks noChangeAspect="1"/>
          </p:cNvPicPr>
          <p:nvPr/>
        </p:nvPicPr>
        <p:blipFill>
          <a:blip r:embed="rId4"/>
          <a:stretch>
            <a:fillRect/>
          </a:stretch>
        </p:blipFill>
        <p:spPr>
          <a:xfrm>
            <a:off x="10199335" y="2098610"/>
            <a:ext cx="844114" cy="4100137"/>
          </a:xfrm>
          <a:prstGeom prst="rect">
            <a:avLst/>
          </a:prstGeom>
        </p:spPr>
      </p:pic>
    </p:spTree>
    <p:extLst>
      <p:ext uri="{BB962C8B-B14F-4D97-AF65-F5344CB8AC3E}">
        <p14:creationId xmlns:p14="http://schemas.microsoft.com/office/powerpoint/2010/main" val="35364392"/>
      </p:ext>
    </p:extLst>
  </p:cSld>
  <p:clrMapOvr>
    <a:overrideClrMapping bg1="lt1" tx1="dk1" bg2="lt2" tx2="dk2" accent1="accent1" accent2="accent2" accent3="accent3" accent4="accent4" accent5="accent5" accent6="accent6" hlink="hlink" folHlink="folHlink"/>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2" name="think-cell data - do not delete" hidden="1">
            <a:extLst>
              <a:ext uri="{FF2B5EF4-FFF2-40B4-BE49-F238E27FC236}">
                <a16:creationId xmlns:a16="http://schemas.microsoft.com/office/drawing/2014/main" id="{6D8F70FA-9095-E905-3C4A-B691DA09FD0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2" name="think-cell data - do not delete" hidden="1">
                        <a:extLst>
                          <a:ext uri="{FF2B5EF4-FFF2-40B4-BE49-F238E27FC236}">
                            <a16:creationId xmlns:a16="http://schemas.microsoft.com/office/drawing/2014/main" id="{6D8F70FA-9095-E905-3C4A-B691DA09FD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30" name="Straight Connector 29">
            <a:extLst>
              <a:ext uri="{FF2B5EF4-FFF2-40B4-BE49-F238E27FC236}">
                <a16:creationId xmlns:a16="http://schemas.microsoft.com/office/drawing/2014/main" id="{D1D2EC1F-DEFE-9EBF-34E6-3298A1E7ECC4}"/>
              </a:ext>
            </a:extLst>
          </p:cNvPr>
          <p:cNvCxnSpPr>
            <a:cxnSpLocks/>
          </p:cNvCxnSpPr>
          <p:nvPr/>
        </p:nvCxnSpPr>
        <p:spPr>
          <a:xfrm>
            <a:off x="872164" y="1111078"/>
            <a:ext cx="10159359" cy="0"/>
          </a:xfrm>
          <a:prstGeom prst="line">
            <a:avLst/>
          </a:prstGeom>
          <a:ln w="12700">
            <a:solidFill>
              <a:srgbClr val="26890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a:defRPr/>
            </a:pPr>
            <a:r>
              <a:rPr lang="en-US" sz="1200" b="1">
                <a:solidFill>
                  <a:prstClr val="black"/>
                </a:solidFill>
                <a:latin typeface="Verdana" panose="020B0604030504040204" pitchFamily="34" charset="0"/>
                <a:ea typeface="Verdana" panose="020B0604030504040204" pitchFamily="34" charset="0"/>
                <a:cs typeface="Arial" panose="020B0604020202020204" pitchFamily="34" charset="0"/>
              </a:rPr>
              <a:t>Deloitte Offerings</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Rectangle 30">
            <a:extLst>
              <a:ext uri="{FF2B5EF4-FFF2-40B4-BE49-F238E27FC236}">
                <a16:creationId xmlns:a16="http://schemas.microsoft.com/office/drawing/2014/main" id="{88D0870E-9C5B-B413-8248-3AB0EA91006F}"/>
              </a:ext>
            </a:extLst>
          </p:cNvPr>
          <p:cNvSpPr>
            <a:spLocks noChangeArrowheads="1"/>
          </p:cNvSpPr>
          <p:nvPr/>
        </p:nvSpPr>
        <p:spPr bwMode="auto">
          <a:xfrm>
            <a:off x="142874" y="3098801"/>
            <a:ext cx="11673947" cy="761344"/>
          </a:xfrm>
          <a:prstGeom prst="roundRect">
            <a:avLst>
              <a:gd name="adj" fmla="val 0"/>
            </a:avLst>
          </a:prstGeom>
          <a:solidFill>
            <a:srgbClr val="009A44"/>
          </a:solidFill>
          <a:ln w="9525" algn="ctr">
            <a:noFill/>
            <a:miter lim="800000"/>
            <a:headEnd/>
            <a:tailEnd/>
          </a:ln>
        </p:spPr>
        <p:txBody>
          <a:bodyPr wrap="square" lIns="548640" tIns="34056" rIns="326448" bIns="34056" anchor="ctr"/>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0" marR="0" lvl="0" indent="0" algn="ctr" defTabSz="681009" rtl="0" eaLnBrk="1" fontAlgn="auto" latinLnBrk="0" hangingPunct="1">
              <a:lnSpc>
                <a:spcPct val="100000"/>
              </a:lnSpc>
              <a:spcBef>
                <a:spcPts val="0"/>
              </a:spcBef>
              <a:spcAft>
                <a:spcPts val="0"/>
              </a:spcAft>
              <a:buClrTx/>
              <a:buSzTx/>
              <a:buFontTx/>
              <a:buNone/>
              <a:tabLst/>
              <a:defRPr/>
            </a:pPr>
            <a:r>
              <a:rPr kumimoji="0" lang="en-GB" sz="1200" b="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Arial" panose="020B0604020202020204" pitchFamily="34" charset="0"/>
              </a:rPr>
              <a:t>Deloitte is well-equipped to deliver solutions to the complex challenges faced by organisations across the public and private sectors. Being one of the largest organisations, our edge lies in our ability to draw upon well-equipped</a:t>
            </a:r>
            <a:r>
              <a:rPr lang="en-GB" sz="1200" kern="0">
                <a:solidFill>
                  <a:schemeClr val="bg1"/>
                </a:solidFill>
                <a:latin typeface="Verdana" panose="020B0604030504040204" pitchFamily="34" charset="0"/>
                <a:ea typeface="Verdana" panose="020B0604030504040204" pitchFamily="34" charset="0"/>
                <a:cs typeface="Arial" panose="020B0604020202020204" pitchFamily="34" charset="0"/>
              </a:rPr>
              <a:t> and </a:t>
            </a:r>
            <a:r>
              <a:rPr kumimoji="0" lang="en-GB" sz="1200" b="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Arial" panose="020B0604020202020204" pitchFamily="34" charset="0"/>
              </a:rPr>
              <a:t>customised services.</a:t>
            </a:r>
          </a:p>
        </p:txBody>
      </p:sp>
      <p:pic>
        <p:nvPicPr>
          <p:cNvPr id="355" name="Picture 354">
            <a:extLst>
              <a:ext uri="{FF2B5EF4-FFF2-40B4-BE49-F238E27FC236}">
                <a16:creationId xmlns:a16="http://schemas.microsoft.com/office/drawing/2014/main" id="{0282A58F-B8ED-EEA8-8AEC-330CDB2F43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96237" y="3974845"/>
            <a:ext cx="6420584" cy="2636342"/>
          </a:xfrm>
          <a:prstGeom prst="rect">
            <a:avLst/>
          </a:prstGeom>
        </p:spPr>
      </p:pic>
      <p:sp>
        <p:nvSpPr>
          <p:cNvPr id="356" name="Isosceles Triangle 355">
            <a:extLst>
              <a:ext uri="{FF2B5EF4-FFF2-40B4-BE49-F238E27FC236}">
                <a16:creationId xmlns:a16="http://schemas.microsoft.com/office/drawing/2014/main" id="{88A1A221-5FC7-2F4E-8ED7-8A333F4585CA}"/>
              </a:ext>
            </a:extLst>
          </p:cNvPr>
          <p:cNvSpPr/>
          <p:nvPr/>
        </p:nvSpPr>
        <p:spPr bwMode="gray">
          <a:xfrm rot="16200000" flipV="1">
            <a:off x="4423209" y="5059734"/>
            <a:ext cx="1497093" cy="304165"/>
          </a:xfrm>
          <a:prstGeom prst="triangle">
            <a:avLst/>
          </a:prstGeom>
          <a:solidFill>
            <a:schemeClr val="bg1">
              <a:lumMod val="95000"/>
            </a:schemeClr>
          </a:solidFill>
          <a:ln w="19050" algn="ctr">
            <a:noFill/>
            <a:miter lim="800000"/>
            <a:headEnd/>
            <a:tailEnd/>
          </a:ln>
        </p:spPr>
        <p:txBody>
          <a:bodyPr wrap="square" lIns="80615" tIns="80615" rIns="80615" bIns="80615" rtlCol="0" anchor="ctr"/>
          <a:lstStyle/>
          <a:p>
            <a:pPr marL="0" marR="0" lvl="0" indent="0" algn="l" defTabSz="945677" rtl="0" eaLnBrk="1" fontAlgn="auto" latinLnBrk="0" hangingPunct="1">
              <a:lnSpc>
                <a:spcPct val="106000"/>
              </a:lnSpc>
              <a:spcBef>
                <a:spcPts val="0"/>
              </a:spcBef>
              <a:spcAft>
                <a:spcPts val="0"/>
              </a:spcAft>
              <a:buClrTx/>
              <a:buSzTx/>
              <a:buFontTx/>
              <a:buNone/>
              <a:tabLst/>
              <a:defRPr/>
            </a:pPr>
            <a:endParaRPr kumimoji="0" lang="en-IN"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endParaRPr>
          </a:p>
        </p:txBody>
      </p:sp>
      <p:sp>
        <p:nvSpPr>
          <p:cNvPr id="361" name="TextBox 360">
            <a:extLst>
              <a:ext uri="{FF2B5EF4-FFF2-40B4-BE49-F238E27FC236}">
                <a16:creationId xmlns:a16="http://schemas.microsoft.com/office/drawing/2014/main" id="{0CBEC839-75E1-FFA6-8307-4DB9A54D2C5B}"/>
              </a:ext>
            </a:extLst>
          </p:cNvPr>
          <p:cNvSpPr txBox="1"/>
          <p:nvPr/>
        </p:nvSpPr>
        <p:spPr>
          <a:xfrm>
            <a:off x="313490" y="4196155"/>
            <a:ext cx="4706183" cy="1754326"/>
          </a:xfrm>
          <a:prstGeom prst="rect">
            <a:avLst/>
          </a:prstGeom>
          <a:noFill/>
        </p:spPr>
        <p:txBody>
          <a:bodyPr wrap="square">
            <a:spAutoFit/>
          </a:bodyPr>
          <a:lstStyle/>
          <a:p>
            <a:pPr algn="just"/>
            <a:r>
              <a:rPr lang="en-US" sz="1200" b="1">
                <a:latin typeface="Verdana" panose="020B0604030504040204" pitchFamily="34" charset="0"/>
                <a:ea typeface="Verdana" panose="020B0604030504040204" pitchFamily="34" charset="0"/>
                <a:cs typeface="Arial" panose="020B0604020202020204" pitchFamily="34" charset="0"/>
              </a:rPr>
              <a:t>Deloitte’s Global Energy, Resources, and Industrials (ERI) </a:t>
            </a:r>
            <a:r>
              <a:rPr lang="en-US" sz="1200">
                <a:latin typeface="Verdana" panose="020B0604030504040204" pitchFamily="34" charset="0"/>
                <a:ea typeface="Verdana" panose="020B0604030504040204" pitchFamily="34" charset="0"/>
                <a:cs typeface="Arial" panose="020B0604020202020204" pitchFamily="34" charset="0"/>
              </a:rPr>
              <a:t>specialists provide integrated solutions to the Industrial Products &amp; Construction, Mining &amp; Metals, Oil, Gas &amp; Chemicals, Power, Utilities &amp; Renewables sectors offering deep industry knowledge and a global network. </a:t>
            </a:r>
          </a:p>
          <a:p>
            <a:pPr algn="just"/>
            <a:endParaRPr lang="en-US" sz="1200">
              <a:latin typeface="Verdana" panose="020B0604030504040204" pitchFamily="34" charset="0"/>
              <a:ea typeface="Verdana" panose="020B0604030504040204" pitchFamily="34" charset="0"/>
              <a:cs typeface="Arial" panose="020B0604020202020204" pitchFamily="34" charset="0"/>
            </a:endParaRPr>
          </a:p>
          <a:p>
            <a:pPr algn="just"/>
            <a:r>
              <a:rPr lang="en-US" sz="1200" b="1">
                <a:latin typeface="Verdana" panose="020B0604030504040204" pitchFamily="34" charset="0"/>
                <a:ea typeface="Verdana" panose="020B0604030504040204" pitchFamily="34" charset="0"/>
                <a:cs typeface="Arial" panose="020B0604020202020204" pitchFamily="34" charset="0"/>
              </a:rPr>
              <a:t>The ERI team has over 300+ professionals in India well acquainted and experienced in executing a widespread variety of engagements. </a:t>
            </a:r>
          </a:p>
        </p:txBody>
      </p:sp>
      <p:sp>
        <p:nvSpPr>
          <p:cNvPr id="4" name="Rectangle 3">
            <a:extLst>
              <a:ext uri="{FF2B5EF4-FFF2-40B4-BE49-F238E27FC236}">
                <a16:creationId xmlns:a16="http://schemas.microsoft.com/office/drawing/2014/main" id="{7360FF50-801C-9F33-DC90-E97CA7163E34}"/>
              </a:ext>
            </a:extLst>
          </p:cNvPr>
          <p:cNvSpPr/>
          <p:nvPr/>
        </p:nvSpPr>
        <p:spPr bwMode="gray">
          <a:xfrm>
            <a:off x="4707576" y="899696"/>
            <a:ext cx="2269513" cy="40267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Verdana" panose="020B0604030504040204" pitchFamily="34" charset="0"/>
                <a:ea typeface="Verdana" panose="020B0604030504040204" pitchFamily="34" charset="0"/>
                <a:cs typeface="Arial" panose="020B0604020202020204" pitchFamily="34" charset="0"/>
              </a:rPr>
              <a:t>Business Units </a:t>
            </a:r>
          </a:p>
        </p:txBody>
      </p:sp>
      <p:grpSp>
        <p:nvGrpSpPr>
          <p:cNvPr id="5" name="Graphic 4">
            <a:extLst>
              <a:ext uri="{FF2B5EF4-FFF2-40B4-BE49-F238E27FC236}">
                <a16:creationId xmlns:a16="http://schemas.microsoft.com/office/drawing/2014/main" id="{5684A9D0-0232-868A-7150-7C89EAACA4F7}"/>
              </a:ext>
            </a:extLst>
          </p:cNvPr>
          <p:cNvGrpSpPr/>
          <p:nvPr/>
        </p:nvGrpSpPr>
        <p:grpSpPr>
          <a:xfrm>
            <a:off x="1856206" y="1545376"/>
            <a:ext cx="640080" cy="640080"/>
            <a:chOff x="905454" y="3339623"/>
            <a:chExt cx="361670" cy="361333"/>
          </a:xfrm>
          <a:solidFill>
            <a:srgbClr val="004F59"/>
          </a:solidFill>
        </p:grpSpPr>
        <p:sp>
          <p:nvSpPr>
            <p:cNvPr id="6" name="Graphic 4">
              <a:extLst>
                <a:ext uri="{FF2B5EF4-FFF2-40B4-BE49-F238E27FC236}">
                  <a16:creationId xmlns:a16="http://schemas.microsoft.com/office/drawing/2014/main" id="{5AF3F467-D8D3-4DDC-3DD7-59EADD102FD7}"/>
                </a:ext>
              </a:extLst>
            </p:cNvPr>
            <p:cNvSpPr/>
            <p:nvPr/>
          </p:nvSpPr>
          <p:spPr>
            <a:xfrm>
              <a:off x="905454" y="3339623"/>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58792 w 361670"/>
                <a:gd name="connsiteY5" fmla="*/ 280895 h 361333"/>
                <a:gd name="connsiteX6" fmla="*/ 252403 w 361670"/>
                <a:gd name="connsiteY6" fmla="*/ 287279 h 361333"/>
                <a:gd name="connsiteX7" fmla="*/ 109907 w 361670"/>
                <a:gd name="connsiteY7" fmla="*/ 287279 h 361333"/>
                <a:gd name="connsiteX8" fmla="*/ 103517 w 361670"/>
                <a:gd name="connsiteY8" fmla="*/ 280895 h 361333"/>
                <a:gd name="connsiteX9" fmla="*/ 103517 w 361670"/>
                <a:gd name="connsiteY9" fmla="*/ 81715 h 361333"/>
                <a:gd name="connsiteX10" fmla="*/ 109907 w 361670"/>
                <a:gd name="connsiteY10" fmla="*/ 75331 h 361333"/>
                <a:gd name="connsiteX11" fmla="*/ 252403 w 361670"/>
                <a:gd name="connsiteY11" fmla="*/ 75331 h 361333"/>
                <a:gd name="connsiteX12" fmla="*/ 258792 w 361670"/>
                <a:gd name="connsiteY12" fmla="*/ 81715 h 361333"/>
                <a:gd name="connsiteX13" fmla="*/ 258792 w 361670"/>
                <a:gd name="connsiteY13" fmla="*/ 280895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1670" h="361333">
                  <a:moveTo>
                    <a:pt x="180835" y="0"/>
                  </a:moveTo>
                  <a:cubicBezTo>
                    <a:pt x="80513" y="0"/>
                    <a:pt x="0" y="81077"/>
                    <a:pt x="0" y="180667"/>
                  </a:cubicBezTo>
                  <a:cubicBezTo>
                    <a:pt x="0" y="280257"/>
                    <a:pt x="81152" y="361333"/>
                    <a:pt x="180835" y="361333"/>
                  </a:cubicBezTo>
                  <a:cubicBezTo>
                    <a:pt x="281157" y="361333"/>
                    <a:pt x="361670" y="280257"/>
                    <a:pt x="361670" y="180667"/>
                  </a:cubicBezTo>
                  <a:cubicBezTo>
                    <a:pt x="361670" y="81077"/>
                    <a:pt x="281157" y="0"/>
                    <a:pt x="180835" y="0"/>
                  </a:cubicBezTo>
                  <a:close/>
                  <a:moveTo>
                    <a:pt x="258792" y="280895"/>
                  </a:moveTo>
                  <a:cubicBezTo>
                    <a:pt x="258792" y="284725"/>
                    <a:pt x="256237" y="287279"/>
                    <a:pt x="252403" y="287279"/>
                  </a:cubicBezTo>
                  <a:lnTo>
                    <a:pt x="109907" y="287279"/>
                  </a:lnTo>
                  <a:cubicBezTo>
                    <a:pt x="106073" y="287279"/>
                    <a:pt x="103517" y="284725"/>
                    <a:pt x="103517" y="280895"/>
                  </a:cubicBezTo>
                  <a:lnTo>
                    <a:pt x="103517" y="81715"/>
                  </a:lnTo>
                  <a:cubicBezTo>
                    <a:pt x="103517" y="77885"/>
                    <a:pt x="106073" y="75331"/>
                    <a:pt x="109907" y="75331"/>
                  </a:cubicBezTo>
                  <a:lnTo>
                    <a:pt x="252403" y="75331"/>
                  </a:lnTo>
                  <a:cubicBezTo>
                    <a:pt x="256237" y="75331"/>
                    <a:pt x="258792" y="77885"/>
                    <a:pt x="258792" y="81715"/>
                  </a:cubicBezTo>
                  <a:lnTo>
                    <a:pt x="258792" y="280895"/>
                  </a:lnTo>
                  <a:close/>
                </a:path>
              </a:pathLst>
            </a:custGeom>
            <a:solidFill>
              <a:srgbClr val="004F59"/>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sp>
          <p:nvSpPr>
            <p:cNvPr id="7" name="Graphic 4">
              <a:extLst>
                <a:ext uri="{FF2B5EF4-FFF2-40B4-BE49-F238E27FC236}">
                  <a16:creationId xmlns:a16="http://schemas.microsoft.com/office/drawing/2014/main" id="{06C119CC-7A57-E543-867E-2A025ABC75E6}"/>
                </a:ext>
              </a:extLst>
            </p:cNvPr>
            <p:cNvSpPr/>
            <p:nvPr/>
          </p:nvSpPr>
          <p:spPr>
            <a:xfrm>
              <a:off x="1021750" y="3427722"/>
              <a:ext cx="129715" cy="186412"/>
            </a:xfrm>
            <a:custGeom>
              <a:avLst/>
              <a:gdLst>
                <a:gd name="connsiteX0" fmla="*/ 0 w 129715"/>
                <a:gd name="connsiteY0" fmla="*/ 186412 h 186412"/>
                <a:gd name="connsiteX1" fmla="*/ 129716 w 129715"/>
                <a:gd name="connsiteY1" fmla="*/ 186412 h 186412"/>
                <a:gd name="connsiteX2" fmla="*/ 129716 w 129715"/>
                <a:gd name="connsiteY2" fmla="*/ 0 h 186412"/>
                <a:gd name="connsiteX3" fmla="*/ 0 w 129715"/>
                <a:gd name="connsiteY3" fmla="*/ 0 h 186412"/>
                <a:gd name="connsiteX4" fmla="*/ 0 w 129715"/>
                <a:gd name="connsiteY4" fmla="*/ 186412 h 186412"/>
                <a:gd name="connsiteX5" fmla="*/ 50481 w 129715"/>
                <a:gd name="connsiteY5" fmla="*/ 171091 h 186412"/>
                <a:gd name="connsiteX6" fmla="*/ 43452 w 129715"/>
                <a:gd name="connsiteY6" fmla="*/ 164068 h 186412"/>
                <a:gd name="connsiteX7" fmla="*/ 50481 w 129715"/>
                <a:gd name="connsiteY7" fmla="*/ 157046 h 186412"/>
                <a:gd name="connsiteX8" fmla="*/ 57509 w 129715"/>
                <a:gd name="connsiteY8" fmla="*/ 164068 h 186412"/>
                <a:gd name="connsiteX9" fmla="*/ 50481 w 129715"/>
                <a:gd name="connsiteY9" fmla="*/ 171091 h 186412"/>
                <a:gd name="connsiteX10" fmla="*/ 50481 w 129715"/>
                <a:gd name="connsiteY10" fmla="*/ 143001 h 186412"/>
                <a:gd name="connsiteX11" fmla="*/ 43452 w 129715"/>
                <a:gd name="connsiteY11" fmla="*/ 135979 h 186412"/>
                <a:gd name="connsiteX12" fmla="*/ 50481 w 129715"/>
                <a:gd name="connsiteY12" fmla="*/ 128957 h 186412"/>
                <a:gd name="connsiteX13" fmla="*/ 57509 w 129715"/>
                <a:gd name="connsiteY13" fmla="*/ 135979 h 186412"/>
                <a:gd name="connsiteX14" fmla="*/ 50481 w 129715"/>
                <a:gd name="connsiteY14" fmla="*/ 143001 h 186412"/>
                <a:gd name="connsiteX15" fmla="*/ 50481 w 129715"/>
                <a:gd name="connsiteY15" fmla="*/ 114273 h 186412"/>
                <a:gd name="connsiteX16" fmla="*/ 43452 w 129715"/>
                <a:gd name="connsiteY16" fmla="*/ 107251 h 186412"/>
                <a:gd name="connsiteX17" fmla="*/ 50481 w 129715"/>
                <a:gd name="connsiteY17" fmla="*/ 100229 h 186412"/>
                <a:gd name="connsiteX18" fmla="*/ 57509 w 129715"/>
                <a:gd name="connsiteY18" fmla="*/ 107251 h 186412"/>
                <a:gd name="connsiteX19" fmla="*/ 50481 w 129715"/>
                <a:gd name="connsiteY19" fmla="*/ 114273 h 186412"/>
                <a:gd name="connsiteX20" fmla="*/ 50481 w 129715"/>
                <a:gd name="connsiteY20" fmla="*/ 86184 h 186412"/>
                <a:gd name="connsiteX21" fmla="*/ 43452 w 129715"/>
                <a:gd name="connsiteY21" fmla="*/ 79162 h 186412"/>
                <a:gd name="connsiteX22" fmla="*/ 50481 w 129715"/>
                <a:gd name="connsiteY22" fmla="*/ 72139 h 186412"/>
                <a:gd name="connsiteX23" fmla="*/ 57509 w 129715"/>
                <a:gd name="connsiteY23" fmla="*/ 79162 h 186412"/>
                <a:gd name="connsiteX24" fmla="*/ 50481 w 129715"/>
                <a:gd name="connsiteY24" fmla="*/ 86184 h 186412"/>
                <a:gd name="connsiteX25" fmla="*/ 79235 w 129715"/>
                <a:gd name="connsiteY25" fmla="*/ 171091 h 186412"/>
                <a:gd name="connsiteX26" fmla="*/ 72206 w 129715"/>
                <a:gd name="connsiteY26" fmla="*/ 164068 h 186412"/>
                <a:gd name="connsiteX27" fmla="*/ 79235 w 129715"/>
                <a:gd name="connsiteY27" fmla="*/ 157046 h 186412"/>
                <a:gd name="connsiteX28" fmla="*/ 86264 w 129715"/>
                <a:gd name="connsiteY28" fmla="*/ 164068 h 186412"/>
                <a:gd name="connsiteX29" fmla="*/ 79235 w 129715"/>
                <a:gd name="connsiteY29" fmla="*/ 171091 h 186412"/>
                <a:gd name="connsiteX30" fmla="*/ 79235 w 129715"/>
                <a:gd name="connsiteY30" fmla="*/ 143001 h 186412"/>
                <a:gd name="connsiteX31" fmla="*/ 72206 w 129715"/>
                <a:gd name="connsiteY31" fmla="*/ 135979 h 186412"/>
                <a:gd name="connsiteX32" fmla="*/ 79235 w 129715"/>
                <a:gd name="connsiteY32" fmla="*/ 128957 h 186412"/>
                <a:gd name="connsiteX33" fmla="*/ 86264 w 129715"/>
                <a:gd name="connsiteY33" fmla="*/ 135979 h 186412"/>
                <a:gd name="connsiteX34" fmla="*/ 79235 w 129715"/>
                <a:gd name="connsiteY34" fmla="*/ 143001 h 186412"/>
                <a:gd name="connsiteX35" fmla="*/ 79235 w 129715"/>
                <a:gd name="connsiteY35" fmla="*/ 114273 h 186412"/>
                <a:gd name="connsiteX36" fmla="*/ 72206 w 129715"/>
                <a:gd name="connsiteY36" fmla="*/ 107251 h 186412"/>
                <a:gd name="connsiteX37" fmla="*/ 79235 w 129715"/>
                <a:gd name="connsiteY37" fmla="*/ 100229 h 186412"/>
                <a:gd name="connsiteX38" fmla="*/ 86264 w 129715"/>
                <a:gd name="connsiteY38" fmla="*/ 107251 h 186412"/>
                <a:gd name="connsiteX39" fmla="*/ 79235 w 129715"/>
                <a:gd name="connsiteY39" fmla="*/ 114273 h 186412"/>
                <a:gd name="connsiteX40" fmla="*/ 79235 w 129715"/>
                <a:gd name="connsiteY40" fmla="*/ 86184 h 186412"/>
                <a:gd name="connsiteX41" fmla="*/ 72206 w 129715"/>
                <a:gd name="connsiteY41" fmla="*/ 79162 h 186412"/>
                <a:gd name="connsiteX42" fmla="*/ 79235 w 129715"/>
                <a:gd name="connsiteY42" fmla="*/ 72139 h 186412"/>
                <a:gd name="connsiteX43" fmla="*/ 86264 w 129715"/>
                <a:gd name="connsiteY43" fmla="*/ 79162 h 186412"/>
                <a:gd name="connsiteX44" fmla="*/ 79235 w 129715"/>
                <a:gd name="connsiteY44" fmla="*/ 86184 h 186412"/>
                <a:gd name="connsiteX45" fmla="*/ 113741 w 129715"/>
                <a:gd name="connsiteY45" fmla="*/ 165345 h 186412"/>
                <a:gd name="connsiteX46" fmla="*/ 107351 w 129715"/>
                <a:gd name="connsiteY46" fmla="*/ 171729 h 186412"/>
                <a:gd name="connsiteX47" fmla="*/ 100961 w 129715"/>
                <a:gd name="connsiteY47" fmla="*/ 165345 h 186412"/>
                <a:gd name="connsiteX48" fmla="*/ 100961 w 129715"/>
                <a:gd name="connsiteY48" fmla="*/ 134702 h 186412"/>
                <a:gd name="connsiteX49" fmla="*/ 107351 w 129715"/>
                <a:gd name="connsiteY49" fmla="*/ 128318 h 186412"/>
                <a:gd name="connsiteX50" fmla="*/ 113741 w 129715"/>
                <a:gd name="connsiteY50" fmla="*/ 134702 h 186412"/>
                <a:gd name="connsiteX51" fmla="*/ 113741 w 129715"/>
                <a:gd name="connsiteY51" fmla="*/ 165345 h 186412"/>
                <a:gd name="connsiteX52" fmla="*/ 107351 w 129715"/>
                <a:gd name="connsiteY52" fmla="*/ 114273 h 186412"/>
                <a:gd name="connsiteX53" fmla="*/ 100322 w 129715"/>
                <a:gd name="connsiteY53" fmla="*/ 107251 h 186412"/>
                <a:gd name="connsiteX54" fmla="*/ 107351 w 129715"/>
                <a:gd name="connsiteY54" fmla="*/ 100229 h 186412"/>
                <a:gd name="connsiteX55" fmla="*/ 114380 w 129715"/>
                <a:gd name="connsiteY55" fmla="*/ 107251 h 186412"/>
                <a:gd name="connsiteX56" fmla="*/ 107351 w 129715"/>
                <a:gd name="connsiteY56" fmla="*/ 114273 h 186412"/>
                <a:gd name="connsiteX57" fmla="*/ 107351 w 129715"/>
                <a:gd name="connsiteY57" fmla="*/ 86184 h 186412"/>
                <a:gd name="connsiteX58" fmla="*/ 100322 w 129715"/>
                <a:gd name="connsiteY58" fmla="*/ 79162 h 186412"/>
                <a:gd name="connsiteX59" fmla="*/ 107351 w 129715"/>
                <a:gd name="connsiteY59" fmla="*/ 72139 h 186412"/>
                <a:gd name="connsiteX60" fmla="*/ 114380 w 129715"/>
                <a:gd name="connsiteY60" fmla="*/ 79162 h 186412"/>
                <a:gd name="connsiteX61" fmla="*/ 107351 w 129715"/>
                <a:gd name="connsiteY61" fmla="*/ 86184 h 186412"/>
                <a:gd name="connsiteX62" fmla="*/ 15975 w 129715"/>
                <a:gd name="connsiteY62" fmla="*/ 21706 h 186412"/>
                <a:gd name="connsiteX63" fmla="*/ 22365 w 129715"/>
                <a:gd name="connsiteY63" fmla="*/ 15322 h 186412"/>
                <a:gd name="connsiteX64" fmla="*/ 107990 w 129715"/>
                <a:gd name="connsiteY64" fmla="*/ 15322 h 186412"/>
                <a:gd name="connsiteX65" fmla="*/ 114380 w 129715"/>
                <a:gd name="connsiteY65" fmla="*/ 21706 h 186412"/>
                <a:gd name="connsiteX66" fmla="*/ 114380 w 129715"/>
                <a:gd name="connsiteY66" fmla="*/ 50434 h 186412"/>
                <a:gd name="connsiteX67" fmla="*/ 107990 w 129715"/>
                <a:gd name="connsiteY67" fmla="*/ 56818 h 186412"/>
                <a:gd name="connsiteX68" fmla="*/ 22365 w 129715"/>
                <a:gd name="connsiteY68" fmla="*/ 56818 h 186412"/>
                <a:gd name="connsiteX69" fmla="*/ 15975 w 129715"/>
                <a:gd name="connsiteY69" fmla="*/ 50434 h 186412"/>
                <a:gd name="connsiteX70" fmla="*/ 15975 w 129715"/>
                <a:gd name="connsiteY70" fmla="*/ 21706 h 186412"/>
                <a:gd name="connsiteX71" fmla="*/ 21726 w 129715"/>
                <a:gd name="connsiteY71" fmla="*/ 71501 h 186412"/>
                <a:gd name="connsiteX72" fmla="*/ 28755 w 129715"/>
                <a:gd name="connsiteY72" fmla="*/ 78523 h 186412"/>
                <a:gd name="connsiteX73" fmla="*/ 21726 w 129715"/>
                <a:gd name="connsiteY73" fmla="*/ 85546 h 186412"/>
                <a:gd name="connsiteX74" fmla="*/ 14697 w 129715"/>
                <a:gd name="connsiteY74" fmla="*/ 78523 h 186412"/>
                <a:gd name="connsiteX75" fmla="*/ 21726 w 129715"/>
                <a:gd name="connsiteY75" fmla="*/ 71501 h 186412"/>
                <a:gd name="connsiteX76" fmla="*/ 21726 w 129715"/>
                <a:gd name="connsiteY76" fmla="*/ 100229 h 186412"/>
                <a:gd name="connsiteX77" fmla="*/ 28755 w 129715"/>
                <a:gd name="connsiteY77" fmla="*/ 107251 h 186412"/>
                <a:gd name="connsiteX78" fmla="*/ 21726 w 129715"/>
                <a:gd name="connsiteY78" fmla="*/ 114273 h 186412"/>
                <a:gd name="connsiteX79" fmla="*/ 14697 w 129715"/>
                <a:gd name="connsiteY79" fmla="*/ 107251 h 186412"/>
                <a:gd name="connsiteX80" fmla="*/ 21726 w 129715"/>
                <a:gd name="connsiteY80" fmla="*/ 100229 h 186412"/>
                <a:gd name="connsiteX81" fmla="*/ 21726 w 129715"/>
                <a:gd name="connsiteY81" fmla="*/ 128318 h 186412"/>
                <a:gd name="connsiteX82" fmla="*/ 28755 w 129715"/>
                <a:gd name="connsiteY82" fmla="*/ 135341 h 186412"/>
                <a:gd name="connsiteX83" fmla="*/ 21726 w 129715"/>
                <a:gd name="connsiteY83" fmla="*/ 142363 h 186412"/>
                <a:gd name="connsiteX84" fmla="*/ 14697 w 129715"/>
                <a:gd name="connsiteY84" fmla="*/ 135341 h 186412"/>
                <a:gd name="connsiteX85" fmla="*/ 21726 w 129715"/>
                <a:gd name="connsiteY85" fmla="*/ 128318 h 186412"/>
                <a:gd name="connsiteX86" fmla="*/ 21726 w 129715"/>
                <a:gd name="connsiteY86" fmla="*/ 157046 h 186412"/>
                <a:gd name="connsiteX87" fmla="*/ 28755 w 129715"/>
                <a:gd name="connsiteY87" fmla="*/ 164068 h 186412"/>
                <a:gd name="connsiteX88" fmla="*/ 21726 w 129715"/>
                <a:gd name="connsiteY88" fmla="*/ 171091 h 186412"/>
                <a:gd name="connsiteX89" fmla="*/ 14697 w 129715"/>
                <a:gd name="connsiteY89" fmla="*/ 164068 h 186412"/>
                <a:gd name="connsiteX90" fmla="*/ 21726 w 129715"/>
                <a:gd name="connsiteY90" fmla="*/ 157046 h 18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29715" h="186412">
                  <a:moveTo>
                    <a:pt x="0" y="186412"/>
                  </a:moveTo>
                  <a:lnTo>
                    <a:pt x="129716" y="186412"/>
                  </a:lnTo>
                  <a:lnTo>
                    <a:pt x="129716" y="0"/>
                  </a:lnTo>
                  <a:lnTo>
                    <a:pt x="0" y="0"/>
                  </a:lnTo>
                  <a:lnTo>
                    <a:pt x="0" y="186412"/>
                  </a:lnTo>
                  <a:close/>
                  <a:moveTo>
                    <a:pt x="50481" y="171091"/>
                  </a:moveTo>
                  <a:cubicBezTo>
                    <a:pt x="46647" y="171091"/>
                    <a:pt x="43452" y="167899"/>
                    <a:pt x="43452" y="164068"/>
                  </a:cubicBezTo>
                  <a:cubicBezTo>
                    <a:pt x="43452" y="160238"/>
                    <a:pt x="46647" y="157046"/>
                    <a:pt x="50481" y="157046"/>
                  </a:cubicBezTo>
                  <a:cubicBezTo>
                    <a:pt x="54314" y="157046"/>
                    <a:pt x="57509" y="160238"/>
                    <a:pt x="57509" y="164068"/>
                  </a:cubicBezTo>
                  <a:cubicBezTo>
                    <a:pt x="57509" y="167899"/>
                    <a:pt x="54314" y="171091"/>
                    <a:pt x="50481" y="171091"/>
                  </a:cubicBezTo>
                  <a:close/>
                  <a:moveTo>
                    <a:pt x="50481" y="143001"/>
                  </a:moveTo>
                  <a:cubicBezTo>
                    <a:pt x="46647" y="143001"/>
                    <a:pt x="43452" y="139809"/>
                    <a:pt x="43452" y="135979"/>
                  </a:cubicBezTo>
                  <a:cubicBezTo>
                    <a:pt x="43452" y="132149"/>
                    <a:pt x="46647" y="128957"/>
                    <a:pt x="50481" y="128957"/>
                  </a:cubicBezTo>
                  <a:cubicBezTo>
                    <a:pt x="54314" y="128957"/>
                    <a:pt x="57509" y="132149"/>
                    <a:pt x="57509" y="135979"/>
                  </a:cubicBezTo>
                  <a:cubicBezTo>
                    <a:pt x="57509" y="139809"/>
                    <a:pt x="54314" y="143001"/>
                    <a:pt x="50481" y="143001"/>
                  </a:cubicBezTo>
                  <a:close/>
                  <a:moveTo>
                    <a:pt x="50481" y="114273"/>
                  </a:moveTo>
                  <a:cubicBezTo>
                    <a:pt x="46647" y="114273"/>
                    <a:pt x="43452" y="111081"/>
                    <a:pt x="43452" y="107251"/>
                  </a:cubicBezTo>
                  <a:cubicBezTo>
                    <a:pt x="43452" y="103421"/>
                    <a:pt x="46647" y="100229"/>
                    <a:pt x="50481" y="100229"/>
                  </a:cubicBezTo>
                  <a:cubicBezTo>
                    <a:pt x="54314" y="100229"/>
                    <a:pt x="57509" y="103421"/>
                    <a:pt x="57509" y="107251"/>
                  </a:cubicBezTo>
                  <a:cubicBezTo>
                    <a:pt x="57509" y="111081"/>
                    <a:pt x="54314" y="114273"/>
                    <a:pt x="50481" y="114273"/>
                  </a:cubicBezTo>
                  <a:close/>
                  <a:moveTo>
                    <a:pt x="50481" y="86184"/>
                  </a:moveTo>
                  <a:cubicBezTo>
                    <a:pt x="46647" y="86184"/>
                    <a:pt x="43452" y="82992"/>
                    <a:pt x="43452" y="79162"/>
                  </a:cubicBezTo>
                  <a:cubicBezTo>
                    <a:pt x="43452" y="75331"/>
                    <a:pt x="46647" y="72139"/>
                    <a:pt x="50481" y="72139"/>
                  </a:cubicBezTo>
                  <a:cubicBezTo>
                    <a:pt x="54314" y="72139"/>
                    <a:pt x="57509" y="75331"/>
                    <a:pt x="57509" y="79162"/>
                  </a:cubicBezTo>
                  <a:cubicBezTo>
                    <a:pt x="57509" y="82992"/>
                    <a:pt x="54314" y="86184"/>
                    <a:pt x="50481" y="86184"/>
                  </a:cubicBezTo>
                  <a:close/>
                  <a:moveTo>
                    <a:pt x="79235" y="171091"/>
                  </a:moveTo>
                  <a:cubicBezTo>
                    <a:pt x="75401" y="171091"/>
                    <a:pt x="72206" y="167899"/>
                    <a:pt x="72206" y="164068"/>
                  </a:cubicBezTo>
                  <a:cubicBezTo>
                    <a:pt x="72206" y="160238"/>
                    <a:pt x="75401" y="157046"/>
                    <a:pt x="79235" y="157046"/>
                  </a:cubicBezTo>
                  <a:cubicBezTo>
                    <a:pt x="83069" y="157046"/>
                    <a:pt x="86264" y="160238"/>
                    <a:pt x="86264" y="164068"/>
                  </a:cubicBezTo>
                  <a:cubicBezTo>
                    <a:pt x="86264" y="167899"/>
                    <a:pt x="83069" y="171091"/>
                    <a:pt x="79235" y="171091"/>
                  </a:cubicBezTo>
                  <a:close/>
                  <a:moveTo>
                    <a:pt x="79235" y="143001"/>
                  </a:moveTo>
                  <a:cubicBezTo>
                    <a:pt x="75401" y="143001"/>
                    <a:pt x="72206" y="139809"/>
                    <a:pt x="72206" y="135979"/>
                  </a:cubicBezTo>
                  <a:cubicBezTo>
                    <a:pt x="72206" y="132149"/>
                    <a:pt x="75401" y="128957"/>
                    <a:pt x="79235" y="128957"/>
                  </a:cubicBezTo>
                  <a:cubicBezTo>
                    <a:pt x="83069" y="128957"/>
                    <a:pt x="86264" y="132149"/>
                    <a:pt x="86264" y="135979"/>
                  </a:cubicBezTo>
                  <a:cubicBezTo>
                    <a:pt x="86264" y="139809"/>
                    <a:pt x="83069" y="143001"/>
                    <a:pt x="79235" y="143001"/>
                  </a:cubicBezTo>
                  <a:close/>
                  <a:moveTo>
                    <a:pt x="79235" y="114273"/>
                  </a:moveTo>
                  <a:cubicBezTo>
                    <a:pt x="75401" y="114273"/>
                    <a:pt x="72206" y="111081"/>
                    <a:pt x="72206" y="107251"/>
                  </a:cubicBezTo>
                  <a:cubicBezTo>
                    <a:pt x="72206" y="103421"/>
                    <a:pt x="75401" y="100229"/>
                    <a:pt x="79235" y="100229"/>
                  </a:cubicBezTo>
                  <a:cubicBezTo>
                    <a:pt x="83069" y="100229"/>
                    <a:pt x="86264" y="103421"/>
                    <a:pt x="86264" y="107251"/>
                  </a:cubicBezTo>
                  <a:cubicBezTo>
                    <a:pt x="86264" y="111081"/>
                    <a:pt x="83069" y="114273"/>
                    <a:pt x="79235" y="114273"/>
                  </a:cubicBezTo>
                  <a:close/>
                  <a:moveTo>
                    <a:pt x="79235" y="86184"/>
                  </a:moveTo>
                  <a:cubicBezTo>
                    <a:pt x="75401" y="86184"/>
                    <a:pt x="72206" y="82992"/>
                    <a:pt x="72206" y="79162"/>
                  </a:cubicBezTo>
                  <a:cubicBezTo>
                    <a:pt x="72206" y="75331"/>
                    <a:pt x="75401" y="72139"/>
                    <a:pt x="79235" y="72139"/>
                  </a:cubicBezTo>
                  <a:cubicBezTo>
                    <a:pt x="83069" y="72139"/>
                    <a:pt x="86264" y="75331"/>
                    <a:pt x="86264" y="79162"/>
                  </a:cubicBezTo>
                  <a:cubicBezTo>
                    <a:pt x="86264" y="82992"/>
                    <a:pt x="83069" y="86184"/>
                    <a:pt x="79235" y="86184"/>
                  </a:cubicBezTo>
                  <a:close/>
                  <a:moveTo>
                    <a:pt x="113741" y="165345"/>
                  </a:moveTo>
                  <a:cubicBezTo>
                    <a:pt x="113741" y="169176"/>
                    <a:pt x="111185" y="171729"/>
                    <a:pt x="107351" y="171729"/>
                  </a:cubicBezTo>
                  <a:cubicBezTo>
                    <a:pt x="103517" y="171729"/>
                    <a:pt x="100961" y="169176"/>
                    <a:pt x="100961" y="165345"/>
                  </a:cubicBezTo>
                  <a:lnTo>
                    <a:pt x="100961" y="134702"/>
                  </a:lnTo>
                  <a:cubicBezTo>
                    <a:pt x="100961" y="130872"/>
                    <a:pt x="103517" y="128318"/>
                    <a:pt x="107351" y="128318"/>
                  </a:cubicBezTo>
                  <a:cubicBezTo>
                    <a:pt x="111185" y="128318"/>
                    <a:pt x="113741" y="130872"/>
                    <a:pt x="113741" y="134702"/>
                  </a:cubicBezTo>
                  <a:lnTo>
                    <a:pt x="113741" y="165345"/>
                  </a:lnTo>
                  <a:close/>
                  <a:moveTo>
                    <a:pt x="107351" y="114273"/>
                  </a:moveTo>
                  <a:cubicBezTo>
                    <a:pt x="103517" y="114273"/>
                    <a:pt x="100322" y="111081"/>
                    <a:pt x="100322" y="107251"/>
                  </a:cubicBezTo>
                  <a:cubicBezTo>
                    <a:pt x="100322" y="103421"/>
                    <a:pt x="103517" y="100229"/>
                    <a:pt x="107351" y="100229"/>
                  </a:cubicBezTo>
                  <a:cubicBezTo>
                    <a:pt x="111185" y="100229"/>
                    <a:pt x="114380" y="103421"/>
                    <a:pt x="114380" y="107251"/>
                  </a:cubicBezTo>
                  <a:cubicBezTo>
                    <a:pt x="114380" y="111081"/>
                    <a:pt x="111185" y="114273"/>
                    <a:pt x="107351" y="114273"/>
                  </a:cubicBezTo>
                  <a:close/>
                  <a:moveTo>
                    <a:pt x="107351" y="86184"/>
                  </a:moveTo>
                  <a:cubicBezTo>
                    <a:pt x="103517" y="86184"/>
                    <a:pt x="100322" y="82992"/>
                    <a:pt x="100322" y="79162"/>
                  </a:cubicBezTo>
                  <a:cubicBezTo>
                    <a:pt x="100322" y="75331"/>
                    <a:pt x="103517" y="72139"/>
                    <a:pt x="107351" y="72139"/>
                  </a:cubicBezTo>
                  <a:cubicBezTo>
                    <a:pt x="111185" y="72139"/>
                    <a:pt x="114380" y="75331"/>
                    <a:pt x="114380" y="79162"/>
                  </a:cubicBezTo>
                  <a:cubicBezTo>
                    <a:pt x="114380" y="82992"/>
                    <a:pt x="111185" y="86184"/>
                    <a:pt x="107351" y="86184"/>
                  </a:cubicBezTo>
                  <a:close/>
                  <a:moveTo>
                    <a:pt x="15975" y="21706"/>
                  </a:moveTo>
                  <a:cubicBezTo>
                    <a:pt x="15975" y="17875"/>
                    <a:pt x="18531" y="15322"/>
                    <a:pt x="22365" y="15322"/>
                  </a:cubicBezTo>
                  <a:lnTo>
                    <a:pt x="107990" y="15322"/>
                  </a:lnTo>
                  <a:cubicBezTo>
                    <a:pt x="111824" y="15322"/>
                    <a:pt x="114380" y="17875"/>
                    <a:pt x="114380" y="21706"/>
                  </a:cubicBezTo>
                  <a:lnTo>
                    <a:pt x="114380" y="50434"/>
                  </a:lnTo>
                  <a:cubicBezTo>
                    <a:pt x="114380" y="54264"/>
                    <a:pt x="111824" y="56818"/>
                    <a:pt x="107990" y="56818"/>
                  </a:cubicBezTo>
                  <a:lnTo>
                    <a:pt x="22365" y="56818"/>
                  </a:lnTo>
                  <a:cubicBezTo>
                    <a:pt x="18531" y="56818"/>
                    <a:pt x="15975" y="54264"/>
                    <a:pt x="15975" y="50434"/>
                  </a:cubicBezTo>
                  <a:lnTo>
                    <a:pt x="15975" y="21706"/>
                  </a:lnTo>
                  <a:close/>
                  <a:moveTo>
                    <a:pt x="21726" y="71501"/>
                  </a:moveTo>
                  <a:cubicBezTo>
                    <a:pt x="25560" y="71501"/>
                    <a:pt x="28755" y="74693"/>
                    <a:pt x="28755" y="78523"/>
                  </a:cubicBezTo>
                  <a:cubicBezTo>
                    <a:pt x="28755" y="82354"/>
                    <a:pt x="25560" y="85546"/>
                    <a:pt x="21726" y="85546"/>
                  </a:cubicBezTo>
                  <a:cubicBezTo>
                    <a:pt x="17892" y="85546"/>
                    <a:pt x="14697" y="82354"/>
                    <a:pt x="14697" y="78523"/>
                  </a:cubicBezTo>
                  <a:cubicBezTo>
                    <a:pt x="14697" y="74693"/>
                    <a:pt x="17892" y="71501"/>
                    <a:pt x="21726" y="71501"/>
                  </a:cubicBezTo>
                  <a:close/>
                  <a:moveTo>
                    <a:pt x="21726" y="100229"/>
                  </a:moveTo>
                  <a:cubicBezTo>
                    <a:pt x="25560" y="100229"/>
                    <a:pt x="28755" y="103421"/>
                    <a:pt x="28755" y="107251"/>
                  </a:cubicBezTo>
                  <a:cubicBezTo>
                    <a:pt x="28755" y="111081"/>
                    <a:pt x="25560" y="114273"/>
                    <a:pt x="21726" y="114273"/>
                  </a:cubicBezTo>
                  <a:cubicBezTo>
                    <a:pt x="17892" y="114273"/>
                    <a:pt x="14697" y="111081"/>
                    <a:pt x="14697" y="107251"/>
                  </a:cubicBezTo>
                  <a:cubicBezTo>
                    <a:pt x="14697" y="103421"/>
                    <a:pt x="17892" y="100229"/>
                    <a:pt x="21726" y="100229"/>
                  </a:cubicBezTo>
                  <a:close/>
                  <a:moveTo>
                    <a:pt x="21726" y="128318"/>
                  </a:moveTo>
                  <a:cubicBezTo>
                    <a:pt x="25560" y="128318"/>
                    <a:pt x="28755" y="131510"/>
                    <a:pt x="28755" y="135341"/>
                  </a:cubicBezTo>
                  <a:cubicBezTo>
                    <a:pt x="28755" y="139171"/>
                    <a:pt x="25560" y="142363"/>
                    <a:pt x="21726" y="142363"/>
                  </a:cubicBezTo>
                  <a:cubicBezTo>
                    <a:pt x="17892" y="142363"/>
                    <a:pt x="14697" y="139171"/>
                    <a:pt x="14697" y="135341"/>
                  </a:cubicBezTo>
                  <a:cubicBezTo>
                    <a:pt x="14697" y="131510"/>
                    <a:pt x="17892" y="128318"/>
                    <a:pt x="21726" y="128318"/>
                  </a:cubicBezTo>
                  <a:close/>
                  <a:moveTo>
                    <a:pt x="21726" y="157046"/>
                  </a:moveTo>
                  <a:cubicBezTo>
                    <a:pt x="25560" y="157046"/>
                    <a:pt x="28755" y="160238"/>
                    <a:pt x="28755" y="164068"/>
                  </a:cubicBezTo>
                  <a:cubicBezTo>
                    <a:pt x="28755" y="167899"/>
                    <a:pt x="25560" y="171091"/>
                    <a:pt x="21726" y="171091"/>
                  </a:cubicBezTo>
                  <a:cubicBezTo>
                    <a:pt x="17892" y="171091"/>
                    <a:pt x="14697" y="167899"/>
                    <a:pt x="14697" y="164068"/>
                  </a:cubicBezTo>
                  <a:cubicBezTo>
                    <a:pt x="14697" y="160238"/>
                    <a:pt x="17892" y="157046"/>
                    <a:pt x="21726" y="157046"/>
                  </a:cubicBezTo>
                  <a:close/>
                </a:path>
              </a:pathLst>
            </a:custGeom>
            <a:solidFill>
              <a:srgbClr val="004F59"/>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sp>
          <p:nvSpPr>
            <p:cNvPr id="8" name="Graphic 4">
              <a:extLst>
                <a:ext uri="{FF2B5EF4-FFF2-40B4-BE49-F238E27FC236}">
                  <a16:creationId xmlns:a16="http://schemas.microsoft.com/office/drawing/2014/main" id="{E69C9754-BBA8-3C93-47D5-4505A906DE57}"/>
                </a:ext>
              </a:extLst>
            </p:cNvPr>
            <p:cNvSpPr/>
            <p:nvPr/>
          </p:nvSpPr>
          <p:spPr>
            <a:xfrm>
              <a:off x="1050505" y="3455812"/>
              <a:ext cx="72845" cy="15959"/>
            </a:xfrm>
            <a:custGeom>
              <a:avLst/>
              <a:gdLst>
                <a:gd name="connsiteX0" fmla="*/ 0 w 72845"/>
                <a:gd name="connsiteY0" fmla="*/ 0 h 15959"/>
                <a:gd name="connsiteX1" fmla="*/ 72845 w 72845"/>
                <a:gd name="connsiteY1" fmla="*/ 0 h 15959"/>
                <a:gd name="connsiteX2" fmla="*/ 72845 w 72845"/>
                <a:gd name="connsiteY2" fmla="*/ 15960 h 15959"/>
                <a:gd name="connsiteX3" fmla="*/ 0 w 72845"/>
                <a:gd name="connsiteY3" fmla="*/ 15960 h 15959"/>
              </a:gdLst>
              <a:ahLst/>
              <a:cxnLst>
                <a:cxn ang="0">
                  <a:pos x="connsiteX0" y="connsiteY0"/>
                </a:cxn>
                <a:cxn ang="0">
                  <a:pos x="connsiteX1" y="connsiteY1"/>
                </a:cxn>
                <a:cxn ang="0">
                  <a:pos x="connsiteX2" y="connsiteY2"/>
                </a:cxn>
                <a:cxn ang="0">
                  <a:pos x="connsiteX3" y="connsiteY3"/>
                </a:cxn>
              </a:cxnLst>
              <a:rect l="l" t="t" r="r" b="b"/>
              <a:pathLst>
                <a:path w="72845" h="15959">
                  <a:moveTo>
                    <a:pt x="0" y="0"/>
                  </a:moveTo>
                  <a:lnTo>
                    <a:pt x="72845" y="0"/>
                  </a:lnTo>
                  <a:lnTo>
                    <a:pt x="72845" y="15960"/>
                  </a:lnTo>
                  <a:lnTo>
                    <a:pt x="0" y="15960"/>
                  </a:lnTo>
                  <a:close/>
                </a:path>
              </a:pathLst>
            </a:custGeom>
            <a:solidFill>
              <a:srgbClr val="004F59"/>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grpSp>
      <p:sp>
        <p:nvSpPr>
          <p:cNvPr id="12" name="TextBox 11">
            <a:extLst>
              <a:ext uri="{FF2B5EF4-FFF2-40B4-BE49-F238E27FC236}">
                <a16:creationId xmlns:a16="http://schemas.microsoft.com/office/drawing/2014/main" id="{FFF853FD-8235-CF0C-109C-E6246D42FD36}"/>
              </a:ext>
            </a:extLst>
          </p:cNvPr>
          <p:cNvSpPr txBox="1"/>
          <p:nvPr/>
        </p:nvSpPr>
        <p:spPr>
          <a:xfrm>
            <a:off x="1286082" y="2372690"/>
            <a:ext cx="1642145" cy="276999"/>
          </a:xfrm>
          <a:prstGeom prst="rect">
            <a:avLst/>
          </a:prstGeom>
          <a:noFill/>
        </p:spPr>
        <p:txBody>
          <a:bodyPr wrap="square">
            <a:spAutoFit/>
          </a:bodyPr>
          <a:lstStyle/>
          <a:p>
            <a:r>
              <a:rPr kumimoji="0" lang="en-GB" sz="1200" b="0" u="none" strike="noStrike" kern="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Arial" panose="020B0604020202020204" pitchFamily="34" charset="0"/>
              </a:rPr>
              <a:t>Tax &amp; Legal</a:t>
            </a:r>
            <a:endParaRPr lang="en-US" sz="1200">
              <a:solidFill>
                <a:srgbClr val="004F59"/>
              </a:solidFill>
              <a:latin typeface="Verdana" panose="020B0604030504040204" pitchFamily="34" charset="0"/>
              <a:ea typeface="Verdana" panose="020B0604030504040204" pitchFamily="34" charset="0"/>
            </a:endParaRPr>
          </a:p>
        </p:txBody>
      </p:sp>
      <p:grpSp>
        <p:nvGrpSpPr>
          <p:cNvPr id="13" name="Graphic 4">
            <a:extLst>
              <a:ext uri="{FF2B5EF4-FFF2-40B4-BE49-F238E27FC236}">
                <a16:creationId xmlns:a16="http://schemas.microsoft.com/office/drawing/2014/main" id="{EF11D520-CF0A-43A4-F651-FC242ACBB6D2}"/>
              </a:ext>
            </a:extLst>
          </p:cNvPr>
          <p:cNvGrpSpPr/>
          <p:nvPr/>
        </p:nvGrpSpPr>
        <p:grpSpPr>
          <a:xfrm>
            <a:off x="4403368" y="1545376"/>
            <a:ext cx="640080" cy="640080"/>
            <a:chOff x="10325499" y="3339623"/>
            <a:chExt cx="361670" cy="361971"/>
          </a:xfrm>
          <a:solidFill>
            <a:srgbClr val="0076A8"/>
          </a:solidFill>
        </p:grpSpPr>
        <p:sp>
          <p:nvSpPr>
            <p:cNvPr id="14" name="Graphic 4">
              <a:extLst>
                <a:ext uri="{FF2B5EF4-FFF2-40B4-BE49-F238E27FC236}">
                  <a16:creationId xmlns:a16="http://schemas.microsoft.com/office/drawing/2014/main" id="{988B1EF0-A5D9-F195-077D-6E183180916E}"/>
                </a:ext>
              </a:extLst>
            </p:cNvPr>
            <p:cNvSpPr/>
            <p:nvPr/>
          </p:nvSpPr>
          <p:spPr>
            <a:xfrm>
              <a:off x="10489720" y="3543272"/>
              <a:ext cx="8307" cy="45964"/>
            </a:xfrm>
            <a:custGeom>
              <a:avLst/>
              <a:gdLst>
                <a:gd name="connsiteX0" fmla="*/ 0 w 8307"/>
                <a:gd name="connsiteY0" fmla="*/ 45964 h 45964"/>
                <a:gd name="connsiteX1" fmla="*/ 3834 w 8307"/>
                <a:gd name="connsiteY1" fmla="*/ 45964 h 45964"/>
                <a:gd name="connsiteX2" fmla="*/ 8307 w 8307"/>
                <a:gd name="connsiteY2" fmla="*/ 45964 h 45964"/>
                <a:gd name="connsiteX3" fmla="*/ 8307 w 8307"/>
                <a:gd name="connsiteY3" fmla="*/ 0 h 45964"/>
                <a:gd name="connsiteX4" fmla="*/ 0 w 8307"/>
                <a:gd name="connsiteY4" fmla="*/ 0 h 45964"/>
                <a:gd name="connsiteX5" fmla="*/ 0 w 8307"/>
                <a:gd name="connsiteY5" fmla="*/ 45964 h 4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07" h="45964">
                  <a:moveTo>
                    <a:pt x="0" y="45964"/>
                  </a:moveTo>
                  <a:cubicBezTo>
                    <a:pt x="1278" y="45964"/>
                    <a:pt x="2556" y="45964"/>
                    <a:pt x="3834" y="45964"/>
                  </a:cubicBezTo>
                  <a:cubicBezTo>
                    <a:pt x="5112" y="45964"/>
                    <a:pt x="6390" y="45964"/>
                    <a:pt x="8307" y="45964"/>
                  </a:cubicBezTo>
                  <a:lnTo>
                    <a:pt x="8307" y="0"/>
                  </a:lnTo>
                  <a:lnTo>
                    <a:pt x="0" y="0"/>
                  </a:lnTo>
                  <a:lnTo>
                    <a:pt x="0" y="45964"/>
                  </a:lnTo>
                  <a:close/>
                </a:path>
              </a:pathLst>
            </a:custGeom>
            <a:solidFill>
              <a:srgbClr val="0076A8"/>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sp>
          <p:nvSpPr>
            <p:cNvPr id="15" name="Graphic 4">
              <a:extLst>
                <a:ext uri="{FF2B5EF4-FFF2-40B4-BE49-F238E27FC236}">
                  <a16:creationId xmlns:a16="http://schemas.microsoft.com/office/drawing/2014/main" id="{3D414430-F914-FC7F-982E-28280905D231}"/>
                </a:ext>
              </a:extLst>
            </p:cNvPr>
            <p:cNvSpPr/>
            <p:nvPr/>
          </p:nvSpPr>
          <p:spPr>
            <a:xfrm>
              <a:off x="10478857" y="3490924"/>
              <a:ext cx="29393" cy="39580"/>
            </a:xfrm>
            <a:custGeom>
              <a:avLst/>
              <a:gdLst>
                <a:gd name="connsiteX0" fmla="*/ 0 w 29393"/>
                <a:gd name="connsiteY0" fmla="*/ 0 h 39580"/>
                <a:gd name="connsiteX1" fmla="*/ 29394 w 29393"/>
                <a:gd name="connsiteY1" fmla="*/ 0 h 39580"/>
                <a:gd name="connsiteX2" fmla="*/ 29394 w 29393"/>
                <a:gd name="connsiteY2" fmla="*/ 39581 h 39580"/>
                <a:gd name="connsiteX3" fmla="*/ 0 w 29393"/>
                <a:gd name="connsiteY3" fmla="*/ 39581 h 39580"/>
              </a:gdLst>
              <a:ahLst/>
              <a:cxnLst>
                <a:cxn ang="0">
                  <a:pos x="connsiteX0" y="connsiteY0"/>
                </a:cxn>
                <a:cxn ang="0">
                  <a:pos x="connsiteX1" y="connsiteY1"/>
                </a:cxn>
                <a:cxn ang="0">
                  <a:pos x="connsiteX2" y="connsiteY2"/>
                </a:cxn>
                <a:cxn ang="0">
                  <a:pos x="connsiteX3" y="connsiteY3"/>
                </a:cxn>
              </a:cxnLst>
              <a:rect l="l" t="t" r="r" b="b"/>
              <a:pathLst>
                <a:path w="29393" h="39580">
                  <a:moveTo>
                    <a:pt x="0" y="0"/>
                  </a:moveTo>
                  <a:lnTo>
                    <a:pt x="29394" y="0"/>
                  </a:lnTo>
                  <a:lnTo>
                    <a:pt x="29394" y="39581"/>
                  </a:lnTo>
                  <a:lnTo>
                    <a:pt x="0" y="39581"/>
                  </a:lnTo>
                  <a:close/>
                </a:path>
              </a:pathLst>
            </a:custGeom>
            <a:solidFill>
              <a:srgbClr val="0076A8"/>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sp>
          <p:nvSpPr>
            <p:cNvPr id="16" name="Graphic 4">
              <a:extLst>
                <a:ext uri="{FF2B5EF4-FFF2-40B4-BE49-F238E27FC236}">
                  <a16:creationId xmlns:a16="http://schemas.microsoft.com/office/drawing/2014/main" id="{B771846D-471C-9AFC-E9DB-52A9D5A5D3F8}"/>
                </a:ext>
              </a:extLst>
            </p:cNvPr>
            <p:cNvSpPr/>
            <p:nvPr/>
          </p:nvSpPr>
          <p:spPr>
            <a:xfrm>
              <a:off x="10412394" y="3426445"/>
              <a:ext cx="162909" cy="161515"/>
            </a:xfrm>
            <a:custGeom>
              <a:avLst/>
              <a:gdLst>
                <a:gd name="connsiteX0" fmla="*/ 81160 w 162909"/>
                <a:gd name="connsiteY0" fmla="*/ 0 h 161515"/>
                <a:gd name="connsiteX1" fmla="*/ 8 w 162909"/>
                <a:gd name="connsiteY1" fmla="*/ 81715 h 161515"/>
                <a:gd name="connsiteX2" fmla="*/ 65185 w 162909"/>
                <a:gd name="connsiteY2" fmla="*/ 161515 h 161515"/>
                <a:gd name="connsiteX3" fmla="*/ 65185 w 162909"/>
                <a:gd name="connsiteY3" fmla="*/ 116827 h 161515"/>
                <a:gd name="connsiteX4" fmla="*/ 60713 w 162909"/>
                <a:gd name="connsiteY4" fmla="*/ 116827 h 161515"/>
                <a:gd name="connsiteX5" fmla="*/ 54323 w 162909"/>
                <a:gd name="connsiteY5" fmla="*/ 110443 h 161515"/>
                <a:gd name="connsiteX6" fmla="*/ 54323 w 162909"/>
                <a:gd name="connsiteY6" fmla="*/ 58094 h 161515"/>
                <a:gd name="connsiteX7" fmla="*/ 60713 w 162909"/>
                <a:gd name="connsiteY7" fmla="*/ 51710 h 161515"/>
                <a:gd name="connsiteX8" fmla="*/ 102886 w 162909"/>
                <a:gd name="connsiteY8" fmla="*/ 51710 h 161515"/>
                <a:gd name="connsiteX9" fmla="*/ 109276 w 162909"/>
                <a:gd name="connsiteY9" fmla="*/ 58094 h 161515"/>
                <a:gd name="connsiteX10" fmla="*/ 109276 w 162909"/>
                <a:gd name="connsiteY10" fmla="*/ 110443 h 161515"/>
                <a:gd name="connsiteX11" fmla="*/ 102886 w 162909"/>
                <a:gd name="connsiteY11" fmla="*/ 116827 h 161515"/>
                <a:gd name="connsiteX12" fmla="*/ 98413 w 162909"/>
                <a:gd name="connsiteY12" fmla="*/ 116827 h 161515"/>
                <a:gd name="connsiteX13" fmla="*/ 98413 w 162909"/>
                <a:gd name="connsiteY13" fmla="*/ 160876 h 161515"/>
                <a:gd name="connsiteX14" fmla="*/ 161034 w 162909"/>
                <a:gd name="connsiteY14" fmla="*/ 64478 h 161515"/>
                <a:gd name="connsiteX15" fmla="*/ 81160 w 162909"/>
                <a:gd name="connsiteY15" fmla="*/ 0 h 161515"/>
                <a:gd name="connsiteX16" fmla="*/ 81160 w 162909"/>
                <a:gd name="connsiteY16" fmla="*/ 0 h 161515"/>
                <a:gd name="connsiteX17" fmla="*/ 81160 w 162909"/>
                <a:gd name="connsiteY17" fmla="*/ 44050 h 161515"/>
                <a:gd name="connsiteX18" fmla="*/ 64546 w 162909"/>
                <a:gd name="connsiteY18" fmla="*/ 27451 h 161515"/>
                <a:gd name="connsiteX19" fmla="*/ 81160 w 162909"/>
                <a:gd name="connsiteY19" fmla="*/ 10853 h 161515"/>
                <a:gd name="connsiteX20" fmla="*/ 97775 w 162909"/>
                <a:gd name="connsiteY20" fmla="*/ 27451 h 161515"/>
                <a:gd name="connsiteX21" fmla="*/ 97775 w 162909"/>
                <a:gd name="connsiteY21" fmla="*/ 27451 h 161515"/>
                <a:gd name="connsiteX22" fmla="*/ 81160 w 162909"/>
                <a:gd name="connsiteY22" fmla="*/ 44050 h 161515"/>
                <a:gd name="connsiteX23" fmla="*/ 81160 w 162909"/>
                <a:gd name="connsiteY23" fmla="*/ 44050 h 16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2909" h="161515">
                  <a:moveTo>
                    <a:pt x="81160" y="0"/>
                  </a:moveTo>
                  <a:cubicBezTo>
                    <a:pt x="35792" y="0"/>
                    <a:pt x="-631" y="36389"/>
                    <a:pt x="8" y="81715"/>
                  </a:cubicBezTo>
                  <a:cubicBezTo>
                    <a:pt x="8" y="120019"/>
                    <a:pt x="27485" y="153216"/>
                    <a:pt x="65185" y="161515"/>
                  </a:cubicBezTo>
                  <a:lnTo>
                    <a:pt x="65185" y="116827"/>
                  </a:lnTo>
                  <a:lnTo>
                    <a:pt x="60713" y="116827"/>
                  </a:lnTo>
                  <a:cubicBezTo>
                    <a:pt x="56879" y="116827"/>
                    <a:pt x="54323" y="114273"/>
                    <a:pt x="54323" y="110443"/>
                  </a:cubicBezTo>
                  <a:lnTo>
                    <a:pt x="54323" y="58094"/>
                  </a:lnTo>
                  <a:cubicBezTo>
                    <a:pt x="54323" y="54264"/>
                    <a:pt x="56879" y="51710"/>
                    <a:pt x="60713" y="51710"/>
                  </a:cubicBezTo>
                  <a:lnTo>
                    <a:pt x="102886" y="51710"/>
                  </a:lnTo>
                  <a:cubicBezTo>
                    <a:pt x="106720" y="51710"/>
                    <a:pt x="109276" y="54264"/>
                    <a:pt x="109276" y="58094"/>
                  </a:cubicBezTo>
                  <a:lnTo>
                    <a:pt x="109276" y="110443"/>
                  </a:lnTo>
                  <a:cubicBezTo>
                    <a:pt x="109276" y="114273"/>
                    <a:pt x="106720" y="116827"/>
                    <a:pt x="102886" y="116827"/>
                  </a:cubicBezTo>
                  <a:lnTo>
                    <a:pt x="98413" y="116827"/>
                  </a:lnTo>
                  <a:lnTo>
                    <a:pt x="98413" y="160876"/>
                  </a:lnTo>
                  <a:cubicBezTo>
                    <a:pt x="142504" y="151300"/>
                    <a:pt x="170619" y="108528"/>
                    <a:pt x="161034" y="64478"/>
                  </a:cubicBezTo>
                  <a:cubicBezTo>
                    <a:pt x="152728" y="26813"/>
                    <a:pt x="119500" y="0"/>
                    <a:pt x="81160" y="0"/>
                  </a:cubicBezTo>
                  <a:lnTo>
                    <a:pt x="81160" y="0"/>
                  </a:lnTo>
                  <a:close/>
                  <a:moveTo>
                    <a:pt x="81160" y="44050"/>
                  </a:moveTo>
                  <a:cubicBezTo>
                    <a:pt x="72215" y="44050"/>
                    <a:pt x="64546" y="36389"/>
                    <a:pt x="64546" y="27451"/>
                  </a:cubicBezTo>
                  <a:cubicBezTo>
                    <a:pt x="64546" y="18514"/>
                    <a:pt x="72215" y="10853"/>
                    <a:pt x="81160" y="10853"/>
                  </a:cubicBezTo>
                  <a:cubicBezTo>
                    <a:pt x="90106" y="10853"/>
                    <a:pt x="97775" y="18514"/>
                    <a:pt x="97775" y="27451"/>
                  </a:cubicBezTo>
                  <a:lnTo>
                    <a:pt x="97775" y="27451"/>
                  </a:lnTo>
                  <a:cubicBezTo>
                    <a:pt x="97775" y="36389"/>
                    <a:pt x="90106" y="44050"/>
                    <a:pt x="81160" y="44050"/>
                  </a:cubicBezTo>
                  <a:lnTo>
                    <a:pt x="81160" y="44050"/>
                  </a:lnTo>
                  <a:close/>
                </a:path>
              </a:pathLst>
            </a:custGeom>
            <a:solidFill>
              <a:srgbClr val="0076A8"/>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sp>
          <p:nvSpPr>
            <p:cNvPr id="17" name="Graphic 4">
              <a:extLst>
                <a:ext uri="{FF2B5EF4-FFF2-40B4-BE49-F238E27FC236}">
                  <a16:creationId xmlns:a16="http://schemas.microsoft.com/office/drawing/2014/main" id="{D98D793F-CBD0-AF33-7F5F-CA122F6D3C4A}"/>
                </a:ext>
              </a:extLst>
            </p:cNvPr>
            <p:cNvSpPr/>
            <p:nvPr/>
          </p:nvSpPr>
          <p:spPr>
            <a:xfrm>
              <a:off x="10325499" y="3339623"/>
              <a:ext cx="361670" cy="361971"/>
            </a:xfrm>
            <a:custGeom>
              <a:avLst/>
              <a:gdLst>
                <a:gd name="connsiteX0" fmla="*/ 180835 w 361670"/>
                <a:gd name="connsiteY0" fmla="*/ 0 h 361971"/>
                <a:gd name="connsiteX1" fmla="*/ 0 w 361670"/>
                <a:gd name="connsiteY1" fmla="*/ 180667 h 361971"/>
                <a:gd name="connsiteX2" fmla="*/ 180835 w 361670"/>
                <a:gd name="connsiteY2" fmla="*/ 361972 h 361971"/>
                <a:gd name="connsiteX3" fmla="*/ 361670 w 361670"/>
                <a:gd name="connsiteY3" fmla="*/ 181305 h 361971"/>
                <a:gd name="connsiteX4" fmla="*/ 361670 w 361670"/>
                <a:gd name="connsiteY4" fmla="*/ 181305 h 361971"/>
                <a:gd name="connsiteX5" fmla="*/ 180835 w 361670"/>
                <a:gd name="connsiteY5" fmla="*/ 0 h 361971"/>
                <a:gd name="connsiteX6" fmla="*/ 180835 w 361670"/>
                <a:gd name="connsiteY6" fmla="*/ 0 h 361971"/>
                <a:gd name="connsiteX7" fmla="*/ 285630 w 361670"/>
                <a:gd name="connsiteY7" fmla="*/ 286641 h 361971"/>
                <a:gd name="connsiteX8" fmla="*/ 281157 w 361670"/>
                <a:gd name="connsiteY8" fmla="*/ 288556 h 361971"/>
                <a:gd name="connsiteX9" fmla="*/ 276684 w 361670"/>
                <a:gd name="connsiteY9" fmla="*/ 286641 h 361971"/>
                <a:gd name="connsiteX10" fmla="*/ 230038 w 361670"/>
                <a:gd name="connsiteY10" fmla="*/ 238761 h 361971"/>
                <a:gd name="connsiteX11" fmla="*/ 97766 w 361670"/>
                <a:gd name="connsiteY11" fmla="*/ 230462 h 361971"/>
                <a:gd name="connsiteX12" fmla="*/ 106073 w 361670"/>
                <a:gd name="connsiteY12" fmla="*/ 98313 h 361971"/>
                <a:gd name="connsiteX13" fmla="*/ 238344 w 361670"/>
                <a:gd name="connsiteY13" fmla="*/ 106613 h 361971"/>
                <a:gd name="connsiteX14" fmla="*/ 238984 w 361670"/>
                <a:gd name="connsiteY14" fmla="*/ 229185 h 361971"/>
                <a:gd name="connsiteX15" fmla="*/ 285630 w 361670"/>
                <a:gd name="connsiteY15" fmla="*/ 277065 h 361971"/>
                <a:gd name="connsiteX16" fmla="*/ 285630 w 361670"/>
                <a:gd name="connsiteY16" fmla="*/ 286641 h 361971"/>
                <a:gd name="connsiteX17" fmla="*/ 285630 w 361670"/>
                <a:gd name="connsiteY17" fmla="*/ 28664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1670" h="361971">
                  <a:moveTo>
                    <a:pt x="180835" y="0"/>
                  </a:moveTo>
                  <a:cubicBezTo>
                    <a:pt x="80513" y="0"/>
                    <a:pt x="0" y="81077"/>
                    <a:pt x="0" y="180667"/>
                  </a:cubicBezTo>
                  <a:cubicBezTo>
                    <a:pt x="0" y="280895"/>
                    <a:pt x="81152" y="361972"/>
                    <a:pt x="180835" y="361972"/>
                  </a:cubicBezTo>
                  <a:cubicBezTo>
                    <a:pt x="281157" y="361972"/>
                    <a:pt x="361670" y="280895"/>
                    <a:pt x="361670" y="181305"/>
                  </a:cubicBezTo>
                  <a:lnTo>
                    <a:pt x="361670" y="181305"/>
                  </a:lnTo>
                  <a:cubicBezTo>
                    <a:pt x="361670" y="81077"/>
                    <a:pt x="280518" y="0"/>
                    <a:pt x="180835" y="0"/>
                  </a:cubicBezTo>
                  <a:cubicBezTo>
                    <a:pt x="180835" y="0"/>
                    <a:pt x="180835" y="0"/>
                    <a:pt x="180835" y="0"/>
                  </a:cubicBezTo>
                  <a:close/>
                  <a:moveTo>
                    <a:pt x="285630" y="286641"/>
                  </a:moveTo>
                  <a:cubicBezTo>
                    <a:pt x="284352" y="287917"/>
                    <a:pt x="283074" y="288556"/>
                    <a:pt x="281157" y="288556"/>
                  </a:cubicBezTo>
                  <a:cubicBezTo>
                    <a:pt x="279240" y="288556"/>
                    <a:pt x="277962" y="287917"/>
                    <a:pt x="276684" y="286641"/>
                  </a:cubicBezTo>
                  <a:lnTo>
                    <a:pt x="230038" y="238761"/>
                  </a:lnTo>
                  <a:cubicBezTo>
                    <a:pt x="191059" y="272596"/>
                    <a:pt x="132271" y="268766"/>
                    <a:pt x="97766" y="230462"/>
                  </a:cubicBezTo>
                  <a:cubicBezTo>
                    <a:pt x="63261" y="192158"/>
                    <a:pt x="67733" y="132787"/>
                    <a:pt x="106073" y="98313"/>
                  </a:cubicBezTo>
                  <a:cubicBezTo>
                    <a:pt x="145051" y="64478"/>
                    <a:pt x="203839" y="68309"/>
                    <a:pt x="238344" y="106613"/>
                  </a:cubicBezTo>
                  <a:cubicBezTo>
                    <a:pt x="269016" y="141724"/>
                    <a:pt x="269655" y="194073"/>
                    <a:pt x="238984" y="229185"/>
                  </a:cubicBezTo>
                  <a:lnTo>
                    <a:pt x="285630" y="277065"/>
                  </a:lnTo>
                  <a:cubicBezTo>
                    <a:pt x="288186" y="279618"/>
                    <a:pt x="288186" y="284087"/>
                    <a:pt x="285630" y="286641"/>
                  </a:cubicBezTo>
                  <a:lnTo>
                    <a:pt x="285630" y="286641"/>
                  </a:lnTo>
                  <a:close/>
                </a:path>
              </a:pathLst>
            </a:custGeom>
            <a:solidFill>
              <a:srgbClr val="0076A8"/>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sp>
          <p:nvSpPr>
            <p:cNvPr id="18" name="Graphic 4">
              <a:extLst>
                <a:ext uri="{FF2B5EF4-FFF2-40B4-BE49-F238E27FC236}">
                  <a16:creationId xmlns:a16="http://schemas.microsoft.com/office/drawing/2014/main" id="{F73D89FD-3067-A0F8-9A40-55324953BDB2}"/>
                </a:ext>
              </a:extLst>
            </p:cNvPr>
            <p:cNvSpPr/>
            <p:nvPr/>
          </p:nvSpPr>
          <p:spPr>
            <a:xfrm>
              <a:off x="10489720" y="3450066"/>
              <a:ext cx="7668" cy="7660"/>
            </a:xfrm>
            <a:custGeom>
              <a:avLst/>
              <a:gdLst>
                <a:gd name="connsiteX0" fmla="*/ 3834 w 7668"/>
                <a:gd name="connsiteY0" fmla="*/ 0 h 7660"/>
                <a:gd name="connsiteX1" fmla="*/ 0 w 7668"/>
                <a:gd name="connsiteY1" fmla="*/ 3831 h 7660"/>
                <a:gd name="connsiteX2" fmla="*/ 3834 w 7668"/>
                <a:gd name="connsiteY2" fmla="*/ 7661 h 7660"/>
                <a:gd name="connsiteX3" fmla="*/ 7668 w 7668"/>
                <a:gd name="connsiteY3" fmla="*/ 3831 h 7660"/>
                <a:gd name="connsiteX4" fmla="*/ 7668 w 7668"/>
                <a:gd name="connsiteY4" fmla="*/ 3831 h 7660"/>
                <a:gd name="connsiteX5" fmla="*/ 3834 w 7668"/>
                <a:gd name="connsiteY5" fmla="*/ 0 h 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68" h="7660">
                  <a:moveTo>
                    <a:pt x="3834" y="0"/>
                  </a:moveTo>
                  <a:cubicBezTo>
                    <a:pt x="1917" y="0"/>
                    <a:pt x="0" y="1915"/>
                    <a:pt x="0" y="3831"/>
                  </a:cubicBezTo>
                  <a:cubicBezTo>
                    <a:pt x="0" y="5746"/>
                    <a:pt x="1917" y="7661"/>
                    <a:pt x="3834" y="7661"/>
                  </a:cubicBezTo>
                  <a:cubicBezTo>
                    <a:pt x="5751" y="7661"/>
                    <a:pt x="7668" y="5746"/>
                    <a:pt x="7668" y="3831"/>
                  </a:cubicBezTo>
                  <a:lnTo>
                    <a:pt x="7668" y="3831"/>
                  </a:lnTo>
                  <a:cubicBezTo>
                    <a:pt x="7668" y="1915"/>
                    <a:pt x="5751" y="0"/>
                    <a:pt x="3834" y="0"/>
                  </a:cubicBezTo>
                  <a:close/>
                </a:path>
              </a:pathLst>
            </a:custGeom>
            <a:solidFill>
              <a:srgbClr val="0076A8"/>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grpSp>
      <p:sp>
        <p:nvSpPr>
          <p:cNvPr id="19" name="TextBox 18">
            <a:extLst>
              <a:ext uri="{FF2B5EF4-FFF2-40B4-BE49-F238E27FC236}">
                <a16:creationId xmlns:a16="http://schemas.microsoft.com/office/drawing/2014/main" id="{336D7831-4D40-5CB3-102E-B2E8E31C94AD}"/>
              </a:ext>
            </a:extLst>
          </p:cNvPr>
          <p:cNvSpPr txBox="1"/>
          <p:nvPr/>
        </p:nvSpPr>
        <p:spPr>
          <a:xfrm>
            <a:off x="3351999" y="2374254"/>
            <a:ext cx="2480235" cy="276999"/>
          </a:xfrm>
          <a:prstGeom prst="rect">
            <a:avLst/>
          </a:prstGeom>
          <a:noFill/>
        </p:spPr>
        <p:txBody>
          <a:bodyPr wrap="square">
            <a:spAutoFit/>
          </a:bodyPr>
          <a:lstStyle/>
          <a:p>
            <a:pPr algn="ctr"/>
            <a:r>
              <a:rPr kumimoji="0" lang="en-GB" sz="1200" b="0" u="none" strike="noStrike" kern="0" cap="none" spc="0" normalizeH="0" baseline="0" noProof="0">
                <a:ln>
                  <a:noFill/>
                </a:ln>
                <a:solidFill>
                  <a:srgbClr val="0076A8"/>
                </a:solidFill>
                <a:effectLst/>
                <a:uLnTx/>
                <a:uFillTx/>
                <a:latin typeface="Verdana" panose="020B0604030504040204" pitchFamily="34" charset="0"/>
                <a:ea typeface="Verdana" panose="020B0604030504040204" pitchFamily="34" charset="0"/>
                <a:cs typeface="Arial" panose="020B0604020202020204" pitchFamily="34" charset="0"/>
              </a:rPr>
              <a:t>Audit &amp; Assurance</a:t>
            </a:r>
            <a:endParaRPr lang="en-US" sz="1200">
              <a:solidFill>
                <a:srgbClr val="0076A8"/>
              </a:solidFill>
              <a:latin typeface="Verdana" panose="020B0604030504040204" pitchFamily="34" charset="0"/>
              <a:ea typeface="Verdana" panose="020B0604030504040204" pitchFamily="34" charset="0"/>
            </a:endParaRPr>
          </a:p>
        </p:txBody>
      </p:sp>
      <p:grpSp>
        <p:nvGrpSpPr>
          <p:cNvPr id="20" name="Graphic 6">
            <a:extLst>
              <a:ext uri="{FF2B5EF4-FFF2-40B4-BE49-F238E27FC236}">
                <a16:creationId xmlns:a16="http://schemas.microsoft.com/office/drawing/2014/main" id="{C1B29C08-D7B6-56B4-5E46-4A8DFB647C61}"/>
              </a:ext>
            </a:extLst>
          </p:cNvPr>
          <p:cNvGrpSpPr/>
          <p:nvPr/>
        </p:nvGrpSpPr>
        <p:grpSpPr>
          <a:xfrm>
            <a:off x="6756335" y="1562850"/>
            <a:ext cx="640080" cy="640080"/>
            <a:chOff x="904176" y="4305520"/>
            <a:chExt cx="362309" cy="361971"/>
          </a:xfrm>
          <a:solidFill>
            <a:srgbClr val="046A38"/>
          </a:solidFill>
        </p:grpSpPr>
        <p:sp>
          <p:nvSpPr>
            <p:cNvPr id="21" name="Graphic 6">
              <a:extLst>
                <a:ext uri="{FF2B5EF4-FFF2-40B4-BE49-F238E27FC236}">
                  <a16:creationId xmlns:a16="http://schemas.microsoft.com/office/drawing/2014/main" id="{0D53C92D-9D13-2AF0-10D6-8B02E1062D07}"/>
                </a:ext>
              </a:extLst>
            </p:cNvPr>
            <p:cNvSpPr/>
            <p:nvPr/>
          </p:nvSpPr>
          <p:spPr>
            <a:xfrm>
              <a:off x="1038364" y="4571093"/>
              <a:ext cx="118852" cy="20428"/>
            </a:xfrm>
            <a:custGeom>
              <a:avLst/>
              <a:gdLst>
                <a:gd name="connsiteX0" fmla="*/ 0 w 118852"/>
                <a:gd name="connsiteY0" fmla="*/ 0 h 20428"/>
                <a:gd name="connsiteX1" fmla="*/ 118853 w 118852"/>
                <a:gd name="connsiteY1" fmla="*/ 0 h 20428"/>
                <a:gd name="connsiteX2" fmla="*/ 118853 w 118852"/>
                <a:gd name="connsiteY2" fmla="*/ 20429 h 20428"/>
                <a:gd name="connsiteX3" fmla="*/ 0 w 118852"/>
                <a:gd name="connsiteY3" fmla="*/ 20429 h 20428"/>
              </a:gdLst>
              <a:ahLst/>
              <a:cxnLst>
                <a:cxn ang="0">
                  <a:pos x="connsiteX0" y="connsiteY0"/>
                </a:cxn>
                <a:cxn ang="0">
                  <a:pos x="connsiteX1" y="connsiteY1"/>
                </a:cxn>
                <a:cxn ang="0">
                  <a:pos x="connsiteX2" y="connsiteY2"/>
                </a:cxn>
                <a:cxn ang="0">
                  <a:pos x="connsiteX3" y="connsiteY3"/>
                </a:cxn>
              </a:cxnLst>
              <a:rect l="l" t="t" r="r" b="b"/>
              <a:pathLst>
                <a:path w="118852" h="20428">
                  <a:moveTo>
                    <a:pt x="0" y="0"/>
                  </a:moveTo>
                  <a:lnTo>
                    <a:pt x="118853" y="0"/>
                  </a:lnTo>
                  <a:lnTo>
                    <a:pt x="118853" y="20429"/>
                  </a:lnTo>
                  <a:lnTo>
                    <a:pt x="0" y="20429"/>
                  </a:lnTo>
                  <a:close/>
                </a:path>
              </a:pathLst>
            </a:custGeom>
            <a:solidFill>
              <a:srgbClr val="046A38"/>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sp>
          <p:nvSpPr>
            <p:cNvPr id="22" name="Graphic 6">
              <a:extLst>
                <a:ext uri="{FF2B5EF4-FFF2-40B4-BE49-F238E27FC236}">
                  <a16:creationId xmlns:a16="http://schemas.microsoft.com/office/drawing/2014/main" id="{1AB48AA2-7A04-A85B-2472-CBB032F60E66}"/>
                </a:ext>
              </a:extLst>
            </p:cNvPr>
            <p:cNvSpPr/>
            <p:nvPr/>
          </p:nvSpPr>
          <p:spPr>
            <a:xfrm>
              <a:off x="1006415" y="4389150"/>
              <a:ext cx="155275" cy="170452"/>
            </a:xfrm>
            <a:custGeom>
              <a:avLst/>
              <a:gdLst>
                <a:gd name="connsiteX0" fmla="*/ 155275 w 155275"/>
                <a:gd name="connsiteY0" fmla="*/ 79161 h 170452"/>
                <a:gd name="connsiteX1" fmla="*/ 145691 w 155275"/>
                <a:gd name="connsiteY1" fmla="*/ 74692 h 170452"/>
                <a:gd name="connsiteX2" fmla="*/ 142496 w 155275"/>
                <a:gd name="connsiteY2" fmla="*/ 67032 h 170452"/>
                <a:gd name="connsiteX3" fmla="*/ 148247 w 155275"/>
                <a:gd name="connsiteY3" fmla="*/ 51072 h 170452"/>
                <a:gd name="connsiteX4" fmla="*/ 132272 w 155275"/>
                <a:gd name="connsiteY4" fmla="*/ 46603 h 170452"/>
                <a:gd name="connsiteX5" fmla="*/ 127799 w 155275"/>
                <a:gd name="connsiteY5" fmla="*/ 38942 h 170452"/>
                <a:gd name="connsiteX6" fmla="*/ 132272 w 155275"/>
                <a:gd name="connsiteY6" fmla="*/ 18513 h 170452"/>
                <a:gd name="connsiteX7" fmla="*/ 107351 w 155275"/>
                <a:gd name="connsiteY7" fmla="*/ 18513 h 170452"/>
                <a:gd name="connsiteX8" fmla="*/ 103517 w 155275"/>
                <a:gd name="connsiteY8" fmla="*/ 17236 h 170452"/>
                <a:gd name="connsiteX9" fmla="*/ 80513 w 155275"/>
                <a:gd name="connsiteY9" fmla="*/ 0 h 170452"/>
                <a:gd name="connsiteX10" fmla="*/ 80513 w 155275"/>
                <a:gd name="connsiteY10" fmla="*/ 20428 h 170452"/>
                <a:gd name="connsiteX11" fmla="*/ 77318 w 155275"/>
                <a:gd name="connsiteY11" fmla="*/ 26174 h 170452"/>
                <a:gd name="connsiteX12" fmla="*/ 0 w 155275"/>
                <a:gd name="connsiteY12" fmla="*/ 72139 h 170452"/>
                <a:gd name="connsiteX13" fmla="*/ 11502 w 155275"/>
                <a:gd name="connsiteY13" fmla="*/ 95121 h 170452"/>
                <a:gd name="connsiteX14" fmla="*/ 63899 w 155275"/>
                <a:gd name="connsiteY14" fmla="*/ 80438 h 170452"/>
                <a:gd name="connsiteX15" fmla="*/ 67733 w 155275"/>
                <a:gd name="connsiteY15" fmla="*/ 80438 h 170452"/>
                <a:gd name="connsiteX16" fmla="*/ 86264 w 155275"/>
                <a:gd name="connsiteY16" fmla="*/ 96398 h 170452"/>
                <a:gd name="connsiteX17" fmla="*/ 78596 w 155275"/>
                <a:gd name="connsiteY17" fmla="*/ 115550 h 170452"/>
                <a:gd name="connsiteX18" fmla="*/ 47925 w 155275"/>
                <a:gd name="connsiteY18" fmla="*/ 170452 h 170452"/>
                <a:gd name="connsiteX19" fmla="*/ 133550 w 155275"/>
                <a:gd name="connsiteY19" fmla="*/ 170452 h 170452"/>
                <a:gd name="connsiteX20" fmla="*/ 133550 w 155275"/>
                <a:gd name="connsiteY20" fmla="*/ 151939 h 170452"/>
                <a:gd name="connsiteX21" fmla="*/ 139940 w 155275"/>
                <a:gd name="connsiteY21" fmla="*/ 145555 h 170452"/>
                <a:gd name="connsiteX22" fmla="*/ 144413 w 155275"/>
                <a:gd name="connsiteY22" fmla="*/ 145555 h 170452"/>
                <a:gd name="connsiteX23" fmla="*/ 134828 w 155275"/>
                <a:gd name="connsiteY23" fmla="*/ 130872 h 170452"/>
                <a:gd name="connsiteX24" fmla="*/ 134189 w 155275"/>
                <a:gd name="connsiteY24" fmla="*/ 125126 h 170452"/>
                <a:gd name="connsiteX25" fmla="*/ 138023 w 155275"/>
                <a:gd name="connsiteY25" fmla="*/ 121296 h 170452"/>
                <a:gd name="connsiteX26" fmla="*/ 154636 w 155275"/>
                <a:gd name="connsiteY26" fmla="*/ 115550 h 170452"/>
                <a:gd name="connsiteX27" fmla="*/ 143774 w 155275"/>
                <a:gd name="connsiteY27" fmla="*/ 100867 h 170452"/>
                <a:gd name="connsiteX28" fmla="*/ 143774 w 155275"/>
                <a:gd name="connsiteY28" fmla="*/ 93206 h 170452"/>
                <a:gd name="connsiteX29" fmla="*/ 155275 w 155275"/>
                <a:gd name="connsiteY29" fmla="*/ 79161 h 17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5275" h="170452">
                  <a:moveTo>
                    <a:pt x="155275" y="79161"/>
                  </a:moveTo>
                  <a:lnTo>
                    <a:pt x="145691" y="74692"/>
                  </a:lnTo>
                  <a:cubicBezTo>
                    <a:pt x="142496" y="73416"/>
                    <a:pt x="141218" y="69585"/>
                    <a:pt x="142496" y="67032"/>
                  </a:cubicBezTo>
                  <a:lnTo>
                    <a:pt x="148247" y="51072"/>
                  </a:lnTo>
                  <a:lnTo>
                    <a:pt x="132272" y="46603"/>
                  </a:lnTo>
                  <a:cubicBezTo>
                    <a:pt x="129077" y="45964"/>
                    <a:pt x="127160" y="42134"/>
                    <a:pt x="127799" y="38942"/>
                  </a:cubicBezTo>
                  <a:lnTo>
                    <a:pt x="132272" y="18513"/>
                  </a:lnTo>
                  <a:lnTo>
                    <a:pt x="107351" y="18513"/>
                  </a:lnTo>
                  <a:cubicBezTo>
                    <a:pt x="106073" y="18513"/>
                    <a:pt x="104795" y="17875"/>
                    <a:pt x="103517" y="17236"/>
                  </a:cubicBezTo>
                  <a:lnTo>
                    <a:pt x="80513" y="0"/>
                  </a:lnTo>
                  <a:lnTo>
                    <a:pt x="80513" y="20428"/>
                  </a:lnTo>
                  <a:cubicBezTo>
                    <a:pt x="80513" y="22982"/>
                    <a:pt x="79235" y="24897"/>
                    <a:pt x="77318" y="26174"/>
                  </a:cubicBezTo>
                  <a:lnTo>
                    <a:pt x="0" y="72139"/>
                  </a:lnTo>
                  <a:lnTo>
                    <a:pt x="11502" y="95121"/>
                  </a:lnTo>
                  <a:lnTo>
                    <a:pt x="63899" y="80438"/>
                  </a:lnTo>
                  <a:cubicBezTo>
                    <a:pt x="65177" y="79800"/>
                    <a:pt x="66455" y="79800"/>
                    <a:pt x="67733" y="80438"/>
                  </a:cubicBezTo>
                  <a:cubicBezTo>
                    <a:pt x="69011" y="81076"/>
                    <a:pt x="83069" y="85545"/>
                    <a:pt x="86264" y="96398"/>
                  </a:cubicBezTo>
                  <a:cubicBezTo>
                    <a:pt x="88181" y="102782"/>
                    <a:pt x="85625" y="109166"/>
                    <a:pt x="78596" y="115550"/>
                  </a:cubicBezTo>
                  <a:cubicBezTo>
                    <a:pt x="59426" y="134702"/>
                    <a:pt x="49842" y="151939"/>
                    <a:pt x="47925" y="170452"/>
                  </a:cubicBezTo>
                  <a:lnTo>
                    <a:pt x="133550" y="170452"/>
                  </a:lnTo>
                  <a:lnTo>
                    <a:pt x="133550" y="151939"/>
                  </a:lnTo>
                  <a:cubicBezTo>
                    <a:pt x="133550" y="148108"/>
                    <a:pt x="136106" y="145555"/>
                    <a:pt x="139940" y="145555"/>
                  </a:cubicBezTo>
                  <a:lnTo>
                    <a:pt x="144413" y="145555"/>
                  </a:lnTo>
                  <a:lnTo>
                    <a:pt x="134828" y="130872"/>
                  </a:lnTo>
                  <a:cubicBezTo>
                    <a:pt x="133550" y="128956"/>
                    <a:pt x="133550" y="127041"/>
                    <a:pt x="134189" y="125126"/>
                  </a:cubicBezTo>
                  <a:cubicBezTo>
                    <a:pt x="134828" y="123211"/>
                    <a:pt x="136106" y="121934"/>
                    <a:pt x="138023" y="121296"/>
                  </a:cubicBezTo>
                  <a:lnTo>
                    <a:pt x="154636" y="115550"/>
                  </a:lnTo>
                  <a:lnTo>
                    <a:pt x="143774" y="100867"/>
                  </a:lnTo>
                  <a:cubicBezTo>
                    <a:pt x="141857" y="98313"/>
                    <a:pt x="141857" y="95121"/>
                    <a:pt x="143774" y="93206"/>
                  </a:cubicBezTo>
                  <a:lnTo>
                    <a:pt x="155275" y="79161"/>
                  </a:lnTo>
                  <a:close/>
                </a:path>
              </a:pathLst>
            </a:custGeom>
            <a:solidFill>
              <a:srgbClr val="046A38"/>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sp>
          <p:nvSpPr>
            <p:cNvPr id="23" name="Graphic 6">
              <a:extLst>
                <a:ext uri="{FF2B5EF4-FFF2-40B4-BE49-F238E27FC236}">
                  <a16:creationId xmlns:a16="http://schemas.microsoft.com/office/drawing/2014/main" id="{76751CE8-06EB-0E8B-E312-68430A6D958E}"/>
                </a:ext>
              </a:extLst>
            </p:cNvPr>
            <p:cNvSpPr/>
            <p:nvPr/>
          </p:nvSpPr>
          <p:spPr>
            <a:xfrm>
              <a:off x="904176" y="4305520"/>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181474 w 362309"/>
                <a:gd name="connsiteY4" fmla="*/ 0 h 361971"/>
                <a:gd name="connsiteX5" fmla="*/ 273489 w 362309"/>
                <a:gd name="connsiteY5" fmla="*/ 203649 h 361971"/>
                <a:gd name="connsiteX6" fmla="*/ 269655 w 362309"/>
                <a:gd name="connsiteY6" fmla="*/ 207479 h 361971"/>
                <a:gd name="connsiteX7" fmla="*/ 253042 w 362309"/>
                <a:gd name="connsiteY7" fmla="*/ 213225 h 361971"/>
                <a:gd name="connsiteX8" fmla="*/ 264543 w 362309"/>
                <a:gd name="connsiteY8" fmla="*/ 231100 h 361971"/>
                <a:gd name="connsiteX9" fmla="*/ 264543 w 362309"/>
                <a:gd name="connsiteY9" fmla="*/ 237484 h 361971"/>
                <a:gd name="connsiteX10" fmla="*/ 258792 w 362309"/>
                <a:gd name="connsiteY10" fmla="*/ 240676 h 361971"/>
                <a:gd name="connsiteX11" fmla="*/ 248569 w 362309"/>
                <a:gd name="connsiteY11" fmla="*/ 240676 h 361971"/>
                <a:gd name="connsiteX12" fmla="*/ 248569 w 362309"/>
                <a:gd name="connsiteY12" fmla="*/ 252806 h 361971"/>
                <a:gd name="connsiteX13" fmla="*/ 258792 w 362309"/>
                <a:gd name="connsiteY13" fmla="*/ 252806 h 361971"/>
                <a:gd name="connsiteX14" fmla="*/ 265182 w 362309"/>
                <a:gd name="connsiteY14" fmla="*/ 259190 h 361971"/>
                <a:gd name="connsiteX15" fmla="*/ 265182 w 362309"/>
                <a:gd name="connsiteY15" fmla="*/ 292386 h 361971"/>
                <a:gd name="connsiteX16" fmla="*/ 258792 w 362309"/>
                <a:gd name="connsiteY16" fmla="*/ 298770 h 361971"/>
                <a:gd name="connsiteX17" fmla="*/ 127160 w 362309"/>
                <a:gd name="connsiteY17" fmla="*/ 298770 h 361971"/>
                <a:gd name="connsiteX18" fmla="*/ 120770 w 362309"/>
                <a:gd name="connsiteY18" fmla="*/ 292386 h 361971"/>
                <a:gd name="connsiteX19" fmla="*/ 120770 w 362309"/>
                <a:gd name="connsiteY19" fmla="*/ 259190 h 361971"/>
                <a:gd name="connsiteX20" fmla="*/ 127160 w 362309"/>
                <a:gd name="connsiteY20" fmla="*/ 252806 h 361971"/>
                <a:gd name="connsiteX21" fmla="*/ 137384 w 362309"/>
                <a:gd name="connsiteY21" fmla="*/ 252806 h 361971"/>
                <a:gd name="connsiteX22" fmla="*/ 171889 w 362309"/>
                <a:gd name="connsiteY22" fmla="*/ 188966 h 361971"/>
                <a:gd name="connsiteX23" fmla="*/ 175723 w 362309"/>
                <a:gd name="connsiteY23" fmla="*/ 181944 h 361971"/>
                <a:gd name="connsiteX24" fmla="*/ 168055 w 362309"/>
                <a:gd name="connsiteY24" fmla="*/ 175560 h 361971"/>
                <a:gd name="connsiteX25" fmla="*/ 112463 w 362309"/>
                <a:gd name="connsiteY25" fmla="*/ 191519 h 361971"/>
                <a:gd name="connsiteX26" fmla="*/ 104795 w 362309"/>
                <a:gd name="connsiteY26" fmla="*/ 188327 h 361971"/>
                <a:gd name="connsiteX27" fmla="*/ 88181 w 362309"/>
                <a:gd name="connsiteY27" fmla="*/ 155131 h 361971"/>
                <a:gd name="connsiteX28" fmla="*/ 90737 w 362309"/>
                <a:gd name="connsiteY28" fmla="*/ 146832 h 361971"/>
                <a:gd name="connsiteX29" fmla="*/ 169972 w 362309"/>
                <a:gd name="connsiteY29" fmla="*/ 99590 h 361971"/>
                <a:gd name="connsiteX30" fmla="*/ 169972 w 362309"/>
                <a:gd name="connsiteY30" fmla="*/ 70224 h 361971"/>
                <a:gd name="connsiteX31" fmla="*/ 173806 w 362309"/>
                <a:gd name="connsiteY31" fmla="*/ 64478 h 361971"/>
                <a:gd name="connsiteX32" fmla="*/ 180196 w 362309"/>
                <a:gd name="connsiteY32" fmla="*/ 65117 h 361971"/>
                <a:gd name="connsiteX33" fmla="*/ 211507 w 362309"/>
                <a:gd name="connsiteY33" fmla="*/ 88738 h 361971"/>
                <a:gd name="connsiteX34" fmla="*/ 242179 w 362309"/>
                <a:gd name="connsiteY34" fmla="*/ 88738 h 361971"/>
                <a:gd name="connsiteX35" fmla="*/ 247291 w 362309"/>
                <a:gd name="connsiteY35" fmla="*/ 91291 h 361971"/>
                <a:gd name="connsiteX36" fmla="*/ 248569 w 362309"/>
                <a:gd name="connsiteY36" fmla="*/ 96398 h 361971"/>
                <a:gd name="connsiteX37" fmla="*/ 243457 w 362309"/>
                <a:gd name="connsiteY37" fmla="*/ 118742 h 361971"/>
                <a:gd name="connsiteX38" fmla="*/ 260070 w 362309"/>
                <a:gd name="connsiteY38" fmla="*/ 123211 h 361971"/>
                <a:gd name="connsiteX39" fmla="*/ 263904 w 362309"/>
                <a:gd name="connsiteY39" fmla="*/ 126403 h 361971"/>
                <a:gd name="connsiteX40" fmla="*/ 264543 w 362309"/>
                <a:gd name="connsiteY40" fmla="*/ 131510 h 361971"/>
                <a:gd name="connsiteX41" fmla="*/ 258153 w 362309"/>
                <a:gd name="connsiteY41" fmla="*/ 148747 h 361971"/>
                <a:gd name="connsiteX42" fmla="*/ 269655 w 362309"/>
                <a:gd name="connsiteY42" fmla="*/ 154492 h 361971"/>
                <a:gd name="connsiteX43" fmla="*/ 272850 w 362309"/>
                <a:gd name="connsiteY43" fmla="*/ 158961 h 361971"/>
                <a:gd name="connsiteX44" fmla="*/ 271572 w 362309"/>
                <a:gd name="connsiteY44" fmla="*/ 164068 h 361971"/>
                <a:gd name="connsiteX45" fmla="*/ 258792 w 362309"/>
                <a:gd name="connsiteY45" fmla="*/ 180028 h 361971"/>
                <a:gd name="connsiteX46" fmla="*/ 271572 w 362309"/>
                <a:gd name="connsiteY46" fmla="*/ 197265 h 361971"/>
                <a:gd name="connsiteX47" fmla="*/ 273489 w 362309"/>
                <a:gd name="connsiteY47" fmla="*/ 20364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62309" h="361971">
                  <a:moveTo>
                    <a:pt x="181474" y="0"/>
                  </a:moveTo>
                  <a:cubicBezTo>
                    <a:pt x="81152" y="0"/>
                    <a:pt x="0" y="81077"/>
                    <a:pt x="0" y="180667"/>
                  </a:cubicBezTo>
                  <a:cubicBezTo>
                    <a:pt x="0" y="280257"/>
                    <a:pt x="81152" y="361972"/>
                    <a:pt x="180835" y="361972"/>
                  </a:cubicBezTo>
                  <a:cubicBezTo>
                    <a:pt x="281157" y="361972"/>
                    <a:pt x="362309" y="280895"/>
                    <a:pt x="362309" y="181305"/>
                  </a:cubicBezTo>
                  <a:cubicBezTo>
                    <a:pt x="362309" y="81077"/>
                    <a:pt x="281157" y="0"/>
                    <a:pt x="181474" y="0"/>
                  </a:cubicBezTo>
                  <a:close/>
                  <a:moveTo>
                    <a:pt x="273489" y="203649"/>
                  </a:moveTo>
                  <a:cubicBezTo>
                    <a:pt x="272850" y="205564"/>
                    <a:pt x="271572" y="206841"/>
                    <a:pt x="269655" y="207479"/>
                  </a:cubicBezTo>
                  <a:lnTo>
                    <a:pt x="253042" y="213225"/>
                  </a:lnTo>
                  <a:lnTo>
                    <a:pt x="264543" y="231100"/>
                  </a:lnTo>
                  <a:cubicBezTo>
                    <a:pt x="265821" y="233015"/>
                    <a:pt x="265821" y="235569"/>
                    <a:pt x="264543" y="237484"/>
                  </a:cubicBezTo>
                  <a:cubicBezTo>
                    <a:pt x="263265" y="239399"/>
                    <a:pt x="261348" y="240676"/>
                    <a:pt x="258792" y="240676"/>
                  </a:cubicBezTo>
                  <a:lnTo>
                    <a:pt x="248569" y="240676"/>
                  </a:lnTo>
                  <a:lnTo>
                    <a:pt x="248569" y="252806"/>
                  </a:lnTo>
                  <a:lnTo>
                    <a:pt x="258792" y="252806"/>
                  </a:lnTo>
                  <a:cubicBezTo>
                    <a:pt x="262626" y="252806"/>
                    <a:pt x="265182" y="255359"/>
                    <a:pt x="265182" y="259190"/>
                  </a:cubicBezTo>
                  <a:lnTo>
                    <a:pt x="265182" y="292386"/>
                  </a:lnTo>
                  <a:cubicBezTo>
                    <a:pt x="265182" y="296217"/>
                    <a:pt x="262626" y="298770"/>
                    <a:pt x="258792" y="298770"/>
                  </a:cubicBezTo>
                  <a:lnTo>
                    <a:pt x="127160" y="298770"/>
                  </a:lnTo>
                  <a:cubicBezTo>
                    <a:pt x="123326" y="298770"/>
                    <a:pt x="120770" y="296217"/>
                    <a:pt x="120770" y="292386"/>
                  </a:cubicBezTo>
                  <a:lnTo>
                    <a:pt x="120770" y="259190"/>
                  </a:lnTo>
                  <a:cubicBezTo>
                    <a:pt x="120770" y="255359"/>
                    <a:pt x="123326" y="252806"/>
                    <a:pt x="127160" y="252806"/>
                  </a:cubicBezTo>
                  <a:lnTo>
                    <a:pt x="137384" y="252806"/>
                  </a:lnTo>
                  <a:cubicBezTo>
                    <a:pt x="139940" y="224078"/>
                    <a:pt x="157831" y="203011"/>
                    <a:pt x="171889" y="188966"/>
                  </a:cubicBezTo>
                  <a:cubicBezTo>
                    <a:pt x="175084" y="185774"/>
                    <a:pt x="176362" y="183220"/>
                    <a:pt x="175723" y="181944"/>
                  </a:cubicBezTo>
                  <a:cubicBezTo>
                    <a:pt x="175084" y="179390"/>
                    <a:pt x="171250" y="176836"/>
                    <a:pt x="168055" y="175560"/>
                  </a:cubicBezTo>
                  <a:lnTo>
                    <a:pt x="112463" y="191519"/>
                  </a:lnTo>
                  <a:cubicBezTo>
                    <a:pt x="109268" y="192158"/>
                    <a:pt x="106073" y="190881"/>
                    <a:pt x="104795" y="188327"/>
                  </a:cubicBezTo>
                  <a:lnTo>
                    <a:pt x="88181" y="155131"/>
                  </a:lnTo>
                  <a:cubicBezTo>
                    <a:pt x="86903" y="151939"/>
                    <a:pt x="87542" y="148747"/>
                    <a:pt x="90737" y="146832"/>
                  </a:cubicBezTo>
                  <a:lnTo>
                    <a:pt x="169972" y="99590"/>
                  </a:lnTo>
                  <a:lnTo>
                    <a:pt x="169972" y="70224"/>
                  </a:lnTo>
                  <a:cubicBezTo>
                    <a:pt x="169972" y="67670"/>
                    <a:pt x="171250" y="65755"/>
                    <a:pt x="173806" y="64478"/>
                  </a:cubicBezTo>
                  <a:cubicBezTo>
                    <a:pt x="175723" y="63202"/>
                    <a:pt x="178279" y="63840"/>
                    <a:pt x="180196" y="65117"/>
                  </a:cubicBezTo>
                  <a:lnTo>
                    <a:pt x="211507" y="88738"/>
                  </a:lnTo>
                  <a:lnTo>
                    <a:pt x="242179" y="88738"/>
                  </a:lnTo>
                  <a:cubicBezTo>
                    <a:pt x="244096" y="88738"/>
                    <a:pt x="246013" y="89376"/>
                    <a:pt x="247291" y="91291"/>
                  </a:cubicBezTo>
                  <a:cubicBezTo>
                    <a:pt x="248569" y="92568"/>
                    <a:pt x="249208" y="94483"/>
                    <a:pt x="248569" y="96398"/>
                  </a:cubicBezTo>
                  <a:lnTo>
                    <a:pt x="243457" y="118742"/>
                  </a:lnTo>
                  <a:lnTo>
                    <a:pt x="260070" y="123211"/>
                  </a:lnTo>
                  <a:cubicBezTo>
                    <a:pt x="261987" y="123849"/>
                    <a:pt x="263265" y="125126"/>
                    <a:pt x="263904" y="126403"/>
                  </a:cubicBezTo>
                  <a:cubicBezTo>
                    <a:pt x="264543" y="127680"/>
                    <a:pt x="264543" y="129595"/>
                    <a:pt x="264543" y="131510"/>
                  </a:cubicBezTo>
                  <a:lnTo>
                    <a:pt x="258153" y="148747"/>
                  </a:lnTo>
                  <a:lnTo>
                    <a:pt x="269655" y="154492"/>
                  </a:lnTo>
                  <a:cubicBezTo>
                    <a:pt x="271572" y="155131"/>
                    <a:pt x="272850" y="157046"/>
                    <a:pt x="272850" y="158961"/>
                  </a:cubicBezTo>
                  <a:cubicBezTo>
                    <a:pt x="273489" y="160876"/>
                    <a:pt x="272850" y="162792"/>
                    <a:pt x="271572" y="164068"/>
                  </a:cubicBezTo>
                  <a:lnTo>
                    <a:pt x="258792" y="180028"/>
                  </a:lnTo>
                  <a:lnTo>
                    <a:pt x="271572" y="197265"/>
                  </a:lnTo>
                  <a:cubicBezTo>
                    <a:pt x="274128" y="199819"/>
                    <a:pt x="274128" y="201734"/>
                    <a:pt x="273489" y="203649"/>
                  </a:cubicBezTo>
                  <a:close/>
                </a:path>
              </a:pathLst>
            </a:custGeom>
            <a:solidFill>
              <a:srgbClr val="046A38"/>
            </a:solid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grpSp>
      <p:sp>
        <p:nvSpPr>
          <p:cNvPr id="24" name="TextBox 23">
            <a:extLst>
              <a:ext uri="{FF2B5EF4-FFF2-40B4-BE49-F238E27FC236}">
                <a16:creationId xmlns:a16="http://schemas.microsoft.com/office/drawing/2014/main" id="{936FCFBF-A195-A9DC-BABE-3F8289226588}"/>
              </a:ext>
            </a:extLst>
          </p:cNvPr>
          <p:cNvSpPr txBox="1"/>
          <p:nvPr/>
        </p:nvSpPr>
        <p:spPr>
          <a:xfrm>
            <a:off x="5858269" y="2261635"/>
            <a:ext cx="2480235" cy="276999"/>
          </a:xfrm>
          <a:prstGeom prst="rect">
            <a:avLst/>
          </a:prstGeom>
          <a:noFill/>
        </p:spPr>
        <p:txBody>
          <a:bodyPr wrap="square">
            <a:spAutoFit/>
          </a:bodyPr>
          <a:lstStyle/>
          <a:p>
            <a:pPr algn="ctr"/>
            <a:r>
              <a:rPr lang="en-US" sz="1200" kern="0">
                <a:solidFill>
                  <a:srgbClr val="046A38"/>
                </a:solidFill>
                <a:latin typeface="Verdana" panose="020B0604030504040204" pitchFamily="34" charset="0"/>
                <a:ea typeface="Verdana" panose="020B0604030504040204" pitchFamily="34" charset="0"/>
                <a:cs typeface="Arial" panose="020B0604020202020204" pitchFamily="34" charset="0"/>
              </a:rPr>
              <a:t>Strategy, Risk &amp; Transactions </a:t>
            </a:r>
          </a:p>
        </p:txBody>
      </p:sp>
      <p:grpSp>
        <p:nvGrpSpPr>
          <p:cNvPr id="25" name="Graphic 4">
            <a:extLst>
              <a:ext uri="{FF2B5EF4-FFF2-40B4-BE49-F238E27FC236}">
                <a16:creationId xmlns:a16="http://schemas.microsoft.com/office/drawing/2014/main" id="{61011258-020E-3430-0752-44699E0C2B68}"/>
              </a:ext>
            </a:extLst>
          </p:cNvPr>
          <p:cNvGrpSpPr/>
          <p:nvPr/>
        </p:nvGrpSpPr>
        <p:grpSpPr>
          <a:xfrm>
            <a:off x="9543844" y="1551068"/>
            <a:ext cx="640080" cy="640080"/>
            <a:chOff x="10324860" y="1402085"/>
            <a:chExt cx="361670" cy="361333"/>
          </a:xfrm>
          <a:solidFill>
            <a:srgbClr val="00A3E0"/>
          </a:solidFill>
        </p:grpSpPr>
        <p:sp>
          <p:nvSpPr>
            <p:cNvPr id="26" name="Graphic 4">
              <a:extLst>
                <a:ext uri="{FF2B5EF4-FFF2-40B4-BE49-F238E27FC236}">
                  <a16:creationId xmlns:a16="http://schemas.microsoft.com/office/drawing/2014/main" id="{D3D6D2C3-F532-3B78-EEF1-3FB0EF92D75E}"/>
                </a:ext>
              </a:extLst>
            </p:cNvPr>
            <p:cNvSpPr/>
            <p:nvPr/>
          </p:nvSpPr>
          <p:spPr>
            <a:xfrm>
              <a:off x="10403456" y="1554662"/>
              <a:ext cx="169972" cy="91291"/>
            </a:xfrm>
            <a:custGeom>
              <a:avLst/>
              <a:gdLst>
                <a:gd name="connsiteX0" fmla="*/ 0 w 169972"/>
                <a:gd name="connsiteY0" fmla="*/ 0 h 91291"/>
                <a:gd name="connsiteX1" fmla="*/ 0 w 169972"/>
                <a:gd name="connsiteY1" fmla="*/ 91291 h 91291"/>
                <a:gd name="connsiteX2" fmla="*/ 169972 w 169972"/>
                <a:gd name="connsiteY2" fmla="*/ 91291 h 91291"/>
                <a:gd name="connsiteX3" fmla="*/ 169972 w 169972"/>
                <a:gd name="connsiteY3" fmla="*/ 0 h 91291"/>
                <a:gd name="connsiteX4" fmla="*/ 0 w 169972"/>
                <a:gd name="connsiteY4" fmla="*/ 0 h 91291"/>
                <a:gd name="connsiteX5" fmla="*/ 84986 w 169972"/>
                <a:gd name="connsiteY5" fmla="*/ 51072 h 91291"/>
                <a:gd name="connsiteX6" fmla="*/ 68373 w 169972"/>
                <a:gd name="connsiteY6" fmla="*/ 34474 h 91291"/>
                <a:gd name="connsiteX7" fmla="*/ 80513 w 169972"/>
                <a:gd name="connsiteY7" fmla="*/ 18514 h 91291"/>
                <a:gd name="connsiteX8" fmla="*/ 80513 w 169972"/>
                <a:gd name="connsiteY8" fmla="*/ 14683 h 91291"/>
                <a:gd name="connsiteX9" fmla="*/ 85625 w 169972"/>
                <a:gd name="connsiteY9" fmla="*/ 9576 h 91291"/>
                <a:gd name="connsiteX10" fmla="*/ 90738 w 169972"/>
                <a:gd name="connsiteY10" fmla="*/ 14683 h 91291"/>
                <a:gd name="connsiteX11" fmla="*/ 90738 w 169972"/>
                <a:gd name="connsiteY11" fmla="*/ 18514 h 91291"/>
                <a:gd name="connsiteX12" fmla="*/ 102878 w 169972"/>
                <a:gd name="connsiteY12" fmla="*/ 34474 h 91291"/>
                <a:gd name="connsiteX13" fmla="*/ 97766 w 169972"/>
                <a:gd name="connsiteY13" fmla="*/ 39581 h 91291"/>
                <a:gd name="connsiteX14" fmla="*/ 92654 w 169972"/>
                <a:gd name="connsiteY14" fmla="*/ 34474 h 91291"/>
                <a:gd name="connsiteX15" fmla="*/ 85625 w 169972"/>
                <a:gd name="connsiteY15" fmla="*/ 27451 h 91291"/>
                <a:gd name="connsiteX16" fmla="*/ 78597 w 169972"/>
                <a:gd name="connsiteY16" fmla="*/ 34474 h 91291"/>
                <a:gd name="connsiteX17" fmla="*/ 85625 w 169972"/>
                <a:gd name="connsiteY17" fmla="*/ 41496 h 91291"/>
                <a:gd name="connsiteX18" fmla="*/ 102239 w 169972"/>
                <a:gd name="connsiteY18" fmla="*/ 58094 h 91291"/>
                <a:gd name="connsiteX19" fmla="*/ 90098 w 169972"/>
                <a:gd name="connsiteY19" fmla="*/ 74054 h 91291"/>
                <a:gd name="connsiteX20" fmla="*/ 90098 w 169972"/>
                <a:gd name="connsiteY20" fmla="*/ 77885 h 91291"/>
                <a:gd name="connsiteX21" fmla="*/ 84986 w 169972"/>
                <a:gd name="connsiteY21" fmla="*/ 82992 h 91291"/>
                <a:gd name="connsiteX22" fmla="*/ 79874 w 169972"/>
                <a:gd name="connsiteY22" fmla="*/ 77885 h 91291"/>
                <a:gd name="connsiteX23" fmla="*/ 79874 w 169972"/>
                <a:gd name="connsiteY23" fmla="*/ 74054 h 91291"/>
                <a:gd name="connsiteX24" fmla="*/ 67733 w 169972"/>
                <a:gd name="connsiteY24" fmla="*/ 58094 h 91291"/>
                <a:gd name="connsiteX25" fmla="*/ 72845 w 169972"/>
                <a:gd name="connsiteY25" fmla="*/ 52987 h 91291"/>
                <a:gd name="connsiteX26" fmla="*/ 77958 w 169972"/>
                <a:gd name="connsiteY26" fmla="*/ 58094 h 91291"/>
                <a:gd name="connsiteX27" fmla="*/ 84986 w 169972"/>
                <a:gd name="connsiteY27" fmla="*/ 65117 h 91291"/>
                <a:gd name="connsiteX28" fmla="*/ 92015 w 169972"/>
                <a:gd name="connsiteY28" fmla="*/ 58094 h 91291"/>
                <a:gd name="connsiteX29" fmla="*/ 84986 w 169972"/>
                <a:gd name="connsiteY29" fmla="*/ 51072 h 91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9972" h="91291">
                  <a:moveTo>
                    <a:pt x="0" y="0"/>
                  </a:moveTo>
                  <a:lnTo>
                    <a:pt x="0" y="91291"/>
                  </a:lnTo>
                  <a:lnTo>
                    <a:pt x="169972" y="91291"/>
                  </a:lnTo>
                  <a:lnTo>
                    <a:pt x="169972" y="0"/>
                  </a:lnTo>
                  <a:lnTo>
                    <a:pt x="0" y="0"/>
                  </a:lnTo>
                  <a:close/>
                  <a:moveTo>
                    <a:pt x="84986" y="51072"/>
                  </a:moveTo>
                  <a:cubicBezTo>
                    <a:pt x="76040" y="51072"/>
                    <a:pt x="68373" y="43411"/>
                    <a:pt x="68373" y="34474"/>
                  </a:cubicBezTo>
                  <a:cubicBezTo>
                    <a:pt x="68373" y="26813"/>
                    <a:pt x="73484" y="20429"/>
                    <a:pt x="80513" y="18514"/>
                  </a:cubicBezTo>
                  <a:lnTo>
                    <a:pt x="80513" y="14683"/>
                  </a:lnTo>
                  <a:cubicBezTo>
                    <a:pt x="80513" y="12130"/>
                    <a:pt x="82430" y="9576"/>
                    <a:pt x="85625" y="9576"/>
                  </a:cubicBezTo>
                  <a:cubicBezTo>
                    <a:pt x="88820" y="9576"/>
                    <a:pt x="90738" y="11491"/>
                    <a:pt x="90738" y="14683"/>
                  </a:cubicBezTo>
                  <a:lnTo>
                    <a:pt x="90738" y="18514"/>
                  </a:lnTo>
                  <a:cubicBezTo>
                    <a:pt x="97766" y="20429"/>
                    <a:pt x="102878" y="26813"/>
                    <a:pt x="102878" y="34474"/>
                  </a:cubicBezTo>
                  <a:cubicBezTo>
                    <a:pt x="102878" y="37027"/>
                    <a:pt x="100961" y="39581"/>
                    <a:pt x="97766" y="39581"/>
                  </a:cubicBezTo>
                  <a:cubicBezTo>
                    <a:pt x="94571" y="39581"/>
                    <a:pt x="92654" y="37666"/>
                    <a:pt x="92654" y="34474"/>
                  </a:cubicBezTo>
                  <a:cubicBezTo>
                    <a:pt x="92654" y="30643"/>
                    <a:pt x="89459" y="27451"/>
                    <a:pt x="85625" y="27451"/>
                  </a:cubicBezTo>
                  <a:cubicBezTo>
                    <a:pt x="81792" y="27451"/>
                    <a:pt x="78597" y="30643"/>
                    <a:pt x="78597" y="34474"/>
                  </a:cubicBezTo>
                  <a:cubicBezTo>
                    <a:pt x="78597" y="38304"/>
                    <a:pt x="81792" y="41496"/>
                    <a:pt x="85625" y="41496"/>
                  </a:cubicBezTo>
                  <a:cubicBezTo>
                    <a:pt x="95210" y="41496"/>
                    <a:pt x="102239" y="49157"/>
                    <a:pt x="102239" y="58094"/>
                  </a:cubicBezTo>
                  <a:cubicBezTo>
                    <a:pt x="102239" y="65755"/>
                    <a:pt x="97128" y="72139"/>
                    <a:pt x="90098" y="74054"/>
                  </a:cubicBezTo>
                  <a:lnTo>
                    <a:pt x="90098" y="77885"/>
                  </a:lnTo>
                  <a:cubicBezTo>
                    <a:pt x="90098" y="80438"/>
                    <a:pt x="88181" y="82992"/>
                    <a:pt x="84986" y="82992"/>
                  </a:cubicBezTo>
                  <a:cubicBezTo>
                    <a:pt x="81792" y="82992"/>
                    <a:pt x="79874" y="81077"/>
                    <a:pt x="79874" y="77885"/>
                  </a:cubicBezTo>
                  <a:lnTo>
                    <a:pt x="79874" y="74054"/>
                  </a:lnTo>
                  <a:cubicBezTo>
                    <a:pt x="72845" y="72139"/>
                    <a:pt x="67733" y="65755"/>
                    <a:pt x="67733" y="58094"/>
                  </a:cubicBezTo>
                  <a:cubicBezTo>
                    <a:pt x="67733" y="55541"/>
                    <a:pt x="69650" y="52987"/>
                    <a:pt x="72845" y="52987"/>
                  </a:cubicBezTo>
                  <a:cubicBezTo>
                    <a:pt x="76040" y="52987"/>
                    <a:pt x="77958" y="54902"/>
                    <a:pt x="77958" y="58094"/>
                  </a:cubicBezTo>
                  <a:cubicBezTo>
                    <a:pt x="77958" y="61925"/>
                    <a:pt x="81153" y="65117"/>
                    <a:pt x="84986" y="65117"/>
                  </a:cubicBezTo>
                  <a:cubicBezTo>
                    <a:pt x="88820" y="65117"/>
                    <a:pt x="92015" y="61925"/>
                    <a:pt x="92015" y="58094"/>
                  </a:cubicBezTo>
                  <a:cubicBezTo>
                    <a:pt x="92654" y="54264"/>
                    <a:pt x="88820" y="51072"/>
                    <a:pt x="84986" y="51072"/>
                  </a:cubicBezTo>
                  <a:close/>
                </a:path>
              </a:pathLst>
            </a:custGeom>
            <a:grp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sp>
          <p:nvSpPr>
            <p:cNvPr id="27" name="Graphic 4">
              <a:extLst>
                <a:ext uri="{FF2B5EF4-FFF2-40B4-BE49-F238E27FC236}">
                  <a16:creationId xmlns:a16="http://schemas.microsoft.com/office/drawing/2014/main" id="{7F0912FC-1645-85E3-F8F7-2258C06C790E}"/>
                </a:ext>
              </a:extLst>
            </p:cNvPr>
            <p:cNvSpPr/>
            <p:nvPr/>
          </p:nvSpPr>
          <p:spPr>
            <a:xfrm>
              <a:off x="10438601" y="1520188"/>
              <a:ext cx="169972" cy="91929"/>
            </a:xfrm>
            <a:custGeom>
              <a:avLst/>
              <a:gdLst>
                <a:gd name="connsiteX0" fmla="*/ 0 w 169972"/>
                <a:gd name="connsiteY0" fmla="*/ 21706 h 91929"/>
                <a:gd name="connsiteX1" fmla="*/ 141217 w 169972"/>
                <a:gd name="connsiteY1" fmla="*/ 21706 h 91929"/>
                <a:gd name="connsiteX2" fmla="*/ 147607 w 169972"/>
                <a:gd name="connsiteY2" fmla="*/ 28089 h 91929"/>
                <a:gd name="connsiteX3" fmla="*/ 147607 w 169972"/>
                <a:gd name="connsiteY3" fmla="*/ 91929 h 91929"/>
                <a:gd name="connsiteX4" fmla="*/ 150164 w 169972"/>
                <a:gd name="connsiteY4" fmla="*/ 91291 h 91929"/>
                <a:gd name="connsiteX5" fmla="*/ 169972 w 169972"/>
                <a:gd name="connsiteY5" fmla="*/ 91291 h 91929"/>
                <a:gd name="connsiteX6" fmla="*/ 169972 w 169972"/>
                <a:gd name="connsiteY6" fmla="*/ 0 h 91929"/>
                <a:gd name="connsiteX7" fmla="*/ 0 w 169972"/>
                <a:gd name="connsiteY7" fmla="*/ 0 h 91929"/>
                <a:gd name="connsiteX8" fmla="*/ 0 w 169972"/>
                <a:gd name="connsiteY8" fmla="*/ 21706 h 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72" h="91929">
                  <a:moveTo>
                    <a:pt x="0" y="21706"/>
                  </a:moveTo>
                  <a:lnTo>
                    <a:pt x="141217" y="21706"/>
                  </a:lnTo>
                  <a:cubicBezTo>
                    <a:pt x="145052" y="21706"/>
                    <a:pt x="147607" y="24259"/>
                    <a:pt x="147607" y="28089"/>
                  </a:cubicBezTo>
                  <a:lnTo>
                    <a:pt x="147607" y="91929"/>
                  </a:lnTo>
                  <a:cubicBezTo>
                    <a:pt x="148247" y="91929"/>
                    <a:pt x="148886" y="91291"/>
                    <a:pt x="150164" y="91291"/>
                  </a:cubicBezTo>
                  <a:lnTo>
                    <a:pt x="169972" y="91291"/>
                  </a:lnTo>
                  <a:lnTo>
                    <a:pt x="169972" y="0"/>
                  </a:lnTo>
                  <a:lnTo>
                    <a:pt x="0" y="0"/>
                  </a:lnTo>
                  <a:lnTo>
                    <a:pt x="0" y="21706"/>
                  </a:lnTo>
                  <a:close/>
                </a:path>
              </a:pathLst>
            </a:custGeom>
            <a:grp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sp>
          <p:nvSpPr>
            <p:cNvPr id="28" name="Graphic 4">
              <a:extLst>
                <a:ext uri="{FF2B5EF4-FFF2-40B4-BE49-F238E27FC236}">
                  <a16:creationId xmlns:a16="http://schemas.microsoft.com/office/drawing/2014/main" id="{A1C7C25E-3190-737A-4EDA-124D1698465C}"/>
                </a:ext>
              </a:extLst>
            </p:cNvPr>
            <p:cNvSpPr/>
            <p:nvPr/>
          </p:nvSpPr>
          <p:spPr>
            <a:xfrm>
              <a:off x="10324860" y="1402085"/>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96492 w 361670"/>
                <a:gd name="connsiteY5" fmla="*/ 215779 h 361333"/>
                <a:gd name="connsiteX6" fmla="*/ 290103 w 361670"/>
                <a:gd name="connsiteY6" fmla="*/ 222163 h 361333"/>
                <a:gd name="connsiteX7" fmla="*/ 263904 w 361670"/>
                <a:gd name="connsiteY7" fmla="*/ 222163 h 361333"/>
                <a:gd name="connsiteX8" fmla="*/ 261348 w 361670"/>
                <a:gd name="connsiteY8" fmla="*/ 221524 h 361333"/>
                <a:gd name="connsiteX9" fmla="*/ 261348 w 361670"/>
                <a:gd name="connsiteY9" fmla="*/ 250252 h 361333"/>
                <a:gd name="connsiteX10" fmla="*/ 254958 w 361670"/>
                <a:gd name="connsiteY10" fmla="*/ 256636 h 361333"/>
                <a:gd name="connsiteX11" fmla="*/ 72206 w 361670"/>
                <a:gd name="connsiteY11" fmla="*/ 256636 h 361333"/>
                <a:gd name="connsiteX12" fmla="*/ 65816 w 361670"/>
                <a:gd name="connsiteY12" fmla="*/ 250252 h 361333"/>
                <a:gd name="connsiteX13" fmla="*/ 65816 w 361670"/>
                <a:gd name="connsiteY13" fmla="*/ 146193 h 361333"/>
                <a:gd name="connsiteX14" fmla="*/ 72206 w 361670"/>
                <a:gd name="connsiteY14" fmla="*/ 139809 h 361333"/>
                <a:gd name="connsiteX15" fmla="*/ 100322 w 361670"/>
                <a:gd name="connsiteY15" fmla="*/ 139809 h 361333"/>
                <a:gd name="connsiteX16" fmla="*/ 100322 w 361670"/>
                <a:gd name="connsiteY16" fmla="*/ 111720 h 361333"/>
                <a:gd name="connsiteX17" fmla="*/ 106712 w 361670"/>
                <a:gd name="connsiteY17" fmla="*/ 105336 h 361333"/>
                <a:gd name="connsiteX18" fmla="*/ 289464 w 361670"/>
                <a:gd name="connsiteY18" fmla="*/ 105336 h 361333"/>
                <a:gd name="connsiteX19" fmla="*/ 295854 w 361670"/>
                <a:gd name="connsiteY19" fmla="*/ 111720 h 361333"/>
                <a:gd name="connsiteX20" fmla="*/ 295854 w 361670"/>
                <a:gd name="connsiteY20" fmla="*/ 21577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1670" h="361333">
                  <a:moveTo>
                    <a:pt x="180835" y="0"/>
                  </a:moveTo>
                  <a:cubicBezTo>
                    <a:pt x="80513" y="0"/>
                    <a:pt x="0" y="81077"/>
                    <a:pt x="0" y="180667"/>
                  </a:cubicBezTo>
                  <a:cubicBezTo>
                    <a:pt x="0" y="280257"/>
                    <a:pt x="81152" y="361333"/>
                    <a:pt x="180835" y="361333"/>
                  </a:cubicBezTo>
                  <a:cubicBezTo>
                    <a:pt x="280518" y="361333"/>
                    <a:pt x="361670" y="280257"/>
                    <a:pt x="361670" y="180667"/>
                  </a:cubicBezTo>
                  <a:cubicBezTo>
                    <a:pt x="361670" y="81077"/>
                    <a:pt x="281157" y="0"/>
                    <a:pt x="180835" y="0"/>
                  </a:cubicBezTo>
                  <a:close/>
                  <a:moveTo>
                    <a:pt x="296492" y="215779"/>
                  </a:moveTo>
                  <a:cubicBezTo>
                    <a:pt x="296492" y="219609"/>
                    <a:pt x="293937" y="222163"/>
                    <a:pt x="290103" y="222163"/>
                  </a:cubicBezTo>
                  <a:lnTo>
                    <a:pt x="263904" y="222163"/>
                  </a:lnTo>
                  <a:cubicBezTo>
                    <a:pt x="263265" y="222163"/>
                    <a:pt x="262626" y="222163"/>
                    <a:pt x="261348" y="221524"/>
                  </a:cubicBezTo>
                  <a:lnTo>
                    <a:pt x="261348" y="250252"/>
                  </a:lnTo>
                  <a:cubicBezTo>
                    <a:pt x="261348" y="254082"/>
                    <a:pt x="258792" y="256636"/>
                    <a:pt x="254958" y="256636"/>
                  </a:cubicBezTo>
                  <a:lnTo>
                    <a:pt x="72206" y="256636"/>
                  </a:lnTo>
                  <a:cubicBezTo>
                    <a:pt x="68372" y="256636"/>
                    <a:pt x="65816" y="254082"/>
                    <a:pt x="65816" y="250252"/>
                  </a:cubicBezTo>
                  <a:lnTo>
                    <a:pt x="65816" y="146193"/>
                  </a:lnTo>
                  <a:cubicBezTo>
                    <a:pt x="65816" y="142363"/>
                    <a:pt x="68372" y="139809"/>
                    <a:pt x="72206" y="139809"/>
                  </a:cubicBezTo>
                  <a:lnTo>
                    <a:pt x="100322" y="139809"/>
                  </a:lnTo>
                  <a:lnTo>
                    <a:pt x="100322" y="111720"/>
                  </a:lnTo>
                  <a:cubicBezTo>
                    <a:pt x="100322" y="107889"/>
                    <a:pt x="102878" y="105336"/>
                    <a:pt x="106712" y="105336"/>
                  </a:cubicBezTo>
                  <a:lnTo>
                    <a:pt x="289464" y="105336"/>
                  </a:lnTo>
                  <a:cubicBezTo>
                    <a:pt x="293298" y="105336"/>
                    <a:pt x="295854" y="107889"/>
                    <a:pt x="295854" y="111720"/>
                  </a:cubicBezTo>
                  <a:lnTo>
                    <a:pt x="295854" y="215779"/>
                  </a:lnTo>
                  <a:close/>
                </a:path>
              </a:pathLst>
            </a:custGeom>
            <a:grpFill/>
            <a:ln w="6390" cap="flat">
              <a:noFill/>
              <a:prstDash val="solid"/>
              <a:miter/>
            </a:ln>
          </p:spPr>
          <p:txBody>
            <a:bodyPr rtlCol="0" anchor="ctr"/>
            <a:lstStyle/>
            <a:p>
              <a:endParaRPr lang="en-US" sz="1200">
                <a:latin typeface="Verdana" panose="020B0604030504040204" pitchFamily="34" charset="0"/>
                <a:ea typeface="Verdana" panose="020B0604030504040204" pitchFamily="34" charset="0"/>
              </a:endParaRPr>
            </a:p>
          </p:txBody>
        </p:sp>
      </p:grpSp>
      <p:sp>
        <p:nvSpPr>
          <p:cNvPr id="29" name="TextBox 28">
            <a:extLst>
              <a:ext uri="{FF2B5EF4-FFF2-40B4-BE49-F238E27FC236}">
                <a16:creationId xmlns:a16="http://schemas.microsoft.com/office/drawing/2014/main" id="{43AD33D4-81A1-B754-A75F-D6F49E65B17C}"/>
              </a:ext>
            </a:extLst>
          </p:cNvPr>
          <p:cNvSpPr txBox="1"/>
          <p:nvPr/>
        </p:nvSpPr>
        <p:spPr>
          <a:xfrm>
            <a:off x="8623767" y="2241464"/>
            <a:ext cx="2480235" cy="276999"/>
          </a:xfrm>
          <a:prstGeom prst="rect">
            <a:avLst/>
          </a:prstGeom>
          <a:noFill/>
        </p:spPr>
        <p:txBody>
          <a:bodyPr wrap="square">
            <a:spAutoFit/>
          </a:bodyPr>
          <a:lstStyle/>
          <a:p>
            <a:pPr algn="ctr"/>
            <a:r>
              <a:rPr lang="en-US" sz="1200" kern="0">
                <a:solidFill>
                  <a:srgbClr val="00A3E0"/>
                </a:solidFill>
                <a:latin typeface="Verdana" panose="020B0604030504040204" pitchFamily="34" charset="0"/>
                <a:ea typeface="Verdana" panose="020B0604030504040204" pitchFamily="34" charset="0"/>
                <a:cs typeface="Arial" panose="020B0604020202020204" pitchFamily="34" charset="0"/>
              </a:rPr>
              <a:t>Technology &amp; Transformation</a:t>
            </a:r>
          </a:p>
        </p:txBody>
      </p:sp>
    </p:spTree>
    <p:extLst>
      <p:ext uri="{BB962C8B-B14F-4D97-AF65-F5344CB8AC3E}">
        <p14:creationId xmlns:p14="http://schemas.microsoft.com/office/powerpoint/2010/main" val="96083491"/>
      </p:ext>
    </p:extLst>
  </p:cSld>
  <p:clrMapOvr>
    <a:overrideClrMapping bg1="lt1" tx1="dk1" bg2="lt2" tx2="dk2" accent1="accent1" accent2="accent2" accent3="accent3" accent4="accent4" accent5="accent5" accent6="accent6" hlink="hlink" folHlink="folHlink"/>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7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Deloitte Offerings &amp; Credentials - </a:t>
            </a:r>
            <a:r>
              <a:rPr lang="en-IN" sz="700" b="1">
                <a:solidFill>
                  <a:prstClr val="black"/>
                </a:solidFill>
                <a:latin typeface="Verdana" panose="020B0604030504040204" pitchFamily="34" charset="0"/>
                <a:ea typeface="Verdana" panose="020B0604030504040204" pitchFamily="34" charset="0"/>
                <a:cs typeface="Arial" panose="020B0604020202020204" pitchFamily="34" charset="0"/>
              </a:rPr>
              <a:t>Market &amp; Regulatory Reforms </a:t>
            </a:r>
            <a:endParaRPr lang="en-US" sz="700" b="1">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23F314CA-3001-ED4B-65E5-DF115DF3A369}"/>
              </a:ext>
            </a:extLst>
          </p:cNvPr>
          <p:cNvSpPr txBox="1"/>
          <p:nvPr/>
        </p:nvSpPr>
        <p:spPr>
          <a:xfrm>
            <a:off x="479904" y="1068931"/>
            <a:ext cx="5026417" cy="317393"/>
          </a:xfrm>
          <a:prstGeom prst="rect">
            <a:avLst/>
          </a:prstGeom>
          <a:solidFill>
            <a:schemeClr val="accent4"/>
          </a:solidFill>
          <a:ln w="25400" cap="flat" cmpd="sng" algn="ctr">
            <a:noFill/>
            <a:prstDash val="solid"/>
          </a:ln>
          <a:effectLst/>
        </p:spPr>
        <p:txBody>
          <a:bodyPr wrap="none" lIns="0" tIns="0" rIns="0" bIns="0" rtlCol="0" anchor="ctr">
            <a:noAutofit/>
          </a:bodyPr>
          <a:lstStyle/>
          <a:p>
            <a:pPr marL="182563" marR="0" lvl="0" indent="0" algn="ctr" defTabSz="914400" eaLnBrk="1" fontAlgn="auto" latinLnBrk="0" hangingPunct="1">
              <a:lnSpc>
                <a:spcPct val="100000"/>
              </a:lnSpc>
              <a:spcBef>
                <a:spcPts val="0"/>
              </a:spcBef>
              <a:spcAft>
                <a:spcPts val="1333"/>
              </a:spcAft>
              <a:buClrTx/>
              <a:buSzPct val="100000"/>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Market and Regulatory Reforms</a:t>
            </a: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67" name="Rectangle 166">
            <a:extLst>
              <a:ext uri="{FF2B5EF4-FFF2-40B4-BE49-F238E27FC236}">
                <a16:creationId xmlns:a16="http://schemas.microsoft.com/office/drawing/2014/main" id="{A57A54D4-792F-55E5-FE1C-104BEEA7FD3B}"/>
              </a:ext>
            </a:extLst>
          </p:cNvPr>
          <p:cNvSpPr/>
          <p:nvPr/>
        </p:nvSpPr>
        <p:spPr bwMode="gray">
          <a:xfrm>
            <a:off x="1240325" y="1433889"/>
            <a:ext cx="3844022" cy="188998"/>
          </a:xfrm>
          <a:prstGeom prst="rect">
            <a:avLst/>
          </a:prstGeom>
          <a:no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700" b="1" i="1">
                <a:solidFill>
                  <a:srgbClr val="53565A"/>
                </a:solidFill>
                <a:latin typeface="Verdana" panose="020B0604030504040204" pitchFamily="34" charset="0"/>
                <a:ea typeface="Verdana" panose="020B0604030504040204" pitchFamily="34" charset="0"/>
                <a:cs typeface="Arial" panose="020B0604020202020204" pitchFamily="34" charset="0"/>
              </a:rPr>
              <a:t>Evolving Role of Market Players &amp; Market Reforms</a:t>
            </a:r>
          </a:p>
        </p:txBody>
      </p:sp>
      <p:sp>
        <p:nvSpPr>
          <p:cNvPr id="168" name="Rectangle 167">
            <a:extLst>
              <a:ext uri="{FF2B5EF4-FFF2-40B4-BE49-F238E27FC236}">
                <a16:creationId xmlns:a16="http://schemas.microsoft.com/office/drawing/2014/main" id="{712905E1-6009-2274-618B-E40B37BDDD70}"/>
              </a:ext>
            </a:extLst>
          </p:cNvPr>
          <p:cNvSpPr/>
          <p:nvPr/>
        </p:nvSpPr>
        <p:spPr bwMode="gray">
          <a:xfrm>
            <a:off x="402350" y="2022423"/>
            <a:ext cx="502160" cy="146469"/>
          </a:xfrm>
          <a:prstGeom prst="rect">
            <a:avLst/>
          </a:prstGeom>
          <a:no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700" b="1">
                <a:solidFill>
                  <a:prstClr val="black"/>
                </a:solidFill>
                <a:latin typeface="Verdana" panose="020B0604030504040204" pitchFamily="34" charset="0"/>
                <a:ea typeface="Verdana" panose="020B0604030504040204" pitchFamily="34" charset="0"/>
                <a:cs typeface="Arial" panose="020B0604020202020204" pitchFamily="34" charset="0"/>
              </a:rPr>
              <a:t>Now</a:t>
            </a:r>
          </a:p>
        </p:txBody>
      </p:sp>
      <p:sp>
        <p:nvSpPr>
          <p:cNvPr id="169" name="Rectangle 168">
            <a:extLst>
              <a:ext uri="{FF2B5EF4-FFF2-40B4-BE49-F238E27FC236}">
                <a16:creationId xmlns:a16="http://schemas.microsoft.com/office/drawing/2014/main" id="{73CB3CC9-3751-E30A-A898-C21377F5DCAC}"/>
              </a:ext>
            </a:extLst>
          </p:cNvPr>
          <p:cNvSpPr/>
          <p:nvPr/>
        </p:nvSpPr>
        <p:spPr bwMode="gray">
          <a:xfrm>
            <a:off x="402350" y="2520531"/>
            <a:ext cx="502160" cy="146469"/>
          </a:xfrm>
          <a:prstGeom prst="rect">
            <a:avLst/>
          </a:prstGeom>
          <a:no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700" b="1">
                <a:solidFill>
                  <a:prstClr val="black"/>
                </a:solidFill>
                <a:latin typeface="Verdana" panose="020B0604030504040204" pitchFamily="34" charset="0"/>
                <a:ea typeface="Verdana" panose="020B0604030504040204" pitchFamily="34" charset="0"/>
                <a:cs typeface="Arial" panose="020B0604020202020204" pitchFamily="34" charset="0"/>
              </a:rPr>
              <a:t>Future</a:t>
            </a:r>
          </a:p>
        </p:txBody>
      </p:sp>
      <p:sp>
        <p:nvSpPr>
          <p:cNvPr id="170" name="Rectangle 169">
            <a:extLst>
              <a:ext uri="{FF2B5EF4-FFF2-40B4-BE49-F238E27FC236}">
                <a16:creationId xmlns:a16="http://schemas.microsoft.com/office/drawing/2014/main" id="{C172882C-0FC5-7570-8637-B8E9D1868556}"/>
              </a:ext>
            </a:extLst>
          </p:cNvPr>
          <p:cNvSpPr/>
          <p:nvPr/>
        </p:nvSpPr>
        <p:spPr bwMode="gray">
          <a:xfrm>
            <a:off x="1905107" y="1737989"/>
            <a:ext cx="694803" cy="104259"/>
          </a:xfrm>
          <a:prstGeom prst="rect">
            <a:avLst/>
          </a:prstGeom>
          <a:noFill/>
          <a:ln w="19050" algn="ctr">
            <a:noFill/>
            <a:miter lim="800000"/>
            <a:headEnd/>
            <a:tailEnd/>
          </a:ln>
        </p:spPr>
        <p:txBody>
          <a:bodyPr wrap="square" lIns="0" tIns="0" rIns="0" bIns="0" rtlCol="0" anchor="ctr">
            <a:spAutoFit/>
          </a:bodyPr>
          <a:lstStyle/>
          <a:p>
            <a:pPr algn="ctr">
              <a:lnSpc>
                <a:spcPct val="106000"/>
              </a:lnSpc>
              <a:buFont typeface="Wingdings 2" pitchFamily="18" charset="2"/>
              <a:buNone/>
            </a:pPr>
            <a:r>
              <a:rPr lang="en-US" sz="700" b="1">
                <a:solidFill>
                  <a:prstClr val="black"/>
                </a:solidFill>
                <a:latin typeface="Verdana" panose="020B0604030504040204" pitchFamily="34" charset="0"/>
                <a:ea typeface="Verdana" panose="020B0604030504040204" pitchFamily="34" charset="0"/>
                <a:cs typeface="Arial" panose="020B0604020202020204" pitchFamily="34" charset="0"/>
              </a:rPr>
              <a:t>Transmission</a:t>
            </a:r>
          </a:p>
        </p:txBody>
      </p:sp>
      <p:sp>
        <p:nvSpPr>
          <p:cNvPr id="171" name="Rectangle 170">
            <a:extLst>
              <a:ext uri="{FF2B5EF4-FFF2-40B4-BE49-F238E27FC236}">
                <a16:creationId xmlns:a16="http://schemas.microsoft.com/office/drawing/2014/main" id="{72EF1740-33F1-3BD6-D29C-A25BE4B30868}"/>
              </a:ext>
            </a:extLst>
          </p:cNvPr>
          <p:cNvSpPr/>
          <p:nvPr/>
        </p:nvSpPr>
        <p:spPr bwMode="gray">
          <a:xfrm>
            <a:off x="2895699" y="1732102"/>
            <a:ext cx="631638" cy="104259"/>
          </a:xfrm>
          <a:prstGeom prst="rect">
            <a:avLst/>
          </a:prstGeom>
          <a:noFill/>
          <a:ln w="19050" algn="ctr">
            <a:noFill/>
            <a:miter lim="800000"/>
            <a:headEnd/>
            <a:tailEnd/>
          </a:ln>
        </p:spPr>
        <p:txBody>
          <a:bodyPr wrap="square" lIns="0" tIns="0" rIns="0" bIns="0" rtlCol="0" anchor="ctr">
            <a:spAutoFit/>
          </a:bodyPr>
          <a:lstStyle/>
          <a:p>
            <a:pPr algn="ctr">
              <a:lnSpc>
                <a:spcPct val="106000"/>
              </a:lnSpc>
              <a:buFont typeface="Wingdings 2" pitchFamily="18" charset="2"/>
              <a:buNone/>
            </a:pPr>
            <a:r>
              <a:rPr lang="en-US" sz="700" b="1">
                <a:solidFill>
                  <a:prstClr val="black"/>
                </a:solidFill>
                <a:latin typeface="Verdana" panose="020B0604030504040204" pitchFamily="34" charset="0"/>
                <a:ea typeface="Verdana" panose="020B0604030504040204" pitchFamily="34" charset="0"/>
                <a:cs typeface="Arial" panose="020B0604020202020204" pitchFamily="34" charset="0"/>
              </a:rPr>
              <a:t>Distribution</a:t>
            </a:r>
          </a:p>
        </p:txBody>
      </p:sp>
      <p:sp>
        <p:nvSpPr>
          <p:cNvPr id="172" name="Rectangle 171">
            <a:extLst>
              <a:ext uri="{FF2B5EF4-FFF2-40B4-BE49-F238E27FC236}">
                <a16:creationId xmlns:a16="http://schemas.microsoft.com/office/drawing/2014/main" id="{F286C1EA-8DB4-4AA4-EF41-71B2E49795B4}"/>
              </a:ext>
            </a:extLst>
          </p:cNvPr>
          <p:cNvSpPr/>
          <p:nvPr/>
        </p:nvSpPr>
        <p:spPr bwMode="gray">
          <a:xfrm>
            <a:off x="956892" y="2454841"/>
            <a:ext cx="773465" cy="482237"/>
          </a:xfrm>
          <a:prstGeom prst="rect">
            <a:avLst/>
          </a:prstGeom>
          <a:solidFill>
            <a:srgbClr val="86BC25"/>
          </a:soli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Renewable</a:t>
            </a:r>
          </a:p>
        </p:txBody>
      </p:sp>
      <p:sp>
        <p:nvSpPr>
          <p:cNvPr id="173" name="Rectangle 172">
            <a:extLst>
              <a:ext uri="{FF2B5EF4-FFF2-40B4-BE49-F238E27FC236}">
                <a16:creationId xmlns:a16="http://schemas.microsoft.com/office/drawing/2014/main" id="{62EA1D99-E9FC-938B-3AA5-6E4F0E70C1B7}"/>
              </a:ext>
            </a:extLst>
          </p:cNvPr>
          <p:cNvSpPr/>
          <p:nvPr/>
        </p:nvSpPr>
        <p:spPr bwMode="gray">
          <a:xfrm>
            <a:off x="956892" y="1885258"/>
            <a:ext cx="773465" cy="482237"/>
          </a:xfrm>
          <a:prstGeom prst="rect">
            <a:avLst/>
          </a:prstGeom>
          <a:solidFill>
            <a:srgbClr val="007CB0"/>
          </a:solidFill>
          <a:ln w="19050" algn="ctr">
            <a:noFill/>
            <a:miter lim="800000"/>
            <a:headEnd/>
            <a:tailEnd/>
          </a:ln>
        </p:spPr>
        <p:txBody>
          <a:bodyPr wrap="square" lIns="88900" tIns="88900" rIns="8890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Fossil</a:t>
            </a:r>
          </a:p>
        </p:txBody>
      </p:sp>
      <p:sp>
        <p:nvSpPr>
          <p:cNvPr id="174" name="Freeform 88">
            <a:extLst>
              <a:ext uri="{FF2B5EF4-FFF2-40B4-BE49-F238E27FC236}">
                <a16:creationId xmlns:a16="http://schemas.microsoft.com/office/drawing/2014/main" id="{1C17DF9D-CF84-9660-5F2B-7694D1529875}"/>
              </a:ext>
            </a:extLst>
          </p:cNvPr>
          <p:cNvSpPr>
            <a:spLocks noEditPoints="1"/>
          </p:cNvSpPr>
          <p:nvPr/>
        </p:nvSpPr>
        <p:spPr bwMode="auto">
          <a:xfrm>
            <a:off x="1253582" y="1932049"/>
            <a:ext cx="205246" cy="262122"/>
          </a:xfrm>
          <a:custGeom>
            <a:avLst/>
            <a:gdLst>
              <a:gd name="T0" fmla="*/ 214 w 251"/>
              <a:gd name="T1" fmla="*/ 117 h 320"/>
              <a:gd name="T2" fmla="*/ 203 w 251"/>
              <a:gd name="T3" fmla="*/ 117 h 320"/>
              <a:gd name="T4" fmla="*/ 192 w 251"/>
              <a:gd name="T5" fmla="*/ 106 h 320"/>
              <a:gd name="T6" fmla="*/ 203 w 251"/>
              <a:gd name="T7" fmla="*/ 96 h 320"/>
              <a:gd name="T8" fmla="*/ 214 w 251"/>
              <a:gd name="T9" fmla="*/ 96 h 320"/>
              <a:gd name="T10" fmla="*/ 230 w 251"/>
              <a:gd name="T11" fmla="*/ 80 h 320"/>
              <a:gd name="T12" fmla="*/ 214 w 251"/>
              <a:gd name="T13" fmla="*/ 64 h 320"/>
              <a:gd name="T14" fmla="*/ 203 w 251"/>
              <a:gd name="T15" fmla="*/ 53 h 320"/>
              <a:gd name="T16" fmla="*/ 171 w 251"/>
              <a:gd name="T17" fmla="*/ 21 h 320"/>
              <a:gd name="T18" fmla="*/ 140 w 251"/>
              <a:gd name="T19" fmla="*/ 47 h 320"/>
              <a:gd name="T20" fmla="*/ 134 w 251"/>
              <a:gd name="T21" fmla="*/ 54 h 320"/>
              <a:gd name="T22" fmla="*/ 125 w 251"/>
              <a:gd name="T23" fmla="*/ 54 h 320"/>
              <a:gd name="T24" fmla="*/ 96 w 251"/>
              <a:gd name="T25" fmla="*/ 74 h 320"/>
              <a:gd name="T26" fmla="*/ 86 w 251"/>
              <a:gd name="T27" fmla="*/ 85 h 320"/>
              <a:gd name="T28" fmla="*/ 75 w 251"/>
              <a:gd name="T29" fmla="*/ 74 h 320"/>
              <a:gd name="T30" fmla="*/ 122 w 251"/>
              <a:gd name="T31" fmla="*/ 32 h 320"/>
              <a:gd name="T32" fmla="*/ 171 w 251"/>
              <a:gd name="T33" fmla="*/ 0 h 320"/>
              <a:gd name="T34" fmla="*/ 224 w 251"/>
              <a:gd name="T35" fmla="*/ 44 h 320"/>
              <a:gd name="T36" fmla="*/ 251 w 251"/>
              <a:gd name="T37" fmla="*/ 80 h 320"/>
              <a:gd name="T38" fmla="*/ 214 w 251"/>
              <a:gd name="T39" fmla="*/ 117 h 320"/>
              <a:gd name="T40" fmla="*/ 192 w 251"/>
              <a:gd name="T41" fmla="*/ 316 h 320"/>
              <a:gd name="T42" fmla="*/ 194 w 251"/>
              <a:gd name="T43" fmla="*/ 307 h 320"/>
              <a:gd name="T44" fmla="*/ 171 w 251"/>
              <a:gd name="T45" fmla="*/ 191 h 320"/>
              <a:gd name="T46" fmla="*/ 171 w 251"/>
              <a:gd name="T47" fmla="*/ 128 h 320"/>
              <a:gd name="T48" fmla="*/ 164 w 251"/>
              <a:gd name="T49" fmla="*/ 118 h 320"/>
              <a:gd name="T50" fmla="*/ 96 w 251"/>
              <a:gd name="T51" fmla="*/ 106 h 320"/>
              <a:gd name="T52" fmla="*/ 29 w 251"/>
              <a:gd name="T53" fmla="*/ 118 h 320"/>
              <a:gd name="T54" fmla="*/ 22 w 251"/>
              <a:gd name="T55" fmla="*/ 128 h 320"/>
              <a:gd name="T56" fmla="*/ 22 w 251"/>
              <a:gd name="T57" fmla="*/ 191 h 320"/>
              <a:gd name="T58" fmla="*/ 1 w 251"/>
              <a:gd name="T59" fmla="*/ 307 h 320"/>
              <a:gd name="T60" fmla="*/ 3 w 251"/>
              <a:gd name="T61" fmla="*/ 316 h 320"/>
              <a:gd name="T62" fmla="*/ 11 w 251"/>
              <a:gd name="T63" fmla="*/ 320 h 320"/>
              <a:gd name="T64" fmla="*/ 183 w 251"/>
              <a:gd name="T65" fmla="*/ 320 h 320"/>
              <a:gd name="T66" fmla="*/ 192 w 251"/>
              <a:gd name="T67" fmla="*/ 316 h 320"/>
              <a:gd name="T68" fmla="*/ 43 w 251"/>
              <a:gd name="T69" fmla="*/ 194 h 320"/>
              <a:gd name="T70" fmla="*/ 43 w 251"/>
              <a:gd name="T71" fmla="*/ 192 h 320"/>
              <a:gd name="T72" fmla="*/ 43 w 251"/>
              <a:gd name="T73" fmla="*/ 136 h 320"/>
              <a:gd name="T74" fmla="*/ 96 w 251"/>
              <a:gd name="T75" fmla="*/ 128 h 320"/>
              <a:gd name="T76" fmla="*/ 150 w 251"/>
              <a:gd name="T77" fmla="*/ 136 h 320"/>
              <a:gd name="T78" fmla="*/ 150 w 251"/>
              <a:gd name="T79" fmla="*/ 192 h 320"/>
              <a:gd name="T80" fmla="*/ 150 w 251"/>
              <a:gd name="T81" fmla="*/ 194 h 320"/>
              <a:gd name="T82" fmla="*/ 170 w 251"/>
              <a:gd name="T83" fmla="*/ 298 h 320"/>
              <a:gd name="T84" fmla="*/ 24 w 251"/>
              <a:gd name="T85" fmla="*/ 298 h 320"/>
              <a:gd name="T86" fmla="*/ 43 w 251"/>
              <a:gd name="T87" fmla="*/ 19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1" h="320">
                <a:moveTo>
                  <a:pt x="214" y="117"/>
                </a:moveTo>
                <a:cubicBezTo>
                  <a:pt x="203" y="117"/>
                  <a:pt x="203" y="117"/>
                  <a:pt x="203" y="117"/>
                </a:cubicBezTo>
                <a:cubicBezTo>
                  <a:pt x="197" y="117"/>
                  <a:pt x="192" y="112"/>
                  <a:pt x="192" y="106"/>
                </a:cubicBezTo>
                <a:cubicBezTo>
                  <a:pt x="192" y="100"/>
                  <a:pt x="197" y="96"/>
                  <a:pt x="203" y="96"/>
                </a:cubicBezTo>
                <a:cubicBezTo>
                  <a:pt x="214" y="96"/>
                  <a:pt x="214" y="96"/>
                  <a:pt x="214" y="96"/>
                </a:cubicBezTo>
                <a:cubicBezTo>
                  <a:pt x="222" y="96"/>
                  <a:pt x="230" y="88"/>
                  <a:pt x="230" y="80"/>
                </a:cubicBezTo>
                <a:cubicBezTo>
                  <a:pt x="230" y="71"/>
                  <a:pt x="222" y="64"/>
                  <a:pt x="214" y="64"/>
                </a:cubicBezTo>
                <a:cubicBezTo>
                  <a:pt x="208" y="64"/>
                  <a:pt x="203" y="59"/>
                  <a:pt x="203" y="53"/>
                </a:cubicBezTo>
                <a:cubicBezTo>
                  <a:pt x="203" y="35"/>
                  <a:pt x="189" y="21"/>
                  <a:pt x="171" y="21"/>
                </a:cubicBezTo>
                <a:cubicBezTo>
                  <a:pt x="156" y="21"/>
                  <a:pt x="143" y="32"/>
                  <a:pt x="140" y="47"/>
                </a:cubicBezTo>
                <a:cubicBezTo>
                  <a:pt x="139" y="50"/>
                  <a:pt x="137" y="52"/>
                  <a:pt x="134" y="54"/>
                </a:cubicBezTo>
                <a:cubicBezTo>
                  <a:pt x="132" y="55"/>
                  <a:pt x="128" y="56"/>
                  <a:pt x="125" y="54"/>
                </a:cubicBezTo>
                <a:cubicBezTo>
                  <a:pt x="111" y="49"/>
                  <a:pt x="96" y="60"/>
                  <a:pt x="96" y="74"/>
                </a:cubicBezTo>
                <a:cubicBezTo>
                  <a:pt x="96" y="80"/>
                  <a:pt x="92" y="85"/>
                  <a:pt x="86" y="85"/>
                </a:cubicBezTo>
                <a:cubicBezTo>
                  <a:pt x="80" y="85"/>
                  <a:pt x="75" y="80"/>
                  <a:pt x="75" y="74"/>
                </a:cubicBezTo>
                <a:cubicBezTo>
                  <a:pt x="75" y="49"/>
                  <a:pt x="97" y="29"/>
                  <a:pt x="122" y="32"/>
                </a:cubicBezTo>
                <a:cubicBezTo>
                  <a:pt x="130" y="13"/>
                  <a:pt x="149" y="0"/>
                  <a:pt x="171" y="0"/>
                </a:cubicBezTo>
                <a:cubicBezTo>
                  <a:pt x="197" y="0"/>
                  <a:pt x="219" y="19"/>
                  <a:pt x="224" y="44"/>
                </a:cubicBezTo>
                <a:cubicBezTo>
                  <a:pt x="239" y="48"/>
                  <a:pt x="251" y="62"/>
                  <a:pt x="251" y="80"/>
                </a:cubicBezTo>
                <a:cubicBezTo>
                  <a:pt x="251" y="100"/>
                  <a:pt x="234" y="117"/>
                  <a:pt x="214" y="117"/>
                </a:cubicBezTo>
                <a:close/>
                <a:moveTo>
                  <a:pt x="192" y="316"/>
                </a:moveTo>
                <a:cubicBezTo>
                  <a:pt x="194" y="313"/>
                  <a:pt x="195" y="310"/>
                  <a:pt x="194" y="307"/>
                </a:cubicBezTo>
                <a:cubicBezTo>
                  <a:pt x="171" y="191"/>
                  <a:pt x="171" y="191"/>
                  <a:pt x="171" y="191"/>
                </a:cubicBezTo>
                <a:cubicBezTo>
                  <a:pt x="171" y="128"/>
                  <a:pt x="171" y="128"/>
                  <a:pt x="171" y="128"/>
                </a:cubicBezTo>
                <a:cubicBezTo>
                  <a:pt x="171" y="123"/>
                  <a:pt x="168" y="119"/>
                  <a:pt x="164" y="118"/>
                </a:cubicBezTo>
                <a:cubicBezTo>
                  <a:pt x="162" y="117"/>
                  <a:pt x="129" y="106"/>
                  <a:pt x="96" y="106"/>
                </a:cubicBezTo>
                <a:cubicBezTo>
                  <a:pt x="63" y="106"/>
                  <a:pt x="30" y="117"/>
                  <a:pt x="29" y="118"/>
                </a:cubicBezTo>
                <a:cubicBezTo>
                  <a:pt x="25" y="119"/>
                  <a:pt x="22" y="123"/>
                  <a:pt x="22" y="128"/>
                </a:cubicBezTo>
                <a:cubicBezTo>
                  <a:pt x="22" y="191"/>
                  <a:pt x="22" y="191"/>
                  <a:pt x="22" y="191"/>
                </a:cubicBezTo>
                <a:cubicBezTo>
                  <a:pt x="1" y="307"/>
                  <a:pt x="1" y="307"/>
                  <a:pt x="1" y="307"/>
                </a:cubicBezTo>
                <a:cubicBezTo>
                  <a:pt x="0" y="310"/>
                  <a:pt x="1" y="313"/>
                  <a:pt x="3" y="316"/>
                </a:cubicBezTo>
                <a:cubicBezTo>
                  <a:pt x="5" y="318"/>
                  <a:pt x="8" y="320"/>
                  <a:pt x="11" y="320"/>
                </a:cubicBezTo>
                <a:cubicBezTo>
                  <a:pt x="183" y="320"/>
                  <a:pt x="183" y="320"/>
                  <a:pt x="183" y="320"/>
                </a:cubicBezTo>
                <a:cubicBezTo>
                  <a:pt x="187" y="320"/>
                  <a:pt x="190" y="318"/>
                  <a:pt x="192" y="316"/>
                </a:cubicBezTo>
                <a:close/>
                <a:moveTo>
                  <a:pt x="43" y="194"/>
                </a:moveTo>
                <a:cubicBezTo>
                  <a:pt x="43" y="193"/>
                  <a:pt x="43" y="192"/>
                  <a:pt x="43" y="192"/>
                </a:cubicBezTo>
                <a:cubicBezTo>
                  <a:pt x="43" y="136"/>
                  <a:pt x="43" y="136"/>
                  <a:pt x="43" y="136"/>
                </a:cubicBezTo>
                <a:cubicBezTo>
                  <a:pt x="54" y="133"/>
                  <a:pt x="75" y="128"/>
                  <a:pt x="96" y="128"/>
                </a:cubicBezTo>
                <a:cubicBezTo>
                  <a:pt x="117" y="128"/>
                  <a:pt x="139" y="133"/>
                  <a:pt x="150" y="136"/>
                </a:cubicBezTo>
                <a:cubicBezTo>
                  <a:pt x="150" y="192"/>
                  <a:pt x="150" y="192"/>
                  <a:pt x="150" y="192"/>
                </a:cubicBezTo>
                <a:cubicBezTo>
                  <a:pt x="150" y="192"/>
                  <a:pt x="150" y="193"/>
                  <a:pt x="150" y="194"/>
                </a:cubicBezTo>
                <a:cubicBezTo>
                  <a:pt x="170" y="298"/>
                  <a:pt x="170" y="298"/>
                  <a:pt x="170" y="298"/>
                </a:cubicBezTo>
                <a:cubicBezTo>
                  <a:pt x="24" y="298"/>
                  <a:pt x="24" y="298"/>
                  <a:pt x="24" y="298"/>
                </a:cubicBezTo>
                <a:lnTo>
                  <a:pt x="43" y="194"/>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75" name="Rectangle 174">
            <a:extLst>
              <a:ext uri="{FF2B5EF4-FFF2-40B4-BE49-F238E27FC236}">
                <a16:creationId xmlns:a16="http://schemas.microsoft.com/office/drawing/2014/main" id="{4B4C62EA-6D34-48C9-B895-5C73F1A559B6}"/>
              </a:ext>
            </a:extLst>
          </p:cNvPr>
          <p:cNvSpPr/>
          <p:nvPr/>
        </p:nvSpPr>
        <p:spPr bwMode="gray">
          <a:xfrm>
            <a:off x="1056515" y="1743182"/>
            <a:ext cx="713934" cy="104259"/>
          </a:xfrm>
          <a:prstGeom prst="rect">
            <a:avLst/>
          </a:prstGeom>
          <a:noFill/>
          <a:ln w="19050" algn="ctr">
            <a:noFill/>
            <a:miter lim="800000"/>
            <a:headEnd/>
            <a:tailEnd/>
          </a:ln>
        </p:spPr>
        <p:txBody>
          <a:bodyPr wrap="square" lIns="0" tIns="0" rIns="0" bIns="0" rtlCol="0" anchor="ctr">
            <a:spAutoFit/>
          </a:bodyPr>
          <a:lstStyle/>
          <a:p>
            <a:pPr algn="ctr">
              <a:lnSpc>
                <a:spcPct val="106000"/>
              </a:lnSpc>
              <a:buFont typeface="Wingdings 2" pitchFamily="18" charset="2"/>
              <a:buNone/>
            </a:pPr>
            <a:r>
              <a:rPr lang="en-US" sz="700" b="1" dirty="0">
                <a:solidFill>
                  <a:prstClr val="black"/>
                </a:solidFill>
                <a:latin typeface="Verdana" panose="020B0604030504040204" pitchFamily="34" charset="0"/>
                <a:ea typeface="Verdana" panose="020B0604030504040204" pitchFamily="34" charset="0"/>
                <a:cs typeface="Arial" panose="020B0604020202020204" pitchFamily="34" charset="0"/>
              </a:rPr>
              <a:t>Generation</a:t>
            </a:r>
          </a:p>
        </p:txBody>
      </p:sp>
      <p:sp>
        <p:nvSpPr>
          <p:cNvPr id="176" name="Rectangle 175">
            <a:extLst>
              <a:ext uri="{FF2B5EF4-FFF2-40B4-BE49-F238E27FC236}">
                <a16:creationId xmlns:a16="http://schemas.microsoft.com/office/drawing/2014/main" id="{F2F64D64-3038-C282-8D1B-7420792EE250}"/>
              </a:ext>
            </a:extLst>
          </p:cNvPr>
          <p:cNvSpPr/>
          <p:nvPr/>
        </p:nvSpPr>
        <p:spPr bwMode="gray">
          <a:xfrm>
            <a:off x="1889127" y="1888375"/>
            <a:ext cx="773465" cy="482237"/>
          </a:xfrm>
          <a:prstGeom prst="rect">
            <a:avLst/>
          </a:prstGeom>
          <a:solidFill>
            <a:srgbClr val="007CB0"/>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Base-load</a:t>
            </a:r>
          </a:p>
        </p:txBody>
      </p:sp>
      <p:grpSp>
        <p:nvGrpSpPr>
          <p:cNvPr id="177" name="Group 176">
            <a:extLst>
              <a:ext uri="{FF2B5EF4-FFF2-40B4-BE49-F238E27FC236}">
                <a16:creationId xmlns:a16="http://schemas.microsoft.com/office/drawing/2014/main" id="{9E8952F3-A019-7931-58AC-FBE385C5B8D3}"/>
              </a:ext>
            </a:extLst>
          </p:cNvPr>
          <p:cNvGrpSpPr/>
          <p:nvPr/>
        </p:nvGrpSpPr>
        <p:grpSpPr>
          <a:xfrm>
            <a:off x="2103072" y="1933303"/>
            <a:ext cx="352451" cy="264339"/>
            <a:chOff x="2974262" y="4155935"/>
            <a:chExt cx="682569" cy="450340"/>
          </a:xfrm>
          <a:solidFill>
            <a:sysClr val="window" lastClr="FFFFFF"/>
          </a:solidFill>
        </p:grpSpPr>
        <p:sp>
          <p:nvSpPr>
            <p:cNvPr id="178" name="Freeform 185">
              <a:extLst>
                <a:ext uri="{FF2B5EF4-FFF2-40B4-BE49-F238E27FC236}">
                  <a16:creationId xmlns:a16="http://schemas.microsoft.com/office/drawing/2014/main" id="{B5EF01E1-6ED5-5D51-6A12-28389611C155}"/>
                </a:ext>
              </a:extLst>
            </p:cNvPr>
            <p:cNvSpPr>
              <a:spLocks noEditPoints="1"/>
            </p:cNvSpPr>
            <p:nvPr/>
          </p:nvSpPr>
          <p:spPr bwMode="auto">
            <a:xfrm>
              <a:off x="2974262" y="4284605"/>
              <a:ext cx="273608" cy="321670"/>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p:spPr>
          <p:txBody>
            <a:bodyPr vert="horz" wrap="square" lIns="91439" tIns="45720" rIns="91439" bIns="45720" numCol="1" anchor="t" anchorCtr="0" compatLnSpc="1">
              <a:prstTxWarp prst="textNoShape">
                <a:avLst/>
              </a:prstTxWarp>
            </a:bodyPr>
            <a:lstStyle/>
            <a:p>
              <a:pPr marL="0" marR="0" lvl="0" indent="0" defTabSz="914403"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5C5C5C"/>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79" name="Freeform 185">
              <a:extLst>
                <a:ext uri="{FF2B5EF4-FFF2-40B4-BE49-F238E27FC236}">
                  <a16:creationId xmlns:a16="http://schemas.microsoft.com/office/drawing/2014/main" id="{7B3A9CF3-1C75-C2C4-6CB3-82B553886F81}"/>
                </a:ext>
              </a:extLst>
            </p:cNvPr>
            <p:cNvSpPr>
              <a:spLocks noEditPoints="1"/>
            </p:cNvSpPr>
            <p:nvPr/>
          </p:nvSpPr>
          <p:spPr bwMode="auto">
            <a:xfrm>
              <a:off x="3273780" y="4155935"/>
              <a:ext cx="383051" cy="450337"/>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p:spPr>
          <p:txBody>
            <a:bodyPr vert="horz" wrap="square" lIns="91439" tIns="45720" rIns="91439" bIns="45720" numCol="1" anchor="t" anchorCtr="0" compatLnSpc="1">
              <a:prstTxWarp prst="textNoShape">
                <a:avLst/>
              </a:prstTxWarp>
            </a:bodyPr>
            <a:lstStyle/>
            <a:p>
              <a:pPr marL="0" marR="0" lvl="0" indent="0" defTabSz="914403"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5C5C5C"/>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grpSp>
        <p:nvGrpSpPr>
          <p:cNvPr id="180" name="Group 179">
            <a:extLst>
              <a:ext uri="{FF2B5EF4-FFF2-40B4-BE49-F238E27FC236}">
                <a16:creationId xmlns:a16="http://schemas.microsoft.com/office/drawing/2014/main" id="{BB961115-7F76-5AF0-6AB4-32071BC5A4C0}"/>
              </a:ext>
            </a:extLst>
          </p:cNvPr>
          <p:cNvGrpSpPr>
            <a:grpSpLocks noChangeAspect="1"/>
          </p:cNvGrpSpPr>
          <p:nvPr/>
        </p:nvGrpSpPr>
        <p:grpSpPr>
          <a:xfrm>
            <a:off x="1417720" y="2478547"/>
            <a:ext cx="244944" cy="264338"/>
            <a:chOff x="2131557" y="3941199"/>
            <a:chExt cx="443385" cy="485133"/>
          </a:xfrm>
          <a:solidFill>
            <a:sysClr val="window" lastClr="FFFFFF"/>
          </a:solidFill>
        </p:grpSpPr>
        <p:sp>
          <p:nvSpPr>
            <p:cNvPr id="181" name="object 134">
              <a:extLst>
                <a:ext uri="{FF2B5EF4-FFF2-40B4-BE49-F238E27FC236}">
                  <a16:creationId xmlns:a16="http://schemas.microsoft.com/office/drawing/2014/main" id="{E7B91FE5-25B0-3885-95F7-030D4E06B064}"/>
                </a:ext>
              </a:extLst>
            </p:cNvPr>
            <p:cNvSpPr/>
            <p:nvPr/>
          </p:nvSpPr>
          <p:spPr>
            <a:xfrm>
              <a:off x="2131557" y="4119709"/>
              <a:ext cx="443385" cy="238748"/>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2" name="object 135">
              <a:extLst>
                <a:ext uri="{FF2B5EF4-FFF2-40B4-BE49-F238E27FC236}">
                  <a16:creationId xmlns:a16="http://schemas.microsoft.com/office/drawing/2014/main" id="{5E296908-7F3A-483E-9653-F8B5558A949D}"/>
                </a:ext>
              </a:extLst>
            </p:cNvPr>
            <p:cNvSpPr/>
            <p:nvPr/>
          </p:nvSpPr>
          <p:spPr>
            <a:xfrm>
              <a:off x="2267529" y="4375172"/>
              <a:ext cx="170533" cy="51160"/>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3" name="object 136">
              <a:extLst>
                <a:ext uri="{FF2B5EF4-FFF2-40B4-BE49-F238E27FC236}">
                  <a16:creationId xmlns:a16="http://schemas.microsoft.com/office/drawing/2014/main" id="{48282311-FE46-6267-053F-115A149F370D}"/>
                </a:ext>
              </a:extLst>
            </p:cNvPr>
            <p:cNvSpPr>
              <a:spLocks noChangeAspect="1"/>
            </p:cNvSpPr>
            <p:nvPr/>
          </p:nvSpPr>
          <p:spPr>
            <a:xfrm>
              <a:off x="2213785" y="3941199"/>
              <a:ext cx="277114" cy="166272"/>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4" name="object 137">
              <a:extLst>
                <a:ext uri="{FF2B5EF4-FFF2-40B4-BE49-F238E27FC236}">
                  <a16:creationId xmlns:a16="http://schemas.microsoft.com/office/drawing/2014/main" id="{70D3661E-C00D-8521-4FEE-6D8DB59ED4AC}"/>
                </a:ext>
              </a:extLst>
            </p:cNvPr>
            <p:cNvSpPr/>
            <p:nvPr/>
          </p:nvSpPr>
          <p:spPr>
            <a:xfrm>
              <a:off x="2316342" y="4238622"/>
              <a:ext cx="72864" cy="51160"/>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5" name="object 138">
              <a:extLst>
                <a:ext uri="{FF2B5EF4-FFF2-40B4-BE49-F238E27FC236}">
                  <a16:creationId xmlns:a16="http://schemas.microsoft.com/office/drawing/2014/main" id="{75070136-C268-1CFE-C515-1031BBE767F6}"/>
                </a:ext>
              </a:extLst>
            </p:cNvPr>
            <p:cNvSpPr/>
            <p:nvPr/>
          </p:nvSpPr>
          <p:spPr>
            <a:xfrm>
              <a:off x="2324469" y="4141457"/>
              <a:ext cx="173475" cy="149799"/>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6" name="object 139">
              <a:extLst>
                <a:ext uri="{FF2B5EF4-FFF2-40B4-BE49-F238E27FC236}">
                  <a16:creationId xmlns:a16="http://schemas.microsoft.com/office/drawing/2014/main" id="{22638AE5-3146-CF2A-A34A-3C6CD5A49D7E}"/>
                </a:ext>
              </a:extLst>
            </p:cNvPr>
            <p:cNvSpPr/>
            <p:nvPr/>
          </p:nvSpPr>
          <p:spPr>
            <a:xfrm>
              <a:off x="2207888" y="4238569"/>
              <a:ext cx="79063" cy="51160"/>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7" name="object 140">
              <a:extLst>
                <a:ext uri="{FF2B5EF4-FFF2-40B4-BE49-F238E27FC236}">
                  <a16:creationId xmlns:a16="http://schemas.microsoft.com/office/drawing/2014/main" id="{F273C023-ED6C-A8E8-DB26-FF8DCFB97802}"/>
                </a:ext>
              </a:extLst>
            </p:cNvPr>
            <p:cNvSpPr/>
            <p:nvPr/>
          </p:nvSpPr>
          <p:spPr>
            <a:xfrm>
              <a:off x="2410200" y="4170953"/>
              <a:ext cx="68213" cy="41858"/>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8" name="object 142">
              <a:extLst>
                <a:ext uri="{FF2B5EF4-FFF2-40B4-BE49-F238E27FC236}">
                  <a16:creationId xmlns:a16="http://schemas.microsoft.com/office/drawing/2014/main" id="{0E9CC3C5-4810-96C7-5EB0-9AF725EA8F24}"/>
                </a:ext>
              </a:extLst>
            </p:cNvPr>
            <p:cNvSpPr/>
            <p:nvPr/>
          </p:nvSpPr>
          <p:spPr>
            <a:xfrm>
              <a:off x="2227668" y="4170929"/>
              <a:ext cx="68213" cy="41858"/>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9" name="object 137">
              <a:extLst>
                <a:ext uri="{FF2B5EF4-FFF2-40B4-BE49-F238E27FC236}">
                  <a16:creationId xmlns:a16="http://schemas.microsoft.com/office/drawing/2014/main" id="{8845DB6A-C2DD-20B6-5DB9-68A01363047E}"/>
                </a:ext>
              </a:extLst>
            </p:cNvPr>
            <p:cNvSpPr/>
            <p:nvPr/>
          </p:nvSpPr>
          <p:spPr>
            <a:xfrm>
              <a:off x="2316339" y="4169018"/>
              <a:ext cx="72864" cy="42863"/>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sp>
        <p:nvSpPr>
          <p:cNvPr id="190" name="Rectangle 189">
            <a:extLst>
              <a:ext uri="{FF2B5EF4-FFF2-40B4-BE49-F238E27FC236}">
                <a16:creationId xmlns:a16="http://schemas.microsoft.com/office/drawing/2014/main" id="{934C4011-E85F-48B2-83B8-1DC83513F1BA}"/>
              </a:ext>
            </a:extLst>
          </p:cNvPr>
          <p:cNvSpPr/>
          <p:nvPr/>
        </p:nvSpPr>
        <p:spPr bwMode="gray">
          <a:xfrm>
            <a:off x="2821362" y="1888375"/>
            <a:ext cx="773465" cy="482237"/>
          </a:xfrm>
          <a:prstGeom prst="rect">
            <a:avLst/>
          </a:prstGeom>
          <a:solidFill>
            <a:srgbClr val="007CB0"/>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One-Way</a:t>
            </a:r>
          </a:p>
        </p:txBody>
      </p:sp>
      <p:grpSp>
        <p:nvGrpSpPr>
          <p:cNvPr id="191" name="Group 190">
            <a:extLst>
              <a:ext uri="{FF2B5EF4-FFF2-40B4-BE49-F238E27FC236}">
                <a16:creationId xmlns:a16="http://schemas.microsoft.com/office/drawing/2014/main" id="{3EE7E50B-8DBE-4973-7D4B-76B199939A1D}"/>
              </a:ext>
            </a:extLst>
          </p:cNvPr>
          <p:cNvGrpSpPr/>
          <p:nvPr/>
        </p:nvGrpSpPr>
        <p:grpSpPr>
          <a:xfrm>
            <a:off x="3083273" y="1945829"/>
            <a:ext cx="326658" cy="229833"/>
            <a:chOff x="2587935" y="1943318"/>
            <a:chExt cx="285667" cy="200992"/>
          </a:xfrm>
        </p:grpSpPr>
        <p:sp>
          <p:nvSpPr>
            <p:cNvPr id="192" name="Arrow: Right 191">
              <a:extLst>
                <a:ext uri="{FF2B5EF4-FFF2-40B4-BE49-F238E27FC236}">
                  <a16:creationId xmlns:a16="http://schemas.microsoft.com/office/drawing/2014/main" id="{76F70E05-8E49-288A-63BF-2D96452F5FFD}"/>
                </a:ext>
              </a:extLst>
            </p:cNvPr>
            <p:cNvSpPr/>
            <p:nvPr/>
          </p:nvSpPr>
          <p:spPr bwMode="gray">
            <a:xfrm>
              <a:off x="2587935" y="1943318"/>
              <a:ext cx="285667" cy="200992"/>
            </a:xfrm>
            <a:prstGeom prst="rightArrow">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93" name="Lightning Bolt 192">
              <a:extLst>
                <a:ext uri="{FF2B5EF4-FFF2-40B4-BE49-F238E27FC236}">
                  <a16:creationId xmlns:a16="http://schemas.microsoft.com/office/drawing/2014/main" id="{6848D05F-E3F4-B733-5D22-72D4DE575EEC}"/>
                </a:ext>
              </a:extLst>
            </p:cNvPr>
            <p:cNvSpPr/>
            <p:nvPr/>
          </p:nvSpPr>
          <p:spPr bwMode="gray">
            <a:xfrm rot="1751820">
              <a:off x="2674974" y="1996214"/>
              <a:ext cx="66029" cy="90571"/>
            </a:xfrm>
            <a:prstGeom prst="lightningBolt">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sp>
        <p:nvSpPr>
          <p:cNvPr id="194" name="Rectangle 193">
            <a:extLst>
              <a:ext uri="{FF2B5EF4-FFF2-40B4-BE49-F238E27FC236}">
                <a16:creationId xmlns:a16="http://schemas.microsoft.com/office/drawing/2014/main" id="{07126EB4-6837-FAD4-2D6A-51C11165FFF9}"/>
              </a:ext>
            </a:extLst>
          </p:cNvPr>
          <p:cNvSpPr/>
          <p:nvPr/>
        </p:nvSpPr>
        <p:spPr bwMode="gray">
          <a:xfrm>
            <a:off x="3753597" y="1885258"/>
            <a:ext cx="773465" cy="482237"/>
          </a:xfrm>
          <a:prstGeom prst="rect">
            <a:avLst/>
          </a:prstGeom>
          <a:solidFill>
            <a:srgbClr val="007CB0"/>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Provider</a:t>
            </a:r>
          </a:p>
        </p:txBody>
      </p:sp>
      <p:sp>
        <p:nvSpPr>
          <p:cNvPr id="195" name="Rectangle 194">
            <a:extLst>
              <a:ext uri="{FF2B5EF4-FFF2-40B4-BE49-F238E27FC236}">
                <a16:creationId xmlns:a16="http://schemas.microsoft.com/office/drawing/2014/main" id="{510BE1ED-2947-833E-4A05-F0A1BB0A26B4}"/>
              </a:ext>
            </a:extLst>
          </p:cNvPr>
          <p:cNvSpPr/>
          <p:nvPr/>
        </p:nvSpPr>
        <p:spPr bwMode="gray">
          <a:xfrm>
            <a:off x="3824510" y="1739581"/>
            <a:ext cx="631638" cy="104259"/>
          </a:xfrm>
          <a:prstGeom prst="rect">
            <a:avLst/>
          </a:prstGeom>
          <a:noFill/>
          <a:ln w="19050" algn="ctr">
            <a:noFill/>
            <a:miter lim="800000"/>
            <a:headEnd/>
            <a:tailEnd/>
          </a:ln>
        </p:spPr>
        <p:txBody>
          <a:bodyPr wrap="square" lIns="0" tIns="0" rIns="0" bIns="0" rtlCol="0" anchor="ctr">
            <a:spAutoFit/>
          </a:bodyPr>
          <a:lstStyle/>
          <a:p>
            <a:pPr algn="ctr">
              <a:lnSpc>
                <a:spcPct val="106000"/>
              </a:lnSpc>
              <a:buFont typeface="Wingdings 2" pitchFamily="18" charset="2"/>
              <a:buNone/>
            </a:pPr>
            <a:r>
              <a:rPr lang="en-US" sz="700" b="1">
                <a:solidFill>
                  <a:prstClr val="black"/>
                </a:solidFill>
                <a:latin typeface="Verdana" panose="020B0604030504040204" pitchFamily="34" charset="0"/>
                <a:ea typeface="Verdana" panose="020B0604030504040204" pitchFamily="34" charset="0"/>
                <a:cs typeface="Arial" panose="020B0604020202020204" pitchFamily="34" charset="0"/>
              </a:rPr>
              <a:t>Retail</a:t>
            </a:r>
          </a:p>
        </p:txBody>
      </p:sp>
      <p:grpSp>
        <p:nvGrpSpPr>
          <p:cNvPr id="196" name="Group 844">
            <a:extLst>
              <a:ext uri="{FF2B5EF4-FFF2-40B4-BE49-F238E27FC236}">
                <a16:creationId xmlns:a16="http://schemas.microsoft.com/office/drawing/2014/main" id="{42EB68F9-60D4-EF19-B264-C0CB94D237DE}"/>
              </a:ext>
            </a:extLst>
          </p:cNvPr>
          <p:cNvGrpSpPr>
            <a:grpSpLocks noChangeAspect="1"/>
          </p:cNvGrpSpPr>
          <p:nvPr/>
        </p:nvGrpSpPr>
        <p:grpSpPr bwMode="auto">
          <a:xfrm>
            <a:off x="4301168" y="1961241"/>
            <a:ext cx="167851" cy="167007"/>
            <a:chOff x="4371" y="3110"/>
            <a:chExt cx="199" cy="198"/>
          </a:xfrm>
          <a:solidFill>
            <a:sysClr val="window" lastClr="FFFFFF"/>
          </a:solidFill>
        </p:grpSpPr>
        <p:sp>
          <p:nvSpPr>
            <p:cNvPr id="197" name="Freeform 845">
              <a:extLst>
                <a:ext uri="{FF2B5EF4-FFF2-40B4-BE49-F238E27FC236}">
                  <a16:creationId xmlns:a16="http://schemas.microsoft.com/office/drawing/2014/main" id="{86A0C304-CC6C-E855-C12D-F359B439AA48}"/>
                </a:ext>
              </a:extLst>
            </p:cNvPr>
            <p:cNvSpPr>
              <a:spLocks noEditPoints="1"/>
            </p:cNvSpPr>
            <p:nvPr/>
          </p:nvSpPr>
          <p:spPr bwMode="auto">
            <a:xfrm>
              <a:off x="4371" y="3166"/>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98" name="Freeform 846">
              <a:extLst>
                <a:ext uri="{FF2B5EF4-FFF2-40B4-BE49-F238E27FC236}">
                  <a16:creationId xmlns:a16="http://schemas.microsoft.com/office/drawing/2014/main" id="{0EE9EA72-2630-2046-1F99-A0E1EC554547}"/>
                </a:ext>
              </a:extLst>
            </p:cNvPr>
            <p:cNvSpPr>
              <a:spLocks noEditPoints="1"/>
            </p:cNvSpPr>
            <p:nvPr/>
          </p:nvSpPr>
          <p:spPr bwMode="auto">
            <a:xfrm>
              <a:off x="4379" y="3110"/>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99" name="Freeform 847">
              <a:extLst>
                <a:ext uri="{FF2B5EF4-FFF2-40B4-BE49-F238E27FC236}">
                  <a16:creationId xmlns:a16="http://schemas.microsoft.com/office/drawing/2014/main" id="{E72923A4-272E-1D39-156D-E0B820CB9542}"/>
                </a:ext>
              </a:extLst>
            </p:cNvPr>
            <p:cNvSpPr>
              <a:spLocks noEditPoints="1"/>
            </p:cNvSpPr>
            <p:nvPr/>
          </p:nvSpPr>
          <p:spPr bwMode="auto">
            <a:xfrm>
              <a:off x="4513" y="3166"/>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00" name="Freeform 848">
              <a:extLst>
                <a:ext uri="{FF2B5EF4-FFF2-40B4-BE49-F238E27FC236}">
                  <a16:creationId xmlns:a16="http://schemas.microsoft.com/office/drawing/2014/main" id="{3DEAE175-743D-1B5E-184A-0B8C8AB66893}"/>
                </a:ext>
              </a:extLst>
            </p:cNvPr>
            <p:cNvSpPr>
              <a:spLocks noEditPoints="1"/>
            </p:cNvSpPr>
            <p:nvPr/>
          </p:nvSpPr>
          <p:spPr bwMode="auto">
            <a:xfrm>
              <a:off x="4520" y="3110"/>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01" name="Freeform 849">
              <a:extLst>
                <a:ext uri="{FF2B5EF4-FFF2-40B4-BE49-F238E27FC236}">
                  <a16:creationId xmlns:a16="http://schemas.microsoft.com/office/drawing/2014/main" id="{CF925E93-7079-173E-96D4-0F06824B647C}"/>
                </a:ext>
              </a:extLst>
            </p:cNvPr>
            <p:cNvSpPr>
              <a:spLocks noEditPoints="1"/>
            </p:cNvSpPr>
            <p:nvPr/>
          </p:nvSpPr>
          <p:spPr bwMode="auto">
            <a:xfrm>
              <a:off x="4442" y="3166"/>
              <a:ext cx="57" cy="142"/>
            </a:xfrm>
            <a:custGeom>
              <a:avLst/>
              <a:gdLst>
                <a:gd name="T0" fmla="*/ 75 w 85"/>
                <a:gd name="T1" fmla="*/ 0 h 213"/>
                <a:gd name="T2" fmla="*/ 11 w 85"/>
                <a:gd name="T3" fmla="*/ 0 h 213"/>
                <a:gd name="T4" fmla="*/ 0 w 85"/>
                <a:gd name="T5" fmla="*/ 11 h 213"/>
                <a:gd name="T6" fmla="*/ 0 w 85"/>
                <a:gd name="T7" fmla="*/ 96 h 213"/>
                <a:gd name="T8" fmla="*/ 11 w 85"/>
                <a:gd name="T9" fmla="*/ 107 h 213"/>
                <a:gd name="T10" fmla="*/ 11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5 w 85"/>
                <a:gd name="T25" fmla="*/ 203 h 213"/>
                <a:gd name="T26" fmla="*/ 75 w 85"/>
                <a:gd name="T27" fmla="*/ 107 h 213"/>
                <a:gd name="T28" fmla="*/ 85 w 85"/>
                <a:gd name="T29" fmla="*/ 96 h 213"/>
                <a:gd name="T30" fmla="*/ 85 w 85"/>
                <a:gd name="T31" fmla="*/ 11 h 213"/>
                <a:gd name="T32" fmla="*/ 75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5" y="0"/>
                  </a:moveTo>
                  <a:cubicBezTo>
                    <a:pt x="11" y="0"/>
                    <a:pt x="11" y="0"/>
                    <a:pt x="11" y="0"/>
                  </a:cubicBezTo>
                  <a:cubicBezTo>
                    <a:pt x="5" y="0"/>
                    <a:pt x="0" y="5"/>
                    <a:pt x="0" y="11"/>
                  </a:cubicBezTo>
                  <a:cubicBezTo>
                    <a:pt x="0" y="96"/>
                    <a:pt x="0" y="96"/>
                    <a:pt x="0" y="96"/>
                  </a:cubicBezTo>
                  <a:cubicBezTo>
                    <a:pt x="0" y="102"/>
                    <a:pt x="5" y="107"/>
                    <a:pt x="11" y="107"/>
                  </a:cubicBezTo>
                  <a:cubicBezTo>
                    <a:pt x="11" y="203"/>
                    <a:pt x="11" y="203"/>
                    <a:pt x="11" y="203"/>
                  </a:cubicBezTo>
                  <a:cubicBezTo>
                    <a:pt x="11"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5" y="209"/>
                    <a:pt x="75" y="203"/>
                  </a:cubicBezTo>
                  <a:cubicBezTo>
                    <a:pt x="75" y="107"/>
                    <a:pt x="75" y="107"/>
                    <a:pt x="75" y="107"/>
                  </a:cubicBezTo>
                  <a:cubicBezTo>
                    <a:pt x="81" y="107"/>
                    <a:pt x="85" y="102"/>
                    <a:pt x="85" y="96"/>
                  </a:cubicBezTo>
                  <a:cubicBezTo>
                    <a:pt x="85" y="11"/>
                    <a:pt x="85" y="11"/>
                    <a:pt x="85" y="11"/>
                  </a:cubicBezTo>
                  <a:cubicBezTo>
                    <a:pt x="85" y="5"/>
                    <a:pt x="81" y="0"/>
                    <a:pt x="75"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02" name="Freeform 850">
              <a:extLst>
                <a:ext uri="{FF2B5EF4-FFF2-40B4-BE49-F238E27FC236}">
                  <a16:creationId xmlns:a16="http://schemas.microsoft.com/office/drawing/2014/main" id="{4BF62B33-98F4-3517-24EB-7DEA8BBA6CC7}"/>
                </a:ext>
              </a:extLst>
            </p:cNvPr>
            <p:cNvSpPr>
              <a:spLocks noEditPoints="1"/>
            </p:cNvSpPr>
            <p:nvPr/>
          </p:nvSpPr>
          <p:spPr bwMode="auto">
            <a:xfrm>
              <a:off x="4450" y="3110"/>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sp>
        <p:nvSpPr>
          <p:cNvPr id="203" name="Freeform 146">
            <a:extLst>
              <a:ext uri="{FF2B5EF4-FFF2-40B4-BE49-F238E27FC236}">
                <a16:creationId xmlns:a16="http://schemas.microsoft.com/office/drawing/2014/main" id="{5C62456C-20A1-8684-A19C-2575470AFBCD}"/>
              </a:ext>
            </a:extLst>
          </p:cNvPr>
          <p:cNvSpPr>
            <a:spLocks noEditPoints="1"/>
          </p:cNvSpPr>
          <p:nvPr/>
        </p:nvSpPr>
        <p:spPr bwMode="auto">
          <a:xfrm>
            <a:off x="4064522" y="2066649"/>
            <a:ext cx="145976" cy="97827"/>
          </a:xfrm>
          <a:custGeom>
            <a:avLst/>
            <a:gdLst>
              <a:gd name="T0" fmla="*/ 53 w 288"/>
              <a:gd name="T1" fmla="*/ 0 h 192"/>
              <a:gd name="T2" fmla="*/ 43 w 288"/>
              <a:gd name="T3" fmla="*/ 42 h 192"/>
              <a:gd name="T4" fmla="*/ 0 w 288"/>
              <a:gd name="T5" fmla="*/ 53 h 192"/>
              <a:gd name="T6" fmla="*/ 11 w 288"/>
              <a:gd name="T7" fmla="*/ 192 h 192"/>
              <a:gd name="T8" fmla="*/ 245 w 288"/>
              <a:gd name="T9" fmla="*/ 181 h 192"/>
              <a:gd name="T10" fmla="*/ 277 w 288"/>
              <a:gd name="T11" fmla="*/ 149 h 192"/>
              <a:gd name="T12" fmla="*/ 288 w 288"/>
              <a:gd name="T13" fmla="*/ 10 h 192"/>
              <a:gd name="T14" fmla="*/ 224 w 288"/>
              <a:gd name="T15" fmla="*/ 170 h 192"/>
              <a:gd name="T16" fmla="*/ 21 w 288"/>
              <a:gd name="T17" fmla="*/ 64 h 192"/>
              <a:gd name="T18" fmla="*/ 224 w 288"/>
              <a:gd name="T19" fmla="*/ 170 h 192"/>
              <a:gd name="T20" fmla="*/ 245 w 288"/>
              <a:gd name="T21" fmla="*/ 128 h 192"/>
              <a:gd name="T22" fmla="*/ 235 w 288"/>
              <a:gd name="T23" fmla="*/ 42 h 192"/>
              <a:gd name="T24" fmla="*/ 64 w 288"/>
              <a:gd name="T25" fmla="*/ 21 h 192"/>
              <a:gd name="T26" fmla="*/ 267 w 288"/>
              <a:gd name="T27" fmla="*/ 128 h 192"/>
              <a:gd name="T28" fmla="*/ 101 w 288"/>
              <a:gd name="T29" fmla="*/ 100 h 192"/>
              <a:gd name="T30" fmla="*/ 123 w 288"/>
              <a:gd name="T31" fmla="*/ 82 h 192"/>
              <a:gd name="T32" fmla="*/ 130 w 288"/>
              <a:gd name="T33" fmla="*/ 74 h 192"/>
              <a:gd name="T34" fmla="*/ 151 w 288"/>
              <a:gd name="T35" fmla="*/ 87 h 192"/>
              <a:gd name="T36" fmla="*/ 130 w 288"/>
              <a:gd name="T37" fmla="*/ 95 h 192"/>
              <a:gd name="T38" fmla="*/ 123 w 288"/>
              <a:gd name="T39" fmla="*/ 95 h 192"/>
              <a:gd name="T40" fmla="*/ 118 w 288"/>
              <a:gd name="T41" fmla="*/ 104 h 192"/>
              <a:gd name="T42" fmla="*/ 130 w 288"/>
              <a:gd name="T43" fmla="*/ 110 h 192"/>
              <a:gd name="T44" fmla="*/ 151 w 288"/>
              <a:gd name="T45" fmla="*/ 122 h 192"/>
              <a:gd name="T46" fmla="*/ 147 w 288"/>
              <a:gd name="T47" fmla="*/ 143 h 192"/>
              <a:gd name="T48" fmla="*/ 130 w 288"/>
              <a:gd name="T49" fmla="*/ 160 h 192"/>
              <a:gd name="T50" fmla="*/ 123 w 288"/>
              <a:gd name="T51" fmla="*/ 149 h 192"/>
              <a:gd name="T52" fmla="*/ 101 w 288"/>
              <a:gd name="T53" fmla="*/ 132 h 192"/>
              <a:gd name="T54" fmla="*/ 123 w 288"/>
              <a:gd name="T55" fmla="*/ 137 h 192"/>
              <a:gd name="T56" fmla="*/ 130 w 288"/>
              <a:gd name="T57" fmla="*/ 137 h 192"/>
              <a:gd name="T58" fmla="*/ 135 w 288"/>
              <a:gd name="T59" fmla="*/ 127 h 192"/>
              <a:gd name="T60" fmla="*/ 123 w 288"/>
              <a:gd name="T61" fmla="*/ 122 h 192"/>
              <a:gd name="T62" fmla="*/ 105 w 288"/>
              <a:gd name="T63" fmla="*/ 1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192">
                <a:moveTo>
                  <a:pt x="277" y="0"/>
                </a:moveTo>
                <a:cubicBezTo>
                  <a:pt x="53" y="0"/>
                  <a:pt x="53" y="0"/>
                  <a:pt x="53" y="0"/>
                </a:cubicBezTo>
                <a:cubicBezTo>
                  <a:pt x="47" y="0"/>
                  <a:pt x="43" y="4"/>
                  <a:pt x="43" y="10"/>
                </a:cubicBezTo>
                <a:cubicBezTo>
                  <a:pt x="43" y="42"/>
                  <a:pt x="43" y="42"/>
                  <a:pt x="43" y="42"/>
                </a:cubicBezTo>
                <a:cubicBezTo>
                  <a:pt x="11" y="42"/>
                  <a:pt x="11" y="42"/>
                  <a:pt x="11" y="42"/>
                </a:cubicBezTo>
                <a:cubicBezTo>
                  <a:pt x="5" y="42"/>
                  <a:pt x="0" y="47"/>
                  <a:pt x="0" y="53"/>
                </a:cubicBezTo>
                <a:cubicBezTo>
                  <a:pt x="0" y="181"/>
                  <a:pt x="0" y="181"/>
                  <a:pt x="0" y="181"/>
                </a:cubicBezTo>
                <a:cubicBezTo>
                  <a:pt x="0" y="187"/>
                  <a:pt x="5" y="192"/>
                  <a:pt x="11" y="192"/>
                </a:cubicBezTo>
                <a:cubicBezTo>
                  <a:pt x="235" y="192"/>
                  <a:pt x="235" y="192"/>
                  <a:pt x="235" y="192"/>
                </a:cubicBezTo>
                <a:cubicBezTo>
                  <a:pt x="241" y="192"/>
                  <a:pt x="245" y="187"/>
                  <a:pt x="245" y="181"/>
                </a:cubicBezTo>
                <a:cubicBezTo>
                  <a:pt x="245" y="149"/>
                  <a:pt x="245" y="149"/>
                  <a:pt x="245" y="149"/>
                </a:cubicBezTo>
                <a:cubicBezTo>
                  <a:pt x="277" y="149"/>
                  <a:pt x="277" y="149"/>
                  <a:pt x="277" y="149"/>
                </a:cubicBezTo>
                <a:cubicBezTo>
                  <a:pt x="283" y="149"/>
                  <a:pt x="288" y="144"/>
                  <a:pt x="288" y="138"/>
                </a:cubicBezTo>
                <a:cubicBezTo>
                  <a:pt x="288" y="10"/>
                  <a:pt x="288" y="10"/>
                  <a:pt x="288" y="10"/>
                </a:cubicBezTo>
                <a:cubicBezTo>
                  <a:pt x="288" y="4"/>
                  <a:pt x="283" y="0"/>
                  <a:pt x="277" y="0"/>
                </a:cubicBezTo>
                <a:close/>
                <a:moveTo>
                  <a:pt x="224" y="170"/>
                </a:moveTo>
                <a:cubicBezTo>
                  <a:pt x="21" y="170"/>
                  <a:pt x="21" y="170"/>
                  <a:pt x="21" y="170"/>
                </a:cubicBezTo>
                <a:cubicBezTo>
                  <a:pt x="21" y="64"/>
                  <a:pt x="21" y="64"/>
                  <a:pt x="21" y="64"/>
                </a:cubicBezTo>
                <a:cubicBezTo>
                  <a:pt x="224" y="64"/>
                  <a:pt x="224" y="64"/>
                  <a:pt x="224" y="64"/>
                </a:cubicBezTo>
                <a:lnTo>
                  <a:pt x="224" y="170"/>
                </a:lnTo>
                <a:close/>
                <a:moveTo>
                  <a:pt x="267" y="128"/>
                </a:moveTo>
                <a:cubicBezTo>
                  <a:pt x="245" y="128"/>
                  <a:pt x="245" y="128"/>
                  <a:pt x="245" y="128"/>
                </a:cubicBezTo>
                <a:cubicBezTo>
                  <a:pt x="245" y="53"/>
                  <a:pt x="245" y="53"/>
                  <a:pt x="245" y="53"/>
                </a:cubicBezTo>
                <a:cubicBezTo>
                  <a:pt x="245" y="47"/>
                  <a:pt x="241" y="42"/>
                  <a:pt x="235" y="42"/>
                </a:cubicBezTo>
                <a:cubicBezTo>
                  <a:pt x="64" y="42"/>
                  <a:pt x="64" y="42"/>
                  <a:pt x="64" y="42"/>
                </a:cubicBezTo>
                <a:cubicBezTo>
                  <a:pt x="64" y="21"/>
                  <a:pt x="64" y="21"/>
                  <a:pt x="64" y="21"/>
                </a:cubicBezTo>
                <a:cubicBezTo>
                  <a:pt x="267" y="21"/>
                  <a:pt x="267" y="21"/>
                  <a:pt x="267" y="21"/>
                </a:cubicBezTo>
                <a:lnTo>
                  <a:pt x="267" y="128"/>
                </a:lnTo>
                <a:close/>
                <a:moveTo>
                  <a:pt x="105" y="112"/>
                </a:moveTo>
                <a:cubicBezTo>
                  <a:pt x="103" y="109"/>
                  <a:pt x="101" y="105"/>
                  <a:pt x="101" y="100"/>
                </a:cubicBezTo>
                <a:cubicBezTo>
                  <a:pt x="101" y="95"/>
                  <a:pt x="103" y="91"/>
                  <a:pt x="107" y="88"/>
                </a:cubicBezTo>
                <a:cubicBezTo>
                  <a:pt x="111" y="85"/>
                  <a:pt x="116" y="83"/>
                  <a:pt x="123" y="82"/>
                </a:cubicBezTo>
                <a:cubicBezTo>
                  <a:pt x="123" y="74"/>
                  <a:pt x="123" y="74"/>
                  <a:pt x="123" y="74"/>
                </a:cubicBezTo>
                <a:cubicBezTo>
                  <a:pt x="130" y="74"/>
                  <a:pt x="130" y="74"/>
                  <a:pt x="130" y="74"/>
                </a:cubicBezTo>
                <a:cubicBezTo>
                  <a:pt x="130" y="82"/>
                  <a:pt x="130" y="82"/>
                  <a:pt x="130" y="82"/>
                </a:cubicBezTo>
                <a:cubicBezTo>
                  <a:pt x="138" y="82"/>
                  <a:pt x="145" y="84"/>
                  <a:pt x="151" y="87"/>
                </a:cubicBezTo>
                <a:cubicBezTo>
                  <a:pt x="147" y="99"/>
                  <a:pt x="147" y="99"/>
                  <a:pt x="147" y="99"/>
                </a:cubicBezTo>
                <a:cubicBezTo>
                  <a:pt x="141" y="96"/>
                  <a:pt x="136" y="95"/>
                  <a:pt x="130" y="95"/>
                </a:cubicBezTo>
                <a:cubicBezTo>
                  <a:pt x="130" y="95"/>
                  <a:pt x="129" y="94"/>
                  <a:pt x="127" y="94"/>
                </a:cubicBezTo>
                <a:cubicBezTo>
                  <a:pt x="125" y="94"/>
                  <a:pt x="123" y="95"/>
                  <a:pt x="123" y="95"/>
                </a:cubicBezTo>
                <a:cubicBezTo>
                  <a:pt x="119" y="95"/>
                  <a:pt x="117" y="97"/>
                  <a:pt x="117" y="100"/>
                </a:cubicBezTo>
                <a:cubicBezTo>
                  <a:pt x="117" y="102"/>
                  <a:pt x="117" y="103"/>
                  <a:pt x="118" y="104"/>
                </a:cubicBezTo>
                <a:cubicBezTo>
                  <a:pt x="119" y="105"/>
                  <a:pt x="121" y="106"/>
                  <a:pt x="123" y="107"/>
                </a:cubicBezTo>
                <a:cubicBezTo>
                  <a:pt x="130" y="110"/>
                  <a:pt x="130" y="110"/>
                  <a:pt x="130" y="110"/>
                </a:cubicBezTo>
                <a:cubicBezTo>
                  <a:pt x="137" y="112"/>
                  <a:pt x="142" y="114"/>
                  <a:pt x="144" y="116"/>
                </a:cubicBezTo>
                <a:cubicBezTo>
                  <a:pt x="147" y="118"/>
                  <a:pt x="149" y="120"/>
                  <a:pt x="151" y="122"/>
                </a:cubicBezTo>
                <a:cubicBezTo>
                  <a:pt x="152" y="125"/>
                  <a:pt x="152" y="127"/>
                  <a:pt x="152" y="130"/>
                </a:cubicBezTo>
                <a:cubicBezTo>
                  <a:pt x="152" y="136"/>
                  <a:pt x="151" y="140"/>
                  <a:pt x="147" y="143"/>
                </a:cubicBezTo>
                <a:cubicBezTo>
                  <a:pt x="143" y="147"/>
                  <a:pt x="137" y="149"/>
                  <a:pt x="130" y="149"/>
                </a:cubicBezTo>
                <a:cubicBezTo>
                  <a:pt x="130" y="160"/>
                  <a:pt x="130" y="160"/>
                  <a:pt x="130" y="160"/>
                </a:cubicBezTo>
                <a:cubicBezTo>
                  <a:pt x="123" y="160"/>
                  <a:pt x="123" y="160"/>
                  <a:pt x="123" y="160"/>
                </a:cubicBezTo>
                <a:cubicBezTo>
                  <a:pt x="123" y="149"/>
                  <a:pt x="123" y="149"/>
                  <a:pt x="123" y="149"/>
                </a:cubicBezTo>
                <a:cubicBezTo>
                  <a:pt x="115" y="149"/>
                  <a:pt x="108" y="148"/>
                  <a:pt x="101" y="145"/>
                </a:cubicBezTo>
                <a:cubicBezTo>
                  <a:pt x="101" y="132"/>
                  <a:pt x="101" y="132"/>
                  <a:pt x="101" y="132"/>
                </a:cubicBezTo>
                <a:cubicBezTo>
                  <a:pt x="104" y="133"/>
                  <a:pt x="108" y="134"/>
                  <a:pt x="112" y="135"/>
                </a:cubicBezTo>
                <a:cubicBezTo>
                  <a:pt x="116" y="137"/>
                  <a:pt x="120" y="137"/>
                  <a:pt x="123" y="137"/>
                </a:cubicBezTo>
                <a:cubicBezTo>
                  <a:pt x="123" y="137"/>
                  <a:pt x="125" y="137"/>
                  <a:pt x="127" y="137"/>
                </a:cubicBezTo>
                <a:cubicBezTo>
                  <a:pt x="129" y="137"/>
                  <a:pt x="130" y="137"/>
                  <a:pt x="130" y="137"/>
                </a:cubicBezTo>
                <a:cubicBezTo>
                  <a:pt x="135" y="136"/>
                  <a:pt x="137" y="134"/>
                  <a:pt x="137" y="131"/>
                </a:cubicBezTo>
                <a:cubicBezTo>
                  <a:pt x="137" y="130"/>
                  <a:pt x="137" y="128"/>
                  <a:pt x="135" y="127"/>
                </a:cubicBezTo>
                <a:cubicBezTo>
                  <a:pt x="134" y="126"/>
                  <a:pt x="133" y="125"/>
                  <a:pt x="130" y="124"/>
                </a:cubicBezTo>
                <a:cubicBezTo>
                  <a:pt x="123" y="122"/>
                  <a:pt x="123" y="122"/>
                  <a:pt x="123" y="122"/>
                </a:cubicBezTo>
                <a:cubicBezTo>
                  <a:pt x="120" y="120"/>
                  <a:pt x="120" y="120"/>
                  <a:pt x="120" y="120"/>
                </a:cubicBezTo>
                <a:cubicBezTo>
                  <a:pt x="113" y="118"/>
                  <a:pt x="108" y="115"/>
                  <a:pt x="105" y="112"/>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04" name="Freeform 324">
            <a:extLst>
              <a:ext uri="{FF2B5EF4-FFF2-40B4-BE49-F238E27FC236}">
                <a16:creationId xmlns:a16="http://schemas.microsoft.com/office/drawing/2014/main" id="{6D78C8D6-528A-D001-161C-68A7F9186366}"/>
              </a:ext>
            </a:extLst>
          </p:cNvPr>
          <p:cNvSpPr>
            <a:spLocks noEditPoints="1"/>
          </p:cNvSpPr>
          <p:nvPr/>
        </p:nvSpPr>
        <p:spPr bwMode="auto">
          <a:xfrm>
            <a:off x="3810230" y="1945829"/>
            <a:ext cx="161706" cy="219753"/>
          </a:xfrm>
          <a:custGeom>
            <a:avLst/>
            <a:gdLst>
              <a:gd name="T0" fmla="*/ 90 w 235"/>
              <a:gd name="T1" fmla="*/ 215 h 320"/>
              <a:gd name="T2" fmla="*/ 107 w 235"/>
              <a:gd name="T3" fmla="*/ 224 h 320"/>
              <a:gd name="T4" fmla="*/ 96 w 235"/>
              <a:gd name="T5" fmla="*/ 234 h 320"/>
              <a:gd name="T6" fmla="*/ 92 w 235"/>
              <a:gd name="T7" fmla="*/ 276 h 320"/>
              <a:gd name="T8" fmla="*/ 106 w 235"/>
              <a:gd name="T9" fmla="*/ 270 h 320"/>
              <a:gd name="T10" fmla="*/ 92 w 235"/>
              <a:gd name="T11" fmla="*/ 257 h 320"/>
              <a:gd name="T12" fmla="*/ 87 w 235"/>
              <a:gd name="T13" fmla="*/ 270 h 320"/>
              <a:gd name="T14" fmla="*/ 58 w 235"/>
              <a:gd name="T15" fmla="*/ 233 h 320"/>
              <a:gd name="T16" fmla="*/ 61 w 235"/>
              <a:gd name="T17" fmla="*/ 216 h 320"/>
              <a:gd name="T18" fmla="*/ 44 w 235"/>
              <a:gd name="T19" fmla="*/ 228 h 320"/>
              <a:gd name="T20" fmla="*/ 63 w 235"/>
              <a:gd name="T21" fmla="*/ 185 h 320"/>
              <a:gd name="T22" fmla="*/ 58 w 235"/>
              <a:gd name="T23" fmla="*/ 171 h 320"/>
              <a:gd name="T24" fmla="*/ 43 w 235"/>
              <a:gd name="T25" fmla="*/ 181 h 320"/>
              <a:gd name="T26" fmla="*/ 96 w 235"/>
              <a:gd name="T27" fmla="*/ 192 h 320"/>
              <a:gd name="T28" fmla="*/ 106 w 235"/>
              <a:gd name="T29" fmla="*/ 177 h 320"/>
              <a:gd name="T30" fmla="*/ 86 w 235"/>
              <a:gd name="T31" fmla="*/ 181 h 320"/>
              <a:gd name="T32" fmla="*/ 92 w 235"/>
              <a:gd name="T33" fmla="*/ 148 h 320"/>
              <a:gd name="T34" fmla="*/ 107 w 235"/>
              <a:gd name="T35" fmla="*/ 138 h 320"/>
              <a:gd name="T36" fmla="*/ 98 w 235"/>
              <a:gd name="T37" fmla="*/ 128 h 320"/>
              <a:gd name="T38" fmla="*/ 87 w 235"/>
              <a:gd name="T39" fmla="*/ 142 h 320"/>
              <a:gd name="T40" fmla="*/ 58 w 235"/>
              <a:gd name="T41" fmla="*/ 148 h 320"/>
              <a:gd name="T42" fmla="*/ 61 w 235"/>
              <a:gd name="T43" fmla="*/ 131 h 320"/>
              <a:gd name="T44" fmla="*/ 52 w 235"/>
              <a:gd name="T45" fmla="*/ 128 h 320"/>
              <a:gd name="T46" fmla="*/ 43 w 235"/>
              <a:gd name="T47" fmla="*/ 138 h 320"/>
              <a:gd name="T48" fmla="*/ 54 w 235"/>
              <a:gd name="T49" fmla="*/ 106 h 320"/>
              <a:gd name="T50" fmla="*/ 61 w 235"/>
              <a:gd name="T51" fmla="*/ 88 h 320"/>
              <a:gd name="T52" fmla="*/ 48 w 235"/>
              <a:gd name="T53" fmla="*/ 87 h 320"/>
              <a:gd name="T54" fmla="*/ 46 w 235"/>
              <a:gd name="T55" fmla="*/ 103 h 320"/>
              <a:gd name="T56" fmla="*/ 100 w 235"/>
              <a:gd name="T57" fmla="*/ 105 h 320"/>
              <a:gd name="T58" fmla="*/ 104 w 235"/>
              <a:gd name="T59" fmla="*/ 88 h 320"/>
              <a:gd name="T60" fmla="*/ 86 w 235"/>
              <a:gd name="T61" fmla="*/ 96 h 320"/>
              <a:gd name="T62" fmla="*/ 100 w 235"/>
              <a:gd name="T63" fmla="*/ 63 h 320"/>
              <a:gd name="T64" fmla="*/ 106 w 235"/>
              <a:gd name="T65" fmla="*/ 49 h 320"/>
              <a:gd name="T66" fmla="*/ 87 w 235"/>
              <a:gd name="T67" fmla="*/ 49 h 320"/>
              <a:gd name="T68" fmla="*/ 50 w 235"/>
              <a:gd name="T69" fmla="*/ 63 h 320"/>
              <a:gd name="T70" fmla="*/ 63 w 235"/>
              <a:gd name="T71" fmla="*/ 49 h 320"/>
              <a:gd name="T72" fmla="*/ 43 w 235"/>
              <a:gd name="T73" fmla="*/ 53 h 320"/>
              <a:gd name="T74" fmla="*/ 182 w 235"/>
              <a:gd name="T75" fmla="*/ 234 h 320"/>
              <a:gd name="T76" fmla="*/ 191 w 235"/>
              <a:gd name="T77" fmla="*/ 220 h 320"/>
              <a:gd name="T78" fmla="*/ 184 w 235"/>
              <a:gd name="T79" fmla="*/ 213 h 320"/>
              <a:gd name="T80" fmla="*/ 174 w 235"/>
              <a:gd name="T81" fmla="*/ 216 h 320"/>
              <a:gd name="T82" fmla="*/ 174 w 235"/>
              <a:gd name="T83" fmla="*/ 231 h 320"/>
              <a:gd name="T84" fmla="*/ 186 w 235"/>
              <a:gd name="T85" fmla="*/ 191 h 320"/>
              <a:gd name="T86" fmla="*/ 191 w 235"/>
              <a:gd name="T87" fmla="*/ 177 h 320"/>
              <a:gd name="T88" fmla="*/ 174 w 235"/>
              <a:gd name="T89" fmla="*/ 173 h 320"/>
              <a:gd name="T90" fmla="*/ 174 w 235"/>
              <a:gd name="T91" fmla="*/ 189 h 320"/>
              <a:gd name="T92" fmla="*/ 186 w 235"/>
              <a:gd name="T93" fmla="*/ 148 h 320"/>
              <a:gd name="T94" fmla="*/ 189 w 235"/>
              <a:gd name="T95" fmla="*/ 131 h 320"/>
              <a:gd name="T96" fmla="*/ 174 w 235"/>
              <a:gd name="T97" fmla="*/ 131 h 320"/>
              <a:gd name="T98" fmla="*/ 235 w 235"/>
              <a:gd name="T99" fmla="*/ 96 h 320"/>
              <a:gd name="T100" fmla="*/ 0 w 235"/>
              <a:gd name="T101" fmla="*/ 309 h 320"/>
              <a:gd name="T102" fmla="*/ 150 w 235"/>
              <a:gd name="T103" fmla="*/ 10 h 320"/>
              <a:gd name="T104" fmla="*/ 22 w 235"/>
              <a:gd name="T105" fmla="*/ 298 h 320"/>
              <a:gd name="T106" fmla="*/ 64 w 235"/>
              <a:gd name="T107" fmla="*/ 266 h 320"/>
              <a:gd name="T108" fmla="*/ 22 w 235"/>
              <a:gd name="T109" fmla="*/ 21 h 320"/>
              <a:gd name="T110" fmla="*/ 150 w 235"/>
              <a:gd name="T111" fmla="*/ 298 h 320"/>
              <a:gd name="T112" fmla="*/ 192 w 235"/>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5" h="320">
                <a:moveTo>
                  <a:pt x="87" y="228"/>
                </a:moveTo>
                <a:cubicBezTo>
                  <a:pt x="86" y="226"/>
                  <a:pt x="86" y="225"/>
                  <a:pt x="86" y="224"/>
                </a:cubicBezTo>
                <a:cubicBezTo>
                  <a:pt x="86" y="221"/>
                  <a:pt x="87" y="218"/>
                  <a:pt x="89" y="216"/>
                </a:cubicBezTo>
                <a:cubicBezTo>
                  <a:pt x="89" y="216"/>
                  <a:pt x="90" y="215"/>
                  <a:pt x="90" y="215"/>
                </a:cubicBezTo>
                <a:cubicBezTo>
                  <a:pt x="91" y="214"/>
                  <a:pt x="92" y="214"/>
                  <a:pt x="92" y="214"/>
                </a:cubicBezTo>
                <a:cubicBezTo>
                  <a:pt x="93" y="214"/>
                  <a:pt x="94" y="213"/>
                  <a:pt x="94" y="213"/>
                </a:cubicBezTo>
                <a:cubicBezTo>
                  <a:pt x="98" y="212"/>
                  <a:pt x="101" y="214"/>
                  <a:pt x="104" y="216"/>
                </a:cubicBezTo>
                <a:cubicBezTo>
                  <a:pt x="106" y="218"/>
                  <a:pt x="107" y="221"/>
                  <a:pt x="107" y="224"/>
                </a:cubicBezTo>
                <a:cubicBezTo>
                  <a:pt x="107" y="225"/>
                  <a:pt x="107" y="226"/>
                  <a:pt x="106" y="228"/>
                </a:cubicBezTo>
                <a:cubicBezTo>
                  <a:pt x="106" y="229"/>
                  <a:pt x="105" y="230"/>
                  <a:pt x="104" y="231"/>
                </a:cubicBezTo>
                <a:cubicBezTo>
                  <a:pt x="103" y="232"/>
                  <a:pt x="102" y="233"/>
                  <a:pt x="100" y="233"/>
                </a:cubicBezTo>
                <a:cubicBezTo>
                  <a:pt x="99" y="234"/>
                  <a:pt x="98" y="234"/>
                  <a:pt x="96" y="234"/>
                </a:cubicBezTo>
                <a:cubicBezTo>
                  <a:pt x="93" y="234"/>
                  <a:pt x="91" y="233"/>
                  <a:pt x="89" y="231"/>
                </a:cubicBezTo>
                <a:cubicBezTo>
                  <a:pt x="88" y="230"/>
                  <a:pt x="87" y="229"/>
                  <a:pt x="87" y="228"/>
                </a:cubicBezTo>
                <a:close/>
                <a:moveTo>
                  <a:pt x="89" y="274"/>
                </a:moveTo>
                <a:cubicBezTo>
                  <a:pt x="90" y="275"/>
                  <a:pt x="91" y="276"/>
                  <a:pt x="92" y="276"/>
                </a:cubicBezTo>
                <a:cubicBezTo>
                  <a:pt x="94" y="277"/>
                  <a:pt x="95" y="277"/>
                  <a:pt x="96" y="277"/>
                </a:cubicBezTo>
                <a:cubicBezTo>
                  <a:pt x="98" y="277"/>
                  <a:pt x="99" y="277"/>
                  <a:pt x="100" y="276"/>
                </a:cubicBezTo>
                <a:cubicBezTo>
                  <a:pt x="102" y="276"/>
                  <a:pt x="103" y="275"/>
                  <a:pt x="104" y="274"/>
                </a:cubicBezTo>
                <a:cubicBezTo>
                  <a:pt x="105" y="273"/>
                  <a:pt x="106" y="272"/>
                  <a:pt x="106" y="270"/>
                </a:cubicBezTo>
                <a:cubicBezTo>
                  <a:pt x="107" y="269"/>
                  <a:pt x="107" y="268"/>
                  <a:pt x="107" y="266"/>
                </a:cubicBezTo>
                <a:cubicBezTo>
                  <a:pt x="107" y="265"/>
                  <a:pt x="107" y="264"/>
                  <a:pt x="106" y="262"/>
                </a:cubicBezTo>
                <a:cubicBezTo>
                  <a:pt x="106" y="261"/>
                  <a:pt x="105" y="260"/>
                  <a:pt x="104" y="259"/>
                </a:cubicBezTo>
                <a:cubicBezTo>
                  <a:pt x="101" y="256"/>
                  <a:pt x="96" y="255"/>
                  <a:pt x="92" y="257"/>
                </a:cubicBezTo>
                <a:cubicBezTo>
                  <a:pt x="91" y="257"/>
                  <a:pt x="90" y="258"/>
                  <a:pt x="89" y="259"/>
                </a:cubicBezTo>
                <a:cubicBezTo>
                  <a:pt x="88" y="260"/>
                  <a:pt x="87" y="261"/>
                  <a:pt x="87" y="262"/>
                </a:cubicBezTo>
                <a:cubicBezTo>
                  <a:pt x="86" y="264"/>
                  <a:pt x="86" y="265"/>
                  <a:pt x="86" y="266"/>
                </a:cubicBezTo>
                <a:cubicBezTo>
                  <a:pt x="86" y="268"/>
                  <a:pt x="86" y="269"/>
                  <a:pt x="87" y="270"/>
                </a:cubicBezTo>
                <a:cubicBezTo>
                  <a:pt x="87" y="272"/>
                  <a:pt x="88" y="273"/>
                  <a:pt x="89" y="274"/>
                </a:cubicBezTo>
                <a:close/>
                <a:moveTo>
                  <a:pt x="46" y="231"/>
                </a:moveTo>
                <a:cubicBezTo>
                  <a:pt x="48" y="233"/>
                  <a:pt x="51" y="234"/>
                  <a:pt x="54" y="234"/>
                </a:cubicBezTo>
                <a:cubicBezTo>
                  <a:pt x="55" y="234"/>
                  <a:pt x="56" y="234"/>
                  <a:pt x="58" y="233"/>
                </a:cubicBezTo>
                <a:cubicBezTo>
                  <a:pt x="59" y="233"/>
                  <a:pt x="60" y="232"/>
                  <a:pt x="61" y="231"/>
                </a:cubicBezTo>
                <a:cubicBezTo>
                  <a:pt x="62" y="230"/>
                  <a:pt x="63" y="229"/>
                  <a:pt x="63" y="228"/>
                </a:cubicBezTo>
                <a:cubicBezTo>
                  <a:pt x="64" y="226"/>
                  <a:pt x="64" y="225"/>
                  <a:pt x="64" y="224"/>
                </a:cubicBezTo>
                <a:cubicBezTo>
                  <a:pt x="64" y="221"/>
                  <a:pt x="63" y="218"/>
                  <a:pt x="61" y="216"/>
                </a:cubicBezTo>
                <a:cubicBezTo>
                  <a:pt x="60" y="215"/>
                  <a:pt x="59" y="214"/>
                  <a:pt x="58" y="214"/>
                </a:cubicBezTo>
                <a:cubicBezTo>
                  <a:pt x="54" y="212"/>
                  <a:pt x="49" y="213"/>
                  <a:pt x="46" y="216"/>
                </a:cubicBezTo>
                <a:cubicBezTo>
                  <a:pt x="44" y="218"/>
                  <a:pt x="43" y="221"/>
                  <a:pt x="43" y="224"/>
                </a:cubicBezTo>
                <a:cubicBezTo>
                  <a:pt x="43" y="225"/>
                  <a:pt x="43" y="226"/>
                  <a:pt x="44" y="228"/>
                </a:cubicBezTo>
                <a:cubicBezTo>
                  <a:pt x="44" y="229"/>
                  <a:pt x="45" y="230"/>
                  <a:pt x="46" y="231"/>
                </a:cubicBezTo>
                <a:close/>
                <a:moveTo>
                  <a:pt x="54" y="192"/>
                </a:moveTo>
                <a:cubicBezTo>
                  <a:pt x="57" y="192"/>
                  <a:pt x="59" y="191"/>
                  <a:pt x="61" y="189"/>
                </a:cubicBezTo>
                <a:cubicBezTo>
                  <a:pt x="62" y="188"/>
                  <a:pt x="63" y="186"/>
                  <a:pt x="63" y="185"/>
                </a:cubicBezTo>
                <a:cubicBezTo>
                  <a:pt x="64" y="184"/>
                  <a:pt x="64" y="182"/>
                  <a:pt x="64" y="181"/>
                </a:cubicBezTo>
                <a:cubicBezTo>
                  <a:pt x="64" y="180"/>
                  <a:pt x="64" y="178"/>
                  <a:pt x="63" y="177"/>
                </a:cubicBezTo>
                <a:cubicBezTo>
                  <a:pt x="63" y="176"/>
                  <a:pt x="62" y="174"/>
                  <a:pt x="61" y="173"/>
                </a:cubicBezTo>
                <a:cubicBezTo>
                  <a:pt x="60" y="172"/>
                  <a:pt x="59" y="172"/>
                  <a:pt x="58" y="171"/>
                </a:cubicBezTo>
                <a:cubicBezTo>
                  <a:pt x="55" y="170"/>
                  <a:pt x="52" y="170"/>
                  <a:pt x="50" y="171"/>
                </a:cubicBezTo>
                <a:cubicBezTo>
                  <a:pt x="48" y="172"/>
                  <a:pt x="47" y="172"/>
                  <a:pt x="46" y="173"/>
                </a:cubicBezTo>
                <a:cubicBezTo>
                  <a:pt x="45" y="174"/>
                  <a:pt x="44" y="176"/>
                  <a:pt x="44" y="177"/>
                </a:cubicBezTo>
                <a:cubicBezTo>
                  <a:pt x="43" y="178"/>
                  <a:pt x="43" y="180"/>
                  <a:pt x="43" y="181"/>
                </a:cubicBezTo>
                <a:cubicBezTo>
                  <a:pt x="43" y="184"/>
                  <a:pt x="44" y="187"/>
                  <a:pt x="46" y="189"/>
                </a:cubicBezTo>
                <a:cubicBezTo>
                  <a:pt x="48" y="191"/>
                  <a:pt x="51" y="192"/>
                  <a:pt x="54" y="192"/>
                </a:cubicBezTo>
                <a:close/>
                <a:moveTo>
                  <a:pt x="92" y="191"/>
                </a:moveTo>
                <a:cubicBezTo>
                  <a:pt x="94" y="191"/>
                  <a:pt x="95" y="192"/>
                  <a:pt x="96" y="192"/>
                </a:cubicBezTo>
                <a:cubicBezTo>
                  <a:pt x="99" y="192"/>
                  <a:pt x="102" y="191"/>
                  <a:pt x="104" y="189"/>
                </a:cubicBezTo>
                <a:cubicBezTo>
                  <a:pt x="105" y="188"/>
                  <a:pt x="106" y="186"/>
                  <a:pt x="106" y="185"/>
                </a:cubicBezTo>
                <a:cubicBezTo>
                  <a:pt x="107" y="184"/>
                  <a:pt x="107" y="182"/>
                  <a:pt x="107" y="181"/>
                </a:cubicBezTo>
                <a:cubicBezTo>
                  <a:pt x="107" y="180"/>
                  <a:pt x="107" y="178"/>
                  <a:pt x="106" y="177"/>
                </a:cubicBezTo>
                <a:cubicBezTo>
                  <a:pt x="106" y="176"/>
                  <a:pt x="105" y="174"/>
                  <a:pt x="104" y="173"/>
                </a:cubicBezTo>
                <a:cubicBezTo>
                  <a:pt x="100" y="169"/>
                  <a:pt x="93" y="169"/>
                  <a:pt x="89" y="173"/>
                </a:cubicBezTo>
                <a:cubicBezTo>
                  <a:pt x="88" y="174"/>
                  <a:pt x="87" y="176"/>
                  <a:pt x="87" y="177"/>
                </a:cubicBezTo>
                <a:cubicBezTo>
                  <a:pt x="86" y="178"/>
                  <a:pt x="86" y="180"/>
                  <a:pt x="86" y="181"/>
                </a:cubicBezTo>
                <a:cubicBezTo>
                  <a:pt x="86" y="184"/>
                  <a:pt x="87" y="187"/>
                  <a:pt x="89" y="189"/>
                </a:cubicBezTo>
                <a:cubicBezTo>
                  <a:pt x="90" y="190"/>
                  <a:pt x="91" y="190"/>
                  <a:pt x="92" y="191"/>
                </a:cubicBezTo>
                <a:close/>
                <a:moveTo>
                  <a:pt x="89" y="146"/>
                </a:moveTo>
                <a:cubicBezTo>
                  <a:pt x="90" y="147"/>
                  <a:pt x="91" y="148"/>
                  <a:pt x="92" y="148"/>
                </a:cubicBezTo>
                <a:cubicBezTo>
                  <a:pt x="94" y="149"/>
                  <a:pt x="95" y="149"/>
                  <a:pt x="96" y="149"/>
                </a:cubicBezTo>
                <a:cubicBezTo>
                  <a:pt x="98" y="149"/>
                  <a:pt x="99" y="149"/>
                  <a:pt x="100" y="148"/>
                </a:cubicBezTo>
                <a:cubicBezTo>
                  <a:pt x="102" y="148"/>
                  <a:pt x="103" y="147"/>
                  <a:pt x="104" y="146"/>
                </a:cubicBezTo>
                <a:cubicBezTo>
                  <a:pt x="106" y="144"/>
                  <a:pt x="107" y="141"/>
                  <a:pt x="107" y="138"/>
                </a:cubicBezTo>
                <a:cubicBezTo>
                  <a:pt x="107" y="136"/>
                  <a:pt x="106" y="133"/>
                  <a:pt x="104" y="131"/>
                </a:cubicBezTo>
                <a:cubicBezTo>
                  <a:pt x="103" y="130"/>
                  <a:pt x="103" y="130"/>
                  <a:pt x="102" y="129"/>
                </a:cubicBezTo>
                <a:cubicBezTo>
                  <a:pt x="102" y="129"/>
                  <a:pt x="101" y="129"/>
                  <a:pt x="100" y="129"/>
                </a:cubicBezTo>
                <a:cubicBezTo>
                  <a:pt x="100" y="128"/>
                  <a:pt x="99" y="128"/>
                  <a:pt x="98" y="128"/>
                </a:cubicBezTo>
                <a:cubicBezTo>
                  <a:pt x="96" y="127"/>
                  <a:pt x="94" y="128"/>
                  <a:pt x="92" y="129"/>
                </a:cubicBezTo>
                <a:cubicBezTo>
                  <a:pt x="91" y="129"/>
                  <a:pt x="90" y="130"/>
                  <a:pt x="89" y="131"/>
                </a:cubicBezTo>
                <a:cubicBezTo>
                  <a:pt x="87" y="133"/>
                  <a:pt x="86" y="136"/>
                  <a:pt x="86" y="138"/>
                </a:cubicBezTo>
                <a:cubicBezTo>
                  <a:pt x="86" y="140"/>
                  <a:pt x="86" y="141"/>
                  <a:pt x="87" y="142"/>
                </a:cubicBezTo>
                <a:cubicBezTo>
                  <a:pt x="87" y="144"/>
                  <a:pt x="88" y="145"/>
                  <a:pt x="89" y="146"/>
                </a:cubicBezTo>
                <a:close/>
                <a:moveTo>
                  <a:pt x="50" y="148"/>
                </a:moveTo>
                <a:cubicBezTo>
                  <a:pt x="51" y="149"/>
                  <a:pt x="52" y="149"/>
                  <a:pt x="54" y="149"/>
                </a:cubicBezTo>
                <a:cubicBezTo>
                  <a:pt x="55" y="149"/>
                  <a:pt x="56" y="149"/>
                  <a:pt x="58" y="148"/>
                </a:cubicBezTo>
                <a:cubicBezTo>
                  <a:pt x="59" y="148"/>
                  <a:pt x="60" y="147"/>
                  <a:pt x="61" y="146"/>
                </a:cubicBezTo>
                <a:cubicBezTo>
                  <a:pt x="62" y="145"/>
                  <a:pt x="63" y="144"/>
                  <a:pt x="63" y="142"/>
                </a:cubicBezTo>
                <a:cubicBezTo>
                  <a:pt x="64" y="141"/>
                  <a:pt x="64" y="140"/>
                  <a:pt x="64" y="138"/>
                </a:cubicBezTo>
                <a:cubicBezTo>
                  <a:pt x="64" y="136"/>
                  <a:pt x="63" y="133"/>
                  <a:pt x="61" y="131"/>
                </a:cubicBezTo>
                <a:cubicBezTo>
                  <a:pt x="61" y="130"/>
                  <a:pt x="60" y="130"/>
                  <a:pt x="60" y="129"/>
                </a:cubicBezTo>
                <a:cubicBezTo>
                  <a:pt x="59" y="129"/>
                  <a:pt x="58" y="129"/>
                  <a:pt x="58" y="129"/>
                </a:cubicBezTo>
                <a:cubicBezTo>
                  <a:pt x="57" y="128"/>
                  <a:pt x="56" y="128"/>
                  <a:pt x="56" y="128"/>
                </a:cubicBezTo>
                <a:cubicBezTo>
                  <a:pt x="54" y="128"/>
                  <a:pt x="53" y="128"/>
                  <a:pt x="52" y="128"/>
                </a:cubicBezTo>
                <a:cubicBezTo>
                  <a:pt x="51" y="128"/>
                  <a:pt x="50" y="128"/>
                  <a:pt x="50" y="129"/>
                </a:cubicBezTo>
                <a:cubicBezTo>
                  <a:pt x="49" y="129"/>
                  <a:pt x="48" y="129"/>
                  <a:pt x="48" y="129"/>
                </a:cubicBezTo>
                <a:cubicBezTo>
                  <a:pt x="47" y="130"/>
                  <a:pt x="47" y="130"/>
                  <a:pt x="46" y="131"/>
                </a:cubicBezTo>
                <a:cubicBezTo>
                  <a:pt x="44" y="133"/>
                  <a:pt x="43" y="136"/>
                  <a:pt x="43" y="138"/>
                </a:cubicBezTo>
                <a:cubicBezTo>
                  <a:pt x="43" y="141"/>
                  <a:pt x="44" y="144"/>
                  <a:pt x="46" y="146"/>
                </a:cubicBezTo>
                <a:cubicBezTo>
                  <a:pt x="47" y="147"/>
                  <a:pt x="48" y="148"/>
                  <a:pt x="50" y="148"/>
                </a:cubicBezTo>
                <a:close/>
                <a:moveTo>
                  <a:pt x="50" y="105"/>
                </a:moveTo>
                <a:cubicBezTo>
                  <a:pt x="51" y="106"/>
                  <a:pt x="52" y="106"/>
                  <a:pt x="54" y="106"/>
                </a:cubicBezTo>
                <a:cubicBezTo>
                  <a:pt x="57" y="106"/>
                  <a:pt x="59" y="105"/>
                  <a:pt x="61" y="103"/>
                </a:cubicBezTo>
                <a:cubicBezTo>
                  <a:pt x="63" y="101"/>
                  <a:pt x="64" y="99"/>
                  <a:pt x="64" y="96"/>
                </a:cubicBezTo>
                <a:cubicBezTo>
                  <a:pt x="64" y="94"/>
                  <a:pt x="64" y="93"/>
                  <a:pt x="63" y="92"/>
                </a:cubicBezTo>
                <a:cubicBezTo>
                  <a:pt x="63" y="90"/>
                  <a:pt x="62" y="89"/>
                  <a:pt x="61" y="88"/>
                </a:cubicBezTo>
                <a:cubicBezTo>
                  <a:pt x="60" y="87"/>
                  <a:pt x="59" y="86"/>
                  <a:pt x="58" y="86"/>
                </a:cubicBezTo>
                <a:cubicBezTo>
                  <a:pt x="56" y="85"/>
                  <a:pt x="54" y="85"/>
                  <a:pt x="52" y="85"/>
                </a:cubicBezTo>
                <a:cubicBezTo>
                  <a:pt x="51" y="85"/>
                  <a:pt x="50" y="86"/>
                  <a:pt x="50" y="86"/>
                </a:cubicBezTo>
                <a:cubicBezTo>
                  <a:pt x="49" y="86"/>
                  <a:pt x="48" y="86"/>
                  <a:pt x="48" y="87"/>
                </a:cubicBezTo>
                <a:cubicBezTo>
                  <a:pt x="47" y="87"/>
                  <a:pt x="47" y="88"/>
                  <a:pt x="46" y="88"/>
                </a:cubicBezTo>
                <a:cubicBezTo>
                  <a:pt x="45" y="89"/>
                  <a:pt x="44" y="90"/>
                  <a:pt x="44" y="92"/>
                </a:cubicBezTo>
                <a:cubicBezTo>
                  <a:pt x="43" y="93"/>
                  <a:pt x="43" y="94"/>
                  <a:pt x="43" y="96"/>
                </a:cubicBezTo>
                <a:cubicBezTo>
                  <a:pt x="43" y="99"/>
                  <a:pt x="44" y="101"/>
                  <a:pt x="46" y="103"/>
                </a:cubicBezTo>
                <a:cubicBezTo>
                  <a:pt x="47" y="104"/>
                  <a:pt x="48" y="105"/>
                  <a:pt x="50" y="105"/>
                </a:cubicBezTo>
                <a:close/>
                <a:moveTo>
                  <a:pt x="92" y="105"/>
                </a:moveTo>
                <a:cubicBezTo>
                  <a:pt x="94" y="106"/>
                  <a:pt x="95" y="106"/>
                  <a:pt x="96" y="106"/>
                </a:cubicBezTo>
                <a:cubicBezTo>
                  <a:pt x="98" y="106"/>
                  <a:pt x="99" y="106"/>
                  <a:pt x="100" y="105"/>
                </a:cubicBezTo>
                <a:cubicBezTo>
                  <a:pt x="102" y="105"/>
                  <a:pt x="103" y="104"/>
                  <a:pt x="104" y="103"/>
                </a:cubicBezTo>
                <a:cubicBezTo>
                  <a:pt x="106" y="101"/>
                  <a:pt x="107" y="99"/>
                  <a:pt x="107" y="96"/>
                </a:cubicBezTo>
                <a:cubicBezTo>
                  <a:pt x="107" y="94"/>
                  <a:pt x="107" y="93"/>
                  <a:pt x="106" y="92"/>
                </a:cubicBezTo>
                <a:cubicBezTo>
                  <a:pt x="106" y="90"/>
                  <a:pt x="105" y="89"/>
                  <a:pt x="104" y="88"/>
                </a:cubicBezTo>
                <a:cubicBezTo>
                  <a:pt x="101" y="85"/>
                  <a:pt x="96" y="84"/>
                  <a:pt x="92" y="86"/>
                </a:cubicBezTo>
                <a:cubicBezTo>
                  <a:pt x="91" y="86"/>
                  <a:pt x="90" y="87"/>
                  <a:pt x="89" y="88"/>
                </a:cubicBezTo>
                <a:cubicBezTo>
                  <a:pt x="88" y="89"/>
                  <a:pt x="87" y="90"/>
                  <a:pt x="87" y="92"/>
                </a:cubicBezTo>
                <a:cubicBezTo>
                  <a:pt x="86" y="93"/>
                  <a:pt x="86" y="94"/>
                  <a:pt x="86" y="96"/>
                </a:cubicBezTo>
                <a:cubicBezTo>
                  <a:pt x="86" y="99"/>
                  <a:pt x="87" y="101"/>
                  <a:pt x="89" y="103"/>
                </a:cubicBezTo>
                <a:cubicBezTo>
                  <a:pt x="90" y="104"/>
                  <a:pt x="91" y="105"/>
                  <a:pt x="92" y="105"/>
                </a:cubicBezTo>
                <a:close/>
                <a:moveTo>
                  <a:pt x="96" y="64"/>
                </a:moveTo>
                <a:cubicBezTo>
                  <a:pt x="98" y="64"/>
                  <a:pt x="99" y="63"/>
                  <a:pt x="100" y="63"/>
                </a:cubicBezTo>
                <a:cubicBezTo>
                  <a:pt x="102" y="62"/>
                  <a:pt x="103" y="62"/>
                  <a:pt x="104" y="61"/>
                </a:cubicBezTo>
                <a:cubicBezTo>
                  <a:pt x="105" y="59"/>
                  <a:pt x="106" y="58"/>
                  <a:pt x="106" y="57"/>
                </a:cubicBezTo>
                <a:cubicBezTo>
                  <a:pt x="107" y="56"/>
                  <a:pt x="107" y="54"/>
                  <a:pt x="107" y="53"/>
                </a:cubicBezTo>
                <a:cubicBezTo>
                  <a:pt x="107" y="52"/>
                  <a:pt x="107" y="50"/>
                  <a:pt x="106" y="49"/>
                </a:cubicBezTo>
                <a:cubicBezTo>
                  <a:pt x="106" y="48"/>
                  <a:pt x="105" y="46"/>
                  <a:pt x="104" y="45"/>
                </a:cubicBezTo>
                <a:cubicBezTo>
                  <a:pt x="103" y="44"/>
                  <a:pt x="102" y="44"/>
                  <a:pt x="100" y="43"/>
                </a:cubicBezTo>
                <a:cubicBezTo>
                  <a:pt x="97" y="41"/>
                  <a:pt x="92" y="42"/>
                  <a:pt x="89" y="45"/>
                </a:cubicBezTo>
                <a:cubicBezTo>
                  <a:pt x="88" y="46"/>
                  <a:pt x="87" y="48"/>
                  <a:pt x="87" y="49"/>
                </a:cubicBezTo>
                <a:cubicBezTo>
                  <a:pt x="86" y="50"/>
                  <a:pt x="86" y="52"/>
                  <a:pt x="86" y="53"/>
                </a:cubicBezTo>
                <a:cubicBezTo>
                  <a:pt x="86" y="56"/>
                  <a:pt x="87" y="59"/>
                  <a:pt x="89" y="61"/>
                </a:cubicBezTo>
                <a:cubicBezTo>
                  <a:pt x="91" y="63"/>
                  <a:pt x="93" y="64"/>
                  <a:pt x="96" y="64"/>
                </a:cubicBezTo>
                <a:close/>
                <a:moveTo>
                  <a:pt x="50" y="63"/>
                </a:moveTo>
                <a:cubicBezTo>
                  <a:pt x="51" y="63"/>
                  <a:pt x="52" y="64"/>
                  <a:pt x="54" y="64"/>
                </a:cubicBezTo>
                <a:cubicBezTo>
                  <a:pt x="57" y="64"/>
                  <a:pt x="59" y="63"/>
                  <a:pt x="61" y="61"/>
                </a:cubicBezTo>
                <a:cubicBezTo>
                  <a:pt x="63" y="59"/>
                  <a:pt x="64" y="56"/>
                  <a:pt x="64" y="53"/>
                </a:cubicBezTo>
                <a:cubicBezTo>
                  <a:pt x="64" y="52"/>
                  <a:pt x="64" y="50"/>
                  <a:pt x="63" y="49"/>
                </a:cubicBezTo>
                <a:cubicBezTo>
                  <a:pt x="63" y="48"/>
                  <a:pt x="62" y="46"/>
                  <a:pt x="61" y="45"/>
                </a:cubicBezTo>
                <a:cubicBezTo>
                  <a:pt x="57" y="41"/>
                  <a:pt x="50" y="41"/>
                  <a:pt x="46" y="45"/>
                </a:cubicBezTo>
                <a:cubicBezTo>
                  <a:pt x="45" y="46"/>
                  <a:pt x="44" y="48"/>
                  <a:pt x="44" y="49"/>
                </a:cubicBezTo>
                <a:cubicBezTo>
                  <a:pt x="43" y="50"/>
                  <a:pt x="43" y="52"/>
                  <a:pt x="43" y="53"/>
                </a:cubicBezTo>
                <a:cubicBezTo>
                  <a:pt x="43" y="56"/>
                  <a:pt x="44" y="59"/>
                  <a:pt x="46" y="61"/>
                </a:cubicBezTo>
                <a:cubicBezTo>
                  <a:pt x="47" y="62"/>
                  <a:pt x="48" y="62"/>
                  <a:pt x="50" y="63"/>
                </a:cubicBezTo>
                <a:close/>
                <a:moveTo>
                  <a:pt x="174" y="231"/>
                </a:moveTo>
                <a:cubicBezTo>
                  <a:pt x="176" y="233"/>
                  <a:pt x="179" y="234"/>
                  <a:pt x="182" y="234"/>
                </a:cubicBezTo>
                <a:cubicBezTo>
                  <a:pt x="184" y="234"/>
                  <a:pt x="187" y="233"/>
                  <a:pt x="189" y="231"/>
                </a:cubicBezTo>
                <a:cubicBezTo>
                  <a:pt x="190" y="230"/>
                  <a:pt x="191" y="229"/>
                  <a:pt x="191" y="228"/>
                </a:cubicBezTo>
                <a:cubicBezTo>
                  <a:pt x="192" y="226"/>
                  <a:pt x="192" y="225"/>
                  <a:pt x="192" y="224"/>
                </a:cubicBezTo>
                <a:cubicBezTo>
                  <a:pt x="192" y="222"/>
                  <a:pt x="192" y="221"/>
                  <a:pt x="191" y="220"/>
                </a:cubicBezTo>
                <a:cubicBezTo>
                  <a:pt x="191" y="218"/>
                  <a:pt x="190" y="217"/>
                  <a:pt x="189" y="216"/>
                </a:cubicBezTo>
                <a:cubicBezTo>
                  <a:pt x="189" y="216"/>
                  <a:pt x="188" y="215"/>
                  <a:pt x="188" y="215"/>
                </a:cubicBezTo>
                <a:cubicBezTo>
                  <a:pt x="187" y="214"/>
                  <a:pt x="186" y="214"/>
                  <a:pt x="186" y="214"/>
                </a:cubicBezTo>
                <a:cubicBezTo>
                  <a:pt x="185" y="214"/>
                  <a:pt x="184" y="213"/>
                  <a:pt x="184" y="213"/>
                </a:cubicBezTo>
                <a:cubicBezTo>
                  <a:pt x="182" y="213"/>
                  <a:pt x="181" y="213"/>
                  <a:pt x="180" y="213"/>
                </a:cubicBezTo>
                <a:cubicBezTo>
                  <a:pt x="179" y="213"/>
                  <a:pt x="178" y="214"/>
                  <a:pt x="178" y="214"/>
                </a:cubicBezTo>
                <a:cubicBezTo>
                  <a:pt x="177" y="214"/>
                  <a:pt x="176" y="214"/>
                  <a:pt x="176" y="215"/>
                </a:cubicBezTo>
                <a:cubicBezTo>
                  <a:pt x="175" y="215"/>
                  <a:pt x="175" y="216"/>
                  <a:pt x="174" y="216"/>
                </a:cubicBezTo>
                <a:cubicBezTo>
                  <a:pt x="173" y="217"/>
                  <a:pt x="172" y="218"/>
                  <a:pt x="172" y="220"/>
                </a:cubicBezTo>
                <a:cubicBezTo>
                  <a:pt x="171" y="221"/>
                  <a:pt x="171" y="222"/>
                  <a:pt x="171" y="224"/>
                </a:cubicBezTo>
                <a:cubicBezTo>
                  <a:pt x="171" y="225"/>
                  <a:pt x="171" y="226"/>
                  <a:pt x="172" y="228"/>
                </a:cubicBezTo>
                <a:cubicBezTo>
                  <a:pt x="172" y="229"/>
                  <a:pt x="173" y="230"/>
                  <a:pt x="174" y="231"/>
                </a:cubicBezTo>
                <a:close/>
                <a:moveTo>
                  <a:pt x="174" y="189"/>
                </a:moveTo>
                <a:cubicBezTo>
                  <a:pt x="175" y="190"/>
                  <a:pt x="176" y="190"/>
                  <a:pt x="178" y="191"/>
                </a:cubicBezTo>
                <a:cubicBezTo>
                  <a:pt x="179" y="191"/>
                  <a:pt x="180" y="192"/>
                  <a:pt x="182" y="192"/>
                </a:cubicBezTo>
                <a:cubicBezTo>
                  <a:pt x="183" y="192"/>
                  <a:pt x="184" y="191"/>
                  <a:pt x="186" y="191"/>
                </a:cubicBezTo>
                <a:cubicBezTo>
                  <a:pt x="187" y="190"/>
                  <a:pt x="188" y="190"/>
                  <a:pt x="189" y="189"/>
                </a:cubicBezTo>
                <a:cubicBezTo>
                  <a:pt x="190" y="188"/>
                  <a:pt x="191" y="186"/>
                  <a:pt x="191" y="185"/>
                </a:cubicBezTo>
                <a:cubicBezTo>
                  <a:pt x="192" y="184"/>
                  <a:pt x="192" y="182"/>
                  <a:pt x="192" y="181"/>
                </a:cubicBezTo>
                <a:cubicBezTo>
                  <a:pt x="192" y="180"/>
                  <a:pt x="192" y="178"/>
                  <a:pt x="191" y="177"/>
                </a:cubicBezTo>
                <a:cubicBezTo>
                  <a:pt x="191" y="176"/>
                  <a:pt x="190" y="174"/>
                  <a:pt x="189" y="173"/>
                </a:cubicBezTo>
                <a:cubicBezTo>
                  <a:pt x="188" y="172"/>
                  <a:pt x="187" y="172"/>
                  <a:pt x="186" y="171"/>
                </a:cubicBezTo>
                <a:cubicBezTo>
                  <a:pt x="183" y="170"/>
                  <a:pt x="180" y="170"/>
                  <a:pt x="178" y="171"/>
                </a:cubicBezTo>
                <a:cubicBezTo>
                  <a:pt x="176" y="172"/>
                  <a:pt x="175" y="172"/>
                  <a:pt x="174" y="173"/>
                </a:cubicBezTo>
                <a:cubicBezTo>
                  <a:pt x="173" y="174"/>
                  <a:pt x="172" y="176"/>
                  <a:pt x="172" y="177"/>
                </a:cubicBezTo>
                <a:cubicBezTo>
                  <a:pt x="171" y="178"/>
                  <a:pt x="171" y="180"/>
                  <a:pt x="171" y="181"/>
                </a:cubicBezTo>
                <a:cubicBezTo>
                  <a:pt x="171" y="182"/>
                  <a:pt x="171" y="184"/>
                  <a:pt x="172" y="185"/>
                </a:cubicBezTo>
                <a:cubicBezTo>
                  <a:pt x="172" y="186"/>
                  <a:pt x="173" y="188"/>
                  <a:pt x="174" y="189"/>
                </a:cubicBezTo>
                <a:close/>
                <a:moveTo>
                  <a:pt x="174" y="146"/>
                </a:moveTo>
                <a:cubicBezTo>
                  <a:pt x="175" y="147"/>
                  <a:pt x="176" y="148"/>
                  <a:pt x="178" y="148"/>
                </a:cubicBezTo>
                <a:cubicBezTo>
                  <a:pt x="179" y="149"/>
                  <a:pt x="180" y="149"/>
                  <a:pt x="182" y="149"/>
                </a:cubicBezTo>
                <a:cubicBezTo>
                  <a:pt x="183" y="149"/>
                  <a:pt x="184" y="149"/>
                  <a:pt x="186" y="148"/>
                </a:cubicBezTo>
                <a:cubicBezTo>
                  <a:pt x="187" y="148"/>
                  <a:pt x="188" y="147"/>
                  <a:pt x="189" y="146"/>
                </a:cubicBezTo>
                <a:cubicBezTo>
                  <a:pt x="190" y="145"/>
                  <a:pt x="191" y="144"/>
                  <a:pt x="191" y="142"/>
                </a:cubicBezTo>
                <a:cubicBezTo>
                  <a:pt x="192" y="141"/>
                  <a:pt x="192" y="140"/>
                  <a:pt x="192" y="138"/>
                </a:cubicBezTo>
                <a:cubicBezTo>
                  <a:pt x="192" y="136"/>
                  <a:pt x="191" y="133"/>
                  <a:pt x="189" y="131"/>
                </a:cubicBezTo>
                <a:cubicBezTo>
                  <a:pt x="187" y="128"/>
                  <a:pt x="183" y="127"/>
                  <a:pt x="180" y="128"/>
                </a:cubicBezTo>
                <a:cubicBezTo>
                  <a:pt x="179" y="128"/>
                  <a:pt x="178" y="128"/>
                  <a:pt x="178" y="129"/>
                </a:cubicBezTo>
                <a:cubicBezTo>
                  <a:pt x="177" y="129"/>
                  <a:pt x="176" y="129"/>
                  <a:pt x="176" y="129"/>
                </a:cubicBezTo>
                <a:cubicBezTo>
                  <a:pt x="175" y="130"/>
                  <a:pt x="175" y="130"/>
                  <a:pt x="174" y="131"/>
                </a:cubicBezTo>
                <a:cubicBezTo>
                  <a:pt x="172" y="133"/>
                  <a:pt x="171" y="136"/>
                  <a:pt x="171" y="138"/>
                </a:cubicBezTo>
                <a:cubicBezTo>
                  <a:pt x="171" y="140"/>
                  <a:pt x="171" y="141"/>
                  <a:pt x="172" y="142"/>
                </a:cubicBezTo>
                <a:cubicBezTo>
                  <a:pt x="172" y="144"/>
                  <a:pt x="173" y="145"/>
                  <a:pt x="174" y="146"/>
                </a:cubicBezTo>
                <a:close/>
                <a:moveTo>
                  <a:pt x="235" y="96"/>
                </a:moveTo>
                <a:cubicBezTo>
                  <a:pt x="235" y="309"/>
                  <a:pt x="235" y="309"/>
                  <a:pt x="235" y="309"/>
                </a:cubicBezTo>
                <a:cubicBezTo>
                  <a:pt x="235" y="315"/>
                  <a:pt x="230" y="320"/>
                  <a:pt x="224" y="320"/>
                </a:cubicBezTo>
                <a:cubicBezTo>
                  <a:pt x="11" y="320"/>
                  <a:pt x="11" y="320"/>
                  <a:pt x="11" y="320"/>
                </a:cubicBezTo>
                <a:cubicBezTo>
                  <a:pt x="5" y="320"/>
                  <a:pt x="0" y="315"/>
                  <a:pt x="0" y="309"/>
                </a:cubicBezTo>
                <a:cubicBezTo>
                  <a:pt x="0" y="10"/>
                  <a:pt x="0" y="10"/>
                  <a:pt x="0" y="10"/>
                </a:cubicBezTo>
                <a:cubicBezTo>
                  <a:pt x="0" y="4"/>
                  <a:pt x="5" y="0"/>
                  <a:pt x="11" y="0"/>
                </a:cubicBezTo>
                <a:cubicBezTo>
                  <a:pt x="139" y="0"/>
                  <a:pt x="139" y="0"/>
                  <a:pt x="139" y="0"/>
                </a:cubicBezTo>
                <a:cubicBezTo>
                  <a:pt x="145" y="0"/>
                  <a:pt x="150" y="4"/>
                  <a:pt x="150" y="10"/>
                </a:cubicBezTo>
                <a:cubicBezTo>
                  <a:pt x="150" y="85"/>
                  <a:pt x="150" y="85"/>
                  <a:pt x="150" y="85"/>
                </a:cubicBezTo>
                <a:cubicBezTo>
                  <a:pt x="224" y="85"/>
                  <a:pt x="224" y="85"/>
                  <a:pt x="224" y="85"/>
                </a:cubicBezTo>
                <a:cubicBezTo>
                  <a:pt x="230" y="85"/>
                  <a:pt x="235" y="90"/>
                  <a:pt x="235" y="96"/>
                </a:cubicBezTo>
                <a:close/>
                <a:moveTo>
                  <a:pt x="22" y="298"/>
                </a:moveTo>
                <a:cubicBezTo>
                  <a:pt x="43" y="298"/>
                  <a:pt x="43" y="298"/>
                  <a:pt x="43" y="298"/>
                </a:cubicBezTo>
                <a:cubicBezTo>
                  <a:pt x="43" y="266"/>
                  <a:pt x="43" y="266"/>
                  <a:pt x="43" y="266"/>
                </a:cubicBezTo>
                <a:cubicBezTo>
                  <a:pt x="43" y="260"/>
                  <a:pt x="48" y="256"/>
                  <a:pt x="54" y="256"/>
                </a:cubicBezTo>
                <a:cubicBezTo>
                  <a:pt x="60" y="256"/>
                  <a:pt x="64" y="260"/>
                  <a:pt x="64" y="266"/>
                </a:cubicBezTo>
                <a:cubicBezTo>
                  <a:pt x="64" y="298"/>
                  <a:pt x="64" y="298"/>
                  <a:pt x="64" y="298"/>
                </a:cubicBezTo>
                <a:cubicBezTo>
                  <a:pt x="128" y="298"/>
                  <a:pt x="128" y="298"/>
                  <a:pt x="128" y="298"/>
                </a:cubicBezTo>
                <a:cubicBezTo>
                  <a:pt x="128" y="21"/>
                  <a:pt x="128" y="21"/>
                  <a:pt x="128" y="21"/>
                </a:cubicBezTo>
                <a:cubicBezTo>
                  <a:pt x="22" y="21"/>
                  <a:pt x="22" y="21"/>
                  <a:pt x="22" y="21"/>
                </a:cubicBezTo>
                <a:lnTo>
                  <a:pt x="22" y="298"/>
                </a:lnTo>
                <a:close/>
                <a:moveTo>
                  <a:pt x="214" y="106"/>
                </a:moveTo>
                <a:cubicBezTo>
                  <a:pt x="150" y="106"/>
                  <a:pt x="150" y="106"/>
                  <a:pt x="150" y="106"/>
                </a:cubicBezTo>
                <a:cubicBezTo>
                  <a:pt x="150" y="298"/>
                  <a:pt x="150" y="298"/>
                  <a:pt x="150" y="298"/>
                </a:cubicBezTo>
                <a:cubicBezTo>
                  <a:pt x="171" y="298"/>
                  <a:pt x="171" y="298"/>
                  <a:pt x="171" y="298"/>
                </a:cubicBezTo>
                <a:cubicBezTo>
                  <a:pt x="171" y="266"/>
                  <a:pt x="171" y="266"/>
                  <a:pt x="171" y="266"/>
                </a:cubicBezTo>
                <a:cubicBezTo>
                  <a:pt x="171" y="260"/>
                  <a:pt x="176" y="256"/>
                  <a:pt x="182" y="256"/>
                </a:cubicBezTo>
                <a:cubicBezTo>
                  <a:pt x="188" y="256"/>
                  <a:pt x="192" y="260"/>
                  <a:pt x="192" y="266"/>
                </a:cubicBezTo>
                <a:cubicBezTo>
                  <a:pt x="192" y="298"/>
                  <a:pt x="192" y="298"/>
                  <a:pt x="192" y="298"/>
                </a:cubicBezTo>
                <a:cubicBezTo>
                  <a:pt x="214" y="298"/>
                  <a:pt x="214" y="298"/>
                  <a:pt x="214" y="298"/>
                </a:cubicBezTo>
                <a:lnTo>
                  <a:pt x="214" y="106"/>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05" name="Arrow: Curved Down 204">
            <a:extLst>
              <a:ext uri="{FF2B5EF4-FFF2-40B4-BE49-F238E27FC236}">
                <a16:creationId xmlns:a16="http://schemas.microsoft.com/office/drawing/2014/main" id="{650467B0-F9BC-DCDF-1B34-C55304733413}"/>
              </a:ext>
            </a:extLst>
          </p:cNvPr>
          <p:cNvSpPr/>
          <p:nvPr/>
        </p:nvSpPr>
        <p:spPr bwMode="gray">
          <a:xfrm flipH="1">
            <a:off x="3978596" y="1908964"/>
            <a:ext cx="294956" cy="131817"/>
          </a:xfrm>
          <a:prstGeom prst="curvedDownArrow">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nvGrpSpPr>
          <p:cNvPr id="206" name="Group 638">
            <a:extLst>
              <a:ext uri="{FF2B5EF4-FFF2-40B4-BE49-F238E27FC236}">
                <a16:creationId xmlns:a16="http://schemas.microsoft.com/office/drawing/2014/main" id="{E98375D1-2638-E7CC-2738-464E879B3FCC}"/>
              </a:ext>
            </a:extLst>
          </p:cNvPr>
          <p:cNvGrpSpPr>
            <a:grpSpLocks noChangeAspect="1"/>
          </p:cNvGrpSpPr>
          <p:nvPr/>
        </p:nvGrpSpPr>
        <p:grpSpPr bwMode="auto">
          <a:xfrm>
            <a:off x="4953960" y="1943770"/>
            <a:ext cx="164114" cy="256120"/>
            <a:chOff x="4405" y="2330"/>
            <a:chExt cx="132" cy="206"/>
          </a:xfrm>
          <a:solidFill>
            <a:srgbClr val="86BC25"/>
          </a:solidFill>
        </p:grpSpPr>
        <p:sp>
          <p:nvSpPr>
            <p:cNvPr id="207" name="Freeform 639">
              <a:extLst>
                <a:ext uri="{FF2B5EF4-FFF2-40B4-BE49-F238E27FC236}">
                  <a16:creationId xmlns:a16="http://schemas.microsoft.com/office/drawing/2014/main" id="{441966E3-128B-7243-1B86-68344096FD89}"/>
                </a:ext>
              </a:extLst>
            </p:cNvPr>
            <p:cNvSpPr>
              <a:spLocks/>
            </p:cNvSpPr>
            <p:nvPr/>
          </p:nvSpPr>
          <p:spPr bwMode="auto">
            <a:xfrm>
              <a:off x="4463" y="2437"/>
              <a:ext cx="14" cy="99"/>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08" name="Freeform 640">
              <a:extLst>
                <a:ext uri="{FF2B5EF4-FFF2-40B4-BE49-F238E27FC236}">
                  <a16:creationId xmlns:a16="http://schemas.microsoft.com/office/drawing/2014/main" id="{E6A3E70C-DBF6-93E0-CE28-CD95FC4C456C}"/>
                </a:ext>
              </a:extLst>
            </p:cNvPr>
            <p:cNvSpPr>
              <a:spLocks noEditPoints="1"/>
            </p:cNvSpPr>
            <p:nvPr/>
          </p:nvSpPr>
          <p:spPr bwMode="auto">
            <a:xfrm>
              <a:off x="4405" y="2330"/>
              <a:ext cx="132" cy="107"/>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sp>
        <p:nvSpPr>
          <p:cNvPr id="209" name="Rectangle 208">
            <a:extLst>
              <a:ext uri="{FF2B5EF4-FFF2-40B4-BE49-F238E27FC236}">
                <a16:creationId xmlns:a16="http://schemas.microsoft.com/office/drawing/2014/main" id="{FE4B9760-9DD0-1A93-1E12-F9BA102185EA}"/>
              </a:ext>
            </a:extLst>
          </p:cNvPr>
          <p:cNvSpPr/>
          <p:nvPr/>
        </p:nvSpPr>
        <p:spPr bwMode="gray">
          <a:xfrm>
            <a:off x="4685831" y="1884078"/>
            <a:ext cx="773465" cy="482237"/>
          </a:xfrm>
          <a:prstGeom prst="rect">
            <a:avLst/>
          </a:prstGeom>
          <a:solidFill>
            <a:srgbClr val="007CB0"/>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Consumers</a:t>
            </a:r>
          </a:p>
        </p:txBody>
      </p:sp>
      <p:sp>
        <p:nvSpPr>
          <p:cNvPr id="210" name="Rectangle 209">
            <a:extLst>
              <a:ext uri="{FF2B5EF4-FFF2-40B4-BE49-F238E27FC236}">
                <a16:creationId xmlns:a16="http://schemas.microsoft.com/office/drawing/2014/main" id="{58939914-412A-1748-DC0E-0EA389AF6C6C}"/>
              </a:ext>
            </a:extLst>
          </p:cNvPr>
          <p:cNvSpPr/>
          <p:nvPr/>
        </p:nvSpPr>
        <p:spPr bwMode="gray">
          <a:xfrm>
            <a:off x="4750408" y="1734605"/>
            <a:ext cx="631638" cy="104259"/>
          </a:xfrm>
          <a:prstGeom prst="rect">
            <a:avLst/>
          </a:prstGeom>
          <a:noFill/>
          <a:ln w="19050" algn="ctr">
            <a:noFill/>
            <a:miter lim="800000"/>
            <a:headEnd/>
            <a:tailEnd/>
          </a:ln>
        </p:spPr>
        <p:txBody>
          <a:bodyPr wrap="square" lIns="0" tIns="0" rIns="0" bIns="0" rtlCol="0" anchor="ctr">
            <a:spAutoFit/>
          </a:bodyPr>
          <a:lstStyle/>
          <a:p>
            <a:pPr algn="ctr">
              <a:lnSpc>
                <a:spcPct val="106000"/>
              </a:lnSpc>
              <a:buFont typeface="Wingdings 2" pitchFamily="18" charset="2"/>
              <a:buNone/>
            </a:pPr>
            <a:r>
              <a:rPr lang="en-US" sz="700" b="1">
                <a:solidFill>
                  <a:prstClr val="black"/>
                </a:solidFill>
                <a:latin typeface="Verdana" panose="020B0604030504040204" pitchFamily="34" charset="0"/>
                <a:ea typeface="Verdana" panose="020B0604030504040204" pitchFamily="34" charset="0"/>
                <a:cs typeface="Arial" panose="020B0604020202020204" pitchFamily="34" charset="0"/>
              </a:rPr>
              <a:t>Consumers</a:t>
            </a:r>
          </a:p>
        </p:txBody>
      </p:sp>
      <p:grpSp>
        <p:nvGrpSpPr>
          <p:cNvPr id="211" name="Group 828">
            <a:extLst>
              <a:ext uri="{FF2B5EF4-FFF2-40B4-BE49-F238E27FC236}">
                <a16:creationId xmlns:a16="http://schemas.microsoft.com/office/drawing/2014/main" id="{D9D38696-56A3-41ED-BBDB-B20DC02EC784}"/>
              </a:ext>
            </a:extLst>
          </p:cNvPr>
          <p:cNvGrpSpPr>
            <a:grpSpLocks noChangeAspect="1"/>
          </p:cNvGrpSpPr>
          <p:nvPr/>
        </p:nvGrpSpPr>
        <p:grpSpPr bwMode="auto">
          <a:xfrm>
            <a:off x="5000649" y="1964350"/>
            <a:ext cx="164115" cy="203464"/>
            <a:chOff x="5127" y="3083"/>
            <a:chExt cx="171" cy="212"/>
          </a:xfrm>
          <a:solidFill>
            <a:sysClr val="window" lastClr="FFFFFF"/>
          </a:solidFill>
        </p:grpSpPr>
        <p:sp>
          <p:nvSpPr>
            <p:cNvPr id="212" name="Freeform 829">
              <a:extLst>
                <a:ext uri="{FF2B5EF4-FFF2-40B4-BE49-F238E27FC236}">
                  <a16:creationId xmlns:a16="http://schemas.microsoft.com/office/drawing/2014/main" id="{8938EAC1-6088-2BE6-AFEE-8AD9F5A9C550}"/>
                </a:ext>
              </a:extLst>
            </p:cNvPr>
            <p:cNvSpPr>
              <a:spLocks noEditPoints="1"/>
            </p:cNvSpPr>
            <p:nvPr/>
          </p:nvSpPr>
          <p:spPr bwMode="auto">
            <a:xfrm>
              <a:off x="5226" y="3139"/>
              <a:ext cx="72" cy="156"/>
            </a:xfrm>
            <a:custGeom>
              <a:avLst/>
              <a:gdLst>
                <a:gd name="T0" fmla="*/ 74 w 107"/>
                <a:gd name="T1" fmla="*/ 8 h 235"/>
                <a:gd name="T2" fmla="*/ 64 w 107"/>
                <a:gd name="T3" fmla="*/ 0 h 235"/>
                <a:gd name="T4" fmla="*/ 43 w 107"/>
                <a:gd name="T5" fmla="*/ 0 h 235"/>
                <a:gd name="T6" fmla="*/ 32 w 107"/>
                <a:gd name="T7" fmla="*/ 8 h 235"/>
                <a:gd name="T8" fmla="*/ 0 w 107"/>
                <a:gd name="T9" fmla="*/ 136 h 235"/>
                <a:gd name="T10" fmla="*/ 2 w 107"/>
                <a:gd name="T11" fmla="*/ 145 h 235"/>
                <a:gd name="T12" fmla="*/ 11 w 107"/>
                <a:gd name="T13" fmla="*/ 149 h 235"/>
                <a:gd name="T14" fmla="*/ 21 w 107"/>
                <a:gd name="T15" fmla="*/ 149 h 235"/>
                <a:gd name="T16" fmla="*/ 21 w 107"/>
                <a:gd name="T17" fmla="*/ 224 h 235"/>
                <a:gd name="T18" fmla="*/ 32 w 107"/>
                <a:gd name="T19" fmla="*/ 235 h 235"/>
                <a:gd name="T20" fmla="*/ 43 w 107"/>
                <a:gd name="T21" fmla="*/ 224 h 235"/>
                <a:gd name="T22" fmla="*/ 43 w 107"/>
                <a:gd name="T23" fmla="*/ 149 h 235"/>
                <a:gd name="T24" fmla="*/ 64 w 107"/>
                <a:gd name="T25" fmla="*/ 149 h 235"/>
                <a:gd name="T26" fmla="*/ 64 w 107"/>
                <a:gd name="T27" fmla="*/ 224 h 235"/>
                <a:gd name="T28" fmla="*/ 75 w 107"/>
                <a:gd name="T29" fmla="*/ 235 h 235"/>
                <a:gd name="T30" fmla="*/ 85 w 107"/>
                <a:gd name="T31" fmla="*/ 224 h 235"/>
                <a:gd name="T32" fmla="*/ 85 w 107"/>
                <a:gd name="T33" fmla="*/ 149 h 235"/>
                <a:gd name="T34" fmla="*/ 96 w 107"/>
                <a:gd name="T35" fmla="*/ 149 h 235"/>
                <a:gd name="T36" fmla="*/ 104 w 107"/>
                <a:gd name="T37" fmla="*/ 145 h 235"/>
                <a:gd name="T38" fmla="*/ 106 w 107"/>
                <a:gd name="T39" fmla="*/ 136 h 235"/>
                <a:gd name="T40" fmla="*/ 74 w 107"/>
                <a:gd name="T41" fmla="*/ 8 h 235"/>
                <a:gd name="T42" fmla="*/ 51 w 107"/>
                <a:gd name="T43" fmla="*/ 21 h 235"/>
                <a:gd name="T44" fmla="*/ 56 w 107"/>
                <a:gd name="T45" fmla="*/ 21 h 235"/>
                <a:gd name="T46" fmla="*/ 82 w 107"/>
                <a:gd name="T47" fmla="*/ 128 h 235"/>
                <a:gd name="T48" fmla="*/ 24 w 107"/>
                <a:gd name="T49" fmla="*/ 128 h 235"/>
                <a:gd name="T50" fmla="*/ 51 w 107"/>
                <a:gd name="T51" fmla="*/ 2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7" h="235">
                  <a:moveTo>
                    <a:pt x="74" y="8"/>
                  </a:moveTo>
                  <a:cubicBezTo>
                    <a:pt x="73" y="3"/>
                    <a:pt x="69" y="0"/>
                    <a:pt x="64" y="0"/>
                  </a:cubicBezTo>
                  <a:cubicBezTo>
                    <a:pt x="43" y="0"/>
                    <a:pt x="43" y="0"/>
                    <a:pt x="43" y="0"/>
                  </a:cubicBezTo>
                  <a:cubicBezTo>
                    <a:pt x="38" y="0"/>
                    <a:pt x="34" y="3"/>
                    <a:pt x="32" y="8"/>
                  </a:cubicBezTo>
                  <a:cubicBezTo>
                    <a:pt x="0" y="136"/>
                    <a:pt x="0" y="136"/>
                    <a:pt x="0" y="136"/>
                  </a:cubicBezTo>
                  <a:cubicBezTo>
                    <a:pt x="0" y="139"/>
                    <a:pt x="0" y="143"/>
                    <a:pt x="2" y="145"/>
                  </a:cubicBezTo>
                  <a:cubicBezTo>
                    <a:pt x="4" y="148"/>
                    <a:pt x="7" y="149"/>
                    <a:pt x="11" y="149"/>
                  </a:cubicBezTo>
                  <a:cubicBezTo>
                    <a:pt x="21" y="149"/>
                    <a:pt x="21" y="149"/>
                    <a:pt x="21" y="149"/>
                  </a:cubicBezTo>
                  <a:cubicBezTo>
                    <a:pt x="21" y="224"/>
                    <a:pt x="21" y="224"/>
                    <a:pt x="21" y="224"/>
                  </a:cubicBezTo>
                  <a:cubicBezTo>
                    <a:pt x="21" y="230"/>
                    <a:pt x="26" y="235"/>
                    <a:pt x="32" y="235"/>
                  </a:cubicBezTo>
                  <a:cubicBezTo>
                    <a:pt x="38" y="235"/>
                    <a:pt x="43" y="230"/>
                    <a:pt x="43" y="224"/>
                  </a:cubicBezTo>
                  <a:cubicBezTo>
                    <a:pt x="43" y="149"/>
                    <a:pt x="43" y="149"/>
                    <a:pt x="43" y="149"/>
                  </a:cubicBezTo>
                  <a:cubicBezTo>
                    <a:pt x="64" y="149"/>
                    <a:pt x="64" y="149"/>
                    <a:pt x="64" y="149"/>
                  </a:cubicBezTo>
                  <a:cubicBezTo>
                    <a:pt x="64" y="224"/>
                    <a:pt x="64" y="224"/>
                    <a:pt x="64" y="224"/>
                  </a:cubicBezTo>
                  <a:cubicBezTo>
                    <a:pt x="64" y="230"/>
                    <a:pt x="69" y="235"/>
                    <a:pt x="75" y="235"/>
                  </a:cubicBezTo>
                  <a:cubicBezTo>
                    <a:pt x="81" y="235"/>
                    <a:pt x="85" y="230"/>
                    <a:pt x="85" y="224"/>
                  </a:cubicBezTo>
                  <a:cubicBezTo>
                    <a:pt x="85" y="149"/>
                    <a:pt x="85" y="149"/>
                    <a:pt x="85" y="149"/>
                  </a:cubicBezTo>
                  <a:cubicBezTo>
                    <a:pt x="96" y="149"/>
                    <a:pt x="96" y="149"/>
                    <a:pt x="96" y="149"/>
                  </a:cubicBezTo>
                  <a:cubicBezTo>
                    <a:pt x="99" y="149"/>
                    <a:pt x="102" y="148"/>
                    <a:pt x="104" y="145"/>
                  </a:cubicBezTo>
                  <a:cubicBezTo>
                    <a:pt x="106" y="143"/>
                    <a:pt x="107" y="139"/>
                    <a:pt x="106" y="136"/>
                  </a:cubicBezTo>
                  <a:lnTo>
                    <a:pt x="74" y="8"/>
                  </a:lnTo>
                  <a:close/>
                  <a:moveTo>
                    <a:pt x="51" y="21"/>
                  </a:moveTo>
                  <a:cubicBezTo>
                    <a:pt x="56" y="21"/>
                    <a:pt x="56" y="21"/>
                    <a:pt x="56" y="21"/>
                  </a:cubicBezTo>
                  <a:cubicBezTo>
                    <a:pt x="82" y="128"/>
                    <a:pt x="82" y="128"/>
                    <a:pt x="82" y="128"/>
                  </a:cubicBezTo>
                  <a:cubicBezTo>
                    <a:pt x="24" y="128"/>
                    <a:pt x="24" y="128"/>
                    <a:pt x="24" y="128"/>
                  </a:cubicBezTo>
                  <a:lnTo>
                    <a:pt x="5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13" name="Freeform 830">
              <a:extLst>
                <a:ext uri="{FF2B5EF4-FFF2-40B4-BE49-F238E27FC236}">
                  <a16:creationId xmlns:a16="http://schemas.microsoft.com/office/drawing/2014/main" id="{21202279-4CD0-FB7A-4FD0-31D5CCA206D0}"/>
                </a:ext>
              </a:extLst>
            </p:cNvPr>
            <p:cNvSpPr>
              <a:spLocks noEditPoints="1"/>
            </p:cNvSpPr>
            <p:nvPr/>
          </p:nvSpPr>
          <p:spPr bwMode="auto">
            <a:xfrm>
              <a:off x="5240" y="308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14" name="Freeform 831">
              <a:extLst>
                <a:ext uri="{FF2B5EF4-FFF2-40B4-BE49-F238E27FC236}">
                  <a16:creationId xmlns:a16="http://schemas.microsoft.com/office/drawing/2014/main" id="{2DD9ED5B-769E-2D06-C4B5-C6FE25A38201}"/>
                </a:ext>
              </a:extLst>
            </p:cNvPr>
            <p:cNvSpPr>
              <a:spLocks noEditPoints="1"/>
            </p:cNvSpPr>
            <p:nvPr/>
          </p:nvSpPr>
          <p:spPr bwMode="auto">
            <a:xfrm>
              <a:off x="5127" y="3139"/>
              <a:ext cx="71" cy="156"/>
            </a:xfrm>
            <a:custGeom>
              <a:avLst/>
              <a:gdLst>
                <a:gd name="T0" fmla="*/ 96 w 106"/>
                <a:gd name="T1" fmla="*/ 0 h 235"/>
                <a:gd name="T2" fmla="*/ 10 w 106"/>
                <a:gd name="T3" fmla="*/ 0 h 235"/>
                <a:gd name="T4" fmla="*/ 0 w 106"/>
                <a:gd name="T5" fmla="*/ 11 h 235"/>
                <a:gd name="T6" fmla="*/ 0 w 106"/>
                <a:gd name="T7" fmla="*/ 117 h 235"/>
                <a:gd name="T8" fmla="*/ 10 w 106"/>
                <a:gd name="T9" fmla="*/ 128 h 235"/>
                <a:gd name="T10" fmla="*/ 21 w 106"/>
                <a:gd name="T11" fmla="*/ 128 h 235"/>
                <a:gd name="T12" fmla="*/ 21 w 106"/>
                <a:gd name="T13" fmla="*/ 224 h 235"/>
                <a:gd name="T14" fmla="*/ 32 w 106"/>
                <a:gd name="T15" fmla="*/ 235 h 235"/>
                <a:gd name="T16" fmla="*/ 42 w 106"/>
                <a:gd name="T17" fmla="*/ 224 h 235"/>
                <a:gd name="T18" fmla="*/ 42 w 106"/>
                <a:gd name="T19" fmla="*/ 128 h 235"/>
                <a:gd name="T20" fmla="*/ 64 w 106"/>
                <a:gd name="T21" fmla="*/ 128 h 235"/>
                <a:gd name="T22" fmla="*/ 64 w 106"/>
                <a:gd name="T23" fmla="*/ 224 h 235"/>
                <a:gd name="T24" fmla="*/ 74 w 106"/>
                <a:gd name="T25" fmla="*/ 235 h 235"/>
                <a:gd name="T26" fmla="*/ 85 w 106"/>
                <a:gd name="T27" fmla="*/ 224 h 235"/>
                <a:gd name="T28" fmla="*/ 85 w 106"/>
                <a:gd name="T29" fmla="*/ 128 h 235"/>
                <a:gd name="T30" fmla="*/ 96 w 106"/>
                <a:gd name="T31" fmla="*/ 128 h 235"/>
                <a:gd name="T32" fmla="*/ 106 w 106"/>
                <a:gd name="T33" fmla="*/ 117 h 235"/>
                <a:gd name="T34" fmla="*/ 106 w 106"/>
                <a:gd name="T35" fmla="*/ 11 h 235"/>
                <a:gd name="T36" fmla="*/ 96 w 106"/>
                <a:gd name="T37" fmla="*/ 0 h 235"/>
                <a:gd name="T38" fmla="*/ 85 w 106"/>
                <a:gd name="T39" fmla="*/ 107 h 235"/>
                <a:gd name="T40" fmla="*/ 21 w 106"/>
                <a:gd name="T41" fmla="*/ 107 h 235"/>
                <a:gd name="T42" fmla="*/ 21 w 106"/>
                <a:gd name="T43" fmla="*/ 21 h 235"/>
                <a:gd name="T44" fmla="*/ 85 w 106"/>
                <a:gd name="T45" fmla="*/ 21 h 235"/>
                <a:gd name="T46" fmla="*/ 85 w 106"/>
                <a:gd name="T47" fmla="*/ 1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235">
                  <a:moveTo>
                    <a:pt x="96" y="0"/>
                  </a:moveTo>
                  <a:cubicBezTo>
                    <a:pt x="10" y="0"/>
                    <a:pt x="10" y="0"/>
                    <a:pt x="10" y="0"/>
                  </a:cubicBezTo>
                  <a:cubicBezTo>
                    <a:pt x="4" y="0"/>
                    <a:pt x="0" y="5"/>
                    <a:pt x="0" y="11"/>
                  </a:cubicBezTo>
                  <a:cubicBezTo>
                    <a:pt x="0" y="117"/>
                    <a:pt x="0" y="117"/>
                    <a:pt x="0" y="117"/>
                  </a:cubicBezTo>
                  <a:cubicBezTo>
                    <a:pt x="0" y="123"/>
                    <a:pt x="4" y="128"/>
                    <a:pt x="10" y="128"/>
                  </a:cubicBezTo>
                  <a:cubicBezTo>
                    <a:pt x="21" y="128"/>
                    <a:pt x="21" y="128"/>
                    <a:pt x="21" y="128"/>
                  </a:cubicBezTo>
                  <a:cubicBezTo>
                    <a:pt x="21" y="224"/>
                    <a:pt x="21" y="224"/>
                    <a:pt x="21" y="224"/>
                  </a:cubicBezTo>
                  <a:cubicBezTo>
                    <a:pt x="21" y="230"/>
                    <a:pt x="26" y="235"/>
                    <a:pt x="32" y="235"/>
                  </a:cubicBezTo>
                  <a:cubicBezTo>
                    <a:pt x="38" y="235"/>
                    <a:pt x="42" y="230"/>
                    <a:pt x="42" y="224"/>
                  </a:cubicBezTo>
                  <a:cubicBezTo>
                    <a:pt x="42" y="128"/>
                    <a:pt x="42" y="128"/>
                    <a:pt x="42" y="128"/>
                  </a:cubicBezTo>
                  <a:cubicBezTo>
                    <a:pt x="64" y="128"/>
                    <a:pt x="64" y="128"/>
                    <a:pt x="64" y="128"/>
                  </a:cubicBezTo>
                  <a:cubicBezTo>
                    <a:pt x="64" y="224"/>
                    <a:pt x="64" y="224"/>
                    <a:pt x="64" y="224"/>
                  </a:cubicBezTo>
                  <a:cubicBezTo>
                    <a:pt x="64" y="230"/>
                    <a:pt x="68" y="235"/>
                    <a:pt x="74" y="235"/>
                  </a:cubicBezTo>
                  <a:cubicBezTo>
                    <a:pt x="80" y="235"/>
                    <a:pt x="85" y="230"/>
                    <a:pt x="85" y="224"/>
                  </a:cubicBezTo>
                  <a:cubicBezTo>
                    <a:pt x="85" y="128"/>
                    <a:pt x="85" y="128"/>
                    <a:pt x="85" y="128"/>
                  </a:cubicBezTo>
                  <a:cubicBezTo>
                    <a:pt x="96" y="128"/>
                    <a:pt x="96" y="128"/>
                    <a:pt x="96" y="128"/>
                  </a:cubicBezTo>
                  <a:cubicBezTo>
                    <a:pt x="102" y="128"/>
                    <a:pt x="106" y="123"/>
                    <a:pt x="106" y="117"/>
                  </a:cubicBezTo>
                  <a:cubicBezTo>
                    <a:pt x="106" y="11"/>
                    <a:pt x="106" y="11"/>
                    <a:pt x="106" y="11"/>
                  </a:cubicBezTo>
                  <a:cubicBezTo>
                    <a:pt x="106" y="5"/>
                    <a:pt x="102" y="0"/>
                    <a:pt x="96" y="0"/>
                  </a:cubicBezTo>
                  <a:close/>
                  <a:moveTo>
                    <a:pt x="85" y="107"/>
                  </a:moveTo>
                  <a:cubicBezTo>
                    <a:pt x="21" y="107"/>
                    <a:pt x="21" y="107"/>
                    <a:pt x="21" y="107"/>
                  </a:cubicBezTo>
                  <a:cubicBezTo>
                    <a:pt x="21" y="21"/>
                    <a:pt x="21" y="21"/>
                    <a:pt x="21" y="21"/>
                  </a:cubicBezTo>
                  <a:cubicBezTo>
                    <a:pt x="85" y="21"/>
                    <a:pt x="85" y="21"/>
                    <a:pt x="85" y="21"/>
                  </a:cubicBezTo>
                  <a:lnTo>
                    <a:pt x="85" y="10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15" name="Freeform 832">
              <a:extLst>
                <a:ext uri="{FF2B5EF4-FFF2-40B4-BE49-F238E27FC236}">
                  <a16:creationId xmlns:a16="http://schemas.microsoft.com/office/drawing/2014/main" id="{7EBC5181-30AC-36F9-8A25-D414831ED367}"/>
                </a:ext>
              </a:extLst>
            </p:cNvPr>
            <p:cNvSpPr>
              <a:spLocks noEditPoints="1"/>
            </p:cNvSpPr>
            <p:nvPr/>
          </p:nvSpPr>
          <p:spPr bwMode="auto">
            <a:xfrm>
              <a:off x="5141" y="308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sp>
        <p:nvSpPr>
          <p:cNvPr id="216" name="Rectangle 215">
            <a:extLst>
              <a:ext uri="{FF2B5EF4-FFF2-40B4-BE49-F238E27FC236}">
                <a16:creationId xmlns:a16="http://schemas.microsoft.com/office/drawing/2014/main" id="{A2595C48-1E99-165B-CB02-745F8C8FD27C}"/>
              </a:ext>
            </a:extLst>
          </p:cNvPr>
          <p:cNvSpPr/>
          <p:nvPr/>
        </p:nvSpPr>
        <p:spPr bwMode="gray">
          <a:xfrm>
            <a:off x="1889127" y="2457959"/>
            <a:ext cx="773465" cy="482237"/>
          </a:xfrm>
          <a:prstGeom prst="rect">
            <a:avLst/>
          </a:prstGeom>
          <a:solidFill>
            <a:srgbClr val="86BC25"/>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Balancing</a:t>
            </a:r>
          </a:p>
        </p:txBody>
      </p:sp>
      <p:grpSp>
        <p:nvGrpSpPr>
          <p:cNvPr id="217" name="Group 216">
            <a:extLst>
              <a:ext uri="{FF2B5EF4-FFF2-40B4-BE49-F238E27FC236}">
                <a16:creationId xmlns:a16="http://schemas.microsoft.com/office/drawing/2014/main" id="{CE9941B9-269B-7D1A-33EB-FBA974F1BF2F}"/>
              </a:ext>
            </a:extLst>
          </p:cNvPr>
          <p:cNvGrpSpPr/>
          <p:nvPr/>
        </p:nvGrpSpPr>
        <p:grpSpPr>
          <a:xfrm>
            <a:off x="1936680" y="2489857"/>
            <a:ext cx="352451" cy="264339"/>
            <a:chOff x="2974262" y="4155935"/>
            <a:chExt cx="682569" cy="450340"/>
          </a:xfrm>
          <a:solidFill>
            <a:sysClr val="window" lastClr="FFFFFF"/>
          </a:solidFill>
        </p:grpSpPr>
        <p:sp>
          <p:nvSpPr>
            <p:cNvPr id="218" name="Freeform 185">
              <a:extLst>
                <a:ext uri="{FF2B5EF4-FFF2-40B4-BE49-F238E27FC236}">
                  <a16:creationId xmlns:a16="http://schemas.microsoft.com/office/drawing/2014/main" id="{8E72D56D-165B-5E84-84D7-E0BFEBA96D83}"/>
                </a:ext>
              </a:extLst>
            </p:cNvPr>
            <p:cNvSpPr>
              <a:spLocks noEditPoints="1"/>
            </p:cNvSpPr>
            <p:nvPr/>
          </p:nvSpPr>
          <p:spPr bwMode="auto">
            <a:xfrm>
              <a:off x="2974262" y="4284605"/>
              <a:ext cx="273608" cy="321670"/>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p:spPr>
          <p:txBody>
            <a:bodyPr vert="horz" wrap="square" lIns="91439" tIns="45720" rIns="91439" bIns="45720" numCol="1" anchor="t" anchorCtr="0" compatLnSpc="1">
              <a:prstTxWarp prst="textNoShape">
                <a:avLst/>
              </a:prstTxWarp>
            </a:bodyPr>
            <a:lstStyle/>
            <a:p>
              <a:pPr marL="0" marR="0" lvl="0" indent="0" defTabSz="914403"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5C5C5C"/>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19" name="Freeform 185">
              <a:extLst>
                <a:ext uri="{FF2B5EF4-FFF2-40B4-BE49-F238E27FC236}">
                  <a16:creationId xmlns:a16="http://schemas.microsoft.com/office/drawing/2014/main" id="{5D39BB45-D75E-21C3-177E-AD8B4C575257}"/>
                </a:ext>
              </a:extLst>
            </p:cNvPr>
            <p:cNvSpPr>
              <a:spLocks noEditPoints="1"/>
            </p:cNvSpPr>
            <p:nvPr/>
          </p:nvSpPr>
          <p:spPr bwMode="auto">
            <a:xfrm>
              <a:off x="3273780" y="4155935"/>
              <a:ext cx="383051" cy="450337"/>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p:spPr>
          <p:txBody>
            <a:bodyPr vert="horz" wrap="square" lIns="91439" tIns="45720" rIns="91439" bIns="45720" numCol="1" anchor="t" anchorCtr="0" compatLnSpc="1">
              <a:prstTxWarp prst="textNoShape">
                <a:avLst/>
              </a:prstTxWarp>
            </a:bodyPr>
            <a:lstStyle/>
            <a:p>
              <a:pPr marL="0" marR="0" lvl="0" indent="0" defTabSz="914403"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5C5C5C"/>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sp>
        <p:nvSpPr>
          <p:cNvPr id="220" name="Rectangle 219">
            <a:extLst>
              <a:ext uri="{FF2B5EF4-FFF2-40B4-BE49-F238E27FC236}">
                <a16:creationId xmlns:a16="http://schemas.microsoft.com/office/drawing/2014/main" id="{75DFFD16-4267-35AA-797D-64E44B5FF5F0}"/>
              </a:ext>
            </a:extLst>
          </p:cNvPr>
          <p:cNvSpPr/>
          <p:nvPr/>
        </p:nvSpPr>
        <p:spPr bwMode="gray">
          <a:xfrm>
            <a:off x="2821362" y="2457959"/>
            <a:ext cx="773465" cy="482237"/>
          </a:xfrm>
          <a:prstGeom prst="rect">
            <a:avLst/>
          </a:prstGeom>
          <a:solidFill>
            <a:srgbClr val="86BC25"/>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Two-Way</a:t>
            </a:r>
          </a:p>
        </p:txBody>
      </p:sp>
      <p:sp>
        <p:nvSpPr>
          <p:cNvPr id="221" name="Arrow: Right 176">
            <a:extLst>
              <a:ext uri="{FF2B5EF4-FFF2-40B4-BE49-F238E27FC236}">
                <a16:creationId xmlns:a16="http://schemas.microsoft.com/office/drawing/2014/main" id="{7EB0B5A2-ED2C-74D0-12DB-AD1FA0FC4CA3}"/>
              </a:ext>
            </a:extLst>
          </p:cNvPr>
          <p:cNvSpPr/>
          <p:nvPr/>
        </p:nvSpPr>
        <p:spPr bwMode="gray">
          <a:xfrm>
            <a:off x="2924199" y="2515412"/>
            <a:ext cx="485733" cy="229833"/>
          </a:xfrm>
          <a:prstGeom prst="leftRightArrow">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22" name="Rectangle 221">
            <a:extLst>
              <a:ext uri="{FF2B5EF4-FFF2-40B4-BE49-F238E27FC236}">
                <a16:creationId xmlns:a16="http://schemas.microsoft.com/office/drawing/2014/main" id="{76553BFB-CAC0-FC47-9D33-D2234DB91FB9}"/>
              </a:ext>
            </a:extLst>
          </p:cNvPr>
          <p:cNvSpPr/>
          <p:nvPr/>
        </p:nvSpPr>
        <p:spPr bwMode="gray">
          <a:xfrm>
            <a:off x="3753597" y="2454841"/>
            <a:ext cx="773465" cy="482237"/>
          </a:xfrm>
          <a:prstGeom prst="rect">
            <a:avLst/>
          </a:prstGeom>
          <a:solidFill>
            <a:srgbClr val="86BC25"/>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Facilitator</a:t>
            </a:r>
          </a:p>
        </p:txBody>
      </p:sp>
      <p:grpSp>
        <p:nvGrpSpPr>
          <p:cNvPr id="223" name="Group 844">
            <a:extLst>
              <a:ext uri="{FF2B5EF4-FFF2-40B4-BE49-F238E27FC236}">
                <a16:creationId xmlns:a16="http://schemas.microsoft.com/office/drawing/2014/main" id="{84EB6F49-CFD2-6764-E0EE-3F3F6DCB07B3}"/>
              </a:ext>
            </a:extLst>
          </p:cNvPr>
          <p:cNvGrpSpPr>
            <a:grpSpLocks noChangeAspect="1"/>
          </p:cNvGrpSpPr>
          <p:nvPr/>
        </p:nvGrpSpPr>
        <p:grpSpPr bwMode="auto">
          <a:xfrm>
            <a:off x="4301168" y="2530824"/>
            <a:ext cx="167851" cy="167007"/>
            <a:chOff x="4371" y="3110"/>
            <a:chExt cx="199" cy="198"/>
          </a:xfrm>
          <a:solidFill>
            <a:sysClr val="window" lastClr="FFFFFF"/>
          </a:solidFill>
        </p:grpSpPr>
        <p:sp>
          <p:nvSpPr>
            <p:cNvPr id="224" name="Freeform 845">
              <a:extLst>
                <a:ext uri="{FF2B5EF4-FFF2-40B4-BE49-F238E27FC236}">
                  <a16:creationId xmlns:a16="http://schemas.microsoft.com/office/drawing/2014/main" id="{49536E6A-DA2B-AFFA-AF92-67618A8F9E78}"/>
                </a:ext>
              </a:extLst>
            </p:cNvPr>
            <p:cNvSpPr>
              <a:spLocks noEditPoints="1"/>
            </p:cNvSpPr>
            <p:nvPr/>
          </p:nvSpPr>
          <p:spPr bwMode="auto">
            <a:xfrm>
              <a:off x="4371" y="3166"/>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25" name="Freeform 846">
              <a:extLst>
                <a:ext uri="{FF2B5EF4-FFF2-40B4-BE49-F238E27FC236}">
                  <a16:creationId xmlns:a16="http://schemas.microsoft.com/office/drawing/2014/main" id="{C68730B2-39A5-C3AB-5A4B-C8B86A66DB82}"/>
                </a:ext>
              </a:extLst>
            </p:cNvPr>
            <p:cNvSpPr>
              <a:spLocks noEditPoints="1"/>
            </p:cNvSpPr>
            <p:nvPr/>
          </p:nvSpPr>
          <p:spPr bwMode="auto">
            <a:xfrm>
              <a:off x="4379" y="3110"/>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26" name="Freeform 847">
              <a:extLst>
                <a:ext uri="{FF2B5EF4-FFF2-40B4-BE49-F238E27FC236}">
                  <a16:creationId xmlns:a16="http://schemas.microsoft.com/office/drawing/2014/main" id="{748B1186-8D28-5925-6574-39AD0073744A}"/>
                </a:ext>
              </a:extLst>
            </p:cNvPr>
            <p:cNvSpPr>
              <a:spLocks noEditPoints="1"/>
            </p:cNvSpPr>
            <p:nvPr/>
          </p:nvSpPr>
          <p:spPr bwMode="auto">
            <a:xfrm>
              <a:off x="4513" y="3166"/>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27" name="Freeform 848">
              <a:extLst>
                <a:ext uri="{FF2B5EF4-FFF2-40B4-BE49-F238E27FC236}">
                  <a16:creationId xmlns:a16="http://schemas.microsoft.com/office/drawing/2014/main" id="{6CADA6BA-7308-D466-ABFC-8B164B6D9468}"/>
                </a:ext>
              </a:extLst>
            </p:cNvPr>
            <p:cNvSpPr>
              <a:spLocks noEditPoints="1"/>
            </p:cNvSpPr>
            <p:nvPr/>
          </p:nvSpPr>
          <p:spPr bwMode="auto">
            <a:xfrm>
              <a:off x="4520" y="3110"/>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28" name="Freeform 849">
              <a:extLst>
                <a:ext uri="{FF2B5EF4-FFF2-40B4-BE49-F238E27FC236}">
                  <a16:creationId xmlns:a16="http://schemas.microsoft.com/office/drawing/2014/main" id="{8B9C8CA2-F0AE-C7F7-9177-F12F1EF41042}"/>
                </a:ext>
              </a:extLst>
            </p:cNvPr>
            <p:cNvSpPr>
              <a:spLocks noEditPoints="1"/>
            </p:cNvSpPr>
            <p:nvPr/>
          </p:nvSpPr>
          <p:spPr bwMode="auto">
            <a:xfrm>
              <a:off x="4442" y="3166"/>
              <a:ext cx="57" cy="142"/>
            </a:xfrm>
            <a:custGeom>
              <a:avLst/>
              <a:gdLst>
                <a:gd name="T0" fmla="*/ 75 w 85"/>
                <a:gd name="T1" fmla="*/ 0 h 213"/>
                <a:gd name="T2" fmla="*/ 11 w 85"/>
                <a:gd name="T3" fmla="*/ 0 h 213"/>
                <a:gd name="T4" fmla="*/ 0 w 85"/>
                <a:gd name="T5" fmla="*/ 11 h 213"/>
                <a:gd name="T6" fmla="*/ 0 w 85"/>
                <a:gd name="T7" fmla="*/ 96 h 213"/>
                <a:gd name="T8" fmla="*/ 11 w 85"/>
                <a:gd name="T9" fmla="*/ 107 h 213"/>
                <a:gd name="T10" fmla="*/ 11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5 w 85"/>
                <a:gd name="T25" fmla="*/ 203 h 213"/>
                <a:gd name="T26" fmla="*/ 75 w 85"/>
                <a:gd name="T27" fmla="*/ 107 h 213"/>
                <a:gd name="T28" fmla="*/ 85 w 85"/>
                <a:gd name="T29" fmla="*/ 96 h 213"/>
                <a:gd name="T30" fmla="*/ 85 w 85"/>
                <a:gd name="T31" fmla="*/ 11 h 213"/>
                <a:gd name="T32" fmla="*/ 75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5" y="0"/>
                  </a:moveTo>
                  <a:cubicBezTo>
                    <a:pt x="11" y="0"/>
                    <a:pt x="11" y="0"/>
                    <a:pt x="11" y="0"/>
                  </a:cubicBezTo>
                  <a:cubicBezTo>
                    <a:pt x="5" y="0"/>
                    <a:pt x="0" y="5"/>
                    <a:pt x="0" y="11"/>
                  </a:cubicBezTo>
                  <a:cubicBezTo>
                    <a:pt x="0" y="96"/>
                    <a:pt x="0" y="96"/>
                    <a:pt x="0" y="96"/>
                  </a:cubicBezTo>
                  <a:cubicBezTo>
                    <a:pt x="0" y="102"/>
                    <a:pt x="5" y="107"/>
                    <a:pt x="11" y="107"/>
                  </a:cubicBezTo>
                  <a:cubicBezTo>
                    <a:pt x="11" y="203"/>
                    <a:pt x="11" y="203"/>
                    <a:pt x="11" y="203"/>
                  </a:cubicBezTo>
                  <a:cubicBezTo>
                    <a:pt x="11"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5" y="209"/>
                    <a:pt x="75" y="203"/>
                  </a:cubicBezTo>
                  <a:cubicBezTo>
                    <a:pt x="75" y="107"/>
                    <a:pt x="75" y="107"/>
                    <a:pt x="75" y="107"/>
                  </a:cubicBezTo>
                  <a:cubicBezTo>
                    <a:pt x="81" y="107"/>
                    <a:pt x="85" y="102"/>
                    <a:pt x="85" y="96"/>
                  </a:cubicBezTo>
                  <a:cubicBezTo>
                    <a:pt x="85" y="11"/>
                    <a:pt x="85" y="11"/>
                    <a:pt x="85" y="11"/>
                  </a:cubicBezTo>
                  <a:cubicBezTo>
                    <a:pt x="85" y="5"/>
                    <a:pt x="81" y="0"/>
                    <a:pt x="75"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29" name="Freeform 850">
              <a:extLst>
                <a:ext uri="{FF2B5EF4-FFF2-40B4-BE49-F238E27FC236}">
                  <a16:creationId xmlns:a16="http://schemas.microsoft.com/office/drawing/2014/main" id="{EA5E0B09-C1E4-0EA5-A6D3-95602103D85C}"/>
                </a:ext>
              </a:extLst>
            </p:cNvPr>
            <p:cNvSpPr>
              <a:spLocks noEditPoints="1"/>
            </p:cNvSpPr>
            <p:nvPr/>
          </p:nvSpPr>
          <p:spPr bwMode="auto">
            <a:xfrm>
              <a:off x="4450" y="3110"/>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sp>
        <p:nvSpPr>
          <p:cNvPr id="230" name="Freeform 146">
            <a:extLst>
              <a:ext uri="{FF2B5EF4-FFF2-40B4-BE49-F238E27FC236}">
                <a16:creationId xmlns:a16="http://schemas.microsoft.com/office/drawing/2014/main" id="{F66AAAC1-4731-770C-BCE0-FD690253D800}"/>
              </a:ext>
            </a:extLst>
          </p:cNvPr>
          <p:cNvSpPr>
            <a:spLocks noEditPoints="1"/>
          </p:cNvSpPr>
          <p:nvPr/>
        </p:nvSpPr>
        <p:spPr bwMode="auto">
          <a:xfrm>
            <a:off x="4063363" y="2573976"/>
            <a:ext cx="145976" cy="97827"/>
          </a:xfrm>
          <a:custGeom>
            <a:avLst/>
            <a:gdLst>
              <a:gd name="T0" fmla="*/ 53 w 288"/>
              <a:gd name="T1" fmla="*/ 0 h 192"/>
              <a:gd name="T2" fmla="*/ 43 w 288"/>
              <a:gd name="T3" fmla="*/ 42 h 192"/>
              <a:gd name="T4" fmla="*/ 0 w 288"/>
              <a:gd name="T5" fmla="*/ 53 h 192"/>
              <a:gd name="T6" fmla="*/ 11 w 288"/>
              <a:gd name="T7" fmla="*/ 192 h 192"/>
              <a:gd name="T8" fmla="*/ 245 w 288"/>
              <a:gd name="T9" fmla="*/ 181 h 192"/>
              <a:gd name="T10" fmla="*/ 277 w 288"/>
              <a:gd name="T11" fmla="*/ 149 h 192"/>
              <a:gd name="T12" fmla="*/ 288 w 288"/>
              <a:gd name="T13" fmla="*/ 10 h 192"/>
              <a:gd name="T14" fmla="*/ 224 w 288"/>
              <a:gd name="T15" fmla="*/ 170 h 192"/>
              <a:gd name="T16" fmla="*/ 21 w 288"/>
              <a:gd name="T17" fmla="*/ 64 h 192"/>
              <a:gd name="T18" fmla="*/ 224 w 288"/>
              <a:gd name="T19" fmla="*/ 170 h 192"/>
              <a:gd name="T20" fmla="*/ 245 w 288"/>
              <a:gd name="T21" fmla="*/ 128 h 192"/>
              <a:gd name="T22" fmla="*/ 235 w 288"/>
              <a:gd name="T23" fmla="*/ 42 h 192"/>
              <a:gd name="T24" fmla="*/ 64 w 288"/>
              <a:gd name="T25" fmla="*/ 21 h 192"/>
              <a:gd name="T26" fmla="*/ 267 w 288"/>
              <a:gd name="T27" fmla="*/ 128 h 192"/>
              <a:gd name="T28" fmla="*/ 101 w 288"/>
              <a:gd name="T29" fmla="*/ 100 h 192"/>
              <a:gd name="T30" fmla="*/ 123 w 288"/>
              <a:gd name="T31" fmla="*/ 82 h 192"/>
              <a:gd name="T32" fmla="*/ 130 w 288"/>
              <a:gd name="T33" fmla="*/ 74 h 192"/>
              <a:gd name="T34" fmla="*/ 151 w 288"/>
              <a:gd name="T35" fmla="*/ 87 h 192"/>
              <a:gd name="T36" fmla="*/ 130 w 288"/>
              <a:gd name="T37" fmla="*/ 95 h 192"/>
              <a:gd name="T38" fmla="*/ 123 w 288"/>
              <a:gd name="T39" fmla="*/ 95 h 192"/>
              <a:gd name="T40" fmla="*/ 118 w 288"/>
              <a:gd name="T41" fmla="*/ 104 h 192"/>
              <a:gd name="T42" fmla="*/ 130 w 288"/>
              <a:gd name="T43" fmla="*/ 110 h 192"/>
              <a:gd name="T44" fmla="*/ 151 w 288"/>
              <a:gd name="T45" fmla="*/ 122 h 192"/>
              <a:gd name="T46" fmla="*/ 147 w 288"/>
              <a:gd name="T47" fmla="*/ 143 h 192"/>
              <a:gd name="T48" fmla="*/ 130 w 288"/>
              <a:gd name="T49" fmla="*/ 160 h 192"/>
              <a:gd name="T50" fmla="*/ 123 w 288"/>
              <a:gd name="T51" fmla="*/ 149 h 192"/>
              <a:gd name="T52" fmla="*/ 101 w 288"/>
              <a:gd name="T53" fmla="*/ 132 h 192"/>
              <a:gd name="T54" fmla="*/ 123 w 288"/>
              <a:gd name="T55" fmla="*/ 137 h 192"/>
              <a:gd name="T56" fmla="*/ 130 w 288"/>
              <a:gd name="T57" fmla="*/ 137 h 192"/>
              <a:gd name="T58" fmla="*/ 135 w 288"/>
              <a:gd name="T59" fmla="*/ 127 h 192"/>
              <a:gd name="T60" fmla="*/ 123 w 288"/>
              <a:gd name="T61" fmla="*/ 122 h 192"/>
              <a:gd name="T62" fmla="*/ 105 w 288"/>
              <a:gd name="T63" fmla="*/ 1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192">
                <a:moveTo>
                  <a:pt x="277" y="0"/>
                </a:moveTo>
                <a:cubicBezTo>
                  <a:pt x="53" y="0"/>
                  <a:pt x="53" y="0"/>
                  <a:pt x="53" y="0"/>
                </a:cubicBezTo>
                <a:cubicBezTo>
                  <a:pt x="47" y="0"/>
                  <a:pt x="43" y="4"/>
                  <a:pt x="43" y="10"/>
                </a:cubicBezTo>
                <a:cubicBezTo>
                  <a:pt x="43" y="42"/>
                  <a:pt x="43" y="42"/>
                  <a:pt x="43" y="42"/>
                </a:cubicBezTo>
                <a:cubicBezTo>
                  <a:pt x="11" y="42"/>
                  <a:pt x="11" y="42"/>
                  <a:pt x="11" y="42"/>
                </a:cubicBezTo>
                <a:cubicBezTo>
                  <a:pt x="5" y="42"/>
                  <a:pt x="0" y="47"/>
                  <a:pt x="0" y="53"/>
                </a:cubicBezTo>
                <a:cubicBezTo>
                  <a:pt x="0" y="181"/>
                  <a:pt x="0" y="181"/>
                  <a:pt x="0" y="181"/>
                </a:cubicBezTo>
                <a:cubicBezTo>
                  <a:pt x="0" y="187"/>
                  <a:pt x="5" y="192"/>
                  <a:pt x="11" y="192"/>
                </a:cubicBezTo>
                <a:cubicBezTo>
                  <a:pt x="235" y="192"/>
                  <a:pt x="235" y="192"/>
                  <a:pt x="235" y="192"/>
                </a:cubicBezTo>
                <a:cubicBezTo>
                  <a:pt x="241" y="192"/>
                  <a:pt x="245" y="187"/>
                  <a:pt x="245" y="181"/>
                </a:cubicBezTo>
                <a:cubicBezTo>
                  <a:pt x="245" y="149"/>
                  <a:pt x="245" y="149"/>
                  <a:pt x="245" y="149"/>
                </a:cubicBezTo>
                <a:cubicBezTo>
                  <a:pt x="277" y="149"/>
                  <a:pt x="277" y="149"/>
                  <a:pt x="277" y="149"/>
                </a:cubicBezTo>
                <a:cubicBezTo>
                  <a:pt x="283" y="149"/>
                  <a:pt x="288" y="144"/>
                  <a:pt x="288" y="138"/>
                </a:cubicBezTo>
                <a:cubicBezTo>
                  <a:pt x="288" y="10"/>
                  <a:pt x="288" y="10"/>
                  <a:pt x="288" y="10"/>
                </a:cubicBezTo>
                <a:cubicBezTo>
                  <a:pt x="288" y="4"/>
                  <a:pt x="283" y="0"/>
                  <a:pt x="277" y="0"/>
                </a:cubicBezTo>
                <a:close/>
                <a:moveTo>
                  <a:pt x="224" y="170"/>
                </a:moveTo>
                <a:cubicBezTo>
                  <a:pt x="21" y="170"/>
                  <a:pt x="21" y="170"/>
                  <a:pt x="21" y="170"/>
                </a:cubicBezTo>
                <a:cubicBezTo>
                  <a:pt x="21" y="64"/>
                  <a:pt x="21" y="64"/>
                  <a:pt x="21" y="64"/>
                </a:cubicBezTo>
                <a:cubicBezTo>
                  <a:pt x="224" y="64"/>
                  <a:pt x="224" y="64"/>
                  <a:pt x="224" y="64"/>
                </a:cubicBezTo>
                <a:lnTo>
                  <a:pt x="224" y="170"/>
                </a:lnTo>
                <a:close/>
                <a:moveTo>
                  <a:pt x="267" y="128"/>
                </a:moveTo>
                <a:cubicBezTo>
                  <a:pt x="245" y="128"/>
                  <a:pt x="245" y="128"/>
                  <a:pt x="245" y="128"/>
                </a:cubicBezTo>
                <a:cubicBezTo>
                  <a:pt x="245" y="53"/>
                  <a:pt x="245" y="53"/>
                  <a:pt x="245" y="53"/>
                </a:cubicBezTo>
                <a:cubicBezTo>
                  <a:pt x="245" y="47"/>
                  <a:pt x="241" y="42"/>
                  <a:pt x="235" y="42"/>
                </a:cubicBezTo>
                <a:cubicBezTo>
                  <a:pt x="64" y="42"/>
                  <a:pt x="64" y="42"/>
                  <a:pt x="64" y="42"/>
                </a:cubicBezTo>
                <a:cubicBezTo>
                  <a:pt x="64" y="21"/>
                  <a:pt x="64" y="21"/>
                  <a:pt x="64" y="21"/>
                </a:cubicBezTo>
                <a:cubicBezTo>
                  <a:pt x="267" y="21"/>
                  <a:pt x="267" y="21"/>
                  <a:pt x="267" y="21"/>
                </a:cubicBezTo>
                <a:lnTo>
                  <a:pt x="267" y="128"/>
                </a:lnTo>
                <a:close/>
                <a:moveTo>
                  <a:pt x="105" y="112"/>
                </a:moveTo>
                <a:cubicBezTo>
                  <a:pt x="103" y="109"/>
                  <a:pt x="101" y="105"/>
                  <a:pt x="101" y="100"/>
                </a:cubicBezTo>
                <a:cubicBezTo>
                  <a:pt x="101" y="95"/>
                  <a:pt x="103" y="91"/>
                  <a:pt x="107" y="88"/>
                </a:cubicBezTo>
                <a:cubicBezTo>
                  <a:pt x="111" y="85"/>
                  <a:pt x="116" y="83"/>
                  <a:pt x="123" y="82"/>
                </a:cubicBezTo>
                <a:cubicBezTo>
                  <a:pt x="123" y="74"/>
                  <a:pt x="123" y="74"/>
                  <a:pt x="123" y="74"/>
                </a:cubicBezTo>
                <a:cubicBezTo>
                  <a:pt x="130" y="74"/>
                  <a:pt x="130" y="74"/>
                  <a:pt x="130" y="74"/>
                </a:cubicBezTo>
                <a:cubicBezTo>
                  <a:pt x="130" y="82"/>
                  <a:pt x="130" y="82"/>
                  <a:pt x="130" y="82"/>
                </a:cubicBezTo>
                <a:cubicBezTo>
                  <a:pt x="138" y="82"/>
                  <a:pt x="145" y="84"/>
                  <a:pt x="151" y="87"/>
                </a:cubicBezTo>
                <a:cubicBezTo>
                  <a:pt x="147" y="99"/>
                  <a:pt x="147" y="99"/>
                  <a:pt x="147" y="99"/>
                </a:cubicBezTo>
                <a:cubicBezTo>
                  <a:pt x="141" y="96"/>
                  <a:pt x="136" y="95"/>
                  <a:pt x="130" y="95"/>
                </a:cubicBezTo>
                <a:cubicBezTo>
                  <a:pt x="130" y="95"/>
                  <a:pt x="129" y="94"/>
                  <a:pt x="127" y="94"/>
                </a:cubicBezTo>
                <a:cubicBezTo>
                  <a:pt x="125" y="94"/>
                  <a:pt x="123" y="95"/>
                  <a:pt x="123" y="95"/>
                </a:cubicBezTo>
                <a:cubicBezTo>
                  <a:pt x="119" y="95"/>
                  <a:pt x="117" y="97"/>
                  <a:pt x="117" y="100"/>
                </a:cubicBezTo>
                <a:cubicBezTo>
                  <a:pt x="117" y="102"/>
                  <a:pt x="117" y="103"/>
                  <a:pt x="118" y="104"/>
                </a:cubicBezTo>
                <a:cubicBezTo>
                  <a:pt x="119" y="105"/>
                  <a:pt x="121" y="106"/>
                  <a:pt x="123" y="107"/>
                </a:cubicBezTo>
                <a:cubicBezTo>
                  <a:pt x="130" y="110"/>
                  <a:pt x="130" y="110"/>
                  <a:pt x="130" y="110"/>
                </a:cubicBezTo>
                <a:cubicBezTo>
                  <a:pt x="137" y="112"/>
                  <a:pt x="142" y="114"/>
                  <a:pt x="144" y="116"/>
                </a:cubicBezTo>
                <a:cubicBezTo>
                  <a:pt x="147" y="118"/>
                  <a:pt x="149" y="120"/>
                  <a:pt x="151" y="122"/>
                </a:cubicBezTo>
                <a:cubicBezTo>
                  <a:pt x="152" y="125"/>
                  <a:pt x="152" y="127"/>
                  <a:pt x="152" y="130"/>
                </a:cubicBezTo>
                <a:cubicBezTo>
                  <a:pt x="152" y="136"/>
                  <a:pt x="151" y="140"/>
                  <a:pt x="147" y="143"/>
                </a:cubicBezTo>
                <a:cubicBezTo>
                  <a:pt x="143" y="147"/>
                  <a:pt x="137" y="149"/>
                  <a:pt x="130" y="149"/>
                </a:cubicBezTo>
                <a:cubicBezTo>
                  <a:pt x="130" y="160"/>
                  <a:pt x="130" y="160"/>
                  <a:pt x="130" y="160"/>
                </a:cubicBezTo>
                <a:cubicBezTo>
                  <a:pt x="123" y="160"/>
                  <a:pt x="123" y="160"/>
                  <a:pt x="123" y="160"/>
                </a:cubicBezTo>
                <a:cubicBezTo>
                  <a:pt x="123" y="149"/>
                  <a:pt x="123" y="149"/>
                  <a:pt x="123" y="149"/>
                </a:cubicBezTo>
                <a:cubicBezTo>
                  <a:pt x="115" y="149"/>
                  <a:pt x="108" y="148"/>
                  <a:pt x="101" y="145"/>
                </a:cubicBezTo>
                <a:cubicBezTo>
                  <a:pt x="101" y="132"/>
                  <a:pt x="101" y="132"/>
                  <a:pt x="101" y="132"/>
                </a:cubicBezTo>
                <a:cubicBezTo>
                  <a:pt x="104" y="133"/>
                  <a:pt x="108" y="134"/>
                  <a:pt x="112" y="135"/>
                </a:cubicBezTo>
                <a:cubicBezTo>
                  <a:pt x="116" y="137"/>
                  <a:pt x="120" y="137"/>
                  <a:pt x="123" y="137"/>
                </a:cubicBezTo>
                <a:cubicBezTo>
                  <a:pt x="123" y="137"/>
                  <a:pt x="125" y="137"/>
                  <a:pt x="127" y="137"/>
                </a:cubicBezTo>
                <a:cubicBezTo>
                  <a:pt x="129" y="137"/>
                  <a:pt x="130" y="137"/>
                  <a:pt x="130" y="137"/>
                </a:cubicBezTo>
                <a:cubicBezTo>
                  <a:pt x="135" y="136"/>
                  <a:pt x="137" y="134"/>
                  <a:pt x="137" y="131"/>
                </a:cubicBezTo>
                <a:cubicBezTo>
                  <a:pt x="137" y="130"/>
                  <a:pt x="137" y="128"/>
                  <a:pt x="135" y="127"/>
                </a:cubicBezTo>
                <a:cubicBezTo>
                  <a:pt x="134" y="126"/>
                  <a:pt x="133" y="125"/>
                  <a:pt x="130" y="124"/>
                </a:cubicBezTo>
                <a:cubicBezTo>
                  <a:pt x="123" y="122"/>
                  <a:pt x="123" y="122"/>
                  <a:pt x="123" y="122"/>
                </a:cubicBezTo>
                <a:cubicBezTo>
                  <a:pt x="120" y="120"/>
                  <a:pt x="120" y="120"/>
                  <a:pt x="120" y="120"/>
                </a:cubicBezTo>
                <a:cubicBezTo>
                  <a:pt x="113" y="118"/>
                  <a:pt x="108" y="115"/>
                  <a:pt x="105" y="112"/>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31" name="Freeform 324">
            <a:extLst>
              <a:ext uri="{FF2B5EF4-FFF2-40B4-BE49-F238E27FC236}">
                <a16:creationId xmlns:a16="http://schemas.microsoft.com/office/drawing/2014/main" id="{2CCAD3E7-F16F-BFA5-78F9-F38C981CD1C3}"/>
              </a:ext>
            </a:extLst>
          </p:cNvPr>
          <p:cNvSpPr>
            <a:spLocks noEditPoints="1"/>
          </p:cNvSpPr>
          <p:nvPr/>
        </p:nvSpPr>
        <p:spPr bwMode="auto">
          <a:xfrm>
            <a:off x="3810230" y="2515412"/>
            <a:ext cx="161706" cy="219753"/>
          </a:xfrm>
          <a:custGeom>
            <a:avLst/>
            <a:gdLst>
              <a:gd name="T0" fmla="*/ 90 w 235"/>
              <a:gd name="T1" fmla="*/ 215 h 320"/>
              <a:gd name="T2" fmla="*/ 107 w 235"/>
              <a:gd name="T3" fmla="*/ 224 h 320"/>
              <a:gd name="T4" fmla="*/ 96 w 235"/>
              <a:gd name="T5" fmla="*/ 234 h 320"/>
              <a:gd name="T6" fmla="*/ 92 w 235"/>
              <a:gd name="T7" fmla="*/ 276 h 320"/>
              <a:gd name="T8" fmla="*/ 106 w 235"/>
              <a:gd name="T9" fmla="*/ 270 h 320"/>
              <a:gd name="T10" fmla="*/ 92 w 235"/>
              <a:gd name="T11" fmla="*/ 257 h 320"/>
              <a:gd name="T12" fmla="*/ 87 w 235"/>
              <a:gd name="T13" fmla="*/ 270 h 320"/>
              <a:gd name="T14" fmla="*/ 58 w 235"/>
              <a:gd name="T15" fmla="*/ 233 h 320"/>
              <a:gd name="T16" fmla="*/ 61 w 235"/>
              <a:gd name="T17" fmla="*/ 216 h 320"/>
              <a:gd name="T18" fmla="*/ 44 w 235"/>
              <a:gd name="T19" fmla="*/ 228 h 320"/>
              <a:gd name="T20" fmla="*/ 63 w 235"/>
              <a:gd name="T21" fmla="*/ 185 h 320"/>
              <a:gd name="T22" fmla="*/ 58 w 235"/>
              <a:gd name="T23" fmla="*/ 171 h 320"/>
              <a:gd name="T24" fmla="*/ 43 w 235"/>
              <a:gd name="T25" fmla="*/ 181 h 320"/>
              <a:gd name="T26" fmla="*/ 96 w 235"/>
              <a:gd name="T27" fmla="*/ 192 h 320"/>
              <a:gd name="T28" fmla="*/ 106 w 235"/>
              <a:gd name="T29" fmla="*/ 177 h 320"/>
              <a:gd name="T30" fmla="*/ 86 w 235"/>
              <a:gd name="T31" fmla="*/ 181 h 320"/>
              <a:gd name="T32" fmla="*/ 92 w 235"/>
              <a:gd name="T33" fmla="*/ 148 h 320"/>
              <a:gd name="T34" fmla="*/ 107 w 235"/>
              <a:gd name="T35" fmla="*/ 138 h 320"/>
              <a:gd name="T36" fmla="*/ 98 w 235"/>
              <a:gd name="T37" fmla="*/ 128 h 320"/>
              <a:gd name="T38" fmla="*/ 87 w 235"/>
              <a:gd name="T39" fmla="*/ 142 h 320"/>
              <a:gd name="T40" fmla="*/ 58 w 235"/>
              <a:gd name="T41" fmla="*/ 148 h 320"/>
              <a:gd name="T42" fmla="*/ 61 w 235"/>
              <a:gd name="T43" fmla="*/ 131 h 320"/>
              <a:gd name="T44" fmla="*/ 52 w 235"/>
              <a:gd name="T45" fmla="*/ 128 h 320"/>
              <a:gd name="T46" fmla="*/ 43 w 235"/>
              <a:gd name="T47" fmla="*/ 138 h 320"/>
              <a:gd name="T48" fmla="*/ 54 w 235"/>
              <a:gd name="T49" fmla="*/ 106 h 320"/>
              <a:gd name="T50" fmla="*/ 61 w 235"/>
              <a:gd name="T51" fmla="*/ 88 h 320"/>
              <a:gd name="T52" fmla="*/ 48 w 235"/>
              <a:gd name="T53" fmla="*/ 87 h 320"/>
              <a:gd name="T54" fmla="*/ 46 w 235"/>
              <a:gd name="T55" fmla="*/ 103 h 320"/>
              <a:gd name="T56" fmla="*/ 100 w 235"/>
              <a:gd name="T57" fmla="*/ 105 h 320"/>
              <a:gd name="T58" fmla="*/ 104 w 235"/>
              <a:gd name="T59" fmla="*/ 88 h 320"/>
              <a:gd name="T60" fmla="*/ 86 w 235"/>
              <a:gd name="T61" fmla="*/ 96 h 320"/>
              <a:gd name="T62" fmla="*/ 100 w 235"/>
              <a:gd name="T63" fmla="*/ 63 h 320"/>
              <a:gd name="T64" fmla="*/ 106 w 235"/>
              <a:gd name="T65" fmla="*/ 49 h 320"/>
              <a:gd name="T66" fmla="*/ 87 w 235"/>
              <a:gd name="T67" fmla="*/ 49 h 320"/>
              <a:gd name="T68" fmla="*/ 50 w 235"/>
              <a:gd name="T69" fmla="*/ 63 h 320"/>
              <a:gd name="T70" fmla="*/ 63 w 235"/>
              <a:gd name="T71" fmla="*/ 49 h 320"/>
              <a:gd name="T72" fmla="*/ 43 w 235"/>
              <a:gd name="T73" fmla="*/ 53 h 320"/>
              <a:gd name="T74" fmla="*/ 182 w 235"/>
              <a:gd name="T75" fmla="*/ 234 h 320"/>
              <a:gd name="T76" fmla="*/ 191 w 235"/>
              <a:gd name="T77" fmla="*/ 220 h 320"/>
              <a:gd name="T78" fmla="*/ 184 w 235"/>
              <a:gd name="T79" fmla="*/ 213 h 320"/>
              <a:gd name="T80" fmla="*/ 174 w 235"/>
              <a:gd name="T81" fmla="*/ 216 h 320"/>
              <a:gd name="T82" fmla="*/ 174 w 235"/>
              <a:gd name="T83" fmla="*/ 231 h 320"/>
              <a:gd name="T84" fmla="*/ 186 w 235"/>
              <a:gd name="T85" fmla="*/ 191 h 320"/>
              <a:gd name="T86" fmla="*/ 191 w 235"/>
              <a:gd name="T87" fmla="*/ 177 h 320"/>
              <a:gd name="T88" fmla="*/ 174 w 235"/>
              <a:gd name="T89" fmla="*/ 173 h 320"/>
              <a:gd name="T90" fmla="*/ 174 w 235"/>
              <a:gd name="T91" fmla="*/ 189 h 320"/>
              <a:gd name="T92" fmla="*/ 186 w 235"/>
              <a:gd name="T93" fmla="*/ 148 h 320"/>
              <a:gd name="T94" fmla="*/ 189 w 235"/>
              <a:gd name="T95" fmla="*/ 131 h 320"/>
              <a:gd name="T96" fmla="*/ 174 w 235"/>
              <a:gd name="T97" fmla="*/ 131 h 320"/>
              <a:gd name="T98" fmla="*/ 235 w 235"/>
              <a:gd name="T99" fmla="*/ 96 h 320"/>
              <a:gd name="T100" fmla="*/ 0 w 235"/>
              <a:gd name="T101" fmla="*/ 309 h 320"/>
              <a:gd name="T102" fmla="*/ 150 w 235"/>
              <a:gd name="T103" fmla="*/ 10 h 320"/>
              <a:gd name="T104" fmla="*/ 22 w 235"/>
              <a:gd name="T105" fmla="*/ 298 h 320"/>
              <a:gd name="T106" fmla="*/ 64 w 235"/>
              <a:gd name="T107" fmla="*/ 266 h 320"/>
              <a:gd name="T108" fmla="*/ 22 w 235"/>
              <a:gd name="T109" fmla="*/ 21 h 320"/>
              <a:gd name="T110" fmla="*/ 150 w 235"/>
              <a:gd name="T111" fmla="*/ 298 h 320"/>
              <a:gd name="T112" fmla="*/ 192 w 235"/>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5" h="320">
                <a:moveTo>
                  <a:pt x="87" y="228"/>
                </a:moveTo>
                <a:cubicBezTo>
                  <a:pt x="86" y="226"/>
                  <a:pt x="86" y="225"/>
                  <a:pt x="86" y="224"/>
                </a:cubicBezTo>
                <a:cubicBezTo>
                  <a:pt x="86" y="221"/>
                  <a:pt x="87" y="218"/>
                  <a:pt x="89" y="216"/>
                </a:cubicBezTo>
                <a:cubicBezTo>
                  <a:pt x="89" y="216"/>
                  <a:pt x="90" y="215"/>
                  <a:pt x="90" y="215"/>
                </a:cubicBezTo>
                <a:cubicBezTo>
                  <a:pt x="91" y="214"/>
                  <a:pt x="92" y="214"/>
                  <a:pt x="92" y="214"/>
                </a:cubicBezTo>
                <a:cubicBezTo>
                  <a:pt x="93" y="214"/>
                  <a:pt x="94" y="213"/>
                  <a:pt x="94" y="213"/>
                </a:cubicBezTo>
                <a:cubicBezTo>
                  <a:pt x="98" y="212"/>
                  <a:pt x="101" y="214"/>
                  <a:pt x="104" y="216"/>
                </a:cubicBezTo>
                <a:cubicBezTo>
                  <a:pt x="106" y="218"/>
                  <a:pt x="107" y="221"/>
                  <a:pt x="107" y="224"/>
                </a:cubicBezTo>
                <a:cubicBezTo>
                  <a:pt x="107" y="225"/>
                  <a:pt x="107" y="226"/>
                  <a:pt x="106" y="228"/>
                </a:cubicBezTo>
                <a:cubicBezTo>
                  <a:pt x="106" y="229"/>
                  <a:pt x="105" y="230"/>
                  <a:pt x="104" y="231"/>
                </a:cubicBezTo>
                <a:cubicBezTo>
                  <a:pt x="103" y="232"/>
                  <a:pt x="102" y="233"/>
                  <a:pt x="100" y="233"/>
                </a:cubicBezTo>
                <a:cubicBezTo>
                  <a:pt x="99" y="234"/>
                  <a:pt x="98" y="234"/>
                  <a:pt x="96" y="234"/>
                </a:cubicBezTo>
                <a:cubicBezTo>
                  <a:pt x="93" y="234"/>
                  <a:pt x="91" y="233"/>
                  <a:pt x="89" y="231"/>
                </a:cubicBezTo>
                <a:cubicBezTo>
                  <a:pt x="88" y="230"/>
                  <a:pt x="87" y="229"/>
                  <a:pt x="87" y="228"/>
                </a:cubicBezTo>
                <a:close/>
                <a:moveTo>
                  <a:pt x="89" y="274"/>
                </a:moveTo>
                <a:cubicBezTo>
                  <a:pt x="90" y="275"/>
                  <a:pt x="91" y="276"/>
                  <a:pt x="92" y="276"/>
                </a:cubicBezTo>
                <a:cubicBezTo>
                  <a:pt x="94" y="277"/>
                  <a:pt x="95" y="277"/>
                  <a:pt x="96" y="277"/>
                </a:cubicBezTo>
                <a:cubicBezTo>
                  <a:pt x="98" y="277"/>
                  <a:pt x="99" y="277"/>
                  <a:pt x="100" y="276"/>
                </a:cubicBezTo>
                <a:cubicBezTo>
                  <a:pt x="102" y="276"/>
                  <a:pt x="103" y="275"/>
                  <a:pt x="104" y="274"/>
                </a:cubicBezTo>
                <a:cubicBezTo>
                  <a:pt x="105" y="273"/>
                  <a:pt x="106" y="272"/>
                  <a:pt x="106" y="270"/>
                </a:cubicBezTo>
                <a:cubicBezTo>
                  <a:pt x="107" y="269"/>
                  <a:pt x="107" y="268"/>
                  <a:pt x="107" y="266"/>
                </a:cubicBezTo>
                <a:cubicBezTo>
                  <a:pt x="107" y="265"/>
                  <a:pt x="107" y="264"/>
                  <a:pt x="106" y="262"/>
                </a:cubicBezTo>
                <a:cubicBezTo>
                  <a:pt x="106" y="261"/>
                  <a:pt x="105" y="260"/>
                  <a:pt x="104" y="259"/>
                </a:cubicBezTo>
                <a:cubicBezTo>
                  <a:pt x="101" y="256"/>
                  <a:pt x="96" y="255"/>
                  <a:pt x="92" y="257"/>
                </a:cubicBezTo>
                <a:cubicBezTo>
                  <a:pt x="91" y="257"/>
                  <a:pt x="90" y="258"/>
                  <a:pt x="89" y="259"/>
                </a:cubicBezTo>
                <a:cubicBezTo>
                  <a:pt x="88" y="260"/>
                  <a:pt x="87" y="261"/>
                  <a:pt x="87" y="262"/>
                </a:cubicBezTo>
                <a:cubicBezTo>
                  <a:pt x="86" y="264"/>
                  <a:pt x="86" y="265"/>
                  <a:pt x="86" y="266"/>
                </a:cubicBezTo>
                <a:cubicBezTo>
                  <a:pt x="86" y="268"/>
                  <a:pt x="86" y="269"/>
                  <a:pt x="87" y="270"/>
                </a:cubicBezTo>
                <a:cubicBezTo>
                  <a:pt x="87" y="272"/>
                  <a:pt x="88" y="273"/>
                  <a:pt x="89" y="274"/>
                </a:cubicBezTo>
                <a:close/>
                <a:moveTo>
                  <a:pt x="46" y="231"/>
                </a:moveTo>
                <a:cubicBezTo>
                  <a:pt x="48" y="233"/>
                  <a:pt x="51" y="234"/>
                  <a:pt x="54" y="234"/>
                </a:cubicBezTo>
                <a:cubicBezTo>
                  <a:pt x="55" y="234"/>
                  <a:pt x="56" y="234"/>
                  <a:pt x="58" y="233"/>
                </a:cubicBezTo>
                <a:cubicBezTo>
                  <a:pt x="59" y="233"/>
                  <a:pt x="60" y="232"/>
                  <a:pt x="61" y="231"/>
                </a:cubicBezTo>
                <a:cubicBezTo>
                  <a:pt x="62" y="230"/>
                  <a:pt x="63" y="229"/>
                  <a:pt x="63" y="228"/>
                </a:cubicBezTo>
                <a:cubicBezTo>
                  <a:pt x="64" y="226"/>
                  <a:pt x="64" y="225"/>
                  <a:pt x="64" y="224"/>
                </a:cubicBezTo>
                <a:cubicBezTo>
                  <a:pt x="64" y="221"/>
                  <a:pt x="63" y="218"/>
                  <a:pt x="61" y="216"/>
                </a:cubicBezTo>
                <a:cubicBezTo>
                  <a:pt x="60" y="215"/>
                  <a:pt x="59" y="214"/>
                  <a:pt x="58" y="214"/>
                </a:cubicBezTo>
                <a:cubicBezTo>
                  <a:pt x="54" y="212"/>
                  <a:pt x="49" y="213"/>
                  <a:pt x="46" y="216"/>
                </a:cubicBezTo>
                <a:cubicBezTo>
                  <a:pt x="44" y="218"/>
                  <a:pt x="43" y="221"/>
                  <a:pt x="43" y="224"/>
                </a:cubicBezTo>
                <a:cubicBezTo>
                  <a:pt x="43" y="225"/>
                  <a:pt x="43" y="226"/>
                  <a:pt x="44" y="228"/>
                </a:cubicBezTo>
                <a:cubicBezTo>
                  <a:pt x="44" y="229"/>
                  <a:pt x="45" y="230"/>
                  <a:pt x="46" y="231"/>
                </a:cubicBezTo>
                <a:close/>
                <a:moveTo>
                  <a:pt x="54" y="192"/>
                </a:moveTo>
                <a:cubicBezTo>
                  <a:pt x="57" y="192"/>
                  <a:pt x="59" y="191"/>
                  <a:pt x="61" y="189"/>
                </a:cubicBezTo>
                <a:cubicBezTo>
                  <a:pt x="62" y="188"/>
                  <a:pt x="63" y="186"/>
                  <a:pt x="63" y="185"/>
                </a:cubicBezTo>
                <a:cubicBezTo>
                  <a:pt x="64" y="184"/>
                  <a:pt x="64" y="182"/>
                  <a:pt x="64" y="181"/>
                </a:cubicBezTo>
                <a:cubicBezTo>
                  <a:pt x="64" y="180"/>
                  <a:pt x="64" y="178"/>
                  <a:pt x="63" y="177"/>
                </a:cubicBezTo>
                <a:cubicBezTo>
                  <a:pt x="63" y="176"/>
                  <a:pt x="62" y="174"/>
                  <a:pt x="61" y="173"/>
                </a:cubicBezTo>
                <a:cubicBezTo>
                  <a:pt x="60" y="172"/>
                  <a:pt x="59" y="172"/>
                  <a:pt x="58" y="171"/>
                </a:cubicBezTo>
                <a:cubicBezTo>
                  <a:pt x="55" y="170"/>
                  <a:pt x="52" y="170"/>
                  <a:pt x="50" y="171"/>
                </a:cubicBezTo>
                <a:cubicBezTo>
                  <a:pt x="48" y="172"/>
                  <a:pt x="47" y="172"/>
                  <a:pt x="46" y="173"/>
                </a:cubicBezTo>
                <a:cubicBezTo>
                  <a:pt x="45" y="174"/>
                  <a:pt x="44" y="176"/>
                  <a:pt x="44" y="177"/>
                </a:cubicBezTo>
                <a:cubicBezTo>
                  <a:pt x="43" y="178"/>
                  <a:pt x="43" y="180"/>
                  <a:pt x="43" y="181"/>
                </a:cubicBezTo>
                <a:cubicBezTo>
                  <a:pt x="43" y="184"/>
                  <a:pt x="44" y="187"/>
                  <a:pt x="46" y="189"/>
                </a:cubicBezTo>
                <a:cubicBezTo>
                  <a:pt x="48" y="191"/>
                  <a:pt x="51" y="192"/>
                  <a:pt x="54" y="192"/>
                </a:cubicBezTo>
                <a:close/>
                <a:moveTo>
                  <a:pt x="92" y="191"/>
                </a:moveTo>
                <a:cubicBezTo>
                  <a:pt x="94" y="191"/>
                  <a:pt x="95" y="192"/>
                  <a:pt x="96" y="192"/>
                </a:cubicBezTo>
                <a:cubicBezTo>
                  <a:pt x="99" y="192"/>
                  <a:pt x="102" y="191"/>
                  <a:pt x="104" y="189"/>
                </a:cubicBezTo>
                <a:cubicBezTo>
                  <a:pt x="105" y="188"/>
                  <a:pt x="106" y="186"/>
                  <a:pt x="106" y="185"/>
                </a:cubicBezTo>
                <a:cubicBezTo>
                  <a:pt x="107" y="184"/>
                  <a:pt x="107" y="182"/>
                  <a:pt x="107" y="181"/>
                </a:cubicBezTo>
                <a:cubicBezTo>
                  <a:pt x="107" y="180"/>
                  <a:pt x="107" y="178"/>
                  <a:pt x="106" y="177"/>
                </a:cubicBezTo>
                <a:cubicBezTo>
                  <a:pt x="106" y="176"/>
                  <a:pt x="105" y="174"/>
                  <a:pt x="104" y="173"/>
                </a:cubicBezTo>
                <a:cubicBezTo>
                  <a:pt x="100" y="169"/>
                  <a:pt x="93" y="169"/>
                  <a:pt x="89" y="173"/>
                </a:cubicBezTo>
                <a:cubicBezTo>
                  <a:pt x="88" y="174"/>
                  <a:pt x="87" y="176"/>
                  <a:pt x="87" y="177"/>
                </a:cubicBezTo>
                <a:cubicBezTo>
                  <a:pt x="86" y="178"/>
                  <a:pt x="86" y="180"/>
                  <a:pt x="86" y="181"/>
                </a:cubicBezTo>
                <a:cubicBezTo>
                  <a:pt x="86" y="184"/>
                  <a:pt x="87" y="187"/>
                  <a:pt x="89" y="189"/>
                </a:cubicBezTo>
                <a:cubicBezTo>
                  <a:pt x="90" y="190"/>
                  <a:pt x="91" y="190"/>
                  <a:pt x="92" y="191"/>
                </a:cubicBezTo>
                <a:close/>
                <a:moveTo>
                  <a:pt x="89" y="146"/>
                </a:moveTo>
                <a:cubicBezTo>
                  <a:pt x="90" y="147"/>
                  <a:pt x="91" y="148"/>
                  <a:pt x="92" y="148"/>
                </a:cubicBezTo>
                <a:cubicBezTo>
                  <a:pt x="94" y="149"/>
                  <a:pt x="95" y="149"/>
                  <a:pt x="96" y="149"/>
                </a:cubicBezTo>
                <a:cubicBezTo>
                  <a:pt x="98" y="149"/>
                  <a:pt x="99" y="149"/>
                  <a:pt x="100" y="148"/>
                </a:cubicBezTo>
                <a:cubicBezTo>
                  <a:pt x="102" y="148"/>
                  <a:pt x="103" y="147"/>
                  <a:pt x="104" y="146"/>
                </a:cubicBezTo>
                <a:cubicBezTo>
                  <a:pt x="106" y="144"/>
                  <a:pt x="107" y="141"/>
                  <a:pt x="107" y="138"/>
                </a:cubicBezTo>
                <a:cubicBezTo>
                  <a:pt x="107" y="136"/>
                  <a:pt x="106" y="133"/>
                  <a:pt x="104" y="131"/>
                </a:cubicBezTo>
                <a:cubicBezTo>
                  <a:pt x="103" y="130"/>
                  <a:pt x="103" y="130"/>
                  <a:pt x="102" y="129"/>
                </a:cubicBezTo>
                <a:cubicBezTo>
                  <a:pt x="102" y="129"/>
                  <a:pt x="101" y="129"/>
                  <a:pt x="100" y="129"/>
                </a:cubicBezTo>
                <a:cubicBezTo>
                  <a:pt x="100" y="128"/>
                  <a:pt x="99" y="128"/>
                  <a:pt x="98" y="128"/>
                </a:cubicBezTo>
                <a:cubicBezTo>
                  <a:pt x="96" y="127"/>
                  <a:pt x="94" y="128"/>
                  <a:pt x="92" y="129"/>
                </a:cubicBezTo>
                <a:cubicBezTo>
                  <a:pt x="91" y="129"/>
                  <a:pt x="90" y="130"/>
                  <a:pt x="89" y="131"/>
                </a:cubicBezTo>
                <a:cubicBezTo>
                  <a:pt x="87" y="133"/>
                  <a:pt x="86" y="136"/>
                  <a:pt x="86" y="138"/>
                </a:cubicBezTo>
                <a:cubicBezTo>
                  <a:pt x="86" y="140"/>
                  <a:pt x="86" y="141"/>
                  <a:pt x="87" y="142"/>
                </a:cubicBezTo>
                <a:cubicBezTo>
                  <a:pt x="87" y="144"/>
                  <a:pt x="88" y="145"/>
                  <a:pt x="89" y="146"/>
                </a:cubicBezTo>
                <a:close/>
                <a:moveTo>
                  <a:pt x="50" y="148"/>
                </a:moveTo>
                <a:cubicBezTo>
                  <a:pt x="51" y="149"/>
                  <a:pt x="52" y="149"/>
                  <a:pt x="54" y="149"/>
                </a:cubicBezTo>
                <a:cubicBezTo>
                  <a:pt x="55" y="149"/>
                  <a:pt x="56" y="149"/>
                  <a:pt x="58" y="148"/>
                </a:cubicBezTo>
                <a:cubicBezTo>
                  <a:pt x="59" y="148"/>
                  <a:pt x="60" y="147"/>
                  <a:pt x="61" y="146"/>
                </a:cubicBezTo>
                <a:cubicBezTo>
                  <a:pt x="62" y="145"/>
                  <a:pt x="63" y="144"/>
                  <a:pt x="63" y="142"/>
                </a:cubicBezTo>
                <a:cubicBezTo>
                  <a:pt x="64" y="141"/>
                  <a:pt x="64" y="140"/>
                  <a:pt x="64" y="138"/>
                </a:cubicBezTo>
                <a:cubicBezTo>
                  <a:pt x="64" y="136"/>
                  <a:pt x="63" y="133"/>
                  <a:pt x="61" y="131"/>
                </a:cubicBezTo>
                <a:cubicBezTo>
                  <a:pt x="61" y="130"/>
                  <a:pt x="60" y="130"/>
                  <a:pt x="60" y="129"/>
                </a:cubicBezTo>
                <a:cubicBezTo>
                  <a:pt x="59" y="129"/>
                  <a:pt x="58" y="129"/>
                  <a:pt x="58" y="129"/>
                </a:cubicBezTo>
                <a:cubicBezTo>
                  <a:pt x="57" y="128"/>
                  <a:pt x="56" y="128"/>
                  <a:pt x="56" y="128"/>
                </a:cubicBezTo>
                <a:cubicBezTo>
                  <a:pt x="54" y="128"/>
                  <a:pt x="53" y="128"/>
                  <a:pt x="52" y="128"/>
                </a:cubicBezTo>
                <a:cubicBezTo>
                  <a:pt x="51" y="128"/>
                  <a:pt x="50" y="128"/>
                  <a:pt x="50" y="129"/>
                </a:cubicBezTo>
                <a:cubicBezTo>
                  <a:pt x="49" y="129"/>
                  <a:pt x="48" y="129"/>
                  <a:pt x="48" y="129"/>
                </a:cubicBezTo>
                <a:cubicBezTo>
                  <a:pt x="47" y="130"/>
                  <a:pt x="47" y="130"/>
                  <a:pt x="46" y="131"/>
                </a:cubicBezTo>
                <a:cubicBezTo>
                  <a:pt x="44" y="133"/>
                  <a:pt x="43" y="136"/>
                  <a:pt x="43" y="138"/>
                </a:cubicBezTo>
                <a:cubicBezTo>
                  <a:pt x="43" y="141"/>
                  <a:pt x="44" y="144"/>
                  <a:pt x="46" y="146"/>
                </a:cubicBezTo>
                <a:cubicBezTo>
                  <a:pt x="47" y="147"/>
                  <a:pt x="48" y="148"/>
                  <a:pt x="50" y="148"/>
                </a:cubicBezTo>
                <a:close/>
                <a:moveTo>
                  <a:pt x="50" y="105"/>
                </a:moveTo>
                <a:cubicBezTo>
                  <a:pt x="51" y="106"/>
                  <a:pt x="52" y="106"/>
                  <a:pt x="54" y="106"/>
                </a:cubicBezTo>
                <a:cubicBezTo>
                  <a:pt x="57" y="106"/>
                  <a:pt x="59" y="105"/>
                  <a:pt x="61" y="103"/>
                </a:cubicBezTo>
                <a:cubicBezTo>
                  <a:pt x="63" y="101"/>
                  <a:pt x="64" y="99"/>
                  <a:pt x="64" y="96"/>
                </a:cubicBezTo>
                <a:cubicBezTo>
                  <a:pt x="64" y="94"/>
                  <a:pt x="64" y="93"/>
                  <a:pt x="63" y="92"/>
                </a:cubicBezTo>
                <a:cubicBezTo>
                  <a:pt x="63" y="90"/>
                  <a:pt x="62" y="89"/>
                  <a:pt x="61" y="88"/>
                </a:cubicBezTo>
                <a:cubicBezTo>
                  <a:pt x="60" y="87"/>
                  <a:pt x="59" y="86"/>
                  <a:pt x="58" y="86"/>
                </a:cubicBezTo>
                <a:cubicBezTo>
                  <a:pt x="56" y="85"/>
                  <a:pt x="54" y="85"/>
                  <a:pt x="52" y="85"/>
                </a:cubicBezTo>
                <a:cubicBezTo>
                  <a:pt x="51" y="85"/>
                  <a:pt x="50" y="86"/>
                  <a:pt x="50" y="86"/>
                </a:cubicBezTo>
                <a:cubicBezTo>
                  <a:pt x="49" y="86"/>
                  <a:pt x="48" y="86"/>
                  <a:pt x="48" y="87"/>
                </a:cubicBezTo>
                <a:cubicBezTo>
                  <a:pt x="47" y="87"/>
                  <a:pt x="47" y="88"/>
                  <a:pt x="46" y="88"/>
                </a:cubicBezTo>
                <a:cubicBezTo>
                  <a:pt x="45" y="89"/>
                  <a:pt x="44" y="90"/>
                  <a:pt x="44" y="92"/>
                </a:cubicBezTo>
                <a:cubicBezTo>
                  <a:pt x="43" y="93"/>
                  <a:pt x="43" y="94"/>
                  <a:pt x="43" y="96"/>
                </a:cubicBezTo>
                <a:cubicBezTo>
                  <a:pt x="43" y="99"/>
                  <a:pt x="44" y="101"/>
                  <a:pt x="46" y="103"/>
                </a:cubicBezTo>
                <a:cubicBezTo>
                  <a:pt x="47" y="104"/>
                  <a:pt x="48" y="105"/>
                  <a:pt x="50" y="105"/>
                </a:cubicBezTo>
                <a:close/>
                <a:moveTo>
                  <a:pt x="92" y="105"/>
                </a:moveTo>
                <a:cubicBezTo>
                  <a:pt x="94" y="106"/>
                  <a:pt x="95" y="106"/>
                  <a:pt x="96" y="106"/>
                </a:cubicBezTo>
                <a:cubicBezTo>
                  <a:pt x="98" y="106"/>
                  <a:pt x="99" y="106"/>
                  <a:pt x="100" y="105"/>
                </a:cubicBezTo>
                <a:cubicBezTo>
                  <a:pt x="102" y="105"/>
                  <a:pt x="103" y="104"/>
                  <a:pt x="104" y="103"/>
                </a:cubicBezTo>
                <a:cubicBezTo>
                  <a:pt x="106" y="101"/>
                  <a:pt x="107" y="99"/>
                  <a:pt x="107" y="96"/>
                </a:cubicBezTo>
                <a:cubicBezTo>
                  <a:pt x="107" y="94"/>
                  <a:pt x="107" y="93"/>
                  <a:pt x="106" y="92"/>
                </a:cubicBezTo>
                <a:cubicBezTo>
                  <a:pt x="106" y="90"/>
                  <a:pt x="105" y="89"/>
                  <a:pt x="104" y="88"/>
                </a:cubicBezTo>
                <a:cubicBezTo>
                  <a:pt x="101" y="85"/>
                  <a:pt x="96" y="84"/>
                  <a:pt x="92" y="86"/>
                </a:cubicBezTo>
                <a:cubicBezTo>
                  <a:pt x="91" y="86"/>
                  <a:pt x="90" y="87"/>
                  <a:pt x="89" y="88"/>
                </a:cubicBezTo>
                <a:cubicBezTo>
                  <a:pt x="88" y="89"/>
                  <a:pt x="87" y="90"/>
                  <a:pt x="87" y="92"/>
                </a:cubicBezTo>
                <a:cubicBezTo>
                  <a:pt x="86" y="93"/>
                  <a:pt x="86" y="94"/>
                  <a:pt x="86" y="96"/>
                </a:cubicBezTo>
                <a:cubicBezTo>
                  <a:pt x="86" y="99"/>
                  <a:pt x="87" y="101"/>
                  <a:pt x="89" y="103"/>
                </a:cubicBezTo>
                <a:cubicBezTo>
                  <a:pt x="90" y="104"/>
                  <a:pt x="91" y="105"/>
                  <a:pt x="92" y="105"/>
                </a:cubicBezTo>
                <a:close/>
                <a:moveTo>
                  <a:pt x="96" y="64"/>
                </a:moveTo>
                <a:cubicBezTo>
                  <a:pt x="98" y="64"/>
                  <a:pt x="99" y="63"/>
                  <a:pt x="100" y="63"/>
                </a:cubicBezTo>
                <a:cubicBezTo>
                  <a:pt x="102" y="62"/>
                  <a:pt x="103" y="62"/>
                  <a:pt x="104" y="61"/>
                </a:cubicBezTo>
                <a:cubicBezTo>
                  <a:pt x="105" y="59"/>
                  <a:pt x="106" y="58"/>
                  <a:pt x="106" y="57"/>
                </a:cubicBezTo>
                <a:cubicBezTo>
                  <a:pt x="107" y="56"/>
                  <a:pt x="107" y="54"/>
                  <a:pt x="107" y="53"/>
                </a:cubicBezTo>
                <a:cubicBezTo>
                  <a:pt x="107" y="52"/>
                  <a:pt x="107" y="50"/>
                  <a:pt x="106" y="49"/>
                </a:cubicBezTo>
                <a:cubicBezTo>
                  <a:pt x="106" y="48"/>
                  <a:pt x="105" y="46"/>
                  <a:pt x="104" y="45"/>
                </a:cubicBezTo>
                <a:cubicBezTo>
                  <a:pt x="103" y="44"/>
                  <a:pt x="102" y="44"/>
                  <a:pt x="100" y="43"/>
                </a:cubicBezTo>
                <a:cubicBezTo>
                  <a:pt x="97" y="41"/>
                  <a:pt x="92" y="42"/>
                  <a:pt x="89" y="45"/>
                </a:cubicBezTo>
                <a:cubicBezTo>
                  <a:pt x="88" y="46"/>
                  <a:pt x="87" y="48"/>
                  <a:pt x="87" y="49"/>
                </a:cubicBezTo>
                <a:cubicBezTo>
                  <a:pt x="86" y="50"/>
                  <a:pt x="86" y="52"/>
                  <a:pt x="86" y="53"/>
                </a:cubicBezTo>
                <a:cubicBezTo>
                  <a:pt x="86" y="56"/>
                  <a:pt x="87" y="59"/>
                  <a:pt x="89" y="61"/>
                </a:cubicBezTo>
                <a:cubicBezTo>
                  <a:pt x="91" y="63"/>
                  <a:pt x="93" y="64"/>
                  <a:pt x="96" y="64"/>
                </a:cubicBezTo>
                <a:close/>
                <a:moveTo>
                  <a:pt x="50" y="63"/>
                </a:moveTo>
                <a:cubicBezTo>
                  <a:pt x="51" y="63"/>
                  <a:pt x="52" y="64"/>
                  <a:pt x="54" y="64"/>
                </a:cubicBezTo>
                <a:cubicBezTo>
                  <a:pt x="57" y="64"/>
                  <a:pt x="59" y="63"/>
                  <a:pt x="61" y="61"/>
                </a:cubicBezTo>
                <a:cubicBezTo>
                  <a:pt x="63" y="59"/>
                  <a:pt x="64" y="56"/>
                  <a:pt x="64" y="53"/>
                </a:cubicBezTo>
                <a:cubicBezTo>
                  <a:pt x="64" y="52"/>
                  <a:pt x="64" y="50"/>
                  <a:pt x="63" y="49"/>
                </a:cubicBezTo>
                <a:cubicBezTo>
                  <a:pt x="63" y="48"/>
                  <a:pt x="62" y="46"/>
                  <a:pt x="61" y="45"/>
                </a:cubicBezTo>
                <a:cubicBezTo>
                  <a:pt x="57" y="41"/>
                  <a:pt x="50" y="41"/>
                  <a:pt x="46" y="45"/>
                </a:cubicBezTo>
                <a:cubicBezTo>
                  <a:pt x="45" y="46"/>
                  <a:pt x="44" y="48"/>
                  <a:pt x="44" y="49"/>
                </a:cubicBezTo>
                <a:cubicBezTo>
                  <a:pt x="43" y="50"/>
                  <a:pt x="43" y="52"/>
                  <a:pt x="43" y="53"/>
                </a:cubicBezTo>
                <a:cubicBezTo>
                  <a:pt x="43" y="56"/>
                  <a:pt x="44" y="59"/>
                  <a:pt x="46" y="61"/>
                </a:cubicBezTo>
                <a:cubicBezTo>
                  <a:pt x="47" y="62"/>
                  <a:pt x="48" y="62"/>
                  <a:pt x="50" y="63"/>
                </a:cubicBezTo>
                <a:close/>
                <a:moveTo>
                  <a:pt x="174" y="231"/>
                </a:moveTo>
                <a:cubicBezTo>
                  <a:pt x="176" y="233"/>
                  <a:pt x="179" y="234"/>
                  <a:pt x="182" y="234"/>
                </a:cubicBezTo>
                <a:cubicBezTo>
                  <a:pt x="184" y="234"/>
                  <a:pt x="187" y="233"/>
                  <a:pt x="189" y="231"/>
                </a:cubicBezTo>
                <a:cubicBezTo>
                  <a:pt x="190" y="230"/>
                  <a:pt x="191" y="229"/>
                  <a:pt x="191" y="228"/>
                </a:cubicBezTo>
                <a:cubicBezTo>
                  <a:pt x="192" y="226"/>
                  <a:pt x="192" y="225"/>
                  <a:pt x="192" y="224"/>
                </a:cubicBezTo>
                <a:cubicBezTo>
                  <a:pt x="192" y="222"/>
                  <a:pt x="192" y="221"/>
                  <a:pt x="191" y="220"/>
                </a:cubicBezTo>
                <a:cubicBezTo>
                  <a:pt x="191" y="218"/>
                  <a:pt x="190" y="217"/>
                  <a:pt x="189" y="216"/>
                </a:cubicBezTo>
                <a:cubicBezTo>
                  <a:pt x="189" y="216"/>
                  <a:pt x="188" y="215"/>
                  <a:pt x="188" y="215"/>
                </a:cubicBezTo>
                <a:cubicBezTo>
                  <a:pt x="187" y="214"/>
                  <a:pt x="186" y="214"/>
                  <a:pt x="186" y="214"/>
                </a:cubicBezTo>
                <a:cubicBezTo>
                  <a:pt x="185" y="214"/>
                  <a:pt x="184" y="213"/>
                  <a:pt x="184" y="213"/>
                </a:cubicBezTo>
                <a:cubicBezTo>
                  <a:pt x="182" y="213"/>
                  <a:pt x="181" y="213"/>
                  <a:pt x="180" y="213"/>
                </a:cubicBezTo>
                <a:cubicBezTo>
                  <a:pt x="179" y="213"/>
                  <a:pt x="178" y="214"/>
                  <a:pt x="178" y="214"/>
                </a:cubicBezTo>
                <a:cubicBezTo>
                  <a:pt x="177" y="214"/>
                  <a:pt x="176" y="214"/>
                  <a:pt x="176" y="215"/>
                </a:cubicBezTo>
                <a:cubicBezTo>
                  <a:pt x="175" y="215"/>
                  <a:pt x="175" y="216"/>
                  <a:pt x="174" y="216"/>
                </a:cubicBezTo>
                <a:cubicBezTo>
                  <a:pt x="173" y="217"/>
                  <a:pt x="172" y="218"/>
                  <a:pt x="172" y="220"/>
                </a:cubicBezTo>
                <a:cubicBezTo>
                  <a:pt x="171" y="221"/>
                  <a:pt x="171" y="222"/>
                  <a:pt x="171" y="224"/>
                </a:cubicBezTo>
                <a:cubicBezTo>
                  <a:pt x="171" y="225"/>
                  <a:pt x="171" y="226"/>
                  <a:pt x="172" y="228"/>
                </a:cubicBezTo>
                <a:cubicBezTo>
                  <a:pt x="172" y="229"/>
                  <a:pt x="173" y="230"/>
                  <a:pt x="174" y="231"/>
                </a:cubicBezTo>
                <a:close/>
                <a:moveTo>
                  <a:pt x="174" y="189"/>
                </a:moveTo>
                <a:cubicBezTo>
                  <a:pt x="175" y="190"/>
                  <a:pt x="176" y="190"/>
                  <a:pt x="178" y="191"/>
                </a:cubicBezTo>
                <a:cubicBezTo>
                  <a:pt x="179" y="191"/>
                  <a:pt x="180" y="192"/>
                  <a:pt x="182" y="192"/>
                </a:cubicBezTo>
                <a:cubicBezTo>
                  <a:pt x="183" y="192"/>
                  <a:pt x="184" y="191"/>
                  <a:pt x="186" y="191"/>
                </a:cubicBezTo>
                <a:cubicBezTo>
                  <a:pt x="187" y="190"/>
                  <a:pt x="188" y="190"/>
                  <a:pt x="189" y="189"/>
                </a:cubicBezTo>
                <a:cubicBezTo>
                  <a:pt x="190" y="188"/>
                  <a:pt x="191" y="186"/>
                  <a:pt x="191" y="185"/>
                </a:cubicBezTo>
                <a:cubicBezTo>
                  <a:pt x="192" y="184"/>
                  <a:pt x="192" y="182"/>
                  <a:pt x="192" y="181"/>
                </a:cubicBezTo>
                <a:cubicBezTo>
                  <a:pt x="192" y="180"/>
                  <a:pt x="192" y="178"/>
                  <a:pt x="191" y="177"/>
                </a:cubicBezTo>
                <a:cubicBezTo>
                  <a:pt x="191" y="176"/>
                  <a:pt x="190" y="174"/>
                  <a:pt x="189" y="173"/>
                </a:cubicBezTo>
                <a:cubicBezTo>
                  <a:pt x="188" y="172"/>
                  <a:pt x="187" y="172"/>
                  <a:pt x="186" y="171"/>
                </a:cubicBezTo>
                <a:cubicBezTo>
                  <a:pt x="183" y="170"/>
                  <a:pt x="180" y="170"/>
                  <a:pt x="178" y="171"/>
                </a:cubicBezTo>
                <a:cubicBezTo>
                  <a:pt x="176" y="172"/>
                  <a:pt x="175" y="172"/>
                  <a:pt x="174" y="173"/>
                </a:cubicBezTo>
                <a:cubicBezTo>
                  <a:pt x="173" y="174"/>
                  <a:pt x="172" y="176"/>
                  <a:pt x="172" y="177"/>
                </a:cubicBezTo>
                <a:cubicBezTo>
                  <a:pt x="171" y="178"/>
                  <a:pt x="171" y="180"/>
                  <a:pt x="171" y="181"/>
                </a:cubicBezTo>
                <a:cubicBezTo>
                  <a:pt x="171" y="182"/>
                  <a:pt x="171" y="184"/>
                  <a:pt x="172" y="185"/>
                </a:cubicBezTo>
                <a:cubicBezTo>
                  <a:pt x="172" y="186"/>
                  <a:pt x="173" y="188"/>
                  <a:pt x="174" y="189"/>
                </a:cubicBezTo>
                <a:close/>
                <a:moveTo>
                  <a:pt x="174" y="146"/>
                </a:moveTo>
                <a:cubicBezTo>
                  <a:pt x="175" y="147"/>
                  <a:pt x="176" y="148"/>
                  <a:pt x="178" y="148"/>
                </a:cubicBezTo>
                <a:cubicBezTo>
                  <a:pt x="179" y="149"/>
                  <a:pt x="180" y="149"/>
                  <a:pt x="182" y="149"/>
                </a:cubicBezTo>
                <a:cubicBezTo>
                  <a:pt x="183" y="149"/>
                  <a:pt x="184" y="149"/>
                  <a:pt x="186" y="148"/>
                </a:cubicBezTo>
                <a:cubicBezTo>
                  <a:pt x="187" y="148"/>
                  <a:pt x="188" y="147"/>
                  <a:pt x="189" y="146"/>
                </a:cubicBezTo>
                <a:cubicBezTo>
                  <a:pt x="190" y="145"/>
                  <a:pt x="191" y="144"/>
                  <a:pt x="191" y="142"/>
                </a:cubicBezTo>
                <a:cubicBezTo>
                  <a:pt x="192" y="141"/>
                  <a:pt x="192" y="140"/>
                  <a:pt x="192" y="138"/>
                </a:cubicBezTo>
                <a:cubicBezTo>
                  <a:pt x="192" y="136"/>
                  <a:pt x="191" y="133"/>
                  <a:pt x="189" y="131"/>
                </a:cubicBezTo>
                <a:cubicBezTo>
                  <a:pt x="187" y="128"/>
                  <a:pt x="183" y="127"/>
                  <a:pt x="180" y="128"/>
                </a:cubicBezTo>
                <a:cubicBezTo>
                  <a:pt x="179" y="128"/>
                  <a:pt x="178" y="128"/>
                  <a:pt x="178" y="129"/>
                </a:cubicBezTo>
                <a:cubicBezTo>
                  <a:pt x="177" y="129"/>
                  <a:pt x="176" y="129"/>
                  <a:pt x="176" y="129"/>
                </a:cubicBezTo>
                <a:cubicBezTo>
                  <a:pt x="175" y="130"/>
                  <a:pt x="175" y="130"/>
                  <a:pt x="174" y="131"/>
                </a:cubicBezTo>
                <a:cubicBezTo>
                  <a:pt x="172" y="133"/>
                  <a:pt x="171" y="136"/>
                  <a:pt x="171" y="138"/>
                </a:cubicBezTo>
                <a:cubicBezTo>
                  <a:pt x="171" y="140"/>
                  <a:pt x="171" y="141"/>
                  <a:pt x="172" y="142"/>
                </a:cubicBezTo>
                <a:cubicBezTo>
                  <a:pt x="172" y="144"/>
                  <a:pt x="173" y="145"/>
                  <a:pt x="174" y="146"/>
                </a:cubicBezTo>
                <a:close/>
                <a:moveTo>
                  <a:pt x="235" y="96"/>
                </a:moveTo>
                <a:cubicBezTo>
                  <a:pt x="235" y="309"/>
                  <a:pt x="235" y="309"/>
                  <a:pt x="235" y="309"/>
                </a:cubicBezTo>
                <a:cubicBezTo>
                  <a:pt x="235" y="315"/>
                  <a:pt x="230" y="320"/>
                  <a:pt x="224" y="320"/>
                </a:cubicBezTo>
                <a:cubicBezTo>
                  <a:pt x="11" y="320"/>
                  <a:pt x="11" y="320"/>
                  <a:pt x="11" y="320"/>
                </a:cubicBezTo>
                <a:cubicBezTo>
                  <a:pt x="5" y="320"/>
                  <a:pt x="0" y="315"/>
                  <a:pt x="0" y="309"/>
                </a:cubicBezTo>
                <a:cubicBezTo>
                  <a:pt x="0" y="10"/>
                  <a:pt x="0" y="10"/>
                  <a:pt x="0" y="10"/>
                </a:cubicBezTo>
                <a:cubicBezTo>
                  <a:pt x="0" y="4"/>
                  <a:pt x="5" y="0"/>
                  <a:pt x="11" y="0"/>
                </a:cubicBezTo>
                <a:cubicBezTo>
                  <a:pt x="139" y="0"/>
                  <a:pt x="139" y="0"/>
                  <a:pt x="139" y="0"/>
                </a:cubicBezTo>
                <a:cubicBezTo>
                  <a:pt x="145" y="0"/>
                  <a:pt x="150" y="4"/>
                  <a:pt x="150" y="10"/>
                </a:cubicBezTo>
                <a:cubicBezTo>
                  <a:pt x="150" y="85"/>
                  <a:pt x="150" y="85"/>
                  <a:pt x="150" y="85"/>
                </a:cubicBezTo>
                <a:cubicBezTo>
                  <a:pt x="224" y="85"/>
                  <a:pt x="224" y="85"/>
                  <a:pt x="224" y="85"/>
                </a:cubicBezTo>
                <a:cubicBezTo>
                  <a:pt x="230" y="85"/>
                  <a:pt x="235" y="90"/>
                  <a:pt x="235" y="96"/>
                </a:cubicBezTo>
                <a:close/>
                <a:moveTo>
                  <a:pt x="22" y="298"/>
                </a:moveTo>
                <a:cubicBezTo>
                  <a:pt x="43" y="298"/>
                  <a:pt x="43" y="298"/>
                  <a:pt x="43" y="298"/>
                </a:cubicBezTo>
                <a:cubicBezTo>
                  <a:pt x="43" y="266"/>
                  <a:pt x="43" y="266"/>
                  <a:pt x="43" y="266"/>
                </a:cubicBezTo>
                <a:cubicBezTo>
                  <a:pt x="43" y="260"/>
                  <a:pt x="48" y="256"/>
                  <a:pt x="54" y="256"/>
                </a:cubicBezTo>
                <a:cubicBezTo>
                  <a:pt x="60" y="256"/>
                  <a:pt x="64" y="260"/>
                  <a:pt x="64" y="266"/>
                </a:cubicBezTo>
                <a:cubicBezTo>
                  <a:pt x="64" y="298"/>
                  <a:pt x="64" y="298"/>
                  <a:pt x="64" y="298"/>
                </a:cubicBezTo>
                <a:cubicBezTo>
                  <a:pt x="128" y="298"/>
                  <a:pt x="128" y="298"/>
                  <a:pt x="128" y="298"/>
                </a:cubicBezTo>
                <a:cubicBezTo>
                  <a:pt x="128" y="21"/>
                  <a:pt x="128" y="21"/>
                  <a:pt x="128" y="21"/>
                </a:cubicBezTo>
                <a:cubicBezTo>
                  <a:pt x="22" y="21"/>
                  <a:pt x="22" y="21"/>
                  <a:pt x="22" y="21"/>
                </a:cubicBezTo>
                <a:lnTo>
                  <a:pt x="22" y="298"/>
                </a:lnTo>
                <a:close/>
                <a:moveTo>
                  <a:pt x="214" y="106"/>
                </a:moveTo>
                <a:cubicBezTo>
                  <a:pt x="150" y="106"/>
                  <a:pt x="150" y="106"/>
                  <a:pt x="150" y="106"/>
                </a:cubicBezTo>
                <a:cubicBezTo>
                  <a:pt x="150" y="298"/>
                  <a:pt x="150" y="298"/>
                  <a:pt x="150" y="298"/>
                </a:cubicBezTo>
                <a:cubicBezTo>
                  <a:pt x="171" y="298"/>
                  <a:pt x="171" y="298"/>
                  <a:pt x="171" y="298"/>
                </a:cubicBezTo>
                <a:cubicBezTo>
                  <a:pt x="171" y="266"/>
                  <a:pt x="171" y="266"/>
                  <a:pt x="171" y="266"/>
                </a:cubicBezTo>
                <a:cubicBezTo>
                  <a:pt x="171" y="260"/>
                  <a:pt x="176" y="256"/>
                  <a:pt x="182" y="256"/>
                </a:cubicBezTo>
                <a:cubicBezTo>
                  <a:pt x="188" y="256"/>
                  <a:pt x="192" y="260"/>
                  <a:pt x="192" y="266"/>
                </a:cubicBezTo>
                <a:cubicBezTo>
                  <a:pt x="192" y="298"/>
                  <a:pt x="192" y="298"/>
                  <a:pt x="192" y="298"/>
                </a:cubicBezTo>
                <a:cubicBezTo>
                  <a:pt x="214" y="298"/>
                  <a:pt x="214" y="298"/>
                  <a:pt x="214" y="298"/>
                </a:cubicBezTo>
                <a:lnTo>
                  <a:pt x="214" y="106"/>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32" name="Arrow: Curved Down 231">
            <a:extLst>
              <a:ext uri="{FF2B5EF4-FFF2-40B4-BE49-F238E27FC236}">
                <a16:creationId xmlns:a16="http://schemas.microsoft.com/office/drawing/2014/main" id="{E4B962C6-CC0A-16E1-43B4-EB446BC4DE68}"/>
              </a:ext>
            </a:extLst>
          </p:cNvPr>
          <p:cNvSpPr/>
          <p:nvPr/>
        </p:nvSpPr>
        <p:spPr bwMode="gray">
          <a:xfrm flipH="1">
            <a:off x="3978596" y="2478547"/>
            <a:ext cx="294956" cy="131817"/>
          </a:xfrm>
          <a:prstGeom prst="curvedDownArrow">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nvGrpSpPr>
          <p:cNvPr id="233" name="Group 638">
            <a:extLst>
              <a:ext uri="{FF2B5EF4-FFF2-40B4-BE49-F238E27FC236}">
                <a16:creationId xmlns:a16="http://schemas.microsoft.com/office/drawing/2014/main" id="{054E14D6-0560-BBE3-8E42-639A8D299977}"/>
              </a:ext>
            </a:extLst>
          </p:cNvPr>
          <p:cNvGrpSpPr>
            <a:grpSpLocks noChangeAspect="1"/>
          </p:cNvGrpSpPr>
          <p:nvPr/>
        </p:nvGrpSpPr>
        <p:grpSpPr bwMode="auto">
          <a:xfrm>
            <a:off x="1104302" y="2504923"/>
            <a:ext cx="164114" cy="256120"/>
            <a:chOff x="4405" y="2330"/>
            <a:chExt cx="132" cy="206"/>
          </a:xfrm>
          <a:solidFill>
            <a:sysClr val="window" lastClr="FFFFFF"/>
          </a:solidFill>
        </p:grpSpPr>
        <p:sp>
          <p:nvSpPr>
            <p:cNvPr id="234" name="Freeform 639">
              <a:extLst>
                <a:ext uri="{FF2B5EF4-FFF2-40B4-BE49-F238E27FC236}">
                  <a16:creationId xmlns:a16="http://schemas.microsoft.com/office/drawing/2014/main" id="{1765FA01-1CA8-C9D2-B7DF-872F3A7ABD91}"/>
                </a:ext>
              </a:extLst>
            </p:cNvPr>
            <p:cNvSpPr>
              <a:spLocks/>
            </p:cNvSpPr>
            <p:nvPr/>
          </p:nvSpPr>
          <p:spPr bwMode="auto">
            <a:xfrm>
              <a:off x="4463" y="2437"/>
              <a:ext cx="14" cy="99"/>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35" name="Freeform 640">
              <a:extLst>
                <a:ext uri="{FF2B5EF4-FFF2-40B4-BE49-F238E27FC236}">
                  <a16:creationId xmlns:a16="http://schemas.microsoft.com/office/drawing/2014/main" id="{1F0E8DF0-5296-CF45-A3B0-0C7E8AE7568E}"/>
                </a:ext>
              </a:extLst>
            </p:cNvPr>
            <p:cNvSpPr>
              <a:spLocks noEditPoints="1"/>
            </p:cNvSpPr>
            <p:nvPr/>
          </p:nvSpPr>
          <p:spPr bwMode="auto">
            <a:xfrm>
              <a:off x="4405" y="2330"/>
              <a:ext cx="132" cy="107"/>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sp>
        <p:nvSpPr>
          <p:cNvPr id="236" name="Rectangle 235">
            <a:extLst>
              <a:ext uri="{FF2B5EF4-FFF2-40B4-BE49-F238E27FC236}">
                <a16:creationId xmlns:a16="http://schemas.microsoft.com/office/drawing/2014/main" id="{2E53F5B8-4763-0520-4220-6B074F25ACD6}"/>
              </a:ext>
            </a:extLst>
          </p:cNvPr>
          <p:cNvSpPr/>
          <p:nvPr/>
        </p:nvSpPr>
        <p:spPr bwMode="gray">
          <a:xfrm>
            <a:off x="4680204" y="2450184"/>
            <a:ext cx="773465" cy="482237"/>
          </a:xfrm>
          <a:prstGeom prst="rect">
            <a:avLst/>
          </a:prstGeom>
          <a:solidFill>
            <a:srgbClr val="86BC25"/>
          </a:solidFill>
          <a:ln w="19050" algn="ctr">
            <a:noFill/>
            <a:miter lim="800000"/>
            <a:headEnd/>
            <a:tailEnd/>
          </a:ln>
        </p:spPr>
        <p:txBody>
          <a:bodyPr wrap="square" lIns="0" tIns="88900" rIns="0" bIns="88900" rtlCol="0" anchor="t"/>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914400" eaLnBrk="1" fontAlgn="auto" latinLnBrk="0" hangingPunct="1">
              <a:lnSpc>
                <a:spcPct val="106000"/>
              </a:lnSpc>
              <a:spcBef>
                <a:spcPts val="70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Prosumers</a:t>
            </a:r>
          </a:p>
        </p:txBody>
      </p:sp>
      <p:grpSp>
        <p:nvGrpSpPr>
          <p:cNvPr id="237" name="Group 828">
            <a:extLst>
              <a:ext uri="{FF2B5EF4-FFF2-40B4-BE49-F238E27FC236}">
                <a16:creationId xmlns:a16="http://schemas.microsoft.com/office/drawing/2014/main" id="{E30CB40C-4219-D374-C4B3-374F984E840A}"/>
              </a:ext>
            </a:extLst>
          </p:cNvPr>
          <p:cNvGrpSpPr>
            <a:grpSpLocks noChangeAspect="1"/>
          </p:cNvGrpSpPr>
          <p:nvPr/>
        </p:nvGrpSpPr>
        <p:grpSpPr bwMode="auto">
          <a:xfrm>
            <a:off x="5238979" y="2510489"/>
            <a:ext cx="164115" cy="203464"/>
            <a:chOff x="5127" y="3083"/>
            <a:chExt cx="171" cy="212"/>
          </a:xfrm>
          <a:solidFill>
            <a:sysClr val="window" lastClr="FFFFFF"/>
          </a:solidFill>
        </p:grpSpPr>
        <p:sp>
          <p:nvSpPr>
            <p:cNvPr id="238" name="Freeform 829">
              <a:extLst>
                <a:ext uri="{FF2B5EF4-FFF2-40B4-BE49-F238E27FC236}">
                  <a16:creationId xmlns:a16="http://schemas.microsoft.com/office/drawing/2014/main" id="{BAECD383-FB7D-350A-8391-FCE4C8A5303B}"/>
                </a:ext>
              </a:extLst>
            </p:cNvPr>
            <p:cNvSpPr>
              <a:spLocks noEditPoints="1"/>
            </p:cNvSpPr>
            <p:nvPr/>
          </p:nvSpPr>
          <p:spPr bwMode="auto">
            <a:xfrm>
              <a:off x="5226" y="3139"/>
              <a:ext cx="72" cy="156"/>
            </a:xfrm>
            <a:custGeom>
              <a:avLst/>
              <a:gdLst>
                <a:gd name="T0" fmla="*/ 74 w 107"/>
                <a:gd name="T1" fmla="*/ 8 h 235"/>
                <a:gd name="T2" fmla="*/ 64 w 107"/>
                <a:gd name="T3" fmla="*/ 0 h 235"/>
                <a:gd name="T4" fmla="*/ 43 w 107"/>
                <a:gd name="T5" fmla="*/ 0 h 235"/>
                <a:gd name="T6" fmla="*/ 32 w 107"/>
                <a:gd name="T7" fmla="*/ 8 h 235"/>
                <a:gd name="T8" fmla="*/ 0 w 107"/>
                <a:gd name="T9" fmla="*/ 136 h 235"/>
                <a:gd name="T10" fmla="*/ 2 w 107"/>
                <a:gd name="T11" fmla="*/ 145 h 235"/>
                <a:gd name="T12" fmla="*/ 11 w 107"/>
                <a:gd name="T13" fmla="*/ 149 h 235"/>
                <a:gd name="T14" fmla="*/ 21 w 107"/>
                <a:gd name="T15" fmla="*/ 149 h 235"/>
                <a:gd name="T16" fmla="*/ 21 w 107"/>
                <a:gd name="T17" fmla="*/ 224 h 235"/>
                <a:gd name="T18" fmla="*/ 32 w 107"/>
                <a:gd name="T19" fmla="*/ 235 h 235"/>
                <a:gd name="T20" fmla="*/ 43 w 107"/>
                <a:gd name="T21" fmla="*/ 224 h 235"/>
                <a:gd name="T22" fmla="*/ 43 w 107"/>
                <a:gd name="T23" fmla="*/ 149 h 235"/>
                <a:gd name="T24" fmla="*/ 64 w 107"/>
                <a:gd name="T25" fmla="*/ 149 h 235"/>
                <a:gd name="T26" fmla="*/ 64 w 107"/>
                <a:gd name="T27" fmla="*/ 224 h 235"/>
                <a:gd name="T28" fmla="*/ 75 w 107"/>
                <a:gd name="T29" fmla="*/ 235 h 235"/>
                <a:gd name="T30" fmla="*/ 85 w 107"/>
                <a:gd name="T31" fmla="*/ 224 h 235"/>
                <a:gd name="T32" fmla="*/ 85 w 107"/>
                <a:gd name="T33" fmla="*/ 149 h 235"/>
                <a:gd name="T34" fmla="*/ 96 w 107"/>
                <a:gd name="T35" fmla="*/ 149 h 235"/>
                <a:gd name="T36" fmla="*/ 104 w 107"/>
                <a:gd name="T37" fmla="*/ 145 h 235"/>
                <a:gd name="T38" fmla="*/ 106 w 107"/>
                <a:gd name="T39" fmla="*/ 136 h 235"/>
                <a:gd name="T40" fmla="*/ 74 w 107"/>
                <a:gd name="T41" fmla="*/ 8 h 235"/>
                <a:gd name="T42" fmla="*/ 51 w 107"/>
                <a:gd name="T43" fmla="*/ 21 h 235"/>
                <a:gd name="T44" fmla="*/ 56 w 107"/>
                <a:gd name="T45" fmla="*/ 21 h 235"/>
                <a:gd name="T46" fmla="*/ 82 w 107"/>
                <a:gd name="T47" fmla="*/ 128 h 235"/>
                <a:gd name="T48" fmla="*/ 24 w 107"/>
                <a:gd name="T49" fmla="*/ 128 h 235"/>
                <a:gd name="T50" fmla="*/ 51 w 107"/>
                <a:gd name="T51" fmla="*/ 2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7" h="235">
                  <a:moveTo>
                    <a:pt x="74" y="8"/>
                  </a:moveTo>
                  <a:cubicBezTo>
                    <a:pt x="73" y="3"/>
                    <a:pt x="69" y="0"/>
                    <a:pt x="64" y="0"/>
                  </a:cubicBezTo>
                  <a:cubicBezTo>
                    <a:pt x="43" y="0"/>
                    <a:pt x="43" y="0"/>
                    <a:pt x="43" y="0"/>
                  </a:cubicBezTo>
                  <a:cubicBezTo>
                    <a:pt x="38" y="0"/>
                    <a:pt x="34" y="3"/>
                    <a:pt x="32" y="8"/>
                  </a:cubicBezTo>
                  <a:cubicBezTo>
                    <a:pt x="0" y="136"/>
                    <a:pt x="0" y="136"/>
                    <a:pt x="0" y="136"/>
                  </a:cubicBezTo>
                  <a:cubicBezTo>
                    <a:pt x="0" y="139"/>
                    <a:pt x="0" y="143"/>
                    <a:pt x="2" y="145"/>
                  </a:cubicBezTo>
                  <a:cubicBezTo>
                    <a:pt x="4" y="148"/>
                    <a:pt x="7" y="149"/>
                    <a:pt x="11" y="149"/>
                  </a:cubicBezTo>
                  <a:cubicBezTo>
                    <a:pt x="21" y="149"/>
                    <a:pt x="21" y="149"/>
                    <a:pt x="21" y="149"/>
                  </a:cubicBezTo>
                  <a:cubicBezTo>
                    <a:pt x="21" y="224"/>
                    <a:pt x="21" y="224"/>
                    <a:pt x="21" y="224"/>
                  </a:cubicBezTo>
                  <a:cubicBezTo>
                    <a:pt x="21" y="230"/>
                    <a:pt x="26" y="235"/>
                    <a:pt x="32" y="235"/>
                  </a:cubicBezTo>
                  <a:cubicBezTo>
                    <a:pt x="38" y="235"/>
                    <a:pt x="43" y="230"/>
                    <a:pt x="43" y="224"/>
                  </a:cubicBezTo>
                  <a:cubicBezTo>
                    <a:pt x="43" y="149"/>
                    <a:pt x="43" y="149"/>
                    <a:pt x="43" y="149"/>
                  </a:cubicBezTo>
                  <a:cubicBezTo>
                    <a:pt x="64" y="149"/>
                    <a:pt x="64" y="149"/>
                    <a:pt x="64" y="149"/>
                  </a:cubicBezTo>
                  <a:cubicBezTo>
                    <a:pt x="64" y="224"/>
                    <a:pt x="64" y="224"/>
                    <a:pt x="64" y="224"/>
                  </a:cubicBezTo>
                  <a:cubicBezTo>
                    <a:pt x="64" y="230"/>
                    <a:pt x="69" y="235"/>
                    <a:pt x="75" y="235"/>
                  </a:cubicBezTo>
                  <a:cubicBezTo>
                    <a:pt x="81" y="235"/>
                    <a:pt x="85" y="230"/>
                    <a:pt x="85" y="224"/>
                  </a:cubicBezTo>
                  <a:cubicBezTo>
                    <a:pt x="85" y="149"/>
                    <a:pt x="85" y="149"/>
                    <a:pt x="85" y="149"/>
                  </a:cubicBezTo>
                  <a:cubicBezTo>
                    <a:pt x="96" y="149"/>
                    <a:pt x="96" y="149"/>
                    <a:pt x="96" y="149"/>
                  </a:cubicBezTo>
                  <a:cubicBezTo>
                    <a:pt x="99" y="149"/>
                    <a:pt x="102" y="148"/>
                    <a:pt x="104" y="145"/>
                  </a:cubicBezTo>
                  <a:cubicBezTo>
                    <a:pt x="106" y="143"/>
                    <a:pt x="107" y="139"/>
                    <a:pt x="106" y="136"/>
                  </a:cubicBezTo>
                  <a:lnTo>
                    <a:pt x="74" y="8"/>
                  </a:lnTo>
                  <a:close/>
                  <a:moveTo>
                    <a:pt x="51" y="21"/>
                  </a:moveTo>
                  <a:cubicBezTo>
                    <a:pt x="56" y="21"/>
                    <a:pt x="56" y="21"/>
                    <a:pt x="56" y="21"/>
                  </a:cubicBezTo>
                  <a:cubicBezTo>
                    <a:pt x="82" y="128"/>
                    <a:pt x="82" y="128"/>
                    <a:pt x="82" y="128"/>
                  </a:cubicBezTo>
                  <a:cubicBezTo>
                    <a:pt x="24" y="128"/>
                    <a:pt x="24" y="128"/>
                    <a:pt x="24" y="128"/>
                  </a:cubicBezTo>
                  <a:lnTo>
                    <a:pt x="5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39" name="Freeform 830">
              <a:extLst>
                <a:ext uri="{FF2B5EF4-FFF2-40B4-BE49-F238E27FC236}">
                  <a16:creationId xmlns:a16="http://schemas.microsoft.com/office/drawing/2014/main" id="{1EB3FF37-7A01-BE72-EFF5-B6276B98E286}"/>
                </a:ext>
              </a:extLst>
            </p:cNvPr>
            <p:cNvSpPr>
              <a:spLocks noEditPoints="1"/>
            </p:cNvSpPr>
            <p:nvPr/>
          </p:nvSpPr>
          <p:spPr bwMode="auto">
            <a:xfrm>
              <a:off x="5240" y="308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40" name="Freeform 831">
              <a:extLst>
                <a:ext uri="{FF2B5EF4-FFF2-40B4-BE49-F238E27FC236}">
                  <a16:creationId xmlns:a16="http://schemas.microsoft.com/office/drawing/2014/main" id="{A74FE0E2-7F39-9617-A48A-FFC57E5AF705}"/>
                </a:ext>
              </a:extLst>
            </p:cNvPr>
            <p:cNvSpPr>
              <a:spLocks noEditPoints="1"/>
            </p:cNvSpPr>
            <p:nvPr/>
          </p:nvSpPr>
          <p:spPr bwMode="auto">
            <a:xfrm>
              <a:off x="5127" y="3139"/>
              <a:ext cx="71" cy="156"/>
            </a:xfrm>
            <a:custGeom>
              <a:avLst/>
              <a:gdLst>
                <a:gd name="T0" fmla="*/ 96 w 106"/>
                <a:gd name="T1" fmla="*/ 0 h 235"/>
                <a:gd name="T2" fmla="*/ 10 w 106"/>
                <a:gd name="T3" fmla="*/ 0 h 235"/>
                <a:gd name="T4" fmla="*/ 0 w 106"/>
                <a:gd name="T5" fmla="*/ 11 h 235"/>
                <a:gd name="T6" fmla="*/ 0 w 106"/>
                <a:gd name="T7" fmla="*/ 117 h 235"/>
                <a:gd name="T8" fmla="*/ 10 w 106"/>
                <a:gd name="T9" fmla="*/ 128 h 235"/>
                <a:gd name="T10" fmla="*/ 21 w 106"/>
                <a:gd name="T11" fmla="*/ 128 h 235"/>
                <a:gd name="T12" fmla="*/ 21 w 106"/>
                <a:gd name="T13" fmla="*/ 224 h 235"/>
                <a:gd name="T14" fmla="*/ 32 w 106"/>
                <a:gd name="T15" fmla="*/ 235 h 235"/>
                <a:gd name="T16" fmla="*/ 42 w 106"/>
                <a:gd name="T17" fmla="*/ 224 h 235"/>
                <a:gd name="T18" fmla="*/ 42 w 106"/>
                <a:gd name="T19" fmla="*/ 128 h 235"/>
                <a:gd name="T20" fmla="*/ 64 w 106"/>
                <a:gd name="T21" fmla="*/ 128 h 235"/>
                <a:gd name="T22" fmla="*/ 64 w 106"/>
                <a:gd name="T23" fmla="*/ 224 h 235"/>
                <a:gd name="T24" fmla="*/ 74 w 106"/>
                <a:gd name="T25" fmla="*/ 235 h 235"/>
                <a:gd name="T26" fmla="*/ 85 w 106"/>
                <a:gd name="T27" fmla="*/ 224 h 235"/>
                <a:gd name="T28" fmla="*/ 85 w 106"/>
                <a:gd name="T29" fmla="*/ 128 h 235"/>
                <a:gd name="T30" fmla="*/ 96 w 106"/>
                <a:gd name="T31" fmla="*/ 128 h 235"/>
                <a:gd name="T32" fmla="*/ 106 w 106"/>
                <a:gd name="T33" fmla="*/ 117 h 235"/>
                <a:gd name="T34" fmla="*/ 106 w 106"/>
                <a:gd name="T35" fmla="*/ 11 h 235"/>
                <a:gd name="T36" fmla="*/ 96 w 106"/>
                <a:gd name="T37" fmla="*/ 0 h 235"/>
                <a:gd name="T38" fmla="*/ 85 w 106"/>
                <a:gd name="T39" fmla="*/ 107 h 235"/>
                <a:gd name="T40" fmla="*/ 21 w 106"/>
                <a:gd name="T41" fmla="*/ 107 h 235"/>
                <a:gd name="T42" fmla="*/ 21 w 106"/>
                <a:gd name="T43" fmla="*/ 21 h 235"/>
                <a:gd name="T44" fmla="*/ 85 w 106"/>
                <a:gd name="T45" fmla="*/ 21 h 235"/>
                <a:gd name="T46" fmla="*/ 85 w 106"/>
                <a:gd name="T47" fmla="*/ 1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235">
                  <a:moveTo>
                    <a:pt x="96" y="0"/>
                  </a:moveTo>
                  <a:cubicBezTo>
                    <a:pt x="10" y="0"/>
                    <a:pt x="10" y="0"/>
                    <a:pt x="10" y="0"/>
                  </a:cubicBezTo>
                  <a:cubicBezTo>
                    <a:pt x="4" y="0"/>
                    <a:pt x="0" y="5"/>
                    <a:pt x="0" y="11"/>
                  </a:cubicBezTo>
                  <a:cubicBezTo>
                    <a:pt x="0" y="117"/>
                    <a:pt x="0" y="117"/>
                    <a:pt x="0" y="117"/>
                  </a:cubicBezTo>
                  <a:cubicBezTo>
                    <a:pt x="0" y="123"/>
                    <a:pt x="4" y="128"/>
                    <a:pt x="10" y="128"/>
                  </a:cubicBezTo>
                  <a:cubicBezTo>
                    <a:pt x="21" y="128"/>
                    <a:pt x="21" y="128"/>
                    <a:pt x="21" y="128"/>
                  </a:cubicBezTo>
                  <a:cubicBezTo>
                    <a:pt x="21" y="224"/>
                    <a:pt x="21" y="224"/>
                    <a:pt x="21" y="224"/>
                  </a:cubicBezTo>
                  <a:cubicBezTo>
                    <a:pt x="21" y="230"/>
                    <a:pt x="26" y="235"/>
                    <a:pt x="32" y="235"/>
                  </a:cubicBezTo>
                  <a:cubicBezTo>
                    <a:pt x="38" y="235"/>
                    <a:pt x="42" y="230"/>
                    <a:pt x="42" y="224"/>
                  </a:cubicBezTo>
                  <a:cubicBezTo>
                    <a:pt x="42" y="128"/>
                    <a:pt x="42" y="128"/>
                    <a:pt x="42" y="128"/>
                  </a:cubicBezTo>
                  <a:cubicBezTo>
                    <a:pt x="64" y="128"/>
                    <a:pt x="64" y="128"/>
                    <a:pt x="64" y="128"/>
                  </a:cubicBezTo>
                  <a:cubicBezTo>
                    <a:pt x="64" y="224"/>
                    <a:pt x="64" y="224"/>
                    <a:pt x="64" y="224"/>
                  </a:cubicBezTo>
                  <a:cubicBezTo>
                    <a:pt x="64" y="230"/>
                    <a:pt x="68" y="235"/>
                    <a:pt x="74" y="235"/>
                  </a:cubicBezTo>
                  <a:cubicBezTo>
                    <a:pt x="80" y="235"/>
                    <a:pt x="85" y="230"/>
                    <a:pt x="85" y="224"/>
                  </a:cubicBezTo>
                  <a:cubicBezTo>
                    <a:pt x="85" y="128"/>
                    <a:pt x="85" y="128"/>
                    <a:pt x="85" y="128"/>
                  </a:cubicBezTo>
                  <a:cubicBezTo>
                    <a:pt x="96" y="128"/>
                    <a:pt x="96" y="128"/>
                    <a:pt x="96" y="128"/>
                  </a:cubicBezTo>
                  <a:cubicBezTo>
                    <a:pt x="102" y="128"/>
                    <a:pt x="106" y="123"/>
                    <a:pt x="106" y="117"/>
                  </a:cubicBezTo>
                  <a:cubicBezTo>
                    <a:pt x="106" y="11"/>
                    <a:pt x="106" y="11"/>
                    <a:pt x="106" y="11"/>
                  </a:cubicBezTo>
                  <a:cubicBezTo>
                    <a:pt x="106" y="5"/>
                    <a:pt x="102" y="0"/>
                    <a:pt x="96" y="0"/>
                  </a:cubicBezTo>
                  <a:close/>
                  <a:moveTo>
                    <a:pt x="85" y="107"/>
                  </a:moveTo>
                  <a:cubicBezTo>
                    <a:pt x="21" y="107"/>
                    <a:pt x="21" y="107"/>
                    <a:pt x="21" y="107"/>
                  </a:cubicBezTo>
                  <a:cubicBezTo>
                    <a:pt x="21" y="21"/>
                    <a:pt x="21" y="21"/>
                    <a:pt x="21" y="21"/>
                  </a:cubicBezTo>
                  <a:cubicBezTo>
                    <a:pt x="85" y="21"/>
                    <a:pt x="85" y="21"/>
                    <a:pt x="85" y="21"/>
                  </a:cubicBezTo>
                  <a:lnTo>
                    <a:pt x="85" y="10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41" name="Freeform 832">
              <a:extLst>
                <a:ext uri="{FF2B5EF4-FFF2-40B4-BE49-F238E27FC236}">
                  <a16:creationId xmlns:a16="http://schemas.microsoft.com/office/drawing/2014/main" id="{966B7D52-2FE2-6255-81CC-2390F0E0696B}"/>
                </a:ext>
              </a:extLst>
            </p:cNvPr>
            <p:cNvSpPr>
              <a:spLocks noEditPoints="1"/>
            </p:cNvSpPr>
            <p:nvPr/>
          </p:nvSpPr>
          <p:spPr bwMode="auto">
            <a:xfrm>
              <a:off x="5141" y="308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sp>
        <p:nvSpPr>
          <p:cNvPr id="242" name="Freeform 439">
            <a:extLst>
              <a:ext uri="{FF2B5EF4-FFF2-40B4-BE49-F238E27FC236}">
                <a16:creationId xmlns:a16="http://schemas.microsoft.com/office/drawing/2014/main" id="{FBE0FE7C-1E0F-A6BE-6FAC-A89B72B4C999}"/>
              </a:ext>
            </a:extLst>
          </p:cNvPr>
          <p:cNvSpPr>
            <a:spLocks noEditPoints="1"/>
          </p:cNvSpPr>
          <p:nvPr/>
        </p:nvSpPr>
        <p:spPr bwMode="auto">
          <a:xfrm rot="16200000">
            <a:off x="2347121" y="2552101"/>
            <a:ext cx="262372" cy="139849"/>
          </a:xfrm>
          <a:custGeom>
            <a:avLst/>
            <a:gdLst>
              <a:gd name="T0" fmla="*/ 309 w 320"/>
              <a:gd name="T1" fmla="*/ 43 h 171"/>
              <a:gd name="T2" fmla="*/ 277 w 320"/>
              <a:gd name="T3" fmla="*/ 43 h 171"/>
              <a:gd name="T4" fmla="*/ 277 w 320"/>
              <a:gd name="T5" fmla="*/ 11 h 171"/>
              <a:gd name="T6" fmla="*/ 266 w 320"/>
              <a:gd name="T7" fmla="*/ 0 h 171"/>
              <a:gd name="T8" fmla="*/ 10 w 320"/>
              <a:gd name="T9" fmla="*/ 0 h 171"/>
              <a:gd name="T10" fmla="*/ 0 w 320"/>
              <a:gd name="T11" fmla="*/ 11 h 171"/>
              <a:gd name="T12" fmla="*/ 0 w 320"/>
              <a:gd name="T13" fmla="*/ 160 h 171"/>
              <a:gd name="T14" fmla="*/ 10 w 320"/>
              <a:gd name="T15" fmla="*/ 171 h 171"/>
              <a:gd name="T16" fmla="*/ 266 w 320"/>
              <a:gd name="T17" fmla="*/ 171 h 171"/>
              <a:gd name="T18" fmla="*/ 277 w 320"/>
              <a:gd name="T19" fmla="*/ 160 h 171"/>
              <a:gd name="T20" fmla="*/ 277 w 320"/>
              <a:gd name="T21" fmla="*/ 128 h 171"/>
              <a:gd name="T22" fmla="*/ 309 w 320"/>
              <a:gd name="T23" fmla="*/ 128 h 171"/>
              <a:gd name="T24" fmla="*/ 320 w 320"/>
              <a:gd name="T25" fmla="*/ 118 h 171"/>
              <a:gd name="T26" fmla="*/ 320 w 320"/>
              <a:gd name="T27" fmla="*/ 54 h 171"/>
              <a:gd name="T28" fmla="*/ 309 w 320"/>
              <a:gd name="T29" fmla="*/ 43 h 171"/>
              <a:gd name="T30" fmla="*/ 256 w 320"/>
              <a:gd name="T31" fmla="*/ 150 h 171"/>
              <a:gd name="T32" fmla="*/ 21 w 320"/>
              <a:gd name="T33" fmla="*/ 150 h 171"/>
              <a:gd name="T34" fmla="*/ 21 w 320"/>
              <a:gd name="T35" fmla="*/ 22 h 171"/>
              <a:gd name="T36" fmla="*/ 256 w 320"/>
              <a:gd name="T37" fmla="*/ 22 h 171"/>
              <a:gd name="T38" fmla="*/ 256 w 320"/>
              <a:gd name="T39" fmla="*/ 150 h 171"/>
              <a:gd name="T40" fmla="*/ 298 w 320"/>
              <a:gd name="T41" fmla="*/ 107 h 171"/>
              <a:gd name="T42" fmla="*/ 277 w 320"/>
              <a:gd name="T43" fmla="*/ 107 h 171"/>
              <a:gd name="T44" fmla="*/ 277 w 320"/>
              <a:gd name="T45" fmla="*/ 64 h 171"/>
              <a:gd name="T46" fmla="*/ 298 w 320"/>
              <a:gd name="T47" fmla="*/ 64 h 171"/>
              <a:gd name="T48" fmla="*/ 298 w 320"/>
              <a:gd name="T49" fmla="*/ 107 h 171"/>
              <a:gd name="T50" fmla="*/ 42 w 320"/>
              <a:gd name="T51" fmla="*/ 118 h 171"/>
              <a:gd name="T52" fmla="*/ 42 w 320"/>
              <a:gd name="T53" fmla="*/ 54 h 171"/>
              <a:gd name="T54" fmla="*/ 53 w 320"/>
              <a:gd name="T55" fmla="*/ 43 h 171"/>
              <a:gd name="T56" fmla="*/ 64 w 320"/>
              <a:gd name="T57" fmla="*/ 54 h 171"/>
              <a:gd name="T58" fmla="*/ 64 w 320"/>
              <a:gd name="T59" fmla="*/ 118 h 171"/>
              <a:gd name="T60" fmla="*/ 53 w 320"/>
              <a:gd name="T61" fmla="*/ 128 h 171"/>
              <a:gd name="T62" fmla="*/ 42 w 320"/>
              <a:gd name="T63" fmla="*/ 118 h 171"/>
              <a:gd name="T64" fmla="*/ 85 w 320"/>
              <a:gd name="T65" fmla="*/ 118 h 171"/>
              <a:gd name="T66" fmla="*/ 85 w 320"/>
              <a:gd name="T67" fmla="*/ 54 h 171"/>
              <a:gd name="T68" fmla="*/ 96 w 320"/>
              <a:gd name="T69" fmla="*/ 43 h 171"/>
              <a:gd name="T70" fmla="*/ 106 w 320"/>
              <a:gd name="T71" fmla="*/ 54 h 171"/>
              <a:gd name="T72" fmla="*/ 106 w 320"/>
              <a:gd name="T73" fmla="*/ 118 h 171"/>
              <a:gd name="T74" fmla="*/ 96 w 320"/>
              <a:gd name="T75" fmla="*/ 128 h 171"/>
              <a:gd name="T76" fmla="*/ 85 w 320"/>
              <a:gd name="T77" fmla="*/ 118 h 171"/>
              <a:gd name="T78" fmla="*/ 128 w 320"/>
              <a:gd name="T79" fmla="*/ 118 h 171"/>
              <a:gd name="T80" fmla="*/ 128 w 320"/>
              <a:gd name="T81" fmla="*/ 54 h 171"/>
              <a:gd name="T82" fmla="*/ 138 w 320"/>
              <a:gd name="T83" fmla="*/ 43 h 171"/>
              <a:gd name="T84" fmla="*/ 149 w 320"/>
              <a:gd name="T85" fmla="*/ 54 h 171"/>
              <a:gd name="T86" fmla="*/ 149 w 320"/>
              <a:gd name="T87" fmla="*/ 118 h 171"/>
              <a:gd name="T88" fmla="*/ 138 w 320"/>
              <a:gd name="T89" fmla="*/ 128 h 171"/>
              <a:gd name="T90" fmla="*/ 128 w 320"/>
              <a:gd name="T91" fmla="*/ 118 h 171"/>
              <a:gd name="T92" fmla="*/ 170 w 320"/>
              <a:gd name="T93" fmla="*/ 118 h 171"/>
              <a:gd name="T94" fmla="*/ 170 w 320"/>
              <a:gd name="T95" fmla="*/ 54 h 171"/>
              <a:gd name="T96" fmla="*/ 181 w 320"/>
              <a:gd name="T97" fmla="*/ 43 h 171"/>
              <a:gd name="T98" fmla="*/ 192 w 320"/>
              <a:gd name="T99" fmla="*/ 54 h 171"/>
              <a:gd name="T100" fmla="*/ 192 w 320"/>
              <a:gd name="T101" fmla="*/ 118 h 171"/>
              <a:gd name="T102" fmla="*/ 181 w 320"/>
              <a:gd name="T103" fmla="*/ 128 h 171"/>
              <a:gd name="T104" fmla="*/ 170 w 320"/>
              <a:gd name="T105" fmla="*/ 118 h 171"/>
              <a:gd name="T106" fmla="*/ 213 w 320"/>
              <a:gd name="T107" fmla="*/ 118 h 171"/>
              <a:gd name="T108" fmla="*/ 213 w 320"/>
              <a:gd name="T109" fmla="*/ 54 h 171"/>
              <a:gd name="T110" fmla="*/ 224 w 320"/>
              <a:gd name="T111" fmla="*/ 43 h 171"/>
              <a:gd name="T112" fmla="*/ 234 w 320"/>
              <a:gd name="T113" fmla="*/ 54 h 171"/>
              <a:gd name="T114" fmla="*/ 234 w 320"/>
              <a:gd name="T115" fmla="*/ 118 h 171"/>
              <a:gd name="T116" fmla="*/ 224 w 320"/>
              <a:gd name="T117" fmla="*/ 128 h 171"/>
              <a:gd name="T118" fmla="*/ 213 w 320"/>
              <a:gd name="T119" fmla="*/ 11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171">
                <a:moveTo>
                  <a:pt x="309" y="43"/>
                </a:moveTo>
                <a:cubicBezTo>
                  <a:pt x="277" y="43"/>
                  <a:pt x="277" y="43"/>
                  <a:pt x="277" y="43"/>
                </a:cubicBezTo>
                <a:cubicBezTo>
                  <a:pt x="277" y="11"/>
                  <a:pt x="277" y="11"/>
                  <a:pt x="277" y="11"/>
                </a:cubicBezTo>
                <a:cubicBezTo>
                  <a:pt x="277" y="5"/>
                  <a:pt x="272" y="0"/>
                  <a:pt x="266" y="0"/>
                </a:cubicBezTo>
                <a:cubicBezTo>
                  <a:pt x="10" y="0"/>
                  <a:pt x="10" y="0"/>
                  <a:pt x="10" y="0"/>
                </a:cubicBezTo>
                <a:cubicBezTo>
                  <a:pt x="4" y="0"/>
                  <a:pt x="0" y="5"/>
                  <a:pt x="0" y="11"/>
                </a:cubicBezTo>
                <a:cubicBezTo>
                  <a:pt x="0" y="160"/>
                  <a:pt x="0" y="160"/>
                  <a:pt x="0" y="160"/>
                </a:cubicBezTo>
                <a:cubicBezTo>
                  <a:pt x="0" y="166"/>
                  <a:pt x="4" y="171"/>
                  <a:pt x="10" y="171"/>
                </a:cubicBezTo>
                <a:cubicBezTo>
                  <a:pt x="266" y="171"/>
                  <a:pt x="266" y="171"/>
                  <a:pt x="266" y="171"/>
                </a:cubicBezTo>
                <a:cubicBezTo>
                  <a:pt x="272" y="171"/>
                  <a:pt x="277" y="166"/>
                  <a:pt x="277" y="160"/>
                </a:cubicBezTo>
                <a:cubicBezTo>
                  <a:pt x="277" y="128"/>
                  <a:pt x="277" y="128"/>
                  <a:pt x="277" y="128"/>
                </a:cubicBezTo>
                <a:cubicBezTo>
                  <a:pt x="309" y="128"/>
                  <a:pt x="309" y="128"/>
                  <a:pt x="309" y="128"/>
                </a:cubicBezTo>
                <a:cubicBezTo>
                  <a:pt x="315" y="128"/>
                  <a:pt x="320" y="124"/>
                  <a:pt x="320" y="118"/>
                </a:cubicBezTo>
                <a:cubicBezTo>
                  <a:pt x="320" y="54"/>
                  <a:pt x="320" y="54"/>
                  <a:pt x="320" y="54"/>
                </a:cubicBezTo>
                <a:cubicBezTo>
                  <a:pt x="320" y="48"/>
                  <a:pt x="315" y="43"/>
                  <a:pt x="309" y="43"/>
                </a:cubicBezTo>
                <a:close/>
                <a:moveTo>
                  <a:pt x="256" y="150"/>
                </a:moveTo>
                <a:cubicBezTo>
                  <a:pt x="21" y="150"/>
                  <a:pt x="21" y="150"/>
                  <a:pt x="21" y="150"/>
                </a:cubicBezTo>
                <a:cubicBezTo>
                  <a:pt x="21" y="22"/>
                  <a:pt x="21" y="22"/>
                  <a:pt x="21" y="22"/>
                </a:cubicBezTo>
                <a:cubicBezTo>
                  <a:pt x="256" y="22"/>
                  <a:pt x="256" y="22"/>
                  <a:pt x="256" y="22"/>
                </a:cubicBezTo>
                <a:lnTo>
                  <a:pt x="256" y="150"/>
                </a:lnTo>
                <a:close/>
                <a:moveTo>
                  <a:pt x="298" y="107"/>
                </a:moveTo>
                <a:cubicBezTo>
                  <a:pt x="277" y="107"/>
                  <a:pt x="277" y="107"/>
                  <a:pt x="277" y="107"/>
                </a:cubicBezTo>
                <a:cubicBezTo>
                  <a:pt x="277" y="64"/>
                  <a:pt x="277" y="64"/>
                  <a:pt x="277" y="64"/>
                </a:cubicBezTo>
                <a:cubicBezTo>
                  <a:pt x="298" y="64"/>
                  <a:pt x="298" y="64"/>
                  <a:pt x="298" y="64"/>
                </a:cubicBezTo>
                <a:lnTo>
                  <a:pt x="298" y="107"/>
                </a:lnTo>
                <a:close/>
                <a:moveTo>
                  <a:pt x="42" y="118"/>
                </a:moveTo>
                <a:cubicBezTo>
                  <a:pt x="42" y="54"/>
                  <a:pt x="42" y="54"/>
                  <a:pt x="42" y="54"/>
                </a:cubicBezTo>
                <a:cubicBezTo>
                  <a:pt x="42" y="48"/>
                  <a:pt x="47" y="43"/>
                  <a:pt x="53" y="43"/>
                </a:cubicBezTo>
                <a:cubicBezTo>
                  <a:pt x="59" y="43"/>
                  <a:pt x="64" y="48"/>
                  <a:pt x="64" y="54"/>
                </a:cubicBezTo>
                <a:cubicBezTo>
                  <a:pt x="64" y="118"/>
                  <a:pt x="64" y="118"/>
                  <a:pt x="64" y="118"/>
                </a:cubicBezTo>
                <a:cubicBezTo>
                  <a:pt x="64" y="124"/>
                  <a:pt x="59" y="128"/>
                  <a:pt x="53" y="128"/>
                </a:cubicBezTo>
                <a:cubicBezTo>
                  <a:pt x="47" y="128"/>
                  <a:pt x="42" y="124"/>
                  <a:pt x="42" y="118"/>
                </a:cubicBezTo>
                <a:close/>
                <a:moveTo>
                  <a:pt x="85" y="118"/>
                </a:moveTo>
                <a:cubicBezTo>
                  <a:pt x="85" y="54"/>
                  <a:pt x="85" y="54"/>
                  <a:pt x="85" y="54"/>
                </a:cubicBezTo>
                <a:cubicBezTo>
                  <a:pt x="85" y="48"/>
                  <a:pt x="90" y="43"/>
                  <a:pt x="96" y="43"/>
                </a:cubicBezTo>
                <a:cubicBezTo>
                  <a:pt x="102" y="43"/>
                  <a:pt x="106" y="48"/>
                  <a:pt x="106" y="54"/>
                </a:cubicBezTo>
                <a:cubicBezTo>
                  <a:pt x="106" y="118"/>
                  <a:pt x="106" y="118"/>
                  <a:pt x="106" y="118"/>
                </a:cubicBezTo>
                <a:cubicBezTo>
                  <a:pt x="106" y="124"/>
                  <a:pt x="102" y="128"/>
                  <a:pt x="96" y="128"/>
                </a:cubicBezTo>
                <a:cubicBezTo>
                  <a:pt x="90" y="128"/>
                  <a:pt x="85" y="124"/>
                  <a:pt x="85" y="118"/>
                </a:cubicBezTo>
                <a:close/>
                <a:moveTo>
                  <a:pt x="128" y="118"/>
                </a:moveTo>
                <a:cubicBezTo>
                  <a:pt x="128" y="54"/>
                  <a:pt x="128" y="54"/>
                  <a:pt x="128" y="54"/>
                </a:cubicBezTo>
                <a:cubicBezTo>
                  <a:pt x="128" y="48"/>
                  <a:pt x="132" y="43"/>
                  <a:pt x="138" y="43"/>
                </a:cubicBezTo>
                <a:cubicBezTo>
                  <a:pt x="144" y="43"/>
                  <a:pt x="149" y="48"/>
                  <a:pt x="149" y="54"/>
                </a:cubicBezTo>
                <a:cubicBezTo>
                  <a:pt x="149" y="118"/>
                  <a:pt x="149" y="118"/>
                  <a:pt x="149" y="118"/>
                </a:cubicBezTo>
                <a:cubicBezTo>
                  <a:pt x="149" y="124"/>
                  <a:pt x="144" y="128"/>
                  <a:pt x="138" y="128"/>
                </a:cubicBezTo>
                <a:cubicBezTo>
                  <a:pt x="132" y="128"/>
                  <a:pt x="128" y="124"/>
                  <a:pt x="128" y="118"/>
                </a:cubicBezTo>
                <a:close/>
                <a:moveTo>
                  <a:pt x="170" y="118"/>
                </a:moveTo>
                <a:cubicBezTo>
                  <a:pt x="170" y="54"/>
                  <a:pt x="170" y="54"/>
                  <a:pt x="170" y="54"/>
                </a:cubicBezTo>
                <a:cubicBezTo>
                  <a:pt x="170" y="48"/>
                  <a:pt x="175" y="43"/>
                  <a:pt x="181" y="43"/>
                </a:cubicBezTo>
                <a:cubicBezTo>
                  <a:pt x="187" y="43"/>
                  <a:pt x="192" y="48"/>
                  <a:pt x="192" y="54"/>
                </a:cubicBezTo>
                <a:cubicBezTo>
                  <a:pt x="192" y="118"/>
                  <a:pt x="192" y="118"/>
                  <a:pt x="192" y="118"/>
                </a:cubicBezTo>
                <a:cubicBezTo>
                  <a:pt x="192" y="124"/>
                  <a:pt x="187" y="128"/>
                  <a:pt x="181" y="128"/>
                </a:cubicBezTo>
                <a:cubicBezTo>
                  <a:pt x="175" y="128"/>
                  <a:pt x="170" y="124"/>
                  <a:pt x="170" y="118"/>
                </a:cubicBezTo>
                <a:close/>
                <a:moveTo>
                  <a:pt x="213" y="118"/>
                </a:moveTo>
                <a:cubicBezTo>
                  <a:pt x="213" y="54"/>
                  <a:pt x="213" y="54"/>
                  <a:pt x="213" y="54"/>
                </a:cubicBezTo>
                <a:cubicBezTo>
                  <a:pt x="213" y="48"/>
                  <a:pt x="218" y="43"/>
                  <a:pt x="224" y="43"/>
                </a:cubicBezTo>
                <a:cubicBezTo>
                  <a:pt x="230" y="43"/>
                  <a:pt x="234" y="48"/>
                  <a:pt x="234" y="54"/>
                </a:cubicBezTo>
                <a:cubicBezTo>
                  <a:pt x="234" y="118"/>
                  <a:pt x="234" y="118"/>
                  <a:pt x="234" y="118"/>
                </a:cubicBezTo>
                <a:cubicBezTo>
                  <a:pt x="234" y="124"/>
                  <a:pt x="230" y="128"/>
                  <a:pt x="224" y="128"/>
                </a:cubicBezTo>
                <a:cubicBezTo>
                  <a:pt x="218" y="128"/>
                  <a:pt x="213" y="124"/>
                  <a:pt x="213" y="118"/>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43" name="Lightning Bolt 242">
            <a:extLst>
              <a:ext uri="{FF2B5EF4-FFF2-40B4-BE49-F238E27FC236}">
                <a16:creationId xmlns:a16="http://schemas.microsoft.com/office/drawing/2014/main" id="{D0EBE764-332A-E02B-75E3-4B918BEF6B99}"/>
              </a:ext>
            </a:extLst>
          </p:cNvPr>
          <p:cNvSpPr/>
          <p:nvPr/>
        </p:nvSpPr>
        <p:spPr bwMode="gray">
          <a:xfrm rot="1751820">
            <a:off x="3150633" y="2578649"/>
            <a:ext cx="75504" cy="103567"/>
          </a:xfrm>
          <a:prstGeom prst="lightningBolt">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44" name="Arrow: Curved Down 243">
            <a:extLst>
              <a:ext uri="{FF2B5EF4-FFF2-40B4-BE49-F238E27FC236}">
                <a16:creationId xmlns:a16="http://schemas.microsoft.com/office/drawing/2014/main" id="{19DCBFF9-8382-2301-E5C0-DE239B630C02}"/>
              </a:ext>
            </a:extLst>
          </p:cNvPr>
          <p:cNvSpPr/>
          <p:nvPr/>
        </p:nvSpPr>
        <p:spPr bwMode="gray">
          <a:xfrm flipV="1">
            <a:off x="3991766" y="2621395"/>
            <a:ext cx="294956" cy="131817"/>
          </a:xfrm>
          <a:prstGeom prst="curvedDownArrow">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nvGrpSpPr>
          <p:cNvPr id="245" name="Group 317">
            <a:extLst>
              <a:ext uri="{FF2B5EF4-FFF2-40B4-BE49-F238E27FC236}">
                <a16:creationId xmlns:a16="http://schemas.microsoft.com/office/drawing/2014/main" id="{8A85FF98-4575-009A-3776-0B2CE01349DC}"/>
              </a:ext>
            </a:extLst>
          </p:cNvPr>
          <p:cNvGrpSpPr>
            <a:grpSpLocks noChangeAspect="1"/>
          </p:cNvGrpSpPr>
          <p:nvPr/>
        </p:nvGrpSpPr>
        <p:grpSpPr bwMode="auto">
          <a:xfrm>
            <a:off x="4927521" y="2499871"/>
            <a:ext cx="258949" cy="240799"/>
            <a:chOff x="3102" y="1404"/>
            <a:chExt cx="214" cy="199"/>
          </a:xfrm>
          <a:solidFill>
            <a:sysClr val="window" lastClr="FFFFFF"/>
          </a:solidFill>
        </p:grpSpPr>
        <p:sp>
          <p:nvSpPr>
            <p:cNvPr id="246" name="Freeform 318">
              <a:extLst>
                <a:ext uri="{FF2B5EF4-FFF2-40B4-BE49-F238E27FC236}">
                  <a16:creationId xmlns:a16="http://schemas.microsoft.com/office/drawing/2014/main" id="{7FD4AD8E-5589-F0B0-31E2-12368052DD5D}"/>
                </a:ext>
              </a:extLst>
            </p:cNvPr>
            <p:cNvSpPr>
              <a:spLocks noEditPoints="1"/>
            </p:cNvSpPr>
            <p:nvPr/>
          </p:nvSpPr>
          <p:spPr bwMode="auto">
            <a:xfrm>
              <a:off x="3152" y="1490"/>
              <a:ext cx="42" cy="42"/>
            </a:xfrm>
            <a:custGeom>
              <a:avLst/>
              <a:gdLst>
                <a:gd name="T0" fmla="*/ 54 w 64"/>
                <a:gd name="T1" fmla="*/ 0 h 64"/>
                <a:gd name="T2" fmla="*/ 11 w 64"/>
                <a:gd name="T3" fmla="*/ 0 h 64"/>
                <a:gd name="T4" fmla="*/ 0 w 64"/>
                <a:gd name="T5" fmla="*/ 10 h 64"/>
                <a:gd name="T6" fmla="*/ 0 w 64"/>
                <a:gd name="T7" fmla="*/ 53 h 64"/>
                <a:gd name="T8" fmla="*/ 11 w 64"/>
                <a:gd name="T9" fmla="*/ 64 h 64"/>
                <a:gd name="T10" fmla="*/ 54 w 64"/>
                <a:gd name="T11" fmla="*/ 64 h 64"/>
                <a:gd name="T12" fmla="*/ 64 w 64"/>
                <a:gd name="T13" fmla="*/ 53 h 64"/>
                <a:gd name="T14" fmla="*/ 64 w 64"/>
                <a:gd name="T15" fmla="*/ 10 h 64"/>
                <a:gd name="T16" fmla="*/ 54 w 64"/>
                <a:gd name="T17" fmla="*/ 0 h 64"/>
                <a:gd name="T18" fmla="*/ 43 w 64"/>
                <a:gd name="T19" fmla="*/ 42 h 64"/>
                <a:gd name="T20" fmla="*/ 22 w 64"/>
                <a:gd name="T21" fmla="*/ 42 h 64"/>
                <a:gd name="T22" fmla="*/ 22 w 64"/>
                <a:gd name="T23" fmla="*/ 21 h 64"/>
                <a:gd name="T24" fmla="*/ 43 w 64"/>
                <a:gd name="T25" fmla="*/ 21 h 64"/>
                <a:gd name="T26" fmla="*/ 43 w 64"/>
                <a:gd name="T27"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64">
                  <a:moveTo>
                    <a:pt x="54" y="0"/>
                  </a:moveTo>
                  <a:cubicBezTo>
                    <a:pt x="11" y="0"/>
                    <a:pt x="11" y="0"/>
                    <a:pt x="11" y="0"/>
                  </a:cubicBezTo>
                  <a:cubicBezTo>
                    <a:pt x="5" y="0"/>
                    <a:pt x="0" y="4"/>
                    <a:pt x="0" y="10"/>
                  </a:cubicBezTo>
                  <a:cubicBezTo>
                    <a:pt x="0" y="53"/>
                    <a:pt x="0" y="53"/>
                    <a:pt x="0" y="53"/>
                  </a:cubicBezTo>
                  <a:cubicBezTo>
                    <a:pt x="0" y="59"/>
                    <a:pt x="5" y="64"/>
                    <a:pt x="11" y="64"/>
                  </a:cubicBezTo>
                  <a:cubicBezTo>
                    <a:pt x="54" y="64"/>
                    <a:pt x="54" y="64"/>
                    <a:pt x="54" y="64"/>
                  </a:cubicBezTo>
                  <a:cubicBezTo>
                    <a:pt x="60" y="64"/>
                    <a:pt x="64" y="59"/>
                    <a:pt x="64" y="53"/>
                  </a:cubicBezTo>
                  <a:cubicBezTo>
                    <a:pt x="64" y="10"/>
                    <a:pt x="64" y="10"/>
                    <a:pt x="64" y="10"/>
                  </a:cubicBezTo>
                  <a:cubicBezTo>
                    <a:pt x="64" y="4"/>
                    <a:pt x="60" y="0"/>
                    <a:pt x="54" y="0"/>
                  </a:cubicBezTo>
                  <a:close/>
                  <a:moveTo>
                    <a:pt x="43" y="42"/>
                  </a:moveTo>
                  <a:cubicBezTo>
                    <a:pt x="22" y="42"/>
                    <a:pt x="22" y="42"/>
                    <a:pt x="22" y="42"/>
                  </a:cubicBezTo>
                  <a:cubicBezTo>
                    <a:pt x="22" y="21"/>
                    <a:pt x="22" y="21"/>
                    <a:pt x="22" y="21"/>
                  </a:cubicBezTo>
                  <a:cubicBezTo>
                    <a:pt x="43" y="21"/>
                    <a:pt x="43" y="21"/>
                    <a:pt x="43" y="21"/>
                  </a:cubicBezTo>
                  <a:lnTo>
                    <a:pt x="43" y="4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47" name="Freeform 319">
              <a:extLst>
                <a:ext uri="{FF2B5EF4-FFF2-40B4-BE49-F238E27FC236}">
                  <a16:creationId xmlns:a16="http://schemas.microsoft.com/office/drawing/2014/main" id="{CDF7F114-98C4-87DC-2FDC-6BBF7601A57E}"/>
                </a:ext>
              </a:extLst>
            </p:cNvPr>
            <p:cNvSpPr>
              <a:spLocks noEditPoints="1"/>
            </p:cNvSpPr>
            <p:nvPr/>
          </p:nvSpPr>
          <p:spPr bwMode="auto">
            <a:xfrm>
              <a:off x="3223" y="1490"/>
              <a:ext cx="42" cy="42"/>
            </a:xfrm>
            <a:custGeom>
              <a:avLst/>
              <a:gdLst>
                <a:gd name="T0" fmla="*/ 11 w 64"/>
                <a:gd name="T1" fmla="*/ 64 h 64"/>
                <a:gd name="T2" fmla="*/ 53 w 64"/>
                <a:gd name="T3" fmla="*/ 64 h 64"/>
                <a:gd name="T4" fmla="*/ 64 w 64"/>
                <a:gd name="T5" fmla="*/ 53 h 64"/>
                <a:gd name="T6" fmla="*/ 64 w 64"/>
                <a:gd name="T7" fmla="*/ 10 h 64"/>
                <a:gd name="T8" fmla="*/ 53 w 64"/>
                <a:gd name="T9" fmla="*/ 0 h 64"/>
                <a:gd name="T10" fmla="*/ 11 w 64"/>
                <a:gd name="T11" fmla="*/ 0 h 64"/>
                <a:gd name="T12" fmla="*/ 0 w 64"/>
                <a:gd name="T13" fmla="*/ 10 h 64"/>
                <a:gd name="T14" fmla="*/ 0 w 64"/>
                <a:gd name="T15" fmla="*/ 53 h 64"/>
                <a:gd name="T16" fmla="*/ 11 w 64"/>
                <a:gd name="T17" fmla="*/ 64 h 64"/>
                <a:gd name="T18" fmla="*/ 21 w 64"/>
                <a:gd name="T19" fmla="*/ 21 h 64"/>
                <a:gd name="T20" fmla="*/ 43 w 64"/>
                <a:gd name="T21" fmla="*/ 21 h 64"/>
                <a:gd name="T22" fmla="*/ 43 w 64"/>
                <a:gd name="T23" fmla="*/ 42 h 64"/>
                <a:gd name="T24" fmla="*/ 21 w 64"/>
                <a:gd name="T25" fmla="*/ 42 h 64"/>
                <a:gd name="T26" fmla="*/ 21 w 64"/>
                <a:gd name="T27"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64">
                  <a:moveTo>
                    <a:pt x="11" y="64"/>
                  </a:moveTo>
                  <a:cubicBezTo>
                    <a:pt x="53" y="64"/>
                    <a:pt x="53" y="64"/>
                    <a:pt x="53" y="64"/>
                  </a:cubicBezTo>
                  <a:cubicBezTo>
                    <a:pt x="59" y="64"/>
                    <a:pt x="64" y="59"/>
                    <a:pt x="64" y="53"/>
                  </a:cubicBezTo>
                  <a:cubicBezTo>
                    <a:pt x="64" y="10"/>
                    <a:pt x="64" y="10"/>
                    <a:pt x="64" y="10"/>
                  </a:cubicBezTo>
                  <a:cubicBezTo>
                    <a:pt x="64" y="4"/>
                    <a:pt x="59" y="0"/>
                    <a:pt x="53" y="0"/>
                  </a:cubicBezTo>
                  <a:cubicBezTo>
                    <a:pt x="11" y="0"/>
                    <a:pt x="11" y="0"/>
                    <a:pt x="11" y="0"/>
                  </a:cubicBezTo>
                  <a:cubicBezTo>
                    <a:pt x="5" y="0"/>
                    <a:pt x="0" y="4"/>
                    <a:pt x="0" y="10"/>
                  </a:cubicBezTo>
                  <a:cubicBezTo>
                    <a:pt x="0" y="53"/>
                    <a:pt x="0" y="53"/>
                    <a:pt x="0" y="53"/>
                  </a:cubicBezTo>
                  <a:cubicBezTo>
                    <a:pt x="0" y="59"/>
                    <a:pt x="5" y="64"/>
                    <a:pt x="11" y="64"/>
                  </a:cubicBezTo>
                  <a:close/>
                  <a:moveTo>
                    <a:pt x="21" y="21"/>
                  </a:moveTo>
                  <a:cubicBezTo>
                    <a:pt x="43" y="21"/>
                    <a:pt x="43" y="21"/>
                    <a:pt x="43" y="21"/>
                  </a:cubicBezTo>
                  <a:cubicBezTo>
                    <a:pt x="43" y="42"/>
                    <a:pt x="43" y="42"/>
                    <a:pt x="43" y="42"/>
                  </a:cubicBezTo>
                  <a:cubicBezTo>
                    <a:pt x="21" y="42"/>
                    <a:pt x="21" y="42"/>
                    <a:pt x="21" y="42"/>
                  </a:cubicBezTo>
                  <a:lnTo>
                    <a:pt x="2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48" name="Freeform 320">
              <a:extLst>
                <a:ext uri="{FF2B5EF4-FFF2-40B4-BE49-F238E27FC236}">
                  <a16:creationId xmlns:a16="http://schemas.microsoft.com/office/drawing/2014/main" id="{406EC8B5-B7F9-900C-5369-9D0A37B2374A}"/>
                </a:ext>
              </a:extLst>
            </p:cNvPr>
            <p:cNvSpPr>
              <a:spLocks noEditPoints="1"/>
            </p:cNvSpPr>
            <p:nvPr/>
          </p:nvSpPr>
          <p:spPr bwMode="auto">
            <a:xfrm>
              <a:off x="3102" y="1404"/>
              <a:ext cx="214" cy="199"/>
            </a:xfrm>
            <a:custGeom>
              <a:avLst/>
              <a:gdLst>
                <a:gd name="T0" fmla="*/ 317 w 322"/>
                <a:gd name="T1" fmla="*/ 131 h 299"/>
                <a:gd name="T2" fmla="*/ 168 w 322"/>
                <a:gd name="T3" fmla="*/ 3 h 299"/>
                <a:gd name="T4" fmla="*/ 154 w 322"/>
                <a:gd name="T5" fmla="*/ 3 h 299"/>
                <a:gd name="T6" fmla="*/ 4 w 322"/>
                <a:gd name="T7" fmla="*/ 131 h 299"/>
                <a:gd name="T8" fmla="*/ 1 w 322"/>
                <a:gd name="T9" fmla="*/ 143 h 299"/>
                <a:gd name="T10" fmla="*/ 11 w 322"/>
                <a:gd name="T11" fmla="*/ 150 h 299"/>
                <a:gd name="T12" fmla="*/ 33 w 322"/>
                <a:gd name="T13" fmla="*/ 150 h 299"/>
                <a:gd name="T14" fmla="*/ 33 w 322"/>
                <a:gd name="T15" fmla="*/ 289 h 299"/>
                <a:gd name="T16" fmla="*/ 43 w 322"/>
                <a:gd name="T17" fmla="*/ 299 h 299"/>
                <a:gd name="T18" fmla="*/ 139 w 322"/>
                <a:gd name="T19" fmla="*/ 299 h 299"/>
                <a:gd name="T20" fmla="*/ 150 w 322"/>
                <a:gd name="T21" fmla="*/ 289 h 299"/>
                <a:gd name="T22" fmla="*/ 150 w 322"/>
                <a:gd name="T23" fmla="*/ 235 h 299"/>
                <a:gd name="T24" fmla="*/ 171 w 322"/>
                <a:gd name="T25" fmla="*/ 235 h 299"/>
                <a:gd name="T26" fmla="*/ 171 w 322"/>
                <a:gd name="T27" fmla="*/ 289 h 299"/>
                <a:gd name="T28" fmla="*/ 182 w 322"/>
                <a:gd name="T29" fmla="*/ 299 h 299"/>
                <a:gd name="T30" fmla="*/ 278 w 322"/>
                <a:gd name="T31" fmla="*/ 299 h 299"/>
                <a:gd name="T32" fmla="*/ 289 w 322"/>
                <a:gd name="T33" fmla="*/ 289 h 299"/>
                <a:gd name="T34" fmla="*/ 289 w 322"/>
                <a:gd name="T35" fmla="*/ 150 h 299"/>
                <a:gd name="T36" fmla="*/ 310 w 322"/>
                <a:gd name="T37" fmla="*/ 150 h 299"/>
                <a:gd name="T38" fmla="*/ 320 w 322"/>
                <a:gd name="T39" fmla="*/ 143 h 299"/>
                <a:gd name="T40" fmla="*/ 317 w 322"/>
                <a:gd name="T41" fmla="*/ 131 h 299"/>
                <a:gd name="T42" fmla="*/ 278 w 322"/>
                <a:gd name="T43" fmla="*/ 129 h 299"/>
                <a:gd name="T44" fmla="*/ 267 w 322"/>
                <a:gd name="T45" fmla="*/ 139 h 299"/>
                <a:gd name="T46" fmla="*/ 267 w 322"/>
                <a:gd name="T47" fmla="*/ 278 h 299"/>
                <a:gd name="T48" fmla="*/ 193 w 322"/>
                <a:gd name="T49" fmla="*/ 278 h 299"/>
                <a:gd name="T50" fmla="*/ 193 w 322"/>
                <a:gd name="T51" fmla="*/ 225 h 299"/>
                <a:gd name="T52" fmla="*/ 182 w 322"/>
                <a:gd name="T53" fmla="*/ 214 h 299"/>
                <a:gd name="T54" fmla="*/ 139 w 322"/>
                <a:gd name="T55" fmla="*/ 214 h 299"/>
                <a:gd name="T56" fmla="*/ 129 w 322"/>
                <a:gd name="T57" fmla="*/ 225 h 299"/>
                <a:gd name="T58" fmla="*/ 129 w 322"/>
                <a:gd name="T59" fmla="*/ 278 h 299"/>
                <a:gd name="T60" fmla="*/ 54 w 322"/>
                <a:gd name="T61" fmla="*/ 278 h 299"/>
                <a:gd name="T62" fmla="*/ 54 w 322"/>
                <a:gd name="T63" fmla="*/ 139 h 299"/>
                <a:gd name="T64" fmla="*/ 43 w 322"/>
                <a:gd name="T65" fmla="*/ 129 h 299"/>
                <a:gd name="T66" fmla="*/ 40 w 322"/>
                <a:gd name="T67" fmla="*/ 129 h 299"/>
                <a:gd name="T68" fmla="*/ 161 w 322"/>
                <a:gd name="T69" fmla="*/ 25 h 299"/>
                <a:gd name="T70" fmla="*/ 281 w 322"/>
                <a:gd name="T71" fmla="*/ 129 h 299"/>
                <a:gd name="T72" fmla="*/ 278 w 322"/>
                <a:gd name="T73" fmla="*/ 12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2" h="299">
                  <a:moveTo>
                    <a:pt x="317" y="131"/>
                  </a:moveTo>
                  <a:cubicBezTo>
                    <a:pt x="168" y="3"/>
                    <a:pt x="168" y="3"/>
                    <a:pt x="168" y="3"/>
                  </a:cubicBezTo>
                  <a:cubicBezTo>
                    <a:pt x="164" y="0"/>
                    <a:pt x="158" y="0"/>
                    <a:pt x="154" y="3"/>
                  </a:cubicBezTo>
                  <a:cubicBezTo>
                    <a:pt x="4" y="131"/>
                    <a:pt x="4" y="131"/>
                    <a:pt x="4" y="131"/>
                  </a:cubicBezTo>
                  <a:cubicBezTo>
                    <a:pt x="1" y="134"/>
                    <a:pt x="0" y="139"/>
                    <a:pt x="1" y="143"/>
                  </a:cubicBezTo>
                  <a:cubicBezTo>
                    <a:pt x="3" y="147"/>
                    <a:pt x="7" y="150"/>
                    <a:pt x="11" y="150"/>
                  </a:cubicBezTo>
                  <a:cubicBezTo>
                    <a:pt x="33" y="150"/>
                    <a:pt x="33" y="150"/>
                    <a:pt x="33" y="150"/>
                  </a:cubicBezTo>
                  <a:cubicBezTo>
                    <a:pt x="33" y="289"/>
                    <a:pt x="33" y="289"/>
                    <a:pt x="33" y="289"/>
                  </a:cubicBezTo>
                  <a:cubicBezTo>
                    <a:pt x="33" y="295"/>
                    <a:pt x="37" y="299"/>
                    <a:pt x="43" y="299"/>
                  </a:cubicBezTo>
                  <a:cubicBezTo>
                    <a:pt x="139" y="299"/>
                    <a:pt x="139" y="299"/>
                    <a:pt x="139" y="299"/>
                  </a:cubicBezTo>
                  <a:cubicBezTo>
                    <a:pt x="145" y="299"/>
                    <a:pt x="150" y="295"/>
                    <a:pt x="150" y="289"/>
                  </a:cubicBezTo>
                  <a:cubicBezTo>
                    <a:pt x="150" y="235"/>
                    <a:pt x="150" y="235"/>
                    <a:pt x="150" y="235"/>
                  </a:cubicBezTo>
                  <a:cubicBezTo>
                    <a:pt x="171" y="235"/>
                    <a:pt x="171" y="235"/>
                    <a:pt x="171" y="235"/>
                  </a:cubicBezTo>
                  <a:cubicBezTo>
                    <a:pt x="171" y="289"/>
                    <a:pt x="171" y="289"/>
                    <a:pt x="171" y="289"/>
                  </a:cubicBezTo>
                  <a:cubicBezTo>
                    <a:pt x="171" y="295"/>
                    <a:pt x="176" y="299"/>
                    <a:pt x="182" y="299"/>
                  </a:cubicBezTo>
                  <a:cubicBezTo>
                    <a:pt x="278" y="299"/>
                    <a:pt x="278" y="299"/>
                    <a:pt x="278" y="299"/>
                  </a:cubicBezTo>
                  <a:cubicBezTo>
                    <a:pt x="284" y="299"/>
                    <a:pt x="289" y="295"/>
                    <a:pt x="289" y="289"/>
                  </a:cubicBezTo>
                  <a:cubicBezTo>
                    <a:pt x="289" y="150"/>
                    <a:pt x="289" y="150"/>
                    <a:pt x="289" y="150"/>
                  </a:cubicBezTo>
                  <a:cubicBezTo>
                    <a:pt x="310" y="150"/>
                    <a:pt x="310" y="150"/>
                    <a:pt x="310" y="150"/>
                  </a:cubicBezTo>
                  <a:cubicBezTo>
                    <a:pt x="314" y="150"/>
                    <a:pt x="318" y="147"/>
                    <a:pt x="320" y="143"/>
                  </a:cubicBezTo>
                  <a:cubicBezTo>
                    <a:pt x="322" y="139"/>
                    <a:pt x="320" y="134"/>
                    <a:pt x="317" y="131"/>
                  </a:cubicBezTo>
                  <a:close/>
                  <a:moveTo>
                    <a:pt x="278" y="129"/>
                  </a:moveTo>
                  <a:cubicBezTo>
                    <a:pt x="272" y="129"/>
                    <a:pt x="267" y="133"/>
                    <a:pt x="267" y="139"/>
                  </a:cubicBezTo>
                  <a:cubicBezTo>
                    <a:pt x="267" y="278"/>
                    <a:pt x="267" y="278"/>
                    <a:pt x="267" y="278"/>
                  </a:cubicBezTo>
                  <a:cubicBezTo>
                    <a:pt x="193" y="278"/>
                    <a:pt x="193" y="278"/>
                    <a:pt x="193" y="278"/>
                  </a:cubicBezTo>
                  <a:cubicBezTo>
                    <a:pt x="193" y="225"/>
                    <a:pt x="193" y="225"/>
                    <a:pt x="193" y="225"/>
                  </a:cubicBezTo>
                  <a:cubicBezTo>
                    <a:pt x="193" y="219"/>
                    <a:pt x="188" y="214"/>
                    <a:pt x="182" y="214"/>
                  </a:cubicBezTo>
                  <a:cubicBezTo>
                    <a:pt x="139" y="214"/>
                    <a:pt x="139" y="214"/>
                    <a:pt x="139" y="214"/>
                  </a:cubicBezTo>
                  <a:cubicBezTo>
                    <a:pt x="133" y="214"/>
                    <a:pt x="129" y="219"/>
                    <a:pt x="129" y="225"/>
                  </a:cubicBezTo>
                  <a:cubicBezTo>
                    <a:pt x="129" y="278"/>
                    <a:pt x="129" y="278"/>
                    <a:pt x="129" y="278"/>
                  </a:cubicBezTo>
                  <a:cubicBezTo>
                    <a:pt x="54" y="278"/>
                    <a:pt x="54" y="278"/>
                    <a:pt x="54" y="278"/>
                  </a:cubicBezTo>
                  <a:cubicBezTo>
                    <a:pt x="54" y="139"/>
                    <a:pt x="54" y="139"/>
                    <a:pt x="54" y="139"/>
                  </a:cubicBezTo>
                  <a:cubicBezTo>
                    <a:pt x="54" y="133"/>
                    <a:pt x="49" y="129"/>
                    <a:pt x="43" y="129"/>
                  </a:cubicBezTo>
                  <a:cubicBezTo>
                    <a:pt x="40" y="129"/>
                    <a:pt x="40" y="129"/>
                    <a:pt x="40" y="129"/>
                  </a:cubicBezTo>
                  <a:cubicBezTo>
                    <a:pt x="161" y="25"/>
                    <a:pt x="161" y="25"/>
                    <a:pt x="161" y="25"/>
                  </a:cubicBezTo>
                  <a:cubicBezTo>
                    <a:pt x="281" y="129"/>
                    <a:pt x="281" y="129"/>
                    <a:pt x="281" y="129"/>
                  </a:cubicBezTo>
                  <a:lnTo>
                    <a:pt x="278" y="1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grpSp>
        <p:nvGrpSpPr>
          <p:cNvPr id="249" name="Group 248">
            <a:extLst>
              <a:ext uri="{FF2B5EF4-FFF2-40B4-BE49-F238E27FC236}">
                <a16:creationId xmlns:a16="http://schemas.microsoft.com/office/drawing/2014/main" id="{5C030C4A-C6D2-1BD2-93D5-70279E9261F1}"/>
              </a:ext>
            </a:extLst>
          </p:cNvPr>
          <p:cNvGrpSpPr>
            <a:grpSpLocks noChangeAspect="1"/>
          </p:cNvGrpSpPr>
          <p:nvPr/>
        </p:nvGrpSpPr>
        <p:grpSpPr>
          <a:xfrm rot="19286769">
            <a:off x="4905800" y="2462553"/>
            <a:ext cx="110149" cy="118871"/>
            <a:chOff x="2131557" y="3941199"/>
            <a:chExt cx="443385" cy="485133"/>
          </a:xfrm>
          <a:solidFill>
            <a:sysClr val="window" lastClr="FFFFFF"/>
          </a:solidFill>
        </p:grpSpPr>
        <p:sp>
          <p:nvSpPr>
            <p:cNvPr id="250" name="object 134">
              <a:extLst>
                <a:ext uri="{FF2B5EF4-FFF2-40B4-BE49-F238E27FC236}">
                  <a16:creationId xmlns:a16="http://schemas.microsoft.com/office/drawing/2014/main" id="{5E23A542-C50C-0C82-2049-26890BC789BF}"/>
                </a:ext>
              </a:extLst>
            </p:cNvPr>
            <p:cNvSpPr/>
            <p:nvPr/>
          </p:nvSpPr>
          <p:spPr>
            <a:xfrm>
              <a:off x="2131557" y="4119709"/>
              <a:ext cx="443385" cy="238748"/>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51" name="object 135">
              <a:extLst>
                <a:ext uri="{FF2B5EF4-FFF2-40B4-BE49-F238E27FC236}">
                  <a16:creationId xmlns:a16="http://schemas.microsoft.com/office/drawing/2014/main" id="{615840F4-E9B6-4FD7-A331-AE9744BB48B3}"/>
                </a:ext>
              </a:extLst>
            </p:cNvPr>
            <p:cNvSpPr/>
            <p:nvPr/>
          </p:nvSpPr>
          <p:spPr>
            <a:xfrm>
              <a:off x="2267529" y="4375172"/>
              <a:ext cx="170533" cy="51160"/>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52" name="object 136">
              <a:extLst>
                <a:ext uri="{FF2B5EF4-FFF2-40B4-BE49-F238E27FC236}">
                  <a16:creationId xmlns:a16="http://schemas.microsoft.com/office/drawing/2014/main" id="{7B76F4B4-78EE-7DD7-2A2C-AF6C5691B376}"/>
                </a:ext>
              </a:extLst>
            </p:cNvPr>
            <p:cNvSpPr>
              <a:spLocks noChangeAspect="1"/>
            </p:cNvSpPr>
            <p:nvPr/>
          </p:nvSpPr>
          <p:spPr>
            <a:xfrm>
              <a:off x="2213785" y="3941199"/>
              <a:ext cx="277114" cy="166272"/>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53" name="object 137">
              <a:extLst>
                <a:ext uri="{FF2B5EF4-FFF2-40B4-BE49-F238E27FC236}">
                  <a16:creationId xmlns:a16="http://schemas.microsoft.com/office/drawing/2014/main" id="{478A6EA3-D02A-7FDF-E75F-64367976EE5E}"/>
                </a:ext>
              </a:extLst>
            </p:cNvPr>
            <p:cNvSpPr/>
            <p:nvPr/>
          </p:nvSpPr>
          <p:spPr>
            <a:xfrm>
              <a:off x="2316342" y="4238622"/>
              <a:ext cx="72864" cy="51160"/>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54" name="object 138">
              <a:extLst>
                <a:ext uri="{FF2B5EF4-FFF2-40B4-BE49-F238E27FC236}">
                  <a16:creationId xmlns:a16="http://schemas.microsoft.com/office/drawing/2014/main" id="{854E0F45-8679-55BC-6356-C25ADD65CA77}"/>
                </a:ext>
              </a:extLst>
            </p:cNvPr>
            <p:cNvSpPr/>
            <p:nvPr/>
          </p:nvSpPr>
          <p:spPr>
            <a:xfrm>
              <a:off x="2324469" y="4141457"/>
              <a:ext cx="173475" cy="149799"/>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55" name="object 139">
              <a:extLst>
                <a:ext uri="{FF2B5EF4-FFF2-40B4-BE49-F238E27FC236}">
                  <a16:creationId xmlns:a16="http://schemas.microsoft.com/office/drawing/2014/main" id="{04A2F2B8-6EE8-6335-34D2-8D53ED83B45C}"/>
                </a:ext>
              </a:extLst>
            </p:cNvPr>
            <p:cNvSpPr/>
            <p:nvPr/>
          </p:nvSpPr>
          <p:spPr>
            <a:xfrm>
              <a:off x="2207888" y="4238569"/>
              <a:ext cx="79063" cy="51160"/>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56" name="object 140">
              <a:extLst>
                <a:ext uri="{FF2B5EF4-FFF2-40B4-BE49-F238E27FC236}">
                  <a16:creationId xmlns:a16="http://schemas.microsoft.com/office/drawing/2014/main" id="{7F8EE3EA-6EB5-32B5-2489-C61BE79DD6FB}"/>
                </a:ext>
              </a:extLst>
            </p:cNvPr>
            <p:cNvSpPr/>
            <p:nvPr/>
          </p:nvSpPr>
          <p:spPr>
            <a:xfrm>
              <a:off x="2410200" y="4170953"/>
              <a:ext cx="68213" cy="41858"/>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57" name="object 142">
              <a:extLst>
                <a:ext uri="{FF2B5EF4-FFF2-40B4-BE49-F238E27FC236}">
                  <a16:creationId xmlns:a16="http://schemas.microsoft.com/office/drawing/2014/main" id="{4EB56C83-0B77-B2E3-5364-92C456EFE758}"/>
                </a:ext>
              </a:extLst>
            </p:cNvPr>
            <p:cNvSpPr/>
            <p:nvPr/>
          </p:nvSpPr>
          <p:spPr>
            <a:xfrm>
              <a:off x="2227668" y="4170929"/>
              <a:ext cx="68213" cy="41858"/>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58" name="object 137">
              <a:extLst>
                <a:ext uri="{FF2B5EF4-FFF2-40B4-BE49-F238E27FC236}">
                  <a16:creationId xmlns:a16="http://schemas.microsoft.com/office/drawing/2014/main" id="{A2C00445-D2B5-9CE6-1AB1-CC6CE1DB908F}"/>
                </a:ext>
              </a:extLst>
            </p:cNvPr>
            <p:cNvSpPr/>
            <p:nvPr/>
          </p:nvSpPr>
          <p:spPr>
            <a:xfrm>
              <a:off x="2316339" y="4169018"/>
              <a:ext cx="72864" cy="42863"/>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marL="0" marR="0" lvl="0" indent="0" defTabSz="914403" eaLnBrk="1" fontAlgn="auto" latinLnBrk="0" hangingPunct="1">
                <a:lnSpc>
                  <a:spcPct val="100000"/>
                </a:lnSpc>
                <a:spcBef>
                  <a:spcPts val="0"/>
                </a:spcBef>
                <a:spcAft>
                  <a:spcPts val="0"/>
                </a:spcAft>
                <a:buClrTx/>
                <a:buSzTx/>
                <a:buFontTx/>
                <a:buNone/>
                <a:tabLst/>
                <a:defRPr/>
              </a:pPr>
              <a:endParaRPr kumimoji="0" sz="7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sp>
        <p:nvSpPr>
          <p:cNvPr id="259" name="Freeform 846">
            <a:extLst>
              <a:ext uri="{FF2B5EF4-FFF2-40B4-BE49-F238E27FC236}">
                <a16:creationId xmlns:a16="http://schemas.microsoft.com/office/drawing/2014/main" id="{2BF4B96E-3D1E-9D8D-9AAE-792B76816A73}"/>
              </a:ext>
            </a:extLst>
          </p:cNvPr>
          <p:cNvSpPr>
            <a:spLocks noEditPoints="1"/>
          </p:cNvSpPr>
          <p:nvPr/>
        </p:nvSpPr>
        <p:spPr bwMode="auto">
          <a:xfrm>
            <a:off x="4697555" y="2593915"/>
            <a:ext cx="183013" cy="146755"/>
          </a:xfrm>
          <a:custGeom>
            <a:avLst/>
            <a:gdLst>
              <a:gd name="T0" fmla="*/ 64 w 320"/>
              <a:gd name="T1" fmla="*/ 171 h 256"/>
              <a:gd name="T2" fmla="*/ 64 w 320"/>
              <a:gd name="T3" fmla="*/ 128 h 256"/>
              <a:gd name="T4" fmla="*/ 256 w 320"/>
              <a:gd name="T5" fmla="*/ 128 h 256"/>
              <a:gd name="T6" fmla="*/ 256 w 320"/>
              <a:gd name="T7" fmla="*/ 171 h 256"/>
              <a:gd name="T8" fmla="*/ 256 w 320"/>
              <a:gd name="T9" fmla="*/ 128 h 256"/>
              <a:gd name="T10" fmla="*/ 309 w 320"/>
              <a:gd name="T11" fmla="*/ 202 h 256"/>
              <a:gd name="T12" fmla="*/ 298 w 320"/>
              <a:gd name="T13" fmla="*/ 256 h 256"/>
              <a:gd name="T14" fmla="*/ 234 w 320"/>
              <a:gd name="T15" fmla="*/ 245 h 256"/>
              <a:gd name="T16" fmla="*/ 165 w 320"/>
              <a:gd name="T17" fmla="*/ 224 h 256"/>
              <a:gd name="T18" fmla="*/ 85 w 320"/>
              <a:gd name="T19" fmla="*/ 245 h 256"/>
              <a:gd name="T20" fmla="*/ 21 w 320"/>
              <a:gd name="T21" fmla="*/ 256 h 256"/>
              <a:gd name="T22" fmla="*/ 10 w 320"/>
              <a:gd name="T23" fmla="*/ 203 h 256"/>
              <a:gd name="T24" fmla="*/ 10 w 320"/>
              <a:gd name="T25" fmla="*/ 203 h 256"/>
              <a:gd name="T26" fmla="*/ 10 w 320"/>
              <a:gd name="T27" fmla="*/ 203 h 256"/>
              <a:gd name="T28" fmla="*/ 10 w 320"/>
              <a:gd name="T29" fmla="*/ 199 h 256"/>
              <a:gd name="T30" fmla="*/ 0 w 320"/>
              <a:gd name="T31" fmla="*/ 181 h 256"/>
              <a:gd name="T32" fmla="*/ 44 w 320"/>
              <a:gd name="T33" fmla="*/ 88 h 256"/>
              <a:gd name="T34" fmla="*/ 32 w 320"/>
              <a:gd name="T35" fmla="*/ 85 h 256"/>
              <a:gd name="T36" fmla="*/ 32 w 320"/>
              <a:gd name="T37" fmla="*/ 64 h 256"/>
              <a:gd name="T38" fmla="*/ 64 w 320"/>
              <a:gd name="T39" fmla="*/ 29 h 256"/>
              <a:gd name="T40" fmla="*/ 106 w 320"/>
              <a:gd name="T41" fmla="*/ 0 h 256"/>
              <a:gd name="T42" fmla="*/ 254 w 320"/>
              <a:gd name="T43" fmla="*/ 27 h 256"/>
              <a:gd name="T44" fmla="*/ 267 w 320"/>
              <a:gd name="T45" fmla="*/ 64 h 256"/>
              <a:gd name="T46" fmla="*/ 298 w 320"/>
              <a:gd name="T47" fmla="*/ 75 h 256"/>
              <a:gd name="T48" fmla="*/ 274 w 320"/>
              <a:gd name="T49" fmla="*/ 85 h 256"/>
              <a:gd name="T50" fmla="*/ 320 w 320"/>
              <a:gd name="T51" fmla="*/ 149 h 256"/>
              <a:gd name="T52" fmla="*/ 316 w 320"/>
              <a:gd name="T53" fmla="*/ 194 h 256"/>
              <a:gd name="T54" fmla="*/ 252 w 320"/>
              <a:gd name="T55" fmla="*/ 85 h 256"/>
              <a:gd name="T56" fmla="*/ 213 w 320"/>
              <a:gd name="T57" fmla="*/ 21 h 256"/>
              <a:gd name="T58" fmla="*/ 84 w 320"/>
              <a:gd name="T59" fmla="*/ 36 h 256"/>
              <a:gd name="T60" fmla="*/ 64 w 320"/>
              <a:gd name="T61" fmla="*/ 217 h 256"/>
              <a:gd name="T62" fmla="*/ 32 w 320"/>
              <a:gd name="T63" fmla="*/ 235 h 256"/>
              <a:gd name="T64" fmla="*/ 64 w 320"/>
              <a:gd name="T65" fmla="*/ 217 h 256"/>
              <a:gd name="T66" fmla="*/ 298 w 320"/>
              <a:gd name="T67" fmla="*/ 183 h 256"/>
              <a:gd name="T68" fmla="*/ 298 w 320"/>
              <a:gd name="T69" fmla="*/ 149 h 256"/>
              <a:gd name="T70" fmla="*/ 62 w 320"/>
              <a:gd name="T71" fmla="*/ 107 h 256"/>
              <a:gd name="T72" fmla="*/ 21 w 320"/>
              <a:gd name="T73" fmla="*/ 180 h 256"/>
              <a:gd name="T74" fmla="*/ 288 w 320"/>
              <a:gd name="T75" fmla="*/ 212 h 256"/>
              <a:gd name="T76" fmla="*/ 256 w 320"/>
              <a:gd name="T77" fmla="*/ 235 h 256"/>
              <a:gd name="T78" fmla="*/ 288 w 320"/>
              <a:gd name="T79" fmla="*/ 212 h 256"/>
              <a:gd name="T80" fmla="*/ 128 w 320"/>
              <a:gd name="T81" fmla="*/ 139 h 256"/>
              <a:gd name="T82" fmla="*/ 128 w 320"/>
              <a:gd name="T83" fmla="*/ 160 h 256"/>
              <a:gd name="T84" fmla="*/ 202 w 320"/>
              <a:gd name="T85" fmla="*/ 14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0" h="256">
                <a:moveTo>
                  <a:pt x="85" y="149"/>
                </a:moveTo>
                <a:cubicBezTo>
                  <a:pt x="85" y="161"/>
                  <a:pt x="75" y="171"/>
                  <a:pt x="64" y="171"/>
                </a:cubicBezTo>
                <a:cubicBezTo>
                  <a:pt x="52" y="171"/>
                  <a:pt x="42" y="161"/>
                  <a:pt x="42" y="149"/>
                </a:cubicBezTo>
                <a:cubicBezTo>
                  <a:pt x="42" y="138"/>
                  <a:pt x="52" y="128"/>
                  <a:pt x="64" y="128"/>
                </a:cubicBezTo>
                <a:cubicBezTo>
                  <a:pt x="75" y="128"/>
                  <a:pt x="85" y="138"/>
                  <a:pt x="85" y="149"/>
                </a:cubicBezTo>
                <a:close/>
                <a:moveTo>
                  <a:pt x="256" y="128"/>
                </a:moveTo>
                <a:cubicBezTo>
                  <a:pt x="244" y="128"/>
                  <a:pt x="234" y="138"/>
                  <a:pt x="234" y="149"/>
                </a:cubicBezTo>
                <a:cubicBezTo>
                  <a:pt x="234" y="161"/>
                  <a:pt x="244" y="171"/>
                  <a:pt x="256" y="171"/>
                </a:cubicBezTo>
                <a:cubicBezTo>
                  <a:pt x="267" y="171"/>
                  <a:pt x="277" y="161"/>
                  <a:pt x="277" y="149"/>
                </a:cubicBezTo>
                <a:cubicBezTo>
                  <a:pt x="277" y="138"/>
                  <a:pt x="267" y="128"/>
                  <a:pt x="256" y="128"/>
                </a:cubicBezTo>
                <a:close/>
                <a:moveTo>
                  <a:pt x="316" y="194"/>
                </a:moveTo>
                <a:cubicBezTo>
                  <a:pt x="314" y="197"/>
                  <a:pt x="312" y="199"/>
                  <a:pt x="309" y="202"/>
                </a:cubicBezTo>
                <a:cubicBezTo>
                  <a:pt x="309" y="202"/>
                  <a:pt x="309" y="245"/>
                  <a:pt x="309" y="245"/>
                </a:cubicBezTo>
                <a:cubicBezTo>
                  <a:pt x="309" y="251"/>
                  <a:pt x="304" y="256"/>
                  <a:pt x="298" y="256"/>
                </a:cubicBezTo>
                <a:cubicBezTo>
                  <a:pt x="245" y="256"/>
                  <a:pt x="245" y="256"/>
                  <a:pt x="245" y="256"/>
                </a:cubicBezTo>
                <a:cubicBezTo>
                  <a:pt x="239" y="256"/>
                  <a:pt x="234" y="251"/>
                  <a:pt x="234" y="245"/>
                </a:cubicBezTo>
                <a:cubicBezTo>
                  <a:pt x="234" y="221"/>
                  <a:pt x="234" y="221"/>
                  <a:pt x="234" y="221"/>
                </a:cubicBezTo>
                <a:cubicBezTo>
                  <a:pt x="215" y="223"/>
                  <a:pt x="192" y="224"/>
                  <a:pt x="165" y="224"/>
                </a:cubicBezTo>
                <a:cubicBezTo>
                  <a:pt x="134" y="224"/>
                  <a:pt x="107" y="223"/>
                  <a:pt x="85" y="220"/>
                </a:cubicBezTo>
                <a:cubicBezTo>
                  <a:pt x="85" y="245"/>
                  <a:pt x="85" y="245"/>
                  <a:pt x="85" y="245"/>
                </a:cubicBezTo>
                <a:cubicBezTo>
                  <a:pt x="85" y="251"/>
                  <a:pt x="80" y="256"/>
                  <a:pt x="74" y="256"/>
                </a:cubicBezTo>
                <a:cubicBezTo>
                  <a:pt x="21" y="256"/>
                  <a:pt x="21" y="256"/>
                  <a:pt x="21" y="256"/>
                </a:cubicBezTo>
                <a:cubicBezTo>
                  <a:pt x="15" y="256"/>
                  <a:pt x="10" y="251"/>
                  <a:pt x="10" y="245"/>
                </a:cubicBezTo>
                <a:cubicBezTo>
                  <a:pt x="10" y="203"/>
                  <a:pt x="10" y="203"/>
                  <a:pt x="10" y="203"/>
                </a:cubicBezTo>
                <a:cubicBezTo>
                  <a:pt x="10" y="203"/>
                  <a:pt x="10" y="203"/>
                  <a:pt x="10" y="203"/>
                </a:cubicBezTo>
                <a:cubicBezTo>
                  <a:pt x="10" y="203"/>
                  <a:pt x="10" y="203"/>
                  <a:pt x="10" y="203"/>
                </a:cubicBezTo>
                <a:cubicBezTo>
                  <a:pt x="10" y="203"/>
                  <a:pt x="10" y="203"/>
                  <a:pt x="10" y="203"/>
                </a:cubicBezTo>
                <a:cubicBezTo>
                  <a:pt x="10" y="203"/>
                  <a:pt x="10" y="203"/>
                  <a:pt x="10" y="203"/>
                </a:cubicBezTo>
                <a:cubicBezTo>
                  <a:pt x="10" y="203"/>
                  <a:pt x="10" y="203"/>
                  <a:pt x="10" y="203"/>
                </a:cubicBezTo>
                <a:cubicBezTo>
                  <a:pt x="10" y="199"/>
                  <a:pt x="10" y="199"/>
                  <a:pt x="10" y="199"/>
                </a:cubicBezTo>
                <a:cubicBezTo>
                  <a:pt x="10" y="199"/>
                  <a:pt x="7" y="197"/>
                  <a:pt x="6" y="195"/>
                </a:cubicBezTo>
                <a:cubicBezTo>
                  <a:pt x="0" y="189"/>
                  <a:pt x="0" y="183"/>
                  <a:pt x="0" y="181"/>
                </a:cubicBezTo>
                <a:cubicBezTo>
                  <a:pt x="0" y="149"/>
                  <a:pt x="0" y="149"/>
                  <a:pt x="0" y="149"/>
                </a:cubicBezTo>
                <a:cubicBezTo>
                  <a:pt x="0" y="120"/>
                  <a:pt x="19" y="96"/>
                  <a:pt x="44" y="88"/>
                </a:cubicBezTo>
                <a:cubicBezTo>
                  <a:pt x="45" y="85"/>
                  <a:pt x="45" y="85"/>
                  <a:pt x="45" y="85"/>
                </a:cubicBezTo>
                <a:cubicBezTo>
                  <a:pt x="32" y="85"/>
                  <a:pt x="32" y="85"/>
                  <a:pt x="32" y="85"/>
                </a:cubicBezTo>
                <a:cubicBezTo>
                  <a:pt x="26" y="85"/>
                  <a:pt x="21" y="81"/>
                  <a:pt x="21" y="75"/>
                </a:cubicBezTo>
                <a:cubicBezTo>
                  <a:pt x="21" y="69"/>
                  <a:pt x="26" y="64"/>
                  <a:pt x="32" y="64"/>
                </a:cubicBezTo>
                <a:cubicBezTo>
                  <a:pt x="52" y="64"/>
                  <a:pt x="52" y="64"/>
                  <a:pt x="52" y="64"/>
                </a:cubicBezTo>
                <a:cubicBezTo>
                  <a:pt x="64" y="29"/>
                  <a:pt x="64" y="29"/>
                  <a:pt x="64" y="29"/>
                </a:cubicBezTo>
                <a:cubicBezTo>
                  <a:pt x="64" y="28"/>
                  <a:pt x="65" y="28"/>
                  <a:pt x="65" y="27"/>
                </a:cubicBezTo>
                <a:cubicBezTo>
                  <a:pt x="65" y="26"/>
                  <a:pt x="80" y="0"/>
                  <a:pt x="106" y="0"/>
                </a:cubicBezTo>
                <a:cubicBezTo>
                  <a:pt x="213" y="0"/>
                  <a:pt x="213" y="0"/>
                  <a:pt x="213" y="0"/>
                </a:cubicBezTo>
                <a:cubicBezTo>
                  <a:pt x="240" y="0"/>
                  <a:pt x="254" y="26"/>
                  <a:pt x="254" y="27"/>
                </a:cubicBezTo>
                <a:cubicBezTo>
                  <a:pt x="255" y="28"/>
                  <a:pt x="255" y="28"/>
                  <a:pt x="255" y="29"/>
                </a:cubicBezTo>
                <a:cubicBezTo>
                  <a:pt x="267" y="64"/>
                  <a:pt x="267" y="64"/>
                  <a:pt x="267" y="64"/>
                </a:cubicBezTo>
                <a:cubicBezTo>
                  <a:pt x="288" y="64"/>
                  <a:pt x="288" y="64"/>
                  <a:pt x="288" y="64"/>
                </a:cubicBezTo>
                <a:cubicBezTo>
                  <a:pt x="294" y="64"/>
                  <a:pt x="298" y="69"/>
                  <a:pt x="298" y="75"/>
                </a:cubicBezTo>
                <a:cubicBezTo>
                  <a:pt x="298" y="81"/>
                  <a:pt x="294" y="85"/>
                  <a:pt x="288" y="85"/>
                </a:cubicBezTo>
                <a:cubicBezTo>
                  <a:pt x="274" y="85"/>
                  <a:pt x="274" y="85"/>
                  <a:pt x="274" y="85"/>
                </a:cubicBezTo>
                <a:cubicBezTo>
                  <a:pt x="275" y="88"/>
                  <a:pt x="275" y="88"/>
                  <a:pt x="275" y="88"/>
                </a:cubicBezTo>
                <a:cubicBezTo>
                  <a:pt x="301" y="96"/>
                  <a:pt x="320" y="120"/>
                  <a:pt x="320" y="149"/>
                </a:cubicBezTo>
                <a:cubicBezTo>
                  <a:pt x="320" y="180"/>
                  <a:pt x="320" y="180"/>
                  <a:pt x="320" y="180"/>
                </a:cubicBezTo>
                <a:cubicBezTo>
                  <a:pt x="320" y="184"/>
                  <a:pt x="320" y="189"/>
                  <a:pt x="316" y="194"/>
                </a:cubicBezTo>
                <a:close/>
                <a:moveTo>
                  <a:pt x="68" y="85"/>
                </a:moveTo>
                <a:cubicBezTo>
                  <a:pt x="252" y="85"/>
                  <a:pt x="252" y="85"/>
                  <a:pt x="252" y="85"/>
                </a:cubicBezTo>
                <a:cubicBezTo>
                  <a:pt x="235" y="36"/>
                  <a:pt x="235" y="36"/>
                  <a:pt x="235" y="36"/>
                </a:cubicBezTo>
                <a:cubicBezTo>
                  <a:pt x="233" y="34"/>
                  <a:pt x="225" y="21"/>
                  <a:pt x="213" y="21"/>
                </a:cubicBezTo>
                <a:cubicBezTo>
                  <a:pt x="106" y="21"/>
                  <a:pt x="106" y="21"/>
                  <a:pt x="106" y="21"/>
                </a:cubicBezTo>
                <a:cubicBezTo>
                  <a:pt x="94" y="21"/>
                  <a:pt x="86" y="33"/>
                  <a:pt x="84" y="36"/>
                </a:cubicBezTo>
                <a:lnTo>
                  <a:pt x="68" y="85"/>
                </a:lnTo>
                <a:close/>
                <a:moveTo>
                  <a:pt x="64" y="217"/>
                </a:moveTo>
                <a:cubicBezTo>
                  <a:pt x="51" y="215"/>
                  <a:pt x="41" y="213"/>
                  <a:pt x="32" y="210"/>
                </a:cubicBezTo>
                <a:cubicBezTo>
                  <a:pt x="32" y="235"/>
                  <a:pt x="32" y="235"/>
                  <a:pt x="32" y="235"/>
                </a:cubicBezTo>
                <a:cubicBezTo>
                  <a:pt x="64" y="235"/>
                  <a:pt x="64" y="235"/>
                  <a:pt x="64" y="235"/>
                </a:cubicBezTo>
                <a:lnTo>
                  <a:pt x="64" y="217"/>
                </a:lnTo>
                <a:close/>
                <a:moveTo>
                  <a:pt x="165" y="203"/>
                </a:moveTo>
                <a:cubicBezTo>
                  <a:pt x="278" y="203"/>
                  <a:pt x="296" y="185"/>
                  <a:pt x="298" y="183"/>
                </a:cubicBezTo>
                <a:cubicBezTo>
                  <a:pt x="298" y="182"/>
                  <a:pt x="298" y="182"/>
                  <a:pt x="298" y="181"/>
                </a:cubicBezTo>
                <a:cubicBezTo>
                  <a:pt x="298" y="149"/>
                  <a:pt x="298" y="149"/>
                  <a:pt x="298" y="149"/>
                </a:cubicBezTo>
                <a:cubicBezTo>
                  <a:pt x="298" y="126"/>
                  <a:pt x="280" y="107"/>
                  <a:pt x="258" y="107"/>
                </a:cubicBezTo>
                <a:cubicBezTo>
                  <a:pt x="62" y="107"/>
                  <a:pt x="62" y="107"/>
                  <a:pt x="62" y="107"/>
                </a:cubicBezTo>
                <a:cubicBezTo>
                  <a:pt x="39" y="107"/>
                  <a:pt x="21" y="126"/>
                  <a:pt x="21" y="149"/>
                </a:cubicBezTo>
                <a:cubicBezTo>
                  <a:pt x="21" y="180"/>
                  <a:pt x="21" y="180"/>
                  <a:pt x="21" y="180"/>
                </a:cubicBezTo>
                <a:cubicBezTo>
                  <a:pt x="23" y="183"/>
                  <a:pt x="43" y="203"/>
                  <a:pt x="165" y="203"/>
                </a:cubicBezTo>
                <a:close/>
                <a:moveTo>
                  <a:pt x="288" y="212"/>
                </a:moveTo>
                <a:cubicBezTo>
                  <a:pt x="279" y="215"/>
                  <a:pt x="268" y="217"/>
                  <a:pt x="256" y="219"/>
                </a:cubicBezTo>
                <a:cubicBezTo>
                  <a:pt x="256" y="235"/>
                  <a:pt x="256" y="235"/>
                  <a:pt x="256" y="235"/>
                </a:cubicBezTo>
                <a:cubicBezTo>
                  <a:pt x="288" y="235"/>
                  <a:pt x="288" y="235"/>
                  <a:pt x="288" y="235"/>
                </a:cubicBezTo>
                <a:lnTo>
                  <a:pt x="288" y="212"/>
                </a:lnTo>
                <a:close/>
                <a:moveTo>
                  <a:pt x="192" y="139"/>
                </a:moveTo>
                <a:cubicBezTo>
                  <a:pt x="128" y="139"/>
                  <a:pt x="128" y="139"/>
                  <a:pt x="128" y="139"/>
                </a:cubicBezTo>
                <a:cubicBezTo>
                  <a:pt x="122" y="139"/>
                  <a:pt x="117" y="143"/>
                  <a:pt x="117" y="149"/>
                </a:cubicBezTo>
                <a:cubicBezTo>
                  <a:pt x="117" y="155"/>
                  <a:pt x="122" y="160"/>
                  <a:pt x="128" y="160"/>
                </a:cubicBezTo>
                <a:cubicBezTo>
                  <a:pt x="192" y="160"/>
                  <a:pt x="192" y="160"/>
                  <a:pt x="192" y="160"/>
                </a:cubicBezTo>
                <a:cubicBezTo>
                  <a:pt x="198" y="160"/>
                  <a:pt x="202" y="155"/>
                  <a:pt x="202" y="149"/>
                </a:cubicBezTo>
                <a:cubicBezTo>
                  <a:pt x="202" y="143"/>
                  <a:pt x="198" y="139"/>
                  <a:pt x="192" y="139"/>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60" name="Arc 259">
            <a:extLst>
              <a:ext uri="{FF2B5EF4-FFF2-40B4-BE49-F238E27FC236}">
                <a16:creationId xmlns:a16="http://schemas.microsoft.com/office/drawing/2014/main" id="{1C68BAB1-7CF4-AE4E-2E53-A45C0A041137}"/>
              </a:ext>
            </a:extLst>
          </p:cNvPr>
          <p:cNvSpPr/>
          <p:nvPr/>
        </p:nvSpPr>
        <p:spPr>
          <a:xfrm rot="16200000">
            <a:off x="4833697" y="2458637"/>
            <a:ext cx="166156" cy="253475"/>
          </a:xfrm>
          <a:prstGeom prst="arc">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61" name="Freeform: Shape 260">
            <a:extLst>
              <a:ext uri="{FF2B5EF4-FFF2-40B4-BE49-F238E27FC236}">
                <a16:creationId xmlns:a16="http://schemas.microsoft.com/office/drawing/2014/main" id="{87D67F22-838D-8D8A-8642-33771E83A635}"/>
              </a:ext>
            </a:extLst>
          </p:cNvPr>
          <p:cNvSpPr/>
          <p:nvPr/>
        </p:nvSpPr>
        <p:spPr>
          <a:xfrm>
            <a:off x="489874" y="3409565"/>
            <a:ext cx="1573970" cy="498099"/>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43B02A">
              <a:hueOff val="0"/>
              <a:satOff val="0"/>
              <a:lumOff val="0"/>
              <a:alphaOff val="0"/>
            </a:srgbClr>
          </a:solidFill>
          <a:ln w="25400" cap="flat" cmpd="sng" algn="ctr">
            <a:solidFill>
              <a:srgbClr val="43B02A">
                <a:hueOff val="0"/>
                <a:satOff val="0"/>
                <a:lumOff val="0"/>
                <a:alphaOff val="0"/>
              </a:srgbClr>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Sectoral Reforms</a:t>
            </a:r>
          </a:p>
        </p:txBody>
      </p:sp>
      <p:sp>
        <p:nvSpPr>
          <p:cNvPr id="262" name="Freeform: Shape 261">
            <a:extLst>
              <a:ext uri="{FF2B5EF4-FFF2-40B4-BE49-F238E27FC236}">
                <a16:creationId xmlns:a16="http://schemas.microsoft.com/office/drawing/2014/main" id="{132F90E5-EA28-2525-2804-235200BA9F08}"/>
              </a:ext>
            </a:extLst>
          </p:cNvPr>
          <p:cNvSpPr/>
          <p:nvPr/>
        </p:nvSpPr>
        <p:spPr>
          <a:xfrm>
            <a:off x="489874" y="3907664"/>
            <a:ext cx="1573970" cy="1490433"/>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43B02A">
              <a:tint val="40000"/>
              <a:alpha val="90000"/>
              <a:hueOff val="0"/>
              <a:satOff val="0"/>
              <a:lumOff val="0"/>
              <a:alphaOff val="0"/>
            </a:srgbClr>
          </a:solidFill>
          <a:ln w="25400" cap="flat" cmpd="sng" algn="ctr">
            <a:solidFill>
              <a:srgbClr val="43B02A">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Setting up of new entities</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Restructuring of existing utilities</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Financial Viability Plan &amp; Financing Facility Development</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Integrated Planning</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Transaction and PPP</a:t>
            </a:r>
          </a:p>
        </p:txBody>
      </p:sp>
      <p:sp>
        <p:nvSpPr>
          <p:cNvPr id="263" name="Freeform: Shape 262">
            <a:extLst>
              <a:ext uri="{FF2B5EF4-FFF2-40B4-BE49-F238E27FC236}">
                <a16:creationId xmlns:a16="http://schemas.microsoft.com/office/drawing/2014/main" id="{34287B40-2D39-9395-82FA-2CE4CE41BC8B}"/>
              </a:ext>
            </a:extLst>
          </p:cNvPr>
          <p:cNvSpPr/>
          <p:nvPr/>
        </p:nvSpPr>
        <p:spPr>
          <a:xfrm>
            <a:off x="2211112" y="3409565"/>
            <a:ext cx="1573970" cy="498099"/>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26890D">
              <a:hueOff val="0"/>
              <a:satOff val="0"/>
              <a:lumOff val="0"/>
              <a:alphaOff val="0"/>
            </a:srgbClr>
          </a:solidFill>
          <a:ln w="25400" cap="flat" cmpd="sng" algn="ctr">
            <a:solidFill>
              <a:srgbClr val="26890D">
                <a:hueOff val="0"/>
                <a:satOff val="0"/>
                <a:lumOff val="0"/>
                <a:alphaOff val="0"/>
              </a:srgbClr>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Policy Review and Development</a:t>
            </a:r>
          </a:p>
        </p:txBody>
      </p:sp>
      <p:sp>
        <p:nvSpPr>
          <p:cNvPr id="264" name="Freeform: Shape 263">
            <a:extLst>
              <a:ext uri="{FF2B5EF4-FFF2-40B4-BE49-F238E27FC236}">
                <a16:creationId xmlns:a16="http://schemas.microsoft.com/office/drawing/2014/main" id="{F671E52E-024A-3CED-C8F8-A3EB1F1A22E9}"/>
              </a:ext>
            </a:extLst>
          </p:cNvPr>
          <p:cNvSpPr/>
          <p:nvPr/>
        </p:nvSpPr>
        <p:spPr>
          <a:xfrm>
            <a:off x="2211112" y="3907664"/>
            <a:ext cx="1573970" cy="1490433"/>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26890D">
              <a:tint val="40000"/>
              <a:alpha val="90000"/>
              <a:hueOff val="0"/>
              <a:satOff val="0"/>
              <a:lumOff val="0"/>
              <a:alphaOff val="0"/>
            </a:srgbClr>
          </a:solidFill>
          <a:ln w="25400" cap="flat" cmpd="sng" algn="ctr">
            <a:solidFill>
              <a:srgbClr val="26890D">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Power Trade</a:t>
            </a:r>
            <a:r>
              <a:rPr lang="en-US" sz="700" kern="0">
                <a:solidFill>
                  <a:prstClr val="black">
                    <a:hueOff val="0"/>
                    <a:satOff val="0"/>
                    <a:lumOff val="0"/>
                    <a:alphaOff val="0"/>
                  </a:prstClr>
                </a:solidFill>
                <a:latin typeface="Verdana" panose="020B0604030504040204" pitchFamily="34" charset="0"/>
                <a:ea typeface="Verdana" panose="020B0604030504040204" pitchFamily="34" charset="0"/>
                <a:cs typeface="Arial" panose="020B0604020202020204" pitchFamily="34" charset="0"/>
              </a:rPr>
              <a:t>Renewable Energy Policy</a:t>
            </a:r>
          </a:p>
          <a:p>
            <a:pPr marL="169863" lvl="1" indent="-169863" defTabSz="266700">
              <a:lnSpc>
                <a:spcPct val="90000"/>
              </a:lnSpc>
              <a:spcBef>
                <a:spcPct val="0"/>
              </a:spcBef>
              <a:spcAft>
                <a:spcPts val="300"/>
              </a:spcAft>
              <a:buFontTx/>
              <a:buChar char="•"/>
              <a:defRPr/>
            </a:pPr>
            <a:r>
              <a:rPr lang="en-US" sz="700" kern="0">
                <a:solidFill>
                  <a:prstClr val="black">
                    <a:hueOff val="0"/>
                    <a:satOff val="0"/>
                    <a:lumOff val="0"/>
                    <a:alphaOff val="0"/>
                  </a:prstClr>
                </a:solidFill>
                <a:latin typeface="Verdana" panose="020B0604030504040204" pitchFamily="34" charset="0"/>
                <a:ea typeface="Verdana" panose="020B0604030504040204" pitchFamily="34" charset="0"/>
                <a:cs typeface="Arial" panose="020B0604020202020204" pitchFamily="34" charset="0"/>
              </a:rPr>
              <a:t>PPP Policy</a:t>
            </a:r>
          </a:p>
          <a:p>
            <a:pPr marL="169863" lvl="1" indent="-169863" defTabSz="266700">
              <a:lnSpc>
                <a:spcPct val="90000"/>
              </a:lnSpc>
              <a:spcBef>
                <a:spcPct val="0"/>
              </a:spcBef>
              <a:spcAft>
                <a:spcPts val="300"/>
              </a:spcAft>
              <a:buFontTx/>
              <a:buChar char="•"/>
              <a:defRPr/>
            </a:pPr>
            <a:r>
              <a:rPr lang="en-US" sz="700" kern="0">
                <a:solidFill>
                  <a:prstClr val="black">
                    <a:hueOff val="0"/>
                    <a:satOff val="0"/>
                    <a:lumOff val="0"/>
                    <a:alphaOff val="0"/>
                  </a:prstClr>
                </a:solidFill>
                <a:latin typeface="Verdana" panose="020B0604030504040204" pitchFamily="34" charset="0"/>
                <a:ea typeface="Verdana" panose="020B0604030504040204" pitchFamily="34" charset="0"/>
                <a:cs typeface="Arial" panose="020B0604020202020204" pitchFamily="34" charset="0"/>
              </a:rPr>
              <a:t>IPP Policy</a:t>
            </a:r>
          </a:p>
          <a:p>
            <a:pPr marL="169863" lvl="1" indent="-169863" defTabSz="266700">
              <a:lnSpc>
                <a:spcPct val="90000"/>
              </a:lnSpc>
              <a:spcBef>
                <a:spcPct val="0"/>
              </a:spcBef>
              <a:spcAft>
                <a:spcPts val="300"/>
              </a:spcAft>
              <a:buFontTx/>
              <a:buChar char="•"/>
              <a:defRPr/>
            </a:pPr>
            <a:r>
              <a:rPr lang="en-US" sz="700" kern="0">
                <a:solidFill>
                  <a:prstClr val="black">
                    <a:hueOff val="0"/>
                    <a:satOff val="0"/>
                    <a:lumOff val="0"/>
                    <a:alphaOff val="0"/>
                  </a:prstClr>
                </a:solidFill>
                <a:latin typeface="Verdana" panose="020B0604030504040204" pitchFamily="34" charset="0"/>
                <a:ea typeface="Verdana" panose="020B0604030504040204" pitchFamily="34" charset="0"/>
                <a:cs typeface="Arial" panose="020B0604020202020204" pitchFamily="34" charset="0"/>
              </a:rPr>
              <a:t>Energy Security Policy</a:t>
            </a:r>
          </a:p>
          <a:p>
            <a:pPr marL="169863" lvl="1" indent="-169863" defTabSz="266700">
              <a:lnSpc>
                <a:spcPct val="90000"/>
              </a:lnSpc>
              <a:spcBef>
                <a:spcPct val="0"/>
              </a:spcBef>
              <a:spcAft>
                <a:spcPts val="300"/>
              </a:spcAft>
              <a:buFontTx/>
              <a:buChar char="•"/>
              <a:defRPr/>
            </a:pPr>
            <a:r>
              <a:rPr lang="en-US" sz="700" kern="0">
                <a:solidFill>
                  <a:prstClr val="black">
                    <a:hueOff val="0"/>
                    <a:satOff val="0"/>
                    <a:lumOff val="0"/>
                    <a:alphaOff val="0"/>
                  </a:prstClr>
                </a:solidFill>
                <a:latin typeface="Verdana" panose="020B0604030504040204" pitchFamily="34" charset="0"/>
                <a:ea typeface="Verdana" panose="020B0604030504040204" pitchFamily="34" charset="0"/>
                <a:cs typeface="Arial" panose="020B0604020202020204" pitchFamily="34" charset="0"/>
              </a:rPr>
              <a:t>ICT Policy</a:t>
            </a:r>
          </a:p>
          <a:p>
            <a:pPr marL="169863" lvl="1" indent="-169863" defTabSz="266700">
              <a:lnSpc>
                <a:spcPct val="90000"/>
              </a:lnSpc>
              <a:spcBef>
                <a:spcPct val="0"/>
              </a:spcBef>
              <a:spcAft>
                <a:spcPts val="300"/>
              </a:spcAft>
              <a:buFontTx/>
              <a:buChar char="•"/>
              <a:defRPr/>
            </a:pPr>
            <a:r>
              <a:rPr lang="en-US" sz="700" kern="0">
                <a:solidFill>
                  <a:prstClr val="black">
                    <a:hueOff val="0"/>
                    <a:satOff val="0"/>
                    <a:lumOff val="0"/>
                    <a:alphaOff val="0"/>
                  </a:prstClr>
                </a:solidFill>
                <a:latin typeface="Verdana" panose="020B0604030504040204" pitchFamily="34" charset="0"/>
                <a:ea typeface="Verdana" panose="020B0604030504040204" pitchFamily="34" charset="0"/>
                <a:cs typeface="Arial" panose="020B0604020202020204" pitchFamily="34" charset="0"/>
              </a:rPr>
              <a:t>Restructuring Policy</a:t>
            </a:r>
          </a:p>
          <a:p>
            <a:pPr marL="169863" lvl="1" indent="-169863" defTabSz="266700">
              <a:lnSpc>
                <a:spcPct val="90000"/>
              </a:lnSpc>
              <a:spcBef>
                <a:spcPct val="0"/>
              </a:spcBef>
              <a:spcAft>
                <a:spcPts val="300"/>
              </a:spcAft>
              <a:buFontTx/>
              <a:buChar char="•"/>
              <a:defRPr/>
            </a:pPr>
            <a:r>
              <a:rPr lang="en-US" sz="700" kern="0">
                <a:solidFill>
                  <a:prstClr val="black">
                    <a:hueOff val="0"/>
                    <a:satOff val="0"/>
                    <a:lumOff val="0"/>
                    <a:alphaOff val="0"/>
                  </a:prstClr>
                </a:solidFill>
                <a:latin typeface="Verdana" panose="020B0604030504040204" pitchFamily="34" charset="0"/>
                <a:ea typeface="Verdana" panose="020B0604030504040204" pitchFamily="34" charset="0"/>
                <a:cs typeface="Arial" panose="020B0604020202020204" pitchFamily="34" charset="0"/>
              </a:rPr>
              <a:t>Cross Border </a:t>
            </a:r>
            <a:endPar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65" name="Freeform: Shape 264">
            <a:extLst>
              <a:ext uri="{FF2B5EF4-FFF2-40B4-BE49-F238E27FC236}">
                <a16:creationId xmlns:a16="http://schemas.microsoft.com/office/drawing/2014/main" id="{617D8641-BBD0-5151-F258-CC0E2794A8C5}"/>
              </a:ext>
            </a:extLst>
          </p:cNvPr>
          <p:cNvSpPr/>
          <p:nvPr/>
        </p:nvSpPr>
        <p:spPr>
          <a:xfrm>
            <a:off x="3932351" y="3409565"/>
            <a:ext cx="1573970" cy="498099"/>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046A38">
              <a:hueOff val="0"/>
              <a:satOff val="0"/>
              <a:lumOff val="0"/>
              <a:alphaOff val="0"/>
            </a:srgbClr>
          </a:solidFill>
          <a:ln w="25400" cap="flat" cmpd="sng" algn="ctr">
            <a:solidFill>
              <a:srgbClr val="046A38">
                <a:hueOff val="0"/>
                <a:satOff val="0"/>
                <a:lumOff val="0"/>
                <a:alphaOff val="0"/>
              </a:srgbClr>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Increasing Role of Regulator</a:t>
            </a:r>
          </a:p>
        </p:txBody>
      </p:sp>
      <p:sp>
        <p:nvSpPr>
          <p:cNvPr id="266" name="Freeform: Shape 265">
            <a:extLst>
              <a:ext uri="{FF2B5EF4-FFF2-40B4-BE49-F238E27FC236}">
                <a16:creationId xmlns:a16="http://schemas.microsoft.com/office/drawing/2014/main" id="{3A8EF300-C976-0564-6317-E82F8AE7C777}"/>
              </a:ext>
            </a:extLst>
          </p:cNvPr>
          <p:cNvSpPr/>
          <p:nvPr/>
        </p:nvSpPr>
        <p:spPr>
          <a:xfrm>
            <a:off x="3932351" y="3907664"/>
            <a:ext cx="1573970" cy="1490433"/>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046A38">
              <a:tint val="40000"/>
              <a:alpha val="90000"/>
              <a:hueOff val="0"/>
              <a:satOff val="0"/>
              <a:lumOff val="0"/>
              <a:alphaOff val="0"/>
            </a:srgbClr>
          </a:solidFill>
          <a:ln w="25400" cap="flat" cmpd="sng" algn="ctr">
            <a:solidFill>
              <a:srgbClr val="046A38">
                <a:tint val="40000"/>
                <a:alpha val="90000"/>
                <a:hueOff val="0"/>
                <a:satOff val="0"/>
                <a:lumOff val="0"/>
                <a:alphaOff val="0"/>
              </a:srgbClr>
            </a:solidFill>
            <a:prstDash val="solid"/>
          </a:ln>
          <a:effectLst/>
        </p:spPr>
        <p:txBody>
          <a:bodyPr spcFirstLastPara="0" vert="horz" wrap="square" lIns="53340" tIns="53340" rIns="71120" bIns="80010" numCol="1" spcCol="1270" anchor="t" anchorCtr="0">
            <a:noAutofit/>
          </a:bodyPr>
          <a:lstStyle/>
          <a:p>
            <a:pPr marL="169863" marR="0" lvl="1" indent="-169863" defTabSz="266700" eaLnBrk="1" fontAlgn="auto" latinLnBrk="0" hangingPunct="1">
              <a:lnSpc>
                <a:spcPct val="90000"/>
              </a:lnSpc>
              <a:spcBef>
                <a:spcPct val="0"/>
              </a:spcBef>
              <a:spcAft>
                <a:spcPts val="300"/>
              </a:spcAft>
              <a:buClrTx/>
              <a:buSzPct val="100000"/>
              <a:buFontTx/>
              <a:buChar char="•"/>
              <a:tabLst/>
              <a:defRPr/>
            </a:pP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Cost Reflective Tariff</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Performance-based regulation</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Licensing &amp; Market regulation</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700" b="0" i="0" u="none" strike="noStrike" kern="0" cap="none" spc="0" normalizeH="0" baseline="0" noProof="0" err="1">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FiT</a:t>
            </a: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 Renewable purchase regulation</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7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Open Access, Balancing and settlement</a:t>
            </a:r>
            <a:endParaRPr kumimoji="0" lang="en-IN" sz="700" b="0" i="0" u="none" strike="noStrike" kern="0" cap="none" spc="0" normalizeH="0" baseline="0" noProof="0" err="1">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67" name="Rectangle 266">
            <a:extLst>
              <a:ext uri="{FF2B5EF4-FFF2-40B4-BE49-F238E27FC236}">
                <a16:creationId xmlns:a16="http://schemas.microsoft.com/office/drawing/2014/main" id="{F1E9B4AE-6B85-C7BA-10BD-4B276502FD5A}"/>
              </a:ext>
            </a:extLst>
          </p:cNvPr>
          <p:cNvSpPr/>
          <p:nvPr/>
        </p:nvSpPr>
        <p:spPr bwMode="gray">
          <a:xfrm>
            <a:off x="1885727" y="3132064"/>
            <a:ext cx="2284835" cy="140617"/>
          </a:xfrm>
          <a:prstGeom prst="rect">
            <a:avLst/>
          </a:prstGeom>
          <a:no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700" b="1" i="1">
                <a:solidFill>
                  <a:srgbClr val="53565A"/>
                </a:solidFill>
                <a:latin typeface="Verdana" panose="020B0604030504040204" pitchFamily="34" charset="0"/>
                <a:ea typeface="Verdana" panose="020B0604030504040204" pitchFamily="34" charset="0"/>
                <a:cs typeface="Arial" panose="020B0604020202020204" pitchFamily="34" charset="0"/>
              </a:rPr>
              <a:t>Policy &amp; Regulatory Reforms</a:t>
            </a:r>
          </a:p>
        </p:txBody>
      </p:sp>
      <p:sp>
        <p:nvSpPr>
          <p:cNvPr id="268" name="Rounded Rectangle 46">
            <a:extLst>
              <a:ext uri="{FF2B5EF4-FFF2-40B4-BE49-F238E27FC236}">
                <a16:creationId xmlns:a16="http://schemas.microsoft.com/office/drawing/2014/main" id="{96EDBAF4-33A3-7244-307D-28F92E13A5B1}"/>
              </a:ext>
            </a:extLst>
          </p:cNvPr>
          <p:cNvSpPr/>
          <p:nvPr/>
        </p:nvSpPr>
        <p:spPr bwMode="gray">
          <a:xfrm>
            <a:off x="3527337" y="5505170"/>
            <a:ext cx="1597437" cy="243426"/>
          </a:xfrm>
          <a:prstGeom prst="roundRect">
            <a:avLst>
              <a:gd name="adj" fmla="val 50000"/>
            </a:avLst>
          </a:prstGeom>
          <a:solidFill>
            <a:srgbClr val="D0D0CE"/>
          </a:solidFill>
          <a:ln w="3175" cap="flat" cmpd="sng" algn="ctr">
            <a:noFill/>
            <a:prstDash val="dash"/>
            <a:headEnd/>
            <a:tailEnd/>
          </a:ln>
          <a:effectLst/>
        </p:spPr>
        <p:txBody>
          <a:bodyPr wrap="square" lIns="0" tIns="88900" rIns="18288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Stakeholder Consultation</a:t>
            </a:r>
            <a:endParaRPr kumimoji="0" lang="en-IN" sz="7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69" name="Rounded Rectangle 139">
            <a:extLst>
              <a:ext uri="{FF2B5EF4-FFF2-40B4-BE49-F238E27FC236}">
                <a16:creationId xmlns:a16="http://schemas.microsoft.com/office/drawing/2014/main" id="{59C829B1-7410-1AE4-04C3-EAC56D8A605E}"/>
              </a:ext>
            </a:extLst>
          </p:cNvPr>
          <p:cNvSpPr/>
          <p:nvPr/>
        </p:nvSpPr>
        <p:spPr bwMode="gray">
          <a:xfrm>
            <a:off x="455585" y="5885976"/>
            <a:ext cx="2406577" cy="243426"/>
          </a:xfrm>
          <a:prstGeom prst="roundRect">
            <a:avLst>
              <a:gd name="adj" fmla="val 50000"/>
            </a:avLst>
          </a:prstGeom>
          <a:solidFill>
            <a:sysClr val="window" lastClr="FFFFFF">
              <a:lumMod val="95000"/>
            </a:sysClr>
          </a:solidFill>
          <a:ln w="3175" cap="flat" cmpd="sng" algn="ctr">
            <a:noFill/>
            <a:prstDash val="dash"/>
            <a:headEnd/>
            <a:tailEnd/>
          </a:ln>
          <a:effectLst/>
        </p:spPr>
        <p:txBody>
          <a:bodyPr wrap="square" lIns="182880" tIns="88900" rIns="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National Policy &amp; Vision Development</a:t>
            </a:r>
            <a:endParaRPr kumimoji="0" lang="en-IN" sz="7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70" name="Rounded Rectangle 141">
            <a:extLst>
              <a:ext uri="{FF2B5EF4-FFF2-40B4-BE49-F238E27FC236}">
                <a16:creationId xmlns:a16="http://schemas.microsoft.com/office/drawing/2014/main" id="{CF776B0F-2359-BC84-0719-59205E7155AC}"/>
              </a:ext>
            </a:extLst>
          </p:cNvPr>
          <p:cNvSpPr/>
          <p:nvPr/>
        </p:nvSpPr>
        <p:spPr bwMode="gray">
          <a:xfrm>
            <a:off x="576971" y="5498951"/>
            <a:ext cx="2811002" cy="246537"/>
          </a:xfrm>
          <a:prstGeom prst="roundRect">
            <a:avLst>
              <a:gd name="adj" fmla="val 50000"/>
            </a:avLst>
          </a:prstGeom>
          <a:solidFill>
            <a:sysClr val="window" lastClr="FFFFFF">
              <a:lumMod val="95000"/>
            </a:sysClr>
          </a:solidFill>
          <a:ln w="3175" cap="flat" cmpd="sng" algn="ctr">
            <a:noFill/>
            <a:prstDash val="dash"/>
            <a:headEnd/>
            <a:tailEnd/>
          </a:ln>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Institutional, Financial and Regulatory Analysis</a:t>
            </a:r>
            <a:endParaRPr kumimoji="0" lang="en-IN" sz="7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71" name="Flowchart: Delay 270">
            <a:extLst>
              <a:ext uri="{FF2B5EF4-FFF2-40B4-BE49-F238E27FC236}">
                <a16:creationId xmlns:a16="http://schemas.microsoft.com/office/drawing/2014/main" id="{ED44D882-87ED-64B5-1B23-1F625ECD60D9}"/>
              </a:ext>
            </a:extLst>
          </p:cNvPr>
          <p:cNvSpPr/>
          <p:nvPr/>
        </p:nvSpPr>
        <p:spPr bwMode="gray">
          <a:xfrm>
            <a:off x="4949730" y="5505690"/>
            <a:ext cx="248443" cy="243426"/>
          </a:xfrm>
          <a:prstGeom prst="flowChartDelay">
            <a:avLst/>
          </a:prstGeom>
          <a:solidFill>
            <a:srgbClr val="D0D0CE">
              <a:lumMod val="5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72" name="Flowchart: Delay 271">
            <a:extLst>
              <a:ext uri="{FF2B5EF4-FFF2-40B4-BE49-F238E27FC236}">
                <a16:creationId xmlns:a16="http://schemas.microsoft.com/office/drawing/2014/main" id="{7C96922A-FECC-5FEC-E5B4-55EE96CBFEE9}"/>
              </a:ext>
            </a:extLst>
          </p:cNvPr>
          <p:cNvSpPr/>
          <p:nvPr/>
        </p:nvSpPr>
        <p:spPr bwMode="gray">
          <a:xfrm flipH="1">
            <a:off x="479841" y="5498952"/>
            <a:ext cx="248443" cy="246536"/>
          </a:xfrm>
          <a:prstGeom prst="flowChartDelay">
            <a:avLst/>
          </a:prstGeom>
          <a:solidFill>
            <a:srgbClr val="D0D0CE">
              <a:lumMod val="5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73" name="Flowchart: Delay 272">
            <a:extLst>
              <a:ext uri="{FF2B5EF4-FFF2-40B4-BE49-F238E27FC236}">
                <a16:creationId xmlns:a16="http://schemas.microsoft.com/office/drawing/2014/main" id="{36A7D790-D4E7-1A40-C59F-EB39A99F93A5}"/>
              </a:ext>
            </a:extLst>
          </p:cNvPr>
          <p:cNvSpPr/>
          <p:nvPr/>
        </p:nvSpPr>
        <p:spPr bwMode="gray">
          <a:xfrm flipH="1">
            <a:off x="482553" y="5869132"/>
            <a:ext cx="248443" cy="243426"/>
          </a:xfrm>
          <a:prstGeom prst="flowChartDelay">
            <a:avLst/>
          </a:prstGeom>
          <a:solidFill>
            <a:srgbClr val="D0D0CE">
              <a:lumMod val="5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74" name="Rounded Rectangle 46">
            <a:extLst>
              <a:ext uri="{FF2B5EF4-FFF2-40B4-BE49-F238E27FC236}">
                <a16:creationId xmlns:a16="http://schemas.microsoft.com/office/drawing/2014/main" id="{F0D6C4CF-84EE-CAEC-6C72-226D47AC2604}"/>
              </a:ext>
            </a:extLst>
          </p:cNvPr>
          <p:cNvSpPr/>
          <p:nvPr/>
        </p:nvSpPr>
        <p:spPr bwMode="gray">
          <a:xfrm>
            <a:off x="2916039" y="5865942"/>
            <a:ext cx="2590281" cy="243426"/>
          </a:xfrm>
          <a:prstGeom prst="roundRect">
            <a:avLst>
              <a:gd name="adj" fmla="val 50000"/>
            </a:avLst>
          </a:prstGeom>
          <a:solidFill>
            <a:srgbClr val="D0D0CE"/>
          </a:solidFill>
          <a:ln w="3175" cap="flat" cmpd="sng" algn="ctr">
            <a:noFill/>
            <a:prstDash val="dash"/>
            <a:headEnd/>
            <a:tailEnd/>
          </a:ln>
          <a:effectLst/>
        </p:spPr>
        <p:txBody>
          <a:bodyPr wrap="square" lIns="0" tIns="88900" rIns="18288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International Benchmark and Peer Reviews</a:t>
            </a:r>
            <a:endParaRPr kumimoji="0" lang="en-IN" sz="7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75" name="Flowchart: Delay 274">
            <a:extLst>
              <a:ext uri="{FF2B5EF4-FFF2-40B4-BE49-F238E27FC236}">
                <a16:creationId xmlns:a16="http://schemas.microsoft.com/office/drawing/2014/main" id="{F27D68D3-58C9-0AFE-4851-6F0F6D25D02D}"/>
              </a:ext>
            </a:extLst>
          </p:cNvPr>
          <p:cNvSpPr/>
          <p:nvPr/>
        </p:nvSpPr>
        <p:spPr bwMode="gray">
          <a:xfrm>
            <a:off x="5238038" y="5865942"/>
            <a:ext cx="248443" cy="243426"/>
          </a:xfrm>
          <a:prstGeom prst="flowChartDelay">
            <a:avLst/>
          </a:prstGeom>
          <a:solidFill>
            <a:srgbClr val="D0D0CE">
              <a:lumMod val="5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nvGrpSpPr>
          <p:cNvPr id="276" name="Group 39">
            <a:extLst>
              <a:ext uri="{FF2B5EF4-FFF2-40B4-BE49-F238E27FC236}">
                <a16:creationId xmlns:a16="http://schemas.microsoft.com/office/drawing/2014/main" id="{74C7989F-3164-99CE-127F-C095824DDB59}"/>
              </a:ext>
            </a:extLst>
          </p:cNvPr>
          <p:cNvGrpSpPr>
            <a:grpSpLocks noChangeAspect="1"/>
          </p:cNvGrpSpPr>
          <p:nvPr/>
        </p:nvGrpSpPr>
        <p:grpSpPr bwMode="auto">
          <a:xfrm>
            <a:off x="536879" y="3469789"/>
            <a:ext cx="367631" cy="367631"/>
            <a:chOff x="3987" y="1509"/>
            <a:chExt cx="340" cy="340"/>
          </a:xfrm>
          <a:solidFill>
            <a:sysClr val="window" lastClr="FFFFFF"/>
          </a:solidFill>
        </p:grpSpPr>
        <p:sp>
          <p:nvSpPr>
            <p:cNvPr id="277" name="Freeform 40">
              <a:extLst>
                <a:ext uri="{FF2B5EF4-FFF2-40B4-BE49-F238E27FC236}">
                  <a16:creationId xmlns:a16="http://schemas.microsoft.com/office/drawing/2014/main" id="{D371EB2D-6923-942F-0AE1-0FEDD9AB030C}"/>
                </a:ext>
              </a:extLst>
            </p:cNvPr>
            <p:cNvSpPr>
              <a:spLocks noEditPoints="1"/>
            </p:cNvSpPr>
            <p:nvPr/>
          </p:nvSpPr>
          <p:spPr bwMode="auto">
            <a:xfrm>
              <a:off x="3987" y="150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78" name="Freeform 41">
              <a:extLst>
                <a:ext uri="{FF2B5EF4-FFF2-40B4-BE49-F238E27FC236}">
                  <a16:creationId xmlns:a16="http://schemas.microsoft.com/office/drawing/2014/main" id="{D986DFCE-399C-78EB-9BFF-8DCF4E9A0883}"/>
                </a:ext>
              </a:extLst>
            </p:cNvPr>
            <p:cNvSpPr>
              <a:spLocks noEditPoints="1"/>
            </p:cNvSpPr>
            <p:nvPr/>
          </p:nvSpPr>
          <p:spPr bwMode="auto">
            <a:xfrm>
              <a:off x="4053" y="1568"/>
              <a:ext cx="215" cy="214"/>
            </a:xfrm>
            <a:custGeom>
              <a:avLst/>
              <a:gdLst>
                <a:gd name="T0" fmla="*/ 168 w 324"/>
                <a:gd name="T1" fmla="*/ 177 h 322"/>
                <a:gd name="T2" fmla="*/ 123 w 324"/>
                <a:gd name="T3" fmla="*/ 143 h 322"/>
                <a:gd name="T4" fmla="*/ 65 w 324"/>
                <a:gd name="T5" fmla="*/ 142 h 322"/>
                <a:gd name="T6" fmla="*/ 18 w 324"/>
                <a:gd name="T7" fmla="*/ 175 h 322"/>
                <a:gd name="T8" fmla="*/ 0 w 324"/>
                <a:gd name="T9" fmla="*/ 229 h 322"/>
                <a:gd name="T10" fmla="*/ 17 w 324"/>
                <a:gd name="T11" fmla="*/ 284 h 322"/>
                <a:gd name="T12" fmla="*/ 63 w 324"/>
                <a:gd name="T13" fmla="*/ 319 h 322"/>
                <a:gd name="T14" fmla="*/ 115 w 324"/>
                <a:gd name="T15" fmla="*/ 320 h 322"/>
                <a:gd name="T16" fmla="*/ 145 w 324"/>
                <a:gd name="T17" fmla="*/ 294 h 322"/>
                <a:gd name="T18" fmla="*/ 172 w 324"/>
                <a:gd name="T19" fmla="*/ 252 h 322"/>
                <a:gd name="T20" fmla="*/ 146 w 324"/>
                <a:gd name="T21" fmla="*/ 249 h 322"/>
                <a:gd name="T22" fmla="*/ 125 w 324"/>
                <a:gd name="T23" fmla="*/ 277 h 322"/>
                <a:gd name="T24" fmla="*/ 92 w 324"/>
                <a:gd name="T25" fmla="*/ 284 h 322"/>
                <a:gd name="T26" fmla="*/ 69 w 324"/>
                <a:gd name="T27" fmla="*/ 293 h 322"/>
                <a:gd name="T28" fmla="*/ 37 w 324"/>
                <a:gd name="T29" fmla="*/ 267 h 322"/>
                <a:gd name="T30" fmla="*/ 26 w 324"/>
                <a:gd name="T31" fmla="*/ 227 h 322"/>
                <a:gd name="T32" fmla="*/ 41 w 324"/>
                <a:gd name="T33" fmla="*/ 189 h 322"/>
                <a:gd name="T34" fmla="*/ 76 w 324"/>
                <a:gd name="T35" fmla="*/ 168 h 322"/>
                <a:gd name="T36" fmla="*/ 115 w 324"/>
                <a:gd name="T37" fmla="*/ 164 h 322"/>
                <a:gd name="T38" fmla="*/ 150 w 324"/>
                <a:gd name="T39" fmla="*/ 190 h 322"/>
                <a:gd name="T40" fmla="*/ 163 w 324"/>
                <a:gd name="T41" fmla="*/ 232 h 322"/>
                <a:gd name="T42" fmla="*/ 61 w 324"/>
                <a:gd name="T43" fmla="*/ 214 h 322"/>
                <a:gd name="T44" fmla="*/ 103 w 324"/>
                <a:gd name="T45" fmla="*/ 265 h 322"/>
                <a:gd name="T46" fmla="*/ 105 w 324"/>
                <a:gd name="T47" fmla="*/ 237 h 322"/>
                <a:gd name="T48" fmla="*/ 80 w 324"/>
                <a:gd name="T49" fmla="*/ 224 h 322"/>
                <a:gd name="T50" fmla="*/ 106 w 324"/>
                <a:gd name="T51" fmla="*/ 226 h 322"/>
                <a:gd name="T52" fmla="*/ 308 w 324"/>
                <a:gd name="T53" fmla="*/ 62 h 322"/>
                <a:gd name="T54" fmla="*/ 276 w 324"/>
                <a:gd name="T55" fmla="*/ 23 h 322"/>
                <a:gd name="T56" fmla="*/ 227 w 324"/>
                <a:gd name="T57" fmla="*/ 10 h 322"/>
                <a:gd name="T58" fmla="*/ 180 w 324"/>
                <a:gd name="T59" fmla="*/ 29 h 322"/>
                <a:gd name="T60" fmla="*/ 152 w 324"/>
                <a:gd name="T61" fmla="*/ 71 h 322"/>
                <a:gd name="T62" fmla="*/ 155 w 324"/>
                <a:gd name="T63" fmla="*/ 122 h 322"/>
                <a:gd name="T64" fmla="*/ 187 w 324"/>
                <a:gd name="T65" fmla="*/ 161 h 322"/>
                <a:gd name="T66" fmla="*/ 236 w 324"/>
                <a:gd name="T67" fmla="*/ 174 h 322"/>
                <a:gd name="T68" fmla="*/ 276 w 324"/>
                <a:gd name="T69" fmla="*/ 156 h 322"/>
                <a:gd name="T70" fmla="*/ 305 w 324"/>
                <a:gd name="T71" fmla="*/ 117 h 322"/>
                <a:gd name="T72" fmla="*/ 298 w 324"/>
                <a:gd name="T73" fmla="*/ 96 h 322"/>
                <a:gd name="T74" fmla="*/ 283 w 324"/>
                <a:gd name="T75" fmla="*/ 134 h 322"/>
                <a:gd name="T76" fmla="*/ 248 w 324"/>
                <a:gd name="T77" fmla="*/ 155 h 322"/>
                <a:gd name="T78" fmla="*/ 209 w 324"/>
                <a:gd name="T79" fmla="*/ 158 h 322"/>
                <a:gd name="T80" fmla="*/ 174 w 324"/>
                <a:gd name="T81" fmla="*/ 132 h 322"/>
                <a:gd name="T82" fmla="*/ 161 w 324"/>
                <a:gd name="T83" fmla="*/ 91 h 322"/>
                <a:gd name="T84" fmla="*/ 175 w 324"/>
                <a:gd name="T85" fmla="*/ 50 h 322"/>
                <a:gd name="T86" fmla="*/ 211 w 324"/>
                <a:gd name="T87" fmla="*/ 26 h 322"/>
                <a:gd name="T88" fmla="*/ 250 w 324"/>
                <a:gd name="T89" fmla="*/ 30 h 322"/>
                <a:gd name="T90" fmla="*/ 284 w 324"/>
                <a:gd name="T91" fmla="*/ 51 h 322"/>
                <a:gd name="T92" fmla="*/ 298 w 324"/>
                <a:gd name="T93" fmla="*/ 90 h 322"/>
                <a:gd name="T94" fmla="*/ 221 w 324"/>
                <a:gd name="T95" fmla="*/ 58 h 322"/>
                <a:gd name="T96" fmla="*/ 231 w 324"/>
                <a:gd name="T97" fmla="*/ 128 h 322"/>
                <a:gd name="T98" fmla="*/ 248 w 324"/>
                <a:gd name="T99" fmla="*/ 61 h 322"/>
                <a:gd name="T100" fmla="*/ 218 w 324"/>
                <a:gd name="T101" fmla="*/ 96 h 322"/>
                <a:gd name="T102" fmla="*/ 238 w 324"/>
                <a:gd name="T103" fmla="*/ 7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4" h="322">
                  <a:moveTo>
                    <a:pt x="172" y="212"/>
                  </a:moveTo>
                  <a:cubicBezTo>
                    <a:pt x="171" y="211"/>
                    <a:pt x="168" y="209"/>
                    <a:pt x="167" y="208"/>
                  </a:cubicBezTo>
                  <a:cubicBezTo>
                    <a:pt x="167" y="206"/>
                    <a:pt x="168" y="203"/>
                    <a:pt x="169" y="201"/>
                  </a:cubicBezTo>
                  <a:cubicBezTo>
                    <a:pt x="171" y="194"/>
                    <a:pt x="174" y="185"/>
                    <a:pt x="168" y="177"/>
                  </a:cubicBezTo>
                  <a:cubicBezTo>
                    <a:pt x="163" y="169"/>
                    <a:pt x="153" y="169"/>
                    <a:pt x="146" y="169"/>
                  </a:cubicBezTo>
                  <a:cubicBezTo>
                    <a:pt x="144" y="169"/>
                    <a:pt x="141" y="168"/>
                    <a:pt x="139" y="168"/>
                  </a:cubicBezTo>
                  <a:cubicBezTo>
                    <a:pt x="139" y="167"/>
                    <a:pt x="138" y="164"/>
                    <a:pt x="137" y="162"/>
                  </a:cubicBezTo>
                  <a:cubicBezTo>
                    <a:pt x="135" y="155"/>
                    <a:pt x="132" y="146"/>
                    <a:pt x="123" y="143"/>
                  </a:cubicBezTo>
                  <a:cubicBezTo>
                    <a:pt x="114" y="140"/>
                    <a:pt x="105" y="145"/>
                    <a:pt x="100" y="149"/>
                  </a:cubicBezTo>
                  <a:cubicBezTo>
                    <a:pt x="98" y="150"/>
                    <a:pt x="95" y="152"/>
                    <a:pt x="94" y="153"/>
                  </a:cubicBezTo>
                  <a:cubicBezTo>
                    <a:pt x="92" y="152"/>
                    <a:pt x="90" y="150"/>
                    <a:pt x="88" y="149"/>
                  </a:cubicBezTo>
                  <a:cubicBezTo>
                    <a:pt x="83" y="145"/>
                    <a:pt x="74" y="139"/>
                    <a:pt x="65" y="142"/>
                  </a:cubicBezTo>
                  <a:cubicBezTo>
                    <a:pt x="56" y="145"/>
                    <a:pt x="53" y="154"/>
                    <a:pt x="50" y="161"/>
                  </a:cubicBezTo>
                  <a:cubicBezTo>
                    <a:pt x="49" y="163"/>
                    <a:pt x="48" y="166"/>
                    <a:pt x="48" y="167"/>
                  </a:cubicBezTo>
                  <a:cubicBezTo>
                    <a:pt x="46" y="167"/>
                    <a:pt x="43" y="167"/>
                    <a:pt x="41" y="167"/>
                  </a:cubicBezTo>
                  <a:cubicBezTo>
                    <a:pt x="34" y="167"/>
                    <a:pt x="24" y="168"/>
                    <a:pt x="18" y="175"/>
                  </a:cubicBezTo>
                  <a:cubicBezTo>
                    <a:pt x="13" y="183"/>
                    <a:pt x="15" y="192"/>
                    <a:pt x="17" y="199"/>
                  </a:cubicBezTo>
                  <a:cubicBezTo>
                    <a:pt x="18" y="201"/>
                    <a:pt x="19" y="204"/>
                    <a:pt x="19" y="206"/>
                  </a:cubicBezTo>
                  <a:cubicBezTo>
                    <a:pt x="18" y="207"/>
                    <a:pt x="15" y="209"/>
                    <a:pt x="14" y="210"/>
                  </a:cubicBezTo>
                  <a:cubicBezTo>
                    <a:pt x="8" y="214"/>
                    <a:pt x="0" y="220"/>
                    <a:pt x="0" y="229"/>
                  </a:cubicBezTo>
                  <a:cubicBezTo>
                    <a:pt x="0" y="239"/>
                    <a:pt x="7" y="245"/>
                    <a:pt x="13" y="249"/>
                  </a:cubicBezTo>
                  <a:cubicBezTo>
                    <a:pt x="15" y="251"/>
                    <a:pt x="18" y="253"/>
                    <a:pt x="18" y="253"/>
                  </a:cubicBezTo>
                  <a:cubicBezTo>
                    <a:pt x="18" y="255"/>
                    <a:pt x="17" y="258"/>
                    <a:pt x="16" y="261"/>
                  </a:cubicBezTo>
                  <a:cubicBezTo>
                    <a:pt x="14" y="268"/>
                    <a:pt x="11" y="277"/>
                    <a:pt x="17" y="284"/>
                  </a:cubicBezTo>
                  <a:cubicBezTo>
                    <a:pt x="22" y="292"/>
                    <a:pt x="32" y="292"/>
                    <a:pt x="39" y="293"/>
                  </a:cubicBezTo>
                  <a:cubicBezTo>
                    <a:pt x="41" y="293"/>
                    <a:pt x="44" y="293"/>
                    <a:pt x="46" y="293"/>
                  </a:cubicBezTo>
                  <a:cubicBezTo>
                    <a:pt x="47" y="295"/>
                    <a:pt x="48" y="298"/>
                    <a:pt x="48" y="299"/>
                  </a:cubicBezTo>
                  <a:cubicBezTo>
                    <a:pt x="51" y="306"/>
                    <a:pt x="54" y="315"/>
                    <a:pt x="63" y="319"/>
                  </a:cubicBezTo>
                  <a:cubicBezTo>
                    <a:pt x="72" y="322"/>
                    <a:pt x="80" y="316"/>
                    <a:pt x="86" y="312"/>
                  </a:cubicBezTo>
                  <a:cubicBezTo>
                    <a:pt x="87" y="311"/>
                    <a:pt x="90" y="309"/>
                    <a:pt x="92" y="309"/>
                  </a:cubicBezTo>
                  <a:cubicBezTo>
                    <a:pt x="93" y="309"/>
                    <a:pt x="95" y="311"/>
                    <a:pt x="97" y="312"/>
                  </a:cubicBezTo>
                  <a:cubicBezTo>
                    <a:pt x="102" y="316"/>
                    <a:pt x="108" y="320"/>
                    <a:pt x="115" y="320"/>
                  </a:cubicBezTo>
                  <a:cubicBezTo>
                    <a:pt x="117" y="320"/>
                    <a:pt x="118" y="320"/>
                    <a:pt x="120" y="319"/>
                  </a:cubicBezTo>
                  <a:cubicBezTo>
                    <a:pt x="129" y="316"/>
                    <a:pt x="133" y="307"/>
                    <a:pt x="135" y="300"/>
                  </a:cubicBezTo>
                  <a:cubicBezTo>
                    <a:pt x="136" y="298"/>
                    <a:pt x="137" y="296"/>
                    <a:pt x="138" y="294"/>
                  </a:cubicBezTo>
                  <a:cubicBezTo>
                    <a:pt x="139" y="294"/>
                    <a:pt x="142" y="294"/>
                    <a:pt x="145" y="294"/>
                  </a:cubicBezTo>
                  <a:cubicBezTo>
                    <a:pt x="152" y="294"/>
                    <a:pt x="161" y="294"/>
                    <a:pt x="167" y="286"/>
                  </a:cubicBezTo>
                  <a:cubicBezTo>
                    <a:pt x="173" y="279"/>
                    <a:pt x="170" y="269"/>
                    <a:pt x="168" y="262"/>
                  </a:cubicBezTo>
                  <a:cubicBezTo>
                    <a:pt x="168" y="260"/>
                    <a:pt x="167" y="257"/>
                    <a:pt x="167" y="256"/>
                  </a:cubicBezTo>
                  <a:cubicBezTo>
                    <a:pt x="168" y="255"/>
                    <a:pt x="170" y="253"/>
                    <a:pt x="172" y="252"/>
                  </a:cubicBezTo>
                  <a:cubicBezTo>
                    <a:pt x="177" y="247"/>
                    <a:pt x="185" y="242"/>
                    <a:pt x="185" y="232"/>
                  </a:cubicBezTo>
                  <a:cubicBezTo>
                    <a:pt x="186" y="223"/>
                    <a:pt x="178" y="217"/>
                    <a:pt x="172" y="212"/>
                  </a:cubicBezTo>
                  <a:close/>
                  <a:moveTo>
                    <a:pt x="159" y="235"/>
                  </a:moveTo>
                  <a:cubicBezTo>
                    <a:pt x="154" y="238"/>
                    <a:pt x="148" y="242"/>
                    <a:pt x="146" y="249"/>
                  </a:cubicBezTo>
                  <a:cubicBezTo>
                    <a:pt x="144" y="255"/>
                    <a:pt x="146" y="262"/>
                    <a:pt x="148" y="268"/>
                  </a:cubicBezTo>
                  <a:cubicBezTo>
                    <a:pt x="148" y="269"/>
                    <a:pt x="148" y="271"/>
                    <a:pt x="149" y="272"/>
                  </a:cubicBezTo>
                  <a:cubicBezTo>
                    <a:pt x="147" y="273"/>
                    <a:pt x="145" y="273"/>
                    <a:pt x="144" y="273"/>
                  </a:cubicBezTo>
                  <a:cubicBezTo>
                    <a:pt x="138" y="273"/>
                    <a:pt x="131" y="273"/>
                    <a:pt x="125" y="277"/>
                  </a:cubicBezTo>
                  <a:cubicBezTo>
                    <a:pt x="120" y="281"/>
                    <a:pt x="117" y="287"/>
                    <a:pt x="115" y="293"/>
                  </a:cubicBezTo>
                  <a:cubicBezTo>
                    <a:pt x="115" y="294"/>
                    <a:pt x="114" y="295"/>
                    <a:pt x="113" y="297"/>
                  </a:cubicBezTo>
                  <a:cubicBezTo>
                    <a:pt x="112" y="296"/>
                    <a:pt x="110" y="294"/>
                    <a:pt x="109" y="293"/>
                  </a:cubicBezTo>
                  <a:cubicBezTo>
                    <a:pt x="104" y="290"/>
                    <a:pt x="99" y="284"/>
                    <a:pt x="92" y="284"/>
                  </a:cubicBezTo>
                  <a:cubicBezTo>
                    <a:pt x="92" y="284"/>
                    <a:pt x="92" y="284"/>
                    <a:pt x="92" y="284"/>
                  </a:cubicBezTo>
                  <a:cubicBezTo>
                    <a:pt x="85" y="284"/>
                    <a:pt x="79" y="289"/>
                    <a:pt x="74" y="293"/>
                  </a:cubicBezTo>
                  <a:cubicBezTo>
                    <a:pt x="73" y="294"/>
                    <a:pt x="71" y="296"/>
                    <a:pt x="70" y="297"/>
                  </a:cubicBezTo>
                  <a:cubicBezTo>
                    <a:pt x="70" y="296"/>
                    <a:pt x="69" y="294"/>
                    <a:pt x="69" y="293"/>
                  </a:cubicBezTo>
                  <a:cubicBezTo>
                    <a:pt x="67" y="287"/>
                    <a:pt x="64" y="280"/>
                    <a:pt x="59" y="276"/>
                  </a:cubicBezTo>
                  <a:cubicBezTo>
                    <a:pt x="53" y="272"/>
                    <a:pt x="46" y="272"/>
                    <a:pt x="40" y="271"/>
                  </a:cubicBezTo>
                  <a:cubicBezTo>
                    <a:pt x="39" y="271"/>
                    <a:pt x="37" y="271"/>
                    <a:pt x="36" y="271"/>
                  </a:cubicBezTo>
                  <a:cubicBezTo>
                    <a:pt x="36" y="270"/>
                    <a:pt x="36" y="268"/>
                    <a:pt x="37" y="267"/>
                  </a:cubicBezTo>
                  <a:cubicBezTo>
                    <a:pt x="39" y="261"/>
                    <a:pt x="41" y="254"/>
                    <a:pt x="39" y="247"/>
                  </a:cubicBezTo>
                  <a:cubicBezTo>
                    <a:pt x="37" y="241"/>
                    <a:pt x="31" y="236"/>
                    <a:pt x="26" y="232"/>
                  </a:cubicBezTo>
                  <a:cubicBezTo>
                    <a:pt x="25" y="232"/>
                    <a:pt x="24" y="231"/>
                    <a:pt x="23" y="230"/>
                  </a:cubicBezTo>
                  <a:cubicBezTo>
                    <a:pt x="24" y="229"/>
                    <a:pt x="25" y="228"/>
                    <a:pt x="26" y="227"/>
                  </a:cubicBezTo>
                  <a:cubicBezTo>
                    <a:pt x="31" y="223"/>
                    <a:pt x="37" y="219"/>
                    <a:pt x="39" y="213"/>
                  </a:cubicBezTo>
                  <a:cubicBezTo>
                    <a:pt x="41" y="206"/>
                    <a:pt x="39" y="199"/>
                    <a:pt x="38" y="193"/>
                  </a:cubicBezTo>
                  <a:cubicBezTo>
                    <a:pt x="37" y="192"/>
                    <a:pt x="37" y="190"/>
                    <a:pt x="37" y="189"/>
                  </a:cubicBezTo>
                  <a:cubicBezTo>
                    <a:pt x="38" y="189"/>
                    <a:pt x="40" y="189"/>
                    <a:pt x="41" y="189"/>
                  </a:cubicBezTo>
                  <a:cubicBezTo>
                    <a:pt x="47" y="189"/>
                    <a:pt x="54" y="189"/>
                    <a:pt x="60" y="185"/>
                  </a:cubicBezTo>
                  <a:cubicBezTo>
                    <a:pt x="66" y="181"/>
                    <a:pt x="68" y="174"/>
                    <a:pt x="70" y="169"/>
                  </a:cubicBezTo>
                  <a:cubicBezTo>
                    <a:pt x="71" y="167"/>
                    <a:pt x="71" y="166"/>
                    <a:pt x="72" y="164"/>
                  </a:cubicBezTo>
                  <a:cubicBezTo>
                    <a:pt x="73" y="165"/>
                    <a:pt x="75" y="167"/>
                    <a:pt x="76" y="168"/>
                  </a:cubicBezTo>
                  <a:cubicBezTo>
                    <a:pt x="81" y="172"/>
                    <a:pt x="87" y="177"/>
                    <a:pt x="93" y="177"/>
                  </a:cubicBezTo>
                  <a:cubicBezTo>
                    <a:pt x="94" y="177"/>
                    <a:pt x="94" y="177"/>
                    <a:pt x="94" y="177"/>
                  </a:cubicBezTo>
                  <a:cubicBezTo>
                    <a:pt x="101" y="177"/>
                    <a:pt x="106" y="172"/>
                    <a:pt x="111" y="168"/>
                  </a:cubicBezTo>
                  <a:cubicBezTo>
                    <a:pt x="112" y="168"/>
                    <a:pt x="114" y="165"/>
                    <a:pt x="115" y="164"/>
                  </a:cubicBezTo>
                  <a:cubicBezTo>
                    <a:pt x="116" y="166"/>
                    <a:pt x="116" y="168"/>
                    <a:pt x="117" y="169"/>
                  </a:cubicBezTo>
                  <a:cubicBezTo>
                    <a:pt x="119" y="175"/>
                    <a:pt x="121" y="181"/>
                    <a:pt x="127" y="185"/>
                  </a:cubicBezTo>
                  <a:cubicBezTo>
                    <a:pt x="132" y="189"/>
                    <a:pt x="139" y="190"/>
                    <a:pt x="145" y="190"/>
                  </a:cubicBezTo>
                  <a:cubicBezTo>
                    <a:pt x="146" y="190"/>
                    <a:pt x="148" y="190"/>
                    <a:pt x="150" y="190"/>
                  </a:cubicBezTo>
                  <a:cubicBezTo>
                    <a:pt x="149" y="192"/>
                    <a:pt x="149" y="193"/>
                    <a:pt x="149" y="194"/>
                  </a:cubicBezTo>
                  <a:cubicBezTo>
                    <a:pt x="147" y="200"/>
                    <a:pt x="145" y="207"/>
                    <a:pt x="147" y="214"/>
                  </a:cubicBezTo>
                  <a:cubicBezTo>
                    <a:pt x="149" y="221"/>
                    <a:pt x="154" y="225"/>
                    <a:pt x="159" y="229"/>
                  </a:cubicBezTo>
                  <a:cubicBezTo>
                    <a:pt x="160" y="230"/>
                    <a:pt x="162" y="231"/>
                    <a:pt x="163" y="232"/>
                  </a:cubicBezTo>
                  <a:cubicBezTo>
                    <a:pt x="161" y="233"/>
                    <a:pt x="160" y="234"/>
                    <a:pt x="159" y="235"/>
                  </a:cubicBezTo>
                  <a:close/>
                  <a:moveTo>
                    <a:pt x="109" y="199"/>
                  </a:moveTo>
                  <a:cubicBezTo>
                    <a:pt x="101" y="195"/>
                    <a:pt x="91" y="194"/>
                    <a:pt x="82" y="197"/>
                  </a:cubicBezTo>
                  <a:cubicBezTo>
                    <a:pt x="73" y="200"/>
                    <a:pt x="66" y="206"/>
                    <a:pt x="61" y="214"/>
                  </a:cubicBezTo>
                  <a:cubicBezTo>
                    <a:pt x="57" y="223"/>
                    <a:pt x="56" y="232"/>
                    <a:pt x="59" y="241"/>
                  </a:cubicBezTo>
                  <a:cubicBezTo>
                    <a:pt x="62" y="250"/>
                    <a:pt x="68" y="258"/>
                    <a:pt x="76" y="262"/>
                  </a:cubicBezTo>
                  <a:cubicBezTo>
                    <a:pt x="81" y="265"/>
                    <a:pt x="87" y="266"/>
                    <a:pt x="93" y="266"/>
                  </a:cubicBezTo>
                  <a:cubicBezTo>
                    <a:pt x="96" y="266"/>
                    <a:pt x="100" y="266"/>
                    <a:pt x="103" y="265"/>
                  </a:cubicBezTo>
                  <a:cubicBezTo>
                    <a:pt x="112" y="262"/>
                    <a:pt x="120" y="256"/>
                    <a:pt x="124" y="247"/>
                  </a:cubicBezTo>
                  <a:cubicBezTo>
                    <a:pt x="129" y="239"/>
                    <a:pt x="129" y="229"/>
                    <a:pt x="127" y="220"/>
                  </a:cubicBezTo>
                  <a:cubicBezTo>
                    <a:pt x="124" y="211"/>
                    <a:pt x="118" y="204"/>
                    <a:pt x="109" y="199"/>
                  </a:cubicBezTo>
                  <a:close/>
                  <a:moveTo>
                    <a:pt x="105" y="237"/>
                  </a:moveTo>
                  <a:cubicBezTo>
                    <a:pt x="103" y="241"/>
                    <a:pt x="101" y="243"/>
                    <a:pt x="97" y="244"/>
                  </a:cubicBezTo>
                  <a:cubicBezTo>
                    <a:pt x="93" y="245"/>
                    <a:pt x="89" y="245"/>
                    <a:pt x="86" y="243"/>
                  </a:cubicBezTo>
                  <a:cubicBezTo>
                    <a:pt x="83" y="241"/>
                    <a:pt x="80" y="239"/>
                    <a:pt x="79" y="235"/>
                  </a:cubicBezTo>
                  <a:cubicBezTo>
                    <a:pt x="78" y="231"/>
                    <a:pt x="78" y="227"/>
                    <a:pt x="80" y="224"/>
                  </a:cubicBezTo>
                  <a:cubicBezTo>
                    <a:pt x="82" y="221"/>
                    <a:pt x="85" y="218"/>
                    <a:pt x="88" y="217"/>
                  </a:cubicBezTo>
                  <a:cubicBezTo>
                    <a:pt x="90" y="217"/>
                    <a:pt x="91" y="216"/>
                    <a:pt x="93" y="216"/>
                  </a:cubicBezTo>
                  <a:cubicBezTo>
                    <a:pt x="95" y="216"/>
                    <a:pt x="97" y="217"/>
                    <a:pt x="99" y="218"/>
                  </a:cubicBezTo>
                  <a:cubicBezTo>
                    <a:pt x="103" y="220"/>
                    <a:pt x="105" y="223"/>
                    <a:pt x="106" y="226"/>
                  </a:cubicBezTo>
                  <a:cubicBezTo>
                    <a:pt x="107" y="230"/>
                    <a:pt x="107" y="234"/>
                    <a:pt x="105" y="237"/>
                  </a:cubicBezTo>
                  <a:close/>
                  <a:moveTo>
                    <a:pt x="311" y="74"/>
                  </a:moveTo>
                  <a:cubicBezTo>
                    <a:pt x="309" y="72"/>
                    <a:pt x="307" y="70"/>
                    <a:pt x="306" y="69"/>
                  </a:cubicBezTo>
                  <a:cubicBezTo>
                    <a:pt x="306" y="67"/>
                    <a:pt x="307" y="64"/>
                    <a:pt x="308" y="62"/>
                  </a:cubicBezTo>
                  <a:cubicBezTo>
                    <a:pt x="310" y="55"/>
                    <a:pt x="313" y="46"/>
                    <a:pt x="307" y="38"/>
                  </a:cubicBezTo>
                  <a:cubicBezTo>
                    <a:pt x="302" y="31"/>
                    <a:pt x="292" y="30"/>
                    <a:pt x="285" y="30"/>
                  </a:cubicBezTo>
                  <a:cubicBezTo>
                    <a:pt x="283" y="30"/>
                    <a:pt x="280" y="30"/>
                    <a:pt x="278" y="29"/>
                  </a:cubicBezTo>
                  <a:cubicBezTo>
                    <a:pt x="277" y="28"/>
                    <a:pt x="276" y="25"/>
                    <a:pt x="276" y="23"/>
                  </a:cubicBezTo>
                  <a:cubicBezTo>
                    <a:pt x="273" y="16"/>
                    <a:pt x="270" y="7"/>
                    <a:pt x="261" y="4"/>
                  </a:cubicBezTo>
                  <a:cubicBezTo>
                    <a:pt x="252" y="1"/>
                    <a:pt x="244" y="6"/>
                    <a:pt x="238" y="10"/>
                  </a:cubicBezTo>
                  <a:cubicBezTo>
                    <a:pt x="237" y="12"/>
                    <a:pt x="234" y="13"/>
                    <a:pt x="232" y="14"/>
                  </a:cubicBezTo>
                  <a:cubicBezTo>
                    <a:pt x="231" y="13"/>
                    <a:pt x="229" y="12"/>
                    <a:pt x="227" y="10"/>
                  </a:cubicBezTo>
                  <a:cubicBezTo>
                    <a:pt x="221" y="6"/>
                    <a:pt x="213" y="0"/>
                    <a:pt x="204" y="3"/>
                  </a:cubicBezTo>
                  <a:cubicBezTo>
                    <a:pt x="195" y="6"/>
                    <a:pt x="191" y="16"/>
                    <a:pt x="189" y="22"/>
                  </a:cubicBezTo>
                  <a:cubicBezTo>
                    <a:pt x="188" y="24"/>
                    <a:pt x="187" y="27"/>
                    <a:pt x="186" y="28"/>
                  </a:cubicBezTo>
                  <a:cubicBezTo>
                    <a:pt x="185" y="29"/>
                    <a:pt x="182" y="29"/>
                    <a:pt x="180" y="29"/>
                  </a:cubicBezTo>
                  <a:cubicBezTo>
                    <a:pt x="172" y="29"/>
                    <a:pt x="163" y="29"/>
                    <a:pt x="157" y="36"/>
                  </a:cubicBezTo>
                  <a:cubicBezTo>
                    <a:pt x="151" y="44"/>
                    <a:pt x="154" y="53"/>
                    <a:pt x="156" y="60"/>
                  </a:cubicBezTo>
                  <a:cubicBezTo>
                    <a:pt x="156" y="62"/>
                    <a:pt x="157" y="65"/>
                    <a:pt x="157" y="67"/>
                  </a:cubicBezTo>
                  <a:cubicBezTo>
                    <a:pt x="156" y="68"/>
                    <a:pt x="154" y="70"/>
                    <a:pt x="152" y="71"/>
                  </a:cubicBezTo>
                  <a:cubicBezTo>
                    <a:pt x="147" y="75"/>
                    <a:pt x="139" y="81"/>
                    <a:pt x="139" y="91"/>
                  </a:cubicBezTo>
                  <a:cubicBezTo>
                    <a:pt x="138" y="100"/>
                    <a:pt x="146" y="106"/>
                    <a:pt x="152" y="110"/>
                  </a:cubicBezTo>
                  <a:cubicBezTo>
                    <a:pt x="153" y="112"/>
                    <a:pt x="156" y="114"/>
                    <a:pt x="157" y="115"/>
                  </a:cubicBezTo>
                  <a:cubicBezTo>
                    <a:pt x="157" y="116"/>
                    <a:pt x="156" y="120"/>
                    <a:pt x="155" y="122"/>
                  </a:cubicBezTo>
                  <a:cubicBezTo>
                    <a:pt x="153" y="129"/>
                    <a:pt x="150" y="138"/>
                    <a:pt x="156" y="146"/>
                  </a:cubicBezTo>
                  <a:cubicBezTo>
                    <a:pt x="161" y="153"/>
                    <a:pt x="171" y="154"/>
                    <a:pt x="178" y="154"/>
                  </a:cubicBezTo>
                  <a:cubicBezTo>
                    <a:pt x="180" y="154"/>
                    <a:pt x="183" y="154"/>
                    <a:pt x="185" y="155"/>
                  </a:cubicBezTo>
                  <a:cubicBezTo>
                    <a:pt x="185" y="156"/>
                    <a:pt x="186" y="159"/>
                    <a:pt x="187" y="161"/>
                  </a:cubicBezTo>
                  <a:cubicBezTo>
                    <a:pt x="189" y="168"/>
                    <a:pt x="192" y="177"/>
                    <a:pt x="201" y="180"/>
                  </a:cubicBezTo>
                  <a:cubicBezTo>
                    <a:pt x="210" y="183"/>
                    <a:pt x="218" y="178"/>
                    <a:pt x="224" y="174"/>
                  </a:cubicBezTo>
                  <a:cubicBezTo>
                    <a:pt x="226" y="172"/>
                    <a:pt x="229" y="171"/>
                    <a:pt x="230" y="170"/>
                  </a:cubicBezTo>
                  <a:cubicBezTo>
                    <a:pt x="232" y="171"/>
                    <a:pt x="234" y="172"/>
                    <a:pt x="236" y="174"/>
                  </a:cubicBezTo>
                  <a:cubicBezTo>
                    <a:pt x="240" y="177"/>
                    <a:pt x="247" y="181"/>
                    <a:pt x="254" y="181"/>
                  </a:cubicBezTo>
                  <a:cubicBezTo>
                    <a:pt x="255" y="181"/>
                    <a:pt x="257" y="181"/>
                    <a:pt x="259" y="181"/>
                  </a:cubicBezTo>
                  <a:cubicBezTo>
                    <a:pt x="268" y="178"/>
                    <a:pt x="271" y="168"/>
                    <a:pt x="274" y="162"/>
                  </a:cubicBezTo>
                  <a:cubicBezTo>
                    <a:pt x="275" y="160"/>
                    <a:pt x="276" y="157"/>
                    <a:pt x="276" y="156"/>
                  </a:cubicBezTo>
                  <a:cubicBezTo>
                    <a:pt x="278" y="155"/>
                    <a:pt x="281" y="155"/>
                    <a:pt x="283" y="155"/>
                  </a:cubicBezTo>
                  <a:cubicBezTo>
                    <a:pt x="290" y="155"/>
                    <a:pt x="300" y="155"/>
                    <a:pt x="306" y="148"/>
                  </a:cubicBezTo>
                  <a:cubicBezTo>
                    <a:pt x="311" y="140"/>
                    <a:pt x="309" y="131"/>
                    <a:pt x="307" y="124"/>
                  </a:cubicBezTo>
                  <a:cubicBezTo>
                    <a:pt x="306" y="122"/>
                    <a:pt x="305" y="119"/>
                    <a:pt x="305" y="117"/>
                  </a:cubicBezTo>
                  <a:cubicBezTo>
                    <a:pt x="306" y="116"/>
                    <a:pt x="309" y="114"/>
                    <a:pt x="310" y="113"/>
                  </a:cubicBezTo>
                  <a:cubicBezTo>
                    <a:pt x="316" y="109"/>
                    <a:pt x="324" y="103"/>
                    <a:pt x="324" y="93"/>
                  </a:cubicBezTo>
                  <a:cubicBezTo>
                    <a:pt x="324" y="84"/>
                    <a:pt x="317" y="78"/>
                    <a:pt x="311" y="74"/>
                  </a:cubicBezTo>
                  <a:close/>
                  <a:moveTo>
                    <a:pt x="298" y="96"/>
                  </a:moveTo>
                  <a:cubicBezTo>
                    <a:pt x="293" y="100"/>
                    <a:pt x="287" y="104"/>
                    <a:pt x="285" y="110"/>
                  </a:cubicBezTo>
                  <a:cubicBezTo>
                    <a:pt x="283" y="117"/>
                    <a:pt x="285" y="123"/>
                    <a:pt x="286" y="129"/>
                  </a:cubicBezTo>
                  <a:cubicBezTo>
                    <a:pt x="287" y="131"/>
                    <a:pt x="287" y="132"/>
                    <a:pt x="287" y="134"/>
                  </a:cubicBezTo>
                  <a:cubicBezTo>
                    <a:pt x="286" y="134"/>
                    <a:pt x="284" y="134"/>
                    <a:pt x="283" y="134"/>
                  </a:cubicBezTo>
                  <a:cubicBezTo>
                    <a:pt x="277" y="134"/>
                    <a:pt x="270" y="134"/>
                    <a:pt x="264" y="138"/>
                  </a:cubicBezTo>
                  <a:cubicBezTo>
                    <a:pt x="258" y="142"/>
                    <a:pt x="256" y="148"/>
                    <a:pt x="254" y="154"/>
                  </a:cubicBezTo>
                  <a:cubicBezTo>
                    <a:pt x="253" y="155"/>
                    <a:pt x="253" y="157"/>
                    <a:pt x="252" y="158"/>
                  </a:cubicBezTo>
                  <a:cubicBezTo>
                    <a:pt x="251" y="157"/>
                    <a:pt x="249" y="155"/>
                    <a:pt x="248" y="155"/>
                  </a:cubicBezTo>
                  <a:cubicBezTo>
                    <a:pt x="243" y="151"/>
                    <a:pt x="237" y="145"/>
                    <a:pt x="231" y="145"/>
                  </a:cubicBezTo>
                  <a:cubicBezTo>
                    <a:pt x="230" y="145"/>
                    <a:pt x="230" y="145"/>
                    <a:pt x="230" y="145"/>
                  </a:cubicBezTo>
                  <a:cubicBezTo>
                    <a:pt x="223" y="145"/>
                    <a:pt x="218" y="151"/>
                    <a:pt x="213" y="154"/>
                  </a:cubicBezTo>
                  <a:cubicBezTo>
                    <a:pt x="212" y="155"/>
                    <a:pt x="210" y="157"/>
                    <a:pt x="209" y="158"/>
                  </a:cubicBezTo>
                  <a:cubicBezTo>
                    <a:pt x="208" y="157"/>
                    <a:pt x="208" y="155"/>
                    <a:pt x="207" y="154"/>
                  </a:cubicBezTo>
                  <a:cubicBezTo>
                    <a:pt x="205" y="148"/>
                    <a:pt x="203" y="141"/>
                    <a:pt x="197" y="137"/>
                  </a:cubicBezTo>
                  <a:cubicBezTo>
                    <a:pt x="192" y="133"/>
                    <a:pt x="185" y="133"/>
                    <a:pt x="179" y="133"/>
                  </a:cubicBezTo>
                  <a:cubicBezTo>
                    <a:pt x="178" y="133"/>
                    <a:pt x="176" y="133"/>
                    <a:pt x="174" y="132"/>
                  </a:cubicBezTo>
                  <a:cubicBezTo>
                    <a:pt x="175" y="131"/>
                    <a:pt x="175" y="129"/>
                    <a:pt x="175" y="128"/>
                  </a:cubicBezTo>
                  <a:cubicBezTo>
                    <a:pt x="177" y="122"/>
                    <a:pt x="179" y="115"/>
                    <a:pt x="177" y="109"/>
                  </a:cubicBezTo>
                  <a:cubicBezTo>
                    <a:pt x="175" y="102"/>
                    <a:pt x="170" y="98"/>
                    <a:pt x="165" y="94"/>
                  </a:cubicBezTo>
                  <a:cubicBezTo>
                    <a:pt x="164" y="93"/>
                    <a:pt x="162" y="92"/>
                    <a:pt x="161" y="91"/>
                  </a:cubicBezTo>
                  <a:cubicBezTo>
                    <a:pt x="163" y="90"/>
                    <a:pt x="164" y="89"/>
                    <a:pt x="165" y="88"/>
                  </a:cubicBezTo>
                  <a:cubicBezTo>
                    <a:pt x="170" y="84"/>
                    <a:pt x="176" y="80"/>
                    <a:pt x="178" y="74"/>
                  </a:cubicBezTo>
                  <a:cubicBezTo>
                    <a:pt x="180" y="67"/>
                    <a:pt x="178" y="61"/>
                    <a:pt x="176" y="55"/>
                  </a:cubicBezTo>
                  <a:cubicBezTo>
                    <a:pt x="176" y="53"/>
                    <a:pt x="176" y="52"/>
                    <a:pt x="175" y="50"/>
                  </a:cubicBezTo>
                  <a:cubicBezTo>
                    <a:pt x="177" y="50"/>
                    <a:pt x="179" y="50"/>
                    <a:pt x="180" y="50"/>
                  </a:cubicBezTo>
                  <a:cubicBezTo>
                    <a:pt x="186" y="50"/>
                    <a:pt x="193" y="50"/>
                    <a:pt x="199" y="46"/>
                  </a:cubicBezTo>
                  <a:cubicBezTo>
                    <a:pt x="204" y="42"/>
                    <a:pt x="207" y="36"/>
                    <a:pt x="209" y="30"/>
                  </a:cubicBezTo>
                  <a:cubicBezTo>
                    <a:pt x="209" y="29"/>
                    <a:pt x="210" y="27"/>
                    <a:pt x="211" y="26"/>
                  </a:cubicBezTo>
                  <a:cubicBezTo>
                    <a:pt x="212" y="27"/>
                    <a:pt x="214" y="29"/>
                    <a:pt x="215" y="29"/>
                  </a:cubicBezTo>
                  <a:cubicBezTo>
                    <a:pt x="220" y="33"/>
                    <a:pt x="225" y="39"/>
                    <a:pt x="232" y="39"/>
                  </a:cubicBezTo>
                  <a:cubicBezTo>
                    <a:pt x="232" y="39"/>
                    <a:pt x="232" y="39"/>
                    <a:pt x="232" y="39"/>
                  </a:cubicBezTo>
                  <a:cubicBezTo>
                    <a:pt x="239" y="39"/>
                    <a:pt x="245" y="33"/>
                    <a:pt x="250" y="30"/>
                  </a:cubicBezTo>
                  <a:cubicBezTo>
                    <a:pt x="251" y="29"/>
                    <a:pt x="253" y="27"/>
                    <a:pt x="254" y="26"/>
                  </a:cubicBezTo>
                  <a:cubicBezTo>
                    <a:pt x="254" y="27"/>
                    <a:pt x="255" y="29"/>
                    <a:pt x="255" y="30"/>
                  </a:cubicBezTo>
                  <a:cubicBezTo>
                    <a:pt x="257" y="36"/>
                    <a:pt x="260" y="43"/>
                    <a:pt x="265" y="47"/>
                  </a:cubicBezTo>
                  <a:cubicBezTo>
                    <a:pt x="271" y="51"/>
                    <a:pt x="278" y="51"/>
                    <a:pt x="284" y="51"/>
                  </a:cubicBezTo>
                  <a:cubicBezTo>
                    <a:pt x="285" y="51"/>
                    <a:pt x="287" y="51"/>
                    <a:pt x="288" y="52"/>
                  </a:cubicBezTo>
                  <a:cubicBezTo>
                    <a:pt x="288" y="53"/>
                    <a:pt x="288" y="55"/>
                    <a:pt x="287" y="56"/>
                  </a:cubicBezTo>
                  <a:cubicBezTo>
                    <a:pt x="285" y="62"/>
                    <a:pt x="283" y="69"/>
                    <a:pt x="285" y="75"/>
                  </a:cubicBezTo>
                  <a:cubicBezTo>
                    <a:pt x="287" y="82"/>
                    <a:pt x="293" y="86"/>
                    <a:pt x="298" y="90"/>
                  </a:cubicBezTo>
                  <a:cubicBezTo>
                    <a:pt x="299" y="91"/>
                    <a:pt x="300" y="92"/>
                    <a:pt x="301" y="93"/>
                  </a:cubicBezTo>
                  <a:cubicBezTo>
                    <a:pt x="300" y="94"/>
                    <a:pt x="299" y="95"/>
                    <a:pt x="298" y="96"/>
                  </a:cubicBezTo>
                  <a:close/>
                  <a:moveTo>
                    <a:pt x="248" y="61"/>
                  </a:moveTo>
                  <a:cubicBezTo>
                    <a:pt x="239" y="56"/>
                    <a:pt x="230" y="55"/>
                    <a:pt x="221" y="58"/>
                  </a:cubicBezTo>
                  <a:cubicBezTo>
                    <a:pt x="212" y="61"/>
                    <a:pt x="204" y="67"/>
                    <a:pt x="200" y="75"/>
                  </a:cubicBezTo>
                  <a:cubicBezTo>
                    <a:pt x="195" y="84"/>
                    <a:pt x="195" y="93"/>
                    <a:pt x="197" y="103"/>
                  </a:cubicBezTo>
                  <a:cubicBezTo>
                    <a:pt x="200" y="112"/>
                    <a:pt x="206" y="119"/>
                    <a:pt x="215" y="123"/>
                  </a:cubicBezTo>
                  <a:cubicBezTo>
                    <a:pt x="220" y="126"/>
                    <a:pt x="226" y="128"/>
                    <a:pt x="231" y="128"/>
                  </a:cubicBezTo>
                  <a:cubicBezTo>
                    <a:pt x="235" y="128"/>
                    <a:pt x="238" y="127"/>
                    <a:pt x="242" y="126"/>
                  </a:cubicBezTo>
                  <a:cubicBezTo>
                    <a:pt x="251" y="123"/>
                    <a:pt x="258" y="117"/>
                    <a:pt x="263" y="109"/>
                  </a:cubicBezTo>
                  <a:cubicBezTo>
                    <a:pt x="267" y="100"/>
                    <a:pt x="268" y="91"/>
                    <a:pt x="265" y="81"/>
                  </a:cubicBezTo>
                  <a:cubicBezTo>
                    <a:pt x="262" y="72"/>
                    <a:pt x="256" y="65"/>
                    <a:pt x="248" y="61"/>
                  </a:cubicBezTo>
                  <a:close/>
                  <a:moveTo>
                    <a:pt x="244" y="99"/>
                  </a:moveTo>
                  <a:cubicBezTo>
                    <a:pt x="242" y="102"/>
                    <a:pt x="239" y="104"/>
                    <a:pt x="236" y="106"/>
                  </a:cubicBezTo>
                  <a:cubicBezTo>
                    <a:pt x="232" y="107"/>
                    <a:pt x="228" y="106"/>
                    <a:pt x="225" y="105"/>
                  </a:cubicBezTo>
                  <a:cubicBezTo>
                    <a:pt x="221" y="103"/>
                    <a:pt x="219" y="100"/>
                    <a:pt x="218" y="96"/>
                  </a:cubicBezTo>
                  <a:cubicBezTo>
                    <a:pt x="217" y="93"/>
                    <a:pt x="217" y="89"/>
                    <a:pt x="219" y="85"/>
                  </a:cubicBezTo>
                  <a:cubicBezTo>
                    <a:pt x="221" y="82"/>
                    <a:pt x="223" y="80"/>
                    <a:pt x="227" y="78"/>
                  </a:cubicBezTo>
                  <a:cubicBezTo>
                    <a:pt x="229" y="78"/>
                    <a:pt x="230" y="78"/>
                    <a:pt x="231" y="78"/>
                  </a:cubicBezTo>
                  <a:cubicBezTo>
                    <a:pt x="234" y="78"/>
                    <a:pt x="236" y="78"/>
                    <a:pt x="238" y="79"/>
                  </a:cubicBezTo>
                  <a:cubicBezTo>
                    <a:pt x="241" y="81"/>
                    <a:pt x="244" y="84"/>
                    <a:pt x="245" y="88"/>
                  </a:cubicBezTo>
                  <a:cubicBezTo>
                    <a:pt x="246" y="91"/>
                    <a:pt x="246" y="95"/>
                    <a:pt x="244" y="99"/>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grpSp>
        <p:nvGrpSpPr>
          <p:cNvPr id="279" name="Group 965">
            <a:extLst>
              <a:ext uri="{FF2B5EF4-FFF2-40B4-BE49-F238E27FC236}">
                <a16:creationId xmlns:a16="http://schemas.microsoft.com/office/drawing/2014/main" id="{C8811CE5-5154-EDFC-1737-D6F668D842DB}"/>
              </a:ext>
            </a:extLst>
          </p:cNvPr>
          <p:cNvGrpSpPr>
            <a:grpSpLocks noChangeAspect="1"/>
          </p:cNvGrpSpPr>
          <p:nvPr/>
        </p:nvGrpSpPr>
        <p:grpSpPr bwMode="auto">
          <a:xfrm>
            <a:off x="2293136" y="3474095"/>
            <a:ext cx="367983" cy="369065"/>
            <a:chOff x="3319" y="4077"/>
            <a:chExt cx="340" cy="341"/>
          </a:xfrm>
          <a:solidFill>
            <a:sysClr val="window" lastClr="FFFFFF"/>
          </a:solidFill>
        </p:grpSpPr>
        <p:sp>
          <p:nvSpPr>
            <p:cNvPr id="280" name="Freeform 966">
              <a:extLst>
                <a:ext uri="{FF2B5EF4-FFF2-40B4-BE49-F238E27FC236}">
                  <a16:creationId xmlns:a16="http://schemas.microsoft.com/office/drawing/2014/main" id="{D1EC49F2-513B-F740-F54F-4D2395519320}"/>
                </a:ext>
              </a:extLst>
            </p:cNvPr>
            <p:cNvSpPr>
              <a:spLocks noEditPoints="1"/>
            </p:cNvSpPr>
            <p:nvPr/>
          </p:nvSpPr>
          <p:spPr bwMode="auto">
            <a:xfrm>
              <a:off x="3439" y="4141"/>
              <a:ext cx="99" cy="206"/>
            </a:xfrm>
            <a:custGeom>
              <a:avLst/>
              <a:gdLst>
                <a:gd name="T0" fmla="*/ 139 w 149"/>
                <a:gd name="T1" fmla="*/ 245 h 309"/>
                <a:gd name="T2" fmla="*/ 125 w 149"/>
                <a:gd name="T3" fmla="*/ 245 h 309"/>
                <a:gd name="T4" fmla="*/ 113 w 149"/>
                <a:gd name="T5" fmla="*/ 117 h 309"/>
                <a:gd name="T6" fmla="*/ 128 w 149"/>
                <a:gd name="T7" fmla="*/ 117 h 309"/>
                <a:gd name="T8" fmla="*/ 139 w 149"/>
                <a:gd name="T9" fmla="*/ 106 h 309"/>
                <a:gd name="T10" fmla="*/ 128 w 149"/>
                <a:gd name="T11" fmla="*/ 96 h 309"/>
                <a:gd name="T12" fmla="*/ 118 w 149"/>
                <a:gd name="T13" fmla="*/ 96 h 309"/>
                <a:gd name="T14" fmla="*/ 127 w 149"/>
                <a:gd name="T15" fmla="*/ 68 h 309"/>
                <a:gd name="T16" fmla="*/ 126 w 149"/>
                <a:gd name="T17" fmla="*/ 58 h 309"/>
                <a:gd name="T18" fmla="*/ 117 w 149"/>
                <a:gd name="T19" fmla="*/ 53 h 309"/>
                <a:gd name="T20" fmla="*/ 98 w 149"/>
                <a:gd name="T21" fmla="*/ 53 h 309"/>
                <a:gd name="T22" fmla="*/ 107 w 149"/>
                <a:gd name="T23" fmla="*/ 32 h 309"/>
                <a:gd name="T24" fmla="*/ 75 w 149"/>
                <a:gd name="T25" fmla="*/ 0 h 309"/>
                <a:gd name="T26" fmla="*/ 43 w 149"/>
                <a:gd name="T27" fmla="*/ 32 h 309"/>
                <a:gd name="T28" fmla="*/ 51 w 149"/>
                <a:gd name="T29" fmla="*/ 53 h 309"/>
                <a:gd name="T30" fmla="*/ 32 w 149"/>
                <a:gd name="T31" fmla="*/ 53 h 309"/>
                <a:gd name="T32" fmla="*/ 23 w 149"/>
                <a:gd name="T33" fmla="*/ 58 h 309"/>
                <a:gd name="T34" fmla="*/ 22 w 149"/>
                <a:gd name="T35" fmla="*/ 68 h 309"/>
                <a:gd name="T36" fmla="*/ 31 w 149"/>
                <a:gd name="T37" fmla="*/ 96 h 309"/>
                <a:gd name="T38" fmla="*/ 21 w 149"/>
                <a:gd name="T39" fmla="*/ 96 h 309"/>
                <a:gd name="T40" fmla="*/ 11 w 149"/>
                <a:gd name="T41" fmla="*/ 106 h 309"/>
                <a:gd name="T42" fmla="*/ 21 w 149"/>
                <a:gd name="T43" fmla="*/ 117 h 309"/>
                <a:gd name="T44" fmla="*/ 36 w 149"/>
                <a:gd name="T45" fmla="*/ 117 h 309"/>
                <a:gd name="T46" fmla="*/ 25 w 149"/>
                <a:gd name="T47" fmla="*/ 245 h 309"/>
                <a:gd name="T48" fmla="*/ 11 w 149"/>
                <a:gd name="T49" fmla="*/ 245 h 309"/>
                <a:gd name="T50" fmla="*/ 0 w 149"/>
                <a:gd name="T51" fmla="*/ 256 h 309"/>
                <a:gd name="T52" fmla="*/ 0 w 149"/>
                <a:gd name="T53" fmla="*/ 298 h 309"/>
                <a:gd name="T54" fmla="*/ 11 w 149"/>
                <a:gd name="T55" fmla="*/ 309 h 309"/>
                <a:gd name="T56" fmla="*/ 139 w 149"/>
                <a:gd name="T57" fmla="*/ 309 h 309"/>
                <a:gd name="T58" fmla="*/ 149 w 149"/>
                <a:gd name="T59" fmla="*/ 298 h 309"/>
                <a:gd name="T60" fmla="*/ 149 w 149"/>
                <a:gd name="T61" fmla="*/ 256 h 309"/>
                <a:gd name="T62" fmla="*/ 139 w 149"/>
                <a:gd name="T63" fmla="*/ 245 h 309"/>
                <a:gd name="T64" fmla="*/ 75 w 149"/>
                <a:gd name="T65" fmla="*/ 21 h 309"/>
                <a:gd name="T66" fmla="*/ 85 w 149"/>
                <a:gd name="T67" fmla="*/ 32 h 309"/>
                <a:gd name="T68" fmla="*/ 75 w 149"/>
                <a:gd name="T69" fmla="*/ 42 h 309"/>
                <a:gd name="T70" fmla="*/ 64 w 149"/>
                <a:gd name="T71" fmla="*/ 32 h 309"/>
                <a:gd name="T72" fmla="*/ 75 w 149"/>
                <a:gd name="T73" fmla="*/ 21 h 309"/>
                <a:gd name="T74" fmla="*/ 47 w 149"/>
                <a:gd name="T75" fmla="*/ 74 h 309"/>
                <a:gd name="T76" fmla="*/ 102 w 149"/>
                <a:gd name="T77" fmla="*/ 74 h 309"/>
                <a:gd name="T78" fmla="*/ 95 w 149"/>
                <a:gd name="T79" fmla="*/ 96 h 309"/>
                <a:gd name="T80" fmla="*/ 53 w 149"/>
                <a:gd name="T81" fmla="*/ 96 h 309"/>
                <a:gd name="T82" fmla="*/ 47 w 149"/>
                <a:gd name="T83" fmla="*/ 74 h 309"/>
                <a:gd name="T84" fmla="*/ 57 w 149"/>
                <a:gd name="T85" fmla="*/ 117 h 309"/>
                <a:gd name="T86" fmla="*/ 91 w 149"/>
                <a:gd name="T87" fmla="*/ 117 h 309"/>
                <a:gd name="T88" fmla="*/ 102 w 149"/>
                <a:gd name="T89" fmla="*/ 245 h 309"/>
                <a:gd name="T90" fmla="*/ 48 w 149"/>
                <a:gd name="T91" fmla="*/ 245 h 309"/>
                <a:gd name="T92" fmla="*/ 57 w 149"/>
                <a:gd name="T93" fmla="*/ 117 h 309"/>
                <a:gd name="T94" fmla="*/ 128 w 149"/>
                <a:gd name="T95" fmla="*/ 288 h 309"/>
                <a:gd name="T96" fmla="*/ 21 w 149"/>
                <a:gd name="T97" fmla="*/ 288 h 309"/>
                <a:gd name="T98" fmla="*/ 21 w 149"/>
                <a:gd name="T99" fmla="*/ 266 h 309"/>
                <a:gd name="T100" fmla="*/ 128 w 149"/>
                <a:gd name="T101" fmla="*/ 266 h 309"/>
                <a:gd name="T102" fmla="*/ 128 w 149"/>
                <a:gd name="T103" fmla="*/ 288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309">
                  <a:moveTo>
                    <a:pt x="139" y="245"/>
                  </a:moveTo>
                  <a:cubicBezTo>
                    <a:pt x="125" y="245"/>
                    <a:pt x="125" y="245"/>
                    <a:pt x="125" y="245"/>
                  </a:cubicBezTo>
                  <a:cubicBezTo>
                    <a:pt x="106" y="195"/>
                    <a:pt x="107" y="149"/>
                    <a:pt x="113" y="117"/>
                  </a:cubicBezTo>
                  <a:cubicBezTo>
                    <a:pt x="128" y="117"/>
                    <a:pt x="128" y="117"/>
                    <a:pt x="128" y="117"/>
                  </a:cubicBezTo>
                  <a:cubicBezTo>
                    <a:pt x="134" y="117"/>
                    <a:pt x="139" y="112"/>
                    <a:pt x="139" y="106"/>
                  </a:cubicBezTo>
                  <a:cubicBezTo>
                    <a:pt x="139" y="100"/>
                    <a:pt x="134" y="96"/>
                    <a:pt x="128" y="96"/>
                  </a:cubicBezTo>
                  <a:cubicBezTo>
                    <a:pt x="118" y="96"/>
                    <a:pt x="118" y="96"/>
                    <a:pt x="118" y="96"/>
                  </a:cubicBezTo>
                  <a:cubicBezTo>
                    <a:pt x="122" y="79"/>
                    <a:pt x="127" y="69"/>
                    <a:pt x="127" y="68"/>
                  </a:cubicBezTo>
                  <a:cubicBezTo>
                    <a:pt x="129" y="65"/>
                    <a:pt x="128" y="61"/>
                    <a:pt x="126" y="58"/>
                  </a:cubicBezTo>
                  <a:cubicBezTo>
                    <a:pt x="124" y="55"/>
                    <a:pt x="121" y="53"/>
                    <a:pt x="117" y="53"/>
                  </a:cubicBezTo>
                  <a:cubicBezTo>
                    <a:pt x="98" y="53"/>
                    <a:pt x="98" y="53"/>
                    <a:pt x="98" y="53"/>
                  </a:cubicBezTo>
                  <a:cubicBezTo>
                    <a:pt x="103" y="47"/>
                    <a:pt x="107" y="40"/>
                    <a:pt x="107" y="32"/>
                  </a:cubicBezTo>
                  <a:cubicBezTo>
                    <a:pt x="107" y="14"/>
                    <a:pt x="92" y="0"/>
                    <a:pt x="75" y="0"/>
                  </a:cubicBezTo>
                  <a:cubicBezTo>
                    <a:pt x="57" y="0"/>
                    <a:pt x="43" y="14"/>
                    <a:pt x="43" y="32"/>
                  </a:cubicBezTo>
                  <a:cubicBezTo>
                    <a:pt x="43" y="40"/>
                    <a:pt x="46" y="47"/>
                    <a:pt x="51" y="53"/>
                  </a:cubicBezTo>
                  <a:cubicBezTo>
                    <a:pt x="32" y="53"/>
                    <a:pt x="32" y="53"/>
                    <a:pt x="32" y="53"/>
                  </a:cubicBezTo>
                  <a:cubicBezTo>
                    <a:pt x="28" y="53"/>
                    <a:pt x="25" y="55"/>
                    <a:pt x="23" y="58"/>
                  </a:cubicBezTo>
                  <a:cubicBezTo>
                    <a:pt x="21" y="61"/>
                    <a:pt x="21" y="64"/>
                    <a:pt x="22" y="68"/>
                  </a:cubicBezTo>
                  <a:cubicBezTo>
                    <a:pt x="22" y="68"/>
                    <a:pt x="26" y="79"/>
                    <a:pt x="31" y="96"/>
                  </a:cubicBezTo>
                  <a:cubicBezTo>
                    <a:pt x="21" y="96"/>
                    <a:pt x="21" y="96"/>
                    <a:pt x="21" y="96"/>
                  </a:cubicBezTo>
                  <a:cubicBezTo>
                    <a:pt x="15" y="96"/>
                    <a:pt x="11" y="100"/>
                    <a:pt x="11" y="106"/>
                  </a:cubicBezTo>
                  <a:cubicBezTo>
                    <a:pt x="11" y="112"/>
                    <a:pt x="15" y="117"/>
                    <a:pt x="21" y="117"/>
                  </a:cubicBezTo>
                  <a:cubicBezTo>
                    <a:pt x="36" y="117"/>
                    <a:pt x="36" y="117"/>
                    <a:pt x="36" y="117"/>
                  </a:cubicBezTo>
                  <a:cubicBezTo>
                    <a:pt x="42" y="153"/>
                    <a:pt x="45" y="202"/>
                    <a:pt x="25" y="245"/>
                  </a:cubicBezTo>
                  <a:cubicBezTo>
                    <a:pt x="11" y="245"/>
                    <a:pt x="11" y="245"/>
                    <a:pt x="11" y="245"/>
                  </a:cubicBezTo>
                  <a:cubicBezTo>
                    <a:pt x="5" y="245"/>
                    <a:pt x="0" y="250"/>
                    <a:pt x="0" y="256"/>
                  </a:cubicBezTo>
                  <a:cubicBezTo>
                    <a:pt x="0" y="298"/>
                    <a:pt x="0" y="298"/>
                    <a:pt x="0" y="298"/>
                  </a:cubicBezTo>
                  <a:cubicBezTo>
                    <a:pt x="0" y="304"/>
                    <a:pt x="5" y="309"/>
                    <a:pt x="11" y="309"/>
                  </a:cubicBezTo>
                  <a:cubicBezTo>
                    <a:pt x="139" y="309"/>
                    <a:pt x="139" y="309"/>
                    <a:pt x="139" y="309"/>
                  </a:cubicBezTo>
                  <a:cubicBezTo>
                    <a:pt x="145" y="309"/>
                    <a:pt x="149" y="304"/>
                    <a:pt x="149" y="298"/>
                  </a:cubicBezTo>
                  <a:cubicBezTo>
                    <a:pt x="149" y="256"/>
                    <a:pt x="149" y="256"/>
                    <a:pt x="149" y="256"/>
                  </a:cubicBezTo>
                  <a:cubicBezTo>
                    <a:pt x="149" y="250"/>
                    <a:pt x="145" y="245"/>
                    <a:pt x="139" y="245"/>
                  </a:cubicBezTo>
                  <a:close/>
                  <a:moveTo>
                    <a:pt x="75" y="21"/>
                  </a:moveTo>
                  <a:cubicBezTo>
                    <a:pt x="81" y="21"/>
                    <a:pt x="85" y="26"/>
                    <a:pt x="85" y="32"/>
                  </a:cubicBezTo>
                  <a:cubicBezTo>
                    <a:pt x="85" y="38"/>
                    <a:pt x="81" y="42"/>
                    <a:pt x="75" y="42"/>
                  </a:cubicBezTo>
                  <a:cubicBezTo>
                    <a:pt x="69" y="42"/>
                    <a:pt x="64" y="38"/>
                    <a:pt x="64" y="32"/>
                  </a:cubicBezTo>
                  <a:cubicBezTo>
                    <a:pt x="64" y="26"/>
                    <a:pt x="69" y="21"/>
                    <a:pt x="75" y="21"/>
                  </a:cubicBezTo>
                  <a:close/>
                  <a:moveTo>
                    <a:pt x="47" y="74"/>
                  </a:moveTo>
                  <a:cubicBezTo>
                    <a:pt x="102" y="74"/>
                    <a:pt x="102" y="74"/>
                    <a:pt x="102" y="74"/>
                  </a:cubicBezTo>
                  <a:cubicBezTo>
                    <a:pt x="100" y="80"/>
                    <a:pt x="97" y="87"/>
                    <a:pt x="95" y="96"/>
                  </a:cubicBezTo>
                  <a:cubicBezTo>
                    <a:pt x="53" y="96"/>
                    <a:pt x="53" y="96"/>
                    <a:pt x="53" y="96"/>
                  </a:cubicBezTo>
                  <a:cubicBezTo>
                    <a:pt x="51" y="87"/>
                    <a:pt x="49" y="80"/>
                    <a:pt x="47" y="74"/>
                  </a:cubicBezTo>
                  <a:close/>
                  <a:moveTo>
                    <a:pt x="57" y="117"/>
                  </a:moveTo>
                  <a:cubicBezTo>
                    <a:pt x="91" y="117"/>
                    <a:pt x="91" y="117"/>
                    <a:pt x="91" y="117"/>
                  </a:cubicBezTo>
                  <a:cubicBezTo>
                    <a:pt x="86" y="150"/>
                    <a:pt x="85" y="195"/>
                    <a:pt x="102" y="245"/>
                  </a:cubicBezTo>
                  <a:cubicBezTo>
                    <a:pt x="48" y="245"/>
                    <a:pt x="48" y="245"/>
                    <a:pt x="48" y="245"/>
                  </a:cubicBezTo>
                  <a:cubicBezTo>
                    <a:pt x="66" y="201"/>
                    <a:pt x="64" y="153"/>
                    <a:pt x="57" y="117"/>
                  </a:cubicBezTo>
                  <a:close/>
                  <a:moveTo>
                    <a:pt x="128" y="288"/>
                  </a:moveTo>
                  <a:cubicBezTo>
                    <a:pt x="21" y="288"/>
                    <a:pt x="21" y="288"/>
                    <a:pt x="21" y="288"/>
                  </a:cubicBezTo>
                  <a:cubicBezTo>
                    <a:pt x="21" y="266"/>
                    <a:pt x="21" y="266"/>
                    <a:pt x="21" y="266"/>
                  </a:cubicBezTo>
                  <a:cubicBezTo>
                    <a:pt x="128" y="266"/>
                    <a:pt x="128" y="266"/>
                    <a:pt x="128" y="266"/>
                  </a:cubicBezTo>
                  <a:lnTo>
                    <a:pt x="128" y="28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81" name="Freeform 967">
              <a:extLst>
                <a:ext uri="{FF2B5EF4-FFF2-40B4-BE49-F238E27FC236}">
                  <a16:creationId xmlns:a16="http://schemas.microsoft.com/office/drawing/2014/main" id="{FBEB1E9E-A646-6C57-0AB9-94FE47B92FFE}"/>
                </a:ext>
              </a:extLst>
            </p:cNvPr>
            <p:cNvSpPr>
              <a:spLocks noEditPoints="1"/>
            </p:cNvSpPr>
            <p:nvPr/>
          </p:nvSpPr>
          <p:spPr bwMode="auto">
            <a:xfrm>
              <a:off x="3319" y="4077"/>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grpSp>
        <p:nvGrpSpPr>
          <p:cNvPr id="282" name="Group 526">
            <a:extLst>
              <a:ext uri="{FF2B5EF4-FFF2-40B4-BE49-F238E27FC236}">
                <a16:creationId xmlns:a16="http://schemas.microsoft.com/office/drawing/2014/main" id="{60204024-0AD2-6293-89FD-A97402B3B41A}"/>
              </a:ext>
            </a:extLst>
          </p:cNvPr>
          <p:cNvGrpSpPr>
            <a:grpSpLocks noChangeAspect="1"/>
          </p:cNvGrpSpPr>
          <p:nvPr/>
        </p:nvGrpSpPr>
        <p:grpSpPr bwMode="gray">
          <a:xfrm>
            <a:off x="4016073" y="3452112"/>
            <a:ext cx="369021" cy="369021"/>
            <a:chOff x="3464" y="1974"/>
            <a:chExt cx="340" cy="340"/>
          </a:xfrm>
          <a:solidFill>
            <a:sysClr val="window" lastClr="FFFFFF"/>
          </a:solidFill>
        </p:grpSpPr>
        <p:sp>
          <p:nvSpPr>
            <p:cNvPr id="283" name="Freeform 527">
              <a:extLst>
                <a:ext uri="{FF2B5EF4-FFF2-40B4-BE49-F238E27FC236}">
                  <a16:creationId xmlns:a16="http://schemas.microsoft.com/office/drawing/2014/main" id="{2927E71A-34DC-74B0-9939-13837FEE1A4D}"/>
                </a:ext>
              </a:extLst>
            </p:cNvPr>
            <p:cNvSpPr>
              <a:spLocks noEditPoints="1"/>
            </p:cNvSpPr>
            <p:nvPr/>
          </p:nvSpPr>
          <p:spPr bwMode="gray">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84" name="Freeform 528">
              <a:extLst>
                <a:ext uri="{FF2B5EF4-FFF2-40B4-BE49-F238E27FC236}">
                  <a16:creationId xmlns:a16="http://schemas.microsoft.com/office/drawing/2014/main" id="{BC20EEDD-5ADC-7B48-153B-B37DF79E4430}"/>
                </a:ext>
              </a:extLst>
            </p:cNvPr>
            <p:cNvSpPr>
              <a:spLocks noEditPoints="1"/>
            </p:cNvSpPr>
            <p:nvPr/>
          </p:nvSpPr>
          <p:spPr bwMode="gray">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grpSp>
        <p:nvGrpSpPr>
          <p:cNvPr id="293" name="Group 292">
            <a:extLst>
              <a:ext uri="{FF2B5EF4-FFF2-40B4-BE49-F238E27FC236}">
                <a16:creationId xmlns:a16="http://schemas.microsoft.com/office/drawing/2014/main" id="{E0857B9B-CFD1-7235-1D50-CAA5899B1E71}"/>
              </a:ext>
            </a:extLst>
          </p:cNvPr>
          <p:cNvGrpSpPr/>
          <p:nvPr/>
        </p:nvGrpSpPr>
        <p:grpSpPr>
          <a:xfrm>
            <a:off x="5936194" y="1066849"/>
            <a:ext cx="2532746" cy="1065542"/>
            <a:chOff x="5926190" y="1341169"/>
            <a:chExt cx="2532746" cy="1065542"/>
          </a:xfrm>
        </p:grpSpPr>
        <p:sp>
          <p:nvSpPr>
            <p:cNvPr id="294" name="Rectangle 293">
              <a:extLst>
                <a:ext uri="{FF2B5EF4-FFF2-40B4-BE49-F238E27FC236}">
                  <a16:creationId xmlns:a16="http://schemas.microsoft.com/office/drawing/2014/main" id="{FB5B2609-28A3-02DF-BDF3-DB2E81BF11BE}"/>
                </a:ext>
              </a:extLst>
            </p:cNvPr>
            <p:cNvSpPr/>
            <p:nvPr/>
          </p:nvSpPr>
          <p:spPr bwMode="gray">
            <a:xfrm>
              <a:off x="5966283" y="1341169"/>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Ministry of Power, </a:t>
              </a:r>
            </a:p>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Government of India</a:t>
              </a:r>
            </a:p>
          </p:txBody>
        </p:sp>
        <p:sp>
          <p:nvSpPr>
            <p:cNvPr id="295" name="Rectangle 294">
              <a:extLst>
                <a:ext uri="{FF2B5EF4-FFF2-40B4-BE49-F238E27FC236}">
                  <a16:creationId xmlns:a16="http://schemas.microsoft.com/office/drawing/2014/main" id="{3FBE4E86-9348-1303-64F8-54AFCDEEF7D9}"/>
                </a:ext>
              </a:extLst>
            </p:cNvPr>
            <p:cNvSpPr/>
            <p:nvPr/>
          </p:nvSpPr>
          <p:spPr bwMode="gray">
            <a:xfrm>
              <a:off x="5966282" y="1766838"/>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Privatization of power distribution function of electricity department of Union Territories in India</a:t>
              </a:r>
            </a:p>
          </p:txBody>
        </p:sp>
        <p:sp>
          <p:nvSpPr>
            <p:cNvPr id="296" name="Half Frame 295">
              <a:extLst>
                <a:ext uri="{FF2B5EF4-FFF2-40B4-BE49-F238E27FC236}">
                  <a16:creationId xmlns:a16="http://schemas.microsoft.com/office/drawing/2014/main" id="{18A54226-CBFF-E871-BD55-A25FE875F085}"/>
                </a:ext>
              </a:extLst>
            </p:cNvPr>
            <p:cNvSpPr/>
            <p:nvPr/>
          </p:nvSpPr>
          <p:spPr bwMode="gray">
            <a:xfrm rot="10800000">
              <a:off x="8189555" y="2123811"/>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97" name="Half Frame 296">
              <a:extLst>
                <a:ext uri="{FF2B5EF4-FFF2-40B4-BE49-F238E27FC236}">
                  <a16:creationId xmlns:a16="http://schemas.microsoft.com/office/drawing/2014/main" id="{48B56BDF-2F1B-9094-3CE5-BF580E1F082A}"/>
                </a:ext>
              </a:extLst>
            </p:cNvPr>
            <p:cNvSpPr/>
            <p:nvPr/>
          </p:nvSpPr>
          <p:spPr bwMode="gray">
            <a:xfrm rot="16200000">
              <a:off x="5923934" y="2126066"/>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grpSp>
      <p:sp>
        <p:nvSpPr>
          <p:cNvPr id="299" name="Rectangle 298">
            <a:extLst>
              <a:ext uri="{FF2B5EF4-FFF2-40B4-BE49-F238E27FC236}">
                <a16:creationId xmlns:a16="http://schemas.microsoft.com/office/drawing/2014/main" id="{6515A740-84DB-EE08-CA3E-6F28A7A84C82}"/>
              </a:ext>
            </a:extLst>
          </p:cNvPr>
          <p:cNvSpPr/>
          <p:nvPr/>
        </p:nvSpPr>
        <p:spPr bwMode="gray">
          <a:xfrm>
            <a:off x="9080934" y="3738673"/>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MSERC, Meghalaya  India</a:t>
            </a:r>
          </a:p>
        </p:txBody>
      </p:sp>
      <p:sp>
        <p:nvSpPr>
          <p:cNvPr id="300" name="Rectangle 299">
            <a:extLst>
              <a:ext uri="{FF2B5EF4-FFF2-40B4-BE49-F238E27FC236}">
                <a16:creationId xmlns:a16="http://schemas.microsoft.com/office/drawing/2014/main" id="{EF08DDBC-4760-377A-F7BC-AD02D5F6DB7E}"/>
              </a:ext>
            </a:extLst>
          </p:cNvPr>
          <p:cNvSpPr/>
          <p:nvPr/>
        </p:nvSpPr>
        <p:spPr bwMode="gray">
          <a:xfrm>
            <a:off x="9128605" y="4164342"/>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Regulatory Support Meghalaya State Electricity Regulatory Commission</a:t>
            </a:r>
          </a:p>
        </p:txBody>
      </p:sp>
      <p:sp>
        <p:nvSpPr>
          <p:cNvPr id="301" name="Half Frame 300">
            <a:extLst>
              <a:ext uri="{FF2B5EF4-FFF2-40B4-BE49-F238E27FC236}">
                <a16:creationId xmlns:a16="http://schemas.microsoft.com/office/drawing/2014/main" id="{4F6621EF-119E-3DDE-1264-1ED1522D1D1D}"/>
              </a:ext>
            </a:extLst>
          </p:cNvPr>
          <p:cNvSpPr/>
          <p:nvPr/>
        </p:nvSpPr>
        <p:spPr bwMode="gray">
          <a:xfrm rot="10800000">
            <a:off x="11304206" y="4521315"/>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02" name="Half Frame 301">
            <a:extLst>
              <a:ext uri="{FF2B5EF4-FFF2-40B4-BE49-F238E27FC236}">
                <a16:creationId xmlns:a16="http://schemas.microsoft.com/office/drawing/2014/main" id="{3E52B34B-FC19-4DDC-DBB4-8951A48D5C04}"/>
              </a:ext>
            </a:extLst>
          </p:cNvPr>
          <p:cNvSpPr/>
          <p:nvPr/>
        </p:nvSpPr>
        <p:spPr bwMode="gray">
          <a:xfrm rot="16200000">
            <a:off x="9038584" y="4523570"/>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08" name="Rectangle 307">
            <a:extLst>
              <a:ext uri="{FF2B5EF4-FFF2-40B4-BE49-F238E27FC236}">
                <a16:creationId xmlns:a16="http://schemas.microsoft.com/office/drawing/2014/main" id="{ABB61A86-2B28-73EF-1E1B-85893DB3098E}"/>
              </a:ext>
            </a:extLst>
          </p:cNvPr>
          <p:cNvSpPr/>
          <p:nvPr/>
        </p:nvSpPr>
        <p:spPr bwMode="gray">
          <a:xfrm>
            <a:off x="5896101" y="5047770"/>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Bangladesh Power Development </a:t>
            </a:r>
          </a:p>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Board</a:t>
            </a:r>
          </a:p>
        </p:txBody>
      </p:sp>
      <p:sp>
        <p:nvSpPr>
          <p:cNvPr id="309" name="Rectangle 308">
            <a:extLst>
              <a:ext uri="{FF2B5EF4-FFF2-40B4-BE49-F238E27FC236}">
                <a16:creationId xmlns:a16="http://schemas.microsoft.com/office/drawing/2014/main" id="{D076B3F2-A8EE-D4ED-BD3E-B3E8A4AA5A2D}"/>
              </a:ext>
            </a:extLst>
          </p:cNvPr>
          <p:cNvSpPr/>
          <p:nvPr/>
        </p:nvSpPr>
        <p:spPr bwMode="gray">
          <a:xfrm>
            <a:off x="5896100" y="5473439"/>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Reform of Bangladesh Power Development Board as a Holding Company</a:t>
            </a:r>
          </a:p>
        </p:txBody>
      </p:sp>
      <p:sp>
        <p:nvSpPr>
          <p:cNvPr id="310" name="Half Frame 309">
            <a:extLst>
              <a:ext uri="{FF2B5EF4-FFF2-40B4-BE49-F238E27FC236}">
                <a16:creationId xmlns:a16="http://schemas.microsoft.com/office/drawing/2014/main" id="{15F379B4-1F84-8F77-5A56-F2D45D3C0773}"/>
              </a:ext>
            </a:extLst>
          </p:cNvPr>
          <p:cNvSpPr/>
          <p:nvPr/>
        </p:nvSpPr>
        <p:spPr bwMode="gray">
          <a:xfrm rot="16200000">
            <a:off x="5853752" y="5832667"/>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pic>
        <p:nvPicPr>
          <p:cNvPr id="315" name="Picture 92" descr="Bangladesh Power Development Board (BPDB) | LinkedIn">
            <a:extLst>
              <a:ext uri="{FF2B5EF4-FFF2-40B4-BE49-F238E27FC236}">
                <a16:creationId xmlns:a16="http://schemas.microsoft.com/office/drawing/2014/main" id="{FD24812C-E243-7BD2-DB52-010C3E8944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0208" y="5062856"/>
            <a:ext cx="358481" cy="358481"/>
          </a:xfrm>
          <a:prstGeom prst="rect">
            <a:avLst/>
          </a:prstGeom>
          <a:noFill/>
          <a:extLst>
            <a:ext uri="{909E8E84-426E-40DD-AFC4-6F175D3DCCD1}">
              <a14:hiddenFill xmlns:a14="http://schemas.microsoft.com/office/drawing/2010/main">
                <a:solidFill>
                  <a:srgbClr val="FFFFFF"/>
                </a:solidFill>
              </a14:hiddenFill>
            </a:ext>
          </a:extLst>
        </p:spPr>
      </p:pic>
      <p:sp>
        <p:nvSpPr>
          <p:cNvPr id="316" name="Half Frame 315">
            <a:extLst>
              <a:ext uri="{FF2B5EF4-FFF2-40B4-BE49-F238E27FC236}">
                <a16:creationId xmlns:a16="http://schemas.microsoft.com/office/drawing/2014/main" id="{4C86FB85-F4F4-E807-13A3-9729911EF2E7}"/>
              </a:ext>
            </a:extLst>
          </p:cNvPr>
          <p:cNvSpPr/>
          <p:nvPr/>
        </p:nvSpPr>
        <p:spPr bwMode="gray">
          <a:xfrm rot="10800000">
            <a:off x="8117807" y="5809261"/>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pic>
        <p:nvPicPr>
          <p:cNvPr id="318" name="Picture 13" descr="Ministry of Power (@MinOfPower) | Twitter">
            <a:extLst>
              <a:ext uri="{FF2B5EF4-FFF2-40B4-BE49-F238E27FC236}">
                <a16:creationId xmlns:a16="http://schemas.microsoft.com/office/drawing/2014/main" id="{6772063F-9ADC-CFE1-CBBD-3C753E103B7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899" t="13852" r="17583" b="12819"/>
          <a:stretch/>
        </p:blipFill>
        <p:spPr bwMode="auto">
          <a:xfrm>
            <a:off x="6080143" y="1072217"/>
            <a:ext cx="337325" cy="377529"/>
          </a:xfrm>
          <a:prstGeom prst="rect">
            <a:avLst/>
          </a:prstGeom>
          <a:noFill/>
          <a:extLst>
            <a:ext uri="{909E8E84-426E-40DD-AFC4-6F175D3DCCD1}">
              <a14:hiddenFill xmlns:a14="http://schemas.microsoft.com/office/drawing/2010/main">
                <a:solidFill>
                  <a:srgbClr val="FFFFFF"/>
                </a:solidFill>
              </a14:hiddenFill>
            </a:ext>
          </a:extLst>
        </p:spPr>
      </p:pic>
      <p:sp>
        <p:nvSpPr>
          <p:cNvPr id="321" name="Half Frame 320">
            <a:extLst>
              <a:ext uri="{FF2B5EF4-FFF2-40B4-BE49-F238E27FC236}">
                <a16:creationId xmlns:a16="http://schemas.microsoft.com/office/drawing/2014/main" id="{778BF4A6-E828-D2C5-DE18-4B8C3718E5CA}"/>
              </a:ext>
            </a:extLst>
          </p:cNvPr>
          <p:cNvSpPr/>
          <p:nvPr/>
        </p:nvSpPr>
        <p:spPr bwMode="gray">
          <a:xfrm rot="10800000">
            <a:off x="7954884" y="436671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22" name="Rectangle 321">
            <a:extLst>
              <a:ext uri="{FF2B5EF4-FFF2-40B4-BE49-F238E27FC236}">
                <a16:creationId xmlns:a16="http://schemas.microsoft.com/office/drawing/2014/main" id="{5FE12D86-340E-3916-ED2F-8BEF5DB07C1D}"/>
              </a:ext>
            </a:extLst>
          </p:cNvPr>
          <p:cNvSpPr/>
          <p:nvPr/>
        </p:nvSpPr>
        <p:spPr bwMode="gray">
          <a:xfrm>
            <a:off x="5936194" y="3736475"/>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WBSEDCL, India</a:t>
            </a:r>
          </a:p>
        </p:txBody>
      </p:sp>
      <p:sp>
        <p:nvSpPr>
          <p:cNvPr id="323" name="Rectangle 322">
            <a:extLst>
              <a:ext uri="{FF2B5EF4-FFF2-40B4-BE49-F238E27FC236}">
                <a16:creationId xmlns:a16="http://schemas.microsoft.com/office/drawing/2014/main" id="{5EA8E987-ADA5-852E-ECA9-72A4A7E74325}"/>
              </a:ext>
            </a:extLst>
          </p:cNvPr>
          <p:cNvSpPr/>
          <p:nvPr/>
        </p:nvSpPr>
        <p:spPr bwMode="gray">
          <a:xfrm>
            <a:off x="5884011" y="4162144"/>
            <a:ext cx="2492653" cy="583638"/>
          </a:xfrm>
          <a:prstGeom prst="rect">
            <a:avLst/>
          </a:prstGeom>
          <a:pattFill prst="pct10">
            <a:fgClr>
              <a:srgbClr val="E3E48D"/>
            </a:fgClr>
            <a:bgClr>
              <a:sysClr val="window" lastClr="FFFFFF"/>
            </a:bgClr>
          </a:patt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Tariff Regulatory Support to West Bengal State Electricity Distribution Company Limited</a:t>
            </a:r>
          </a:p>
        </p:txBody>
      </p:sp>
      <p:sp>
        <p:nvSpPr>
          <p:cNvPr id="324" name="Half Frame 323">
            <a:extLst>
              <a:ext uri="{FF2B5EF4-FFF2-40B4-BE49-F238E27FC236}">
                <a16:creationId xmlns:a16="http://schemas.microsoft.com/office/drawing/2014/main" id="{8DA93A36-57E2-C163-1E0C-4CAE73A027CF}"/>
              </a:ext>
            </a:extLst>
          </p:cNvPr>
          <p:cNvSpPr/>
          <p:nvPr/>
        </p:nvSpPr>
        <p:spPr bwMode="gray">
          <a:xfrm rot="10800000">
            <a:off x="8159466" y="451911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25" name="Half Frame 324">
            <a:extLst>
              <a:ext uri="{FF2B5EF4-FFF2-40B4-BE49-F238E27FC236}">
                <a16:creationId xmlns:a16="http://schemas.microsoft.com/office/drawing/2014/main" id="{7889E75E-6036-AFFB-4B30-AE8E8464FD97}"/>
              </a:ext>
            </a:extLst>
          </p:cNvPr>
          <p:cNvSpPr/>
          <p:nvPr/>
        </p:nvSpPr>
        <p:spPr bwMode="gray">
          <a:xfrm rot="16200000">
            <a:off x="5893844" y="4521372"/>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27" name="Rectangle 326">
            <a:extLst>
              <a:ext uri="{FF2B5EF4-FFF2-40B4-BE49-F238E27FC236}">
                <a16:creationId xmlns:a16="http://schemas.microsoft.com/office/drawing/2014/main" id="{4CD14C42-8EEA-76E0-DBBB-0884FD3E91FA}"/>
              </a:ext>
            </a:extLst>
          </p:cNvPr>
          <p:cNvSpPr/>
          <p:nvPr/>
        </p:nvSpPr>
        <p:spPr bwMode="gray">
          <a:xfrm>
            <a:off x="9093203" y="2365349"/>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lang="en-US" sz="700" b="1" kern="0">
                <a:solidFill>
                  <a:prstClr val="white"/>
                </a:solidFill>
                <a:latin typeface="Verdana" panose="020B0604030504040204" pitchFamily="34" charset="0"/>
                <a:ea typeface="Verdana" panose="020B0604030504040204" pitchFamily="34" charset="0"/>
              </a:rPr>
              <a:t>WBSETCL, India </a:t>
            </a:r>
            <a:endPar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endParaRPr>
          </a:p>
        </p:txBody>
      </p:sp>
      <p:sp>
        <p:nvSpPr>
          <p:cNvPr id="328" name="Rectangle 327">
            <a:extLst>
              <a:ext uri="{FF2B5EF4-FFF2-40B4-BE49-F238E27FC236}">
                <a16:creationId xmlns:a16="http://schemas.microsoft.com/office/drawing/2014/main" id="{FBB38553-42D9-2AAC-8E8A-4B5633B996C9}"/>
              </a:ext>
            </a:extLst>
          </p:cNvPr>
          <p:cNvSpPr/>
          <p:nvPr/>
        </p:nvSpPr>
        <p:spPr bwMode="gray">
          <a:xfrm>
            <a:off x="9140874" y="2791018"/>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Tariff Regulatory Support to West Bengal State Electricity Transmission Company</a:t>
            </a:r>
          </a:p>
        </p:txBody>
      </p:sp>
      <p:sp>
        <p:nvSpPr>
          <p:cNvPr id="329" name="Half Frame 328">
            <a:extLst>
              <a:ext uri="{FF2B5EF4-FFF2-40B4-BE49-F238E27FC236}">
                <a16:creationId xmlns:a16="http://schemas.microsoft.com/office/drawing/2014/main" id="{0823921A-43D5-43D6-67A8-3302B79F9FB2}"/>
              </a:ext>
            </a:extLst>
          </p:cNvPr>
          <p:cNvSpPr/>
          <p:nvPr/>
        </p:nvSpPr>
        <p:spPr bwMode="gray">
          <a:xfrm rot="10800000">
            <a:off x="11316475" y="3147991"/>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30" name="Half Frame 329">
            <a:extLst>
              <a:ext uri="{FF2B5EF4-FFF2-40B4-BE49-F238E27FC236}">
                <a16:creationId xmlns:a16="http://schemas.microsoft.com/office/drawing/2014/main" id="{EAB0CC1E-267A-7D27-EB12-E8B4DF02CEA5}"/>
              </a:ext>
            </a:extLst>
          </p:cNvPr>
          <p:cNvSpPr/>
          <p:nvPr/>
        </p:nvSpPr>
        <p:spPr bwMode="gray">
          <a:xfrm rot="16200000">
            <a:off x="9050853" y="3150246"/>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32" name="Half Frame 331">
            <a:extLst>
              <a:ext uri="{FF2B5EF4-FFF2-40B4-BE49-F238E27FC236}">
                <a16:creationId xmlns:a16="http://schemas.microsoft.com/office/drawing/2014/main" id="{20757A55-93AA-F456-938E-E111230DC7F9}"/>
              </a:ext>
            </a:extLst>
          </p:cNvPr>
          <p:cNvSpPr/>
          <p:nvPr/>
        </p:nvSpPr>
        <p:spPr bwMode="gray">
          <a:xfrm rot="10800000">
            <a:off x="8013865" y="299286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33" name="Rectangle 332">
            <a:extLst>
              <a:ext uri="{FF2B5EF4-FFF2-40B4-BE49-F238E27FC236}">
                <a16:creationId xmlns:a16="http://schemas.microsoft.com/office/drawing/2014/main" id="{20DEAFAF-8DCA-1F6C-49A1-80B972C17A8C}"/>
              </a:ext>
            </a:extLst>
          </p:cNvPr>
          <p:cNvSpPr/>
          <p:nvPr/>
        </p:nvSpPr>
        <p:spPr bwMode="gray">
          <a:xfrm>
            <a:off x="5995175" y="2362625"/>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APGCL, Assam, India</a:t>
            </a:r>
          </a:p>
        </p:txBody>
      </p:sp>
      <p:sp>
        <p:nvSpPr>
          <p:cNvPr id="334" name="Rectangle 333">
            <a:extLst>
              <a:ext uri="{FF2B5EF4-FFF2-40B4-BE49-F238E27FC236}">
                <a16:creationId xmlns:a16="http://schemas.microsoft.com/office/drawing/2014/main" id="{E08208D1-0902-791E-61B1-36F8AC97AFD3}"/>
              </a:ext>
            </a:extLst>
          </p:cNvPr>
          <p:cNvSpPr/>
          <p:nvPr/>
        </p:nvSpPr>
        <p:spPr bwMode="gray">
          <a:xfrm>
            <a:off x="5942992" y="2788294"/>
            <a:ext cx="2492653" cy="583638"/>
          </a:xfrm>
          <a:prstGeom prst="rect">
            <a:avLst/>
          </a:prstGeom>
          <a:pattFill prst="pct10">
            <a:fgClr>
              <a:srgbClr val="E3E48D"/>
            </a:fgClr>
            <a:bgClr>
              <a:sysClr val="window" lastClr="FFFFFF"/>
            </a:bgClr>
          </a:patt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1"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Regulatory Consultancy Services for Tariff filing to Assam Power Generation Corporation Ltd (APGCL)</a:t>
            </a:r>
          </a:p>
        </p:txBody>
      </p:sp>
      <p:sp>
        <p:nvSpPr>
          <p:cNvPr id="335" name="Half Frame 334">
            <a:extLst>
              <a:ext uri="{FF2B5EF4-FFF2-40B4-BE49-F238E27FC236}">
                <a16:creationId xmlns:a16="http://schemas.microsoft.com/office/drawing/2014/main" id="{05F3543B-3CF4-87AD-0D5F-BFB0A2EA5FE1}"/>
              </a:ext>
            </a:extLst>
          </p:cNvPr>
          <p:cNvSpPr/>
          <p:nvPr/>
        </p:nvSpPr>
        <p:spPr bwMode="gray">
          <a:xfrm rot="10800000">
            <a:off x="8218447" y="314526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36" name="Half Frame 335">
            <a:extLst>
              <a:ext uri="{FF2B5EF4-FFF2-40B4-BE49-F238E27FC236}">
                <a16:creationId xmlns:a16="http://schemas.microsoft.com/office/drawing/2014/main" id="{CAEB98B9-B74F-A4E8-6BD2-B3DCA862748F}"/>
              </a:ext>
            </a:extLst>
          </p:cNvPr>
          <p:cNvSpPr/>
          <p:nvPr/>
        </p:nvSpPr>
        <p:spPr bwMode="gray">
          <a:xfrm rot="16200000">
            <a:off x="5952825" y="3147522"/>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38" name="Rectangle 337">
            <a:extLst>
              <a:ext uri="{FF2B5EF4-FFF2-40B4-BE49-F238E27FC236}">
                <a16:creationId xmlns:a16="http://schemas.microsoft.com/office/drawing/2014/main" id="{BC96B4BD-0B07-BB61-F8AE-26B17FFD6332}"/>
              </a:ext>
            </a:extLst>
          </p:cNvPr>
          <p:cNvSpPr/>
          <p:nvPr/>
        </p:nvSpPr>
        <p:spPr bwMode="gray">
          <a:xfrm>
            <a:off x="9081079" y="5050974"/>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WBSEDCL, India </a:t>
            </a:r>
          </a:p>
        </p:txBody>
      </p:sp>
      <p:sp>
        <p:nvSpPr>
          <p:cNvPr id="339" name="Rectangle 338">
            <a:extLst>
              <a:ext uri="{FF2B5EF4-FFF2-40B4-BE49-F238E27FC236}">
                <a16:creationId xmlns:a16="http://schemas.microsoft.com/office/drawing/2014/main" id="{74B14D93-611A-63BC-656F-17418CDC0972}"/>
              </a:ext>
            </a:extLst>
          </p:cNvPr>
          <p:cNvSpPr/>
          <p:nvPr/>
        </p:nvSpPr>
        <p:spPr bwMode="gray">
          <a:xfrm>
            <a:off x="9128750" y="5476643"/>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Advisory Services for Preparation of MYT Petition to West Bengal State Electricity Distribution Company Limited </a:t>
            </a:r>
          </a:p>
        </p:txBody>
      </p:sp>
      <p:sp>
        <p:nvSpPr>
          <p:cNvPr id="340" name="Half Frame 339">
            <a:extLst>
              <a:ext uri="{FF2B5EF4-FFF2-40B4-BE49-F238E27FC236}">
                <a16:creationId xmlns:a16="http://schemas.microsoft.com/office/drawing/2014/main" id="{045022EA-651B-72BE-8AE5-4C8934212E9F}"/>
              </a:ext>
            </a:extLst>
          </p:cNvPr>
          <p:cNvSpPr/>
          <p:nvPr/>
        </p:nvSpPr>
        <p:spPr bwMode="gray">
          <a:xfrm rot="10800000">
            <a:off x="11304351" y="5833616"/>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41" name="Half Frame 340">
            <a:extLst>
              <a:ext uri="{FF2B5EF4-FFF2-40B4-BE49-F238E27FC236}">
                <a16:creationId xmlns:a16="http://schemas.microsoft.com/office/drawing/2014/main" id="{EC7409CA-3B59-633F-0952-8C814E1AC427}"/>
              </a:ext>
            </a:extLst>
          </p:cNvPr>
          <p:cNvSpPr/>
          <p:nvPr/>
        </p:nvSpPr>
        <p:spPr bwMode="gray">
          <a:xfrm rot="16200000">
            <a:off x="9038729" y="5835871"/>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43" name="Rectangle 342">
            <a:extLst>
              <a:ext uri="{FF2B5EF4-FFF2-40B4-BE49-F238E27FC236}">
                <a16:creationId xmlns:a16="http://schemas.microsoft.com/office/drawing/2014/main" id="{BD391ECC-905A-FB6A-B700-9ACB7EA13C17}"/>
              </a:ext>
            </a:extLst>
          </p:cNvPr>
          <p:cNvSpPr/>
          <p:nvPr/>
        </p:nvSpPr>
        <p:spPr bwMode="gray">
          <a:xfrm>
            <a:off x="9099212" y="1070467"/>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Department of Power, </a:t>
            </a:r>
          </a:p>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7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West Bengal, India </a:t>
            </a:r>
          </a:p>
        </p:txBody>
      </p:sp>
      <p:sp>
        <p:nvSpPr>
          <p:cNvPr id="344" name="Rectangle 343">
            <a:extLst>
              <a:ext uri="{FF2B5EF4-FFF2-40B4-BE49-F238E27FC236}">
                <a16:creationId xmlns:a16="http://schemas.microsoft.com/office/drawing/2014/main" id="{C85BAB1B-3ACF-053D-584F-B050094C28C3}"/>
              </a:ext>
            </a:extLst>
          </p:cNvPr>
          <p:cNvSpPr/>
          <p:nvPr/>
        </p:nvSpPr>
        <p:spPr bwMode="gray">
          <a:xfrm>
            <a:off x="9146883" y="1496136"/>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Strategic Planning Unit for the Department of Power, Government of West Bengal </a:t>
            </a:r>
          </a:p>
        </p:txBody>
      </p:sp>
      <p:sp>
        <p:nvSpPr>
          <p:cNvPr id="345" name="Half Frame 344">
            <a:extLst>
              <a:ext uri="{FF2B5EF4-FFF2-40B4-BE49-F238E27FC236}">
                <a16:creationId xmlns:a16="http://schemas.microsoft.com/office/drawing/2014/main" id="{308318AE-85EC-58AA-CD60-5D841F446890}"/>
              </a:ext>
            </a:extLst>
          </p:cNvPr>
          <p:cNvSpPr/>
          <p:nvPr/>
        </p:nvSpPr>
        <p:spPr bwMode="gray">
          <a:xfrm rot="10800000">
            <a:off x="11322484" y="1853109"/>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46" name="Half Frame 345">
            <a:extLst>
              <a:ext uri="{FF2B5EF4-FFF2-40B4-BE49-F238E27FC236}">
                <a16:creationId xmlns:a16="http://schemas.microsoft.com/office/drawing/2014/main" id="{FEBFD040-5D52-4C78-A1D5-094B5AEF9C45}"/>
              </a:ext>
            </a:extLst>
          </p:cNvPr>
          <p:cNvSpPr/>
          <p:nvPr/>
        </p:nvSpPr>
        <p:spPr bwMode="gray">
          <a:xfrm rot="16200000">
            <a:off x="9056862" y="1855364"/>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7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pic>
        <p:nvPicPr>
          <p:cNvPr id="5122" name="Picture 2" descr="WBSEDCL (@WBSEDCL1) / X">
            <a:extLst>
              <a:ext uri="{FF2B5EF4-FFF2-40B4-BE49-F238E27FC236}">
                <a16:creationId xmlns:a16="http://schemas.microsoft.com/office/drawing/2014/main" id="{BE8629BD-C953-BDE2-40B0-BD2DFE32FE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3020" y="3738673"/>
            <a:ext cx="398821" cy="39882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West Bengal State Electricity ...">
            <a:extLst>
              <a:ext uri="{FF2B5EF4-FFF2-40B4-BE49-F238E27FC236}">
                <a16:creationId xmlns:a16="http://schemas.microsoft.com/office/drawing/2014/main" id="{E25D8D3B-C91A-18FE-71D3-19DC56D71B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36388" y="2377723"/>
            <a:ext cx="378469" cy="378469"/>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Assam Power Generation Corporation Limited">
            <a:extLst>
              <a:ext uri="{FF2B5EF4-FFF2-40B4-BE49-F238E27FC236}">
                <a16:creationId xmlns:a16="http://schemas.microsoft.com/office/drawing/2014/main" id="{34BEBECC-A339-4873-9095-3D5610A726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58916" y="2366315"/>
            <a:ext cx="332145" cy="382999"/>
          </a:xfrm>
          <a:prstGeom prst="rect">
            <a:avLst/>
          </a:prstGeom>
          <a:noFill/>
          <a:extLst>
            <a:ext uri="{909E8E84-426E-40DD-AFC4-6F175D3DCCD1}">
              <a14:hiddenFill xmlns:a14="http://schemas.microsoft.com/office/drawing/2010/main">
                <a:solidFill>
                  <a:srgbClr val="FFFFFF"/>
                </a:solidFill>
              </a14:hiddenFill>
            </a:ext>
          </a:extLst>
        </p:spPr>
      </p:pic>
      <p:pic>
        <p:nvPicPr>
          <p:cNvPr id="350" name="Picture 2" descr="WBSEDCL (@WBSEDCL1) / X">
            <a:extLst>
              <a:ext uri="{FF2B5EF4-FFF2-40B4-BE49-F238E27FC236}">
                <a16:creationId xmlns:a16="http://schemas.microsoft.com/office/drawing/2014/main" id="{72C4B3A5-84D6-16EF-8DDF-4209E1C447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91331" y="5055371"/>
            <a:ext cx="398821" cy="398821"/>
          </a:xfrm>
          <a:prstGeom prst="rect">
            <a:avLst/>
          </a:prstGeom>
          <a:noFill/>
          <a:extLst>
            <a:ext uri="{909E8E84-426E-40DD-AFC4-6F175D3DCCD1}">
              <a14:hiddenFill xmlns:a14="http://schemas.microsoft.com/office/drawing/2010/main">
                <a:solidFill>
                  <a:srgbClr val="FFFFFF"/>
                </a:solidFill>
              </a14:hiddenFill>
            </a:ext>
          </a:extLst>
        </p:spPr>
      </p:pic>
      <p:pic>
        <p:nvPicPr>
          <p:cNvPr id="352" name="Picture 351">
            <a:extLst>
              <a:ext uri="{FF2B5EF4-FFF2-40B4-BE49-F238E27FC236}">
                <a16:creationId xmlns:a16="http://schemas.microsoft.com/office/drawing/2014/main" id="{356402B9-71E5-6740-8CFF-543778EC64EF}"/>
              </a:ext>
            </a:extLst>
          </p:cNvPr>
          <p:cNvPicPr>
            <a:picLocks noChangeAspect="1"/>
          </p:cNvPicPr>
          <p:nvPr/>
        </p:nvPicPr>
        <p:blipFill>
          <a:blip r:embed="rId9"/>
          <a:stretch>
            <a:fillRect/>
          </a:stretch>
        </p:blipFill>
        <p:spPr>
          <a:xfrm>
            <a:off x="9173371" y="1094359"/>
            <a:ext cx="269105" cy="367432"/>
          </a:xfrm>
          <a:prstGeom prst="rect">
            <a:avLst/>
          </a:prstGeom>
        </p:spPr>
      </p:pic>
      <p:pic>
        <p:nvPicPr>
          <p:cNvPr id="5130" name="Picture 10" descr="CER - Centre for Energy Regulation">
            <a:extLst>
              <a:ext uri="{FF2B5EF4-FFF2-40B4-BE49-F238E27FC236}">
                <a16:creationId xmlns:a16="http://schemas.microsoft.com/office/drawing/2014/main" id="{2CCDA27F-86A0-81DC-415E-836C1161416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98221" y="3796910"/>
            <a:ext cx="359286" cy="299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643555"/>
      </p:ext>
    </p:extLst>
  </p:cSld>
  <p:clrMapOvr>
    <a:overrideClrMapping bg1="lt1" tx1="dk1" bg2="lt2" tx2="dk2" accent1="accent1" accent2="accent2" accent3="accent3" accent4="accent4" accent5="accent5" accent6="accent6" hlink="hlink" folHlink="folHlink"/>
  </p:clrMapOvr>
  <p:transition>
    <p:fade/>
  </p:transition>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Deloitte Offerings &amp; Credentials - Future of Utility / Emerging Technologies / IT Transformation</a:t>
            </a: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object 24">
            <a:extLst>
              <a:ext uri="{FF2B5EF4-FFF2-40B4-BE49-F238E27FC236}">
                <a16:creationId xmlns:a16="http://schemas.microsoft.com/office/drawing/2014/main" id="{121A1293-B134-301F-3DD2-BC7FB1E4EEB7}"/>
              </a:ext>
            </a:extLst>
          </p:cNvPr>
          <p:cNvSpPr txBox="1"/>
          <p:nvPr/>
        </p:nvSpPr>
        <p:spPr>
          <a:xfrm>
            <a:off x="501654" y="1309323"/>
            <a:ext cx="2510348" cy="731520"/>
          </a:xfrm>
          <a:prstGeom prst="rect">
            <a:avLst/>
          </a:prstGeom>
          <a:solidFill>
            <a:sysClr val="window" lastClr="FFFFFF">
              <a:lumMod val="95000"/>
            </a:sysClr>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400"/>
              </a:spcBef>
              <a:spcAft>
                <a:spcPts val="400"/>
              </a:spcAft>
              <a:buClrTx/>
              <a:buSzTx/>
              <a:buFontTx/>
              <a:buNone/>
              <a:tabLst/>
              <a:defRPr/>
            </a:pPr>
            <a:r>
              <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Generation  will evolve toward a </a:t>
            </a:r>
            <a:r>
              <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more diverse and decentralized network of lower capacity</a:t>
            </a:r>
            <a:r>
              <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more flexible units with intelligence</a:t>
            </a:r>
            <a:endPar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4" name="TextBox 3">
            <a:extLst>
              <a:ext uri="{FF2B5EF4-FFF2-40B4-BE49-F238E27FC236}">
                <a16:creationId xmlns:a16="http://schemas.microsoft.com/office/drawing/2014/main" id="{FDD9A514-99A9-308C-79CA-275EE8C23DDE}"/>
              </a:ext>
            </a:extLst>
          </p:cNvPr>
          <p:cNvSpPr txBox="1"/>
          <p:nvPr/>
        </p:nvSpPr>
        <p:spPr>
          <a:xfrm>
            <a:off x="501654" y="1089242"/>
            <a:ext cx="2510347" cy="153888"/>
          </a:xfrm>
          <a:prstGeom prst="rect">
            <a:avLst/>
          </a:prstGeom>
          <a:solidFill>
            <a:srgbClr val="43B02A"/>
          </a:solidFill>
          <a:ln w="12700">
            <a:noFill/>
          </a:ln>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Generation</a:t>
            </a:r>
          </a:p>
        </p:txBody>
      </p:sp>
      <p:sp>
        <p:nvSpPr>
          <p:cNvPr id="5" name="object 24">
            <a:extLst>
              <a:ext uri="{FF2B5EF4-FFF2-40B4-BE49-F238E27FC236}">
                <a16:creationId xmlns:a16="http://schemas.microsoft.com/office/drawing/2014/main" id="{42782C7C-7769-951F-514E-49995218CFA1}"/>
              </a:ext>
            </a:extLst>
          </p:cNvPr>
          <p:cNvSpPr txBox="1"/>
          <p:nvPr/>
        </p:nvSpPr>
        <p:spPr>
          <a:xfrm>
            <a:off x="3189864" y="1309323"/>
            <a:ext cx="2510348" cy="731520"/>
          </a:xfrm>
          <a:prstGeom prst="rect">
            <a:avLst/>
          </a:prstGeom>
          <a:solidFill>
            <a:sysClr val="window" lastClr="FFFFFF">
              <a:lumMod val="95000"/>
            </a:sysClr>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The future grid will be a </a:t>
            </a:r>
            <a:r>
              <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communications-enabled self-healing network, able to increasingly act as a balancing entity</a:t>
            </a:r>
            <a:endPar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6" name="TextBox 5">
            <a:extLst>
              <a:ext uri="{FF2B5EF4-FFF2-40B4-BE49-F238E27FC236}">
                <a16:creationId xmlns:a16="http://schemas.microsoft.com/office/drawing/2014/main" id="{B5307A64-384B-77E9-5623-FFBE8C0A9897}"/>
              </a:ext>
            </a:extLst>
          </p:cNvPr>
          <p:cNvSpPr txBox="1"/>
          <p:nvPr/>
        </p:nvSpPr>
        <p:spPr>
          <a:xfrm>
            <a:off x="3189864" y="1089242"/>
            <a:ext cx="2510347" cy="153888"/>
          </a:xfrm>
          <a:prstGeom prst="rect">
            <a:avLst/>
          </a:prstGeom>
          <a:solidFill>
            <a:srgbClr val="43B02A"/>
          </a:solidFill>
          <a:ln w="12700">
            <a:noFill/>
          </a:ln>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The Future Grid</a:t>
            </a:r>
          </a:p>
        </p:txBody>
      </p:sp>
      <p:sp>
        <p:nvSpPr>
          <p:cNvPr id="7" name="object 24">
            <a:extLst>
              <a:ext uri="{FF2B5EF4-FFF2-40B4-BE49-F238E27FC236}">
                <a16:creationId xmlns:a16="http://schemas.microsoft.com/office/drawing/2014/main" id="{088507DA-548E-AD8F-9F5E-F68A9D0C6691}"/>
              </a:ext>
            </a:extLst>
          </p:cNvPr>
          <p:cNvSpPr txBox="1"/>
          <p:nvPr/>
        </p:nvSpPr>
        <p:spPr>
          <a:xfrm>
            <a:off x="501652" y="2481264"/>
            <a:ext cx="2510348" cy="731520"/>
          </a:xfrm>
          <a:prstGeom prst="rect">
            <a:avLst/>
          </a:prstGeom>
          <a:solidFill>
            <a:sysClr val="window" lastClr="FFFFFF">
              <a:lumMod val="95000"/>
            </a:sysClr>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Energy storage </a:t>
            </a:r>
            <a:r>
              <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is key to enable current energy transition towards </a:t>
            </a:r>
            <a:r>
              <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electric mobility</a:t>
            </a:r>
            <a:r>
              <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integration of cleaner fuels and increase energy access</a:t>
            </a:r>
            <a:r>
              <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around the world</a:t>
            </a:r>
          </a:p>
        </p:txBody>
      </p:sp>
      <p:sp>
        <p:nvSpPr>
          <p:cNvPr id="8" name="TextBox 7">
            <a:extLst>
              <a:ext uri="{FF2B5EF4-FFF2-40B4-BE49-F238E27FC236}">
                <a16:creationId xmlns:a16="http://schemas.microsoft.com/office/drawing/2014/main" id="{51E4EC3D-97A2-A9D5-7F35-1390A69C7D87}"/>
              </a:ext>
            </a:extLst>
          </p:cNvPr>
          <p:cNvSpPr txBox="1"/>
          <p:nvPr/>
        </p:nvSpPr>
        <p:spPr>
          <a:xfrm>
            <a:off x="501653" y="2261183"/>
            <a:ext cx="2510347" cy="153888"/>
          </a:xfrm>
          <a:prstGeom prst="rect">
            <a:avLst/>
          </a:prstGeom>
          <a:solidFill>
            <a:srgbClr val="43B02A"/>
          </a:solidFill>
          <a:ln w="12700">
            <a:noFill/>
          </a:ln>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Storage and Urban Mobility</a:t>
            </a:r>
          </a:p>
        </p:txBody>
      </p:sp>
      <p:sp>
        <p:nvSpPr>
          <p:cNvPr id="9" name="object 24">
            <a:extLst>
              <a:ext uri="{FF2B5EF4-FFF2-40B4-BE49-F238E27FC236}">
                <a16:creationId xmlns:a16="http://schemas.microsoft.com/office/drawing/2014/main" id="{B62E93AA-5C89-05B3-6EDA-DEB2FA9CF38B}"/>
              </a:ext>
            </a:extLst>
          </p:cNvPr>
          <p:cNvSpPr txBox="1"/>
          <p:nvPr/>
        </p:nvSpPr>
        <p:spPr>
          <a:xfrm>
            <a:off x="3189863" y="2481264"/>
            <a:ext cx="2510348" cy="731520"/>
          </a:xfrm>
          <a:prstGeom prst="rect">
            <a:avLst/>
          </a:prstGeom>
          <a:solidFill>
            <a:sysClr val="window" lastClr="FFFFFF">
              <a:lumMod val="95000"/>
            </a:sysClr>
          </a:solidFill>
        </p:spPr>
        <p:txBody>
          <a:bodyPr vert="horz"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The utility will be a </a:t>
            </a:r>
            <a:r>
              <a:rPr kumimoji="0" lang="en-US" sz="10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digitally-enabled shared services organization that will provide fully automated and integrated corporate services</a:t>
            </a:r>
            <a:endParaRPr kumimoji="0" lang="en-US" sz="1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62C4A8F0-8B43-9122-66C7-280AB3EEFBFD}"/>
              </a:ext>
            </a:extLst>
          </p:cNvPr>
          <p:cNvSpPr txBox="1"/>
          <p:nvPr/>
        </p:nvSpPr>
        <p:spPr>
          <a:xfrm>
            <a:off x="3189863" y="2261183"/>
            <a:ext cx="2510347" cy="153888"/>
          </a:xfrm>
          <a:prstGeom prst="rect">
            <a:avLst/>
          </a:prstGeom>
          <a:solidFill>
            <a:srgbClr val="43B02A"/>
          </a:solidFill>
          <a:ln w="12700">
            <a:noFill/>
          </a:ln>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Digital Utility</a:t>
            </a:r>
          </a:p>
        </p:txBody>
      </p:sp>
      <p:grpSp>
        <p:nvGrpSpPr>
          <p:cNvPr id="13" name="Group 12">
            <a:extLst>
              <a:ext uri="{FF2B5EF4-FFF2-40B4-BE49-F238E27FC236}">
                <a16:creationId xmlns:a16="http://schemas.microsoft.com/office/drawing/2014/main" id="{7ED8E36E-4037-996F-C924-09F80748806B}"/>
              </a:ext>
            </a:extLst>
          </p:cNvPr>
          <p:cNvGrpSpPr/>
          <p:nvPr/>
        </p:nvGrpSpPr>
        <p:grpSpPr>
          <a:xfrm>
            <a:off x="501650" y="3633180"/>
            <a:ext cx="5198558" cy="2450943"/>
            <a:chOff x="3942875" y="1583782"/>
            <a:chExt cx="5741103" cy="2861219"/>
          </a:xfrm>
        </p:grpSpPr>
        <p:sp>
          <p:nvSpPr>
            <p:cNvPr id="14" name="Freeform 9">
              <a:extLst>
                <a:ext uri="{FF2B5EF4-FFF2-40B4-BE49-F238E27FC236}">
                  <a16:creationId xmlns:a16="http://schemas.microsoft.com/office/drawing/2014/main" id="{4833AA6E-D1B5-A488-085C-BE1A5227BA13}"/>
                </a:ext>
              </a:extLst>
            </p:cNvPr>
            <p:cNvSpPr>
              <a:spLocks/>
            </p:cNvSpPr>
            <p:nvPr/>
          </p:nvSpPr>
          <p:spPr bwMode="auto">
            <a:xfrm>
              <a:off x="8245741" y="1583782"/>
              <a:ext cx="1438237" cy="1810944"/>
            </a:xfrm>
            <a:custGeom>
              <a:avLst/>
              <a:gdLst>
                <a:gd name="T0" fmla="*/ 0 w 769"/>
                <a:gd name="T1" fmla="*/ 0 h 968"/>
                <a:gd name="T2" fmla="*/ 940 w 769"/>
                <a:gd name="T3" fmla="*/ 0 h 968"/>
                <a:gd name="T4" fmla="*/ 940 w 769"/>
                <a:gd name="T5" fmla="*/ 798 h 968"/>
                <a:gd name="T6" fmla="*/ 589 w 769"/>
                <a:gd name="T7" fmla="*/ 796 h 968"/>
                <a:gd name="T8" fmla="*/ 622 w 769"/>
                <a:gd name="T9" fmla="*/ 896 h 968"/>
                <a:gd name="T10" fmla="*/ 480 w 769"/>
                <a:gd name="T11" fmla="*/ 1008 h 968"/>
                <a:gd name="T12" fmla="*/ 306 w 769"/>
                <a:gd name="T13" fmla="*/ 902 h 968"/>
                <a:gd name="T14" fmla="*/ 339 w 769"/>
                <a:gd name="T15" fmla="*/ 794 h 968"/>
                <a:gd name="T16" fmla="*/ 0 w 769"/>
                <a:gd name="T17" fmla="*/ 798 h 968"/>
                <a:gd name="T18" fmla="*/ 0 w 769"/>
                <a:gd name="T19" fmla="*/ 0 h 9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9"/>
                <a:gd name="T31" fmla="*/ 0 h 968"/>
                <a:gd name="T32" fmla="*/ 769 w 769"/>
                <a:gd name="T33" fmla="*/ 968 h 9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9" h="968">
                  <a:moveTo>
                    <a:pt x="0" y="0"/>
                  </a:moveTo>
                  <a:lnTo>
                    <a:pt x="769" y="0"/>
                  </a:lnTo>
                  <a:lnTo>
                    <a:pt x="769" y="766"/>
                  </a:lnTo>
                  <a:lnTo>
                    <a:pt x="482" y="764"/>
                  </a:lnTo>
                  <a:cubicBezTo>
                    <a:pt x="439" y="780"/>
                    <a:pt x="510" y="813"/>
                    <a:pt x="509" y="860"/>
                  </a:cubicBezTo>
                  <a:cubicBezTo>
                    <a:pt x="508" y="907"/>
                    <a:pt x="464" y="967"/>
                    <a:pt x="393" y="968"/>
                  </a:cubicBezTo>
                  <a:cubicBezTo>
                    <a:pt x="321" y="968"/>
                    <a:pt x="251" y="932"/>
                    <a:pt x="251" y="866"/>
                  </a:cubicBezTo>
                  <a:cubicBezTo>
                    <a:pt x="251" y="800"/>
                    <a:pt x="320" y="779"/>
                    <a:pt x="278" y="762"/>
                  </a:cubicBezTo>
                  <a:lnTo>
                    <a:pt x="0" y="766"/>
                  </a:lnTo>
                  <a:lnTo>
                    <a:pt x="0" y="0"/>
                  </a:lnTo>
                  <a:close/>
                </a:path>
              </a:pathLst>
            </a:custGeom>
            <a:solidFill>
              <a:srgbClr val="62B5E5"/>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00" b="1" i="0" u="none" strike="noStrike" kern="0" cap="none" spc="0" normalizeH="0" baseline="0" noProof="0">
                <a:ln>
                  <a:noFill/>
                </a:ln>
                <a:solidFill>
                  <a:srgbClr val="002776"/>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5" name="Freeform 25">
              <a:extLst>
                <a:ext uri="{FF2B5EF4-FFF2-40B4-BE49-F238E27FC236}">
                  <a16:creationId xmlns:a16="http://schemas.microsoft.com/office/drawing/2014/main" id="{B168E4EB-A304-573C-6382-E3218DD58429}"/>
                </a:ext>
              </a:extLst>
            </p:cNvPr>
            <p:cNvSpPr>
              <a:spLocks/>
            </p:cNvSpPr>
            <p:nvPr/>
          </p:nvSpPr>
          <p:spPr bwMode="auto">
            <a:xfrm>
              <a:off x="8245741" y="3011642"/>
              <a:ext cx="1438237" cy="1433359"/>
            </a:xfrm>
            <a:custGeom>
              <a:avLst/>
              <a:gdLst>
                <a:gd name="T0" fmla="*/ 0 w 769"/>
                <a:gd name="T1" fmla="*/ 832 h 766"/>
                <a:gd name="T2" fmla="*/ 1148 w 769"/>
                <a:gd name="T3" fmla="*/ 832 h 766"/>
                <a:gd name="T4" fmla="*/ 1148 w 769"/>
                <a:gd name="T5" fmla="*/ 0 h 766"/>
                <a:gd name="T6" fmla="*/ 726 w 769"/>
                <a:gd name="T7" fmla="*/ 0 h 766"/>
                <a:gd name="T8" fmla="*/ 756 w 769"/>
                <a:gd name="T9" fmla="*/ 108 h 766"/>
                <a:gd name="T10" fmla="*/ 578 w 769"/>
                <a:gd name="T11" fmla="*/ 217 h 766"/>
                <a:gd name="T12" fmla="*/ 384 w 769"/>
                <a:gd name="T13" fmla="*/ 93 h 766"/>
                <a:gd name="T14" fmla="*/ 422 w 769"/>
                <a:gd name="T15" fmla="*/ 0 h 766"/>
                <a:gd name="T16" fmla="*/ 0 w 769"/>
                <a:gd name="T17" fmla="*/ 0 h 766"/>
                <a:gd name="T18" fmla="*/ 0 w 769"/>
                <a:gd name="T19" fmla="*/ 832 h 7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69"/>
                <a:gd name="T31" fmla="*/ 0 h 766"/>
                <a:gd name="T32" fmla="*/ 769 w 769"/>
                <a:gd name="T33" fmla="*/ 766 h 7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69" h="766">
                  <a:moveTo>
                    <a:pt x="0" y="766"/>
                  </a:moveTo>
                  <a:lnTo>
                    <a:pt x="769" y="766"/>
                  </a:lnTo>
                  <a:lnTo>
                    <a:pt x="769" y="0"/>
                  </a:lnTo>
                  <a:lnTo>
                    <a:pt x="486" y="0"/>
                  </a:lnTo>
                  <a:cubicBezTo>
                    <a:pt x="442" y="17"/>
                    <a:pt x="508" y="37"/>
                    <a:pt x="507" y="100"/>
                  </a:cubicBezTo>
                  <a:cubicBezTo>
                    <a:pt x="505" y="164"/>
                    <a:pt x="458" y="202"/>
                    <a:pt x="387" y="201"/>
                  </a:cubicBezTo>
                  <a:cubicBezTo>
                    <a:pt x="315" y="201"/>
                    <a:pt x="257" y="149"/>
                    <a:pt x="257" y="85"/>
                  </a:cubicBezTo>
                  <a:cubicBezTo>
                    <a:pt x="257" y="21"/>
                    <a:pt x="324" y="13"/>
                    <a:pt x="283" y="0"/>
                  </a:cubicBezTo>
                  <a:lnTo>
                    <a:pt x="0" y="0"/>
                  </a:lnTo>
                  <a:lnTo>
                    <a:pt x="0" y="766"/>
                  </a:lnTo>
                  <a:close/>
                </a:path>
              </a:pathLst>
            </a:custGeom>
            <a:solidFill>
              <a:srgbClr val="53565A">
                <a:lumMod val="75000"/>
              </a:srgbClr>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00" b="1" i="0" u="none" strike="noStrike" kern="0" cap="none" spc="0" normalizeH="0" baseline="0" noProof="0">
                <a:ln>
                  <a:noFill/>
                </a:ln>
                <a:solidFill>
                  <a:srgbClr val="002776"/>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6" name="Freeform 26">
              <a:extLst>
                <a:ext uri="{FF2B5EF4-FFF2-40B4-BE49-F238E27FC236}">
                  <a16:creationId xmlns:a16="http://schemas.microsoft.com/office/drawing/2014/main" id="{61F4251D-7BF4-3C35-60AC-EE2A2C020DC4}"/>
                </a:ext>
              </a:extLst>
            </p:cNvPr>
            <p:cNvSpPr>
              <a:spLocks/>
            </p:cNvSpPr>
            <p:nvPr/>
          </p:nvSpPr>
          <p:spPr bwMode="auto">
            <a:xfrm>
              <a:off x="6812581" y="1583782"/>
              <a:ext cx="1825715" cy="1810944"/>
            </a:xfrm>
            <a:custGeom>
              <a:avLst/>
              <a:gdLst>
                <a:gd name="T0" fmla="*/ 0 w 976"/>
                <a:gd name="T1" fmla="*/ 0 h 968"/>
                <a:gd name="T2" fmla="*/ 1149 w 976"/>
                <a:gd name="T3" fmla="*/ 0 h 968"/>
                <a:gd name="T4" fmla="*/ 1149 w 976"/>
                <a:gd name="T5" fmla="*/ 306 h 968"/>
                <a:gd name="T6" fmla="*/ 1275 w 976"/>
                <a:gd name="T7" fmla="*/ 276 h 968"/>
                <a:gd name="T8" fmla="*/ 1456 w 976"/>
                <a:gd name="T9" fmla="*/ 419 h 968"/>
                <a:gd name="T10" fmla="*/ 1298 w 976"/>
                <a:gd name="T11" fmla="*/ 548 h 968"/>
                <a:gd name="T12" fmla="*/ 1149 w 976"/>
                <a:gd name="T13" fmla="*/ 528 h 968"/>
                <a:gd name="T14" fmla="*/ 1149 w 976"/>
                <a:gd name="T15" fmla="*/ 831 h 968"/>
                <a:gd name="T16" fmla="*/ 720 w 976"/>
                <a:gd name="T17" fmla="*/ 829 h 968"/>
                <a:gd name="T18" fmla="*/ 761 w 976"/>
                <a:gd name="T19" fmla="*/ 934 h 968"/>
                <a:gd name="T20" fmla="*/ 587 w 976"/>
                <a:gd name="T21" fmla="*/ 1050 h 968"/>
                <a:gd name="T22" fmla="*/ 374 w 976"/>
                <a:gd name="T23" fmla="*/ 940 h 968"/>
                <a:gd name="T24" fmla="*/ 415 w 976"/>
                <a:gd name="T25" fmla="*/ 827 h 968"/>
                <a:gd name="T26" fmla="*/ 0 w 976"/>
                <a:gd name="T27" fmla="*/ 831 h 968"/>
                <a:gd name="T28" fmla="*/ 0 w 976"/>
                <a:gd name="T29" fmla="*/ 0 h 96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6"/>
                <a:gd name="T46" fmla="*/ 0 h 968"/>
                <a:gd name="T47" fmla="*/ 976 w 976"/>
                <a:gd name="T48" fmla="*/ 968 h 96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6" h="968">
                  <a:moveTo>
                    <a:pt x="0" y="0"/>
                  </a:moveTo>
                  <a:lnTo>
                    <a:pt x="769" y="0"/>
                  </a:lnTo>
                  <a:lnTo>
                    <a:pt x="769" y="282"/>
                  </a:lnTo>
                  <a:cubicBezTo>
                    <a:pt x="783" y="324"/>
                    <a:pt x="794" y="257"/>
                    <a:pt x="853" y="255"/>
                  </a:cubicBezTo>
                  <a:cubicBezTo>
                    <a:pt x="911" y="252"/>
                    <a:pt x="976" y="310"/>
                    <a:pt x="974" y="387"/>
                  </a:cubicBezTo>
                  <a:cubicBezTo>
                    <a:pt x="973" y="464"/>
                    <a:pt x="926" y="502"/>
                    <a:pt x="869" y="505"/>
                  </a:cubicBezTo>
                  <a:cubicBezTo>
                    <a:pt x="811" y="509"/>
                    <a:pt x="787" y="442"/>
                    <a:pt x="769" y="487"/>
                  </a:cubicBezTo>
                  <a:lnTo>
                    <a:pt x="769" y="766"/>
                  </a:lnTo>
                  <a:lnTo>
                    <a:pt x="482" y="764"/>
                  </a:lnTo>
                  <a:cubicBezTo>
                    <a:pt x="439" y="780"/>
                    <a:pt x="510" y="813"/>
                    <a:pt x="509" y="860"/>
                  </a:cubicBezTo>
                  <a:cubicBezTo>
                    <a:pt x="508" y="907"/>
                    <a:pt x="464" y="967"/>
                    <a:pt x="393" y="968"/>
                  </a:cubicBezTo>
                  <a:cubicBezTo>
                    <a:pt x="321" y="968"/>
                    <a:pt x="251" y="932"/>
                    <a:pt x="251" y="866"/>
                  </a:cubicBezTo>
                  <a:cubicBezTo>
                    <a:pt x="251" y="800"/>
                    <a:pt x="320" y="779"/>
                    <a:pt x="278" y="762"/>
                  </a:cubicBezTo>
                  <a:lnTo>
                    <a:pt x="0" y="766"/>
                  </a:lnTo>
                  <a:lnTo>
                    <a:pt x="0" y="0"/>
                  </a:lnTo>
                  <a:close/>
                </a:path>
              </a:pathLst>
            </a:custGeom>
            <a:solidFill>
              <a:srgbClr val="26890D"/>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00" b="1" i="0" u="none" strike="noStrike" kern="0" cap="none" spc="0" normalizeH="0" baseline="0" noProof="0">
                <a:ln>
                  <a:noFill/>
                </a:ln>
                <a:solidFill>
                  <a:srgbClr val="002776"/>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7" name="Freeform 12">
              <a:extLst>
                <a:ext uri="{FF2B5EF4-FFF2-40B4-BE49-F238E27FC236}">
                  <a16:creationId xmlns:a16="http://schemas.microsoft.com/office/drawing/2014/main" id="{DBE8A96D-883C-7143-7C30-09CC3E76E8AC}"/>
                </a:ext>
              </a:extLst>
            </p:cNvPr>
            <p:cNvSpPr>
              <a:spLocks/>
            </p:cNvSpPr>
            <p:nvPr/>
          </p:nvSpPr>
          <p:spPr bwMode="auto">
            <a:xfrm flipV="1">
              <a:off x="6810889" y="3011642"/>
              <a:ext cx="1825715" cy="1433359"/>
            </a:xfrm>
            <a:custGeom>
              <a:avLst/>
              <a:gdLst>
                <a:gd name="T0" fmla="*/ 0 w 2312"/>
                <a:gd name="T1" fmla="*/ 0 h 1823"/>
                <a:gd name="T2" fmla="*/ 397 w 2312"/>
                <a:gd name="T3" fmla="*/ 0 h 1823"/>
                <a:gd name="T4" fmla="*/ 397 w 2312"/>
                <a:gd name="T5" fmla="*/ 124 h 1823"/>
                <a:gd name="T6" fmla="*/ 440 w 2312"/>
                <a:gd name="T7" fmla="*/ 112 h 1823"/>
                <a:gd name="T8" fmla="*/ 503 w 2312"/>
                <a:gd name="T9" fmla="*/ 169 h 1823"/>
                <a:gd name="T10" fmla="*/ 448 w 2312"/>
                <a:gd name="T11" fmla="*/ 221 h 1823"/>
                <a:gd name="T12" fmla="*/ 397 w 2312"/>
                <a:gd name="T13" fmla="*/ 213 h 1823"/>
                <a:gd name="T14" fmla="*/ 397 w 2312"/>
                <a:gd name="T15" fmla="*/ 335 h 1823"/>
                <a:gd name="T16" fmla="*/ 251 w 2312"/>
                <a:gd name="T17" fmla="*/ 335 h 1823"/>
                <a:gd name="T18" fmla="*/ 261 w 2312"/>
                <a:gd name="T19" fmla="*/ 291 h 1823"/>
                <a:gd name="T20" fmla="*/ 199 w 2312"/>
                <a:gd name="T21" fmla="*/ 248 h 1823"/>
                <a:gd name="T22" fmla="*/ 133 w 2312"/>
                <a:gd name="T23" fmla="*/ 298 h 1823"/>
                <a:gd name="T24" fmla="*/ 146 w 2312"/>
                <a:gd name="T25" fmla="*/ 335 h 1823"/>
                <a:gd name="T26" fmla="*/ 0 w 2312"/>
                <a:gd name="T27" fmla="*/ 335 h 1823"/>
                <a:gd name="T28" fmla="*/ 0 w 2312"/>
                <a:gd name="T29" fmla="*/ 0 h 18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12"/>
                <a:gd name="T46" fmla="*/ 0 h 1823"/>
                <a:gd name="T47" fmla="*/ 2312 w 2312"/>
                <a:gd name="T48" fmla="*/ 1823 h 18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12" h="1823">
                  <a:moveTo>
                    <a:pt x="0" y="0"/>
                  </a:moveTo>
                  <a:lnTo>
                    <a:pt x="1822" y="0"/>
                  </a:lnTo>
                  <a:lnTo>
                    <a:pt x="1822" y="672"/>
                  </a:lnTo>
                  <a:cubicBezTo>
                    <a:pt x="1854" y="772"/>
                    <a:pt x="1882" y="612"/>
                    <a:pt x="2020" y="606"/>
                  </a:cubicBezTo>
                  <a:cubicBezTo>
                    <a:pt x="2158" y="600"/>
                    <a:pt x="2312" y="738"/>
                    <a:pt x="2308" y="921"/>
                  </a:cubicBezTo>
                  <a:cubicBezTo>
                    <a:pt x="2304" y="1105"/>
                    <a:pt x="2194" y="1195"/>
                    <a:pt x="2058" y="1203"/>
                  </a:cubicBezTo>
                  <a:cubicBezTo>
                    <a:pt x="1922" y="1211"/>
                    <a:pt x="1864" y="1053"/>
                    <a:pt x="1822" y="1159"/>
                  </a:cubicBezTo>
                  <a:lnTo>
                    <a:pt x="1822" y="1823"/>
                  </a:lnTo>
                  <a:lnTo>
                    <a:pt x="1151" y="1823"/>
                  </a:lnTo>
                  <a:cubicBezTo>
                    <a:pt x="1047" y="1783"/>
                    <a:pt x="1204" y="1736"/>
                    <a:pt x="1200" y="1584"/>
                  </a:cubicBezTo>
                  <a:cubicBezTo>
                    <a:pt x="1196" y="1432"/>
                    <a:pt x="1085" y="1343"/>
                    <a:pt x="916" y="1344"/>
                  </a:cubicBezTo>
                  <a:cubicBezTo>
                    <a:pt x="747" y="1345"/>
                    <a:pt x="608" y="1468"/>
                    <a:pt x="608" y="1620"/>
                  </a:cubicBezTo>
                  <a:cubicBezTo>
                    <a:pt x="608" y="1772"/>
                    <a:pt x="767" y="1791"/>
                    <a:pt x="671" y="1823"/>
                  </a:cubicBezTo>
                  <a:lnTo>
                    <a:pt x="0" y="1823"/>
                  </a:lnTo>
                  <a:lnTo>
                    <a:pt x="0" y="0"/>
                  </a:lnTo>
                  <a:close/>
                </a:path>
              </a:pathLst>
            </a:custGeom>
            <a:solidFill>
              <a:srgbClr val="0D8390"/>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00" b="1" i="0" u="none" strike="noStrike" kern="0" cap="none" spc="0" normalizeH="0" baseline="0" noProof="0">
                <a:ln>
                  <a:noFill/>
                </a:ln>
                <a:solidFill>
                  <a:srgbClr val="002776"/>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 name="Freeform 13">
              <a:extLst>
                <a:ext uri="{FF2B5EF4-FFF2-40B4-BE49-F238E27FC236}">
                  <a16:creationId xmlns:a16="http://schemas.microsoft.com/office/drawing/2014/main" id="{D5692D62-EA65-2127-665A-D7E17D1135FA}"/>
                </a:ext>
              </a:extLst>
            </p:cNvPr>
            <p:cNvSpPr>
              <a:spLocks/>
            </p:cNvSpPr>
            <p:nvPr/>
          </p:nvSpPr>
          <p:spPr bwMode="auto">
            <a:xfrm>
              <a:off x="5377726" y="1583782"/>
              <a:ext cx="1824023" cy="1810944"/>
            </a:xfrm>
            <a:custGeom>
              <a:avLst/>
              <a:gdLst>
                <a:gd name="T0" fmla="*/ 0 w 976"/>
                <a:gd name="T1" fmla="*/ 0 h 968"/>
                <a:gd name="T2" fmla="*/ 938 w 976"/>
                <a:gd name="T3" fmla="*/ 0 h 968"/>
                <a:gd name="T4" fmla="*/ 938 w 976"/>
                <a:gd name="T5" fmla="*/ 294 h 968"/>
                <a:gd name="T6" fmla="*/ 1040 w 976"/>
                <a:gd name="T7" fmla="*/ 265 h 968"/>
                <a:gd name="T8" fmla="*/ 1188 w 976"/>
                <a:gd name="T9" fmla="*/ 403 h 968"/>
                <a:gd name="T10" fmla="*/ 1060 w 976"/>
                <a:gd name="T11" fmla="*/ 526 h 968"/>
                <a:gd name="T12" fmla="*/ 938 w 976"/>
                <a:gd name="T13" fmla="*/ 507 h 968"/>
                <a:gd name="T14" fmla="*/ 938 w 976"/>
                <a:gd name="T15" fmla="*/ 798 h 968"/>
                <a:gd name="T16" fmla="*/ 588 w 976"/>
                <a:gd name="T17" fmla="*/ 796 h 968"/>
                <a:gd name="T18" fmla="*/ 621 w 976"/>
                <a:gd name="T19" fmla="*/ 896 h 968"/>
                <a:gd name="T20" fmla="*/ 479 w 976"/>
                <a:gd name="T21" fmla="*/ 1008 h 968"/>
                <a:gd name="T22" fmla="*/ 306 w 976"/>
                <a:gd name="T23" fmla="*/ 902 h 968"/>
                <a:gd name="T24" fmla="*/ 339 w 976"/>
                <a:gd name="T25" fmla="*/ 794 h 968"/>
                <a:gd name="T26" fmla="*/ 0 w 976"/>
                <a:gd name="T27" fmla="*/ 798 h 968"/>
                <a:gd name="T28" fmla="*/ 0 w 976"/>
                <a:gd name="T29" fmla="*/ 0 h 96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6"/>
                <a:gd name="T46" fmla="*/ 0 h 968"/>
                <a:gd name="T47" fmla="*/ 976 w 976"/>
                <a:gd name="T48" fmla="*/ 968 h 96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6" h="968">
                  <a:moveTo>
                    <a:pt x="0" y="0"/>
                  </a:moveTo>
                  <a:lnTo>
                    <a:pt x="769" y="0"/>
                  </a:lnTo>
                  <a:lnTo>
                    <a:pt x="769" y="282"/>
                  </a:lnTo>
                  <a:cubicBezTo>
                    <a:pt x="783" y="324"/>
                    <a:pt x="794" y="257"/>
                    <a:pt x="853" y="255"/>
                  </a:cubicBezTo>
                  <a:cubicBezTo>
                    <a:pt x="911" y="252"/>
                    <a:pt x="976" y="310"/>
                    <a:pt x="974" y="387"/>
                  </a:cubicBezTo>
                  <a:cubicBezTo>
                    <a:pt x="973" y="464"/>
                    <a:pt x="926" y="502"/>
                    <a:pt x="869" y="505"/>
                  </a:cubicBezTo>
                  <a:cubicBezTo>
                    <a:pt x="811" y="509"/>
                    <a:pt x="787" y="442"/>
                    <a:pt x="769" y="487"/>
                  </a:cubicBezTo>
                  <a:lnTo>
                    <a:pt x="769" y="766"/>
                  </a:lnTo>
                  <a:lnTo>
                    <a:pt x="482" y="764"/>
                  </a:lnTo>
                  <a:cubicBezTo>
                    <a:pt x="439" y="780"/>
                    <a:pt x="510" y="813"/>
                    <a:pt x="509" y="860"/>
                  </a:cubicBezTo>
                  <a:cubicBezTo>
                    <a:pt x="508" y="907"/>
                    <a:pt x="464" y="967"/>
                    <a:pt x="393" y="968"/>
                  </a:cubicBezTo>
                  <a:cubicBezTo>
                    <a:pt x="321" y="968"/>
                    <a:pt x="251" y="932"/>
                    <a:pt x="251" y="866"/>
                  </a:cubicBezTo>
                  <a:cubicBezTo>
                    <a:pt x="251" y="800"/>
                    <a:pt x="320" y="779"/>
                    <a:pt x="278" y="762"/>
                  </a:cubicBezTo>
                  <a:lnTo>
                    <a:pt x="0" y="766"/>
                  </a:lnTo>
                  <a:lnTo>
                    <a:pt x="0" y="0"/>
                  </a:lnTo>
                  <a:close/>
                </a:path>
              </a:pathLst>
            </a:custGeom>
            <a:solidFill>
              <a:srgbClr val="43B02A"/>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00" b="1" i="0" u="none" strike="noStrike" kern="0" cap="none" spc="0" normalizeH="0" baseline="0" noProof="0">
                <a:ln>
                  <a:noFill/>
                </a:ln>
                <a:solidFill>
                  <a:srgbClr val="002776"/>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9" name="Freeform 29">
              <a:extLst>
                <a:ext uri="{FF2B5EF4-FFF2-40B4-BE49-F238E27FC236}">
                  <a16:creationId xmlns:a16="http://schemas.microsoft.com/office/drawing/2014/main" id="{471C8F1A-EF08-6910-81A0-57917C9AF03D}"/>
                </a:ext>
              </a:extLst>
            </p:cNvPr>
            <p:cNvSpPr>
              <a:spLocks/>
            </p:cNvSpPr>
            <p:nvPr/>
          </p:nvSpPr>
          <p:spPr bwMode="auto">
            <a:xfrm flipV="1">
              <a:off x="5377726" y="3011642"/>
              <a:ext cx="1824023" cy="1433359"/>
            </a:xfrm>
            <a:custGeom>
              <a:avLst/>
              <a:gdLst>
                <a:gd name="T0" fmla="*/ 0 w 2312"/>
                <a:gd name="T1" fmla="*/ 0 h 1823"/>
                <a:gd name="T2" fmla="*/ 86 w 2312"/>
                <a:gd name="T3" fmla="*/ 0 h 1823"/>
                <a:gd name="T4" fmla="*/ 86 w 2312"/>
                <a:gd name="T5" fmla="*/ 23 h 1823"/>
                <a:gd name="T6" fmla="*/ 96 w 2312"/>
                <a:gd name="T7" fmla="*/ 21 h 1823"/>
                <a:gd name="T8" fmla="*/ 109 w 2312"/>
                <a:gd name="T9" fmla="*/ 31 h 1823"/>
                <a:gd name="T10" fmla="*/ 97 w 2312"/>
                <a:gd name="T11" fmla="*/ 41 h 1823"/>
                <a:gd name="T12" fmla="*/ 86 w 2312"/>
                <a:gd name="T13" fmla="*/ 39 h 1823"/>
                <a:gd name="T14" fmla="*/ 86 w 2312"/>
                <a:gd name="T15" fmla="*/ 62 h 1823"/>
                <a:gd name="T16" fmla="*/ 55 w 2312"/>
                <a:gd name="T17" fmla="*/ 62 h 1823"/>
                <a:gd name="T18" fmla="*/ 57 w 2312"/>
                <a:gd name="T19" fmla="*/ 54 h 1823"/>
                <a:gd name="T20" fmla="*/ 43 w 2312"/>
                <a:gd name="T21" fmla="*/ 45 h 1823"/>
                <a:gd name="T22" fmla="*/ 29 w 2312"/>
                <a:gd name="T23" fmla="*/ 55 h 1823"/>
                <a:gd name="T24" fmla="*/ 32 w 2312"/>
                <a:gd name="T25" fmla="*/ 62 h 1823"/>
                <a:gd name="T26" fmla="*/ 0 w 2312"/>
                <a:gd name="T27" fmla="*/ 62 h 1823"/>
                <a:gd name="T28" fmla="*/ 0 w 2312"/>
                <a:gd name="T29" fmla="*/ 0 h 18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12"/>
                <a:gd name="T46" fmla="*/ 0 h 1823"/>
                <a:gd name="T47" fmla="*/ 2312 w 2312"/>
                <a:gd name="T48" fmla="*/ 1823 h 18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12" h="1823">
                  <a:moveTo>
                    <a:pt x="0" y="0"/>
                  </a:moveTo>
                  <a:lnTo>
                    <a:pt x="1822" y="0"/>
                  </a:lnTo>
                  <a:lnTo>
                    <a:pt x="1822" y="672"/>
                  </a:lnTo>
                  <a:cubicBezTo>
                    <a:pt x="1854" y="772"/>
                    <a:pt x="1882" y="612"/>
                    <a:pt x="2020" y="606"/>
                  </a:cubicBezTo>
                  <a:cubicBezTo>
                    <a:pt x="2158" y="600"/>
                    <a:pt x="2312" y="738"/>
                    <a:pt x="2308" y="921"/>
                  </a:cubicBezTo>
                  <a:cubicBezTo>
                    <a:pt x="2304" y="1105"/>
                    <a:pt x="2194" y="1195"/>
                    <a:pt x="2058" y="1203"/>
                  </a:cubicBezTo>
                  <a:cubicBezTo>
                    <a:pt x="1922" y="1211"/>
                    <a:pt x="1864" y="1053"/>
                    <a:pt x="1822" y="1159"/>
                  </a:cubicBezTo>
                  <a:lnTo>
                    <a:pt x="1822" y="1823"/>
                  </a:lnTo>
                  <a:lnTo>
                    <a:pt x="1151" y="1823"/>
                  </a:lnTo>
                  <a:cubicBezTo>
                    <a:pt x="1047" y="1783"/>
                    <a:pt x="1204" y="1736"/>
                    <a:pt x="1200" y="1584"/>
                  </a:cubicBezTo>
                  <a:cubicBezTo>
                    <a:pt x="1196" y="1432"/>
                    <a:pt x="1085" y="1343"/>
                    <a:pt x="916" y="1344"/>
                  </a:cubicBezTo>
                  <a:cubicBezTo>
                    <a:pt x="747" y="1345"/>
                    <a:pt x="608" y="1468"/>
                    <a:pt x="608" y="1620"/>
                  </a:cubicBezTo>
                  <a:cubicBezTo>
                    <a:pt x="608" y="1772"/>
                    <a:pt x="767" y="1791"/>
                    <a:pt x="671" y="1823"/>
                  </a:cubicBezTo>
                  <a:lnTo>
                    <a:pt x="0" y="1823"/>
                  </a:lnTo>
                  <a:lnTo>
                    <a:pt x="0" y="0"/>
                  </a:lnTo>
                  <a:close/>
                </a:path>
              </a:pathLst>
            </a:custGeom>
            <a:solidFill>
              <a:srgbClr val="6FC2B4"/>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00" b="1" i="0" u="none" strike="noStrike" kern="0" cap="none" spc="0" normalizeH="0" baseline="0" noProof="0">
                <a:ln>
                  <a:noFill/>
                </a:ln>
                <a:solidFill>
                  <a:srgbClr val="002776"/>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0" name="Freeform 30">
              <a:extLst>
                <a:ext uri="{FF2B5EF4-FFF2-40B4-BE49-F238E27FC236}">
                  <a16:creationId xmlns:a16="http://schemas.microsoft.com/office/drawing/2014/main" id="{82973234-7F5A-997C-3B10-4D19A6FED2B8}"/>
                </a:ext>
              </a:extLst>
            </p:cNvPr>
            <p:cNvSpPr>
              <a:spLocks/>
            </p:cNvSpPr>
            <p:nvPr/>
          </p:nvSpPr>
          <p:spPr bwMode="auto">
            <a:xfrm>
              <a:off x="3942875" y="1583782"/>
              <a:ext cx="1825715" cy="1810944"/>
            </a:xfrm>
            <a:custGeom>
              <a:avLst/>
              <a:gdLst>
                <a:gd name="T0" fmla="*/ 0 w 976"/>
                <a:gd name="T1" fmla="*/ 0 h 968"/>
                <a:gd name="T2" fmla="*/ 1149 w 976"/>
                <a:gd name="T3" fmla="*/ 0 h 968"/>
                <a:gd name="T4" fmla="*/ 1149 w 976"/>
                <a:gd name="T5" fmla="*/ 306 h 968"/>
                <a:gd name="T6" fmla="*/ 1275 w 976"/>
                <a:gd name="T7" fmla="*/ 276 h 968"/>
                <a:gd name="T8" fmla="*/ 1456 w 976"/>
                <a:gd name="T9" fmla="*/ 419 h 968"/>
                <a:gd name="T10" fmla="*/ 1298 w 976"/>
                <a:gd name="T11" fmla="*/ 548 h 968"/>
                <a:gd name="T12" fmla="*/ 1149 w 976"/>
                <a:gd name="T13" fmla="*/ 528 h 968"/>
                <a:gd name="T14" fmla="*/ 1149 w 976"/>
                <a:gd name="T15" fmla="*/ 831 h 968"/>
                <a:gd name="T16" fmla="*/ 720 w 976"/>
                <a:gd name="T17" fmla="*/ 829 h 968"/>
                <a:gd name="T18" fmla="*/ 761 w 976"/>
                <a:gd name="T19" fmla="*/ 934 h 968"/>
                <a:gd name="T20" fmla="*/ 587 w 976"/>
                <a:gd name="T21" fmla="*/ 1050 h 968"/>
                <a:gd name="T22" fmla="*/ 374 w 976"/>
                <a:gd name="T23" fmla="*/ 940 h 968"/>
                <a:gd name="T24" fmla="*/ 415 w 976"/>
                <a:gd name="T25" fmla="*/ 827 h 968"/>
                <a:gd name="T26" fmla="*/ 0 w 976"/>
                <a:gd name="T27" fmla="*/ 831 h 968"/>
                <a:gd name="T28" fmla="*/ 0 w 976"/>
                <a:gd name="T29" fmla="*/ 0 h 96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6"/>
                <a:gd name="T46" fmla="*/ 0 h 968"/>
                <a:gd name="T47" fmla="*/ 976 w 976"/>
                <a:gd name="T48" fmla="*/ 968 h 96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6" h="968">
                  <a:moveTo>
                    <a:pt x="0" y="0"/>
                  </a:moveTo>
                  <a:lnTo>
                    <a:pt x="769" y="0"/>
                  </a:lnTo>
                  <a:lnTo>
                    <a:pt x="769" y="282"/>
                  </a:lnTo>
                  <a:cubicBezTo>
                    <a:pt x="783" y="324"/>
                    <a:pt x="794" y="257"/>
                    <a:pt x="853" y="255"/>
                  </a:cubicBezTo>
                  <a:cubicBezTo>
                    <a:pt x="911" y="252"/>
                    <a:pt x="976" y="310"/>
                    <a:pt x="974" y="387"/>
                  </a:cubicBezTo>
                  <a:cubicBezTo>
                    <a:pt x="973" y="464"/>
                    <a:pt x="926" y="502"/>
                    <a:pt x="869" y="505"/>
                  </a:cubicBezTo>
                  <a:cubicBezTo>
                    <a:pt x="811" y="509"/>
                    <a:pt x="787" y="442"/>
                    <a:pt x="769" y="487"/>
                  </a:cubicBezTo>
                  <a:lnTo>
                    <a:pt x="769" y="766"/>
                  </a:lnTo>
                  <a:lnTo>
                    <a:pt x="482" y="764"/>
                  </a:lnTo>
                  <a:cubicBezTo>
                    <a:pt x="439" y="780"/>
                    <a:pt x="510" y="813"/>
                    <a:pt x="509" y="860"/>
                  </a:cubicBezTo>
                  <a:cubicBezTo>
                    <a:pt x="508" y="907"/>
                    <a:pt x="464" y="967"/>
                    <a:pt x="393" y="968"/>
                  </a:cubicBezTo>
                  <a:cubicBezTo>
                    <a:pt x="321" y="968"/>
                    <a:pt x="251" y="932"/>
                    <a:pt x="251" y="866"/>
                  </a:cubicBezTo>
                  <a:cubicBezTo>
                    <a:pt x="251" y="800"/>
                    <a:pt x="320" y="779"/>
                    <a:pt x="278" y="762"/>
                  </a:cubicBezTo>
                  <a:lnTo>
                    <a:pt x="0" y="766"/>
                  </a:lnTo>
                  <a:lnTo>
                    <a:pt x="0" y="0"/>
                  </a:lnTo>
                  <a:close/>
                </a:path>
              </a:pathLst>
            </a:custGeom>
            <a:solidFill>
              <a:srgbClr val="00ABAB"/>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00" b="1" i="0" u="none" strike="noStrike" kern="0" cap="none" spc="0" normalizeH="0" baseline="0" noProof="0">
                <a:ln>
                  <a:noFill/>
                </a:ln>
                <a:solidFill>
                  <a:srgbClr val="002776"/>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1" name="Freeform 16">
              <a:extLst>
                <a:ext uri="{FF2B5EF4-FFF2-40B4-BE49-F238E27FC236}">
                  <a16:creationId xmlns:a16="http://schemas.microsoft.com/office/drawing/2014/main" id="{A89A6F15-3220-E0CE-F0F2-FB2AFB2DD393}"/>
                </a:ext>
              </a:extLst>
            </p:cNvPr>
            <p:cNvSpPr>
              <a:spLocks/>
            </p:cNvSpPr>
            <p:nvPr/>
          </p:nvSpPr>
          <p:spPr bwMode="auto">
            <a:xfrm flipV="1">
              <a:off x="3942875" y="3011642"/>
              <a:ext cx="1825715" cy="1433359"/>
            </a:xfrm>
            <a:custGeom>
              <a:avLst/>
              <a:gdLst>
                <a:gd name="T0" fmla="*/ 0 w 2312"/>
                <a:gd name="T1" fmla="*/ 0 h 1823"/>
                <a:gd name="T2" fmla="*/ 397 w 2312"/>
                <a:gd name="T3" fmla="*/ 0 h 1823"/>
                <a:gd name="T4" fmla="*/ 397 w 2312"/>
                <a:gd name="T5" fmla="*/ 124 h 1823"/>
                <a:gd name="T6" fmla="*/ 440 w 2312"/>
                <a:gd name="T7" fmla="*/ 112 h 1823"/>
                <a:gd name="T8" fmla="*/ 503 w 2312"/>
                <a:gd name="T9" fmla="*/ 169 h 1823"/>
                <a:gd name="T10" fmla="*/ 448 w 2312"/>
                <a:gd name="T11" fmla="*/ 221 h 1823"/>
                <a:gd name="T12" fmla="*/ 397 w 2312"/>
                <a:gd name="T13" fmla="*/ 213 h 1823"/>
                <a:gd name="T14" fmla="*/ 397 w 2312"/>
                <a:gd name="T15" fmla="*/ 335 h 1823"/>
                <a:gd name="T16" fmla="*/ 251 w 2312"/>
                <a:gd name="T17" fmla="*/ 335 h 1823"/>
                <a:gd name="T18" fmla="*/ 261 w 2312"/>
                <a:gd name="T19" fmla="*/ 291 h 1823"/>
                <a:gd name="T20" fmla="*/ 199 w 2312"/>
                <a:gd name="T21" fmla="*/ 248 h 1823"/>
                <a:gd name="T22" fmla="*/ 133 w 2312"/>
                <a:gd name="T23" fmla="*/ 298 h 1823"/>
                <a:gd name="T24" fmla="*/ 146 w 2312"/>
                <a:gd name="T25" fmla="*/ 335 h 1823"/>
                <a:gd name="T26" fmla="*/ 0 w 2312"/>
                <a:gd name="T27" fmla="*/ 335 h 1823"/>
                <a:gd name="T28" fmla="*/ 0 w 2312"/>
                <a:gd name="T29" fmla="*/ 0 h 18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12"/>
                <a:gd name="T46" fmla="*/ 0 h 1823"/>
                <a:gd name="T47" fmla="*/ 2312 w 2312"/>
                <a:gd name="T48" fmla="*/ 1823 h 18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12" h="1823">
                  <a:moveTo>
                    <a:pt x="0" y="0"/>
                  </a:moveTo>
                  <a:lnTo>
                    <a:pt x="1822" y="0"/>
                  </a:lnTo>
                  <a:lnTo>
                    <a:pt x="1822" y="672"/>
                  </a:lnTo>
                  <a:cubicBezTo>
                    <a:pt x="1854" y="772"/>
                    <a:pt x="1882" y="612"/>
                    <a:pt x="2020" y="606"/>
                  </a:cubicBezTo>
                  <a:cubicBezTo>
                    <a:pt x="2158" y="600"/>
                    <a:pt x="2312" y="738"/>
                    <a:pt x="2308" y="921"/>
                  </a:cubicBezTo>
                  <a:cubicBezTo>
                    <a:pt x="2304" y="1105"/>
                    <a:pt x="2194" y="1195"/>
                    <a:pt x="2058" y="1203"/>
                  </a:cubicBezTo>
                  <a:cubicBezTo>
                    <a:pt x="1922" y="1211"/>
                    <a:pt x="1864" y="1053"/>
                    <a:pt x="1822" y="1159"/>
                  </a:cubicBezTo>
                  <a:lnTo>
                    <a:pt x="1822" y="1823"/>
                  </a:lnTo>
                  <a:lnTo>
                    <a:pt x="1151" y="1823"/>
                  </a:lnTo>
                  <a:cubicBezTo>
                    <a:pt x="1047" y="1783"/>
                    <a:pt x="1204" y="1736"/>
                    <a:pt x="1200" y="1584"/>
                  </a:cubicBezTo>
                  <a:cubicBezTo>
                    <a:pt x="1196" y="1432"/>
                    <a:pt x="1085" y="1343"/>
                    <a:pt x="916" y="1344"/>
                  </a:cubicBezTo>
                  <a:cubicBezTo>
                    <a:pt x="747" y="1345"/>
                    <a:pt x="608" y="1468"/>
                    <a:pt x="608" y="1620"/>
                  </a:cubicBezTo>
                  <a:cubicBezTo>
                    <a:pt x="608" y="1772"/>
                    <a:pt x="767" y="1791"/>
                    <a:pt x="671" y="1823"/>
                  </a:cubicBezTo>
                  <a:lnTo>
                    <a:pt x="0" y="1823"/>
                  </a:lnTo>
                  <a:lnTo>
                    <a:pt x="0" y="0"/>
                  </a:lnTo>
                  <a:close/>
                </a:path>
              </a:pathLst>
            </a:custGeom>
            <a:solidFill>
              <a:srgbClr val="53565A">
                <a:lumMod val="60000"/>
                <a:lumOff val="40000"/>
              </a:srgbClr>
            </a:solidFill>
            <a:ln w="19050">
              <a:solidFill>
                <a:sysClr val="window" lastClr="FFFFFF"/>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000" b="1" i="0" u="none" strike="noStrike" kern="0" cap="none" spc="0" normalizeH="0" baseline="0" noProof="0">
                <a:ln>
                  <a:noFill/>
                </a:ln>
                <a:solidFill>
                  <a:srgbClr val="002776"/>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sp>
        <p:nvSpPr>
          <p:cNvPr id="22" name="Trapezoid 21">
            <a:extLst>
              <a:ext uri="{FF2B5EF4-FFF2-40B4-BE49-F238E27FC236}">
                <a16:creationId xmlns:a16="http://schemas.microsoft.com/office/drawing/2014/main" id="{25AF408C-054F-EB0E-E707-8C4276516B05}"/>
              </a:ext>
            </a:extLst>
          </p:cNvPr>
          <p:cNvSpPr/>
          <p:nvPr/>
        </p:nvSpPr>
        <p:spPr bwMode="gray">
          <a:xfrm rot="10800000">
            <a:off x="501650" y="3281335"/>
            <a:ext cx="5197027" cy="271497"/>
          </a:xfrm>
          <a:prstGeom prst="trapezoid">
            <a:avLst>
              <a:gd name="adj" fmla="val 281108"/>
            </a:avLst>
          </a:prstGeom>
          <a:solidFill>
            <a:srgbClr val="53565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3CCCD73E-FCEC-46E3-381F-15E7D2C5FED6}"/>
              </a:ext>
            </a:extLst>
          </p:cNvPr>
          <p:cNvSpPr/>
          <p:nvPr/>
        </p:nvSpPr>
        <p:spPr bwMode="gray">
          <a:xfrm>
            <a:off x="1956213" y="3317526"/>
            <a:ext cx="2284835" cy="140617"/>
          </a:xfrm>
          <a:prstGeom prst="rect">
            <a:avLst/>
          </a:prstGeom>
          <a:noFill/>
          <a:ln w="19050" algn="ctr">
            <a:noFill/>
            <a:miter lim="800000"/>
            <a:headEnd/>
            <a:tailEnd/>
          </a:ln>
        </p:spPr>
        <p:txBody>
          <a:bodyPr wrap="square" lIns="0" tIns="0" rIns="0" bIns="0" rtlCol="0" anchor="ctr"/>
          <a:lstStyle/>
          <a:p>
            <a:pPr algn="ctr">
              <a:lnSpc>
                <a:spcPct val="106000"/>
              </a:lnSpc>
              <a:buFont typeface="Wingdings 2" pitchFamily="18" charset="2"/>
              <a:buNone/>
            </a:pPr>
            <a:r>
              <a:rPr lang="en-US" sz="1000" b="1" i="1">
                <a:solidFill>
                  <a:prstClr val="white"/>
                </a:solidFill>
                <a:latin typeface="Verdana" panose="020B0604030504040204" pitchFamily="34" charset="0"/>
                <a:ea typeface="Verdana" panose="020B0604030504040204" pitchFamily="34" charset="0"/>
                <a:cs typeface="Arial" panose="020B0604020202020204" pitchFamily="34" charset="0"/>
              </a:rPr>
              <a:t>Key Offerings</a:t>
            </a:r>
          </a:p>
        </p:txBody>
      </p:sp>
      <p:sp>
        <p:nvSpPr>
          <p:cNvPr id="24" name="Rectangle 23">
            <a:extLst>
              <a:ext uri="{FF2B5EF4-FFF2-40B4-BE49-F238E27FC236}">
                <a16:creationId xmlns:a16="http://schemas.microsoft.com/office/drawing/2014/main" id="{5375A2E5-27C6-CACD-95F3-75E35E9B3924}"/>
              </a:ext>
            </a:extLst>
          </p:cNvPr>
          <p:cNvSpPr/>
          <p:nvPr/>
        </p:nvSpPr>
        <p:spPr bwMode="gray">
          <a:xfrm>
            <a:off x="6089241" y="2448836"/>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algn="r">
              <a:lnSpc>
                <a:spcPct val="106000"/>
              </a:lnSpc>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	JBVNL, Jharkhand, India</a:t>
            </a:r>
          </a:p>
        </p:txBody>
      </p:sp>
      <p:sp>
        <p:nvSpPr>
          <p:cNvPr id="25" name="Rectangle 24">
            <a:extLst>
              <a:ext uri="{FF2B5EF4-FFF2-40B4-BE49-F238E27FC236}">
                <a16:creationId xmlns:a16="http://schemas.microsoft.com/office/drawing/2014/main" id="{4DF9E264-FDAC-978B-B0D1-2C08B2E8A9F7}"/>
              </a:ext>
            </a:extLst>
          </p:cNvPr>
          <p:cNvSpPr/>
          <p:nvPr/>
        </p:nvSpPr>
        <p:spPr bwMode="gray">
          <a:xfrm>
            <a:off x="6089240" y="2874505"/>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IT-PMO cum ICT Management Support in JBVNL (Retainership)</a:t>
            </a:r>
          </a:p>
        </p:txBody>
      </p:sp>
      <p:sp>
        <p:nvSpPr>
          <p:cNvPr id="26" name="Half Frame 25">
            <a:extLst>
              <a:ext uri="{FF2B5EF4-FFF2-40B4-BE49-F238E27FC236}">
                <a16:creationId xmlns:a16="http://schemas.microsoft.com/office/drawing/2014/main" id="{21934960-88B7-17BC-2348-BF8FD22AC46B}"/>
              </a:ext>
            </a:extLst>
          </p:cNvPr>
          <p:cNvSpPr/>
          <p:nvPr/>
        </p:nvSpPr>
        <p:spPr bwMode="gray">
          <a:xfrm rot="10800000">
            <a:off x="8312513" y="3231478"/>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7" name="Half Frame 26">
            <a:extLst>
              <a:ext uri="{FF2B5EF4-FFF2-40B4-BE49-F238E27FC236}">
                <a16:creationId xmlns:a16="http://schemas.microsoft.com/office/drawing/2014/main" id="{CE10A19D-C056-985E-16B8-B539FFDA4396}"/>
              </a:ext>
            </a:extLst>
          </p:cNvPr>
          <p:cNvSpPr/>
          <p:nvPr/>
        </p:nvSpPr>
        <p:spPr bwMode="gray">
          <a:xfrm rot="16200000">
            <a:off x="6046892" y="3233733"/>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8" name="Rectangle 27">
            <a:extLst>
              <a:ext uri="{FF2B5EF4-FFF2-40B4-BE49-F238E27FC236}">
                <a16:creationId xmlns:a16="http://schemas.microsoft.com/office/drawing/2014/main" id="{9CA62075-02A6-3C29-417B-804C513F8AE0}"/>
              </a:ext>
            </a:extLst>
          </p:cNvPr>
          <p:cNvSpPr/>
          <p:nvPr/>
        </p:nvSpPr>
        <p:spPr bwMode="gray">
          <a:xfrm>
            <a:off x="9149446" y="1093895"/>
            <a:ext cx="2492653" cy="485753"/>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	DPL, West Bengal, India </a:t>
            </a:r>
          </a:p>
        </p:txBody>
      </p:sp>
      <p:sp>
        <p:nvSpPr>
          <p:cNvPr id="29" name="Rectangle 28">
            <a:extLst>
              <a:ext uri="{FF2B5EF4-FFF2-40B4-BE49-F238E27FC236}">
                <a16:creationId xmlns:a16="http://schemas.microsoft.com/office/drawing/2014/main" id="{DA9E2400-CD06-9D55-E356-52959C44B05B}"/>
              </a:ext>
            </a:extLst>
          </p:cNvPr>
          <p:cNvSpPr/>
          <p:nvPr/>
        </p:nvSpPr>
        <p:spPr bwMode="gray">
          <a:xfrm>
            <a:off x="9149445" y="1586030"/>
            <a:ext cx="2492653" cy="552256"/>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i="1" kern="0">
                <a:solidFill>
                  <a:prstClr val="black"/>
                </a:solidFill>
                <a:latin typeface="Verdana" panose="020B0604030504040204" pitchFamily="34" charset="0"/>
                <a:ea typeface="Verdana" panose="020B0604030504040204" pitchFamily="34" charset="0"/>
              </a:rPr>
              <a:t>Consultancy support for ERP Implementation at Durgapur Projects Limited </a:t>
            </a:r>
            <a:endParaRPr kumimoji="0" lang="en-US" sz="10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30" name="Half Frame 29">
            <a:extLst>
              <a:ext uri="{FF2B5EF4-FFF2-40B4-BE49-F238E27FC236}">
                <a16:creationId xmlns:a16="http://schemas.microsoft.com/office/drawing/2014/main" id="{79AC840B-1992-07D0-9B50-CCE7FF5183F8}"/>
              </a:ext>
            </a:extLst>
          </p:cNvPr>
          <p:cNvSpPr/>
          <p:nvPr/>
        </p:nvSpPr>
        <p:spPr bwMode="gray">
          <a:xfrm rot="10800000">
            <a:off x="11372717" y="1876536"/>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1" name="Half Frame 30">
            <a:extLst>
              <a:ext uri="{FF2B5EF4-FFF2-40B4-BE49-F238E27FC236}">
                <a16:creationId xmlns:a16="http://schemas.microsoft.com/office/drawing/2014/main" id="{4AD93193-FF84-C5E6-1789-D2A0BFCB9FBA}"/>
              </a:ext>
            </a:extLst>
          </p:cNvPr>
          <p:cNvSpPr/>
          <p:nvPr/>
        </p:nvSpPr>
        <p:spPr bwMode="gray">
          <a:xfrm rot="16200000">
            <a:off x="9107096" y="1878791"/>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grpSp>
        <p:nvGrpSpPr>
          <p:cNvPr id="32" name="Group 31">
            <a:extLst>
              <a:ext uri="{FF2B5EF4-FFF2-40B4-BE49-F238E27FC236}">
                <a16:creationId xmlns:a16="http://schemas.microsoft.com/office/drawing/2014/main" id="{D473DA84-9BD4-E129-14E7-F1504EA96CFC}"/>
              </a:ext>
            </a:extLst>
          </p:cNvPr>
          <p:cNvGrpSpPr/>
          <p:nvPr/>
        </p:nvGrpSpPr>
        <p:grpSpPr>
          <a:xfrm>
            <a:off x="6061920" y="1093895"/>
            <a:ext cx="2532746" cy="1065542"/>
            <a:chOff x="5926190" y="1341169"/>
            <a:chExt cx="2532746" cy="1065542"/>
          </a:xfrm>
        </p:grpSpPr>
        <p:sp>
          <p:nvSpPr>
            <p:cNvPr id="33" name="Rectangle 32">
              <a:extLst>
                <a:ext uri="{FF2B5EF4-FFF2-40B4-BE49-F238E27FC236}">
                  <a16:creationId xmlns:a16="http://schemas.microsoft.com/office/drawing/2014/main" id="{3EC7C219-6CF5-FC65-3B51-D4F400353F37}"/>
                </a:ext>
              </a:extLst>
            </p:cNvPr>
            <p:cNvSpPr/>
            <p:nvPr/>
          </p:nvSpPr>
          <p:spPr bwMode="gray">
            <a:xfrm>
              <a:off x="5966283" y="1341169"/>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1" indent="0" algn="r" defTabSz="914400" eaLnBrk="1" fontAlgn="auto" latinLnBrk="0" hangingPunct="1">
                <a:lnSpc>
                  <a:spcPct val="106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JBVNL, Jharkhand, India</a:t>
              </a:r>
            </a:p>
          </p:txBody>
        </p:sp>
        <p:sp>
          <p:nvSpPr>
            <p:cNvPr id="34" name="Rectangle 33">
              <a:extLst>
                <a:ext uri="{FF2B5EF4-FFF2-40B4-BE49-F238E27FC236}">
                  <a16:creationId xmlns:a16="http://schemas.microsoft.com/office/drawing/2014/main" id="{B60223B4-2459-6776-6F43-14F7819FF050}"/>
                </a:ext>
              </a:extLst>
            </p:cNvPr>
            <p:cNvSpPr/>
            <p:nvPr/>
          </p:nvSpPr>
          <p:spPr bwMode="gray">
            <a:xfrm>
              <a:off x="5966282" y="1766838"/>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Central Project Monitoring Unit (CPMU) at JBVNL (Retainership)</a:t>
              </a:r>
            </a:p>
          </p:txBody>
        </p:sp>
        <p:sp>
          <p:nvSpPr>
            <p:cNvPr id="35" name="Half Frame 34">
              <a:extLst>
                <a:ext uri="{FF2B5EF4-FFF2-40B4-BE49-F238E27FC236}">
                  <a16:creationId xmlns:a16="http://schemas.microsoft.com/office/drawing/2014/main" id="{661AB553-E9D9-8379-E8F9-BA677D28D1C1}"/>
                </a:ext>
              </a:extLst>
            </p:cNvPr>
            <p:cNvSpPr/>
            <p:nvPr/>
          </p:nvSpPr>
          <p:spPr bwMode="gray">
            <a:xfrm rot="10800000">
              <a:off x="8189555" y="2123811"/>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6" name="Half Frame 35">
              <a:extLst>
                <a:ext uri="{FF2B5EF4-FFF2-40B4-BE49-F238E27FC236}">
                  <a16:creationId xmlns:a16="http://schemas.microsoft.com/office/drawing/2014/main" id="{8B725272-C0EB-FDA8-7940-03657B15737B}"/>
                </a:ext>
              </a:extLst>
            </p:cNvPr>
            <p:cNvSpPr/>
            <p:nvPr/>
          </p:nvSpPr>
          <p:spPr bwMode="gray">
            <a:xfrm rot="16200000">
              <a:off x="5923934" y="2126066"/>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grpSp>
      <p:sp>
        <p:nvSpPr>
          <p:cNvPr id="37" name="Rectangle 36">
            <a:extLst>
              <a:ext uri="{FF2B5EF4-FFF2-40B4-BE49-F238E27FC236}">
                <a16:creationId xmlns:a16="http://schemas.microsoft.com/office/drawing/2014/main" id="{53828872-C4DC-154B-B552-891C0A0ADD94}"/>
              </a:ext>
            </a:extLst>
          </p:cNvPr>
          <p:cNvSpPr/>
          <p:nvPr/>
        </p:nvSpPr>
        <p:spPr bwMode="gray">
          <a:xfrm>
            <a:off x="9104842" y="5053513"/>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	 Jharkhand, India</a:t>
            </a:r>
          </a:p>
        </p:txBody>
      </p:sp>
      <p:sp>
        <p:nvSpPr>
          <p:cNvPr id="38" name="Rectangle 37">
            <a:extLst>
              <a:ext uri="{FF2B5EF4-FFF2-40B4-BE49-F238E27FC236}">
                <a16:creationId xmlns:a16="http://schemas.microsoft.com/office/drawing/2014/main" id="{3D564AAD-E7B4-F654-E369-0853EFC1347B}"/>
              </a:ext>
            </a:extLst>
          </p:cNvPr>
          <p:cNvSpPr/>
          <p:nvPr/>
        </p:nvSpPr>
        <p:spPr bwMode="gray">
          <a:xfrm>
            <a:off x="9104841" y="5479182"/>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Transaction advisory and monitoring of implementation of smart metering in the state of Jharkhand,</a:t>
            </a:r>
          </a:p>
        </p:txBody>
      </p:sp>
      <p:sp>
        <p:nvSpPr>
          <p:cNvPr id="39" name="Half Frame 38">
            <a:extLst>
              <a:ext uri="{FF2B5EF4-FFF2-40B4-BE49-F238E27FC236}">
                <a16:creationId xmlns:a16="http://schemas.microsoft.com/office/drawing/2014/main" id="{0CA1FEE8-4A7A-E848-EE8C-D93B8D4120A4}"/>
              </a:ext>
            </a:extLst>
          </p:cNvPr>
          <p:cNvSpPr/>
          <p:nvPr/>
        </p:nvSpPr>
        <p:spPr bwMode="gray">
          <a:xfrm rot="10800000">
            <a:off x="11328114" y="5836155"/>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40" name="Half Frame 39">
            <a:extLst>
              <a:ext uri="{FF2B5EF4-FFF2-40B4-BE49-F238E27FC236}">
                <a16:creationId xmlns:a16="http://schemas.microsoft.com/office/drawing/2014/main" id="{E244F48F-0C7D-083E-220F-2189E9DC19E7}"/>
              </a:ext>
            </a:extLst>
          </p:cNvPr>
          <p:cNvSpPr/>
          <p:nvPr/>
        </p:nvSpPr>
        <p:spPr bwMode="gray">
          <a:xfrm rot="16200000">
            <a:off x="9062493" y="5838410"/>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41" name="Rectangle 40">
            <a:extLst>
              <a:ext uri="{FF2B5EF4-FFF2-40B4-BE49-F238E27FC236}">
                <a16:creationId xmlns:a16="http://schemas.microsoft.com/office/drawing/2014/main" id="{9AFC9B77-FCF2-BB46-7243-9191A4D701FB}"/>
              </a:ext>
            </a:extLst>
          </p:cNvPr>
          <p:cNvSpPr/>
          <p:nvPr/>
        </p:nvSpPr>
        <p:spPr bwMode="gray">
          <a:xfrm>
            <a:off x="9144768" y="3720836"/>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JBVNL, Jharkhand, India</a:t>
            </a:r>
          </a:p>
        </p:txBody>
      </p:sp>
      <p:sp>
        <p:nvSpPr>
          <p:cNvPr id="42" name="Rectangle 41">
            <a:extLst>
              <a:ext uri="{FF2B5EF4-FFF2-40B4-BE49-F238E27FC236}">
                <a16:creationId xmlns:a16="http://schemas.microsoft.com/office/drawing/2014/main" id="{140E4BC5-0CF2-C791-0254-52E6A7B5EA1B}"/>
              </a:ext>
            </a:extLst>
          </p:cNvPr>
          <p:cNvSpPr/>
          <p:nvPr/>
        </p:nvSpPr>
        <p:spPr bwMode="gray">
          <a:xfrm>
            <a:off x="9144767" y="4146505"/>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i="1" kern="0">
                <a:solidFill>
                  <a:prstClr val="black"/>
                </a:solidFill>
                <a:latin typeface="Verdana" panose="020B0604030504040204" pitchFamily="34" charset="0"/>
                <a:ea typeface="Verdana" panose="020B0604030504040204" pitchFamily="34" charset="0"/>
              </a:rPr>
              <a:t>P</a:t>
            </a:r>
            <a:r>
              <a:rPr kumimoji="0" lang="en-US" sz="10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reparation of a Fixed Asset Register (FAR) for Jharkhand Bijli Vitran Nigam Limited (JBVNL) </a:t>
            </a:r>
          </a:p>
        </p:txBody>
      </p:sp>
      <p:sp>
        <p:nvSpPr>
          <p:cNvPr id="43" name="Half Frame 42">
            <a:extLst>
              <a:ext uri="{FF2B5EF4-FFF2-40B4-BE49-F238E27FC236}">
                <a16:creationId xmlns:a16="http://schemas.microsoft.com/office/drawing/2014/main" id="{FED19843-9298-772F-97CF-21C6C359390A}"/>
              </a:ext>
            </a:extLst>
          </p:cNvPr>
          <p:cNvSpPr/>
          <p:nvPr/>
        </p:nvSpPr>
        <p:spPr bwMode="gray">
          <a:xfrm rot="10800000">
            <a:off x="11368040" y="4503478"/>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44" name="Half Frame 43">
            <a:extLst>
              <a:ext uri="{FF2B5EF4-FFF2-40B4-BE49-F238E27FC236}">
                <a16:creationId xmlns:a16="http://schemas.microsoft.com/office/drawing/2014/main" id="{E6905687-CC9D-E06D-9B00-E94184712B04}"/>
              </a:ext>
            </a:extLst>
          </p:cNvPr>
          <p:cNvSpPr/>
          <p:nvPr/>
        </p:nvSpPr>
        <p:spPr bwMode="gray">
          <a:xfrm rot="16200000">
            <a:off x="9102419" y="4505733"/>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46" name="Rectangle 45">
            <a:extLst>
              <a:ext uri="{FF2B5EF4-FFF2-40B4-BE49-F238E27FC236}">
                <a16:creationId xmlns:a16="http://schemas.microsoft.com/office/drawing/2014/main" id="{8EF4C1FD-217F-185C-5670-19B54E78D8D5}"/>
              </a:ext>
            </a:extLst>
          </p:cNvPr>
          <p:cNvSpPr/>
          <p:nvPr/>
        </p:nvSpPr>
        <p:spPr bwMode="gray">
          <a:xfrm>
            <a:off x="9148672" y="2433104"/>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The World Bank</a:t>
            </a:r>
          </a:p>
        </p:txBody>
      </p:sp>
      <p:sp>
        <p:nvSpPr>
          <p:cNvPr id="47" name="Rectangle 46">
            <a:extLst>
              <a:ext uri="{FF2B5EF4-FFF2-40B4-BE49-F238E27FC236}">
                <a16:creationId xmlns:a16="http://schemas.microsoft.com/office/drawing/2014/main" id="{8587D04F-B67F-BB7A-BF6D-A9F60415186A}"/>
              </a:ext>
            </a:extLst>
          </p:cNvPr>
          <p:cNvSpPr/>
          <p:nvPr/>
        </p:nvSpPr>
        <p:spPr bwMode="gray">
          <a:xfrm>
            <a:off x="9148671" y="2858773"/>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DPR for Smart Grid Deployment in Udaipur Smart City</a:t>
            </a:r>
          </a:p>
        </p:txBody>
      </p:sp>
      <p:sp>
        <p:nvSpPr>
          <p:cNvPr id="48" name="Half Frame 47">
            <a:extLst>
              <a:ext uri="{FF2B5EF4-FFF2-40B4-BE49-F238E27FC236}">
                <a16:creationId xmlns:a16="http://schemas.microsoft.com/office/drawing/2014/main" id="{918EBAA9-F3D2-4755-7D23-2B8204FEED08}"/>
              </a:ext>
            </a:extLst>
          </p:cNvPr>
          <p:cNvSpPr/>
          <p:nvPr/>
        </p:nvSpPr>
        <p:spPr bwMode="gray">
          <a:xfrm rot="10800000">
            <a:off x="8092699" y="5648020"/>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49" name="Half Frame 48">
            <a:extLst>
              <a:ext uri="{FF2B5EF4-FFF2-40B4-BE49-F238E27FC236}">
                <a16:creationId xmlns:a16="http://schemas.microsoft.com/office/drawing/2014/main" id="{D45079F0-75F2-FB87-F715-D485F7B30F1C}"/>
              </a:ext>
            </a:extLst>
          </p:cNvPr>
          <p:cNvSpPr/>
          <p:nvPr/>
        </p:nvSpPr>
        <p:spPr bwMode="gray">
          <a:xfrm rot="16200000">
            <a:off x="9106323" y="3218001"/>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50" name="Rectangle 49">
            <a:extLst>
              <a:ext uri="{FF2B5EF4-FFF2-40B4-BE49-F238E27FC236}">
                <a16:creationId xmlns:a16="http://schemas.microsoft.com/office/drawing/2014/main" id="{BE6ADF33-4B5A-AA64-5206-10C49F5896FD}"/>
              </a:ext>
            </a:extLst>
          </p:cNvPr>
          <p:cNvSpPr/>
          <p:nvPr/>
        </p:nvSpPr>
        <p:spPr bwMode="gray">
          <a:xfrm>
            <a:off x="6021827" y="5017778"/>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1" indent="0" algn="r" defTabSz="914400" eaLnBrk="1" fontAlgn="auto" latinLnBrk="0" hangingPunct="1">
              <a:lnSpc>
                <a:spcPct val="106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Power Cell, </a:t>
            </a:r>
          </a:p>
          <a:p>
            <a:pPr marL="0" marR="0" lvl="1" indent="0" algn="r" defTabSz="914400" eaLnBrk="1" fontAlgn="auto" latinLnBrk="0" hangingPunct="1">
              <a:lnSpc>
                <a:spcPct val="106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Government of Bangladesh</a:t>
            </a:r>
          </a:p>
        </p:txBody>
      </p:sp>
      <p:sp>
        <p:nvSpPr>
          <p:cNvPr id="51" name="Rectangle 50">
            <a:extLst>
              <a:ext uri="{FF2B5EF4-FFF2-40B4-BE49-F238E27FC236}">
                <a16:creationId xmlns:a16="http://schemas.microsoft.com/office/drawing/2014/main" id="{9ACC4C79-003C-68F6-4B36-E97668F01F54}"/>
              </a:ext>
            </a:extLst>
          </p:cNvPr>
          <p:cNvSpPr/>
          <p:nvPr/>
        </p:nvSpPr>
        <p:spPr bwMode="gray">
          <a:xfrm>
            <a:off x="6021826" y="5443447"/>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ICT Roadmap for all the power utilities in Bangladesh</a:t>
            </a:r>
          </a:p>
        </p:txBody>
      </p:sp>
      <p:sp>
        <p:nvSpPr>
          <p:cNvPr id="52" name="Half Frame 51">
            <a:extLst>
              <a:ext uri="{FF2B5EF4-FFF2-40B4-BE49-F238E27FC236}">
                <a16:creationId xmlns:a16="http://schemas.microsoft.com/office/drawing/2014/main" id="{4E8F8704-BD26-C28C-5F73-0FA914996343}"/>
              </a:ext>
            </a:extLst>
          </p:cNvPr>
          <p:cNvSpPr/>
          <p:nvPr/>
        </p:nvSpPr>
        <p:spPr bwMode="gray">
          <a:xfrm rot="10800000">
            <a:off x="8245099" y="5800420"/>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53" name="Half Frame 52">
            <a:extLst>
              <a:ext uri="{FF2B5EF4-FFF2-40B4-BE49-F238E27FC236}">
                <a16:creationId xmlns:a16="http://schemas.microsoft.com/office/drawing/2014/main" id="{009C6083-710B-CCF3-06BF-425E65FAC6EB}"/>
              </a:ext>
            </a:extLst>
          </p:cNvPr>
          <p:cNvSpPr/>
          <p:nvPr/>
        </p:nvSpPr>
        <p:spPr bwMode="gray">
          <a:xfrm rot="16200000">
            <a:off x="5979478" y="5802675"/>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54" name="Rectangle 53">
            <a:extLst>
              <a:ext uri="{FF2B5EF4-FFF2-40B4-BE49-F238E27FC236}">
                <a16:creationId xmlns:a16="http://schemas.microsoft.com/office/drawing/2014/main" id="{FDDD0A75-0BF7-0638-E476-398B2943893A}"/>
              </a:ext>
            </a:extLst>
          </p:cNvPr>
          <p:cNvSpPr/>
          <p:nvPr/>
        </p:nvSpPr>
        <p:spPr bwMode="gray">
          <a:xfrm>
            <a:off x="6061921" y="3693345"/>
            <a:ext cx="2492653" cy="403218"/>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WBSEDCL, West Bengal, India</a:t>
            </a:r>
          </a:p>
        </p:txBody>
      </p:sp>
      <p:sp>
        <p:nvSpPr>
          <p:cNvPr id="55" name="Rectangle 54">
            <a:extLst>
              <a:ext uri="{FF2B5EF4-FFF2-40B4-BE49-F238E27FC236}">
                <a16:creationId xmlns:a16="http://schemas.microsoft.com/office/drawing/2014/main" id="{D5143424-29FF-2CC3-BBCC-625326E40CDE}"/>
              </a:ext>
            </a:extLst>
          </p:cNvPr>
          <p:cNvSpPr/>
          <p:nvPr/>
        </p:nvSpPr>
        <p:spPr bwMode="gray">
          <a:xfrm>
            <a:off x="6061920" y="4119014"/>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Project Management Consultancy for implementation of Smart Meter (AMI-SP)</a:t>
            </a:r>
          </a:p>
        </p:txBody>
      </p:sp>
      <p:sp>
        <p:nvSpPr>
          <p:cNvPr id="56" name="Half Frame 55">
            <a:extLst>
              <a:ext uri="{FF2B5EF4-FFF2-40B4-BE49-F238E27FC236}">
                <a16:creationId xmlns:a16="http://schemas.microsoft.com/office/drawing/2014/main" id="{1ECB72B6-A436-0AB3-632F-A55C02069AE0}"/>
              </a:ext>
            </a:extLst>
          </p:cNvPr>
          <p:cNvSpPr/>
          <p:nvPr/>
        </p:nvSpPr>
        <p:spPr bwMode="gray">
          <a:xfrm rot="10800000">
            <a:off x="8285193" y="447598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57" name="Half Frame 56">
            <a:extLst>
              <a:ext uri="{FF2B5EF4-FFF2-40B4-BE49-F238E27FC236}">
                <a16:creationId xmlns:a16="http://schemas.microsoft.com/office/drawing/2014/main" id="{1F13266D-8C3C-1AFF-13E6-7F8DCE42B1D6}"/>
              </a:ext>
            </a:extLst>
          </p:cNvPr>
          <p:cNvSpPr/>
          <p:nvPr/>
        </p:nvSpPr>
        <p:spPr bwMode="gray">
          <a:xfrm rot="16200000">
            <a:off x="6019572" y="4478242"/>
            <a:ext cx="261750" cy="257238"/>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58" name="Rectangle 57">
            <a:extLst>
              <a:ext uri="{FF2B5EF4-FFF2-40B4-BE49-F238E27FC236}">
                <a16:creationId xmlns:a16="http://schemas.microsoft.com/office/drawing/2014/main" id="{F3F06664-3E2C-E953-B605-A141DB18F6D1}"/>
              </a:ext>
            </a:extLst>
          </p:cNvPr>
          <p:cNvSpPr/>
          <p:nvPr/>
        </p:nvSpPr>
        <p:spPr>
          <a:xfrm>
            <a:off x="533708" y="3904482"/>
            <a:ext cx="1211837" cy="861774"/>
          </a:xfrm>
          <a:prstGeom prst="rect">
            <a:avLst/>
          </a:prstGeom>
        </p:spPr>
        <p:txBody>
          <a:bodyPr wrap="square">
            <a:spAutoFit/>
          </a:bodyPr>
          <a:lstStyle/>
          <a:p>
            <a:pPr algn="ctr"/>
            <a:r>
              <a:rPr lang="en-US" sz="1000">
                <a:solidFill>
                  <a:srgbClr val="FFFFFF"/>
                </a:solidFill>
                <a:latin typeface="Verdana" panose="020B0604030504040204" pitchFamily="34" charset="0"/>
                <a:ea typeface="Verdana" panose="020B0604030504040204" pitchFamily="34" charset="0"/>
                <a:cs typeface="Arial" panose="020B0604020202020204" pitchFamily="34" charset="0"/>
              </a:rPr>
              <a:t>Studies to support seamless renewables and DER integration</a:t>
            </a:r>
            <a:endParaRPr lang="en-US" sz="100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E3B68DB6-608B-7E3D-FDBA-D831A000AC6A}"/>
              </a:ext>
            </a:extLst>
          </p:cNvPr>
          <p:cNvSpPr/>
          <p:nvPr/>
        </p:nvSpPr>
        <p:spPr>
          <a:xfrm>
            <a:off x="2022370" y="3898184"/>
            <a:ext cx="1211837" cy="861774"/>
          </a:xfrm>
          <a:prstGeom prst="rect">
            <a:avLst/>
          </a:prstGeom>
        </p:spPr>
        <p:txBody>
          <a:bodyPr wrap="square">
            <a:spAutoFit/>
          </a:bodyPr>
          <a:lstStyle/>
          <a:p>
            <a:pPr algn="ctr"/>
            <a:r>
              <a:rPr lang="en-US" sz="1000">
                <a:solidFill>
                  <a:srgbClr val="FFFFFF"/>
                </a:solidFill>
                <a:latin typeface="Verdana" panose="020B0604030504040204" pitchFamily="34" charset="0"/>
                <a:ea typeface="Verdana" panose="020B0604030504040204" pitchFamily="34" charset="0"/>
                <a:cs typeface="Arial" panose="020B0604020202020204" pitchFamily="34" charset="0"/>
              </a:rPr>
              <a:t>Benefits modelling and simulation of ESS value streams</a:t>
            </a:r>
          </a:p>
        </p:txBody>
      </p:sp>
      <p:sp>
        <p:nvSpPr>
          <p:cNvPr id="60" name="Rectangle 59">
            <a:extLst>
              <a:ext uri="{FF2B5EF4-FFF2-40B4-BE49-F238E27FC236}">
                <a16:creationId xmlns:a16="http://schemas.microsoft.com/office/drawing/2014/main" id="{893ABCDF-F380-F758-AACA-17115D4B8037}"/>
              </a:ext>
            </a:extLst>
          </p:cNvPr>
          <p:cNvSpPr/>
          <p:nvPr/>
        </p:nvSpPr>
        <p:spPr>
          <a:xfrm>
            <a:off x="3317575" y="3904482"/>
            <a:ext cx="1211837" cy="553998"/>
          </a:xfrm>
          <a:prstGeom prst="rect">
            <a:avLst/>
          </a:prstGeom>
        </p:spPr>
        <p:txBody>
          <a:bodyPr wrap="square">
            <a:spAutoFit/>
          </a:bodyPr>
          <a:lstStyle/>
          <a:p>
            <a:pPr algn="ctr"/>
            <a:r>
              <a:rPr lang="en-US" sz="1000">
                <a:solidFill>
                  <a:srgbClr val="FFFFFF"/>
                </a:solidFill>
                <a:latin typeface="Verdana" panose="020B0604030504040204" pitchFamily="34" charset="0"/>
                <a:ea typeface="Verdana" panose="020B0604030504040204" pitchFamily="34" charset="0"/>
                <a:cs typeface="Arial" panose="020B0604020202020204" pitchFamily="34" charset="0"/>
              </a:rPr>
              <a:t>Cost efficiency through digital tools</a:t>
            </a:r>
            <a:endParaRPr lang="en-US" sz="100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61" name="Rectangle 60">
            <a:extLst>
              <a:ext uri="{FF2B5EF4-FFF2-40B4-BE49-F238E27FC236}">
                <a16:creationId xmlns:a16="http://schemas.microsoft.com/office/drawing/2014/main" id="{9BDE18DB-6BDA-74C2-0F5F-2CCC6366C959}"/>
              </a:ext>
            </a:extLst>
          </p:cNvPr>
          <p:cNvSpPr/>
          <p:nvPr/>
        </p:nvSpPr>
        <p:spPr>
          <a:xfrm>
            <a:off x="4665824" y="3925402"/>
            <a:ext cx="1101670" cy="707886"/>
          </a:xfrm>
          <a:prstGeom prst="rect">
            <a:avLst/>
          </a:prstGeom>
        </p:spPr>
        <p:txBody>
          <a:bodyPr wrap="square">
            <a:spAutoFit/>
          </a:bodyPr>
          <a:lstStyle/>
          <a:p>
            <a:pPr algn="ctr"/>
            <a:r>
              <a:rPr lang="en-US" sz="1000">
                <a:solidFill>
                  <a:srgbClr val="FFFFFF"/>
                </a:solidFill>
                <a:latin typeface="Verdana" panose="020B0604030504040204" pitchFamily="34" charset="0"/>
                <a:ea typeface="Verdana" panose="020B0604030504040204" pitchFamily="34" charset="0"/>
                <a:cs typeface="Arial" panose="020B0604020202020204" pitchFamily="34" charset="0"/>
              </a:rPr>
              <a:t>Consumer centric business models</a:t>
            </a:r>
            <a:endParaRPr lang="en-US" sz="100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02F27007-605D-E3E2-AC58-B39A5A13DCB5}"/>
              </a:ext>
            </a:extLst>
          </p:cNvPr>
          <p:cNvSpPr/>
          <p:nvPr/>
        </p:nvSpPr>
        <p:spPr>
          <a:xfrm>
            <a:off x="543233" y="5182579"/>
            <a:ext cx="1211837" cy="707886"/>
          </a:xfrm>
          <a:prstGeom prst="rect">
            <a:avLst/>
          </a:prstGeom>
        </p:spPr>
        <p:txBody>
          <a:bodyPr wrap="square">
            <a:spAutoFit/>
          </a:bodyPr>
          <a:lstStyle/>
          <a:p>
            <a:pPr algn="ctr"/>
            <a:r>
              <a:rPr lang="en-US" sz="1000">
                <a:solidFill>
                  <a:srgbClr val="FFFFFF"/>
                </a:solidFill>
                <a:latin typeface="Verdana" panose="020B0604030504040204" pitchFamily="34" charset="0"/>
                <a:ea typeface="Verdana" panose="020B0604030504040204" pitchFamily="34" charset="0"/>
                <a:cs typeface="Arial" panose="020B0604020202020204" pitchFamily="34" charset="0"/>
              </a:rPr>
              <a:t>Support seamless communication with consumers</a:t>
            </a:r>
            <a:endParaRPr lang="en-US" sz="100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30D6C9D1-1254-5009-C89B-68284B115621}"/>
              </a:ext>
            </a:extLst>
          </p:cNvPr>
          <p:cNvSpPr/>
          <p:nvPr/>
        </p:nvSpPr>
        <p:spPr>
          <a:xfrm>
            <a:off x="1987551" y="5182579"/>
            <a:ext cx="1211837" cy="553998"/>
          </a:xfrm>
          <a:prstGeom prst="rect">
            <a:avLst/>
          </a:prstGeom>
        </p:spPr>
        <p:txBody>
          <a:bodyPr wrap="square">
            <a:spAutoFit/>
          </a:bodyPr>
          <a:lstStyle/>
          <a:p>
            <a:pPr algn="ctr"/>
            <a:r>
              <a:rPr lang="en-US" sz="1000">
                <a:solidFill>
                  <a:srgbClr val="FFFFFF"/>
                </a:solidFill>
                <a:latin typeface="Verdana" panose="020B0604030504040204" pitchFamily="34" charset="0"/>
                <a:ea typeface="Verdana" panose="020B0604030504040204" pitchFamily="34" charset="0"/>
                <a:cs typeface="Arial" panose="020B0604020202020204" pitchFamily="34" charset="0"/>
              </a:rPr>
              <a:t>Planning for emerging technologies</a:t>
            </a:r>
            <a:endParaRPr lang="en-US" sz="100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64" name="Rectangle 63">
            <a:extLst>
              <a:ext uri="{FF2B5EF4-FFF2-40B4-BE49-F238E27FC236}">
                <a16:creationId xmlns:a16="http://schemas.microsoft.com/office/drawing/2014/main" id="{8F09FB4E-4009-A07F-EF36-DDE84DE183CD}"/>
              </a:ext>
            </a:extLst>
          </p:cNvPr>
          <p:cNvSpPr/>
          <p:nvPr/>
        </p:nvSpPr>
        <p:spPr>
          <a:xfrm>
            <a:off x="3332854" y="5269373"/>
            <a:ext cx="1211837" cy="400110"/>
          </a:xfrm>
          <a:prstGeom prst="rect">
            <a:avLst/>
          </a:prstGeom>
        </p:spPr>
        <p:txBody>
          <a:bodyPr wrap="square">
            <a:spAutoFit/>
          </a:bodyPr>
          <a:lstStyle/>
          <a:p>
            <a:pPr algn="ctr"/>
            <a:r>
              <a:rPr lang="en-US" sz="1000">
                <a:solidFill>
                  <a:srgbClr val="FFFFFF"/>
                </a:solidFill>
                <a:latin typeface="Verdana" panose="020B0604030504040204" pitchFamily="34" charset="0"/>
                <a:ea typeface="Verdana" panose="020B0604030504040204" pitchFamily="34" charset="0"/>
                <a:cs typeface="Arial" panose="020B0604020202020204" pitchFamily="34" charset="0"/>
              </a:rPr>
              <a:t>Developing EV ecosystem</a:t>
            </a:r>
            <a:endParaRPr lang="en-US" sz="100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65" name="Rectangle 64">
            <a:extLst>
              <a:ext uri="{FF2B5EF4-FFF2-40B4-BE49-F238E27FC236}">
                <a16:creationId xmlns:a16="http://schemas.microsoft.com/office/drawing/2014/main" id="{F16C3C88-91D3-A4A4-692E-33B3CD7EB0D9}"/>
              </a:ext>
            </a:extLst>
          </p:cNvPr>
          <p:cNvSpPr/>
          <p:nvPr/>
        </p:nvSpPr>
        <p:spPr>
          <a:xfrm>
            <a:off x="4598213" y="5245543"/>
            <a:ext cx="1211837" cy="553998"/>
          </a:xfrm>
          <a:prstGeom prst="rect">
            <a:avLst/>
          </a:prstGeom>
        </p:spPr>
        <p:txBody>
          <a:bodyPr wrap="square">
            <a:spAutoFit/>
          </a:bodyPr>
          <a:lstStyle/>
          <a:p>
            <a:pPr algn="ctr"/>
            <a:r>
              <a:rPr lang="en-US" sz="1000">
                <a:solidFill>
                  <a:srgbClr val="FFFFFF"/>
                </a:solidFill>
                <a:latin typeface="Verdana" panose="020B0604030504040204" pitchFamily="34" charset="0"/>
                <a:ea typeface="Verdana" panose="020B0604030504040204" pitchFamily="34" charset="0"/>
                <a:cs typeface="Arial" panose="020B0604020202020204" pitchFamily="34" charset="0"/>
              </a:rPr>
              <a:t>Digital &amp; Technology Roadmap</a:t>
            </a:r>
            <a:endParaRPr lang="en-US" sz="100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pic>
        <p:nvPicPr>
          <p:cNvPr id="67" name="Picture 66">
            <a:extLst>
              <a:ext uri="{FF2B5EF4-FFF2-40B4-BE49-F238E27FC236}">
                <a16:creationId xmlns:a16="http://schemas.microsoft.com/office/drawing/2014/main" id="{C2CF7B82-E814-894B-6E13-39BF9F76F85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9216085" y="2488087"/>
            <a:ext cx="1343953" cy="283051"/>
          </a:xfrm>
          <a:prstGeom prst="rect">
            <a:avLst/>
          </a:prstGeom>
        </p:spPr>
      </p:pic>
      <p:pic>
        <p:nvPicPr>
          <p:cNvPr id="70" name="Picture 9" descr="Power Cell - About | Facebook">
            <a:extLst>
              <a:ext uri="{FF2B5EF4-FFF2-40B4-BE49-F238E27FC236}">
                <a16:creationId xmlns:a16="http://schemas.microsoft.com/office/drawing/2014/main" id="{C2750A72-F3F3-52EF-D5EE-9081D9A05E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9253" y="5027526"/>
            <a:ext cx="385459" cy="385459"/>
          </a:xfrm>
          <a:prstGeom prst="rect">
            <a:avLst/>
          </a:prstGeom>
          <a:noFill/>
          <a:extLst>
            <a:ext uri="{909E8E84-426E-40DD-AFC4-6F175D3DCCD1}">
              <a14:hiddenFill xmlns:a14="http://schemas.microsoft.com/office/drawing/2010/main">
                <a:solidFill>
                  <a:srgbClr val="FFFFFF"/>
                </a:solidFill>
              </a14:hiddenFill>
            </a:ext>
          </a:extLst>
        </p:spPr>
      </p:pic>
      <p:sp>
        <p:nvSpPr>
          <p:cNvPr id="73" name="Half Frame 72">
            <a:extLst>
              <a:ext uri="{FF2B5EF4-FFF2-40B4-BE49-F238E27FC236}">
                <a16:creationId xmlns:a16="http://schemas.microsoft.com/office/drawing/2014/main" id="{736B5529-0CD6-FB80-B162-9E35FBF5F8D5}"/>
              </a:ext>
            </a:extLst>
          </p:cNvPr>
          <p:cNvSpPr/>
          <p:nvPr/>
        </p:nvSpPr>
        <p:spPr bwMode="gray">
          <a:xfrm rot="10800000">
            <a:off x="11371944" y="3204797"/>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pic>
        <p:nvPicPr>
          <p:cNvPr id="2050" name="Picture 2" descr="The Durgapur Projects Limited, DPL ...">
            <a:extLst>
              <a:ext uri="{FF2B5EF4-FFF2-40B4-BE49-F238E27FC236}">
                <a16:creationId xmlns:a16="http://schemas.microsoft.com/office/drawing/2014/main" id="{20CF90AE-39B4-4A25-9A12-63FF69A148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4966" y="1119024"/>
            <a:ext cx="402959" cy="4029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Jharkhand Bijli Vitran Nigam Limited ...">
            <a:extLst>
              <a:ext uri="{FF2B5EF4-FFF2-40B4-BE49-F238E27FC236}">
                <a16:creationId xmlns:a16="http://schemas.microsoft.com/office/drawing/2014/main" id="{FFF507BE-A25C-EFFA-985A-EBF3863334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9290" y="1104589"/>
            <a:ext cx="376894" cy="376894"/>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4" descr="Jharkhand Bijli Vitran Nigam Limited ...">
            <a:extLst>
              <a:ext uri="{FF2B5EF4-FFF2-40B4-BE49-F238E27FC236}">
                <a16:creationId xmlns:a16="http://schemas.microsoft.com/office/drawing/2014/main" id="{277D5451-8E82-5E67-016F-083719928A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0768" y="2465350"/>
            <a:ext cx="376894" cy="376894"/>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4" descr="Jharkhand Bijli Vitran Nigam Limited ...">
            <a:extLst>
              <a:ext uri="{FF2B5EF4-FFF2-40B4-BE49-F238E27FC236}">
                <a16:creationId xmlns:a16="http://schemas.microsoft.com/office/drawing/2014/main" id="{B0ED05D1-250F-97AD-9311-324B87A437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77904" y="5066675"/>
            <a:ext cx="376894" cy="376894"/>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4" descr="Jharkhand Bijli Vitran Nigam Limited ...">
            <a:extLst>
              <a:ext uri="{FF2B5EF4-FFF2-40B4-BE49-F238E27FC236}">
                <a16:creationId xmlns:a16="http://schemas.microsoft.com/office/drawing/2014/main" id="{43DB7D66-564A-0FD5-0B37-E20AC24AE0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23616" y="3742120"/>
            <a:ext cx="376894" cy="376894"/>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WBSEDCL (@WBSEDCL1) / X">
            <a:extLst>
              <a:ext uri="{FF2B5EF4-FFF2-40B4-BE49-F238E27FC236}">
                <a16:creationId xmlns:a16="http://schemas.microsoft.com/office/drawing/2014/main" id="{A6FFC189-A44D-28D5-0CD6-410C6CE030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64112" y="3697542"/>
            <a:ext cx="398821" cy="398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621995"/>
      </p:ext>
    </p:extLst>
  </p:cSld>
  <p:clrMapOvr>
    <a:overrideClrMapping bg1="lt1" tx1="dk1" bg2="lt2" tx2="dk2" accent1="accent1" accent2="accent2" accent3="accent3" accent4="accent4" accent5="accent5" accent6="accent6" hlink="hlink" folHlink="folHlink"/>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Deloitte Offerings &amp; Credentials - </a:t>
            </a:r>
            <a:r>
              <a:rPr kumimoji="0" lang="en-IN"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Utility Restructuring</a:t>
            </a:r>
            <a:endPar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C27B762-F003-B99E-E2A9-067CB34F784C}"/>
              </a:ext>
            </a:extLst>
          </p:cNvPr>
          <p:cNvSpPr txBox="1"/>
          <p:nvPr/>
        </p:nvSpPr>
        <p:spPr>
          <a:xfrm>
            <a:off x="507343" y="1076015"/>
            <a:ext cx="5026417" cy="317393"/>
          </a:xfrm>
          <a:prstGeom prst="rect">
            <a:avLst/>
          </a:prstGeom>
          <a:solidFill>
            <a:schemeClr val="accent4"/>
          </a:solidFill>
          <a:ln w="25400" cap="flat" cmpd="sng" algn="ctr">
            <a:noFill/>
            <a:prstDash val="solid"/>
          </a:ln>
          <a:effectLst/>
        </p:spPr>
        <p:txBody>
          <a:bodyPr wrap="none" lIns="0" tIns="0" rIns="0" bIns="0" rtlCol="0" anchor="ctr">
            <a:noAutofit/>
          </a:bodyPr>
          <a:lstStyle/>
          <a:p>
            <a:pPr marL="182563" marR="0" lvl="0" indent="0" algn="ctr" defTabSz="914400" eaLnBrk="1" fontAlgn="auto" latinLnBrk="0" hangingPunct="1">
              <a:lnSpc>
                <a:spcPct val="100000"/>
              </a:lnSpc>
              <a:spcBef>
                <a:spcPts val="0"/>
              </a:spcBef>
              <a:spcAft>
                <a:spcPts val="1333"/>
              </a:spcAft>
              <a:buClrTx/>
              <a:buSzPct val="100000"/>
              <a:buFontTx/>
              <a:buNone/>
              <a:tabLst/>
              <a:defRPr/>
            </a:pPr>
            <a:r>
              <a:rPr kumimoji="0" lang="en-US"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Utility Restructuring</a:t>
            </a: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32F20E1-4159-1125-C1DF-1A7449566D8E}"/>
              </a:ext>
            </a:extLst>
          </p:cNvPr>
          <p:cNvSpPr/>
          <p:nvPr/>
        </p:nvSpPr>
        <p:spPr bwMode="gray">
          <a:xfrm>
            <a:off x="6015819" y="2428874"/>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DVC, West Bengal</a:t>
            </a:r>
          </a:p>
        </p:txBody>
      </p:sp>
      <p:sp>
        <p:nvSpPr>
          <p:cNvPr id="5" name="Rectangle 4">
            <a:extLst>
              <a:ext uri="{FF2B5EF4-FFF2-40B4-BE49-F238E27FC236}">
                <a16:creationId xmlns:a16="http://schemas.microsoft.com/office/drawing/2014/main" id="{5F9C2C18-C4FE-9CA7-1B5E-8B1A11DFEB34}"/>
              </a:ext>
            </a:extLst>
          </p:cNvPr>
          <p:cNvSpPr/>
          <p:nvPr/>
        </p:nvSpPr>
        <p:spPr bwMode="gray">
          <a:xfrm>
            <a:off x="6083232" y="2854543"/>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Due Diligence Assistance to Damodar</a:t>
            </a:r>
            <a:r>
              <a:rPr lang="en-US" sz="800" b="1" i="1" kern="0">
                <a:solidFill>
                  <a:prstClr val="black"/>
                </a:solidFill>
                <a:latin typeface="Verdana" panose="020B0604030504040204" pitchFamily="34" charset="0"/>
                <a:ea typeface="Verdana" panose="020B0604030504040204" pitchFamily="34" charset="0"/>
              </a:rPr>
              <a:t> Valley Corporation (DVC) Raghunathpur Plant</a:t>
            </a:r>
            <a:endPar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6" name="Half Frame 5">
            <a:extLst>
              <a:ext uri="{FF2B5EF4-FFF2-40B4-BE49-F238E27FC236}">
                <a16:creationId xmlns:a16="http://schemas.microsoft.com/office/drawing/2014/main" id="{6A6F636E-83AD-BE14-4890-DFFACCE9B4D1}"/>
              </a:ext>
            </a:extLst>
          </p:cNvPr>
          <p:cNvSpPr/>
          <p:nvPr/>
        </p:nvSpPr>
        <p:spPr bwMode="gray">
          <a:xfrm rot="10800000">
            <a:off x="8294037" y="3211516"/>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7" name="Half Frame 6">
            <a:extLst>
              <a:ext uri="{FF2B5EF4-FFF2-40B4-BE49-F238E27FC236}">
                <a16:creationId xmlns:a16="http://schemas.microsoft.com/office/drawing/2014/main" id="{27733565-B471-6120-F996-4FC0232FA862}"/>
              </a:ext>
            </a:extLst>
          </p:cNvPr>
          <p:cNvSpPr/>
          <p:nvPr/>
        </p:nvSpPr>
        <p:spPr bwMode="gray">
          <a:xfrm rot="16200000">
            <a:off x="6013563" y="3213771"/>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8" name="Rectangle 7">
            <a:extLst>
              <a:ext uri="{FF2B5EF4-FFF2-40B4-BE49-F238E27FC236}">
                <a16:creationId xmlns:a16="http://schemas.microsoft.com/office/drawing/2014/main" id="{648755C3-4BBE-DB51-928C-A081F37E3D3D}"/>
              </a:ext>
            </a:extLst>
          </p:cNvPr>
          <p:cNvSpPr/>
          <p:nvPr/>
        </p:nvSpPr>
        <p:spPr bwMode="gray">
          <a:xfrm>
            <a:off x="9199966" y="2420440"/>
            <a:ext cx="2492653" cy="485753"/>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DPL, West Bengal </a:t>
            </a:r>
          </a:p>
        </p:txBody>
      </p:sp>
      <p:sp>
        <p:nvSpPr>
          <p:cNvPr id="9" name="Rectangle 8">
            <a:extLst>
              <a:ext uri="{FF2B5EF4-FFF2-40B4-BE49-F238E27FC236}">
                <a16:creationId xmlns:a16="http://schemas.microsoft.com/office/drawing/2014/main" id="{D6553E91-10DB-4E52-4B34-A1F5B803329B}"/>
              </a:ext>
            </a:extLst>
          </p:cNvPr>
          <p:cNvSpPr/>
          <p:nvPr/>
        </p:nvSpPr>
        <p:spPr bwMode="gray">
          <a:xfrm>
            <a:off x="9304330" y="2912575"/>
            <a:ext cx="2388290" cy="552256"/>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Strategy Roadmap 2030 for </a:t>
            </a:r>
            <a:r>
              <a:rPr lang="en-US" sz="800" b="1" i="1" kern="0">
                <a:solidFill>
                  <a:prstClr val="black"/>
                </a:solidFill>
                <a:latin typeface="Verdana" panose="020B0604030504040204" pitchFamily="34" charset="0"/>
                <a:ea typeface="Verdana" panose="020B0604030504040204" pitchFamily="34" charset="0"/>
              </a:rPr>
              <a:t>Durgapur Projects Limited</a:t>
            </a:r>
            <a:r>
              <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a:t>
            </a:r>
          </a:p>
        </p:txBody>
      </p:sp>
      <p:sp>
        <p:nvSpPr>
          <p:cNvPr id="12" name="Half Frame 11">
            <a:extLst>
              <a:ext uri="{FF2B5EF4-FFF2-40B4-BE49-F238E27FC236}">
                <a16:creationId xmlns:a16="http://schemas.microsoft.com/office/drawing/2014/main" id="{3987885A-C9B9-600F-7A13-4D322BA5DEE7}"/>
              </a:ext>
            </a:extLst>
          </p:cNvPr>
          <p:cNvSpPr/>
          <p:nvPr/>
        </p:nvSpPr>
        <p:spPr bwMode="gray">
          <a:xfrm rot="10800000">
            <a:off x="11475420" y="3203081"/>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13" name="Half Frame 12">
            <a:extLst>
              <a:ext uri="{FF2B5EF4-FFF2-40B4-BE49-F238E27FC236}">
                <a16:creationId xmlns:a16="http://schemas.microsoft.com/office/drawing/2014/main" id="{6889021F-DB8A-84C9-BFA2-C4AF73F85359}"/>
              </a:ext>
            </a:extLst>
          </p:cNvPr>
          <p:cNvSpPr/>
          <p:nvPr/>
        </p:nvSpPr>
        <p:spPr bwMode="gray">
          <a:xfrm rot="16200000">
            <a:off x="9209798" y="3205336"/>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14" name="Rectangle 13">
            <a:extLst>
              <a:ext uri="{FF2B5EF4-FFF2-40B4-BE49-F238E27FC236}">
                <a16:creationId xmlns:a16="http://schemas.microsoft.com/office/drawing/2014/main" id="{3CA59AB3-881D-BB1D-ACEB-9E558AAABDDE}"/>
              </a:ext>
            </a:extLst>
          </p:cNvPr>
          <p:cNvSpPr/>
          <p:nvPr/>
        </p:nvSpPr>
        <p:spPr bwMode="gray">
          <a:xfrm>
            <a:off x="6015819" y="1073933"/>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                                             WBPDCL, India </a:t>
            </a:r>
          </a:p>
        </p:txBody>
      </p:sp>
      <p:sp>
        <p:nvSpPr>
          <p:cNvPr id="15" name="Rectangle 14">
            <a:extLst>
              <a:ext uri="{FF2B5EF4-FFF2-40B4-BE49-F238E27FC236}">
                <a16:creationId xmlns:a16="http://schemas.microsoft.com/office/drawing/2014/main" id="{A8681144-2CA7-88CE-2ABF-433301E9756D}"/>
              </a:ext>
            </a:extLst>
          </p:cNvPr>
          <p:cNvSpPr/>
          <p:nvPr/>
        </p:nvSpPr>
        <p:spPr bwMode="gray">
          <a:xfrm>
            <a:off x="6096004" y="1499602"/>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Assessment of Institutional Development and Human Resource Management of West Bengal Power Development Corporation Limited (WBPDCL)</a:t>
            </a:r>
          </a:p>
        </p:txBody>
      </p:sp>
      <p:sp>
        <p:nvSpPr>
          <p:cNvPr id="16" name="Half Frame 15">
            <a:extLst>
              <a:ext uri="{FF2B5EF4-FFF2-40B4-BE49-F238E27FC236}">
                <a16:creationId xmlns:a16="http://schemas.microsoft.com/office/drawing/2014/main" id="{022FD9B4-CFAD-47A4-1F8A-A75F2890A0C9}"/>
              </a:ext>
            </a:extLst>
          </p:cNvPr>
          <p:cNvSpPr/>
          <p:nvPr/>
        </p:nvSpPr>
        <p:spPr bwMode="gray">
          <a:xfrm rot="10800000">
            <a:off x="8294037" y="1856575"/>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17" name="Half Frame 16">
            <a:extLst>
              <a:ext uri="{FF2B5EF4-FFF2-40B4-BE49-F238E27FC236}">
                <a16:creationId xmlns:a16="http://schemas.microsoft.com/office/drawing/2014/main" id="{BF77E028-BC77-7B3E-2D14-C96A9A6A0ED4}"/>
              </a:ext>
            </a:extLst>
          </p:cNvPr>
          <p:cNvSpPr/>
          <p:nvPr/>
        </p:nvSpPr>
        <p:spPr bwMode="gray">
          <a:xfrm rot="16200000">
            <a:off x="6013563" y="1858830"/>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18" name="Rectangle 17">
            <a:extLst>
              <a:ext uri="{FF2B5EF4-FFF2-40B4-BE49-F238E27FC236}">
                <a16:creationId xmlns:a16="http://schemas.microsoft.com/office/drawing/2014/main" id="{34805A82-84BE-9398-2EBA-1664A5FE9D14}"/>
              </a:ext>
            </a:extLst>
          </p:cNvPr>
          <p:cNvSpPr/>
          <p:nvPr/>
        </p:nvSpPr>
        <p:spPr bwMode="gray">
          <a:xfrm>
            <a:off x="9223235" y="5123519"/>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	DVC, West Bengal</a:t>
            </a:r>
          </a:p>
        </p:txBody>
      </p:sp>
      <p:sp>
        <p:nvSpPr>
          <p:cNvPr id="19" name="Rectangle 18">
            <a:extLst>
              <a:ext uri="{FF2B5EF4-FFF2-40B4-BE49-F238E27FC236}">
                <a16:creationId xmlns:a16="http://schemas.microsoft.com/office/drawing/2014/main" id="{A7128CC2-0F11-1086-8B05-BAFC698449ED}"/>
              </a:ext>
            </a:extLst>
          </p:cNvPr>
          <p:cNvSpPr/>
          <p:nvPr/>
        </p:nvSpPr>
        <p:spPr bwMode="gray">
          <a:xfrm>
            <a:off x="9323088" y="5549188"/>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Tariff and Utility Regulatory support to Damodar</a:t>
            </a:r>
            <a:r>
              <a:rPr lang="en-US" sz="800" b="1" i="1" kern="0">
                <a:solidFill>
                  <a:prstClr val="black"/>
                </a:solidFill>
                <a:latin typeface="Verdana" panose="020B0604030504040204" pitchFamily="34" charset="0"/>
                <a:ea typeface="Verdana" panose="020B0604030504040204" pitchFamily="34" charset="0"/>
              </a:rPr>
              <a:t> Valley Corporation (DVC)</a:t>
            </a:r>
            <a:r>
              <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a:t>
            </a:r>
          </a:p>
        </p:txBody>
      </p:sp>
      <p:sp>
        <p:nvSpPr>
          <p:cNvPr id="20" name="Half Frame 19">
            <a:extLst>
              <a:ext uri="{FF2B5EF4-FFF2-40B4-BE49-F238E27FC236}">
                <a16:creationId xmlns:a16="http://schemas.microsoft.com/office/drawing/2014/main" id="{E63E299B-21B9-A235-1D6D-51DBFF99A37A}"/>
              </a:ext>
            </a:extLst>
          </p:cNvPr>
          <p:cNvSpPr/>
          <p:nvPr/>
        </p:nvSpPr>
        <p:spPr bwMode="gray">
          <a:xfrm rot="10800000">
            <a:off x="11498689" y="5906161"/>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1" name="Half Frame 20">
            <a:extLst>
              <a:ext uri="{FF2B5EF4-FFF2-40B4-BE49-F238E27FC236}">
                <a16:creationId xmlns:a16="http://schemas.microsoft.com/office/drawing/2014/main" id="{AA925423-9B59-4D6B-8FD6-89011FDAD78A}"/>
              </a:ext>
            </a:extLst>
          </p:cNvPr>
          <p:cNvSpPr/>
          <p:nvPr/>
        </p:nvSpPr>
        <p:spPr bwMode="gray">
          <a:xfrm rot="16200000">
            <a:off x="9233067" y="5908416"/>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2" name="Rectangle 21">
            <a:extLst>
              <a:ext uri="{FF2B5EF4-FFF2-40B4-BE49-F238E27FC236}">
                <a16:creationId xmlns:a16="http://schemas.microsoft.com/office/drawing/2014/main" id="{ADD71EEC-9127-58C1-62DE-C0D86570DCE0}"/>
              </a:ext>
            </a:extLst>
          </p:cNvPr>
          <p:cNvSpPr/>
          <p:nvPr/>
        </p:nvSpPr>
        <p:spPr bwMode="gray">
          <a:xfrm>
            <a:off x="6015819" y="3743559"/>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                 World Bank</a:t>
            </a:r>
          </a:p>
        </p:txBody>
      </p:sp>
      <p:sp>
        <p:nvSpPr>
          <p:cNvPr id="23" name="Rectangle 22">
            <a:extLst>
              <a:ext uri="{FF2B5EF4-FFF2-40B4-BE49-F238E27FC236}">
                <a16:creationId xmlns:a16="http://schemas.microsoft.com/office/drawing/2014/main" id="{9235A257-9DDA-30AE-3DFF-09C968335863}"/>
              </a:ext>
            </a:extLst>
          </p:cNvPr>
          <p:cNvSpPr/>
          <p:nvPr/>
        </p:nvSpPr>
        <p:spPr bwMode="gray">
          <a:xfrm>
            <a:off x="6055911" y="4169228"/>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Advanced Metering Infrastructure and Analytics Guidance Study for South Asian Power Distribution Utilities</a:t>
            </a:r>
          </a:p>
        </p:txBody>
      </p:sp>
      <p:sp>
        <p:nvSpPr>
          <p:cNvPr id="24" name="Half Frame 23">
            <a:extLst>
              <a:ext uri="{FF2B5EF4-FFF2-40B4-BE49-F238E27FC236}">
                <a16:creationId xmlns:a16="http://schemas.microsoft.com/office/drawing/2014/main" id="{990C958E-5F3F-F8CA-DE09-FC9C4251EED1}"/>
              </a:ext>
            </a:extLst>
          </p:cNvPr>
          <p:cNvSpPr/>
          <p:nvPr/>
        </p:nvSpPr>
        <p:spPr bwMode="gray">
          <a:xfrm rot="10800000">
            <a:off x="8260330" y="4526201"/>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5" name="Half Frame 24">
            <a:extLst>
              <a:ext uri="{FF2B5EF4-FFF2-40B4-BE49-F238E27FC236}">
                <a16:creationId xmlns:a16="http://schemas.microsoft.com/office/drawing/2014/main" id="{27B6EDF6-E30F-94F2-9BC3-AAE6BD3647DF}"/>
              </a:ext>
            </a:extLst>
          </p:cNvPr>
          <p:cNvSpPr/>
          <p:nvPr/>
        </p:nvSpPr>
        <p:spPr bwMode="gray">
          <a:xfrm rot="16200000">
            <a:off x="6013563" y="4528456"/>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6" name="Rectangle 25">
            <a:extLst>
              <a:ext uri="{FF2B5EF4-FFF2-40B4-BE49-F238E27FC236}">
                <a16:creationId xmlns:a16="http://schemas.microsoft.com/office/drawing/2014/main" id="{18BEFFC7-4D05-715B-7310-E2ECE31836E9}"/>
              </a:ext>
            </a:extLst>
          </p:cNvPr>
          <p:cNvSpPr/>
          <p:nvPr/>
        </p:nvSpPr>
        <p:spPr bwMode="gray">
          <a:xfrm>
            <a:off x="6015820" y="5126482"/>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USAID, Nepal</a:t>
            </a:r>
          </a:p>
        </p:txBody>
      </p:sp>
      <p:sp>
        <p:nvSpPr>
          <p:cNvPr id="27" name="Rectangle 26">
            <a:extLst>
              <a:ext uri="{FF2B5EF4-FFF2-40B4-BE49-F238E27FC236}">
                <a16:creationId xmlns:a16="http://schemas.microsoft.com/office/drawing/2014/main" id="{615EB3D8-D8FF-8A2A-F27B-07D8457A1D03}"/>
              </a:ext>
            </a:extLst>
          </p:cNvPr>
          <p:cNvSpPr/>
          <p:nvPr/>
        </p:nvSpPr>
        <p:spPr bwMode="gray">
          <a:xfrm>
            <a:off x="6015819" y="5552151"/>
            <a:ext cx="2492653" cy="583638"/>
          </a:xfrm>
          <a:prstGeom prst="rect">
            <a:avLst/>
          </a:prstGeom>
          <a:pattFill prst="pct10">
            <a:fgClr>
              <a:srgbClr val="E3E48D"/>
            </a:fgClr>
            <a:bgClr>
              <a:sysClr val="window" lastClr="FFFFFF"/>
            </a:bgClr>
          </a:patt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URJA Nepal – Utility performance &amp; Policies improvement, Advanced energy systems deployment</a:t>
            </a:r>
          </a:p>
        </p:txBody>
      </p:sp>
      <p:sp>
        <p:nvSpPr>
          <p:cNvPr id="28" name="Half Frame 27">
            <a:extLst>
              <a:ext uri="{FF2B5EF4-FFF2-40B4-BE49-F238E27FC236}">
                <a16:creationId xmlns:a16="http://schemas.microsoft.com/office/drawing/2014/main" id="{43FF961B-6B17-E0BB-FB40-B2A5D94E82B6}"/>
              </a:ext>
            </a:extLst>
          </p:cNvPr>
          <p:cNvSpPr/>
          <p:nvPr/>
        </p:nvSpPr>
        <p:spPr bwMode="gray">
          <a:xfrm rot="10800000">
            <a:off x="11263785" y="1702196"/>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9" name="Half Frame 28">
            <a:extLst>
              <a:ext uri="{FF2B5EF4-FFF2-40B4-BE49-F238E27FC236}">
                <a16:creationId xmlns:a16="http://schemas.microsoft.com/office/drawing/2014/main" id="{277F04FA-80CA-BD08-4F0F-70E78188ABE3}"/>
              </a:ext>
            </a:extLst>
          </p:cNvPr>
          <p:cNvSpPr/>
          <p:nvPr/>
        </p:nvSpPr>
        <p:spPr bwMode="gray">
          <a:xfrm rot="16200000">
            <a:off x="6013564" y="5911379"/>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0" name="Rectangle 29">
            <a:extLst>
              <a:ext uri="{FF2B5EF4-FFF2-40B4-BE49-F238E27FC236}">
                <a16:creationId xmlns:a16="http://schemas.microsoft.com/office/drawing/2014/main" id="{A2869F86-1913-DA52-9C45-CA123B51D19B}"/>
              </a:ext>
            </a:extLst>
          </p:cNvPr>
          <p:cNvSpPr/>
          <p:nvPr/>
        </p:nvSpPr>
        <p:spPr bwMode="gray">
          <a:xfrm>
            <a:off x="9192913" y="1071954"/>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Market Reforms Unit, India</a:t>
            </a:r>
          </a:p>
        </p:txBody>
      </p:sp>
      <p:sp>
        <p:nvSpPr>
          <p:cNvPr id="31" name="Rectangle 30">
            <a:extLst>
              <a:ext uri="{FF2B5EF4-FFF2-40B4-BE49-F238E27FC236}">
                <a16:creationId xmlns:a16="http://schemas.microsoft.com/office/drawing/2014/main" id="{A23B5B44-6695-D9FB-AC53-A4E5B020B726}"/>
              </a:ext>
            </a:extLst>
          </p:cNvPr>
          <p:cNvSpPr/>
          <p:nvPr/>
        </p:nvSpPr>
        <p:spPr bwMode="gray">
          <a:xfrm>
            <a:off x="9192912" y="1497623"/>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Institutional Strengthening &amp; Capacity Building of Successor Entities of Jharkhand State Electricity Board, India</a:t>
            </a:r>
          </a:p>
        </p:txBody>
      </p:sp>
      <p:sp>
        <p:nvSpPr>
          <p:cNvPr id="32" name="Half Frame 31">
            <a:extLst>
              <a:ext uri="{FF2B5EF4-FFF2-40B4-BE49-F238E27FC236}">
                <a16:creationId xmlns:a16="http://schemas.microsoft.com/office/drawing/2014/main" id="{74E50F1F-1CC5-AFDD-0350-BCC4669E9CDF}"/>
              </a:ext>
            </a:extLst>
          </p:cNvPr>
          <p:cNvSpPr/>
          <p:nvPr/>
        </p:nvSpPr>
        <p:spPr bwMode="gray">
          <a:xfrm rot="10800000">
            <a:off x="11468367" y="1854596"/>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3" name="Half Frame 32">
            <a:extLst>
              <a:ext uri="{FF2B5EF4-FFF2-40B4-BE49-F238E27FC236}">
                <a16:creationId xmlns:a16="http://schemas.microsoft.com/office/drawing/2014/main" id="{3E897E11-6A8F-BCAB-5717-04D99D749B89}"/>
              </a:ext>
            </a:extLst>
          </p:cNvPr>
          <p:cNvSpPr/>
          <p:nvPr/>
        </p:nvSpPr>
        <p:spPr bwMode="gray">
          <a:xfrm rot="16200000">
            <a:off x="9202745" y="1856851"/>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4" name="Rectangle 33">
            <a:extLst>
              <a:ext uri="{FF2B5EF4-FFF2-40B4-BE49-F238E27FC236}">
                <a16:creationId xmlns:a16="http://schemas.microsoft.com/office/drawing/2014/main" id="{3057FF56-1266-B107-75DB-DFC79B348C65}"/>
              </a:ext>
            </a:extLst>
          </p:cNvPr>
          <p:cNvSpPr/>
          <p:nvPr/>
        </p:nvSpPr>
        <p:spPr bwMode="gray">
          <a:xfrm>
            <a:off x="9192913" y="3713327"/>
            <a:ext cx="2492653" cy="403218"/>
          </a:xfrm>
          <a:prstGeom prst="rect">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Power Cell, Bangladesh</a:t>
            </a:r>
          </a:p>
        </p:txBody>
      </p:sp>
      <p:sp>
        <p:nvSpPr>
          <p:cNvPr id="35" name="Rectangle 34">
            <a:extLst>
              <a:ext uri="{FF2B5EF4-FFF2-40B4-BE49-F238E27FC236}">
                <a16:creationId xmlns:a16="http://schemas.microsoft.com/office/drawing/2014/main" id="{965328DB-5D34-0436-3D8D-71A92D3EC5D3}"/>
              </a:ext>
            </a:extLst>
          </p:cNvPr>
          <p:cNvSpPr/>
          <p:nvPr/>
        </p:nvSpPr>
        <p:spPr bwMode="gray">
          <a:xfrm>
            <a:off x="9252673" y="4138996"/>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ICT Roadmap for Bangladesh Power Sector (All Public Utilities)</a:t>
            </a:r>
          </a:p>
        </p:txBody>
      </p:sp>
      <p:sp>
        <p:nvSpPr>
          <p:cNvPr id="36" name="Half Frame 35">
            <a:extLst>
              <a:ext uri="{FF2B5EF4-FFF2-40B4-BE49-F238E27FC236}">
                <a16:creationId xmlns:a16="http://schemas.microsoft.com/office/drawing/2014/main" id="{34531A33-5B34-0251-B6D8-A1B5357B3D8F}"/>
              </a:ext>
            </a:extLst>
          </p:cNvPr>
          <p:cNvSpPr/>
          <p:nvPr/>
        </p:nvSpPr>
        <p:spPr bwMode="gray">
          <a:xfrm rot="10800000">
            <a:off x="11468367" y="4495969"/>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7" name="Half Frame 36">
            <a:extLst>
              <a:ext uri="{FF2B5EF4-FFF2-40B4-BE49-F238E27FC236}">
                <a16:creationId xmlns:a16="http://schemas.microsoft.com/office/drawing/2014/main" id="{2B18AD10-F7C6-71B2-CEF0-2BED218E408C}"/>
              </a:ext>
            </a:extLst>
          </p:cNvPr>
          <p:cNvSpPr/>
          <p:nvPr/>
        </p:nvSpPr>
        <p:spPr bwMode="gray">
          <a:xfrm rot="16200000">
            <a:off x="9202745" y="4498224"/>
            <a:ext cx="261750" cy="257238"/>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grpSp>
        <p:nvGrpSpPr>
          <p:cNvPr id="38" name="Group 37">
            <a:extLst>
              <a:ext uri="{FF2B5EF4-FFF2-40B4-BE49-F238E27FC236}">
                <a16:creationId xmlns:a16="http://schemas.microsoft.com/office/drawing/2014/main" id="{8552B2D6-26AE-3B53-65DE-6D6728FEE09F}"/>
              </a:ext>
            </a:extLst>
          </p:cNvPr>
          <p:cNvGrpSpPr/>
          <p:nvPr/>
        </p:nvGrpSpPr>
        <p:grpSpPr>
          <a:xfrm>
            <a:off x="2078997" y="2905321"/>
            <a:ext cx="1894718" cy="1555902"/>
            <a:chOff x="2085975" y="1474321"/>
            <a:chExt cx="5321300" cy="4447517"/>
          </a:xfrm>
        </p:grpSpPr>
        <p:sp>
          <p:nvSpPr>
            <p:cNvPr id="39" name="Freeform 74">
              <a:extLst>
                <a:ext uri="{FF2B5EF4-FFF2-40B4-BE49-F238E27FC236}">
                  <a16:creationId xmlns:a16="http://schemas.microsoft.com/office/drawing/2014/main" id="{37693246-4892-B9DE-84D0-8C2C3FB671DC}"/>
                </a:ext>
              </a:extLst>
            </p:cNvPr>
            <p:cNvSpPr/>
            <p:nvPr/>
          </p:nvSpPr>
          <p:spPr>
            <a:xfrm>
              <a:off x="4879975" y="1474321"/>
              <a:ext cx="1673226" cy="559731"/>
            </a:xfrm>
            <a:custGeom>
              <a:avLst/>
              <a:gdLst>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225" h="1412875">
                  <a:moveTo>
                    <a:pt x="0" y="0"/>
                  </a:moveTo>
                  <a:cubicBezTo>
                    <a:pt x="541867" y="21167"/>
                    <a:pt x="1185333" y="232833"/>
                    <a:pt x="1673225" y="701675"/>
                  </a:cubicBezTo>
                  <a:lnTo>
                    <a:pt x="958850" y="1412875"/>
                  </a:lnTo>
                  <a:cubicBezTo>
                    <a:pt x="701675" y="1212320"/>
                    <a:pt x="539750" y="1074473"/>
                    <a:pt x="6350" y="1016000"/>
                  </a:cubicBezTo>
                  <a:cubicBezTo>
                    <a:pt x="5292" y="677333"/>
                    <a:pt x="4233" y="338667"/>
                    <a:pt x="0" y="0"/>
                  </a:cubicBezTo>
                  <a:close/>
                </a:path>
              </a:pathLst>
            </a:custGeom>
            <a:solidFill>
              <a:srgbClr val="43B02A"/>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40" name="Freeform 75">
              <a:extLst>
                <a:ext uri="{FF2B5EF4-FFF2-40B4-BE49-F238E27FC236}">
                  <a16:creationId xmlns:a16="http://schemas.microsoft.com/office/drawing/2014/main" id="{2AC92E19-F86E-B2C6-869A-90BE725492B8}"/>
                </a:ext>
              </a:extLst>
            </p:cNvPr>
            <p:cNvSpPr/>
            <p:nvPr/>
          </p:nvSpPr>
          <p:spPr>
            <a:xfrm>
              <a:off x="6016558" y="2469684"/>
              <a:ext cx="1387544" cy="559731"/>
            </a:xfrm>
            <a:custGeom>
              <a:avLst/>
              <a:gdLst>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541"/>
                <a:gd name="connsiteY0" fmla="*/ 0 h 1638300"/>
                <a:gd name="connsiteX1" fmla="*/ 0 w 1387541"/>
                <a:gd name="connsiteY1" fmla="*/ 711200 h 1638300"/>
                <a:gd name="connsiteX2" fmla="*/ 374650 w 1387541"/>
                <a:gd name="connsiteY2" fmla="*/ 1638300 h 1638300"/>
                <a:gd name="connsiteX3" fmla="*/ 1387475 w 1387541"/>
                <a:gd name="connsiteY3" fmla="*/ 1635125 h 1638300"/>
                <a:gd name="connsiteX4" fmla="*/ 720725 w 1387541"/>
                <a:gd name="connsiteY4" fmla="*/ 0 h 1638300"/>
                <a:gd name="connsiteX0" fmla="*/ 720725 w 1387573"/>
                <a:gd name="connsiteY0" fmla="*/ 0 h 1638300"/>
                <a:gd name="connsiteX1" fmla="*/ 0 w 1387573"/>
                <a:gd name="connsiteY1" fmla="*/ 711200 h 1638300"/>
                <a:gd name="connsiteX2" fmla="*/ 374650 w 1387573"/>
                <a:gd name="connsiteY2" fmla="*/ 1638300 h 1638300"/>
                <a:gd name="connsiteX3" fmla="*/ 1387475 w 1387573"/>
                <a:gd name="connsiteY3" fmla="*/ 1635125 h 1638300"/>
                <a:gd name="connsiteX4" fmla="*/ 720725 w 1387573"/>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57397 w 1424147"/>
                <a:gd name="connsiteY0" fmla="*/ 0 h 1638300"/>
                <a:gd name="connsiteX1" fmla="*/ 36672 w 1424147"/>
                <a:gd name="connsiteY1" fmla="*/ 711200 h 1638300"/>
                <a:gd name="connsiteX2" fmla="*/ 411322 w 1424147"/>
                <a:gd name="connsiteY2" fmla="*/ 1638300 h 1638300"/>
                <a:gd name="connsiteX3" fmla="*/ 1424147 w 1424147"/>
                <a:gd name="connsiteY3" fmla="*/ 1635125 h 1638300"/>
                <a:gd name="connsiteX4" fmla="*/ 757397 w 1424147"/>
                <a:gd name="connsiteY4" fmla="*/ 0 h 1638300"/>
                <a:gd name="connsiteX0" fmla="*/ 720813 w 1387563"/>
                <a:gd name="connsiteY0" fmla="*/ 0 h 1638300"/>
                <a:gd name="connsiteX1" fmla="*/ 88 w 1387563"/>
                <a:gd name="connsiteY1" fmla="*/ 711200 h 1638300"/>
                <a:gd name="connsiteX2" fmla="*/ 374738 w 1387563"/>
                <a:gd name="connsiteY2" fmla="*/ 1638300 h 1638300"/>
                <a:gd name="connsiteX3" fmla="*/ 1387563 w 1387563"/>
                <a:gd name="connsiteY3" fmla="*/ 1635125 h 1638300"/>
                <a:gd name="connsiteX4" fmla="*/ 720813 w 138756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543" h="1638300">
                  <a:moveTo>
                    <a:pt x="720793" y="0"/>
                  </a:moveTo>
                  <a:cubicBezTo>
                    <a:pt x="480551" y="237067"/>
                    <a:pt x="-6563" y="702913"/>
                    <a:pt x="68" y="711200"/>
                  </a:cubicBezTo>
                  <a:cubicBezTo>
                    <a:pt x="241983" y="1013529"/>
                    <a:pt x="345085" y="1300692"/>
                    <a:pt x="374718" y="1638300"/>
                  </a:cubicBezTo>
                  <a:lnTo>
                    <a:pt x="1387543" y="1635125"/>
                  </a:lnTo>
                  <a:cubicBezTo>
                    <a:pt x="1374843" y="1039283"/>
                    <a:pt x="1092268" y="418042"/>
                    <a:pt x="720793" y="0"/>
                  </a:cubicBezTo>
                  <a:close/>
                </a:path>
              </a:pathLst>
            </a:custGeom>
            <a:solidFill>
              <a:srgbClr val="26890D"/>
            </a:solidFill>
            <a:ln>
              <a:noFill/>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41" name="Freeform 76">
              <a:extLst>
                <a:ext uri="{FF2B5EF4-FFF2-40B4-BE49-F238E27FC236}">
                  <a16:creationId xmlns:a16="http://schemas.microsoft.com/office/drawing/2014/main" id="{76457731-AEF2-46F3-ADA1-4BA4EF7D1AD5}"/>
                </a:ext>
              </a:extLst>
            </p:cNvPr>
            <p:cNvSpPr/>
            <p:nvPr/>
          </p:nvSpPr>
          <p:spPr>
            <a:xfrm>
              <a:off x="6010275" y="4366747"/>
              <a:ext cx="1397000" cy="559731"/>
            </a:xfrm>
            <a:custGeom>
              <a:avLst/>
              <a:gdLst>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0" h="1647825">
                  <a:moveTo>
                    <a:pt x="384175" y="0"/>
                  </a:moveTo>
                  <a:lnTo>
                    <a:pt x="1397000" y="3175"/>
                  </a:lnTo>
                  <a:cubicBezTo>
                    <a:pt x="1361017" y="748242"/>
                    <a:pt x="1074208" y="1223433"/>
                    <a:pt x="717550" y="1647825"/>
                  </a:cubicBezTo>
                  <a:lnTo>
                    <a:pt x="0" y="933450"/>
                  </a:lnTo>
                  <a:cubicBezTo>
                    <a:pt x="178858" y="688975"/>
                    <a:pt x="345017" y="434975"/>
                    <a:pt x="384175" y="0"/>
                  </a:cubicBezTo>
                  <a:close/>
                </a:path>
              </a:pathLst>
            </a:custGeom>
            <a:solidFill>
              <a:srgbClr val="046A38"/>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42" name="Freeform 77">
              <a:extLst>
                <a:ext uri="{FF2B5EF4-FFF2-40B4-BE49-F238E27FC236}">
                  <a16:creationId xmlns:a16="http://schemas.microsoft.com/office/drawing/2014/main" id="{24C164FE-148F-45A3-8171-9362D3CE775D}"/>
                </a:ext>
              </a:extLst>
            </p:cNvPr>
            <p:cNvSpPr/>
            <p:nvPr/>
          </p:nvSpPr>
          <p:spPr>
            <a:xfrm>
              <a:off x="4886325" y="5362107"/>
              <a:ext cx="1657389" cy="559731"/>
            </a:xfrm>
            <a:custGeom>
              <a:avLst/>
              <a:gdLst>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704869"/>
                <a:gd name="connsiteY0" fmla="*/ 0 h 1409700"/>
                <a:gd name="connsiteX1" fmla="*/ 1657350 w 1704869"/>
                <a:gd name="connsiteY1" fmla="*/ 720725 h 1409700"/>
                <a:gd name="connsiteX2" fmla="*/ 0 w 1704869"/>
                <a:gd name="connsiteY2" fmla="*/ 1409700 h 1409700"/>
                <a:gd name="connsiteX3" fmla="*/ 0 w 1704869"/>
                <a:gd name="connsiteY3" fmla="*/ 400050 h 1409700"/>
                <a:gd name="connsiteX4" fmla="*/ 939800 w 1704869"/>
                <a:gd name="connsiteY4" fmla="*/ 0 h 1409700"/>
                <a:gd name="connsiteX0" fmla="*/ 939800 w 1657394"/>
                <a:gd name="connsiteY0" fmla="*/ 0 h 1409700"/>
                <a:gd name="connsiteX1" fmla="*/ 1657350 w 1657394"/>
                <a:gd name="connsiteY1" fmla="*/ 720725 h 1409700"/>
                <a:gd name="connsiteX2" fmla="*/ 0 w 1657394"/>
                <a:gd name="connsiteY2" fmla="*/ 1409700 h 1409700"/>
                <a:gd name="connsiteX3" fmla="*/ 0 w 1657394"/>
                <a:gd name="connsiteY3" fmla="*/ 400050 h 1409700"/>
                <a:gd name="connsiteX4" fmla="*/ 939800 w 1657394"/>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89" h="1409700">
                  <a:moveTo>
                    <a:pt x="939800" y="0"/>
                  </a:moveTo>
                  <a:cubicBezTo>
                    <a:pt x="1178983" y="240242"/>
                    <a:pt x="1662405" y="716205"/>
                    <a:pt x="1657350" y="720725"/>
                  </a:cubicBezTo>
                  <a:cubicBezTo>
                    <a:pt x="1073406" y="1242818"/>
                    <a:pt x="555625" y="1361017"/>
                    <a:pt x="0" y="1409700"/>
                  </a:cubicBezTo>
                  <a:lnTo>
                    <a:pt x="0" y="400050"/>
                  </a:lnTo>
                  <a:cubicBezTo>
                    <a:pt x="332317" y="342900"/>
                    <a:pt x="626533" y="279400"/>
                    <a:pt x="939800" y="0"/>
                  </a:cubicBezTo>
                  <a:close/>
                </a:path>
              </a:pathLst>
            </a:custGeom>
            <a:solidFill>
              <a:srgbClr val="0D8390"/>
            </a:solidFill>
            <a:ln>
              <a:noFill/>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43" name="Freeform 78">
              <a:extLst>
                <a:ext uri="{FF2B5EF4-FFF2-40B4-BE49-F238E27FC236}">
                  <a16:creationId xmlns:a16="http://schemas.microsoft.com/office/drawing/2014/main" id="{6018D256-9680-DA97-5117-E8A44F0626EF}"/>
                </a:ext>
              </a:extLst>
            </p:cNvPr>
            <p:cNvSpPr/>
            <p:nvPr/>
          </p:nvSpPr>
          <p:spPr>
            <a:xfrm flipH="1">
              <a:off x="2940051" y="1474324"/>
              <a:ext cx="1673224" cy="559731"/>
            </a:xfrm>
            <a:custGeom>
              <a:avLst/>
              <a:gdLst>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225" h="1412875">
                  <a:moveTo>
                    <a:pt x="0" y="0"/>
                  </a:moveTo>
                  <a:cubicBezTo>
                    <a:pt x="541867" y="21167"/>
                    <a:pt x="1185333" y="232833"/>
                    <a:pt x="1673225" y="701675"/>
                  </a:cubicBezTo>
                  <a:lnTo>
                    <a:pt x="958850" y="1412875"/>
                  </a:lnTo>
                  <a:cubicBezTo>
                    <a:pt x="701675" y="1212320"/>
                    <a:pt x="539750" y="1074473"/>
                    <a:pt x="6350" y="1016000"/>
                  </a:cubicBezTo>
                  <a:cubicBezTo>
                    <a:pt x="5292" y="677333"/>
                    <a:pt x="4233" y="338667"/>
                    <a:pt x="0" y="0"/>
                  </a:cubicBezTo>
                  <a:close/>
                </a:path>
              </a:pathLst>
            </a:custGeom>
            <a:solidFill>
              <a:srgbClr val="86BC25"/>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44" name="Freeform 79">
              <a:extLst>
                <a:ext uri="{FF2B5EF4-FFF2-40B4-BE49-F238E27FC236}">
                  <a16:creationId xmlns:a16="http://schemas.microsoft.com/office/drawing/2014/main" id="{EE22147C-6B83-B06F-C41B-95206E0E578D}"/>
                </a:ext>
              </a:extLst>
            </p:cNvPr>
            <p:cNvSpPr/>
            <p:nvPr/>
          </p:nvSpPr>
          <p:spPr>
            <a:xfrm flipH="1">
              <a:off x="2089149" y="2469684"/>
              <a:ext cx="1387544" cy="559731"/>
            </a:xfrm>
            <a:custGeom>
              <a:avLst/>
              <a:gdLst>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541"/>
                <a:gd name="connsiteY0" fmla="*/ 0 h 1638300"/>
                <a:gd name="connsiteX1" fmla="*/ 0 w 1387541"/>
                <a:gd name="connsiteY1" fmla="*/ 711200 h 1638300"/>
                <a:gd name="connsiteX2" fmla="*/ 374650 w 1387541"/>
                <a:gd name="connsiteY2" fmla="*/ 1638300 h 1638300"/>
                <a:gd name="connsiteX3" fmla="*/ 1387475 w 1387541"/>
                <a:gd name="connsiteY3" fmla="*/ 1635125 h 1638300"/>
                <a:gd name="connsiteX4" fmla="*/ 720725 w 1387541"/>
                <a:gd name="connsiteY4" fmla="*/ 0 h 1638300"/>
                <a:gd name="connsiteX0" fmla="*/ 720725 w 1387573"/>
                <a:gd name="connsiteY0" fmla="*/ 0 h 1638300"/>
                <a:gd name="connsiteX1" fmla="*/ 0 w 1387573"/>
                <a:gd name="connsiteY1" fmla="*/ 711200 h 1638300"/>
                <a:gd name="connsiteX2" fmla="*/ 374650 w 1387573"/>
                <a:gd name="connsiteY2" fmla="*/ 1638300 h 1638300"/>
                <a:gd name="connsiteX3" fmla="*/ 1387475 w 1387573"/>
                <a:gd name="connsiteY3" fmla="*/ 1635125 h 1638300"/>
                <a:gd name="connsiteX4" fmla="*/ 720725 w 1387573"/>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57397 w 1424147"/>
                <a:gd name="connsiteY0" fmla="*/ 0 h 1638300"/>
                <a:gd name="connsiteX1" fmla="*/ 36672 w 1424147"/>
                <a:gd name="connsiteY1" fmla="*/ 711200 h 1638300"/>
                <a:gd name="connsiteX2" fmla="*/ 411322 w 1424147"/>
                <a:gd name="connsiteY2" fmla="*/ 1638300 h 1638300"/>
                <a:gd name="connsiteX3" fmla="*/ 1424147 w 1424147"/>
                <a:gd name="connsiteY3" fmla="*/ 1635125 h 1638300"/>
                <a:gd name="connsiteX4" fmla="*/ 757397 w 1424147"/>
                <a:gd name="connsiteY4" fmla="*/ 0 h 1638300"/>
                <a:gd name="connsiteX0" fmla="*/ 720813 w 1387563"/>
                <a:gd name="connsiteY0" fmla="*/ 0 h 1638300"/>
                <a:gd name="connsiteX1" fmla="*/ 88 w 1387563"/>
                <a:gd name="connsiteY1" fmla="*/ 711200 h 1638300"/>
                <a:gd name="connsiteX2" fmla="*/ 374738 w 1387563"/>
                <a:gd name="connsiteY2" fmla="*/ 1638300 h 1638300"/>
                <a:gd name="connsiteX3" fmla="*/ 1387563 w 1387563"/>
                <a:gd name="connsiteY3" fmla="*/ 1635125 h 1638300"/>
                <a:gd name="connsiteX4" fmla="*/ 720813 w 138756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543" h="1638300">
                  <a:moveTo>
                    <a:pt x="720793" y="0"/>
                  </a:moveTo>
                  <a:cubicBezTo>
                    <a:pt x="480551" y="237067"/>
                    <a:pt x="-6563" y="702913"/>
                    <a:pt x="68" y="711200"/>
                  </a:cubicBezTo>
                  <a:cubicBezTo>
                    <a:pt x="241983" y="1013529"/>
                    <a:pt x="345085" y="1300692"/>
                    <a:pt x="374718" y="1638300"/>
                  </a:cubicBezTo>
                  <a:lnTo>
                    <a:pt x="1387543" y="1635125"/>
                  </a:lnTo>
                  <a:cubicBezTo>
                    <a:pt x="1374843" y="1039283"/>
                    <a:pt x="1092268" y="418042"/>
                    <a:pt x="720793" y="0"/>
                  </a:cubicBezTo>
                  <a:close/>
                </a:path>
              </a:pathLst>
            </a:custGeom>
            <a:solidFill>
              <a:srgbClr val="53565A"/>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45" name="Freeform 80">
              <a:extLst>
                <a:ext uri="{FF2B5EF4-FFF2-40B4-BE49-F238E27FC236}">
                  <a16:creationId xmlns:a16="http://schemas.microsoft.com/office/drawing/2014/main" id="{D5DE3C1E-A765-97E7-7708-486C789B0CB6}"/>
                </a:ext>
              </a:extLst>
            </p:cNvPr>
            <p:cNvSpPr/>
            <p:nvPr/>
          </p:nvSpPr>
          <p:spPr>
            <a:xfrm flipH="1">
              <a:off x="2085975" y="4366747"/>
              <a:ext cx="1397000" cy="559731"/>
            </a:xfrm>
            <a:custGeom>
              <a:avLst/>
              <a:gdLst>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0" h="1647825">
                  <a:moveTo>
                    <a:pt x="384175" y="0"/>
                  </a:moveTo>
                  <a:lnTo>
                    <a:pt x="1397000" y="3175"/>
                  </a:lnTo>
                  <a:cubicBezTo>
                    <a:pt x="1361017" y="748242"/>
                    <a:pt x="1074208" y="1223433"/>
                    <a:pt x="717550" y="1647825"/>
                  </a:cubicBezTo>
                  <a:lnTo>
                    <a:pt x="0" y="933450"/>
                  </a:lnTo>
                  <a:cubicBezTo>
                    <a:pt x="178858" y="688975"/>
                    <a:pt x="345017" y="434975"/>
                    <a:pt x="384175" y="0"/>
                  </a:cubicBezTo>
                  <a:close/>
                </a:path>
              </a:pathLst>
            </a:custGeom>
            <a:solidFill>
              <a:srgbClr val="D0D0CE"/>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46" name="Freeform 81">
              <a:extLst>
                <a:ext uri="{FF2B5EF4-FFF2-40B4-BE49-F238E27FC236}">
                  <a16:creationId xmlns:a16="http://schemas.microsoft.com/office/drawing/2014/main" id="{71827E80-5153-38D1-E40B-D0A1DC935EF7}"/>
                </a:ext>
              </a:extLst>
            </p:cNvPr>
            <p:cNvSpPr/>
            <p:nvPr/>
          </p:nvSpPr>
          <p:spPr>
            <a:xfrm flipH="1">
              <a:off x="2949536" y="5362107"/>
              <a:ext cx="1657389" cy="559731"/>
            </a:xfrm>
            <a:custGeom>
              <a:avLst/>
              <a:gdLst>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704869"/>
                <a:gd name="connsiteY0" fmla="*/ 0 h 1409700"/>
                <a:gd name="connsiteX1" fmla="*/ 1657350 w 1704869"/>
                <a:gd name="connsiteY1" fmla="*/ 720725 h 1409700"/>
                <a:gd name="connsiteX2" fmla="*/ 0 w 1704869"/>
                <a:gd name="connsiteY2" fmla="*/ 1409700 h 1409700"/>
                <a:gd name="connsiteX3" fmla="*/ 0 w 1704869"/>
                <a:gd name="connsiteY3" fmla="*/ 400050 h 1409700"/>
                <a:gd name="connsiteX4" fmla="*/ 939800 w 1704869"/>
                <a:gd name="connsiteY4" fmla="*/ 0 h 1409700"/>
                <a:gd name="connsiteX0" fmla="*/ 939800 w 1657394"/>
                <a:gd name="connsiteY0" fmla="*/ 0 h 1409700"/>
                <a:gd name="connsiteX1" fmla="*/ 1657350 w 1657394"/>
                <a:gd name="connsiteY1" fmla="*/ 720725 h 1409700"/>
                <a:gd name="connsiteX2" fmla="*/ 0 w 1657394"/>
                <a:gd name="connsiteY2" fmla="*/ 1409700 h 1409700"/>
                <a:gd name="connsiteX3" fmla="*/ 0 w 1657394"/>
                <a:gd name="connsiteY3" fmla="*/ 400050 h 1409700"/>
                <a:gd name="connsiteX4" fmla="*/ 939800 w 1657394"/>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89" h="1409700">
                  <a:moveTo>
                    <a:pt x="939800" y="0"/>
                  </a:moveTo>
                  <a:cubicBezTo>
                    <a:pt x="1178983" y="240242"/>
                    <a:pt x="1662405" y="716205"/>
                    <a:pt x="1657350" y="720725"/>
                  </a:cubicBezTo>
                  <a:cubicBezTo>
                    <a:pt x="1073406" y="1242818"/>
                    <a:pt x="555625" y="1361017"/>
                    <a:pt x="0" y="1409700"/>
                  </a:cubicBezTo>
                  <a:lnTo>
                    <a:pt x="0" y="400050"/>
                  </a:lnTo>
                  <a:cubicBezTo>
                    <a:pt x="332317" y="342900"/>
                    <a:pt x="626533" y="279400"/>
                    <a:pt x="939800" y="0"/>
                  </a:cubicBezTo>
                  <a:close/>
                </a:path>
              </a:pathLst>
            </a:custGeom>
            <a:solidFill>
              <a:srgbClr val="007CB0"/>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47" name="Isosceles Triangle 46">
              <a:extLst>
                <a:ext uri="{FF2B5EF4-FFF2-40B4-BE49-F238E27FC236}">
                  <a16:creationId xmlns:a16="http://schemas.microsoft.com/office/drawing/2014/main" id="{D1E529EE-7396-4343-B949-BFBD45EE68C4}"/>
                </a:ext>
              </a:extLst>
            </p:cNvPr>
            <p:cNvSpPr/>
            <p:nvPr/>
          </p:nvSpPr>
          <p:spPr>
            <a:xfrm rot="12077977">
              <a:off x="5178425" y="1753269"/>
              <a:ext cx="333747" cy="1111881"/>
            </a:xfrm>
            <a:prstGeom prst="triangle">
              <a:avLst/>
            </a:prstGeom>
            <a:solidFill>
              <a:srgbClr val="43B02A"/>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48" name="Isosceles Triangle 47">
              <a:extLst>
                <a:ext uri="{FF2B5EF4-FFF2-40B4-BE49-F238E27FC236}">
                  <a16:creationId xmlns:a16="http://schemas.microsoft.com/office/drawing/2014/main" id="{2D5A88E3-4B7C-9C43-C912-E9615D1EEFE2}"/>
                </a:ext>
              </a:extLst>
            </p:cNvPr>
            <p:cNvSpPr/>
            <p:nvPr/>
          </p:nvSpPr>
          <p:spPr>
            <a:xfrm rot="14801312">
              <a:off x="5978525" y="2563089"/>
              <a:ext cx="333748" cy="1092436"/>
            </a:xfrm>
            <a:prstGeom prst="triangle">
              <a:avLst/>
            </a:prstGeom>
            <a:solidFill>
              <a:srgbClr val="26890D"/>
            </a:solidFill>
            <a:ln>
              <a:noFill/>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49" name="Isosceles Triangle 48">
              <a:extLst>
                <a:ext uri="{FF2B5EF4-FFF2-40B4-BE49-F238E27FC236}">
                  <a16:creationId xmlns:a16="http://schemas.microsoft.com/office/drawing/2014/main" id="{DE796A91-7EF9-C258-7706-5F82448E9ED4}"/>
                </a:ext>
              </a:extLst>
            </p:cNvPr>
            <p:cNvSpPr/>
            <p:nvPr/>
          </p:nvSpPr>
          <p:spPr>
            <a:xfrm rot="17659912">
              <a:off x="5988655" y="3712438"/>
              <a:ext cx="333748" cy="1092436"/>
            </a:xfrm>
            <a:prstGeom prst="triangle">
              <a:avLst/>
            </a:prstGeom>
            <a:solidFill>
              <a:srgbClr val="046A38"/>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50" name="Isosceles Triangle 49">
              <a:extLst>
                <a:ext uri="{FF2B5EF4-FFF2-40B4-BE49-F238E27FC236}">
                  <a16:creationId xmlns:a16="http://schemas.microsoft.com/office/drawing/2014/main" id="{0CEA0055-DD58-B859-43C3-4711E9E63262}"/>
                </a:ext>
              </a:extLst>
            </p:cNvPr>
            <p:cNvSpPr/>
            <p:nvPr/>
          </p:nvSpPr>
          <p:spPr>
            <a:xfrm rot="20258485">
              <a:off x="5158052" y="4535360"/>
              <a:ext cx="333747" cy="1111881"/>
            </a:xfrm>
            <a:prstGeom prst="triangle">
              <a:avLst/>
            </a:prstGeom>
            <a:solidFill>
              <a:srgbClr val="0D8390"/>
            </a:solidFill>
            <a:ln>
              <a:noFill/>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51" name="Isosceles Triangle 50">
              <a:extLst>
                <a:ext uri="{FF2B5EF4-FFF2-40B4-BE49-F238E27FC236}">
                  <a16:creationId xmlns:a16="http://schemas.microsoft.com/office/drawing/2014/main" id="{2DF6F490-E98C-1C0F-289B-CB1B194A780C}"/>
                </a:ext>
              </a:extLst>
            </p:cNvPr>
            <p:cNvSpPr/>
            <p:nvPr/>
          </p:nvSpPr>
          <p:spPr>
            <a:xfrm rot="1358864">
              <a:off x="3989349" y="4534860"/>
              <a:ext cx="333747" cy="1111881"/>
            </a:xfrm>
            <a:prstGeom prst="triangle">
              <a:avLst/>
            </a:prstGeom>
            <a:solidFill>
              <a:srgbClr val="007CB0"/>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52" name="Isosceles Triangle 51">
              <a:extLst>
                <a:ext uri="{FF2B5EF4-FFF2-40B4-BE49-F238E27FC236}">
                  <a16:creationId xmlns:a16="http://schemas.microsoft.com/office/drawing/2014/main" id="{304C8D54-33BC-2754-2905-D7F9610A3C98}"/>
                </a:ext>
              </a:extLst>
            </p:cNvPr>
            <p:cNvSpPr/>
            <p:nvPr/>
          </p:nvSpPr>
          <p:spPr>
            <a:xfrm rot="3981004">
              <a:off x="3176619" y="3710838"/>
              <a:ext cx="333748" cy="1092436"/>
            </a:xfrm>
            <a:prstGeom prst="triangle">
              <a:avLst/>
            </a:prstGeom>
            <a:solidFill>
              <a:srgbClr val="D0D0CE"/>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53" name="Isosceles Triangle 52">
              <a:extLst>
                <a:ext uri="{FF2B5EF4-FFF2-40B4-BE49-F238E27FC236}">
                  <a16:creationId xmlns:a16="http://schemas.microsoft.com/office/drawing/2014/main" id="{747E8930-C20D-D09D-F279-E48F19FEA47E}"/>
                </a:ext>
              </a:extLst>
            </p:cNvPr>
            <p:cNvSpPr/>
            <p:nvPr/>
          </p:nvSpPr>
          <p:spPr>
            <a:xfrm rot="6619441">
              <a:off x="3179368" y="2581752"/>
              <a:ext cx="333748" cy="1092436"/>
            </a:xfrm>
            <a:prstGeom prst="triangle">
              <a:avLst/>
            </a:prstGeom>
            <a:solidFill>
              <a:srgbClr val="53565A"/>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sp>
          <p:nvSpPr>
            <p:cNvPr id="54" name="Isosceles Triangle 53">
              <a:extLst>
                <a:ext uri="{FF2B5EF4-FFF2-40B4-BE49-F238E27FC236}">
                  <a16:creationId xmlns:a16="http://schemas.microsoft.com/office/drawing/2014/main" id="{1E472067-23D2-7946-AC92-3BF6BE97545C}"/>
                </a:ext>
              </a:extLst>
            </p:cNvPr>
            <p:cNvSpPr/>
            <p:nvPr/>
          </p:nvSpPr>
          <p:spPr>
            <a:xfrm rot="9321448">
              <a:off x="3981331" y="1751079"/>
              <a:ext cx="333747" cy="1111881"/>
            </a:xfrm>
            <a:prstGeom prst="triangle">
              <a:avLst/>
            </a:prstGeom>
            <a:solidFill>
              <a:srgbClr val="86BC25"/>
            </a:solidFill>
            <a:ln w="12700" cap="flat" cmpd="sng" algn="ctr">
              <a:no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3565A"/>
                </a:solidFill>
                <a:effectLst/>
                <a:uLnTx/>
                <a:uFillTx/>
                <a:latin typeface="Verdana" panose="020B0604030504040204" pitchFamily="34" charset="0"/>
                <a:ea typeface="Verdana" panose="020B0604030504040204" pitchFamily="34" charset="0"/>
              </a:endParaRPr>
            </a:p>
          </p:txBody>
        </p:sp>
      </p:grpSp>
      <p:sp>
        <p:nvSpPr>
          <p:cNvPr id="55" name="TextBox 54">
            <a:extLst>
              <a:ext uri="{FF2B5EF4-FFF2-40B4-BE49-F238E27FC236}">
                <a16:creationId xmlns:a16="http://schemas.microsoft.com/office/drawing/2014/main" id="{2F86DC02-7A6E-8AAD-8045-7BDBC4F89877}"/>
              </a:ext>
            </a:extLst>
          </p:cNvPr>
          <p:cNvSpPr txBox="1"/>
          <p:nvPr/>
        </p:nvSpPr>
        <p:spPr>
          <a:xfrm>
            <a:off x="487357" y="1566068"/>
            <a:ext cx="2039981" cy="984885"/>
          </a:xfrm>
          <a:prstGeom prst="rect">
            <a:avLst/>
          </a:prstGeom>
          <a:noFill/>
        </p:spPr>
        <p:txBody>
          <a:bodyPr wrap="square" lIns="0" tIns="0" rIns="0" bIns="0" rtlCol="0">
            <a:spAutoFit/>
          </a:bodyPr>
          <a:lstStyle/>
          <a:p>
            <a:pPr>
              <a:buSzPct val="100000"/>
            </a:pPr>
            <a:r>
              <a:rPr lang="en-US" sz="800" b="1">
                <a:solidFill>
                  <a:srgbClr val="86BC25"/>
                </a:solidFill>
                <a:latin typeface="Verdana" panose="020B0604030504040204" pitchFamily="34" charset="0"/>
                <a:ea typeface="Verdana" panose="020B0604030504040204" pitchFamily="34" charset="0"/>
              </a:rPr>
              <a:t>Utility Reforms &amp; Strategy Development</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Utility Unbundling &amp; Formation of New Utilities</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Business Planning &amp; Process Re-engineering</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Market Assessment</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Operating Model Development</a:t>
            </a:r>
          </a:p>
        </p:txBody>
      </p:sp>
      <p:cxnSp>
        <p:nvCxnSpPr>
          <p:cNvPr id="56" name="Elbow Connector 65">
            <a:extLst>
              <a:ext uri="{FF2B5EF4-FFF2-40B4-BE49-F238E27FC236}">
                <a16:creationId xmlns:a16="http://schemas.microsoft.com/office/drawing/2014/main" id="{FE2572C6-1601-37A3-1562-1FD85FE3FABC}"/>
              </a:ext>
            </a:extLst>
          </p:cNvPr>
          <p:cNvCxnSpPr>
            <a:cxnSpLocks/>
            <a:stCxn id="55" idx="3"/>
          </p:cNvCxnSpPr>
          <p:nvPr/>
        </p:nvCxnSpPr>
        <p:spPr>
          <a:xfrm>
            <a:off x="2527338" y="2058511"/>
            <a:ext cx="273066" cy="724081"/>
          </a:xfrm>
          <a:prstGeom prst="bentConnector2">
            <a:avLst/>
          </a:prstGeom>
          <a:noFill/>
          <a:ln w="9525" cap="flat" cmpd="sng" algn="ctr">
            <a:solidFill>
              <a:srgbClr val="86BC25"/>
            </a:solidFill>
            <a:prstDash val="solid"/>
          </a:ln>
          <a:effectLst/>
        </p:spPr>
      </p:cxnSp>
      <p:grpSp>
        <p:nvGrpSpPr>
          <p:cNvPr id="57" name="Group 56">
            <a:extLst>
              <a:ext uri="{FF2B5EF4-FFF2-40B4-BE49-F238E27FC236}">
                <a16:creationId xmlns:a16="http://schemas.microsoft.com/office/drawing/2014/main" id="{D8C3960E-A31F-499B-483F-D17111471455}"/>
              </a:ext>
            </a:extLst>
          </p:cNvPr>
          <p:cNvGrpSpPr>
            <a:grpSpLocks noChangeAspect="1"/>
          </p:cNvGrpSpPr>
          <p:nvPr/>
        </p:nvGrpSpPr>
        <p:grpSpPr bwMode="auto">
          <a:xfrm>
            <a:off x="2566963" y="2831842"/>
            <a:ext cx="320040" cy="320040"/>
            <a:chOff x="4629" y="1679"/>
            <a:chExt cx="340" cy="340"/>
          </a:xfrm>
          <a:solidFill>
            <a:sysClr val="window" lastClr="FFFFFF"/>
          </a:solidFill>
        </p:grpSpPr>
        <p:sp>
          <p:nvSpPr>
            <p:cNvPr id="58" name="Freeform 181">
              <a:extLst>
                <a:ext uri="{FF2B5EF4-FFF2-40B4-BE49-F238E27FC236}">
                  <a16:creationId xmlns:a16="http://schemas.microsoft.com/office/drawing/2014/main" id="{C8D88C61-DC5A-216E-63A7-BFCDA78DFF79}"/>
                </a:ext>
              </a:extLst>
            </p:cNvPr>
            <p:cNvSpPr>
              <a:spLocks noEditPoints="1"/>
            </p:cNvSpPr>
            <p:nvPr/>
          </p:nvSpPr>
          <p:spPr bwMode="auto">
            <a:xfrm>
              <a:off x="4629" y="167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59" name="Freeform 182">
              <a:extLst>
                <a:ext uri="{FF2B5EF4-FFF2-40B4-BE49-F238E27FC236}">
                  <a16:creationId xmlns:a16="http://schemas.microsoft.com/office/drawing/2014/main" id="{76BA7B98-4152-7F71-9C84-422D4D06147C}"/>
                </a:ext>
              </a:extLst>
            </p:cNvPr>
            <p:cNvSpPr>
              <a:spLocks/>
            </p:cNvSpPr>
            <p:nvPr/>
          </p:nvSpPr>
          <p:spPr bwMode="auto">
            <a:xfrm>
              <a:off x="4813" y="1863"/>
              <a:ext cx="64" cy="64"/>
            </a:xfrm>
            <a:custGeom>
              <a:avLst/>
              <a:gdLst>
                <a:gd name="T0" fmla="*/ 93 w 97"/>
                <a:gd name="T1" fmla="*/ 78 h 96"/>
                <a:gd name="T2" fmla="*/ 36 w 97"/>
                <a:gd name="T3" fmla="*/ 21 h 96"/>
                <a:gd name="T4" fmla="*/ 75 w 97"/>
                <a:gd name="T5" fmla="*/ 21 h 96"/>
                <a:gd name="T6" fmla="*/ 85 w 97"/>
                <a:gd name="T7" fmla="*/ 11 h 96"/>
                <a:gd name="T8" fmla="*/ 75 w 97"/>
                <a:gd name="T9" fmla="*/ 0 h 96"/>
                <a:gd name="T10" fmla="*/ 11 w 97"/>
                <a:gd name="T11" fmla="*/ 0 h 96"/>
                <a:gd name="T12" fmla="*/ 0 w 97"/>
                <a:gd name="T13" fmla="*/ 11 h 96"/>
                <a:gd name="T14" fmla="*/ 0 w 97"/>
                <a:gd name="T15" fmla="*/ 75 h 96"/>
                <a:gd name="T16" fmla="*/ 11 w 97"/>
                <a:gd name="T17" fmla="*/ 85 h 96"/>
                <a:gd name="T18" fmla="*/ 21 w 97"/>
                <a:gd name="T19" fmla="*/ 75 h 96"/>
                <a:gd name="T20" fmla="*/ 21 w 97"/>
                <a:gd name="T21" fmla="*/ 36 h 96"/>
                <a:gd name="T22" fmla="*/ 78 w 97"/>
                <a:gd name="T23" fmla="*/ 93 h 96"/>
                <a:gd name="T24" fmla="*/ 85 w 97"/>
                <a:gd name="T25" fmla="*/ 96 h 96"/>
                <a:gd name="T26" fmla="*/ 93 w 97"/>
                <a:gd name="T27" fmla="*/ 93 h 96"/>
                <a:gd name="T28" fmla="*/ 93 w 97"/>
                <a:gd name="T29" fmla="*/ 7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96">
                  <a:moveTo>
                    <a:pt x="93" y="78"/>
                  </a:moveTo>
                  <a:cubicBezTo>
                    <a:pt x="36" y="21"/>
                    <a:pt x="36" y="21"/>
                    <a:pt x="36" y="21"/>
                  </a:cubicBezTo>
                  <a:cubicBezTo>
                    <a:pt x="75" y="21"/>
                    <a:pt x="75" y="21"/>
                    <a:pt x="75" y="21"/>
                  </a:cubicBezTo>
                  <a:cubicBezTo>
                    <a:pt x="81" y="21"/>
                    <a:pt x="85" y="17"/>
                    <a:pt x="85" y="11"/>
                  </a:cubicBezTo>
                  <a:cubicBezTo>
                    <a:pt x="85" y="5"/>
                    <a:pt x="81" y="0"/>
                    <a:pt x="75" y="0"/>
                  </a:cubicBezTo>
                  <a:cubicBezTo>
                    <a:pt x="11" y="0"/>
                    <a:pt x="11" y="0"/>
                    <a:pt x="11" y="0"/>
                  </a:cubicBezTo>
                  <a:cubicBezTo>
                    <a:pt x="5" y="0"/>
                    <a:pt x="0" y="5"/>
                    <a:pt x="0" y="11"/>
                  </a:cubicBezTo>
                  <a:cubicBezTo>
                    <a:pt x="0" y="75"/>
                    <a:pt x="0" y="75"/>
                    <a:pt x="0" y="75"/>
                  </a:cubicBezTo>
                  <a:cubicBezTo>
                    <a:pt x="0" y="81"/>
                    <a:pt x="5" y="85"/>
                    <a:pt x="11" y="85"/>
                  </a:cubicBezTo>
                  <a:cubicBezTo>
                    <a:pt x="17" y="85"/>
                    <a:pt x="21" y="81"/>
                    <a:pt x="21" y="75"/>
                  </a:cubicBezTo>
                  <a:cubicBezTo>
                    <a:pt x="21" y="36"/>
                    <a:pt x="21" y="36"/>
                    <a:pt x="21" y="36"/>
                  </a:cubicBezTo>
                  <a:cubicBezTo>
                    <a:pt x="78" y="93"/>
                    <a:pt x="78" y="93"/>
                    <a:pt x="78" y="93"/>
                  </a:cubicBezTo>
                  <a:cubicBezTo>
                    <a:pt x="80" y="95"/>
                    <a:pt x="83" y="96"/>
                    <a:pt x="85" y="96"/>
                  </a:cubicBezTo>
                  <a:cubicBezTo>
                    <a:pt x="88" y="96"/>
                    <a:pt x="91" y="95"/>
                    <a:pt x="93" y="93"/>
                  </a:cubicBezTo>
                  <a:cubicBezTo>
                    <a:pt x="97" y="89"/>
                    <a:pt x="97" y="82"/>
                    <a:pt x="93" y="7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60" name="Freeform 183">
              <a:extLst>
                <a:ext uri="{FF2B5EF4-FFF2-40B4-BE49-F238E27FC236}">
                  <a16:creationId xmlns:a16="http://schemas.microsoft.com/office/drawing/2014/main" id="{D0D7778E-EF73-48EF-2693-CE4DFF893F8F}"/>
                </a:ext>
              </a:extLst>
            </p:cNvPr>
            <p:cNvSpPr>
              <a:spLocks/>
            </p:cNvSpPr>
            <p:nvPr/>
          </p:nvSpPr>
          <p:spPr bwMode="auto">
            <a:xfrm>
              <a:off x="4720" y="1770"/>
              <a:ext cx="64" cy="64"/>
            </a:xfrm>
            <a:custGeom>
              <a:avLst/>
              <a:gdLst>
                <a:gd name="T0" fmla="*/ 87 w 97"/>
                <a:gd name="T1" fmla="*/ 12 h 97"/>
                <a:gd name="T2" fmla="*/ 76 w 97"/>
                <a:gd name="T3" fmla="*/ 23 h 97"/>
                <a:gd name="T4" fmla="*/ 76 w 97"/>
                <a:gd name="T5" fmla="*/ 61 h 97"/>
                <a:gd name="T6" fmla="*/ 20 w 97"/>
                <a:gd name="T7" fmla="*/ 4 h 97"/>
                <a:gd name="T8" fmla="*/ 4 w 97"/>
                <a:gd name="T9" fmla="*/ 4 h 97"/>
                <a:gd name="T10" fmla="*/ 4 w 97"/>
                <a:gd name="T11" fmla="*/ 20 h 97"/>
                <a:gd name="T12" fmla="*/ 61 w 97"/>
                <a:gd name="T13" fmla="*/ 76 h 97"/>
                <a:gd name="T14" fmla="*/ 23 w 97"/>
                <a:gd name="T15" fmla="*/ 76 h 97"/>
                <a:gd name="T16" fmla="*/ 12 w 97"/>
                <a:gd name="T17" fmla="*/ 87 h 97"/>
                <a:gd name="T18" fmla="*/ 23 w 97"/>
                <a:gd name="T19" fmla="*/ 97 h 97"/>
                <a:gd name="T20" fmla="*/ 87 w 97"/>
                <a:gd name="T21" fmla="*/ 97 h 97"/>
                <a:gd name="T22" fmla="*/ 97 w 97"/>
                <a:gd name="T23" fmla="*/ 87 h 97"/>
                <a:gd name="T24" fmla="*/ 97 w 97"/>
                <a:gd name="T25" fmla="*/ 23 h 97"/>
                <a:gd name="T26" fmla="*/ 87 w 97"/>
                <a:gd name="T27" fmla="*/ 1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97">
                  <a:moveTo>
                    <a:pt x="87" y="12"/>
                  </a:moveTo>
                  <a:cubicBezTo>
                    <a:pt x="81" y="12"/>
                    <a:pt x="76" y="17"/>
                    <a:pt x="76" y="23"/>
                  </a:cubicBezTo>
                  <a:cubicBezTo>
                    <a:pt x="76" y="61"/>
                    <a:pt x="76" y="61"/>
                    <a:pt x="76" y="61"/>
                  </a:cubicBezTo>
                  <a:cubicBezTo>
                    <a:pt x="20" y="4"/>
                    <a:pt x="20" y="4"/>
                    <a:pt x="20" y="4"/>
                  </a:cubicBezTo>
                  <a:cubicBezTo>
                    <a:pt x="15" y="0"/>
                    <a:pt x="9" y="0"/>
                    <a:pt x="4" y="4"/>
                  </a:cubicBezTo>
                  <a:cubicBezTo>
                    <a:pt x="0" y="9"/>
                    <a:pt x="0" y="15"/>
                    <a:pt x="4" y="20"/>
                  </a:cubicBezTo>
                  <a:cubicBezTo>
                    <a:pt x="61" y="76"/>
                    <a:pt x="61" y="76"/>
                    <a:pt x="61" y="76"/>
                  </a:cubicBezTo>
                  <a:cubicBezTo>
                    <a:pt x="23" y="76"/>
                    <a:pt x="23" y="76"/>
                    <a:pt x="23" y="76"/>
                  </a:cubicBezTo>
                  <a:cubicBezTo>
                    <a:pt x="17" y="76"/>
                    <a:pt x="12" y="81"/>
                    <a:pt x="12" y="87"/>
                  </a:cubicBezTo>
                  <a:cubicBezTo>
                    <a:pt x="12" y="93"/>
                    <a:pt x="17" y="97"/>
                    <a:pt x="23" y="97"/>
                  </a:cubicBezTo>
                  <a:cubicBezTo>
                    <a:pt x="87" y="97"/>
                    <a:pt x="87" y="97"/>
                    <a:pt x="87" y="97"/>
                  </a:cubicBezTo>
                  <a:cubicBezTo>
                    <a:pt x="93" y="97"/>
                    <a:pt x="97" y="93"/>
                    <a:pt x="97" y="87"/>
                  </a:cubicBezTo>
                  <a:cubicBezTo>
                    <a:pt x="97" y="23"/>
                    <a:pt x="97" y="23"/>
                    <a:pt x="97" y="23"/>
                  </a:cubicBezTo>
                  <a:cubicBezTo>
                    <a:pt x="97" y="17"/>
                    <a:pt x="93" y="12"/>
                    <a:pt x="87" y="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sp>
        <p:nvSpPr>
          <p:cNvPr id="61" name="TextBox 60">
            <a:extLst>
              <a:ext uri="{FF2B5EF4-FFF2-40B4-BE49-F238E27FC236}">
                <a16:creationId xmlns:a16="http://schemas.microsoft.com/office/drawing/2014/main" id="{6785A535-E54B-4BAD-C0EB-297D4F7BBFF4}"/>
              </a:ext>
            </a:extLst>
          </p:cNvPr>
          <p:cNvSpPr txBox="1"/>
          <p:nvPr/>
        </p:nvSpPr>
        <p:spPr>
          <a:xfrm>
            <a:off x="365319" y="2727055"/>
            <a:ext cx="1770900" cy="615553"/>
          </a:xfrm>
          <a:prstGeom prst="rect">
            <a:avLst/>
          </a:prstGeom>
          <a:noFill/>
        </p:spPr>
        <p:txBody>
          <a:bodyPr wrap="square" lIns="0" tIns="0" rIns="0" bIns="0" rtlCol="0">
            <a:spAutoFit/>
          </a:bodyPr>
          <a:lstStyle/>
          <a:p>
            <a:pPr>
              <a:buSzPct val="100000"/>
            </a:pPr>
            <a:r>
              <a:rPr lang="en-US" sz="800" b="1">
                <a:solidFill>
                  <a:srgbClr val="53565A"/>
                </a:solidFill>
                <a:latin typeface="Verdana" panose="020B0604030504040204" pitchFamily="34" charset="0"/>
                <a:ea typeface="Verdana" panose="020B0604030504040204" pitchFamily="34" charset="0"/>
              </a:rPr>
              <a:t>Financial Plan</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Financial Viability Planning</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Financial Restructuring</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Forecasting Model Development</a:t>
            </a:r>
          </a:p>
        </p:txBody>
      </p:sp>
      <p:cxnSp>
        <p:nvCxnSpPr>
          <p:cNvPr id="62" name="Elbow Connector 65">
            <a:extLst>
              <a:ext uri="{FF2B5EF4-FFF2-40B4-BE49-F238E27FC236}">
                <a16:creationId xmlns:a16="http://schemas.microsoft.com/office/drawing/2014/main" id="{F00F2AC6-5DCA-4845-F96C-77E2A410C02A}"/>
              </a:ext>
            </a:extLst>
          </p:cNvPr>
          <p:cNvCxnSpPr>
            <a:cxnSpLocks/>
            <a:stCxn id="61" idx="2"/>
          </p:cNvCxnSpPr>
          <p:nvPr/>
        </p:nvCxnSpPr>
        <p:spPr>
          <a:xfrm rot="16200000" flipH="1">
            <a:off x="1696389" y="2896988"/>
            <a:ext cx="52790" cy="944030"/>
          </a:xfrm>
          <a:prstGeom prst="bentConnector2">
            <a:avLst/>
          </a:prstGeom>
          <a:noFill/>
          <a:ln w="9525" cap="flat" cmpd="sng" algn="ctr">
            <a:solidFill>
              <a:srgbClr val="53565A"/>
            </a:solidFill>
            <a:prstDash val="solid"/>
          </a:ln>
          <a:effectLst/>
        </p:spPr>
      </p:cxnSp>
      <p:sp>
        <p:nvSpPr>
          <p:cNvPr id="63" name="TextBox 62">
            <a:extLst>
              <a:ext uri="{FF2B5EF4-FFF2-40B4-BE49-F238E27FC236}">
                <a16:creationId xmlns:a16="http://schemas.microsoft.com/office/drawing/2014/main" id="{F60303B5-4C4E-4881-71BC-249E41CA8D83}"/>
              </a:ext>
            </a:extLst>
          </p:cNvPr>
          <p:cNvSpPr txBox="1"/>
          <p:nvPr/>
        </p:nvSpPr>
        <p:spPr>
          <a:xfrm>
            <a:off x="330406" y="3589790"/>
            <a:ext cx="1678039" cy="1107996"/>
          </a:xfrm>
          <a:prstGeom prst="rect">
            <a:avLst/>
          </a:prstGeom>
          <a:noFill/>
        </p:spPr>
        <p:txBody>
          <a:bodyPr wrap="square" lIns="0" tIns="0" rIns="0" bIns="0" rtlCol="0">
            <a:spAutoFit/>
          </a:bodyPr>
          <a:lstStyle/>
          <a:p>
            <a:pPr>
              <a:buSzPct val="100000"/>
            </a:pPr>
            <a:r>
              <a:rPr lang="en-US" sz="800" b="1">
                <a:solidFill>
                  <a:srgbClr val="53565A"/>
                </a:solidFill>
                <a:latin typeface="Verdana" panose="020B0604030504040204" pitchFamily="34" charset="0"/>
                <a:ea typeface="Verdana" panose="020B0604030504040204" pitchFamily="34" charset="0"/>
              </a:rPr>
              <a:t>Technical Performance Improvement</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Demand-supply gap mgmt.</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Reduction of technical losses</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Growth of supply capacity</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Generation Mix Diversification</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Reliability and quality of electricity supply</a:t>
            </a:r>
          </a:p>
        </p:txBody>
      </p:sp>
      <p:cxnSp>
        <p:nvCxnSpPr>
          <p:cNvPr id="64" name="Elbow Connector 65">
            <a:extLst>
              <a:ext uri="{FF2B5EF4-FFF2-40B4-BE49-F238E27FC236}">
                <a16:creationId xmlns:a16="http://schemas.microsoft.com/office/drawing/2014/main" id="{E5B34A28-97E4-E343-E9F0-DF9783BB503A}"/>
              </a:ext>
            </a:extLst>
          </p:cNvPr>
          <p:cNvCxnSpPr>
            <a:cxnSpLocks/>
          </p:cNvCxnSpPr>
          <p:nvPr/>
        </p:nvCxnSpPr>
        <p:spPr>
          <a:xfrm>
            <a:off x="1906144" y="3990196"/>
            <a:ext cx="384767" cy="174192"/>
          </a:xfrm>
          <a:prstGeom prst="bentConnector3">
            <a:avLst>
              <a:gd name="adj1" fmla="val 50000"/>
            </a:avLst>
          </a:prstGeom>
          <a:noFill/>
          <a:ln w="9525" cap="flat" cmpd="sng" algn="ctr">
            <a:solidFill>
              <a:srgbClr val="D0D0CE"/>
            </a:solidFill>
            <a:prstDash val="solid"/>
          </a:ln>
          <a:effectLst/>
        </p:spPr>
      </p:cxnSp>
      <p:sp>
        <p:nvSpPr>
          <p:cNvPr id="65" name="TextBox 64">
            <a:extLst>
              <a:ext uri="{FF2B5EF4-FFF2-40B4-BE49-F238E27FC236}">
                <a16:creationId xmlns:a16="http://schemas.microsoft.com/office/drawing/2014/main" id="{C58BE191-EB21-0491-5FC6-DCE81CF19458}"/>
              </a:ext>
            </a:extLst>
          </p:cNvPr>
          <p:cNvSpPr txBox="1"/>
          <p:nvPr/>
        </p:nvSpPr>
        <p:spPr>
          <a:xfrm>
            <a:off x="1173956" y="4936605"/>
            <a:ext cx="1678039" cy="861774"/>
          </a:xfrm>
          <a:prstGeom prst="rect">
            <a:avLst/>
          </a:prstGeom>
          <a:noFill/>
        </p:spPr>
        <p:txBody>
          <a:bodyPr wrap="square" lIns="0" tIns="0" rIns="0" bIns="0" rtlCol="0">
            <a:spAutoFit/>
          </a:bodyPr>
          <a:lstStyle/>
          <a:p>
            <a:pPr>
              <a:buSzPct val="100000"/>
            </a:pPr>
            <a:r>
              <a:rPr lang="en-US" sz="800" b="1">
                <a:solidFill>
                  <a:srgbClr val="007CB0"/>
                </a:solidFill>
                <a:latin typeface="Verdana" panose="020B0604030504040204" pitchFamily="34" charset="0"/>
                <a:ea typeface="Verdana" panose="020B0604030504040204" pitchFamily="34" charset="0"/>
              </a:rPr>
              <a:t>Commercial Performance Improvement</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Rationalization of tariff </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Cost Reflective Tarif</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Fuel Management</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Cost Optimization Strategy</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Bid Advisory</a:t>
            </a:r>
          </a:p>
        </p:txBody>
      </p:sp>
      <p:cxnSp>
        <p:nvCxnSpPr>
          <p:cNvPr id="66" name="Elbow Connector 65">
            <a:extLst>
              <a:ext uri="{FF2B5EF4-FFF2-40B4-BE49-F238E27FC236}">
                <a16:creationId xmlns:a16="http://schemas.microsoft.com/office/drawing/2014/main" id="{E44BF6A6-E8BB-9F87-D9A8-B45E3D1FEF01}"/>
              </a:ext>
            </a:extLst>
          </p:cNvPr>
          <p:cNvCxnSpPr>
            <a:cxnSpLocks/>
          </p:cNvCxnSpPr>
          <p:nvPr/>
        </p:nvCxnSpPr>
        <p:spPr>
          <a:xfrm rot="5400000" flipH="1" flipV="1">
            <a:off x="2135310" y="4497735"/>
            <a:ext cx="449006" cy="428734"/>
          </a:xfrm>
          <a:prstGeom prst="bentConnector3">
            <a:avLst>
              <a:gd name="adj1" fmla="val 50000"/>
            </a:avLst>
          </a:prstGeom>
          <a:noFill/>
          <a:ln w="9525" cap="flat" cmpd="sng" algn="ctr">
            <a:solidFill>
              <a:srgbClr val="007CB0"/>
            </a:solidFill>
            <a:prstDash val="solid"/>
          </a:ln>
          <a:effectLst/>
        </p:spPr>
      </p:cxnSp>
      <p:sp>
        <p:nvSpPr>
          <p:cNvPr id="67" name="TextBox 66">
            <a:extLst>
              <a:ext uri="{FF2B5EF4-FFF2-40B4-BE49-F238E27FC236}">
                <a16:creationId xmlns:a16="http://schemas.microsoft.com/office/drawing/2014/main" id="{6BC73665-3A13-51AC-803C-B747C762B9E4}"/>
              </a:ext>
            </a:extLst>
          </p:cNvPr>
          <p:cNvSpPr txBox="1"/>
          <p:nvPr/>
        </p:nvSpPr>
        <p:spPr>
          <a:xfrm>
            <a:off x="3306363" y="4935947"/>
            <a:ext cx="1678039" cy="738664"/>
          </a:xfrm>
          <a:prstGeom prst="rect">
            <a:avLst/>
          </a:prstGeom>
          <a:noFill/>
        </p:spPr>
        <p:txBody>
          <a:bodyPr wrap="square" lIns="0" tIns="0" rIns="0" bIns="0" rtlCol="0">
            <a:spAutoFit/>
          </a:bodyPr>
          <a:lstStyle/>
          <a:p>
            <a:pPr>
              <a:buSzPct val="100000"/>
            </a:pPr>
            <a:r>
              <a:rPr lang="en-US" sz="800" b="1">
                <a:solidFill>
                  <a:srgbClr val="0D8390"/>
                </a:solidFill>
                <a:latin typeface="Verdana" panose="020B0604030504040204" pitchFamily="34" charset="0"/>
                <a:ea typeface="Verdana" panose="020B0604030504040204" pitchFamily="34" charset="0"/>
              </a:rPr>
              <a:t>Institutional Strengthening</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Skill Gap Assessment</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Training Plan in line with sectoral evolution &amp; market requirement</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Change Management</a:t>
            </a:r>
          </a:p>
        </p:txBody>
      </p:sp>
      <p:grpSp>
        <p:nvGrpSpPr>
          <p:cNvPr id="68" name="Group 48">
            <a:extLst>
              <a:ext uri="{FF2B5EF4-FFF2-40B4-BE49-F238E27FC236}">
                <a16:creationId xmlns:a16="http://schemas.microsoft.com/office/drawing/2014/main" id="{AE652EC0-2805-154A-29E3-CB64812D8F5B}"/>
              </a:ext>
            </a:extLst>
          </p:cNvPr>
          <p:cNvGrpSpPr>
            <a:grpSpLocks noChangeAspect="1"/>
          </p:cNvGrpSpPr>
          <p:nvPr/>
        </p:nvGrpSpPr>
        <p:grpSpPr bwMode="auto">
          <a:xfrm>
            <a:off x="2156775" y="3231599"/>
            <a:ext cx="320040" cy="320040"/>
            <a:chOff x="4277" y="1990"/>
            <a:chExt cx="340" cy="340"/>
          </a:xfrm>
          <a:solidFill>
            <a:sysClr val="window" lastClr="FFFFFF"/>
          </a:solidFill>
        </p:grpSpPr>
        <p:sp>
          <p:nvSpPr>
            <p:cNvPr id="69" name="Freeform 49">
              <a:extLst>
                <a:ext uri="{FF2B5EF4-FFF2-40B4-BE49-F238E27FC236}">
                  <a16:creationId xmlns:a16="http://schemas.microsoft.com/office/drawing/2014/main" id="{FD1CE717-1814-3E33-6E1C-612F0B992D06}"/>
                </a:ext>
              </a:extLst>
            </p:cNvPr>
            <p:cNvSpPr>
              <a:spLocks noEditPoints="1"/>
            </p:cNvSpPr>
            <p:nvPr/>
          </p:nvSpPr>
          <p:spPr bwMode="auto">
            <a:xfrm>
              <a:off x="4277" y="199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70" name="Freeform 50">
              <a:extLst>
                <a:ext uri="{FF2B5EF4-FFF2-40B4-BE49-F238E27FC236}">
                  <a16:creationId xmlns:a16="http://schemas.microsoft.com/office/drawing/2014/main" id="{2707FA51-2B12-7AE6-067A-9EC566CF6F4C}"/>
                </a:ext>
              </a:extLst>
            </p:cNvPr>
            <p:cNvSpPr>
              <a:spLocks noEditPoints="1"/>
            </p:cNvSpPr>
            <p:nvPr/>
          </p:nvSpPr>
          <p:spPr bwMode="auto">
            <a:xfrm>
              <a:off x="4355" y="2054"/>
              <a:ext cx="170" cy="212"/>
            </a:xfrm>
            <a:custGeom>
              <a:avLst/>
              <a:gdLst>
                <a:gd name="T0" fmla="*/ 235 w 256"/>
                <a:gd name="T1" fmla="*/ 256 h 320"/>
                <a:gd name="T2" fmla="*/ 224 w 256"/>
                <a:gd name="T3" fmla="*/ 213 h 320"/>
                <a:gd name="T4" fmla="*/ 245 w 256"/>
                <a:gd name="T5" fmla="*/ 117 h 320"/>
                <a:gd name="T6" fmla="*/ 11 w 256"/>
                <a:gd name="T7" fmla="*/ 117 h 320"/>
                <a:gd name="T8" fmla="*/ 11 w 256"/>
                <a:gd name="T9" fmla="*/ 213 h 320"/>
                <a:gd name="T10" fmla="*/ 0 w 256"/>
                <a:gd name="T11" fmla="*/ 266 h 320"/>
                <a:gd name="T12" fmla="*/ 21 w 256"/>
                <a:gd name="T13" fmla="*/ 277 h 320"/>
                <a:gd name="T14" fmla="*/ 32 w 256"/>
                <a:gd name="T15" fmla="*/ 320 h 320"/>
                <a:gd name="T16" fmla="*/ 256 w 256"/>
                <a:gd name="T17" fmla="*/ 309 h 320"/>
                <a:gd name="T18" fmla="*/ 245 w 256"/>
                <a:gd name="T19" fmla="*/ 256 h 320"/>
                <a:gd name="T20" fmla="*/ 192 w 256"/>
                <a:gd name="T21" fmla="*/ 256 h 320"/>
                <a:gd name="T22" fmla="*/ 213 w 256"/>
                <a:gd name="T23" fmla="*/ 234 h 320"/>
                <a:gd name="T24" fmla="*/ 64 w 256"/>
                <a:gd name="T25" fmla="*/ 256 h 320"/>
                <a:gd name="T26" fmla="*/ 85 w 256"/>
                <a:gd name="T27" fmla="*/ 234 h 320"/>
                <a:gd name="T28" fmla="*/ 64 w 256"/>
                <a:gd name="T29" fmla="*/ 256 h 320"/>
                <a:gd name="T30" fmla="*/ 107 w 256"/>
                <a:gd name="T31" fmla="*/ 234 h 320"/>
                <a:gd name="T32" fmla="*/ 128 w 256"/>
                <a:gd name="T33" fmla="*/ 256 h 320"/>
                <a:gd name="T34" fmla="*/ 149 w 256"/>
                <a:gd name="T35" fmla="*/ 234 h 320"/>
                <a:gd name="T36" fmla="*/ 171 w 256"/>
                <a:gd name="T37" fmla="*/ 256 h 320"/>
                <a:gd name="T38" fmla="*/ 149 w 256"/>
                <a:gd name="T39" fmla="*/ 234 h 320"/>
                <a:gd name="T40" fmla="*/ 192 w 256"/>
                <a:gd name="T41" fmla="*/ 298 h 320"/>
                <a:gd name="T42" fmla="*/ 171 w 256"/>
                <a:gd name="T43" fmla="*/ 277 h 320"/>
                <a:gd name="T44" fmla="*/ 32 w 256"/>
                <a:gd name="T45" fmla="*/ 117 h 320"/>
                <a:gd name="T46" fmla="*/ 224 w 256"/>
                <a:gd name="T47" fmla="*/ 117 h 320"/>
                <a:gd name="T48" fmla="*/ 32 w 256"/>
                <a:gd name="T49" fmla="*/ 117 h 320"/>
                <a:gd name="T50" fmla="*/ 43 w 256"/>
                <a:gd name="T51" fmla="*/ 234 h 320"/>
                <a:gd name="T52" fmla="*/ 32 w 256"/>
                <a:gd name="T53" fmla="*/ 256 h 320"/>
                <a:gd name="T54" fmla="*/ 21 w 256"/>
                <a:gd name="T55" fmla="*/ 234 h 320"/>
                <a:gd name="T56" fmla="*/ 64 w 256"/>
                <a:gd name="T57" fmla="*/ 277 h 320"/>
                <a:gd name="T58" fmla="*/ 43 w 256"/>
                <a:gd name="T59" fmla="*/ 298 h 320"/>
                <a:gd name="T60" fmla="*/ 85 w 256"/>
                <a:gd name="T61" fmla="*/ 298 h 320"/>
                <a:gd name="T62" fmla="*/ 107 w 256"/>
                <a:gd name="T63" fmla="*/ 277 h 320"/>
                <a:gd name="T64" fmla="*/ 85 w 256"/>
                <a:gd name="T65" fmla="*/ 298 h 320"/>
                <a:gd name="T66" fmla="*/ 149 w 256"/>
                <a:gd name="T67" fmla="*/ 277 h 320"/>
                <a:gd name="T68" fmla="*/ 128 w 256"/>
                <a:gd name="T69" fmla="*/ 298 h 320"/>
                <a:gd name="T70" fmla="*/ 235 w 256"/>
                <a:gd name="T71" fmla="*/ 298 h 320"/>
                <a:gd name="T72" fmla="*/ 213 w 256"/>
                <a:gd name="T73" fmla="*/ 277 h 320"/>
                <a:gd name="T74" fmla="*/ 235 w 256"/>
                <a:gd name="T75" fmla="*/ 277 h 320"/>
                <a:gd name="T76" fmla="*/ 128 w 256"/>
                <a:gd name="T77" fmla="*/ 168 h 320"/>
                <a:gd name="T78" fmla="*/ 96 w 256"/>
                <a:gd name="T79" fmla="*/ 162 h 320"/>
                <a:gd name="T80" fmla="*/ 113 w 256"/>
                <a:gd name="T81" fmla="*/ 149 h 320"/>
                <a:gd name="T82" fmla="*/ 136 w 256"/>
                <a:gd name="T83" fmla="*/ 148 h 320"/>
                <a:gd name="T84" fmla="*/ 138 w 256"/>
                <a:gd name="T85" fmla="*/ 135 h 320"/>
                <a:gd name="T86" fmla="*/ 121 w 256"/>
                <a:gd name="T87" fmla="*/ 124 h 320"/>
                <a:gd name="T88" fmla="*/ 100 w 256"/>
                <a:gd name="T89" fmla="*/ 107 h 320"/>
                <a:gd name="T90" fmla="*/ 108 w 256"/>
                <a:gd name="T91" fmla="*/ 75 h 320"/>
                <a:gd name="T92" fmla="*/ 128 w 256"/>
                <a:gd name="T93" fmla="*/ 53 h 320"/>
                <a:gd name="T94" fmla="*/ 139 w 256"/>
                <a:gd name="T95" fmla="*/ 67 h 320"/>
                <a:gd name="T96" fmla="*/ 160 w 256"/>
                <a:gd name="T97" fmla="*/ 74 h 320"/>
                <a:gd name="T98" fmla="*/ 140 w 256"/>
                <a:gd name="T99" fmla="*/ 86 h 320"/>
                <a:gd name="T100" fmla="*/ 121 w 256"/>
                <a:gd name="T101" fmla="*/ 87 h 320"/>
                <a:gd name="T102" fmla="*/ 119 w 256"/>
                <a:gd name="T103" fmla="*/ 99 h 320"/>
                <a:gd name="T104" fmla="*/ 136 w 256"/>
                <a:gd name="T105" fmla="*/ 110 h 320"/>
                <a:gd name="T106" fmla="*/ 161 w 256"/>
                <a:gd name="T107" fmla="*/ 140 h 320"/>
                <a:gd name="T108" fmla="*/ 139 w 256"/>
                <a:gd name="T109" fmla="*/ 167 h 320"/>
                <a:gd name="T110" fmla="*/ 128 w 256"/>
                <a:gd name="T111" fmla="*/ 18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320">
                  <a:moveTo>
                    <a:pt x="245" y="256"/>
                  </a:moveTo>
                  <a:cubicBezTo>
                    <a:pt x="235" y="256"/>
                    <a:pt x="235" y="256"/>
                    <a:pt x="235" y="256"/>
                  </a:cubicBezTo>
                  <a:cubicBezTo>
                    <a:pt x="235" y="224"/>
                    <a:pt x="235" y="224"/>
                    <a:pt x="235" y="224"/>
                  </a:cubicBezTo>
                  <a:cubicBezTo>
                    <a:pt x="235" y="218"/>
                    <a:pt x="230" y="213"/>
                    <a:pt x="224" y="213"/>
                  </a:cubicBezTo>
                  <a:cubicBezTo>
                    <a:pt x="195" y="213"/>
                    <a:pt x="195" y="213"/>
                    <a:pt x="195" y="213"/>
                  </a:cubicBezTo>
                  <a:cubicBezTo>
                    <a:pt x="225" y="192"/>
                    <a:pt x="245" y="157"/>
                    <a:pt x="245" y="117"/>
                  </a:cubicBezTo>
                  <a:cubicBezTo>
                    <a:pt x="245" y="52"/>
                    <a:pt x="193" y="0"/>
                    <a:pt x="128" y="0"/>
                  </a:cubicBezTo>
                  <a:cubicBezTo>
                    <a:pt x="63" y="0"/>
                    <a:pt x="11" y="52"/>
                    <a:pt x="11" y="117"/>
                  </a:cubicBezTo>
                  <a:cubicBezTo>
                    <a:pt x="11" y="157"/>
                    <a:pt x="31" y="192"/>
                    <a:pt x="61" y="213"/>
                  </a:cubicBezTo>
                  <a:cubicBezTo>
                    <a:pt x="11" y="213"/>
                    <a:pt x="11" y="213"/>
                    <a:pt x="11" y="213"/>
                  </a:cubicBezTo>
                  <a:cubicBezTo>
                    <a:pt x="5" y="213"/>
                    <a:pt x="0" y="218"/>
                    <a:pt x="0" y="224"/>
                  </a:cubicBezTo>
                  <a:cubicBezTo>
                    <a:pt x="0" y="266"/>
                    <a:pt x="0" y="266"/>
                    <a:pt x="0" y="266"/>
                  </a:cubicBezTo>
                  <a:cubicBezTo>
                    <a:pt x="0" y="272"/>
                    <a:pt x="5" y="277"/>
                    <a:pt x="11" y="277"/>
                  </a:cubicBezTo>
                  <a:cubicBezTo>
                    <a:pt x="21" y="277"/>
                    <a:pt x="21" y="277"/>
                    <a:pt x="21" y="277"/>
                  </a:cubicBezTo>
                  <a:cubicBezTo>
                    <a:pt x="21" y="309"/>
                    <a:pt x="21" y="309"/>
                    <a:pt x="21" y="309"/>
                  </a:cubicBezTo>
                  <a:cubicBezTo>
                    <a:pt x="21" y="315"/>
                    <a:pt x="26" y="320"/>
                    <a:pt x="32" y="320"/>
                  </a:cubicBezTo>
                  <a:cubicBezTo>
                    <a:pt x="245" y="320"/>
                    <a:pt x="245" y="320"/>
                    <a:pt x="245" y="320"/>
                  </a:cubicBezTo>
                  <a:cubicBezTo>
                    <a:pt x="251" y="320"/>
                    <a:pt x="256" y="315"/>
                    <a:pt x="256" y="309"/>
                  </a:cubicBezTo>
                  <a:cubicBezTo>
                    <a:pt x="256" y="266"/>
                    <a:pt x="256" y="266"/>
                    <a:pt x="256" y="266"/>
                  </a:cubicBezTo>
                  <a:cubicBezTo>
                    <a:pt x="256" y="260"/>
                    <a:pt x="251" y="256"/>
                    <a:pt x="245" y="256"/>
                  </a:cubicBezTo>
                  <a:close/>
                  <a:moveTo>
                    <a:pt x="213" y="256"/>
                  </a:moveTo>
                  <a:cubicBezTo>
                    <a:pt x="192" y="256"/>
                    <a:pt x="192" y="256"/>
                    <a:pt x="192" y="256"/>
                  </a:cubicBezTo>
                  <a:cubicBezTo>
                    <a:pt x="192" y="234"/>
                    <a:pt x="192" y="234"/>
                    <a:pt x="192" y="234"/>
                  </a:cubicBezTo>
                  <a:cubicBezTo>
                    <a:pt x="213" y="234"/>
                    <a:pt x="213" y="234"/>
                    <a:pt x="213" y="234"/>
                  </a:cubicBezTo>
                  <a:lnTo>
                    <a:pt x="213" y="256"/>
                  </a:lnTo>
                  <a:close/>
                  <a:moveTo>
                    <a:pt x="64" y="256"/>
                  </a:moveTo>
                  <a:cubicBezTo>
                    <a:pt x="64" y="234"/>
                    <a:pt x="64" y="234"/>
                    <a:pt x="64" y="234"/>
                  </a:cubicBezTo>
                  <a:cubicBezTo>
                    <a:pt x="85" y="234"/>
                    <a:pt x="85" y="234"/>
                    <a:pt x="85" y="234"/>
                  </a:cubicBezTo>
                  <a:cubicBezTo>
                    <a:pt x="85" y="256"/>
                    <a:pt x="85" y="256"/>
                    <a:pt x="85" y="256"/>
                  </a:cubicBezTo>
                  <a:lnTo>
                    <a:pt x="64" y="256"/>
                  </a:lnTo>
                  <a:close/>
                  <a:moveTo>
                    <a:pt x="107" y="256"/>
                  </a:moveTo>
                  <a:cubicBezTo>
                    <a:pt x="107" y="234"/>
                    <a:pt x="107" y="234"/>
                    <a:pt x="107" y="234"/>
                  </a:cubicBezTo>
                  <a:cubicBezTo>
                    <a:pt x="128" y="234"/>
                    <a:pt x="128" y="234"/>
                    <a:pt x="128" y="234"/>
                  </a:cubicBezTo>
                  <a:cubicBezTo>
                    <a:pt x="128" y="256"/>
                    <a:pt x="128" y="256"/>
                    <a:pt x="128" y="256"/>
                  </a:cubicBezTo>
                  <a:lnTo>
                    <a:pt x="107" y="256"/>
                  </a:lnTo>
                  <a:close/>
                  <a:moveTo>
                    <a:pt x="149" y="234"/>
                  </a:moveTo>
                  <a:cubicBezTo>
                    <a:pt x="171" y="234"/>
                    <a:pt x="171" y="234"/>
                    <a:pt x="171" y="234"/>
                  </a:cubicBezTo>
                  <a:cubicBezTo>
                    <a:pt x="171" y="256"/>
                    <a:pt x="171" y="256"/>
                    <a:pt x="171" y="256"/>
                  </a:cubicBezTo>
                  <a:cubicBezTo>
                    <a:pt x="149" y="256"/>
                    <a:pt x="149" y="256"/>
                    <a:pt x="149" y="256"/>
                  </a:cubicBezTo>
                  <a:lnTo>
                    <a:pt x="149" y="234"/>
                  </a:lnTo>
                  <a:close/>
                  <a:moveTo>
                    <a:pt x="192" y="277"/>
                  </a:moveTo>
                  <a:cubicBezTo>
                    <a:pt x="192" y="298"/>
                    <a:pt x="192" y="298"/>
                    <a:pt x="192" y="298"/>
                  </a:cubicBezTo>
                  <a:cubicBezTo>
                    <a:pt x="171" y="298"/>
                    <a:pt x="171" y="298"/>
                    <a:pt x="171" y="298"/>
                  </a:cubicBezTo>
                  <a:cubicBezTo>
                    <a:pt x="171" y="277"/>
                    <a:pt x="171" y="277"/>
                    <a:pt x="171" y="277"/>
                  </a:cubicBezTo>
                  <a:lnTo>
                    <a:pt x="192" y="277"/>
                  </a:lnTo>
                  <a:close/>
                  <a:moveTo>
                    <a:pt x="32" y="117"/>
                  </a:moveTo>
                  <a:cubicBezTo>
                    <a:pt x="32" y="64"/>
                    <a:pt x="75" y="21"/>
                    <a:pt x="128" y="21"/>
                  </a:cubicBezTo>
                  <a:cubicBezTo>
                    <a:pt x="181" y="21"/>
                    <a:pt x="224" y="64"/>
                    <a:pt x="224" y="117"/>
                  </a:cubicBezTo>
                  <a:cubicBezTo>
                    <a:pt x="224" y="170"/>
                    <a:pt x="181" y="213"/>
                    <a:pt x="128" y="213"/>
                  </a:cubicBezTo>
                  <a:cubicBezTo>
                    <a:pt x="75" y="213"/>
                    <a:pt x="32" y="170"/>
                    <a:pt x="32" y="117"/>
                  </a:cubicBezTo>
                  <a:close/>
                  <a:moveTo>
                    <a:pt x="21" y="234"/>
                  </a:moveTo>
                  <a:cubicBezTo>
                    <a:pt x="43" y="234"/>
                    <a:pt x="43" y="234"/>
                    <a:pt x="43" y="234"/>
                  </a:cubicBezTo>
                  <a:cubicBezTo>
                    <a:pt x="43" y="256"/>
                    <a:pt x="43" y="256"/>
                    <a:pt x="43" y="256"/>
                  </a:cubicBezTo>
                  <a:cubicBezTo>
                    <a:pt x="32" y="256"/>
                    <a:pt x="32" y="256"/>
                    <a:pt x="32" y="256"/>
                  </a:cubicBezTo>
                  <a:cubicBezTo>
                    <a:pt x="21" y="256"/>
                    <a:pt x="21" y="256"/>
                    <a:pt x="21" y="256"/>
                  </a:cubicBezTo>
                  <a:lnTo>
                    <a:pt x="21" y="234"/>
                  </a:lnTo>
                  <a:close/>
                  <a:moveTo>
                    <a:pt x="43" y="277"/>
                  </a:moveTo>
                  <a:cubicBezTo>
                    <a:pt x="64" y="277"/>
                    <a:pt x="64" y="277"/>
                    <a:pt x="64" y="277"/>
                  </a:cubicBezTo>
                  <a:cubicBezTo>
                    <a:pt x="64" y="298"/>
                    <a:pt x="64" y="298"/>
                    <a:pt x="64" y="298"/>
                  </a:cubicBezTo>
                  <a:cubicBezTo>
                    <a:pt x="43" y="298"/>
                    <a:pt x="43" y="298"/>
                    <a:pt x="43" y="298"/>
                  </a:cubicBezTo>
                  <a:lnTo>
                    <a:pt x="43" y="277"/>
                  </a:lnTo>
                  <a:close/>
                  <a:moveTo>
                    <a:pt x="85" y="298"/>
                  </a:moveTo>
                  <a:cubicBezTo>
                    <a:pt x="85" y="277"/>
                    <a:pt x="85" y="277"/>
                    <a:pt x="85" y="277"/>
                  </a:cubicBezTo>
                  <a:cubicBezTo>
                    <a:pt x="107" y="277"/>
                    <a:pt x="107" y="277"/>
                    <a:pt x="107" y="277"/>
                  </a:cubicBezTo>
                  <a:cubicBezTo>
                    <a:pt x="107" y="298"/>
                    <a:pt x="107" y="298"/>
                    <a:pt x="107" y="298"/>
                  </a:cubicBezTo>
                  <a:lnTo>
                    <a:pt x="85" y="298"/>
                  </a:lnTo>
                  <a:close/>
                  <a:moveTo>
                    <a:pt x="128" y="277"/>
                  </a:moveTo>
                  <a:cubicBezTo>
                    <a:pt x="149" y="277"/>
                    <a:pt x="149" y="277"/>
                    <a:pt x="149" y="277"/>
                  </a:cubicBezTo>
                  <a:cubicBezTo>
                    <a:pt x="149" y="298"/>
                    <a:pt x="149" y="298"/>
                    <a:pt x="149" y="298"/>
                  </a:cubicBezTo>
                  <a:cubicBezTo>
                    <a:pt x="128" y="298"/>
                    <a:pt x="128" y="298"/>
                    <a:pt x="128" y="298"/>
                  </a:cubicBezTo>
                  <a:lnTo>
                    <a:pt x="128" y="277"/>
                  </a:lnTo>
                  <a:close/>
                  <a:moveTo>
                    <a:pt x="235" y="298"/>
                  </a:moveTo>
                  <a:cubicBezTo>
                    <a:pt x="213" y="298"/>
                    <a:pt x="213" y="298"/>
                    <a:pt x="213" y="298"/>
                  </a:cubicBezTo>
                  <a:cubicBezTo>
                    <a:pt x="213" y="277"/>
                    <a:pt x="213" y="277"/>
                    <a:pt x="213" y="277"/>
                  </a:cubicBezTo>
                  <a:cubicBezTo>
                    <a:pt x="224" y="277"/>
                    <a:pt x="224" y="277"/>
                    <a:pt x="224" y="277"/>
                  </a:cubicBezTo>
                  <a:cubicBezTo>
                    <a:pt x="235" y="277"/>
                    <a:pt x="235" y="277"/>
                    <a:pt x="235" y="277"/>
                  </a:cubicBezTo>
                  <a:lnTo>
                    <a:pt x="235" y="298"/>
                  </a:lnTo>
                  <a:close/>
                  <a:moveTo>
                    <a:pt x="128" y="168"/>
                  </a:moveTo>
                  <a:cubicBezTo>
                    <a:pt x="128" y="168"/>
                    <a:pt x="126" y="168"/>
                    <a:pt x="126" y="168"/>
                  </a:cubicBezTo>
                  <a:cubicBezTo>
                    <a:pt x="115" y="168"/>
                    <a:pt x="107" y="166"/>
                    <a:pt x="96" y="162"/>
                  </a:cubicBezTo>
                  <a:cubicBezTo>
                    <a:pt x="96" y="143"/>
                    <a:pt x="96" y="143"/>
                    <a:pt x="96" y="143"/>
                  </a:cubicBezTo>
                  <a:cubicBezTo>
                    <a:pt x="107" y="146"/>
                    <a:pt x="108" y="148"/>
                    <a:pt x="113" y="149"/>
                  </a:cubicBezTo>
                  <a:cubicBezTo>
                    <a:pt x="117" y="150"/>
                    <a:pt x="122" y="151"/>
                    <a:pt x="125" y="151"/>
                  </a:cubicBezTo>
                  <a:cubicBezTo>
                    <a:pt x="130" y="151"/>
                    <a:pt x="133" y="150"/>
                    <a:pt x="136" y="148"/>
                  </a:cubicBezTo>
                  <a:cubicBezTo>
                    <a:pt x="138" y="147"/>
                    <a:pt x="140" y="144"/>
                    <a:pt x="140" y="141"/>
                  </a:cubicBezTo>
                  <a:cubicBezTo>
                    <a:pt x="140" y="139"/>
                    <a:pt x="139" y="137"/>
                    <a:pt x="138" y="135"/>
                  </a:cubicBezTo>
                  <a:cubicBezTo>
                    <a:pt x="137" y="134"/>
                    <a:pt x="135" y="132"/>
                    <a:pt x="133" y="131"/>
                  </a:cubicBezTo>
                  <a:cubicBezTo>
                    <a:pt x="131" y="130"/>
                    <a:pt x="127" y="127"/>
                    <a:pt x="121" y="124"/>
                  </a:cubicBezTo>
                  <a:cubicBezTo>
                    <a:pt x="115" y="122"/>
                    <a:pt x="110" y="119"/>
                    <a:pt x="107" y="116"/>
                  </a:cubicBezTo>
                  <a:cubicBezTo>
                    <a:pt x="104" y="114"/>
                    <a:pt x="102" y="111"/>
                    <a:pt x="100" y="107"/>
                  </a:cubicBezTo>
                  <a:cubicBezTo>
                    <a:pt x="98" y="104"/>
                    <a:pt x="98" y="100"/>
                    <a:pt x="98" y="95"/>
                  </a:cubicBezTo>
                  <a:cubicBezTo>
                    <a:pt x="98" y="86"/>
                    <a:pt x="102" y="80"/>
                    <a:pt x="108" y="75"/>
                  </a:cubicBezTo>
                  <a:cubicBezTo>
                    <a:pt x="112" y="71"/>
                    <a:pt x="117" y="68"/>
                    <a:pt x="128" y="68"/>
                  </a:cubicBezTo>
                  <a:cubicBezTo>
                    <a:pt x="128" y="53"/>
                    <a:pt x="128" y="53"/>
                    <a:pt x="128" y="53"/>
                  </a:cubicBezTo>
                  <a:cubicBezTo>
                    <a:pt x="139" y="53"/>
                    <a:pt x="139" y="53"/>
                    <a:pt x="139" y="53"/>
                  </a:cubicBezTo>
                  <a:cubicBezTo>
                    <a:pt x="139" y="67"/>
                    <a:pt x="139" y="67"/>
                    <a:pt x="139" y="67"/>
                  </a:cubicBezTo>
                  <a:cubicBezTo>
                    <a:pt x="139" y="68"/>
                    <a:pt x="144" y="68"/>
                    <a:pt x="147" y="69"/>
                  </a:cubicBezTo>
                  <a:cubicBezTo>
                    <a:pt x="152" y="70"/>
                    <a:pt x="154" y="72"/>
                    <a:pt x="160" y="74"/>
                  </a:cubicBezTo>
                  <a:cubicBezTo>
                    <a:pt x="153" y="90"/>
                    <a:pt x="153" y="90"/>
                    <a:pt x="153" y="90"/>
                  </a:cubicBezTo>
                  <a:cubicBezTo>
                    <a:pt x="148" y="88"/>
                    <a:pt x="143" y="87"/>
                    <a:pt x="140" y="86"/>
                  </a:cubicBezTo>
                  <a:cubicBezTo>
                    <a:pt x="136" y="85"/>
                    <a:pt x="133" y="85"/>
                    <a:pt x="130" y="85"/>
                  </a:cubicBezTo>
                  <a:cubicBezTo>
                    <a:pt x="126" y="85"/>
                    <a:pt x="123" y="85"/>
                    <a:pt x="121" y="87"/>
                  </a:cubicBezTo>
                  <a:cubicBezTo>
                    <a:pt x="119" y="89"/>
                    <a:pt x="117" y="91"/>
                    <a:pt x="117" y="94"/>
                  </a:cubicBezTo>
                  <a:cubicBezTo>
                    <a:pt x="117" y="96"/>
                    <a:pt x="118" y="98"/>
                    <a:pt x="119" y="99"/>
                  </a:cubicBezTo>
                  <a:cubicBezTo>
                    <a:pt x="120" y="101"/>
                    <a:pt x="121" y="102"/>
                    <a:pt x="123" y="103"/>
                  </a:cubicBezTo>
                  <a:cubicBezTo>
                    <a:pt x="125" y="104"/>
                    <a:pt x="129" y="107"/>
                    <a:pt x="136" y="110"/>
                  </a:cubicBezTo>
                  <a:cubicBezTo>
                    <a:pt x="145" y="114"/>
                    <a:pt x="151" y="119"/>
                    <a:pt x="155" y="123"/>
                  </a:cubicBezTo>
                  <a:cubicBezTo>
                    <a:pt x="158" y="128"/>
                    <a:pt x="161" y="133"/>
                    <a:pt x="161" y="140"/>
                  </a:cubicBezTo>
                  <a:cubicBezTo>
                    <a:pt x="161" y="148"/>
                    <a:pt x="159" y="155"/>
                    <a:pt x="153" y="160"/>
                  </a:cubicBezTo>
                  <a:cubicBezTo>
                    <a:pt x="148" y="164"/>
                    <a:pt x="139" y="166"/>
                    <a:pt x="139" y="167"/>
                  </a:cubicBezTo>
                  <a:cubicBezTo>
                    <a:pt x="139" y="181"/>
                    <a:pt x="139" y="181"/>
                    <a:pt x="139" y="181"/>
                  </a:cubicBezTo>
                  <a:cubicBezTo>
                    <a:pt x="128" y="181"/>
                    <a:pt x="128" y="181"/>
                    <a:pt x="128" y="181"/>
                  </a:cubicBezTo>
                  <a:lnTo>
                    <a:pt x="128"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grpSp>
        <p:nvGrpSpPr>
          <p:cNvPr id="71" name="Group 285">
            <a:extLst>
              <a:ext uri="{FF2B5EF4-FFF2-40B4-BE49-F238E27FC236}">
                <a16:creationId xmlns:a16="http://schemas.microsoft.com/office/drawing/2014/main" id="{66A1BBDE-930E-1408-E0B7-22F935B443FD}"/>
              </a:ext>
            </a:extLst>
          </p:cNvPr>
          <p:cNvGrpSpPr>
            <a:grpSpLocks noChangeAspect="1"/>
          </p:cNvGrpSpPr>
          <p:nvPr/>
        </p:nvGrpSpPr>
        <p:grpSpPr bwMode="auto">
          <a:xfrm>
            <a:off x="2175482" y="3806804"/>
            <a:ext cx="320980" cy="320039"/>
            <a:chOff x="388" y="758"/>
            <a:chExt cx="341" cy="340"/>
          </a:xfrm>
          <a:solidFill>
            <a:sysClr val="window" lastClr="FFFFFF"/>
          </a:solidFill>
        </p:grpSpPr>
        <p:sp>
          <p:nvSpPr>
            <p:cNvPr id="72" name="Freeform 286">
              <a:extLst>
                <a:ext uri="{FF2B5EF4-FFF2-40B4-BE49-F238E27FC236}">
                  <a16:creationId xmlns:a16="http://schemas.microsoft.com/office/drawing/2014/main" id="{489C0FF2-C2B4-A846-02A1-9BEE2EB3170D}"/>
                </a:ext>
              </a:extLst>
            </p:cNvPr>
            <p:cNvSpPr>
              <a:spLocks noEditPoints="1"/>
            </p:cNvSpPr>
            <p:nvPr/>
          </p:nvSpPr>
          <p:spPr bwMode="auto">
            <a:xfrm>
              <a:off x="462" y="834"/>
              <a:ext cx="192" cy="192"/>
            </a:xfrm>
            <a:custGeom>
              <a:avLst/>
              <a:gdLst>
                <a:gd name="T0" fmla="*/ 43 w 289"/>
                <a:gd name="T1" fmla="*/ 289 h 289"/>
                <a:gd name="T2" fmla="*/ 13 w 289"/>
                <a:gd name="T3" fmla="*/ 276 h 289"/>
                <a:gd name="T4" fmla="*/ 0 w 289"/>
                <a:gd name="T5" fmla="*/ 246 h 289"/>
                <a:gd name="T6" fmla="*/ 13 w 289"/>
                <a:gd name="T7" fmla="*/ 216 h 289"/>
                <a:gd name="T8" fmla="*/ 118 w 289"/>
                <a:gd name="T9" fmla="*/ 111 h 289"/>
                <a:gd name="T10" fmla="*/ 140 w 289"/>
                <a:gd name="T11" fmla="*/ 29 h 289"/>
                <a:gd name="T12" fmla="*/ 156 w 289"/>
                <a:gd name="T13" fmla="*/ 16 h 289"/>
                <a:gd name="T14" fmla="*/ 229 w 289"/>
                <a:gd name="T15" fmla="*/ 9 h 289"/>
                <a:gd name="T16" fmla="*/ 235 w 289"/>
                <a:gd name="T17" fmla="*/ 16 h 289"/>
                <a:gd name="T18" fmla="*/ 233 w 289"/>
                <a:gd name="T19" fmla="*/ 26 h 289"/>
                <a:gd name="T20" fmla="*/ 194 w 289"/>
                <a:gd name="T21" fmla="*/ 65 h 289"/>
                <a:gd name="T22" fmla="*/ 208 w 289"/>
                <a:gd name="T23" fmla="*/ 81 h 289"/>
                <a:gd name="T24" fmla="*/ 224 w 289"/>
                <a:gd name="T25" fmla="*/ 95 h 289"/>
                <a:gd name="T26" fmla="*/ 263 w 289"/>
                <a:gd name="T27" fmla="*/ 56 h 289"/>
                <a:gd name="T28" fmla="*/ 273 w 289"/>
                <a:gd name="T29" fmla="*/ 54 h 289"/>
                <a:gd name="T30" fmla="*/ 280 w 289"/>
                <a:gd name="T31" fmla="*/ 60 h 289"/>
                <a:gd name="T32" fmla="*/ 273 w 289"/>
                <a:gd name="T33" fmla="*/ 133 h 289"/>
                <a:gd name="T34" fmla="*/ 273 w 289"/>
                <a:gd name="T35" fmla="*/ 133 h 289"/>
                <a:gd name="T36" fmla="*/ 260 w 289"/>
                <a:gd name="T37" fmla="*/ 149 h 289"/>
                <a:gd name="T38" fmla="*/ 178 w 289"/>
                <a:gd name="T39" fmla="*/ 171 h 289"/>
                <a:gd name="T40" fmla="*/ 73 w 289"/>
                <a:gd name="T41" fmla="*/ 276 h 289"/>
                <a:gd name="T42" fmla="*/ 43 w 289"/>
                <a:gd name="T43" fmla="*/ 289 h 289"/>
                <a:gd name="T44" fmla="*/ 200 w 289"/>
                <a:gd name="T45" fmla="*/ 25 h 289"/>
                <a:gd name="T46" fmla="*/ 167 w 289"/>
                <a:gd name="T47" fmla="*/ 34 h 289"/>
                <a:gd name="T48" fmla="*/ 155 w 289"/>
                <a:gd name="T49" fmla="*/ 44 h 289"/>
                <a:gd name="T50" fmla="*/ 140 w 289"/>
                <a:gd name="T51" fmla="*/ 110 h 289"/>
                <a:gd name="T52" fmla="*/ 137 w 289"/>
                <a:gd name="T53" fmla="*/ 122 h 289"/>
                <a:gd name="T54" fmla="*/ 28 w 289"/>
                <a:gd name="T55" fmla="*/ 231 h 289"/>
                <a:gd name="T56" fmla="*/ 22 w 289"/>
                <a:gd name="T57" fmla="*/ 246 h 289"/>
                <a:gd name="T58" fmla="*/ 28 w 289"/>
                <a:gd name="T59" fmla="*/ 261 h 289"/>
                <a:gd name="T60" fmla="*/ 58 w 289"/>
                <a:gd name="T61" fmla="*/ 261 h 289"/>
                <a:gd name="T62" fmla="*/ 167 w 289"/>
                <a:gd name="T63" fmla="*/ 152 h 289"/>
                <a:gd name="T64" fmla="*/ 179 w 289"/>
                <a:gd name="T65" fmla="*/ 149 h 289"/>
                <a:gd name="T66" fmla="*/ 245 w 289"/>
                <a:gd name="T67" fmla="*/ 134 h 289"/>
                <a:gd name="T68" fmla="*/ 255 w 289"/>
                <a:gd name="T69" fmla="*/ 122 h 289"/>
                <a:gd name="T70" fmla="*/ 255 w 289"/>
                <a:gd name="T71" fmla="*/ 122 h 289"/>
                <a:gd name="T72" fmla="*/ 264 w 289"/>
                <a:gd name="T73" fmla="*/ 85 h 289"/>
                <a:gd name="T74" fmla="*/ 232 w 289"/>
                <a:gd name="T75" fmla="*/ 117 h 289"/>
                <a:gd name="T76" fmla="*/ 219 w 289"/>
                <a:gd name="T77" fmla="*/ 118 h 289"/>
                <a:gd name="T78" fmla="*/ 192 w 289"/>
                <a:gd name="T79" fmla="*/ 96 h 289"/>
                <a:gd name="T80" fmla="*/ 171 w 289"/>
                <a:gd name="T81" fmla="*/ 70 h 289"/>
                <a:gd name="T82" fmla="*/ 172 w 289"/>
                <a:gd name="T83" fmla="*/ 56 h 289"/>
                <a:gd name="T84" fmla="*/ 204 w 289"/>
                <a:gd name="T85" fmla="*/ 25 h 289"/>
                <a:gd name="T86" fmla="*/ 200 w 289"/>
                <a:gd name="T8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9">
                  <a:moveTo>
                    <a:pt x="43" y="289"/>
                  </a:moveTo>
                  <a:cubicBezTo>
                    <a:pt x="32" y="289"/>
                    <a:pt x="21" y="284"/>
                    <a:pt x="13" y="276"/>
                  </a:cubicBezTo>
                  <a:cubicBezTo>
                    <a:pt x="5" y="268"/>
                    <a:pt x="0" y="257"/>
                    <a:pt x="0" y="246"/>
                  </a:cubicBezTo>
                  <a:cubicBezTo>
                    <a:pt x="0" y="235"/>
                    <a:pt x="5" y="224"/>
                    <a:pt x="13" y="216"/>
                  </a:cubicBezTo>
                  <a:cubicBezTo>
                    <a:pt x="118" y="111"/>
                    <a:pt x="118" y="111"/>
                    <a:pt x="118" y="111"/>
                  </a:cubicBezTo>
                  <a:cubicBezTo>
                    <a:pt x="110" y="82"/>
                    <a:pt x="118" y="50"/>
                    <a:pt x="140" y="29"/>
                  </a:cubicBezTo>
                  <a:cubicBezTo>
                    <a:pt x="144" y="24"/>
                    <a:pt x="150" y="20"/>
                    <a:pt x="156" y="16"/>
                  </a:cubicBezTo>
                  <a:cubicBezTo>
                    <a:pt x="178" y="3"/>
                    <a:pt x="204" y="0"/>
                    <a:pt x="229" y="9"/>
                  </a:cubicBezTo>
                  <a:cubicBezTo>
                    <a:pt x="232" y="10"/>
                    <a:pt x="235" y="13"/>
                    <a:pt x="235" y="16"/>
                  </a:cubicBezTo>
                  <a:cubicBezTo>
                    <a:pt x="236" y="20"/>
                    <a:pt x="235" y="24"/>
                    <a:pt x="233" y="26"/>
                  </a:cubicBezTo>
                  <a:cubicBezTo>
                    <a:pt x="194" y="65"/>
                    <a:pt x="194" y="65"/>
                    <a:pt x="194" y="65"/>
                  </a:cubicBezTo>
                  <a:cubicBezTo>
                    <a:pt x="198" y="71"/>
                    <a:pt x="203" y="76"/>
                    <a:pt x="208" y="81"/>
                  </a:cubicBezTo>
                  <a:cubicBezTo>
                    <a:pt x="213" y="86"/>
                    <a:pt x="218" y="91"/>
                    <a:pt x="224" y="95"/>
                  </a:cubicBezTo>
                  <a:cubicBezTo>
                    <a:pt x="263" y="56"/>
                    <a:pt x="263" y="56"/>
                    <a:pt x="263" y="56"/>
                  </a:cubicBezTo>
                  <a:cubicBezTo>
                    <a:pt x="265" y="54"/>
                    <a:pt x="269" y="53"/>
                    <a:pt x="273" y="54"/>
                  </a:cubicBezTo>
                  <a:cubicBezTo>
                    <a:pt x="276" y="54"/>
                    <a:pt x="279" y="57"/>
                    <a:pt x="280" y="60"/>
                  </a:cubicBezTo>
                  <a:cubicBezTo>
                    <a:pt x="289" y="85"/>
                    <a:pt x="286" y="111"/>
                    <a:pt x="273" y="133"/>
                  </a:cubicBezTo>
                  <a:cubicBezTo>
                    <a:pt x="273" y="133"/>
                    <a:pt x="273" y="133"/>
                    <a:pt x="273" y="133"/>
                  </a:cubicBezTo>
                  <a:cubicBezTo>
                    <a:pt x="269" y="139"/>
                    <a:pt x="265" y="145"/>
                    <a:pt x="260" y="149"/>
                  </a:cubicBezTo>
                  <a:cubicBezTo>
                    <a:pt x="239" y="171"/>
                    <a:pt x="207" y="179"/>
                    <a:pt x="178" y="171"/>
                  </a:cubicBezTo>
                  <a:cubicBezTo>
                    <a:pt x="73" y="276"/>
                    <a:pt x="73" y="276"/>
                    <a:pt x="73" y="276"/>
                  </a:cubicBezTo>
                  <a:cubicBezTo>
                    <a:pt x="65" y="284"/>
                    <a:pt x="54" y="289"/>
                    <a:pt x="43" y="289"/>
                  </a:cubicBezTo>
                  <a:close/>
                  <a:moveTo>
                    <a:pt x="200" y="25"/>
                  </a:moveTo>
                  <a:cubicBezTo>
                    <a:pt x="188" y="25"/>
                    <a:pt x="177" y="28"/>
                    <a:pt x="167" y="34"/>
                  </a:cubicBezTo>
                  <a:cubicBezTo>
                    <a:pt x="162" y="37"/>
                    <a:pt x="158" y="40"/>
                    <a:pt x="155" y="44"/>
                  </a:cubicBezTo>
                  <a:cubicBezTo>
                    <a:pt x="137" y="61"/>
                    <a:pt x="132" y="87"/>
                    <a:pt x="140" y="110"/>
                  </a:cubicBezTo>
                  <a:cubicBezTo>
                    <a:pt x="141" y="114"/>
                    <a:pt x="140" y="119"/>
                    <a:pt x="137" y="122"/>
                  </a:cubicBezTo>
                  <a:cubicBezTo>
                    <a:pt x="28" y="231"/>
                    <a:pt x="28" y="231"/>
                    <a:pt x="28" y="231"/>
                  </a:cubicBezTo>
                  <a:cubicBezTo>
                    <a:pt x="24" y="235"/>
                    <a:pt x="22" y="240"/>
                    <a:pt x="22" y="246"/>
                  </a:cubicBezTo>
                  <a:cubicBezTo>
                    <a:pt x="22" y="252"/>
                    <a:pt x="24" y="257"/>
                    <a:pt x="28" y="261"/>
                  </a:cubicBezTo>
                  <a:cubicBezTo>
                    <a:pt x="36" y="269"/>
                    <a:pt x="50" y="269"/>
                    <a:pt x="58" y="261"/>
                  </a:cubicBezTo>
                  <a:cubicBezTo>
                    <a:pt x="167" y="152"/>
                    <a:pt x="167" y="152"/>
                    <a:pt x="167" y="152"/>
                  </a:cubicBezTo>
                  <a:cubicBezTo>
                    <a:pt x="170" y="149"/>
                    <a:pt x="175" y="148"/>
                    <a:pt x="179" y="149"/>
                  </a:cubicBezTo>
                  <a:cubicBezTo>
                    <a:pt x="202" y="157"/>
                    <a:pt x="228" y="152"/>
                    <a:pt x="245" y="134"/>
                  </a:cubicBezTo>
                  <a:cubicBezTo>
                    <a:pt x="249" y="131"/>
                    <a:pt x="252" y="127"/>
                    <a:pt x="255" y="122"/>
                  </a:cubicBezTo>
                  <a:cubicBezTo>
                    <a:pt x="255" y="122"/>
                    <a:pt x="255" y="122"/>
                    <a:pt x="255" y="122"/>
                  </a:cubicBezTo>
                  <a:cubicBezTo>
                    <a:pt x="261" y="111"/>
                    <a:pt x="265" y="98"/>
                    <a:pt x="264" y="85"/>
                  </a:cubicBezTo>
                  <a:cubicBezTo>
                    <a:pt x="232" y="117"/>
                    <a:pt x="232" y="117"/>
                    <a:pt x="232" y="117"/>
                  </a:cubicBezTo>
                  <a:cubicBezTo>
                    <a:pt x="229" y="120"/>
                    <a:pt x="223" y="121"/>
                    <a:pt x="219" y="118"/>
                  </a:cubicBezTo>
                  <a:cubicBezTo>
                    <a:pt x="210" y="112"/>
                    <a:pt x="201" y="105"/>
                    <a:pt x="192" y="96"/>
                  </a:cubicBezTo>
                  <a:cubicBezTo>
                    <a:pt x="184" y="88"/>
                    <a:pt x="177" y="79"/>
                    <a:pt x="171" y="70"/>
                  </a:cubicBezTo>
                  <a:cubicBezTo>
                    <a:pt x="168" y="66"/>
                    <a:pt x="169" y="60"/>
                    <a:pt x="172" y="56"/>
                  </a:cubicBezTo>
                  <a:cubicBezTo>
                    <a:pt x="204" y="25"/>
                    <a:pt x="204" y="25"/>
                    <a:pt x="204" y="25"/>
                  </a:cubicBezTo>
                  <a:cubicBezTo>
                    <a:pt x="202" y="25"/>
                    <a:pt x="201" y="25"/>
                    <a:pt x="200" y="2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73" name="Freeform 287">
              <a:extLst>
                <a:ext uri="{FF2B5EF4-FFF2-40B4-BE49-F238E27FC236}">
                  <a16:creationId xmlns:a16="http://schemas.microsoft.com/office/drawing/2014/main" id="{0005E953-A7CC-1CBC-090C-AFC87B30318D}"/>
                </a:ext>
              </a:extLst>
            </p:cNvPr>
            <p:cNvSpPr>
              <a:spLocks noEditPoints="1"/>
            </p:cNvSpPr>
            <p:nvPr/>
          </p:nvSpPr>
          <p:spPr bwMode="auto">
            <a:xfrm>
              <a:off x="388" y="75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grpSp>
        <p:nvGrpSpPr>
          <p:cNvPr id="74" name="Group 463">
            <a:extLst>
              <a:ext uri="{FF2B5EF4-FFF2-40B4-BE49-F238E27FC236}">
                <a16:creationId xmlns:a16="http://schemas.microsoft.com/office/drawing/2014/main" id="{42E9599C-BBB9-29CC-8295-493AFDF5A518}"/>
              </a:ext>
            </a:extLst>
          </p:cNvPr>
          <p:cNvGrpSpPr>
            <a:grpSpLocks noChangeAspect="1"/>
          </p:cNvGrpSpPr>
          <p:nvPr/>
        </p:nvGrpSpPr>
        <p:grpSpPr bwMode="auto">
          <a:xfrm>
            <a:off x="2565696" y="4206900"/>
            <a:ext cx="322575" cy="322575"/>
            <a:chOff x="1110" y="1564"/>
            <a:chExt cx="340" cy="340"/>
          </a:xfrm>
          <a:solidFill>
            <a:sysClr val="window" lastClr="FFFFFF"/>
          </a:solidFill>
        </p:grpSpPr>
        <p:sp>
          <p:nvSpPr>
            <p:cNvPr id="75" name="Freeform 464">
              <a:extLst>
                <a:ext uri="{FF2B5EF4-FFF2-40B4-BE49-F238E27FC236}">
                  <a16:creationId xmlns:a16="http://schemas.microsoft.com/office/drawing/2014/main" id="{2583A680-F5D9-467E-B9F0-73DFDFC55504}"/>
                </a:ext>
              </a:extLst>
            </p:cNvPr>
            <p:cNvSpPr>
              <a:spLocks noEditPoints="1"/>
            </p:cNvSpPr>
            <p:nvPr/>
          </p:nvSpPr>
          <p:spPr bwMode="auto">
            <a:xfrm>
              <a:off x="1174" y="1656"/>
              <a:ext cx="212" cy="148"/>
            </a:xfrm>
            <a:custGeom>
              <a:avLst/>
              <a:gdLst>
                <a:gd name="T0" fmla="*/ 277 w 320"/>
                <a:gd name="T1" fmla="*/ 0 h 224"/>
                <a:gd name="T2" fmla="*/ 234 w 320"/>
                <a:gd name="T3" fmla="*/ 43 h 224"/>
                <a:gd name="T4" fmla="*/ 246 w 320"/>
                <a:gd name="T5" fmla="*/ 73 h 224"/>
                <a:gd name="T6" fmla="*/ 204 w 320"/>
                <a:gd name="T7" fmla="*/ 141 h 224"/>
                <a:gd name="T8" fmla="*/ 192 w 320"/>
                <a:gd name="T9" fmla="*/ 139 h 224"/>
                <a:gd name="T10" fmla="*/ 182 w 320"/>
                <a:gd name="T11" fmla="*/ 140 h 224"/>
                <a:gd name="T12" fmla="*/ 146 w 320"/>
                <a:gd name="T13" fmla="*/ 74 h 224"/>
                <a:gd name="T14" fmla="*/ 160 w 320"/>
                <a:gd name="T15" fmla="*/ 43 h 224"/>
                <a:gd name="T16" fmla="*/ 117 w 320"/>
                <a:gd name="T17" fmla="*/ 0 h 224"/>
                <a:gd name="T18" fmla="*/ 74 w 320"/>
                <a:gd name="T19" fmla="*/ 43 h 224"/>
                <a:gd name="T20" fmla="*/ 88 w 320"/>
                <a:gd name="T21" fmla="*/ 74 h 224"/>
                <a:gd name="T22" fmla="*/ 52 w 320"/>
                <a:gd name="T23" fmla="*/ 140 h 224"/>
                <a:gd name="T24" fmla="*/ 42 w 320"/>
                <a:gd name="T25" fmla="*/ 139 h 224"/>
                <a:gd name="T26" fmla="*/ 0 w 320"/>
                <a:gd name="T27" fmla="*/ 182 h 224"/>
                <a:gd name="T28" fmla="*/ 42 w 320"/>
                <a:gd name="T29" fmla="*/ 224 h 224"/>
                <a:gd name="T30" fmla="*/ 85 w 320"/>
                <a:gd name="T31" fmla="*/ 182 h 224"/>
                <a:gd name="T32" fmla="*/ 71 w 320"/>
                <a:gd name="T33" fmla="*/ 150 h 224"/>
                <a:gd name="T34" fmla="*/ 107 w 320"/>
                <a:gd name="T35" fmla="*/ 84 h 224"/>
                <a:gd name="T36" fmla="*/ 117 w 320"/>
                <a:gd name="T37" fmla="*/ 86 h 224"/>
                <a:gd name="T38" fmla="*/ 127 w 320"/>
                <a:gd name="T39" fmla="*/ 84 h 224"/>
                <a:gd name="T40" fmla="*/ 163 w 320"/>
                <a:gd name="T41" fmla="*/ 150 h 224"/>
                <a:gd name="T42" fmla="*/ 149 w 320"/>
                <a:gd name="T43" fmla="*/ 182 h 224"/>
                <a:gd name="T44" fmla="*/ 192 w 320"/>
                <a:gd name="T45" fmla="*/ 224 h 224"/>
                <a:gd name="T46" fmla="*/ 234 w 320"/>
                <a:gd name="T47" fmla="*/ 182 h 224"/>
                <a:gd name="T48" fmla="*/ 222 w 320"/>
                <a:gd name="T49" fmla="*/ 152 h 224"/>
                <a:gd name="T50" fmla="*/ 265 w 320"/>
                <a:gd name="T51" fmla="*/ 84 h 224"/>
                <a:gd name="T52" fmla="*/ 277 w 320"/>
                <a:gd name="T53" fmla="*/ 86 h 224"/>
                <a:gd name="T54" fmla="*/ 320 w 320"/>
                <a:gd name="T55" fmla="*/ 43 h 224"/>
                <a:gd name="T56" fmla="*/ 277 w 320"/>
                <a:gd name="T57" fmla="*/ 0 h 224"/>
                <a:gd name="T58" fmla="*/ 42 w 320"/>
                <a:gd name="T59" fmla="*/ 203 h 224"/>
                <a:gd name="T60" fmla="*/ 21 w 320"/>
                <a:gd name="T61" fmla="*/ 182 h 224"/>
                <a:gd name="T62" fmla="*/ 42 w 320"/>
                <a:gd name="T63" fmla="*/ 160 h 224"/>
                <a:gd name="T64" fmla="*/ 64 w 320"/>
                <a:gd name="T65" fmla="*/ 182 h 224"/>
                <a:gd name="T66" fmla="*/ 42 w 320"/>
                <a:gd name="T67" fmla="*/ 203 h 224"/>
                <a:gd name="T68" fmla="*/ 96 w 320"/>
                <a:gd name="T69" fmla="*/ 43 h 224"/>
                <a:gd name="T70" fmla="*/ 117 w 320"/>
                <a:gd name="T71" fmla="*/ 22 h 224"/>
                <a:gd name="T72" fmla="*/ 138 w 320"/>
                <a:gd name="T73" fmla="*/ 43 h 224"/>
                <a:gd name="T74" fmla="*/ 117 w 320"/>
                <a:gd name="T75" fmla="*/ 64 h 224"/>
                <a:gd name="T76" fmla="*/ 96 w 320"/>
                <a:gd name="T77" fmla="*/ 43 h 224"/>
                <a:gd name="T78" fmla="*/ 192 w 320"/>
                <a:gd name="T79" fmla="*/ 203 h 224"/>
                <a:gd name="T80" fmla="*/ 170 w 320"/>
                <a:gd name="T81" fmla="*/ 182 h 224"/>
                <a:gd name="T82" fmla="*/ 192 w 320"/>
                <a:gd name="T83" fmla="*/ 160 h 224"/>
                <a:gd name="T84" fmla="*/ 213 w 320"/>
                <a:gd name="T85" fmla="*/ 182 h 224"/>
                <a:gd name="T86" fmla="*/ 192 w 320"/>
                <a:gd name="T87" fmla="*/ 203 h 224"/>
                <a:gd name="T88" fmla="*/ 277 w 320"/>
                <a:gd name="T89" fmla="*/ 64 h 224"/>
                <a:gd name="T90" fmla="*/ 256 w 320"/>
                <a:gd name="T91" fmla="*/ 43 h 224"/>
                <a:gd name="T92" fmla="*/ 277 w 320"/>
                <a:gd name="T93" fmla="*/ 22 h 224"/>
                <a:gd name="T94" fmla="*/ 298 w 320"/>
                <a:gd name="T95" fmla="*/ 43 h 224"/>
                <a:gd name="T96" fmla="*/ 277 w 320"/>
                <a:gd name="T97" fmla="*/ 6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0" h="224">
                  <a:moveTo>
                    <a:pt x="277" y="0"/>
                  </a:moveTo>
                  <a:cubicBezTo>
                    <a:pt x="253" y="0"/>
                    <a:pt x="234" y="19"/>
                    <a:pt x="234" y="43"/>
                  </a:cubicBezTo>
                  <a:cubicBezTo>
                    <a:pt x="234" y="54"/>
                    <a:pt x="239" y="65"/>
                    <a:pt x="246" y="73"/>
                  </a:cubicBezTo>
                  <a:cubicBezTo>
                    <a:pt x="204" y="141"/>
                    <a:pt x="204" y="141"/>
                    <a:pt x="204" y="141"/>
                  </a:cubicBezTo>
                  <a:cubicBezTo>
                    <a:pt x="200" y="140"/>
                    <a:pt x="196" y="139"/>
                    <a:pt x="192" y="139"/>
                  </a:cubicBezTo>
                  <a:cubicBezTo>
                    <a:pt x="188" y="139"/>
                    <a:pt x="185" y="140"/>
                    <a:pt x="182" y="140"/>
                  </a:cubicBezTo>
                  <a:cubicBezTo>
                    <a:pt x="146" y="74"/>
                    <a:pt x="146" y="74"/>
                    <a:pt x="146" y="74"/>
                  </a:cubicBezTo>
                  <a:cubicBezTo>
                    <a:pt x="154" y="66"/>
                    <a:pt x="160" y="55"/>
                    <a:pt x="160" y="43"/>
                  </a:cubicBezTo>
                  <a:cubicBezTo>
                    <a:pt x="160" y="19"/>
                    <a:pt x="141" y="0"/>
                    <a:pt x="117" y="0"/>
                  </a:cubicBezTo>
                  <a:cubicBezTo>
                    <a:pt x="93" y="0"/>
                    <a:pt x="74" y="19"/>
                    <a:pt x="74" y="43"/>
                  </a:cubicBezTo>
                  <a:cubicBezTo>
                    <a:pt x="74" y="55"/>
                    <a:pt x="80" y="66"/>
                    <a:pt x="88" y="74"/>
                  </a:cubicBezTo>
                  <a:cubicBezTo>
                    <a:pt x="52" y="140"/>
                    <a:pt x="52" y="140"/>
                    <a:pt x="52" y="140"/>
                  </a:cubicBezTo>
                  <a:cubicBezTo>
                    <a:pt x="49" y="140"/>
                    <a:pt x="46" y="139"/>
                    <a:pt x="42" y="139"/>
                  </a:cubicBezTo>
                  <a:cubicBezTo>
                    <a:pt x="19" y="139"/>
                    <a:pt x="0" y="158"/>
                    <a:pt x="0" y="182"/>
                  </a:cubicBezTo>
                  <a:cubicBezTo>
                    <a:pt x="0" y="205"/>
                    <a:pt x="19" y="224"/>
                    <a:pt x="42" y="224"/>
                  </a:cubicBezTo>
                  <a:cubicBezTo>
                    <a:pt x="66" y="224"/>
                    <a:pt x="85" y="205"/>
                    <a:pt x="85" y="182"/>
                  </a:cubicBezTo>
                  <a:cubicBezTo>
                    <a:pt x="85" y="169"/>
                    <a:pt x="80" y="158"/>
                    <a:pt x="71" y="150"/>
                  </a:cubicBezTo>
                  <a:cubicBezTo>
                    <a:pt x="107" y="84"/>
                    <a:pt x="107" y="84"/>
                    <a:pt x="107" y="84"/>
                  </a:cubicBezTo>
                  <a:cubicBezTo>
                    <a:pt x="110" y="85"/>
                    <a:pt x="113" y="86"/>
                    <a:pt x="117" y="86"/>
                  </a:cubicBezTo>
                  <a:cubicBezTo>
                    <a:pt x="121" y="86"/>
                    <a:pt x="124" y="85"/>
                    <a:pt x="127" y="84"/>
                  </a:cubicBezTo>
                  <a:cubicBezTo>
                    <a:pt x="163" y="150"/>
                    <a:pt x="163" y="150"/>
                    <a:pt x="163" y="150"/>
                  </a:cubicBezTo>
                  <a:cubicBezTo>
                    <a:pt x="154" y="158"/>
                    <a:pt x="149" y="169"/>
                    <a:pt x="149" y="182"/>
                  </a:cubicBezTo>
                  <a:cubicBezTo>
                    <a:pt x="149" y="205"/>
                    <a:pt x="168" y="224"/>
                    <a:pt x="192" y="224"/>
                  </a:cubicBezTo>
                  <a:cubicBezTo>
                    <a:pt x="215" y="224"/>
                    <a:pt x="234" y="205"/>
                    <a:pt x="234" y="182"/>
                  </a:cubicBezTo>
                  <a:cubicBezTo>
                    <a:pt x="234" y="170"/>
                    <a:pt x="230" y="160"/>
                    <a:pt x="222" y="152"/>
                  </a:cubicBezTo>
                  <a:cubicBezTo>
                    <a:pt x="265" y="84"/>
                    <a:pt x="265" y="84"/>
                    <a:pt x="265" y="84"/>
                  </a:cubicBezTo>
                  <a:cubicBezTo>
                    <a:pt x="269" y="85"/>
                    <a:pt x="273" y="86"/>
                    <a:pt x="277" y="86"/>
                  </a:cubicBezTo>
                  <a:cubicBezTo>
                    <a:pt x="301" y="86"/>
                    <a:pt x="320" y="67"/>
                    <a:pt x="320" y="43"/>
                  </a:cubicBezTo>
                  <a:cubicBezTo>
                    <a:pt x="320" y="19"/>
                    <a:pt x="301" y="0"/>
                    <a:pt x="277" y="0"/>
                  </a:cubicBezTo>
                  <a:close/>
                  <a:moveTo>
                    <a:pt x="42" y="203"/>
                  </a:moveTo>
                  <a:cubicBezTo>
                    <a:pt x="31" y="203"/>
                    <a:pt x="21" y="193"/>
                    <a:pt x="21" y="182"/>
                  </a:cubicBezTo>
                  <a:cubicBezTo>
                    <a:pt x="21" y="170"/>
                    <a:pt x="31" y="160"/>
                    <a:pt x="42" y="160"/>
                  </a:cubicBezTo>
                  <a:cubicBezTo>
                    <a:pt x="54" y="160"/>
                    <a:pt x="64" y="170"/>
                    <a:pt x="64" y="182"/>
                  </a:cubicBezTo>
                  <a:cubicBezTo>
                    <a:pt x="64" y="193"/>
                    <a:pt x="54" y="203"/>
                    <a:pt x="42" y="203"/>
                  </a:cubicBezTo>
                  <a:close/>
                  <a:moveTo>
                    <a:pt x="96" y="43"/>
                  </a:moveTo>
                  <a:cubicBezTo>
                    <a:pt x="96" y="31"/>
                    <a:pt x="105" y="22"/>
                    <a:pt x="117" y="22"/>
                  </a:cubicBezTo>
                  <a:cubicBezTo>
                    <a:pt x="129" y="22"/>
                    <a:pt x="138" y="31"/>
                    <a:pt x="138" y="43"/>
                  </a:cubicBezTo>
                  <a:cubicBezTo>
                    <a:pt x="138" y="55"/>
                    <a:pt x="129" y="64"/>
                    <a:pt x="117" y="64"/>
                  </a:cubicBezTo>
                  <a:cubicBezTo>
                    <a:pt x="105" y="64"/>
                    <a:pt x="96" y="55"/>
                    <a:pt x="96" y="43"/>
                  </a:cubicBezTo>
                  <a:close/>
                  <a:moveTo>
                    <a:pt x="192" y="203"/>
                  </a:moveTo>
                  <a:cubicBezTo>
                    <a:pt x="180" y="203"/>
                    <a:pt x="170" y="193"/>
                    <a:pt x="170" y="182"/>
                  </a:cubicBezTo>
                  <a:cubicBezTo>
                    <a:pt x="170" y="170"/>
                    <a:pt x="180" y="160"/>
                    <a:pt x="192" y="160"/>
                  </a:cubicBezTo>
                  <a:cubicBezTo>
                    <a:pt x="203" y="160"/>
                    <a:pt x="213" y="170"/>
                    <a:pt x="213" y="182"/>
                  </a:cubicBezTo>
                  <a:cubicBezTo>
                    <a:pt x="213" y="193"/>
                    <a:pt x="203" y="203"/>
                    <a:pt x="192" y="203"/>
                  </a:cubicBezTo>
                  <a:close/>
                  <a:moveTo>
                    <a:pt x="277" y="64"/>
                  </a:moveTo>
                  <a:cubicBezTo>
                    <a:pt x="265" y="64"/>
                    <a:pt x="256" y="55"/>
                    <a:pt x="256" y="43"/>
                  </a:cubicBezTo>
                  <a:cubicBezTo>
                    <a:pt x="256" y="31"/>
                    <a:pt x="265" y="22"/>
                    <a:pt x="277" y="22"/>
                  </a:cubicBezTo>
                  <a:cubicBezTo>
                    <a:pt x="289" y="22"/>
                    <a:pt x="298" y="31"/>
                    <a:pt x="298" y="43"/>
                  </a:cubicBezTo>
                  <a:cubicBezTo>
                    <a:pt x="298" y="55"/>
                    <a:pt x="289" y="64"/>
                    <a:pt x="277" y="6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76" name="Freeform 465">
              <a:extLst>
                <a:ext uri="{FF2B5EF4-FFF2-40B4-BE49-F238E27FC236}">
                  <a16:creationId xmlns:a16="http://schemas.microsoft.com/office/drawing/2014/main" id="{7BD08DB5-B76B-8F25-7B6F-D8E6A73D6899}"/>
                </a:ext>
              </a:extLst>
            </p:cNvPr>
            <p:cNvSpPr>
              <a:spLocks noEditPoints="1"/>
            </p:cNvSpPr>
            <p:nvPr/>
          </p:nvSpPr>
          <p:spPr bwMode="auto">
            <a:xfrm>
              <a:off x="1110" y="15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grpSp>
        <p:nvGrpSpPr>
          <p:cNvPr id="77" name="Group 545">
            <a:extLst>
              <a:ext uri="{FF2B5EF4-FFF2-40B4-BE49-F238E27FC236}">
                <a16:creationId xmlns:a16="http://schemas.microsoft.com/office/drawing/2014/main" id="{40F33AA9-047B-786F-3D73-C6914D0A0F7C}"/>
              </a:ext>
            </a:extLst>
          </p:cNvPr>
          <p:cNvGrpSpPr>
            <a:grpSpLocks noChangeAspect="1"/>
          </p:cNvGrpSpPr>
          <p:nvPr/>
        </p:nvGrpSpPr>
        <p:grpSpPr bwMode="auto">
          <a:xfrm>
            <a:off x="3145779" y="4226818"/>
            <a:ext cx="320040" cy="320040"/>
            <a:chOff x="1885" y="1944"/>
            <a:chExt cx="340" cy="340"/>
          </a:xfrm>
          <a:solidFill>
            <a:sysClr val="window" lastClr="FFFFFF"/>
          </a:solidFill>
        </p:grpSpPr>
        <p:sp>
          <p:nvSpPr>
            <p:cNvPr id="78" name="Freeform 546">
              <a:extLst>
                <a:ext uri="{FF2B5EF4-FFF2-40B4-BE49-F238E27FC236}">
                  <a16:creationId xmlns:a16="http://schemas.microsoft.com/office/drawing/2014/main" id="{8C8B95FB-7054-3A35-CA91-75A22D56446B}"/>
                </a:ext>
              </a:extLst>
            </p:cNvPr>
            <p:cNvSpPr>
              <a:spLocks noEditPoints="1"/>
            </p:cNvSpPr>
            <p:nvPr/>
          </p:nvSpPr>
          <p:spPr bwMode="auto">
            <a:xfrm>
              <a:off x="1885" y="194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79" name="Freeform 547">
              <a:extLst>
                <a:ext uri="{FF2B5EF4-FFF2-40B4-BE49-F238E27FC236}">
                  <a16:creationId xmlns:a16="http://schemas.microsoft.com/office/drawing/2014/main" id="{F689AAE6-B714-967C-FDD7-7010FECFFC0B}"/>
                </a:ext>
              </a:extLst>
            </p:cNvPr>
            <p:cNvSpPr>
              <a:spLocks/>
            </p:cNvSpPr>
            <p:nvPr/>
          </p:nvSpPr>
          <p:spPr bwMode="auto">
            <a:xfrm>
              <a:off x="1947" y="2007"/>
              <a:ext cx="215" cy="185"/>
            </a:xfrm>
            <a:custGeom>
              <a:avLst/>
              <a:gdLst>
                <a:gd name="T0" fmla="*/ 318 w 323"/>
                <a:gd name="T1" fmla="*/ 259 h 278"/>
                <a:gd name="T2" fmla="*/ 257 w 323"/>
                <a:gd name="T3" fmla="*/ 241 h 278"/>
                <a:gd name="T4" fmla="*/ 229 w 323"/>
                <a:gd name="T5" fmla="*/ 236 h 278"/>
                <a:gd name="T6" fmla="*/ 212 w 323"/>
                <a:gd name="T7" fmla="*/ 223 h 278"/>
                <a:gd name="T8" fmla="*/ 213 w 323"/>
                <a:gd name="T9" fmla="*/ 220 h 278"/>
                <a:gd name="T10" fmla="*/ 246 w 323"/>
                <a:gd name="T11" fmla="*/ 142 h 278"/>
                <a:gd name="T12" fmla="*/ 233 w 323"/>
                <a:gd name="T13" fmla="*/ 33 h 278"/>
                <a:gd name="T14" fmla="*/ 161 w 323"/>
                <a:gd name="T15" fmla="*/ 1 h 278"/>
                <a:gd name="T16" fmla="*/ 161 w 323"/>
                <a:gd name="T17" fmla="*/ 1 h 278"/>
                <a:gd name="T18" fmla="*/ 90 w 323"/>
                <a:gd name="T19" fmla="*/ 33 h 278"/>
                <a:gd name="T20" fmla="*/ 77 w 323"/>
                <a:gd name="T21" fmla="*/ 142 h 278"/>
                <a:gd name="T22" fmla="*/ 110 w 323"/>
                <a:gd name="T23" fmla="*/ 220 h 278"/>
                <a:gd name="T24" fmla="*/ 111 w 323"/>
                <a:gd name="T25" fmla="*/ 223 h 278"/>
                <a:gd name="T26" fmla="*/ 94 w 323"/>
                <a:gd name="T27" fmla="*/ 236 h 278"/>
                <a:gd name="T28" fmla="*/ 66 w 323"/>
                <a:gd name="T29" fmla="*/ 241 h 278"/>
                <a:gd name="T30" fmla="*/ 5 w 323"/>
                <a:gd name="T31" fmla="*/ 259 h 278"/>
                <a:gd name="T32" fmla="*/ 4 w 323"/>
                <a:gd name="T33" fmla="*/ 274 h 278"/>
                <a:gd name="T34" fmla="*/ 12 w 323"/>
                <a:gd name="T35" fmla="*/ 278 h 278"/>
                <a:gd name="T36" fmla="*/ 19 w 323"/>
                <a:gd name="T37" fmla="*/ 275 h 278"/>
                <a:gd name="T38" fmla="*/ 69 w 323"/>
                <a:gd name="T39" fmla="*/ 263 h 278"/>
                <a:gd name="T40" fmla="*/ 101 w 323"/>
                <a:gd name="T41" fmla="*/ 256 h 278"/>
                <a:gd name="T42" fmla="*/ 131 w 323"/>
                <a:gd name="T43" fmla="*/ 229 h 278"/>
                <a:gd name="T44" fmla="*/ 128 w 323"/>
                <a:gd name="T45" fmla="*/ 208 h 278"/>
                <a:gd name="T46" fmla="*/ 97 w 323"/>
                <a:gd name="T47" fmla="*/ 137 h 278"/>
                <a:gd name="T48" fmla="*/ 106 w 323"/>
                <a:gd name="T49" fmla="*/ 46 h 278"/>
                <a:gd name="T50" fmla="*/ 161 w 323"/>
                <a:gd name="T51" fmla="*/ 22 h 278"/>
                <a:gd name="T52" fmla="*/ 162 w 323"/>
                <a:gd name="T53" fmla="*/ 22 h 278"/>
                <a:gd name="T54" fmla="*/ 162 w 323"/>
                <a:gd name="T55" fmla="*/ 22 h 278"/>
                <a:gd name="T56" fmla="*/ 162 w 323"/>
                <a:gd name="T57" fmla="*/ 22 h 278"/>
                <a:gd name="T58" fmla="*/ 217 w 323"/>
                <a:gd name="T59" fmla="*/ 46 h 278"/>
                <a:gd name="T60" fmla="*/ 226 w 323"/>
                <a:gd name="T61" fmla="*/ 137 h 278"/>
                <a:gd name="T62" fmla="*/ 195 w 323"/>
                <a:gd name="T63" fmla="*/ 208 h 278"/>
                <a:gd name="T64" fmla="*/ 192 w 323"/>
                <a:gd name="T65" fmla="*/ 229 h 278"/>
                <a:gd name="T66" fmla="*/ 222 w 323"/>
                <a:gd name="T67" fmla="*/ 256 h 278"/>
                <a:gd name="T68" fmla="*/ 254 w 323"/>
                <a:gd name="T69" fmla="*/ 263 h 278"/>
                <a:gd name="T70" fmla="*/ 304 w 323"/>
                <a:gd name="T71" fmla="*/ 275 h 278"/>
                <a:gd name="T72" fmla="*/ 311 w 323"/>
                <a:gd name="T73" fmla="*/ 278 h 278"/>
                <a:gd name="T74" fmla="*/ 319 w 323"/>
                <a:gd name="T75" fmla="*/ 274 h 278"/>
                <a:gd name="T76" fmla="*/ 318 w 323"/>
                <a:gd name="T77" fmla="*/ 259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3" h="278">
                  <a:moveTo>
                    <a:pt x="318" y="259"/>
                  </a:moveTo>
                  <a:cubicBezTo>
                    <a:pt x="306" y="249"/>
                    <a:pt x="281" y="245"/>
                    <a:pt x="257" y="241"/>
                  </a:cubicBezTo>
                  <a:cubicBezTo>
                    <a:pt x="246" y="240"/>
                    <a:pt x="235" y="238"/>
                    <a:pt x="229" y="236"/>
                  </a:cubicBezTo>
                  <a:cubicBezTo>
                    <a:pt x="220" y="232"/>
                    <a:pt x="214" y="226"/>
                    <a:pt x="212" y="223"/>
                  </a:cubicBezTo>
                  <a:cubicBezTo>
                    <a:pt x="212" y="221"/>
                    <a:pt x="212" y="221"/>
                    <a:pt x="213" y="220"/>
                  </a:cubicBezTo>
                  <a:cubicBezTo>
                    <a:pt x="226" y="202"/>
                    <a:pt x="240" y="170"/>
                    <a:pt x="246" y="142"/>
                  </a:cubicBezTo>
                  <a:cubicBezTo>
                    <a:pt x="258" y="95"/>
                    <a:pt x="253" y="58"/>
                    <a:pt x="233" y="33"/>
                  </a:cubicBezTo>
                  <a:cubicBezTo>
                    <a:pt x="207" y="0"/>
                    <a:pt x="163" y="1"/>
                    <a:pt x="161" y="1"/>
                  </a:cubicBezTo>
                  <a:cubicBezTo>
                    <a:pt x="161" y="1"/>
                    <a:pt x="161" y="1"/>
                    <a:pt x="161" y="1"/>
                  </a:cubicBezTo>
                  <a:cubicBezTo>
                    <a:pt x="158" y="1"/>
                    <a:pt x="116" y="1"/>
                    <a:pt x="90" y="33"/>
                  </a:cubicBezTo>
                  <a:cubicBezTo>
                    <a:pt x="70" y="58"/>
                    <a:pt x="65" y="95"/>
                    <a:pt x="77" y="142"/>
                  </a:cubicBezTo>
                  <a:cubicBezTo>
                    <a:pt x="83" y="170"/>
                    <a:pt x="97" y="202"/>
                    <a:pt x="110" y="220"/>
                  </a:cubicBezTo>
                  <a:cubicBezTo>
                    <a:pt x="111" y="221"/>
                    <a:pt x="111" y="221"/>
                    <a:pt x="111" y="223"/>
                  </a:cubicBezTo>
                  <a:cubicBezTo>
                    <a:pt x="110" y="226"/>
                    <a:pt x="103" y="232"/>
                    <a:pt x="94" y="236"/>
                  </a:cubicBezTo>
                  <a:cubicBezTo>
                    <a:pt x="88" y="238"/>
                    <a:pt x="77" y="240"/>
                    <a:pt x="66" y="241"/>
                  </a:cubicBezTo>
                  <a:cubicBezTo>
                    <a:pt x="42" y="245"/>
                    <a:pt x="17" y="249"/>
                    <a:pt x="5" y="259"/>
                  </a:cubicBezTo>
                  <a:cubicBezTo>
                    <a:pt x="1" y="263"/>
                    <a:pt x="0" y="270"/>
                    <a:pt x="4" y="274"/>
                  </a:cubicBezTo>
                  <a:cubicBezTo>
                    <a:pt x="6" y="277"/>
                    <a:pt x="9" y="278"/>
                    <a:pt x="12" y="278"/>
                  </a:cubicBezTo>
                  <a:cubicBezTo>
                    <a:pt x="15" y="278"/>
                    <a:pt x="17" y="277"/>
                    <a:pt x="19" y="275"/>
                  </a:cubicBezTo>
                  <a:cubicBezTo>
                    <a:pt x="27" y="269"/>
                    <a:pt x="51" y="265"/>
                    <a:pt x="69" y="263"/>
                  </a:cubicBezTo>
                  <a:cubicBezTo>
                    <a:pt x="82" y="261"/>
                    <a:pt x="94" y="259"/>
                    <a:pt x="101" y="256"/>
                  </a:cubicBezTo>
                  <a:cubicBezTo>
                    <a:pt x="117" y="250"/>
                    <a:pt x="128" y="240"/>
                    <a:pt x="131" y="229"/>
                  </a:cubicBezTo>
                  <a:cubicBezTo>
                    <a:pt x="133" y="221"/>
                    <a:pt x="132" y="214"/>
                    <a:pt x="128" y="208"/>
                  </a:cubicBezTo>
                  <a:cubicBezTo>
                    <a:pt x="116" y="192"/>
                    <a:pt x="103" y="162"/>
                    <a:pt x="97" y="137"/>
                  </a:cubicBezTo>
                  <a:cubicBezTo>
                    <a:pt x="88" y="96"/>
                    <a:pt x="91" y="66"/>
                    <a:pt x="106" y="46"/>
                  </a:cubicBezTo>
                  <a:cubicBezTo>
                    <a:pt x="126" y="22"/>
                    <a:pt x="160" y="22"/>
                    <a:pt x="161" y="22"/>
                  </a:cubicBezTo>
                  <a:cubicBezTo>
                    <a:pt x="161" y="22"/>
                    <a:pt x="161" y="22"/>
                    <a:pt x="162" y="22"/>
                  </a:cubicBezTo>
                  <a:cubicBezTo>
                    <a:pt x="162" y="22"/>
                    <a:pt x="162" y="22"/>
                    <a:pt x="162" y="22"/>
                  </a:cubicBezTo>
                  <a:cubicBezTo>
                    <a:pt x="162" y="22"/>
                    <a:pt x="162" y="22"/>
                    <a:pt x="162" y="22"/>
                  </a:cubicBezTo>
                  <a:cubicBezTo>
                    <a:pt x="162" y="22"/>
                    <a:pt x="197" y="22"/>
                    <a:pt x="217" y="46"/>
                  </a:cubicBezTo>
                  <a:cubicBezTo>
                    <a:pt x="232" y="66"/>
                    <a:pt x="235" y="96"/>
                    <a:pt x="226" y="137"/>
                  </a:cubicBezTo>
                  <a:cubicBezTo>
                    <a:pt x="220" y="162"/>
                    <a:pt x="207" y="192"/>
                    <a:pt x="195" y="208"/>
                  </a:cubicBezTo>
                  <a:cubicBezTo>
                    <a:pt x="191" y="214"/>
                    <a:pt x="190" y="221"/>
                    <a:pt x="192" y="229"/>
                  </a:cubicBezTo>
                  <a:cubicBezTo>
                    <a:pt x="195" y="240"/>
                    <a:pt x="206" y="250"/>
                    <a:pt x="222" y="256"/>
                  </a:cubicBezTo>
                  <a:cubicBezTo>
                    <a:pt x="229" y="259"/>
                    <a:pt x="241" y="261"/>
                    <a:pt x="254" y="263"/>
                  </a:cubicBezTo>
                  <a:cubicBezTo>
                    <a:pt x="272" y="265"/>
                    <a:pt x="296" y="269"/>
                    <a:pt x="304" y="275"/>
                  </a:cubicBezTo>
                  <a:cubicBezTo>
                    <a:pt x="306" y="277"/>
                    <a:pt x="308" y="278"/>
                    <a:pt x="311" y="278"/>
                  </a:cubicBezTo>
                  <a:cubicBezTo>
                    <a:pt x="314" y="278"/>
                    <a:pt x="317" y="277"/>
                    <a:pt x="319" y="274"/>
                  </a:cubicBezTo>
                  <a:cubicBezTo>
                    <a:pt x="323" y="270"/>
                    <a:pt x="322" y="263"/>
                    <a:pt x="318" y="259"/>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sp>
        <p:nvSpPr>
          <p:cNvPr id="80" name="TextBox 79">
            <a:extLst>
              <a:ext uri="{FF2B5EF4-FFF2-40B4-BE49-F238E27FC236}">
                <a16:creationId xmlns:a16="http://schemas.microsoft.com/office/drawing/2014/main" id="{2D50EA82-F174-0337-99AF-0680E586D076}"/>
              </a:ext>
            </a:extLst>
          </p:cNvPr>
          <p:cNvSpPr txBox="1"/>
          <p:nvPr/>
        </p:nvSpPr>
        <p:spPr>
          <a:xfrm>
            <a:off x="4160477" y="3756057"/>
            <a:ext cx="1678039" cy="738664"/>
          </a:xfrm>
          <a:prstGeom prst="rect">
            <a:avLst/>
          </a:prstGeom>
          <a:noFill/>
        </p:spPr>
        <p:txBody>
          <a:bodyPr wrap="square" lIns="0" tIns="0" rIns="0" bIns="0" rtlCol="0">
            <a:spAutoFit/>
          </a:bodyPr>
          <a:lstStyle/>
          <a:p>
            <a:pPr>
              <a:buSzPct val="100000"/>
            </a:pPr>
            <a:r>
              <a:rPr lang="en-US" sz="800" b="1" dirty="0">
                <a:solidFill>
                  <a:srgbClr val="046A38"/>
                </a:solidFill>
                <a:latin typeface="Verdana" panose="020B0604030504040204" pitchFamily="34" charset="0"/>
                <a:ea typeface="Verdana" panose="020B0604030504040204" pitchFamily="34" charset="0"/>
              </a:rPr>
              <a:t>Digitization</a:t>
            </a:r>
          </a:p>
          <a:p>
            <a:pPr marL="171450" indent="-171450">
              <a:buSzPct val="100000"/>
              <a:buFont typeface="Arial" panose="020B0604020202020204" pitchFamily="34" charset="0"/>
              <a:buChar char="•"/>
            </a:pPr>
            <a:r>
              <a:rPr lang="en-US" sz="800" dirty="0">
                <a:solidFill>
                  <a:srgbClr val="000000"/>
                </a:solidFill>
                <a:latin typeface="Verdana" panose="020B0604030504040204" pitchFamily="34" charset="0"/>
                <a:ea typeface="Verdana" panose="020B0604030504040204" pitchFamily="34" charset="0"/>
                <a:cs typeface="Calibri"/>
              </a:rPr>
              <a:t>Smart Grid &amp; Network Management</a:t>
            </a:r>
          </a:p>
          <a:p>
            <a:pPr marL="171450" indent="-171450">
              <a:buSzPct val="100000"/>
              <a:buFont typeface="Arial" panose="020B0604020202020204" pitchFamily="34" charset="0"/>
              <a:buChar char="•"/>
            </a:pPr>
            <a:r>
              <a:rPr lang="en-US" sz="800" dirty="0">
                <a:solidFill>
                  <a:srgbClr val="000000"/>
                </a:solidFill>
                <a:latin typeface="Verdana" panose="020B0604030504040204" pitchFamily="34" charset="0"/>
                <a:ea typeface="Verdana" panose="020B0604030504040204" pitchFamily="34" charset="0"/>
                <a:cs typeface="Calibri"/>
              </a:rPr>
              <a:t>Utility of Tomorrow Strategy</a:t>
            </a:r>
          </a:p>
          <a:p>
            <a:pPr marL="171450" indent="-171450">
              <a:buSzPct val="100000"/>
              <a:buFont typeface="Arial" panose="020B0604020202020204" pitchFamily="34" charset="0"/>
              <a:buChar char="•"/>
            </a:pPr>
            <a:r>
              <a:rPr lang="en-US" sz="800" dirty="0">
                <a:solidFill>
                  <a:srgbClr val="000000"/>
                </a:solidFill>
                <a:latin typeface="Verdana" panose="020B0604030504040204" pitchFamily="34" charset="0"/>
                <a:ea typeface="Verdana" panose="020B0604030504040204" pitchFamily="34" charset="0"/>
                <a:cs typeface="Calibri"/>
              </a:rPr>
              <a:t>MIS Strengthening &amp; Business Intelligence </a:t>
            </a:r>
          </a:p>
        </p:txBody>
      </p:sp>
      <p:grpSp>
        <p:nvGrpSpPr>
          <p:cNvPr id="81" name="Group 834">
            <a:extLst>
              <a:ext uri="{FF2B5EF4-FFF2-40B4-BE49-F238E27FC236}">
                <a16:creationId xmlns:a16="http://schemas.microsoft.com/office/drawing/2014/main" id="{48DD13D8-2158-A6C0-6419-50FEC39F880F}"/>
              </a:ext>
            </a:extLst>
          </p:cNvPr>
          <p:cNvGrpSpPr>
            <a:grpSpLocks noChangeAspect="1"/>
          </p:cNvGrpSpPr>
          <p:nvPr/>
        </p:nvGrpSpPr>
        <p:grpSpPr bwMode="auto">
          <a:xfrm>
            <a:off x="3564968" y="3818109"/>
            <a:ext cx="320039" cy="320039"/>
            <a:chOff x="5977" y="3324"/>
            <a:chExt cx="340" cy="340"/>
          </a:xfrm>
          <a:solidFill>
            <a:sysClr val="window" lastClr="FFFFFF"/>
          </a:solidFill>
        </p:grpSpPr>
        <p:sp>
          <p:nvSpPr>
            <p:cNvPr id="82" name="Freeform 835">
              <a:extLst>
                <a:ext uri="{FF2B5EF4-FFF2-40B4-BE49-F238E27FC236}">
                  <a16:creationId xmlns:a16="http://schemas.microsoft.com/office/drawing/2014/main" id="{27499A9A-1D55-0B6C-4D26-083AC3E03E01}"/>
                </a:ext>
              </a:extLst>
            </p:cNvPr>
            <p:cNvSpPr>
              <a:spLocks noEditPoints="1"/>
            </p:cNvSpPr>
            <p:nvPr/>
          </p:nvSpPr>
          <p:spPr bwMode="auto">
            <a:xfrm>
              <a:off x="6041" y="3388"/>
              <a:ext cx="212" cy="212"/>
            </a:xfrm>
            <a:custGeom>
              <a:avLst/>
              <a:gdLst>
                <a:gd name="T0" fmla="*/ 320 w 320"/>
                <a:gd name="T1" fmla="*/ 160 h 320"/>
                <a:gd name="T2" fmla="*/ 277 w 320"/>
                <a:gd name="T3" fmla="*/ 149 h 320"/>
                <a:gd name="T4" fmla="*/ 309 w 320"/>
                <a:gd name="T5" fmla="*/ 128 h 320"/>
                <a:gd name="T6" fmla="*/ 309 w 320"/>
                <a:gd name="T7" fmla="*/ 106 h 320"/>
                <a:gd name="T8" fmla="*/ 277 w 320"/>
                <a:gd name="T9" fmla="*/ 53 h 320"/>
                <a:gd name="T10" fmla="*/ 213 w 320"/>
                <a:gd name="T11" fmla="*/ 42 h 320"/>
                <a:gd name="T12" fmla="*/ 202 w 320"/>
                <a:gd name="T13" fmla="*/ 0 h 320"/>
                <a:gd name="T14" fmla="*/ 192 w 320"/>
                <a:gd name="T15" fmla="*/ 42 h 320"/>
                <a:gd name="T16" fmla="*/ 170 w 320"/>
                <a:gd name="T17" fmla="*/ 10 h 320"/>
                <a:gd name="T18" fmla="*/ 149 w 320"/>
                <a:gd name="T19" fmla="*/ 10 h 320"/>
                <a:gd name="T20" fmla="*/ 128 w 320"/>
                <a:gd name="T21" fmla="*/ 42 h 320"/>
                <a:gd name="T22" fmla="*/ 117 w 320"/>
                <a:gd name="T23" fmla="*/ 0 h 320"/>
                <a:gd name="T24" fmla="*/ 106 w 320"/>
                <a:gd name="T25" fmla="*/ 42 h 320"/>
                <a:gd name="T26" fmla="*/ 42 w 320"/>
                <a:gd name="T27" fmla="*/ 53 h 320"/>
                <a:gd name="T28" fmla="*/ 10 w 320"/>
                <a:gd name="T29" fmla="*/ 106 h 320"/>
                <a:gd name="T30" fmla="*/ 10 w 320"/>
                <a:gd name="T31" fmla="*/ 128 h 320"/>
                <a:gd name="T32" fmla="*/ 42 w 320"/>
                <a:gd name="T33" fmla="*/ 149 h 320"/>
                <a:gd name="T34" fmla="*/ 0 w 320"/>
                <a:gd name="T35" fmla="*/ 160 h 320"/>
                <a:gd name="T36" fmla="*/ 42 w 320"/>
                <a:gd name="T37" fmla="*/ 170 h 320"/>
                <a:gd name="T38" fmla="*/ 10 w 320"/>
                <a:gd name="T39" fmla="*/ 192 h 320"/>
                <a:gd name="T40" fmla="*/ 10 w 320"/>
                <a:gd name="T41" fmla="*/ 213 h 320"/>
                <a:gd name="T42" fmla="*/ 42 w 320"/>
                <a:gd name="T43" fmla="*/ 266 h 320"/>
                <a:gd name="T44" fmla="*/ 106 w 320"/>
                <a:gd name="T45" fmla="*/ 277 h 320"/>
                <a:gd name="T46" fmla="*/ 117 w 320"/>
                <a:gd name="T47" fmla="*/ 320 h 320"/>
                <a:gd name="T48" fmla="*/ 128 w 320"/>
                <a:gd name="T49" fmla="*/ 277 h 320"/>
                <a:gd name="T50" fmla="*/ 149 w 320"/>
                <a:gd name="T51" fmla="*/ 309 h 320"/>
                <a:gd name="T52" fmla="*/ 170 w 320"/>
                <a:gd name="T53" fmla="*/ 309 h 320"/>
                <a:gd name="T54" fmla="*/ 192 w 320"/>
                <a:gd name="T55" fmla="*/ 277 h 320"/>
                <a:gd name="T56" fmla="*/ 202 w 320"/>
                <a:gd name="T57" fmla="*/ 320 h 320"/>
                <a:gd name="T58" fmla="*/ 213 w 320"/>
                <a:gd name="T59" fmla="*/ 277 h 320"/>
                <a:gd name="T60" fmla="*/ 277 w 320"/>
                <a:gd name="T61" fmla="*/ 266 h 320"/>
                <a:gd name="T62" fmla="*/ 309 w 320"/>
                <a:gd name="T63" fmla="*/ 213 h 320"/>
                <a:gd name="T64" fmla="*/ 309 w 320"/>
                <a:gd name="T65" fmla="*/ 192 h 320"/>
                <a:gd name="T66" fmla="*/ 277 w 320"/>
                <a:gd name="T67" fmla="*/ 170 h 320"/>
                <a:gd name="T68" fmla="*/ 256 w 320"/>
                <a:gd name="T69" fmla="*/ 256 h 320"/>
                <a:gd name="T70" fmla="*/ 64 w 320"/>
                <a:gd name="T71" fmla="*/ 64 h 320"/>
                <a:gd name="T72" fmla="*/ 256 w 320"/>
                <a:gd name="T73" fmla="*/ 25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0" h="320">
                  <a:moveTo>
                    <a:pt x="309" y="170"/>
                  </a:moveTo>
                  <a:cubicBezTo>
                    <a:pt x="315" y="170"/>
                    <a:pt x="320" y="166"/>
                    <a:pt x="320" y="160"/>
                  </a:cubicBezTo>
                  <a:cubicBezTo>
                    <a:pt x="320" y="154"/>
                    <a:pt x="315" y="149"/>
                    <a:pt x="309" y="149"/>
                  </a:cubicBezTo>
                  <a:cubicBezTo>
                    <a:pt x="277" y="149"/>
                    <a:pt x="277" y="149"/>
                    <a:pt x="277" y="149"/>
                  </a:cubicBezTo>
                  <a:cubicBezTo>
                    <a:pt x="277" y="128"/>
                    <a:pt x="277" y="128"/>
                    <a:pt x="277" y="128"/>
                  </a:cubicBezTo>
                  <a:cubicBezTo>
                    <a:pt x="309" y="128"/>
                    <a:pt x="309" y="128"/>
                    <a:pt x="309" y="128"/>
                  </a:cubicBezTo>
                  <a:cubicBezTo>
                    <a:pt x="315" y="128"/>
                    <a:pt x="320" y="123"/>
                    <a:pt x="320" y="117"/>
                  </a:cubicBezTo>
                  <a:cubicBezTo>
                    <a:pt x="320" y="111"/>
                    <a:pt x="315" y="106"/>
                    <a:pt x="309" y="106"/>
                  </a:cubicBezTo>
                  <a:cubicBezTo>
                    <a:pt x="277" y="106"/>
                    <a:pt x="277" y="106"/>
                    <a:pt x="277" y="106"/>
                  </a:cubicBezTo>
                  <a:cubicBezTo>
                    <a:pt x="277" y="53"/>
                    <a:pt x="277" y="53"/>
                    <a:pt x="277" y="53"/>
                  </a:cubicBezTo>
                  <a:cubicBezTo>
                    <a:pt x="277" y="47"/>
                    <a:pt x="272" y="42"/>
                    <a:pt x="266" y="42"/>
                  </a:cubicBezTo>
                  <a:cubicBezTo>
                    <a:pt x="213" y="42"/>
                    <a:pt x="213" y="42"/>
                    <a:pt x="213" y="42"/>
                  </a:cubicBezTo>
                  <a:cubicBezTo>
                    <a:pt x="213" y="10"/>
                    <a:pt x="213" y="10"/>
                    <a:pt x="213" y="10"/>
                  </a:cubicBezTo>
                  <a:cubicBezTo>
                    <a:pt x="213" y="4"/>
                    <a:pt x="208" y="0"/>
                    <a:pt x="202" y="0"/>
                  </a:cubicBezTo>
                  <a:cubicBezTo>
                    <a:pt x="196" y="0"/>
                    <a:pt x="192" y="4"/>
                    <a:pt x="192" y="10"/>
                  </a:cubicBezTo>
                  <a:cubicBezTo>
                    <a:pt x="192" y="42"/>
                    <a:pt x="192" y="42"/>
                    <a:pt x="192" y="42"/>
                  </a:cubicBezTo>
                  <a:cubicBezTo>
                    <a:pt x="170" y="42"/>
                    <a:pt x="170" y="42"/>
                    <a:pt x="170" y="42"/>
                  </a:cubicBezTo>
                  <a:cubicBezTo>
                    <a:pt x="170" y="10"/>
                    <a:pt x="170" y="10"/>
                    <a:pt x="170" y="10"/>
                  </a:cubicBezTo>
                  <a:cubicBezTo>
                    <a:pt x="170" y="4"/>
                    <a:pt x="166" y="0"/>
                    <a:pt x="160" y="0"/>
                  </a:cubicBezTo>
                  <a:cubicBezTo>
                    <a:pt x="154" y="0"/>
                    <a:pt x="149" y="4"/>
                    <a:pt x="149" y="10"/>
                  </a:cubicBezTo>
                  <a:cubicBezTo>
                    <a:pt x="149" y="42"/>
                    <a:pt x="149" y="42"/>
                    <a:pt x="149" y="42"/>
                  </a:cubicBezTo>
                  <a:cubicBezTo>
                    <a:pt x="128" y="42"/>
                    <a:pt x="128" y="42"/>
                    <a:pt x="128" y="42"/>
                  </a:cubicBezTo>
                  <a:cubicBezTo>
                    <a:pt x="128" y="10"/>
                    <a:pt x="128" y="10"/>
                    <a:pt x="128" y="10"/>
                  </a:cubicBezTo>
                  <a:cubicBezTo>
                    <a:pt x="128" y="4"/>
                    <a:pt x="123" y="0"/>
                    <a:pt x="117" y="0"/>
                  </a:cubicBezTo>
                  <a:cubicBezTo>
                    <a:pt x="111" y="0"/>
                    <a:pt x="106" y="4"/>
                    <a:pt x="106" y="10"/>
                  </a:cubicBezTo>
                  <a:cubicBezTo>
                    <a:pt x="106" y="42"/>
                    <a:pt x="106" y="42"/>
                    <a:pt x="106" y="42"/>
                  </a:cubicBezTo>
                  <a:cubicBezTo>
                    <a:pt x="53" y="42"/>
                    <a:pt x="53" y="42"/>
                    <a:pt x="53" y="42"/>
                  </a:cubicBezTo>
                  <a:cubicBezTo>
                    <a:pt x="47" y="42"/>
                    <a:pt x="42" y="47"/>
                    <a:pt x="42" y="53"/>
                  </a:cubicBezTo>
                  <a:cubicBezTo>
                    <a:pt x="42" y="106"/>
                    <a:pt x="42" y="106"/>
                    <a:pt x="42" y="106"/>
                  </a:cubicBezTo>
                  <a:cubicBezTo>
                    <a:pt x="10" y="106"/>
                    <a:pt x="10" y="106"/>
                    <a:pt x="10" y="106"/>
                  </a:cubicBezTo>
                  <a:cubicBezTo>
                    <a:pt x="4" y="106"/>
                    <a:pt x="0" y="111"/>
                    <a:pt x="0" y="117"/>
                  </a:cubicBezTo>
                  <a:cubicBezTo>
                    <a:pt x="0" y="123"/>
                    <a:pt x="4" y="128"/>
                    <a:pt x="10" y="128"/>
                  </a:cubicBezTo>
                  <a:cubicBezTo>
                    <a:pt x="42" y="128"/>
                    <a:pt x="42" y="128"/>
                    <a:pt x="42" y="128"/>
                  </a:cubicBezTo>
                  <a:cubicBezTo>
                    <a:pt x="42" y="149"/>
                    <a:pt x="42" y="149"/>
                    <a:pt x="42" y="149"/>
                  </a:cubicBezTo>
                  <a:cubicBezTo>
                    <a:pt x="10" y="149"/>
                    <a:pt x="10" y="149"/>
                    <a:pt x="10" y="149"/>
                  </a:cubicBezTo>
                  <a:cubicBezTo>
                    <a:pt x="4" y="149"/>
                    <a:pt x="0" y="154"/>
                    <a:pt x="0" y="160"/>
                  </a:cubicBezTo>
                  <a:cubicBezTo>
                    <a:pt x="0" y="166"/>
                    <a:pt x="4" y="170"/>
                    <a:pt x="10" y="170"/>
                  </a:cubicBezTo>
                  <a:cubicBezTo>
                    <a:pt x="42" y="170"/>
                    <a:pt x="42" y="170"/>
                    <a:pt x="42" y="170"/>
                  </a:cubicBezTo>
                  <a:cubicBezTo>
                    <a:pt x="42" y="192"/>
                    <a:pt x="42" y="192"/>
                    <a:pt x="42" y="192"/>
                  </a:cubicBezTo>
                  <a:cubicBezTo>
                    <a:pt x="10" y="192"/>
                    <a:pt x="10" y="192"/>
                    <a:pt x="10" y="192"/>
                  </a:cubicBezTo>
                  <a:cubicBezTo>
                    <a:pt x="4" y="192"/>
                    <a:pt x="0" y="196"/>
                    <a:pt x="0" y="202"/>
                  </a:cubicBezTo>
                  <a:cubicBezTo>
                    <a:pt x="0" y="208"/>
                    <a:pt x="4" y="213"/>
                    <a:pt x="10" y="213"/>
                  </a:cubicBezTo>
                  <a:cubicBezTo>
                    <a:pt x="42" y="213"/>
                    <a:pt x="42" y="213"/>
                    <a:pt x="42" y="213"/>
                  </a:cubicBezTo>
                  <a:cubicBezTo>
                    <a:pt x="42" y="266"/>
                    <a:pt x="42" y="266"/>
                    <a:pt x="42" y="266"/>
                  </a:cubicBezTo>
                  <a:cubicBezTo>
                    <a:pt x="42" y="272"/>
                    <a:pt x="47" y="277"/>
                    <a:pt x="53" y="277"/>
                  </a:cubicBezTo>
                  <a:cubicBezTo>
                    <a:pt x="106" y="277"/>
                    <a:pt x="106" y="277"/>
                    <a:pt x="106" y="277"/>
                  </a:cubicBezTo>
                  <a:cubicBezTo>
                    <a:pt x="106" y="309"/>
                    <a:pt x="106" y="309"/>
                    <a:pt x="106" y="309"/>
                  </a:cubicBezTo>
                  <a:cubicBezTo>
                    <a:pt x="106" y="315"/>
                    <a:pt x="111" y="320"/>
                    <a:pt x="117" y="320"/>
                  </a:cubicBezTo>
                  <a:cubicBezTo>
                    <a:pt x="123" y="320"/>
                    <a:pt x="128" y="315"/>
                    <a:pt x="128" y="309"/>
                  </a:cubicBezTo>
                  <a:cubicBezTo>
                    <a:pt x="128" y="277"/>
                    <a:pt x="128" y="277"/>
                    <a:pt x="128" y="277"/>
                  </a:cubicBezTo>
                  <a:cubicBezTo>
                    <a:pt x="149" y="277"/>
                    <a:pt x="149" y="277"/>
                    <a:pt x="149" y="277"/>
                  </a:cubicBezTo>
                  <a:cubicBezTo>
                    <a:pt x="149" y="309"/>
                    <a:pt x="149" y="309"/>
                    <a:pt x="149" y="309"/>
                  </a:cubicBezTo>
                  <a:cubicBezTo>
                    <a:pt x="149" y="315"/>
                    <a:pt x="154" y="320"/>
                    <a:pt x="160" y="320"/>
                  </a:cubicBezTo>
                  <a:cubicBezTo>
                    <a:pt x="166" y="320"/>
                    <a:pt x="170" y="315"/>
                    <a:pt x="170" y="309"/>
                  </a:cubicBezTo>
                  <a:cubicBezTo>
                    <a:pt x="170" y="277"/>
                    <a:pt x="170" y="277"/>
                    <a:pt x="170" y="277"/>
                  </a:cubicBezTo>
                  <a:cubicBezTo>
                    <a:pt x="192" y="277"/>
                    <a:pt x="192" y="277"/>
                    <a:pt x="192" y="277"/>
                  </a:cubicBezTo>
                  <a:cubicBezTo>
                    <a:pt x="192" y="309"/>
                    <a:pt x="192" y="309"/>
                    <a:pt x="192" y="309"/>
                  </a:cubicBezTo>
                  <a:cubicBezTo>
                    <a:pt x="192" y="315"/>
                    <a:pt x="196" y="320"/>
                    <a:pt x="202" y="320"/>
                  </a:cubicBezTo>
                  <a:cubicBezTo>
                    <a:pt x="208" y="320"/>
                    <a:pt x="213" y="315"/>
                    <a:pt x="213" y="309"/>
                  </a:cubicBezTo>
                  <a:cubicBezTo>
                    <a:pt x="213" y="277"/>
                    <a:pt x="213" y="277"/>
                    <a:pt x="213" y="277"/>
                  </a:cubicBezTo>
                  <a:cubicBezTo>
                    <a:pt x="266" y="277"/>
                    <a:pt x="266" y="277"/>
                    <a:pt x="266" y="277"/>
                  </a:cubicBezTo>
                  <a:cubicBezTo>
                    <a:pt x="272" y="277"/>
                    <a:pt x="277" y="272"/>
                    <a:pt x="277" y="266"/>
                  </a:cubicBezTo>
                  <a:cubicBezTo>
                    <a:pt x="277" y="213"/>
                    <a:pt x="277" y="213"/>
                    <a:pt x="277" y="213"/>
                  </a:cubicBezTo>
                  <a:cubicBezTo>
                    <a:pt x="309" y="213"/>
                    <a:pt x="309" y="213"/>
                    <a:pt x="309" y="213"/>
                  </a:cubicBezTo>
                  <a:cubicBezTo>
                    <a:pt x="315" y="213"/>
                    <a:pt x="320" y="208"/>
                    <a:pt x="320" y="202"/>
                  </a:cubicBezTo>
                  <a:cubicBezTo>
                    <a:pt x="320" y="196"/>
                    <a:pt x="315" y="192"/>
                    <a:pt x="309" y="192"/>
                  </a:cubicBezTo>
                  <a:cubicBezTo>
                    <a:pt x="277" y="192"/>
                    <a:pt x="277" y="192"/>
                    <a:pt x="277" y="192"/>
                  </a:cubicBezTo>
                  <a:cubicBezTo>
                    <a:pt x="277" y="170"/>
                    <a:pt x="277" y="170"/>
                    <a:pt x="277" y="170"/>
                  </a:cubicBezTo>
                  <a:lnTo>
                    <a:pt x="309" y="170"/>
                  </a:lnTo>
                  <a:close/>
                  <a:moveTo>
                    <a:pt x="256" y="256"/>
                  </a:moveTo>
                  <a:cubicBezTo>
                    <a:pt x="64" y="256"/>
                    <a:pt x="64" y="256"/>
                    <a:pt x="64" y="256"/>
                  </a:cubicBezTo>
                  <a:cubicBezTo>
                    <a:pt x="64" y="64"/>
                    <a:pt x="64" y="64"/>
                    <a:pt x="64" y="64"/>
                  </a:cubicBezTo>
                  <a:cubicBezTo>
                    <a:pt x="256" y="64"/>
                    <a:pt x="256" y="64"/>
                    <a:pt x="256" y="64"/>
                  </a:cubicBezTo>
                  <a:lnTo>
                    <a:pt x="256" y="25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83" name="Freeform 836">
              <a:extLst>
                <a:ext uri="{FF2B5EF4-FFF2-40B4-BE49-F238E27FC236}">
                  <a16:creationId xmlns:a16="http://schemas.microsoft.com/office/drawing/2014/main" id="{704686D0-9327-925E-2943-D9FAEDE21F6C}"/>
                </a:ext>
              </a:extLst>
            </p:cNvPr>
            <p:cNvSpPr>
              <a:spLocks noEditPoints="1"/>
            </p:cNvSpPr>
            <p:nvPr/>
          </p:nvSpPr>
          <p:spPr bwMode="auto">
            <a:xfrm>
              <a:off x="6104" y="3451"/>
              <a:ext cx="85" cy="85"/>
            </a:xfrm>
            <a:custGeom>
              <a:avLst/>
              <a:gdLst>
                <a:gd name="T0" fmla="*/ 117 w 128"/>
                <a:gd name="T1" fmla="*/ 0 h 128"/>
                <a:gd name="T2" fmla="*/ 10 w 128"/>
                <a:gd name="T3" fmla="*/ 0 h 128"/>
                <a:gd name="T4" fmla="*/ 0 w 128"/>
                <a:gd name="T5" fmla="*/ 10 h 128"/>
                <a:gd name="T6" fmla="*/ 0 w 128"/>
                <a:gd name="T7" fmla="*/ 117 h 128"/>
                <a:gd name="T8" fmla="*/ 10 w 128"/>
                <a:gd name="T9" fmla="*/ 128 h 128"/>
                <a:gd name="T10" fmla="*/ 117 w 128"/>
                <a:gd name="T11" fmla="*/ 128 h 128"/>
                <a:gd name="T12" fmla="*/ 128 w 128"/>
                <a:gd name="T13" fmla="*/ 117 h 128"/>
                <a:gd name="T14" fmla="*/ 128 w 128"/>
                <a:gd name="T15" fmla="*/ 10 h 128"/>
                <a:gd name="T16" fmla="*/ 117 w 128"/>
                <a:gd name="T17" fmla="*/ 0 h 128"/>
                <a:gd name="T18" fmla="*/ 106 w 128"/>
                <a:gd name="T19" fmla="*/ 106 h 128"/>
                <a:gd name="T20" fmla="*/ 21 w 128"/>
                <a:gd name="T21" fmla="*/ 106 h 128"/>
                <a:gd name="T22" fmla="*/ 21 w 128"/>
                <a:gd name="T23" fmla="*/ 21 h 128"/>
                <a:gd name="T24" fmla="*/ 106 w 128"/>
                <a:gd name="T25" fmla="*/ 21 h 128"/>
                <a:gd name="T26" fmla="*/ 106 w 128"/>
                <a:gd name="T27" fmla="*/ 10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8" h="128">
                  <a:moveTo>
                    <a:pt x="117" y="0"/>
                  </a:moveTo>
                  <a:cubicBezTo>
                    <a:pt x="10" y="0"/>
                    <a:pt x="10" y="0"/>
                    <a:pt x="10" y="0"/>
                  </a:cubicBezTo>
                  <a:cubicBezTo>
                    <a:pt x="4" y="0"/>
                    <a:pt x="0" y="4"/>
                    <a:pt x="0" y="10"/>
                  </a:cubicBezTo>
                  <a:cubicBezTo>
                    <a:pt x="0" y="117"/>
                    <a:pt x="0" y="117"/>
                    <a:pt x="0" y="117"/>
                  </a:cubicBezTo>
                  <a:cubicBezTo>
                    <a:pt x="0" y="123"/>
                    <a:pt x="4" y="128"/>
                    <a:pt x="10" y="128"/>
                  </a:cubicBezTo>
                  <a:cubicBezTo>
                    <a:pt x="117" y="128"/>
                    <a:pt x="117" y="128"/>
                    <a:pt x="117" y="128"/>
                  </a:cubicBezTo>
                  <a:cubicBezTo>
                    <a:pt x="123" y="128"/>
                    <a:pt x="128" y="123"/>
                    <a:pt x="128" y="117"/>
                  </a:cubicBezTo>
                  <a:cubicBezTo>
                    <a:pt x="128" y="10"/>
                    <a:pt x="128" y="10"/>
                    <a:pt x="128" y="10"/>
                  </a:cubicBezTo>
                  <a:cubicBezTo>
                    <a:pt x="128" y="4"/>
                    <a:pt x="123" y="0"/>
                    <a:pt x="117" y="0"/>
                  </a:cubicBezTo>
                  <a:close/>
                  <a:moveTo>
                    <a:pt x="106" y="106"/>
                  </a:moveTo>
                  <a:cubicBezTo>
                    <a:pt x="21" y="106"/>
                    <a:pt x="21" y="106"/>
                    <a:pt x="21" y="106"/>
                  </a:cubicBezTo>
                  <a:cubicBezTo>
                    <a:pt x="21" y="21"/>
                    <a:pt x="21" y="21"/>
                    <a:pt x="21" y="21"/>
                  </a:cubicBezTo>
                  <a:cubicBezTo>
                    <a:pt x="106" y="21"/>
                    <a:pt x="106" y="21"/>
                    <a:pt x="106" y="21"/>
                  </a:cubicBezTo>
                  <a:lnTo>
                    <a:pt x="106" y="10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84" name="Freeform 837">
              <a:extLst>
                <a:ext uri="{FF2B5EF4-FFF2-40B4-BE49-F238E27FC236}">
                  <a16:creationId xmlns:a16="http://schemas.microsoft.com/office/drawing/2014/main" id="{F7605C62-6F48-4FBF-230C-CEC4F9AEC360}"/>
                </a:ext>
              </a:extLst>
            </p:cNvPr>
            <p:cNvSpPr>
              <a:spLocks noEditPoints="1"/>
            </p:cNvSpPr>
            <p:nvPr/>
          </p:nvSpPr>
          <p:spPr bwMode="auto">
            <a:xfrm>
              <a:off x="5977" y="332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sp>
        <p:nvSpPr>
          <p:cNvPr id="85" name="TextBox 84">
            <a:extLst>
              <a:ext uri="{FF2B5EF4-FFF2-40B4-BE49-F238E27FC236}">
                <a16:creationId xmlns:a16="http://schemas.microsoft.com/office/drawing/2014/main" id="{63BD32ED-4C20-2B0C-9A4D-2ABE567DB78E}"/>
              </a:ext>
            </a:extLst>
          </p:cNvPr>
          <p:cNvSpPr txBox="1"/>
          <p:nvPr/>
        </p:nvSpPr>
        <p:spPr>
          <a:xfrm>
            <a:off x="4100009" y="2614233"/>
            <a:ext cx="1678039" cy="738664"/>
          </a:xfrm>
          <a:prstGeom prst="rect">
            <a:avLst/>
          </a:prstGeom>
          <a:noFill/>
        </p:spPr>
        <p:txBody>
          <a:bodyPr wrap="square" lIns="0" tIns="0" rIns="0" bIns="0" rtlCol="0">
            <a:spAutoFit/>
          </a:bodyPr>
          <a:lstStyle/>
          <a:p>
            <a:pPr>
              <a:buSzPct val="100000"/>
            </a:pPr>
            <a:r>
              <a:rPr lang="en-US" sz="800" b="1" dirty="0">
                <a:solidFill>
                  <a:srgbClr val="26890D"/>
                </a:solidFill>
                <a:latin typeface="Verdana" panose="020B0604030504040204" pitchFamily="34" charset="0"/>
                <a:ea typeface="Verdana" panose="020B0604030504040204" pitchFamily="34" charset="0"/>
              </a:rPr>
              <a:t>Customer Satisfaction</a:t>
            </a:r>
          </a:p>
          <a:p>
            <a:pPr marL="171450" indent="-171450" algn="just">
              <a:buSzPct val="100000"/>
              <a:buFont typeface="Arial" panose="020B0604020202020204" pitchFamily="34" charset="0"/>
              <a:buChar char="•"/>
            </a:pPr>
            <a:r>
              <a:rPr lang="en-US" sz="800" dirty="0">
                <a:solidFill>
                  <a:srgbClr val="000000"/>
                </a:solidFill>
                <a:latin typeface="Verdana" panose="020B0604030504040204" pitchFamily="34" charset="0"/>
                <a:ea typeface="Verdana" panose="020B0604030504040204" pitchFamily="34" charset="0"/>
                <a:cs typeface="Calibri"/>
              </a:rPr>
              <a:t>Improve Consumer focus </a:t>
            </a:r>
          </a:p>
          <a:p>
            <a:pPr marL="171450" indent="-171450" algn="just">
              <a:buSzPct val="100000"/>
              <a:buFont typeface="Arial" panose="020B0604020202020204" pitchFamily="34" charset="0"/>
              <a:buChar char="•"/>
            </a:pPr>
            <a:r>
              <a:rPr lang="en-US" sz="800" dirty="0">
                <a:solidFill>
                  <a:srgbClr val="000000"/>
                </a:solidFill>
                <a:latin typeface="Verdana" panose="020B0604030504040204" pitchFamily="34" charset="0"/>
                <a:ea typeface="Verdana" panose="020B0604030504040204" pitchFamily="34" charset="0"/>
                <a:cs typeface="Calibri"/>
              </a:rPr>
              <a:t>Increase service quality &amp; feedback management</a:t>
            </a:r>
          </a:p>
          <a:p>
            <a:pPr marL="171450" indent="-171450">
              <a:buSzPct val="100000"/>
              <a:buFont typeface="Arial" panose="020B0604020202020204" pitchFamily="34" charset="0"/>
              <a:buChar char="•"/>
            </a:pPr>
            <a:r>
              <a:rPr lang="en-US" sz="800" dirty="0">
                <a:solidFill>
                  <a:srgbClr val="000000"/>
                </a:solidFill>
                <a:latin typeface="Verdana" panose="020B0604030504040204" pitchFamily="34" charset="0"/>
                <a:ea typeface="Verdana" panose="020B0604030504040204" pitchFamily="34" charset="0"/>
                <a:cs typeface="Calibri"/>
              </a:rPr>
              <a:t>Customer Outreach Management</a:t>
            </a:r>
          </a:p>
        </p:txBody>
      </p:sp>
      <p:cxnSp>
        <p:nvCxnSpPr>
          <p:cNvPr id="86" name="Elbow Connector 65">
            <a:extLst>
              <a:ext uri="{FF2B5EF4-FFF2-40B4-BE49-F238E27FC236}">
                <a16:creationId xmlns:a16="http://schemas.microsoft.com/office/drawing/2014/main" id="{202D6C82-3B43-9262-8341-22FE177D6815}"/>
              </a:ext>
            </a:extLst>
          </p:cNvPr>
          <p:cNvCxnSpPr>
            <a:cxnSpLocks/>
          </p:cNvCxnSpPr>
          <p:nvPr/>
        </p:nvCxnSpPr>
        <p:spPr>
          <a:xfrm rot="16200000" flipV="1">
            <a:off x="3478452" y="4456184"/>
            <a:ext cx="509598" cy="417688"/>
          </a:xfrm>
          <a:prstGeom prst="bentConnector3">
            <a:avLst>
              <a:gd name="adj1" fmla="val 50000"/>
            </a:avLst>
          </a:prstGeom>
          <a:noFill/>
          <a:ln w="9525" cap="flat" cmpd="sng" algn="ctr">
            <a:solidFill>
              <a:srgbClr val="0D8390"/>
            </a:solidFill>
            <a:prstDash val="solid"/>
          </a:ln>
          <a:effectLst/>
        </p:spPr>
      </p:cxnSp>
      <p:cxnSp>
        <p:nvCxnSpPr>
          <p:cNvPr id="87" name="Elbow Connector 65">
            <a:extLst>
              <a:ext uri="{FF2B5EF4-FFF2-40B4-BE49-F238E27FC236}">
                <a16:creationId xmlns:a16="http://schemas.microsoft.com/office/drawing/2014/main" id="{4C72A5B6-EC66-3CB6-E5DA-036AF71D3510}"/>
              </a:ext>
            </a:extLst>
          </p:cNvPr>
          <p:cNvCxnSpPr>
            <a:cxnSpLocks/>
            <a:stCxn id="80" idx="1"/>
          </p:cNvCxnSpPr>
          <p:nvPr/>
        </p:nvCxnSpPr>
        <p:spPr>
          <a:xfrm rot="10800000">
            <a:off x="3941003" y="3804839"/>
            <a:ext cx="219474" cy="320550"/>
          </a:xfrm>
          <a:prstGeom prst="bentConnector2">
            <a:avLst/>
          </a:prstGeom>
          <a:noFill/>
          <a:ln w="9525" cap="flat" cmpd="sng" algn="ctr">
            <a:solidFill>
              <a:srgbClr val="046A38"/>
            </a:solidFill>
            <a:prstDash val="solid"/>
          </a:ln>
          <a:effectLst/>
        </p:spPr>
      </p:cxnSp>
      <p:cxnSp>
        <p:nvCxnSpPr>
          <p:cNvPr id="88" name="Elbow Connector 65">
            <a:extLst>
              <a:ext uri="{FF2B5EF4-FFF2-40B4-BE49-F238E27FC236}">
                <a16:creationId xmlns:a16="http://schemas.microsoft.com/office/drawing/2014/main" id="{D4526FA9-EDF7-2A19-7523-59D8392EA389}"/>
              </a:ext>
            </a:extLst>
          </p:cNvPr>
          <p:cNvCxnSpPr>
            <a:cxnSpLocks/>
            <a:stCxn id="85" idx="1"/>
          </p:cNvCxnSpPr>
          <p:nvPr/>
        </p:nvCxnSpPr>
        <p:spPr>
          <a:xfrm rot="10800000" flipV="1">
            <a:off x="3740581" y="3004815"/>
            <a:ext cx="359429" cy="282801"/>
          </a:xfrm>
          <a:prstGeom prst="bentConnector3">
            <a:avLst>
              <a:gd name="adj1" fmla="val 50000"/>
            </a:avLst>
          </a:prstGeom>
          <a:noFill/>
          <a:ln w="9525" cap="flat" cmpd="sng" algn="ctr">
            <a:solidFill>
              <a:srgbClr val="26890D"/>
            </a:solidFill>
            <a:prstDash val="solid"/>
          </a:ln>
          <a:effectLst/>
        </p:spPr>
      </p:cxnSp>
      <p:grpSp>
        <p:nvGrpSpPr>
          <p:cNvPr id="89" name="Group 795">
            <a:extLst>
              <a:ext uri="{FF2B5EF4-FFF2-40B4-BE49-F238E27FC236}">
                <a16:creationId xmlns:a16="http://schemas.microsoft.com/office/drawing/2014/main" id="{288EAD67-EEF0-F798-BD9A-3A84EBE71FD0}"/>
              </a:ext>
            </a:extLst>
          </p:cNvPr>
          <p:cNvGrpSpPr>
            <a:grpSpLocks noChangeAspect="1"/>
          </p:cNvGrpSpPr>
          <p:nvPr/>
        </p:nvGrpSpPr>
        <p:grpSpPr bwMode="auto">
          <a:xfrm>
            <a:off x="3585585" y="3269679"/>
            <a:ext cx="320041" cy="320041"/>
            <a:chOff x="7361" y="3009"/>
            <a:chExt cx="340" cy="340"/>
          </a:xfrm>
          <a:solidFill>
            <a:sysClr val="window" lastClr="FFFFFF"/>
          </a:solidFill>
        </p:grpSpPr>
        <p:sp>
          <p:nvSpPr>
            <p:cNvPr id="90" name="Freeform 796">
              <a:extLst>
                <a:ext uri="{FF2B5EF4-FFF2-40B4-BE49-F238E27FC236}">
                  <a16:creationId xmlns:a16="http://schemas.microsoft.com/office/drawing/2014/main" id="{48FF20E2-304F-F870-008F-70C0F700F7FA}"/>
                </a:ext>
              </a:extLst>
            </p:cNvPr>
            <p:cNvSpPr>
              <a:spLocks noEditPoints="1"/>
            </p:cNvSpPr>
            <p:nvPr/>
          </p:nvSpPr>
          <p:spPr bwMode="auto">
            <a:xfrm>
              <a:off x="7431" y="3129"/>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91" name="Freeform 797">
              <a:extLst>
                <a:ext uri="{FF2B5EF4-FFF2-40B4-BE49-F238E27FC236}">
                  <a16:creationId xmlns:a16="http://schemas.microsoft.com/office/drawing/2014/main" id="{2FCBDC83-3763-9B6E-A783-165FDF8C4A7B}"/>
                </a:ext>
              </a:extLst>
            </p:cNvPr>
            <p:cNvSpPr>
              <a:spLocks noEditPoints="1"/>
            </p:cNvSpPr>
            <p:nvPr/>
          </p:nvSpPr>
          <p:spPr bwMode="auto">
            <a:xfrm>
              <a:off x="7439"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92" name="Freeform 798">
              <a:extLst>
                <a:ext uri="{FF2B5EF4-FFF2-40B4-BE49-F238E27FC236}">
                  <a16:creationId xmlns:a16="http://schemas.microsoft.com/office/drawing/2014/main" id="{0BBE7E9E-CFC1-7C80-507E-FE18757260E2}"/>
                </a:ext>
              </a:extLst>
            </p:cNvPr>
            <p:cNvSpPr>
              <a:spLocks noEditPoints="1"/>
            </p:cNvSpPr>
            <p:nvPr/>
          </p:nvSpPr>
          <p:spPr bwMode="auto">
            <a:xfrm>
              <a:off x="7502" y="3129"/>
              <a:ext cx="58" cy="142"/>
            </a:xfrm>
            <a:custGeom>
              <a:avLst/>
              <a:gdLst>
                <a:gd name="T0" fmla="*/ 53 w 86"/>
                <a:gd name="T1" fmla="*/ 0 h 213"/>
                <a:gd name="T2" fmla="*/ 32 w 86"/>
                <a:gd name="T3" fmla="*/ 0 h 213"/>
                <a:gd name="T4" fmla="*/ 22 w 86"/>
                <a:gd name="T5" fmla="*/ 9 h 213"/>
                <a:gd name="T6" fmla="*/ 0 w 86"/>
                <a:gd name="T7" fmla="*/ 115 h 213"/>
                <a:gd name="T8" fmla="*/ 2 w 86"/>
                <a:gd name="T9" fmla="*/ 124 h 213"/>
                <a:gd name="T10" fmla="*/ 11 w 86"/>
                <a:gd name="T11" fmla="*/ 128 h 213"/>
                <a:gd name="T12" fmla="*/ 11 w 86"/>
                <a:gd name="T13" fmla="*/ 203 h 213"/>
                <a:gd name="T14" fmla="*/ 21 w 86"/>
                <a:gd name="T15" fmla="*/ 213 h 213"/>
                <a:gd name="T16" fmla="*/ 32 w 86"/>
                <a:gd name="T17" fmla="*/ 203 h 213"/>
                <a:gd name="T18" fmla="*/ 32 w 86"/>
                <a:gd name="T19" fmla="*/ 128 h 213"/>
                <a:gd name="T20" fmla="*/ 53 w 86"/>
                <a:gd name="T21" fmla="*/ 128 h 213"/>
                <a:gd name="T22" fmla="*/ 53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3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3" y="0"/>
                  </a:moveTo>
                  <a:cubicBezTo>
                    <a:pt x="32" y="0"/>
                    <a:pt x="32" y="0"/>
                    <a:pt x="32" y="0"/>
                  </a:cubicBezTo>
                  <a:cubicBezTo>
                    <a:pt x="27" y="0"/>
                    <a:pt x="23" y="4"/>
                    <a:pt x="22" y="9"/>
                  </a:cubicBezTo>
                  <a:cubicBezTo>
                    <a:pt x="0" y="115"/>
                    <a:pt x="0" y="115"/>
                    <a:pt x="0" y="115"/>
                  </a:cubicBezTo>
                  <a:cubicBezTo>
                    <a:pt x="0" y="118"/>
                    <a:pt x="0" y="122"/>
                    <a:pt x="2" y="124"/>
                  </a:cubicBezTo>
                  <a:cubicBezTo>
                    <a:pt x="4" y="127"/>
                    <a:pt x="7" y="128"/>
                    <a:pt x="11" y="128"/>
                  </a:cubicBezTo>
                  <a:cubicBezTo>
                    <a:pt x="11" y="203"/>
                    <a:pt x="11" y="203"/>
                    <a:pt x="11" y="203"/>
                  </a:cubicBezTo>
                  <a:cubicBezTo>
                    <a:pt x="11" y="209"/>
                    <a:pt x="15" y="213"/>
                    <a:pt x="21" y="213"/>
                  </a:cubicBezTo>
                  <a:cubicBezTo>
                    <a:pt x="27" y="213"/>
                    <a:pt x="32" y="209"/>
                    <a:pt x="32" y="203"/>
                  </a:cubicBezTo>
                  <a:cubicBezTo>
                    <a:pt x="32" y="128"/>
                    <a:pt x="32" y="128"/>
                    <a:pt x="32" y="128"/>
                  </a:cubicBezTo>
                  <a:cubicBezTo>
                    <a:pt x="53" y="128"/>
                    <a:pt x="53" y="128"/>
                    <a:pt x="53" y="128"/>
                  </a:cubicBezTo>
                  <a:cubicBezTo>
                    <a:pt x="53" y="203"/>
                    <a:pt x="53" y="203"/>
                    <a:pt x="53" y="203"/>
                  </a:cubicBezTo>
                  <a:cubicBezTo>
                    <a:pt x="53"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8" y="0"/>
                    <a:pt x="53"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93" name="Freeform 799">
              <a:extLst>
                <a:ext uri="{FF2B5EF4-FFF2-40B4-BE49-F238E27FC236}">
                  <a16:creationId xmlns:a16="http://schemas.microsoft.com/office/drawing/2014/main" id="{DF751628-A1E1-7187-5A5D-7C72E00808C6}"/>
                </a:ext>
              </a:extLst>
            </p:cNvPr>
            <p:cNvSpPr>
              <a:spLocks noEditPoints="1"/>
            </p:cNvSpPr>
            <p:nvPr/>
          </p:nvSpPr>
          <p:spPr bwMode="auto">
            <a:xfrm>
              <a:off x="7510"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94" name="Freeform 800">
              <a:extLst>
                <a:ext uri="{FF2B5EF4-FFF2-40B4-BE49-F238E27FC236}">
                  <a16:creationId xmlns:a16="http://schemas.microsoft.com/office/drawing/2014/main" id="{7C52DBAB-760A-B684-F3BB-970805008D05}"/>
                </a:ext>
              </a:extLst>
            </p:cNvPr>
            <p:cNvSpPr>
              <a:spLocks noEditPoints="1"/>
            </p:cNvSpPr>
            <p:nvPr/>
          </p:nvSpPr>
          <p:spPr bwMode="auto">
            <a:xfrm>
              <a:off x="7573" y="3129"/>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95" name="Freeform 801">
              <a:extLst>
                <a:ext uri="{FF2B5EF4-FFF2-40B4-BE49-F238E27FC236}">
                  <a16:creationId xmlns:a16="http://schemas.microsoft.com/office/drawing/2014/main" id="{A2CA3CDE-F7EE-509A-66C5-D618C24099AA}"/>
                </a:ext>
              </a:extLst>
            </p:cNvPr>
            <p:cNvSpPr>
              <a:spLocks noEditPoints="1"/>
            </p:cNvSpPr>
            <p:nvPr/>
          </p:nvSpPr>
          <p:spPr bwMode="auto">
            <a:xfrm>
              <a:off x="7580" y="307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96" name="Freeform 802">
              <a:extLst>
                <a:ext uri="{FF2B5EF4-FFF2-40B4-BE49-F238E27FC236}">
                  <a16:creationId xmlns:a16="http://schemas.microsoft.com/office/drawing/2014/main" id="{C2A8C5DD-05F2-4DB5-A5D8-9306BABD51A4}"/>
                </a:ext>
              </a:extLst>
            </p:cNvPr>
            <p:cNvSpPr>
              <a:spLocks noEditPoints="1"/>
            </p:cNvSpPr>
            <p:nvPr/>
          </p:nvSpPr>
          <p:spPr bwMode="auto">
            <a:xfrm>
              <a:off x="7361" y="3009"/>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sp>
        <p:nvSpPr>
          <p:cNvPr id="97" name="TextBox 96">
            <a:extLst>
              <a:ext uri="{FF2B5EF4-FFF2-40B4-BE49-F238E27FC236}">
                <a16:creationId xmlns:a16="http://schemas.microsoft.com/office/drawing/2014/main" id="{B6558CB3-42AE-A405-1C3E-9E907CC5AE92}"/>
              </a:ext>
            </a:extLst>
          </p:cNvPr>
          <p:cNvSpPr txBox="1"/>
          <p:nvPr/>
        </p:nvSpPr>
        <p:spPr>
          <a:xfrm>
            <a:off x="3278565" y="1731393"/>
            <a:ext cx="1890694" cy="738664"/>
          </a:xfrm>
          <a:prstGeom prst="rect">
            <a:avLst/>
          </a:prstGeom>
          <a:noFill/>
        </p:spPr>
        <p:txBody>
          <a:bodyPr wrap="square" lIns="0" tIns="0" rIns="0" bIns="0" rtlCol="0">
            <a:spAutoFit/>
          </a:bodyPr>
          <a:lstStyle/>
          <a:p>
            <a:pPr>
              <a:buSzPct val="100000"/>
            </a:pPr>
            <a:r>
              <a:rPr lang="en-US" sz="800" b="1">
                <a:solidFill>
                  <a:srgbClr val="43B02A"/>
                </a:solidFill>
                <a:latin typeface="Verdana" panose="020B0604030504040204" pitchFamily="34" charset="0"/>
                <a:ea typeface="Verdana" panose="020B0604030504040204" pitchFamily="34" charset="0"/>
              </a:rPr>
              <a:t>Social Objective Management</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Growth of electricity access</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Affordability of electricity tariff</a:t>
            </a:r>
          </a:p>
          <a:p>
            <a:pPr marL="171450" indent="-171450" algn="just">
              <a:buSzPct val="100000"/>
              <a:buFont typeface="Arial" panose="020B0604020202020204" pitchFamily="34" charset="0"/>
              <a:buChar char="•"/>
            </a:pPr>
            <a:r>
              <a:rPr lang="en-US" sz="800">
                <a:solidFill>
                  <a:srgbClr val="000000"/>
                </a:solidFill>
                <a:latin typeface="Verdana" panose="020B0604030504040204" pitchFamily="34" charset="0"/>
                <a:ea typeface="Verdana" panose="020B0604030504040204" pitchFamily="34" charset="0"/>
                <a:cs typeface="Calibri"/>
              </a:rPr>
              <a:t>Increase in per capita electricity consumption</a:t>
            </a:r>
          </a:p>
          <a:p>
            <a:pPr marL="171450" indent="-171450" algn="just">
              <a:buSzPct val="100000"/>
              <a:buFont typeface="Arial" panose="020B0604020202020204" pitchFamily="34" charset="0"/>
              <a:buChar char="•"/>
            </a:pPr>
            <a:endParaRPr lang="en-US" sz="800">
              <a:solidFill>
                <a:srgbClr val="000000"/>
              </a:solidFill>
              <a:latin typeface="Verdana" panose="020B0604030504040204" pitchFamily="34" charset="0"/>
              <a:ea typeface="Verdana" panose="020B0604030504040204" pitchFamily="34" charset="0"/>
              <a:cs typeface="Calibri"/>
            </a:endParaRPr>
          </a:p>
        </p:txBody>
      </p:sp>
      <p:cxnSp>
        <p:nvCxnSpPr>
          <p:cNvPr id="98" name="Elbow Connector 65">
            <a:extLst>
              <a:ext uri="{FF2B5EF4-FFF2-40B4-BE49-F238E27FC236}">
                <a16:creationId xmlns:a16="http://schemas.microsoft.com/office/drawing/2014/main" id="{F49635A4-4D03-B633-1E32-412AD4992BF4}"/>
              </a:ext>
            </a:extLst>
          </p:cNvPr>
          <p:cNvCxnSpPr>
            <a:cxnSpLocks/>
            <a:stCxn id="97" idx="1"/>
          </p:cNvCxnSpPr>
          <p:nvPr/>
        </p:nvCxnSpPr>
        <p:spPr>
          <a:xfrm rot="10800000" flipV="1">
            <a:off x="3176883" y="2100725"/>
            <a:ext cx="101682" cy="753818"/>
          </a:xfrm>
          <a:prstGeom prst="bentConnector2">
            <a:avLst/>
          </a:prstGeom>
          <a:noFill/>
          <a:ln w="9525" cap="flat" cmpd="sng" algn="ctr">
            <a:solidFill>
              <a:srgbClr val="43B02A"/>
            </a:solidFill>
            <a:prstDash val="solid"/>
          </a:ln>
          <a:effectLst/>
        </p:spPr>
      </p:cxnSp>
      <p:grpSp>
        <p:nvGrpSpPr>
          <p:cNvPr id="99" name="Group 398">
            <a:extLst>
              <a:ext uri="{FF2B5EF4-FFF2-40B4-BE49-F238E27FC236}">
                <a16:creationId xmlns:a16="http://schemas.microsoft.com/office/drawing/2014/main" id="{5247D53E-4437-F3A6-8700-D9E3052D2D58}"/>
              </a:ext>
            </a:extLst>
          </p:cNvPr>
          <p:cNvGrpSpPr>
            <a:grpSpLocks noChangeAspect="1"/>
          </p:cNvGrpSpPr>
          <p:nvPr/>
        </p:nvGrpSpPr>
        <p:grpSpPr bwMode="auto">
          <a:xfrm>
            <a:off x="3173656" y="2816878"/>
            <a:ext cx="320040" cy="320040"/>
            <a:chOff x="1172" y="1575"/>
            <a:chExt cx="340" cy="340"/>
          </a:xfrm>
          <a:solidFill>
            <a:sysClr val="window" lastClr="FFFFFF"/>
          </a:solidFill>
        </p:grpSpPr>
        <p:sp>
          <p:nvSpPr>
            <p:cNvPr id="100" name="Freeform 399">
              <a:extLst>
                <a:ext uri="{FF2B5EF4-FFF2-40B4-BE49-F238E27FC236}">
                  <a16:creationId xmlns:a16="http://schemas.microsoft.com/office/drawing/2014/main" id="{53023EEB-94FC-D2AA-BA9A-DB615714286A}"/>
                </a:ext>
              </a:extLst>
            </p:cNvPr>
            <p:cNvSpPr>
              <a:spLocks noEditPoints="1"/>
            </p:cNvSpPr>
            <p:nvPr/>
          </p:nvSpPr>
          <p:spPr bwMode="auto">
            <a:xfrm>
              <a:off x="1172" y="1575"/>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01" name="Freeform 400">
              <a:extLst>
                <a:ext uri="{FF2B5EF4-FFF2-40B4-BE49-F238E27FC236}">
                  <a16:creationId xmlns:a16="http://schemas.microsoft.com/office/drawing/2014/main" id="{5BF78F72-0AED-C023-75F2-DDB76498F02A}"/>
                </a:ext>
              </a:extLst>
            </p:cNvPr>
            <p:cNvSpPr>
              <a:spLocks noEditPoints="1"/>
            </p:cNvSpPr>
            <p:nvPr/>
          </p:nvSpPr>
          <p:spPr bwMode="auto">
            <a:xfrm>
              <a:off x="1250" y="1653"/>
              <a:ext cx="184" cy="184"/>
            </a:xfrm>
            <a:custGeom>
              <a:avLst/>
              <a:gdLst>
                <a:gd name="T0" fmla="*/ 22 w 277"/>
                <a:gd name="T1" fmla="*/ 53 h 277"/>
                <a:gd name="T2" fmla="*/ 64 w 277"/>
                <a:gd name="T3" fmla="*/ 9 h 277"/>
                <a:gd name="T4" fmla="*/ 0 w 277"/>
                <a:gd name="T5" fmla="*/ 64 h 277"/>
                <a:gd name="T6" fmla="*/ 11 w 277"/>
                <a:gd name="T7" fmla="*/ 117 h 277"/>
                <a:gd name="T8" fmla="*/ 64 w 277"/>
                <a:gd name="T9" fmla="*/ 107 h 277"/>
                <a:gd name="T10" fmla="*/ 53 w 277"/>
                <a:gd name="T11" fmla="*/ 53 h 277"/>
                <a:gd name="T12" fmla="*/ 21 w 277"/>
                <a:gd name="T13" fmla="*/ 96 h 277"/>
                <a:gd name="T14" fmla="*/ 43 w 277"/>
                <a:gd name="T15" fmla="*/ 75 h 277"/>
                <a:gd name="T16" fmla="*/ 149 w 277"/>
                <a:gd name="T17" fmla="*/ 107 h 277"/>
                <a:gd name="T18" fmla="*/ 139 w 277"/>
                <a:gd name="T19" fmla="*/ 53 h 277"/>
                <a:gd name="T20" fmla="*/ 140 w 277"/>
                <a:gd name="T21" fmla="*/ 21 h 277"/>
                <a:gd name="T22" fmla="*/ 137 w 277"/>
                <a:gd name="T23" fmla="*/ 0 h 277"/>
                <a:gd name="T24" fmla="*/ 85 w 277"/>
                <a:gd name="T25" fmla="*/ 107 h 277"/>
                <a:gd name="T26" fmla="*/ 139 w 277"/>
                <a:gd name="T27" fmla="*/ 117 h 277"/>
                <a:gd name="T28" fmla="*/ 128 w 277"/>
                <a:gd name="T29" fmla="*/ 96 h 277"/>
                <a:gd name="T30" fmla="*/ 107 w 277"/>
                <a:gd name="T31" fmla="*/ 75 h 277"/>
                <a:gd name="T32" fmla="*/ 128 w 277"/>
                <a:gd name="T33" fmla="*/ 96 h 277"/>
                <a:gd name="T34" fmla="*/ 224 w 277"/>
                <a:gd name="T35" fmla="*/ 160 h 277"/>
                <a:gd name="T36" fmla="*/ 213 w 277"/>
                <a:gd name="T37" fmla="*/ 213 h 277"/>
                <a:gd name="T38" fmla="*/ 255 w 277"/>
                <a:gd name="T39" fmla="*/ 224 h 277"/>
                <a:gd name="T40" fmla="*/ 213 w 277"/>
                <a:gd name="T41" fmla="*/ 268 h 277"/>
                <a:gd name="T42" fmla="*/ 225 w 277"/>
                <a:gd name="T43" fmla="*/ 277 h 277"/>
                <a:gd name="T44" fmla="*/ 277 w 277"/>
                <a:gd name="T45" fmla="*/ 171 h 277"/>
                <a:gd name="T46" fmla="*/ 235 w 277"/>
                <a:gd name="T47" fmla="*/ 181 h 277"/>
                <a:gd name="T48" fmla="*/ 256 w 277"/>
                <a:gd name="T49" fmla="*/ 203 h 277"/>
                <a:gd name="T50" fmla="*/ 235 w 277"/>
                <a:gd name="T51" fmla="*/ 181 h 277"/>
                <a:gd name="T52" fmla="*/ 139 w 277"/>
                <a:gd name="T53" fmla="*/ 160 h 277"/>
                <a:gd name="T54" fmla="*/ 128 w 277"/>
                <a:gd name="T55" fmla="*/ 213 h 277"/>
                <a:gd name="T56" fmla="*/ 170 w 277"/>
                <a:gd name="T57" fmla="*/ 224 h 277"/>
                <a:gd name="T58" fmla="*/ 128 w 277"/>
                <a:gd name="T59" fmla="*/ 268 h 277"/>
                <a:gd name="T60" fmla="*/ 140 w 277"/>
                <a:gd name="T61" fmla="*/ 277 h 277"/>
                <a:gd name="T62" fmla="*/ 192 w 277"/>
                <a:gd name="T63" fmla="*/ 171 h 277"/>
                <a:gd name="T64" fmla="*/ 149 w 277"/>
                <a:gd name="T65" fmla="*/ 181 h 277"/>
                <a:gd name="T66" fmla="*/ 171 w 277"/>
                <a:gd name="T67" fmla="*/ 203 h 277"/>
                <a:gd name="T68" fmla="*/ 149 w 277"/>
                <a:gd name="T69" fmla="*/ 18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7" h="277">
                  <a:moveTo>
                    <a:pt x="53" y="53"/>
                  </a:moveTo>
                  <a:cubicBezTo>
                    <a:pt x="22" y="53"/>
                    <a:pt x="22" y="53"/>
                    <a:pt x="22" y="53"/>
                  </a:cubicBezTo>
                  <a:cubicBezTo>
                    <a:pt x="27" y="26"/>
                    <a:pt x="51" y="22"/>
                    <a:pt x="55" y="21"/>
                  </a:cubicBezTo>
                  <a:cubicBezTo>
                    <a:pt x="60" y="21"/>
                    <a:pt x="65" y="15"/>
                    <a:pt x="64" y="9"/>
                  </a:cubicBezTo>
                  <a:cubicBezTo>
                    <a:pt x="63" y="4"/>
                    <a:pt x="58" y="0"/>
                    <a:pt x="52" y="0"/>
                  </a:cubicBezTo>
                  <a:cubicBezTo>
                    <a:pt x="34" y="2"/>
                    <a:pt x="0" y="18"/>
                    <a:pt x="0" y="64"/>
                  </a:cubicBezTo>
                  <a:cubicBezTo>
                    <a:pt x="0" y="107"/>
                    <a:pt x="0" y="107"/>
                    <a:pt x="0" y="107"/>
                  </a:cubicBezTo>
                  <a:cubicBezTo>
                    <a:pt x="0" y="113"/>
                    <a:pt x="5" y="117"/>
                    <a:pt x="11" y="117"/>
                  </a:cubicBezTo>
                  <a:cubicBezTo>
                    <a:pt x="53" y="117"/>
                    <a:pt x="53" y="117"/>
                    <a:pt x="53" y="117"/>
                  </a:cubicBezTo>
                  <a:cubicBezTo>
                    <a:pt x="59" y="117"/>
                    <a:pt x="64" y="113"/>
                    <a:pt x="64" y="107"/>
                  </a:cubicBezTo>
                  <a:cubicBezTo>
                    <a:pt x="64" y="64"/>
                    <a:pt x="64" y="64"/>
                    <a:pt x="64" y="64"/>
                  </a:cubicBezTo>
                  <a:cubicBezTo>
                    <a:pt x="64" y="58"/>
                    <a:pt x="59" y="53"/>
                    <a:pt x="53" y="53"/>
                  </a:cubicBezTo>
                  <a:close/>
                  <a:moveTo>
                    <a:pt x="43" y="96"/>
                  </a:moveTo>
                  <a:cubicBezTo>
                    <a:pt x="21" y="96"/>
                    <a:pt x="21" y="96"/>
                    <a:pt x="21" y="96"/>
                  </a:cubicBezTo>
                  <a:cubicBezTo>
                    <a:pt x="21" y="75"/>
                    <a:pt x="21" y="75"/>
                    <a:pt x="21" y="75"/>
                  </a:cubicBezTo>
                  <a:cubicBezTo>
                    <a:pt x="43" y="75"/>
                    <a:pt x="43" y="75"/>
                    <a:pt x="43" y="75"/>
                  </a:cubicBezTo>
                  <a:lnTo>
                    <a:pt x="43" y="96"/>
                  </a:lnTo>
                  <a:close/>
                  <a:moveTo>
                    <a:pt x="149" y="107"/>
                  </a:moveTo>
                  <a:cubicBezTo>
                    <a:pt x="149" y="64"/>
                    <a:pt x="149" y="64"/>
                    <a:pt x="149" y="64"/>
                  </a:cubicBezTo>
                  <a:cubicBezTo>
                    <a:pt x="149" y="58"/>
                    <a:pt x="145" y="53"/>
                    <a:pt x="139" y="53"/>
                  </a:cubicBezTo>
                  <a:cubicBezTo>
                    <a:pt x="108" y="53"/>
                    <a:pt x="108" y="53"/>
                    <a:pt x="108" y="53"/>
                  </a:cubicBezTo>
                  <a:cubicBezTo>
                    <a:pt x="113" y="26"/>
                    <a:pt x="137" y="22"/>
                    <a:pt x="140" y="21"/>
                  </a:cubicBezTo>
                  <a:cubicBezTo>
                    <a:pt x="146" y="21"/>
                    <a:pt x="150" y="15"/>
                    <a:pt x="149" y="9"/>
                  </a:cubicBezTo>
                  <a:cubicBezTo>
                    <a:pt x="149" y="4"/>
                    <a:pt x="143" y="0"/>
                    <a:pt x="137" y="0"/>
                  </a:cubicBezTo>
                  <a:cubicBezTo>
                    <a:pt x="119" y="2"/>
                    <a:pt x="85" y="18"/>
                    <a:pt x="85" y="64"/>
                  </a:cubicBezTo>
                  <a:cubicBezTo>
                    <a:pt x="85" y="107"/>
                    <a:pt x="85" y="107"/>
                    <a:pt x="85" y="107"/>
                  </a:cubicBezTo>
                  <a:cubicBezTo>
                    <a:pt x="85" y="113"/>
                    <a:pt x="90" y="117"/>
                    <a:pt x="96" y="117"/>
                  </a:cubicBezTo>
                  <a:cubicBezTo>
                    <a:pt x="139" y="117"/>
                    <a:pt x="139" y="117"/>
                    <a:pt x="139" y="117"/>
                  </a:cubicBezTo>
                  <a:cubicBezTo>
                    <a:pt x="145" y="117"/>
                    <a:pt x="149" y="113"/>
                    <a:pt x="149" y="107"/>
                  </a:cubicBezTo>
                  <a:close/>
                  <a:moveTo>
                    <a:pt x="128" y="96"/>
                  </a:moveTo>
                  <a:cubicBezTo>
                    <a:pt x="107" y="96"/>
                    <a:pt x="107" y="96"/>
                    <a:pt x="107" y="96"/>
                  </a:cubicBezTo>
                  <a:cubicBezTo>
                    <a:pt x="107" y="75"/>
                    <a:pt x="107" y="75"/>
                    <a:pt x="107" y="75"/>
                  </a:cubicBezTo>
                  <a:cubicBezTo>
                    <a:pt x="128" y="75"/>
                    <a:pt x="128" y="75"/>
                    <a:pt x="128" y="75"/>
                  </a:cubicBezTo>
                  <a:lnTo>
                    <a:pt x="128" y="96"/>
                  </a:lnTo>
                  <a:close/>
                  <a:moveTo>
                    <a:pt x="267" y="160"/>
                  </a:moveTo>
                  <a:cubicBezTo>
                    <a:pt x="224" y="160"/>
                    <a:pt x="224" y="160"/>
                    <a:pt x="224" y="160"/>
                  </a:cubicBezTo>
                  <a:cubicBezTo>
                    <a:pt x="218" y="160"/>
                    <a:pt x="213" y="165"/>
                    <a:pt x="213" y="171"/>
                  </a:cubicBezTo>
                  <a:cubicBezTo>
                    <a:pt x="213" y="213"/>
                    <a:pt x="213" y="213"/>
                    <a:pt x="213" y="213"/>
                  </a:cubicBezTo>
                  <a:cubicBezTo>
                    <a:pt x="213" y="219"/>
                    <a:pt x="218" y="224"/>
                    <a:pt x="224" y="224"/>
                  </a:cubicBezTo>
                  <a:cubicBezTo>
                    <a:pt x="255" y="224"/>
                    <a:pt x="255" y="224"/>
                    <a:pt x="255" y="224"/>
                  </a:cubicBezTo>
                  <a:cubicBezTo>
                    <a:pt x="250" y="252"/>
                    <a:pt x="226" y="256"/>
                    <a:pt x="223" y="256"/>
                  </a:cubicBezTo>
                  <a:cubicBezTo>
                    <a:pt x="217" y="257"/>
                    <a:pt x="213" y="262"/>
                    <a:pt x="213" y="268"/>
                  </a:cubicBezTo>
                  <a:cubicBezTo>
                    <a:pt x="214" y="273"/>
                    <a:pt x="219" y="277"/>
                    <a:pt x="224" y="277"/>
                  </a:cubicBezTo>
                  <a:cubicBezTo>
                    <a:pt x="224" y="277"/>
                    <a:pt x="225" y="277"/>
                    <a:pt x="225" y="277"/>
                  </a:cubicBezTo>
                  <a:cubicBezTo>
                    <a:pt x="243" y="275"/>
                    <a:pt x="277" y="259"/>
                    <a:pt x="277" y="213"/>
                  </a:cubicBezTo>
                  <a:cubicBezTo>
                    <a:pt x="277" y="171"/>
                    <a:pt x="277" y="171"/>
                    <a:pt x="277" y="171"/>
                  </a:cubicBezTo>
                  <a:cubicBezTo>
                    <a:pt x="277" y="165"/>
                    <a:pt x="273" y="160"/>
                    <a:pt x="267" y="160"/>
                  </a:cubicBezTo>
                  <a:close/>
                  <a:moveTo>
                    <a:pt x="235" y="181"/>
                  </a:moveTo>
                  <a:cubicBezTo>
                    <a:pt x="256" y="181"/>
                    <a:pt x="256" y="181"/>
                    <a:pt x="256" y="181"/>
                  </a:cubicBezTo>
                  <a:cubicBezTo>
                    <a:pt x="256" y="203"/>
                    <a:pt x="256" y="203"/>
                    <a:pt x="256" y="203"/>
                  </a:cubicBezTo>
                  <a:cubicBezTo>
                    <a:pt x="235" y="203"/>
                    <a:pt x="235" y="203"/>
                    <a:pt x="235" y="203"/>
                  </a:cubicBezTo>
                  <a:lnTo>
                    <a:pt x="235" y="181"/>
                  </a:lnTo>
                  <a:close/>
                  <a:moveTo>
                    <a:pt x="181" y="160"/>
                  </a:moveTo>
                  <a:cubicBezTo>
                    <a:pt x="139" y="160"/>
                    <a:pt x="139" y="160"/>
                    <a:pt x="139" y="160"/>
                  </a:cubicBezTo>
                  <a:cubicBezTo>
                    <a:pt x="133" y="160"/>
                    <a:pt x="128" y="165"/>
                    <a:pt x="128" y="171"/>
                  </a:cubicBezTo>
                  <a:cubicBezTo>
                    <a:pt x="128" y="213"/>
                    <a:pt x="128" y="213"/>
                    <a:pt x="128" y="213"/>
                  </a:cubicBezTo>
                  <a:cubicBezTo>
                    <a:pt x="128" y="219"/>
                    <a:pt x="133" y="224"/>
                    <a:pt x="139" y="224"/>
                  </a:cubicBezTo>
                  <a:cubicBezTo>
                    <a:pt x="170" y="224"/>
                    <a:pt x="170" y="224"/>
                    <a:pt x="170" y="224"/>
                  </a:cubicBezTo>
                  <a:cubicBezTo>
                    <a:pt x="165" y="252"/>
                    <a:pt x="141" y="256"/>
                    <a:pt x="137" y="256"/>
                  </a:cubicBezTo>
                  <a:cubicBezTo>
                    <a:pt x="132" y="257"/>
                    <a:pt x="127" y="262"/>
                    <a:pt x="128" y="268"/>
                  </a:cubicBezTo>
                  <a:cubicBezTo>
                    <a:pt x="129" y="273"/>
                    <a:pt x="133" y="277"/>
                    <a:pt x="139" y="277"/>
                  </a:cubicBezTo>
                  <a:cubicBezTo>
                    <a:pt x="139" y="277"/>
                    <a:pt x="139" y="277"/>
                    <a:pt x="140" y="277"/>
                  </a:cubicBezTo>
                  <a:cubicBezTo>
                    <a:pt x="158" y="275"/>
                    <a:pt x="192" y="259"/>
                    <a:pt x="192" y="213"/>
                  </a:cubicBezTo>
                  <a:cubicBezTo>
                    <a:pt x="192" y="171"/>
                    <a:pt x="192" y="171"/>
                    <a:pt x="192" y="171"/>
                  </a:cubicBezTo>
                  <a:cubicBezTo>
                    <a:pt x="192" y="165"/>
                    <a:pt x="187" y="160"/>
                    <a:pt x="181" y="160"/>
                  </a:cubicBezTo>
                  <a:close/>
                  <a:moveTo>
                    <a:pt x="149" y="181"/>
                  </a:moveTo>
                  <a:cubicBezTo>
                    <a:pt x="171" y="181"/>
                    <a:pt x="171" y="181"/>
                    <a:pt x="171" y="181"/>
                  </a:cubicBezTo>
                  <a:cubicBezTo>
                    <a:pt x="171" y="203"/>
                    <a:pt x="171" y="203"/>
                    <a:pt x="171" y="203"/>
                  </a:cubicBezTo>
                  <a:cubicBezTo>
                    <a:pt x="149" y="203"/>
                    <a:pt x="149" y="203"/>
                    <a:pt x="149" y="203"/>
                  </a:cubicBezTo>
                  <a:lnTo>
                    <a:pt x="149" y="18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grpSp>
        <p:nvGrpSpPr>
          <p:cNvPr id="102" name="Group 101">
            <a:extLst>
              <a:ext uri="{FF2B5EF4-FFF2-40B4-BE49-F238E27FC236}">
                <a16:creationId xmlns:a16="http://schemas.microsoft.com/office/drawing/2014/main" id="{11664A45-579C-7249-C794-F4209675B6C7}"/>
              </a:ext>
            </a:extLst>
          </p:cNvPr>
          <p:cNvGrpSpPr/>
          <p:nvPr/>
        </p:nvGrpSpPr>
        <p:grpSpPr>
          <a:xfrm>
            <a:off x="2512477" y="3209632"/>
            <a:ext cx="1016626" cy="965485"/>
            <a:chOff x="2093296" y="2973983"/>
            <a:chExt cx="2152706" cy="2123789"/>
          </a:xfrm>
        </p:grpSpPr>
        <p:sp>
          <p:nvSpPr>
            <p:cNvPr id="103" name="Freeform 57">
              <a:extLst>
                <a:ext uri="{FF2B5EF4-FFF2-40B4-BE49-F238E27FC236}">
                  <a16:creationId xmlns:a16="http://schemas.microsoft.com/office/drawing/2014/main" id="{57DC7CA8-093E-DF6E-99B2-793694B1D6A1}"/>
                </a:ext>
              </a:extLst>
            </p:cNvPr>
            <p:cNvSpPr>
              <a:spLocks noChangeAspect="1" noEditPoints="1"/>
            </p:cNvSpPr>
            <p:nvPr/>
          </p:nvSpPr>
          <p:spPr bwMode="auto">
            <a:xfrm>
              <a:off x="2878942" y="3738066"/>
              <a:ext cx="571189" cy="571061"/>
            </a:xfrm>
            <a:custGeom>
              <a:avLst/>
              <a:gdLst>
                <a:gd name="T0" fmla="*/ 211 w 233"/>
                <a:gd name="T1" fmla="*/ 87 h 267"/>
                <a:gd name="T2" fmla="*/ 183 w 233"/>
                <a:gd name="T3" fmla="*/ 128 h 267"/>
                <a:gd name="T4" fmla="*/ 124 w 233"/>
                <a:gd name="T5" fmla="*/ 7 h 267"/>
                <a:gd name="T6" fmla="*/ 3 w 233"/>
                <a:gd name="T7" fmla="*/ 71 h 267"/>
                <a:gd name="T8" fmla="*/ 14 w 233"/>
                <a:gd name="T9" fmla="*/ 156 h 267"/>
                <a:gd name="T10" fmla="*/ 152 w 233"/>
                <a:gd name="T11" fmla="*/ 210 h 267"/>
                <a:gd name="T12" fmla="*/ 184 w 233"/>
                <a:gd name="T13" fmla="*/ 131 h 267"/>
                <a:gd name="T14" fmla="*/ 148 w 233"/>
                <a:gd name="T15" fmla="*/ 70 h 267"/>
                <a:gd name="T16" fmla="*/ 15 w 233"/>
                <a:gd name="T17" fmla="*/ 116 h 267"/>
                <a:gd name="T18" fmla="*/ 14 w 233"/>
                <a:gd name="T19" fmla="*/ 110 h 267"/>
                <a:gd name="T20" fmla="*/ 15 w 233"/>
                <a:gd name="T21" fmla="*/ 104 h 267"/>
                <a:gd name="T22" fmla="*/ 31 w 233"/>
                <a:gd name="T23" fmla="*/ 105 h 267"/>
                <a:gd name="T24" fmla="*/ 24 w 233"/>
                <a:gd name="T25" fmla="*/ 105 h 267"/>
                <a:gd name="T26" fmla="*/ 32 w 233"/>
                <a:gd name="T27" fmla="*/ 107 h 267"/>
                <a:gd name="T28" fmla="*/ 74 w 233"/>
                <a:gd name="T29" fmla="*/ 146 h 267"/>
                <a:gd name="T30" fmla="*/ 76 w 233"/>
                <a:gd name="T31" fmla="*/ 167 h 267"/>
                <a:gd name="T32" fmla="*/ 132 w 233"/>
                <a:gd name="T33" fmla="*/ 221 h 267"/>
                <a:gd name="T34" fmla="*/ 131 w 233"/>
                <a:gd name="T35" fmla="*/ 223 h 267"/>
                <a:gd name="T36" fmla="*/ 134 w 233"/>
                <a:gd name="T37" fmla="*/ 210 h 267"/>
                <a:gd name="T38" fmla="*/ 142 w 233"/>
                <a:gd name="T39" fmla="*/ 229 h 267"/>
                <a:gd name="T40" fmla="*/ 144 w 233"/>
                <a:gd name="T41" fmla="*/ 220 h 267"/>
                <a:gd name="T42" fmla="*/ 151 w 233"/>
                <a:gd name="T43" fmla="*/ 223 h 267"/>
                <a:gd name="T44" fmla="*/ 144 w 233"/>
                <a:gd name="T45" fmla="*/ 193 h 267"/>
                <a:gd name="T46" fmla="*/ 128 w 233"/>
                <a:gd name="T47" fmla="*/ 216 h 267"/>
                <a:gd name="T48" fmla="*/ 109 w 233"/>
                <a:gd name="T49" fmla="*/ 176 h 267"/>
                <a:gd name="T50" fmla="*/ 88 w 233"/>
                <a:gd name="T51" fmla="*/ 156 h 267"/>
                <a:gd name="T52" fmla="*/ 163 w 233"/>
                <a:gd name="T53" fmla="*/ 116 h 267"/>
                <a:gd name="T54" fmla="*/ 215 w 233"/>
                <a:gd name="T55" fmla="*/ 100 h 267"/>
                <a:gd name="T56" fmla="*/ 221 w 233"/>
                <a:gd name="T57" fmla="*/ 109 h 267"/>
                <a:gd name="T58" fmla="*/ 218 w 233"/>
                <a:gd name="T59" fmla="*/ 90 h 267"/>
                <a:gd name="T60" fmla="*/ 228 w 233"/>
                <a:gd name="T61" fmla="*/ 102 h 267"/>
                <a:gd name="T62" fmla="*/ 229 w 233"/>
                <a:gd name="T63" fmla="*/ 100 h 267"/>
                <a:gd name="T64" fmla="*/ 221 w 233"/>
                <a:gd name="T65" fmla="*/ 89 h 267"/>
                <a:gd name="T66" fmla="*/ 209 w 233"/>
                <a:gd name="T67" fmla="*/ 92 h 267"/>
                <a:gd name="T68" fmla="*/ 208 w 233"/>
                <a:gd name="T69" fmla="*/ 102 h 267"/>
                <a:gd name="T70" fmla="*/ 100 w 233"/>
                <a:gd name="T71" fmla="*/ 130 h 267"/>
                <a:gd name="T72" fmla="*/ 111 w 233"/>
                <a:gd name="T73" fmla="*/ 133 h 267"/>
                <a:gd name="T74" fmla="*/ 101 w 233"/>
                <a:gd name="T75" fmla="*/ 130 h 267"/>
                <a:gd name="T76" fmla="*/ 103 w 233"/>
                <a:gd name="T77" fmla="*/ 123 h 267"/>
                <a:gd name="T78" fmla="*/ 105 w 233"/>
                <a:gd name="T79" fmla="*/ 132 h 267"/>
                <a:gd name="T80" fmla="*/ 105 w 233"/>
                <a:gd name="T81" fmla="*/ 132 h 267"/>
                <a:gd name="T82" fmla="*/ 108 w 233"/>
                <a:gd name="T83" fmla="*/ 122 h 267"/>
                <a:gd name="T84" fmla="*/ 109 w 233"/>
                <a:gd name="T85" fmla="*/ 131 h 267"/>
                <a:gd name="T86" fmla="*/ 110 w 233"/>
                <a:gd name="T87" fmla="*/ 122 h 267"/>
                <a:gd name="T88" fmla="*/ 114 w 233"/>
                <a:gd name="T89" fmla="*/ 124 h 267"/>
                <a:gd name="T90" fmla="*/ 117 w 233"/>
                <a:gd name="T91" fmla="*/ 124 h 267"/>
                <a:gd name="T92" fmla="*/ 119 w 233"/>
                <a:gd name="T93" fmla="*/ 124 h 267"/>
                <a:gd name="T94" fmla="*/ 117 w 233"/>
                <a:gd name="T95" fmla="*/ 124 h 267"/>
                <a:gd name="T96" fmla="*/ 119 w 233"/>
                <a:gd name="T97" fmla="*/ 121 h 267"/>
                <a:gd name="T98" fmla="*/ 122 w 233"/>
                <a:gd name="T99" fmla="*/ 131 h 267"/>
                <a:gd name="T100" fmla="*/ 122 w 233"/>
                <a:gd name="T101" fmla="*/ 122 h 267"/>
                <a:gd name="T102" fmla="*/ 119 w 233"/>
                <a:gd name="T103" fmla="*/ 123 h 267"/>
                <a:gd name="T104" fmla="*/ 114 w 233"/>
                <a:gd name="T105" fmla="*/ 141 h 267"/>
                <a:gd name="T106" fmla="*/ 117 w 233"/>
                <a:gd name="T107" fmla="*/ 140 h 267"/>
                <a:gd name="T108" fmla="*/ 113 w 233"/>
                <a:gd name="T109" fmla="*/ 131 h 267"/>
                <a:gd name="T110" fmla="*/ 123 w 233"/>
                <a:gd name="T111" fmla="*/ 126 h 267"/>
                <a:gd name="T112" fmla="*/ 127 w 233"/>
                <a:gd name="T113" fmla="*/ 122 h 267"/>
                <a:gd name="T114" fmla="*/ 127 w 233"/>
                <a:gd name="T115" fmla="*/ 122 h 267"/>
                <a:gd name="T116" fmla="*/ 120 w 233"/>
                <a:gd name="T117" fmla="*/ 123 h 267"/>
                <a:gd name="T118" fmla="*/ 117 w 233"/>
                <a:gd name="T119" fmla="*/ 112 h 267"/>
                <a:gd name="T120" fmla="*/ 105 w 233"/>
                <a:gd name="T121" fmla="*/ 121 h 267"/>
                <a:gd name="T122" fmla="*/ 114 w 233"/>
                <a:gd name="T123" fmla="*/ 1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3" h="267">
                  <a:moveTo>
                    <a:pt x="207" y="90"/>
                  </a:moveTo>
                  <a:cubicBezTo>
                    <a:pt x="207" y="90"/>
                    <a:pt x="207" y="90"/>
                    <a:pt x="207" y="90"/>
                  </a:cubicBezTo>
                  <a:cubicBezTo>
                    <a:pt x="207" y="90"/>
                    <a:pt x="207" y="90"/>
                    <a:pt x="207" y="90"/>
                  </a:cubicBezTo>
                  <a:close/>
                  <a:moveTo>
                    <a:pt x="230" y="107"/>
                  </a:moveTo>
                  <a:cubicBezTo>
                    <a:pt x="233" y="101"/>
                    <a:pt x="233" y="95"/>
                    <a:pt x="230" y="89"/>
                  </a:cubicBezTo>
                  <a:cubicBezTo>
                    <a:pt x="228" y="88"/>
                    <a:pt x="226" y="86"/>
                    <a:pt x="224" y="86"/>
                  </a:cubicBezTo>
                  <a:cubicBezTo>
                    <a:pt x="225" y="84"/>
                    <a:pt x="226" y="81"/>
                    <a:pt x="226" y="79"/>
                  </a:cubicBezTo>
                  <a:cubicBezTo>
                    <a:pt x="228" y="71"/>
                    <a:pt x="226" y="58"/>
                    <a:pt x="217" y="54"/>
                  </a:cubicBezTo>
                  <a:cubicBezTo>
                    <a:pt x="218" y="56"/>
                    <a:pt x="218" y="58"/>
                    <a:pt x="216" y="57"/>
                  </a:cubicBezTo>
                  <a:cubicBezTo>
                    <a:pt x="223" y="60"/>
                    <a:pt x="225" y="69"/>
                    <a:pt x="225" y="75"/>
                  </a:cubicBezTo>
                  <a:cubicBezTo>
                    <a:pt x="225" y="78"/>
                    <a:pt x="224" y="82"/>
                    <a:pt x="223" y="85"/>
                  </a:cubicBezTo>
                  <a:cubicBezTo>
                    <a:pt x="219" y="84"/>
                    <a:pt x="215" y="84"/>
                    <a:pt x="212" y="86"/>
                  </a:cubicBezTo>
                  <a:cubicBezTo>
                    <a:pt x="211" y="86"/>
                    <a:pt x="211" y="86"/>
                    <a:pt x="211" y="87"/>
                  </a:cubicBezTo>
                  <a:cubicBezTo>
                    <a:pt x="210" y="87"/>
                    <a:pt x="208" y="89"/>
                    <a:pt x="207" y="90"/>
                  </a:cubicBezTo>
                  <a:cubicBezTo>
                    <a:pt x="207" y="90"/>
                    <a:pt x="208" y="90"/>
                    <a:pt x="208" y="90"/>
                  </a:cubicBezTo>
                  <a:cubicBezTo>
                    <a:pt x="207" y="91"/>
                    <a:pt x="207" y="91"/>
                    <a:pt x="208" y="91"/>
                  </a:cubicBezTo>
                  <a:cubicBezTo>
                    <a:pt x="208" y="91"/>
                    <a:pt x="209" y="91"/>
                    <a:pt x="209" y="92"/>
                  </a:cubicBezTo>
                  <a:cubicBezTo>
                    <a:pt x="209" y="92"/>
                    <a:pt x="209" y="92"/>
                    <a:pt x="209" y="92"/>
                  </a:cubicBezTo>
                  <a:cubicBezTo>
                    <a:pt x="209" y="91"/>
                    <a:pt x="208" y="91"/>
                    <a:pt x="208" y="91"/>
                  </a:cubicBezTo>
                  <a:cubicBezTo>
                    <a:pt x="208" y="91"/>
                    <a:pt x="207" y="91"/>
                    <a:pt x="207" y="92"/>
                  </a:cubicBezTo>
                  <a:cubicBezTo>
                    <a:pt x="207" y="92"/>
                    <a:pt x="207" y="91"/>
                    <a:pt x="207" y="91"/>
                  </a:cubicBezTo>
                  <a:cubicBezTo>
                    <a:pt x="204" y="95"/>
                    <a:pt x="204" y="100"/>
                    <a:pt x="207" y="104"/>
                  </a:cubicBezTo>
                  <a:cubicBezTo>
                    <a:pt x="206" y="105"/>
                    <a:pt x="207" y="105"/>
                    <a:pt x="207" y="106"/>
                  </a:cubicBezTo>
                  <a:cubicBezTo>
                    <a:pt x="208" y="106"/>
                    <a:pt x="208" y="107"/>
                    <a:pt x="209" y="107"/>
                  </a:cubicBezTo>
                  <a:cubicBezTo>
                    <a:pt x="203" y="113"/>
                    <a:pt x="197" y="118"/>
                    <a:pt x="190" y="123"/>
                  </a:cubicBezTo>
                  <a:cubicBezTo>
                    <a:pt x="188" y="124"/>
                    <a:pt x="186" y="126"/>
                    <a:pt x="183" y="128"/>
                  </a:cubicBezTo>
                  <a:cubicBezTo>
                    <a:pt x="173" y="120"/>
                    <a:pt x="162" y="112"/>
                    <a:pt x="152" y="106"/>
                  </a:cubicBezTo>
                  <a:cubicBezTo>
                    <a:pt x="151" y="101"/>
                    <a:pt x="151" y="97"/>
                    <a:pt x="151" y="92"/>
                  </a:cubicBezTo>
                  <a:cubicBezTo>
                    <a:pt x="151" y="85"/>
                    <a:pt x="151" y="77"/>
                    <a:pt x="150" y="69"/>
                  </a:cubicBezTo>
                  <a:cubicBezTo>
                    <a:pt x="155" y="67"/>
                    <a:pt x="160" y="65"/>
                    <a:pt x="165" y="63"/>
                  </a:cubicBezTo>
                  <a:cubicBezTo>
                    <a:pt x="180" y="58"/>
                    <a:pt x="199" y="52"/>
                    <a:pt x="216" y="57"/>
                  </a:cubicBezTo>
                  <a:cubicBezTo>
                    <a:pt x="215" y="57"/>
                    <a:pt x="216" y="54"/>
                    <a:pt x="217" y="54"/>
                  </a:cubicBezTo>
                  <a:cubicBezTo>
                    <a:pt x="201" y="50"/>
                    <a:pt x="184" y="54"/>
                    <a:pt x="169" y="60"/>
                  </a:cubicBezTo>
                  <a:cubicBezTo>
                    <a:pt x="163" y="62"/>
                    <a:pt x="156" y="64"/>
                    <a:pt x="150" y="67"/>
                  </a:cubicBezTo>
                  <a:cubicBezTo>
                    <a:pt x="149" y="54"/>
                    <a:pt x="148" y="41"/>
                    <a:pt x="143" y="29"/>
                  </a:cubicBezTo>
                  <a:cubicBezTo>
                    <a:pt x="140" y="20"/>
                    <a:pt x="134" y="12"/>
                    <a:pt x="126" y="6"/>
                  </a:cubicBezTo>
                  <a:cubicBezTo>
                    <a:pt x="121" y="2"/>
                    <a:pt x="110" y="0"/>
                    <a:pt x="104" y="4"/>
                  </a:cubicBezTo>
                  <a:cubicBezTo>
                    <a:pt x="105" y="4"/>
                    <a:pt x="106" y="5"/>
                    <a:pt x="105" y="6"/>
                  </a:cubicBezTo>
                  <a:cubicBezTo>
                    <a:pt x="110" y="2"/>
                    <a:pt x="118" y="5"/>
                    <a:pt x="124" y="7"/>
                  </a:cubicBezTo>
                  <a:cubicBezTo>
                    <a:pt x="131" y="11"/>
                    <a:pt x="135" y="19"/>
                    <a:pt x="138" y="24"/>
                  </a:cubicBezTo>
                  <a:cubicBezTo>
                    <a:pt x="145" y="37"/>
                    <a:pt x="146" y="51"/>
                    <a:pt x="147" y="66"/>
                  </a:cubicBezTo>
                  <a:cubicBezTo>
                    <a:pt x="147" y="66"/>
                    <a:pt x="147" y="67"/>
                    <a:pt x="148" y="68"/>
                  </a:cubicBezTo>
                  <a:cubicBezTo>
                    <a:pt x="136" y="73"/>
                    <a:pt x="126" y="78"/>
                    <a:pt x="115" y="84"/>
                  </a:cubicBezTo>
                  <a:cubicBezTo>
                    <a:pt x="106" y="78"/>
                    <a:pt x="97" y="73"/>
                    <a:pt x="87" y="69"/>
                  </a:cubicBezTo>
                  <a:cubicBezTo>
                    <a:pt x="85" y="68"/>
                    <a:pt x="83" y="67"/>
                    <a:pt x="81" y="66"/>
                  </a:cubicBezTo>
                  <a:cubicBezTo>
                    <a:pt x="83" y="56"/>
                    <a:pt x="85" y="46"/>
                    <a:pt x="88" y="35"/>
                  </a:cubicBezTo>
                  <a:cubicBezTo>
                    <a:pt x="91" y="25"/>
                    <a:pt x="96" y="13"/>
                    <a:pt x="105" y="6"/>
                  </a:cubicBezTo>
                  <a:cubicBezTo>
                    <a:pt x="104" y="7"/>
                    <a:pt x="102" y="5"/>
                    <a:pt x="104" y="4"/>
                  </a:cubicBezTo>
                  <a:cubicBezTo>
                    <a:pt x="91" y="14"/>
                    <a:pt x="87" y="31"/>
                    <a:pt x="82" y="45"/>
                  </a:cubicBezTo>
                  <a:cubicBezTo>
                    <a:pt x="81" y="52"/>
                    <a:pt x="80" y="58"/>
                    <a:pt x="79" y="65"/>
                  </a:cubicBezTo>
                  <a:cubicBezTo>
                    <a:pt x="67" y="59"/>
                    <a:pt x="55" y="54"/>
                    <a:pt x="41" y="53"/>
                  </a:cubicBezTo>
                  <a:cubicBezTo>
                    <a:pt x="28" y="52"/>
                    <a:pt x="6" y="55"/>
                    <a:pt x="3" y="71"/>
                  </a:cubicBezTo>
                  <a:cubicBezTo>
                    <a:pt x="0" y="83"/>
                    <a:pt x="6" y="93"/>
                    <a:pt x="14" y="102"/>
                  </a:cubicBezTo>
                  <a:cubicBezTo>
                    <a:pt x="14" y="102"/>
                    <a:pt x="14" y="102"/>
                    <a:pt x="13" y="102"/>
                  </a:cubicBezTo>
                  <a:cubicBezTo>
                    <a:pt x="14" y="102"/>
                    <a:pt x="14" y="102"/>
                    <a:pt x="14" y="102"/>
                  </a:cubicBezTo>
                  <a:cubicBezTo>
                    <a:pt x="14" y="103"/>
                    <a:pt x="14" y="103"/>
                    <a:pt x="14" y="103"/>
                  </a:cubicBezTo>
                  <a:cubicBezTo>
                    <a:pt x="14" y="103"/>
                    <a:pt x="14" y="103"/>
                    <a:pt x="14" y="103"/>
                  </a:cubicBezTo>
                  <a:cubicBezTo>
                    <a:pt x="14" y="103"/>
                    <a:pt x="13" y="103"/>
                    <a:pt x="13" y="104"/>
                  </a:cubicBezTo>
                  <a:cubicBezTo>
                    <a:pt x="13" y="103"/>
                    <a:pt x="13" y="103"/>
                    <a:pt x="13" y="103"/>
                  </a:cubicBezTo>
                  <a:cubicBezTo>
                    <a:pt x="11" y="107"/>
                    <a:pt x="11" y="113"/>
                    <a:pt x="13" y="117"/>
                  </a:cubicBezTo>
                  <a:cubicBezTo>
                    <a:pt x="13" y="117"/>
                    <a:pt x="13" y="118"/>
                    <a:pt x="14" y="118"/>
                  </a:cubicBezTo>
                  <a:cubicBezTo>
                    <a:pt x="14" y="119"/>
                    <a:pt x="15" y="120"/>
                    <a:pt x="16" y="120"/>
                  </a:cubicBezTo>
                  <a:cubicBezTo>
                    <a:pt x="21" y="126"/>
                    <a:pt x="30" y="124"/>
                    <a:pt x="35" y="120"/>
                  </a:cubicBezTo>
                  <a:cubicBezTo>
                    <a:pt x="39" y="123"/>
                    <a:pt x="42" y="125"/>
                    <a:pt x="46" y="128"/>
                  </a:cubicBezTo>
                  <a:cubicBezTo>
                    <a:pt x="34" y="136"/>
                    <a:pt x="22" y="144"/>
                    <a:pt x="14" y="156"/>
                  </a:cubicBezTo>
                  <a:cubicBezTo>
                    <a:pt x="7" y="167"/>
                    <a:pt x="0" y="184"/>
                    <a:pt x="9" y="196"/>
                  </a:cubicBezTo>
                  <a:cubicBezTo>
                    <a:pt x="18" y="210"/>
                    <a:pt x="39" y="205"/>
                    <a:pt x="51" y="201"/>
                  </a:cubicBezTo>
                  <a:cubicBezTo>
                    <a:pt x="60" y="198"/>
                    <a:pt x="68" y="195"/>
                    <a:pt x="75" y="192"/>
                  </a:cubicBezTo>
                  <a:cubicBezTo>
                    <a:pt x="76" y="203"/>
                    <a:pt x="77" y="216"/>
                    <a:pt x="81" y="227"/>
                  </a:cubicBezTo>
                  <a:cubicBezTo>
                    <a:pt x="87" y="240"/>
                    <a:pt x="100" y="260"/>
                    <a:pt x="118" y="256"/>
                  </a:cubicBezTo>
                  <a:cubicBezTo>
                    <a:pt x="128" y="252"/>
                    <a:pt x="135" y="241"/>
                    <a:pt x="138" y="233"/>
                  </a:cubicBezTo>
                  <a:cubicBezTo>
                    <a:pt x="139" y="233"/>
                    <a:pt x="139" y="232"/>
                    <a:pt x="139" y="232"/>
                  </a:cubicBezTo>
                  <a:cubicBezTo>
                    <a:pt x="143" y="232"/>
                    <a:pt x="148" y="230"/>
                    <a:pt x="151" y="227"/>
                  </a:cubicBezTo>
                  <a:cubicBezTo>
                    <a:pt x="151" y="227"/>
                    <a:pt x="151" y="226"/>
                    <a:pt x="151" y="226"/>
                  </a:cubicBezTo>
                  <a:cubicBezTo>
                    <a:pt x="152" y="226"/>
                    <a:pt x="152" y="226"/>
                    <a:pt x="152" y="226"/>
                  </a:cubicBezTo>
                  <a:cubicBezTo>
                    <a:pt x="152" y="225"/>
                    <a:pt x="153" y="224"/>
                    <a:pt x="153" y="224"/>
                  </a:cubicBezTo>
                  <a:cubicBezTo>
                    <a:pt x="153" y="223"/>
                    <a:pt x="154" y="223"/>
                    <a:pt x="154" y="222"/>
                  </a:cubicBezTo>
                  <a:cubicBezTo>
                    <a:pt x="155" y="218"/>
                    <a:pt x="154" y="213"/>
                    <a:pt x="152" y="210"/>
                  </a:cubicBezTo>
                  <a:cubicBezTo>
                    <a:pt x="150" y="208"/>
                    <a:pt x="147" y="206"/>
                    <a:pt x="144" y="206"/>
                  </a:cubicBezTo>
                  <a:cubicBezTo>
                    <a:pt x="145" y="200"/>
                    <a:pt x="146" y="195"/>
                    <a:pt x="147" y="190"/>
                  </a:cubicBezTo>
                  <a:cubicBezTo>
                    <a:pt x="160" y="197"/>
                    <a:pt x="174" y="203"/>
                    <a:pt x="189" y="204"/>
                  </a:cubicBezTo>
                  <a:cubicBezTo>
                    <a:pt x="198" y="206"/>
                    <a:pt x="209" y="206"/>
                    <a:pt x="217" y="201"/>
                  </a:cubicBezTo>
                  <a:cubicBezTo>
                    <a:pt x="224" y="198"/>
                    <a:pt x="229" y="190"/>
                    <a:pt x="229" y="183"/>
                  </a:cubicBezTo>
                  <a:cubicBezTo>
                    <a:pt x="229" y="183"/>
                    <a:pt x="229" y="183"/>
                    <a:pt x="229" y="183"/>
                  </a:cubicBezTo>
                  <a:cubicBezTo>
                    <a:pt x="229" y="184"/>
                    <a:pt x="227" y="184"/>
                    <a:pt x="227" y="183"/>
                  </a:cubicBezTo>
                  <a:cubicBezTo>
                    <a:pt x="227" y="190"/>
                    <a:pt x="220" y="197"/>
                    <a:pt x="215" y="199"/>
                  </a:cubicBezTo>
                  <a:cubicBezTo>
                    <a:pt x="208" y="203"/>
                    <a:pt x="198" y="203"/>
                    <a:pt x="190" y="202"/>
                  </a:cubicBezTo>
                  <a:cubicBezTo>
                    <a:pt x="175" y="201"/>
                    <a:pt x="160" y="194"/>
                    <a:pt x="147" y="187"/>
                  </a:cubicBezTo>
                  <a:cubicBezTo>
                    <a:pt x="149" y="176"/>
                    <a:pt x="150" y="164"/>
                    <a:pt x="151" y="152"/>
                  </a:cubicBezTo>
                  <a:cubicBezTo>
                    <a:pt x="152" y="152"/>
                    <a:pt x="152" y="152"/>
                    <a:pt x="152" y="152"/>
                  </a:cubicBezTo>
                  <a:cubicBezTo>
                    <a:pt x="163" y="144"/>
                    <a:pt x="174" y="138"/>
                    <a:pt x="184" y="131"/>
                  </a:cubicBezTo>
                  <a:cubicBezTo>
                    <a:pt x="195" y="139"/>
                    <a:pt x="205" y="148"/>
                    <a:pt x="214" y="158"/>
                  </a:cubicBezTo>
                  <a:cubicBezTo>
                    <a:pt x="219" y="165"/>
                    <a:pt x="225" y="174"/>
                    <a:pt x="227" y="183"/>
                  </a:cubicBezTo>
                  <a:cubicBezTo>
                    <a:pt x="227" y="181"/>
                    <a:pt x="229" y="181"/>
                    <a:pt x="229" y="183"/>
                  </a:cubicBezTo>
                  <a:cubicBezTo>
                    <a:pt x="229" y="182"/>
                    <a:pt x="229" y="182"/>
                    <a:pt x="229" y="182"/>
                  </a:cubicBezTo>
                  <a:cubicBezTo>
                    <a:pt x="226" y="166"/>
                    <a:pt x="213" y="153"/>
                    <a:pt x="201" y="143"/>
                  </a:cubicBezTo>
                  <a:cubicBezTo>
                    <a:pt x="196" y="138"/>
                    <a:pt x="191" y="134"/>
                    <a:pt x="186" y="129"/>
                  </a:cubicBezTo>
                  <a:cubicBezTo>
                    <a:pt x="195" y="123"/>
                    <a:pt x="203" y="117"/>
                    <a:pt x="211" y="109"/>
                  </a:cubicBezTo>
                  <a:cubicBezTo>
                    <a:pt x="216" y="113"/>
                    <a:pt x="226" y="111"/>
                    <a:pt x="230" y="107"/>
                  </a:cubicBezTo>
                  <a:close/>
                  <a:moveTo>
                    <a:pt x="148" y="70"/>
                  </a:moveTo>
                  <a:cubicBezTo>
                    <a:pt x="148" y="81"/>
                    <a:pt x="149" y="93"/>
                    <a:pt x="149" y="104"/>
                  </a:cubicBezTo>
                  <a:cubicBezTo>
                    <a:pt x="148" y="104"/>
                    <a:pt x="147" y="103"/>
                    <a:pt x="146" y="102"/>
                  </a:cubicBezTo>
                  <a:cubicBezTo>
                    <a:pt x="137" y="96"/>
                    <a:pt x="127" y="90"/>
                    <a:pt x="117" y="85"/>
                  </a:cubicBezTo>
                  <a:cubicBezTo>
                    <a:pt x="127" y="79"/>
                    <a:pt x="137" y="75"/>
                    <a:pt x="148" y="70"/>
                  </a:cubicBezTo>
                  <a:close/>
                  <a:moveTo>
                    <a:pt x="81" y="68"/>
                  </a:moveTo>
                  <a:cubicBezTo>
                    <a:pt x="88" y="71"/>
                    <a:pt x="96" y="76"/>
                    <a:pt x="103" y="80"/>
                  </a:cubicBezTo>
                  <a:cubicBezTo>
                    <a:pt x="106" y="82"/>
                    <a:pt x="109" y="83"/>
                    <a:pt x="113" y="85"/>
                  </a:cubicBezTo>
                  <a:cubicBezTo>
                    <a:pt x="111" y="86"/>
                    <a:pt x="109" y="87"/>
                    <a:pt x="107" y="88"/>
                  </a:cubicBezTo>
                  <a:cubicBezTo>
                    <a:pt x="97" y="94"/>
                    <a:pt x="86" y="100"/>
                    <a:pt x="76" y="107"/>
                  </a:cubicBezTo>
                  <a:cubicBezTo>
                    <a:pt x="77" y="104"/>
                    <a:pt x="77" y="102"/>
                    <a:pt x="77" y="99"/>
                  </a:cubicBezTo>
                  <a:cubicBezTo>
                    <a:pt x="78" y="89"/>
                    <a:pt x="79" y="78"/>
                    <a:pt x="81" y="68"/>
                  </a:cubicBezTo>
                  <a:close/>
                  <a:moveTo>
                    <a:pt x="14" y="111"/>
                  </a:moveTo>
                  <a:cubicBezTo>
                    <a:pt x="14" y="111"/>
                    <a:pt x="14" y="111"/>
                    <a:pt x="14" y="111"/>
                  </a:cubicBezTo>
                  <a:cubicBezTo>
                    <a:pt x="14" y="111"/>
                    <a:pt x="14" y="111"/>
                    <a:pt x="14" y="111"/>
                  </a:cubicBezTo>
                  <a:cubicBezTo>
                    <a:pt x="14" y="111"/>
                    <a:pt x="14" y="112"/>
                    <a:pt x="15" y="112"/>
                  </a:cubicBezTo>
                  <a:cubicBezTo>
                    <a:pt x="14" y="112"/>
                    <a:pt x="14" y="112"/>
                    <a:pt x="14" y="111"/>
                  </a:cubicBezTo>
                  <a:close/>
                  <a:moveTo>
                    <a:pt x="15" y="116"/>
                  </a:moveTo>
                  <a:cubicBezTo>
                    <a:pt x="15" y="115"/>
                    <a:pt x="15" y="115"/>
                    <a:pt x="15" y="114"/>
                  </a:cubicBezTo>
                  <a:cubicBezTo>
                    <a:pt x="16" y="115"/>
                    <a:pt x="17" y="115"/>
                    <a:pt x="18" y="116"/>
                  </a:cubicBezTo>
                  <a:cubicBezTo>
                    <a:pt x="17" y="116"/>
                    <a:pt x="16" y="116"/>
                    <a:pt x="15" y="116"/>
                  </a:cubicBezTo>
                  <a:close/>
                  <a:moveTo>
                    <a:pt x="17" y="118"/>
                  </a:moveTo>
                  <a:cubicBezTo>
                    <a:pt x="17" y="118"/>
                    <a:pt x="17" y="118"/>
                    <a:pt x="17" y="118"/>
                  </a:cubicBezTo>
                  <a:cubicBezTo>
                    <a:pt x="18" y="118"/>
                    <a:pt x="18" y="119"/>
                    <a:pt x="19" y="120"/>
                  </a:cubicBezTo>
                  <a:cubicBezTo>
                    <a:pt x="18" y="119"/>
                    <a:pt x="17" y="119"/>
                    <a:pt x="17" y="118"/>
                  </a:cubicBezTo>
                  <a:close/>
                  <a:moveTo>
                    <a:pt x="25" y="121"/>
                  </a:moveTo>
                  <a:cubicBezTo>
                    <a:pt x="23" y="118"/>
                    <a:pt x="21" y="115"/>
                    <a:pt x="18" y="113"/>
                  </a:cubicBezTo>
                  <a:cubicBezTo>
                    <a:pt x="22" y="115"/>
                    <a:pt x="25" y="117"/>
                    <a:pt x="26" y="121"/>
                  </a:cubicBezTo>
                  <a:cubicBezTo>
                    <a:pt x="25" y="121"/>
                    <a:pt x="25" y="121"/>
                    <a:pt x="25" y="121"/>
                  </a:cubicBezTo>
                  <a:close/>
                  <a:moveTo>
                    <a:pt x="28" y="121"/>
                  </a:moveTo>
                  <a:cubicBezTo>
                    <a:pt x="27" y="114"/>
                    <a:pt x="20" y="112"/>
                    <a:pt x="14" y="110"/>
                  </a:cubicBezTo>
                  <a:cubicBezTo>
                    <a:pt x="20" y="110"/>
                    <a:pt x="26" y="115"/>
                    <a:pt x="29" y="121"/>
                  </a:cubicBezTo>
                  <a:cubicBezTo>
                    <a:pt x="28" y="121"/>
                    <a:pt x="28" y="121"/>
                    <a:pt x="28" y="121"/>
                  </a:cubicBezTo>
                  <a:close/>
                  <a:moveTo>
                    <a:pt x="31" y="120"/>
                  </a:moveTo>
                  <a:cubicBezTo>
                    <a:pt x="31" y="120"/>
                    <a:pt x="31" y="120"/>
                    <a:pt x="31" y="119"/>
                  </a:cubicBezTo>
                  <a:cubicBezTo>
                    <a:pt x="30" y="116"/>
                    <a:pt x="28" y="114"/>
                    <a:pt x="24" y="112"/>
                  </a:cubicBezTo>
                  <a:cubicBezTo>
                    <a:pt x="21" y="109"/>
                    <a:pt x="19" y="106"/>
                    <a:pt x="14" y="107"/>
                  </a:cubicBezTo>
                  <a:cubicBezTo>
                    <a:pt x="14" y="107"/>
                    <a:pt x="15" y="106"/>
                    <a:pt x="15" y="106"/>
                  </a:cubicBezTo>
                  <a:cubicBezTo>
                    <a:pt x="18" y="107"/>
                    <a:pt x="20" y="108"/>
                    <a:pt x="23" y="110"/>
                  </a:cubicBezTo>
                  <a:cubicBezTo>
                    <a:pt x="26" y="114"/>
                    <a:pt x="30" y="115"/>
                    <a:pt x="32" y="118"/>
                  </a:cubicBezTo>
                  <a:cubicBezTo>
                    <a:pt x="32" y="119"/>
                    <a:pt x="32" y="119"/>
                    <a:pt x="32" y="119"/>
                  </a:cubicBezTo>
                  <a:cubicBezTo>
                    <a:pt x="32" y="120"/>
                    <a:pt x="31" y="120"/>
                    <a:pt x="31" y="120"/>
                  </a:cubicBezTo>
                  <a:close/>
                  <a:moveTo>
                    <a:pt x="15" y="104"/>
                  </a:moveTo>
                  <a:cubicBezTo>
                    <a:pt x="15" y="104"/>
                    <a:pt x="15" y="104"/>
                    <a:pt x="15" y="104"/>
                  </a:cubicBezTo>
                  <a:cubicBezTo>
                    <a:pt x="15" y="104"/>
                    <a:pt x="15" y="104"/>
                    <a:pt x="15" y="104"/>
                  </a:cubicBezTo>
                  <a:cubicBezTo>
                    <a:pt x="15" y="104"/>
                    <a:pt x="15" y="104"/>
                    <a:pt x="15" y="104"/>
                  </a:cubicBezTo>
                  <a:cubicBezTo>
                    <a:pt x="15" y="104"/>
                    <a:pt x="15" y="104"/>
                    <a:pt x="15" y="104"/>
                  </a:cubicBezTo>
                  <a:close/>
                  <a:moveTo>
                    <a:pt x="15" y="104"/>
                  </a:moveTo>
                  <a:cubicBezTo>
                    <a:pt x="15" y="104"/>
                    <a:pt x="15" y="104"/>
                    <a:pt x="15" y="104"/>
                  </a:cubicBezTo>
                  <a:cubicBezTo>
                    <a:pt x="16" y="104"/>
                    <a:pt x="17" y="104"/>
                    <a:pt x="17" y="104"/>
                  </a:cubicBezTo>
                  <a:cubicBezTo>
                    <a:pt x="17" y="104"/>
                    <a:pt x="17" y="104"/>
                    <a:pt x="17" y="105"/>
                  </a:cubicBezTo>
                  <a:cubicBezTo>
                    <a:pt x="17" y="104"/>
                    <a:pt x="16" y="104"/>
                    <a:pt x="15" y="104"/>
                  </a:cubicBezTo>
                  <a:close/>
                  <a:moveTo>
                    <a:pt x="25" y="100"/>
                  </a:moveTo>
                  <a:cubicBezTo>
                    <a:pt x="29" y="103"/>
                    <a:pt x="32" y="105"/>
                    <a:pt x="36" y="107"/>
                  </a:cubicBezTo>
                  <a:cubicBezTo>
                    <a:pt x="36" y="107"/>
                    <a:pt x="36" y="107"/>
                    <a:pt x="36" y="107"/>
                  </a:cubicBezTo>
                  <a:cubicBezTo>
                    <a:pt x="36" y="108"/>
                    <a:pt x="36" y="108"/>
                    <a:pt x="36" y="108"/>
                  </a:cubicBezTo>
                  <a:cubicBezTo>
                    <a:pt x="35" y="107"/>
                    <a:pt x="33" y="106"/>
                    <a:pt x="31" y="105"/>
                  </a:cubicBezTo>
                  <a:cubicBezTo>
                    <a:pt x="28" y="103"/>
                    <a:pt x="25" y="101"/>
                    <a:pt x="23" y="99"/>
                  </a:cubicBezTo>
                  <a:cubicBezTo>
                    <a:pt x="23" y="99"/>
                    <a:pt x="24" y="99"/>
                    <a:pt x="25" y="99"/>
                  </a:cubicBezTo>
                  <a:cubicBezTo>
                    <a:pt x="25" y="99"/>
                    <a:pt x="25" y="100"/>
                    <a:pt x="25" y="100"/>
                  </a:cubicBezTo>
                  <a:close/>
                  <a:moveTo>
                    <a:pt x="28" y="99"/>
                  </a:moveTo>
                  <a:cubicBezTo>
                    <a:pt x="30" y="100"/>
                    <a:pt x="32" y="101"/>
                    <a:pt x="33" y="103"/>
                  </a:cubicBezTo>
                  <a:cubicBezTo>
                    <a:pt x="31" y="102"/>
                    <a:pt x="30" y="101"/>
                    <a:pt x="28" y="99"/>
                  </a:cubicBezTo>
                  <a:close/>
                  <a:moveTo>
                    <a:pt x="26" y="103"/>
                  </a:moveTo>
                  <a:cubicBezTo>
                    <a:pt x="25" y="103"/>
                    <a:pt x="25" y="103"/>
                    <a:pt x="24" y="102"/>
                  </a:cubicBezTo>
                  <a:cubicBezTo>
                    <a:pt x="23" y="102"/>
                    <a:pt x="21" y="101"/>
                    <a:pt x="20" y="100"/>
                  </a:cubicBezTo>
                  <a:cubicBezTo>
                    <a:pt x="20" y="100"/>
                    <a:pt x="20" y="100"/>
                    <a:pt x="20" y="100"/>
                  </a:cubicBezTo>
                  <a:cubicBezTo>
                    <a:pt x="20" y="100"/>
                    <a:pt x="20" y="100"/>
                    <a:pt x="20" y="100"/>
                  </a:cubicBezTo>
                  <a:cubicBezTo>
                    <a:pt x="22" y="101"/>
                    <a:pt x="24" y="102"/>
                    <a:pt x="26" y="103"/>
                  </a:cubicBezTo>
                  <a:close/>
                  <a:moveTo>
                    <a:pt x="24" y="105"/>
                  </a:moveTo>
                  <a:cubicBezTo>
                    <a:pt x="22" y="104"/>
                    <a:pt x="20" y="103"/>
                    <a:pt x="18" y="102"/>
                  </a:cubicBezTo>
                  <a:cubicBezTo>
                    <a:pt x="18" y="102"/>
                    <a:pt x="18" y="102"/>
                    <a:pt x="17" y="102"/>
                  </a:cubicBezTo>
                  <a:cubicBezTo>
                    <a:pt x="18" y="101"/>
                    <a:pt x="18" y="101"/>
                    <a:pt x="18" y="101"/>
                  </a:cubicBezTo>
                  <a:cubicBezTo>
                    <a:pt x="20" y="102"/>
                    <a:pt x="22" y="104"/>
                    <a:pt x="24" y="105"/>
                  </a:cubicBezTo>
                  <a:close/>
                  <a:moveTo>
                    <a:pt x="35" y="116"/>
                  </a:moveTo>
                  <a:cubicBezTo>
                    <a:pt x="33" y="112"/>
                    <a:pt x="29" y="109"/>
                    <a:pt x="25" y="106"/>
                  </a:cubicBezTo>
                  <a:cubicBezTo>
                    <a:pt x="29" y="108"/>
                    <a:pt x="32" y="111"/>
                    <a:pt x="36" y="115"/>
                  </a:cubicBezTo>
                  <a:cubicBezTo>
                    <a:pt x="35" y="115"/>
                    <a:pt x="35" y="115"/>
                    <a:pt x="35" y="116"/>
                  </a:cubicBezTo>
                  <a:close/>
                  <a:moveTo>
                    <a:pt x="32" y="107"/>
                  </a:moveTo>
                  <a:cubicBezTo>
                    <a:pt x="33" y="108"/>
                    <a:pt x="35" y="109"/>
                    <a:pt x="36" y="110"/>
                  </a:cubicBezTo>
                  <a:cubicBezTo>
                    <a:pt x="36" y="111"/>
                    <a:pt x="36" y="111"/>
                    <a:pt x="37" y="111"/>
                  </a:cubicBezTo>
                  <a:cubicBezTo>
                    <a:pt x="37" y="111"/>
                    <a:pt x="36" y="112"/>
                    <a:pt x="36" y="113"/>
                  </a:cubicBezTo>
                  <a:cubicBezTo>
                    <a:pt x="35" y="111"/>
                    <a:pt x="34" y="109"/>
                    <a:pt x="32" y="107"/>
                  </a:cubicBezTo>
                  <a:close/>
                  <a:moveTo>
                    <a:pt x="29" y="203"/>
                  </a:moveTo>
                  <a:cubicBezTo>
                    <a:pt x="20" y="203"/>
                    <a:pt x="11" y="200"/>
                    <a:pt x="8" y="190"/>
                  </a:cubicBezTo>
                  <a:cubicBezTo>
                    <a:pt x="5" y="182"/>
                    <a:pt x="8" y="173"/>
                    <a:pt x="11" y="166"/>
                  </a:cubicBezTo>
                  <a:cubicBezTo>
                    <a:pt x="19" y="151"/>
                    <a:pt x="32" y="141"/>
                    <a:pt x="46" y="131"/>
                  </a:cubicBezTo>
                  <a:cubicBezTo>
                    <a:pt x="46" y="130"/>
                    <a:pt x="47" y="130"/>
                    <a:pt x="47" y="129"/>
                  </a:cubicBezTo>
                  <a:cubicBezTo>
                    <a:pt x="56" y="136"/>
                    <a:pt x="65" y="142"/>
                    <a:pt x="74" y="149"/>
                  </a:cubicBezTo>
                  <a:cubicBezTo>
                    <a:pt x="74" y="158"/>
                    <a:pt x="74" y="168"/>
                    <a:pt x="74" y="177"/>
                  </a:cubicBezTo>
                  <a:cubicBezTo>
                    <a:pt x="75" y="182"/>
                    <a:pt x="75" y="186"/>
                    <a:pt x="75" y="190"/>
                  </a:cubicBezTo>
                  <a:cubicBezTo>
                    <a:pt x="61" y="197"/>
                    <a:pt x="45" y="203"/>
                    <a:pt x="29" y="203"/>
                  </a:cubicBezTo>
                  <a:close/>
                  <a:moveTo>
                    <a:pt x="49" y="128"/>
                  </a:moveTo>
                  <a:cubicBezTo>
                    <a:pt x="58" y="122"/>
                    <a:pt x="66" y="116"/>
                    <a:pt x="74" y="110"/>
                  </a:cubicBezTo>
                  <a:cubicBezTo>
                    <a:pt x="74" y="110"/>
                    <a:pt x="74" y="110"/>
                    <a:pt x="74" y="110"/>
                  </a:cubicBezTo>
                  <a:cubicBezTo>
                    <a:pt x="74" y="122"/>
                    <a:pt x="74" y="134"/>
                    <a:pt x="74" y="146"/>
                  </a:cubicBezTo>
                  <a:cubicBezTo>
                    <a:pt x="65" y="140"/>
                    <a:pt x="57" y="134"/>
                    <a:pt x="49" y="128"/>
                  </a:cubicBezTo>
                  <a:close/>
                  <a:moveTo>
                    <a:pt x="75" y="108"/>
                  </a:moveTo>
                  <a:cubicBezTo>
                    <a:pt x="66" y="113"/>
                    <a:pt x="58" y="119"/>
                    <a:pt x="50" y="125"/>
                  </a:cubicBezTo>
                  <a:cubicBezTo>
                    <a:pt x="49" y="125"/>
                    <a:pt x="49" y="126"/>
                    <a:pt x="48" y="127"/>
                  </a:cubicBezTo>
                  <a:cubicBezTo>
                    <a:pt x="44" y="124"/>
                    <a:pt x="40" y="121"/>
                    <a:pt x="37" y="118"/>
                  </a:cubicBezTo>
                  <a:cubicBezTo>
                    <a:pt x="39" y="113"/>
                    <a:pt x="40" y="106"/>
                    <a:pt x="36" y="101"/>
                  </a:cubicBezTo>
                  <a:cubicBezTo>
                    <a:pt x="31" y="96"/>
                    <a:pt x="22" y="95"/>
                    <a:pt x="16" y="100"/>
                  </a:cubicBezTo>
                  <a:cubicBezTo>
                    <a:pt x="8" y="91"/>
                    <a:pt x="3" y="82"/>
                    <a:pt x="5" y="71"/>
                  </a:cubicBezTo>
                  <a:cubicBezTo>
                    <a:pt x="7" y="62"/>
                    <a:pt x="16" y="59"/>
                    <a:pt x="24" y="56"/>
                  </a:cubicBezTo>
                  <a:cubicBezTo>
                    <a:pt x="34" y="54"/>
                    <a:pt x="44" y="55"/>
                    <a:pt x="54" y="58"/>
                  </a:cubicBezTo>
                  <a:cubicBezTo>
                    <a:pt x="63" y="60"/>
                    <a:pt x="71" y="63"/>
                    <a:pt x="79" y="67"/>
                  </a:cubicBezTo>
                  <a:cubicBezTo>
                    <a:pt x="77" y="80"/>
                    <a:pt x="75" y="94"/>
                    <a:pt x="75" y="108"/>
                  </a:cubicBezTo>
                  <a:close/>
                  <a:moveTo>
                    <a:pt x="76" y="167"/>
                  </a:moveTo>
                  <a:cubicBezTo>
                    <a:pt x="76" y="162"/>
                    <a:pt x="76" y="156"/>
                    <a:pt x="76" y="150"/>
                  </a:cubicBezTo>
                  <a:cubicBezTo>
                    <a:pt x="76" y="151"/>
                    <a:pt x="77" y="151"/>
                    <a:pt x="78" y="152"/>
                  </a:cubicBezTo>
                  <a:cubicBezTo>
                    <a:pt x="85" y="156"/>
                    <a:pt x="91" y="161"/>
                    <a:pt x="99" y="165"/>
                  </a:cubicBezTo>
                  <a:cubicBezTo>
                    <a:pt x="104" y="168"/>
                    <a:pt x="108" y="170"/>
                    <a:pt x="113" y="172"/>
                  </a:cubicBezTo>
                  <a:cubicBezTo>
                    <a:pt x="103" y="177"/>
                    <a:pt x="93" y="182"/>
                    <a:pt x="83" y="186"/>
                  </a:cubicBezTo>
                  <a:cubicBezTo>
                    <a:pt x="81" y="187"/>
                    <a:pt x="79" y="188"/>
                    <a:pt x="77" y="189"/>
                  </a:cubicBezTo>
                  <a:cubicBezTo>
                    <a:pt x="76" y="182"/>
                    <a:pt x="76" y="174"/>
                    <a:pt x="76" y="167"/>
                  </a:cubicBezTo>
                  <a:close/>
                  <a:moveTo>
                    <a:pt x="137" y="229"/>
                  </a:moveTo>
                  <a:cubicBezTo>
                    <a:pt x="137" y="227"/>
                    <a:pt x="136" y="226"/>
                    <a:pt x="135" y="225"/>
                  </a:cubicBezTo>
                  <a:cubicBezTo>
                    <a:pt x="136" y="226"/>
                    <a:pt x="137" y="227"/>
                    <a:pt x="137" y="227"/>
                  </a:cubicBezTo>
                  <a:cubicBezTo>
                    <a:pt x="137" y="228"/>
                    <a:pt x="137" y="228"/>
                    <a:pt x="137" y="229"/>
                  </a:cubicBezTo>
                  <a:close/>
                  <a:moveTo>
                    <a:pt x="138" y="226"/>
                  </a:moveTo>
                  <a:cubicBezTo>
                    <a:pt x="136" y="224"/>
                    <a:pt x="134" y="222"/>
                    <a:pt x="132" y="221"/>
                  </a:cubicBezTo>
                  <a:cubicBezTo>
                    <a:pt x="134" y="222"/>
                    <a:pt x="136" y="223"/>
                    <a:pt x="138" y="224"/>
                  </a:cubicBezTo>
                  <a:cubicBezTo>
                    <a:pt x="138" y="225"/>
                    <a:pt x="138" y="225"/>
                    <a:pt x="138" y="226"/>
                  </a:cubicBezTo>
                  <a:close/>
                  <a:moveTo>
                    <a:pt x="131" y="220"/>
                  </a:moveTo>
                  <a:cubicBezTo>
                    <a:pt x="131" y="220"/>
                    <a:pt x="130" y="220"/>
                    <a:pt x="130" y="220"/>
                  </a:cubicBezTo>
                  <a:cubicBezTo>
                    <a:pt x="130" y="220"/>
                    <a:pt x="130" y="220"/>
                    <a:pt x="130" y="220"/>
                  </a:cubicBezTo>
                  <a:cubicBezTo>
                    <a:pt x="130" y="220"/>
                    <a:pt x="130" y="220"/>
                    <a:pt x="130" y="220"/>
                  </a:cubicBezTo>
                  <a:cubicBezTo>
                    <a:pt x="130" y="220"/>
                    <a:pt x="131" y="220"/>
                    <a:pt x="131" y="220"/>
                  </a:cubicBezTo>
                  <a:close/>
                  <a:moveTo>
                    <a:pt x="130" y="215"/>
                  </a:moveTo>
                  <a:cubicBezTo>
                    <a:pt x="130" y="215"/>
                    <a:pt x="130" y="215"/>
                    <a:pt x="130" y="214"/>
                  </a:cubicBezTo>
                  <a:cubicBezTo>
                    <a:pt x="133" y="215"/>
                    <a:pt x="135" y="216"/>
                    <a:pt x="137" y="217"/>
                  </a:cubicBezTo>
                  <a:cubicBezTo>
                    <a:pt x="135" y="216"/>
                    <a:pt x="132" y="215"/>
                    <a:pt x="130" y="215"/>
                  </a:cubicBezTo>
                  <a:close/>
                  <a:moveTo>
                    <a:pt x="132" y="223"/>
                  </a:moveTo>
                  <a:cubicBezTo>
                    <a:pt x="132" y="223"/>
                    <a:pt x="131" y="223"/>
                    <a:pt x="131" y="223"/>
                  </a:cubicBezTo>
                  <a:cubicBezTo>
                    <a:pt x="131" y="223"/>
                    <a:pt x="130" y="224"/>
                    <a:pt x="130" y="224"/>
                  </a:cubicBezTo>
                  <a:cubicBezTo>
                    <a:pt x="130" y="223"/>
                    <a:pt x="130" y="223"/>
                    <a:pt x="130" y="223"/>
                  </a:cubicBezTo>
                  <a:cubicBezTo>
                    <a:pt x="131" y="223"/>
                    <a:pt x="131" y="223"/>
                    <a:pt x="132" y="223"/>
                  </a:cubicBezTo>
                  <a:close/>
                  <a:moveTo>
                    <a:pt x="134" y="228"/>
                  </a:moveTo>
                  <a:cubicBezTo>
                    <a:pt x="133" y="228"/>
                    <a:pt x="133" y="227"/>
                    <a:pt x="132" y="227"/>
                  </a:cubicBezTo>
                  <a:cubicBezTo>
                    <a:pt x="132" y="226"/>
                    <a:pt x="132" y="226"/>
                    <a:pt x="131" y="226"/>
                  </a:cubicBezTo>
                  <a:cubicBezTo>
                    <a:pt x="133" y="226"/>
                    <a:pt x="133" y="227"/>
                    <a:pt x="134" y="228"/>
                  </a:cubicBezTo>
                  <a:close/>
                  <a:moveTo>
                    <a:pt x="139" y="222"/>
                  </a:moveTo>
                  <a:cubicBezTo>
                    <a:pt x="137" y="221"/>
                    <a:pt x="134" y="219"/>
                    <a:pt x="132" y="218"/>
                  </a:cubicBezTo>
                  <a:cubicBezTo>
                    <a:pt x="134" y="219"/>
                    <a:pt x="137" y="220"/>
                    <a:pt x="139" y="222"/>
                  </a:cubicBezTo>
                  <a:cubicBezTo>
                    <a:pt x="139" y="222"/>
                    <a:pt x="139" y="222"/>
                    <a:pt x="139" y="222"/>
                  </a:cubicBezTo>
                  <a:close/>
                  <a:moveTo>
                    <a:pt x="133" y="210"/>
                  </a:moveTo>
                  <a:cubicBezTo>
                    <a:pt x="133" y="210"/>
                    <a:pt x="134" y="210"/>
                    <a:pt x="134" y="210"/>
                  </a:cubicBezTo>
                  <a:cubicBezTo>
                    <a:pt x="136" y="211"/>
                    <a:pt x="138" y="212"/>
                    <a:pt x="139" y="213"/>
                  </a:cubicBezTo>
                  <a:cubicBezTo>
                    <a:pt x="137" y="212"/>
                    <a:pt x="135" y="211"/>
                    <a:pt x="133" y="210"/>
                  </a:cubicBezTo>
                  <a:close/>
                  <a:moveTo>
                    <a:pt x="141" y="209"/>
                  </a:moveTo>
                  <a:cubicBezTo>
                    <a:pt x="141" y="209"/>
                    <a:pt x="141" y="209"/>
                    <a:pt x="141" y="209"/>
                  </a:cubicBezTo>
                  <a:cubicBezTo>
                    <a:pt x="141" y="209"/>
                    <a:pt x="141" y="209"/>
                    <a:pt x="141" y="209"/>
                  </a:cubicBezTo>
                  <a:cubicBezTo>
                    <a:pt x="141" y="209"/>
                    <a:pt x="140" y="208"/>
                    <a:pt x="139" y="208"/>
                  </a:cubicBezTo>
                  <a:cubicBezTo>
                    <a:pt x="140" y="208"/>
                    <a:pt x="140" y="208"/>
                    <a:pt x="141" y="208"/>
                  </a:cubicBezTo>
                  <a:cubicBezTo>
                    <a:pt x="141" y="208"/>
                    <a:pt x="141" y="209"/>
                    <a:pt x="141" y="209"/>
                  </a:cubicBezTo>
                  <a:close/>
                  <a:moveTo>
                    <a:pt x="141" y="229"/>
                  </a:moveTo>
                  <a:cubicBezTo>
                    <a:pt x="141" y="229"/>
                    <a:pt x="141" y="229"/>
                    <a:pt x="141" y="229"/>
                  </a:cubicBezTo>
                  <a:cubicBezTo>
                    <a:pt x="141" y="229"/>
                    <a:pt x="140" y="228"/>
                    <a:pt x="140" y="228"/>
                  </a:cubicBezTo>
                  <a:cubicBezTo>
                    <a:pt x="140" y="227"/>
                    <a:pt x="140" y="227"/>
                    <a:pt x="140" y="226"/>
                  </a:cubicBezTo>
                  <a:cubicBezTo>
                    <a:pt x="141" y="227"/>
                    <a:pt x="141" y="228"/>
                    <a:pt x="142" y="229"/>
                  </a:cubicBezTo>
                  <a:cubicBezTo>
                    <a:pt x="142" y="229"/>
                    <a:pt x="141" y="229"/>
                    <a:pt x="141" y="229"/>
                  </a:cubicBezTo>
                  <a:close/>
                  <a:moveTo>
                    <a:pt x="141" y="223"/>
                  </a:moveTo>
                  <a:cubicBezTo>
                    <a:pt x="141" y="223"/>
                    <a:pt x="141" y="223"/>
                    <a:pt x="141" y="223"/>
                  </a:cubicBezTo>
                  <a:cubicBezTo>
                    <a:pt x="141" y="224"/>
                    <a:pt x="142" y="224"/>
                    <a:pt x="142" y="225"/>
                  </a:cubicBezTo>
                  <a:cubicBezTo>
                    <a:pt x="142" y="224"/>
                    <a:pt x="141" y="224"/>
                    <a:pt x="141" y="223"/>
                  </a:cubicBezTo>
                  <a:close/>
                  <a:moveTo>
                    <a:pt x="146" y="228"/>
                  </a:moveTo>
                  <a:cubicBezTo>
                    <a:pt x="146" y="228"/>
                    <a:pt x="146" y="228"/>
                    <a:pt x="146" y="228"/>
                  </a:cubicBezTo>
                  <a:cubicBezTo>
                    <a:pt x="145" y="225"/>
                    <a:pt x="144" y="223"/>
                    <a:pt x="141" y="221"/>
                  </a:cubicBezTo>
                  <a:cubicBezTo>
                    <a:pt x="141" y="221"/>
                    <a:pt x="141" y="221"/>
                    <a:pt x="141" y="221"/>
                  </a:cubicBezTo>
                  <a:cubicBezTo>
                    <a:pt x="144" y="222"/>
                    <a:pt x="146" y="224"/>
                    <a:pt x="148" y="227"/>
                  </a:cubicBezTo>
                  <a:cubicBezTo>
                    <a:pt x="148" y="227"/>
                    <a:pt x="148" y="227"/>
                    <a:pt x="148" y="227"/>
                  </a:cubicBezTo>
                  <a:cubicBezTo>
                    <a:pt x="147" y="227"/>
                    <a:pt x="147" y="228"/>
                    <a:pt x="146" y="228"/>
                  </a:cubicBezTo>
                  <a:close/>
                  <a:moveTo>
                    <a:pt x="144" y="220"/>
                  </a:moveTo>
                  <a:cubicBezTo>
                    <a:pt x="143" y="220"/>
                    <a:pt x="143" y="219"/>
                    <a:pt x="142" y="219"/>
                  </a:cubicBezTo>
                  <a:cubicBezTo>
                    <a:pt x="142" y="219"/>
                    <a:pt x="142" y="219"/>
                    <a:pt x="142" y="218"/>
                  </a:cubicBezTo>
                  <a:cubicBezTo>
                    <a:pt x="142" y="218"/>
                    <a:pt x="142" y="218"/>
                    <a:pt x="142" y="218"/>
                  </a:cubicBezTo>
                  <a:cubicBezTo>
                    <a:pt x="143" y="219"/>
                    <a:pt x="143" y="219"/>
                    <a:pt x="144" y="220"/>
                  </a:cubicBezTo>
                  <a:close/>
                  <a:moveTo>
                    <a:pt x="143" y="212"/>
                  </a:moveTo>
                  <a:cubicBezTo>
                    <a:pt x="143" y="212"/>
                    <a:pt x="143" y="212"/>
                    <a:pt x="143" y="212"/>
                  </a:cubicBezTo>
                  <a:cubicBezTo>
                    <a:pt x="143" y="213"/>
                    <a:pt x="143" y="213"/>
                    <a:pt x="144" y="213"/>
                  </a:cubicBezTo>
                  <a:cubicBezTo>
                    <a:pt x="143" y="213"/>
                    <a:pt x="143" y="213"/>
                    <a:pt x="143" y="212"/>
                  </a:cubicBezTo>
                  <a:close/>
                  <a:moveTo>
                    <a:pt x="151" y="223"/>
                  </a:moveTo>
                  <a:cubicBezTo>
                    <a:pt x="149" y="221"/>
                    <a:pt x="147" y="219"/>
                    <a:pt x="145" y="217"/>
                  </a:cubicBezTo>
                  <a:cubicBezTo>
                    <a:pt x="147" y="219"/>
                    <a:pt x="150" y="220"/>
                    <a:pt x="151" y="222"/>
                  </a:cubicBezTo>
                  <a:cubicBezTo>
                    <a:pt x="151" y="223"/>
                    <a:pt x="151" y="223"/>
                    <a:pt x="151" y="223"/>
                  </a:cubicBezTo>
                  <a:cubicBezTo>
                    <a:pt x="151" y="223"/>
                    <a:pt x="151" y="223"/>
                    <a:pt x="151" y="223"/>
                  </a:cubicBezTo>
                  <a:close/>
                  <a:moveTo>
                    <a:pt x="151" y="219"/>
                  </a:moveTo>
                  <a:cubicBezTo>
                    <a:pt x="151" y="219"/>
                    <a:pt x="152" y="219"/>
                    <a:pt x="152" y="219"/>
                  </a:cubicBezTo>
                  <a:cubicBezTo>
                    <a:pt x="152" y="220"/>
                    <a:pt x="152" y="220"/>
                    <a:pt x="152" y="220"/>
                  </a:cubicBezTo>
                  <a:cubicBezTo>
                    <a:pt x="150" y="218"/>
                    <a:pt x="148" y="216"/>
                    <a:pt x="145" y="214"/>
                  </a:cubicBezTo>
                  <a:cubicBezTo>
                    <a:pt x="145" y="214"/>
                    <a:pt x="145" y="214"/>
                    <a:pt x="144" y="214"/>
                  </a:cubicBezTo>
                  <a:cubicBezTo>
                    <a:pt x="145" y="214"/>
                    <a:pt x="145" y="214"/>
                    <a:pt x="145" y="214"/>
                  </a:cubicBezTo>
                  <a:cubicBezTo>
                    <a:pt x="148" y="215"/>
                    <a:pt x="150" y="217"/>
                    <a:pt x="151" y="219"/>
                  </a:cubicBezTo>
                  <a:close/>
                  <a:moveTo>
                    <a:pt x="150" y="215"/>
                  </a:moveTo>
                  <a:cubicBezTo>
                    <a:pt x="149" y="214"/>
                    <a:pt x="148" y="213"/>
                    <a:pt x="147" y="212"/>
                  </a:cubicBezTo>
                  <a:cubicBezTo>
                    <a:pt x="145" y="212"/>
                    <a:pt x="144" y="211"/>
                    <a:pt x="143" y="210"/>
                  </a:cubicBezTo>
                  <a:cubicBezTo>
                    <a:pt x="143" y="210"/>
                    <a:pt x="143" y="210"/>
                    <a:pt x="143" y="210"/>
                  </a:cubicBezTo>
                  <a:cubicBezTo>
                    <a:pt x="146" y="211"/>
                    <a:pt x="148" y="213"/>
                    <a:pt x="150" y="215"/>
                  </a:cubicBezTo>
                  <a:close/>
                  <a:moveTo>
                    <a:pt x="144" y="193"/>
                  </a:moveTo>
                  <a:cubicBezTo>
                    <a:pt x="143" y="197"/>
                    <a:pt x="143" y="201"/>
                    <a:pt x="142" y="206"/>
                  </a:cubicBezTo>
                  <a:cubicBezTo>
                    <a:pt x="139" y="205"/>
                    <a:pt x="137" y="206"/>
                    <a:pt x="135" y="207"/>
                  </a:cubicBezTo>
                  <a:cubicBezTo>
                    <a:pt x="134" y="207"/>
                    <a:pt x="132" y="208"/>
                    <a:pt x="133" y="208"/>
                  </a:cubicBezTo>
                  <a:cubicBezTo>
                    <a:pt x="132" y="209"/>
                    <a:pt x="132" y="209"/>
                    <a:pt x="131" y="210"/>
                  </a:cubicBezTo>
                  <a:cubicBezTo>
                    <a:pt x="130" y="210"/>
                    <a:pt x="130" y="211"/>
                    <a:pt x="130" y="211"/>
                  </a:cubicBezTo>
                  <a:cubicBezTo>
                    <a:pt x="130" y="211"/>
                    <a:pt x="130" y="211"/>
                    <a:pt x="130" y="211"/>
                  </a:cubicBezTo>
                  <a:cubicBezTo>
                    <a:pt x="130" y="211"/>
                    <a:pt x="130" y="211"/>
                    <a:pt x="130" y="211"/>
                  </a:cubicBezTo>
                  <a:cubicBezTo>
                    <a:pt x="130" y="211"/>
                    <a:pt x="130" y="212"/>
                    <a:pt x="130" y="212"/>
                  </a:cubicBezTo>
                  <a:cubicBezTo>
                    <a:pt x="130" y="212"/>
                    <a:pt x="130" y="212"/>
                    <a:pt x="130" y="212"/>
                  </a:cubicBezTo>
                  <a:cubicBezTo>
                    <a:pt x="130" y="212"/>
                    <a:pt x="130" y="212"/>
                    <a:pt x="130" y="212"/>
                  </a:cubicBezTo>
                  <a:cubicBezTo>
                    <a:pt x="130" y="212"/>
                    <a:pt x="130" y="212"/>
                    <a:pt x="130" y="212"/>
                  </a:cubicBezTo>
                  <a:cubicBezTo>
                    <a:pt x="129" y="212"/>
                    <a:pt x="129" y="212"/>
                    <a:pt x="129" y="213"/>
                  </a:cubicBezTo>
                  <a:cubicBezTo>
                    <a:pt x="129" y="214"/>
                    <a:pt x="129" y="215"/>
                    <a:pt x="128" y="216"/>
                  </a:cubicBezTo>
                  <a:cubicBezTo>
                    <a:pt x="128" y="216"/>
                    <a:pt x="128" y="216"/>
                    <a:pt x="128" y="216"/>
                  </a:cubicBezTo>
                  <a:cubicBezTo>
                    <a:pt x="127" y="216"/>
                    <a:pt x="127" y="218"/>
                    <a:pt x="128" y="218"/>
                  </a:cubicBezTo>
                  <a:cubicBezTo>
                    <a:pt x="128" y="218"/>
                    <a:pt x="128" y="218"/>
                    <a:pt x="128" y="218"/>
                  </a:cubicBezTo>
                  <a:cubicBezTo>
                    <a:pt x="128" y="219"/>
                    <a:pt x="128" y="220"/>
                    <a:pt x="128" y="221"/>
                  </a:cubicBezTo>
                  <a:cubicBezTo>
                    <a:pt x="128" y="221"/>
                    <a:pt x="128" y="222"/>
                    <a:pt x="128" y="222"/>
                  </a:cubicBezTo>
                  <a:cubicBezTo>
                    <a:pt x="129" y="223"/>
                    <a:pt x="129" y="224"/>
                    <a:pt x="129" y="225"/>
                  </a:cubicBezTo>
                  <a:cubicBezTo>
                    <a:pt x="129" y="225"/>
                    <a:pt x="129" y="226"/>
                    <a:pt x="130" y="226"/>
                  </a:cubicBezTo>
                  <a:cubicBezTo>
                    <a:pt x="131" y="227"/>
                    <a:pt x="131" y="228"/>
                    <a:pt x="132" y="229"/>
                  </a:cubicBezTo>
                  <a:cubicBezTo>
                    <a:pt x="133" y="230"/>
                    <a:pt x="135" y="231"/>
                    <a:pt x="136" y="232"/>
                  </a:cubicBezTo>
                  <a:cubicBezTo>
                    <a:pt x="134" y="238"/>
                    <a:pt x="130" y="244"/>
                    <a:pt x="125" y="249"/>
                  </a:cubicBezTo>
                  <a:cubicBezTo>
                    <a:pt x="106" y="267"/>
                    <a:pt x="86" y="235"/>
                    <a:pt x="81" y="219"/>
                  </a:cubicBezTo>
                  <a:cubicBezTo>
                    <a:pt x="79" y="210"/>
                    <a:pt x="78" y="201"/>
                    <a:pt x="77" y="191"/>
                  </a:cubicBezTo>
                  <a:cubicBezTo>
                    <a:pt x="88" y="186"/>
                    <a:pt x="98" y="181"/>
                    <a:pt x="109" y="176"/>
                  </a:cubicBezTo>
                  <a:cubicBezTo>
                    <a:pt x="111" y="175"/>
                    <a:pt x="113" y="174"/>
                    <a:pt x="115" y="173"/>
                  </a:cubicBezTo>
                  <a:cubicBezTo>
                    <a:pt x="119" y="176"/>
                    <a:pt x="124" y="178"/>
                    <a:pt x="128" y="180"/>
                  </a:cubicBezTo>
                  <a:cubicBezTo>
                    <a:pt x="134" y="183"/>
                    <a:pt x="139" y="186"/>
                    <a:pt x="145" y="189"/>
                  </a:cubicBezTo>
                  <a:cubicBezTo>
                    <a:pt x="144" y="190"/>
                    <a:pt x="144" y="192"/>
                    <a:pt x="144" y="193"/>
                  </a:cubicBezTo>
                  <a:close/>
                  <a:moveTo>
                    <a:pt x="145" y="186"/>
                  </a:moveTo>
                  <a:cubicBezTo>
                    <a:pt x="136" y="182"/>
                    <a:pt x="127" y="177"/>
                    <a:pt x="118" y="172"/>
                  </a:cubicBezTo>
                  <a:cubicBezTo>
                    <a:pt x="129" y="167"/>
                    <a:pt x="139" y="161"/>
                    <a:pt x="149" y="154"/>
                  </a:cubicBezTo>
                  <a:cubicBezTo>
                    <a:pt x="148" y="165"/>
                    <a:pt x="147" y="176"/>
                    <a:pt x="145" y="186"/>
                  </a:cubicBezTo>
                  <a:close/>
                  <a:moveTo>
                    <a:pt x="149" y="151"/>
                  </a:moveTo>
                  <a:cubicBezTo>
                    <a:pt x="145" y="154"/>
                    <a:pt x="141" y="157"/>
                    <a:pt x="137" y="160"/>
                  </a:cubicBezTo>
                  <a:cubicBezTo>
                    <a:pt x="130" y="164"/>
                    <a:pt x="123" y="167"/>
                    <a:pt x="115" y="171"/>
                  </a:cubicBezTo>
                  <a:cubicBezTo>
                    <a:pt x="112" y="169"/>
                    <a:pt x="108" y="168"/>
                    <a:pt x="105" y="166"/>
                  </a:cubicBezTo>
                  <a:cubicBezTo>
                    <a:pt x="98" y="163"/>
                    <a:pt x="94" y="160"/>
                    <a:pt x="88" y="156"/>
                  </a:cubicBezTo>
                  <a:cubicBezTo>
                    <a:pt x="84" y="153"/>
                    <a:pt x="80" y="150"/>
                    <a:pt x="76" y="147"/>
                  </a:cubicBezTo>
                  <a:cubicBezTo>
                    <a:pt x="76" y="135"/>
                    <a:pt x="76" y="122"/>
                    <a:pt x="76" y="109"/>
                  </a:cubicBezTo>
                  <a:cubicBezTo>
                    <a:pt x="89" y="101"/>
                    <a:pt x="102" y="93"/>
                    <a:pt x="115" y="86"/>
                  </a:cubicBezTo>
                  <a:cubicBezTo>
                    <a:pt x="127" y="92"/>
                    <a:pt x="138" y="99"/>
                    <a:pt x="150" y="107"/>
                  </a:cubicBezTo>
                  <a:cubicBezTo>
                    <a:pt x="150" y="107"/>
                    <a:pt x="150" y="108"/>
                    <a:pt x="150" y="108"/>
                  </a:cubicBezTo>
                  <a:cubicBezTo>
                    <a:pt x="150" y="116"/>
                    <a:pt x="151" y="124"/>
                    <a:pt x="151" y="132"/>
                  </a:cubicBezTo>
                  <a:cubicBezTo>
                    <a:pt x="150" y="138"/>
                    <a:pt x="150" y="144"/>
                    <a:pt x="149" y="151"/>
                  </a:cubicBezTo>
                  <a:close/>
                  <a:moveTo>
                    <a:pt x="158" y="145"/>
                  </a:moveTo>
                  <a:cubicBezTo>
                    <a:pt x="156" y="146"/>
                    <a:pt x="154" y="148"/>
                    <a:pt x="152" y="149"/>
                  </a:cubicBezTo>
                  <a:cubicBezTo>
                    <a:pt x="152" y="149"/>
                    <a:pt x="152" y="149"/>
                    <a:pt x="152" y="148"/>
                  </a:cubicBezTo>
                  <a:cubicBezTo>
                    <a:pt x="152" y="141"/>
                    <a:pt x="153" y="133"/>
                    <a:pt x="153" y="125"/>
                  </a:cubicBezTo>
                  <a:cubicBezTo>
                    <a:pt x="153" y="119"/>
                    <a:pt x="152" y="114"/>
                    <a:pt x="152" y="108"/>
                  </a:cubicBezTo>
                  <a:cubicBezTo>
                    <a:pt x="156" y="111"/>
                    <a:pt x="159" y="113"/>
                    <a:pt x="163" y="116"/>
                  </a:cubicBezTo>
                  <a:cubicBezTo>
                    <a:pt x="170" y="120"/>
                    <a:pt x="176" y="124"/>
                    <a:pt x="182" y="129"/>
                  </a:cubicBezTo>
                  <a:cubicBezTo>
                    <a:pt x="174" y="134"/>
                    <a:pt x="166" y="139"/>
                    <a:pt x="158" y="145"/>
                  </a:cubicBezTo>
                  <a:close/>
                  <a:moveTo>
                    <a:pt x="215" y="109"/>
                  </a:moveTo>
                  <a:cubicBezTo>
                    <a:pt x="215" y="108"/>
                    <a:pt x="215" y="108"/>
                    <a:pt x="215" y="108"/>
                  </a:cubicBezTo>
                  <a:cubicBezTo>
                    <a:pt x="214" y="107"/>
                    <a:pt x="214" y="107"/>
                    <a:pt x="213" y="106"/>
                  </a:cubicBezTo>
                  <a:cubicBezTo>
                    <a:pt x="213" y="106"/>
                    <a:pt x="213" y="106"/>
                    <a:pt x="214" y="105"/>
                  </a:cubicBezTo>
                  <a:cubicBezTo>
                    <a:pt x="215" y="106"/>
                    <a:pt x="216" y="108"/>
                    <a:pt x="217" y="109"/>
                  </a:cubicBezTo>
                  <a:cubicBezTo>
                    <a:pt x="216" y="109"/>
                    <a:pt x="216" y="109"/>
                    <a:pt x="215" y="109"/>
                  </a:cubicBezTo>
                  <a:close/>
                  <a:moveTo>
                    <a:pt x="215" y="104"/>
                  </a:moveTo>
                  <a:cubicBezTo>
                    <a:pt x="215" y="103"/>
                    <a:pt x="215" y="103"/>
                    <a:pt x="215" y="103"/>
                  </a:cubicBezTo>
                  <a:cubicBezTo>
                    <a:pt x="217" y="104"/>
                    <a:pt x="218" y="106"/>
                    <a:pt x="219" y="108"/>
                  </a:cubicBezTo>
                  <a:cubicBezTo>
                    <a:pt x="218" y="106"/>
                    <a:pt x="216" y="105"/>
                    <a:pt x="215" y="104"/>
                  </a:cubicBezTo>
                  <a:close/>
                  <a:moveTo>
                    <a:pt x="215" y="100"/>
                  </a:moveTo>
                  <a:cubicBezTo>
                    <a:pt x="212" y="99"/>
                    <a:pt x="210" y="98"/>
                    <a:pt x="208" y="97"/>
                  </a:cubicBezTo>
                  <a:cubicBezTo>
                    <a:pt x="210" y="97"/>
                    <a:pt x="213" y="98"/>
                    <a:pt x="215" y="99"/>
                  </a:cubicBezTo>
                  <a:cubicBezTo>
                    <a:pt x="215" y="100"/>
                    <a:pt x="215" y="100"/>
                    <a:pt x="215" y="100"/>
                  </a:cubicBezTo>
                  <a:close/>
                  <a:moveTo>
                    <a:pt x="219" y="109"/>
                  </a:moveTo>
                  <a:cubicBezTo>
                    <a:pt x="219" y="109"/>
                    <a:pt x="219" y="109"/>
                    <a:pt x="219" y="109"/>
                  </a:cubicBezTo>
                  <a:cubicBezTo>
                    <a:pt x="219" y="109"/>
                    <a:pt x="219" y="109"/>
                    <a:pt x="219" y="109"/>
                  </a:cubicBezTo>
                  <a:cubicBezTo>
                    <a:pt x="219" y="109"/>
                    <a:pt x="219" y="109"/>
                    <a:pt x="219" y="109"/>
                  </a:cubicBezTo>
                  <a:close/>
                  <a:moveTo>
                    <a:pt x="221" y="109"/>
                  </a:moveTo>
                  <a:cubicBezTo>
                    <a:pt x="221" y="105"/>
                    <a:pt x="219" y="103"/>
                    <a:pt x="216" y="101"/>
                  </a:cubicBezTo>
                  <a:cubicBezTo>
                    <a:pt x="217" y="101"/>
                    <a:pt x="217" y="101"/>
                    <a:pt x="217" y="100"/>
                  </a:cubicBezTo>
                  <a:cubicBezTo>
                    <a:pt x="220" y="103"/>
                    <a:pt x="222" y="105"/>
                    <a:pt x="223" y="108"/>
                  </a:cubicBezTo>
                  <a:cubicBezTo>
                    <a:pt x="223" y="108"/>
                    <a:pt x="223" y="108"/>
                    <a:pt x="223" y="108"/>
                  </a:cubicBezTo>
                  <a:cubicBezTo>
                    <a:pt x="222" y="108"/>
                    <a:pt x="222" y="109"/>
                    <a:pt x="221" y="109"/>
                  </a:cubicBezTo>
                  <a:close/>
                  <a:moveTo>
                    <a:pt x="213" y="93"/>
                  </a:moveTo>
                  <a:cubicBezTo>
                    <a:pt x="214" y="94"/>
                    <a:pt x="216" y="95"/>
                    <a:pt x="217" y="96"/>
                  </a:cubicBezTo>
                  <a:cubicBezTo>
                    <a:pt x="217" y="96"/>
                    <a:pt x="217" y="96"/>
                    <a:pt x="217" y="96"/>
                  </a:cubicBezTo>
                  <a:cubicBezTo>
                    <a:pt x="216" y="95"/>
                    <a:pt x="214" y="94"/>
                    <a:pt x="213" y="93"/>
                  </a:cubicBezTo>
                  <a:close/>
                  <a:moveTo>
                    <a:pt x="225" y="107"/>
                  </a:moveTo>
                  <a:cubicBezTo>
                    <a:pt x="225" y="107"/>
                    <a:pt x="225" y="107"/>
                    <a:pt x="225" y="107"/>
                  </a:cubicBezTo>
                  <a:cubicBezTo>
                    <a:pt x="223" y="104"/>
                    <a:pt x="221" y="102"/>
                    <a:pt x="218" y="100"/>
                  </a:cubicBezTo>
                  <a:cubicBezTo>
                    <a:pt x="218" y="99"/>
                    <a:pt x="218" y="99"/>
                    <a:pt x="218" y="99"/>
                  </a:cubicBezTo>
                  <a:cubicBezTo>
                    <a:pt x="220" y="101"/>
                    <a:pt x="224" y="103"/>
                    <a:pt x="225" y="106"/>
                  </a:cubicBezTo>
                  <a:cubicBezTo>
                    <a:pt x="225" y="106"/>
                    <a:pt x="226" y="107"/>
                    <a:pt x="226" y="106"/>
                  </a:cubicBezTo>
                  <a:cubicBezTo>
                    <a:pt x="226" y="107"/>
                    <a:pt x="225" y="107"/>
                    <a:pt x="225" y="107"/>
                  </a:cubicBezTo>
                  <a:close/>
                  <a:moveTo>
                    <a:pt x="220" y="91"/>
                  </a:moveTo>
                  <a:cubicBezTo>
                    <a:pt x="219" y="91"/>
                    <a:pt x="219" y="91"/>
                    <a:pt x="218" y="90"/>
                  </a:cubicBezTo>
                  <a:cubicBezTo>
                    <a:pt x="219" y="91"/>
                    <a:pt x="220" y="91"/>
                    <a:pt x="220" y="91"/>
                  </a:cubicBezTo>
                  <a:cubicBezTo>
                    <a:pt x="220" y="91"/>
                    <a:pt x="220" y="91"/>
                    <a:pt x="220" y="91"/>
                  </a:cubicBezTo>
                  <a:close/>
                  <a:moveTo>
                    <a:pt x="223" y="101"/>
                  </a:moveTo>
                  <a:cubicBezTo>
                    <a:pt x="222" y="100"/>
                    <a:pt x="221" y="99"/>
                    <a:pt x="219" y="98"/>
                  </a:cubicBezTo>
                  <a:cubicBezTo>
                    <a:pt x="219" y="98"/>
                    <a:pt x="219" y="98"/>
                    <a:pt x="219" y="98"/>
                  </a:cubicBezTo>
                  <a:cubicBezTo>
                    <a:pt x="219" y="97"/>
                    <a:pt x="219" y="97"/>
                    <a:pt x="219" y="97"/>
                  </a:cubicBezTo>
                  <a:cubicBezTo>
                    <a:pt x="221" y="98"/>
                    <a:pt x="222" y="99"/>
                    <a:pt x="223" y="101"/>
                  </a:cubicBezTo>
                  <a:close/>
                  <a:moveTo>
                    <a:pt x="228" y="106"/>
                  </a:moveTo>
                  <a:cubicBezTo>
                    <a:pt x="228" y="105"/>
                    <a:pt x="228" y="105"/>
                    <a:pt x="227" y="105"/>
                  </a:cubicBezTo>
                  <a:cubicBezTo>
                    <a:pt x="228" y="105"/>
                    <a:pt x="228" y="105"/>
                    <a:pt x="228" y="105"/>
                  </a:cubicBezTo>
                  <a:cubicBezTo>
                    <a:pt x="228" y="105"/>
                    <a:pt x="228" y="105"/>
                    <a:pt x="228" y="106"/>
                  </a:cubicBezTo>
                  <a:close/>
                  <a:moveTo>
                    <a:pt x="229" y="103"/>
                  </a:moveTo>
                  <a:cubicBezTo>
                    <a:pt x="228" y="103"/>
                    <a:pt x="228" y="103"/>
                    <a:pt x="228" y="102"/>
                  </a:cubicBezTo>
                  <a:cubicBezTo>
                    <a:pt x="228" y="102"/>
                    <a:pt x="229" y="103"/>
                    <a:pt x="229" y="103"/>
                  </a:cubicBezTo>
                  <a:cubicBezTo>
                    <a:pt x="229" y="103"/>
                    <a:pt x="229" y="103"/>
                    <a:pt x="229" y="103"/>
                  </a:cubicBezTo>
                  <a:close/>
                  <a:moveTo>
                    <a:pt x="230" y="95"/>
                  </a:moveTo>
                  <a:cubicBezTo>
                    <a:pt x="230" y="95"/>
                    <a:pt x="230" y="96"/>
                    <a:pt x="230" y="96"/>
                  </a:cubicBezTo>
                  <a:cubicBezTo>
                    <a:pt x="229" y="96"/>
                    <a:pt x="229" y="95"/>
                    <a:pt x="229" y="95"/>
                  </a:cubicBezTo>
                  <a:cubicBezTo>
                    <a:pt x="229" y="95"/>
                    <a:pt x="229" y="95"/>
                    <a:pt x="230" y="95"/>
                  </a:cubicBezTo>
                  <a:close/>
                  <a:moveTo>
                    <a:pt x="224" y="88"/>
                  </a:moveTo>
                  <a:cubicBezTo>
                    <a:pt x="225" y="89"/>
                    <a:pt x="226" y="90"/>
                    <a:pt x="228" y="91"/>
                  </a:cubicBezTo>
                  <a:cubicBezTo>
                    <a:pt x="226" y="90"/>
                    <a:pt x="225" y="89"/>
                    <a:pt x="223" y="88"/>
                  </a:cubicBezTo>
                  <a:cubicBezTo>
                    <a:pt x="223" y="88"/>
                    <a:pt x="223" y="88"/>
                    <a:pt x="224" y="88"/>
                  </a:cubicBezTo>
                  <a:close/>
                  <a:moveTo>
                    <a:pt x="228" y="98"/>
                  </a:moveTo>
                  <a:cubicBezTo>
                    <a:pt x="228" y="98"/>
                    <a:pt x="229" y="98"/>
                    <a:pt x="230" y="98"/>
                  </a:cubicBezTo>
                  <a:cubicBezTo>
                    <a:pt x="230" y="99"/>
                    <a:pt x="230" y="99"/>
                    <a:pt x="229" y="100"/>
                  </a:cubicBezTo>
                  <a:cubicBezTo>
                    <a:pt x="228" y="98"/>
                    <a:pt x="226" y="96"/>
                    <a:pt x="223" y="94"/>
                  </a:cubicBezTo>
                  <a:cubicBezTo>
                    <a:pt x="225" y="95"/>
                    <a:pt x="227" y="96"/>
                    <a:pt x="228" y="98"/>
                  </a:cubicBezTo>
                  <a:close/>
                  <a:moveTo>
                    <a:pt x="227" y="101"/>
                  </a:moveTo>
                  <a:cubicBezTo>
                    <a:pt x="225" y="99"/>
                    <a:pt x="223" y="97"/>
                    <a:pt x="220" y="95"/>
                  </a:cubicBezTo>
                  <a:cubicBezTo>
                    <a:pt x="220" y="95"/>
                    <a:pt x="220" y="95"/>
                    <a:pt x="220" y="95"/>
                  </a:cubicBezTo>
                  <a:cubicBezTo>
                    <a:pt x="223" y="96"/>
                    <a:pt x="226" y="98"/>
                    <a:pt x="227" y="101"/>
                  </a:cubicBezTo>
                  <a:close/>
                  <a:moveTo>
                    <a:pt x="222" y="87"/>
                  </a:moveTo>
                  <a:cubicBezTo>
                    <a:pt x="222" y="87"/>
                    <a:pt x="222" y="87"/>
                    <a:pt x="222" y="87"/>
                  </a:cubicBezTo>
                  <a:cubicBezTo>
                    <a:pt x="222" y="87"/>
                    <a:pt x="222" y="87"/>
                    <a:pt x="222" y="87"/>
                  </a:cubicBezTo>
                  <a:cubicBezTo>
                    <a:pt x="222" y="87"/>
                    <a:pt x="222" y="87"/>
                    <a:pt x="222" y="87"/>
                  </a:cubicBezTo>
                  <a:close/>
                  <a:moveTo>
                    <a:pt x="218" y="87"/>
                  </a:moveTo>
                  <a:cubicBezTo>
                    <a:pt x="218" y="87"/>
                    <a:pt x="219" y="88"/>
                    <a:pt x="219" y="88"/>
                  </a:cubicBezTo>
                  <a:cubicBezTo>
                    <a:pt x="220" y="88"/>
                    <a:pt x="220" y="89"/>
                    <a:pt x="221" y="89"/>
                  </a:cubicBezTo>
                  <a:cubicBezTo>
                    <a:pt x="221" y="89"/>
                    <a:pt x="221" y="89"/>
                    <a:pt x="221" y="90"/>
                  </a:cubicBezTo>
                  <a:cubicBezTo>
                    <a:pt x="220" y="89"/>
                    <a:pt x="218" y="88"/>
                    <a:pt x="217" y="87"/>
                  </a:cubicBezTo>
                  <a:cubicBezTo>
                    <a:pt x="217" y="87"/>
                    <a:pt x="218" y="87"/>
                    <a:pt x="218" y="87"/>
                  </a:cubicBezTo>
                  <a:close/>
                  <a:moveTo>
                    <a:pt x="218" y="90"/>
                  </a:moveTo>
                  <a:cubicBezTo>
                    <a:pt x="216" y="89"/>
                    <a:pt x="215" y="89"/>
                    <a:pt x="214" y="88"/>
                  </a:cubicBezTo>
                  <a:cubicBezTo>
                    <a:pt x="215" y="88"/>
                    <a:pt x="217" y="89"/>
                    <a:pt x="218" y="90"/>
                  </a:cubicBezTo>
                  <a:close/>
                  <a:moveTo>
                    <a:pt x="212" y="89"/>
                  </a:moveTo>
                  <a:cubicBezTo>
                    <a:pt x="214" y="90"/>
                    <a:pt x="216" y="91"/>
                    <a:pt x="217" y="93"/>
                  </a:cubicBezTo>
                  <a:cubicBezTo>
                    <a:pt x="215" y="91"/>
                    <a:pt x="213" y="90"/>
                    <a:pt x="211" y="90"/>
                  </a:cubicBezTo>
                  <a:cubicBezTo>
                    <a:pt x="211" y="89"/>
                    <a:pt x="212" y="89"/>
                    <a:pt x="212" y="89"/>
                  </a:cubicBezTo>
                  <a:close/>
                  <a:moveTo>
                    <a:pt x="209" y="92"/>
                  </a:moveTo>
                  <a:cubicBezTo>
                    <a:pt x="209" y="92"/>
                    <a:pt x="210" y="92"/>
                    <a:pt x="210" y="92"/>
                  </a:cubicBezTo>
                  <a:cubicBezTo>
                    <a:pt x="210" y="92"/>
                    <a:pt x="209" y="92"/>
                    <a:pt x="209" y="92"/>
                  </a:cubicBezTo>
                  <a:close/>
                  <a:moveTo>
                    <a:pt x="208" y="94"/>
                  </a:moveTo>
                  <a:cubicBezTo>
                    <a:pt x="208" y="94"/>
                    <a:pt x="208" y="94"/>
                    <a:pt x="208" y="94"/>
                  </a:cubicBezTo>
                  <a:cubicBezTo>
                    <a:pt x="211" y="95"/>
                    <a:pt x="213" y="96"/>
                    <a:pt x="216" y="98"/>
                  </a:cubicBezTo>
                  <a:cubicBezTo>
                    <a:pt x="216" y="98"/>
                    <a:pt x="216" y="98"/>
                    <a:pt x="216" y="98"/>
                  </a:cubicBezTo>
                  <a:cubicBezTo>
                    <a:pt x="213" y="96"/>
                    <a:pt x="211" y="94"/>
                    <a:pt x="207" y="95"/>
                  </a:cubicBezTo>
                  <a:cubicBezTo>
                    <a:pt x="208" y="94"/>
                    <a:pt x="208" y="94"/>
                    <a:pt x="208" y="94"/>
                  </a:cubicBezTo>
                  <a:close/>
                  <a:moveTo>
                    <a:pt x="207" y="99"/>
                  </a:moveTo>
                  <a:cubicBezTo>
                    <a:pt x="207" y="99"/>
                    <a:pt x="207" y="99"/>
                    <a:pt x="207" y="98"/>
                  </a:cubicBezTo>
                  <a:cubicBezTo>
                    <a:pt x="209" y="99"/>
                    <a:pt x="212" y="100"/>
                    <a:pt x="214" y="101"/>
                  </a:cubicBezTo>
                  <a:cubicBezTo>
                    <a:pt x="213" y="102"/>
                    <a:pt x="213" y="102"/>
                    <a:pt x="213" y="102"/>
                  </a:cubicBezTo>
                  <a:cubicBezTo>
                    <a:pt x="211" y="101"/>
                    <a:pt x="209" y="100"/>
                    <a:pt x="207" y="99"/>
                  </a:cubicBezTo>
                  <a:close/>
                  <a:moveTo>
                    <a:pt x="209" y="103"/>
                  </a:moveTo>
                  <a:cubicBezTo>
                    <a:pt x="208" y="103"/>
                    <a:pt x="208" y="102"/>
                    <a:pt x="208" y="102"/>
                  </a:cubicBezTo>
                  <a:cubicBezTo>
                    <a:pt x="209" y="102"/>
                    <a:pt x="210" y="103"/>
                    <a:pt x="212" y="104"/>
                  </a:cubicBezTo>
                  <a:cubicBezTo>
                    <a:pt x="212" y="104"/>
                    <a:pt x="212" y="104"/>
                    <a:pt x="212" y="104"/>
                  </a:cubicBezTo>
                  <a:cubicBezTo>
                    <a:pt x="211" y="103"/>
                    <a:pt x="210" y="103"/>
                    <a:pt x="209" y="103"/>
                  </a:cubicBezTo>
                  <a:close/>
                  <a:moveTo>
                    <a:pt x="115" y="111"/>
                  </a:moveTo>
                  <a:cubicBezTo>
                    <a:pt x="115" y="111"/>
                    <a:pt x="115" y="111"/>
                    <a:pt x="114" y="111"/>
                  </a:cubicBezTo>
                  <a:cubicBezTo>
                    <a:pt x="105" y="111"/>
                    <a:pt x="98" y="117"/>
                    <a:pt x="98" y="127"/>
                  </a:cubicBezTo>
                  <a:cubicBezTo>
                    <a:pt x="98" y="132"/>
                    <a:pt x="99" y="136"/>
                    <a:pt x="102" y="140"/>
                  </a:cubicBezTo>
                  <a:cubicBezTo>
                    <a:pt x="105" y="142"/>
                    <a:pt x="109" y="144"/>
                    <a:pt x="115" y="144"/>
                  </a:cubicBezTo>
                  <a:cubicBezTo>
                    <a:pt x="124" y="144"/>
                    <a:pt x="132" y="136"/>
                    <a:pt x="132" y="127"/>
                  </a:cubicBezTo>
                  <a:cubicBezTo>
                    <a:pt x="131" y="116"/>
                    <a:pt x="125" y="111"/>
                    <a:pt x="115" y="111"/>
                  </a:cubicBezTo>
                  <a:close/>
                  <a:moveTo>
                    <a:pt x="115" y="143"/>
                  </a:moveTo>
                  <a:cubicBezTo>
                    <a:pt x="111" y="143"/>
                    <a:pt x="106" y="141"/>
                    <a:pt x="104" y="139"/>
                  </a:cubicBezTo>
                  <a:cubicBezTo>
                    <a:pt x="101" y="136"/>
                    <a:pt x="100" y="133"/>
                    <a:pt x="100" y="130"/>
                  </a:cubicBezTo>
                  <a:cubicBezTo>
                    <a:pt x="100" y="130"/>
                    <a:pt x="100" y="130"/>
                    <a:pt x="100" y="130"/>
                  </a:cubicBezTo>
                  <a:cubicBezTo>
                    <a:pt x="100" y="130"/>
                    <a:pt x="100" y="130"/>
                    <a:pt x="101" y="131"/>
                  </a:cubicBezTo>
                  <a:cubicBezTo>
                    <a:pt x="101" y="131"/>
                    <a:pt x="101" y="131"/>
                    <a:pt x="101" y="131"/>
                  </a:cubicBezTo>
                  <a:cubicBezTo>
                    <a:pt x="101" y="131"/>
                    <a:pt x="101" y="131"/>
                    <a:pt x="101" y="131"/>
                  </a:cubicBezTo>
                  <a:cubicBezTo>
                    <a:pt x="101" y="131"/>
                    <a:pt x="101" y="131"/>
                    <a:pt x="102" y="132"/>
                  </a:cubicBezTo>
                  <a:cubicBezTo>
                    <a:pt x="104" y="134"/>
                    <a:pt x="107" y="134"/>
                    <a:pt x="110" y="132"/>
                  </a:cubicBezTo>
                  <a:cubicBezTo>
                    <a:pt x="110" y="132"/>
                    <a:pt x="110" y="132"/>
                    <a:pt x="110" y="133"/>
                  </a:cubicBezTo>
                  <a:cubicBezTo>
                    <a:pt x="110" y="132"/>
                    <a:pt x="110" y="132"/>
                    <a:pt x="110" y="132"/>
                  </a:cubicBezTo>
                  <a:cubicBezTo>
                    <a:pt x="110" y="132"/>
                    <a:pt x="110" y="132"/>
                    <a:pt x="110" y="132"/>
                  </a:cubicBezTo>
                  <a:cubicBezTo>
                    <a:pt x="110" y="132"/>
                    <a:pt x="110" y="131"/>
                    <a:pt x="110" y="131"/>
                  </a:cubicBezTo>
                  <a:cubicBezTo>
                    <a:pt x="110" y="131"/>
                    <a:pt x="111" y="131"/>
                    <a:pt x="111" y="131"/>
                  </a:cubicBezTo>
                  <a:cubicBezTo>
                    <a:pt x="110" y="131"/>
                    <a:pt x="110" y="131"/>
                    <a:pt x="110" y="132"/>
                  </a:cubicBezTo>
                  <a:cubicBezTo>
                    <a:pt x="110" y="132"/>
                    <a:pt x="111" y="132"/>
                    <a:pt x="111" y="133"/>
                  </a:cubicBezTo>
                  <a:cubicBezTo>
                    <a:pt x="111" y="133"/>
                    <a:pt x="111" y="132"/>
                    <a:pt x="111" y="132"/>
                  </a:cubicBezTo>
                  <a:cubicBezTo>
                    <a:pt x="111" y="133"/>
                    <a:pt x="110" y="134"/>
                    <a:pt x="110" y="135"/>
                  </a:cubicBezTo>
                  <a:cubicBezTo>
                    <a:pt x="110" y="134"/>
                    <a:pt x="110" y="133"/>
                    <a:pt x="111" y="133"/>
                  </a:cubicBezTo>
                  <a:cubicBezTo>
                    <a:pt x="110" y="133"/>
                    <a:pt x="110" y="133"/>
                    <a:pt x="110" y="133"/>
                  </a:cubicBezTo>
                  <a:cubicBezTo>
                    <a:pt x="107" y="135"/>
                    <a:pt x="109" y="138"/>
                    <a:pt x="111" y="141"/>
                  </a:cubicBezTo>
                  <a:cubicBezTo>
                    <a:pt x="113" y="143"/>
                    <a:pt x="117" y="142"/>
                    <a:pt x="120" y="140"/>
                  </a:cubicBezTo>
                  <a:cubicBezTo>
                    <a:pt x="122" y="137"/>
                    <a:pt x="122" y="134"/>
                    <a:pt x="120" y="132"/>
                  </a:cubicBezTo>
                  <a:cubicBezTo>
                    <a:pt x="121" y="133"/>
                    <a:pt x="122" y="134"/>
                    <a:pt x="123" y="134"/>
                  </a:cubicBezTo>
                  <a:cubicBezTo>
                    <a:pt x="123" y="134"/>
                    <a:pt x="123" y="134"/>
                    <a:pt x="124" y="134"/>
                  </a:cubicBezTo>
                  <a:cubicBezTo>
                    <a:pt x="126" y="134"/>
                    <a:pt x="128" y="133"/>
                    <a:pt x="129" y="132"/>
                  </a:cubicBezTo>
                  <a:cubicBezTo>
                    <a:pt x="129" y="132"/>
                    <a:pt x="129" y="131"/>
                    <a:pt x="129" y="131"/>
                  </a:cubicBezTo>
                  <a:cubicBezTo>
                    <a:pt x="127" y="137"/>
                    <a:pt x="122" y="142"/>
                    <a:pt x="115" y="143"/>
                  </a:cubicBezTo>
                  <a:close/>
                  <a:moveTo>
                    <a:pt x="101" y="130"/>
                  </a:moveTo>
                  <a:cubicBezTo>
                    <a:pt x="101" y="130"/>
                    <a:pt x="101" y="130"/>
                    <a:pt x="101" y="130"/>
                  </a:cubicBezTo>
                  <a:cubicBezTo>
                    <a:pt x="101" y="130"/>
                    <a:pt x="101" y="130"/>
                    <a:pt x="101" y="130"/>
                  </a:cubicBezTo>
                  <a:close/>
                  <a:moveTo>
                    <a:pt x="101" y="124"/>
                  </a:moveTo>
                  <a:cubicBezTo>
                    <a:pt x="101" y="124"/>
                    <a:pt x="101" y="124"/>
                    <a:pt x="101" y="124"/>
                  </a:cubicBezTo>
                  <a:cubicBezTo>
                    <a:pt x="101" y="124"/>
                    <a:pt x="101" y="124"/>
                    <a:pt x="101" y="124"/>
                  </a:cubicBezTo>
                  <a:cubicBezTo>
                    <a:pt x="101" y="124"/>
                    <a:pt x="101" y="124"/>
                    <a:pt x="101" y="124"/>
                  </a:cubicBezTo>
                  <a:close/>
                  <a:moveTo>
                    <a:pt x="102" y="131"/>
                  </a:moveTo>
                  <a:cubicBezTo>
                    <a:pt x="102" y="131"/>
                    <a:pt x="102" y="131"/>
                    <a:pt x="102" y="131"/>
                  </a:cubicBezTo>
                  <a:cubicBezTo>
                    <a:pt x="102" y="131"/>
                    <a:pt x="102" y="131"/>
                    <a:pt x="102" y="131"/>
                  </a:cubicBezTo>
                  <a:cubicBezTo>
                    <a:pt x="102" y="131"/>
                    <a:pt x="102" y="131"/>
                    <a:pt x="102" y="131"/>
                  </a:cubicBezTo>
                  <a:close/>
                  <a:moveTo>
                    <a:pt x="103" y="122"/>
                  </a:moveTo>
                  <a:cubicBezTo>
                    <a:pt x="103" y="122"/>
                    <a:pt x="103" y="122"/>
                    <a:pt x="103" y="122"/>
                  </a:cubicBezTo>
                  <a:cubicBezTo>
                    <a:pt x="103" y="123"/>
                    <a:pt x="103" y="123"/>
                    <a:pt x="103" y="123"/>
                  </a:cubicBezTo>
                  <a:cubicBezTo>
                    <a:pt x="103" y="131"/>
                    <a:pt x="103" y="131"/>
                    <a:pt x="103" y="131"/>
                  </a:cubicBezTo>
                  <a:cubicBezTo>
                    <a:pt x="103" y="131"/>
                    <a:pt x="103" y="131"/>
                    <a:pt x="103" y="131"/>
                  </a:cubicBezTo>
                  <a:cubicBezTo>
                    <a:pt x="103" y="132"/>
                    <a:pt x="103" y="132"/>
                    <a:pt x="103" y="132"/>
                  </a:cubicBezTo>
                  <a:cubicBezTo>
                    <a:pt x="103" y="132"/>
                    <a:pt x="103" y="131"/>
                    <a:pt x="103" y="131"/>
                  </a:cubicBezTo>
                  <a:cubicBezTo>
                    <a:pt x="103" y="131"/>
                    <a:pt x="103" y="131"/>
                    <a:pt x="103" y="131"/>
                  </a:cubicBezTo>
                  <a:cubicBezTo>
                    <a:pt x="102" y="128"/>
                    <a:pt x="103" y="125"/>
                    <a:pt x="103" y="123"/>
                  </a:cubicBezTo>
                  <a:cubicBezTo>
                    <a:pt x="103" y="122"/>
                    <a:pt x="103" y="122"/>
                    <a:pt x="103" y="122"/>
                  </a:cubicBezTo>
                  <a:close/>
                  <a:moveTo>
                    <a:pt x="105" y="122"/>
                  </a:moveTo>
                  <a:cubicBezTo>
                    <a:pt x="105" y="122"/>
                    <a:pt x="105" y="122"/>
                    <a:pt x="105" y="122"/>
                  </a:cubicBezTo>
                  <a:cubicBezTo>
                    <a:pt x="105" y="122"/>
                    <a:pt x="105" y="122"/>
                    <a:pt x="105" y="122"/>
                  </a:cubicBezTo>
                  <a:cubicBezTo>
                    <a:pt x="105" y="122"/>
                    <a:pt x="105" y="122"/>
                    <a:pt x="105" y="122"/>
                  </a:cubicBezTo>
                  <a:cubicBezTo>
                    <a:pt x="105" y="126"/>
                    <a:pt x="105" y="126"/>
                    <a:pt x="105" y="126"/>
                  </a:cubicBezTo>
                  <a:cubicBezTo>
                    <a:pt x="105" y="128"/>
                    <a:pt x="104" y="130"/>
                    <a:pt x="105" y="132"/>
                  </a:cubicBezTo>
                  <a:cubicBezTo>
                    <a:pt x="105" y="132"/>
                    <a:pt x="104" y="132"/>
                    <a:pt x="104" y="132"/>
                  </a:cubicBezTo>
                  <a:cubicBezTo>
                    <a:pt x="104" y="132"/>
                    <a:pt x="104" y="132"/>
                    <a:pt x="104" y="131"/>
                  </a:cubicBezTo>
                  <a:cubicBezTo>
                    <a:pt x="103" y="128"/>
                    <a:pt x="104" y="125"/>
                    <a:pt x="104" y="122"/>
                  </a:cubicBezTo>
                  <a:cubicBezTo>
                    <a:pt x="104" y="122"/>
                    <a:pt x="104" y="122"/>
                    <a:pt x="104" y="122"/>
                  </a:cubicBezTo>
                  <a:cubicBezTo>
                    <a:pt x="104" y="131"/>
                    <a:pt x="104" y="131"/>
                    <a:pt x="104" y="131"/>
                  </a:cubicBezTo>
                  <a:cubicBezTo>
                    <a:pt x="104" y="131"/>
                    <a:pt x="104" y="131"/>
                    <a:pt x="104" y="131"/>
                  </a:cubicBezTo>
                  <a:cubicBezTo>
                    <a:pt x="104" y="128"/>
                    <a:pt x="105" y="125"/>
                    <a:pt x="105" y="122"/>
                  </a:cubicBezTo>
                  <a:close/>
                  <a:moveTo>
                    <a:pt x="106" y="122"/>
                  </a:moveTo>
                  <a:cubicBezTo>
                    <a:pt x="106" y="122"/>
                    <a:pt x="106" y="122"/>
                    <a:pt x="106" y="122"/>
                  </a:cubicBezTo>
                  <a:cubicBezTo>
                    <a:pt x="106" y="122"/>
                    <a:pt x="106" y="122"/>
                    <a:pt x="106" y="122"/>
                  </a:cubicBezTo>
                  <a:cubicBezTo>
                    <a:pt x="106" y="122"/>
                    <a:pt x="106" y="122"/>
                    <a:pt x="106" y="122"/>
                  </a:cubicBezTo>
                  <a:cubicBezTo>
                    <a:pt x="106" y="125"/>
                    <a:pt x="106" y="128"/>
                    <a:pt x="105" y="132"/>
                  </a:cubicBezTo>
                  <a:cubicBezTo>
                    <a:pt x="105" y="132"/>
                    <a:pt x="105" y="132"/>
                    <a:pt x="105" y="132"/>
                  </a:cubicBezTo>
                  <a:cubicBezTo>
                    <a:pt x="105" y="130"/>
                    <a:pt x="105" y="129"/>
                    <a:pt x="106" y="127"/>
                  </a:cubicBezTo>
                  <a:cubicBezTo>
                    <a:pt x="106" y="126"/>
                    <a:pt x="105" y="124"/>
                    <a:pt x="106" y="122"/>
                  </a:cubicBezTo>
                  <a:close/>
                  <a:moveTo>
                    <a:pt x="107" y="132"/>
                  </a:moveTo>
                  <a:cubicBezTo>
                    <a:pt x="107" y="131"/>
                    <a:pt x="107" y="131"/>
                    <a:pt x="107" y="131"/>
                  </a:cubicBezTo>
                  <a:cubicBezTo>
                    <a:pt x="107" y="132"/>
                    <a:pt x="107" y="132"/>
                    <a:pt x="108" y="132"/>
                  </a:cubicBezTo>
                  <a:cubicBezTo>
                    <a:pt x="107" y="132"/>
                    <a:pt x="107" y="132"/>
                    <a:pt x="107" y="132"/>
                  </a:cubicBezTo>
                  <a:close/>
                  <a:moveTo>
                    <a:pt x="109" y="131"/>
                  </a:moveTo>
                  <a:cubicBezTo>
                    <a:pt x="109" y="131"/>
                    <a:pt x="108" y="132"/>
                    <a:pt x="108" y="132"/>
                  </a:cubicBezTo>
                  <a:cubicBezTo>
                    <a:pt x="108" y="132"/>
                    <a:pt x="108" y="132"/>
                    <a:pt x="108" y="131"/>
                  </a:cubicBezTo>
                  <a:cubicBezTo>
                    <a:pt x="108" y="131"/>
                    <a:pt x="108" y="131"/>
                    <a:pt x="108" y="131"/>
                  </a:cubicBezTo>
                  <a:cubicBezTo>
                    <a:pt x="108" y="131"/>
                    <a:pt x="109" y="131"/>
                    <a:pt x="109" y="131"/>
                  </a:cubicBezTo>
                  <a:close/>
                  <a:moveTo>
                    <a:pt x="108" y="123"/>
                  </a:moveTo>
                  <a:cubicBezTo>
                    <a:pt x="108" y="122"/>
                    <a:pt x="108" y="122"/>
                    <a:pt x="108" y="122"/>
                  </a:cubicBezTo>
                  <a:cubicBezTo>
                    <a:pt x="108" y="122"/>
                    <a:pt x="108" y="122"/>
                    <a:pt x="108" y="122"/>
                  </a:cubicBezTo>
                  <a:cubicBezTo>
                    <a:pt x="108" y="122"/>
                    <a:pt x="108" y="122"/>
                    <a:pt x="108" y="123"/>
                  </a:cubicBezTo>
                  <a:close/>
                  <a:moveTo>
                    <a:pt x="109" y="123"/>
                  </a:moveTo>
                  <a:cubicBezTo>
                    <a:pt x="109" y="123"/>
                    <a:pt x="110" y="123"/>
                    <a:pt x="110" y="123"/>
                  </a:cubicBezTo>
                  <a:cubicBezTo>
                    <a:pt x="109" y="123"/>
                    <a:pt x="109" y="123"/>
                    <a:pt x="109" y="124"/>
                  </a:cubicBezTo>
                  <a:cubicBezTo>
                    <a:pt x="109" y="123"/>
                    <a:pt x="109" y="123"/>
                    <a:pt x="109" y="123"/>
                  </a:cubicBezTo>
                  <a:cubicBezTo>
                    <a:pt x="109" y="123"/>
                    <a:pt x="109" y="123"/>
                    <a:pt x="109" y="123"/>
                  </a:cubicBezTo>
                  <a:close/>
                  <a:moveTo>
                    <a:pt x="109" y="131"/>
                  </a:moveTo>
                  <a:cubicBezTo>
                    <a:pt x="109" y="131"/>
                    <a:pt x="109" y="131"/>
                    <a:pt x="109" y="131"/>
                  </a:cubicBezTo>
                  <a:cubicBezTo>
                    <a:pt x="110" y="131"/>
                    <a:pt x="110" y="131"/>
                    <a:pt x="110" y="131"/>
                  </a:cubicBezTo>
                  <a:cubicBezTo>
                    <a:pt x="110" y="131"/>
                    <a:pt x="110" y="131"/>
                    <a:pt x="110" y="131"/>
                  </a:cubicBezTo>
                  <a:cubicBezTo>
                    <a:pt x="110" y="131"/>
                    <a:pt x="109" y="131"/>
                    <a:pt x="109" y="131"/>
                  </a:cubicBezTo>
                  <a:cubicBezTo>
                    <a:pt x="109" y="131"/>
                    <a:pt x="109" y="131"/>
                    <a:pt x="109" y="131"/>
                  </a:cubicBezTo>
                  <a:close/>
                  <a:moveTo>
                    <a:pt x="111" y="137"/>
                  </a:moveTo>
                  <a:cubicBezTo>
                    <a:pt x="111" y="132"/>
                    <a:pt x="111" y="132"/>
                    <a:pt x="111" y="132"/>
                  </a:cubicBezTo>
                  <a:cubicBezTo>
                    <a:pt x="111" y="132"/>
                    <a:pt x="111" y="132"/>
                    <a:pt x="111" y="132"/>
                  </a:cubicBezTo>
                  <a:cubicBezTo>
                    <a:pt x="111" y="134"/>
                    <a:pt x="111" y="135"/>
                    <a:pt x="111" y="137"/>
                  </a:cubicBezTo>
                  <a:close/>
                  <a:moveTo>
                    <a:pt x="111" y="131"/>
                  </a:moveTo>
                  <a:cubicBezTo>
                    <a:pt x="111" y="131"/>
                    <a:pt x="111" y="131"/>
                    <a:pt x="111" y="131"/>
                  </a:cubicBezTo>
                  <a:cubicBezTo>
                    <a:pt x="111" y="131"/>
                    <a:pt x="111" y="131"/>
                    <a:pt x="111" y="131"/>
                  </a:cubicBezTo>
                  <a:close/>
                  <a:moveTo>
                    <a:pt x="110" y="130"/>
                  </a:moveTo>
                  <a:cubicBezTo>
                    <a:pt x="110" y="124"/>
                    <a:pt x="110" y="124"/>
                    <a:pt x="110" y="124"/>
                  </a:cubicBezTo>
                  <a:cubicBezTo>
                    <a:pt x="110" y="124"/>
                    <a:pt x="110" y="123"/>
                    <a:pt x="110" y="123"/>
                  </a:cubicBezTo>
                  <a:cubicBezTo>
                    <a:pt x="110" y="124"/>
                    <a:pt x="111" y="124"/>
                    <a:pt x="111" y="124"/>
                  </a:cubicBezTo>
                  <a:cubicBezTo>
                    <a:pt x="112" y="126"/>
                    <a:pt x="111" y="128"/>
                    <a:pt x="110" y="130"/>
                  </a:cubicBezTo>
                  <a:close/>
                  <a:moveTo>
                    <a:pt x="110" y="122"/>
                  </a:moveTo>
                  <a:cubicBezTo>
                    <a:pt x="110" y="122"/>
                    <a:pt x="110" y="121"/>
                    <a:pt x="110" y="121"/>
                  </a:cubicBezTo>
                  <a:cubicBezTo>
                    <a:pt x="110" y="121"/>
                    <a:pt x="110" y="121"/>
                    <a:pt x="110" y="120"/>
                  </a:cubicBezTo>
                  <a:cubicBezTo>
                    <a:pt x="110" y="117"/>
                    <a:pt x="110" y="117"/>
                    <a:pt x="110" y="117"/>
                  </a:cubicBezTo>
                  <a:cubicBezTo>
                    <a:pt x="111" y="116"/>
                    <a:pt x="111" y="116"/>
                    <a:pt x="111" y="116"/>
                  </a:cubicBezTo>
                  <a:cubicBezTo>
                    <a:pt x="111" y="118"/>
                    <a:pt x="111" y="120"/>
                    <a:pt x="110" y="122"/>
                  </a:cubicBezTo>
                  <a:close/>
                  <a:moveTo>
                    <a:pt x="110" y="139"/>
                  </a:moveTo>
                  <a:cubicBezTo>
                    <a:pt x="110" y="139"/>
                    <a:pt x="110" y="139"/>
                    <a:pt x="110" y="139"/>
                  </a:cubicBezTo>
                  <a:cubicBezTo>
                    <a:pt x="110" y="139"/>
                    <a:pt x="110" y="139"/>
                    <a:pt x="110" y="139"/>
                  </a:cubicBezTo>
                  <a:cubicBezTo>
                    <a:pt x="110" y="139"/>
                    <a:pt x="110" y="139"/>
                    <a:pt x="110" y="139"/>
                  </a:cubicBezTo>
                  <a:close/>
                  <a:moveTo>
                    <a:pt x="114" y="124"/>
                  </a:moveTo>
                  <a:cubicBezTo>
                    <a:pt x="114" y="124"/>
                    <a:pt x="114" y="124"/>
                    <a:pt x="114" y="124"/>
                  </a:cubicBezTo>
                  <a:cubicBezTo>
                    <a:pt x="114" y="124"/>
                    <a:pt x="114" y="124"/>
                    <a:pt x="114" y="124"/>
                  </a:cubicBezTo>
                  <a:cubicBezTo>
                    <a:pt x="114" y="124"/>
                    <a:pt x="114" y="124"/>
                    <a:pt x="114" y="124"/>
                  </a:cubicBezTo>
                  <a:close/>
                  <a:moveTo>
                    <a:pt x="114" y="118"/>
                  </a:moveTo>
                  <a:cubicBezTo>
                    <a:pt x="114" y="114"/>
                    <a:pt x="114" y="114"/>
                    <a:pt x="114" y="114"/>
                  </a:cubicBezTo>
                  <a:cubicBezTo>
                    <a:pt x="114" y="113"/>
                    <a:pt x="115" y="113"/>
                    <a:pt x="115" y="113"/>
                  </a:cubicBezTo>
                  <a:cubicBezTo>
                    <a:pt x="114" y="115"/>
                    <a:pt x="114" y="116"/>
                    <a:pt x="114" y="118"/>
                  </a:cubicBezTo>
                  <a:close/>
                  <a:moveTo>
                    <a:pt x="113" y="124"/>
                  </a:moveTo>
                  <a:cubicBezTo>
                    <a:pt x="113" y="124"/>
                    <a:pt x="113" y="124"/>
                    <a:pt x="113" y="124"/>
                  </a:cubicBezTo>
                  <a:cubicBezTo>
                    <a:pt x="113" y="124"/>
                    <a:pt x="113" y="124"/>
                    <a:pt x="113" y="124"/>
                  </a:cubicBezTo>
                  <a:cubicBezTo>
                    <a:pt x="113" y="124"/>
                    <a:pt x="113" y="124"/>
                    <a:pt x="113" y="124"/>
                  </a:cubicBezTo>
                  <a:cubicBezTo>
                    <a:pt x="113" y="114"/>
                    <a:pt x="113" y="114"/>
                    <a:pt x="113" y="114"/>
                  </a:cubicBezTo>
                  <a:cubicBezTo>
                    <a:pt x="113" y="114"/>
                    <a:pt x="114" y="114"/>
                    <a:pt x="114" y="114"/>
                  </a:cubicBezTo>
                  <a:cubicBezTo>
                    <a:pt x="114" y="118"/>
                    <a:pt x="113" y="121"/>
                    <a:pt x="113" y="124"/>
                  </a:cubicBezTo>
                  <a:close/>
                  <a:moveTo>
                    <a:pt x="117" y="124"/>
                  </a:moveTo>
                  <a:cubicBezTo>
                    <a:pt x="117" y="125"/>
                    <a:pt x="117" y="125"/>
                    <a:pt x="117" y="124"/>
                  </a:cubicBezTo>
                  <a:cubicBezTo>
                    <a:pt x="118" y="124"/>
                    <a:pt x="118" y="124"/>
                    <a:pt x="118" y="124"/>
                  </a:cubicBezTo>
                  <a:cubicBezTo>
                    <a:pt x="118" y="124"/>
                    <a:pt x="118" y="124"/>
                    <a:pt x="118" y="124"/>
                  </a:cubicBezTo>
                  <a:cubicBezTo>
                    <a:pt x="118" y="124"/>
                    <a:pt x="118" y="124"/>
                    <a:pt x="118" y="124"/>
                  </a:cubicBezTo>
                  <a:cubicBezTo>
                    <a:pt x="119" y="124"/>
                    <a:pt x="119" y="124"/>
                    <a:pt x="119" y="123"/>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9" y="124"/>
                    <a:pt x="119" y="124"/>
                    <a:pt x="119" y="124"/>
                  </a:cubicBezTo>
                  <a:cubicBezTo>
                    <a:pt x="118" y="124"/>
                    <a:pt x="118" y="124"/>
                    <a:pt x="118" y="124"/>
                  </a:cubicBezTo>
                  <a:cubicBezTo>
                    <a:pt x="118" y="124"/>
                    <a:pt x="118" y="124"/>
                    <a:pt x="118" y="124"/>
                  </a:cubicBezTo>
                  <a:cubicBezTo>
                    <a:pt x="118" y="126"/>
                    <a:pt x="118" y="128"/>
                    <a:pt x="118" y="130"/>
                  </a:cubicBezTo>
                  <a:cubicBezTo>
                    <a:pt x="116" y="129"/>
                    <a:pt x="114" y="128"/>
                    <a:pt x="112" y="130"/>
                  </a:cubicBezTo>
                  <a:cubicBezTo>
                    <a:pt x="113" y="129"/>
                    <a:pt x="113" y="126"/>
                    <a:pt x="112" y="124"/>
                  </a:cubicBezTo>
                  <a:cubicBezTo>
                    <a:pt x="113" y="125"/>
                    <a:pt x="115" y="125"/>
                    <a:pt x="117" y="124"/>
                  </a:cubicBezTo>
                  <a:close/>
                  <a:moveTo>
                    <a:pt x="115" y="124"/>
                  </a:moveTo>
                  <a:cubicBezTo>
                    <a:pt x="115" y="124"/>
                    <a:pt x="115" y="124"/>
                    <a:pt x="115" y="124"/>
                  </a:cubicBezTo>
                  <a:cubicBezTo>
                    <a:pt x="115" y="124"/>
                    <a:pt x="115" y="124"/>
                    <a:pt x="115" y="124"/>
                  </a:cubicBezTo>
                  <a:cubicBezTo>
                    <a:pt x="115" y="124"/>
                    <a:pt x="115" y="124"/>
                    <a:pt x="115" y="124"/>
                  </a:cubicBezTo>
                  <a:close/>
                  <a:moveTo>
                    <a:pt x="116" y="124"/>
                  </a:moveTo>
                  <a:cubicBezTo>
                    <a:pt x="116" y="124"/>
                    <a:pt x="117" y="124"/>
                    <a:pt x="117" y="124"/>
                  </a:cubicBezTo>
                  <a:cubicBezTo>
                    <a:pt x="117" y="124"/>
                    <a:pt x="117" y="124"/>
                    <a:pt x="117" y="124"/>
                  </a:cubicBezTo>
                  <a:cubicBezTo>
                    <a:pt x="117" y="124"/>
                    <a:pt x="116" y="124"/>
                    <a:pt x="116" y="124"/>
                  </a:cubicBezTo>
                  <a:close/>
                  <a:moveTo>
                    <a:pt x="117" y="124"/>
                  </a:moveTo>
                  <a:cubicBezTo>
                    <a:pt x="117" y="124"/>
                    <a:pt x="117" y="124"/>
                    <a:pt x="117" y="124"/>
                  </a:cubicBezTo>
                  <a:cubicBezTo>
                    <a:pt x="117" y="124"/>
                    <a:pt x="117" y="124"/>
                    <a:pt x="117" y="124"/>
                  </a:cubicBezTo>
                  <a:cubicBezTo>
                    <a:pt x="117" y="124"/>
                    <a:pt x="117" y="124"/>
                    <a:pt x="117" y="124"/>
                  </a:cubicBezTo>
                  <a:close/>
                  <a:moveTo>
                    <a:pt x="118" y="123"/>
                  </a:moveTo>
                  <a:cubicBezTo>
                    <a:pt x="118" y="123"/>
                    <a:pt x="118" y="123"/>
                    <a:pt x="118" y="123"/>
                  </a:cubicBezTo>
                  <a:cubicBezTo>
                    <a:pt x="118" y="123"/>
                    <a:pt x="118" y="123"/>
                    <a:pt x="119" y="123"/>
                  </a:cubicBezTo>
                  <a:cubicBezTo>
                    <a:pt x="118" y="123"/>
                    <a:pt x="118" y="123"/>
                    <a:pt x="118" y="123"/>
                  </a:cubicBezTo>
                  <a:close/>
                  <a:moveTo>
                    <a:pt x="120" y="122"/>
                  </a:moveTo>
                  <a:cubicBezTo>
                    <a:pt x="120" y="122"/>
                    <a:pt x="120" y="122"/>
                    <a:pt x="120" y="123"/>
                  </a:cubicBezTo>
                  <a:cubicBezTo>
                    <a:pt x="119" y="123"/>
                    <a:pt x="119" y="123"/>
                    <a:pt x="119" y="123"/>
                  </a:cubicBezTo>
                  <a:cubicBezTo>
                    <a:pt x="119" y="121"/>
                    <a:pt x="119" y="121"/>
                    <a:pt x="119" y="121"/>
                  </a:cubicBezTo>
                  <a:cubicBezTo>
                    <a:pt x="119" y="122"/>
                    <a:pt x="120" y="122"/>
                    <a:pt x="120" y="122"/>
                  </a:cubicBezTo>
                  <a:close/>
                  <a:moveTo>
                    <a:pt x="119" y="116"/>
                  </a:moveTo>
                  <a:cubicBezTo>
                    <a:pt x="120" y="116"/>
                    <a:pt x="120" y="116"/>
                    <a:pt x="120" y="116"/>
                  </a:cubicBezTo>
                  <a:cubicBezTo>
                    <a:pt x="120" y="117"/>
                    <a:pt x="121" y="119"/>
                    <a:pt x="120" y="120"/>
                  </a:cubicBezTo>
                  <a:cubicBezTo>
                    <a:pt x="120" y="119"/>
                    <a:pt x="120" y="117"/>
                    <a:pt x="119" y="116"/>
                  </a:cubicBezTo>
                  <a:close/>
                  <a:moveTo>
                    <a:pt x="120" y="123"/>
                  </a:moveTo>
                  <a:cubicBezTo>
                    <a:pt x="120" y="123"/>
                    <a:pt x="120" y="123"/>
                    <a:pt x="121" y="123"/>
                  </a:cubicBezTo>
                  <a:cubicBezTo>
                    <a:pt x="121" y="125"/>
                    <a:pt x="120" y="128"/>
                    <a:pt x="119" y="131"/>
                  </a:cubicBezTo>
                  <a:cubicBezTo>
                    <a:pt x="119" y="131"/>
                    <a:pt x="119" y="130"/>
                    <a:pt x="119" y="130"/>
                  </a:cubicBezTo>
                  <a:cubicBezTo>
                    <a:pt x="119" y="130"/>
                    <a:pt x="119" y="130"/>
                    <a:pt x="119" y="130"/>
                  </a:cubicBezTo>
                  <a:cubicBezTo>
                    <a:pt x="119" y="126"/>
                    <a:pt x="119" y="126"/>
                    <a:pt x="119" y="126"/>
                  </a:cubicBezTo>
                  <a:cubicBezTo>
                    <a:pt x="120" y="125"/>
                    <a:pt x="120" y="124"/>
                    <a:pt x="120" y="123"/>
                  </a:cubicBezTo>
                  <a:close/>
                  <a:moveTo>
                    <a:pt x="122" y="131"/>
                  </a:moveTo>
                  <a:cubicBezTo>
                    <a:pt x="122" y="122"/>
                    <a:pt x="122" y="122"/>
                    <a:pt x="122" y="122"/>
                  </a:cubicBezTo>
                  <a:cubicBezTo>
                    <a:pt x="122" y="122"/>
                    <a:pt x="122" y="122"/>
                    <a:pt x="123" y="122"/>
                  </a:cubicBezTo>
                  <a:cubicBezTo>
                    <a:pt x="123" y="125"/>
                    <a:pt x="122" y="128"/>
                    <a:pt x="122" y="133"/>
                  </a:cubicBezTo>
                  <a:cubicBezTo>
                    <a:pt x="123" y="133"/>
                    <a:pt x="123" y="133"/>
                    <a:pt x="123" y="133"/>
                  </a:cubicBezTo>
                  <a:cubicBezTo>
                    <a:pt x="123" y="133"/>
                    <a:pt x="123" y="133"/>
                    <a:pt x="123" y="133"/>
                  </a:cubicBezTo>
                  <a:cubicBezTo>
                    <a:pt x="122" y="133"/>
                    <a:pt x="121" y="132"/>
                    <a:pt x="120" y="132"/>
                  </a:cubicBezTo>
                  <a:cubicBezTo>
                    <a:pt x="120" y="132"/>
                    <a:pt x="120" y="132"/>
                    <a:pt x="120" y="132"/>
                  </a:cubicBezTo>
                  <a:cubicBezTo>
                    <a:pt x="120" y="132"/>
                    <a:pt x="120" y="132"/>
                    <a:pt x="120" y="132"/>
                  </a:cubicBezTo>
                  <a:cubicBezTo>
                    <a:pt x="121" y="133"/>
                    <a:pt x="122" y="133"/>
                    <a:pt x="122" y="131"/>
                  </a:cubicBezTo>
                  <a:close/>
                  <a:moveTo>
                    <a:pt x="122" y="122"/>
                  </a:moveTo>
                  <a:cubicBezTo>
                    <a:pt x="122" y="122"/>
                    <a:pt x="122" y="122"/>
                    <a:pt x="122" y="122"/>
                  </a:cubicBezTo>
                  <a:cubicBezTo>
                    <a:pt x="122" y="122"/>
                    <a:pt x="122" y="122"/>
                    <a:pt x="122" y="122"/>
                  </a:cubicBezTo>
                  <a:cubicBezTo>
                    <a:pt x="122" y="122"/>
                    <a:pt x="122" y="122"/>
                    <a:pt x="122" y="122"/>
                  </a:cubicBezTo>
                  <a:close/>
                  <a:moveTo>
                    <a:pt x="119" y="138"/>
                  </a:moveTo>
                  <a:cubicBezTo>
                    <a:pt x="119" y="133"/>
                    <a:pt x="119" y="133"/>
                    <a:pt x="119" y="133"/>
                  </a:cubicBezTo>
                  <a:cubicBezTo>
                    <a:pt x="119" y="132"/>
                    <a:pt x="119" y="132"/>
                    <a:pt x="119" y="132"/>
                  </a:cubicBezTo>
                  <a:cubicBezTo>
                    <a:pt x="119" y="132"/>
                    <a:pt x="119" y="132"/>
                    <a:pt x="120" y="133"/>
                  </a:cubicBezTo>
                  <a:cubicBezTo>
                    <a:pt x="121" y="135"/>
                    <a:pt x="121" y="137"/>
                    <a:pt x="118" y="140"/>
                  </a:cubicBezTo>
                  <a:cubicBezTo>
                    <a:pt x="118" y="140"/>
                    <a:pt x="118" y="140"/>
                    <a:pt x="118" y="140"/>
                  </a:cubicBezTo>
                  <a:cubicBezTo>
                    <a:pt x="118" y="140"/>
                    <a:pt x="118" y="140"/>
                    <a:pt x="118" y="140"/>
                  </a:cubicBezTo>
                  <a:cubicBezTo>
                    <a:pt x="118" y="133"/>
                    <a:pt x="118" y="133"/>
                    <a:pt x="118" y="133"/>
                  </a:cubicBezTo>
                  <a:cubicBezTo>
                    <a:pt x="118" y="131"/>
                    <a:pt x="118" y="131"/>
                    <a:pt x="118" y="131"/>
                  </a:cubicBezTo>
                  <a:cubicBezTo>
                    <a:pt x="119" y="131"/>
                    <a:pt x="119" y="132"/>
                    <a:pt x="119" y="132"/>
                  </a:cubicBezTo>
                  <a:cubicBezTo>
                    <a:pt x="119" y="132"/>
                    <a:pt x="118" y="132"/>
                    <a:pt x="118" y="133"/>
                  </a:cubicBezTo>
                  <a:cubicBezTo>
                    <a:pt x="118" y="135"/>
                    <a:pt x="119" y="136"/>
                    <a:pt x="119" y="138"/>
                  </a:cubicBezTo>
                  <a:close/>
                  <a:moveTo>
                    <a:pt x="119" y="123"/>
                  </a:moveTo>
                  <a:cubicBezTo>
                    <a:pt x="119" y="123"/>
                    <a:pt x="119" y="123"/>
                    <a:pt x="119" y="123"/>
                  </a:cubicBezTo>
                  <a:cubicBezTo>
                    <a:pt x="119" y="123"/>
                    <a:pt x="119" y="123"/>
                    <a:pt x="119" y="123"/>
                  </a:cubicBezTo>
                  <a:close/>
                  <a:moveTo>
                    <a:pt x="114" y="131"/>
                  </a:moveTo>
                  <a:cubicBezTo>
                    <a:pt x="114" y="130"/>
                    <a:pt x="114" y="130"/>
                    <a:pt x="114" y="130"/>
                  </a:cubicBezTo>
                  <a:cubicBezTo>
                    <a:pt x="114" y="130"/>
                    <a:pt x="115" y="130"/>
                    <a:pt x="116" y="130"/>
                  </a:cubicBezTo>
                  <a:cubicBezTo>
                    <a:pt x="115" y="130"/>
                    <a:pt x="115" y="130"/>
                    <a:pt x="115" y="131"/>
                  </a:cubicBezTo>
                  <a:cubicBezTo>
                    <a:pt x="115" y="130"/>
                    <a:pt x="114" y="130"/>
                    <a:pt x="114" y="131"/>
                  </a:cubicBezTo>
                  <a:close/>
                  <a:moveTo>
                    <a:pt x="115" y="136"/>
                  </a:moveTo>
                  <a:cubicBezTo>
                    <a:pt x="115" y="141"/>
                    <a:pt x="115" y="141"/>
                    <a:pt x="115" y="141"/>
                  </a:cubicBezTo>
                  <a:cubicBezTo>
                    <a:pt x="115" y="141"/>
                    <a:pt x="115" y="141"/>
                    <a:pt x="115" y="141"/>
                  </a:cubicBezTo>
                  <a:cubicBezTo>
                    <a:pt x="114" y="139"/>
                    <a:pt x="115" y="138"/>
                    <a:pt x="115" y="136"/>
                  </a:cubicBezTo>
                  <a:close/>
                  <a:moveTo>
                    <a:pt x="114" y="141"/>
                  </a:moveTo>
                  <a:cubicBezTo>
                    <a:pt x="114" y="141"/>
                    <a:pt x="114" y="141"/>
                    <a:pt x="114" y="141"/>
                  </a:cubicBezTo>
                  <a:cubicBezTo>
                    <a:pt x="114" y="141"/>
                    <a:pt x="114" y="141"/>
                    <a:pt x="114" y="141"/>
                  </a:cubicBezTo>
                  <a:cubicBezTo>
                    <a:pt x="114" y="141"/>
                    <a:pt x="114" y="141"/>
                    <a:pt x="114" y="141"/>
                  </a:cubicBezTo>
                  <a:close/>
                  <a:moveTo>
                    <a:pt x="117" y="131"/>
                  </a:moveTo>
                  <a:cubicBezTo>
                    <a:pt x="117" y="130"/>
                    <a:pt x="116" y="130"/>
                    <a:pt x="116" y="130"/>
                  </a:cubicBezTo>
                  <a:cubicBezTo>
                    <a:pt x="116" y="130"/>
                    <a:pt x="116" y="130"/>
                    <a:pt x="117" y="130"/>
                  </a:cubicBezTo>
                  <a:cubicBezTo>
                    <a:pt x="117" y="130"/>
                    <a:pt x="117" y="130"/>
                    <a:pt x="117" y="131"/>
                  </a:cubicBezTo>
                  <a:cubicBezTo>
                    <a:pt x="117" y="141"/>
                    <a:pt x="117" y="141"/>
                    <a:pt x="117" y="141"/>
                  </a:cubicBezTo>
                  <a:cubicBezTo>
                    <a:pt x="117" y="137"/>
                    <a:pt x="117" y="134"/>
                    <a:pt x="117" y="131"/>
                  </a:cubicBezTo>
                  <a:cubicBezTo>
                    <a:pt x="117" y="131"/>
                    <a:pt x="117" y="131"/>
                    <a:pt x="117" y="130"/>
                  </a:cubicBezTo>
                  <a:cubicBezTo>
                    <a:pt x="118" y="131"/>
                    <a:pt x="118" y="131"/>
                    <a:pt x="118" y="131"/>
                  </a:cubicBezTo>
                  <a:cubicBezTo>
                    <a:pt x="117" y="131"/>
                    <a:pt x="117" y="131"/>
                    <a:pt x="117" y="131"/>
                  </a:cubicBezTo>
                  <a:cubicBezTo>
                    <a:pt x="117" y="131"/>
                    <a:pt x="117" y="131"/>
                    <a:pt x="117" y="131"/>
                  </a:cubicBezTo>
                  <a:cubicBezTo>
                    <a:pt x="117" y="140"/>
                    <a:pt x="117" y="140"/>
                    <a:pt x="117" y="140"/>
                  </a:cubicBezTo>
                  <a:cubicBezTo>
                    <a:pt x="117" y="140"/>
                    <a:pt x="118" y="140"/>
                    <a:pt x="118" y="140"/>
                  </a:cubicBezTo>
                  <a:cubicBezTo>
                    <a:pt x="117" y="141"/>
                    <a:pt x="116" y="141"/>
                    <a:pt x="115" y="141"/>
                  </a:cubicBezTo>
                  <a:cubicBezTo>
                    <a:pt x="116" y="137"/>
                    <a:pt x="117" y="134"/>
                    <a:pt x="117" y="131"/>
                  </a:cubicBezTo>
                  <a:close/>
                  <a:moveTo>
                    <a:pt x="113" y="141"/>
                  </a:moveTo>
                  <a:cubicBezTo>
                    <a:pt x="113" y="141"/>
                    <a:pt x="113" y="141"/>
                    <a:pt x="113" y="141"/>
                  </a:cubicBezTo>
                  <a:cubicBezTo>
                    <a:pt x="113" y="141"/>
                    <a:pt x="113" y="141"/>
                    <a:pt x="113" y="141"/>
                  </a:cubicBezTo>
                  <a:cubicBezTo>
                    <a:pt x="113" y="141"/>
                    <a:pt x="113" y="141"/>
                    <a:pt x="113" y="141"/>
                  </a:cubicBezTo>
                  <a:cubicBezTo>
                    <a:pt x="113" y="141"/>
                    <a:pt x="113" y="141"/>
                    <a:pt x="113" y="141"/>
                  </a:cubicBezTo>
                  <a:close/>
                  <a:moveTo>
                    <a:pt x="113" y="131"/>
                  </a:moveTo>
                  <a:cubicBezTo>
                    <a:pt x="113" y="131"/>
                    <a:pt x="113" y="131"/>
                    <a:pt x="113" y="131"/>
                  </a:cubicBezTo>
                  <a:cubicBezTo>
                    <a:pt x="113" y="131"/>
                    <a:pt x="113" y="131"/>
                    <a:pt x="113" y="131"/>
                  </a:cubicBezTo>
                  <a:cubicBezTo>
                    <a:pt x="113" y="131"/>
                    <a:pt x="113" y="130"/>
                    <a:pt x="113" y="130"/>
                  </a:cubicBezTo>
                  <a:cubicBezTo>
                    <a:pt x="113" y="130"/>
                    <a:pt x="113" y="131"/>
                    <a:pt x="113" y="131"/>
                  </a:cubicBezTo>
                  <a:close/>
                  <a:moveTo>
                    <a:pt x="112" y="141"/>
                  </a:moveTo>
                  <a:cubicBezTo>
                    <a:pt x="112" y="141"/>
                    <a:pt x="112" y="140"/>
                    <a:pt x="112" y="140"/>
                  </a:cubicBezTo>
                  <a:cubicBezTo>
                    <a:pt x="112" y="140"/>
                    <a:pt x="112" y="140"/>
                    <a:pt x="112" y="140"/>
                  </a:cubicBezTo>
                  <a:cubicBezTo>
                    <a:pt x="112" y="141"/>
                    <a:pt x="112" y="141"/>
                    <a:pt x="112" y="141"/>
                  </a:cubicBezTo>
                  <a:cubicBezTo>
                    <a:pt x="112" y="141"/>
                    <a:pt x="112" y="141"/>
                    <a:pt x="112" y="141"/>
                  </a:cubicBezTo>
                  <a:close/>
                  <a:moveTo>
                    <a:pt x="112" y="124"/>
                  </a:moveTo>
                  <a:cubicBezTo>
                    <a:pt x="112" y="123"/>
                    <a:pt x="112" y="123"/>
                    <a:pt x="112" y="123"/>
                  </a:cubicBezTo>
                  <a:cubicBezTo>
                    <a:pt x="112" y="123"/>
                    <a:pt x="112" y="123"/>
                    <a:pt x="112" y="123"/>
                  </a:cubicBezTo>
                  <a:cubicBezTo>
                    <a:pt x="112" y="119"/>
                    <a:pt x="113" y="117"/>
                    <a:pt x="113" y="114"/>
                  </a:cubicBezTo>
                  <a:cubicBezTo>
                    <a:pt x="113" y="114"/>
                    <a:pt x="113" y="114"/>
                    <a:pt x="113" y="114"/>
                  </a:cubicBezTo>
                  <a:cubicBezTo>
                    <a:pt x="113" y="117"/>
                    <a:pt x="112" y="120"/>
                    <a:pt x="112" y="124"/>
                  </a:cubicBezTo>
                  <a:close/>
                  <a:moveTo>
                    <a:pt x="124" y="122"/>
                  </a:moveTo>
                  <a:cubicBezTo>
                    <a:pt x="123" y="123"/>
                    <a:pt x="123" y="125"/>
                    <a:pt x="123" y="126"/>
                  </a:cubicBezTo>
                  <a:cubicBezTo>
                    <a:pt x="123" y="122"/>
                    <a:pt x="123" y="122"/>
                    <a:pt x="123" y="122"/>
                  </a:cubicBezTo>
                  <a:cubicBezTo>
                    <a:pt x="123" y="122"/>
                    <a:pt x="124" y="122"/>
                    <a:pt x="124" y="122"/>
                  </a:cubicBezTo>
                  <a:close/>
                  <a:moveTo>
                    <a:pt x="125" y="133"/>
                  </a:moveTo>
                  <a:cubicBezTo>
                    <a:pt x="125" y="133"/>
                    <a:pt x="124" y="133"/>
                    <a:pt x="124" y="133"/>
                  </a:cubicBezTo>
                  <a:cubicBezTo>
                    <a:pt x="124" y="133"/>
                    <a:pt x="124" y="133"/>
                    <a:pt x="124" y="133"/>
                  </a:cubicBezTo>
                  <a:lnTo>
                    <a:pt x="125" y="133"/>
                  </a:lnTo>
                  <a:close/>
                  <a:moveTo>
                    <a:pt x="127" y="132"/>
                  </a:moveTo>
                  <a:cubicBezTo>
                    <a:pt x="127" y="132"/>
                    <a:pt x="127" y="132"/>
                    <a:pt x="127" y="132"/>
                  </a:cubicBezTo>
                  <a:cubicBezTo>
                    <a:pt x="127" y="131"/>
                    <a:pt x="127" y="131"/>
                    <a:pt x="127" y="131"/>
                  </a:cubicBezTo>
                  <a:cubicBezTo>
                    <a:pt x="127" y="132"/>
                    <a:pt x="127" y="132"/>
                    <a:pt x="127" y="132"/>
                  </a:cubicBezTo>
                  <a:close/>
                  <a:moveTo>
                    <a:pt x="127" y="123"/>
                  </a:moveTo>
                  <a:cubicBezTo>
                    <a:pt x="127" y="122"/>
                    <a:pt x="127" y="122"/>
                    <a:pt x="127" y="122"/>
                  </a:cubicBezTo>
                  <a:cubicBezTo>
                    <a:pt x="127" y="122"/>
                    <a:pt x="127" y="122"/>
                    <a:pt x="127" y="122"/>
                  </a:cubicBezTo>
                  <a:cubicBezTo>
                    <a:pt x="127" y="123"/>
                    <a:pt x="127" y="123"/>
                    <a:pt x="127" y="123"/>
                  </a:cubicBezTo>
                  <a:close/>
                  <a:moveTo>
                    <a:pt x="129" y="131"/>
                  </a:moveTo>
                  <a:cubicBezTo>
                    <a:pt x="129" y="131"/>
                    <a:pt x="129" y="131"/>
                    <a:pt x="129" y="131"/>
                  </a:cubicBezTo>
                  <a:cubicBezTo>
                    <a:pt x="129" y="131"/>
                    <a:pt x="129" y="131"/>
                    <a:pt x="129" y="131"/>
                  </a:cubicBezTo>
                  <a:cubicBezTo>
                    <a:pt x="129" y="131"/>
                    <a:pt x="129" y="131"/>
                    <a:pt x="129" y="131"/>
                  </a:cubicBezTo>
                  <a:close/>
                  <a:moveTo>
                    <a:pt x="129" y="129"/>
                  </a:moveTo>
                  <a:cubicBezTo>
                    <a:pt x="129" y="128"/>
                    <a:pt x="129" y="126"/>
                    <a:pt x="129" y="125"/>
                  </a:cubicBezTo>
                  <a:cubicBezTo>
                    <a:pt x="129" y="125"/>
                    <a:pt x="129" y="125"/>
                    <a:pt x="129" y="125"/>
                  </a:cubicBezTo>
                  <a:cubicBezTo>
                    <a:pt x="129" y="126"/>
                    <a:pt x="130" y="128"/>
                    <a:pt x="129" y="129"/>
                  </a:cubicBezTo>
                  <a:close/>
                  <a:moveTo>
                    <a:pt x="129" y="123"/>
                  </a:moveTo>
                  <a:cubicBezTo>
                    <a:pt x="129" y="123"/>
                    <a:pt x="129" y="123"/>
                    <a:pt x="129" y="123"/>
                  </a:cubicBezTo>
                  <a:cubicBezTo>
                    <a:pt x="129" y="122"/>
                    <a:pt x="128" y="122"/>
                    <a:pt x="128" y="122"/>
                  </a:cubicBezTo>
                  <a:cubicBezTo>
                    <a:pt x="128" y="122"/>
                    <a:pt x="128" y="122"/>
                    <a:pt x="127" y="122"/>
                  </a:cubicBezTo>
                  <a:cubicBezTo>
                    <a:pt x="127" y="122"/>
                    <a:pt x="127" y="122"/>
                    <a:pt x="127" y="122"/>
                  </a:cubicBezTo>
                  <a:cubicBezTo>
                    <a:pt x="127" y="122"/>
                    <a:pt x="127" y="122"/>
                    <a:pt x="127" y="122"/>
                  </a:cubicBezTo>
                  <a:cubicBezTo>
                    <a:pt x="127" y="122"/>
                    <a:pt x="127" y="122"/>
                    <a:pt x="127" y="122"/>
                  </a:cubicBezTo>
                  <a:cubicBezTo>
                    <a:pt x="125" y="122"/>
                    <a:pt x="125" y="122"/>
                    <a:pt x="125" y="122"/>
                  </a:cubicBezTo>
                  <a:cubicBezTo>
                    <a:pt x="124" y="121"/>
                    <a:pt x="124" y="121"/>
                    <a:pt x="123" y="122"/>
                  </a:cubicBezTo>
                  <a:cubicBezTo>
                    <a:pt x="123" y="122"/>
                    <a:pt x="123" y="122"/>
                    <a:pt x="123" y="122"/>
                  </a:cubicBezTo>
                  <a:cubicBezTo>
                    <a:pt x="123" y="122"/>
                    <a:pt x="123" y="122"/>
                    <a:pt x="123" y="122"/>
                  </a:cubicBezTo>
                  <a:cubicBezTo>
                    <a:pt x="122" y="122"/>
                    <a:pt x="122" y="122"/>
                    <a:pt x="122" y="122"/>
                  </a:cubicBezTo>
                  <a:cubicBezTo>
                    <a:pt x="122" y="122"/>
                    <a:pt x="122" y="122"/>
                    <a:pt x="122" y="122"/>
                  </a:cubicBezTo>
                  <a:cubicBezTo>
                    <a:pt x="122" y="122"/>
                    <a:pt x="122" y="122"/>
                    <a:pt x="122" y="122"/>
                  </a:cubicBezTo>
                  <a:cubicBezTo>
                    <a:pt x="122" y="122"/>
                    <a:pt x="122" y="122"/>
                    <a:pt x="122" y="122"/>
                  </a:cubicBezTo>
                  <a:cubicBezTo>
                    <a:pt x="121" y="122"/>
                    <a:pt x="121" y="122"/>
                    <a:pt x="121" y="122"/>
                  </a:cubicBezTo>
                  <a:cubicBezTo>
                    <a:pt x="121" y="122"/>
                    <a:pt x="120" y="123"/>
                    <a:pt x="120" y="123"/>
                  </a:cubicBezTo>
                  <a:cubicBezTo>
                    <a:pt x="120" y="123"/>
                    <a:pt x="120" y="123"/>
                    <a:pt x="120" y="123"/>
                  </a:cubicBezTo>
                  <a:cubicBezTo>
                    <a:pt x="120" y="123"/>
                    <a:pt x="120" y="123"/>
                    <a:pt x="120" y="123"/>
                  </a:cubicBezTo>
                  <a:cubicBezTo>
                    <a:pt x="120" y="122"/>
                    <a:pt x="120" y="122"/>
                    <a:pt x="120" y="122"/>
                  </a:cubicBezTo>
                  <a:cubicBezTo>
                    <a:pt x="120" y="122"/>
                    <a:pt x="120" y="122"/>
                    <a:pt x="120" y="121"/>
                  </a:cubicBezTo>
                  <a:cubicBezTo>
                    <a:pt x="120" y="121"/>
                    <a:pt x="120" y="121"/>
                    <a:pt x="120" y="121"/>
                  </a:cubicBezTo>
                  <a:cubicBezTo>
                    <a:pt x="122" y="119"/>
                    <a:pt x="122" y="117"/>
                    <a:pt x="121" y="115"/>
                  </a:cubicBezTo>
                  <a:cubicBezTo>
                    <a:pt x="120" y="114"/>
                    <a:pt x="120" y="114"/>
                    <a:pt x="119" y="114"/>
                  </a:cubicBezTo>
                  <a:cubicBezTo>
                    <a:pt x="119" y="113"/>
                    <a:pt x="119" y="113"/>
                    <a:pt x="119" y="113"/>
                  </a:cubicBezTo>
                  <a:cubicBezTo>
                    <a:pt x="119" y="113"/>
                    <a:pt x="119" y="113"/>
                    <a:pt x="119" y="113"/>
                  </a:cubicBezTo>
                  <a:cubicBezTo>
                    <a:pt x="119" y="113"/>
                    <a:pt x="118" y="113"/>
                    <a:pt x="118" y="113"/>
                  </a:cubicBezTo>
                  <a:cubicBezTo>
                    <a:pt x="118" y="113"/>
                    <a:pt x="118" y="113"/>
                    <a:pt x="118" y="113"/>
                  </a:cubicBezTo>
                  <a:cubicBezTo>
                    <a:pt x="118" y="113"/>
                    <a:pt x="118" y="113"/>
                    <a:pt x="117" y="113"/>
                  </a:cubicBezTo>
                  <a:cubicBezTo>
                    <a:pt x="117" y="112"/>
                    <a:pt x="117" y="112"/>
                    <a:pt x="117" y="112"/>
                  </a:cubicBezTo>
                  <a:cubicBezTo>
                    <a:pt x="117" y="112"/>
                    <a:pt x="117" y="112"/>
                    <a:pt x="117" y="112"/>
                  </a:cubicBezTo>
                  <a:cubicBezTo>
                    <a:pt x="117" y="112"/>
                    <a:pt x="117" y="112"/>
                    <a:pt x="117" y="112"/>
                  </a:cubicBezTo>
                  <a:cubicBezTo>
                    <a:pt x="114" y="112"/>
                    <a:pt x="112" y="113"/>
                    <a:pt x="109" y="115"/>
                  </a:cubicBezTo>
                  <a:cubicBezTo>
                    <a:pt x="109" y="115"/>
                    <a:pt x="110" y="115"/>
                    <a:pt x="110" y="115"/>
                  </a:cubicBezTo>
                  <a:cubicBezTo>
                    <a:pt x="110" y="116"/>
                    <a:pt x="110" y="116"/>
                    <a:pt x="110" y="116"/>
                  </a:cubicBezTo>
                  <a:cubicBezTo>
                    <a:pt x="110" y="116"/>
                    <a:pt x="110" y="116"/>
                    <a:pt x="110" y="116"/>
                  </a:cubicBezTo>
                  <a:cubicBezTo>
                    <a:pt x="110" y="115"/>
                    <a:pt x="110" y="115"/>
                    <a:pt x="110" y="115"/>
                  </a:cubicBezTo>
                  <a:cubicBezTo>
                    <a:pt x="110" y="115"/>
                    <a:pt x="109" y="115"/>
                    <a:pt x="109" y="115"/>
                  </a:cubicBezTo>
                  <a:cubicBezTo>
                    <a:pt x="109" y="117"/>
                    <a:pt x="108" y="120"/>
                    <a:pt x="109" y="122"/>
                  </a:cubicBezTo>
                  <a:cubicBezTo>
                    <a:pt x="109" y="121"/>
                    <a:pt x="108" y="121"/>
                    <a:pt x="107" y="121"/>
                  </a:cubicBezTo>
                  <a:cubicBezTo>
                    <a:pt x="107" y="121"/>
                    <a:pt x="107" y="121"/>
                    <a:pt x="107" y="121"/>
                  </a:cubicBezTo>
                  <a:cubicBezTo>
                    <a:pt x="106" y="121"/>
                    <a:pt x="106" y="121"/>
                    <a:pt x="106" y="121"/>
                  </a:cubicBezTo>
                  <a:cubicBezTo>
                    <a:pt x="106" y="121"/>
                    <a:pt x="105" y="121"/>
                    <a:pt x="105" y="121"/>
                  </a:cubicBezTo>
                  <a:cubicBezTo>
                    <a:pt x="105" y="121"/>
                    <a:pt x="105" y="121"/>
                    <a:pt x="105" y="121"/>
                  </a:cubicBezTo>
                  <a:cubicBezTo>
                    <a:pt x="105" y="121"/>
                    <a:pt x="104" y="121"/>
                    <a:pt x="104" y="121"/>
                  </a:cubicBezTo>
                  <a:cubicBezTo>
                    <a:pt x="104" y="121"/>
                    <a:pt x="104" y="121"/>
                    <a:pt x="104" y="122"/>
                  </a:cubicBezTo>
                  <a:cubicBezTo>
                    <a:pt x="103" y="122"/>
                    <a:pt x="103" y="122"/>
                    <a:pt x="103" y="122"/>
                  </a:cubicBezTo>
                  <a:cubicBezTo>
                    <a:pt x="103" y="122"/>
                    <a:pt x="103" y="122"/>
                    <a:pt x="103" y="122"/>
                  </a:cubicBezTo>
                  <a:cubicBezTo>
                    <a:pt x="103" y="122"/>
                    <a:pt x="103" y="122"/>
                    <a:pt x="103" y="122"/>
                  </a:cubicBezTo>
                  <a:cubicBezTo>
                    <a:pt x="102" y="122"/>
                    <a:pt x="102" y="122"/>
                    <a:pt x="102" y="123"/>
                  </a:cubicBezTo>
                  <a:cubicBezTo>
                    <a:pt x="102" y="123"/>
                    <a:pt x="102" y="123"/>
                    <a:pt x="102" y="123"/>
                  </a:cubicBezTo>
                  <a:cubicBezTo>
                    <a:pt x="102" y="122"/>
                    <a:pt x="101" y="122"/>
                    <a:pt x="101" y="123"/>
                  </a:cubicBezTo>
                  <a:cubicBezTo>
                    <a:pt x="101" y="124"/>
                    <a:pt x="101" y="124"/>
                    <a:pt x="101" y="124"/>
                  </a:cubicBezTo>
                  <a:cubicBezTo>
                    <a:pt x="101" y="124"/>
                    <a:pt x="101" y="124"/>
                    <a:pt x="101" y="124"/>
                  </a:cubicBezTo>
                  <a:cubicBezTo>
                    <a:pt x="100" y="124"/>
                    <a:pt x="100" y="124"/>
                    <a:pt x="100" y="124"/>
                  </a:cubicBezTo>
                  <a:cubicBezTo>
                    <a:pt x="102" y="117"/>
                    <a:pt x="107" y="112"/>
                    <a:pt x="114" y="112"/>
                  </a:cubicBezTo>
                  <a:cubicBezTo>
                    <a:pt x="115" y="112"/>
                    <a:pt x="115" y="112"/>
                    <a:pt x="115" y="112"/>
                  </a:cubicBezTo>
                  <a:cubicBezTo>
                    <a:pt x="126" y="113"/>
                    <a:pt x="129" y="118"/>
                    <a:pt x="129" y="124"/>
                  </a:cubicBezTo>
                  <a:cubicBezTo>
                    <a:pt x="129" y="123"/>
                    <a:pt x="129" y="123"/>
                    <a:pt x="129" y="123"/>
                  </a:cubicBezTo>
                  <a:close/>
                </a:path>
              </a:pathLst>
            </a:custGeom>
            <a:solidFill>
              <a:sysClr val="window" lastClr="FFFFFF"/>
            </a:solidFill>
            <a:ln w="12700">
              <a:solidFill>
                <a:srgbClr val="43B02A"/>
              </a:solidFill>
            </a:ln>
          </p:spPr>
          <p:txBody>
            <a:bodyPr vert="horz" wrap="square" lIns="80666" tIns="40333" rIns="80666" bIns="4033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04" name="Circular Arrow 73">
              <a:extLst>
                <a:ext uri="{FF2B5EF4-FFF2-40B4-BE49-F238E27FC236}">
                  <a16:creationId xmlns:a16="http://schemas.microsoft.com/office/drawing/2014/main" id="{F06DEB70-1ABC-80F5-7AC8-119A4E347B9F}"/>
                </a:ext>
              </a:extLst>
            </p:cNvPr>
            <p:cNvSpPr/>
            <p:nvPr/>
          </p:nvSpPr>
          <p:spPr bwMode="gray">
            <a:xfrm rot="16200000">
              <a:off x="2107754" y="2959525"/>
              <a:ext cx="2123789" cy="2152706"/>
            </a:xfrm>
            <a:prstGeom prst="circularArrow">
              <a:avLst>
                <a:gd name="adj1" fmla="val 7611"/>
                <a:gd name="adj2" fmla="val 767239"/>
                <a:gd name="adj3" fmla="val 20435164"/>
                <a:gd name="adj4" fmla="val 207545"/>
                <a:gd name="adj5" fmla="val 10351"/>
              </a:avLst>
            </a:prstGeom>
            <a:solidFill>
              <a:sysClr val="window" lastClr="FFFFFF">
                <a:lumMod val="8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GB"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endParaRPr>
            </a:p>
          </p:txBody>
        </p:sp>
      </p:grpSp>
      <p:pic>
        <p:nvPicPr>
          <p:cNvPr id="109" name="Picture 60" descr="The World Bank - G20 Insights">
            <a:extLst>
              <a:ext uri="{FF2B5EF4-FFF2-40B4-BE49-F238E27FC236}">
                <a16:creationId xmlns:a16="http://schemas.microsoft.com/office/drawing/2014/main" id="{F31133E2-05C4-FBD0-F2EB-8531D6E2C6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7557" y="3757414"/>
            <a:ext cx="622846" cy="348794"/>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62" descr="Power Cell - About | Facebook">
            <a:extLst>
              <a:ext uri="{FF2B5EF4-FFF2-40B4-BE49-F238E27FC236}">
                <a16:creationId xmlns:a16="http://schemas.microsoft.com/office/drawing/2014/main" id="{E97C0D9C-149E-47EA-EDDA-14D0E2DEC2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4681" y="3743119"/>
            <a:ext cx="324340" cy="32434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67" descr="Jharkhand State Electricity Board.">
            <a:extLst>
              <a:ext uri="{FF2B5EF4-FFF2-40B4-BE49-F238E27FC236}">
                <a16:creationId xmlns:a16="http://schemas.microsoft.com/office/drawing/2014/main" id="{9EC983AB-C0B9-0535-3CD2-493724F1A5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96840" y="1094944"/>
            <a:ext cx="357237" cy="357237"/>
          </a:xfrm>
          <a:prstGeom prst="rect">
            <a:avLst/>
          </a:prstGeom>
          <a:noFill/>
          <a:extLst>
            <a:ext uri="{909E8E84-426E-40DD-AFC4-6F175D3DCCD1}">
              <a14:hiddenFill xmlns:a14="http://schemas.microsoft.com/office/drawing/2010/main">
                <a:solidFill>
                  <a:srgbClr val="FFFFFF"/>
                </a:solidFill>
              </a14:hiddenFill>
            </a:ext>
          </a:extLst>
        </p:spPr>
      </p:pic>
      <p:sp>
        <p:nvSpPr>
          <p:cNvPr id="112" name="Half Frame 111">
            <a:extLst>
              <a:ext uri="{FF2B5EF4-FFF2-40B4-BE49-F238E27FC236}">
                <a16:creationId xmlns:a16="http://schemas.microsoft.com/office/drawing/2014/main" id="{96B1283B-BAD0-6A62-DCE5-4496295D0F6F}"/>
              </a:ext>
            </a:extLst>
          </p:cNvPr>
          <p:cNvSpPr/>
          <p:nvPr/>
        </p:nvSpPr>
        <p:spPr bwMode="gray">
          <a:xfrm rot="10800000">
            <a:off x="8227344" y="5887973"/>
            <a:ext cx="269381" cy="282900"/>
          </a:xfrm>
          <a:prstGeom prst="halfFrame">
            <a:avLst>
              <a:gd name="adj1" fmla="val 7553"/>
              <a:gd name="adj2" fmla="val 8442"/>
            </a:avLst>
          </a:prstGeom>
          <a:solidFill>
            <a:srgbClr val="007CB0"/>
          </a:solidFill>
          <a:ln w="19050" algn="ctr">
            <a:solidFill>
              <a:srgbClr val="007CB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pic>
        <p:nvPicPr>
          <p:cNvPr id="113" name="Picture 112">
            <a:extLst>
              <a:ext uri="{FF2B5EF4-FFF2-40B4-BE49-F238E27FC236}">
                <a16:creationId xmlns:a16="http://schemas.microsoft.com/office/drawing/2014/main" id="{46632E6C-FC3D-5DA1-EDE6-3AF4BCC27C65}"/>
              </a:ext>
            </a:extLst>
          </p:cNvPr>
          <p:cNvPicPr>
            <a:picLocks noChangeAspect="1"/>
          </p:cNvPicPr>
          <p:nvPr/>
        </p:nvPicPr>
        <p:blipFill>
          <a:blip r:embed="rId6"/>
          <a:stretch>
            <a:fillRect/>
          </a:stretch>
        </p:blipFill>
        <p:spPr>
          <a:xfrm>
            <a:off x="6171760" y="5181465"/>
            <a:ext cx="758359" cy="295772"/>
          </a:xfrm>
          <a:prstGeom prst="rect">
            <a:avLst/>
          </a:prstGeom>
        </p:spPr>
      </p:pic>
      <p:pic>
        <p:nvPicPr>
          <p:cNvPr id="114" name="Picture 2" descr="WBSEDCL (@WBSEDCL1) / X">
            <a:extLst>
              <a:ext uri="{FF2B5EF4-FFF2-40B4-BE49-F238E27FC236}">
                <a16:creationId xmlns:a16="http://schemas.microsoft.com/office/drawing/2014/main" id="{F4B8FB83-D640-CEFA-423C-75F7D51C61C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3646" y="1078466"/>
            <a:ext cx="398821" cy="398821"/>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 descr="The Durgapur Projects Limited, DPL ...">
            <a:extLst>
              <a:ext uri="{FF2B5EF4-FFF2-40B4-BE49-F238E27FC236}">
                <a16:creationId xmlns:a16="http://schemas.microsoft.com/office/drawing/2014/main" id="{0B64BAEE-1E0B-0F67-8C4A-653CD35C21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99819" y="2473345"/>
            <a:ext cx="402959" cy="402959"/>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Damodar Valley Corporation - Wikipedia">
            <a:extLst>
              <a:ext uri="{FF2B5EF4-FFF2-40B4-BE49-F238E27FC236}">
                <a16:creationId xmlns:a16="http://schemas.microsoft.com/office/drawing/2014/main" id="{3BD69381-6FB2-A85F-75E0-5ADC37BF3CC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06857" y="2433427"/>
            <a:ext cx="283679" cy="371966"/>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 descr="Damodar Valley Corporation - Wikipedia">
            <a:extLst>
              <a:ext uri="{FF2B5EF4-FFF2-40B4-BE49-F238E27FC236}">
                <a16:creationId xmlns:a16="http://schemas.microsoft.com/office/drawing/2014/main" id="{73553195-615A-8D94-CF28-B3B0120B608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63942" y="5130793"/>
            <a:ext cx="283679" cy="371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302970"/>
      </p:ext>
    </p:extLst>
  </p:cSld>
  <p:clrMapOvr>
    <a:overrideClrMapping bg1="lt1" tx1="dk1" bg2="lt2" tx2="dk2" accent1="accent1" accent2="accent2" accent3="accent3" accent4="accent4" accent5="accent5" accent6="accent6" hlink="hlink" folHlink="folHlink"/>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AC10C14-1755-48E2-82C6-FC69041FECE4}"/>
              </a:ext>
            </a:extLst>
          </p:cNvPr>
          <p:cNvSpPr txBox="1">
            <a:spLocks/>
          </p:cNvSpPr>
          <p:nvPr/>
        </p:nvSpPr>
        <p:spPr bwMode="gray">
          <a:xfrm>
            <a:off x="501650" y="317500"/>
            <a:ext cx="11188700" cy="334099"/>
          </a:xfrm>
          <a:prstGeom prst="rect">
            <a:avLst/>
          </a:prstGeom>
        </p:spPr>
        <p:txBody>
          <a:bodyPr vert="horz" lIns="0" tIns="0" rIns="0" bIns="0" rtlCol="0" anchor="ctr" anchorCtr="0">
            <a:noAutofit/>
          </a:bodyPr>
          <a:lstStyle>
            <a:lvl1pPr algn="l" defTabSz="914400" rtl="0" eaLnBrk="1" latinLnBrk="0" hangingPunct="1">
              <a:spcBef>
                <a:spcPct val="0"/>
              </a:spcBef>
              <a:buNone/>
              <a:defRPr sz="2800" b="1"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11" name="Title 4">
            <a:extLst>
              <a:ext uri="{FF2B5EF4-FFF2-40B4-BE49-F238E27FC236}">
                <a16:creationId xmlns:a16="http://schemas.microsoft.com/office/drawing/2014/main" id="{09E5F9FD-CF4E-4608-9B95-8BBC6E87A63B}"/>
              </a:ext>
            </a:extLst>
          </p:cNvPr>
          <p:cNvSpPr txBox="1">
            <a:spLocks/>
          </p:cNvSpPr>
          <p:nvPr/>
        </p:nvSpPr>
        <p:spPr>
          <a:xfrm>
            <a:off x="415925" y="246813"/>
            <a:ext cx="11188700" cy="334099"/>
          </a:xfrm>
          <a:prstGeom prst="rect">
            <a:avLst/>
          </a:prstGeom>
        </p:spPr>
        <p:txBody>
          <a:bodyPr vert="horz"/>
          <a:lstStyle>
            <a:lvl1pPr algn="l" defTabSz="1150154" rtl="0" eaLnBrk="1" latinLnBrk="0" hangingPunct="1">
              <a:spcBef>
                <a:spcPct val="0"/>
              </a:spcBef>
              <a:buNone/>
              <a:defRPr sz="2282" kern="1200">
                <a:solidFill>
                  <a:schemeClr val="tx1"/>
                </a:solidFill>
                <a:latin typeface="+mj-lt"/>
                <a:ea typeface="+mj-ea"/>
                <a:cs typeface="+mj-cs"/>
              </a:defRPr>
            </a:lvl1pPr>
          </a:lstStyle>
          <a:p>
            <a:pPr marL="0" marR="0" lvl="0" indent="0" algn="l" defTabSz="1150154" rtl="0" eaLnBrk="1" fontAlgn="auto" latinLnBrk="0" hangingPunct="1">
              <a:lnSpc>
                <a:spcPct val="100000"/>
              </a:lnSpc>
              <a:spcBef>
                <a:spcPct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Deloitte Offerings &amp; Credentials - </a:t>
            </a:r>
            <a:r>
              <a:rPr kumimoji="0" lang="en-IN"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Energy Efficiency</a:t>
            </a: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2" name="Straight Connector 1">
            <a:extLst>
              <a:ext uri="{FF2B5EF4-FFF2-40B4-BE49-F238E27FC236}">
                <a16:creationId xmlns:a16="http://schemas.microsoft.com/office/drawing/2014/main" id="{CB87506B-ADED-DF7A-ED7C-B3D450CA60BF}"/>
              </a:ext>
            </a:extLst>
          </p:cNvPr>
          <p:cNvCxnSpPr/>
          <p:nvPr/>
        </p:nvCxnSpPr>
        <p:spPr>
          <a:xfrm flipV="1">
            <a:off x="501650" y="620919"/>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A2366EB7-4953-0EB2-6DD2-1446C7721E86}"/>
              </a:ext>
            </a:extLst>
          </p:cNvPr>
          <p:cNvSpPr/>
          <p:nvPr/>
        </p:nvSpPr>
        <p:spPr bwMode="gray">
          <a:xfrm>
            <a:off x="5988830" y="2468582"/>
            <a:ext cx="2519975"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International Finance Corporation</a:t>
            </a:r>
          </a:p>
        </p:txBody>
      </p:sp>
      <p:sp>
        <p:nvSpPr>
          <p:cNvPr id="4" name="Rectangle 3">
            <a:extLst>
              <a:ext uri="{FF2B5EF4-FFF2-40B4-BE49-F238E27FC236}">
                <a16:creationId xmlns:a16="http://schemas.microsoft.com/office/drawing/2014/main" id="{18C1EAF8-0C78-B4CA-3AD8-0286501CE852}"/>
              </a:ext>
            </a:extLst>
          </p:cNvPr>
          <p:cNvSpPr/>
          <p:nvPr/>
        </p:nvSpPr>
        <p:spPr bwMode="gray">
          <a:xfrm>
            <a:off x="6002491" y="2894251"/>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Distributed Solar PPP Project (Gujarat and Odisha), Power Policy and Capacity Building Initiatives</a:t>
            </a:r>
          </a:p>
        </p:txBody>
      </p:sp>
      <p:sp>
        <p:nvSpPr>
          <p:cNvPr id="5" name="Half Frame 4">
            <a:extLst>
              <a:ext uri="{FF2B5EF4-FFF2-40B4-BE49-F238E27FC236}">
                <a16:creationId xmlns:a16="http://schemas.microsoft.com/office/drawing/2014/main" id="{8F2F009A-EFFA-4434-6712-D3BF3A9B309B}"/>
              </a:ext>
            </a:extLst>
          </p:cNvPr>
          <p:cNvSpPr/>
          <p:nvPr/>
        </p:nvSpPr>
        <p:spPr bwMode="gray">
          <a:xfrm rot="10800000">
            <a:off x="8205882" y="3251224"/>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6" name="Half Frame 5">
            <a:extLst>
              <a:ext uri="{FF2B5EF4-FFF2-40B4-BE49-F238E27FC236}">
                <a16:creationId xmlns:a16="http://schemas.microsoft.com/office/drawing/2014/main" id="{BBBA2096-6DD3-A74E-3E81-E45E701C3CE2}"/>
              </a:ext>
            </a:extLst>
          </p:cNvPr>
          <p:cNvSpPr/>
          <p:nvPr/>
        </p:nvSpPr>
        <p:spPr bwMode="gray">
          <a:xfrm rot="16200000">
            <a:off x="5985176" y="3253479"/>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7" name="Rectangle 6">
            <a:extLst>
              <a:ext uri="{FF2B5EF4-FFF2-40B4-BE49-F238E27FC236}">
                <a16:creationId xmlns:a16="http://schemas.microsoft.com/office/drawing/2014/main" id="{94F48CC6-E74C-414F-BF79-384A0C2A2273}"/>
              </a:ext>
            </a:extLst>
          </p:cNvPr>
          <p:cNvSpPr/>
          <p:nvPr/>
        </p:nvSpPr>
        <p:spPr bwMode="gray">
          <a:xfrm>
            <a:off x="9121486" y="1113641"/>
            <a:ext cx="2492653" cy="485753"/>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International Finance Corporation</a:t>
            </a:r>
          </a:p>
        </p:txBody>
      </p:sp>
      <p:sp>
        <p:nvSpPr>
          <p:cNvPr id="8" name="Rectangle 7">
            <a:extLst>
              <a:ext uri="{FF2B5EF4-FFF2-40B4-BE49-F238E27FC236}">
                <a16:creationId xmlns:a16="http://schemas.microsoft.com/office/drawing/2014/main" id="{021CB104-556A-50D7-5C25-15E09CA720FA}"/>
              </a:ext>
            </a:extLst>
          </p:cNvPr>
          <p:cNvSpPr/>
          <p:nvPr/>
        </p:nvSpPr>
        <p:spPr bwMode="gray">
          <a:xfrm>
            <a:off x="9173667" y="1605776"/>
            <a:ext cx="2492653" cy="552256"/>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Enabling green building financing under the EU-India Cooperation for Clean Technologies and Energy Efficiency</a:t>
            </a:r>
          </a:p>
        </p:txBody>
      </p:sp>
      <p:sp>
        <p:nvSpPr>
          <p:cNvPr id="9" name="Half Frame 8">
            <a:extLst>
              <a:ext uri="{FF2B5EF4-FFF2-40B4-BE49-F238E27FC236}">
                <a16:creationId xmlns:a16="http://schemas.microsoft.com/office/drawing/2014/main" id="{476A1DA9-3589-FD66-03B3-5F02F782660B}"/>
              </a:ext>
            </a:extLst>
          </p:cNvPr>
          <p:cNvSpPr/>
          <p:nvPr/>
        </p:nvSpPr>
        <p:spPr bwMode="gray">
          <a:xfrm rot="10800000">
            <a:off x="11374638" y="1896282"/>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12" name="Half Frame 11">
            <a:extLst>
              <a:ext uri="{FF2B5EF4-FFF2-40B4-BE49-F238E27FC236}">
                <a16:creationId xmlns:a16="http://schemas.microsoft.com/office/drawing/2014/main" id="{FC537483-78B1-1294-4C23-410AB64E2CF9}"/>
              </a:ext>
            </a:extLst>
          </p:cNvPr>
          <p:cNvSpPr/>
          <p:nvPr/>
        </p:nvSpPr>
        <p:spPr bwMode="gray">
          <a:xfrm rot="16200000">
            <a:off x="9105262" y="1898537"/>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13" name="Rectangle 12">
            <a:extLst>
              <a:ext uri="{FF2B5EF4-FFF2-40B4-BE49-F238E27FC236}">
                <a16:creationId xmlns:a16="http://schemas.microsoft.com/office/drawing/2014/main" id="{9BA51A7D-E533-2703-4E1F-9D1F528BC1E5}"/>
              </a:ext>
            </a:extLst>
          </p:cNvPr>
          <p:cNvSpPr/>
          <p:nvPr/>
        </p:nvSpPr>
        <p:spPr bwMode="gray">
          <a:xfrm>
            <a:off x="5982444" y="1113641"/>
            <a:ext cx="2532747"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Bureau of Energy Efficiency</a:t>
            </a:r>
          </a:p>
        </p:txBody>
      </p:sp>
      <p:sp>
        <p:nvSpPr>
          <p:cNvPr id="14" name="Rectangle 13">
            <a:extLst>
              <a:ext uri="{FF2B5EF4-FFF2-40B4-BE49-F238E27FC236}">
                <a16:creationId xmlns:a16="http://schemas.microsoft.com/office/drawing/2014/main" id="{E997D1DA-E689-1DD5-7EB8-9D38828887BC}"/>
              </a:ext>
            </a:extLst>
          </p:cNvPr>
          <p:cNvSpPr/>
          <p:nvPr/>
        </p:nvSpPr>
        <p:spPr bwMode="gray">
          <a:xfrm>
            <a:off x="6002491" y="1539310"/>
            <a:ext cx="2512700"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1"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BEE Energy Efficiency </a:t>
            </a:r>
            <a:r>
              <a:rPr kumimoji="0" lang="en-US" sz="900" b="1" i="1" u="none" strike="noStrike" kern="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rPr>
              <a:t>programme</a:t>
            </a:r>
            <a:r>
              <a:rPr kumimoji="0" lang="en-US" sz="900" b="1" i="1"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 in SME cluster Mangalore Tile Cluster &amp; Muzaffarnagar Paper Cluster</a:t>
            </a:r>
          </a:p>
        </p:txBody>
      </p:sp>
      <p:sp>
        <p:nvSpPr>
          <p:cNvPr id="15" name="Half Frame 14">
            <a:extLst>
              <a:ext uri="{FF2B5EF4-FFF2-40B4-BE49-F238E27FC236}">
                <a16:creationId xmlns:a16="http://schemas.microsoft.com/office/drawing/2014/main" id="{4D0390C1-8A03-DC95-AE31-250AB49DDAA7}"/>
              </a:ext>
            </a:extLst>
          </p:cNvPr>
          <p:cNvSpPr/>
          <p:nvPr/>
        </p:nvSpPr>
        <p:spPr bwMode="gray">
          <a:xfrm rot="10800000">
            <a:off x="8205882" y="1896283"/>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16" name="Half Frame 15">
            <a:extLst>
              <a:ext uri="{FF2B5EF4-FFF2-40B4-BE49-F238E27FC236}">
                <a16:creationId xmlns:a16="http://schemas.microsoft.com/office/drawing/2014/main" id="{044EDE1F-F808-B3AD-D3B0-228292275F52}"/>
              </a:ext>
            </a:extLst>
          </p:cNvPr>
          <p:cNvSpPr/>
          <p:nvPr/>
        </p:nvSpPr>
        <p:spPr bwMode="gray">
          <a:xfrm rot="16200000">
            <a:off x="5985176" y="1898538"/>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17" name="Rectangle 16">
            <a:extLst>
              <a:ext uri="{FF2B5EF4-FFF2-40B4-BE49-F238E27FC236}">
                <a16:creationId xmlns:a16="http://schemas.microsoft.com/office/drawing/2014/main" id="{54745E83-AB47-83BF-F097-53DD2390AAAA}"/>
              </a:ext>
            </a:extLst>
          </p:cNvPr>
          <p:cNvSpPr/>
          <p:nvPr/>
        </p:nvSpPr>
        <p:spPr bwMode="gray">
          <a:xfrm>
            <a:off x="9121486" y="2468582"/>
            <a:ext cx="2492653"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World Bank</a:t>
            </a:r>
          </a:p>
        </p:txBody>
      </p:sp>
      <p:sp>
        <p:nvSpPr>
          <p:cNvPr id="18" name="Rectangle 17">
            <a:extLst>
              <a:ext uri="{FF2B5EF4-FFF2-40B4-BE49-F238E27FC236}">
                <a16:creationId xmlns:a16="http://schemas.microsoft.com/office/drawing/2014/main" id="{37C8FE16-231C-510E-CF77-1C5371C7B8F1}"/>
              </a:ext>
            </a:extLst>
          </p:cNvPr>
          <p:cNvSpPr/>
          <p:nvPr/>
        </p:nvSpPr>
        <p:spPr bwMode="gray">
          <a:xfrm>
            <a:off x="9169157" y="2894251"/>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Review of National Solar Mission Phase 1 &amp; 2 Setting up National Solar Energy  Technology Centre</a:t>
            </a:r>
          </a:p>
        </p:txBody>
      </p:sp>
      <p:sp>
        <p:nvSpPr>
          <p:cNvPr id="19" name="Half Frame 18">
            <a:extLst>
              <a:ext uri="{FF2B5EF4-FFF2-40B4-BE49-F238E27FC236}">
                <a16:creationId xmlns:a16="http://schemas.microsoft.com/office/drawing/2014/main" id="{4058994D-C707-1B83-330A-C234E222B202}"/>
              </a:ext>
            </a:extLst>
          </p:cNvPr>
          <p:cNvSpPr/>
          <p:nvPr/>
        </p:nvSpPr>
        <p:spPr bwMode="gray">
          <a:xfrm rot="10800000">
            <a:off x="11374638" y="3251224"/>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0" name="Half Frame 19">
            <a:extLst>
              <a:ext uri="{FF2B5EF4-FFF2-40B4-BE49-F238E27FC236}">
                <a16:creationId xmlns:a16="http://schemas.microsoft.com/office/drawing/2014/main" id="{2DEC4C99-DF18-3ECA-8271-0C7343B959BA}"/>
              </a:ext>
            </a:extLst>
          </p:cNvPr>
          <p:cNvSpPr/>
          <p:nvPr/>
        </p:nvSpPr>
        <p:spPr bwMode="gray">
          <a:xfrm rot="16200000">
            <a:off x="9105262" y="3253479"/>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1" name="Rectangle 20">
            <a:extLst>
              <a:ext uri="{FF2B5EF4-FFF2-40B4-BE49-F238E27FC236}">
                <a16:creationId xmlns:a16="http://schemas.microsoft.com/office/drawing/2014/main" id="{5FC26C19-BD94-751D-8B6B-DAD930DD21A1}"/>
              </a:ext>
            </a:extLst>
          </p:cNvPr>
          <p:cNvSpPr/>
          <p:nvPr/>
        </p:nvSpPr>
        <p:spPr bwMode="gray">
          <a:xfrm>
            <a:off x="6002490" y="3783267"/>
            <a:ext cx="2492654"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Asian Development Bank</a:t>
            </a:r>
          </a:p>
        </p:txBody>
      </p:sp>
      <p:sp>
        <p:nvSpPr>
          <p:cNvPr id="22" name="Rectangle 21">
            <a:extLst>
              <a:ext uri="{FF2B5EF4-FFF2-40B4-BE49-F238E27FC236}">
                <a16:creationId xmlns:a16="http://schemas.microsoft.com/office/drawing/2014/main" id="{C455A5EA-E9E3-EAF4-2E81-1232EF5D944C}"/>
              </a:ext>
            </a:extLst>
          </p:cNvPr>
          <p:cNvSpPr/>
          <p:nvPr/>
        </p:nvSpPr>
        <p:spPr bwMode="gray">
          <a:xfrm>
            <a:off x="6002491" y="4208936"/>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Deploying Solar Systems at Scale (Development of Solar Roadmap for Assam, India)</a:t>
            </a:r>
          </a:p>
        </p:txBody>
      </p:sp>
      <p:sp>
        <p:nvSpPr>
          <p:cNvPr id="23" name="Half Frame 22">
            <a:extLst>
              <a:ext uri="{FF2B5EF4-FFF2-40B4-BE49-F238E27FC236}">
                <a16:creationId xmlns:a16="http://schemas.microsoft.com/office/drawing/2014/main" id="{E824B618-13A3-EC63-9C3F-8A50E3D95BC3}"/>
              </a:ext>
            </a:extLst>
          </p:cNvPr>
          <p:cNvSpPr/>
          <p:nvPr/>
        </p:nvSpPr>
        <p:spPr bwMode="gray">
          <a:xfrm rot="10800000">
            <a:off x="8205882" y="4565909"/>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4" name="Half Frame 23">
            <a:extLst>
              <a:ext uri="{FF2B5EF4-FFF2-40B4-BE49-F238E27FC236}">
                <a16:creationId xmlns:a16="http://schemas.microsoft.com/office/drawing/2014/main" id="{64766579-C680-D899-D5C5-DB42FC949DBC}"/>
              </a:ext>
            </a:extLst>
          </p:cNvPr>
          <p:cNvSpPr/>
          <p:nvPr/>
        </p:nvSpPr>
        <p:spPr bwMode="gray">
          <a:xfrm rot="16200000">
            <a:off x="5985176" y="4568164"/>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5" name="Rectangle 24">
            <a:extLst>
              <a:ext uri="{FF2B5EF4-FFF2-40B4-BE49-F238E27FC236}">
                <a16:creationId xmlns:a16="http://schemas.microsoft.com/office/drawing/2014/main" id="{82BC6D65-B1C9-2029-8923-0E721DF1402A}"/>
              </a:ext>
            </a:extLst>
          </p:cNvPr>
          <p:cNvSpPr/>
          <p:nvPr/>
        </p:nvSpPr>
        <p:spPr bwMode="gray">
          <a:xfrm>
            <a:off x="6022537" y="5059680"/>
            <a:ext cx="2452561" cy="438100"/>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Asian Development Bank</a:t>
            </a:r>
          </a:p>
        </p:txBody>
      </p:sp>
      <p:sp>
        <p:nvSpPr>
          <p:cNvPr id="26" name="Rectangle 25">
            <a:extLst>
              <a:ext uri="{FF2B5EF4-FFF2-40B4-BE49-F238E27FC236}">
                <a16:creationId xmlns:a16="http://schemas.microsoft.com/office/drawing/2014/main" id="{20CE9A03-26FC-3265-1C1B-5D604D91492E}"/>
              </a:ext>
            </a:extLst>
          </p:cNvPr>
          <p:cNvSpPr/>
          <p:nvPr/>
        </p:nvSpPr>
        <p:spPr bwMode="gray">
          <a:xfrm>
            <a:off x="6036198" y="5520231"/>
            <a:ext cx="2425239"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Consultancy services for Power Sector Transformation of Sikkim state </a:t>
            </a:r>
            <a:r>
              <a:rPr lang="en-US" sz="900" b="1" i="1" kern="0">
                <a:solidFill>
                  <a:prstClr val="black"/>
                </a:solidFill>
                <a:latin typeface="Verdana" panose="020B0604030504040204" pitchFamily="34" charset="0"/>
                <a:ea typeface="Verdana" panose="020B0604030504040204" pitchFamily="34" charset="0"/>
              </a:rPr>
              <a:t> </a:t>
            </a:r>
            <a:endParaRPr kumimoji="0" lang="en-US" sz="9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7" name="Half Frame 26">
            <a:extLst>
              <a:ext uri="{FF2B5EF4-FFF2-40B4-BE49-F238E27FC236}">
                <a16:creationId xmlns:a16="http://schemas.microsoft.com/office/drawing/2014/main" id="{28A85430-9D72-8E1B-739B-3FF70DCCBEF3}"/>
              </a:ext>
            </a:extLst>
          </p:cNvPr>
          <p:cNvSpPr/>
          <p:nvPr/>
        </p:nvSpPr>
        <p:spPr bwMode="gray">
          <a:xfrm rot="10800000">
            <a:off x="11140176" y="5724804"/>
            <a:ext cx="269381" cy="282900"/>
          </a:xfrm>
          <a:prstGeom prst="halfFrame">
            <a:avLst>
              <a:gd name="adj1" fmla="val 7553"/>
              <a:gd name="adj2" fmla="val 8442"/>
            </a:avLst>
          </a:prstGeom>
          <a:solidFill>
            <a:srgbClr val="046A38"/>
          </a:solidFill>
          <a:ln w="19050" algn="ctr">
            <a:solidFill>
              <a:srgbClr val="046A38"/>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28" name="Rectangle 27">
            <a:extLst>
              <a:ext uri="{FF2B5EF4-FFF2-40B4-BE49-F238E27FC236}">
                <a16:creationId xmlns:a16="http://schemas.microsoft.com/office/drawing/2014/main" id="{0FB0626A-DF41-AEAE-ACFC-ABD528447161}"/>
              </a:ext>
            </a:extLst>
          </p:cNvPr>
          <p:cNvSpPr/>
          <p:nvPr/>
        </p:nvSpPr>
        <p:spPr bwMode="gray">
          <a:xfrm>
            <a:off x="9121486" y="5094562"/>
            <a:ext cx="2492653"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International Finance Corporation</a:t>
            </a:r>
          </a:p>
        </p:txBody>
      </p:sp>
      <p:sp>
        <p:nvSpPr>
          <p:cNvPr id="29" name="Rectangle 28">
            <a:extLst>
              <a:ext uri="{FF2B5EF4-FFF2-40B4-BE49-F238E27FC236}">
                <a16:creationId xmlns:a16="http://schemas.microsoft.com/office/drawing/2014/main" id="{0D9CD45B-99F6-0170-26A4-7421DC5F0AAA}"/>
              </a:ext>
            </a:extLst>
          </p:cNvPr>
          <p:cNvSpPr/>
          <p:nvPr/>
        </p:nvSpPr>
        <p:spPr bwMode="gray">
          <a:xfrm>
            <a:off x="9069303" y="5520231"/>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Future of Urban Mobility in India</a:t>
            </a:r>
          </a:p>
        </p:txBody>
      </p:sp>
      <p:sp>
        <p:nvSpPr>
          <p:cNvPr id="30" name="Rectangle 29">
            <a:extLst>
              <a:ext uri="{FF2B5EF4-FFF2-40B4-BE49-F238E27FC236}">
                <a16:creationId xmlns:a16="http://schemas.microsoft.com/office/drawing/2014/main" id="{BB949B1F-DD7D-2C98-A0F9-4721F5E62CEA}"/>
              </a:ext>
            </a:extLst>
          </p:cNvPr>
          <p:cNvSpPr/>
          <p:nvPr/>
        </p:nvSpPr>
        <p:spPr bwMode="gray">
          <a:xfrm>
            <a:off x="9121486" y="3778427"/>
            <a:ext cx="2492653" cy="403218"/>
          </a:xfrm>
          <a:prstGeom prst="rect">
            <a:avLst/>
          </a:prstGeom>
          <a:solidFill>
            <a:srgbClr val="007CB0"/>
          </a:solidFill>
          <a:ln w="19050" algn="ctr">
            <a:noFill/>
            <a:miter lim="800000"/>
            <a:headEnd/>
            <a:tailEnd/>
          </a:ln>
        </p:spPr>
        <p:txBody>
          <a:bodyPr wrap="square" lIns="88900" tIns="88900" rIns="88900" bIns="88900" rtlCol="0" anchor="ctr"/>
          <a:lstStyle/>
          <a:p>
            <a:pPr marL="0" marR="0" lvl="0" indent="0" algn="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rPr>
              <a:t>ONGC</a:t>
            </a:r>
          </a:p>
        </p:txBody>
      </p:sp>
      <p:sp>
        <p:nvSpPr>
          <p:cNvPr id="31" name="Rectangle 30">
            <a:extLst>
              <a:ext uri="{FF2B5EF4-FFF2-40B4-BE49-F238E27FC236}">
                <a16:creationId xmlns:a16="http://schemas.microsoft.com/office/drawing/2014/main" id="{E5C016FE-D50C-EA66-C5D0-44D333F87F41}"/>
              </a:ext>
            </a:extLst>
          </p:cNvPr>
          <p:cNvSpPr/>
          <p:nvPr/>
        </p:nvSpPr>
        <p:spPr bwMode="gray">
          <a:xfrm>
            <a:off x="9129064" y="4204096"/>
            <a:ext cx="2492653" cy="583638"/>
          </a:xfrm>
          <a:prstGeom prst="rect">
            <a:avLst/>
          </a:prstGeom>
          <a:pattFill prst="pct10">
            <a:fgClr>
              <a:srgbClr val="E3E48D"/>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Advisory Services for Energy Efficiency Improvement</a:t>
            </a:r>
          </a:p>
        </p:txBody>
      </p:sp>
      <p:sp>
        <p:nvSpPr>
          <p:cNvPr id="32" name="Half Frame 31">
            <a:extLst>
              <a:ext uri="{FF2B5EF4-FFF2-40B4-BE49-F238E27FC236}">
                <a16:creationId xmlns:a16="http://schemas.microsoft.com/office/drawing/2014/main" id="{A4E8A7BE-1DFE-79A4-D667-37BAF5E46C8E}"/>
              </a:ext>
            </a:extLst>
          </p:cNvPr>
          <p:cNvSpPr/>
          <p:nvPr/>
        </p:nvSpPr>
        <p:spPr bwMode="gray">
          <a:xfrm rot="10800000">
            <a:off x="11374638" y="4561069"/>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3" name="Half Frame 32">
            <a:extLst>
              <a:ext uri="{FF2B5EF4-FFF2-40B4-BE49-F238E27FC236}">
                <a16:creationId xmlns:a16="http://schemas.microsoft.com/office/drawing/2014/main" id="{F5ED9D37-4A04-48DE-D11C-FFF889782418}"/>
              </a:ext>
            </a:extLst>
          </p:cNvPr>
          <p:cNvSpPr/>
          <p:nvPr/>
        </p:nvSpPr>
        <p:spPr bwMode="gray">
          <a:xfrm rot="16200000">
            <a:off x="9105262" y="4563324"/>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34" name="TextBox 33">
            <a:extLst>
              <a:ext uri="{FF2B5EF4-FFF2-40B4-BE49-F238E27FC236}">
                <a16:creationId xmlns:a16="http://schemas.microsoft.com/office/drawing/2014/main" id="{FD2AF67B-EED3-C01D-21E2-19A4EE5E8D6C}"/>
              </a:ext>
            </a:extLst>
          </p:cNvPr>
          <p:cNvSpPr txBox="1"/>
          <p:nvPr/>
        </p:nvSpPr>
        <p:spPr>
          <a:xfrm>
            <a:off x="526155" y="1115723"/>
            <a:ext cx="5026417" cy="317393"/>
          </a:xfrm>
          <a:prstGeom prst="rect">
            <a:avLst/>
          </a:prstGeom>
          <a:solidFill>
            <a:schemeClr val="accent5"/>
          </a:solidFill>
          <a:ln w="25400" cap="flat" cmpd="sng" algn="ctr">
            <a:noFill/>
            <a:prstDash val="solid"/>
          </a:ln>
          <a:effectLst/>
        </p:spPr>
        <p:txBody>
          <a:bodyPr wrap="none" lIns="0" tIns="0" rIns="0" bIns="0" rtlCol="0" anchor="ctr">
            <a:noAutofit/>
          </a:bodyPr>
          <a:lstStyle/>
          <a:p>
            <a:pPr marL="182563" marR="0" lvl="0" indent="0" algn="ctr" defTabSz="914400" eaLnBrk="1" fontAlgn="auto" latinLnBrk="0" hangingPunct="1">
              <a:lnSpc>
                <a:spcPct val="100000"/>
              </a:lnSpc>
              <a:spcBef>
                <a:spcPts val="0"/>
              </a:spcBef>
              <a:spcAft>
                <a:spcPts val="1333"/>
              </a:spcAft>
              <a:buClrTx/>
              <a:buSzPct val="100000"/>
              <a:buFontTx/>
              <a:buNone/>
              <a:tabLst/>
              <a:defRPr/>
            </a:pPr>
            <a:r>
              <a:rPr kumimoji="0" lang="en-US"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Orchestrating end-to-end success</a:t>
            </a: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35" name="Freeform: Shape 34">
            <a:extLst>
              <a:ext uri="{FF2B5EF4-FFF2-40B4-BE49-F238E27FC236}">
                <a16:creationId xmlns:a16="http://schemas.microsoft.com/office/drawing/2014/main" id="{717280EA-8406-378A-53BB-46699A6A5F37}"/>
              </a:ext>
            </a:extLst>
          </p:cNvPr>
          <p:cNvSpPr/>
          <p:nvPr/>
        </p:nvSpPr>
        <p:spPr>
          <a:xfrm>
            <a:off x="3083459" y="3238591"/>
            <a:ext cx="2447952" cy="348574"/>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26890D">
              <a:hueOff val="0"/>
              <a:satOff val="0"/>
              <a:lumOff val="0"/>
              <a:alphaOff val="0"/>
            </a:srgbClr>
          </a:solidFill>
          <a:ln w="25400" cap="flat" cmpd="sng" algn="ctr">
            <a:solidFill>
              <a:srgbClr val="26890D">
                <a:hueOff val="0"/>
                <a:satOff val="0"/>
                <a:lumOff val="0"/>
                <a:alphaOff val="0"/>
              </a:srgbClr>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Building energy efficiency</a:t>
            </a:r>
          </a:p>
        </p:txBody>
      </p:sp>
      <p:sp>
        <p:nvSpPr>
          <p:cNvPr id="36" name="Freeform: Shape 35">
            <a:extLst>
              <a:ext uri="{FF2B5EF4-FFF2-40B4-BE49-F238E27FC236}">
                <a16:creationId xmlns:a16="http://schemas.microsoft.com/office/drawing/2014/main" id="{A6ED341F-885C-9A28-1575-2C1E6C9E6943}"/>
              </a:ext>
            </a:extLst>
          </p:cNvPr>
          <p:cNvSpPr/>
          <p:nvPr/>
        </p:nvSpPr>
        <p:spPr>
          <a:xfrm>
            <a:off x="3083459" y="3652657"/>
            <a:ext cx="2447952" cy="880354"/>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26890D">
              <a:tint val="40000"/>
              <a:alpha val="90000"/>
              <a:hueOff val="0"/>
              <a:satOff val="0"/>
              <a:lumOff val="0"/>
              <a:alphaOff val="0"/>
            </a:srgbClr>
          </a:solidFill>
          <a:ln w="25400" cap="flat" cmpd="sng" algn="ctr">
            <a:solidFill>
              <a:srgbClr val="26890D">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Energy cost optimization and project implementation</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Renewable options</a:t>
            </a:r>
          </a:p>
        </p:txBody>
      </p:sp>
      <p:sp>
        <p:nvSpPr>
          <p:cNvPr id="37" name="Rectangle 36">
            <a:extLst>
              <a:ext uri="{FF2B5EF4-FFF2-40B4-BE49-F238E27FC236}">
                <a16:creationId xmlns:a16="http://schemas.microsoft.com/office/drawing/2014/main" id="{9E2DA77C-5EC1-82BD-7BEA-9A54B1C36FE3}"/>
              </a:ext>
            </a:extLst>
          </p:cNvPr>
          <p:cNvSpPr/>
          <p:nvPr/>
        </p:nvSpPr>
        <p:spPr bwMode="gray">
          <a:xfrm>
            <a:off x="536125" y="1473406"/>
            <a:ext cx="5003695" cy="1680839"/>
          </a:xfrm>
          <a:prstGeom prst="rect">
            <a:avLst/>
          </a:prstGeom>
          <a:solidFill>
            <a:sysClr val="window" lastClr="FFFFFF">
              <a:lumMod val="9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CADD8DCA-2D37-2FCD-C8D2-B4D49AACD493}"/>
              </a:ext>
            </a:extLst>
          </p:cNvPr>
          <p:cNvSpPr txBox="1"/>
          <p:nvPr/>
        </p:nvSpPr>
        <p:spPr>
          <a:xfrm>
            <a:off x="512988" y="2651592"/>
            <a:ext cx="1742071" cy="349702"/>
          </a:xfrm>
          <a:prstGeom prst="rect">
            <a:avLst/>
          </a:prstGeom>
          <a:noFill/>
        </p:spPr>
        <p:txBody>
          <a:bodyPr wrap="square" lIns="36000" tIns="36000" rIns="36000" bIns="36000" rtlCol="0">
            <a:spAutoFit/>
          </a:bodyPr>
          <a:lstStyle/>
          <a:p>
            <a:pPr algn="ctr">
              <a:defRPr/>
            </a:pPr>
            <a:r>
              <a:rPr lang="en-US" sz="900" b="1" kern="0">
                <a:solidFill>
                  <a:srgbClr val="046A38"/>
                </a:solidFill>
                <a:latin typeface="Verdana" panose="020B0604030504040204" pitchFamily="34" charset="0"/>
                <a:ea typeface="Verdana" panose="020B0604030504040204" pitchFamily="34" charset="0"/>
                <a:cs typeface="Arial" panose="020B0604020202020204" pitchFamily="34" charset="0"/>
              </a:rPr>
              <a:t>Policy </a:t>
            </a:r>
          </a:p>
          <a:p>
            <a:pPr algn="ctr">
              <a:defRPr/>
            </a:pPr>
            <a:r>
              <a:rPr lang="en-US" sz="900" b="1" kern="0">
                <a:solidFill>
                  <a:srgbClr val="046A38"/>
                </a:solidFill>
                <a:latin typeface="Verdana" panose="020B0604030504040204" pitchFamily="34" charset="0"/>
                <a:ea typeface="Verdana" panose="020B0604030504040204" pitchFamily="34" charset="0"/>
                <a:cs typeface="Arial" panose="020B0604020202020204" pitchFamily="34" charset="0"/>
              </a:rPr>
              <a:t>development</a:t>
            </a:r>
          </a:p>
        </p:txBody>
      </p:sp>
      <p:sp>
        <p:nvSpPr>
          <p:cNvPr id="39" name="TextBox 38">
            <a:extLst>
              <a:ext uri="{FF2B5EF4-FFF2-40B4-BE49-F238E27FC236}">
                <a16:creationId xmlns:a16="http://schemas.microsoft.com/office/drawing/2014/main" id="{C81FF8FB-21C6-A06D-2053-1195C0F5729E}"/>
              </a:ext>
            </a:extLst>
          </p:cNvPr>
          <p:cNvSpPr txBox="1"/>
          <p:nvPr/>
        </p:nvSpPr>
        <p:spPr>
          <a:xfrm>
            <a:off x="3560898" y="2654254"/>
            <a:ext cx="1978922" cy="349702"/>
          </a:xfrm>
          <a:prstGeom prst="rect">
            <a:avLst/>
          </a:prstGeom>
          <a:noFill/>
        </p:spPr>
        <p:txBody>
          <a:bodyPr wrap="square" lIns="36000" tIns="36000" rIns="36000" bIns="36000" rtlCol="0">
            <a:spAutoFit/>
          </a:bodyPr>
          <a:lstStyle/>
          <a:p>
            <a:pPr algn="ctr">
              <a:defRPr/>
            </a:pPr>
            <a:r>
              <a:rPr lang="en-US" sz="900" b="1" kern="0">
                <a:solidFill>
                  <a:srgbClr val="43B02A"/>
                </a:solidFill>
                <a:latin typeface="Verdana" panose="020B0604030504040204" pitchFamily="34" charset="0"/>
                <a:ea typeface="Verdana" panose="020B0604030504040204" pitchFamily="34" charset="0"/>
                <a:cs typeface="Arial" panose="020B0604020202020204" pitchFamily="34" charset="0"/>
              </a:rPr>
              <a:t>Project </a:t>
            </a:r>
          </a:p>
          <a:p>
            <a:pPr algn="ctr">
              <a:defRPr/>
            </a:pPr>
            <a:r>
              <a:rPr lang="en-US" sz="900" b="1" kern="0">
                <a:solidFill>
                  <a:srgbClr val="43B02A"/>
                </a:solidFill>
                <a:latin typeface="Verdana" panose="020B0604030504040204" pitchFamily="34" charset="0"/>
                <a:ea typeface="Verdana" panose="020B0604030504040204" pitchFamily="34" charset="0"/>
                <a:cs typeface="Arial" panose="020B0604020202020204" pitchFamily="34" charset="0"/>
              </a:rPr>
              <a:t>management</a:t>
            </a:r>
          </a:p>
        </p:txBody>
      </p:sp>
      <p:grpSp>
        <p:nvGrpSpPr>
          <p:cNvPr id="40" name="Group 39">
            <a:extLst>
              <a:ext uri="{FF2B5EF4-FFF2-40B4-BE49-F238E27FC236}">
                <a16:creationId xmlns:a16="http://schemas.microsoft.com/office/drawing/2014/main" id="{C5D0E041-D737-D5FC-8C9F-FCE2EE63F44A}"/>
              </a:ext>
            </a:extLst>
          </p:cNvPr>
          <p:cNvGrpSpPr/>
          <p:nvPr/>
        </p:nvGrpSpPr>
        <p:grpSpPr>
          <a:xfrm>
            <a:off x="4065237" y="1496125"/>
            <a:ext cx="1062680" cy="1129185"/>
            <a:chOff x="2044809" y="1677488"/>
            <a:chExt cx="1270489" cy="1350000"/>
          </a:xfrm>
        </p:grpSpPr>
        <p:grpSp>
          <p:nvGrpSpPr>
            <p:cNvPr id="41" name="Group 40">
              <a:extLst>
                <a:ext uri="{FF2B5EF4-FFF2-40B4-BE49-F238E27FC236}">
                  <a16:creationId xmlns:a16="http://schemas.microsoft.com/office/drawing/2014/main" id="{F760DD5F-F399-033A-713B-F49DBF793097}"/>
                </a:ext>
              </a:extLst>
            </p:cNvPr>
            <p:cNvGrpSpPr/>
            <p:nvPr/>
          </p:nvGrpSpPr>
          <p:grpSpPr>
            <a:xfrm>
              <a:off x="2530498" y="1677488"/>
              <a:ext cx="784800" cy="1350000"/>
              <a:chOff x="4671392" y="663576"/>
              <a:chExt cx="1191799" cy="1931759"/>
            </a:xfrm>
          </p:grpSpPr>
          <p:sp>
            <p:nvSpPr>
              <p:cNvPr id="43" name="Diagonal Stripe 42">
                <a:extLst>
                  <a:ext uri="{FF2B5EF4-FFF2-40B4-BE49-F238E27FC236}">
                    <a16:creationId xmlns:a16="http://schemas.microsoft.com/office/drawing/2014/main" id="{4DFA6F9C-A9FF-5200-48E6-4C14EAFB8BE7}"/>
                  </a:ext>
                </a:extLst>
              </p:cNvPr>
              <p:cNvSpPr/>
              <p:nvPr/>
            </p:nvSpPr>
            <p:spPr>
              <a:xfrm>
                <a:off x="4671392" y="1650596"/>
                <a:ext cx="1191799" cy="944739"/>
              </a:xfrm>
              <a:prstGeom prst="diagStripe">
                <a:avLst/>
              </a:prstGeom>
              <a:solidFill>
                <a:srgbClr val="86BC25"/>
              </a:solidFill>
              <a:ln w="12700" cap="flat" cmpd="sng" algn="ctr">
                <a:noFill/>
                <a:prstDash val="solid"/>
              </a:ln>
              <a:effectLst/>
            </p:spPr>
            <p:txBody>
              <a:bodyPr lIns="91440" tIns="91440" rIns="91440" bIns="91440" rtlCol="0" anchor="ctr">
                <a:noAutofit/>
              </a:bodyPr>
              <a:lstStyle/>
              <a:p>
                <a:pPr algn="ctr">
                  <a:defRPr/>
                </a:pPr>
                <a:endParaRPr lang="en-US" sz="900" kern="0" err="1">
                  <a:solidFill>
                    <a:srgbClr val="53565A"/>
                  </a:solidFill>
                  <a:latin typeface="Verdana" panose="020B0604030504040204" pitchFamily="34" charset="0"/>
                  <a:ea typeface="Verdana" panose="020B0604030504040204" pitchFamily="34" charset="0"/>
                  <a:cs typeface="Arial" panose="020B0604020202020204" pitchFamily="34" charset="0"/>
                </a:endParaRPr>
              </a:p>
            </p:txBody>
          </p:sp>
          <p:sp>
            <p:nvSpPr>
              <p:cNvPr id="44" name="Diagonal Stripe 43">
                <a:extLst>
                  <a:ext uri="{FF2B5EF4-FFF2-40B4-BE49-F238E27FC236}">
                    <a16:creationId xmlns:a16="http://schemas.microsoft.com/office/drawing/2014/main" id="{DC44DDF0-6753-D081-B8CD-FD18883C082A}"/>
                  </a:ext>
                </a:extLst>
              </p:cNvPr>
              <p:cNvSpPr/>
              <p:nvPr/>
            </p:nvSpPr>
            <p:spPr>
              <a:xfrm flipV="1">
                <a:off x="4671392" y="663576"/>
                <a:ext cx="1191799" cy="944739"/>
              </a:xfrm>
              <a:prstGeom prst="diagStripe">
                <a:avLst/>
              </a:prstGeom>
              <a:solidFill>
                <a:srgbClr val="43B02A"/>
              </a:solidFill>
              <a:ln w="12700" cap="flat" cmpd="sng" algn="ctr">
                <a:noFill/>
                <a:prstDash val="solid"/>
              </a:ln>
              <a:effectLst/>
            </p:spPr>
            <p:txBody>
              <a:bodyPr lIns="91440" tIns="91440" rIns="91440" bIns="91440" rtlCol="0" anchor="ctr">
                <a:noAutofit/>
              </a:bodyPr>
              <a:lstStyle/>
              <a:p>
                <a:pPr algn="ctr">
                  <a:defRPr/>
                </a:pPr>
                <a:endParaRPr lang="en-US" sz="900" kern="0" err="1">
                  <a:solidFill>
                    <a:srgbClr val="53565A"/>
                  </a:solidFill>
                  <a:latin typeface="Verdana" panose="020B0604030504040204" pitchFamily="34" charset="0"/>
                  <a:ea typeface="Verdana" panose="020B0604030504040204" pitchFamily="34" charset="0"/>
                  <a:cs typeface="Arial" panose="020B0604020202020204" pitchFamily="34" charset="0"/>
                </a:endParaRPr>
              </a:p>
            </p:txBody>
          </p:sp>
        </p:grpSp>
        <p:sp>
          <p:nvSpPr>
            <p:cNvPr id="42" name="Freeform 5">
              <a:extLst>
                <a:ext uri="{FF2B5EF4-FFF2-40B4-BE49-F238E27FC236}">
                  <a16:creationId xmlns:a16="http://schemas.microsoft.com/office/drawing/2014/main" id="{2B7E1916-D74C-E8C1-3AAD-67C7BBCC2EAE}"/>
                </a:ext>
              </a:extLst>
            </p:cNvPr>
            <p:cNvSpPr>
              <a:spLocks noChangeAspect="1" noEditPoints="1"/>
            </p:cNvSpPr>
            <p:nvPr/>
          </p:nvSpPr>
          <p:spPr bwMode="auto">
            <a:xfrm>
              <a:off x="2044809" y="2036539"/>
              <a:ext cx="617289" cy="617290"/>
            </a:xfrm>
            <a:custGeom>
              <a:avLst/>
              <a:gdLst>
                <a:gd name="T0" fmla="*/ 341 w 512"/>
                <a:gd name="T1" fmla="*/ 232 h 512"/>
                <a:gd name="T2" fmla="*/ 373 w 512"/>
                <a:gd name="T3" fmla="*/ 200 h 512"/>
                <a:gd name="T4" fmla="*/ 364 w 512"/>
                <a:gd name="T5" fmla="*/ 237 h 512"/>
                <a:gd name="T6" fmla="*/ 364 w 512"/>
                <a:gd name="T7" fmla="*/ 237 h 512"/>
                <a:gd name="T8" fmla="*/ 354 w 512"/>
                <a:gd name="T9" fmla="*/ 249 h 512"/>
                <a:gd name="T10" fmla="*/ 288 w 512"/>
                <a:gd name="T11" fmla="*/ 264 h 512"/>
                <a:gd name="T12" fmla="*/ 276 w 512"/>
                <a:gd name="T13" fmla="*/ 267 h 512"/>
                <a:gd name="T14" fmla="*/ 167 w 512"/>
                <a:gd name="T15" fmla="*/ 376 h 512"/>
                <a:gd name="T16" fmla="*/ 137 w 512"/>
                <a:gd name="T17" fmla="*/ 376 h 512"/>
                <a:gd name="T18" fmla="*/ 131 w 512"/>
                <a:gd name="T19" fmla="*/ 361 h 512"/>
                <a:gd name="T20" fmla="*/ 137 w 512"/>
                <a:gd name="T21" fmla="*/ 346 h 512"/>
                <a:gd name="T22" fmla="*/ 246 w 512"/>
                <a:gd name="T23" fmla="*/ 237 h 512"/>
                <a:gd name="T24" fmla="*/ 249 w 512"/>
                <a:gd name="T25" fmla="*/ 225 h 512"/>
                <a:gd name="T26" fmla="*/ 264 w 512"/>
                <a:gd name="T27" fmla="*/ 159 h 512"/>
                <a:gd name="T28" fmla="*/ 276 w 512"/>
                <a:gd name="T29" fmla="*/ 149 h 512"/>
                <a:gd name="T30" fmla="*/ 309 w 512"/>
                <a:gd name="T31" fmla="*/ 140 h 512"/>
                <a:gd name="T32" fmla="*/ 312 w 512"/>
                <a:gd name="T33" fmla="*/ 140 h 512"/>
                <a:gd name="T34" fmla="*/ 281 w 512"/>
                <a:gd name="T35" fmla="*/ 171 h 512"/>
                <a:gd name="T36" fmla="*/ 280 w 512"/>
                <a:gd name="T37" fmla="*/ 185 h 512"/>
                <a:gd name="T38" fmla="*/ 301 w 512"/>
                <a:gd name="T39" fmla="*/ 211 h 512"/>
                <a:gd name="T40" fmla="*/ 328 w 512"/>
                <a:gd name="T41" fmla="*/ 233 h 512"/>
                <a:gd name="T42" fmla="*/ 341 w 512"/>
                <a:gd name="T43" fmla="*/ 232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89 w 512"/>
                <a:gd name="T55" fmla="*/ 175 h 512"/>
                <a:gd name="T56" fmla="*/ 382 w 512"/>
                <a:gd name="T57" fmla="*/ 169 h 512"/>
                <a:gd name="T58" fmla="*/ 372 w 512"/>
                <a:gd name="T59" fmla="*/ 171 h 512"/>
                <a:gd name="T60" fmla="*/ 333 w 512"/>
                <a:gd name="T61" fmla="*/ 210 h 512"/>
                <a:gd name="T62" fmla="*/ 317 w 512"/>
                <a:gd name="T63" fmla="*/ 196 h 512"/>
                <a:gd name="T64" fmla="*/ 303 w 512"/>
                <a:gd name="T65" fmla="*/ 180 h 512"/>
                <a:gd name="T66" fmla="*/ 342 w 512"/>
                <a:gd name="T67" fmla="*/ 141 h 512"/>
                <a:gd name="T68" fmla="*/ 344 w 512"/>
                <a:gd name="T69" fmla="*/ 131 h 512"/>
                <a:gd name="T70" fmla="*/ 338 w 512"/>
                <a:gd name="T71" fmla="*/ 124 h 512"/>
                <a:gd name="T72" fmla="*/ 265 w 512"/>
                <a:gd name="T73" fmla="*/ 131 h 512"/>
                <a:gd name="T74" fmla="*/ 249 w 512"/>
                <a:gd name="T75" fmla="*/ 144 h 512"/>
                <a:gd name="T76" fmla="*/ 227 w 512"/>
                <a:gd name="T77" fmla="*/ 226 h 512"/>
                <a:gd name="T78" fmla="*/ 122 w 512"/>
                <a:gd name="T79" fmla="*/ 331 h 512"/>
                <a:gd name="T80" fmla="*/ 109 w 512"/>
                <a:gd name="T81" fmla="*/ 361 h 512"/>
                <a:gd name="T82" fmla="*/ 122 w 512"/>
                <a:gd name="T83" fmla="*/ 391 h 512"/>
                <a:gd name="T84" fmla="*/ 152 w 512"/>
                <a:gd name="T85" fmla="*/ 404 h 512"/>
                <a:gd name="T86" fmla="*/ 182 w 512"/>
                <a:gd name="T87" fmla="*/ 391 h 512"/>
                <a:gd name="T88" fmla="*/ 287 w 512"/>
                <a:gd name="T89" fmla="*/ 286 h 512"/>
                <a:gd name="T90" fmla="*/ 369 w 512"/>
                <a:gd name="T91" fmla="*/ 264 h 512"/>
                <a:gd name="T92" fmla="*/ 382 w 512"/>
                <a:gd name="T93" fmla="*/ 248 h 512"/>
                <a:gd name="T94" fmla="*/ 389 w 512"/>
                <a:gd name="T95" fmla="*/ 17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341" y="232"/>
                  </a:moveTo>
                  <a:cubicBezTo>
                    <a:pt x="373" y="200"/>
                    <a:pt x="373" y="200"/>
                    <a:pt x="373" y="200"/>
                  </a:cubicBezTo>
                  <a:cubicBezTo>
                    <a:pt x="374" y="213"/>
                    <a:pt x="370" y="226"/>
                    <a:pt x="364" y="237"/>
                  </a:cubicBezTo>
                  <a:cubicBezTo>
                    <a:pt x="364" y="237"/>
                    <a:pt x="364" y="237"/>
                    <a:pt x="364" y="237"/>
                  </a:cubicBezTo>
                  <a:cubicBezTo>
                    <a:pt x="361" y="242"/>
                    <a:pt x="358" y="246"/>
                    <a:pt x="354" y="249"/>
                  </a:cubicBezTo>
                  <a:cubicBezTo>
                    <a:pt x="337" y="267"/>
                    <a:pt x="311" y="272"/>
                    <a:pt x="288" y="264"/>
                  </a:cubicBezTo>
                  <a:cubicBezTo>
                    <a:pt x="284" y="263"/>
                    <a:pt x="279" y="264"/>
                    <a:pt x="276" y="267"/>
                  </a:cubicBezTo>
                  <a:cubicBezTo>
                    <a:pt x="167" y="376"/>
                    <a:pt x="167" y="376"/>
                    <a:pt x="167" y="376"/>
                  </a:cubicBezTo>
                  <a:cubicBezTo>
                    <a:pt x="159" y="384"/>
                    <a:pt x="145" y="384"/>
                    <a:pt x="137" y="376"/>
                  </a:cubicBezTo>
                  <a:cubicBezTo>
                    <a:pt x="133" y="372"/>
                    <a:pt x="131" y="367"/>
                    <a:pt x="131" y="361"/>
                  </a:cubicBezTo>
                  <a:cubicBezTo>
                    <a:pt x="131" y="355"/>
                    <a:pt x="133" y="350"/>
                    <a:pt x="137" y="346"/>
                  </a:cubicBezTo>
                  <a:cubicBezTo>
                    <a:pt x="246" y="237"/>
                    <a:pt x="246" y="237"/>
                    <a:pt x="246" y="237"/>
                  </a:cubicBezTo>
                  <a:cubicBezTo>
                    <a:pt x="249" y="234"/>
                    <a:pt x="250" y="229"/>
                    <a:pt x="249" y="225"/>
                  </a:cubicBezTo>
                  <a:cubicBezTo>
                    <a:pt x="241" y="202"/>
                    <a:pt x="246" y="176"/>
                    <a:pt x="264" y="159"/>
                  </a:cubicBezTo>
                  <a:cubicBezTo>
                    <a:pt x="267" y="155"/>
                    <a:pt x="271" y="152"/>
                    <a:pt x="276" y="149"/>
                  </a:cubicBezTo>
                  <a:cubicBezTo>
                    <a:pt x="286" y="143"/>
                    <a:pt x="297" y="140"/>
                    <a:pt x="309" y="140"/>
                  </a:cubicBezTo>
                  <a:cubicBezTo>
                    <a:pt x="310" y="140"/>
                    <a:pt x="311" y="140"/>
                    <a:pt x="312" y="140"/>
                  </a:cubicBezTo>
                  <a:cubicBezTo>
                    <a:pt x="281" y="171"/>
                    <a:pt x="281" y="171"/>
                    <a:pt x="281" y="171"/>
                  </a:cubicBezTo>
                  <a:cubicBezTo>
                    <a:pt x="277" y="175"/>
                    <a:pt x="277" y="181"/>
                    <a:pt x="280" y="185"/>
                  </a:cubicBezTo>
                  <a:cubicBezTo>
                    <a:pt x="286" y="194"/>
                    <a:pt x="293" y="203"/>
                    <a:pt x="301" y="211"/>
                  </a:cubicBezTo>
                  <a:cubicBezTo>
                    <a:pt x="310" y="220"/>
                    <a:pt x="318" y="227"/>
                    <a:pt x="328" y="233"/>
                  </a:cubicBezTo>
                  <a:cubicBezTo>
                    <a:pt x="332" y="236"/>
                    <a:pt x="338" y="235"/>
                    <a:pt x="341" y="232"/>
                  </a:cubicBezTo>
                  <a:close/>
                  <a:moveTo>
                    <a:pt x="512" y="256"/>
                  </a:moveTo>
                  <a:cubicBezTo>
                    <a:pt x="512" y="397"/>
                    <a:pt x="397" y="512"/>
                    <a:pt x="256" y="512"/>
                  </a:cubicBezTo>
                  <a:cubicBezTo>
                    <a:pt x="115" y="512"/>
                    <a:pt x="0" y="397"/>
                    <a:pt x="0" y="256"/>
                  </a:cubicBezTo>
                  <a:cubicBezTo>
                    <a:pt x="0" y="114"/>
                    <a:pt x="115" y="0"/>
                    <a:pt x="256" y="0"/>
                  </a:cubicBezTo>
                  <a:cubicBezTo>
                    <a:pt x="397" y="0"/>
                    <a:pt x="512" y="114"/>
                    <a:pt x="512" y="256"/>
                  </a:cubicBezTo>
                  <a:close/>
                  <a:moveTo>
                    <a:pt x="389" y="175"/>
                  </a:moveTo>
                  <a:cubicBezTo>
                    <a:pt x="388" y="172"/>
                    <a:pt x="385" y="169"/>
                    <a:pt x="382" y="169"/>
                  </a:cubicBezTo>
                  <a:cubicBezTo>
                    <a:pt x="378" y="168"/>
                    <a:pt x="374" y="169"/>
                    <a:pt x="372" y="171"/>
                  </a:cubicBezTo>
                  <a:cubicBezTo>
                    <a:pt x="333" y="210"/>
                    <a:pt x="333" y="210"/>
                    <a:pt x="333" y="210"/>
                  </a:cubicBezTo>
                  <a:cubicBezTo>
                    <a:pt x="327" y="206"/>
                    <a:pt x="322" y="201"/>
                    <a:pt x="317" y="196"/>
                  </a:cubicBezTo>
                  <a:cubicBezTo>
                    <a:pt x="311" y="191"/>
                    <a:pt x="307" y="186"/>
                    <a:pt x="303" y="180"/>
                  </a:cubicBezTo>
                  <a:cubicBezTo>
                    <a:pt x="342" y="141"/>
                    <a:pt x="342" y="141"/>
                    <a:pt x="342" y="141"/>
                  </a:cubicBezTo>
                  <a:cubicBezTo>
                    <a:pt x="344" y="139"/>
                    <a:pt x="345" y="135"/>
                    <a:pt x="344" y="131"/>
                  </a:cubicBezTo>
                  <a:cubicBezTo>
                    <a:pt x="344" y="128"/>
                    <a:pt x="341" y="125"/>
                    <a:pt x="338" y="124"/>
                  </a:cubicBezTo>
                  <a:cubicBezTo>
                    <a:pt x="313" y="115"/>
                    <a:pt x="287" y="118"/>
                    <a:pt x="265" y="131"/>
                  </a:cubicBezTo>
                  <a:cubicBezTo>
                    <a:pt x="259" y="135"/>
                    <a:pt x="253" y="139"/>
                    <a:pt x="249" y="144"/>
                  </a:cubicBezTo>
                  <a:cubicBezTo>
                    <a:pt x="227" y="165"/>
                    <a:pt x="219" y="197"/>
                    <a:pt x="227" y="226"/>
                  </a:cubicBezTo>
                  <a:cubicBezTo>
                    <a:pt x="122" y="331"/>
                    <a:pt x="122" y="331"/>
                    <a:pt x="122" y="331"/>
                  </a:cubicBezTo>
                  <a:cubicBezTo>
                    <a:pt x="114" y="339"/>
                    <a:pt x="109" y="350"/>
                    <a:pt x="109" y="361"/>
                  </a:cubicBezTo>
                  <a:cubicBezTo>
                    <a:pt x="109" y="372"/>
                    <a:pt x="114" y="383"/>
                    <a:pt x="122" y="391"/>
                  </a:cubicBezTo>
                  <a:cubicBezTo>
                    <a:pt x="130" y="399"/>
                    <a:pt x="140" y="404"/>
                    <a:pt x="152" y="404"/>
                  </a:cubicBezTo>
                  <a:cubicBezTo>
                    <a:pt x="163" y="404"/>
                    <a:pt x="174" y="399"/>
                    <a:pt x="182" y="391"/>
                  </a:cubicBezTo>
                  <a:cubicBezTo>
                    <a:pt x="287" y="286"/>
                    <a:pt x="287" y="286"/>
                    <a:pt x="287" y="286"/>
                  </a:cubicBezTo>
                  <a:cubicBezTo>
                    <a:pt x="316" y="294"/>
                    <a:pt x="348" y="286"/>
                    <a:pt x="369" y="264"/>
                  </a:cubicBezTo>
                  <a:cubicBezTo>
                    <a:pt x="374" y="260"/>
                    <a:pt x="378" y="254"/>
                    <a:pt x="382" y="248"/>
                  </a:cubicBezTo>
                  <a:cubicBezTo>
                    <a:pt x="395" y="226"/>
                    <a:pt x="398" y="200"/>
                    <a:pt x="389" y="175"/>
                  </a:cubicBezTo>
                  <a:close/>
                </a:path>
              </a:pathLst>
            </a:custGeom>
            <a:solidFill>
              <a:srgbClr val="26890D"/>
            </a:solidFill>
            <a:ln>
              <a:noFill/>
            </a:ln>
          </p:spPr>
          <p:txBody>
            <a:bodyPr vert="horz" wrap="square" lIns="91440" tIns="45720" rIns="91440" bIns="45720" numCol="1" anchor="t" anchorCtr="0" compatLnSpc="1">
              <a:prstTxWarp prst="textNoShape">
                <a:avLst/>
              </a:prstTxWarp>
            </a:bodyPr>
            <a:lstStyle/>
            <a:p>
              <a:pPr>
                <a:defRPr/>
              </a:pPr>
              <a:endParaRPr lang="en-GB" sz="900" kern="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grpSp>
      <p:grpSp>
        <p:nvGrpSpPr>
          <p:cNvPr id="45" name="Group 44">
            <a:extLst>
              <a:ext uri="{FF2B5EF4-FFF2-40B4-BE49-F238E27FC236}">
                <a16:creationId xmlns:a16="http://schemas.microsoft.com/office/drawing/2014/main" id="{5E202E52-C973-D6DD-13CD-4F0A53F2D680}"/>
              </a:ext>
            </a:extLst>
          </p:cNvPr>
          <p:cNvGrpSpPr/>
          <p:nvPr/>
        </p:nvGrpSpPr>
        <p:grpSpPr>
          <a:xfrm>
            <a:off x="756618" y="1550747"/>
            <a:ext cx="1047460" cy="1129862"/>
            <a:chOff x="692491" y="1745045"/>
            <a:chExt cx="1252288" cy="1350783"/>
          </a:xfrm>
        </p:grpSpPr>
        <p:grpSp>
          <p:nvGrpSpPr>
            <p:cNvPr id="46" name="Group 45">
              <a:extLst>
                <a:ext uri="{FF2B5EF4-FFF2-40B4-BE49-F238E27FC236}">
                  <a16:creationId xmlns:a16="http://schemas.microsoft.com/office/drawing/2014/main" id="{9C805402-1AD9-DF95-5891-B48B5F7598C9}"/>
                </a:ext>
              </a:extLst>
            </p:cNvPr>
            <p:cNvGrpSpPr/>
            <p:nvPr/>
          </p:nvGrpSpPr>
          <p:grpSpPr>
            <a:xfrm>
              <a:off x="1160281" y="1745045"/>
              <a:ext cx="784498" cy="1350783"/>
              <a:chOff x="478165" y="663576"/>
              <a:chExt cx="1191799" cy="1931759"/>
            </a:xfrm>
          </p:grpSpPr>
          <p:sp>
            <p:nvSpPr>
              <p:cNvPr id="55" name="Diagonal Stripe 54">
                <a:extLst>
                  <a:ext uri="{FF2B5EF4-FFF2-40B4-BE49-F238E27FC236}">
                    <a16:creationId xmlns:a16="http://schemas.microsoft.com/office/drawing/2014/main" id="{411A7F80-1F67-B435-CFC4-B5E639D83EAA}"/>
                  </a:ext>
                </a:extLst>
              </p:cNvPr>
              <p:cNvSpPr/>
              <p:nvPr/>
            </p:nvSpPr>
            <p:spPr>
              <a:xfrm>
                <a:off x="478165" y="1650596"/>
                <a:ext cx="1191799" cy="944739"/>
              </a:xfrm>
              <a:prstGeom prst="diagStripe">
                <a:avLst/>
              </a:prstGeom>
              <a:solidFill>
                <a:srgbClr val="26890D"/>
              </a:solidFill>
              <a:ln w="12700" cap="flat" cmpd="sng" algn="ctr">
                <a:noFill/>
                <a:prstDash val="solid"/>
              </a:ln>
              <a:effectLst/>
            </p:spPr>
            <p:txBody>
              <a:bodyPr lIns="91440" tIns="91440" rIns="91440" bIns="91440" rtlCol="0" anchor="ctr">
                <a:noAutofit/>
              </a:bodyPr>
              <a:lstStyle/>
              <a:p>
                <a:pPr algn="ctr">
                  <a:defRPr/>
                </a:pPr>
                <a:endParaRPr lang="en-US" sz="900" kern="0" err="1">
                  <a:solidFill>
                    <a:srgbClr val="53565A"/>
                  </a:solidFill>
                  <a:latin typeface="Verdana" panose="020B0604030504040204" pitchFamily="34" charset="0"/>
                  <a:ea typeface="Verdana" panose="020B0604030504040204" pitchFamily="34" charset="0"/>
                  <a:cs typeface="Arial" panose="020B0604020202020204" pitchFamily="34" charset="0"/>
                </a:endParaRPr>
              </a:p>
            </p:txBody>
          </p:sp>
          <p:sp>
            <p:nvSpPr>
              <p:cNvPr id="56" name="Diagonal Stripe 55">
                <a:extLst>
                  <a:ext uri="{FF2B5EF4-FFF2-40B4-BE49-F238E27FC236}">
                    <a16:creationId xmlns:a16="http://schemas.microsoft.com/office/drawing/2014/main" id="{1B7FF21B-3A4C-C276-46E4-510EA429DEFC}"/>
                  </a:ext>
                </a:extLst>
              </p:cNvPr>
              <p:cNvSpPr/>
              <p:nvPr/>
            </p:nvSpPr>
            <p:spPr>
              <a:xfrm flipV="1">
                <a:off x="478165" y="663576"/>
                <a:ext cx="1191799" cy="944739"/>
              </a:xfrm>
              <a:prstGeom prst="diagStripe">
                <a:avLst/>
              </a:prstGeom>
              <a:solidFill>
                <a:srgbClr val="046A38"/>
              </a:solidFill>
              <a:ln w="12700" cap="flat" cmpd="sng" algn="ctr">
                <a:noFill/>
                <a:prstDash val="solid"/>
              </a:ln>
              <a:effectLst/>
            </p:spPr>
            <p:txBody>
              <a:bodyPr lIns="91440" tIns="91440" rIns="91440" bIns="91440" rtlCol="0" anchor="ctr">
                <a:noAutofit/>
              </a:bodyPr>
              <a:lstStyle/>
              <a:p>
                <a:pPr algn="ctr">
                  <a:defRPr/>
                </a:pPr>
                <a:endParaRPr lang="en-US" sz="900" kern="0" err="1">
                  <a:solidFill>
                    <a:srgbClr val="53565A"/>
                  </a:solidFill>
                  <a:latin typeface="Verdana" panose="020B0604030504040204" pitchFamily="34" charset="0"/>
                  <a:ea typeface="Verdana" panose="020B0604030504040204" pitchFamily="34" charset="0"/>
                  <a:cs typeface="Arial" panose="020B0604020202020204" pitchFamily="34" charset="0"/>
                </a:endParaRPr>
              </a:p>
            </p:txBody>
          </p:sp>
        </p:grpSp>
        <p:grpSp>
          <p:nvGrpSpPr>
            <p:cNvPr id="47" name="Group 854">
              <a:extLst>
                <a:ext uri="{FF2B5EF4-FFF2-40B4-BE49-F238E27FC236}">
                  <a16:creationId xmlns:a16="http://schemas.microsoft.com/office/drawing/2014/main" id="{E3737F67-359F-0E4F-CE06-1140F7670878}"/>
                </a:ext>
              </a:extLst>
            </p:cNvPr>
            <p:cNvGrpSpPr>
              <a:grpSpLocks noChangeAspect="1"/>
            </p:cNvGrpSpPr>
            <p:nvPr/>
          </p:nvGrpSpPr>
          <p:grpSpPr bwMode="auto">
            <a:xfrm>
              <a:off x="692491" y="2139093"/>
              <a:ext cx="579992" cy="579992"/>
              <a:chOff x="3903" y="3039"/>
              <a:chExt cx="340" cy="340"/>
            </a:xfrm>
            <a:solidFill>
              <a:srgbClr val="26890D"/>
            </a:solidFill>
          </p:grpSpPr>
          <p:sp>
            <p:nvSpPr>
              <p:cNvPr id="48" name="Oval 855">
                <a:extLst>
                  <a:ext uri="{FF2B5EF4-FFF2-40B4-BE49-F238E27FC236}">
                    <a16:creationId xmlns:a16="http://schemas.microsoft.com/office/drawing/2014/main" id="{55F3BFD9-A3D8-6511-1933-5061931461BC}"/>
                  </a:ext>
                </a:extLst>
              </p:cNvPr>
              <p:cNvSpPr>
                <a:spLocks noChangeArrowheads="1"/>
              </p:cNvSpPr>
              <p:nvPr/>
            </p:nvSpPr>
            <p:spPr bwMode="auto">
              <a:xfrm>
                <a:off x="3995" y="3117"/>
                <a:ext cx="14" cy="14"/>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900" kern="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49" name="Rectangle 856">
                <a:extLst>
                  <a:ext uri="{FF2B5EF4-FFF2-40B4-BE49-F238E27FC236}">
                    <a16:creationId xmlns:a16="http://schemas.microsoft.com/office/drawing/2014/main" id="{611EAEBC-7FDF-171B-EC94-B74BDB24C016}"/>
                  </a:ext>
                </a:extLst>
              </p:cNvPr>
              <p:cNvSpPr>
                <a:spLocks noChangeArrowheads="1"/>
              </p:cNvSpPr>
              <p:nvPr/>
            </p:nvSpPr>
            <p:spPr bwMode="auto">
              <a:xfrm>
                <a:off x="4058" y="3173"/>
                <a:ext cx="29" cy="4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en-GB" sz="900" kern="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50" name="Freeform 857">
                <a:extLst>
                  <a:ext uri="{FF2B5EF4-FFF2-40B4-BE49-F238E27FC236}">
                    <a16:creationId xmlns:a16="http://schemas.microsoft.com/office/drawing/2014/main" id="{6400C778-6067-597C-F797-F6BC6CA03F9A}"/>
                  </a:ext>
                </a:extLst>
              </p:cNvPr>
              <p:cNvSpPr>
                <a:spLocks/>
              </p:cNvSpPr>
              <p:nvPr/>
            </p:nvSpPr>
            <p:spPr bwMode="auto">
              <a:xfrm>
                <a:off x="3989" y="3173"/>
                <a:ext cx="26" cy="57"/>
              </a:xfrm>
              <a:custGeom>
                <a:avLst/>
                <a:gdLst>
                  <a:gd name="T0" fmla="*/ 12 w 26"/>
                  <a:gd name="T1" fmla="*/ 0 h 57"/>
                  <a:gd name="T2" fmla="*/ 0 w 26"/>
                  <a:gd name="T3" fmla="*/ 57 h 57"/>
                  <a:gd name="T4" fmla="*/ 26 w 26"/>
                  <a:gd name="T5" fmla="*/ 57 h 57"/>
                  <a:gd name="T6" fmla="*/ 14 w 26"/>
                  <a:gd name="T7" fmla="*/ 0 h 57"/>
                  <a:gd name="T8" fmla="*/ 12 w 26"/>
                  <a:gd name="T9" fmla="*/ 0 h 57"/>
                </a:gdLst>
                <a:ahLst/>
                <a:cxnLst>
                  <a:cxn ang="0">
                    <a:pos x="T0" y="T1"/>
                  </a:cxn>
                  <a:cxn ang="0">
                    <a:pos x="T2" y="T3"/>
                  </a:cxn>
                  <a:cxn ang="0">
                    <a:pos x="T4" y="T5"/>
                  </a:cxn>
                  <a:cxn ang="0">
                    <a:pos x="T6" y="T7"/>
                  </a:cxn>
                  <a:cxn ang="0">
                    <a:pos x="T8" y="T9"/>
                  </a:cxn>
                </a:cxnLst>
                <a:rect l="0" t="0" r="r" b="b"/>
                <a:pathLst>
                  <a:path w="26" h="57">
                    <a:moveTo>
                      <a:pt x="12" y="0"/>
                    </a:moveTo>
                    <a:lnTo>
                      <a:pt x="0" y="57"/>
                    </a:lnTo>
                    <a:lnTo>
                      <a:pt x="26" y="57"/>
                    </a:lnTo>
                    <a:lnTo>
                      <a:pt x="14" y="0"/>
                    </a:lnTo>
                    <a:lnTo>
                      <a:pt x="12"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900" kern="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51" name="Oval 858">
                <a:extLst>
                  <a:ext uri="{FF2B5EF4-FFF2-40B4-BE49-F238E27FC236}">
                    <a16:creationId xmlns:a16="http://schemas.microsoft.com/office/drawing/2014/main" id="{F30EDC7B-7E5E-68F2-0345-0450882DC4E3}"/>
                  </a:ext>
                </a:extLst>
              </p:cNvPr>
              <p:cNvSpPr>
                <a:spLocks noChangeArrowheads="1"/>
              </p:cNvSpPr>
              <p:nvPr/>
            </p:nvSpPr>
            <p:spPr bwMode="auto">
              <a:xfrm>
                <a:off x="4066" y="3117"/>
                <a:ext cx="14" cy="14"/>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900" kern="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52" name="Oval 859">
                <a:extLst>
                  <a:ext uri="{FF2B5EF4-FFF2-40B4-BE49-F238E27FC236}">
                    <a16:creationId xmlns:a16="http://schemas.microsoft.com/office/drawing/2014/main" id="{D0F2F03A-1D4F-35D8-34C9-9C7A24048617}"/>
                  </a:ext>
                </a:extLst>
              </p:cNvPr>
              <p:cNvSpPr>
                <a:spLocks noChangeArrowheads="1"/>
              </p:cNvSpPr>
              <p:nvPr/>
            </p:nvSpPr>
            <p:spPr bwMode="auto">
              <a:xfrm>
                <a:off x="4137" y="3117"/>
                <a:ext cx="14" cy="14"/>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900" kern="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53" name="Rectangle 860">
                <a:extLst>
                  <a:ext uri="{FF2B5EF4-FFF2-40B4-BE49-F238E27FC236}">
                    <a16:creationId xmlns:a16="http://schemas.microsoft.com/office/drawing/2014/main" id="{78F37E12-4995-A1E9-D098-B781A0381246}"/>
                  </a:ext>
                </a:extLst>
              </p:cNvPr>
              <p:cNvSpPr>
                <a:spLocks noChangeArrowheads="1"/>
              </p:cNvSpPr>
              <p:nvPr/>
            </p:nvSpPr>
            <p:spPr bwMode="auto">
              <a:xfrm>
                <a:off x="4129" y="3173"/>
                <a:ext cx="29" cy="4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en-GB" sz="900" kern="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sp>
            <p:nvSpPr>
              <p:cNvPr id="54" name="Freeform 861">
                <a:extLst>
                  <a:ext uri="{FF2B5EF4-FFF2-40B4-BE49-F238E27FC236}">
                    <a16:creationId xmlns:a16="http://schemas.microsoft.com/office/drawing/2014/main" id="{C235B16F-B2D4-E6CE-7AFF-BAE11677577A}"/>
                  </a:ext>
                </a:extLst>
              </p:cNvPr>
              <p:cNvSpPr>
                <a:spLocks noEditPoints="1"/>
              </p:cNvSpPr>
              <p:nvPr/>
            </p:nvSpPr>
            <p:spPr bwMode="auto">
              <a:xfrm>
                <a:off x="3903" y="3039"/>
                <a:ext cx="340" cy="340"/>
              </a:xfrm>
              <a:custGeom>
                <a:avLst/>
                <a:gdLst>
                  <a:gd name="T0" fmla="*/ 0 w 512"/>
                  <a:gd name="T1" fmla="*/ 256 h 512"/>
                  <a:gd name="T2" fmla="*/ 512 w 512"/>
                  <a:gd name="T3" fmla="*/ 256 h 512"/>
                  <a:gd name="T4" fmla="*/ 362 w 512"/>
                  <a:gd name="T5" fmla="*/ 96 h 512"/>
                  <a:gd name="T6" fmla="*/ 362 w 512"/>
                  <a:gd name="T7" fmla="*/ 160 h 512"/>
                  <a:gd name="T8" fmla="*/ 362 w 512"/>
                  <a:gd name="T9" fmla="*/ 96 h 512"/>
                  <a:gd name="T10" fmla="*/ 288 w 512"/>
                  <a:gd name="T11" fmla="*/ 128 h 512"/>
                  <a:gd name="T12" fmla="*/ 224 w 512"/>
                  <a:gd name="T13" fmla="*/ 128 h 512"/>
                  <a:gd name="T14" fmla="*/ 149 w 512"/>
                  <a:gd name="T15" fmla="*/ 96 h 512"/>
                  <a:gd name="T16" fmla="*/ 149 w 512"/>
                  <a:gd name="T17" fmla="*/ 160 h 512"/>
                  <a:gd name="T18" fmla="*/ 149 w 512"/>
                  <a:gd name="T19" fmla="*/ 96 h 512"/>
                  <a:gd name="T20" fmla="*/ 181 w 512"/>
                  <a:gd name="T21" fmla="*/ 309 h 512"/>
                  <a:gd name="T22" fmla="*/ 170 w 512"/>
                  <a:gd name="T23" fmla="*/ 394 h 512"/>
                  <a:gd name="T24" fmla="*/ 160 w 512"/>
                  <a:gd name="T25" fmla="*/ 309 h 512"/>
                  <a:gd name="T26" fmla="*/ 138 w 512"/>
                  <a:gd name="T27" fmla="*/ 384 h 512"/>
                  <a:gd name="T28" fmla="*/ 117 w 512"/>
                  <a:gd name="T29" fmla="*/ 384 h 512"/>
                  <a:gd name="T30" fmla="*/ 109 w 512"/>
                  <a:gd name="T31" fmla="*/ 305 h 512"/>
                  <a:gd name="T32" fmla="*/ 128 w 512"/>
                  <a:gd name="T33" fmla="*/ 190 h 512"/>
                  <a:gd name="T34" fmla="*/ 160 w 512"/>
                  <a:gd name="T35" fmla="*/ 181 h 512"/>
                  <a:gd name="T36" fmla="*/ 191 w 512"/>
                  <a:gd name="T37" fmla="*/ 296 h 512"/>
                  <a:gd name="T38" fmla="*/ 298 w 512"/>
                  <a:gd name="T39" fmla="*/ 277 h 512"/>
                  <a:gd name="T40" fmla="*/ 288 w 512"/>
                  <a:gd name="T41" fmla="*/ 384 h 512"/>
                  <a:gd name="T42" fmla="*/ 266 w 512"/>
                  <a:gd name="T43" fmla="*/ 384 h 512"/>
                  <a:gd name="T44" fmla="*/ 245 w 512"/>
                  <a:gd name="T45" fmla="*/ 288 h 512"/>
                  <a:gd name="T46" fmla="*/ 234 w 512"/>
                  <a:gd name="T47" fmla="*/ 394 h 512"/>
                  <a:gd name="T48" fmla="*/ 224 w 512"/>
                  <a:gd name="T49" fmla="*/ 288 h 512"/>
                  <a:gd name="T50" fmla="*/ 213 w 512"/>
                  <a:gd name="T51" fmla="*/ 192 h 512"/>
                  <a:gd name="T52" fmla="*/ 288 w 512"/>
                  <a:gd name="T53" fmla="*/ 181 h 512"/>
                  <a:gd name="T54" fmla="*/ 298 w 512"/>
                  <a:gd name="T55" fmla="*/ 277 h 512"/>
                  <a:gd name="T56" fmla="*/ 394 w 512"/>
                  <a:gd name="T57" fmla="*/ 288 h 512"/>
                  <a:gd name="T58" fmla="*/ 384 w 512"/>
                  <a:gd name="T59" fmla="*/ 394 h 512"/>
                  <a:gd name="T60" fmla="*/ 373 w 512"/>
                  <a:gd name="T61" fmla="*/ 288 h 512"/>
                  <a:gd name="T62" fmla="*/ 352 w 512"/>
                  <a:gd name="T63" fmla="*/ 384 h 512"/>
                  <a:gd name="T64" fmla="*/ 330 w 512"/>
                  <a:gd name="T65" fmla="*/ 384 h 512"/>
                  <a:gd name="T66" fmla="*/ 320 w 512"/>
                  <a:gd name="T67" fmla="*/ 277 h 512"/>
                  <a:gd name="T68" fmla="*/ 330 w 512"/>
                  <a:gd name="T69" fmla="*/ 181 h 512"/>
                  <a:gd name="T70" fmla="*/ 405 w 512"/>
                  <a:gd name="T71" fmla="*/ 19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62" y="96"/>
                    </a:moveTo>
                    <a:cubicBezTo>
                      <a:pt x="380" y="96"/>
                      <a:pt x="394" y="110"/>
                      <a:pt x="394" y="128"/>
                    </a:cubicBezTo>
                    <a:cubicBezTo>
                      <a:pt x="394" y="145"/>
                      <a:pt x="380" y="160"/>
                      <a:pt x="362" y="160"/>
                    </a:cubicBezTo>
                    <a:cubicBezTo>
                      <a:pt x="345" y="160"/>
                      <a:pt x="330" y="145"/>
                      <a:pt x="330" y="128"/>
                    </a:cubicBezTo>
                    <a:cubicBezTo>
                      <a:pt x="330" y="110"/>
                      <a:pt x="345" y="96"/>
                      <a:pt x="362" y="96"/>
                    </a:cubicBezTo>
                    <a:close/>
                    <a:moveTo>
                      <a:pt x="256" y="96"/>
                    </a:moveTo>
                    <a:cubicBezTo>
                      <a:pt x="273" y="96"/>
                      <a:pt x="288" y="110"/>
                      <a:pt x="288" y="128"/>
                    </a:cubicBezTo>
                    <a:cubicBezTo>
                      <a:pt x="288" y="145"/>
                      <a:pt x="273" y="160"/>
                      <a:pt x="256" y="160"/>
                    </a:cubicBezTo>
                    <a:cubicBezTo>
                      <a:pt x="238" y="160"/>
                      <a:pt x="224" y="145"/>
                      <a:pt x="224" y="128"/>
                    </a:cubicBezTo>
                    <a:cubicBezTo>
                      <a:pt x="224" y="110"/>
                      <a:pt x="238" y="96"/>
                      <a:pt x="256" y="96"/>
                    </a:cubicBezTo>
                    <a:close/>
                    <a:moveTo>
                      <a:pt x="149" y="96"/>
                    </a:moveTo>
                    <a:cubicBezTo>
                      <a:pt x="167" y="96"/>
                      <a:pt x="181" y="110"/>
                      <a:pt x="181" y="128"/>
                    </a:cubicBezTo>
                    <a:cubicBezTo>
                      <a:pt x="181" y="145"/>
                      <a:pt x="167" y="160"/>
                      <a:pt x="149" y="160"/>
                    </a:cubicBezTo>
                    <a:cubicBezTo>
                      <a:pt x="131" y="160"/>
                      <a:pt x="117" y="145"/>
                      <a:pt x="117" y="128"/>
                    </a:cubicBezTo>
                    <a:cubicBezTo>
                      <a:pt x="117" y="110"/>
                      <a:pt x="131" y="96"/>
                      <a:pt x="149" y="96"/>
                    </a:cubicBezTo>
                    <a:close/>
                    <a:moveTo>
                      <a:pt x="189" y="305"/>
                    </a:moveTo>
                    <a:cubicBezTo>
                      <a:pt x="187" y="308"/>
                      <a:pt x="184" y="309"/>
                      <a:pt x="181" y="309"/>
                    </a:cubicBezTo>
                    <a:cubicBezTo>
                      <a:pt x="181" y="384"/>
                      <a:pt x="181" y="384"/>
                      <a:pt x="181" y="384"/>
                    </a:cubicBezTo>
                    <a:cubicBezTo>
                      <a:pt x="181" y="390"/>
                      <a:pt x="176" y="394"/>
                      <a:pt x="170" y="394"/>
                    </a:cubicBezTo>
                    <a:cubicBezTo>
                      <a:pt x="164" y="394"/>
                      <a:pt x="160" y="390"/>
                      <a:pt x="160" y="384"/>
                    </a:cubicBezTo>
                    <a:cubicBezTo>
                      <a:pt x="160" y="309"/>
                      <a:pt x="160" y="309"/>
                      <a:pt x="160" y="309"/>
                    </a:cubicBezTo>
                    <a:cubicBezTo>
                      <a:pt x="138" y="309"/>
                      <a:pt x="138" y="309"/>
                      <a:pt x="138" y="309"/>
                    </a:cubicBezTo>
                    <a:cubicBezTo>
                      <a:pt x="138" y="384"/>
                      <a:pt x="138" y="384"/>
                      <a:pt x="138" y="384"/>
                    </a:cubicBezTo>
                    <a:cubicBezTo>
                      <a:pt x="138" y="390"/>
                      <a:pt x="134" y="394"/>
                      <a:pt x="128" y="394"/>
                    </a:cubicBezTo>
                    <a:cubicBezTo>
                      <a:pt x="122" y="394"/>
                      <a:pt x="117" y="390"/>
                      <a:pt x="117" y="384"/>
                    </a:cubicBezTo>
                    <a:cubicBezTo>
                      <a:pt x="117" y="309"/>
                      <a:pt x="117" y="309"/>
                      <a:pt x="117" y="309"/>
                    </a:cubicBezTo>
                    <a:cubicBezTo>
                      <a:pt x="114" y="309"/>
                      <a:pt x="111" y="308"/>
                      <a:pt x="109" y="305"/>
                    </a:cubicBezTo>
                    <a:cubicBezTo>
                      <a:pt x="107" y="303"/>
                      <a:pt x="106" y="299"/>
                      <a:pt x="107" y="296"/>
                    </a:cubicBezTo>
                    <a:cubicBezTo>
                      <a:pt x="128" y="190"/>
                      <a:pt x="128" y="190"/>
                      <a:pt x="128" y="190"/>
                    </a:cubicBezTo>
                    <a:cubicBezTo>
                      <a:pt x="129" y="185"/>
                      <a:pt x="133" y="181"/>
                      <a:pt x="138" y="181"/>
                    </a:cubicBezTo>
                    <a:cubicBezTo>
                      <a:pt x="160" y="181"/>
                      <a:pt x="160" y="181"/>
                      <a:pt x="160" y="181"/>
                    </a:cubicBezTo>
                    <a:cubicBezTo>
                      <a:pt x="165" y="181"/>
                      <a:pt x="169" y="185"/>
                      <a:pt x="170" y="190"/>
                    </a:cubicBezTo>
                    <a:cubicBezTo>
                      <a:pt x="191" y="296"/>
                      <a:pt x="191" y="296"/>
                      <a:pt x="191" y="296"/>
                    </a:cubicBezTo>
                    <a:cubicBezTo>
                      <a:pt x="192" y="299"/>
                      <a:pt x="191" y="303"/>
                      <a:pt x="189" y="305"/>
                    </a:cubicBezTo>
                    <a:close/>
                    <a:moveTo>
                      <a:pt x="298" y="277"/>
                    </a:moveTo>
                    <a:cubicBezTo>
                      <a:pt x="298" y="283"/>
                      <a:pt x="294" y="288"/>
                      <a:pt x="288" y="288"/>
                    </a:cubicBezTo>
                    <a:cubicBezTo>
                      <a:pt x="288" y="384"/>
                      <a:pt x="288" y="384"/>
                      <a:pt x="288" y="384"/>
                    </a:cubicBezTo>
                    <a:cubicBezTo>
                      <a:pt x="288" y="390"/>
                      <a:pt x="283" y="394"/>
                      <a:pt x="277" y="394"/>
                    </a:cubicBezTo>
                    <a:cubicBezTo>
                      <a:pt x="271" y="394"/>
                      <a:pt x="266" y="390"/>
                      <a:pt x="266" y="384"/>
                    </a:cubicBezTo>
                    <a:cubicBezTo>
                      <a:pt x="266" y="288"/>
                      <a:pt x="266" y="288"/>
                      <a:pt x="266" y="288"/>
                    </a:cubicBezTo>
                    <a:cubicBezTo>
                      <a:pt x="245" y="288"/>
                      <a:pt x="245" y="288"/>
                      <a:pt x="245" y="288"/>
                    </a:cubicBezTo>
                    <a:cubicBezTo>
                      <a:pt x="245" y="384"/>
                      <a:pt x="245" y="384"/>
                      <a:pt x="245" y="384"/>
                    </a:cubicBezTo>
                    <a:cubicBezTo>
                      <a:pt x="245" y="390"/>
                      <a:pt x="240" y="394"/>
                      <a:pt x="234" y="394"/>
                    </a:cubicBezTo>
                    <a:cubicBezTo>
                      <a:pt x="228" y="394"/>
                      <a:pt x="224" y="390"/>
                      <a:pt x="224" y="384"/>
                    </a:cubicBezTo>
                    <a:cubicBezTo>
                      <a:pt x="224" y="288"/>
                      <a:pt x="224" y="288"/>
                      <a:pt x="224" y="288"/>
                    </a:cubicBezTo>
                    <a:cubicBezTo>
                      <a:pt x="218" y="288"/>
                      <a:pt x="213" y="283"/>
                      <a:pt x="213" y="277"/>
                    </a:cubicBezTo>
                    <a:cubicBezTo>
                      <a:pt x="213" y="192"/>
                      <a:pt x="213" y="192"/>
                      <a:pt x="213" y="192"/>
                    </a:cubicBezTo>
                    <a:cubicBezTo>
                      <a:pt x="213" y="186"/>
                      <a:pt x="218" y="181"/>
                      <a:pt x="224" y="181"/>
                    </a:cubicBezTo>
                    <a:cubicBezTo>
                      <a:pt x="288" y="181"/>
                      <a:pt x="288" y="181"/>
                      <a:pt x="288" y="181"/>
                    </a:cubicBezTo>
                    <a:cubicBezTo>
                      <a:pt x="294" y="181"/>
                      <a:pt x="298" y="186"/>
                      <a:pt x="298" y="192"/>
                    </a:cubicBezTo>
                    <a:lnTo>
                      <a:pt x="298" y="277"/>
                    </a:lnTo>
                    <a:close/>
                    <a:moveTo>
                      <a:pt x="405" y="277"/>
                    </a:moveTo>
                    <a:cubicBezTo>
                      <a:pt x="405" y="283"/>
                      <a:pt x="400" y="288"/>
                      <a:pt x="394" y="288"/>
                    </a:cubicBezTo>
                    <a:cubicBezTo>
                      <a:pt x="394" y="384"/>
                      <a:pt x="394" y="384"/>
                      <a:pt x="394" y="384"/>
                    </a:cubicBezTo>
                    <a:cubicBezTo>
                      <a:pt x="394" y="390"/>
                      <a:pt x="390" y="394"/>
                      <a:pt x="384" y="394"/>
                    </a:cubicBezTo>
                    <a:cubicBezTo>
                      <a:pt x="378" y="394"/>
                      <a:pt x="373" y="390"/>
                      <a:pt x="373" y="384"/>
                    </a:cubicBezTo>
                    <a:cubicBezTo>
                      <a:pt x="373" y="288"/>
                      <a:pt x="373" y="288"/>
                      <a:pt x="373" y="288"/>
                    </a:cubicBezTo>
                    <a:cubicBezTo>
                      <a:pt x="352" y="288"/>
                      <a:pt x="352" y="288"/>
                      <a:pt x="352" y="288"/>
                    </a:cubicBezTo>
                    <a:cubicBezTo>
                      <a:pt x="352" y="384"/>
                      <a:pt x="352" y="384"/>
                      <a:pt x="352" y="384"/>
                    </a:cubicBezTo>
                    <a:cubicBezTo>
                      <a:pt x="352" y="390"/>
                      <a:pt x="347" y="394"/>
                      <a:pt x="341" y="394"/>
                    </a:cubicBezTo>
                    <a:cubicBezTo>
                      <a:pt x="335" y="394"/>
                      <a:pt x="330" y="390"/>
                      <a:pt x="330" y="384"/>
                    </a:cubicBezTo>
                    <a:cubicBezTo>
                      <a:pt x="330" y="288"/>
                      <a:pt x="330" y="288"/>
                      <a:pt x="330" y="288"/>
                    </a:cubicBezTo>
                    <a:cubicBezTo>
                      <a:pt x="324" y="288"/>
                      <a:pt x="320" y="283"/>
                      <a:pt x="320" y="277"/>
                    </a:cubicBezTo>
                    <a:cubicBezTo>
                      <a:pt x="320" y="192"/>
                      <a:pt x="320" y="192"/>
                      <a:pt x="320" y="192"/>
                    </a:cubicBezTo>
                    <a:cubicBezTo>
                      <a:pt x="320" y="186"/>
                      <a:pt x="324" y="181"/>
                      <a:pt x="330" y="181"/>
                    </a:cubicBezTo>
                    <a:cubicBezTo>
                      <a:pt x="394" y="181"/>
                      <a:pt x="394" y="181"/>
                      <a:pt x="394" y="181"/>
                    </a:cubicBezTo>
                    <a:cubicBezTo>
                      <a:pt x="400" y="181"/>
                      <a:pt x="405" y="186"/>
                      <a:pt x="405" y="192"/>
                    </a:cubicBezTo>
                    <a:lnTo>
                      <a:pt x="405" y="27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900" kern="0">
                  <a:solidFill>
                    <a:prstClr val="black"/>
                  </a:solidFill>
                  <a:latin typeface="Verdana" panose="020B0604030504040204" pitchFamily="34" charset="0"/>
                  <a:ea typeface="Verdana" panose="020B0604030504040204" pitchFamily="34" charset="0"/>
                  <a:cs typeface="Arial" panose="020B0604020202020204" pitchFamily="34" charset="0"/>
                </a:endParaRPr>
              </a:p>
            </p:txBody>
          </p:sp>
        </p:grpSp>
      </p:grpSp>
      <p:sp>
        <p:nvSpPr>
          <p:cNvPr id="57" name="Freeform: Shape 56">
            <a:extLst>
              <a:ext uri="{FF2B5EF4-FFF2-40B4-BE49-F238E27FC236}">
                <a16:creationId xmlns:a16="http://schemas.microsoft.com/office/drawing/2014/main" id="{D7C010F2-678D-B9E9-B5E4-DBEB596F3D88}"/>
              </a:ext>
            </a:extLst>
          </p:cNvPr>
          <p:cNvSpPr/>
          <p:nvPr/>
        </p:nvSpPr>
        <p:spPr>
          <a:xfrm>
            <a:off x="536125" y="3253159"/>
            <a:ext cx="2447952" cy="348574"/>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046A38"/>
          </a:solidFill>
          <a:ln w="25400" cap="flat" cmpd="sng" algn="ctr">
            <a:solidFill>
              <a:srgbClr val="046A38"/>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Climate change mitigation </a:t>
            </a:r>
          </a:p>
        </p:txBody>
      </p:sp>
      <p:sp>
        <p:nvSpPr>
          <p:cNvPr id="58" name="Freeform: Shape 57">
            <a:extLst>
              <a:ext uri="{FF2B5EF4-FFF2-40B4-BE49-F238E27FC236}">
                <a16:creationId xmlns:a16="http://schemas.microsoft.com/office/drawing/2014/main" id="{5BF3999C-E598-0779-61DB-EEC7BA783047}"/>
              </a:ext>
            </a:extLst>
          </p:cNvPr>
          <p:cNvSpPr/>
          <p:nvPr/>
        </p:nvSpPr>
        <p:spPr>
          <a:xfrm>
            <a:off x="536125" y="3667225"/>
            <a:ext cx="2447952" cy="880354"/>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26890D">
              <a:tint val="40000"/>
              <a:alpha val="90000"/>
              <a:hueOff val="0"/>
              <a:satOff val="0"/>
              <a:lumOff val="0"/>
              <a:alphaOff val="0"/>
            </a:srgbClr>
          </a:solidFill>
          <a:ln w="25400" cap="flat" cmpd="sng" algn="ctr">
            <a:solidFill>
              <a:srgbClr val="26890D">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Project management support for implementing state action plan on climate change</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Development of market-based mechanisms for states</a:t>
            </a:r>
          </a:p>
        </p:txBody>
      </p:sp>
      <p:sp>
        <p:nvSpPr>
          <p:cNvPr id="59" name="Freeform: Shape 58">
            <a:extLst>
              <a:ext uri="{FF2B5EF4-FFF2-40B4-BE49-F238E27FC236}">
                <a16:creationId xmlns:a16="http://schemas.microsoft.com/office/drawing/2014/main" id="{81C41BDD-59E4-90EE-612A-76266C5CF339}"/>
              </a:ext>
            </a:extLst>
          </p:cNvPr>
          <p:cNvSpPr/>
          <p:nvPr/>
        </p:nvSpPr>
        <p:spPr>
          <a:xfrm>
            <a:off x="3083155" y="4670128"/>
            <a:ext cx="2447952" cy="348574"/>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86BC25"/>
          </a:solidFill>
          <a:ln w="25400" cap="flat" cmpd="sng" algn="ctr">
            <a:solidFill>
              <a:srgbClr val="86BC25"/>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Utility demand side management</a:t>
            </a:r>
          </a:p>
        </p:txBody>
      </p:sp>
      <p:sp>
        <p:nvSpPr>
          <p:cNvPr id="60" name="Freeform: Shape 59">
            <a:extLst>
              <a:ext uri="{FF2B5EF4-FFF2-40B4-BE49-F238E27FC236}">
                <a16:creationId xmlns:a16="http://schemas.microsoft.com/office/drawing/2014/main" id="{6A92FDCA-2DA2-A871-2C37-EE41037DF838}"/>
              </a:ext>
            </a:extLst>
          </p:cNvPr>
          <p:cNvSpPr/>
          <p:nvPr/>
        </p:nvSpPr>
        <p:spPr>
          <a:xfrm>
            <a:off x="3083155" y="5103048"/>
            <a:ext cx="2447952" cy="904658"/>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26890D">
              <a:tint val="40000"/>
              <a:alpha val="90000"/>
              <a:hueOff val="0"/>
              <a:satOff val="0"/>
              <a:lumOff val="0"/>
              <a:alphaOff val="0"/>
            </a:srgbClr>
          </a:solidFill>
          <a:ln w="25400" cap="flat" cmpd="sng" algn="ctr">
            <a:solidFill>
              <a:srgbClr val="26890D">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Market assessment</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Impact assessment and scoping</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DSM design and support</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Capacity building programme</a:t>
            </a:r>
          </a:p>
        </p:txBody>
      </p:sp>
      <p:sp>
        <p:nvSpPr>
          <p:cNvPr id="61" name="Freeform: Shape 60">
            <a:extLst>
              <a:ext uri="{FF2B5EF4-FFF2-40B4-BE49-F238E27FC236}">
                <a16:creationId xmlns:a16="http://schemas.microsoft.com/office/drawing/2014/main" id="{5B6AC468-06CA-CD65-6B97-910328A43980}"/>
              </a:ext>
            </a:extLst>
          </p:cNvPr>
          <p:cNvSpPr/>
          <p:nvPr/>
        </p:nvSpPr>
        <p:spPr>
          <a:xfrm>
            <a:off x="535821" y="4684696"/>
            <a:ext cx="2447952" cy="348574"/>
          </a:xfrm>
          <a:custGeom>
            <a:avLst/>
            <a:gdLst>
              <a:gd name="connsiteX0" fmla="*/ 0 w 1509858"/>
              <a:gd name="connsiteY0" fmla="*/ 0 h 172800"/>
              <a:gd name="connsiteX1" fmla="*/ 1509858 w 1509858"/>
              <a:gd name="connsiteY1" fmla="*/ 0 h 172800"/>
              <a:gd name="connsiteX2" fmla="*/ 1509858 w 1509858"/>
              <a:gd name="connsiteY2" fmla="*/ 172800 h 172800"/>
              <a:gd name="connsiteX3" fmla="*/ 0 w 1509858"/>
              <a:gd name="connsiteY3" fmla="*/ 172800 h 172800"/>
              <a:gd name="connsiteX4" fmla="*/ 0 w 1509858"/>
              <a:gd name="connsiteY4" fmla="*/ 0 h 17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2800">
                <a:moveTo>
                  <a:pt x="0" y="0"/>
                </a:moveTo>
                <a:lnTo>
                  <a:pt x="1509858" y="0"/>
                </a:lnTo>
                <a:lnTo>
                  <a:pt x="1509858" y="172800"/>
                </a:lnTo>
                <a:lnTo>
                  <a:pt x="0" y="172800"/>
                </a:lnTo>
                <a:lnTo>
                  <a:pt x="0" y="0"/>
                </a:lnTo>
                <a:close/>
              </a:path>
            </a:pathLst>
          </a:custGeom>
          <a:solidFill>
            <a:srgbClr val="43B02A"/>
          </a:solidFill>
          <a:ln w="25400" cap="flat" cmpd="sng" algn="ctr">
            <a:solidFill>
              <a:srgbClr val="43B02A"/>
            </a:solidFill>
            <a:prstDash val="solid"/>
          </a:ln>
          <a:effectLst/>
        </p:spPr>
        <p:txBody>
          <a:bodyPr spcFirstLastPara="0" vert="horz" wrap="square" lIns="42672" tIns="24384" rIns="42672" bIns="24384" numCol="1" spcCol="1270" anchor="ctr" anchorCtr="0">
            <a:noAutofit/>
          </a:bodyPr>
          <a:lstStyle/>
          <a:p>
            <a:pPr marL="457200" marR="0" lvl="0" indent="0" algn="ctr" defTabSz="266700" eaLnBrk="1" fontAlgn="auto" latinLnBrk="0" hangingPunct="1">
              <a:lnSpc>
                <a:spcPct val="90000"/>
              </a:lnSpc>
              <a:spcBef>
                <a:spcPct val="0"/>
              </a:spcBef>
              <a:spcAft>
                <a:spcPct val="35000"/>
              </a:spcAft>
              <a:buClrTx/>
              <a:buSzTx/>
              <a:buFontTx/>
              <a:buNone/>
              <a:tabLst/>
              <a:defRPr/>
            </a:pPr>
            <a:r>
              <a:rPr kumimoji="0" lang="en-US" sz="9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Industrial energy efficiency</a:t>
            </a:r>
          </a:p>
        </p:txBody>
      </p:sp>
      <p:sp>
        <p:nvSpPr>
          <p:cNvPr id="62" name="Freeform: Shape 61">
            <a:extLst>
              <a:ext uri="{FF2B5EF4-FFF2-40B4-BE49-F238E27FC236}">
                <a16:creationId xmlns:a16="http://schemas.microsoft.com/office/drawing/2014/main" id="{9D542327-7869-AE9C-D27F-C55354D3EC0A}"/>
              </a:ext>
            </a:extLst>
          </p:cNvPr>
          <p:cNvSpPr/>
          <p:nvPr/>
        </p:nvSpPr>
        <p:spPr>
          <a:xfrm>
            <a:off x="535821" y="5117616"/>
            <a:ext cx="2447952" cy="904658"/>
          </a:xfrm>
          <a:custGeom>
            <a:avLst/>
            <a:gdLst>
              <a:gd name="connsiteX0" fmla="*/ 0 w 1509858"/>
              <a:gd name="connsiteY0" fmla="*/ 0 h 1799347"/>
              <a:gd name="connsiteX1" fmla="*/ 1509858 w 1509858"/>
              <a:gd name="connsiteY1" fmla="*/ 0 h 1799347"/>
              <a:gd name="connsiteX2" fmla="*/ 1509858 w 1509858"/>
              <a:gd name="connsiteY2" fmla="*/ 1799347 h 1799347"/>
              <a:gd name="connsiteX3" fmla="*/ 0 w 1509858"/>
              <a:gd name="connsiteY3" fmla="*/ 1799347 h 1799347"/>
              <a:gd name="connsiteX4" fmla="*/ 0 w 1509858"/>
              <a:gd name="connsiteY4" fmla="*/ 0 h 179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9858" h="1799347">
                <a:moveTo>
                  <a:pt x="0" y="0"/>
                </a:moveTo>
                <a:lnTo>
                  <a:pt x="1509858" y="0"/>
                </a:lnTo>
                <a:lnTo>
                  <a:pt x="1509858" y="1799347"/>
                </a:lnTo>
                <a:lnTo>
                  <a:pt x="0" y="1799347"/>
                </a:lnTo>
                <a:lnTo>
                  <a:pt x="0" y="0"/>
                </a:lnTo>
                <a:close/>
              </a:path>
            </a:pathLst>
          </a:custGeom>
          <a:solidFill>
            <a:srgbClr val="26890D">
              <a:tint val="40000"/>
              <a:alpha val="90000"/>
              <a:hueOff val="0"/>
              <a:satOff val="0"/>
              <a:lumOff val="0"/>
              <a:alphaOff val="0"/>
            </a:srgbClr>
          </a:solidFill>
          <a:ln w="25400" cap="flat" cmpd="sng" algn="ctr">
            <a:solidFill>
              <a:srgbClr val="26890D">
                <a:tint val="40000"/>
                <a:alpha val="90000"/>
                <a:hueOff val="0"/>
                <a:satOff val="0"/>
                <a:lumOff val="0"/>
                <a:alphaOff val="0"/>
              </a:srgbClr>
            </a:solidFill>
            <a:prstDash val="solid"/>
          </a:ln>
          <a:effectLst/>
        </p:spPr>
        <p:txBody>
          <a:bodyPr spcFirstLastPara="0" vert="horz" wrap="square" lIns="32004" tIns="32004" rIns="42672" bIns="48006" numCol="1" spcCol="1270" anchor="t" anchorCtr="0">
            <a:noAutofit/>
          </a:bodyPr>
          <a:lstStyle/>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Energy cost optimization and project implementation</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PAT facilitation and support</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Energy Efficiency benchmarking</a:t>
            </a:r>
          </a:p>
          <a:p>
            <a:pPr marL="169863" marR="0" lvl="1" indent="-169863" defTabSz="266700" eaLnBrk="1" fontAlgn="auto" latinLnBrk="0" hangingPunct="1">
              <a:lnSpc>
                <a:spcPct val="90000"/>
              </a:lnSpc>
              <a:spcBef>
                <a:spcPct val="0"/>
              </a:spcBef>
              <a:spcAft>
                <a:spcPts val="300"/>
              </a:spcAft>
              <a:buClrTx/>
              <a:buSzTx/>
              <a:buFontTx/>
              <a:buChar char="•"/>
              <a:tabLst/>
              <a:defRPr/>
            </a:pPr>
            <a:r>
              <a:rPr kumimoji="0" lang="en-US" sz="900" b="0" i="0" u="none" strike="noStrike" kern="0" cap="none" spc="0" normalizeH="0" baseline="0" noProof="0">
                <a:ln>
                  <a:noFill/>
                </a:ln>
                <a:solidFill>
                  <a:prstClr val="black">
                    <a:hueOff val="0"/>
                    <a:satOff val="0"/>
                    <a:lumOff val="0"/>
                    <a:alphaOff val="0"/>
                  </a:prstClr>
                </a:solidFill>
                <a:effectLst/>
                <a:uLnTx/>
                <a:uFillTx/>
                <a:latin typeface="Verdana" panose="020B0604030504040204" pitchFamily="34" charset="0"/>
                <a:ea typeface="Verdana" panose="020B0604030504040204" pitchFamily="34" charset="0"/>
                <a:cs typeface="Arial" panose="020B0604020202020204" pitchFamily="34" charset="0"/>
              </a:rPr>
              <a:t>Renewable options </a:t>
            </a:r>
          </a:p>
        </p:txBody>
      </p:sp>
      <p:grpSp>
        <p:nvGrpSpPr>
          <p:cNvPr id="63" name="Group 62">
            <a:extLst>
              <a:ext uri="{FF2B5EF4-FFF2-40B4-BE49-F238E27FC236}">
                <a16:creationId xmlns:a16="http://schemas.microsoft.com/office/drawing/2014/main" id="{414FAE8B-BFF1-8254-19EC-7BB2E9255C68}"/>
              </a:ext>
            </a:extLst>
          </p:cNvPr>
          <p:cNvGrpSpPr/>
          <p:nvPr/>
        </p:nvGrpSpPr>
        <p:grpSpPr>
          <a:xfrm>
            <a:off x="580242" y="3281470"/>
            <a:ext cx="315108" cy="315109"/>
            <a:chOff x="5336244" y="2532032"/>
            <a:chExt cx="582898" cy="582898"/>
          </a:xfrm>
        </p:grpSpPr>
        <p:sp>
          <p:nvSpPr>
            <p:cNvPr id="64" name="Freeform 880">
              <a:extLst>
                <a:ext uri="{FF2B5EF4-FFF2-40B4-BE49-F238E27FC236}">
                  <a16:creationId xmlns:a16="http://schemas.microsoft.com/office/drawing/2014/main" id="{E98FAE20-601C-44A5-2C11-64396AF76ADF}"/>
                </a:ext>
              </a:extLst>
            </p:cNvPr>
            <p:cNvSpPr>
              <a:spLocks noEditPoints="1"/>
            </p:cNvSpPr>
            <p:nvPr/>
          </p:nvSpPr>
          <p:spPr bwMode="auto">
            <a:xfrm>
              <a:off x="5505970" y="2641754"/>
              <a:ext cx="241731" cy="363454"/>
            </a:xfrm>
            <a:custGeom>
              <a:avLst/>
              <a:gdLst>
                <a:gd name="T0" fmla="*/ 124 w 213"/>
                <a:gd name="T1" fmla="*/ 238 h 320"/>
                <a:gd name="T2" fmla="*/ 117 w 213"/>
                <a:gd name="T3" fmla="*/ 178 h 320"/>
                <a:gd name="T4" fmla="*/ 169 w 213"/>
                <a:gd name="T5" fmla="*/ 191 h 320"/>
                <a:gd name="T6" fmla="*/ 159 w 213"/>
                <a:gd name="T7" fmla="*/ 122 h 320"/>
                <a:gd name="T8" fmla="*/ 201 w 213"/>
                <a:gd name="T9" fmla="*/ 101 h 320"/>
                <a:gd name="T10" fmla="*/ 185 w 213"/>
                <a:gd name="T11" fmla="*/ 53 h 320"/>
                <a:gd name="T12" fmla="*/ 140 w 213"/>
                <a:gd name="T13" fmla="*/ 60 h 320"/>
                <a:gd name="T14" fmla="*/ 107 w 213"/>
                <a:gd name="T15" fmla="*/ 0 h 320"/>
                <a:gd name="T16" fmla="*/ 74 w 213"/>
                <a:gd name="T17" fmla="*/ 60 h 320"/>
                <a:gd name="T18" fmla="*/ 28 w 213"/>
                <a:gd name="T19" fmla="*/ 53 h 320"/>
                <a:gd name="T20" fmla="*/ 13 w 213"/>
                <a:gd name="T21" fmla="*/ 102 h 320"/>
                <a:gd name="T22" fmla="*/ 54 w 213"/>
                <a:gd name="T23" fmla="*/ 123 h 320"/>
                <a:gd name="T24" fmla="*/ 33 w 213"/>
                <a:gd name="T25" fmla="*/ 164 h 320"/>
                <a:gd name="T26" fmla="*/ 61 w 213"/>
                <a:gd name="T27" fmla="*/ 196 h 320"/>
                <a:gd name="T28" fmla="*/ 96 w 213"/>
                <a:gd name="T29" fmla="*/ 178 h 320"/>
                <a:gd name="T30" fmla="*/ 89 w 213"/>
                <a:gd name="T31" fmla="*/ 237 h 320"/>
                <a:gd name="T32" fmla="*/ 0 w 213"/>
                <a:gd name="T33" fmla="*/ 224 h 320"/>
                <a:gd name="T34" fmla="*/ 101 w 213"/>
                <a:gd name="T35" fmla="*/ 320 h 320"/>
                <a:gd name="T36" fmla="*/ 185 w 213"/>
                <a:gd name="T37" fmla="*/ 296 h 320"/>
                <a:gd name="T38" fmla="*/ 204 w 213"/>
                <a:gd name="T39" fmla="*/ 213 h 320"/>
                <a:gd name="T40" fmla="*/ 102 w 213"/>
                <a:gd name="T41" fmla="*/ 78 h 320"/>
                <a:gd name="T42" fmla="*/ 123 w 213"/>
                <a:gd name="T43" fmla="*/ 83 h 320"/>
                <a:gd name="T44" fmla="*/ 111 w 213"/>
                <a:gd name="T45" fmla="*/ 132 h 320"/>
                <a:gd name="T46" fmla="*/ 80 w 213"/>
                <a:gd name="T47" fmla="*/ 110 h 320"/>
                <a:gd name="T48" fmla="*/ 157 w 213"/>
                <a:gd name="T49" fmla="*/ 174 h 320"/>
                <a:gd name="T50" fmla="*/ 126 w 213"/>
                <a:gd name="T51" fmla="*/ 150 h 320"/>
                <a:gd name="T52" fmla="*/ 152 w 213"/>
                <a:gd name="T53" fmla="*/ 146 h 320"/>
                <a:gd name="T54" fmla="*/ 159 w 213"/>
                <a:gd name="T55" fmla="*/ 74 h 320"/>
                <a:gd name="T56" fmla="*/ 187 w 213"/>
                <a:gd name="T57" fmla="*/ 79 h 320"/>
                <a:gd name="T58" fmla="*/ 167 w 213"/>
                <a:gd name="T59" fmla="*/ 99 h 320"/>
                <a:gd name="T60" fmla="*/ 148 w 213"/>
                <a:gd name="T61" fmla="*/ 80 h 320"/>
                <a:gd name="T62" fmla="*/ 107 w 213"/>
                <a:gd name="T63" fmla="*/ 21 h 320"/>
                <a:gd name="T64" fmla="*/ 118 w 213"/>
                <a:gd name="T65" fmla="*/ 58 h 320"/>
                <a:gd name="T66" fmla="*/ 96 w 213"/>
                <a:gd name="T67" fmla="*/ 58 h 320"/>
                <a:gd name="T68" fmla="*/ 107 w 213"/>
                <a:gd name="T69" fmla="*/ 21 h 320"/>
                <a:gd name="T70" fmla="*/ 26 w 213"/>
                <a:gd name="T71" fmla="*/ 79 h 320"/>
                <a:gd name="T72" fmla="*/ 54 w 213"/>
                <a:gd name="T73" fmla="*/ 75 h 320"/>
                <a:gd name="T74" fmla="*/ 58 w 213"/>
                <a:gd name="T75" fmla="*/ 101 h 320"/>
                <a:gd name="T76" fmla="*/ 29 w 213"/>
                <a:gd name="T77" fmla="*/ 89 h 320"/>
                <a:gd name="T78" fmla="*/ 57 w 213"/>
                <a:gd name="T79" fmla="*/ 174 h 320"/>
                <a:gd name="T80" fmla="*/ 61 w 213"/>
                <a:gd name="T81" fmla="*/ 146 h 320"/>
                <a:gd name="T82" fmla="*/ 78 w 213"/>
                <a:gd name="T83" fmla="*/ 145 h 320"/>
                <a:gd name="T84" fmla="*/ 82 w 213"/>
                <a:gd name="T85" fmla="*/ 161 h 320"/>
                <a:gd name="T86" fmla="*/ 42 w 213"/>
                <a:gd name="T87" fmla="*/ 279 h 320"/>
                <a:gd name="T88" fmla="*/ 75 w 213"/>
                <a:gd name="T89" fmla="*/ 253 h 320"/>
                <a:gd name="T90" fmla="*/ 42 w 213"/>
                <a:gd name="T91" fmla="*/ 279 h 320"/>
                <a:gd name="T92" fmla="*/ 118 w 213"/>
                <a:gd name="T93" fmla="*/ 298 h 320"/>
                <a:gd name="T94" fmla="*/ 192 w 213"/>
                <a:gd name="T95" fmla="*/ 23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3" h="320">
                  <a:moveTo>
                    <a:pt x="204" y="213"/>
                  </a:moveTo>
                  <a:cubicBezTo>
                    <a:pt x="202" y="213"/>
                    <a:pt x="155" y="209"/>
                    <a:pt x="124" y="238"/>
                  </a:cubicBezTo>
                  <a:cubicBezTo>
                    <a:pt x="121" y="240"/>
                    <a:pt x="119" y="242"/>
                    <a:pt x="117" y="244"/>
                  </a:cubicBezTo>
                  <a:cubicBezTo>
                    <a:pt x="117" y="178"/>
                    <a:pt x="117" y="178"/>
                    <a:pt x="117" y="178"/>
                  </a:cubicBezTo>
                  <a:cubicBezTo>
                    <a:pt x="127" y="190"/>
                    <a:pt x="140" y="196"/>
                    <a:pt x="152" y="196"/>
                  </a:cubicBezTo>
                  <a:cubicBezTo>
                    <a:pt x="158" y="196"/>
                    <a:pt x="164" y="194"/>
                    <a:pt x="169" y="191"/>
                  </a:cubicBezTo>
                  <a:cubicBezTo>
                    <a:pt x="185" y="179"/>
                    <a:pt x="185" y="154"/>
                    <a:pt x="170" y="133"/>
                  </a:cubicBezTo>
                  <a:cubicBezTo>
                    <a:pt x="167" y="129"/>
                    <a:pt x="163" y="125"/>
                    <a:pt x="159" y="122"/>
                  </a:cubicBezTo>
                  <a:cubicBezTo>
                    <a:pt x="164" y="122"/>
                    <a:pt x="169" y="121"/>
                    <a:pt x="174" y="119"/>
                  </a:cubicBezTo>
                  <a:cubicBezTo>
                    <a:pt x="185" y="116"/>
                    <a:pt x="194" y="109"/>
                    <a:pt x="201" y="101"/>
                  </a:cubicBezTo>
                  <a:cubicBezTo>
                    <a:pt x="208" y="92"/>
                    <a:pt x="210" y="82"/>
                    <a:pt x="207" y="72"/>
                  </a:cubicBezTo>
                  <a:cubicBezTo>
                    <a:pt x="204" y="63"/>
                    <a:pt x="196" y="56"/>
                    <a:pt x="185" y="53"/>
                  </a:cubicBezTo>
                  <a:cubicBezTo>
                    <a:pt x="175" y="50"/>
                    <a:pt x="163" y="50"/>
                    <a:pt x="152" y="54"/>
                  </a:cubicBezTo>
                  <a:cubicBezTo>
                    <a:pt x="148" y="56"/>
                    <a:pt x="143" y="58"/>
                    <a:pt x="140" y="60"/>
                  </a:cubicBezTo>
                  <a:cubicBezTo>
                    <a:pt x="141" y="55"/>
                    <a:pt x="141" y="51"/>
                    <a:pt x="141" y="46"/>
                  </a:cubicBezTo>
                  <a:cubicBezTo>
                    <a:pt x="141" y="20"/>
                    <a:pt x="126" y="0"/>
                    <a:pt x="107" y="0"/>
                  </a:cubicBezTo>
                  <a:cubicBezTo>
                    <a:pt x="87" y="0"/>
                    <a:pt x="72" y="20"/>
                    <a:pt x="72" y="46"/>
                  </a:cubicBezTo>
                  <a:cubicBezTo>
                    <a:pt x="72" y="51"/>
                    <a:pt x="73" y="56"/>
                    <a:pt x="74" y="60"/>
                  </a:cubicBezTo>
                  <a:cubicBezTo>
                    <a:pt x="70" y="58"/>
                    <a:pt x="65" y="56"/>
                    <a:pt x="61" y="54"/>
                  </a:cubicBezTo>
                  <a:cubicBezTo>
                    <a:pt x="50" y="51"/>
                    <a:pt x="38" y="50"/>
                    <a:pt x="28" y="53"/>
                  </a:cubicBezTo>
                  <a:cubicBezTo>
                    <a:pt x="17" y="56"/>
                    <a:pt x="9" y="63"/>
                    <a:pt x="6" y="73"/>
                  </a:cubicBezTo>
                  <a:cubicBezTo>
                    <a:pt x="3" y="82"/>
                    <a:pt x="5" y="93"/>
                    <a:pt x="13" y="102"/>
                  </a:cubicBezTo>
                  <a:cubicBezTo>
                    <a:pt x="19" y="110"/>
                    <a:pt x="28" y="116"/>
                    <a:pt x="40" y="120"/>
                  </a:cubicBezTo>
                  <a:cubicBezTo>
                    <a:pt x="44" y="121"/>
                    <a:pt x="49" y="122"/>
                    <a:pt x="54" y="123"/>
                  </a:cubicBezTo>
                  <a:cubicBezTo>
                    <a:pt x="50" y="126"/>
                    <a:pt x="47" y="129"/>
                    <a:pt x="44" y="133"/>
                  </a:cubicBezTo>
                  <a:cubicBezTo>
                    <a:pt x="37" y="143"/>
                    <a:pt x="33" y="154"/>
                    <a:pt x="33" y="164"/>
                  </a:cubicBezTo>
                  <a:cubicBezTo>
                    <a:pt x="32" y="175"/>
                    <a:pt x="37" y="185"/>
                    <a:pt x="45" y="191"/>
                  </a:cubicBezTo>
                  <a:cubicBezTo>
                    <a:pt x="49" y="195"/>
                    <a:pt x="55" y="196"/>
                    <a:pt x="61" y="196"/>
                  </a:cubicBezTo>
                  <a:cubicBezTo>
                    <a:pt x="66" y="196"/>
                    <a:pt x="70" y="196"/>
                    <a:pt x="74" y="194"/>
                  </a:cubicBezTo>
                  <a:cubicBezTo>
                    <a:pt x="82" y="191"/>
                    <a:pt x="90" y="185"/>
                    <a:pt x="96" y="178"/>
                  </a:cubicBezTo>
                  <a:cubicBezTo>
                    <a:pt x="96" y="244"/>
                    <a:pt x="96" y="244"/>
                    <a:pt x="96" y="244"/>
                  </a:cubicBezTo>
                  <a:cubicBezTo>
                    <a:pt x="94" y="241"/>
                    <a:pt x="92" y="239"/>
                    <a:pt x="89" y="237"/>
                  </a:cubicBezTo>
                  <a:cubicBezTo>
                    <a:pt x="58" y="208"/>
                    <a:pt x="11" y="213"/>
                    <a:pt x="10" y="213"/>
                  </a:cubicBezTo>
                  <a:cubicBezTo>
                    <a:pt x="4" y="214"/>
                    <a:pt x="0" y="218"/>
                    <a:pt x="0" y="224"/>
                  </a:cubicBezTo>
                  <a:cubicBezTo>
                    <a:pt x="0" y="254"/>
                    <a:pt x="9" y="278"/>
                    <a:pt x="28" y="294"/>
                  </a:cubicBezTo>
                  <a:cubicBezTo>
                    <a:pt x="52" y="317"/>
                    <a:pt x="86" y="320"/>
                    <a:pt x="101" y="320"/>
                  </a:cubicBezTo>
                  <a:cubicBezTo>
                    <a:pt x="104" y="320"/>
                    <a:pt x="111" y="320"/>
                    <a:pt x="114" y="320"/>
                  </a:cubicBezTo>
                  <a:cubicBezTo>
                    <a:pt x="130" y="320"/>
                    <a:pt x="162" y="317"/>
                    <a:pt x="185" y="296"/>
                  </a:cubicBezTo>
                  <a:cubicBezTo>
                    <a:pt x="204" y="279"/>
                    <a:pt x="213" y="255"/>
                    <a:pt x="213" y="224"/>
                  </a:cubicBezTo>
                  <a:cubicBezTo>
                    <a:pt x="213" y="218"/>
                    <a:pt x="209" y="213"/>
                    <a:pt x="204" y="213"/>
                  </a:cubicBezTo>
                  <a:close/>
                  <a:moveTo>
                    <a:pt x="84" y="89"/>
                  </a:moveTo>
                  <a:cubicBezTo>
                    <a:pt x="89" y="83"/>
                    <a:pt x="95" y="80"/>
                    <a:pt x="102" y="78"/>
                  </a:cubicBezTo>
                  <a:cubicBezTo>
                    <a:pt x="104" y="78"/>
                    <a:pt x="105" y="78"/>
                    <a:pt x="107" y="78"/>
                  </a:cubicBezTo>
                  <a:cubicBezTo>
                    <a:pt x="112" y="78"/>
                    <a:pt x="118" y="80"/>
                    <a:pt x="123" y="83"/>
                  </a:cubicBezTo>
                  <a:cubicBezTo>
                    <a:pt x="135" y="92"/>
                    <a:pt x="138" y="109"/>
                    <a:pt x="129" y="121"/>
                  </a:cubicBezTo>
                  <a:cubicBezTo>
                    <a:pt x="125" y="127"/>
                    <a:pt x="118" y="131"/>
                    <a:pt x="111" y="132"/>
                  </a:cubicBezTo>
                  <a:cubicBezTo>
                    <a:pt x="104" y="134"/>
                    <a:pt x="97" y="132"/>
                    <a:pt x="91" y="128"/>
                  </a:cubicBezTo>
                  <a:cubicBezTo>
                    <a:pt x="85" y="123"/>
                    <a:pt x="81" y="117"/>
                    <a:pt x="80" y="110"/>
                  </a:cubicBezTo>
                  <a:cubicBezTo>
                    <a:pt x="78" y="103"/>
                    <a:pt x="80" y="95"/>
                    <a:pt x="84" y="89"/>
                  </a:cubicBezTo>
                  <a:close/>
                  <a:moveTo>
                    <a:pt x="157" y="174"/>
                  </a:moveTo>
                  <a:cubicBezTo>
                    <a:pt x="152" y="177"/>
                    <a:pt x="140" y="172"/>
                    <a:pt x="131" y="161"/>
                  </a:cubicBezTo>
                  <a:cubicBezTo>
                    <a:pt x="129" y="158"/>
                    <a:pt x="127" y="154"/>
                    <a:pt x="126" y="150"/>
                  </a:cubicBezTo>
                  <a:cubicBezTo>
                    <a:pt x="133" y="147"/>
                    <a:pt x="139" y="143"/>
                    <a:pt x="143" y="137"/>
                  </a:cubicBezTo>
                  <a:cubicBezTo>
                    <a:pt x="147" y="139"/>
                    <a:pt x="150" y="142"/>
                    <a:pt x="152" y="146"/>
                  </a:cubicBezTo>
                  <a:cubicBezTo>
                    <a:pt x="161" y="157"/>
                    <a:pt x="161" y="170"/>
                    <a:pt x="157" y="174"/>
                  </a:cubicBezTo>
                  <a:close/>
                  <a:moveTo>
                    <a:pt x="159" y="74"/>
                  </a:moveTo>
                  <a:cubicBezTo>
                    <a:pt x="166" y="72"/>
                    <a:pt x="173" y="72"/>
                    <a:pt x="179" y="73"/>
                  </a:cubicBezTo>
                  <a:cubicBezTo>
                    <a:pt x="181" y="74"/>
                    <a:pt x="186" y="75"/>
                    <a:pt x="187" y="79"/>
                  </a:cubicBezTo>
                  <a:cubicBezTo>
                    <a:pt x="188" y="82"/>
                    <a:pt x="185" y="87"/>
                    <a:pt x="184" y="88"/>
                  </a:cubicBezTo>
                  <a:cubicBezTo>
                    <a:pt x="180" y="93"/>
                    <a:pt x="174" y="97"/>
                    <a:pt x="167" y="99"/>
                  </a:cubicBezTo>
                  <a:cubicBezTo>
                    <a:pt x="163" y="101"/>
                    <a:pt x="159" y="101"/>
                    <a:pt x="155" y="101"/>
                  </a:cubicBezTo>
                  <a:cubicBezTo>
                    <a:pt x="154" y="94"/>
                    <a:pt x="152" y="86"/>
                    <a:pt x="148" y="80"/>
                  </a:cubicBezTo>
                  <a:cubicBezTo>
                    <a:pt x="151" y="78"/>
                    <a:pt x="155" y="76"/>
                    <a:pt x="159" y="74"/>
                  </a:cubicBezTo>
                  <a:close/>
                  <a:moveTo>
                    <a:pt x="107" y="21"/>
                  </a:moveTo>
                  <a:cubicBezTo>
                    <a:pt x="113" y="21"/>
                    <a:pt x="120" y="32"/>
                    <a:pt x="120" y="46"/>
                  </a:cubicBezTo>
                  <a:cubicBezTo>
                    <a:pt x="120" y="50"/>
                    <a:pt x="119" y="54"/>
                    <a:pt x="118" y="58"/>
                  </a:cubicBezTo>
                  <a:cubicBezTo>
                    <a:pt x="112" y="57"/>
                    <a:pt x="105" y="56"/>
                    <a:pt x="99" y="57"/>
                  </a:cubicBezTo>
                  <a:cubicBezTo>
                    <a:pt x="98" y="58"/>
                    <a:pt x="97" y="58"/>
                    <a:pt x="96" y="58"/>
                  </a:cubicBezTo>
                  <a:cubicBezTo>
                    <a:pt x="94" y="54"/>
                    <a:pt x="94" y="50"/>
                    <a:pt x="94" y="46"/>
                  </a:cubicBezTo>
                  <a:cubicBezTo>
                    <a:pt x="94" y="32"/>
                    <a:pt x="101" y="21"/>
                    <a:pt x="107" y="21"/>
                  </a:cubicBezTo>
                  <a:close/>
                  <a:moveTo>
                    <a:pt x="29" y="89"/>
                  </a:moveTo>
                  <a:cubicBezTo>
                    <a:pt x="28" y="87"/>
                    <a:pt x="25" y="83"/>
                    <a:pt x="26" y="79"/>
                  </a:cubicBezTo>
                  <a:cubicBezTo>
                    <a:pt x="27" y="76"/>
                    <a:pt x="32" y="74"/>
                    <a:pt x="34" y="74"/>
                  </a:cubicBezTo>
                  <a:cubicBezTo>
                    <a:pt x="40" y="72"/>
                    <a:pt x="47" y="72"/>
                    <a:pt x="54" y="75"/>
                  </a:cubicBezTo>
                  <a:cubicBezTo>
                    <a:pt x="58" y="76"/>
                    <a:pt x="62" y="78"/>
                    <a:pt x="65" y="80"/>
                  </a:cubicBezTo>
                  <a:cubicBezTo>
                    <a:pt x="61" y="87"/>
                    <a:pt x="59" y="94"/>
                    <a:pt x="58" y="101"/>
                  </a:cubicBezTo>
                  <a:cubicBezTo>
                    <a:pt x="54" y="101"/>
                    <a:pt x="50" y="101"/>
                    <a:pt x="46" y="100"/>
                  </a:cubicBezTo>
                  <a:cubicBezTo>
                    <a:pt x="39" y="97"/>
                    <a:pt x="33" y="93"/>
                    <a:pt x="29" y="89"/>
                  </a:cubicBezTo>
                  <a:close/>
                  <a:moveTo>
                    <a:pt x="67" y="174"/>
                  </a:moveTo>
                  <a:cubicBezTo>
                    <a:pt x="65" y="175"/>
                    <a:pt x="60" y="176"/>
                    <a:pt x="57" y="174"/>
                  </a:cubicBezTo>
                  <a:cubicBezTo>
                    <a:pt x="54" y="172"/>
                    <a:pt x="54" y="167"/>
                    <a:pt x="54" y="165"/>
                  </a:cubicBezTo>
                  <a:cubicBezTo>
                    <a:pt x="54" y="159"/>
                    <a:pt x="57" y="152"/>
                    <a:pt x="61" y="146"/>
                  </a:cubicBezTo>
                  <a:cubicBezTo>
                    <a:pt x="64" y="142"/>
                    <a:pt x="67" y="140"/>
                    <a:pt x="70" y="137"/>
                  </a:cubicBezTo>
                  <a:cubicBezTo>
                    <a:pt x="72" y="140"/>
                    <a:pt x="75" y="143"/>
                    <a:pt x="78" y="145"/>
                  </a:cubicBezTo>
                  <a:cubicBezTo>
                    <a:pt x="81" y="147"/>
                    <a:pt x="84" y="149"/>
                    <a:pt x="88" y="150"/>
                  </a:cubicBezTo>
                  <a:cubicBezTo>
                    <a:pt x="87" y="154"/>
                    <a:pt x="85" y="158"/>
                    <a:pt x="82" y="161"/>
                  </a:cubicBezTo>
                  <a:cubicBezTo>
                    <a:pt x="78" y="167"/>
                    <a:pt x="73" y="172"/>
                    <a:pt x="67" y="174"/>
                  </a:cubicBezTo>
                  <a:close/>
                  <a:moveTo>
                    <a:pt x="42" y="279"/>
                  </a:moveTo>
                  <a:cubicBezTo>
                    <a:pt x="30" y="268"/>
                    <a:pt x="24" y="253"/>
                    <a:pt x="22" y="234"/>
                  </a:cubicBezTo>
                  <a:cubicBezTo>
                    <a:pt x="35" y="234"/>
                    <a:pt x="58" y="238"/>
                    <a:pt x="75" y="253"/>
                  </a:cubicBezTo>
                  <a:cubicBezTo>
                    <a:pt x="87" y="263"/>
                    <a:pt x="94" y="279"/>
                    <a:pt x="96" y="298"/>
                  </a:cubicBezTo>
                  <a:cubicBezTo>
                    <a:pt x="82" y="298"/>
                    <a:pt x="59" y="294"/>
                    <a:pt x="42" y="279"/>
                  </a:cubicBezTo>
                  <a:close/>
                  <a:moveTo>
                    <a:pt x="171" y="280"/>
                  </a:moveTo>
                  <a:cubicBezTo>
                    <a:pt x="154" y="295"/>
                    <a:pt x="131" y="298"/>
                    <a:pt x="118" y="298"/>
                  </a:cubicBezTo>
                  <a:cubicBezTo>
                    <a:pt x="120" y="279"/>
                    <a:pt x="126" y="264"/>
                    <a:pt x="138" y="254"/>
                  </a:cubicBezTo>
                  <a:cubicBezTo>
                    <a:pt x="155" y="238"/>
                    <a:pt x="178" y="235"/>
                    <a:pt x="192" y="234"/>
                  </a:cubicBezTo>
                  <a:cubicBezTo>
                    <a:pt x="190" y="254"/>
                    <a:pt x="183" y="269"/>
                    <a:pt x="171" y="28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65" name="Freeform 881">
              <a:extLst>
                <a:ext uri="{FF2B5EF4-FFF2-40B4-BE49-F238E27FC236}">
                  <a16:creationId xmlns:a16="http://schemas.microsoft.com/office/drawing/2014/main" id="{84801397-77E9-B553-014A-6252ED95EC2E}"/>
                </a:ext>
              </a:extLst>
            </p:cNvPr>
            <p:cNvSpPr>
              <a:spLocks noEditPoints="1"/>
            </p:cNvSpPr>
            <p:nvPr/>
          </p:nvSpPr>
          <p:spPr bwMode="auto">
            <a:xfrm>
              <a:off x="5336244" y="2532032"/>
              <a:ext cx="582898" cy="582898"/>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grpSp>
        <p:nvGrpSpPr>
          <p:cNvPr id="66" name="Group 65">
            <a:extLst>
              <a:ext uri="{FF2B5EF4-FFF2-40B4-BE49-F238E27FC236}">
                <a16:creationId xmlns:a16="http://schemas.microsoft.com/office/drawing/2014/main" id="{0EDB5EA2-AEE6-6958-08B1-DC3D108C2989}"/>
              </a:ext>
            </a:extLst>
          </p:cNvPr>
          <p:cNvGrpSpPr/>
          <p:nvPr/>
        </p:nvGrpSpPr>
        <p:grpSpPr>
          <a:xfrm>
            <a:off x="3111522" y="3275049"/>
            <a:ext cx="321511" cy="321512"/>
            <a:chOff x="6234720" y="2038996"/>
            <a:chExt cx="559967" cy="559967"/>
          </a:xfrm>
        </p:grpSpPr>
        <p:sp>
          <p:nvSpPr>
            <p:cNvPr id="67" name="Freeform 318">
              <a:extLst>
                <a:ext uri="{FF2B5EF4-FFF2-40B4-BE49-F238E27FC236}">
                  <a16:creationId xmlns:a16="http://schemas.microsoft.com/office/drawing/2014/main" id="{1015A430-09E7-028C-1F0A-710D5D6F96B6}"/>
                </a:ext>
              </a:extLst>
            </p:cNvPr>
            <p:cNvSpPr>
              <a:spLocks noEditPoints="1"/>
            </p:cNvSpPr>
            <p:nvPr/>
          </p:nvSpPr>
          <p:spPr bwMode="auto">
            <a:xfrm>
              <a:off x="6420827" y="2284393"/>
              <a:ext cx="69172" cy="69172"/>
            </a:xfrm>
            <a:custGeom>
              <a:avLst/>
              <a:gdLst>
                <a:gd name="T0" fmla="*/ 54 w 64"/>
                <a:gd name="T1" fmla="*/ 0 h 64"/>
                <a:gd name="T2" fmla="*/ 11 w 64"/>
                <a:gd name="T3" fmla="*/ 0 h 64"/>
                <a:gd name="T4" fmla="*/ 0 w 64"/>
                <a:gd name="T5" fmla="*/ 10 h 64"/>
                <a:gd name="T6" fmla="*/ 0 w 64"/>
                <a:gd name="T7" fmla="*/ 53 h 64"/>
                <a:gd name="T8" fmla="*/ 11 w 64"/>
                <a:gd name="T9" fmla="*/ 64 h 64"/>
                <a:gd name="T10" fmla="*/ 54 w 64"/>
                <a:gd name="T11" fmla="*/ 64 h 64"/>
                <a:gd name="T12" fmla="*/ 64 w 64"/>
                <a:gd name="T13" fmla="*/ 53 h 64"/>
                <a:gd name="T14" fmla="*/ 64 w 64"/>
                <a:gd name="T15" fmla="*/ 10 h 64"/>
                <a:gd name="T16" fmla="*/ 54 w 64"/>
                <a:gd name="T17" fmla="*/ 0 h 64"/>
                <a:gd name="T18" fmla="*/ 43 w 64"/>
                <a:gd name="T19" fmla="*/ 42 h 64"/>
                <a:gd name="T20" fmla="*/ 22 w 64"/>
                <a:gd name="T21" fmla="*/ 42 h 64"/>
                <a:gd name="T22" fmla="*/ 22 w 64"/>
                <a:gd name="T23" fmla="*/ 21 h 64"/>
                <a:gd name="T24" fmla="*/ 43 w 64"/>
                <a:gd name="T25" fmla="*/ 21 h 64"/>
                <a:gd name="T26" fmla="*/ 43 w 64"/>
                <a:gd name="T27"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64">
                  <a:moveTo>
                    <a:pt x="54" y="0"/>
                  </a:moveTo>
                  <a:cubicBezTo>
                    <a:pt x="11" y="0"/>
                    <a:pt x="11" y="0"/>
                    <a:pt x="11" y="0"/>
                  </a:cubicBezTo>
                  <a:cubicBezTo>
                    <a:pt x="5" y="0"/>
                    <a:pt x="0" y="4"/>
                    <a:pt x="0" y="10"/>
                  </a:cubicBezTo>
                  <a:cubicBezTo>
                    <a:pt x="0" y="53"/>
                    <a:pt x="0" y="53"/>
                    <a:pt x="0" y="53"/>
                  </a:cubicBezTo>
                  <a:cubicBezTo>
                    <a:pt x="0" y="59"/>
                    <a:pt x="5" y="64"/>
                    <a:pt x="11" y="64"/>
                  </a:cubicBezTo>
                  <a:cubicBezTo>
                    <a:pt x="54" y="64"/>
                    <a:pt x="54" y="64"/>
                    <a:pt x="54" y="64"/>
                  </a:cubicBezTo>
                  <a:cubicBezTo>
                    <a:pt x="60" y="64"/>
                    <a:pt x="64" y="59"/>
                    <a:pt x="64" y="53"/>
                  </a:cubicBezTo>
                  <a:cubicBezTo>
                    <a:pt x="64" y="10"/>
                    <a:pt x="64" y="10"/>
                    <a:pt x="64" y="10"/>
                  </a:cubicBezTo>
                  <a:cubicBezTo>
                    <a:pt x="64" y="4"/>
                    <a:pt x="60" y="0"/>
                    <a:pt x="54" y="0"/>
                  </a:cubicBezTo>
                  <a:close/>
                  <a:moveTo>
                    <a:pt x="43" y="42"/>
                  </a:moveTo>
                  <a:cubicBezTo>
                    <a:pt x="22" y="42"/>
                    <a:pt x="22" y="42"/>
                    <a:pt x="22" y="42"/>
                  </a:cubicBezTo>
                  <a:cubicBezTo>
                    <a:pt x="22" y="21"/>
                    <a:pt x="22" y="21"/>
                    <a:pt x="22" y="21"/>
                  </a:cubicBezTo>
                  <a:cubicBezTo>
                    <a:pt x="43" y="21"/>
                    <a:pt x="43" y="21"/>
                    <a:pt x="43" y="21"/>
                  </a:cubicBezTo>
                  <a:lnTo>
                    <a:pt x="43" y="42"/>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68" name="Freeform 319">
              <a:extLst>
                <a:ext uri="{FF2B5EF4-FFF2-40B4-BE49-F238E27FC236}">
                  <a16:creationId xmlns:a16="http://schemas.microsoft.com/office/drawing/2014/main" id="{F9BAAD6E-5ECA-F822-FD07-975C24D3D050}"/>
                </a:ext>
              </a:extLst>
            </p:cNvPr>
            <p:cNvSpPr>
              <a:spLocks noEditPoints="1"/>
            </p:cNvSpPr>
            <p:nvPr/>
          </p:nvSpPr>
          <p:spPr bwMode="auto">
            <a:xfrm>
              <a:off x="6537761" y="2284393"/>
              <a:ext cx="69172" cy="69172"/>
            </a:xfrm>
            <a:custGeom>
              <a:avLst/>
              <a:gdLst>
                <a:gd name="T0" fmla="*/ 11 w 64"/>
                <a:gd name="T1" fmla="*/ 64 h 64"/>
                <a:gd name="T2" fmla="*/ 53 w 64"/>
                <a:gd name="T3" fmla="*/ 64 h 64"/>
                <a:gd name="T4" fmla="*/ 64 w 64"/>
                <a:gd name="T5" fmla="*/ 53 h 64"/>
                <a:gd name="T6" fmla="*/ 64 w 64"/>
                <a:gd name="T7" fmla="*/ 10 h 64"/>
                <a:gd name="T8" fmla="*/ 53 w 64"/>
                <a:gd name="T9" fmla="*/ 0 h 64"/>
                <a:gd name="T10" fmla="*/ 11 w 64"/>
                <a:gd name="T11" fmla="*/ 0 h 64"/>
                <a:gd name="T12" fmla="*/ 0 w 64"/>
                <a:gd name="T13" fmla="*/ 10 h 64"/>
                <a:gd name="T14" fmla="*/ 0 w 64"/>
                <a:gd name="T15" fmla="*/ 53 h 64"/>
                <a:gd name="T16" fmla="*/ 11 w 64"/>
                <a:gd name="T17" fmla="*/ 64 h 64"/>
                <a:gd name="T18" fmla="*/ 21 w 64"/>
                <a:gd name="T19" fmla="*/ 21 h 64"/>
                <a:gd name="T20" fmla="*/ 43 w 64"/>
                <a:gd name="T21" fmla="*/ 21 h 64"/>
                <a:gd name="T22" fmla="*/ 43 w 64"/>
                <a:gd name="T23" fmla="*/ 42 h 64"/>
                <a:gd name="T24" fmla="*/ 21 w 64"/>
                <a:gd name="T25" fmla="*/ 42 h 64"/>
                <a:gd name="T26" fmla="*/ 21 w 64"/>
                <a:gd name="T27"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64">
                  <a:moveTo>
                    <a:pt x="11" y="64"/>
                  </a:moveTo>
                  <a:cubicBezTo>
                    <a:pt x="53" y="64"/>
                    <a:pt x="53" y="64"/>
                    <a:pt x="53" y="64"/>
                  </a:cubicBezTo>
                  <a:cubicBezTo>
                    <a:pt x="59" y="64"/>
                    <a:pt x="64" y="59"/>
                    <a:pt x="64" y="53"/>
                  </a:cubicBezTo>
                  <a:cubicBezTo>
                    <a:pt x="64" y="10"/>
                    <a:pt x="64" y="10"/>
                    <a:pt x="64" y="10"/>
                  </a:cubicBezTo>
                  <a:cubicBezTo>
                    <a:pt x="64" y="4"/>
                    <a:pt x="59" y="0"/>
                    <a:pt x="53" y="0"/>
                  </a:cubicBezTo>
                  <a:cubicBezTo>
                    <a:pt x="11" y="0"/>
                    <a:pt x="11" y="0"/>
                    <a:pt x="11" y="0"/>
                  </a:cubicBezTo>
                  <a:cubicBezTo>
                    <a:pt x="5" y="0"/>
                    <a:pt x="0" y="4"/>
                    <a:pt x="0" y="10"/>
                  </a:cubicBezTo>
                  <a:cubicBezTo>
                    <a:pt x="0" y="53"/>
                    <a:pt x="0" y="53"/>
                    <a:pt x="0" y="53"/>
                  </a:cubicBezTo>
                  <a:cubicBezTo>
                    <a:pt x="0" y="59"/>
                    <a:pt x="5" y="64"/>
                    <a:pt x="11" y="64"/>
                  </a:cubicBezTo>
                  <a:close/>
                  <a:moveTo>
                    <a:pt x="21" y="21"/>
                  </a:moveTo>
                  <a:cubicBezTo>
                    <a:pt x="43" y="21"/>
                    <a:pt x="43" y="21"/>
                    <a:pt x="43" y="21"/>
                  </a:cubicBezTo>
                  <a:cubicBezTo>
                    <a:pt x="43" y="42"/>
                    <a:pt x="43" y="42"/>
                    <a:pt x="43" y="42"/>
                  </a:cubicBezTo>
                  <a:cubicBezTo>
                    <a:pt x="21" y="42"/>
                    <a:pt x="21" y="42"/>
                    <a:pt x="21" y="42"/>
                  </a:cubicBezTo>
                  <a:lnTo>
                    <a:pt x="21" y="21"/>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69" name="Freeform 320">
              <a:extLst>
                <a:ext uri="{FF2B5EF4-FFF2-40B4-BE49-F238E27FC236}">
                  <a16:creationId xmlns:a16="http://schemas.microsoft.com/office/drawing/2014/main" id="{222795B3-19CE-46FD-F4A5-BDA182F740C5}"/>
                </a:ext>
              </a:extLst>
            </p:cNvPr>
            <p:cNvSpPr>
              <a:spLocks noEditPoints="1"/>
            </p:cNvSpPr>
            <p:nvPr/>
          </p:nvSpPr>
          <p:spPr bwMode="auto">
            <a:xfrm>
              <a:off x="6338479" y="2142755"/>
              <a:ext cx="352450" cy="327745"/>
            </a:xfrm>
            <a:custGeom>
              <a:avLst/>
              <a:gdLst>
                <a:gd name="T0" fmla="*/ 317 w 322"/>
                <a:gd name="T1" fmla="*/ 131 h 299"/>
                <a:gd name="T2" fmla="*/ 168 w 322"/>
                <a:gd name="T3" fmla="*/ 3 h 299"/>
                <a:gd name="T4" fmla="*/ 154 w 322"/>
                <a:gd name="T5" fmla="*/ 3 h 299"/>
                <a:gd name="T6" fmla="*/ 4 w 322"/>
                <a:gd name="T7" fmla="*/ 131 h 299"/>
                <a:gd name="T8" fmla="*/ 1 w 322"/>
                <a:gd name="T9" fmla="*/ 143 h 299"/>
                <a:gd name="T10" fmla="*/ 11 w 322"/>
                <a:gd name="T11" fmla="*/ 150 h 299"/>
                <a:gd name="T12" fmla="*/ 33 w 322"/>
                <a:gd name="T13" fmla="*/ 150 h 299"/>
                <a:gd name="T14" fmla="*/ 33 w 322"/>
                <a:gd name="T15" fmla="*/ 289 h 299"/>
                <a:gd name="T16" fmla="*/ 43 w 322"/>
                <a:gd name="T17" fmla="*/ 299 h 299"/>
                <a:gd name="T18" fmla="*/ 139 w 322"/>
                <a:gd name="T19" fmla="*/ 299 h 299"/>
                <a:gd name="T20" fmla="*/ 150 w 322"/>
                <a:gd name="T21" fmla="*/ 289 h 299"/>
                <a:gd name="T22" fmla="*/ 150 w 322"/>
                <a:gd name="T23" fmla="*/ 235 h 299"/>
                <a:gd name="T24" fmla="*/ 171 w 322"/>
                <a:gd name="T25" fmla="*/ 235 h 299"/>
                <a:gd name="T26" fmla="*/ 171 w 322"/>
                <a:gd name="T27" fmla="*/ 289 h 299"/>
                <a:gd name="T28" fmla="*/ 182 w 322"/>
                <a:gd name="T29" fmla="*/ 299 h 299"/>
                <a:gd name="T30" fmla="*/ 278 w 322"/>
                <a:gd name="T31" fmla="*/ 299 h 299"/>
                <a:gd name="T32" fmla="*/ 289 w 322"/>
                <a:gd name="T33" fmla="*/ 289 h 299"/>
                <a:gd name="T34" fmla="*/ 289 w 322"/>
                <a:gd name="T35" fmla="*/ 150 h 299"/>
                <a:gd name="T36" fmla="*/ 310 w 322"/>
                <a:gd name="T37" fmla="*/ 150 h 299"/>
                <a:gd name="T38" fmla="*/ 320 w 322"/>
                <a:gd name="T39" fmla="*/ 143 h 299"/>
                <a:gd name="T40" fmla="*/ 317 w 322"/>
                <a:gd name="T41" fmla="*/ 131 h 299"/>
                <a:gd name="T42" fmla="*/ 278 w 322"/>
                <a:gd name="T43" fmla="*/ 129 h 299"/>
                <a:gd name="T44" fmla="*/ 267 w 322"/>
                <a:gd name="T45" fmla="*/ 139 h 299"/>
                <a:gd name="T46" fmla="*/ 267 w 322"/>
                <a:gd name="T47" fmla="*/ 278 h 299"/>
                <a:gd name="T48" fmla="*/ 193 w 322"/>
                <a:gd name="T49" fmla="*/ 278 h 299"/>
                <a:gd name="T50" fmla="*/ 193 w 322"/>
                <a:gd name="T51" fmla="*/ 225 h 299"/>
                <a:gd name="T52" fmla="*/ 182 w 322"/>
                <a:gd name="T53" fmla="*/ 214 h 299"/>
                <a:gd name="T54" fmla="*/ 139 w 322"/>
                <a:gd name="T55" fmla="*/ 214 h 299"/>
                <a:gd name="T56" fmla="*/ 129 w 322"/>
                <a:gd name="T57" fmla="*/ 225 h 299"/>
                <a:gd name="T58" fmla="*/ 129 w 322"/>
                <a:gd name="T59" fmla="*/ 278 h 299"/>
                <a:gd name="T60" fmla="*/ 54 w 322"/>
                <a:gd name="T61" fmla="*/ 278 h 299"/>
                <a:gd name="T62" fmla="*/ 54 w 322"/>
                <a:gd name="T63" fmla="*/ 139 h 299"/>
                <a:gd name="T64" fmla="*/ 43 w 322"/>
                <a:gd name="T65" fmla="*/ 129 h 299"/>
                <a:gd name="T66" fmla="*/ 40 w 322"/>
                <a:gd name="T67" fmla="*/ 129 h 299"/>
                <a:gd name="T68" fmla="*/ 161 w 322"/>
                <a:gd name="T69" fmla="*/ 25 h 299"/>
                <a:gd name="T70" fmla="*/ 281 w 322"/>
                <a:gd name="T71" fmla="*/ 129 h 299"/>
                <a:gd name="T72" fmla="*/ 278 w 322"/>
                <a:gd name="T73" fmla="*/ 12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2" h="299">
                  <a:moveTo>
                    <a:pt x="317" y="131"/>
                  </a:moveTo>
                  <a:cubicBezTo>
                    <a:pt x="168" y="3"/>
                    <a:pt x="168" y="3"/>
                    <a:pt x="168" y="3"/>
                  </a:cubicBezTo>
                  <a:cubicBezTo>
                    <a:pt x="164" y="0"/>
                    <a:pt x="158" y="0"/>
                    <a:pt x="154" y="3"/>
                  </a:cubicBezTo>
                  <a:cubicBezTo>
                    <a:pt x="4" y="131"/>
                    <a:pt x="4" y="131"/>
                    <a:pt x="4" y="131"/>
                  </a:cubicBezTo>
                  <a:cubicBezTo>
                    <a:pt x="1" y="134"/>
                    <a:pt x="0" y="139"/>
                    <a:pt x="1" y="143"/>
                  </a:cubicBezTo>
                  <a:cubicBezTo>
                    <a:pt x="3" y="147"/>
                    <a:pt x="7" y="150"/>
                    <a:pt x="11" y="150"/>
                  </a:cubicBezTo>
                  <a:cubicBezTo>
                    <a:pt x="33" y="150"/>
                    <a:pt x="33" y="150"/>
                    <a:pt x="33" y="150"/>
                  </a:cubicBezTo>
                  <a:cubicBezTo>
                    <a:pt x="33" y="289"/>
                    <a:pt x="33" y="289"/>
                    <a:pt x="33" y="289"/>
                  </a:cubicBezTo>
                  <a:cubicBezTo>
                    <a:pt x="33" y="295"/>
                    <a:pt x="37" y="299"/>
                    <a:pt x="43" y="299"/>
                  </a:cubicBezTo>
                  <a:cubicBezTo>
                    <a:pt x="139" y="299"/>
                    <a:pt x="139" y="299"/>
                    <a:pt x="139" y="299"/>
                  </a:cubicBezTo>
                  <a:cubicBezTo>
                    <a:pt x="145" y="299"/>
                    <a:pt x="150" y="295"/>
                    <a:pt x="150" y="289"/>
                  </a:cubicBezTo>
                  <a:cubicBezTo>
                    <a:pt x="150" y="235"/>
                    <a:pt x="150" y="235"/>
                    <a:pt x="150" y="235"/>
                  </a:cubicBezTo>
                  <a:cubicBezTo>
                    <a:pt x="171" y="235"/>
                    <a:pt x="171" y="235"/>
                    <a:pt x="171" y="235"/>
                  </a:cubicBezTo>
                  <a:cubicBezTo>
                    <a:pt x="171" y="289"/>
                    <a:pt x="171" y="289"/>
                    <a:pt x="171" y="289"/>
                  </a:cubicBezTo>
                  <a:cubicBezTo>
                    <a:pt x="171" y="295"/>
                    <a:pt x="176" y="299"/>
                    <a:pt x="182" y="299"/>
                  </a:cubicBezTo>
                  <a:cubicBezTo>
                    <a:pt x="278" y="299"/>
                    <a:pt x="278" y="299"/>
                    <a:pt x="278" y="299"/>
                  </a:cubicBezTo>
                  <a:cubicBezTo>
                    <a:pt x="284" y="299"/>
                    <a:pt x="289" y="295"/>
                    <a:pt x="289" y="289"/>
                  </a:cubicBezTo>
                  <a:cubicBezTo>
                    <a:pt x="289" y="150"/>
                    <a:pt x="289" y="150"/>
                    <a:pt x="289" y="150"/>
                  </a:cubicBezTo>
                  <a:cubicBezTo>
                    <a:pt x="310" y="150"/>
                    <a:pt x="310" y="150"/>
                    <a:pt x="310" y="150"/>
                  </a:cubicBezTo>
                  <a:cubicBezTo>
                    <a:pt x="314" y="150"/>
                    <a:pt x="318" y="147"/>
                    <a:pt x="320" y="143"/>
                  </a:cubicBezTo>
                  <a:cubicBezTo>
                    <a:pt x="322" y="139"/>
                    <a:pt x="320" y="134"/>
                    <a:pt x="317" y="131"/>
                  </a:cubicBezTo>
                  <a:close/>
                  <a:moveTo>
                    <a:pt x="278" y="129"/>
                  </a:moveTo>
                  <a:cubicBezTo>
                    <a:pt x="272" y="129"/>
                    <a:pt x="267" y="133"/>
                    <a:pt x="267" y="139"/>
                  </a:cubicBezTo>
                  <a:cubicBezTo>
                    <a:pt x="267" y="278"/>
                    <a:pt x="267" y="278"/>
                    <a:pt x="267" y="278"/>
                  </a:cubicBezTo>
                  <a:cubicBezTo>
                    <a:pt x="193" y="278"/>
                    <a:pt x="193" y="278"/>
                    <a:pt x="193" y="278"/>
                  </a:cubicBezTo>
                  <a:cubicBezTo>
                    <a:pt x="193" y="225"/>
                    <a:pt x="193" y="225"/>
                    <a:pt x="193" y="225"/>
                  </a:cubicBezTo>
                  <a:cubicBezTo>
                    <a:pt x="193" y="219"/>
                    <a:pt x="188" y="214"/>
                    <a:pt x="182" y="214"/>
                  </a:cubicBezTo>
                  <a:cubicBezTo>
                    <a:pt x="139" y="214"/>
                    <a:pt x="139" y="214"/>
                    <a:pt x="139" y="214"/>
                  </a:cubicBezTo>
                  <a:cubicBezTo>
                    <a:pt x="133" y="214"/>
                    <a:pt x="129" y="219"/>
                    <a:pt x="129" y="225"/>
                  </a:cubicBezTo>
                  <a:cubicBezTo>
                    <a:pt x="129" y="278"/>
                    <a:pt x="129" y="278"/>
                    <a:pt x="129" y="278"/>
                  </a:cubicBezTo>
                  <a:cubicBezTo>
                    <a:pt x="54" y="278"/>
                    <a:pt x="54" y="278"/>
                    <a:pt x="54" y="278"/>
                  </a:cubicBezTo>
                  <a:cubicBezTo>
                    <a:pt x="54" y="139"/>
                    <a:pt x="54" y="139"/>
                    <a:pt x="54" y="139"/>
                  </a:cubicBezTo>
                  <a:cubicBezTo>
                    <a:pt x="54" y="133"/>
                    <a:pt x="49" y="129"/>
                    <a:pt x="43" y="129"/>
                  </a:cubicBezTo>
                  <a:cubicBezTo>
                    <a:pt x="40" y="129"/>
                    <a:pt x="40" y="129"/>
                    <a:pt x="40" y="129"/>
                  </a:cubicBezTo>
                  <a:cubicBezTo>
                    <a:pt x="161" y="25"/>
                    <a:pt x="161" y="25"/>
                    <a:pt x="161" y="25"/>
                  </a:cubicBezTo>
                  <a:cubicBezTo>
                    <a:pt x="281" y="129"/>
                    <a:pt x="281" y="129"/>
                    <a:pt x="281" y="129"/>
                  </a:cubicBezTo>
                  <a:lnTo>
                    <a:pt x="278" y="129"/>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0" name="Freeform 321">
              <a:extLst>
                <a:ext uri="{FF2B5EF4-FFF2-40B4-BE49-F238E27FC236}">
                  <a16:creationId xmlns:a16="http://schemas.microsoft.com/office/drawing/2014/main" id="{FF3ECD8A-AD3A-0D0F-FAD3-F8949BEE4FDF}"/>
                </a:ext>
              </a:extLst>
            </p:cNvPr>
            <p:cNvSpPr>
              <a:spLocks noEditPoints="1"/>
            </p:cNvSpPr>
            <p:nvPr/>
          </p:nvSpPr>
          <p:spPr bwMode="auto">
            <a:xfrm>
              <a:off x="6234720" y="2038996"/>
              <a:ext cx="559967" cy="559967"/>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grpSp>
        <p:nvGrpSpPr>
          <p:cNvPr id="71" name="Group 70">
            <a:extLst>
              <a:ext uri="{FF2B5EF4-FFF2-40B4-BE49-F238E27FC236}">
                <a16:creationId xmlns:a16="http://schemas.microsoft.com/office/drawing/2014/main" id="{9540A71A-2200-E70C-92A2-B7831ED87BB6}"/>
              </a:ext>
            </a:extLst>
          </p:cNvPr>
          <p:cNvGrpSpPr/>
          <p:nvPr/>
        </p:nvGrpSpPr>
        <p:grpSpPr>
          <a:xfrm>
            <a:off x="610669" y="4705097"/>
            <a:ext cx="306241" cy="306241"/>
            <a:chOff x="8221059" y="2537711"/>
            <a:chExt cx="529476" cy="529476"/>
          </a:xfrm>
        </p:grpSpPr>
        <p:sp>
          <p:nvSpPr>
            <p:cNvPr id="72" name="Freeform 537">
              <a:extLst>
                <a:ext uri="{FF2B5EF4-FFF2-40B4-BE49-F238E27FC236}">
                  <a16:creationId xmlns:a16="http://schemas.microsoft.com/office/drawing/2014/main" id="{968E21D7-B5AD-280E-F2F2-B8E5EB116F2D}"/>
                </a:ext>
              </a:extLst>
            </p:cNvPr>
            <p:cNvSpPr>
              <a:spLocks noEditPoints="1"/>
            </p:cNvSpPr>
            <p:nvPr/>
          </p:nvSpPr>
          <p:spPr bwMode="auto">
            <a:xfrm>
              <a:off x="8221059" y="2537711"/>
              <a:ext cx="529476" cy="529476"/>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3" name="Freeform 538">
              <a:extLst>
                <a:ext uri="{FF2B5EF4-FFF2-40B4-BE49-F238E27FC236}">
                  <a16:creationId xmlns:a16="http://schemas.microsoft.com/office/drawing/2014/main" id="{1BD573B7-84C4-1146-FFB3-F8DB1361954B}"/>
                </a:ext>
              </a:extLst>
            </p:cNvPr>
            <p:cNvSpPr>
              <a:spLocks noEditPoints="1"/>
            </p:cNvSpPr>
            <p:nvPr/>
          </p:nvSpPr>
          <p:spPr bwMode="auto">
            <a:xfrm>
              <a:off x="8342527" y="2637377"/>
              <a:ext cx="298998" cy="330144"/>
            </a:xfrm>
            <a:custGeom>
              <a:avLst/>
              <a:gdLst>
                <a:gd name="T0" fmla="*/ 211 w 289"/>
                <a:gd name="T1" fmla="*/ 132 h 319"/>
                <a:gd name="T2" fmla="*/ 257 w 289"/>
                <a:gd name="T3" fmla="*/ 153 h 319"/>
                <a:gd name="T4" fmla="*/ 286 w 289"/>
                <a:gd name="T5" fmla="*/ 107 h 319"/>
                <a:gd name="T6" fmla="*/ 267 w 289"/>
                <a:gd name="T7" fmla="*/ 97 h 319"/>
                <a:gd name="T8" fmla="*/ 149 w 289"/>
                <a:gd name="T9" fmla="*/ 32 h 319"/>
                <a:gd name="T10" fmla="*/ 139 w 289"/>
                <a:gd name="T11" fmla="*/ 0 h 319"/>
                <a:gd name="T12" fmla="*/ 128 w 289"/>
                <a:gd name="T13" fmla="*/ 128 h 319"/>
                <a:gd name="T14" fmla="*/ 107 w 289"/>
                <a:gd name="T15" fmla="*/ 160 h 319"/>
                <a:gd name="T16" fmla="*/ 43 w 289"/>
                <a:gd name="T17" fmla="*/ 206 h 319"/>
                <a:gd name="T18" fmla="*/ 56 w 289"/>
                <a:gd name="T19" fmla="*/ 93 h 319"/>
                <a:gd name="T20" fmla="*/ 68 w 289"/>
                <a:gd name="T21" fmla="*/ 122 h 319"/>
                <a:gd name="T22" fmla="*/ 78 w 289"/>
                <a:gd name="T23" fmla="*/ 111 h 319"/>
                <a:gd name="T24" fmla="*/ 64 w 289"/>
                <a:gd name="T25" fmla="*/ 55 h 319"/>
                <a:gd name="T26" fmla="*/ 9 w 289"/>
                <a:gd name="T27" fmla="*/ 70 h 319"/>
                <a:gd name="T28" fmla="*/ 20 w 289"/>
                <a:gd name="T29" fmla="*/ 80 h 319"/>
                <a:gd name="T30" fmla="*/ 11 w 289"/>
                <a:gd name="T31" fmla="*/ 160 h 319"/>
                <a:gd name="T32" fmla="*/ 7 w 289"/>
                <a:gd name="T33" fmla="*/ 227 h 319"/>
                <a:gd name="T34" fmla="*/ 12 w 289"/>
                <a:gd name="T35" fmla="*/ 247 h 319"/>
                <a:gd name="T36" fmla="*/ 119 w 289"/>
                <a:gd name="T37" fmla="*/ 185 h 319"/>
                <a:gd name="T38" fmla="*/ 159 w 289"/>
                <a:gd name="T39" fmla="*/ 184 h 319"/>
                <a:gd name="T40" fmla="*/ 139 w 289"/>
                <a:gd name="T41" fmla="*/ 266 h 319"/>
                <a:gd name="T42" fmla="*/ 138 w 289"/>
                <a:gd name="T43" fmla="*/ 254 h 319"/>
                <a:gd name="T44" fmla="*/ 126 w 289"/>
                <a:gd name="T45" fmla="*/ 237 h 319"/>
                <a:gd name="T46" fmla="*/ 89 w 289"/>
                <a:gd name="T47" fmla="*/ 262 h 319"/>
                <a:gd name="T48" fmla="*/ 111 w 289"/>
                <a:gd name="T49" fmla="*/ 314 h 319"/>
                <a:gd name="T50" fmla="*/ 125 w 289"/>
                <a:gd name="T51" fmla="*/ 317 h 319"/>
                <a:gd name="T52" fmla="*/ 118 w 289"/>
                <a:gd name="T53" fmla="*/ 286 h 319"/>
                <a:gd name="T54" fmla="*/ 243 w 289"/>
                <a:gd name="T55" fmla="*/ 234 h 319"/>
                <a:gd name="T56" fmla="*/ 267 w 289"/>
                <a:gd name="T57" fmla="*/ 247 h 319"/>
                <a:gd name="T58" fmla="*/ 272 w 289"/>
                <a:gd name="T59" fmla="*/ 227 h 319"/>
                <a:gd name="T60" fmla="*/ 171 w 289"/>
                <a:gd name="T61" fmla="*/ 160 h 319"/>
                <a:gd name="T62" fmla="*/ 149 w 289"/>
                <a:gd name="T63" fmla="*/ 128 h 319"/>
                <a:gd name="T64" fmla="*/ 238 w 289"/>
                <a:gd name="T65" fmla="*/ 121 h 319"/>
                <a:gd name="T66" fmla="*/ 207 w 289"/>
                <a:gd name="T67" fmla="*/ 118 h 319"/>
                <a:gd name="T68" fmla="*/ 139 w 289"/>
                <a:gd name="T69" fmla="*/ 170 h 319"/>
                <a:gd name="T70" fmla="*/ 139 w 289"/>
                <a:gd name="T71" fmla="*/ 149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9" h="319">
                  <a:moveTo>
                    <a:pt x="207" y="118"/>
                  </a:moveTo>
                  <a:cubicBezTo>
                    <a:pt x="204" y="123"/>
                    <a:pt x="206" y="129"/>
                    <a:pt x="211" y="132"/>
                  </a:cubicBezTo>
                  <a:cubicBezTo>
                    <a:pt x="252" y="152"/>
                    <a:pt x="252" y="152"/>
                    <a:pt x="252" y="152"/>
                  </a:cubicBezTo>
                  <a:cubicBezTo>
                    <a:pt x="253" y="153"/>
                    <a:pt x="255" y="153"/>
                    <a:pt x="257" y="153"/>
                  </a:cubicBezTo>
                  <a:cubicBezTo>
                    <a:pt x="261" y="153"/>
                    <a:pt x="264" y="151"/>
                    <a:pt x="266" y="147"/>
                  </a:cubicBezTo>
                  <a:cubicBezTo>
                    <a:pt x="286" y="107"/>
                    <a:pt x="286" y="107"/>
                    <a:pt x="286" y="107"/>
                  </a:cubicBezTo>
                  <a:cubicBezTo>
                    <a:pt x="289" y="101"/>
                    <a:pt x="287" y="95"/>
                    <a:pt x="282" y="92"/>
                  </a:cubicBezTo>
                  <a:cubicBezTo>
                    <a:pt x="276" y="90"/>
                    <a:pt x="270" y="92"/>
                    <a:pt x="267" y="97"/>
                  </a:cubicBezTo>
                  <a:cubicBezTo>
                    <a:pt x="259" y="115"/>
                    <a:pt x="259" y="115"/>
                    <a:pt x="259" y="115"/>
                  </a:cubicBezTo>
                  <a:cubicBezTo>
                    <a:pt x="241" y="69"/>
                    <a:pt x="199" y="36"/>
                    <a:pt x="149" y="32"/>
                  </a:cubicBezTo>
                  <a:cubicBezTo>
                    <a:pt x="149" y="10"/>
                    <a:pt x="149" y="10"/>
                    <a:pt x="149" y="10"/>
                  </a:cubicBezTo>
                  <a:cubicBezTo>
                    <a:pt x="149" y="4"/>
                    <a:pt x="145" y="0"/>
                    <a:pt x="139" y="0"/>
                  </a:cubicBezTo>
                  <a:cubicBezTo>
                    <a:pt x="133" y="0"/>
                    <a:pt x="128" y="4"/>
                    <a:pt x="128" y="10"/>
                  </a:cubicBezTo>
                  <a:cubicBezTo>
                    <a:pt x="128" y="128"/>
                    <a:pt x="128" y="128"/>
                    <a:pt x="128" y="128"/>
                  </a:cubicBezTo>
                  <a:cubicBezTo>
                    <a:pt x="128" y="128"/>
                    <a:pt x="128" y="129"/>
                    <a:pt x="128" y="130"/>
                  </a:cubicBezTo>
                  <a:cubicBezTo>
                    <a:pt x="116" y="134"/>
                    <a:pt x="107" y="146"/>
                    <a:pt x="107" y="160"/>
                  </a:cubicBezTo>
                  <a:cubicBezTo>
                    <a:pt x="107" y="162"/>
                    <a:pt x="107" y="165"/>
                    <a:pt x="108" y="167"/>
                  </a:cubicBezTo>
                  <a:cubicBezTo>
                    <a:pt x="43" y="206"/>
                    <a:pt x="43" y="206"/>
                    <a:pt x="43" y="206"/>
                  </a:cubicBezTo>
                  <a:cubicBezTo>
                    <a:pt x="36" y="191"/>
                    <a:pt x="32" y="176"/>
                    <a:pt x="32" y="160"/>
                  </a:cubicBezTo>
                  <a:cubicBezTo>
                    <a:pt x="32" y="135"/>
                    <a:pt x="41" y="111"/>
                    <a:pt x="56" y="93"/>
                  </a:cubicBezTo>
                  <a:cubicBezTo>
                    <a:pt x="57" y="112"/>
                    <a:pt x="57" y="112"/>
                    <a:pt x="57" y="112"/>
                  </a:cubicBezTo>
                  <a:cubicBezTo>
                    <a:pt x="57" y="118"/>
                    <a:pt x="62" y="122"/>
                    <a:pt x="68" y="122"/>
                  </a:cubicBezTo>
                  <a:cubicBezTo>
                    <a:pt x="68" y="122"/>
                    <a:pt x="68" y="122"/>
                    <a:pt x="68" y="122"/>
                  </a:cubicBezTo>
                  <a:cubicBezTo>
                    <a:pt x="74" y="121"/>
                    <a:pt x="79" y="116"/>
                    <a:pt x="78" y="111"/>
                  </a:cubicBezTo>
                  <a:cubicBezTo>
                    <a:pt x="75" y="65"/>
                    <a:pt x="75" y="65"/>
                    <a:pt x="75" y="65"/>
                  </a:cubicBezTo>
                  <a:cubicBezTo>
                    <a:pt x="75" y="59"/>
                    <a:pt x="70" y="55"/>
                    <a:pt x="64" y="55"/>
                  </a:cubicBezTo>
                  <a:cubicBezTo>
                    <a:pt x="19" y="58"/>
                    <a:pt x="19" y="58"/>
                    <a:pt x="19" y="58"/>
                  </a:cubicBezTo>
                  <a:cubicBezTo>
                    <a:pt x="13" y="59"/>
                    <a:pt x="9" y="64"/>
                    <a:pt x="9" y="70"/>
                  </a:cubicBezTo>
                  <a:cubicBezTo>
                    <a:pt x="9" y="75"/>
                    <a:pt x="14" y="80"/>
                    <a:pt x="20" y="80"/>
                  </a:cubicBezTo>
                  <a:cubicBezTo>
                    <a:pt x="20" y="80"/>
                    <a:pt x="20" y="80"/>
                    <a:pt x="20" y="80"/>
                  </a:cubicBezTo>
                  <a:cubicBezTo>
                    <a:pt x="40" y="78"/>
                    <a:pt x="40" y="78"/>
                    <a:pt x="40" y="78"/>
                  </a:cubicBezTo>
                  <a:cubicBezTo>
                    <a:pt x="21" y="101"/>
                    <a:pt x="11" y="130"/>
                    <a:pt x="11" y="160"/>
                  </a:cubicBezTo>
                  <a:cubicBezTo>
                    <a:pt x="11" y="180"/>
                    <a:pt x="16" y="199"/>
                    <a:pt x="24" y="217"/>
                  </a:cubicBezTo>
                  <a:cubicBezTo>
                    <a:pt x="7" y="227"/>
                    <a:pt x="7" y="227"/>
                    <a:pt x="7" y="227"/>
                  </a:cubicBezTo>
                  <a:cubicBezTo>
                    <a:pt x="2" y="230"/>
                    <a:pt x="0" y="237"/>
                    <a:pt x="3" y="242"/>
                  </a:cubicBezTo>
                  <a:cubicBezTo>
                    <a:pt x="5" y="245"/>
                    <a:pt x="9" y="247"/>
                    <a:pt x="12" y="247"/>
                  </a:cubicBezTo>
                  <a:cubicBezTo>
                    <a:pt x="14" y="247"/>
                    <a:pt x="16" y="246"/>
                    <a:pt x="18" y="245"/>
                  </a:cubicBezTo>
                  <a:cubicBezTo>
                    <a:pt x="119" y="185"/>
                    <a:pt x="119" y="185"/>
                    <a:pt x="119" y="185"/>
                  </a:cubicBezTo>
                  <a:cubicBezTo>
                    <a:pt x="125" y="189"/>
                    <a:pt x="131" y="192"/>
                    <a:pt x="139" y="192"/>
                  </a:cubicBezTo>
                  <a:cubicBezTo>
                    <a:pt x="146" y="192"/>
                    <a:pt x="153" y="189"/>
                    <a:pt x="159" y="184"/>
                  </a:cubicBezTo>
                  <a:cubicBezTo>
                    <a:pt x="224" y="223"/>
                    <a:pt x="224" y="223"/>
                    <a:pt x="224" y="223"/>
                  </a:cubicBezTo>
                  <a:cubicBezTo>
                    <a:pt x="204" y="250"/>
                    <a:pt x="173" y="266"/>
                    <a:pt x="139" y="266"/>
                  </a:cubicBezTo>
                  <a:cubicBezTo>
                    <a:pt x="133" y="266"/>
                    <a:pt x="128" y="266"/>
                    <a:pt x="122" y="265"/>
                  </a:cubicBezTo>
                  <a:cubicBezTo>
                    <a:pt x="138" y="254"/>
                    <a:pt x="138" y="254"/>
                    <a:pt x="138" y="254"/>
                  </a:cubicBezTo>
                  <a:cubicBezTo>
                    <a:pt x="143" y="251"/>
                    <a:pt x="144" y="244"/>
                    <a:pt x="141" y="240"/>
                  </a:cubicBezTo>
                  <a:cubicBezTo>
                    <a:pt x="138" y="235"/>
                    <a:pt x="131" y="233"/>
                    <a:pt x="126" y="237"/>
                  </a:cubicBezTo>
                  <a:cubicBezTo>
                    <a:pt x="89" y="262"/>
                    <a:pt x="89" y="262"/>
                    <a:pt x="89" y="262"/>
                  </a:cubicBezTo>
                  <a:cubicBezTo>
                    <a:pt x="89" y="262"/>
                    <a:pt x="89" y="262"/>
                    <a:pt x="89" y="262"/>
                  </a:cubicBezTo>
                  <a:cubicBezTo>
                    <a:pt x="84" y="265"/>
                    <a:pt x="82" y="271"/>
                    <a:pt x="86" y="276"/>
                  </a:cubicBezTo>
                  <a:cubicBezTo>
                    <a:pt x="111" y="314"/>
                    <a:pt x="111" y="314"/>
                    <a:pt x="111" y="314"/>
                  </a:cubicBezTo>
                  <a:cubicBezTo>
                    <a:pt x="113" y="317"/>
                    <a:pt x="116" y="319"/>
                    <a:pt x="120" y="319"/>
                  </a:cubicBezTo>
                  <a:cubicBezTo>
                    <a:pt x="122" y="319"/>
                    <a:pt x="124" y="318"/>
                    <a:pt x="125" y="317"/>
                  </a:cubicBezTo>
                  <a:cubicBezTo>
                    <a:pt x="130" y="314"/>
                    <a:pt x="132" y="307"/>
                    <a:pt x="128" y="302"/>
                  </a:cubicBezTo>
                  <a:cubicBezTo>
                    <a:pt x="118" y="286"/>
                    <a:pt x="118" y="286"/>
                    <a:pt x="118" y="286"/>
                  </a:cubicBezTo>
                  <a:cubicBezTo>
                    <a:pt x="125" y="287"/>
                    <a:pt x="132" y="288"/>
                    <a:pt x="139" y="288"/>
                  </a:cubicBezTo>
                  <a:cubicBezTo>
                    <a:pt x="180" y="288"/>
                    <a:pt x="219" y="267"/>
                    <a:pt x="243" y="234"/>
                  </a:cubicBezTo>
                  <a:cubicBezTo>
                    <a:pt x="261" y="245"/>
                    <a:pt x="261" y="245"/>
                    <a:pt x="261" y="245"/>
                  </a:cubicBezTo>
                  <a:cubicBezTo>
                    <a:pt x="263" y="246"/>
                    <a:pt x="265" y="247"/>
                    <a:pt x="267" y="247"/>
                  </a:cubicBezTo>
                  <a:cubicBezTo>
                    <a:pt x="271" y="247"/>
                    <a:pt x="274" y="245"/>
                    <a:pt x="276" y="242"/>
                  </a:cubicBezTo>
                  <a:cubicBezTo>
                    <a:pt x="279" y="237"/>
                    <a:pt x="277" y="230"/>
                    <a:pt x="272" y="227"/>
                  </a:cubicBezTo>
                  <a:cubicBezTo>
                    <a:pt x="170" y="166"/>
                    <a:pt x="170" y="166"/>
                    <a:pt x="170" y="166"/>
                  </a:cubicBezTo>
                  <a:cubicBezTo>
                    <a:pt x="170" y="164"/>
                    <a:pt x="171" y="162"/>
                    <a:pt x="171" y="160"/>
                  </a:cubicBezTo>
                  <a:cubicBezTo>
                    <a:pt x="171" y="146"/>
                    <a:pt x="162" y="134"/>
                    <a:pt x="149" y="130"/>
                  </a:cubicBezTo>
                  <a:cubicBezTo>
                    <a:pt x="149" y="129"/>
                    <a:pt x="149" y="128"/>
                    <a:pt x="149" y="128"/>
                  </a:cubicBezTo>
                  <a:cubicBezTo>
                    <a:pt x="149" y="54"/>
                    <a:pt x="149" y="54"/>
                    <a:pt x="149" y="54"/>
                  </a:cubicBezTo>
                  <a:cubicBezTo>
                    <a:pt x="190" y="58"/>
                    <a:pt x="224" y="84"/>
                    <a:pt x="238" y="121"/>
                  </a:cubicBezTo>
                  <a:cubicBezTo>
                    <a:pt x="221" y="113"/>
                    <a:pt x="221" y="113"/>
                    <a:pt x="221" y="113"/>
                  </a:cubicBezTo>
                  <a:cubicBezTo>
                    <a:pt x="216" y="110"/>
                    <a:pt x="209" y="112"/>
                    <a:pt x="207" y="118"/>
                  </a:cubicBezTo>
                  <a:close/>
                  <a:moveTo>
                    <a:pt x="149" y="160"/>
                  </a:moveTo>
                  <a:cubicBezTo>
                    <a:pt x="149" y="166"/>
                    <a:pt x="145" y="170"/>
                    <a:pt x="139" y="170"/>
                  </a:cubicBezTo>
                  <a:cubicBezTo>
                    <a:pt x="133" y="170"/>
                    <a:pt x="128" y="166"/>
                    <a:pt x="128" y="160"/>
                  </a:cubicBezTo>
                  <a:cubicBezTo>
                    <a:pt x="128" y="154"/>
                    <a:pt x="133" y="149"/>
                    <a:pt x="139" y="149"/>
                  </a:cubicBezTo>
                  <a:cubicBezTo>
                    <a:pt x="145" y="149"/>
                    <a:pt x="149" y="154"/>
                    <a:pt x="149" y="16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grpSp>
        <p:nvGrpSpPr>
          <p:cNvPr id="74" name="Group 73">
            <a:extLst>
              <a:ext uri="{FF2B5EF4-FFF2-40B4-BE49-F238E27FC236}">
                <a16:creationId xmlns:a16="http://schemas.microsoft.com/office/drawing/2014/main" id="{1FDF1179-DEB9-E691-7F6C-F903BD609F1E}"/>
              </a:ext>
            </a:extLst>
          </p:cNvPr>
          <p:cNvGrpSpPr/>
          <p:nvPr/>
        </p:nvGrpSpPr>
        <p:grpSpPr>
          <a:xfrm>
            <a:off x="3121056" y="4683532"/>
            <a:ext cx="335195" cy="336183"/>
            <a:chOff x="7326576" y="2050670"/>
            <a:chExt cx="522233" cy="523770"/>
          </a:xfrm>
        </p:grpSpPr>
        <p:sp>
          <p:nvSpPr>
            <p:cNvPr id="75" name="Freeform 579">
              <a:extLst>
                <a:ext uri="{FF2B5EF4-FFF2-40B4-BE49-F238E27FC236}">
                  <a16:creationId xmlns:a16="http://schemas.microsoft.com/office/drawing/2014/main" id="{10EABF60-A069-B14D-EACB-8F663E7E6DD5}"/>
                </a:ext>
              </a:extLst>
            </p:cNvPr>
            <p:cNvSpPr>
              <a:spLocks noEditPoints="1"/>
            </p:cNvSpPr>
            <p:nvPr/>
          </p:nvSpPr>
          <p:spPr bwMode="auto">
            <a:xfrm>
              <a:off x="7424879" y="2236524"/>
              <a:ext cx="325628" cy="195070"/>
            </a:xfrm>
            <a:custGeom>
              <a:avLst/>
              <a:gdLst>
                <a:gd name="T0" fmla="*/ 287 w 320"/>
                <a:gd name="T1" fmla="*/ 9 h 192"/>
                <a:gd name="T2" fmla="*/ 277 w 320"/>
                <a:gd name="T3" fmla="*/ 0 h 192"/>
                <a:gd name="T4" fmla="*/ 213 w 320"/>
                <a:gd name="T5" fmla="*/ 0 h 192"/>
                <a:gd name="T6" fmla="*/ 202 w 320"/>
                <a:gd name="T7" fmla="*/ 9 h 192"/>
                <a:gd name="T8" fmla="*/ 190 w 320"/>
                <a:gd name="T9" fmla="*/ 107 h 192"/>
                <a:gd name="T10" fmla="*/ 112 w 320"/>
                <a:gd name="T11" fmla="*/ 55 h 192"/>
                <a:gd name="T12" fmla="*/ 101 w 320"/>
                <a:gd name="T13" fmla="*/ 55 h 192"/>
                <a:gd name="T14" fmla="*/ 96 w 320"/>
                <a:gd name="T15" fmla="*/ 64 h 192"/>
                <a:gd name="T16" fmla="*/ 96 w 320"/>
                <a:gd name="T17" fmla="*/ 108 h 192"/>
                <a:gd name="T18" fmla="*/ 16 w 320"/>
                <a:gd name="T19" fmla="*/ 55 h 192"/>
                <a:gd name="T20" fmla="*/ 5 w 320"/>
                <a:gd name="T21" fmla="*/ 55 h 192"/>
                <a:gd name="T22" fmla="*/ 0 w 320"/>
                <a:gd name="T23" fmla="*/ 64 h 192"/>
                <a:gd name="T24" fmla="*/ 0 w 320"/>
                <a:gd name="T25" fmla="*/ 181 h 192"/>
                <a:gd name="T26" fmla="*/ 10 w 320"/>
                <a:gd name="T27" fmla="*/ 192 h 192"/>
                <a:gd name="T28" fmla="*/ 309 w 320"/>
                <a:gd name="T29" fmla="*/ 192 h 192"/>
                <a:gd name="T30" fmla="*/ 317 w 320"/>
                <a:gd name="T31" fmla="*/ 188 h 192"/>
                <a:gd name="T32" fmla="*/ 319 w 320"/>
                <a:gd name="T33" fmla="*/ 179 h 192"/>
                <a:gd name="T34" fmla="*/ 287 w 320"/>
                <a:gd name="T35" fmla="*/ 9 h 192"/>
                <a:gd name="T36" fmla="*/ 187 w 320"/>
                <a:gd name="T37" fmla="*/ 131 h 192"/>
                <a:gd name="T38" fmla="*/ 182 w 320"/>
                <a:gd name="T39" fmla="*/ 171 h 192"/>
                <a:gd name="T40" fmla="*/ 117 w 320"/>
                <a:gd name="T41" fmla="*/ 171 h 192"/>
                <a:gd name="T42" fmla="*/ 117 w 320"/>
                <a:gd name="T43" fmla="*/ 84 h 192"/>
                <a:gd name="T44" fmla="*/ 187 w 320"/>
                <a:gd name="T45" fmla="*/ 131 h 192"/>
                <a:gd name="T46" fmla="*/ 96 w 320"/>
                <a:gd name="T47" fmla="*/ 134 h 192"/>
                <a:gd name="T48" fmla="*/ 96 w 320"/>
                <a:gd name="T49" fmla="*/ 171 h 192"/>
                <a:gd name="T50" fmla="*/ 21 w 320"/>
                <a:gd name="T51" fmla="*/ 171 h 192"/>
                <a:gd name="T52" fmla="*/ 21 w 320"/>
                <a:gd name="T53" fmla="*/ 84 h 192"/>
                <a:gd name="T54" fmla="*/ 96 w 320"/>
                <a:gd name="T55" fmla="*/ 134 h 192"/>
                <a:gd name="T56" fmla="*/ 204 w 320"/>
                <a:gd name="T57" fmla="*/ 171 h 192"/>
                <a:gd name="T58" fmla="*/ 222 w 320"/>
                <a:gd name="T59" fmla="*/ 21 h 192"/>
                <a:gd name="T60" fmla="*/ 268 w 320"/>
                <a:gd name="T61" fmla="*/ 21 h 192"/>
                <a:gd name="T62" fmla="*/ 296 w 320"/>
                <a:gd name="T63" fmla="*/ 171 h 192"/>
                <a:gd name="T64" fmla="*/ 204 w 320"/>
                <a:gd name="T65" fmla="*/ 17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0" h="192">
                  <a:moveTo>
                    <a:pt x="287" y="9"/>
                  </a:moveTo>
                  <a:cubicBezTo>
                    <a:pt x="287" y="4"/>
                    <a:pt x="282" y="0"/>
                    <a:pt x="277" y="0"/>
                  </a:cubicBezTo>
                  <a:cubicBezTo>
                    <a:pt x="213" y="0"/>
                    <a:pt x="213" y="0"/>
                    <a:pt x="213" y="0"/>
                  </a:cubicBezTo>
                  <a:cubicBezTo>
                    <a:pt x="208" y="0"/>
                    <a:pt x="203" y="4"/>
                    <a:pt x="202" y="9"/>
                  </a:cubicBezTo>
                  <a:cubicBezTo>
                    <a:pt x="190" y="107"/>
                    <a:pt x="190" y="107"/>
                    <a:pt x="190" y="107"/>
                  </a:cubicBezTo>
                  <a:cubicBezTo>
                    <a:pt x="112" y="55"/>
                    <a:pt x="112" y="55"/>
                    <a:pt x="112" y="55"/>
                  </a:cubicBezTo>
                  <a:cubicBezTo>
                    <a:pt x="109" y="53"/>
                    <a:pt x="105" y="53"/>
                    <a:pt x="101" y="55"/>
                  </a:cubicBezTo>
                  <a:cubicBezTo>
                    <a:pt x="98" y="56"/>
                    <a:pt x="96" y="60"/>
                    <a:pt x="96" y="64"/>
                  </a:cubicBezTo>
                  <a:cubicBezTo>
                    <a:pt x="96" y="108"/>
                    <a:pt x="96" y="108"/>
                    <a:pt x="96" y="108"/>
                  </a:cubicBezTo>
                  <a:cubicBezTo>
                    <a:pt x="16" y="55"/>
                    <a:pt x="16" y="55"/>
                    <a:pt x="16" y="55"/>
                  </a:cubicBezTo>
                  <a:cubicBezTo>
                    <a:pt x="13" y="53"/>
                    <a:pt x="9" y="53"/>
                    <a:pt x="5" y="55"/>
                  </a:cubicBezTo>
                  <a:cubicBezTo>
                    <a:pt x="2" y="56"/>
                    <a:pt x="0" y="60"/>
                    <a:pt x="0" y="64"/>
                  </a:cubicBezTo>
                  <a:cubicBezTo>
                    <a:pt x="0" y="181"/>
                    <a:pt x="0" y="181"/>
                    <a:pt x="0" y="181"/>
                  </a:cubicBezTo>
                  <a:cubicBezTo>
                    <a:pt x="0" y="187"/>
                    <a:pt x="4" y="192"/>
                    <a:pt x="10" y="192"/>
                  </a:cubicBezTo>
                  <a:cubicBezTo>
                    <a:pt x="309" y="192"/>
                    <a:pt x="309" y="192"/>
                    <a:pt x="309" y="192"/>
                  </a:cubicBezTo>
                  <a:cubicBezTo>
                    <a:pt x="312" y="192"/>
                    <a:pt x="315" y="191"/>
                    <a:pt x="317" y="188"/>
                  </a:cubicBezTo>
                  <a:cubicBezTo>
                    <a:pt x="319" y="186"/>
                    <a:pt x="320" y="182"/>
                    <a:pt x="319" y="179"/>
                  </a:cubicBezTo>
                  <a:lnTo>
                    <a:pt x="287" y="9"/>
                  </a:lnTo>
                  <a:close/>
                  <a:moveTo>
                    <a:pt x="187" y="131"/>
                  </a:moveTo>
                  <a:cubicBezTo>
                    <a:pt x="182" y="171"/>
                    <a:pt x="182" y="171"/>
                    <a:pt x="182" y="171"/>
                  </a:cubicBezTo>
                  <a:cubicBezTo>
                    <a:pt x="117" y="171"/>
                    <a:pt x="117" y="171"/>
                    <a:pt x="117" y="171"/>
                  </a:cubicBezTo>
                  <a:cubicBezTo>
                    <a:pt x="117" y="84"/>
                    <a:pt x="117" y="84"/>
                    <a:pt x="117" y="84"/>
                  </a:cubicBezTo>
                  <a:lnTo>
                    <a:pt x="187" y="131"/>
                  </a:lnTo>
                  <a:close/>
                  <a:moveTo>
                    <a:pt x="96" y="134"/>
                  </a:moveTo>
                  <a:cubicBezTo>
                    <a:pt x="96" y="171"/>
                    <a:pt x="96" y="171"/>
                    <a:pt x="96" y="171"/>
                  </a:cubicBezTo>
                  <a:cubicBezTo>
                    <a:pt x="21" y="171"/>
                    <a:pt x="21" y="171"/>
                    <a:pt x="21" y="171"/>
                  </a:cubicBezTo>
                  <a:cubicBezTo>
                    <a:pt x="21" y="84"/>
                    <a:pt x="21" y="84"/>
                    <a:pt x="21" y="84"/>
                  </a:cubicBezTo>
                  <a:lnTo>
                    <a:pt x="96" y="134"/>
                  </a:lnTo>
                  <a:close/>
                  <a:moveTo>
                    <a:pt x="204" y="171"/>
                  </a:moveTo>
                  <a:cubicBezTo>
                    <a:pt x="222" y="21"/>
                    <a:pt x="222" y="21"/>
                    <a:pt x="222" y="21"/>
                  </a:cubicBezTo>
                  <a:cubicBezTo>
                    <a:pt x="268" y="21"/>
                    <a:pt x="268" y="21"/>
                    <a:pt x="268" y="21"/>
                  </a:cubicBezTo>
                  <a:cubicBezTo>
                    <a:pt x="296" y="171"/>
                    <a:pt x="296" y="171"/>
                    <a:pt x="296" y="171"/>
                  </a:cubicBezTo>
                  <a:lnTo>
                    <a:pt x="204" y="171"/>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6" name="Freeform 580">
              <a:extLst>
                <a:ext uri="{FF2B5EF4-FFF2-40B4-BE49-F238E27FC236}">
                  <a16:creationId xmlns:a16="http://schemas.microsoft.com/office/drawing/2014/main" id="{6499F106-CA7D-9B99-F512-ED8B8FB903D6}"/>
                </a:ext>
              </a:extLst>
            </p:cNvPr>
            <p:cNvSpPr>
              <a:spLocks/>
            </p:cNvSpPr>
            <p:nvPr/>
          </p:nvSpPr>
          <p:spPr bwMode="auto">
            <a:xfrm>
              <a:off x="7636844" y="2147437"/>
              <a:ext cx="30720" cy="67583"/>
            </a:xfrm>
            <a:custGeom>
              <a:avLst/>
              <a:gdLst>
                <a:gd name="T0" fmla="*/ 8 w 31"/>
                <a:gd name="T1" fmla="*/ 46 h 65"/>
                <a:gd name="T2" fmla="*/ 8 w 31"/>
                <a:gd name="T3" fmla="*/ 61 h 65"/>
                <a:gd name="T4" fmla="*/ 16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6"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2" y="34"/>
                    <a:pt x="8" y="40"/>
                  </a:cubicBezTo>
                  <a:cubicBezTo>
                    <a:pt x="9" y="41"/>
                    <a:pt x="11" y="43"/>
                    <a:pt x="8" y="46"/>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7" name="Freeform 581">
              <a:extLst>
                <a:ext uri="{FF2B5EF4-FFF2-40B4-BE49-F238E27FC236}">
                  <a16:creationId xmlns:a16="http://schemas.microsoft.com/office/drawing/2014/main" id="{429ABB0A-6D0F-38CC-26D6-F75709C2BCE5}"/>
                </a:ext>
              </a:extLst>
            </p:cNvPr>
            <p:cNvSpPr>
              <a:spLocks/>
            </p:cNvSpPr>
            <p:nvPr/>
          </p:nvSpPr>
          <p:spPr bwMode="auto">
            <a:xfrm>
              <a:off x="7679851" y="2147437"/>
              <a:ext cx="32256" cy="67583"/>
            </a:xfrm>
            <a:custGeom>
              <a:avLst/>
              <a:gdLst>
                <a:gd name="T0" fmla="*/ 8 w 31"/>
                <a:gd name="T1" fmla="*/ 46 h 65"/>
                <a:gd name="T2" fmla="*/ 8 w 31"/>
                <a:gd name="T3" fmla="*/ 61 h 65"/>
                <a:gd name="T4" fmla="*/ 15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5"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1" y="34"/>
                    <a:pt x="8" y="40"/>
                  </a:cubicBezTo>
                  <a:cubicBezTo>
                    <a:pt x="9" y="41"/>
                    <a:pt x="11" y="43"/>
                    <a:pt x="8" y="46"/>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8" name="Freeform 582">
              <a:extLst>
                <a:ext uri="{FF2B5EF4-FFF2-40B4-BE49-F238E27FC236}">
                  <a16:creationId xmlns:a16="http://schemas.microsoft.com/office/drawing/2014/main" id="{185B587E-B195-AF24-B7FA-DC9592B2D181}"/>
                </a:ext>
              </a:extLst>
            </p:cNvPr>
            <p:cNvSpPr>
              <a:spLocks noEditPoints="1"/>
            </p:cNvSpPr>
            <p:nvPr/>
          </p:nvSpPr>
          <p:spPr bwMode="auto">
            <a:xfrm>
              <a:off x="7326576" y="2050670"/>
              <a:ext cx="522233" cy="52377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pic>
        <p:nvPicPr>
          <p:cNvPr id="82" name="Picture 2" descr="http://newswirelawandevents.com/wp-content/uploads/2017/12/World-Bank-Logo-e1512416907359.jpg">
            <a:extLst>
              <a:ext uri="{FF2B5EF4-FFF2-40B4-BE49-F238E27FC236}">
                <a16:creationId xmlns:a16="http://schemas.microsoft.com/office/drawing/2014/main" id="{108015ED-C7B5-7934-B24F-ADA27FEFAF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9157" y="2518257"/>
            <a:ext cx="605340" cy="30974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3" name="Picture 22" descr="https://www.cisl.cam.ac.uk/about/leadership-hub/leadership-inquiry-images/table-images/adb-logo.jpg/image">
            <a:extLst>
              <a:ext uri="{FF2B5EF4-FFF2-40B4-BE49-F238E27FC236}">
                <a16:creationId xmlns:a16="http://schemas.microsoft.com/office/drawing/2014/main" id="{ACAA4CF3-F5F2-2A27-8888-881204052C8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739" r="27004"/>
          <a:stretch/>
        </p:blipFill>
        <p:spPr bwMode="auto">
          <a:xfrm>
            <a:off x="6047277" y="3808091"/>
            <a:ext cx="382097" cy="37355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4" name="Picture 22" descr="Image result for ongc logo">
            <a:extLst>
              <a:ext uri="{FF2B5EF4-FFF2-40B4-BE49-F238E27FC236}">
                <a16:creationId xmlns:a16="http://schemas.microsoft.com/office/drawing/2014/main" id="{961084D2-CD7D-2C66-3977-9877C1C6A3D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442" r="5969"/>
          <a:stretch/>
        </p:blipFill>
        <p:spPr bwMode="auto">
          <a:xfrm>
            <a:off x="9257684" y="3787792"/>
            <a:ext cx="341654" cy="39006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7" name="Half Frame 86">
            <a:extLst>
              <a:ext uri="{FF2B5EF4-FFF2-40B4-BE49-F238E27FC236}">
                <a16:creationId xmlns:a16="http://schemas.microsoft.com/office/drawing/2014/main" id="{84BB5163-EFF5-30D1-C413-C3044112E322}"/>
              </a:ext>
            </a:extLst>
          </p:cNvPr>
          <p:cNvSpPr/>
          <p:nvPr/>
        </p:nvSpPr>
        <p:spPr bwMode="gray">
          <a:xfrm rot="10800000">
            <a:off x="8205882" y="5898624"/>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88" name="Half Frame 87">
            <a:extLst>
              <a:ext uri="{FF2B5EF4-FFF2-40B4-BE49-F238E27FC236}">
                <a16:creationId xmlns:a16="http://schemas.microsoft.com/office/drawing/2014/main" id="{54E728F0-0DE2-F4BE-C5CD-A1FB0C19DB76}"/>
              </a:ext>
            </a:extLst>
          </p:cNvPr>
          <p:cNvSpPr/>
          <p:nvPr/>
        </p:nvSpPr>
        <p:spPr bwMode="gray">
          <a:xfrm rot="16200000">
            <a:off x="5985176" y="5900879"/>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89" name="Half Frame 88">
            <a:extLst>
              <a:ext uri="{FF2B5EF4-FFF2-40B4-BE49-F238E27FC236}">
                <a16:creationId xmlns:a16="http://schemas.microsoft.com/office/drawing/2014/main" id="{B6AB64A1-042A-8CCB-E651-EFC03E521501}"/>
              </a:ext>
            </a:extLst>
          </p:cNvPr>
          <p:cNvSpPr/>
          <p:nvPr/>
        </p:nvSpPr>
        <p:spPr bwMode="gray">
          <a:xfrm rot="10800000">
            <a:off x="11274866" y="5893784"/>
            <a:ext cx="269381" cy="282900"/>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90" name="Half Frame 89">
            <a:extLst>
              <a:ext uri="{FF2B5EF4-FFF2-40B4-BE49-F238E27FC236}">
                <a16:creationId xmlns:a16="http://schemas.microsoft.com/office/drawing/2014/main" id="{8876558D-BC2B-969A-8CC4-3BEBACA192A5}"/>
              </a:ext>
            </a:extLst>
          </p:cNvPr>
          <p:cNvSpPr/>
          <p:nvPr/>
        </p:nvSpPr>
        <p:spPr bwMode="gray">
          <a:xfrm rot="16200000">
            <a:off x="9105262" y="5896040"/>
            <a:ext cx="261750" cy="257238"/>
          </a:xfrm>
          <a:prstGeom prst="halfFrame">
            <a:avLst>
              <a:gd name="adj1" fmla="val 7553"/>
              <a:gd name="adj2" fmla="val 8442"/>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9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endParaRPr>
          </a:p>
        </p:txBody>
      </p:sp>
      <p:sp>
        <p:nvSpPr>
          <p:cNvPr id="91" name="TextBox 90">
            <a:extLst>
              <a:ext uri="{FF2B5EF4-FFF2-40B4-BE49-F238E27FC236}">
                <a16:creationId xmlns:a16="http://schemas.microsoft.com/office/drawing/2014/main" id="{13E0699E-1A48-613D-C407-52E0C0910B70}"/>
              </a:ext>
            </a:extLst>
          </p:cNvPr>
          <p:cNvSpPr txBox="1"/>
          <p:nvPr/>
        </p:nvSpPr>
        <p:spPr>
          <a:xfrm>
            <a:off x="2058037" y="2661321"/>
            <a:ext cx="1840041" cy="349702"/>
          </a:xfrm>
          <a:prstGeom prst="rect">
            <a:avLst/>
          </a:prstGeom>
          <a:noFill/>
        </p:spPr>
        <p:txBody>
          <a:bodyPr wrap="square" lIns="36000" tIns="36000" rIns="36000" bIns="36000" rtlCol="0">
            <a:spAutoFit/>
          </a:bodyPr>
          <a:lstStyle/>
          <a:p>
            <a:pPr algn="ctr">
              <a:defRPr/>
            </a:pPr>
            <a:r>
              <a:rPr lang="en-US" sz="900" b="1" kern="0">
                <a:solidFill>
                  <a:srgbClr val="0D8390"/>
                </a:solidFill>
                <a:latin typeface="Verdana" panose="020B0604030504040204" pitchFamily="34" charset="0"/>
                <a:ea typeface="Verdana" panose="020B0604030504040204" pitchFamily="34" charset="0"/>
                <a:cs typeface="Arial" panose="020B0604020202020204" pitchFamily="34" charset="0"/>
              </a:rPr>
              <a:t>Strategy </a:t>
            </a:r>
          </a:p>
          <a:p>
            <a:pPr algn="ctr">
              <a:defRPr/>
            </a:pPr>
            <a:r>
              <a:rPr lang="en-US" sz="900" b="1" kern="0">
                <a:solidFill>
                  <a:srgbClr val="0D8390"/>
                </a:solidFill>
                <a:latin typeface="Verdana" panose="020B0604030504040204" pitchFamily="34" charset="0"/>
                <a:ea typeface="Verdana" panose="020B0604030504040204" pitchFamily="34" charset="0"/>
                <a:cs typeface="Arial" panose="020B0604020202020204" pitchFamily="34" charset="0"/>
              </a:rPr>
              <a:t>preparation</a:t>
            </a:r>
          </a:p>
        </p:txBody>
      </p:sp>
      <p:grpSp>
        <p:nvGrpSpPr>
          <p:cNvPr id="92" name="Group 91">
            <a:extLst>
              <a:ext uri="{FF2B5EF4-FFF2-40B4-BE49-F238E27FC236}">
                <a16:creationId xmlns:a16="http://schemas.microsoft.com/office/drawing/2014/main" id="{E32446DF-4D34-9855-626C-5C59EC869601}"/>
              </a:ext>
            </a:extLst>
          </p:cNvPr>
          <p:cNvGrpSpPr/>
          <p:nvPr/>
        </p:nvGrpSpPr>
        <p:grpSpPr>
          <a:xfrm>
            <a:off x="2428046" y="1554020"/>
            <a:ext cx="1132852" cy="1114129"/>
            <a:chOff x="4083526" y="1739860"/>
            <a:chExt cx="1354384" cy="1332000"/>
          </a:xfrm>
        </p:grpSpPr>
        <p:grpSp>
          <p:nvGrpSpPr>
            <p:cNvPr id="93" name="Group 92">
              <a:extLst>
                <a:ext uri="{FF2B5EF4-FFF2-40B4-BE49-F238E27FC236}">
                  <a16:creationId xmlns:a16="http://schemas.microsoft.com/office/drawing/2014/main" id="{B5DE0FE0-BD6F-7373-62CB-1DA8A2EE89B0}"/>
                </a:ext>
              </a:extLst>
            </p:cNvPr>
            <p:cNvGrpSpPr/>
            <p:nvPr/>
          </p:nvGrpSpPr>
          <p:grpSpPr>
            <a:xfrm>
              <a:off x="4653110" y="1739860"/>
              <a:ext cx="784800" cy="1332000"/>
              <a:chOff x="8989748" y="663576"/>
              <a:chExt cx="1191799" cy="1931759"/>
            </a:xfrm>
          </p:grpSpPr>
          <p:sp>
            <p:nvSpPr>
              <p:cNvPr id="95" name="Diagonal Stripe 94">
                <a:extLst>
                  <a:ext uri="{FF2B5EF4-FFF2-40B4-BE49-F238E27FC236}">
                    <a16:creationId xmlns:a16="http://schemas.microsoft.com/office/drawing/2014/main" id="{974C4F70-54DC-1598-70E3-310D65074469}"/>
                  </a:ext>
                </a:extLst>
              </p:cNvPr>
              <p:cNvSpPr/>
              <p:nvPr/>
            </p:nvSpPr>
            <p:spPr>
              <a:xfrm>
                <a:off x="8989748" y="1650596"/>
                <a:ext cx="1191799" cy="944739"/>
              </a:xfrm>
              <a:prstGeom prst="diagStripe">
                <a:avLst/>
              </a:prstGeom>
              <a:solidFill>
                <a:srgbClr val="007CB0"/>
              </a:solidFill>
              <a:ln w="12700" cap="flat" cmpd="sng" algn="ctr">
                <a:noFill/>
                <a:prstDash val="solid"/>
              </a:ln>
              <a:effectLst/>
            </p:spPr>
            <p:txBody>
              <a:bodyPr lIns="91440" tIns="91440" rIns="91440" bIns="91440" rtlCol="0" anchor="ctr">
                <a:noAutofit/>
              </a:bodyPr>
              <a:lstStyle/>
              <a:p>
                <a:pPr algn="ctr">
                  <a:defRPr/>
                </a:pPr>
                <a:endParaRPr lang="en-US" sz="900" kern="0" err="1">
                  <a:solidFill>
                    <a:srgbClr val="53565A"/>
                  </a:solidFill>
                  <a:latin typeface="Verdana" panose="020B0604030504040204" pitchFamily="34" charset="0"/>
                  <a:ea typeface="Verdana" panose="020B0604030504040204" pitchFamily="34" charset="0"/>
                  <a:cs typeface="Arial" panose="020B0604020202020204" pitchFamily="34" charset="0"/>
                </a:endParaRPr>
              </a:p>
            </p:txBody>
          </p:sp>
          <p:sp>
            <p:nvSpPr>
              <p:cNvPr id="96" name="Diagonal Stripe 95">
                <a:extLst>
                  <a:ext uri="{FF2B5EF4-FFF2-40B4-BE49-F238E27FC236}">
                    <a16:creationId xmlns:a16="http://schemas.microsoft.com/office/drawing/2014/main" id="{88D471E8-752A-4993-AFC8-BCD674C281FB}"/>
                  </a:ext>
                </a:extLst>
              </p:cNvPr>
              <p:cNvSpPr/>
              <p:nvPr/>
            </p:nvSpPr>
            <p:spPr>
              <a:xfrm flipV="1">
                <a:off x="8989748" y="663576"/>
                <a:ext cx="1191799" cy="944739"/>
              </a:xfrm>
              <a:prstGeom prst="diagStripe">
                <a:avLst/>
              </a:prstGeom>
              <a:solidFill>
                <a:srgbClr val="0D8390"/>
              </a:solidFill>
              <a:ln w="12700" cap="flat" cmpd="sng" algn="ctr">
                <a:noFill/>
                <a:prstDash val="solid"/>
              </a:ln>
              <a:effectLst/>
            </p:spPr>
            <p:txBody>
              <a:bodyPr lIns="91440" tIns="91440" rIns="91440" bIns="91440" rtlCol="0" anchor="ctr">
                <a:noAutofit/>
              </a:bodyPr>
              <a:lstStyle/>
              <a:p>
                <a:pPr algn="ctr">
                  <a:defRPr/>
                </a:pPr>
                <a:endParaRPr lang="en-US" sz="900" kern="0" err="1">
                  <a:solidFill>
                    <a:srgbClr val="53565A"/>
                  </a:solidFill>
                  <a:latin typeface="Verdana" panose="020B0604030504040204" pitchFamily="34" charset="0"/>
                  <a:ea typeface="Verdana" panose="020B0604030504040204" pitchFamily="34" charset="0"/>
                  <a:cs typeface="Arial" panose="020B0604020202020204" pitchFamily="34" charset="0"/>
                </a:endParaRPr>
              </a:p>
            </p:txBody>
          </p:sp>
        </p:grpSp>
        <p:sp>
          <p:nvSpPr>
            <p:cNvPr id="94" name="Freeform 940">
              <a:extLst>
                <a:ext uri="{FF2B5EF4-FFF2-40B4-BE49-F238E27FC236}">
                  <a16:creationId xmlns:a16="http://schemas.microsoft.com/office/drawing/2014/main" id="{9A3571C6-1CE5-8829-92E8-0BCD0C48C1AA}"/>
                </a:ext>
              </a:extLst>
            </p:cNvPr>
            <p:cNvSpPr>
              <a:spLocks noChangeAspect="1" noEditPoints="1"/>
            </p:cNvSpPr>
            <p:nvPr/>
          </p:nvSpPr>
          <p:spPr bwMode="auto">
            <a:xfrm>
              <a:off x="4083526" y="2098519"/>
              <a:ext cx="655078" cy="655078"/>
            </a:xfrm>
            <a:custGeom>
              <a:avLst/>
              <a:gdLst>
                <a:gd name="T0" fmla="*/ 361 w 512"/>
                <a:gd name="T1" fmla="*/ 188 h 512"/>
                <a:gd name="T2" fmla="*/ 391 w 512"/>
                <a:gd name="T3" fmla="*/ 309 h 512"/>
                <a:gd name="T4" fmla="*/ 324 w 512"/>
                <a:gd name="T5" fmla="*/ 309 h 512"/>
                <a:gd name="T6" fmla="*/ 361 w 512"/>
                <a:gd name="T7" fmla="*/ 188 h 512"/>
                <a:gd name="T8" fmla="*/ 121 w 512"/>
                <a:gd name="T9" fmla="*/ 309 h 512"/>
                <a:gd name="T10" fmla="*/ 189 w 512"/>
                <a:gd name="T11" fmla="*/ 309 h 512"/>
                <a:gd name="T12" fmla="*/ 159 w 512"/>
                <a:gd name="T13" fmla="*/ 188 h 512"/>
                <a:gd name="T14" fmla="*/ 121 w 512"/>
                <a:gd name="T15" fmla="*/ 309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415 w 512"/>
                <a:gd name="T27" fmla="*/ 317 h 512"/>
                <a:gd name="T28" fmla="*/ 373 w 512"/>
                <a:gd name="T29" fmla="*/ 146 h 512"/>
                <a:gd name="T30" fmla="*/ 372 w 512"/>
                <a:gd name="T31" fmla="*/ 146 h 512"/>
                <a:gd name="T32" fmla="*/ 372 w 512"/>
                <a:gd name="T33" fmla="*/ 144 h 512"/>
                <a:gd name="T34" fmla="*/ 370 w 512"/>
                <a:gd name="T35" fmla="*/ 142 h 512"/>
                <a:gd name="T36" fmla="*/ 369 w 512"/>
                <a:gd name="T37" fmla="*/ 141 h 512"/>
                <a:gd name="T38" fmla="*/ 367 w 512"/>
                <a:gd name="T39" fmla="*/ 140 h 512"/>
                <a:gd name="T40" fmla="*/ 366 w 512"/>
                <a:gd name="T41" fmla="*/ 139 h 512"/>
                <a:gd name="T42" fmla="*/ 363 w 512"/>
                <a:gd name="T43" fmla="*/ 138 h 512"/>
                <a:gd name="T44" fmla="*/ 362 w 512"/>
                <a:gd name="T45" fmla="*/ 138 h 512"/>
                <a:gd name="T46" fmla="*/ 362 w 512"/>
                <a:gd name="T47" fmla="*/ 138 h 512"/>
                <a:gd name="T48" fmla="*/ 266 w 512"/>
                <a:gd name="T49" fmla="*/ 138 h 512"/>
                <a:gd name="T50" fmla="*/ 266 w 512"/>
                <a:gd name="T51" fmla="*/ 106 h 512"/>
                <a:gd name="T52" fmla="*/ 256 w 512"/>
                <a:gd name="T53" fmla="*/ 96 h 512"/>
                <a:gd name="T54" fmla="*/ 245 w 512"/>
                <a:gd name="T55" fmla="*/ 106 h 512"/>
                <a:gd name="T56" fmla="*/ 245 w 512"/>
                <a:gd name="T57" fmla="*/ 138 h 512"/>
                <a:gd name="T58" fmla="*/ 160 w 512"/>
                <a:gd name="T59" fmla="*/ 138 h 512"/>
                <a:gd name="T60" fmla="*/ 159 w 512"/>
                <a:gd name="T61" fmla="*/ 138 h 512"/>
                <a:gd name="T62" fmla="*/ 156 w 512"/>
                <a:gd name="T63" fmla="*/ 139 h 512"/>
                <a:gd name="T64" fmla="*/ 155 w 512"/>
                <a:gd name="T65" fmla="*/ 140 h 512"/>
                <a:gd name="T66" fmla="*/ 153 w 512"/>
                <a:gd name="T67" fmla="*/ 141 h 512"/>
                <a:gd name="T68" fmla="*/ 152 w 512"/>
                <a:gd name="T69" fmla="*/ 142 h 512"/>
                <a:gd name="T70" fmla="*/ 150 w 512"/>
                <a:gd name="T71" fmla="*/ 144 h 512"/>
                <a:gd name="T72" fmla="*/ 150 w 512"/>
                <a:gd name="T73" fmla="*/ 145 h 512"/>
                <a:gd name="T74" fmla="*/ 149 w 512"/>
                <a:gd name="T75" fmla="*/ 146 h 512"/>
                <a:gd name="T76" fmla="*/ 96 w 512"/>
                <a:gd name="T77" fmla="*/ 316 h 512"/>
                <a:gd name="T78" fmla="*/ 98 w 512"/>
                <a:gd name="T79" fmla="*/ 326 h 512"/>
                <a:gd name="T80" fmla="*/ 106 w 512"/>
                <a:gd name="T81" fmla="*/ 330 h 512"/>
                <a:gd name="T82" fmla="*/ 202 w 512"/>
                <a:gd name="T83" fmla="*/ 330 h 512"/>
                <a:gd name="T84" fmla="*/ 211 w 512"/>
                <a:gd name="T85" fmla="*/ 326 h 512"/>
                <a:gd name="T86" fmla="*/ 213 w 512"/>
                <a:gd name="T87" fmla="*/ 317 h 512"/>
                <a:gd name="T88" fmla="*/ 173 w 512"/>
                <a:gd name="T89" fmla="*/ 160 h 512"/>
                <a:gd name="T90" fmla="*/ 245 w 512"/>
                <a:gd name="T91" fmla="*/ 160 h 512"/>
                <a:gd name="T92" fmla="*/ 245 w 512"/>
                <a:gd name="T93" fmla="*/ 394 h 512"/>
                <a:gd name="T94" fmla="*/ 192 w 512"/>
                <a:gd name="T95" fmla="*/ 394 h 512"/>
                <a:gd name="T96" fmla="*/ 181 w 512"/>
                <a:gd name="T97" fmla="*/ 405 h 512"/>
                <a:gd name="T98" fmla="*/ 192 w 512"/>
                <a:gd name="T99" fmla="*/ 416 h 512"/>
                <a:gd name="T100" fmla="*/ 320 w 512"/>
                <a:gd name="T101" fmla="*/ 416 h 512"/>
                <a:gd name="T102" fmla="*/ 330 w 512"/>
                <a:gd name="T103" fmla="*/ 405 h 512"/>
                <a:gd name="T104" fmla="*/ 320 w 512"/>
                <a:gd name="T105" fmla="*/ 394 h 512"/>
                <a:gd name="T106" fmla="*/ 266 w 512"/>
                <a:gd name="T107" fmla="*/ 394 h 512"/>
                <a:gd name="T108" fmla="*/ 266 w 512"/>
                <a:gd name="T109" fmla="*/ 160 h 512"/>
                <a:gd name="T110" fmla="*/ 348 w 512"/>
                <a:gd name="T111" fmla="*/ 160 h 512"/>
                <a:gd name="T112" fmla="*/ 299 w 512"/>
                <a:gd name="T113" fmla="*/ 316 h 512"/>
                <a:gd name="T114" fmla="*/ 300 w 512"/>
                <a:gd name="T115" fmla="*/ 326 h 512"/>
                <a:gd name="T116" fmla="*/ 309 w 512"/>
                <a:gd name="T117" fmla="*/ 330 h 512"/>
                <a:gd name="T118" fmla="*/ 405 w 512"/>
                <a:gd name="T119" fmla="*/ 330 h 512"/>
                <a:gd name="T120" fmla="*/ 413 w 512"/>
                <a:gd name="T121" fmla="*/ 326 h 512"/>
                <a:gd name="T122" fmla="*/ 415 w 512"/>
                <a:gd name="T123" fmla="*/ 31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361" y="188"/>
                  </a:moveTo>
                  <a:cubicBezTo>
                    <a:pt x="391" y="309"/>
                    <a:pt x="391" y="309"/>
                    <a:pt x="391" y="309"/>
                  </a:cubicBezTo>
                  <a:cubicBezTo>
                    <a:pt x="324" y="309"/>
                    <a:pt x="324" y="309"/>
                    <a:pt x="324" y="309"/>
                  </a:cubicBezTo>
                  <a:lnTo>
                    <a:pt x="361" y="188"/>
                  </a:lnTo>
                  <a:close/>
                  <a:moveTo>
                    <a:pt x="121" y="309"/>
                  </a:moveTo>
                  <a:cubicBezTo>
                    <a:pt x="189" y="309"/>
                    <a:pt x="189" y="309"/>
                    <a:pt x="189" y="309"/>
                  </a:cubicBezTo>
                  <a:cubicBezTo>
                    <a:pt x="159" y="188"/>
                    <a:pt x="159" y="188"/>
                    <a:pt x="159" y="188"/>
                  </a:cubicBezTo>
                  <a:lnTo>
                    <a:pt x="121" y="30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317"/>
                  </a:moveTo>
                  <a:cubicBezTo>
                    <a:pt x="373" y="146"/>
                    <a:pt x="373" y="146"/>
                    <a:pt x="373" y="146"/>
                  </a:cubicBezTo>
                  <a:cubicBezTo>
                    <a:pt x="373" y="146"/>
                    <a:pt x="372" y="146"/>
                    <a:pt x="372" y="146"/>
                  </a:cubicBezTo>
                  <a:cubicBezTo>
                    <a:pt x="372" y="145"/>
                    <a:pt x="372" y="145"/>
                    <a:pt x="372" y="144"/>
                  </a:cubicBezTo>
                  <a:cubicBezTo>
                    <a:pt x="371" y="143"/>
                    <a:pt x="371" y="143"/>
                    <a:pt x="370" y="142"/>
                  </a:cubicBezTo>
                  <a:cubicBezTo>
                    <a:pt x="370" y="142"/>
                    <a:pt x="370" y="141"/>
                    <a:pt x="369" y="141"/>
                  </a:cubicBezTo>
                  <a:cubicBezTo>
                    <a:pt x="369" y="141"/>
                    <a:pt x="368" y="140"/>
                    <a:pt x="367" y="140"/>
                  </a:cubicBezTo>
                  <a:cubicBezTo>
                    <a:pt x="367" y="139"/>
                    <a:pt x="367" y="139"/>
                    <a:pt x="366" y="139"/>
                  </a:cubicBezTo>
                  <a:cubicBezTo>
                    <a:pt x="365" y="139"/>
                    <a:pt x="364" y="138"/>
                    <a:pt x="363" y="138"/>
                  </a:cubicBezTo>
                  <a:cubicBezTo>
                    <a:pt x="363" y="138"/>
                    <a:pt x="363" y="138"/>
                    <a:pt x="362" y="138"/>
                  </a:cubicBezTo>
                  <a:cubicBezTo>
                    <a:pt x="362" y="138"/>
                    <a:pt x="362" y="138"/>
                    <a:pt x="362" y="138"/>
                  </a:cubicBezTo>
                  <a:cubicBezTo>
                    <a:pt x="266" y="138"/>
                    <a:pt x="266" y="138"/>
                    <a:pt x="266" y="138"/>
                  </a:cubicBezTo>
                  <a:cubicBezTo>
                    <a:pt x="266" y="106"/>
                    <a:pt x="266" y="106"/>
                    <a:pt x="266" y="106"/>
                  </a:cubicBezTo>
                  <a:cubicBezTo>
                    <a:pt x="266" y="100"/>
                    <a:pt x="262" y="96"/>
                    <a:pt x="256" y="96"/>
                  </a:cubicBezTo>
                  <a:cubicBezTo>
                    <a:pt x="250" y="96"/>
                    <a:pt x="245" y="100"/>
                    <a:pt x="245" y="106"/>
                  </a:cubicBezTo>
                  <a:cubicBezTo>
                    <a:pt x="245" y="138"/>
                    <a:pt x="245" y="138"/>
                    <a:pt x="245" y="138"/>
                  </a:cubicBezTo>
                  <a:cubicBezTo>
                    <a:pt x="160" y="138"/>
                    <a:pt x="160" y="138"/>
                    <a:pt x="160" y="138"/>
                  </a:cubicBezTo>
                  <a:cubicBezTo>
                    <a:pt x="159" y="138"/>
                    <a:pt x="159" y="138"/>
                    <a:pt x="159" y="138"/>
                  </a:cubicBezTo>
                  <a:cubicBezTo>
                    <a:pt x="158" y="139"/>
                    <a:pt x="157" y="139"/>
                    <a:pt x="156" y="139"/>
                  </a:cubicBezTo>
                  <a:cubicBezTo>
                    <a:pt x="156" y="139"/>
                    <a:pt x="155" y="139"/>
                    <a:pt x="155" y="140"/>
                  </a:cubicBezTo>
                  <a:cubicBezTo>
                    <a:pt x="154" y="140"/>
                    <a:pt x="153" y="141"/>
                    <a:pt x="153" y="141"/>
                  </a:cubicBezTo>
                  <a:cubicBezTo>
                    <a:pt x="152" y="141"/>
                    <a:pt x="152" y="142"/>
                    <a:pt x="152" y="142"/>
                  </a:cubicBezTo>
                  <a:cubicBezTo>
                    <a:pt x="151" y="143"/>
                    <a:pt x="151" y="143"/>
                    <a:pt x="150" y="144"/>
                  </a:cubicBezTo>
                  <a:cubicBezTo>
                    <a:pt x="150" y="145"/>
                    <a:pt x="150" y="145"/>
                    <a:pt x="150" y="145"/>
                  </a:cubicBezTo>
                  <a:cubicBezTo>
                    <a:pt x="150" y="145"/>
                    <a:pt x="150" y="146"/>
                    <a:pt x="149" y="146"/>
                  </a:cubicBezTo>
                  <a:cubicBezTo>
                    <a:pt x="96" y="316"/>
                    <a:pt x="96" y="316"/>
                    <a:pt x="96" y="316"/>
                  </a:cubicBezTo>
                  <a:cubicBezTo>
                    <a:pt x="95" y="320"/>
                    <a:pt x="96" y="323"/>
                    <a:pt x="98" y="326"/>
                  </a:cubicBezTo>
                  <a:cubicBezTo>
                    <a:pt x="100" y="329"/>
                    <a:pt x="103" y="330"/>
                    <a:pt x="106" y="330"/>
                  </a:cubicBezTo>
                  <a:cubicBezTo>
                    <a:pt x="202" y="330"/>
                    <a:pt x="202" y="330"/>
                    <a:pt x="202" y="330"/>
                  </a:cubicBezTo>
                  <a:cubicBezTo>
                    <a:pt x="206" y="330"/>
                    <a:pt x="209" y="329"/>
                    <a:pt x="211" y="326"/>
                  </a:cubicBezTo>
                  <a:cubicBezTo>
                    <a:pt x="213" y="324"/>
                    <a:pt x="213" y="320"/>
                    <a:pt x="213" y="317"/>
                  </a:cubicBezTo>
                  <a:cubicBezTo>
                    <a:pt x="173" y="160"/>
                    <a:pt x="173" y="160"/>
                    <a:pt x="173" y="160"/>
                  </a:cubicBezTo>
                  <a:cubicBezTo>
                    <a:pt x="245" y="160"/>
                    <a:pt x="245" y="160"/>
                    <a:pt x="245" y="160"/>
                  </a:cubicBezTo>
                  <a:cubicBezTo>
                    <a:pt x="245" y="394"/>
                    <a:pt x="245" y="394"/>
                    <a:pt x="245" y="394"/>
                  </a:cubicBezTo>
                  <a:cubicBezTo>
                    <a:pt x="192" y="394"/>
                    <a:pt x="192" y="394"/>
                    <a:pt x="192" y="394"/>
                  </a:cubicBezTo>
                  <a:cubicBezTo>
                    <a:pt x="186" y="394"/>
                    <a:pt x="181" y="399"/>
                    <a:pt x="181" y="405"/>
                  </a:cubicBezTo>
                  <a:cubicBezTo>
                    <a:pt x="181" y="411"/>
                    <a:pt x="186" y="416"/>
                    <a:pt x="192" y="416"/>
                  </a:cubicBezTo>
                  <a:cubicBezTo>
                    <a:pt x="320" y="416"/>
                    <a:pt x="320" y="416"/>
                    <a:pt x="320" y="416"/>
                  </a:cubicBezTo>
                  <a:cubicBezTo>
                    <a:pt x="326" y="416"/>
                    <a:pt x="330" y="411"/>
                    <a:pt x="330" y="405"/>
                  </a:cubicBezTo>
                  <a:cubicBezTo>
                    <a:pt x="330" y="399"/>
                    <a:pt x="326" y="394"/>
                    <a:pt x="320" y="394"/>
                  </a:cubicBezTo>
                  <a:cubicBezTo>
                    <a:pt x="266" y="394"/>
                    <a:pt x="266" y="394"/>
                    <a:pt x="266" y="394"/>
                  </a:cubicBezTo>
                  <a:cubicBezTo>
                    <a:pt x="266" y="160"/>
                    <a:pt x="266" y="160"/>
                    <a:pt x="266" y="160"/>
                  </a:cubicBezTo>
                  <a:cubicBezTo>
                    <a:pt x="348" y="160"/>
                    <a:pt x="348" y="160"/>
                    <a:pt x="348" y="160"/>
                  </a:cubicBezTo>
                  <a:cubicBezTo>
                    <a:pt x="299" y="316"/>
                    <a:pt x="299" y="316"/>
                    <a:pt x="299" y="316"/>
                  </a:cubicBezTo>
                  <a:cubicBezTo>
                    <a:pt x="298" y="320"/>
                    <a:pt x="298" y="323"/>
                    <a:pt x="300" y="326"/>
                  </a:cubicBezTo>
                  <a:cubicBezTo>
                    <a:pt x="302" y="329"/>
                    <a:pt x="306" y="330"/>
                    <a:pt x="309" y="330"/>
                  </a:cubicBezTo>
                  <a:cubicBezTo>
                    <a:pt x="405" y="330"/>
                    <a:pt x="405" y="330"/>
                    <a:pt x="405" y="330"/>
                  </a:cubicBezTo>
                  <a:cubicBezTo>
                    <a:pt x="408" y="330"/>
                    <a:pt x="411" y="329"/>
                    <a:pt x="413" y="326"/>
                  </a:cubicBezTo>
                  <a:cubicBezTo>
                    <a:pt x="415" y="324"/>
                    <a:pt x="416" y="320"/>
                    <a:pt x="415" y="317"/>
                  </a:cubicBezTo>
                  <a:close/>
                </a:path>
              </a:pathLst>
            </a:custGeom>
            <a:solidFill>
              <a:srgbClr val="007CB0"/>
            </a:solidFill>
            <a:ln w="12700" cap="flat" cmpd="sng" algn="ctr">
              <a:noFill/>
              <a:prstDash val="solid"/>
            </a:ln>
            <a:effectLst/>
          </p:spPr>
          <p:txBody>
            <a:bodyPr lIns="91440" tIns="91440" rIns="91440" bIns="91440" rtlCol="0" anchor="ctr">
              <a:noAutofit/>
            </a:bodyPr>
            <a:lstStyle/>
            <a:p>
              <a:pPr algn="ctr">
                <a:defRPr/>
              </a:pPr>
              <a:endParaRPr lang="en-GB" sz="900" kern="0">
                <a:solidFill>
                  <a:srgbClr val="53565A"/>
                </a:solidFill>
                <a:latin typeface="Verdana" panose="020B0604030504040204" pitchFamily="34" charset="0"/>
                <a:ea typeface="Verdana" panose="020B0604030504040204" pitchFamily="34" charset="0"/>
                <a:cs typeface="Arial" panose="020B0604020202020204" pitchFamily="34" charset="0"/>
              </a:endParaRPr>
            </a:p>
          </p:txBody>
        </p:sp>
      </p:grpSp>
      <p:pic>
        <p:nvPicPr>
          <p:cNvPr id="3074" name="Picture 2" descr="Bureau of Energy Efficiency - Wikipedia">
            <a:extLst>
              <a:ext uri="{FF2B5EF4-FFF2-40B4-BE49-F238E27FC236}">
                <a16:creationId xmlns:a16="http://schemas.microsoft.com/office/drawing/2014/main" id="{9FEE3A22-BE26-C8EE-B089-C156830061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4567" y="1163568"/>
            <a:ext cx="232600" cy="286719"/>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10" descr="Image result for ifc logo">
            <a:extLst>
              <a:ext uri="{FF2B5EF4-FFF2-40B4-BE49-F238E27FC236}">
                <a16:creationId xmlns:a16="http://schemas.microsoft.com/office/drawing/2014/main" id="{638CF32C-5076-F7A8-B1BA-4C81AAD55CD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2156" r="21112"/>
          <a:stretch/>
        </p:blipFill>
        <p:spPr bwMode="auto">
          <a:xfrm>
            <a:off x="9257684" y="1181540"/>
            <a:ext cx="238479" cy="336290"/>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10" descr="Image result for ifc logo">
            <a:extLst>
              <a:ext uri="{FF2B5EF4-FFF2-40B4-BE49-F238E27FC236}">
                <a16:creationId xmlns:a16="http://schemas.microsoft.com/office/drawing/2014/main" id="{786D2697-F2BC-4770-9ED4-8D46B569533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2156" r="21112"/>
          <a:stretch/>
        </p:blipFill>
        <p:spPr bwMode="auto">
          <a:xfrm>
            <a:off x="6096000" y="2487498"/>
            <a:ext cx="238479" cy="336290"/>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10" descr="Image result for ifc logo">
            <a:extLst>
              <a:ext uri="{FF2B5EF4-FFF2-40B4-BE49-F238E27FC236}">
                <a16:creationId xmlns:a16="http://schemas.microsoft.com/office/drawing/2014/main" id="{3478FC21-D573-8FCA-C6FE-590183CA24F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2156" r="21112"/>
          <a:stretch/>
        </p:blipFill>
        <p:spPr bwMode="auto">
          <a:xfrm>
            <a:off x="9257684" y="5129646"/>
            <a:ext cx="238479" cy="336290"/>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2" descr="https://www.cisl.cam.ac.uk/about/leadership-hub/leadership-inquiry-images/table-images/adb-logo.jpg/image">
            <a:extLst>
              <a:ext uri="{FF2B5EF4-FFF2-40B4-BE49-F238E27FC236}">
                <a16:creationId xmlns:a16="http://schemas.microsoft.com/office/drawing/2014/main" id="{EE955A54-278D-72B2-8148-4112ABEE33C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739" r="27004"/>
          <a:stretch/>
        </p:blipFill>
        <p:spPr bwMode="auto">
          <a:xfrm>
            <a:off x="6053621" y="5068074"/>
            <a:ext cx="382097" cy="403218"/>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099175"/>
      </p:ext>
    </p:extLst>
  </p:cSld>
  <p:clrMapOvr>
    <a:overrideClrMapping bg1="lt1" tx1="dk1" bg2="lt2" tx2="dk2" accent1="accent1" accent2="accent2" accent3="accent3" accent4="accent4" accent5="accent5" accent6="accent6" hlink="hlink" folHlink="folHlink"/>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88AC569-9F2C-498C-BB8D-EE8CD8C5CB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5" name="Object 4" hidden="1">
                        <a:extLst>
                          <a:ext uri="{FF2B5EF4-FFF2-40B4-BE49-F238E27FC236}">
                            <a16:creationId xmlns:a16="http://schemas.microsoft.com/office/drawing/2014/main" id="{688AC569-9F2C-498C-BB8D-EE8CD8C5CBF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23" name="Rectangle 522" hidden="1">
            <a:extLst>
              <a:ext uri="{FF2B5EF4-FFF2-40B4-BE49-F238E27FC236}">
                <a16:creationId xmlns:a16="http://schemas.microsoft.com/office/drawing/2014/main" id="{8FBF31B7-59B4-411B-8874-7CD82B410A3A}"/>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3" name="Rectangle 2" hidden="1">
            <a:extLst>
              <a:ext uri="{FF2B5EF4-FFF2-40B4-BE49-F238E27FC236}">
                <a16:creationId xmlns:a16="http://schemas.microsoft.com/office/drawing/2014/main" id="{F8458B1C-0CC7-4840-9DC3-01F29A1285CF}"/>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800" dirty="0">
              <a:solidFill>
                <a:schemeClr val="bg1"/>
              </a:solidFill>
            </a:endParaRPr>
          </a:p>
        </p:txBody>
      </p:sp>
      <p:sp>
        <p:nvSpPr>
          <p:cNvPr id="14" name="Title 1">
            <a:extLst>
              <a:ext uri="{FF2B5EF4-FFF2-40B4-BE49-F238E27FC236}">
                <a16:creationId xmlns:a16="http://schemas.microsoft.com/office/drawing/2014/main" id="{20539F4C-CEDE-BDBC-3ECB-41F9D6D29CA2}"/>
              </a:ext>
            </a:extLst>
          </p:cNvPr>
          <p:cNvSpPr txBox="1">
            <a:spLocks/>
          </p:cNvSpPr>
          <p:nvPr/>
        </p:nvSpPr>
        <p:spPr>
          <a:xfrm>
            <a:off x="456426" y="267416"/>
            <a:ext cx="11188700" cy="475008"/>
          </a:xfrm>
          <a:prstGeom prst="rect">
            <a:avLst/>
          </a:prstGeom>
        </p:spPr>
        <p:txBody>
          <a:bodyPr vert="horz"/>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Our Service Offerings</a:t>
            </a:r>
            <a:br>
              <a:rPr kumimoji="0" lang="en-US" sz="105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br>
            <a:endParaRPr kumimoji="0" lang="en-US" sz="1050" b="0" i="0" u="none" strike="noStrike" kern="1200" cap="none" spc="0" normalizeH="0" baseline="0" noProof="0" dirty="0">
              <a:ln>
                <a:noFill/>
              </a:ln>
              <a:solidFill>
                <a:srgbClr val="575757"/>
              </a:solidFill>
              <a:effectLst/>
              <a:uLnTx/>
              <a:uFillTx/>
              <a:latin typeface="Verdana" panose="020B0604030504040204" pitchFamily="34" charset="0"/>
              <a:ea typeface="Verdana" panose="020B0604030504040204" pitchFamily="34" charset="0"/>
            </a:endParaRPr>
          </a:p>
        </p:txBody>
      </p:sp>
      <p:sp>
        <p:nvSpPr>
          <p:cNvPr id="15" name="Rectangle 14">
            <a:extLst>
              <a:ext uri="{FF2B5EF4-FFF2-40B4-BE49-F238E27FC236}">
                <a16:creationId xmlns:a16="http://schemas.microsoft.com/office/drawing/2014/main" id="{45DD6495-D8B3-A3B3-911F-8D274521E66C}"/>
              </a:ext>
            </a:extLst>
          </p:cNvPr>
          <p:cNvSpPr/>
          <p:nvPr/>
        </p:nvSpPr>
        <p:spPr>
          <a:xfrm>
            <a:off x="388710" y="766124"/>
            <a:ext cx="3649578" cy="457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latin typeface="Verdana" panose="020B0604030504040204" pitchFamily="34" charset="0"/>
              <a:ea typeface="Verdana" panose="020B0604030504040204" pitchFamily="34" charset="0"/>
            </a:endParaRPr>
          </a:p>
        </p:txBody>
      </p:sp>
      <p:sp>
        <p:nvSpPr>
          <p:cNvPr id="16" name="Rectangle: Rounded Corners 15">
            <a:extLst>
              <a:ext uri="{FF2B5EF4-FFF2-40B4-BE49-F238E27FC236}">
                <a16:creationId xmlns:a16="http://schemas.microsoft.com/office/drawing/2014/main" id="{4367E4FA-D920-9F04-8DA3-1FE41804D558}"/>
              </a:ext>
            </a:extLst>
          </p:cNvPr>
          <p:cNvSpPr/>
          <p:nvPr/>
        </p:nvSpPr>
        <p:spPr>
          <a:xfrm>
            <a:off x="388710" y="1060404"/>
            <a:ext cx="3649578" cy="2438544"/>
          </a:xfrm>
          <a:prstGeom prst="roundRect">
            <a:avLst>
              <a:gd name="adj" fmla="val 61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latin typeface="Verdana" panose="020B0604030504040204" pitchFamily="34" charset="0"/>
              <a:ea typeface="Verdana" panose="020B0604030504040204" pitchFamily="34" charset="0"/>
            </a:endParaRPr>
          </a:p>
        </p:txBody>
      </p:sp>
      <p:sp>
        <p:nvSpPr>
          <p:cNvPr id="17" name="Rectangle 16">
            <a:extLst>
              <a:ext uri="{FF2B5EF4-FFF2-40B4-BE49-F238E27FC236}">
                <a16:creationId xmlns:a16="http://schemas.microsoft.com/office/drawing/2014/main" id="{417CA935-3A8A-D832-6C5C-99337B1FF562}"/>
              </a:ext>
            </a:extLst>
          </p:cNvPr>
          <p:cNvSpPr/>
          <p:nvPr/>
        </p:nvSpPr>
        <p:spPr>
          <a:xfrm>
            <a:off x="903333" y="848530"/>
            <a:ext cx="2884123" cy="253916"/>
          </a:xfrm>
          <a:prstGeom prst="rect">
            <a:avLst/>
          </a:prstGeom>
        </p:spPr>
        <p:txBody>
          <a:bodyPr wrap="none">
            <a:spAutoFit/>
          </a:bodyPr>
          <a:lstStyle/>
          <a:p>
            <a:r>
              <a:rPr lang="en-US" sz="1050" b="1" dirty="0">
                <a:solidFill>
                  <a:schemeClr val="bg1"/>
                </a:solidFill>
                <a:latin typeface="Verdana" panose="020B0604030504040204" pitchFamily="34" charset="0"/>
                <a:ea typeface="Verdana" panose="020B0604030504040204" pitchFamily="34" charset="0"/>
              </a:rPr>
              <a:t>Statutory  / Regulatory Compliance</a:t>
            </a:r>
            <a:endParaRPr lang="en-US" sz="1050" dirty="0">
              <a:solidFill>
                <a:schemeClr val="bg1"/>
              </a:solidFill>
              <a:latin typeface="Verdana" panose="020B0604030504040204" pitchFamily="34" charset="0"/>
              <a:ea typeface="Verdana" panose="020B0604030504040204" pitchFamily="34" charset="0"/>
            </a:endParaRPr>
          </a:p>
        </p:txBody>
      </p:sp>
      <p:sp>
        <p:nvSpPr>
          <p:cNvPr id="18" name="Rectangle 17">
            <a:extLst>
              <a:ext uri="{FF2B5EF4-FFF2-40B4-BE49-F238E27FC236}">
                <a16:creationId xmlns:a16="http://schemas.microsoft.com/office/drawing/2014/main" id="{40ED2C7A-5920-1E38-2CAA-780CB3638266}"/>
              </a:ext>
            </a:extLst>
          </p:cNvPr>
          <p:cNvSpPr/>
          <p:nvPr/>
        </p:nvSpPr>
        <p:spPr>
          <a:xfrm>
            <a:off x="351692" y="1282361"/>
            <a:ext cx="3640922" cy="2192908"/>
          </a:xfrm>
          <a:prstGeom prst="rect">
            <a:avLst/>
          </a:prstGeom>
          <a:noFill/>
          <a:ln>
            <a:noFill/>
          </a:ln>
        </p:spPr>
        <p:txBody>
          <a:bodyPr wrap="square" rIns="0">
            <a:spAutoFit/>
          </a:bodyPr>
          <a:lstStyle/>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Understand legal / statutory requirements</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Liaise with regulators</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Liaise with internal and external auditors on approach and coverage</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Identify data gaps in the asset database</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Understand current IT systems, asset management policies and procedures</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Identify non-compliance on asset register practices</a:t>
            </a:r>
          </a:p>
          <a:p>
            <a:pPr lvl="0">
              <a:defRPr/>
            </a:pPr>
            <a:endParaRPr lang="en-US" sz="1050" dirty="0">
              <a:latin typeface="Verdana" panose="020B0604030504040204" pitchFamily="34" charset="0"/>
              <a:ea typeface="Verdana" panose="020B0604030504040204" pitchFamily="34" charset="0"/>
            </a:endParaRP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Financial and management reporting </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Tax compliance reporting </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 Regulatory reporting</a:t>
            </a:r>
          </a:p>
        </p:txBody>
      </p:sp>
      <p:sp>
        <p:nvSpPr>
          <p:cNvPr id="19" name="Rectangle 18">
            <a:extLst>
              <a:ext uri="{FF2B5EF4-FFF2-40B4-BE49-F238E27FC236}">
                <a16:creationId xmlns:a16="http://schemas.microsoft.com/office/drawing/2014/main" id="{8D79D15A-1C9D-0262-0265-59D44B0C9411}"/>
              </a:ext>
            </a:extLst>
          </p:cNvPr>
          <p:cNvSpPr/>
          <p:nvPr/>
        </p:nvSpPr>
        <p:spPr>
          <a:xfrm>
            <a:off x="403391" y="3621805"/>
            <a:ext cx="3649577"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latin typeface="Verdana" panose="020B0604030504040204" pitchFamily="34" charset="0"/>
              <a:ea typeface="Verdana" panose="020B0604030504040204" pitchFamily="34" charset="0"/>
            </a:endParaRPr>
          </a:p>
        </p:txBody>
      </p:sp>
      <p:sp>
        <p:nvSpPr>
          <p:cNvPr id="20" name="Rectangle: Rounded Corners 19">
            <a:extLst>
              <a:ext uri="{FF2B5EF4-FFF2-40B4-BE49-F238E27FC236}">
                <a16:creationId xmlns:a16="http://schemas.microsoft.com/office/drawing/2014/main" id="{D957ECF3-7C47-82C1-3611-6BA13D1BF951}"/>
              </a:ext>
            </a:extLst>
          </p:cNvPr>
          <p:cNvSpPr/>
          <p:nvPr/>
        </p:nvSpPr>
        <p:spPr>
          <a:xfrm>
            <a:off x="388711" y="3918628"/>
            <a:ext cx="3649577" cy="2438544"/>
          </a:xfrm>
          <a:prstGeom prst="roundRect">
            <a:avLst>
              <a:gd name="adj" fmla="val 61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latin typeface="Verdana" panose="020B0604030504040204" pitchFamily="34" charset="0"/>
              <a:ea typeface="Verdana" panose="020B0604030504040204" pitchFamily="34" charset="0"/>
            </a:endParaRPr>
          </a:p>
        </p:txBody>
      </p:sp>
      <p:sp>
        <p:nvSpPr>
          <p:cNvPr id="21" name="Rectangle 20">
            <a:extLst>
              <a:ext uri="{FF2B5EF4-FFF2-40B4-BE49-F238E27FC236}">
                <a16:creationId xmlns:a16="http://schemas.microsoft.com/office/drawing/2014/main" id="{19E59534-78EF-2792-B9A0-1BF95167BF32}"/>
              </a:ext>
            </a:extLst>
          </p:cNvPr>
          <p:cNvSpPr/>
          <p:nvPr/>
        </p:nvSpPr>
        <p:spPr>
          <a:xfrm>
            <a:off x="388709" y="3704211"/>
            <a:ext cx="3678940" cy="415498"/>
          </a:xfrm>
          <a:prstGeom prst="rect">
            <a:avLst/>
          </a:prstGeom>
        </p:spPr>
        <p:txBody>
          <a:bodyPr wrap="square">
            <a:spAutoFit/>
          </a:bodyPr>
          <a:lstStyle/>
          <a:p>
            <a:r>
              <a:rPr lang="en-US" sz="1050" b="1" dirty="0">
                <a:solidFill>
                  <a:schemeClr val="bg1"/>
                </a:solidFill>
                <a:latin typeface="Verdana" panose="020B0604030504040204" pitchFamily="34" charset="0"/>
                <a:ea typeface="Verdana" panose="020B0604030504040204" pitchFamily="34" charset="0"/>
              </a:rPr>
              <a:t>Physical verification and Asset register compilation</a:t>
            </a:r>
          </a:p>
        </p:txBody>
      </p:sp>
      <p:sp>
        <p:nvSpPr>
          <p:cNvPr id="22" name="Rectangle 21">
            <a:extLst>
              <a:ext uri="{FF2B5EF4-FFF2-40B4-BE49-F238E27FC236}">
                <a16:creationId xmlns:a16="http://schemas.microsoft.com/office/drawing/2014/main" id="{5386BE7D-4A00-EF06-3359-C7388C2CAED5}"/>
              </a:ext>
            </a:extLst>
          </p:cNvPr>
          <p:cNvSpPr/>
          <p:nvPr/>
        </p:nvSpPr>
        <p:spPr>
          <a:xfrm>
            <a:off x="351693" y="4140588"/>
            <a:ext cx="3640920" cy="1546577"/>
          </a:xfrm>
          <a:prstGeom prst="rect">
            <a:avLst/>
          </a:prstGeom>
          <a:noFill/>
          <a:ln>
            <a:noFill/>
          </a:ln>
        </p:spPr>
        <p:txBody>
          <a:bodyPr wrap="square" rIns="0">
            <a:spAutoFit/>
          </a:bodyPr>
          <a:lstStyle/>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Develop a physical verification plan</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Program manage asset verification</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Capture asset details during verification</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Automatic schematic representation of network</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Document key findings / discrepancies</a:t>
            </a:r>
          </a:p>
          <a:p>
            <a:pPr lvl="0">
              <a:defRPr/>
            </a:pPr>
            <a:endParaRPr lang="en-US" sz="1050" dirty="0">
              <a:latin typeface="Verdana" panose="020B0604030504040204" pitchFamily="34" charset="0"/>
              <a:ea typeface="Verdana" panose="020B0604030504040204" pitchFamily="34" charset="0"/>
            </a:endParaRP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Operations - Asset management life cycle </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Finance and Management Reporting</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Accounting - asset management life cycle</a:t>
            </a:r>
          </a:p>
        </p:txBody>
      </p:sp>
      <p:sp>
        <p:nvSpPr>
          <p:cNvPr id="23" name="Rectangle: Rounded Corners 22">
            <a:extLst>
              <a:ext uri="{FF2B5EF4-FFF2-40B4-BE49-F238E27FC236}">
                <a16:creationId xmlns:a16="http://schemas.microsoft.com/office/drawing/2014/main" id="{694F97FB-A7E7-CEE9-3DC6-CD163F156A0A}"/>
              </a:ext>
            </a:extLst>
          </p:cNvPr>
          <p:cNvSpPr/>
          <p:nvPr/>
        </p:nvSpPr>
        <p:spPr>
          <a:xfrm>
            <a:off x="8097266" y="1073005"/>
            <a:ext cx="3649578" cy="2438544"/>
          </a:xfrm>
          <a:prstGeom prst="roundRect">
            <a:avLst>
              <a:gd name="adj" fmla="val 61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latin typeface="Verdana" panose="020B0604030504040204" pitchFamily="34" charset="0"/>
              <a:ea typeface="Verdana" panose="020B0604030504040204" pitchFamily="34" charset="0"/>
            </a:endParaRPr>
          </a:p>
        </p:txBody>
      </p:sp>
      <p:sp>
        <p:nvSpPr>
          <p:cNvPr id="24" name="Rectangle 23">
            <a:extLst>
              <a:ext uri="{FF2B5EF4-FFF2-40B4-BE49-F238E27FC236}">
                <a16:creationId xmlns:a16="http://schemas.microsoft.com/office/drawing/2014/main" id="{DC691855-B124-51EB-0130-C08611C8ECF8}"/>
              </a:ext>
            </a:extLst>
          </p:cNvPr>
          <p:cNvSpPr/>
          <p:nvPr/>
        </p:nvSpPr>
        <p:spPr>
          <a:xfrm>
            <a:off x="8074002" y="766124"/>
            <a:ext cx="3649578" cy="4572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latin typeface="Verdana" panose="020B0604030504040204" pitchFamily="34" charset="0"/>
              <a:ea typeface="Verdana" panose="020B0604030504040204" pitchFamily="34" charset="0"/>
            </a:endParaRPr>
          </a:p>
        </p:txBody>
      </p:sp>
      <p:sp>
        <p:nvSpPr>
          <p:cNvPr id="25" name="Rectangle 24">
            <a:extLst>
              <a:ext uri="{FF2B5EF4-FFF2-40B4-BE49-F238E27FC236}">
                <a16:creationId xmlns:a16="http://schemas.microsoft.com/office/drawing/2014/main" id="{3B49664B-97FB-7B66-83D1-0034605688A5}"/>
              </a:ext>
            </a:extLst>
          </p:cNvPr>
          <p:cNvSpPr/>
          <p:nvPr/>
        </p:nvSpPr>
        <p:spPr>
          <a:xfrm>
            <a:off x="8733632" y="848530"/>
            <a:ext cx="2627642" cy="253916"/>
          </a:xfrm>
          <a:prstGeom prst="rect">
            <a:avLst/>
          </a:prstGeom>
        </p:spPr>
        <p:txBody>
          <a:bodyPr wrap="none">
            <a:spAutoFit/>
          </a:bodyPr>
          <a:lstStyle/>
          <a:p>
            <a:r>
              <a:rPr lang="en-US" sz="1050" b="1" dirty="0">
                <a:solidFill>
                  <a:schemeClr val="bg1"/>
                </a:solidFill>
                <a:latin typeface="Verdana" panose="020B0604030504040204" pitchFamily="34" charset="0"/>
                <a:ea typeface="Verdana" panose="020B0604030504040204" pitchFamily="34" charset="0"/>
              </a:rPr>
              <a:t>IT Solution / Integration design</a:t>
            </a:r>
          </a:p>
        </p:txBody>
      </p:sp>
      <p:sp>
        <p:nvSpPr>
          <p:cNvPr id="26" name="Rectangle 25">
            <a:extLst>
              <a:ext uri="{FF2B5EF4-FFF2-40B4-BE49-F238E27FC236}">
                <a16:creationId xmlns:a16="http://schemas.microsoft.com/office/drawing/2014/main" id="{B9559575-4B6C-1F1E-72CE-D02D66CF282C}"/>
              </a:ext>
            </a:extLst>
          </p:cNvPr>
          <p:cNvSpPr/>
          <p:nvPr/>
        </p:nvSpPr>
        <p:spPr>
          <a:xfrm>
            <a:off x="8060248" y="1294962"/>
            <a:ext cx="3640922" cy="2031325"/>
          </a:xfrm>
          <a:prstGeom prst="rect">
            <a:avLst/>
          </a:prstGeom>
          <a:noFill/>
          <a:ln>
            <a:noFill/>
          </a:ln>
        </p:spPr>
        <p:txBody>
          <a:bodyPr wrap="square" rIns="0">
            <a:spAutoFit/>
          </a:bodyPr>
          <a:lstStyle/>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Develop methodology / roadmap for the IT integration between ERP Accounting software and Asset Management Solution</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Suggest best possible asset management solution and its implementation roadmap</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Develop asset codification structure </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Develop logic for functional integration with accounting system fixed asset register </a:t>
            </a:r>
          </a:p>
          <a:p>
            <a:pPr lvl="0">
              <a:defRPr/>
            </a:pPr>
            <a:endParaRPr lang="en-US" sz="1050" dirty="0">
              <a:latin typeface="Verdana" panose="020B0604030504040204" pitchFamily="34" charset="0"/>
              <a:ea typeface="Verdana" panose="020B0604030504040204" pitchFamily="34" charset="0"/>
            </a:endParaRP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Operations - Asset Management life cycle </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Accounting asset management life cycle</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ERP / IT Implementation</a:t>
            </a:r>
          </a:p>
        </p:txBody>
      </p:sp>
      <p:sp>
        <p:nvSpPr>
          <p:cNvPr id="27" name="Rectangle 26">
            <a:extLst>
              <a:ext uri="{FF2B5EF4-FFF2-40B4-BE49-F238E27FC236}">
                <a16:creationId xmlns:a16="http://schemas.microsoft.com/office/drawing/2014/main" id="{7450953F-315A-C14D-4B54-45664B317C8B}"/>
              </a:ext>
            </a:extLst>
          </p:cNvPr>
          <p:cNvSpPr/>
          <p:nvPr/>
        </p:nvSpPr>
        <p:spPr>
          <a:xfrm>
            <a:off x="4231356" y="766124"/>
            <a:ext cx="3649578" cy="4572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latin typeface="Verdana" panose="020B0604030504040204" pitchFamily="34" charset="0"/>
              <a:ea typeface="Verdana" panose="020B0604030504040204" pitchFamily="34" charset="0"/>
            </a:endParaRPr>
          </a:p>
        </p:txBody>
      </p:sp>
      <p:sp>
        <p:nvSpPr>
          <p:cNvPr id="28" name="Rectangle: Rounded Corners 27">
            <a:extLst>
              <a:ext uri="{FF2B5EF4-FFF2-40B4-BE49-F238E27FC236}">
                <a16:creationId xmlns:a16="http://schemas.microsoft.com/office/drawing/2014/main" id="{5454FDEC-1786-55C4-1AA1-B96EF44B47EA}"/>
              </a:ext>
            </a:extLst>
          </p:cNvPr>
          <p:cNvSpPr/>
          <p:nvPr/>
        </p:nvSpPr>
        <p:spPr>
          <a:xfrm>
            <a:off x="4242988" y="1057989"/>
            <a:ext cx="3649578" cy="2438544"/>
          </a:xfrm>
          <a:prstGeom prst="roundRect">
            <a:avLst>
              <a:gd name="adj" fmla="val 61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latin typeface="Verdana" panose="020B0604030504040204" pitchFamily="34" charset="0"/>
              <a:ea typeface="Verdana" panose="020B0604030504040204" pitchFamily="34" charset="0"/>
            </a:endParaRPr>
          </a:p>
        </p:txBody>
      </p:sp>
      <p:sp>
        <p:nvSpPr>
          <p:cNvPr id="29" name="Rectangle 28">
            <a:extLst>
              <a:ext uri="{FF2B5EF4-FFF2-40B4-BE49-F238E27FC236}">
                <a16:creationId xmlns:a16="http://schemas.microsoft.com/office/drawing/2014/main" id="{182CF8AF-2384-B882-3C84-12FD154D5F78}"/>
              </a:ext>
            </a:extLst>
          </p:cNvPr>
          <p:cNvSpPr/>
          <p:nvPr/>
        </p:nvSpPr>
        <p:spPr>
          <a:xfrm>
            <a:off x="4447086" y="793763"/>
            <a:ext cx="3160865" cy="415498"/>
          </a:xfrm>
          <a:prstGeom prst="rect">
            <a:avLst/>
          </a:prstGeom>
        </p:spPr>
        <p:txBody>
          <a:bodyPr wrap="square">
            <a:spAutoFit/>
          </a:bodyPr>
          <a:lstStyle/>
          <a:p>
            <a:r>
              <a:rPr lang="en-US" sz="1050" b="1" dirty="0">
                <a:solidFill>
                  <a:schemeClr val="bg1"/>
                </a:solidFill>
                <a:latin typeface="Verdana" panose="020B0604030504040204" pitchFamily="34" charset="0"/>
                <a:ea typeface="Verdana" panose="020B0604030504040204" pitchFamily="34" charset="0"/>
              </a:rPr>
              <a:t>Asset Management policies and processes</a:t>
            </a:r>
          </a:p>
        </p:txBody>
      </p:sp>
      <p:sp>
        <p:nvSpPr>
          <p:cNvPr id="31" name="Rectangle 30">
            <a:extLst>
              <a:ext uri="{FF2B5EF4-FFF2-40B4-BE49-F238E27FC236}">
                <a16:creationId xmlns:a16="http://schemas.microsoft.com/office/drawing/2014/main" id="{7A9E40FA-982F-374E-AD33-647D2F1B031B}"/>
              </a:ext>
            </a:extLst>
          </p:cNvPr>
          <p:cNvSpPr/>
          <p:nvPr/>
        </p:nvSpPr>
        <p:spPr>
          <a:xfrm>
            <a:off x="4205970" y="1295996"/>
            <a:ext cx="3640922" cy="2031325"/>
          </a:xfrm>
          <a:prstGeom prst="rect">
            <a:avLst/>
          </a:prstGeom>
          <a:noFill/>
          <a:ln>
            <a:noFill/>
          </a:ln>
        </p:spPr>
        <p:txBody>
          <a:bodyPr wrap="square" rIns="0">
            <a:spAutoFit/>
          </a:bodyPr>
          <a:lstStyle/>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Identify accounting policy requirements</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Identify asset related movements / events and control requirements </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Revise the existing / design new policies keeping in mind O&amp;M requirements</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Develop standard operating processes for asset related transactions </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Develop delegation of authority and RACI matrix</a:t>
            </a:r>
          </a:p>
          <a:p>
            <a:pPr lvl="0">
              <a:defRPr/>
            </a:pPr>
            <a:endParaRPr lang="en-US" sz="1050" dirty="0">
              <a:latin typeface="Verdana" panose="020B0604030504040204" pitchFamily="34" charset="0"/>
              <a:ea typeface="Verdana" panose="020B0604030504040204" pitchFamily="34" charset="0"/>
            </a:endParaRP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Accounting asset management life cycle</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Operations - Asset management life cycle</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IT/ERP Implementation</a:t>
            </a:r>
          </a:p>
        </p:txBody>
      </p:sp>
      <p:sp>
        <p:nvSpPr>
          <p:cNvPr id="32" name="Rectangle 31">
            <a:extLst>
              <a:ext uri="{FF2B5EF4-FFF2-40B4-BE49-F238E27FC236}">
                <a16:creationId xmlns:a16="http://schemas.microsoft.com/office/drawing/2014/main" id="{BBAF83F5-4615-BE1F-3608-2177BD581732}"/>
              </a:ext>
            </a:extLst>
          </p:cNvPr>
          <p:cNvSpPr/>
          <p:nvPr/>
        </p:nvSpPr>
        <p:spPr>
          <a:xfrm>
            <a:off x="4231356" y="3621805"/>
            <a:ext cx="3649577" cy="4572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latin typeface="Verdana" panose="020B0604030504040204" pitchFamily="34" charset="0"/>
              <a:ea typeface="Verdana" panose="020B0604030504040204" pitchFamily="34" charset="0"/>
            </a:endParaRPr>
          </a:p>
        </p:txBody>
      </p:sp>
      <p:sp>
        <p:nvSpPr>
          <p:cNvPr id="33" name="Rectangle: Rounded Corners 32">
            <a:extLst>
              <a:ext uri="{FF2B5EF4-FFF2-40B4-BE49-F238E27FC236}">
                <a16:creationId xmlns:a16="http://schemas.microsoft.com/office/drawing/2014/main" id="{B1F44DCC-3330-1C79-54FF-A9B438E13B3C}"/>
              </a:ext>
            </a:extLst>
          </p:cNvPr>
          <p:cNvSpPr/>
          <p:nvPr/>
        </p:nvSpPr>
        <p:spPr>
          <a:xfrm>
            <a:off x="4242990" y="3918531"/>
            <a:ext cx="3649577" cy="2438544"/>
          </a:xfrm>
          <a:prstGeom prst="roundRect">
            <a:avLst>
              <a:gd name="adj" fmla="val 61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Verdana" panose="020B0604030504040204" pitchFamily="34" charset="0"/>
              <a:ea typeface="Verdana" panose="020B0604030504040204" pitchFamily="34" charset="0"/>
            </a:endParaRPr>
          </a:p>
        </p:txBody>
      </p:sp>
      <p:sp>
        <p:nvSpPr>
          <p:cNvPr id="34" name="Rectangle 33">
            <a:extLst>
              <a:ext uri="{FF2B5EF4-FFF2-40B4-BE49-F238E27FC236}">
                <a16:creationId xmlns:a16="http://schemas.microsoft.com/office/drawing/2014/main" id="{B4140463-E123-74FF-E707-57E2727AA577}"/>
              </a:ext>
            </a:extLst>
          </p:cNvPr>
          <p:cNvSpPr/>
          <p:nvPr/>
        </p:nvSpPr>
        <p:spPr>
          <a:xfrm>
            <a:off x="4960652" y="3704211"/>
            <a:ext cx="2385589" cy="253916"/>
          </a:xfrm>
          <a:prstGeom prst="rect">
            <a:avLst/>
          </a:prstGeom>
        </p:spPr>
        <p:txBody>
          <a:bodyPr wrap="none">
            <a:spAutoFit/>
          </a:bodyPr>
          <a:lstStyle/>
          <a:p>
            <a:r>
              <a:rPr lang="en-US" sz="1050" b="1" dirty="0">
                <a:solidFill>
                  <a:schemeClr val="bg1"/>
                </a:solidFill>
                <a:latin typeface="Verdana" panose="020B0604030504040204" pitchFamily="34" charset="0"/>
                <a:ea typeface="Verdana" panose="020B0604030504040204" pitchFamily="34" charset="0"/>
              </a:rPr>
              <a:t>Historical cost determination</a:t>
            </a:r>
          </a:p>
        </p:txBody>
      </p:sp>
      <p:sp>
        <p:nvSpPr>
          <p:cNvPr id="36" name="Rectangle 35">
            <a:extLst>
              <a:ext uri="{FF2B5EF4-FFF2-40B4-BE49-F238E27FC236}">
                <a16:creationId xmlns:a16="http://schemas.microsoft.com/office/drawing/2014/main" id="{E94E4C81-E8C4-9519-F55A-4EF7FC8AD1BE}"/>
              </a:ext>
            </a:extLst>
          </p:cNvPr>
          <p:cNvSpPr/>
          <p:nvPr/>
        </p:nvSpPr>
        <p:spPr>
          <a:xfrm>
            <a:off x="4205972" y="4140491"/>
            <a:ext cx="3640920" cy="2192908"/>
          </a:xfrm>
          <a:prstGeom prst="rect">
            <a:avLst/>
          </a:prstGeom>
          <a:noFill/>
          <a:ln>
            <a:noFill/>
          </a:ln>
        </p:spPr>
        <p:txBody>
          <a:bodyPr wrap="square" rIns="0">
            <a:spAutoFit/>
          </a:bodyPr>
          <a:lstStyle/>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Populate &amp; document sources of asset cost data</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Develop concept note on fixed asset historical cost determination for each asset class.</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Obtain acceptability of the historical cost approach from all stakeholders</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Carry out high level due diligence on usage rights / liabilities attached to assets</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Advise on external valuation if required</a:t>
            </a:r>
          </a:p>
          <a:p>
            <a:pPr lvl="0">
              <a:defRPr/>
            </a:pPr>
            <a:endParaRPr lang="en-US" sz="1050" dirty="0">
              <a:latin typeface="Verdana" panose="020B0604030504040204" pitchFamily="34" charset="0"/>
              <a:ea typeface="Verdana" panose="020B0604030504040204" pitchFamily="34" charset="0"/>
            </a:endParaRP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Accounting asset management life cycle</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Financial &amp; Management reporting</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Regulatory reporting</a:t>
            </a:r>
          </a:p>
          <a:p>
            <a:pPr lvl="0">
              <a:defRPr/>
            </a:pPr>
            <a:endParaRPr lang="en-US" sz="1050" b="1" dirty="0">
              <a:latin typeface="Verdana" panose="020B0604030504040204" pitchFamily="34" charset="0"/>
              <a:ea typeface="Verdana" panose="020B0604030504040204" pitchFamily="34" charset="0"/>
            </a:endParaRPr>
          </a:p>
        </p:txBody>
      </p:sp>
      <p:sp>
        <p:nvSpPr>
          <p:cNvPr id="37" name="Rectangle 36">
            <a:extLst>
              <a:ext uri="{FF2B5EF4-FFF2-40B4-BE49-F238E27FC236}">
                <a16:creationId xmlns:a16="http://schemas.microsoft.com/office/drawing/2014/main" id="{DAFF2959-106C-18F9-214C-199B325821EE}"/>
              </a:ext>
            </a:extLst>
          </p:cNvPr>
          <p:cNvSpPr/>
          <p:nvPr/>
        </p:nvSpPr>
        <p:spPr>
          <a:xfrm>
            <a:off x="8074002" y="3621805"/>
            <a:ext cx="3649577" cy="4572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latin typeface="Verdana" panose="020B0604030504040204" pitchFamily="34" charset="0"/>
              <a:ea typeface="Verdana" panose="020B0604030504040204" pitchFamily="34" charset="0"/>
            </a:endParaRPr>
          </a:p>
        </p:txBody>
      </p:sp>
      <p:sp>
        <p:nvSpPr>
          <p:cNvPr id="38" name="Rectangle: Rounded Corners 37">
            <a:extLst>
              <a:ext uri="{FF2B5EF4-FFF2-40B4-BE49-F238E27FC236}">
                <a16:creationId xmlns:a16="http://schemas.microsoft.com/office/drawing/2014/main" id="{2A55AFA5-5A1D-21BE-39B4-0A5BD1F4B53B}"/>
              </a:ext>
            </a:extLst>
          </p:cNvPr>
          <p:cNvSpPr/>
          <p:nvPr/>
        </p:nvSpPr>
        <p:spPr>
          <a:xfrm>
            <a:off x="8074002" y="3916084"/>
            <a:ext cx="3649577" cy="2438544"/>
          </a:xfrm>
          <a:prstGeom prst="roundRect">
            <a:avLst>
              <a:gd name="adj" fmla="val 61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latin typeface="Verdana" panose="020B0604030504040204" pitchFamily="34" charset="0"/>
              <a:ea typeface="Verdana" panose="020B0604030504040204" pitchFamily="34" charset="0"/>
            </a:endParaRPr>
          </a:p>
        </p:txBody>
      </p:sp>
      <p:sp>
        <p:nvSpPr>
          <p:cNvPr id="39" name="Rectangle 38">
            <a:extLst>
              <a:ext uri="{FF2B5EF4-FFF2-40B4-BE49-F238E27FC236}">
                <a16:creationId xmlns:a16="http://schemas.microsoft.com/office/drawing/2014/main" id="{5688476D-233E-5582-DC40-1EC87BF168F6}"/>
              </a:ext>
            </a:extLst>
          </p:cNvPr>
          <p:cNvSpPr/>
          <p:nvPr/>
        </p:nvSpPr>
        <p:spPr>
          <a:xfrm>
            <a:off x="8532230" y="3704211"/>
            <a:ext cx="2986715" cy="253916"/>
          </a:xfrm>
          <a:prstGeom prst="rect">
            <a:avLst/>
          </a:prstGeom>
        </p:spPr>
        <p:txBody>
          <a:bodyPr wrap="none">
            <a:spAutoFit/>
          </a:bodyPr>
          <a:lstStyle/>
          <a:p>
            <a:r>
              <a:rPr lang="en-US" sz="1050" b="1" dirty="0">
                <a:solidFill>
                  <a:schemeClr val="bg1"/>
                </a:solidFill>
                <a:latin typeface="Verdana" panose="020B0604030504040204" pitchFamily="34" charset="0"/>
                <a:ea typeface="Verdana" panose="020B0604030504040204" pitchFamily="34" charset="0"/>
              </a:rPr>
              <a:t>Bid advisory / Program Management</a:t>
            </a:r>
          </a:p>
        </p:txBody>
      </p:sp>
      <p:sp>
        <p:nvSpPr>
          <p:cNvPr id="40" name="Rectangle 39">
            <a:extLst>
              <a:ext uri="{FF2B5EF4-FFF2-40B4-BE49-F238E27FC236}">
                <a16:creationId xmlns:a16="http://schemas.microsoft.com/office/drawing/2014/main" id="{7095F068-1FA0-C871-FA45-2D564B6BF998}"/>
              </a:ext>
            </a:extLst>
          </p:cNvPr>
          <p:cNvSpPr/>
          <p:nvPr/>
        </p:nvSpPr>
        <p:spPr>
          <a:xfrm>
            <a:off x="8060250" y="4138044"/>
            <a:ext cx="3640920" cy="2354491"/>
          </a:xfrm>
          <a:prstGeom prst="rect">
            <a:avLst/>
          </a:prstGeom>
          <a:noFill/>
          <a:ln>
            <a:noFill/>
          </a:ln>
        </p:spPr>
        <p:txBody>
          <a:bodyPr wrap="square" rIns="0">
            <a:spAutoFit/>
          </a:bodyPr>
          <a:lstStyle/>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Scoping exercise for selection of IT solution </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Development of RFP</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Assistance in bid evaluation </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Evaluation of the solution and service provider </a:t>
            </a:r>
          </a:p>
          <a:p>
            <a:pPr marL="171450" lvl="0"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Program Management of the actual implementation</a:t>
            </a:r>
          </a:p>
          <a:p>
            <a:pPr marL="628650" lvl="1"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Ensure implementation benefits</a:t>
            </a:r>
          </a:p>
          <a:p>
            <a:pPr marL="628650" lvl="1"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Help manage huge data migration</a:t>
            </a:r>
          </a:p>
          <a:p>
            <a:pPr marL="628650" lvl="1" indent="-171450">
              <a:buFont typeface="Arial" panose="020B0604020202020204" pitchFamily="34" charset="0"/>
              <a:buChar char="•"/>
              <a:defRPr/>
            </a:pPr>
            <a:r>
              <a:rPr lang="en-US" sz="1050" dirty="0">
                <a:latin typeface="Verdana" panose="020B0604030504040204" pitchFamily="34" charset="0"/>
                <a:ea typeface="Verdana" panose="020B0604030504040204" pitchFamily="34" charset="0"/>
              </a:rPr>
              <a:t>Assist in integration</a:t>
            </a:r>
          </a:p>
          <a:p>
            <a:pPr lvl="0">
              <a:defRPr/>
            </a:pPr>
            <a:endParaRPr lang="en-US" sz="1050" dirty="0">
              <a:latin typeface="Verdana" panose="020B0604030504040204" pitchFamily="34" charset="0"/>
              <a:ea typeface="Verdana" panose="020B0604030504040204" pitchFamily="34" charset="0"/>
            </a:endParaRP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Operations - Asset Management life cycle</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 Accounting asset management life cycle</a:t>
            </a:r>
          </a:p>
          <a:p>
            <a:pPr marL="228600" lvl="0" indent="-228600">
              <a:buFont typeface="+mj-lt"/>
              <a:buAutoNum type="alphaUcPeriod"/>
              <a:defRPr/>
            </a:pPr>
            <a:r>
              <a:rPr lang="en-US" sz="1050" b="1" dirty="0">
                <a:latin typeface="Verdana" panose="020B0604030504040204" pitchFamily="34" charset="0"/>
                <a:ea typeface="Verdana" panose="020B0604030504040204" pitchFamily="34" charset="0"/>
              </a:rPr>
              <a:t> ERP / IT Implementation</a:t>
            </a:r>
          </a:p>
          <a:p>
            <a:pPr lvl="0">
              <a:defRPr/>
            </a:pPr>
            <a:endParaRPr lang="en-US" sz="105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9078602"/>
      </p:ext>
    </p:extLst>
  </p:cSld>
  <p:clrMapOvr>
    <a:masterClrMapping/>
  </p:clrMapOvr>
  <p:transition>
    <p:fade/>
  </p:transition>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Object 36" hidden="1">
            <a:extLst>
              <a:ext uri="{FF2B5EF4-FFF2-40B4-BE49-F238E27FC236}">
                <a16:creationId xmlns:a16="http://schemas.microsoft.com/office/drawing/2014/main" id="{E8124B20-89CE-4E58-99B7-6AD3765DA98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37" name="Object 36" hidden="1">
                        <a:extLst>
                          <a:ext uri="{FF2B5EF4-FFF2-40B4-BE49-F238E27FC236}">
                            <a16:creationId xmlns:a16="http://schemas.microsoft.com/office/drawing/2014/main" id="{E8124B20-89CE-4E58-99B7-6AD3765DA9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3D2A0E5-5CD9-6C1E-A486-B4A4815F2CE5}"/>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a:extLst>
              <a:ext uri="{FF2B5EF4-FFF2-40B4-BE49-F238E27FC236}">
                <a16:creationId xmlns:a16="http://schemas.microsoft.com/office/drawing/2014/main" id="{5D49CA2B-1430-A99A-9C5E-4D834F74412E}"/>
              </a:ext>
            </a:extLst>
          </p:cNvPr>
          <p:cNvSpPr txBox="1">
            <a:spLocks/>
          </p:cNvSpPr>
          <p:nvPr/>
        </p:nvSpPr>
        <p:spPr>
          <a:xfrm>
            <a:off x="388854" y="5782057"/>
            <a:ext cx="9981459" cy="1075943"/>
          </a:xfrm>
          <a:prstGeom prst="rect">
            <a:avLst/>
          </a:prstGeom>
          <a:solidFill>
            <a:schemeClr val="tx1">
              <a:lumMod val="50000"/>
              <a:lumOff val="50000"/>
              <a:alpha val="0"/>
            </a:schemeClr>
          </a:solidFill>
        </p:spPr>
        <p:txBody>
          <a:bodyPr vert="horz" lIns="91440" tIns="91440" rIns="91440" bIns="9144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b="1" dirty="0">
                <a:solidFill>
                  <a:schemeClr val="bg1"/>
                </a:solidFill>
              </a:rPr>
              <a:t>Asset Register Tool</a:t>
            </a:r>
          </a:p>
        </p:txBody>
      </p:sp>
      <p:grpSp>
        <p:nvGrpSpPr>
          <p:cNvPr id="29" name="Group 28">
            <a:extLst>
              <a:ext uri="{FF2B5EF4-FFF2-40B4-BE49-F238E27FC236}">
                <a16:creationId xmlns:a16="http://schemas.microsoft.com/office/drawing/2014/main" id="{E2C7EB70-2DB3-2454-0B78-2CF58ABFE659}"/>
              </a:ext>
            </a:extLst>
          </p:cNvPr>
          <p:cNvGrpSpPr/>
          <p:nvPr/>
        </p:nvGrpSpPr>
        <p:grpSpPr>
          <a:xfrm>
            <a:off x="3677285" y="552741"/>
            <a:ext cx="4837430" cy="4838119"/>
            <a:chOff x="3901439" y="1234126"/>
            <a:chExt cx="4389123" cy="4389748"/>
          </a:xfrm>
        </p:grpSpPr>
        <p:sp>
          <p:nvSpPr>
            <p:cNvPr id="30" name="object 3">
              <a:extLst>
                <a:ext uri="{FF2B5EF4-FFF2-40B4-BE49-F238E27FC236}">
                  <a16:creationId xmlns:a16="http://schemas.microsoft.com/office/drawing/2014/main" id="{999D2D18-38DB-727D-5C49-22BC6D1D065D}"/>
                </a:ext>
              </a:extLst>
            </p:cNvPr>
            <p:cNvSpPr/>
            <p:nvPr/>
          </p:nvSpPr>
          <p:spPr>
            <a:xfrm>
              <a:off x="3901439" y="1234126"/>
              <a:ext cx="4389123" cy="4389748"/>
            </a:xfrm>
            <a:prstGeom prst="rect">
              <a:avLst/>
            </a:prstGeom>
            <a:blipFill>
              <a:blip r:embed="rId5" cstate="print"/>
              <a:stretch>
                <a:fillRect/>
              </a:stretch>
            </a:blip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33" name="object 4">
              <a:extLst>
                <a:ext uri="{FF2B5EF4-FFF2-40B4-BE49-F238E27FC236}">
                  <a16:creationId xmlns:a16="http://schemas.microsoft.com/office/drawing/2014/main" id="{2395AA84-C4C2-290D-5865-B7ADF3CFCF24}"/>
                </a:ext>
              </a:extLst>
            </p:cNvPr>
            <p:cNvSpPr/>
            <p:nvPr/>
          </p:nvSpPr>
          <p:spPr>
            <a:xfrm>
              <a:off x="5445978" y="4052885"/>
              <a:ext cx="687070" cy="261620"/>
            </a:xfrm>
            <a:custGeom>
              <a:avLst/>
              <a:gdLst/>
              <a:ahLst/>
              <a:cxnLst/>
              <a:rect l="l" t="t" r="r" b="b"/>
              <a:pathLst>
                <a:path w="687070" h="261620">
                  <a:moveTo>
                    <a:pt x="686701" y="261048"/>
                  </a:moveTo>
                  <a:lnTo>
                    <a:pt x="0" y="261048"/>
                  </a:lnTo>
                  <a:lnTo>
                    <a:pt x="0" y="0"/>
                  </a:lnTo>
                  <a:lnTo>
                    <a:pt x="686701" y="0"/>
                  </a:lnTo>
                  <a:lnTo>
                    <a:pt x="686701" y="261048"/>
                  </a:lnTo>
                  <a:close/>
                </a:path>
              </a:pathLst>
            </a:custGeom>
            <a:solidFill>
              <a:srgbClr val="00492B"/>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prstClr val="black"/>
                </a:solidFill>
                <a:effectLst/>
                <a:uLnTx/>
                <a:uFillTx/>
                <a:latin typeface="Verdana"/>
                <a:ea typeface="+mn-ea"/>
                <a:cs typeface="+mn-cs"/>
              </a:endParaRPr>
            </a:p>
          </p:txBody>
        </p:sp>
      </p:grpSp>
    </p:spTree>
    <p:extLst>
      <p:ext uri="{BB962C8B-B14F-4D97-AF65-F5344CB8AC3E}">
        <p14:creationId xmlns:p14="http://schemas.microsoft.com/office/powerpoint/2010/main" val="320629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F2A9BD6-1CFC-4112-930C-4B760867CCA9}"/>
              </a:ext>
            </a:extLst>
          </p:cNvPr>
          <p:cNvGraphicFramePr>
            <a:graphicFrameLocks noChangeAspect="1"/>
          </p:cNvGraphicFramePr>
          <p:nvPr>
            <p:custDataLst>
              <p:tags r:id="rId1"/>
            </p:custDataLst>
            <p:extLst>
              <p:ext uri="{D42A27DB-BD31-4B8C-83A1-F6EECF244321}">
                <p14:modId xmlns:p14="http://schemas.microsoft.com/office/powerpoint/2010/main" val="34432742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 name="Object 4" hidden="1">
                        <a:extLst>
                          <a:ext uri="{FF2B5EF4-FFF2-40B4-BE49-F238E27FC236}">
                            <a16:creationId xmlns:a16="http://schemas.microsoft.com/office/drawing/2014/main" id="{7F2A9BD6-1CFC-4112-930C-4B760867CC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5" name="Title 1">
            <a:extLst>
              <a:ext uri="{FF2B5EF4-FFF2-40B4-BE49-F238E27FC236}">
                <a16:creationId xmlns:a16="http://schemas.microsoft.com/office/drawing/2014/main" id="{27C139CD-742A-48CC-92AB-E1477014FAA3}"/>
              </a:ext>
            </a:extLst>
          </p:cNvPr>
          <p:cNvSpPr txBox="1">
            <a:spLocks/>
          </p:cNvSpPr>
          <p:nvPr/>
        </p:nvSpPr>
        <p:spPr>
          <a:xfrm>
            <a:off x="456426" y="267416"/>
            <a:ext cx="11188700" cy="309820"/>
          </a:xfrm>
          <a:prstGeom prst="rect">
            <a:avLst/>
          </a:prstGeom>
        </p:spPr>
        <p:txBody>
          <a:bodyPr vert="horz"/>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lvl="0">
              <a:defRPr/>
            </a:pPr>
            <a:r>
              <a:rPr lang="en-US" sz="1200" dirty="0">
                <a:latin typeface="Verdana" panose="020B0604030504040204" pitchFamily="34" charset="0"/>
                <a:ea typeface="Verdana" panose="020B0604030504040204" pitchFamily="34" charset="0"/>
                <a:cs typeface="+mj-cs"/>
              </a:rPr>
              <a:t>Asset Register Tool </a:t>
            </a:r>
            <a:r>
              <a:rPr lang="en-US" sz="1200" b="1" dirty="0">
                <a:latin typeface="Verdana" panose="020B0604030504040204" pitchFamily="34" charset="0"/>
                <a:ea typeface="Verdana" panose="020B0604030504040204" pitchFamily="34" charset="0"/>
                <a:cs typeface="+mj-cs"/>
              </a:rPr>
              <a:t>(INSITE)</a:t>
            </a:r>
            <a:b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br>
            <a:endParaRPr lang="en-US" sz="1200" dirty="0">
              <a:solidFill>
                <a:srgbClr val="575757"/>
              </a:solidFill>
              <a:latin typeface="Verdana" panose="020B0604030504040204" pitchFamily="34" charset="0"/>
              <a:ea typeface="Verdana" panose="020B0604030504040204" pitchFamily="34" charset="0"/>
              <a:cs typeface="+mn-cs"/>
            </a:endParaRPr>
          </a:p>
        </p:txBody>
      </p:sp>
      <p:sp>
        <p:nvSpPr>
          <p:cNvPr id="2" name="Rectangle 1">
            <a:extLst>
              <a:ext uri="{FF2B5EF4-FFF2-40B4-BE49-F238E27FC236}">
                <a16:creationId xmlns:a16="http://schemas.microsoft.com/office/drawing/2014/main" id="{2112B0A2-4A71-4794-9236-5E8F7716FFC2}"/>
              </a:ext>
            </a:extLst>
          </p:cNvPr>
          <p:cNvSpPr/>
          <p:nvPr/>
        </p:nvSpPr>
        <p:spPr>
          <a:xfrm>
            <a:off x="415329" y="809473"/>
            <a:ext cx="11347647" cy="830997"/>
          </a:xfrm>
          <a:prstGeom prst="rect">
            <a:avLst/>
          </a:prstGeom>
        </p:spPr>
        <p:txBody>
          <a:bodyPr wrap="square">
            <a:spAutoFit/>
          </a:bodyPr>
          <a:lstStyle/>
          <a:p>
            <a:pPr algn="just"/>
            <a:r>
              <a:rPr lang="en-US" sz="1200" dirty="0">
                <a:latin typeface="Verdana" panose="020B0604030504040204" pitchFamily="34" charset="0"/>
                <a:ea typeface="Verdana" panose="020B0604030504040204" pitchFamily="34" charset="0"/>
              </a:rPr>
              <a:t>Organizations are required to track asset inventory and manage all their owned and leased assets, including the need to do annual inventories and report on missing or misplaced assets. Doing this manually via spreadsheets and in-person inventory counts is time consuming and doesn’t help with real-time movement of assets. </a:t>
            </a:r>
            <a:r>
              <a:rPr lang="en-US" sz="1200" b="1" dirty="0">
                <a:latin typeface="Verdana" panose="020B0604030504040204" pitchFamily="34" charset="0"/>
                <a:ea typeface="Verdana" panose="020B0604030504040204" pitchFamily="34" charset="0"/>
              </a:rPr>
              <a:t>An asset register tool helps to manage asset life cycle, track operational assets and report  quickly. Deloitte has developed an IT Tool -  INSITE, features &amp; benefits of which are given below</a:t>
            </a:r>
          </a:p>
        </p:txBody>
      </p:sp>
      <p:sp>
        <p:nvSpPr>
          <p:cNvPr id="3" name="Rectangle 2">
            <a:extLst>
              <a:ext uri="{FF2B5EF4-FFF2-40B4-BE49-F238E27FC236}">
                <a16:creationId xmlns:a16="http://schemas.microsoft.com/office/drawing/2014/main" id="{73B935A4-8416-4AD6-856A-25236DC5FE1A}"/>
              </a:ext>
            </a:extLst>
          </p:cNvPr>
          <p:cNvSpPr/>
          <p:nvPr/>
        </p:nvSpPr>
        <p:spPr>
          <a:xfrm>
            <a:off x="456426" y="2054062"/>
            <a:ext cx="4444347" cy="2385268"/>
          </a:xfrm>
          <a:prstGeom prst="rect">
            <a:avLst/>
          </a:prstGeom>
          <a:solidFill>
            <a:schemeClr val="bg1">
              <a:lumMod val="95000"/>
            </a:schemeClr>
          </a:solidFill>
        </p:spPr>
        <p:txBody>
          <a:bodyPr wrap="square">
            <a:spAutoFit/>
          </a:bodyPr>
          <a:lstStyle/>
          <a:p>
            <a:r>
              <a:rPr lang="en-US" sz="1200" b="1" dirty="0">
                <a:solidFill>
                  <a:schemeClr val="accent3"/>
                </a:solidFill>
                <a:latin typeface="Verdana" panose="020B0604030504040204" pitchFamily="34" charset="0"/>
                <a:ea typeface="Verdana" panose="020B0604030504040204" pitchFamily="34" charset="0"/>
              </a:rPr>
              <a:t>Features </a:t>
            </a:r>
          </a:p>
          <a:p>
            <a:pPr>
              <a:spcAft>
                <a:spcPts val="600"/>
              </a:spcAft>
            </a:pPr>
            <a:endParaRPr lang="en-US" sz="1200" dirty="0">
              <a:latin typeface="Verdana" panose="020B0604030504040204" pitchFamily="34" charset="0"/>
              <a:ea typeface="Verdana" panose="020B0604030504040204" pitchFamily="34" charset="0"/>
            </a:endParaRPr>
          </a:p>
          <a:p>
            <a:r>
              <a:rPr lang="en-US" sz="1200" dirty="0">
                <a:solidFill>
                  <a:schemeClr val="accent3"/>
                </a:solidFill>
                <a:latin typeface="Verdana" panose="020B0604030504040204" pitchFamily="34" charset="0"/>
                <a:ea typeface="Verdana" panose="020B0604030504040204" pitchFamily="34" charset="0"/>
              </a:rPr>
              <a:t>Asset inventory: </a:t>
            </a:r>
            <a:r>
              <a:rPr lang="en-US" sz="1200" dirty="0">
                <a:latin typeface="Verdana" panose="020B0604030504040204" pitchFamily="34" charset="0"/>
                <a:ea typeface="Verdana" panose="020B0604030504040204" pitchFamily="34" charset="0"/>
              </a:rPr>
              <a:t>Enable rapid capture of asset data via mobile / tablet devices; 3 tier verification process.</a:t>
            </a:r>
          </a:p>
          <a:p>
            <a:r>
              <a:rPr lang="en-US" sz="1200" dirty="0">
                <a:latin typeface="Verdana" panose="020B0604030504040204" pitchFamily="34" charset="0"/>
                <a:ea typeface="Verdana" panose="020B0604030504040204" pitchFamily="34" charset="0"/>
              </a:rPr>
              <a:t> </a:t>
            </a:r>
          </a:p>
          <a:p>
            <a:pPr algn="just"/>
            <a:r>
              <a:rPr lang="en-US" sz="1200" dirty="0">
                <a:solidFill>
                  <a:schemeClr val="accent3"/>
                </a:solidFill>
                <a:latin typeface="Verdana" panose="020B0604030504040204" pitchFamily="34" charset="0"/>
                <a:ea typeface="Verdana" panose="020B0604030504040204" pitchFamily="34" charset="0"/>
              </a:rPr>
              <a:t>Asset Identification &amp; Tracking : </a:t>
            </a:r>
            <a:r>
              <a:rPr lang="en-US" sz="1200" dirty="0">
                <a:latin typeface="Verdana" panose="020B0604030504040204" pitchFamily="34" charset="0"/>
                <a:ea typeface="Verdana" panose="020B0604030504040204" pitchFamily="34" charset="0"/>
              </a:rPr>
              <a:t>Automatic representation of schematic diagram of network using open-source GIS software</a:t>
            </a:r>
          </a:p>
          <a:p>
            <a:r>
              <a:rPr lang="en-US" sz="1200" dirty="0">
                <a:latin typeface="Verdana" panose="020B0604030504040204" pitchFamily="34" charset="0"/>
                <a:ea typeface="Verdana" panose="020B0604030504040204" pitchFamily="34" charset="0"/>
              </a:rPr>
              <a:t> </a:t>
            </a:r>
          </a:p>
          <a:p>
            <a:r>
              <a:rPr lang="en-US" sz="1200" dirty="0">
                <a:solidFill>
                  <a:schemeClr val="accent3"/>
                </a:solidFill>
                <a:latin typeface="Verdana" panose="020B0604030504040204" pitchFamily="34" charset="0"/>
                <a:ea typeface="Verdana" panose="020B0604030504040204" pitchFamily="34" charset="0"/>
              </a:rPr>
              <a:t>Asset management:  </a:t>
            </a:r>
            <a:r>
              <a:rPr lang="en-US" sz="1200" dirty="0">
                <a:latin typeface="Verdana" panose="020B0604030504040204" pitchFamily="34" charset="0"/>
                <a:ea typeface="Verdana" panose="020B0604030504040204" pitchFamily="34" charset="0"/>
              </a:rPr>
              <a:t>Identify location and asset custodian, audio / video of the assets on ground, asset condition etc.</a:t>
            </a:r>
          </a:p>
        </p:txBody>
      </p:sp>
      <p:sp>
        <p:nvSpPr>
          <p:cNvPr id="6" name="Rectangle 5">
            <a:extLst>
              <a:ext uri="{FF2B5EF4-FFF2-40B4-BE49-F238E27FC236}">
                <a16:creationId xmlns:a16="http://schemas.microsoft.com/office/drawing/2014/main" id="{EEB34096-B30C-8165-3D97-3315838B73FD}"/>
              </a:ext>
            </a:extLst>
          </p:cNvPr>
          <p:cNvSpPr/>
          <p:nvPr/>
        </p:nvSpPr>
        <p:spPr>
          <a:xfrm>
            <a:off x="5194300" y="2054062"/>
            <a:ext cx="6494288" cy="42324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200">
              <a:latin typeface="Verdana" panose="020B0604030504040204" pitchFamily="34" charset="0"/>
              <a:ea typeface="Verdana" panose="020B0604030504040204" pitchFamily="34" charset="0"/>
            </a:endParaRPr>
          </a:p>
        </p:txBody>
      </p:sp>
      <p:sp>
        <p:nvSpPr>
          <p:cNvPr id="4" name="Rectangle 3">
            <a:extLst>
              <a:ext uri="{FF2B5EF4-FFF2-40B4-BE49-F238E27FC236}">
                <a16:creationId xmlns:a16="http://schemas.microsoft.com/office/drawing/2014/main" id="{32E66C5A-A6DD-4FB6-B25A-D364883F3F4D}"/>
              </a:ext>
            </a:extLst>
          </p:cNvPr>
          <p:cNvSpPr/>
          <p:nvPr/>
        </p:nvSpPr>
        <p:spPr>
          <a:xfrm>
            <a:off x="5268689" y="2054062"/>
            <a:ext cx="6494288" cy="3117392"/>
          </a:xfrm>
          <a:prstGeom prst="rect">
            <a:avLst/>
          </a:prstGeom>
          <a:noFill/>
        </p:spPr>
        <p:txBody>
          <a:bodyPr wrap="square">
            <a:spAutoFit/>
          </a:bodyPr>
          <a:lstStyle/>
          <a:p>
            <a:pPr algn="just"/>
            <a:r>
              <a:rPr lang="en-US" sz="1200" b="1" dirty="0">
                <a:solidFill>
                  <a:schemeClr val="accent3"/>
                </a:solidFill>
                <a:latin typeface="Verdana" panose="020B0604030504040204" pitchFamily="34" charset="0"/>
                <a:ea typeface="Verdana" panose="020B0604030504040204" pitchFamily="34" charset="0"/>
              </a:rPr>
              <a:t>Potential Benefits </a:t>
            </a:r>
            <a:endParaRPr lang="en-US" sz="1200" dirty="0">
              <a:latin typeface="Verdana" panose="020B0604030504040204" pitchFamily="34" charset="0"/>
              <a:ea typeface="Verdana" panose="020B0604030504040204" pitchFamily="34" charset="0"/>
            </a:endParaRPr>
          </a:p>
          <a:p>
            <a:pPr marL="285750" indent="-285750" algn="just">
              <a:lnSpc>
                <a:spcPct val="15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rPr>
              <a:t>Quick-to-use asset inventory management capabilities </a:t>
            </a:r>
          </a:p>
          <a:p>
            <a:pPr marL="285750" indent="-285750" algn="just">
              <a:lnSpc>
                <a:spcPct val="15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rPr>
              <a:t>Visibility into where assets are, their status, usage, and reporting details</a:t>
            </a:r>
          </a:p>
          <a:p>
            <a:pPr marL="285750" indent="-285750" algn="just">
              <a:lnSpc>
                <a:spcPct val="15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rPr>
              <a:t>Simplified statutory inventory reporting </a:t>
            </a:r>
          </a:p>
          <a:p>
            <a:pPr marL="285750" indent="-285750" algn="just">
              <a:lnSpc>
                <a:spcPct val="15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rPr>
              <a:t>Asset governance and accountability</a:t>
            </a:r>
          </a:p>
          <a:p>
            <a:pPr marL="285750" indent="-285750" algn="just">
              <a:lnSpc>
                <a:spcPct val="15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rPr>
              <a:t>Financial and operational efficiency with individual asset cost details, date of capitalization, and usage status</a:t>
            </a:r>
          </a:p>
          <a:p>
            <a:pPr marL="285750" indent="-285750" algn="just">
              <a:lnSpc>
                <a:spcPct val="15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rPr>
              <a:t>Compliance with government regulations </a:t>
            </a:r>
          </a:p>
          <a:p>
            <a:pPr marL="285750" indent="-285750" algn="just">
              <a:lnSpc>
                <a:spcPct val="15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rPr>
              <a:t>Reduced cost by avoiding asset duplication, waste, and manual counts</a:t>
            </a:r>
          </a:p>
          <a:p>
            <a:pPr marL="285750" indent="-285750" algn="just">
              <a:lnSpc>
                <a:spcPct val="15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rPr>
              <a:t>Quick data on asset condition, maintenance details and running hours</a:t>
            </a:r>
          </a:p>
        </p:txBody>
      </p:sp>
    </p:spTree>
    <p:extLst>
      <p:ext uri="{BB962C8B-B14F-4D97-AF65-F5344CB8AC3E}">
        <p14:creationId xmlns:p14="http://schemas.microsoft.com/office/powerpoint/2010/main" val="1158944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03901A3E-AAC4-424F-5F06-6F6B1220A11A}"/>
              </a:ext>
            </a:extLst>
          </p:cNvPr>
          <p:cNvGrpSpPr/>
          <p:nvPr/>
        </p:nvGrpSpPr>
        <p:grpSpPr>
          <a:xfrm>
            <a:off x="6057251" y="84776"/>
            <a:ext cx="5058205" cy="6773224"/>
            <a:chOff x="3566897" y="84776"/>
            <a:chExt cx="5058205" cy="6773224"/>
          </a:xfrm>
        </p:grpSpPr>
        <p:grpSp>
          <p:nvGrpSpPr>
            <p:cNvPr id="4" name="Group 3">
              <a:extLst>
                <a:ext uri="{FF2B5EF4-FFF2-40B4-BE49-F238E27FC236}">
                  <a16:creationId xmlns:a16="http://schemas.microsoft.com/office/drawing/2014/main" id="{39CF9AFC-7ED3-F487-67B7-D0A3D978A5E1}"/>
                </a:ext>
              </a:extLst>
            </p:cNvPr>
            <p:cNvGrpSpPr/>
            <p:nvPr/>
          </p:nvGrpSpPr>
          <p:grpSpPr>
            <a:xfrm>
              <a:off x="3566897" y="84776"/>
              <a:ext cx="5058205" cy="6773224"/>
              <a:chOff x="3713676" y="84776"/>
              <a:chExt cx="5058205" cy="6773224"/>
            </a:xfrm>
          </p:grpSpPr>
          <p:pic>
            <p:nvPicPr>
              <p:cNvPr id="2" name="Picture 1" descr="A hand holding a cell phone&#10;&#10;Description automatically generated">
                <a:extLst>
                  <a:ext uri="{FF2B5EF4-FFF2-40B4-BE49-F238E27FC236}">
                    <a16:creationId xmlns:a16="http://schemas.microsoft.com/office/drawing/2014/main" id="{155CD50C-17AA-B371-B3A8-E4CAA227C4A2}"/>
                  </a:ext>
                </a:extLst>
              </p:cNvPr>
              <p:cNvPicPr>
                <a:picLocks noChangeAspect="1"/>
              </p:cNvPicPr>
              <p:nvPr/>
            </p:nvPicPr>
            <p:blipFill rotWithShape="1">
              <a:blip r:embed="rId2">
                <a:extLst>
                  <a:ext uri="{28A0092B-C50C-407E-A947-70E740481C1C}">
                    <a14:useLocalDpi xmlns:a14="http://schemas.microsoft.com/office/drawing/2010/main" val="0"/>
                  </a:ext>
                </a:extLst>
              </a:blip>
              <a:srcRect b="10283"/>
              <a:stretch/>
            </p:blipFill>
            <p:spPr>
              <a:xfrm>
                <a:off x="3713676" y="84776"/>
                <a:ext cx="5058205" cy="6773224"/>
              </a:xfrm>
              <a:prstGeom prst="rect">
                <a:avLst/>
              </a:prstGeom>
              <a:noFill/>
            </p:spPr>
          </p:pic>
          <p:sp>
            <p:nvSpPr>
              <p:cNvPr id="3" name="Rectangle 2">
                <a:extLst>
                  <a:ext uri="{FF2B5EF4-FFF2-40B4-BE49-F238E27FC236}">
                    <a16:creationId xmlns:a16="http://schemas.microsoft.com/office/drawing/2014/main" id="{A6FA85A1-C274-102B-46EB-B6E565C26A20}"/>
                  </a:ext>
                </a:extLst>
              </p:cNvPr>
              <p:cNvSpPr/>
              <p:nvPr/>
            </p:nvSpPr>
            <p:spPr bwMode="gray">
              <a:xfrm>
                <a:off x="4727542" y="6047295"/>
                <a:ext cx="2172879" cy="263950"/>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1" name="Rectangle: Top Corners Rounded 10">
              <a:extLst>
                <a:ext uri="{FF2B5EF4-FFF2-40B4-BE49-F238E27FC236}">
                  <a16:creationId xmlns:a16="http://schemas.microsoft.com/office/drawing/2014/main" id="{AE93FB3A-5A9D-E1EB-4536-877A5CCCC1AD}"/>
                </a:ext>
              </a:extLst>
            </p:cNvPr>
            <p:cNvSpPr/>
            <p:nvPr/>
          </p:nvSpPr>
          <p:spPr bwMode="gray">
            <a:xfrm>
              <a:off x="4259781" y="402648"/>
              <a:ext cx="2828413" cy="263950"/>
            </a:xfrm>
            <a:prstGeom prst="round2Same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37FA1641-9DC2-9CA0-381E-33DA84C4E6A7}"/>
                </a:ext>
              </a:extLst>
            </p:cNvPr>
            <p:cNvSpPr/>
            <p:nvPr/>
          </p:nvSpPr>
          <p:spPr>
            <a:xfrm>
              <a:off x="5229567" y="2382900"/>
              <a:ext cx="1000210"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4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Welcome</a:t>
              </a:r>
            </a:p>
          </p:txBody>
        </p:sp>
        <p:grpSp>
          <p:nvGrpSpPr>
            <p:cNvPr id="25" name="Group 24">
              <a:extLst>
                <a:ext uri="{FF2B5EF4-FFF2-40B4-BE49-F238E27FC236}">
                  <a16:creationId xmlns:a16="http://schemas.microsoft.com/office/drawing/2014/main" id="{75F6F9FA-A109-7708-6878-34381A0DB085}"/>
                </a:ext>
              </a:extLst>
            </p:cNvPr>
            <p:cNvGrpSpPr/>
            <p:nvPr/>
          </p:nvGrpSpPr>
          <p:grpSpPr>
            <a:xfrm>
              <a:off x="5160593" y="3420155"/>
              <a:ext cx="1766684" cy="364665"/>
              <a:chOff x="5281197" y="4019898"/>
              <a:chExt cx="1766684" cy="364665"/>
            </a:xfrm>
          </p:grpSpPr>
          <p:sp>
            <p:nvSpPr>
              <p:cNvPr id="26" name="Rectangle: Rounded Corners 25">
                <a:extLst>
                  <a:ext uri="{FF2B5EF4-FFF2-40B4-BE49-F238E27FC236}">
                    <a16:creationId xmlns:a16="http://schemas.microsoft.com/office/drawing/2014/main" id="{78BBEC6C-0E81-D31D-CAEE-0155B4234242}"/>
                  </a:ext>
                </a:extLst>
              </p:cNvPr>
              <p:cNvSpPr/>
              <p:nvPr/>
            </p:nvSpPr>
            <p:spPr bwMode="gray">
              <a:xfrm>
                <a:off x="5281197" y="4019898"/>
                <a:ext cx="1766684"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pic>
            <p:nvPicPr>
              <p:cNvPr id="27" name="Picture 26">
                <a:extLst>
                  <a:ext uri="{FF2B5EF4-FFF2-40B4-BE49-F238E27FC236}">
                    <a16:creationId xmlns:a16="http://schemas.microsoft.com/office/drawing/2014/main" id="{3F9865DE-E8E7-DDC1-4E4B-065BD6BD3336}"/>
                  </a:ext>
                </a:extLst>
              </p:cNvPr>
              <p:cNvPicPr>
                <a:picLocks noChangeAspect="1"/>
              </p:cNvPicPr>
              <p:nvPr/>
            </p:nvPicPr>
            <p:blipFill>
              <a:blip r:embed="rId3"/>
              <a:stretch>
                <a:fillRect/>
              </a:stretch>
            </p:blipFill>
            <p:spPr>
              <a:xfrm>
                <a:off x="5418540" y="4134247"/>
                <a:ext cx="143329" cy="143329"/>
              </a:xfrm>
              <a:prstGeom prst="rect">
                <a:avLst/>
              </a:prstGeom>
            </p:spPr>
          </p:pic>
        </p:grpSp>
        <p:grpSp>
          <p:nvGrpSpPr>
            <p:cNvPr id="28" name="Group 27">
              <a:extLst>
                <a:ext uri="{FF2B5EF4-FFF2-40B4-BE49-F238E27FC236}">
                  <a16:creationId xmlns:a16="http://schemas.microsoft.com/office/drawing/2014/main" id="{B360E35C-B699-B55D-7C02-620AC63E1596}"/>
                </a:ext>
              </a:extLst>
            </p:cNvPr>
            <p:cNvGrpSpPr/>
            <p:nvPr/>
          </p:nvGrpSpPr>
          <p:grpSpPr>
            <a:xfrm>
              <a:off x="5160593" y="2817716"/>
              <a:ext cx="1766683" cy="364665"/>
              <a:chOff x="5281197" y="3226725"/>
              <a:chExt cx="1766683" cy="364665"/>
            </a:xfrm>
          </p:grpSpPr>
          <p:sp>
            <p:nvSpPr>
              <p:cNvPr id="29" name="Rectangle: Rounded Corners 28">
                <a:extLst>
                  <a:ext uri="{FF2B5EF4-FFF2-40B4-BE49-F238E27FC236}">
                    <a16:creationId xmlns:a16="http://schemas.microsoft.com/office/drawing/2014/main" id="{34A9BFA2-E161-B6E9-44C8-3CACCF0C6C00}"/>
                  </a:ext>
                </a:extLst>
              </p:cNvPr>
              <p:cNvSpPr/>
              <p:nvPr/>
            </p:nvSpPr>
            <p:spPr bwMode="gray">
              <a:xfrm>
                <a:off x="5281197" y="3226725"/>
                <a:ext cx="1766683"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pic>
            <p:nvPicPr>
              <p:cNvPr id="30" name="Picture 29">
                <a:extLst>
                  <a:ext uri="{FF2B5EF4-FFF2-40B4-BE49-F238E27FC236}">
                    <a16:creationId xmlns:a16="http://schemas.microsoft.com/office/drawing/2014/main" id="{31318B5C-C428-4253-C837-66261C5AAEBD}"/>
                  </a:ext>
                </a:extLst>
              </p:cNvPr>
              <p:cNvPicPr>
                <a:picLocks noChangeAspect="1"/>
              </p:cNvPicPr>
              <p:nvPr/>
            </p:nvPicPr>
            <p:blipFill>
              <a:blip r:embed="rId4"/>
              <a:stretch>
                <a:fillRect/>
              </a:stretch>
            </p:blipFill>
            <p:spPr>
              <a:xfrm>
                <a:off x="5406508" y="3339475"/>
                <a:ext cx="123567" cy="123567"/>
              </a:xfrm>
              <a:prstGeom prst="rect">
                <a:avLst/>
              </a:prstGeom>
            </p:spPr>
          </p:pic>
        </p:grpSp>
        <p:sp>
          <p:nvSpPr>
            <p:cNvPr id="31" name="Rectangle 30">
              <a:extLst>
                <a:ext uri="{FF2B5EF4-FFF2-40B4-BE49-F238E27FC236}">
                  <a16:creationId xmlns:a16="http://schemas.microsoft.com/office/drawing/2014/main" id="{D83E6F1A-FD80-5024-D581-912A49F23A3B}"/>
                </a:ext>
              </a:extLst>
            </p:cNvPr>
            <p:cNvSpPr/>
            <p:nvPr/>
          </p:nvSpPr>
          <p:spPr>
            <a:xfrm>
              <a:off x="4292948" y="2853406"/>
              <a:ext cx="902811" cy="2616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Username:</a:t>
              </a:r>
            </a:p>
          </p:txBody>
        </p:sp>
        <p:sp>
          <p:nvSpPr>
            <p:cNvPr id="32" name="Rectangle 31">
              <a:extLst>
                <a:ext uri="{FF2B5EF4-FFF2-40B4-BE49-F238E27FC236}">
                  <a16:creationId xmlns:a16="http://schemas.microsoft.com/office/drawing/2014/main" id="{096EA2EB-7ED8-5529-D810-D46C7C3C993D}"/>
                </a:ext>
              </a:extLst>
            </p:cNvPr>
            <p:cNvSpPr/>
            <p:nvPr/>
          </p:nvSpPr>
          <p:spPr>
            <a:xfrm>
              <a:off x="4292948" y="3475519"/>
              <a:ext cx="857927" cy="2616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Password:</a:t>
              </a:r>
            </a:p>
          </p:txBody>
        </p:sp>
        <p:grpSp>
          <p:nvGrpSpPr>
            <p:cNvPr id="33" name="Group 32">
              <a:extLst>
                <a:ext uri="{FF2B5EF4-FFF2-40B4-BE49-F238E27FC236}">
                  <a16:creationId xmlns:a16="http://schemas.microsoft.com/office/drawing/2014/main" id="{2854364C-C049-289A-EA25-621DCAFE18AC}"/>
                </a:ext>
              </a:extLst>
            </p:cNvPr>
            <p:cNvGrpSpPr/>
            <p:nvPr/>
          </p:nvGrpSpPr>
          <p:grpSpPr>
            <a:xfrm>
              <a:off x="5118736" y="4097645"/>
              <a:ext cx="1121984" cy="345551"/>
              <a:chOff x="4348727" y="2862834"/>
              <a:chExt cx="1507316" cy="464226"/>
            </a:xfrm>
          </p:grpSpPr>
          <p:sp>
            <p:nvSpPr>
              <p:cNvPr id="34" name="Rectangle: Rounded Corners 33">
                <a:extLst>
                  <a:ext uri="{FF2B5EF4-FFF2-40B4-BE49-F238E27FC236}">
                    <a16:creationId xmlns:a16="http://schemas.microsoft.com/office/drawing/2014/main" id="{E5CFB43F-00BE-4407-95DE-A552A9D032EF}"/>
                  </a:ext>
                </a:extLst>
              </p:cNvPr>
              <p:cNvSpPr/>
              <p:nvPr/>
            </p:nvSpPr>
            <p:spPr bwMode="gray">
              <a:xfrm>
                <a:off x="4348727" y="2862834"/>
                <a:ext cx="1507316" cy="464226"/>
              </a:xfrm>
              <a:prstGeom prst="roundRect">
                <a:avLst/>
              </a:prstGeom>
              <a:solidFill>
                <a:srgbClr val="00A3E0"/>
              </a:solidFill>
              <a:ln w="317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5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7" name="Rectangle 36">
                <a:extLst>
                  <a:ext uri="{FF2B5EF4-FFF2-40B4-BE49-F238E27FC236}">
                    <a16:creationId xmlns:a16="http://schemas.microsoft.com/office/drawing/2014/main" id="{B49C3593-D120-F728-4362-44CFFD18B1FC}"/>
                  </a:ext>
                </a:extLst>
              </p:cNvPr>
              <p:cNvSpPr/>
              <p:nvPr/>
            </p:nvSpPr>
            <p:spPr>
              <a:xfrm>
                <a:off x="4756563" y="2937579"/>
                <a:ext cx="567784" cy="2616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5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Login</a:t>
                </a:r>
              </a:p>
            </p:txBody>
          </p:sp>
        </p:grpSp>
        <p:sp>
          <p:nvSpPr>
            <p:cNvPr id="38" name="Rectangle 37">
              <a:extLst>
                <a:ext uri="{FF2B5EF4-FFF2-40B4-BE49-F238E27FC236}">
                  <a16:creationId xmlns:a16="http://schemas.microsoft.com/office/drawing/2014/main" id="{82428862-4A98-1D99-66AE-036850C6C43B}"/>
                </a:ext>
              </a:extLst>
            </p:cNvPr>
            <p:cNvSpPr/>
            <p:nvPr/>
          </p:nvSpPr>
          <p:spPr>
            <a:xfrm>
              <a:off x="5051411" y="4527109"/>
              <a:ext cx="1249060"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00" b="1" i="0" u="none" strike="noStrike" kern="1200" cap="none" spc="0" normalizeH="0" baseline="0" noProof="0" dirty="0">
                  <a:ln>
                    <a:noFill/>
                  </a:ln>
                  <a:solidFill>
                    <a:prstClr val="black">
                      <a:lumMod val="50000"/>
                      <a:lumOff val="50000"/>
                    </a:prstClr>
                  </a:solidFill>
                  <a:effectLst/>
                  <a:uLnTx/>
                  <a:uFillTx/>
                  <a:latin typeface="Open Sans" panose="020B0606030504020204" pitchFamily="34" charset="0"/>
                  <a:ea typeface="Open Sans" panose="020B0606030504020204" pitchFamily="34" charset="0"/>
                  <a:cs typeface="Open Sans" panose="020B0606030504020204" pitchFamily="34" charset="0"/>
                </a:rPr>
                <a:t>Forgot Password</a:t>
              </a:r>
            </a:p>
          </p:txBody>
        </p:sp>
        <p:cxnSp>
          <p:nvCxnSpPr>
            <p:cNvPr id="96" name="Straight Connector 95">
              <a:extLst>
                <a:ext uri="{FF2B5EF4-FFF2-40B4-BE49-F238E27FC236}">
                  <a16:creationId xmlns:a16="http://schemas.microsoft.com/office/drawing/2014/main" id="{DA4DC08A-FC56-B664-E5E3-B853BDE08D5F}"/>
                </a:ext>
              </a:extLst>
            </p:cNvPr>
            <p:cNvCxnSpPr/>
            <p:nvPr/>
          </p:nvCxnSpPr>
          <p:spPr>
            <a:xfrm>
              <a:off x="5039813" y="5869866"/>
              <a:ext cx="1226127" cy="0"/>
            </a:xfrm>
            <a:prstGeom prst="line">
              <a:avLst/>
            </a:prstGeom>
            <a:ln w="12700" cap="rnd">
              <a:solidFill>
                <a:schemeClr val="tx2">
                  <a:alpha val="28000"/>
                </a:schemeClr>
              </a:solidFill>
              <a:roun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7579F46-097F-781E-E729-ECB64AF5F007}"/>
                </a:ext>
              </a:extLst>
            </p:cNvPr>
            <p:cNvSpPr txBox="1"/>
            <p:nvPr/>
          </p:nvSpPr>
          <p:spPr>
            <a:xfrm>
              <a:off x="5034342" y="1589423"/>
              <a:ext cx="1340874"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600" normalizeH="0" baseline="0" noProof="0" dirty="0">
                  <a:ln>
                    <a:noFill/>
                  </a:ln>
                  <a:solidFill>
                    <a:srgbClr val="313131"/>
                  </a:solidFill>
                  <a:effectLst/>
                  <a:uLnTx/>
                  <a:uFillTx/>
                  <a:latin typeface="Impact" panose="020B0806030902050204" pitchFamily="34" charset="0"/>
                  <a:ea typeface="+mn-ea"/>
                  <a:cs typeface="+mn-cs"/>
                </a:rPr>
                <a:t>INSITE</a:t>
              </a:r>
            </a:p>
          </p:txBody>
        </p:sp>
        <p:sp>
          <p:nvSpPr>
            <p:cNvPr id="6" name="Freeform: Shape 5">
              <a:extLst>
                <a:ext uri="{FF2B5EF4-FFF2-40B4-BE49-F238E27FC236}">
                  <a16:creationId xmlns:a16="http://schemas.microsoft.com/office/drawing/2014/main" id="{46760FA3-D193-6CB6-E57B-C34A1437CEBB}"/>
                </a:ext>
              </a:extLst>
            </p:cNvPr>
            <p:cNvSpPr/>
            <p:nvPr/>
          </p:nvSpPr>
          <p:spPr bwMode="gray">
            <a:xfrm rot="8100000">
              <a:off x="5393344" y="864586"/>
              <a:ext cx="547715" cy="562427"/>
            </a:xfrm>
            <a:custGeom>
              <a:avLst/>
              <a:gdLst>
                <a:gd name="connsiteX0" fmla="*/ 652514 w 978388"/>
                <a:gd name="connsiteY0" fmla="*/ 311418 h 978461"/>
                <a:gd name="connsiteX1" fmla="*/ 578783 w 978388"/>
                <a:gd name="connsiteY1" fmla="*/ 0 h 978461"/>
                <a:gd name="connsiteX2" fmla="*/ 975875 w 978388"/>
                <a:gd name="connsiteY2" fmla="*/ 2586 h 978461"/>
                <a:gd name="connsiteX3" fmla="*/ 978388 w 978388"/>
                <a:gd name="connsiteY3" fmla="*/ 388571 h 978461"/>
                <a:gd name="connsiteX4" fmla="*/ 365753 w 978388"/>
                <a:gd name="connsiteY4" fmla="*/ 440187 h 978461"/>
                <a:gd name="connsiteX5" fmla="*/ 273707 w 978388"/>
                <a:gd name="connsiteY5" fmla="*/ 51409 h 978461"/>
                <a:gd name="connsiteX6" fmla="*/ 310026 w 978388"/>
                <a:gd name="connsiteY6" fmla="*/ 33374 h 978461"/>
                <a:gd name="connsiteX7" fmla="*/ 390866 w 978388"/>
                <a:gd name="connsiteY7" fmla="*/ 9364 h 978461"/>
                <a:gd name="connsiteX8" fmla="*/ 471958 w 978388"/>
                <a:gd name="connsiteY8" fmla="*/ 1189 h 978461"/>
                <a:gd name="connsiteX9" fmla="*/ 565912 w 978388"/>
                <a:gd name="connsiteY9" fmla="*/ 398021 h 978461"/>
                <a:gd name="connsiteX10" fmla="*/ 978363 w 978388"/>
                <a:gd name="connsiteY10" fmla="*/ 495672 h 978461"/>
                <a:gd name="connsiteX11" fmla="*/ 969097 w 978388"/>
                <a:gd name="connsiteY11" fmla="*/ 587595 h 978461"/>
                <a:gd name="connsiteX12" fmla="*/ 945087 w 978388"/>
                <a:gd name="connsiteY12" fmla="*/ 668435 h 978461"/>
                <a:gd name="connsiteX13" fmla="*/ 927052 w 978388"/>
                <a:gd name="connsiteY13" fmla="*/ 704754 h 978461"/>
                <a:gd name="connsiteX14" fmla="*/ 538465 w 978388"/>
                <a:gd name="connsiteY14" fmla="*/ 612753 h 978461"/>
                <a:gd name="connsiteX15" fmla="*/ 544594 w 978388"/>
                <a:gd name="connsiteY15" fmla="*/ 581251 h 978461"/>
                <a:gd name="connsiteX16" fmla="*/ 501475 w 978388"/>
                <a:gd name="connsiteY16" fmla="*/ 477153 h 978461"/>
                <a:gd name="connsiteX17" fmla="*/ 397377 w 978388"/>
                <a:gd name="connsiteY17" fmla="*/ 434034 h 978461"/>
                <a:gd name="connsiteX18" fmla="*/ 336040 w 978388"/>
                <a:gd name="connsiteY18" fmla="*/ 641445 h 978461"/>
                <a:gd name="connsiteX19" fmla="*/ 336040 w 978388"/>
                <a:gd name="connsiteY19" fmla="*/ 520720 h 978461"/>
                <a:gd name="connsiteX20" fmla="*/ 456766 w 978388"/>
                <a:gd name="connsiteY20" fmla="*/ 520720 h 978461"/>
                <a:gd name="connsiteX21" fmla="*/ 456766 w 978388"/>
                <a:gd name="connsiteY21" fmla="*/ 641445 h 978461"/>
                <a:gd name="connsiteX22" fmla="*/ 336040 w 978388"/>
                <a:gd name="connsiteY22" fmla="*/ 641445 h 978461"/>
                <a:gd name="connsiteX23" fmla="*/ 143377 w 978388"/>
                <a:gd name="connsiteY23" fmla="*/ 835084 h 978461"/>
                <a:gd name="connsiteX24" fmla="*/ 0 w 978388"/>
                <a:gd name="connsiteY24" fmla="*/ 488940 h 978461"/>
                <a:gd name="connsiteX25" fmla="*/ 169166 w 978388"/>
                <a:gd name="connsiteY25" fmla="*/ 118790 h 978461"/>
                <a:gd name="connsiteX26" fmla="*/ 180582 w 978388"/>
                <a:gd name="connsiteY26" fmla="*/ 110466 h 978461"/>
                <a:gd name="connsiteX27" fmla="*/ 274200 w 978388"/>
                <a:gd name="connsiteY27" fmla="*/ 505884 h 978461"/>
                <a:gd name="connsiteX28" fmla="*/ 260940 w 978388"/>
                <a:gd name="connsiteY28" fmla="*/ 525853 h 978461"/>
                <a:gd name="connsiteX29" fmla="*/ 293279 w 978388"/>
                <a:gd name="connsiteY29" fmla="*/ 685349 h 978461"/>
                <a:gd name="connsiteX30" fmla="*/ 452775 w 978388"/>
                <a:gd name="connsiteY30" fmla="*/ 717688 h 978461"/>
                <a:gd name="connsiteX31" fmla="*/ 472887 w 978388"/>
                <a:gd name="connsiteY31" fmla="*/ 704333 h 978461"/>
                <a:gd name="connsiteX32" fmla="*/ 867995 w 978388"/>
                <a:gd name="connsiteY32" fmla="*/ 797879 h 978461"/>
                <a:gd name="connsiteX33" fmla="*/ 859671 w 978388"/>
                <a:gd name="connsiteY33" fmla="*/ 809295 h 978461"/>
                <a:gd name="connsiteX34" fmla="*/ 489521 w 978388"/>
                <a:gd name="connsiteY34" fmla="*/ 978461 h 978461"/>
                <a:gd name="connsiteX35" fmla="*/ 143377 w 978388"/>
                <a:gd name="connsiteY35" fmla="*/ 835084 h 97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78388" h="978461">
                  <a:moveTo>
                    <a:pt x="652514" y="311418"/>
                  </a:moveTo>
                  <a:lnTo>
                    <a:pt x="578783" y="0"/>
                  </a:lnTo>
                  <a:lnTo>
                    <a:pt x="975875" y="2586"/>
                  </a:lnTo>
                  <a:lnTo>
                    <a:pt x="978388" y="388571"/>
                  </a:lnTo>
                  <a:close/>
                  <a:moveTo>
                    <a:pt x="365753" y="440187"/>
                  </a:moveTo>
                  <a:lnTo>
                    <a:pt x="273707" y="51409"/>
                  </a:lnTo>
                  <a:lnTo>
                    <a:pt x="310026" y="33374"/>
                  </a:lnTo>
                  <a:cubicBezTo>
                    <a:pt x="335962" y="23147"/>
                    <a:pt x="362982" y="15070"/>
                    <a:pt x="390866" y="9364"/>
                  </a:cubicBezTo>
                  <a:lnTo>
                    <a:pt x="471958" y="1189"/>
                  </a:lnTo>
                  <a:lnTo>
                    <a:pt x="565912" y="398021"/>
                  </a:lnTo>
                  <a:lnTo>
                    <a:pt x="978363" y="495672"/>
                  </a:lnTo>
                  <a:lnTo>
                    <a:pt x="969097" y="587595"/>
                  </a:lnTo>
                  <a:cubicBezTo>
                    <a:pt x="963391" y="615479"/>
                    <a:pt x="955314" y="642499"/>
                    <a:pt x="945087" y="668435"/>
                  </a:cubicBezTo>
                  <a:lnTo>
                    <a:pt x="927052" y="704754"/>
                  </a:lnTo>
                  <a:lnTo>
                    <a:pt x="538465" y="612753"/>
                  </a:lnTo>
                  <a:lnTo>
                    <a:pt x="544594" y="581251"/>
                  </a:lnTo>
                  <a:cubicBezTo>
                    <a:pt x="544594" y="543575"/>
                    <a:pt x="530221" y="505899"/>
                    <a:pt x="501475" y="477153"/>
                  </a:cubicBezTo>
                  <a:cubicBezTo>
                    <a:pt x="472729" y="448407"/>
                    <a:pt x="435053" y="434034"/>
                    <a:pt x="397377" y="434034"/>
                  </a:cubicBezTo>
                  <a:close/>
                  <a:moveTo>
                    <a:pt x="336040" y="641445"/>
                  </a:moveTo>
                  <a:cubicBezTo>
                    <a:pt x="302703" y="608108"/>
                    <a:pt x="302703" y="554057"/>
                    <a:pt x="336040" y="520720"/>
                  </a:cubicBezTo>
                  <a:cubicBezTo>
                    <a:pt x="369377" y="487382"/>
                    <a:pt x="423428" y="487382"/>
                    <a:pt x="456766" y="520720"/>
                  </a:cubicBezTo>
                  <a:cubicBezTo>
                    <a:pt x="490103" y="554057"/>
                    <a:pt x="490103" y="608108"/>
                    <a:pt x="456766" y="641445"/>
                  </a:cubicBezTo>
                  <a:cubicBezTo>
                    <a:pt x="423428" y="674783"/>
                    <a:pt x="369377" y="674783"/>
                    <a:pt x="336040" y="641445"/>
                  </a:cubicBezTo>
                  <a:close/>
                  <a:moveTo>
                    <a:pt x="143377" y="835084"/>
                  </a:moveTo>
                  <a:cubicBezTo>
                    <a:pt x="54791" y="746497"/>
                    <a:pt x="0" y="624117"/>
                    <a:pt x="0" y="488940"/>
                  </a:cubicBezTo>
                  <a:cubicBezTo>
                    <a:pt x="0" y="341089"/>
                    <a:pt x="65546" y="208548"/>
                    <a:pt x="169166" y="118790"/>
                  </a:cubicBezTo>
                  <a:lnTo>
                    <a:pt x="180582" y="110466"/>
                  </a:lnTo>
                  <a:lnTo>
                    <a:pt x="274200" y="505884"/>
                  </a:lnTo>
                  <a:lnTo>
                    <a:pt x="260940" y="525853"/>
                  </a:lnTo>
                  <a:cubicBezTo>
                    <a:pt x="239381" y="579019"/>
                    <a:pt x="250160" y="642230"/>
                    <a:pt x="293279" y="685349"/>
                  </a:cubicBezTo>
                  <a:cubicBezTo>
                    <a:pt x="336398" y="728468"/>
                    <a:pt x="399610" y="739248"/>
                    <a:pt x="452775" y="717688"/>
                  </a:cubicBezTo>
                  <a:lnTo>
                    <a:pt x="472887" y="704333"/>
                  </a:lnTo>
                  <a:lnTo>
                    <a:pt x="867995" y="797879"/>
                  </a:lnTo>
                  <a:lnTo>
                    <a:pt x="859671" y="809295"/>
                  </a:lnTo>
                  <a:cubicBezTo>
                    <a:pt x="769913" y="912915"/>
                    <a:pt x="637372" y="978461"/>
                    <a:pt x="489521" y="978461"/>
                  </a:cubicBezTo>
                  <a:cubicBezTo>
                    <a:pt x="354344" y="978461"/>
                    <a:pt x="231963" y="923669"/>
                    <a:pt x="143377" y="835084"/>
                  </a:cubicBezTo>
                  <a:close/>
                </a:path>
              </a:pathLst>
            </a:custGeom>
            <a:solidFill>
              <a:srgbClr val="86BC25"/>
            </a:solid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419DB6A4-CFA1-D70B-D27B-2C9D190C6C1A}"/>
                </a:ext>
              </a:extLst>
            </p:cNvPr>
            <p:cNvGrpSpPr>
              <a:grpSpLocks noChangeAspect="1"/>
            </p:cNvGrpSpPr>
            <p:nvPr/>
          </p:nvGrpSpPr>
          <p:grpSpPr>
            <a:xfrm>
              <a:off x="5142231" y="5440463"/>
              <a:ext cx="1063511" cy="199288"/>
              <a:chOff x="398463" y="404813"/>
              <a:chExt cx="1627187" cy="307976"/>
            </a:xfrm>
            <a:solidFill>
              <a:sysClr val="windowText" lastClr="000000"/>
            </a:solidFill>
          </p:grpSpPr>
          <p:sp>
            <p:nvSpPr>
              <p:cNvPr id="8" name="Oval 5">
                <a:extLst>
                  <a:ext uri="{FF2B5EF4-FFF2-40B4-BE49-F238E27FC236}">
                    <a16:creationId xmlns:a16="http://schemas.microsoft.com/office/drawing/2014/main" id="{CC25D530-1991-3765-3C59-1F3273B5992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9" name="Freeform 6">
                <a:extLst>
                  <a:ext uri="{FF2B5EF4-FFF2-40B4-BE49-F238E27FC236}">
                    <a16:creationId xmlns:a16="http://schemas.microsoft.com/office/drawing/2014/main" id="{4670FF0B-7CB3-60D4-C7E3-B60B9BACEF20}"/>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12" name="Rectangle 7">
                <a:extLst>
                  <a:ext uri="{FF2B5EF4-FFF2-40B4-BE49-F238E27FC236}">
                    <a16:creationId xmlns:a16="http://schemas.microsoft.com/office/drawing/2014/main" id="{5DBF5B9F-DA04-46D0-D922-49E49A05C48C}"/>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13" name="Freeform 8">
                <a:extLst>
                  <a:ext uri="{FF2B5EF4-FFF2-40B4-BE49-F238E27FC236}">
                    <a16:creationId xmlns:a16="http://schemas.microsoft.com/office/drawing/2014/main" id="{04D1780A-F666-5141-59B3-7A90A0D582E5}"/>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14" name="Rectangle 9">
                <a:extLst>
                  <a:ext uri="{FF2B5EF4-FFF2-40B4-BE49-F238E27FC236}">
                    <a16:creationId xmlns:a16="http://schemas.microsoft.com/office/drawing/2014/main" id="{9681B35B-FF89-F239-15E1-A9285D8BFBEE}"/>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15" name="Rectangle 10">
                <a:extLst>
                  <a:ext uri="{FF2B5EF4-FFF2-40B4-BE49-F238E27FC236}">
                    <a16:creationId xmlns:a16="http://schemas.microsoft.com/office/drawing/2014/main" id="{4D0BF560-7873-B6A5-DA51-F5C51CFB666F}"/>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16" name="Freeform 11">
                <a:extLst>
                  <a:ext uri="{FF2B5EF4-FFF2-40B4-BE49-F238E27FC236}">
                    <a16:creationId xmlns:a16="http://schemas.microsoft.com/office/drawing/2014/main" id="{5C17001F-25EB-C729-1C90-C7F475EE3D2D}"/>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17" name="Freeform 12">
                <a:extLst>
                  <a:ext uri="{FF2B5EF4-FFF2-40B4-BE49-F238E27FC236}">
                    <a16:creationId xmlns:a16="http://schemas.microsoft.com/office/drawing/2014/main" id="{8AD903A7-7190-733A-53C1-51140E53208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18" name="Freeform 13">
                <a:extLst>
                  <a:ext uri="{FF2B5EF4-FFF2-40B4-BE49-F238E27FC236}">
                    <a16:creationId xmlns:a16="http://schemas.microsoft.com/office/drawing/2014/main" id="{A9E18EF8-D292-F02E-F11D-B74051BFB54E}"/>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19" name="Freeform 14">
                <a:extLst>
                  <a:ext uri="{FF2B5EF4-FFF2-40B4-BE49-F238E27FC236}">
                    <a16:creationId xmlns:a16="http://schemas.microsoft.com/office/drawing/2014/main" id="{72FF5272-938B-971C-1075-105DB2BCDD9D}"/>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grpSp>
      </p:grpSp>
      <p:grpSp>
        <p:nvGrpSpPr>
          <p:cNvPr id="36" name="Group 35">
            <a:extLst>
              <a:ext uri="{FF2B5EF4-FFF2-40B4-BE49-F238E27FC236}">
                <a16:creationId xmlns:a16="http://schemas.microsoft.com/office/drawing/2014/main" id="{F9EC2B01-4E31-BB4D-1BF3-CAC559DA6590}"/>
              </a:ext>
            </a:extLst>
          </p:cNvPr>
          <p:cNvGrpSpPr/>
          <p:nvPr/>
        </p:nvGrpSpPr>
        <p:grpSpPr>
          <a:xfrm>
            <a:off x="572289" y="80488"/>
            <a:ext cx="5058205" cy="6773224"/>
            <a:chOff x="813589" y="42388"/>
            <a:chExt cx="5058205" cy="6773224"/>
          </a:xfrm>
        </p:grpSpPr>
        <p:grpSp>
          <p:nvGrpSpPr>
            <p:cNvPr id="21" name="Group 20">
              <a:extLst>
                <a:ext uri="{FF2B5EF4-FFF2-40B4-BE49-F238E27FC236}">
                  <a16:creationId xmlns:a16="http://schemas.microsoft.com/office/drawing/2014/main" id="{F122B1F0-3CA9-8F1B-C618-36D67A26C7F6}"/>
                </a:ext>
              </a:extLst>
            </p:cNvPr>
            <p:cNvGrpSpPr/>
            <p:nvPr/>
          </p:nvGrpSpPr>
          <p:grpSpPr>
            <a:xfrm>
              <a:off x="813589" y="42388"/>
              <a:ext cx="5058205" cy="6773224"/>
              <a:chOff x="3566897" y="84776"/>
              <a:chExt cx="5058205" cy="6773224"/>
            </a:xfrm>
          </p:grpSpPr>
          <p:grpSp>
            <p:nvGrpSpPr>
              <p:cNvPr id="22" name="Group 21">
                <a:extLst>
                  <a:ext uri="{FF2B5EF4-FFF2-40B4-BE49-F238E27FC236}">
                    <a16:creationId xmlns:a16="http://schemas.microsoft.com/office/drawing/2014/main" id="{851DCF22-BBAA-809B-43F7-22FB01F293C1}"/>
                  </a:ext>
                </a:extLst>
              </p:cNvPr>
              <p:cNvGrpSpPr/>
              <p:nvPr/>
            </p:nvGrpSpPr>
            <p:grpSpPr>
              <a:xfrm>
                <a:off x="3566897" y="84776"/>
                <a:ext cx="5058205" cy="6773224"/>
                <a:chOff x="3713676" y="84776"/>
                <a:chExt cx="5058205" cy="6773224"/>
              </a:xfrm>
            </p:grpSpPr>
            <p:pic>
              <p:nvPicPr>
                <p:cNvPr id="57" name="Picture 56" descr="A hand holding a cell phone&#10;&#10;Description automatically generated">
                  <a:extLst>
                    <a:ext uri="{FF2B5EF4-FFF2-40B4-BE49-F238E27FC236}">
                      <a16:creationId xmlns:a16="http://schemas.microsoft.com/office/drawing/2014/main" id="{8A7673B0-6C5B-2366-25B2-2E33F0A9477B}"/>
                    </a:ext>
                  </a:extLst>
                </p:cNvPr>
                <p:cNvPicPr>
                  <a:picLocks noChangeAspect="1"/>
                </p:cNvPicPr>
                <p:nvPr/>
              </p:nvPicPr>
              <p:blipFill rotWithShape="1">
                <a:blip r:embed="rId2">
                  <a:extLst>
                    <a:ext uri="{28A0092B-C50C-407E-A947-70E740481C1C}">
                      <a14:useLocalDpi xmlns:a14="http://schemas.microsoft.com/office/drawing/2010/main" val="0"/>
                    </a:ext>
                  </a:extLst>
                </a:blip>
                <a:srcRect b="10283"/>
                <a:stretch/>
              </p:blipFill>
              <p:spPr>
                <a:xfrm>
                  <a:off x="3713676" y="84776"/>
                  <a:ext cx="5058205" cy="6773224"/>
                </a:xfrm>
                <a:prstGeom prst="rect">
                  <a:avLst/>
                </a:prstGeom>
                <a:noFill/>
              </p:spPr>
            </p:pic>
            <p:sp>
              <p:nvSpPr>
                <p:cNvPr id="58" name="Rectangle 57">
                  <a:extLst>
                    <a:ext uri="{FF2B5EF4-FFF2-40B4-BE49-F238E27FC236}">
                      <a16:creationId xmlns:a16="http://schemas.microsoft.com/office/drawing/2014/main" id="{8AB54138-338C-01E8-96CF-A1606FF8364F}"/>
                    </a:ext>
                  </a:extLst>
                </p:cNvPr>
                <p:cNvSpPr/>
                <p:nvPr/>
              </p:nvSpPr>
              <p:spPr bwMode="gray">
                <a:xfrm>
                  <a:off x="4727542" y="6047295"/>
                  <a:ext cx="2172879" cy="263950"/>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24" name="Rectangle: Top Corners Rounded 23">
                <a:extLst>
                  <a:ext uri="{FF2B5EF4-FFF2-40B4-BE49-F238E27FC236}">
                    <a16:creationId xmlns:a16="http://schemas.microsoft.com/office/drawing/2014/main" id="{4DAA90D1-460E-AFB6-BF86-08ABE4188FBE}"/>
                  </a:ext>
                </a:extLst>
              </p:cNvPr>
              <p:cNvSpPr/>
              <p:nvPr/>
            </p:nvSpPr>
            <p:spPr bwMode="gray">
              <a:xfrm>
                <a:off x="4257268" y="402648"/>
                <a:ext cx="2828413" cy="263950"/>
              </a:xfrm>
              <a:prstGeom prst="round2Same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39" name="Group 38">
                <a:extLst>
                  <a:ext uri="{FF2B5EF4-FFF2-40B4-BE49-F238E27FC236}">
                    <a16:creationId xmlns:a16="http://schemas.microsoft.com/office/drawing/2014/main" id="{6D8170D2-AE58-55B2-E966-D9F1E5B827C5}"/>
                  </a:ext>
                </a:extLst>
              </p:cNvPr>
              <p:cNvGrpSpPr>
                <a:grpSpLocks noChangeAspect="1"/>
              </p:cNvGrpSpPr>
              <p:nvPr/>
            </p:nvGrpSpPr>
            <p:grpSpPr>
              <a:xfrm>
                <a:off x="5135445" y="1296130"/>
                <a:ext cx="1063511" cy="199288"/>
                <a:chOff x="398463" y="404813"/>
                <a:chExt cx="1627187" cy="307976"/>
              </a:xfrm>
              <a:solidFill>
                <a:sysClr val="windowText" lastClr="000000"/>
              </a:solidFill>
            </p:grpSpPr>
            <p:sp>
              <p:nvSpPr>
                <p:cNvPr id="43" name="Oval 5">
                  <a:extLst>
                    <a:ext uri="{FF2B5EF4-FFF2-40B4-BE49-F238E27FC236}">
                      <a16:creationId xmlns:a16="http://schemas.microsoft.com/office/drawing/2014/main" id="{C79D3383-C657-FF72-C0C9-34A054A9436D}"/>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44" name="Freeform 6">
                  <a:extLst>
                    <a:ext uri="{FF2B5EF4-FFF2-40B4-BE49-F238E27FC236}">
                      <a16:creationId xmlns:a16="http://schemas.microsoft.com/office/drawing/2014/main" id="{44B6504C-1F0E-47AF-0B4D-EA610F6D8B75}"/>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45" name="Rectangle 7">
                  <a:extLst>
                    <a:ext uri="{FF2B5EF4-FFF2-40B4-BE49-F238E27FC236}">
                      <a16:creationId xmlns:a16="http://schemas.microsoft.com/office/drawing/2014/main" id="{0685BC9B-B9AF-E304-4EAD-2C0B738DF8A6}"/>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46" name="Freeform 8">
                  <a:extLst>
                    <a:ext uri="{FF2B5EF4-FFF2-40B4-BE49-F238E27FC236}">
                      <a16:creationId xmlns:a16="http://schemas.microsoft.com/office/drawing/2014/main" id="{3E619980-B5C4-6C43-9517-86D4871DD672}"/>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47" name="Rectangle 9">
                  <a:extLst>
                    <a:ext uri="{FF2B5EF4-FFF2-40B4-BE49-F238E27FC236}">
                      <a16:creationId xmlns:a16="http://schemas.microsoft.com/office/drawing/2014/main" id="{3C95C212-4C2D-3ECE-1E7E-EA802F258A30}"/>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48" name="Rectangle 10">
                  <a:extLst>
                    <a:ext uri="{FF2B5EF4-FFF2-40B4-BE49-F238E27FC236}">
                      <a16:creationId xmlns:a16="http://schemas.microsoft.com/office/drawing/2014/main" id="{DA762422-3B35-5070-D119-3826411A1668}"/>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49" name="Freeform 11">
                  <a:extLst>
                    <a:ext uri="{FF2B5EF4-FFF2-40B4-BE49-F238E27FC236}">
                      <a16:creationId xmlns:a16="http://schemas.microsoft.com/office/drawing/2014/main" id="{17B1F46A-B7EF-12E5-906D-554A165362A3}"/>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54" name="Freeform 12">
                  <a:extLst>
                    <a:ext uri="{FF2B5EF4-FFF2-40B4-BE49-F238E27FC236}">
                      <a16:creationId xmlns:a16="http://schemas.microsoft.com/office/drawing/2014/main" id="{986DE910-32F0-DD91-CC93-A3C5C096012E}"/>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55" name="Freeform 13">
                  <a:extLst>
                    <a:ext uri="{FF2B5EF4-FFF2-40B4-BE49-F238E27FC236}">
                      <a16:creationId xmlns:a16="http://schemas.microsoft.com/office/drawing/2014/main" id="{8513AFE5-505B-0C70-D71A-E281E194191A}"/>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sp>
              <p:nvSpPr>
                <p:cNvPr id="56" name="Freeform 14">
                  <a:extLst>
                    <a:ext uri="{FF2B5EF4-FFF2-40B4-BE49-F238E27FC236}">
                      <a16:creationId xmlns:a16="http://schemas.microsoft.com/office/drawing/2014/main" id="{D62F027D-CA1C-000D-D2C9-D9CB38792F5D}"/>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Verdana"/>
                    <a:ea typeface="+mn-ea"/>
                    <a:cs typeface="+mn-cs"/>
                  </a:endParaRPr>
                </a:p>
              </p:txBody>
            </p:sp>
          </p:grpSp>
          <p:cxnSp>
            <p:nvCxnSpPr>
              <p:cNvPr id="40" name="Straight Connector 39">
                <a:extLst>
                  <a:ext uri="{FF2B5EF4-FFF2-40B4-BE49-F238E27FC236}">
                    <a16:creationId xmlns:a16="http://schemas.microsoft.com/office/drawing/2014/main" id="{5F661FD1-E279-0C24-0D0F-D60563CD814A}"/>
                  </a:ext>
                </a:extLst>
              </p:cNvPr>
              <p:cNvCxnSpPr/>
              <p:nvPr/>
            </p:nvCxnSpPr>
            <p:spPr>
              <a:xfrm>
                <a:off x="5039813" y="5869866"/>
                <a:ext cx="1226127" cy="0"/>
              </a:xfrm>
              <a:prstGeom prst="line">
                <a:avLst/>
              </a:prstGeom>
              <a:ln w="12700" cap="rnd">
                <a:solidFill>
                  <a:schemeClr val="tx2">
                    <a:alpha val="28000"/>
                  </a:schemeClr>
                </a:solidFill>
                <a:round/>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6DFC403F-1882-60F2-B069-33B258F1A2DC}"/>
                </a:ext>
              </a:extLst>
            </p:cNvPr>
            <p:cNvGrpSpPr/>
            <p:nvPr/>
          </p:nvGrpSpPr>
          <p:grpSpPr>
            <a:xfrm>
              <a:off x="1984907" y="2270383"/>
              <a:ext cx="1877117" cy="2115019"/>
              <a:chOff x="4947239" y="2260129"/>
              <a:chExt cx="1877117" cy="2115019"/>
            </a:xfrm>
          </p:grpSpPr>
          <p:sp>
            <p:nvSpPr>
              <p:cNvPr id="68" name="TextBox 67">
                <a:extLst>
                  <a:ext uri="{FF2B5EF4-FFF2-40B4-BE49-F238E27FC236}">
                    <a16:creationId xmlns:a16="http://schemas.microsoft.com/office/drawing/2014/main" id="{FE3AB5F0-8ADF-C59E-4494-E1C4E4BBF259}"/>
                  </a:ext>
                </a:extLst>
              </p:cNvPr>
              <p:cNvSpPr txBox="1"/>
              <p:nvPr/>
            </p:nvSpPr>
            <p:spPr>
              <a:xfrm>
                <a:off x="4947239" y="3698040"/>
                <a:ext cx="1877117" cy="67710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4400" b="0" i="0" u="none" strike="noStrike" kern="1200" cap="none" spc="600" normalizeH="0" baseline="0" noProof="0" dirty="0">
                    <a:ln>
                      <a:noFill/>
                    </a:ln>
                    <a:solidFill>
                      <a:srgbClr val="313131"/>
                    </a:solidFill>
                    <a:effectLst/>
                    <a:uLnTx/>
                    <a:uFillTx/>
                    <a:latin typeface="Impact" panose="020B0806030902050204" pitchFamily="34" charset="0"/>
                    <a:ea typeface="+mn-ea"/>
                    <a:cs typeface="+mn-cs"/>
                  </a:rPr>
                  <a:t>INSITE</a:t>
                </a:r>
              </a:p>
            </p:txBody>
          </p:sp>
          <p:sp>
            <p:nvSpPr>
              <p:cNvPr id="69" name="Freeform: Shape 68">
                <a:extLst>
                  <a:ext uri="{FF2B5EF4-FFF2-40B4-BE49-F238E27FC236}">
                    <a16:creationId xmlns:a16="http://schemas.microsoft.com/office/drawing/2014/main" id="{40F4F746-333E-0A10-1B0C-6C9B84DD5390}"/>
                  </a:ext>
                </a:extLst>
              </p:cNvPr>
              <p:cNvSpPr/>
              <p:nvPr/>
            </p:nvSpPr>
            <p:spPr bwMode="gray">
              <a:xfrm rot="8100000">
                <a:off x="5334376" y="2260129"/>
                <a:ext cx="1020554" cy="1047966"/>
              </a:xfrm>
              <a:custGeom>
                <a:avLst/>
                <a:gdLst>
                  <a:gd name="connsiteX0" fmla="*/ 652514 w 978388"/>
                  <a:gd name="connsiteY0" fmla="*/ 311418 h 978461"/>
                  <a:gd name="connsiteX1" fmla="*/ 578783 w 978388"/>
                  <a:gd name="connsiteY1" fmla="*/ 0 h 978461"/>
                  <a:gd name="connsiteX2" fmla="*/ 975875 w 978388"/>
                  <a:gd name="connsiteY2" fmla="*/ 2586 h 978461"/>
                  <a:gd name="connsiteX3" fmla="*/ 978388 w 978388"/>
                  <a:gd name="connsiteY3" fmla="*/ 388571 h 978461"/>
                  <a:gd name="connsiteX4" fmla="*/ 365753 w 978388"/>
                  <a:gd name="connsiteY4" fmla="*/ 440187 h 978461"/>
                  <a:gd name="connsiteX5" fmla="*/ 273707 w 978388"/>
                  <a:gd name="connsiteY5" fmla="*/ 51409 h 978461"/>
                  <a:gd name="connsiteX6" fmla="*/ 310026 w 978388"/>
                  <a:gd name="connsiteY6" fmla="*/ 33374 h 978461"/>
                  <a:gd name="connsiteX7" fmla="*/ 390866 w 978388"/>
                  <a:gd name="connsiteY7" fmla="*/ 9364 h 978461"/>
                  <a:gd name="connsiteX8" fmla="*/ 471958 w 978388"/>
                  <a:gd name="connsiteY8" fmla="*/ 1189 h 978461"/>
                  <a:gd name="connsiteX9" fmla="*/ 565912 w 978388"/>
                  <a:gd name="connsiteY9" fmla="*/ 398021 h 978461"/>
                  <a:gd name="connsiteX10" fmla="*/ 978363 w 978388"/>
                  <a:gd name="connsiteY10" fmla="*/ 495672 h 978461"/>
                  <a:gd name="connsiteX11" fmla="*/ 969097 w 978388"/>
                  <a:gd name="connsiteY11" fmla="*/ 587595 h 978461"/>
                  <a:gd name="connsiteX12" fmla="*/ 945087 w 978388"/>
                  <a:gd name="connsiteY12" fmla="*/ 668435 h 978461"/>
                  <a:gd name="connsiteX13" fmla="*/ 927052 w 978388"/>
                  <a:gd name="connsiteY13" fmla="*/ 704754 h 978461"/>
                  <a:gd name="connsiteX14" fmla="*/ 538465 w 978388"/>
                  <a:gd name="connsiteY14" fmla="*/ 612753 h 978461"/>
                  <a:gd name="connsiteX15" fmla="*/ 544594 w 978388"/>
                  <a:gd name="connsiteY15" fmla="*/ 581251 h 978461"/>
                  <a:gd name="connsiteX16" fmla="*/ 501475 w 978388"/>
                  <a:gd name="connsiteY16" fmla="*/ 477153 h 978461"/>
                  <a:gd name="connsiteX17" fmla="*/ 397377 w 978388"/>
                  <a:gd name="connsiteY17" fmla="*/ 434034 h 978461"/>
                  <a:gd name="connsiteX18" fmla="*/ 336040 w 978388"/>
                  <a:gd name="connsiteY18" fmla="*/ 641445 h 978461"/>
                  <a:gd name="connsiteX19" fmla="*/ 336040 w 978388"/>
                  <a:gd name="connsiteY19" fmla="*/ 520720 h 978461"/>
                  <a:gd name="connsiteX20" fmla="*/ 456766 w 978388"/>
                  <a:gd name="connsiteY20" fmla="*/ 520720 h 978461"/>
                  <a:gd name="connsiteX21" fmla="*/ 456766 w 978388"/>
                  <a:gd name="connsiteY21" fmla="*/ 641445 h 978461"/>
                  <a:gd name="connsiteX22" fmla="*/ 336040 w 978388"/>
                  <a:gd name="connsiteY22" fmla="*/ 641445 h 978461"/>
                  <a:gd name="connsiteX23" fmla="*/ 143377 w 978388"/>
                  <a:gd name="connsiteY23" fmla="*/ 835084 h 978461"/>
                  <a:gd name="connsiteX24" fmla="*/ 0 w 978388"/>
                  <a:gd name="connsiteY24" fmla="*/ 488940 h 978461"/>
                  <a:gd name="connsiteX25" fmla="*/ 169166 w 978388"/>
                  <a:gd name="connsiteY25" fmla="*/ 118790 h 978461"/>
                  <a:gd name="connsiteX26" fmla="*/ 180582 w 978388"/>
                  <a:gd name="connsiteY26" fmla="*/ 110466 h 978461"/>
                  <a:gd name="connsiteX27" fmla="*/ 274200 w 978388"/>
                  <a:gd name="connsiteY27" fmla="*/ 505884 h 978461"/>
                  <a:gd name="connsiteX28" fmla="*/ 260940 w 978388"/>
                  <a:gd name="connsiteY28" fmla="*/ 525853 h 978461"/>
                  <a:gd name="connsiteX29" fmla="*/ 293279 w 978388"/>
                  <a:gd name="connsiteY29" fmla="*/ 685349 h 978461"/>
                  <a:gd name="connsiteX30" fmla="*/ 452775 w 978388"/>
                  <a:gd name="connsiteY30" fmla="*/ 717688 h 978461"/>
                  <a:gd name="connsiteX31" fmla="*/ 472887 w 978388"/>
                  <a:gd name="connsiteY31" fmla="*/ 704333 h 978461"/>
                  <a:gd name="connsiteX32" fmla="*/ 867995 w 978388"/>
                  <a:gd name="connsiteY32" fmla="*/ 797879 h 978461"/>
                  <a:gd name="connsiteX33" fmla="*/ 859671 w 978388"/>
                  <a:gd name="connsiteY33" fmla="*/ 809295 h 978461"/>
                  <a:gd name="connsiteX34" fmla="*/ 489521 w 978388"/>
                  <a:gd name="connsiteY34" fmla="*/ 978461 h 978461"/>
                  <a:gd name="connsiteX35" fmla="*/ 143377 w 978388"/>
                  <a:gd name="connsiteY35" fmla="*/ 835084 h 97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78388" h="978461">
                    <a:moveTo>
                      <a:pt x="652514" y="311418"/>
                    </a:moveTo>
                    <a:lnTo>
                      <a:pt x="578783" y="0"/>
                    </a:lnTo>
                    <a:lnTo>
                      <a:pt x="975875" y="2586"/>
                    </a:lnTo>
                    <a:lnTo>
                      <a:pt x="978388" y="388571"/>
                    </a:lnTo>
                    <a:close/>
                    <a:moveTo>
                      <a:pt x="365753" y="440187"/>
                    </a:moveTo>
                    <a:lnTo>
                      <a:pt x="273707" y="51409"/>
                    </a:lnTo>
                    <a:lnTo>
                      <a:pt x="310026" y="33374"/>
                    </a:lnTo>
                    <a:cubicBezTo>
                      <a:pt x="335962" y="23147"/>
                      <a:pt x="362982" y="15070"/>
                      <a:pt x="390866" y="9364"/>
                    </a:cubicBezTo>
                    <a:lnTo>
                      <a:pt x="471958" y="1189"/>
                    </a:lnTo>
                    <a:lnTo>
                      <a:pt x="565912" y="398021"/>
                    </a:lnTo>
                    <a:lnTo>
                      <a:pt x="978363" y="495672"/>
                    </a:lnTo>
                    <a:lnTo>
                      <a:pt x="969097" y="587595"/>
                    </a:lnTo>
                    <a:cubicBezTo>
                      <a:pt x="963391" y="615479"/>
                      <a:pt x="955314" y="642499"/>
                      <a:pt x="945087" y="668435"/>
                    </a:cubicBezTo>
                    <a:lnTo>
                      <a:pt x="927052" y="704754"/>
                    </a:lnTo>
                    <a:lnTo>
                      <a:pt x="538465" y="612753"/>
                    </a:lnTo>
                    <a:lnTo>
                      <a:pt x="544594" y="581251"/>
                    </a:lnTo>
                    <a:cubicBezTo>
                      <a:pt x="544594" y="543575"/>
                      <a:pt x="530221" y="505899"/>
                      <a:pt x="501475" y="477153"/>
                    </a:cubicBezTo>
                    <a:cubicBezTo>
                      <a:pt x="472729" y="448407"/>
                      <a:pt x="435053" y="434034"/>
                      <a:pt x="397377" y="434034"/>
                    </a:cubicBezTo>
                    <a:close/>
                    <a:moveTo>
                      <a:pt x="336040" y="641445"/>
                    </a:moveTo>
                    <a:cubicBezTo>
                      <a:pt x="302703" y="608108"/>
                      <a:pt x="302703" y="554057"/>
                      <a:pt x="336040" y="520720"/>
                    </a:cubicBezTo>
                    <a:cubicBezTo>
                      <a:pt x="369377" y="487382"/>
                      <a:pt x="423428" y="487382"/>
                      <a:pt x="456766" y="520720"/>
                    </a:cubicBezTo>
                    <a:cubicBezTo>
                      <a:pt x="490103" y="554057"/>
                      <a:pt x="490103" y="608108"/>
                      <a:pt x="456766" y="641445"/>
                    </a:cubicBezTo>
                    <a:cubicBezTo>
                      <a:pt x="423428" y="674783"/>
                      <a:pt x="369377" y="674783"/>
                      <a:pt x="336040" y="641445"/>
                    </a:cubicBezTo>
                    <a:close/>
                    <a:moveTo>
                      <a:pt x="143377" y="835084"/>
                    </a:moveTo>
                    <a:cubicBezTo>
                      <a:pt x="54791" y="746497"/>
                      <a:pt x="0" y="624117"/>
                      <a:pt x="0" y="488940"/>
                    </a:cubicBezTo>
                    <a:cubicBezTo>
                      <a:pt x="0" y="341089"/>
                      <a:pt x="65546" y="208548"/>
                      <a:pt x="169166" y="118790"/>
                    </a:cubicBezTo>
                    <a:lnTo>
                      <a:pt x="180582" y="110466"/>
                    </a:lnTo>
                    <a:lnTo>
                      <a:pt x="274200" y="505884"/>
                    </a:lnTo>
                    <a:lnTo>
                      <a:pt x="260940" y="525853"/>
                    </a:lnTo>
                    <a:cubicBezTo>
                      <a:pt x="239381" y="579019"/>
                      <a:pt x="250160" y="642230"/>
                      <a:pt x="293279" y="685349"/>
                    </a:cubicBezTo>
                    <a:cubicBezTo>
                      <a:pt x="336398" y="728468"/>
                      <a:pt x="399610" y="739248"/>
                      <a:pt x="452775" y="717688"/>
                    </a:cubicBezTo>
                    <a:lnTo>
                      <a:pt x="472887" y="704333"/>
                    </a:lnTo>
                    <a:lnTo>
                      <a:pt x="867995" y="797879"/>
                    </a:lnTo>
                    <a:lnTo>
                      <a:pt x="859671" y="809295"/>
                    </a:lnTo>
                    <a:cubicBezTo>
                      <a:pt x="769913" y="912915"/>
                      <a:pt x="637372" y="978461"/>
                      <a:pt x="489521" y="978461"/>
                    </a:cubicBezTo>
                    <a:cubicBezTo>
                      <a:pt x="354344" y="978461"/>
                      <a:pt x="231963" y="923669"/>
                      <a:pt x="143377" y="835084"/>
                    </a:cubicBezTo>
                    <a:close/>
                  </a:path>
                </a:pathLst>
              </a:custGeom>
              <a:solidFill>
                <a:srgbClr val="86BC25"/>
              </a:solid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72" name="Group 71">
            <a:extLst>
              <a:ext uri="{FF2B5EF4-FFF2-40B4-BE49-F238E27FC236}">
                <a16:creationId xmlns:a16="http://schemas.microsoft.com/office/drawing/2014/main" id="{F4324AF9-437C-D00B-2962-782A1E2B6CCE}"/>
              </a:ext>
            </a:extLst>
          </p:cNvPr>
          <p:cNvGrpSpPr/>
          <p:nvPr/>
        </p:nvGrpSpPr>
        <p:grpSpPr>
          <a:xfrm>
            <a:off x="4091073" y="597515"/>
            <a:ext cx="2312474" cy="1169551"/>
            <a:chOff x="4091073" y="989400"/>
            <a:chExt cx="2312474" cy="1169551"/>
          </a:xfrm>
        </p:grpSpPr>
        <p:sp>
          <p:nvSpPr>
            <p:cNvPr id="63" name="TextBox 62">
              <a:extLst>
                <a:ext uri="{FF2B5EF4-FFF2-40B4-BE49-F238E27FC236}">
                  <a16:creationId xmlns:a16="http://schemas.microsoft.com/office/drawing/2014/main" id="{F5090557-AA8C-69D7-44D9-2E6A9B698DDC}"/>
                </a:ext>
              </a:extLst>
            </p:cNvPr>
            <p:cNvSpPr txBox="1"/>
            <p:nvPr/>
          </p:nvSpPr>
          <p:spPr>
            <a:xfrm>
              <a:off x="4646971" y="989400"/>
              <a:ext cx="1756576"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This is the welcome screen of the app and shall take the user to the login screen under 3 seconds.</a:t>
              </a:r>
            </a:p>
          </p:txBody>
        </p:sp>
        <p:cxnSp>
          <p:nvCxnSpPr>
            <p:cNvPr id="35" name="Straight Connector 34">
              <a:extLst>
                <a:ext uri="{FF2B5EF4-FFF2-40B4-BE49-F238E27FC236}">
                  <a16:creationId xmlns:a16="http://schemas.microsoft.com/office/drawing/2014/main" id="{F28E3A83-98DF-029D-981C-DEB699C555D7}"/>
                </a:ext>
              </a:extLst>
            </p:cNvPr>
            <p:cNvCxnSpPr>
              <a:cxnSpLocks/>
            </p:cNvCxnSpPr>
            <p:nvPr/>
          </p:nvCxnSpPr>
          <p:spPr>
            <a:xfrm>
              <a:off x="4091073" y="1415667"/>
              <a:ext cx="555898"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nvGrpSpPr>
          <p:cNvPr id="73" name="Group 72">
            <a:extLst>
              <a:ext uri="{FF2B5EF4-FFF2-40B4-BE49-F238E27FC236}">
                <a16:creationId xmlns:a16="http://schemas.microsoft.com/office/drawing/2014/main" id="{863985D2-ABAA-42AB-9687-13FFD6541E84}"/>
              </a:ext>
            </a:extLst>
          </p:cNvPr>
          <p:cNvGrpSpPr/>
          <p:nvPr/>
        </p:nvGrpSpPr>
        <p:grpSpPr>
          <a:xfrm>
            <a:off x="9580582" y="597515"/>
            <a:ext cx="2580682" cy="1384995"/>
            <a:chOff x="9580582" y="989400"/>
            <a:chExt cx="2580682" cy="1384995"/>
          </a:xfrm>
        </p:grpSpPr>
        <p:sp>
          <p:nvSpPr>
            <p:cNvPr id="41" name="TextBox 40">
              <a:extLst>
                <a:ext uri="{FF2B5EF4-FFF2-40B4-BE49-F238E27FC236}">
                  <a16:creationId xmlns:a16="http://schemas.microsoft.com/office/drawing/2014/main" id="{FAB29CD0-641D-8C48-80C4-7526DD886B7B}"/>
                </a:ext>
              </a:extLst>
            </p:cNvPr>
            <p:cNvSpPr txBox="1"/>
            <p:nvPr/>
          </p:nvSpPr>
          <p:spPr>
            <a:xfrm>
              <a:off x="10145594" y="989400"/>
              <a:ext cx="2015670"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User needs to enter the username and password to enter the application. There is also an option of “Forgot password” to reset the password  </a:t>
              </a:r>
            </a:p>
          </p:txBody>
        </p:sp>
        <p:cxnSp>
          <p:nvCxnSpPr>
            <p:cNvPr id="42" name="Straight Connector 41">
              <a:extLst>
                <a:ext uri="{FF2B5EF4-FFF2-40B4-BE49-F238E27FC236}">
                  <a16:creationId xmlns:a16="http://schemas.microsoft.com/office/drawing/2014/main" id="{1D603043-F98A-89BC-1A7C-B0397998129F}"/>
                </a:ext>
              </a:extLst>
            </p:cNvPr>
            <p:cNvCxnSpPr>
              <a:cxnSpLocks/>
            </p:cNvCxnSpPr>
            <p:nvPr/>
          </p:nvCxnSpPr>
          <p:spPr>
            <a:xfrm>
              <a:off x="9580582" y="1451150"/>
              <a:ext cx="590412"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
        <p:nvSpPr>
          <p:cNvPr id="70" name="Copyright">
            <a:extLst>
              <a:ext uri="{FF2B5EF4-FFF2-40B4-BE49-F238E27FC236}">
                <a16:creationId xmlns:a16="http://schemas.microsoft.com/office/drawing/2014/main" id="{751018F7-F897-197E-DBFB-951812DD7F64}"/>
              </a:ext>
            </a:extLst>
          </p:cNvPr>
          <p:cNvSpPr txBox="1"/>
          <p:nvPr/>
        </p:nvSpPr>
        <p:spPr>
          <a:xfrm>
            <a:off x="5311407" y="6696739"/>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2024 Deloitte Touche Tohmatsu India LLP. </a:t>
            </a:r>
          </a:p>
        </p:txBody>
      </p:sp>
      <p:sp>
        <p:nvSpPr>
          <p:cNvPr id="66" name="Rectangle 65">
            <a:extLst>
              <a:ext uri="{FF2B5EF4-FFF2-40B4-BE49-F238E27FC236}">
                <a16:creationId xmlns:a16="http://schemas.microsoft.com/office/drawing/2014/main" id="{A4A5D224-F7AA-7871-DADA-C786D0718D48}"/>
              </a:ext>
            </a:extLst>
          </p:cNvPr>
          <p:cNvSpPr/>
          <p:nvPr/>
        </p:nvSpPr>
        <p:spPr bwMode="gray">
          <a:xfrm>
            <a:off x="0" y="0"/>
            <a:ext cx="463583" cy="6858000"/>
          </a:xfrm>
          <a:prstGeom prst="rect">
            <a:avLst/>
          </a:prstGeom>
          <a:solidFill>
            <a:schemeClr val="accent1"/>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AU" sz="1600" b="1" dirty="0"/>
          </a:p>
        </p:txBody>
      </p:sp>
      <p:sp>
        <p:nvSpPr>
          <p:cNvPr id="71" name="TextBox 70">
            <a:extLst>
              <a:ext uri="{FF2B5EF4-FFF2-40B4-BE49-F238E27FC236}">
                <a16:creationId xmlns:a16="http://schemas.microsoft.com/office/drawing/2014/main" id="{C2293B57-36B0-319C-9EF5-57F1F8AAB8AB}"/>
              </a:ext>
            </a:extLst>
          </p:cNvPr>
          <p:cNvSpPr txBox="1"/>
          <p:nvPr/>
        </p:nvSpPr>
        <p:spPr>
          <a:xfrm>
            <a:off x="12589" y="606677"/>
            <a:ext cx="430887" cy="5644647"/>
          </a:xfrm>
          <a:prstGeom prst="rect">
            <a:avLst/>
          </a:prstGeom>
          <a:noFill/>
        </p:spPr>
        <p:txBody>
          <a:bodyPr vert="vert270" wrap="square" lIns="0" tIns="0" rIns="0" bIns="0" rtlCol="0">
            <a:spAutoFit/>
          </a:bodyPr>
          <a:lstStyle/>
          <a:p>
            <a:pPr algn="ctr">
              <a:spcBef>
                <a:spcPts val="600"/>
              </a:spcBef>
              <a:buSzPct val="100000"/>
            </a:pPr>
            <a:r>
              <a:rPr lang="en-AU" sz="2800" b="1" dirty="0">
                <a:solidFill>
                  <a:schemeClr val="bg1"/>
                </a:solidFill>
                <a:latin typeface="+mj-lt"/>
                <a:cs typeface="Arial" panose="020B0604020202020204" pitchFamily="34" charset="0"/>
              </a:rPr>
              <a:t>Walkthrough </a:t>
            </a:r>
            <a:r>
              <a:rPr lang="en-AU" sz="2800" b="1">
                <a:solidFill>
                  <a:schemeClr val="bg1"/>
                </a:solidFill>
                <a:latin typeface="+mj-lt"/>
                <a:cs typeface="Arial" panose="020B0604020202020204" pitchFamily="34" charset="0"/>
              </a:rPr>
              <a:t>of </a:t>
            </a:r>
            <a:r>
              <a:rPr lang="en-AU" sz="2800" b="1">
                <a:latin typeface="+mj-lt"/>
                <a:cs typeface="Arial" panose="020B0604020202020204" pitchFamily="34" charset="0"/>
              </a:rPr>
              <a:t>INSITE   </a:t>
            </a:r>
            <a:endParaRPr lang="en-AU" sz="2800" b="1" dirty="0">
              <a:latin typeface="+mj-lt"/>
              <a:cs typeface="Arial" panose="020B0604020202020204" pitchFamily="34" charset="0"/>
            </a:endParaRPr>
          </a:p>
        </p:txBody>
      </p:sp>
    </p:spTree>
    <p:extLst>
      <p:ext uri="{BB962C8B-B14F-4D97-AF65-F5344CB8AC3E}">
        <p14:creationId xmlns:p14="http://schemas.microsoft.com/office/powerpoint/2010/main" val="155076952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A9C5215B-272F-BD0B-458E-B6C1D74681DF}"/>
              </a:ext>
            </a:extLst>
          </p:cNvPr>
          <p:cNvGrpSpPr/>
          <p:nvPr/>
        </p:nvGrpSpPr>
        <p:grpSpPr>
          <a:xfrm>
            <a:off x="6057251" y="84776"/>
            <a:ext cx="5058205" cy="6773224"/>
            <a:chOff x="6697276" y="84776"/>
            <a:chExt cx="5058205" cy="6773224"/>
          </a:xfrm>
        </p:grpSpPr>
        <p:grpSp>
          <p:nvGrpSpPr>
            <p:cNvPr id="12" name="Group 11">
              <a:extLst>
                <a:ext uri="{FF2B5EF4-FFF2-40B4-BE49-F238E27FC236}">
                  <a16:creationId xmlns:a16="http://schemas.microsoft.com/office/drawing/2014/main" id="{3D117006-9DF8-E125-B6F1-3A051FAE21B6}"/>
                </a:ext>
              </a:extLst>
            </p:cNvPr>
            <p:cNvGrpSpPr/>
            <p:nvPr/>
          </p:nvGrpSpPr>
          <p:grpSpPr>
            <a:xfrm>
              <a:off x="6697276" y="84776"/>
              <a:ext cx="5058205" cy="6773224"/>
              <a:chOff x="3713676" y="84776"/>
              <a:chExt cx="5058205" cy="6773224"/>
            </a:xfrm>
          </p:grpSpPr>
          <p:pic>
            <p:nvPicPr>
              <p:cNvPr id="13" name="Picture 12" descr="A hand holding a cell phone&#10;&#10;Description automatically generated">
                <a:extLst>
                  <a:ext uri="{FF2B5EF4-FFF2-40B4-BE49-F238E27FC236}">
                    <a16:creationId xmlns:a16="http://schemas.microsoft.com/office/drawing/2014/main" id="{9699B892-EAF0-21EF-36F3-84E331306E55}"/>
                  </a:ext>
                </a:extLst>
              </p:cNvPr>
              <p:cNvPicPr>
                <a:picLocks noChangeAspect="1"/>
              </p:cNvPicPr>
              <p:nvPr/>
            </p:nvPicPr>
            <p:blipFill rotWithShape="1">
              <a:blip r:embed="rId2">
                <a:extLst>
                  <a:ext uri="{28A0092B-C50C-407E-A947-70E740481C1C}">
                    <a14:useLocalDpi xmlns:a14="http://schemas.microsoft.com/office/drawing/2010/main" val="0"/>
                  </a:ext>
                </a:extLst>
              </a:blip>
              <a:srcRect b="10283"/>
              <a:stretch/>
            </p:blipFill>
            <p:spPr>
              <a:xfrm>
                <a:off x="3713676" y="84776"/>
                <a:ext cx="5058205" cy="6773224"/>
              </a:xfrm>
              <a:prstGeom prst="rect">
                <a:avLst/>
              </a:prstGeom>
              <a:noFill/>
            </p:spPr>
          </p:pic>
          <p:sp>
            <p:nvSpPr>
              <p:cNvPr id="14" name="Rectangle 13">
                <a:extLst>
                  <a:ext uri="{FF2B5EF4-FFF2-40B4-BE49-F238E27FC236}">
                    <a16:creationId xmlns:a16="http://schemas.microsoft.com/office/drawing/2014/main" id="{2849926B-CA53-C54E-60C1-5CBC24F0AA5A}"/>
                  </a:ext>
                </a:extLst>
              </p:cNvPr>
              <p:cNvSpPr/>
              <p:nvPr/>
            </p:nvSpPr>
            <p:spPr bwMode="gray">
              <a:xfrm>
                <a:off x="4727542" y="6047295"/>
                <a:ext cx="2172879" cy="263950"/>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5" name="Rectangle: Top Corners Rounded 14">
              <a:extLst>
                <a:ext uri="{FF2B5EF4-FFF2-40B4-BE49-F238E27FC236}">
                  <a16:creationId xmlns:a16="http://schemas.microsoft.com/office/drawing/2014/main" id="{9929ABEE-DCEA-1F7E-D83E-5BD4643757BD}"/>
                </a:ext>
              </a:extLst>
            </p:cNvPr>
            <p:cNvSpPr/>
            <p:nvPr/>
          </p:nvSpPr>
          <p:spPr bwMode="gray">
            <a:xfrm>
              <a:off x="7387647" y="402648"/>
              <a:ext cx="2828413" cy="263950"/>
            </a:xfrm>
            <a:prstGeom prst="round2Same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pic>
          <p:nvPicPr>
            <p:cNvPr id="153" name="Picture 152" descr="A black background with a black square&#10;&#10;Description automatically generated with medium confidence">
              <a:extLst>
                <a:ext uri="{FF2B5EF4-FFF2-40B4-BE49-F238E27FC236}">
                  <a16:creationId xmlns:a16="http://schemas.microsoft.com/office/drawing/2014/main" id="{E7BDEEF7-5159-0855-95F7-D8BCE0FC1F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7483958" y="1316073"/>
              <a:ext cx="136837" cy="136837"/>
            </a:xfrm>
            <a:prstGeom prst="rect">
              <a:avLst/>
            </a:prstGeom>
          </p:spPr>
        </p:pic>
        <p:sp>
          <p:nvSpPr>
            <p:cNvPr id="154" name="Rectangle 153">
              <a:extLst>
                <a:ext uri="{FF2B5EF4-FFF2-40B4-BE49-F238E27FC236}">
                  <a16:creationId xmlns:a16="http://schemas.microsoft.com/office/drawing/2014/main" id="{91EEE716-45C9-8FC0-A0D2-E1969E24F168}"/>
                </a:ext>
              </a:extLst>
            </p:cNvPr>
            <p:cNvSpPr/>
            <p:nvPr/>
          </p:nvSpPr>
          <p:spPr>
            <a:xfrm>
              <a:off x="7414104" y="1549530"/>
              <a:ext cx="956729" cy="390146"/>
            </a:xfrm>
            <a:prstGeom prst="rect">
              <a:avLst/>
            </a:prstGeom>
            <a:solidFill>
              <a:srgbClr val="63E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55" name="Group 154">
              <a:extLst>
                <a:ext uri="{FF2B5EF4-FFF2-40B4-BE49-F238E27FC236}">
                  <a16:creationId xmlns:a16="http://schemas.microsoft.com/office/drawing/2014/main" id="{957E3824-E3C4-94AA-9795-FFF7C9696B6A}"/>
                </a:ext>
              </a:extLst>
            </p:cNvPr>
            <p:cNvGrpSpPr/>
            <p:nvPr/>
          </p:nvGrpSpPr>
          <p:grpSpPr>
            <a:xfrm>
              <a:off x="7407203" y="1549530"/>
              <a:ext cx="2842667" cy="400612"/>
              <a:chOff x="7409677" y="1549530"/>
              <a:chExt cx="2842667" cy="400612"/>
            </a:xfrm>
          </p:grpSpPr>
          <p:sp>
            <p:nvSpPr>
              <p:cNvPr id="167" name="Rectangle 166">
                <a:extLst>
                  <a:ext uri="{FF2B5EF4-FFF2-40B4-BE49-F238E27FC236}">
                    <a16:creationId xmlns:a16="http://schemas.microsoft.com/office/drawing/2014/main" id="{747BC7EB-BE7D-5CB7-E306-143A1850D3CC}"/>
                  </a:ext>
                </a:extLst>
              </p:cNvPr>
              <p:cNvSpPr/>
              <p:nvPr/>
            </p:nvSpPr>
            <p:spPr>
              <a:xfrm>
                <a:off x="7409677" y="1549530"/>
                <a:ext cx="2784442" cy="400612"/>
              </a:xfrm>
              <a:prstGeom prst="rect">
                <a:avLst/>
              </a:prstGeom>
              <a:solidFill>
                <a:srgbClr val="EAEAEA">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68" name="Picture 167" descr="A black background with a black square&#10;&#10;Description automatically generated with medium confidence">
                <a:extLst>
                  <a:ext uri="{FF2B5EF4-FFF2-40B4-BE49-F238E27FC236}">
                    <a16:creationId xmlns:a16="http://schemas.microsoft.com/office/drawing/2014/main" id="{8AF6B41E-EE04-1E6A-E367-115C2BDF64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7838210" y="1607518"/>
                <a:ext cx="123649" cy="123649"/>
              </a:xfrm>
              <a:prstGeom prst="rect">
                <a:avLst/>
              </a:prstGeom>
            </p:spPr>
          </p:pic>
          <p:sp>
            <p:nvSpPr>
              <p:cNvPr id="169" name="Rectangle 168">
                <a:extLst>
                  <a:ext uri="{FF2B5EF4-FFF2-40B4-BE49-F238E27FC236}">
                    <a16:creationId xmlns:a16="http://schemas.microsoft.com/office/drawing/2014/main" id="{45B1ABCB-AF03-874D-E0E9-C19D80A63A8D}"/>
                  </a:ext>
                </a:extLst>
              </p:cNvPr>
              <p:cNvSpPr/>
              <p:nvPr/>
            </p:nvSpPr>
            <p:spPr>
              <a:xfrm>
                <a:off x="7437841" y="1739672"/>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Office &amp; Location</a:t>
                </a:r>
              </a:p>
            </p:txBody>
          </p:sp>
          <p:cxnSp>
            <p:nvCxnSpPr>
              <p:cNvPr id="170" name="Straight Connector 169">
                <a:extLst>
                  <a:ext uri="{FF2B5EF4-FFF2-40B4-BE49-F238E27FC236}">
                    <a16:creationId xmlns:a16="http://schemas.microsoft.com/office/drawing/2014/main" id="{8E4F0408-9A52-4C0D-4451-0BC105566562}"/>
                  </a:ext>
                </a:extLst>
              </p:cNvPr>
              <p:cNvCxnSpPr/>
              <p:nvPr/>
            </p:nvCxnSpPr>
            <p:spPr>
              <a:xfrm>
                <a:off x="8385539" y="1615729"/>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1" name="Rectangle 170">
                <a:extLst>
                  <a:ext uri="{FF2B5EF4-FFF2-40B4-BE49-F238E27FC236}">
                    <a16:creationId xmlns:a16="http://schemas.microsoft.com/office/drawing/2014/main" id="{7A03D3B7-DAC3-0974-E9F2-1D7D5E1CFC5B}"/>
                  </a:ext>
                </a:extLst>
              </p:cNvPr>
              <p:cNvSpPr/>
              <p:nvPr/>
            </p:nvSpPr>
            <p:spPr>
              <a:xfrm>
                <a:off x="8369854"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Asset Details</a:t>
                </a:r>
              </a:p>
            </p:txBody>
          </p:sp>
          <p:sp>
            <p:nvSpPr>
              <p:cNvPr id="172" name="Rectangle 171">
                <a:extLst>
                  <a:ext uri="{FF2B5EF4-FFF2-40B4-BE49-F238E27FC236}">
                    <a16:creationId xmlns:a16="http://schemas.microsoft.com/office/drawing/2014/main" id="{574676A8-B158-E7FA-BE51-322AC9A3E936}"/>
                  </a:ext>
                </a:extLst>
              </p:cNvPr>
              <p:cNvSpPr/>
              <p:nvPr/>
            </p:nvSpPr>
            <p:spPr>
              <a:xfrm>
                <a:off x="9295615"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Photos</a:t>
                </a:r>
              </a:p>
            </p:txBody>
          </p:sp>
          <p:cxnSp>
            <p:nvCxnSpPr>
              <p:cNvPr id="173" name="Straight Connector 172">
                <a:extLst>
                  <a:ext uri="{FF2B5EF4-FFF2-40B4-BE49-F238E27FC236}">
                    <a16:creationId xmlns:a16="http://schemas.microsoft.com/office/drawing/2014/main" id="{218758D1-F56B-2872-9508-3AC347154558}"/>
                  </a:ext>
                </a:extLst>
              </p:cNvPr>
              <p:cNvCxnSpPr/>
              <p:nvPr/>
            </p:nvCxnSpPr>
            <p:spPr>
              <a:xfrm>
                <a:off x="9305319" y="1619660"/>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74" name="Picture 173" descr="A black background with a black square&#10;&#10;Description automatically generated with medium confidence">
                <a:extLst>
                  <a:ext uri="{FF2B5EF4-FFF2-40B4-BE49-F238E27FC236}">
                    <a16:creationId xmlns:a16="http://schemas.microsoft.com/office/drawing/2014/main" id="{BD68D066-3FDD-9C4F-E1A9-3512B4289E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2733" y="1606972"/>
                <a:ext cx="137535" cy="137535"/>
              </a:xfrm>
              <a:prstGeom prst="rect">
                <a:avLst/>
              </a:prstGeom>
            </p:spPr>
          </p:pic>
          <p:pic>
            <p:nvPicPr>
              <p:cNvPr id="175" name="Picture 174" descr="A black background with a black square&#10;&#10;Description automatically generated with medium confidence">
                <a:extLst>
                  <a:ext uri="{FF2B5EF4-FFF2-40B4-BE49-F238E27FC236}">
                    <a16:creationId xmlns:a16="http://schemas.microsoft.com/office/drawing/2014/main" id="{33662AEA-5027-1EDD-04C4-6888992118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27782" y="1615331"/>
                <a:ext cx="127162" cy="127162"/>
              </a:xfrm>
              <a:prstGeom prst="rect">
                <a:avLst/>
              </a:prstGeom>
            </p:spPr>
          </p:pic>
        </p:grpSp>
        <p:sp>
          <p:nvSpPr>
            <p:cNvPr id="156" name="Rectangle 155">
              <a:extLst>
                <a:ext uri="{FF2B5EF4-FFF2-40B4-BE49-F238E27FC236}">
                  <a16:creationId xmlns:a16="http://schemas.microsoft.com/office/drawing/2014/main" id="{19F43181-6EAF-EC62-BD74-AF6FFF80AFA4}"/>
                </a:ext>
              </a:extLst>
            </p:cNvPr>
            <p:cNvSpPr/>
            <p:nvPr/>
          </p:nvSpPr>
          <p:spPr>
            <a:xfrm>
              <a:off x="8336412" y="1278802"/>
              <a:ext cx="956729"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ASSET</a:t>
              </a:r>
            </a:p>
          </p:txBody>
        </p:sp>
        <p:sp>
          <p:nvSpPr>
            <p:cNvPr id="180" name="Rectangle: Rounded Corners 179">
              <a:extLst>
                <a:ext uri="{FF2B5EF4-FFF2-40B4-BE49-F238E27FC236}">
                  <a16:creationId xmlns:a16="http://schemas.microsoft.com/office/drawing/2014/main" id="{986B0986-6AA3-20AB-17F4-F3FFAED8816B}"/>
                </a:ext>
              </a:extLst>
            </p:cNvPr>
            <p:cNvSpPr/>
            <p:nvPr/>
          </p:nvSpPr>
          <p:spPr bwMode="gray">
            <a:xfrm>
              <a:off x="7528854" y="2438408"/>
              <a:ext cx="251620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81" name="Rectangle: Rounded Corners 180">
              <a:extLst>
                <a:ext uri="{FF2B5EF4-FFF2-40B4-BE49-F238E27FC236}">
                  <a16:creationId xmlns:a16="http://schemas.microsoft.com/office/drawing/2014/main" id="{E8BA8977-D4F3-19AC-B259-B1D935F11970}"/>
                </a:ext>
              </a:extLst>
            </p:cNvPr>
            <p:cNvSpPr/>
            <p:nvPr/>
          </p:nvSpPr>
          <p:spPr bwMode="gray">
            <a:xfrm>
              <a:off x="7528854" y="3131666"/>
              <a:ext cx="2516202" cy="845434"/>
            </a:xfrm>
            <a:prstGeom prst="roundRect">
              <a:avLst>
                <a:gd name="adj" fmla="val 3955"/>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82" name="Rectangle 181">
              <a:extLst>
                <a:ext uri="{FF2B5EF4-FFF2-40B4-BE49-F238E27FC236}">
                  <a16:creationId xmlns:a16="http://schemas.microsoft.com/office/drawing/2014/main" id="{AD2B7BC1-F632-40F3-7E27-D8B70B5FE91E}"/>
                </a:ext>
              </a:extLst>
            </p:cNvPr>
            <p:cNvSpPr/>
            <p:nvPr/>
          </p:nvSpPr>
          <p:spPr>
            <a:xfrm>
              <a:off x="7459795" y="2202761"/>
              <a:ext cx="1317274"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Sub-Division/ Office *</a:t>
              </a:r>
            </a:p>
          </p:txBody>
        </p:sp>
        <p:sp>
          <p:nvSpPr>
            <p:cNvPr id="183" name="Rectangle 182">
              <a:extLst>
                <a:ext uri="{FF2B5EF4-FFF2-40B4-BE49-F238E27FC236}">
                  <a16:creationId xmlns:a16="http://schemas.microsoft.com/office/drawing/2014/main" id="{66E4B707-702C-C4C5-0BAE-BC7B4AEB8269}"/>
                </a:ext>
              </a:extLst>
            </p:cNvPr>
            <p:cNvSpPr/>
            <p:nvPr/>
          </p:nvSpPr>
          <p:spPr>
            <a:xfrm>
              <a:off x="7462599" y="2934969"/>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Location *</a:t>
              </a:r>
            </a:p>
          </p:txBody>
        </p:sp>
        <p:sp>
          <p:nvSpPr>
            <p:cNvPr id="184" name="Rectangle: Rounded Corners 183">
              <a:extLst>
                <a:ext uri="{FF2B5EF4-FFF2-40B4-BE49-F238E27FC236}">
                  <a16:creationId xmlns:a16="http://schemas.microsoft.com/office/drawing/2014/main" id="{84BCAFD6-FCC3-CC5C-2EBB-A34DEE4C9633}"/>
                </a:ext>
              </a:extLst>
            </p:cNvPr>
            <p:cNvSpPr/>
            <p:nvPr/>
          </p:nvSpPr>
          <p:spPr bwMode="gray">
            <a:xfrm>
              <a:off x="7533713" y="4305693"/>
              <a:ext cx="2511343"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85" name="Rectangle 184">
              <a:extLst>
                <a:ext uri="{FF2B5EF4-FFF2-40B4-BE49-F238E27FC236}">
                  <a16:creationId xmlns:a16="http://schemas.microsoft.com/office/drawing/2014/main" id="{C46D98E1-1D6F-053F-DAC2-F54D3726241D}"/>
                </a:ext>
              </a:extLst>
            </p:cNvPr>
            <p:cNvSpPr/>
            <p:nvPr/>
          </p:nvSpPr>
          <p:spPr>
            <a:xfrm>
              <a:off x="7467458" y="4108996"/>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Office Code *</a:t>
              </a:r>
            </a:p>
          </p:txBody>
        </p:sp>
        <p:grpSp>
          <p:nvGrpSpPr>
            <p:cNvPr id="186" name="Group 185">
              <a:extLst>
                <a:ext uri="{FF2B5EF4-FFF2-40B4-BE49-F238E27FC236}">
                  <a16:creationId xmlns:a16="http://schemas.microsoft.com/office/drawing/2014/main" id="{47223C39-84E9-E88E-D570-E848D48409B9}"/>
                </a:ext>
              </a:extLst>
            </p:cNvPr>
            <p:cNvGrpSpPr/>
            <p:nvPr/>
          </p:nvGrpSpPr>
          <p:grpSpPr>
            <a:xfrm>
              <a:off x="9285870" y="5391524"/>
              <a:ext cx="759186" cy="364665"/>
              <a:chOff x="3376910" y="5474028"/>
              <a:chExt cx="759186" cy="364665"/>
            </a:xfrm>
          </p:grpSpPr>
          <p:sp>
            <p:nvSpPr>
              <p:cNvPr id="187" name="Rectangle: Rounded Corners 186">
                <a:extLst>
                  <a:ext uri="{FF2B5EF4-FFF2-40B4-BE49-F238E27FC236}">
                    <a16:creationId xmlns:a16="http://schemas.microsoft.com/office/drawing/2014/main" id="{352F7F82-E2A4-10CF-75FB-2821CFBE64E5}"/>
                  </a:ext>
                </a:extLst>
              </p:cNvPr>
              <p:cNvSpPr/>
              <p:nvPr/>
            </p:nvSpPr>
            <p:spPr bwMode="gray">
              <a:xfrm>
                <a:off x="3376910" y="5474028"/>
                <a:ext cx="759186" cy="364665"/>
              </a:xfrm>
              <a:prstGeom prst="roundRect">
                <a:avLst>
                  <a:gd name="adj" fmla="val 50000"/>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88" name="Rectangle 187">
                <a:extLst>
                  <a:ext uri="{FF2B5EF4-FFF2-40B4-BE49-F238E27FC236}">
                    <a16:creationId xmlns:a16="http://schemas.microsoft.com/office/drawing/2014/main" id="{F5229C3F-B286-CFAA-F22D-83C50E8B5042}"/>
                  </a:ext>
                </a:extLst>
              </p:cNvPr>
              <p:cNvSpPr/>
              <p:nvPr/>
            </p:nvSpPr>
            <p:spPr>
              <a:xfrm>
                <a:off x="3505865" y="5548638"/>
                <a:ext cx="485509" cy="21544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Next</a:t>
                </a:r>
              </a:p>
            </p:txBody>
          </p:sp>
        </p:grpSp>
        <p:sp>
          <p:nvSpPr>
            <p:cNvPr id="189" name="TextBox 188">
              <a:extLst>
                <a:ext uri="{FF2B5EF4-FFF2-40B4-BE49-F238E27FC236}">
                  <a16:creationId xmlns:a16="http://schemas.microsoft.com/office/drawing/2014/main" id="{5E849EAC-6E01-E1D0-D239-744EAA67D701}"/>
                </a:ext>
              </a:extLst>
            </p:cNvPr>
            <p:cNvSpPr txBox="1"/>
            <p:nvPr/>
          </p:nvSpPr>
          <p:spPr>
            <a:xfrm>
              <a:off x="7490213" y="5480648"/>
              <a:ext cx="632591" cy="2201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Cancel</a:t>
              </a:r>
              <a:endParaRPr kumimoji="0" lang="en-US" sz="800" b="1"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90" name="Group 189">
              <a:extLst>
                <a:ext uri="{FF2B5EF4-FFF2-40B4-BE49-F238E27FC236}">
                  <a16:creationId xmlns:a16="http://schemas.microsoft.com/office/drawing/2014/main" id="{DCE0B82D-9276-6EE5-70BC-A9B29C062F9A}"/>
                </a:ext>
              </a:extLst>
            </p:cNvPr>
            <p:cNvGrpSpPr/>
            <p:nvPr/>
          </p:nvGrpSpPr>
          <p:grpSpPr>
            <a:xfrm>
              <a:off x="7529685" y="4911460"/>
              <a:ext cx="1247384" cy="298375"/>
              <a:chOff x="3376910" y="5541152"/>
              <a:chExt cx="759186" cy="248938"/>
            </a:xfrm>
          </p:grpSpPr>
          <p:sp>
            <p:nvSpPr>
              <p:cNvPr id="191" name="Rectangle: Rounded Corners 190">
                <a:extLst>
                  <a:ext uri="{FF2B5EF4-FFF2-40B4-BE49-F238E27FC236}">
                    <a16:creationId xmlns:a16="http://schemas.microsoft.com/office/drawing/2014/main" id="{64A93FF5-AA71-5ADD-FBC0-9F2C8978BB3D}"/>
                  </a:ext>
                </a:extLst>
              </p:cNvPr>
              <p:cNvSpPr/>
              <p:nvPr/>
            </p:nvSpPr>
            <p:spPr bwMode="gray">
              <a:xfrm>
                <a:off x="3376910" y="5541152"/>
                <a:ext cx="759186" cy="230418"/>
              </a:xfrm>
              <a:prstGeom prst="roundRect">
                <a:avLst>
                  <a:gd name="adj" fmla="val 50000"/>
                </a:avLst>
              </a:prstGeom>
              <a:solidFill>
                <a:srgbClr val="2394D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92" name="Rectangle 191">
                <a:extLst>
                  <a:ext uri="{FF2B5EF4-FFF2-40B4-BE49-F238E27FC236}">
                    <a16:creationId xmlns:a16="http://schemas.microsoft.com/office/drawing/2014/main" id="{D5C8589A-C103-2C88-A681-FCE7F7EC3737}"/>
                  </a:ext>
                </a:extLst>
              </p:cNvPr>
              <p:cNvSpPr/>
              <p:nvPr/>
            </p:nvSpPr>
            <p:spPr>
              <a:xfrm>
                <a:off x="3390681" y="5574646"/>
                <a:ext cx="715878" cy="21544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Get GPS Location</a:t>
                </a:r>
              </a:p>
            </p:txBody>
          </p:sp>
        </p:grpSp>
        <p:cxnSp>
          <p:nvCxnSpPr>
            <p:cNvPr id="193" name="Straight Connector 192">
              <a:extLst>
                <a:ext uri="{FF2B5EF4-FFF2-40B4-BE49-F238E27FC236}">
                  <a16:creationId xmlns:a16="http://schemas.microsoft.com/office/drawing/2014/main" id="{E0A2FE9D-FA09-A563-13C9-2D34FA0967E9}"/>
                </a:ext>
              </a:extLst>
            </p:cNvPr>
            <p:cNvCxnSpPr/>
            <p:nvPr/>
          </p:nvCxnSpPr>
          <p:spPr>
            <a:xfrm>
              <a:off x="8195183" y="5876792"/>
              <a:ext cx="1226127" cy="0"/>
            </a:xfrm>
            <a:prstGeom prst="line">
              <a:avLst/>
            </a:prstGeom>
            <a:ln w="12700" cap="rnd">
              <a:solidFill>
                <a:schemeClr val="tx2">
                  <a:alpha val="28000"/>
                </a:schemeClr>
              </a:solidFill>
              <a:round/>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F295F3B2-277E-9C73-03AD-320BC3DA4A97}"/>
                </a:ext>
              </a:extLst>
            </p:cNvPr>
            <p:cNvGrpSpPr/>
            <p:nvPr/>
          </p:nvGrpSpPr>
          <p:grpSpPr>
            <a:xfrm>
              <a:off x="7568833" y="803693"/>
              <a:ext cx="2451249" cy="326502"/>
              <a:chOff x="7568833" y="803693"/>
              <a:chExt cx="2451249" cy="326502"/>
            </a:xfrm>
          </p:grpSpPr>
          <p:pic>
            <p:nvPicPr>
              <p:cNvPr id="6" name="Picture 5" descr="A black background with a black square&#10;&#10;Description automatically generated with medium confidence">
                <a:extLst>
                  <a:ext uri="{FF2B5EF4-FFF2-40B4-BE49-F238E27FC236}">
                    <a16:creationId xmlns:a16="http://schemas.microsoft.com/office/drawing/2014/main" id="{AC047039-865B-927F-EF08-EBE6D09E0A11}"/>
                  </a:ext>
                </a:extLst>
              </p:cNvPr>
              <p:cNvPicPr>
                <a:picLocks noChangeAspect="1"/>
              </p:cNvPicPr>
              <p:nvPr/>
            </p:nvPicPr>
            <p:blipFill rotWithShape="1">
              <a:blip r:embed="rId7">
                <a:extLst>
                  <a:ext uri="{28A0092B-C50C-407E-A947-70E740481C1C}">
                    <a14:useLocalDpi xmlns:a14="http://schemas.microsoft.com/office/drawing/2010/main" val="0"/>
                  </a:ext>
                </a:extLst>
              </a:blip>
              <a:srcRect l="30882" r="30406"/>
              <a:stretch/>
            </p:blipFill>
            <p:spPr>
              <a:xfrm>
                <a:off x="9962862" y="905770"/>
                <a:ext cx="57220" cy="147810"/>
              </a:xfrm>
              <a:prstGeom prst="rect">
                <a:avLst/>
              </a:prstGeom>
            </p:spPr>
          </p:pic>
          <p:grpSp>
            <p:nvGrpSpPr>
              <p:cNvPr id="7" name="Group 6">
                <a:extLst>
                  <a:ext uri="{FF2B5EF4-FFF2-40B4-BE49-F238E27FC236}">
                    <a16:creationId xmlns:a16="http://schemas.microsoft.com/office/drawing/2014/main" id="{C462DFD8-B210-C7F7-3AA2-3AFD759C670C}"/>
                  </a:ext>
                </a:extLst>
              </p:cNvPr>
              <p:cNvGrpSpPr/>
              <p:nvPr/>
            </p:nvGrpSpPr>
            <p:grpSpPr>
              <a:xfrm>
                <a:off x="7568833" y="803693"/>
                <a:ext cx="1597094" cy="326502"/>
                <a:chOff x="1700506" y="801618"/>
                <a:chExt cx="1597094" cy="326502"/>
              </a:xfrm>
            </p:grpSpPr>
            <p:sp>
              <p:nvSpPr>
                <p:cNvPr id="8" name="TextBox 7">
                  <a:extLst>
                    <a:ext uri="{FF2B5EF4-FFF2-40B4-BE49-F238E27FC236}">
                      <a16:creationId xmlns:a16="http://schemas.microsoft.com/office/drawing/2014/main" id="{0E2A1923-CCA7-7F00-F6E1-5D41A29996F7}"/>
                    </a:ext>
                  </a:extLst>
                </p:cNvPr>
                <p:cNvSpPr txBox="1"/>
                <p:nvPr/>
              </p:nvSpPr>
              <p:spPr>
                <a:xfrm>
                  <a:off x="1956726" y="820343"/>
                  <a:ext cx="134087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600" normalizeH="0" baseline="0" noProof="0" dirty="0">
                      <a:ln>
                        <a:noFill/>
                      </a:ln>
                      <a:solidFill>
                        <a:srgbClr val="313131"/>
                      </a:solidFill>
                      <a:effectLst/>
                      <a:uLnTx/>
                      <a:uFillTx/>
                      <a:latin typeface="Impact" panose="020B0806030902050204" pitchFamily="34" charset="0"/>
                      <a:ea typeface="+mn-ea"/>
                      <a:cs typeface="+mn-cs"/>
                    </a:rPr>
                    <a:t>INSITE</a:t>
                  </a:r>
                </a:p>
              </p:txBody>
            </p:sp>
            <p:sp>
              <p:nvSpPr>
                <p:cNvPr id="9" name="Freeform: Shape 8">
                  <a:extLst>
                    <a:ext uri="{FF2B5EF4-FFF2-40B4-BE49-F238E27FC236}">
                      <a16:creationId xmlns:a16="http://schemas.microsoft.com/office/drawing/2014/main" id="{9A5DB9B1-D8D3-5908-4476-EC37ECD61A42}"/>
                    </a:ext>
                  </a:extLst>
                </p:cNvPr>
                <p:cNvSpPr/>
                <p:nvPr/>
              </p:nvSpPr>
              <p:spPr bwMode="gray">
                <a:xfrm rot="8100000">
                  <a:off x="1700506" y="801618"/>
                  <a:ext cx="255513" cy="262376"/>
                </a:xfrm>
                <a:custGeom>
                  <a:avLst/>
                  <a:gdLst>
                    <a:gd name="connsiteX0" fmla="*/ 652514 w 978388"/>
                    <a:gd name="connsiteY0" fmla="*/ 311418 h 978461"/>
                    <a:gd name="connsiteX1" fmla="*/ 578783 w 978388"/>
                    <a:gd name="connsiteY1" fmla="*/ 0 h 978461"/>
                    <a:gd name="connsiteX2" fmla="*/ 975875 w 978388"/>
                    <a:gd name="connsiteY2" fmla="*/ 2586 h 978461"/>
                    <a:gd name="connsiteX3" fmla="*/ 978388 w 978388"/>
                    <a:gd name="connsiteY3" fmla="*/ 388571 h 978461"/>
                    <a:gd name="connsiteX4" fmla="*/ 365753 w 978388"/>
                    <a:gd name="connsiteY4" fmla="*/ 440187 h 978461"/>
                    <a:gd name="connsiteX5" fmla="*/ 273707 w 978388"/>
                    <a:gd name="connsiteY5" fmla="*/ 51409 h 978461"/>
                    <a:gd name="connsiteX6" fmla="*/ 310026 w 978388"/>
                    <a:gd name="connsiteY6" fmla="*/ 33374 h 978461"/>
                    <a:gd name="connsiteX7" fmla="*/ 390866 w 978388"/>
                    <a:gd name="connsiteY7" fmla="*/ 9364 h 978461"/>
                    <a:gd name="connsiteX8" fmla="*/ 471958 w 978388"/>
                    <a:gd name="connsiteY8" fmla="*/ 1189 h 978461"/>
                    <a:gd name="connsiteX9" fmla="*/ 565912 w 978388"/>
                    <a:gd name="connsiteY9" fmla="*/ 398021 h 978461"/>
                    <a:gd name="connsiteX10" fmla="*/ 978363 w 978388"/>
                    <a:gd name="connsiteY10" fmla="*/ 495672 h 978461"/>
                    <a:gd name="connsiteX11" fmla="*/ 969097 w 978388"/>
                    <a:gd name="connsiteY11" fmla="*/ 587595 h 978461"/>
                    <a:gd name="connsiteX12" fmla="*/ 945087 w 978388"/>
                    <a:gd name="connsiteY12" fmla="*/ 668435 h 978461"/>
                    <a:gd name="connsiteX13" fmla="*/ 927052 w 978388"/>
                    <a:gd name="connsiteY13" fmla="*/ 704754 h 978461"/>
                    <a:gd name="connsiteX14" fmla="*/ 538465 w 978388"/>
                    <a:gd name="connsiteY14" fmla="*/ 612753 h 978461"/>
                    <a:gd name="connsiteX15" fmla="*/ 544594 w 978388"/>
                    <a:gd name="connsiteY15" fmla="*/ 581251 h 978461"/>
                    <a:gd name="connsiteX16" fmla="*/ 501475 w 978388"/>
                    <a:gd name="connsiteY16" fmla="*/ 477153 h 978461"/>
                    <a:gd name="connsiteX17" fmla="*/ 397377 w 978388"/>
                    <a:gd name="connsiteY17" fmla="*/ 434034 h 978461"/>
                    <a:gd name="connsiteX18" fmla="*/ 336040 w 978388"/>
                    <a:gd name="connsiteY18" fmla="*/ 641445 h 978461"/>
                    <a:gd name="connsiteX19" fmla="*/ 336040 w 978388"/>
                    <a:gd name="connsiteY19" fmla="*/ 520720 h 978461"/>
                    <a:gd name="connsiteX20" fmla="*/ 456766 w 978388"/>
                    <a:gd name="connsiteY20" fmla="*/ 520720 h 978461"/>
                    <a:gd name="connsiteX21" fmla="*/ 456766 w 978388"/>
                    <a:gd name="connsiteY21" fmla="*/ 641445 h 978461"/>
                    <a:gd name="connsiteX22" fmla="*/ 336040 w 978388"/>
                    <a:gd name="connsiteY22" fmla="*/ 641445 h 978461"/>
                    <a:gd name="connsiteX23" fmla="*/ 143377 w 978388"/>
                    <a:gd name="connsiteY23" fmla="*/ 835084 h 978461"/>
                    <a:gd name="connsiteX24" fmla="*/ 0 w 978388"/>
                    <a:gd name="connsiteY24" fmla="*/ 488940 h 978461"/>
                    <a:gd name="connsiteX25" fmla="*/ 169166 w 978388"/>
                    <a:gd name="connsiteY25" fmla="*/ 118790 h 978461"/>
                    <a:gd name="connsiteX26" fmla="*/ 180582 w 978388"/>
                    <a:gd name="connsiteY26" fmla="*/ 110466 h 978461"/>
                    <a:gd name="connsiteX27" fmla="*/ 274200 w 978388"/>
                    <a:gd name="connsiteY27" fmla="*/ 505884 h 978461"/>
                    <a:gd name="connsiteX28" fmla="*/ 260940 w 978388"/>
                    <a:gd name="connsiteY28" fmla="*/ 525853 h 978461"/>
                    <a:gd name="connsiteX29" fmla="*/ 293279 w 978388"/>
                    <a:gd name="connsiteY29" fmla="*/ 685349 h 978461"/>
                    <a:gd name="connsiteX30" fmla="*/ 452775 w 978388"/>
                    <a:gd name="connsiteY30" fmla="*/ 717688 h 978461"/>
                    <a:gd name="connsiteX31" fmla="*/ 472887 w 978388"/>
                    <a:gd name="connsiteY31" fmla="*/ 704333 h 978461"/>
                    <a:gd name="connsiteX32" fmla="*/ 867995 w 978388"/>
                    <a:gd name="connsiteY32" fmla="*/ 797879 h 978461"/>
                    <a:gd name="connsiteX33" fmla="*/ 859671 w 978388"/>
                    <a:gd name="connsiteY33" fmla="*/ 809295 h 978461"/>
                    <a:gd name="connsiteX34" fmla="*/ 489521 w 978388"/>
                    <a:gd name="connsiteY34" fmla="*/ 978461 h 978461"/>
                    <a:gd name="connsiteX35" fmla="*/ 143377 w 978388"/>
                    <a:gd name="connsiteY35" fmla="*/ 835084 h 97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78388" h="978461">
                      <a:moveTo>
                        <a:pt x="652514" y="311418"/>
                      </a:moveTo>
                      <a:lnTo>
                        <a:pt x="578783" y="0"/>
                      </a:lnTo>
                      <a:lnTo>
                        <a:pt x="975875" y="2586"/>
                      </a:lnTo>
                      <a:lnTo>
                        <a:pt x="978388" y="388571"/>
                      </a:lnTo>
                      <a:close/>
                      <a:moveTo>
                        <a:pt x="365753" y="440187"/>
                      </a:moveTo>
                      <a:lnTo>
                        <a:pt x="273707" y="51409"/>
                      </a:lnTo>
                      <a:lnTo>
                        <a:pt x="310026" y="33374"/>
                      </a:lnTo>
                      <a:cubicBezTo>
                        <a:pt x="335962" y="23147"/>
                        <a:pt x="362982" y="15070"/>
                        <a:pt x="390866" y="9364"/>
                      </a:cubicBezTo>
                      <a:lnTo>
                        <a:pt x="471958" y="1189"/>
                      </a:lnTo>
                      <a:lnTo>
                        <a:pt x="565912" y="398021"/>
                      </a:lnTo>
                      <a:lnTo>
                        <a:pt x="978363" y="495672"/>
                      </a:lnTo>
                      <a:lnTo>
                        <a:pt x="969097" y="587595"/>
                      </a:lnTo>
                      <a:cubicBezTo>
                        <a:pt x="963391" y="615479"/>
                        <a:pt x="955314" y="642499"/>
                        <a:pt x="945087" y="668435"/>
                      </a:cubicBezTo>
                      <a:lnTo>
                        <a:pt x="927052" y="704754"/>
                      </a:lnTo>
                      <a:lnTo>
                        <a:pt x="538465" y="612753"/>
                      </a:lnTo>
                      <a:lnTo>
                        <a:pt x="544594" y="581251"/>
                      </a:lnTo>
                      <a:cubicBezTo>
                        <a:pt x="544594" y="543575"/>
                        <a:pt x="530221" y="505899"/>
                        <a:pt x="501475" y="477153"/>
                      </a:cubicBezTo>
                      <a:cubicBezTo>
                        <a:pt x="472729" y="448407"/>
                        <a:pt x="435053" y="434034"/>
                        <a:pt x="397377" y="434034"/>
                      </a:cubicBezTo>
                      <a:close/>
                      <a:moveTo>
                        <a:pt x="336040" y="641445"/>
                      </a:moveTo>
                      <a:cubicBezTo>
                        <a:pt x="302703" y="608108"/>
                        <a:pt x="302703" y="554057"/>
                        <a:pt x="336040" y="520720"/>
                      </a:cubicBezTo>
                      <a:cubicBezTo>
                        <a:pt x="369377" y="487382"/>
                        <a:pt x="423428" y="487382"/>
                        <a:pt x="456766" y="520720"/>
                      </a:cubicBezTo>
                      <a:cubicBezTo>
                        <a:pt x="490103" y="554057"/>
                        <a:pt x="490103" y="608108"/>
                        <a:pt x="456766" y="641445"/>
                      </a:cubicBezTo>
                      <a:cubicBezTo>
                        <a:pt x="423428" y="674783"/>
                        <a:pt x="369377" y="674783"/>
                        <a:pt x="336040" y="641445"/>
                      </a:cubicBezTo>
                      <a:close/>
                      <a:moveTo>
                        <a:pt x="143377" y="835084"/>
                      </a:moveTo>
                      <a:cubicBezTo>
                        <a:pt x="54791" y="746497"/>
                        <a:pt x="0" y="624117"/>
                        <a:pt x="0" y="488940"/>
                      </a:cubicBezTo>
                      <a:cubicBezTo>
                        <a:pt x="0" y="341089"/>
                        <a:pt x="65546" y="208548"/>
                        <a:pt x="169166" y="118790"/>
                      </a:cubicBezTo>
                      <a:lnTo>
                        <a:pt x="180582" y="110466"/>
                      </a:lnTo>
                      <a:lnTo>
                        <a:pt x="274200" y="505884"/>
                      </a:lnTo>
                      <a:lnTo>
                        <a:pt x="260940" y="525853"/>
                      </a:lnTo>
                      <a:cubicBezTo>
                        <a:pt x="239381" y="579019"/>
                        <a:pt x="250160" y="642230"/>
                        <a:pt x="293279" y="685349"/>
                      </a:cubicBezTo>
                      <a:cubicBezTo>
                        <a:pt x="336398" y="728468"/>
                        <a:pt x="399610" y="739248"/>
                        <a:pt x="452775" y="717688"/>
                      </a:cubicBezTo>
                      <a:lnTo>
                        <a:pt x="472887" y="704333"/>
                      </a:lnTo>
                      <a:lnTo>
                        <a:pt x="867995" y="797879"/>
                      </a:lnTo>
                      <a:lnTo>
                        <a:pt x="859671" y="809295"/>
                      </a:lnTo>
                      <a:cubicBezTo>
                        <a:pt x="769913" y="912915"/>
                        <a:pt x="637372" y="978461"/>
                        <a:pt x="489521" y="978461"/>
                      </a:cubicBezTo>
                      <a:cubicBezTo>
                        <a:pt x="354344" y="978461"/>
                        <a:pt x="231963" y="923669"/>
                        <a:pt x="143377" y="835084"/>
                      </a:cubicBezTo>
                      <a:close/>
                    </a:path>
                  </a:pathLst>
                </a:custGeom>
                <a:solidFill>
                  <a:srgbClr val="86BC25"/>
                </a:solid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grpSp>
        <p:nvGrpSpPr>
          <p:cNvPr id="20" name="Group 19">
            <a:extLst>
              <a:ext uri="{FF2B5EF4-FFF2-40B4-BE49-F238E27FC236}">
                <a16:creationId xmlns:a16="http://schemas.microsoft.com/office/drawing/2014/main" id="{FAC2465A-056E-C5B9-F3D4-D12B4A24717F}"/>
              </a:ext>
            </a:extLst>
          </p:cNvPr>
          <p:cNvGrpSpPr/>
          <p:nvPr/>
        </p:nvGrpSpPr>
        <p:grpSpPr>
          <a:xfrm>
            <a:off x="572289" y="80488"/>
            <a:ext cx="5058205" cy="6773224"/>
            <a:chOff x="811450" y="84776"/>
            <a:chExt cx="5058205" cy="6773224"/>
          </a:xfrm>
        </p:grpSpPr>
        <p:grpSp>
          <p:nvGrpSpPr>
            <p:cNvPr id="4" name="Group 3">
              <a:extLst>
                <a:ext uri="{FF2B5EF4-FFF2-40B4-BE49-F238E27FC236}">
                  <a16:creationId xmlns:a16="http://schemas.microsoft.com/office/drawing/2014/main" id="{39CF9AFC-7ED3-F487-67B7-D0A3D978A5E1}"/>
                </a:ext>
              </a:extLst>
            </p:cNvPr>
            <p:cNvGrpSpPr/>
            <p:nvPr/>
          </p:nvGrpSpPr>
          <p:grpSpPr>
            <a:xfrm>
              <a:off x="811450" y="84776"/>
              <a:ext cx="5058205" cy="6773224"/>
              <a:chOff x="3713676" y="84776"/>
              <a:chExt cx="5058205" cy="6773224"/>
            </a:xfrm>
          </p:grpSpPr>
          <p:pic>
            <p:nvPicPr>
              <p:cNvPr id="2" name="Picture 1" descr="A hand holding a cell phone&#10;&#10;Description automatically generated">
                <a:extLst>
                  <a:ext uri="{FF2B5EF4-FFF2-40B4-BE49-F238E27FC236}">
                    <a16:creationId xmlns:a16="http://schemas.microsoft.com/office/drawing/2014/main" id="{155CD50C-17AA-B371-B3A8-E4CAA227C4A2}"/>
                  </a:ext>
                </a:extLst>
              </p:cNvPr>
              <p:cNvPicPr>
                <a:picLocks noChangeAspect="1"/>
              </p:cNvPicPr>
              <p:nvPr/>
            </p:nvPicPr>
            <p:blipFill rotWithShape="1">
              <a:blip r:embed="rId2">
                <a:extLst>
                  <a:ext uri="{28A0092B-C50C-407E-A947-70E740481C1C}">
                    <a14:useLocalDpi xmlns:a14="http://schemas.microsoft.com/office/drawing/2010/main" val="0"/>
                  </a:ext>
                </a:extLst>
              </a:blip>
              <a:srcRect b="10283"/>
              <a:stretch/>
            </p:blipFill>
            <p:spPr>
              <a:xfrm>
                <a:off x="3713676" y="84776"/>
                <a:ext cx="5058205" cy="6773224"/>
              </a:xfrm>
              <a:prstGeom prst="rect">
                <a:avLst/>
              </a:prstGeom>
              <a:noFill/>
            </p:spPr>
          </p:pic>
          <p:sp>
            <p:nvSpPr>
              <p:cNvPr id="3" name="Rectangle 2">
                <a:extLst>
                  <a:ext uri="{FF2B5EF4-FFF2-40B4-BE49-F238E27FC236}">
                    <a16:creationId xmlns:a16="http://schemas.microsoft.com/office/drawing/2014/main" id="{A6FA85A1-C274-102B-46EB-B6E565C26A20}"/>
                  </a:ext>
                </a:extLst>
              </p:cNvPr>
              <p:cNvSpPr/>
              <p:nvPr/>
            </p:nvSpPr>
            <p:spPr bwMode="gray">
              <a:xfrm>
                <a:off x="4727542" y="6047295"/>
                <a:ext cx="2172879" cy="263950"/>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1" name="Rectangle: Top Corners Rounded 10">
              <a:extLst>
                <a:ext uri="{FF2B5EF4-FFF2-40B4-BE49-F238E27FC236}">
                  <a16:creationId xmlns:a16="http://schemas.microsoft.com/office/drawing/2014/main" id="{AE93FB3A-5A9D-E1EB-4536-877A5CCCC1AD}"/>
                </a:ext>
              </a:extLst>
            </p:cNvPr>
            <p:cNvSpPr/>
            <p:nvPr/>
          </p:nvSpPr>
          <p:spPr bwMode="gray">
            <a:xfrm>
              <a:off x="1504334" y="402648"/>
              <a:ext cx="2828413" cy="263950"/>
            </a:xfrm>
            <a:prstGeom prst="round2Same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pic>
          <p:nvPicPr>
            <p:cNvPr id="115" name="Picture 114" descr="A black background with a black square&#10;&#10;Description automatically generated with medium confidence">
              <a:extLst>
                <a:ext uri="{FF2B5EF4-FFF2-40B4-BE49-F238E27FC236}">
                  <a16:creationId xmlns:a16="http://schemas.microsoft.com/office/drawing/2014/main" id="{5B959873-0806-CBB1-4C6F-33AB5E7D7D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1591808" y="1316073"/>
              <a:ext cx="136837" cy="136837"/>
            </a:xfrm>
            <a:prstGeom prst="rect">
              <a:avLst/>
            </a:prstGeom>
          </p:spPr>
        </p:pic>
        <p:sp>
          <p:nvSpPr>
            <p:cNvPr id="135" name="Rectangle 134">
              <a:extLst>
                <a:ext uri="{FF2B5EF4-FFF2-40B4-BE49-F238E27FC236}">
                  <a16:creationId xmlns:a16="http://schemas.microsoft.com/office/drawing/2014/main" id="{0CB9CE6A-6182-7260-E1CD-76A997FF7451}"/>
                </a:ext>
              </a:extLst>
            </p:cNvPr>
            <p:cNvSpPr/>
            <p:nvPr/>
          </p:nvSpPr>
          <p:spPr>
            <a:xfrm>
              <a:off x="1521954" y="1549530"/>
              <a:ext cx="956729" cy="390146"/>
            </a:xfrm>
            <a:prstGeom prst="rect">
              <a:avLst/>
            </a:prstGeom>
            <a:solidFill>
              <a:srgbClr val="63E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36" name="Group 135">
              <a:extLst>
                <a:ext uri="{FF2B5EF4-FFF2-40B4-BE49-F238E27FC236}">
                  <a16:creationId xmlns:a16="http://schemas.microsoft.com/office/drawing/2014/main" id="{A57DEA42-23A5-AF1D-FE14-9460703C11CA}"/>
                </a:ext>
              </a:extLst>
            </p:cNvPr>
            <p:cNvGrpSpPr/>
            <p:nvPr/>
          </p:nvGrpSpPr>
          <p:grpSpPr>
            <a:xfrm>
              <a:off x="1515053" y="1549530"/>
              <a:ext cx="2842667" cy="400612"/>
              <a:chOff x="7409677" y="1549530"/>
              <a:chExt cx="2842667" cy="400612"/>
            </a:xfrm>
          </p:grpSpPr>
          <p:sp>
            <p:nvSpPr>
              <p:cNvPr id="117" name="Rectangle 116">
                <a:extLst>
                  <a:ext uri="{FF2B5EF4-FFF2-40B4-BE49-F238E27FC236}">
                    <a16:creationId xmlns:a16="http://schemas.microsoft.com/office/drawing/2014/main" id="{8C0EC9EC-07B3-6F87-9FE0-ABC26C0B7AFA}"/>
                  </a:ext>
                </a:extLst>
              </p:cNvPr>
              <p:cNvSpPr/>
              <p:nvPr/>
            </p:nvSpPr>
            <p:spPr>
              <a:xfrm>
                <a:off x="7409677" y="1549530"/>
                <a:ext cx="2784442" cy="400612"/>
              </a:xfrm>
              <a:prstGeom prst="rect">
                <a:avLst/>
              </a:prstGeom>
              <a:solidFill>
                <a:srgbClr val="EAEAEA">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9" name="Picture 118" descr="A black background with a black square&#10;&#10;Description automatically generated with medium confidence">
                <a:extLst>
                  <a:ext uri="{FF2B5EF4-FFF2-40B4-BE49-F238E27FC236}">
                    <a16:creationId xmlns:a16="http://schemas.microsoft.com/office/drawing/2014/main" id="{344F7637-7506-2AC9-D085-E100690E79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7838210" y="1607518"/>
                <a:ext cx="123649" cy="123649"/>
              </a:xfrm>
              <a:prstGeom prst="rect">
                <a:avLst/>
              </a:prstGeom>
            </p:spPr>
          </p:pic>
          <p:sp>
            <p:nvSpPr>
              <p:cNvPr id="120" name="Rectangle 119">
                <a:extLst>
                  <a:ext uri="{FF2B5EF4-FFF2-40B4-BE49-F238E27FC236}">
                    <a16:creationId xmlns:a16="http://schemas.microsoft.com/office/drawing/2014/main" id="{2B34BA90-856E-C7FD-526D-9CE4AC8872A1}"/>
                  </a:ext>
                </a:extLst>
              </p:cNvPr>
              <p:cNvSpPr/>
              <p:nvPr/>
            </p:nvSpPr>
            <p:spPr>
              <a:xfrm>
                <a:off x="7437841" y="1739672"/>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Office &amp; Location</a:t>
                </a:r>
              </a:p>
            </p:txBody>
          </p:sp>
          <p:cxnSp>
            <p:nvCxnSpPr>
              <p:cNvPr id="122" name="Straight Connector 121">
                <a:extLst>
                  <a:ext uri="{FF2B5EF4-FFF2-40B4-BE49-F238E27FC236}">
                    <a16:creationId xmlns:a16="http://schemas.microsoft.com/office/drawing/2014/main" id="{094D5FEC-EC2B-7804-54D9-16A3C8D49E02}"/>
                  </a:ext>
                </a:extLst>
              </p:cNvPr>
              <p:cNvCxnSpPr/>
              <p:nvPr/>
            </p:nvCxnSpPr>
            <p:spPr>
              <a:xfrm>
                <a:off x="8385539" y="1615729"/>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4" name="Rectangle 123">
                <a:extLst>
                  <a:ext uri="{FF2B5EF4-FFF2-40B4-BE49-F238E27FC236}">
                    <a16:creationId xmlns:a16="http://schemas.microsoft.com/office/drawing/2014/main" id="{44DB1D5F-624C-1A87-7531-249EFBB48B21}"/>
                  </a:ext>
                </a:extLst>
              </p:cNvPr>
              <p:cNvSpPr/>
              <p:nvPr/>
            </p:nvSpPr>
            <p:spPr>
              <a:xfrm>
                <a:off x="8369854"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Asset Details</a:t>
                </a:r>
              </a:p>
            </p:txBody>
          </p:sp>
          <p:sp>
            <p:nvSpPr>
              <p:cNvPr id="126" name="Rectangle 125">
                <a:extLst>
                  <a:ext uri="{FF2B5EF4-FFF2-40B4-BE49-F238E27FC236}">
                    <a16:creationId xmlns:a16="http://schemas.microsoft.com/office/drawing/2014/main" id="{C32E9665-1D3D-EE49-556E-18D02F999085}"/>
                  </a:ext>
                </a:extLst>
              </p:cNvPr>
              <p:cNvSpPr/>
              <p:nvPr/>
            </p:nvSpPr>
            <p:spPr>
              <a:xfrm>
                <a:off x="9295615"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Photos</a:t>
                </a:r>
              </a:p>
            </p:txBody>
          </p:sp>
          <p:cxnSp>
            <p:nvCxnSpPr>
              <p:cNvPr id="127" name="Straight Connector 126">
                <a:extLst>
                  <a:ext uri="{FF2B5EF4-FFF2-40B4-BE49-F238E27FC236}">
                    <a16:creationId xmlns:a16="http://schemas.microsoft.com/office/drawing/2014/main" id="{A0E9AEF2-383E-11CA-4D81-582761198566}"/>
                  </a:ext>
                </a:extLst>
              </p:cNvPr>
              <p:cNvCxnSpPr/>
              <p:nvPr/>
            </p:nvCxnSpPr>
            <p:spPr>
              <a:xfrm>
                <a:off x="9305319" y="1619660"/>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31" name="Picture 130" descr="A black background with a black square&#10;&#10;Description automatically generated with medium confidence">
                <a:extLst>
                  <a:ext uri="{FF2B5EF4-FFF2-40B4-BE49-F238E27FC236}">
                    <a16:creationId xmlns:a16="http://schemas.microsoft.com/office/drawing/2014/main" id="{486975BF-45FD-7D2D-C23D-097B6B11BD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2733" y="1606972"/>
                <a:ext cx="137535" cy="137535"/>
              </a:xfrm>
              <a:prstGeom prst="rect">
                <a:avLst/>
              </a:prstGeom>
            </p:spPr>
          </p:pic>
          <p:pic>
            <p:nvPicPr>
              <p:cNvPr id="133" name="Picture 132" descr="A black background with a black square&#10;&#10;Description automatically generated with medium confidence">
                <a:extLst>
                  <a:ext uri="{FF2B5EF4-FFF2-40B4-BE49-F238E27FC236}">
                    <a16:creationId xmlns:a16="http://schemas.microsoft.com/office/drawing/2014/main" id="{0620C873-814F-0AF2-2C00-A020C29390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27782" y="1615331"/>
                <a:ext cx="127162" cy="127162"/>
              </a:xfrm>
              <a:prstGeom prst="rect">
                <a:avLst/>
              </a:prstGeom>
            </p:spPr>
          </p:pic>
        </p:grpSp>
        <p:sp>
          <p:nvSpPr>
            <p:cNvPr id="134" name="Rectangle 133">
              <a:extLst>
                <a:ext uri="{FF2B5EF4-FFF2-40B4-BE49-F238E27FC236}">
                  <a16:creationId xmlns:a16="http://schemas.microsoft.com/office/drawing/2014/main" id="{2043740B-EFA5-0C81-05AA-4E69A7E61F16}"/>
                </a:ext>
              </a:extLst>
            </p:cNvPr>
            <p:cNvSpPr/>
            <p:nvPr/>
          </p:nvSpPr>
          <p:spPr>
            <a:xfrm>
              <a:off x="2444262" y="1278802"/>
              <a:ext cx="956729"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ASSET</a:t>
              </a:r>
            </a:p>
          </p:txBody>
        </p:sp>
        <p:sp>
          <p:nvSpPr>
            <p:cNvPr id="137" name="Rectangle: Rounded Corners 136">
              <a:extLst>
                <a:ext uri="{FF2B5EF4-FFF2-40B4-BE49-F238E27FC236}">
                  <a16:creationId xmlns:a16="http://schemas.microsoft.com/office/drawing/2014/main" id="{1EB4E87E-3BEE-D826-C840-2E4C9383B111}"/>
                </a:ext>
              </a:extLst>
            </p:cNvPr>
            <p:cNvSpPr/>
            <p:nvPr/>
          </p:nvSpPr>
          <p:spPr bwMode="gray">
            <a:xfrm>
              <a:off x="1619894" y="2431482"/>
              <a:ext cx="251620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38" name="Rectangle: Rounded Corners 137">
              <a:extLst>
                <a:ext uri="{FF2B5EF4-FFF2-40B4-BE49-F238E27FC236}">
                  <a16:creationId xmlns:a16="http://schemas.microsoft.com/office/drawing/2014/main" id="{4D3C0936-1499-48AD-5DBE-FC01EC56BB11}"/>
                </a:ext>
              </a:extLst>
            </p:cNvPr>
            <p:cNvSpPr/>
            <p:nvPr/>
          </p:nvSpPr>
          <p:spPr bwMode="gray">
            <a:xfrm>
              <a:off x="1619894" y="3124740"/>
              <a:ext cx="251620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39" name="Rectangle 138">
              <a:extLst>
                <a:ext uri="{FF2B5EF4-FFF2-40B4-BE49-F238E27FC236}">
                  <a16:creationId xmlns:a16="http://schemas.microsoft.com/office/drawing/2014/main" id="{BD45D749-A3F2-9EC9-D252-9F6347D71CF5}"/>
                </a:ext>
              </a:extLst>
            </p:cNvPr>
            <p:cNvSpPr/>
            <p:nvPr/>
          </p:nvSpPr>
          <p:spPr>
            <a:xfrm>
              <a:off x="1550835" y="2195835"/>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Area *</a:t>
              </a:r>
            </a:p>
          </p:txBody>
        </p:sp>
        <p:sp>
          <p:nvSpPr>
            <p:cNvPr id="140" name="Rectangle 139">
              <a:extLst>
                <a:ext uri="{FF2B5EF4-FFF2-40B4-BE49-F238E27FC236}">
                  <a16:creationId xmlns:a16="http://schemas.microsoft.com/office/drawing/2014/main" id="{22E3F0A2-AB4F-9131-96DA-9A5457502898}"/>
                </a:ext>
              </a:extLst>
            </p:cNvPr>
            <p:cNvSpPr/>
            <p:nvPr/>
          </p:nvSpPr>
          <p:spPr>
            <a:xfrm>
              <a:off x="1553639" y="2928043"/>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Circle *</a:t>
              </a:r>
            </a:p>
          </p:txBody>
        </p:sp>
        <p:sp>
          <p:nvSpPr>
            <p:cNvPr id="141" name="Rectangle: Rounded Corners 140">
              <a:extLst>
                <a:ext uri="{FF2B5EF4-FFF2-40B4-BE49-F238E27FC236}">
                  <a16:creationId xmlns:a16="http://schemas.microsoft.com/office/drawing/2014/main" id="{BDED5ED3-1B91-7AE5-F411-F2936EDD68FD}"/>
                </a:ext>
              </a:extLst>
            </p:cNvPr>
            <p:cNvSpPr/>
            <p:nvPr/>
          </p:nvSpPr>
          <p:spPr bwMode="gray">
            <a:xfrm>
              <a:off x="1624753" y="3858480"/>
              <a:ext cx="2511343"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42" name="Rectangle: Rounded Corners 141">
              <a:extLst>
                <a:ext uri="{FF2B5EF4-FFF2-40B4-BE49-F238E27FC236}">
                  <a16:creationId xmlns:a16="http://schemas.microsoft.com/office/drawing/2014/main" id="{9195057E-24E5-AC65-ADB9-399CE7D9FAEE}"/>
                </a:ext>
              </a:extLst>
            </p:cNvPr>
            <p:cNvSpPr/>
            <p:nvPr/>
          </p:nvSpPr>
          <p:spPr bwMode="gray">
            <a:xfrm>
              <a:off x="1624753" y="4551738"/>
              <a:ext cx="2511343"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43" name="Rectangle 142">
              <a:extLst>
                <a:ext uri="{FF2B5EF4-FFF2-40B4-BE49-F238E27FC236}">
                  <a16:creationId xmlns:a16="http://schemas.microsoft.com/office/drawing/2014/main" id="{0D8E7FC8-F91B-DCE0-7FC1-417429934E31}"/>
                </a:ext>
              </a:extLst>
            </p:cNvPr>
            <p:cNvSpPr/>
            <p:nvPr/>
          </p:nvSpPr>
          <p:spPr>
            <a:xfrm>
              <a:off x="1555694" y="3622833"/>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Division *</a:t>
              </a:r>
            </a:p>
          </p:txBody>
        </p:sp>
        <p:sp>
          <p:nvSpPr>
            <p:cNvPr id="144" name="Rectangle 143">
              <a:extLst>
                <a:ext uri="{FF2B5EF4-FFF2-40B4-BE49-F238E27FC236}">
                  <a16:creationId xmlns:a16="http://schemas.microsoft.com/office/drawing/2014/main" id="{ABEA0392-D90B-08C8-A19F-BF965480A37C}"/>
                </a:ext>
              </a:extLst>
            </p:cNvPr>
            <p:cNvSpPr/>
            <p:nvPr/>
          </p:nvSpPr>
          <p:spPr>
            <a:xfrm>
              <a:off x="1558498" y="4355041"/>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Office Type *</a:t>
              </a:r>
            </a:p>
          </p:txBody>
        </p:sp>
        <p:sp>
          <p:nvSpPr>
            <p:cNvPr id="145" name="Rectangle: Rounded Corners 144">
              <a:extLst>
                <a:ext uri="{FF2B5EF4-FFF2-40B4-BE49-F238E27FC236}">
                  <a16:creationId xmlns:a16="http://schemas.microsoft.com/office/drawing/2014/main" id="{AF0395A3-240C-E98F-9F78-6EC60E3A0E7E}"/>
                </a:ext>
              </a:extLst>
            </p:cNvPr>
            <p:cNvSpPr/>
            <p:nvPr/>
          </p:nvSpPr>
          <p:spPr bwMode="gray">
            <a:xfrm>
              <a:off x="1626714" y="5244996"/>
              <a:ext cx="250938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46" name="Rectangle 145">
              <a:extLst>
                <a:ext uri="{FF2B5EF4-FFF2-40B4-BE49-F238E27FC236}">
                  <a16:creationId xmlns:a16="http://schemas.microsoft.com/office/drawing/2014/main" id="{42F528FE-B0B1-0530-D919-3DDE3CEB8E77}"/>
                </a:ext>
              </a:extLst>
            </p:cNvPr>
            <p:cNvSpPr/>
            <p:nvPr/>
          </p:nvSpPr>
          <p:spPr>
            <a:xfrm>
              <a:off x="1560459" y="5048299"/>
              <a:ext cx="145334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Sub-Division/ Office *</a:t>
              </a:r>
            </a:p>
          </p:txBody>
        </p:sp>
        <p:cxnSp>
          <p:nvCxnSpPr>
            <p:cNvPr id="178" name="Straight Connector 177">
              <a:extLst>
                <a:ext uri="{FF2B5EF4-FFF2-40B4-BE49-F238E27FC236}">
                  <a16:creationId xmlns:a16="http://schemas.microsoft.com/office/drawing/2014/main" id="{D7D9F672-1C2D-B7DB-2CCE-2F096D3B17FB}"/>
                </a:ext>
              </a:extLst>
            </p:cNvPr>
            <p:cNvCxnSpPr/>
            <p:nvPr/>
          </p:nvCxnSpPr>
          <p:spPr>
            <a:xfrm>
              <a:off x="2286223" y="5869866"/>
              <a:ext cx="1226127" cy="0"/>
            </a:xfrm>
            <a:prstGeom prst="line">
              <a:avLst/>
            </a:prstGeom>
            <a:ln w="12700" cap="rnd">
              <a:solidFill>
                <a:schemeClr val="tx2">
                  <a:alpha val="28000"/>
                </a:schemeClr>
              </a:solidFill>
              <a:round/>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0C903D5B-D336-9368-BCF1-3B52FAFC1C50}"/>
                </a:ext>
              </a:extLst>
            </p:cNvPr>
            <p:cNvGrpSpPr/>
            <p:nvPr/>
          </p:nvGrpSpPr>
          <p:grpSpPr>
            <a:xfrm>
              <a:off x="1669589" y="818171"/>
              <a:ext cx="2451249" cy="326502"/>
              <a:chOff x="7568833" y="803693"/>
              <a:chExt cx="2451249" cy="326502"/>
            </a:xfrm>
          </p:grpSpPr>
          <p:pic>
            <p:nvPicPr>
              <p:cNvPr id="16" name="Picture 15" descr="A black background with a black square&#10;&#10;Description automatically generated with medium confidence">
                <a:extLst>
                  <a:ext uri="{FF2B5EF4-FFF2-40B4-BE49-F238E27FC236}">
                    <a16:creationId xmlns:a16="http://schemas.microsoft.com/office/drawing/2014/main" id="{7E83513E-C05A-D87E-0FE3-3DE9E232139C}"/>
                  </a:ext>
                </a:extLst>
              </p:cNvPr>
              <p:cNvPicPr>
                <a:picLocks noChangeAspect="1"/>
              </p:cNvPicPr>
              <p:nvPr/>
            </p:nvPicPr>
            <p:blipFill rotWithShape="1">
              <a:blip r:embed="rId7">
                <a:extLst>
                  <a:ext uri="{28A0092B-C50C-407E-A947-70E740481C1C}">
                    <a14:useLocalDpi xmlns:a14="http://schemas.microsoft.com/office/drawing/2010/main" val="0"/>
                  </a:ext>
                </a:extLst>
              </a:blip>
              <a:srcRect l="30882" r="30406"/>
              <a:stretch/>
            </p:blipFill>
            <p:spPr>
              <a:xfrm>
                <a:off x="9962862" y="905770"/>
                <a:ext cx="57220" cy="147810"/>
              </a:xfrm>
              <a:prstGeom prst="rect">
                <a:avLst/>
              </a:prstGeom>
            </p:spPr>
          </p:pic>
          <p:grpSp>
            <p:nvGrpSpPr>
              <p:cNvPr id="17" name="Group 16">
                <a:extLst>
                  <a:ext uri="{FF2B5EF4-FFF2-40B4-BE49-F238E27FC236}">
                    <a16:creationId xmlns:a16="http://schemas.microsoft.com/office/drawing/2014/main" id="{02BEFDC7-7D26-740D-CD70-5881B1E934D3}"/>
                  </a:ext>
                </a:extLst>
              </p:cNvPr>
              <p:cNvGrpSpPr/>
              <p:nvPr/>
            </p:nvGrpSpPr>
            <p:grpSpPr>
              <a:xfrm>
                <a:off x="7568833" y="803693"/>
                <a:ext cx="1597094" cy="326502"/>
                <a:chOff x="1700506" y="801618"/>
                <a:chExt cx="1597094" cy="326502"/>
              </a:xfrm>
            </p:grpSpPr>
            <p:sp>
              <p:nvSpPr>
                <p:cNvPr id="18" name="TextBox 17">
                  <a:extLst>
                    <a:ext uri="{FF2B5EF4-FFF2-40B4-BE49-F238E27FC236}">
                      <a16:creationId xmlns:a16="http://schemas.microsoft.com/office/drawing/2014/main" id="{FDDCAF3C-B607-9B9F-C462-09FBE344304A}"/>
                    </a:ext>
                  </a:extLst>
                </p:cNvPr>
                <p:cNvSpPr txBox="1"/>
                <p:nvPr/>
              </p:nvSpPr>
              <p:spPr>
                <a:xfrm>
                  <a:off x="1956726" y="820343"/>
                  <a:ext cx="134087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600" normalizeH="0" baseline="0" noProof="0" dirty="0">
                      <a:ln>
                        <a:noFill/>
                      </a:ln>
                      <a:solidFill>
                        <a:srgbClr val="313131"/>
                      </a:solidFill>
                      <a:effectLst/>
                      <a:uLnTx/>
                      <a:uFillTx/>
                      <a:latin typeface="Impact" panose="020B0806030902050204" pitchFamily="34" charset="0"/>
                      <a:ea typeface="+mn-ea"/>
                      <a:cs typeface="+mn-cs"/>
                    </a:rPr>
                    <a:t>INSITE</a:t>
                  </a:r>
                </a:p>
              </p:txBody>
            </p:sp>
            <p:sp>
              <p:nvSpPr>
                <p:cNvPr id="19" name="Freeform: Shape 18">
                  <a:extLst>
                    <a:ext uri="{FF2B5EF4-FFF2-40B4-BE49-F238E27FC236}">
                      <a16:creationId xmlns:a16="http://schemas.microsoft.com/office/drawing/2014/main" id="{8A535A16-9E13-70F7-53E5-C59EF23355B1}"/>
                    </a:ext>
                  </a:extLst>
                </p:cNvPr>
                <p:cNvSpPr/>
                <p:nvPr/>
              </p:nvSpPr>
              <p:spPr bwMode="gray">
                <a:xfrm rot="8100000">
                  <a:off x="1700506" y="801618"/>
                  <a:ext cx="255513" cy="262376"/>
                </a:xfrm>
                <a:custGeom>
                  <a:avLst/>
                  <a:gdLst>
                    <a:gd name="connsiteX0" fmla="*/ 652514 w 978388"/>
                    <a:gd name="connsiteY0" fmla="*/ 311418 h 978461"/>
                    <a:gd name="connsiteX1" fmla="*/ 578783 w 978388"/>
                    <a:gd name="connsiteY1" fmla="*/ 0 h 978461"/>
                    <a:gd name="connsiteX2" fmla="*/ 975875 w 978388"/>
                    <a:gd name="connsiteY2" fmla="*/ 2586 h 978461"/>
                    <a:gd name="connsiteX3" fmla="*/ 978388 w 978388"/>
                    <a:gd name="connsiteY3" fmla="*/ 388571 h 978461"/>
                    <a:gd name="connsiteX4" fmla="*/ 365753 w 978388"/>
                    <a:gd name="connsiteY4" fmla="*/ 440187 h 978461"/>
                    <a:gd name="connsiteX5" fmla="*/ 273707 w 978388"/>
                    <a:gd name="connsiteY5" fmla="*/ 51409 h 978461"/>
                    <a:gd name="connsiteX6" fmla="*/ 310026 w 978388"/>
                    <a:gd name="connsiteY6" fmla="*/ 33374 h 978461"/>
                    <a:gd name="connsiteX7" fmla="*/ 390866 w 978388"/>
                    <a:gd name="connsiteY7" fmla="*/ 9364 h 978461"/>
                    <a:gd name="connsiteX8" fmla="*/ 471958 w 978388"/>
                    <a:gd name="connsiteY8" fmla="*/ 1189 h 978461"/>
                    <a:gd name="connsiteX9" fmla="*/ 565912 w 978388"/>
                    <a:gd name="connsiteY9" fmla="*/ 398021 h 978461"/>
                    <a:gd name="connsiteX10" fmla="*/ 978363 w 978388"/>
                    <a:gd name="connsiteY10" fmla="*/ 495672 h 978461"/>
                    <a:gd name="connsiteX11" fmla="*/ 969097 w 978388"/>
                    <a:gd name="connsiteY11" fmla="*/ 587595 h 978461"/>
                    <a:gd name="connsiteX12" fmla="*/ 945087 w 978388"/>
                    <a:gd name="connsiteY12" fmla="*/ 668435 h 978461"/>
                    <a:gd name="connsiteX13" fmla="*/ 927052 w 978388"/>
                    <a:gd name="connsiteY13" fmla="*/ 704754 h 978461"/>
                    <a:gd name="connsiteX14" fmla="*/ 538465 w 978388"/>
                    <a:gd name="connsiteY14" fmla="*/ 612753 h 978461"/>
                    <a:gd name="connsiteX15" fmla="*/ 544594 w 978388"/>
                    <a:gd name="connsiteY15" fmla="*/ 581251 h 978461"/>
                    <a:gd name="connsiteX16" fmla="*/ 501475 w 978388"/>
                    <a:gd name="connsiteY16" fmla="*/ 477153 h 978461"/>
                    <a:gd name="connsiteX17" fmla="*/ 397377 w 978388"/>
                    <a:gd name="connsiteY17" fmla="*/ 434034 h 978461"/>
                    <a:gd name="connsiteX18" fmla="*/ 336040 w 978388"/>
                    <a:gd name="connsiteY18" fmla="*/ 641445 h 978461"/>
                    <a:gd name="connsiteX19" fmla="*/ 336040 w 978388"/>
                    <a:gd name="connsiteY19" fmla="*/ 520720 h 978461"/>
                    <a:gd name="connsiteX20" fmla="*/ 456766 w 978388"/>
                    <a:gd name="connsiteY20" fmla="*/ 520720 h 978461"/>
                    <a:gd name="connsiteX21" fmla="*/ 456766 w 978388"/>
                    <a:gd name="connsiteY21" fmla="*/ 641445 h 978461"/>
                    <a:gd name="connsiteX22" fmla="*/ 336040 w 978388"/>
                    <a:gd name="connsiteY22" fmla="*/ 641445 h 978461"/>
                    <a:gd name="connsiteX23" fmla="*/ 143377 w 978388"/>
                    <a:gd name="connsiteY23" fmla="*/ 835084 h 978461"/>
                    <a:gd name="connsiteX24" fmla="*/ 0 w 978388"/>
                    <a:gd name="connsiteY24" fmla="*/ 488940 h 978461"/>
                    <a:gd name="connsiteX25" fmla="*/ 169166 w 978388"/>
                    <a:gd name="connsiteY25" fmla="*/ 118790 h 978461"/>
                    <a:gd name="connsiteX26" fmla="*/ 180582 w 978388"/>
                    <a:gd name="connsiteY26" fmla="*/ 110466 h 978461"/>
                    <a:gd name="connsiteX27" fmla="*/ 274200 w 978388"/>
                    <a:gd name="connsiteY27" fmla="*/ 505884 h 978461"/>
                    <a:gd name="connsiteX28" fmla="*/ 260940 w 978388"/>
                    <a:gd name="connsiteY28" fmla="*/ 525853 h 978461"/>
                    <a:gd name="connsiteX29" fmla="*/ 293279 w 978388"/>
                    <a:gd name="connsiteY29" fmla="*/ 685349 h 978461"/>
                    <a:gd name="connsiteX30" fmla="*/ 452775 w 978388"/>
                    <a:gd name="connsiteY30" fmla="*/ 717688 h 978461"/>
                    <a:gd name="connsiteX31" fmla="*/ 472887 w 978388"/>
                    <a:gd name="connsiteY31" fmla="*/ 704333 h 978461"/>
                    <a:gd name="connsiteX32" fmla="*/ 867995 w 978388"/>
                    <a:gd name="connsiteY32" fmla="*/ 797879 h 978461"/>
                    <a:gd name="connsiteX33" fmla="*/ 859671 w 978388"/>
                    <a:gd name="connsiteY33" fmla="*/ 809295 h 978461"/>
                    <a:gd name="connsiteX34" fmla="*/ 489521 w 978388"/>
                    <a:gd name="connsiteY34" fmla="*/ 978461 h 978461"/>
                    <a:gd name="connsiteX35" fmla="*/ 143377 w 978388"/>
                    <a:gd name="connsiteY35" fmla="*/ 835084 h 97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78388" h="978461">
                      <a:moveTo>
                        <a:pt x="652514" y="311418"/>
                      </a:moveTo>
                      <a:lnTo>
                        <a:pt x="578783" y="0"/>
                      </a:lnTo>
                      <a:lnTo>
                        <a:pt x="975875" y="2586"/>
                      </a:lnTo>
                      <a:lnTo>
                        <a:pt x="978388" y="388571"/>
                      </a:lnTo>
                      <a:close/>
                      <a:moveTo>
                        <a:pt x="365753" y="440187"/>
                      </a:moveTo>
                      <a:lnTo>
                        <a:pt x="273707" y="51409"/>
                      </a:lnTo>
                      <a:lnTo>
                        <a:pt x="310026" y="33374"/>
                      </a:lnTo>
                      <a:cubicBezTo>
                        <a:pt x="335962" y="23147"/>
                        <a:pt x="362982" y="15070"/>
                        <a:pt x="390866" y="9364"/>
                      </a:cubicBezTo>
                      <a:lnTo>
                        <a:pt x="471958" y="1189"/>
                      </a:lnTo>
                      <a:lnTo>
                        <a:pt x="565912" y="398021"/>
                      </a:lnTo>
                      <a:lnTo>
                        <a:pt x="978363" y="495672"/>
                      </a:lnTo>
                      <a:lnTo>
                        <a:pt x="969097" y="587595"/>
                      </a:lnTo>
                      <a:cubicBezTo>
                        <a:pt x="963391" y="615479"/>
                        <a:pt x="955314" y="642499"/>
                        <a:pt x="945087" y="668435"/>
                      </a:cubicBezTo>
                      <a:lnTo>
                        <a:pt x="927052" y="704754"/>
                      </a:lnTo>
                      <a:lnTo>
                        <a:pt x="538465" y="612753"/>
                      </a:lnTo>
                      <a:lnTo>
                        <a:pt x="544594" y="581251"/>
                      </a:lnTo>
                      <a:cubicBezTo>
                        <a:pt x="544594" y="543575"/>
                        <a:pt x="530221" y="505899"/>
                        <a:pt x="501475" y="477153"/>
                      </a:cubicBezTo>
                      <a:cubicBezTo>
                        <a:pt x="472729" y="448407"/>
                        <a:pt x="435053" y="434034"/>
                        <a:pt x="397377" y="434034"/>
                      </a:cubicBezTo>
                      <a:close/>
                      <a:moveTo>
                        <a:pt x="336040" y="641445"/>
                      </a:moveTo>
                      <a:cubicBezTo>
                        <a:pt x="302703" y="608108"/>
                        <a:pt x="302703" y="554057"/>
                        <a:pt x="336040" y="520720"/>
                      </a:cubicBezTo>
                      <a:cubicBezTo>
                        <a:pt x="369377" y="487382"/>
                        <a:pt x="423428" y="487382"/>
                        <a:pt x="456766" y="520720"/>
                      </a:cubicBezTo>
                      <a:cubicBezTo>
                        <a:pt x="490103" y="554057"/>
                        <a:pt x="490103" y="608108"/>
                        <a:pt x="456766" y="641445"/>
                      </a:cubicBezTo>
                      <a:cubicBezTo>
                        <a:pt x="423428" y="674783"/>
                        <a:pt x="369377" y="674783"/>
                        <a:pt x="336040" y="641445"/>
                      </a:cubicBezTo>
                      <a:close/>
                      <a:moveTo>
                        <a:pt x="143377" y="835084"/>
                      </a:moveTo>
                      <a:cubicBezTo>
                        <a:pt x="54791" y="746497"/>
                        <a:pt x="0" y="624117"/>
                        <a:pt x="0" y="488940"/>
                      </a:cubicBezTo>
                      <a:cubicBezTo>
                        <a:pt x="0" y="341089"/>
                        <a:pt x="65546" y="208548"/>
                        <a:pt x="169166" y="118790"/>
                      </a:cubicBezTo>
                      <a:lnTo>
                        <a:pt x="180582" y="110466"/>
                      </a:lnTo>
                      <a:lnTo>
                        <a:pt x="274200" y="505884"/>
                      </a:lnTo>
                      <a:lnTo>
                        <a:pt x="260940" y="525853"/>
                      </a:lnTo>
                      <a:cubicBezTo>
                        <a:pt x="239381" y="579019"/>
                        <a:pt x="250160" y="642230"/>
                        <a:pt x="293279" y="685349"/>
                      </a:cubicBezTo>
                      <a:cubicBezTo>
                        <a:pt x="336398" y="728468"/>
                        <a:pt x="399610" y="739248"/>
                        <a:pt x="452775" y="717688"/>
                      </a:cubicBezTo>
                      <a:lnTo>
                        <a:pt x="472887" y="704333"/>
                      </a:lnTo>
                      <a:lnTo>
                        <a:pt x="867995" y="797879"/>
                      </a:lnTo>
                      <a:lnTo>
                        <a:pt x="859671" y="809295"/>
                      </a:lnTo>
                      <a:cubicBezTo>
                        <a:pt x="769913" y="912915"/>
                        <a:pt x="637372" y="978461"/>
                        <a:pt x="489521" y="978461"/>
                      </a:cubicBezTo>
                      <a:cubicBezTo>
                        <a:pt x="354344" y="978461"/>
                        <a:pt x="231963" y="923669"/>
                        <a:pt x="143377" y="835084"/>
                      </a:cubicBezTo>
                      <a:close/>
                    </a:path>
                  </a:pathLst>
                </a:custGeom>
                <a:solidFill>
                  <a:srgbClr val="86BC25"/>
                </a:solid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grpSp>
        <p:nvGrpSpPr>
          <p:cNvPr id="33" name="Group 32">
            <a:extLst>
              <a:ext uri="{FF2B5EF4-FFF2-40B4-BE49-F238E27FC236}">
                <a16:creationId xmlns:a16="http://schemas.microsoft.com/office/drawing/2014/main" id="{F0F47FBB-F7B3-E7A7-F3B6-7C54B862979E}"/>
              </a:ext>
            </a:extLst>
          </p:cNvPr>
          <p:cNvGrpSpPr/>
          <p:nvPr/>
        </p:nvGrpSpPr>
        <p:grpSpPr>
          <a:xfrm>
            <a:off x="0" y="0"/>
            <a:ext cx="463583" cy="6858000"/>
            <a:chOff x="0" y="0"/>
            <a:chExt cx="463583" cy="6858000"/>
          </a:xfrm>
        </p:grpSpPr>
        <p:sp>
          <p:nvSpPr>
            <p:cNvPr id="34" name="Rectangle 33">
              <a:extLst>
                <a:ext uri="{FF2B5EF4-FFF2-40B4-BE49-F238E27FC236}">
                  <a16:creationId xmlns:a16="http://schemas.microsoft.com/office/drawing/2014/main" id="{011B322C-6086-7CE8-EE17-9435B6902364}"/>
                </a:ext>
              </a:extLst>
            </p:cNvPr>
            <p:cNvSpPr/>
            <p:nvPr/>
          </p:nvSpPr>
          <p:spPr bwMode="gray">
            <a:xfrm>
              <a:off x="0" y="0"/>
              <a:ext cx="463583" cy="6858000"/>
            </a:xfrm>
            <a:prstGeom prst="rect">
              <a:avLst/>
            </a:prstGeom>
            <a:solidFill>
              <a:schemeClr val="accent1"/>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AU" sz="1600" b="1" dirty="0"/>
            </a:p>
          </p:txBody>
        </p:sp>
        <p:sp>
          <p:nvSpPr>
            <p:cNvPr id="35" name="TextBox 34">
              <a:extLst>
                <a:ext uri="{FF2B5EF4-FFF2-40B4-BE49-F238E27FC236}">
                  <a16:creationId xmlns:a16="http://schemas.microsoft.com/office/drawing/2014/main" id="{F753BD9F-87D5-4EFB-4226-D2113563DE80}"/>
                </a:ext>
              </a:extLst>
            </p:cNvPr>
            <p:cNvSpPr txBox="1"/>
            <p:nvPr/>
          </p:nvSpPr>
          <p:spPr>
            <a:xfrm>
              <a:off x="12589" y="606677"/>
              <a:ext cx="430887" cy="5644647"/>
            </a:xfrm>
            <a:prstGeom prst="rect">
              <a:avLst/>
            </a:prstGeom>
            <a:noFill/>
          </p:spPr>
          <p:txBody>
            <a:bodyPr vert="vert270" wrap="square" lIns="0" tIns="0" rIns="0" bIns="0" rtlCol="0">
              <a:spAutoFit/>
            </a:bodyPr>
            <a:lstStyle/>
            <a:p>
              <a:pPr algn="ctr">
                <a:spcBef>
                  <a:spcPts val="600"/>
                </a:spcBef>
                <a:buSzPct val="100000"/>
              </a:pPr>
              <a:r>
                <a:rPr lang="en-AU" sz="2800" b="1" dirty="0">
                  <a:solidFill>
                    <a:schemeClr val="bg1"/>
                  </a:solidFill>
                  <a:latin typeface="+mj-lt"/>
                  <a:cs typeface="Arial" panose="020B0604020202020204" pitchFamily="34" charset="0"/>
                </a:rPr>
                <a:t>Walkthrough of </a:t>
              </a:r>
              <a:r>
                <a:rPr lang="en-AU" sz="2800" b="1" dirty="0">
                  <a:latin typeface="+mj-lt"/>
                  <a:cs typeface="Arial" panose="020B0604020202020204" pitchFamily="34" charset="0"/>
                </a:rPr>
                <a:t>INSITE</a:t>
              </a:r>
            </a:p>
          </p:txBody>
        </p:sp>
      </p:grpSp>
      <p:sp>
        <p:nvSpPr>
          <p:cNvPr id="36" name="Copyright">
            <a:extLst>
              <a:ext uri="{FF2B5EF4-FFF2-40B4-BE49-F238E27FC236}">
                <a16:creationId xmlns:a16="http://schemas.microsoft.com/office/drawing/2014/main" id="{CC9A5A38-C469-4A24-7CD4-F5A1A8FD1C1A}"/>
              </a:ext>
            </a:extLst>
          </p:cNvPr>
          <p:cNvSpPr txBox="1"/>
          <p:nvPr/>
        </p:nvSpPr>
        <p:spPr>
          <a:xfrm>
            <a:off x="5311407" y="6696739"/>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2024 Deloitte Touche Tohmatsu India LLP. </a:t>
            </a:r>
          </a:p>
        </p:txBody>
      </p:sp>
      <p:sp>
        <p:nvSpPr>
          <p:cNvPr id="45" name="TextBox 44">
            <a:extLst>
              <a:ext uri="{FF2B5EF4-FFF2-40B4-BE49-F238E27FC236}">
                <a16:creationId xmlns:a16="http://schemas.microsoft.com/office/drawing/2014/main" id="{BAFCF0C9-70D8-68EA-B1E1-1F471307BD21}"/>
              </a:ext>
            </a:extLst>
          </p:cNvPr>
          <p:cNvSpPr txBox="1"/>
          <p:nvPr/>
        </p:nvSpPr>
        <p:spPr>
          <a:xfrm>
            <a:off x="4646971" y="597515"/>
            <a:ext cx="1756576"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The </a:t>
            </a:r>
            <a:r>
              <a:rPr kumimoji="0" lang="en-US" sz="1400" b="1" i="0" u="none" strike="noStrike" kern="1200" cap="none" spc="0" normalizeH="0" baseline="0" noProof="0" dirty="0">
                <a:ln>
                  <a:noFill/>
                </a:ln>
                <a:solidFill>
                  <a:schemeClr val="accent3"/>
                </a:solidFill>
                <a:effectLst/>
                <a:uLnTx/>
                <a:uFillTx/>
                <a:latin typeface="Calibri"/>
                <a:ea typeface="+mn-ea"/>
                <a:cs typeface="+mn-cs"/>
              </a:rPr>
              <a:t>Office and Location </a:t>
            </a:r>
            <a:r>
              <a:rPr kumimoji="0" lang="en-US" sz="1400" b="0" i="0" u="none" strike="noStrike" kern="1200" cap="none" spc="0" normalizeH="0" baseline="0" noProof="0" dirty="0">
                <a:ln>
                  <a:noFill/>
                </a:ln>
                <a:solidFill>
                  <a:prstClr val="black"/>
                </a:solidFill>
                <a:effectLst/>
                <a:uLnTx/>
                <a:uFillTx/>
                <a:latin typeface="Calibri"/>
                <a:ea typeface="+mn-ea"/>
                <a:cs typeface="+mn-cs"/>
              </a:rPr>
              <a:t>section enables the user to systematically  record asset location information, starting from </a:t>
            </a:r>
            <a:r>
              <a:rPr kumimoji="0" lang="en-US" sz="1400" b="1" i="0" u="none" strike="noStrike" kern="1200" cap="none" spc="0" normalizeH="0" baseline="0" noProof="0" dirty="0">
                <a:ln>
                  <a:noFill/>
                </a:ln>
                <a:solidFill>
                  <a:prstClr val="black"/>
                </a:solidFill>
                <a:effectLst/>
                <a:uLnTx/>
                <a:uFillTx/>
                <a:latin typeface="Calibri"/>
                <a:ea typeface="+mn-ea"/>
                <a:cs typeface="+mn-cs"/>
              </a:rPr>
              <a:t>Area</a:t>
            </a:r>
            <a:r>
              <a:rPr kumimoji="0" lang="en-US" sz="1400" b="0" i="0" u="none" strike="noStrike" kern="1200" cap="none" spc="0" normalizeH="0" baseline="0" noProof="0" dirty="0">
                <a:ln>
                  <a:noFill/>
                </a:ln>
                <a:solidFill>
                  <a:prstClr val="black"/>
                </a:solidFill>
                <a:effectLst/>
                <a:uLnTx/>
                <a:uFillTx/>
                <a:latin typeface="Calibri"/>
                <a:ea typeface="+mn-ea"/>
                <a:cs typeface="+mn-cs"/>
              </a:rPr>
              <a:t> level and progressing hierarchically to the </a:t>
            </a:r>
            <a:r>
              <a:rPr kumimoji="0" lang="en-US" sz="1400" b="1" i="0" u="none" strike="noStrike" kern="1200" cap="none" spc="0" normalizeH="0" baseline="0" noProof="0" dirty="0">
                <a:ln>
                  <a:noFill/>
                </a:ln>
                <a:solidFill>
                  <a:prstClr val="black"/>
                </a:solidFill>
                <a:effectLst/>
                <a:uLnTx/>
                <a:uFillTx/>
                <a:latin typeface="Calibri"/>
                <a:ea typeface="+mn-ea"/>
                <a:cs typeface="+mn-cs"/>
              </a:rPr>
              <a:t>Sub-Division</a:t>
            </a:r>
            <a:r>
              <a:rPr kumimoji="0" lang="en-US" sz="1400" b="0" i="0" u="none" strike="noStrike" kern="1200" cap="none" spc="0" normalizeH="0" baseline="0" noProof="0" dirty="0">
                <a:ln>
                  <a:noFill/>
                </a:ln>
                <a:solidFill>
                  <a:prstClr val="black"/>
                </a:solidFill>
                <a:effectLst/>
                <a:uLnTx/>
                <a:uFillTx/>
                <a:latin typeface="Calibri"/>
                <a:ea typeface="+mn-ea"/>
                <a:cs typeface="+mn-cs"/>
              </a:rPr>
              <a:t> level.</a:t>
            </a:r>
          </a:p>
        </p:txBody>
      </p:sp>
      <p:cxnSp>
        <p:nvCxnSpPr>
          <p:cNvPr id="46" name="Straight Connector 45">
            <a:extLst>
              <a:ext uri="{FF2B5EF4-FFF2-40B4-BE49-F238E27FC236}">
                <a16:creationId xmlns:a16="http://schemas.microsoft.com/office/drawing/2014/main" id="{009E7F3F-486F-3F3E-0259-E7AD8C0F6969}"/>
              </a:ext>
            </a:extLst>
          </p:cNvPr>
          <p:cNvCxnSpPr>
            <a:cxnSpLocks/>
          </p:cNvCxnSpPr>
          <p:nvPr/>
        </p:nvCxnSpPr>
        <p:spPr>
          <a:xfrm>
            <a:off x="4091073" y="1023782"/>
            <a:ext cx="555898"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3074F31-0C67-8560-252B-F0F229ABA51E}"/>
              </a:ext>
            </a:extLst>
          </p:cNvPr>
          <p:cNvSpPr txBox="1"/>
          <p:nvPr/>
        </p:nvSpPr>
        <p:spPr>
          <a:xfrm>
            <a:off x="10145594" y="597515"/>
            <a:ext cx="2015670"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User can capture the </a:t>
            </a:r>
            <a:r>
              <a:rPr kumimoji="0" lang="en-US" sz="1400" b="1" i="0" u="none" strike="noStrike" kern="1200" cap="none" spc="0" normalizeH="0" baseline="0" noProof="0" dirty="0">
                <a:ln>
                  <a:noFill/>
                </a:ln>
                <a:solidFill>
                  <a:schemeClr val="accent6"/>
                </a:solidFill>
                <a:effectLst/>
                <a:uLnTx/>
                <a:uFillTx/>
                <a:latin typeface="Calibri"/>
                <a:ea typeface="+mn-ea"/>
                <a:cs typeface="+mn-cs"/>
              </a:rPr>
              <a:t>GPS location </a:t>
            </a:r>
            <a:r>
              <a:rPr kumimoji="0" lang="en-US" sz="1400" b="0" i="0" u="none" strike="noStrike" kern="1200" cap="none" spc="0" normalizeH="0" baseline="0" noProof="0" dirty="0">
                <a:ln>
                  <a:noFill/>
                </a:ln>
                <a:solidFill>
                  <a:prstClr val="black"/>
                </a:solidFill>
                <a:effectLst/>
                <a:uLnTx/>
                <a:uFillTx/>
                <a:latin typeface="Calibri"/>
                <a:ea typeface="+mn-ea"/>
                <a:cs typeface="+mn-cs"/>
              </a:rPr>
              <a:t>of the place where the Asset is located </a:t>
            </a:r>
          </a:p>
        </p:txBody>
      </p:sp>
      <p:cxnSp>
        <p:nvCxnSpPr>
          <p:cNvPr id="49" name="Straight Connector 48">
            <a:extLst>
              <a:ext uri="{FF2B5EF4-FFF2-40B4-BE49-F238E27FC236}">
                <a16:creationId xmlns:a16="http://schemas.microsoft.com/office/drawing/2014/main" id="{1407E2DA-7188-3D57-65E7-D7D17171F1E9}"/>
              </a:ext>
            </a:extLst>
          </p:cNvPr>
          <p:cNvCxnSpPr>
            <a:cxnSpLocks/>
          </p:cNvCxnSpPr>
          <p:nvPr/>
        </p:nvCxnSpPr>
        <p:spPr>
          <a:xfrm>
            <a:off x="9580582" y="1059265"/>
            <a:ext cx="590412"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735703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7D6FAEA-740D-2F38-B68D-213D9CA6BE63}"/>
              </a:ext>
            </a:extLst>
          </p:cNvPr>
          <p:cNvGrpSpPr/>
          <p:nvPr/>
        </p:nvGrpSpPr>
        <p:grpSpPr>
          <a:xfrm>
            <a:off x="6057251" y="84776"/>
            <a:ext cx="5058205" cy="6773224"/>
            <a:chOff x="6697276" y="84776"/>
            <a:chExt cx="5058205" cy="6773224"/>
          </a:xfrm>
        </p:grpSpPr>
        <p:grpSp>
          <p:nvGrpSpPr>
            <p:cNvPr id="6" name="Group 5">
              <a:extLst>
                <a:ext uri="{FF2B5EF4-FFF2-40B4-BE49-F238E27FC236}">
                  <a16:creationId xmlns:a16="http://schemas.microsoft.com/office/drawing/2014/main" id="{DF722B5E-AB25-5BEF-757B-3C82E240776B}"/>
                </a:ext>
              </a:extLst>
            </p:cNvPr>
            <p:cNvGrpSpPr/>
            <p:nvPr/>
          </p:nvGrpSpPr>
          <p:grpSpPr>
            <a:xfrm>
              <a:off x="6697276" y="84776"/>
              <a:ext cx="5058205" cy="6773224"/>
              <a:chOff x="6697276" y="84776"/>
              <a:chExt cx="5058205" cy="6773224"/>
            </a:xfrm>
          </p:grpSpPr>
          <p:pic>
            <p:nvPicPr>
              <p:cNvPr id="13" name="Picture 12" descr="A hand holding a cell phone&#10;&#10;Description automatically generated">
                <a:extLst>
                  <a:ext uri="{FF2B5EF4-FFF2-40B4-BE49-F238E27FC236}">
                    <a16:creationId xmlns:a16="http://schemas.microsoft.com/office/drawing/2014/main" id="{9699B892-EAF0-21EF-36F3-84E331306E55}"/>
                  </a:ext>
                </a:extLst>
              </p:cNvPr>
              <p:cNvPicPr>
                <a:picLocks noChangeAspect="1"/>
              </p:cNvPicPr>
              <p:nvPr/>
            </p:nvPicPr>
            <p:blipFill rotWithShape="1">
              <a:blip r:embed="rId2">
                <a:extLst>
                  <a:ext uri="{28A0092B-C50C-407E-A947-70E740481C1C}">
                    <a14:useLocalDpi xmlns:a14="http://schemas.microsoft.com/office/drawing/2010/main" val="0"/>
                  </a:ext>
                </a:extLst>
              </a:blip>
              <a:srcRect b="10283"/>
              <a:stretch/>
            </p:blipFill>
            <p:spPr>
              <a:xfrm>
                <a:off x="6697276" y="84776"/>
                <a:ext cx="5058205" cy="6773224"/>
              </a:xfrm>
              <a:prstGeom prst="rect">
                <a:avLst/>
              </a:prstGeom>
              <a:noFill/>
            </p:spPr>
          </p:pic>
          <p:sp>
            <p:nvSpPr>
              <p:cNvPr id="14" name="Rectangle 13">
                <a:extLst>
                  <a:ext uri="{FF2B5EF4-FFF2-40B4-BE49-F238E27FC236}">
                    <a16:creationId xmlns:a16="http://schemas.microsoft.com/office/drawing/2014/main" id="{2849926B-CA53-C54E-60C1-5CBC24F0AA5A}"/>
                  </a:ext>
                </a:extLst>
              </p:cNvPr>
              <p:cNvSpPr/>
              <p:nvPr/>
            </p:nvSpPr>
            <p:spPr bwMode="gray">
              <a:xfrm>
                <a:off x="7711142" y="6047295"/>
                <a:ext cx="2172879" cy="263950"/>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5" name="Rectangle: Top Corners Rounded 14">
              <a:extLst>
                <a:ext uri="{FF2B5EF4-FFF2-40B4-BE49-F238E27FC236}">
                  <a16:creationId xmlns:a16="http://schemas.microsoft.com/office/drawing/2014/main" id="{9929ABEE-DCEA-1F7E-D83E-5BD4643757BD}"/>
                </a:ext>
              </a:extLst>
            </p:cNvPr>
            <p:cNvSpPr/>
            <p:nvPr/>
          </p:nvSpPr>
          <p:spPr bwMode="gray">
            <a:xfrm>
              <a:off x="7387647" y="402648"/>
              <a:ext cx="2828413" cy="263950"/>
            </a:xfrm>
            <a:prstGeom prst="round2Same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pic>
          <p:nvPicPr>
            <p:cNvPr id="153" name="Picture 152" descr="A black background with a black square&#10;&#10;Description automatically generated with medium confidence">
              <a:extLst>
                <a:ext uri="{FF2B5EF4-FFF2-40B4-BE49-F238E27FC236}">
                  <a16:creationId xmlns:a16="http://schemas.microsoft.com/office/drawing/2014/main" id="{E7BDEEF7-5159-0855-95F7-D8BCE0FC1F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7483958" y="1316073"/>
              <a:ext cx="136837" cy="136837"/>
            </a:xfrm>
            <a:prstGeom prst="rect">
              <a:avLst/>
            </a:prstGeom>
          </p:spPr>
        </p:pic>
        <p:sp>
          <p:nvSpPr>
            <p:cNvPr id="154" name="Rectangle 153">
              <a:extLst>
                <a:ext uri="{FF2B5EF4-FFF2-40B4-BE49-F238E27FC236}">
                  <a16:creationId xmlns:a16="http://schemas.microsoft.com/office/drawing/2014/main" id="{91EEE716-45C9-8FC0-A0D2-E1969E24F168}"/>
                </a:ext>
              </a:extLst>
            </p:cNvPr>
            <p:cNvSpPr/>
            <p:nvPr/>
          </p:nvSpPr>
          <p:spPr>
            <a:xfrm>
              <a:off x="8388502" y="1549530"/>
              <a:ext cx="911909" cy="390146"/>
            </a:xfrm>
            <a:prstGeom prst="rect">
              <a:avLst/>
            </a:prstGeom>
            <a:solidFill>
              <a:srgbClr val="63E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55" name="Group 154">
              <a:extLst>
                <a:ext uri="{FF2B5EF4-FFF2-40B4-BE49-F238E27FC236}">
                  <a16:creationId xmlns:a16="http://schemas.microsoft.com/office/drawing/2014/main" id="{957E3824-E3C4-94AA-9795-FFF7C9696B6A}"/>
                </a:ext>
              </a:extLst>
            </p:cNvPr>
            <p:cNvGrpSpPr/>
            <p:nvPr/>
          </p:nvGrpSpPr>
          <p:grpSpPr>
            <a:xfrm>
              <a:off x="7407203" y="1549530"/>
              <a:ext cx="2842667" cy="400612"/>
              <a:chOff x="7409677" y="1549530"/>
              <a:chExt cx="2842667" cy="400612"/>
            </a:xfrm>
          </p:grpSpPr>
          <p:sp>
            <p:nvSpPr>
              <p:cNvPr id="167" name="Rectangle 166">
                <a:extLst>
                  <a:ext uri="{FF2B5EF4-FFF2-40B4-BE49-F238E27FC236}">
                    <a16:creationId xmlns:a16="http://schemas.microsoft.com/office/drawing/2014/main" id="{747BC7EB-BE7D-5CB7-E306-143A1850D3CC}"/>
                  </a:ext>
                </a:extLst>
              </p:cNvPr>
              <p:cNvSpPr/>
              <p:nvPr/>
            </p:nvSpPr>
            <p:spPr>
              <a:xfrm>
                <a:off x="7409677" y="1549530"/>
                <a:ext cx="2784442" cy="400612"/>
              </a:xfrm>
              <a:prstGeom prst="rect">
                <a:avLst/>
              </a:prstGeom>
              <a:solidFill>
                <a:srgbClr val="EAEAEA">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68" name="Picture 167" descr="A black background with a black square&#10;&#10;Description automatically generated with medium confidence">
                <a:extLst>
                  <a:ext uri="{FF2B5EF4-FFF2-40B4-BE49-F238E27FC236}">
                    <a16:creationId xmlns:a16="http://schemas.microsoft.com/office/drawing/2014/main" id="{8AF6B41E-EE04-1E6A-E367-115C2BDF64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7838210" y="1607518"/>
                <a:ext cx="123649" cy="123649"/>
              </a:xfrm>
              <a:prstGeom prst="rect">
                <a:avLst/>
              </a:prstGeom>
            </p:spPr>
          </p:pic>
          <p:sp>
            <p:nvSpPr>
              <p:cNvPr id="169" name="Rectangle 168">
                <a:extLst>
                  <a:ext uri="{FF2B5EF4-FFF2-40B4-BE49-F238E27FC236}">
                    <a16:creationId xmlns:a16="http://schemas.microsoft.com/office/drawing/2014/main" id="{45B1ABCB-AF03-874D-E0E9-C19D80A63A8D}"/>
                  </a:ext>
                </a:extLst>
              </p:cNvPr>
              <p:cNvSpPr/>
              <p:nvPr/>
            </p:nvSpPr>
            <p:spPr>
              <a:xfrm>
                <a:off x="7437841" y="1739672"/>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Office &amp; Location</a:t>
                </a:r>
              </a:p>
            </p:txBody>
          </p:sp>
          <p:cxnSp>
            <p:nvCxnSpPr>
              <p:cNvPr id="170" name="Straight Connector 169">
                <a:extLst>
                  <a:ext uri="{FF2B5EF4-FFF2-40B4-BE49-F238E27FC236}">
                    <a16:creationId xmlns:a16="http://schemas.microsoft.com/office/drawing/2014/main" id="{8E4F0408-9A52-4C0D-4451-0BC105566562}"/>
                  </a:ext>
                </a:extLst>
              </p:cNvPr>
              <p:cNvCxnSpPr/>
              <p:nvPr/>
            </p:nvCxnSpPr>
            <p:spPr>
              <a:xfrm>
                <a:off x="8385539" y="1615729"/>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1" name="Rectangle 170">
                <a:extLst>
                  <a:ext uri="{FF2B5EF4-FFF2-40B4-BE49-F238E27FC236}">
                    <a16:creationId xmlns:a16="http://schemas.microsoft.com/office/drawing/2014/main" id="{7A03D3B7-DAC3-0974-E9F2-1D7D5E1CFC5B}"/>
                  </a:ext>
                </a:extLst>
              </p:cNvPr>
              <p:cNvSpPr/>
              <p:nvPr/>
            </p:nvSpPr>
            <p:spPr>
              <a:xfrm>
                <a:off x="8369854"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Asset Details</a:t>
                </a:r>
              </a:p>
            </p:txBody>
          </p:sp>
          <p:sp>
            <p:nvSpPr>
              <p:cNvPr id="172" name="Rectangle 171">
                <a:extLst>
                  <a:ext uri="{FF2B5EF4-FFF2-40B4-BE49-F238E27FC236}">
                    <a16:creationId xmlns:a16="http://schemas.microsoft.com/office/drawing/2014/main" id="{574676A8-B158-E7FA-BE51-322AC9A3E936}"/>
                  </a:ext>
                </a:extLst>
              </p:cNvPr>
              <p:cNvSpPr/>
              <p:nvPr/>
            </p:nvSpPr>
            <p:spPr>
              <a:xfrm>
                <a:off x="9295615"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Photos</a:t>
                </a:r>
              </a:p>
            </p:txBody>
          </p:sp>
          <p:cxnSp>
            <p:nvCxnSpPr>
              <p:cNvPr id="173" name="Straight Connector 172">
                <a:extLst>
                  <a:ext uri="{FF2B5EF4-FFF2-40B4-BE49-F238E27FC236}">
                    <a16:creationId xmlns:a16="http://schemas.microsoft.com/office/drawing/2014/main" id="{218758D1-F56B-2872-9508-3AC347154558}"/>
                  </a:ext>
                </a:extLst>
              </p:cNvPr>
              <p:cNvCxnSpPr/>
              <p:nvPr/>
            </p:nvCxnSpPr>
            <p:spPr>
              <a:xfrm>
                <a:off x="9305319" y="1619660"/>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74" name="Picture 173" descr="A black background with a black square&#10;&#10;Description automatically generated with medium confidence">
                <a:extLst>
                  <a:ext uri="{FF2B5EF4-FFF2-40B4-BE49-F238E27FC236}">
                    <a16:creationId xmlns:a16="http://schemas.microsoft.com/office/drawing/2014/main" id="{BD68D066-3FDD-9C4F-E1A9-3512B4289E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2733" y="1606972"/>
                <a:ext cx="137535" cy="137535"/>
              </a:xfrm>
              <a:prstGeom prst="rect">
                <a:avLst/>
              </a:prstGeom>
            </p:spPr>
          </p:pic>
          <p:pic>
            <p:nvPicPr>
              <p:cNvPr id="175" name="Picture 174" descr="A black background with a black square&#10;&#10;Description automatically generated with medium confidence">
                <a:extLst>
                  <a:ext uri="{FF2B5EF4-FFF2-40B4-BE49-F238E27FC236}">
                    <a16:creationId xmlns:a16="http://schemas.microsoft.com/office/drawing/2014/main" id="{33662AEA-5027-1EDD-04C4-6888992118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27782" y="1615331"/>
                <a:ext cx="127162" cy="127162"/>
              </a:xfrm>
              <a:prstGeom prst="rect">
                <a:avLst/>
              </a:prstGeom>
            </p:spPr>
          </p:pic>
        </p:grpSp>
        <p:sp>
          <p:nvSpPr>
            <p:cNvPr id="156" name="Rectangle 155">
              <a:extLst>
                <a:ext uri="{FF2B5EF4-FFF2-40B4-BE49-F238E27FC236}">
                  <a16:creationId xmlns:a16="http://schemas.microsoft.com/office/drawing/2014/main" id="{19F43181-6EAF-EC62-BD74-AF6FFF80AFA4}"/>
                </a:ext>
              </a:extLst>
            </p:cNvPr>
            <p:cNvSpPr/>
            <p:nvPr/>
          </p:nvSpPr>
          <p:spPr>
            <a:xfrm>
              <a:off x="8336412" y="1278802"/>
              <a:ext cx="956729"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ASSET</a:t>
              </a:r>
            </a:p>
          </p:txBody>
        </p:sp>
        <p:grpSp>
          <p:nvGrpSpPr>
            <p:cNvPr id="26" name="Group 25">
              <a:extLst>
                <a:ext uri="{FF2B5EF4-FFF2-40B4-BE49-F238E27FC236}">
                  <a16:creationId xmlns:a16="http://schemas.microsoft.com/office/drawing/2014/main" id="{13524EC8-2F34-4E3C-53DB-DA91CCC8B679}"/>
                </a:ext>
              </a:extLst>
            </p:cNvPr>
            <p:cNvGrpSpPr/>
            <p:nvPr/>
          </p:nvGrpSpPr>
          <p:grpSpPr>
            <a:xfrm>
              <a:off x="7442985" y="2195835"/>
              <a:ext cx="2585261" cy="3413826"/>
              <a:chOff x="7442985" y="2195835"/>
              <a:chExt cx="2585261" cy="3413826"/>
            </a:xfrm>
          </p:grpSpPr>
          <p:sp>
            <p:nvSpPr>
              <p:cNvPr id="157" name="Rectangle: Rounded Corners 156">
                <a:extLst>
                  <a:ext uri="{FF2B5EF4-FFF2-40B4-BE49-F238E27FC236}">
                    <a16:creationId xmlns:a16="http://schemas.microsoft.com/office/drawing/2014/main" id="{9A16B8A3-D9A5-332B-913C-70FDBF429934}"/>
                  </a:ext>
                </a:extLst>
              </p:cNvPr>
              <p:cNvSpPr/>
              <p:nvPr/>
            </p:nvSpPr>
            <p:spPr bwMode="gray">
              <a:xfrm>
                <a:off x="7512044" y="2431482"/>
                <a:ext cx="251620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58" name="Rectangle: Rounded Corners 157">
                <a:extLst>
                  <a:ext uri="{FF2B5EF4-FFF2-40B4-BE49-F238E27FC236}">
                    <a16:creationId xmlns:a16="http://schemas.microsoft.com/office/drawing/2014/main" id="{18C7D9F0-950A-97A5-6DE7-58DBB22BFB05}"/>
                  </a:ext>
                </a:extLst>
              </p:cNvPr>
              <p:cNvSpPr/>
              <p:nvPr/>
            </p:nvSpPr>
            <p:spPr bwMode="gray">
              <a:xfrm>
                <a:off x="7512044" y="3124740"/>
                <a:ext cx="251620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59" name="Rectangle 158">
                <a:extLst>
                  <a:ext uri="{FF2B5EF4-FFF2-40B4-BE49-F238E27FC236}">
                    <a16:creationId xmlns:a16="http://schemas.microsoft.com/office/drawing/2014/main" id="{FE48A613-7D87-3F88-34CF-3698D12ACA36}"/>
                  </a:ext>
                </a:extLst>
              </p:cNvPr>
              <p:cNvSpPr/>
              <p:nvPr/>
            </p:nvSpPr>
            <p:spPr>
              <a:xfrm>
                <a:off x="7442985" y="2195835"/>
                <a:ext cx="1317274"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Made in (Country) </a:t>
                </a:r>
              </a:p>
            </p:txBody>
          </p:sp>
          <p:sp>
            <p:nvSpPr>
              <p:cNvPr id="160" name="Rectangle 159">
                <a:extLst>
                  <a:ext uri="{FF2B5EF4-FFF2-40B4-BE49-F238E27FC236}">
                    <a16:creationId xmlns:a16="http://schemas.microsoft.com/office/drawing/2014/main" id="{BC19E75F-DC6D-8B84-1BE4-BE98881C3CE6}"/>
                  </a:ext>
                </a:extLst>
              </p:cNvPr>
              <p:cNvSpPr/>
              <p:nvPr/>
            </p:nvSpPr>
            <p:spPr>
              <a:xfrm>
                <a:off x="7445789" y="2928043"/>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Manufacturer </a:t>
                </a:r>
              </a:p>
            </p:txBody>
          </p:sp>
          <p:sp>
            <p:nvSpPr>
              <p:cNvPr id="161" name="Rectangle: Rounded Corners 160">
                <a:extLst>
                  <a:ext uri="{FF2B5EF4-FFF2-40B4-BE49-F238E27FC236}">
                    <a16:creationId xmlns:a16="http://schemas.microsoft.com/office/drawing/2014/main" id="{5F8B2A92-A0E4-CAC6-116F-94C297E45BB8}"/>
                  </a:ext>
                </a:extLst>
              </p:cNvPr>
              <p:cNvSpPr/>
              <p:nvPr/>
            </p:nvSpPr>
            <p:spPr bwMode="gray">
              <a:xfrm>
                <a:off x="7516903" y="3858480"/>
                <a:ext cx="2511343"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62" name="Rectangle: Rounded Corners 161">
                <a:extLst>
                  <a:ext uri="{FF2B5EF4-FFF2-40B4-BE49-F238E27FC236}">
                    <a16:creationId xmlns:a16="http://schemas.microsoft.com/office/drawing/2014/main" id="{3EC39FBB-9DEC-5401-ED52-F598C7156CBA}"/>
                  </a:ext>
                </a:extLst>
              </p:cNvPr>
              <p:cNvSpPr/>
              <p:nvPr/>
            </p:nvSpPr>
            <p:spPr bwMode="gray">
              <a:xfrm>
                <a:off x="7516903" y="4551738"/>
                <a:ext cx="2511343"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63" name="Rectangle 162">
                <a:extLst>
                  <a:ext uri="{FF2B5EF4-FFF2-40B4-BE49-F238E27FC236}">
                    <a16:creationId xmlns:a16="http://schemas.microsoft.com/office/drawing/2014/main" id="{BB95460A-1751-D46B-D4D2-C08A009FBC49}"/>
                  </a:ext>
                </a:extLst>
              </p:cNvPr>
              <p:cNvSpPr/>
              <p:nvPr/>
            </p:nvSpPr>
            <p:spPr>
              <a:xfrm>
                <a:off x="7447844" y="3622833"/>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Model </a:t>
                </a:r>
              </a:p>
            </p:txBody>
          </p:sp>
          <p:sp>
            <p:nvSpPr>
              <p:cNvPr id="164" name="Rectangle 163">
                <a:extLst>
                  <a:ext uri="{FF2B5EF4-FFF2-40B4-BE49-F238E27FC236}">
                    <a16:creationId xmlns:a16="http://schemas.microsoft.com/office/drawing/2014/main" id="{C90B5C4D-0189-712D-789A-B2C140DA61D8}"/>
                  </a:ext>
                </a:extLst>
              </p:cNvPr>
              <p:cNvSpPr/>
              <p:nvPr/>
            </p:nvSpPr>
            <p:spPr>
              <a:xfrm>
                <a:off x="7450648" y="4355041"/>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Serial Number </a:t>
                </a:r>
              </a:p>
            </p:txBody>
          </p:sp>
          <p:sp>
            <p:nvSpPr>
              <p:cNvPr id="165" name="Rectangle: Rounded Corners 164">
                <a:extLst>
                  <a:ext uri="{FF2B5EF4-FFF2-40B4-BE49-F238E27FC236}">
                    <a16:creationId xmlns:a16="http://schemas.microsoft.com/office/drawing/2014/main" id="{85FE3D00-C590-2093-39D5-4D52A39E5798}"/>
                  </a:ext>
                </a:extLst>
              </p:cNvPr>
              <p:cNvSpPr/>
              <p:nvPr/>
            </p:nvSpPr>
            <p:spPr bwMode="gray">
              <a:xfrm>
                <a:off x="7518864" y="5244996"/>
                <a:ext cx="250938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66" name="Rectangle 165">
                <a:extLst>
                  <a:ext uri="{FF2B5EF4-FFF2-40B4-BE49-F238E27FC236}">
                    <a16:creationId xmlns:a16="http://schemas.microsoft.com/office/drawing/2014/main" id="{C424E7B6-2FE7-9FFD-D891-949D7F407D2F}"/>
                  </a:ext>
                </a:extLst>
              </p:cNvPr>
              <p:cNvSpPr/>
              <p:nvPr/>
            </p:nvSpPr>
            <p:spPr>
              <a:xfrm>
                <a:off x="7452609" y="5048299"/>
                <a:ext cx="1646421"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Measurement Unit (UoM) </a:t>
                </a:r>
              </a:p>
            </p:txBody>
          </p:sp>
        </p:grpSp>
        <p:cxnSp>
          <p:nvCxnSpPr>
            <p:cNvPr id="25" name="Straight Connector 24">
              <a:extLst>
                <a:ext uri="{FF2B5EF4-FFF2-40B4-BE49-F238E27FC236}">
                  <a16:creationId xmlns:a16="http://schemas.microsoft.com/office/drawing/2014/main" id="{4F3DC35F-BA1E-DF41-357A-DFA83A8D1792}"/>
                </a:ext>
              </a:extLst>
            </p:cNvPr>
            <p:cNvCxnSpPr/>
            <p:nvPr/>
          </p:nvCxnSpPr>
          <p:spPr>
            <a:xfrm>
              <a:off x="8211993" y="5869866"/>
              <a:ext cx="1226127" cy="0"/>
            </a:xfrm>
            <a:prstGeom prst="line">
              <a:avLst/>
            </a:prstGeom>
            <a:ln w="12700" cap="rnd">
              <a:solidFill>
                <a:schemeClr val="tx2">
                  <a:alpha val="28000"/>
                </a:schemeClr>
              </a:solidFill>
              <a:round/>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9A17432E-1B3C-048B-0BAA-C9E752A6F2C2}"/>
                </a:ext>
              </a:extLst>
            </p:cNvPr>
            <p:cNvGrpSpPr/>
            <p:nvPr/>
          </p:nvGrpSpPr>
          <p:grpSpPr>
            <a:xfrm>
              <a:off x="7568833" y="803693"/>
              <a:ext cx="2451249" cy="326502"/>
              <a:chOff x="7568833" y="803693"/>
              <a:chExt cx="2451249" cy="326502"/>
            </a:xfrm>
          </p:grpSpPr>
          <p:pic>
            <p:nvPicPr>
              <p:cNvPr id="150" name="Picture 149" descr="A black background with a black square&#10;&#10;Description automatically generated with medium confidence">
                <a:extLst>
                  <a:ext uri="{FF2B5EF4-FFF2-40B4-BE49-F238E27FC236}">
                    <a16:creationId xmlns:a16="http://schemas.microsoft.com/office/drawing/2014/main" id="{2719F479-DD0B-E821-EC00-03961F949BA3}"/>
                  </a:ext>
                </a:extLst>
              </p:cNvPr>
              <p:cNvPicPr>
                <a:picLocks noChangeAspect="1"/>
              </p:cNvPicPr>
              <p:nvPr/>
            </p:nvPicPr>
            <p:blipFill rotWithShape="1">
              <a:blip r:embed="rId7">
                <a:extLst>
                  <a:ext uri="{28A0092B-C50C-407E-A947-70E740481C1C}">
                    <a14:useLocalDpi xmlns:a14="http://schemas.microsoft.com/office/drawing/2010/main" val="0"/>
                  </a:ext>
                </a:extLst>
              </a:blip>
              <a:srcRect l="30882" r="30406"/>
              <a:stretch/>
            </p:blipFill>
            <p:spPr>
              <a:xfrm>
                <a:off x="9962862" y="905770"/>
                <a:ext cx="57220" cy="147810"/>
              </a:xfrm>
              <a:prstGeom prst="rect">
                <a:avLst/>
              </a:prstGeom>
            </p:spPr>
          </p:pic>
          <p:grpSp>
            <p:nvGrpSpPr>
              <p:cNvPr id="9" name="Group 8">
                <a:extLst>
                  <a:ext uri="{FF2B5EF4-FFF2-40B4-BE49-F238E27FC236}">
                    <a16:creationId xmlns:a16="http://schemas.microsoft.com/office/drawing/2014/main" id="{BD31CF45-BBB1-2DED-4F16-E989878241EC}"/>
                  </a:ext>
                </a:extLst>
              </p:cNvPr>
              <p:cNvGrpSpPr/>
              <p:nvPr/>
            </p:nvGrpSpPr>
            <p:grpSpPr>
              <a:xfrm>
                <a:off x="7568833" y="803693"/>
                <a:ext cx="1597094" cy="326502"/>
                <a:chOff x="1700506" y="801618"/>
                <a:chExt cx="1597094" cy="326502"/>
              </a:xfrm>
            </p:grpSpPr>
            <p:sp>
              <p:nvSpPr>
                <p:cNvPr id="10" name="TextBox 9">
                  <a:extLst>
                    <a:ext uri="{FF2B5EF4-FFF2-40B4-BE49-F238E27FC236}">
                      <a16:creationId xmlns:a16="http://schemas.microsoft.com/office/drawing/2014/main" id="{B1520612-7B06-A075-BFCA-6A40039A754A}"/>
                    </a:ext>
                  </a:extLst>
                </p:cNvPr>
                <p:cNvSpPr txBox="1"/>
                <p:nvPr/>
              </p:nvSpPr>
              <p:spPr>
                <a:xfrm>
                  <a:off x="1956726" y="820343"/>
                  <a:ext cx="134087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600" normalizeH="0" baseline="0" noProof="0" dirty="0">
                      <a:ln>
                        <a:noFill/>
                      </a:ln>
                      <a:solidFill>
                        <a:srgbClr val="313131"/>
                      </a:solidFill>
                      <a:effectLst/>
                      <a:uLnTx/>
                      <a:uFillTx/>
                      <a:latin typeface="Impact" panose="020B0806030902050204" pitchFamily="34" charset="0"/>
                      <a:ea typeface="+mn-ea"/>
                      <a:cs typeface="+mn-cs"/>
                    </a:rPr>
                    <a:t>INSITE</a:t>
                  </a:r>
                </a:p>
              </p:txBody>
            </p:sp>
            <p:sp>
              <p:nvSpPr>
                <p:cNvPr id="12" name="Freeform: Shape 11">
                  <a:extLst>
                    <a:ext uri="{FF2B5EF4-FFF2-40B4-BE49-F238E27FC236}">
                      <a16:creationId xmlns:a16="http://schemas.microsoft.com/office/drawing/2014/main" id="{D59A237E-96B2-90AE-D6F7-06A3AE4EED9F}"/>
                    </a:ext>
                  </a:extLst>
                </p:cNvPr>
                <p:cNvSpPr/>
                <p:nvPr/>
              </p:nvSpPr>
              <p:spPr bwMode="gray">
                <a:xfrm rot="8100000">
                  <a:off x="1700506" y="801618"/>
                  <a:ext cx="255513" cy="262376"/>
                </a:xfrm>
                <a:custGeom>
                  <a:avLst/>
                  <a:gdLst>
                    <a:gd name="connsiteX0" fmla="*/ 652514 w 978388"/>
                    <a:gd name="connsiteY0" fmla="*/ 311418 h 978461"/>
                    <a:gd name="connsiteX1" fmla="*/ 578783 w 978388"/>
                    <a:gd name="connsiteY1" fmla="*/ 0 h 978461"/>
                    <a:gd name="connsiteX2" fmla="*/ 975875 w 978388"/>
                    <a:gd name="connsiteY2" fmla="*/ 2586 h 978461"/>
                    <a:gd name="connsiteX3" fmla="*/ 978388 w 978388"/>
                    <a:gd name="connsiteY3" fmla="*/ 388571 h 978461"/>
                    <a:gd name="connsiteX4" fmla="*/ 365753 w 978388"/>
                    <a:gd name="connsiteY4" fmla="*/ 440187 h 978461"/>
                    <a:gd name="connsiteX5" fmla="*/ 273707 w 978388"/>
                    <a:gd name="connsiteY5" fmla="*/ 51409 h 978461"/>
                    <a:gd name="connsiteX6" fmla="*/ 310026 w 978388"/>
                    <a:gd name="connsiteY6" fmla="*/ 33374 h 978461"/>
                    <a:gd name="connsiteX7" fmla="*/ 390866 w 978388"/>
                    <a:gd name="connsiteY7" fmla="*/ 9364 h 978461"/>
                    <a:gd name="connsiteX8" fmla="*/ 471958 w 978388"/>
                    <a:gd name="connsiteY8" fmla="*/ 1189 h 978461"/>
                    <a:gd name="connsiteX9" fmla="*/ 565912 w 978388"/>
                    <a:gd name="connsiteY9" fmla="*/ 398021 h 978461"/>
                    <a:gd name="connsiteX10" fmla="*/ 978363 w 978388"/>
                    <a:gd name="connsiteY10" fmla="*/ 495672 h 978461"/>
                    <a:gd name="connsiteX11" fmla="*/ 969097 w 978388"/>
                    <a:gd name="connsiteY11" fmla="*/ 587595 h 978461"/>
                    <a:gd name="connsiteX12" fmla="*/ 945087 w 978388"/>
                    <a:gd name="connsiteY12" fmla="*/ 668435 h 978461"/>
                    <a:gd name="connsiteX13" fmla="*/ 927052 w 978388"/>
                    <a:gd name="connsiteY13" fmla="*/ 704754 h 978461"/>
                    <a:gd name="connsiteX14" fmla="*/ 538465 w 978388"/>
                    <a:gd name="connsiteY14" fmla="*/ 612753 h 978461"/>
                    <a:gd name="connsiteX15" fmla="*/ 544594 w 978388"/>
                    <a:gd name="connsiteY15" fmla="*/ 581251 h 978461"/>
                    <a:gd name="connsiteX16" fmla="*/ 501475 w 978388"/>
                    <a:gd name="connsiteY16" fmla="*/ 477153 h 978461"/>
                    <a:gd name="connsiteX17" fmla="*/ 397377 w 978388"/>
                    <a:gd name="connsiteY17" fmla="*/ 434034 h 978461"/>
                    <a:gd name="connsiteX18" fmla="*/ 336040 w 978388"/>
                    <a:gd name="connsiteY18" fmla="*/ 641445 h 978461"/>
                    <a:gd name="connsiteX19" fmla="*/ 336040 w 978388"/>
                    <a:gd name="connsiteY19" fmla="*/ 520720 h 978461"/>
                    <a:gd name="connsiteX20" fmla="*/ 456766 w 978388"/>
                    <a:gd name="connsiteY20" fmla="*/ 520720 h 978461"/>
                    <a:gd name="connsiteX21" fmla="*/ 456766 w 978388"/>
                    <a:gd name="connsiteY21" fmla="*/ 641445 h 978461"/>
                    <a:gd name="connsiteX22" fmla="*/ 336040 w 978388"/>
                    <a:gd name="connsiteY22" fmla="*/ 641445 h 978461"/>
                    <a:gd name="connsiteX23" fmla="*/ 143377 w 978388"/>
                    <a:gd name="connsiteY23" fmla="*/ 835084 h 978461"/>
                    <a:gd name="connsiteX24" fmla="*/ 0 w 978388"/>
                    <a:gd name="connsiteY24" fmla="*/ 488940 h 978461"/>
                    <a:gd name="connsiteX25" fmla="*/ 169166 w 978388"/>
                    <a:gd name="connsiteY25" fmla="*/ 118790 h 978461"/>
                    <a:gd name="connsiteX26" fmla="*/ 180582 w 978388"/>
                    <a:gd name="connsiteY26" fmla="*/ 110466 h 978461"/>
                    <a:gd name="connsiteX27" fmla="*/ 274200 w 978388"/>
                    <a:gd name="connsiteY27" fmla="*/ 505884 h 978461"/>
                    <a:gd name="connsiteX28" fmla="*/ 260940 w 978388"/>
                    <a:gd name="connsiteY28" fmla="*/ 525853 h 978461"/>
                    <a:gd name="connsiteX29" fmla="*/ 293279 w 978388"/>
                    <a:gd name="connsiteY29" fmla="*/ 685349 h 978461"/>
                    <a:gd name="connsiteX30" fmla="*/ 452775 w 978388"/>
                    <a:gd name="connsiteY30" fmla="*/ 717688 h 978461"/>
                    <a:gd name="connsiteX31" fmla="*/ 472887 w 978388"/>
                    <a:gd name="connsiteY31" fmla="*/ 704333 h 978461"/>
                    <a:gd name="connsiteX32" fmla="*/ 867995 w 978388"/>
                    <a:gd name="connsiteY32" fmla="*/ 797879 h 978461"/>
                    <a:gd name="connsiteX33" fmla="*/ 859671 w 978388"/>
                    <a:gd name="connsiteY33" fmla="*/ 809295 h 978461"/>
                    <a:gd name="connsiteX34" fmla="*/ 489521 w 978388"/>
                    <a:gd name="connsiteY34" fmla="*/ 978461 h 978461"/>
                    <a:gd name="connsiteX35" fmla="*/ 143377 w 978388"/>
                    <a:gd name="connsiteY35" fmla="*/ 835084 h 97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78388" h="978461">
                      <a:moveTo>
                        <a:pt x="652514" y="311418"/>
                      </a:moveTo>
                      <a:lnTo>
                        <a:pt x="578783" y="0"/>
                      </a:lnTo>
                      <a:lnTo>
                        <a:pt x="975875" y="2586"/>
                      </a:lnTo>
                      <a:lnTo>
                        <a:pt x="978388" y="388571"/>
                      </a:lnTo>
                      <a:close/>
                      <a:moveTo>
                        <a:pt x="365753" y="440187"/>
                      </a:moveTo>
                      <a:lnTo>
                        <a:pt x="273707" y="51409"/>
                      </a:lnTo>
                      <a:lnTo>
                        <a:pt x="310026" y="33374"/>
                      </a:lnTo>
                      <a:cubicBezTo>
                        <a:pt x="335962" y="23147"/>
                        <a:pt x="362982" y="15070"/>
                        <a:pt x="390866" y="9364"/>
                      </a:cubicBezTo>
                      <a:lnTo>
                        <a:pt x="471958" y="1189"/>
                      </a:lnTo>
                      <a:lnTo>
                        <a:pt x="565912" y="398021"/>
                      </a:lnTo>
                      <a:lnTo>
                        <a:pt x="978363" y="495672"/>
                      </a:lnTo>
                      <a:lnTo>
                        <a:pt x="969097" y="587595"/>
                      </a:lnTo>
                      <a:cubicBezTo>
                        <a:pt x="963391" y="615479"/>
                        <a:pt x="955314" y="642499"/>
                        <a:pt x="945087" y="668435"/>
                      </a:cubicBezTo>
                      <a:lnTo>
                        <a:pt x="927052" y="704754"/>
                      </a:lnTo>
                      <a:lnTo>
                        <a:pt x="538465" y="612753"/>
                      </a:lnTo>
                      <a:lnTo>
                        <a:pt x="544594" y="581251"/>
                      </a:lnTo>
                      <a:cubicBezTo>
                        <a:pt x="544594" y="543575"/>
                        <a:pt x="530221" y="505899"/>
                        <a:pt x="501475" y="477153"/>
                      </a:cubicBezTo>
                      <a:cubicBezTo>
                        <a:pt x="472729" y="448407"/>
                        <a:pt x="435053" y="434034"/>
                        <a:pt x="397377" y="434034"/>
                      </a:cubicBezTo>
                      <a:close/>
                      <a:moveTo>
                        <a:pt x="336040" y="641445"/>
                      </a:moveTo>
                      <a:cubicBezTo>
                        <a:pt x="302703" y="608108"/>
                        <a:pt x="302703" y="554057"/>
                        <a:pt x="336040" y="520720"/>
                      </a:cubicBezTo>
                      <a:cubicBezTo>
                        <a:pt x="369377" y="487382"/>
                        <a:pt x="423428" y="487382"/>
                        <a:pt x="456766" y="520720"/>
                      </a:cubicBezTo>
                      <a:cubicBezTo>
                        <a:pt x="490103" y="554057"/>
                        <a:pt x="490103" y="608108"/>
                        <a:pt x="456766" y="641445"/>
                      </a:cubicBezTo>
                      <a:cubicBezTo>
                        <a:pt x="423428" y="674783"/>
                        <a:pt x="369377" y="674783"/>
                        <a:pt x="336040" y="641445"/>
                      </a:cubicBezTo>
                      <a:close/>
                      <a:moveTo>
                        <a:pt x="143377" y="835084"/>
                      </a:moveTo>
                      <a:cubicBezTo>
                        <a:pt x="54791" y="746497"/>
                        <a:pt x="0" y="624117"/>
                        <a:pt x="0" y="488940"/>
                      </a:cubicBezTo>
                      <a:cubicBezTo>
                        <a:pt x="0" y="341089"/>
                        <a:pt x="65546" y="208548"/>
                        <a:pt x="169166" y="118790"/>
                      </a:cubicBezTo>
                      <a:lnTo>
                        <a:pt x="180582" y="110466"/>
                      </a:lnTo>
                      <a:lnTo>
                        <a:pt x="274200" y="505884"/>
                      </a:lnTo>
                      <a:lnTo>
                        <a:pt x="260940" y="525853"/>
                      </a:lnTo>
                      <a:cubicBezTo>
                        <a:pt x="239381" y="579019"/>
                        <a:pt x="250160" y="642230"/>
                        <a:pt x="293279" y="685349"/>
                      </a:cubicBezTo>
                      <a:cubicBezTo>
                        <a:pt x="336398" y="728468"/>
                        <a:pt x="399610" y="739248"/>
                        <a:pt x="452775" y="717688"/>
                      </a:cubicBezTo>
                      <a:lnTo>
                        <a:pt x="472887" y="704333"/>
                      </a:lnTo>
                      <a:lnTo>
                        <a:pt x="867995" y="797879"/>
                      </a:lnTo>
                      <a:lnTo>
                        <a:pt x="859671" y="809295"/>
                      </a:lnTo>
                      <a:cubicBezTo>
                        <a:pt x="769913" y="912915"/>
                        <a:pt x="637372" y="978461"/>
                        <a:pt x="489521" y="978461"/>
                      </a:cubicBezTo>
                      <a:cubicBezTo>
                        <a:pt x="354344" y="978461"/>
                        <a:pt x="231963" y="923669"/>
                        <a:pt x="143377" y="835084"/>
                      </a:cubicBezTo>
                      <a:close/>
                    </a:path>
                  </a:pathLst>
                </a:custGeom>
                <a:solidFill>
                  <a:srgbClr val="86BC25"/>
                </a:solid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grpSp>
        <p:nvGrpSpPr>
          <p:cNvPr id="5" name="Group 4">
            <a:extLst>
              <a:ext uri="{FF2B5EF4-FFF2-40B4-BE49-F238E27FC236}">
                <a16:creationId xmlns:a16="http://schemas.microsoft.com/office/drawing/2014/main" id="{71820DB2-1B2B-46E2-3048-BCA1CF2B048E}"/>
              </a:ext>
            </a:extLst>
          </p:cNvPr>
          <p:cNvGrpSpPr/>
          <p:nvPr/>
        </p:nvGrpSpPr>
        <p:grpSpPr>
          <a:xfrm>
            <a:off x="572289" y="80488"/>
            <a:ext cx="5058205" cy="6773224"/>
            <a:chOff x="811450" y="84776"/>
            <a:chExt cx="5058205" cy="6773224"/>
          </a:xfrm>
        </p:grpSpPr>
        <p:grpSp>
          <p:nvGrpSpPr>
            <p:cNvPr id="4" name="Group 3">
              <a:extLst>
                <a:ext uri="{FF2B5EF4-FFF2-40B4-BE49-F238E27FC236}">
                  <a16:creationId xmlns:a16="http://schemas.microsoft.com/office/drawing/2014/main" id="{39CF9AFC-7ED3-F487-67B7-D0A3D978A5E1}"/>
                </a:ext>
              </a:extLst>
            </p:cNvPr>
            <p:cNvGrpSpPr/>
            <p:nvPr/>
          </p:nvGrpSpPr>
          <p:grpSpPr>
            <a:xfrm>
              <a:off x="811450" y="84776"/>
              <a:ext cx="5058205" cy="6773224"/>
              <a:chOff x="3713676" y="84776"/>
              <a:chExt cx="5058205" cy="6773224"/>
            </a:xfrm>
          </p:grpSpPr>
          <p:pic>
            <p:nvPicPr>
              <p:cNvPr id="2" name="Picture 1" descr="A hand holding a cell phone&#10;&#10;Description automatically generated">
                <a:extLst>
                  <a:ext uri="{FF2B5EF4-FFF2-40B4-BE49-F238E27FC236}">
                    <a16:creationId xmlns:a16="http://schemas.microsoft.com/office/drawing/2014/main" id="{155CD50C-17AA-B371-B3A8-E4CAA227C4A2}"/>
                  </a:ext>
                </a:extLst>
              </p:cNvPr>
              <p:cNvPicPr>
                <a:picLocks noChangeAspect="1"/>
              </p:cNvPicPr>
              <p:nvPr/>
            </p:nvPicPr>
            <p:blipFill rotWithShape="1">
              <a:blip r:embed="rId2">
                <a:extLst>
                  <a:ext uri="{28A0092B-C50C-407E-A947-70E740481C1C}">
                    <a14:useLocalDpi xmlns:a14="http://schemas.microsoft.com/office/drawing/2010/main" val="0"/>
                  </a:ext>
                </a:extLst>
              </a:blip>
              <a:srcRect b="10283"/>
              <a:stretch/>
            </p:blipFill>
            <p:spPr>
              <a:xfrm>
                <a:off x="3713676" y="84776"/>
                <a:ext cx="5058205" cy="6773224"/>
              </a:xfrm>
              <a:prstGeom prst="rect">
                <a:avLst/>
              </a:prstGeom>
              <a:noFill/>
            </p:spPr>
          </p:pic>
          <p:sp>
            <p:nvSpPr>
              <p:cNvPr id="3" name="Rectangle 2">
                <a:extLst>
                  <a:ext uri="{FF2B5EF4-FFF2-40B4-BE49-F238E27FC236}">
                    <a16:creationId xmlns:a16="http://schemas.microsoft.com/office/drawing/2014/main" id="{A6FA85A1-C274-102B-46EB-B6E565C26A20}"/>
                  </a:ext>
                </a:extLst>
              </p:cNvPr>
              <p:cNvSpPr/>
              <p:nvPr/>
            </p:nvSpPr>
            <p:spPr bwMode="gray">
              <a:xfrm>
                <a:off x="4727542" y="6047295"/>
                <a:ext cx="2172879" cy="263950"/>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1" name="Rectangle: Top Corners Rounded 10">
              <a:extLst>
                <a:ext uri="{FF2B5EF4-FFF2-40B4-BE49-F238E27FC236}">
                  <a16:creationId xmlns:a16="http://schemas.microsoft.com/office/drawing/2014/main" id="{AE93FB3A-5A9D-E1EB-4536-877A5CCCC1AD}"/>
                </a:ext>
              </a:extLst>
            </p:cNvPr>
            <p:cNvSpPr/>
            <p:nvPr/>
          </p:nvSpPr>
          <p:spPr bwMode="gray">
            <a:xfrm>
              <a:off x="1504334" y="402648"/>
              <a:ext cx="2828413" cy="263950"/>
            </a:xfrm>
            <a:prstGeom prst="round2Same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pic>
          <p:nvPicPr>
            <p:cNvPr id="115" name="Picture 114" descr="A black background with a black square&#10;&#10;Description automatically generated with medium confidence">
              <a:extLst>
                <a:ext uri="{FF2B5EF4-FFF2-40B4-BE49-F238E27FC236}">
                  <a16:creationId xmlns:a16="http://schemas.microsoft.com/office/drawing/2014/main" id="{5B959873-0806-CBB1-4C6F-33AB5E7D7D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1591808" y="1316073"/>
              <a:ext cx="136837" cy="136837"/>
            </a:xfrm>
            <a:prstGeom prst="rect">
              <a:avLst/>
            </a:prstGeom>
          </p:spPr>
        </p:pic>
        <p:sp>
          <p:nvSpPr>
            <p:cNvPr id="135" name="Rectangle 134">
              <a:extLst>
                <a:ext uri="{FF2B5EF4-FFF2-40B4-BE49-F238E27FC236}">
                  <a16:creationId xmlns:a16="http://schemas.microsoft.com/office/drawing/2014/main" id="{0CB9CE6A-6182-7260-E1CD-76A997FF7451}"/>
                </a:ext>
              </a:extLst>
            </p:cNvPr>
            <p:cNvSpPr/>
            <p:nvPr/>
          </p:nvSpPr>
          <p:spPr>
            <a:xfrm>
              <a:off x="2503989" y="1549530"/>
              <a:ext cx="916972" cy="390146"/>
            </a:xfrm>
            <a:prstGeom prst="rect">
              <a:avLst/>
            </a:prstGeom>
            <a:solidFill>
              <a:srgbClr val="63E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36" name="Group 135">
              <a:extLst>
                <a:ext uri="{FF2B5EF4-FFF2-40B4-BE49-F238E27FC236}">
                  <a16:creationId xmlns:a16="http://schemas.microsoft.com/office/drawing/2014/main" id="{A57DEA42-23A5-AF1D-FE14-9460703C11CA}"/>
                </a:ext>
              </a:extLst>
            </p:cNvPr>
            <p:cNvGrpSpPr/>
            <p:nvPr/>
          </p:nvGrpSpPr>
          <p:grpSpPr>
            <a:xfrm>
              <a:off x="1515053" y="1549530"/>
              <a:ext cx="2842667" cy="400612"/>
              <a:chOff x="7409677" y="1549530"/>
              <a:chExt cx="2842667" cy="400612"/>
            </a:xfrm>
          </p:grpSpPr>
          <p:sp>
            <p:nvSpPr>
              <p:cNvPr id="117" name="Rectangle 116">
                <a:extLst>
                  <a:ext uri="{FF2B5EF4-FFF2-40B4-BE49-F238E27FC236}">
                    <a16:creationId xmlns:a16="http://schemas.microsoft.com/office/drawing/2014/main" id="{8C0EC9EC-07B3-6F87-9FE0-ABC26C0B7AFA}"/>
                  </a:ext>
                </a:extLst>
              </p:cNvPr>
              <p:cNvSpPr/>
              <p:nvPr/>
            </p:nvSpPr>
            <p:spPr>
              <a:xfrm>
                <a:off x="7409677" y="1549530"/>
                <a:ext cx="2784442" cy="400612"/>
              </a:xfrm>
              <a:prstGeom prst="rect">
                <a:avLst/>
              </a:prstGeom>
              <a:solidFill>
                <a:srgbClr val="EAEAEA">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9" name="Picture 118" descr="A black background with a black square&#10;&#10;Description automatically generated with medium confidence">
                <a:extLst>
                  <a:ext uri="{FF2B5EF4-FFF2-40B4-BE49-F238E27FC236}">
                    <a16:creationId xmlns:a16="http://schemas.microsoft.com/office/drawing/2014/main" id="{344F7637-7506-2AC9-D085-E100690E79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7838210" y="1607518"/>
                <a:ext cx="123649" cy="123649"/>
              </a:xfrm>
              <a:prstGeom prst="rect">
                <a:avLst/>
              </a:prstGeom>
            </p:spPr>
          </p:pic>
          <p:sp>
            <p:nvSpPr>
              <p:cNvPr id="120" name="Rectangle 119">
                <a:extLst>
                  <a:ext uri="{FF2B5EF4-FFF2-40B4-BE49-F238E27FC236}">
                    <a16:creationId xmlns:a16="http://schemas.microsoft.com/office/drawing/2014/main" id="{2B34BA90-856E-C7FD-526D-9CE4AC8872A1}"/>
                  </a:ext>
                </a:extLst>
              </p:cNvPr>
              <p:cNvSpPr/>
              <p:nvPr/>
            </p:nvSpPr>
            <p:spPr>
              <a:xfrm>
                <a:off x="7437841" y="1739672"/>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Office &amp; Location</a:t>
                </a:r>
              </a:p>
            </p:txBody>
          </p:sp>
          <p:cxnSp>
            <p:nvCxnSpPr>
              <p:cNvPr id="122" name="Straight Connector 121">
                <a:extLst>
                  <a:ext uri="{FF2B5EF4-FFF2-40B4-BE49-F238E27FC236}">
                    <a16:creationId xmlns:a16="http://schemas.microsoft.com/office/drawing/2014/main" id="{094D5FEC-EC2B-7804-54D9-16A3C8D49E02}"/>
                  </a:ext>
                </a:extLst>
              </p:cNvPr>
              <p:cNvCxnSpPr/>
              <p:nvPr/>
            </p:nvCxnSpPr>
            <p:spPr>
              <a:xfrm>
                <a:off x="8385539" y="1615729"/>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4" name="Rectangle 123">
                <a:extLst>
                  <a:ext uri="{FF2B5EF4-FFF2-40B4-BE49-F238E27FC236}">
                    <a16:creationId xmlns:a16="http://schemas.microsoft.com/office/drawing/2014/main" id="{44DB1D5F-624C-1A87-7531-249EFBB48B21}"/>
                  </a:ext>
                </a:extLst>
              </p:cNvPr>
              <p:cNvSpPr/>
              <p:nvPr/>
            </p:nvSpPr>
            <p:spPr>
              <a:xfrm>
                <a:off x="8369854"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Asset Details</a:t>
                </a:r>
              </a:p>
            </p:txBody>
          </p:sp>
          <p:sp>
            <p:nvSpPr>
              <p:cNvPr id="126" name="Rectangle 125">
                <a:extLst>
                  <a:ext uri="{FF2B5EF4-FFF2-40B4-BE49-F238E27FC236}">
                    <a16:creationId xmlns:a16="http://schemas.microsoft.com/office/drawing/2014/main" id="{C32E9665-1D3D-EE49-556E-18D02F999085}"/>
                  </a:ext>
                </a:extLst>
              </p:cNvPr>
              <p:cNvSpPr/>
              <p:nvPr/>
            </p:nvSpPr>
            <p:spPr>
              <a:xfrm>
                <a:off x="9295615"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Photos</a:t>
                </a:r>
              </a:p>
            </p:txBody>
          </p:sp>
          <p:cxnSp>
            <p:nvCxnSpPr>
              <p:cNvPr id="127" name="Straight Connector 126">
                <a:extLst>
                  <a:ext uri="{FF2B5EF4-FFF2-40B4-BE49-F238E27FC236}">
                    <a16:creationId xmlns:a16="http://schemas.microsoft.com/office/drawing/2014/main" id="{A0E9AEF2-383E-11CA-4D81-582761198566}"/>
                  </a:ext>
                </a:extLst>
              </p:cNvPr>
              <p:cNvCxnSpPr/>
              <p:nvPr/>
            </p:nvCxnSpPr>
            <p:spPr>
              <a:xfrm>
                <a:off x="9305319" y="1619660"/>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31" name="Picture 130" descr="A black background with a black square&#10;&#10;Description automatically generated with medium confidence">
                <a:extLst>
                  <a:ext uri="{FF2B5EF4-FFF2-40B4-BE49-F238E27FC236}">
                    <a16:creationId xmlns:a16="http://schemas.microsoft.com/office/drawing/2014/main" id="{486975BF-45FD-7D2D-C23D-097B6B11BD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2733" y="1606972"/>
                <a:ext cx="137535" cy="137535"/>
              </a:xfrm>
              <a:prstGeom prst="rect">
                <a:avLst/>
              </a:prstGeom>
            </p:spPr>
          </p:pic>
          <p:pic>
            <p:nvPicPr>
              <p:cNvPr id="133" name="Picture 132" descr="A black background with a black square&#10;&#10;Description automatically generated with medium confidence">
                <a:extLst>
                  <a:ext uri="{FF2B5EF4-FFF2-40B4-BE49-F238E27FC236}">
                    <a16:creationId xmlns:a16="http://schemas.microsoft.com/office/drawing/2014/main" id="{0620C873-814F-0AF2-2C00-A020C29390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27782" y="1615331"/>
                <a:ext cx="127162" cy="127162"/>
              </a:xfrm>
              <a:prstGeom prst="rect">
                <a:avLst/>
              </a:prstGeom>
            </p:spPr>
          </p:pic>
        </p:grpSp>
        <p:sp>
          <p:nvSpPr>
            <p:cNvPr id="134" name="Rectangle 133">
              <a:extLst>
                <a:ext uri="{FF2B5EF4-FFF2-40B4-BE49-F238E27FC236}">
                  <a16:creationId xmlns:a16="http://schemas.microsoft.com/office/drawing/2014/main" id="{2043740B-EFA5-0C81-05AA-4E69A7E61F16}"/>
                </a:ext>
              </a:extLst>
            </p:cNvPr>
            <p:cNvSpPr/>
            <p:nvPr/>
          </p:nvSpPr>
          <p:spPr>
            <a:xfrm>
              <a:off x="2444262" y="1278802"/>
              <a:ext cx="956729"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ASSET</a:t>
              </a:r>
            </a:p>
          </p:txBody>
        </p:sp>
        <p:cxnSp>
          <p:nvCxnSpPr>
            <p:cNvPr id="24" name="Straight Connector 23">
              <a:extLst>
                <a:ext uri="{FF2B5EF4-FFF2-40B4-BE49-F238E27FC236}">
                  <a16:creationId xmlns:a16="http://schemas.microsoft.com/office/drawing/2014/main" id="{8D943653-4EDB-6A47-EC8B-0770CA9C679F}"/>
                </a:ext>
              </a:extLst>
            </p:cNvPr>
            <p:cNvCxnSpPr/>
            <p:nvPr/>
          </p:nvCxnSpPr>
          <p:spPr>
            <a:xfrm>
              <a:off x="2286223" y="5869866"/>
              <a:ext cx="1226127" cy="0"/>
            </a:xfrm>
            <a:prstGeom prst="line">
              <a:avLst/>
            </a:prstGeom>
            <a:ln w="12700" cap="rnd">
              <a:solidFill>
                <a:schemeClr val="tx2">
                  <a:alpha val="28000"/>
                </a:schemeClr>
              </a:solidFill>
              <a:round/>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3A4CD828-34C7-3BF8-E70F-1ABBCB3B8E0F}"/>
                </a:ext>
              </a:extLst>
            </p:cNvPr>
            <p:cNvSpPr/>
            <p:nvPr/>
          </p:nvSpPr>
          <p:spPr bwMode="gray">
            <a:xfrm>
              <a:off x="1644537" y="2327008"/>
              <a:ext cx="251620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9" name="Rectangle: Rounded Corners 28">
              <a:extLst>
                <a:ext uri="{FF2B5EF4-FFF2-40B4-BE49-F238E27FC236}">
                  <a16:creationId xmlns:a16="http://schemas.microsoft.com/office/drawing/2014/main" id="{6430F911-ADAE-024D-B2F1-4220F3D66BC0}"/>
                </a:ext>
              </a:extLst>
            </p:cNvPr>
            <p:cNvSpPr/>
            <p:nvPr/>
          </p:nvSpPr>
          <p:spPr bwMode="gray">
            <a:xfrm>
              <a:off x="1644537" y="3020266"/>
              <a:ext cx="251620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30" name="Rectangle 29">
              <a:extLst>
                <a:ext uri="{FF2B5EF4-FFF2-40B4-BE49-F238E27FC236}">
                  <a16:creationId xmlns:a16="http://schemas.microsoft.com/office/drawing/2014/main" id="{B70E9240-0045-28EF-6D30-EB6D397ECD14}"/>
                </a:ext>
              </a:extLst>
            </p:cNvPr>
            <p:cNvSpPr/>
            <p:nvPr/>
          </p:nvSpPr>
          <p:spPr>
            <a:xfrm>
              <a:off x="1575478" y="2091361"/>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Asset Group *</a:t>
              </a:r>
            </a:p>
          </p:txBody>
        </p:sp>
        <p:sp>
          <p:nvSpPr>
            <p:cNvPr id="31" name="Rectangle 30">
              <a:extLst>
                <a:ext uri="{FF2B5EF4-FFF2-40B4-BE49-F238E27FC236}">
                  <a16:creationId xmlns:a16="http://schemas.microsoft.com/office/drawing/2014/main" id="{50C89E96-0EC9-43C5-B7F6-67418F562E4C}"/>
                </a:ext>
              </a:extLst>
            </p:cNvPr>
            <p:cNvSpPr/>
            <p:nvPr/>
          </p:nvSpPr>
          <p:spPr>
            <a:xfrm>
              <a:off x="1578282" y="2823569"/>
              <a:ext cx="1289827"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Asset Sub-Group *</a:t>
              </a:r>
            </a:p>
          </p:txBody>
        </p:sp>
        <p:sp>
          <p:nvSpPr>
            <p:cNvPr id="32" name="Rectangle: Rounded Corners 31">
              <a:extLst>
                <a:ext uri="{FF2B5EF4-FFF2-40B4-BE49-F238E27FC236}">
                  <a16:creationId xmlns:a16="http://schemas.microsoft.com/office/drawing/2014/main" id="{75AF15E9-0DF1-CDCD-9C43-B772FA36181F}"/>
                </a:ext>
              </a:extLst>
            </p:cNvPr>
            <p:cNvSpPr/>
            <p:nvPr/>
          </p:nvSpPr>
          <p:spPr bwMode="gray">
            <a:xfrm>
              <a:off x="1649396" y="3754006"/>
              <a:ext cx="2511343"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33" name="Rectangle: Rounded Corners 32">
              <a:extLst>
                <a:ext uri="{FF2B5EF4-FFF2-40B4-BE49-F238E27FC236}">
                  <a16:creationId xmlns:a16="http://schemas.microsoft.com/office/drawing/2014/main" id="{012101FD-BCD6-509A-356D-2596EEA18578}"/>
                </a:ext>
              </a:extLst>
            </p:cNvPr>
            <p:cNvSpPr/>
            <p:nvPr/>
          </p:nvSpPr>
          <p:spPr bwMode="gray">
            <a:xfrm>
              <a:off x="1649396" y="4701264"/>
              <a:ext cx="2511343"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34" name="Rectangle 33">
              <a:extLst>
                <a:ext uri="{FF2B5EF4-FFF2-40B4-BE49-F238E27FC236}">
                  <a16:creationId xmlns:a16="http://schemas.microsoft.com/office/drawing/2014/main" id="{CE059850-267E-52B4-40F0-4F7695FD8C64}"/>
                </a:ext>
              </a:extLst>
            </p:cNvPr>
            <p:cNvSpPr/>
            <p:nvPr/>
          </p:nvSpPr>
          <p:spPr>
            <a:xfrm>
              <a:off x="1580337" y="3518359"/>
              <a:ext cx="1287772"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Asset Sub-Code *</a:t>
              </a:r>
            </a:p>
          </p:txBody>
        </p:sp>
        <p:sp>
          <p:nvSpPr>
            <p:cNvPr id="35" name="Rectangle 34">
              <a:extLst>
                <a:ext uri="{FF2B5EF4-FFF2-40B4-BE49-F238E27FC236}">
                  <a16:creationId xmlns:a16="http://schemas.microsoft.com/office/drawing/2014/main" id="{656392C1-E72C-24B4-8A92-22D023BBCD1E}"/>
                </a:ext>
              </a:extLst>
            </p:cNvPr>
            <p:cNvSpPr/>
            <p:nvPr/>
          </p:nvSpPr>
          <p:spPr>
            <a:xfrm>
              <a:off x="1583141" y="4504567"/>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Asset Name *</a:t>
              </a:r>
            </a:p>
          </p:txBody>
        </p:sp>
        <p:sp>
          <p:nvSpPr>
            <p:cNvPr id="36" name="Rectangle: Rounded Corners 35">
              <a:extLst>
                <a:ext uri="{FF2B5EF4-FFF2-40B4-BE49-F238E27FC236}">
                  <a16:creationId xmlns:a16="http://schemas.microsoft.com/office/drawing/2014/main" id="{D72F5E02-5B4C-59BE-CED3-112796FFD8FD}"/>
                </a:ext>
              </a:extLst>
            </p:cNvPr>
            <p:cNvSpPr/>
            <p:nvPr/>
          </p:nvSpPr>
          <p:spPr bwMode="gray">
            <a:xfrm>
              <a:off x="1651357" y="5394522"/>
              <a:ext cx="250938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37" name="Rectangle 36">
              <a:extLst>
                <a:ext uri="{FF2B5EF4-FFF2-40B4-BE49-F238E27FC236}">
                  <a16:creationId xmlns:a16="http://schemas.microsoft.com/office/drawing/2014/main" id="{28BF6BC4-BDAF-321F-F97B-44C71C0F2530}"/>
                </a:ext>
              </a:extLst>
            </p:cNvPr>
            <p:cNvSpPr/>
            <p:nvPr/>
          </p:nvSpPr>
          <p:spPr>
            <a:xfrm>
              <a:off x="1585102" y="5197825"/>
              <a:ext cx="145334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Capacity</a:t>
              </a:r>
            </a:p>
          </p:txBody>
        </p:sp>
        <p:cxnSp>
          <p:nvCxnSpPr>
            <p:cNvPr id="38" name="Straight Connector 37">
              <a:extLst>
                <a:ext uri="{FF2B5EF4-FFF2-40B4-BE49-F238E27FC236}">
                  <a16:creationId xmlns:a16="http://schemas.microsoft.com/office/drawing/2014/main" id="{E5E1492F-9B47-EAD2-883F-D669F8748782}"/>
                </a:ext>
              </a:extLst>
            </p:cNvPr>
            <p:cNvCxnSpPr>
              <a:cxnSpLocks/>
            </p:cNvCxnSpPr>
            <p:nvPr/>
          </p:nvCxnSpPr>
          <p:spPr>
            <a:xfrm>
              <a:off x="1647759" y="4329641"/>
              <a:ext cx="2487580" cy="0"/>
            </a:xfrm>
            <a:prstGeom prst="line">
              <a:avLst/>
            </a:prstGeom>
            <a:ln w="12700" cap="rnd">
              <a:solidFill>
                <a:schemeClr val="tx1">
                  <a:alpha val="27843"/>
                </a:schemeClr>
              </a:solidFill>
              <a:round/>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CAF8AC9D-1163-E44B-AC1E-6A279EC3EA9A}"/>
                </a:ext>
              </a:extLst>
            </p:cNvPr>
            <p:cNvGrpSpPr/>
            <p:nvPr/>
          </p:nvGrpSpPr>
          <p:grpSpPr>
            <a:xfrm>
              <a:off x="1669589" y="818171"/>
              <a:ext cx="2451249" cy="326502"/>
              <a:chOff x="7568833" y="803693"/>
              <a:chExt cx="2451249" cy="326502"/>
            </a:xfrm>
          </p:grpSpPr>
          <p:pic>
            <p:nvPicPr>
              <p:cNvPr id="18" name="Picture 17" descr="A black background with a black square&#10;&#10;Description automatically generated with medium confidence">
                <a:extLst>
                  <a:ext uri="{FF2B5EF4-FFF2-40B4-BE49-F238E27FC236}">
                    <a16:creationId xmlns:a16="http://schemas.microsoft.com/office/drawing/2014/main" id="{D38251B5-27A5-7C5C-A6F2-5A93F922A78A}"/>
                  </a:ext>
                </a:extLst>
              </p:cNvPr>
              <p:cNvPicPr>
                <a:picLocks noChangeAspect="1"/>
              </p:cNvPicPr>
              <p:nvPr/>
            </p:nvPicPr>
            <p:blipFill rotWithShape="1">
              <a:blip r:embed="rId7">
                <a:extLst>
                  <a:ext uri="{28A0092B-C50C-407E-A947-70E740481C1C}">
                    <a14:useLocalDpi xmlns:a14="http://schemas.microsoft.com/office/drawing/2010/main" val="0"/>
                  </a:ext>
                </a:extLst>
              </a:blip>
              <a:srcRect l="30882" r="30406"/>
              <a:stretch/>
            </p:blipFill>
            <p:spPr>
              <a:xfrm>
                <a:off x="9962862" y="905770"/>
                <a:ext cx="57220" cy="147810"/>
              </a:xfrm>
              <a:prstGeom prst="rect">
                <a:avLst/>
              </a:prstGeom>
            </p:spPr>
          </p:pic>
          <p:grpSp>
            <p:nvGrpSpPr>
              <p:cNvPr id="19" name="Group 18">
                <a:extLst>
                  <a:ext uri="{FF2B5EF4-FFF2-40B4-BE49-F238E27FC236}">
                    <a16:creationId xmlns:a16="http://schemas.microsoft.com/office/drawing/2014/main" id="{C2FAD5F9-4C36-7858-0780-29245978F4D5}"/>
                  </a:ext>
                </a:extLst>
              </p:cNvPr>
              <p:cNvGrpSpPr/>
              <p:nvPr/>
            </p:nvGrpSpPr>
            <p:grpSpPr>
              <a:xfrm>
                <a:off x="7568833" y="803693"/>
                <a:ext cx="1597094" cy="326502"/>
                <a:chOff x="1700506" y="801618"/>
                <a:chExt cx="1597094" cy="326502"/>
              </a:xfrm>
            </p:grpSpPr>
            <p:sp>
              <p:nvSpPr>
                <p:cNvPr id="20" name="TextBox 19">
                  <a:extLst>
                    <a:ext uri="{FF2B5EF4-FFF2-40B4-BE49-F238E27FC236}">
                      <a16:creationId xmlns:a16="http://schemas.microsoft.com/office/drawing/2014/main" id="{70D8F54B-52C0-5B15-9067-27974CA74FF5}"/>
                    </a:ext>
                  </a:extLst>
                </p:cNvPr>
                <p:cNvSpPr txBox="1"/>
                <p:nvPr/>
              </p:nvSpPr>
              <p:spPr>
                <a:xfrm>
                  <a:off x="1956726" y="820343"/>
                  <a:ext cx="134087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600" normalizeH="0" baseline="0" noProof="0" dirty="0">
                      <a:ln>
                        <a:noFill/>
                      </a:ln>
                      <a:solidFill>
                        <a:srgbClr val="313131"/>
                      </a:solidFill>
                      <a:effectLst/>
                      <a:uLnTx/>
                      <a:uFillTx/>
                      <a:latin typeface="Impact" panose="020B0806030902050204" pitchFamily="34" charset="0"/>
                      <a:ea typeface="+mn-ea"/>
                      <a:cs typeface="+mn-cs"/>
                    </a:rPr>
                    <a:t>INSITE</a:t>
                  </a:r>
                </a:p>
              </p:txBody>
            </p:sp>
            <p:sp>
              <p:nvSpPr>
                <p:cNvPr id="21" name="Freeform: Shape 20">
                  <a:extLst>
                    <a:ext uri="{FF2B5EF4-FFF2-40B4-BE49-F238E27FC236}">
                      <a16:creationId xmlns:a16="http://schemas.microsoft.com/office/drawing/2014/main" id="{582F5FFB-C416-DA33-5F32-1C97D241F9AE}"/>
                    </a:ext>
                  </a:extLst>
                </p:cNvPr>
                <p:cNvSpPr/>
                <p:nvPr/>
              </p:nvSpPr>
              <p:spPr bwMode="gray">
                <a:xfrm rot="8100000">
                  <a:off x="1700506" y="801618"/>
                  <a:ext cx="255513" cy="262376"/>
                </a:xfrm>
                <a:custGeom>
                  <a:avLst/>
                  <a:gdLst>
                    <a:gd name="connsiteX0" fmla="*/ 652514 w 978388"/>
                    <a:gd name="connsiteY0" fmla="*/ 311418 h 978461"/>
                    <a:gd name="connsiteX1" fmla="*/ 578783 w 978388"/>
                    <a:gd name="connsiteY1" fmla="*/ 0 h 978461"/>
                    <a:gd name="connsiteX2" fmla="*/ 975875 w 978388"/>
                    <a:gd name="connsiteY2" fmla="*/ 2586 h 978461"/>
                    <a:gd name="connsiteX3" fmla="*/ 978388 w 978388"/>
                    <a:gd name="connsiteY3" fmla="*/ 388571 h 978461"/>
                    <a:gd name="connsiteX4" fmla="*/ 365753 w 978388"/>
                    <a:gd name="connsiteY4" fmla="*/ 440187 h 978461"/>
                    <a:gd name="connsiteX5" fmla="*/ 273707 w 978388"/>
                    <a:gd name="connsiteY5" fmla="*/ 51409 h 978461"/>
                    <a:gd name="connsiteX6" fmla="*/ 310026 w 978388"/>
                    <a:gd name="connsiteY6" fmla="*/ 33374 h 978461"/>
                    <a:gd name="connsiteX7" fmla="*/ 390866 w 978388"/>
                    <a:gd name="connsiteY7" fmla="*/ 9364 h 978461"/>
                    <a:gd name="connsiteX8" fmla="*/ 471958 w 978388"/>
                    <a:gd name="connsiteY8" fmla="*/ 1189 h 978461"/>
                    <a:gd name="connsiteX9" fmla="*/ 565912 w 978388"/>
                    <a:gd name="connsiteY9" fmla="*/ 398021 h 978461"/>
                    <a:gd name="connsiteX10" fmla="*/ 978363 w 978388"/>
                    <a:gd name="connsiteY10" fmla="*/ 495672 h 978461"/>
                    <a:gd name="connsiteX11" fmla="*/ 969097 w 978388"/>
                    <a:gd name="connsiteY11" fmla="*/ 587595 h 978461"/>
                    <a:gd name="connsiteX12" fmla="*/ 945087 w 978388"/>
                    <a:gd name="connsiteY12" fmla="*/ 668435 h 978461"/>
                    <a:gd name="connsiteX13" fmla="*/ 927052 w 978388"/>
                    <a:gd name="connsiteY13" fmla="*/ 704754 h 978461"/>
                    <a:gd name="connsiteX14" fmla="*/ 538465 w 978388"/>
                    <a:gd name="connsiteY14" fmla="*/ 612753 h 978461"/>
                    <a:gd name="connsiteX15" fmla="*/ 544594 w 978388"/>
                    <a:gd name="connsiteY15" fmla="*/ 581251 h 978461"/>
                    <a:gd name="connsiteX16" fmla="*/ 501475 w 978388"/>
                    <a:gd name="connsiteY16" fmla="*/ 477153 h 978461"/>
                    <a:gd name="connsiteX17" fmla="*/ 397377 w 978388"/>
                    <a:gd name="connsiteY17" fmla="*/ 434034 h 978461"/>
                    <a:gd name="connsiteX18" fmla="*/ 336040 w 978388"/>
                    <a:gd name="connsiteY18" fmla="*/ 641445 h 978461"/>
                    <a:gd name="connsiteX19" fmla="*/ 336040 w 978388"/>
                    <a:gd name="connsiteY19" fmla="*/ 520720 h 978461"/>
                    <a:gd name="connsiteX20" fmla="*/ 456766 w 978388"/>
                    <a:gd name="connsiteY20" fmla="*/ 520720 h 978461"/>
                    <a:gd name="connsiteX21" fmla="*/ 456766 w 978388"/>
                    <a:gd name="connsiteY21" fmla="*/ 641445 h 978461"/>
                    <a:gd name="connsiteX22" fmla="*/ 336040 w 978388"/>
                    <a:gd name="connsiteY22" fmla="*/ 641445 h 978461"/>
                    <a:gd name="connsiteX23" fmla="*/ 143377 w 978388"/>
                    <a:gd name="connsiteY23" fmla="*/ 835084 h 978461"/>
                    <a:gd name="connsiteX24" fmla="*/ 0 w 978388"/>
                    <a:gd name="connsiteY24" fmla="*/ 488940 h 978461"/>
                    <a:gd name="connsiteX25" fmla="*/ 169166 w 978388"/>
                    <a:gd name="connsiteY25" fmla="*/ 118790 h 978461"/>
                    <a:gd name="connsiteX26" fmla="*/ 180582 w 978388"/>
                    <a:gd name="connsiteY26" fmla="*/ 110466 h 978461"/>
                    <a:gd name="connsiteX27" fmla="*/ 274200 w 978388"/>
                    <a:gd name="connsiteY27" fmla="*/ 505884 h 978461"/>
                    <a:gd name="connsiteX28" fmla="*/ 260940 w 978388"/>
                    <a:gd name="connsiteY28" fmla="*/ 525853 h 978461"/>
                    <a:gd name="connsiteX29" fmla="*/ 293279 w 978388"/>
                    <a:gd name="connsiteY29" fmla="*/ 685349 h 978461"/>
                    <a:gd name="connsiteX30" fmla="*/ 452775 w 978388"/>
                    <a:gd name="connsiteY30" fmla="*/ 717688 h 978461"/>
                    <a:gd name="connsiteX31" fmla="*/ 472887 w 978388"/>
                    <a:gd name="connsiteY31" fmla="*/ 704333 h 978461"/>
                    <a:gd name="connsiteX32" fmla="*/ 867995 w 978388"/>
                    <a:gd name="connsiteY32" fmla="*/ 797879 h 978461"/>
                    <a:gd name="connsiteX33" fmla="*/ 859671 w 978388"/>
                    <a:gd name="connsiteY33" fmla="*/ 809295 h 978461"/>
                    <a:gd name="connsiteX34" fmla="*/ 489521 w 978388"/>
                    <a:gd name="connsiteY34" fmla="*/ 978461 h 978461"/>
                    <a:gd name="connsiteX35" fmla="*/ 143377 w 978388"/>
                    <a:gd name="connsiteY35" fmla="*/ 835084 h 97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78388" h="978461">
                      <a:moveTo>
                        <a:pt x="652514" y="311418"/>
                      </a:moveTo>
                      <a:lnTo>
                        <a:pt x="578783" y="0"/>
                      </a:lnTo>
                      <a:lnTo>
                        <a:pt x="975875" y="2586"/>
                      </a:lnTo>
                      <a:lnTo>
                        <a:pt x="978388" y="388571"/>
                      </a:lnTo>
                      <a:close/>
                      <a:moveTo>
                        <a:pt x="365753" y="440187"/>
                      </a:moveTo>
                      <a:lnTo>
                        <a:pt x="273707" y="51409"/>
                      </a:lnTo>
                      <a:lnTo>
                        <a:pt x="310026" y="33374"/>
                      </a:lnTo>
                      <a:cubicBezTo>
                        <a:pt x="335962" y="23147"/>
                        <a:pt x="362982" y="15070"/>
                        <a:pt x="390866" y="9364"/>
                      </a:cubicBezTo>
                      <a:lnTo>
                        <a:pt x="471958" y="1189"/>
                      </a:lnTo>
                      <a:lnTo>
                        <a:pt x="565912" y="398021"/>
                      </a:lnTo>
                      <a:lnTo>
                        <a:pt x="978363" y="495672"/>
                      </a:lnTo>
                      <a:lnTo>
                        <a:pt x="969097" y="587595"/>
                      </a:lnTo>
                      <a:cubicBezTo>
                        <a:pt x="963391" y="615479"/>
                        <a:pt x="955314" y="642499"/>
                        <a:pt x="945087" y="668435"/>
                      </a:cubicBezTo>
                      <a:lnTo>
                        <a:pt x="927052" y="704754"/>
                      </a:lnTo>
                      <a:lnTo>
                        <a:pt x="538465" y="612753"/>
                      </a:lnTo>
                      <a:lnTo>
                        <a:pt x="544594" y="581251"/>
                      </a:lnTo>
                      <a:cubicBezTo>
                        <a:pt x="544594" y="543575"/>
                        <a:pt x="530221" y="505899"/>
                        <a:pt x="501475" y="477153"/>
                      </a:cubicBezTo>
                      <a:cubicBezTo>
                        <a:pt x="472729" y="448407"/>
                        <a:pt x="435053" y="434034"/>
                        <a:pt x="397377" y="434034"/>
                      </a:cubicBezTo>
                      <a:close/>
                      <a:moveTo>
                        <a:pt x="336040" y="641445"/>
                      </a:moveTo>
                      <a:cubicBezTo>
                        <a:pt x="302703" y="608108"/>
                        <a:pt x="302703" y="554057"/>
                        <a:pt x="336040" y="520720"/>
                      </a:cubicBezTo>
                      <a:cubicBezTo>
                        <a:pt x="369377" y="487382"/>
                        <a:pt x="423428" y="487382"/>
                        <a:pt x="456766" y="520720"/>
                      </a:cubicBezTo>
                      <a:cubicBezTo>
                        <a:pt x="490103" y="554057"/>
                        <a:pt x="490103" y="608108"/>
                        <a:pt x="456766" y="641445"/>
                      </a:cubicBezTo>
                      <a:cubicBezTo>
                        <a:pt x="423428" y="674783"/>
                        <a:pt x="369377" y="674783"/>
                        <a:pt x="336040" y="641445"/>
                      </a:cubicBezTo>
                      <a:close/>
                      <a:moveTo>
                        <a:pt x="143377" y="835084"/>
                      </a:moveTo>
                      <a:cubicBezTo>
                        <a:pt x="54791" y="746497"/>
                        <a:pt x="0" y="624117"/>
                        <a:pt x="0" y="488940"/>
                      </a:cubicBezTo>
                      <a:cubicBezTo>
                        <a:pt x="0" y="341089"/>
                        <a:pt x="65546" y="208548"/>
                        <a:pt x="169166" y="118790"/>
                      </a:cubicBezTo>
                      <a:lnTo>
                        <a:pt x="180582" y="110466"/>
                      </a:lnTo>
                      <a:lnTo>
                        <a:pt x="274200" y="505884"/>
                      </a:lnTo>
                      <a:lnTo>
                        <a:pt x="260940" y="525853"/>
                      </a:lnTo>
                      <a:cubicBezTo>
                        <a:pt x="239381" y="579019"/>
                        <a:pt x="250160" y="642230"/>
                        <a:pt x="293279" y="685349"/>
                      </a:cubicBezTo>
                      <a:cubicBezTo>
                        <a:pt x="336398" y="728468"/>
                        <a:pt x="399610" y="739248"/>
                        <a:pt x="452775" y="717688"/>
                      </a:cubicBezTo>
                      <a:lnTo>
                        <a:pt x="472887" y="704333"/>
                      </a:lnTo>
                      <a:lnTo>
                        <a:pt x="867995" y="797879"/>
                      </a:lnTo>
                      <a:lnTo>
                        <a:pt x="859671" y="809295"/>
                      </a:lnTo>
                      <a:cubicBezTo>
                        <a:pt x="769913" y="912915"/>
                        <a:pt x="637372" y="978461"/>
                        <a:pt x="489521" y="978461"/>
                      </a:cubicBezTo>
                      <a:cubicBezTo>
                        <a:pt x="354344" y="978461"/>
                        <a:pt x="231963" y="923669"/>
                        <a:pt x="143377" y="835084"/>
                      </a:cubicBezTo>
                      <a:close/>
                    </a:path>
                  </a:pathLst>
                </a:custGeom>
                <a:solidFill>
                  <a:srgbClr val="86BC25"/>
                </a:solid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sp>
        <p:nvSpPr>
          <p:cNvPr id="39" name="TextBox 38">
            <a:extLst>
              <a:ext uri="{FF2B5EF4-FFF2-40B4-BE49-F238E27FC236}">
                <a16:creationId xmlns:a16="http://schemas.microsoft.com/office/drawing/2014/main" id="{29B7A494-9656-D9FC-75FA-63A917AB1EA6}"/>
              </a:ext>
            </a:extLst>
          </p:cNvPr>
          <p:cNvSpPr txBox="1"/>
          <p:nvPr/>
        </p:nvSpPr>
        <p:spPr>
          <a:xfrm>
            <a:off x="4646971" y="597515"/>
            <a:ext cx="1756576"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a:rPr>
              <a:t>Here the </a:t>
            </a:r>
            <a:r>
              <a:rPr lang="en-US" sz="1400" b="1" dirty="0">
                <a:solidFill>
                  <a:schemeClr val="accent3"/>
                </a:solidFill>
                <a:latin typeface="Calibri"/>
              </a:rPr>
              <a:t>Asset Details </a:t>
            </a:r>
            <a:r>
              <a:rPr lang="en-US" sz="1400" dirty="0">
                <a:solidFill>
                  <a:prstClr val="black"/>
                </a:solidFill>
                <a:latin typeface="Calibri"/>
              </a:rPr>
              <a:t>like Asset Group, Sub-group etc. 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linked with</a:t>
            </a:r>
            <a:r>
              <a:rPr lang="en-US" sz="1400" b="1" dirty="0">
                <a:solidFill>
                  <a:prstClr val="black"/>
                </a:solidFill>
                <a:latin typeface="Calibri"/>
              </a:rPr>
              <a:t> the accounting software </a:t>
            </a:r>
            <a:r>
              <a:rPr lang="en-US" sz="1400" dirty="0">
                <a:solidFill>
                  <a:prstClr val="black"/>
                </a:solidFill>
                <a:latin typeface="Calibri"/>
              </a:rPr>
              <a:t>aiding in reconciliation with the accounting system</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0" name="Straight Connector 39">
            <a:extLst>
              <a:ext uri="{FF2B5EF4-FFF2-40B4-BE49-F238E27FC236}">
                <a16:creationId xmlns:a16="http://schemas.microsoft.com/office/drawing/2014/main" id="{D099ECA0-8039-019B-B27B-E5817E64C237}"/>
              </a:ext>
            </a:extLst>
          </p:cNvPr>
          <p:cNvCxnSpPr>
            <a:cxnSpLocks/>
          </p:cNvCxnSpPr>
          <p:nvPr/>
        </p:nvCxnSpPr>
        <p:spPr>
          <a:xfrm>
            <a:off x="4091073" y="1023782"/>
            <a:ext cx="555898"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7F206B9-4EBB-3E15-381D-D1FCA8D192D3}"/>
              </a:ext>
            </a:extLst>
          </p:cNvPr>
          <p:cNvSpPr txBox="1"/>
          <p:nvPr/>
        </p:nvSpPr>
        <p:spPr>
          <a:xfrm>
            <a:off x="10145594" y="597515"/>
            <a:ext cx="2015670" cy="24622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The fields marked with </a:t>
            </a:r>
            <a:r>
              <a:rPr kumimoji="0" lang="en-US" sz="1400" b="1" i="0" u="none" strike="noStrike" kern="1200" cap="none" spc="0" normalizeH="0" baseline="0" noProof="0" dirty="0">
                <a:ln>
                  <a:noFill/>
                </a:ln>
                <a:solidFill>
                  <a:prstClr val="black"/>
                </a:solidFill>
                <a:effectLst/>
                <a:uLnTx/>
                <a:uFillTx/>
                <a:latin typeface="Calibri"/>
                <a:ea typeface="+mn-ea"/>
                <a:cs typeface="+mn-cs"/>
              </a:rPr>
              <a:t>asterisk (*) </a:t>
            </a:r>
            <a:r>
              <a:rPr kumimoji="0" lang="en-US" sz="1400" b="0" i="0" u="none" strike="noStrike" kern="1200" cap="none" spc="0" normalizeH="0" baseline="0" noProof="0" dirty="0">
                <a:ln>
                  <a:noFill/>
                </a:ln>
                <a:solidFill>
                  <a:prstClr val="black"/>
                </a:solidFill>
                <a:effectLst/>
                <a:uLnTx/>
                <a:uFillTx/>
                <a:latin typeface="Calibri"/>
                <a:ea typeface="+mn-ea"/>
                <a:cs typeface="+mn-cs"/>
              </a:rPr>
              <a:t>are mandatory for the user to fill. However, the user is encouraged to populate other non mandatory fields like manufacturer, model, serial number, etc. which will provide an </a:t>
            </a:r>
            <a:r>
              <a:rPr kumimoji="0" lang="en-US" sz="1400" b="1" i="0" u="none" strike="noStrike" kern="1200" cap="none" spc="0" normalizeH="0" baseline="0" noProof="0" dirty="0">
                <a:ln>
                  <a:noFill/>
                </a:ln>
                <a:solidFill>
                  <a:prstClr val="black"/>
                </a:solidFill>
                <a:effectLst/>
                <a:uLnTx/>
                <a:uFillTx/>
                <a:latin typeface="Calibri"/>
                <a:ea typeface="+mn-ea"/>
                <a:cs typeface="+mn-cs"/>
              </a:rPr>
              <a:t>aging analysis of the Asset</a:t>
            </a:r>
          </a:p>
        </p:txBody>
      </p:sp>
      <p:cxnSp>
        <p:nvCxnSpPr>
          <p:cNvPr id="42" name="Straight Connector 41">
            <a:extLst>
              <a:ext uri="{FF2B5EF4-FFF2-40B4-BE49-F238E27FC236}">
                <a16:creationId xmlns:a16="http://schemas.microsoft.com/office/drawing/2014/main" id="{82E13364-9A8F-A2CE-E66D-350B323DFE8B}"/>
              </a:ext>
            </a:extLst>
          </p:cNvPr>
          <p:cNvCxnSpPr>
            <a:cxnSpLocks/>
          </p:cNvCxnSpPr>
          <p:nvPr/>
        </p:nvCxnSpPr>
        <p:spPr>
          <a:xfrm>
            <a:off x="9580582" y="1059265"/>
            <a:ext cx="590412"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9AF79409-B312-8464-0440-FDBBDCE0CA22}"/>
              </a:ext>
            </a:extLst>
          </p:cNvPr>
          <p:cNvGrpSpPr/>
          <p:nvPr/>
        </p:nvGrpSpPr>
        <p:grpSpPr>
          <a:xfrm>
            <a:off x="0" y="0"/>
            <a:ext cx="463583" cy="6858000"/>
            <a:chOff x="0" y="0"/>
            <a:chExt cx="463583" cy="6858000"/>
          </a:xfrm>
        </p:grpSpPr>
        <p:sp>
          <p:nvSpPr>
            <p:cNvPr id="44" name="Rectangle 43">
              <a:extLst>
                <a:ext uri="{FF2B5EF4-FFF2-40B4-BE49-F238E27FC236}">
                  <a16:creationId xmlns:a16="http://schemas.microsoft.com/office/drawing/2014/main" id="{5ABF2BF1-AE82-9AEE-3878-FA751C4A7171}"/>
                </a:ext>
              </a:extLst>
            </p:cNvPr>
            <p:cNvSpPr/>
            <p:nvPr/>
          </p:nvSpPr>
          <p:spPr bwMode="gray">
            <a:xfrm>
              <a:off x="0" y="0"/>
              <a:ext cx="463583" cy="6858000"/>
            </a:xfrm>
            <a:prstGeom prst="rect">
              <a:avLst/>
            </a:prstGeom>
            <a:solidFill>
              <a:schemeClr val="accent1"/>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AU" sz="1600" b="1" dirty="0"/>
            </a:p>
          </p:txBody>
        </p:sp>
        <p:sp>
          <p:nvSpPr>
            <p:cNvPr id="45" name="TextBox 44">
              <a:extLst>
                <a:ext uri="{FF2B5EF4-FFF2-40B4-BE49-F238E27FC236}">
                  <a16:creationId xmlns:a16="http://schemas.microsoft.com/office/drawing/2014/main" id="{77B067F3-BC61-2D9A-5F23-F29558E98FC5}"/>
                </a:ext>
              </a:extLst>
            </p:cNvPr>
            <p:cNvSpPr txBox="1"/>
            <p:nvPr/>
          </p:nvSpPr>
          <p:spPr>
            <a:xfrm>
              <a:off x="12589" y="606677"/>
              <a:ext cx="430887" cy="5644647"/>
            </a:xfrm>
            <a:prstGeom prst="rect">
              <a:avLst/>
            </a:prstGeom>
            <a:noFill/>
          </p:spPr>
          <p:txBody>
            <a:bodyPr vert="vert270" wrap="square" lIns="0" tIns="0" rIns="0" bIns="0" rtlCol="0">
              <a:spAutoFit/>
            </a:bodyPr>
            <a:lstStyle/>
            <a:p>
              <a:pPr algn="ctr">
                <a:spcBef>
                  <a:spcPts val="600"/>
                </a:spcBef>
                <a:buSzPct val="100000"/>
              </a:pPr>
              <a:r>
                <a:rPr lang="en-AU" sz="2800" b="1" dirty="0">
                  <a:solidFill>
                    <a:schemeClr val="bg1"/>
                  </a:solidFill>
                  <a:latin typeface="+mj-lt"/>
                  <a:cs typeface="Arial" panose="020B0604020202020204" pitchFamily="34" charset="0"/>
                </a:rPr>
                <a:t>Walkthrough of </a:t>
              </a:r>
              <a:r>
                <a:rPr lang="en-AU" sz="2800" b="1" dirty="0">
                  <a:latin typeface="+mj-lt"/>
                  <a:cs typeface="Arial" panose="020B0604020202020204" pitchFamily="34" charset="0"/>
                </a:rPr>
                <a:t>INSITE</a:t>
              </a:r>
            </a:p>
          </p:txBody>
        </p:sp>
      </p:grpSp>
      <p:sp>
        <p:nvSpPr>
          <p:cNvPr id="46" name="Copyright">
            <a:extLst>
              <a:ext uri="{FF2B5EF4-FFF2-40B4-BE49-F238E27FC236}">
                <a16:creationId xmlns:a16="http://schemas.microsoft.com/office/drawing/2014/main" id="{78371F0D-80A2-E643-03AE-51E84EBF04CF}"/>
              </a:ext>
            </a:extLst>
          </p:cNvPr>
          <p:cNvSpPr txBox="1"/>
          <p:nvPr/>
        </p:nvSpPr>
        <p:spPr>
          <a:xfrm>
            <a:off x="5311407" y="6696739"/>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2024 Deloitte Touche Tohmatsu India LLP. </a:t>
            </a:r>
          </a:p>
        </p:txBody>
      </p:sp>
    </p:spTree>
    <p:extLst>
      <p:ext uri="{BB962C8B-B14F-4D97-AF65-F5344CB8AC3E}">
        <p14:creationId xmlns:p14="http://schemas.microsoft.com/office/powerpoint/2010/main" val="318982120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54CC24B3-81EE-CA56-6F8D-D564C659EF74}"/>
              </a:ext>
            </a:extLst>
          </p:cNvPr>
          <p:cNvGrpSpPr/>
          <p:nvPr/>
        </p:nvGrpSpPr>
        <p:grpSpPr>
          <a:xfrm>
            <a:off x="6057251" y="84776"/>
            <a:ext cx="5058205" cy="6773224"/>
            <a:chOff x="6697276" y="84776"/>
            <a:chExt cx="5058205" cy="6773224"/>
          </a:xfrm>
        </p:grpSpPr>
        <p:grpSp>
          <p:nvGrpSpPr>
            <p:cNvPr id="6" name="Group 5">
              <a:extLst>
                <a:ext uri="{FF2B5EF4-FFF2-40B4-BE49-F238E27FC236}">
                  <a16:creationId xmlns:a16="http://schemas.microsoft.com/office/drawing/2014/main" id="{DF722B5E-AB25-5BEF-757B-3C82E240776B}"/>
                </a:ext>
              </a:extLst>
            </p:cNvPr>
            <p:cNvGrpSpPr/>
            <p:nvPr/>
          </p:nvGrpSpPr>
          <p:grpSpPr>
            <a:xfrm>
              <a:off x="6697276" y="84776"/>
              <a:ext cx="5058205" cy="6773224"/>
              <a:chOff x="6697276" y="84776"/>
              <a:chExt cx="5058205" cy="6773224"/>
            </a:xfrm>
          </p:grpSpPr>
          <p:pic>
            <p:nvPicPr>
              <p:cNvPr id="13" name="Picture 12" descr="A hand holding a cell phone&#10;&#10;Description automatically generated">
                <a:extLst>
                  <a:ext uri="{FF2B5EF4-FFF2-40B4-BE49-F238E27FC236}">
                    <a16:creationId xmlns:a16="http://schemas.microsoft.com/office/drawing/2014/main" id="{9699B892-EAF0-21EF-36F3-84E331306E55}"/>
                  </a:ext>
                </a:extLst>
              </p:cNvPr>
              <p:cNvPicPr>
                <a:picLocks noChangeAspect="1"/>
              </p:cNvPicPr>
              <p:nvPr/>
            </p:nvPicPr>
            <p:blipFill rotWithShape="1">
              <a:blip r:embed="rId2">
                <a:extLst>
                  <a:ext uri="{28A0092B-C50C-407E-A947-70E740481C1C}">
                    <a14:useLocalDpi xmlns:a14="http://schemas.microsoft.com/office/drawing/2010/main" val="0"/>
                  </a:ext>
                </a:extLst>
              </a:blip>
              <a:srcRect b="10283"/>
              <a:stretch/>
            </p:blipFill>
            <p:spPr>
              <a:xfrm>
                <a:off x="6697276" y="84776"/>
                <a:ext cx="5058205" cy="6773224"/>
              </a:xfrm>
              <a:prstGeom prst="rect">
                <a:avLst/>
              </a:prstGeom>
              <a:noFill/>
            </p:spPr>
          </p:pic>
          <p:sp>
            <p:nvSpPr>
              <p:cNvPr id="14" name="Rectangle 13">
                <a:extLst>
                  <a:ext uri="{FF2B5EF4-FFF2-40B4-BE49-F238E27FC236}">
                    <a16:creationId xmlns:a16="http://schemas.microsoft.com/office/drawing/2014/main" id="{2849926B-CA53-C54E-60C1-5CBC24F0AA5A}"/>
                  </a:ext>
                </a:extLst>
              </p:cNvPr>
              <p:cNvSpPr/>
              <p:nvPr/>
            </p:nvSpPr>
            <p:spPr bwMode="gray">
              <a:xfrm>
                <a:off x="7711142" y="6047295"/>
                <a:ext cx="2172879" cy="263950"/>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5" name="Rectangle: Top Corners Rounded 14">
              <a:extLst>
                <a:ext uri="{FF2B5EF4-FFF2-40B4-BE49-F238E27FC236}">
                  <a16:creationId xmlns:a16="http://schemas.microsoft.com/office/drawing/2014/main" id="{9929ABEE-DCEA-1F7E-D83E-5BD4643757BD}"/>
                </a:ext>
              </a:extLst>
            </p:cNvPr>
            <p:cNvSpPr/>
            <p:nvPr/>
          </p:nvSpPr>
          <p:spPr bwMode="gray">
            <a:xfrm>
              <a:off x="7387647" y="402648"/>
              <a:ext cx="2828413" cy="263950"/>
            </a:xfrm>
            <a:prstGeom prst="round2Same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pic>
          <p:nvPicPr>
            <p:cNvPr id="153" name="Picture 152" descr="A black background with a black square&#10;&#10;Description automatically generated with medium confidence">
              <a:extLst>
                <a:ext uri="{FF2B5EF4-FFF2-40B4-BE49-F238E27FC236}">
                  <a16:creationId xmlns:a16="http://schemas.microsoft.com/office/drawing/2014/main" id="{E7BDEEF7-5159-0855-95F7-D8BCE0FC1F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7483958" y="1316073"/>
              <a:ext cx="136837" cy="136837"/>
            </a:xfrm>
            <a:prstGeom prst="rect">
              <a:avLst/>
            </a:prstGeom>
          </p:spPr>
        </p:pic>
        <p:sp>
          <p:nvSpPr>
            <p:cNvPr id="154" name="Rectangle 153">
              <a:extLst>
                <a:ext uri="{FF2B5EF4-FFF2-40B4-BE49-F238E27FC236}">
                  <a16:creationId xmlns:a16="http://schemas.microsoft.com/office/drawing/2014/main" id="{91EEE716-45C9-8FC0-A0D2-E1969E24F168}"/>
                </a:ext>
              </a:extLst>
            </p:cNvPr>
            <p:cNvSpPr/>
            <p:nvPr/>
          </p:nvSpPr>
          <p:spPr>
            <a:xfrm>
              <a:off x="9302908" y="1549530"/>
              <a:ext cx="888738" cy="390146"/>
            </a:xfrm>
            <a:prstGeom prst="rect">
              <a:avLst/>
            </a:prstGeom>
            <a:solidFill>
              <a:srgbClr val="63E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55" name="Group 154">
              <a:extLst>
                <a:ext uri="{FF2B5EF4-FFF2-40B4-BE49-F238E27FC236}">
                  <a16:creationId xmlns:a16="http://schemas.microsoft.com/office/drawing/2014/main" id="{957E3824-E3C4-94AA-9795-FFF7C9696B6A}"/>
                </a:ext>
              </a:extLst>
            </p:cNvPr>
            <p:cNvGrpSpPr/>
            <p:nvPr/>
          </p:nvGrpSpPr>
          <p:grpSpPr>
            <a:xfrm>
              <a:off x="7407203" y="1549530"/>
              <a:ext cx="2842667" cy="400612"/>
              <a:chOff x="7409677" y="1549530"/>
              <a:chExt cx="2842667" cy="400612"/>
            </a:xfrm>
          </p:grpSpPr>
          <p:sp>
            <p:nvSpPr>
              <p:cNvPr id="167" name="Rectangle 166">
                <a:extLst>
                  <a:ext uri="{FF2B5EF4-FFF2-40B4-BE49-F238E27FC236}">
                    <a16:creationId xmlns:a16="http://schemas.microsoft.com/office/drawing/2014/main" id="{747BC7EB-BE7D-5CB7-E306-143A1850D3CC}"/>
                  </a:ext>
                </a:extLst>
              </p:cNvPr>
              <p:cNvSpPr/>
              <p:nvPr/>
            </p:nvSpPr>
            <p:spPr>
              <a:xfrm>
                <a:off x="7409677" y="1549530"/>
                <a:ext cx="2784442" cy="400612"/>
              </a:xfrm>
              <a:prstGeom prst="rect">
                <a:avLst/>
              </a:prstGeom>
              <a:solidFill>
                <a:srgbClr val="EAEAEA">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68" name="Picture 167" descr="A black background with a black square&#10;&#10;Description automatically generated with medium confidence">
                <a:extLst>
                  <a:ext uri="{FF2B5EF4-FFF2-40B4-BE49-F238E27FC236}">
                    <a16:creationId xmlns:a16="http://schemas.microsoft.com/office/drawing/2014/main" id="{8AF6B41E-EE04-1E6A-E367-115C2BDF64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7838210" y="1607518"/>
                <a:ext cx="123649" cy="123649"/>
              </a:xfrm>
              <a:prstGeom prst="rect">
                <a:avLst/>
              </a:prstGeom>
            </p:spPr>
          </p:pic>
          <p:sp>
            <p:nvSpPr>
              <p:cNvPr id="169" name="Rectangle 168">
                <a:extLst>
                  <a:ext uri="{FF2B5EF4-FFF2-40B4-BE49-F238E27FC236}">
                    <a16:creationId xmlns:a16="http://schemas.microsoft.com/office/drawing/2014/main" id="{45B1ABCB-AF03-874D-E0E9-C19D80A63A8D}"/>
                  </a:ext>
                </a:extLst>
              </p:cNvPr>
              <p:cNvSpPr/>
              <p:nvPr/>
            </p:nvSpPr>
            <p:spPr>
              <a:xfrm>
                <a:off x="7437841" y="1739672"/>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Office &amp; Location</a:t>
                </a:r>
              </a:p>
            </p:txBody>
          </p:sp>
          <p:cxnSp>
            <p:nvCxnSpPr>
              <p:cNvPr id="170" name="Straight Connector 169">
                <a:extLst>
                  <a:ext uri="{FF2B5EF4-FFF2-40B4-BE49-F238E27FC236}">
                    <a16:creationId xmlns:a16="http://schemas.microsoft.com/office/drawing/2014/main" id="{8E4F0408-9A52-4C0D-4451-0BC105566562}"/>
                  </a:ext>
                </a:extLst>
              </p:cNvPr>
              <p:cNvCxnSpPr/>
              <p:nvPr/>
            </p:nvCxnSpPr>
            <p:spPr>
              <a:xfrm>
                <a:off x="8385539" y="1615729"/>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1" name="Rectangle 170">
                <a:extLst>
                  <a:ext uri="{FF2B5EF4-FFF2-40B4-BE49-F238E27FC236}">
                    <a16:creationId xmlns:a16="http://schemas.microsoft.com/office/drawing/2014/main" id="{7A03D3B7-DAC3-0974-E9F2-1D7D5E1CFC5B}"/>
                  </a:ext>
                </a:extLst>
              </p:cNvPr>
              <p:cNvSpPr/>
              <p:nvPr/>
            </p:nvSpPr>
            <p:spPr>
              <a:xfrm>
                <a:off x="8369854"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Asset Details</a:t>
                </a:r>
              </a:p>
            </p:txBody>
          </p:sp>
          <p:sp>
            <p:nvSpPr>
              <p:cNvPr id="172" name="Rectangle 171">
                <a:extLst>
                  <a:ext uri="{FF2B5EF4-FFF2-40B4-BE49-F238E27FC236}">
                    <a16:creationId xmlns:a16="http://schemas.microsoft.com/office/drawing/2014/main" id="{574676A8-B158-E7FA-BE51-322AC9A3E936}"/>
                  </a:ext>
                </a:extLst>
              </p:cNvPr>
              <p:cNvSpPr/>
              <p:nvPr/>
            </p:nvSpPr>
            <p:spPr>
              <a:xfrm>
                <a:off x="9295615"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Photos</a:t>
                </a:r>
              </a:p>
            </p:txBody>
          </p:sp>
          <p:cxnSp>
            <p:nvCxnSpPr>
              <p:cNvPr id="173" name="Straight Connector 172">
                <a:extLst>
                  <a:ext uri="{FF2B5EF4-FFF2-40B4-BE49-F238E27FC236}">
                    <a16:creationId xmlns:a16="http://schemas.microsoft.com/office/drawing/2014/main" id="{218758D1-F56B-2872-9508-3AC347154558}"/>
                  </a:ext>
                </a:extLst>
              </p:cNvPr>
              <p:cNvCxnSpPr/>
              <p:nvPr/>
            </p:nvCxnSpPr>
            <p:spPr>
              <a:xfrm>
                <a:off x="9305319" y="1619660"/>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74" name="Picture 173" descr="A black background with a black square&#10;&#10;Description automatically generated with medium confidence">
                <a:extLst>
                  <a:ext uri="{FF2B5EF4-FFF2-40B4-BE49-F238E27FC236}">
                    <a16:creationId xmlns:a16="http://schemas.microsoft.com/office/drawing/2014/main" id="{BD68D066-3FDD-9C4F-E1A9-3512B4289E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2733" y="1606972"/>
                <a:ext cx="137535" cy="137535"/>
              </a:xfrm>
              <a:prstGeom prst="rect">
                <a:avLst/>
              </a:prstGeom>
            </p:spPr>
          </p:pic>
          <p:pic>
            <p:nvPicPr>
              <p:cNvPr id="175" name="Picture 174" descr="A black background with a black square&#10;&#10;Description automatically generated with medium confidence">
                <a:extLst>
                  <a:ext uri="{FF2B5EF4-FFF2-40B4-BE49-F238E27FC236}">
                    <a16:creationId xmlns:a16="http://schemas.microsoft.com/office/drawing/2014/main" id="{33662AEA-5027-1EDD-04C4-6888992118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27782" y="1615331"/>
                <a:ext cx="127162" cy="127162"/>
              </a:xfrm>
              <a:prstGeom prst="rect">
                <a:avLst/>
              </a:prstGeom>
            </p:spPr>
          </p:pic>
        </p:grpSp>
        <p:sp>
          <p:nvSpPr>
            <p:cNvPr id="156" name="Rectangle 155">
              <a:extLst>
                <a:ext uri="{FF2B5EF4-FFF2-40B4-BE49-F238E27FC236}">
                  <a16:creationId xmlns:a16="http://schemas.microsoft.com/office/drawing/2014/main" id="{19F43181-6EAF-EC62-BD74-AF6FFF80AFA4}"/>
                </a:ext>
              </a:extLst>
            </p:cNvPr>
            <p:cNvSpPr/>
            <p:nvPr/>
          </p:nvSpPr>
          <p:spPr>
            <a:xfrm>
              <a:off x="8336412" y="1278802"/>
              <a:ext cx="956729"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ASSET</a:t>
              </a:r>
            </a:p>
          </p:txBody>
        </p:sp>
        <p:pic>
          <p:nvPicPr>
            <p:cNvPr id="17" name="Graphic 16" descr="Camera with solid fill">
              <a:extLst>
                <a:ext uri="{FF2B5EF4-FFF2-40B4-BE49-F238E27FC236}">
                  <a16:creationId xmlns:a16="http://schemas.microsoft.com/office/drawing/2014/main" id="{46ED90AA-141A-8EDB-D905-9BFC344DDCB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15799" y="2194650"/>
              <a:ext cx="246412" cy="246412"/>
            </a:xfrm>
            <a:prstGeom prst="rect">
              <a:avLst/>
            </a:prstGeom>
          </p:spPr>
        </p:pic>
        <p:sp>
          <p:nvSpPr>
            <p:cNvPr id="30" name="Rectangle: Rounded Corners 29">
              <a:extLst>
                <a:ext uri="{FF2B5EF4-FFF2-40B4-BE49-F238E27FC236}">
                  <a16:creationId xmlns:a16="http://schemas.microsoft.com/office/drawing/2014/main" id="{6EE70C7C-BA3A-3163-AA69-69557963CD27}"/>
                </a:ext>
              </a:extLst>
            </p:cNvPr>
            <p:cNvSpPr/>
            <p:nvPr/>
          </p:nvSpPr>
          <p:spPr bwMode="gray">
            <a:xfrm>
              <a:off x="7821565" y="2184964"/>
              <a:ext cx="1264589" cy="259381"/>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35" name="Group 34">
              <a:extLst>
                <a:ext uri="{FF2B5EF4-FFF2-40B4-BE49-F238E27FC236}">
                  <a16:creationId xmlns:a16="http://schemas.microsoft.com/office/drawing/2014/main" id="{1036C248-63CC-5AFE-A90B-D2EF7E98848C}"/>
                </a:ext>
              </a:extLst>
            </p:cNvPr>
            <p:cNvGrpSpPr/>
            <p:nvPr/>
          </p:nvGrpSpPr>
          <p:grpSpPr>
            <a:xfrm>
              <a:off x="9168637" y="2208430"/>
              <a:ext cx="920143" cy="210403"/>
              <a:chOff x="3376440" y="5465951"/>
              <a:chExt cx="705164" cy="372742"/>
            </a:xfrm>
          </p:grpSpPr>
          <p:sp>
            <p:nvSpPr>
              <p:cNvPr id="36" name="Rectangle: Rounded Corners 35">
                <a:extLst>
                  <a:ext uri="{FF2B5EF4-FFF2-40B4-BE49-F238E27FC236}">
                    <a16:creationId xmlns:a16="http://schemas.microsoft.com/office/drawing/2014/main" id="{817475B8-43CF-562F-4627-57A4B103F571}"/>
                  </a:ext>
                </a:extLst>
              </p:cNvPr>
              <p:cNvSpPr/>
              <p:nvPr/>
            </p:nvSpPr>
            <p:spPr bwMode="gray">
              <a:xfrm>
                <a:off x="3376911" y="5474028"/>
                <a:ext cx="700808" cy="364665"/>
              </a:xfrm>
              <a:prstGeom prst="roundRect">
                <a:avLst>
                  <a:gd name="adj" fmla="val 17575"/>
                </a:avLst>
              </a:prstGeom>
              <a:solidFill>
                <a:srgbClr val="9DA7B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37" name="Rectangle 36">
                <a:extLst>
                  <a:ext uri="{FF2B5EF4-FFF2-40B4-BE49-F238E27FC236}">
                    <a16:creationId xmlns:a16="http://schemas.microsoft.com/office/drawing/2014/main" id="{B068D203-DA48-C557-01E2-C14B2A25F096}"/>
                  </a:ext>
                </a:extLst>
              </p:cNvPr>
              <p:cNvSpPr/>
              <p:nvPr/>
            </p:nvSpPr>
            <p:spPr>
              <a:xfrm>
                <a:off x="3376440" y="5465951"/>
                <a:ext cx="705164" cy="26068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Choose Image</a:t>
                </a:r>
              </a:p>
            </p:txBody>
          </p:sp>
        </p:grpSp>
        <p:pic>
          <p:nvPicPr>
            <p:cNvPr id="44" name="Graphic 43" descr="Camera with solid fill">
              <a:extLst>
                <a:ext uri="{FF2B5EF4-FFF2-40B4-BE49-F238E27FC236}">
                  <a16:creationId xmlns:a16="http://schemas.microsoft.com/office/drawing/2014/main" id="{529E9BD5-2230-F494-B1BD-C9358C77489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15799" y="2811337"/>
              <a:ext cx="246412" cy="246412"/>
            </a:xfrm>
            <a:prstGeom prst="rect">
              <a:avLst/>
            </a:prstGeom>
          </p:spPr>
        </p:pic>
        <p:sp>
          <p:nvSpPr>
            <p:cNvPr id="45" name="Rectangle: Rounded Corners 44">
              <a:extLst>
                <a:ext uri="{FF2B5EF4-FFF2-40B4-BE49-F238E27FC236}">
                  <a16:creationId xmlns:a16="http://schemas.microsoft.com/office/drawing/2014/main" id="{4AA5622F-15A2-D12C-6968-00383B829943}"/>
                </a:ext>
              </a:extLst>
            </p:cNvPr>
            <p:cNvSpPr/>
            <p:nvPr/>
          </p:nvSpPr>
          <p:spPr bwMode="gray">
            <a:xfrm>
              <a:off x="7821565" y="2801651"/>
              <a:ext cx="1264589" cy="259381"/>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46" name="Group 45">
              <a:extLst>
                <a:ext uri="{FF2B5EF4-FFF2-40B4-BE49-F238E27FC236}">
                  <a16:creationId xmlns:a16="http://schemas.microsoft.com/office/drawing/2014/main" id="{2987423A-6CB9-05F4-179A-9DD37094A408}"/>
                </a:ext>
              </a:extLst>
            </p:cNvPr>
            <p:cNvGrpSpPr/>
            <p:nvPr/>
          </p:nvGrpSpPr>
          <p:grpSpPr>
            <a:xfrm>
              <a:off x="9168637" y="2825117"/>
              <a:ext cx="920143" cy="210403"/>
              <a:chOff x="3376440" y="5465951"/>
              <a:chExt cx="705164" cy="372742"/>
            </a:xfrm>
          </p:grpSpPr>
          <p:sp>
            <p:nvSpPr>
              <p:cNvPr id="47" name="Rectangle: Rounded Corners 46">
                <a:extLst>
                  <a:ext uri="{FF2B5EF4-FFF2-40B4-BE49-F238E27FC236}">
                    <a16:creationId xmlns:a16="http://schemas.microsoft.com/office/drawing/2014/main" id="{1DD53656-06B6-6591-4983-CE50DECE3F13}"/>
                  </a:ext>
                </a:extLst>
              </p:cNvPr>
              <p:cNvSpPr/>
              <p:nvPr/>
            </p:nvSpPr>
            <p:spPr bwMode="gray">
              <a:xfrm>
                <a:off x="3376911" y="5474028"/>
                <a:ext cx="700808" cy="364665"/>
              </a:xfrm>
              <a:prstGeom prst="roundRect">
                <a:avLst>
                  <a:gd name="adj" fmla="val 17575"/>
                </a:avLst>
              </a:prstGeom>
              <a:solidFill>
                <a:srgbClr val="9DA7B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1D4D1DC2-D270-DFC3-3280-6EA0F69721F9}"/>
                  </a:ext>
                </a:extLst>
              </p:cNvPr>
              <p:cNvSpPr/>
              <p:nvPr/>
            </p:nvSpPr>
            <p:spPr>
              <a:xfrm>
                <a:off x="3376440" y="5465951"/>
                <a:ext cx="705164" cy="26068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Choose Image</a:t>
                </a:r>
              </a:p>
            </p:txBody>
          </p:sp>
        </p:grpSp>
        <p:pic>
          <p:nvPicPr>
            <p:cNvPr id="49" name="Graphic 48" descr="Camera with solid fill">
              <a:extLst>
                <a:ext uri="{FF2B5EF4-FFF2-40B4-BE49-F238E27FC236}">
                  <a16:creationId xmlns:a16="http://schemas.microsoft.com/office/drawing/2014/main" id="{A6D820BD-FA7D-8213-3331-BCB222597F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10730" y="3431451"/>
              <a:ext cx="246412" cy="246412"/>
            </a:xfrm>
            <a:prstGeom prst="rect">
              <a:avLst/>
            </a:prstGeom>
          </p:spPr>
        </p:pic>
        <p:sp>
          <p:nvSpPr>
            <p:cNvPr id="50" name="Rectangle: Rounded Corners 49">
              <a:extLst>
                <a:ext uri="{FF2B5EF4-FFF2-40B4-BE49-F238E27FC236}">
                  <a16:creationId xmlns:a16="http://schemas.microsoft.com/office/drawing/2014/main" id="{14EE7637-0B33-01B5-B62A-00D8FB71A40A}"/>
                </a:ext>
              </a:extLst>
            </p:cNvPr>
            <p:cNvSpPr/>
            <p:nvPr/>
          </p:nvSpPr>
          <p:spPr bwMode="gray">
            <a:xfrm>
              <a:off x="7816496" y="3421765"/>
              <a:ext cx="1264589" cy="259381"/>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51" name="Group 50">
              <a:extLst>
                <a:ext uri="{FF2B5EF4-FFF2-40B4-BE49-F238E27FC236}">
                  <a16:creationId xmlns:a16="http://schemas.microsoft.com/office/drawing/2014/main" id="{582C0E18-208B-BFD6-0788-35FB12D27BF8}"/>
                </a:ext>
              </a:extLst>
            </p:cNvPr>
            <p:cNvGrpSpPr/>
            <p:nvPr/>
          </p:nvGrpSpPr>
          <p:grpSpPr>
            <a:xfrm>
              <a:off x="9163568" y="3445231"/>
              <a:ext cx="920143" cy="210403"/>
              <a:chOff x="3376440" y="5465951"/>
              <a:chExt cx="705164" cy="372742"/>
            </a:xfrm>
          </p:grpSpPr>
          <p:sp>
            <p:nvSpPr>
              <p:cNvPr id="52" name="Rectangle: Rounded Corners 51">
                <a:extLst>
                  <a:ext uri="{FF2B5EF4-FFF2-40B4-BE49-F238E27FC236}">
                    <a16:creationId xmlns:a16="http://schemas.microsoft.com/office/drawing/2014/main" id="{75E4C1AB-F4B3-B148-5F23-A41D3889F84C}"/>
                  </a:ext>
                </a:extLst>
              </p:cNvPr>
              <p:cNvSpPr/>
              <p:nvPr/>
            </p:nvSpPr>
            <p:spPr bwMode="gray">
              <a:xfrm>
                <a:off x="3376911" y="5474028"/>
                <a:ext cx="700808" cy="364665"/>
              </a:xfrm>
              <a:prstGeom prst="roundRect">
                <a:avLst>
                  <a:gd name="adj" fmla="val 17575"/>
                </a:avLst>
              </a:prstGeom>
              <a:solidFill>
                <a:srgbClr val="9DA7B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3" name="Rectangle 52">
                <a:extLst>
                  <a:ext uri="{FF2B5EF4-FFF2-40B4-BE49-F238E27FC236}">
                    <a16:creationId xmlns:a16="http://schemas.microsoft.com/office/drawing/2014/main" id="{E19B8876-5E34-FFEB-76D0-C045BF53EE9B}"/>
                  </a:ext>
                </a:extLst>
              </p:cNvPr>
              <p:cNvSpPr/>
              <p:nvPr/>
            </p:nvSpPr>
            <p:spPr>
              <a:xfrm>
                <a:off x="3376440" y="5465951"/>
                <a:ext cx="705164" cy="26068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Choose Image</a:t>
                </a:r>
              </a:p>
            </p:txBody>
          </p:sp>
        </p:grpSp>
        <p:sp>
          <p:nvSpPr>
            <p:cNvPr id="59" name="Rectangle: Rounded Corners 58">
              <a:extLst>
                <a:ext uri="{FF2B5EF4-FFF2-40B4-BE49-F238E27FC236}">
                  <a16:creationId xmlns:a16="http://schemas.microsoft.com/office/drawing/2014/main" id="{81E1220E-8FBB-6454-17F8-F8B65D1B1D43}"/>
                </a:ext>
              </a:extLst>
            </p:cNvPr>
            <p:cNvSpPr/>
            <p:nvPr/>
          </p:nvSpPr>
          <p:spPr bwMode="gray">
            <a:xfrm>
              <a:off x="7811427" y="4034515"/>
              <a:ext cx="1264589" cy="259381"/>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60" name="Group 59">
              <a:extLst>
                <a:ext uri="{FF2B5EF4-FFF2-40B4-BE49-F238E27FC236}">
                  <a16:creationId xmlns:a16="http://schemas.microsoft.com/office/drawing/2014/main" id="{45A8FFAF-6933-7EF6-09E0-33139C25292F}"/>
                </a:ext>
              </a:extLst>
            </p:cNvPr>
            <p:cNvGrpSpPr/>
            <p:nvPr/>
          </p:nvGrpSpPr>
          <p:grpSpPr>
            <a:xfrm>
              <a:off x="9158499" y="4057985"/>
              <a:ext cx="920143" cy="215444"/>
              <a:chOff x="3376440" y="5465951"/>
              <a:chExt cx="705164" cy="381672"/>
            </a:xfrm>
          </p:grpSpPr>
          <p:sp>
            <p:nvSpPr>
              <p:cNvPr id="61" name="Rectangle: Rounded Corners 60">
                <a:extLst>
                  <a:ext uri="{FF2B5EF4-FFF2-40B4-BE49-F238E27FC236}">
                    <a16:creationId xmlns:a16="http://schemas.microsoft.com/office/drawing/2014/main" id="{5F79C8F0-D002-892E-F40A-EAC293EF28D0}"/>
                  </a:ext>
                </a:extLst>
              </p:cNvPr>
              <p:cNvSpPr/>
              <p:nvPr/>
            </p:nvSpPr>
            <p:spPr bwMode="gray">
              <a:xfrm>
                <a:off x="3376911" y="5474028"/>
                <a:ext cx="700808" cy="364665"/>
              </a:xfrm>
              <a:prstGeom prst="roundRect">
                <a:avLst>
                  <a:gd name="adj" fmla="val 17575"/>
                </a:avLst>
              </a:prstGeom>
              <a:solidFill>
                <a:schemeClr val="bg1">
                  <a:lumMod val="5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2" name="Rectangle 61">
                <a:extLst>
                  <a:ext uri="{FF2B5EF4-FFF2-40B4-BE49-F238E27FC236}">
                    <a16:creationId xmlns:a16="http://schemas.microsoft.com/office/drawing/2014/main" id="{DB68BBB8-C527-87C8-088D-54B4A255370C}"/>
                  </a:ext>
                </a:extLst>
              </p:cNvPr>
              <p:cNvSpPr/>
              <p:nvPr/>
            </p:nvSpPr>
            <p:spPr>
              <a:xfrm>
                <a:off x="3376440" y="5465951"/>
                <a:ext cx="705164" cy="381672"/>
              </a:xfrm>
              <a:prstGeom prst="rect">
                <a:avLst/>
              </a:prstGeom>
              <a:solidFill>
                <a:srgbClr val="9DA7B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Choose Video</a:t>
                </a:r>
              </a:p>
            </p:txBody>
          </p:sp>
        </p:grpSp>
        <p:pic>
          <p:nvPicPr>
            <p:cNvPr id="64" name="Graphic 63" descr="Video camera with solid fill">
              <a:extLst>
                <a:ext uri="{FF2B5EF4-FFF2-40B4-BE49-F238E27FC236}">
                  <a16:creationId xmlns:a16="http://schemas.microsoft.com/office/drawing/2014/main" id="{871948AA-04CC-7E2F-C5E7-2C5215A5C80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503642" y="4029340"/>
              <a:ext cx="264556" cy="264556"/>
            </a:xfrm>
            <a:prstGeom prst="rect">
              <a:avLst/>
            </a:prstGeom>
          </p:spPr>
        </p:pic>
        <p:grpSp>
          <p:nvGrpSpPr>
            <p:cNvPr id="65" name="Group 64">
              <a:extLst>
                <a:ext uri="{FF2B5EF4-FFF2-40B4-BE49-F238E27FC236}">
                  <a16:creationId xmlns:a16="http://schemas.microsoft.com/office/drawing/2014/main" id="{EFA28E01-92E3-840B-F56D-441F8EC781D9}"/>
                </a:ext>
              </a:extLst>
            </p:cNvPr>
            <p:cNvGrpSpPr/>
            <p:nvPr/>
          </p:nvGrpSpPr>
          <p:grpSpPr>
            <a:xfrm>
              <a:off x="9258351" y="5396271"/>
              <a:ext cx="759186" cy="364665"/>
              <a:chOff x="3376910" y="5474028"/>
              <a:chExt cx="759186" cy="364665"/>
            </a:xfrm>
          </p:grpSpPr>
          <p:sp>
            <p:nvSpPr>
              <p:cNvPr id="66" name="Rectangle: Rounded Corners 65">
                <a:extLst>
                  <a:ext uri="{FF2B5EF4-FFF2-40B4-BE49-F238E27FC236}">
                    <a16:creationId xmlns:a16="http://schemas.microsoft.com/office/drawing/2014/main" id="{5D9AFB8D-9BC2-17DB-8130-004A3477D5DA}"/>
                  </a:ext>
                </a:extLst>
              </p:cNvPr>
              <p:cNvSpPr/>
              <p:nvPr/>
            </p:nvSpPr>
            <p:spPr bwMode="gray">
              <a:xfrm>
                <a:off x="3376910" y="5474028"/>
                <a:ext cx="759186" cy="364665"/>
              </a:xfrm>
              <a:prstGeom prst="roundRect">
                <a:avLst>
                  <a:gd name="adj" fmla="val 50000"/>
                </a:avLst>
              </a:prstGeom>
              <a:solidFill>
                <a:srgbClr val="6C757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7" name="Rectangle 66">
                <a:extLst>
                  <a:ext uri="{FF2B5EF4-FFF2-40B4-BE49-F238E27FC236}">
                    <a16:creationId xmlns:a16="http://schemas.microsoft.com/office/drawing/2014/main" id="{8A0A757A-DF43-DB11-D6CA-1646F1D264A5}"/>
                  </a:ext>
                </a:extLst>
              </p:cNvPr>
              <p:cNvSpPr/>
              <p:nvPr/>
            </p:nvSpPr>
            <p:spPr>
              <a:xfrm>
                <a:off x="3505865" y="5548638"/>
                <a:ext cx="485509" cy="21544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Next</a:t>
                </a:r>
              </a:p>
            </p:txBody>
          </p:sp>
        </p:grpSp>
        <p:sp>
          <p:nvSpPr>
            <p:cNvPr id="68" name="TextBox 67">
              <a:extLst>
                <a:ext uri="{FF2B5EF4-FFF2-40B4-BE49-F238E27FC236}">
                  <a16:creationId xmlns:a16="http://schemas.microsoft.com/office/drawing/2014/main" id="{9D745ABF-3F43-AA56-CAB4-C6D619EC1913}"/>
                </a:ext>
              </a:extLst>
            </p:cNvPr>
            <p:cNvSpPr txBox="1"/>
            <p:nvPr/>
          </p:nvSpPr>
          <p:spPr>
            <a:xfrm>
              <a:off x="7462694" y="5485395"/>
              <a:ext cx="632591" cy="2201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Cancel</a:t>
              </a:r>
              <a:endParaRPr kumimoji="0" lang="en-US" sz="800" b="1" i="0" u="none" strike="noStrike" kern="1200" cap="none" spc="0" normalizeH="0" baseline="0" noProof="0" dirty="0">
                <a:ln>
                  <a:noFill/>
                </a:ln>
                <a:solidFill>
                  <a:prstClr val="black"/>
                </a:solidFill>
                <a:effectLst/>
                <a:uLnTx/>
                <a:uFillTx/>
                <a:latin typeface="Calibri"/>
                <a:ea typeface="+mn-ea"/>
                <a:cs typeface="+mn-cs"/>
              </a:endParaRPr>
            </a:p>
          </p:txBody>
        </p:sp>
        <p:grpSp>
          <p:nvGrpSpPr>
            <p:cNvPr id="69" name="Group 68">
              <a:extLst>
                <a:ext uri="{FF2B5EF4-FFF2-40B4-BE49-F238E27FC236}">
                  <a16:creationId xmlns:a16="http://schemas.microsoft.com/office/drawing/2014/main" id="{2846A9B6-F317-BAA0-C433-63129EEB32DF}"/>
                </a:ext>
              </a:extLst>
            </p:cNvPr>
            <p:cNvGrpSpPr/>
            <p:nvPr/>
          </p:nvGrpSpPr>
          <p:grpSpPr>
            <a:xfrm>
              <a:off x="8183532" y="5403716"/>
              <a:ext cx="1118046" cy="364665"/>
              <a:chOff x="3254074" y="5474028"/>
              <a:chExt cx="989092" cy="364665"/>
            </a:xfrm>
          </p:grpSpPr>
          <p:sp>
            <p:nvSpPr>
              <p:cNvPr id="70" name="Rectangle: Rounded Corners 69">
                <a:extLst>
                  <a:ext uri="{FF2B5EF4-FFF2-40B4-BE49-F238E27FC236}">
                    <a16:creationId xmlns:a16="http://schemas.microsoft.com/office/drawing/2014/main" id="{C68589AB-E5AB-1A5B-0F35-288F70270AD5}"/>
                  </a:ext>
                </a:extLst>
              </p:cNvPr>
              <p:cNvSpPr/>
              <p:nvPr/>
            </p:nvSpPr>
            <p:spPr bwMode="gray">
              <a:xfrm>
                <a:off x="3376910" y="5474028"/>
                <a:ext cx="759186" cy="364665"/>
              </a:xfrm>
              <a:prstGeom prst="roundRect">
                <a:avLst>
                  <a:gd name="adj" fmla="val 50000"/>
                </a:avLst>
              </a:prstGeom>
              <a:solidFill>
                <a:srgbClr val="2394D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1" name="Rectangle 70">
                <a:extLst>
                  <a:ext uri="{FF2B5EF4-FFF2-40B4-BE49-F238E27FC236}">
                    <a16:creationId xmlns:a16="http://schemas.microsoft.com/office/drawing/2014/main" id="{1CECF233-B454-A898-A48D-8C70AADBB473}"/>
                  </a:ext>
                </a:extLst>
              </p:cNvPr>
              <p:cNvSpPr/>
              <p:nvPr/>
            </p:nvSpPr>
            <p:spPr>
              <a:xfrm>
                <a:off x="3254074" y="5548638"/>
                <a:ext cx="989092" cy="21544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Save as Draft</a:t>
                </a:r>
              </a:p>
            </p:txBody>
          </p:sp>
        </p:grpSp>
        <p:grpSp>
          <p:nvGrpSpPr>
            <p:cNvPr id="5" name="Group 4">
              <a:extLst>
                <a:ext uri="{FF2B5EF4-FFF2-40B4-BE49-F238E27FC236}">
                  <a16:creationId xmlns:a16="http://schemas.microsoft.com/office/drawing/2014/main" id="{8FF54BB5-DC66-006C-8D35-1BB5FD73ADD0}"/>
                </a:ext>
              </a:extLst>
            </p:cNvPr>
            <p:cNvGrpSpPr/>
            <p:nvPr/>
          </p:nvGrpSpPr>
          <p:grpSpPr>
            <a:xfrm>
              <a:off x="7568833" y="803693"/>
              <a:ext cx="2451249" cy="326502"/>
              <a:chOff x="7568833" y="803693"/>
              <a:chExt cx="2451249" cy="326502"/>
            </a:xfrm>
          </p:grpSpPr>
          <p:pic>
            <p:nvPicPr>
              <p:cNvPr id="7" name="Picture 6" descr="A black background with a black square&#10;&#10;Description automatically generated with medium confidence">
                <a:extLst>
                  <a:ext uri="{FF2B5EF4-FFF2-40B4-BE49-F238E27FC236}">
                    <a16:creationId xmlns:a16="http://schemas.microsoft.com/office/drawing/2014/main" id="{4BBC56E8-C128-FA27-40BD-40B56D16A3C8}"/>
                  </a:ext>
                </a:extLst>
              </p:cNvPr>
              <p:cNvPicPr>
                <a:picLocks noChangeAspect="1"/>
              </p:cNvPicPr>
              <p:nvPr/>
            </p:nvPicPr>
            <p:blipFill rotWithShape="1">
              <a:blip r:embed="rId11">
                <a:extLst>
                  <a:ext uri="{28A0092B-C50C-407E-A947-70E740481C1C}">
                    <a14:useLocalDpi xmlns:a14="http://schemas.microsoft.com/office/drawing/2010/main" val="0"/>
                  </a:ext>
                </a:extLst>
              </a:blip>
              <a:srcRect l="30882" r="30406"/>
              <a:stretch/>
            </p:blipFill>
            <p:spPr>
              <a:xfrm>
                <a:off x="9962862" y="905770"/>
                <a:ext cx="57220" cy="147810"/>
              </a:xfrm>
              <a:prstGeom prst="rect">
                <a:avLst/>
              </a:prstGeom>
            </p:spPr>
          </p:pic>
          <p:grpSp>
            <p:nvGrpSpPr>
              <p:cNvPr id="8" name="Group 7">
                <a:extLst>
                  <a:ext uri="{FF2B5EF4-FFF2-40B4-BE49-F238E27FC236}">
                    <a16:creationId xmlns:a16="http://schemas.microsoft.com/office/drawing/2014/main" id="{E5121C61-EF92-9644-2069-A17A2BD980C3}"/>
                  </a:ext>
                </a:extLst>
              </p:cNvPr>
              <p:cNvGrpSpPr/>
              <p:nvPr/>
            </p:nvGrpSpPr>
            <p:grpSpPr>
              <a:xfrm>
                <a:off x="7568833" y="803693"/>
                <a:ext cx="1597094" cy="326502"/>
                <a:chOff x="1700506" y="801618"/>
                <a:chExt cx="1597094" cy="326502"/>
              </a:xfrm>
            </p:grpSpPr>
            <p:sp>
              <p:nvSpPr>
                <p:cNvPr id="9" name="TextBox 8">
                  <a:extLst>
                    <a:ext uri="{FF2B5EF4-FFF2-40B4-BE49-F238E27FC236}">
                      <a16:creationId xmlns:a16="http://schemas.microsoft.com/office/drawing/2014/main" id="{40EA0F84-63E3-B036-2B6D-F8D9412E321A}"/>
                    </a:ext>
                  </a:extLst>
                </p:cNvPr>
                <p:cNvSpPr txBox="1"/>
                <p:nvPr/>
              </p:nvSpPr>
              <p:spPr>
                <a:xfrm>
                  <a:off x="1956726" y="820343"/>
                  <a:ext cx="134087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600" normalizeH="0" baseline="0" noProof="0" dirty="0">
                      <a:ln>
                        <a:noFill/>
                      </a:ln>
                      <a:solidFill>
                        <a:srgbClr val="313131"/>
                      </a:solidFill>
                      <a:effectLst/>
                      <a:uLnTx/>
                      <a:uFillTx/>
                      <a:latin typeface="Impact" panose="020B0806030902050204" pitchFamily="34" charset="0"/>
                      <a:ea typeface="+mn-ea"/>
                      <a:cs typeface="+mn-cs"/>
                    </a:rPr>
                    <a:t>INSITE</a:t>
                  </a:r>
                </a:p>
              </p:txBody>
            </p:sp>
            <p:sp>
              <p:nvSpPr>
                <p:cNvPr id="12" name="Freeform: Shape 11">
                  <a:extLst>
                    <a:ext uri="{FF2B5EF4-FFF2-40B4-BE49-F238E27FC236}">
                      <a16:creationId xmlns:a16="http://schemas.microsoft.com/office/drawing/2014/main" id="{FC0C52E0-E793-95D1-8768-1E848BFEB491}"/>
                    </a:ext>
                  </a:extLst>
                </p:cNvPr>
                <p:cNvSpPr/>
                <p:nvPr/>
              </p:nvSpPr>
              <p:spPr bwMode="gray">
                <a:xfrm rot="8100000">
                  <a:off x="1700506" y="801618"/>
                  <a:ext cx="255513" cy="262376"/>
                </a:xfrm>
                <a:custGeom>
                  <a:avLst/>
                  <a:gdLst>
                    <a:gd name="connsiteX0" fmla="*/ 652514 w 978388"/>
                    <a:gd name="connsiteY0" fmla="*/ 311418 h 978461"/>
                    <a:gd name="connsiteX1" fmla="*/ 578783 w 978388"/>
                    <a:gd name="connsiteY1" fmla="*/ 0 h 978461"/>
                    <a:gd name="connsiteX2" fmla="*/ 975875 w 978388"/>
                    <a:gd name="connsiteY2" fmla="*/ 2586 h 978461"/>
                    <a:gd name="connsiteX3" fmla="*/ 978388 w 978388"/>
                    <a:gd name="connsiteY3" fmla="*/ 388571 h 978461"/>
                    <a:gd name="connsiteX4" fmla="*/ 365753 w 978388"/>
                    <a:gd name="connsiteY4" fmla="*/ 440187 h 978461"/>
                    <a:gd name="connsiteX5" fmla="*/ 273707 w 978388"/>
                    <a:gd name="connsiteY5" fmla="*/ 51409 h 978461"/>
                    <a:gd name="connsiteX6" fmla="*/ 310026 w 978388"/>
                    <a:gd name="connsiteY6" fmla="*/ 33374 h 978461"/>
                    <a:gd name="connsiteX7" fmla="*/ 390866 w 978388"/>
                    <a:gd name="connsiteY7" fmla="*/ 9364 h 978461"/>
                    <a:gd name="connsiteX8" fmla="*/ 471958 w 978388"/>
                    <a:gd name="connsiteY8" fmla="*/ 1189 h 978461"/>
                    <a:gd name="connsiteX9" fmla="*/ 565912 w 978388"/>
                    <a:gd name="connsiteY9" fmla="*/ 398021 h 978461"/>
                    <a:gd name="connsiteX10" fmla="*/ 978363 w 978388"/>
                    <a:gd name="connsiteY10" fmla="*/ 495672 h 978461"/>
                    <a:gd name="connsiteX11" fmla="*/ 969097 w 978388"/>
                    <a:gd name="connsiteY11" fmla="*/ 587595 h 978461"/>
                    <a:gd name="connsiteX12" fmla="*/ 945087 w 978388"/>
                    <a:gd name="connsiteY12" fmla="*/ 668435 h 978461"/>
                    <a:gd name="connsiteX13" fmla="*/ 927052 w 978388"/>
                    <a:gd name="connsiteY13" fmla="*/ 704754 h 978461"/>
                    <a:gd name="connsiteX14" fmla="*/ 538465 w 978388"/>
                    <a:gd name="connsiteY14" fmla="*/ 612753 h 978461"/>
                    <a:gd name="connsiteX15" fmla="*/ 544594 w 978388"/>
                    <a:gd name="connsiteY15" fmla="*/ 581251 h 978461"/>
                    <a:gd name="connsiteX16" fmla="*/ 501475 w 978388"/>
                    <a:gd name="connsiteY16" fmla="*/ 477153 h 978461"/>
                    <a:gd name="connsiteX17" fmla="*/ 397377 w 978388"/>
                    <a:gd name="connsiteY17" fmla="*/ 434034 h 978461"/>
                    <a:gd name="connsiteX18" fmla="*/ 336040 w 978388"/>
                    <a:gd name="connsiteY18" fmla="*/ 641445 h 978461"/>
                    <a:gd name="connsiteX19" fmla="*/ 336040 w 978388"/>
                    <a:gd name="connsiteY19" fmla="*/ 520720 h 978461"/>
                    <a:gd name="connsiteX20" fmla="*/ 456766 w 978388"/>
                    <a:gd name="connsiteY20" fmla="*/ 520720 h 978461"/>
                    <a:gd name="connsiteX21" fmla="*/ 456766 w 978388"/>
                    <a:gd name="connsiteY21" fmla="*/ 641445 h 978461"/>
                    <a:gd name="connsiteX22" fmla="*/ 336040 w 978388"/>
                    <a:gd name="connsiteY22" fmla="*/ 641445 h 978461"/>
                    <a:gd name="connsiteX23" fmla="*/ 143377 w 978388"/>
                    <a:gd name="connsiteY23" fmla="*/ 835084 h 978461"/>
                    <a:gd name="connsiteX24" fmla="*/ 0 w 978388"/>
                    <a:gd name="connsiteY24" fmla="*/ 488940 h 978461"/>
                    <a:gd name="connsiteX25" fmla="*/ 169166 w 978388"/>
                    <a:gd name="connsiteY25" fmla="*/ 118790 h 978461"/>
                    <a:gd name="connsiteX26" fmla="*/ 180582 w 978388"/>
                    <a:gd name="connsiteY26" fmla="*/ 110466 h 978461"/>
                    <a:gd name="connsiteX27" fmla="*/ 274200 w 978388"/>
                    <a:gd name="connsiteY27" fmla="*/ 505884 h 978461"/>
                    <a:gd name="connsiteX28" fmla="*/ 260940 w 978388"/>
                    <a:gd name="connsiteY28" fmla="*/ 525853 h 978461"/>
                    <a:gd name="connsiteX29" fmla="*/ 293279 w 978388"/>
                    <a:gd name="connsiteY29" fmla="*/ 685349 h 978461"/>
                    <a:gd name="connsiteX30" fmla="*/ 452775 w 978388"/>
                    <a:gd name="connsiteY30" fmla="*/ 717688 h 978461"/>
                    <a:gd name="connsiteX31" fmla="*/ 472887 w 978388"/>
                    <a:gd name="connsiteY31" fmla="*/ 704333 h 978461"/>
                    <a:gd name="connsiteX32" fmla="*/ 867995 w 978388"/>
                    <a:gd name="connsiteY32" fmla="*/ 797879 h 978461"/>
                    <a:gd name="connsiteX33" fmla="*/ 859671 w 978388"/>
                    <a:gd name="connsiteY33" fmla="*/ 809295 h 978461"/>
                    <a:gd name="connsiteX34" fmla="*/ 489521 w 978388"/>
                    <a:gd name="connsiteY34" fmla="*/ 978461 h 978461"/>
                    <a:gd name="connsiteX35" fmla="*/ 143377 w 978388"/>
                    <a:gd name="connsiteY35" fmla="*/ 835084 h 97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78388" h="978461">
                      <a:moveTo>
                        <a:pt x="652514" y="311418"/>
                      </a:moveTo>
                      <a:lnTo>
                        <a:pt x="578783" y="0"/>
                      </a:lnTo>
                      <a:lnTo>
                        <a:pt x="975875" y="2586"/>
                      </a:lnTo>
                      <a:lnTo>
                        <a:pt x="978388" y="388571"/>
                      </a:lnTo>
                      <a:close/>
                      <a:moveTo>
                        <a:pt x="365753" y="440187"/>
                      </a:moveTo>
                      <a:lnTo>
                        <a:pt x="273707" y="51409"/>
                      </a:lnTo>
                      <a:lnTo>
                        <a:pt x="310026" y="33374"/>
                      </a:lnTo>
                      <a:cubicBezTo>
                        <a:pt x="335962" y="23147"/>
                        <a:pt x="362982" y="15070"/>
                        <a:pt x="390866" y="9364"/>
                      </a:cubicBezTo>
                      <a:lnTo>
                        <a:pt x="471958" y="1189"/>
                      </a:lnTo>
                      <a:lnTo>
                        <a:pt x="565912" y="398021"/>
                      </a:lnTo>
                      <a:lnTo>
                        <a:pt x="978363" y="495672"/>
                      </a:lnTo>
                      <a:lnTo>
                        <a:pt x="969097" y="587595"/>
                      </a:lnTo>
                      <a:cubicBezTo>
                        <a:pt x="963391" y="615479"/>
                        <a:pt x="955314" y="642499"/>
                        <a:pt x="945087" y="668435"/>
                      </a:cubicBezTo>
                      <a:lnTo>
                        <a:pt x="927052" y="704754"/>
                      </a:lnTo>
                      <a:lnTo>
                        <a:pt x="538465" y="612753"/>
                      </a:lnTo>
                      <a:lnTo>
                        <a:pt x="544594" y="581251"/>
                      </a:lnTo>
                      <a:cubicBezTo>
                        <a:pt x="544594" y="543575"/>
                        <a:pt x="530221" y="505899"/>
                        <a:pt x="501475" y="477153"/>
                      </a:cubicBezTo>
                      <a:cubicBezTo>
                        <a:pt x="472729" y="448407"/>
                        <a:pt x="435053" y="434034"/>
                        <a:pt x="397377" y="434034"/>
                      </a:cubicBezTo>
                      <a:close/>
                      <a:moveTo>
                        <a:pt x="336040" y="641445"/>
                      </a:moveTo>
                      <a:cubicBezTo>
                        <a:pt x="302703" y="608108"/>
                        <a:pt x="302703" y="554057"/>
                        <a:pt x="336040" y="520720"/>
                      </a:cubicBezTo>
                      <a:cubicBezTo>
                        <a:pt x="369377" y="487382"/>
                        <a:pt x="423428" y="487382"/>
                        <a:pt x="456766" y="520720"/>
                      </a:cubicBezTo>
                      <a:cubicBezTo>
                        <a:pt x="490103" y="554057"/>
                        <a:pt x="490103" y="608108"/>
                        <a:pt x="456766" y="641445"/>
                      </a:cubicBezTo>
                      <a:cubicBezTo>
                        <a:pt x="423428" y="674783"/>
                        <a:pt x="369377" y="674783"/>
                        <a:pt x="336040" y="641445"/>
                      </a:cubicBezTo>
                      <a:close/>
                      <a:moveTo>
                        <a:pt x="143377" y="835084"/>
                      </a:moveTo>
                      <a:cubicBezTo>
                        <a:pt x="54791" y="746497"/>
                        <a:pt x="0" y="624117"/>
                        <a:pt x="0" y="488940"/>
                      </a:cubicBezTo>
                      <a:cubicBezTo>
                        <a:pt x="0" y="341089"/>
                        <a:pt x="65546" y="208548"/>
                        <a:pt x="169166" y="118790"/>
                      </a:cubicBezTo>
                      <a:lnTo>
                        <a:pt x="180582" y="110466"/>
                      </a:lnTo>
                      <a:lnTo>
                        <a:pt x="274200" y="505884"/>
                      </a:lnTo>
                      <a:lnTo>
                        <a:pt x="260940" y="525853"/>
                      </a:lnTo>
                      <a:cubicBezTo>
                        <a:pt x="239381" y="579019"/>
                        <a:pt x="250160" y="642230"/>
                        <a:pt x="293279" y="685349"/>
                      </a:cubicBezTo>
                      <a:cubicBezTo>
                        <a:pt x="336398" y="728468"/>
                        <a:pt x="399610" y="739248"/>
                        <a:pt x="452775" y="717688"/>
                      </a:cubicBezTo>
                      <a:lnTo>
                        <a:pt x="472887" y="704333"/>
                      </a:lnTo>
                      <a:lnTo>
                        <a:pt x="867995" y="797879"/>
                      </a:lnTo>
                      <a:lnTo>
                        <a:pt x="859671" y="809295"/>
                      </a:lnTo>
                      <a:cubicBezTo>
                        <a:pt x="769913" y="912915"/>
                        <a:pt x="637372" y="978461"/>
                        <a:pt x="489521" y="978461"/>
                      </a:cubicBezTo>
                      <a:cubicBezTo>
                        <a:pt x="354344" y="978461"/>
                        <a:pt x="231963" y="923669"/>
                        <a:pt x="143377" y="835084"/>
                      </a:cubicBezTo>
                      <a:close/>
                    </a:path>
                  </a:pathLst>
                </a:custGeom>
                <a:solidFill>
                  <a:srgbClr val="86BC25"/>
                </a:solid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grpSp>
        <p:nvGrpSpPr>
          <p:cNvPr id="33" name="Group 32">
            <a:extLst>
              <a:ext uri="{FF2B5EF4-FFF2-40B4-BE49-F238E27FC236}">
                <a16:creationId xmlns:a16="http://schemas.microsoft.com/office/drawing/2014/main" id="{0D2C9621-C26F-7DFA-E18F-BCF205AA3962}"/>
              </a:ext>
            </a:extLst>
          </p:cNvPr>
          <p:cNvGrpSpPr/>
          <p:nvPr/>
        </p:nvGrpSpPr>
        <p:grpSpPr>
          <a:xfrm>
            <a:off x="572289" y="80488"/>
            <a:ext cx="5058205" cy="6773224"/>
            <a:chOff x="811450" y="84776"/>
            <a:chExt cx="5058205" cy="6773224"/>
          </a:xfrm>
        </p:grpSpPr>
        <p:grpSp>
          <p:nvGrpSpPr>
            <p:cNvPr id="4" name="Group 3">
              <a:extLst>
                <a:ext uri="{FF2B5EF4-FFF2-40B4-BE49-F238E27FC236}">
                  <a16:creationId xmlns:a16="http://schemas.microsoft.com/office/drawing/2014/main" id="{39CF9AFC-7ED3-F487-67B7-D0A3D978A5E1}"/>
                </a:ext>
              </a:extLst>
            </p:cNvPr>
            <p:cNvGrpSpPr/>
            <p:nvPr/>
          </p:nvGrpSpPr>
          <p:grpSpPr>
            <a:xfrm>
              <a:off x="811450" y="84776"/>
              <a:ext cx="5058205" cy="6773224"/>
              <a:chOff x="3713676" y="84776"/>
              <a:chExt cx="5058205" cy="6773224"/>
            </a:xfrm>
          </p:grpSpPr>
          <p:pic>
            <p:nvPicPr>
              <p:cNvPr id="2" name="Picture 1" descr="A hand holding a cell phone&#10;&#10;Description automatically generated">
                <a:extLst>
                  <a:ext uri="{FF2B5EF4-FFF2-40B4-BE49-F238E27FC236}">
                    <a16:creationId xmlns:a16="http://schemas.microsoft.com/office/drawing/2014/main" id="{155CD50C-17AA-B371-B3A8-E4CAA227C4A2}"/>
                  </a:ext>
                </a:extLst>
              </p:cNvPr>
              <p:cNvPicPr>
                <a:picLocks noChangeAspect="1"/>
              </p:cNvPicPr>
              <p:nvPr/>
            </p:nvPicPr>
            <p:blipFill rotWithShape="1">
              <a:blip r:embed="rId2">
                <a:extLst>
                  <a:ext uri="{28A0092B-C50C-407E-A947-70E740481C1C}">
                    <a14:useLocalDpi xmlns:a14="http://schemas.microsoft.com/office/drawing/2010/main" val="0"/>
                  </a:ext>
                </a:extLst>
              </a:blip>
              <a:srcRect b="10283"/>
              <a:stretch/>
            </p:blipFill>
            <p:spPr>
              <a:xfrm>
                <a:off x="3713676" y="84776"/>
                <a:ext cx="5058205" cy="6773224"/>
              </a:xfrm>
              <a:prstGeom prst="rect">
                <a:avLst/>
              </a:prstGeom>
              <a:noFill/>
            </p:spPr>
          </p:pic>
          <p:sp>
            <p:nvSpPr>
              <p:cNvPr id="3" name="Rectangle 2">
                <a:extLst>
                  <a:ext uri="{FF2B5EF4-FFF2-40B4-BE49-F238E27FC236}">
                    <a16:creationId xmlns:a16="http://schemas.microsoft.com/office/drawing/2014/main" id="{A6FA85A1-C274-102B-46EB-B6E565C26A20}"/>
                  </a:ext>
                </a:extLst>
              </p:cNvPr>
              <p:cNvSpPr/>
              <p:nvPr/>
            </p:nvSpPr>
            <p:spPr bwMode="gray">
              <a:xfrm>
                <a:off x="4727542" y="6047295"/>
                <a:ext cx="2172879" cy="263950"/>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1" name="Rectangle: Top Corners Rounded 10">
              <a:extLst>
                <a:ext uri="{FF2B5EF4-FFF2-40B4-BE49-F238E27FC236}">
                  <a16:creationId xmlns:a16="http://schemas.microsoft.com/office/drawing/2014/main" id="{AE93FB3A-5A9D-E1EB-4536-877A5CCCC1AD}"/>
                </a:ext>
              </a:extLst>
            </p:cNvPr>
            <p:cNvSpPr/>
            <p:nvPr/>
          </p:nvSpPr>
          <p:spPr bwMode="gray">
            <a:xfrm>
              <a:off x="1504334" y="402648"/>
              <a:ext cx="2828413" cy="263950"/>
            </a:xfrm>
            <a:prstGeom prst="round2Same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pic>
          <p:nvPicPr>
            <p:cNvPr id="115" name="Picture 114" descr="A black background with a black square&#10;&#10;Description automatically generated with medium confidence">
              <a:extLst>
                <a:ext uri="{FF2B5EF4-FFF2-40B4-BE49-F238E27FC236}">
                  <a16:creationId xmlns:a16="http://schemas.microsoft.com/office/drawing/2014/main" id="{5B959873-0806-CBB1-4C6F-33AB5E7D7D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1591808" y="1316073"/>
              <a:ext cx="136837" cy="136837"/>
            </a:xfrm>
            <a:prstGeom prst="rect">
              <a:avLst/>
            </a:prstGeom>
          </p:spPr>
        </p:pic>
        <p:sp>
          <p:nvSpPr>
            <p:cNvPr id="135" name="Rectangle 134">
              <a:extLst>
                <a:ext uri="{FF2B5EF4-FFF2-40B4-BE49-F238E27FC236}">
                  <a16:creationId xmlns:a16="http://schemas.microsoft.com/office/drawing/2014/main" id="{0CB9CE6A-6182-7260-E1CD-76A997FF7451}"/>
                </a:ext>
              </a:extLst>
            </p:cNvPr>
            <p:cNvSpPr/>
            <p:nvPr/>
          </p:nvSpPr>
          <p:spPr>
            <a:xfrm>
              <a:off x="2503989" y="1549530"/>
              <a:ext cx="916972" cy="390146"/>
            </a:xfrm>
            <a:prstGeom prst="rect">
              <a:avLst/>
            </a:prstGeom>
            <a:solidFill>
              <a:srgbClr val="63E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36" name="Group 135">
              <a:extLst>
                <a:ext uri="{FF2B5EF4-FFF2-40B4-BE49-F238E27FC236}">
                  <a16:creationId xmlns:a16="http://schemas.microsoft.com/office/drawing/2014/main" id="{A57DEA42-23A5-AF1D-FE14-9460703C11CA}"/>
                </a:ext>
              </a:extLst>
            </p:cNvPr>
            <p:cNvGrpSpPr/>
            <p:nvPr/>
          </p:nvGrpSpPr>
          <p:grpSpPr>
            <a:xfrm>
              <a:off x="1515053" y="1549530"/>
              <a:ext cx="2842667" cy="400612"/>
              <a:chOff x="7409677" y="1549530"/>
              <a:chExt cx="2842667" cy="400612"/>
            </a:xfrm>
          </p:grpSpPr>
          <p:sp>
            <p:nvSpPr>
              <p:cNvPr id="117" name="Rectangle 116">
                <a:extLst>
                  <a:ext uri="{FF2B5EF4-FFF2-40B4-BE49-F238E27FC236}">
                    <a16:creationId xmlns:a16="http://schemas.microsoft.com/office/drawing/2014/main" id="{8C0EC9EC-07B3-6F87-9FE0-ABC26C0B7AFA}"/>
                  </a:ext>
                </a:extLst>
              </p:cNvPr>
              <p:cNvSpPr/>
              <p:nvPr/>
            </p:nvSpPr>
            <p:spPr>
              <a:xfrm>
                <a:off x="7409677" y="1549530"/>
                <a:ext cx="2784442" cy="400612"/>
              </a:xfrm>
              <a:prstGeom prst="rect">
                <a:avLst/>
              </a:prstGeom>
              <a:solidFill>
                <a:srgbClr val="EAEAEA">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9" name="Picture 118" descr="A black background with a black square&#10;&#10;Description automatically generated with medium confidence">
                <a:extLst>
                  <a:ext uri="{FF2B5EF4-FFF2-40B4-BE49-F238E27FC236}">
                    <a16:creationId xmlns:a16="http://schemas.microsoft.com/office/drawing/2014/main" id="{344F7637-7506-2AC9-D085-E100690E79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7838210" y="1607518"/>
                <a:ext cx="123649" cy="123649"/>
              </a:xfrm>
              <a:prstGeom prst="rect">
                <a:avLst/>
              </a:prstGeom>
            </p:spPr>
          </p:pic>
          <p:sp>
            <p:nvSpPr>
              <p:cNvPr id="120" name="Rectangle 119">
                <a:extLst>
                  <a:ext uri="{FF2B5EF4-FFF2-40B4-BE49-F238E27FC236}">
                    <a16:creationId xmlns:a16="http://schemas.microsoft.com/office/drawing/2014/main" id="{2B34BA90-856E-C7FD-526D-9CE4AC8872A1}"/>
                  </a:ext>
                </a:extLst>
              </p:cNvPr>
              <p:cNvSpPr/>
              <p:nvPr/>
            </p:nvSpPr>
            <p:spPr>
              <a:xfrm>
                <a:off x="7437841" y="1739672"/>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Office &amp; Location</a:t>
                </a:r>
              </a:p>
            </p:txBody>
          </p:sp>
          <p:cxnSp>
            <p:nvCxnSpPr>
              <p:cNvPr id="122" name="Straight Connector 121">
                <a:extLst>
                  <a:ext uri="{FF2B5EF4-FFF2-40B4-BE49-F238E27FC236}">
                    <a16:creationId xmlns:a16="http://schemas.microsoft.com/office/drawing/2014/main" id="{094D5FEC-EC2B-7804-54D9-16A3C8D49E02}"/>
                  </a:ext>
                </a:extLst>
              </p:cNvPr>
              <p:cNvCxnSpPr/>
              <p:nvPr/>
            </p:nvCxnSpPr>
            <p:spPr>
              <a:xfrm>
                <a:off x="8385539" y="1615729"/>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4" name="Rectangle 123">
                <a:extLst>
                  <a:ext uri="{FF2B5EF4-FFF2-40B4-BE49-F238E27FC236}">
                    <a16:creationId xmlns:a16="http://schemas.microsoft.com/office/drawing/2014/main" id="{44DB1D5F-624C-1A87-7531-249EFBB48B21}"/>
                  </a:ext>
                </a:extLst>
              </p:cNvPr>
              <p:cNvSpPr/>
              <p:nvPr/>
            </p:nvSpPr>
            <p:spPr>
              <a:xfrm>
                <a:off x="8369854"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Asset Details</a:t>
                </a:r>
              </a:p>
            </p:txBody>
          </p:sp>
          <p:sp>
            <p:nvSpPr>
              <p:cNvPr id="126" name="Rectangle 125">
                <a:extLst>
                  <a:ext uri="{FF2B5EF4-FFF2-40B4-BE49-F238E27FC236}">
                    <a16:creationId xmlns:a16="http://schemas.microsoft.com/office/drawing/2014/main" id="{C32E9665-1D3D-EE49-556E-18D02F999085}"/>
                  </a:ext>
                </a:extLst>
              </p:cNvPr>
              <p:cNvSpPr/>
              <p:nvPr/>
            </p:nvSpPr>
            <p:spPr>
              <a:xfrm>
                <a:off x="9295615" y="1739621"/>
                <a:ext cx="956729"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Photos</a:t>
                </a:r>
              </a:p>
            </p:txBody>
          </p:sp>
          <p:cxnSp>
            <p:nvCxnSpPr>
              <p:cNvPr id="127" name="Straight Connector 126">
                <a:extLst>
                  <a:ext uri="{FF2B5EF4-FFF2-40B4-BE49-F238E27FC236}">
                    <a16:creationId xmlns:a16="http://schemas.microsoft.com/office/drawing/2014/main" id="{A0E9AEF2-383E-11CA-4D81-582761198566}"/>
                  </a:ext>
                </a:extLst>
              </p:cNvPr>
              <p:cNvCxnSpPr/>
              <p:nvPr/>
            </p:nvCxnSpPr>
            <p:spPr>
              <a:xfrm>
                <a:off x="9305319" y="1619660"/>
                <a:ext cx="0" cy="2713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31" name="Picture 130" descr="A black background with a black square&#10;&#10;Description automatically generated with medium confidence">
                <a:extLst>
                  <a:ext uri="{FF2B5EF4-FFF2-40B4-BE49-F238E27FC236}">
                    <a16:creationId xmlns:a16="http://schemas.microsoft.com/office/drawing/2014/main" id="{486975BF-45FD-7D2D-C23D-097B6B11BD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2733" y="1606972"/>
                <a:ext cx="137535" cy="137535"/>
              </a:xfrm>
              <a:prstGeom prst="rect">
                <a:avLst/>
              </a:prstGeom>
            </p:spPr>
          </p:pic>
          <p:pic>
            <p:nvPicPr>
              <p:cNvPr id="133" name="Picture 132" descr="A black background with a black square&#10;&#10;Description automatically generated with medium confidence">
                <a:extLst>
                  <a:ext uri="{FF2B5EF4-FFF2-40B4-BE49-F238E27FC236}">
                    <a16:creationId xmlns:a16="http://schemas.microsoft.com/office/drawing/2014/main" id="{0620C873-814F-0AF2-2C00-A020C29390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27782" y="1615331"/>
                <a:ext cx="127162" cy="127162"/>
              </a:xfrm>
              <a:prstGeom prst="rect">
                <a:avLst/>
              </a:prstGeom>
            </p:spPr>
          </p:pic>
        </p:grpSp>
        <p:sp>
          <p:nvSpPr>
            <p:cNvPr id="134" name="Rectangle 133">
              <a:extLst>
                <a:ext uri="{FF2B5EF4-FFF2-40B4-BE49-F238E27FC236}">
                  <a16:creationId xmlns:a16="http://schemas.microsoft.com/office/drawing/2014/main" id="{2043740B-EFA5-0C81-05AA-4E69A7E61F16}"/>
                </a:ext>
              </a:extLst>
            </p:cNvPr>
            <p:cNvSpPr/>
            <p:nvPr/>
          </p:nvSpPr>
          <p:spPr>
            <a:xfrm>
              <a:off x="2444262" y="1278802"/>
              <a:ext cx="956729"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ADD ASSET</a:t>
              </a:r>
            </a:p>
          </p:txBody>
        </p:sp>
        <p:cxnSp>
          <p:nvCxnSpPr>
            <p:cNvPr id="24" name="Straight Connector 23">
              <a:extLst>
                <a:ext uri="{FF2B5EF4-FFF2-40B4-BE49-F238E27FC236}">
                  <a16:creationId xmlns:a16="http://schemas.microsoft.com/office/drawing/2014/main" id="{8D943653-4EDB-6A47-EC8B-0770CA9C679F}"/>
                </a:ext>
              </a:extLst>
            </p:cNvPr>
            <p:cNvCxnSpPr/>
            <p:nvPr/>
          </p:nvCxnSpPr>
          <p:spPr>
            <a:xfrm>
              <a:off x="2286223" y="5869866"/>
              <a:ext cx="1226127" cy="0"/>
            </a:xfrm>
            <a:prstGeom prst="line">
              <a:avLst/>
            </a:prstGeom>
            <a:ln w="12700" cap="rnd">
              <a:solidFill>
                <a:schemeClr val="tx2">
                  <a:alpha val="28000"/>
                </a:schemeClr>
              </a:solidFill>
              <a:round/>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250970A6-22CC-DAFE-1F16-2F31A99694B0}"/>
                </a:ext>
              </a:extLst>
            </p:cNvPr>
            <p:cNvGrpSpPr/>
            <p:nvPr/>
          </p:nvGrpSpPr>
          <p:grpSpPr>
            <a:xfrm>
              <a:off x="1560225" y="2195835"/>
              <a:ext cx="2615767" cy="3112631"/>
              <a:chOff x="7445789" y="2913053"/>
              <a:chExt cx="2615767" cy="3112631"/>
            </a:xfrm>
          </p:grpSpPr>
          <p:sp>
            <p:nvSpPr>
              <p:cNvPr id="16" name="Rectangle: Rounded Corners 15">
                <a:extLst>
                  <a:ext uri="{FF2B5EF4-FFF2-40B4-BE49-F238E27FC236}">
                    <a16:creationId xmlns:a16="http://schemas.microsoft.com/office/drawing/2014/main" id="{DA68705D-97D7-E3EF-B518-E7D917C5626A}"/>
                  </a:ext>
                </a:extLst>
              </p:cNvPr>
              <p:cNvSpPr/>
              <p:nvPr/>
            </p:nvSpPr>
            <p:spPr bwMode="gray">
              <a:xfrm>
                <a:off x="7512044" y="3124740"/>
                <a:ext cx="2516202"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418AECD9-9A05-BF8A-C3C1-C85014D5D013}"/>
                  </a:ext>
                </a:extLst>
              </p:cNvPr>
              <p:cNvSpPr/>
              <p:nvPr/>
            </p:nvSpPr>
            <p:spPr>
              <a:xfrm>
                <a:off x="7445789" y="2913053"/>
                <a:ext cx="14520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Total Cost of Asset</a:t>
                </a:r>
              </a:p>
            </p:txBody>
          </p:sp>
          <p:sp>
            <p:nvSpPr>
              <p:cNvPr id="19" name="Rectangle: Rounded Corners 18">
                <a:extLst>
                  <a:ext uri="{FF2B5EF4-FFF2-40B4-BE49-F238E27FC236}">
                    <a16:creationId xmlns:a16="http://schemas.microsoft.com/office/drawing/2014/main" id="{F1E166EA-D1CF-00AF-2BA1-A5345654A8D6}"/>
                  </a:ext>
                </a:extLst>
              </p:cNvPr>
              <p:cNvSpPr/>
              <p:nvPr/>
            </p:nvSpPr>
            <p:spPr bwMode="gray">
              <a:xfrm>
                <a:off x="7516903" y="4008380"/>
                <a:ext cx="2511343"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Rounded Corners 19">
                <a:extLst>
                  <a:ext uri="{FF2B5EF4-FFF2-40B4-BE49-F238E27FC236}">
                    <a16:creationId xmlns:a16="http://schemas.microsoft.com/office/drawing/2014/main" id="{FBB5D9FD-2689-C809-85C1-23C4C89FED72}"/>
                  </a:ext>
                </a:extLst>
              </p:cNvPr>
              <p:cNvSpPr/>
              <p:nvPr/>
            </p:nvSpPr>
            <p:spPr bwMode="gray">
              <a:xfrm>
                <a:off x="7516903" y="4701638"/>
                <a:ext cx="2511343" cy="364665"/>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9E679466-0106-328D-7B8E-DD763026C076}"/>
                  </a:ext>
                </a:extLst>
              </p:cNvPr>
              <p:cNvSpPr/>
              <p:nvPr/>
            </p:nvSpPr>
            <p:spPr>
              <a:xfrm>
                <a:off x="7447844" y="3795218"/>
                <a:ext cx="95672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Running Hours</a:t>
                </a:r>
              </a:p>
            </p:txBody>
          </p:sp>
          <p:sp>
            <p:nvSpPr>
              <p:cNvPr id="22" name="Rectangle 21">
                <a:extLst>
                  <a:ext uri="{FF2B5EF4-FFF2-40B4-BE49-F238E27FC236}">
                    <a16:creationId xmlns:a16="http://schemas.microsoft.com/office/drawing/2014/main" id="{BEEE3ACC-929C-501F-38D9-A67CE118C91B}"/>
                  </a:ext>
                </a:extLst>
              </p:cNvPr>
              <p:cNvSpPr/>
              <p:nvPr/>
            </p:nvSpPr>
            <p:spPr>
              <a:xfrm>
                <a:off x="7450648" y="4489951"/>
                <a:ext cx="1730827"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Last Maintenance Date</a:t>
                </a:r>
              </a:p>
            </p:txBody>
          </p:sp>
          <p:cxnSp>
            <p:nvCxnSpPr>
              <p:cNvPr id="23" name="Straight Connector 22">
                <a:extLst>
                  <a:ext uri="{FF2B5EF4-FFF2-40B4-BE49-F238E27FC236}">
                    <a16:creationId xmlns:a16="http://schemas.microsoft.com/office/drawing/2014/main" id="{1685C0D1-1B96-75FC-D376-6FFFF5E84E29}"/>
                  </a:ext>
                </a:extLst>
              </p:cNvPr>
              <p:cNvCxnSpPr>
                <a:cxnSpLocks/>
              </p:cNvCxnSpPr>
              <p:nvPr/>
            </p:nvCxnSpPr>
            <p:spPr>
              <a:xfrm>
                <a:off x="7525676" y="3665077"/>
                <a:ext cx="2487580" cy="0"/>
              </a:xfrm>
              <a:prstGeom prst="line">
                <a:avLst/>
              </a:prstGeom>
              <a:ln w="12700" cap="rnd">
                <a:solidFill>
                  <a:schemeClr val="tx1">
                    <a:alpha val="27843"/>
                  </a:schemeClr>
                </a:solidFill>
                <a:round/>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3FA714E8-3689-A67E-C23A-6B010119294E}"/>
                  </a:ext>
                </a:extLst>
              </p:cNvPr>
              <p:cNvSpPr/>
              <p:nvPr/>
            </p:nvSpPr>
            <p:spPr bwMode="gray">
              <a:xfrm>
                <a:off x="7550213" y="5427542"/>
                <a:ext cx="2511343" cy="598142"/>
              </a:xfrm>
              <a:prstGeom prst="roundRect">
                <a:avLst>
                  <a:gd name="adj" fmla="val 13794"/>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1668C66F-7371-C279-93A0-E64263701A17}"/>
                  </a:ext>
                </a:extLst>
              </p:cNvPr>
              <p:cNvSpPr/>
              <p:nvPr/>
            </p:nvSpPr>
            <p:spPr>
              <a:xfrm>
                <a:off x="7483958" y="5215855"/>
                <a:ext cx="1730827"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Note</a:t>
                </a:r>
              </a:p>
            </p:txBody>
          </p:sp>
        </p:grpSp>
        <p:grpSp>
          <p:nvGrpSpPr>
            <p:cNvPr id="39" name="Group 38">
              <a:extLst>
                <a:ext uri="{FF2B5EF4-FFF2-40B4-BE49-F238E27FC236}">
                  <a16:creationId xmlns:a16="http://schemas.microsoft.com/office/drawing/2014/main" id="{BD5784EB-0E6F-8493-D526-DE67D6045D16}"/>
                </a:ext>
              </a:extLst>
            </p:cNvPr>
            <p:cNvGrpSpPr/>
            <p:nvPr/>
          </p:nvGrpSpPr>
          <p:grpSpPr>
            <a:xfrm>
              <a:off x="3372244" y="5391524"/>
              <a:ext cx="759186" cy="364665"/>
              <a:chOff x="3376910" y="5474028"/>
              <a:chExt cx="759186" cy="364665"/>
            </a:xfrm>
          </p:grpSpPr>
          <p:sp>
            <p:nvSpPr>
              <p:cNvPr id="40" name="Rectangle: Rounded Corners 39">
                <a:extLst>
                  <a:ext uri="{FF2B5EF4-FFF2-40B4-BE49-F238E27FC236}">
                    <a16:creationId xmlns:a16="http://schemas.microsoft.com/office/drawing/2014/main" id="{111CF3DD-0C99-D391-AC23-62F3B310235A}"/>
                  </a:ext>
                </a:extLst>
              </p:cNvPr>
              <p:cNvSpPr/>
              <p:nvPr/>
            </p:nvSpPr>
            <p:spPr bwMode="gray">
              <a:xfrm>
                <a:off x="3376910" y="5474028"/>
                <a:ext cx="759186" cy="364665"/>
              </a:xfrm>
              <a:prstGeom prst="roundRect">
                <a:avLst>
                  <a:gd name="adj" fmla="val 50000"/>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E5BD121E-B214-5815-3161-2B39F8D8218B}"/>
                  </a:ext>
                </a:extLst>
              </p:cNvPr>
              <p:cNvSpPr/>
              <p:nvPr/>
            </p:nvSpPr>
            <p:spPr>
              <a:xfrm>
                <a:off x="3505865" y="5548638"/>
                <a:ext cx="485509" cy="21544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Next</a:t>
                </a:r>
              </a:p>
            </p:txBody>
          </p:sp>
        </p:grpSp>
        <p:sp>
          <p:nvSpPr>
            <p:cNvPr id="43" name="TextBox 42">
              <a:extLst>
                <a:ext uri="{FF2B5EF4-FFF2-40B4-BE49-F238E27FC236}">
                  <a16:creationId xmlns:a16="http://schemas.microsoft.com/office/drawing/2014/main" id="{B18873D7-0E3D-1E8D-FF49-D6D4A0A7F093}"/>
                </a:ext>
              </a:extLst>
            </p:cNvPr>
            <p:cNvSpPr txBox="1"/>
            <p:nvPr/>
          </p:nvSpPr>
          <p:spPr>
            <a:xfrm>
              <a:off x="1576587" y="5480648"/>
              <a:ext cx="632591" cy="2201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Cancel</a:t>
              </a:r>
              <a:endParaRPr kumimoji="0" lang="en-US" sz="800" b="1"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F62EECF-ADEA-DFFC-881B-5D807C6A6480}"/>
                </a:ext>
              </a:extLst>
            </p:cNvPr>
            <p:cNvGrpSpPr/>
            <p:nvPr/>
          </p:nvGrpSpPr>
          <p:grpSpPr>
            <a:xfrm>
              <a:off x="1669589" y="818171"/>
              <a:ext cx="2451249" cy="326502"/>
              <a:chOff x="7568833" y="803693"/>
              <a:chExt cx="2451249" cy="326502"/>
            </a:xfrm>
          </p:grpSpPr>
          <p:pic>
            <p:nvPicPr>
              <p:cNvPr id="28" name="Picture 27" descr="A black background with a black square&#10;&#10;Description automatically generated with medium confidence">
                <a:extLst>
                  <a:ext uri="{FF2B5EF4-FFF2-40B4-BE49-F238E27FC236}">
                    <a16:creationId xmlns:a16="http://schemas.microsoft.com/office/drawing/2014/main" id="{60828AD8-2839-E8BA-D4A3-B09619C51F31}"/>
                  </a:ext>
                </a:extLst>
              </p:cNvPr>
              <p:cNvPicPr>
                <a:picLocks noChangeAspect="1"/>
              </p:cNvPicPr>
              <p:nvPr/>
            </p:nvPicPr>
            <p:blipFill rotWithShape="1">
              <a:blip r:embed="rId11">
                <a:extLst>
                  <a:ext uri="{28A0092B-C50C-407E-A947-70E740481C1C}">
                    <a14:useLocalDpi xmlns:a14="http://schemas.microsoft.com/office/drawing/2010/main" val="0"/>
                  </a:ext>
                </a:extLst>
              </a:blip>
              <a:srcRect l="30882" r="30406"/>
              <a:stretch/>
            </p:blipFill>
            <p:spPr>
              <a:xfrm>
                <a:off x="9962862" y="905770"/>
                <a:ext cx="57220" cy="147810"/>
              </a:xfrm>
              <a:prstGeom prst="rect">
                <a:avLst/>
              </a:prstGeom>
            </p:spPr>
          </p:pic>
          <p:grpSp>
            <p:nvGrpSpPr>
              <p:cNvPr id="29" name="Group 28">
                <a:extLst>
                  <a:ext uri="{FF2B5EF4-FFF2-40B4-BE49-F238E27FC236}">
                    <a16:creationId xmlns:a16="http://schemas.microsoft.com/office/drawing/2014/main" id="{AB0413FC-8092-1858-68CF-59F3691864C5}"/>
                  </a:ext>
                </a:extLst>
              </p:cNvPr>
              <p:cNvGrpSpPr/>
              <p:nvPr/>
            </p:nvGrpSpPr>
            <p:grpSpPr>
              <a:xfrm>
                <a:off x="7568833" y="803693"/>
                <a:ext cx="1597094" cy="326502"/>
                <a:chOff x="1700506" y="801618"/>
                <a:chExt cx="1597094" cy="326502"/>
              </a:xfrm>
            </p:grpSpPr>
            <p:sp>
              <p:nvSpPr>
                <p:cNvPr id="31" name="TextBox 30">
                  <a:extLst>
                    <a:ext uri="{FF2B5EF4-FFF2-40B4-BE49-F238E27FC236}">
                      <a16:creationId xmlns:a16="http://schemas.microsoft.com/office/drawing/2014/main" id="{0A738DC5-E17A-EAE8-21DA-8EDECD68FC97}"/>
                    </a:ext>
                  </a:extLst>
                </p:cNvPr>
                <p:cNvSpPr txBox="1"/>
                <p:nvPr/>
              </p:nvSpPr>
              <p:spPr>
                <a:xfrm>
                  <a:off x="1956726" y="820343"/>
                  <a:ext cx="134087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600" normalizeH="0" baseline="0" noProof="0" dirty="0">
                      <a:ln>
                        <a:noFill/>
                      </a:ln>
                      <a:solidFill>
                        <a:srgbClr val="313131"/>
                      </a:solidFill>
                      <a:effectLst/>
                      <a:uLnTx/>
                      <a:uFillTx/>
                      <a:latin typeface="Impact" panose="020B0806030902050204" pitchFamily="34" charset="0"/>
                      <a:ea typeface="+mn-ea"/>
                      <a:cs typeface="+mn-cs"/>
                    </a:rPr>
                    <a:t>INSITE</a:t>
                  </a:r>
                </a:p>
              </p:txBody>
            </p:sp>
            <p:sp>
              <p:nvSpPr>
                <p:cNvPr id="32" name="Freeform: Shape 31">
                  <a:extLst>
                    <a:ext uri="{FF2B5EF4-FFF2-40B4-BE49-F238E27FC236}">
                      <a16:creationId xmlns:a16="http://schemas.microsoft.com/office/drawing/2014/main" id="{3EA76E8A-A874-864A-AE1F-79A1CC43EE27}"/>
                    </a:ext>
                  </a:extLst>
                </p:cNvPr>
                <p:cNvSpPr/>
                <p:nvPr/>
              </p:nvSpPr>
              <p:spPr bwMode="gray">
                <a:xfrm rot="8100000">
                  <a:off x="1700506" y="801618"/>
                  <a:ext cx="255513" cy="262376"/>
                </a:xfrm>
                <a:custGeom>
                  <a:avLst/>
                  <a:gdLst>
                    <a:gd name="connsiteX0" fmla="*/ 652514 w 978388"/>
                    <a:gd name="connsiteY0" fmla="*/ 311418 h 978461"/>
                    <a:gd name="connsiteX1" fmla="*/ 578783 w 978388"/>
                    <a:gd name="connsiteY1" fmla="*/ 0 h 978461"/>
                    <a:gd name="connsiteX2" fmla="*/ 975875 w 978388"/>
                    <a:gd name="connsiteY2" fmla="*/ 2586 h 978461"/>
                    <a:gd name="connsiteX3" fmla="*/ 978388 w 978388"/>
                    <a:gd name="connsiteY3" fmla="*/ 388571 h 978461"/>
                    <a:gd name="connsiteX4" fmla="*/ 365753 w 978388"/>
                    <a:gd name="connsiteY4" fmla="*/ 440187 h 978461"/>
                    <a:gd name="connsiteX5" fmla="*/ 273707 w 978388"/>
                    <a:gd name="connsiteY5" fmla="*/ 51409 h 978461"/>
                    <a:gd name="connsiteX6" fmla="*/ 310026 w 978388"/>
                    <a:gd name="connsiteY6" fmla="*/ 33374 h 978461"/>
                    <a:gd name="connsiteX7" fmla="*/ 390866 w 978388"/>
                    <a:gd name="connsiteY7" fmla="*/ 9364 h 978461"/>
                    <a:gd name="connsiteX8" fmla="*/ 471958 w 978388"/>
                    <a:gd name="connsiteY8" fmla="*/ 1189 h 978461"/>
                    <a:gd name="connsiteX9" fmla="*/ 565912 w 978388"/>
                    <a:gd name="connsiteY9" fmla="*/ 398021 h 978461"/>
                    <a:gd name="connsiteX10" fmla="*/ 978363 w 978388"/>
                    <a:gd name="connsiteY10" fmla="*/ 495672 h 978461"/>
                    <a:gd name="connsiteX11" fmla="*/ 969097 w 978388"/>
                    <a:gd name="connsiteY11" fmla="*/ 587595 h 978461"/>
                    <a:gd name="connsiteX12" fmla="*/ 945087 w 978388"/>
                    <a:gd name="connsiteY12" fmla="*/ 668435 h 978461"/>
                    <a:gd name="connsiteX13" fmla="*/ 927052 w 978388"/>
                    <a:gd name="connsiteY13" fmla="*/ 704754 h 978461"/>
                    <a:gd name="connsiteX14" fmla="*/ 538465 w 978388"/>
                    <a:gd name="connsiteY14" fmla="*/ 612753 h 978461"/>
                    <a:gd name="connsiteX15" fmla="*/ 544594 w 978388"/>
                    <a:gd name="connsiteY15" fmla="*/ 581251 h 978461"/>
                    <a:gd name="connsiteX16" fmla="*/ 501475 w 978388"/>
                    <a:gd name="connsiteY16" fmla="*/ 477153 h 978461"/>
                    <a:gd name="connsiteX17" fmla="*/ 397377 w 978388"/>
                    <a:gd name="connsiteY17" fmla="*/ 434034 h 978461"/>
                    <a:gd name="connsiteX18" fmla="*/ 336040 w 978388"/>
                    <a:gd name="connsiteY18" fmla="*/ 641445 h 978461"/>
                    <a:gd name="connsiteX19" fmla="*/ 336040 w 978388"/>
                    <a:gd name="connsiteY19" fmla="*/ 520720 h 978461"/>
                    <a:gd name="connsiteX20" fmla="*/ 456766 w 978388"/>
                    <a:gd name="connsiteY20" fmla="*/ 520720 h 978461"/>
                    <a:gd name="connsiteX21" fmla="*/ 456766 w 978388"/>
                    <a:gd name="connsiteY21" fmla="*/ 641445 h 978461"/>
                    <a:gd name="connsiteX22" fmla="*/ 336040 w 978388"/>
                    <a:gd name="connsiteY22" fmla="*/ 641445 h 978461"/>
                    <a:gd name="connsiteX23" fmla="*/ 143377 w 978388"/>
                    <a:gd name="connsiteY23" fmla="*/ 835084 h 978461"/>
                    <a:gd name="connsiteX24" fmla="*/ 0 w 978388"/>
                    <a:gd name="connsiteY24" fmla="*/ 488940 h 978461"/>
                    <a:gd name="connsiteX25" fmla="*/ 169166 w 978388"/>
                    <a:gd name="connsiteY25" fmla="*/ 118790 h 978461"/>
                    <a:gd name="connsiteX26" fmla="*/ 180582 w 978388"/>
                    <a:gd name="connsiteY26" fmla="*/ 110466 h 978461"/>
                    <a:gd name="connsiteX27" fmla="*/ 274200 w 978388"/>
                    <a:gd name="connsiteY27" fmla="*/ 505884 h 978461"/>
                    <a:gd name="connsiteX28" fmla="*/ 260940 w 978388"/>
                    <a:gd name="connsiteY28" fmla="*/ 525853 h 978461"/>
                    <a:gd name="connsiteX29" fmla="*/ 293279 w 978388"/>
                    <a:gd name="connsiteY29" fmla="*/ 685349 h 978461"/>
                    <a:gd name="connsiteX30" fmla="*/ 452775 w 978388"/>
                    <a:gd name="connsiteY30" fmla="*/ 717688 h 978461"/>
                    <a:gd name="connsiteX31" fmla="*/ 472887 w 978388"/>
                    <a:gd name="connsiteY31" fmla="*/ 704333 h 978461"/>
                    <a:gd name="connsiteX32" fmla="*/ 867995 w 978388"/>
                    <a:gd name="connsiteY32" fmla="*/ 797879 h 978461"/>
                    <a:gd name="connsiteX33" fmla="*/ 859671 w 978388"/>
                    <a:gd name="connsiteY33" fmla="*/ 809295 h 978461"/>
                    <a:gd name="connsiteX34" fmla="*/ 489521 w 978388"/>
                    <a:gd name="connsiteY34" fmla="*/ 978461 h 978461"/>
                    <a:gd name="connsiteX35" fmla="*/ 143377 w 978388"/>
                    <a:gd name="connsiteY35" fmla="*/ 835084 h 97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78388" h="978461">
                      <a:moveTo>
                        <a:pt x="652514" y="311418"/>
                      </a:moveTo>
                      <a:lnTo>
                        <a:pt x="578783" y="0"/>
                      </a:lnTo>
                      <a:lnTo>
                        <a:pt x="975875" y="2586"/>
                      </a:lnTo>
                      <a:lnTo>
                        <a:pt x="978388" y="388571"/>
                      </a:lnTo>
                      <a:close/>
                      <a:moveTo>
                        <a:pt x="365753" y="440187"/>
                      </a:moveTo>
                      <a:lnTo>
                        <a:pt x="273707" y="51409"/>
                      </a:lnTo>
                      <a:lnTo>
                        <a:pt x="310026" y="33374"/>
                      </a:lnTo>
                      <a:cubicBezTo>
                        <a:pt x="335962" y="23147"/>
                        <a:pt x="362982" y="15070"/>
                        <a:pt x="390866" y="9364"/>
                      </a:cubicBezTo>
                      <a:lnTo>
                        <a:pt x="471958" y="1189"/>
                      </a:lnTo>
                      <a:lnTo>
                        <a:pt x="565912" y="398021"/>
                      </a:lnTo>
                      <a:lnTo>
                        <a:pt x="978363" y="495672"/>
                      </a:lnTo>
                      <a:lnTo>
                        <a:pt x="969097" y="587595"/>
                      </a:lnTo>
                      <a:cubicBezTo>
                        <a:pt x="963391" y="615479"/>
                        <a:pt x="955314" y="642499"/>
                        <a:pt x="945087" y="668435"/>
                      </a:cubicBezTo>
                      <a:lnTo>
                        <a:pt x="927052" y="704754"/>
                      </a:lnTo>
                      <a:lnTo>
                        <a:pt x="538465" y="612753"/>
                      </a:lnTo>
                      <a:lnTo>
                        <a:pt x="544594" y="581251"/>
                      </a:lnTo>
                      <a:cubicBezTo>
                        <a:pt x="544594" y="543575"/>
                        <a:pt x="530221" y="505899"/>
                        <a:pt x="501475" y="477153"/>
                      </a:cubicBezTo>
                      <a:cubicBezTo>
                        <a:pt x="472729" y="448407"/>
                        <a:pt x="435053" y="434034"/>
                        <a:pt x="397377" y="434034"/>
                      </a:cubicBezTo>
                      <a:close/>
                      <a:moveTo>
                        <a:pt x="336040" y="641445"/>
                      </a:moveTo>
                      <a:cubicBezTo>
                        <a:pt x="302703" y="608108"/>
                        <a:pt x="302703" y="554057"/>
                        <a:pt x="336040" y="520720"/>
                      </a:cubicBezTo>
                      <a:cubicBezTo>
                        <a:pt x="369377" y="487382"/>
                        <a:pt x="423428" y="487382"/>
                        <a:pt x="456766" y="520720"/>
                      </a:cubicBezTo>
                      <a:cubicBezTo>
                        <a:pt x="490103" y="554057"/>
                        <a:pt x="490103" y="608108"/>
                        <a:pt x="456766" y="641445"/>
                      </a:cubicBezTo>
                      <a:cubicBezTo>
                        <a:pt x="423428" y="674783"/>
                        <a:pt x="369377" y="674783"/>
                        <a:pt x="336040" y="641445"/>
                      </a:cubicBezTo>
                      <a:close/>
                      <a:moveTo>
                        <a:pt x="143377" y="835084"/>
                      </a:moveTo>
                      <a:cubicBezTo>
                        <a:pt x="54791" y="746497"/>
                        <a:pt x="0" y="624117"/>
                        <a:pt x="0" y="488940"/>
                      </a:cubicBezTo>
                      <a:cubicBezTo>
                        <a:pt x="0" y="341089"/>
                        <a:pt x="65546" y="208548"/>
                        <a:pt x="169166" y="118790"/>
                      </a:cubicBezTo>
                      <a:lnTo>
                        <a:pt x="180582" y="110466"/>
                      </a:lnTo>
                      <a:lnTo>
                        <a:pt x="274200" y="505884"/>
                      </a:lnTo>
                      <a:lnTo>
                        <a:pt x="260940" y="525853"/>
                      </a:lnTo>
                      <a:cubicBezTo>
                        <a:pt x="239381" y="579019"/>
                        <a:pt x="250160" y="642230"/>
                        <a:pt x="293279" y="685349"/>
                      </a:cubicBezTo>
                      <a:cubicBezTo>
                        <a:pt x="336398" y="728468"/>
                        <a:pt x="399610" y="739248"/>
                        <a:pt x="452775" y="717688"/>
                      </a:cubicBezTo>
                      <a:lnTo>
                        <a:pt x="472887" y="704333"/>
                      </a:lnTo>
                      <a:lnTo>
                        <a:pt x="867995" y="797879"/>
                      </a:lnTo>
                      <a:lnTo>
                        <a:pt x="859671" y="809295"/>
                      </a:lnTo>
                      <a:cubicBezTo>
                        <a:pt x="769913" y="912915"/>
                        <a:pt x="637372" y="978461"/>
                        <a:pt x="489521" y="978461"/>
                      </a:cubicBezTo>
                      <a:cubicBezTo>
                        <a:pt x="354344" y="978461"/>
                        <a:pt x="231963" y="923669"/>
                        <a:pt x="143377" y="835084"/>
                      </a:cubicBezTo>
                      <a:close/>
                    </a:path>
                  </a:pathLst>
                </a:custGeom>
                <a:solidFill>
                  <a:srgbClr val="86BC25"/>
                </a:solid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sp>
        <p:nvSpPr>
          <p:cNvPr id="63" name="TextBox 62">
            <a:extLst>
              <a:ext uri="{FF2B5EF4-FFF2-40B4-BE49-F238E27FC236}">
                <a16:creationId xmlns:a16="http://schemas.microsoft.com/office/drawing/2014/main" id="{513FEFB5-B2FA-CF3B-3965-85FC3545B5F6}"/>
              </a:ext>
            </a:extLst>
          </p:cNvPr>
          <p:cNvSpPr txBox="1"/>
          <p:nvPr/>
        </p:nvSpPr>
        <p:spPr>
          <a:xfrm>
            <a:off x="4646971" y="597515"/>
            <a:ext cx="1756576" cy="24622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These fields will enable the user to understand the current condition of the Asset and subsequent repair/maintenance requirements. The user can also capture any additional note into the app.</a:t>
            </a:r>
          </a:p>
        </p:txBody>
      </p:sp>
      <p:cxnSp>
        <p:nvCxnSpPr>
          <p:cNvPr id="72" name="Straight Connector 71">
            <a:extLst>
              <a:ext uri="{FF2B5EF4-FFF2-40B4-BE49-F238E27FC236}">
                <a16:creationId xmlns:a16="http://schemas.microsoft.com/office/drawing/2014/main" id="{39D94D89-4C02-A04C-86E9-DA8DE412E4DE}"/>
              </a:ext>
            </a:extLst>
          </p:cNvPr>
          <p:cNvCxnSpPr>
            <a:cxnSpLocks/>
          </p:cNvCxnSpPr>
          <p:nvPr/>
        </p:nvCxnSpPr>
        <p:spPr>
          <a:xfrm>
            <a:off x="4091073" y="1023782"/>
            <a:ext cx="555898"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CC7AFCA9-1C5A-3179-D47A-071718F2A621}"/>
              </a:ext>
            </a:extLst>
          </p:cNvPr>
          <p:cNvSpPr txBox="1"/>
          <p:nvPr/>
        </p:nvSpPr>
        <p:spPr>
          <a:xfrm>
            <a:off x="10145594" y="597515"/>
            <a:ext cx="2015670"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a:rPr>
              <a:t>The </a:t>
            </a:r>
            <a:r>
              <a:rPr lang="en-US" sz="1400" b="1" dirty="0">
                <a:solidFill>
                  <a:schemeClr val="accent3"/>
                </a:solidFill>
                <a:latin typeface="Calibri"/>
              </a:rPr>
              <a:t>Add photos </a:t>
            </a:r>
            <a:r>
              <a:rPr lang="en-US" sz="1400" dirty="0">
                <a:latin typeface="Calibri"/>
              </a:rPr>
              <a:t>enables the user to capture the image as well as upload videos of the Asse. This will help to build a repository and provide a visual representation of the condition of the Assets over the years.</a:t>
            </a:r>
            <a:endParaRPr kumimoji="0" lang="en-US" sz="1400" i="0" u="none" strike="noStrike" kern="1200" cap="none" spc="0" normalizeH="0" baseline="0" noProof="0" dirty="0">
              <a:ln>
                <a:noFill/>
              </a:ln>
              <a:solidFill>
                <a:schemeClr val="accent3"/>
              </a:solidFill>
              <a:effectLst/>
              <a:uLnTx/>
              <a:uFillTx/>
              <a:latin typeface="Calibri"/>
              <a:ea typeface="+mn-ea"/>
              <a:cs typeface="+mn-cs"/>
            </a:endParaRPr>
          </a:p>
        </p:txBody>
      </p:sp>
      <p:cxnSp>
        <p:nvCxnSpPr>
          <p:cNvPr id="74" name="Straight Connector 73">
            <a:extLst>
              <a:ext uri="{FF2B5EF4-FFF2-40B4-BE49-F238E27FC236}">
                <a16:creationId xmlns:a16="http://schemas.microsoft.com/office/drawing/2014/main" id="{29645D60-AA6D-853D-54E7-08C365D7B52F}"/>
              </a:ext>
            </a:extLst>
          </p:cNvPr>
          <p:cNvCxnSpPr>
            <a:cxnSpLocks/>
          </p:cNvCxnSpPr>
          <p:nvPr/>
        </p:nvCxnSpPr>
        <p:spPr>
          <a:xfrm>
            <a:off x="9580582" y="1059265"/>
            <a:ext cx="590412"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60D8E7CD-6414-9D80-6CBF-237310F65D3E}"/>
              </a:ext>
            </a:extLst>
          </p:cNvPr>
          <p:cNvGrpSpPr/>
          <p:nvPr/>
        </p:nvGrpSpPr>
        <p:grpSpPr>
          <a:xfrm>
            <a:off x="0" y="0"/>
            <a:ext cx="463583" cy="6858000"/>
            <a:chOff x="0" y="0"/>
            <a:chExt cx="463583" cy="6858000"/>
          </a:xfrm>
        </p:grpSpPr>
        <p:sp>
          <p:nvSpPr>
            <p:cNvPr id="76" name="Rectangle 75">
              <a:extLst>
                <a:ext uri="{FF2B5EF4-FFF2-40B4-BE49-F238E27FC236}">
                  <a16:creationId xmlns:a16="http://schemas.microsoft.com/office/drawing/2014/main" id="{0061B578-EF71-C775-9F71-BB4978F8CB7D}"/>
                </a:ext>
              </a:extLst>
            </p:cNvPr>
            <p:cNvSpPr/>
            <p:nvPr/>
          </p:nvSpPr>
          <p:spPr bwMode="gray">
            <a:xfrm>
              <a:off x="0" y="0"/>
              <a:ext cx="463583" cy="6858000"/>
            </a:xfrm>
            <a:prstGeom prst="rect">
              <a:avLst/>
            </a:prstGeom>
            <a:solidFill>
              <a:schemeClr val="accent1"/>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AU" sz="1600" b="1" dirty="0"/>
            </a:p>
          </p:txBody>
        </p:sp>
        <p:sp>
          <p:nvSpPr>
            <p:cNvPr id="77" name="TextBox 76">
              <a:extLst>
                <a:ext uri="{FF2B5EF4-FFF2-40B4-BE49-F238E27FC236}">
                  <a16:creationId xmlns:a16="http://schemas.microsoft.com/office/drawing/2014/main" id="{C3291842-F8D9-32B0-AE48-13B5347B61D8}"/>
                </a:ext>
              </a:extLst>
            </p:cNvPr>
            <p:cNvSpPr txBox="1"/>
            <p:nvPr/>
          </p:nvSpPr>
          <p:spPr>
            <a:xfrm>
              <a:off x="12589" y="606677"/>
              <a:ext cx="430887" cy="5644647"/>
            </a:xfrm>
            <a:prstGeom prst="rect">
              <a:avLst/>
            </a:prstGeom>
            <a:noFill/>
          </p:spPr>
          <p:txBody>
            <a:bodyPr vert="vert270" wrap="square" lIns="0" tIns="0" rIns="0" bIns="0" rtlCol="0">
              <a:spAutoFit/>
            </a:bodyPr>
            <a:lstStyle/>
            <a:p>
              <a:pPr algn="ctr">
                <a:spcBef>
                  <a:spcPts val="600"/>
                </a:spcBef>
                <a:buSzPct val="100000"/>
              </a:pPr>
              <a:r>
                <a:rPr lang="en-AU" sz="2800" b="1" dirty="0">
                  <a:solidFill>
                    <a:schemeClr val="bg1"/>
                  </a:solidFill>
                  <a:latin typeface="+mj-lt"/>
                  <a:cs typeface="Arial" panose="020B0604020202020204" pitchFamily="34" charset="0"/>
                </a:rPr>
                <a:t>Walkthrough of </a:t>
              </a:r>
              <a:r>
                <a:rPr lang="en-AU" sz="2800" b="1" dirty="0">
                  <a:latin typeface="+mj-lt"/>
                  <a:cs typeface="Arial" panose="020B0604020202020204" pitchFamily="34" charset="0"/>
                </a:rPr>
                <a:t>INSITE</a:t>
              </a:r>
            </a:p>
          </p:txBody>
        </p:sp>
      </p:grpSp>
      <p:sp>
        <p:nvSpPr>
          <p:cNvPr id="78" name="Copyright">
            <a:extLst>
              <a:ext uri="{FF2B5EF4-FFF2-40B4-BE49-F238E27FC236}">
                <a16:creationId xmlns:a16="http://schemas.microsoft.com/office/drawing/2014/main" id="{402871AB-7B4D-F5B9-83EB-3F53B46E4311}"/>
              </a:ext>
            </a:extLst>
          </p:cNvPr>
          <p:cNvSpPr txBox="1"/>
          <p:nvPr/>
        </p:nvSpPr>
        <p:spPr>
          <a:xfrm>
            <a:off x="5311407" y="6696739"/>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2024 Deloitte Touche Tohmatsu India LLP. </a:t>
            </a:r>
          </a:p>
        </p:txBody>
      </p:sp>
    </p:spTree>
    <p:extLst>
      <p:ext uri="{BB962C8B-B14F-4D97-AF65-F5344CB8AC3E}">
        <p14:creationId xmlns:p14="http://schemas.microsoft.com/office/powerpoint/2010/main" val="4244297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F2A9BD6-1CFC-4112-930C-4B760867CCA9}"/>
              </a:ext>
            </a:extLst>
          </p:cNvPr>
          <p:cNvGraphicFramePr>
            <a:graphicFrameLocks noChangeAspect="1"/>
          </p:cNvGraphicFramePr>
          <p:nvPr>
            <p:custDataLst>
              <p:tags r:id="rId1"/>
            </p:custDataLst>
            <p:extLst>
              <p:ext uri="{D42A27DB-BD31-4B8C-83A1-F6EECF244321}">
                <p14:modId xmlns:p14="http://schemas.microsoft.com/office/powerpoint/2010/main" val="33002604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 name="Object 4" hidden="1">
                        <a:extLst>
                          <a:ext uri="{FF2B5EF4-FFF2-40B4-BE49-F238E27FC236}">
                            <a16:creationId xmlns:a16="http://schemas.microsoft.com/office/drawing/2014/main" id="{7F2A9BD6-1CFC-4112-930C-4B760867CC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5" name="Title 1">
            <a:extLst>
              <a:ext uri="{FF2B5EF4-FFF2-40B4-BE49-F238E27FC236}">
                <a16:creationId xmlns:a16="http://schemas.microsoft.com/office/drawing/2014/main" id="{27C139CD-742A-48CC-92AB-E1477014FAA3}"/>
              </a:ext>
            </a:extLst>
          </p:cNvPr>
          <p:cNvSpPr txBox="1">
            <a:spLocks/>
          </p:cNvSpPr>
          <p:nvPr/>
        </p:nvSpPr>
        <p:spPr>
          <a:xfrm>
            <a:off x="456426" y="267416"/>
            <a:ext cx="11188700" cy="309820"/>
          </a:xfrm>
          <a:prstGeom prst="rect">
            <a:avLst/>
          </a:prstGeom>
        </p:spPr>
        <p:txBody>
          <a:bodyPr vert="horz"/>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lvl="0">
              <a:defRPr/>
            </a:pPr>
            <a:r>
              <a:rPr lang="en-US" sz="2400" dirty="0">
                <a:latin typeface="+mj-lt"/>
                <a:cs typeface="+mj-cs"/>
              </a:rPr>
              <a:t>Asset Register Tool</a:t>
            </a:r>
            <a:br>
              <a:rPr kumimoji="0" lang="en-US" sz="2176" b="1" i="0" u="none" strike="noStrike" kern="1200" cap="none" spc="0" normalizeH="0" baseline="0" noProof="0" dirty="0">
                <a:ln>
                  <a:noFill/>
                </a:ln>
                <a:solidFill>
                  <a:prstClr val="black"/>
                </a:solidFill>
                <a:effectLst/>
                <a:uLnTx/>
                <a:uFillTx/>
                <a:latin typeface="Calibri"/>
                <a:ea typeface="+mj-ea"/>
                <a:cs typeface="Calibri Light" panose="020F0302020204030204" pitchFamily="34" charset="0"/>
              </a:rPr>
            </a:br>
            <a:r>
              <a:rPr lang="en-US" sz="1800" dirty="0">
                <a:solidFill>
                  <a:srgbClr val="575757"/>
                </a:solidFill>
                <a:ea typeface="+mn-ea"/>
                <a:cs typeface="+mn-cs"/>
              </a:rPr>
              <a:t>Assets Capture and Verification </a:t>
            </a:r>
          </a:p>
        </p:txBody>
      </p:sp>
      <p:sp>
        <p:nvSpPr>
          <p:cNvPr id="50" name="Text Placeholder 1">
            <a:extLst>
              <a:ext uri="{FF2B5EF4-FFF2-40B4-BE49-F238E27FC236}">
                <a16:creationId xmlns:a16="http://schemas.microsoft.com/office/drawing/2014/main" id="{3D828D14-60C6-46AC-8342-8C27F3A49A9F}"/>
              </a:ext>
            </a:extLst>
          </p:cNvPr>
          <p:cNvSpPr txBox="1">
            <a:spLocks/>
          </p:cNvSpPr>
          <p:nvPr/>
        </p:nvSpPr>
        <p:spPr>
          <a:xfrm>
            <a:off x="456426" y="1099737"/>
            <a:ext cx="11188700" cy="5032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600" dirty="0">
                <a:solidFill>
                  <a:schemeClr val="accent6"/>
                </a:solidFill>
              </a:rPr>
              <a:t>The Tool provides for 3 level approval mechanism. Data can be exported to any ERP through excel download</a:t>
            </a:r>
          </a:p>
          <a:p>
            <a:pPr marL="0" indent="0">
              <a:spcBef>
                <a:spcPts val="0"/>
              </a:spcBef>
              <a:buNone/>
            </a:pPr>
            <a:r>
              <a:rPr lang="en-US" sz="1600" dirty="0">
                <a:solidFill>
                  <a:schemeClr val="accent6"/>
                </a:solidFill>
              </a:rPr>
              <a:t>Easy interface for  reviewers to review the asset data captured and approve / provide comments.</a:t>
            </a:r>
          </a:p>
        </p:txBody>
      </p:sp>
      <p:sp>
        <p:nvSpPr>
          <p:cNvPr id="51" name="TextBox 50">
            <a:extLst>
              <a:ext uri="{FF2B5EF4-FFF2-40B4-BE49-F238E27FC236}">
                <a16:creationId xmlns:a16="http://schemas.microsoft.com/office/drawing/2014/main" id="{E3FFFACA-704C-4403-BE86-CE12F3E45365}"/>
              </a:ext>
            </a:extLst>
          </p:cNvPr>
          <p:cNvSpPr txBox="1"/>
          <p:nvPr/>
        </p:nvSpPr>
        <p:spPr>
          <a:xfrm>
            <a:off x="630595" y="5421024"/>
            <a:ext cx="10531300" cy="630942"/>
          </a:xfrm>
          <a:prstGeom prst="rect">
            <a:avLst/>
          </a:prstGeom>
          <a:noFill/>
        </p:spPr>
        <p:txBody>
          <a:bodyPr wrap="square" lIns="0" tIns="0" rIns="0" bIns="0" rtlCol="0">
            <a:spAutoFit/>
          </a:bodyPr>
          <a:lstStyle/>
          <a:p>
            <a:pPr>
              <a:spcBef>
                <a:spcPts val="600"/>
              </a:spcBef>
              <a:buSzPct val="100000"/>
              <a:defRPr/>
            </a:pPr>
            <a:r>
              <a:rPr lang="en-GB" sz="1200" i="1" dirty="0">
                <a:solidFill>
                  <a:srgbClr val="313131"/>
                </a:solidFill>
              </a:rPr>
              <a:t>Every Asset detail synced device will be visible on the web portal for Client to review as the L1 / L2 / L3 Reviewers. They can either approve the details OR provide comments to the asset verification team for any corrections.  </a:t>
            </a:r>
          </a:p>
          <a:p>
            <a:pPr lvl="0">
              <a:spcBef>
                <a:spcPts val="600"/>
              </a:spcBef>
              <a:buSzPct val="100000"/>
              <a:defRPr/>
            </a:pPr>
            <a:r>
              <a:rPr lang="en-GB" sz="1200" i="1" dirty="0">
                <a:solidFill>
                  <a:srgbClr val="313131"/>
                </a:solidFill>
              </a:rPr>
              <a:t>On clicking on Details, the concerned L1 / L2 / L3 reviewers can view the asset details including the photographs and provide their comments</a:t>
            </a:r>
          </a:p>
        </p:txBody>
      </p:sp>
      <p:pic>
        <p:nvPicPr>
          <p:cNvPr id="2" name="Picture 1">
            <a:extLst>
              <a:ext uri="{FF2B5EF4-FFF2-40B4-BE49-F238E27FC236}">
                <a16:creationId xmlns:a16="http://schemas.microsoft.com/office/drawing/2014/main" id="{F26C7DF7-758A-77E5-E3C8-0479DAC4B78B}"/>
              </a:ext>
            </a:extLst>
          </p:cNvPr>
          <p:cNvPicPr>
            <a:picLocks noChangeAspect="1"/>
          </p:cNvPicPr>
          <p:nvPr/>
        </p:nvPicPr>
        <p:blipFill>
          <a:blip r:embed="rId5"/>
          <a:stretch>
            <a:fillRect/>
          </a:stretch>
        </p:blipFill>
        <p:spPr>
          <a:xfrm>
            <a:off x="583473" y="1744644"/>
            <a:ext cx="5515609" cy="3340334"/>
          </a:xfrm>
          <a:prstGeom prst="rect">
            <a:avLst/>
          </a:prstGeom>
        </p:spPr>
      </p:pic>
      <p:pic>
        <p:nvPicPr>
          <p:cNvPr id="3" name="Picture 2">
            <a:extLst>
              <a:ext uri="{FF2B5EF4-FFF2-40B4-BE49-F238E27FC236}">
                <a16:creationId xmlns:a16="http://schemas.microsoft.com/office/drawing/2014/main" id="{31301C14-468E-98EE-241B-B1109CCEA749}"/>
              </a:ext>
            </a:extLst>
          </p:cNvPr>
          <p:cNvPicPr>
            <a:picLocks noChangeAspect="1"/>
          </p:cNvPicPr>
          <p:nvPr/>
        </p:nvPicPr>
        <p:blipFill>
          <a:blip r:embed="rId6"/>
          <a:stretch>
            <a:fillRect/>
          </a:stretch>
        </p:blipFill>
        <p:spPr>
          <a:xfrm>
            <a:off x="6241650" y="1733757"/>
            <a:ext cx="5621189" cy="3340333"/>
          </a:xfrm>
          <a:prstGeom prst="rect">
            <a:avLst/>
          </a:prstGeom>
        </p:spPr>
      </p:pic>
      <p:grpSp>
        <p:nvGrpSpPr>
          <p:cNvPr id="8" name="Group 7">
            <a:extLst>
              <a:ext uri="{FF2B5EF4-FFF2-40B4-BE49-F238E27FC236}">
                <a16:creationId xmlns:a16="http://schemas.microsoft.com/office/drawing/2014/main" id="{42F16120-ECD7-4899-BA57-ACCE542F9A86}"/>
              </a:ext>
            </a:extLst>
          </p:cNvPr>
          <p:cNvGrpSpPr/>
          <p:nvPr/>
        </p:nvGrpSpPr>
        <p:grpSpPr>
          <a:xfrm rot="20337937">
            <a:off x="9390336" y="4259124"/>
            <a:ext cx="2219041" cy="331438"/>
            <a:chOff x="10860401" y="3505224"/>
            <a:chExt cx="1786855" cy="369332"/>
          </a:xfrm>
        </p:grpSpPr>
        <p:cxnSp>
          <p:nvCxnSpPr>
            <p:cNvPr id="9" name="Straight Connector 8">
              <a:extLst>
                <a:ext uri="{FF2B5EF4-FFF2-40B4-BE49-F238E27FC236}">
                  <a16:creationId xmlns:a16="http://schemas.microsoft.com/office/drawing/2014/main" id="{8B6D4816-314D-494F-A008-3A0C649903AE}"/>
                </a:ext>
              </a:extLst>
            </p:cNvPr>
            <p:cNvCxnSpPr/>
            <p:nvPr/>
          </p:nvCxnSpPr>
          <p:spPr>
            <a:xfrm>
              <a:off x="10860401" y="3507843"/>
              <a:ext cx="178685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6E80F22-C2C6-4CEA-94B7-25A61A4ACBEA}"/>
                </a:ext>
              </a:extLst>
            </p:cNvPr>
            <p:cNvCxnSpPr/>
            <p:nvPr/>
          </p:nvCxnSpPr>
          <p:spPr>
            <a:xfrm>
              <a:off x="10860401" y="3874556"/>
              <a:ext cx="178685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3D7F2BA-C620-4FBA-BB10-900216245045}"/>
                </a:ext>
              </a:extLst>
            </p:cNvPr>
            <p:cNvSpPr txBox="1"/>
            <p:nvPr/>
          </p:nvSpPr>
          <p:spPr>
            <a:xfrm>
              <a:off x="10860401" y="3505224"/>
              <a:ext cx="1724462" cy="369332"/>
            </a:xfrm>
            <a:prstGeom prst="rect">
              <a:avLst/>
            </a:prstGeom>
            <a:noFill/>
          </p:spPr>
          <p:txBody>
            <a:bodyPr wrap="square" rtlCol="0">
              <a:spAutoFit/>
            </a:bodyPr>
            <a:lstStyle/>
            <a:p>
              <a:pPr algn="ctr"/>
              <a:r>
                <a:rPr lang="en-US" b="1" dirty="0">
                  <a:solidFill>
                    <a:srgbClr val="FF0000"/>
                  </a:solidFill>
                </a:rPr>
                <a:t>ILLUSTRATIVE </a:t>
              </a:r>
            </a:p>
          </p:txBody>
        </p:sp>
      </p:grpSp>
      <p:grpSp>
        <p:nvGrpSpPr>
          <p:cNvPr id="4" name="Group 3">
            <a:extLst>
              <a:ext uri="{FF2B5EF4-FFF2-40B4-BE49-F238E27FC236}">
                <a16:creationId xmlns:a16="http://schemas.microsoft.com/office/drawing/2014/main" id="{CB44D52D-8DEC-FF99-9ED1-96B470CCC9D4}"/>
              </a:ext>
            </a:extLst>
          </p:cNvPr>
          <p:cNvGrpSpPr/>
          <p:nvPr/>
        </p:nvGrpSpPr>
        <p:grpSpPr>
          <a:xfrm>
            <a:off x="0" y="0"/>
            <a:ext cx="463583" cy="6858000"/>
            <a:chOff x="0" y="0"/>
            <a:chExt cx="463583" cy="6858000"/>
          </a:xfrm>
        </p:grpSpPr>
        <p:sp>
          <p:nvSpPr>
            <p:cNvPr id="6" name="Rectangle 5">
              <a:extLst>
                <a:ext uri="{FF2B5EF4-FFF2-40B4-BE49-F238E27FC236}">
                  <a16:creationId xmlns:a16="http://schemas.microsoft.com/office/drawing/2014/main" id="{7C218570-023A-F025-D713-8C710C0674C5}"/>
                </a:ext>
              </a:extLst>
            </p:cNvPr>
            <p:cNvSpPr/>
            <p:nvPr/>
          </p:nvSpPr>
          <p:spPr bwMode="gray">
            <a:xfrm>
              <a:off x="0" y="0"/>
              <a:ext cx="463583" cy="6858000"/>
            </a:xfrm>
            <a:prstGeom prst="rect">
              <a:avLst/>
            </a:prstGeom>
            <a:solidFill>
              <a:schemeClr val="accent1"/>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AU" sz="1600" b="1" dirty="0"/>
            </a:p>
          </p:txBody>
        </p:sp>
        <p:sp>
          <p:nvSpPr>
            <p:cNvPr id="7" name="TextBox 6">
              <a:extLst>
                <a:ext uri="{FF2B5EF4-FFF2-40B4-BE49-F238E27FC236}">
                  <a16:creationId xmlns:a16="http://schemas.microsoft.com/office/drawing/2014/main" id="{5492C326-F171-58AE-7450-2CABB81C3465}"/>
                </a:ext>
              </a:extLst>
            </p:cNvPr>
            <p:cNvSpPr txBox="1"/>
            <p:nvPr/>
          </p:nvSpPr>
          <p:spPr>
            <a:xfrm>
              <a:off x="12589" y="606677"/>
              <a:ext cx="430887" cy="5644647"/>
            </a:xfrm>
            <a:prstGeom prst="rect">
              <a:avLst/>
            </a:prstGeom>
            <a:noFill/>
          </p:spPr>
          <p:txBody>
            <a:bodyPr vert="vert270" wrap="square" lIns="0" tIns="0" rIns="0" bIns="0" rtlCol="0">
              <a:spAutoFit/>
            </a:bodyPr>
            <a:lstStyle/>
            <a:p>
              <a:pPr algn="ctr">
                <a:spcBef>
                  <a:spcPts val="600"/>
                </a:spcBef>
                <a:buSzPct val="100000"/>
              </a:pPr>
              <a:r>
                <a:rPr lang="en-AU" sz="2800" b="1" dirty="0">
                  <a:solidFill>
                    <a:schemeClr val="bg1"/>
                  </a:solidFill>
                  <a:latin typeface="+mj-lt"/>
                  <a:cs typeface="Arial" panose="020B0604020202020204" pitchFamily="34" charset="0"/>
                </a:rPr>
                <a:t>Walkthrough of </a:t>
              </a:r>
              <a:r>
                <a:rPr lang="en-AU" sz="2800" b="1" dirty="0">
                  <a:latin typeface="+mj-lt"/>
                  <a:cs typeface="Arial" panose="020B0604020202020204" pitchFamily="34" charset="0"/>
                </a:rPr>
                <a:t>Web Portal</a:t>
              </a:r>
            </a:p>
          </p:txBody>
        </p:sp>
      </p:grpSp>
    </p:spTree>
    <p:extLst>
      <p:ext uri="{BB962C8B-B14F-4D97-AF65-F5344CB8AC3E}">
        <p14:creationId xmlns:p14="http://schemas.microsoft.com/office/powerpoint/2010/main" val="3792301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F2A9BD6-1CFC-4112-930C-4B760867CCA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 name="Object 4" hidden="1">
                        <a:extLst>
                          <a:ext uri="{FF2B5EF4-FFF2-40B4-BE49-F238E27FC236}">
                            <a16:creationId xmlns:a16="http://schemas.microsoft.com/office/drawing/2014/main" id="{7F2A9BD6-1CFC-4112-930C-4B760867CC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5" name="Title 1">
            <a:extLst>
              <a:ext uri="{FF2B5EF4-FFF2-40B4-BE49-F238E27FC236}">
                <a16:creationId xmlns:a16="http://schemas.microsoft.com/office/drawing/2014/main" id="{27C139CD-742A-48CC-92AB-E1477014FAA3}"/>
              </a:ext>
            </a:extLst>
          </p:cNvPr>
          <p:cNvSpPr txBox="1">
            <a:spLocks/>
          </p:cNvSpPr>
          <p:nvPr/>
        </p:nvSpPr>
        <p:spPr>
          <a:xfrm>
            <a:off x="456426" y="267416"/>
            <a:ext cx="11188700" cy="309820"/>
          </a:xfrm>
          <a:prstGeom prst="rect">
            <a:avLst/>
          </a:prstGeom>
        </p:spPr>
        <p:txBody>
          <a:bodyPr vert="horz"/>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lvl="0">
              <a:defRPr/>
            </a:pPr>
            <a:r>
              <a:rPr lang="en-US" sz="2400" dirty="0">
                <a:latin typeface="+mj-lt"/>
                <a:cs typeface="+mj-cs"/>
              </a:rPr>
              <a:t>Asset Map - Overview</a:t>
            </a:r>
            <a:br>
              <a:rPr kumimoji="0" lang="en-US" sz="2176" b="1" i="0" u="none" strike="noStrike" kern="1200" cap="none" spc="0" normalizeH="0" baseline="0" noProof="0" dirty="0">
                <a:ln>
                  <a:noFill/>
                </a:ln>
                <a:solidFill>
                  <a:prstClr val="black"/>
                </a:solidFill>
                <a:effectLst/>
                <a:uLnTx/>
                <a:uFillTx/>
                <a:latin typeface="Calibri"/>
                <a:ea typeface="+mj-ea"/>
                <a:cs typeface="Calibri Light" panose="020F0302020204030204" pitchFamily="34" charset="0"/>
              </a:rPr>
            </a:br>
            <a:endParaRPr lang="en-US" sz="1800" dirty="0">
              <a:solidFill>
                <a:srgbClr val="575757"/>
              </a:solidFill>
              <a:ea typeface="+mn-ea"/>
              <a:cs typeface="+mn-cs"/>
            </a:endParaRPr>
          </a:p>
        </p:txBody>
      </p:sp>
      <p:pic>
        <p:nvPicPr>
          <p:cNvPr id="2" name="Picture 1">
            <a:extLst>
              <a:ext uri="{FF2B5EF4-FFF2-40B4-BE49-F238E27FC236}">
                <a16:creationId xmlns:a16="http://schemas.microsoft.com/office/drawing/2014/main" id="{58F851CF-BBF7-E9E5-0D5D-22D85AF75F2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194677" y="857251"/>
            <a:ext cx="9496425" cy="5467350"/>
          </a:xfrm>
          <a:prstGeom prst="rect">
            <a:avLst/>
          </a:prstGeom>
          <a:noFill/>
        </p:spPr>
      </p:pic>
      <p:grpSp>
        <p:nvGrpSpPr>
          <p:cNvPr id="6" name="Group 5">
            <a:extLst>
              <a:ext uri="{FF2B5EF4-FFF2-40B4-BE49-F238E27FC236}">
                <a16:creationId xmlns:a16="http://schemas.microsoft.com/office/drawing/2014/main" id="{B5F33AD5-79A6-737D-3E77-D698988E02AD}"/>
              </a:ext>
            </a:extLst>
          </p:cNvPr>
          <p:cNvGrpSpPr/>
          <p:nvPr/>
        </p:nvGrpSpPr>
        <p:grpSpPr>
          <a:xfrm>
            <a:off x="5706514" y="1442783"/>
            <a:ext cx="2472749" cy="369333"/>
            <a:chOff x="12073659" y="3363552"/>
            <a:chExt cx="1786855" cy="556973"/>
          </a:xfrm>
        </p:grpSpPr>
        <p:cxnSp>
          <p:nvCxnSpPr>
            <p:cNvPr id="7" name="Straight Connector 6">
              <a:extLst>
                <a:ext uri="{FF2B5EF4-FFF2-40B4-BE49-F238E27FC236}">
                  <a16:creationId xmlns:a16="http://schemas.microsoft.com/office/drawing/2014/main" id="{1BD3F90F-9514-C6C8-5478-22A51274AE6C}"/>
                </a:ext>
              </a:extLst>
            </p:cNvPr>
            <p:cNvCxnSpPr/>
            <p:nvPr/>
          </p:nvCxnSpPr>
          <p:spPr>
            <a:xfrm>
              <a:off x="12073659" y="3453295"/>
              <a:ext cx="178685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F0F376B-C508-DF27-323C-5B00C20F1EC1}"/>
                </a:ext>
              </a:extLst>
            </p:cNvPr>
            <p:cNvCxnSpPr/>
            <p:nvPr/>
          </p:nvCxnSpPr>
          <p:spPr>
            <a:xfrm>
              <a:off x="12073659" y="3830782"/>
              <a:ext cx="178685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F919FD5-79C6-4945-B4DE-A75FEBDFD1CA}"/>
                </a:ext>
              </a:extLst>
            </p:cNvPr>
            <p:cNvSpPr txBox="1"/>
            <p:nvPr/>
          </p:nvSpPr>
          <p:spPr>
            <a:xfrm>
              <a:off x="12136052" y="3363552"/>
              <a:ext cx="1724462" cy="556973"/>
            </a:xfrm>
            <a:prstGeom prst="rect">
              <a:avLst/>
            </a:prstGeom>
            <a:noFill/>
          </p:spPr>
          <p:txBody>
            <a:bodyPr wrap="square" rtlCol="0">
              <a:spAutoFit/>
            </a:bodyPr>
            <a:lstStyle/>
            <a:p>
              <a:pPr algn="ctr"/>
              <a:r>
                <a:rPr lang="en-US" sz="1400" b="1" dirty="0">
                  <a:solidFill>
                    <a:srgbClr val="FF0000"/>
                  </a:solidFill>
                </a:rPr>
                <a:t>ILLUSTRATIVE</a:t>
              </a:r>
              <a:r>
                <a:rPr lang="en-US" b="1" dirty="0">
                  <a:solidFill>
                    <a:srgbClr val="FF0000"/>
                  </a:solidFill>
                </a:rPr>
                <a:t> </a:t>
              </a:r>
            </a:p>
          </p:txBody>
        </p:sp>
      </p:grpSp>
      <p:sp>
        <p:nvSpPr>
          <p:cNvPr id="3" name="TextBox 2">
            <a:extLst>
              <a:ext uri="{FF2B5EF4-FFF2-40B4-BE49-F238E27FC236}">
                <a16:creationId xmlns:a16="http://schemas.microsoft.com/office/drawing/2014/main" id="{4F545730-8D51-716B-2549-80897F2EDD1E}"/>
              </a:ext>
            </a:extLst>
          </p:cNvPr>
          <p:cNvSpPr txBox="1"/>
          <p:nvPr/>
        </p:nvSpPr>
        <p:spPr>
          <a:xfrm>
            <a:off x="655994" y="1208426"/>
            <a:ext cx="2134829"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The </a:t>
            </a:r>
            <a:r>
              <a:rPr kumimoji="0" lang="en-US" sz="1400" b="1" i="0" u="none" strike="noStrike" kern="1200" cap="none" spc="0" normalizeH="0" baseline="0" noProof="0" dirty="0">
                <a:ln>
                  <a:noFill/>
                </a:ln>
                <a:solidFill>
                  <a:schemeClr val="accent3"/>
                </a:solidFill>
                <a:effectLst/>
                <a:uLnTx/>
                <a:uFillTx/>
                <a:latin typeface="Calibri"/>
                <a:ea typeface="+mn-ea"/>
                <a:cs typeface="+mn-cs"/>
              </a:rPr>
              <a:t>Dashboard </a:t>
            </a:r>
            <a:r>
              <a:rPr kumimoji="0" lang="en-US" sz="1400" b="0" i="0" u="none" strike="noStrike" kern="1200" cap="none" spc="0" normalizeH="0" baseline="0" noProof="0" dirty="0">
                <a:ln>
                  <a:noFill/>
                </a:ln>
                <a:solidFill>
                  <a:prstClr val="black"/>
                </a:solidFill>
                <a:effectLst/>
                <a:uLnTx/>
                <a:uFillTx/>
                <a:latin typeface="Calibri"/>
                <a:ea typeface="+mn-ea"/>
                <a:cs typeface="+mn-cs"/>
              </a:rPr>
              <a:t>opens up with an interactive GIS view and user can select a particular asset type to view. </a:t>
            </a:r>
            <a:r>
              <a:rPr lang="en-US" sz="1400" dirty="0">
                <a:solidFill>
                  <a:prstClr val="black"/>
                </a:solidFill>
                <a:latin typeface="Calibri"/>
              </a:rPr>
              <a:t>User can view the attribute table of the selected asset type as well as open the same in GIS platform.</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4772B9EC-A99F-4FB6-52F9-0BF5F9C1CBEA}"/>
              </a:ext>
            </a:extLst>
          </p:cNvPr>
          <p:cNvSpPr txBox="1"/>
          <p:nvPr/>
        </p:nvSpPr>
        <p:spPr>
          <a:xfrm>
            <a:off x="655994" y="3590926"/>
            <a:ext cx="2134829"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User Can select the respective zone, circle, division and sub-division where in the assets are located. </a:t>
            </a:r>
            <a:r>
              <a:rPr lang="en-US" sz="1400" dirty="0">
                <a:solidFill>
                  <a:prstClr val="black"/>
                </a:solidFill>
                <a:latin typeface="Calibri"/>
              </a:rPr>
              <a:t>Asset types are also classified for easy navigation</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9" name="Group 8">
            <a:extLst>
              <a:ext uri="{FF2B5EF4-FFF2-40B4-BE49-F238E27FC236}">
                <a16:creationId xmlns:a16="http://schemas.microsoft.com/office/drawing/2014/main" id="{F8067E36-8E1C-579D-277A-74E9559FB853}"/>
              </a:ext>
            </a:extLst>
          </p:cNvPr>
          <p:cNvGrpSpPr/>
          <p:nvPr/>
        </p:nvGrpSpPr>
        <p:grpSpPr>
          <a:xfrm>
            <a:off x="0" y="0"/>
            <a:ext cx="463583" cy="6858000"/>
            <a:chOff x="0" y="0"/>
            <a:chExt cx="463583" cy="6858000"/>
          </a:xfrm>
        </p:grpSpPr>
        <p:sp>
          <p:nvSpPr>
            <p:cNvPr id="10" name="Rectangle 9">
              <a:extLst>
                <a:ext uri="{FF2B5EF4-FFF2-40B4-BE49-F238E27FC236}">
                  <a16:creationId xmlns:a16="http://schemas.microsoft.com/office/drawing/2014/main" id="{969E9256-69E0-487B-9952-899C8DC24918}"/>
                </a:ext>
              </a:extLst>
            </p:cNvPr>
            <p:cNvSpPr/>
            <p:nvPr/>
          </p:nvSpPr>
          <p:spPr bwMode="gray">
            <a:xfrm>
              <a:off x="0" y="0"/>
              <a:ext cx="463583" cy="6858000"/>
            </a:xfrm>
            <a:prstGeom prst="rect">
              <a:avLst/>
            </a:prstGeom>
            <a:solidFill>
              <a:schemeClr val="accent1"/>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AU" sz="1600" b="1" dirty="0"/>
            </a:p>
          </p:txBody>
        </p:sp>
        <p:sp>
          <p:nvSpPr>
            <p:cNvPr id="11" name="TextBox 10">
              <a:extLst>
                <a:ext uri="{FF2B5EF4-FFF2-40B4-BE49-F238E27FC236}">
                  <a16:creationId xmlns:a16="http://schemas.microsoft.com/office/drawing/2014/main" id="{9D5A66CB-77B9-DDFA-D8C0-504F7E1B61A2}"/>
                </a:ext>
              </a:extLst>
            </p:cNvPr>
            <p:cNvSpPr txBox="1"/>
            <p:nvPr/>
          </p:nvSpPr>
          <p:spPr>
            <a:xfrm>
              <a:off x="12589" y="606677"/>
              <a:ext cx="430887" cy="5644647"/>
            </a:xfrm>
            <a:prstGeom prst="rect">
              <a:avLst/>
            </a:prstGeom>
            <a:noFill/>
          </p:spPr>
          <p:txBody>
            <a:bodyPr vert="vert270" wrap="square" lIns="0" tIns="0" rIns="0" bIns="0" rtlCol="0">
              <a:spAutoFit/>
            </a:bodyPr>
            <a:lstStyle/>
            <a:p>
              <a:pPr algn="ctr">
                <a:spcBef>
                  <a:spcPts val="600"/>
                </a:spcBef>
                <a:buSzPct val="100000"/>
              </a:pPr>
              <a:r>
                <a:rPr lang="en-AU" sz="2800" b="1" dirty="0">
                  <a:solidFill>
                    <a:schemeClr val="bg1"/>
                  </a:solidFill>
                  <a:latin typeface="+mj-lt"/>
                  <a:cs typeface="Arial" panose="020B0604020202020204" pitchFamily="34" charset="0"/>
                </a:rPr>
                <a:t>Walkthrough of </a:t>
              </a:r>
              <a:r>
                <a:rPr lang="en-AU" sz="2800" b="1" dirty="0">
                  <a:latin typeface="+mj-lt"/>
                  <a:cs typeface="Arial" panose="020B0604020202020204" pitchFamily="34" charset="0"/>
                </a:rPr>
                <a:t>Web Portal</a:t>
              </a:r>
            </a:p>
          </p:txBody>
        </p:sp>
      </p:grpSp>
    </p:spTree>
    <p:extLst>
      <p:ext uri="{BB962C8B-B14F-4D97-AF65-F5344CB8AC3E}">
        <p14:creationId xmlns:p14="http://schemas.microsoft.com/office/powerpoint/2010/main" val="120508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F2A9BD6-1CFC-4112-930C-4B760867CCA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 name="Object 4" hidden="1">
                        <a:extLst>
                          <a:ext uri="{FF2B5EF4-FFF2-40B4-BE49-F238E27FC236}">
                            <a16:creationId xmlns:a16="http://schemas.microsoft.com/office/drawing/2014/main" id="{7F2A9BD6-1CFC-4112-930C-4B760867CC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descr="A black background with a black square&#10;&#10;Description automatically generated with medium confidence">
            <a:extLst>
              <a:ext uri="{FF2B5EF4-FFF2-40B4-BE49-F238E27FC236}">
                <a16:creationId xmlns:a16="http://schemas.microsoft.com/office/drawing/2014/main" id="{8B1CB9A3-4522-EAC4-452A-C85622BD70D4}"/>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971329" y="1269482"/>
            <a:ext cx="223348" cy="223348"/>
          </a:xfrm>
          <a:prstGeom prst="rect">
            <a:avLst/>
          </a:prstGeom>
        </p:spPr>
      </p:pic>
      <p:sp>
        <p:nvSpPr>
          <p:cNvPr id="85" name="Title 1">
            <a:extLst>
              <a:ext uri="{FF2B5EF4-FFF2-40B4-BE49-F238E27FC236}">
                <a16:creationId xmlns:a16="http://schemas.microsoft.com/office/drawing/2014/main" id="{27C139CD-742A-48CC-92AB-E1477014FAA3}"/>
              </a:ext>
            </a:extLst>
          </p:cNvPr>
          <p:cNvSpPr txBox="1">
            <a:spLocks/>
          </p:cNvSpPr>
          <p:nvPr/>
        </p:nvSpPr>
        <p:spPr>
          <a:xfrm>
            <a:off x="456426" y="267416"/>
            <a:ext cx="11188700" cy="309820"/>
          </a:xfrm>
          <a:prstGeom prst="rect">
            <a:avLst/>
          </a:prstGeom>
        </p:spPr>
        <p:txBody>
          <a:bodyPr vert="horz"/>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lvl="0">
              <a:defRPr/>
            </a:pPr>
            <a:r>
              <a:rPr lang="en-US" sz="2400" dirty="0">
                <a:latin typeface="+mj-lt"/>
                <a:cs typeface="+mj-cs"/>
              </a:rPr>
              <a:t>Asset Map - Overview</a:t>
            </a:r>
            <a:br>
              <a:rPr kumimoji="0" lang="en-US" sz="2176" b="1" i="0" u="none" strike="noStrike" kern="1200" cap="none" spc="0" normalizeH="0" baseline="0" noProof="0" dirty="0">
                <a:ln>
                  <a:noFill/>
                </a:ln>
                <a:solidFill>
                  <a:prstClr val="black"/>
                </a:solidFill>
                <a:effectLst/>
                <a:uLnTx/>
                <a:uFillTx/>
                <a:latin typeface="Calibri"/>
                <a:ea typeface="+mj-ea"/>
                <a:cs typeface="Calibri Light" panose="020F0302020204030204" pitchFamily="34" charset="0"/>
              </a:rPr>
            </a:br>
            <a:endParaRPr lang="en-US" sz="1800" dirty="0">
              <a:solidFill>
                <a:srgbClr val="575757"/>
              </a:solidFill>
              <a:ea typeface="+mn-ea"/>
              <a:cs typeface="+mn-cs"/>
            </a:endParaRPr>
          </a:p>
        </p:txBody>
      </p:sp>
      <p:pic>
        <p:nvPicPr>
          <p:cNvPr id="2" name="Picture 1">
            <a:extLst>
              <a:ext uri="{FF2B5EF4-FFF2-40B4-BE49-F238E27FC236}">
                <a16:creationId xmlns:a16="http://schemas.microsoft.com/office/drawing/2014/main" id="{58F851CF-BBF7-E9E5-0D5D-22D85AF75F2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bwMode="auto">
          <a:xfrm>
            <a:off x="2194677" y="920056"/>
            <a:ext cx="9496425" cy="5341739"/>
          </a:xfrm>
          <a:prstGeom prst="rect">
            <a:avLst/>
          </a:prstGeom>
          <a:noFill/>
        </p:spPr>
      </p:pic>
      <p:grpSp>
        <p:nvGrpSpPr>
          <p:cNvPr id="6" name="Group 5">
            <a:extLst>
              <a:ext uri="{FF2B5EF4-FFF2-40B4-BE49-F238E27FC236}">
                <a16:creationId xmlns:a16="http://schemas.microsoft.com/office/drawing/2014/main" id="{B5F33AD5-79A6-737D-3E77-D698988E02AD}"/>
              </a:ext>
            </a:extLst>
          </p:cNvPr>
          <p:cNvGrpSpPr/>
          <p:nvPr/>
        </p:nvGrpSpPr>
        <p:grpSpPr>
          <a:xfrm>
            <a:off x="5613141" y="1553004"/>
            <a:ext cx="2510849" cy="369332"/>
            <a:chOff x="10860401" y="3506534"/>
            <a:chExt cx="1814387" cy="369332"/>
          </a:xfrm>
        </p:grpSpPr>
        <p:cxnSp>
          <p:nvCxnSpPr>
            <p:cNvPr id="7" name="Straight Connector 6">
              <a:extLst>
                <a:ext uri="{FF2B5EF4-FFF2-40B4-BE49-F238E27FC236}">
                  <a16:creationId xmlns:a16="http://schemas.microsoft.com/office/drawing/2014/main" id="{1BD3F90F-9514-C6C8-5478-22A51274AE6C}"/>
                </a:ext>
              </a:extLst>
            </p:cNvPr>
            <p:cNvCxnSpPr/>
            <p:nvPr/>
          </p:nvCxnSpPr>
          <p:spPr>
            <a:xfrm>
              <a:off x="10860401" y="3507843"/>
              <a:ext cx="178685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F0F376B-C508-DF27-323C-5B00C20F1EC1}"/>
                </a:ext>
              </a:extLst>
            </p:cNvPr>
            <p:cNvCxnSpPr/>
            <p:nvPr/>
          </p:nvCxnSpPr>
          <p:spPr>
            <a:xfrm>
              <a:off x="10860401" y="3874556"/>
              <a:ext cx="178685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F919FD5-79C6-4945-B4DE-A75FEBDFD1CA}"/>
                </a:ext>
              </a:extLst>
            </p:cNvPr>
            <p:cNvSpPr txBox="1"/>
            <p:nvPr/>
          </p:nvSpPr>
          <p:spPr>
            <a:xfrm>
              <a:off x="10950326" y="3506534"/>
              <a:ext cx="1724462" cy="369332"/>
            </a:xfrm>
            <a:prstGeom prst="rect">
              <a:avLst/>
            </a:prstGeom>
            <a:noFill/>
          </p:spPr>
          <p:txBody>
            <a:bodyPr wrap="square" rtlCol="0">
              <a:spAutoFit/>
            </a:bodyPr>
            <a:lstStyle/>
            <a:p>
              <a:pPr algn="ctr"/>
              <a:r>
                <a:rPr lang="en-US" sz="1400" b="1" dirty="0">
                  <a:solidFill>
                    <a:srgbClr val="FF0000"/>
                  </a:solidFill>
                </a:rPr>
                <a:t>ILLUSTRATIVE</a:t>
              </a:r>
              <a:r>
                <a:rPr lang="en-US" b="1" dirty="0">
                  <a:solidFill>
                    <a:srgbClr val="FF0000"/>
                  </a:solidFill>
                </a:rPr>
                <a:t> </a:t>
              </a:r>
            </a:p>
          </p:txBody>
        </p:sp>
      </p:grpSp>
      <p:sp>
        <p:nvSpPr>
          <p:cNvPr id="3" name="TextBox 2">
            <a:extLst>
              <a:ext uri="{FF2B5EF4-FFF2-40B4-BE49-F238E27FC236}">
                <a16:creationId xmlns:a16="http://schemas.microsoft.com/office/drawing/2014/main" id="{4F545730-8D51-716B-2549-80897F2EDD1E}"/>
              </a:ext>
            </a:extLst>
          </p:cNvPr>
          <p:cNvSpPr txBox="1"/>
          <p:nvPr/>
        </p:nvSpPr>
        <p:spPr>
          <a:xfrm>
            <a:off x="654355" y="1228728"/>
            <a:ext cx="2184095"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a:rPr>
              <a:t>On selecting the        option as shown previously on the dashboard,</a:t>
            </a:r>
            <a:r>
              <a:rPr kumimoji="0" lang="en-US" sz="1400" b="0" i="0" u="none" strike="noStrike" kern="1200" cap="none" spc="0" normalizeH="0" baseline="0" noProof="0" dirty="0">
                <a:ln>
                  <a:noFill/>
                </a:ln>
                <a:solidFill>
                  <a:prstClr val="black"/>
                </a:solidFill>
                <a:effectLst/>
                <a:uLnTx/>
                <a:uFillTx/>
                <a:latin typeface="Calibri"/>
                <a:ea typeface="+mn-ea"/>
                <a:cs typeface="+mn-cs"/>
              </a:rPr>
              <a:t> </a:t>
            </a:r>
            <a:r>
              <a:rPr kumimoji="0" lang="en-US" sz="1400" b="1" i="0" u="none" strike="noStrike" kern="1200" cap="none" spc="0" normalizeH="0" baseline="0" noProof="0" dirty="0">
                <a:ln>
                  <a:noFill/>
                </a:ln>
                <a:solidFill>
                  <a:schemeClr val="accent3"/>
                </a:solidFill>
                <a:effectLst/>
                <a:uLnTx/>
                <a:uFillTx/>
                <a:latin typeface="Calibri"/>
                <a:ea typeface="+mn-ea"/>
                <a:cs typeface="+mn-cs"/>
              </a:rPr>
              <a:t>Attribute Table </a:t>
            </a:r>
            <a:r>
              <a:rPr kumimoji="0" lang="en-US" sz="1400" b="0" i="0" u="none" strike="noStrike" kern="1200" cap="none" spc="0" normalizeH="0" baseline="0" noProof="0" dirty="0">
                <a:ln>
                  <a:noFill/>
                </a:ln>
                <a:solidFill>
                  <a:prstClr val="black"/>
                </a:solidFill>
                <a:effectLst/>
                <a:uLnTx/>
                <a:uFillTx/>
                <a:latin typeface="Calibri"/>
                <a:ea typeface="+mn-ea"/>
                <a:cs typeface="+mn-cs"/>
              </a:rPr>
              <a:t>of the selected asset type is displayed to the user. User can also select a particular asset and view the captured images of the same.</a:t>
            </a:r>
          </a:p>
        </p:txBody>
      </p:sp>
      <p:grpSp>
        <p:nvGrpSpPr>
          <p:cNvPr id="9" name="Group 8">
            <a:extLst>
              <a:ext uri="{FF2B5EF4-FFF2-40B4-BE49-F238E27FC236}">
                <a16:creationId xmlns:a16="http://schemas.microsoft.com/office/drawing/2014/main" id="{F8067E36-8E1C-579D-277A-74E9559FB853}"/>
              </a:ext>
            </a:extLst>
          </p:cNvPr>
          <p:cNvGrpSpPr/>
          <p:nvPr/>
        </p:nvGrpSpPr>
        <p:grpSpPr>
          <a:xfrm>
            <a:off x="0" y="0"/>
            <a:ext cx="463583" cy="6858000"/>
            <a:chOff x="0" y="0"/>
            <a:chExt cx="463583" cy="6858000"/>
          </a:xfrm>
        </p:grpSpPr>
        <p:sp>
          <p:nvSpPr>
            <p:cNvPr id="10" name="Rectangle 9">
              <a:extLst>
                <a:ext uri="{FF2B5EF4-FFF2-40B4-BE49-F238E27FC236}">
                  <a16:creationId xmlns:a16="http://schemas.microsoft.com/office/drawing/2014/main" id="{969E9256-69E0-487B-9952-899C8DC24918}"/>
                </a:ext>
              </a:extLst>
            </p:cNvPr>
            <p:cNvSpPr/>
            <p:nvPr/>
          </p:nvSpPr>
          <p:spPr bwMode="gray">
            <a:xfrm>
              <a:off x="0" y="0"/>
              <a:ext cx="463583" cy="6858000"/>
            </a:xfrm>
            <a:prstGeom prst="rect">
              <a:avLst/>
            </a:prstGeom>
            <a:solidFill>
              <a:schemeClr val="accent1"/>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AU" sz="1600" b="1" dirty="0"/>
            </a:p>
          </p:txBody>
        </p:sp>
        <p:sp>
          <p:nvSpPr>
            <p:cNvPr id="11" name="TextBox 10">
              <a:extLst>
                <a:ext uri="{FF2B5EF4-FFF2-40B4-BE49-F238E27FC236}">
                  <a16:creationId xmlns:a16="http://schemas.microsoft.com/office/drawing/2014/main" id="{9D5A66CB-77B9-DDFA-D8C0-504F7E1B61A2}"/>
                </a:ext>
              </a:extLst>
            </p:cNvPr>
            <p:cNvSpPr txBox="1"/>
            <p:nvPr/>
          </p:nvSpPr>
          <p:spPr>
            <a:xfrm>
              <a:off x="12589" y="606677"/>
              <a:ext cx="430887" cy="5644647"/>
            </a:xfrm>
            <a:prstGeom prst="rect">
              <a:avLst/>
            </a:prstGeom>
            <a:noFill/>
          </p:spPr>
          <p:txBody>
            <a:bodyPr vert="vert270" wrap="square" lIns="0" tIns="0" rIns="0" bIns="0" rtlCol="0">
              <a:spAutoFit/>
            </a:bodyPr>
            <a:lstStyle/>
            <a:p>
              <a:pPr algn="ctr">
                <a:spcBef>
                  <a:spcPts val="600"/>
                </a:spcBef>
                <a:buSzPct val="100000"/>
              </a:pPr>
              <a:r>
                <a:rPr lang="en-AU" sz="2800" b="1" dirty="0">
                  <a:solidFill>
                    <a:schemeClr val="bg1"/>
                  </a:solidFill>
                  <a:latin typeface="+mj-lt"/>
                  <a:cs typeface="Arial" panose="020B0604020202020204" pitchFamily="34" charset="0"/>
                </a:rPr>
                <a:t>Walkthrough of </a:t>
              </a:r>
              <a:r>
                <a:rPr lang="en-AU" sz="2800" b="1" dirty="0">
                  <a:latin typeface="+mj-lt"/>
                  <a:cs typeface="Arial" panose="020B0604020202020204" pitchFamily="34" charset="0"/>
                </a:rPr>
                <a:t>Web Portal</a:t>
              </a:r>
            </a:p>
          </p:txBody>
        </p:sp>
      </p:grpSp>
    </p:spTree>
    <p:extLst>
      <p:ext uri="{BB962C8B-B14F-4D97-AF65-F5344CB8AC3E}">
        <p14:creationId xmlns:p14="http://schemas.microsoft.com/office/powerpoint/2010/main" val="1330586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F2A9BD6-1CFC-4112-930C-4B760867CCA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 name="Object 4" hidden="1">
                        <a:extLst>
                          <a:ext uri="{FF2B5EF4-FFF2-40B4-BE49-F238E27FC236}">
                            <a16:creationId xmlns:a16="http://schemas.microsoft.com/office/drawing/2014/main" id="{7F2A9BD6-1CFC-4112-930C-4B760867CC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5" name="Title 1">
            <a:extLst>
              <a:ext uri="{FF2B5EF4-FFF2-40B4-BE49-F238E27FC236}">
                <a16:creationId xmlns:a16="http://schemas.microsoft.com/office/drawing/2014/main" id="{27C139CD-742A-48CC-92AB-E1477014FAA3}"/>
              </a:ext>
            </a:extLst>
          </p:cNvPr>
          <p:cNvSpPr txBox="1">
            <a:spLocks/>
          </p:cNvSpPr>
          <p:nvPr/>
        </p:nvSpPr>
        <p:spPr>
          <a:xfrm>
            <a:off x="456426" y="267416"/>
            <a:ext cx="11188700" cy="309820"/>
          </a:xfrm>
          <a:prstGeom prst="rect">
            <a:avLst/>
          </a:prstGeom>
        </p:spPr>
        <p:txBody>
          <a:bodyPr vert="horz"/>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lvl="0">
              <a:defRPr/>
            </a:pPr>
            <a:r>
              <a:rPr lang="en-US" sz="2400" dirty="0">
                <a:latin typeface="+mj-lt"/>
                <a:cs typeface="+mj-cs"/>
              </a:rPr>
              <a:t>Asset Map using open-source GIS - Overview</a:t>
            </a:r>
            <a:br>
              <a:rPr kumimoji="0" lang="en-US" sz="2176" b="1" i="0" u="none" strike="noStrike" kern="1200" cap="none" spc="0" normalizeH="0" baseline="0" noProof="0" dirty="0">
                <a:ln>
                  <a:noFill/>
                </a:ln>
                <a:solidFill>
                  <a:prstClr val="black"/>
                </a:solidFill>
                <a:effectLst/>
                <a:uLnTx/>
                <a:uFillTx/>
                <a:latin typeface="Calibri"/>
                <a:ea typeface="+mj-ea"/>
                <a:cs typeface="Calibri Light" panose="020F0302020204030204" pitchFamily="34" charset="0"/>
              </a:rPr>
            </a:br>
            <a:endParaRPr lang="en-US" sz="1800" dirty="0">
              <a:solidFill>
                <a:srgbClr val="575757"/>
              </a:solidFill>
              <a:ea typeface="+mn-ea"/>
              <a:cs typeface="+mn-cs"/>
            </a:endParaRPr>
          </a:p>
        </p:txBody>
      </p:sp>
      <p:pic>
        <p:nvPicPr>
          <p:cNvPr id="2" name="Picture 1">
            <a:extLst>
              <a:ext uri="{FF2B5EF4-FFF2-40B4-BE49-F238E27FC236}">
                <a16:creationId xmlns:a16="http://schemas.microsoft.com/office/drawing/2014/main" id="{B1FC20CC-6265-4F51-B647-8E73EB434CF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9415" r="3308" b="6211"/>
          <a:stretch/>
        </p:blipFill>
        <p:spPr bwMode="auto">
          <a:xfrm>
            <a:off x="551676" y="844652"/>
            <a:ext cx="9087624" cy="5298973"/>
          </a:xfrm>
          <a:prstGeom prst="rect">
            <a:avLst/>
          </a:prstGeom>
          <a:ln w="3175">
            <a:solidFill>
              <a:schemeClr val="tx1"/>
            </a:solidFill>
          </a:ln>
          <a:extLst>
            <a:ext uri="{53640926-AAD7-44D8-BBD7-CCE9431645EC}">
              <a14:shadowObscured xmlns:a14="http://schemas.microsoft.com/office/drawing/2010/main"/>
            </a:ext>
          </a:extLst>
        </p:spPr>
      </p:pic>
      <p:grpSp>
        <p:nvGrpSpPr>
          <p:cNvPr id="6" name="Group 5">
            <a:extLst>
              <a:ext uri="{FF2B5EF4-FFF2-40B4-BE49-F238E27FC236}">
                <a16:creationId xmlns:a16="http://schemas.microsoft.com/office/drawing/2014/main" id="{B5F33AD5-79A6-737D-3E77-D698988E02AD}"/>
              </a:ext>
            </a:extLst>
          </p:cNvPr>
          <p:cNvGrpSpPr/>
          <p:nvPr/>
        </p:nvGrpSpPr>
        <p:grpSpPr>
          <a:xfrm rot="20337563">
            <a:off x="6110996" y="405838"/>
            <a:ext cx="1713166" cy="401678"/>
            <a:chOff x="11620122" y="2127813"/>
            <a:chExt cx="1877175" cy="401678"/>
          </a:xfrm>
        </p:grpSpPr>
        <p:cxnSp>
          <p:nvCxnSpPr>
            <p:cNvPr id="7" name="Straight Connector 6">
              <a:extLst>
                <a:ext uri="{FF2B5EF4-FFF2-40B4-BE49-F238E27FC236}">
                  <a16:creationId xmlns:a16="http://schemas.microsoft.com/office/drawing/2014/main" id="{1BD3F90F-9514-C6C8-5478-22A51274AE6C}"/>
                </a:ext>
              </a:extLst>
            </p:cNvPr>
            <p:cNvCxnSpPr/>
            <p:nvPr/>
          </p:nvCxnSpPr>
          <p:spPr>
            <a:xfrm>
              <a:off x="11620122" y="2127813"/>
              <a:ext cx="178685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F0F376B-C508-DF27-323C-5B00C20F1EC1}"/>
                </a:ext>
              </a:extLst>
            </p:cNvPr>
            <p:cNvCxnSpPr/>
            <p:nvPr/>
          </p:nvCxnSpPr>
          <p:spPr>
            <a:xfrm>
              <a:off x="11651972" y="2529491"/>
              <a:ext cx="178685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F919FD5-79C6-4945-B4DE-A75FEBDFD1CA}"/>
                </a:ext>
              </a:extLst>
            </p:cNvPr>
            <p:cNvSpPr txBox="1"/>
            <p:nvPr/>
          </p:nvSpPr>
          <p:spPr>
            <a:xfrm>
              <a:off x="11772835" y="2150701"/>
              <a:ext cx="1724462" cy="369332"/>
            </a:xfrm>
            <a:prstGeom prst="rect">
              <a:avLst/>
            </a:prstGeom>
            <a:noFill/>
          </p:spPr>
          <p:txBody>
            <a:bodyPr wrap="square" rtlCol="0">
              <a:spAutoFit/>
            </a:bodyPr>
            <a:lstStyle/>
            <a:p>
              <a:pPr algn="ctr"/>
              <a:r>
                <a:rPr lang="en-US" b="1" dirty="0">
                  <a:solidFill>
                    <a:srgbClr val="FF0000"/>
                  </a:solidFill>
                </a:rPr>
                <a:t>ILLUSTRATIVE </a:t>
              </a:r>
            </a:p>
          </p:txBody>
        </p:sp>
      </p:grpSp>
      <p:grpSp>
        <p:nvGrpSpPr>
          <p:cNvPr id="3" name="Group 2">
            <a:extLst>
              <a:ext uri="{FF2B5EF4-FFF2-40B4-BE49-F238E27FC236}">
                <a16:creationId xmlns:a16="http://schemas.microsoft.com/office/drawing/2014/main" id="{5CE91BCB-44EF-DD34-5085-361C49C36372}"/>
              </a:ext>
            </a:extLst>
          </p:cNvPr>
          <p:cNvGrpSpPr/>
          <p:nvPr/>
        </p:nvGrpSpPr>
        <p:grpSpPr>
          <a:xfrm>
            <a:off x="0" y="0"/>
            <a:ext cx="463583" cy="6858000"/>
            <a:chOff x="0" y="0"/>
            <a:chExt cx="463583" cy="6858000"/>
          </a:xfrm>
        </p:grpSpPr>
        <p:sp>
          <p:nvSpPr>
            <p:cNvPr id="4" name="Rectangle 3">
              <a:extLst>
                <a:ext uri="{FF2B5EF4-FFF2-40B4-BE49-F238E27FC236}">
                  <a16:creationId xmlns:a16="http://schemas.microsoft.com/office/drawing/2014/main" id="{11C9DD6F-9AB4-1B04-49B8-6C8CF110533F}"/>
                </a:ext>
              </a:extLst>
            </p:cNvPr>
            <p:cNvSpPr/>
            <p:nvPr/>
          </p:nvSpPr>
          <p:spPr bwMode="gray">
            <a:xfrm>
              <a:off x="0" y="0"/>
              <a:ext cx="463583" cy="6858000"/>
            </a:xfrm>
            <a:prstGeom prst="rect">
              <a:avLst/>
            </a:prstGeom>
            <a:solidFill>
              <a:schemeClr val="accent1"/>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AU" sz="1600" b="1" dirty="0"/>
            </a:p>
          </p:txBody>
        </p:sp>
        <p:sp>
          <p:nvSpPr>
            <p:cNvPr id="8" name="TextBox 7">
              <a:extLst>
                <a:ext uri="{FF2B5EF4-FFF2-40B4-BE49-F238E27FC236}">
                  <a16:creationId xmlns:a16="http://schemas.microsoft.com/office/drawing/2014/main" id="{0138A7A2-10C0-0A55-8E21-89423C80F36E}"/>
                </a:ext>
              </a:extLst>
            </p:cNvPr>
            <p:cNvSpPr txBox="1"/>
            <p:nvPr/>
          </p:nvSpPr>
          <p:spPr>
            <a:xfrm>
              <a:off x="12589" y="606677"/>
              <a:ext cx="430887" cy="5644647"/>
            </a:xfrm>
            <a:prstGeom prst="rect">
              <a:avLst/>
            </a:prstGeom>
            <a:noFill/>
          </p:spPr>
          <p:txBody>
            <a:bodyPr vert="vert270" wrap="square" lIns="0" tIns="0" rIns="0" bIns="0" rtlCol="0">
              <a:spAutoFit/>
            </a:bodyPr>
            <a:lstStyle/>
            <a:p>
              <a:pPr algn="ctr">
                <a:spcBef>
                  <a:spcPts val="600"/>
                </a:spcBef>
                <a:buSzPct val="100000"/>
              </a:pPr>
              <a:r>
                <a:rPr lang="en-AU" sz="2800" b="1" dirty="0">
                  <a:solidFill>
                    <a:schemeClr val="bg1"/>
                  </a:solidFill>
                  <a:latin typeface="+mj-lt"/>
                  <a:cs typeface="Arial" panose="020B0604020202020204" pitchFamily="34" charset="0"/>
                </a:rPr>
                <a:t>Walkthrough of </a:t>
              </a:r>
              <a:r>
                <a:rPr lang="en-AU" sz="2800" b="1" dirty="0">
                  <a:latin typeface="+mj-lt"/>
                  <a:cs typeface="Arial" panose="020B0604020202020204" pitchFamily="34" charset="0"/>
                </a:rPr>
                <a:t>Web Portal</a:t>
              </a:r>
            </a:p>
          </p:txBody>
        </p:sp>
      </p:grpSp>
      <p:sp>
        <p:nvSpPr>
          <p:cNvPr id="9" name="AutoShape 5">
            <a:extLst>
              <a:ext uri="{FF2B5EF4-FFF2-40B4-BE49-F238E27FC236}">
                <a16:creationId xmlns:a16="http://schemas.microsoft.com/office/drawing/2014/main" id="{2021BE6B-72C3-5862-0235-813A1A75244E}"/>
              </a:ext>
            </a:extLst>
          </p:cNvPr>
          <p:cNvSpPr>
            <a:spLocks noChangeArrowheads="1"/>
          </p:cNvSpPr>
          <p:nvPr/>
        </p:nvSpPr>
        <p:spPr bwMode="auto">
          <a:xfrm>
            <a:off x="9896774" y="1028700"/>
            <a:ext cx="1502687" cy="781050"/>
          </a:xfrm>
          <a:prstGeom prst="wedgeRectCallout">
            <a:avLst>
              <a:gd name="adj1" fmla="val -102880"/>
              <a:gd name="adj2" fmla="val 134768"/>
            </a:avLst>
          </a:prstGeom>
          <a:solidFill>
            <a:schemeClr val="accent1">
              <a:lumMod val="40000"/>
              <a:lumOff val="60000"/>
            </a:schemeClr>
          </a:solidFill>
          <a:ln w="12700">
            <a:noFill/>
            <a:miter lim="800000"/>
            <a:headEnd/>
            <a:tailEnd/>
          </a:ln>
        </p:spPr>
        <p:txBody>
          <a:bodyPr wrap="square" lIns="88900" tIns="88900" rIns="88900" bIns="88900" anchor="ctr"/>
          <a:lstStyle/>
          <a:p>
            <a:pPr lvl="0" fontAlgn="base">
              <a:spcBef>
                <a:spcPct val="0"/>
              </a:spcBef>
              <a:spcAft>
                <a:spcPct val="0"/>
              </a:spcAft>
            </a:pPr>
            <a:r>
              <a:rPr lang="en-US" sz="1100" b="1" dirty="0">
                <a:solidFill>
                  <a:sysClr val="windowText" lastClr="000000"/>
                </a:solidFill>
              </a:rPr>
              <a:t>Details of asset under a substation can also be viewed on the map layer</a:t>
            </a:r>
          </a:p>
        </p:txBody>
      </p:sp>
      <p:sp>
        <p:nvSpPr>
          <p:cNvPr id="10" name="AutoShape 5">
            <a:extLst>
              <a:ext uri="{FF2B5EF4-FFF2-40B4-BE49-F238E27FC236}">
                <a16:creationId xmlns:a16="http://schemas.microsoft.com/office/drawing/2014/main" id="{57FB1EBD-360B-F0E7-4FFD-CC870BD5EB01}"/>
              </a:ext>
            </a:extLst>
          </p:cNvPr>
          <p:cNvSpPr>
            <a:spLocks noChangeArrowheads="1"/>
          </p:cNvSpPr>
          <p:nvPr/>
        </p:nvSpPr>
        <p:spPr bwMode="auto">
          <a:xfrm>
            <a:off x="9896773" y="3188980"/>
            <a:ext cx="1502687" cy="1057275"/>
          </a:xfrm>
          <a:prstGeom prst="wedgeRectCallout">
            <a:avLst>
              <a:gd name="adj1" fmla="val -102880"/>
              <a:gd name="adj2" fmla="val 134768"/>
            </a:avLst>
          </a:prstGeom>
          <a:solidFill>
            <a:schemeClr val="accent1">
              <a:lumMod val="40000"/>
              <a:lumOff val="60000"/>
            </a:schemeClr>
          </a:solidFill>
          <a:ln w="12700">
            <a:noFill/>
            <a:miter lim="800000"/>
            <a:headEnd/>
            <a:tailEnd/>
          </a:ln>
        </p:spPr>
        <p:txBody>
          <a:bodyPr wrap="square" lIns="88900" tIns="88900" rIns="88900" bIns="88900" anchor="ctr"/>
          <a:lstStyle/>
          <a:p>
            <a:pPr lvl="0" fontAlgn="base">
              <a:spcBef>
                <a:spcPct val="0"/>
              </a:spcBef>
              <a:spcAft>
                <a:spcPct val="0"/>
              </a:spcAft>
            </a:pPr>
            <a:r>
              <a:rPr lang="en-US" sz="1100" b="1" dirty="0">
                <a:solidFill>
                  <a:sysClr val="windowText" lastClr="000000"/>
                </a:solidFill>
              </a:rPr>
              <a:t>Details of each and every pole under a feeder along with their attributes can also be viewed on the map layer</a:t>
            </a:r>
          </a:p>
        </p:txBody>
      </p:sp>
    </p:spTree>
    <p:extLst>
      <p:ext uri="{BB962C8B-B14F-4D97-AF65-F5344CB8AC3E}">
        <p14:creationId xmlns:p14="http://schemas.microsoft.com/office/powerpoint/2010/main" val="2642629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Object 36" hidden="1">
            <a:extLst>
              <a:ext uri="{FF2B5EF4-FFF2-40B4-BE49-F238E27FC236}">
                <a16:creationId xmlns:a16="http://schemas.microsoft.com/office/drawing/2014/main" id="{E8124B20-89CE-4E58-99B7-6AD3765DA98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37" name="Object 36" hidden="1">
                        <a:extLst>
                          <a:ext uri="{FF2B5EF4-FFF2-40B4-BE49-F238E27FC236}">
                            <a16:creationId xmlns:a16="http://schemas.microsoft.com/office/drawing/2014/main" id="{E8124B20-89CE-4E58-99B7-6AD3765DA9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3D2A0E5-5CD9-6C1E-A486-B4A4815F2CE5}"/>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a:extLst>
              <a:ext uri="{FF2B5EF4-FFF2-40B4-BE49-F238E27FC236}">
                <a16:creationId xmlns:a16="http://schemas.microsoft.com/office/drawing/2014/main" id="{5D49CA2B-1430-A99A-9C5E-4D834F74412E}"/>
              </a:ext>
            </a:extLst>
          </p:cNvPr>
          <p:cNvSpPr txBox="1">
            <a:spLocks/>
          </p:cNvSpPr>
          <p:nvPr/>
        </p:nvSpPr>
        <p:spPr>
          <a:xfrm>
            <a:off x="388854" y="5782057"/>
            <a:ext cx="9981459" cy="1075943"/>
          </a:xfrm>
          <a:prstGeom prst="rect">
            <a:avLst/>
          </a:prstGeom>
          <a:solidFill>
            <a:schemeClr val="tx1">
              <a:lumMod val="50000"/>
              <a:lumOff val="50000"/>
              <a:alpha val="0"/>
            </a:schemeClr>
          </a:solidFill>
        </p:spPr>
        <p:txBody>
          <a:bodyPr vert="horz" lIns="91440" tIns="91440" rIns="91440" bIns="9144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b="1" dirty="0">
                <a:solidFill>
                  <a:schemeClr val="bg1"/>
                </a:solidFill>
              </a:rPr>
              <a:t>Success stories of Clients</a:t>
            </a:r>
          </a:p>
        </p:txBody>
      </p:sp>
      <p:grpSp>
        <p:nvGrpSpPr>
          <p:cNvPr id="29" name="Group 28">
            <a:extLst>
              <a:ext uri="{FF2B5EF4-FFF2-40B4-BE49-F238E27FC236}">
                <a16:creationId xmlns:a16="http://schemas.microsoft.com/office/drawing/2014/main" id="{E2C7EB70-2DB3-2454-0B78-2CF58ABFE659}"/>
              </a:ext>
            </a:extLst>
          </p:cNvPr>
          <p:cNvGrpSpPr/>
          <p:nvPr/>
        </p:nvGrpSpPr>
        <p:grpSpPr>
          <a:xfrm>
            <a:off x="3677285" y="552741"/>
            <a:ext cx="4837430" cy="4838119"/>
            <a:chOff x="3901439" y="1234126"/>
            <a:chExt cx="4389123" cy="4389748"/>
          </a:xfrm>
        </p:grpSpPr>
        <p:sp>
          <p:nvSpPr>
            <p:cNvPr id="30" name="object 3">
              <a:extLst>
                <a:ext uri="{FF2B5EF4-FFF2-40B4-BE49-F238E27FC236}">
                  <a16:creationId xmlns:a16="http://schemas.microsoft.com/office/drawing/2014/main" id="{999D2D18-38DB-727D-5C49-22BC6D1D065D}"/>
                </a:ext>
              </a:extLst>
            </p:cNvPr>
            <p:cNvSpPr/>
            <p:nvPr/>
          </p:nvSpPr>
          <p:spPr>
            <a:xfrm>
              <a:off x="3901439" y="1234126"/>
              <a:ext cx="4389123" cy="4389748"/>
            </a:xfrm>
            <a:prstGeom prst="rect">
              <a:avLst/>
            </a:prstGeom>
            <a:blipFill>
              <a:blip r:embed="rId5" cstate="print"/>
              <a:stretch>
                <a:fillRect/>
              </a:stretch>
            </a:blip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33" name="object 4">
              <a:extLst>
                <a:ext uri="{FF2B5EF4-FFF2-40B4-BE49-F238E27FC236}">
                  <a16:creationId xmlns:a16="http://schemas.microsoft.com/office/drawing/2014/main" id="{2395AA84-C4C2-290D-5865-B7ADF3CFCF24}"/>
                </a:ext>
              </a:extLst>
            </p:cNvPr>
            <p:cNvSpPr/>
            <p:nvPr/>
          </p:nvSpPr>
          <p:spPr>
            <a:xfrm>
              <a:off x="5445978" y="4052885"/>
              <a:ext cx="687070" cy="261620"/>
            </a:xfrm>
            <a:custGeom>
              <a:avLst/>
              <a:gdLst/>
              <a:ahLst/>
              <a:cxnLst/>
              <a:rect l="l" t="t" r="r" b="b"/>
              <a:pathLst>
                <a:path w="687070" h="261620">
                  <a:moveTo>
                    <a:pt x="686701" y="261048"/>
                  </a:moveTo>
                  <a:lnTo>
                    <a:pt x="0" y="261048"/>
                  </a:lnTo>
                  <a:lnTo>
                    <a:pt x="0" y="0"/>
                  </a:lnTo>
                  <a:lnTo>
                    <a:pt x="686701" y="0"/>
                  </a:lnTo>
                  <a:lnTo>
                    <a:pt x="686701" y="261048"/>
                  </a:lnTo>
                  <a:close/>
                </a:path>
              </a:pathLst>
            </a:custGeom>
            <a:solidFill>
              <a:srgbClr val="00492B"/>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prstClr val="black"/>
                </a:solidFill>
                <a:effectLst/>
                <a:uLnTx/>
                <a:uFillTx/>
                <a:latin typeface="Verdana"/>
                <a:ea typeface="+mn-ea"/>
                <a:cs typeface="+mn-cs"/>
              </a:endParaRPr>
            </a:p>
          </p:txBody>
        </p:sp>
      </p:grpSp>
    </p:spTree>
    <p:extLst>
      <p:ext uri="{BB962C8B-B14F-4D97-AF65-F5344CB8AC3E}">
        <p14:creationId xmlns:p14="http://schemas.microsoft.com/office/powerpoint/2010/main" val="1058434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1C3CF6-DACE-3BC9-B6E2-4A901262320A}"/>
              </a:ext>
            </a:extLst>
          </p:cNvPr>
          <p:cNvPicPr>
            <a:picLocks noChangeAspect="1"/>
          </p:cNvPicPr>
          <p:nvPr/>
        </p:nvPicPr>
        <p:blipFill rotWithShape="1">
          <a:blip r:embed="rId2">
            <a:grayscl/>
            <a:alphaModFix amt="87000"/>
            <a:extLst>
              <a:ext uri="{BEBA8EAE-BF5A-486C-A8C5-ECC9F3942E4B}">
                <a14:imgProps xmlns:a14="http://schemas.microsoft.com/office/drawing/2010/main">
                  <a14:imgLayer r:embed="rId3">
                    <a14:imgEffect>
                      <a14:colorTemperature colorTemp="4700"/>
                    </a14:imgEffect>
                    <a14:imgEffect>
                      <a14:saturation sat="61000"/>
                    </a14:imgEffect>
                  </a14:imgLayer>
                </a14:imgProps>
              </a:ext>
            </a:extLst>
          </a:blip>
          <a:srcRect t="12821" b="13919"/>
          <a:stretch/>
        </p:blipFill>
        <p:spPr>
          <a:xfrm>
            <a:off x="1860656" y="1494322"/>
            <a:ext cx="8851606" cy="4950276"/>
          </a:xfrm>
          <a:prstGeom prst="rect">
            <a:avLst/>
          </a:prstGeom>
        </p:spPr>
      </p:pic>
      <p:sp>
        <p:nvSpPr>
          <p:cNvPr id="6" name="Title 1">
            <a:extLst>
              <a:ext uri="{FF2B5EF4-FFF2-40B4-BE49-F238E27FC236}">
                <a16:creationId xmlns:a16="http://schemas.microsoft.com/office/drawing/2014/main" id="{C8C32E11-ECB2-4668-921A-9D9CDB203D92}"/>
              </a:ext>
            </a:extLst>
          </p:cNvPr>
          <p:cNvSpPr txBox="1">
            <a:spLocks/>
          </p:cNvSpPr>
          <p:nvPr/>
        </p:nvSpPr>
        <p:spPr>
          <a:xfrm>
            <a:off x="456426" y="267416"/>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Our experience in Utility Asset Management</a:t>
            </a:r>
          </a:p>
        </p:txBody>
      </p:sp>
      <p:sp>
        <p:nvSpPr>
          <p:cNvPr id="2" name="Title 1">
            <a:extLst>
              <a:ext uri="{FF2B5EF4-FFF2-40B4-BE49-F238E27FC236}">
                <a16:creationId xmlns:a16="http://schemas.microsoft.com/office/drawing/2014/main" id="{0A4588DB-77F1-668D-722A-34B986186B20}"/>
              </a:ext>
            </a:extLst>
          </p:cNvPr>
          <p:cNvSpPr txBox="1">
            <a:spLocks/>
          </p:cNvSpPr>
          <p:nvPr/>
        </p:nvSpPr>
        <p:spPr>
          <a:xfrm>
            <a:off x="478709" y="646298"/>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800" dirty="0">
                <a:solidFill>
                  <a:srgbClr val="575757"/>
                </a:solidFill>
                <a:latin typeface="Verdana" panose="020B0604030504040204" pitchFamily="34" charset="0"/>
                <a:ea typeface="Verdana" panose="020B0604030504040204" pitchFamily="34" charset="0"/>
                <a:cs typeface="+mn-cs"/>
              </a:rPr>
              <a:t>We have extensive experience in Asset Management for Indian &amp; Global Utility Clients</a:t>
            </a:r>
          </a:p>
        </p:txBody>
      </p:sp>
      <p:sp>
        <p:nvSpPr>
          <p:cNvPr id="3" name="Rectangle 2">
            <a:extLst>
              <a:ext uri="{FF2B5EF4-FFF2-40B4-BE49-F238E27FC236}">
                <a16:creationId xmlns:a16="http://schemas.microsoft.com/office/drawing/2014/main" id="{D7487E6E-61BD-5253-25CD-97B2F801E262}"/>
              </a:ext>
            </a:extLst>
          </p:cNvPr>
          <p:cNvSpPr/>
          <p:nvPr/>
        </p:nvSpPr>
        <p:spPr bwMode="gray">
          <a:xfrm>
            <a:off x="479425"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r>
              <a:rPr kumimoji="0" lang="en-US" sz="1100" b="1" i="0" u="none" strike="noStrike" kern="0" cap="none" spc="0" normalizeH="0" baseline="0" noProof="0" dirty="0">
                <a:ln>
                  <a:noFill/>
                </a:ln>
                <a:solidFill>
                  <a:schemeClr val="accent5"/>
                </a:solidFill>
                <a:effectLst/>
                <a:uLnTx/>
                <a:uFillTx/>
                <a:ea typeface="+mn-ea"/>
                <a:cs typeface="+mn-cs"/>
              </a:rPr>
              <a:t>Background</a:t>
            </a:r>
          </a:p>
          <a:p>
            <a:pPr marR="0" lvl="0"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ea typeface="+mn-ea"/>
                <a:cs typeface="Arial" charset="0"/>
              </a:rPr>
              <a:t>Nepal Electricity Authority (NEA) has engaged Deloitte to carry out a nation-wide asset verification &amp; valuation exercise and develop asset management policies and processes.  The project dealt with development of an asset register tool for verification and categorization of utility-based assets. Post verification and valuation, Deloitte shall recommend the  adjustments to be made in the Financial Statements. </a:t>
            </a:r>
            <a:br>
              <a:rPr kumimoji="0" lang="en-US" sz="1100" b="0" i="0" u="none" strike="noStrike" kern="1200" cap="none" spc="0" normalizeH="0" baseline="0" noProof="0" dirty="0">
                <a:ln>
                  <a:noFill/>
                </a:ln>
                <a:solidFill>
                  <a:prstClr val="black"/>
                </a:solidFill>
                <a:effectLst/>
                <a:uLnTx/>
                <a:uFillTx/>
                <a:ea typeface="+mn-ea"/>
                <a:cs typeface="Arial" charset="0"/>
              </a:rPr>
            </a:br>
            <a:endParaRPr kumimoji="0" lang="en-US" sz="1100" b="0" i="0" u="none" strike="noStrike" kern="1200" cap="none" spc="0" normalizeH="0" baseline="0" noProof="0" dirty="0">
              <a:ln>
                <a:noFill/>
              </a:ln>
              <a:solidFill>
                <a:prstClr val="black"/>
              </a:solidFill>
              <a:effectLst/>
              <a:uLnTx/>
              <a:uFillTx/>
              <a:ea typeface="+mn-ea"/>
              <a:cs typeface="Arial" charset="0"/>
            </a:endParaRP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1" i="0" u="none" strike="noStrike" kern="0" cap="none" spc="0" normalizeH="0" baseline="0" noProof="0" dirty="0">
                <a:ln>
                  <a:noFill/>
                </a:ln>
                <a:solidFill>
                  <a:schemeClr val="accent5"/>
                </a:solidFill>
                <a:effectLst/>
                <a:uLnTx/>
                <a:uFillTx/>
                <a:ea typeface="+mn-ea"/>
                <a:cs typeface="+mn-cs"/>
              </a:rPr>
              <a:t>Scope and Approach</a:t>
            </a:r>
          </a:p>
          <a:p>
            <a:pPr marL="173038" marR="0" lvl="1" indent="-171450" algn="just" defTabSz="914400" rtl="0" eaLnBrk="1" fontAlgn="base" latinLnBrk="0" hangingPunct="1">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Arial" charset="0"/>
              </a:rPr>
              <a:t>Conducted NEA As-Is analysis to understand the accounting policies and processes, asset listing and processes.</a:t>
            </a:r>
          </a:p>
          <a:p>
            <a:pPr marL="173038" marR="0" lvl="1" indent="-171450" algn="just" defTabSz="914400" rtl="0" eaLnBrk="1" fontAlgn="base" latinLnBrk="0" hangingPunct="1">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Arial" charset="0"/>
              </a:rPr>
              <a:t>Development of </a:t>
            </a:r>
            <a:r>
              <a:rPr kumimoji="0" lang="en-US" sz="1100" b="1" i="0" u="none" strike="noStrike" kern="1200" cap="none" spc="0" normalizeH="0" baseline="0" noProof="0" dirty="0">
                <a:ln>
                  <a:noFill/>
                </a:ln>
                <a:solidFill>
                  <a:srgbClr val="000000"/>
                </a:solidFill>
                <a:effectLst/>
                <a:uLnTx/>
                <a:uFillTx/>
                <a:latin typeface="Calibri" panose="020F0502020204030204"/>
                <a:ea typeface="+mn-ea"/>
                <a:cs typeface="Arial" charset="0"/>
              </a:rPr>
              <a:t>IT database / asset register tool </a:t>
            </a:r>
            <a:r>
              <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Arial" charset="0"/>
              </a:rPr>
              <a:t>for data capture as well as asset verification including provision for 3 level review</a:t>
            </a:r>
          </a:p>
          <a:p>
            <a:pPr marL="173038" marR="0" lvl="1" indent="-171450" algn="just" defTabSz="914400" rtl="0" eaLnBrk="1" fontAlgn="base" latinLnBrk="0" hangingPunct="1">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Arial" charset="0"/>
              </a:rPr>
              <a:t>Actual physical verification in over 600 locations of NEA across generation, transmission and distribution for assets and inventories</a:t>
            </a:r>
          </a:p>
          <a:p>
            <a:pPr marL="173038" marR="0" lvl="1" indent="-171450" algn="just" defTabSz="914400" rtl="0" eaLnBrk="1" fontAlgn="base" latinLnBrk="0" hangingPunct="1">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Arial" charset="0"/>
              </a:rPr>
              <a:t>Development of an asset valuation methodology document</a:t>
            </a:r>
          </a:p>
          <a:p>
            <a:pPr marL="173038" marR="0" lvl="1" indent="-171450" algn="just" defTabSz="914400" rtl="0" eaLnBrk="1" fontAlgn="base" latinLnBrk="0" hangingPunct="1">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Arial" charset="0"/>
              </a:rPr>
              <a:t>Carrying out the valuation of a sample Hydro power Generation plant, transmission sub stations and distribution centers upto transformer level</a:t>
            </a:r>
          </a:p>
          <a:p>
            <a:pPr marL="173038" marR="0" lvl="1" indent="-171450" algn="just" defTabSz="914400" rtl="0" eaLnBrk="1" fontAlgn="base" latinLnBrk="0" hangingPunct="1">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Arial" charset="0"/>
              </a:rPr>
              <a:t>Development of asset management policies and processes</a:t>
            </a:r>
          </a:p>
          <a:p>
            <a:pPr indent="-241035" algn="just" defTabSz="1233488">
              <a:spcBef>
                <a:spcPts val="300"/>
              </a:spcBef>
              <a:buClr>
                <a:srgbClr val="000000"/>
              </a:buClr>
              <a:buFontTx/>
              <a:buNone/>
              <a:tabLst>
                <a:tab pos="7702550" algn="l"/>
              </a:tabLst>
              <a:defRPr/>
            </a:pPr>
            <a:endParaRPr lang="en-US" sz="1100" b="1" kern="0" dirty="0">
              <a:solidFill>
                <a:schemeClr val="accent5"/>
              </a:solidFill>
            </a:endParaRPr>
          </a:p>
          <a:p>
            <a:pPr indent="-241035" algn="just" defTabSz="1233488">
              <a:spcBef>
                <a:spcPts val="300"/>
              </a:spcBef>
              <a:buClr>
                <a:srgbClr val="000000"/>
              </a:buClr>
              <a:buFontTx/>
              <a:buNone/>
              <a:tabLst>
                <a:tab pos="7702550" algn="l"/>
              </a:tabLst>
              <a:defRPr/>
            </a:pPr>
            <a:r>
              <a:rPr lang="en-US" sz="1100" b="1" kern="0" dirty="0">
                <a:solidFill>
                  <a:schemeClr val="accent5"/>
                </a:solidFill>
              </a:rPr>
              <a:t>Value delivered</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ea typeface="Verdana" panose="020B0604030504040204" pitchFamily="34" charset="0"/>
                <a:cs typeface="Verdana" panose="020B0604030504040204" pitchFamily="34" charset="0"/>
              </a:rPr>
              <a:t>Physical verification &amp; Asset register compilation</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ea typeface="Verdana" panose="020B0604030504040204" pitchFamily="34" charset="0"/>
                <a:cs typeface="Verdana" panose="020B0604030504040204" pitchFamily="34" charset="0"/>
              </a:rPr>
              <a:t>Statutory  / Regulatory Compliance</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ea typeface="Verdana" panose="020B0604030504040204" pitchFamily="34" charset="0"/>
                <a:cs typeface="Verdana" panose="020B0604030504040204" pitchFamily="34" charset="0"/>
              </a:rPr>
              <a:t>Asset Management policies &amp; processes</a:t>
            </a:r>
          </a:p>
        </p:txBody>
      </p:sp>
      <p:sp>
        <p:nvSpPr>
          <p:cNvPr id="4" name="Rectangle 3">
            <a:extLst>
              <a:ext uri="{FF2B5EF4-FFF2-40B4-BE49-F238E27FC236}">
                <a16:creationId xmlns:a16="http://schemas.microsoft.com/office/drawing/2014/main" id="{F4ED89F9-DB2F-A83F-8966-DF9059C60745}"/>
              </a:ext>
            </a:extLst>
          </p:cNvPr>
          <p:cNvSpPr/>
          <p:nvPr/>
        </p:nvSpPr>
        <p:spPr bwMode="gray">
          <a:xfrm>
            <a:off x="479425" y="1172324"/>
            <a:ext cx="5616575"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b="1" i="0" u="none" strike="noStrike" kern="0" cap="none" spc="0" normalizeH="0" baseline="0" noProof="0" dirty="0">
              <a:ln>
                <a:noFill/>
              </a:ln>
              <a:solidFill>
                <a:srgbClr val="FFFFFF"/>
              </a:solidFill>
              <a:effectLst/>
              <a:uLnTx/>
              <a:uFillTx/>
              <a:ea typeface="+mn-ea"/>
              <a:cs typeface="+mn-cs"/>
            </a:endParaRPr>
          </a:p>
        </p:txBody>
      </p:sp>
      <p:sp>
        <p:nvSpPr>
          <p:cNvPr id="11" name="Rectangle 10">
            <a:extLst>
              <a:ext uri="{FF2B5EF4-FFF2-40B4-BE49-F238E27FC236}">
                <a16:creationId xmlns:a16="http://schemas.microsoft.com/office/drawing/2014/main" id="{A99A3A7E-C418-DC91-F931-21826C60A135}"/>
              </a:ext>
            </a:extLst>
          </p:cNvPr>
          <p:cNvSpPr/>
          <p:nvPr/>
        </p:nvSpPr>
        <p:spPr bwMode="gray">
          <a:xfrm>
            <a:off x="6286459"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Background</a:t>
            </a:r>
          </a:p>
          <a:p>
            <a:pPr marR="0" lvl="0"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The purpose of the project is to prepare a fixed asset register from scratch. The utility has assets spread all over the state of Jharkhand – which include Power Substations, 33 kV and 11 kV lines including Distribution Transformers. The asset base of JBVNL has almost doubled in the last 5 years. The assignment also includes compiling the historical cost of the assets.</a:t>
            </a: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 </a:t>
            </a:r>
            <a:b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b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Scope and Approach</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Carrying out a detailed assessment study</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Developing a physical verification plan</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Carrying out physical verification of the assets involved in power distribution, using an </a:t>
            </a: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IT Tool </a:t>
            </a: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developed by the Deloitte Team</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Compiling data of costs incurred on assets commissioned till cut-off date and allocating the same to the assets physically verified</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Enabling migration of asset register data to SAP ERP and developing a SOP manual for asset management</a:t>
            </a:r>
          </a:p>
          <a:p>
            <a:pPr marR="0" lvl="0" indent="-241035" algn="just" defTabSz="1233488" fontAlgn="auto">
              <a:lnSpc>
                <a:spcPct val="100000"/>
              </a:lnSpc>
              <a:spcBef>
                <a:spcPts val="300"/>
              </a:spcBef>
              <a:spcAft>
                <a:spcPts val="0"/>
              </a:spcAft>
              <a:buClr>
                <a:srgbClr val="000000"/>
              </a:buClr>
              <a:buSzTx/>
              <a:tabLst>
                <a:tab pos="7702550" algn="l"/>
              </a:tabLst>
              <a:defRPr/>
            </a:pPr>
            <a:endParaRPr lang="en-US" sz="1100" b="1" kern="0" dirty="0">
              <a:solidFill>
                <a:schemeClr val="accent5"/>
              </a:solidFill>
              <a:latin typeface="Verdana" panose="020B0604030504040204" pitchFamily="34" charset="0"/>
              <a:ea typeface="Verdana" panose="020B0604030504040204" pitchFamily="34" charset="0"/>
            </a:endParaRPr>
          </a:p>
          <a:p>
            <a:pPr marR="0" lvl="0" indent="-241035" algn="just" defTabSz="1233488" fontAlgn="auto">
              <a:lnSpc>
                <a:spcPct val="100000"/>
              </a:lnSpc>
              <a:spcBef>
                <a:spcPts val="300"/>
              </a:spcBef>
              <a:spcAft>
                <a:spcPts val="0"/>
              </a:spcAft>
              <a:buClr>
                <a:srgbClr val="000000"/>
              </a:buClr>
              <a:buSzTx/>
              <a:tabLst>
                <a:tab pos="7702550" algn="l"/>
              </a:tabLst>
              <a:defRPr/>
            </a:pPr>
            <a:r>
              <a:rPr lang="en-US" sz="1100" b="1" kern="0" dirty="0">
                <a:solidFill>
                  <a:schemeClr val="accent5"/>
                </a:solidFill>
                <a:latin typeface="Verdana" panose="020B0604030504040204" pitchFamily="34" charset="0"/>
                <a:ea typeface="Verdana" panose="020B0604030504040204" pitchFamily="34" charset="0"/>
              </a:rPr>
              <a:t>Value delivered</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Physical verification &amp; Asset register compilation</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Statutory  / Regulatory Compliance</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Asset Management policies &amp; processes</a:t>
            </a:r>
          </a:p>
        </p:txBody>
      </p:sp>
      <p:sp>
        <p:nvSpPr>
          <p:cNvPr id="12" name="Rectangle 11">
            <a:extLst>
              <a:ext uri="{FF2B5EF4-FFF2-40B4-BE49-F238E27FC236}">
                <a16:creationId xmlns:a16="http://schemas.microsoft.com/office/drawing/2014/main" id="{9E3D3ADE-7876-3849-F88E-40AEC931B1D0}"/>
              </a:ext>
            </a:extLst>
          </p:cNvPr>
          <p:cNvSpPr/>
          <p:nvPr/>
        </p:nvSpPr>
        <p:spPr bwMode="gray">
          <a:xfrm>
            <a:off x="6286459" y="1172324"/>
            <a:ext cx="5616575"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b="1" i="0" u="none" strike="noStrike" kern="0" cap="none" spc="0" normalizeH="0" baseline="0" noProof="0" dirty="0">
              <a:ln>
                <a:noFill/>
              </a:ln>
              <a:solidFill>
                <a:srgbClr val="FFFFFF"/>
              </a:solidFill>
              <a:effectLst/>
              <a:uLnTx/>
              <a:uFillTx/>
              <a:ea typeface="+mn-ea"/>
              <a:cs typeface="+mn-cs"/>
            </a:endParaRPr>
          </a:p>
        </p:txBody>
      </p:sp>
      <p:sp>
        <p:nvSpPr>
          <p:cNvPr id="14" name="TextBox 13">
            <a:extLst>
              <a:ext uri="{FF2B5EF4-FFF2-40B4-BE49-F238E27FC236}">
                <a16:creationId xmlns:a16="http://schemas.microsoft.com/office/drawing/2014/main" id="{1805F899-88BF-40D5-80B5-85143669E31D}"/>
              </a:ext>
            </a:extLst>
          </p:cNvPr>
          <p:cNvSpPr txBox="1"/>
          <p:nvPr/>
        </p:nvSpPr>
        <p:spPr>
          <a:xfrm>
            <a:off x="669884" y="1254227"/>
            <a:ext cx="5197800" cy="238335"/>
          </a:xfrm>
          <a:prstGeom prst="rect">
            <a:avLst/>
          </a:prstGeom>
          <a:noFill/>
        </p:spPr>
        <p:txBody>
          <a:bodyPr wrap="square" lIns="0" tIns="0" rIns="0" bIns="0" rtlCol="0">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Nepal Electricity Authority</a:t>
            </a:r>
          </a:p>
        </p:txBody>
      </p:sp>
      <p:sp>
        <p:nvSpPr>
          <p:cNvPr id="15" name="TextBox 14">
            <a:extLst>
              <a:ext uri="{FF2B5EF4-FFF2-40B4-BE49-F238E27FC236}">
                <a16:creationId xmlns:a16="http://schemas.microsoft.com/office/drawing/2014/main" id="{13F0C990-DBA8-B4D6-5132-FBF238BC98CA}"/>
              </a:ext>
            </a:extLst>
          </p:cNvPr>
          <p:cNvSpPr txBox="1"/>
          <p:nvPr/>
        </p:nvSpPr>
        <p:spPr>
          <a:xfrm>
            <a:off x="6447327" y="1254227"/>
            <a:ext cx="5197800" cy="238335"/>
          </a:xfrm>
          <a:prstGeom prst="rect">
            <a:avLst/>
          </a:prstGeom>
          <a:noFill/>
        </p:spPr>
        <p:txBody>
          <a:bodyPr wrap="square" lIns="0" tIns="0" rIns="0" bIns="0" rtlCol="0">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Jharkhand Bijli </a:t>
            </a:r>
            <a:r>
              <a:rPr kumimoji="0" lang="en-US" sz="1600" b="1" i="0" u="none" strike="noStrike" kern="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rPr>
              <a:t>Vitran</a:t>
            </a:r>
            <a:r>
              <a:rPr kumimoji="0" lang="en-US" sz="16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 Nigam Limited</a:t>
            </a:r>
          </a:p>
        </p:txBody>
      </p:sp>
    </p:spTree>
    <p:extLst>
      <p:ext uri="{BB962C8B-B14F-4D97-AF65-F5344CB8AC3E}">
        <p14:creationId xmlns:p14="http://schemas.microsoft.com/office/powerpoint/2010/main" val="74282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1C3CF6-DACE-3BC9-B6E2-4A901262320A}"/>
              </a:ext>
            </a:extLst>
          </p:cNvPr>
          <p:cNvPicPr>
            <a:picLocks noChangeAspect="1"/>
          </p:cNvPicPr>
          <p:nvPr/>
        </p:nvPicPr>
        <p:blipFill rotWithShape="1">
          <a:blip r:embed="rId2">
            <a:grayscl/>
            <a:alphaModFix amt="87000"/>
            <a:extLst>
              <a:ext uri="{BEBA8EAE-BF5A-486C-A8C5-ECC9F3942E4B}">
                <a14:imgProps xmlns:a14="http://schemas.microsoft.com/office/drawing/2010/main">
                  <a14:imgLayer r:embed="rId3">
                    <a14:imgEffect>
                      <a14:colorTemperature colorTemp="4700"/>
                    </a14:imgEffect>
                    <a14:imgEffect>
                      <a14:saturation sat="61000"/>
                    </a14:imgEffect>
                  </a14:imgLayer>
                </a14:imgProps>
              </a:ext>
            </a:extLst>
          </a:blip>
          <a:srcRect t="12821" b="13919"/>
          <a:stretch/>
        </p:blipFill>
        <p:spPr>
          <a:xfrm>
            <a:off x="1860656" y="1494322"/>
            <a:ext cx="8851606" cy="4950276"/>
          </a:xfrm>
          <a:prstGeom prst="rect">
            <a:avLst/>
          </a:prstGeom>
        </p:spPr>
      </p:pic>
      <p:sp>
        <p:nvSpPr>
          <p:cNvPr id="6" name="Title 1">
            <a:extLst>
              <a:ext uri="{FF2B5EF4-FFF2-40B4-BE49-F238E27FC236}">
                <a16:creationId xmlns:a16="http://schemas.microsoft.com/office/drawing/2014/main" id="{C8C32E11-ECB2-4668-921A-9D9CDB203D92}"/>
              </a:ext>
            </a:extLst>
          </p:cNvPr>
          <p:cNvSpPr txBox="1">
            <a:spLocks/>
          </p:cNvSpPr>
          <p:nvPr/>
        </p:nvSpPr>
        <p:spPr>
          <a:xfrm>
            <a:off x="456426" y="267416"/>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Our experience in Utility Asset Management</a:t>
            </a:r>
          </a:p>
        </p:txBody>
      </p:sp>
      <p:sp>
        <p:nvSpPr>
          <p:cNvPr id="3" name="Rectangle 2">
            <a:extLst>
              <a:ext uri="{FF2B5EF4-FFF2-40B4-BE49-F238E27FC236}">
                <a16:creationId xmlns:a16="http://schemas.microsoft.com/office/drawing/2014/main" id="{D7487E6E-61BD-5253-25CD-97B2F801E262}"/>
              </a:ext>
            </a:extLst>
          </p:cNvPr>
          <p:cNvSpPr/>
          <p:nvPr/>
        </p:nvSpPr>
        <p:spPr bwMode="gray">
          <a:xfrm>
            <a:off x="479425" y="1699200"/>
            <a:ext cx="5616575" cy="4720852"/>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Background</a:t>
            </a:r>
          </a:p>
          <a:p>
            <a:pPr marR="0" lvl="0"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The client had mandated Deloitte to develop a Fixed Asset and Depreciation Register acceptable to its Regulatory Commission so that the Department can address the disallowance of the Depreciation costs. Deloitte also assisted the Department in preparing statements of account in line with commercially accepted accounting principles. The Asset Registers were to be compiled based on physical verification of assets at  the field locations and Head Office</a:t>
            </a:r>
            <a:b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br>
            <a:endPar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Scope and Approach</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Being a first-time exercise, preparation of the Opening Balance Sheet of the Department required tracing physical and financial records in respect of the assets created long back.</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Organized physical verifications, formulated the verification process &amp; prepared physical verification plan, conducting workshop for client team members, circulated the physical verification sheets &amp; program managed the asset verification exercise.</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Created fixed assets statement to provide block wise classification of fixed assets based on the capital expenditure incurred by Department.</a:t>
            </a:r>
          </a:p>
          <a:p>
            <a:pPr indent="-241035" algn="just" defTabSz="1233488">
              <a:spcBef>
                <a:spcPts val="300"/>
              </a:spcBef>
              <a:buClr>
                <a:srgbClr val="000000"/>
              </a:buClr>
              <a:buFontTx/>
              <a:buNone/>
              <a:tabLst>
                <a:tab pos="7702550" algn="l"/>
              </a:tabLst>
              <a:defRPr/>
            </a:pPr>
            <a:endParaRPr lang="en-US" sz="1100" b="1" kern="0" dirty="0">
              <a:solidFill>
                <a:schemeClr val="accent5"/>
              </a:solidFill>
              <a:latin typeface="Verdana" panose="020B0604030504040204" pitchFamily="34" charset="0"/>
              <a:ea typeface="Verdana" panose="020B0604030504040204" pitchFamily="34" charset="0"/>
            </a:endParaRPr>
          </a:p>
          <a:p>
            <a:pPr indent="-241035" algn="just" defTabSz="1233488">
              <a:spcBef>
                <a:spcPts val="300"/>
              </a:spcBef>
              <a:buClr>
                <a:srgbClr val="000000"/>
              </a:buClr>
              <a:buFontTx/>
              <a:buNone/>
              <a:tabLst>
                <a:tab pos="7702550" algn="l"/>
              </a:tabLst>
              <a:defRPr/>
            </a:pPr>
            <a:r>
              <a:rPr lang="en-US" sz="1100" b="1" kern="0" dirty="0">
                <a:solidFill>
                  <a:schemeClr val="accent5"/>
                </a:solidFill>
                <a:latin typeface="Verdana" panose="020B0604030504040204" pitchFamily="34" charset="0"/>
                <a:ea typeface="Verdana" panose="020B0604030504040204" pitchFamily="34" charset="0"/>
              </a:rPr>
              <a:t>Value delivered</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Physical verification &amp; Asset register compilation</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Statutory  / Regulatory Compliance</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Historical cost determination</a:t>
            </a:r>
          </a:p>
        </p:txBody>
      </p:sp>
      <p:sp>
        <p:nvSpPr>
          <p:cNvPr id="4" name="Rectangle 3">
            <a:extLst>
              <a:ext uri="{FF2B5EF4-FFF2-40B4-BE49-F238E27FC236}">
                <a16:creationId xmlns:a16="http://schemas.microsoft.com/office/drawing/2014/main" id="{F4ED89F9-DB2F-A83F-8966-DF9059C60745}"/>
              </a:ext>
            </a:extLst>
          </p:cNvPr>
          <p:cNvSpPr/>
          <p:nvPr/>
        </p:nvSpPr>
        <p:spPr bwMode="gray">
          <a:xfrm>
            <a:off x="479425" y="1172324"/>
            <a:ext cx="5616575"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endParaRPr>
          </a:p>
        </p:txBody>
      </p:sp>
      <p:sp>
        <p:nvSpPr>
          <p:cNvPr id="11" name="Rectangle 10">
            <a:extLst>
              <a:ext uri="{FF2B5EF4-FFF2-40B4-BE49-F238E27FC236}">
                <a16:creationId xmlns:a16="http://schemas.microsoft.com/office/drawing/2014/main" id="{A99A3A7E-C418-DC91-F931-21826C60A135}"/>
              </a:ext>
            </a:extLst>
          </p:cNvPr>
          <p:cNvSpPr/>
          <p:nvPr/>
        </p:nvSpPr>
        <p:spPr bwMode="gray">
          <a:xfrm>
            <a:off x="6286459"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Background</a:t>
            </a: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Deloitte is assisting GIZ in developing an IT Tool for Asset management, which includes functionalities for asset data capture through mobile devices, including photographs, Geo-tagging of assets, enable schematic representation of assets on GIS map, integrate with different systems such as ERP, Outage Management and other systems, provide review of asset data through dashboards etc. Based on this IT tool, physical verification of 50 Substations will be done for Assam Power Distribution Corporation Limited (APDCL).</a:t>
            </a: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 </a:t>
            </a: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Scope and Approach</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Requirements gathering, deployment of wireframes, development of the </a:t>
            </a: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IT Tool, </a:t>
            </a: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Testing of the solution, review and finalization of the IT Tool</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Deployment of the </a:t>
            </a: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IT Tool </a:t>
            </a: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for capturing asset data for 50 Power Substations of APDCL.</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Post-Deployment support, Training and hand-over of the IT Tool to APDCL</a:t>
            </a:r>
          </a:p>
          <a:p>
            <a:pPr marR="0" lvl="0" indent="-241035" algn="just" defTabSz="1233488" fontAlgn="auto">
              <a:lnSpc>
                <a:spcPct val="100000"/>
              </a:lnSpc>
              <a:spcBef>
                <a:spcPts val="300"/>
              </a:spcBef>
              <a:spcAft>
                <a:spcPts val="0"/>
              </a:spcAft>
              <a:buClr>
                <a:srgbClr val="000000"/>
              </a:buClr>
              <a:buSzTx/>
              <a:tabLst>
                <a:tab pos="7702550" algn="l"/>
              </a:tabLst>
              <a:defRPr/>
            </a:pPr>
            <a:endParaRPr lang="en-US" sz="1100" b="1" kern="0" dirty="0">
              <a:solidFill>
                <a:schemeClr val="accent5"/>
              </a:solidFill>
              <a:latin typeface="Verdana" panose="020B0604030504040204" pitchFamily="34" charset="0"/>
              <a:ea typeface="Verdana" panose="020B0604030504040204" pitchFamily="34" charset="0"/>
            </a:endParaRPr>
          </a:p>
          <a:p>
            <a:pPr marR="0" lvl="0" indent="-241035" algn="just" defTabSz="1233488" fontAlgn="auto">
              <a:lnSpc>
                <a:spcPct val="100000"/>
              </a:lnSpc>
              <a:spcBef>
                <a:spcPts val="300"/>
              </a:spcBef>
              <a:spcAft>
                <a:spcPts val="0"/>
              </a:spcAft>
              <a:buClr>
                <a:srgbClr val="000000"/>
              </a:buClr>
              <a:buSzTx/>
              <a:tabLst>
                <a:tab pos="7702550" algn="l"/>
              </a:tabLst>
              <a:defRPr/>
            </a:pPr>
            <a:endParaRPr lang="en-US" sz="1100" b="1" kern="0" dirty="0">
              <a:solidFill>
                <a:schemeClr val="accent5"/>
              </a:solidFill>
              <a:latin typeface="Verdana" panose="020B0604030504040204" pitchFamily="34" charset="0"/>
              <a:ea typeface="Verdana" panose="020B0604030504040204" pitchFamily="34" charset="0"/>
            </a:endParaRPr>
          </a:p>
          <a:p>
            <a:pPr marR="0" lvl="0" indent="-241035" algn="just" defTabSz="1233488" fontAlgn="auto">
              <a:lnSpc>
                <a:spcPct val="100000"/>
              </a:lnSpc>
              <a:spcBef>
                <a:spcPts val="300"/>
              </a:spcBef>
              <a:spcAft>
                <a:spcPts val="0"/>
              </a:spcAft>
              <a:buClr>
                <a:srgbClr val="000000"/>
              </a:buClr>
              <a:buSzTx/>
              <a:tabLst>
                <a:tab pos="7702550" algn="l"/>
              </a:tabLst>
              <a:defRPr/>
            </a:pPr>
            <a:endParaRPr lang="en-US" sz="1100" b="1" kern="0" dirty="0">
              <a:solidFill>
                <a:schemeClr val="accent5"/>
              </a:solidFill>
              <a:latin typeface="Verdana" panose="020B0604030504040204" pitchFamily="34" charset="0"/>
              <a:ea typeface="Verdana" panose="020B0604030504040204" pitchFamily="34" charset="0"/>
            </a:endParaRPr>
          </a:p>
          <a:p>
            <a:pPr marR="0" lvl="0" indent="-241035" algn="just" defTabSz="1233488" fontAlgn="auto">
              <a:lnSpc>
                <a:spcPct val="100000"/>
              </a:lnSpc>
              <a:spcBef>
                <a:spcPts val="300"/>
              </a:spcBef>
              <a:spcAft>
                <a:spcPts val="0"/>
              </a:spcAft>
              <a:buClr>
                <a:srgbClr val="000000"/>
              </a:buClr>
              <a:buSzTx/>
              <a:tabLst>
                <a:tab pos="7702550" algn="l"/>
              </a:tabLst>
              <a:defRPr/>
            </a:pPr>
            <a:r>
              <a:rPr lang="en-US" sz="1100" b="1" kern="0" dirty="0">
                <a:solidFill>
                  <a:schemeClr val="accent5"/>
                </a:solidFill>
                <a:latin typeface="Verdana" panose="020B0604030504040204" pitchFamily="34" charset="0"/>
                <a:ea typeface="Verdana" panose="020B0604030504040204" pitchFamily="34" charset="0"/>
              </a:rPr>
              <a:t>Value delivered</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Physical verification &amp; Asset register compilation</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Statutory  / Regulatory Compliance</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IT Development</a:t>
            </a:r>
          </a:p>
        </p:txBody>
      </p:sp>
      <p:sp>
        <p:nvSpPr>
          <p:cNvPr id="12" name="Rectangle 11">
            <a:extLst>
              <a:ext uri="{FF2B5EF4-FFF2-40B4-BE49-F238E27FC236}">
                <a16:creationId xmlns:a16="http://schemas.microsoft.com/office/drawing/2014/main" id="{9E3D3ADE-7876-3849-F88E-40AEC931B1D0}"/>
              </a:ext>
            </a:extLst>
          </p:cNvPr>
          <p:cNvSpPr/>
          <p:nvPr/>
        </p:nvSpPr>
        <p:spPr bwMode="gray">
          <a:xfrm>
            <a:off x="6286459" y="1172324"/>
            <a:ext cx="5616575"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86FB3C9C-DC24-E03C-1EF4-E919A1B89884}"/>
              </a:ext>
            </a:extLst>
          </p:cNvPr>
          <p:cNvSpPr txBox="1"/>
          <p:nvPr/>
        </p:nvSpPr>
        <p:spPr>
          <a:xfrm>
            <a:off x="6400800" y="1254227"/>
            <a:ext cx="5244327" cy="208583"/>
          </a:xfrm>
          <a:prstGeom prst="rect">
            <a:avLst/>
          </a:prstGeom>
          <a:noFill/>
        </p:spPr>
        <p:txBody>
          <a:bodyPr wrap="square" lIns="0" tIns="0" rIns="0" bIns="0" rtlCol="0">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GIZ - Assam Power Distribution Corporation Limited</a:t>
            </a:r>
          </a:p>
        </p:txBody>
      </p:sp>
      <p:sp>
        <p:nvSpPr>
          <p:cNvPr id="7" name="TextBox 6">
            <a:extLst>
              <a:ext uri="{FF2B5EF4-FFF2-40B4-BE49-F238E27FC236}">
                <a16:creationId xmlns:a16="http://schemas.microsoft.com/office/drawing/2014/main" id="{1419F23A-8705-5FE4-ED15-B7ECFF5EDBED}"/>
              </a:ext>
            </a:extLst>
          </p:cNvPr>
          <p:cNvSpPr txBox="1"/>
          <p:nvPr/>
        </p:nvSpPr>
        <p:spPr>
          <a:xfrm>
            <a:off x="669884" y="1254227"/>
            <a:ext cx="5197800" cy="208583"/>
          </a:xfrm>
          <a:prstGeom prst="rect">
            <a:avLst/>
          </a:prstGeom>
          <a:noFill/>
        </p:spPr>
        <p:txBody>
          <a:bodyPr wrap="square" lIns="0" tIns="0" rIns="0" bIns="0" rtlCol="0">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Electricity Department of Puducherry, India</a:t>
            </a:r>
          </a:p>
        </p:txBody>
      </p:sp>
      <p:sp>
        <p:nvSpPr>
          <p:cNvPr id="8" name="Title 1">
            <a:extLst>
              <a:ext uri="{FF2B5EF4-FFF2-40B4-BE49-F238E27FC236}">
                <a16:creationId xmlns:a16="http://schemas.microsoft.com/office/drawing/2014/main" id="{455AFC42-1A21-AB68-860C-D4B9950852DF}"/>
              </a:ext>
            </a:extLst>
          </p:cNvPr>
          <p:cNvSpPr txBox="1">
            <a:spLocks/>
          </p:cNvSpPr>
          <p:nvPr/>
        </p:nvSpPr>
        <p:spPr>
          <a:xfrm>
            <a:off x="478709" y="646298"/>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800" dirty="0">
                <a:solidFill>
                  <a:srgbClr val="575757"/>
                </a:solidFill>
                <a:latin typeface="Verdana" panose="020B0604030504040204" pitchFamily="34" charset="0"/>
                <a:ea typeface="Verdana" panose="020B0604030504040204" pitchFamily="34" charset="0"/>
                <a:cs typeface="+mn-cs"/>
              </a:rPr>
              <a:t>We have extensive experience in Asset Management for Indian &amp; Global Utility Clients</a:t>
            </a:r>
          </a:p>
        </p:txBody>
      </p:sp>
    </p:spTree>
    <p:extLst>
      <p:ext uri="{BB962C8B-B14F-4D97-AF65-F5344CB8AC3E}">
        <p14:creationId xmlns:p14="http://schemas.microsoft.com/office/powerpoint/2010/main" val="3250226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1C3CF6-DACE-3BC9-B6E2-4A901262320A}"/>
              </a:ext>
            </a:extLst>
          </p:cNvPr>
          <p:cNvPicPr>
            <a:picLocks noChangeAspect="1"/>
          </p:cNvPicPr>
          <p:nvPr/>
        </p:nvPicPr>
        <p:blipFill rotWithShape="1">
          <a:blip r:embed="rId3">
            <a:grayscl/>
            <a:alphaModFix amt="87000"/>
            <a:extLst>
              <a:ext uri="{BEBA8EAE-BF5A-486C-A8C5-ECC9F3942E4B}">
                <a14:imgProps xmlns:a14="http://schemas.microsoft.com/office/drawing/2010/main">
                  <a14:imgLayer r:embed="rId4">
                    <a14:imgEffect>
                      <a14:colorTemperature colorTemp="4700"/>
                    </a14:imgEffect>
                    <a14:imgEffect>
                      <a14:saturation sat="61000"/>
                    </a14:imgEffect>
                  </a14:imgLayer>
                </a14:imgProps>
              </a:ext>
            </a:extLst>
          </a:blip>
          <a:srcRect t="12821" b="13919"/>
          <a:stretch/>
        </p:blipFill>
        <p:spPr>
          <a:xfrm>
            <a:off x="1860656" y="1494322"/>
            <a:ext cx="8851606" cy="4950276"/>
          </a:xfrm>
          <a:prstGeom prst="rect">
            <a:avLst/>
          </a:prstGeom>
        </p:spPr>
      </p:pic>
      <p:sp>
        <p:nvSpPr>
          <p:cNvPr id="6" name="Title 1">
            <a:extLst>
              <a:ext uri="{FF2B5EF4-FFF2-40B4-BE49-F238E27FC236}">
                <a16:creationId xmlns:a16="http://schemas.microsoft.com/office/drawing/2014/main" id="{C8C32E11-ECB2-4668-921A-9D9CDB203D92}"/>
              </a:ext>
            </a:extLst>
          </p:cNvPr>
          <p:cNvSpPr txBox="1">
            <a:spLocks/>
          </p:cNvSpPr>
          <p:nvPr/>
        </p:nvSpPr>
        <p:spPr>
          <a:xfrm>
            <a:off x="456426" y="267416"/>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Calibri Light" panose="020F0302020204030204" pitchFamily="34" charset="0"/>
              </a:rPr>
              <a:t>Our experience in Utility Asset Management</a:t>
            </a:r>
          </a:p>
        </p:txBody>
      </p:sp>
      <p:sp>
        <p:nvSpPr>
          <p:cNvPr id="3" name="Rectangle 2">
            <a:extLst>
              <a:ext uri="{FF2B5EF4-FFF2-40B4-BE49-F238E27FC236}">
                <a16:creationId xmlns:a16="http://schemas.microsoft.com/office/drawing/2014/main" id="{D7487E6E-61BD-5253-25CD-97B2F801E262}"/>
              </a:ext>
            </a:extLst>
          </p:cNvPr>
          <p:cNvSpPr/>
          <p:nvPr/>
        </p:nvSpPr>
        <p:spPr bwMode="gray">
          <a:xfrm>
            <a:off x="479425"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Background</a:t>
            </a:r>
          </a:p>
          <a:p>
            <a:pPr marR="0" lvl="0"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The client, the State Transmission Utility for West Bengal, has mandated Deloitte to re-develop  the Fixed Asset and Depreciation Register acceptable to its Regulatory Commission so that the Department can address the disallowance of the Depreciation costs. Deloitte also assisted the Department in preparing statements of account in line with commercially accepted accounting principles. The Asset Registers are to be compiled based on physical verification of assets at  the field locations and Head Office</a:t>
            </a: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endPar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endParaRP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Scope and Approach</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Organize physical verifications using </a:t>
            </a: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IT Tool</a:t>
            </a: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 formulate the verification process &amp; prepared physical verification plan, conduct workshop for client team members, circulate the physical verification sheets &amp; program manage the asset verification exercise.</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Create fixed assets statement to provide block wise classification of fixed assets based on the capital expenditure incurred by WBSETCL.</a:t>
            </a:r>
          </a:p>
          <a:p>
            <a:pPr indent="-241035" algn="just" defTabSz="1233488">
              <a:spcBef>
                <a:spcPts val="300"/>
              </a:spcBef>
              <a:buClr>
                <a:srgbClr val="000000"/>
              </a:buClr>
              <a:buFontTx/>
              <a:buNone/>
              <a:tabLst>
                <a:tab pos="7702550" algn="l"/>
              </a:tabLst>
              <a:defRPr/>
            </a:pPr>
            <a:endParaRPr lang="en-US" sz="1100" b="1" kern="0" dirty="0">
              <a:solidFill>
                <a:schemeClr val="accent5"/>
              </a:solidFill>
              <a:latin typeface="Verdana" panose="020B0604030504040204" pitchFamily="34" charset="0"/>
              <a:ea typeface="Verdana" panose="020B0604030504040204" pitchFamily="34" charset="0"/>
            </a:endParaRPr>
          </a:p>
          <a:p>
            <a:pPr indent="-241035" algn="just" defTabSz="1233488">
              <a:spcBef>
                <a:spcPts val="300"/>
              </a:spcBef>
              <a:buClr>
                <a:srgbClr val="000000"/>
              </a:buClr>
              <a:buFontTx/>
              <a:buNone/>
              <a:tabLst>
                <a:tab pos="7702550" algn="l"/>
              </a:tabLst>
              <a:defRPr/>
            </a:pPr>
            <a:r>
              <a:rPr lang="en-US" sz="1100" b="1" kern="0" dirty="0">
                <a:solidFill>
                  <a:schemeClr val="accent5"/>
                </a:solidFill>
                <a:latin typeface="Verdana" panose="020B0604030504040204" pitchFamily="34" charset="0"/>
                <a:ea typeface="Verdana" panose="020B0604030504040204" pitchFamily="34" charset="0"/>
              </a:rPr>
              <a:t>Value delivered</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Physical verification &amp; Asset register compilation</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Statutory  / Regulatory Compliance</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Historical cost determination</a:t>
            </a:r>
          </a:p>
        </p:txBody>
      </p:sp>
      <p:sp>
        <p:nvSpPr>
          <p:cNvPr id="4" name="Rectangle 3">
            <a:extLst>
              <a:ext uri="{FF2B5EF4-FFF2-40B4-BE49-F238E27FC236}">
                <a16:creationId xmlns:a16="http://schemas.microsoft.com/office/drawing/2014/main" id="{F4ED89F9-DB2F-A83F-8966-DF9059C60745}"/>
              </a:ext>
            </a:extLst>
          </p:cNvPr>
          <p:cNvSpPr/>
          <p:nvPr/>
        </p:nvSpPr>
        <p:spPr bwMode="gray">
          <a:xfrm>
            <a:off x="479425" y="1172324"/>
            <a:ext cx="5616575"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b="1" i="0" u="none" strike="noStrike" kern="0" cap="none" spc="0" normalizeH="0" baseline="0" noProof="0" dirty="0">
              <a:ln>
                <a:noFill/>
              </a:ln>
              <a:solidFill>
                <a:srgbClr val="FFFFFF"/>
              </a:solidFill>
              <a:effectLst/>
              <a:uLnTx/>
              <a:uFillTx/>
              <a:ea typeface="+mn-ea"/>
              <a:cs typeface="+mn-cs"/>
            </a:endParaRPr>
          </a:p>
        </p:txBody>
      </p:sp>
      <p:sp>
        <p:nvSpPr>
          <p:cNvPr id="11" name="Rectangle 10">
            <a:extLst>
              <a:ext uri="{FF2B5EF4-FFF2-40B4-BE49-F238E27FC236}">
                <a16:creationId xmlns:a16="http://schemas.microsoft.com/office/drawing/2014/main" id="{A99A3A7E-C418-DC91-F931-21826C60A135}"/>
              </a:ext>
            </a:extLst>
          </p:cNvPr>
          <p:cNvSpPr/>
          <p:nvPr/>
        </p:nvSpPr>
        <p:spPr bwMode="gray">
          <a:xfrm>
            <a:off x="6286459"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Background</a:t>
            </a: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The client, the State Transmission Utility for Jharkhand, has mandated Deloitte to re-develop  the Fixed Asset and Depreciation Register acceptable to its Regulatory Commission so that the Department can address the disallowance of the Depreciation costs. Deloitte also assisted the Department in preparing statements of account in line with commercially accepted accounting principles. The Asset Registers are to be compiled based on physical verification of assets at  the field locations and Head Office</a:t>
            </a: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endParaRPr lang="en-US" sz="1100" dirty="0">
              <a:solidFill>
                <a:prstClr val="black"/>
              </a:solidFill>
              <a:latin typeface="Verdana" panose="020B0604030504040204" pitchFamily="34" charset="0"/>
              <a:ea typeface="Verdana" panose="020B0604030504040204" pitchFamily="34" charset="0"/>
              <a:cs typeface="Arial" charset="0"/>
            </a:endParaRP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Scope and Approach</a:t>
            </a:r>
          </a:p>
          <a:p>
            <a:pPr marL="173038" marR="0" lvl="1" indent="-171450" algn="just" defTabSz="914400" rtl="0" eaLnBrk="1" fontAlgn="base" latinLnBrk="0" hangingPunct="1">
              <a:lnSpc>
                <a:spcPct val="106000"/>
              </a:lnSpc>
              <a:spcBef>
                <a:spcPts val="60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Organize physical verifications using </a:t>
            </a: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IT Tool</a:t>
            </a: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 formulate the verification process &amp; prepared physical verification plan, conduct workshop for client team members, circulate the physical verification sheets &amp; program manage the asset verification exercise.</a:t>
            </a:r>
          </a:p>
          <a:p>
            <a:pPr marL="173038" marR="0" lvl="1" indent="-171450" algn="just" defTabSz="914400" rtl="0" eaLnBrk="1" fontAlgn="base" latinLnBrk="0" hangingPunct="1">
              <a:lnSpc>
                <a:spcPct val="106000"/>
              </a:lnSpc>
              <a:spcBef>
                <a:spcPts val="60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Create fixed assets statement to provide block wise classification of fixed assets based on the capital expenditure incurred by WBSETCL.</a:t>
            </a:r>
          </a:p>
          <a:p>
            <a:pPr marR="0" lvl="0" indent="-241035" algn="just" defTabSz="1233488" fontAlgn="auto">
              <a:lnSpc>
                <a:spcPct val="100000"/>
              </a:lnSpc>
              <a:spcBef>
                <a:spcPts val="300"/>
              </a:spcBef>
              <a:spcAft>
                <a:spcPts val="0"/>
              </a:spcAft>
              <a:buClr>
                <a:srgbClr val="000000"/>
              </a:buClr>
              <a:buSzTx/>
              <a:tabLst>
                <a:tab pos="7702550" algn="l"/>
              </a:tabLst>
              <a:defRPr/>
            </a:pPr>
            <a:r>
              <a:rPr lang="en-US" sz="1100" b="1" kern="0" dirty="0">
                <a:solidFill>
                  <a:schemeClr val="accent5"/>
                </a:solidFill>
                <a:latin typeface="Verdana" panose="020B0604030504040204" pitchFamily="34" charset="0"/>
                <a:ea typeface="Verdana" panose="020B0604030504040204" pitchFamily="34" charset="0"/>
              </a:rPr>
              <a:t>Value delivered</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Physical verification &amp; Asset register compilation</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Statutory  / Regulatory Compliance</a:t>
            </a:r>
          </a:p>
          <a:p>
            <a:pPr marL="171450" marR="0" lvl="0" indent="-171450" algn="l" defTabSz="1233488" rtl="0" eaLnBrk="1" fontAlgn="auto" latinLnBrk="0" hangingPunct="1">
              <a:lnSpc>
                <a:spcPct val="100000"/>
              </a:lnSpc>
              <a:spcBef>
                <a:spcPts val="300"/>
              </a:spcBef>
              <a:spcAft>
                <a:spcPts val="0"/>
              </a:spcAft>
              <a:buClr>
                <a:srgbClr val="000000"/>
              </a:buClr>
              <a:buSzTx/>
              <a:buFont typeface="Arial" panose="020B0604020202020204" pitchFamily="34" charset="0"/>
              <a:buChar char="•"/>
              <a:tabLst>
                <a:tab pos="7702550" algn="l"/>
              </a:tabLst>
              <a:defRPr/>
            </a:pPr>
            <a:r>
              <a:rPr kumimoji="0" lang="en-US" sz="1100" b="0" i="0" u="none" strike="noStrike" kern="1200" cap="none" spc="0" normalizeH="0" baseline="0" noProof="0" dirty="0">
                <a:ln>
                  <a:noFill/>
                </a:ln>
                <a:solidFill>
                  <a:srgbClr val="EEECE1">
                    <a:lumMod val="10000"/>
                  </a:srgbClr>
                </a:solidFill>
                <a:effectLst/>
                <a:uLnTx/>
                <a:uFillTx/>
                <a:latin typeface="Verdana" panose="020B0604030504040204" pitchFamily="34" charset="0"/>
                <a:ea typeface="Verdana" panose="020B0604030504040204" pitchFamily="34" charset="0"/>
                <a:cs typeface="Verdana" panose="020B0604030504040204" pitchFamily="34" charset="0"/>
              </a:rPr>
              <a:t>Historical cost determination</a:t>
            </a:r>
          </a:p>
        </p:txBody>
      </p:sp>
      <p:sp>
        <p:nvSpPr>
          <p:cNvPr id="12" name="Rectangle 11">
            <a:extLst>
              <a:ext uri="{FF2B5EF4-FFF2-40B4-BE49-F238E27FC236}">
                <a16:creationId xmlns:a16="http://schemas.microsoft.com/office/drawing/2014/main" id="{9E3D3ADE-7876-3849-F88E-40AEC931B1D0}"/>
              </a:ext>
            </a:extLst>
          </p:cNvPr>
          <p:cNvSpPr/>
          <p:nvPr/>
        </p:nvSpPr>
        <p:spPr bwMode="gray">
          <a:xfrm>
            <a:off x="6286459" y="1172324"/>
            <a:ext cx="5616575"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b="1" i="0" u="none" strike="noStrike" kern="0" cap="none" spc="0" normalizeH="0" baseline="0" noProof="0" dirty="0">
              <a:ln>
                <a:noFill/>
              </a:ln>
              <a:solidFill>
                <a:srgbClr val="FFFFFF"/>
              </a:solidFill>
              <a:effectLst/>
              <a:uLnTx/>
              <a:uFillTx/>
              <a:ea typeface="+mn-ea"/>
              <a:cs typeface="+mn-cs"/>
            </a:endParaRPr>
          </a:p>
        </p:txBody>
      </p:sp>
      <p:sp>
        <p:nvSpPr>
          <p:cNvPr id="5" name="TextBox 4">
            <a:extLst>
              <a:ext uri="{FF2B5EF4-FFF2-40B4-BE49-F238E27FC236}">
                <a16:creationId xmlns:a16="http://schemas.microsoft.com/office/drawing/2014/main" id="{86FB3C9C-DC24-E03C-1EF4-E919A1B89884}"/>
              </a:ext>
            </a:extLst>
          </p:cNvPr>
          <p:cNvSpPr txBox="1"/>
          <p:nvPr/>
        </p:nvSpPr>
        <p:spPr>
          <a:xfrm>
            <a:off x="6447327" y="1254227"/>
            <a:ext cx="5197800" cy="238335"/>
          </a:xfrm>
          <a:prstGeom prst="rect">
            <a:avLst/>
          </a:prstGeom>
          <a:noFill/>
        </p:spPr>
        <p:txBody>
          <a:bodyPr wrap="square" lIns="0" tIns="0" rIns="0" bIns="0" rtlCol="0">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Jharkhand </a:t>
            </a:r>
            <a:r>
              <a:rPr kumimoji="0" lang="en-US" sz="1600" b="1" i="0" u="none" strike="noStrike" kern="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rPr>
              <a:t>Urja</a:t>
            </a:r>
            <a:r>
              <a:rPr kumimoji="0" lang="en-US" sz="16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 </a:t>
            </a:r>
            <a:r>
              <a:rPr kumimoji="0" lang="en-US" sz="1600" b="1" i="0" u="none" strike="noStrike" kern="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rPr>
              <a:t>Sancharan</a:t>
            </a:r>
            <a:r>
              <a:rPr kumimoji="0" lang="en-US" sz="16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 Nigam Limited</a:t>
            </a:r>
          </a:p>
        </p:txBody>
      </p:sp>
      <p:sp>
        <p:nvSpPr>
          <p:cNvPr id="7" name="TextBox 6">
            <a:extLst>
              <a:ext uri="{FF2B5EF4-FFF2-40B4-BE49-F238E27FC236}">
                <a16:creationId xmlns:a16="http://schemas.microsoft.com/office/drawing/2014/main" id="{1419F23A-8705-5FE4-ED15-B7ECFF5EDBED}"/>
              </a:ext>
            </a:extLst>
          </p:cNvPr>
          <p:cNvSpPr txBox="1"/>
          <p:nvPr/>
        </p:nvSpPr>
        <p:spPr>
          <a:xfrm>
            <a:off x="669884" y="1254227"/>
            <a:ext cx="5197800" cy="499304"/>
          </a:xfrm>
          <a:prstGeom prst="rect">
            <a:avLst/>
          </a:prstGeom>
          <a:noFill/>
        </p:spPr>
        <p:txBody>
          <a:bodyPr wrap="square" lIns="0" tIns="0" rIns="0" bIns="0" rtlCol="0">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West Bengal State Electricity Transmission Company</a:t>
            </a:r>
          </a:p>
        </p:txBody>
      </p:sp>
      <p:sp>
        <p:nvSpPr>
          <p:cNvPr id="8" name="Title 1">
            <a:extLst>
              <a:ext uri="{FF2B5EF4-FFF2-40B4-BE49-F238E27FC236}">
                <a16:creationId xmlns:a16="http://schemas.microsoft.com/office/drawing/2014/main" id="{99F18642-0892-64FF-388D-C1FB945EC20C}"/>
              </a:ext>
            </a:extLst>
          </p:cNvPr>
          <p:cNvSpPr txBox="1">
            <a:spLocks/>
          </p:cNvSpPr>
          <p:nvPr/>
        </p:nvSpPr>
        <p:spPr>
          <a:xfrm>
            <a:off x="478709" y="646298"/>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800" dirty="0">
                <a:solidFill>
                  <a:srgbClr val="575757"/>
                </a:solidFill>
                <a:ea typeface="+mn-ea"/>
                <a:cs typeface="+mn-cs"/>
              </a:rPr>
              <a:t>We have extensive experience in Asset Management for Indian &amp; Global Utility Clients</a:t>
            </a:r>
          </a:p>
        </p:txBody>
      </p:sp>
    </p:spTree>
    <p:extLst>
      <p:ext uri="{BB962C8B-B14F-4D97-AF65-F5344CB8AC3E}">
        <p14:creationId xmlns:p14="http://schemas.microsoft.com/office/powerpoint/2010/main" val="3779971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1C3CF6-DACE-3BC9-B6E2-4A901262320A}"/>
              </a:ext>
            </a:extLst>
          </p:cNvPr>
          <p:cNvPicPr>
            <a:picLocks noChangeAspect="1"/>
          </p:cNvPicPr>
          <p:nvPr/>
        </p:nvPicPr>
        <p:blipFill rotWithShape="1">
          <a:blip r:embed="rId2">
            <a:grayscl/>
            <a:alphaModFix amt="87000"/>
            <a:extLst>
              <a:ext uri="{BEBA8EAE-BF5A-486C-A8C5-ECC9F3942E4B}">
                <a14:imgProps xmlns:a14="http://schemas.microsoft.com/office/drawing/2010/main">
                  <a14:imgLayer r:embed="rId3">
                    <a14:imgEffect>
                      <a14:colorTemperature colorTemp="4700"/>
                    </a14:imgEffect>
                    <a14:imgEffect>
                      <a14:saturation sat="61000"/>
                    </a14:imgEffect>
                  </a14:imgLayer>
                </a14:imgProps>
              </a:ext>
            </a:extLst>
          </a:blip>
          <a:srcRect t="12821" b="13919"/>
          <a:stretch/>
        </p:blipFill>
        <p:spPr>
          <a:xfrm>
            <a:off x="1860656" y="1494322"/>
            <a:ext cx="8851606" cy="4950276"/>
          </a:xfrm>
          <a:prstGeom prst="rect">
            <a:avLst/>
          </a:prstGeom>
        </p:spPr>
      </p:pic>
      <p:sp>
        <p:nvSpPr>
          <p:cNvPr id="6" name="Title 1">
            <a:extLst>
              <a:ext uri="{FF2B5EF4-FFF2-40B4-BE49-F238E27FC236}">
                <a16:creationId xmlns:a16="http://schemas.microsoft.com/office/drawing/2014/main" id="{C8C32E11-ECB2-4668-921A-9D9CDB203D92}"/>
              </a:ext>
            </a:extLst>
          </p:cNvPr>
          <p:cNvSpPr txBox="1">
            <a:spLocks/>
          </p:cNvSpPr>
          <p:nvPr/>
        </p:nvSpPr>
        <p:spPr>
          <a:xfrm>
            <a:off x="456426" y="267416"/>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Calibri Light" panose="020F0302020204030204" pitchFamily="34" charset="0"/>
              </a:rPr>
              <a:t>Our experiences in Utility Asset Management</a:t>
            </a:r>
          </a:p>
        </p:txBody>
      </p:sp>
      <p:sp>
        <p:nvSpPr>
          <p:cNvPr id="3" name="Rectangle 2">
            <a:extLst>
              <a:ext uri="{FF2B5EF4-FFF2-40B4-BE49-F238E27FC236}">
                <a16:creationId xmlns:a16="http://schemas.microsoft.com/office/drawing/2014/main" id="{D7487E6E-61BD-5253-25CD-97B2F801E262}"/>
              </a:ext>
            </a:extLst>
          </p:cNvPr>
          <p:cNvSpPr/>
          <p:nvPr/>
        </p:nvSpPr>
        <p:spPr bwMode="gray">
          <a:xfrm>
            <a:off x="479425"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Background</a:t>
            </a:r>
          </a:p>
          <a:p>
            <a:pPr marR="0" lvl="0"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FENAKA is a state-owned generation and distribution Utility in Maldives that caters to electricity requirements in 153 outer islands. Because of legacy issues, the Utility did not have a Fixed Assets Register which was a major audit comment in their Financial Statements. As a part of an ADB funded project through the Ministry, Deloitte was mandated to advise FENAKA on how they could develop a Fixed Asset Register that can meet the IFRS requirements.</a:t>
            </a: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endPar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endParaRP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Scope and Approach</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Developed an approach paper for asset verification and valuation given the challenges of remotely located islands which make it impossible for a valuer to visit all 153 islands</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Develop the Terms of reference and RFP for selection of a fixed asset valuation expert firm and assisted the PMU in the selection process</a:t>
            </a:r>
          </a:p>
          <a:p>
            <a:pPr marL="173038" marR="0" lvl="1" indent="-171450" algn="just" defTabSz="914400" rtl="0" eaLnBrk="1" fontAlgn="base" latinLnBrk="0" hangingPunct="1">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Provided program management activities for entire physical verification and valuation exercise. Reviewed the deliverables of the valuation firm, and guided FENAKA on how they could make the necessary adjustments in their financial statements to reflect the valuation.</a:t>
            </a:r>
          </a:p>
          <a:p>
            <a:pPr indent="-241035" algn="just" defTabSz="1233488">
              <a:spcBef>
                <a:spcPts val="300"/>
              </a:spcBef>
              <a:buClr>
                <a:srgbClr val="000000"/>
              </a:buClr>
              <a:buFontTx/>
              <a:buNone/>
              <a:tabLst>
                <a:tab pos="7702550" algn="l"/>
              </a:tabLst>
              <a:defRPr/>
            </a:pPr>
            <a:endParaRPr lang="en-US" sz="1100" b="1" kern="0" dirty="0">
              <a:solidFill>
                <a:schemeClr val="accent5"/>
              </a:solidFill>
              <a:latin typeface="Verdana" panose="020B0604030504040204" pitchFamily="34" charset="0"/>
              <a:ea typeface="Verdana" panose="020B0604030504040204" pitchFamily="34" charset="0"/>
            </a:endParaRPr>
          </a:p>
          <a:p>
            <a:pPr indent="-241035" algn="just" defTabSz="1233488">
              <a:spcBef>
                <a:spcPts val="300"/>
              </a:spcBef>
              <a:buClr>
                <a:srgbClr val="000000"/>
              </a:buClr>
              <a:buFontTx/>
              <a:buNone/>
              <a:tabLst>
                <a:tab pos="7702550" algn="l"/>
              </a:tabLst>
              <a:defRPr/>
            </a:pPr>
            <a:r>
              <a:rPr lang="en-US" sz="1100" b="1" kern="0" dirty="0">
                <a:solidFill>
                  <a:schemeClr val="accent5"/>
                </a:solidFill>
                <a:latin typeface="Verdana" panose="020B0604030504040204" pitchFamily="34" charset="0"/>
                <a:ea typeface="Verdana" panose="020B0604030504040204" pitchFamily="34" charset="0"/>
              </a:rPr>
              <a:t>Value delivered</a:t>
            </a:r>
          </a:p>
          <a:p>
            <a:pPr marL="173038" marR="0" lvl="1" indent="-1714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Physical verification &amp; Asset register </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compilation</a:t>
            </a:r>
          </a:p>
          <a:p>
            <a:pPr marL="173038" marR="0" lvl="1" indent="-1714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Statutory  / Regulatory Compliance</a:t>
            </a:r>
          </a:p>
        </p:txBody>
      </p:sp>
      <p:sp>
        <p:nvSpPr>
          <p:cNvPr id="4" name="Rectangle 3">
            <a:extLst>
              <a:ext uri="{FF2B5EF4-FFF2-40B4-BE49-F238E27FC236}">
                <a16:creationId xmlns:a16="http://schemas.microsoft.com/office/drawing/2014/main" id="{F4ED89F9-DB2F-A83F-8966-DF9059C60745}"/>
              </a:ext>
            </a:extLst>
          </p:cNvPr>
          <p:cNvSpPr/>
          <p:nvPr/>
        </p:nvSpPr>
        <p:spPr bwMode="gray">
          <a:xfrm>
            <a:off x="479425" y="1172324"/>
            <a:ext cx="5616575"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b="1" i="0" u="none" strike="noStrike" kern="0" cap="none" spc="0" normalizeH="0" baseline="0" noProof="0" dirty="0">
              <a:ln>
                <a:noFill/>
              </a:ln>
              <a:solidFill>
                <a:srgbClr val="FFFFFF"/>
              </a:solidFill>
              <a:effectLst/>
              <a:uLnTx/>
              <a:uFillTx/>
              <a:ea typeface="+mn-ea"/>
              <a:cs typeface="+mn-cs"/>
            </a:endParaRPr>
          </a:p>
        </p:txBody>
      </p:sp>
      <p:sp>
        <p:nvSpPr>
          <p:cNvPr id="11" name="Rectangle 10">
            <a:extLst>
              <a:ext uri="{FF2B5EF4-FFF2-40B4-BE49-F238E27FC236}">
                <a16:creationId xmlns:a16="http://schemas.microsoft.com/office/drawing/2014/main" id="{A99A3A7E-C418-DC91-F931-21826C60A135}"/>
              </a:ext>
            </a:extLst>
          </p:cNvPr>
          <p:cNvSpPr/>
          <p:nvPr/>
        </p:nvSpPr>
        <p:spPr bwMode="gray">
          <a:xfrm>
            <a:off x="6286459"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Background</a:t>
            </a: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Thrissur Municipal Corporation, Electricity Department (TCED) engaged Deloitte to create fixed asset registers to comply with Regulatory directives.  The Project envisaged the physical verification of all electricity distribution assets in the city and development of the asset register along with values. This was done at the behest of the State Regulator which required TCED to ensure regulatory compliance on the Asset details </a:t>
            </a:r>
            <a:endParaRPr lang="en-US" sz="1100" dirty="0">
              <a:solidFill>
                <a:prstClr val="black"/>
              </a:solidFill>
              <a:latin typeface="Verdana" panose="020B0604030504040204" pitchFamily="34" charset="0"/>
              <a:ea typeface="Verdana" panose="020B0604030504040204" pitchFamily="34" charset="0"/>
              <a:cs typeface="Arial" charset="0"/>
            </a:endParaRP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endPar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endParaRP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endParaRPr lang="en-US" sz="1100" b="1" kern="0" dirty="0">
              <a:solidFill>
                <a:schemeClr val="accent5"/>
              </a:solidFill>
              <a:latin typeface="Verdana" panose="020B0604030504040204" pitchFamily="34" charset="0"/>
              <a:ea typeface="Verdana" panose="020B0604030504040204" pitchFamily="34" charset="0"/>
            </a:endParaRP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Scope and Approach</a:t>
            </a:r>
          </a:p>
          <a:p>
            <a:pPr marL="173038" marR="0" lvl="1" indent="-171450" algn="just" defTabSz="914400" rtl="0" eaLnBrk="1" fontAlgn="base" latinLnBrk="0" hangingPunct="1">
              <a:lnSpc>
                <a:spcPct val="106000"/>
              </a:lnSpc>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Conducted an As-Is analysis to understand the accounting policies and processes, asset listing and processes.</a:t>
            </a:r>
          </a:p>
          <a:p>
            <a:pPr marL="173038" marR="0" lvl="1" indent="-171450" algn="just" defTabSz="914400" rtl="0" eaLnBrk="1" fontAlgn="base" latinLnBrk="0" hangingPunct="1">
              <a:lnSpc>
                <a:spcPct val="106000"/>
              </a:lnSpc>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Development of an excel based template for data capture as well as asset verification</a:t>
            </a:r>
          </a:p>
          <a:p>
            <a:pPr marL="173038" marR="0" lvl="1" indent="-171450" algn="just" defTabSz="914400" rtl="0" eaLnBrk="1" fontAlgn="base" latinLnBrk="0" hangingPunct="1">
              <a:lnSpc>
                <a:spcPct val="106000"/>
              </a:lnSpc>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Actual physical verification in all locations under TCED license area</a:t>
            </a:r>
          </a:p>
          <a:p>
            <a:pPr marL="173038" marR="0" lvl="1" indent="-171450" algn="just" defTabSz="914400" rtl="0" eaLnBrk="1" fontAlgn="base" latinLnBrk="0" hangingPunct="1">
              <a:lnSpc>
                <a:spcPct val="106000"/>
              </a:lnSpc>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Compilation of the Assets as per details obtained from the field offices and the physical verification exercise</a:t>
            </a:r>
          </a:p>
          <a:p>
            <a:pPr marL="173038" marR="0" lvl="1" indent="-171450" algn="just" defTabSz="914400" rtl="0" eaLnBrk="1" fontAlgn="base" latinLnBrk="0" hangingPunct="1">
              <a:lnSpc>
                <a:spcPct val="106000"/>
              </a:lnSpc>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Development of an historical cost determination methodology document</a:t>
            </a:r>
          </a:p>
          <a:p>
            <a:pPr marL="173038" marR="0" lvl="1" indent="-171450" algn="just" defTabSz="914400" rtl="0" eaLnBrk="1" fontAlgn="base" latinLnBrk="0" hangingPunct="1">
              <a:lnSpc>
                <a:spcPct val="106000"/>
              </a:lnSpc>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Identification of the historical costs for individual assets / asset group.</a:t>
            </a:r>
          </a:p>
          <a:p>
            <a:pPr marL="1588" marR="0" lvl="1" algn="just" defTabSz="914400" rtl="0" eaLnBrk="1" fontAlgn="base" latinLnBrk="0" hangingPunct="1">
              <a:lnSpc>
                <a:spcPct val="106000"/>
              </a:lnSpc>
              <a:spcBef>
                <a:spcPts val="200"/>
              </a:spcBef>
              <a:spcAft>
                <a:spcPts val="200"/>
              </a:spcAft>
              <a:buClrTx/>
              <a:buSzTx/>
              <a:tabLst/>
              <a:defRPr/>
            </a:pPr>
            <a:endParaRPr lang="en-US" sz="1100" dirty="0">
              <a:solidFill>
                <a:srgbClr val="000000"/>
              </a:solidFill>
              <a:latin typeface="Verdana" panose="020B0604030504040204" pitchFamily="34" charset="0"/>
              <a:ea typeface="Verdana" panose="020B0604030504040204" pitchFamily="34" charset="0"/>
              <a:cs typeface="Arial" charset="0"/>
            </a:endParaRPr>
          </a:p>
          <a:p>
            <a:pPr indent="-241035" algn="just" defTabSz="1233488">
              <a:spcBef>
                <a:spcPts val="300"/>
              </a:spcBef>
              <a:buClr>
                <a:srgbClr val="000000"/>
              </a:buClr>
              <a:buFontTx/>
              <a:buNone/>
              <a:tabLst>
                <a:tab pos="7702550" algn="l"/>
              </a:tabLst>
              <a:defRPr/>
            </a:pPr>
            <a:r>
              <a:rPr lang="en-US" sz="1100" b="1" kern="0" dirty="0">
                <a:solidFill>
                  <a:schemeClr val="accent5"/>
                </a:solidFill>
                <a:latin typeface="Verdana" panose="020B0604030504040204" pitchFamily="34" charset="0"/>
                <a:ea typeface="Verdana" panose="020B0604030504040204" pitchFamily="34" charset="0"/>
              </a:rPr>
              <a:t>Value delivered</a:t>
            </a:r>
          </a:p>
          <a:p>
            <a:pPr marL="173038" marR="0" lvl="1" indent="-1714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Physical verification &amp; Asset register compilation</a:t>
            </a:r>
          </a:p>
          <a:p>
            <a:pPr marL="173038" marR="0" lvl="1" indent="-1714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Statutory  / Regulatory Compliance</a:t>
            </a:r>
          </a:p>
          <a:p>
            <a:pPr marL="1588" marR="0" lvl="1" algn="just" defTabSz="914400" rtl="0" eaLnBrk="1" fontAlgn="base" latinLnBrk="0" hangingPunct="1">
              <a:lnSpc>
                <a:spcPct val="106000"/>
              </a:lnSpc>
              <a:spcBef>
                <a:spcPts val="200"/>
              </a:spcBef>
              <a:spcAft>
                <a:spcPts val="200"/>
              </a:spcAft>
              <a:buClrTx/>
              <a:buSzTx/>
              <a:tabLst/>
              <a:defRPr/>
            </a:pPr>
            <a:endParaRPr lang="en-US" sz="1200" dirty="0">
              <a:solidFill>
                <a:srgbClr val="000000"/>
              </a:solidFill>
              <a:latin typeface="Calibri" panose="020F0502020204030204"/>
              <a:cs typeface="Arial" charset="0"/>
            </a:endParaRPr>
          </a:p>
        </p:txBody>
      </p:sp>
      <p:sp>
        <p:nvSpPr>
          <p:cNvPr id="12" name="Rectangle 11">
            <a:extLst>
              <a:ext uri="{FF2B5EF4-FFF2-40B4-BE49-F238E27FC236}">
                <a16:creationId xmlns:a16="http://schemas.microsoft.com/office/drawing/2014/main" id="{9E3D3ADE-7876-3849-F88E-40AEC931B1D0}"/>
              </a:ext>
            </a:extLst>
          </p:cNvPr>
          <p:cNvSpPr/>
          <p:nvPr/>
        </p:nvSpPr>
        <p:spPr bwMode="gray">
          <a:xfrm>
            <a:off x="6286459" y="1172324"/>
            <a:ext cx="5616575"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b="1" i="0" u="none" strike="noStrike" kern="0" cap="none" spc="0" normalizeH="0" baseline="0" noProof="0" dirty="0">
              <a:ln>
                <a:noFill/>
              </a:ln>
              <a:solidFill>
                <a:srgbClr val="FFFFFF"/>
              </a:solidFill>
              <a:effectLst/>
              <a:uLnTx/>
              <a:uFillTx/>
              <a:ea typeface="+mn-ea"/>
              <a:cs typeface="+mn-cs"/>
            </a:endParaRPr>
          </a:p>
        </p:txBody>
      </p:sp>
      <p:sp>
        <p:nvSpPr>
          <p:cNvPr id="5" name="TextBox 4">
            <a:extLst>
              <a:ext uri="{FF2B5EF4-FFF2-40B4-BE49-F238E27FC236}">
                <a16:creationId xmlns:a16="http://schemas.microsoft.com/office/drawing/2014/main" id="{86FB3C9C-DC24-E03C-1EF4-E919A1B89884}"/>
              </a:ext>
            </a:extLst>
          </p:cNvPr>
          <p:cNvSpPr txBox="1"/>
          <p:nvPr/>
        </p:nvSpPr>
        <p:spPr>
          <a:xfrm>
            <a:off x="6447327" y="1254227"/>
            <a:ext cx="5197800" cy="218714"/>
          </a:xfrm>
          <a:prstGeom prst="rect">
            <a:avLst/>
          </a:prstGeom>
          <a:noFill/>
        </p:spPr>
        <p:txBody>
          <a:bodyPr wrap="square" lIns="0" tIns="0" rIns="0" bIns="0" rtlCol="0">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FFFFFF"/>
                </a:solidFill>
                <a:effectLst/>
                <a:uLnTx/>
                <a:uFillTx/>
                <a:ea typeface="+mn-ea"/>
                <a:cs typeface="+mn-cs"/>
              </a:rPr>
              <a:t>Thrissur Municipal Corporation</a:t>
            </a:r>
          </a:p>
        </p:txBody>
      </p:sp>
      <p:sp>
        <p:nvSpPr>
          <p:cNvPr id="7" name="TextBox 6">
            <a:extLst>
              <a:ext uri="{FF2B5EF4-FFF2-40B4-BE49-F238E27FC236}">
                <a16:creationId xmlns:a16="http://schemas.microsoft.com/office/drawing/2014/main" id="{1419F23A-8705-5FE4-ED15-B7ECFF5EDBED}"/>
              </a:ext>
            </a:extLst>
          </p:cNvPr>
          <p:cNvSpPr txBox="1"/>
          <p:nvPr/>
        </p:nvSpPr>
        <p:spPr>
          <a:xfrm>
            <a:off x="610507" y="1254227"/>
            <a:ext cx="5477419" cy="208583"/>
          </a:xfrm>
          <a:prstGeom prst="rect">
            <a:avLst/>
          </a:prstGeom>
          <a:noFill/>
        </p:spPr>
        <p:txBody>
          <a:bodyPr wrap="square" lIns="0" tIns="0" rIns="0" bIns="0" rtlCol="0">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Ministry of Environment and Energy, Govt. of Maldives</a:t>
            </a:r>
          </a:p>
        </p:txBody>
      </p:sp>
      <p:sp>
        <p:nvSpPr>
          <p:cNvPr id="8" name="Title 1">
            <a:extLst>
              <a:ext uri="{FF2B5EF4-FFF2-40B4-BE49-F238E27FC236}">
                <a16:creationId xmlns:a16="http://schemas.microsoft.com/office/drawing/2014/main" id="{EFF8DA63-299A-ECB5-B645-3E59893D3E8E}"/>
              </a:ext>
            </a:extLst>
          </p:cNvPr>
          <p:cNvSpPr txBox="1">
            <a:spLocks/>
          </p:cNvSpPr>
          <p:nvPr/>
        </p:nvSpPr>
        <p:spPr>
          <a:xfrm>
            <a:off x="478709" y="646298"/>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800" dirty="0">
                <a:solidFill>
                  <a:srgbClr val="575757"/>
                </a:solidFill>
                <a:ea typeface="+mn-ea"/>
                <a:cs typeface="+mn-cs"/>
              </a:rPr>
              <a:t>We have extensive experience in Asset Management for Indian &amp; Global Utility Clients</a:t>
            </a:r>
          </a:p>
        </p:txBody>
      </p:sp>
    </p:spTree>
    <p:extLst>
      <p:ext uri="{BB962C8B-B14F-4D97-AF65-F5344CB8AC3E}">
        <p14:creationId xmlns:p14="http://schemas.microsoft.com/office/powerpoint/2010/main" val="316011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1C3CF6-DACE-3BC9-B6E2-4A901262320A}"/>
              </a:ext>
            </a:extLst>
          </p:cNvPr>
          <p:cNvPicPr>
            <a:picLocks noChangeAspect="1"/>
          </p:cNvPicPr>
          <p:nvPr/>
        </p:nvPicPr>
        <p:blipFill rotWithShape="1">
          <a:blip r:embed="rId2">
            <a:grayscl/>
            <a:alphaModFix amt="87000"/>
            <a:extLst>
              <a:ext uri="{BEBA8EAE-BF5A-486C-A8C5-ECC9F3942E4B}">
                <a14:imgProps xmlns:a14="http://schemas.microsoft.com/office/drawing/2010/main">
                  <a14:imgLayer r:embed="rId3">
                    <a14:imgEffect>
                      <a14:colorTemperature colorTemp="4700"/>
                    </a14:imgEffect>
                    <a14:imgEffect>
                      <a14:saturation sat="61000"/>
                    </a14:imgEffect>
                  </a14:imgLayer>
                </a14:imgProps>
              </a:ext>
            </a:extLst>
          </a:blip>
          <a:srcRect t="12821" b="13919"/>
          <a:stretch/>
        </p:blipFill>
        <p:spPr>
          <a:xfrm>
            <a:off x="1860656" y="1494322"/>
            <a:ext cx="8851606" cy="4950276"/>
          </a:xfrm>
          <a:prstGeom prst="rect">
            <a:avLst/>
          </a:prstGeom>
        </p:spPr>
      </p:pic>
      <p:sp>
        <p:nvSpPr>
          <p:cNvPr id="6" name="Title 1">
            <a:extLst>
              <a:ext uri="{FF2B5EF4-FFF2-40B4-BE49-F238E27FC236}">
                <a16:creationId xmlns:a16="http://schemas.microsoft.com/office/drawing/2014/main" id="{C8C32E11-ECB2-4668-921A-9D9CDB203D92}"/>
              </a:ext>
            </a:extLst>
          </p:cNvPr>
          <p:cNvSpPr txBox="1">
            <a:spLocks/>
          </p:cNvSpPr>
          <p:nvPr/>
        </p:nvSpPr>
        <p:spPr>
          <a:xfrm>
            <a:off x="456426" y="267416"/>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Calibri Light" panose="020F0302020204030204" pitchFamily="34" charset="0"/>
              </a:rPr>
              <a:t>Our experiences in Utility Asset Management</a:t>
            </a:r>
          </a:p>
        </p:txBody>
      </p:sp>
      <p:sp>
        <p:nvSpPr>
          <p:cNvPr id="3" name="Rectangle 2">
            <a:extLst>
              <a:ext uri="{FF2B5EF4-FFF2-40B4-BE49-F238E27FC236}">
                <a16:creationId xmlns:a16="http://schemas.microsoft.com/office/drawing/2014/main" id="{D7487E6E-61BD-5253-25CD-97B2F801E262}"/>
              </a:ext>
            </a:extLst>
          </p:cNvPr>
          <p:cNvSpPr/>
          <p:nvPr/>
        </p:nvSpPr>
        <p:spPr bwMode="gray">
          <a:xfrm>
            <a:off x="479425"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Background</a:t>
            </a:r>
          </a:p>
          <a:p>
            <a:pPr marR="0" lvl="0"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The purpose of the project was to help in implementation of asset management policies and processes and help in the functional integration of the summary data available in the accounting and financial records with the detailed data available in the asset management software i.e., Maximo. The project dealt with airport assets such as airport infrastructure, land and real estate development assets such as land and buildings developed as a part of the aviation city.</a:t>
            </a:r>
            <a:endPar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endParaRP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Scope and Approach</a:t>
            </a:r>
          </a:p>
          <a:p>
            <a:pPr marL="173038" marR="0" lvl="1" indent="-171450" algn="just" defTabSz="914400" rtl="0" eaLnBrk="1" fontAlgn="base" latinLnBrk="0" hangingPunct="1">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Reviewed the current IT architecture used for recording of assets and its related transactions.</a:t>
            </a:r>
          </a:p>
          <a:p>
            <a:pPr marL="173038" marR="0" lvl="1" indent="-171450" algn="just" defTabSz="914400" rtl="0" eaLnBrk="1" fontAlgn="base" latinLnBrk="0" hangingPunct="1">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Recommended an integrated roadmap solution that ensures integration between maintenance and accounting functions.</a:t>
            </a:r>
          </a:p>
          <a:p>
            <a:pPr marL="173038" marR="0" lvl="1" indent="-171450" algn="just" defTabSz="914400" rtl="0" eaLnBrk="1" fontAlgn="base" latinLnBrk="0" hangingPunct="1">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Developed codification structure, accounting policy and process document based on asset classification in accounting.</a:t>
            </a:r>
          </a:p>
          <a:p>
            <a:pPr marL="173038" marR="0" lvl="1" indent="-171450" algn="just" defTabSz="914400" rtl="0" eaLnBrk="1" fontAlgn="base" latinLnBrk="0" hangingPunct="1">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Developed the policy document in line with IFRS regulations and also developed processes and formats for entire asset life cycle.</a:t>
            </a:r>
          </a:p>
          <a:p>
            <a:pPr marL="173038" marR="0" lvl="1" indent="-171450" algn="just" defTabSz="914400" rtl="0" eaLnBrk="1" fontAlgn="base" latinLnBrk="0" hangingPunct="1">
              <a:spcBef>
                <a:spcPts val="2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Provided training to client staff on new processes and formats.</a:t>
            </a:r>
          </a:p>
          <a:p>
            <a:pPr indent="-241035" algn="just" defTabSz="1233488">
              <a:spcBef>
                <a:spcPts val="300"/>
              </a:spcBef>
              <a:buClr>
                <a:srgbClr val="000000"/>
              </a:buClr>
              <a:buFontTx/>
              <a:buNone/>
              <a:tabLst>
                <a:tab pos="7702550" algn="l"/>
              </a:tabLst>
              <a:defRPr/>
            </a:pPr>
            <a:endParaRPr lang="en-US" sz="1100" b="1" kern="0" dirty="0">
              <a:solidFill>
                <a:schemeClr val="accent5"/>
              </a:solidFill>
              <a:latin typeface="Verdana" panose="020B0604030504040204" pitchFamily="34" charset="0"/>
              <a:ea typeface="Verdana" panose="020B0604030504040204" pitchFamily="34" charset="0"/>
            </a:endParaRPr>
          </a:p>
          <a:p>
            <a:pPr indent="-241035" algn="just" defTabSz="1233488">
              <a:spcBef>
                <a:spcPts val="300"/>
              </a:spcBef>
              <a:buClr>
                <a:srgbClr val="000000"/>
              </a:buClr>
              <a:buFontTx/>
              <a:buNone/>
              <a:tabLst>
                <a:tab pos="7702550" algn="l"/>
              </a:tabLst>
              <a:defRPr/>
            </a:pPr>
            <a:r>
              <a:rPr lang="en-US" sz="1100" b="1" kern="0" dirty="0">
                <a:solidFill>
                  <a:schemeClr val="accent5"/>
                </a:solidFill>
                <a:latin typeface="Verdana" panose="020B0604030504040204" pitchFamily="34" charset="0"/>
                <a:ea typeface="Verdana" panose="020B0604030504040204" pitchFamily="34" charset="0"/>
              </a:rPr>
              <a:t>Value delivered</a:t>
            </a:r>
          </a:p>
          <a:p>
            <a:pPr marL="173038" marR="0" lvl="1" indent="-1714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Statutory  / Regulatory Compliance</a:t>
            </a:r>
          </a:p>
          <a:p>
            <a:pPr marL="173038" marR="0" lvl="1" indent="-1714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Asset management Policies and Processes</a:t>
            </a:r>
          </a:p>
          <a:p>
            <a:pPr marL="173038" marR="0" lvl="1" indent="-1714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IT Solution / Integration design</a:t>
            </a:r>
          </a:p>
        </p:txBody>
      </p:sp>
      <p:sp>
        <p:nvSpPr>
          <p:cNvPr id="4" name="Rectangle 3">
            <a:extLst>
              <a:ext uri="{FF2B5EF4-FFF2-40B4-BE49-F238E27FC236}">
                <a16:creationId xmlns:a16="http://schemas.microsoft.com/office/drawing/2014/main" id="{F4ED89F9-DB2F-A83F-8966-DF9059C60745}"/>
              </a:ext>
            </a:extLst>
          </p:cNvPr>
          <p:cNvSpPr/>
          <p:nvPr/>
        </p:nvSpPr>
        <p:spPr bwMode="gray">
          <a:xfrm>
            <a:off x="479425" y="1172324"/>
            <a:ext cx="5616575"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b="1" i="0" u="none" strike="noStrike" kern="0" cap="none" spc="0" normalizeH="0" baseline="0" noProof="0" dirty="0">
              <a:ln>
                <a:noFill/>
              </a:ln>
              <a:solidFill>
                <a:srgbClr val="FFFFFF"/>
              </a:solidFill>
              <a:effectLst/>
              <a:uLnTx/>
              <a:uFillTx/>
              <a:ea typeface="+mn-ea"/>
              <a:cs typeface="+mn-cs"/>
            </a:endParaRPr>
          </a:p>
        </p:txBody>
      </p:sp>
      <p:sp>
        <p:nvSpPr>
          <p:cNvPr id="11" name="Rectangle 10">
            <a:extLst>
              <a:ext uri="{FF2B5EF4-FFF2-40B4-BE49-F238E27FC236}">
                <a16:creationId xmlns:a16="http://schemas.microsoft.com/office/drawing/2014/main" id="{A99A3A7E-C418-DC91-F931-21826C60A135}"/>
              </a:ext>
            </a:extLst>
          </p:cNvPr>
          <p:cNvSpPr/>
          <p:nvPr/>
        </p:nvSpPr>
        <p:spPr bwMode="gray">
          <a:xfrm>
            <a:off x="6286459"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Background</a:t>
            </a: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Deloitte was mandated by the airport operator to review the current policies and procedures for maintenance of the fixed assets register, identify gaps and recommend improvements.  The key challenge faced by the operator was the multiplicity of agencies involved in asset creation and asset maintenance including critical aspects related to financial reporting.</a:t>
            </a:r>
            <a:endPar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endParaRPr>
          </a:p>
          <a:p>
            <a:pPr marR="0" lvl="0" algn="just" defTabSz="1233488" rtl="0" eaLnBrk="1" fontAlgn="auto" latinLnBrk="0" hangingPunct="1">
              <a:lnSpc>
                <a:spcPct val="100000"/>
              </a:lnSpc>
              <a:spcBef>
                <a:spcPts val="300"/>
              </a:spcBef>
              <a:spcAft>
                <a:spcPts val="0"/>
              </a:spcAft>
              <a:buClr>
                <a:srgbClr val="000000"/>
              </a:buClr>
              <a:buSzTx/>
              <a:tabLst>
                <a:tab pos="7702550" algn="l"/>
              </a:tabLst>
              <a:defRPr/>
            </a:pPr>
            <a:r>
              <a:rPr kumimoji="0" lang="en-US" sz="1100" b="1" i="0" u="none" strike="noStrike" kern="0" cap="none" spc="0" normalizeH="0" baseline="0" noProof="0" dirty="0">
                <a:ln>
                  <a:noFill/>
                </a:ln>
                <a:solidFill>
                  <a:schemeClr val="accent5"/>
                </a:solidFill>
                <a:effectLst/>
                <a:uLnTx/>
                <a:uFillTx/>
                <a:latin typeface="Verdana" panose="020B0604030504040204" pitchFamily="34" charset="0"/>
                <a:ea typeface="Verdana" panose="020B0604030504040204" pitchFamily="34" charset="0"/>
              </a:rPr>
              <a:t>Scope and Approach</a:t>
            </a:r>
          </a:p>
          <a:p>
            <a:pPr marL="173038" marR="0" lvl="1" indent="-171450" algn="just" defTabSz="914400" rtl="0" eaLnBrk="1" fontAlgn="base" latinLnBrk="0" hangingPunct="1">
              <a:lnSpc>
                <a:spcPct val="106000"/>
              </a:lnSpc>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Understand current practices and formats used for transfer of information between units and document the as-is key information flows related to assets between the units / entities</a:t>
            </a:r>
          </a:p>
          <a:p>
            <a:pPr marL="173038" marR="0" lvl="1" indent="-171450" algn="just" defTabSz="914400" rtl="0" eaLnBrk="1" fontAlgn="base" latinLnBrk="0" hangingPunct="1">
              <a:lnSpc>
                <a:spcPct val="106000"/>
              </a:lnSpc>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Identify key bottlenecks / gaps in information transfer process and process improvements  and agree on process improvement changes with all stakeholders</a:t>
            </a:r>
          </a:p>
          <a:p>
            <a:pPr marL="173038" marR="0" lvl="1" indent="-171450" algn="just" defTabSz="914400" rtl="0" eaLnBrk="1" fontAlgn="base" latinLnBrk="0" hangingPunct="1">
              <a:lnSpc>
                <a:spcPct val="106000"/>
              </a:lnSpc>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Draft a Fixed Asset Policy document for the entire fixed assets cycle</a:t>
            </a:r>
          </a:p>
          <a:p>
            <a:pPr marL="173038" marR="0" lvl="1" indent="-171450" algn="just" defTabSz="914400" rtl="0" eaLnBrk="1" fontAlgn="base" latinLnBrk="0" hangingPunct="1">
              <a:lnSpc>
                <a:spcPct val="106000"/>
              </a:lnSpc>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Develop process framework document for asset management containing:</a:t>
            </a:r>
          </a:p>
          <a:p>
            <a:pPr marL="403225" marR="0" lvl="1" indent="-171450" algn="just" defTabSz="914400" rtl="0" eaLnBrk="1" fontAlgn="base" latinLnBrk="0" hangingPunct="1">
              <a:lnSpc>
                <a:spcPct val="106000"/>
              </a:lnSpc>
              <a:buClrTx/>
              <a:buSzTx/>
              <a:buFont typeface="Courier New" panose="02070309020205020404" pitchFamily="49" charset="0"/>
              <a:buChar char="o"/>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listing of all processes, </a:t>
            </a:r>
          </a:p>
          <a:p>
            <a:pPr marL="403225" marR="0" lvl="1" indent="-171450" algn="just" defTabSz="914400" rtl="0" eaLnBrk="1" fontAlgn="base" latinLnBrk="0" hangingPunct="1">
              <a:lnSpc>
                <a:spcPct val="106000"/>
              </a:lnSpc>
              <a:buClrTx/>
              <a:buSzTx/>
              <a:buFont typeface="Courier New" panose="02070309020205020404" pitchFamily="49" charset="0"/>
              <a:buChar char="o"/>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process flow charts, </a:t>
            </a:r>
          </a:p>
          <a:p>
            <a:pPr marL="403225" marR="0" lvl="1" indent="-171450" algn="just" defTabSz="914400" rtl="0" eaLnBrk="1" fontAlgn="base" latinLnBrk="0" hangingPunct="1">
              <a:lnSpc>
                <a:spcPct val="106000"/>
              </a:lnSpc>
              <a:buClrTx/>
              <a:buSzTx/>
              <a:buFont typeface="Courier New" panose="02070309020205020404" pitchFamily="49" charset="0"/>
              <a:buChar char="o"/>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identifying system interface requirements, </a:t>
            </a:r>
          </a:p>
          <a:p>
            <a:pPr marL="403225" marR="0" lvl="1" indent="-171450" algn="just" defTabSz="914400" rtl="0" eaLnBrk="1" fontAlgn="base" latinLnBrk="0" hangingPunct="1">
              <a:lnSpc>
                <a:spcPct val="106000"/>
              </a:lnSpc>
              <a:buClrTx/>
              <a:buSzTx/>
              <a:buFont typeface="Courier New" panose="02070309020205020404" pitchFamily="49" charset="0"/>
              <a:buChar char="o"/>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design of documents and reports.</a:t>
            </a:r>
          </a:p>
          <a:p>
            <a:pPr indent="-241035" algn="just" defTabSz="1233488">
              <a:spcBef>
                <a:spcPts val="300"/>
              </a:spcBef>
              <a:buClr>
                <a:srgbClr val="000000"/>
              </a:buClr>
              <a:buFontTx/>
              <a:buNone/>
              <a:tabLst>
                <a:tab pos="7702550" algn="l"/>
              </a:tabLst>
              <a:defRPr/>
            </a:pPr>
            <a:endParaRPr lang="en-US" sz="1100" b="1" kern="0" dirty="0">
              <a:solidFill>
                <a:schemeClr val="accent5"/>
              </a:solidFill>
              <a:latin typeface="Verdana" panose="020B0604030504040204" pitchFamily="34" charset="0"/>
              <a:ea typeface="Verdana" panose="020B0604030504040204" pitchFamily="34" charset="0"/>
            </a:endParaRPr>
          </a:p>
          <a:p>
            <a:pPr indent="-241035" algn="just" defTabSz="1233488">
              <a:spcBef>
                <a:spcPts val="300"/>
              </a:spcBef>
              <a:buClr>
                <a:srgbClr val="000000"/>
              </a:buClr>
              <a:buFontTx/>
              <a:buNone/>
              <a:tabLst>
                <a:tab pos="7702550" algn="l"/>
              </a:tabLst>
              <a:defRPr/>
            </a:pPr>
            <a:r>
              <a:rPr lang="en-US" sz="1100" b="1" kern="0" dirty="0">
                <a:solidFill>
                  <a:schemeClr val="accent5"/>
                </a:solidFill>
                <a:latin typeface="Verdana" panose="020B0604030504040204" pitchFamily="34" charset="0"/>
                <a:ea typeface="Verdana" panose="020B0604030504040204" pitchFamily="34" charset="0"/>
              </a:rPr>
              <a:t>Value delivered</a:t>
            </a:r>
          </a:p>
          <a:p>
            <a:pPr marL="173038" marR="0" lvl="1" indent="-1714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Asset management Policies and Processes</a:t>
            </a:r>
          </a:p>
          <a:p>
            <a:pPr marL="173038" marR="0" lvl="1" indent="-17145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Statutory  / Regulatory Compliance</a:t>
            </a:r>
          </a:p>
          <a:p>
            <a:pPr marL="1588" marR="0" lvl="1" algn="just" defTabSz="914400" rtl="0" eaLnBrk="1" fontAlgn="base" latinLnBrk="0" hangingPunct="1">
              <a:lnSpc>
                <a:spcPct val="106000"/>
              </a:lnSpc>
              <a:spcBef>
                <a:spcPts val="200"/>
              </a:spcBef>
              <a:spcAft>
                <a:spcPts val="200"/>
              </a:spcAft>
              <a:buClrTx/>
              <a:buSzTx/>
              <a:tabLst/>
              <a:defRPr/>
            </a:pPr>
            <a:endParaRPr lang="en-US" sz="1200" dirty="0">
              <a:solidFill>
                <a:srgbClr val="000000"/>
              </a:solidFill>
              <a:latin typeface="Calibri" panose="020F0502020204030204"/>
              <a:cs typeface="Arial" charset="0"/>
            </a:endParaRPr>
          </a:p>
        </p:txBody>
      </p:sp>
      <p:sp>
        <p:nvSpPr>
          <p:cNvPr id="12" name="Rectangle 11">
            <a:extLst>
              <a:ext uri="{FF2B5EF4-FFF2-40B4-BE49-F238E27FC236}">
                <a16:creationId xmlns:a16="http://schemas.microsoft.com/office/drawing/2014/main" id="{9E3D3ADE-7876-3849-F88E-40AEC931B1D0}"/>
              </a:ext>
            </a:extLst>
          </p:cNvPr>
          <p:cNvSpPr/>
          <p:nvPr/>
        </p:nvSpPr>
        <p:spPr bwMode="gray">
          <a:xfrm>
            <a:off x="6286459" y="1172324"/>
            <a:ext cx="5616575"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b="1" i="0" u="none" strike="noStrike" kern="0" cap="none" spc="0" normalizeH="0" baseline="0" noProof="0" dirty="0">
              <a:ln>
                <a:noFill/>
              </a:ln>
              <a:solidFill>
                <a:srgbClr val="FFFFFF"/>
              </a:solidFill>
              <a:effectLst/>
              <a:uLnTx/>
              <a:uFillTx/>
              <a:ea typeface="+mn-ea"/>
              <a:cs typeface="+mn-cs"/>
            </a:endParaRPr>
          </a:p>
        </p:txBody>
      </p:sp>
      <p:sp>
        <p:nvSpPr>
          <p:cNvPr id="5" name="TextBox 4">
            <a:extLst>
              <a:ext uri="{FF2B5EF4-FFF2-40B4-BE49-F238E27FC236}">
                <a16:creationId xmlns:a16="http://schemas.microsoft.com/office/drawing/2014/main" id="{86FB3C9C-DC24-E03C-1EF4-E919A1B89884}"/>
              </a:ext>
            </a:extLst>
          </p:cNvPr>
          <p:cNvSpPr txBox="1"/>
          <p:nvPr/>
        </p:nvSpPr>
        <p:spPr>
          <a:xfrm>
            <a:off x="6447327" y="1254227"/>
            <a:ext cx="5515084" cy="208583"/>
          </a:xfrm>
          <a:prstGeom prst="rect">
            <a:avLst/>
          </a:prstGeom>
          <a:noFill/>
        </p:spPr>
        <p:txBody>
          <a:bodyPr wrap="square" lIns="0" tIns="0" rIns="0" bIns="0" rtlCol="0">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Global airport in the aviation sector (airport operator)</a:t>
            </a:r>
          </a:p>
        </p:txBody>
      </p:sp>
      <p:sp>
        <p:nvSpPr>
          <p:cNvPr id="7" name="TextBox 6">
            <a:extLst>
              <a:ext uri="{FF2B5EF4-FFF2-40B4-BE49-F238E27FC236}">
                <a16:creationId xmlns:a16="http://schemas.microsoft.com/office/drawing/2014/main" id="{1419F23A-8705-5FE4-ED15-B7ECFF5EDBED}"/>
              </a:ext>
            </a:extLst>
          </p:cNvPr>
          <p:cNvSpPr txBox="1"/>
          <p:nvPr/>
        </p:nvSpPr>
        <p:spPr>
          <a:xfrm>
            <a:off x="610507" y="1254227"/>
            <a:ext cx="5477419" cy="238335"/>
          </a:xfrm>
          <a:prstGeom prst="rect">
            <a:avLst/>
          </a:prstGeom>
          <a:noFill/>
        </p:spPr>
        <p:txBody>
          <a:bodyPr wrap="square" lIns="0" tIns="0" rIns="0" bIns="0" rtlCol="0">
            <a:spAutoFit/>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rPr>
              <a:t>Global Airport - Asset Management IT Solution</a:t>
            </a:r>
          </a:p>
        </p:txBody>
      </p:sp>
      <p:sp>
        <p:nvSpPr>
          <p:cNvPr id="8" name="Title 1">
            <a:extLst>
              <a:ext uri="{FF2B5EF4-FFF2-40B4-BE49-F238E27FC236}">
                <a16:creationId xmlns:a16="http://schemas.microsoft.com/office/drawing/2014/main" id="{69D8DA83-FEC9-B47B-76D9-6D8CC4AF35C5}"/>
              </a:ext>
            </a:extLst>
          </p:cNvPr>
          <p:cNvSpPr txBox="1">
            <a:spLocks/>
          </p:cNvSpPr>
          <p:nvPr/>
        </p:nvSpPr>
        <p:spPr>
          <a:xfrm>
            <a:off x="478709" y="646298"/>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800" dirty="0">
                <a:solidFill>
                  <a:srgbClr val="575757"/>
                </a:solidFill>
                <a:ea typeface="+mn-ea"/>
                <a:cs typeface="+mn-cs"/>
              </a:rPr>
              <a:t>We have extensive experience in Asset Management for Indian &amp; Global Utility Clients</a:t>
            </a:r>
          </a:p>
        </p:txBody>
      </p:sp>
    </p:spTree>
    <p:extLst>
      <p:ext uri="{BB962C8B-B14F-4D97-AF65-F5344CB8AC3E}">
        <p14:creationId xmlns:p14="http://schemas.microsoft.com/office/powerpoint/2010/main" val="378836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1C3CF6-DACE-3BC9-B6E2-4A901262320A}"/>
              </a:ext>
            </a:extLst>
          </p:cNvPr>
          <p:cNvPicPr>
            <a:picLocks noChangeAspect="1"/>
          </p:cNvPicPr>
          <p:nvPr/>
        </p:nvPicPr>
        <p:blipFill rotWithShape="1">
          <a:blip r:embed="rId3">
            <a:grayscl/>
            <a:alphaModFix amt="87000"/>
            <a:extLst>
              <a:ext uri="{BEBA8EAE-BF5A-486C-A8C5-ECC9F3942E4B}">
                <a14:imgProps xmlns:a14="http://schemas.microsoft.com/office/drawing/2010/main">
                  <a14:imgLayer r:embed="rId4">
                    <a14:imgEffect>
                      <a14:colorTemperature colorTemp="4700"/>
                    </a14:imgEffect>
                    <a14:imgEffect>
                      <a14:saturation sat="61000"/>
                    </a14:imgEffect>
                  </a14:imgLayer>
                </a14:imgProps>
              </a:ext>
            </a:extLst>
          </a:blip>
          <a:srcRect t="12821" b="13919"/>
          <a:stretch/>
        </p:blipFill>
        <p:spPr>
          <a:xfrm>
            <a:off x="1860656" y="1513372"/>
            <a:ext cx="8851606" cy="4950276"/>
          </a:xfrm>
          <a:prstGeom prst="rect">
            <a:avLst/>
          </a:prstGeom>
        </p:spPr>
      </p:pic>
      <p:sp>
        <p:nvSpPr>
          <p:cNvPr id="6" name="Title 1">
            <a:extLst>
              <a:ext uri="{FF2B5EF4-FFF2-40B4-BE49-F238E27FC236}">
                <a16:creationId xmlns:a16="http://schemas.microsoft.com/office/drawing/2014/main" id="{C8C32E11-ECB2-4668-921A-9D9CDB203D92}"/>
              </a:ext>
            </a:extLst>
          </p:cNvPr>
          <p:cNvSpPr txBox="1">
            <a:spLocks/>
          </p:cNvSpPr>
          <p:nvPr/>
        </p:nvSpPr>
        <p:spPr>
          <a:xfrm>
            <a:off x="456426" y="257891"/>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Our experience in </a:t>
            </a:r>
            <a:r>
              <a:rPr lang="en-US" sz="2400" dirty="0">
                <a:solidFill>
                  <a:prstClr val="black"/>
                </a:solidFill>
                <a:latin typeface="Verdana" panose="020B0604030504040204" pitchFamily="34" charset="0"/>
                <a:ea typeface="Verdana" panose="020B0604030504040204" pitchFamily="34" charset="0"/>
              </a:rPr>
              <a:t>Regulatory Assistance for Utilities</a:t>
            </a:r>
            <a:endParaRPr kumimoji="0" lang="en-US"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3" name="Rectangle 2">
            <a:extLst>
              <a:ext uri="{FF2B5EF4-FFF2-40B4-BE49-F238E27FC236}">
                <a16:creationId xmlns:a16="http://schemas.microsoft.com/office/drawing/2014/main" id="{D7487E6E-61BD-5253-25CD-97B2F801E262}"/>
              </a:ext>
            </a:extLst>
          </p:cNvPr>
          <p:cNvSpPr/>
          <p:nvPr/>
        </p:nvSpPr>
        <p:spPr bwMode="gray">
          <a:xfrm>
            <a:off x="479425"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4" name="Rectangle 3">
            <a:extLst>
              <a:ext uri="{FF2B5EF4-FFF2-40B4-BE49-F238E27FC236}">
                <a16:creationId xmlns:a16="http://schemas.microsoft.com/office/drawing/2014/main" id="{F4ED89F9-DB2F-A83F-8966-DF9059C60745}"/>
              </a:ext>
            </a:extLst>
          </p:cNvPr>
          <p:cNvSpPr/>
          <p:nvPr/>
        </p:nvSpPr>
        <p:spPr bwMode="gray">
          <a:xfrm>
            <a:off x="479425" y="1172324"/>
            <a:ext cx="11423609"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lang="en-IN" sz="1200" dirty="0">
                <a:solidFill>
                  <a:schemeClr val="bg1"/>
                </a:solidFill>
                <a:effectLst/>
                <a:latin typeface="Verdana" panose="020B0604030504040204" pitchFamily="34" charset="0"/>
                <a:ea typeface="Verdana" panose="020B0604030504040204" pitchFamily="34" charset="0"/>
                <a:cs typeface="Vrinda" panose="020B0502040204020203" pitchFamily="34" charset="0"/>
              </a:rPr>
              <a:t>Consultancy work orders (ongoing or completed) in Tariff/Regulatory affairs completed within the purview of CERC on behalf of any Central PSU/ Autonomous body/ ISGS/ISTS in past 5 years (i.e., FY 2018-19 - FY 2022-23)</a:t>
            </a:r>
            <a:endPar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11" name="Rectangle 10">
            <a:extLst>
              <a:ext uri="{FF2B5EF4-FFF2-40B4-BE49-F238E27FC236}">
                <a16:creationId xmlns:a16="http://schemas.microsoft.com/office/drawing/2014/main" id="{A99A3A7E-C418-DC91-F931-21826C60A135}"/>
              </a:ext>
            </a:extLst>
          </p:cNvPr>
          <p:cNvSpPr/>
          <p:nvPr/>
        </p:nvSpPr>
        <p:spPr bwMode="gray">
          <a:xfrm>
            <a:off x="6286459"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endParaRPr lang="en-US" sz="1200" dirty="0">
              <a:solidFill>
                <a:srgbClr val="000000"/>
              </a:solidFill>
              <a:latin typeface="Verdana" panose="020B0604030504040204" pitchFamily="34" charset="0"/>
              <a:ea typeface="Verdana" panose="020B0604030504040204" pitchFamily="34" charset="0"/>
              <a:cs typeface="Arial" charset="0"/>
            </a:endParaRPr>
          </a:p>
        </p:txBody>
      </p:sp>
      <p:sp>
        <p:nvSpPr>
          <p:cNvPr id="8" name="Title 1">
            <a:extLst>
              <a:ext uri="{FF2B5EF4-FFF2-40B4-BE49-F238E27FC236}">
                <a16:creationId xmlns:a16="http://schemas.microsoft.com/office/drawing/2014/main" id="{69D8DA83-FEC9-B47B-76D9-6D8CC4AF35C5}"/>
              </a:ext>
            </a:extLst>
          </p:cNvPr>
          <p:cNvSpPr txBox="1">
            <a:spLocks/>
          </p:cNvSpPr>
          <p:nvPr/>
        </p:nvSpPr>
        <p:spPr>
          <a:xfrm>
            <a:off x="478709" y="646298"/>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800" dirty="0">
                <a:solidFill>
                  <a:srgbClr val="575757"/>
                </a:solidFill>
                <a:latin typeface="Verdana" panose="020B0604030504040204" pitchFamily="34" charset="0"/>
                <a:ea typeface="Verdana" panose="020B0604030504040204" pitchFamily="34" charset="0"/>
                <a:cs typeface="+mn-cs"/>
              </a:rPr>
              <a:t>We have extensive experience in Regulatory affairs for Indian &amp; Global Utility Clients</a:t>
            </a:r>
          </a:p>
        </p:txBody>
      </p:sp>
      <p:graphicFrame>
        <p:nvGraphicFramePr>
          <p:cNvPr id="2" name="Table 16">
            <a:extLst>
              <a:ext uri="{FF2B5EF4-FFF2-40B4-BE49-F238E27FC236}">
                <a16:creationId xmlns:a16="http://schemas.microsoft.com/office/drawing/2014/main" id="{75A81805-C86D-EEB8-A258-7B8FD3A76D71}"/>
              </a:ext>
            </a:extLst>
          </p:cNvPr>
          <p:cNvGraphicFramePr>
            <a:graphicFrameLocks noGrp="1"/>
          </p:cNvGraphicFramePr>
          <p:nvPr>
            <p:extLst>
              <p:ext uri="{D42A27DB-BD31-4B8C-83A1-F6EECF244321}">
                <p14:modId xmlns:p14="http://schemas.microsoft.com/office/powerpoint/2010/main" val="415435837"/>
              </p:ext>
            </p:extLst>
          </p:nvPr>
        </p:nvGraphicFramePr>
        <p:xfrm>
          <a:off x="478710" y="1743075"/>
          <a:ext cx="5531566" cy="4552948"/>
        </p:xfrm>
        <a:graphic>
          <a:graphicData uri="http://schemas.openxmlformats.org/drawingml/2006/table">
            <a:tbl>
              <a:tblPr firstRow="1" bandRow="1">
                <a:tableStyleId>{D27102A9-8310-4765-A935-A1911B00CA55}</a:tableStyleId>
              </a:tblPr>
              <a:tblGrid>
                <a:gridCol w="401789">
                  <a:extLst>
                    <a:ext uri="{9D8B030D-6E8A-4147-A177-3AD203B41FA5}">
                      <a16:colId xmlns:a16="http://schemas.microsoft.com/office/drawing/2014/main" val="2597700788"/>
                    </a:ext>
                  </a:extLst>
                </a:gridCol>
                <a:gridCol w="3468594">
                  <a:extLst>
                    <a:ext uri="{9D8B030D-6E8A-4147-A177-3AD203B41FA5}">
                      <a16:colId xmlns:a16="http://schemas.microsoft.com/office/drawing/2014/main" val="2446518390"/>
                    </a:ext>
                  </a:extLst>
                </a:gridCol>
                <a:gridCol w="730094">
                  <a:extLst>
                    <a:ext uri="{9D8B030D-6E8A-4147-A177-3AD203B41FA5}">
                      <a16:colId xmlns:a16="http://schemas.microsoft.com/office/drawing/2014/main" val="4142655954"/>
                    </a:ext>
                  </a:extLst>
                </a:gridCol>
                <a:gridCol w="931089">
                  <a:extLst>
                    <a:ext uri="{9D8B030D-6E8A-4147-A177-3AD203B41FA5}">
                      <a16:colId xmlns:a16="http://schemas.microsoft.com/office/drawing/2014/main" val="1787850561"/>
                    </a:ext>
                  </a:extLst>
                </a:gridCol>
              </a:tblGrid>
              <a:tr h="438022">
                <a:tc>
                  <a:txBody>
                    <a:bodyPr/>
                    <a:lstStyle/>
                    <a:p>
                      <a:pPr algn="ctr"/>
                      <a:r>
                        <a:rPr lang="en-US" sz="1100" dirty="0">
                          <a:latin typeface="Verdana" panose="020B0604030504040204" pitchFamily="34" charset="0"/>
                          <a:ea typeface="Verdana" panose="020B0604030504040204" pitchFamily="34" charset="0"/>
                        </a:rPr>
                        <a:t>SI No</a:t>
                      </a:r>
                    </a:p>
                  </a:txBody>
                  <a:tcPr anchor="ctr"/>
                </a:tc>
                <a:tc>
                  <a:txBody>
                    <a:bodyPr/>
                    <a:lstStyle/>
                    <a:p>
                      <a:pPr algn="ctr"/>
                      <a:r>
                        <a:rPr lang="en-US" sz="1100" dirty="0">
                          <a:latin typeface="Verdana" panose="020B0604030504040204" pitchFamily="34" charset="0"/>
                          <a:ea typeface="Verdana" panose="020B0604030504040204" pitchFamily="34" charset="0"/>
                        </a:rPr>
                        <a:t>Name of the Engagement</a:t>
                      </a:r>
                    </a:p>
                  </a:txBody>
                  <a:tcPr anchor="ctr"/>
                </a:tc>
                <a:tc>
                  <a:txBody>
                    <a:bodyPr/>
                    <a:lstStyle/>
                    <a:p>
                      <a:pPr algn="ctr"/>
                      <a:r>
                        <a:rPr lang="en-US" sz="1100" dirty="0">
                          <a:latin typeface="Verdana" panose="020B0604030504040204" pitchFamily="34" charset="0"/>
                          <a:ea typeface="Verdana" panose="020B0604030504040204" pitchFamily="34" charset="0"/>
                        </a:rPr>
                        <a:t>Client</a:t>
                      </a:r>
                    </a:p>
                  </a:txBody>
                  <a:tcPr anchor="ctr"/>
                </a:tc>
                <a:tc>
                  <a:txBody>
                    <a:bodyPr/>
                    <a:lstStyle/>
                    <a:p>
                      <a:pPr algn="ctr"/>
                      <a:r>
                        <a:rPr lang="en-US" sz="1100" dirty="0">
                          <a:latin typeface="Verdana" panose="020B0604030504040204" pitchFamily="34" charset="0"/>
                          <a:ea typeface="Verdana" panose="020B0604030504040204" pitchFamily="34" charset="0"/>
                        </a:rPr>
                        <a:t>Year</a:t>
                      </a:r>
                    </a:p>
                  </a:txBody>
                  <a:tcPr anchor="ctr"/>
                </a:tc>
                <a:extLst>
                  <a:ext uri="{0D108BD9-81ED-4DB2-BD59-A6C34878D82A}">
                    <a16:rowId xmlns:a16="http://schemas.microsoft.com/office/drawing/2014/main" val="3079222358"/>
                  </a:ext>
                </a:extLst>
              </a:tr>
              <a:tr h="1126342">
                <a:tc>
                  <a:txBody>
                    <a:bodyPr/>
                    <a:lstStyle/>
                    <a:p>
                      <a:r>
                        <a:rPr lang="en-US" sz="1100" dirty="0">
                          <a:latin typeface="Verdana" panose="020B0604030504040204" pitchFamily="34" charset="0"/>
                          <a:ea typeface="Verdana" panose="020B0604030504040204" pitchFamily="34" charset="0"/>
                        </a:rPr>
                        <a:t>1</a:t>
                      </a:r>
                    </a:p>
                  </a:txBody>
                  <a:tcPr/>
                </a:tc>
                <a:tc>
                  <a:txBody>
                    <a:bodyPr/>
                    <a:lstStyle/>
                    <a:p>
                      <a:r>
                        <a:rPr lang="en-IN" sz="1100" dirty="0">
                          <a:effectLst/>
                          <a:latin typeface="Verdana" panose="020B0604030504040204" pitchFamily="34" charset="0"/>
                          <a:ea typeface="Verdana" panose="020B0604030504040204" pitchFamily="34" charset="0"/>
                        </a:rPr>
                        <a:t>Engagement of Tariff consultant firm for preparation of Generation and Transmission Tariff and its True Up to be submitted before CERC and preparation of Distribution Tariff, ARR to be submitted before WBERC and JSERC and other Commercial related matters.</a:t>
                      </a:r>
                      <a:endParaRPr lang="en-US" sz="1100" dirty="0">
                        <a:latin typeface="Verdana" panose="020B0604030504040204" pitchFamily="34" charset="0"/>
                        <a:ea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rPr>
                        <a:t>DVC</a:t>
                      </a:r>
                    </a:p>
                  </a:txBody>
                  <a:tcPr/>
                </a:tc>
                <a:tc>
                  <a:txBody>
                    <a:bodyPr/>
                    <a:lstStyle/>
                    <a:p>
                      <a:r>
                        <a:rPr lang="en-US" sz="1100" dirty="0">
                          <a:latin typeface="Verdana" panose="020B0604030504040204" pitchFamily="34" charset="0"/>
                          <a:ea typeface="Verdana" panose="020B0604030504040204" pitchFamily="34" charset="0"/>
                        </a:rPr>
                        <a:t>2019-2021</a:t>
                      </a:r>
                    </a:p>
                  </a:txBody>
                  <a:tcPr/>
                </a:tc>
                <a:extLst>
                  <a:ext uri="{0D108BD9-81ED-4DB2-BD59-A6C34878D82A}">
                    <a16:rowId xmlns:a16="http://schemas.microsoft.com/office/drawing/2014/main" val="4207776433"/>
                  </a:ext>
                </a:extLst>
              </a:tr>
              <a:tr h="814121">
                <a:tc>
                  <a:txBody>
                    <a:bodyPr/>
                    <a:lstStyle/>
                    <a:p>
                      <a:r>
                        <a:rPr lang="en-US" sz="1100" dirty="0">
                          <a:latin typeface="Verdana" panose="020B0604030504040204" pitchFamily="34" charset="0"/>
                          <a:ea typeface="Verdana" panose="020B0604030504040204" pitchFamily="34" charset="0"/>
                        </a:rPr>
                        <a:t>2</a:t>
                      </a:r>
                    </a:p>
                  </a:txBody>
                  <a:tcPr/>
                </a:tc>
                <a:tc>
                  <a:txBody>
                    <a:bodyPr/>
                    <a:lstStyle/>
                    <a:p>
                      <a:pPr algn="just">
                        <a:lnSpc>
                          <a:spcPct val="107000"/>
                        </a:lnSpc>
                        <a:spcAft>
                          <a:spcPts val="800"/>
                        </a:spcAft>
                      </a:pPr>
                      <a:r>
                        <a:rPr lang="en-IN" sz="1100" dirty="0">
                          <a:effectLst/>
                          <a:latin typeface="Verdana" panose="020B0604030504040204" pitchFamily="34" charset="0"/>
                          <a:ea typeface="Verdana" panose="020B0604030504040204" pitchFamily="34" charset="0"/>
                        </a:rPr>
                        <a:t>Assistance to Forum of Regulators in dissemination of international experience on Aggregators / Qualified Coordinating agency and report on</a:t>
                      </a:r>
                      <a:r>
                        <a:rPr lang="en-US" sz="1100" dirty="0">
                          <a:effectLst/>
                          <a:latin typeface="Verdana" panose="020B0604030504040204" pitchFamily="34" charset="0"/>
                          <a:ea typeface="Verdana" panose="020B0604030504040204" pitchFamily="34" charset="0"/>
                        </a:rPr>
                        <a:t> </a:t>
                      </a:r>
                      <a:r>
                        <a:rPr lang="en-IN" sz="1100" dirty="0">
                          <a:effectLst/>
                          <a:latin typeface="Verdana" panose="020B0604030504040204" pitchFamily="34" charset="0"/>
                          <a:ea typeface="Verdana" panose="020B0604030504040204" pitchFamily="34" charset="0"/>
                        </a:rPr>
                        <a:t>Issues of QCA</a:t>
                      </a:r>
                    </a:p>
                  </a:txBody>
                  <a:tcPr/>
                </a:tc>
                <a:tc>
                  <a:txBody>
                    <a:bodyPr/>
                    <a:lstStyle/>
                    <a:p>
                      <a:r>
                        <a:rPr lang="en-US" sz="1100" dirty="0">
                          <a:latin typeface="Verdana" panose="020B0604030504040204" pitchFamily="34" charset="0"/>
                          <a:ea typeface="Verdana" panose="020B0604030504040204" pitchFamily="34" charset="0"/>
                        </a:rPr>
                        <a:t>FOR-USAID-CERC</a:t>
                      </a:r>
                    </a:p>
                  </a:txBody>
                  <a:tcPr/>
                </a:tc>
                <a:tc>
                  <a:txBody>
                    <a:bodyPr/>
                    <a:lstStyle/>
                    <a:p>
                      <a:r>
                        <a:rPr lang="en-US" sz="1100" dirty="0">
                          <a:latin typeface="Verdana" panose="020B0604030504040204" pitchFamily="34" charset="0"/>
                          <a:ea typeface="Verdana" panose="020B0604030504040204" pitchFamily="34" charset="0"/>
                        </a:rPr>
                        <a:t>2019-2020</a:t>
                      </a:r>
                    </a:p>
                  </a:txBody>
                  <a:tcPr/>
                </a:tc>
                <a:extLst>
                  <a:ext uri="{0D108BD9-81ED-4DB2-BD59-A6C34878D82A}">
                    <a16:rowId xmlns:a16="http://schemas.microsoft.com/office/drawing/2014/main" val="882408060"/>
                  </a:ext>
                </a:extLst>
              </a:tr>
              <a:tr h="610101">
                <a:tc>
                  <a:txBody>
                    <a:bodyPr/>
                    <a:lstStyle/>
                    <a:p>
                      <a:r>
                        <a:rPr lang="en-US" sz="1100" dirty="0">
                          <a:latin typeface="Verdana" panose="020B0604030504040204" pitchFamily="34" charset="0"/>
                          <a:ea typeface="Verdana" panose="020B0604030504040204" pitchFamily="34" charset="0"/>
                        </a:rPr>
                        <a:t>3</a:t>
                      </a:r>
                    </a:p>
                  </a:txBody>
                  <a:tcPr/>
                </a:tc>
                <a:tc>
                  <a:txBody>
                    <a:bodyPr/>
                    <a:lstStyle/>
                    <a:p>
                      <a:r>
                        <a:rPr lang="en-IN" sz="1100" dirty="0">
                          <a:effectLst/>
                          <a:latin typeface="Verdana" panose="020B0604030504040204" pitchFamily="34" charset="0"/>
                          <a:ea typeface="Verdana" panose="020B0604030504040204" pitchFamily="34" charset="0"/>
                        </a:rPr>
                        <a:t>Proposal for consultancy assignment for study of existing Regulated Electricity Pricing and the Way Forward</a:t>
                      </a:r>
                      <a:endParaRPr lang="en-US" sz="1100" dirty="0">
                        <a:latin typeface="Verdana" panose="020B0604030504040204" pitchFamily="34" charset="0"/>
                        <a:ea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rPr>
                        <a:t>NTPC</a:t>
                      </a:r>
                    </a:p>
                  </a:txBody>
                  <a:tcPr/>
                </a:tc>
                <a:tc>
                  <a:txBody>
                    <a:bodyPr/>
                    <a:lstStyle/>
                    <a:p>
                      <a:r>
                        <a:rPr lang="en-US" sz="1100" dirty="0">
                          <a:latin typeface="Verdana" panose="020B0604030504040204" pitchFamily="34" charset="0"/>
                          <a:ea typeface="Verdana" panose="020B0604030504040204" pitchFamily="34" charset="0"/>
                        </a:rPr>
                        <a:t>2023-24 (ongoing)</a:t>
                      </a:r>
                    </a:p>
                  </a:txBody>
                  <a:tcPr/>
                </a:tc>
                <a:extLst>
                  <a:ext uri="{0D108BD9-81ED-4DB2-BD59-A6C34878D82A}">
                    <a16:rowId xmlns:a16="http://schemas.microsoft.com/office/drawing/2014/main" val="3378849435"/>
                  </a:ext>
                </a:extLst>
              </a:tr>
              <a:tr h="610101">
                <a:tc>
                  <a:txBody>
                    <a:bodyPr/>
                    <a:lstStyle/>
                    <a:p>
                      <a:r>
                        <a:rPr lang="en-US" sz="1100" dirty="0">
                          <a:latin typeface="Verdana" panose="020B0604030504040204" pitchFamily="34" charset="0"/>
                          <a:ea typeface="Verdana" panose="020B0604030504040204" pitchFamily="34" charset="0"/>
                        </a:rPr>
                        <a:t>4</a:t>
                      </a:r>
                    </a:p>
                  </a:txBody>
                  <a:tcPr/>
                </a:tc>
                <a:tc>
                  <a:txBody>
                    <a:bodyPr/>
                    <a:lstStyle/>
                    <a:p>
                      <a:r>
                        <a:rPr lang="en-IN" sz="1100" dirty="0">
                          <a:effectLst/>
                          <a:latin typeface="Verdana" panose="020B0604030504040204" pitchFamily="34" charset="0"/>
                          <a:ea typeface="Verdana" panose="020B0604030504040204" pitchFamily="34" charset="0"/>
                        </a:rPr>
                        <a:t>Preparation of Paper on Open Access in India and retainership support related to Open Access</a:t>
                      </a:r>
                      <a:endParaRPr lang="en-US" sz="1100" dirty="0">
                        <a:latin typeface="Verdana" panose="020B0604030504040204" pitchFamily="34" charset="0"/>
                        <a:ea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rPr>
                        <a:t>IEX</a:t>
                      </a:r>
                    </a:p>
                  </a:txBody>
                  <a:tcPr/>
                </a:tc>
                <a:tc>
                  <a:txBody>
                    <a:bodyPr/>
                    <a:lstStyle/>
                    <a:p>
                      <a:r>
                        <a:rPr lang="en-US" sz="1100" dirty="0">
                          <a:latin typeface="Verdana" panose="020B0604030504040204" pitchFamily="34" charset="0"/>
                          <a:ea typeface="Verdana" panose="020B0604030504040204" pitchFamily="34" charset="0"/>
                        </a:rPr>
                        <a:t>2020-21</a:t>
                      </a:r>
                    </a:p>
                  </a:txBody>
                  <a:tcPr/>
                </a:tc>
                <a:extLst>
                  <a:ext uri="{0D108BD9-81ED-4DB2-BD59-A6C34878D82A}">
                    <a16:rowId xmlns:a16="http://schemas.microsoft.com/office/drawing/2014/main" val="4238457310"/>
                  </a:ext>
                </a:extLst>
              </a:tr>
              <a:tr h="954261">
                <a:tc>
                  <a:txBody>
                    <a:bodyPr/>
                    <a:lstStyle/>
                    <a:p>
                      <a:r>
                        <a:rPr lang="en-US" sz="1100" dirty="0">
                          <a:latin typeface="Verdana" panose="020B0604030504040204" pitchFamily="34" charset="0"/>
                          <a:ea typeface="Verdana" panose="020B0604030504040204" pitchFamily="34" charset="0"/>
                        </a:rPr>
                        <a:t>5</a:t>
                      </a:r>
                    </a:p>
                  </a:txBody>
                  <a:tcPr/>
                </a:tc>
                <a:tc>
                  <a:txBody>
                    <a:bodyPr/>
                    <a:lstStyle/>
                    <a:p>
                      <a:r>
                        <a:rPr lang="en-IN" sz="1100" dirty="0">
                          <a:effectLst/>
                          <a:latin typeface="Verdana" panose="020B0604030504040204" pitchFamily="34" charset="0"/>
                          <a:ea typeface="Verdana" panose="020B0604030504040204" pitchFamily="34" charset="0"/>
                        </a:rPr>
                        <a:t>Appointment of Consultant firm for Preparation and approval of Tariff Petitions for the existing and new elements owned by the PTCUL before the Hon’ble CERC for the Control Period FY 2019-2024</a:t>
                      </a:r>
                      <a:endParaRPr lang="en-US" sz="1100" dirty="0">
                        <a:latin typeface="Verdana" panose="020B0604030504040204" pitchFamily="34" charset="0"/>
                        <a:ea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rPr>
                        <a:t>PTPL</a:t>
                      </a:r>
                    </a:p>
                  </a:txBody>
                  <a:tcPr/>
                </a:tc>
                <a:tc>
                  <a:txBody>
                    <a:bodyPr/>
                    <a:lstStyle/>
                    <a:p>
                      <a:r>
                        <a:rPr lang="en-US" sz="1100" dirty="0">
                          <a:latin typeface="Verdana" panose="020B0604030504040204" pitchFamily="34" charset="0"/>
                          <a:ea typeface="Verdana" panose="020B0604030504040204" pitchFamily="34" charset="0"/>
                        </a:rPr>
                        <a:t>2023-24 (Ongoing)</a:t>
                      </a:r>
                    </a:p>
                  </a:txBody>
                  <a:tcPr/>
                </a:tc>
                <a:extLst>
                  <a:ext uri="{0D108BD9-81ED-4DB2-BD59-A6C34878D82A}">
                    <a16:rowId xmlns:a16="http://schemas.microsoft.com/office/drawing/2014/main" val="3530709357"/>
                  </a:ext>
                </a:extLst>
              </a:tr>
            </a:tbl>
          </a:graphicData>
        </a:graphic>
      </p:graphicFrame>
      <p:graphicFrame>
        <p:nvGraphicFramePr>
          <p:cNvPr id="14" name="Table 16">
            <a:extLst>
              <a:ext uri="{FF2B5EF4-FFF2-40B4-BE49-F238E27FC236}">
                <a16:creationId xmlns:a16="http://schemas.microsoft.com/office/drawing/2014/main" id="{42A23BF2-4FCF-A384-3F71-40D85174880B}"/>
              </a:ext>
            </a:extLst>
          </p:cNvPr>
          <p:cNvGraphicFramePr>
            <a:graphicFrameLocks noGrp="1"/>
          </p:cNvGraphicFramePr>
          <p:nvPr>
            <p:extLst>
              <p:ext uri="{D42A27DB-BD31-4B8C-83A1-F6EECF244321}">
                <p14:modId xmlns:p14="http://schemas.microsoft.com/office/powerpoint/2010/main" val="4235933650"/>
              </p:ext>
            </p:extLst>
          </p:nvPr>
        </p:nvGraphicFramePr>
        <p:xfrm>
          <a:off x="6370576" y="1706151"/>
          <a:ext cx="5448340" cy="4589872"/>
        </p:xfrm>
        <a:graphic>
          <a:graphicData uri="http://schemas.openxmlformats.org/drawingml/2006/table">
            <a:tbl>
              <a:tblPr firstRow="1" bandRow="1">
                <a:tableStyleId>{D27102A9-8310-4765-A935-A1911B00CA55}</a:tableStyleId>
              </a:tblPr>
              <a:tblGrid>
                <a:gridCol w="407964">
                  <a:extLst>
                    <a:ext uri="{9D8B030D-6E8A-4147-A177-3AD203B41FA5}">
                      <a16:colId xmlns:a16="http://schemas.microsoft.com/office/drawing/2014/main" val="2597700788"/>
                    </a:ext>
                  </a:extLst>
                </a:gridCol>
                <a:gridCol w="3375110">
                  <a:extLst>
                    <a:ext uri="{9D8B030D-6E8A-4147-A177-3AD203B41FA5}">
                      <a16:colId xmlns:a16="http://schemas.microsoft.com/office/drawing/2014/main" val="2446518390"/>
                    </a:ext>
                  </a:extLst>
                </a:gridCol>
                <a:gridCol w="888102">
                  <a:extLst>
                    <a:ext uri="{9D8B030D-6E8A-4147-A177-3AD203B41FA5}">
                      <a16:colId xmlns:a16="http://schemas.microsoft.com/office/drawing/2014/main" val="4142655954"/>
                    </a:ext>
                  </a:extLst>
                </a:gridCol>
                <a:gridCol w="777164">
                  <a:extLst>
                    <a:ext uri="{9D8B030D-6E8A-4147-A177-3AD203B41FA5}">
                      <a16:colId xmlns:a16="http://schemas.microsoft.com/office/drawing/2014/main" val="1787850561"/>
                    </a:ext>
                  </a:extLst>
                </a:gridCol>
              </a:tblGrid>
              <a:tr h="453132">
                <a:tc>
                  <a:txBody>
                    <a:bodyPr/>
                    <a:lstStyle/>
                    <a:p>
                      <a:pPr algn="ctr"/>
                      <a:r>
                        <a:rPr lang="en-US" sz="1100" dirty="0">
                          <a:latin typeface="Verdana" panose="020B0604030504040204" pitchFamily="34" charset="0"/>
                          <a:ea typeface="Verdana" panose="020B0604030504040204" pitchFamily="34" charset="0"/>
                        </a:rPr>
                        <a:t>SI No</a:t>
                      </a:r>
                    </a:p>
                  </a:txBody>
                  <a:tcPr anchor="ctr"/>
                </a:tc>
                <a:tc>
                  <a:txBody>
                    <a:bodyPr/>
                    <a:lstStyle/>
                    <a:p>
                      <a:pPr algn="ctr"/>
                      <a:r>
                        <a:rPr lang="en-US" sz="1100" dirty="0">
                          <a:latin typeface="Verdana" panose="020B0604030504040204" pitchFamily="34" charset="0"/>
                          <a:ea typeface="Verdana" panose="020B0604030504040204" pitchFamily="34" charset="0"/>
                        </a:rPr>
                        <a:t>Name of the Engagement</a:t>
                      </a:r>
                    </a:p>
                  </a:txBody>
                  <a:tcPr anchor="ctr"/>
                </a:tc>
                <a:tc>
                  <a:txBody>
                    <a:bodyPr/>
                    <a:lstStyle/>
                    <a:p>
                      <a:pPr algn="ctr"/>
                      <a:r>
                        <a:rPr lang="en-US" sz="1100" dirty="0">
                          <a:latin typeface="Verdana" panose="020B0604030504040204" pitchFamily="34" charset="0"/>
                          <a:ea typeface="Verdana" panose="020B0604030504040204" pitchFamily="34" charset="0"/>
                        </a:rPr>
                        <a:t>Client</a:t>
                      </a:r>
                    </a:p>
                  </a:txBody>
                  <a:tcPr anchor="ctr"/>
                </a:tc>
                <a:tc>
                  <a:txBody>
                    <a:bodyPr/>
                    <a:lstStyle/>
                    <a:p>
                      <a:pPr algn="ctr"/>
                      <a:r>
                        <a:rPr lang="en-US" sz="1100" dirty="0">
                          <a:latin typeface="Verdana" panose="020B0604030504040204" pitchFamily="34" charset="0"/>
                          <a:ea typeface="Verdana" panose="020B0604030504040204" pitchFamily="34" charset="0"/>
                        </a:rPr>
                        <a:t>Year</a:t>
                      </a:r>
                    </a:p>
                  </a:txBody>
                  <a:tcPr anchor="ctr"/>
                </a:tc>
                <a:extLst>
                  <a:ext uri="{0D108BD9-81ED-4DB2-BD59-A6C34878D82A}">
                    <a16:rowId xmlns:a16="http://schemas.microsoft.com/office/drawing/2014/main" val="3079222358"/>
                  </a:ext>
                </a:extLst>
              </a:tr>
              <a:tr h="1165197">
                <a:tc>
                  <a:txBody>
                    <a:bodyPr/>
                    <a:lstStyle/>
                    <a:p>
                      <a:r>
                        <a:rPr lang="en-US" sz="1100" dirty="0">
                          <a:latin typeface="Verdana" panose="020B0604030504040204" pitchFamily="34" charset="0"/>
                          <a:ea typeface="Verdana" panose="020B0604030504040204" pitchFamily="34" charset="0"/>
                        </a:rPr>
                        <a:t>6</a:t>
                      </a:r>
                    </a:p>
                    <a:p>
                      <a:endParaRPr lang="en-US" sz="1100" dirty="0">
                        <a:latin typeface="Verdana" panose="020B0604030504040204" pitchFamily="34" charset="0"/>
                        <a:ea typeface="Verdana" panose="020B0604030504040204" pitchFamily="34" charset="0"/>
                      </a:endParaRPr>
                    </a:p>
                    <a:p>
                      <a:endParaRPr lang="en-US" sz="1100" dirty="0">
                        <a:latin typeface="Verdana" panose="020B0604030504040204" pitchFamily="34" charset="0"/>
                        <a:ea typeface="Verdana" panose="020B0604030504040204" pitchFamily="34" charset="0"/>
                      </a:endParaRPr>
                    </a:p>
                    <a:p>
                      <a:endParaRPr lang="en-US" sz="1100" dirty="0">
                        <a:latin typeface="Verdana" panose="020B0604030504040204" pitchFamily="34" charset="0"/>
                        <a:ea typeface="Verdana" panose="020B0604030504040204" pitchFamily="34" charset="0"/>
                      </a:endParaRPr>
                    </a:p>
                    <a:p>
                      <a:endParaRPr lang="en-US" sz="1100" dirty="0">
                        <a:latin typeface="Verdana" panose="020B0604030504040204" pitchFamily="34" charset="0"/>
                        <a:ea typeface="Verdana" panose="020B0604030504040204" pitchFamily="34" charset="0"/>
                      </a:endParaRPr>
                    </a:p>
                  </a:txBody>
                  <a:tcPr/>
                </a:tc>
                <a:tc>
                  <a:txBody>
                    <a:bodyPr/>
                    <a:lstStyle/>
                    <a:p>
                      <a:r>
                        <a:rPr lang="en-IN" sz="1100" kern="1200" dirty="0">
                          <a:solidFill>
                            <a:schemeClr val="tx1"/>
                          </a:solidFill>
                          <a:effectLst/>
                          <a:latin typeface="Verdana" panose="020B0604030504040204" pitchFamily="34" charset="0"/>
                          <a:ea typeface="Verdana" panose="020B0604030504040204" pitchFamily="34" charset="0"/>
                          <a:cs typeface="+mn-cs"/>
                        </a:rPr>
                        <a:t>Engagement of Regulatory Affairs Consultant to prepare forms for filing petitions for POC transmission charges before CERC </a:t>
                      </a:r>
                      <a:r>
                        <a:rPr lang="en-IN" sz="1100" kern="1200" dirty="0" err="1">
                          <a:solidFill>
                            <a:schemeClr val="tx1"/>
                          </a:solidFill>
                          <a:effectLst/>
                          <a:latin typeface="Verdana" panose="020B0604030504040204" pitchFamily="34" charset="0"/>
                          <a:ea typeface="Verdana" panose="020B0604030504040204" pitchFamily="34" charset="0"/>
                          <a:cs typeface="+mn-cs"/>
                        </a:rPr>
                        <a:t>i.r.o</a:t>
                      </a:r>
                      <a:r>
                        <a:rPr lang="en-IN" sz="1100" kern="1200" dirty="0">
                          <a:solidFill>
                            <a:schemeClr val="tx1"/>
                          </a:solidFill>
                          <a:effectLst/>
                          <a:latin typeface="Verdana" panose="020B0604030504040204" pitchFamily="34" charset="0"/>
                          <a:ea typeface="Verdana" panose="020B0604030504040204" pitchFamily="34" charset="0"/>
                          <a:cs typeface="+mn-cs"/>
                        </a:rPr>
                        <a:t> two nos. ISTS lines.</a:t>
                      </a:r>
                      <a:endParaRPr lang="en-US" sz="1100" dirty="0">
                        <a:latin typeface="Verdana" panose="020B0604030504040204" pitchFamily="34" charset="0"/>
                        <a:ea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rPr>
                        <a:t>WBSETCL</a:t>
                      </a:r>
                    </a:p>
                  </a:txBody>
                  <a:tcPr/>
                </a:tc>
                <a:tc>
                  <a:txBody>
                    <a:bodyPr/>
                    <a:lstStyle/>
                    <a:p>
                      <a:r>
                        <a:rPr lang="en-US" sz="1100" dirty="0">
                          <a:latin typeface="Verdana" panose="020B0604030504040204" pitchFamily="34" charset="0"/>
                          <a:ea typeface="Verdana" panose="020B0604030504040204" pitchFamily="34" charset="0"/>
                        </a:rPr>
                        <a:t>2022-2023</a:t>
                      </a:r>
                    </a:p>
                  </a:txBody>
                  <a:tcPr/>
                </a:tc>
                <a:extLst>
                  <a:ext uri="{0D108BD9-81ED-4DB2-BD59-A6C34878D82A}">
                    <a16:rowId xmlns:a16="http://schemas.microsoft.com/office/drawing/2014/main" val="4207776433"/>
                  </a:ext>
                </a:extLst>
              </a:tr>
              <a:tr h="570912">
                <a:tc>
                  <a:txBody>
                    <a:bodyPr/>
                    <a:lstStyle/>
                    <a:p>
                      <a:r>
                        <a:rPr lang="en-US" sz="1100" dirty="0">
                          <a:latin typeface="Verdana" panose="020B0604030504040204" pitchFamily="34" charset="0"/>
                          <a:ea typeface="Verdana" panose="020B0604030504040204" pitchFamily="34" charset="0"/>
                        </a:rPr>
                        <a:t>7</a:t>
                      </a:r>
                    </a:p>
                  </a:txBody>
                  <a:tcPr/>
                </a:tc>
                <a:tc>
                  <a:txBody>
                    <a:bodyPr/>
                    <a:lstStyle/>
                    <a:p>
                      <a:pPr algn="just">
                        <a:lnSpc>
                          <a:spcPct val="107000"/>
                        </a:lnSpc>
                        <a:spcAft>
                          <a:spcPts val="800"/>
                        </a:spcAft>
                      </a:pPr>
                      <a:r>
                        <a:rPr lang="en-US" sz="1100" dirty="0">
                          <a:latin typeface="Verdana" panose="020B0604030504040204" pitchFamily="34" charset="0"/>
                          <a:ea typeface="Verdana" panose="020B0604030504040204" pitchFamily="34" charset="0"/>
                        </a:rPr>
                        <a:t>Study report on consumer Protection in Electricity sector in India.</a:t>
                      </a:r>
                    </a:p>
                  </a:txBody>
                  <a:tcPr/>
                </a:tc>
                <a:tc>
                  <a:txBody>
                    <a:bodyPr/>
                    <a:lstStyle/>
                    <a:p>
                      <a:r>
                        <a:rPr lang="en-US" sz="1100" dirty="0">
                          <a:latin typeface="Verdana" panose="020B0604030504040204" pitchFamily="34" charset="0"/>
                          <a:ea typeface="Verdana" panose="020B0604030504040204" pitchFamily="34" charset="0"/>
                        </a:rPr>
                        <a:t>FOR</a:t>
                      </a:r>
                    </a:p>
                  </a:txBody>
                  <a:tcPr/>
                </a:tc>
                <a:tc>
                  <a:txBody>
                    <a:bodyPr/>
                    <a:lstStyle/>
                    <a:p>
                      <a:r>
                        <a:rPr lang="en-US" sz="1100" dirty="0">
                          <a:latin typeface="Verdana" panose="020B0604030504040204" pitchFamily="34" charset="0"/>
                          <a:ea typeface="Verdana" panose="020B0604030504040204" pitchFamily="34" charset="0"/>
                        </a:rPr>
                        <a:t>2020</a:t>
                      </a:r>
                    </a:p>
                  </a:txBody>
                  <a:tcPr/>
                </a:tc>
                <a:extLst>
                  <a:ext uri="{0D108BD9-81ED-4DB2-BD59-A6C34878D82A}">
                    <a16:rowId xmlns:a16="http://schemas.microsoft.com/office/drawing/2014/main" val="882408060"/>
                  </a:ext>
                </a:extLst>
              </a:tr>
              <a:tr h="782303">
                <a:tc>
                  <a:txBody>
                    <a:bodyPr/>
                    <a:lstStyle/>
                    <a:p>
                      <a:r>
                        <a:rPr lang="en-US" sz="1100" dirty="0">
                          <a:latin typeface="Verdana" panose="020B0604030504040204" pitchFamily="34" charset="0"/>
                          <a:ea typeface="Verdana" panose="020B0604030504040204" pitchFamily="34" charset="0"/>
                        </a:rPr>
                        <a:t>8</a:t>
                      </a:r>
                    </a:p>
                  </a:txBody>
                  <a:tcPr/>
                </a:tc>
                <a:tc>
                  <a:txBody>
                    <a:bodyPr/>
                    <a:lstStyle/>
                    <a:p>
                      <a:r>
                        <a:rPr lang="en-US" sz="1100" dirty="0">
                          <a:latin typeface="Verdana" panose="020B0604030504040204" pitchFamily="34" charset="0"/>
                          <a:ea typeface="Verdana" panose="020B0604030504040204" pitchFamily="34" charset="0"/>
                        </a:rPr>
                        <a:t>Corporate consultant to undertake a</a:t>
                      </a:r>
                    </a:p>
                    <a:p>
                      <a:r>
                        <a:rPr lang="en-US" sz="1100" dirty="0">
                          <a:latin typeface="Verdana" panose="020B0604030504040204" pitchFamily="34" charset="0"/>
                          <a:ea typeface="Verdana" panose="020B0604030504040204" pitchFamily="34" charset="0"/>
                        </a:rPr>
                        <a:t>study on evolving principles of depreciation for distribution assets and Operating and financial norms for Distribution Sector</a:t>
                      </a:r>
                    </a:p>
                  </a:txBody>
                  <a:tcPr/>
                </a:tc>
                <a:tc>
                  <a:txBody>
                    <a:bodyPr/>
                    <a:lstStyle/>
                    <a:p>
                      <a:r>
                        <a:rPr lang="en-US" sz="1100" dirty="0">
                          <a:latin typeface="Verdana" panose="020B0604030504040204" pitchFamily="34" charset="0"/>
                          <a:ea typeface="Verdana" panose="020B0604030504040204" pitchFamily="34" charset="0"/>
                        </a:rPr>
                        <a:t>FOR</a:t>
                      </a:r>
                    </a:p>
                  </a:txBody>
                  <a:tcPr/>
                </a:tc>
                <a:tc>
                  <a:txBody>
                    <a:bodyPr/>
                    <a:lstStyle/>
                    <a:p>
                      <a:r>
                        <a:rPr lang="en-US" sz="1100" dirty="0">
                          <a:latin typeface="Verdana" panose="020B0604030504040204" pitchFamily="34" charset="0"/>
                          <a:ea typeface="Verdana" panose="020B0604030504040204" pitchFamily="34" charset="0"/>
                        </a:rPr>
                        <a:t>2020</a:t>
                      </a:r>
                    </a:p>
                  </a:txBody>
                  <a:tcPr/>
                </a:tc>
                <a:extLst>
                  <a:ext uri="{0D108BD9-81ED-4DB2-BD59-A6C34878D82A}">
                    <a16:rowId xmlns:a16="http://schemas.microsoft.com/office/drawing/2014/main" val="3378849435"/>
                  </a:ext>
                </a:extLst>
              </a:tr>
              <a:tr h="631148">
                <a:tc>
                  <a:txBody>
                    <a:bodyPr/>
                    <a:lstStyle/>
                    <a:p>
                      <a:r>
                        <a:rPr lang="en-US" sz="1100" dirty="0">
                          <a:latin typeface="Verdana" panose="020B0604030504040204" pitchFamily="34" charset="0"/>
                          <a:ea typeface="Verdana" panose="020B0604030504040204" pitchFamily="34" charset="0"/>
                        </a:rPr>
                        <a:t>9</a:t>
                      </a:r>
                    </a:p>
                  </a:txBody>
                  <a:tcPr/>
                </a:tc>
                <a:tc>
                  <a:txBody>
                    <a:bodyPr/>
                    <a:lstStyle/>
                    <a:p>
                      <a:r>
                        <a:rPr lang="en-US" sz="1100" dirty="0">
                          <a:latin typeface="Verdana" panose="020B0604030504040204" pitchFamily="34" charset="0"/>
                          <a:ea typeface="Verdana" panose="020B0604030504040204" pitchFamily="34" charset="0"/>
                        </a:rPr>
                        <a:t>Review of Status of Open Access in Distribution</a:t>
                      </a:r>
                    </a:p>
                  </a:txBody>
                  <a:tcPr/>
                </a:tc>
                <a:tc>
                  <a:txBody>
                    <a:bodyPr/>
                    <a:lstStyle/>
                    <a:p>
                      <a:r>
                        <a:rPr lang="en-US" sz="1100" dirty="0">
                          <a:latin typeface="Verdana" panose="020B0604030504040204" pitchFamily="34" charset="0"/>
                          <a:ea typeface="Verdana" panose="020B0604030504040204" pitchFamily="34" charset="0"/>
                        </a:rPr>
                        <a:t>FOR</a:t>
                      </a:r>
                    </a:p>
                  </a:txBody>
                  <a:tcPr/>
                </a:tc>
                <a:tc>
                  <a:txBody>
                    <a:bodyPr/>
                    <a:lstStyle/>
                    <a:p>
                      <a:r>
                        <a:rPr lang="en-US" sz="1100" dirty="0">
                          <a:latin typeface="Verdana" panose="020B0604030504040204" pitchFamily="34" charset="0"/>
                          <a:ea typeface="Verdana" panose="020B0604030504040204" pitchFamily="34" charset="0"/>
                        </a:rPr>
                        <a:t>2018-2019</a:t>
                      </a:r>
                    </a:p>
                  </a:txBody>
                  <a:tcPr/>
                </a:tc>
                <a:extLst>
                  <a:ext uri="{0D108BD9-81ED-4DB2-BD59-A6C34878D82A}">
                    <a16:rowId xmlns:a16="http://schemas.microsoft.com/office/drawing/2014/main" val="4238457310"/>
                  </a:ext>
                </a:extLst>
              </a:tr>
              <a:tr h="987180">
                <a:tc>
                  <a:txBody>
                    <a:bodyPr/>
                    <a:lstStyle/>
                    <a:p>
                      <a:r>
                        <a:rPr lang="en-US" sz="1100" dirty="0">
                          <a:latin typeface="Verdana" panose="020B0604030504040204" pitchFamily="34" charset="0"/>
                          <a:ea typeface="Verdana" panose="020B0604030504040204" pitchFamily="34" charset="0"/>
                        </a:rPr>
                        <a:t>10</a:t>
                      </a:r>
                    </a:p>
                  </a:txBody>
                  <a:tcPr/>
                </a:tc>
                <a:tc>
                  <a:txBody>
                    <a:bodyPr/>
                    <a:lstStyle/>
                    <a:p>
                      <a:r>
                        <a:rPr lang="en-US" sz="1100" dirty="0">
                          <a:latin typeface="Verdana" panose="020B0604030504040204" pitchFamily="34" charset="0"/>
                          <a:ea typeface="Verdana" panose="020B0604030504040204" pitchFamily="34" charset="0"/>
                        </a:rPr>
                        <a:t>Preparing comments on the Approach Paper and Draft CERC Tariff Regulations 2019-24</a:t>
                      </a:r>
                    </a:p>
                  </a:txBody>
                  <a:tcPr/>
                </a:tc>
                <a:tc>
                  <a:txBody>
                    <a:bodyPr/>
                    <a:lstStyle/>
                    <a:p>
                      <a:r>
                        <a:rPr lang="en-US" sz="1100" dirty="0" err="1">
                          <a:latin typeface="Verdana" panose="020B0604030504040204" pitchFamily="34" charset="0"/>
                          <a:ea typeface="Verdana" panose="020B0604030504040204" pitchFamily="34" charset="0"/>
                        </a:rPr>
                        <a:t>Lalipur</a:t>
                      </a:r>
                      <a:r>
                        <a:rPr lang="en-US" sz="1100" dirty="0">
                          <a:latin typeface="Verdana" panose="020B0604030504040204" pitchFamily="34" charset="0"/>
                          <a:ea typeface="Verdana" panose="020B0604030504040204" pitchFamily="34" charset="0"/>
                        </a:rPr>
                        <a:t> Power</a:t>
                      </a:r>
                    </a:p>
                    <a:p>
                      <a:r>
                        <a:rPr lang="en-US" sz="1100" dirty="0">
                          <a:latin typeface="Verdana" panose="020B0604030504040204" pitchFamily="34" charset="0"/>
                          <a:ea typeface="Verdana" panose="020B0604030504040204" pitchFamily="34" charset="0"/>
                        </a:rPr>
                        <a:t>Gen. Corp.</a:t>
                      </a:r>
                    </a:p>
                  </a:txBody>
                  <a:tcPr/>
                </a:tc>
                <a:tc>
                  <a:txBody>
                    <a:bodyPr/>
                    <a:lstStyle/>
                    <a:p>
                      <a:r>
                        <a:rPr lang="en-US" sz="1100" dirty="0">
                          <a:latin typeface="Verdana" panose="020B0604030504040204" pitchFamily="34" charset="0"/>
                          <a:ea typeface="Verdana" panose="020B0604030504040204" pitchFamily="34" charset="0"/>
                        </a:rPr>
                        <a:t>2019-2020</a:t>
                      </a:r>
                    </a:p>
                  </a:txBody>
                  <a:tcPr/>
                </a:tc>
                <a:extLst>
                  <a:ext uri="{0D108BD9-81ED-4DB2-BD59-A6C34878D82A}">
                    <a16:rowId xmlns:a16="http://schemas.microsoft.com/office/drawing/2014/main" val="3530709357"/>
                  </a:ext>
                </a:extLst>
              </a:tr>
            </a:tbl>
          </a:graphicData>
        </a:graphic>
      </p:graphicFrame>
    </p:spTree>
    <p:extLst>
      <p:ext uri="{BB962C8B-B14F-4D97-AF65-F5344CB8AC3E}">
        <p14:creationId xmlns:p14="http://schemas.microsoft.com/office/powerpoint/2010/main" val="603987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1C3CF6-DACE-3BC9-B6E2-4A901262320A}"/>
              </a:ext>
            </a:extLst>
          </p:cNvPr>
          <p:cNvPicPr>
            <a:picLocks noChangeAspect="1"/>
          </p:cNvPicPr>
          <p:nvPr/>
        </p:nvPicPr>
        <p:blipFill rotWithShape="1">
          <a:blip r:embed="rId2">
            <a:grayscl/>
            <a:alphaModFix amt="87000"/>
            <a:extLst>
              <a:ext uri="{BEBA8EAE-BF5A-486C-A8C5-ECC9F3942E4B}">
                <a14:imgProps xmlns:a14="http://schemas.microsoft.com/office/drawing/2010/main">
                  <a14:imgLayer r:embed="rId3">
                    <a14:imgEffect>
                      <a14:colorTemperature colorTemp="4700"/>
                    </a14:imgEffect>
                    <a14:imgEffect>
                      <a14:saturation sat="61000"/>
                    </a14:imgEffect>
                  </a14:imgLayer>
                </a14:imgProps>
              </a:ext>
            </a:extLst>
          </a:blip>
          <a:srcRect t="12821" b="13919"/>
          <a:stretch/>
        </p:blipFill>
        <p:spPr>
          <a:xfrm>
            <a:off x="1860656" y="1513372"/>
            <a:ext cx="8851606" cy="4950276"/>
          </a:xfrm>
          <a:prstGeom prst="rect">
            <a:avLst/>
          </a:prstGeom>
        </p:spPr>
      </p:pic>
      <p:sp>
        <p:nvSpPr>
          <p:cNvPr id="6" name="Title 1">
            <a:extLst>
              <a:ext uri="{FF2B5EF4-FFF2-40B4-BE49-F238E27FC236}">
                <a16:creationId xmlns:a16="http://schemas.microsoft.com/office/drawing/2014/main" id="{C8C32E11-ECB2-4668-921A-9D9CDB203D92}"/>
              </a:ext>
            </a:extLst>
          </p:cNvPr>
          <p:cNvSpPr txBox="1">
            <a:spLocks/>
          </p:cNvSpPr>
          <p:nvPr/>
        </p:nvSpPr>
        <p:spPr>
          <a:xfrm>
            <a:off x="456426" y="248366"/>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Our experience in </a:t>
            </a:r>
            <a:r>
              <a:rPr lang="en-US" sz="2400" dirty="0">
                <a:solidFill>
                  <a:prstClr val="black"/>
                </a:solidFill>
                <a:latin typeface="Verdana" panose="020B0604030504040204" pitchFamily="34" charset="0"/>
                <a:ea typeface="Verdana" panose="020B0604030504040204" pitchFamily="34" charset="0"/>
              </a:rPr>
              <a:t>Regulatory Assistance for Utilities</a:t>
            </a:r>
            <a:endParaRPr kumimoji="0" lang="en-US"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3" name="Rectangle 2">
            <a:extLst>
              <a:ext uri="{FF2B5EF4-FFF2-40B4-BE49-F238E27FC236}">
                <a16:creationId xmlns:a16="http://schemas.microsoft.com/office/drawing/2014/main" id="{D7487E6E-61BD-5253-25CD-97B2F801E262}"/>
              </a:ext>
            </a:extLst>
          </p:cNvPr>
          <p:cNvSpPr/>
          <p:nvPr/>
        </p:nvSpPr>
        <p:spPr bwMode="gray">
          <a:xfrm>
            <a:off x="479425"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4" name="Rectangle 3">
            <a:extLst>
              <a:ext uri="{FF2B5EF4-FFF2-40B4-BE49-F238E27FC236}">
                <a16:creationId xmlns:a16="http://schemas.microsoft.com/office/drawing/2014/main" id="{F4ED89F9-DB2F-A83F-8966-DF9059C60745}"/>
              </a:ext>
            </a:extLst>
          </p:cNvPr>
          <p:cNvSpPr/>
          <p:nvPr/>
        </p:nvSpPr>
        <p:spPr bwMode="gray">
          <a:xfrm>
            <a:off x="479425" y="1172324"/>
            <a:ext cx="11423609"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lang="en-IN" sz="1200">
                <a:solidFill>
                  <a:schemeClr val="bg1"/>
                </a:solidFill>
                <a:effectLst/>
                <a:latin typeface="Verdana" panose="020B0604030504040204" pitchFamily="34" charset="0"/>
                <a:ea typeface="Verdana" panose="020B0604030504040204" pitchFamily="34" charset="0"/>
                <a:cs typeface="Vrinda" panose="020B0502040204020203" pitchFamily="34" charset="0"/>
              </a:rPr>
              <a:t>Consultancy work orders (ongoing or completed) in Tariff/Regulatory affairs completed within the jurisdiction of any SERC on behalf of any State / Private Distribution /Transmission /Generation entity in past 5 years (i.e., FY 2018-19 - FY 2022-23)</a:t>
            </a:r>
            <a:endParaRPr kumimoji="0" lang="en-US" sz="9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11" name="Rectangle 10">
            <a:extLst>
              <a:ext uri="{FF2B5EF4-FFF2-40B4-BE49-F238E27FC236}">
                <a16:creationId xmlns:a16="http://schemas.microsoft.com/office/drawing/2014/main" id="{A99A3A7E-C418-DC91-F931-21826C60A135}"/>
              </a:ext>
            </a:extLst>
          </p:cNvPr>
          <p:cNvSpPr/>
          <p:nvPr/>
        </p:nvSpPr>
        <p:spPr bwMode="gray">
          <a:xfrm>
            <a:off x="6286459"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endParaRPr lang="en-US" sz="1200" dirty="0">
              <a:solidFill>
                <a:srgbClr val="000000"/>
              </a:solidFill>
              <a:latin typeface="Verdana" panose="020B0604030504040204" pitchFamily="34" charset="0"/>
              <a:ea typeface="Verdana" panose="020B0604030504040204" pitchFamily="34" charset="0"/>
              <a:cs typeface="Arial" charset="0"/>
            </a:endParaRPr>
          </a:p>
        </p:txBody>
      </p:sp>
      <p:sp>
        <p:nvSpPr>
          <p:cNvPr id="8" name="Title 1">
            <a:extLst>
              <a:ext uri="{FF2B5EF4-FFF2-40B4-BE49-F238E27FC236}">
                <a16:creationId xmlns:a16="http://schemas.microsoft.com/office/drawing/2014/main" id="{69D8DA83-FEC9-B47B-76D9-6D8CC4AF35C5}"/>
              </a:ext>
            </a:extLst>
          </p:cNvPr>
          <p:cNvSpPr txBox="1">
            <a:spLocks/>
          </p:cNvSpPr>
          <p:nvPr/>
        </p:nvSpPr>
        <p:spPr>
          <a:xfrm>
            <a:off x="478709" y="646298"/>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800" dirty="0">
                <a:solidFill>
                  <a:srgbClr val="575757"/>
                </a:solidFill>
                <a:latin typeface="Verdana" panose="020B0604030504040204" pitchFamily="34" charset="0"/>
                <a:ea typeface="Verdana" panose="020B0604030504040204" pitchFamily="34" charset="0"/>
                <a:cs typeface="+mn-cs"/>
              </a:rPr>
              <a:t>We have extensive experience in Regulatory affairs for Indian &amp; Global Utility Clients</a:t>
            </a:r>
          </a:p>
        </p:txBody>
      </p:sp>
      <p:graphicFrame>
        <p:nvGraphicFramePr>
          <p:cNvPr id="2" name="Table 16">
            <a:extLst>
              <a:ext uri="{FF2B5EF4-FFF2-40B4-BE49-F238E27FC236}">
                <a16:creationId xmlns:a16="http://schemas.microsoft.com/office/drawing/2014/main" id="{75A81805-C86D-EEB8-A258-7B8FD3A76D71}"/>
              </a:ext>
            </a:extLst>
          </p:cNvPr>
          <p:cNvGraphicFramePr>
            <a:graphicFrameLocks noGrp="1"/>
          </p:cNvGraphicFramePr>
          <p:nvPr>
            <p:extLst>
              <p:ext uri="{D42A27DB-BD31-4B8C-83A1-F6EECF244321}">
                <p14:modId xmlns:p14="http://schemas.microsoft.com/office/powerpoint/2010/main" val="3935895765"/>
              </p:ext>
            </p:extLst>
          </p:nvPr>
        </p:nvGraphicFramePr>
        <p:xfrm>
          <a:off x="478710" y="1743076"/>
          <a:ext cx="5531565" cy="4644710"/>
        </p:xfrm>
        <a:graphic>
          <a:graphicData uri="http://schemas.openxmlformats.org/drawingml/2006/table">
            <a:tbl>
              <a:tblPr firstRow="1" bandRow="1">
                <a:tableStyleId>{D27102A9-8310-4765-A935-A1911B00CA55}</a:tableStyleId>
              </a:tblPr>
              <a:tblGrid>
                <a:gridCol w="401789">
                  <a:extLst>
                    <a:ext uri="{9D8B030D-6E8A-4147-A177-3AD203B41FA5}">
                      <a16:colId xmlns:a16="http://schemas.microsoft.com/office/drawing/2014/main" val="2597700788"/>
                    </a:ext>
                  </a:extLst>
                </a:gridCol>
                <a:gridCol w="3291451">
                  <a:extLst>
                    <a:ext uri="{9D8B030D-6E8A-4147-A177-3AD203B41FA5}">
                      <a16:colId xmlns:a16="http://schemas.microsoft.com/office/drawing/2014/main" val="2446518390"/>
                    </a:ext>
                  </a:extLst>
                </a:gridCol>
                <a:gridCol w="952500">
                  <a:extLst>
                    <a:ext uri="{9D8B030D-6E8A-4147-A177-3AD203B41FA5}">
                      <a16:colId xmlns:a16="http://schemas.microsoft.com/office/drawing/2014/main" val="4142655954"/>
                    </a:ext>
                  </a:extLst>
                </a:gridCol>
                <a:gridCol w="885825">
                  <a:extLst>
                    <a:ext uri="{9D8B030D-6E8A-4147-A177-3AD203B41FA5}">
                      <a16:colId xmlns:a16="http://schemas.microsoft.com/office/drawing/2014/main" val="1787850561"/>
                    </a:ext>
                  </a:extLst>
                </a:gridCol>
              </a:tblGrid>
              <a:tr h="434186">
                <a:tc>
                  <a:txBody>
                    <a:bodyPr/>
                    <a:lstStyle/>
                    <a:p>
                      <a:pPr algn="ctr"/>
                      <a:r>
                        <a:rPr lang="en-US" sz="1100" dirty="0">
                          <a:latin typeface="Verdana" panose="020B0604030504040204" pitchFamily="34" charset="0"/>
                          <a:ea typeface="Verdana" panose="020B0604030504040204" pitchFamily="34" charset="0"/>
                        </a:rPr>
                        <a:t>SI No</a:t>
                      </a:r>
                    </a:p>
                  </a:txBody>
                  <a:tcPr anchor="ctr"/>
                </a:tc>
                <a:tc>
                  <a:txBody>
                    <a:bodyPr/>
                    <a:lstStyle/>
                    <a:p>
                      <a:pPr algn="ctr"/>
                      <a:r>
                        <a:rPr lang="en-US" sz="1100" dirty="0">
                          <a:latin typeface="Verdana" panose="020B0604030504040204" pitchFamily="34" charset="0"/>
                          <a:ea typeface="Verdana" panose="020B0604030504040204" pitchFamily="34" charset="0"/>
                        </a:rPr>
                        <a:t>Name of the Engagement</a:t>
                      </a:r>
                    </a:p>
                  </a:txBody>
                  <a:tcPr anchor="ctr"/>
                </a:tc>
                <a:tc>
                  <a:txBody>
                    <a:bodyPr/>
                    <a:lstStyle/>
                    <a:p>
                      <a:pPr algn="ctr"/>
                      <a:r>
                        <a:rPr lang="en-US" sz="1100" dirty="0">
                          <a:latin typeface="Verdana" panose="020B0604030504040204" pitchFamily="34" charset="0"/>
                          <a:ea typeface="Verdana" panose="020B0604030504040204" pitchFamily="34" charset="0"/>
                        </a:rPr>
                        <a:t>Client</a:t>
                      </a:r>
                    </a:p>
                  </a:txBody>
                  <a:tcPr anchor="ctr"/>
                </a:tc>
                <a:tc>
                  <a:txBody>
                    <a:bodyPr/>
                    <a:lstStyle/>
                    <a:p>
                      <a:pPr algn="ctr"/>
                      <a:r>
                        <a:rPr lang="en-US" sz="1100" dirty="0">
                          <a:latin typeface="Verdana" panose="020B0604030504040204" pitchFamily="34" charset="0"/>
                          <a:ea typeface="Verdana" panose="020B0604030504040204" pitchFamily="34" charset="0"/>
                        </a:rPr>
                        <a:t>Year</a:t>
                      </a:r>
                    </a:p>
                  </a:txBody>
                  <a:tcPr anchor="ctr"/>
                </a:tc>
                <a:extLst>
                  <a:ext uri="{0D108BD9-81ED-4DB2-BD59-A6C34878D82A}">
                    <a16:rowId xmlns:a16="http://schemas.microsoft.com/office/drawing/2014/main" val="3079222358"/>
                  </a:ext>
                </a:extLst>
              </a:tr>
              <a:tr h="331776">
                <a:tc>
                  <a:txBody>
                    <a:bodyPr/>
                    <a:lstStyle/>
                    <a:p>
                      <a:r>
                        <a:rPr lang="en-US" sz="1100" dirty="0">
                          <a:latin typeface="Verdana" panose="020B0604030504040204" pitchFamily="34" charset="0"/>
                          <a:ea typeface="Verdana" panose="020B0604030504040204" pitchFamily="34" charset="0"/>
                        </a:rPr>
                        <a:t>1</a:t>
                      </a:r>
                    </a:p>
                  </a:txBody>
                  <a:tcPr/>
                </a:tc>
                <a:tc>
                  <a:txBody>
                    <a:bodyPr/>
                    <a:lstStyle/>
                    <a:p>
                      <a:r>
                        <a:rPr lang="en-US" sz="1100" dirty="0">
                          <a:latin typeface="Verdana" panose="020B0604030504040204" pitchFamily="34" charset="0"/>
                          <a:ea typeface="Verdana" panose="020B0604030504040204" pitchFamily="34" charset="0"/>
                        </a:rPr>
                        <a:t>Engagement of Tariff consultant firm for preparation of Distribution Tariff, ARR to be submitted before WBERC and JSERC.</a:t>
                      </a:r>
                    </a:p>
                  </a:txBody>
                  <a:tcPr/>
                </a:tc>
                <a:tc>
                  <a:txBody>
                    <a:bodyPr/>
                    <a:lstStyle/>
                    <a:p>
                      <a:r>
                        <a:rPr lang="en-US" sz="1100" dirty="0">
                          <a:latin typeface="Verdana" panose="020B0604030504040204" pitchFamily="34" charset="0"/>
                          <a:ea typeface="Verdana" panose="020B0604030504040204" pitchFamily="34" charset="0"/>
                        </a:rPr>
                        <a:t>DVC</a:t>
                      </a:r>
                    </a:p>
                  </a:txBody>
                  <a:tcPr/>
                </a:tc>
                <a:tc>
                  <a:txBody>
                    <a:bodyPr/>
                    <a:lstStyle/>
                    <a:p>
                      <a:r>
                        <a:rPr lang="en-US" sz="1100" dirty="0">
                          <a:latin typeface="Verdana" panose="020B0604030504040204" pitchFamily="34" charset="0"/>
                          <a:ea typeface="Verdana" panose="020B0604030504040204" pitchFamily="34" charset="0"/>
                        </a:rPr>
                        <a:t>2019-2022</a:t>
                      </a:r>
                    </a:p>
                  </a:txBody>
                  <a:tcPr/>
                </a:tc>
                <a:extLst>
                  <a:ext uri="{0D108BD9-81ED-4DB2-BD59-A6C34878D82A}">
                    <a16:rowId xmlns:a16="http://schemas.microsoft.com/office/drawing/2014/main" val="4207776433"/>
                  </a:ext>
                </a:extLst>
              </a:tr>
              <a:tr h="624466">
                <a:tc>
                  <a:txBody>
                    <a:bodyPr/>
                    <a:lstStyle/>
                    <a:p>
                      <a:r>
                        <a:rPr lang="en-US" sz="1100" dirty="0">
                          <a:latin typeface="Verdana" panose="020B0604030504040204" pitchFamily="34" charset="0"/>
                          <a:ea typeface="Verdana" panose="020B0604030504040204" pitchFamily="34" charset="0"/>
                        </a:rPr>
                        <a:t>2</a:t>
                      </a:r>
                    </a:p>
                  </a:txBody>
                  <a:tcPr/>
                </a:tc>
                <a:tc>
                  <a:txBody>
                    <a:bodyPr/>
                    <a:lstStyle/>
                    <a:p>
                      <a:pPr algn="just">
                        <a:lnSpc>
                          <a:spcPct val="107000"/>
                        </a:lnSpc>
                        <a:spcAft>
                          <a:spcPts val="800"/>
                        </a:spcAft>
                      </a:pPr>
                      <a:r>
                        <a:rPr lang="en-US" sz="1100" dirty="0">
                          <a:latin typeface="Verdana" panose="020B0604030504040204" pitchFamily="34" charset="0"/>
                          <a:ea typeface="Verdana" panose="020B0604030504040204" pitchFamily="34" charset="0"/>
                        </a:rPr>
                        <a:t>Consultancy Services for providing assistance to WBSEDCL in all regulatory areas on Retainership basis</a:t>
                      </a:r>
                    </a:p>
                  </a:txBody>
                  <a:tcPr/>
                </a:tc>
                <a:tc>
                  <a:txBody>
                    <a:bodyPr/>
                    <a:lstStyle/>
                    <a:p>
                      <a:r>
                        <a:rPr lang="en-US" sz="1100" dirty="0">
                          <a:latin typeface="Verdana" panose="020B0604030504040204" pitchFamily="34" charset="0"/>
                          <a:ea typeface="Verdana" panose="020B0604030504040204" pitchFamily="34" charset="0"/>
                        </a:rPr>
                        <a:t>WBSEDL</a:t>
                      </a:r>
                    </a:p>
                  </a:txBody>
                  <a:tcPr/>
                </a:tc>
                <a:tc>
                  <a:txBody>
                    <a:bodyPr/>
                    <a:lstStyle/>
                    <a:p>
                      <a:r>
                        <a:rPr lang="en-US" sz="1100" dirty="0">
                          <a:latin typeface="Verdana" panose="020B0604030504040204" pitchFamily="34" charset="0"/>
                          <a:ea typeface="Verdana" panose="020B0604030504040204" pitchFamily="34" charset="0"/>
                        </a:rPr>
                        <a:t>Oct 2015-Oct 2019</a:t>
                      </a:r>
                    </a:p>
                  </a:txBody>
                  <a:tcPr/>
                </a:tc>
                <a:extLst>
                  <a:ext uri="{0D108BD9-81ED-4DB2-BD59-A6C34878D82A}">
                    <a16:rowId xmlns:a16="http://schemas.microsoft.com/office/drawing/2014/main" val="882408060"/>
                  </a:ext>
                </a:extLst>
              </a:tr>
              <a:tr h="775332">
                <a:tc>
                  <a:txBody>
                    <a:bodyPr/>
                    <a:lstStyle/>
                    <a:p>
                      <a:r>
                        <a:rPr lang="en-US" sz="1100" dirty="0">
                          <a:latin typeface="Verdana" panose="020B0604030504040204" pitchFamily="34" charset="0"/>
                          <a:ea typeface="Verdana" panose="020B0604030504040204" pitchFamily="34" charset="0"/>
                        </a:rPr>
                        <a:t>3</a:t>
                      </a:r>
                    </a:p>
                  </a:txBody>
                  <a:tcPr/>
                </a:tc>
                <a:tc>
                  <a:txBody>
                    <a:bodyPr/>
                    <a:lstStyle/>
                    <a:p>
                      <a:r>
                        <a:rPr lang="en-US" sz="1100" dirty="0">
                          <a:latin typeface="Verdana" panose="020B0604030504040204" pitchFamily="34" charset="0"/>
                          <a:ea typeface="Verdana" panose="020B0604030504040204" pitchFamily="34" charset="0"/>
                        </a:rPr>
                        <a:t>Regulatory support, Diagnostic analysis of revenue cycle, monitoring of MBC of HT consumers and </a:t>
                      </a:r>
                      <a:r>
                        <a:rPr lang="en-US" sz="1100" dirty="0" err="1">
                          <a:latin typeface="Verdana" panose="020B0604030504040204" pitchFamily="34" charset="0"/>
                          <a:ea typeface="Verdana" panose="020B0604030504040204" pitchFamily="34" charset="0"/>
                        </a:rPr>
                        <a:t>Urja</a:t>
                      </a:r>
                      <a:r>
                        <a:rPr lang="en-US" sz="1100" dirty="0">
                          <a:latin typeface="Verdana" panose="020B0604030504040204" pitchFamily="34" charset="0"/>
                          <a:ea typeface="Verdana" panose="020B0604030504040204" pitchFamily="34" charset="0"/>
                        </a:rPr>
                        <a:t> Mitra Program of Jharkhand Bijli </a:t>
                      </a:r>
                      <a:r>
                        <a:rPr lang="en-US" sz="1100" dirty="0" err="1">
                          <a:latin typeface="Verdana" panose="020B0604030504040204" pitchFamily="34" charset="0"/>
                          <a:ea typeface="Verdana" panose="020B0604030504040204" pitchFamily="34" charset="0"/>
                        </a:rPr>
                        <a:t>Vitran</a:t>
                      </a:r>
                      <a:r>
                        <a:rPr lang="en-US" sz="1100" dirty="0">
                          <a:latin typeface="Verdana" panose="020B0604030504040204" pitchFamily="34" charset="0"/>
                          <a:ea typeface="Verdana" panose="020B0604030504040204" pitchFamily="34" charset="0"/>
                        </a:rPr>
                        <a:t> Nigam Limited (JBVNL)</a:t>
                      </a:r>
                    </a:p>
                  </a:txBody>
                  <a:tcPr/>
                </a:tc>
                <a:tc>
                  <a:txBody>
                    <a:bodyPr/>
                    <a:lstStyle/>
                    <a:p>
                      <a:r>
                        <a:rPr lang="en-US" sz="1100" dirty="0">
                          <a:latin typeface="Verdana" panose="020B0604030504040204" pitchFamily="34" charset="0"/>
                          <a:ea typeface="Verdana" panose="020B0604030504040204" pitchFamily="34" charset="0"/>
                        </a:rPr>
                        <a:t>JBVNL</a:t>
                      </a:r>
                    </a:p>
                  </a:txBody>
                  <a:tcPr/>
                </a:tc>
                <a:tc>
                  <a:txBody>
                    <a:bodyPr/>
                    <a:lstStyle/>
                    <a:p>
                      <a:r>
                        <a:rPr lang="en-US" sz="1100" dirty="0">
                          <a:latin typeface="Verdana" panose="020B0604030504040204" pitchFamily="34" charset="0"/>
                          <a:ea typeface="Verdana" panose="020B0604030504040204" pitchFamily="34" charset="0"/>
                        </a:rPr>
                        <a:t>2018-2021</a:t>
                      </a:r>
                    </a:p>
                  </a:txBody>
                  <a:tcPr/>
                </a:tc>
                <a:extLst>
                  <a:ext uri="{0D108BD9-81ED-4DB2-BD59-A6C34878D82A}">
                    <a16:rowId xmlns:a16="http://schemas.microsoft.com/office/drawing/2014/main" val="3378849435"/>
                  </a:ext>
                </a:extLst>
              </a:tr>
              <a:tr h="604759">
                <a:tc>
                  <a:txBody>
                    <a:bodyPr/>
                    <a:lstStyle/>
                    <a:p>
                      <a:r>
                        <a:rPr lang="en-US" sz="1100" dirty="0">
                          <a:latin typeface="Verdana" panose="020B0604030504040204" pitchFamily="34" charset="0"/>
                          <a:ea typeface="Verdana" panose="020B0604030504040204" pitchFamily="34" charset="0"/>
                        </a:rPr>
                        <a:t>4</a:t>
                      </a:r>
                    </a:p>
                  </a:txBody>
                  <a:tcPr/>
                </a:tc>
                <a:tc>
                  <a:txBody>
                    <a:bodyPr/>
                    <a:lstStyle/>
                    <a:p>
                      <a:r>
                        <a:rPr lang="en-US" sz="1100" dirty="0">
                          <a:latin typeface="Verdana" panose="020B0604030504040204" pitchFamily="34" charset="0"/>
                          <a:ea typeface="Verdana" panose="020B0604030504040204" pitchFamily="34" charset="0"/>
                        </a:rPr>
                        <a:t>Preparation of Business Plan Petition and Multi-Year Tariff Petition for UPCL for the Control Period FY 2019-20 to FY 2021-22</a:t>
                      </a:r>
                    </a:p>
                  </a:txBody>
                  <a:tcPr/>
                </a:tc>
                <a:tc>
                  <a:txBody>
                    <a:bodyPr/>
                    <a:lstStyle/>
                    <a:p>
                      <a:r>
                        <a:rPr lang="en-US" sz="1100" dirty="0">
                          <a:latin typeface="Verdana" panose="020B0604030504040204" pitchFamily="34" charset="0"/>
                          <a:ea typeface="Verdana" panose="020B0604030504040204" pitchFamily="34" charset="0"/>
                        </a:rPr>
                        <a:t>UPCL</a:t>
                      </a:r>
                    </a:p>
                  </a:txBody>
                  <a:tcPr/>
                </a:tc>
                <a:tc>
                  <a:txBody>
                    <a:bodyPr/>
                    <a:lstStyle/>
                    <a:p>
                      <a:r>
                        <a:rPr lang="en-US" sz="1100" dirty="0">
                          <a:latin typeface="Verdana" panose="020B0604030504040204" pitchFamily="34" charset="0"/>
                          <a:ea typeface="Verdana" panose="020B0604030504040204" pitchFamily="34" charset="0"/>
                        </a:rPr>
                        <a:t>2018-2019</a:t>
                      </a:r>
                    </a:p>
                  </a:txBody>
                  <a:tcPr/>
                </a:tc>
                <a:extLst>
                  <a:ext uri="{0D108BD9-81ED-4DB2-BD59-A6C34878D82A}">
                    <a16:rowId xmlns:a16="http://schemas.microsoft.com/office/drawing/2014/main" val="4238457310"/>
                  </a:ext>
                </a:extLst>
              </a:tr>
              <a:tr h="1457299">
                <a:tc>
                  <a:txBody>
                    <a:bodyPr/>
                    <a:lstStyle/>
                    <a:p>
                      <a:r>
                        <a:rPr lang="en-US" sz="1100" dirty="0">
                          <a:latin typeface="Verdana" panose="020B0604030504040204" pitchFamily="34" charset="0"/>
                          <a:ea typeface="Verdana" panose="020B0604030504040204" pitchFamily="34" charset="0"/>
                        </a:rPr>
                        <a:t>5</a:t>
                      </a:r>
                    </a:p>
                  </a:txBody>
                  <a:tcPr/>
                </a:tc>
                <a:tc>
                  <a:txBody>
                    <a:bodyPr/>
                    <a:lstStyle/>
                    <a:p>
                      <a:r>
                        <a:rPr lang="en-US" sz="1100" dirty="0">
                          <a:latin typeface="Verdana" panose="020B0604030504040204" pitchFamily="34" charset="0"/>
                          <a:ea typeface="Verdana" panose="020B0604030504040204" pitchFamily="34" charset="0"/>
                        </a:rPr>
                        <a:t>Supporting JUUNL for Filing Petitions for True-up from FY 2016-17 to FY 2020-21 &amp; Business Plan and MYT, ARR for Control Period (FY 2021-22 to FY 2025-26) and subsequent Annual Petitions for True Up from FY 2021-22 to FY 2023-24 with Jharkhand State Electricity Regulatory Commission</a:t>
                      </a:r>
                    </a:p>
                  </a:txBody>
                  <a:tcPr/>
                </a:tc>
                <a:tc>
                  <a:txBody>
                    <a:bodyPr/>
                    <a:lstStyle/>
                    <a:p>
                      <a:r>
                        <a:rPr lang="en-US" sz="1100" dirty="0">
                          <a:latin typeface="Verdana" panose="020B0604030504040204" pitchFamily="34" charset="0"/>
                          <a:ea typeface="Verdana" panose="020B0604030504040204" pitchFamily="34" charset="0"/>
                        </a:rPr>
                        <a:t>JUUNL</a:t>
                      </a:r>
                    </a:p>
                  </a:txBody>
                  <a:tcPr/>
                </a:tc>
                <a:tc>
                  <a:txBody>
                    <a:bodyPr/>
                    <a:lstStyle/>
                    <a:p>
                      <a:r>
                        <a:rPr lang="en-US" sz="1100" dirty="0">
                          <a:latin typeface="Verdana" panose="020B0604030504040204" pitchFamily="34" charset="0"/>
                          <a:ea typeface="Verdana" panose="020B0604030504040204" pitchFamily="34" charset="0"/>
                        </a:rPr>
                        <a:t>2023-Ongoing</a:t>
                      </a:r>
                    </a:p>
                  </a:txBody>
                  <a:tcPr/>
                </a:tc>
                <a:extLst>
                  <a:ext uri="{0D108BD9-81ED-4DB2-BD59-A6C34878D82A}">
                    <a16:rowId xmlns:a16="http://schemas.microsoft.com/office/drawing/2014/main" val="3530709357"/>
                  </a:ext>
                </a:extLst>
              </a:tr>
            </a:tbl>
          </a:graphicData>
        </a:graphic>
      </p:graphicFrame>
      <p:graphicFrame>
        <p:nvGraphicFramePr>
          <p:cNvPr id="14" name="Table 16">
            <a:extLst>
              <a:ext uri="{FF2B5EF4-FFF2-40B4-BE49-F238E27FC236}">
                <a16:creationId xmlns:a16="http://schemas.microsoft.com/office/drawing/2014/main" id="{42A23BF2-4FCF-A384-3F71-40D85174880B}"/>
              </a:ext>
            </a:extLst>
          </p:cNvPr>
          <p:cNvGraphicFramePr>
            <a:graphicFrameLocks noGrp="1"/>
          </p:cNvGraphicFramePr>
          <p:nvPr>
            <p:extLst>
              <p:ext uri="{D42A27DB-BD31-4B8C-83A1-F6EECF244321}">
                <p14:modId xmlns:p14="http://schemas.microsoft.com/office/powerpoint/2010/main" val="1698803420"/>
              </p:ext>
            </p:extLst>
          </p:nvPr>
        </p:nvGraphicFramePr>
        <p:xfrm>
          <a:off x="6286459" y="1679325"/>
          <a:ext cx="5616575" cy="4735121"/>
        </p:xfrm>
        <a:graphic>
          <a:graphicData uri="http://schemas.openxmlformats.org/drawingml/2006/table">
            <a:tbl>
              <a:tblPr firstRow="1" bandRow="1">
                <a:tableStyleId>{D27102A9-8310-4765-A935-A1911B00CA55}</a:tableStyleId>
              </a:tblPr>
              <a:tblGrid>
                <a:gridCol w="420562">
                  <a:extLst>
                    <a:ext uri="{9D8B030D-6E8A-4147-A177-3AD203B41FA5}">
                      <a16:colId xmlns:a16="http://schemas.microsoft.com/office/drawing/2014/main" val="2597700788"/>
                    </a:ext>
                  </a:extLst>
                </a:gridCol>
                <a:gridCol w="3498965">
                  <a:extLst>
                    <a:ext uri="{9D8B030D-6E8A-4147-A177-3AD203B41FA5}">
                      <a16:colId xmlns:a16="http://schemas.microsoft.com/office/drawing/2014/main" val="2446518390"/>
                    </a:ext>
                  </a:extLst>
                </a:gridCol>
                <a:gridCol w="895886">
                  <a:extLst>
                    <a:ext uri="{9D8B030D-6E8A-4147-A177-3AD203B41FA5}">
                      <a16:colId xmlns:a16="http://schemas.microsoft.com/office/drawing/2014/main" val="4142655954"/>
                    </a:ext>
                  </a:extLst>
                </a:gridCol>
                <a:gridCol w="801162">
                  <a:extLst>
                    <a:ext uri="{9D8B030D-6E8A-4147-A177-3AD203B41FA5}">
                      <a16:colId xmlns:a16="http://schemas.microsoft.com/office/drawing/2014/main" val="1787850561"/>
                    </a:ext>
                  </a:extLst>
                </a:gridCol>
              </a:tblGrid>
              <a:tr h="433745">
                <a:tc>
                  <a:txBody>
                    <a:bodyPr/>
                    <a:lstStyle/>
                    <a:p>
                      <a:pPr algn="ctr"/>
                      <a:r>
                        <a:rPr lang="en-US" sz="1100" dirty="0"/>
                        <a:t>SI No</a:t>
                      </a:r>
                    </a:p>
                  </a:txBody>
                  <a:tcPr anchor="ctr"/>
                </a:tc>
                <a:tc>
                  <a:txBody>
                    <a:bodyPr/>
                    <a:lstStyle/>
                    <a:p>
                      <a:pPr algn="ctr"/>
                      <a:r>
                        <a:rPr lang="en-US" sz="1100" dirty="0">
                          <a:latin typeface="Verdana" panose="020B0604030504040204" pitchFamily="34" charset="0"/>
                          <a:ea typeface="Verdana" panose="020B0604030504040204" pitchFamily="34" charset="0"/>
                        </a:rPr>
                        <a:t>Name of the Engagement</a:t>
                      </a:r>
                    </a:p>
                  </a:txBody>
                  <a:tcPr anchor="ctr"/>
                </a:tc>
                <a:tc>
                  <a:txBody>
                    <a:bodyPr/>
                    <a:lstStyle/>
                    <a:p>
                      <a:pPr algn="ctr"/>
                      <a:r>
                        <a:rPr lang="en-US" sz="1100" dirty="0">
                          <a:latin typeface="Verdana" panose="020B0604030504040204" pitchFamily="34" charset="0"/>
                          <a:ea typeface="Verdana" panose="020B0604030504040204" pitchFamily="34" charset="0"/>
                        </a:rPr>
                        <a:t>Client</a:t>
                      </a:r>
                    </a:p>
                  </a:txBody>
                  <a:tcPr anchor="ctr"/>
                </a:tc>
                <a:tc>
                  <a:txBody>
                    <a:bodyPr/>
                    <a:lstStyle/>
                    <a:p>
                      <a:pPr algn="ctr"/>
                      <a:r>
                        <a:rPr lang="en-US" sz="1100" dirty="0">
                          <a:latin typeface="Verdana" panose="020B0604030504040204" pitchFamily="34" charset="0"/>
                          <a:ea typeface="Verdana" panose="020B0604030504040204" pitchFamily="34" charset="0"/>
                        </a:rPr>
                        <a:t>Year</a:t>
                      </a:r>
                    </a:p>
                  </a:txBody>
                  <a:tcPr anchor="ctr"/>
                </a:tc>
                <a:extLst>
                  <a:ext uri="{0D108BD9-81ED-4DB2-BD59-A6C34878D82A}">
                    <a16:rowId xmlns:a16="http://schemas.microsoft.com/office/drawing/2014/main" val="3079222358"/>
                  </a:ext>
                </a:extLst>
              </a:tr>
              <a:tr h="433745">
                <a:tc>
                  <a:txBody>
                    <a:bodyPr/>
                    <a:lstStyle/>
                    <a:p>
                      <a:r>
                        <a:rPr lang="en-US" sz="1100" dirty="0"/>
                        <a:t>6</a:t>
                      </a:r>
                    </a:p>
                    <a:p>
                      <a:endParaRPr lang="en-US" sz="1100" dirty="0"/>
                    </a:p>
                  </a:txBody>
                  <a:tcPr/>
                </a:tc>
                <a:tc>
                  <a:txBody>
                    <a:bodyPr/>
                    <a:lstStyle/>
                    <a:p>
                      <a:r>
                        <a:rPr lang="en-US" sz="1100" dirty="0">
                          <a:latin typeface="Verdana" panose="020B0604030504040204" pitchFamily="34" charset="0"/>
                          <a:ea typeface="Verdana" panose="020B0604030504040204" pitchFamily="34" charset="0"/>
                        </a:rPr>
                        <a:t>Engagement of Regulatory Affairs Consultant- WBSETCL</a:t>
                      </a:r>
                    </a:p>
                  </a:txBody>
                  <a:tcPr/>
                </a:tc>
                <a:tc>
                  <a:txBody>
                    <a:bodyPr/>
                    <a:lstStyle/>
                    <a:p>
                      <a:r>
                        <a:rPr lang="en-US" sz="1100" dirty="0">
                          <a:latin typeface="Verdana" panose="020B0604030504040204" pitchFamily="34" charset="0"/>
                          <a:ea typeface="Verdana" panose="020B0604030504040204" pitchFamily="34" charset="0"/>
                        </a:rPr>
                        <a:t>WBSETCL</a:t>
                      </a:r>
                    </a:p>
                  </a:txBody>
                  <a:tcPr/>
                </a:tc>
                <a:tc>
                  <a:txBody>
                    <a:bodyPr/>
                    <a:lstStyle/>
                    <a:p>
                      <a:r>
                        <a:rPr lang="en-US" sz="1100" dirty="0">
                          <a:latin typeface="Verdana" panose="020B0604030504040204" pitchFamily="34" charset="0"/>
                          <a:ea typeface="Verdana" panose="020B0604030504040204" pitchFamily="34" charset="0"/>
                        </a:rPr>
                        <a:t>2020-2023</a:t>
                      </a:r>
                    </a:p>
                  </a:txBody>
                  <a:tcPr/>
                </a:tc>
                <a:extLst>
                  <a:ext uri="{0D108BD9-81ED-4DB2-BD59-A6C34878D82A}">
                    <a16:rowId xmlns:a16="http://schemas.microsoft.com/office/drawing/2014/main" val="4207776433"/>
                  </a:ext>
                </a:extLst>
              </a:tr>
              <a:tr h="806173">
                <a:tc>
                  <a:txBody>
                    <a:bodyPr/>
                    <a:lstStyle/>
                    <a:p>
                      <a:r>
                        <a:rPr lang="en-US" sz="1100" dirty="0"/>
                        <a:t>7</a:t>
                      </a:r>
                    </a:p>
                  </a:txBody>
                  <a:tcPr/>
                </a:tc>
                <a:tc>
                  <a:txBody>
                    <a:bodyPr/>
                    <a:lstStyle/>
                    <a:p>
                      <a:pPr algn="just">
                        <a:lnSpc>
                          <a:spcPct val="107000"/>
                        </a:lnSpc>
                        <a:spcAft>
                          <a:spcPts val="800"/>
                        </a:spcAft>
                      </a:pPr>
                      <a:r>
                        <a:rPr lang="en-US" sz="1100" dirty="0">
                          <a:latin typeface="Verdana" panose="020B0604030504040204" pitchFamily="34" charset="0"/>
                          <a:ea typeface="Verdana" panose="020B0604030504040204" pitchFamily="34" charset="0"/>
                        </a:rPr>
                        <a:t>Regulatory assistance in preparation of Business Plan and Multi Year Tariff Petition of </a:t>
                      </a:r>
                      <a:r>
                        <a:rPr lang="en-US" sz="1100" dirty="0" err="1">
                          <a:latin typeface="Verdana" panose="020B0604030504040204" pitchFamily="34" charset="0"/>
                          <a:ea typeface="Verdana" panose="020B0604030504040204" pitchFamily="34" charset="0"/>
                        </a:rPr>
                        <a:t>Tenughat</a:t>
                      </a:r>
                      <a:r>
                        <a:rPr lang="en-US" sz="1100" dirty="0">
                          <a:latin typeface="Verdana" panose="020B0604030504040204" pitchFamily="34" charset="0"/>
                          <a:ea typeface="Verdana" panose="020B0604030504040204" pitchFamily="34" charset="0"/>
                        </a:rPr>
                        <a:t> Vidyut Nigam Ltd (TVNL) for the Control Period FY 2021-22 to FY 2025-26</a:t>
                      </a:r>
                    </a:p>
                  </a:txBody>
                  <a:tcPr/>
                </a:tc>
                <a:tc>
                  <a:txBody>
                    <a:bodyPr/>
                    <a:lstStyle/>
                    <a:p>
                      <a:r>
                        <a:rPr lang="en-US" sz="1100" dirty="0">
                          <a:latin typeface="Verdana" panose="020B0604030504040204" pitchFamily="34" charset="0"/>
                          <a:ea typeface="Verdana" panose="020B0604030504040204" pitchFamily="34" charset="0"/>
                        </a:rPr>
                        <a:t>TVNL</a:t>
                      </a:r>
                    </a:p>
                  </a:txBody>
                  <a:tcPr/>
                </a:tc>
                <a:tc>
                  <a:txBody>
                    <a:bodyPr/>
                    <a:lstStyle/>
                    <a:p>
                      <a:r>
                        <a:rPr lang="en-US" sz="1100" dirty="0">
                          <a:latin typeface="Verdana" panose="020B0604030504040204" pitchFamily="34" charset="0"/>
                          <a:ea typeface="Verdana" panose="020B0604030504040204" pitchFamily="34" charset="0"/>
                        </a:rPr>
                        <a:t>2021-2023</a:t>
                      </a:r>
                    </a:p>
                  </a:txBody>
                  <a:tcPr/>
                </a:tc>
                <a:extLst>
                  <a:ext uri="{0D108BD9-81ED-4DB2-BD59-A6C34878D82A}">
                    <a16:rowId xmlns:a16="http://schemas.microsoft.com/office/drawing/2014/main" val="882408060"/>
                  </a:ext>
                </a:extLst>
              </a:tr>
              <a:tr h="433745">
                <a:tc>
                  <a:txBody>
                    <a:bodyPr/>
                    <a:lstStyle/>
                    <a:p>
                      <a:r>
                        <a:rPr lang="en-US" sz="1100" dirty="0"/>
                        <a:t>8</a:t>
                      </a:r>
                    </a:p>
                  </a:txBody>
                  <a:tcPr/>
                </a:tc>
                <a:tc>
                  <a:txBody>
                    <a:bodyPr/>
                    <a:lstStyle/>
                    <a:p>
                      <a:r>
                        <a:rPr lang="en-US" sz="1100" dirty="0">
                          <a:latin typeface="Verdana" panose="020B0604030504040204" pitchFamily="34" charset="0"/>
                          <a:ea typeface="Verdana" panose="020B0604030504040204" pitchFamily="34" charset="0"/>
                        </a:rPr>
                        <a:t>Regulatory assistance to TVNL in True-Up of FY 13 to FY 16</a:t>
                      </a:r>
                    </a:p>
                  </a:txBody>
                  <a:tcPr/>
                </a:tc>
                <a:tc>
                  <a:txBody>
                    <a:bodyPr/>
                    <a:lstStyle/>
                    <a:p>
                      <a:r>
                        <a:rPr lang="en-US" sz="1100" dirty="0">
                          <a:latin typeface="Verdana" panose="020B0604030504040204" pitchFamily="34" charset="0"/>
                          <a:ea typeface="Verdana" panose="020B0604030504040204" pitchFamily="34" charset="0"/>
                        </a:rPr>
                        <a:t>TVNL</a:t>
                      </a:r>
                    </a:p>
                  </a:txBody>
                  <a:tcPr/>
                </a:tc>
                <a:tc>
                  <a:txBody>
                    <a:bodyPr/>
                    <a:lstStyle/>
                    <a:p>
                      <a:r>
                        <a:rPr lang="en-US" sz="1100" dirty="0">
                          <a:latin typeface="Verdana" panose="020B0604030504040204" pitchFamily="34" charset="0"/>
                          <a:ea typeface="Verdana" panose="020B0604030504040204" pitchFamily="34" charset="0"/>
                        </a:rPr>
                        <a:t>2022-2023</a:t>
                      </a:r>
                    </a:p>
                  </a:txBody>
                  <a:tcPr/>
                </a:tc>
                <a:extLst>
                  <a:ext uri="{0D108BD9-81ED-4DB2-BD59-A6C34878D82A}">
                    <a16:rowId xmlns:a16="http://schemas.microsoft.com/office/drawing/2014/main" val="3378849435"/>
                  </a:ext>
                </a:extLst>
              </a:tr>
              <a:tr h="604145">
                <a:tc>
                  <a:txBody>
                    <a:bodyPr/>
                    <a:lstStyle/>
                    <a:p>
                      <a:r>
                        <a:rPr lang="en-US" sz="1100" dirty="0"/>
                        <a:t>9</a:t>
                      </a:r>
                    </a:p>
                  </a:txBody>
                  <a:tcPr/>
                </a:tc>
                <a:tc>
                  <a:txBody>
                    <a:bodyPr/>
                    <a:lstStyle/>
                    <a:p>
                      <a:r>
                        <a:rPr lang="en-US" sz="1100" dirty="0">
                          <a:latin typeface="Verdana" panose="020B0604030504040204" pitchFamily="34" charset="0"/>
                          <a:ea typeface="Verdana" panose="020B0604030504040204" pitchFamily="34" charset="0"/>
                        </a:rPr>
                        <a:t>Capital Investment Plan and ARR for Control period FY2019-22 and Tariff Petitions for the FYs 2019-20, 2020-21 and 2021-22</a:t>
                      </a:r>
                    </a:p>
                  </a:txBody>
                  <a:tcPr/>
                </a:tc>
                <a:tc>
                  <a:txBody>
                    <a:bodyPr/>
                    <a:lstStyle/>
                    <a:p>
                      <a:r>
                        <a:rPr lang="en-US" sz="1100" dirty="0">
                          <a:latin typeface="Verdana" panose="020B0604030504040204" pitchFamily="34" charset="0"/>
                          <a:ea typeface="Verdana" panose="020B0604030504040204" pitchFamily="34" charset="0"/>
                        </a:rPr>
                        <a:t>APGCL</a:t>
                      </a:r>
                    </a:p>
                  </a:txBody>
                  <a:tcPr/>
                </a:tc>
                <a:tc>
                  <a:txBody>
                    <a:bodyPr/>
                    <a:lstStyle/>
                    <a:p>
                      <a:r>
                        <a:rPr lang="en-US" sz="1100" dirty="0">
                          <a:latin typeface="Verdana" panose="020B0604030504040204" pitchFamily="34" charset="0"/>
                          <a:ea typeface="Verdana" panose="020B0604030504040204" pitchFamily="34" charset="0"/>
                        </a:rPr>
                        <a:t>2019-2023</a:t>
                      </a:r>
                    </a:p>
                  </a:txBody>
                  <a:tcPr/>
                </a:tc>
                <a:extLst>
                  <a:ext uri="{0D108BD9-81ED-4DB2-BD59-A6C34878D82A}">
                    <a16:rowId xmlns:a16="http://schemas.microsoft.com/office/drawing/2014/main" val="4238457310"/>
                  </a:ext>
                </a:extLst>
              </a:tr>
              <a:tr h="604145">
                <a:tc>
                  <a:txBody>
                    <a:bodyPr/>
                    <a:lstStyle/>
                    <a:p>
                      <a:r>
                        <a:rPr lang="en-US" sz="1100" dirty="0"/>
                        <a:t>10</a:t>
                      </a:r>
                    </a:p>
                  </a:txBody>
                  <a:tcPr/>
                </a:tc>
                <a:tc>
                  <a:txBody>
                    <a:bodyPr/>
                    <a:lstStyle/>
                    <a:p>
                      <a:r>
                        <a:rPr lang="en-US" sz="1100" dirty="0">
                          <a:latin typeface="Verdana" panose="020B0604030504040204" pitchFamily="34" charset="0"/>
                          <a:ea typeface="Verdana" panose="020B0604030504040204" pitchFamily="34" charset="0"/>
                        </a:rPr>
                        <a:t>Preparation of petition for Coal Mining Input Price Determination for </a:t>
                      </a:r>
                      <a:r>
                        <a:rPr lang="en-US" sz="1100" dirty="0" err="1">
                          <a:latin typeface="Verdana" panose="020B0604030504040204" pitchFamily="34" charset="0"/>
                          <a:ea typeface="Verdana" panose="020B0604030504040204" pitchFamily="34" charset="0"/>
                        </a:rPr>
                        <a:t>Pachwara</a:t>
                      </a:r>
                      <a:r>
                        <a:rPr lang="en-US" sz="1100" dirty="0">
                          <a:latin typeface="Verdana" panose="020B0604030504040204" pitchFamily="34" charset="0"/>
                          <a:ea typeface="Verdana" panose="020B0604030504040204" pitchFamily="34" charset="0"/>
                        </a:rPr>
                        <a:t> North Coal mine of WBPDCL</a:t>
                      </a:r>
                    </a:p>
                  </a:txBody>
                  <a:tcPr/>
                </a:tc>
                <a:tc>
                  <a:txBody>
                    <a:bodyPr/>
                    <a:lstStyle/>
                    <a:p>
                      <a:r>
                        <a:rPr lang="en-US" sz="1100" dirty="0">
                          <a:latin typeface="Verdana" panose="020B0604030504040204" pitchFamily="34" charset="0"/>
                          <a:ea typeface="Verdana" panose="020B0604030504040204" pitchFamily="34" charset="0"/>
                        </a:rPr>
                        <a:t>WBPDCL</a:t>
                      </a:r>
                    </a:p>
                  </a:txBody>
                  <a:tcPr/>
                </a:tc>
                <a:tc>
                  <a:txBody>
                    <a:bodyPr/>
                    <a:lstStyle/>
                    <a:p>
                      <a:r>
                        <a:rPr lang="en-US" sz="1100" dirty="0">
                          <a:latin typeface="Verdana" panose="020B0604030504040204" pitchFamily="34" charset="0"/>
                          <a:ea typeface="Verdana" panose="020B0604030504040204" pitchFamily="34" charset="0"/>
                        </a:rPr>
                        <a:t>2022-2024</a:t>
                      </a:r>
                    </a:p>
                  </a:txBody>
                  <a:tcPr/>
                </a:tc>
                <a:extLst>
                  <a:ext uri="{0D108BD9-81ED-4DB2-BD59-A6C34878D82A}">
                    <a16:rowId xmlns:a16="http://schemas.microsoft.com/office/drawing/2014/main" val="3530709357"/>
                  </a:ext>
                </a:extLst>
              </a:tr>
              <a:tr h="604145">
                <a:tc>
                  <a:txBody>
                    <a:bodyPr/>
                    <a:lstStyle/>
                    <a:p>
                      <a:r>
                        <a:rPr lang="en-US" sz="1100" dirty="0"/>
                        <a:t>11</a:t>
                      </a:r>
                    </a:p>
                  </a:txBody>
                  <a:tcPr/>
                </a:tc>
                <a:tc>
                  <a:txBody>
                    <a:bodyPr/>
                    <a:lstStyle/>
                    <a:p>
                      <a:r>
                        <a:rPr lang="en-US" sz="1100" dirty="0">
                          <a:latin typeface="Verdana" panose="020B0604030504040204" pitchFamily="34" charset="0"/>
                          <a:ea typeface="Verdana" panose="020B0604030504040204" pitchFamily="34" charset="0"/>
                        </a:rPr>
                        <a:t>Preparation of petition for Coal Mining Input Price Determination for </a:t>
                      </a:r>
                      <a:r>
                        <a:rPr lang="en-US" sz="1100" dirty="0" err="1">
                          <a:latin typeface="Verdana" panose="020B0604030504040204" pitchFamily="34" charset="0"/>
                          <a:ea typeface="Verdana" panose="020B0604030504040204" pitchFamily="34" charset="0"/>
                        </a:rPr>
                        <a:t>Gangaramchak</a:t>
                      </a:r>
                      <a:r>
                        <a:rPr lang="en-US" sz="1100" dirty="0">
                          <a:latin typeface="Verdana" panose="020B0604030504040204" pitchFamily="34" charset="0"/>
                          <a:ea typeface="Verdana" panose="020B0604030504040204" pitchFamily="34" charset="0"/>
                        </a:rPr>
                        <a:t> &amp; </a:t>
                      </a:r>
                      <a:r>
                        <a:rPr lang="en-US" sz="1100" dirty="0" err="1">
                          <a:latin typeface="Verdana" panose="020B0604030504040204" pitchFamily="34" charset="0"/>
                          <a:ea typeface="Verdana" panose="020B0604030504040204" pitchFamily="34" charset="0"/>
                        </a:rPr>
                        <a:t>Gangaramchak</a:t>
                      </a:r>
                      <a:r>
                        <a:rPr lang="en-US" sz="1100" dirty="0">
                          <a:latin typeface="Verdana" panose="020B0604030504040204" pitchFamily="34" charset="0"/>
                          <a:ea typeface="Verdana" panose="020B0604030504040204" pitchFamily="34" charset="0"/>
                        </a:rPr>
                        <a:t> </a:t>
                      </a:r>
                      <a:r>
                        <a:rPr lang="en-US" sz="1100" dirty="0" err="1">
                          <a:latin typeface="Verdana" panose="020B0604030504040204" pitchFamily="34" charset="0"/>
                          <a:ea typeface="Verdana" panose="020B0604030504040204" pitchFamily="34" charset="0"/>
                        </a:rPr>
                        <a:t>Badulia</a:t>
                      </a:r>
                      <a:r>
                        <a:rPr lang="en-US" sz="1100" dirty="0">
                          <a:latin typeface="Verdana" panose="020B0604030504040204" pitchFamily="34" charset="0"/>
                          <a:ea typeface="Verdana" panose="020B0604030504040204" pitchFamily="34" charset="0"/>
                        </a:rPr>
                        <a:t> coal mine</a:t>
                      </a:r>
                    </a:p>
                  </a:txBody>
                  <a:tcPr/>
                </a:tc>
                <a:tc>
                  <a:txBody>
                    <a:bodyPr/>
                    <a:lstStyle/>
                    <a:p>
                      <a:r>
                        <a:rPr lang="en-US" sz="1100" dirty="0">
                          <a:latin typeface="Verdana" panose="020B0604030504040204" pitchFamily="34" charset="0"/>
                          <a:ea typeface="Verdana" panose="020B0604030504040204" pitchFamily="34" charset="0"/>
                        </a:rPr>
                        <a:t>WBPDCL</a:t>
                      </a:r>
                    </a:p>
                  </a:txBody>
                  <a:tcPr/>
                </a:tc>
                <a:tc>
                  <a:txBody>
                    <a:bodyPr/>
                    <a:lstStyle/>
                    <a:p>
                      <a:r>
                        <a:rPr lang="en-US" sz="1100" dirty="0">
                          <a:latin typeface="Verdana" panose="020B0604030504040204" pitchFamily="34" charset="0"/>
                          <a:ea typeface="Verdana" panose="020B0604030504040204" pitchFamily="34" charset="0"/>
                        </a:rPr>
                        <a:t>2023-2024</a:t>
                      </a:r>
                    </a:p>
                  </a:txBody>
                  <a:tcPr/>
                </a:tc>
                <a:extLst>
                  <a:ext uri="{0D108BD9-81ED-4DB2-BD59-A6C34878D82A}">
                    <a16:rowId xmlns:a16="http://schemas.microsoft.com/office/drawing/2014/main" val="1835301022"/>
                  </a:ext>
                </a:extLst>
              </a:tr>
              <a:tr h="815278">
                <a:tc>
                  <a:txBody>
                    <a:bodyPr/>
                    <a:lstStyle/>
                    <a:p>
                      <a:r>
                        <a:rPr lang="en-US" sz="1100" dirty="0"/>
                        <a:t>12</a:t>
                      </a:r>
                    </a:p>
                  </a:txBody>
                  <a:tcPr/>
                </a:tc>
                <a:tc>
                  <a:txBody>
                    <a:bodyPr/>
                    <a:lstStyle/>
                    <a:p>
                      <a:r>
                        <a:rPr lang="en-US" sz="1100" dirty="0">
                          <a:latin typeface="Verdana" panose="020B0604030504040204" pitchFamily="34" charset="0"/>
                          <a:ea typeface="Verdana" panose="020B0604030504040204" pitchFamily="34" charset="0"/>
                        </a:rPr>
                        <a:t>Consultancy Support and preparation of Business Plan for NESCO, WESCO &amp; SOUTHCO utilities for the 4th control period from FY 2019-20 to FY 20</a:t>
                      </a:r>
                    </a:p>
                  </a:txBody>
                  <a:tcPr/>
                </a:tc>
                <a:tc>
                  <a:txBody>
                    <a:bodyPr/>
                    <a:lstStyle/>
                    <a:p>
                      <a:r>
                        <a:rPr lang="en-US" sz="1100" dirty="0">
                          <a:latin typeface="Verdana" panose="020B0604030504040204" pitchFamily="34" charset="0"/>
                          <a:ea typeface="Verdana" panose="020B0604030504040204" pitchFamily="34" charset="0"/>
                        </a:rPr>
                        <a:t>GRIDCO Odisha</a:t>
                      </a:r>
                    </a:p>
                  </a:txBody>
                  <a:tcPr/>
                </a:tc>
                <a:tc>
                  <a:txBody>
                    <a:bodyPr/>
                    <a:lstStyle/>
                    <a:p>
                      <a:r>
                        <a:rPr lang="en-US" sz="1100" dirty="0">
                          <a:latin typeface="Verdana" panose="020B0604030504040204" pitchFamily="34" charset="0"/>
                          <a:ea typeface="Verdana" panose="020B0604030504040204" pitchFamily="34" charset="0"/>
                        </a:rPr>
                        <a:t>2019-2021</a:t>
                      </a:r>
                    </a:p>
                  </a:txBody>
                  <a:tcPr/>
                </a:tc>
                <a:extLst>
                  <a:ext uri="{0D108BD9-81ED-4DB2-BD59-A6C34878D82A}">
                    <a16:rowId xmlns:a16="http://schemas.microsoft.com/office/drawing/2014/main" val="906653825"/>
                  </a:ext>
                </a:extLst>
              </a:tr>
            </a:tbl>
          </a:graphicData>
        </a:graphic>
      </p:graphicFrame>
    </p:spTree>
    <p:extLst>
      <p:ext uri="{BB962C8B-B14F-4D97-AF65-F5344CB8AC3E}">
        <p14:creationId xmlns:p14="http://schemas.microsoft.com/office/powerpoint/2010/main" val="1839454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1C3CF6-DACE-3BC9-B6E2-4A901262320A}"/>
              </a:ext>
            </a:extLst>
          </p:cNvPr>
          <p:cNvPicPr>
            <a:picLocks noChangeAspect="1"/>
          </p:cNvPicPr>
          <p:nvPr/>
        </p:nvPicPr>
        <p:blipFill rotWithShape="1">
          <a:blip r:embed="rId2">
            <a:grayscl/>
            <a:alphaModFix amt="87000"/>
            <a:extLst>
              <a:ext uri="{BEBA8EAE-BF5A-486C-A8C5-ECC9F3942E4B}">
                <a14:imgProps xmlns:a14="http://schemas.microsoft.com/office/drawing/2010/main">
                  <a14:imgLayer r:embed="rId3">
                    <a14:imgEffect>
                      <a14:colorTemperature colorTemp="4700"/>
                    </a14:imgEffect>
                    <a14:imgEffect>
                      <a14:saturation sat="61000"/>
                    </a14:imgEffect>
                  </a14:imgLayer>
                </a14:imgProps>
              </a:ext>
            </a:extLst>
          </a:blip>
          <a:srcRect t="12821" b="13919"/>
          <a:stretch/>
        </p:blipFill>
        <p:spPr>
          <a:xfrm>
            <a:off x="1860656" y="1513372"/>
            <a:ext cx="8851606" cy="4950276"/>
          </a:xfrm>
          <a:prstGeom prst="rect">
            <a:avLst/>
          </a:prstGeom>
        </p:spPr>
      </p:pic>
      <p:sp>
        <p:nvSpPr>
          <p:cNvPr id="6" name="Title 1">
            <a:extLst>
              <a:ext uri="{FF2B5EF4-FFF2-40B4-BE49-F238E27FC236}">
                <a16:creationId xmlns:a16="http://schemas.microsoft.com/office/drawing/2014/main" id="{C8C32E11-ECB2-4668-921A-9D9CDB203D92}"/>
              </a:ext>
            </a:extLst>
          </p:cNvPr>
          <p:cNvSpPr txBox="1">
            <a:spLocks/>
          </p:cNvSpPr>
          <p:nvPr/>
        </p:nvSpPr>
        <p:spPr>
          <a:xfrm>
            <a:off x="456426" y="248366"/>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Our experiences in </a:t>
            </a:r>
            <a:r>
              <a:rPr lang="en-US" sz="2400" dirty="0">
                <a:solidFill>
                  <a:prstClr val="black"/>
                </a:solidFill>
                <a:latin typeface="Verdana" panose="020B0604030504040204" pitchFamily="34" charset="0"/>
                <a:ea typeface="Verdana" panose="020B0604030504040204" pitchFamily="34" charset="0"/>
              </a:rPr>
              <a:t>Regulatory Assistance to SERCs</a:t>
            </a:r>
            <a:endParaRPr kumimoji="0" lang="en-US"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3" name="Rectangle 2">
            <a:extLst>
              <a:ext uri="{FF2B5EF4-FFF2-40B4-BE49-F238E27FC236}">
                <a16:creationId xmlns:a16="http://schemas.microsoft.com/office/drawing/2014/main" id="{D7487E6E-61BD-5253-25CD-97B2F801E262}"/>
              </a:ext>
            </a:extLst>
          </p:cNvPr>
          <p:cNvSpPr/>
          <p:nvPr/>
        </p:nvSpPr>
        <p:spPr bwMode="gray">
          <a:xfrm>
            <a:off x="479425"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4" name="Rectangle 3">
            <a:extLst>
              <a:ext uri="{FF2B5EF4-FFF2-40B4-BE49-F238E27FC236}">
                <a16:creationId xmlns:a16="http://schemas.microsoft.com/office/drawing/2014/main" id="{F4ED89F9-DB2F-A83F-8966-DF9059C60745}"/>
              </a:ext>
            </a:extLst>
          </p:cNvPr>
          <p:cNvSpPr/>
          <p:nvPr/>
        </p:nvSpPr>
        <p:spPr bwMode="gray">
          <a:xfrm>
            <a:off x="479425" y="1172324"/>
            <a:ext cx="11423609"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lang="en-IN" sz="1200" dirty="0">
                <a:solidFill>
                  <a:schemeClr val="bg1"/>
                </a:solidFill>
                <a:effectLst/>
                <a:latin typeface="Verdana" panose="020B0604030504040204" pitchFamily="34" charset="0"/>
                <a:ea typeface="Verdana" panose="020B0604030504040204" pitchFamily="34" charset="0"/>
                <a:cs typeface="Vrinda" panose="020B0502040204020203" pitchFamily="34" charset="0"/>
              </a:rPr>
              <a:t>Consultancy work orders (ongoing or completed) under any State Regulatory Commission in past 5 years (i.e., FY 2018-19 - FY 2022-23)</a:t>
            </a:r>
            <a:endParaRPr kumimoji="0" lang="en-US" sz="6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11" name="Rectangle 10">
            <a:extLst>
              <a:ext uri="{FF2B5EF4-FFF2-40B4-BE49-F238E27FC236}">
                <a16:creationId xmlns:a16="http://schemas.microsoft.com/office/drawing/2014/main" id="{A99A3A7E-C418-DC91-F931-21826C60A135}"/>
              </a:ext>
            </a:extLst>
          </p:cNvPr>
          <p:cNvSpPr/>
          <p:nvPr/>
        </p:nvSpPr>
        <p:spPr bwMode="gray">
          <a:xfrm>
            <a:off x="6286459" y="1722922"/>
            <a:ext cx="5616575" cy="4697129"/>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endParaRPr lang="en-US" sz="1200" dirty="0">
              <a:solidFill>
                <a:srgbClr val="000000"/>
              </a:solidFill>
              <a:latin typeface="Verdana" panose="020B0604030504040204" pitchFamily="34" charset="0"/>
              <a:ea typeface="Verdana" panose="020B0604030504040204" pitchFamily="34" charset="0"/>
              <a:cs typeface="Arial" charset="0"/>
            </a:endParaRPr>
          </a:p>
        </p:txBody>
      </p:sp>
      <p:sp>
        <p:nvSpPr>
          <p:cNvPr id="8" name="Title 1">
            <a:extLst>
              <a:ext uri="{FF2B5EF4-FFF2-40B4-BE49-F238E27FC236}">
                <a16:creationId xmlns:a16="http://schemas.microsoft.com/office/drawing/2014/main" id="{69D8DA83-FEC9-B47B-76D9-6D8CC4AF35C5}"/>
              </a:ext>
            </a:extLst>
          </p:cNvPr>
          <p:cNvSpPr txBox="1">
            <a:spLocks/>
          </p:cNvSpPr>
          <p:nvPr/>
        </p:nvSpPr>
        <p:spPr>
          <a:xfrm>
            <a:off x="478709" y="646298"/>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800" dirty="0">
                <a:solidFill>
                  <a:srgbClr val="575757"/>
                </a:solidFill>
                <a:latin typeface="Verdana" panose="020B0604030504040204" pitchFamily="34" charset="0"/>
                <a:ea typeface="Verdana" panose="020B0604030504040204" pitchFamily="34" charset="0"/>
                <a:cs typeface="+mn-cs"/>
              </a:rPr>
              <a:t>We have extensive experience in Regulatory affairs for Indian &amp; Global Utility Clients</a:t>
            </a:r>
          </a:p>
        </p:txBody>
      </p:sp>
      <p:graphicFrame>
        <p:nvGraphicFramePr>
          <p:cNvPr id="2" name="Table 16">
            <a:extLst>
              <a:ext uri="{FF2B5EF4-FFF2-40B4-BE49-F238E27FC236}">
                <a16:creationId xmlns:a16="http://schemas.microsoft.com/office/drawing/2014/main" id="{75A81805-C86D-EEB8-A258-7B8FD3A76D71}"/>
              </a:ext>
            </a:extLst>
          </p:cNvPr>
          <p:cNvGraphicFramePr>
            <a:graphicFrameLocks noGrp="1"/>
          </p:cNvGraphicFramePr>
          <p:nvPr>
            <p:extLst>
              <p:ext uri="{D42A27DB-BD31-4B8C-83A1-F6EECF244321}">
                <p14:modId xmlns:p14="http://schemas.microsoft.com/office/powerpoint/2010/main" val="3834734136"/>
              </p:ext>
            </p:extLst>
          </p:nvPr>
        </p:nvGraphicFramePr>
        <p:xfrm>
          <a:off x="478710" y="1743076"/>
          <a:ext cx="5531565" cy="4610098"/>
        </p:xfrm>
        <a:graphic>
          <a:graphicData uri="http://schemas.openxmlformats.org/drawingml/2006/table">
            <a:tbl>
              <a:tblPr firstRow="1" bandRow="1">
                <a:tableStyleId>{D27102A9-8310-4765-A935-A1911B00CA55}</a:tableStyleId>
              </a:tblPr>
              <a:tblGrid>
                <a:gridCol w="401789">
                  <a:extLst>
                    <a:ext uri="{9D8B030D-6E8A-4147-A177-3AD203B41FA5}">
                      <a16:colId xmlns:a16="http://schemas.microsoft.com/office/drawing/2014/main" val="2597700788"/>
                    </a:ext>
                  </a:extLst>
                </a:gridCol>
                <a:gridCol w="3291451">
                  <a:extLst>
                    <a:ext uri="{9D8B030D-6E8A-4147-A177-3AD203B41FA5}">
                      <a16:colId xmlns:a16="http://schemas.microsoft.com/office/drawing/2014/main" val="2446518390"/>
                    </a:ext>
                  </a:extLst>
                </a:gridCol>
                <a:gridCol w="952500">
                  <a:extLst>
                    <a:ext uri="{9D8B030D-6E8A-4147-A177-3AD203B41FA5}">
                      <a16:colId xmlns:a16="http://schemas.microsoft.com/office/drawing/2014/main" val="4142655954"/>
                    </a:ext>
                  </a:extLst>
                </a:gridCol>
                <a:gridCol w="885825">
                  <a:extLst>
                    <a:ext uri="{9D8B030D-6E8A-4147-A177-3AD203B41FA5}">
                      <a16:colId xmlns:a16="http://schemas.microsoft.com/office/drawing/2014/main" val="1787850561"/>
                    </a:ext>
                  </a:extLst>
                </a:gridCol>
              </a:tblGrid>
              <a:tr h="502651">
                <a:tc>
                  <a:txBody>
                    <a:bodyPr/>
                    <a:lstStyle/>
                    <a:p>
                      <a:pPr algn="ctr"/>
                      <a:r>
                        <a:rPr lang="en-US" sz="1100" dirty="0">
                          <a:latin typeface="Verdana" panose="020B0604030504040204" pitchFamily="34" charset="0"/>
                          <a:ea typeface="Verdana" panose="020B0604030504040204" pitchFamily="34" charset="0"/>
                        </a:rPr>
                        <a:t>SI No</a:t>
                      </a:r>
                    </a:p>
                  </a:txBody>
                  <a:tcPr anchor="ctr"/>
                </a:tc>
                <a:tc>
                  <a:txBody>
                    <a:bodyPr/>
                    <a:lstStyle/>
                    <a:p>
                      <a:pPr algn="ctr"/>
                      <a:r>
                        <a:rPr lang="en-US" sz="1100" dirty="0">
                          <a:latin typeface="Verdana" panose="020B0604030504040204" pitchFamily="34" charset="0"/>
                          <a:ea typeface="Verdana" panose="020B0604030504040204" pitchFamily="34" charset="0"/>
                        </a:rPr>
                        <a:t>Name of the Engagement</a:t>
                      </a:r>
                    </a:p>
                  </a:txBody>
                  <a:tcPr anchor="ctr"/>
                </a:tc>
                <a:tc>
                  <a:txBody>
                    <a:bodyPr/>
                    <a:lstStyle/>
                    <a:p>
                      <a:pPr algn="ctr"/>
                      <a:r>
                        <a:rPr lang="en-US" sz="1100" dirty="0">
                          <a:latin typeface="Verdana" panose="020B0604030504040204" pitchFamily="34" charset="0"/>
                          <a:ea typeface="Verdana" panose="020B0604030504040204" pitchFamily="34" charset="0"/>
                        </a:rPr>
                        <a:t>Client</a:t>
                      </a:r>
                    </a:p>
                  </a:txBody>
                  <a:tcPr anchor="ctr"/>
                </a:tc>
                <a:tc>
                  <a:txBody>
                    <a:bodyPr/>
                    <a:lstStyle/>
                    <a:p>
                      <a:pPr algn="ctr"/>
                      <a:r>
                        <a:rPr lang="en-US" sz="1100" dirty="0">
                          <a:latin typeface="Verdana" panose="020B0604030504040204" pitchFamily="34" charset="0"/>
                          <a:ea typeface="Verdana" panose="020B0604030504040204" pitchFamily="34" charset="0"/>
                        </a:rPr>
                        <a:t>Year</a:t>
                      </a:r>
                    </a:p>
                  </a:txBody>
                  <a:tcPr anchor="ctr"/>
                </a:tc>
                <a:extLst>
                  <a:ext uri="{0D108BD9-81ED-4DB2-BD59-A6C34878D82A}">
                    <a16:rowId xmlns:a16="http://schemas.microsoft.com/office/drawing/2014/main" val="3079222358"/>
                  </a:ext>
                </a:extLst>
              </a:tr>
              <a:tr h="700121">
                <a:tc>
                  <a:txBody>
                    <a:bodyPr/>
                    <a:lstStyle/>
                    <a:p>
                      <a:r>
                        <a:rPr lang="en-US" sz="1100" dirty="0">
                          <a:latin typeface="Verdana" panose="020B0604030504040204" pitchFamily="34" charset="0"/>
                          <a:ea typeface="Verdana" panose="020B0604030504040204" pitchFamily="34" charset="0"/>
                        </a:rPr>
                        <a:t>1</a:t>
                      </a:r>
                    </a:p>
                  </a:txBody>
                  <a:tcPr/>
                </a:tc>
                <a:tc>
                  <a:txBody>
                    <a:bodyPr/>
                    <a:lstStyle/>
                    <a:p>
                      <a:r>
                        <a:rPr lang="en-US" sz="1100" dirty="0">
                          <a:latin typeface="Verdana" panose="020B0604030504040204" pitchFamily="34" charset="0"/>
                          <a:ea typeface="Verdana" panose="020B0604030504040204" pitchFamily="34" charset="0"/>
                        </a:rPr>
                        <a:t>Transaction advisory services to OERC for selection of investor for sale of NESCO Utility</a:t>
                      </a:r>
                    </a:p>
                  </a:txBody>
                  <a:tcPr/>
                </a:tc>
                <a:tc>
                  <a:txBody>
                    <a:bodyPr/>
                    <a:lstStyle/>
                    <a:p>
                      <a:r>
                        <a:rPr lang="en-US" sz="1100" dirty="0">
                          <a:latin typeface="Verdana" panose="020B0604030504040204" pitchFamily="34" charset="0"/>
                          <a:ea typeface="Verdana" panose="020B0604030504040204" pitchFamily="34" charset="0"/>
                        </a:rPr>
                        <a:t>OERC</a:t>
                      </a:r>
                    </a:p>
                  </a:txBody>
                  <a:tcPr/>
                </a:tc>
                <a:tc>
                  <a:txBody>
                    <a:bodyPr/>
                    <a:lstStyle/>
                    <a:p>
                      <a:r>
                        <a:rPr lang="en-US" sz="1100" dirty="0">
                          <a:latin typeface="Verdana" panose="020B0604030504040204" pitchFamily="34" charset="0"/>
                          <a:ea typeface="Verdana" panose="020B0604030504040204" pitchFamily="34" charset="0"/>
                        </a:rPr>
                        <a:t>2018-2019</a:t>
                      </a:r>
                    </a:p>
                  </a:txBody>
                  <a:tcPr/>
                </a:tc>
                <a:extLst>
                  <a:ext uri="{0D108BD9-81ED-4DB2-BD59-A6C34878D82A}">
                    <a16:rowId xmlns:a16="http://schemas.microsoft.com/office/drawing/2014/main" val="4207776433"/>
                  </a:ext>
                </a:extLst>
              </a:tr>
              <a:tr h="722936">
                <a:tc>
                  <a:txBody>
                    <a:bodyPr/>
                    <a:lstStyle/>
                    <a:p>
                      <a:r>
                        <a:rPr lang="en-US" sz="1100" dirty="0">
                          <a:latin typeface="Verdana" panose="020B0604030504040204" pitchFamily="34" charset="0"/>
                          <a:ea typeface="Verdana" panose="020B0604030504040204" pitchFamily="34" charset="0"/>
                        </a:rPr>
                        <a:t>2</a:t>
                      </a:r>
                    </a:p>
                  </a:txBody>
                  <a:tcPr/>
                </a:tc>
                <a:tc>
                  <a:txBody>
                    <a:bodyPr/>
                    <a:lstStyle/>
                    <a:p>
                      <a:pPr algn="just">
                        <a:lnSpc>
                          <a:spcPct val="107000"/>
                        </a:lnSpc>
                        <a:spcAft>
                          <a:spcPts val="800"/>
                        </a:spcAft>
                      </a:pPr>
                      <a:r>
                        <a:rPr lang="en-US" sz="1100" dirty="0">
                          <a:latin typeface="Verdana" panose="020B0604030504040204" pitchFamily="34" charset="0"/>
                          <a:ea typeface="Verdana" panose="020B0604030504040204" pitchFamily="34" charset="0"/>
                        </a:rPr>
                        <a:t>Regulatory Assistance to the HPERC on Tariff Related Matters for the 4th Control Period from FY 2019-20 to FY 2023-24</a:t>
                      </a:r>
                    </a:p>
                  </a:txBody>
                  <a:tcPr/>
                </a:tc>
                <a:tc>
                  <a:txBody>
                    <a:bodyPr/>
                    <a:lstStyle/>
                    <a:p>
                      <a:r>
                        <a:rPr lang="en-US" sz="1100" dirty="0">
                          <a:latin typeface="Verdana" panose="020B0604030504040204" pitchFamily="34" charset="0"/>
                          <a:ea typeface="Verdana" panose="020B0604030504040204" pitchFamily="34" charset="0"/>
                        </a:rPr>
                        <a:t>HPERC</a:t>
                      </a:r>
                    </a:p>
                  </a:txBody>
                  <a:tcPr/>
                </a:tc>
                <a:tc>
                  <a:txBody>
                    <a:bodyPr/>
                    <a:lstStyle/>
                    <a:p>
                      <a:r>
                        <a:rPr lang="en-US" sz="1100" dirty="0">
                          <a:latin typeface="Verdana" panose="020B0604030504040204" pitchFamily="34" charset="0"/>
                          <a:ea typeface="Verdana" panose="020B0604030504040204" pitchFamily="34" charset="0"/>
                        </a:rPr>
                        <a:t>2019-2023</a:t>
                      </a:r>
                    </a:p>
                  </a:txBody>
                  <a:tcPr/>
                </a:tc>
                <a:extLst>
                  <a:ext uri="{0D108BD9-81ED-4DB2-BD59-A6C34878D82A}">
                    <a16:rowId xmlns:a16="http://schemas.microsoft.com/office/drawing/2014/main" val="882408060"/>
                  </a:ext>
                </a:extLst>
              </a:tr>
              <a:tr h="700121">
                <a:tc>
                  <a:txBody>
                    <a:bodyPr/>
                    <a:lstStyle/>
                    <a:p>
                      <a:r>
                        <a:rPr lang="en-US" sz="1100" dirty="0">
                          <a:latin typeface="Verdana" panose="020B0604030504040204" pitchFamily="34" charset="0"/>
                          <a:ea typeface="Verdana" panose="020B0604030504040204" pitchFamily="34" charset="0"/>
                        </a:rPr>
                        <a:t>3</a:t>
                      </a:r>
                    </a:p>
                  </a:txBody>
                  <a:tcPr/>
                </a:tc>
                <a:tc>
                  <a:txBody>
                    <a:bodyPr/>
                    <a:lstStyle/>
                    <a:p>
                      <a:r>
                        <a:rPr lang="en-US" sz="1100" dirty="0">
                          <a:latin typeface="Verdana" panose="020B0604030504040204" pitchFamily="34" charset="0"/>
                          <a:ea typeface="Verdana" panose="020B0604030504040204" pitchFamily="34" charset="0"/>
                        </a:rPr>
                        <a:t>Regulatory Assistance to the HPERC on Tariff Related Matters for the 3rd Control Period from FY 2014-15 to FY 2018-19</a:t>
                      </a:r>
                    </a:p>
                  </a:txBody>
                  <a:tcPr/>
                </a:tc>
                <a:tc>
                  <a:txBody>
                    <a:bodyPr/>
                    <a:lstStyle/>
                    <a:p>
                      <a:r>
                        <a:rPr lang="en-US" sz="1100" dirty="0">
                          <a:latin typeface="Verdana" panose="020B0604030504040204" pitchFamily="34" charset="0"/>
                          <a:ea typeface="Verdana" panose="020B0604030504040204" pitchFamily="34" charset="0"/>
                        </a:rPr>
                        <a:t>HPERC</a:t>
                      </a:r>
                    </a:p>
                  </a:txBody>
                  <a:tcPr/>
                </a:tc>
                <a:tc>
                  <a:txBody>
                    <a:bodyPr/>
                    <a:lstStyle/>
                    <a:p>
                      <a:r>
                        <a:rPr lang="en-US" sz="1100" dirty="0">
                          <a:latin typeface="Verdana" panose="020B0604030504040204" pitchFamily="34" charset="0"/>
                          <a:ea typeface="Verdana" panose="020B0604030504040204" pitchFamily="34" charset="0"/>
                        </a:rPr>
                        <a:t>2014-2019</a:t>
                      </a:r>
                    </a:p>
                  </a:txBody>
                  <a:tcPr/>
                </a:tc>
                <a:extLst>
                  <a:ext uri="{0D108BD9-81ED-4DB2-BD59-A6C34878D82A}">
                    <a16:rowId xmlns:a16="http://schemas.microsoft.com/office/drawing/2014/main" val="3378849435"/>
                  </a:ext>
                </a:extLst>
              </a:tr>
              <a:tr h="700121">
                <a:tc>
                  <a:txBody>
                    <a:bodyPr/>
                    <a:lstStyle/>
                    <a:p>
                      <a:r>
                        <a:rPr lang="en-US" sz="1100" dirty="0">
                          <a:latin typeface="Verdana" panose="020B0604030504040204" pitchFamily="34" charset="0"/>
                          <a:ea typeface="Verdana" panose="020B0604030504040204" pitchFamily="34" charset="0"/>
                        </a:rPr>
                        <a:t>4</a:t>
                      </a:r>
                    </a:p>
                  </a:txBody>
                  <a:tcPr/>
                </a:tc>
                <a:tc>
                  <a:txBody>
                    <a:bodyPr/>
                    <a:lstStyle/>
                    <a:p>
                      <a:r>
                        <a:rPr lang="en-US" sz="1100" dirty="0">
                          <a:latin typeface="Verdana" panose="020B0604030504040204" pitchFamily="34" charset="0"/>
                          <a:ea typeface="Verdana" panose="020B0604030504040204" pitchFamily="34" charset="0"/>
                        </a:rPr>
                        <a:t>Transaction advisory services to OERC for selection of investor for sale of SOUTHCO Utility</a:t>
                      </a:r>
                    </a:p>
                  </a:txBody>
                  <a:tcPr/>
                </a:tc>
                <a:tc>
                  <a:txBody>
                    <a:bodyPr/>
                    <a:lstStyle/>
                    <a:p>
                      <a:r>
                        <a:rPr lang="en-US" sz="1100" dirty="0">
                          <a:latin typeface="Verdana" panose="020B0604030504040204" pitchFamily="34" charset="0"/>
                          <a:ea typeface="Verdana" panose="020B0604030504040204" pitchFamily="34" charset="0"/>
                        </a:rPr>
                        <a:t>OERC</a:t>
                      </a:r>
                    </a:p>
                  </a:txBody>
                  <a:tcPr/>
                </a:tc>
                <a:tc>
                  <a:txBody>
                    <a:bodyPr/>
                    <a:lstStyle/>
                    <a:p>
                      <a:r>
                        <a:rPr lang="en-US" sz="1100" dirty="0">
                          <a:latin typeface="Verdana" panose="020B0604030504040204" pitchFamily="34" charset="0"/>
                          <a:ea typeface="Verdana" panose="020B0604030504040204" pitchFamily="34" charset="0"/>
                        </a:rPr>
                        <a:t>2020-2021</a:t>
                      </a:r>
                    </a:p>
                  </a:txBody>
                  <a:tcPr/>
                </a:tc>
                <a:extLst>
                  <a:ext uri="{0D108BD9-81ED-4DB2-BD59-A6C34878D82A}">
                    <a16:rowId xmlns:a16="http://schemas.microsoft.com/office/drawing/2014/main" val="4238457310"/>
                  </a:ext>
                </a:extLst>
              </a:tr>
              <a:tr h="584027">
                <a:tc>
                  <a:txBody>
                    <a:bodyPr/>
                    <a:lstStyle/>
                    <a:p>
                      <a:r>
                        <a:rPr lang="en-US" sz="1100" dirty="0">
                          <a:latin typeface="Verdana" panose="020B0604030504040204" pitchFamily="34" charset="0"/>
                          <a:ea typeface="Verdana" panose="020B0604030504040204" pitchFamily="34" charset="0"/>
                        </a:rPr>
                        <a:t>5</a:t>
                      </a:r>
                    </a:p>
                  </a:txBody>
                  <a:tcPr/>
                </a:tc>
                <a:tc>
                  <a:txBody>
                    <a:bodyPr/>
                    <a:lstStyle/>
                    <a:p>
                      <a:r>
                        <a:rPr lang="en-US" sz="1100" dirty="0">
                          <a:latin typeface="Verdana" panose="020B0604030504040204" pitchFamily="34" charset="0"/>
                          <a:ea typeface="Verdana" panose="020B0604030504040204" pitchFamily="34" charset="0"/>
                        </a:rPr>
                        <a:t>Consultancy services to OERC for framing of new regulations</a:t>
                      </a:r>
                    </a:p>
                  </a:txBody>
                  <a:tcPr/>
                </a:tc>
                <a:tc>
                  <a:txBody>
                    <a:bodyPr/>
                    <a:lstStyle/>
                    <a:p>
                      <a:r>
                        <a:rPr lang="en-US" sz="1100" dirty="0">
                          <a:latin typeface="Verdana" panose="020B0604030504040204" pitchFamily="34" charset="0"/>
                          <a:ea typeface="Verdana" panose="020B0604030504040204" pitchFamily="34" charset="0"/>
                        </a:rPr>
                        <a:t>OERC</a:t>
                      </a:r>
                    </a:p>
                  </a:txBody>
                  <a:tcPr/>
                </a:tc>
                <a:tc>
                  <a:txBody>
                    <a:bodyPr/>
                    <a:lstStyle/>
                    <a:p>
                      <a:r>
                        <a:rPr lang="en-US" sz="1100" dirty="0">
                          <a:latin typeface="Verdana" panose="020B0604030504040204" pitchFamily="34" charset="0"/>
                          <a:ea typeface="Verdana" panose="020B0604030504040204" pitchFamily="34" charset="0"/>
                        </a:rPr>
                        <a:t>2019-2023</a:t>
                      </a:r>
                    </a:p>
                  </a:txBody>
                  <a:tcPr/>
                </a:tc>
                <a:extLst>
                  <a:ext uri="{0D108BD9-81ED-4DB2-BD59-A6C34878D82A}">
                    <a16:rowId xmlns:a16="http://schemas.microsoft.com/office/drawing/2014/main" val="3530709357"/>
                  </a:ext>
                </a:extLst>
              </a:tr>
              <a:tr h="700121">
                <a:tc>
                  <a:txBody>
                    <a:bodyPr/>
                    <a:lstStyle/>
                    <a:p>
                      <a:r>
                        <a:rPr lang="en-US" sz="1100" dirty="0">
                          <a:latin typeface="Verdana" panose="020B0604030504040204" pitchFamily="34" charset="0"/>
                          <a:ea typeface="Verdana" panose="020B0604030504040204" pitchFamily="34" charset="0"/>
                        </a:rPr>
                        <a:t>6</a:t>
                      </a:r>
                    </a:p>
                    <a:p>
                      <a:endParaRPr lang="en-US" sz="1100" dirty="0">
                        <a:latin typeface="Verdana" panose="020B0604030504040204" pitchFamily="34" charset="0"/>
                        <a:ea typeface="Verdana" panose="020B0604030504040204" pitchFamily="34" charset="0"/>
                      </a:endParaRPr>
                    </a:p>
                    <a:p>
                      <a:endParaRPr lang="en-US" sz="1100" dirty="0">
                        <a:latin typeface="Verdana" panose="020B0604030504040204" pitchFamily="34" charset="0"/>
                        <a:ea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rPr>
                        <a:t>Appointment of Consultant towards works related to True-up, ARR &amp; Tariff Orders of the Power Utilities in Tamil Nadu</a:t>
                      </a:r>
                    </a:p>
                  </a:txBody>
                  <a:tcPr/>
                </a:tc>
                <a:tc>
                  <a:txBody>
                    <a:bodyPr/>
                    <a:lstStyle/>
                    <a:p>
                      <a:r>
                        <a:rPr lang="en-US" sz="1100" dirty="0">
                          <a:latin typeface="Verdana" panose="020B0604030504040204" pitchFamily="34" charset="0"/>
                          <a:ea typeface="Verdana" panose="020B0604030504040204" pitchFamily="34" charset="0"/>
                        </a:rPr>
                        <a:t>TNERC</a:t>
                      </a:r>
                    </a:p>
                  </a:txBody>
                  <a:tcPr/>
                </a:tc>
                <a:tc>
                  <a:txBody>
                    <a:bodyPr/>
                    <a:lstStyle/>
                    <a:p>
                      <a:r>
                        <a:rPr lang="en-US" sz="1100" dirty="0">
                          <a:latin typeface="Verdana" panose="020B0604030504040204" pitchFamily="34" charset="0"/>
                          <a:ea typeface="Verdana" panose="020B0604030504040204" pitchFamily="34" charset="0"/>
                        </a:rPr>
                        <a:t>2021-2022</a:t>
                      </a:r>
                    </a:p>
                  </a:txBody>
                  <a:tcPr/>
                </a:tc>
                <a:extLst>
                  <a:ext uri="{0D108BD9-81ED-4DB2-BD59-A6C34878D82A}">
                    <a16:rowId xmlns:a16="http://schemas.microsoft.com/office/drawing/2014/main" val="1113138623"/>
                  </a:ext>
                </a:extLst>
              </a:tr>
            </a:tbl>
          </a:graphicData>
        </a:graphic>
      </p:graphicFrame>
      <p:graphicFrame>
        <p:nvGraphicFramePr>
          <p:cNvPr id="14" name="Table 16">
            <a:extLst>
              <a:ext uri="{FF2B5EF4-FFF2-40B4-BE49-F238E27FC236}">
                <a16:creationId xmlns:a16="http://schemas.microsoft.com/office/drawing/2014/main" id="{42A23BF2-4FCF-A384-3F71-40D85174880B}"/>
              </a:ext>
            </a:extLst>
          </p:cNvPr>
          <p:cNvGraphicFramePr>
            <a:graphicFrameLocks noGrp="1"/>
          </p:cNvGraphicFramePr>
          <p:nvPr>
            <p:extLst>
              <p:ext uri="{D42A27DB-BD31-4B8C-83A1-F6EECF244321}">
                <p14:modId xmlns:p14="http://schemas.microsoft.com/office/powerpoint/2010/main" val="2510372711"/>
              </p:ext>
            </p:extLst>
          </p:nvPr>
        </p:nvGraphicFramePr>
        <p:xfrm>
          <a:off x="6286459" y="1679325"/>
          <a:ext cx="5616575" cy="2881617"/>
        </p:xfrm>
        <a:graphic>
          <a:graphicData uri="http://schemas.openxmlformats.org/drawingml/2006/table">
            <a:tbl>
              <a:tblPr firstRow="1" bandRow="1">
                <a:tableStyleId>{D27102A9-8310-4765-A935-A1911B00CA55}</a:tableStyleId>
              </a:tblPr>
              <a:tblGrid>
                <a:gridCol w="420562">
                  <a:extLst>
                    <a:ext uri="{9D8B030D-6E8A-4147-A177-3AD203B41FA5}">
                      <a16:colId xmlns:a16="http://schemas.microsoft.com/office/drawing/2014/main" val="2597700788"/>
                    </a:ext>
                  </a:extLst>
                </a:gridCol>
                <a:gridCol w="3498965">
                  <a:extLst>
                    <a:ext uri="{9D8B030D-6E8A-4147-A177-3AD203B41FA5}">
                      <a16:colId xmlns:a16="http://schemas.microsoft.com/office/drawing/2014/main" val="2446518390"/>
                    </a:ext>
                  </a:extLst>
                </a:gridCol>
                <a:gridCol w="766814">
                  <a:extLst>
                    <a:ext uri="{9D8B030D-6E8A-4147-A177-3AD203B41FA5}">
                      <a16:colId xmlns:a16="http://schemas.microsoft.com/office/drawing/2014/main" val="4142655954"/>
                    </a:ext>
                  </a:extLst>
                </a:gridCol>
                <a:gridCol w="930234">
                  <a:extLst>
                    <a:ext uri="{9D8B030D-6E8A-4147-A177-3AD203B41FA5}">
                      <a16:colId xmlns:a16="http://schemas.microsoft.com/office/drawing/2014/main" val="1787850561"/>
                    </a:ext>
                  </a:extLst>
                </a:gridCol>
              </a:tblGrid>
              <a:tr h="531867">
                <a:tc>
                  <a:txBody>
                    <a:bodyPr/>
                    <a:lstStyle/>
                    <a:p>
                      <a:pPr algn="ctr"/>
                      <a:r>
                        <a:rPr lang="en-US" sz="1100" dirty="0"/>
                        <a:t>SI No</a:t>
                      </a:r>
                    </a:p>
                  </a:txBody>
                  <a:tcPr anchor="ctr"/>
                </a:tc>
                <a:tc>
                  <a:txBody>
                    <a:bodyPr/>
                    <a:lstStyle/>
                    <a:p>
                      <a:pPr algn="ctr"/>
                      <a:r>
                        <a:rPr lang="en-US" sz="1100" dirty="0">
                          <a:latin typeface="Verdana" panose="020B0604030504040204" pitchFamily="34" charset="0"/>
                          <a:ea typeface="Verdana" panose="020B0604030504040204" pitchFamily="34" charset="0"/>
                        </a:rPr>
                        <a:t>Name of the Engagement</a:t>
                      </a:r>
                    </a:p>
                  </a:txBody>
                  <a:tcPr anchor="ctr"/>
                </a:tc>
                <a:tc>
                  <a:txBody>
                    <a:bodyPr/>
                    <a:lstStyle/>
                    <a:p>
                      <a:pPr algn="ctr"/>
                      <a:r>
                        <a:rPr lang="en-US" sz="1100" dirty="0">
                          <a:latin typeface="Verdana" panose="020B0604030504040204" pitchFamily="34" charset="0"/>
                          <a:ea typeface="Verdana" panose="020B0604030504040204" pitchFamily="34" charset="0"/>
                        </a:rPr>
                        <a:t>Client</a:t>
                      </a:r>
                    </a:p>
                  </a:txBody>
                  <a:tcPr anchor="ctr"/>
                </a:tc>
                <a:tc>
                  <a:txBody>
                    <a:bodyPr/>
                    <a:lstStyle/>
                    <a:p>
                      <a:pPr algn="ctr"/>
                      <a:r>
                        <a:rPr lang="en-US" sz="1100" dirty="0">
                          <a:latin typeface="Verdana" panose="020B0604030504040204" pitchFamily="34" charset="0"/>
                          <a:ea typeface="Verdana" panose="020B0604030504040204" pitchFamily="34" charset="0"/>
                        </a:rPr>
                        <a:t>Year</a:t>
                      </a:r>
                    </a:p>
                  </a:txBody>
                  <a:tcPr anchor="ctr"/>
                </a:tc>
                <a:extLst>
                  <a:ext uri="{0D108BD9-81ED-4DB2-BD59-A6C34878D82A}">
                    <a16:rowId xmlns:a16="http://schemas.microsoft.com/office/drawing/2014/main" val="3079222358"/>
                  </a:ext>
                </a:extLst>
              </a:tr>
              <a:tr h="1139943">
                <a:tc>
                  <a:txBody>
                    <a:bodyPr/>
                    <a:lstStyle/>
                    <a:p>
                      <a:r>
                        <a:rPr lang="en-US" sz="1100" dirty="0"/>
                        <a:t>6</a:t>
                      </a:r>
                    </a:p>
                    <a:p>
                      <a:endParaRPr lang="en-US" sz="1100" dirty="0"/>
                    </a:p>
                  </a:txBody>
                  <a:tcPr/>
                </a:tc>
                <a:tc>
                  <a:txBody>
                    <a:bodyPr/>
                    <a:lstStyle/>
                    <a:p>
                      <a:r>
                        <a:rPr lang="en-US" sz="1100" dirty="0">
                          <a:latin typeface="Verdana" panose="020B0604030504040204" pitchFamily="34" charset="0"/>
                          <a:ea typeface="Verdana" panose="020B0604030504040204" pitchFamily="34" charset="0"/>
                        </a:rPr>
                        <a:t>Determination of Retail Supply Tariff for FY 2018-19 for Electricity Department, Lakshadweep Administration - Joint Electricity Regulatory Commission (For the State of Goa and Union Territories) </a:t>
                      </a:r>
                    </a:p>
                  </a:txBody>
                  <a:tcPr/>
                </a:tc>
                <a:tc>
                  <a:txBody>
                    <a:bodyPr/>
                    <a:lstStyle/>
                    <a:p>
                      <a:r>
                        <a:rPr lang="en-US" sz="1100" dirty="0">
                          <a:latin typeface="Verdana" panose="020B0604030504040204" pitchFamily="34" charset="0"/>
                          <a:ea typeface="Verdana" panose="020B0604030504040204" pitchFamily="34" charset="0"/>
                        </a:rPr>
                        <a:t>JERC</a:t>
                      </a:r>
                    </a:p>
                  </a:txBody>
                  <a:tcPr/>
                </a:tc>
                <a:tc>
                  <a:txBody>
                    <a:bodyPr/>
                    <a:lstStyle/>
                    <a:p>
                      <a:r>
                        <a:rPr lang="en-US" sz="1100" dirty="0">
                          <a:latin typeface="Verdana" panose="020B0604030504040204" pitchFamily="34" charset="0"/>
                          <a:ea typeface="Verdana" panose="020B0604030504040204" pitchFamily="34" charset="0"/>
                        </a:rPr>
                        <a:t>2018-2019</a:t>
                      </a:r>
                    </a:p>
                  </a:txBody>
                  <a:tcPr/>
                </a:tc>
                <a:extLst>
                  <a:ext uri="{0D108BD9-81ED-4DB2-BD59-A6C34878D82A}">
                    <a16:rowId xmlns:a16="http://schemas.microsoft.com/office/drawing/2014/main" val="4207776433"/>
                  </a:ext>
                </a:extLst>
              </a:tr>
              <a:tr h="677940">
                <a:tc>
                  <a:txBody>
                    <a:bodyPr/>
                    <a:lstStyle/>
                    <a:p>
                      <a:r>
                        <a:rPr lang="en-US" sz="1100" dirty="0"/>
                        <a:t>7</a:t>
                      </a:r>
                    </a:p>
                  </a:txBody>
                  <a:tcPr/>
                </a:tc>
                <a:tc>
                  <a:txBody>
                    <a:bodyPr/>
                    <a:lstStyle/>
                    <a:p>
                      <a:pPr algn="just">
                        <a:lnSpc>
                          <a:spcPct val="107000"/>
                        </a:lnSpc>
                        <a:spcAft>
                          <a:spcPts val="800"/>
                        </a:spcAft>
                      </a:pPr>
                      <a:r>
                        <a:rPr lang="en-US" sz="1100" dirty="0">
                          <a:latin typeface="Verdana" panose="020B0604030504040204" pitchFamily="34" charset="0"/>
                          <a:ea typeface="Verdana" panose="020B0604030504040204" pitchFamily="34" charset="0"/>
                        </a:rPr>
                        <a:t>Evolving Principles of Depreciation for Distribution Assets and Operating and Financial norms for Distribution Sector</a:t>
                      </a:r>
                    </a:p>
                  </a:txBody>
                  <a:tcPr/>
                </a:tc>
                <a:tc>
                  <a:txBody>
                    <a:bodyPr/>
                    <a:lstStyle/>
                    <a:p>
                      <a:r>
                        <a:rPr lang="en-US" sz="1100" dirty="0">
                          <a:latin typeface="Verdana" panose="020B0604030504040204" pitchFamily="34" charset="0"/>
                          <a:ea typeface="Verdana" panose="020B0604030504040204" pitchFamily="34" charset="0"/>
                        </a:rPr>
                        <a:t>FOR</a:t>
                      </a:r>
                    </a:p>
                  </a:txBody>
                  <a:tcPr/>
                </a:tc>
                <a:tc>
                  <a:txBody>
                    <a:bodyPr/>
                    <a:lstStyle/>
                    <a:p>
                      <a:r>
                        <a:rPr lang="en-US" sz="1100" dirty="0">
                          <a:latin typeface="Verdana" panose="020B0604030504040204" pitchFamily="34" charset="0"/>
                          <a:ea typeface="Verdana" panose="020B0604030504040204" pitchFamily="34" charset="0"/>
                        </a:rPr>
                        <a:t>April 2020</a:t>
                      </a:r>
                    </a:p>
                  </a:txBody>
                  <a:tcPr/>
                </a:tc>
                <a:extLst>
                  <a:ext uri="{0D108BD9-81ED-4DB2-BD59-A6C34878D82A}">
                    <a16:rowId xmlns:a16="http://schemas.microsoft.com/office/drawing/2014/main" val="882408060"/>
                  </a:ext>
                </a:extLst>
              </a:tr>
              <a:tr h="531867">
                <a:tc>
                  <a:txBody>
                    <a:bodyPr/>
                    <a:lstStyle/>
                    <a:p>
                      <a:r>
                        <a:rPr lang="en-US" sz="1100" dirty="0"/>
                        <a:t>8</a:t>
                      </a:r>
                    </a:p>
                  </a:txBody>
                  <a:tcPr/>
                </a:tc>
                <a:tc>
                  <a:txBody>
                    <a:bodyPr/>
                    <a:lstStyle/>
                    <a:p>
                      <a:r>
                        <a:rPr lang="en-US" sz="1100" dirty="0">
                          <a:latin typeface="Verdana" panose="020B0604030504040204" pitchFamily="34" charset="0"/>
                          <a:ea typeface="Verdana" panose="020B0604030504040204" pitchFamily="34" charset="0"/>
                        </a:rPr>
                        <a:t>Review of Status of Open Access in Distribution</a:t>
                      </a:r>
                    </a:p>
                  </a:txBody>
                  <a:tcPr/>
                </a:tc>
                <a:tc>
                  <a:txBody>
                    <a:bodyPr/>
                    <a:lstStyle/>
                    <a:p>
                      <a:r>
                        <a:rPr lang="en-US" sz="1100" dirty="0">
                          <a:latin typeface="Verdana" panose="020B0604030504040204" pitchFamily="34" charset="0"/>
                          <a:ea typeface="Verdana" panose="020B0604030504040204" pitchFamily="34" charset="0"/>
                        </a:rPr>
                        <a:t>FOR</a:t>
                      </a:r>
                    </a:p>
                  </a:txBody>
                  <a:tcPr/>
                </a:tc>
                <a:tc>
                  <a:txBody>
                    <a:bodyPr/>
                    <a:lstStyle/>
                    <a:p>
                      <a:r>
                        <a:rPr lang="en-US" sz="1100" dirty="0">
                          <a:latin typeface="Verdana" panose="020B0604030504040204" pitchFamily="34" charset="0"/>
                          <a:ea typeface="Verdana" panose="020B0604030504040204" pitchFamily="34" charset="0"/>
                        </a:rPr>
                        <a:t>2018-2019</a:t>
                      </a:r>
                    </a:p>
                  </a:txBody>
                  <a:tcPr/>
                </a:tc>
                <a:extLst>
                  <a:ext uri="{0D108BD9-81ED-4DB2-BD59-A6C34878D82A}">
                    <a16:rowId xmlns:a16="http://schemas.microsoft.com/office/drawing/2014/main" val="3378849435"/>
                  </a:ext>
                </a:extLst>
              </a:tr>
            </a:tbl>
          </a:graphicData>
        </a:graphic>
      </p:graphicFrame>
    </p:spTree>
    <p:extLst>
      <p:ext uri="{BB962C8B-B14F-4D97-AF65-F5344CB8AC3E}">
        <p14:creationId xmlns:p14="http://schemas.microsoft.com/office/powerpoint/2010/main" val="4165475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1C3CF6-DACE-3BC9-B6E2-4A901262320A}"/>
              </a:ext>
            </a:extLst>
          </p:cNvPr>
          <p:cNvPicPr>
            <a:picLocks noChangeAspect="1"/>
          </p:cNvPicPr>
          <p:nvPr/>
        </p:nvPicPr>
        <p:blipFill rotWithShape="1">
          <a:blip r:embed="rId3">
            <a:grayscl/>
            <a:alphaModFix amt="87000"/>
            <a:extLst>
              <a:ext uri="{BEBA8EAE-BF5A-486C-A8C5-ECC9F3942E4B}">
                <a14:imgProps xmlns:a14="http://schemas.microsoft.com/office/drawing/2010/main">
                  <a14:imgLayer r:embed="rId4">
                    <a14:imgEffect>
                      <a14:colorTemperature colorTemp="4700"/>
                    </a14:imgEffect>
                    <a14:imgEffect>
                      <a14:saturation sat="61000"/>
                    </a14:imgEffect>
                  </a14:imgLayer>
                </a14:imgProps>
              </a:ext>
            </a:extLst>
          </a:blip>
          <a:srcRect t="12821" b="13919"/>
          <a:stretch/>
        </p:blipFill>
        <p:spPr>
          <a:xfrm>
            <a:off x="1860656" y="1513372"/>
            <a:ext cx="8851606" cy="4950276"/>
          </a:xfrm>
          <a:prstGeom prst="rect">
            <a:avLst/>
          </a:prstGeom>
        </p:spPr>
      </p:pic>
      <p:sp>
        <p:nvSpPr>
          <p:cNvPr id="6" name="Title 1">
            <a:extLst>
              <a:ext uri="{FF2B5EF4-FFF2-40B4-BE49-F238E27FC236}">
                <a16:creationId xmlns:a16="http://schemas.microsoft.com/office/drawing/2014/main" id="{C8C32E11-ECB2-4668-921A-9D9CDB203D92}"/>
              </a:ext>
            </a:extLst>
          </p:cNvPr>
          <p:cNvSpPr txBox="1">
            <a:spLocks/>
          </p:cNvSpPr>
          <p:nvPr/>
        </p:nvSpPr>
        <p:spPr>
          <a:xfrm>
            <a:off x="456426" y="248366"/>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Our experiences in </a:t>
            </a:r>
            <a:r>
              <a:rPr lang="en-US" sz="2400" dirty="0">
                <a:solidFill>
                  <a:prstClr val="black"/>
                </a:solidFill>
                <a:latin typeface="Verdana" panose="020B0604030504040204" pitchFamily="34" charset="0"/>
                <a:ea typeface="Verdana" panose="020B0604030504040204" pitchFamily="34" charset="0"/>
              </a:rPr>
              <a:t>Regulatory Affairs </a:t>
            </a:r>
            <a:endParaRPr kumimoji="0" lang="en-US" sz="2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3" name="Rectangle 2">
            <a:extLst>
              <a:ext uri="{FF2B5EF4-FFF2-40B4-BE49-F238E27FC236}">
                <a16:creationId xmlns:a16="http://schemas.microsoft.com/office/drawing/2014/main" id="{D7487E6E-61BD-5253-25CD-97B2F801E262}"/>
              </a:ext>
            </a:extLst>
          </p:cNvPr>
          <p:cNvSpPr/>
          <p:nvPr/>
        </p:nvSpPr>
        <p:spPr bwMode="gray">
          <a:xfrm>
            <a:off x="479425" y="1722923"/>
            <a:ext cx="5616575" cy="3270632"/>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4" name="Rectangle 3">
            <a:extLst>
              <a:ext uri="{FF2B5EF4-FFF2-40B4-BE49-F238E27FC236}">
                <a16:creationId xmlns:a16="http://schemas.microsoft.com/office/drawing/2014/main" id="{F4ED89F9-DB2F-A83F-8966-DF9059C60745}"/>
              </a:ext>
            </a:extLst>
          </p:cNvPr>
          <p:cNvSpPr/>
          <p:nvPr/>
        </p:nvSpPr>
        <p:spPr bwMode="gray">
          <a:xfrm>
            <a:off x="479425" y="1172324"/>
            <a:ext cx="11423609" cy="444972"/>
          </a:xfrm>
          <a:prstGeom prst="rect">
            <a:avLst/>
          </a:prstGeom>
          <a:solidFill>
            <a:schemeClr val="accent5"/>
          </a:solidFill>
          <a:ln w="19050" algn="ctr">
            <a:noFill/>
            <a:miter lim="800000"/>
            <a:headEnd/>
            <a:tailEnd/>
          </a:ln>
        </p:spPr>
        <p:txBody>
          <a:bodyPr wrap="square" lIns="88900" tIns="88900" rIns="72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lang="en-IN" sz="1200" dirty="0">
                <a:solidFill>
                  <a:schemeClr val="bg1"/>
                </a:solidFill>
                <a:effectLst/>
                <a:latin typeface="Verdana" panose="020B0604030504040204" pitchFamily="34" charset="0"/>
                <a:ea typeface="Verdana" panose="020B0604030504040204" pitchFamily="34" charset="0"/>
                <a:cs typeface="Vrinda" panose="020B0502040204020203" pitchFamily="34" charset="0"/>
              </a:rPr>
              <a:t>Consultancy work orders (ongoing or completed) in determination of Tariff/Regulatory affairs working under CERC in past 5 years (i.e., FY 2018-19 - FY 2022-23)</a:t>
            </a:r>
            <a:endParaRPr kumimoji="0" lang="en-US" sz="3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11" name="Rectangle 10">
            <a:extLst>
              <a:ext uri="{FF2B5EF4-FFF2-40B4-BE49-F238E27FC236}">
                <a16:creationId xmlns:a16="http://schemas.microsoft.com/office/drawing/2014/main" id="{A99A3A7E-C418-DC91-F931-21826C60A135}"/>
              </a:ext>
            </a:extLst>
          </p:cNvPr>
          <p:cNvSpPr/>
          <p:nvPr/>
        </p:nvSpPr>
        <p:spPr bwMode="gray">
          <a:xfrm>
            <a:off x="6286459" y="1722922"/>
            <a:ext cx="5616575" cy="3270631"/>
          </a:xfrm>
          <a:prstGeom prst="rect">
            <a:avLst/>
          </a:prstGeom>
          <a:noFill/>
          <a:ln w="19050" algn="ctr">
            <a:solidFill>
              <a:schemeClr val="accent5"/>
            </a:solidFill>
            <a:prstDash val="solid"/>
            <a:miter lim="800000"/>
            <a:headEnd/>
            <a:tailEnd/>
          </a:ln>
        </p:spPr>
        <p:txBody>
          <a:bodyPr wrap="square" lIns="88900" tIns="88900" rIns="88900" bIns="88900" rtlCol="0" anchor="t"/>
          <a:lstStyle/>
          <a:p>
            <a:pPr marL="233363" marR="0" lvl="0" indent="-233363" algn="l" defTabSz="1233488" rtl="0" eaLnBrk="1" fontAlgn="auto" latinLnBrk="0" hangingPunct="1">
              <a:lnSpc>
                <a:spcPct val="100000"/>
              </a:lnSpc>
              <a:spcBef>
                <a:spcPct val="50000"/>
              </a:spcBef>
              <a:spcAft>
                <a:spcPts val="0"/>
              </a:spcAft>
              <a:buClr>
                <a:srgbClr val="000000"/>
              </a:buClr>
              <a:buSzTx/>
              <a:buFontTx/>
              <a:buNone/>
              <a:tabLst>
                <a:tab pos="7702550" algn="l"/>
              </a:tabLst>
              <a:defRPr/>
            </a:pPr>
            <a:endParaRPr lang="en-US" sz="1200" dirty="0">
              <a:solidFill>
                <a:srgbClr val="000000"/>
              </a:solidFill>
              <a:latin typeface="Verdana" panose="020B0604030504040204" pitchFamily="34" charset="0"/>
              <a:ea typeface="Verdana" panose="020B0604030504040204" pitchFamily="34" charset="0"/>
              <a:cs typeface="Arial" charset="0"/>
            </a:endParaRPr>
          </a:p>
        </p:txBody>
      </p:sp>
      <p:sp>
        <p:nvSpPr>
          <p:cNvPr id="8" name="Title 1">
            <a:extLst>
              <a:ext uri="{FF2B5EF4-FFF2-40B4-BE49-F238E27FC236}">
                <a16:creationId xmlns:a16="http://schemas.microsoft.com/office/drawing/2014/main" id="{69D8DA83-FEC9-B47B-76D9-6D8CC4AF35C5}"/>
              </a:ext>
            </a:extLst>
          </p:cNvPr>
          <p:cNvSpPr txBox="1">
            <a:spLocks/>
          </p:cNvSpPr>
          <p:nvPr/>
        </p:nvSpPr>
        <p:spPr>
          <a:xfrm>
            <a:off x="478709" y="646298"/>
            <a:ext cx="11188700" cy="309820"/>
          </a:xfrm>
          <a:prstGeom prst="rect">
            <a:avLst/>
          </a:prstGeom>
        </p:spPr>
        <p:txBody>
          <a:bodyPr vert="horz" lIns="0" tIns="0" rIns="0" bIns="0"/>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800" dirty="0">
                <a:solidFill>
                  <a:srgbClr val="575757"/>
                </a:solidFill>
                <a:latin typeface="Verdana" panose="020B0604030504040204" pitchFamily="34" charset="0"/>
                <a:ea typeface="Verdana" panose="020B0604030504040204" pitchFamily="34" charset="0"/>
                <a:cs typeface="+mn-cs"/>
              </a:rPr>
              <a:t>We have extensive experience in Regulatory affairs for Indian &amp; Global Utility Clients</a:t>
            </a:r>
          </a:p>
        </p:txBody>
      </p:sp>
      <p:graphicFrame>
        <p:nvGraphicFramePr>
          <p:cNvPr id="2" name="Table 16">
            <a:extLst>
              <a:ext uri="{FF2B5EF4-FFF2-40B4-BE49-F238E27FC236}">
                <a16:creationId xmlns:a16="http://schemas.microsoft.com/office/drawing/2014/main" id="{75A81805-C86D-EEB8-A258-7B8FD3A76D71}"/>
              </a:ext>
            </a:extLst>
          </p:cNvPr>
          <p:cNvGraphicFramePr>
            <a:graphicFrameLocks noGrp="1"/>
          </p:cNvGraphicFramePr>
          <p:nvPr>
            <p:extLst>
              <p:ext uri="{D42A27DB-BD31-4B8C-83A1-F6EECF244321}">
                <p14:modId xmlns:p14="http://schemas.microsoft.com/office/powerpoint/2010/main" val="475061749"/>
              </p:ext>
            </p:extLst>
          </p:nvPr>
        </p:nvGraphicFramePr>
        <p:xfrm>
          <a:off x="478710" y="1743077"/>
          <a:ext cx="5531565" cy="3206882"/>
        </p:xfrm>
        <a:graphic>
          <a:graphicData uri="http://schemas.openxmlformats.org/drawingml/2006/table">
            <a:tbl>
              <a:tblPr firstRow="1" bandRow="1">
                <a:tableStyleId>{D27102A9-8310-4765-A935-A1911B00CA55}</a:tableStyleId>
              </a:tblPr>
              <a:tblGrid>
                <a:gridCol w="401789">
                  <a:extLst>
                    <a:ext uri="{9D8B030D-6E8A-4147-A177-3AD203B41FA5}">
                      <a16:colId xmlns:a16="http://schemas.microsoft.com/office/drawing/2014/main" val="2597700788"/>
                    </a:ext>
                  </a:extLst>
                </a:gridCol>
                <a:gridCol w="3291451">
                  <a:extLst>
                    <a:ext uri="{9D8B030D-6E8A-4147-A177-3AD203B41FA5}">
                      <a16:colId xmlns:a16="http://schemas.microsoft.com/office/drawing/2014/main" val="2446518390"/>
                    </a:ext>
                  </a:extLst>
                </a:gridCol>
                <a:gridCol w="952500">
                  <a:extLst>
                    <a:ext uri="{9D8B030D-6E8A-4147-A177-3AD203B41FA5}">
                      <a16:colId xmlns:a16="http://schemas.microsoft.com/office/drawing/2014/main" val="4142655954"/>
                    </a:ext>
                  </a:extLst>
                </a:gridCol>
                <a:gridCol w="885825">
                  <a:extLst>
                    <a:ext uri="{9D8B030D-6E8A-4147-A177-3AD203B41FA5}">
                      <a16:colId xmlns:a16="http://schemas.microsoft.com/office/drawing/2014/main" val="1787850561"/>
                    </a:ext>
                  </a:extLst>
                </a:gridCol>
              </a:tblGrid>
              <a:tr h="657251">
                <a:tc>
                  <a:txBody>
                    <a:bodyPr/>
                    <a:lstStyle/>
                    <a:p>
                      <a:pPr algn="ctr"/>
                      <a:r>
                        <a:rPr lang="en-US" sz="1100" dirty="0">
                          <a:latin typeface="Verdana" panose="020B0604030504040204" pitchFamily="34" charset="0"/>
                          <a:ea typeface="Verdana" panose="020B0604030504040204" pitchFamily="34" charset="0"/>
                        </a:rPr>
                        <a:t>SI No</a:t>
                      </a:r>
                    </a:p>
                  </a:txBody>
                  <a:tcPr anchor="ctr"/>
                </a:tc>
                <a:tc>
                  <a:txBody>
                    <a:bodyPr/>
                    <a:lstStyle/>
                    <a:p>
                      <a:pPr algn="ctr"/>
                      <a:r>
                        <a:rPr lang="en-US" sz="1100" dirty="0">
                          <a:latin typeface="Verdana" panose="020B0604030504040204" pitchFamily="34" charset="0"/>
                          <a:ea typeface="Verdana" panose="020B0604030504040204" pitchFamily="34" charset="0"/>
                        </a:rPr>
                        <a:t>Name of the Engagement</a:t>
                      </a:r>
                    </a:p>
                  </a:txBody>
                  <a:tcPr anchor="ctr"/>
                </a:tc>
                <a:tc>
                  <a:txBody>
                    <a:bodyPr/>
                    <a:lstStyle/>
                    <a:p>
                      <a:pPr algn="ctr"/>
                      <a:r>
                        <a:rPr lang="en-US" sz="1100" dirty="0">
                          <a:latin typeface="Verdana" panose="020B0604030504040204" pitchFamily="34" charset="0"/>
                          <a:ea typeface="Verdana" panose="020B0604030504040204" pitchFamily="34" charset="0"/>
                        </a:rPr>
                        <a:t>Client</a:t>
                      </a:r>
                    </a:p>
                  </a:txBody>
                  <a:tcPr anchor="ctr"/>
                </a:tc>
                <a:tc>
                  <a:txBody>
                    <a:bodyPr/>
                    <a:lstStyle/>
                    <a:p>
                      <a:pPr algn="ctr"/>
                      <a:r>
                        <a:rPr lang="en-US" sz="1100" dirty="0">
                          <a:latin typeface="Verdana" panose="020B0604030504040204" pitchFamily="34" charset="0"/>
                          <a:ea typeface="Verdana" panose="020B0604030504040204" pitchFamily="34" charset="0"/>
                        </a:rPr>
                        <a:t>Year</a:t>
                      </a:r>
                    </a:p>
                  </a:txBody>
                  <a:tcPr anchor="ctr"/>
                </a:tc>
                <a:extLst>
                  <a:ext uri="{0D108BD9-81ED-4DB2-BD59-A6C34878D82A}">
                    <a16:rowId xmlns:a16="http://schemas.microsoft.com/office/drawing/2014/main" val="3079222358"/>
                  </a:ext>
                </a:extLst>
              </a:tr>
              <a:tr h="1122897">
                <a:tc>
                  <a:txBody>
                    <a:bodyPr/>
                    <a:lstStyle/>
                    <a:p>
                      <a:r>
                        <a:rPr lang="en-US" sz="1100" dirty="0">
                          <a:latin typeface="Verdana" panose="020B0604030504040204" pitchFamily="34" charset="0"/>
                          <a:ea typeface="Verdana" panose="020B0604030504040204" pitchFamily="34" charset="0"/>
                        </a:rPr>
                        <a:t>1</a:t>
                      </a:r>
                    </a:p>
                  </a:txBody>
                  <a:tcPr/>
                </a:tc>
                <a:tc>
                  <a:txBody>
                    <a:bodyPr/>
                    <a:lstStyle/>
                    <a:p>
                      <a:r>
                        <a:rPr lang="en-US" sz="1100" dirty="0">
                          <a:latin typeface="Verdana" panose="020B0604030504040204" pitchFamily="34" charset="0"/>
                          <a:ea typeface="Verdana" panose="020B0604030504040204" pitchFamily="34" charset="0"/>
                        </a:rPr>
                        <a:t>Assistance to CERC in design of ancillary service regulations including co-optimization of energy and ancillary services</a:t>
                      </a:r>
                    </a:p>
                    <a:p>
                      <a:endParaRPr lang="en-US" sz="1100" dirty="0">
                        <a:latin typeface="Verdana" panose="020B0604030504040204" pitchFamily="34" charset="0"/>
                        <a:ea typeface="Verdana" panose="020B0604030504040204" pitchFamily="34" charset="0"/>
                      </a:endParaRPr>
                    </a:p>
                    <a:p>
                      <a:r>
                        <a:rPr lang="en-US" sz="1100" dirty="0">
                          <a:latin typeface="Verdana" panose="020B0604030504040204" pitchFamily="34" charset="0"/>
                          <a:ea typeface="Verdana" panose="020B0604030504040204" pitchFamily="34" charset="0"/>
                        </a:rPr>
                        <a:t>(under the GTG-RISE initiative)</a:t>
                      </a:r>
                    </a:p>
                  </a:txBody>
                  <a:tcPr/>
                </a:tc>
                <a:tc>
                  <a:txBody>
                    <a:bodyPr/>
                    <a:lstStyle/>
                    <a:p>
                      <a:r>
                        <a:rPr lang="en-US" sz="1100" dirty="0">
                          <a:latin typeface="Verdana" panose="020B0604030504040204" pitchFamily="34" charset="0"/>
                          <a:ea typeface="Verdana" panose="020B0604030504040204" pitchFamily="34" charset="0"/>
                        </a:rPr>
                        <a:t>CERC</a:t>
                      </a:r>
                    </a:p>
                  </a:txBody>
                  <a:tcPr/>
                </a:tc>
                <a:tc>
                  <a:txBody>
                    <a:bodyPr/>
                    <a:lstStyle/>
                    <a:p>
                      <a:r>
                        <a:rPr lang="en-US" sz="1100" dirty="0">
                          <a:latin typeface="Verdana" panose="020B0604030504040204" pitchFamily="34" charset="0"/>
                          <a:ea typeface="Verdana" panose="020B0604030504040204" pitchFamily="34" charset="0"/>
                        </a:rPr>
                        <a:t>2019-20</a:t>
                      </a:r>
                    </a:p>
                  </a:txBody>
                  <a:tcPr/>
                </a:tc>
                <a:extLst>
                  <a:ext uri="{0D108BD9-81ED-4DB2-BD59-A6C34878D82A}">
                    <a16:rowId xmlns:a16="http://schemas.microsoft.com/office/drawing/2014/main" val="4207776433"/>
                  </a:ext>
                </a:extLst>
              </a:tr>
              <a:tr h="1426734">
                <a:tc>
                  <a:txBody>
                    <a:bodyPr/>
                    <a:lstStyle/>
                    <a:p>
                      <a:r>
                        <a:rPr lang="en-US" sz="1100" dirty="0">
                          <a:latin typeface="Verdana" panose="020B0604030504040204" pitchFamily="34" charset="0"/>
                          <a:ea typeface="Verdana" panose="020B0604030504040204" pitchFamily="34" charset="0"/>
                        </a:rPr>
                        <a:t>2</a:t>
                      </a:r>
                    </a:p>
                  </a:txBody>
                  <a:tcPr/>
                </a:tc>
                <a:tc>
                  <a:txBody>
                    <a:bodyPr/>
                    <a:lstStyle/>
                    <a:p>
                      <a:pPr algn="just">
                        <a:lnSpc>
                          <a:spcPct val="107000"/>
                        </a:lnSpc>
                        <a:spcAft>
                          <a:spcPts val="800"/>
                        </a:spcAft>
                      </a:pPr>
                      <a:r>
                        <a:rPr lang="en-US" sz="1100" dirty="0">
                          <a:latin typeface="Verdana" panose="020B0604030504040204" pitchFamily="34" charset="0"/>
                          <a:ea typeface="Verdana" panose="020B0604030504040204" pitchFamily="34" charset="0"/>
                        </a:rPr>
                        <a:t>Assistance to CERC in modelling benefits estimation Real time markets and technical assistance </a:t>
                      </a:r>
                    </a:p>
                    <a:p>
                      <a:pPr algn="just">
                        <a:lnSpc>
                          <a:spcPct val="107000"/>
                        </a:lnSpc>
                        <a:spcAft>
                          <a:spcPts val="800"/>
                        </a:spcAft>
                      </a:pPr>
                      <a:r>
                        <a:rPr lang="en-US" sz="1100" dirty="0">
                          <a:latin typeface="Verdana" panose="020B0604030504040204" pitchFamily="34" charset="0"/>
                          <a:ea typeface="Verdana" panose="020B0604030504040204" pitchFamily="34" charset="0"/>
                        </a:rPr>
                        <a:t>(under the GTG-RISE initiative)</a:t>
                      </a:r>
                    </a:p>
                  </a:txBody>
                  <a:tcPr/>
                </a:tc>
                <a:tc>
                  <a:txBody>
                    <a:bodyPr/>
                    <a:lstStyle/>
                    <a:p>
                      <a:r>
                        <a:rPr lang="en-US" sz="1100" dirty="0">
                          <a:latin typeface="Verdana" panose="020B0604030504040204" pitchFamily="34" charset="0"/>
                          <a:ea typeface="Verdana" panose="020B0604030504040204" pitchFamily="34" charset="0"/>
                        </a:rPr>
                        <a:t>USAID-CERC</a:t>
                      </a:r>
                    </a:p>
                  </a:txBody>
                  <a:tcPr/>
                </a:tc>
                <a:tc>
                  <a:txBody>
                    <a:bodyPr/>
                    <a:lstStyle/>
                    <a:p>
                      <a:r>
                        <a:rPr lang="en-US" sz="1100" dirty="0">
                          <a:latin typeface="Verdana" panose="020B0604030504040204" pitchFamily="34" charset="0"/>
                          <a:ea typeface="Verdana" panose="020B0604030504040204" pitchFamily="34" charset="0"/>
                        </a:rPr>
                        <a:t>2018-2019</a:t>
                      </a:r>
                    </a:p>
                  </a:txBody>
                  <a:tcPr/>
                </a:tc>
                <a:extLst>
                  <a:ext uri="{0D108BD9-81ED-4DB2-BD59-A6C34878D82A}">
                    <a16:rowId xmlns:a16="http://schemas.microsoft.com/office/drawing/2014/main" val="882408060"/>
                  </a:ext>
                </a:extLst>
              </a:tr>
            </a:tbl>
          </a:graphicData>
        </a:graphic>
      </p:graphicFrame>
      <p:graphicFrame>
        <p:nvGraphicFramePr>
          <p:cNvPr id="14" name="Table 16">
            <a:extLst>
              <a:ext uri="{FF2B5EF4-FFF2-40B4-BE49-F238E27FC236}">
                <a16:creationId xmlns:a16="http://schemas.microsoft.com/office/drawing/2014/main" id="{42A23BF2-4FCF-A384-3F71-40D85174880B}"/>
              </a:ext>
            </a:extLst>
          </p:cNvPr>
          <p:cNvGraphicFramePr>
            <a:graphicFrameLocks noGrp="1"/>
          </p:cNvGraphicFramePr>
          <p:nvPr>
            <p:extLst>
              <p:ext uri="{D42A27DB-BD31-4B8C-83A1-F6EECF244321}">
                <p14:modId xmlns:p14="http://schemas.microsoft.com/office/powerpoint/2010/main" val="1549617867"/>
              </p:ext>
            </p:extLst>
          </p:nvPr>
        </p:nvGraphicFramePr>
        <p:xfrm>
          <a:off x="6286461" y="1743077"/>
          <a:ext cx="5616573" cy="3206882"/>
        </p:xfrm>
        <a:graphic>
          <a:graphicData uri="http://schemas.openxmlformats.org/drawingml/2006/table">
            <a:tbl>
              <a:tblPr firstRow="1" bandRow="1">
                <a:tableStyleId>{D27102A9-8310-4765-A935-A1911B00CA55}</a:tableStyleId>
              </a:tblPr>
              <a:tblGrid>
                <a:gridCol w="507607">
                  <a:extLst>
                    <a:ext uri="{9D8B030D-6E8A-4147-A177-3AD203B41FA5}">
                      <a16:colId xmlns:a16="http://schemas.microsoft.com/office/drawing/2014/main" val="2597700788"/>
                    </a:ext>
                  </a:extLst>
                </a:gridCol>
                <a:gridCol w="3440348">
                  <a:extLst>
                    <a:ext uri="{9D8B030D-6E8A-4147-A177-3AD203B41FA5}">
                      <a16:colId xmlns:a16="http://schemas.microsoft.com/office/drawing/2014/main" val="2446518390"/>
                    </a:ext>
                  </a:extLst>
                </a:gridCol>
                <a:gridCol w="772263">
                  <a:extLst>
                    <a:ext uri="{9D8B030D-6E8A-4147-A177-3AD203B41FA5}">
                      <a16:colId xmlns:a16="http://schemas.microsoft.com/office/drawing/2014/main" val="4142655954"/>
                    </a:ext>
                  </a:extLst>
                </a:gridCol>
                <a:gridCol w="896355">
                  <a:extLst>
                    <a:ext uri="{9D8B030D-6E8A-4147-A177-3AD203B41FA5}">
                      <a16:colId xmlns:a16="http://schemas.microsoft.com/office/drawing/2014/main" val="1787850561"/>
                    </a:ext>
                  </a:extLst>
                </a:gridCol>
              </a:tblGrid>
              <a:tr h="671666">
                <a:tc>
                  <a:txBody>
                    <a:bodyPr/>
                    <a:lstStyle/>
                    <a:p>
                      <a:pPr algn="ctr"/>
                      <a:r>
                        <a:rPr lang="en-US" sz="1100" dirty="0">
                          <a:latin typeface="Verdana" panose="020B0604030504040204" pitchFamily="34" charset="0"/>
                          <a:ea typeface="Verdana" panose="020B0604030504040204" pitchFamily="34" charset="0"/>
                        </a:rPr>
                        <a:t>SI No</a:t>
                      </a:r>
                    </a:p>
                  </a:txBody>
                  <a:tcPr anchor="ctr"/>
                </a:tc>
                <a:tc>
                  <a:txBody>
                    <a:bodyPr/>
                    <a:lstStyle/>
                    <a:p>
                      <a:pPr algn="ctr"/>
                      <a:r>
                        <a:rPr lang="en-US" sz="1100" dirty="0">
                          <a:latin typeface="Verdana" panose="020B0604030504040204" pitchFamily="34" charset="0"/>
                          <a:ea typeface="Verdana" panose="020B0604030504040204" pitchFamily="34" charset="0"/>
                        </a:rPr>
                        <a:t>Name of the Engagement</a:t>
                      </a:r>
                    </a:p>
                  </a:txBody>
                  <a:tcPr anchor="ctr"/>
                </a:tc>
                <a:tc>
                  <a:txBody>
                    <a:bodyPr/>
                    <a:lstStyle/>
                    <a:p>
                      <a:pPr algn="ctr"/>
                      <a:r>
                        <a:rPr lang="en-US" sz="1100" dirty="0">
                          <a:latin typeface="Verdana" panose="020B0604030504040204" pitchFamily="34" charset="0"/>
                          <a:ea typeface="Verdana" panose="020B0604030504040204" pitchFamily="34" charset="0"/>
                        </a:rPr>
                        <a:t>Client</a:t>
                      </a:r>
                    </a:p>
                  </a:txBody>
                  <a:tcPr anchor="ctr"/>
                </a:tc>
                <a:tc>
                  <a:txBody>
                    <a:bodyPr/>
                    <a:lstStyle/>
                    <a:p>
                      <a:pPr algn="ctr"/>
                      <a:r>
                        <a:rPr lang="en-US" sz="1100" dirty="0">
                          <a:latin typeface="Verdana" panose="020B0604030504040204" pitchFamily="34" charset="0"/>
                          <a:ea typeface="Verdana" panose="020B0604030504040204" pitchFamily="34" charset="0"/>
                        </a:rPr>
                        <a:t>Year</a:t>
                      </a:r>
                    </a:p>
                  </a:txBody>
                  <a:tcPr anchor="ctr"/>
                </a:tc>
                <a:extLst>
                  <a:ext uri="{0D108BD9-81ED-4DB2-BD59-A6C34878D82A}">
                    <a16:rowId xmlns:a16="http://schemas.microsoft.com/office/drawing/2014/main" val="3079222358"/>
                  </a:ext>
                </a:extLst>
              </a:tr>
              <a:tr h="1120380">
                <a:tc>
                  <a:txBody>
                    <a:bodyPr/>
                    <a:lstStyle/>
                    <a:p>
                      <a:r>
                        <a:rPr lang="en-US" sz="1100" dirty="0"/>
                        <a:t>3</a:t>
                      </a:r>
                    </a:p>
                  </a:txBody>
                  <a:tcPr/>
                </a:tc>
                <a:tc>
                  <a:txBody>
                    <a:bodyPr/>
                    <a:lstStyle/>
                    <a:p>
                      <a:r>
                        <a:rPr lang="en-US" sz="1100" dirty="0">
                          <a:latin typeface="Verdana" panose="020B0604030504040204" pitchFamily="34" charset="0"/>
                          <a:ea typeface="Verdana" panose="020B0604030504040204" pitchFamily="34" charset="0"/>
                        </a:rPr>
                        <a:t>Assistance to CERC in demonstration of Day ahead Market Based Economic Dispatch (MBED) mechanism</a:t>
                      </a:r>
                    </a:p>
                    <a:p>
                      <a:endParaRPr lang="en-US" sz="1100" dirty="0">
                        <a:latin typeface="Verdana" panose="020B0604030504040204" pitchFamily="34" charset="0"/>
                        <a:ea typeface="Verdana" panose="020B0604030504040204" pitchFamily="34" charset="0"/>
                      </a:endParaRPr>
                    </a:p>
                    <a:p>
                      <a:endParaRPr lang="en-US" sz="1100" dirty="0">
                        <a:latin typeface="Verdana" panose="020B0604030504040204" pitchFamily="34" charset="0"/>
                        <a:ea typeface="Verdana" panose="020B0604030504040204" pitchFamily="34" charset="0"/>
                      </a:endParaRPr>
                    </a:p>
                    <a:p>
                      <a:r>
                        <a:rPr lang="en-US" sz="1100" dirty="0">
                          <a:latin typeface="Verdana" panose="020B0604030504040204" pitchFamily="34" charset="0"/>
                          <a:ea typeface="Verdana" panose="020B0604030504040204" pitchFamily="34" charset="0"/>
                        </a:rPr>
                        <a:t>(under the GTG-RISE initiative)</a:t>
                      </a:r>
                    </a:p>
                  </a:txBody>
                  <a:tcPr/>
                </a:tc>
                <a:tc>
                  <a:txBody>
                    <a:bodyPr/>
                    <a:lstStyle/>
                    <a:p>
                      <a:r>
                        <a:rPr lang="en-US" sz="1100" dirty="0">
                          <a:latin typeface="Verdana" panose="020B0604030504040204" pitchFamily="34" charset="0"/>
                          <a:ea typeface="Verdana" panose="020B0604030504040204" pitchFamily="34" charset="0"/>
                        </a:rPr>
                        <a:t>USAID CERC</a:t>
                      </a:r>
                    </a:p>
                  </a:txBody>
                  <a:tcPr/>
                </a:tc>
                <a:tc>
                  <a:txBody>
                    <a:bodyPr/>
                    <a:lstStyle/>
                    <a:p>
                      <a:r>
                        <a:rPr lang="en-US" sz="1100" dirty="0">
                          <a:latin typeface="Verdana" panose="020B0604030504040204" pitchFamily="34" charset="0"/>
                          <a:ea typeface="Verdana" panose="020B0604030504040204" pitchFamily="34" charset="0"/>
                        </a:rPr>
                        <a:t>2019-2020</a:t>
                      </a:r>
                    </a:p>
                  </a:txBody>
                  <a:tcPr/>
                </a:tc>
                <a:extLst>
                  <a:ext uri="{0D108BD9-81ED-4DB2-BD59-A6C34878D82A}">
                    <a16:rowId xmlns:a16="http://schemas.microsoft.com/office/drawing/2014/main" val="4207776433"/>
                  </a:ext>
                </a:extLst>
              </a:tr>
              <a:tr h="1414836">
                <a:tc>
                  <a:txBody>
                    <a:bodyPr/>
                    <a:lstStyle/>
                    <a:p>
                      <a:r>
                        <a:rPr lang="en-US" sz="1100" dirty="0"/>
                        <a:t>4</a:t>
                      </a:r>
                    </a:p>
                  </a:txBody>
                  <a:tcPr/>
                </a:tc>
                <a:tc>
                  <a:txBody>
                    <a:bodyPr/>
                    <a:lstStyle/>
                    <a:p>
                      <a:pPr algn="just">
                        <a:lnSpc>
                          <a:spcPct val="107000"/>
                        </a:lnSpc>
                        <a:spcAft>
                          <a:spcPts val="800"/>
                        </a:spcAft>
                      </a:pPr>
                      <a:r>
                        <a:rPr lang="en-US" sz="1100" dirty="0">
                          <a:latin typeface="Verdana" panose="020B0604030504040204" pitchFamily="34" charset="0"/>
                          <a:ea typeface="Verdana" panose="020B0604030504040204" pitchFamily="34" charset="0"/>
                        </a:rPr>
                        <a:t>Assistance to CERC in modelling benefits estimation of Security constrained economic dispatch mechanism for ISGS generators proposed by POSOCO</a:t>
                      </a:r>
                    </a:p>
                    <a:p>
                      <a:pPr algn="just">
                        <a:lnSpc>
                          <a:spcPct val="107000"/>
                        </a:lnSpc>
                        <a:spcAft>
                          <a:spcPts val="800"/>
                        </a:spcAft>
                      </a:pPr>
                      <a:r>
                        <a:rPr lang="en-US" sz="1100" dirty="0">
                          <a:latin typeface="Verdana" panose="020B0604030504040204" pitchFamily="34" charset="0"/>
                          <a:ea typeface="Verdana" panose="020B0604030504040204" pitchFamily="34" charset="0"/>
                        </a:rPr>
                        <a:t>(under the GTG-RISE initiative)</a:t>
                      </a:r>
                    </a:p>
                    <a:p>
                      <a:pPr algn="just">
                        <a:lnSpc>
                          <a:spcPct val="107000"/>
                        </a:lnSpc>
                        <a:spcAft>
                          <a:spcPts val="800"/>
                        </a:spcAft>
                      </a:pPr>
                      <a:endParaRPr lang="en-US" sz="1100" dirty="0">
                        <a:latin typeface="Verdana" panose="020B0604030504040204" pitchFamily="34" charset="0"/>
                        <a:ea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rPr>
                        <a:t>USAID-CERC</a:t>
                      </a:r>
                    </a:p>
                  </a:txBody>
                  <a:tcPr/>
                </a:tc>
                <a:tc>
                  <a:txBody>
                    <a:bodyPr/>
                    <a:lstStyle/>
                    <a:p>
                      <a:r>
                        <a:rPr lang="en-US" sz="1100" dirty="0">
                          <a:latin typeface="Verdana" panose="020B0604030504040204" pitchFamily="34" charset="0"/>
                          <a:ea typeface="Verdana" panose="020B0604030504040204" pitchFamily="34" charset="0"/>
                        </a:rPr>
                        <a:t>2019-2020</a:t>
                      </a:r>
                    </a:p>
                  </a:txBody>
                  <a:tcPr/>
                </a:tc>
                <a:extLst>
                  <a:ext uri="{0D108BD9-81ED-4DB2-BD59-A6C34878D82A}">
                    <a16:rowId xmlns:a16="http://schemas.microsoft.com/office/drawing/2014/main" val="882408060"/>
                  </a:ext>
                </a:extLst>
              </a:tr>
            </a:tbl>
          </a:graphicData>
        </a:graphic>
      </p:graphicFrame>
    </p:spTree>
    <p:extLst>
      <p:ext uri="{BB962C8B-B14F-4D97-AF65-F5344CB8AC3E}">
        <p14:creationId xmlns:p14="http://schemas.microsoft.com/office/powerpoint/2010/main" val="2323100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F42EA71-A24F-4AA2-A7CB-2005283F19A6}"/>
              </a:ext>
            </a:extLst>
          </p:cNvPr>
          <p:cNvGrpSpPr>
            <a:grpSpLocks noChangeAspect="1"/>
          </p:cNvGrpSpPr>
          <p:nvPr/>
        </p:nvGrpSpPr>
        <p:grpSpPr>
          <a:xfrm>
            <a:off x="571099" y="3770120"/>
            <a:ext cx="1998000" cy="374400"/>
            <a:chOff x="398463" y="404813"/>
            <a:chExt cx="1627187" cy="307976"/>
          </a:xfrm>
          <a:solidFill>
            <a:sysClr val="windowText" lastClr="000000"/>
          </a:solidFill>
        </p:grpSpPr>
        <p:sp>
          <p:nvSpPr>
            <p:cNvPr id="3" name="Oval 5">
              <a:extLst>
                <a:ext uri="{FF2B5EF4-FFF2-40B4-BE49-F238E27FC236}">
                  <a16:creationId xmlns:a16="http://schemas.microsoft.com/office/drawing/2014/main" id="{F981A01C-744D-43C7-9F7B-08D94DECA43E}"/>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Freeform 6">
              <a:extLst>
                <a:ext uri="{FF2B5EF4-FFF2-40B4-BE49-F238E27FC236}">
                  <a16:creationId xmlns:a16="http://schemas.microsoft.com/office/drawing/2014/main" id="{43A74E7B-C465-4931-AADF-9F6F47F3EF7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5" name="Rectangle 7">
              <a:extLst>
                <a:ext uri="{FF2B5EF4-FFF2-40B4-BE49-F238E27FC236}">
                  <a16:creationId xmlns:a16="http://schemas.microsoft.com/office/drawing/2014/main" id="{35A5EF93-A930-4B56-9152-1C33D56AAE97}"/>
                </a:ext>
              </a:extLst>
            </p:cNvPr>
            <p:cNvSpPr>
              <a:spLocks noChangeArrowheads="1"/>
            </p:cNvSpPr>
            <p:nvPr/>
          </p:nvSpPr>
          <p:spPr bwMode="auto">
            <a:xfrm>
              <a:off x="906463" y="404813"/>
              <a:ext cx="74612" cy="303213"/>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6" name="Freeform 8">
              <a:extLst>
                <a:ext uri="{FF2B5EF4-FFF2-40B4-BE49-F238E27FC236}">
                  <a16:creationId xmlns:a16="http://schemas.microsoft.com/office/drawing/2014/main" id="{38DC78DE-D97F-45B6-9EFA-FDB6C9ED1A72}"/>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7" name="Rectangle 9">
              <a:extLst>
                <a:ext uri="{FF2B5EF4-FFF2-40B4-BE49-F238E27FC236}">
                  <a16:creationId xmlns:a16="http://schemas.microsoft.com/office/drawing/2014/main" id="{F4051447-1DAE-488E-B2E4-7AED8FAC0AC6}"/>
                </a:ext>
              </a:extLst>
            </p:cNvPr>
            <p:cNvSpPr>
              <a:spLocks noChangeArrowheads="1"/>
            </p:cNvSpPr>
            <p:nvPr/>
          </p:nvSpPr>
          <p:spPr bwMode="auto">
            <a:xfrm>
              <a:off x="1257300" y="482601"/>
              <a:ext cx="74612" cy="225425"/>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8" name="Rectangle 10">
              <a:extLst>
                <a:ext uri="{FF2B5EF4-FFF2-40B4-BE49-F238E27FC236}">
                  <a16:creationId xmlns:a16="http://schemas.microsoft.com/office/drawing/2014/main" id="{A166D7A8-CD29-4000-BBE8-949C738D595A}"/>
                </a:ext>
              </a:extLst>
            </p:cNvPr>
            <p:cNvSpPr>
              <a:spLocks noChangeArrowheads="1"/>
            </p:cNvSpPr>
            <p:nvPr/>
          </p:nvSpPr>
          <p:spPr bwMode="auto">
            <a:xfrm>
              <a:off x="1257300" y="404813"/>
              <a:ext cx="74612" cy="50800"/>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9" name="Freeform 11">
              <a:extLst>
                <a:ext uri="{FF2B5EF4-FFF2-40B4-BE49-F238E27FC236}">
                  <a16:creationId xmlns:a16="http://schemas.microsoft.com/office/drawing/2014/main" id="{C52666B7-2FCE-40D8-AEB3-8E19B5ACE3CA}"/>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10" name="Freeform 12">
              <a:extLst>
                <a:ext uri="{FF2B5EF4-FFF2-40B4-BE49-F238E27FC236}">
                  <a16:creationId xmlns:a16="http://schemas.microsoft.com/office/drawing/2014/main" id="{1539E7FF-B349-4DE1-9ACD-8129A493C44F}"/>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11" name="Freeform 13">
              <a:extLst>
                <a:ext uri="{FF2B5EF4-FFF2-40B4-BE49-F238E27FC236}">
                  <a16:creationId xmlns:a16="http://schemas.microsoft.com/office/drawing/2014/main" id="{0530FDDE-F0F3-4FA8-B634-E2EADEECE2AF}"/>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sp>
          <p:nvSpPr>
            <p:cNvPr id="12" name="Freeform 14">
              <a:extLst>
                <a:ext uri="{FF2B5EF4-FFF2-40B4-BE49-F238E27FC236}">
                  <a16:creationId xmlns:a16="http://schemas.microsoft.com/office/drawing/2014/main" id="{61D11A46-3957-4517-AA0A-CAB5DDFEA272}"/>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13" name="Rectangle 12">
            <a:extLst>
              <a:ext uri="{FF2B5EF4-FFF2-40B4-BE49-F238E27FC236}">
                <a16:creationId xmlns:a16="http://schemas.microsoft.com/office/drawing/2014/main" id="{C3BE6FFA-6AE0-4E09-90A4-9B26A87CFF20}"/>
              </a:ext>
            </a:extLst>
          </p:cNvPr>
          <p:cNvSpPr/>
          <p:nvPr/>
        </p:nvSpPr>
        <p:spPr bwMode="gray">
          <a:xfrm>
            <a:off x="411843" y="4413566"/>
            <a:ext cx="11123674" cy="1938992"/>
          </a:xfrm>
          <a:prstGeom prst="rect">
            <a:avLst/>
          </a:prstGeom>
          <a:solidFill>
            <a:schemeClr val="bg1">
              <a:alpha val="0"/>
            </a:schemeClr>
          </a:solid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latin typeface="Verdana" panose="020B0604030504040204" pitchFamily="34" charset="0"/>
                <a:ea typeface="+mn-ea"/>
                <a:cs typeface="+mn-cs"/>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latin typeface="Verdana" panose="020B0604030504040204" pitchFamily="34" charset="0"/>
                <a:ea typeface="+mn-ea"/>
                <a:cs typeface="+mn-cs"/>
              </a:rPr>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latin typeface="Verdana" panose="020B0604030504040204" pitchFamily="34" charset="0"/>
                <a:ea typeface="+mn-ea"/>
                <a:cs typeface="+mn-cs"/>
              </a:rPr>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effectLst/>
                <a:uLnTx/>
                <a:uFillTx/>
                <a:latin typeface="Verdana" panose="020B0604030504040204" pitchFamily="34" charset="0"/>
                <a:ea typeface="+mn-ea"/>
                <a:cs typeface="+mn-cs"/>
              </a:rPr>
              <a:t>©2021 Deloitte Touche Tohmatsu India LLP. Member of Deloitte Touche Tohmatsu Limited</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effectLst/>
                <a:uLnTx/>
                <a:uFillTx/>
                <a:latin typeface="Verdana" panose="020B0604030504040204" pitchFamily="34" charset="0"/>
                <a:ea typeface="+mn-ea"/>
                <a:cs typeface="+mn-cs"/>
              </a:rPr>
              <a:t>Deloitte Touche Tohmatsu India Private Limited (U74140MH199 5PTC093339), a private company limited by shares, was converted into Deloitte Touche Tohmatsu India LLP, a limited liability partnership (LLP Identification No. AAE-8458),with effect from October 1, 2015.</a:t>
            </a:r>
            <a:endParaRPr kumimoji="0" lang="en-IN" sz="1000" b="0" i="0" u="none" strike="noStrike" kern="1200" cap="none" spc="0" normalizeH="0" baseline="0" noProof="0" dirty="0">
              <a:ln>
                <a:noFill/>
              </a:ln>
              <a:effectLst/>
              <a:uLnTx/>
              <a:uFillTx/>
              <a:latin typeface="Calibri"/>
              <a:ea typeface="+mn-ea"/>
              <a:cs typeface="+mn-cs"/>
            </a:endParaRPr>
          </a:p>
        </p:txBody>
      </p:sp>
    </p:spTree>
    <p:extLst>
      <p:ext uri="{BB962C8B-B14F-4D97-AF65-F5344CB8AC3E}">
        <p14:creationId xmlns:p14="http://schemas.microsoft.com/office/powerpoint/2010/main" val="29435174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v8iljpbMvHFtdW9MOsRrF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v8iljpbMvHFtdW9MOsRrF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2020_Colors">
  <a:themeElements>
    <a:clrScheme name="Deloitte 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loitte_2020_Colors" id="{A79A4BA5-B872-40F5-B636-E5D7C4421FAA}" vid="{99BB356E-500B-406D-B23F-8F15CA7A314B}"/>
    </a:ext>
  </a:extLst>
</a:theme>
</file>

<file path=ppt/theme/theme2.xml><?xml version="1.0" encoding="utf-8"?>
<a:theme xmlns:a="http://schemas.openxmlformats.org/drawingml/2006/main" name="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3.xml><?xml version="1.0" encoding="utf-8"?>
<a:theme xmlns:a="http://schemas.openxmlformats.org/drawingml/2006/main" name="1_Deloitte_2020_Colors">
  <a:themeElements>
    <a:clrScheme name="Deloitte 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loitte_2020_Colors" id="{A79A4BA5-B872-40F5-B636-E5D7C4421FAA}" vid="{99BB356E-500B-406D-B23F-8F15CA7A314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eloitte 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themeOverride>
</file>

<file path=ppt/theme/themeOverride2.xml><?xml version="1.0" encoding="utf-8"?>
<a:themeOverride xmlns:a="http://schemas.openxmlformats.org/drawingml/2006/main">
  <a:clrScheme name="Deloitte 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themeOverride>
</file>

<file path=ppt/theme/themeOverride3.xml><?xml version="1.0" encoding="utf-8"?>
<a:themeOverride xmlns:a="http://schemas.openxmlformats.org/drawingml/2006/main">
  <a:clrScheme name="Deloitte 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themeOverride>
</file>

<file path=ppt/theme/themeOverride4.xml><?xml version="1.0" encoding="utf-8"?>
<a:themeOverride xmlns:a="http://schemas.openxmlformats.org/drawingml/2006/main">
  <a:clrScheme name="Deloitte 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themeOverride>
</file>

<file path=ppt/theme/themeOverride5.xml><?xml version="1.0" encoding="utf-8"?>
<a:themeOverride xmlns:a="http://schemas.openxmlformats.org/drawingml/2006/main">
  <a:clrScheme name="Deloitte 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themeOverride>
</file>

<file path=ppt/theme/themeOverride6.xml><?xml version="1.0" encoding="utf-8"?>
<a:themeOverride xmlns:a="http://schemas.openxmlformats.org/drawingml/2006/main">
  <a:clrScheme name="Deloitte 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BBE7610D-3233-4127-ADFE-9A3B08D24B21}"/>
</file>

<file path=customXml/itemProps2.xml><?xml version="1.0" encoding="utf-8"?>
<ds:datastoreItem xmlns:ds="http://schemas.openxmlformats.org/officeDocument/2006/customXml" ds:itemID="{94A2B564-67E8-4BB9-A48A-F65B270D0274}"/>
</file>

<file path=customXml/itemProps3.xml><?xml version="1.0" encoding="utf-8"?>
<ds:datastoreItem xmlns:ds="http://schemas.openxmlformats.org/officeDocument/2006/customXml" ds:itemID="{41D81057-F53A-443C-A888-DA0255DA9BF4}"/>
</file>

<file path=docProps/app.xml><?xml version="1.0" encoding="utf-8"?>
<Properties xmlns="http://schemas.openxmlformats.org/officeDocument/2006/extended-properties" xmlns:vt="http://schemas.openxmlformats.org/officeDocument/2006/docPropsVTypes">
  <Template>Default Theme</Template>
  <TotalTime>24739</TotalTime>
  <Words>6174</Words>
  <Application>Microsoft Office PowerPoint</Application>
  <PresentationFormat>Widescreen</PresentationFormat>
  <Paragraphs>819</Paragraphs>
  <Slides>32</Slides>
  <Notes>0</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32</vt:i4>
      </vt:variant>
    </vt:vector>
  </HeadingPairs>
  <TitlesOfParts>
    <vt:vector size="44" baseType="lpstr">
      <vt:lpstr>Arial</vt:lpstr>
      <vt:lpstr>Calibri</vt:lpstr>
      <vt:lpstr>Calibri Light</vt:lpstr>
      <vt:lpstr>Courier New</vt:lpstr>
      <vt:lpstr>Impact</vt:lpstr>
      <vt:lpstr>Open Sans</vt:lpstr>
      <vt:lpstr>Verdana</vt:lpstr>
      <vt:lpstr>Wingdings 2</vt:lpstr>
      <vt:lpstr>Deloitte_2020_Colors</vt:lpstr>
      <vt:lpstr>Deloitte Brand Theme</vt:lpstr>
      <vt:lpstr>1_Deloitte_2020_Colors</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Fixed Asset Lifecycle</dc:title>
  <dc:creator>Dhawan, Shubham</dc:creator>
  <cp:lastModifiedBy>Kulkarni, Rajeev</cp:lastModifiedBy>
  <cp:revision>801</cp:revision>
  <dcterms:created xsi:type="dcterms:W3CDTF">2021-06-25T08:46:20Z</dcterms:created>
  <dcterms:modified xsi:type="dcterms:W3CDTF">2024-10-19T02:51:00Z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2021-08-13T09:37:47Z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369b3b59-11b4-4e45-8f8b-27c852714acb</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