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3.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xml" ContentType="application/vnd.openxmlformats-officedocument.presentationml.notesSlide+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notesSlides/notesSlide3.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4"/>
    <p:sldMasterId id="2147483876" r:id="rId5"/>
  </p:sldMasterIdLst>
  <p:notesMasterIdLst>
    <p:notesMasterId r:id="rId20"/>
  </p:notesMasterIdLst>
  <p:sldIdLst>
    <p:sldId id="2363" r:id="rId6"/>
    <p:sldId id="2364" r:id="rId7"/>
    <p:sldId id="494" r:id="rId8"/>
    <p:sldId id="2545" r:id="rId9"/>
    <p:sldId id="2534" r:id="rId10"/>
    <p:sldId id="2544" r:id="rId11"/>
    <p:sldId id="2551" r:id="rId12"/>
    <p:sldId id="2550" r:id="rId13"/>
    <p:sldId id="2541" r:id="rId14"/>
    <p:sldId id="2548" r:id="rId15"/>
    <p:sldId id="481" r:id="rId16"/>
    <p:sldId id="956" r:id="rId17"/>
    <p:sldId id="962" r:id="rId18"/>
    <p:sldId id="2542" r:id="rId19"/>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iharan, P." initials="HP [3]" lastIdx="5" clrIdx="0">
    <p:extLst>
      <p:ext uri="{19B8F6BF-5375-455C-9EA6-DF929625EA0E}">
        <p15:presenceInfo xmlns:p15="http://schemas.microsoft.com/office/powerpoint/2012/main" userId="Hariharan, P." providerId="None"/>
      </p:ext>
    </p:extLst>
  </p:cmAuthor>
  <p:cmAuthor id="2" name="Dhawan, Shubham" initials="DS" lastIdx="11" clrIdx="1">
    <p:extLst>
      <p:ext uri="{19B8F6BF-5375-455C-9EA6-DF929625EA0E}">
        <p15:presenceInfo xmlns:p15="http://schemas.microsoft.com/office/powerpoint/2012/main" userId="S::shudhawan@deloitte.com::e457b5f3-1f3d-4d58-917e-9019c3073c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6890D"/>
    <a:srgbClr val="005587"/>
    <a:srgbClr val="0D8390"/>
    <a:srgbClr val="DDEFE8"/>
    <a:srgbClr val="43B02A"/>
    <a:srgbClr val="7DC66C"/>
    <a:srgbClr val="59A8B1"/>
    <a:srgbClr val="595959"/>
    <a:srgbClr val="007CB0"/>
    <a:srgbClr val="0A62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698192-57B0-4459-A99E-03C9A57462BD}" v="3906" dt="2022-09-02T11:52:23.678"/>
    <p1510:client id="{F977902A-4112-4E16-9DCD-2444F5CF15AF}" v="6277" dt="2022-09-02T11:57:21.2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796" autoAdjust="0"/>
  </p:normalViewPr>
  <p:slideViewPr>
    <p:cSldViewPr snapToGrid="0">
      <p:cViewPr varScale="1">
        <p:scale>
          <a:sx n="76" d="100"/>
          <a:sy n="76" d="100"/>
        </p:scale>
        <p:origin x="20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ommentAuthors" Target="commentAuthors.xml"/><Relationship Id="rId27"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65E31-F2C7-452E-AAF0-EEC4157B9CED}" type="datetimeFigureOut">
              <a:rPr lang="en-US" smtClean="0"/>
              <a:t>9/8/2022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D044BE-11C7-4C57-A70A-A3F7098084E8}" type="slidenum">
              <a:rPr lang="en-US" smtClean="0"/>
              <a:t>‹#›</a:t>
            </a:fld>
            <a:endParaRPr lang="en-US"/>
          </a:p>
        </p:txBody>
      </p:sp>
    </p:spTree>
    <p:extLst>
      <p:ext uri="{BB962C8B-B14F-4D97-AF65-F5344CB8AC3E}">
        <p14:creationId xmlns:p14="http://schemas.microsoft.com/office/powerpoint/2010/main" val="1981098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3646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0604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6718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03449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vmlDrawing" Target="../drawings/vmlDrawing4.v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5.vml"/><Relationship Id="rId6" Type="http://schemas.openxmlformats.org/officeDocument/2006/relationships/image" Target="../media/image4.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vmlDrawing" Target="../drawings/vmlDrawing6.vml"/><Relationship Id="rId6" Type="http://schemas.openxmlformats.org/officeDocument/2006/relationships/image" Target="../media/image4.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7.vml"/><Relationship Id="rId6" Type="http://schemas.openxmlformats.org/officeDocument/2006/relationships/image" Target="../media/image4.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vmlDrawing" Target="../drawings/vmlDrawing8.vml"/><Relationship Id="rId6" Type="http://schemas.openxmlformats.org/officeDocument/2006/relationships/image" Target="../media/image4.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vmlDrawing" Target="../drawings/vmlDrawing10.vml"/><Relationship Id="rId6" Type="http://schemas.openxmlformats.org/officeDocument/2006/relationships/image" Target="../media/image9.emf"/><Relationship Id="rId5" Type="http://schemas.openxmlformats.org/officeDocument/2006/relationships/oleObject" Target="../embeddings/oleObject10.bin"/><Relationship Id="rId4"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53822071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30834703"/>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686203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632" b="0">
                <a:solidFill>
                  <a:schemeClr val="tx2">
                    <a:lumMod val="60000"/>
                    <a:lumOff val="40000"/>
                  </a:schemeClr>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atin typeface="+mj-lt"/>
              </a:defRPr>
            </a:lvl1pPr>
          </a:lstStyle>
          <a:p>
            <a:r>
              <a:rPr lang="en-US" noProof="0"/>
              <a:t>Click to edit Master title style</a:t>
            </a:r>
          </a:p>
        </p:txBody>
      </p:sp>
      <p:sp>
        <p:nvSpPr>
          <p:cNvPr id="8" name="Text Placeholder 18"/>
          <p:cNvSpPr>
            <a:spLocks noGrp="1"/>
          </p:cNvSpPr>
          <p:nvPr>
            <p:ph idx="1"/>
          </p:nvPr>
        </p:nvSpPr>
        <p:spPr>
          <a:xfrm>
            <a:off x="501651" y="1528798"/>
            <a:ext cx="11165416" cy="4850401"/>
          </a:xfrm>
          <a:prstGeom prst="rect">
            <a:avLst/>
          </a:prstGeom>
        </p:spPr>
        <p:txBody>
          <a:bodyPr vert="horz" lIns="0" tIns="0" rIns="0" bIns="0" rtlCol="0">
            <a:noAutofit/>
          </a:bodyPr>
          <a:lstStyle>
            <a:lvl1pPr>
              <a:spcAft>
                <a:spcPts val="907"/>
              </a:spcAft>
              <a:defRPr sz="997"/>
            </a:lvl1pPr>
            <a:lvl2pPr>
              <a:spcAft>
                <a:spcPts val="907"/>
              </a:spcAft>
              <a:defRPr sz="997"/>
            </a:lvl2pPr>
            <a:lvl3pPr>
              <a:spcAft>
                <a:spcPts val="907"/>
              </a:spcAft>
              <a:defRPr sz="997"/>
            </a:lvl3pPr>
            <a:lvl4pPr>
              <a:spcAft>
                <a:spcPts val="907"/>
              </a:spcAft>
              <a:defRPr sz="997"/>
            </a:lvl4pPr>
            <a:lvl5pPr>
              <a:spcAft>
                <a:spcPts val="907"/>
              </a:spcAft>
              <a:defRPr sz="997"/>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42112264"/>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23763454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27502790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216232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414503353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0363028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1557552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17588964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91283361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9529586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07798051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387157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80701819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27406009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2617117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2614226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1517"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402353836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2541"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944603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3565"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3"/>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2213522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4589"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57655122"/>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5613" name="think-cell Slide" r:id="rId5" imgW="530" imgH="531" progId="TCLayout.ActiveDocument.1">
                  <p:embed/>
                </p:oleObj>
              </mc:Choice>
              <mc:Fallback>
                <p:oleObj name="think-cell Slide" r:id="rId5" imgW="530" imgH="531" progId="TCLayout.ActiveDocument.1">
                  <p:embed/>
                  <p:pic>
                    <p:nvPicPr>
                      <p:cNvPr id="5" name="Object 4"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3"/>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2675570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8328623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06627957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8685"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53594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spid="_x0000_s29709"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45389823"/>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40234326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323651418"/>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6048727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37109734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7088207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26369547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87789285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0889244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4237911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46377028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327646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50650181"/>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06237123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4855005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132796409"/>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87927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4549972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06306469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487657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195393422"/>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58313076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77518083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92728305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6585805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9802763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0973696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15866792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83812036"/>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75261285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56983449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18924185"/>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0408355"/>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77849450"/>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36309100"/>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4518357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18858341"/>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944454994"/>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7481373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311248524"/>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5275718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2101341"/>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23050947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2" y="5791234"/>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144"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marL="0" marR="0" lvl="1" indent="0" algn="l" defTabSz="121914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533807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9"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399" b="1">
                <a:solidFill>
                  <a:schemeClr val="tx1"/>
                </a:solidFill>
              </a:defRPr>
            </a:lvl1pPr>
            <a:lvl2pPr marL="0" indent="0" algn="l">
              <a:buNone/>
              <a:defRPr sz="2134" b="0"/>
            </a:lvl2pPr>
            <a:lvl3pPr marL="1219144" indent="0" algn="ctr">
              <a:buNone/>
              <a:defRPr sz="2399"/>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grpSp>
    </p:spTree>
    <p:extLst>
      <p:ext uri="{BB962C8B-B14F-4D97-AF65-F5344CB8AC3E}">
        <p14:creationId xmlns:p14="http://schemas.microsoft.com/office/powerpoint/2010/main" val="3040910751"/>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8"/>
            <a:ext cx="12192000" cy="6007753"/>
          </a:xfrm>
        </p:spPr>
        <p:txBody>
          <a:bodyPr/>
          <a:lstStyle/>
          <a:p>
            <a:endParaRPr lang="en-US"/>
          </a:p>
        </p:txBody>
      </p:sp>
      <p:grpSp>
        <p:nvGrpSpPr>
          <p:cNvPr id="9" name="Group 8"/>
          <p:cNvGrpSpPr/>
          <p:nvPr userDrawn="1"/>
        </p:nvGrpSpPr>
        <p:grpSpPr>
          <a:xfrm>
            <a:off x="0" y="4629686"/>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8"/>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a:solidFill>
                  <a:prstClr val="white"/>
                </a:solidFill>
              </a:rPr>
              <a:t>Presentation on Supply, Implementation and Maintenance of an ERP solution to Hirdaramani Group</a:t>
            </a:r>
            <a:endParaRPr lang="fr-FR" sz="867">
              <a:solidFill>
                <a:prstClr val="white"/>
              </a:solidFill>
            </a:endParaRPr>
          </a:p>
        </p:txBody>
      </p:sp>
    </p:spTree>
    <p:extLst>
      <p:ext uri="{BB962C8B-B14F-4D97-AF65-F5344CB8AC3E}">
        <p14:creationId xmlns:p14="http://schemas.microsoft.com/office/powerpoint/2010/main" val="1903126525"/>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537004832"/>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615131223"/>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2"/>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1"/>
              </a:spcAft>
              <a:defRPr sz="1235"/>
            </a:lvl1pPr>
            <a:lvl2pPr>
              <a:spcAft>
                <a:spcPts val="1211"/>
              </a:spcAft>
              <a:defRPr sz="1235"/>
            </a:lvl2pPr>
            <a:lvl3pPr>
              <a:spcAft>
                <a:spcPts val="1211"/>
              </a:spcAft>
              <a:defRPr sz="1235"/>
            </a:lvl3pPr>
            <a:lvl4pPr>
              <a:spcAft>
                <a:spcPts val="1211"/>
              </a:spcAft>
              <a:defRPr sz="1235"/>
            </a:lvl4pPr>
            <a:lvl5pPr>
              <a:spcAft>
                <a:spcPts val="1211"/>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41798539"/>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4" y="1665292"/>
            <a:ext cx="9348787" cy="4633910"/>
          </a:xfrm>
          <a:prstGeom prst="rect">
            <a:avLst/>
          </a:prstGeom>
        </p:spPr>
        <p:txBody>
          <a:bodyPr/>
          <a:lstStyle>
            <a:lvl1pPr>
              <a:tabLst>
                <a:tab pos="6728924" algn="r"/>
              </a:tabLst>
              <a:defRPr/>
            </a:lvl1pPr>
            <a:lvl2pPr>
              <a:tabLst>
                <a:tab pos="6728924" algn="r"/>
              </a:tabLst>
              <a:defRPr/>
            </a:lvl2pPr>
            <a:lvl3pPr>
              <a:tabLst>
                <a:tab pos="6728924" algn="r"/>
              </a:tabLst>
              <a:defRPr/>
            </a:lvl3pPr>
            <a:lvl4pPr>
              <a:tabLst>
                <a:tab pos="6728924" algn="r"/>
              </a:tabLst>
              <a:defRPr/>
            </a:lvl4pPr>
            <a:lvl5pPr>
              <a:tabLst>
                <a:tab pos="5028834" algn="r"/>
              </a:tabLst>
              <a:defRPr baseline="0"/>
            </a:lvl5pPr>
            <a:lvl6pPr marL="356374" indent="0">
              <a:buNone/>
              <a:tabLst>
                <a:tab pos="6728924" algn="r"/>
              </a:tabLst>
              <a:defRPr/>
            </a:lvl6pPr>
            <a:lvl7pPr>
              <a:tabLst>
                <a:tab pos="6728924" algn="r"/>
              </a:tabLst>
              <a:defRPr/>
            </a:lvl7pPr>
            <a:lvl8pPr>
              <a:tabLst>
                <a:tab pos="6728924" algn="r"/>
              </a:tabLst>
              <a:defRPr/>
            </a:lvl8pPr>
            <a:lvl9pPr>
              <a:tabLst>
                <a:tab pos="6728924"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296795817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4" y="1628777"/>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60728650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56926729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3134809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5006530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49306439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0215"/>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3546"/>
            <a:ext cx="10418235"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39574345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28030756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60653963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230401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21" name="TextBox 20"/>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2" name="TextBox 21"/>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21604100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5671"/>
            <a:ext cx="10418233" cy="1592403"/>
          </a:xfrm>
        </p:spPr>
        <p:txBody>
          <a:bodyPr anchor="b"/>
          <a:lstStyle>
            <a:lvl1pPr>
              <a:lnSpc>
                <a:spcPct val="95000"/>
              </a:lnSpc>
              <a:defRPr sz="3849"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1"/>
            <a:ext cx="10541000" cy="1566532"/>
          </a:xfrm>
        </p:spPr>
        <p:txBody>
          <a:bodyPr lIns="0" tIns="0" rIns="0" bIns="0">
            <a:noAutofit/>
          </a:bodyPr>
          <a:lstStyle>
            <a:lvl1pPr marL="0" indent="0">
              <a:lnSpc>
                <a:spcPct val="95000"/>
              </a:lnSpc>
              <a:spcAft>
                <a:spcPts val="0"/>
              </a:spcAft>
              <a:buNone/>
              <a:defRPr sz="3849">
                <a:solidFill>
                  <a:schemeClr val="tx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65775487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81460588"/>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2" y="1665289"/>
            <a:ext cx="4431857" cy="4633913"/>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4"/>
            <a:ext cx="6240000" cy="4598989"/>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1147022383"/>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99600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85086080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425806035"/>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836277754"/>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370032087"/>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135816893"/>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2"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9"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4"/>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2" y="1851444"/>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8" y="1851444"/>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2280145855"/>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528228480"/>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5"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5"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80"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792607784"/>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179" indent="0" algn="ctr">
              <a:buNone/>
              <a:defRPr>
                <a:solidFill>
                  <a:schemeClr val="tx1">
                    <a:tint val="75000"/>
                  </a:schemeClr>
                </a:solidFill>
              </a:defRPr>
            </a:lvl2pPr>
            <a:lvl3pPr marL="914356" indent="0" algn="ctr">
              <a:buNone/>
              <a:defRPr>
                <a:solidFill>
                  <a:schemeClr val="tx1">
                    <a:tint val="75000"/>
                  </a:schemeClr>
                </a:solidFill>
              </a:defRPr>
            </a:lvl3pPr>
            <a:lvl4pPr marL="1371535" indent="0" algn="ctr">
              <a:buNone/>
              <a:defRPr>
                <a:solidFill>
                  <a:schemeClr val="tx1">
                    <a:tint val="75000"/>
                  </a:schemeClr>
                </a:solidFill>
              </a:defRPr>
            </a:lvl4pPr>
            <a:lvl5pPr marL="1828713" indent="0" algn="ctr">
              <a:buNone/>
              <a:defRPr>
                <a:solidFill>
                  <a:schemeClr val="tx1">
                    <a:tint val="75000"/>
                  </a:schemeClr>
                </a:solidFill>
              </a:defRPr>
            </a:lvl5pPr>
            <a:lvl6pPr marL="2285891" indent="0" algn="ctr">
              <a:buNone/>
              <a:defRPr>
                <a:solidFill>
                  <a:schemeClr val="tx1">
                    <a:tint val="75000"/>
                  </a:schemeClr>
                </a:solidFill>
              </a:defRPr>
            </a:lvl6pPr>
            <a:lvl7pPr marL="2743069" indent="0" algn="ctr">
              <a:buNone/>
              <a:defRPr>
                <a:solidFill>
                  <a:schemeClr val="tx1">
                    <a:tint val="75000"/>
                  </a:schemeClr>
                </a:solidFill>
              </a:defRPr>
            </a:lvl7pPr>
            <a:lvl8pPr marL="3200247" indent="0" algn="ctr">
              <a:buNone/>
              <a:defRPr>
                <a:solidFill>
                  <a:schemeClr val="tx1">
                    <a:tint val="75000"/>
                  </a:schemeClr>
                </a:solidFill>
              </a:defRPr>
            </a:lvl8pPr>
            <a:lvl9pPr marL="3657425"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1"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499935819"/>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1"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356"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535" indent="0" algn="ctr">
              <a:buNone/>
              <a:defRPr sz="1600"/>
            </a:lvl4pPr>
            <a:lvl5pPr marL="1828713" indent="0" algn="ctr">
              <a:buNone/>
              <a:defRPr sz="1600"/>
            </a:lvl5pPr>
            <a:lvl6pPr marL="2285891" indent="0" algn="ctr">
              <a:buNone/>
              <a:defRPr sz="1600"/>
            </a:lvl6pPr>
            <a:lvl7pPr marL="2743069" indent="0" algn="ctr">
              <a:buNone/>
              <a:defRPr sz="1600"/>
            </a:lvl7pPr>
            <a:lvl8pPr marL="3200247" indent="0" algn="ctr">
              <a:buNone/>
              <a:defRPr sz="1600"/>
            </a:lvl8pPr>
            <a:lvl9pPr marL="3657425" indent="0" algn="ctr">
              <a:buNone/>
              <a:defRPr sz="1600"/>
            </a:lvl9pPr>
          </a:lstStyle>
          <a:p>
            <a:r>
              <a:rPr lang="en-US" noProof="0"/>
              <a:t>Click to edit Master title style</a:t>
            </a:r>
          </a:p>
          <a:p>
            <a:pPr marL="0" marR="0" lvl="1" indent="0" algn="l" defTabSz="914356"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grpSp>
    </p:spTree>
    <p:extLst>
      <p:ext uri="{BB962C8B-B14F-4D97-AF65-F5344CB8AC3E}">
        <p14:creationId xmlns:p14="http://schemas.microsoft.com/office/powerpoint/2010/main" val="39562991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3" y="6629409"/>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646277570"/>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107533" name="think-cell Slide" r:id="rId5" imgW="470" imgH="469" progId="TCLayout.ActiveDocument.1">
                  <p:embed/>
                </p:oleObj>
              </mc:Choice>
              <mc:Fallback>
                <p:oleObj name="think-cell Slide" r:id="rId5" imgW="470" imgH="469" progId="TCLayout.ActiveDocument.1">
                  <p:embed/>
                  <p:pic>
                    <p:nvPicPr>
                      <p:cNvPr id="3" name="Object 2" hidden="1"/>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8" y="1700213"/>
            <a:ext cx="6117233" cy="4598988"/>
          </a:xfrm>
        </p:spPr>
        <p:txBody>
          <a:bodyPr/>
          <a:lstStyle/>
          <a:p>
            <a:r>
              <a:rPr lang="en-US" noProof="0"/>
              <a:t>Drag picture to placeholder or click icon to add</a:t>
            </a:r>
          </a:p>
        </p:txBody>
      </p:sp>
      <p:sp>
        <p:nvSpPr>
          <p:cNvPr id="6" name="Content Placeholder 3"/>
          <p:cNvSpPr>
            <a:spLocks noGrp="1"/>
          </p:cNvSpPr>
          <p:nvPr>
            <p:ph sz="quarter" idx="10"/>
          </p:nvPr>
        </p:nvSpPr>
        <p:spPr>
          <a:xfrm>
            <a:off x="469903" y="1665291"/>
            <a:ext cx="4333663" cy="4633911"/>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2683749495"/>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2" y="1701802"/>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92"/>
            <a:ext cx="4456429" cy="4716463"/>
          </a:xfrm>
          <a:prstGeom prst="rect">
            <a:avLst/>
          </a:prstGeom>
        </p:spPr>
        <p:txBody>
          <a:bodyPr/>
          <a:lstStyle>
            <a:lvl1pPr>
              <a:tabLst>
                <a:tab pos="5028960" algn="r"/>
              </a:tabLst>
              <a:defRPr/>
            </a:lvl1pPr>
            <a:lvl2pPr>
              <a:tabLst>
                <a:tab pos="5028960" algn="r"/>
              </a:tabLst>
              <a:defRPr/>
            </a:lvl2pPr>
            <a:lvl3pPr>
              <a:tabLst>
                <a:tab pos="5028960" algn="r"/>
              </a:tabLst>
              <a:defRPr/>
            </a:lvl3pPr>
            <a:lvl4pPr>
              <a:tabLst>
                <a:tab pos="5028960" algn="r"/>
              </a:tabLst>
              <a:defRPr/>
            </a:lvl4pPr>
            <a:lvl5pPr>
              <a:tabLst>
                <a:tab pos="502896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96342056"/>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7"/>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8" name="Text Placeholder 18"/>
          <p:cNvSpPr>
            <a:spLocks noGrp="1"/>
          </p:cNvSpPr>
          <p:nvPr>
            <p:ph idx="1"/>
          </p:nvPr>
        </p:nvSpPr>
        <p:spPr>
          <a:xfrm>
            <a:off x="469902" y="1665820"/>
            <a:ext cx="11252200" cy="4633383"/>
          </a:xfrm>
          <a:prstGeom prst="rect">
            <a:avLst/>
          </a:prstGeom>
        </p:spPr>
        <p:txBody>
          <a:bodyPr vert="horz" lIns="0" tIns="0" rIns="0" bIns="0" rtlCol="0">
            <a:noAutofit/>
          </a:bodyPr>
          <a:lstStyle>
            <a:lvl1pPr marL="0" indent="0" algn="l">
              <a:buFontTx/>
              <a:buNone/>
              <a:defRPr/>
            </a:lvl1pPr>
            <a:lvl2pPr marL="126988" indent="-126988" algn="l">
              <a:buClrTx/>
              <a:buSzPct val="100000"/>
              <a:buFont typeface="Arial" panose="020B0604020202020204" pitchFamily="34" charset="0"/>
              <a:buChar char="•"/>
              <a:defRPr/>
            </a:lvl2pPr>
            <a:lvl3pPr marL="279373" indent="-126988" algn="l">
              <a:buClrTx/>
              <a:buSzPct val="100000"/>
              <a:buFont typeface="Arial" panose="020B0604020202020204" pitchFamily="34" charset="0"/>
              <a:buChar char="−"/>
              <a:defRPr/>
            </a:lvl3pPr>
            <a:lvl4pPr marL="431758" indent="-126988" algn="l">
              <a:buClrTx/>
              <a:buSzPct val="100000"/>
              <a:buFont typeface="Arial" panose="020B0604020202020204" pitchFamily="34" charset="0"/>
              <a:buChar char="◦"/>
              <a:defRPr/>
            </a:lvl4pPr>
            <a:lvl5pPr marL="584143" indent="-126988"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09708600"/>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8971898" algn="r"/>
              </a:tabLst>
              <a:defRPr/>
            </a:lvl1pPr>
            <a:lvl2pPr>
              <a:tabLst>
                <a:tab pos="8971898" algn="r"/>
              </a:tabLst>
              <a:defRPr/>
            </a:lvl2pPr>
            <a:lvl3pPr>
              <a:tabLst>
                <a:tab pos="8971898" algn="r"/>
              </a:tabLst>
              <a:defRPr/>
            </a:lvl3pPr>
            <a:lvl4pPr>
              <a:tabLst>
                <a:tab pos="8971898" algn="r"/>
              </a:tabLst>
              <a:defRPr/>
            </a:lvl4pPr>
            <a:lvl5pPr>
              <a:tabLst>
                <a:tab pos="6705111" algn="r"/>
              </a:tabLst>
              <a:defRPr baseline="0"/>
            </a:lvl5pPr>
            <a:lvl6pPr marL="475166" indent="0">
              <a:buNone/>
              <a:tabLst>
                <a:tab pos="8971898" algn="r"/>
              </a:tabLst>
              <a:defRPr/>
            </a:lvl6pPr>
            <a:lvl7pPr>
              <a:tabLst>
                <a:tab pos="8971898" algn="r"/>
              </a:tabLst>
              <a:defRPr/>
            </a:lvl7pPr>
            <a:lvl8pPr>
              <a:tabLst>
                <a:tab pos="8971898" algn="r"/>
              </a:tabLst>
              <a:defRPr/>
            </a:lvl8pPr>
            <a:lvl9pPr>
              <a:tabLst>
                <a:tab pos="8971898"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2362654655"/>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5"/>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391206431"/>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9"/>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7"/>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302225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3" y="317503"/>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1132743554"/>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2799308878"/>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1" y="694945"/>
            <a:ext cx="10363200" cy="594360"/>
          </a:xfrm>
        </p:spPr>
        <p:txBody>
          <a:bodyPr vert="horz" lIns="0" tIns="45720" rIns="0" bIns="0" rtlCol="0" anchor="b" anchorCtr="0">
            <a:noAutofit/>
          </a:bodyPr>
          <a:lstStyle>
            <a:lvl1pPr>
              <a:defRPr lang="en-US" sz="3600" spc="-75" dirty="0">
                <a:latin typeface="+mj-lt"/>
              </a:defRPr>
            </a:lvl1pPr>
          </a:lstStyle>
          <a:p>
            <a:pPr lvl="0" defTabSz="685767">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589" lvl="0" indent="-228589">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89" lvl="0" indent="-228589"/>
            <a:r>
              <a:rPr lang="en-US"/>
              <a:t>BREADCRUMBS</a:t>
            </a:r>
          </a:p>
        </p:txBody>
      </p:sp>
    </p:spTree>
    <p:extLst>
      <p:ext uri="{BB962C8B-B14F-4D97-AF65-F5344CB8AC3E}">
        <p14:creationId xmlns:p14="http://schemas.microsoft.com/office/powerpoint/2010/main" val="357146594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27758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ags" Target="../tags/tag3.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vmlDrawing" Target="../drawings/vmlDrawing1.v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image" Target="../media/image1.emf"/><Relationship Id="rId7" Type="http://schemas.openxmlformats.org/officeDocument/2006/relationships/slideLayout" Target="../slideLayouts/slideLayout7.xml"/><Relationship Id="rId71" Type="http://schemas.openxmlformats.org/officeDocument/2006/relationships/theme" Target="../theme/theme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3.xml"/><Relationship Id="rId18" Type="http://schemas.openxmlformats.org/officeDocument/2006/relationships/slideLayout" Target="../slideLayouts/slideLayout88.xml"/><Relationship Id="rId26" Type="http://schemas.openxmlformats.org/officeDocument/2006/relationships/slideLayout" Target="../slideLayouts/slideLayout96.xml"/><Relationship Id="rId39" Type="http://schemas.openxmlformats.org/officeDocument/2006/relationships/slideLayout" Target="../slideLayouts/slideLayout109.xml"/><Relationship Id="rId21" Type="http://schemas.openxmlformats.org/officeDocument/2006/relationships/slideLayout" Target="../slideLayouts/slideLayout91.xml"/><Relationship Id="rId34" Type="http://schemas.openxmlformats.org/officeDocument/2006/relationships/slideLayout" Target="../slideLayouts/slideLayout104.xml"/><Relationship Id="rId42" Type="http://schemas.openxmlformats.org/officeDocument/2006/relationships/slideLayout" Target="../slideLayouts/slideLayout112.xml"/><Relationship Id="rId47" Type="http://schemas.openxmlformats.org/officeDocument/2006/relationships/oleObject" Target="../embeddings/oleObject9.bin"/><Relationship Id="rId7" Type="http://schemas.openxmlformats.org/officeDocument/2006/relationships/slideLayout" Target="../slideLayouts/slideLayout77.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29" Type="http://schemas.openxmlformats.org/officeDocument/2006/relationships/slideLayout" Target="../slideLayouts/slideLayout99.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24" Type="http://schemas.openxmlformats.org/officeDocument/2006/relationships/slideLayout" Target="../slideLayouts/slideLayout94.xml"/><Relationship Id="rId32" Type="http://schemas.openxmlformats.org/officeDocument/2006/relationships/slideLayout" Target="../slideLayouts/slideLayout102.xml"/><Relationship Id="rId37" Type="http://schemas.openxmlformats.org/officeDocument/2006/relationships/slideLayout" Target="../slideLayouts/slideLayout107.xml"/><Relationship Id="rId40" Type="http://schemas.openxmlformats.org/officeDocument/2006/relationships/slideLayout" Target="../slideLayouts/slideLayout110.xml"/><Relationship Id="rId45" Type="http://schemas.openxmlformats.org/officeDocument/2006/relationships/tags" Target="../tags/tag18.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23" Type="http://schemas.openxmlformats.org/officeDocument/2006/relationships/slideLayout" Target="../slideLayouts/slideLayout93.xml"/><Relationship Id="rId28" Type="http://schemas.openxmlformats.org/officeDocument/2006/relationships/slideLayout" Target="../slideLayouts/slideLayout98.xml"/><Relationship Id="rId36" Type="http://schemas.openxmlformats.org/officeDocument/2006/relationships/slideLayout" Target="../slideLayouts/slideLayout106.xml"/><Relationship Id="rId10" Type="http://schemas.openxmlformats.org/officeDocument/2006/relationships/slideLayout" Target="../slideLayouts/slideLayout80.xml"/><Relationship Id="rId19" Type="http://schemas.openxmlformats.org/officeDocument/2006/relationships/slideLayout" Target="../slideLayouts/slideLayout89.xml"/><Relationship Id="rId31" Type="http://schemas.openxmlformats.org/officeDocument/2006/relationships/slideLayout" Target="../slideLayouts/slideLayout101.xml"/><Relationship Id="rId44" Type="http://schemas.openxmlformats.org/officeDocument/2006/relationships/vmlDrawing" Target="../drawings/vmlDrawing9.v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 Id="rId22" Type="http://schemas.openxmlformats.org/officeDocument/2006/relationships/slideLayout" Target="../slideLayouts/slideLayout92.xml"/><Relationship Id="rId27" Type="http://schemas.openxmlformats.org/officeDocument/2006/relationships/slideLayout" Target="../slideLayouts/slideLayout97.xml"/><Relationship Id="rId30" Type="http://schemas.openxmlformats.org/officeDocument/2006/relationships/slideLayout" Target="../slideLayouts/slideLayout100.xml"/><Relationship Id="rId35" Type="http://schemas.openxmlformats.org/officeDocument/2006/relationships/slideLayout" Target="../slideLayouts/slideLayout105.xml"/><Relationship Id="rId43" Type="http://schemas.openxmlformats.org/officeDocument/2006/relationships/theme" Target="../theme/theme2.xml"/><Relationship Id="rId48" Type="http://schemas.openxmlformats.org/officeDocument/2006/relationships/image" Target="../media/image1.emf"/><Relationship Id="rId8" Type="http://schemas.openxmlformats.org/officeDocument/2006/relationships/slideLayout" Target="../slideLayouts/slideLayout78.xml"/><Relationship Id="rId3" Type="http://schemas.openxmlformats.org/officeDocument/2006/relationships/slideLayout" Target="../slideLayouts/slideLayout73.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5" Type="http://schemas.openxmlformats.org/officeDocument/2006/relationships/slideLayout" Target="../slideLayouts/slideLayout95.xml"/><Relationship Id="rId33" Type="http://schemas.openxmlformats.org/officeDocument/2006/relationships/slideLayout" Target="../slideLayouts/slideLayout103.xml"/><Relationship Id="rId38" Type="http://schemas.openxmlformats.org/officeDocument/2006/relationships/slideLayout" Target="../slideLayouts/slideLayout108.xml"/><Relationship Id="rId46" Type="http://schemas.openxmlformats.org/officeDocument/2006/relationships/tags" Target="../tags/tag19.xml"/><Relationship Id="rId20" Type="http://schemas.openxmlformats.org/officeDocument/2006/relationships/slideLayout" Target="../slideLayouts/slideLayout90.xml"/><Relationship Id="rId4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3"/>
            </p:custDataLst>
            <p:extLst>
              <p:ext uri="{D42A27DB-BD31-4B8C-83A1-F6EECF244321}">
                <p14:modId xmlns:p14="http://schemas.microsoft.com/office/powerpoint/2010/main" val="61044871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7" name="think-cell Slide" r:id="rId75" imgW="270" imgH="270" progId="TCLayout.ActiveDocument.1">
                  <p:embed/>
                </p:oleObj>
              </mc:Choice>
              <mc:Fallback>
                <p:oleObj name="think-cell Slide" r:id="rId75" imgW="270" imgH="270" progId="TCLayout.ActiveDocument.1">
                  <p:embed/>
                  <p:pic>
                    <p:nvPicPr>
                      <p:cNvPr id="4" name="Object 3" hidden="1"/>
                      <p:cNvPicPr/>
                      <p:nvPr/>
                    </p:nvPicPr>
                    <p:blipFill>
                      <a:blip r:embed="rId76"/>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4"/>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740832" y="6576918"/>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2022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576919"/>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
        <p:nvSpPr>
          <p:cNvPr id="9" name="TextBox 8">
            <a:extLst>
              <a:ext uri="{FF2B5EF4-FFF2-40B4-BE49-F238E27FC236}">
                <a16:creationId xmlns:a16="http://schemas.microsoft.com/office/drawing/2014/main" id="{6160858C-7208-417F-84BB-B0ABC8E4D7B4}"/>
              </a:ext>
            </a:extLst>
          </p:cNvPr>
          <p:cNvSpPr txBox="1"/>
          <p:nvPr userDrawn="1"/>
        </p:nvSpPr>
        <p:spPr>
          <a:xfrm>
            <a:off x="5155925" y="6525559"/>
            <a:ext cx="6097656" cy="241220"/>
          </a:xfrm>
          <a:prstGeom prst="rect">
            <a:avLst/>
          </a:prstGeom>
          <a:noFill/>
        </p:spPr>
        <p:txBody>
          <a:bodyPr wrap="square">
            <a:spAutoFit/>
          </a:bodyPr>
          <a:lstStyle/>
          <a:p>
            <a:pPr algn="r">
              <a:lnSpc>
                <a:spcPct val="114000"/>
              </a:lnSpc>
              <a:spcAft>
                <a:spcPts val="600"/>
              </a:spcAft>
            </a:pPr>
            <a:r>
              <a:rPr lang="it-IT" sz="900" b="1" kern="1200">
                <a:solidFill>
                  <a:schemeClr val="tx1"/>
                </a:solidFill>
                <a:latin typeface="Calibri" panose="020F0502020204030204" pitchFamily="34" charset="0"/>
                <a:ea typeface="+mn-ea"/>
                <a:cs typeface="Calibri" panose="020F0502020204030204" pitchFamily="34" charset="0"/>
              </a:rPr>
              <a:t>RFQ NO: </a:t>
            </a:r>
            <a:r>
              <a:rPr lang="it-IT" sz="900" kern="1200">
                <a:solidFill>
                  <a:schemeClr val="tx1"/>
                </a:solidFill>
                <a:latin typeface="Calibri" panose="020F0502020204030204" pitchFamily="34" charset="0"/>
                <a:ea typeface="+mn-ea"/>
                <a:cs typeface="Calibri" panose="020F0502020204030204" pitchFamily="34" charset="0"/>
              </a:rPr>
              <a:t>WBDPL/PUR/CORP/RFQ/110/2021-2022</a:t>
            </a:r>
            <a:endParaRPr lang="en-US" sz="900" kern="1200">
              <a:solidFill>
                <a:schemeClr val="tx1"/>
              </a:solidFill>
              <a:latin typeface="Calibri" panose="020F0502020204030204" pitchFamily="34" charset="0"/>
              <a:ea typeface="+mn-ea"/>
              <a:cs typeface="Calibri" panose="020F0502020204030204" pitchFamily="34" charset="0"/>
            </a:endParaRPr>
          </a:p>
        </p:txBody>
      </p:sp>
      <p:pic>
        <p:nvPicPr>
          <p:cNvPr id="12293" name="Picture 5" descr="Deloitte - Wikipedia">
            <a:extLst>
              <a:ext uri="{FF2B5EF4-FFF2-40B4-BE49-F238E27FC236}">
                <a16:creationId xmlns:a16="http://schemas.microsoft.com/office/drawing/2014/main" id="{AFDBB230-53A5-4679-909F-6506F735B365}"/>
              </a:ext>
            </a:extLst>
          </p:cNvPr>
          <p:cNvPicPr>
            <a:picLocks noChangeAspect="1" noChangeArrowheads="1"/>
          </p:cNvPicPr>
          <p:nvPr userDrawn="1"/>
        </p:nvPicPr>
        <p:blipFill>
          <a:blip r:embed="rId77">
            <a:extLst>
              <a:ext uri="{28A0092B-C50C-407E-A947-70E740481C1C}">
                <a14:useLocalDpi xmlns:a14="http://schemas.microsoft.com/office/drawing/2010/main" val="0"/>
              </a:ext>
            </a:extLst>
          </a:blip>
          <a:srcRect/>
          <a:stretch>
            <a:fillRect/>
          </a:stretch>
        </p:blipFill>
        <p:spPr bwMode="auto">
          <a:xfrm>
            <a:off x="501650" y="6525559"/>
            <a:ext cx="239182" cy="2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2054749"/>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 id="2147483833" r:id="rId28"/>
    <p:sldLayoutId id="2147483834" r:id="rId29"/>
    <p:sldLayoutId id="2147483835" r:id="rId30"/>
    <p:sldLayoutId id="2147483836" r:id="rId31"/>
    <p:sldLayoutId id="2147483837" r:id="rId32"/>
    <p:sldLayoutId id="2147483838" r:id="rId33"/>
    <p:sldLayoutId id="2147483839" r:id="rId34"/>
    <p:sldLayoutId id="2147483840" r:id="rId35"/>
    <p:sldLayoutId id="2147483841" r:id="rId36"/>
    <p:sldLayoutId id="2147483842" r:id="rId37"/>
    <p:sldLayoutId id="2147483843" r:id="rId38"/>
    <p:sldLayoutId id="2147483844" r:id="rId39"/>
    <p:sldLayoutId id="2147483845" r:id="rId40"/>
    <p:sldLayoutId id="2147483846" r:id="rId41"/>
    <p:sldLayoutId id="2147483847" r:id="rId42"/>
    <p:sldLayoutId id="2147483848" r:id="rId43"/>
    <p:sldLayoutId id="2147483849" r:id="rId44"/>
    <p:sldLayoutId id="2147483850" r:id="rId45"/>
    <p:sldLayoutId id="2147483851" r:id="rId46"/>
    <p:sldLayoutId id="2147483852" r:id="rId47"/>
    <p:sldLayoutId id="2147483853" r:id="rId48"/>
    <p:sldLayoutId id="2147483854" r:id="rId49"/>
    <p:sldLayoutId id="2147483855" r:id="rId50"/>
    <p:sldLayoutId id="2147483856" r:id="rId51"/>
    <p:sldLayoutId id="2147483857" r:id="rId52"/>
    <p:sldLayoutId id="2147483858" r:id="rId53"/>
    <p:sldLayoutId id="2147483859" r:id="rId54"/>
    <p:sldLayoutId id="2147483860" r:id="rId55"/>
    <p:sldLayoutId id="2147483861" r:id="rId56"/>
    <p:sldLayoutId id="2147483862" r:id="rId57"/>
    <p:sldLayoutId id="2147483863" r:id="rId58"/>
    <p:sldLayoutId id="2147483864" r:id="rId59"/>
    <p:sldLayoutId id="2147483865" r:id="rId60"/>
    <p:sldLayoutId id="2147483866" r:id="rId61"/>
    <p:sldLayoutId id="2147483867" r:id="rId62"/>
    <p:sldLayoutId id="2147483868" r:id="rId63"/>
    <p:sldLayoutId id="2147483869" r:id="rId64"/>
    <p:sldLayoutId id="2147483870" r:id="rId65"/>
    <p:sldLayoutId id="2147483871" r:id="rId66"/>
    <p:sldLayoutId id="2147483872" r:id="rId67"/>
    <p:sldLayoutId id="2147483873" r:id="rId68"/>
    <p:sldLayoutId id="2147483874" r:id="rId69"/>
    <p:sldLayoutId id="2147483875" r:id="rId70"/>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434483267"/>
              </p:ext>
            </p:extLst>
          </p:nvPr>
        </p:nvGraphicFramePr>
        <p:xfrm>
          <a:off x="2122" y="1592"/>
          <a:ext cx="2117" cy="1587"/>
        </p:xfrm>
        <a:graphic>
          <a:graphicData uri="http://schemas.openxmlformats.org/presentationml/2006/ole">
            <mc:AlternateContent xmlns:mc="http://schemas.openxmlformats.org/markup-compatibility/2006">
              <mc:Choice xmlns:v="urn:schemas-microsoft-com:vml" Requires="v">
                <p:oleObj spid="_x0000_s73741"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22" y="1592"/>
                        <a:ext cx="2117" cy="1587"/>
                      </a:xfrm>
                      <a:prstGeom prst="rect">
                        <a:avLst/>
                      </a:prstGeom>
                    </p:spPr>
                  </p:pic>
                </p:oleObj>
              </mc:Fallback>
            </mc:AlternateContent>
          </a:graphicData>
        </a:graphic>
      </p:graphicFrame>
      <p:sp>
        <p:nvSpPr>
          <p:cNvPr id="5" name="Rectangle 4" hidden="1"/>
          <p:cNvSpPr/>
          <p:nvPr userDrawn="1">
            <p:custDataLst>
              <p:tags r:id="rId46"/>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4"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3" y="6629409"/>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19" name="Text Placeholder 18"/>
          <p:cNvSpPr>
            <a:spLocks noGrp="1"/>
          </p:cNvSpPr>
          <p:nvPr>
            <p:ph type="body" idx="1"/>
          </p:nvPr>
        </p:nvSpPr>
        <p:spPr>
          <a:xfrm>
            <a:off x="501653"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751010326"/>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 id="2147483894" r:id="rId18"/>
    <p:sldLayoutId id="2147483895" r:id="rId19"/>
    <p:sldLayoutId id="2147483896" r:id="rId20"/>
    <p:sldLayoutId id="2147483897" r:id="rId21"/>
    <p:sldLayoutId id="2147483898" r:id="rId22"/>
    <p:sldLayoutId id="2147483899" r:id="rId23"/>
    <p:sldLayoutId id="2147483900" r:id="rId24"/>
    <p:sldLayoutId id="2147483901" r:id="rId25"/>
    <p:sldLayoutId id="2147483902" r:id="rId26"/>
    <p:sldLayoutId id="2147483903" r:id="rId27"/>
    <p:sldLayoutId id="2147483904" r:id="rId28"/>
    <p:sldLayoutId id="2147483905" r:id="rId29"/>
    <p:sldLayoutId id="2147483906" r:id="rId30"/>
    <p:sldLayoutId id="2147483907" r:id="rId31"/>
    <p:sldLayoutId id="2147483908" r:id="rId32"/>
    <p:sldLayoutId id="2147483909" r:id="rId33"/>
    <p:sldLayoutId id="2147483910" r:id="rId34"/>
    <p:sldLayoutId id="2147483911" r:id="rId35"/>
    <p:sldLayoutId id="2147483912" r:id="rId36"/>
    <p:sldLayoutId id="2147483913" r:id="rId37"/>
    <p:sldLayoutId id="2147483914" r:id="rId38"/>
    <p:sldLayoutId id="2147483915" r:id="rId39"/>
    <p:sldLayoutId id="2147483916" r:id="rId40"/>
    <p:sldLayoutId id="2147483917" r:id="rId41"/>
    <p:sldLayoutId id="2147483918" r:id="rId42"/>
  </p:sldLayoutIdLst>
  <p:transition>
    <p:fade/>
  </p:transition>
  <p:hf hdr="0" dt="0"/>
  <p:txStyles>
    <p:titleStyle>
      <a:lvl1pPr algn="l" defTabSz="1219144" rtl="0" eaLnBrk="1" latinLnBrk="0" hangingPunct="1">
        <a:spcBef>
          <a:spcPct val="0"/>
        </a:spcBef>
        <a:buNone/>
        <a:defRPr sz="2667" kern="1200">
          <a:solidFill>
            <a:schemeClr val="tx1"/>
          </a:solidFill>
          <a:latin typeface="+mj-lt"/>
          <a:ea typeface="+mj-ea"/>
          <a:cs typeface="+mj-cs"/>
        </a:defRPr>
      </a:lvl1pPr>
    </p:titleStyle>
    <p:bodyStyle>
      <a:lvl1pPr marL="0" indent="0" algn="l" defTabSz="1219144"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14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89" indent="-235189" algn="l" defTabSz="121914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78" indent="-235189" algn="l" defTabSz="121914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67" indent="-235189" algn="l" defTabSz="1064636"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67" indent="-235189" algn="l" defTabSz="121914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44" rtl="0" eaLnBrk="1" latinLnBrk="0" hangingPunct="1">
        <a:defRPr sz="2399" kern="1200">
          <a:solidFill>
            <a:schemeClr val="tx1"/>
          </a:solidFill>
          <a:latin typeface="+mn-lt"/>
          <a:ea typeface="+mn-ea"/>
          <a:cs typeface="+mn-cs"/>
        </a:defRPr>
      </a:lvl1pPr>
      <a:lvl2pPr marL="609573" algn="l" defTabSz="1219144" rtl="0" eaLnBrk="1" latinLnBrk="0" hangingPunct="1">
        <a:defRPr sz="2399" kern="1200">
          <a:solidFill>
            <a:schemeClr val="tx1"/>
          </a:solidFill>
          <a:latin typeface="+mn-lt"/>
          <a:ea typeface="+mn-ea"/>
          <a:cs typeface="+mn-cs"/>
        </a:defRPr>
      </a:lvl2pPr>
      <a:lvl3pPr marL="1219144" algn="l" defTabSz="1219144" rtl="0" eaLnBrk="1" latinLnBrk="0" hangingPunct="1">
        <a:defRPr sz="2399" kern="1200">
          <a:solidFill>
            <a:schemeClr val="tx1"/>
          </a:solidFill>
          <a:latin typeface="+mn-lt"/>
          <a:ea typeface="+mn-ea"/>
          <a:cs typeface="+mn-cs"/>
        </a:defRPr>
      </a:lvl3pPr>
      <a:lvl4pPr marL="1828717" algn="l" defTabSz="1219144" rtl="0" eaLnBrk="1" latinLnBrk="0" hangingPunct="1">
        <a:defRPr sz="2399" kern="1200">
          <a:solidFill>
            <a:schemeClr val="tx1"/>
          </a:solidFill>
          <a:latin typeface="+mn-lt"/>
          <a:ea typeface="+mn-ea"/>
          <a:cs typeface="+mn-cs"/>
        </a:defRPr>
      </a:lvl4pPr>
      <a:lvl5pPr marL="2438289" algn="l" defTabSz="1219144" rtl="0" eaLnBrk="1" latinLnBrk="0" hangingPunct="1">
        <a:defRPr sz="2399" kern="1200">
          <a:solidFill>
            <a:schemeClr val="tx1"/>
          </a:solidFill>
          <a:latin typeface="+mn-lt"/>
          <a:ea typeface="+mn-ea"/>
          <a:cs typeface="+mn-cs"/>
        </a:defRPr>
      </a:lvl5pPr>
      <a:lvl6pPr marL="3047862" algn="l" defTabSz="1219144" rtl="0" eaLnBrk="1" latinLnBrk="0" hangingPunct="1">
        <a:defRPr sz="2399" kern="1200">
          <a:solidFill>
            <a:schemeClr val="tx1"/>
          </a:solidFill>
          <a:latin typeface="+mn-lt"/>
          <a:ea typeface="+mn-ea"/>
          <a:cs typeface="+mn-cs"/>
        </a:defRPr>
      </a:lvl6pPr>
      <a:lvl7pPr marL="3657433" algn="l" defTabSz="1219144" rtl="0" eaLnBrk="1" latinLnBrk="0" hangingPunct="1">
        <a:defRPr sz="2399" kern="1200">
          <a:solidFill>
            <a:schemeClr val="tx1"/>
          </a:solidFill>
          <a:latin typeface="+mn-lt"/>
          <a:ea typeface="+mn-ea"/>
          <a:cs typeface="+mn-cs"/>
        </a:defRPr>
      </a:lvl7pPr>
      <a:lvl8pPr marL="4267005" algn="l" defTabSz="1219144" rtl="0" eaLnBrk="1" latinLnBrk="0" hangingPunct="1">
        <a:defRPr sz="2399" kern="1200">
          <a:solidFill>
            <a:schemeClr val="tx1"/>
          </a:solidFill>
          <a:latin typeface="+mn-lt"/>
          <a:ea typeface="+mn-ea"/>
          <a:cs typeface="+mn-cs"/>
        </a:defRPr>
      </a:lvl8pPr>
      <a:lvl9pPr marL="4876579" algn="l" defTabSz="1219144"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1.xml"/><Relationship Id="rId7" Type="http://schemas.openxmlformats.org/officeDocument/2006/relationships/image" Target="../media/image13.png"/><Relationship Id="rId2" Type="http://schemas.openxmlformats.org/officeDocument/2006/relationships/tags" Target="../tags/tag22.xml"/><Relationship Id="rId1" Type="http://schemas.openxmlformats.org/officeDocument/2006/relationships/vmlDrawing" Target="../drawings/vmlDrawing11.v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vmlDrawing" Target="../drawings/vmlDrawing12.vml"/><Relationship Id="rId5" Type="http://schemas.openxmlformats.org/officeDocument/2006/relationships/image" Target="../media/image11.emf"/><Relationship Id="rId4" Type="http://schemas.openxmlformats.org/officeDocument/2006/relationships/oleObject" Target="../embeddings/oleObject12.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vmlDrawing" Target="../drawings/vmlDrawing13.vml"/><Relationship Id="rId5" Type="http://schemas.openxmlformats.org/officeDocument/2006/relationships/image" Target="../media/image11.emf"/><Relationship Id="rId4" Type="http://schemas.openxmlformats.org/officeDocument/2006/relationships/oleObject" Target="../embeddings/oleObject13.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vmlDrawing" Target="../drawings/vmlDrawing14.vml"/><Relationship Id="rId5" Type="http://schemas.openxmlformats.org/officeDocument/2006/relationships/image" Target="../media/image11.emf"/><Relationship Id="rId4" Type="http://schemas.openxmlformats.org/officeDocument/2006/relationships/oleObject" Target="../embeddings/oleObject14.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vmlDrawing" Target="../drawings/vmlDrawing15.vml"/><Relationship Id="rId5" Type="http://schemas.openxmlformats.org/officeDocument/2006/relationships/image" Target="../media/image11.emf"/><Relationship Id="rId4" Type="http://schemas.openxmlformats.org/officeDocument/2006/relationships/oleObject" Target="../embeddings/oleObject15.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vmlDrawing" Target="../drawings/vmlDrawing16.vml"/><Relationship Id="rId6" Type="http://schemas.openxmlformats.org/officeDocument/2006/relationships/image" Target="../media/image11.emf"/><Relationship Id="rId5" Type="http://schemas.openxmlformats.org/officeDocument/2006/relationships/oleObject" Target="../embeddings/oleObject16.bin"/><Relationship Id="rId4"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vmlDrawing" Target="../drawings/vmlDrawing17.vml"/><Relationship Id="rId6" Type="http://schemas.openxmlformats.org/officeDocument/2006/relationships/image" Target="../media/image11.emf"/><Relationship Id="rId5" Type="http://schemas.openxmlformats.org/officeDocument/2006/relationships/oleObject" Target="../embeddings/oleObject17.bin"/><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vmlDrawing" Target="../drawings/vmlDrawing18.vml"/><Relationship Id="rId6" Type="http://schemas.openxmlformats.org/officeDocument/2006/relationships/image" Target="../media/image11.emf"/><Relationship Id="rId5" Type="http://schemas.openxmlformats.org/officeDocument/2006/relationships/oleObject" Target="../embeddings/oleObject18.bin"/><Relationship Id="rId4"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vmlDrawing" Target="../drawings/vmlDrawing19.vml"/><Relationship Id="rId6" Type="http://schemas.openxmlformats.org/officeDocument/2006/relationships/image" Target="../media/image4.emf"/><Relationship Id="rId5" Type="http://schemas.openxmlformats.org/officeDocument/2006/relationships/oleObject" Target="../embeddings/oleObject19.bin"/><Relationship Id="rId4"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vmlDrawing" Target="../drawings/vmlDrawing20.vml"/><Relationship Id="rId6" Type="http://schemas.openxmlformats.org/officeDocument/2006/relationships/image" Target="../media/image4.emf"/><Relationship Id="rId5" Type="http://schemas.openxmlformats.org/officeDocument/2006/relationships/oleObject" Target="../embeddings/oleObject20.bin"/><Relationship Id="rId4"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21.vml"/><Relationship Id="rId6" Type="http://schemas.openxmlformats.org/officeDocument/2006/relationships/image" Target="../media/image4.emf"/><Relationship Id="rId5" Type="http://schemas.openxmlformats.org/officeDocument/2006/relationships/oleObject" Target="../embeddings/oleObject21.bin"/><Relationship Id="rId4"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972089DD-C5B6-4DC0-BCFE-8B205CE723B4}"/>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8797" name="think-cell Slide" r:id="rId4" imgW="415" imgH="416" progId="TCLayout.ActiveDocument.1">
                  <p:embed/>
                </p:oleObj>
              </mc:Choice>
              <mc:Fallback>
                <p:oleObj name="think-cell Slide" r:id="rId4" imgW="415" imgH="416" progId="TCLayout.ActiveDocument.1">
                  <p:embed/>
                  <p:pic>
                    <p:nvPicPr>
                      <p:cNvPr id="18" name="Object 17" hidden="1">
                        <a:extLst>
                          <a:ext uri="{FF2B5EF4-FFF2-40B4-BE49-F238E27FC236}">
                            <a16:creationId xmlns:a16="http://schemas.microsoft.com/office/drawing/2014/main" id="{972089DD-C5B6-4DC0-BCFE-8B205CE723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Subtitle 3">
            <a:extLst>
              <a:ext uri="{FF2B5EF4-FFF2-40B4-BE49-F238E27FC236}">
                <a16:creationId xmlns:a16="http://schemas.microsoft.com/office/drawing/2014/main" id="{5952B81A-0D37-4162-BB15-1124FCF58B45}"/>
              </a:ext>
            </a:extLst>
          </p:cNvPr>
          <p:cNvSpPr>
            <a:spLocks noGrp="1"/>
          </p:cNvSpPr>
          <p:nvPr>
            <p:ph type="subTitle" idx="1"/>
          </p:nvPr>
        </p:nvSpPr>
        <p:spPr>
          <a:xfrm>
            <a:off x="475324" y="2382124"/>
            <a:ext cx="6167213" cy="3194785"/>
          </a:xfrm>
        </p:spPr>
        <p:txBody>
          <a:bodyPr wrap="square" anchor="ctr" anchorCtr="0">
            <a:spAutoFit/>
          </a:bodyPr>
          <a:lstStyle/>
          <a:p>
            <a:pPr algn="just">
              <a:lnSpc>
                <a:spcPct val="114000"/>
              </a:lnSpc>
              <a:spcAft>
                <a:spcPts val="600"/>
              </a:spcAft>
            </a:pPr>
            <a:r>
              <a:rPr lang="en-US" sz="1800" b="0" dirty="0">
                <a:solidFill>
                  <a:srgbClr val="43B02A"/>
                </a:solidFill>
              </a:rPr>
              <a:t>Selection of Transaction Advisor for Assessment of Institutional Development and Human Resource Management of The Durgapur Projects Limited (DPL)</a:t>
            </a:r>
          </a:p>
          <a:p>
            <a:pPr algn="just">
              <a:lnSpc>
                <a:spcPct val="114000"/>
              </a:lnSpc>
              <a:spcAft>
                <a:spcPts val="600"/>
              </a:spcAft>
            </a:pPr>
            <a:r>
              <a:rPr lang="it-IT" sz="1800" b="0" dirty="0">
                <a:solidFill>
                  <a:schemeClr val="accent3"/>
                </a:solidFill>
              </a:rPr>
              <a:t>RFQ NO: WBDPL/PUR/CORP/RFQ/110/2021-2022</a:t>
            </a:r>
            <a:endParaRPr lang="en-US" sz="1800" b="0" dirty="0">
              <a:solidFill>
                <a:srgbClr val="00ABAB"/>
              </a:solidFill>
            </a:endParaRPr>
          </a:p>
          <a:p>
            <a:pPr algn="just">
              <a:lnSpc>
                <a:spcPct val="114000"/>
              </a:lnSpc>
              <a:spcAft>
                <a:spcPts val="600"/>
              </a:spcAft>
            </a:pPr>
            <a:r>
              <a:rPr lang="en-US" sz="1800" b="0" dirty="0">
                <a:solidFill>
                  <a:srgbClr val="00ABAB"/>
                </a:solidFill>
              </a:rPr>
              <a:t>The Durgapur Projects Limited</a:t>
            </a:r>
          </a:p>
          <a:p>
            <a:pPr algn="just">
              <a:spcAft>
                <a:spcPts val="600"/>
              </a:spcAft>
            </a:pPr>
            <a:endParaRPr lang="en-US" sz="1400" b="0" dirty="0">
              <a:solidFill>
                <a:schemeClr val="tx1"/>
              </a:solidFill>
            </a:endParaRPr>
          </a:p>
          <a:p>
            <a:pPr algn="just">
              <a:spcAft>
                <a:spcPts val="600"/>
              </a:spcAft>
            </a:pPr>
            <a:endParaRPr lang="en-US" sz="1400" b="0" dirty="0">
              <a:solidFill>
                <a:schemeClr val="tx1"/>
              </a:solidFill>
            </a:endParaRPr>
          </a:p>
          <a:p>
            <a:pPr algn="just">
              <a:spcAft>
                <a:spcPts val="600"/>
              </a:spcAft>
            </a:pPr>
            <a:endParaRPr lang="en-US" sz="1400" b="0" dirty="0">
              <a:solidFill>
                <a:schemeClr val="tx1"/>
              </a:solidFill>
            </a:endParaRPr>
          </a:p>
          <a:p>
            <a:pPr algn="just">
              <a:spcAft>
                <a:spcPts val="600"/>
              </a:spcAft>
            </a:pPr>
            <a:r>
              <a:rPr lang="en-US" sz="1400" dirty="0">
                <a:solidFill>
                  <a:schemeClr val="tx1"/>
                </a:solidFill>
              </a:rPr>
              <a:t>Kick-off Presentation</a:t>
            </a:r>
          </a:p>
          <a:p>
            <a:pPr algn="just">
              <a:spcAft>
                <a:spcPts val="600"/>
              </a:spcAft>
            </a:pPr>
            <a:r>
              <a:rPr lang="en-US" sz="1400" dirty="0">
                <a:solidFill>
                  <a:schemeClr val="tx1"/>
                </a:solidFill>
              </a:rPr>
              <a:t>September 08, 2022</a:t>
            </a:r>
            <a:endParaRPr lang="en-US" sz="2399" dirty="0">
              <a:solidFill>
                <a:schemeClr val="tx1"/>
              </a:solidFill>
            </a:endParaRPr>
          </a:p>
        </p:txBody>
      </p:sp>
      <p:sp>
        <p:nvSpPr>
          <p:cNvPr id="19" name="Text Placeholder 4">
            <a:extLst>
              <a:ext uri="{FF2B5EF4-FFF2-40B4-BE49-F238E27FC236}">
                <a16:creationId xmlns:a16="http://schemas.microsoft.com/office/drawing/2014/main" id="{1EBFA252-2B6D-40F1-9D09-028C50C9D903}"/>
              </a:ext>
            </a:extLst>
          </p:cNvPr>
          <p:cNvSpPr>
            <a:spLocks noGrp="1"/>
          </p:cNvSpPr>
          <p:nvPr>
            <p:ph type="body" sz="quarter" idx="10"/>
          </p:nvPr>
        </p:nvSpPr>
        <p:spPr>
          <a:xfrm>
            <a:off x="475324" y="6307496"/>
            <a:ext cx="6709262" cy="215444"/>
          </a:xfrm>
        </p:spPr>
        <p:txBody>
          <a:bodyPr anchor="ctr" anchorCtr="0">
            <a:spAutoFit/>
          </a:bodyPr>
          <a:lstStyle/>
          <a:p>
            <a:r>
              <a:rPr lang="en-US" sz="1400">
                <a:solidFill>
                  <a:schemeClr val="accent1"/>
                </a:solidFill>
              </a:rPr>
              <a:t>© Deloitte Touche Tohmatsu India LLP</a:t>
            </a:r>
            <a:endParaRPr lang="en-US" sz="1200">
              <a:solidFill>
                <a:schemeClr val="accent1"/>
              </a:solidFill>
            </a:endParaRPr>
          </a:p>
        </p:txBody>
      </p:sp>
      <p:pic>
        <p:nvPicPr>
          <p:cNvPr id="24" name="Picture 23" descr="A close up of a plant&#10;&#10;Description automatically generated with low confidence">
            <a:extLst>
              <a:ext uri="{FF2B5EF4-FFF2-40B4-BE49-F238E27FC236}">
                <a16:creationId xmlns:a16="http://schemas.microsoft.com/office/drawing/2014/main" id="{50700C1B-A1C6-4A6B-A93D-D37C4E8A30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49956" y="916390"/>
            <a:ext cx="5029478" cy="5025219"/>
          </a:xfrm>
          <a:prstGeom prst="rect">
            <a:avLst/>
          </a:prstGeom>
        </p:spPr>
      </p:pic>
      <p:pic>
        <p:nvPicPr>
          <p:cNvPr id="37892" name="Picture 4" descr="Deloitte logo and symbol, meaning, history, PNG">
            <a:extLst>
              <a:ext uri="{FF2B5EF4-FFF2-40B4-BE49-F238E27FC236}">
                <a16:creationId xmlns:a16="http://schemas.microsoft.com/office/drawing/2014/main" id="{D92FD449-3E86-4473-83EB-B626148265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5324" y="176791"/>
            <a:ext cx="2291256" cy="1208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85677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007A1-C7F4-4CE0-9CDA-3597F295AFFB}"/>
              </a:ext>
            </a:extLst>
          </p:cNvPr>
          <p:cNvSpPr/>
          <p:nvPr/>
        </p:nvSpPr>
        <p:spPr>
          <a:xfrm>
            <a:off x="453294" y="620865"/>
            <a:ext cx="2437205" cy="446597"/>
          </a:xfrm>
          <a:prstGeom prst="rect">
            <a:avLst/>
          </a:prstGeom>
        </p:spPr>
        <p:txBody>
          <a:bodyPr wrap="square" lIns="0" tIns="0" rIns="0" bIns="0">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272" normalizeH="0" baseline="0" noProof="0">
                <a:ln>
                  <a:noFill/>
                </a:ln>
                <a:solidFill>
                  <a:schemeClr val="accent3"/>
                </a:solidFill>
                <a:effectLst/>
                <a:uLnTx/>
                <a:uFillTx/>
                <a:latin typeface="Verdana"/>
                <a:ea typeface="+mn-ea"/>
                <a:cs typeface="+mn-cs"/>
              </a:rPr>
              <a:t>COVERAGE </a:t>
            </a:r>
            <a:endParaRPr kumimoji="0" lang="en-IN" sz="2902" b="0" i="0" u="none" strike="noStrike" kern="1200" cap="none" spc="272" normalizeH="0" baseline="0" noProof="0">
              <a:ln>
                <a:noFill/>
              </a:ln>
              <a:solidFill>
                <a:schemeClr val="accent3"/>
              </a:solidFill>
              <a:effectLst/>
              <a:uLnTx/>
              <a:uFillTx/>
              <a:latin typeface="Verdana"/>
              <a:ea typeface="+mn-ea"/>
              <a:cs typeface="+mn-cs"/>
            </a:endParaRPr>
          </a:p>
        </p:txBody>
      </p:sp>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4095128421"/>
              </p:ext>
            </p:extLst>
          </p:nvPr>
        </p:nvGraphicFramePr>
        <p:xfrm>
          <a:off x="453293" y="1386442"/>
          <a:ext cx="4915661" cy="3682708"/>
        </p:xfrm>
        <a:graphic>
          <a:graphicData uri="http://schemas.openxmlformats.org/drawingml/2006/table">
            <a:tbl>
              <a:tblPr>
                <a:tableStyleId>{2D5ABB26-0587-4C30-8999-92F81FD0307C}</a:tableStyleId>
              </a:tblPr>
              <a:tblGrid>
                <a:gridCol w="692210">
                  <a:extLst>
                    <a:ext uri="{9D8B030D-6E8A-4147-A177-3AD203B41FA5}">
                      <a16:colId xmlns:a16="http://schemas.microsoft.com/office/drawing/2014/main" val="20000"/>
                    </a:ext>
                  </a:extLst>
                </a:gridCol>
                <a:gridCol w="4223451">
                  <a:extLst>
                    <a:ext uri="{9D8B030D-6E8A-4147-A177-3AD203B41FA5}">
                      <a16:colId xmlns:a16="http://schemas.microsoft.com/office/drawing/2014/main" val="20001"/>
                    </a:ext>
                  </a:extLst>
                </a:gridCol>
              </a:tblGrid>
              <a:tr h="74436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mn-lt"/>
                          <a:ea typeface="+mn-ea"/>
                          <a:cs typeface="+mn-cs"/>
                        </a:rPr>
                        <a:t>Project Context</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Our understanding of the project</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0"/>
                  </a:ext>
                </a:extLst>
              </a:tr>
              <a:tr h="73244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mn-lt"/>
                          <a:ea typeface="+mn-ea"/>
                          <a:cs typeface="+mn-cs"/>
                        </a:rPr>
                        <a:t>Scope of Work</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Summary of the Scope and Key Deliverables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1"/>
                  </a:ext>
                </a:extLst>
              </a:tr>
              <a:tr h="71885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mn-lt"/>
                          <a:ea typeface="+mn-ea"/>
                          <a:cs typeface="+mn-cs"/>
                        </a:rPr>
                        <a:t>Our Approach and Methodology</a:t>
                      </a:r>
                    </a:p>
                    <a:p>
                      <a:pPr marL="0" marR="0" lvl="0" indent="0" algn="l" defTabSz="859512" rtl="0" eaLnBrk="1" fontAlgn="auto" latinLnBrk="0" hangingPunct="1">
                        <a:lnSpc>
                          <a:spcPct val="100000"/>
                        </a:lnSpc>
                        <a:spcBef>
                          <a:spcPts val="0"/>
                        </a:spcBef>
                        <a:spcAft>
                          <a:spcPts val="60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Structured Approach and Methodology to meet targets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2"/>
                  </a:ext>
                </a:extLst>
              </a:tr>
              <a:tr h="74662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mn-lt"/>
                          <a:ea typeface="+mn-ea"/>
                          <a:cs typeface="+mn-cs"/>
                        </a:rPr>
                        <a:t>Work Plan</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Summarized Activities and Delivery Timelines</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0006"/>
                  </a:ext>
                </a:extLst>
              </a:tr>
              <a:tr h="74043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3"/>
                          </a:solidFill>
                          <a:effectLst/>
                          <a:uLnTx/>
                          <a:uFillTx/>
                          <a:latin typeface="+mn-lt"/>
                          <a:ea typeface="+mn-ea"/>
                          <a:cs typeface="+mn-cs"/>
                        </a:rPr>
                        <a:t>Next Steps</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ABAB"/>
                          </a:solidFill>
                          <a:effectLst/>
                          <a:uLnTx/>
                          <a:uFillTx/>
                          <a:latin typeface="+mn-lt"/>
                          <a:ea typeface="+mn-ea"/>
                          <a:cs typeface="+mn-cs"/>
                        </a:rPr>
                        <a:t>Way Forward</a:t>
                      </a:r>
                    </a:p>
                  </a:txBody>
                  <a:tcPr marL="82918" marR="82918" marT="41459" marB="41459" anchor="ct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1958107146"/>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60973" y="1537599"/>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60973" y="2294897"/>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60973" y="3018911"/>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3</a:t>
            </a:r>
          </a:p>
        </p:txBody>
      </p:sp>
      <p:sp>
        <p:nvSpPr>
          <p:cNvPr id="9" name="Oval 8">
            <a:extLst>
              <a:ext uri="{FF2B5EF4-FFF2-40B4-BE49-F238E27FC236}">
                <a16:creationId xmlns:a16="http://schemas.microsoft.com/office/drawing/2014/main" id="{3273B13A-D4B8-40C0-84EA-C9DA70E457DA}"/>
              </a:ext>
            </a:extLst>
          </p:cNvPr>
          <p:cNvSpPr>
            <a:spLocks noChangeAspect="1"/>
          </p:cNvSpPr>
          <p:nvPr/>
        </p:nvSpPr>
        <p:spPr>
          <a:xfrm>
            <a:off x="660973" y="3739502"/>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4</a:t>
            </a:r>
          </a:p>
        </p:txBody>
      </p:sp>
      <p:sp>
        <p:nvSpPr>
          <p:cNvPr id="10" name="Oval 9">
            <a:extLst>
              <a:ext uri="{FF2B5EF4-FFF2-40B4-BE49-F238E27FC236}">
                <a16:creationId xmlns:a16="http://schemas.microsoft.com/office/drawing/2014/main" id="{A1D0D3E3-B19B-4FE2-9161-C5EFB2FB9037}"/>
              </a:ext>
            </a:extLst>
          </p:cNvPr>
          <p:cNvSpPr>
            <a:spLocks noChangeAspect="1"/>
          </p:cNvSpPr>
          <p:nvPr/>
        </p:nvSpPr>
        <p:spPr>
          <a:xfrm>
            <a:off x="660973" y="4478760"/>
            <a:ext cx="390751" cy="39075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5</a:t>
            </a:r>
          </a:p>
        </p:txBody>
      </p:sp>
      <p:pic>
        <p:nvPicPr>
          <p:cNvPr id="2" name="Picture 1">
            <a:extLst>
              <a:ext uri="{FF2B5EF4-FFF2-40B4-BE49-F238E27FC236}">
                <a16:creationId xmlns:a16="http://schemas.microsoft.com/office/drawing/2014/main" id="{76A0F86D-7983-4DC4-99B3-E999058B1A3C}"/>
              </a:ext>
            </a:extLst>
          </p:cNvPr>
          <p:cNvPicPr>
            <a:picLocks noChangeAspect="1"/>
          </p:cNvPicPr>
          <p:nvPr/>
        </p:nvPicPr>
        <p:blipFill rotWithShape="1">
          <a:blip r:embed="rId2"/>
          <a:srcRect r="2302"/>
          <a:stretch/>
        </p:blipFill>
        <p:spPr>
          <a:xfrm>
            <a:off x="5452845" y="2490273"/>
            <a:ext cx="6739156" cy="4367727"/>
          </a:xfrm>
          <a:prstGeom prst="rect">
            <a:avLst/>
          </a:prstGeom>
        </p:spPr>
      </p:pic>
    </p:spTree>
    <p:extLst>
      <p:ext uri="{BB962C8B-B14F-4D97-AF65-F5344CB8AC3E}">
        <p14:creationId xmlns:p14="http://schemas.microsoft.com/office/powerpoint/2010/main" val="113146398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2"/>
            </p:custDataLst>
            <p:extLst>
              <p:ext uri="{D42A27DB-BD31-4B8C-83A1-F6EECF244321}">
                <p14:modId xmlns:p14="http://schemas.microsoft.com/office/powerpoint/2010/main" val="8578829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0845"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4" name="Rectangle 43">
            <a:extLst>
              <a:ext uri="{FF2B5EF4-FFF2-40B4-BE49-F238E27FC236}">
                <a16:creationId xmlns:a16="http://schemas.microsoft.com/office/drawing/2014/main" id="{641DEA49-9991-40FC-B641-9D6CEE77B878}"/>
              </a:ext>
            </a:extLst>
          </p:cNvPr>
          <p:cNvSpPr/>
          <p:nvPr/>
        </p:nvSpPr>
        <p:spPr bwMode="gray">
          <a:xfrm>
            <a:off x="453007" y="1477333"/>
            <a:ext cx="11257656" cy="3606394"/>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a:ea typeface="+mn-ea"/>
              <a:cs typeface="+mn-cs"/>
            </a:endParaRPr>
          </a:p>
        </p:txBody>
      </p:sp>
      <p:sp>
        <p:nvSpPr>
          <p:cNvPr id="2" name="Text Placeholder 1"/>
          <p:cNvSpPr>
            <a:spLocks noGrp="1"/>
          </p:cNvSpPr>
          <p:nvPr>
            <p:ph type="body" sz="quarter" idx="13"/>
          </p:nvPr>
        </p:nvSpPr>
        <p:spPr>
          <a:xfrm>
            <a:off x="501649" y="651601"/>
            <a:ext cx="11456571" cy="283824"/>
          </a:xfrm>
        </p:spPr>
        <p:txBody>
          <a:bodyPr/>
          <a:lstStyle/>
          <a:p>
            <a:pPr algn="just"/>
            <a:r>
              <a:rPr lang="en-US"/>
              <a:t>Proper organization structure with effective manpower planning plays a vital role in successful operation of businesses</a:t>
            </a:r>
          </a:p>
        </p:txBody>
      </p:sp>
      <p:sp>
        <p:nvSpPr>
          <p:cNvPr id="6" name="Title 5"/>
          <p:cNvSpPr>
            <a:spLocks noGrp="1"/>
          </p:cNvSpPr>
          <p:nvPr>
            <p:ph type="title"/>
          </p:nvPr>
        </p:nvSpPr>
        <p:spPr/>
        <p:txBody>
          <a:bodyPr vert="horz"/>
          <a:lstStyle/>
          <a:p>
            <a:r>
              <a:rPr lang="en-US" b="1"/>
              <a:t>Project Context</a:t>
            </a:r>
            <a:endParaRPr lang="en-GB" b="1"/>
          </a:p>
        </p:txBody>
      </p:sp>
      <p:cxnSp>
        <p:nvCxnSpPr>
          <p:cNvPr id="7" name="Straight Connector 6"/>
          <p:cNvCxnSpPr/>
          <p:nvPr/>
        </p:nvCxnSpPr>
        <p:spPr>
          <a:xfrm flipV="1">
            <a:off x="514664" y="1261889"/>
            <a:ext cx="111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378804" y="1152720"/>
            <a:ext cx="3363986" cy="215444"/>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GB" sz="1400" b="1">
                <a:solidFill>
                  <a:srgbClr val="313131"/>
                </a:solidFill>
                <a:latin typeface="Calibri"/>
              </a:rPr>
              <a:t>Our Understanding of current dynamics </a:t>
            </a:r>
          </a:p>
        </p:txBody>
      </p:sp>
      <p:sp>
        <p:nvSpPr>
          <p:cNvPr id="31" name="Rectangle 30"/>
          <p:cNvSpPr/>
          <p:nvPr/>
        </p:nvSpPr>
        <p:spPr>
          <a:xfrm>
            <a:off x="551929" y="3338308"/>
            <a:ext cx="11024879" cy="457200"/>
          </a:xfrm>
          <a:prstGeom prst="rect">
            <a:avLst/>
          </a:prstGeom>
          <a:solidFill>
            <a:srgbClr val="009A44"/>
          </a:solidFill>
          <a:ln w="12700" cap="flat" cmpd="sng" algn="ctr">
            <a:noFill/>
            <a:prstDash val="solid"/>
            <a:miter lim="800000"/>
          </a:ln>
          <a:effectLst/>
        </p:spPr>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a:ln>
                  <a:noFill/>
                </a:ln>
                <a:solidFill>
                  <a:prstClr val="white"/>
                </a:solidFill>
                <a:effectLst/>
                <a:uLnTx/>
                <a:uFillTx/>
                <a:latin typeface="Calibri"/>
                <a:ea typeface="Verdana" panose="020B0604030504040204" pitchFamily="34" charset="0"/>
                <a:cs typeface="Verdana" panose="020B0604030504040204" pitchFamily="34" charset="0"/>
              </a:rPr>
              <a:t>Need of an enhanced Performance Management System in line with DPL’s Vision and Strategy with formulation of organizational and departmental KPIs</a:t>
            </a:r>
          </a:p>
        </p:txBody>
      </p:sp>
      <p:sp>
        <p:nvSpPr>
          <p:cNvPr id="32" name="Rectangle 31"/>
          <p:cNvSpPr/>
          <p:nvPr/>
        </p:nvSpPr>
        <p:spPr>
          <a:xfrm>
            <a:off x="551929" y="3909016"/>
            <a:ext cx="11024879" cy="457200"/>
          </a:xfrm>
          <a:prstGeom prst="rect">
            <a:avLst/>
          </a:prstGeom>
          <a:solidFill>
            <a:schemeClr val="accent5">
              <a:lumMod val="75000"/>
            </a:schemeClr>
          </a:solidFill>
          <a:ln w="12700" cap="flat" cmpd="sng" algn="ctr">
            <a:noFill/>
            <a:prstDash val="solid"/>
            <a:miter lim="800000"/>
          </a:ln>
          <a:effectLst/>
        </p:spPr>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300" kern="0">
                <a:solidFill>
                  <a:prstClr val="white"/>
                </a:solidFill>
                <a:latin typeface="Calibri"/>
                <a:ea typeface="Verdana" panose="020B0604030504040204" pitchFamily="34" charset="0"/>
                <a:cs typeface="Verdana" panose="020B0604030504040204" pitchFamily="34" charset="0"/>
              </a:rPr>
              <a:t>Review of existing </a:t>
            </a:r>
            <a:r>
              <a:rPr kumimoji="0" lang="en-US" sz="1300" b="0" i="0" u="none" strike="noStrike" kern="0" cap="none" spc="0" normalizeH="0" baseline="0" noProof="0">
                <a:ln>
                  <a:noFill/>
                </a:ln>
                <a:solidFill>
                  <a:prstClr val="white"/>
                </a:solidFill>
                <a:effectLst/>
                <a:uLnTx/>
                <a:uFillTx/>
                <a:latin typeface="Calibri"/>
                <a:ea typeface="Verdana" panose="020B0604030504040204" pitchFamily="34" charset="0"/>
                <a:cs typeface="Verdana" panose="020B0604030504040204" pitchFamily="34" charset="0"/>
              </a:rPr>
              <a:t>key employee policies, incentive schemes and employee Training plans to keep them at par with other </a:t>
            </a:r>
            <a:r>
              <a:rPr lang="en-US" sz="1300" kern="0">
                <a:solidFill>
                  <a:prstClr val="white"/>
                </a:solidFill>
                <a:latin typeface="Calibri"/>
                <a:ea typeface="Verdana" panose="020B0604030504040204" pitchFamily="34" charset="0"/>
                <a:cs typeface="Verdana" panose="020B0604030504040204" pitchFamily="34" charset="0"/>
              </a:rPr>
              <a:t>utilities and state guidelines</a:t>
            </a:r>
            <a:endParaRPr kumimoji="0" lang="en-US" sz="1300" b="0" i="0" u="none" strike="noStrike" kern="0" cap="none" spc="0" normalizeH="0" baseline="0" noProof="0">
              <a:ln>
                <a:noFill/>
              </a:ln>
              <a:solidFill>
                <a:prstClr val="white"/>
              </a:solidFill>
              <a:effectLst/>
              <a:uLnTx/>
              <a:uFillTx/>
              <a:latin typeface="Calibri"/>
              <a:ea typeface="Verdana" panose="020B0604030504040204" pitchFamily="34" charset="0"/>
              <a:cs typeface="Verdana" panose="020B0604030504040204" pitchFamily="34" charset="0"/>
            </a:endParaRPr>
          </a:p>
        </p:txBody>
      </p:sp>
      <p:sp>
        <p:nvSpPr>
          <p:cNvPr id="33" name="Rectangle 32"/>
          <p:cNvSpPr/>
          <p:nvPr/>
        </p:nvSpPr>
        <p:spPr>
          <a:xfrm>
            <a:off x="558439" y="2196892"/>
            <a:ext cx="11024879" cy="457200"/>
          </a:xfrm>
          <a:prstGeom prst="rect">
            <a:avLst/>
          </a:prstGeom>
          <a:solidFill>
            <a:srgbClr val="43B02A"/>
          </a:solidFill>
          <a:ln w="12700" cap="flat" cmpd="sng" algn="ctr">
            <a:noFill/>
            <a:prstDash val="solid"/>
            <a:miter lim="800000"/>
          </a:ln>
          <a:effectLst/>
        </p:spPr>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300" kern="0">
                <a:solidFill>
                  <a:prstClr val="white"/>
                </a:solidFill>
                <a:latin typeface="Calibri"/>
                <a:ea typeface="Verdana" panose="020B0604030504040204" pitchFamily="34" charset="0"/>
                <a:cs typeface="Verdana" panose="020B0604030504040204" pitchFamily="34" charset="0"/>
              </a:rPr>
              <a:t>Review of current manpower planning at DPL to ensure optimal manpower distribution </a:t>
            </a:r>
            <a:r>
              <a:rPr kumimoji="0" lang="en-US" sz="1300" b="0" i="0" u="none" strike="noStrike" kern="0" cap="none" spc="0" normalizeH="0" baseline="0" noProof="0">
                <a:ln>
                  <a:noFill/>
                </a:ln>
                <a:solidFill>
                  <a:prstClr val="white"/>
                </a:solidFill>
                <a:effectLst/>
                <a:uLnTx/>
                <a:uFillTx/>
                <a:latin typeface="Calibri"/>
                <a:ea typeface="Verdana" panose="020B0604030504040204" pitchFamily="34" charset="0"/>
                <a:cs typeface="Verdana" panose="020B0604030504040204" pitchFamily="34" charset="0"/>
              </a:rPr>
              <a:t>among business avenues to meet organization capacity addition strategy</a:t>
            </a:r>
          </a:p>
        </p:txBody>
      </p:sp>
      <p:sp>
        <p:nvSpPr>
          <p:cNvPr id="34" name="Rectangle 33"/>
          <p:cNvSpPr/>
          <p:nvPr/>
        </p:nvSpPr>
        <p:spPr>
          <a:xfrm>
            <a:off x="551930" y="2767600"/>
            <a:ext cx="11024879" cy="457200"/>
          </a:xfrm>
          <a:prstGeom prst="rect">
            <a:avLst/>
          </a:prstGeom>
          <a:solidFill>
            <a:schemeClr val="accent5"/>
          </a:solidFill>
          <a:ln w="12700" cap="flat" cmpd="sng" algn="ctr">
            <a:noFill/>
            <a:prstDash val="solid"/>
            <a:miter lim="800000"/>
          </a:ln>
          <a:effectLst/>
        </p:spPr>
        <p:txBody>
          <a:bodyPr rtlCol="0" anchor="ctr"/>
          <a:lstStyle/>
          <a:p>
            <a:pPr algn="just">
              <a:defRPr/>
            </a:pPr>
            <a:r>
              <a:rPr lang="en-US" sz="1300" kern="0">
                <a:solidFill>
                  <a:schemeClr val="bg1"/>
                </a:solidFill>
                <a:latin typeface="Calibri"/>
                <a:ea typeface="Verdana" panose="020B0604030504040204" pitchFamily="34" charset="0"/>
              </a:rPr>
              <a:t>Need of a redeployment plan for DPL’s existing manpower deployed in a) hived-off businesses (Coke Oven) and b) possible hived off business ventures (Water Works, Central Workshop)</a:t>
            </a:r>
            <a:endParaRPr lang="en-US" sz="1300" i="1" kern="0">
              <a:solidFill>
                <a:schemeClr val="bg1"/>
              </a:solidFill>
              <a:latin typeface="Calibri"/>
              <a:ea typeface="Verdana" panose="020B0604030504040204" pitchFamily="34" charset="0"/>
            </a:endParaRPr>
          </a:p>
        </p:txBody>
      </p:sp>
      <p:sp>
        <p:nvSpPr>
          <p:cNvPr id="35" name="Rectangle 34"/>
          <p:cNvSpPr/>
          <p:nvPr/>
        </p:nvSpPr>
        <p:spPr>
          <a:xfrm>
            <a:off x="551928" y="1626184"/>
            <a:ext cx="11024879" cy="457200"/>
          </a:xfrm>
          <a:prstGeom prst="rect">
            <a:avLst/>
          </a:prstGeom>
          <a:solidFill>
            <a:schemeClr val="accent5">
              <a:alpha val="73000"/>
            </a:schemeClr>
          </a:solidFill>
          <a:ln w="12700" cap="flat" cmpd="sng" algn="ctr">
            <a:noFill/>
            <a:prstDash val="solid"/>
            <a:miter lim="800000"/>
          </a:ln>
          <a:effectLst/>
        </p:spPr>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300" kern="0">
                <a:solidFill>
                  <a:schemeClr val="bg1"/>
                </a:solidFill>
                <a:latin typeface="Calibri"/>
                <a:ea typeface="Verdana" panose="020B0604030504040204" pitchFamily="34" charset="0"/>
              </a:rPr>
              <a:t>DPL is looking to enter Green Energy business streams and new technology initiatives like Renewable Energy, Electric Vehicles and Green Hydrogen which eventually require re-alignment in current organization structure and capacity building </a:t>
            </a:r>
          </a:p>
        </p:txBody>
      </p:sp>
      <p:sp>
        <p:nvSpPr>
          <p:cNvPr id="39" name="Rectangle 38">
            <a:extLst>
              <a:ext uri="{FF2B5EF4-FFF2-40B4-BE49-F238E27FC236}">
                <a16:creationId xmlns:a16="http://schemas.microsoft.com/office/drawing/2014/main" id="{EEAF920D-7B9C-41FC-8C24-38BF98364C22}"/>
              </a:ext>
            </a:extLst>
          </p:cNvPr>
          <p:cNvSpPr/>
          <p:nvPr/>
        </p:nvSpPr>
        <p:spPr>
          <a:xfrm>
            <a:off x="551928" y="4479725"/>
            <a:ext cx="11024879" cy="457200"/>
          </a:xfrm>
          <a:prstGeom prst="rect">
            <a:avLst/>
          </a:prstGeom>
          <a:solidFill>
            <a:srgbClr val="046A38"/>
          </a:solidFill>
          <a:ln w="12700" cap="flat" cmpd="sng" algn="ctr">
            <a:noFill/>
            <a:prstDash val="solid"/>
            <a:miter lim="800000"/>
          </a:ln>
          <a:effectLst/>
        </p:spPr>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300" kern="0">
                <a:solidFill>
                  <a:prstClr val="white"/>
                </a:solidFill>
                <a:latin typeface="Calibri"/>
                <a:ea typeface="Verdana" panose="020B0604030504040204" pitchFamily="34" charset="0"/>
                <a:cs typeface="Verdana" panose="020B0604030504040204" pitchFamily="34" charset="0"/>
              </a:rPr>
              <a:t>Analysis of DPL’s current outsourcing models with their effectiveness and impact on manpower optimization followed by exploration of other outsourcing models for other business services </a:t>
            </a:r>
            <a:endParaRPr kumimoji="0" lang="en-US" sz="1300" b="0" i="0" u="none" strike="noStrike" kern="0" cap="none" spc="0" normalizeH="0" baseline="0" noProof="0">
              <a:ln>
                <a:noFill/>
              </a:ln>
              <a:solidFill>
                <a:prstClr val="white"/>
              </a:solidFill>
              <a:effectLst/>
              <a:uLnTx/>
              <a:uFillTx/>
              <a:latin typeface="Calibri"/>
              <a:ea typeface="Verdana" panose="020B0604030504040204" pitchFamily="34" charset="0"/>
              <a:cs typeface="Verdana" panose="020B060403050404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AC9429DC-6DAB-4FDC-8C83-DE5191CA112F}"/>
              </a:ext>
            </a:extLst>
          </p:cNvPr>
          <p:cNvSpPr/>
          <p:nvPr/>
        </p:nvSpPr>
        <p:spPr bwMode="gray">
          <a:xfrm>
            <a:off x="455516" y="5799582"/>
            <a:ext cx="11210563" cy="678059"/>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pPr>
            <a:r>
              <a:rPr lang="en-US" sz="1400"/>
              <a:t> </a:t>
            </a:r>
            <a:r>
              <a:rPr lang="en-US" sz="1400" b="1" i="1"/>
              <a:t>(i) Review of organization Structure (ii) Review of Manpower Planning (iii) Enhanced Performance Management System (iv) Review of KPI’s at organization and department Level (v) Review of Outsourcing Deployment Models</a:t>
            </a:r>
          </a:p>
        </p:txBody>
      </p:sp>
      <p:sp>
        <p:nvSpPr>
          <p:cNvPr id="52" name="Isosceles Triangle 51">
            <a:extLst>
              <a:ext uri="{FF2B5EF4-FFF2-40B4-BE49-F238E27FC236}">
                <a16:creationId xmlns:a16="http://schemas.microsoft.com/office/drawing/2014/main" id="{3A27E5A8-48F4-4E81-90FF-5A86CD663750}"/>
              </a:ext>
            </a:extLst>
          </p:cNvPr>
          <p:cNvSpPr/>
          <p:nvPr/>
        </p:nvSpPr>
        <p:spPr bwMode="gray">
          <a:xfrm rot="10800000">
            <a:off x="475829" y="5159070"/>
            <a:ext cx="11225125" cy="239304"/>
          </a:xfrm>
          <a:prstGeom prst="triangle">
            <a:avLst>
              <a:gd name="adj" fmla="val 50000"/>
            </a:avLst>
          </a:prstGeom>
          <a:solidFill>
            <a:schemeClr val="tx2">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bg1"/>
              </a:solidFill>
            </a:endParaRPr>
          </a:p>
        </p:txBody>
      </p:sp>
      <p:sp>
        <p:nvSpPr>
          <p:cNvPr id="53" name="Rectangle 52">
            <a:extLst>
              <a:ext uri="{FF2B5EF4-FFF2-40B4-BE49-F238E27FC236}">
                <a16:creationId xmlns:a16="http://schemas.microsoft.com/office/drawing/2014/main" id="{6AA159A3-735B-4E97-A51D-DBF54D1E482D}"/>
              </a:ext>
            </a:extLst>
          </p:cNvPr>
          <p:cNvSpPr/>
          <p:nvPr/>
        </p:nvSpPr>
        <p:spPr bwMode="gray">
          <a:xfrm>
            <a:off x="475829" y="5515187"/>
            <a:ext cx="11225125" cy="284396"/>
          </a:xfrm>
          <a:prstGeom prst="rect">
            <a:avLst/>
          </a:prstGeom>
          <a:solidFill>
            <a:schemeClr val="accent1"/>
          </a:solidFill>
          <a:ln w="12700" cap="flat" cmpd="sng" algn="ctr">
            <a:noFill/>
            <a:prstDash val="solid"/>
            <a:miter lim="800000"/>
          </a:ln>
          <a:effectLst/>
        </p:spPr>
        <p:txBody>
          <a:bodyPr lIns="77724" tIns="77724" rIns="77724" bIns="77724" rtlCol="0" anchor="ctr"/>
          <a:lstStyle/>
          <a:p>
            <a:pPr lvl="0" algn="ctr">
              <a:defRPr/>
            </a:pPr>
            <a:r>
              <a:rPr kumimoji="0" lang="en-US" sz="1300" b="1" i="0" u="none" strike="noStrike" kern="0" cap="none" spc="0" normalizeH="0" baseline="0" noProof="0">
                <a:ln>
                  <a:noFill/>
                </a:ln>
                <a:solidFill>
                  <a:prstClr val="white"/>
                </a:solidFill>
                <a:effectLst/>
                <a:uLnTx/>
                <a:uFillTx/>
                <a:ea typeface="Verdana" panose="020B0604030504040204" pitchFamily="34" charset="0"/>
                <a:cs typeface="Verdana" panose="020B0604030504040204" pitchFamily="34" charset="0"/>
              </a:rPr>
              <a:t>It is in this context</a:t>
            </a:r>
            <a:r>
              <a:rPr lang="en-US" sz="1300" b="1" kern="0">
                <a:solidFill>
                  <a:prstClr val="white"/>
                </a:solidFill>
                <a:ea typeface="Verdana" panose="020B0604030504040204" pitchFamily="34" charset="0"/>
                <a:cs typeface="Verdana" panose="020B0604030504040204" pitchFamily="34" charset="0"/>
              </a:rPr>
              <a:t> that DPL looks forward to</a:t>
            </a:r>
            <a:endParaRPr kumimoji="0" lang="en-US" sz="1300" b="0" i="0" u="none" strike="noStrike" kern="0" cap="none" spc="0" normalizeH="0" baseline="0" noProof="0">
              <a:ln>
                <a:noFill/>
              </a:ln>
              <a:solidFill>
                <a:prstClr val="black"/>
              </a:solidFill>
              <a:effectLst/>
              <a:uLnTx/>
              <a:uFillTx/>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57820705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2"/>
            </p:custDataLst>
            <p:extLst>
              <p:ext uri="{D42A27DB-BD31-4B8C-83A1-F6EECF244321}">
                <p14:modId xmlns:p14="http://schemas.microsoft.com/office/powerpoint/2010/main" val="12457858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1869"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01650" y="651601"/>
            <a:ext cx="11188700" cy="292180"/>
          </a:xfrm>
        </p:spPr>
        <p:txBody>
          <a:bodyPr/>
          <a:lstStyle/>
          <a:p>
            <a:pPr algn="just"/>
            <a:r>
              <a:rPr lang="en-US"/>
              <a:t>To assist DPL with effective organization structure, manpower planning, training and capacity building plan</a:t>
            </a:r>
          </a:p>
        </p:txBody>
      </p:sp>
      <p:sp>
        <p:nvSpPr>
          <p:cNvPr id="6" name="Title 5"/>
          <p:cNvSpPr>
            <a:spLocks noGrp="1"/>
          </p:cNvSpPr>
          <p:nvPr>
            <p:ph type="title"/>
          </p:nvPr>
        </p:nvSpPr>
        <p:spPr/>
        <p:txBody>
          <a:bodyPr vert="horz"/>
          <a:lstStyle/>
          <a:p>
            <a:r>
              <a:rPr lang="en-US" b="1"/>
              <a:t>Summary of Scope of Work</a:t>
            </a:r>
            <a:endParaRPr lang="en-GB" b="1"/>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0EDC182-8BFB-41C7-9989-9976F0DFAE07}"/>
              </a:ext>
            </a:extLst>
          </p:cNvPr>
          <p:cNvSpPr txBox="1"/>
          <p:nvPr/>
        </p:nvSpPr>
        <p:spPr>
          <a:xfrm>
            <a:off x="501650" y="6275093"/>
            <a:ext cx="10825562" cy="276999"/>
          </a:xfrm>
          <a:prstGeom prst="rect">
            <a:avLst/>
          </a:prstGeom>
          <a:noFill/>
        </p:spPr>
        <p:txBody>
          <a:bodyPr wrap="square">
            <a:spAutoFit/>
          </a:bodyPr>
          <a:lstStyle/>
          <a:p>
            <a:pPr marL="0" marR="0" lvl="1" indent="0" algn="l" defTabSz="914400" rtl="0" eaLnBrk="1" fontAlgn="auto" latinLnBrk="0" hangingPunct="1">
              <a:lnSpc>
                <a:spcPct val="100000"/>
              </a:lnSpc>
              <a:spcBef>
                <a:spcPts val="600"/>
              </a:spcBef>
              <a:spcAft>
                <a:spcPts val="30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Note </a:t>
            </a:r>
            <a:r>
              <a:rPr kumimoji="0" lang="en-US" sz="1200" b="0" i="0" u="none" strike="noStrike" kern="1200" cap="none" spc="0" normalizeH="0" baseline="0" noProof="0" dirty="0">
                <a:ln>
                  <a:noFill/>
                </a:ln>
                <a:solidFill>
                  <a:prstClr val="black"/>
                </a:solidFill>
                <a:effectLst/>
                <a:uLnTx/>
                <a:uFillTx/>
                <a:latin typeface="Calibri"/>
                <a:ea typeface="+mn-ea"/>
                <a:cs typeface="+mn-cs"/>
              </a:rPr>
              <a:t>- Detailed Scope of Work to be followed as per the tender document throughout the course of assignment (attached in Annexure) </a:t>
            </a:r>
          </a:p>
        </p:txBody>
      </p:sp>
      <p:sp>
        <p:nvSpPr>
          <p:cNvPr id="24" name="Rounded Rectangle 136">
            <a:extLst>
              <a:ext uri="{FF2B5EF4-FFF2-40B4-BE49-F238E27FC236}">
                <a16:creationId xmlns:a16="http://schemas.microsoft.com/office/drawing/2014/main" id="{90B39B27-D4EE-4D65-90A9-FD978B10694E}"/>
              </a:ext>
            </a:extLst>
          </p:cNvPr>
          <p:cNvSpPr/>
          <p:nvPr/>
        </p:nvSpPr>
        <p:spPr>
          <a:xfrm>
            <a:off x="575624" y="1694677"/>
            <a:ext cx="8128593" cy="380134"/>
          </a:xfrm>
          <a:prstGeom prst="roundRect">
            <a:avLst>
              <a:gd name="adj" fmla="val 50000"/>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bg1"/>
                </a:solidFill>
              </a:rPr>
              <a:t>Study and Recommendations - Human Resource &amp; Organizational Aspects </a:t>
            </a:r>
          </a:p>
        </p:txBody>
      </p:sp>
      <p:sp>
        <p:nvSpPr>
          <p:cNvPr id="27" name="Oval 137">
            <a:extLst>
              <a:ext uri="{FF2B5EF4-FFF2-40B4-BE49-F238E27FC236}">
                <a16:creationId xmlns:a16="http://schemas.microsoft.com/office/drawing/2014/main" id="{FB176EA1-9EEC-4236-B667-5ED50F3584E4}"/>
              </a:ext>
            </a:extLst>
          </p:cNvPr>
          <p:cNvSpPr/>
          <p:nvPr/>
        </p:nvSpPr>
        <p:spPr>
          <a:xfrm>
            <a:off x="628531" y="1752544"/>
            <a:ext cx="264404" cy="264404"/>
          </a:xfrm>
          <a:prstGeom prst="ellipse">
            <a:avLst/>
          </a:prstGeom>
          <a:solidFill>
            <a:schemeClr val="bg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8" name="Oval 138">
            <a:extLst>
              <a:ext uri="{FF2B5EF4-FFF2-40B4-BE49-F238E27FC236}">
                <a16:creationId xmlns:a16="http://schemas.microsoft.com/office/drawing/2014/main" id="{B23522FB-E603-4841-B538-25E9025FD49E}"/>
              </a:ext>
            </a:extLst>
          </p:cNvPr>
          <p:cNvSpPr/>
          <p:nvPr/>
        </p:nvSpPr>
        <p:spPr>
          <a:xfrm>
            <a:off x="669828" y="1793841"/>
            <a:ext cx="181810" cy="181810"/>
          </a:xfrm>
          <a:prstGeom prst="ellipse">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4" name="Rounded Rectangle 136">
            <a:extLst>
              <a:ext uri="{FF2B5EF4-FFF2-40B4-BE49-F238E27FC236}">
                <a16:creationId xmlns:a16="http://schemas.microsoft.com/office/drawing/2014/main" id="{5C5A9445-CAF8-4F4C-B826-9DD92338194A}"/>
              </a:ext>
            </a:extLst>
          </p:cNvPr>
          <p:cNvSpPr/>
          <p:nvPr/>
        </p:nvSpPr>
        <p:spPr>
          <a:xfrm>
            <a:off x="575624" y="1280261"/>
            <a:ext cx="2291743" cy="380134"/>
          </a:xfrm>
          <a:prstGeom prst="roundRect">
            <a:avLst>
              <a:gd name="adj" fmla="val 50000"/>
            </a:avLst>
          </a:prstGeom>
          <a:solidFill>
            <a:schemeClr val="accent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300" b="1">
                <a:solidFill>
                  <a:schemeClr val="bg1"/>
                </a:solidFill>
              </a:rPr>
              <a:t>PHASE 01</a:t>
            </a:r>
            <a:endParaRPr lang="en-US" sz="1300">
              <a:solidFill>
                <a:schemeClr val="bg1"/>
              </a:solidFill>
            </a:endParaRPr>
          </a:p>
        </p:txBody>
      </p:sp>
      <p:sp>
        <p:nvSpPr>
          <p:cNvPr id="37" name="Freeform 26">
            <a:extLst>
              <a:ext uri="{FF2B5EF4-FFF2-40B4-BE49-F238E27FC236}">
                <a16:creationId xmlns:a16="http://schemas.microsoft.com/office/drawing/2014/main" id="{2FBA3529-FDD6-449E-8A60-2570585BCD79}"/>
              </a:ext>
            </a:extLst>
          </p:cNvPr>
          <p:cNvSpPr>
            <a:spLocks noEditPoints="1"/>
          </p:cNvSpPr>
          <p:nvPr/>
        </p:nvSpPr>
        <p:spPr bwMode="auto">
          <a:xfrm>
            <a:off x="621294" y="2123071"/>
            <a:ext cx="3975379" cy="4152022"/>
          </a:xfrm>
          <a:prstGeom prst="round2DiagRect">
            <a:avLst>
              <a:gd name="adj1" fmla="val 6097"/>
              <a:gd name="adj2" fmla="val 0"/>
            </a:avLst>
          </a:prstGeom>
          <a:solidFill>
            <a:srgbClr val="FFFFFF"/>
          </a:solidFill>
          <a:ln>
            <a:solidFill>
              <a:srgbClr val="0D8390"/>
            </a:solidFill>
          </a:ln>
        </p:spPr>
        <p:txBody>
          <a:bodyPr vert="horz" wrap="square" lIns="91440" tIns="182880" rIns="0" bIns="91440" numCol="1" anchor="t" anchorCtr="0" compatLnSpc="1">
            <a:prstTxWarp prst="textNoShape">
              <a:avLst/>
            </a:prstTxWarp>
          </a:bodyPr>
          <a:lstStyle/>
          <a:p>
            <a:pPr defTabSz="913686"/>
            <a:r>
              <a:rPr lang="en-US" sz="1300" b="1">
                <a:solidFill>
                  <a:srgbClr val="43B02A"/>
                </a:solidFill>
                <a:cs typeface="Arial" panose="020B0604020202020204" pitchFamily="34" charset="0"/>
              </a:rPr>
              <a:t>SUB-COMPONENT 1 - Review of Organization Structure, and manpower and recommended changes</a:t>
            </a:r>
            <a:endParaRPr lang="en-US" sz="1300" b="1">
              <a:solidFill>
                <a:srgbClr val="000000"/>
              </a:solidFill>
              <a:cs typeface="Arial" panose="020B0604020202020204" pitchFamily="34" charset="0"/>
            </a:endParaRPr>
          </a:p>
          <a:p>
            <a:pPr marL="125315" lvl="1" indent="-125315" algn="just" defTabSz="913686">
              <a:spcBef>
                <a:spcPts val="600"/>
              </a:spcBef>
              <a:spcAft>
                <a:spcPts val="400"/>
              </a:spcAft>
              <a:buSzPct val="100000"/>
              <a:buFont typeface="Arial"/>
              <a:buChar char="•"/>
            </a:pPr>
            <a:r>
              <a:rPr lang="en-US" sz="1250" b="1"/>
              <a:t>Review of Organization structure </a:t>
            </a:r>
            <a:r>
              <a:rPr lang="en-US" sz="1250"/>
              <a:t>across all levels, identification of gaps in alignment to strategy/business plan and processes</a:t>
            </a:r>
          </a:p>
          <a:p>
            <a:pPr marL="125315" lvl="1" indent="-125315" algn="just" defTabSz="913686">
              <a:spcAft>
                <a:spcPts val="400"/>
              </a:spcAft>
              <a:buSzPct val="100000"/>
              <a:buFont typeface="Arial"/>
              <a:buChar char="•"/>
            </a:pPr>
            <a:r>
              <a:rPr lang="en-US" sz="1250" b="1"/>
              <a:t>Reviewing roles &amp; responsibilities </a:t>
            </a:r>
            <a:r>
              <a:rPr lang="en-US" sz="1250"/>
              <a:t>and accountability matrix at various critical levels in the organization</a:t>
            </a:r>
          </a:p>
          <a:p>
            <a:pPr marL="125315" lvl="1" indent="-125315" algn="just" defTabSz="913686">
              <a:spcAft>
                <a:spcPts val="400"/>
              </a:spcAft>
              <a:buSzPct val="100000"/>
              <a:buFont typeface="Arial"/>
              <a:buChar char="•"/>
            </a:pPr>
            <a:r>
              <a:rPr lang="en-US" sz="1250" b="1"/>
              <a:t>Assessing the manpower </a:t>
            </a:r>
            <a:r>
              <a:rPr lang="en-US" sz="1250"/>
              <a:t>(on-roll and sanctioned strength) across all levels in organization, both at corporate level and Plant</a:t>
            </a:r>
          </a:p>
          <a:p>
            <a:pPr marL="125315" lvl="1" indent="-125315" algn="just" defTabSz="913686">
              <a:spcAft>
                <a:spcPts val="400"/>
              </a:spcAft>
              <a:buSzPct val="100000"/>
              <a:buFont typeface="Arial"/>
              <a:buChar char="•"/>
            </a:pPr>
            <a:r>
              <a:rPr lang="en-US" sz="1250"/>
              <a:t>Recommend standard </a:t>
            </a:r>
            <a:r>
              <a:rPr lang="en-US" sz="1250" b="1"/>
              <a:t>outsourcing models</a:t>
            </a:r>
          </a:p>
          <a:p>
            <a:pPr marL="125315" lvl="1" indent="-125315" algn="just" defTabSz="913686">
              <a:spcAft>
                <a:spcPts val="400"/>
              </a:spcAft>
              <a:buSzPct val="100000"/>
              <a:buFont typeface="Arial"/>
              <a:buChar char="•"/>
            </a:pPr>
            <a:r>
              <a:rPr lang="en-US" sz="1250"/>
              <a:t>Develop the </a:t>
            </a:r>
            <a:r>
              <a:rPr lang="en-US" sz="1250" b="1"/>
              <a:t>Performance Management System </a:t>
            </a:r>
            <a:r>
              <a:rPr lang="en-US" sz="1250"/>
              <a:t>in line with the Company Vision and Strategy</a:t>
            </a:r>
          </a:p>
          <a:p>
            <a:pPr marL="125315" lvl="1" indent="-125315" algn="just" defTabSz="913686">
              <a:spcAft>
                <a:spcPts val="400"/>
              </a:spcAft>
              <a:buSzPct val="100000"/>
              <a:buFont typeface="Arial"/>
              <a:buChar char="•"/>
            </a:pPr>
            <a:r>
              <a:rPr lang="en-US" sz="1250"/>
              <a:t>Evaluate current </a:t>
            </a:r>
            <a:r>
              <a:rPr lang="en-US" sz="1250" b="1"/>
              <a:t>incentive schemes </a:t>
            </a:r>
            <a:r>
              <a:rPr lang="en-US" sz="1250"/>
              <a:t>in place and assess the feasible incentive scheme mechanism design</a:t>
            </a:r>
          </a:p>
          <a:p>
            <a:pPr marL="125315" lvl="1" indent="-125315" algn="just" defTabSz="913686">
              <a:spcAft>
                <a:spcPts val="400"/>
              </a:spcAft>
              <a:buSzPct val="100000"/>
              <a:buFont typeface="Arial"/>
              <a:buChar char="•"/>
            </a:pPr>
            <a:r>
              <a:rPr lang="en-US" sz="1250"/>
              <a:t>Review </a:t>
            </a:r>
            <a:r>
              <a:rPr lang="en-US" sz="1250" b="1"/>
              <a:t>ERP or IT software implementations </a:t>
            </a:r>
            <a:r>
              <a:rPr lang="en-US" sz="1250"/>
              <a:t>and integrations between HR and PMS modules and identify improvement areas</a:t>
            </a:r>
          </a:p>
        </p:txBody>
      </p:sp>
      <p:sp>
        <p:nvSpPr>
          <p:cNvPr id="38" name="Freeform 26">
            <a:extLst>
              <a:ext uri="{FF2B5EF4-FFF2-40B4-BE49-F238E27FC236}">
                <a16:creationId xmlns:a16="http://schemas.microsoft.com/office/drawing/2014/main" id="{6A1F507C-8839-4347-A69C-C15E790CE2A2}"/>
              </a:ext>
            </a:extLst>
          </p:cNvPr>
          <p:cNvSpPr>
            <a:spLocks noEditPoints="1"/>
          </p:cNvSpPr>
          <p:nvPr/>
        </p:nvSpPr>
        <p:spPr bwMode="auto">
          <a:xfrm>
            <a:off x="4728838" y="2120151"/>
            <a:ext cx="3975379" cy="4152022"/>
          </a:xfrm>
          <a:prstGeom prst="round2DiagRect">
            <a:avLst>
              <a:gd name="adj1" fmla="val 6097"/>
              <a:gd name="adj2" fmla="val 0"/>
            </a:avLst>
          </a:prstGeom>
          <a:solidFill>
            <a:srgbClr val="FFFFFF"/>
          </a:solidFill>
          <a:ln>
            <a:solidFill>
              <a:srgbClr val="0D8390"/>
            </a:solidFill>
          </a:ln>
        </p:spPr>
        <p:txBody>
          <a:bodyPr vert="horz" wrap="square" lIns="91440" tIns="182880" rIns="0" bIns="91440" numCol="1" anchor="t" anchorCtr="0" compatLnSpc="1">
            <a:prstTxWarp prst="textNoShape">
              <a:avLst/>
            </a:prstTxWarp>
          </a:bodyPr>
          <a:lstStyle/>
          <a:p>
            <a:pPr defTabSz="913686"/>
            <a:r>
              <a:rPr lang="en-US" sz="1300" b="1">
                <a:solidFill>
                  <a:srgbClr val="43B02A"/>
                </a:solidFill>
                <a:cs typeface="Arial" panose="020B0604020202020204" pitchFamily="34" charset="0"/>
              </a:rPr>
              <a:t>SUB-COMPONENT 2 - Training and Capacity Building </a:t>
            </a:r>
          </a:p>
          <a:p>
            <a:pPr defTabSz="913686"/>
            <a:endParaRPr lang="en-US" sz="1300" b="1">
              <a:solidFill>
                <a:srgbClr val="000000"/>
              </a:solidFill>
              <a:cs typeface="Arial" panose="020B0604020202020204" pitchFamily="34" charset="0"/>
            </a:endParaRPr>
          </a:p>
          <a:p>
            <a:pPr marL="125315" lvl="1" indent="-125315" algn="just" defTabSz="913686">
              <a:spcAft>
                <a:spcPts val="1200"/>
              </a:spcAft>
              <a:buSzPct val="100000"/>
              <a:buFont typeface="Arial"/>
              <a:buChar char="•"/>
            </a:pPr>
            <a:r>
              <a:rPr lang="en-US" sz="1250"/>
              <a:t>Conduct skill </a:t>
            </a:r>
            <a:r>
              <a:rPr lang="en-US" sz="1250" b="1"/>
              <a:t>gap assessment study </a:t>
            </a:r>
            <a:r>
              <a:rPr lang="en-US" sz="1250"/>
              <a:t>and identify focus areas</a:t>
            </a:r>
          </a:p>
          <a:p>
            <a:pPr marL="125315" lvl="1" indent="-125315" algn="just" defTabSz="913686">
              <a:spcAft>
                <a:spcPts val="1200"/>
              </a:spcAft>
              <a:buSzPct val="100000"/>
              <a:buFont typeface="Arial"/>
              <a:buChar char="•"/>
            </a:pPr>
            <a:r>
              <a:rPr lang="en-US" sz="1250"/>
              <a:t>Study the </a:t>
            </a:r>
            <a:r>
              <a:rPr lang="en-US" sz="1250" b="1"/>
              <a:t>training policy and programs </a:t>
            </a:r>
            <a:r>
              <a:rPr lang="en-US" sz="1250"/>
              <a:t>of DPL including assessing the effectiveness of the training</a:t>
            </a:r>
          </a:p>
          <a:p>
            <a:pPr marL="125315" lvl="1" indent="-125315" algn="just" defTabSz="913686">
              <a:spcAft>
                <a:spcPts val="1200"/>
              </a:spcAft>
              <a:buSzPct val="100000"/>
              <a:buFont typeface="Arial"/>
              <a:buChar char="•"/>
            </a:pPr>
            <a:r>
              <a:rPr lang="en-US" sz="1250" b="1"/>
              <a:t>Benchmark </a:t>
            </a:r>
            <a:r>
              <a:rPr lang="en-US" sz="1250"/>
              <a:t>the training and capacity building needs with similar best performing organizations in Power Sector within India</a:t>
            </a:r>
          </a:p>
          <a:p>
            <a:pPr marL="125315" lvl="1" indent="-125315" algn="just" defTabSz="913686">
              <a:spcAft>
                <a:spcPts val="1200"/>
              </a:spcAft>
              <a:buSzPct val="100000"/>
              <a:buFont typeface="Arial"/>
              <a:buChar char="•"/>
            </a:pPr>
            <a:r>
              <a:rPr lang="en-US" sz="1250"/>
              <a:t>Identify </a:t>
            </a:r>
            <a:r>
              <a:rPr lang="en-US" sz="1250" b="1"/>
              <a:t>future capacity building gaps </a:t>
            </a:r>
            <a:r>
              <a:rPr lang="en-US" sz="1250"/>
              <a:t>and develop a revised Training Strategy, Plan and calendar for DPL</a:t>
            </a:r>
          </a:p>
          <a:p>
            <a:pPr marL="125315" lvl="1" indent="-125315" algn="just" defTabSz="913686">
              <a:spcAft>
                <a:spcPts val="1200"/>
              </a:spcAft>
              <a:buSzPct val="100000"/>
              <a:buFont typeface="Arial"/>
              <a:buChar char="•"/>
            </a:pPr>
            <a:r>
              <a:rPr lang="en-US" sz="1250"/>
              <a:t>Recommend </a:t>
            </a:r>
            <a:r>
              <a:rPr lang="en-US" sz="1250" b="1"/>
              <a:t>training and capacity building institutional set up</a:t>
            </a:r>
          </a:p>
          <a:p>
            <a:pPr marL="125315" lvl="1" indent="-125315" algn="just" defTabSz="913686">
              <a:spcAft>
                <a:spcPts val="1200"/>
              </a:spcAft>
              <a:buSzPct val="100000"/>
              <a:buFont typeface="Arial"/>
              <a:buChar char="•"/>
            </a:pPr>
            <a:r>
              <a:rPr lang="en-US" sz="1250"/>
              <a:t>Devise </a:t>
            </a:r>
            <a:r>
              <a:rPr lang="en-US" sz="1250" b="1"/>
              <a:t>institutional mechanism </a:t>
            </a:r>
            <a:r>
              <a:rPr lang="en-US" sz="1250"/>
              <a:t>for Training effectiveness and KPIs for the training function</a:t>
            </a:r>
          </a:p>
        </p:txBody>
      </p:sp>
      <p:grpSp>
        <p:nvGrpSpPr>
          <p:cNvPr id="29" name="Group 28">
            <a:extLst>
              <a:ext uri="{FF2B5EF4-FFF2-40B4-BE49-F238E27FC236}">
                <a16:creationId xmlns:a16="http://schemas.microsoft.com/office/drawing/2014/main" id="{1A84CAA6-3CB7-4A16-8810-4AF587A96823}"/>
              </a:ext>
            </a:extLst>
          </p:cNvPr>
          <p:cNvGrpSpPr/>
          <p:nvPr/>
        </p:nvGrpSpPr>
        <p:grpSpPr>
          <a:xfrm>
            <a:off x="836680" y="1021759"/>
            <a:ext cx="383152" cy="555806"/>
            <a:chOff x="2682876" y="1790701"/>
            <a:chExt cx="514350" cy="746125"/>
          </a:xfrm>
          <a:effectLst>
            <a:outerShdw blurRad="76200" dir="18900000" sy="23000" kx="-1200000" algn="bl" rotWithShape="0">
              <a:prstClr val="black">
                <a:alpha val="20000"/>
              </a:prstClr>
            </a:outerShdw>
          </a:effectLst>
        </p:grpSpPr>
        <p:sp>
          <p:nvSpPr>
            <p:cNvPr id="30" name="Freeform 20">
              <a:extLst>
                <a:ext uri="{FF2B5EF4-FFF2-40B4-BE49-F238E27FC236}">
                  <a16:creationId xmlns:a16="http://schemas.microsoft.com/office/drawing/2014/main" id="{8FF870CF-911E-46B0-93CF-1353072C0A3E}"/>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a:defRPr/>
              </a:pPr>
              <a:endParaRPr lang="en-US" sz="1350"/>
            </a:p>
          </p:txBody>
        </p:sp>
        <p:sp>
          <p:nvSpPr>
            <p:cNvPr id="31" name="Freeform 21">
              <a:extLst>
                <a:ext uri="{FF2B5EF4-FFF2-40B4-BE49-F238E27FC236}">
                  <a16:creationId xmlns:a16="http://schemas.microsoft.com/office/drawing/2014/main" id="{13CD7309-2BD3-4C16-8ECA-528B1B050EC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a:defRPr/>
              </a:pPr>
              <a:endParaRPr lang="en-US" sz="1350"/>
            </a:p>
          </p:txBody>
        </p:sp>
        <p:sp>
          <p:nvSpPr>
            <p:cNvPr id="32" name="Oval 31">
              <a:extLst>
                <a:ext uri="{FF2B5EF4-FFF2-40B4-BE49-F238E27FC236}">
                  <a16:creationId xmlns:a16="http://schemas.microsoft.com/office/drawing/2014/main" id="{D22228AD-D16D-49B9-A369-CEA2BEE388FF}"/>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sp>
        <p:nvSpPr>
          <p:cNvPr id="33" name="TextBox 32">
            <a:extLst>
              <a:ext uri="{FF2B5EF4-FFF2-40B4-BE49-F238E27FC236}">
                <a16:creationId xmlns:a16="http://schemas.microsoft.com/office/drawing/2014/main" id="{449D5F2E-9BCC-4D86-9D0E-94E3CE709A0A}"/>
              </a:ext>
            </a:extLst>
          </p:cNvPr>
          <p:cNvSpPr txBox="1"/>
          <p:nvPr/>
        </p:nvSpPr>
        <p:spPr>
          <a:xfrm>
            <a:off x="851638" y="1071794"/>
            <a:ext cx="322525" cy="253916"/>
          </a:xfrm>
          <a:prstGeom prst="rect">
            <a:avLst/>
          </a:prstGeom>
          <a:noFill/>
        </p:spPr>
        <p:txBody>
          <a:bodyPr wrap="none">
            <a:spAutoFit/>
          </a:bodyPr>
          <a:lstStyle/>
          <a:p>
            <a:pPr algn="ctr">
              <a:defRPr/>
            </a:pPr>
            <a:r>
              <a:rPr lang="en-US" sz="1050" b="1">
                <a:solidFill>
                  <a:schemeClr val="accent4"/>
                </a:solidFill>
                <a:latin typeface="+mj-lt"/>
              </a:rPr>
              <a:t>01</a:t>
            </a:r>
            <a:endParaRPr lang="id-ID" sz="1050" b="1">
              <a:solidFill>
                <a:schemeClr val="accent4"/>
              </a:solidFill>
              <a:latin typeface="+mj-lt"/>
            </a:endParaRPr>
          </a:p>
        </p:txBody>
      </p:sp>
      <p:sp>
        <p:nvSpPr>
          <p:cNvPr id="39" name="Isosceles Triangle 38">
            <a:extLst>
              <a:ext uri="{FF2B5EF4-FFF2-40B4-BE49-F238E27FC236}">
                <a16:creationId xmlns:a16="http://schemas.microsoft.com/office/drawing/2014/main" id="{C1CBF657-4F27-4CEE-9C9F-BA37824CF012}"/>
              </a:ext>
            </a:extLst>
          </p:cNvPr>
          <p:cNvSpPr/>
          <p:nvPr/>
        </p:nvSpPr>
        <p:spPr bwMode="gray">
          <a:xfrm rot="5400000">
            <a:off x="6956912" y="3968461"/>
            <a:ext cx="4152016" cy="455395"/>
          </a:xfrm>
          <a:prstGeom prst="triangle">
            <a:avLst>
              <a:gd name="adj" fmla="val 51921"/>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0" name="Rounded Rectangle 136">
            <a:extLst>
              <a:ext uri="{FF2B5EF4-FFF2-40B4-BE49-F238E27FC236}">
                <a16:creationId xmlns:a16="http://schemas.microsoft.com/office/drawing/2014/main" id="{C5F5F944-D154-4FA9-9D88-BAD7AD6396B8}"/>
              </a:ext>
            </a:extLst>
          </p:cNvPr>
          <p:cNvSpPr/>
          <p:nvPr/>
        </p:nvSpPr>
        <p:spPr>
          <a:xfrm>
            <a:off x="9361624" y="3371953"/>
            <a:ext cx="2291743" cy="380134"/>
          </a:xfrm>
          <a:prstGeom prst="roundRect">
            <a:avLst>
              <a:gd name="adj" fmla="val 50000"/>
            </a:avLst>
          </a:prstGeom>
          <a:solidFill>
            <a:schemeClr val="accent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300" b="1">
                <a:solidFill>
                  <a:schemeClr val="bg1"/>
                </a:solidFill>
              </a:rPr>
              <a:t>PHASE 02</a:t>
            </a:r>
            <a:endParaRPr lang="en-US" sz="1300">
              <a:solidFill>
                <a:schemeClr val="bg1"/>
              </a:solidFill>
            </a:endParaRPr>
          </a:p>
        </p:txBody>
      </p:sp>
      <p:grpSp>
        <p:nvGrpSpPr>
          <p:cNvPr id="41" name="Group 40">
            <a:extLst>
              <a:ext uri="{FF2B5EF4-FFF2-40B4-BE49-F238E27FC236}">
                <a16:creationId xmlns:a16="http://schemas.microsoft.com/office/drawing/2014/main" id="{81F8CD6A-5759-4FDA-8705-7E3D4DD5DEC8}"/>
              </a:ext>
            </a:extLst>
          </p:cNvPr>
          <p:cNvGrpSpPr/>
          <p:nvPr/>
        </p:nvGrpSpPr>
        <p:grpSpPr>
          <a:xfrm>
            <a:off x="9569773" y="3081895"/>
            <a:ext cx="383152" cy="555806"/>
            <a:chOff x="2682876" y="1790701"/>
            <a:chExt cx="514350" cy="746125"/>
          </a:xfrm>
          <a:effectLst>
            <a:outerShdw blurRad="76200" dir="18900000" sy="23000" kx="-1200000" algn="bl" rotWithShape="0">
              <a:prstClr val="black">
                <a:alpha val="20000"/>
              </a:prstClr>
            </a:outerShdw>
          </a:effectLst>
        </p:grpSpPr>
        <p:sp>
          <p:nvSpPr>
            <p:cNvPr id="43" name="Freeform 20">
              <a:extLst>
                <a:ext uri="{FF2B5EF4-FFF2-40B4-BE49-F238E27FC236}">
                  <a16:creationId xmlns:a16="http://schemas.microsoft.com/office/drawing/2014/main" id="{01C1DAC8-796E-4A9B-AE79-D32F9F90F39C}"/>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a:defRPr/>
              </a:pPr>
              <a:endParaRPr lang="en-US" sz="1350"/>
            </a:p>
          </p:txBody>
        </p:sp>
        <p:sp>
          <p:nvSpPr>
            <p:cNvPr id="44" name="Freeform 21">
              <a:extLst>
                <a:ext uri="{FF2B5EF4-FFF2-40B4-BE49-F238E27FC236}">
                  <a16:creationId xmlns:a16="http://schemas.microsoft.com/office/drawing/2014/main" id="{0DF2C579-9EEA-4798-9E69-BAA292ED8F31}"/>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a:defRPr/>
              </a:pPr>
              <a:endParaRPr lang="en-US" sz="1350"/>
            </a:p>
          </p:txBody>
        </p:sp>
        <p:sp>
          <p:nvSpPr>
            <p:cNvPr id="45" name="Oval 44">
              <a:extLst>
                <a:ext uri="{FF2B5EF4-FFF2-40B4-BE49-F238E27FC236}">
                  <a16:creationId xmlns:a16="http://schemas.microsoft.com/office/drawing/2014/main" id="{47CF9198-556C-46E4-ACED-7C695AF906E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350"/>
            </a:p>
          </p:txBody>
        </p:sp>
      </p:grpSp>
      <p:sp>
        <p:nvSpPr>
          <p:cNvPr id="46" name="TextBox 45">
            <a:extLst>
              <a:ext uri="{FF2B5EF4-FFF2-40B4-BE49-F238E27FC236}">
                <a16:creationId xmlns:a16="http://schemas.microsoft.com/office/drawing/2014/main" id="{11374FA6-B8FD-40FE-BFD8-714485CC1B51}"/>
              </a:ext>
            </a:extLst>
          </p:cNvPr>
          <p:cNvSpPr txBox="1"/>
          <p:nvPr/>
        </p:nvSpPr>
        <p:spPr>
          <a:xfrm>
            <a:off x="9584731" y="3131930"/>
            <a:ext cx="322525" cy="253916"/>
          </a:xfrm>
          <a:prstGeom prst="rect">
            <a:avLst/>
          </a:prstGeom>
          <a:noFill/>
        </p:spPr>
        <p:txBody>
          <a:bodyPr wrap="none">
            <a:spAutoFit/>
          </a:bodyPr>
          <a:lstStyle/>
          <a:p>
            <a:pPr algn="ctr">
              <a:defRPr/>
            </a:pPr>
            <a:r>
              <a:rPr lang="en-US" sz="1050" b="1">
                <a:solidFill>
                  <a:schemeClr val="accent4"/>
                </a:solidFill>
                <a:latin typeface="+mj-lt"/>
              </a:rPr>
              <a:t>02</a:t>
            </a:r>
            <a:endParaRPr lang="id-ID" sz="1050" b="1">
              <a:solidFill>
                <a:schemeClr val="accent4"/>
              </a:solidFill>
              <a:latin typeface="+mj-lt"/>
            </a:endParaRPr>
          </a:p>
        </p:txBody>
      </p:sp>
      <p:sp>
        <p:nvSpPr>
          <p:cNvPr id="47" name="Freeform 26">
            <a:extLst>
              <a:ext uri="{FF2B5EF4-FFF2-40B4-BE49-F238E27FC236}">
                <a16:creationId xmlns:a16="http://schemas.microsoft.com/office/drawing/2014/main" id="{4EB81DC1-F667-4C4C-B459-707EDC52B411}"/>
              </a:ext>
            </a:extLst>
          </p:cNvPr>
          <p:cNvSpPr>
            <a:spLocks noEditPoints="1"/>
          </p:cNvSpPr>
          <p:nvPr/>
        </p:nvSpPr>
        <p:spPr bwMode="auto">
          <a:xfrm>
            <a:off x="9361624" y="3800058"/>
            <a:ext cx="2229225" cy="100648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r>
              <a:rPr lang="en-US" sz="1600" b="1">
                <a:solidFill>
                  <a:prstClr val="white"/>
                </a:solidFill>
                <a:cs typeface="Arial" charset="0"/>
              </a:rPr>
              <a:t>Implementation Support</a:t>
            </a:r>
          </a:p>
        </p:txBody>
      </p:sp>
    </p:spTree>
    <p:extLst>
      <p:ext uri="{BB962C8B-B14F-4D97-AF65-F5344CB8AC3E}">
        <p14:creationId xmlns:p14="http://schemas.microsoft.com/office/powerpoint/2010/main" val="118372842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2"/>
            </p:custDataLst>
            <p:extLst>
              <p:ext uri="{D42A27DB-BD31-4B8C-83A1-F6EECF244321}">
                <p14:modId xmlns:p14="http://schemas.microsoft.com/office/powerpoint/2010/main" val="39764367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2893"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01650" y="651601"/>
            <a:ext cx="11188700" cy="299362"/>
          </a:xfrm>
        </p:spPr>
        <p:txBody>
          <a:bodyPr/>
          <a:lstStyle/>
          <a:p>
            <a:pPr algn="just"/>
            <a:r>
              <a:rPr lang="en-US"/>
              <a:t>Key focus areas for assessment to attain maximum value addition</a:t>
            </a:r>
          </a:p>
        </p:txBody>
      </p:sp>
      <p:sp>
        <p:nvSpPr>
          <p:cNvPr id="6" name="Title 5"/>
          <p:cNvSpPr>
            <a:spLocks noGrp="1"/>
          </p:cNvSpPr>
          <p:nvPr>
            <p:ph type="title"/>
          </p:nvPr>
        </p:nvSpPr>
        <p:spPr/>
        <p:txBody>
          <a:bodyPr vert="horz"/>
          <a:lstStyle/>
          <a:p>
            <a:r>
              <a:rPr lang="en-US" b="1"/>
              <a:t>Key Focus Areas</a:t>
            </a:r>
            <a:endParaRPr lang="en-GB" b="1"/>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A35F545E-3B96-44E8-9980-81CAB5E377DA}"/>
              </a:ext>
            </a:extLst>
          </p:cNvPr>
          <p:cNvGrpSpPr/>
          <p:nvPr/>
        </p:nvGrpSpPr>
        <p:grpSpPr>
          <a:xfrm>
            <a:off x="4904563" y="2847947"/>
            <a:ext cx="2759917" cy="2759914"/>
            <a:chOff x="3498008" y="2177023"/>
            <a:chExt cx="2759917" cy="2759914"/>
          </a:xfrm>
        </p:grpSpPr>
        <p:sp>
          <p:nvSpPr>
            <p:cNvPr id="20" name="Freeform 893">
              <a:extLst>
                <a:ext uri="{FF2B5EF4-FFF2-40B4-BE49-F238E27FC236}">
                  <a16:creationId xmlns:a16="http://schemas.microsoft.com/office/drawing/2014/main" id="{CDDF0B24-D2CB-46A1-896D-DC9CC79A8A4D}"/>
                </a:ext>
              </a:extLst>
            </p:cNvPr>
            <p:cNvSpPr>
              <a:spLocks noEditPoints="1"/>
            </p:cNvSpPr>
            <p:nvPr/>
          </p:nvSpPr>
          <p:spPr bwMode="auto">
            <a:xfrm rot="439398">
              <a:off x="3498008" y="2177023"/>
              <a:ext cx="2759917" cy="2759914"/>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solidFill>
              <a:schemeClr val="accent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nvGrpSpPr>
            <p:cNvPr id="21" name="Group 367">
              <a:extLst>
                <a:ext uri="{FF2B5EF4-FFF2-40B4-BE49-F238E27FC236}">
                  <a16:creationId xmlns:a16="http://schemas.microsoft.com/office/drawing/2014/main" id="{49A56BB0-0E7A-4FD3-9BA0-0AAC5E1A97BF}"/>
                </a:ext>
              </a:extLst>
            </p:cNvPr>
            <p:cNvGrpSpPr>
              <a:grpSpLocks noChangeAspect="1"/>
            </p:cNvGrpSpPr>
            <p:nvPr/>
          </p:nvGrpSpPr>
          <p:grpSpPr bwMode="auto">
            <a:xfrm>
              <a:off x="3852115" y="2447925"/>
              <a:ext cx="1414244" cy="1418402"/>
              <a:chOff x="4383" y="2091"/>
              <a:chExt cx="340" cy="341"/>
            </a:xfrm>
            <a:solidFill>
              <a:schemeClr val="accent4"/>
            </a:solidFill>
          </p:grpSpPr>
          <p:sp>
            <p:nvSpPr>
              <p:cNvPr id="24" name="Freeform 44">
                <a:extLst>
                  <a:ext uri="{FF2B5EF4-FFF2-40B4-BE49-F238E27FC236}">
                    <a16:creationId xmlns:a16="http://schemas.microsoft.com/office/drawing/2014/main" id="{41F0DD76-335D-479E-878E-6CD25BA11DE0}"/>
                  </a:ext>
                </a:extLst>
              </p:cNvPr>
              <p:cNvSpPr>
                <a:spLocks noEditPoints="1"/>
              </p:cNvSpPr>
              <p:nvPr/>
            </p:nvSpPr>
            <p:spPr bwMode="auto">
              <a:xfrm>
                <a:off x="4445" y="2169"/>
                <a:ext cx="200" cy="170"/>
              </a:xfrm>
              <a:custGeom>
                <a:avLst/>
                <a:gdLst>
                  <a:gd name="T0" fmla="*/ 23 w 300"/>
                  <a:gd name="T1" fmla="*/ 245 h 256"/>
                  <a:gd name="T2" fmla="*/ 2 w 300"/>
                  <a:gd name="T3" fmla="*/ 245 h 256"/>
                  <a:gd name="T4" fmla="*/ 12 w 300"/>
                  <a:gd name="T5" fmla="*/ 213 h 256"/>
                  <a:gd name="T6" fmla="*/ 55 w 300"/>
                  <a:gd name="T7" fmla="*/ 192 h 256"/>
                  <a:gd name="T8" fmla="*/ 44 w 300"/>
                  <a:gd name="T9" fmla="*/ 245 h 256"/>
                  <a:gd name="T10" fmla="*/ 66 w 300"/>
                  <a:gd name="T11" fmla="*/ 245 h 256"/>
                  <a:gd name="T12" fmla="*/ 55 w 300"/>
                  <a:gd name="T13" fmla="*/ 192 h 256"/>
                  <a:gd name="T14" fmla="*/ 87 w 300"/>
                  <a:gd name="T15" fmla="*/ 171 h 256"/>
                  <a:gd name="T16" fmla="*/ 98 w 300"/>
                  <a:gd name="T17" fmla="*/ 256 h 256"/>
                  <a:gd name="T18" fmla="*/ 108 w 300"/>
                  <a:gd name="T19" fmla="*/ 171 h 256"/>
                  <a:gd name="T20" fmla="*/ 140 w 300"/>
                  <a:gd name="T21" fmla="*/ 149 h 256"/>
                  <a:gd name="T22" fmla="*/ 130 w 300"/>
                  <a:gd name="T23" fmla="*/ 245 h 256"/>
                  <a:gd name="T24" fmla="*/ 151 w 300"/>
                  <a:gd name="T25" fmla="*/ 245 h 256"/>
                  <a:gd name="T26" fmla="*/ 140 w 300"/>
                  <a:gd name="T27" fmla="*/ 149 h 256"/>
                  <a:gd name="T28" fmla="*/ 172 w 300"/>
                  <a:gd name="T29" fmla="*/ 160 h 256"/>
                  <a:gd name="T30" fmla="*/ 183 w 300"/>
                  <a:gd name="T31" fmla="*/ 256 h 256"/>
                  <a:gd name="T32" fmla="*/ 194 w 300"/>
                  <a:gd name="T33" fmla="*/ 160 h 256"/>
                  <a:gd name="T34" fmla="*/ 226 w 300"/>
                  <a:gd name="T35" fmla="*/ 117 h 256"/>
                  <a:gd name="T36" fmla="*/ 215 w 300"/>
                  <a:gd name="T37" fmla="*/ 245 h 256"/>
                  <a:gd name="T38" fmla="*/ 236 w 300"/>
                  <a:gd name="T39" fmla="*/ 245 h 256"/>
                  <a:gd name="T40" fmla="*/ 226 w 300"/>
                  <a:gd name="T41" fmla="*/ 117 h 256"/>
                  <a:gd name="T42" fmla="*/ 258 w 300"/>
                  <a:gd name="T43" fmla="*/ 96 h 256"/>
                  <a:gd name="T44" fmla="*/ 268 w 300"/>
                  <a:gd name="T45" fmla="*/ 256 h 256"/>
                  <a:gd name="T46" fmla="*/ 279 w 300"/>
                  <a:gd name="T47" fmla="*/ 96 h 256"/>
                  <a:gd name="T48" fmla="*/ 300 w 300"/>
                  <a:gd name="T49" fmla="*/ 7 h 256"/>
                  <a:gd name="T50" fmla="*/ 290 w 300"/>
                  <a:gd name="T51" fmla="*/ 0 h 256"/>
                  <a:gd name="T52" fmla="*/ 236 w 300"/>
                  <a:gd name="T53" fmla="*/ 11 h 256"/>
                  <a:gd name="T54" fmla="*/ 264 w 300"/>
                  <a:gd name="T55" fmla="*/ 21 h 256"/>
                  <a:gd name="T56" fmla="*/ 98 w 300"/>
                  <a:gd name="T57" fmla="*/ 107 h 256"/>
                  <a:gd name="T58" fmla="*/ 6 w 300"/>
                  <a:gd name="T59" fmla="*/ 173 h 256"/>
                  <a:gd name="T60" fmla="*/ 12 w 300"/>
                  <a:gd name="T61" fmla="*/ 192 h 256"/>
                  <a:gd name="T62" fmla="*/ 101 w 300"/>
                  <a:gd name="T63" fmla="*/ 128 h 256"/>
                  <a:gd name="T64" fmla="*/ 191 w 300"/>
                  <a:gd name="T65" fmla="*/ 125 h 256"/>
                  <a:gd name="T66" fmla="*/ 279 w 300"/>
                  <a:gd name="T67" fmla="*/ 53 h 256"/>
                  <a:gd name="T68" fmla="*/ 300 w 300"/>
                  <a:gd name="T69" fmla="*/ 53 h 256"/>
                  <a:gd name="T70" fmla="*/ 300 w 300"/>
                  <a:gd name="T71" fmla="*/ 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0" h="256">
                    <a:moveTo>
                      <a:pt x="23" y="224"/>
                    </a:moveTo>
                    <a:cubicBezTo>
                      <a:pt x="23" y="245"/>
                      <a:pt x="23" y="245"/>
                      <a:pt x="23" y="245"/>
                    </a:cubicBezTo>
                    <a:cubicBezTo>
                      <a:pt x="23" y="251"/>
                      <a:pt x="18" y="256"/>
                      <a:pt x="12" y="256"/>
                    </a:cubicBezTo>
                    <a:cubicBezTo>
                      <a:pt x="6" y="256"/>
                      <a:pt x="2" y="251"/>
                      <a:pt x="2" y="245"/>
                    </a:cubicBezTo>
                    <a:cubicBezTo>
                      <a:pt x="2" y="224"/>
                      <a:pt x="2" y="224"/>
                      <a:pt x="2" y="224"/>
                    </a:cubicBezTo>
                    <a:cubicBezTo>
                      <a:pt x="2" y="218"/>
                      <a:pt x="6" y="213"/>
                      <a:pt x="12" y="213"/>
                    </a:cubicBezTo>
                    <a:cubicBezTo>
                      <a:pt x="18" y="213"/>
                      <a:pt x="23" y="218"/>
                      <a:pt x="23" y="224"/>
                    </a:cubicBezTo>
                    <a:close/>
                    <a:moveTo>
                      <a:pt x="55" y="192"/>
                    </a:moveTo>
                    <a:cubicBezTo>
                      <a:pt x="49" y="192"/>
                      <a:pt x="44" y="197"/>
                      <a:pt x="44" y="203"/>
                    </a:cubicBezTo>
                    <a:cubicBezTo>
                      <a:pt x="44" y="245"/>
                      <a:pt x="44" y="245"/>
                      <a:pt x="44" y="245"/>
                    </a:cubicBezTo>
                    <a:cubicBezTo>
                      <a:pt x="44" y="251"/>
                      <a:pt x="49" y="256"/>
                      <a:pt x="55" y="256"/>
                    </a:cubicBezTo>
                    <a:cubicBezTo>
                      <a:pt x="61" y="256"/>
                      <a:pt x="66" y="251"/>
                      <a:pt x="66" y="245"/>
                    </a:cubicBezTo>
                    <a:cubicBezTo>
                      <a:pt x="66" y="203"/>
                      <a:pt x="66" y="203"/>
                      <a:pt x="66" y="203"/>
                    </a:cubicBezTo>
                    <a:cubicBezTo>
                      <a:pt x="66" y="197"/>
                      <a:pt x="61" y="192"/>
                      <a:pt x="55" y="192"/>
                    </a:cubicBezTo>
                    <a:close/>
                    <a:moveTo>
                      <a:pt x="98" y="160"/>
                    </a:moveTo>
                    <a:cubicBezTo>
                      <a:pt x="92" y="160"/>
                      <a:pt x="87" y="165"/>
                      <a:pt x="87" y="171"/>
                    </a:cubicBezTo>
                    <a:cubicBezTo>
                      <a:pt x="87" y="245"/>
                      <a:pt x="87" y="245"/>
                      <a:pt x="87" y="245"/>
                    </a:cubicBezTo>
                    <a:cubicBezTo>
                      <a:pt x="87" y="251"/>
                      <a:pt x="92" y="256"/>
                      <a:pt x="98" y="256"/>
                    </a:cubicBezTo>
                    <a:cubicBezTo>
                      <a:pt x="104" y="256"/>
                      <a:pt x="108" y="251"/>
                      <a:pt x="108" y="245"/>
                    </a:cubicBezTo>
                    <a:cubicBezTo>
                      <a:pt x="108" y="171"/>
                      <a:pt x="108" y="171"/>
                      <a:pt x="108" y="171"/>
                    </a:cubicBezTo>
                    <a:cubicBezTo>
                      <a:pt x="108" y="165"/>
                      <a:pt x="104" y="160"/>
                      <a:pt x="98" y="160"/>
                    </a:cubicBezTo>
                    <a:close/>
                    <a:moveTo>
                      <a:pt x="140" y="149"/>
                    </a:moveTo>
                    <a:cubicBezTo>
                      <a:pt x="134" y="149"/>
                      <a:pt x="130" y="154"/>
                      <a:pt x="130" y="160"/>
                    </a:cubicBezTo>
                    <a:cubicBezTo>
                      <a:pt x="130" y="245"/>
                      <a:pt x="130" y="245"/>
                      <a:pt x="130" y="245"/>
                    </a:cubicBezTo>
                    <a:cubicBezTo>
                      <a:pt x="130" y="251"/>
                      <a:pt x="134" y="256"/>
                      <a:pt x="140" y="256"/>
                    </a:cubicBezTo>
                    <a:cubicBezTo>
                      <a:pt x="146" y="256"/>
                      <a:pt x="151" y="251"/>
                      <a:pt x="151" y="245"/>
                    </a:cubicBezTo>
                    <a:cubicBezTo>
                      <a:pt x="151" y="160"/>
                      <a:pt x="151" y="160"/>
                      <a:pt x="151" y="160"/>
                    </a:cubicBezTo>
                    <a:cubicBezTo>
                      <a:pt x="151" y="154"/>
                      <a:pt x="146" y="149"/>
                      <a:pt x="140" y="149"/>
                    </a:cubicBezTo>
                    <a:close/>
                    <a:moveTo>
                      <a:pt x="183" y="149"/>
                    </a:moveTo>
                    <a:cubicBezTo>
                      <a:pt x="177" y="149"/>
                      <a:pt x="172" y="154"/>
                      <a:pt x="172" y="160"/>
                    </a:cubicBezTo>
                    <a:cubicBezTo>
                      <a:pt x="172" y="245"/>
                      <a:pt x="172" y="245"/>
                      <a:pt x="172" y="245"/>
                    </a:cubicBezTo>
                    <a:cubicBezTo>
                      <a:pt x="172" y="251"/>
                      <a:pt x="177" y="256"/>
                      <a:pt x="183" y="256"/>
                    </a:cubicBezTo>
                    <a:cubicBezTo>
                      <a:pt x="189" y="256"/>
                      <a:pt x="194" y="251"/>
                      <a:pt x="194" y="245"/>
                    </a:cubicBezTo>
                    <a:cubicBezTo>
                      <a:pt x="194" y="160"/>
                      <a:pt x="194" y="160"/>
                      <a:pt x="194" y="160"/>
                    </a:cubicBezTo>
                    <a:cubicBezTo>
                      <a:pt x="194" y="154"/>
                      <a:pt x="189" y="149"/>
                      <a:pt x="183" y="149"/>
                    </a:cubicBezTo>
                    <a:close/>
                    <a:moveTo>
                      <a:pt x="226" y="117"/>
                    </a:moveTo>
                    <a:cubicBezTo>
                      <a:pt x="220" y="117"/>
                      <a:pt x="215" y="122"/>
                      <a:pt x="215" y="128"/>
                    </a:cubicBezTo>
                    <a:cubicBezTo>
                      <a:pt x="215" y="245"/>
                      <a:pt x="215" y="245"/>
                      <a:pt x="215" y="245"/>
                    </a:cubicBezTo>
                    <a:cubicBezTo>
                      <a:pt x="215" y="251"/>
                      <a:pt x="220" y="256"/>
                      <a:pt x="226" y="256"/>
                    </a:cubicBezTo>
                    <a:cubicBezTo>
                      <a:pt x="232" y="256"/>
                      <a:pt x="236" y="251"/>
                      <a:pt x="236" y="245"/>
                    </a:cubicBezTo>
                    <a:cubicBezTo>
                      <a:pt x="236" y="128"/>
                      <a:pt x="236" y="128"/>
                      <a:pt x="236" y="128"/>
                    </a:cubicBezTo>
                    <a:cubicBezTo>
                      <a:pt x="236" y="122"/>
                      <a:pt x="232" y="117"/>
                      <a:pt x="226" y="117"/>
                    </a:cubicBezTo>
                    <a:close/>
                    <a:moveTo>
                      <a:pt x="268" y="85"/>
                    </a:moveTo>
                    <a:cubicBezTo>
                      <a:pt x="262" y="85"/>
                      <a:pt x="258" y="90"/>
                      <a:pt x="258" y="96"/>
                    </a:cubicBezTo>
                    <a:cubicBezTo>
                      <a:pt x="258" y="245"/>
                      <a:pt x="258" y="245"/>
                      <a:pt x="258" y="245"/>
                    </a:cubicBezTo>
                    <a:cubicBezTo>
                      <a:pt x="258" y="251"/>
                      <a:pt x="262" y="256"/>
                      <a:pt x="268" y="256"/>
                    </a:cubicBezTo>
                    <a:cubicBezTo>
                      <a:pt x="274" y="256"/>
                      <a:pt x="279" y="251"/>
                      <a:pt x="279" y="245"/>
                    </a:cubicBezTo>
                    <a:cubicBezTo>
                      <a:pt x="279" y="96"/>
                      <a:pt x="279" y="96"/>
                      <a:pt x="279" y="96"/>
                    </a:cubicBezTo>
                    <a:cubicBezTo>
                      <a:pt x="279" y="90"/>
                      <a:pt x="274" y="85"/>
                      <a:pt x="268" y="85"/>
                    </a:cubicBezTo>
                    <a:close/>
                    <a:moveTo>
                      <a:pt x="300" y="7"/>
                    </a:moveTo>
                    <a:cubicBezTo>
                      <a:pt x="298" y="4"/>
                      <a:pt x="296" y="2"/>
                      <a:pt x="294" y="1"/>
                    </a:cubicBezTo>
                    <a:cubicBezTo>
                      <a:pt x="292" y="0"/>
                      <a:pt x="291" y="0"/>
                      <a:pt x="290" y="0"/>
                    </a:cubicBezTo>
                    <a:cubicBezTo>
                      <a:pt x="247" y="0"/>
                      <a:pt x="247" y="0"/>
                      <a:pt x="247" y="0"/>
                    </a:cubicBezTo>
                    <a:cubicBezTo>
                      <a:pt x="241" y="0"/>
                      <a:pt x="236" y="5"/>
                      <a:pt x="236" y="11"/>
                    </a:cubicBezTo>
                    <a:cubicBezTo>
                      <a:pt x="236" y="17"/>
                      <a:pt x="241" y="21"/>
                      <a:pt x="247" y="21"/>
                    </a:cubicBezTo>
                    <a:cubicBezTo>
                      <a:pt x="264" y="21"/>
                      <a:pt x="264" y="21"/>
                      <a:pt x="264" y="21"/>
                    </a:cubicBezTo>
                    <a:cubicBezTo>
                      <a:pt x="179" y="107"/>
                      <a:pt x="179" y="107"/>
                      <a:pt x="179" y="107"/>
                    </a:cubicBezTo>
                    <a:cubicBezTo>
                      <a:pt x="98" y="107"/>
                      <a:pt x="98" y="107"/>
                      <a:pt x="98" y="107"/>
                    </a:cubicBezTo>
                    <a:cubicBezTo>
                      <a:pt x="95" y="107"/>
                      <a:pt x="93" y="107"/>
                      <a:pt x="91" y="109"/>
                    </a:cubicBezTo>
                    <a:cubicBezTo>
                      <a:pt x="6" y="173"/>
                      <a:pt x="6" y="173"/>
                      <a:pt x="6" y="173"/>
                    </a:cubicBezTo>
                    <a:cubicBezTo>
                      <a:pt x="1" y="176"/>
                      <a:pt x="0" y="183"/>
                      <a:pt x="4" y="188"/>
                    </a:cubicBezTo>
                    <a:cubicBezTo>
                      <a:pt x="6" y="191"/>
                      <a:pt x="9" y="192"/>
                      <a:pt x="12" y="192"/>
                    </a:cubicBezTo>
                    <a:cubicBezTo>
                      <a:pt x="15" y="192"/>
                      <a:pt x="17" y="191"/>
                      <a:pt x="19" y="190"/>
                    </a:cubicBezTo>
                    <a:cubicBezTo>
                      <a:pt x="101" y="128"/>
                      <a:pt x="101" y="128"/>
                      <a:pt x="101" y="128"/>
                    </a:cubicBezTo>
                    <a:cubicBezTo>
                      <a:pt x="183" y="128"/>
                      <a:pt x="183" y="128"/>
                      <a:pt x="183" y="128"/>
                    </a:cubicBezTo>
                    <a:cubicBezTo>
                      <a:pt x="186" y="128"/>
                      <a:pt x="189" y="127"/>
                      <a:pt x="191" y="125"/>
                    </a:cubicBezTo>
                    <a:cubicBezTo>
                      <a:pt x="279" y="36"/>
                      <a:pt x="279" y="36"/>
                      <a:pt x="279" y="36"/>
                    </a:cubicBezTo>
                    <a:cubicBezTo>
                      <a:pt x="279" y="53"/>
                      <a:pt x="279" y="53"/>
                      <a:pt x="279" y="53"/>
                    </a:cubicBezTo>
                    <a:cubicBezTo>
                      <a:pt x="279" y="59"/>
                      <a:pt x="284" y="64"/>
                      <a:pt x="290" y="64"/>
                    </a:cubicBezTo>
                    <a:cubicBezTo>
                      <a:pt x="296" y="64"/>
                      <a:pt x="300" y="59"/>
                      <a:pt x="300" y="53"/>
                    </a:cubicBezTo>
                    <a:cubicBezTo>
                      <a:pt x="300" y="11"/>
                      <a:pt x="300" y="11"/>
                      <a:pt x="300" y="11"/>
                    </a:cubicBezTo>
                    <a:cubicBezTo>
                      <a:pt x="300" y="9"/>
                      <a:pt x="300" y="8"/>
                      <a:pt x="300"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Freeform 45">
                <a:extLst>
                  <a:ext uri="{FF2B5EF4-FFF2-40B4-BE49-F238E27FC236}">
                    <a16:creationId xmlns:a16="http://schemas.microsoft.com/office/drawing/2014/main" id="{008B91D5-EADD-4AC6-A7E8-98CA7965192A}"/>
                  </a:ext>
                </a:extLst>
              </p:cNvPr>
              <p:cNvSpPr>
                <a:spLocks noEditPoints="1"/>
              </p:cNvSpPr>
              <p:nvPr/>
            </p:nvSpPr>
            <p:spPr bwMode="auto">
              <a:xfrm>
                <a:off x="4383" y="2091"/>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7" name="Oval 26">
            <a:extLst>
              <a:ext uri="{FF2B5EF4-FFF2-40B4-BE49-F238E27FC236}">
                <a16:creationId xmlns:a16="http://schemas.microsoft.com/office/drawing/2014/main" id="{3709FC4F-272A-4237-8753-3A17CCD2BD1F}"/>
              </a:ext>
            </a:extLst>
          </p:cNvPr>
          <p:cNvSpPr/>
          <p:nvPr/>
        </p:nvSpPr>
        <p:spPr bwMode="gray">
          <a:xfrm>
            <a:off x="7126556" y="3702238"/>
            <a:ext cx="838200" cy="838200"/>
          </a:xfrm>
          <a:prstGeom prst="ellips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8" name="Oval 27">
            <a:extLst>
              <a:ext uri="{FF2B5EF4-FFF2-40B4-BE49-F238E27FC236}">
                <a16:creationId xmlns:a16="http://schemas.microsoft.com/office/drawing/2014/main" id="{FF955357-7777-48D2-8FED-A46AE3113812}"/>
              </a:ext>
            </a:extLst>
          </p:cNvPr>
          <p:cNvSpPr/>
          <p:nvPr/>
        </p:nvSpPr>
        <p:spPr bwMode="gray">
          <a:xfrm>
            <a:off x="6750814" y="2237790"/>
            <a:ext cx="838200" cy="8382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9" name="Oval 28">
            <a:extLst>
              <a:ext uri="{FF2B5EF4-FFF2-40B4-BE49-F238E27FC236}">
                <a16:creationId xmlns:a16="http://schemas.microsoft.com/office/drawing/2014/main" id="{E527CE08-5579-4EDD-A1ED-9583F2D9738D}"/>
              </a:ext>
            </a:extLst>
          </p:cNvPr>
          <p:cNvSpPr/>
          <p:nvPr/>
        </p:nvSpPr>
        <p:spPr bwMode="gray">
          <a:xfrm>
            <a:off x="5140354" y="1832951"/>
            <a:ext cx="838200" cy="838200"/>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0" name="Oval 29">
            <a:extLst>
              <a:ext uri="{FF2B5EF4-FFF2-40B4-BE49-F238E27FC236}">
                <a16:creationId xmlns:a16="http://schemas.microsoft.com/office/drawing/2014/main" id="{84FB8B2F-3967-4D21-95C9-FFD489F289A5}"/>
              </a:ext>
            </a:extLst>
          </p:cNvPr>
          <p:cNvSpPr/>
          <p:nvPr/>
        </p:nvSpPr>
        <p:spPr bwMode="gray">
          <a:xfrm>
            <a:off x="3940407" y="2970359"/>
            <a:ext cx="838200" cy="83820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1" name="Oval 30">
            <a:extLst>
              <a:ext uri="{FF2B5EF4-FFF2-40B4-BE49-F238E27FC236}">
                <a16:creationId xmlns:a16="http://schemas.microsoft.com/office/drawing/2014/main" id="{2EDC9BBF-AD8A-4909-8568-2F9C00A1AA94}"/>
              </a:ext>
            </a:extLst>
          </p:cNvPr>
          <p:cNvSpPr/>
          <p:nvPr/>
        </p:nvSpPr>
        <p:spPr bwMode="gray">
          <a:xfrm>
            <a:off x="4349779" y="4528549"/>
            <a:ext cx="838200" cy="838200"/>
          </a:xfrm>
          <a:prstGeom prst="ellipse">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1" name="Content Placeholder 2">
            <a:extLst>
              <a:ext uri="{FF2B5EF4-FFF2-40B4-BE49-F238E27FC236}">
                <a16:creationId xmlns:a16="http://schemas.microsoft.com/office/drawing/2014/main" id="{9F92227E-8178-4527-ADAC-230626871B25}"/>
              </a:ext>
            </a:extLst>
          </p:cNvPr>
          <p:cNvSpPr txBox="1">
            <a:spLocks/>
          </p:cNvSpPr>
          <p:nvPr/>
        </p:nvSpPr>
        <p:spPr>
          <a:xfrm>
            <a:off x="1373726" y="4666420"/>
            <a:ext cx="3132920" cy="615553"/>
          </a:xfrm>
          <a:prstGeom prst="rect">
            <a:avLst/>
          </a:prstGeom>
        </p:spPr>
        <p:txBody>
          <a:bodyPr vert="horz" wrap="square" lIns="0" tIns="0" rIns="0" bIns="0" rtlCol="0">
            <a:spAutoFit/>
          </a:bodyPr>
          <a:lstStyle>
            <a:lvl1pPr marL="0" indent="0" algn="l" defTabSz="1150072"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072"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64" indent="-221864" algn="l" defTabSz="1150072"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56" indent="-221864" algn="l" defTabSz="1150072"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21" indent="-221864" algn="l" defTabSz="1004317"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21" indent="-221864" algn="l" defTabSz="1150072"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ctr"/>
            <a:r>
              <a:rPr lang="en-US" sz="2000" b="1">
                <a:solidFill>
                  <a:srgbClr val="0A626C"/>
                </a:solidFill>
                <a:latin typeface="+mj-lt"/>
              </a:rPr>
              <a:t>Review of Organization Structure</a:t>
            </a:r>
          </a:p>
        </p:txBody>
      </p:sp>
      <p:sp>
        <p:nvSpPr>
          <p:cNvPr id="52" name="Content Placeholder 2">
            <a:extLst>
              <a:ext uri="{FF2B5EF4-FFF2-40B4-BE49-F238E27FC236}">
                <a16:creationId xmlns:a16="http://schemas.microsoft.com/office/drawing/2014/main" id="{7E288B7F-85F0-4D37-B2CE-51D8CD6C5984}"/>
              </a:ext>
            </a:extLst>
          </p:cNvPr>
          <p:cNvSpPr txBox="1">
            <a:spLocks/>
          </p:cNvSpPr>
          <p:nvPr/>
        </p:nvSpPr>
        <p:spPr>
          <a:xfrm>
            <a:off x="2186719" y="3075990"/>
            <a:ext cx="2097018" cy="615553"/>
          </a:xfrm>
          <a:prstGeom prst="rect">
            <a:avLst/>
          </a:prstGeom>
        </p:spPr>
        <p:txBody>
          <a:bodyPr vert="horz" wrap="square" lIns="0" tIns="0" rIns="0" bIns="0" rtlCol="0">
            <a:spAutoFit/>
          </a:bodyPr>
          <a:lstStyle>
            <a:lvl1pPr marL="0" indent="0" algn="l" defTabSz="1150072"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072"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64" indent="-221864" algn="l" defTabSz="1150072"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56" indent="-221864" algn="l" defTabSz="1150072"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21" indent="-221864" algn="l" defTabSz="1004317"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21" indent="-221864" algn="l" defTabSz="1150072"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ctr"/>
            <a:r>
              <a:rPr lang="en-US" sz="2000" b="1">
                <a:solidFill>
                  <a:srgbClr val="26890D"/>
                </a:solidFill>
                <a:latin typeface="+mj-lt"/>
              </a:rPr>
              <a:t>Manpower Planning</a:t>
            </a:r>
          </a:p>
        </p:txBody>
      </p:sp>
      <p:sp>
        <p:nvSpPr>
          <p:cNvPr id="53" name="Content Placeholder 2">
            <a:extLst>
              <a:ext uri="{FF2B5EF4-FFF2-40B4-BE49-F238E27FC236}">
                <a16:creationId xmlns:a16="http://schemas.microsoft.com/office/drawing/2014/main" id="{876BBDB2-78DA-48D6-94CD-B45C019CEDB4}"/>
              </a:ext>
            </a:extLst>
          </p:cNvPr>
          <p:cNvSpPr txBox="1">
            <a:spLocks/>
          </p:cNvSpPr>
          <p:nvPr/>
        </p:nvSpPr>
        <p:spPr>
          <a:xfrm>
            <a:off x="2496545" y="1875162"/>
            <a:ext cx="2743146" cy="615553"/>
          </a:xfrm>
          <a:prstGeom prst="rect">
            <a:avLst/>
          </a:prstGeom>
        </p:spPr>
        <p:txBody>
          <a:bodyPr vert="horz" wrap="square" lIns="0" tIns="0" rIns="0" bIns="0" rtlCol="0">
            <a:spAutoFit/>
          </a:bodyPr>
          <a:lstStyle>
            <a:lvl1pPr marL="0" indent="0" algn="l" defTabSz="1150072"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072"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64" indent="-221864" algn="l" defTabSz="1150072"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56" indent="-221864" algn="l" defTabSz="1150072"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21" indent="-221864" algn="l" defTabSz="1004317"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21" indent="-221864" algn="l" defTabSz="1150072"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ctr"/>
            <a:r>
              <a:rPr lang="en-US" sz="2000" b="1">
                <a:solidFill>
                  <a:srgbClr val="43B02A"/>
                </a:solidFill>
                <a:latin typeface="+mj-lt"/>
              </a:rPr>
              <a:t>Performance Management System</a:t>
            </a:r>
          </a:p>
        </p:txBody>
      </p:sp>
      <p:sp>
        <p:nvSpPr>
          <p:cNvPr id="54" name="Content Placeholder 2">
            <a:extLst>
              <a:ext uri="{FF2B5EF4-FFF2-40B4-BE49-F238E27FC236}">
                <a16:creationId xmlns:a16="http://schemas.microsoft.com/office/drawing/2014/main" id="{797E311D-46C6-4E6A-8DBE-61C68CED44A7}"/>
              </a:ext>
            </a:extLst>
          </p:cNvPr>
          <p:cNvSpPr txBox="1">
            <a:spLocks/>
          </p:cNvSpPr>
          <p:nvPr/>
        </p:nvSpPr>
        <p:spPr>
          <a:xfrm>
            <a:off x="7494963" y="2348074"/>
            <a:ext cx="3545900" cy="615553"/>
          </a:xfrm>
          <a:prstGeom prst="rect">
            <a:avLst/>
          </a:prstGeom>
        </p:spPr>
        <p:txBody>
          <a:bodyPr vert="horz" wrap="square" lIns="0" tIns="0" rIns="0" bIns="0" rtlCol="0">
            <a:spAutoFit/>
          </a:bodyPr>
          <a:lstStyle>
            <a:lvl1pPr marL="0" indent="0" algn="l" defTabSz="1150072"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072"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64" indent="-221864" algn="l" defTabSz="1150072"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56" indent="-221864" algn="l" defTabSz="1150072"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21" indent="-221864" algn="l" defTabSz="1004317"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21" indent="-221864" algn="l" defTabSz="1150072"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ctr"/>
            <a:r>
              <a:rPr lang="en-US" sz="2000" b="1">
                <a:solidFill>
                  <a:srgbClr val="53565A"/>
                </a:solidFill>
                <a:latin typeface="+mj-lt"/>
              </a:rPr>
              <a:t>Review of KPI’s at organization and department Level</a:t>
            </a:r>
          </a:p>
        </p:txBody>
      </p:sp>
      <p:sp>
        <p:nvSpPr>
          <p:cNvPr id="55" name="Content Placeholder 2">
            <a:extLst>
              <a:ext uri="{FF2B5EF4-FFF2-40B4-BE49-F238E27FC236}">
                <a16:creationId xmlns:a16="http://schemas.microsoft.com/office/drawing/2014/main" id="{BFDE6B50-2AD8-43D7-93F2-29C84AA4219B}"/>
              </a:ext>
            </a:extLst>
          </p:cNvPr>
          <p:cNvSpPr txBox="1">
            <a:spLocks/>
          </p:cNvSpPr>
          <p:nvPr/>
        </p:nvSpPr>
        <p:spPr>
          <a:xfrm>
            <a:off x="7695290" y="3792154"/>
            <a:ext cx="3132920" cy="615553"/>
          </a:xfrm>
          <a:prstGeom prst="rect">
            <a:avLst/>
          </a:prstGeom>
        </p:spPr>
        <p:txBody>
          <a:bodyPr vert="horz" wrap="square" lIns="0" tIns="0" rIns="0" bIns="0" rtlCol="0">
            <a:spAutoFit/>
          </a:bodyPr>
          <a:lstStyle>
            <a:lvl1pPr marL="0" indent="0" algn="l" defTabSz="1150072"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072"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64" indent="-221864" algn="l" defTabSz="1150072"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56" indent="-221864" algn="l" defTabSz="1150072"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21" indent="-221864" algn="l" defTabSz="1004317"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21" indent="-221864" algn="l" defTabSz="1150072"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a:lstStyle>
          <a:p>
            <a:pPr algn="ctr"/>
            <a:r>
              <a:rPr lang="en-US" sz="2000" b="1">
                <a:solidFill>
                  <a:srgbClr val="0D8390"/>
                </a:solidFill>
                <a:latin typeface="+mj-lt"/>
              </a:rPr>
              <a:t>Review of Outsourcing Deployment Models</a:t>
            </a:r>
          </a:p>
        </p:txBody>
      </p:sp>
      <p:sp>
        <p:nvSpPr>
          <p:cNvPr id="56" name="Freeform 375">
            <a:extLst>
              <a:ext uri="{FF2B5EF4-FFF2-40B4-BE49-F238E27FC236}">
                <a16:creationId xmlns:a16="http://schemas.microsoft.com/office/drawing/2014/main" id="{F6A3FEB7-FC42-4BE1-8429-D14B6E974563}"/>
              </a:ext>
            </a:extLst>
          </p:cNvPr>
          <p:cNvSpPr>
            <a:spLocks noChangeAspect="1" noEditPoints="1"/>
          </p:cNvSpPr>
          <p:nvPr/>
        </p:nvSpPr>
        <p:spPr bwMode="auto">
          <a:xfrm>
            <a:off x="5322465" y="2020125"/>
            <a:ext cx="457200" cy="457200"/>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Verdana"/>
              <a:ea typeface="华文细黑" panose="02010600040101010101" pitchFamily="2" charset="-122"/>
              <a:cs typeface="+mn-cs"/>
            </a:endParaRPr>
          </a:p>
        </p:txBody>
      </p:sp>
      <p:sp>
        <p:nvSpPr>
          <p:cNvPr id="57" name="Freeform 375">
            <a:extLst>
              <a:ext uri="{FF2B5EF4-FFF2-40B4-BE49-F238E27FC236}">
                <a16:creationId xmlns:a16="http://schemas.microsoft.com/office/drawing/2014/main" id="{B46F0A07-A0F3-4067-8D6F-59D8DCD80929}"/>
              </a:ext>
            </a:extLst>
          </p:cNvPr>
          <p:cNvSpPr>
            <a:spLocks noChangeAspect="1" noEditPoints="1"/>
          </p:cNvSpPr>
          <p:nvPr/>
        </p:nvSpPr>
        <p:spPr bwMode="auto">
          <a:xfrm>
            <a:off x="4119602" y="3155166"/>
            <a:ext cx="457200" cy="457200"/>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Verdana"/>
              <a:ea typeface="华文细黑" panose="02010600040101010101" pitchFamily="2" charset="-122"/>
              <a:cs typeface="+mn-cs"/>
            </a:endParaRPr>
          </a:p>
        </p:txBody>
      </p:sp>
      <p:sp>
        <p:nvSpPr>
          <p:cNvPr id="58" name="Freeform 375">
            <a:extLst>
              <a:ext uri="{FF2B5EF4-FFF2-40B4-BE49-F238E27FC236}">
                <a16:creationId xmlns:a16="http://schemas.microsoft.com/office/drawing/2014/main" id="{44533047-29C2-4573-944C-444871A36FC6}"/>
              </a:ext>
            </a:extLst>
          </p:cNvPr>
          <p:cNvSpPr>
            <a:spLocks noChangeAspect="1" noEditPoints="1"/>
          </p:cNvSpPr>
          <p:nvPr/>
        </p:nvSpPr>
        <p:spPr bwMode="auto">
          <a:xfrm>
            <a:off x="4537525" y="4719049"/>
            <a:ext cx="457200" cy="457200"/>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Verdana"/>
              <a:ea typeface="华文细黑" panose="02010600040101010101" pitchFamily="2" charset="-122"/>
              <a:cs typeface="+mn-cs"/>
            </a:endParaRPr>
          </a:p>
        </p:txBody>
      </p:sp>
      <p:sp>
        <p:nvSpPr>
          <p:cNvPr id="59" name="Freeform 375">
            <a:extLst>
              <a:ext uri="{FF2B5EF4-FFF2-40B4-BE49-F238E27FC236}">
                <a16:creationId xmlns:a16="http://schemas.microsoft.com/office/drawing/2014/main" id="{E1B8671E-FDAE-4D29-B531-643A95FBFE09}"/>
              </a:ext>
            </a:extLst>
          </p:cNvPr>
          <p:cNvSpPr>
            <a:spLocks noChangeAspect="1" noEditPoints="1"/>
          </p:cNvSpPr>
          <p:nvPr/>
        </p:nvSpPr>
        <p:spPr bwMode="auto">
          <a:xfrm>
            <a:off x="6946025" y="2434162"/>
            <a:ext cx="457200" cy="457200"/>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Verdana"/>
              <a:ea typeface="华文细黑" panose="02010600040101010101" pitchFamily="2" charset="-122"/>
              <a:cs typeface="+mn-cs"/>
            </a:endParaRPr>
          </a:p>
        </p:txBody>
      </p:sp>
      <p:sp>
        <p:nvSpPr>
          <p:cNvPr id="60" name="Freeform 375">
            <a:extLst>
              <a:ext uri="{FF2B5EF4-FFF2-40B4-BE49-F238E27FC236}">
                <a16:creationId xmlns:a16="http://schemas.microsoft.com/office/drawing/2014/main" id="{ADA45327-806B-41E7-9454-8E8A6387BB9B}"/>
              </a:ext>
            </a:extLst>
          </p:cNvPr>
          <p:cNvSpPr>
            <a:spLocks noChangeAspect="1" noEditPoints="1"/>
          </p:cNvSpPr>
          <p:nvPr/>
        </p:nvSpPr>
        <p:spPr bwMode="auto">
          <a:xfrm>
            <a:off x="7317056" y="3904886"/>
            <a:ext cx="457200" cy="457200"/>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00" b="0" i="0" u="none" strike="noStrike" kern="1200" cap="none" spc="0" normalizeH="0" baseline="0" noProof="0">
              <a:ln>
                <a:noFill/>
              </a:ln>
              <a:solidFill>
                <a:prstClr val="black"/>
              </a:solidFill>
              <a:effectLst/>
              <a:uLnTx/>
              <a:uFillTx/>
              <a:latin typeface="Verdana"/>
              <a:ea typeface="华文细黑" panose="02010600040101010101" pitchFamily="2" charset="-122"/>
              <a:cs typeface="+mn-cs"/>
            </a:endParaRPr>
          </a:p>
        </p:txBody>
      </p:sp>
    </p:spTree>
    <p:extLst>
      <p:ext uri="{BB962C8B-B14F-4D97-AF65-F5344CB8AC3E}">
        <p14:creationId xmlns:p14="http://schemas.microsoft.com/office/powerpoint/2010/main" val="149384960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Object 44" hidden="1">
            <a:extLst>
              <a:ext uri="{FF2B5EF4-FFF2-40B4-BE49-F238E27FC236}">
                <a16:creationId xmlns:a16="http://schemas.microsoft.com/office/drawing/2014/main" id="{73DF7792-6DEB-4383-9472-86B867795584}"/>
              </a:ext>
            </a:extLst>
          </p:cNvPr>
          <p:cNvGraphicFramePr>
            <a:graphicFrameLocks noChangeAspect="1"/>
          </p:cNvGraphicFramePr>
          <p:nvPr>
            <p:custDataLst>
              <p:tags r:id="rId2"/>
            </p:custDataLst>
            <p:extLst>
              <p:ext uri="{D42A27DB-BD31-4B8C-83A1-F6EECF244321}">
                <p14:modId xmlns:p14="http://schemas.microsoft.com/office/powerpoint/2010/main" val="4049895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3917" name="think-cell Slide" r:id="rId4" imgW="415" imgH="416" progId="TCLayout.ActiveDocument.1">
                  <p:embed/>
                </p:oleObj>
              </mc:Choice>
              <mc:Fallback>
                <p:oleObj name="think-cell Slide" r:id="rId4" imgW="415" imgH="416" progId="TCLayout.ActiveDocument.1">
                  <p:embed/>
                  <p:pic>
                    <p:nvPicPr>
                      <p:cNvPr id="45" name="Object 44" hidden="1">
                        <a:extLst>
                          <a:ext uri="{FF2B5EF4-FFF2-40B4-BE49-F238E27FC236}">
                            <a16:creationId xmlns:a16="http://schemas.microsoft.com/office/drawing/2014/main" id="{73DF7792-6DEB-4383-9472-86B8677955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2FDB8FD6-513F-4E20-B9AC-F838CB1CEEF0}"/>
              </a:ext>
            </a:extLst>
          </p:cNvPr>
          <p:cNvSpPr/>
          <p:nvPr/>
        </p:nvSpPr>
        <p:spPr bwMode="gray">
          <a:xfrm>
            <a:off x="716016" y="2273846"/>
            <a:ext cx="11093008" cy="2963061"/>
          </a:xfrm>
          <a:prstGeom prst="rect">
            <a:avLst/>
          </a:prstGeom>
          <a:solidFill>
            <a:schemeClr val="bg1">
              <a:lumMod val="95000"/>
              <a:alpha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Title 5"/>
          <p:cNvSpPr>
            <a:spLocks noGrp="1"/>
          </p:cNvSpPr>
          <p:nvPr>
            <p:ph type="title"/>
          </p:nvPr>
        </p:nvSpPr>
        <p:spPr/>
        <p:txBody>
          <a:bodyPr vert="horz"/>
          <a:lstStyle/>
          <a:p>
            <a:r>
              <a:rPr lang="en-US" sz="2176" b="1">
                <a:latin typeface="+mn-lt"/>
              </a:rPr>
              <a:t>Our Approach and Methodology</a:t>
            </a:r>
            <a:endParaRPr lang="en-GB" sz="2176" b="1">
              <a:latin typeface="+mn-lt"/>
            </a:endParaRPr>
          </a:p>
        </p:txBody>
      </p:sp>
      <p:sp>
        <p:nvSpPr>
          <p:cNvPr id="11" name="TextBox 10">
            <a:extLst>
              <a:ext uri="{FF2B5EF4-FFF2-40B4-BE49-F238E27FC236}">
                <a16:creationId xmlns:a16="http://schemas.microsoft.com/office/drawing/2014/main" id="{A69E74E2-1AD5-441C-94E1-5A9D6C2B0AF1}"/>
              </a:ext>
            </a:extLst>
          </p:cNvPr>
          <p:cNvSpPr txBox="1"/>
          <p:nvPr/>
        </p:nvSpPr>
        <p:spPr>
          <a:xfrm>
            <a:off x="459930" y="5792302"/>
            <a:ext cx="11349091" cy="571310"/>
          </a:xfrm>
          <a:prstGeom prst="rect">
            <a:avLst/>
          </a:prstGeom>
          <a:solidFill>
            <a:schemeClr val="bg1">
              <a:lumMod val="95000"/>
            </a:schemeClr>
          </a:solidFill>
          <a:ln w="19050">
            <a:solidFill>
              <a:schemeClr val="accent3"/>
            </a:solidFill>
            <a:prstDash val="dash"/>
          </a:ln>
        </p:spPr>
        <p:txBody>
          <a:bodyPr wrap="square">
            <a:spAutoFit/>
          </a:bodyPr>
          <a:lstStyle/>
          <a:p>
            <a:pPr marR="0" lvl="0" algn="just" defTabSz="914400" rtl="0" eaLnBrk="1" fontAlgn="auto" latinLnBrk="0" hangingPunct="1">
              <a:lnSpc>
                <a:spcPct val="106000"/>
              </a:lnSpc>
              <a:spcBef>
                <a:spcPts val="0"/>
              </a:spcBef>
              <a:spcAft>
                <a:spcPts val="0"/>
              </a:spcAft>
              <a:buClrTx/>
              <a:buSzTx/>
              <a:tabLst/>
              <a:defRPr/>
            </a:pPr>
            <a:r>
              <a:rPr kumimoji="0" lang="en-US" sz="1500" b="1" i="1" u="none" strike="noStrike" kern="1200" cap="none" spc="0" normalizeH="0" baseline="0" noProof="0" dirty="0">
                <a:ln>
                  <a:noFill/>
                </a:ln>
                <a:solidFill>
                  <a:prstClr val="black"/>
                </a:solidFill>
                <a:effectLst/>
                <a:uLnTx/>
                <a:uFillTx/>
                <a:latin typeface="Calibri"/>
                <a:ea typeface="+mn-ea"/>
                <a:cs typeface="+mn-cs"/>
              </a:rPr>
              <a:t>Deloitte will utilize its rich industry knowledge and prior experience of working with DPL (through ongoing ERP implementation engagement) to develop the best solutions to achieve desired results.</a:t>
            </a:r>
          </a:p>
        </p:txBody>
      </p:sp>
      <p:sp>
        <p:nvSpPr>
          <p:cNvPr id="64" name="Text Placeholder 1">
            <a:extLst>
              <a:ext uri="{FF2B5EF4-FFF2-40B4-BE49-F238E27FC236}">
                <a16:creationId xmlns:a16="http://schemas.microsoft.com/office/drawing/2014/main" id="{A4D7B73A-A4B9-4AA7-8C0A-D7B1551CF049}"/>
              </a:ext>
            </a:extLst>
          </p:cNvPr>
          <p:cNvSpPr>
            <a:spLocks noGrp="1"/>
          </p:cNvSpPr>
          <p:nvPr>
            <p:ph type="body" sz="quarter" idx="13"/>
          </p:nvPr>
        </p:nvSpPr>
        <p:spPr>
          <a:xfrm>
            <a:off x="501650" y="651600"/>
            <a:ext cx="11188700" cy="757255"/>
          </a:xfrm>
        </p:spPr>
        <p:txBody>
          <a:bodyPr/>
          <a:lstStyle/>
          <a:p>
            <a:pPr algn="just"/>
            <a:r>
              <a:rPr lang="en-US"/>
              <a:t>We will undertake a detailed study of DPL’s current organization structure, manpower planning, PMS and KPIs  </a:t>
            </a:r>
          </a:p>
        </p:txBody>
      </p:sp>
      <p:cxnSp>
        <p:nvCxnSpPr>
          <p:cNvPr id="65" name="Straight Connector 64">
            <a:extLst>
              <a:ext uri="{FF2B5EF4-FFF2-40B4-BE49-F238E27FC236}">
                <a16:creationId xmlns:a16="http://schemas.microsoft.com/office/drawing/2014/main" id="{EC0BB919-39A7-430A-9B27-535D729BEE6C}"/>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Metin kutusu 17">
            <a:extLst>
              <a:ext uri="{FF2B5EF4-FFF2-40B4-BE49-F238E27FC236}">
                <a16:creationId xmlns:a16="http://schemas.microsoft.com/office/drawing/2014/main" id="{6C42A3B1-1292-4F77-AE42-984BC2CBFE3D}"/>
              </a:ext>
            </a:extLst>
          </p:cNvPr>
          <p:cNvSpPr txBox="1"/>
          <p:nvPr/>
        </p:nvSpPr>
        <p:spPr>
          <a:xfrm>
            <a:off x="707050" y="2226395"/>
            <a:ext cx="1957810" cy="2589425"/>
          </a:xfrm>
          <a:prstGeom prst="rect">
            <a:avLst/>
          </a:prstGeom>
          <a:noFill/>
        </p:spPr>
        <p:txBody>
          <a:bodyPr wrap="square" lIns="65023" tIns="32511" rIns="65023" bIns="32511" rtlCol="0">
            <a:spAutoFit/>
          </a:bodyPr>
          <a:lstStyle/>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Understand Business practices and Management Expectations</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Discussion with DPL Top Management on Team Formation and Communication Protocols</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Discussion on way forward of Project Plan </a:t>
            </a:r>
          </a:p>
        </p:txBody>
      </p:sp>
      <p:sp>
        <p:nvSpPr>
          <p:cNvPr id="35" name="Metin kutusu 17">
            <a:extLst>
              <a:ext uri="{FF2B5EF4-FFF2-40B4-BE49-F238E27FC236}">
                <a16:creationId xmlns:a16="http://schemas.microsoft.com/office/drawing/2014/main" id="{786C6095-5450-4BD4-95DE-F2D05F73B7BA}"/>
              </a:ext>
            </a:extLst>
          </p:cNvPr>
          <p:cNvSpPr txBox="1"/>
          <p:nvPr/>
        </p:nvSpPr>
        <p:spPr>
          <a:xfrm>
            <a:off x="2968014" y="2220531"/>
            <a:ext cx="1957810" cy="3051090"/>
          </a:xfrm>
          <a:prstGeom prst="rect">
            <a:avLst/>
          </a:prstGeom>
          <a:noFill/>
        </p:spPr>
        <p:txBody>
          <a:bodyPr wrap="square" lIns="65023" tIns="32511" rIns="65023" bIns="32511" rtlCol="0">
            <a:spAutoFit/>
          </a:bodyPr>
          <a:lstStyle/>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Conduct interviews with  DPL stakeholders from concerned departments</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Review roles and responsibilities with accountability matrix </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Assess actual and required manpower </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Collect and review  available manuals and HR policies</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Conduct skill gap assessment </a:t>
            </a:r>
          </a:p>
        </p:txBody>
      </p:sp>
      <p:sp>
        <p:nvSpPr>
          <p:cNvPr id="36" name="Metin kutusu 17">
            <a:extLst>
              <a:ext uri="{FF2B5EF4-FFF2-40B4-BE49-F238E27FC236}">
                <a16:creationId xmlns:a16="http://schemas.microsoft.com/office/drawing/2014/main" id="{33F719DB-8C42-4B0B-9333-DDA8A077F676}"/>
              </a:ext>
            </a:extLst>
          </p:cNvPr>
          <p:cNvSpPr txBox="1"/>
          <p:nvPr/>
        </p:nvSpPr>
        <p:spPr>
          <a:xfrm>
            <a:off x="5146045" y="2229954"/>
            <a:ext cx="1976865" cy="2358592"/>
          </a:xfrm>
          <a:prstGeom prst="rect">
            <a:avLst/>
          </a:prstGeom>
          <a:noFill/>
        </p:spPr>
        <p:txBody>
          <a:bodyPr wrap="square" lIns="65023" tIns="32511" rIns="65023" bIns="32511" rtlCol="0">
            <a:spAutoFit/>
          </a:bodyPr>
          <a:lstStyle/>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Collation and consolidation of documentation/ inputs received from discussions </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Development and finalization of As-Is assessment</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Development and finalization of As-Is Training Policy</a:t>
            </a:r>
          </a:p>
        </p:txBody>
      </p:sp>
      <p:sp>
        <p:nvSpPr>
          <p:cNvPr id="31" name="Metin kutusu 17">
            <a:extLst>
              <a:ext uri="{FF2B5EF4-FFF2-40B4-BE49-F238E27FC236}">
                <a16:creationId xmlns:a16="http://schemas.microsoft.com/office/drawing/2014/main" id="{68FBB3E9-55CF-4BB5-8EEE-22872C363526}"/>
              </a:ext>
            </a:extLst>
          </p:cNvPr>
          <p:cNvSpPr txBox="1"/>
          <p:nvPr/>
        </p:nvSpPr>
        <p:spPr>
          <a:xfrm>
            <a:off x="7378992" y="2226395"/>
            <a:ext cx="1976863" cy="3051090"/>
          </a:xfrm>
          <a:prstGeom prst="rect">
            <a:avLst/>
          </a:prstGeom>
          <a:noFill/>
        </p:spPr>
        <p:txBody>
          <a:bodyPr wrap="square" lIns="65023" tIns="32511" rIns="65023" bIns="32511" rtlCol="0">
            <a:spAutoFit/>
          </a:bodyPr>
          <a:lstStyle/>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Identify the areas of improvements</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Incorporate proposed changes in the existing HR policies</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Redesign training policies for maximum value additions</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Review of KPI’s at organization and department Level</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Design capacity building Plan</a:t>
            </a:r>
          </a:p>
        </p:txBody>
      </p:sp>
      <p:sp>
        <p:nvSpPr>
          <p:cNvPr id="32" name="Metin kutusu 17">
            <a:extLst>
              <a:ext uri="{FF2B5EF4-FFF2-40B4-BE49-F238E27FC236}">
                <a16:creationId xmlns:a16="http://schemas.microsoft.com/office/drawing/2014/main" id="{2D830ED7-DD64-43C8-94E8-D56FDAB3A5A9}"/>
              </a:ext>
            </a:extLst>
          </p:cNvPr>
          <p:cNvSpPr txBox="1"/>
          <p:nvPr/>
        </p:nvSpPr>
        <p:spPr>
          <a:xfrm>
            <a:off x="9658229" y="2226395"/>
            <a:ext cx="1976863" cy="2358592"/>
          </a:xfrm>
          <a:prstGeom prst="rect">
            <a:avLst/>
          </a:prstGeom>
          <a:noFill/>
        </p:spPr>
        <p:txBody>
          <a:bodyPr wrap="square" lIns="65023" tIns="32511" rIns="65023" bIns="32511" rtlCol="0">
            <a:spAutoFit/>
          </a:bodyPr>
          <a:lstStyle/>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Preparation of finalized To-Be and redesigned training policy </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Updation of organization and department level HR manuals </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Preparation of final report </a:t>
            </a:r>
          </a:p>
          <a:p>
            <a:pPr marL="171450" indent="-171450">
              <a:lnSpc>
                <a:spcPct val="120000"/>
              </a:lnSpc>
              <a:buFont typeface="Arial" panose="020B0604020202020204" pitchFamily="34" charset="0"/>
              <a:buChar char="•"/>
            </a:pPr>
            <a:r>
              <a:rPr lang="en-US" altLang="zh-CN" sz="1250" dirty="0">
                <a:ea typeface="微软雅黑" panose="020B0503020204020204" pitchFamily="34" charset="-122"/>
                <a:cs typeface="+mn-ea"/>
                <a:sym typeface="Arial" panose="020B0604020202020204" pitchFamily="34" charset="0"/>
              </a:rPr>
              <a:t>Implementation Support</a:t>
            </a:r>
          </a:p>
          <a:p>
            <a:pPr marL="171450" indent="-171450">
              <a:lnSpc>
                <a:spcPct val="120000"/>
              </a:lnSpc>
              <a:buFont typeface="Arial" panose="020B0604020202020204" pitchFamily="34" charset="0"/>
              <a:buChar char="•"/>
            </a:pPr>
            <a:endParaRPr lang="en-US" altLang="zh-CN" sz="1250" dirty="0">
              <a:ea typeface="微软雅黑" panose="020B0503020204020204" pitchFamily="34" charset="-122"/>
              <a:cs typeface="+mn-ea"/>
              <a:sym typeface="Arial" panose="020B0604020202020204" pitchFamily="34" charset="0"/>
            </a:endParaRPr>
          </a:p>
        </p:txBody>
      </p:sp>
      <p:grpSp>
        <p:nvGrpSpPr>
          <p:cNvPr id="5" name="Group 4">
            <a:extLst>
              <a:ext uri="{FF2B5EF4-FFF2-40B4-BE49-F238E27FC236}">
                <a16:creationId xmlns:a16="http://schemas.microsoft.com/office/drawing/2014/main" id="{EB17C789-3B29-428D-BB33-57AE3BAB3250}"/>
              </a:ext>
            </a:extLst>
          </p:cNvPr>
          <p:cNvGrpSpPr/>
          <p:nvPr/>
        </p:nvGrpSpPr>
        <p:grpSpPr>
          <a:xfrm>
            <a:off x="459932" y="1300452"/>
            <a:ext cx="11349090" cy="4183093"/>
            <a:chOff x="402903" y="1419829"/>
            <a:chExt cx="11349090" cy="3827364"/>
          </a:xfrm>
        </p:grpSpPr>
        <p:sp>
          <p:nvSpPr>
            <p:cNvPr id="2" name="Rectangle 1">
              <a:extLst>
                <a:ext uri="{FF2B5EF4-FFF2-40B4-BE49-F238E27FC236}">
                  <a16:creationId xmlns:a16="http://schemas.microsoft.com/office/drawing/2014/main" id="{96C0D91A-C306-4896-97F4-B530E138FB47}"/>
                </a:ext>
              </a:extLst>
            </p:cNvPr>
            <p:cNvSpPr/>
            <p:nvPr/>
          </p:nvSpPr>
          <p:spPr bwMode="gray">
            <a:xfrm>
              <a:off x="402904" y="1421095"/>
              <a:ext cx="247115" cy="3810876"/>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9" name="Rectangle 38">
              <a:extLst>
                <a:ext uri="{FF2B5EF4-FFF2-40B4-BE49-F238E27FC236}">
                  <a16:creationId xmlns:a16="http://schemas.microsoft.com/office/drawing/2014/main" id="{E78B7EB8-F210-40B5-9701-7137A9E38EC8}"/>
                </a:ext>
              </a:extLst>
            </p:cNvPr>
            <p:cNvSpPr/>
            <p:nvPr/>
          </p:nvSpPr>
          <p:spPr bwMode="gray">
            <a:xfrm>
              <a:off x="2626884" y="1421095"/>
              <a:ext cx="247115" cy="381087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0" name="Rectangle 39">
              <a:extLst>
                <a:ext uri="{FF2B5EF4-FFF2-40B4-BE49-F238E27FC236}">
                  <a16:creationId xmlns:a16="http://schemas.microsoft.com/office/drawing/2014/main" id="{11487CCF-99E1-4503-BFED-51899FE558EC}"/>
                </a:ext>
              </a:extLst>
            </p:cNvPr>
            <p:cNvSpPr/>
            <p:nvPr/>
          </p:nvSpPr>
          <p:spPr bwMode="gray">
            <a:xfrm>
              <a:off x="4850865" y="1421095"/>
              <a:ext cx="247115" cy="3810876"/>
            </a:xfrm>
            <a:prstGeom prst="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1" name="Rectangle 40">
              <a:extLst>
                <a:ext uri="{FF2B5EF4-FFF2-40B4-BE49-F238E27FC236}">
                  <a16:creationId xmlns:a16="http://schemas.microsoft.com/office/drawing/2014/main" id="{55676DDE-AC46-49F7-8956-A11543948543}"/>
                </a:ext>
              </a:extLst>
            </p:cNvPr>
            <p:cNvSpPr/>
            <p:nvPr/>
          </p:nvSpPr>
          <p:spPr bwMode="gray">
            <a:xfrm>
              <a:off x="7074845" y="1421095"/>
              <a:ext cx="247115" cy="3810876"/>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2" name="Rectangle 41">
              <a:extLst>
                <a:ext uri="{FF2B5EF4-FFF2-40B4-BE49-F238E27FC236}">
                  <a16:creationId xmlns:a16="http://schemas.microsoft.com/office/drawing/2014/main" id="{E180749D-7765-4E42-9220-E42334806A62}"/>
                </a:ext>
              </a:extLst>
            </p:cNvPr>
            <p:cNvSpPr/>
            <p:nvPr/>
          </p:nvSpPr>
          <p:spPr bwMode="gray">
            <a:xfrm>
              <a:off x="9298826" y="1421095"/>
              <a:ext cx="247115" cy="3810876"/>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3" name="Rectangle 42">
              <a:extLst>
                <a:ext uri="{FF2B5EF4-FFF2-40B4-BE49-F238E27FC236}">
                  <a16:creationId xmlns:a16="http://schemas.microsoft.com/office/drawing/2014/main" id="{A77DC245-C554-4815-949D-CF2F4B6BFECB}"/>
                </a:ext>
              </a:extLst>
            </p:cNvPr>
            <p:cNvSpPr/>
            <p:nvPr/>
          </p:nvSpPr>
          <p:spPr bwMode="gray">
            <a:xfrm rot="16200000">
              <a:off x="3749486" y="297227"/>
              <a:ext cx="225893" cy="247109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1" name="Rectangle 70">
              <a:extLst>
                <a:ext uri="{FF2B5EF4-FFF2-40B4-BE49-F238E27FC236}">
                  <a16:creationId xmlns:a16="http://schemas.microsoft.com/office/drawing/2014/main" id="{8FD9CF8D-5921-45A2-852A-525ADB3A7297}"/>
                </a:ext>
              </a:extLst>
            </p:cNvPr>
            <p:cNvSpPr/>
            <p:nvPr/>
          </p:nvSpPr>
          <p:spPr bwMode="gray">
            <a:xfrm rot="16200000">
              <a:off x="8197268" y="298223"/>
              <a:ext cx="225893" cy="2470742"/>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4" name="Rectangle 73">
              <a:extLst>
                <a:ext uri="{FF2B5EF4-FFF2-40B4-BE49-F238E27FC236}">
                  <a16:creationId xmlns:a16="http://schemas.microsoft.com/office/drawing/2014/main" id="{160365E6-843D-4A99-83D5-4BB297667C6A}"/>
                </a:ext>
              </a:extLst>
            </p:cNvPr>
            <p:cNvSpPr/>
            <p:nvPr/>
          </p:nvSpPr>
          <p:spPr bwMode="gray">
            <a:xfrm rot="16200000">
              <a:off x="1525505" y="3892266"/>
              <a:ext cx="225893" cy="2471098"/>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5" name="Rectangle 74">
              <a:extLst>
                <a:ext uri="{FF2B5EF4-FFF2-40B4-BE49-F238E27FC236}">
                  <a16:creationId xmlns:a16="http://schemas.microsoft.com/office/drawing/2014/main" id="{E0C140C0-8612-4B4D-8759-867DE5ADB8E0}"/>
                </a:ext>
              </a:extLst>
            </p:cNvPr>
            <p:cNvSpPr/>
            <p:nvPr/>
          </p:nvSpPr>
          <p:spPr bwMode="gray">
            <a:xfrm rot="16200000">
              <a:off x="5973645" y="3888066"/>
              <a:ext cx="225893" cy="2470740"/>
            </a:xfrm>
            <a:prstGeom prst="rect">
              <a:avLst/>
            </a:prstGeom>
            <a:solidFill>
              <a:schemeClr val="accent5">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76" name="Rectangle 75">
              <a:extLst>
                <a:ext uri="{FF2B5EF4-FFF2-40B4-BE49-F238E27FC236}">
                  <a16:creationId xmlns:a16="http://schemas.microsoft.com/office/drawing/2014/main" id="{936CF4C0-9869-42D3-BB58-663647360E8D}"/>
                </a:ext>
              </a:extLst>
            </p:cNvPr>
            <p:cNvSpPr/>
            <p:nvPr/>
          </p:nvSpPr>
          <p:spPr bwMode="gray">
            <a:xfrm rot="16200000">
              <a:off x="10412462" y="3907663"/>
              <a:ext cx="225893" cy="2453168"/>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83" name="Freeform 1022">
              <a:extLst>
                <a:ext uri="{FF2B5EF4-FFF2-40B4-BE49-F238E27FC236}">
                  <a16:creationId xmlns:a16="http://schemas.microsoft.com/office/drawing/2014/main" id="{5E2DDE49-B1F7-488F-A06D-9D2E38196CCB}"/>
                </a:ext>
              </a:extLst>
            </p:cNvPr>
            <p:cNvSpPr>
              <a:spLocks noChangeAspect="1" noEditPoints="1"/>
            </p:cNvSpPr>
            <p:nvPr/>
          </p:nvSpPr>
          <p:spPr bwMode="auto">
            <a:xfrm>
              <a:off x="1248618" y="1921743"/>
              <a:ext cx="457200" cy="457200"/>
            </a:xfrm>
            <a:custGeom>
              <a:avLst/>
              <a:gdLst>
                <a:gd name="T0" fmla="*/ 490 w 512"/>
                <a:gd name="T1" fmla="*/ 256 h 512"/>
                <a:gd name="T2" fmla="*/ 21 w 512"/>
                <a:gd name="T3" fmla="*/ 256 h 512"/>
                <a:gd name="T4" fmla="*/ 256 w 512"/>
                <a:gd name="T5" fmla="*/ 0 h 512"/>
                <a:gd name="T6" fmla="*/ 256 w 512"/>
                <a:gd name="T7" fmla="*/ 512 h 512"/>
                <a:gd name="T8" fmla="*/ 256 w 512"/>
                <a:gd name="T9" fmla="*/ 0 h 512"/>
                <a:gd name="T10" fmla="*/ 372 w 512"/>
                <a:gd name="T11" fmla="*/ 245 h 512"/>
                <a:gd name="T12" fmla="*/ 370 w 512"/>
                <a:gd name="T13" fmla="*/ 157 h 512"/>
                <a:gd name="T14" fmla="*/ 355 w 512"/>
                <a:gd name="T15" fmla="*/ 141 h 512"/>
                <a:gd name="T16" fmla="*/ 266 w 512"/>
                <a:gd name="T17" fmla="*/ 139 h 512"/>
                <a:gd name="T18" fmla="*/ 256 w 512"/>
                <a:gd name="T19" fmla="*/ 96 h 512"/>
                <a:gd name="T20" fmla="*/ 245 w 512"/>
                <a:gd name="T21" fmla="*/ 139 h 512"/>
                <a:gd name="T22" fmla="*/ 157 w 512"/>
                <a:gd name="T23" fmla="*/ 141 h 512"/>
                <a:gd name="T24" fmla="*/ 141 w 512"/>
                <a:gd name="T25" fmla="*/ 157 h 512"/>
                <a:gd name="T26" fmla="*/ 139 w 512"/>
                <a:gd name="T27" fmla="*/ 245 h 512"/>
                <a:gd name="T28" fmla="*/ 96 w 512"/>
                <a:gd name="T29" fmla="*/ 256 h 512"/>
                <a:gd name="T30" fmla="*/ 139 w 512"/>
                <a:gd name="T31" fmla="*/ 266 h 512"/>
                <a:gd name="T32" fmla="*/ 141 w 512"/>
                <a:gd name="T33" fmla="*/ 355 h 512"/>
                <a:gd name="T34" fmla="*/ 149 w 512"/>
                <a:gd name="T35" fmla="*/ 373 h 512"/>
                <a:gd name="T36" fmla="*/ 181 w 512"/>
                <a:gd name="T37" fmla="*/ 346 h 512"/>
                <a:gd name="T38" fmla="*/ 245 w 512"/>
                <a:gd name="T39" fmla="*/ 405 h 512"/>
                <a:gd name="T40" fmla="*/ 266 w 512"/>
                <a:gd name="T41" fmla="*/ 405 h 512"/>
                <a:gd name="T42" fmla="*/ 331 w 512"/>
                <a:gd name="T43" fmla="*/ 346 h 512"/>
                <a:gd name="T44" fmla="*/ 362 w 512"/>
                <a:gd name="T45" fmla="*/ 373 h 512"/>
                <a:gd name="T46" fmla="*/ 370 w 512"/>
                <a:gd name="T47" fmla="*/ 355 h 512"/>
                <a:gd name="T48" fmla="*/ 372 w 512"/>
                <a:gd name="T49" fmla="*/ 266 h 512"/>
                <a:gd name="T50" fmla="*/ 416 w 512"/>
                <a:gd name="T51" fmla="*/ 256 h 512"/>
                <a:gd name="T52" fmla="*/ 351 w 512"/>
                <a:gd name="T53" fmla="*/ 245 h 512"/>
                <a:gd name="T54" fmla="*/ 286 w 512"/>
                <a:gd name="T55" fmla="*/ 245 h 512"/>
                <a:gd name="T56" fmla="*/ 286 w 512"/>
                <a:gd name="T57" fmla="*/ 241 h 512"/>
                <a:gd name="T58" fmla="*/ 351 w 512"/>
                <a:gd name="T59" fmla="*/ 245 h 512"/>
                <a:gd name="T60" fmla="*/ 271 w 512"/>
                <a:gd name="T61" fmla="*/ 226 h 512"/>
                <a:gd name="T62" fmla="*/ 266 w 512"/>
                <a:gd name="T63" fmla="*/ 226 h 512"/>
                <a:gd name="T64" fmla="*/ 266 w 512"/>
                <a:gd name="T65" fmla="*/ 160 h 512"/>
                <a:gd name="T66" fmla="*/ 256 w 512"/>
                <a:gd name="T67" fmla="*/ 266 h 512"/>
                <a:gd name="T68" fmla="*/ 256 w 512"/>
                <a:gd name="T69" fmla="*/ 245 h 512"/>
                <a:gd name="T70" fmla="*/ 256 w 512"/>
                <a:gd name="T71" fmla="*/ 266 h 512"/>
                <a:gd name="T72" fmla="*/ 245 w 512"/>
                <a:gd name="T73" fmla="*/ 224 h 512"/>
                <a:gd name="T74" fmla="*/ 242 w 512"/>
                <a:gd name="T75" fmla="*/ 227 h 512"/>
                <a:gd name="T76" fmla="*/ 196 w 512"/>
                <a:gd name="T77" fmla="*/ 181 h 512"/>
                <a:gd name="T78" fmla="*/ 181 w 512"/>
                <a:gd name="T79" fmla="*/ 196 h 512"/>
                <a:gd name="T80" fmla="*/ 227 w 512"/>
                <a:gd name="T81" fmla="*/ 242 h 512"/>
                <a:gd name="T82" fmla="*/ 224 w 512"/>
                <a:gd name="T83" fmla="*/ 245 h 512"/>
                <a:gd name="T84" fmla="*/ 181 w 512"/>
                <a:gd name="T85" fmla="*/ 196 h 512"/>
                <a:gd name="T86" fmla="*/ 224 w 512"/>
                <a:gd name="T87" fmla="*/ 266 h 512"/>
                <a:gd name="T88" fmla="*/ 227 w 512"/>
                <a:gd name="T89" fmla="*/ 270 h 512"/>
                <a:gd name="T90" fmla="*/ 181 w 512"/>
                <a:gd name="T91" fmla="*/ 316 h 512"/>
                <a:gd name="T92" fmla="*/ 196 w 512"/>
                <a:gd name="T93" fmla="*/ 331 h 512"/>
                <a:gd name="T94" fmla="*/ 242 w 512"/>
                <a:gd name="T95" fmla="*/ 284 h 512"/>
                <a:gd name="T96" fmla="*/ 245 w 512"/>
                <a:gd name="T97" fmla="*/ 288 h 512"/>
                <a:gd name="T98" fmla="*/ 196 w 512"/>
                <a:gd name="T99" fmla="*/ 331 h 512"/>
                <a:gd name="T100" fmla="*/ 266 w 512"/>
                <a:gd name="T101" fmla="*/ 288 h 512"/>
                <a:gd name="T102" fmla="*/ 270 w 512"/>
                <a:gd name="T103" fmla="*/ 284 h 512"/>
                <a:gd name="T104" fmla="*/ 316 w 512"/>
                <a:gd name="T105" fmla="*/ 331 h 512"/>
                <a:gd name="T106" fmla="*/ 331 w 512"/>
                <a:gd name="T107" fmla="*/ 316 h 512"/>
                <a:gd name="T108" fmla="*/ 284 w 512"/>
                <a:gd name="T109" fmla="*/ 270 h 512"/>
                <a:gd name="T110" fmla="*/ 288 w 512"/>
                <a:gd name="T111" fmla="*/ 266 h 512"/>
                <a:gd name="T112" fmla="*/ 331 w 512"/>
                <a:gd name="T113" fmla="*/ 3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45"/>
                  </a:moveTo>
                  <a:cubicBezTo>
                    <a:pt x="372" y="245"/>
                    <a:pt x="372" y="245"/>
                    <a:pt x="372" y="245"/>
                  </a:cubicBezTo>
                  <a:cubicBezTo>
                    <a:pt x="370" y="221"/>
                    <a:pt x="361" y="198"/>
                    <a:pt x="346" y="181"/>
                  </a:cubicBezTo>
                  <a:cubicBezTo>
                    <a:pt x="370" y="157"/>
                    <a:pt x="370" y="157"/>
                    <a:pt x="370" y="157"/>
                  </a:cubicBezTo>
                  <a:cubicBezTo>
                    <a:pt x="374" y="152"/>
                    <a:pt x="374" y="146"/>
                    <a:pt x="370" y="141"/>
                  </a:cubicBezTo>
                  <a:cubicBezTo>
                    <a:pt x="366" y="137"/>
                    <a:pt x="359" y="137"/>
                    <a:pt x="355" y="141"/>
                  </a:cubicBezTo>
                  <a:cubicBezTo>
                    <a:pt x="331" y="166"/>
                    <a:pt x="331" y="166"/>
                    <a:pt x="331" y="166"/>
                  </a:cubicBezTo>
                  <a:cubicBezTo>
                    <a:pt x="313" y="151"/>
                    <a:pt x="291" y="141"/>
                    <a:pt x="266" y="139"/>
                  </a:cubicBezTo>
                  <a:cubicBezTo>
                    <a:pt x="266" y="106"/>
                    <a:pt x="266" y="106"/>
                    <a:pt x="266" y="106"/>
                  </a:cubicBezTo>
                  <a:cubicBezTo>
                    <a:pt x="266" y="100"/>
                    <a:pt x="262" y="96"/>
                    <a:pt x="256" y="96"/>
                  </a:cubicBezTo>
                  <a:cubicBezTo>
                    <a:pt x="250" y="96"/>
                    <a:pt x="245" y="100"/>
                    <a:pt x="245" y="106"/>
                  </a:cubicBezTo>
                  <a:cubicBezTo>
                    <a:pt x="245" y="139"/>
                    <a:pt x="245" y="139"/>
                    <a:pt x="245" y="139"/>
                  </a:cubicBezTo>
                  <a:cubicBezTo>
                    <a:pt x="221" y="141"/>
                    <a:pt x="198" y="151"/>
                    <a:pt x="181" y="166"/>
                  </a:cubicBezTo>
                  <a:cubicBezTo>
                    <a:pt x="157" y="141"/>
                    <a:pt x="157" y="141"/>
                    <a:pt x="157" y="141"/>
                  </a:cubicBezTo>
                  <a:cubicBezTo>
                    <a:pt x="152" y="137"/>
                    <a:pt x="146" y="137"/>
                    <a:pt x="141" y="141"/>
                  </a:cubicBezTo>
                  <a:cubicBezTo>
                    <a:pt x="137" y="146"/>
                    <a:pt x="137" y="152"/>
                    <a:pt x="141" y="157"/>
                  </a:cubicBezTo>
                  <a:cubicBezTo>
                    <a:pt x="166" y="181"/>
                    <a:pt x="166" y="181"/>
                    <a:pt x="166" y="181"/>
                  </a:cubicBezTo>
                  <a:cubicBezTo>
                    <a:pt x="151" y="198"/>
                    <a:pt x="141" y="221"/>
                    <a:pt x="139" y="245"/>
                  </a:cubicBezTo>
                  <a:cubicBezTo>
                    <a:pt x="106" y="245"/>
                    <a:pt x="106" y="245"/>
                    <a:pt x="106" y="245"/>
                  </a:cubicBezTo>
                  <a:cubicBezTo>
                    <a:pt x="100" y="245"/>
                    <a:pt x="96" y="250"/>
                    <a:pt x="96" y="256"/>
                  </a:cubicBezTo>
                  <a:cubicBezTo>
                    <a:pt x="96" y="262"/>
                    <a:pt x="100" y="266"/>
                    <a:pt x="106" y="266"/>
                  </a:cubicBezTo>
                  <a:cubicBezTo>
                    <a:pt x="139" y="266"/>
                    <a:pt x="139" y="266"/>
                    <a:pt x="139" y="266"/>
                  </a:cubicBezTo>
                  <a:cubicBezTo>
                    <a:pt x="141" y="291"/>
                    <a:pt x="151" y="313"/>
                    <a:pt x="166" y="331"/>
                  </a:cubicBezTo>
                  <a:cubicBezTo>
                    <a:pt x="141" y="355"/>
                    <a:pt x="141" y="355"/>
                    <a:pt x="141" y="355"/>
                  </a:cubicBezTo>
                  <a:cubicBezTo>
                    <a:pt x="137" y="359"/>
                    <a:pt x="137" y="366"/>
                    <a:pt x="141" y="370"/>
                  </a:cubicBezTo>
                  <a:cubicBezTo>
                    <a:pt x="144" y="372"/>
                    <a:pt x="146" y="373"/>
                    <a:pt x="149" y="373"/>
                  </a:cubicBezTo>
                  <a:cubicBezTo>
                    <a:pt x="152" y="373"/>
                    <a:pt x="154" y="372"/>
                    <a:pt x="157" y="370"/>
                  </a:cubicBezTo>
                  <a:cubicBezTo>
                    <a:pt x="181" y="346"/>
                    <a:pt x="181" y="346"/>
                    <a:pt x="181" y="346"/>
                  </a:cubicBezTo>
                  <a:cubicBezTo>
                    <a:pt x="198" y="361"/>
                    <a:pt x="221" y="370"/>
                    <a:pt x="245" y="372"/>
                  </a:cubicBezTo>
                  <a:cubicBezTo>
                    <a:pt x="245" y="405"/>
                    <a:pt x="245" y="405"/>
                    <a:pt x="245" y="405"/>
                  </a:cubicBezTo>
                  <a:cubicBezTo>
                    <a:pt x="245" y="411"/>
                    <a:pt x="250" y="416"/>
                    <a:pt x="256" y="416"/>
                  </a:cubicBezTo>
                  <a:cubicBezTo>
                    <a:pt x="262" y="416"/>
                    <a:pt x="266" y="411"/>
                    <a:pt x="266" y="405"/>
                  </a:cubicBezTo>
                  <a:cubicBezTo>
                    <a:pt x="266" y="372"/>
                    <a:pt x="266" y="372"/>
                    <a:pt x="266" y="372"/>
                  </a:cubicBezTo>
                  <a:cubicBezTo>
                    <a:pt x="291" y="370"/>
                    <a:pt x="313" y="361"/>
                    <a:pt x="331" y="346"/>
                  </a:cubicBezTo>
                  <a:cubicBezTo>
                    <a:pt x="355" y="370"/>
                    <a:pt x="355" y="370"/>
                    <a:pt x="355" y="370"/>
                  </a:cubicBezTo>
                  <a:cubicBezTo>
                    <a:pt x="357" y="372"/>
                    <a:pt x="360" y="373"/>
                    <a:pt x="362" y="373"/>
                  </a:cubicBezTo>
                  <a:cubicBezTo>
                    <a:pt x="365" y="373"/>
                    <a:pt x="368" y="372"/>
                    <a:pt x="370" y="370"/>
                  </a:cubicBezTo>
                  <a:cubicBezTo>
                    <a:pt x="374" y="366"/>
                    <a:pt x="374" y="359"/>
                    <a:pt x="370" y="355"/>
                  </a:cubicBezTo>
                  <a:cubicBezTo>
                    <a:pt x="346" y="331"/>
                    <a:pt x="346" y="331"/>
                    <a:pt x="346" y="331"/>
                  </a:cubicBezTo>
                  <a:cubicBezTo>
                    <a:pt x="361" y="313"/>
                    <a:pt x="370" y="291"/>
                    <a:pt x="372" y="266"/>
                  </a:cubicBezTo>
                  <a:cubicBezTo>
                    <a:pt x="405" y="266"/>
                    <a:pt x="405" y="266"/>
                    <a:pt x="405" y="266"/>
                  </a:cubicBezTo>
                  <a:cubicBezTo>
                    <a:pt x="411" y="266"/>
                    <a:pt x="416" y="262"/>
                    <a:pt x="416" y="256"/>
                  </a:cubicBezTo>
                  <a:cubicBezTo>
                    <a:pt x="416" y="250"/>
                    <a:pt x="411" y="245"/>
                    <a:pt x="405" y="245"/>
                  </a:cubicBezTo>
                  <a:close/>
                  <a:moveTo>
                    <a:pt x="351" y="245"/>
                  </a:moveTo>
                  <a:cubicBezTo>
                    <a:pt x="288" y="245"/>
                    <a:pt x="288" y="245"/>
                    <a:pt x="288" y="245"/>
                  </a:cubicBezTo>
                  <a:cubicBezTo>
                    <a:pt x="287" y="245"/>
                    <a:pt x="286" y="245"/>
                    <a:pt x="286" y="245"/>
                  </a:cubicBezTo>
                  <a:cubicBezTo>
                    <a:pt x="285" y="244"/>
                    <a:pt x="285" y="243"/>
                    <a:pt x="284" y="242"/>
                  </a:cubicBezTo>
                  <a:cubicBezTo>
                    <a:pt x="285" y="241"/>
                    <a:pt x="285" y="241"/>
                    <a:pt x="286" y="241"/>
                  </a:cubicBezTo>
                  <a:cubicBezTo>
                    <a:pt x="331" y="196"/>
                    <a:pt x="331" y="196"/>
                    <a:pt x="331" y="196"/>
                  </a:cubicBezTo>
                  <a:cubicBezTo>
                    <a:pt x="342" y="210"/>
                    <a:pt x="349" y="227"/>
                    <a:pt x="351" y="245"/>
                  </a:cubicBezTo>
                  <a:close/>
                  <a:moveTo>
                    <a:pt x="316" y="181"/>
                  </a:moveTo>
                  <a:cubicBezTo>
                    <a:pt x="271" y="226"/>
                    <a:pt x="271" y="226"/>
                    <a:pt x="271" y="226"/>
                  </a:cubicBezTo>
                  <a:cubicBezTo>
                    <a:pt x="270" y="226"/>
                    <a:pt x="270" y="227"/>
                    <a:pt x="270" y="227"/>
                  </a:cubicBezTo>
                  <a:cubicBezTo>
                    <a:pt x="269" y="226"/>
                    <a:pt x="267" y="226"/>
                    <a:pt x="266" y="226"/>
                  </a:cubicBezTo>
                  <a:cubicBezTo>
                    <a:pt x="266" y="225"/>
                    <a:pt x="266" y="224"/>
                    <a:pt x="266" y="224"/>
                  </a:cubicBezTo>
                  <a:cubicBezTo>
                    <a:pt x="266" y="160"/>
                    <a:pt x="266" y="160"/>
                    <a:pt x="266" y="160"/>
                  </a:cubicBezTo>
                  <a:cubicBezTo>
                    <a:pt x="285" y="162"/>
                    <a:pt x="302" y="170"/>
                    <a:pt x="316" y="181"/>
                  </a:cubicBezTo>
                  <a:close/>
                  <a:moveTo>
                    <a:pt x="256" y="266"/>
                  </a:moveTo>
                  <a:cubicBezTo>
                    <a:pt x="250" y="266"/>
                    <a:pt x="245" y="262"/>
                    <a:pt x="245" y="256"/>
                  </a:cubicBezTo>
                  <a:cubicBezTo>
                    <a:pt x="245" y="250"/>
                    <a:pt x="250" y="245"/>
                    <a:pt x="256" y="245"/>
                  </a:cubicBezTo>
                  <a:cubicBezTo>
                    <a:pt x="262" y="245"/>
                    <a:pt x="266" y="250"/>
                    <a:pt x="266" y="256"/>
                  </a:cubicBezTo>
                  <a:cubicBezTo>
                    <a:pt x="266" y="262"/>
                    <a:pt x="262" y="266"/>
                    <a:pt x="256" y="266"/>
                  </a:cubicBezTo>
                  <a:close/>
                  <a:moveTo>
                    <a:pt x="245" y="160"/>
                  </a:moveTo>
                  <a:cubicBezTo>
                    <a:pt x="245" y="224"/>
                    <a:pt x="245" y="224"/>
                    <a:pt x="245" y="224"/>
                  </a:cubicBezTo>
                  <a:cubicBezTo>
                    <a:pt x="245" y="224"/>
                    <a:pt x="245" y="225"/>
                    <a:pt x="245" y="226"/>
                  </a:cubicBezTo>
                  <a:cubicBezTo>
                    <a:pt x="244" y="226"/>
                    <a:pt x="243" y="226"/>
                    <a:pt x="242" y="227"/>
                  </a:cubicBezTo>
                  <a:cubicBezTo>
                    <a:pt x="241" y="227"/>
                    <a:pt x="241" y="226"/>
                    <a:pt x="241" y="226"/>
                  </a:cubicBezTo>
                  <a:cubicBezTo>
                    <a:pt x="196" y="181"/>
                    <a:pt x="196" y="181"/>
                    <a:pt x="196" y="181"/>
                  </a:cubicBezTo>
                  <a:cubicBezTo>
                    <a:pt x="210" y="170"/>
                    <a:pt x="227" y="162"/>
                    <a:pt x="245" y="160"/>
                  </a:cubicBezTo>
                  <a:close/>
                  <a:moveTo>
                    <a:pt x="181" y="196"/>
                  </a:moveTo>
                  <a:cubicBezTo>
                    <a:pt x="226" y="241"/>
                    <a:pt x="226" y="241"/>
                    <a:pt x="226" y="241"/>
                  </a:cubicBezTo>
                  <a:cubicBezTo>
                    <a:pt x="226" y="241"/>
                    <a:pt x="227" y="241"/>
                    <a:pt x="227" y="242"/>
                  </a:cubicBezTo>
                  <a:cubicBezTo>
                    <a:pt x="226" y="243"/>
                    <a:pt x="226" y="244"/>
                    <a:pt x="226" y="245"/>
                  </a:cubicBezTo>
                  <a:cubicBezTo>
                    <a:pt x="225" y="245"/>
                    <a:pt x="224" y="245"/>
                    <a:pt x="224" y="245"/>
                  </a:cubicBezTo>
                  <a:cubicBezTo>
                    <a:pt x="160" y="245"/>
                    <a:pt x="160" y="245"/>
                    <a:pt x="160" y="245"/>
                  </a:cubicBezTo>
                  <a:cubicBezTo>
                    <a:pt x="162" y="227"/>
                    <a:pt x="170" y="210"/>
                    <a:pt x="181" y="196"/>
                  </a:cubicBezTo>
                  <a:close/>
                  <a:moveTo>
                    <a:pt x="160" y="266"/>
                  </a:moveTo>
                  <a:cubicBezTo>
                    <a:pt x="224" y="266"/>
                    <a:pt x="224" y="266"/>
                    <a:pt x="224" y="266"/>
                  </a:cubicBezTo>
                  <a:cubicBezTo>
                    <a:pt x="224" y="266"/>
                    <a:pt x="225" y="266"/>
                    <a:pt x="226" y="266"/>
                  </a:cubicBezTo>
                  <a:cubicBezTo>
                    <a:pt x="226" y="267"/>
                    <a:pt x="226" y="269"/>
                    <a:pt x="227" y="270"/>
                  </a:cubicBezTo>
                  <a:cubicBezTo>
                    <a:pt x="227" y="270"/>
                    <a:pt x="226" y="270"/>
                    <a:pt x="226" y="271"/>
                  </a:cubicBezTo>
                  <a:cubicBezTo>
                    <a:pt x="181" y="316"/>
                    <a:pt x="181" y="316"/>
                    <a:pt x="181" y="316"/>
                  </a:cubicBezTo>
                  <a:cubicBezTo>
                    <a:pt x="170" y="302"/>
                    <a:pt x="162" y="285"/>
                    <a:pt x="160" y="266"/>
                  </a:cubicBezTo>
                  <a:close/>
                  <a:moveTo>
                    <a:pt x="196" y="331"/>
                  </a:moveTo>
                  <a:cubicBezTo>
                    <a:pt x="241" y="286"/>
                    <a:pt x="241" y="286"/>
                    <a:pt x="241" y="286"/>
                  </a:cubicBezTo>
                  <a:cubicBezTo>
                    <a:pt x="241" y="285"/>
                    <a:pt x="241" y="285"/>
                    <a:pt x="242" y="284"/>
                  </a:cubicBezTo>
                  <a:cubicBezTo>
                    <a:pt x="243" y="285"/>
                    <a:pt x="244" y="285"/>
                    <a:pt x="245" y="286"/>
                  </a:cubicBezTo>
                  <a:cubicBezTo>
                    <a:pt x="245" y="286"/>
                    <a:pt x="245" y="287"/>
                    <a:pt x="245" y="288"/>
                  </a:cubicBezTo>
                  <a:cubicBezTo>
                    <a:pt x="245" y="351"/>
                    <a:pt x="245" y="351"/>
                    <a:pt x="245" y="351"/>
                  </a:cubicBezTo>
                  <a:cubicBezTo>
                    <a:pt x="227" y="349"/>
                    <a:pt x="210" y="342"/>
                    <a:pt x="196" y="331"/>
                  </a:cubicBezTo>
                  <a:close/>
                  <a:moveTo>
                    <a:pt x="266" y="351"/>
                  </a:moveTo>
                  <a:cubicBezTo>
                    <a:pt x="266" y="288"/>
                    <a:pt x="266" y="288"/>
                    <a:pt x="266" y="288"/>
                  </a:cubicBezTo>
                  <a:cubicBezTo>
                    <a:pt x="266" y="287"/>
                    <a:pt x="266" y="286"/>
                    <a:pt x="266" y="286"/>
                  </a:cubicBezTo>
                  <a:cubicBezTo>
                    <a:pt x="267" y="285"/>
                    <a:pt x="269" y="285"/>
                    <a:pt x="270" y="284"/>
                  </a:cubicBezTo>
                  <a:cubicBezTo>
                    <a:pt x="270" y="285"/>
                    <a:pt x="270" y="285"/>
                    <a:pt x="271" y="286"/>
                  </a:cubicBezTo>
                  <a:cubicBezTo>
                    <a:pt x="316" y="331"/>
                    <a:pt x="316" y="331"/>
                    <a:pt x="316" y="331"/>
                  </a:cubicBezTo>
                  <a:cubicBezTo>
                    <a:pt x="302" y="342"/>
                    <a:pt x="285" y="349"/>
                    <a:pt x="266" y="351"/>
                  </a:cubicBezTo>
                  <a:close/>
                  <a:moveTo>
                    <a:pt x="331" y="316"/>
                  </a:moveTo>
                  <a:cubicBezTo>
                    <a:pt x="286" y="271"/>
                    <a:pt x="286" y="271"/>
                    <a:pt x="286" y="271"/>
                  </a:cubicBezTo>
                  <a:cubicBezTo>
                    <a:pt x="285" y="270"/>
                    <a:pt x="285" y="270"/>
                    <a:pt x="284" y="270"/>
                  </a:cubicBezTo>
                  <a:cubicBezTo>
                    <a:pt x="285" y="268"/>
                    <a:pt x="285" y="267"/>
                    <a:pt x="286" y="266"/>
                  </a:cubicBezTo>
                  <a:cubicBezTo>
                    <a:pt x="286" y="266"/>
                    <a:pt x="287" y="266"/>
                    <a:pt x="288" y="266"/>
                  </a:cubicBezTo>
                  <a:cubicBezTo>
                    <a:pt x="351" y="266"/>
                    <a:pt x="351" y="266"/>
                    <a:pt x="351" y="266"/>
                  </a:cubicBezTo>
                  <a:cubicBezTo>
                    <a:pt x="349" y="285"/>
                    <a:pt x="342" y="302"/>
                    <a:pt x="331" y="3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85" name="Freeform 1022">
              <a:extLst>
                <a:ext uri="{FF2B5EF4-FFF2-40B4-BE49-F238E27FC236}">
                  <a16:creationId xmlns:a16="http://schemas.microsoft.com/office/drawing/2014/main" id="{374502E0-E23B-425C-9398-26DC635A1438}"/>
                </a:ext>
              </a:extLst>
            </p:cNvPr>
            <p:cNvSpPr>
              <a:spLocks noChangeAspect="1" noEditPoints="1"/>
            </p:cNvSpPr>
            <p:nvPr/>
          </p:nvSpPr>
          <p:spPr bwMode="auto">
            <a:xfrm>
              <a:off x="3530270" y="1895139"/>
              <a:ext cx="457200" cy="457200"/>
            </a:xfrm>
            <a:custGeom>
              <a:avLst/>
              <a:gdLst>
                <a:gd name="T0" fmla="*/ 490 w 512"/>
                <a:gd name="T1" fmla="*/ 256 h 512"/>
                <a:gd name="T2" fmla="*/ 21 w 512"/>
                <a:gd name="T3" fmla="*/ 256 h 512"/>
                <a:gd name="T4" fmla="*/ 256 w 512"/>
                <a:gd name="T5" fmla="*/ 0 h 512"/>
                <a:gd name="T6" fmla="*/ 256 w 512"/>
                <a:gd name="T7" fmla="*/ 512 h 512"/>
                <a:gd name="T8" fmla="*/ 256 w 512"/>
                <a:gd name="T9" fmla="*/ 0 h 512"/>
                <a:gd name="T10" fmla="*/ 372 w 512"/>
                <a:gd name="T11" fmla="*/ 245 h 512"/>
                <a:gd name="T12" fmla="*/ 370 w 512"/>
                <a:gd name="T13" fmla="*/ 157 h 512"/>
                <a:gd name="T14" fmla="*/ 355 w 512"/>
                <a:gd name="T15" fmla="*/ 141 h 512"/>
                <a:gd name="T16" fmla="*/ 266 w 512"/>
                <a:gd name="T17" fmla="*/ 139 h 512"/>
                <a:gd name="T18" fmla="*/ 256 w 512"/>
                <a:gd name="T19" fmla="*/ 96 h 512"/>
                <a:gd name="T20" fmla="*/ 245 w 512"/>
                <a:gd name="T21" fmla="*/ 139 h 512"/>
                <a:gd name="T22" fmla="*/ 157 w 512"/>
                <a:gd name="T23" fmla="*/ 141 h 512"/>
                <a:gd name="T24" fmla="*/ 141 w 512"/>
                <a:gd name="T25" fmla="*/ 157 h 512"/>
                <a:gd name="T26" fmla="*/ 139 w 512"/>
                <a:gd name="T27" fmla="*/ 245 h 512"/>
                <a:gd name="T28" fmla="*/ 96 w 512"/>
                <a:gd name="T29" fmla="*/ 256 h 512"/>
                <a:gd name="T30" fmla="*/ 139 w 512"/>
                <a:gd name="T31" fmla="*/ 266 h 512"/>
                <a:gd name="T32" fmla="*/ 141 w 512"/>
                <a:gd name="T33" fmla="*/ 355 h 512"/>
                <a:gd name="T34" fmla="*/ 149 w 512"/>
                <a:gd name="T35" fmla="*/ 373 h 512"/>
                <a:gd name="T36" fmla="*/ 181 w 512"/>
                <a:gd name="T37" fmla="*/ 346 h 512"/>
                <a:gd name="T38" fmla="*/ 245 w 512"/>
                <a:gd name="T39" fmla="*/ 405 h 512"/>
                <a:gd name="T40" fmla="*/ 266 w 512"/>
                <a:gd name="T41" fmla="*/ 405 h 512"/>
                <a:gd name="T42" fmla="*/ 331 w 512"/>
                <a:gd name="T43" fmla="*/ 346 h 512"/>
                <a:gd name="T44" fmla="*/ 362 w 512"/>
                <a:gd name="T45" fmla="*/ 373 h 512"/>
                <a:gd name="T46" fmla="*/ 370 w 512"/>
                <a:gd name="T47" fmla="*/ 355 h 512"/>
                <a:gd name="T48" fmla="*/ 372 w 512"/>
                <a:gd name="T49" fmla="*/ 266 h 512"/>
                <a:gd name="T50" fmla="*/ 416 w 512"/>
                <a:gd name="T51" fmla="*/ 256 h 512"/>
                <a:gd name="T52" fmla="*/ 351 w 512"/>
                <a:gd name="T53" fmla="*/ 245 h 512"/>
                <a:gd name="T54" fmla="*/ 286 w 512"/>
                <a:gd name="T55" fmla="*/ 245 h 512"/>
                <a:gd name="T56" fmla="*/ 286 w 512"/>
                <a:gd name="T57" fmla="*/ 241 h 512"/>
                <a:gd name="T58" fmla="*/ 351 w 512"/>
                <a:gd name="T59" fmla="*/ 245 h 512"/>
                <a:gd name="T60" fmla="*/ 271 w 512"/>
                <a:gd name="T61" fmla="*/ 226 h 512"/>
                <a:gd name="T62" fmla="*/ 266 w 512"/>
                <a:gd name="T63" fmla="*/ 226 h 512"/>
                <a:gd name="T64" fmla="*/ 266 w 512"/>
                <a:gd name="T65" fmla="*/ 160 h 512"/>
                <a:gd name="T66" fmla="*/ 256 w 512"/>
                <a:gd name="T67" fmla="*/ 266 h 512"/>
                <a:gd name="T68" fmla="*/ 256 w 512"/>
                <a:gd name="T69" fmla="*/ 245 h 512"/>
                <a:gd name="T70" fmla="*/ 256 w 512"/>
                <a:gd name="T71" fmla="*/ 266 h 512"/>
                <a:gd name="T72" fmla="*/ 245 w 512"/>
                <a:gd name="T73" fmla="*/ 224 h 512"/>
                <a:gd name="T74" fmla="*/ 242 w 512"/>
                <a:gd name="T75" fmla="*/ 227 h 512"/>
                <a:gd name="T76" fmla="*/ 196 w 512"/>
                <a:gd name="T77" fmla="*/ 181 h 512"/>
                <a:gd name="T78" fmla="*/ 181 w 512"/>
                <a:gd name="T79" fmla="*/ 196 h 512"/>
                <a:gd name="T80" fmla="*/ 227 w 512"/>
                <a:gd name="T81" fmla="*/ 242 h 512"/>
                <a:gd name="T82" fmla="*/ 224 w 512"/>
                <a:gd name="T83" fmla="*/ 245 h 512"/>
                <a:gd name="T84" fmla="*/ 181 w 512"/>
                <a:gd name="T85" fmla="*/ 196 h 512"/>
                <a:gd name="T86" fmla="*/ 224 w 512"/>
                <a:gd name="T87" fmla="*/ 266 h 512"/>
                <a:gd name="T88" fmla="*/ 227 w 512"/>
                <a:gd name="T89" fmla="*/ 270 h 512"/>
                <a:gd name="T90" fmla="*/ 181 w 512"/>
                <a:gd name="T91" fmla="*/ 316 h 512"/>
                <a:gd name="T92" fmla="*/ 196 w 512"/>
                <a:gd name="T93" fmla="*/ 331 h 512"/>
                <a:gd name="T94" fmla="*/ 242 w 512"/>
                <a:gd name="T95" fmla="*/ 284 h 512"/>
                <a:gd name="T96" fmla="*/ 245 w 512"/>
                <a:gd name="T97" fmla="*/ 288 h 512"/>
                <a:gd name="T98" fmla="*/ 196 w 512"/>
                <a:gd name="T99" fmla="*/ 331 h 512"/>
                <a:gd name="T100" fmla="*/ 266 w 512"/>
                <a:gd name="T101" fmla="*/ 288 h 512"/>
                <a:gd name="T102" fmla="*/ 270 w 512"/>
                <a:gd name="T103" fmla="*/ 284 h 512"/>
                <a:gd name="T104" fmla="*/ 316 w 512"/>
                <a:gd name="T105" fmla="*/ 331 h 512"/>
                <a:gd name="T106" fmla="*/ 331 w 512"/>
                <a:gd name="T107" fmla="*/ 316 h 512"/>
                <a:gd name="T108" fmla="*/ 284 w 512"/>
                <a:gd name="T109" fmla="*/ 270 h 512"/>
                <a:gd name="T110" fmla="*/ 288 w 512"/>
                <a:gd name="T111" fmla="*/ 266 h 512"/>
                <a:gd name="T112" fmla="*/ 331 w 512"/>
                <a:gd name="T113" fmla="*/ 3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45"/>
                  </a:moveTo>
                  <a:cubicBezTo>
                    <a:pt x="372" y="245"/>
                    <a:pt x="372" y="245"/>
                    <a:pt x="372" y="245"/>
                  </a:cubicBezTo>
                  <a:cubicBezTo>
                    <a:pt x="370" y="221"/>
                    <a:pt x="361" y="198"/>
                    <a:pt x="346" y="181"/>
                  </a:cubicBezTo>
                  <a:cubicBezTo>
                    <a:pt x="370" y="157"/>
                    <a:pt x="370" y="157"/>
                    <a:pt x="370" y="157"/>
                  </a:cubicBezTo>
                  <a:cubicBezTo>
                    <a:pt x="374" y="152"/>
                    <a:pt x="374" y="146"/>
                    <a:pt x="370" y="141"/>
                  </a:cubicBezTo>
                  <a:cubicBezTo>
                    <a:pt x="366" y="137"/>
                    <a:pt x="359" y="137"/>
                    <a:pt x="355" y="141"/>
                  </a:cubicBezTo>
                  <a:cubicBezTo>
                    <a:pt x="331" y="166"/>
                    <a:pt x="331" y="166"/>
                    <a:pt x="331" y="166"/>
                  </a:cubicBezTo>
                  <a:cubicBezTo>
                    <a:pt x="313" y="151"/>
                    <a:pt x="291" y="141"/>
                    <a:pt x="266" y="139"/>
                  </a:cubicBezTo>
                  <a:cubicBezTo>
                    <a:pt x="266" y="106"/>
                    <a:pt x="266" y="106"/>
                    <a:pt x="266" y="106"/>
                  </a:cubicBezTo>
                  <a:cubicBezTo>
                    <a:pt x="266" y="100"/>
                    <a:pt x="262" y="96"/>
                    <a:pt x="256" y="96"/>
                  </a:cubicBezTo>
                  <a:cubicBezTo>
                    <a:pt x="250" y="96"/>
                    <a:pt x="245" y="100"/>
                    <a:pt x="245" y="106"/>
                  </a:cubicBezTo>
                  <a:cubicBezTo>
                    <a:pt x="245" y="139"/>
                    <a:pt x="245" y="139"/>
                    <a:pt x="245" y="139"/>
                  </a:cubicBezTo>
                  <a:cubicBezTo>
                    <a:pt x="221" y="141"/>
                    <a:pt x="198" y="151"/>
                    <a:pt x="181" y="166"/>
                  </a:cubicBezTo>
                  <a:cubicBezTo>
                    <a:pt x="157" y="141"/>
                    <a:pt x="157" y="141"/>
                    <a:pt x="157" y="141"/>
                  </a:cubicBezTo>
                  <a:cubicBezTo>
                    <a:pt x="152" y="137"/>
                    <a:pt x="146" y="137"/>
                    <a:pt x="141" y="141"/>
                  </a:cubicBezTo>
                  <a:cubicBezTo>
                    <a:pt x="137" y="146"/>
                    <a:pt x="137" y="152"/>
                    <a:pt x="141" y="157"/>
                  </a:cubicBezTo>
                  <a:cubicBezTo>
                    <a:pt x="166" y="181"/>
                    <a:pt x="166" y="181"/>
                    <a:pt x="166" y="181"/>
                  </a:cubicBezTo>
                  <a:cubicBezTo>
                    <a:pt x="151" y="198"/>
                    <a:pt x="141" y="221"/>
                    <a:pt x="139" y="245"/>
                  </a:cubicBezTo>
                  <a:cubicBezTo>
                    <a:pt x="106" y="245"/>
                    <a:pt x="106" y="245"/>
                    <a:pt x="106" y="245"/>
                  </a:cubicBezTo>
                  <a:cubicBezTo>
                    <a:pt x="100" y="245"/>
                    <a:pt x="96" y="250"/>
                    <a:pt x="96" y="256"/>
                  </a:cubicBezTo>
                  <a:cubicBezTo>
                    <a:pt x="96" y="262"/>
                    <a:pt x="100" y="266"/>
                    <a:pt x="106" y="266"/>
                  </a:cubicBezTo>
                  <a:cubicBezTo>
                    <a:pt x="139" y="266"/>
                    <a:pt x="139" y="266"/>
                    <a:pt x="139" y="266"/>
                  </a:cubicBezTo>
                  <a:cubicBezTo>
                    <a:pt x="141" y="291"/>
                    <a:pt x="151" y="313"/>
                    <a:pt x="166" y="331"/>
                  </a:cubicBezTo>
                  <a:cubicBezTo>
                    <a:pt x="141" y="355"/>
                    <a:pt x="141" y="355"/>
                    <a:pt x="141" y="355"/>
                  </a:cubicBezTo>
                  <a:cubicBezTo>
                    <a:pt x="137" y="359"/>
                    <a:pt x="137" y="366"/>
                    <a:pt x="141" y="370"/>
                  </a:cubicBezTo>
                  <a:cubicBezTo>
                    <a:pt x="144" y="372"/>
                    <a:pt x="146" y="373"/>
                    <a:pt x="149" y="373"/>
                  </a:cubicBezTo>
                  <a:cubicBezTo>
                    <a:pt x="152" y="373"/>
                    <a:pt x="154" y="372"/>
                    <a:pt x="157" y="370"/>
                  </a:cubicBezTo>
                  <a:cubicBezTo>
                    <a:pt x="181" y="346"/>
                    <a:pt x="181" y="346"/>
                    <a:pt x="181" y="346"/>
                  </a:cubicBezTo>
                  <a:cubicBezTo>
                    <a:pt x="198" y="361"/>
                    <a:pt x="221" y="370"/>
                    <a:pt x="245" y="372"/>
                  </a:cubicBezTo>
                  <a:cubicBezTo>
                    <a:pt x="245" y="405"/>
                    <a:pt x="245" y="405"/>
                    <a:pt x="245" y="405"/>
                  </a:cubicBezTo>
                  <a:cubicBezTo>
                    <a:pt x="245" y="411"/>
                    <a:pt x="250" y="416"/>
                    <a:pt x="256" y="416"/>
                  </a:cubicBezTo>
                  <a:cubicBezTo>
                    <a:pt x="262" y="416"/>
                    <a:pt x="266" y="411"/>
                    <a:pt x="266" y="405"/>
                  </a:cubicBezTo>
                  <a:cubicBezTo>
                    <a:pt x="266" y="372"/>
                    <a:pt x="266" y="372"/>
                    <a:pt x="266" y="372"/>
                  </a:cubicBezTo>
                  <a:cubicBezTo>
                    <a:pt x="291" y="370"/>
                    <a:pt x="313" y="361"/>
                    <a:pt x="331" y="346"/>
                  </a:cubicBezTo>
                  <a:cubicBezTo>
                    <a:pt x="355" y="370"/>
                    <a:pt x="355" y="370"/>
                    <a:pt x="355" y="370"/>
                  </a:cubicBezTo>
                  <a:cubicBezTo>
                    <a:pt x="357" y="372"/>
                    <a:pt x="360" y="373"/>
                    <a:pt x="362" y="373"/>
                  </a:cubicBezTo>
                  <a:cubicBezTo>
                    <a:pt x="365" y="373"/>
                    <a:pt x="368" y="372"/>
                    <a:pt x="370" y="370"/>
                  </a:cubicBezTo>
                  <a:cubicBezTo>
                    <a:pt x="374" y="366"/>
                    <a:pt x="374" y="359"/>
                    <a:pt x="370" y="355"/>
                  </a:cubicBezTo>
                  <a:cubicBezTo>
                    <a:pt x="346" y="331"/>
                    <a:pt x="346" y="331"/>
                    <a:pt x="346" y="331"/>
                  </a:cubicBezTo>
                  <a:cubicBezTo>
                    <a:pt x="361" y="313"/>
                    <a:pt x="370" y="291"/>
                    <a:pt x="372" y="266"/>
                  </a:cubicBezTo>
                  <a:cubicBezTo>
                    <a:pt x="405" y="266"/>
                    <a:pt x="405" y="266"/>
                    <a:pt x="405" y="266"/>
                  </a:cubicBezTo>
                  <a:cubicBezTo>
                    <a:pt x="411" y="266"/>
                    <a:pt x="416" y="262"/>
                    <a:pt x="416" y="256"/>
                  </a:cubicBezTo>
                  <a:cubicBezTo>
                    <a:pt x="416" y="250"/>
                    <a:pt x="411" y="245"/>
                    <a:pt x="405" y="245"/>
                  </a:cubicBezTo>
                  <a:close/>
                  <a:moveTo>
                    <a:pt x="351" y="245"/>
                  </a:moveTo>
                  <a:cubicBezTo>
                    <a:pt x="288" y="245"/>
                    <a:pt x="288" y="245"/>
                    <a:pt x="288" y="245"/>
                  </a:cubicBezTo>
                  <a:cubicBezTo>
                    <a:pt x="287" y="245"/>
                    <a:pt x="286" y="245"/>
                    <a:pt x="286" y="245"/>
                  </a:cubicBezTo>
                  <a:cubicBezTo>
                    <a:pt x="285" y="244"/>
                    <a:pt x="285" y="243"/>
                    <a:pt x="284" y="242"/>
                  </a:cubicBezTo>
                  <a:cubicBezTo>
                    <a:pt x="285" y="241"/>
                    <a:pt x="285" y="241"/>
                    <a:pt x="286" y="241"/>
                  </a:cubicBezTo>
                  <a:cubicBezTo>
                    <a:pt x="331" y="196"/>
                    <a:pt x="331" y="196"/>
                    <a:pt x="331" y="196"/>
                  </a:cubicBezTo>
                  <a:cubicBezTo>
                    <a:pt x="342" y="210"/>
                    <a:pt x="349" y="227"/>
                    <a:pt x="351" y="245"/>
                  </a:cubicBezTo>
                  <a:close/>
                  <a:moveTo>
                    <a:pt x="316" y="181"/>
                  </a:moveTo>
                  <a:cubicBezTo>
                    <a:pt x="271" y="226"/>
                    <a:pt x="271" y="226"/>
                    <a:pt x="271" y="226"/>
                  </a:cubicBezTo>
                  <a:cubicBezTo>
                    <a:pt x="270" y="226"/>
                    <a:pt x="270" y="227"/>
                    <a:pt x="270" y="227"/>
                  </a:cubicBezTo>
                  <a:cubicBezTo>
                    <a:pt x="269" y="226"/>
                    <a:pt x="267" y="226"/>
                    <a:pt x="266" y="226"/>
                  </a:cubicBezTo>
                  <a:cubicBezTo>
                    <a:pt x="266" y="225"/>
                    <a:pt x="266" y="224"/>
                    <a:pt x="266" y="224"/>
                  </a:cubicBezTo>
                  <a:cubicBezTo>
                    <a:pt x="266" y="160"/>
                    <a:pt x="266" y="160"/>
                    <a:pt x="266" y="160"/>
                  </a:cubicBezTo>
                  <a:cubicBezTo>
                    <a:pt x="285" y="162"/>
                    <a:pt x="302" y="170"/>
                    <a:pt x="316" y="181"/>
                  </a:cubicBezTo>
                  <a:close/>
                  <a:moveTo>
                    <a:pt x="256" y="266"/>
                  </a:moveTo>
                  <a:cubicBezTo>
                    <a:pt x="250" y="266"/>
                    <a:pt x="245" y="262"/>
                    <a:pt x="245" y="256"/>
                  </a:cubicBezTo>
                  <a:cubicBezTo>
                    <a:pt x="245" y="250"/>
                    <a:pt x="250" y="245"/>
                    <a:pt x="256" y="245"/>
                  </a:cubicBezTo>
                  <a:cubicBezTo>
                    <a:pt x="262" y="245"/>
                    <a:pt x="266" y="250"/>
                    <a:pt x="266" y="256"/>
                  </a:cubicBezTo>
                  <a:cubicBezTo>
                    <a:pt x="266" y="262"/>
                    <a:pt x="262" y="266"/>
                    <a:pt x="256" y="266"/>
                  </a:cubicBezTo>
                  <a:close/>
                  <a:moveTo>
                    <a:pt x="245" y="160"/>
                  </a:moveTo>
                  <a:cubicBezTo>
                    <a:pt x="245" y="224"/>
                    <a:pt x="245" y="224"/>
                    <a:pt x="245" y="224"/>
                  </a:cubicBezTo>
                  <a:cubicBezTo>
                    <a:pt x="245" y="224"/>
                    <a:pt x="245" y="225"/>
                    <a:pt x="245" y="226"/>
                  </a:cubicBezTo>
                  <a:cubicBezTo>
                    <a:pt x="244" y="226"/>
                    <a:pt x="243" y="226"/>
                    <a:pt x="242" y="227"/>
                  </a:cubicBezTo>
                  <a:cubicBezTo>
                    <a:pt x="241" y="227"/>
                    <a:pt x="241" y="226"/>
                    <a:pt x="241" y="226"/>
                  </a:cubicBezTo>
                  <a:cubicBezTo>
                    <a:pt x="196" y="181"/>
                    <a:pt x="196" y="181"/>
                    <a:pt x="196" y="181"/>
                  </a:cubicBezTo>
                  <a:cubicBezTo>
                    <a:pt x="210" y="170"/>
                    <a:pt x="227" y="162"/>
                    <a:pt x="245" y="160"/>
                  </a:cubicBezTo>
                  <a:close/>
                  <a:moveTo>
                    <a:pt x="181" y="196"/>
                  </a:moveTo>
                  <a:cubicBezTo>
                    <a:pt x="226" y="241"/>
                    <a:pt x="226" y="241"/>
                    <a:pt x="226" y="241"/>
                  </a:cubicBezTo>
                  <a:cubicBezTo>
                    <a:pt x="226" y="241"/>
                    <a:pt x="227" y="241"/>
                    <a:pt x="227" y="242"/>
                  </a:cubicBezTo>
                  <a:cubicBezTo>
                    <a:pt x="226" y="243"/>
                    <a:pt x="226" y="244"/>
                    <a:pt x="226" y="245"/>
                  </a:cubicBezTo>
                  <a:cubicBezTo>
                    <a:pt x="225" y="245"/>
                    <a:pt x="224" y="245"/>
                    <a:pt x="224" y="245"/>
                  </a:cubicBezTo>
                  <a:cubicBezTo>
                    <a:pt x="160" y="245"/>
                    <a:pt x="160" y="245"/>
                    <a:pt x="160" y="245"/>
                  </a:cubicBezTo>
                  <a:cubicBezTo>
                    <a:pt x="162" y="227"/>
                    <a:pt x="170" y="210"/>
                    <a:pt x="181" y="196"/>
                  </a:cubicBezTo>
                  <a:close/>
                  <a:moveTo>
                    <a:pt x="160" y="266"/>
                  </a:moveTo>
                  <a:cubicBezTo>
                    <a:pt x="224" y="266"/>
                    <a:pt x="224" y="266"/>
                    <a:pt x="224" y="266"/>
                  </a:cubicBezTo>
                  <a:cubicBezTo>
                    <a:pt x="224" y="266"/>
                    <a:pt x="225" y="266"/>
                    <a:pt x="226" y="266"/>
                  </a:cubicBezTo>
                  <a:cubicBezTo>
                    <a:pt x="226" y="267"/>
                    <a:pt x="226" y="269"/>
                    <a:pt x="227" y="270"/>
                  </a:cubicBezTo>
                  <a:cubicBezTo>
                    <a:pt x="227" y="270"/>
                    <a:pt x="226" y="270"/>
                    <a:pt x="226" y="271"/>
                  </a:cubicBezTo>
                  <a:cubicBezTo>
                    <a:pt x="181" y="316"/>
                    <a:pt x="181" y="316"/>
                    <a:pt x="181" y="316"/>
                  </a:cubicBezTo>
                  <a:cubicBezTo>
                    <a:pt x="170" y="302"/>
                    <a:pt x="162" y="285"/>
                    <a:pt x="160" y="266"/>
                  </a:cubicBezTo>
                  <a:close/>
                  <a:moveTo>
                    <a:pt x="196" y="331"/>
                  </a:moveTo>
                  <a:cubicBezTo>
                    <a:pt x="241" y="286"/>
                    <a:pt x="241" y="286"/>
                    <a:pt x="241" y="286"/>
                  </a:cubicBezTo>
                  <a:cubicBezTo>
                    <a:pt x="241" y="285"/>
                    <a:pt x="241" y="285"/>
                    <a:pt x="242" y="284"/>
                  </a:cubicBezTo>
                  <a:cubicBezTo>
                    <a:pt x="243" y="285"/>
                    <a:pt x="244" y="285"/>
                    <a:pt x="245" y="286"/>
                  </a:cubicBezTo>
                  <a:cubicBezTo>
                    <a:pt x="245" y="286"/>
                    <a:pt x="245" y="287"/>
                    <a:pt x="245" y="288"/>
                  </a:cubicBezTo>
                  <a:cubicBezTo>
                    <a:pt x="245" y="351"/>
                    <a:pt x="245" y="351"/>
                    <a:pt x="245" y="351"/>
                  </a:cubicBezTo>
                  <a:cubicBezTo>
                    <a:pt x="227" y="349"/>
                    <a:pt x="210" y="342"/>
                    <a:pt x="196" y="331"/>
                  </a:cubicBezTo>
                  <a:close/>
                  <a:moveTo>
                    <a:pt x="266" y="351"/>
                  </a:moveTo>
                  <a:cubicBezTo>
                    <a:pt x="266" y="288"/>
                    <a:pt x="266" y="288"/>
                    <a:pt x="266" y="288"/>
                  </a:cubicBezTo>
                  <a:cubicBezTo>
                    <a:pt x="266" y="287"/>
                    <a:pt x="266" y="286"/>
                    <a:pt x="266" y="286"/>
                  </a:cubicBezTo>
                  <a:cubicBezTo>
                    <a:pt x="267" y="285"/>
                    <a:pt x="269" y="285"/>
                    <a:pt x="270" y="284"/>
                  </a:cubicBezTo>
                  <a:cubicBezTo>
                    <a:pt x="270" y="285"/>
                    <a:pt x="270" y="285"/>
                    <a:pt x="271" y="286"/>
                  </a:cubicBezTo>
                  <a:cubicBezTo>
                    <a:pt x="316" y="331"/>
                    <a:pt x="316" y="331"/>
                    <a:pt x="316" y="331"/>
                  </a:cubicBezTo>
                  <a:cubicBezTo>
                    <a:pt x="302" y="342"/>
                    <a:pt x="285" y="349"/>
                    <a:pt x="266" y="351"/>
                  </a:cubicBezTo>
                  <a:close/>
                  <a:moveTo>
                    <a:pt x="331" y="316"/>
                  </a:moveTo>
                  <a:cubicBezTo>
                    <a:pt x="286" y="271"/>
                    <a:pt x="286" y="271"/>
                    <a:pt x="286" y="271"/>
                  </a:cubicBezTo>
                  <a:cubicBezTo>
                    <a:pt x="285" y="270"/>
                    <a:pt x="285" y="270"/>
                    <a:pt x="284" y="270"/>
                  </a:cubicBezTo>
                  <a:cubicBezTo>
                    <a:pt x="285" y="268"/>
                    <a:pt x="285" y="267"/>
                    <a:pt x="286" y="266"/>
                  </a:cubicBezTo>
                  <a:cubicBezTo>
                    <a:pt x="286" y="266"/>
                    <a:pt x="287" y="266"/>
                    <a:pt x="288" y="266"/>
                  </a:cubicBezTo>
                  <a:cubicBezTo>
                    <a:pt x="351" y="266"/>
                    <a:pt x="351" y="266"/>
                    <a:pt x="351" y="266"/>
                  </a:cubicBezTo>
                  <a:cubicBezTo>
                    <a:pt x="349" y="285"/>
                    <a:pt x="342" y="302"/>
                    <a:pt x="331" y="3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86" name="Freeform 1022">
              <a:extLst>
                <a:ext uri="{FF2B5EF4-FFF2-40B4-BE49-F238E27FC236}">
                  <a16:creationId xmlns:a16="http://schemas.microsoft.com/office/drawing/2014/main" id="{5A383130-1957-40D5-97DB-FA4A024BAA29}"/>
                </a:ext>
              </a:extLst>
            </p:cNvPr>
            <p:cNvSpPr>
              <a:spLocks noChangeAspect="1" noEditPoints="1"/>
            </p:cNvSpPr>
            <p:nvPr/>
          </p:nvSpPr>
          <p:spPr bwMode="auto">
            <a:xfrm>
              <a:off x="5776855" y="1876266"/>
              <a:ext cx="457200" cy="457200"/>
            </a:xfrm>
            <a:custGeom>
              <a:avLst/>
              <a:gdLst>
                <a:gd name="T0" fmla="*/ 490 w 512"/>
                <a:gd name="T1" fmla="*/ 256 h 512"/>
                <a:gd name="T2" fmla="*/ 21 w 512"/>
                <a:gd name="T3" fmla="*/ 256 h 512"/>
                <a:gd name="T4" fmla="*/ 256 w 512"/>
                <a:gd name="T5" fmla="*/ 0 h 512"/>
                <a:gd name="T6" fmla="*/ 256 w 512"/>
                <a:gd name="T7" fmla="*/ 512 h 512"/>
                <a:gd name="T8" fmla="*/ 256 w 512"/>
                <a:gd name="T9" fmla="*/ 0 h 512"/>
                <a:gd name="T10" fmla="*/ 372 w 512"/>
                <a:gd name="T11" fmla="*/ 245 h 512"/>
                <a:gd name="T12" fmla="*/ 370 w 512"/>
                <a:gd name="T13" fmla="*/ 157 h 512"/>
                <a:gd name="T14" fmla="*/ 355 w 512"/>
                <a:gd name="T15" fmla="*/ 141 h 512"/>
                <a:gd name="T16" fmla="*/ 266 w 512"/>
                <a:gd name="T17" fmla="*/ 139 h 512"/>
                <a:gd name="T18" fmla="*/ 256 w 512"/>
                <a:gd name="T19" fmla="*/ 96 h 512"/>
                <a:gd name="T20" fmla="*/ 245 w 512"/>
                <a:gd name="T21" fmla="*/ 139 h 512"/>
                <a:gd name="T22" fmla="*/ 157 w 512"/>
                <a:gd name="T23" fmla="*/ 141 h 512"/>
                <a:gd name="T24" fmla="*/ 141 w 512"/>
                <a:gd name="T25" fmla="*/ 157 h 512"/>
                <a:gd name="T26" fmla="*/ 139 w 512"/>
                <a:gd name="T27" fmla="*/ 245 h 512"/>
                <a:gd name="T28" fmla="*/ 96 w 512"/>
                <a:gd name="T29" fmla="*/ 256 h 512"/>
                <a:gd name="T30" fmla="*/ 139 w 512"/>
                <a:gd name="T31" fmla="*/ 266 h 512"/>
                <a:gd name="T32" fmla="*/ 141 w 512"/>
                <a:gd name="T33" fmla="*/ 355 h 512"/>
                <a:gd name="T34" fmla="*/ 149 w 512"/>
                <a:gd name="T35" fmla="*/ 373 h 512"/>
                <a:gd name="T36" fmla="*/ 181 w 512"/>
                <a:gd name="T37" fmla="*/ 346 h 512"/>
                <a:gd name="T38" fmla="*/ 245 w 512"/>
                <a:gd name="T39" fmla="*/ 405 h 512"/>
                <a:gd name="T40" fmla="*/ 266 w 512"/>
                <a:gd name="T41" fmla="*/ 405 h 512"/>
                <a:gd name="T42" fmla="*/ 331 w 512"/>
                <a:gd name="T43" fmla="*/ 346 h 512"/>
                <a:gd name="T44" fmla="*/ 362 w 512"/>
                <a:gd name="T45" fmla="*/ 373 h 512"/>
                <a:gd name="T46" fmla="*/ 370 w 512"/>
                <a:gd name="T47" fmla="*/ 355 h 512"/>
                <a:gd name="T48" fmla="*/ 372 w 512"/>
                <a:gd name="T49" fmla="*/ 266 h 512"/>
                <a:gd name="T50" fmla="*/ 416 w 512"/>
                <a:gd name="T51" fmla="*/ 256 h 512"/>
                <a:gd name="T52" fmla="*/ 351 w 512"/>
                <a:gd name="T53" fmla="*/ 245 h 512"/>
                <a:gd name="T54" fmla="*/ 286 w 512"/>
                <a:gd name="T55" fmla="*/ 245 h 512"/>
                <a:gd name="T56" fmla="*/ 286 w 512"/>
                <a:gd name="T57" fmla="*/ 241 h 512"/>
                <a:gd name="T58" fmla="*/ 351 w 512"/>
                <a:gd name="T59" fmla="*/ 245 h 512"/>
                <a:gd name="T60" fmla="*/ 271 w 512"/>
                <a:gd name="T61" fmla="*/ 226 h 512"/>
                <a:gd name="T62" fmla="*/ 266 w 512"/>
                <a:gd name="T63" fmla="*/ 226 h 512"/>
                <a:gd name="T64" fmla="*/ 266 w 512"/>
                <a:gd name="T65" fmla="*/ 160 h 512"/>
                <a:gd name="T66" fmla="*/ 256 w 512"/>
                <a:gd name="T67" fmla="*/ 266 h 512"/>
                <a:gd name="T68" fmla="*/ 256 w 512"/>
                <a:gd name="T69" fmla="*/ 245 h 512"/>
                <a:gd name="T70" fmla="*/ 256 w 512"/>
                <a:gd name="T71" fmla="*/ 266 h 512"/>
                <a:gd name="T72" fmla="*/ 245 w 512"/>
                <a:gd name="T73" fmla="*/ 224 h 512"/>
                <a:gd name="T74" fmla="*/ 242 w 512"/>
                <a:gd name="T75" fmla="*/ 227 h 512"/>
                <a:gd name="T76" fmla="*/ 196 w 512"/>
                <a:gd name="T77" fmla="*/ 181 h 512"/>
                <a:gd name="T78" fmla="*/ 181 w 512"/>
                <a:gd name="T79" fmla="*/ 196 h 512"/>
                <a:gd name="T80" fmla="*/ 227 w 512"/>
                <a:gd name="T81" fmla="*/ 242 h 512"/>
                <a:gd name="T82" fmla="*/ 224 w 512"/>
                <a:gd name="T83" fmla="*/ 245 h 512"/>
                <a:gd name="T84" fmla="*/ 181 w 512"/>
                <a:gd name="T85" fmla="*/ 196 h 512"/>
                <a:gd name="T86" fmla="*/ 224 w 512"/>
                <a:gd name="T87" fmla="*/ 266 h 512"/>
                <a:gd name="T88" fmla="*/ 227 w 512"/>
                <a:gd name="T89" fmla="*/ 270 h 512"/>
                <a:gd name="T90" fmla="*/ 181 w 512"/>
                <a:gd name="T91" fmla="*/ 316 h 512"/>
                <a:gd name="T92" fmla="*/ 196 w 512"/>
                <a:gd name="T93" fmla="*/ 331 h 512"/>
                <a:gd name="T94" fmla="*/ 242 w 512"/>
                <a:gd name="T95" fmla="*/ 284 h 512"/>
                <a:gd name="T96" fmla="*/ 245 w 512"/>
                <a:gd name="T97" fmla="*/ 288 h 512"/>
                <a:gd name="T98" fmla="*/ 196 w 512"/>
                <a:gd name="T99" fmla="*/ 331 h 512"/>
                <a:gd name="T100" fmla="*/ 266 w 512"/>
                <a:gd name="T101" fmla="*/ 288 h 512"/>
                <a:gd name="T102" fmla="*/ 270 w 512"/>
                <a:gd name="T103" fmla="*/ 284 h 512"/>
                <a:gd name="T104" fmla="*/ 316 w 512"/>
                <a:gd name="T105" fmla="*/ 331 h 512"/>
                <a:gd name="T106" fmla="*/ 331 w 512"/>
                <a:gd name="T107" fmla="*/ 316 h 512"/>
                <a:gd name="T108" fmla="*/ 284 w 512"/>
                <a:gd name="T109" fmla="*/ 270 h 512"/>
                <a:gd name="T110" fmla="*/ 288 w 512"/>
                <a:gd name="T111" fmla="*/ 266 h 512"/>
                <a:gd name="T112" fmla="*/ 331 w 512"/>
                <a:gd name="T113" fmla="*/ 3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45"/>
                  </a:moveTo>
                  <a:cubicBezTo>
                    <a:pt x="372" y="245"/>
                    <a:pt x="372" y="245"/>
                    <a:pt x="372" y="245"/>
                  </a:cubicBezTo>
                  <a:cubicBezTo>
                    <a:pt x="370" y="221"/>
                    <a:pt x="361" y="198"/>
                    <a:pt x="346" y="181"/>
                  </a:cubicBezTo>
                  <a:cubicBezTo>
                    <a:pt x="370" y="157"/>
                    <a:pt x="370" y="157"/>
                    <a:pt x="370" y="157"/>
                  </a:cubicBezTo>
                  <a:cubicBezTo>
                    <a:pt x="374" y="152"/>
                    <a:pt x="374" y="146"/>
                    <a:pt x="370" y="141"/>
                  </a:cubicBezTo>
                  <a:cubicBezTo>
                    <a:pt x="366" y="137"/>
                    <a:pt x="359" y="137"/>
                    <a:pt x="355" y="141"/>
                  </a:cubicBezTo>
                  <a:cubicBezTo>
                    <a:pt x="331" y="166"/>
                    <a:pt x="331" y="166"/>
                    <a:pt x="331" y="166"/>
                  </a:cubicBezTo>
                  <a:cubicBezTo>
                    <a:pt x="313" y="151"/>
                    <a:pt x="291" y="141"/>
                    <a:pt x="266" y="139"/>
                  </a:cubicBezTo>
                  <a:cubicBezTo>
                    <a:pt x="266" y="106"/>
                    <a:pt x="266" y="106"/>
                    <a:pt x="266" y="106"/>
                  </a:cubicBezTo>
                  <a:cubicBezTo>
                    <a:pt x="266" y="100"/>
                    <a:pt x="262" y="96"/>
                    <a:pt x="256" y="96"/>
                  </a:cubicBezTo>
                  <a:cubicBezTo>
                    <a:pt x="250" y="96"/>
                    <a:pt x="245" y="100"/>
                    <a:pt x="245" y="106"/>
                  </a:cubicBezTo>
                  <a:cubicBezTo>
                    <a:pt x="245" y="139"/>
                    <a:pt x="245" y="139"/>
                    <a:pt x="245" y="139"/>
                  </a:cubicBezTo>
                  <a:cubicBezTo>
                    <a:pt x="221" y="141"/>
                    <a:pt x="198" y="151"/>
                    <a:pt x="181" y="166"/>
                  </a:cubicBezTo>
                  <a:cubicBezTo>
                    <a:pt x="157" y="141"/>
                    <a:pt x="157" y="141"/>
                    <a:pt x="157" y="141"/>
                  </a:cubicBezTo>
                  <a:cubicBezTo>
                    <a:pt x="152" y="137"/>
                    <a:pt x="146" y="137"/>
                    <a:pt x="141" y="141"/>
                  </a:cubicBezTo>
                  <a:cubicBezTo>
                    <a:pt x="137" y="146"/>
                    <a:pt x="137" y="152"/>
                    <a:pt x="141" y="157"/>
                  </a:cubicBezTo>
                  <a:cubicBezTo>
                    <a:pt x="166" y="181"/>
                    <a:pt x="166" y="181"/>
                    <a:pt x="166" y="181"/>
                  </a:cubicBezTo>
                  <a:cubicBezTo>
                    <a:pt x="151" y="198"/>
                    <a:pt x="141" y="221"/>
                    <a:pt x="139" y="245"/>
                  </a:cubicBezTo>
                  <a:cubicBezTo>
                    <a:pt x="106" y="245"/>
                    <a:pt x="106" y="245"/>
                    <a:pt x="106" y="245"/>
                  </a:cubicBezTo>
                  <a:cubicBezTo>
                    <a:pt x="100" y="245"/>
                    <a:pt x="96" y="250"/>
                    <a:pt x="96" y="256"/>
                  </a:cubicBezTo>
                  <a:cubicBezTo>
                    <a:pt x="96" y="262"/>
                    <a:pt x="100" y="266"/>
                    <a:pt x="106" y="266"/>
                  </a:cubicBezTo>
                  <a:cubicBezTo>
                    <a:pt x="139" y="266"/>
                    <a:pt x="139" y="266"/>
                    <a:pt x="139" y="266"/>
                  </a:cubicBezTo>
                  <a:cubicBezTo>
                    <a:pt x="141" y="291"/>
                    <a:pt x="151" y="313"/>
                    <a:pt x="166" y="331"/>
                  </a:cubicBezTo>
                  <a:cubicBezTo>
                    <a:pt x="141" y="355"/>
                    <a:pt x="141" y="355"/>
                    <a:pt x="141" y="355"/>
                  </a:cubicBezTo>
                  <a:cubicBezTo>
                    <a:pt x="137" y="359"/>
                    <a:pt x="137" y="366"/>
                    <a:pt x="141" y="370"/>
                  </a:cubicBezTo>
                  <a:cubicBezTo>
                    <a:pt x="144" y="372"/>
                    <a:pt x="146" y="373"/>
                    <a:pt x="149" y="373"/>
                  </a:cubicBezTo>
                  <a:cubicBezTo>
                    <a:pt x="152" y="373"/>
                    <a:pt x="154" y="372"/>
                    <a:pt x="157" y="370"/>
                  </a:cubicBezTo>
                  <a:cubicBezTo>
                    <a:pt x="181" y="346"/>
                    <a:pt x="181" y="346"/>
                    <a:pt x="181" y="346"/>
                  </a:cubicBezTo>
                  <a:cubicBezTo>
                    <a:pt x="198" y="361"/>
                    <a:pt x="221" y="370"/>
                    <a:pt x="245" y="372"/>
                  </a:cubicBezTo>
                  <a:cubicBezTo>
                    <a:pt x="245" y="405"/>
                    <a:pt x="245" y="405"/>
                    <a:pt x="245" y="405"/>
                  </a:cubicBezTo>
                  <a:cubicBezTo>
                    <a:pt x="245" y="411"/>
                    <a:pt x="250" y="416"/>
                    <a:pt x="256" y="416"/>
                  </a:cubicBezTo>
                  <a:cubicBezTo>
                    <a:pt x="262" y="416"/>
                    <a:pt x="266" y="411"/>
                    <a:pt x="266" y="405"/>
                  </a:cubicBezTo>
                  <a:cubicBezTo>
                    <a:pt x="266" y="372"/>
                    <a:pt x="266" y="372"/>
                    <a:pt x="266" y="372"/>
                  </a:cubicBezTo>
                  <a:cubicBezTo>
                    <a:pt x="291" y="370"/>
                    <a:pt x="313" y="361"/>
                    <a:pt x="331" y="346"/>
                  </a:cubicBezTo>
                  <a:cubicBezTo>
                    <a:pt x="355" y="370"/>
                    <a:pt x="355" y="370"/>
                    <a:pt x="355" y="370"/>
                  </a:cubicBezTo>
                  <a:cubicBezTo>
                    <a:pt x="357" y="372"/>
                    <a:pt x="360" y="373"/>
                    <a:pt x="362" y="373"/>
                  </a:cubicBezTo>
                  <a:cubicBezTo>
                    <a:pt x="365" y="373"/>
                    <a:pt x="368" y="372"/>
                    <a:pt x="370" y="370"/>
                  </a:cubicBezTo>
                  <a:cubicBezTo>
                    <a:pt x="374" y="366"/>
                    <a:pt x="374" y="359"/>
                    <a:pt x="370" y="355"/>
                  </a:cubicBezTo>
                  <a:cubicBezTo>
                    <a:pt x="346" y="331"/>
                    <a:pt x="346" y="331"/>
                    <a:pt x="346" y="331"/>
                  </a:cubicBezTo>
                  <a:cubicBezTo>
                    <a:pt x="361" y="313"/>
                    <a:pt x="370" y="291"/>
                    <a:pt x="372" y="266"/>
                  </a:cubicBezTo>
                  <a:cubicBezTo>
                    <a:pt x="405" y="266"/>
                    <a:pt x="405" y="266"/>
                    <a:pt x="405" y="266"/>
                  </a:cubicBezTo>
                  <a:cubicBezTo>
                    <a:pt x="411" y="266"/>
                    <a:pt x="416" y="262"/>
                    <a:pt x="416" y="256"/>
                  </a:cubicBezTo>
                  <a:cubicBezTo>
                    <a:pt x="416" y="250"/>
                    <a:pt x="411" y="245"/>
                    <a:pt x="405" y="245"/>
                  </a:cubicBezTo>
                  <a:close/>
                  <a:moveTo>
                    <a:pt x="351" y="245"/>
                  </a:moveTo>
                  <a:cubicBezTo>
                    <a:pt x="288" y="245"/>
                    <a:pt x="288" y="245"/>
                    <a:pt x="288" y="245"/>
                  </a:cubicBezTo>
                  <a:cubicBezTo>
                    <a:pt x="287" y="245"/>
                    <a:pt x="286" y="245"/>
                    <a:pt x="286" y="245"/>
                  </a:cubicBezTo>
                  <a:cubicBezTo>
                    <a:pt x="285" y="244"/>
                    <a:pt x="285" y="243"/>
                    <a:pt x="284" y="242"/>
                  </a:cubicBezTo>
                  <a:cubicBezTo>
                    <a:pt x="285" y="241"/>
                    <a:pt x="285" y="241"/>
                    <a:pt x="286" y="241"/>
                  </a:cubicBezTo>
                  <a:cubicBezTo>
                    <a:pt x="331" y="196"/>
                    <a:pt x="331" y="196"/>
                    <a:pt x="331" y="196"/>
                  </a:cubicBezTo>
                  <a:cubicBezTo>
                    <a:pt x="342" y="210"/>
                    <a:pt x="349" y="227"/>
                    <a:pt x="351" y="245"/>
                  </a:cubicBezTo>
                  <a:close/>
                  <a:moveTo>
                    <a:pt x="316" y="181"/>
                  </a:moveTo>
                  <a:cubicBezTo>
                    <a:pt x="271" y="226"/>
                    <a:pt x="271" y="226"/>
                    <a:pt x="271" y="226"/>
                  </a:cubicBezTo>
                  <a:cubicBezTo>
                    <a:pt x="270" y="226"/>
                    <a:pt x="270" y="227"/>
                    <a:pt x="270" y="227"/>
                  </a:cubicBezTo>
                  <a:cubicBezTo>
                    <a:pt x="269" y="226"/>
                    <a:pt x="267" y="226"/>
                    <a:pt x="266" y="226"/>
                  </a:cubicBezTo>
                  <a:cubicBezTo>
                    <a:pt x="266" y="225"/>
                    <a:pt x="266" y="224"/>
                    <a:pt x="266" y="224"/>
                  </a:cubicBezTo>
                  <a:cubicBezTo>
                    <a:pt x="266" y="160"/>
                    <a:pt x="266" y="160"/>
                    <a:pt x="266" y="160"/>
                  </a:cubicBezTo>
                  <a:cubicBezTo>
                    <a:pt x="285" y="162"/>
                    <a:pt x="302" y="170"/>
                    <a:pt x="316" y="181"/>
                  </a:cubicBezTo>
                  <a:close/>
                  <a:moveTo>
                    <a:pt x="256" y="266"/>
                  </a:moveTo>
                  <a:cubicBezTo>
                    <a:pt x="250" y="266"/>
                    <a:pt x="245" y="262"/>
                    <a:pt x="245" y="256"/>
                  </a:cubicBezTo>
                  <a:cubicBezTo>
                    <a:pt x="245" y="250"/>
                    <a:pt x="250" y="245"/>
                    <a:pt x="256" y="245"/>
                  </a:cubicBezTo>
                  <a:cubicBezTo>
                    <a:pt x="262" y="245"/>
                    <a:pt x="266" y="250"/>
                    <a:pt x="266" y="256"/>
                  </a:cubicBezTo>
                  <a:cubicBezTo>
                    <a:pt x="266" y="262"/>
                    <a:pt x="262" y="266"/>
                    <a:pt x="256" y="266"/>
                  </a:cubicBezTo>
                  <a:close/>
                  <a:moveTo>
                    <a:pt x="245" y="160"/>
                  </a:moveTo>
                  <a:cubicBezTo>
                    <a:pt x="245" y="224"/>
                    <a:pt x="245" y="224"/>
                    <a:pt x="245" y="224"/>
                  </a:cubicBezTo>
                  <a:cubicBezTo>
                    <a:pt x="245" y="224"/>
                    <a:pt x="245" y="225"/>
                    <a:pt x="245" y="226"/>
                  </a:cubicBezTo>
                  <a:cubicBezTo>
                    <a:pt x="244" y="226"/>
                    <a:pt x="243" y="226"/>
                    <a:pt x="242" y="227"/>
                  </a:cubicBezTo>
                  <a:cubicBezTo>
                    <a:pt x="241" y="227"/>
                    <a:pt x="241" y="226"/>
                    <a:pt x="241" y="226"/>
                  </a:cubicBezTo>
                  <a:cubicBezTo>
                    <a:pt x="196" y="181"/>
                    <a:pt x="196" y="181"/>
                    <a:pt x="196" y="181"/>
                  </a:cubicBezTo>
                  <a:cubicBezTo>
                    <a:pt x="210" y="170"/>
                    <a:pt x="227" y="162"/>
                    <a:pt x="245" y="160"/>
                  </a:cubicBezTo>
                  <a:close/>
                  <a:moveTo>
                    <a:pt x="181" y="196"/>
                  </a:moveTo>
                  <a:cubicBezTo>
                    <a:pt x="226" y="241"/>
                    <a:pt x="226" y="241"/>
                    <a:pt x="226" y="241"/>
                  </a:cubicBezTo>
                  <a:cubicBezTo>
                    <a:pt x="226" y="241"/>
                    <a:pt x="227" y="241"/>
                    <a:pt x="227" y="242"/>
                  </a:cubicBezTo>
                  <a:cubicBezTo>
                    <a:pt x="226" y="243"/>
                    <a:pt x="226" y="244"/>
                    <a:pt x="226" y="245"/>
                  </a:cubicBezTo>
                  <a:cubicBezTo>
                    <a:pt x="225" y="245"/>
                    <a:pt x="224" y="245"/>
                    <a:pt x="224" y="245"/>
                  </a:cubicBezTo>
                  <a:cubicBezTo>
                    <a:pt x="160" y="245"/>
                    <a:pt x="160" y="245"/>
                    <a:pt x="160" y="245"/>
                  </a:cubicBezTo>
                  <a:cubicBezTo>
                    <a:pt x="162" y="227"/>
                    <a:pt x="170" y="210"/>
                    <a:pt x="181" y="196"/>
                  </a:cubicBezTo>
                  <a:close/>
                  <a:moveTo>
                    <a:pt x="160" y="266"/>
                  </a:moveTo>
                  <a:cubicBezTo>
                    <a:pt x="224" y="266"/>
                    <a:pt x="224" y="266"/>
                    <a:pt x="224" y="266"/>
                  </a:cubicBezTo>
                  <a:cubicBezTo>
                    <a:pt x="224" y="266"/>
                    <a:pt x="225" y="266"/>
                    <a:pt x="226" y="266"/>
                  </a:cubicBezTo>
                  <a:cubicBezTo>
                    <a:pt x="226" y="267"/>
                    <a:pt x="226" y="269"/>
                    <a:pt x="227" y="270"/>
                  </a:cubicBezTo>
                  <a:cubicBezTo>
                    <a:pt x="227" y="270"/>
                    <a:pt x="226" y="270"/>
                    <a:pt x="226" y="271"/>
                  </a:cubicBezTo>
                  <a:cubicBezTo>
                    <a:pt x="181" y="316"/>
                    <a:pt x="181" y="316"/>
                    <a:pt x="181" y="316"/>
                  </a:cubicBezTo>
                  <a:cubicBezTo>
                    <a:pt x="170" y="302"/>
                    <a:pt x="162" y="285"/>
                    <a:pt x="160" y="266"/>
                  </a:cubicBezTo>
                  <a:close/>
                  <a:moveTo>
                    <a:pt x="196" y="331"/>
                  </a:moveTo>
                  <a:cubicBezTo>
                    <a:pt x="241" y="286"/>
                    <a:pt x="241" y="286"/>
                    <a:pt x="241" y="286"/>
                  </a:cubicBezTo>
                  <a:cubicBezTo>
                    <a:pt x="241" y="285"/>
                    <a:pt x="241" y="285"/>
                    <a:pt x="242" y="284"/>
                  </a:cubicBezTo>
                  <a:cubicBezTo>
                    <a:pt x="243" y="285"/>
                    <a:pt x="244" y="285"/>
                    <a:pt x="245" y="286"/>
                  </a:cubicBezTo>
                  <a:cubicBezTo>
                    <a:pt x="245" y="286"/>
                    <a:pt x="245" y="287"/>
                    <a:pt x="245" y="288"/>
                  </a:cubicBezTo>
                  <a:cubicBezTo>
                    <a:pt x="245" y="351"/>
                    <a:pt x="245" y="351"/>
                    <a:pt x="245" y="351"/>
                  </a:cubicBezTo>
                  <a:cubicBezTo>
                    <a:pt x="227" y="349"/>
                    <a:pt x="210" y="342"/>
                    <a:pt x="196" y="331"/>
                  </a:cubicBezTo>
                  <a:close/>
                  <a:moveTo>
                    <a:pt x="266" y="351"/>
                  </a:moveTo>
                  <a:cubicBezTo>
                    <a:pt x="266" y="288"/>
                    <a:pt x="266" y="288"/>
                    <a:pt x="266" y="288"/>
                  </a:cubicBezTo>
                  <a:cubicBezTo>
                    <a:pt x="266" y="287"/>
                    <a:pt x="266" y="286"/>
                    <a:pt x="266" y="286"/>
                  </a:cubicBezTo>
                  <a:cubicBezTo>
                    <a:pt x="267" y="285"/>
                    <a:pt x="269" y="285"/>
                    <a:pt x="270" y="284"/>
                  </a:cubicBezTo>
                  <a:cubicBezTo>
                    <a:pt x="270" y="285"/>
                    <a:pt x="270" y="285"/>
                    <a:pt x="271" y="286"/>
                  </a:cubicBezTo>
                  <a:cubicBezTo>
                    <a:pt x="316" y="331"/>
                    <a:pt x="316" y="331"/>
                    <a:pt x="316" y="331"/>
                  </a:cubicBezTo>
                  <a:cubicBezTo>
                    <a:pt x="302" y="342"/>
                    <a:pt x="285" y="349"/>
                    <a:pt x="266" y="351"/>
                  </a:cubicBezTo>
                  <a:close/>
                  <a:moveTo>
                    <a:pt x="331" y="316"/>
                  </a:moveTo>
                  <a:cubicBezTo>
                    <a:pt x="286" y="271"/>
                    <a:pt x="286" y="271"/>
                    <a:pt x="286" y="271"/>
                  </a:cubicBezTo>
                  <a:cubicBezTo>
                    <a:pt x="285" y="270"/>
                    <a:pt x="285" y="270"/>
                    <a:pt x="284" y="270"/>
                  </a:cubicBezTo>
                  <a:cubicBezTo>
                    <a:pt x="285" y="268"/>
                    <a:pt x="285" y="267"/>
                    <a:pt x="286" y="266"/>
                  </a:cubicBezTo>
                  <a:cubicBezTo>
                    <a:pt x="286" y="266"/>
                    <a:pt x="287" y="266"/>
                    <a:pt x="288" y="266"/>
                  </a:cubicBezTo>
                  <a:cubicBezTo>
                    <a:pt x="351" y="266"/>
                    <a:pt x="351" y="266"/>
                    <a:pt x="351" y="266"/>
                  </a:cubicBezTo>
                  <a:cubicBezTo>
                    <a:pt x="349" y="285"/>
                    <a:pt x="342" y="302"/>
                    <a:pt x="331" y="3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87" name="Freeform 1022">
              <a:extLst>
                <a:ext uri="{FF2B5EF4-FFF2-40B4-BE49-F238E27FC236}">
                  <a16:creationId xmlns:a16="http://schemas.microsoft.com/office/drawing/2014/main" id="{20BDCE65-3698-4940-A17D-E3A176658380}"/>
                </a:ext>
              </a:extLst>
            </p:cNvPr>
            <p:cNvSpPr>
              <a:spLocks noChangeAspect="1" noEditPoints="1"/>
            </p:cNvSpPr>
            <p:nvPr/>
          </p:nvSpPr>
          <p:spPr bwMode="auto">
            <a:xfrm>
              <a:off x="8022798" y="1876266"/>
              <a:ext cx="457200" cy="457200"/>
            </a:xfrm>
            <a:custGeom>
              <a:avLst/>
              <a:gdLst>
                <a:gd name="T0" fmla="*/ 490 w 512"/>
                <a:gd name="T1" fmla="*/ 256 h 512"/>
                <a:gd name="T2" fmla="*/ 21 w 512"/>
                <a:gd name="T3" fmla="*/ 256 h 512"/>
                <a:gd name="T4" fmla="*/ 256 w 512"/>
                <a:gd name="T5" fmla="*/ 0 h 512"/>
                <a:gd name="T6" fmla="*/ 256 w 512"/>
                <a:gd name="T7" fmla="*/ 512 h 512"/>
                <a:gd name="T8" fmla="*/ 256 w 512"/>
                <a:gd name="T9" fmla="*/ 0 h 512"/>
                <a:gd name="T10" fmla="*/ 372 w 512"/>
                <a:gd name="T11" fmla="*/ 245 h 512"/>
                <a:gd name="T12" fmla="*/ 370 w 512"/>
                <a:gd name="T13" fmla="*/ 157 h 512"/>
                <a:gd name="T14" fmla="*/ 355 w 512"/>
                <a:gd name="T15" fmla="*/ 141 h 512"/>
                <a:gd name="T16" fmla="*/ 266 w 512"/>
                <a:gd name="T17" fmla="*/ 139 h 512"/>
                <a:gd name="T18" fmla="*/ 256 w 512"/>
                <a:gd name="T19" fmla="*/ 96 h 512"/>
                <a:gd name="T20" fmla="*/ 245 w 512"/>
                <a:gd name="T21" fmla="*/ 139 h 512"/>
                <a:gd name="T22" fmla="*/ 157 w 512"/>
                <a:gd name="T23" fmla="*/ 141 h 512"/>
                <a:gd name="T24" fmla="*/ 141 w 512"/>
                <a:gd name="T25" fmla="*/ 157 h 512"/>
                <a:gd name="T26" fmla="*/ 139 w 512"/>
                <a:gd name="T27" fmla="*/ 245 h 512"/>
                <a:gd name="T28" fmla="*/ 96 w 512"/>
                <a:gd name="T29" fmla="*/ 256 h 512"/>
                <a:gd name="T30" fmla="*/ 139 w 512"/>
                <a:gd name="T31" fmla="*/ 266 h 512"/>
                <a:gd name="T32" fmla="*/ 141 w 512"/>
                <a:gd name="T33" fmla="*/ 355 h 512"/>
                <a:gd name="T34" fmla="*/ 149 w 512"/>
                <a:gd name="T35" fmla="*/ 373 h 512"/>
                <a:gd name="T36" fmla="*/ 181 w 512"/>
                <a:gd name="T37" fmla="*/ 346 h 512"/>
                <a:gd name="T38" fmla="*/ 245 w 512"/>
                <a:gd name="T39" fmla="*/ 405 h 512"/>
                <a:gd name="T40" fmla="*/ 266 w 512"/>
                <a:gd name="T41" fmla="*/ 405 h 512"/>
                <a:gd name="T42" fmla="*/ 331 w 512"/>
                <a:gd name="T43" fmla="*/ 346 h 512"/>
                <a:gd name="T44" fmla="*/ 362 w 512"/>
                <a:gd name="T45" fmla="*/ 373 h 512"/>
                <a:gd name="T46" fmla="*/ 370 w 512"/>
                <a:gd name="T47" fmla="*/ 355 h 512"/>
                <a:gd name="T48" fmla="*/ 372 w 512"/>
                <a:gd name="T49" fmla="*/ 266 h 512"/>
                <a:gd name="T50" fmla="*/ 416 w 512"/>
                <a:gd name="T51" fmla="*/ 256 h 512"/>
                <a:gd name="T52" fmla="*/ 351 w 512"/>
                <a:gd name="T53" fmla="*/ 245 h 512"/>
                <a:gd name="T54" fmla="*/ 286 w 512"/>
                <a:gd name="T55" fmla="*/ 245 h 512"/>
                <a:gd name="T56" fmla="*/ 286 w 512"/>
                <a:gd name="T57" fmla="*/ 241 h 512"/>
                <a:gd name="T58" fmla="*/ 351 w 512"/>
                <a:gd name="T59" fmla="*/ 245 h 512"/>
                <a:gd name="T60" fmla="*/ 271 w 512"/>
                <a:gd name="T61" fmla="*/ 226 h 512"/>
                <a:gd name="T62" fmla="*/ 266 w 512"/>
                <a:gd name="T63" fmla="*/ 226 h 512"/>
                <a:gd name="T64" fmla="*/ 266 w 512"/>
                <a:gd name="T65" fmla="*/ 160 h 512"/>
                <a:gd name="T66" fmla="*/ 256 w 512"/>
                <a:gd name="T67" fmla="*/ 266 h 512"/>
                <a:gd name="T68" fmla="*/ 256 w 512"/>
                <a:gd name="T69" fmla="*/ 245 h 512"/>
                <a:gd name="T70" fmla="*/ 256 w 512"/>
                <a:gd name="T71" fmla="*/ 266 h 512"/>
                <a:gd name="T72" fmla="*/ 245 w 512"/>
                <a:gd name="T73" fmla="*/ 224 h 512"/>
                <a:gd name="T74" fmla="*/ 242 w 512"/>
                <a:gd name="T75" fmla="*/ 227 h 512"/>
                <a:gd name="T76" fmla="*/ 196 w 512"/>
                <a:gd name="T77" fmla="*/ 181 h 512"/>
                <a:gd name="T78" fmla="*/ 181 w 512"/>
                <a:gd name="T79" fmla="*/ 196 h 512"/>
                <a:gd name="T80" fmla="*/ 227 w 512"/>
                <a:gd name="T81" fmla="*/ 242 h 512"/>
                <a:gd name="T82" fmla="*/ 224 w 512"/>
                <a:gd name="T83" fmla="*/ 245 h 512"/>
                <a:gd name="T84" fmla="*/ 181 w 512"/>
                <a:gd name="T85" fmla="*/ 196 h 512"/>
                <a:gd name="T86" fmla="*/ 224 w 512"/>
                <a:gd name="T87" fmla="*/ 266 h 512"/>
                <a:gd name="T88" fmla="*/ 227 w 512"/>
                <a:gd name="T89" fmla="*/ 270 h 512"/>
                <a:gd name="T90" fmla="*/ 181 w 512"/>
                <a:gd name="T91" fmla="*/ 316 h 512"/>
                <a:gd name="T92" fmla="*/ 196 w 512"/>
                <a:gd name="T93" fmla="*/ 331 h 512"/>
                <a:gd name="T94" fmla="*/ 242 w 512"/>
                <a:gd name="T95" fmla="*/ 284 h 512"/>
                <a:gd name="T96" fmla="*/ 245 w 512"/>
                <a:gd name="T97" fmla="*/ 288 h 512"/>
                <a:gd name="T98" fmla="*/ 196 w 512"/>
                <a:gd name="T99" fmla="*/ 331 h 512"/>
                <a:gd name="T100" fmla="*/ 266 w 512"/>
                <a:gd name="T101" fmla="*/ 288 h 512"/>
                <a:gd name="T102" fmla="*/ 270 w 512"/>
                <a:gd name="T103" fmla="*/ 284 h 512"/>
                <a:gd name="T104" fmla="*/ 316 w 512"/>
                <a:gd name="T105" fmla="*/ 331 h 512"/>
                <a:gd name="T106" fmla="*/ 331 w 512"/>
                <a:gd name="T107" fmla="*/ 316 h 512"/>
                <a:gd name="T108" fmla="*/ 284 w 512"/>
                <a:gd name="T109" fmla="*/ 270 h 512"/>
                <a:gd name="T110" fmla="*/ 288 w 512"/>
                <a:gd name="T111" fmla="*/ 266 h 512"/>
                <a:gd name="T112" fmla="*/ 331 w 512"/>
                <a:gd name="T113" fmla="*/ 3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45"/>
                  </a:moveTo>
                  <a:cubicBezTo>
                    <a:pt x="372" y="245"/>
                    <a:pt x="372" y="245"/>
                    <a:pt x="372" y="245"/>
                  </a:cubicBezTo>
                  <a:cubicBezTo>
                    <a:pt x="370" y="221"/>
                    <a:pt x="361" y="198"/>
                    <a:pt x="346" y="181"/>
                  </a:cubicBezTo>
                  <a:cubicBezTo>
                    <a:pt x="370" y="157"/>
                    <a:pt x="370" y="157"/>
                    <a:pt x="370" y="157"/>
                  </a:cubicBezTo>
                  <a:cubicBezTo>
                    <a:pt x="374" y="152"/>
                    <a:pt x="374" y="146"/>
                    <a:pt x="370" y="141"/>
                  </a:cubicBezTo>
                  <a:cubicBezTo>
                    <a:pt x="366" y="137"/>
                    <a:pt x="359" y="137"/>
                    <a:pt x="355" y="141"/>
                  </a:cubicBezTo>
                  <a:cubicBezTo>
                    <a:pt x="331" y="166"/>
                    <a:pt x="331" y="166"/>
                    <a:pt x="331" y="166"/>
                  </a:cubicBezTo>
                  <a:cubicBezTo>
                    <a:pt x="313" y="151"/>
                    <a:pt x="291" y="141"/>
                    <a:pt x="266" y="139"/>
                  </a:cubicBezTo>
                  <a:cubicBezTo>
                    <a:pt x="266" y="106"/>
                    <a:pt x="266" y="106"/>
                    <a:pt x="266" y="106"/>
                  </a:cubicBezTo>
                  <a:cubicBezTo>
                    <a:pt x="266" y="100"/>
                    <a:pt x="262" y="96"/>
                    <a:pt x="256" y="96"/>
                  </a:cubicBezTo>
                  <a:cubicBezTo>
                    <a:pt x="250" y="96"/>
                    <a:pt x="245" y="100"/>
                    <a:pt x="245" y="106"/>
                  </a:cubicBezTo>
                  <a:cubicBezTo>
                    <a:pt x="245" y="139"/>
                    <a:pt x="245" y="139"/>
                    <a:pt x="245" y="139"/>
                  </a:cubicBezTo>
                  <a:cubicBezTo>
                    <a:pt x="221" y="141"/>
                    <a:pt x="198" y="151"/>
                    <a:pt x="181" y="166"/>
                  </a:cubicBezTo>
                  <a:cubicBezTo>
                    <a:pt x="157" y="141"/>
                    <a:pt x="157" y="141"/>
                    <a:pt x="157" y="141"/>
                  </a:cubicBezTo>
                  <a:cubicBezTo>
                    <a:pt x="152" y="137"/>
                    <a:pt x="146" y="137"/>
                    <a:pt x="141" y="141"/>
                  </a:cubicBezTo>
                  <a:cubicBezTo>
                    <a:pt x="137" y="146"/>
                    <a:pt x="137" y="152"/>
                    <a:pt x="141" y="157"/>
                  </a:cubicBezTo>
                  <a:cubicBezTo>
                    <a:pt x="166" y="181"/>
                    <a:pt x="166" y="181"/>
                    <a:pt x="166" y="181"/>
                  </a:cubicBezTo>
                  <a:cubicBezTo>
                    <a:pt x="151" y="198"/>
                    <a:pt x="141" y="221"/>
                    <a:pt x="139" y="245"/>
                  </a:cubicBezTo>
                  <a:cubicBezTo>
                    <a:pt x="106" y="245"/>
                    <a:pt x="106" y="245"/>
                    <a:pt x="106" y="245"/>
                  </a:cubicBezTo>
                  <a:cubicBezTo>
                    <a:pt x="100" y="245"/>
                    <a:pt x="96" y="250"/>
                    <a:pt x="96" y="256"/>
                  </a:cubicBezTo>
                  <a:cubicBezTo>
                    <a:pt x="96" y="262"/>
                    <a:pt x="100" y="266"/>
                    <a:pt x="106" y="266"/>
                  </a:cubicBezTo>
                  <a:cubicBezTo>
                    <a:pt x="139" y="266"/>
                    <a:pt x="139" y="266"/>
                    <a:pt x="139" y="266"/>
                  </a:cubicBezTo>
                  <a:cubicBezTo>
                    <a:pt x="141" y="291"/>
                    <a:pt x="151" y="313"/>
                    <a:pt x="166" y="331"/>
                  </a:cubicBezTo>
                  <a:cubicBezTo>
                    <a:pt x="141" y="355"/>
                    <a:pt x="141" y="355"/>
                    <a:pt x="141" y="355"/>
                  </a:cubicBezTo>
                  <a:cubicBezTo>
                    <a:pt x="137" y="359"/>
                    <a:pt x="137" y="366"/>
                    <a:pt x="141" y="370"/>
                  </a:cubicBezTo>
                  <a:cubicBezTo>
                    <a:pt x="144" y="372"/>
                    <a:pt x="146" y="373"/>
                    <a:pt x="149" y="373"/>
                  </a:cubicBezTo>
                  <a:cubicBezTo>
                    <a:pt x="152" y="373"/>
                    <a:pt x="154" y="372"/>
                    <a:pt x="157" y="370"/>
                  </a:cubicBezTo>
                  <a:cubicBezTo>
                    <a:pt x="181" y="346"/>
                    <a:pt x="181" y="346"/>
                    <a:pt x="181" y="346"/>
                  </a:cubicBezTo>
                  <a:cubicBezTo>
                    <a:pt x="198" y="361"/>
                    <a:pt x="221" y="370"/>
                    <a:pt x="245" y="372"/>
                  </a:cubicBezTo>
                  <a:cubicBezTo>
                    <a:pt x="245" y="405"/>
                    <a:pt x="245" y="405"/>
                    <a:pt x="245" y="405"/>
                  </a:cubicBezTo>
                  <a:cubicBezTo>
                    <a:pt x="245" y="411"/>
                    <a:pt x="250" y="416"/>
                    <a:pt x="256" y="416"/>
                  </a:cubicBezTo>
                  <a:cubicBezTo>
                    <a:pt x="262" y="416"/>
                    <a:pt x="266" y="411"/>
                    <a:pt x="266" y="405"/>
                  </a:cubicBezTo>
                  <a:cubicBezTo>
                    <a:pt x="266" y="372"/>
                    <a:pt x="266" y="372"/>
                    <a:pt x="266" y="372"/>
                  </a:cubicBezTo>
                  <a:cubicBezTo>
                    <a:pt x="291" y="370"/>
                    <a:pt x="313" y="361"/>
                    <a:pt x="331" y="346"/>
                  </a:cubicBezTo>
                  <a:cubicBezTo>
                    <a:pt x="355" y="370"/>
                    <a:pt x="355" y="370"/>
                    <a:pt x="355" y="370"/>
                  </a:cubicBezTo>
                  <a:cubicBezTo>
                    <a:pt x="357" y="372"/>
                    <a:pt x="360" y="373"/>
                    <a:pt x="362" y="373"/>
                  </a:cubicBezTo>
                  <a:cubicBezTo>
                    <a:pt x="365" y="373"/>
                    <a:pt x="368" y="372"/>
                    <a:pt x="370" y="370"/>
                  </a:cubicBezTo>
                  <a:cubicBezTo>
                    <a:pt x="374" y="366"/>
                    <a:pt x="374" y="359"/>
                    <a:pt x="370" y="355"/>
                  </a:cubicBezTo>
                  <a:cubicBezTo>
                    <a:pt x="346" y="331"/>
                    <a:pt x="346" y="331"/>
                    <a:pt x="346" y="331"/>
                  </a:cubicBezTo>
                  <a:cubicBezTo>
                    <a:pt x="361" y="313"/>
                    <a:pt x="370" y="291"/>
                    <a:pt x="372" y="266"/>
                  </a:cubicBezTo>
                  <a:cubicBezTo>
                    <a:pt x="405" y="266"/>
                    <a:pt x="405" y="266"/>
                    <a:pt x="405" y="266"/>
                  </a:cubicBezTo>
                  <a:cubicBezTo>
                    <a:pt x="411" y="266"/>
                    <a:pt x="416" y="262"/>
                    <a:pt x="416" y="256"/>
                  </a:cubicBezTo>
                  <a:cubicBezTo>
                    <a:pt x="416" y="250"/>
                    <a:pt x="411" y="245"/>
                    <a:pt x="405" y="245"/>
                  </a:cubicBezTo>
                  <a:close/>
                  <a:moveTo>
                    <a:pt x="351" y="245"/>
                  </a:moveTo>
                  <a:cubicBezTo>
                    <a:pt x="288" y="245"/>
                    <a:pt x="288" y="245"/>
                    <a:pt x="288" y="245"/>
                  </a:cubicBezTo>
                  <a:cubicBezTo>
                    <a:pt x="287" y="245"/>
                    <a:pt x="286" y="245"/>
                    <a:pt x="286" y="245"/>
                  </a:cubicBezTo>
                  <a:cubicBezTo>
                    <a:pt x="285" y="244"/>
                    <a:pt x="285" y="243"/>
                    <a:pt x="284" y="242"/>
                  </a:cubicBezTo>
                  <a:cubicBezTo>
                    <a:pt x="285" y="241"/>
                    <a:pt x="285" y="241"/>
                    <a:pt x="286" y="241"/>
                  </a:cubicBezTo>
                  <a:cubicBezTo>
                    <a:pt x="331" y="196"/>
                    <a:pt x="331" y="196"/>
                    <a:pt x="331" y="196"/>
                  </a:cubicBezTo>
                  <a:cubicBezTo>
                    <a:pt x="342" y="210"/>
                    <a:pt x="349" y="227"/>
                    <a:pt x="351" y="245"/>
                  </a:cubicBezTo>
                  <a:close/>
                  <a:moveTo>
                    <a:pt x="316" y="181"/>
                  </a:moveTo>
                  <a:cubicBezTo>
                    <a:pt x="271" y="226"/>
                    <a:pt x="271" y="226"/>
                    <a:pt x="271" y="226"/>
                  </a:cubicBezTo>
                  <a:cubicBezTo>
                    <a:pt x="270" y="226"/>
                    <a:pt x="270" y="227"/>
                    <a:pt x="270" y="227"/>
                  </a:cubicBezTo>
                  <a:cubicBezTo>
                    <a:pt x="269" y="226"/>
                    <a:pt x="267" y="226"/>
                    <a:pt x="266" y="226"/>
                  </a:cubicBezTo>
                  <a:cubicBezTo>
                    <a:pt x="266" y="225"/>
                    <a:pt x="266" y="224"/>
                    <a:pt x="266" y="224"/>
                  </a:cubicBezTo>
                  <a:cubicBezTo>
                    <a:pt x="266" y="160"/>
                    <a:pt x="266" y="160"/>
                    <a:pt x="266" y="160"/>
                  </a:cubicBezTo>
                  <a:cubicBezTo>
                    <a:pt x="285" y="162"/>
                    <a:pt x="302" y="170"/>
                    <a:pt x="316" y="181"/>
                  </a:cubicBezTo>
                  <a:close/>
                  <a:moveTo>
                    <a:pt x="256" y="266"/>
                  </a:moveTo>
                  <a:cubicBezTo>
                    <a:pt x="250" y="266"/>
                    <a:pt x="245" y="262"/>
                    <a:pt x="245" y="256"/>
                  </a:cubicBezTo>
                  <a:cubicBezTo>
                    <a:pt x="245" y="250"/>
                    <a:pt x="250" y="245"/>
                    <a:pt x="256" y="245"/>
                  </a:cubicBezTo>
                  <a:cubicBezTo>
                    <a:pt x="262" y="245"/>
                    <a:pt x="266" y="250"/>
                    <a:pt x="266" y="256"/>
                  </a:cubicBezTo>
                  <a:cubicBezTo>
                    <a:pt x="266" y="262"/>
                    <a:pt x="262" y="266"/>
                    <a:pt x="256" y="266"/>
                  </a:cubicBezTo>
                  <a:close/>
                  <a:moveTo>
                    <a:pt x="245" y="160"/>
                  </a:moveTo>
                  <a:cubicBezTo>
                    <a:pt x="245" y="224"/>
                    <a:pt x="245" y="224"/>
                    <a:pt x="245" y="224"/>
                  </a:cubicBezTo>
                  <a:cubicBezTo>
                    <a:pt x="245" y="224"/>
                    <a:pt x="245" y="225"/>
                    <a:pt x="245" y="226"/>
                  </a:cubicBezTo>
                  <a:cubicBezTo>
                    <a:pt x="244" y="226"/>
                    <a:pt x="243" y="226"/>
                    <a:pt x="242" y="227"/>
                  </a:cubicBezTo>
                  <a:cubicBezTo>
                    <a:pt x="241" y="227"/>
                    <a:pt x="241" y="226"/>
                    <a:pt x="241" y="226"/>
                  </a:cubicBezTo>
                  <a:cubicBezTo>
                    <a:pt x="196" y="181"/>
                    <a:pt x="196" y="181"/>
                    <a:pt x="196" y="181"/>
                  </a:cubicBezTo>
                  <a:cubicBezTo>
                    <a:pt x="210" y="170"/>
                    <a:pt x="227" y="162"/>
                    <a:pt x="245" y="160"/>
                  </a:cubicBezTo>
                  <a:close/>
                  <a:moveTo>
                    <a:pt x="181" y="196"/>
                  </a:moveTo>
                  <a:cubicBezTo>
                    <a:pt x="226" y="241"/>
                    <a:pt x="226" y="241"/>
                    <a:pt x="226" y="241"/>
                  </a:cubicBezTo>
                  <a:cubicBezTo>
                    <a:pt x="226" y="241"/>
                    <a:pt x="227" y="241"/>
                    <a:pt x="227" y="242"/>
                  </a:cubicBezTo>
                  <a:cubicBezTo>
                    <a:pt x="226" y="243"/>
                    <a:pt x="226" y="244"/>
                    <a:pt x="226" y="245"/>
                  </a:cubicBezTo>
                  <a:cubicBezTo>
                    <a:pt x="225" y="245"/>
                    <a:pt x="224" y="245"/>
                    <a:pt x="224" y="245"/>
                  </a:cubicBezTo>
                  <a:cubicBezTo>
                    <a:pt x="160" y="245"/>
                    <a:pt x="160" y="245"/>
                    <a:pt x="160" y="245"/>
                  </a:cubicBezTo>
                  <a:cubicBezTo>
                    <a:pt x="162" y="227"/>
                    <a:pt x="170" y="210"/>
                    <a:pt x="181" y="196"/>
                  </a:cubicBezTo>
                  <a:close/>
                  <a:moveTo>
                    <a:pt x="160" y="266"/>
                  </a:moveTo>
                  <a:cubicBezTo>
                    <a:pt x="224" y="266"/>
                    <a:pt x="224" y="266"/>
                    <a:pt x="224" y="266"/>
                  </a:cubicBezTo>
                  <a:cubicBezTo>
                    <a:pt x="224" y="266"/>
                    <a:pt x="225" y="266"/>
                    <a:pt x="226" y="266"/>
                  </a:cubicBezTo>
                  <a:cubicBezTo>
                    <a:pt x="226" y="267"/>
                    <a:pt x="226" y="269"/>
                    <a:pt x="227" y="270"/>
                  </a:cubicBezTo>
                  <a:cubicBezTo>
                    <a:pt x="227" y="270"/>
                    <a:pt x="226" y="270"/>
                    <a:pt x="226" y="271"/>
                  </a:cubicBezTo>
                  <a:cubicBezTo>
                    <a:pt x="181" y="316"/>
                    <a:pt x="181" y="316"/>
                    <a:pt x="181" y="316"/>
                  </a:cubicBezTo>
                  <a:cubicBezTo>
                    <a:pt x="170" y="302"/>
                    <a:pt x="162" y="285"/>
                    <a:pt x="160" y="266"/>
                  </a:cubicBezTo>
                  <a:close/>
                  <a:moveTo>
                    <a:pt x="196" y="331"/>
                  </a:moveTo>
                  <a:cubicBezTo>
                    <a:pt x="241" y="286"/>
                    <a:pt x="241" y="286"/>
                    <a:pt x="241" y="286"/>
                  </a:cubicBezTo>
                  <a:cubicBezTo>
                    <a:pt x="241" y="285"/>
                    <a:pt x="241" y="285"/>
                    <a:pt x="242" y="284"/>
                  </a:cubicBezTo>
                  <a:cubicBezTo>
                    <a:pt x="243" y="285"/>
                    <a:pt x="244" y="285"/>
                    <a:pt x="245" y="286"/>
                  </a:cubicBezTo>
                  <a:cubicBezTo>
                    <a:pt x="245" y="286"/>
                    <a:pt x="245" y="287"/>
                    <a:pt x="245" y="288"/>
                  </a:cubicBezTo>
                  <a:cubicBezTo>
                    <a:pt x="245" y="351"/>
                    <a:pt x="245" y="351"/>
                    <a:pt x="245" y="351"/>
                  </a:cubicBezTo>
                  <a:cubicBezTo>
                    <a:pt x="227" y="349"/>
                    <a:pt x="210" y="342"/>
                    <a:pt x="196" y="331"/>
                  </a:cubicBezTo>
                  <a:close/>
                  <a:moveTo>
                    <a:pt x="266" y="351"/>
                  </a:moveTo>
                  <a:cubicBezTo>
                    <a:pt x="266" y="288"/>
                    <a:pt x="266" y="288"/>
                    <a:pt x="266" y="288"/>
                  </a:cubicBezTo>
                  <a:cubicBezTo>
                    <a:pt x="266" y="287"/>
                    <a:pt x="266" y="286"/>
                    <a:pt x="266" y="286"/>
                  </a:cubicBezTo>
                  <a:cubicBezTo>
                    <a:pt x="267" y="285"/>
                    <a:pt x="269" y="285"/>
                    <a:pt x="270" y="284"/>
                  </a:cubicBezTo>
                  <a:cubicBezTo>
                    <a:pt x="270" y="285"/>
                    <a:pt x="270" y="285"/>
                    <a:pt x="271" y="286"/>
                  </a:cubicBezTo>
                  <a:cubicBezTo>
                    <a:pt x="316" y="331"/>
                    <a:pt x="316" y="331"/>
                    <a:pt x="316" y="331"/>
                  </a:cubicBezTo>
                  <a:cubicBezTo>
                    <a:pt x="302" y="342"/>
                    <a:pt x="285" y="349"/>
                    <a:pt x="266" y="351"/>
                  </a:cubicBezTo>
                  <a:close/>
                  <a:moveTo>
                    <a:pt x="331" y="316"/>
                  </a:moveTo>
                  <a:cubicBezTo>
                    <a:pt x="286" y="271"/>
                    <a:pt x="286" y="271"/>
                    <a:pt x="286" y="271"/>
                  </a:cubicBezTo>
                  <a:cubicBezTo>
                    <a:pt x="285" y="270"/>
                    <a:pt x="285" y="270"/>
                    <a:pt x="284" y="270"/>
                  </a:cubicBezTo>
                  <a:cubicBezTo>
                    <a:pt x="285" y="268"/>
                    <a:pt x="285" y="267"/>
                    <a:pt x="286" y="266"/>
                  </a:cubicBezTo>
                  <a:cubicBezTo>
                    <a:pt x="286" y="266"/>
                    <a:pt x="287" y="266"/>
                    <a:pt x="288" y="266"/>
                  </a:cubicBezTo>
                  <a:cubicBezTo>
                    <a:pt x="351" y="266"/>
                    <a:pt x="351" y="266"/>
                    <a:pt x="351" y="266"/>
                  </a:cubicBezTo>
                  <a:cubicBezTo>
                    <a:pt x="349" y="285"/>
                    <a:pt x="342" y="302"/>
                    <a:pt x="331" y="3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88" name="Freeform 1022">
              <a:extLst>
                <a:ext uri="{FF2B5EF4-FFF2-40B4-BE49-F238E27FC236}">
                  <a16:creationId xmlns:a16="http://schemas.microsoft.com/office/drawing/2014/main" id="{EA41D56E-4696-4152-AE79-3BAAE308371B}"/>
                </a:ext>
              </a:extLst>
            </p:cNvPr>
            <p:cNvSpPr>
              <a:spLocks noChangeAspect="1" noEditPoints="1"/>
            </p:cNvSpPr>
            <p:nvPr/>
          </p:nvSpPr>
          <p:spPr bwMode="auto">
            <a:xfrm>
              <a:off x="10286648" y="1902445"/>
              <a:ext cx="457200" cy="457200"/>
            </a:xfrm>
            <a:custGeom>
              <a:avLst/>
              <a:gdLst>
                <a:gd name="T0" fmla="*/ 490 w 512"/>
                <a:gd name="T1" fmla="*/ 256 h 512"/>
                <a:gd name="T2" fmla="*/ 21 w 512"/>
                <a:gd name="T3" fmla="*/ 256 h 512"/>
                <a:gd name="T4" fmla="*/ 256 w 512"/>
                <a:gd name="T5" fmla="*/ 0 h 512"/>
                <a:gd name="T6" fmla="*/ 256 w 512"/>
                <a:gd name="T7" fmla="*/ 512 h 512"/>
                <a:gd name="T8" fmla="*/ 256 w 512"/>
                <a:gd name="T9" fmla="*/ 0 h 512"/>
                <a:gd name="T10" fmla="*/ 372 w 512"/>
                <a:gd name="T11" fmla="*/ 245 h 512"/>
                <a:gd name="T12" fmla="*/ 370 w 512"/>
                <a:gd name="T13" fmla="*/ 157 h 512"/>
                <a:gd name="T14" fmla="*/ 355 w 512"/>
                <a:gd name="T15" fmla="*/ 141 h 512"/>
                <a:gd name="T16" fmla="*/ 266 w 512"/>
                <a:gd name="T17" fmla="*/ 139 h 512"/>
                <a:gd name="T18" fmla="*/ 256 w 512"/>
                <a:gd name="T19" fmla="*/ 96 h 512"/>
                <a:gd name="T20" fmla="*/ 245 w 512"/>
                <a:gd name="T21" fmla="*/ 139 h 512"/>
                <a:gd name="T22" fmla="*/ 157 w 512"/>
                <a:gd name="T23" fmla="*/ 141 h 512"/>
                <a:gd name="T24" fmla="*/ 141 w 512"/>
                <a:gd name="T25" fmla="*/ 157 h 512"/>
                <a:gd name="T26" fmla="*/ 139 w 512"/>
                <a:gd name="T27" fmla="*/ 245 h 512"/>
                <a:gd name="T28" fmla="*/ 96 w 512"/>
                <a:gd name="T29" fmla="*/ 256 h 512"/>
                <a:gd name="T30" fmla="*/ 139 w 512"/>
                <a:gd name="T31" fmla="*/ 266 h 512"/>
                <a:gd name="T32" fmla="*/ 141 w 512"/>
                <a:gd name="T33" fmla="*/ 355 h 512"/>
                <a:gd name="T34" fmla="*/ 149 w 512"/>
                <a:gd name="T35" fmla="*/ 373 h 512"/>
                <a:gd name="T36" fmla="*/ 181 w 512"/>
                <a:gd name="T37" fmla="*/ 346 h 512"/>
                <a:gd name="T38" fmla="*/ 245 w 512"/>
                <a:gd name="T39" fmla="*/ 405 h 512"/>
                <a:gd name="T40" fmla="*/ 266 w 512"/>
                <a:gd name="T41" fmla="*/ 405 h 512"/>
                <a:gd name="T42" fmla="*/ 331 w 512"/>
                <a:gd name="T43" fmla="*/ 346 h 512"/>
                <a:gd name="T44" fmla="*/ 362 w 512"/>
                <a:gd name="T45" fmla="*/ 373 h 512"/>
                <a:gd name="T46" fmla="*/ 370 w 512"/>
                <a:gd name="T47" fmla="*/ 355 h 512"/>
                <a:gd name="T48" fmla="*/ 372 w 512"/>
                <a:gd name="T49" fmla="*/ 266 h 512"/>
                <a:gd name="T50" fmla="*/ 416 w 512"/>
                <a:gd name="T51" fmla="*/ 256 h 512"/>
                <a:gd name="T52" fmla="*/ 351 w 512"/>
                <a:gd name="T53" fmla="*/ 245 h 512"/>
                <a:gd name="T54" fmla="*/ 286 w 512"/>
                <a:gd name="T55" fmla="*/ 245 h 512"/>
                <a:gd name="T56" fmla="*/ 286 w 512"/>
                <a:gd name="T57" fmla="*/ 241 h 512"/>
                <a:gd name="T58" fmla="*/ 351 w 512"/>
                <a:gd name="T59" fmla="*/ 245 h 512"/>
                <a:gd name="T60" fmla="*/ 271 w 512"/>
                <a:gd name="T61" fmla="*/ 226 h 512"/>
                <a:gd name="T62" fmla="*/ 266 w 512"/>
                <a:gd name="T63" fmla="*/ 226 h 512"/>
                <a:gd name="T64" fmla="*/ 266 w 512"/>
                <a:gd name="T65" fmla="*/ 160 h 512"/>
                <a:gd name="T66" fmla="*/ 256 w 512"/>
                <a:gd name="T67" fmla="*/ 266 h 512"/>
                <a:gd name="T68" fmla="*/ 256 w 512"/>
                <a:gd name="T69" fmla="*/ 245 h 512"/>
                <a:gd name="T70" fmla="*/ 256 w 512"/>
                <a:gd name="T71" fmla="*/ 266 h 512"/>
                <a:gd name="T72" fmla="*/ 245 w 512"/>
                <a:gd name="T73" fmla="*/ 224 h 512"/>
                <a:gd name="T74" fmla="*/ 242 w 512"/>
                <a:gd name="T75" fmla="*/ 227 h 512"/>
                <a:gd name="T76" fmla="*/ 196 w 512"/>
                <a:gd name="T77" fmla="*/ 181 h 512"/>
                <a:gd name="T78" fmla="*/ 181 w 512"/>
                <a:gd name="T79" fmla="*/ 196 h 512"/>
                <a:gd name="T80" fmla="*/ 227 w 512"/>
                <a:gd name="T81" fmla="*/ 242 h 512"/>
                <a:gd name="T82" fmla="*/ 224 w 512"/>
                <a:gd name="T83" fmla="*/ 245 h 512"/>
                <a:gd name="T84" fmla="*/ 181 w 512"/>
                <a:gd name="T85" fmla="*/ 196 h 512"/>
                <a:gd name="T86" fmla="*/ 224 w 512"/>
                <a:gd name="T87" fmla="*/ 266 h 512"/>
                <a:gd name="T88" fmla="*/ 227 w 512"/>
                <a:gd name="T89" fmla="*/ 270 h 512"/>
                <a:gd name="T90" fmla="*/ 181 w 512"/>
                <a:gd name="T91" fmla="*/ 316 h 512"/>
                <a:gd name="T92" fmla="*/ 196 w 512"/>
                <a:gd name="T93" fmla="*/ 331 h 512"/>
                <a:gd name="T94" fmla="*/ 242 w 512"/>
                <a:gd name="T95" fmla="*/ 284 h 512"/>
                <a:gd name="T96" fmla="*/ 245 w 512"/>
                <a:gd name="T97" fmla="*/ 288 h 512"/>
                <a:gd name="T98" fmla="*/ 196 w 512"/>
                <a:gd name="T99" fmla="*/ 331 h 512"/>
                <a:gd name="T100" fmla="*/ 266 w 512"/>
                <a:gd name="T101" fmla="*/ 288 h 512"/>
                <a:gd name="T102" fmla="*/ 270 w 512"/>
                <a:gd name="T103" fmla="*/ 284 h 512"/>
                <a:gd name="T104" fmla="*/ 316 w 512"/>
                <a:gd name="T105" fmla="*/ 331 h 512"/>
                <a:gd name="T106" fmla="*/ 331 w 512"/>
                <a:gd name="T107" fmla="*/ 316 h 512"/>
                <a:gd name="T108" fmla="*/ 284 w 512"/>
                <a:gd name="T109" fmla="*/ 270 h 512"/>
                <a:gd name="T110" fmla="*/ 288 w 512"/>
                <a:gd name="T111" fmla="*/ 266 h 512"/>
                <a:gd name="T112" fmla="*/ 331 w 512"/>
                <a:gd name="T113" fmla="*/ 3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45"/>
                  </a:moveTo>
                  <a:cubicBezTo>
                    <a:pt x="372" y="245"/>
                    <a:pt x="372" y="245"/>
                    <a:pt x="372" y="245"/>
                  </a:cubicBezTo>
                  <a:cubicBezTo>
                    <a:pt x="370" y="221"/>
                    <a:pt x="361" y="198"/>
                    <a:pt x="346" y="181"/>
                  </a:cubicBezTo>
                  <a:cubicBezTo>
                    <a:pt x="370" y="157"/>
                    <a:pt x="370" y="157"/>
                    <a:pt x="370" y="157"/>
                  </a:cubicBezTo>
                  <a:cubicBezTo>
                    <a:pt x="374" y="152"/>
                    <a:pt x="374" y="146"/>
                    <a:pt x="370" y="141"/>
                  </a:cubicBezTo>
                  <a:cubicBezTo>
                    <a:pt x="366" y="137"/>
                    <a:pt x="359" y="137"/>
                    <a:pt x="355" y="141"/>
                  </a:cubicBezTo>
                  <a:cubicBezTo>
                    <a:pt x="331" y="166"/>
                    <a:pt x="331" y="166"/>
                    <a:pt x="331" y="166"/>
                  </a:cubicBezTo>
                  <a:cubicBezTo>
                    <a:pt x="313" y="151"/>
                    <a:pt x="291" y="141"/>
                    <a:pt x="266" y="139"/>
                  </a:cubicBezTo>
                  <a:cubicBezTo>
                    <a:pt x="266" y="106"/>
                    <a:pt x="266" y="106"/>
                    <a:pt x="266" y="106"/>
                  </a:cubicBezTo>
                  <a:cubicBezTo>
                    <a:pt x="266" y="100"/>
                    <a:pt x="262" y="96"/>
                    <a:pt x="256" y="96"/>
                  </a:cubicBezTo>
                  <a:cubicBezTo>
                    <a:pt x="250" y="96"/>
                    <a:pt x="245" y="100"/>
                    <a:pt x="245" y="106"/>
                  </a:cubicBezTo>
                  <a:cubicBezTo>
                    <a:pt x="245" y="139"/>
                    <a:pt x="245" y="139"/>
                    <a:pt x="245" y="139"/>
                  </a:cubicBezTo>
                  <a:cubicBezTo>
                    <a:pt x="221" y="141"/>
                    <a:pt x="198" y="151"/>
                    <a:pt x="181" y="166"/>
                  </a:cubicBezTo>
                  <a:cubicBezTo>
                    <a:pt x="157" y="141"/>
                    <a:pt x="157" y="141"/>
                    <a:pt x="157" y="141"/>
                  </a:cubicBezTo>
                  <a:cubicBezTo>
                    <a:pt x="152" y="137"/>
                    <a:pt x="146" y="137"/>
                    <a:pt x="141" y="141"/>
                  </a:cubicBezTo>
                  <a:cubicBezTo>
                    <a:pt x="137" y="146"/>
                    <a:pt x="137" y="152"/>
                    <a:pt x="141" y="157"/>
                  </a:cubicBezTo>
                  <a:cubicBezTo>
                    <a:pt x="166" y="181"/>
                    <a:pt x="166" y="181"/>
                    <a:pt x="166" y="181"/>
                  </a:cubicBezTo>
                  <a:cubicBezTo>
                    <a:pt x="151" y="198"/>
                    <a:pt x="141" y="221"/>
                    <a:pt x="139" y="245"/>
                  </a:cubicBezTo>
                  <a:cubicBezTo>
                    <a:pt x="106" y="245"/>
                    <a:pt x="106" y="245"/>
                    <a:pt x="106" y="245"/>
                  </a:cubicBezTo>
                  <a:cubicBezTo>
                    <a:pt x="100" y="245"/>
                    <a:pt x="96" y="250"/>
                    <a:pt x="96" y="256"/>
                  </a:cubicBezTo>
                  <a:cubicBezTo>
                    <a:pt x="96" y="262"/>
                    <a:pt x="100" y="266"/>
                    <a:pt x="106" y="266"/>
                  </a:cubicBezTo>
                  <a:cubicBezTo>
                    <a:pt x="139" y="266"/>
                    <a:pt x="139" y="266"/>
                    <a:pt x="139" y="266"/>
                  </a:cubicBezTo>
                  <a:cubicBezTo>
                    <a:pt x="141" y="291"/>
                    <a:pt x="151" y="313"/>
                    <a:pt x="166" y="331"/>
                  </a:cubicBezTo>
                  <a:cubicBezTo>
                    <a:pt x="141" y="355"/>
                    <a:pt x="141" y="355"/>
                    <a:pt x="141" y="355"/>
                  </a:cubicBezTo>
                  <a:cubicBezTo>
                    <a:pt x="137" y="359"/>
                    <a:pt x="137" y="366"/>
                    <a:pt x="141" y="370"/>
                  </a:cubicBezTo>
                  <a:cubicBezTo>
                    <a:pt x="144" y="372"/>
                    <a:pt x="146" y="373"/>
                    <a:pt x="149" y="373"/>
                  </a:cubicBezTo>
                  <a:cubicBezTo>
                    <a:pt x="152" y="373"/>
                    <a:pt x="154" y="372"/>
                    <a:pt x="157" y="370"/>
                  </a:cubicBezTo>
                  <a:cubicBezTo>
                    <a:pt x="181" y="346"/>
                    <a:pt x="181" y="346"/>
                    <a:pt x="181" y="346"/>
                  </a:cubicBezTo>
                  <a:cubicBezTo>
                    <a:pt x="198" y="361"/>
                    <a:pt x="221" y="370"/>
                    <a:pt x="245" y="372"/>
                  </a:cubicBezTo>
                  <a:cubicBezTo>
                    <a:pt x="245" y="405"/>
                    <a:pt x="245" y="405"/>
                    <a:pt x="245" y="405"/>
                  </a:cubicBezTo>
                  <a:cubicBezTo>
                    <a:pt x="245" y="411"/>
                    <a:pt x="250" y="416"/>
                    <a:pt x="256" y="416"/>
                  </a:cubicBezTo>
                  <a:cubicBezTo>
                    <a:pt x="262" y="416"/>
                    <a:pt x="266" y="411"/>
                    <a:pt x="266" y="405"/>
                  </a:cubicBezTo>
                  <a:cubicBezTo>
                    <a:pt x="266" y="372"/>
                    <a:pt x="266" y="372"/>
                    <a:pt x="266" y="372"/>
                  </a:cubicBezTo>
                  <a:cubicBezTo>
                    <a:pt x="291" y="370"/>
                    <a:pt x="313" y="361"/>
                    <a:pt x="331" y="346"/>
                  </a:cubicBezTo>
                  <a:cubicBezTo>
                    <a:pt x="355" y="370"/>
                    <a:pt x="355" y="370"/>
                    <a:pt x="355" y="370"/>
                  </a:cubicBezTo>
                  <a:cubicBezTo>
                    <a:pt x="357" y="372"/>
                    <a:pt x="360" y="373"/>
                    <a:pt x="362" y="373"/>
                  </a:cubicBezTo>
                  <a:cubicBezTo>
                    <a:pt x="365" y="373"/>
                    <a:pt x="368" y="372"/>
                    <a:pt x="370" y="370"/>
                  </a:cubicBezTo>
                  <a:cubicBezTo>
                    <a:pt x="374" y="366"/>
                    <a:pt x="374" y="359"/>
                    <a:pt x="370" y="355"/>
                  </a:cubicBezTo>
                  <a:cubicBezTo>
                    <a:pt x="346" y="331"/>
                    <a:pt x="346" y="331"/>
                    <a:pt x="346" y="331"/>
                  </a:cubicBezTo>
                  <a:cubicBezTo>
                    <a:pt x="361" y="313"/>
                    <a:pt x="370" y="291"/>
                    <a:pt x="372" y="266"/>
                  </a:cubicBezTo>
                  <a:cubicBezTo>
                    <a:pt x="405" y="266"/>
                    <a:pt x="405" y="266"/>
                    <a:pt x="405" y="266"/>
                  </a:cubicBezTo>
                  <a:cubicBezTo>
                    <a:pt x="411" y="266"/>
                    <a:pt x="416" y="262"/>
                    <a:pt x="416" y="256"/>
                  </a:cubicBezTo>
                  <a:cubicBezTo>
                    <a:pt x="416" y="250"/>
                    <a:pt x="411" y="245"/>
                    <a:pt x="405" y="245"/>
                  </a:cubicBezTo>
                  <a:close/>
                  <a:moveTo>
                    <a:pt x="351" y="245"/>
                  </a:moveTo>
                  <a:cubicBezTo>
                    <a:pt x="288" y="245"/>
                    <a:pt x="288" y="245"/>
                    <a:pt x="288" y="245"/>
                  </a:cubicBezTo>
                  <a:cubicBezTo>
                    <a:pt x="287" y="245"/>
                    <a:pt x="286" y="245"/>
                    <a:pt x="286" y="245"/>
                  </a:cubicBezTo>
                  <a:cubicBezTo>
                    <a:pt x="285" y="244"/>
                    <a:pt x="285" y="243"/>
                    <a:pt x="284" y="242"/>
                  </a:cubicBezTo>
                  <a:cubicBezTo>
                    <a:pt x="285" y="241"/>
                    <a:pt x="285" y="241"/>
                    <a:pt x="286" y="241"/>
                  </a:cubicBezTo>
                  <a:cubicBezTo>
                    <a:pt x="331" y="196"/>
                    <a:pt x="331" y="196"/>
                    <a:pt x="331" y="196"/>
                  </a:cubicBezTo>
                  <a:cubicBezTo>
                    <a:pt x="342" y="210"/>
                    <a:pt x="349" y="227"/>
                    <a:pt x="351" y="245"/>
                  </a:cubicBezTo>
                  <a:close/>
                  <a:moveTo>
                    <a:pt x="316" y="181"/>
                  </a:moveTo>
                  <a:cubicBezTo>
                    <a:pt x="271" y="226"/>
                    <a:pt x="271" y="226"/>
                    <a:pt x="271" y="226"/>
                  </a:cubicBezTo>
                  <a:cubicBezTo>
                    <a:pt x="270" y="226"/>
                    <a:pt x="270" y="227"/>
                    <a:pt x="270" y="227"/>
                  </a:cubicBezTo>
                  <a:cubicBezTo>
                    <a:pt x="269" y="226"/>
                    <a:pt x="267" y="226"/>
                    <a:pt x="266" y="226"/>
                  </a:cubicBezTo>
                  <a:cubicBezTo>
                    <a:pt x="266" y="225"/>
                    <a:pt x="266" y="224"/>
                    <a:pt x="266" y="224"/>
                  </a:cubicBezTo>
                  <a:cubicBezTo>
                    <a:pt x="266" y="160"/>
                    <a:pt x="266" y="160"/>
                    <a:pt x="266" y="160"/>
                  </a:cubicBezTo>
                  <a:cubicBezTo>
                    <a:pt x="285" y="162"/>
                    <a:pt x="302" y="170"/>
                    <a:pt x="316" y="181"/>
                  </a:cubicBezTo>
                  <a:close/>
                  <a:moveTo>
                    <a:pt x="256" y="266"/>
                  </a:moveTo>
                  <a:cubicBezTo>
                    <a:pt x="250" y="266"/>
                    <a:pt x="245" y="262"/>
                    <a:pt x="245" y="256"/>
                  </a:cubicBezTo>
                  <a:cubicBezTo>
                    <a:pt x="245" y="250"/>
                    <a:pt x="250" y="245"/>
                    <a:pt x="256" y="245"/>
                  </a:cubicBezTo>
                  <a:cubicBezTo>
                    <a:pt x="262" y="245"/>
                    <a:pt x="266" y="250"/>
                    <a:pt x="266" y="256"/>
                  </a:cubicBezTo>
                  <a:cubicBezTo>
                    <a:pt x="266" y="262"/>
                    <a:pt x="262" y="266"/>
                    <a:pt x="256" y="266"/>
                  </a:cubicBezTo>
                  <a:close/>
                  <a:moveTo>
                    <a:pt x="245" y="160"/>
                  </a:moveTo>
                  <a:cubicBezTo>
                    <a:pt x="245" y="224"/>
                    <a:pt x="245" y="224"/>
                    <a:pt x="245" y="224"/>
                  </a:cubicBezTo>
                  <a:cubicBezTo>
                    <a:pt x="245" y="224"/>
                    <a:pt x="245" y="225"/>
                    <a:pt x="245" y="226"/>
                  </a:cubicBezTo>
                  <a:cubicBezTo>
                    <a:pt x="244" y="226"/>
                    <a:pt x="243" y="226"/>
                    <a:pt x="242" y="227"/>
                  </a:cubicBezTo>
                  <a:cubicBezTo>
                    <a:pt x="241" y="227"/>
                    <a:pt x="241" y="226"/>
                    <a:pt x="241" y="226"/>
                  </a:cubicBezTo>
                  <a:cubicBezTo>
                    <a:pt x="196" y="181"/>
                    <a:pt x="196" y="181"/>
                    <a:pt x="196" y="181"/>
                  </a:cubicBezTo>
                  <a:cubicBezTo>
                    <a:pt x="210" y="170"/>
                    <a:pt x="227" y="162"/>
                    <a:pt x="245" y="160"/>
                  </a:cubicBezTo>
                  <a:close/>
                  <a:moveTo>
                    <a:pt x="181" y="196"/>
                  </a:moveTo>
                  <a:cubicBezTo>
                    <a:pt x="226" y="241"/>
                    <a:pt x="226" y="241"/>
                    <a:pt x="226" y="241"/>
                  </a:cubicBezTo>
                  <a:cubicBezTo>
                    <a:pt x="226" y="241"/>
                    <a:pt x="227" y="241"/>
                    <a:pt x="227" y="242"/>
                  </a:cubicBezTo>
                  <a:cubicBezTo>
                    <a:pt x="226" y="243"/>
                    <a:pt x="226" y="244"/>
                    <a:pt x="226" y="245"/>
                  </a:cubicBezTo>
                  <a:cubicBezTo>
                    <a:pt x="225" y="245"/>
                    <a:pt x="224" y="245"/>
                    <a:pt x="224" y="245"/>
                  </a:cubicBezTo>
                  <a:cubicBezTo>
                    <a:pt x="160" y="245"/>
                    <a:pt x="160" y="245"/>
                    <a:pt x="160" y="245"/>
                  </a:cubicBezTo>
                  <a:cubicBezTo>
                    <a:pt x="162" y="227"/>
                    <a:pt x="170" y="210"/>
                    <a:pt x="181" y="196"/>
                  </a:cubicBezTo>
                  <a:close/>
                  <a:moveTo>
                    <a:pt x="160" y="266"/>
                  </a:moveTo>
                  <a:cubicBezTo>
                    <a:pt x="224" y="266"/>
                    <a:pt x="224" y="266"/>
                    <a:pt x="224" y="266"/>
                  </a:cubicBezTo>
                  <a:cubicBezTo>
                    <a:pt x="224" y="266"/>
                    <a:pt x="225" y="266"/>
                    <a:pt x="226" y="266"/>
                  </a:cubicBezTo>
                  <a:cubicBezTo>
                    <a:pt x="226" y="267"/>
                    <a:pt x="226" y="269"/>
                    <a:pt x="227" y="270"/>
                  </a:cubicBezTo>
                  <a:cubicBezTo>
                    <a:pt x="227" y="270"/>
                    <a:pt x="226" y="270"/>
                    <a:pt x="226" y="271"/>
                  </a:cubicBezTo>
                  <a:cubicBezTo>
                    <a:pt x="181" y="316"/>
                    <a:pt x="181" y="316"/>
                    <a:pt x="181" y="316"/>
                  </a:cubicBezTo>
                  <a:cubicBezTo>
                    <a:pt x="170" y="302"/>
                    <a:pt x="162" y="285"/>
                    <a:pt x="160" y="266"/>
                  </a:cubicBezTo>
                  <a:close/>
                  <a:moveTo>
                    <a:pt x="196" y="331"/>
                  </a:moveTo>
                  <a:cubicBezTo>
                    <a:pt x="241" y="286"/>
                    <a:pt x="241" y="286"/>
                    <a:pt x="241" y="286"/>
                  </a:cubicBezTo>
                  <a:cubicBezTo>
                    <a:pt x="241" y="285"/>
                    <a:pt x="241" y="285"/>
                    <a:pt x="242" y="284"/>
                  </a:cubicBezTo>
                  <a:cubicBezTo>
                    <a:pt x="243" y="285"/>
                    <a:pt x="244" y="285"/>
                    <a:pt x="245" y="286"/>
                  </a:cubicBezTo>
                  <a:cubicBezTo>
                    <a:pt x="245" y="286"/>
                    <a:pt x="245" y="287"/>
                    <a:pt x="245" y="288"/>
                  </a:cubicBezTo>
                  <a:cubicBezTo>
                    <a:pt x="245" y="351"/>
                    <a:pt x="245" y="351"/>
                    <a:pt x="245" y="351"/>
                  </a:cubicBezTo>
                  <a:cubicBezTo>
                    <a:pt x="227" y="349"/>
                    <a:pt x="210" y="342"/>
                    <a:pt x="196" y="331"/>
                  </a:cubicBezTo>
                  <a:close/>
                  <a:moveTo>
                    <a:pt x="266" y="351"/>
                  </a:moveTo>
                  <a:cubicBezTo>
                    <a:pt x="266" y="288"/>
                    <a:pt x="266" y="288"/>
                    <a:pt x="266" y="288"/>
                  </a:cubicBezTo>
                  <a:cubicBezTo>
                    <a:pt x="266" y="287"/>
                    <a:pt x="266" y="286"/>
                    <a:pt x="266" y="286"/>
                  </a:cubicBezTo>
                  <a:cubicBezTo>
                    <a:pt x="267" y="285"/>
                    <a:pt x="269" y="285"/>
                    <a:pt x="270" y="284"/>
                  </a:cubicBezTo>
                  <a:cubicBezTo>
                    <a:pt x="270" y="285"/>
                    <a:pt x="270" y="285"/>
                    <a:pt x="271" y="286"/>
                  </a:cubicBezTo>
                  <a:cubicBezTo>
                    <a:pt x="316" y="331"/>
                    <a:pt x="316" y="331"/>
                    <a:pt x="316" y="331"/>
                  </a:cubicBezTo>
                  <a:cubicBezTo>
                    <a:pt x="302" y="342"/>
                    <a:pt x="285" y="349"/>
                    <a:pt x="266" y="351"/>
                  </a:cubicBezTo>
                  <a:close/>
                  <a:moveTo>
                    <a:pt x="331" y="316"/>
                  </a:moveTo>
                  <a:cubicBezTo>
                    <a:pt x="286" y="271"/>
                    <a:pt x="286" y="271"/>
                    <a:pt x="286" y="271"/>
                  </a:cubicBezTo>
                  <a:cubicBezTo>
                    <a:pt x="285" y="270"/>
                    <a:pt x="285" y="270"/>
                    <a:pt x="284" y="270"/>
                  </a:cubicBezTo>
                  <a:cubicBezTo>
                    <a:pt x="285" y="268"/>
                    <a:pt x="285" y="267"/>
                    <a:pt x="286" y="266"/>
                  </a:cubicBezTo>
                  <a:cubicBezTo>
                    <a:pt x="286" y="266"/>
                    <a:pt x="287" y="266"/>
                    <a:pt x="288" y="266"/>
                  </a:cubicBezTo>
                  <a:cubicBezTo>
                    <a:pt x="351" y="266"/>
                    <a:pt x="351" y="266"/>
                    <a:pt x="351" y="266"/>
                  </a:cubicBezTo>
                  <a:cubicBezTo>
                    <a:pt x="349" y="285"/>
                    <a:pt x="342" y="302"/>
                    <a:pt x="331" y="3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7" name="Rounded Rectangle 136">
            <a:extLst>
              <a:ext uri="{FF2B5EF4-FFF2-40B4-BE49-F238E27FC236}">
                <a16:creationId xmlns:a16="http://schemas.microsoft.com/office/drawing/2014/main" id="{646F5524-AF07-4C71-9C1E-D0D2ABCF986B}"/>
              </a:ext>
            </a:extLst>
          </p:cNvPr>
          <p:cNvSpPr/>
          <p:nvPr/>
        </p:nvSpPr>
        <p:spPr>
          <a:xfrm>
            <a:off x="817850" y="1719350"/>
            <a:ext cx="1641265" cy="380134"/>
          </a:xfrm>
          <a:prstGeom prst="roundRect">
            <a:avLst>
              <a:gd name="adj" fmla="val 50000"/>
            </a:avLst>
          </a:prstGeom>
          <a:solidFill>
            <a:srgbClr val="86BC2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bg1"/>
                </a:solidFill>
              </a:rPr>
              <a:t>STAGE A</a:t>
            </a:r>
          </a:p>
        </p:txBody>
      </p:sp>
      <p:sp>
        <p:nvSpPr>
          <p:cNvPr id="38" name="Oval 137">
            <a:extLst>
              <a:ext uri="{FF2B5EF4-FFF2-40B4-BE49-F238E27FC236}">
                <a16:creationId xmlns:a16="http://schemas.microsoft.com/office/drawing/2014/main" id="{53281E21-FF00-404B-B70F-4E65A9672D06}"/>
              </a:ext>
            </a:extLst>
          </p:cNvPr>
          <p:cNvSpPr/>
          <p:nvPr/>
        </p:nvSpPr>
        <p:spPr>
          <a:xfrm>
            <a:off x="870757" y="1777217"/>
            <a:ext cx="264404" cy="264404"/>
          </a:xfrm>
          <a:prstGeom prst="ellipse">
            <a:avLst/>
          </a:prstGeom>
          <a:solidFill>
            <a:schemeClr val="bg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9" name="Oval 138">
            <a:extLst>
              <a:ext uri="{FF2B5EF4-FFF2-40B4-BE49-F238E27FC236}">
                <a16:creationId xmlns:a16="http://schemas.microsoft.com/office/drawing/2014/main" id="{B811A590-759B-40C8-839F-CF2372EC2FB6}"/>
              </a:ext>
            </a:extLst>
          </p:cNvPr>
          <p:cNvSpPr/>
          <p:nvPr/>
        </p:nvSpPr>
        <p:spPr>
          <a:xfrm>
            <a:off x="912054" y="1818514"/>
            <a:ext cx="181810" cy="181810"/>
          </a:xfrm>
          <a:prstGeom prst="ellipse">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0" name="Rounded Rectangle 136">
            <a:extLst>
              <a:ext uri="{FF2B5EF4-FFF2-40B4-BE49-F238E27FC236}">
                <a16:creationId xmlns:a16="http://schemas.microsoft.com/office/drawing/2014/main" id="{ED56BFB4-27B3-4D25-A22F-3E54693C90D8}"/>
              </a:ext>
            </a:extLst>
          </p:cNvPr>
          <p:cNvSpPr/>
          <p:nvPr/>
        </p:nvSpPr>
        <p:spPr>
          <a:xfrm>
            <a:off x="3079118" y="1720071"/>
            <a:ext cx="1641265" cy="380134"/>
          </a:xfrm>
          <a:prstGeom prst="roundRect">
            <a:avLst>
              <a:gd name="adj" fmla="val 50000"/>
            </a:avLst>
          </a:prstGeom>
          <a:solidFill>
            <a:srgbClr val="26890D"/>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bg1"/>
                </a:solidFill>
              </a:rPr>
              <a:t>STAGE B</a:t>
            </a:r>
          </a:p>
        </p:txBody>
      </p:sp>
      <p:sp>
        <p:nvSpPr>
          <p:cNvPr id="51" name="Oval 137">
            <a:extLst>
              <a:ext uri="{FF2B5EF4-FFF2-40B4-BE49-F238E27FC236}">
                <a16:creationId xmlns:a16="http://schemas.microsoft.com/office/drawing/2014/main" id="{0C26FF72-9B9F-4E32-B067-BAC8157B7A34}"/>
              </a:ext>
            </a:extLst>
          </p:cNvPr>
          <p:cNvSpPr/>
          <p:nvPr/>
        </p:nvSpPr>
        <p:spPr>
          <a:xfrm>
            <a:off x="3132025" y="1777938"/>
            <a:ext cx="264404" cy="264404"/>
          </a:xfrm>
          <a:prstGeom prst="ellipse">
            <a:avLst/>
          </a:prstGeom>
          <a:solidFill>
            <a:schemeClr val="bg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2" name="Oval 138">
            <a:extLst>
              <a:ext uri="{FF2B5EF4-FFF2-40B4-BE49-F238E27FC236}">
                <a16:creationId xmlns:a16="http://schemas.microsoft.com/office/drawing/2014/main" id="{28CC87F0-FEE1-4E08-A184-E0B09C5730BB}"/>
              </a:ext>
            </a:extLst>
          </p:cNvPr>
          <p:cNvSpPr/>
          <p:nvPr/>
        </p:nvSpPr>
        <p:spPr>
          <a:xfrm>
            <a:off x="3173322" y="1819235"/>
            <a:ext cx="181810" cy="181810"/>
          </a:xfrm>
          <a:prstGeom prst="ellipse">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3" name="Rounded Rectangle 136">
            <a:extLst>
              <a:ext uri="{FF2B5EF4-FFF2-40B4-BE49-F238E27FC236}">
                <a16:creationId xmlns:a16="http://schemas.microsoft.com/office/drawing/2014/main" id="{E5380B58-0247-4DD7-93A2-36B9A2A48ECD}"/>
              </a:ext>
            </a:extLst>
          </p:cNvPr>
          <p:cNvSpPr/>
          <p:nvPr/>
        </p:nvSpPr>
        <p:spPr>
          <a:xfrm>
            <a:off x="5287447" y="1720071"/>
            <a:ext cx="1641265" cy="380134"/>
          </a:xfrm>
          <a:prstGeom prst="roundRect">
            <a:avLst>
              <a:gd name="adj" fmla="val 50000"/>
            </a:avLst>
          </a:prstGeom>
          <a:solidFill>
            <a:srgbClr val="0A626C"/>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bg1"/>
                </a:solidFill>
              </a:rPr>
              <a:t>STAGE C</a:t>
            </a:r>
          </a:p>
        </p:txBody>
      </p:sp>
      <p:sp>
        <p:nvSpPr>
          <p:cNvPr id="54" name="Oval 137">
            <a:extLst>
              <a:ext uri="{FF2B5EF4-FFF2-40B4-BE49-F238E27FC236}">
                <a16:creationId xmlns:a16="http://schemas.microsoft.com/office/drawing/2014/main" id="{8FE27F7A-8FCA-4E6C-B32C-AAB530110FDC}"/>
              </a:ext>
            </a:extLst>
          </p:cNvPr>
          <p:cNvSpPr/>
          <p:nvPr/>
        </p:nvSpPr>
        <p:spPr>
          <a:xfrm>
            <a:off x="5340354" y="1777938"/>
            <a:ext cx="264404" cy="264404"/>
          </a:xfrm>
          <a:prstGeom prst="ellipse">
            <a:avLst/>
          </a:prstGeom>
          <a:solidFill>
            <a:schemeClr val="bg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5" name="Oval 138">
            <a:extLst>
              <a:ext uri="{FF2B5EF4-FFF2-40B4-BE49-F238E27FC236}">
                <a16:creationId xmlns:a16="http://schemas.microsoft.com/office/drawing/2014/main" id="{F31EAA4E-FD85-4511-B109-25F6EB470660}"/>
              </a:ext>
            </a:extLst>
          </p:cNvPr>
          <p:cNvSpPr/>
          <p:nvPr/>
        </p:nvSpPr>
        <p:spPr>
          <a:xfrm>
            <a:off x="5381651" y="1819235"/>
            <a:ext cx="181810" cy="181810"/>
          </a:xfrm>
          <a:prstGeom prst="ellipse">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6" name="Rounded Rectangle 136">
            <a:extLst>
              <a:ext uri="{FF2B5EF4-FFF2-40B4-BE49-F238E27FC236}">
                <a16:creationId xmlns:a16="http://schemas.microsoft.com/office/drawing/2014/main" id="{485E8170-86B5-4477-AED2-C541AFFB33C4}"/>
              </a:ext>
            </a:extLst>
          </p:cNvPr>
          <p:cNvSpPr/>
          <p:nvPr/>
        </p:nvSpPr>
        <p:spPr>
          <a:xfrm>
            <a:off x="7546110" y="1713197"/>
            <a:ext cx="1641265" cy="380134"/>
          </a:xfrm>
          <a:prstGeom prst="roundRect">
            <a:avLst>
              <a:gd name="adj" fmla="val 50000"/>
            </a:avLst>
          </a:prstGeom>
          <a:solidFill>
            <a:srgbClr val="007CB0"/>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bg1"/>
                </a:solidFill>
              </a:rPr>
              <a:t>STAGE D</a:t>
            </a:r>
          </a:p>
        </p:txBody>
      </p:sp>
      <p:sp>
        <p:nvSpPr>
          <p:cNvPr id="57" name="Oval 137">
            <a:extLst>
              <a:ext uri="{FF2B5EF4-FFF2-40B4-BE49-F238E27FC236}">
                <a16:creationId xmlns:a16="http://schemas.microsoft.com/office/drawing/2014/main" id="{EE814D60-4BEC-4CD7-BAE2-23A699EF18BA}"/>
              </a:ext>
            </a:extLst>
          </p:cNvPr>
          <p:cNvSpPr/>
          <p:nvPr/>
        </p:nvSpPr>
        <p:spPr>
          <a:xfrm>
            <a:off x="7599017" y="1771064"/>
            <a:ext cx="264404" cy="264404"/>
          </a:xfrm>
          <a:prstGeom prst="ellipse">
            <a:avLst/>
          </a:prstGeom>
          <a:solidFill>
            <a:schemeClr val="bg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8" name="Oval 138">
            <a:extLst>
              <a:ext uri="{FF2B5EF4-FFF2-40B4-BE49-F238E27FC236}">
                <a16:creationId xmlns:a16="http://schemas.microsoft.com/office/drawing/2014/main" id="{BC51CB8B-8FB8-46A4-B0F2-15036FA3200C}"/>
              </a:ext>
            </a:extLst>
          </p:cNvPr>
          <p:cNvSpPr/>
          <p:nvPr/>
        </p:nvSpPr>
        <p:spPr>
          <a:xfrm>
            <a:off x="7640314" y="1812361"/>
            <a:ext cx="181810" cy="181810"/>
          </a:xfrm>
          <a:prstGeom prst="ellipse">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9" name="Rounded Rectangle 136">
            <a:extLst>
              <a:ext uri="{FF2B5EF4-FFF2-40B4-BE49-F238E27FC236}">
                <a16:creationId xmlns:a16="http://schemas.microsoft.com/office/drawing/2014/main" id="{1BA37DC1-A16D-4AF8-828F-4ACB9812ADF6}"/>
              </a:ext>
            </a:extLst>
          </p:cNvPr>
          <p:cNvSpPr/>
          <p:nvPr/>
        </p:nvSpPr>
        <p:spPr>
          <a:xfrm>
            <a:off x="9777410" y="1702911"/>
            <a:ext cx="1641265" cy="380134"/>
          </a:xfrm>
          <a:prstGeom prst="roundRect">
            <a:avLst>
              <a:gd name="adj" fmla="val 50000"/>
            </a:avLst>
          </a:prstGeom>
          <a:solidFill>
            <a:srgbClr val="595959"/>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a:solidFill>
                  <a:schemeClr val="bg1"/>
                </a:solidFill>
              </a:rPr>
              <a:t>STAGE E</a:t>
            </a:r>
          </a:p>
        </p:txBody>
      </p:sp>
      <p:sp>
        <p:nvSpPr>
          <p:cNvPr id="60" name="Oval 137">
            <a:extLst>
              <a:ext uri="{FF2B5EF4-FFF2-40B4-BE49-F238E27FC236}">
                <a16:creationId xmlns:a16="http://schemas.microsoft.com/office/drawing/2014/main" id="{AD9B9AA2-6A00-4B57-938A-1F496F472B9D}"/>
              </a:ext>
            </a:extLst>
          </p:cNvPr>
          <p:cNvSpPr/>
          <p:nvPr/>
        </p:nvSpPr>
        <p:spPr>
          <a:xfrm>
            <a:off x="9830317" y="1760778"/>
            <a:ext cx="264404" cy="264404"/>
          </a:xfrm>
          <a:prstGeom prst="ellipse">
            <a:avLst/>
          </a:prstGeom>
          <a:solidFill>
            <a:schemeClr val="bg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61" name="Oval 138">
            <a:extLst>
              <a:ext uri="{FF2B5EF4-FFF2-40B4-BE49-F238E27FC236}">
                <a16:creationId xmlns:a16="http://schemas.microsoft.com/office/drawing/2014/main" id="{529874F0-4897-4D80-97E9-E5453C349F4E}"/>
              </a:ext>
            </a:extLst>
          </p:cNvPr>
          <p:cNvSpPr/>
          <p:nvPr/>
        </p:nvSpPr>
        <p:spPr>
          <a:xfrm>
            <a:off x="9871614" y="1802075"/>
            <a:ext cx="181810" cy="181810"/>
          </a:xfrm>
          <a:prstGeom prst="ellipse">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83103705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2"/>
            </p:custDataLst>
            <p:extLst>
              <p:ext uri="{D42A27DB-BD31-4B8C-83A1-F6EECF244321}">
                <p14:modId xmlns:p14="http://schemas.microsoft.com/office/powerpoint/2010/main" val="2975743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6205" name="think-cell Slide" r:id="rId5" imgW="415" imgH="416" progId="TCLayout.ActiveDocument.1">
                  <p:embed/>
                </p:oleObj>
              </mc:Choice>
              <mc:Fallback>
                <p:oleObj name="think-cell Slide" r:id="rId5"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76" name="Table 2">
            <a:extLst>
              <a:ext uri="{FF2B5EF4-FFF2-40B4-BE49-F238E27FC236}">
                <a16:creationId xmlns:a16="http://schemas.microsoft.com/office/drawing/2014/main" id="{B9DEEF8B-6776-4605-8F46-8A0C4CE0608D}"/>
              </a:ext>
            </a:extLst>
          </p:cNvPr>
          <p:cNvGraphicFramePr>
            <a:graphicFrameLocks noGrp="1"/>
          </p:cNvGraphicFramePr>
          <p:nvPr>
            <p:extLst>
              <p:ext uri="{D42A27DB-BD31-4B8C-83A1-F6EECF244321}">
                <p14:modId xmlns:p14="http://schemas.microsoft.com/office/powerpoint/2010/main" val="3481184539"/>
              </p:ext>
            </p:extLst>
          </p:nvPr>
        </p:nvGraphicFramePr>
        <p:xfrm>
          <a:off x="527475" y="1572505"/>
          <a:ext cx="10176468" cy="3794983"/>
        </p:xfrm>
        <a:graphic>
          <a:graphicData uri="http://schemas.openxmlformats.org/drawingml/2006/table">
            <a:tbl>
              <a:tblPr firstRow="1" bandRow="1">
                <a:tableStyleId>{5C22544A-7EE6-4342-B048-85BDC9FD1C3A}</a:tableStyleId>
              </a:tblPr>
              <a:tblGrid>
                <a:gridCol w="848039">
                  <a:extLst>
                    <a:ext uri="{9D8B030D-6E8A-4147-A177-3AD203B41FA5}">
                      <a16:colId xmlns:a16="http://schemas.microsoft.com/office/drawing/2014/main" val="3241517674"/>
                    </a:ext>
                  </a:extLst>
                </a:gridCol>
                <a:gridCol w="848039">
                  <a:extLst>
                    <a:ext uri="{9D8B030D-6E8A-4147-A177-3AD203B41FA5}">
                      <a16:colId xmlns:a16="http://schemas.microsoft.com/office/drawing/2014/main" val="552473200"/>
                    </a:ext>
                  </a:extLst>
                </a:gridCol>
                <a:gridCol w="848039">
                  <a:extLst>
                    <a:ext uri="{9D8B030D-6E8A-4147-A177-3AD203B41FA5}">
                      <a16:colId xmlns:a16="http://schemas.microsoft.com/office/drawing/2014/main" val="1952485393"/>
                    </a:ext>
                  </a:extLst>
                </a:gridCol>
                <a:gridCol w="848039">
                  <a:extLst>
                    <a:ext uri="{9D8B030D-6E8A-4147-A177-3AD203B41FA5}">
                      <a16:colId xmlns:a16="http://schemas.microsoft.com/office/drawing/2014/main" val="3954388259"/>
                    </a:ext>
                  </a:extLst>
                </a:gridCol>
                <a:gridCol w="848039">
                  <a:extLst>
                    <a:ext uri="{9D8B030D-6E8A-4147-A177-3AD203B41FA5}">
                      <a16:colId xmlns:a16="http://schemas.microsoft.com/office/drawing/2014/main" val="2142205354"/>
                    </a:ext>
                  </a:extLst>
                </a:gridCol>
                <a:gridCol w="848039">
                  <a:extLst>
                    <a:ext uri="{9D8B030D-6E8A-4147-A177-3AD203B41FA5}">
                      <a16:colId xmlns:a16="http://schemas.microsoft.com/office/drawing/2014/main" val="2192918636"/>
                    </a:ext>
                  </a:extLst>
                </a:gridCol>
                <a:gridCol w="848039">
                  <a:extLst>
                    <a:ext uri="{9D8B030D-6E8A-4147-A177-3AD203B41FA5}">
                      <a16:colId xmlns:a16="http://schemas.microsoft.com/office/drawing/2014/main" val="2767969696"/>
                    </a:ext>
                  </a:extLst>
                </a:gridCol>
                <a:gridCol w="848039">
                  <a:extLst>
                    <a:ext uri="{9D8B030D-6E8A-4147-A177-3AD203B41FA5}">
                      <a16:colId xmlns:a16="http://schemas.microsoft.com/office/drawing/2014/main" val="3229543947"/>
                    </a:ext>
                  </a:extLst>
                </a:gridCol>
                <a:gridCol w="848039">
                  <a:extLst>
                    <a:ext uri="{9D8B030D-6E8A-4147-A177-3AD203B41FA5}">
                      <a16:colId xmlns:a16="http://schemas.microsoft.com/office/drawing/2014/main" val="272983048"/>
                    </a:ext>
                  </a:extLst>
                </a:gridCol>
                <a:gridCol w="848039">
                  <a:extLst>
                    <a:ext uri="{9D8B030D-6E8A-4147-A177-3AD203B41FA5}">
                      <a16:colId xmlns:a16="http://schemas.microsoft.com/office/drawing/2014/main" val="3997608768"/>
                    </a:ext>
                  </a:extLst>
                </a:gridCol>
                <a:gridCol w="848039">
                  <a:extLst>
                    <a:ext uri="{9D8B030D-6E8A-4147-A177-3AD203B41FA5}">
                      <a16:colId xmlns:a16="http://schemas.microsoft.com/office/drawing/2014/main" val="378629983"/>
                    </a:ext>
                  </a:extLst>
                </a:gridCol>
                <a:gridCol w="848039">
                  <a:extLst>
                    <a:ext uri="{9D8B030D-6E8A-4147-A177-3AD203B41FA5}">
                      <a16:colId xmlns:a16="http://schemas.microsoft.com/office/drawing/2014/main" val="2381139699"/>
                    </a:ext>
                  </a:extLst>
                </a:gridCol>
              </a:tblGrid>
              <a:tr h="0">
                <a:tc>
                  <a:txBody>
                    <a:bodyPr/>
                    <a:lstStyle/>
                    <a:p>
                      <a:pPr algn="ctr"/>
                      <a:r>
                        <a:rPr lang="en-US" sz="900">
                          <a:solidFill>
                            <a:schemeClr val="tx1"/>
                          </a:solidFill>
                        </a:rPr>
                        <a:t>Week 1</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Calibri"/>
                          <a:ea typeface="+mn-ea"/>
                          <a:cs typeface="+mn-cs"/>
                        </a:rPr>
                        <a:t>Week 2</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Calibri"/>
                          <a:ea typeface="+mn-ea"/>
                          <a:cs typeface="+mn-cs"/>
                        </a:rPr>
                        <a:t>Week 3</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4</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5</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DDEFE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6</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DDEFE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7</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DDEFE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8</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DDEFE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9</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10</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11</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a:ea typeface="+mn-ea"/>
                          <a:cs typeface="+mn-cs"/>
                        </a:rPr>
                        <a:t>Week 12</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8F6CF"/>
                    </a:solidFill>
                  </a:tcPr>
                </a:tc>
                <a:extLst>
                  <a:ext uri="{0D108BD9-81ED-4DB2-BD59-A6C34878D82A}">
                    <a16:rowId xmlns:a16="http://schemas.microsoft.com/office/drawing/2014/main" val="1919599950"/>
                  </a:ext>
                </a:extLst>
              </a:tr>
              <a:tr h="3566383">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54437272"/>
                  </a:ext>
                </a:extLst>
              </a:tr>
            </a:tbl>
          </a:graphicData>
        </a:graphic>
      </p:graphicFrame>
      <p:cxnSp>
        <p:nvCxnSpPr>
          <p:cNvPr id="30" name="Straight Arrow Connector 29"/>
          <p:cNvCxnSpPr>
            <a:cxnSpLocks/>
            <a:endCxn id="95" idx="2"/>
          </p:cNvCxnSpPr>
          <p:nvPr/>
        </p:nvCxnSpPr>
        <p:spPr>
          <a:xfrm>
            <a:off x="514664" y="2496885"/>
            <a:ext cx="790443" cy="80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82" name="Straight Connector 181">
            <a:extLst>
              <a:ext uri="{FF2B5EF4-FFF2-40B4-BE49-F238E27FC236}">
                <a16:creationId xmlns:a16="http://schemas.microsoft.com/office/drawing/2014/main" id="{26D15A83-1758-4735-A264-675628974237}"/>
              </a:ext>
            </a:extLst>
          </p:cNvPr>
          <p:cNvCxnSpPr>
            <a:cxnSpLocks/>
          </p:cNvCxnSpPr>
          <p:nvPr/>
        </p:nvCxnSpPr>
        <p:spPr>
          <a:xfrm>
            <a:off x="7308561" y="1572505"/>
            <a:ext cx="7158" cy="22353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D42F9D8-3060-4E27-AE68-4D80DCA2846F}"/>
              </a:ext>
            </a:extLst>
          </p:cNvPr>
          <p:cNvCxnSpPr>
            <a:cxnSpLocks/>
          </p:cNvCxnSpPr>
          <p:nvPr/>
        </p:nvCxnSpPr>
        <p:spPr>
          <a:xfrm flipH="1">
            <a:off x="3912028" y="1748133"/>
            <a:ext cx="2884" cy="15409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5"/>
          <p:cNvSpPr>
            <a:spLocks noGrp="1"/>
          </p:cNvSpPr>
          <p:nvPr>
            <p:ph type="title"/>
          </p:nvPr>
        </p:nvSpPr>
        <p:spPr/>
        <p:txBody>
          <a:bodyPr vert="horz"/>
          <a:lstStyle/>
          <a:p>
            <a:r>
              <a:rPr lang="en-US" sz="2176" b="1" dirty="0">
                <a:latin typeface="+mn-lt"/>
              </a:rPr>
              <a:t>Phase 1 Work Plan (Week 01 – Week 12)</a:t>
            </a:r>
            <a:endParaRPr lang="en-GB" sz="2176" b="1" dirty="0">
              <a:latin typeface="+mn-lt"/>
            </a:endParaRPr>
          </a:p>
        </p:txBody>
      </p:sp>
      <p:cxnSp>
        <p:nvCxnSpPr>
          <p:cNvPr id="29" name="Straight Arrow Connector 28"/>
          <p:cNvCxnSpPr/>
          <p:nvPr/>
        </p:nvCxnSpPr>
        <p:spPr>
          <a:xfrm>
            <a:off x="589735" y="1447008"/>
            <a:ext cx="20160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4852837" y="5280966"/>
            <a:ext cx="2415659" cy="161583"/>
          </a:xfrm>
          <a:prstGeom prst="rect">
            <a:avLst/>
          </a:prstGeom>
          <a:solidFill>
            <a:srgbClr val="86BC25">
              <a:lumMod val="20000"/>
              <a:lumOff val="80000"/>
            </a:srgb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050" b="1" i="1" u="none" strike="noStrike" kern="0" cap="none" spc="0" normalizeH="0" baseline="0" noProof="0">
                <a:ln>
                  <a:noFill/>
                </a:ln>
                <a:solidFill>
                  <a:srgbClr val="313131"/>
                </a:solidFill>
                <a:effectLst/>
                <a:uLnTx/>
                <a:uFillTx/>
                <a:latin typeface="Calibri"/>
                <a:ea typeface="+mn-ea"/>
                <a:cs typeface="+mn-cs"/>
              </a:rPr>
              <a:t>Update Calls / Discussion Meetings</a:t>
            </a:r>
            <a:endParaRPr kumimoji="0" lang="en-IN" sz="1050" b="1" i="1" u="none" strike="noStrike" kern="0" cap="none" spc="0" normalizeH="0" baseline="0" noProof="0">
              <a:ln>
                <a:noFill/>
              </a:ln>
              <a:solidFill>
                <a:srgbClr val="313131"/>
              </a:solidFill>
              <a:effectLst/>
              <a:uLnTx/>
              <a:uFillTx/>
              <a:latin typeface="Arial" panose="020B0604020202020204" pitchFamily="34" charset="0"/>
              <a:ea typeface="+mn-ea"/>
              <a:cs typeface="Arial" panose="020B0604020202020204" pitchFamily="34" charset="0"/>
            </a:endParaRPr>
          </a:p>
        </p:txBody>
      </p:sp>
      <p:sp>
        <p:nvSpPr>
          <p:cNvPr id="32" name="TextBox 31"/>
          <p:cNvSpPr txBox="1"/>
          <p:nvPr/>
        </p:nvSpPr>
        <p:spPr>
          <a:xfrm>
            <a:off x="542267" y="1377759"/>
            <a:ext cx="900000" cy="138499"/>
          </a:xfrm>
          <a:prstGeom prst="rect">
            <a:avLst/>
          </a:prstGeom>
          <a:solidFill>
            <a:srgbClr val="86BC25">
              <a:lumMod val="20000"/>
              <a:lumOff val="80000"/>
            </a:srgb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1" i="1" u="none" strike="noStrike" kern="0" cap="none" spc="0" normalizeH="0" baseline="0" noProof="0">
                <a:ln>
                  <a:noFill/>
                </a:ln>
                <a:solidFill>
                  <a:srgbClr val="313131"/>
                </a:solidFill>
                <a:effectLst/>
                <a:uLnTx/>
                <a:uFillTx/>
                <a:latin typeface="Arial" panose="020B0604020202020204" pitchFamily="34" charset="0"/>
                <a:ea typeface="+mn-ea"/>
                <a:cs typeface="Arial" panose="020B0604020202020204" pitchFamily="34" charset="0"/>
              </a:rPr>
              <a:t>Weeks</a:t>
            </a:r>
            <a:endParaRPr kumimoji="0" lang="en-IN" sz="900" b="1" i="1" u="none" strike="noStrike" kern="0" cap="none" spc="0" normalizeH="0" baseline="0" noProof="0">
              <a:ln>
                <a:noFill/>
              </a:ln>
              <a:solidFill>
                <a:srgbClr val="313131"/>
              </a:solidFill>
              <a:effectLst/>
              <a:uLnTx/>
              <a:uFillTx/>
              <a:latin typeface="Arial" panose="020B0604020202020204" pitchFamily="34" charset="0"/>
              <a:ea typeface="+mn-ea"/>
              <a:cs typeface="Arial" panose="020B0604020202020204" pitchFamily="34" charset="0"/>
            </a:endParaRPr>
          </a:p>
        </p:txBody>
      </p:sp>
      <p:cxnSp>
        <p:nvCxnSpPr>
          <p:cNvPr id="33" name="Straight Connector 32"/>
          <p:cNvCxnSpPr/>
          <p:nvPr/>
        </p:nvCxnSpPr>
        <p:spPr>
          <a:xfrm flipH="1">
            <a:off x="530232" y="1307629"/>
            <a:ext cx="1948" cy="37490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bwMode="gray">
          <a:xfrm>
            <a:off x="274102" y="5501953"/>
            <a:ext cx="10422633" cy="865724"/>
          </a:xfrm>
          <a:prstGeom prst="rect">
            <a:avLst/>
          </a:prstGeom>
          <a:noFill/>
          <a:ln w="3175" algn="ctr">
            <a:solidFill>
              <a:srgbClr val="0097A9"/>
            </a:solidFill>
            <a:miter lim="800000"/>
            <a:headEnd/>
            <a:tailEnd/>
          </a:ln>
        </p:spPr>
        <p:txBody>
          <a:bodyPr wrap="square" lIns="88900" tIns="88900" rIns="88900" bIns="88900" rtlCol="0" anchor="ctr"/>
          <a:lstStyle/>
          <a:p>
            <a:pPr marL="0" marR="0" lvl="0" indent="0" algn="ctr" defTabSz="914400" rtl="0" eaLnBrk="0" fontAlgn="base" latinLnBrk="0" hangingPunct="0">
              <a:lnSpc>
                <a:spcPct val="106000"/>
              </a:lnSpc>
              <a:spcBef>
                <a:spcPct val="0"/>
              </a:spcBef>
              <a:spcAft>
                <a:spcPct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5" name="TextBox 34"/>
          <p:cNvSpPr txBox="1"/>
          <p:nvPr/>
        </p:nvSpPr>
        <p:spPr>
          <a:xfrm>
            <a:off x="854770" y="1903412"/>
            <a:ext cx="544522" cy="246221"/>
          </a:xfrm>
          <a:prstGeom prst="rect">
            <a:avLst/>
          </a:prstGeom>
          <a:solidFill>
            <a:schemeClr val="bg1"/>
          </a:solid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Kick off Meeting</a:t>
            </a:r>
            <a:endParaRPr kumimoji="0" lang="en-IN"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36" name="Straight Connector 35"/>
          <p:cNvCxnSpPr/>
          <p:nvPr/>
        </p:nvCxnSpPr>
        <p:spPr>
          <a:xfrm>
            <a:off x="686924" y="1582721"/>
            <a:ext cx="0" cy="39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548010" y="2203812"/>
            <a:ext cx="831443" cy="24622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Stakeholder Interactions</a:t>
            </a:r>
            <a:endParaRPr kumimoji="0" lang="en-IN"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70" name="Straight Arrow Connector 69"/>
          <p:cNvCxnSpPr>
            <a:cxnSpLocks/>
          </p:cNvCxnSpPr>
          <p:nvPr/>
        </p:nvCxnSpPr>
        <p:spPr>
          <a:xfrm>
            <a:off x="532180" y="5188870"/>
            <a:ext cx="10157316"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2" name="Flowchart: Decision 71"/>
          <p:cNvSpPr/>
          <p:nvPr/>
        </p:nvSpPr>
        <p:spPr bwMode="gray">
          <a:xfrm rot="5400000">
            <a:off x="2356331" y="5115790"/>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Flowchart: Decision 72"/>
          <p:cNvSpPr/>
          <p:nvPr/>
        </p:nvSpPr>
        <p:spPr bwMode="gray">
          <a:xfrm rot="5400000">
            <a:off x="6298893" y="5120056"/>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4" name="Flowchart: Decision 73"/>
          <p:cNvSpPr/>
          <p:nvPr/>
        </p:nvSpPr>
        <p:spPr bwMode="gray">
          <a:xfrm rot="5400000">
            <a:off x="4277357" y="5120056"/>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5" name="Flowchart: Decision 74"/>
          <p:cNvSpPr/>
          <p:nvPr/>
        </p:nvSpPr>
        <p:spPr bwMode="gray">
          <a:xfrm rot="5400000">
            <a:off x="8095438" y="5126040"/>
            <a:ext cx="137160" cy="137160"/>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aphicFrame>
        <p:nvGraphicFramePr>
          <p:cNvPr id="80" name="Table 79"/>
          <p:cNvGraphicFramePr>
            <a:graphicFrameLocks noGrp="1"/>
          </p:cNvGraphicFramePr>
          <p:nvPr/>
        </p:nvGraphicFramePr>
        <p:xfrm>
          <a:off x="443015" y="5649253"/>
          <a:ext cx="1978361" cy="639368"/>
        </p:xfrm>
        <a:graphic>
          <a:graphicData uri="http://schemas.openxmlformats.org/drawingml/2006/table">
            <a:tbl>
              <a:tblPr firstRow="1" bandRow="1">
                <a:tableStyleId>{0E3FDE45-AF77-4B5C-9715-49D594BDF05E}</a:tableStyleId>
              </a:tblPr>
              <a:tblGrid>
                <a:gridCol w="306727">
                  <a:extLst>
                    <a:ext uri="{9D8B030D-6E8A-4147-A177-3AD203B41FA5}">
                      <a16:colId xmlns:a16="http://schemas.microsoft.com/office/drawing/2014/main" val="1412291399"/>
                    </a:ext>
                  </a:extLst>
                </a:gridCol>
                <a:gridCol w="1671634">
                  <a:extLst>
                    <a:ext uri="{9D8B030D-6E8A-4147-A177-3AD203B41FA5}">
                      <a16:colId xmlns:a16="http://schemas.microsoft.com/office/drawing/2014/main" val="2927740918"/>
                    </a:ext>
                  </a:extLst>
                </a:gridCol>
              </a:tblGrid>
              <a:tr h="282983">
                <a:tc>
                  <a:txBody>
                    <a:bodyPr/>
                    <a:lstStyle/>
                    <a:p>
                      <a:endParaRPr lang="en-US" sz="1000"/>
                    </a:p>
                  </a:txBody>
                  <a:tcPr/>
                </a:tc>
                <a:tc>
                  <a:txBody>
                    <a:bodyPr/>
                    <a:lstStyle/>
                    <a:p>
                      <a:r>
                        <a:rPr lang="en-US" sz="1000"/>
                        <a:t>Deliverable</a:t>
                      </a:r>
                    </a:p>
                  </a:txBody>
                  <a:tcPr/>
                </a:tc>
                <a:extLst>
                  <a:ext uri="{0D108BD9-81ED-4DB2-BD59-A6C34878D82A}">
                    <a16:rowId xmlns:a16="http://schemas.microsoft.com/office/drawing/2014/main" val="1854898771"/>
                  </a:ext>
                </a:extLst>
              </a:tr>
              <a:tr h="356385">
                <a:tc gridSpan="2">
                  <a:txBody>
                    <a:bodyPr/>
                    <a:lstStyle/>
                    <a:p>
                      <a:r>
                        <a:rPr lang="en-US" sz="1000"/>
                        <a:t>Shared</a:t>
                      </a:r>
                      <a:r>
                        <a:rPr lang="en-US" sz="1000" baseline="0"/>
                        <a:t> to all within DPL</a:t>
                      </a:r>
                      <a:endParaRPr lang="en-US" sz="1000"/>
                    </a:p>
                  </a:txBody>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graphicFrame>
        <p:nvGraphicFramePr>
          <p:cNvPr id="81" name="Table 80"/>
          <p:cNvGraphicFramePr>
            <a:graphicFrameLocks noGrp="1"/>
          </p:cNvGraphicFramePr>
          <p:nvPr>
            <p:extLst>
              <p:ext uri="{D42A27DB-BD31-4B8C-83A1-F6EECF244321}">
                <p14:modId xmlns:p14="http://schemas.microsoft.com/office/powerpoint/2010/main" val="4184182583"/>
              </p:ext>
            </p:extLst>
          </p:nvPr>
        </p:nvGraphicFramePr>
        <p:xfrm>
          <a:off x="2541761" y="5652883"/>
          <a:ext cx="2929770" cy="640080"/>
        </p:xfrm>
        <a:graphic>
          <a:graphicData uri="http://schemas.openxmlformats.org/drawingml/2006/table">
            <a:tbl>
              <a:tblPr firstRow="1" bandRow="1">
                <a:tableStyleId>{0E3FDE45-AF77-4B5C-9715-49D594BDF05E}</a:tableStyleId>
              </a:tblPr>
              <a:tblGrid>
                <a:gridCol w="422099">
                  <a:extLst>
                    <a:ext uri="{9D8B030D-6E8A-4147-A177-3AD203B41FA5}">
                      <a16:colId xmlns:a16="http://schemas.microsoft.com/office/drawing/2014/main" val="1412291399"/>
                    </a:ext>
                  </a:extLst>
                </a:gridCol>
                <a:gridCol w="2507671">
                  <a:extLst>
                    <a:ext uri="{9D8B030D-6E8A-4147-A177-3AD203B41FA5}">
                      <a16:colId xmlns:a16="http://schemas.microsoft.com/office/drawing/2014/main" val="2927740918"/>
                    </a:ext>
                  </a:extLst>
                </a:gridCol>
              </a:tblGrid>
              <a:tr h="227742">
                <a:tc>
                  <a:txBody>
                    <a:bodyPr/>
                    <a:lstStyle/>
                    <a:p>
                      <a:endParaRPr lang="en-US" sz="1000"/>
                    </a:p>
                  </a:txBody>
                  <a:tcPr/>
                </a:tc>
                <a:tc>
                  <a:txBody>
                    <a:bodyPr/>
                    <a:lstStyle/>
                    <a:p>
                      <a:r>
                        <a:rPr lang="en-US" sz="1000"/>
                        <a:t>Stakeholder Meeting (one-on-one)</a:t>
                      </a:r>
                    </a:p>
                  </a:txBody>
                  <a:tcPr/>
                </a:tc>
                <a:extLst>
                  <a:ext uri="{0D108BD9-81ED-4DB2-BD59-A6C34878D82A}">
                    <a16:rowId xmlns:a16="http://schemas.microsoft.com/office/drawing/2014/main" val="1854898771"/>
                  </a:ext>
                </a:extLst>
              </a:tr>
              <a:tr h="227742">
                <a:tc gridSpan="2">
                  <a:txBody>
                    <a:bodyPr/>
                    <a:lstStyle/>
                    <a:p>
                      <a:r>
                        <a:rPr lang="en-US" sz="1000" dirty="0"/>
                        <a:t>Attendees:  Concerned</a:t>
                      </a:r>
                      <a:r>
                        <a:rPr lang="en-US" sz="1000" baseline="0" dirty="0"/>
                        <a:t> department teams, </a:t>
                      </a:r>
                      <a:r>
                        <a:rPr lang="en-US" sz="1000" dirty="0"/>
                        <a:t>HODs, Nodal Team</a:t>
                      </a:r>
                    </a:p>
                  </a:txBody>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graphicFrame>
        <p:nvGraphicFramePr>
          <p:cNvPr id="82" name="Table 81"/>
          <p:cNvGraphicFramePr>
            <a:graphicFrameLocks noGrp="1"/>
          </p:cNvGraphicFramePr>
          <p:nvPr>
            <p:extLst>
              <p:ext uri="{D42A27DB-BD31-4B8C-83A1-F6EECF244321}">
                <p14:modId xmlns:p14="http://schemas.microsoft.com/office/powerpoint/2010/main" val="4071268153"/>
              </p:ext>
            </p:extLst>
          </p:nvPr>
        </p:nvGraphicFramePr>
        <p:xfrm>
          <a:off x="5591915" y="5652102"/>
          <a:ext cx="2544703" cy="640080"/>
        </p:xfrm>
        <a:graphic>
          <a:graphicData uri="http://schemas.openxmlformats.org/drawingml/2006/table">
            <a:tbl>
              <a:tblPr firstRow="1" bandRow="1">
                <a:tableStyleId>{0E3FDE45-AF77-4B5C-9715-49D594BDF05E}</a:tableStyleId>
              </a:tblPr>
              <a:tblGrid>
                <a:gridCol w="366621">
                  <a:extLst>
                    <a:ext uri="{9D8B030D-6E8A-4147-A177-3AD203B41FA5}">
                      <a16:colId xmlns:a16="http://schemas.microsoft.com/office/drawing/2014/main" val="1412291399"/>
                    </a:ext>
                  </a:extLst>
                </a:gridCol>
                <a:gridCol w="2178082">
                  <a:extLst>
                    <a:ext uri="{9D8B030D-6E8A-4147-A177-3AD203B41FA5}">
                      <a16:colId xmlns:a16="http://schemas.microsoft.com/office/drawing/2014/main" val="2927740918"/>
                    </a:ext>
                  </a:extLst>
                </a:gridCol>
              </a:tblGrid>
              <a:tr h="227742">
                <a:tc>
                  <a:txBody>
                    <a:bodyPr/>
                    <a:lstStyle/>
                    <a:p>
                      <a:endParaRPr lang="en-US" sz="1000"/>
                    </a:p>
                  </a:txBody>
                  <a:tcPr/>
                </a:tc>
                <a:tc>
                  <a:txBody>
                    <a:bodyPr/>
                    <a:lstStyle/>
                    <a:p>
                      <a:r>
                        <a:rPr lang="en-US" sz="1000"/>
                        <a:t>Workshop</a:t>
                      </a:r>
                    </a:p>
                  </a:txBody>
                  <a:tcPr/>
                </a:tc>
                <a:extLst>
                  <a:ext uri="{0D108BD9-81ED-4DB2-BD59-A6C34878D82A}">
                    <a16:rowId xmlns:a16="http://schemas.microsoft.com/office/drawing/2014/main" val="1854898771"/>
                  </a:ext>
                </a:extLst>
              </a:tr>
              <a:tr h="227742">
                <a:tc gridSpan="2">
                  <a:txBody>
                    <a:bodyPr/>
                    <a:lstStyle/>
                    <a:p>
                      <a:r>
                        <a:rPr lang="en-US" sz="1000" dirty="0"/>
                        <a:t>Attendees: DPL Leadership, project personnel,</a:t>
                      </a:r>
                      <a:r>
                        <a:rPr lang="en-US" sz="1000" baseline="0" dirty="0"/>
                        <a:t> Project Core team</a:t>
                      </a:r>
                      <a:endParaRPr lang="en-US" sz="1000" dirty="0"/>
                    </a:p>
                  </a:txBody>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graphicFrame>
        <p:nvGraphicFramePr>
          <p:cNvPr id="83" name="Table 82"/>
          <p:cNvGraphicFramePr>
            <a:graphicFrameLocks noGrp="1"/>
          </p:cNvGraphicFramePr>
          <p:nvPr/>
        </p:nvGraphicFramePr>
        <p:xfrm>
          <a:off x="8257002" y="5652102"/>
          <a:ext cx="2377449" cy="640080"/>
        </p:xfrm>
        <a:graphic>
          <a:graphicData uri="http://schemas.openxmlformats.org/drawingml/2006/table">
            <a:tbl>
              <a:tblPr firstRow="1" bandRow="1">
                <a:tableStyleId>{0E3FDE45-AF77-4B5C-9715-49D594BDF05E}</a:tableStyleId>
              </a:tblPr>
              <a:tblGrid>
                <a:gridCol w="342525">
                  <a:extLst>
                    <a:ext uri="{9D8B030D-6E8A-4147-A177-3AD203B41FA5}">
                      <a16:colId xmlns:a16="http://schemas.microsoft.com/office/drawing/2014/main" val="1412291399"/>
                    </a:ext>
                  </a:extLst>
                </a:gridCol>
                <a:gridCol w="2034924">
                  <a:extLst>
                    <a:ext uri="{9D8B030D-6E8A-4147-A177-3AD203B41FA5}">
                      <a16:colId xmlns:a16="http://schemas.microsoft.com/office/drawing/2014/main" val="2927740918"/>
                    </a:ext>
                  </a:extLst>
                </a:gridCol>
              </a:tblGrid>
              <a:tr h="227742">
                <a:tc>
                  <a:txBody>
                    <a:bodyPr/>
                    <a:lstStyle/>
                    <a:p>
                      <a:endParaRPr lang="en-US" sz="1000"/>
                    </a:p>
                  </a:txBody>
                  <a:tcPr/>
                </a:tc>
                <a:tc>
                  <a:txBody>
                    <a:bodyPr/>
                    <a:lstStyle/>
                    <a:p>
                      <a:r>
                        <a:rPr lang="en-US" sz="1000"/>
                        <a:t>Working Team Meetings</a:t>
                      </a:r>
                    </a:p>
                  </a:txBody>
                  <a:tcPr/>
                </a:tc>
                <a:extLst>
                  <a:ext uri="{0D108BD9-81ED-4DB2-BD59-A6C34878D82A}">
                    <a16:rowId xmlns:a16="http://schemas.microsoft.com/office/drawing/2014/main" val="1854898771"/>
                  </a:ext>
                </a:extLst>
              </a:tr>
              <a:tr h="227742">
                <a:tc gridSpan="2">
                  <a:txBody>
                    <a:bodyPr/>
                    <a:lstStyle/>
                    <a:p>
                      <a:r>
                        <a:rPr lang="en-US" sz="1000"/>
                        <a:t>Attendees: DPL project</a:t>
                      </a:r>
                      <a:r>
                        <a:rPr lang="en-US" sz="1000" baseline="0"/>
                        <a:t> personnel, Deloitte Team, Project Leadership</a:t>
                      </a:r>
                      <a:endParaRPr lang="en-US" sz="1000"/>
                    </a:p>
                  </a:txBody>
                  <a:tcPr/>
                </a:tc>
                <a:tc hMerge="1">
                  <a:txBody>
                    <a:bodyPr/>
                    <a:lstStyle/>
                    <a:p>
                      <a:endParaRPr lang="en-US" sz="800"/>
                    </a:p>
                  </a:txBody>
                  <a:tcPr/>
                </a:tc>
                <a:extLst>
                  <a:ext uri="{0D108BD9-81ED-4DB2-BD59-A6C34878D82A}">
                    <a16:rowId xmlns:a16="http://schemas.microsoft.com/office/drawing/2014/main" val="2616548257"/>
                  </a:ext>
                </a:extLst>
              </a:tr>
            </a:tbl>
          </a:graphicData>
        </a:graphic>
      </p:graphicFrame>
      <p:sp>
        <p:nvSpPr>
          <p:cNvPr id="84" name="Flowchart: Decision 83"/>
          <p:cNvSpPr/>
          <p:nvPr/>
        </p:nvSpPr>
        <p:spPr bwMode="gray">
          <a:xfrm rot="5400000">
            <a:off x="443016" y="5665956"/>
            <a:ext cx="164592" cy="164592"/>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6" name="Flowchart: Decision 85"/>
          <p:cNvSpPr/>
          <p:nvPr/>
        </p:nvSpPr>
        <p:spPr bwMode="gray">
          <a:xfrm rot="5400000">
            <a:off x="2737570" y="5673660"/>
            <a:ext cx="164592" cy="164592"/>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7" name="Flowchart: Decision 86"/>
          <p:cNvSpPr/>
          <p:nvPr/>
        </p:nvSpPr>
        <p:spPr bwMode="gray">
          <a:xfrm rot="5400000">
            <a:off x="8445213" y="5694843"/>
            <a:ext cx="164592" cy="164592"/>
          </a:xfrm>
          <a:prstGeom prst="flowChartDecision">
            <a:avLst/>
          </a:prstGeom>
          <a:solidFill>
            <a:srgbClr val="7030A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9" name="TextBox 88"/>
          <p:cNvSpPr txBox="1"/>
          <p:nvPr/>
        </p:nvSpPr>
        <p:spPr>
          <a:xfrm>
            <a:off x="6276331" y="3790526"/>
            <a:ext cx="1032230" cy="12311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Presentation</a:t>
            </a:r>
            <a:endParaRPr kumimoji="0" lang="en-IN" sz="800" b="0" i="0" u="none" strike="noStrike" kern="0" cap="none" spc="0" normalizeH="0" baseline="0" noProof="0" dirty="0">
              <a:ln>
                <a:noFill/>
              </a:ln>
              <a:solidFill>
                <a:prstClr val="white">
                  <a:lumMod val="50000"/>
                </a:prst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91" name="Freeform 818"/>
          <p:cNvSpPr>
            <a:spLocks noEditPoints="1"/>
          </p:cNvSpPr>
          <p:nvPr/>
        </p:nvSpPr>
        <p:spPr bwMode="auto">
          <a:xfrm>
            <a:off x="5744048" y="5665956"/>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521" b="0" i="0" u="none" strike="noStrike" kern="1200" cap="none" spc="0" normalizeH="0" baseline="0" noProof="0">
              <a:ln>
                <a:noFill/>
              </a:ln>
              <a:solidFill>
                <a:prstClr val="black"/>
              </a:solidFill>
              <a:effectLst/>
              <a:uLnTx/>
              <a:uFillTx/>
              <a:latin typeface="Calibri"/>
              <a:ea typeface="+mn-ea"/>
              <a:cs typeface="+mn-cs"/>
            </a:endParaRPr>
          </a:p>
        </p:txBody>
      </p:sp>
      <p:sp>
        <p:nvSpPr>
          <p:cNvPr id="92" name="Freeform 818"/>
          <p:cNvSpPr>
            <a:spLocks noEditPoints="1"/>
          </p:cNvSpPr>
          <p:nvPr/>
        </p:nvSpPr>
        <p:spPr bwMode="auto">
          <a:xfrm>
            <a:off x="597259" y="1922289"/>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5" name="Flowchart: Decision 94"/>
          <p:cNvSpPr/>
          <p:nvPr/>
        </p:nvSpPr>
        <p:spPr bwMode="gray">
          <a:xfrm rot="5400000">
            <a:off x="1305107" y="2429293"/>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97" name="Straight Arrow Connector 96"/>
          <p:cNvCxnSpPr>
            <a:cxnSpLocks/>
            <a:endCxn id="127" idx="2"/>
          </p:cNvCxnSpPr>
          <p:nvPr/>
        </p:nvCxnSpPr>
        <p:spPr>
          <a:xfrm>
            <a:off x="7308561" y="4133216"/>
            <a:ext cx="333405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2" name="Rectangle 111"/>
          <p:cNvSpPr/>
          <p:nvPr/>
        </p:nvSpPr>
        <p:spPr>
          <a:xfrm>
            <a:off x="1383386" y="1096656"/>
            <a:ext cx="2503521" cy="224856"/>
          </a:xfrm>
          <a:prstGeom prst="rect">
            <a:avLst/>
          </a:prstGeom>
          <a:solidFill>
            <a:schemeClr val="accent3"/>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baseline="0" noProof="0">
                <a:ln>
                  <a:noFill/>
                </a:ln>
                <a:solidFill>
                  <a:prstClr val="white"/>
                </a:solidFill>
                <a:effectLst/>
                <a:uLnTx/>
                <a:uFillTx/>
                <a:latin typeface="Calibri"/>
                <a:ea typeface="+mn-ea"/>
                <a:cs typeface="Arial" pitchFamily="34" charset="0"/>
              </a:rPr>
              <a:t>AS – IS Assessment</a:t>
            </a:r>
          </a:p>
        </p:txBody>
      </p:sp>
      <p:sp>
        <p:nvSpPr>
          <p:cNvPr id="113" name="Rectangle 112"/>
          <p:cNvSpPr/>
          <p:nvPr/>
        </p:nvSpPr>
        <p:spPr>
          <a:xfrm>
            <a:off x="517993" y="1095799"/>
            <a:ext cx="822960" cy="228600"/>
          </a:xfrm>
          <a:prstGeom prst="rect">
            <a:avLst/>
          </a:prstGeom>
          <a:solidFill>
            <a:schemeClr val="accent3"/>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baseline="0" noProof="0" dirty="0">
                <a:ln>
                  <a:noFill/>
                </a:ln>
                <a:solidFill>
                  <a:prstClr val="white"/>
                </a:solidFill>
                <a:effectLst/>
                <a:uLnTx/>
                <a:uFillTx/>
                <a:latin typeface="Calibri"/>
                <a:ea typeface="+mn-ea"/>
                <a:cs typeface="Arial" pitchFamily="34" charset="0"/>
              </a:rPr>
              <a:t>Initiation</a:t>
            </a:r>
          </a:p>
        </p:txBody>
      </p:sp>
      <p:sp>
        <p:nvSpPr>
          <p:cNvPr id="96" name="TextBox 95"/>
          <p:cNvSpPr txBox="1"/>
          <p:nvPr/>
        </p:nvSpPr>
        <p:spPr>
          <a:xfrm>
            <a:off x="537537" y="2562232"/>
            <a:ext cx="1259931" cy="246221"/>
          </a:xfrm>
          <a:prstGeom prst="rect">
            <a:avLst/>
          </a:prstGeom>
          <a:solidFill>
            <a:schemeClr val="bg1"/>
          </a:solidFill>
        </p:spPr>
        <p:txBody>
          <a:bodyPr wrap="square" lIns="0" tIns="0" rIns="0" bIns="0" rtlCol="0">
            <a:spAutoFit/>
          </a:bodyPr>
          <a:lstStyle/>
          <a:p>
            <a:pPr marL="228600" marR="0" lvl="0" indent="-228600" algn="ctr" defTabSz="914400" rtl="0" eaLnBrk="1" fontAlgn="auto" latinLnBrk="0" hangingPunct="1">
              <a:lnSpc>
                <a:spcPct val="100000"/>
              </a:lnSpc>
              <a:spcBef>
                <a:spcPts val="600"/>
              </a:spcBef>
              <a:spcAft>
                <a:spcPts val="0"/>
              </a:spcAft>
              <a:buClrTx/>
              <a:buSzPct val="100000"/>
              <a:buFontTx/>
              <a:buAutoNum type="arabicPeriod"/>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Inception Report </a:t>
            </a: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(Week 1)</a:t>
            </a:r>
            <a:endParaRPr kumimoji="0" lang="en-IN"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124" name="Straight Arrow Connector 123">
            <a:extLst>
              <a:ext uri="{FF2B5EF4-FFF2-40B4-BE49-F238E27FC236}">
                <a16:creationId xmlns:a16="http://schemas.microsoft.com/office/drawing/2014/main" id="{4C74430A-29B4-40A3-91D7-0618D9F06ACA}"/>
              </a:ext>
            </a:extLst>
          </p:cNvPr>
          <p:cNvCxnSpPr>
            <a:cxnSpLocks/>
            <a:endCxn id="128" idx="2"/>
          </p:cNvCxnSpPr>
          <p:nvPr/>
        </p:nvCxnSpPr>
        <p:spPr>
          <a:xfrm>
            <a:off x="3912028" y="3512625"/>
            <a:ext cx="3338073"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28" name="Flowchart: Decision 127">
            <a:extLst>
              <a:ext uri="{FF2B5EF4-FFF2-40B4-BE49-F238E27FC236}">
                <a16:creationId xmlns:a16="http://schemas.microsoft.com/office/drawing/2014/main" id="{152BB310-3862-4554-AEFF-192E46C335D4}"/>
              </a:ext>
            </a:extLst>
          </p:cNvPr>
          <p:cNvSpPr/>
          <p:nvPr/>
        </p:nvSpPr>
        <p:spPr bwMode="gray">
          <a:xfrm rot="5400000">
            <a:off x="7250101" y="3444225"/>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B0E3E388-F542-40DC-93A2-6CA6CBD54CD7}"/>
              </a:ext>
            </a:extLst>
          </p:cNvPr>
          <p:cNvSpPr txBox="1"/>
          <p:nvPr/>
        </p:nvSpPr>
        <p:spPr>
          <a:xfrm>
            <a:off x="2272172" y="3125966"/>
            <a:ext cx="157289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Presentation on As – Is Assessment and Training Policy &amp; Plan</a:t>
            </a:r>
            <a:endParaRPr kumimoji="0" lang="en-IN"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49F3FA2C-5632-4AAE-926A-D6284440548A}"/>
              </a:ext>
            </a:extLst>
          </p:cNvPr>
          <p:cNvSpPr txBox="1"/>
          <p:nvPr/>
        </p:nvSpPr>
        <p:spPr>
          <a:xfrm>
            <a:off x="10779415" y="3891532"/>
            <a:ext cx="1313021" cy="492443"/>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b="1"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4</a:t>
            </a: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 Report on Capacity Building Plan including revised KPIs &amp; MIS </a:t>
            </a: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(Week 12)</a:t>
            </a:r>
            <a:endParaRPr kumimoji="0" lang="en-IN"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85" name="TextBox 184">
            <a:extLst>
              <a:ext uri="{FF2B5EF4-FFF2-40B4-BE49-F238E27FC236}">
                <a16:creationId xmlns:a16="http://schemas.microsoft.com/office/drawing/2014/main" id="{1317CCB7-18AC-4708-BE2A-FEF87C40FE07}"/>
              </a:ext>
            </a:extLst>
          </p:cNvPr>
          <p:cNvSpPr txBox="1"/>
          <p:nvPr/>
        </p:nvSpPr>
        <p:spPr>
          <a:xfrm>
            <a:off x="4802214" y="3205753"/>
            <a:ext cx="1773148" cy="246221"/>
          </a:xfrm>
          <a:prstGeom prst="rect">
            <a:avLst/>
          </a:prstGeom>
          <a:solidFill>
            <a:schemeClr val="bg1"/>
          </a:solidFill>
        </p:spPr>
        <p:txBody>
          <a:bodyPr wrap="square" lIns="0" tIns="0" rIns="0" bIns="0" rtlCol="0">
            <a:spAutoFit/>
          </a:bodyPr>
          <a:lstStyle/>
          <a:p>
            <a:pPr algn="ctr">
              <a:spcBef>
                <a:spcPts val="600"/>
              </a:spcBef>
              <a:buSzPct val="100000"/>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To-Be Assessment, Redesigned Training Policy and Plan </a:t>
            </a:r>
            <a:endParaRPr kumimoji="0" lang="en-IN"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91" name="Flowchart: Decision 190">
            <a:extLst>
              <a:ext uri="{FF2B5EF4-FFF2-40B4-BE49-F238E27FC236}">
                <a16:creationId xmlns:a16="http://schemas.microsoft.com/office/drawing/2014/main" id="{10742AEF-8B22-4D85-A361-38127E6AB4E7}"/>
              </a:ext>
            </a:extLst>
          </p:cNvPr>
          <p:cNvSpPr/>
          <p:nvPr/>
        </p:nvSpPr>
        <p:spPr bwMode="gray">
          <a:xfrm rot="5400000">
            <a:off x="4330058" y="3445114"/>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85" name="Rectangle 84">
            <a:extLst>
              <a:ext uri="{FF2B5EF4-FFF2-40B4-BE49-F238E27FC236}">
                <a16:creationId xmlns:a16="http://schemas.microsoft.com/office/drawing/2014/main" id="{78CBE8A8-B02B-425F-8613-137E168C36D8}"/>
              </a:ext>
            </a:extLst>
          </p:cNvPr>
          <p:cNvSpPr/>
          <p:nvPr/>
        </p:nvSpPr>
        <p:spPr>
          <a:xfrm>
            <a:off x="3929341" y="1096090"/>
            <a:ext cx="6767172" cy="224856"/>
          </a:xfrm>
          <a:prstGeom prst="rect">
            <a:avLst/>
          </a:prstGeom>
          <a:solidFill>
            <a:schemeClr val="accent3"/>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100" b="1" i="0" u="none" strike="noStrike" kern="0" cap="small" spc="0" normalizeH="0" baseline="0" noProof="0" dirty="0">
                <a:ln>
                  <a:noFill/>
                </a:ln>
                <a:solidFill>
                  <a:prstClr val="white"/>
                </a:solidFill>
                <a:effectLst/>
                <a:uLnTx/>
                <a:uFillTx/>
                <a:latin typeface="Calibri"/>
                <a:ea typeface="+mn-ea"/>
                <a:cs typeface="Arial" pitchFamily="34" charset="0"/>
              </a:rPr>
              <a:t>TO-BE Assessment, Capacity Building Plan &amp; Recommendations</a:t>
            </a:r>
          </a:p>
        </p:txBody>
      </p:sp>
      <p:sp>
        <p:nvSpPr>
          <p:cNvPr id="99" name="Freeform 818">
            <a:extLst>
              <a:ext uri="{FF2B5EF4-FFF2-40B4-BE49-F238E27FC236}">
                <a16:creationId xmlns:a16="http://schemas.microsoft.com/office/drawing/2014/main" id="{A88B8CA7-CB85-4B7F-AE51-3B75F17989E2}"/>
              </a:ext>
            </a:extLst>
          </p:cNvPr>
          <p:cNvSpPr>
            <a:spLocks noEditPoints="1"/>
          </p:cNvSpPr>
          <p:nvPr/>
        </p:nvSpPr>
        <p:spPr bwMode="auto">
          <a:xfrm>
            <a:off x="7235696" y="3756193"/>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0" name="Flowchart: Decision 99">
            <a:extLst>
              <a:ext uri="{FF2B5EF4-FFF2-40B4-BE49-F238E27FC236}">
                <a16:creationId xmlns:a16="http://schemas.microsoft.com/office/drawing/2014/main" id="{5B8FCDC8-5EF1-42D3-BEFF-8BB97DB9000C}"/>
              </a:ext>
            </a:extLst>
          </p:cNvPr>
          <p:cNvSpPr/>
          <p:nvPr/>
        </p:nvSpPr>
        <p:spPr bwMode="gray">
          <a:xfrm rot="5400000">
            <a:off x="503351" y="2264655"/>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10" name="Rectangle 109">
            <a:extLst>
              <a:ext uri="{FF2B5EF4-FFF2-40B4-BE49-F238E27FC236}">
                <a16:creationId xmlns:a16="http://schemas.microsoft.com/office/drawing/2014/main" id="{C714DED2-3200-477C-AF24-D01A28636296}"/>
              </a:ext>
            </a:extLst>
          </p:cNvPr>
          <p:cNvSpPr/>
          <p:nvPr/>
        </p:nvSpPr>
        <p:spPr>
          <a:xfrm rot="16200000">
            <a:off x="-1438606" y="3499168"/>
            <a:ext cx="3592555" cy="163512"/>
          </a:xfrm>
          <a:prstGeom prst="rect">
            <a:avLst/>
          </a:prstGeom>
          <a:solidFill>
            <a:schemeClr val="accent3"/>
          </a:solidFill>
          <a:ln w="9525" cap="flat" cmpd="sng" algn="ctr">
            <a:noFill/>
            <a:prstDash val="soli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000" b="1" i="0" u="none" strike="noStrike" kern="0" cap="small" spc="0" normalizeH="0" baseline="0" noProof="0">
                <a:ln>
                  <a:noFill/>
                </a:ln>
                <a:solidFill>
                  <a:prstClr val="white"/>
                </a:solidFill>
                <a:effectLst/>
                <a:uLnTx/>
                <a:uFillTx/>
                <a:latin typeface="Calibri"/>
                <a:ea typeface="+mn-ea"/>
                <a:cs typeface="Arial" pitchFamily="34" charset="0"/>
              </a:rPr>
              <a:t>Activities involving DPL Stakeholders</a:t>
            </a:r>
          </a:p>
        </p:txBody>
      </p:sp>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51600"/>
            <a:ext cx="11188700" cy="757255"/>
          </a:xfrm>
        </p:spPr>
        <p:txBody>
          <a:bodyPr/>
          <a:lstStyle/>
          <a:p>
            <a:pPr algn="just"/>
            <a:r>
              <a:rPr lang="en-US" dirty="0"/>
              <a:t>A structured approach to engaging key stakeholders across the organization to achieve desired results</a:t>
            </a:r>
          </a:p>
        </p:txBody>
      </p:sp>
      <p:cxnSp>
        <p:nvCxnSpPr>
          <p:cNvPr id="90" name="Straight Connector 89">
            <a:extLst>
              <a:ext uri="{FF2B5EF4-FFF2-40B4-BE49-F238E27FC236}">
                <a16:creationId xmlns:a16="http://schemas.microsoft.com/office/drawing/2014/main" id="{07077E0F-F551-473A-947E-3E0119DE4374}"/>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71298" y="5436449"/>
            <a:ext cx="940564" cy="170259"/>
          </a:xfrm>
          <a:prstGeom prst="roundRect">
            <a:avLst/>
          </a:prstGeom>
          <a:solidFill>
            <a:schemeClr val="accent5">
              <a:lumMod val="75000"/>
            </a:schemeClr>
          </a:solidFill>
        </p:spPr>
        <p:txBody>
          <a:bodyPr wrap="square" lIns="0" tIns="0" rIns="0" bIns="0" rtlCol="0">
            <a:spAutoFit/>
          </a:bodyPr>
          <a:lstStyle/>
          <a:p>
            <a:pPr marL="0" marR="0" lvl="0" indent="0" algn="ctr" defTabSz="914400" rtl="0" eaLnBrk="0" fontAlgn="base" latinLnBrk="0" hangingPunct="0">
              <a:lnSpc>
                <a:spcPct val="100000"/>
              </a:lnSpc>
              <a:spcBef>
                <a:spcPts val="115"/>
              </a:spcBef>
              <a:spcAft>
                <a:spcPct val="0"/>
              </a:spcAft>
              <a:buClrTx/>
              <a:buSzPct val="100000"/>
              <a:buFontTx/>
              <a:buNone/>
              <a:tabLst/>
              <a:defRPr/>
            </a:pPr>
            <a:r>
              <a:rPr kumimoji="0" lang="en-US" sz="1000" b="1" i="0" u="none" strike="noStrike" kern="1200" cap="none" spc="0" normalizeH="0" baseline="0" noProof="0">
                <a:ln>
                  <a:noFill/>
                </a:ln>
                <a:solidFill>
                  <a:prstClr val="white"/>
                </a:solidFill>
                <a:effectLst/>
                <a:uLnTx/>
                <a:uFillTx/>
                <a:latin typeface="Verdana"/>
                <a:ea typeface="+mn-ea"/>
                <a:cs typeface="Arial" panose="020B0604020202020204" pitchFamily="34" charset="0"/>
              </a:rPr>
              <a:t>Legend</a:t>
            </a:r>
            <a:endParaRPr kumimoji="0" lang="en-IN" sz="1000" b="1" i="0" u="none" strike="noStrike" kern="1200" cap="none" spc="0" normalizeH="0" baseline="0" noProof="0">
              <a:ln>
                <a:noFill/>
              </a:ln>
              <a:solidFill>
                <a:prstClr val="white"/>
              </a:solidFill>
              <a:effectLst/>
              <a:uLnTx/>
              <a:uFillTx/>
              <a:latin typeface="Verdana"/>
              <a:ea typeface="+mn-ea"/>
              <a:cs typeface="Arial" panose="020B0604020202020204" pitchFamily="34" charset="0"/>
            </a:endParaRPr>
          </a:p>
        </p:txBody>
      </p:sp>
      <p:cxnSp>
        <p:nvCxnSpPr>
          <p:cNvPr id="101" name="Straight Arrow Connector 100">
            <a:extLst>
              <a:ext uri="{FF2B5EF4-FFF2-40B4-BE49-F238E27FC236}">
                <a16:creationId xmlns:a16="http://schemas.microsoft.com/office/drawing/2014/main" id="{5AB0C910-18C5-4EC4-8691-D3D2068B9C64}"/>
              </a:ext>
            </a:extLst>
          </p:cNvPr>
          <p:cNvCxnSpPr>
            <a:cxnSpLocks/>
            <a:endCxn id="106" idx="2"/>
          </p:cNvCxnSpPr>
          <p:nvPr/>
        </p:nvCxnSpPr>
        <p:spPr>
          <a:xfrm>
            <a:off x="1367511" y="3049004"/>
            <a:ext cx="248059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6" name="Flowchart: Decision 105">
            <a:extLst>
              <a:ext uri="{FF2B5EF4-FFF2-40B4-BE49-F238E27FC236}">
                <a16:creationId xmlns:a16="http://schemas.microsoft.com/office/drawing/2014/main" id="{F64A2998-02CA-4BB7-80BB-B5B760BFBB8D}"/>
              </a:ext>
            </a:extLst>
          </p:cNvPr>
          <p:cNvSpPr/>
          <p:nvPr/>
        </p:nvSpPr>
        <p:spPr bwMode="gray">
          <a:xfrm rot="5400000">
            <a:off x="3848105" y="2980604"/>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05" name="Flowchart: Decision 104">
            <a:extLst>
              <a:ext uri="{FF2B5EF4-FFF2-40B4-BE49-F238E27FC236}">
                <a16:creationId xmlns:a16="http://schemas.microsoft.com/office/drawing/2014/main" id="{303D575E-90E7-4076-8CD5-E6595F0B299D}"/>
              </a:ext>
            </a:extLst>
          </p:cNvPr>
          <p:cNvSpPr/>
          <p:nvPr/>
        </p:nvSpPr>
        <p:spPr bwMode="gray">
          <a:xfrm rot="5400000">
            <a:off x="2132539" y="2981709"/>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93745BD8-52DC-4A9E-91AA-C8E86679035F}"/>
              </a:ext>
            </a:extLst>
          </p:cNvPr>
          <p:cNvSpPr txBox="1"/>
          <p:nvPr/>
        </p:nvSpPr>
        <p:spPr>
          <a:xfrm>
            <a:off x="3974818" y="2740275"/>
            <a:ext cx="1385071"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2. As-Is Assessment, As-Is Training Policy &amp; Plan </a:t>
            </a: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(Week 4)</a:t>
            </a:r>
            <a:endParaRPr kumimoji="0" lang="en-IN"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26" name="TextBox 125">
            <a:extLst>
              <a:ext uri="{FF2B5EF4-FFF2-40B4-BE49-F238E27FC236}">
                <a16:creationId xmlns:a16="http://schemas.microsoft.com/office/drawing/2014/main" id="{B21E3D13-EFFB-49DB-9FF1-78BDDE94BCCF}"/>
              </a:ext>
            </a:extLst>
          </p:cNvPr>
          <p:cNvSpPr txBox="1"/>
          <p:nvPr/>
        </p:nvSpPr>
        <p:spPr>
          <a:xfrm>
            <a:off x="7416562" y="3157933"/>
            <a:ext cx="1490388" cy="615553"/>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3. Human Resource and Organization To-Be Report &amp; Redesigned Training Policy and Plan </a:t>
            </a: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(Week 8)</a:t>
            </a:r>
            <a:endParaRPr kumimoji="0" lang="en-IN"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132" name="Straight Arrow Connector 131">
            <a:extLst>
              <a:ext uri="{FF2B5EF4-FFF2-40B4-BE49-F238E27FC236}">
                <a16:creationId xmlns:a16="http://schemas.microsoft.com/office/drawing/2014/main" id="{C697DED1-298A-400A-944A-3B4CFDF555DD}"/>
              </a:ext>
            </a:extLst>
          </p:cNvPr>
          <p:cNvCxnSpPr>
            <a:cxnSpLocks/>
            <a:endCxn id="133" idx="2"/>
          </p:cNvCxnSpPr>
          <p:nvPr/>
        </p:nvCxnSpPr>
        <p:spPr>
          <a:xfrm>
            <a:off x="7308561" y="4612099"/>
            <a:ext cx="333667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1" name="TextBox 140">
            <a:extLst>
              <a:ext uri="{FF2B5EF4-FFF2-40B4-BE49-F238E27FC236}">
                <a16:creationId xmlns:a16="http://schemas.microsoft.com/office/drawing/2014/main" id="{64622696-C155-4F29-893A-02A9CD400E79}"/>
              </a:ext>
            </a:extLst>
          </p:cNvPr>
          <p:cNvSpPr txBox="1"/>
          <p:nvPr/>
        </p:nvSpPr>
        <p:spPr>
          <a:xfrm>
            <a:off x="8161756" y="3986853"/>
            <a:ext cx="1773148" cy="12311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Capacity Building Plan</a:t>
            </a:r>
            <a:endParaRPr kumimoji="0" lang="en-IN"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82F36DA0-AC27-474A-A067-428F2CB17978}"/>
              </a:ext>
            </a:extLst>
          </p:cNvPr>
          <p:cNvSpPr txBox="1"/>
          <p:nvPr/>
        </p:nvSpPr>
        <p:spPr>
          <a:xfrm>
            <a:off x="8113997" y="4446255"/>
            <a:ext cx="1996222" cy="12311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Preparation of Manual &amp; Final Report</a:t>
            </a:r>
            <a:endParaRPr kumimoji="0" lang="en-IN"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1D811B93-B64D-49B0-A0F6-FC527C6FA2A3}"/>
              </a:ext>
            </a:extLst>
          </p:cNvPr>
          <p:cNvSpPr txBox="1"/>
          <p:nvPr/>
        </p:nvSpPr>
        <p:spPr>
          <a:xfrm>
            <a:off x="10839320" y="4499946"/>
            <a:ext cx="1313021" cy="369332"/>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lang="en-US" sz="800" b="1" kern="0" dirty="0">
                <a:solidFill>
                  <a:srgbClr val="0097A9">
                    <a:lumMod val="75000"/>
                  </a:srgbClr>
                </a:solidFill>
                <a:latin typeface="Verdana" panose="020B0604030504040204" pitchFamily="34" charset="0"/>
                <a:ea typeface="Verdana" panose="020B0604030504040204" pitchFamily="34" charset="0"/>
                <a:cs typeface="Arial" panose="020B0604020202020204" pitchFamily="34" charset="0"/>
              </a:rPr>
              <a:t>5</a:t>
            </a:r>
            <a:r>
              <a:rPr kumimoji="0" lang="en-US" sz="800" b="1"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 Updated manuals and Final Report </a:t>
            </a:r>
            <a:r>
              <a:rPr kumimoji="0" lang="en-US"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(Week 12)</a:t>
            </a:r>
            <a:endParaRPr kumimoji="0" lang="en-IN" sz="800" b="1"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55" name="Flowchart: Decision 54"/>
          <p:cNvSpPr/>
          <p:nvPr/>
        </p:nvSpPr>
        <p:spPr bwMode="gray">
          <a:xfrm rot="5400000">
            <a:off x="7843321" y="4063842"/>
            <a:ext cx="137160" cy="137160"/>
          </a:xfrm>
          <a:prstGeom prst="flowChartDecision">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02" name="Freeform 818"/>
          <p:cNvSpPr>
            <a:spLocks noEditPoints="1"/>
          </p:cNvSpPr>
          <p:nvPr/>
        </p:nvSpPr>
        <p:spPr bwMode="auto">
          <a:xfrm>
            <a:off x="3813878" y="3244072"/>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143" name="Straight Connector 142">
            <a:extLst>
              <a:ext uri="{FF2B5EF4-FFF2-40B4-BE49-F238E27FC236}">
                <a16:creationId xmlns:a16="http://schemas.microsoft.com/office/drawing/2014/main" id="{FC4E5F8C-1F15-468B-96B1-3D3E5001C57A}"/>
              </a:ext>
            </a:extLst>
          </p:cNvPr>
          <p:cNvCxnSpPr>
            <a:cxnSpLocks/>
          </p:cNvCxnSpPr>
          <p:nvPr/>
        </p:nvCxnSpPr>
        <p:spPr>
          <a:xfrm>
            <a:off x="10702521" y="1576776"/>
            <a:ext cx="7592" cy="33412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410B654E-1C7C-4306-A6E5-3B6965B16163}"/>
              </a:ext>
            </a:extLst>
          </p:cNvPr>
          <p:cNvSpPr txBox="1"/>
          <p:nvPr/>
        </p:nvSpPr>
        <p:spPr>
          <a:xfrm>
            <a:off x="5012252" y="3672512"/>
            <a:ext cx="1463592" cy="12311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endParaRPr kumimoji="0" lang="en-IN"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27" name="Flowchart: Decision 126">
            <a:extLst>
              <a:ext uri="{FF2B5EF4-FFF2-40B4-BE49-F238E27FC236}">
                <a16:creationId xmlns:a16="http://schemas.microsoft.com/office/drawing/2014/main" id="{1538308E-01A7-46C0-BE94-57ED981B80A9}"/>
              </a:ext>
            </a:extLst>
          </p:cNvPr>
          <p:cNvSpPr/>
          <p:nvPr/>
        </p:nvSpPr>
        <p:spPr bwMode="gray">
          <a:xfrm rot="5400000">
            <a:off x="10642615" y="4064816"/>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33" name="Flowchart: Decision 132">
            <a:extLst>
              <a:ext uri="{FF2B5EF4-FFF2-40B4-BE49-F238E27FC236}">
                <a16:creationId xmlns:a16="http://schemas.microsoft.com/office/drawing/2014/main" id="{79D695A4-4599-4754-9F98-5DDA8F245FFE}"/>
              </a:ext>
            </a:extLst>
          </p:cNvPr>
          <p:cNvSpPr/>
          <p:nvPr/>
        </p:nvSpPr>
        <p:spPr bwMode="gray">
          <a:xfrm rot="5400000">
            <a:off x="10645231" y="4543699"/>
            <a:ext cx="136800" cy="136800"/>
          </a:xfrm>
          <a:prstGeom prst="flowChartDecision">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07" name="TextBox 106">
            <a:extLst>
              <a:ext uri="{FF2B5EF4-FFF2-40B4-BE49-F238E27FC236}">
                <a16:creationId xmlns:a16="http://schemas.microsoft.com/office/drawing/2014/main" id="{ABA15CE8-362E-4A12-A05A-A79559DB6593}"/>
              </a:ext>
            </a:extLst>
          </p:cNvPr>
          <p:cNvSpPr txBox="1"/>
          <p:nvPr/>
        </p:nvSpPr>
        <p:spPr>
          <a:xfrm>
            <a:off x="480529" y="6356947"/>
            <a:ext cx="10499601" cy="246221"/>
          </a:xfrm>
          <a:prstGeom prst="rect">
            <a:avLst/>
          </a:prstGeom>
          <a:noFill/>
        </p:spPr>
        <p:txBody>
          <a:bodyPr wrap="square">
            <a:spAutoFit/>
          </a:bodyPr>
          <a:lstStyle/>
          <a:p>
            <a:pPr marL="0" marR="0" lvl="1" indent="0" algn="l" defTabSz="914400" rtl="0" eaLnBrk="1" fontAlgn="auto" latinLnBrk="0" hangingPunct="1">
              <a:lnSpc>
                <a:spcPct val="100000"/>
              </a:lnSpc>
              <a:spcBef>
                <a:spcPts val="600"/>
              </a:spcBef>
              <a:spcAft>
                <a:spcPts val="300"/>
              </a:spcAft>
              <a:buClrTx/>
              <a:buSzPct val="100000"/>
              <a:buFontTx/>
              <a:buNone/>
              <a:tabLst/>
              <a:defRPr/>
            </a:pPr>
            <a:r>
              <a:rPr lang="en-US" sz="1000" b="1" dirty="0">
                <a:solidFill>
                  <a:prstClr val="black"/>
                </a:solidFill>
                <a:latin typeface="Calibri"/>
              </a:rPr>
              <a:t>Festive Weeks: Week 5 - Week 8 </a:t>
            </a:r>
            <a:r>
              <a:rPr lang="en-US" sz="1000" dirty="0">
                <a:solidFill>
                  <a:prstClr val="black"/>
                </a:solidFill>
                <a:latin typeface="Calibri"/>
              </a:rPr>
              <a:t>(including holidays on account of festivals such as Durga-puja, Dusshera and Diwali.)</a:t>
            </a:r>
            <a:endParaRPr kumimoji="0" lang="en-US" sz="100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B8738A5-FA6B-4899-B4A9-7D28C77BE671}"/>
              </a:ext>
            </a:extLst>
          </p:cNvPr>
          <p:cNvSpPr/>
          <p:nvPr/>
        </p:nvSpPr>
        <p:spPr bwMode="gray">
          <a:xfrm>
            <a:off x="282243" y="6400063"/>
            <a:ext cx="249937" cy="147300"/>
          </a:xfrm>
          <a:prstGeom prst="rect">
            <a:avLst/>
          </a:prstGeom>
          <a:solidFill>
            <a:srgbClr val="DDEF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9" name="TextBox 108">
            <a:extLst>
              <a:ext uri="{FF2B5EF4-FFF2-40B4-BE49-F238E27FC236}">
                <a16:creationId xmlns:a16="http://schemas.microsoft.com/office/drawing/2014/main" id="{0D7750DF-6E28-4BC5-ABAD-F1E7936CED7D}"/>
              </a:ext>
            </a:extLst>
          </p:cNvPr>
          <p:cNvSpPr txBox="1"/>
          <p:nvPr/>
        </p:nvSpPr>
        <p:spPr>
          <a:xfrm>
            <a:off x="9542062" y="4929129"/>
            <a:ext cx="1032230" cy="12311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Final Presentation</a:t>
            </a:r>
            <a:endParaRPr kumimoji="0" lang="en-IN" sz="800" b="0" i="0" u="none" strike="noStrike" kern="0" cap="none" spc="0" normalizeH="0" baseline="0" noProof="0" dirty="0">
              <a:ln>
                <a:noFill/>
              </a:ln>
              <a:solidFill>
                <a:prstClr val="white">
                  <a:lumMod val="50000"/>
                </a:prst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11" name="Freeform 818">
            <a:extLst>
              <a:ext uri="{FF2B5EF4-FFF2-40B4-BE49-F238E27FC236}">
                <a16:creationId xmlns:a16="http://schemas.microsoft.com/office/drawing/2014/main" id="{A46451E3-F086-41A0-98EA-32323B40BF4D}"/>
              </a:ext>
            </a:extLst>
          </p:cNvPr>
          <p:cNvSpPr>
            <a:spLocks noEditPoints="1"/>
          </p:cNvSpPr>
          <p:nvPr/>
        </p:nvSpPr>
        <p:spPr bwMode="auto">
          <a:xfrm>
            <a:off x="10608636" y="4897631"/>
            <a:ext cx="180000" cy="180000"/>
          </a:xfrm>
          <a:custGeom>
            <a:avLst/>
            <a:gdLst>
              <a:gd name="T0" fmla="*/ 86 w 299"/>
              <a:gd name="T1" fmla="*/ 64 h 298"/>
              <a:gd name="T2" fmla="*/ 118 w 299"/>
              <a:gd name="T3" fmla="*/ 32 h 298"/>
              <a:gd name="T4" fmla="*/ 86 w 299"/>
              <a:gd name="T5" fmla="*/ 0 h 298"/>
              <a:gd name="T6" fmla="*/ 54 w 299"/>
              <a:gd name="T7" fmla="*/ 32 h 298"/>
              <a:gd name="T8" fmla="*/ 86 w 299"/>
              <a:gd name="T9" fmla="*/ 64 h 298"/>
              <a:gd name="T10" fmla="*/ 86 w 299"/>
              <a:gd name="T11" fmla="*/ 21 h 298"/>
              <a:gd name="T12" fmla="*/ 96 w 299"/>
              <a:gd name="T13" fmla="*/ 32 h 298"/>
              <a:gd name="T14" fmla="*/ 86 w 299"/>
              <a:gd name="T15" fmla="*/ 42 h 298"/>
              <a:gd name="T16" fmla="*/ 75 w 299"/>
              <a:gd name="T17" fmla="*/ 32 h 298"/>
              <a:gd name="T18" fmla="*/ 86 w 299"/>
              <a:gd name="T19" fmla="*/ 21 h 298"/>
              <a:gd name="T20" fmla="*/ 288 w 299"/>
              <a:gd name="T21" fmla="*/ 149 h 298"/>
              <a:gd name="T22" fmla="*/ 267 w 299"/>
              <a:gd name="T23" fmla="*/ 149 h 298"/>
              <a:gd name="T24" fmla="*/ 267 w 299"/>
              <a:gd name="T25" fmla="*/ 96 h 298"/>
              <a:gd name="T26" fmla="*/ 256 w 299"/>
              <a:gd name="T27" fmla="*/ 85 h 298"/>
              <a:gd name="T28" fmla="*/ 171 w 299"/>
              <a:gd name="T29" fmla="*/ 85 h 298"/>
              <a:gd name="T30" fmla="*/ 160 w 299"/>
              <a:gd name="T31" fmla="*/ 96 h 298"/>
              <a:gd name="T32" fmla="*/ 160 w 299"/>
              <a:gd name="T33" fmla="*/ 149 h 298"/>
              <a:gd name="T34" fmla="*/ 139 w 299"/>
              <a:gd name="T35" fmla="*/ 149 h 298"/>
              <a:gd name="T36" fmla="*/ 139 w 299"/>
              <a:gd name="T37" fmla="*/ 96 h 298"/>
              <a:gd name="T38" fmla="*/ 128 w 299"/>
              <a:gd name="T39" fmla="*/ 85 h 298"/>
              <a:gd name="T40" fmla="*/ 43 w 299"/>
              <a:gd name="T41" fmla="*/ 85 h 298"/>
              <a:gd name="T42" fmla="*/ 32 w 299"/>
              <a:gd name="T43" fmla="*/ 96 h 298"/>
              <a:gd name="T44" fmla="*/ 32 w 299"/>
              <a:gd name="T45" fmla="*/ 149 h 298"/>
              <a:gd name="T46" fmla="*/ 11 w 299"/>
              <a:gd name="T47" fmla="*/ 149 h 298"/>
              <a:gd name="T48" fmla="*/ 0 w 299"/>
              <a:gd name="T49" fmla="*/ 160 h 298"/>
              <a:gd name="T50" fmla="*/ 11 w 299"/>
              <a:gd name="T51" fmla="*/ 170 h 298"/>
              <a:gd name="T52" fmla="*/ 11 w 299"/>
              <a:gd name="T53" fmla="*/ 288 h 298"/>
              <a:gd name="T54" fmla="*/ 22 w 299"/>
              <a:gd name="T55" fmla="*/ 298 h 298"/>
              <a:gd name="T56" fmla="*/ 278 w 299"/>
              <a:gd name="T57" fmla="*/ 298 h 298"/>
              <a:gd name="T58" fmla="*/ 288 w 299"/>
              <a:gd name="T59" fmla="*/ 288 h 298"/>
              <a:gd name="T60" fmla="*/ 288 w 299"/>
              <a:gd name="T61" fmla="*/ 170 h 298"/>
              <a:gd name="T62" fmla="*/ 299 w 299"/>
              <a:gd name="T63" fmla="*/ 160 h 298"/>
              <a:gd name="T64" fmla="*/ 288 w 299"/>
              <a:gd name="T65" fmla="*/ 149 h 298"/>
              <a:gd name="T66" fmla="*/ 182 w 299"/>
              <a:gd name="T67" fmla="*/ 106 h 298"/>
              <a:gd name="T68" fmla="*/ 246 w 299"/>
              <a:gd name="T69" fmla="*/ 106 h 298"/>
              <a:gd name="T70" fmla="*/ 246 w 299"/>
              <a:gd name="T71" fmla="*/ 149 h 298"/>
              <a:gd name="T72" fmla="*/ 182 w 299"/>
              <a:gd name="T73" fmla="*/ 149 h 298"/>
              <a:gd name="T74" fmla="*/ 182 w 299"/>
              <a:gd name="T75" fmla="*/ 106 h 298"/>
              <a:gd name="T76" fmla="*/ 54 w 299"/>
              <a:gd name="T77" fmla="*/ 106 h 298"/>
              <a:gd name="T78" fmla="*/ 118 w 299"/>
              <a:gd name="T79" fmla="*/ 106 h 298"/>
              <a:gd name="T80" fmla="*/ 118 w 299"/>
              <a:gd name="T81" fmla="*/ 149 h 298"/>
              <a:gd name="T82" fmla="*/ 54 w 299"/>
              <a:gd name="T83" fmla="*/ 149 h 298"/>
              <a:gd name="T84" fmla="*/ 54 w 299"/>
              <a:gd name="T85" fmla="*/ 106 h 298"/>
              <a:gd name="T86" fmla="*/ 267 w 299"/>
              <a:gd name="T87" fmla="*/ 277 h 298"/>
              <a:gd name="T88" fmla="*/ 32 w 299"/>
              <a:gd name="T89" fmla="*/ 277 h 298"/>
              <a:gd name="T90" fmla="*/ 32 w 299"/>
              <a:gd name="T91" fmla="*/ 170 h 298"/>
              <a:gd name="T92" fmla="*/ 267 w 299"/>
              <a:gd name="T93" fmla="*/ 170 h 298"/>
              <a:gd name="T94" fmla="*/ 267 w 299"/>
              <a:gd name="T95" fmla="*/ 277 h 298"/>
              <a:gd name="T96" fmla="*/ 214 w 299"/>
              <a:gd name="T97" fmla="*/ 64 h 298"/>
              <a:gd name="T98" fmla="*/ 246 w 299"/>
              <a:gd name="T99" fmla="*/ 32 h 298"/>
              <a:gd name="T100" fmla="*/ 214 w 299"/>
              <a:gd name="T101" fmla="*/ 0 h 298"/>
              <a:gd name="T102" fmla="*/ 182 w 299"/>
              <a:gd name="T103" fmla="*/ 32 h 298"/>
              <a:gd name="T104" fmla="*/ 214 w 299"/>
              <a:gd name="T105" fmla="*/ 64 h 298"/>
              <a:gd name="T106" fmla="*/ 214 w 299"/>
              <a:gd name="T107" fmla="*/ 21 h 298"/>
              <a:gd name="T108" fmla="*/ 224 w 299"/>
              <a:gd name="T109" fmla="*/ 32 h 298"/>
              <a:gd name="T110" fmla="*/ 214 w 299"/>
              <a:gd name="T111" fmla="*/ 42 h 298"/>
              <a:gd name="T112" fmla="*/ 203 w 299"/>
              <a:gd name="T113" fmla="*/ 32 h 298"/>
              <a:gd name="T114" fmla="*/ 214 w 299"/>
              <a:gd name="T115" fmla="*/ 21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9" h="298">
                <a:moveTo>
                  <a:pt x="86" y="64"/>
                </a:moveTo>
                <a:cubicBezTo>
                  <a:pt x="103" y="64"/>
                  <a:pt x="118" y="49"/>
                  <a:pt x="118" y="32"/>
                </a:cubicBezTo>
                <a:cubicBezTo>
                  <a:pt x="118" y="14"/>
                  <a:pt x="103" y="0"/>
                  <a:pt x="86" y="0"/>
                </a:cubicBezTo>
                <a:cubicBezTo>
                  <a:pt x="68" y="0"/>
                  <a:pt x="54" y="14"/>
                  <a:pt x="54" y="32"/>
                </a:cubicBezTo>
                <a:cubicBezTo>
                  <a:pt x="54" y="49"/>
                  <a:pt x="68" y="64"/>
                  <a:pt x="86" y="64"/>
                </a:cubicBezTo>
                <a:close/>
                <a:moveTo>
                  <a:pt x="86" y="21"/>
                </a:moveTo>
                <a:cubicBezTo>
                  <a:pt x="92" y="21"/>
                  <a:pt x="96" y="26"/>
                  <a:pt x="96" y="32"/>
                </a:cubicBezTo>
                <a:cubicBezTo>
                  <a:pt x="96" y="38"/>
                  <a:pt x="92" y="42"/>
                  <a:pt x="86" y="42"/>
                </a:cubicBezTo>
                <a:cubicBezTo>
                  <a:pt x="80" y="42"/>
                  <a:pt x="75" y="38"/>
                  <a:pt x="75" y="32"/>
                </a:cubicBezTo>
                <a:cubicBezTo>
                  <a:pt x="75" y="26"/>
                  <a:pt x="80" y="21"/>
                  <a:pt x="86" y="21"/>
                </a:cubicBezTo>
                <a:close/>
                <a:moveTo>
                  <a:pt x="288" y="149"/>
                </a:moveTo>
                <a:cubicBezTo>
                  <a:pt x="267" y="149"/>
                  <a:pt x="267" y="149"/>
                  <a:pt x="267" y="149"/>
                </a:cubicBezTo>
                <a:cubicBezTo>
                  <a:pt x="267" y="96"/>
                  <a:pt x="267" y="96"/>
                  <a:pt x="267" y="96"/>
                </a:cubicBezTo>
                <a:cubicBezTo>
                  <a:pt x="267" y="90"/>
                  <a:pt x="262" y="85"/>
                  <a:pt x="256" y="85"/>
                </a:cubicBezTo>
                <a:cubicBezTo>
                  <a:pt x="171" y="85"/>
                  <a:pt x="171" y="85"/>
                  <a:pt x="171" y="85"/>
                </a:cubicBezTo>
                <a:cubicBezTo>
                  <a:pt x="165" y="85"/>
                  <a:pt x="160" y="90"/>
                  <a:pt x="160" y="96"/>
                </a:cubicBezTo>
                <a:cubicBezTo>
                  <a:pt x="160" y="149"/>
                  <a:pt x="160" y="149"/>
                  <a:pt x="160" y="149"/>
                </a:cubicBezTo>
                <a:cubicBezTo>
                  <a:pt x="139" y="149"/>
                  <a:pt x="139" y="149"/>
                  <a:pt x="139" y="149"/>
                </a:cubicBezTo>
                <a:cubicBezTo>
                  <a:pt x="139" y="96"/>
                  <a:pt x="139" y="96"/>
                  <a:pt x="139" y="96"/>
                </a:cubicBezTo>
                <a:cubicBezTo>
                  <a:pt x="139" y="90"/>
                  <a:pt x="134" y="85"/>
                  <a:pt x="128" y="85"/>
                </a:cubicBezTo>
                <a:cubicBezTo>
                  <a:pt x="43" y="85"/>
                  <a:pt x="43" y="85"/>
                  <a:pt x="43" y="85"/>
                </a:cubicBezTo>
                <a:cubicBezTo>
                  <a:pt x="37" y="85"/>
                  <a:pt x="32" y="90"/>
                  <a:pt x="32" y="96"/>
                </a:cubicBezTo>
                <a:cubicBezTo>
                  <a:pt x="32" y="149"/>
                  <a:pt x="32" y="149"/>
                  <a:pt x="32" y="149"/>
                </a:cubicBezTo>
                <a:cubicBezTo>
                  <a:pt x="11" y="149"/>
                  <a:pt x="11" y="149"/>
                  <a:pt x="11" y="149"/>
                </a:cubicBezTo>
                <a:cubicBezTo>
                  <a:pt x="5" y="149"/>
                  <a:pt x="0" y="154"/>
                  <a:pt x="0" y="160"/>
                </a:cubicBezTo>
                <a:cubicBezTo>
                  <a:pt x="0" y="166"/>
                  <a:pt x="6" y="170"/>
                  <a:pt x="11" y="170"/>
                </a:cubicBezTo>
                <a:cubicBezTo>
                  <a:pt x="11" y="288"/>
                  <a:pt x="11" y="288"/>
                  <a:pt x="11" y="288"/>
                </a:cubicBezTo>
                <a:cubicBezTo>
                  <a:pt x="11" y="294"/>
                  <a:pt x="16" y="298"/>
                  <a:pt x="22" y="298"/>
                </a:cubicBezTo>
                <a:cubicBezTo>
                  <a:pt x="278" y="298"/>
                  <a:pt x="278" y="298"/>
                  <a:pt x="278" y="298"/>
                </a:cubicBezTo>
                <a:cubicBezTo>
                  <a:pt x="284" y="298"/>
                  <a:pt x="288" y="294"/>
                  <a:pt x="288" y="288"/>
                </a:cubicBezTo>
                <a:cubicBezTo>
                  <a:pt x="288" y="170"/>
                  <a:pt x="288" y="170"/>
                  <a:pt x="288" y="170"/>
                </a:cubicBezTo>
                <a:cubicBezTo>
                  <a:pt x="294" y="170"/>
                  <a:pt x="299" y="166"/>
                  <a:pt x="299" y="160"/>
                </a:cubicBezTo>
                <a:cubicBezTo>
                  <a:pt x="299" y="154"/>
                  <a:pt x="294" y="149"/>
                  <a:pt x="288" y="149"/>
                </a:cubicBezTo>
                <a:close/>
                <a:moveTo>
                  <a:pt x="182" y="106"/>
                </a:moveTo>
                <a:cubicBezTo>
                  <a:pt x="246" y="106"/>
                  <a:pt x="246" y="106"/>
                  <a:pt x="246" y="106"/>
                </a:cubicBezTo>
                <a:cubicBezTo>
                  <a:pt x="246" y="149"/>
                  <a:pt x="246" y="149"/>
                  <a:pt x="246" y="149"/>
                </a:cubicBezTo>
                <a:cubicBezTo>
                  <a:pt x="182" y="149"/>
                  <a:pt x="182" y="149"/>
                  <a:pt x="182" y="149"/>
                </a:cubicBezTo>
                <a:lnTo>
                  <a:pt x="182" y="106"/>
                </a:lnTo>
                <a:close/>
                <a:moveTo>
                  <a:pt x="54" y="106"/>
                </a:moveTo>
                <a:cubicBezTo>
                  <a:pt x="118" y="106"/>
                  <a:pt x="118" y="106"/>
                  <a:pt x="118" y="106"/>
                </a:cubicBezTo>
                <a:cubicBezTo>
                  <a:pt x="118" y="149"/>
                  <a:pt x="118" y="149"/>
                  <a:pt x="118" y="149"/>
                </a:cubicBezTo>
                <a:cubicBezTo>
                  <a:pt x="54" y="149"/>
                  <a:pt x="54" y="149"/>
                  <a:pt x="54" y="149"/>
                </a:cubicBezTo>
                <a:lnTo>
                  <a:pt x="54" y="106"/>
                </a:lnTo>
                <a:close/>
                <a:moveTo>
                  <a:pt x="267" y="277"/>
                </a:moveTo>
                <a:cubicBezTo>
                  <a:pt x="32" y="277"/>
                  <a:pt x="32" y="277"/>
                  <a:pt x="32" y="277"/>
                </a:cubicBezTo>
                <a:cubicBezTo>
                  <a:pt x="32" y="170"/>
                  <a:pt x="32" y="170"/>
                  <a:pt x="32" y="170"/>
                </a:cubicBezTo>
                <a:cubicBezTo>
                  <a:pt x="267" y="170"/>
                  <a:pt x="267" y="170"/>
                  <a:pt x="267" y="170"/>
                </a:cubicBezTo>
                <a:lnTo>
                  <a:pt x="267" y="277"/>
                </a:lnTo>
                <a:close/>
                <a:moveTo>
                  <a:pt x="214" y="64"/>
                </a:moveTo>
                <a:cubicBezTo>
                  <a:pt x="231" y="64"/>
                  <a:pt x="246" y="49"/>
                  <a:pt x="246" y="32"/>
                </a:cubicBezTo>
                <a:cubicBezTo>
                  <a:pt x="246" y="14"/>
                  <a:pt x="231" y="0"/>
                  <a:pt x="214" y="0"/>
                </a:cubicBezTo>
                <a:cubicBezTo>
                  <a:pt x="196" y="0"/>
                  <a:pt x="182" y="14"/>
                  <a:pt x="182" y="32"/>
                </a:cubicBezTo>
                <a:cubicBezTo>
                  <a:pt x="182" y="49"/>
                  <a:pt x="196" y="64"/>
                  <a:pt x="214" y="64"/>
                </a:cubicBezTo>
                <a:close/>
                <a:moveTo>
                  <a:pt x="214" y="21"/>
                </a:moveTo>
                <a:cubicBezTo>
                  <a:pt x="220" y="21"/>
                  <a:pt x="224" y="26"/>
                  <a:pt x="224" y="32"/>
                </a:cubicBezTo>
                <a:cubicBezTo>
                  <a:pt x="224" y="38"/>
                  <a:pt x="220" y="42"/>
                  <a:pt x="214" y="42"/>
                </a:cubicBezTo>
                <a:cubicBezTo>
                  <a:pt x="208" y="42"/>
                  <a:pt x="203" y="38"/>
                  <a:pt x="203" y="32"/>
                </a:cubicBezTo>
                <a:cubicBezTo>
                  <a:pt x="203" y="26"/>
                  <a:pt x="208" y="21"/>
                  <a:pt x="214" y="21"/>
                </a:cubicBezTo>
                <a:close/>
              </a:path>
            </a:pathLst>
          </a:custGeom>
          <a:solidFill>
            <a:srgbClr val="00B050"/>
          </a:solidFill>
          <a:ln w="12700">
            <a:solidFill>
              <a:srgbClr val="00B05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128016" tIns="64009" rIns="128016" bIns="640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17" name="TextBox 116"/>
          <p:cNvSpPr txBox="1"/>
          <p:nvPr/>
        </p:nvSpPr>
        <p:spPr>
          <a:xfrm>
            <a:off x="1664659" y="2753042"/>
            <a:ext cx="2229769" cy="24622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800" b="0" i="0" u="none" strike="noStrike" kern="0" cap="none" spc="0" normalizeH="0" baseline="0" noProof="0" dirty="0">
                <a:ln>
                  <a:noFill/>
                </a:ln>
                <a:solidFill>
                  <a:srgbClr val="0097A9">
                    <a:lumMod val="75000"/>
                  </a:srgbClr>
                </a:solidFill>
                <a:effectLst/>
                <a:uLnTx/>
                <a:uFillTx/>
                <a:latin typeface="Verdana" panose="020B0604030504040204" pitchFamily="34" charset="0"/>
                <a:ea typeface="Verdana" panose="020B0604030504040204" pitchFamily="34" charset="0"/>
                <a:cs typeface="Arial" panose="020B0604020202020204" pitchFamily="34" charset="0"/>
              </a:rPr>
              <a:t>As-Is Assessment and Training Policy Plan Understanding &amp; Presentation</a:t>
            </a:r>
            <a:endParaRPr kumimoji="0" lang="en-IN" sz="800" b="0" i="0" u="none" strike="noStrike" kern="0" cap="none" spc="0" normalizeH="0" baseline="0" noProof="0" dirty="0">
              <a:ln>
                <a:noFill/>
              </a:ln>
              <a:solidFill>
                <a:prstClr val="white">
                  <a:lumMod val="50000"/>
                </a:prstClr>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229722556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92A5516-9E8F-4D18-B926-2FF39514D8D6}"/>
              </a:ext>
            </a:extLst>
          </p:cNvPr>
          <p:cNvGraphicFramePr>
            <a:graphicFrameLocks noChangeAspect="1"/>
          </p:cNvGraphicFramePr>
          <p:nvPr>
            <p:custDataLst>
              <p:tags r:id="rId2"/>
            </p:custDataLst>
            <p:extLst>
              <p:ext uri="{D42A27DB-BD31-4B8C-83A1-F6EECF244321}">
                <p14:modId xmlns:p14="http://schemas.microsoft.com/office/powerpoint/2010/main" val="6308070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7229" name="think-cell Slide" r:id="rId5" imgW="415" imgH="416" progId="TCLayout.ActiveDocument.1">
                  <p:embed/>
                </p:oleObj>
              </mc:Choice>
              <mc:Fallback>
                <p:oleObj name="think-cell Slide" r:id="rId5" imgW="415" imgH="416" progId="TCLayout.ActiveDocument.1">
                  <p:embed/>
                  <p:pic>
                    <p:nvPicPr>
                      <p:cNvPr id="4" name="Object 3" hidden="1">
                        <a:extLst>
                          <a:ext uri="{FF2B5EF4-FFF2-40B4-BE49-F238E27FC236}">
                            <a16:creationId xmlns:a16="http://schemas.microsoft.com/office/drawing/2014/main" id="{492A5516-9E8F-4D18-B926-2FF39514D8D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176" b="1" dirty="0">
                <a:latin typeface="+mn-lt"/>
              </a:rPr>
              <a:t>Key Deliverables </a:t>
            </a:r>
            <a:endParaRPr lang="en-GB" sz="2176" b="1" dirty="0">
              <a:latin typeface="+mn-lt"/>
            </a:endParaRPr>
          </a:p>
        </p:txBody>
      </p:sp>
      <p:sp>
        <p:nvSpPr>
          <p:cNvPr id="37" name="Text Placeholder 1">
            <a:extLst>
              <a:ext uri="{FF2B5EF4-FFF2-40B4-BE49-F238E27FC236}">
                <a16:creationId xmlns:a16="http://schemas.microsoft.com/office/drawing/2014/main" id="{A8B0F709-DDB0-4DF0-92BF-51E5EE1E5150}"/>
              </a:ext>
            </a:extLst>
          </p:cNvPr>
          <p:cNvSpPr>
            <a:spLocks noGrp="1"/>
          </p:cNvSpPr>
          <p:nvPr>
            <p:ph type="body" sz="quarter" idx="13"/>
          </p:nvPr>
        </p:nvSpPr>
        <p:spPr>
          <a:xfrm>
            <a:off x="501650" y="651600"/>
            <a:ext cx="11188700" cy="757255"/>
          </a:xfrm>
        </p:spPr>
        <p:txBody>
          <a:bodyPr/>
          <a:lstStyle/>
          <a:p>
            <a:pPr algn="just"/>
            <a:r>
              <a:rPr lang="en-US" dirty="0"/>
              <a:t>Our approach on submission of key deliverables</a:t>
            </a:r>
          </a:p>
        </p:txBody>
      </p:sp>
      <p:cxnSp>
        <p:nvCxnSpPr>
          <p:cNvPr id="38" name="Straight Connector 37">
            <a:extLst>
              <a:ext uri="{FF2B5EF4-FFF2-40B4-BE49-F238E27FC236}">
                <a16:creationId xmlns:a16="http://schemas.microsoft.com/office/drawing/2014/main" id="{8528A0FC-8FBB-430F-8E5C-A60B563C5A75}"/>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67" name="Table 166">
            <a:extLst>
              <a:ext uri="{FF2B5EF4-FFF2-40B4-BE49-F238E27FC236}">
                <a16:creationId xmlns:a16="http://schemas.microsoft.com/office/drawing/2014/main" id="{6E1B27B5-828D-428A-9D55-CB2D5C63E747}"/>
              </a:ext>
            </a:extLst>
          </p:cNvPr>
          <p:cNvGraphicFramePr>
            <a:graphicFrameLocks noGrp="1"/>
          </p:cNvGraphicFramePr>
          <p:nvPr>
            <p:extLst>
              <p:ext uri="{D42A27DB-BD31-4B8C-83A1-F6EECF244321}">
                <p14:modId xmlns:p14="http://schemas.microsoft.com/office/powerpoint/2010/main" val="3234860858"/>
              </p:ext>
            </p:extLst>
          </p:nvPr>
        </p:nvGraphicFramePr>
        <p:xfrm>
          <a:off x="501650" y="1240180"/>
          <a:ext cx="4370604" cy="5224304"/>
        </p:xfrm>
        <a:graphic>
          <a:graphicData uri="http://schemas.openxmlformats.org/drawingml/2006/table">
            <a:tbl>
              <a:tblPr firstRow="1" bandRow="1">
                <a:tableStyleId>{5C22544A-7EE6-4342-B048-85BDC9FD1C3A}</a:tableStyleId>
              </a:tblPr>
              <a:tblGrid>
                <a:gridCol w="1511708">
                  <a:extLst>
                    <a:ext uri="{9D8B030D-6E8A-4147-A177-3AD203B41FA5}">
                      <a16:colId xmlns:a16="http://schemas.microsoft.com/office/drawing/2014/main" val="3899746196"/>
                    </a:ext>
                  </a:extLst>
                </a:gridCol>
                <a:gridCol w="2858896">
                  <a:extLst>
                    <a:ext uri="{9D8B030D-6E8A-4147-A177-3AD203B41FA5}">
                      <a16:colId xmlns:a16="http://schemas.microsoft.com/office/drawing/2014/main" val="602758991"/>
                    </a:ext>
                  </a:extLst>
                </a:gridCol>
              </a:tblGrid>
              <a:tr h="653038">
                <a:tc gridSpan="2">
                  <a:txBody>
                    <a:bodyPr/>
                    <a:lstStyle/>
                    <a:p>
                      <a:pPr marL="0" indent="0" algn="ctr">
                        <a:lnSpc>
                          <a:spcPct val="110000"/>
                        </a:lnSpc>
                        <a:buFont typeface="Arial" panose="020B0604020202020204" pitchFamily="34" charset="0"/>
                        <a:buNone/>
                      </a:pPr>
                      <a:r>
                        <a:rPr lang="en-US" sz="1600" b="1" dirty="0">
                          <a:solidFill>
                            <a:schemeClr val="accent5">
                              <a:lumMod val="75000"/>
                            </a:schemeClr>
                          </a:solidFill>
                          <a:latin typeface="+mj-lt"/>
                          <a:ea typeface="Verdana" panose="020B0604030504040204" pitchFamily="34" charset="0"/>
                        </a:rPr>
                        <a:t>Key Deliverables as per RFP</a:t>
                      </a:r>
                    </a:p>
                  </a:txBody>
                  <a:tcPr marL="91909" marR="91909" marT="91440" marB="91440" anchor="ctr">
                    <a:lnL w="571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l">
                        <a:lnSpc>
                          <a:spcPct val="110000"/>
                        </a:lnSpc>
                        <a:buFont typeface="Arial" panose="020B0604020202020204" pitchFamily="34" charset="0"/>
                        <a:buNone/>
                      </a:pPr>
                      <a:r>
                        <a:rPr lang="en-US" sz="1600" b="1" dirty="0">
                          <a:solidFill>
                            <a:schemeClr val="accent5">
                              <a:lumMod val="75000"/>
                            </a:schemeClr>
                          </a:solidFill>
                          <a:latin typeface="+mj-lt"/>
                          <a:ea typeface="Verdana" panose="020B0604030504040204" pitchFamily="34" charset="0"/>
                        </a:rPr>
                        <a:t>Key Deliverables as per RFP</a:t>
                      </a:r>
                    </a:p>
                  </a:txBody>
                  <a:tcPr marL="91909" marR="91909"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349870"/>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dirty="0">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Inception Report</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1339135"/>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As-Is Assessment on structure, manpower etc. </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6020177"/>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dirty="0">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As-Is Training Policy and Plan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314890"/>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Report &amp; presentation on To – be and recommendations</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7271849"/>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Report &amp; presentation on the Redesigned Training Policy &amp; Plan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474800"/>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Report &amp; Presentation on Capacity Building Plan including revised KPIs &amp; MIS</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625542"/>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Updated manuals and Final Report submission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6172504"/>
                  </a:ext>
                </a:extLst>
              </a:tr>
            </a:tbl>
          </a:graphicData>
        </a:graphic>
      </p:graphicFrame>
      <p:sp>
        <p:nvSpPr>
          <p:cNvPr id="168" name="Oval 167">
            <a:extLst>
              <a:ext uri="{FF2B5EF4-FFF2-40B4-BE49-F238E27FC236}">
                <a16:creationId xmlns:a16="http://schemas.microsoft.com/office/drawing/2014/main" id="{EAA886D4-F2FB-41D0-B5AE-92655B106D6B}"/>
              </a:ext>
            </a:extLst>
          </p:cNvPr>
          <p:cNvSpPr/>
          <p:nvPr/>
        </p:nvSpPr>
        <p:spPr>
          <a:xfrm>
            <a:off x="1066585" y="2085506"/>
            <a:ext cx="322373" cy="330484"/>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A</a:t>
            </a:r>
          </a:p>
        </p:txBody>
      </p:sp>
      <p:sp>
        <p:nvSpPr>
          <p:cNvPr id="169" name="Oval 168">
            <a:extLst>
              <a:ext uri="{FF2B5EF4-FFF2-40B4-BE49-F238E27FC236}">
                <a16:creationId xmlns:a16="http://schemas.microsoft.com/office/drawing/2014/main" id="{703D47A0-1B0A-41AB-B7D2-8F016B98990B}"/>
              </a:ext>
            </a:extLst>
          </p:cNvPr>
          <p:cNvSpPr/>
          <p:nvPr/>
        </p:nvSpPr>
        <p:spPr>
          <a:xfrm>
            <a:off x="1066581" y="2680482"/>
            <a:ext cx="322373" cy="330484"/>
          </a:xfrm>
          <a:prstGeom prst="ellipse">
            <a:avLst/>
          </a:prstGeom>
          <a:solidFill>
            <a:srgbClr val="0D839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B</a:t>
            </a:r>
          </a:p>
        </p:txBody>
      </p:sp>
      <p:sp>
        <p:nvSpPr>
          <p:cNvPr id="170" name="Oval 169">
            <a:extLst>
              <a:ext uri="{FF2B5EF4-FFF2-40B4-BE49-F238E27FC236}">
                <a16:creationId xmlns:a16="http://schemas.microsoft.com/office/drawing/2014/main" id="{715F37D9-8339-4D32-80DB-282A44FB1419}"/>
              </a:ext>
            </a:extLst>
          </p:cNvPr>
          <p:cNvSpPr/>
          <p:nvPr/>
        </p:nvSpPr>
        <p:spPr>
          <a:xfrm>
            <a:off x="1066576" y="3365371"/>
            <a:ext cx="322373" cy="330484"/>
          </a:xfrm>
          <a:prstGeom prst="ellipse">
            <a:avLst/>
          </a:prstGeom>
          <a:solidFill>
            <a:srgbClr val="0D839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C</a:t>
            </a:r>
          </a:p>
        </p:txBody>
      </p:sp>
      <p:sp>
        <p:nvSpPr>
          <p:cNvPr id="171" name="Oval 170">
            <a:extLst>
              <a:ext uri="{FF2B5EF4-FFF2-40B4-BE49-F238E27FC236}">
                <a16:creationId xmlns:a16="http://schemas.microsoft.com/office/drawing/2014/main" id="{3A7F3060-DC2E-4C46-977E-504827F0E81C}"/>
              </a:ext>
            </a:extLst>
          </p:cNvPr>
          <p:cNvSpPr/>
          <p:nvPr/>
        </p:nvSpPr>
        <p:spPr>
          <a:xfrm>
            <a:off x="1066577" y="4033303"/>
            <a:ext cx="322373" cy="330484"/>
          </a:xfrm>
          <a:prstGeom prst="ellipse">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D</a:t>
            </a:r>
          </a:p>
        </p:txBody>
      </p:sp>
      <p:sp>
        <p:nvSpPr>
          <p:cNvPr id="172" name="Oval 171">
            <a:extLst>
              <a:ext uri="{FF2B5EF4-FFF2-40B4-BE49-F238E27FC236}">
                <a16:creationId xmlns:a16="http://schemas.microsoft.com/office/drawing/2014/main" id="{D9DB178C-18B8-49A5-B73B-2BA74161376F}"/>
              </a:ext>
            </a:extLst>
          </p:cNvPr>
          <p:cNvSpPr/>
          <p:nvPr/>
        </p:nvSpPr>
        <p:spPr>
          <a:xfrm>
            <a:off x="1066577" y="4667450"/>
            <a:ext cx="322373" cy="330484"/>
          </a:xfrm>
          <a:prstGeom prst="ellipse">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E</a:t>
            </a:r>
          </a:p>
        </p:txBody>
      </p:sp>
      <p:graphicFrame>
        <p:nvGraphicFramePr>
          <p:cNvPr id="173" name="Table 172">
            <a:extLst>
              <a:ext uri="{FF2B5EF4-FFF2-40B4-BE49-F238E27FC236}">
                <a16:creationId xmlns:a16="http://schemas.microsoft.com/office/drawing/2014/main" id="{2C70E468-A8FA-474A-B261-23CFCB2C3DFE}"/>
              </a:ext>
            </a:extLst>
          </p:cNvPr>
          <p:cNvGraphicFramePr>
            <a:graphicFrameLocks noGrp="1"/>
          </p:cNvGraphicFramePr>
          <p:nvPr>
            <p:extLst>
              <p:ext uri="{D42A27DB-BD31-4B8C-83A1-F6EECF244321}">
                <p14:modId xmlns:p14="http://schemas.microsoft.com/office/powerpoint/2010/main" val="176819930"/>
              </p:ext>
            </p:extLst>
          </p:nvPr>
        </p:nvGraphicFramePr>
        <p:xfrm>
          <a:off x="5560039" y="1240180"/>
          <a:ext cx="6150625" cy="5210076"/>
        </p:xfrm>
        <a:graphic>
          <a:graphicData uri="http://schemas.openxmlformats.org/drawingml/2006/table">
            <a:tbl>
              <a:tblPr firstRow="1" bandRow="1">
                <a:tableStyleId>{5C22544A-7EE6-4342-B048-85BDC9FD1C3A}</a:tableStyleId>
              </a:tblPr>
              <a:tblGrid>
                <a:gridCol w="1182957">
                  <a:extLst>
                    <a:ext uri="{9D8B030D-6E8A-4147-A177-3AD203B41FA5}">
                      <a16:colId xmlns:a16="http://schemas.microsoft.com/office/drawing/2014/main" val="3899746196"/>
                    </a:ext>
                  </a:extLst>
                </a:gridCol>
                <a:gridCol w="3969866">
                  <a:extLst>
                    <a:ext uri="{9D8B030D-6E8A-4147-A177-3AD203B41FA5}">
                      <a16:colId xmlns:a16="http://schemas.microsoft.com/office/drawing/2014/main" val="602758991"/>
                    </a:ext>
                  </a:extLst>
                </a:gridCol>
                <a:gridCol w="997802">
                  <a:extLst>
                    <a:ext uri="{9D8B030D-6E8A-4147-A177-3AD203B41FA5}">
                      <a16:colId xmlns:a16="http://schemas.microsoft.com/office/drawing/2014/main" val="3811379987"/>
                    </a:ext>
                  </a:extLst>
                </a:gridCol>
              </a:tblGrid>
              <a:tr h="652415">
                <a:tc gridSpan="2">
                  <a:txBody>
                    <a:bodyPr/>
                    <a:lstStyle/>
                    <a:p>
                      <a:pPr marL="0" indent="0" algn="ctr">
                        <a:lnSpc>
                          <a:spcPct val="110000"/>
                        </a:lnSpc>
                        <a:buFont typeface="Arial" panose="020B0604020202020204" pitchFamily="34" charset="0"/>
                        <a:buNone/>
                      </a:pPr>
                      <a:r>
                        <a:rPr lang="en-US" sz="1600" b="1" dirty="0">
                          <a:solidFill>
                            <a:schemeClr val="accent3"/>
                          </a:solidFill>
                          <a:latin typeface="+mj-lt"/>
                        </a:rPr>
                        <a:t>Deloitte’s Deliverable Submission Approach</a:t>
                      </a:r>
                    </a:p>
                  </a:txBody>
                  <a:tcPr marL="91909" marR="91909" marT="91440" marB="91440" anchor="ctr">
                    <a:lnL w="571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l">
                        <a:lnSpc>
                          <a:spcPct val="110000"/>
                        </a:lnSpc>
                        <a:buFont typeface="Arial" panose="020B0604020202020204" pitchFamily="34" charset="0"/>
                        <a:buNone/>
                      </a:pPr>
                      <a:r>
                        <a:rPr lang="en-US" sz="1600" b="1" dirty="0">
                          <a:solidFill>
                            <a:schemeClr val="accent3"/>
                          </a:solidFill>
                          <a:latin typeface="+mj-lt"/>
                        </a:rPr>
                        <a:t>Deloitte’s Deliverable Submission Approach</a:t>
                      </a:r>
                    </a:p>
                  </a:txBody>
                  <a:tcPr marL="91909" marR="91909"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lnSpc>
                          <a:spcPct val="110000"/>
                        </a:lnSpc>
                        <a:buFont typeface="Arial" panose="020B0604020202020204" pitchFamily="34" charset="0"/>
                        <a:buNone/>
                      </a:pPr>
                      <a:r>
                        <a:rPr lang="en-US" sz="1600" b="1" dirty="0">
                          <a:solidFill>
                            <a:schemeClr val="accent3"/>
                          </a:solidFill>
                          <a:latin typeface="+mj-lt"/>
                        </a:rPr>
                        <a:t>Timelines</a:t>
                      </a:r>
                    </a:p>
                  </a:txBody>
                  <a:tcPr marL="91909" marR="91909"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349870"/>
                  </a:ext>
                </a:extLst>
              </a:tr>
              <a:tr h="669852">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Inception Report</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Week 1</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1339135"/>
                  </a:ext>
                </a:extLst>
              </a:tr>
              <a:tr h="1286539">
                <a:tc>
                  <a:txBody>
                    <a:bodyPr/>
                    <a:lstStyle/>
                    <a:p>
                      <a:pPr marL="0" indent="0" algn="ctr">
                        <a:lnSpc>
                          <a:spcPct val="110000"/>
                        </a:lnSpc>
                        <a:spcBef>
                          <a:spcPts val="300"/>
                        </a:spcBef>
                        <a:spcAft>
                          <a:spcPts val="600"/>
                        </a:spcAft>
                        <a:buFont typeface="Arial" panose="020B0604020202020204" pitchFamily="34" charset="0"/>
                        <a:buNone/>
                      </a:pPr>
                      <a:endParaRPr lang="en-US" sz="1100" b="1" dirty="0">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As-Is Assessment, As-Is Training Policy &amp; Plan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prstClr val="black"/>
                          </a:solidFill>
                          <a:effectLst/>
                          <a:uLnTx/>
                          <a:uFillTx/>
                          <a:latin typeface="Calibri"/>
                          <a:ea typeface="Verdana" panose="020B0604030504040204" pitchFamily="34" charset="0"/>
                          <a:cs typeface="+mn-cs"/>
                        </a:rPr>
                        <a:t>Week 4</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6020177"/>
                  </a:ext>
                </a:extLst>
              </a:tr>
              <a:tr h="1293465">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Human Resource and Organization To-Be Report &amp; Redesigned Training Policy and Plan </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prstClr val="black"/>
                          </a:solidFill>
                          <a:effectLst/>
                          <a:uLnTx/>
                          <a:uFillTx/>
                          <a:latin typeface="Calibri"/>
                          <a:ea typeface="Verdana" panose="020B0604030504040204" pitchFamily="34" charset="0"/>
                          <a:cs typeface="+mn-cs"/>
                        </a:rPr>
                        <a:t>Week 8</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7271849"/>
                  </a:ext>
                </a:extLst>
              </a:tr>
              <a:tr h="627321">
                <a:tc>
                  <a:txBody>
                    <a:bodyPr/>
                    <a:lstStyle/>
                    <a:p>
                      <a:pPr marL="0" indent="0" algn="ctr">
                        <a:lnSpc>
                          <a:spcPct val="110000"/>
                        </a:lnSpc>
                        <a:spcBef>
                          <a:spcPts val="300"/>
                        </a:spcBef>
                        <a:spcAft>
                          <a:spcPts val="600"/>
                        </a:spcAft>
                        <a:buFont typeface="Arial" panose="020B0604020202020204" pitchFamily="34" charset="0"/>
                        <a:buNone/>
                      </a:pPr>
                      <a:endParaRPr lang="en-US" sz="1100" b="1" dirty="0">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Report on Capacity Building Plan including revised KPIs &amp; MIS</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200" b="1" i="0" u="none" strike="noStrike" kern="1200" cap="none" spc="0" normalizeH="0" baseline="0" noProof="0" dirty="0">
                          <a:ln>
                            <a:noFill/>
                          </a:ln>
                          <a:solidFill>
                            <a:prstClr val="black"/>
                          </a:solidFill>
                          <a:effectLst/>
                          <a:uLnTx/>
                          <a:uFillTx/>
                          <a:latin typeface="Calibri"/>
                          <a:ea typeface="Verdana" panose="020B0604030504040204" pitchFamily="34" charset="0"/>
                          <a:cs typeface="+mn-cs"/>
                        </a:rPr>
                        <a:t>Week 12</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625542"/>
                  </a:ext>
                </a:extLst>
              </a:tr>
              <a:tr h="680484">
                <a:tc>
                  <a:txBody>
                    <a:bodyPr/>
                    <a:lstStyle/>
                    <a:p>
                      <a:pPr marL="0" indent="0" algn="ctr">
                        <a:lnSpc>
                          <a:spcPct val="110000"/>
                        </a:lnSpc>
                        <a:spcBef>
                          <a:spcPts val="300"/>
                        </a:spcBef>
                        <a:spcAft>
                          <a:spcPts val="600"/>
                        </a:spcAft>
                        <a:buFont typeface="Arial" panose="020B0604020202020204" pitchFamily="34" charset="0"/>
                        <a:buNone/>
                      </a:pPr>
                      <a:endParaRPr lang="en-US" sz="1100" b="1" dirty="0">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200" b="1" dirty="0">
                          <a:solidFill>
                            <a:schemeClr val="tx1"/>
                          </a:solidFill>
                          <a:latin typeface="+mj-lt"/>
                          <a:ea typeface="Verdana" panose="020B0604030504040204" pitchFamily="34" charset="0"/>
                        </a:rPr>
                        <a:t>Updated manuals and Final Report submission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200" b="1" i="0" u="none" strike="noStrike" kern="1200" cap="none" spc="0" normalizeH="0" baseline="0" noProof="0" dirty="0">
                          <a:ln>
                            <a:noFill/>
                          </a:ln>
                          <a:solidFill>
                            <a:prstClr val="black"/>
                          </a:solidFill>
                          <a:effectLst/>
                          <a:uLnTx/>
                          <a:uFillTx/>
                          <a:latin typeface="Calibri"/>
                          <a:ea typeface="Verdana" panose="020B0604030504040204" pitchFamily="34" charset="0"/>
                          <a:cs typeface="+mn-cs"/>
                        </a:rPr>
                        <a:t>Week 12</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7213785"/>
                  </a:ext>
                </a:extLst>
              </a:tr>
            </a:tbl>
          </a:graphicData>
        </a:graphic>
      </p:graphicFrame>
      <p:sp>
        <p:nvSpPr>
          <p:cNvPr id="174" name="Oval 173">
            <a:extLst>
              <a:ext uri="{FF2B5EF4-FFF2-40B4-BE49-F238E27FC236}">
                <a16:creationId xmlns:a16="http://schemas.microsoft.com/office/drawing/2014/main" id="{C6DFE6F4-C6A4-4A60-B7FE-F24BC17FBFBC}"/>
              </a:ext>
            </a:extLst>
          </p:cNvPr>
          <p:cNvSpPr/>
          <p:nvPr/>
        </p:nvSpPr>
        <p:spPr>
          <a:xfrm>
            <a:off x="6013387" y="2094728"/>
            <a:ext cx="322373" cy="330484"/>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A</a:t>
            </a:r>
          </a:p>
        </p:txBody>
      </p:sp>
      <p:sp>
        <p:nvSpPr>
          <p:cNvPr id="175" name="Oval 174">
            <a:extLst>
              <a:ext uri="{FF2B5EF4-FFF2-40B4-BE49-F238E27FC236}">
                <a16:creationId xmlns:a16="http://schemas.microsoft.com/office/drawing/2014/main" id="{64076F9B-A648-4B40-9316-03EBE88B02A2}"/>
              </a:ext>
            </a:extLst>
          </p:cNvPr>
          <p:cNvSpPr/>
          <p:nvPr/>
        </p:nvSpPr>
        <p:spPr>
          <a:xfrm>
            <a:off x="6013387" y="3063093"/>
            <a:ext cx="322373" cy="330484"/>
          </a:xfrm>
          <a:prstGeom prst="ellipse">
            <a:avLst/>
          </a:prstGeom>
          <a:solidFill>
            <a:srgbClr val="0D839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B</a:t>
            </a:r>
          </a:p>
        </p:txBody>
      </p:sp>
      <p:sp>
        <p:nvSpPr>
          <p:cNvPr id="176" name="Oval 175">
            <a:extLst>
              <a:ext uri="{FF2B5EF4-FFF2-40B4-BE49-F238E27FC236}">
                <a16:creationId xmlns:a16="http://schemas.microsoft.com/office/drawing/2014/main" id="{A7885F9D-FEFE-462A-BF74-E4732228561B}"/>
              </a:ext>
            </a:extLst>
          </p:cNvPr>
          <p:cNvSpPr/>
          <p:nvPr/>
        </p:nvSpPr>
        <p:spPr>
          <a:xfrm>
            <a:off x="6013386" y="4349084"/>
            <a:ext cx="322373" cy="330484"/>
          </a:xfrm>
          <a:prstGeom prst="ellipse">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rPr>
              <a:t>C</a:t>
            </a:r>
          </a:p>
        </p:txBody>
      </p:sp>
      <p:sp>
        <p:nvSpPr>
          <p:cNvPr id="178" name="Oval 177">
            <a:extLst>
              <a:ext uri="{FF2B5EF4-FFF2-40B4-BE49-F238E27FC236}">
                <a16:creationId xmlns:a16="http://schemas.microsoft.com/office/drawing/2014/main" id="{84DD63E0-CF1D-4C26-83C2-9DD1400E6AFF}"/>
              </a:ext>
            </a:extLst>
          </p:cNvPr>
          <p:cNvSpPr/>
          <p:nvPr/>
        </p:nvSpPr>
        <p:spPr>
          <a:xfrm>
            <a:off x="6013387" y="5298412"/>
            <a:ext cx="322373" cy="330484"/>
          </a:xfrm>
          <a:prstGeom prst="ellipse">
            <a:avLst/>
          </a:prstGeom>
          <a:solidFill>
            <a:srgbClr val="26890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b="1" kern="0" dirty="0">
                <a:solidFill>
                  <a:prstClr val="white"/>
                </a:solidFill>
                <a:latin typeface="Calibri" panose="020F0502020204030204"/>
              </a:rPr>
              <a:t>D</a:t>
            </a:r>
            <a:endPar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7B6830CD-46E5-4317-B152-D7D81867CCAE}"/>
              </a:ext>
            </a:extLst>
          </p:cNvPr>
          <p:cNvSpPr/>
          <p:nvPr/>
        </p:nvSpPr>
        <p:spPr>
          <a:xfrm>
            <a:off x="1066577" y="5306205"/>
            <a:ext cx="322373" cy="330484"/>
          </a:xfrm>
          <a:prstGeom prst="ellipse">
            <a:avLst/>
          </a:prstGeom>
          <a:solidFill>
            <a:srgbClr val="26890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b="1" kern="0" dirty="0">
                <a:solidFill>
                  <a:prstClr val="white"/>
                </a:solidFill>
                <a:latin typeface="Calibri" panose="020F0502020204030204"/>
              </a:rPr>
              <a:t>F</a:t>
            </a:r>
            <a:endPar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80" name="Oval 179">
            <a:extLst>
              <a:ext uri="{FF2B5EF4-FFF2-40B4-BE49-F238E27FC236}">
                <a16:creationId xmlns:a16="http://schemas.microsoft.com/office/drawing/2014/main" id="{F870972C-791B-4C4E-8E5D-B5DD9AA665F8}"/>
              </a:ext>
            </a:extLst>
          </p:cNvPr>
          <p:cNvSpPr/>
          <p:nvPr/>
        </p:nvSpPr>
        <p:spPr>
          <a:xfrm>
            <a:off x="1066578" y="5930979"/>
            <a:ext cx="322373" cy="330484"/>
          </a:xfrm>
          <a:prstGeom prst="ellipse">
            <a:avLst/>
          </a:prstGeom>
          <a:solidFill>
            <a:srgbClr val="26890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b="1" kern="0">
                <a:solidFill>
                  <a:prstClr val="white"/>
                </a:solidFill>
                <a:latin typeface="Calibri" panose="020F0502020204030204"/>
              </a:rPr>
              <a:t>G</a:t>
            </a:r>
            <a:endParaRPr kumimoji="0" lang="en-US" sz="1800" b="1"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1" name="Oval 180">
            <a:extLst>
              <a:ext uri="{FF2B5EF4-FFF2-40B4-BE49-F238E27FC236}">
                <a16:creationId xmlns:a16="http://schemas.microsoft.com/office/drawing/2014/main" id="{ACCBB5DB-87DF-4D9A-AFDE-EF82E1FB3337}"/>
              </a:ext>
            </a:extLst>
          </p:cNvPr>
          <p:cNvSpPr/>
          <p:nvPr/>
        </p:nvSpPr>
        <p:spPr>
          <a:xfrm>
            <a:off x="6024322" y="5931568"/>
            <a:ext cx="322373" cy="330484"/>
          </a:xfrm>
          <a:prstGeom prst="ellipse">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b="1" kern="0" dirty="0">
                <a:solidFill>
                  <a:prstClr val="white"/>
                </a:solidFill>
                <a:latin typeface="Calibri" panose="020F0502020204030204"/>
              </a:rPr>
              <a:t>E</a:t>
            </a:r>
            <a:endParaRPr kumimoji="0" lang="en-US" sz="1800" b="1"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82" name="Isosceles Triangle 181">
            <a:extLst>
              <a:ext uri="{FF2B5EF4-FFF2-40B4-BE49-F238E27FC236}">
                <a16:creationId xmlns:a16="http://schemas.microsoft.com/office/drawing/2014/main" id="{6A178BA0-0B93-48CE-AC7A-3040038FBAAD}"/>
              </a:ext>
            </a:extLst>
          </p:cNvPr>
          <p:cNvSpPr/>
          <p:nvPr/>
        </p:nvSpPr>
        <p:spPr bwMode="gray">
          <a:xfrm rot="5400000">
            <a:off x="2611113" y="3733545"/>
            <a:ext cx="5207853" cy="221126"/>
          </a:xfrm>
          <a:prstGeom prst="triangle">
            <a:avLst>
              <a:gd name="adj" fmla="val 50000"/>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bg1"/>
              </a:solidFill>
            </a:endParaRPr>
          </a:p>
        </p:txBody>
      </p:sp>
      <p:grpSp>
        <p:nvGrpSpPr>
          <p:cNvPr id="192" name="Group 191">
            <a:extLst>
              <a:ext uri="{FF2B5EF4-FFF2-40B4-BE49-F238E27FC236}">
                <a16:creationId xmlns:a16="http://schemas.microsoft.com/office/drawing/2014/main" id="{08B720C9-608C-4E01-8A99-E7DFCCA8C944}"/>
              </a:ext>
            </a:extLst>
          </p:cNvPr>
          <p:cNvGrpSpPr/>
          <p:nvPr/>
        </p:nvGrpSpPr>
        <p:grpSpPr>
          <a:xfrm>
            <a:off x="11514551" y="1884152"/>
            <a:ext cx="371912" cy="4591076"/>
            <a:chOff x="11504393" y="1894751"/>
            <a:chExt cx="371912" cy="4569734"/>
          </a:xfrm>
        </p:grpSpPr>
        <p:sp>
          <p:nvSpPr>
            <p:cNvPr id="5" name="Arrow: Down 4">
              <a:extLst>
                <a:ext uri="{FF2B5EF4-FFF2-40B4-BE49-F238E27FC236}">
                  <a16:creationId xmlns:a16="http://schemas.microsoft.com/office/drawing/2014/main" id="{2CBC75DD-AA76-48F2-B588-FB2D172842D1}"/>
                </a:ext>
              </a:extLst>
            </p:cNvPr>
            <p:cNvSpPr/>
            <p:nvPr/>
          </p:nvSpPr>
          <p:spPr bwMode="gray">
            <a:xfrm>
              <a:off x="11504393" y="1894751"/>
              <a:ext cx="371912" cy="4569734"/>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3" name="Rectangle 182">
              <a:extLst>
                <a:ext uri="{FF2B5EF4-FFF2-40B4-BE49-F238E27FC236}">
                  <a16:creationId xmlns:a16="http://schemas.microsoft.com/office/drawing/2014/main" id="{1F16BF30-78D9-4EF1-8733-88C9ECC151BF}"/>
                </a:ext>
              </a:extLst>
            </p:cNvPr>
            <p:cNvSpPr/>
            <p:nvPr/>
          </p:nvSpPr>
          <p:spPr bwMode="gray">
            <a:xfrm>
              <a:off x="11598773" y="1894751"/>
              <a:ext cx="183151" cy="1948955"/>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5" name="Oval 184">
              <a:extLst>
                <a:ext uri="{FF2B5EF4-FFF2-40B4-BE49-F238E27FC236}">
                  <a16:creationId xmlns:a16="http://schemas.microsoft.com/office/drawing/2014/main" id="{C299C4B8-0E28-4BDC-BE75-8F9E12AC62CF}"/>
                </a:ext>
              </a:extLst>
            </p:cNvPr>
            <p:cNvSpPr/>
            <p:nvPr/>
          </p:nvSpPr>
          <p:spPr bwMode="gray">
            <a:xfrm>
              <a:off x="11621768" y="3107628"/>
              <a:ext cx="137160" cy="13716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8" name="Oval 187">
              <a:extLst>
                <a:ext uri="{FF2B5EF4-FFF2-40B4-BE49-F238E27FC236}">
                  <a16:creationId xmlns:a16="http://schemas.microsoft.com/office/drawing/2014/main" id="{65972E15-298F-48DB-B00D-C124B07F062E}"/>
                </a:ext>
              </a:extLst>
            </p:cNvPr>
            <p:cNvSpPr/>
            <p:nvPr/>
          </p:nvSpPr>
          <p:spPr bwMode="gray">
            <a:xfrm>
              <a:off x="11621768" y="5428167"/>
              <a:ext cx="137160" cy="13716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9" name="Oval 188">
              <a:extLst>
                <a:ext uri="{FF2B5EF4-FFF2-40B4-BE49-F238E27FC236}">
                  <a16:creationId xmlns:a16="http://schemas.microsoft.com/office/drawing/2014/main" id="{526AF815-B82D-4619-9AAD-9989D47929B3}"/>
                </a:ext>
              </a:extLst>
            </p:cNvPr>
            <p:cNvSpPr/>
            <p:nvPr/>
          </p:nvSpPr>
          <p:spPr bwMode="gray">
            <a:xfrm>
              <a:off x="11616660" y="6013833"/>
              <a:ext cx="137160" cy="13716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90" name="Rectangle 189">
              <a:extLst>
                <a:ext uri="{FF2B5EF4-FFF2-40B4-BE49-F238E27FC236}">
                  <a16:creationId xmlns:a16="http://schemas.microsoft.com/office/drawing/2014/main" id="{B7334FB4-002F-4293-AE19-FFC3DCB2BD12}"/>
                </a:ext>
              </a:extLst>
            </p:cNvPr>
            <p:cNvSpPr/>
            <p:nvPr/>
          </p:nvSpPr>
          <p:spPr bwMode="gray">
            <a:xfrm>
              <a:off x="11599344" y="3848522"/>
              <a:ext cx="182844" cy="1281962"/>
            </a:xfrm>
            <a:prstGeom prst="rect">
              <a:avLst/>
            </a:prstGeom>
            <a:solidFill>
              <a:srgbClr val="00558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6" name="Oval 185">
              <a:extLst>
                <a:ext uri="{FF2B5EF4-FFF2-40B4-BE49-F238E27FC236}">
                  <a16:creationId xmlns:a16="http://schemas.microsoft.com/office/drawing/2014/main" id="{9A2BE1CA-DCDA-424B-A137-19E13D4FE866}"/>
                </a:ext>
              </a:extLst>
            </p:cNvPr>
            <p:cNvSpPr/>
            <p:nvPr/>
          </p:nvSpPr>
          <p:spPr bwMode="gray">
            <a:xfrm>
              <a:off x="11622198" y="4444118"/>
              <a:ext cx="137160" cy="13716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sp>
        <p:nvSpPr>
          <p:cNvPr id="30" name="Rectangle 29">
            <a:extLst>
              <a:ext uri="{FF2B5EF4-FFF2-40B4-BE49-F238E27FC236}">
                <a16:creationId xmlns:a16="http://schemas.microsoft.com/office/drawing/2014/main" id="{08F1E2C5-1C52-498B-857C-4E26FE2E8D99}"/>
              </a:ext>
            </a:extLst>
          </p:cNvPr>
          <p:cNvSpPr/>
          <p:nvPr/>
        </p:nvSpPr>
        <p:spPr bwMode="gray">
          <a:xfrm>
            <a:off x="11608667" y="1884219"/>
            <a:ext cx="183150" cy="664350"/>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1" name="Oval 30">
            <a:extLst>
              <a:ext uri="{FF2B5EF4-FFF2-40B4-BE49-F238E27FC236}">
                <a16:creationId xmlns:a16="http://schemas.microsoft.com/office/drawing/2014/main" id="{03D48B82-1AA0-470E-B884-849C0D878BB0}"/>
              </a:ext>
            </a:extLst>
          </p:cNvPr>
          <p:cNvSpPr/>
          <p:nvPr/>
        </p:nvSpPr>
        <p:spPr bwMode="gray">
          <a:xfrm>
            <a:off x="11626818" y="2182415"/>
            <a:ext cx="137160" cy="137801"/>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1332339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92A5516-9E8F-4D18-B926-2FF39514D8D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6989" name="think-cell Slide" r:id="rId5" imgW="415" imgH="416" progId="TCLayout.ActiveDocument.1">
                  <p:embed/>
                </p:oleObj>
              </mc:Choice>
              <mc:Fallback>
                <p:oleObj name="think-cell Slide" r:id="rId5" imgW="415" imgH="416" progId="TCLayout.ActiveDocument.1">
                  <p:embed/>
                  <p:pic>
                    <p:nvPicPr>
                      <p:cNvPr id="4" name="Object 3" hidden="1">
                        <a:extLst>
                          <a:ext uri="{FF2B5EF4-FFF2-40B4-BE49-F238E27FC236}">
                            <a16:creationId xmlns:a16="http://schemas.microsoft.com/office/drawing/2014/main" id="{492A5516-9E8F-4D18-B926-2FF39514D8D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176" b="1">
                <a:latin typeface="+mn-lt"/>
              </a:rPr>
              <a:t>Next Steps</a:t>
            </a:r>
            <a:endParaRPr lang="en-GB" sz="2176" b="1">
              <a:latin typeface="+mn-lt"/>
            </a:endParaRPr>
          </a:p>
        </p:txBody>
      </p:sp>
      <p:cxnSp>
        <p:nvCxnSpPr>
          <p:cNvPr id="43" name="Straight Connector 42"/>
          <p:cNvCxnSpPr>
            <a:cxnSpLocks/>
          </p:cNvCxnSpPr>
          <p:nvPr/>
        </p:nvCxnSpPr>
        <p:spPr>
          <a:xfrm>
            <a:off x="559453" y="1354642"/>
            <a:ext cx="107181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022071" y="1246920"/>
            <a:ext cx="3826749" cy="246221"/>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GB" sz="1600" b="1" i="0" u="none" strike="noStrike" kern="1200" cap="none" spc="0" normalizeH="0" baseline="0" noProof="0" dirty="0">
                <a:ln>
                  <a:noFill/>
                </a:ln>
                <a:solidFill>
                  <a:srgbClr val="313131"/>
                </a:solidFill>
                <a:effectLst/>
                <a:uLnTx/>
                <a:uFillTx/>
                <a:latin typeface="Calibri"/>
                <a:ea typeface="+mn-ea"/>
                <a:cs typeface="+mn-cs"/>
              </a:rPr>
              <a:t>Key requests from Deloitte</a:t>
            </a:r>
          </a:p>
        </p:txBody>
      </p:sp>
      <p:sp>
        <p:nvSpPr>
          <p:cNvPr id="37" name="Text Placeholder 1">
            <a:extLst>
              <a:ext uri="{FF2B5EF4-FFF2-40B4-BE49-F238E27FC236}">
                <a16:creationId xmlns:a16="http://schemas.microsoft.com/office/drawing/2014/main" id="{A8B0F709-DDB0-4DF0-92BF-51E5EE1E5150}"/>
              </a:ext>
            </a:extLst>
          </p:cNvPr>
          <p:cNvSpPr>
            <a:spLocks noGrp="1"/>
          </p:cNvSpPr>
          <p:nvPr>
            <p:ph type="body" sz="quarter" idx="13"/>
          </p:nvPr>
        </p:nvSpPr>
        <p:spPr>
          <a:xfrm>
            <a:off x="501650" y="651600"/>
            <a:ext cx="11188700" cy="757255"/>
          </a:xfrm>
        </p:spPr>
        <p:txBody>
          <a:bodyPr/>
          <a:lstStyle/>
          <a:p>
            <a:pPr algn="just"/>
            <a:r>
              <a:rPr lang="en-US"/>
              <a:t>Way forward to ensure seamless execution </a:t>
            </a:r>
          </a:p>
        </p:txBody>
      </p:sp>
      <p:cxnSp>
        <p:nvCxnSpPr>
          <p:cNvPr id="38" name="Straight Connector 37">
            <a:extLst>
              <a:ext uri="{FF2B5EF4-FFF2-40B4-BE49-F238E27FC236}">
                <a16:creationId xmlns:a16="http://schemas.microsoft.com/office/drawing/2014/main" id="{8528A0FC-8FBB-430F-8E5C-A60B563C5A75}"/>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5" name="组合 746">
            <a:extLst>
              <a:ext uri="{FF2B5EF4-FFF2-40B4-BE49-F238E27FC236}">
                <a16:creationId xmlns:a16="http://schemas.microsoft.com/office/drawing/2014/main" id="{D44628F9-6CBF-40BC-961A-C0AEA6E56F48}"/>
              </a:ext>
            </a:extLst>
          </p:cNvPr>
          <p:cNvGrpSpPr/>
          <p:nvPr/>
        </p:nvGrpSpPr>
        <p:grpSpPr>
          <a:xfrm>
            <a:off x="536945" y="2295458"/>
            <a:ext cx="5391683" cy="922672"/>
            <a:chOff x="1371600" y="2181225"/>
            <a:chExt cx="3716338" cy="574675"/>
          </a:xfrm>
        </p:grpSpPr>
        <p:sp>
          <p:nvSpPr>
            <p:cNvPr id="36" name="Freeform 5">
              <a:extLst>
                <a:ext uri="{FF2B5EF4-FFF2-40B4-BE49-F238E27FC236}">
                  <a16:creationId xmlns:a16="http://schemas.microsoft.com/office/drawing/2014/main" id="{B75F7238-A63E-4CBB-9C51-6C4ED36D85BE}"/>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39" name="Freeform 6">
              <a:extLst>
                <a:ext uri="{FF2B5EF4-FFF2-40B4-BE49-F238E27FC236}">
                  <a16:creationId xmlns:a16="http://schemas.microsoft.com/office/drawing/2014/main" id="{E9C2AF9A-F8FF-4221-A0DE-9AE3D990974B}"/>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1300"/>
            </a:p>
          </p:txBody>
        </p:sp>
      </p:grpSp>
      <p:sp>
        <p:nvSpPr>
          <p:cNvPr id="40" name="íṥ1íḑé">
            <a:extLst>
              <a:ext uri="{FF2B5EF4-FFF2-40B4-BE49-F238E27FC236}">
                <a16:creationId xmlns:a16="http://schemas.microsoft.com/office/drawing/2014/main" id="{3802F577-7FC6-4835-9252-6FAF083DFA6E}"/>
              </a:ext>
            </a:extLst>
          </p:cNvPr>
          <p:cNvSpPr/>
          <p:nvPr/>
        </p:nvSpPr>
        <p:spPr bwMode="auto">
          <a:xfrm>
            <a:off x="2144980" y="2322547"/>
            <a:ext cx="2746550"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a:solidFill>
                  <a:srgbClr val="FFFFFF"/>
                </a:solidFill>
                <a:ea typeface="Verdana" panose="020B0604030504040204" pitchFamily="34" charset="0"/>
                <a:cs typeface="Verdana" panose="020B0604030504040204" pitchFamily="34" charset="0"/>
              </a:rPr>
              <a:t>Request to appoint a nodal person and counterpart team for each area, making documents available and highlighting any project issues.</a:t>
            </a:r>
          </a:p>
        </p:txBody>
      </p:sp>
      <p:sp>
        <p:nvSpPr>
          <p:cNvPr id="41" name="ïṣľíḍe">
            <a:extLst>
              <a:ext uri="{FF2B5EF4-FFF2-40B4-BE49-F238E27FC236}">
                <a16:creationId xmlns:a16="http://schemas.microsoft.com/office/drawing/2014/main" id="{3B6373E5-66BC-4C92-804D-84A8AFC26576}"/>
              </a:ext>
            </a:extLst>
          </p:cNvPr>
          <p:cNvSpPr txBox="1"/>
          <p:nvPr/>
        </p:nvSpPr>
        <p:spPr bwMode="auto">
          <a:xfrm>
            <a:off x="2198424" y="1963916"/>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b="1">
                <a:solidFill>
                  <a:schemeClr val="accent3"/>
                </a:solidFill>
                <a:ea typeface="Verdana" panose="020B0604030504040204" pitchFamily="34" charset="0"/>
                <a:cs typeface="Verdana" panose="020B0604030504040204" pitchFamily="34" charset="0"/>
              </a:rPr>
              <a:t>Counterpart Team and Nodal Person</a:t>
            </a:r>
          </a:p>
        </p:txBody>
      </p:sp>
      <p:sp>
        <p:nvSpPr>
          <p:cNvPr id="42" name="椭圆 787">
            <a:extLst>
              <a:ext uri="{FF2B5EF4-FFF2-40B4-BE49-F238E27FC236}">
                <a16:creationId xmlns:a16="http://schemas.microsoft.com/office/drawing/2014/main" id="{F5BFEE16-7BA4-41E6-B7FA-2EE69C1E7D8E}"/>
              </a:ext>
            </a:extLst>
          </p:cNvPr>
          <p:cNvSpPr/>
          <p:nvPr/>
        </p:nvSpPr>
        <p:spPr bwMode="gray">
          <a:xfrm>
            <a:off x="661485" y="1945358"/>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nvGrpSpPr>
          <p:cNvPr id="44" name="Group 43">
            <a:extLst>
              <a:ext uri="{FF2B5EF4-FFF2-40B4-BE49-F238E27FC236}">
                <a16:creationId xmlns:a16="http://schemas.microsoft.com/office/drawing/2014/main" id="{158EFE0A-A656-46B7-8E4D-0BC2967A1F42}"/>
              </a:ext>
            </a:extLst>
          </p:cNvPr>
          <p:cNvGrpSpPr/>
          <p:nvPr/>
        </p:nvGrpSpPr>
        <p:grpSpPr>
          <a:xfrm>
            <a:off x="6413144" y="2295458"/>
            <a:ext cx="5350964" cy="922672"/>
            <a:chOff x="8003869" y="1743316"/>
            <a:chExt cx="3716338" cy="922672"/>
          </a:xfrm>
        </p:grpSpPr>
        <p:sp>
          <p:nvSpPr>
            <p:cNvPr id="45" name="Freeform 5">
              <a:extLst>
                <a:ext uri="{FF2B5EF4-FFF2-40B4-BE49-F238E27FC236}">
                  <a16:creationId xmlns:a16="http://schemas.microsoft.com/office/drawing/2014/main" id="{811ECE59-AECA-45CE-A943-203A739119C6}"/>
                </a:ext>
              </a:extLst>
            </p:cNvPr>
            <p:cNvSpPr>
              <a:spLocks/>
            </p:cNvSpPr>
            <p:nvPr/>
          </p:nvSpPr>
          <p:spPr bwMode="auto">
            <a:xfrm>
              <a:off x="8003869" y="1743316"/>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43B0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46" name="Freeform 6">
              <a:extLst>
                <a:ext uri="{FF2B5EF4-FFF2-40B4-BE49-F238E27FC236}">
                  <a16:creationId xmlns:a16="http://schemas.microsoft.com/office/drawing/2014/main" id="{F5372670-17D3-4127-B26D-E2C1B3DDF40E}"/>
                </a:ext>
              </a:extLst>
            </p:cNvPr>
            <p:cNvSpPr>
              <a:spLocks/>
            </p:cNvSpPr>
            <p:nvPr/>
          </p:nvSpPr>
          <p:spPr bwMode="auto">
            <a:xfrm>
              <a:off x="11182044" y="1743316"/>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endParaRPr lang="en-US" sz="1300"/>
            </a:p>
          </p:txBody>
        </p:sp>
      </p:grpSp>
      <p:sp>
        <p:nvSpPr>
          <p:cNvPr id="47" name="íṥ1íḑé">
            <a:extLst>
              <a:ext uri="{FF2B5EF4-FFF2-40B4-BE49-F238E27FC236}">
                <a16:creationId xmlns:a16="http://schemas.microsoft.com/office/drawing/2014/main" id="{19ED7B74-3116-499F-8670-9C4F1FB00323}"/>
              </a:ext>
            </a:extLst>
          </p:cNvPr>
          <p:cNvSpPr/>
          <p:nvPr/>
        </p:nvSpPr>
        <p:spPr bwMode="auto">
          <a:xfrm>
            <a:off x="8099356" y="2308054"/>
            <a:ext cx="2793062"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dirty="0">
                <a:solidFill>
                  <a:srgbClr val="FFFFFF"/>
                </a:solidFill>
                <a:ea typeface="Verdana" panose="020B0604030504040204" pitchFamily="34" charset="0"/>
                <a:cs typeface="Verdana" panose="020B0604030504040204" pitchFamily="34" charset="0"/>
              </a:rPr>
              <a:t>Request to set-up in person meetings with each department. HoDs to direct team members for participation.</a:t>
            </a:r>
          </a:p>
        </p:txBody>
      </p:sp>
      <p:sp>
        <p:nvSpPr>
          <p:cNvPr id="49" name="ïṣľíḍe">
            <a:extLst>
              <a:ext uri="{FF2B5EF4-FFF2-40B4-BE49-F238E27FC236}">
                <a16:creationId xmlns:a16="http://schemas.microsoft.com/office/drawing/2014/main" id="{AD1CC514-02FC-4F64-97E2-B2142AE38A59}"/>
              </a:ext>
            </a:extLst>
          </p:cNvPr>
          <p:cNvSpPr txBox="1"/>
          <p:nvPr/>
        </p:nvSpPr>
        <p:spPr bwMode="auto">
          <a:xfrm>
            <a:off x="8102137" y="1983760"/>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b="1">
                <a:solidFill>
                  <a:srgbClr val="43B02A"/>
                </a:solidFill>
                <a:ea typeface="Verdana" panose="020B0604030504040204" pitchFamily="34" charset="0"/>
                <a:cs typeface="Verdana" panose="020B0604030504040204" pitchFamily="34" charset="0"/>
              </a:rPr>
              <a:t>Stakeholder Meetings </a:t>
            </a:r>
          </a:p>
        </p:txBody>
      </p:sp>
      <p:sp>
        <p:nvSpPr>
          <p:cNvPr id="50" name="椭圆 788">
            <a:extLst>
              <a:ext uri="{FF2B5EF4-FFF2-40B4-BE49-F238E27FC236}">
                <a16:creationId xmlns:a16="http://schemas.microsoft.com/office/drawing/2014/main" id="{E88168AE-DBE2-48A8-A155-89275347392C}"/>
              </a:ext>
            </a:extLst>
          </p:cNvPr>
          <p:cNvSpPr/>
          <p:nvPr/>
        </p:nvSpPr>
        <p:spPr bwMode="gray">
          <a:xfrm>
            <a:off x="6534903" y="1945358"/>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nvGrpSpPr>
          <p:cNvPr id="51" name="Group 50">
            <a:extLst>
              <a:ext uri="{FF2B5EF4-FFF2-40B4-BE49-F238E27FC236}">
                <a16:creationId xmlns:a16="http://schemas.microsoft.com/office/drawing/2014/main" id="{9F4257FD-1002-47E3-AB25-9C697FE7307F}"/>
              </a:ext>
            </a:extLst>
          </p:cNvPr>
          <p:cNvGrpSpPr/>
          <p:nvPr/>
        </p:nvGrpSpPr>
        <p:grpSpPr>
          <a:xfrm>
            <a:off x="6410363" y="4508129"/>
            <a:ext cx="5350964" cy="922672"/>
            <a:chOff x="8001088" y="3883590"/>
            <a:chExt cx="3716338" cy="922672"/>
          </a:xfrm>
          <a:solidFill>
            <a:schemeClr val="accent6"/>
          </a:solidFill>
        </p:grpSpPr>
        <p:sp>
          <p:nvSpPr>
            <p:cNvPr id="52" name="Freeform 5">
              <a:extLst>
                <a:ext uri="{FF2B5EF4-FFF2-40B4-BE49-F238E27FC236}">
                  <a16:creationId xmlns:a16="http://schemas.microsoft.com/office/drawing/2014/main" id="{141A1785-4655-4BC6-9199-F307C29EF297}"/>
                </a:ext>
              </a:extLst>
            </p:cNvPr>
            <p:cNvSpPr>
              <a:spLocks/>
            </p:cNvSpPr>
            <p:nvPr/>
          </p:nvSpPr>
          <p:spPr bwMode="auto">
            <a:xfrm>
              <a:off x="8001088" y="3883590"/>
              <a:ext cx="3522663" cy="922672"/>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53" name="Freeform 6">
              <a:extLst>
                <a:ext uri="{FF2B5EF4-FFF2-40B4-BE49-F238E27FC236}">
                  <a16:creationId xmlns:a16="http://schemas.microsoft.com/office/drawing/2014/main" id="{9FB45CEE-F9A7-4048-84FB-1D35B4D7BBCD}"/>
                </a:ext>
              </a:extLst>
            </p:cNvPr>
            <p:cNvSpPr>
              <a:spLocks/>
            </p:cNvSpPr>
            <p:nvPr/>
          </p:nvSpPr>
          <p:spPr bwMode="auto">
            <a:xfrm>
              <a:off x="11179263" y="3883590"/>
              <a:ext cx="538163" cy="922672"/>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005587"/>
            </a:solidFill>
            <a:ln>
              <a:noFill/>
            </a:ln>
          </p:spPr>
          <p:txBody>
            <a:bodyPr vert="horz" wrap="square" lIns="91440" tIns="45720" rIns="91440" bIns="45720" numCol="1" anchor="t" anchorCtr="0" compatLnSpc="1">
              <a:prstTxWarp prst="textNoShape">
                <a:avLst/>
              </a:prstTxWarp>
            </a:bodyPr>
            <a:lstStyle/>
            <a:p>
              <a:endParaRPr lang="en-US" sz="1300"/>
            </a:p>
          </p:txBody>
        </p:sp>
      </p:grpSp>
      <p:sp>
        <p:nvSpPr>
          <p:cNvPr id="54" name="íṥ1íḑé">
            <a:extLst>
              <a:ext uri="{FF2B5EF4-FFF2-40B4-BE49-F238E27FC236}">
                <a16:creationId xmlns:a16="http://schemas.microsoft.com/office/drawing/2014/main" id="{DC289788-54CE-42AD-ADD6-0D6D2D24C262}"/>
              </a:ext>
            </a:extLst>
          </p:cNvPr>
          <p:cNvSpPr/>
          <p:nvPr/>
        </p:nvSpPr>
        <p:spPr bwMode="auto">
          <a:xfrm>
            <a:off x="8099356" y="4508129"/>
            <a:ext cx="2802906" cy="86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a:solidFill>
                  <a:schemeClr val="bg1"/>
                </a:solidFill>
                <a:ea typeface="Verdana" panose="020B0604030504040204" pitchFamily="34" charset="0"/>
                <a:cs typeface="Verdana" panose="020B0604030504040204" pitchFamily="34" charset="0"/>
              </a:rPr>
              <a:t>Request to provide timely feedback and sign off for our deliverables</a:t>
            </a:r>
          </a:p>
        </p:txBody>
      </p:sp>
      <p:sp>
        <p:nvSpPr>
          <p:cNvPr id="55" name="ïṣľíḍe">
            <a:extLst>
              <a:ext uri="{FF2B5EF4-FFF2-40B4-BE49-F238E27FC236}">
                <a16:creationId xmlns:a16="http://schemas.microsoft.com/office/drawing/2014/main" id="{9430DFAD-7E51-467C-B7AC-4126D15FC264}"/>
              </a:ext>
            </a:extLst>
          </p:cNvPr>
          <p:cNvSpPr txBox="1"/>
          <p:nvPr/>
        </p:nvSpPr>
        <p:spPr bwMode="auto">
          <a:xfrm>
            <a:off x="8099356" y="4196431"/>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b="1">
                <a:solidFill>
                  <a:srgbClr val="007CB0"/>
                </a:solidFill>
                <a:ea typeface="Verdana" panose="020B0604030504040204" pitchFamily="34" charset="0"/>
                <a:cs typeface="Verdana" panose="020B0604030504040204" pitchFamily="34" charset="0"/>
              </a:rPr>
              <a:t>Timely Review and Feedback</a:t>
            </a:r>
          </a:p>
        </p:txBody>
      </p:sp>
      <p:sp>
        <p:nvSpPr>
          <p:cNvPr id="56" name="椭圆 806">
            <a:extLst>
              <a:ext uri="{FF2B5EF4-FFF2-40B4-BE49-F238E27FC236}">
                <a16:creationId xmlns:a16="http://schemas.microsoft.com/office/drawing/2014/main" id="{D9E69475-5FAD-493D-A880-1EB77A49D0B9}"/>
              </a:ext>
            </a:extLst>
          </p:cNvPr>
          <p:cNvSpPr/>
          <p:nvPr/>
        </p:nvSpPr>
        <p:spPr bwMode="gray">
          <a:xfrm>
            <a:off x="6521154" y="4085633"/>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nvGrpSpPr>
          <p:cNvPr id="57" name="组合 12">
            <a:extLst>
              <a:ext uri="{FF2B5EF4-FFF2-40B4-BE49-F238E27FC236}">
                <a16:creationId xmlns:a16="http://schemas.microsoft.com/office/drawing/2014/main" id="{AC9FA628-0AB9-4C88-940E-926B0452B811}"/>
              </a:ext>
            </a:extLst>
          </p:cNvPr>
          <p:cNvGrpSpPr/>
          <p:nvPr/>
        </p:nvGrpSpPr>
        <p:grpSpPr>
          <a:xfrm>
            <a:off x="536945" y="4508129"/>
            <a:ext cx="5381320" cy="922672"/>
            <a:chOff x="1371600" y="2181225"/>
            <a:chExt cx="3716338" cy="574675"/>
          </a:xfrm>
        </p:grpSpPr>
        <p:sp>
          <p:nvSpPr>
            <p:cNvPr id="58" name="Freeform 5">
              <a:extLst>
                <a:ext uri="{FF2B5EF4-FFF2-40B4-BE49-F238E27FC236}">
                  <a16:creationId xmlns:a16="http://schemas.microsoft.com/office/drawing/2014/main" id="{30C15256-46D8-480F-A204-1B50573521DB}"/>
                </a:ext>
              </a:extLst>
            </p:cNvPr>
            <p:cNvSpPr>
              <a:spLocks/>
            </p:cNvSpPr>
            <p:nvPr/>
          </p:nvSpPr>
          <p:spPr bwMode="auto">
            <a:xfrm>
              <a:off x="1371600" y="2181225"/>
              <a:ext cx="3522663" cy="574675"/>
            </a:xfrm>
            <a:custGeom>
              <a:avLst/>
              <a:gdLst>
                <a:gd name="T0" fmla="*/ 2164 w 2219"/>
                <a:gd name="T1" fmla="*/ 0 h 362"/>
                <a:gd name="T2" fmla="*/ 1880 w 2219"/>
                <a:gd name="T3" fmla="*/ 362 h 362"/>
                <a:gd name="T4" fmla="*/ 1809 w 2219"/>
                <a:gd name="T5" fmla="*/ 362 h 362"/>
                <a:gd name="T6" fmla="*/ 2093 w 2219"/>
                <a:gd name="T7" fmla="*/ 0 h 362"/>
                <a:gd name="T8" fmla="*/ 285 w 2219"/>
                <a:gd name="T9" fmla="*/ 0 h 362"/>
                <a:gd name="T10" fmla="*/ 0 w 2219"/>
                <a:gd name="T11" fmla="*/ 362 h 362"/>
                <a:gd name="T12" fmla="*/ 1934 w 2219"/>
                <a:gd name="T13" fmla="*/ 362 h 362"/>
                <a:gd name="T14" fmla="*/ 2219 w 2219"/>
                <a:gd name="T15" fmla="*/ 0 h 362"/>
                <a:gd name="T16" fmla="*/ 2164 w 2219"/>
                <a:gd name="T17"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9" h="362">
                  <a:moveTo>
                    <a:pt x="2164" y="0"/>
                  </a:moveTo>
                  <a:lnTo>
                    <a:pt x="1880" y="362"/>
                  </a:lnTo>
                  <a:lnTo>
                    <a:pt x="1809" y="362"/>
                  </a:lnTo>
                  <a:lnTo>
                    <a:pt x="2093" y="0"/>
                  </a:lnTo>
                  <a:lnTo>
                    <a:pt x="285" y="0"/>
                  </a:lnTo>
                  <a:lnTo>
                    <a:pt x="0" y="362"/>
                  </a:lnTo>
                  <a:lnTo>
                    <a:pt x="1934" y="362"/>
                  </a:lnTo>
                  <a:lnTo>
                    <a:pt x="2219" y="0"/>
                  </a:lnTo>
                  <a:lnTo>
                    <a:pt x="2164" y="0"/>
                  </a:lnTo>
                  <a:close/>
                </a:path>
              </a:pathLst>
            </a:custGeom>
            <a:solidFill>
              <a:srgbClr val="5356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00"/>
            </a:p>
          </p:txBody>
        </p:sp>
        <p:sp>
          <p:nvSpPr>
            <p:cNvPr id="59" name="Freeform 6">
              <a:extLst>
                <a:ext uri="{FF2B5EF4-FFF2-40B4-BE49-F238E27FC236}">
                  <a16:creationId xmlns:a16="http://schemas.microsoft.com/office/drawing/2014/main" id="{E2CD426A-5FFC-4E34-8364-159063B79963}"/>
                </a:ext>
              </a:extLst>
            </p:cNvPr>
            <p:cNvSpPr>
              <a:spLocks/>
            </p:cNvSpPr>
            <p:nvPr/>
          </p:nvSpPr>
          <p:spPr bwMode="auto">
            <a:xfrm>
              <a:off x="4549775" y="2181225"/>
              <a:ext cx="538163" cy="574675"/>
            </a:xfrm>
            <a:custGeom>
              <a:avLst/>
              <a:gdLst>
                <a:gd name="T0" fmla="*/ 284 w 339"/>
                <a:gd name="T1" fmla="*/ 0 h 362"/>
                <a:gd name="T2" fmla="*/ 0 w 339"/>
                <a:gd name="T3" fmla="*/ 362 h 362"/>
                <a:gd name="T4" fmla="*/ 54 w 339"/>
                <a:gd name="T5" fmla="*/ 362 h 362"/>
                <a:gd name="T6" fmla="*/ 339 w 339"/>
                <a:gd name="T7" fmla="*/ 0 h 362"/>
                <a:gd name="T8" fmla="*/ 284 w 339"/>
                <a:gd name="T9" fmla="*/ 0 h 362"/>
              </a:gdLst>
              <a:ahLst/>
              <a:cxnLst>
                <a:cxn ang="0">
                  <a:pos x="T0" y="T1"/>
                </a:cxn>
                <a:cxn ang="0">
                  <a:pos x="T2" y="T3"/>
                </a:cxn>
                <a:cxn ang="0">
                  <a:pos x="T4" y="T5"/>
                </a:cxn>
                <a:cxn ang="0">
                  <a:pos x="T6" y="T7"/>
                </a:cxn>
                <a:cxn ang="0">
                  <a:pos x="T8" y="T9"/>
                </a:cxn>
              </a:cxnLst>
              <a:rect l="0" t="0" r="r" b="b"/>
              <a:pathLst>
                <a:path w="339" h="362">
                  <a:moveTo>
                    <a:pt x="284" y="0"/>
                  </a:moveTo>
                  <a:lnTo>
                    <a:pt x="0" y="362"/>
                  </a:lnTo>
                  <a:lnTo>
                    <a:pt x="54" y="362"/>
                  </a:lnTo>
                  <a:lnTo>
                    <a:pt x="339" y="0"/>
                  </a:lnTo>
                  <a:lnTo>
                    <a:pt x="284" y="0"/>
                  </a:ln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endParaRPr lang="en-US" sz="1300"/>
            </a:p>
          </p:txBody>
        </p:sp>
      </p:grpSp>
      <p:sp>
        <p:nvSpPr>
          <p:cNvPr id="60" name="íṥ1íḑé">
            <a:extLst>
              <a:ext uri="{FF2B5EF4-FFF2-40B4-BE49-F238E27FC236}">
                <a16:creationId xmlns:a16="http://schemas.microsoft.com/office/drawing/2014/main" id="{40E68283-0E06-4381-8A0D-69EB3E3DAF5A}"/>
              </a:ext>
            </a:extLst>
          </p:cNvPr>
          <p:cNvSpPr/>
          <p:nvPr/>
        </p:nvSpPr>
        <p:spPr bwMode="auto">
          <a:xfrm>
            <a:off x="2201302" y="4508129"/>
            <a:ext cx="2691645" cy="930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300" dirty="0">
                <a:solidFill>
                  <a:srgbClr val="FFFFFF"/>
                </a:solidFill>
                <a:ea typeface="Verdana" panose="020B0604030504040204" pitchFamily="34" charset="0"/>
                <a:cs typeface="Verdana" panose="020B0604030504040204" pitchFamily="34" charset="0"/>
              </a:rPr>
              <a:t>Request to provide all the data and documents required for assessment. Preliminary data requirement covered in upcoming slide</a:t>
            </a:r>
          </a:p>
        </p:txBody>
      </p:sp>
      <p:sp>
        <p:nvSpPr>
          <p:cNvPr id="61" name="ïṣľíḍe">
            <a:extLst>
              <a:ext uri="{FF2B5EF4-FFF2-40B4-BE49-F238E27FC236}">
                <a16:creationId xmlns:a16="http://schemas.microsoft.com/office/drawing/2014/main" id="{61C9D4B5-1DDE-47C2-AAA5-C24FBBC79285}"/>
              </a:ext>
            </a:extLst>
          </p:cNvPr>
          <p:cNvSpPr txBox="1"/>
          <p:nvPr/>
        </p:nvSpPr>
        <p:spPr bwMode="auto">
          <a:xfrm>
            <a:off x="2199885" y="4196431"/>
            <a:ext cx="2254125" cy="44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lvl="0"/>
            <a:r>
              <a:rPr lang="en-US" altLang="zh-CN" sz="1600" b="1">
                <a:solidFill>
                  <a:srgbClr val="2C5234"/>
                </a:solidFill>
                <a:ea typeface="Verdana" panose="020B0604030504040204" pitchFamily="34" charset="0"/>
                <a:cs typeface="Verdana" panose="020B0604030504040204" pitchFamily="34" charset="0"/>
              </a:rPr>
              <a:t>Data and Documents</a:t>
            </a:r>
          </a:p>
        </p:txBody>
      </p:sp>
      <p:sp>
        <p:nvSpPr>
          <p:cNvPr id="62" name="椭圆 807">
            <a:extLst>
              <a:ext uri="{FF2B5EF4-FFF2-40B4-BE49-F238E27FC236}">
                <a16:creationId xmlns:a16="http://schemas.microsoft.com/office/drawing/2014/main" id="{DE9AB4C0-6FB7-4B0B-83BE-9F1C8ECFB400}"/>
              </a:ext>
            </a:extLst>
          </p:cNvPr>
          <p:cNvSpPr/>
          <p:nvPr/>
        </p:nvSpPr>
        <p:spPr bwMode="gray">
          <a:xfrm>
            <a:off x="661861" y="4085633"/>
            <a:ext cx="1455966" cy="1455966"/>
          </a:xfrm>
          <a:prstGeom prst="ellipse">
            <a:avLst/>
          </a:prstGeom>
          <a:solidFill>
            <a:schemeClr val="accent1"/>
          </a:solidFill>
          <a:ln w="63500" algn="ctr">
            <a:noFill/>
            <a:miter lim="800000"/>
            <a:headEnd/>
            <a:tailEnd/>
          </a:ln>
        </p:spPr>
        <p:txBody>
          <a:bodyPr wrap="square" lIns="88900" tIns="88900" rIns="88900" bIns="88900" rtlCol="0" anchor="ctr"/>
          <a:lstStyle/>
          <a:p>
            <a:pPr algn="ctr">
              <a:buFont typeface="Wingdings 2" pitchFamily="18" charset="2"/>
              <a:buNone/>
            </a:pPr>
            <a:endParaRPr lang="en-US" sz="1300" b="1">
              <a:solidFill>
                <a:schemeClr val="bg1"/>
              </a:solidFill>
            </a:endParaRPr>
          </a:p>
        </p:txBody>
      </p:sp>
      <p:grpSp>
        <p:nvGrpSpPr>
          <p:cNvPr id="83" name="Group 192">
            <a:extLst>
              <a:ext uri="{FF2B5EF4-FFF2-40B4-BE49-F238E27FC236}">
                <a16:creationId xmlns:a16="http://schemas.microsoft.com/office/drawing/2014/main" id="{C8E6B931-0A62-4E4B-B0D0-3D4954B50BAF}"/>
              </a:ext>
            </a:extLst>
          </p:cNvPr>
          <p:cNvGrpSpPr>
            <a:grpSpLocks noChangeAspect="1"/>
          </p:cNvGrpSpPr>
          <p:nvPr/>
        </p:nvGrpSpPr>
        <p:grpSpPr bwMode="auto">
          <a:xfrm>
            <a:off x="1032346" y="2338854"/>
            <a:ext cx="720000" cy="720000"/>
            <a:chOff x="378" y="713"/>
            <a:chExt cx="340" cy="340"/>
          </a:xfrm>
          <a:solidFill>
            <a:schemeClr val="bg1"/>
          </a:solidFill>
        </p:grpSpPr>
        <p:sp>
          <p:nvSpPr>
            <p:cNvPr id="84" name="Freeform 193">
              <a:extLst>
                <a:ext uri="{FF2B5EF4-FFF2-40B4-BE49-F238E27FC236}">
                  <a16:creationId xmlns:a16="http://schemas.microsoft.com/office/drawing/2014/main" id="{AC515524-1DC8-41FB-B11F-C302C4E89566}"/>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5" name="Freeform 194">
              <a:extLst>
                <a:ext uri="{FF2B5EF4-FFF2-40B4-BE49-F238E27FC236}">
                  <a16:creationId xmlns:a16="http://schemas.microsoft.com/office/drawing/2014/main" id="{1C3A5361-774C-40D9-A5CA-AA6F02304973}"/>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8" name="Group 795">
            <a:extLst>
              <a:ext uri="{FF2B5EF4-FFF2-40B4-BE49-F238E27FC236}">
                <a16:creationId xmlns:a16="http://schemas.microsoft.com/office/drawing/2014/main" id="{CC9555EA-7DFF-4D55-910A-5863D6DB96FD}"/>
              </a:ext>
            </a:extLst>
          </p:cNvPr>
          <p:cNvGrpSpPr>
            <a:grpSpLocks noChangeAspect="1"/>
          </p:cNvGrpSpPr>
          <p:nvPr/>
        </p:nvGrpSpPr>
        <p:grpSpPr bwMode="auto">
          <a:xfrm>
            <a:off x="6889136" y="2331200"/>
            <a:ext cx="720002" cy="720000"/>
            <a:chOff x="7361" y="3009"/>
            <a:chExt cx="340" cy="340"/>
          </a:xfrm>
          <a:solidFill>
            <a:schemeClr val="bg1"/>
          </a:solidFill>
        </p:grpSpPr>
        <p:sp>
          <p:nvSpPr>
            <p:cNvPr id="99" name="Freeform 796">
              <a:extLst>
                <a:ext uri="{FF2B5EF4-FFF2-40B4-BE49-F238E27FC236}">
                  <a16:creationId xmlns:a16="http://schemas.microsoft.com/office/drawing/2014/main" id="{C9BC0323-3312-4C35-95D0-6778266D3007}"/>
                </a:ext>
              </a:extLst>
            </p:cNvPr>
            <p:cNvSpPr>
              <a:spLocks noEditPoints="1"/>
            </p:cNvSpPr>
            <p:nvPr/>
          </p:nvSpPr>
          <p:spPr bwMode="auto">
            <a:xfrm>
              <a:off x="7431" y="3129"/>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Freeform 797">
              <a:extLst>
                <a:ext uri="{FF2B5EF4-FFF2-40B4-BE49-F238E27FC236}">
                  <a16:creationId xmlns:a16="http://schemas.microsoft.com/office/drawing/2014/main" id="{9C2DB1B9-E049-436C-9B77-9345F0989FF6}"/>
                </a:ext>
              </a:extLst>
            </p:cNvPr>
            <p:cNvSpPr>
              <a:spLocks noEditPoints="1"/>
            </p:cNvSpPr>
            <p:nvPr/>
          </p:nvSpPr>
          <p:spPr bwMode="auto">
            <a:xfrm>
              <a:off x="7439"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Freeform 798">
              <a:extLst>
                <a:ext uri="{FF2B5EF4-FFF2-40B4-BE49-F238E27FC236}">
                  <a16:creationId xmlns:a16="http://schemas.microsoft.com/office/drawing/2014/main" id="{68BE333D-72C3-472A-8FC8-6DC21CB2E5D3}"/>
                </a:ext>
              </a:extLst>
            </p:cNvPr>
            <p:cNvSpPr>
              <a:spLocks noEditPoints="1"/>
            </p:cNvSpPr>
            <p:nvPr/>
          </p:nvSpPr>
          <p:spPr bwMode="auto">
            <a:xfrm>
              <a:off x="7502" y="3129"/>
              <a:ext cx="58" cy="142"/>
            </a:xfrm>
            <a:custGeom>
              <a:avLst/>
              <a:gdLst>
                <a:gd name="T0" fmla="*/ 53 w 86"/>
                <a:gd name="T1" fmla="*/ 0 h 213"/>
                <a:gd name="T2" fmla="*/ 32 w 86"/>
                <a:gd name="T3" fmla="*/ 0 h 213"/>
                <a:gd name="T4" fmla="*/ 22 w 86"/>
                <a:gd name="T5" fmla="*/ 9 h 213"/>
                <a:gd name="T6" fmla="*/ 0 w 86"/>
                <a:gd name="T7" fmla="*/ 115 h 213"/>
                <a:gd name="T8" fmla="*/ 2 w 86"/>
                <a:gd name="T9" fmla="*/ 124 h 213"/>
                <a:gd name="T10" fmla="*/ 11 w 86"/>
                <a:gd name="T11" fmla="*/ 128 h 213"/>
                <a:gd name="T12" fmla="*/ 11 w 86"/>
                <a:gd name="T13" fmla="*/ 203 h 213"/>
                <a:gd name="T14" fmla="*/ 21 w 86"/>
                <a:gd name="T15" fmla="*/ 213 h 213"/>
                <a:gd name="T16" fmla="*/ 32 w 86"/>
                <a:gd name="T17" fmla="*/ 203 h 213"/>
                <a:gd name="T18" fmla="*/ 32 w 86"/>
                <a:gd name="T19" fmla="*/ 128 h 213"/>
                <a:gd name="T20" fmla="*/ 53 w 86"/>
                <a:gd name="T21" fmla="*/ 128 h 213"/>
                <a:gd name="T22" fmla="*/ 53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3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3" y="0"/>
                  </a:moveTo>
                  <a:cubicBezTo>
                    <a:pt x="32" y="0"/>
                    <a:pt x="32" y="0"/>
                    <a:pt x="32" y="0"/>
                  </a:cubicBezTo>
                  <a:cubicBezTo>
                    <a:pt x="27" y="0"/>
                    <a:pt x="23" y="4"/>
                    <a:pt x="22" y="9"/>
                  </a:cubicBezTo>
                  <a:cubicBezTo>
                    <a:pt x="0" y="115"/>
                    <a:pt x="0" y="115"/>
                    <a:pt x="0" y="115"/>
                  </a:cubicBezTo>
                  <a:cubicBezTo>
                    <a:pt x="0" y="118"/>
                    <a:pt x="0" y="122"/>
                    <a:pt x="2" y="124"/>
                  </a:cubicBezTo>
                  <a:cubicBezTo>
                    <a:pt x="4" y="127"/>
                    <a:pt x="7" y="128"/>
                    <a:pt x="11" y="128"/>
                  </a:cubicBezTo>
                  <a:cubicBezTo>
                    <a:pt x="11" y="203"/>
                    <a:pt x="11" y="203"/>
                    <a:pt x="11" y="203"/>
                  </a:cubicBezTo>
                  <a:cubicBezTo>
                    <a:pt x="11" y="209"/>
                    <a:pt x="15" y="213"/>
                    <a:pt x="21" y="213"/>
                  </a:cubicBezTo>
                  <a:cubicBezTo>
                    <a:pt x="27" y="213"/>
                    <a:pt x="32" y="209"/>
                    <a:pt x="32" y="203"/>
                  </a:cubicBezTo>
                  <a:cubicBezTo>
                    <a:pt x="32" y="128"/>
                    <a:pt x="32" y="128"/>
                    <a:pt x="32" y="128"/>
                  </a:cubicBezTo>
                  <a:cubicBezTo>
                    <a:pt x="53" y="128"/>
                    <a:pt x="53" y="128"/>
                    <a:pt x="53" y="128"/>
                  </a:cubicBezTo>
                  <a:cubicBezTo>
                    <a:pt x="53" y="203"/>
                    <a:pt x="53" y="203"/>
                    <a:pt x="53" y="203"/>
                  </a:cubicBezTo>
                  <a:cubicBezTo>
                    <a:pt x="53"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8" y="0"/>
                    <a:pt x="53"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Freeform 799">
              <a:extLst>
                <a:ext uri="{FF2B5EF4-FFF2-40B4-BE49-F238E27FC236}">
                  <a16:creationId xmlns:a16="http://schemas.microsoft.com/office/drawing/2014/main" id="{C6DF4FF2-FF7E-46BF-8B55-5F97081D9811}"/>
                </a:ext>
              </a:extLst>
            </p:cNvPr>
            <p:cNvSpPr>
              <a:spLocks noEditPoints="1"/>
            </p:cNvSpPr>
            <p:nvPr/>
          </p:nvSpPr>
          <p:spPr bwMode="auto">
            <a:xfrm>
              <a:off x="7510" y="3073"/>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Freeform 800">
              <a:extLst>
                <a:ext uri="{FF2B5EF4-FFF2-40B4-BE49-F238E27FC236}">
                  <a16:creationId xmlns:a16="http://schemas.microsoft.com/office/drawing/2014/main" id="{53F2690C-ED07-4436-978E-26411EC1A568}"/>
                </a:ext>
              </a:extLst>
            </p:cNvPr>
            <p:cNvSpPr>
              <a:spLocks noEditPoints="1"/>
            </p:cNvSpPr>
            <p:nvPr/>
          </p:nvSpPr>
          <p:spPr bwMode="auto">
            <a:xfrm>
              <a:off x="7573" y="3129"/>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Freeform 801">
              <a:extLst>
                <a:ext uri="{FF2B5EF4-FFF2-40B4-BE49-F238E27FC236}">
                  <a16:creationId xmlns:a16="http://schemas.microsoft.com/office/drawing/2014/main" id="{41B0D1F3-5DCB-41E8-B4E2-DA581FA7F3E6}"/>
                </a:ext>
              </a:extLst>
            </p:cNvPr>
            <p:cNvSpPr>
              <a:spLocks noEditPoints="1"/>
            </p:cNvSpPr>
            <p:nvPr/>
          </p:nvSpPr>
          <p:spPr bwMode="auto">
            <a:xfrm>
              <a:off x="7580" y="3073"/>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5" name="Freeform 802">
              <a:extLst>
                <a:ext uri="{FF2B5EF4-FFF2-40B4-BE49-F238E27FC236}">
                  <a16:creationId xmlns:a16="http://schemas.microsoft.com/office/drawing/2014/main" id="{94C61860-84F3-4EC2-B8B4-BD278880B302}"/>
                </a:ext>
              </a:extLst>
            </p:cNvPr>
            <p:cNvSpPr>
              <a:spLocks noEditPoints="1"/>
            </p:cNvSpPr>
            <p:nvPr/>
          </p:nvSpPr>
          <p:spPr bwMode="auto">
            <a:xfrm>
              <a:off x="7361" y="3009"/>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6" name="Group 156">
            <a:extLst>
              <a:ext uri="{FF2B5EF4-FFF2-40B4-BE49-F238E27FC236}">
                <a16:creationId xmlns:a16="http://schemas.microsoft.com/office/drawing/2014/main" id="{D0380887-04AB-40E8-8A3E-C39623BCCAC8}"/>
              </a:ext>
            </a:extLst>
          </p:cNvPr>
          <p:cNvGrpSpPr>
            <a:grpSpLocks noChangeAspect="1"/>
          </p:cNvGrpSpPr>
          <p:nvPr/>
        </p:nvGrpSpPr>
        <p:grpSpPr bwMode="auto">
          <a:xfrm>
            <a:off x="1044431" y="4453616"/>
            <a:ext cx="720000" cy="720000"/>
            <a:chOff x="4259" y="394"/>
            <a:chExt cx="340" cy="340"/>
          </a:xfrm>
          <a:solidFill>
            <a:schemeClr val="bg1"/>
          </a:solidFill>
        </p:grpSpPr>
        <p:sp>
          <p:nvSpPr>
            <p:cNvPr id="107" name="Freeform 157">
              <a:extLst>
                <a:ext uri="{FF2B5EF4-FFF2-40B4-BE49-F238E27FC236}">
                  <a16:creationId xmlns:a16="http://schemas.microsoft.com/office/drawing/2014/main" id="{1E0F7478-EA9D-493D-ADBA-789920DC7C42}"/>
                </a:ext>
              </a:extLst>
            </p:cNvPr>
            <p:cNvSpPr>
              <a:spLocks noEditPoints="1"/>
            </p:cNvSpPr>
            <p:nvPr/>
          </p:nvSpPr>
          <p:spPr bwMode="auto">
            <a:xfrm>
              <a:off x="4259" y="3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8" name="Freeform 158">
              <a:extLst>
                <a:ext uri="{FF2B5EF4-FFF2-40B4-BE49-F238E27FC236}">
                  <a16:creationId xmlns:a16="http://schemas.microsoft.com/office/drawing/2014/main" id="{F2C846EE-4C3B-476F-8326-F8B45280E55C}"/>
                </a:ext>
              </a:extLst>
            </p:cNvPr>
            <p:cNvSpPr>
              <a:spLocks noEditPoints="1"/>
            </p:cNvSpPr>
            <p:nvPr/>
          </p:nvSpPr>
          <p:spPr bwMode="auto">
            <a:xfrm>
              <a:off x="4323" y="464"/>
              <a:ext cx="212" cy="206"/>
            </a:xfrm>
            <a:custGeom>
              <a:avLst/>
              <a:gdLst>
                <a:gd name="T0" fmla="*/ 254 w 320"/>
                <a:gd name="T1" fmla="*/ 161 h 310"/>
                <a:gd name="T2" fmla="*/ 244 w 320"/>
                <a:gd name="T3" fmla="*/ 160 h 310"/>
                <a:gd name="T4" fmla="*/ 198 w 320"/>
                <a:gd name="T5" fmla="*/ 179 h 310"/>
                <a:gd name="T6" fmla="*/ 192 w 320"/>
                <a:gd name="T7" fmla="*/ 189 h 310"/>
                <a:gd name="T8" fmla="*/ 192 w 320"/>
                <a:gd name="T9" fmla="*/ 235 h 310"/>
                <a:gd name="T10" fmla="*/ 196 w 320"/>
                <a:gd name="T11" fmla="*/ 244 h 310"/>
                <a:gd name="T12" fmla="*/ 202 w 320"/>
                <a:gd name="T13" fmla="*/ 246 h 310"/>
                <a:gd name="T14" fmla="*/ 207 w 320"/>
                <a:gd name="T15" fmla="*/ 245 h 310"/>
                <a:gd name="T16" fmla="*/ 252 w 320"/>
                <a:gd name="T17" fmla="*/ 225 h 310"/>
                <a:gd name="T18" fmla="*/ 259 w 320"/>
                <a:gd name="T19" fmla="*/ 215 h 310"/>
                <a:gd name="T20" fmla="*/ 259 w 320"/>
                <a:gd name="T21" fmla="*/ 169 h 310"/>
                <a:gd name="T22" fmla="*/ 254 w 320"/>
                <a:gd name="T23" fmla="*/ 161 h 310"/>
                <a:gd name="T24" fmla="*/ 238 w 320"/>
                <a:gd name="T25" fmla="*/ 208 h 310"/>
                <a:gd name="T26" fmla="*/ 213 w 320"/>
                <a:gd name="T27" fmla="*/ 219 h 310"/>
                <a:gd name="T28" fmla="*/ 213 w 320"/>
                <a:gd name="T29" fmla="*/ 196 h 310"/>
                <a:gd name="T30" fmla="*/ 238 w 320"/>
                <a:gd name="T31" fmla="*/ 186 h 310"/>
                <a:gd name="T32" fmla="*/ 238 w 320"/>
                <a:gd name="T33" fmla="*/ 208 h 310"/>
                <a:gd name="T34" fmla="*/ 313 w 320"/>
                <a:gd name="T35" fmla="*/ 65 h 310"/>
                <a:gd name="T36" fmla="*/ 164 w 320"/>
                <a:gd name="T37" fmla="*/ 1 h 310"/>
                <a:gd name="T38" fmla="*/ 155 w 320"/>
                <a:gd name="T39" fmla="*/ 1 h 310"/>
                <a:gd name="T40" fmla="*/ 6 w 320"/>
                <a:gd name="T41" fmla="*/ 65 h 310"/>
                <a:gd name="T42" fmla="*/ 6 w 320"/>
                <a:gd name="T43" fmla="*/ 65 h 310"/>
                <a:gd name="T44" fmla="*/ 6 w 320"/>
                <a:gd name="T45" fmla="*/ 65 h 310"/>
                <a:gd name="T46" fmla="*/ 6 w 320"/>
                <a:gd name="T47" fmla="*/ 65 h 310"/>
                <a:gd name="T48" fmla="*/ 0 w 320"/>
                <a:gd name="T49" fmla="*/ 75 h 310"/>
                <a:gd name="T50" fmla="*/ 0 w 320"/>
                <a:gd name="T51" fmla="*/ 224 h 310"/>
                <a:gd name="T52" fmla="*/ 6 w 320"/>
                <a:gd name="T53" fmla="*/ 234 h 310"/>
                <a:gd name="T54" fmla="*/ 155 w 320"/>
                <a:gd name="T55" fmla="*/ 309 h 310"/>
                <a:gd name="T56" fmla="*/ 160 w 320"/>
                <a:gd name="T57" fmla="*/ 310 h 310"/>
                <a:gd name="T58" fmla="*/ 160 w 320"/>
                <a:gd name="T59" fmla="*/ 310 h 310"/>
                <a:gd name="T60" fmla="*/ 160 w 320"/>
                <a:gd name="T61" fmla="*/ 310 h 310"/>
                <a:gd name="T62" fmla="*/ 160 w 320"/>
                <a:gd name="T63" fmla="*/ 310 h 310"/>
                <a:gd name="T64" fmla="*/ 163 w 320"/>
                <a:gd name="T65" fmla="*/ 309 h 310"/>
                <a:gd name="T66" fmla="*/ 164 w 320"/>
                <a:gd name="T67" fmla="*/ 309 h 310"/>
                <a:gd name="T68" fmla="*/ 313 w 320"/>
                <a:gd name="T69" fmla="*/ 245 h 310"/>
                <a:gd name="T70" fmla="*/ 320 w 320"/>
                <a:gd name="T71" fmla="*/ 235 h 310"/>
                <a:gd name="T72" fmla="*/ 320 w 320"/>
                <a:gd name="T73" fmla="*/ 75 h 310"/>
                <a:gd name="T74" fmla="*/ 313 w 320"/>
                <a:gd name="T75" fmla="*/ 65 h 310"/>
                <a:gd name="T76" fmla="*/ 160 w 320"/>
                <a:gd name="T77" fmla="*/ 127 h 310"/>
                <a:gd name="T78" fmla="*/ 112 w 320"/>
                <a:gd name="T79" fmla="*/ 107 h 310"/>
                <a:gd name="T80" fmla="*/ 234 w 320"/>
                <a:gd name="T81" fmla="*/ 55 h 310"/>
                <a:gd name="T82" fmla="*/ 282 w 320"/>
                <a:gd name="T83" fmla="*/ 75 h 310"/>
                <a:gd name="T84" fmla="*/ 160 w 320"/>
                <a:gd name="T85" fmla="*/ 127 h 310"/>
                <a:gd name="T86" fmla="*/ 160 w 320"/>
                <a:gd name="T87" fmla="*/ 23 h 310"/>
                <a:gd name="T88" fmla="*/ 207 w 320"/>
                <a:gd name="T89" fmla="*/ 43 h 310"/>
                <a:gd name="T90" fmla="*/ 85 w 320"/>
                <a:gd name="T91" fmla="*/ 95 h 310"/>
                <a:gd name="T92" fmla="*/ 37 w 320"/>
                <a:gd name="T93" fmla="*/ 75 h 310"/>
                <a:gd name="T94" fmla="*/ 160 w 320"/>
                <a:gd name="T95" fmla="*/ 23 h 310"/>
                <a:gd name="T96" fmla="*/ 21 w 320"/>
                <a:gd name="T97" fmla="*/ 218 h 310"/>
                <a:gd name="T98" fmla="*/ 21 w 320"/>
                <a:gd name="T99" fmla="*/ 91 h 310"/>
                <a:gd name="T100" fmla="*/ 149 w 320"/>
                <a:gd name="T101" fmla="*/ 146 h 310"/>
                <a:gd name="T102" fmla="*/ 149 w 320"/>
                <a:gd name="T103" fmla="*/ 282 h 310"/>
                <a:gd name="T104" fmla="*/ 21 w 320"/>
                <a:gd name="T105" fmla="*/ 218 h 310"/>
                <a:gd name="T106" fmla="*/ 170 w 320"/>
                <a:gd name="T107" fmla="*/ 283 h 310"/>
                <a:gd name="T108" fmla="*/ 170 w 320"/>
                <a:gd name="T109" fmla="*/ 146 h 310"/>
                <a:gd name="T110" fmla="*/ 298 w 320"/>
                <a:gd name="T111" fmla="*/ 91 h 310"/>
                <a:gd name="T112" fmla="*/ 298 w 320"/>
                <a:gd name="T113" fmla="*/ 228 h 310"/>
                <a:gd name="T114" fmla="*/ 170 w 320"/>
                <a:gd name="T115" fmla="*/ 283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10">
                  <a:moveTo>
                    <a:pt x="254" y="161"/>
                  </a:moveTo>
                  <a:cubicBezTo>
                    <a:pt x="251" y="159"/>
                    <a:pt x="247" y="158"/>
                    <a:pt x="244" y="160"/>
                  </a:cubicBezTo>
                  <a:cubicBezTo>
                    <a:pt x="198" y="179"/>
                    <a:pt x="198" y="179"/>
                    <a:pt x="198" y="179"/>
                  </a:cubicBezTo>
                  <a:cubicBezTo>
                    <a:pt x="194" y="181"/>
                    <a:pt x="192" y="185"/>
                    <a:pt x="192" y="189"/>
                  </a:cubicBezTo>
                  <a:cubicBezTo>
                    <a:pt x="192" y="235"/>
                    <a:pt x="192" y="235"/>
                    <a:pt x="192" y="235"/>
                  </a:cubicBezTo>
                  <a:cubicBezTo>
                    <a:pt x="192" y="239"/>
                    <a:pt x="193" y="242"/>
                    <a:pt x="196" y="244"/>
                  </a:cubicBezTo>
                  <a:cubicBezTo>
                    <a:pt x="198" y="245"/>
                    <a:pt x="200" y="246"/>
                    <a:pt x="202" y="246"/>
                  </a:cubicBezTo>
                  <a:cubicBezTo>
                    <a:pt x="204" y="246"/>
                    <a:pt x="205" y="245"/>
                    <a:pt x="207" y="245"/>
                  </a:cubicBezTo>
                  <a:cubicBezTo>
                    <a:pt x="252" y="225"/>
                    <a:pt x="252" y="225"/>
                    <a:pt x="252" y="225"/>
                  </a:cubicBezTo>
                  <a:cubicBezTo>
                    <a:pt x="256" y="223"/>
                    <a:pt x="259" y="220"/>
                    <a:pt x="259" y="215"/>
                  </a:cubicBezTo>
                  <a:cubicBezTo>
                    <a:pt x="259" y="169"/>
                    <a:pt x="259" y="169"/>
                    <a:pt x="259" y="169"/>
                  </a:cubicBezTo>
                  <a:cubicBezTo>
                    <a:pt x="259" y="166"/>
                    <a:pt x="257" y="163"/>
                    <a:pt x="254" y="161"/>
                  </a:cubicBezTo>
                  <a:close/>
                  <a:moveTo>
                    <a:pt x="238" y="208"/>
                  </a:moveTo>
                  <a:cubicBezTo>
                    <a:pt x="213" y="219"/>
                    <a:pt x="213" y="219"/>
                    <a:pt x="213" y="219"/>
                  </a:cubicBezTo>
                  <a:cubicBezTo>
                    <a:pt x="213" y="196"/>
                    <a:pt x="213" y="196"/>
                    <a:pt x="213" y="196"/>
                  </a:cubicBezTo>
                  <a:cubicBezTo>
                    <a:pt x="238" y="186"/>
                    <a:pt x="238" y="186"/>
                    <a:pt x="238" y="186"/>
                  </a:cubicBezTo>
                  <a:lnTo>
                    <a:pt x="238" y="208"/>
                  </a:lnTo>
                  <a:close/>
                  <a:moveTo>
                    <a:pt x="313" y="65"/>
                  </a:moveTo>
                  <a:cubicBezTo>
                    <a:pt x="164" y="1"/>
                    <a:pt x="164" y="1"/>
                    <a:pt x="164" y="1"/>
                  </a:cubicBezTo>
                  <a:cubicBezTo>
                    <a:pt x="161" y="0"/>
                    <a:pt x="158" y="0"/>
                    <a:pt x="155" y="1"/>
                  </a:cubicBezTo>
                  <a:cubicBezTo>
                    <a:pt x="6" y="65"/>
                    <a:pt x="6" y="65"/>
                    <a:pt x="6" y="65"/>
                  </a:cubicBezTo>
                  <a:cubicBezTo>
                    <a:pt x="6" y="65"/>
                    <a:pt x="6" y="65"/>
                    <a:pt x="6" y="65"/>
                  </a:cubicBezTo>
                  <a:cubicBezTo>
                    <a:pt x="6" y="65"/>
                    <a:pt x="6" y="65"/>
                    <a:pt x="6" y="65"/>
                  </a:cubicBezTo>
                  <a:cubicBezTo>
                    <a:pt x="6" y="65"/>
                    <a:pt x="6" y="65"/>
                    <a:pt x="6" y="65"/>
                  </a:cubicBezTo>
                  <a:cubicBezTo>
                    <a:pt x="2" y="67"/>
                    <a:pt x="0" y="71"/>
                    <a:pt x="0" y="75"/>
                  </a:cubicBezTo>
                  <a:cubicBezTo>
                    <a:pt x="0" y="224"/>
                    <a:pt x="0" y="224"/>
                    <a:pt x="0" y="224"/>
                  </a:cubicBezTo>
                  <a:cubicBezTo>
                    <a:pt x="0" y="228"/>
                    <a:pt x="2" y="232"/>
                    <a:pt x="6" y="234"/>
                  </a:cubicBezTo>
                  <a:cubicBezTo>
                    <a:pt x="155" y="309"/>
                    <a:pt x="155" y="309"/>
                    <a:pt x="155" y="309"/>
                  </a:cubicBezTo>
                  <a:cubicBezTo>
                    <a:pt x="156" y="309"/>
                    <a:pt x="158" y="310"/>
                    <a:pt x="160" y="310"/>
                  </a:cubicBezTo>
                  <a:cubicBezTo>
                    <a:pt x="160" y="310"/>
                    <a:pt x="160" y="310"/>
                    <a:pt x="160" y="310"/>
                  </a:cubicBezTo>
                  <a:cubicBezTo>
                    <a:pt x="160" y="310"/>
                    <a:pt x="160" y="310"/>
                    <a:pt x="160" y="310"/>
                  </a:cubicBezTo>
                  <a:cubicBezTo>
                    <a:pt x="160" y="310"/>
                    <a:pt x="160" y="310"/>
                    <a:pt x="160" y="310"/>
                  </a:cubicBezTo>
                  <a:cubicBezTo>
                    <a:pt x="161" y="310"/>
                    <a:pt x="162" y="309"/>
                    <a:pt x="163" y="309"/>
                  </a:cubicBezTo>
                  <a:cubicBezTo>
                    <a:pt x="164" y="309"/>
                    <a:pt x="164" y="309"/>
                    <a:pt x="164" y="309"/>
                  </a:cubicBezTo>
                  <a:cubicBezTo>
                    <a:pt x="313" y="245"/>
                    <a:pt x="313" y="245"/>
                    <a:pt x="313" y="245"/>
                  </a:cubicBezTo>
                  <a:cubicBezTo>
                    <a:pt x="317" y="243"/>
                    <a:pt x="320" y="239"/>
                    <a:pt x="320" y="235"/>
                  </a:cubicBezTo>
                  <a:cubicBezTo>
                    <a:pt x="320" y="75"/>
                    <a:pt x="320" y="75"/>
                    <a:pt x="320" y="75"/>
                  </a:cubicBezTo>
                  <a:cubicBezTo>
                    <a:pt x="320" y="71"/>
                    <a:pt x="317" y="67"/>
                    <a:pt x="313" y="65"/>
                  </a:cubicBezTo>
                  <a:close/>
                  <a:moveTo>
                    <a:pt x="160" y="127"/>
                  </a:moveTo>
                  <a:cubicBezTo>
                    <a:pt x="112" y="107"/>
                    <a:pt x="112" y="107"/>
                    <a:pt x="112" y="107"/>
                  </a:cubicBezTo>
                  <a:cubicBezTo>
                    <a:pt x="234" y="55"/>
                    <a:pt x="234" y="55"/>
                    <a:pt x="234" y="55"/>
                  </a:cubicBezTo>
                  <a:cubicBezTo>
                    <a:pt x="282" y="75"/>
                    <a:pt x="282" y="75"/>
                    <a:pt x="282" y="75"/>
                  </a:cubicBezTo>
                  <a:lnTo>
                    <a:pt x="160" y="127"/>
                  </a:lnTo>
                  <a:close/>
                  <a:moveTo>
                    <a:pt x="160" y="23"/>
                  </a:moveTo>
                  <a:cubicBezTo>
                    <a:pt x="207" y="43"/>
                    <a:pt x="207" y="43"/>
                    <a:pt x="207" y="43"/>
                  </a:cubicBezTo>
                  <a:cubicBezTo>
                    <a:pt x="85" y="95"/>
                    <a:pt x="85" y="95"/>
                    <a:pt x="85" y="95"/>
                  </a:cubicBezTo>
                  <a:cubicBezTo>
                    <a:pt x="37" y="75"/>
                    <a:pt x="37" y="75"/>
                    <a:pt x="37" y="75"/>
                  </a:cubicBezTo>
                  <a:lnTo>
                    <a:pt x="160" y="23"/>
                  </a:lnTo>
                  <a:close/>
                  <a:moveTo>
                    <a:pt x="21" y="218"/>
                  </a:moveTo>
                  <a:cubicBezTo>
                    <a:pt x="21" y="91"/>
                    <a:pt x="21" y="91"/>
                    <a:pt x="21" y="91"/>
                  </a:cubicBezTo>
                  <a:cubicBezTo>
                    <a:pt x="149" y="146"/>
                    <a:pt x="149" y="146"/>
                    <a:pt x="149" y="146"/>
                  </a:cubicBezTo>
                  <a:cubicBezTo>
                    <a:pt x="149" y="282"/>
                    <a:pt x="149" y="282"/>
                    <a:pt x="149" y="282"/>
                  </a:cubicBezTo>
                  <a:lnTo>
                    <a:pt x="21" y="218"/>
                  </a:lnTo>
                  <a:close/>
                  <a:moveTo>
                    <a:pt x="170" y="283"/>
                  </a:moveTo>
                  <a:cubicBezTo>
                    <a:pt x="170" y="146"/>
                    <a:pt x="170" y="146"/>
                    <a:pt x="170" y="146"/>
                  </a:cubicBezTo>
                  <a:cubicBezTo>
                    <a:pt x="298" y="91"/>
                    <a:pt x="298" y="91"/>
                    <a:pt x="298" y="91"/>
                  </a:cubicBezTo>
                  <a:cubicBezTo>
                    <a:pt x="298" y="117"/>
                    <a:pt x="298" y="228"/>
                    <a:pt x="298" y="228"/>
                  </a:cubicBezTo>
                  <a:lnTo>
                    <a:pt x="170" y="2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2" name="Group 235">
            <a:extLst>
              <a:ext uri="{FF2B5EF4-FFF2-40B4-BE49-F238E27FC236}">
                <a16:creationId xmlns:a16="http://schemas.microsoft.com/office/drawing/2014/main" id="{06307014-98D1-4537-BA7B-7C4F76F877F3}"/>
              </a:ext>
            </a:extLst>
          </p:cNvPr>
          <p:cNvGrpSpPr>
            <a:grpSpLocks noChangeAspect="1"/>
          </p:cNvGrpSpPr>
          <p:nvPr/>
        </p:nvGrpSpPr>
        <p:grpSpPr bwMode="auto">
          <a:xfrm>
            <a:off x="6901698" y="4443931"/>
            <a:ext cx="722376" cy="722376"/>
            <a:chOff x="4264" y="792"/>
            <a:chExt cx="340" cy="340"/>
          </a:xfrm>
          <a:solidFill>
            <a:schemeClr val="bg1"/>
          </a:solidFill>
        </p:grpSpPr>
        <p:sp>
          <p:nvSpPr>
            <p:cNvPr id="113" name="Freeform 236">
              <a:extLst>
                <a:ext uri="{FF2B5EF4-FFF2-40B4-BE49-F238E27FC236}">
                  <a16:creationId xmlns:a16="http://schemas.microsoft.com/office/drawing/2014/main" id="{273CA370-E568-4057-9901-83F32FDAB5F3}"/>
                </a:ext>
              </a:extLst>
            </p:cNvPr>
            <p:cNvSpPr>
              <a:spLocks noEditPoints="1"/>
            </p:cNvSpPr>
            <p:nvPr/>
          </p:nvSpPr>
          <p:spPr bwMode="auto">
            <a:xfrm>
              <a:off x="4264" y="79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4" name="Freeform 237">
              <a:extLst>
                <a:ext uri="{FF2B5EF4-FFF2-40B4-BE49-F238E27FC236}">
                  <a16:creationId xmlns:a16="http://schemas.microsoft.com/office/drawing/2014/main" id="{3F83D82A-6D27-4603-B5D0-70FFE64F0DA9}"/>
                </a:ext>
              </a:extLst>
            </p:cNvPr>
            <p:cNvSpPr>
              <a:spLocks noEditPoints="1"/>
            </p:cNvSpPr>
            <p:nvPr/>
          </p:nvSpPr>
          <p:spPr bwMode="auto">
            <a:xfrm>
              <a:off x="4328" y="884"/>
              <a:ext cx="127" cy="113"/>
            </a:xfrm>
            <a:custGeom>
              <a:avLst/>
              <a:gdLst>
                <a:gd name="T0" fmla="*/ 192 w 192"/>
                <a:gd name="T1" fmla="*/ 118 h 171"/>
                <a:gd name="T2" fmla="*/ 192 w 192"/>
                <a:gd name="T3" fmla="*/ 11 h 171"/>
                <a:gd name="T4" fmla="*/ 181 w 192"/>
                <a:gd name="T5" fmla="*/ 0 h 171"/>
                <a:gd name="T6" fmla="*/ 10 w 192"/>
                <a:gd name="T7" fmla="*/ 0 h 171"/>
                <a:gd name="T8" fmla="*/ 0 w 192"/>
                <a:gd name="T9" fmla="*/ 11 h 171"/>
                <a:gd name="T10" fmla="*/ 0 w 192"/>
                <a:gd name="T11" fmla="*/ 118 h 171"/>
                <a:gd name="T12" fmla="*/ 10 w 192"/>
                <a:gd name="T13" fmla="*/ 128 h 171"/>
                <a:gd name="T14" fmla="*/ 32 w 192"/>
                <a:gd name="T15" fmla="*/ 128 h 171"/>
                <a:gd name="T16" fmla="*/ 32 w 192"/>
                <a:gd name="T17" fmla="*/ 160 h 171"/>
                <a:gd name="T18" fmla="*/ 38 w 192"/>
                <a:gd name="T19" fmla="*/ 170 h 171"/>
                <a:gd name="T20" fmla="*/ 42 w 192"/>
                <a:gd name="T21" fmla="*/ 171 h 171"/>
                <a:gd name="T22" fmla="*/ 50 w 192"/>
                <a:gd name="T23" fmla="*/ 168 h 171"/>
                <a:gd name="T24" fmla="*/ 89 w 192"/>
                <a:gd name="T25" fmla="*/ 128 h 171"/>
                <a:gd name="T26" fmla="*/ 181 w 192"/>
                <a:gd name="T27" fmla="*/ 128 h 171"/>
                <a:gd name="T28" fmla="*/ 192 w 192"/>
                <a:gd name="T29" fmla="*/ 118 h 171"/>
                <a:gd name="T30" fmla="*/ 170 w 192"/>
                <a:gd name="T31" fmla="*/ 107 h 171"/>
                <a:gd name="T32" fmla="*/ 85 w 192"/>
                <a:gd name="T33" fmla="*/ 107 h 171"/>
                <a:gd name="T34" fmla="*/ 77 w 192"/>
                <a:gd name="T35" fmla="*/ 110 h 171"/>
                <a:gd name="T36" fmla="*/ 53 w 192"/>
                <a:gd name="T37" fmla="*/ 135 h 171"/>
                <a:gd name="T38" fmla="*/ 53 w 192"/>
                <a:gd name="T39" fmla="*/ 118 h 171"/>
                <a:gd name="T40" fmla="*/ 42 w 192"/>
                <a:gd name="T41" fmla="*/ 107 h 171"/>
                <a:gd name="T42" fmla="*/ 21 w 192"/>
                <a:gd name="T43" fmla="*/ 107 h 171"/>
                <a:gd name="T44" fmla="*/ 21 w 192"/>
                <a:gd name="T45" fmla="*/ 22 h 171"/>
                <a:gd name="T46" fmla="*/ 170 w 192"/>
                <a:gd name="T47" fmla="*/ 22 h 171"/>
                <a:gd name="T48" fmla="*/ 170 w 192"/>
                <a:gd name="T49" fmla="*/ 10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71">
                  <a:moveTo>
                    <a:pt x="192" y="118"/>
                  </a:moveTo>
                  <a:cubicBezTo>
                    <a:pt x="192" y="11"/>
                    <a:pt x="192" y="11"/>
                    <a:pt x="192" y="11"/>
                  </a:cubicBezTo>
                  <a:cubicBezTo>
                    <a:pt x="192" y="5"/>
                    <a:pt x="187" y="0"/>
                    <a:pt x="181" y="0"/>
                  </a:cubicBezTo>
                  <a:cubicBezTo>
                    <a:pt x="10" y="0"/>
                    <a:pt x="10" y="0"/>
                    <a:pt x="10" y="0"/>
                  </a:cubicBezTo>
                  <a:cubicBezTo>
                    <a:pt x="4" y="0"/>
                    <a:pt x="0" y="5"/>
                    <a:pt x="0" y="11"/>
                  </a:cubicBezTo>
                  <a:cubicBezTo>
                    <a:pt x="0" y="118"/>
                    <a:pt x="0" y="118"/>
                    <a:pt x="0" y="118"/>
                  </a:cubicBezTo>
                  <a:cubicBezTo>
                    <a:pt x="0" y="124"/>
                    <a:pt x="4" y="128"/>
                    <a:pt x="10" y="128"/>
                  </a:cubicBezTo>
                  <a:cubicBezTo>
                    <a:pt x="32" y="128"/>
                    <a:pt x="32" y="128"/>
                    <a:pt x="32" y="128"/>
                  </a:cubicBezTo>
                  <a:cubicBezTo>
                    <a:pt x="32" y="160"/>
                    <a:pt x="32" y="160"/>
                    <a:pt x="32" y="160"/>
                  </a:cubicBezTo>
                  <a:cubicBezTo>
                    <a:pt x="32" y="165"/>
                    <a:pt x="34" y="169"/>
                    <a:pt x="38" y="170"/>
                  </a:cubicBezTo>
                  <a:cubicBezTo>
                    <a:pt x="40" y="171"/>
                    <a:pt x="41" y="171"/>
                    <a:pt x="42" y="171"/>
                  </a:cubicBezTo>
                  <a:cubicBezTo>
                    <a:pt x="45" y="171"/>
                    <a:pt x="48" y="170"/>
                    <a:pt x="50" y="168"/>
                  </a:cubicBezTo>
                  <a:cubicBezTo>
                    <a:pt x="89" y="128"/>
                    <a:pt x="89" y="128"/>
                    <a:pt x="89" y="128"/>
                  </a:cubicBezTo>
                  <a:cubicBezTo>
                    <a:pt x="181" y="128"/>
                    <a:pt x="181" y="128"/>
                    <a:pt x="181" y="128"/>
                  </a:cubicBezTo>
                  <a:cubicBezTo>
                    <a:pt x="187" y="128"/>
                    <a:pt x="192" y="124"/>
                    <a:pt x="192" y="118"/>
                  </a:cubicBezTo>
                  <a:close/>
                  <a:moveTo>
                    <a:pt x="170" y="107"/>
                  </a:moveTo>
                  <a:cubicBezTo>
                    <a:pt x="85" y="107"/>
                    <a:pt x="85" y="107"/>
                    <a:pt x="85" y="107"/>
                  </a:cubicBezTo>
                  <a:cubicBezTo>
                    <a:pt x="82" y="107"/>
                    <a:pt x="79" y="108"/>
                    <a:pt x="77" y="110"/>
                  </a:cubicBezTo>
                  <a:cubicBezTo>
                    <a:pt x="53" y="135"/>
                    <a:pt x="53" y="135"/>
                    <a:pt x="53" y="135"/>
                  </a:cubicBezTo>
                  <a:cubicBezTo>
                    <a:pt x="53" y="118"/>
                    <a:pt x="53" y="118"/>
                    <a:pt x="53" y="118"/>
                  </a:cubicBezTo>
                  <a:cubicBezTo>
                    <a:pt x="53" y="112"/>
                    <a:pt x="48" y="107"/>
                    <a:pt x="42" y="107"/>
                  </a:cubicBezTo>
                  <a:cubicBezTo>
                    <a:pt x="21" y="107"/>
                    <a:pt x="21" y="107"/>
                    <a:pt x="21" y="107"/>
                  </a:cubicBezTo>
                  <a:cubicBezTo>
                    <a:pt x="21" y="22"/>
                    <a:pt x="21" y="22"/>
                    <a:pt x="21" y="22"/>
                  </a:cubicBezTo>
                  <a:cubicBezTo>
                    <a:pt x="170" y="22"/>
                    <a:pt x="170" y="22"/>
                    <a:pt x="170" y="22"/>
                  </a:cubicBezTo>
                  <a:lnTo>
                    <a:pt x="170" y="10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9" name="Freeform 238">
              <a:extLst>
                <a:ext uri="{FF2B5EF4-FFF2-40B4-BE49-F238E27FC236}">
                  <a16:creationId xmlns:a16="http://schemas.microsoft.com/office/drawing/2014/main" id="{92FF13FC-9661-4260-BF76-D7729B8A6A3A}"/>
                </a:ext>
              </a:extLst>
            </p:cNvPr>
            <p:cNvSpPr>
              <a:spLocks/>
            </p:cNvSpPr>
            <p:nvPr/>
          </p:nvSpPr>
          <p:spPr bwMode="auto">
            <a:xfrm>
              <a:off x="4413" y="941"/>
              <a:ext cx="127" cy="127"/>
            </a:xfrm>
            <a:custGeom>
              <a:avLst/>
              <a:gdLst>
                <a:gd name="T0" fmla="*/ 181 w 192"/>
                <a:gd name="T1" fmla="*/ 0 h 192"/>
                <a:gd name="T2" fmla="*/ 96 w 192"/>
                <a:gd name="T3" fmla="*/ 0 h 192"/>
                <a:gd name="T4" fmla="*/ 85 w 192"/>
                <a:gd name="T5" fmla="*/ 10 h 192"/>
                <a:gd name="T6" fmla="*/ 96 w 192"/>
                <a:gd name="T7" fmla="*/ 21 h 192"/>
                <a:gd name="T8" fmla="*/ 170 w 192"/>
                <a:gd name="T9" fmla="*/ 21 h 192"/>
                <a:gd name="T10" fmla="*/ 170 w 192"/>
                <a:gd name="T11" fmla="*/ 128 h 192"/>
                <a:gd name="T12" fmla="*/ 138 w 192"/>
                <a:gd name="T13" fmla="*/ 128 h 192"/>
                <a:gd name="T14" fmla="*/ 128 w 192"/>
                <a:gd name="T15" fmla="*/ 138 h 192"/>
                <a:gd name="T16" fmla="*/ 128 w 192"/>
                <a:gd name="T17" fmla="*/ 155 h 192"/>
                <a:gd name="T18" fmla="*/ 103 w 192"/>
                <a:gd name="T19" fmla="*/ 131 h 192"/>
                <a:gd name="T20" fmla="*/ 96 w 192"/>
                <a:gd name="T21" fmla="*/ 128 h 192"/>
                <a:gd name="T22" fmla="*/ 21 w 192"/>
                <a:gd name="T23" fmla="*/ 128 h 192"/>
                <a:gd name="T24" fmla="*/ 21 w 192"/>
                <a:gd name="T25" fmla="*/ 74 h 192"/>
                <a:gd name="T26" fmla="*/ 10 w 192"/>
                <a:gd name="T27" fmla="*/ 64 h 192"/>
                <a:gd name="T28" fmla="*/ 0 w 192"/>
                <a:gd name="T29" fmla="*/ 74 h 192"/>
                <a:gd name="T30" fmla="*/ 0 w 192"/>
                <a:gd name="T31" fmla="*/ 138 h 192"/>
                <a:gd name="T32" fmla="*/ 10 w 192"/>
                <a:gd name="T33" fmla="*/ 149 h 192"/>
                <a:gd name="T34" fmla="*/ 91 w 192"/>
                <a:gd name="T35" fmla="*/ 149 h 192"/>
                <a:gd name="T36" fmla="*/ 131 w 192"/>
                <a:gd name="T37" fmla="*/ 189 h 192"/>
                <a:gd name="T38" fmla="*/ 138 w 192"/>
                <a:gd name="T39" fmla="*/ 192 h 192"/>
                <a:gd name="T40" fmla="*/ 142 w 192"/>
                <a:gd name="T41" fmla="*/ 191 h 192"/>
                <a:gd name="T42" fmla="*/ 149 w 192"/>
                <a:gd name="T43" fmla="*/ 181 h 192"/>
                <a:gd name="T44" fmla="*/ 149 w 192"/>
                <a:gd name="T45" fmla="*/ 149 h 192"/>
                <a:gd name="T46" fmla="*/ 181 w 192"/>
                <a:gd name="T47" fmla="*/ 149 h 192"/>
                <a:gd name="T48" fmla="*/ 192 w 192"/>
                <a:gd name="T49" fmla="*/ 138 h 192"/>
                <a:gd name="T50" fmla="*/ 192 w 192"/>
                <a:gd name="T51" fmla="*/ 10 h 192"/>
                <a:gd name="T52" fmla="*/ 181 w 192"/>
                <a:gd name="T53"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92">
                  <a:moveTo>
                    <a:pt x="181" y="0"/>
                  </a:moveTo>
                  <a:cubicBezTo>
                    <a:pt x="96" y="0"/>
                    <a:pt x="96" y="0"/>
                    <a:pt x="96" y="0"/>
                  </a:cubicBezTo>
                  <a:cubicBezTo>
                    <a:pt x="90" y="0"/>
                    <a:pt x="85" y="4"/>
                    <a:pt x="85" y="10"/>
                  </a:cubicBezTo>
                  <a:cubicBezTo>
                    <a:pt x="85" y="16"/>
                    <a:pt x="90" y="21"/>
                    <a:pt x="96" y="21"/>
                  </a:cubicBezTo>
                  <a:cubicBezTo>
                    <a:pt x="170" y="21"/>
                    <a:pt x="170" y="21"/>
                    <a:pt x="170" y="21"/>
                  </a:cubicBezTo>
                  <a:cubicBezTo>
                    <a:pt x="170" y="128"/>
                    <a:pt x="170" y="128"/>
                    <a:pt x="170" y="128"/>
                  </a:cubicBezTo>
                  <a:cubicBezTo>
                    <a:pt x="138" y="128"/>
                    <a:pt x="138" y="128"/>
                    <a:pt x="138" y="128"/>
                  </a:cubicBezTo>
                  <a:cubicBezTo>
                    <a:pt x="132" y="128"/>
                    <a:pt x="128" y="132"/>
                    <a:pt x="128" y="138"/>
                  </a:cubicBezTo>
                  <a:cubicBezTo>
                    <a:pt x="128" y="155"/>
                    <a:pt x="128" y="155"/>
                    <a:pt x="128" y="155"/>
                  </a:cubicBezTo>
                  <a:cubicBezTo>
                    <a:pt x="103" y="131"/>
                    <a:pt x="103" y="131"/>
                    <a:pt x="103" y="131"/>
                  </a:cubicBezTo>
                  <a:cubicBezTo>
                    <a:pt x="101" y="129"/>
                    <a:pt x="98" y="128"/>
                    <a:pt x="96" y="128"/>
                  </a:cubicBezTo>
                  <a:cubicBezTo>
                    <a:pt x="21" y="128"/>
                    <a:pt x="21" y="128"/>
                    <a:pt x="21" y="128"/>
                  </a:cubicBezTo>
                  <a:cubicBezTo>
                    <a:pt x="21" y="74"/>
                    <a:pt x="21" y="74"/>
                    <a:pt x="21" y="74"/>
                  </a:cubicBezTo>
                  <a:cubicBezTo>
                    <a:pt x="21" y="68"/>
                    <a:pt x="16" y="64"/>
                    <a:pt x="10" y="64"/>
                  </a:cubicBezTo>
                  <a:cubicBezTo>
                    <a:pt x="4" y="64"/>
                    <a:pt x="0" y="68"/>
                    <a:pt x="0" y="74"/>
                  </a:cubicBezTo>
                  <a:cubicBezTo>
                    <a:pt x="0" y="138"/>
                    <a:pt x="0" y="138"/>
                    <a:pt x="0" y="138"/>
                  </a:cubicBezTo>
                  <a:cubicBezTo>
                    <a:pt x="0" y="144"/>
                    <a:pt x="4" y="149"/>
                    <a:pt x="10" y="149"/>
                  </a:cubicBezTo>
                  <a:cubicBezTo>
                    <a:pt x="91" y="149"/>
                    <a:pt x="91" y="149"/>
                    <a:pt x="91" y="149"/>
                  </a:cubicBezTo>
                  <a:cubicBezTo>
                    <a:pt x="131" y="189"/>
                    <a:pt x="131" y="189"/>
                    <a:pt x="131" y="189"/>
                  </a:cubicBezTo>
                  <a:cubicBezTo>
                    <a:pt x="133" y="191"/>
                    <a:pt x="136" y="192"/>
                    <a:pt x="138" y="192"/>
                  </a:cubicBezTo>
                  <a:cubicBezTo>
                    <a:pt x="140" y="192"/>
                    <a:pt x="141" y="191"/>
                    <a:pt x="142" y="191"/>
                  </a:cubicBezTo>
                  <a:cubicBezTo>
                    <a:pt x="146" y="189"/>
                    <a:pt x="149" y="185"/>
                    <a:pt x="149" y="181"/>
                  </a:cubicBezTo>
                  <a:cubicBezTo>
                    <a:pt x="149" y="149"/>
                    <a:pt x="149" y="149"/>
                    <a:pt x="149" y="149"/>
                  </a:cubicBezTo>
                  <a:cubicBezTo>
                    <a:pt x="181" y="149"/>
                    <a:pt x="181" y="149"/>
                    <a:pt x="181" y="149"/>
                  </a:cubicBezTo>
                  <a:cubicBezTo>
                    <a:pt x="187" y="149"/>
                    <a:pt x="192" y="144"/>
                    <a:pt x="192" y="138"/>
                  </a:cubicBezTo>
                  <a:cubicBezTo>
                    <a:pt x="192" y="10"/>
                    <a:pt x="192" y="10"/>
                    <a:pt x="192" y="10"/>
                  </a:cubicBezTo>
                  <a:cubicBezTo>
                    <a:pt x="192" y="4"/>
                    <a:pt x="187" y="0"/>
                    <a:pt x="18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5585632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2"/>
            </p:custDataLst>
            <p:extLst>
              <p:ext uri="{D42A27DB-BD31-4B8C-83A1-F6EECF244321}">
                <p14:modId xmlns:p14="http://schemas.microsoft.com/office/powerpoint/2010/main" val="3111112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8251" name="think-cell Slide" r:id="rId5" imgW="530" imgH="531" progId="TCLayout.ActiveDocument.1">
                  <p:embed/>
                </p:oleObj>
              </mc:Choice>
              <mc:Fallback>
                <p:oleObj name="think-cell Slide" r:id="rId5"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100" b="0" i="0" u="none" strike="noStrike" kern="1200" cap="none" spc="0" normalizeH="0" baseline="0" noProof="0">
              <a:ln>
                <a:noFill/>
              </a:ln>
              <a:solidFill>
                <a:prstClr val="white"/>
              </a:solidFill>
              <a:effectLst/>
              <a:uLnTx/>
              <a:uFillTx/>
              <a:latin typeface="Calibri" panose="020F0502020204030204" pitchFamily="34" charset="0"/>
              <a:ea typeface="+mn-ea"/>
              <a:cs typeface="Calibri Light" panose="020F0302020204030204" pitchFamily="34" charset="0"/>
              <a:sym typeface="Calibri" panose="020F0502020204030204" pitchFamily="34" charset="0"/>
            </a:endParaRPr>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sz="2176" b="1" dirty="0">
                <a:latin typeface="+mn-lt"/>
              </a:rPr>
              <a:t>Preliminary Data Requirement for Assessment</a:t>
            </a:r>
            <a:endParaRPr lang="en-IN" sz="2176" b="1" dirty="0">
              <a:latin typeface="+mn-lt"/>
            </a:endParaRPr>
          </a:p>
        </p:txBody>
      </p:sp>
      <p:cxnSp>
        <p:nvCxnSpPr>
          <p:cNvPr id="16" name="Straight Connector 15">
            <a:extLst>
              <a:ext uri="{FF2B5EF4-FFF2-40B4-BE49-F238E27FC236}">
                <a16:creationId xmlns:a16="http://schemas.microsoft.com/office/drawing/2014/main" id="{E9820BBE-F779-46C9-B65A-5F1F28DF1BCE}"/>
              </a:ext>
            </a:extLst>
          </p:cNvPr>
          <p:cNvCxnSpPr/>
          <p:nvPr/>
        </p:nvCxnSpPr>
        <p:spPr>
          <a:xfrm flipV="1">
            <a:off x="514664" y="71800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5" name="Table 16">
            <a:extLst>
              <a:ext uri="{FF2B5EF4-FFF2-40B4-BE49-F238E27FC236}">
                <a16:creationId xmlns:a16="http://schemas.microsoft.com/office/drawing/2014/main" id="{6663EFBC-B549-41F7-8B1C-52736F2ACB87}"/>
              </a:ext>
            </a:extLst>
          </p:cNvPr>
          <p:cNvGraphicFramePr>
            <a:graphicFrameLocks noGrp="1"/>
          </p:cNvGraphicFramePr>
          <p:nvPr>
            <p:extLst>
              <p:ext uri="{D42A27DB-BD31-4B8C-83A1-F6EECF244321}">
                <p14:modId xmlns:p14="http://schemas.microsoft.com/office/powerpoint/2010/main" val="4047884331"/>
              </p:ext>
            </p:extLst>
          </p:nvPr>
        </p:nvGraphicFramePr>
        <p:xfrm>
          <a:off x="514663" y="808163"/>
          <a:ext cx="11196000" cy="5425989"/>
        </p:xfrm>
        <a:graphic>
          <a:graphicData uri="http://schemas.openxmlformats.org/drawingml/2006/table">
            <a:tbl>
              <a:tblPr firstRow="1" bandRow="1">
                <a:tableStyleId>{5C22544A-7EE6-4342-B048-85BDC9FD1C3A}</a:tableStyleId>
              </a:tblPr>
              <a:tblGrid>
                <a:gridCol w="2992017">
                  <a:extLst>
                    <a:ext uri="{9D8B030D-6E8A-4147-A177-3AD203B41FA5}">
                      <a16:colId xmlns:a16="http://schemas.microsoft.com/office/drawing/2014/main" val="1486803090"/>
                    </a:ext>
                  </a:extLst>
                </a:gridCol>
                <a:gridCol w="8203983">
                  <a:extLst>
                    <a:ext uri="{9D8B030D-6E8A-4147-A177-3AD203B41FA5}">
                      <a16:colId xmlns:a16="http://schemas.microsoft.com/office/drawing/2014/main" val="1261665541"/>
                    </a:ext>
                  </a:extLst>
                </a:gridCol>
              </a:tblGrid>
              <a:tr h="579372">
                <a:tc>
                  <a:txBody>
                    <a:bodyPr/>
                    <a:lstStyle/>
                    <a:p>
                      <a:r>
                        <a:rPr lang="en-US" sz="1200" b="1" dirty="0">
                          <a:solidFill>
                            <a:schemeClr val="tx1"/>
                          </a:solidFill>
                          <a:latin typeface="Verdana" panose="020B0604030504040204" pitchFamily="34" charset="0"/>
                          <a:ea typeface="Verdana" panose="020B0604030504040204" pitchFamily="34" charset="0"/>
                        </a:rPr>
                        <a:t>Organization Structure </a:t>
                      </a:r>
                    </a:p>
                  </a:txBody>
                  <a:tcPr anchor="ctr">
                    <a:lnR w="9525" cap="flat" cmpd="sng" algn="ctr">
                      <a:solidFill>
                        <a:schemeClr val="tx2">
                          <a:lumMod val="40000"/>
                          <a:lumOff val="60000"/>
                        </a:schemeClr>
                      </a:solidFill>
                      <a:prstDash val="solid"/>
                      <a:round/>
                      <a:headEnd type="none" w="med" len="med"/>
                      <a:tailEnd type="none" w="med" len="med"/>
                    </a:lnR>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indent="-342900">
                        <a:buFont typeface="+mj-lt"/>
                        <a:buAutoNum type="arabicPeriod"/>
                      </a:pPr>
                      <a:r>
                        <a:rPr lang="en-US" sz="1100" b="0" dirty="0">
                          <a:solidFill>
                            <a:schemeClr val="tx1"/>
                          </a:solidFill>
                          <a:latin typeface="Verdana" panose="020B0604030504040204" pitchFamily="34" charset="0"/>
                          <a:ea typeface="Verdana" panose="020B0604030504040204" pitchFamily="34" charset="0"/>
                        </a:rPr>
                        <a:t>Actual Workforce as of August 2022</a:t>
                      </a:r>
                    </a:p>
                    <a:p>
                      <a:pPr marL="342900" indent="-342900">
                        <a:buFont typeface="+mj-lt"/>
                        <a:buAutoNum type="arabicPeriod"/>
                      </a:pPr>
                      <a:r>
                        <a:rPr lang="en-US" sz="1100" b="0" dirty="0">
                          <a:solidFill>
                            <a:schemeClr val="tx1"/>
                          </a:solidFill>
                          <a:latin typeface="Verdana" panose="020B0604030504040204" pitchFamily="34" charset="0"/>
                          <a:ea typeface="Verdana" panose="020B0604030504040204" pitchFamily="34" charset="0"/>
                        </a:rPr>
                        <a:t>Any revisions in sanctioned workforce numbers?</a:t>
                      </a:r>
                    </a:p>
                    <a:p>
                      <a:pPr marL="342900" indent="-342900">
                        <a:buFont typeface="+mj-lt"/>
                        <a:buAutoNum type="arabicPeriod"/>
                      </a:pPr>
                      <a:r>
                        <a:rPr lang="en-US" sz="1100" b="0" dirty="0">
                          <a:solidFill>
                            <a:schemeClr val="tx1"/>
                          </a:solidFill>
                          <a:latin typeface="Verdana" panose="020B0604030504040204" pitchFamily="34" charset="0"/>
                          <a:ea typeface="Verdana" panose="020B0604030504040204" pitchFamily="34" charset="0"/>
                        </a:rPr>
                        <a:t>Any plans on organization restructuring</a:t>
                      </a:r>
                    </a:p>
                  </a:txBody>
                  <a:tcPr anchor="ctr">
                    <a:lnL w="9525" cap="flat" cmpd="sng" algn="ctr">
                      <a:solidFill>
                        <a:schemeClr val="tx2">
                          <a:lumMod val="40000"/>
                          <a:lumOff val="60000"/>
                        </a:schemeClr>
                      </a:solidFill>
                      <a:prstDash val="solid"/>
                      <a:round/>
                      <a:headEnd type="none" w="med" len="med"/>
                      <a:tailEnd type="none" w="med" len="med"/>
                    </a:lnL>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7593404"/>
                  </a:ext>
                </a:extLst>
              </a:tr>
              <a:tr h="579372">
                <a:tc>
                  <a:txBody>
                    <a:bodyPr/>
                    <a:lstStyle/>
                    <a:p>
                      <a:r>
                        <a:rPr lang="en-US" sz="1200" b="1" dirty="0">
                          <a:solidFill>
                            <a:schemeClr val="tx1"/>
                          </a:solidFill>
                          <a:latin typeface="Verdana" panose="020B0604030504040204" pitchFamily="34" charset="0"/>
                          <a:ea typeface="Verdana" panose="020B0604030504040204" pitchFamily="34" charset="0"/>
                        </a:rPr>
                        <a:t>Roles &amp; Responsibilities and Accountability Matrix</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Details of Job Description / Roles &amp; Responsibilities laid down for each department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Which stakeholders are involved in preparation of R&amp;R?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Formation of RACI/Accountability matrix?</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39555026"/>
                  </a:ext>
                </a:extLst>
              </a:tr>
              <a:tr h="579372">
                <a:tc>
                  <a:txBody>
                    <a:bodyPr/>
                    <a:lstStyle/>
                    <a:p>
                      <a:r>
                        <a:rPr lang="en-US" sz="1200" b="1" dirty="0">
                          <a:solidFill>
                            <a:schemeClr val="tx1"/>
                          </a:solidFill>
                          <a:latin typeface="Verdana" panose="020B0604030504040204" pitchFamily="34" charset="0"/>
                          <a:ea typeface="Verdana" panose="020B0604030504040204" pitchFamily="34" charset="0"/>
                        </a:rPr>
                        <a:t>Employee Compensation Policy </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Details of latest employee compensation policy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Details of last revisions made in compensation policy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Differences in compensation for on-roll vs off-roll employees</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3050094"/>
                  </a:ext>
                </a:extLst>
              </a:tr>
              <a:tr h="579372">
                <a:tc>
                  <a:txBody>
                    <a:bodyPr/>
                    <a:lstStyle/>
                    <a:p>
                      <a:r>
                        <a:rPr lang="en-US" sz="1200" b="1" dirty="0">
                          <a:solidFill>
                            <a:schemeClr val="tx1"/>
                          </a:solidFill>
                          <a:latin typeface="Verdana" panose="020B0604030504040204" pitchFamily="34" charset="0"/>
                          <a:ea typeface="Verdana" panose="020B0604030504040204" pitchFamily="34" charset="0"/>
                        </a:rPr>
                        <a:t>Details of key tasks/activities per department</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List of key activities executed by department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Methodology to estimate task completion time?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Methodology to allocate optimal work distribution</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38476781"/>
                  </a:ext>
                </a:extLst>
              </a:tr>
              <a:tr h="579372">
                <a:tc>
                  <a:txBody>
                    <a:bodyPr/>
                    <a:lstStyle/>
                    <a:p>
                      <a:r>
                        <a:rPr lang="en-US" sz="1200" b="1" dirty="0">
                          <a:solidFill>
                            <a:schemeClr val="tx1"/>
                          </a:solidFill>
                          <a:latin typeface="Verdana" panose="020B0604030504040204" pitchFamily="34" charset="0"/>
                          <a:ea typeface="Verdana" panose="020B0604030504040204" pitchFamily="34" charset="0"/>
                        </a:rPr>
                        <a:t>Outsourcing Models</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Details of activities in a department which are currently outsourced?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Monitoring and evaluation of outsourced tasks? (Report generation / cross verification)</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Compensation estimation for outsourced activities </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397262"/>
                  </a:ext>
                </a:extLst>
              </a:tr>
              <a:tr h="564063">
                <a:tc>
                  <a:txBody>
                    <a:bodyPr/>
                    <a:lstStyle/>
                    <a:p>
                      <a:r>
                        <a:rPr lang="en-US" sz="1200" b="1" dirty="0">
                          <a:solidFill>
                            <a:schemeClr val="tx1"/>
                          </a:solidFill>
                          <a:latin typeface="Verdana" panose="020B0604030504040204" pitchFamily="34" charset="0"/>
                          <a:ea typeface="Verdana" panose="020B0604030504040204" pitchFamily="34" charset="0"/>
                        </a:rPr>
                        <a:t>Employee Policies</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Employee Policies Book</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Details of last revisions made </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75941858"/>
                  </a:ext>
                </a:extLst>
              </a:tr>
              <a:tr h="564063">
                <a:tc>
                  <a:txBody>
                    <a:bodyPr/>
                    <a:lstStyle/>
                    <a:p>
                      <a:r>
                        <a:rPr lang="en-US" sz="1200" b="1" dirty="0">
                          <a:solidFill>
                            <a:schemeClr val="tx1"/>
                          </a:solidFill>
                          <a:latin typeface="Verdana" panose="020B0604030504040204" pitchFamily="34" charset="0"/>
                          <a:ea typeface="Verdana" panose="020B0604030504040204" pitchFamily="34" charset="0"/>
                        </a:rPr>
                        <a:t>Incentives Schemes </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Details of incentives schemes (both at department and individual level)</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Are there different incentive schemes for on-roll vs off-roll employee?</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38374075"/>
                  </a:ext>
                </a:extLst>
              </a:tr>
              <a:tr h="564063">
                <a:tc>
                  <a:txBody>
                    <a:bodyPr/>
                    <a:lstStyle/>
                    <a:p>
                      <a:r>
                        <a:rPr lang="en-US" sz="1200" b="1" dirty="0">
                          <a:solidFill>
                            <a:schemeClr val="tx1"/>
                          </a:solidFill>
                          <a:latin typeface="Verdana" panose="020B0604030504040204" pitchFamily="34" charset="0"/>
                          <a:ea typeface="Verdana" panose="020B0604030504040204" pitchFamily="34" charset="0"/>
                        </a:rPr>
                        <a:t>Rewards &amp; Recognition</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Details of Rewards and Recognition ( Monetary vs non-monetary)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Criteria for Rewards and Recognition nomination and selection</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71351679"/>
                  </a:ext>
                </a:extLst>
              </a:tr>
              <a:tr h="554326">
                <a:tc>
                  <a:txBody>
                    <a:bodyPr/>
                    <a:lstStyle/>
                    <a:p>
                      <a:r>
                        <a:rPr lang="en-US" sz="1200" b="1" kern="1200" dirty="0">
                          <a:solidFill>
                            <a:schemeClr val="tx1"/>
                          </a:solidFill>
                          <a:latin typeface="Verdana" panose="020B0604030504040204" pitchFamily="34" charset="0"/>
                          <a:ea typeface="Verdana" panose="020B0604030504040204" pitchFamily="34" charset="0"/>
                          <a:cs typeface="+mn-cs"/>
                        </a:rPr>
                        <a:t>PMS &amp; Organization / Department Level KPIs</a:t>
                      </a:r>
                    </a:p>
                  </a:txBody>
                  <a:tcPr anchor="ctr">
                    <a:lnR w="9525" cap="flat" cmpd="sng" algn="ctr">
                      <a:solidFill>
                        <a:schemeClr val="tx2">
                          <a:lumMod val="40000"/>
                          <a:lumOff val="60000"/>
                        </a:schemeClr>
                      </a:solid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solidFill>
                      <a:schemeClr val="bg1">
                        <a:lumMod val="95000"/>
                      </a:schemeClr>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Identification of KPIs  along with setting of target values for monitoring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Monitoring frequency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Details on performance feedback system to employees and linkage between the performance evaluation and compensation package</a:t>
                      </a:r>
                    </a:p>
                  </a:txBody>
                  <a:tcPr anchor="ctr">
                    <a:lnL w="9525" cap="flat" cmpd="sng" algn="ctr">
                      <a:solidFill>
                        <a:schemeClr val="tx2">
                          <a:lumMod val="40000"/>
                          <a:lumOff val="60000"/>
                        </a:schemeClr>
                      </a:solid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3512511020"/>
                  </a:ext>
                </a:extLst>
              </a:tr>
            </a:tbl>
          </a:graphicData>
        </a:graphic>
      </p:graphicFrame>
      <p:sp>
        <p:nvSpPr>
          <p:cNvPr id="10" name="TextBox 9">
            <a:extLst>
              <a:ext uri="{FF2B5EF4-FFF2-40B4-BE49-F238E27FC236}">
                <a16:creationId xmlns:a16="http://schemas.microsoft.com/office/drawing/2014/main" id="{91ABB908-342B-4DE2-BAF0-4062C1B2D9A3}"/>
              </a:ext>
            </a:extLst>
          </p:cNvPr>
          <p:cNvSpPr txBox="1"/>
          <p:nvPr/>
        </p:nvSpPr>
        <p:spPr>
          <a:xfrm>
            <a:off x="501650" y="6275093"/>
            <a:ext cx="10825562" cy="276999"/>
          </a:xfrm>
          <a:prstGeom prst="rect">
            <a:avLst/>
          </a:prstGeom>
          <a:noFill/>
        </p:spPr>
        <p:txBody>
          <a:bodyPr wrap="square">
            <a:spAutoFit/>
          </a:bodyPr>
          <a:lstStyle/>
          <a:p>
            <a:pPr marL="0" marR="0" lvl="1" indent="0" algn="l" defTabSz="914400" rtl="0" eaLnBrk="1" fontAlgn="auto" latinLnBrk="0" hangingPunct="1">
              <a:lnSpc>
                <a:spcPct val="100000"/>
              </a:lnSpc>
              <a:spcBef>
                <a:spcPts val="600"/>
              </a:spcBef>
              <a:spcAft>
                <a:spcPts val="300"/>
              </a:spcAft>
              <a:buClrTx/>
              <a:buSzPct val="100000"/>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Note </a:t>
            </a:r>
            <a:r>
              <a:rPr kumimoji="0" lang="en-US" sz="1200" b="0" i="0" u="none" strike="noStrike" kern="1200" cap="none" spc="0" normalizeH="0" baseline="0" noProof="0" dirty="0">
                <a:ln>
                  <a:noFill/>
                </a:ln>
                <a:solidFill>
                  <a:prstClr val="black"/>
                </a:solidFill>
                <a:effectLst/>
                <a:uLnTx/>
                <a:uFillTx/>
                <a:latin typeface="Calibri"/>
                <a:ea typeface="+mn-ea"/>
                <a:cs typeface="+mn-cs"/>
              </a:rPr>
              <a:t>– A detailed questionnaire with data collection format will be shared separately with DPL Management</a:t>
            </a:r>
          </a:p>
        </p:txBody>
      </p:sp>
    </p:spTree>
    <p:extLst>
      <p:ext uri="{BB962C8B-B14F-4D97-AF65-F5344CB8AC3E}">
        <p14:creationId xmlns:p14="http://schemas.microsoft.com/office/powerpoint/2010/main" val="111263395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lgn="just">
              <a:spcAft>
                <a:spcPts val="600"/>
              </a:spcAft>
            </a:pPr>
            <a:r>
              <a:rPr lang="en-US" sz="1000" b="1">
                <a:solidFill>
                  <a:schemeClr val="bg1"/>
                </a:solidFill>
              </a:rPr>
              <a:t>Deloitte</a:t>
            </a:r>
            <a:r>
              <a:rPr lang="en-US" sz="1000">
                <a:solidFill>
                  <a:schemeClr val="bg1"/>
                </a:solidFill>
              </a:rPr>
              <a:t>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lgn="just">
              <a:spcAft>
                <a:spcPts val="600"/>
              </a:spcAft>
            </a:pPr>
            <a:r>
              <a:rPr lang="en-US" sz="1000">
                <a:solidFill>
                  <a:schemeClr val="bg1"/>
                </a:solidFill>
              </a:rPr>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spcAft>
                <a:spcPts val="600"/>
              </a:spcAft>
            </a:pPr>
            <a:r>
              <a:rPr lang="en-US" sz="1000">
                <a:solidFill>
                  <a:schemeClr val="bg1"/>
                </a:solidFill>
              </a:rPr>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lgn="just">
              <a:spcAft>
                <a:spcPts val="600"/>
              </a:spcAft>
            </a:pPr>
            <a:r>
              <a:rPr lang="en-US" sz="1000">
                <a:solidFill>
                  <a:schemeClr val="bg1"/>
                </a:solidFill>
              </a:rPr>
              <a:t>©2022 Deloitte Touche Tohmatsu India LLP. Member of Deloitte Touche Tohmatsu Limited</a:t>
            </a:r>
          </a:p>
          <a:p>
            <a:pPr algn="just">
              <a:spcAft>
                <a:spcPts val="600"/>
              </a:spcAft>
            </a:pPr>
            <a:r>
              <a:rPr lang="en-US" sz="1000">
                <a:solidFill>
                  <a:schemeClr val="bg1"/>
                </a:solidFill>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229384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0">
            <a:extLst>
              <a:ext uri="{FF2B5EF4-FFF2-40B4-BE49-F238E27FC236}">
                <a16:creationId xmlns:a16="http://schemas.microsoft.com/office/drawing/2014/main" id="{A1CE6305-79EC-4F99-86DE-E49573034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A1A1AFA-4908-43F3-B780-A4767A349B9F}"/>
              </a:ext>
            </a:extLst>
          </p:cNvPr>
          <p:cNvSpPr/>
          <p:nvPr/>
        </p:nvSpPr>
        <p:spPr bwMode="gray">
          <a:xfrm>
            <a:off x="-20685" y="2"/>
            <a:ext cx="12212685" cy="6857998"/>
          </a:xfrm>
          <a:prstGeom prst="rect">
            <a:avLst/>
          </a:prstGeom>
          <a:solidFill>
            <a:schemeClr val="tx1">
              <a:alpha val="87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a:ln>
                <a:noFill/>
              </a:ln>
              <a:solidFill>
                <a:prstClr val="white"/>
              </a:solidFill>
              <a:effectLst/>
              <a:uLnTx/>
              <a:uFillTx/>
              <a:latin typeface="Verdana"/>
              <a:ea typeface="+mn-ea"/>
              <a:cs typeface="+mn-cs"/>
            </a:endParaRPr>
          </a:p>
        </p:txBody>
      </p:sp>
      <p:sp>
        <p:nvSpPr>
          <p:cNvPr id="28" name="Rectangle 27">
            <a:extLst>
              <a:ext uri="{FF2B5EF4-FFF2-40B4-BE49-F238E27FC236}">
                <a16:creationId xmlns:a16="http://schemas.microsoft.com/office/drawing/2014/main" id="{B5B3F829-56CD-47FD-99EA-66BABD98E1B3}"/>
              </a:ext>
            </a:extLst>
          </p:cNvPr>
          <p:cNvSpPr/>
          <p:nvPr/>
        </p:nvSpPr>
        <p:spPr>
          <a:xfrm>
            <a:off x="4754892" y="3205701"/>
            <a:ext cx="2661530" cy="446597"/>
          </a:xfrm>
          <a:prstGeom prst="rect">
            <a:avLst/>
          </a:prstGeom>
        </p:spPr>
        <p:txBody>
          <a:bodyPr wrap="square" lIns="0" tIns="0" rIns="0" bIns="0">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600" normalizeH="0" baseline="0" noProof="0">
                <a:ln>
                  <a:noFill/>
                </a:ln>
                <a:solidFill>
                  <a:prstClr val="white"/>
                </a:solidFill>
                <a:effectLst/>
                <a:uLnTx/>
                <a:uFillTx/>
                <a:latin typeface="Verdana"/>
                <a:ea typeface="+mn-ea"/>
                <a:cs typeface="+mn-cs"/>
              </a:rPr>
              <a:t>ANNEXURE </a:t>
            </a:r>
            <a:endParaRPr kumimoji="0" lang="en-IN" sz="2902" b="0" i="0" u="none" strike="noStrike" kern="1200" cap="none" spc="60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16203217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2"/>
            </p:custDataLst>
            <p:extLst>
              <p:ext uri="{D42A27DB-BD31-4B8C-83A1-F6EECF244321}">
                <p14:modId xmlns:p14="http://schemas.microsoft.com/office/powerpoint/2010/main" val="1489139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2109" name="think-cell Slide" r:id="rId5" imgW="530" imgH="531" progId="TCLayout.ActiveDocument.1">
                  <p:embed/>
                </p:oleObj>
              </mc:Choice>
              <mc:Fallback>
                <p:oleObj name="think-cell Slide" r:id="rId5"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100" b="0" i="0" u="none" strike="noStrike" kern="1200" cap="none" spc="0" normalizeH="0" baseline="0" noProof="0">
              <a:ln>
                <a:noFill/>
              </a:ln>
              <a:solidFill>
                <a:prstClr val="white"/>
              </a:solidFill>
              <a:effectLst/>
              <a:uLnTx/>
              <a:uFillTx/>
              <a:latin typeface="Calibri" panose="020F0502020204030204" pitchFamily="34" charset="0"/>
              <a:ea typeface="+mn-ea"/>
              <a:cs typeface="Calibri Light" panose="020F0302020204030204" pitchFamily="34" charset="0"/>
              <a:sym typeface="Calibri" panose="020F0502020204030204" pitchFamily="34" charset="0"/>
            </a:endParaRPr>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sz="2176" b="1">
                <a:latin typeface="+mn-lt"/>
              </a:rPr>
              <a:t>Detailed Scope of Work – Phase 1 (1/2)</a:t>
            </a:r>
            <a:endParaRPr lang="en-IN" sz="2176" b="1">
              <a:latin typeface="+mn-lt"/>
            </a:endParaRPr>
          </a:p>
        </p:txBody>
      </p:sp>
      <p:sp>
        <p:nvSpPr>
          <p:cNvPr id="71" name="Rectangle: Top Corners Rounded 70">
            <a:extLst>
              <a:ext uri="{FF2B5EF4-FFF2-40B4-BE49-F238E27FC236}">
                <a16:creationId xmlns:a16="http://schemas.microsoft.com/office/drawing/2014/main" id="{85E8615F-6171-492F-BD3F-E701F47C2549}"/>
              </a:ext>
            </a:extLst>
          </p:cNvPr>
          <p:cNvSpPr/>
          <p:nvPr/>
        </p:nvSpPr>
        <p:spPr bwMode="gray">
          <a:xfrm>
            <a:off x="501651" y="844256"/>
            <a:ext cx="11196000" cy="580594"/>
          </a:xfrm>
          <a:prstGeom prst="round2SameRect">
            <a:avLst>
              <a:gd name="adj1" fmla="val 0"/>
              <a:gd name="adj2" fmla="val 0"/>
            </a:avLst>
          </a:prstGeom>
          <a:solidFill>
            <a:schemeClr val="accent2"/>
          </a:solidFill>
          <a:ln w="19050" algn="ctr">
            <a:noFill/>
            <a:miter lim="800000"/>
            <a:headEnd/>
            <a:tailEnd/>
          </a:ln>
        </p:spPr>
        <p:txBody>
          <a:bodyPr wrap="square" lIns="45720" tIns="4572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Sub-component 1: Review of Organization Structure, and manpower and recommended changes</a:t>
            </a:r>
            <a:endParaRPr kumimoji="0" lang="da-DK"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72" name="TextBox 71">
            <a:extLst>
              <a:ext uri="{FF2B5EF4-FFF2-40B4-BE49-F238E27FC236}">
                <a16:creationId xmlns:a16="http://schemas.microsoft.com/office/drawing/2014/main" id="{5C68EEBB-01E7-45EB-91B3-4AD97BD82E21}"/>
              </a:ext>
            </a:extLst>
          </p:cNvPr>
          <p:cNvSpPr txBox="1"/>
          <p:nvPr/>
        </p:nvSpPr>
        <p:spPr>
          <a:xfrm>
            <a:off x="501651" y="1150256"/>
            <a:ext cx="11196000" cy="5109091"/>
          </a:xfrm>
          <a:prstGeom prst="roundRect">
            <a:avLst>
              <a:gd name="adj" fmla="val 0"/>
            </a:avLst>
          </a:prstGeom>
          <a:solidFill>
            <a:schemeClr val="bg1">
              <a:lumMod val="95000"/>
            </a:schemeClr>
          </a:solidFill>
        </p:spPr>
        <p:txBody>
          <a:bodyPr wrap="square" lIns="45720" tIns="45720" rIns="756000" bIns="45720" rtlCol="0">
            <a:spAutoFit/>
          </a:bodyPr>
          <a:lstStyle/>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Organization structure (both at Corporate and Plant) across all the levels including the senior management, identification of gaps in alignment to the strategy / business plan and processes in the organization and recommendations for adjustments in the organization structure, in particular to meet the new challenges of future asset development, diversification of asset base from conventional to renewable and green energy, EVs, new business ventures and related diversification plans, backward linkages in coal supply chain via captive mining and moving to digital operations.</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Reviewing roles &amp; responsibilities and accountability matrix at various critical levels in the organization. Also understand the time spent on various tasks by each category of employees.</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Assessing the manpower (on-roll and sanctioned strength) across all levels (Group I, II, III and IV) in the organization, both at corporate level and Plant and identification of key challenges with respect to the same. Such analysis would include benchmarking of manpower with other utilities (at least 2 well performing public utilities similar or larger in terms of geographical area and business operations similar to DPL, 2 private Indian generation utilities (Stand alone / integrated).</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employee compensation policy compared to state pay matrix and other state-owned </a:t>
            </a:r>
            <a:r>
              <a:rPr kumimoji="0" lang="en-US" sz="11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co’s</a:t>
            </a: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Creation of Employee Handbook covering all the above rules and policies including all the various emoluments / entitlements of the employees to be made.</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the existing manpower deployed in Power Plant, Water Works, Central Workshop and Coke Oven divisions and assist in preparing a redeployment plan for DPL.</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Recommend standard outsourcing models (with details of procurement strategy, SLAs, bidding parameters, key procurement term sheet etc.) for at least 4 types of major services based on current HR practice. Any 4 major services in HR can be chosen for the same. For example, Hospital/Medical Services, Idle Manpower deployment, House-keeping Services, Revenue generations etc.</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 the Performance Management System in line with the Company Vision and Strategy including but not limited to the formulation of organizational KPIs, identification of measurable Key Result Areas and the corresponding measures / Performance Indicators (functional KPIs), definition of departmental targets for those measures, introduction of individual performance evaluation framework based on organizational and functional KPIs, performance feedback system to employees and linkage between the performance evaluation and compensation package.</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Analyze DPL’s outsourcing models (including comparison with models employed by other utilities with due care to adapt to the variations with respect to the demography, geography etc.). Assess effectiveness of the currently deployed models and conduct an impact evaluation on manpower optimization resulting from outsourcing.</a:t>
            </a:r>
          </a:p>
        </p:txBody>
      </p:sp>
      <p:sp>
        <p:nvSpPr>
          <p:cNvPr id="73" name="Oval 72">
            <a:extLst>
              <a:ext uri="{FF2B5EF4-FFF2-40B4-BE49-F238E27FC236}">
                <a16:creationId xmlns:a16="http://schemas.microsoft.com/office/drawing/2014/main" id="{AC0DE074-4935-421F-9249-EAF85272D303}"/>
              </a:ext>
            </a:extLst>
          </p:cNvPr>
          <p:cNvSpPr/>
          <p:nvPr/>
        </p:nvSpPr>
        <p:spPr bwMode="gray">
          <a:xfrm>
            <a:off x="11016351" y="892515"/>
            <a:ext cx="488823" cy="488823"/>
          </a:xfrm>
          <a:prstGeom prst="ellipse">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74" name="Freeform 751">
            <a:extLst>
              <a:ext uri="{FF2B5EF4-FFF2-40B4-BE49-F238E27FC236}">
                <a16:creationId xmlns:a16="http://schemas.microsoft.com/office/drawing/2014/main" id="{6A4E96F3-7167-4A6A-BBAC-9F63C580E582}"/>
              </a:ext>
            </a:extLst>
          </p:cNvPr>
          <p:cNvSpPr>
            <a:spLocks noEditPoints="1"/>
          </p:cNvSpPr>
          <p:nvPr/>
        </p:nvSpPr>
        <p:spPr bwMode="auto">
          <a:xfrm>
            <a:off x="11069569" y="945733"/>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6" name="Straight Connector 15">
            <a:extLst>
              <a:ext uri="{FF2B5EF4-FFF2-40B4-BE49-F238E27FC236}">
                <a16:creationId xmlns:a16="http://schemas.microsoft.com/office/drawing/2014/main" id="{E9820BBE-F779-46C9-B65A-5F1F28DF1BCE}"/>
              </a:ext>
            </a:extLst>
          </p:cNvPr>
          <p:cNvCxnSpPr/>
          <p:nvPr/>
        </p:nvCxnSpPr>
        <p:spPr>
          <a:xfrm flipV="1">
            <a:off x="514664" y="718003"/>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49110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0A54A5B-6898-4D19-A56E-5A85C5E9F598}"/>
              </a:ext>
            </a:extLst>
          </p:cNvPr>
          <p:cNvGraphicFramePr>
            <a:graphicFrameLocks noChangeAspect="1"/>
          </p:cNvGraphicFramePr>
          <p:nvPr>
            <p:custDataLst>
              <p:tags r:id="rId2"/>
            </p:custDataLst>
            <p:extLst>
              <p:ext uri="{D42A27DB-BD31-4B8C-83A1-F6EECF244321}">
                <p14:modId xmlns:p14="http://schemas.microsoft.com/office/powerpoint/2010/main" val="29170470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3133" name="think-cell Slide" r:id="rId5" imgW="530" imgH="531" progId="TCLayout.ActiveDocument.1">
                  <p:embed/>
                </p:oleObj>
              </mc:Choice>
              <mc:Fallback>
                <p:oleObj name="think-cell Slide" r:id="rId5" imgW="530" imgH="531" progId="TCLayout.ActiveDocument.1">
                  <p:embed/>
                  <p:pic>
                    <p:nvPicPr>
                      <p:cNvPr id="6" name="Object 5" hidden="1">
                        <a:extLst>
                          <a:ext uri="{FF2B5EF4-FFF2-40B4-BE49-F238E27FC236}">
                            <a16:creationId xmlns:a16="http://schemas.microsoft.com/office/drawing/2014/main" id="{40A54A5B-6898-4D19-A56E-5A85C5E9F5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C1B9A7E-A96E-49BB-9F86-B04BADC8F3F8}"/>
              </a:ext>
            </a:extLst>
          </p:cNvPr>
          <p:cNvSpPr/>
          <p:nvPr>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100" b="0" i="0" u="none" strike="noStrike" kern="1200" cap="none" spc="0" normalizeH="0" baseline="0" noProof="0">
              <a:ln>
                <a:noFill/>
              </a:ln>
              <a:solidFill>
                <a:prstClr val="white"/>
              </a:solidFill>
              <a:effectLst/>
              <a:uLnTx/>
              <a:uFillTx/>
              <a:latin typeface="Calibri" panose="020F0502020204030204" pitchFamily="34" charset="0"/>
              <a:ea typeface="+mn-ea"/>
              <a:cs typeface="Calibri Light" panose="020F0302020204030204" pitchFamily="34" charset="0"/>
              <a:sym typeface="Calibri" panose="020F0502020204030204" pitchFamily="34" charset="0"/>
            </a:endParaRPr>
          </a:p>
        </p:txBody>
      </p:sp>
      <p:sp>
        <p:nvSpPr>
          <p:cNvPr id="3" name="Title 2">
            <a:extLst>
              <a:ext uri="{FF2B5EF4-FFF2-40B4-BE49-F238E27FC236}">
                <a16:creationId xmlns:a16="http://schemas.microsoft.com/office/drawing/2014/main" id="{498839CE-6022-4903-85B8-3EB71AB5FE23}"/>
              </a:ext>
            </a:extLst>
          </p:cNvPr>
          <p:cNvSpPr>
            <a:spLocks noGrp="1"/>
          </p:cNvSpPr>
          <p:nvPr>
            <p:ph type="title"/>
          </p:nvPr>
        </p:nvSpPr>
        <p:spPr/>
        <p:txBody>
          <a:bodyPr vert="horz"/>
          <a:lstStyle/>
          <a:p>
            <a:r>
              <a:rPr lang="en-US" sz="2176" b="1">
                <a:latin typeface="+mn-lt"/>
              </a:rPr>
              <a:t>Detailed Scope of Work – Phase 1 (2/2)</a:t>
            </a:r>
            <a:endParaRPr lang="en-IN" sz="2176" b="1">
              <a:latin typeface="+mn-lt"/>
            </a:endParaRPr>
          </a:p>
        </p:txBody>
      </p:sp>
      <p:sp>
        <p:nvSpPr>
          <p:cNvPr id="71" name="Rectangle: Top Corners Rounded 70">
            <a:extLst>
              <a:ext uri="{FF2B5EF4-FFF2-40B4-BE49-F238E27FC236}">
                <a16:creationId xmlns:a16="http://schemas.microsoft.com/office/drawing/2014/main" id="{85E8615F-6171-492F-BD3F-E701F47C2549}"/>
              </a:ext>
            </a:extLst>
          </p:cNvPr>
          <p:cNvSpPr/>
          <p:nvPr/>
        </p:nvSpPr>
        <p:spPr bwMode="gray">
          <a:xfrm>
            <a:off x="501650" y="827478"/>
            <a:ext cx="11209013" cy="580594"/>
          </a:xfrm>
          <a:prstGeom prst="round2SameRect">
            <a:avLst>
              <a:gd name="adj1" fmla="val 0"/>
              <a:gd name="adj2" fmla="val 0"/>
            </a:avLst>
          </a:prstGeom>
          <a:solidFill>
            <a:schemeClr val="accent2"/>
          </a:solidFill>
          <a:ln w="19050" algn="ctr">
            <a:noFill/>
            <a:miter lim="800000"/>
            <a:headEnd/>
            <a:tailEnd/>
          </a:ln>
        </p:spPr>
        <p:txBody>
          <a:bodyPr wrap="square" lIns="45720" tIns="4572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Sub-component 1: Review of Organization Structure, and manpower and recommended changes</a:t>
            </a:r>
            <a:endParaRPr kumimoji="0" lang="da-DK"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72" name="TextBox 71">
            <a:extLst>
              <a:ext uri="{FF2B5EF4-FFF2-40B4-BE49-F238E27FC236}">
                <a16:creationId xmlns:a16="http://schemas.microsoft.com/office/drawing/2014/main" id="{5C68EEBB-01E7-45EB-91B3-4AD97BD82E21}"/>
              </a:ext>
            </a:extLst>
          </p:cNvPr>
          <p:cNvSpPr txBox="1"/>
          <p:nvPr/>
        </p:nvSpPr>
        <p:spPr>
          <a:xfrm>
            <a:off x="501650" y="1133478"/>
            <a:ext cx="11209013" cy="1923604"/>
          </a:xfrm>
          <a:prstGeom prst="roundRect">
            <a:avLst>
              <a:gd name="adj" fmla="val 0"/>
            </a:avLst>
          </a:prstGeom>
          <a:solidFill>
            <a:schemeClr val="bg1">
              <a:lumMod val="95000"/>
            </a:schemeClr>
          </a:solidFill>
        </p:spPr>
        <p:txBody>
          <a:bodyPr wrap="square" lIns="45720" tIns="45720" rIns="756000" bIns="45720" rtlCol="0">
            <a:spAutoFit/>
          </a:bodyPr>
          <a:lstStyle/>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startAt="10"/>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Undertake a review of the key employee policies and suggest changes for encouraging accountability and rewards.</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startAt="10"/>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Support in approval process for the changes across organization structure, employee policies, outsourcing models etc. (including presentation to the BOD, if required by DPL management)</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startAt="10"/>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Evaluate current incentive schemes in place and assess the feasible incentive scheme mechanism design for DPL including its rollout plan and implementation model</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startAt="10"/>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While conducting the above analysis, it is expected that the consultant shall visit, at least three power plants across varying age and two captive mining operations and the HQ to understand DPL’s operations and roles and responsibilities of the employees.</a:t>
            </a:r>
          </a:p>
          <a:p>
            <a:pPr marL="228600" marR="0" lvl="0" indent="-228600" algn="just" defTabSz="914400" rtl="0" eaLnBrk="1" fontAlgn="auto" latinLnBrk="0" hangingPunct="1">
              <a:lnSpc>
                <a:spcPct val="100000"/>
              </a:lnSpc>
              <a:spcBef>
                <a:spcPts val="0"/>
              </a:spcBef>
              <a:spcAft>
                <a:spcPts val="600"/>
              </a:spcAft>
              <a:buClrTx/>
              <a:buSzTx/>
              <a:buFont typeface="+mj-lt"/>
              <a:buAutoNum type="alphaLcParenR" startAt="10"/>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the existing ERP or IT software implementations and integrations, if any, between HR and PMS modules and identify improvement areas (Presently there is no ERP System in DPL. However, ERP Implementation is under process).</a:t>
            </a:r>
          </a:p>
        </p:txBody>
      </p:sp>
      <p:sp>
        <p:nvSpPr>
          <p:cNvPr id="73" name="Oval 72">
            <a:extLst>
              <a:ext uri="{FF2B5EF4-FFF2-40B4-BE49-F238E27FC236}">
                <a16:creationId xmlns:a16="http://schemas.microsoft.com/office/drawing/2014/main" id="{AC0DE074-4935-421F-9249-EAF85272D303}"/>
              </a:ext>
            </a:extLst>
          </p:cNvPr>
          <p:cNvSpPr/>
          <p:nvPr/>
        </p:nvSpPr>
        <p:spPr bwMode="gray">
          <a:xfrm>
            <a:off x="11016351" y="875737"/>
            <a:ext cx="488823" cy="488823"/>
          </a:xfrm>
          <a:prstGeom prst="ellipse">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74" name="Freeform 751">
            <a:extLst>
              <a:ext uri="{FF2B5EF4-FFF2-40B4-BE49-F238E27FC236}">
                <a16:creationId xmlns:a16="http://schemas.microsoft.com/office/drawing/2014/main" id="{6A4E96F3-7167-4A6A-BBAC-9F63C580E582}"/>
              </a:ext>
            </a:extLst>
          </p:cNvPr>
          <p:cNvSpPr>
            <a:spLocks noEditPoints="1"/>
          </p:cNvSpPr>
          <p:nvPr/>
        </p:nvSpPr>
        <p:spPr bwMode="auto">
          <a:xfrm>
            <a:off x="11069569" y="928955"/>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6" name="Straight Connector 15">
            <a:extLst>
              <a:ext uri="{FF2B5EF4-FFF2-40B4-BE49-F238E27FC236}">
                <a16:creationId xmlns:a16="http://schemas.microsoft.com/office/drawing/2014/main" id="{E9820BBE-F779-46C9-B65A-5F1F28DF1BCE}"/>
              </a:ext>
            </a:extLst>
          </p:cNvPr>
          <p:cNvCxnSpPr/>
          <p:nvPr/>
        </p:nvCxnSpPr>
        <p:spPr>
          <a:xfrm flipV="1">
            <a:off x="514664" y="72639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Rectangle: Top Corners Rounded 16">
            <a:extLst>
              <a:ext uri="{FF2B5EF4-FFF2-40B4-BE49-F238E27FC236}">
                <a16:creationId xmlns:a16="http://schemas.microsoft.com/office/drawing/2014/main" id="{3C606C93-3670-4F27-9AF8-00093AAB809B}"/>
              </a:ext>
            </a:extLst>
          </p:cNvPr>
          <p:cNvSpPr/>
          <p:nvPr/>
        </p:nvSpPr>
        <p:spPr bwMode="gray">
          <a:xfrm>
            <a:off x="501650" y="3261605"/>
            <a:ext cx="11209013" cy="580594"/>
          </a:xfrm>
          <a:prstGeom prst="round2SameRect">
            <a:avLst>
              <a:gd name="adj1" fmla="val 0"/>
              <a:gd name="adj2" fmla="val 0"/>
            </a:avLst>
          </a:prstGeom>
          <a:solidFill>
            <a:schemeClr val="accent6"/>
          </a:solidFill>
          <a:ln w="19050" algn="ctr">
            <a:noFill/>
            <a:miter lim="800000"/>
            <a:headEnd/>
            <a:tailEnd/>
          </a:ln>
        </p:spPr>
        <p:txBody>
          <a:bodyPr wrap="square" lIns="45720" tIns="4572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Sub-component 2: Training and Capacity building</a:t>
            </a:r>
            <a:endParaRPr kumimoji="0" lang="da-DK"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9" name="TextBox 18">
            <a:extLst>
              <a:ext uri="{FF2B5EF4-FFF2-40B4-BE49-F238E27FC236}">
                <a16:creationId xmlns:a16="http://schemas.microsoft.com/office/drawing/2014/main" id="{65FCEAF8-B332-4D00-ACC9-4E792C020F4D}"/>
              </a:ext>
            </a:extLst>
          </p:cNvPr>
          <p:cNvSpPr txBox="1"/>
          <p:nvPr/>
        </p:nvSpPr>
        <p:spPr>
          <a:xfrm>
            <a:off x="501650" y="3565835"/>
            <a:ext cx="11209013" cy="1831271"/>
          </a:xfrm>
          <a:prstGeom prst="roundRect">
            <a:avLst>
              <a:gd name="adj" fmla="val 0"/>
            </a:avLst>
          </a:prstGeom>
          <a:solidFill>
            <a:schemeClr val="bg1">
              <a:lumMod val="95000"/>
            </a:schemeClr>
          </a:solidFill>
        </p:spPr>
        <p:txBody>
          <a:bodyPr wrap="square" lIns="45720" tIns="45720" rIns="756000" bIns="45720" rtlCol="0">
            <a:spAutoFit/>
          </a:bodyPr>
          <a:lstStyle/>
          <a:p>
            <a:pPr marL="228600" indent="-228600" algn="just">
              <a:spcAft>
                <a:spcPts val="600"/>
              </a:spcAft>
              <a:buFont typeface="+mj-lt"/>
              <a:buAutoNum type="alphaLcParenR"/>
              <a:defRPr/>
            </a:pPr>
            <a:r>
              <a:rPr lang="en-US" sz="1100">
                <a:solidFill>
                  <a:prstClr val="black"/>
                </a:solidFill>
                <a:latin typeface="Verdana" panose="020B0604030504040204" pitchFamily="34" charset="0"/>
                <a:ea typeface="Verdana" panose="020B0604030504040204" pitchFamily="34" charset="0"/>
              </a:rPr>
              <a:t>Conduct a skill gap assessment study for DPL and identify the key areas where focus needs to be accorded</a:t>
            </a:r>
          </a:p>
          <a:p>
            <a:pPr marL="228600" indent="-228600" algn="just">
              <a:spcAft>
                <a:spcPts val="600"/>
              </a:spcAft>
              <a:buFont typeface="+mj-lt"/>
              <a:buAutoNum type="alphaLcParenR"/>
              <a:defRPr/>
            </a:pPr>
            <a:r>
              <a:rPr lang="en-US" sz="1100">
                <a:solidFill>
                  <a:prstClr val="black"/>
                </a:solidFill>
                <a:latin typeface="Verdana" panose="020B0604030504040204" pitchFamily="34" charset="0"/>
                <a:ea typeface="Verdana" panose="020B0604030504040204" pitchFamily="34" charset="0"/>
              </a:rPr>
              <a:t>Study the training policy and programs of DPL including assessing the effectiveness of the training</a:t>
            </a:r>
          </a:p>
          <a:p>
            <a:pPr marL="228600" indent="-228600" algn="just">
              <a:spcAft>
                <a:spcPts val="600"/>
              </a:spcAft>
              <a:buFont typeface="+mj-lt"/>
              <a:buAutoNum type="alphaLcParenR"/>
              <a:defRPr/>
            </a:pPr>
            <a:r>
              <a:rPr lang="en-US" sz="1100">
                <a:solidFill>
                  <a:prstClr val="black"/>
                </a:solidFill>
                <a:latin typeface="Verdana" panose="020B0604030504040204" pitchFamily="34" charset="0"/>
                <a:ea typeface="Verdana" panose="020B0604030504040204" pitchFamily="34" charset="0"/>
              </a:rPr>
              <a:t>Benchmark the training and capacity building needs with similar best performing organizations in Power Sector within India.</a:t>
            </a:r>
          </a:p>
          <a:p>
            <a:pPr marL="228600" indent="-228600" algn="just">
              <a:spcAft>
                <a:spcPts val="600"/>
              </a:spcAft>
              <a:buFont typeface="+mj-lt"/>
              <a:buAutoNum type="alphaLcParenR"/>
              <a:defRPr/>
            </a:pPr>
            <a:r>
              <a:rPr lang="en-US" sz="1100">
                <a:solidFill>
                  <a:prstClr val="black"/>
                </a:solidFill>
                <a:latin typeface="Verdana" panose="020B0604030504040204" pitchFamily="34" charset="0"/>
                <a:ea typeface="Verdana" panose="020B0604030504040204" pitchFamily="34" charset="0"/>
              </a:rPr>
              <a:t>Based on the Sector Targets and Business Plan of DPL, identify future capacity building gaps and develop a revised Training Strategy, Plan and calendar for DPL (including recommendation of tie up with national and international institutes).</a:t>
            </a:r>
          </a:p>
          <a:p>
            <a:pPr marL="228600" indent="-228600" algn="just">
              <a:spcAft>
                <a:spcPts val="600"/>
              </a:spcAft>
              <a:buFont typeface="+mj-lt"/>
              <a:buAutoNum type="alphaLcParenR"/>
              <a:defRPr/>
            </a:pPr>
            <a:r>
              <a:rPr lang="en-US" sz="1100">
                <a:solidFill>
                  <a:prstClr val="black"/>
                </a:solidFill>
                <a:latin typeface="Verdana" panose="020B0604030504040204" pitchFamily="34" charset="0"/>
                <a:ea typeface="Verdana" panose="020B0604030504040204" pitchFamily="34" charset="0"/>
              </a:rPr>
              <a:t>Recommend the training and capacity building institutional set up. The verticals, funding, scope for the set up. Identify how the Training function can also generate revenues including a transition plan to be a Profit Centre from current cost center model.</a:t>
            </a:r>
          </a:p>
          <a:p>
            <a:pPr marL="228600" indent="-228600" algn="just">
              <a:spcAft>
                <a:spcPts val="600"/>
              </a:spcAft>
              <a:buFont typeface="+mj-lt"/>
              <a:buAutoNum type="alphaLcParenR"/>
              <a:defRPr/>
            </a:pPr>
            <a:r>
              <a:rPr lang="en-US" sz="1100">
                <a:solidFill>
                  <a:prstClr val="black"/>
                </a:solidFill>
                <a:latin typeface="Verdana" panose="020B0604030504040204" pitchFamily="34" charset="0"/>
                <a:ea typeface="Verdana" panose="020B0604030504040204" pitchFamily="34" charset="0"/>
              </a:rPr>
              <a:t>Devise an institutional mechanism for Training effectiveness and KPIs for the Training function.</a:t>
            </a:r>
            <a:endParaRPr kumimoji="0" lang="en-US" sz="14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0" name="Oval 19">
            <a:extLst>
              <a:ext uri="{FF2B5EF4-FFF2-40B4-BE49-F238E27FC236}">
                <a16:creationId xmlns:a16="http://schemas.microsoft.com/office/drawing/2014/main" id="{3AB85E0F-CEF7-490E-9F99-50D59DA07954}"/>
              </a:ext>
            </a:extLst>
          </p:cNvPr>
          <p:cNvSpPr/>
          <p:nvPr/>
        </p:nvSpPr>
        <p:spPr bwMode="gray">
          <a:xfrm>
            <a:off x="11016351" y="3307490"/>
            <a:ext cx="488823" cy="488823"/>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8" name="Freeform 751">
            <a:extLst>
              <a:ext uri="{FF2B5EF4-FFF2-40B4-BE49-F238E27FC236}">
                <a16:creationId xmlns:a16="http://schemas.microsoft.com/office/drawing/2014/main" id="{6B88AD79-6B4A-4767-A188-79E36CE8A3C9}"/>
              </a:ext>
            </a:extLst>
          </p:cNvPr>
          <p:cNvSpPr>
            <a:spLocks noEditPoints="1"/>
          </p:cNvSpPr>
          <p:nvPr/>
        </p:nvSpPr>
        <p:spPr bwMode="auto">
          <a:xfrm>
            <a:off x="11069568" y="3361312"/>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183688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be3IxZJwUuBzuOQrVOGDkA"/>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3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FB57A5-17F1-4FE1-8797-CE81C87C5EF9}">
  <ds:schemaRefs>
    <ds:schemaRef ds:uri="1fa7aa84-8c34-4c1b-a417-7764f735f5e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DCE847B-A158-4499-B0F1-29A545BBB715}">
  <ds:schemaRefs>
    <ds:schemaRef ds:uri="http://schemas.microsoft.com/sharepoint/v3/contenttype/forms"/>
  </ds:schemaRefs>
</ds:datastoreItem>
</file>

<file path=customXml/itemProps3.xml><?xml version="1.0" encoding="utf-8"?>
<ds:datastoreItem xmlns:ds="http://schemas.openxmlformats.org/officeDocument/2006/customXml" ds:itemID="{51AFBA97-808A-4B0A-BA59-9BC8973AFF9A}"/>
</file>

<file path=docProps/app.xml><?xml version="1.0" encoding="utf-8"?>
<Properties xmlns="http://schemas.openxmlformats.org/officeDocument/2006/extended-properties" xmlns:vt="http://schemas.openxmlformats.org/officeDocument/2006/docPropsVTypes">
  <Template>Default Theme</Template>
  <TotalTime>238</TotalTime>
  <Words>2705</Words>
  <Application>Microsoft Office PowerPoint</Application>
  <PresentationFormat>Widescreen</PresentationFormat>
  <Paragraphs>255</Paragraphs>
  <Slides>14</Slides>
  <Notes>4</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1" baseType="lpstr">
      <vt:lpstr>Arial</vt:lpstr>
      <vt:lpstr>Calibri</vt:lpstr>
      <vt:lpstr>Verdana</vt:lpstr>
      <vt:lpstr>Wingdings 2</vt:lpstr>
      <vt:lpstr>Theme1</vt:lpstr>
      <vt:lpstr>3_Deloitte 16_9 onscreen</vt:lpstr>
      <vt:lpstr>think-cell Slide</vt:lpstr>
      <vt:lpstr>PowerPoint Presentation</vt:lpstr>
      <vt:lpstr>PowerPoint Presentation</vt:lpstr>
      <vt:lpstr>Project Context</vt:lpstr>
      <vt:lpstr>Summary of Scope of Work</vt:lpstr>
      <vt:lpstr>Key Focus Areas</vt:lpstr>
      <vt:lpstr>Our Approach and Methodology</vt:lpstr>
      <vt:lpstr>Phase 1 Work Plan (Week 01 – Week 12)</vt:lpstr>
      <vt:lpstr>Key Deliverables </vt:lpstr>
      <vt:lpstr>Next Steps</vt:lpstr>
      <vt:lpstr>Preliminary Data Requirement for Assessment</vt:lpstr>
      <vt:lpstr>PowerPoint Presentation</vt:lpstr>
      <vt:lpstr>PowerPoint Presentation</vt:lpstr>
      <vt:lpstr>Detailed Scope of Work – Phase 1 (1/2)</vt:lpstr>
      <vt:lpstr>Detailed Scope of Work – Phase 1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Dhawan, Shubham</dc:creator>
  <cp:lastModifiedBy>Dhawan, Shubham</cp:lastModifiedBy>
  <cp:revision>8</cp:revision>
  <dcterms:created xsi:type="dcterms:W3CDTF">2022-08-01T10:59:55Z</dcterms:created>
  <dcterms:modified xsi:type="dcterms:W3CDTF">2022-09-08T05:40:14Z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2022-08-01T10:59:55Z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cd6510ee-88d0-46ea-8523-ca77a5040684</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